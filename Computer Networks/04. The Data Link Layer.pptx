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413" r:id="rId2"/>
    <p:sldId id="414" r:id="rId3"/>
    <p:sldId id="415" r:id="rId4"/>
    <p:sldId id="416" r:id="rId5"/>
    <p:sldId id="423" r:id="rId6"/>
    <p:sldId id="429" r:id="rId7"/>
    <p:sldId id="425" r:id="rId8"/>
    <p:sldId id="436" r:id="rId9"/>
    <p:sldId id="426" r:id="rId10"/>
    <p:sldId id="431" r:id="rId11"/>
    <p:sldId id="430" r:id="rId12"/>
    <p:sldId id="433" r:id="rId13"/>
    <p:sldId id="432" r:id="rId14"/>
    <p:sldId id="434" r:id="rId15"/>
    <p:sldId id="435" r:id="rId16"/>
    <p:sldId id="437" r:id="rId17"/>
    <p:sldId id="438" r:id="rId18"/>
    <p:sldId id="439" r:id="rId19"/>
    <p:sldId id="440" r:id="rId20"/>
    <p:sldId id="441" r:id="rId21"/>
    <p:sldId id="442" r:id="rId22"/>
    <p:sldId id="454" r:id="rId23"/>
    <p:sldId id="450" r:id="rId24"/>
    <p:sldId id="451" r:id="rId25"/>
    <p:sldId id="452" r:id="rId26"/>
    <p:sldId id="453" r:id="rId27"/>
    <p:sldId id="443" r:id="rId28"/>
    <p:sldId id="446" r:id="rId29"/>
    <p:sldId id="444" r:id="rId30"/>
    <p:sldId id="445" r:id="rId31"/>
    <p:sldId id="447" r:id="rId32"/>
    <p:sldId id="448" r:id="rId33"/>
    <p:sldId id="449" r:id="rId34"/>
    <p:sldId id="455" r:id="rId35"/>
    <p:sldId id="456" r:id="rId36"/>
    <p:sldId id="458" r:id="rId37"/>
    <p:sldId id="459" r:id="rId38"/>
    <p:sldId id="460" r:id="rId39"/>
    <p:sldId id="461" r:id="rId40"/>
    <p:sldId id="462" r:id="rId41"/>
    <p:sldId id="465" r:id="rId42"/>
    <p:sldId id="463" r:id="rId43"/>
    <p:sldId id="464" r:id="rId44"/>
    <p:sldId id="466" r:id="rId45"/>
    <p:sldId id="343"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73" autoAdjust="0"/>
    <p:restoredTop sz="94660"/>
  </p:normalViewPr>
  <p:slideViewPr>
    <p:cSldViewPr>
      <p:cViewPr>
        <p:scale>
          <a:sx n="50" d="100"/>
          <a:sy n="50" d="100"/>
        </p:scale>
        <p:origin x="-1646" y="-4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0BC163B-A334-4AF0-8F79-DA2B7EC4EC47}" type="datetimeFigureOut">
              <a:rPr lang="en-US" smtClean="0"/>
              <a:pPr/>
              <a:t>11/10/2025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23B51A9-7D3A-4012-9382-6DE3942971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BC163B-A334-4AF0-8F79-DA2B7EC4EC47}" type="datetimeFigureOut">
              <a:rPr lang="en-US" smtClean="0"/>
              <a:pPr/>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3B51A9-7D3A-4012-9382-6DE3942971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r>
              <a:rPr lang="en-US" sz="6000" dirty="0" smtClean="0"/>
              <a:t>The Data Link Layer</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0"/>
            <a:ext cx="5257800" cy="4343400"/>
          </a:xfrm>
        </p:spPr>
        <p:txBody>
          <a:bodyPr/>
          <a:lstStyle/>
          <a:p>
            <a:pPr marL="457200" indent="-457200">
              <a:buFont typeface="Wingdings" pitchFamily="2" charset="2"/>
              <a:buChar char="Ø"/>
            </a:pPr>
            <a:endParaRPr lang="en-US" sz="22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6000750" y="260985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257800" cy="4525963"/>
          </a:xfrm>
        </p:spPr>
        <p:txBody>
          <a:bodyPr/>
          <a:lstStyle/>
          <a:p>
            <a:pPr marL="514350" indent="-514350">
              <a:buFont typeface="+mj-lt"/>
              <a:buAutoNum type="arabicPeriod"/>
            </a:pPr>
            <a:r>
              <a:rPr lang="en-US" sz="2400" dirty="0" smtClean="0"/>
              <a:t>Andrew S. </a:t>
            </a:r>
            <a:r>
              <a:rPr lang="en-US" sz="2400" dirty="0" err="1" smtClean="0"/>
              <a:t>Tanenbaum</a:t>
            </a:r>
            <a:r>
              <a:rPr lang="en-US" sz="2400" dirty="0" smtClean="0"/>
              <a:t> and David J. </a:t>
            </a:r>
            <a:r>
              <a:rPr lang="en-US" sz="2400" dirty="0" err="1" smtClean="0"/>
              <a:t>Wetherall</a:t>
            </a:r>
            <a:r>
              <a:rPr lang="en-US" sz="2400" dirty="0" smtClean="0"/>
              <a:t> (2021). Computer Networks. Pearson Education.</a:t>
            </a:r>
          </a:p>
          <a:p>
            <a:pPr marL="514350" indent="-514350">
              <a:buFont typeface="+mj-lt"/>
              <a:buAutoNum type="arabicPeriod"/>
            </a:pPr>
            <a:r>
              <a:rPr lang="en-US" sz="2400" dirty="0" smtClean="0"/>
              <a:t>James F. Kurose and Keith W. Ross (2021). Computer Networking: A Top-Down Approach. Pearson</a:t>
            </a:r>
            <a:r>
              <a:rPr lang="en-US" sz="2400" dirty="0" smtClean="0"/>
              <a:t>.</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191250" y="1676400"/>
            <a:ext cx="2724150" cy="4133850"/>
          </a:xfrm>
          <a:prstGeom prst="rect">
            <a:avLst/>
          </a:prstGeom>
          <a:noFill/>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a:t>
            </a:r>
            <a:endParaRPr lang="en-US" dirty="0"/>
          </a:p>
        </p:txBody>
      </p:sp>
      <p:sp>
        <p:nvSpPr>
          <p:cNvPr id="3" name="Content Placeholder 2"/>
          <p:cNvSpPr>
            <a:spLocks noGrp="1"/>
          </p:cNvSpPr>
          <p:nvPr>
            <p:ph idx="1"/>
          </p:nvPr>
        </p:nvSpPr>
        <p:spPr/>
        <p:txBody>
          <a:bodyPr>
            <a:normAutofit/>
          </a:bodyPr>
          <a:lstStyle/>
          <a:p>
            <a:r>
              <a:rPr lang="en-US" sz="2000" b="1" dirty="0" smtClean="0"/>
              <a:t>Data Link layer: </a:t>
            </a:r>
            <a:r>
              <a:rPr lang="en-US" sz="2000" dirty="0" smtClean="0"/>
              <a:t>The layer in which the first protocols are introduced. This layer is responsible for defining a common way of interpreting signals, so network devices can communicate.</a:t>
            </a:r>
          </a:p>
          <a:p>
            <a:r>
              <a:rPr lang="en-US" sz="2000" b="1" dirty="0" smtClean="0"/>
              <a:t>Collision domain: </a:t>
            </a:r>
            <a:r>
              <a:rPr lang="en-US" sz="2000" dirty="0" smtClean="0"/>
              <a:t>A network segment where only one device can communicate at a time.</a:t>
            </a:r>
          </a:p>
          <a:p>
            <a:r>
              <a:rPr lang="en-US" sz="2000" b="1" dirty="0" smtClean="0"/>
              <a:t>Ethernet:</a:t>
            </a:r>
            <a:r>
              <a:rPr lang="en-US" sz="2000" dirty="0" smtClean="0"/>
              <a:t> The protocol most widely used to send data across individual links.</a:t>
            </a:r>
          </a:p>
        </p:txBody>
      </p:sp>
      <p:pic>
        <p:nvPicPr>
          <p:cNvPr id="4097" name="Picture 1"/>
          <p:cNvPicPr>
            <a:picLocks noChangeAspect="1" noChangeArrowheads="1"/>
          </p:cNvPicPr>
          <p:nvPr/>
        </p:nvPicPr>
        <p:blipFill>
          <a:blip r:embed="rId2" cstate="print"/>
          <a:srcRect/>
          <a:stretch>
            <a:fillRect/>
          </a:stretch>
        </p:blipFill>
        <p:spPr bwMode="auto">
          <a:xfrm>
            <a:off x="2971800" y="4114800"/>
            <a:ext cx="3570489" cy="1993073"/>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CSMA/CD</a:t>
            </a:r>
            <a:endParaRPr lang="en-US" dirty="0"/>
          </a:p>
        </p:txBody>
      </p:sp>
      <p:sp>
        <p:nvSpPr>
          <p:cNvPr id="3" name="Content Placeholder 2"/>
          <p:cNvSpPr>
            <a:spLocks noGrp="1"/>
          </p:cNvSpPr>
          <p:nvPr>
            <p:ph idx="1"/>
          </p:nvPr>
        </p:nvSpPr>
        <p:spPr>
          <a:xfrm>
            <a:off x="457200" y="1600200"/>
            <a:ext cx="4724400" cy="4525963"/>
          </a:xfrm>
        </p:spPr>
        <p:txBody>
          <a:bodyPr>
            <a:normAutofit/>
          </a:bodyPr>
          <a:lstStyle/>
          <a:p>
            <a:r>
              <a:rPr lang="en-US" sz="2200" b="1" dirty="0" smtClean="0"/>
              <a:t>Carrier-Sense Multiple Access with Collision Detection (CSMA/CD):</a:t>
            </a:r>
            <a:r>
              <a:rPr lang="en-US" sz="2200" dirty="0" smtClean="0"/>
              <a:t> CSMA/CD </a:t>
            </a:r>
            <a:r>
              <a:rPr lang="en-US" sz="2200" u="sng" dirty="0" smtClean="0"/>
              <a:t>protocol</a:t>
            </a:r>
            <a:r>
              <a:rPr lang="en-US" sz="2200" dirty="0" smtClean="0"/>
              <a:t> is used to determine when the communications channels are clear and when the device is free to transmit data.</a:t>
            </a:r>
          </a:p>
          <a:p>
            <a:endParaRPr lang="en-US" sz="2200" dirty="0"/>
          </a:p>
        </p:txBody>
      </p:sp>
      <p:pic>
        <p:nvPicPr>
          <p:cNvPr id="1027" name="Picture 3"/>
          <p:cNvPicPr>
            <a:picLocks noChangeAspect="1" noChangeArrowheads="1"/>
          </p:cNvPicPr>
          <p:nvPr/>
        </p:nvPicPr>
        <p:blipFill>
          <a:blip r:embed="rId2" cstate="print"/>
          <a:srcRect/>
          <a:stretch>
            <a:fillRect/>
          </a:stretch>
        </p:blipFill>
        <p:spPr bwMode="auto">
          <a:xfrm>
            <a:off x="5257800" y="2057400"/>
            <a:ext cx="3352800" cy="3378200"/>
          </a:xfrm>
          <a:prstGeom prst="rect">
            <a:avLst/>
          </a:prstGeom>
          <a:noFill/>
          <a:ln w="9525">
            <a:noFill/>
            <a:miter lim="800000"/>
            <a:headEnd/>
            <a:tailEnd/>
          </a:ln>
        </p:spPr>
      </p:pic>
      <p:pic>
        <p:nvPicPr>
          <p:cNvPr id="1028" name="Picture 4"/>
          <p:cNvPicPr>
            <a:picLocks noChangeAspect="1" noChangeArrowheads="1"/>
          </p:cNvPicPr>
          <p:nvPr/>
        </p:nvPicPr>
        <p:blipFill>
          <a:blip r:embed="rId3" cstate="print"/>
          <a:srcRect/>
          <a:stretch>
            <a:fillRect/>
          </a:stretch>
        </p:blipFill>
        <p:spPr bwMode="auto">
          <a:xfrm>
            <a:off x="1371600" y="4495800"/>
            <a:ext cx="3149283" cy="128905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 Address</a:t>
            </a:r>
            <a:endParaRPr lang="en-US" dirty="0"/>
          </a:p>
        </p:txBody>
      </p:sp>
      <p:sp>
        <p:nvSpPr>
          <p:cNvPr id="3" name="Content Placeholder 2"/>
          <p:cNvSpPr>
            <a:spLocks noGrp="1"/>
          </p:cNvSpPr>
          <p:nvPr>
            <p:ph idx="1"/>
          </p:nvPr>
        </p:nvSpPr>
        <p:spPr/>
        <p:txBody>
          <a:bodyPr>
            <a:normAutofit/>
          </a:bodyPr>
          <a:lstStyle/>
          <a:p>
            <a:r>
              <a:rPr lang="en-US" sz="2400" b="1" dirty="0" smtClean="0"/>
              <a:t>MAC (Media Access Control) address: </a:t>
            </a:r>
            <a:r>
              <a:rPr lang="en-US" sz="2400" dirty="0" smtClean="0"/>
              <a:t>A globally unique identifier attached to an individual network interface. It's a 48-bit number normally represented by six groupings of two hexadecimal numbers.</a:t>
            </a:r>
          </a:p>
          <a:p>
            <a:r>
              <a:rPr lang="en-US" sz="2400" b="1" dirty="0" smtClean="0"/>
              <a:t>Hexadecimal:</a:t>
            </a:r>
            <a:r>
              <a:rPr lang="en-US" sz="2400" dirty="0" smtClean="0"/>
              <a:t> A way to represent numbers using a numerical base of 16.</a:t>
            </a:r>
          </a:p>
        </p:txBody>
      </p:sp>
      <p:pic>
        <p:nvPicPr>
          <p:cNvPr id="6145" name="Picture 1"/>
          <p:cNvPicPr>
            <a:picLocks noChangeAspect="1" noChangeArrowheads="1"/>
          </p:cNvPicPr>
          <p:nvPr/>
        </p:nvPicPr>
        <p:blipFill>
          <a:blip r:embed="rId2" cstate="print"/>
          <a:srcRect/>
          <a:stretch>
            <a:fillRect/>
          </a:stretch>
        </p:blipFill>
        <p:spPr bwMode="auto">
          <a:xfrm>
            <a:off x="1752600" y="4254500"/>
            <a:ext cx="5416550" cy="16891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Unicast</a:t>
            </a:r>
            <a:r>
              <a:rPr lang="en-US" dirty="0" smtClean="0"/>
              <a:t> Transmission</a:t>
            </a:r>
            <a:endParaRPr lang="en-US" dirty="0"/>
          </a:p>
        </p:txBody>
      </p:sp>
      <p:sp>
        <p:nvSpPr>
          <p:cNvPr id="3" name="Content Placeholder 2"/>
          <p:cNvSpPr>
            <a:spLocks noGrp="1"/>
          </p:cNvSpPr>
          <p:nvPr>
            <p:ph idx="1"/>
          </p:nvPr>
        </p:nvSpPr>
        <p:spPr/>
        <p:txBody>
          <a:bodyPr>
            <a:normAutofit/>
          </a:bodyPr>
          <a:lstStyle/>
          <a:p>
            <a:r>
              <a:rPr lang="en-US" sz="2400" b="1" dirty="0" err="1" smtClean="0"/>
              <a:t>Unicast</a:t>
            </a:r>
            <a:r>
              <a:rPr lang="en-US" sz="2400" b="1" dirty="0" smtClean="0"/>
              <a:t> transmission:</a:t>
            </a:r>
            <a:r>
              <a:rPr lang="en-US" sz="2400" dirty="0" smtClean="0"/>
              <a:t> A </a:t>
            </a:r>
            <a:r>
              <a:rPr lang="en-US" sz="2400" dirty="0" err="1" smtClean="0"/>
              <a:t>unicast</a:t>
            </a:r>
            <a:r>
              <a:rPr lang="en-US" sz="2400" dirty="0" smtClean="0"/>
              <a:t> transmission is always meant for just one receiving address.</a:t>
            </a:r>
          </a:p>
        </p:txBody>
      </p:sp>
      <p:pic>
        <p:nvPicPr>
          <p:cNvPr id="5123" name="Picture 3"/>
          <p:cNvPicPr>
            <a:picLocks noChangeAspect="1" noChangeArrowheads="1"/>
          </p:cNvPicPr>
          <p:nvPr/>
        </p:nvPicPr>
        <p:blipFill>
          <a:blip r:embed="rId2" cstate="print"/>
          <a:srcRect/>
          <a:stretch>
            <a:fillRect/>
          </a:stretch>
        </p:blipFill>
        <p:spPr bwMode="auto">
          <a:xfrm>
            <a:off x="1828800" y="3124200"/>
            <a:ext cx="5334000" cy="17240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Broadcast</a:t>
            </a:r>
            <a:endParaRPr lang="en-US" dirty="0"/>
          </a:p>
        </p:txBody>
      </p:sp>
      <p:sp>
        <p:nvSpPr>
          <p:cNvPr id="3" name="Content Placeholder 2"/>
          <p:cNvSpPr>
            <a:spLocks noGrp="1"/>
          </p:cNvSpPr>
          <p:nvPr>
            <p:ph idx="1"/>
          </p:nvPr>
        </p:nvSpPr>
        <p:spPr/>
        <p:txBody>
          <a:bodyPr>
            <a:normAutofit/>
          </a:bodyPr>
          <a:lstStyle/>
          <a:p>
            <a:r>
              <a:rPr lang="en-US" sz="2400" b="1" dirty="0" smtClean="0"/>
              <a:t>Broadcast:</a:t>
            </a:r>
            <a:r>
              <a:rPr lang="en-US" sz="2400" dirty="0" smtClean="0"/>
              <a:t> A type of Ethernet transmission, sent to every single device on a LAN.</a:t>
            </a:r>
          </a:p>
          <a:p>
            <a:r>
              <a:rPr lang="en-US" sz="2400" b="1" dirty="0" smtClean="0"/>
              <a:t>Broadcast address:</a:t>
            </a:r>
            <a:r>
              <a:rPr lang="en-US" sz="2400" dirty="0" smtClean="0"/>
              <a:t> A </a:t>
            </a:r>
            <a:r>
              <a:rPr lang="en-US" sz="2400" i="1" dirty="0" smtClean="0">
                <a:solidFill>
                  <a:srgbClr val="C00000"/>
                </a:solidFill>
              </a:rPr>
              <a:t>special destination</a:t>
            </a:r>
            <a:r>
              <a:rPr lang="en-US" sz="2400" dirty="0" smtClean="0"/>
              <a:t> used by an Ethernet broadcast composed by all Fs.</a:t>
            </a:r>
          </a:p>
          <a:p>
            <a:endParaRPr lang="en-US" sz="2400" dirty="0" smtClean="0"/>
          </a:p>
        </p:txBody>
      </p:sp>
      <p:pic>
        <p:nvPicPr>
          <p:cNvPr id="26626" name="Picture 2"/>
          <p:cNvPicPr>
            <a:picLocks noChangeAspect="1" noChangeArrowheads="1"/>
          </p:cNvPicPr>
          <p:nvPr/>
        </p:nvPicPr>
        <p:blipFill>
          <a:blip r:embed="rId2" cstate="print"/>
          <a:srcRect/>
          <a:stretch>
            <a:fillRect/>
          </a:stretch>
        </p:blipFill>
        <p:spPr bwMode="auto">
          <a:xfrm>
            <a:off x="1871663" y="3800475"/>
            <a:ext cx="5400675" cy="176212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Multicast</a:t>
            </a:r>
            <a:endParaRPr lang="en-US" dirty="0"/>
          </a:p>
        </p:txBody>
      </p:sp>
      <p:sp>
        <p:nvSpPr>
          <p:cNvPr id="3" name="Content Placeholder 2"/>
          <p:cNvSpPr>
            <a:spLocks noGrp="1"/>
          </p:cNvSpPr>
          <p:nvPr>
            <p:ph idx="1"/>
          </p:nvPr>
        </p:nvSpPr>
        <p:spPr/>
        <p:txBody>
          <a:bodyPr>
            <a:normAutofit/>
          </a:bodyPr>
          <a:lstStyle/>
          <a:p>
            <a:r>
              <a:rPr lang="en-US" sz="2200" b="1" dirty="0" smtClean="0"/>
              <a:t>Multicast frame:</a:t>
            </a:r>
            <a:r>
              <a:rPr lang="en-US" sz="2200" dirty="0" smtClean="0"/>
              <a:t> If the least significant bit in the first octet of a destination address is set to one, it means you're dealing with a multicast frame.</a:t>
            </a:r>
          </a:p>
          <a:p>
            <a:r>
              <a:rPr lang="en-US" sz="2200" dirty="0" smtClean="0"/>
              <a:t>A multicast frame is similarly set to all devices on the local network signal, and it will be accepted or discarded by each device depending on criteria aside from their own hardware MAC address.</a:t>
            </a:r>
          </a:p>
        </p:txBody>
      </p:sp>
      <p:pic>
        <p:nvPicPr>
          <p:cNvPr id="25602" name="Picture 2" descr="https://cdn.networklessons.com/wp-content/uploads/2013/03/mac-broadcast-multicast-bit.png"/>
          <p:cNvPicPr>
            <a:picLocks noChangeAspect="1" noChangeArrowheads="1"/>
          </p:cNvPicPr>
          <p:nvPr/>
        </p:nvPicPr>
        <p:blipFill>
          <a:blip r:embed="rId2" cstate="print"/>
          <a:srcRect/>
          <a:stretch>
            <a:fillRect/>
          </a:stretch>
        </p:blipFill>
        <p:spPr bwMode="auto">
          <a:xfrm>
            <a:off x="1371600" y="4419600"/>
            <a:ext cx="6748452" cy="122699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Packet</a:t>
            </a:r>
            <a:endParaRPr lang="en-US" dirty="0"/>
          </a:p>
        </p:txBody>
      </p:sp>
      <p:sp>
        <p:nvSpPr>
          <p:cNvPr id="3" name="Content Placeholder 2"/>
          <p:cNvSpPr>
            <a:spLocks noGrp="1"/>
          </p:cNvSpPr>
          <p:nvPr>
            <p:ph idx="1"/>
          </p:nvPr>
        </p:nvSpPr>
        <p:spPr/>
        <p:txBody>
          <a:bodyPr>
            <a:normAutofit/>
          </a:bodyPr>
          <a:lstStyle/>
          <a:p>
            <a:r>
              <a:rPr lang="en-US" sz="2200" b="1" dirty="0" smtClean="0"/>
              <a:t>Data packet: </a:t>
            </a:r>
            <a:r>
              <a:rPr lang="en-US" sz="2200" dirty="0" smtClean="0"/>
              <a:t>An all-encompassing term that represents any single set of binary data being sent across a network link.</a:t>
            </a:r>
          </a:p>
        </p:txBody>
      </p:sp>
      <p:pic>
        <p:nvPicPr>
          <p:cNvPr id="5122" name="Picture 2" descr="https://www.flukenetworks.com/sites/default/files/blog/ethernetbacktobasic01_1.png"/>
          <p:cNvPicPr>
            <a:picLocks noChangeAspect="1" noChangeArrowheads="1"/>
          </p:cNvPicPr>
          <p:nvPr/>
        </p:nvPicPr>
        <p:blipFill>
          <a:blip r:embed="rId2" cstate="print"/>
          <a:srcRect/>
          <a:stretch>
            <a:fillRect/>
          </a:stretch>
        </p:blipFill>
        <p:spPr bwMode="auto">
          <a:xfrm>
            <a:off x="1676400" y="3581400"/>
            <a:ext cx="5715000" cy="1147763"/>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Frame (I)</a:t>
            </a:r>
            <a:endParaRPr lang="en-US" dirty="0"/>
          </a:p>
        </p:txBody>
      </p:sp>
      <p:sp>
        <p:nvSpPr>
          <p:cNvPr id="3" name="Content Placeholder 2"/>
          <p:cNvSpPr>
            <a:spLocks noGrp="1"/>
          </p:cNvSpPr>
          <p:nvPr>
            <p:ph idx="1"/>
          </p:nvPr>
        </p:nvSpPr>
        <p:spPr/>
        <p:txBody>
          <a:bodyPr>
            <a:normAutofit/>
          </a:bodyPr>
          <a:lstStyle/>
          <a:p>
            <a:r>
              <a:rPr lang="en-US" sz="1800" b="1" dirty="0" smtClean="0"/>
              <a:t>Ethernet frame:</a:t>
            </a:r>
            <a:r>
              <a:rPr lang="en-US" sz="1800" dirty="0" smtClean="0"/>
              <a:t> A highly structured collection of information presented in a specific order.</a:t>
            </a:r>
          </a:p>
          <a:p>
            <a:r>
              <a:rPr lang="en-US" sz="1800" b="1" dirty="0" smtClean="0"/>
              <a:t>Preamble:</a:t>
            </a:r>
            <a:r>
              <a:rPr lang="en-US" sz="1800" dirty="0" smtClean="0"/>
              <a:t> The first part of an Ethernet frame, it is 8 bytes or 64 bits long and can itself be split into two sections.</a:t>
            </a:r>
          </a:p>
          <a:p>
            <a:r>
              <a:rPr lang="en-US" sz="1800" b="1" dirty="0" smtClean="0"/>
              <a:t>Start Frame Delimiter (SFD):</a:t>
            </a:r>
            <a:r>
              <a:rPr lang="en-US" sz="1800" dirty="0" smtClean="0"/>
              <a:t> The last byte in the preamble, that signals to a receiving device that the preamble is over and that the actual frame contents will now follow.</a:t>
            </a:r>
          </a:p>
          <a:p>
            <a:r>
              <a:rPr lang="en-US" sz="1800" b="1" dirty="0" smtClean="0"/>
              <a:t>Source MAC address: </a:t>
            </a:r>
            <a:r>
              <a:rPr lang="en-US" sz="1800" dirty="0" smtClean="0"/>
              <a:t>The hardware address of the device that sent the </a:t>
            </a:r>
            <a:r>
              <a:rPr lang="en-US" sz="1800" dirty="0" err="1" smtClean="0"/>
              <a:t>ethernet</a:t>
            </a:r>
            <a:r>
              <a:rPr lang="en-US" sz="1800" dirty="0" smtClean="0"/>
              <a:t> frame or data packet. In the data packet it follows the destination MAC address.</a:t>
            </a:r>
          </a:p>
        </p:txBody>
      </p:sp>
      <p:pic>
        <p:nvPicPr>
          <p:cNvPr id="27650" name="Picture 2" descr="https://static.javatpoint.com/tutorial/computer-network/images/ethernet-frame-format.png"/>
          <p:cNvPicPr>
            <a:picLocks noChangeAspect="1" noChangeArrowheads="1"/>
          </p:cNvPicPr>
          <p:nvPr/>
        </p:nvPicPr>
        <p:blipFill>
          <a:blip r:embed="rId2" cstate="print"/>
          <a:srcRect/>
          <a:stretch>
            <a:fillRect/>
          </a:stretch>
        </p:blipFill>
        <p:spPr bwMode="auto">
          <a:xfrm>
            <a:off x="1295400" y="4343400"/>
            <a:ext cx="6667500" cy="2266951"/>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Frame (II)</a:t>
            </a:r>
            <a:endParaRPr lang="en-US" dirty="0"/>
          </a:p>
        </p:txBody>
      </p:sp>
      <p:sp>
        <p:nvSpPr>
          <p:cNvPr id="3" name="Content Placeholder 2"/>
          <p:cNvSpPr>
            <a:spLocks noGrp="1"/>
          </p:cNvSpPr>
          <p:nvPr>
            <p:ph idx="1"/>
          </p:nvPr>
        </p:nvSpPr>
        <p:spPr/>
        <p:txBody>
          <a:bodyPr>
            <a:normAutofit/>
          </a:bodyPr>
          <a:lstStyle/>
          <a:p>
            <a:r>
              <a:rPr lang="en-US" sz="2200" b="1" dirty="0" smtClean="0"/>
              <a:t>Payload:</a:t>
            </a:r>
            <a:r>
              <a:rPr lang="en-US" sz="2200" dirty="0" smtClean="0"/>
              <a:t> The actual data being transported, which is everything that isn't a header.</a:t>
            </a:r>
          </a:p>
          <a:p>
            <a:r>
              <a:rPr lang="en-US" sz="2200" b="1" dirty="0" smtClean="0"/>
              <a:t>Cyclical Redundancy Check (CRC): </a:t>
            </a:r>
            <a:r>
              <a:rPr lang="en-US" sz="2200" dirty="0" smtClean="0"/>
              <a:t>A mathematical transformation that uses polynomial division to create a number that represents a larger set of data. It is an important concept for data integrity and is used all over computing, not just network transmissions.</a:t>
            </a:r>
          </a:p>
        </p:txBody>
      </p:sp>
      <p:pic>
        <p:nvPicPr>
          <p:cNvPr id="27650" name="Picture 2" descr="https://static.javatpoint.com/tutorial/computer-network/images/ethernet-frame-format.png"/>
          <p:cNvPicPr>
            <a:picLocks noChangeAspect="1" noChangeArrowheads="1"/>
          </p:cNvPicPr>
          <p:nvPr/>
        </p:nvPicPr>
        <p:blipFill>
          <a:blip r:embed="rId2" cstate="print"/>
          <a:srcRect/>
          <a:stretch>
            <a:fillRect/>
          </a:stretch>
        </p:blipFill>
        <p:spPr bwMode="auto">
          <a:xfrm>
            <a:off x="1295400" y="4114800"/>
            <a:ext cx="6667500" cy="2266951"/>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Frame (III)</a:t>
            </a:r>
            <a:endParaRPr lang="en-US" dirty="0"/>
          </a:p>
        </p:txBody>
      </p:sp>
      <p:sp>
        <p:nvSpPr>
          <p:cNvPr id="3" name="Content Placeholder 2"/>
          <p:cNvSpPr>
            <a:spLocks noGrp="1"/>
          </p:cNvSpPr>
          <p:nvPr>
            <p:ph idx="1"/>
          </p:nvPr>
        </p:nvSpPr>
        <p:spPr/>
        <p:txBody>
          <a:bodyPr>
            <a:normAutofit/>
          </a:bodyPr>
          <a:lstStyle/>
          <a:p>
            <a:r>
              <a:rPr lang="en-US" sz="2200" b="1" dirty="0" smtClean="0"/>
              <a:t>Virtual LAN (VLAN):</a:t>
            </a:r>
            <a:r>
              <a:rPr lang="en-US" sz="2200" dirty="0" smtClean="0"/>
              <a:t> It is a technique that lets you have multiple logical LANs operating on the same physical equipment.</a:t>
            </a:r>
          </a:p>
          <a:p>
            <a:r>
              <a:rPr lang="en-US" sz="2200" b="1" dirty="0" smtClean="0"/>
              <a:t>VLAN header:</a:t>
            </a:r>
            <a:r>
              <a:rPr lang="en-US" sz="2200" dirty="0" smtClean="0"/>
              <a:t> A piece of data that indicates what the frame itself is. In a data packet it is followed by the </a:t>
            </a:r>
            <a:r>
              <a:rPr lang="en-US" sz="2200" dirty="0" err="1" smtClean="0"/>
              <a:t>EtherType</a:t>
            </a:r>
            <a:endParaRPr lang="en-US" sz="2200" dirty="0" smtClean="0"/>
          </a:p>
          <a:p>
            <a:endParaRPr lang="en-US" sz="2200" dirty="0"/>
          </a:p>
        </p:txBody>
      </p:sp>
      <p:pic>
        <p:nvPicPr>
          <p:cNvPr id="28674" name="Picture 2" descr="https://networkhope.in/wp-content/uploads/2020/08/Vlan-tag-1.jpg"/>
          <p:cNvPicPr>
            <a:picLocks noChangeAspect="1" noChangeArrowheads="1"/>
          </p:cNvPicPr>
          <p:nvPr/>
        </p:nvPicPr>
        <p:blipFill>
          <a:blip r:embed="rId2" cstate="print"/>
          <a:srcRect/>
          <a:stretch>
            <a:fillRect/>
          </a:stretch>
        </p:blipFill>
        <p:spPr bwMode="auto">
          <a:xfrm>
            <a:off x="2438400" y="3352800"/>
            <a:ext cx="4060507" cy="3007043"/>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Unicast</a:t>
            </a:r>
            <a:endParaRPr lang="en-US" dirty="0"/>
          </a:p>
        </p:txBody>
      </p:sp>
      <p:sp>
        <p:nvSpPr>
          <p:cNvPr id="3" name="Content Placeholder 2"/>
          <p:cNvSpPr>
            <a:spLocks noGrp="1"/>
          </p:cNvSpPr>
          <p:nvPr>
            <p:ph idx="1"/>
          </p:nvPr>
        </p:nvSpPr>
        <p:spPr/>
        <p:txBody>
          <a:bodyPr>
            <a:noAutofit/>
          </a:bodyPr>
          <a:lstStyle/>
          <a:p>
            <a:r>
              <a:rPr lang="en-US" sz="2400" i="1" dirty="0" smtClean="0">
                <a:solidFill>
                  <a:srgbClr val="C00000"/>
                </a:solidFill>
              </a:rPr>
              <a:t>Point-to-point links</a:t>
            </a:r>
            <a:r>
              <a:rPr lang="en-US" sz="2400" dirty="0" smtClean="0"/>
              <a:t> connect individual pairs of machines.</a:t>
            </a:r>
          </a:p>
          <a:p>
            <a:r>
              <a:rPr lang="en-US" sz="2400" dirty="0" smtClean="0"/>
              <a:t>To go from the source to the destination on a network made up of point-to-point links, </a:t>
            </a:r>
            <a:r>
              <a:rPr lang="en-US" sz="2400" u="sng" dirty="0" smtClean="0"/>
              <a:t>short messages</a:t>
            </a:r>
            <a:r>
              <a:rPr lang="en-US" sz="2400" dirty="0" smtClean="0"/>
              <a:t>, called </a:t>
            </a:r>
            <a:r>
              <a:rPr lang="en-US" sz="2400" i="1" dirty="0" smtClean="0">
                <a:solidFill>
                  <a:srgbClr val="C00000"/>
                </a:solidFill>
              </a:rPr>
              <a:t>packets</a:t>
            </a:r>
            <a:r>
              <a:rPr lang="en-US" sz="2400" dirty="0" smtClean="0"/>
              <a:t> in certain contexts, may have to first visit one or more intermediate machines.</a:t>
            </a:r>
          </a:p>
          <a:p>
            <a:r>
              <a:rPr lang="en-US" sz="2400" dirty="0" smtClean="0"/>
              <a:t>Often multiple routes, of different lengths, are possible, so finding good ones is important in point-to-point networks.</a:t>
            </a:r>
          </a:p>
          <a:p>
            <a:r>
              <a:rPr lang="en-US" sz="2400" dirty="0" smtClean="0"/>
              <a:t>Point-to-point transmission with </a:t>
            </a:r>
            <a:r>
              <a:rPr lang="en-US" sz="2400" u="sng" dirty="0" smtClean="0"/>
              <a:t>exactly one sender</a:t>
            </a:r>
            <a:r>
              <a:rPr lang="en-US" sz="2400" dirty="0" smtClean="0"/>
              <a:t> and </a:t>
            </a:r>
            <a:r>
              <a:rPr lang="en-US" sz="2400" u="sng" dirty="0" smtClean="0"/>
              <a:t>exactly one receiver</a:t>
            </a:r>
            <a:r>
              <a:rPr lang="en-US" sz="2400" dirty="0" smtClean="0"/>
              <a:t> is sometimes called </a:t>
            </a:r>
            <a:r>
              <a:rPr lang="en-US" sz="2400" i="1" dirty="0" err="1" smtClean="0">
                <a:solidFill>
                  <a:srgbClr val="C00000"/>
                </a:solidFill>
              </a:rPr>
              <a:t>unicasting</a:t>
            </a:r>
            <a:r>
              <a:rPr lang="en-US" sz="2400" dirty="0" smtClean="0"/>
              <a:t>.</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Broadcast</a:t>
            </a:r>
            <a:endParaRPr lang="en-US" dirty="0"/>
          </a:p>
        </p:txBody>
      </p:sp>
      <p:sp>
        <p:nvSpPr>
          <p:cNvPr id="3" name="Content Placeholder 2"/>
          <p:cNvSpPr>
            <a:spLocks noGrp="1"/>
          </p:cNvSpPr>
          <p:nvPr>
            <p:ph idx="1"/>
          </p:nvPr>
        </p:nvSpPr>
        <p:spPr/>
        <p:txBody>
          <a:bodyPr>
            <a:noAutofit/>
          </a:bodyPr>
          <a:lstStyle/>
          <a:p>
            <a:r>
              <a:rPr lang="en-US" sz="2400" dirty="0" smtClean="0"/>
              <a:t>In contrast, on a </a:t>
            </a:r>
            <a:r>
              <a:rPr lang="en-US" sz="2400" i="1" dirty="0" smtClean="0">
                <a:solidFill>
                  <a:srgbClr val="C00000"/>
                </a:solidFill>
              </a:rPr>
              <a:t>broadcast network</a:t>
            </a:r>
            <a:r>
              <a:rPr lang="en-US" sz="2400" dirty="0" smtClean="0"/>
              <a:t>, the communication channel is shared by all the machines on the network; packets </a:t>
            </a:r>
            <a:r>
              <a:rPr lang="en-US" sz="2400" u="sng" dirty="0" smtClean="0"/>
              <a:t>sent by any machine</a:t>
            </a:r>
            <a:r>
              <a:rPr lang="en-US" sz="2400" dirty="0" smtClean="0"/>
              <a:t> are </a:t>
            </a:r>
            <a:r>
              <a:rPr lang="en-US" sz="2400" u="sng" dirty="0" smtClean="0"/>
              <a:t>received by all the others</a:t>
            </a:r>
            <a:r>
              <a:rPr lang="en-US" sz="2400" dirty="0" smtClean="0"/>
              <a:t>.</a:t>
            </a:r>
          </a:p>
          <a:p>
            <a:r>
              <a:rPr lang="en-US" sz="2400" dirty="0" smtClean="0"/>
              <a:t>An </a:t>
            </a:r>
            <a:r>
              <a:rPr lang="en-US" sz="2400" i="1" dirty="0" smtClean="0">
                <a:solidFill>
                  <a:srgbClr val="C00000"/>
                </a:solidFill>
              </a:rPr>
              <a:t>address field</a:t>
            </a:r>
            <a:r>
              <a:rPr lang="en-US" sz="2400" dirty="0" smtClean="0"/>
              <a:t> within each packet specifies the intended recipient.</a:t>
            </a:r>
          </a:p>
          <a:p>
            <a:r>
              <a:rPr lang="en-US" sz="2400" dirty="0" smtClean="0"/>
              <a:t>Upon receiving a packet, a machine checks the address field.</a:t>
            </a:r>
          </a:p>
          <a:p>
            <a:r>
              <a:rPr lang="en-US" sz="2400" dirty="0" smtClean="0"/>
              <a:t>If the packet is intended for the receiving machine, that machine processes the packet; if the packet is intended for some other machine, it is just ignored.</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Multicast</a:t>
            </a:r>
            <a:endParaRPr lang="en-US" dirty="0"/>
          </a:p>
        </p:txBody>
      </p:sp>
      <p:sp>
        <p:nvSpPr>
          <p:cNvPr id="3" name="Content Placeholder 2"/>
          <p:cNvSpPr>
            <a:spLocks noGrp="1"/>
          </p:cNvSpPr>
          <p:nvPr>
            <p:ph idx="1"/>
          </p:nvPr>
        </p:nvSpPr>
        <p:spPr/>
        <p:txBody>
          <a:bodyPr>
            <a:noAutofit/>
          </a:bodyPr>
          <a:lstStyle/>
          <a:p>
            <a:r>
              <a:rPr lang="en-US" sz="2400" dirty="0" smtClean="0"/>
              <a:t>Broadcast systems usually also allow the possibility of addressing a packet to all destinations by using a special code in the address field.</a:t>
            </a:r>
          </a:p>
          <a:p>
            <a:r>
              <a:rPr lang="en-US" sz="2400" dirty="0" smtClean="0"/>
              <a:t>When a packet with this code is transmitted, it is received and processed by every machine on the network.</a:t>
            </a:r>
          </a:p>
          <a:p>
            <a:r>
              <a:rPr lang="en-US" sz="2400" dirty="0" smtClean="0"/>
              <a:t>This mode of operation is called broadcasting.</a:t>
            </a:r>
          </a:p>
          <a:p>
            <a:r>
              <a:rPr lang="en-US" sz="2400" dirty="0" smtClean="0"/>
              <a:t>Some broadcast systems also support transmission to </a:t>
            </a:r>
            <a:r>
              <a:rPr lang="en-US" sz="2400" u="sng" dirty="0" smtClean="0"/>
              <a:t>a subset of the machines</a:t>
            </a:r>
            <a:r>
              <a:rPr lang="en-US" sz="2400" dirty="0" smtClean="0"/>
              <a:t>, which known as </a:t>
            </a:r>
            <a:r>
              <a:rPr lang="en-US" sz="2400" i="1" dirty="0" smtClean="0">
                <a:solidFill>
                  <a:srgbClr val="C00000"/>
                </a:solidFill>
              </a:rPr>
              <a:t>multicasting</a:t>
            </a:r>
            <a:r>
              <a:rPr lang="en-US" sz="2400" dirty="0" smtClean="0"/>
              <a: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First-in-First-Out (FIFO) (I) [2]</a:t>
            </a:r>
            <a:endParaRPr lang="en-US" dirty="0"/>
          </a:p>
        </p:txBody>
      </p:sp>
      <p:sp>
        <p:nvSpPr>
          <p:cNvPr id="3" name="Content Placeholder 2"/>
          <p:cNvSpPr>
            <a:spLocks noGrp="1"/>
          </p:cNvSpPr>
          <p:nvPr>
            <p:ph idx="1"/>
          </p:nvPr>
        </p:nvSpPr>
        <p:spPr/>
        <p:txBody>
          <a:bodyPr>
            <a:noAutofit/>
          </a:bodyPr>
          <a:lstStyle/>
          <a:p>
            <a:r>
              <a:rPr lang="en-US" sz="2200" dirty="0" smtClean="0"/>
              <a:t>Let's </a:t>
            </a:r>
            <a:r>
              <a:rPr lang="en-US" sz="2200" dirty="0" smtClean="0"/>
              <a:t>now return to </a:t>
            </a:r>
            <a:r>
              <a:rPr lang="en-US" sz="2200" i="1" dirty="0" smtClean="0">
                <a:solidFill>
                  <a:srgbClr val="C00000"/>
                </a:solidFill>
              </a:rPr>
              <a:t>the question of determining the order</a:t>
            </a:r>
            <a:r>
              <a:rPr lang="en-US" sz="2200" dirty="0" smtClean="0"/>
              <a:t> in which queued packets are transmitted over an outgoing link.</a:t>
            </a:r>
          </a:p>
          <a:p>
            <a:r>
              <a:rPr lang="en-US" sz="2200" dirty="0" smtClean="0"/>
              <a:t>The FIFO (also known as first-come-first-served, or FCFS) scheduling discipline selects packets for link transmission in the same order in which they arrived at the output link queue.</a:t>
            </a:r>
          </a:p>
        </p:txBody>
      </p:sp>
      <p:pic>
        <p:nvPicPr>
          <p:cNvPr id="1027" name="Picture 3"/>
          <p:cNvPicPr>
            <a:picLocks noChangeAspect="1" noChangeArrowheads="1"/>
          </p:cNvPicPr>
          <p:nvPr/>
        </p:nvPicPr>
        <p:blipFill>
          <a:blip r:embed="rId2" cstate="print"/>
          <a:srcRect/>
          <a:stretch>
            <a:fillRect/>
          </a:stretch>
        </p:blipFill>
        <p:spPr bwMode="auto">
          <a:xfrm>
            <a:off x="1414463" y="3886200"/>
            <a:ext cx="6315075" cy="2209800"/>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First-in-First-Out (FIFO) (II)</a:t>
            </a:r>
            <a:endParaRPr lang="en-US" dirty="0"/>
          </a:p>
        </p:txBody>
      </p:sp>
      <p:sp>
        <p:nvSpPr>
          <p:cNvPr id="3" name="Content Placeholder 2"/>
          <p:cNvSpPr>
            <a:spLocks noGrp="1"/>
          </p:cNvSpPr>
          <p:nvPr>
            <p:ph idx="1"/>
          </p:nvPr>
        </p:nvSpPr>
        <p:spPr/>
        <p:txBody>
          <a:bodyPr>
            <a:noAutofit/>
          </a:bodyPr>
          <a:lstStyle/>
          <a:p>
            <a:r>
              <a:rPr lang="en-US" sz="2200" dirty="0" smtClean="0"/>
              <a:t>Packets arriving at the link output queue wait for transmission if the link is currently busy transmitting another packet.</a:t>
            </a:r>
          </a:p>
          <a:p>
            <a:r>
              <a:rPr lang="en-US" sz="2200" dirty="0" smtClean="0"/>
              <a:t>If there is not sufficient buffering space to hold the arriving packet, the </a:t>
            </a:r>
            <a:r>
              <a:rPr lang="en-US" sz="2200" dirty="0" smtClean="0"/>
              <a:t>queue's </a:t>
            </a:r>
            <a:r>
              <a:rPr lang="en-US" sz="2200" dirty="0" smtClean="0"/>
              <a:t>packet-discarding policy then determines whether the packet will be dropped (lost) or whether other packets will be removed from the queue to make space for the arriving packet.</a:t>
            </a:r>
            <a:endParaRPr lang="en-US" sz="2200" dirty="0"/>
          </a:p>
        </p:txBody>
      </p:sp>
      <p:pic>
        <p:nvPicPr>
          <p:cNvPr id="1026" name="Picture 2"/>
          <p:cNvPicPr>
            <a:picLocks noChangeAspect="1" noChangeArrowheads="1"/>
          </p:cNvPicPr>
          <p:nvPr/>
        </p:nvPicPr>
        <p:blipFill>
          <a:blip r:embed="rId2" cstate="print"/>
          <a:srcRect/>
          <a:stretch>
            <a:fillRect/>
          </a:stretch>
        </p:blipFill>
        <p:spPr bwMode="auto">
          <a:xfrm>
            <a:off x="2592388" y="4165600"/>
            <a:ext cx="3959225" cy="1549400"/>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Medium </a:t>
            </a:r>
            <a:r>
              <a:rPr lang="en-US" dirty="0" smtClean="0"/>
              <a:t>Access </a:t>
            </a:r>
            <a:r>
              <a:rPr lang="en-US" dirty="0" smtClean="0"/>
              <a:t>Control </a:t>
            </a:r>
            <a:r>
              <a:rPr lang="en-US" dirty="0" smtClean="0"/>
              <a:t>Protocols</a:t>
            </a:r>
            <a:endParaRPr lang="en-US" dirty="0"/>
          </a:p>
        </p:txBody>
      </p:sp>
      <p:sp>
        <p:nvSpPr>
          <p:cNvPr id="3" name="Content Placeholder 2"/>
          <p:cNvSpPr>
            <a:spLocks noGrp="1"/>
          </p:cNvSpPr>
          <p:nvPr>
            <p:ph idx="1"/>
          </p:nvPr>
        </p:nvSpPr>
        <p:spPr/>
        <p:txBody>
          <a:bodyPr>
            <a:normAutofit/>
          </a:bodyPr>
          <a:lstStyle/>
          <a:p>
            <a:r>
              <a:rPr lang="en-US" sz="1800" dirty="0" smtClean="0"/>
              <a:t>A </a:t>
            </a:r>
            <a:r>
              <a:rPr lang="en-US" sz="1800" b="1" dirty="0" smtClean="0"/>
              <a:t> Medium </a:t>
            </a:r>
            <a:r>
              <a:rPr lang="en-US" sz="1800" b="1" dirty="0" smtClean="0"/>
              <a:t>Access </a:t>
            </a:r>
            <a:r>
              <a:rPr lang="en-US" sz="1800" b="1" dirty="0" smtClean="0"/>
              <a:t>Control (</a:t>
            </a:r>
            <a:r>
              <a:rPr lang="en-US" sz="1800" b="1" dirty="0" smtClean="0"/>
              <a:t>MAC</a:t>
            </a:r>
            <a:r>
              <a:rPr lang="en-US" sz="1800" b="1" dirty="0" smtClean="0"/>
              <a:t>) </a:t>
            </a:r>
            <a:r>
              <a:rPr lang="en-US" sz="1800" b="1" dirty="0" smtClean="0"/>
              <a:t>protocol</a:t>
            </a:r>
            <a:r>
              <a:rPr lang="en-US" sz="1800" dirty="0" smtClean="0"/>
              <a:t> exists because multiple devices share the same physical communication medium (e.g., radio channel, Ethernet cable, optical link), and they need a </a:t>
            </a:r>
            <a:r>
              <a:rPr lang="en-US" sz="1800" b="1" dirty="0" smtClean="0"/>
              <a:t>rule set to coordinate access</a:t>
            </a:r>
            <a:r>
              <a:rPr lang="en-US" sz="1800" dirty="0" smtClean="0"/>
              <a:t> — otherwise, simultaneous transmissions would </a:t>
            </a:r>
            <a:r>
              <a:rPr lang="en-US" sz="1800" b="1" dirty="0" smtClean="0"/>
              <a:t>interfere or collide</a:t>
            </a:r>
            <a:r>
              <a:rPr lang="en-US" sz="1800" dirty="0" smtClean="0"/>
              <a:t>, corrupting data</a:t>
            </a:r>
            <a:r>
              <a:rPr lang="en-US" sz="1800" dirty="0" smtClean="0"/>
              <a:t>.</a:t>
            </a:r>
          </a:p>
          <a:p>
            <a:endParaRPr lang="en-US" sz="1800" dirty="0"/>
          </a:p>
        </p:txBody>
      </p:sp>
      <p:graphicFrame>
        <p:nvGraphicFramePr>
          <p:cNvPr id="4" name="Table 3"/>
          <p:cNvGraphicFramePr>
            <a:graphicFrameLocks noGrp="1"/>
          </p:cNvGraphicFramePr>
          <p:nvPr/>
        </p:nvGraphicFramePr>
        <p:xfrm>
          <a:off x="533400" y="3429000"/>
          <a:ext cx="8077200" cy="2600960"/>
        </p:xfrm>
        <a:graphic>
          <a:graphicData uri="http://schemas.openxmlformats.org/drawingml/2006/table">
            <a:tbl>
              <a:tblPr firstRow="1">
                <a:tableStyleId>{3C2FFA5D-87B4-456A-9821-1D502468CF0F}</a:tableStyleId>
              </a:tblPr>
              <a:tblGrid>
                <a:gridCol w="1206495"/>
                <a:gridCol w="3448950"/>
                <a:gridCol w="3421755"/>
              </a:tblGrid>
              <a:tr h="162560">
                <a:tc>
                  <a:txBody>
                    <a:bodyPr/>
                    <a:lstStyle/>
                    <a:p>
                      <a:r>
                        <a:rPr lang="en-US" sz="1600" dirty="0"/>
                        <a:t>Scenario</a:t>
                      </a:r>
                    </a:p>
                  </a:txBody>
                  <a:tcPr marL="81280" marR="81280" marT="40640" marB="40640" anchor="ctr"/>
                </a:tc>
                <a:tc>
                  <a:txBody>
                    <a:bodyPr/>
                    <a:lstStyle/>
                    <a:p>
                      <a:r>
                        <a:rPr lang="en-US" sz="1600" dirty="0"/>
                        <a:t>Without </a:t>
                      </a:r>
                      <a:r>
                        <a:rPr lang="en-US" sz="1600" dirty="0" smtClean="0"/>
                        <a:t>MAC Protocol</a:t>
                      </a:r>
                      <a:endParaRPr lang="en-US" sz="1600" dirty="0"/>
                    </a:p>
                  </a:txBody>
                  <a:tcPr marL="81280" marR="81280" marT="40640" marB="40640" anchor="ctr"/>
                </a:tc>
                <a:tc>
                  <a:txBody>
                    <a:bodyPr/>
                    <a:lstStyle/>
                    <a:p>
                      <a:r>
                        <a:rPr lang="en-US" sz="1600" dirty="0"/>
                        <a:t>With </a:t>
                      </a:r>
                      <a:r>
                        <a:rPr lang="en-US" sz="1600" dirty="0" smtClean="0"/>
                        <a:t>MAC Protocol</a:t>
                      </a:r>
                      <a:endParaRPr lang="en-US" sz="1600" dirty="0"/>
                    </a:p>
                  </a:txBody>
                  <a:tcPr marL="81280" marR="81280" marT="40640" marB="40640" anchor="ctr"/>
                </a:tc>
              </a:tr>
              <a:tr h="528320">
                <a:tc>
                  <a:txBody>
                    <a:bodyPr/>
                    <a:lstStyle/>
                    <a:p>
                      <a:r>
                        <a:rPr lang="en-US" sz="1600"/>
                        <a:t>Ethernet LAN</a:t>
                      </a:r>
                    </a:p>
                  </a:txBody>
                  <a:tcPr marL="81280" marR="81280" marT="40640" marB="40640" anchor="ctr"/>
                </a:tc>
                <a:tc>
                  <a:txBody>
                    <a:bodyPr/>
                    <a:lstStyle/>
                    <a:p>
                      <a:r>
                        <a:rPr lang="en-US" sz="1600" dirty="0"/>
                        <a:t>All devices transmit simultaneously → collisions, chaos</a:t>
                      </a:r>
                    </a:p>
                  </a:txBody>
                  <a:tcPr marL="81280" marR="81280" marT="40640" marB="40640" anchor="ctr"/>
                </a:tc>
                <a:tc>
                  <a:txBody>
                    <a:bodyPr/>
                    <a:lstStyle/>
                    <a:p>
                      <a:r>
                        <a:rPr lang="en-US" sz="1600"/>
                        <a:t>CSMA/CD ensures only one transmitter succeeds</a:t>
                      </a:r>
                    </a:p>
                  </a:txBody>
                  <a:tcPr marL="81280" marR="81280" marT="40640" marB="40640" anchor="ctr"/>
                </a:tc>
              </a:tr>
              <a:tr h="406400">
                <a:tc>
                  <a:txBody>
                    <a:bodyPr/>
                    <a:lstStyle/>
                    <a:p>
                      <a:r>
                        <a:rPr lang="en-US" sz="1600"/>
                        <a:t>Wi-Fi</a:t>
                      </a:r>
                    </a:p>
                  </a:txBody>
                  <a:tcPr marL="81280" marR="81280" marT="40640" marB="40640" anchor="ctr"/>
                </a:tc>
                <a:tc>
                  <a:txBody>
                    <a:bodyPr/>
                    <a:lstStyle/>
                    <a:p>
                      <a:r>
                        <a:rPr lang="en-US" sz="1600"/>
                        <a:t>Radio interference from overlapping users</a:t>
                      </a:r>
                    </a:p>
                  </a:txBody>
                  <a:tcPr marL="81280" marR="81280" marT="40640" marB="40640" anchor="ctr"/>
                </a:tc>
                <a:tc>
                  <a:txBody>
                    <a:bodyPr/>
                    <a:lstStyle/>
                    <a:p>
                      <a:r>
                        <a:rPr lang="en-US" sz="1600" dirty="0"/>
                        <a:t>CSMA/CA avoids simultaneous transmission</a:t>
                      </a:r>
                    </a:p>
                  </a:txBody>
                  <a:tcPr marL="81280" marR="81280" marT="40640" marB="40640" anchor="ctr"/>
                </a:tc>
              </a:tr>
              <a:tr h="528320">
                <a:tc>
                  <a:txBody>
                    <a:bodyPr/>
                    <a:lstStyle/>
                    <a:p>
                      <a:r>
                        <a:rPr lang="en-US" sz="1600" dirty="0"/>
                        <a:t>Cellular networks</a:t>
                      </a:r>
                    </a:p>
                  </a:txBody>
                  <a:tcPr marL="81280" marR="81280" marT="40640" marB="40640" anchor="ctr"/>
                </a:tc>
                <a:tc>
                  <a:txBody>
                    <a:bodyPr/>
                    <a:lstStyle/>
                    <a:p>
                      <a:r>
                        <a:rPr lang="en-US" sz="1600"/>
                        <a:t>Overlapping frequency usage</a:t>
                      </a:r>
                    </a:p>
                  </a:txBody>
                  <a:tcPr marL="81280" marR="81280" marT="40640" marB="40640" anchor="ctr"/>
                </a:tc>
                <a:tc>
                  <a:txBody>
                    <a:bodyPr/>
                    <a:lstStyle/>
                    <a:p>
                      <a:r>
                        <a:rPr lang="en-US" sz="1600" dirty="0"/>
                        <a:t>TDMA/CDMA allocate time/frequency/code resources</a:t>
                      </a:r>
                    </a:p>
                  </a:txBody>
                  <a:tcPr marL="81280" marR="81280" marT="40640" marB="40640" anchor="ctr"/>
                </a:tc>
              </a:tr>
              <a:tr h="406400">
                <a:tc>
                  <a:txBody>
                    <a:bodyPr/>
                    <a:lstStyle/>
                    <a:p>
                      <a:r>
                        <a:rPr lang="en-US" sz="1600"/>
                        <a:t>Sensor networks</a:t>
                      </a:r>
                    </a:p>
                  </a:txBody>
                  <a:tcPr marL="81280" marR="81280" marT="40640" marB="40640" anchor="ctr"/>
                </a:tc>
                <a:tc>
                  <a:txBody>
                    <a:bodyPr/>
                    <a:lstStyle/>
                    <a:p>
                      <a:r>
                        <a:rPr lang="en-US" sz="1600"/>
                        <a:t>Battery waste due to idle listening</a:t>
                      </a:r>
                    </a:p>
                  </a:txBody>
                  <a:tcPr marL="81280" marR="81280" marT="40640" marB="40640" anchor="ctr"/>
                </a:tc>
                <a:tc>
                  <a:txBody>
                    <a:bodyPr/>
                    <a:lstStyle/>
                    <a:p>
                      <a:r>
                        <a:rPr lang="en-US" sz="1600" dirty="0"/>
                        <a:t>Energy-aware MAC schedules transmissions</a:t>
                      </a:r>
                    </a:p>
                  </a:txBody>
                  <a:tcPr marL="81280" marR="81280" marT="40640" marB="40640" anchor="ct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 Protocols: Contention-Based (Random Access) Protocols</a:t>
            </a:r>
            <a:endParaRPr lang="en-US" dirty="0"/>
          </a:p>
        </p:txBody>
      </p:sp>
      <p:sp>
        <p:nvSpPr>
          <p:cNvPr id="3" name="Content Placeholder 2"/>
          <p:cNvSpPr>
            <a:spLocks noGrp="1"/>
          </p:cNvSpPr>
          <p:nvPr>
            <p:ph idx="1"/>
          </p:nvPr>
        </p:nvSpPr>
        <p:spPr/>
        <p:txBody>
          <a:bodyPr>
            <a:normAutofit/>
          </a:bodyPr>
          <a:lstStyle/>
          <a:p>
            <a:r>
              <a:rPr lang="en-US" sz="2400" b="1" dirty="0" smtClean="0"/>
              <a:t>ALOHA</a:t>
            </a:r>
            <a:r>
              <a:rPr lang="en-US" sz="2400" dirty="0" smtClean="0"/>
              <a:t> – The earliest MAC protocol, developed at the University of Hawaii</a:t>
            </a:r>
            <a:r>
              <a:rPr lang="en-US" sz="2400" dirty="0" smtClean="0"/>
              <a:t>.</a:t>
            </a:r>
          </a:p>
          <a:p>
            <a:r>
              <a:rPr lang="en-US" sz="2400" b="1" dirty="0" smtClean="0"/>
              <a:t>Slotted ALOHA</a:t>
            </a:r>
            <a:r>
              <a:rPr lang="en-US" sz="2400" dirty="0" smtClean="0"/>
              <a:t> – Divides time into discrete slots to reduce collisions</a:t>
            </a:r>
            <a:r>
              <a:rPr lang="en-US" sz="2400" dirty="0" smtClean="0"/>
              <a:t>.</a:t>
            </a:r>
          </a:p>
          <a:p>
            <a:r>
              <a:rPr lang="en-US" sz="2400" b="1" dirty="0" smtClean="0"/>
              <a:t>CSMA (Carrier Sense Multiple Access)</a:t>
            </a:r>
            <a:r>
              <a:rPr lang="en-US" sz="2400" dirty="0" smtClean="0"/>
              <a:t> – Devices sense the channel before transmitting</a:t>
            </a:r>
            <a:r>
              <a:rPr lang="en-US" sz="2400" dirty="0" smtClean="0"/>
              <a:t>.</a:t>
            </a:r>
          </a:p>
          <a:p>
            <a:r>
              <a:rPr lang="en-US" sz="2400" b="1" dirty="0" smtClean="0"/>
              <a:t>CSMA/CD (Collision Detection)</a:t>
            </a:r>
            <a:r>
              <a:rPr lang="en-US" sz="2400" dirty="0" smtClean="0"/>
              <a:t> – Used in wired Ethernet (IEEE 802.3</a:t>
            </a:r>
            <a:r>
              <a:rPr lang="en-US" sz="2400" dirty="0" smtClean="0"/>
              <a:t>).</a:t>
            </a:r>
          </a:p>
          <a:p>
            <a:r>
              <a:rPr lang="en-US" sz="2400" b="1" dirty="0" smtClean="0"/>
              <a:t>CSMA/CA (Collision Avoidance)</a:t>
            </a:r>
            <a:r>
              <a:rPr lang="en-US" sz="2400" dirty="0" smtClean="0"/>
              <a:t> – Used in Wi-Fi (IEEE 802.11</a:t>
            </a:r>
            <a:r>
              <a:rPr lang="en-US" sz="2400" dirty="0" smtClean="0"/>
              <a:t>).</a:t>
            </a:r>
          </a:p>
          <a:p>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 Protocols: Controlled Access (Deterministic) Protocols</a:t>
            </a:r>
            <a:endParaRPr lang="en-US" dirty="0"/>
          </a:p>
        </p:txBody>
      </p:sp>
      <p:sp>
        <p:nvSpPr>
          <p:cNvPr id="3" name="Content Placeholder 2"/>
          <p:cNvSpPr>
            <a:spLocks noGrp="1"/>
          </p:cNvSpPr>
          <p:nvPr>
            <p:ph idx="1"/>
          </p:nvPr>
        </p:nvSpPr>
        <p:spPr/>
        <p:txBody>
          <a:bodyPr>
            <a:normAutofit/>
          </a:bodyPr>
          <a:lstStyle/>
          <a:p>
            <a:r>
              <a:rPr lang="en-US" sz="2400" b="1" dirty="0" smtClean="0"/>
              <a:t>Token </a:t>
            </a:r>
            <a:r>
              <a:rPr lang="en-US" sz="2400" b="1" dirty="0" smtClean="0"/>
              <a:t>Passing</a:t>
            </a:r>
            <a:r>
              <a:rPr lang="en-US" sz="2400" dirty="0" smtClean="0"/>
              <a:t> – Used in Token Ring (IEEE 802.5) and Token Bus (IEEE 802.4</a:t>
            </a:r>
            <a:r>
              <a:rPr lang="en-US" sz="2400" dirty="0" smtClean="0"/>
              <a:t>).</a:t>
            </a:r>
          </a:p>
          <a:p>
            <a:r>
              <a:rPr lang="en-US" sz="2400" b="1" dirty="0" smtClean="0"/>
              <a:t>Polling</a:t>
            </a:r>
            <a:r>
              <a:rPr lang="en-US" sz="2400" dirty="0" smtClean="0"/>
              <a:t> – A central controller invites each node to transmit in sequence</a:t>
            </a:r>
            <a:r>
              <a:rPr lang="en-US" sz="2400" dirty="0" smtClean="0"/>
              <a:t>.</a:t>
            </a:r>
          </a:p>
          <a:p>
            <a:r>
              <a:rPr lang="en-US" sz="2400" b="1" dirty="0" smtClean="0"/>
              <a:t>Reservation-Based Protocols</a:t>
            </a:r>
            <a:r>
              <a:rPr lang="en-US" sz="2400" dirty="0" smtClean="0"/>
              <a:t> – Nodes reserve time slots in advance, used in real-time or wireless sensor networks</a:t>
            </a:r>
            <a:r>
              <a:rPr lang="en-US" sz="2400" dirty="0" smtClean="0"/>
              <a:t>.</a:t>
            </a:r>
          </a:p>
          <a:p>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 Protocols: Hybrid and Advanced MAC Protocols</a:t>
            </a:r>
            <a:endParaRPr lang="en-US" dirty="0"/>
          </a:p>
        </p:txBody>
      </p:sp>
      <p:sp>
        <p:nvSpPr>
          <p:cNvPr id="3" name="Content Placeholder 2"/>
          <p:cNvSpPr>
            <a:spLocks noGrp="1"/>
          </p:cNvSpPr>
          <p:nvPr>
            <p:ph idx="1"/>
          </p:nvPr>
        </p:nvSpPr>
        <p:spPr/>
        <p:txBody>
          <a:bodyPr>
            <a:normAutofit/>
          </a:bodyPr>
          <a:lstStyle/>
          <a:p>
            <a:r>
              <a:rPr lang="en-US" sz="2400" b="1" dirty="0" smtClean="0"/>
              <a:t>IEEE 802.15.4 MAC</a:t>
            </a:r>
            <a:r>
              <a:rPr lang="en-US" sz="2400" dirty="0" smtClean="0"/>
              <a:t> – Hybrid MAC for low-rate wireless personal area networks (e.g., </a:t>
            </a:r>
            <a:r>
              <a:rPr lang="en-US" sz="2400" dirty="0" err="1" smtClean="0"/>
              <a:t>ZigBee</a:t>
            </a:r>
            <a:r>
              <a:rPr lang="en-US" sz="2400" dirty="0" smtClean="0"/>
              <a:t>).</a:t>
            </a:r>
          </a:p>
          <a:p>
            <a:r>
              <a:rPr lang="en-US" sz="2400" b="1" dirty="0" smtClean="0"/>
              <a:t>TDMA (Time Division Multiple Access)</a:t>
            </a:r>
            <a:r>
              <a:rPr lang="en-US" sz="2400" dirty="0" smtClean="0"/>
              <a:t> – Allocates fixed time slots per user</a:t>
            </a:r>
            <a:r>
              <a:rPr lang="en-US" sz="2400" dirty="0" smtClean="0"/>
              <a:t>.</a:t>
            </a:r>
          </a:p>
          <a:p>
            <a:r>
              <a:rPr lang="en-US" sz="2400" b="1" dirty="0" smtClean="0"/>
              <a:t>FDMA / CDMA</a:t>
            </a:r>
            <a:r>
              <a:rPr lang="en-US" sz="2400" dirty="0" smtClean="0"/>
              <a:t> – Frequency or code division MAC techniques, widely used in cellular systems.</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Repeaters [</a:t>
            </a:r>
            <a:r>
              <a:rPr lang="en-US" dirty="0" smtClean="0"/>
              <a:t>2]</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dirty="0" smtClean="0"/>
              <a:t>physical-layer device that receives a signal on </a:t>
            </a:r>
            <a:r>
              <a:rPr lang="en-US" sz="2400" dirty="0" smtClean="0"/>
              <a:t>the input </a:t>
            </a:r>
            <a:r>
              <a:rPr lang="en-US" sz="2400" dirty="0" smtClean="0"/>
              <a:t>side, and regenerates the signal on the output side</a:t>
            </a:r>
            <a:r>
              <a:rPr lang="en-US" sz="2400" dirty="0" smtClean="0"/>
              <a:t>.</a:t>
            </a:r>
          </a:p>
          <a:p>
            <a:r>
              <a:rPr lang="en-US" sz="2400" dirty="0" smtClean="0"/>
              <a:t>Ports: 2.</a:t>
            </a:r>
          </a:p>
          <a:p>
            <a:r>
              <a:rPr lang="en-US" sz="2400" dirty="0" smtClean="0"/>
              <a:t>Function: Regenerate </a:t>
            </a:r>
            <a:r>
              <a:rPr lang="en-US" sz="2400" dirty="0" smtClean="0"/>
              <a:t>and forward </a:t>
            </a:r>
            <a:r>
              <a:rPr lang="en-US" sz="2400" dirty="0" smtClean="0"/>
              <a:t>signal.</a:t>
            </a:r>
            <a:endParaRPr lang="en-US" sz="2400" dirty="0" smtClean="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Hubs</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i="1" dirty="0" smtClean="0">
                <a:solidFill>
                  <a:srgbClr val="C00000"/>
                </a:solidFill>
              </a:rPr>
              <a:t>hub</a:t>
            </a:r>
            <a:r>
              <a:rPr lang="en-US" sz="2400" dirty="0" smtClean="0"/>
              <a:t> is a physical-layer device that </a:t>
            </a:r>
            <a:r>
              <a:rPr lang="en-US" sz="2400" u="sng" dirty="0" smtClean="0"/>
              <a:t>acts on individual bits</a:t>
            </a:r>
            <a:r>
              <a:rPr lang="en-US" sz="2400" dirty="0" smtClean="0"/>
              <a:t> rather than frames.</a:t>
            </a:r>
          </a:p>
          <a:p>
            <a:r>
              <a:rPr lang="en-US" sz="2400" dirty="0" smtClean="0"/>
              <a:t>When a bit, representing a zero or a one, arrives from one interface, the hub </a:t>
            </a:r>
            <a:r>
              <a:rPr lang="en-US" sz="2400" dirty="0" smtClean="0"/>
              <a:t>simply re-creates </a:t>
            </a:r>
            <a:r>
              <a:rPr lang="en-US" sz="2400" dirty="0" smtClean="0"/>
              <a:t>the bit, boosts its energy strength, and transmits the bit onto all </a:t>
            </a:r>
            <a:r>
              <a:rPr lang="en-US" sz="2400" dirty="0" smtClean="0"/>
              <a:t>the other </a:t>
            </a:r>
            <a:r>
              <a:rPr lang="en-US" sz="2400" dirty="0" smtClean="0"/>
              <a:t>interfaces</a:t>
            </a:r>
            <a:r>
              <a:rPr lang="en-US" sz="2400" dirty="0" smtClean="0"/>
              <a:t>.</a:t>
            </a:r>
          </a:p>
          <a:p>
            <a:r>
              <a:rPr lang="en-US" sz="2400" dirty="0" smtClean="0"/>
              <a:t>Ports: 4 - 48.</a:t>
            </a:r>
          </a:p>
          <a:p>
            <a:r>
              <a:rPr lang="en-US" sz="2400" dirty="0" smtClean="0"/>
              <a:t>Function: </a:t>
            </a:r>
            <a:r>
              <a:rPr lang="en-US" sz="2400" dirty="0" smtClean="0"/>
              <a:t>Regenerate </a:t>
            </a:r>
            <a:r>
              <a:rPr lang="en-US" sz="2400" dirty="0" smtClean="0"/>
              <a:t>and broadcast </a:t>
            </a:r>
            <a:r>
              <a:rPr lang="en-US" sz="2400" dirty="0" smtClean="0"/>
              <a:t>signal</a:t>
            </a:r>
            <a:endParaRPr lang="en-US" sz="2400" dirty="0" smtClean="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Link-Layer Switches</a:t>
            </a:r>
            <a:endParaRPr lang="en-US" dirty="0"/>
          </a:p>
        </p:txBody>
      </p:sp>
      <p:sp>
        <p:nvSpPr>
          <p:cNvPr id="3" name="Content Placeholder 2"/>
          <p:cNvSpPr>
            <a:spLocks noGrp="1"/>
          </p:cNvSpPr>
          <p:nvPr>
            <p:ph idx="1"/>
          </p:nvPr>
        </p:nvSpPr>
        <p:spPr/>
        <p:txBody>
          <a:bodyPr>
            <a:normAutofit/>
          </a:bodyPr>
          <a:lstStyle/>
          <a:p>
            <a:r>
              <a:rPr lang="en-US" sz="2400" dirty="0" smtClean="0"/>
              <a:t>A </a:t>
            </a:r>
            <a:r>
              <a:rPr lang="en-US" sz="2400" dirty="0" smtClean="0">
                <a:solidFill>
                  <a:srgbClr val="C00000"/>
                </a:solidFill>
              </a:rPr>
              <a:t>switch</a:t>
            </a:r>
            <a:r>
              <a:rPr lang="en-US" sz="2400" dirty="0" smtClean="0"/>
              <a:t> is not only </a:t>
            </a:r>
            <a:r>
              <a:rPr lang="en-US" sz="2400" dirty="0" smtClean="0"/>
              <a:t>"collision-less" </a:t>
            </a:r>
            <a:r>
              <a:rPr lang="en-US" sz="2400" dirty="0" smtClean="0"/>
              <a:t>but </a:t>
            </a:r>
            <a:r>
              <a:rPr lang="en-US" sz="2400" dirty="0" smtClean="0"/>
              <a:t>is also </a:t>
            </a:r>
            <a:r>
              <a:rPr lang="en-US" sz="2400" dirty="0" smtClean="0"/>
              <a:t>a bona-fide store-and-forward packet switch; but unlike routers, which </a:t>
            </a:r>
            <a:r>
              <a:rPr lang="en-US" sz="2400" dirty="0" smtClean="0"/>
              <a:t>operate up </a:t>
            </a:r>
            <a:r>
              <a:rPr lang="en-US" sz="2400" dirty="0" smtClean="0"/>
              <a:t>through layer 3, a switch operates only up through </a:t>
            </a:r>
            <a:r>
              <a:rPr lang="en-US" sz="2400" dirty="0" smtClean="0">
                <a:solidFill>
                  <a:srgbClr val="C00000"/>
                </a:solidFill>
              </a:rPr>
              <a:t>layer 2</a:t>
            </a:r>
            <a:r>
              <a:rPr lang="en-US" sz="2400" dirty="0" smtClean="0"/>
              <a:t>.</a:t>
            </a:r>
          </a:p>
          <a:p>
            <a:r>
              <a:rPr lang="en-US" sz="2400" i="1" dirty="0" smtClean="0">
                <a:solidFill>
                  <a:srgbClr val="C00000"/>
                </a:solidFill>
              </a:rPr>
              <a:t>Filtering</a:t>
            </a:r>
            <a:r>
              <a:rPr lang="en-US" sz="2400" dirty="0" smtClean="0"/>
              <a:t> is the switch function that determines whether a frame should be </a:t>
            </a:r>
            <a:r>
              <a:rPr lang="en-US" sz="2400" dirty="0" smtClean="0"/>
              <a:t>forwarded to </a:t>
            </a:r>
            <a:r>
              <a:rPr lang="en-US" sz="2400" dirty="0" smtClean="0"/>
              <a:t>some interface or should just be </a:t>
            </a:r>
            <a:r>
              <a:rPr lang="en-US" sz="2400" dirty="0" smtClean="0"/>
              <a:t>dropped.</a:t>
            </a:r>
          </a:p>
          <a:p>
            <a:r>
              <a:rPr lang="en-US" sz="2400" i="1" dirty="0" smtClean="0">
                <a:solidFill>
                  <a:srgbClr val="C00000"/>
                </a:solidFill>
              </a:rPr>
              <a:t>Forwarding</a:t>
            </a:r>
            <a:r>
              <a:rPr lang="en-US" sz="2400" dirty="0" smtClean="0"/>
              <a:t> </a:t>
            </a:r>
            <a:r>
              <a:rPr lang="en-US" sz="2400" dirty="0" smtClean="0"/>
              <a:t>is the </a:t>
            </a:r>
            <a:r>
              <a:rPr lang="en-US" sz="2400" dirty="0" smtClean="0"/>
              <a:t>switch function </a:t>
            </a:r>
            <a:r>
              <a:rPr lang="en-US" sz="2400" dirty="0" smtClean="0"/>
              <a:t>that determines the interfaces to which a frame should be directed, </a:t>
            </a:r>
            <a:r>
              <a:rPr lang="en-US" sz="2400" dirty="0" smtClean="0"/>
              <a:t>and then </a:t>
            </a:r>
            <a:r>
              <a:rPr lang="en-US" sz="2400" dirty="0" smtClean="0"/>
              <a:t>moves the frame to those </a:t>
            </a:r>
            <a:r>
              <a:rPr lang="en-US" sz="2400" dirty="0" smtClean="0"/>
              <a:t>interfaces.</a:t>
            </a:r>
          </a:p>
          <a:p>
            <a:r>
              <a:rPr lang="en-US" sz="2400" dirty="0" smtClean="0"/>
              <a:t>Switch </a:t>
            </a:r>
            <a:r>
              <a:rPr lang="en-US" sz="2400" dirty="0" smtClean="0"/>
              <a:t>filtering and forwarding are </a:t>
            </a:r>
            <a:r>
              <a:rPr lang="en-US" sz="2400" dirty="0" smtClean="0"/>
              <a:t>done with </a:t>
            </a:r>
            <a:r>
              <a:rPr lang="en-US" sz="2400" dirty="0" smtClean="0"/>
              <a:t>a </a:t>
            </a:r>
            <a:r>
              <a:rPr lang="en-US" sz="2400" i="1" dirty="0" smtClean="0">
                <a:solidFill>
                  <a:srgbClr val="C00000"/>
                </a:solidFill>
              </a:rPr>
              <a:t>switch table</a:t>
            </a:r>
            <a:r>
              <a:rPr lang="en-US" sz="2400" dirty="0" smtClean="0"/>
              <a:t>.</a:t>
            </a:r>
            <a:endParaRPr lang="en-US" sz="2400" dirty="0" smtClean="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 Table</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i="1" dirty="0" smtClean="0">
                <a:solidFill>
                  <a:srgbClr val="C00000"/>
                </a:solidFill>
              </a:rPr>
              <a:t>switch table</a:t>
            </a:r>
            <a:r>
              <a:rPr lang="en-US" sz="2400" dirty="0" smtClean="0"/>
              <a:t> contains entries for some, but not </a:t>
            </a:r>
            <a:r>
              <a:rPr lang="en-US" sz="2400" dirty="0" smtClean="0"/>
              <a:t>necessarily all, </a:t>
            </a:r>
            <a:r>
              <a:rPr lang="en-US" sz="2400" dirty="0" smtClean="0"/>
              <a:t>of the hosts and routers on a </a:t>
            </a:r>
            <a:r>
              <a:rPr lang="en-US" sz="2400" dirty="0" smtClean="0"/>
              <a:t>LAN.</a:t>
            </a:r>
          </a:p>
          <a:p>
            <a:r>
              <a:rPr lang="en-US" sz="2400" dirty="0" smtClean="0"/>
              <a:t>An </a:t>
            </a:r>
            <a:r>
              <a:rPr lang="en-US" sz="2400" dirty="0" smtClean="0"/>
              <a:t>entry in the switch table </a:t>
            </a:r>
            <a:r>
              <a:rPr lang="en-US" sz="2400" dirty="0" smtClean="0"/>
              <a:t>contains </a:t>
            </a:r>
          </a:p>
          <a:p>
            <a:pPr lvl="1"/>
            <a:r>
              <a:rPr lang="en-US" sz="2000" dirty="0" smtClean="0"/>
              <a:t>(1) a MAC </a:t>
            </a:r>
            <a:r>
              <a:rPr lang="en-US" sz="2000" dirty="0" smtClean="0"/>
              <a:t>address, </a:t>
            </a:r>
            <a:endParaRPr lang="en-US" sz="2000" dirty="0" smtClean="0"/>
          </a:p>
          <a:p>
            <a:pPr lvl="1"/>
            <a:r>
              <a:rPr lang="en-US" sz="2000" dirty="0" smtClean="0"/>
              <a:t>(</a:t>
            </a:r>
            <a:r>
              <a:rPr lang="en-US" sz="2000" dirty="0" smtClean="0"/>
              <a:t>2) the switch interface that leads toward that MAC </a:t>
            </a:r>
            <a:r>
              <a:rPr lang="en-US" sz="2000" dirty="0" smtClean="0"/>
              <a:t>address, and </a:t>
            </a:r>
          </a:p>
          <a:p>
            <a:pPr lvl="1"/>
            <a:r>
              <a:rPr lang="en-US" sz="2000" dirty="0" smtClean="0"/>
              <a:t>(</a:t>
            </a:r>
            <a:r>
              <a:rPr lang="en-US" sz="2000" dirty="0" smtClean="0"/>
              <a:t>3) the time at which the entry was placed in the table</a:t>
            </a:r>
            <a:r>
              <a:rPr lang="en-US" sz="2000" dirty="0" smtClean="0"/>
              <a:t>.</a:t>
            </a:r>
          </a:p>
          <a:p>
            <a:endParaRPr lang="en-US" sz="2400" dirty="0" smtClean="0"/>
          </a:p>
        </p:txBody>
      </p:sp>
      <p:pic>
        <p:nvPicPr>
          <p:cNvPr id="1026" name="Picture 2"/>
          <p:cNvPicPr>
            <a:picLocks noChangeAspect="1" noChangeArrowheads="1"/>
          </p:cNvPicPr>
          <p:nvPr/>
        </p:nvPicPr>
        <p:blipFill>
          <a:blip r:embed="rId2" cstate="print"/>
          <a:srcRect/>
          <a:stretch>
            <a:fillRect/>
          </a:stretch>
        </p:blipFill>
        <p:spPr bwMode="auto">
          <a:xfrm>
            <a:off x="2063750" y="4502150"/>
            <a:ext cx="5016500" cy="12128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Self-Learning (I)</a:t>
            </a:r>
            <a:endParaRPr lang="en-US" dirty="0"/>
          </a:p>
        </p:txBody>
      </p:sp>
      <p:sp>
        <p:nvSpPr>
          <p:cNvPr id="3" name="Content Placeholder 2"/>
          <p:cNvSpPr>
            <a:spLocks noGrp="1"/>
          </p:cNvSpPr>
          <p:nvPr>
            <p:ph idx="1"/>
          </p:nvPr>
        </p:nvSpPr>
        <p:spPr/>
        <p:txBody>
          <a:bodyPr>
            <a:normAutofit/>
          </a:bodyPr>
          <a:lstStyle/>
          <a:p>
            <a:r>
              <a:rPr lang="en-US" sz="2400" dirty="0" smtClean="0"/>
              <a:t>A switch has the wonderful property (particularly for the already-overworked </a:t>
            </a:r>
            <a:r>
              <a:rPr lang="en-US" sz="2400" dirty="0" smtClean="0"/>
              <a:t>network administrator</a:t>
            </a:r>
            <a:r>
              <a:rPr lang="en-US" sz="2400" dirty="0" smtClean="0"/>
              <a:t>) that its table is built automatically, dynamically, and </a:t>
            </a:r>
            <a:r>
              <a:rPr lang="en-US" sz="2400" dirty="0" smtClean="0"/>
              <a:t>autonomously— without </a:t>
            </a:r>
            <a:r>
              <a:rPr lang="en-US" sz="2400" dirty="0" smtClean="0"/>
              <a:t>any intervention from a network administrator or from a configuration protocol.</a:t>
            </a:r>
          </a:p>
          <a:p>
            <a:r>
              <a:rPr lang="en-US" sz="2400" dirty="0" smtClean="0"/>
              <a:t>In other words, switches are </a:t>
            </a:r>
            <a:r>
              <a:rPr lang="en-US" sz="2400" b="1" dirty="0" smtClean="0"/>
              <a:t>self-learning</a:t>
            </a:r>
            <a:r>
              <a:rPr lang="en-US" sz="2400" b="1" dirty="0" smtClean="0"/>
              <a:t>.</a:t>
            </a:r>
          </a:p>
          <a:p>
            <a:r>
              <a:rPr lang="en-US" sz="2400" dirty="0" smtClean="0"/>
              <a:t>This capability is accomplished </a:t>
            </a:r>
            <a:r>
              <a:rPr lang="en-US" sz="2400" dirty="0" smtClean="0"/>
              <a:t>as follows</a:t>
            </a:r>
            <a:r>
              <a:rPr lang="en-US" sz="2400" dirty="0" smtClean="0"/>
              <a:t>:</a:t>
            </a:r>
            <a:endParaRPr lang="en-US" sz="2400" dirty="0" smtClean="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Self-Learning</a:t>
            </a:r>
            <a:r>
              <a:rPr lang="en-US" dirty="0" smtClean="0"/>
              <a:t> (</a:t>
            </a:r>
            <a:r>
              <a:rPr lang="en-US" dirty="0" smtClean="0"/>
              <a:t>II)</a:t>
            </a: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sz="2000" dirty="0" smtClean="0"/>
              <a:t>The </a:t>
            </a:r>
            <a:r>
              <a:rPr lang="en-US" sz="2000" dirty="0" smtClean="0"/>
              <a:t>switch table is initially empty.</a:t>
            </a:r>
          </a:p>
          <a:p>
            <a:pPr marL="457200" indent="-457200">
              <a:buFont typeface="+mj-lt"/>
              <a:buAutoNum type="arabicPeriod"/>
            </a:pPr>
            <a:r>
              <a:rPr lang="en-US" sz="2000" dirty="0" smtClean="0"/>
              <a:t>For </a:t>
            </a:r>
            <a:r>
              <a:rPr lang="en-US" sz="2000" dirty="0" smtClean="0"/>
              <a:t>each incoming frame received on an interface, the switch stores in its </a:t>
            </a:r>
            <a:r>
              <a:rPr lang="en-US" sz="2000" dirty="0" smtClean="0"/>
              <a:t>table (1</a:t>
            </a:r>
            <a:r>
              <a:rPr lang="en-US" sz="2000" dirty="0" smtClean="0"/>
              <a:t>) the MAC address in the frame’s source address field, (2) the interface </a:t>
            </a:r>
            <a:r>
              <a:rPr lang="en-US" sz="2000" dirty="0" smtClean="0"/>
              <a:t>from which </a:t>
            </a:r>
            <a:r>
              <a:rPr lang="en-US" sz="2000" dirty="0" smtClean="0"/>
              <a:t>the frame arrived, and (3) the current </a:t>
            </a:r>
            <a:r>
              <a:rPr lang="en-US" sz="2000" dirty="0" smtClean="0"/>
              <a:t>time. In </a:t>
            </a:r>
            <a:r>
              <a:rPr lang="en-US" sz="2000" dirty="0" smtClean="0"/>
              <a:t>this manner, the </a:t>
            </a:r>
            <a:r>
              <a:rPr lang="en-US" sz="2000" dirty="0" smtClean="0"/>
              <a:t>switch records </a:t>
            </a:r>
            <a:r>
              <a:rPr lang="en-US" sz="2000" dirty="0" smtClean="0"/>
              <a:t>in its table the LAN segment on which the sender resides. If </a:t>
            </a:r>
            <a:r>
              <a:rPr lang="en-US" sz="2000" dirty="0" smtClean="0"/>
              <a:t>every host </a:t>
            </a:r>
            <a:r>
              <a:rPr lang="en-US" sz="2000" dirty="0" smtClean="0"/>
              <a:t>in the LAN eventually sends a frame, then every host will eventually </a:t>
            </a:r>
            <a:r>
              <a:rPr lang="en-US" sz="2000" dirty="0" smtClean="0"/>
              <a:t>get recorded </a:t>
            </a:r>
            <a:r>
              <a:rPr lang="en-US" sz="2000" dirty="0" smtClean="0"/>
              <a:t>in the table.</a:t>
            </a:r>
          </a:p>
          <a:p>
            <a:pPr marL="457200" indent="-457200">
              <a:buFont typeface="+mj-lt"/>
              <a:buAutoNum type="arabicPeriod"/>
            </a:pPr>
            <a:r>
              <a:rPr lang="en-US" sz="2000" dirty="0" smtClean="0"/>
              <a:t>The </a:t>
            </a:r>
            <a:r>
              <a:rPr lang="en-US" sz="2000" dirty="0" smtClean="0"/>
              <a:t>switch deletes an address in the table if no frames are received with </a:t>
            </a:r>
            <a:r>
              <a:rPr lang="en-US" sz="2000" dirty="0" smtClean="0"/>
              <a:t>that address </a:t>
            </a:r>
            <a:r>
              <a:rPr lang="en-US" sz="2000" dirty="0" smtClean="0"/>
              <a:t>as the source address after some period of time (the aging time). </a:t>
            </a:r>
            <a:r>
              <a:rPr lang="en-US" sz="2000" dirty="0" smtClean="0"/>
              <a:t>In this </a:t>
            </a:r>
            <a:r>
              <a:rPr lang="en-US" sz="2000" dirty="0" smtClean="0"/>
              <a:t>manner, if a PC is replaced by another PC (with a different adapter), </a:t>
            </a:r>
            <a:r>
              <a:rPr lang="en-US" sz="2000" dirty="0" smtClean="0"/>
              <a:t>the MAC </a:t>
            </a:r>
            <a:r>
              <a:rPr lang="en-US" sz="2000" dirty="0" smtClean="0"/>
              <a:t>address of the original PC will eventually be purged from the </a:t>
            </a:r>
            <a:r>
              <a:rPr lang="en-US" sz="2000" dirty="0" smtClean="0"/>
              <a:t>switch table</a:t>
            </a:r>
            <a:r>
              <a:rPr lang="en-US" sz="2000" dirty="0" smtClean="0"/>
              <a:t>.</a:t>
            </a:r>
            <a:endParaRPr lang="en-US" sz="2000" dirty="0" smtClean="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Switch-Based </a:t>
            </a:r>
            <a:r>
              <a:rPr lang="en-US" dirty="0" smtClean="0"/>
              <a:t>Ethernet LAN</a:t>
            </a:r>
            <a:endParaRPr lang="en-US" dirty="0"/>
          </a:p>
        </p:txBody>
      </p:sp>
      <p:sp>
        <p:nvSpPr>
          <p:cNvPr id="3" name="Content Placeholder 2"/>
          <p:cNvSpPr>
            <a:spLocks noGrp="1"/>
          </p:cNvSpPr>
          <p:nvPr>
            <p:ph idx="1"/>
          </p:nvPr>
        </p:nvSpPr>
        <p:spPr/>
        <p:txBody>
          <a:bodyPr/>
          <a:lstStyle/>
          <a:p>
            <a:r>
              <a:rPr lang="en-US" dirty="0" smtClean="0"/>
              <a:t>In a switch-based Ethernet LAN there are no collisions and, therefore, there is no need for a MAC protocol.</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Virtual Local Area Networks</a:t>
            </a:r>
            <a:endParaRPr lang="en-US" dirty="0"/>
          </a:p>
        </p:txBody>
      </p:sp>
      <p:sp>
        <p:nvSpPr>
          <p:cNvPr id="3" name="Content Placeholder 2"/>
          <p:cNvSpPr>
            <a:spLocks noGrp="1"/>
          </p:cNvSpPr>
          <p:nvPr>
            <p:ph idx="1"/>
          </p:nvPr>
        </p:nvSpPr>
        <p:spPr/>
        <p:txBody>
          <a:bodyPr>
            <a:noAutofit/>
          </a:bodyPr>
          <a:lstStyle/>
          <a:p>
            <a:r>
              <a:rPr lang="en-US" sz="2400" dirty="0" smtClean="0"/>
              <a:t>A </a:t>
            </a:r>
            <a:r>
              <a:rPr lang="en-US" sz="2400" dirty="0" smtClean="0"/>
              <a:t>switch that </a:t>
            </a:r>
            <a:r>
              <a:rPr lang="en-US" sz="2400" dirty="0" smtClean="0"/>
              <a:t>supports </a:t>
            </a:r>
            <a:r>
              <a:rPr lang="en-US" sz="2400" i="1" dirty="0" smtClean="0">
                <a:solidFill>
                  <a:srgbClr val="C00000"/>
                </a:solidFill>
              </a:rPr>
              <a:t>VLANs</a:t>
            </a:r>
            <a:r>
              <a:rPr lang="en-US" sz="2400" dirty="0" smtClean="0"/>
              <a:t> </a:t>
            </a:r>
            <a:r>
              <a:rPr lang="en-US" sz="2400" dirty="0" smtClean="0"/>
              <a:t>allows </a:t>
            </a:r>
            <a:r>
              <a:rPr lang="en-US" sz="2400" u="sng" dirty="0" smtClean="0"/>
              <a:t>multiple virtual local area networks</a:t>
            </a:r>
            <a:r>
              <a:rPr lang="en-US" sz="2400" dirty="0" smtClean="0"/>
              <a:t> to be defined over a </a:t>
            </a:r>
            <a:r>
              <a:rPr lang="en-US" sz="2400" u="sng" dirty="0" smtClean="0"/>
              <a:t>single physical </a:t>
            </a:r>
            <a:r>
              <a:rPr lang="en-US" sz="2400" u="sng" dirty="0" smtClean="0"/>
              <a:t>local area network</a:t>
            </a:r>
            <a:r>
              <a:rPr lang="en-US" sz="2400" dirty="0" smtClean="0"/>
              <a:t> </a:t>
            </a:r>
            <a:r>
              <a:rPr lang="en-US" sz="2400" dirty="0" smtClean="0"/>
              <a:t>infrastructure.</a:t>
            </a:r>
          </a:p>
          <a:p>
            <a:r>
              <a:rPr lang="en-US" sz="2400" i="1" dirty="0" smtClean="0">
                <a:solidFill>
                  <a:srgbClr val="C00000"/>
                </a:solidFill>
              </a:rPr>
              <a:t>Hosts</a:t>
            </a:r>
            <a:r>
              <a:rPr lang="en-US" sz="2400" dirty="0" smtClean="0"/>
              <a:t> </a:t>
            </a:r>
            <a:r>
              <a:rPr lang="en-US" sz="2400" dirty="0" smtClean="0"/>
              <a:t>within a VLAN </a:t>
            </a:r>
            <a:r>
              <a:rPr lang="en-US" sz="2400" dirty="0" smtClean="0"/>
              <a:t>communicate with </a:t>
            </a:r>
            <a:r>
              <a:rPr lang="en-US" sz="2400" dirty="0" smtClean="0"/>
              <a:t>each other as if they (and no other hosts) were connected to the </a:t>
            </a:r>
            <a:r>
              <a:rPr lang="en-US" sz="2400" dirty="0" smtClean="0"/>
              <a:t>switch.</a:t>
            </a:r>
          </a:p>
          <a:p>
            <a:r>
              <a:rPr lang="en-US" sz="2400" dirty="0" smtClean="0"/>
              <a:t>In a </a:t>
            </a:r>
            <a:r>
              <a:rPr lang="en-US" sz="2400" i="1" dirty="0" smtClean="0">
                <a:solidFill>
                  <a:srgbClr val="C00000"/>
                </a:solidFill>
              </a:rPr>
              <a:t>port-based </a:t>
            </a:r>
            <a:r>
              <a:rPr lang="en-US" sz="2400" i="1" dirty="0" smtClean="0">
                <a:solidFill>
                  <a:srgbClr val="C00000"/>
                </a:solidFill>
              </a:rPr>
              <a:t>VLAN</a:t>
            </a:r>
            <a:r>
              <a:rPr lang="en-US" sz="2400" dirty="0" smtClean="0"/>
              <a:t>, the switch’s ports (interfaces) </a:t>
            </a:r>
            <a:r>
              <a:rPr lang="en-US" sz="2400" dirty="0" smtClean="0"/>
              <a:t>are divided </a:t>
            </a:r>
            <a:r>
              <a:rPr lang="en-US" sz="2400" dirty="0" smtClean="0"/>
              <a:t>into groups by </a:t>
            </a:r>
            <a:r>
              <a:rPr lang="en-US" sz="2400" dirty="0" smtClean="0"/>
              <a:t>the network manager.</a:t>
            </a:r>
          </a:p>
          <a:p>
            <a:r>
              <a:rPr lang="en-US" sz="2400" dirty="0" smtClean="0"/>
              <a:t>Each </a:t>
            </a:r>
            <a:r>
              <a:rPr lang="en-US" sz="2400" dirty="0" smtClean="0"/>
              <a:t>group constitutes a VLAN, with the ports in each </a:t>
            </a:r>
            <a:r>
              <a:rPr lang="en-US" sz="2400" dirty="0" smtClean="0"/>
              <a:t>VLAN forming </a:t>
            </a:r>
            <a:r>
              <a:rPr lang="en-US" sz="2400" dirty="0" smtClean="0"/>
              <a:t>a </a:t>
            </a:r>
            <a:r>
              <a:rPr lang="en-US" sz="2400" i="1" dirty="0" smtClean="0">
                <a:solidFill>
                  <a:srgbClr val="C00000"/>
                </a:solidFill>
              </a:rPr>
              <a:t>broadcast domain</a:t>
            </a:r>
            <a:r>
              <a:rPr lang="en-US" sz="2400" dirty="0" smtClean="0"/>
              <a:t> (i.e., broadcast traffic from one port can only </a:t>
            </a:r>
            <a:r>
              <a:rPr lang="en-US" sz="2400" dirty="0" smtClean="0"/>
              <a:t>reach other </a:t>
            </a:r>
            <a:r>
              <a:rPr lang="en-US" sz="2400" dirty="0" smtClean="0"/>
              <a:t>ports in the group).</a:t>
            </a:r>
            <a:endParaRPr lang="en-US" sz="2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a:t>
            </a:r>
            <a:r>
              <a:rPr lang="en-US" dirty="0" smtClean="0"/>
              <a:t>Single Switch </a:t>
            </a:r>
            <a:r>
              <a:rPr lang="en-US" dirty="0" smtClean="0"/>
              <a:t>with </a:t>
            </a:r>
            <a:r>
              <a:rPr lang="en-US" dirty="0" smtClean="0"/>
              <a:t>Two Configured </a:t>
            </a:r>
            <a:r>
              <a:rPr lang="en-US" dirty="0" smtClean="0"/>
              <a:t>VLANs</a:t>
            </a:r>
            <a:endParaRPr lang="en-US" dirty="0"/>
          </a:p>
        </p:txBody>
      </p:sp>
      <p:sp>
        <p:nvSpPr>
          <p:cNvPr id="3" name="Content Placeholder 2"/>
          <p:cNvSpPr>
            <a:spLocks noGrp="1"/>
          </p:cNvSpPr>
          <p:nvPr>
            <p:ph idx="1"/>
          </p:nvPr>
        </p:nvSpPr>
        <p:spPr/>
        <p:txBody>
          <a:bodyPr>
            <a:normAutofit/>
          </a:bodyPr>
          <a:lstStyle/>
          <a:p>
            <a:r>
              <a:rPr lang="en-US" sz="2400" dirty="0" smtClean="0"/>
              <a:t>Ports </a:t>
            </a:r>
            <a:r>
              <a:rPr lang="en-US" sz="2400" dirty="0" smtClean="0"/>
              <a:t>2 to </a:t>
            </a:r>
            <a:r>
              <a:rPr lang="en-US" sz="2400" dirty="0" smtClean="0"/>
              <a:t>8 belong to the EE VLAN, while ports 9 to 15 belong to the CS VLAN (ports </a:t>
            </a:r>
            <a:r>
              <a:rPr lang="en-US" sz="2400" dirty="0" smtClean="0"/>
              <a:t>1 and </a:t>
            </a:r>
            <a:r>
              <a:rPr lang="en-US" sz="2400" dirty="0" smtClean="0"/>
              <a:t>16 are unassigned).</a:t>
            </a:r>
            <a:endParaRPr lang="en-US" sz="2400" dirty="0"/>
          </a:p>
        </p:txBody>
      </p:sp>
      <p:pic>
        <p:nvPicPr>
          <p:cNvPr id="48130" name="Picture 2"/>
          <p:cNvPicPr>
            <a:picLocks noChangeAspect="1" noChangeArrowheads="1"/>
          </p:cNvPicPr>
          <p:nvPr/>
        </p:nvPicPr>
        <p:blipFill>
          <a:blip r:embed="rId2" cstate="print"/>
          <a:srcRect/>
          <a:stretch>
            <a:fillRect/>
          </a:stretch>
        </p:blipFill>
        <p:spPr bwMode="auto">
          <a:xfrm>
            <a:off x="2065338" y="2832100"/>
            <a:ext cx="5013325" cy="3111500"/>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VLANs and Routers</a:t>
            </a:r>
            <a:endParaRPr lang="en-US" dirty="0"/>
          </a:p>
        </p:txBody>
      </p:sp>
      <p:sp>
        <p:nvSpPr>
          <p:cNvPr id="3" name="Content Placeholder 2"/>
          <p:cNvSpPr>
            <a:spLocks noGrp="1"/>
          </p:cNvSpPr>
          <p:nvPr>
            <p:ph idx="1"/>
          </p:nvPr>
        </p:nvSpPr>
        <p:spPr/>
        <p:txBody>
          <a:bodyPr>
            <a:normAutofit/>
          </a:bodyPr>
          <a:lstStyle/>
          <a:p>
            <a:r>
              <a:rPr lang="en-US" sz="2400" dirty="0" smtClean="0"/>
              <a:t>How can traffic from the EE Department be sent to the CS Department?</a:t>
            </a:r>
          </a:p>
          <a:p>
            <a:r>
              <a:rPr lang="en-US" sz="2400" dirty="0" smtClean="0"/>
              <a:t>One way to handle this would be to connect a VLAN switch port (e.g., port </a:t>
            </a:r>
            <a:r>
              <a:rPr lang="en-US" sz="2400" dirty="0" smtClean="0"/>
              <a:t>1) </a:t>
            </a:r>
            <a:r>
              <a:rPr lang="en-US" sz="2400" dirty="0" smtClean="0"/>
              <a:t>to an external router and configure that port to belong both the EE and </a:t>
            </a:r>
            <a:r>
              <a:rPr lang="en-US" sz="2400" dirty="0" smtClean="0"/>
              <a:t>CS VLANs.</a:t>
            </a:r>
          </a:p>
          <a:p>
            <a:r>
              <a:rPr lang="en-US" sz="2400" dirty="0" smtClean="0"/>
              <a:t>In </a:t>
            </a:r>
            <a:r>
              <a:rPr lang="en-US" sz="2400" dirty="0" smtClean="0"/>
              <a:t>this case, even though the EE and CS departments share the same </a:t>
            </a:r>
            <a:r>
              <a:rPr lang="en-US" sz="2400" dirty="0" smtClean="0"/>
              <a:t>physical switch</a:t>
            </a:r>
            <a:r>
              <a:rPr lang="en-US" sz="2400" dirty="0" smtClean="0"/>
              <a:t>, the logical configuration would look as if the EE and CS </a:t>
            </a:r>
            <a:r>
              <a:rPr lang="en-US" sz="2400" dirty="0" smtClean="0"/>
              <a:t>departments had </a:t>
            </a:r>
            <a:r>
              <a:rPr lang="en-US" sz="2400" dirty="0" smtClean="0"/>
              <a:t>separate switches connected via a router.</a:t>
            </a:r>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VLAN </a:t>
            </a:r>
            <a:r>
              <a:rPr lang="en-US" dirty="0" err="1" smtClean="0"/>
              <a:t>Trunking</a:t>
            </a:r>
            <a:endParaRPr lang="en-US" dirty="0"/>
          </a:p>
        </p:txBody>
      </p:sp>
      <p:sp>
        <p:nvSpPr>
          <p:cNvPr id="3" name="Content Placeholder 2"/>
          <p:cNvSpPr>
            <a:spLocks noGrp="1"/>
          </p:cNvSpPr>
          <p:nvPr>
            <p:ph idx="1"/>
          </p:nvPr>
        </p:nvSpPr>
        <p:spPr/>
        <p:txBody>
          <a:bodyPr>
            <a:normAutofit/>
          </a:bodyPr>
          <a:lstStyle/>
          <a:p>
            <a:r>
              <a:rPr lang="en-US" sz="2400" dirty="0" smtClean="0"/>
              <a:t>A more scalable approach to </a:t>
            </a:r>
            <a:r>
              <a:rPr lang="en-US" sz="2400" u="sng" dirty="0" smtClean="0"/>
              <a:t>interconnecting VLAN switches</a:t>
            </a:r>
            <a:r>
              <a:rPr lang="en-US" sz="2400" dirty="0" smtClean="0"/>
              <a:t> is known </a:t>
            </a:r>
            <a:r>
              <a:rPr lang="en-US" sz="2400" dirty="0" smtClean="0"/>
              <a:t>as </a:t>
            </a:r>
            <a:r>
              <a:rPr lang="en-US" sz="2400" i="1" dirty="0" smtClean="0">
                <a:solidFill>
                  <a:srgbClr val="C00000"/>
                </a:solidFill>
              </a:rPr>
              <a:t>VLAN </a:t>
            </a:r>
            <a:r>
              <a:rPr lang="en-US" sz="2400" i="1" dirty="0" err="1" smtClean="0">
                <a:solidFill>
                  <a:srgbClr val="C00000"/>
                </a:solidFill>
              </a:rPr>
              <a:t>trunking</a:t>
            </a:r>
            <a:r>
              <a:rPr lang="en-US" sz="2400" dirty="0" smtClean="0"/>
              <a:t>.</a:t>
            </a:r>
          </a:p>
          <a:p>
            <a:r>
              <a:rPr lang="en-US" sz="2400" dirty="0" smtClean="0"/>
              <a:t>In </a:t>
            </a:r>
            <a:r>
              <a:rPr lang="en-US" sz="2400" dirty="0" smtClean="0"/>
              <a:t>the VLAN </a:t>
            </a:r>
            <a:r>
              <a:rPr lang="en-US" sz="2400" dirty="0" err="1" smtClean="0"/>
              <a:t>trunking</a:t>
            </a:r>
            <a:r>
              <a:rPr lang="en-US" sz="2400" dirty="0" smtClean="0"/>
              <a:t> </a:t>
            </a:r>
            <a:r>
              <a:rPr lang="en-US" sz="2400" dirty="0" smtClean="0"/>
              <a:t>approach, </a:t>
            </a:r>
            <a:r>
              <a:rPr lang="en-US" sz="2400" dirty="0" smtClean="0"/>
              <a:t>a </a:t>
            </a:r>
            <a:r>
              <a:rPr lang="en-US" sz="2400" dirty="0" smtClean="0"/>
              <a:t>special port </a:t>
            </a:r>
            <a:r>
              <a:rPr lang="en-US" sz="2400" dirty="0" smtClean="0"/>
              <a:t>on each switch (port 16 on the left switch and port 1 on the right switch) </a:t>
            </a:r>
            <a:r>
              <a:rPr lang="en-US" sz="2400" dirty="0" smtClean="0"/>
              <a:t>is configured </a:t>
            </a:r>
            <a:r>
              <a:rPr lang="en-US" sz="2400" dirty="0" smtClean="0"/>
              <a:t>as a </a:t>
            </a:r>
            <a:r>
              <a:rPr lang="en-US" sz="2400" i="1" dirty="0" smtClean="0">
                <a:solidFill>
                  <a:srgbClr val="C00000"/>
                </a:solidFill>
              </a:rPr>
              <a:t>trunk port</a:t>
            </a:r>
            <a:r>
              <a:rPr lang="en-US" sz="2400" dirty="0" smtClean="0"/>
              <a:t> to interconnect the two VLAN </a:t>
            </a:r>
            <a:r>
              <a:rPr lang="en-US" sz="2400" dirty="0" smtClean="0"/>
              <a:t>switches.</a:t>
            </a:r>
          </a:p>
          <a:p>
            <a:r>
              <a:rPr lang="en-US" sz="2400" dirty="0" smtClean="0"/>
              <a:t>The </a:t>
            </a:r>
            <a:r>
              <a:rPr lang="en-US" sz="2400" dirty="0" smtClean="0"/>
              <a:t>trunk </a:t>
            </a:r>
            <a:r>
              <a:rPr lang="en-US" sz="2400" dirty="0" smtClean="0"/>
              <a:t>port </a:t>
            </a:r>
            <a:r>
              <a:rPr lang="en-US" sz="2400" i="1" dirty="0" smtClean="0">
                <a:solidFill>
                  <a:srgbClr val="C00000"/>
                </a:solidFill>
              </a:rPr>
              <a:t>belongs </a:t>
            </a:r>
            <a:r>
              <a:rPr lang="en-US" sz="2400" i="1" dirty="0" smtClean="0">
                <a:solidFill>
                  <a:srgbClr val="C00000"/>
                </a:solidFill>
              </a:rPr>
              <a:t>to all VLANs</a:t>
            </a:r>
            <a:r>
              <a:rPr lang="en-US" sz="2400" dirty="0" smtClean="0"/>
              <a:t>, and frames sent to any VLAN are forwarded over the </a:t>
            </a:r>
            <a:r>
              <a:rPr lang="en-US" sz="2400" dirty="0" smtClean="0"/>
              <a:t>trunk link </a:t>
            </a:r>
            <a:r>
              <a:rPr lang="en-US" sz="2400" dirty="0" smtClean="0"/>
              <a:t>to the other switch.</a:t>
            </a:r>
            <a:endParaRPr lang="en-US" sz="2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VLAN </a:t>
            </a:r>
            <a:r>
              <a:rPr lang="en-US" dirty="0" smtClean="0"/>
              <a:t>Tags</a:t>
            </a:r>
            <a:endParaRPr lang="en-US" dirty="0"/>
          </a:p>
        </p:txBody>
      </p:sp>
      <p:sp>
        <p:nvSpPr>
          <p:cNvPr id="3" name="Content Placeholder 2"/>
          <p:cNvSpPr>
            <a:spLocks noGrp="1"/>
          </p:cNvSpPr>
          <p:nvPr>
            <p:ph idx="1"/>
          </p:nvPr>
        </p:nvSpPr>
        <p:spPr/>
        <p:txBody>
          <a:bodyPr>
            <a:normAutofit/>
          </a:bodyPr>
          <a:lstStyle/>
          <a:p>
            <a:r>
              <a:rPr lang="en-US" sz="2200" dirty="0" smtClean="0"/>
              <a:t>How does a switch </a:t>
            </a:r>
            <a:r>
              <a:rPr lang="en-US" sz="2200" dirty="0" smtClean="0"/>
              <a:t>know that </a:t>
            </a:r>
            <a:r>
              <a:rPr lang="en-US" sz="2200" i="1" dirty="0" smtClean="0">
                <a:solidFill>
                  <a:srgbClr val="C00000"/>
                </a:solidFill>
              </a:rPr>
              <a:t>a frame</a:t>
            </a:r>
            <a:r>
              <a:rPr lang="en-US" sz="2200" dirty="0" smtClean="0"/>
              <a:t> arriving on a trunk port belongs to a </a:t>
            </a:r>
            <a:r>
              <a:rPr lang="en-US" sz="2200" u="sng" dirty="0" smtClean="0"/>
              <a:t>particular VLAN</a:t>
            </a:r>
            <a:r>
              <a:rPr lang="en-US" sz="2200" dirty="0" smtClean="0"/>
              <a:t>?</a:t>
            </a:r>
          </a:p>
          <a:p>
            <a:r>
              <a:rPr lang="en-US" sz="2200" dirty="0" smtClean="0"/>
              <a:t>The IEEE </a:t>
            </a:r>
            <a:r>
              <a:rPr lang="en-US" sz="2200" dirty="0" smtClean="0"/>
              <a:t>has defined </a:t>
            </a:r>
            <a:r>
              <a:rPr lang="en-US" sz="2200" dirty="0" smtClean="0"/>
              <a:t>an extended Ethernet frame format, 802.1Q, for frames crossing a </a:t>
            </a:r>
            <a:r>
              <a:rPr lang="en-US" sz="2200" dirty="0" smtClean="0"/>
              <a:t>VLAN trunk.</a:t>
            </a:r>
          </a:p>
          <a:p>
            <a:r>
              <a:rPr lang="en-US" sz="2200" dirty="0" smtClean="0"/>
              <a:t>The </a:t>
            </a:r>
            <a:r>
              <a:rPr lang="en-US" sz="2200" i="1" dirty="0" smtClean="0">
                <a:solidFill>
                  <a:srgbClr val="C00000"/>
                </a:solidFill>
              </a:rPr>
              <a:t>VLAN tag</a:t>
            </a:r>
            <a:r>
              <a:rPr lang="en-US" sz="2200" dirty="0" smtClean="0"/>
              <a:t> is added into a frame </a:t>
            </a:r>
            <a:r>
              <a:rPr lang="en-US" sz="2200" u="sng" dirty="0" smtClean="0"/>
              <a:t>by </a:t>
            </a:r>
            <a:r>
              <a:rPr lang="en-US" sz="2200" u="sng" dirty="0" smtClean="0"/>
              <a:t>the switch</a:t>
            </a:r>
            <a:r>
              <a:rPr lang="en-US" sz="2200" dirty="0" smtClean="0"/>
              <a:t> </a:t>
            </a:r>
            <a:r>
              <a:rPr lang="en-US" sz="2200" dirty="0" smtClean="0"/>
              <a:t>at the </a:t>
            </a:r>
            <a:r>
              <a:rPr lang="en-US" sz="2200" u="sng" dirty="0" smtClean="0"/>
              <a:t>sending side</a:t>
            </a:r>
            <a:r>
              <a:rPr lang="en-US" sz="2200" dirty="0" smtClean="0"/>
              <a:t> of a VLAN trunk, parsed, and removed by the switch </a:t>
            </a:r>
            <a:r>
              <a:rPr lang="en-US" sz="2200" dirty="0" smtClean="0"/>
              <a:t>at the </a:t>
            </a:r>
            <a:r>
              <a:rPr lang="en-US" sz="2200" u="sng" dirty="0" smtClean="0"/>
              <a:t>receiving side</a:t>
            </a:r>
            <a:r>
              <a:rPr lang="en-US" sz="2200" dirty="0" smtClean="0"/>
              <a:t> of the trunk.</a:t>
            </a:r>
            <a:endParaRPr lang="en-US" sz="2200" dirty="0"/>
          </a:p>
        </p:txBody>
      </p:sp>
      <p:pic>
        <p:nvPicPr>
          <p:cNvPr id="49154" name="Picture 2"/>
          <p:cNvPicPr>
            <a:picLocks noChangeAspect="1" noChangeArrowheads="1"/>
          </p:cNvPicPr>
          <p:nvPr/>
        </p:nvPicPr>
        <p:blipFill>
          <a:blip r:embed="rId2" cstate="print"/>
          <a:srcRect/>
          <a:stretch>
            <a:fillRect/>
          </a:stretch>
        </p:blipFill>
        <p:spPr bwMode="auto">
          <a:xfrm>
            <a:off x="1712913" y="4441825"/>
            <a:ext cx="5718175" cy="1730375"/>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Centers</a:t>
            </a:r>
            <a:endParaRPr lang="en-US" dirty="0"/>
          </a:p>
        </p:txBody>
      </p:sp>
      <p:pic>
        <p:nvPicPr>
          <p:cNvPr id="50179" name="Picture 3"/>
          <p:cNvPicPr>
            <a:picLocks noChangeAspect="1" noChangeArrowheads="1"/>
          </p:cNvPicPr>
          <p:nvPr/>
        </p:nvPicPr>
        <p:blipFill>
          <a:blip r:embed="rId2" cstate="print"/>
          <a:srcRect/>
          <a:stretch>
            <a:fillRect/>
          </a:stretch>
        </p:blipFill>
        <p:spPr bwMode="auto">
          <a:xfrm>
            <a:off x="1047750" y="1746250"/>
            <a:ext cx="7048500" cy="4273550"/>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Center Networks</a:t>
            </a:r>
            <a:endParaRPr lang="en-US" dirty="0"/>
          </a:p>
        </p:txBody>
      </p:sp>
      <p:sp>
        <p:nvSpPr>
          <p:cNvPr id="3" name="Content Placeholder 2"/>
          <p:cNvSpPr>
            <a:spLocks noGrp="1"/>
          </p:cNvSpPr>
          <p:nvPr>
            <p:ph idx="1"/>
          </p:nvPr>
        </p:nvSpPr>
        <p:spPr/>
        <p:txBody>
          <a:bodyPr>
            <a:normAutofit/>
          </a:bodyPr>
          <a:lstStyle/>
          <a:p>
            <a:r>
              <a:rPr lang="en-US" sz="2400" dirty="0" smtClean="0"/>
              <a:t>Data </a:t>
            </a:r>
            <a:r>
              <a:rPr lang="en-US" sz="2400" dirty="0" smtClean="0"/>
              <a:t>centers are not only connected to </a:t>
            </a:r>
            <a:r>
              <a:rPr lang="en-US" sz="2400" dirty="0" smtClean="0"/>
              <a:t>the Internet</a:t>
            </a:r>
            <a:r>
              <a:rPr lang="en-US" sz="2400" dirty="0" smtClean="0"/>
              <a:t>, but also internally include complex computer networks, called </a:t>
            </a:r>
            <a:r>
              <a:rPr lang="en-US" sz="2400" i="1" dirty="0" smtClean="0">
                <a:solidFill>
                  <a:srgbClr val="C00000"/>
                </a:solidFill>
              </a:rPr>
              <a:t>data </a:t>
            </a:r>
            <a:r>
              <a:rPr lang="en-US" sz="2400" i="1" dirty="0" smtClean="0">
                <a:solidFill>
                  <a:srgbClr val="C00000"/>
                </a:solidFill>
              </a:rPr>
              <a:t>center networks</a:t>
            </a:r>
            <a:r>
              <a:rPr lang="en-US" sz="2400" dirty="0" smtClean="0"/>
              <a:t>, which interconnect their internal hosts</a:t>
            </a:r>
            <a:r>
              <a:rPr lang="en-US" sz="2400" dirty="0" smtClean="0"/>
              <a:t>.</a:t>
            </a:r>
          </a:p>
          <a:p>
            <a:r>
              <a:rPr lang="en-US" sz="2400" dirty="0" smtClean="0"/>
              <a:t>The </a:t>
            </a:r>
            <a:r>
              <a:rPr lang="en-US" sz="2400" u="sng" dirty="0" smtClean="0"/>
              <a:t>hosts</a:t>
            </a:r>
            <a:r>
              <a:rPr lang="en-US" sz="2400" dirty="0" smtClean="0"/>
              <a:t> in data centers, </a:t>
            </a:r>
            <a:r>
              <a:rPr lang="en-US" sz="2400" dirty="0" smtClean="0"/>
              <a:t>called </a:t>
            </a:r>
            <a:r>
              <a:rPr lang="en-US" sz="2400" i="1" dirty="0" smtClean="0">
                <a:solidFill>
                  <a:srgbClr val="C00000"/>
                </a:solidFill>
              </a:rPr>
              <a:t>blades</a:t>
            </a:r>
            <a:r>
              <a:rPr lang="en-US" sz="2400" dirty="0" smtClean="0"/>
              <a:t> </a:t>
            </a:r>
            <a:r>
              <a:rPr lang="en-US" sz="2400" dirty="0" smtClean="0"/>
              <a:t>and resembling pizza boxes, are generally commodity hosts that </a:t>
            </a:r>
            <a:r>
              <a:rPr lang="en-US" sz="2400" dirty="0" smtClean="0"/>
              <a:t>include CPU</a:t>
            </a:r>
            <a:r>
              <a:rPr lang="en-US" sz="2400" dirty="0" smtClean="0"/>
              <a:t>, memory, and disk storage.</a:t>
            </a:r>
          </a:p>
          <a:p>
            <a:r>
              <a:rPr lang="en-US" sz="2400" dirty="0" smtClean="0"/>
              <a:t>The </a:t>
            </a:r>
            <a:r>
              <a:rPr lang="en-US" sz="2400" dirty="0" smtClean="0"/>
              <a:t>hosts are stacked in </a:t>
            </a:r>
            <a:r>
              <a:rPr lang="en-US" sz="2400" i="1" dirty="0" smtClean="0">
                <a:solidFill>
                  <a:srgbClr val="C00000"/>
                </a:solidFill>
              </a:rPr>
              <a:t>racks</a:t>
            </a:r>
            <a:r>
              <a:rPr lang="en-US" sz="2400" dirty="0" smtClean="0"/>
              <a:t>, with each rack </a:t>
            </a:r>
            <a:r>
              <a:rPr lang="en-US" sz="2400" dirty="0" smtClean="0"/>
              <a:t>typically having </a:t>
            </a:r>
            <a:r>
              <a:rPr lang="en-US" sz="2400" dirty="0" smtClean="0"/>
              <a:t>20 to 40 </a:t>
            </a:r>
            <a:r>
              <a:rPr lang="en-US" sz="2400" dirty="0" smtClean="0"/>
              <a:t>blades.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TOR Switches</a:t>
            </a:r>
            <a:endParaRPr lang="en-US" dirty="0"/>
          </a:p>
        </p:txBody>
      </p:sp>
      <p:sp>
        <p:nvSpPr>
          <p:cNvPr id="3" name="Content Placeholder 2"/>
          <p:cNvSpPr>
            <a:spLocks noGrp="1"/>
          </p:cNvSpPr>
          <p:nvPr>
            <p:ph idx="1"/>
          </p:nvPr>
        </p:nvSpPr>
        <p:spPr/>
        <p:txBody>
          <a:bodyPr>
            <a:normAutofit/>
          </a:bodyPr>
          <a:lstStyle/>
          <a:p>
            <a:r>
              <a:rPr lang="en-US" sz="2400" dirty="0" smtClean="0"/>
              <a:t>At the top of each rack, there is a switch, aptly named the </a:t>
            </a:r>
            <a:r>
              <a:rPr lang="en-US" sz="2400" i="1" dirty="0" smtClean="0">
                <a:solidFill>
                  <a:srgbClr val="C00000"/>
                </a:solidFill>
              </a:rPr>
              <a:t>Top of Rack (TOR) switch</a:t>
            </a:r>
            <a:r>
              <a:rPr lang="en-US" sz="2400" dirty="0" smtClean="0"/>
              <a:t>, that interconnects the hosts in the rack with each other and with other switches in the data center.</a:t>
            </a:r>
          </a:p>
          <a:p>
            <a:r>
              <a:rPr lang="en-US" sz="2400" dirty="0" smtClean="0"/>
              <a:t>Specifically</a:t>
            </a:r>
            <a:r>
              <a:rPr lang="en-US" sz="2400" dirty="0" smtClean="0"/>
              <a:t>, each </a:t>
            </a:r>
            <a:r>
              <a:rPr lang="en-US" sz="2400" u="sng" dirty="0" smtClean="0"/>
              <a:t>host</a:t>
            </a:r>
            <a:r>
              <a:rPr lang="en-US" sz="2400" dirty="0" smtClean="0"/>
              <a:t> </a:t>
            </a:r>
            <a:r>
              <a:rPr lang="en-US" sz="2400" dirty="0" smtClean="0"/>
              <a:t>in the </a:t>
            </a:r>
            <a:r>
              <a:rPr lang="en-US" sz="2400" dirty="0" smtClean="0"/>
              <a:t>rack has </a:t>
            </a:r>
            <a:r>
              <a:rPr lang="en-US" sz="2400" dirty="0" smtClean="0"/>
              <a:t>a </a:t>
            </a:r>
            <a:r>
              <a:rPr lang="en-US" sz="2400" i="1" dirty="0" smtClean="0">
                <a:solidFill>
                  <a:srgbClr val="C00000"/>
                </a:solidFill>
              </a:rPr>
              <a:t>network interface</a:t>
            </a:r>
            <a:r>
              <a:rPr lang="en-US" sz="2400" dirty="0" smtClean="0"/>
              <a:t> that connects to its TOR switch, and each TOR switch </a:t>
            </a:r>
            <a:r>
              <a:rPr lang="en-US" sz="2400" dirty="0" smtClean="0"/>
              <a:t>has additional </a:t>
            </a:r>
            <a:r>
              <a:rPr lang="en-US" sz="2400" dirty="0" smtClean="0"/>
              <a:t>ports that can be connected to other switches</a:t>
            </a:r>
            <a:r>
              <a:rPr lang="en-US" sz="2400" dirty="0" smtClean="0"/>
              <a:t>.</a:t>
            </a:r>
          </a:p>
          <a:p>
            <a:r>
              <a:rPr lang="en-US" sz="2400" dirty="0" smtClean="0"/>
              <a:t>Each </a:t>
            </a:r>
            <a:r>
              <a:rPr lang="en-US" sz="2400" u="sng" dirty="0" smtClean="0"/>
              <a:t>host</a:t>
            </a:r>
            <a:r>
              <a:rPr lang="en-US" sz="2400" dirty="0" smtClean="0"/>
              <a:t> </a:t>
            </a:r>
            <a:r>
              <a:rPr lang="en-US" sz="2400" dirty="0" smtClean="0"/>
              <a:t>is also assigned its own </a:t>
            </a:r>
            <a:r>
              <a:rPr lang="en-US" sz="2400" i="1" dirty="0" smtClean="0">
                <a:solidFill>
                  <a:srgbClr val="C00000"/>
                </a:solidFill>
              </a:rPr>
              <a:t>data-center internal IP address</a:t>
            </a:r>
            <a:r>
              <a:rPr lang="en-US" sz="2400" dirty="0" smtClean="0"/>
              <a:t>.</a:t>
            </a:r>
          </a:p>
          <a:p>
            <a:endParaRPr lang="en-US"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Border Routers</a:t>
            </a:r>
            <a:endParaRPr lang="en-US" dirty="0"/>
          </a:p>
        </p:txBody>
      </p:sp>
      <p:sp>
        <p:nvSpPr>
          <p:cNvPr id="3" name="Content Placeholder 2"/>
          <p:cNvSpPr>
            <a:spLocks noGrp="1"/>
          </p:cNvSpPr>
          <p:nvPr>
            <p:ph idx="1"/>
          </p:nvPr>
        </p:nvSpPr>
        <p:spPr/>
        <p:txBody>
          <a:bodyPr>
            <a:normAutofit/>
          </a:bodyPr>
          <a:lstStyle/>
          <a:p>
            <a:r>
              <a:rPr lang="en-US" sz="2400" dirty="0" smtClean="0"/>
              <a:t>The data center network supports two types of traffic: traffic flowing </a:t>
            </a:r>
            <a:r>
              <a:rPr lang="en-US" sz="2400" dirty="0" smtClean="0"/>
              <a:t>between external </a:t>
            </a:r>
            <a:r>
              <a:rPr lang="en-US" sz="2400" dirty="0" smtClean="0"/>
              <a:t>clients and internal hosts and traffic flowing between internal </a:t>
            </a:r>
            <a:r>
              <a:rPr lang="en-US" sz="2400" dirty="0" smtClean="0"/>
              <a:t>hosts.</a:t>
            </a:r>
          </a:p>
          <a:p>
            <a:r>
              <a:rPr lang="en-US" sz="2400" dirty="0" smtClean="0"/>
              <a:t>To handle </a:t>
            </a:r>
            <a:r>
              <a:rPr lang="en-US" sz="2400" dirty="0" smtClean="0"/>
              <a:t>flows between external clients and internal hosts, the data center </a:t>
            </a:r>
            <a:r>
              <a:rPr lang="en-US" sz="2400" dirty="0" smtClean="0"/>
              <a:t>network includes </a:t>
            </a:r>
            <a:r>
              <a:rPr lang="en-US" sz="2400" dirty="0" smtClean="0"/>
              <a:t>one or more </a:t>
            </a:r>
            <a:r>
              <a:rPr lang="en-US" sz="2400" i="1" dirty="0" smtClean="0">
                <a:solidFill>
                  <a:srgbClr val="C00000"/>
                </a:solidFill>
              </a:rPr>
              <a:t>border routers</a:t>
            </a:r>
            <a:r>
              <a:rPr lang="en-US" sz="2400" dirty="0" smtClean="0"/>
              <a:t>, connecting the data center network to </a:t>
            </a:r>
            <a:r>
              <a:rPr lang="en-US" sz="2400" dirty="0" smtClean="0"/>
              <a:t>the public </a:t>
            </a:r>
            <a:r>
              <a:rPr lang="en-US" sz="2400" dirty="0" smtClean="0"/>
              <a:t>Internet.</a:t>
            </a:r>
            <a:endParaRPr lang="en-US" sz="2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Load Balancers</a:t>
            </a:r>
            <a:endParaRPr lang="en-US" dirty="0"/>
          </a:p>
        </p:txBody>
      </p:sp>
      <p:sp>
        <p:nvSpPr>
          <p:cNvPr id="3" name="Content Placeholder 2"/>
          <p:cNvSpPr>
            <a:spLocks noGrp="1"/>
          </p:cNvSpPr>
          <p:nvPr>
            <p:ph idx="1"/>
          </p:nvPr>
        </p:nvSpPr>
        <p:spPr/>
        <p:txBody>
          <a:bodyPr>
            <a:normAutofit/>
          </a:bodyPr>
          <a:lstStyle/>
          <a:p>
            <a:r>
              <a:rPr lang="en-US" sz="2400" dirty="0" smtClean="0"/>
              <a:t>The </a:t>
            </a:r>
            <a:r>
              <a:rPr lang="en-US" sz="2400" i="1" dirty="0" smtClean="0">
                <a:solidFill>
                  <a:srgbClr val="C00000"/>
                </a:solidFill>
              </a:rPr>
              <a:t>load balancer</a:t>
            </a:r>
            <a:r>
              <a:rPr lang="en-US" sz="2400" dirty="0" smtClean="0"/>
              <a:t> not only </a:t>
            </a:r>
            <a:r>
              <a:rPr lang="en-US" sz="2400" u="sng" dirty="0" smtClean="0"/>
              <a:t>balances the work</a:t>
            </a:r>
            <a:r>
              <a:rPr lang="en-US" sz="2400" dirty="0" smtClean="0"/>
              <a:t> load across hosts, but </a:t>
            </a:r>
            <a:r>
              <a:rPr lang="en-US" sz="2400" dirty="0" smtClean="0"/>
              <a:t>also provides </a:t>
            </a:r>
            <a:r>
              <a:rPr lang="en-US" sz="2400" dirty="0" smtClean="0"/>
              <a:t>a </a:t>
            </a:r>
            <a:r>
              <a:rPr lang="en-US" sz="2400" u="sng" dirty="0" smtClean="0"/>
              <a:t>NAT-like function</a:t>
            </a:r>
            <a:r>
              <a:rPr lang="en-US" sz="2400" dirty="0" smtClean="0"/>
              <a:t>, translating the public external IP address to the </a:t>
            </a:r>
            <a:r>
              <a:rPr lang="en-US" sz="2400" dirty="0" smtClean="0"/>
              <a:t>internal IP </a:t>
            </a:r>
            <a:r>
              <a:rPr lang="en-US" sz="2400" dirty="0" smtClean="0"/>
              <a:t>address of the appropriate host, and then translating back for packets </a:t>
            </a:r>
            <a:r>
              <a:rPr lang="en-US" sz="2400" dirty="0" smtClean="0"/>
              <a:t>traveling in </a:t>
            </a:r>
            <a:r>
              <a:rPr lang="en-US" sz="2400" dirty="0" smtClean="0"/>
              <a:t>the reverse direction back to the </a:t>
            </a:r>
            <a:r>
              <a:rPr lang="en-US" sz="2400" dirty="0" smtClean="0"/>
              <a:t>clients.</a:t>
            </a:r>
          </a:p>
          <a:p>
            <a:r>
              <a:rPr lang="en-US" sz="2400" dirty="0" smtClean="0"/>
              <a:t>This </a:t>
            </a:r>
            <a:r>
              <a:rPr lang="en-US" sz="2400" dirty="0" smtClean="0"/>
              <a:t>prevents clients from </a:t>
            </a:r>
            <a:r>
              <a:rPr lang="en-US" sz="2400" dirty="0" smtClean="0"/>
              <a:t>contacting hosts </a:t>
            </a:r>
            <a:r>
              <a:rPr lang="en-US" sz="2400" dirty="0" smtClean="0"/>
              <a:t>directly, which has the security benefit of </a:t>
            </a:r>
            <a:r>
              <a:rPr lang="en-US" sz="2400" u="sng" dirty="0" smtClean="0"/>
              <a:t>hiding the internal network </a:t>
            </a:r>
            <a:r>
              <a:rPr lang="en-US" sz="2400" u="sng" dirty="0" smtClean="0"/>
              <a:t>structure</a:t>
            </a:r>
            <a:r>
              <a:rPr lang="en-US" sz="2400" dirty="0" smtClean="0"/>
              <a:t> and </a:t>
            </a:r>
            <a:r>
              <a:rPr lang="en-US" sz="2400" dirty="0" smtClean="0"/>
              <a:t>preventing clients from directly interacting with the hosts.</a:t>
            </a:r>
            <a:endParaRPr lang="en-US" sz="24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5834</TotalTime>
  <Words>2476</Words>
  <Application>Microsoft Office PowerPoint</Application>
  <PresentationFormat>On-screen Show (4:3)</PresentationFormat>
  <Paragraphs>159</Paragraphs>
  <Slides>45</Slides>
  <Notes>0</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The Data Link Layer</vt:lpstr>
      <vt:lpstr>Objectives</vt:lpstr>
      <vt:lpstr>Contents</vt:lpstr>
      <vt:lpstr>References</vt:lpstr>
      <vt:lpstr>Ethernet</vt:lpstr>
      <vt:lpstr>CSMA/CD</vt:lpstr>
      <vt:lpstr>MAC Address</vt:lpstr>
      <vt:lpstr>Slide 8</vt:lpstr>
      <vt:lpstr>Unicast Transmission</vt:lpstr>
      <vt:lpstr>Broadcast</vt:lpstr>
      <vt:lpstr>Multicast</vt:lpstr>
      <vt:lpstr>Data Packet</vt:lpstr>
      <vt:lpstr>Ethernet Frame (I)</vt:lpstr>
      <vt:lpstr>Ethernet Frame (II)</vt:lpstr>
      <vt:lpstr>Ethernet Frame (III)</vt:lpstr>
      <vt:lpstr>Slide 16</vt:lpstr>
      <vt:lpstr>Unicast</vt:lpstr>
      <vt:lpstr>Broadcast</vt:lpstr>
      <vt:lpstr>Multicast</vt:lpstr>
      <vt:lpstr>First-in-First-Out (FIFO) (I) [2]</vt:lpstr>
      <vt:lpstr>First-in-First-Out (FIFO) (II)</vt:lpstr>
      <vt:lpstr>Slide 22</vt:lpstr>
      <vt:lpstr>Medium Access Control Protocols</vt:lpstr>
      <vt:lpstr>MAC Protocols: Contention-Based (Random Access) Protocols</vt:lpstr>
      <vt:lpstr>MAC Protocols: Controlled Access (Deterministic) Protocols</vt:lpstr>
      <vt:lpstr>MAC Protocols: Hybrid and Advanced MAC Protocols</vt:lpstr>
      <vt:lpstr>Slide 27</vt:lpstr>
      <vt:lpstr>Repeaters [2]</vt:lpstr>
      <vt:lpstr>Hubs</vt:lpstr>
      <vt:lpstr>Link-Layer Switches</vt:lpstr>
      <vt:lpstr>Switch Table</vt:lpstr>
      <vt:lpstr>Self-Learning (I)</vt:lpstr>
      <vt:lpstr>Self-Learning (II)</vt:lpstr>
      <vt:lpstr>Switch-Based Ethernet LAN</vt:lpstr>
      <vt:lpstr>Virtual Local Area Networks</vt:lpstr>
      <vt:lpstr>A Single Switch with Two Configured VLANs</vt:lpstr>
      <vt:lpstr>VLANs and Routers</vt:lpstr>
      <vt:lpstr>VLAN Trunking</vt:lpstr>
      <vt:lpstr>VLAN Tags</vt:lpstr>
      <vt:lpstr>Data Centers</vt:lpstr>
      <vt:lpstr>Data Center Networks</vt:lpstr>
      <vt:lpstr>TOR Switches</vt:lpstr>
      <vt:lpstr>Border Routers</vt:lpstr>
      <vt:lpstr>Load Balancers</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Client</dc:title>
  <dc:creator>HuyBien</dc:creator>
  <cp:lastModifiedBy>Ngo Huy Bien</cp:lastModifiedBy>
  <cp:revision>1888</cp:revision>
  <dcterms:created xsi:type="dcterms:W3CDTF">2009-01-22T10:11:40Z</dcterms:created>
  <dcterms:modified xsi:type="dcterms:W3CDTF">2025-11-10T17:41:02Z</dcterms:modified>
</cp:coreProperties>
</file>