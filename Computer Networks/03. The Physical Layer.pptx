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6" r:id="rId5"/>
    <p:sldId id="417" r:id="rId6"/>
    <p:sldId id="429" r:id="rId7"/>
    <p:sldId id="418" r:id="rId8"/>
    <p:sldId id="430" r:id="rId9"/>
    <p:sldId id="419" r:id="rId10"/>
    <p:sldId id="420" r:id="rId11"/>
    <p:sldId id="421" r:id="rId12"/>
    <p:sldId id="422" r:id="rId13"/>
    <p:sldId id="423" r:id="rId14"/>
    <p:sldId id="424" r:id="rId15"/>
    <p:sldId id="431" r:id="rId16"/>
    <p:sldId id="425" r:id="rId17"/>
    <p:sldId id="426" r:id="rId18"/>
    <p:sldId id="427" r:id="rId19"/>
    <p:sldId id="428" r:id="rId20"/>
    <p:sldId id="343"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05" autoAdjust="0"/>
    <p:restoredTop sz="94660"/>
  </p:normalViewPr>
  <p:slideViewPr>
    <p:cSldViewPr>
      <p:cViewPr>
        <p:scale>
          <a:sx n="50" d="100"/>
          <a:sy n="50" d="100"/>
        </p:scale>
        <p:origin x="-1638"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12/30/2023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12/30/2023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The Physical Layer</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257800" cy="4343400"/>
          </a:xfrm>
        </p:spPr>
        <p:txBody>
          <a:bodyPr/>
          <a:lstStyle/>
          <a:p>
            <a:pPr marL="457200" indent="-457200">
              <a:buFont typeface="Wingdings" pitchFamily="2" charset="2"/>
              <a:buChar char="Ø"/>
            </a:pPr>
            <a:endParaRPr lang="en-US" sz="22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257800" cy="4525963"/>
          </a:xfrm>
        </p:spPr>
        <p:txBody>
          <a:bodyPr/>
          <a:lstStyle/>
          <a:p>
            <a:pPr marL="514350" indent="-514350">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Interface Cards</a:t>
            </a:r>
            <a:endParaRPr lang="en-US" dirty="0"/>
          </a:p>
        </p:txBody>
      </p:sp>
      <p:pic>
        <p:nvPicPr>
          <p:cNvPr id="10242" name="Picture 2" descr="https://upload.wikimedia.org/wikipedia/commons/thumb/9/9e/Network_card.jpg/1200px-Network_card.jpg"/>
          <p:cNvPicPr>
            <a:picLocks noChangeAspect="1" noChangeArrowheads="1"/>
          </p:cNvPicPr>
          <p:nvPr/>
        </p:nvPicPr>
        <p:blipFill>
          <a:blip r:embed="rId2" cstate="print"/>
          <a:srcRect/>
          <a:stretch>
            <a:fillRect/>
          </a:stretch>
        </p:blipFill>
        <p:spPr bwMode="auto">
          <a:xfrm>
            <a:off x="2667000" y="2667000"/>
            <a:ext cx="3810000" cy="282575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RJ45 Ports and Plugs</a:t>
            </a:r>
            <a:endParaRPr lang="en-US" dirty="0"/>
          </a:p>
        </p:txBody>
      </p:sp>
      <p:pic>
        <p:nvPicPr>
          <p:cNvPr id="30722" name="Picture 2" descr="https://bilder.tragant.de/produkte/orig/546e053ca27be2.89069379.jpg"/>
          <p:cNvPicPr>
            <a:picLocks noChangeAspect="1" noChangeArrowheads="1"/>
          </p:cNvPicPr>
          <p:nvPr/>
        </p:nvPicPr>
        <p:blipFill>
          <a:blip r:embed="rId2" cstate="print"/>
          <a:srcRect/>
          <a:stretch>
            <a:fillRect/>
          </a:stretch>
        </p:blipFill>
        <p:spPr bwMode="auto">
          <a:xfrm>
            <a:off x="2057400" y="2362200"/>
            <a:ext cx="4445000" cy="3365500"/>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Cables</a:t>
            </a:r>
            <a:endParaRPr lang="en-US" dirty="0"/>
          </a:p>
        </p:txBody>
      </p:sp>
      <p:sp>
        <p:nvSpPr>
          <p:cNvPr id="3" name="Content Placeholder 2"/>
          <p:cNvSpPr>
            <a:spLocks noGrp="1"/>
          </p:cNvSpPr>
          <p:nvPr>
            <p:ph idx="1"/>
          </p:nvPr>
        </p:nvSpPr>
        <p:spPr/>
        <p:txBody>
          <a:bodyPr>
            <a:normAutofit/>
          </a:bodyPr>
          <a:lstStyle/>
          <a:p>
            <a:r>
              <a:rPr lang="en-US" sz="1800" b="1" dirty="0" smtClean="0"/>
              <a:t>Cables: </a:t>
            </a:r>
            <a:r>
              <a:rPr lang="en-US" sz="1800" dirty="0" smtClean="0"/>
              <a:t>Insulated wires that connect different devices to each other allowing data to be transmitted over them</a:t>
            </a:r>
          </a:p>
          <a:p>
            <a:r>
              <a:rPr lang="en-US" sz="1800" b="1" dirty="0" smtClean="0"/>
              <a:t>Cable categories: </a:t>
            </a:r>
            <a:r>
              <a:rPr lang="en-US" sz="1800" dirty="0" smtClean="0"/>
              <a:t>Groups of cables that are made with the same material.</a:t>
            </a:r>
            <a:r>
              <a:rPr lang="en-US" sz="1800" b="1" dirty="0" smtClean="0"/>
              <a:t> </a:t>
            </a:r>
            <a:r>
              <a:rPr lang="en-US" sz="1800" dirty="0" smtClean="0"/>
              <a:t>Most network cables used today can be split into two categories, copper and fiber.</a:t>
            </a:r>
          </a:p>
          <a:p>
            <a:r>
              <a:rPr lang="en-US" sz="1800" b="1" dirty="0" smtClean="0"/>
              <a:t>Copper cable categories : </a:t>
            </a:r>
            <a:r>
              <a:rPr lang="en-US" sz="1800" dirty="0" smtClean="0"/>
              <a:t>These categories have different physical characteristics like the number of twists in the pair of copper wires. These are defined as names like category (or cat) 5, 5e, or 6, and how quickly data can be sent across them and how resistant they are to outside interference are all related to the way the twisted pairs inside are arranged.</a:t>
            </a:r>
          </a:p>
          <a:p>
            <a:r>
              <a:rPr lang="en-US" sz="1800" b="1" dirty="0" smtClean="0"/>
              <a:t>Fiber cable:</a:t>
            </a:r>
            <a:r>
              <a:rPr lang="en-US" sz="1800" dirty="0" smtClean="0"/>
              <a:t> Fiber optic cables contain individual optical fibers which are tiny tubes made of glass about the width of a human hair. Unlike copper, which uses electrical voltages, fiber cables use pulses of light to represent the ones and zeros of the underlying data.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Cabling Tools</a:t>
            </a:r>
            <a:endParaRPr lang="en-US" dirty="0"/>
          </a:p>
        </p:txBody>
      </p:sp>
      <p:sp>
        <p:nvSpPr>
          <p:cNvPr id="3" name="Content Placeholder 2"/>
          <p:cNvSpPr>
            <a:spLocks noGrp="1"/>
          </p:cNvSpPr>
          <p:nvPr>
            <p:ph idx="1"/>
          </p:nvPr>
        </p:nvSpPr>
        <p:spPr/>
        <p:txBody>
          <a:bodyPr>
            <a:normAutofit/>
          </a:bodyPr>
          <a:lstStyle/>
          <a:p>
            <a:r>
              <a:rPr lang="en-US" sz="1800" b="1" dirty="0" smtClean="0"/>
              <a:t>Crimper </a:t>
            </a:r>
          </a:p>
          <a:p>
            <a:r>
              <a:rPr lang="en-US" sz="1800" dirty="0" smtClean="0"/>
              <a:t> A crimper is a hand-held tool that looks like a set of pliers. It is used to squeeze down or crimp wires.</a:t>
            </a:r>
          </a:p>
          <a:p>
            <a:r>
              <a:rPr lang="en-US" sz="1800" b="1" dirty="0" smtClean="0"/>
              <a:t>Cable Stripper</a:t>
            </a:r>
          </a:p>
          <a:p>
            <a:r>
              <a:rPr lang="en-US" sz="1800" dirty="0" smtClean="0"/>
              <a:t> A cable stripper is another handheld device that also looks like pliers. It's purpose is to remove the protective rubber coating from cables.</a:t>
            </a:r>
          </a:p>
          <a:p>
            <a:r>
              <a:rPr lang="en-US" sz="1800" dirty="0" smtClean="0"/>
              <a:t>…</a:t>
            </a:r>
          </a:p>
          <a:p>
            <a:endParaRPr lang="en-US" sz="1800" dirty="0" smtClean="0"/>
          </a:p>
        </p:txBody>
      </p:sp>
      <p:pic>
        <p:nvPicPr>
          <p:cNvPr id="31746" name="Picture 2" descr="https://www.conwire.com/wp-content/uploads/AdobeStock_199189603-scaled.jpeg"/>
          <p:cNvPicPr>
            <a:picLocks noChangeAspect="1" noChangeArrowheads="1"/>
          </p:cNvPicPr>
          <p:nvPr/>
        </p:nvPicPr>
        <p:blipFill>
          <a:blip r:embed="rId2" cstate="print"/>
          <a:srcRect/>
          <a:stretch>
            <a:fillRect/>
          </a:stretch>
        </p:blipFill>
        <p:spPr bwMode="auto">
          <a:xfrm>
            <a:off x="2895600" y="4038600"/>
            <a:ext cx="3251200" cy="216789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Hubs</a:t>
            </a:r>
            <a:endParaRPr lang="en-US" dirty="0"/>
          </a:p>
        </p:txBody>
      </p:sp>
      <p:sp>
        <p:nvSpPr>
          <p:cNvPr id="3" name="Content Placeholder 2"/>
          <p:cNvSpPr>
            <a:spLocks noGrp="1"/>
          </p:cNvSpPr>
          <p:nvPr>
            <p:ph idx="1"/>
          </p:nvPr>
        </p:nvSpPr>
        <p:spPr/>
        <p:txBody>
          <a:bodyPr>
            <a:normAutofit/>
          </a:bodyPr>
          <a:lstStyle/>
          <a:p>
            <a:r>
              <a:rPr lang="en-US" sz="2400" b="1" dirty="0" smtClean="0"/>
              <a:t>Hub:</a:t>
            </a:r>
            <a:r>
              <a:rPr lang="en-US" sz="2400" dirty="0" smtClean="0"/>
              <a:t> It is a </a:t>
            </a:r>
            <a:r>
              <a:rPr lang="en-US" sz="2400" i="1" dirty="0" smtClean="0">
                <a:solidFill>
                  <a:srgbClr val="C00000"/>
                </a:solidFill>
              </a:rPr>
              <a:t>physical layer device</a:t>
            </a:r>
            <a:r>
              <a:rPr lang="en-US" sz="2400" dirty="0" smtClean="0"/>
              <a:t> that broadcasts data to </a:t>
            </a:r>
            <a:r>
              <a:rPr lang="en-US" sz="2400" u="sng" dirty="0" smtClean="0"/>
              <a:t>every</a:t>
            </a:r>
            <a:r>
              <a:rPr lang="en-US" sz="2400" dirty="0" smtClean="0"/>
              <a:t> computer connected to it.</a:t>
            </a:r>
          </a:p>
        </p:txBody>
      </p:sp>
      <p:pic>
        <p:nvPicPr>
          <p:cNvPr id="8195" name="Picture 3"/>
          <p:cNvPicPr>
            <a:picLocks noChangeAspect="1" noChangeArrowheads="1"/>
          </p:cNvPicPr>
          <p:nvPr/>
        </p:nvPicPr>
        <p:blipFill>
          <a:blip r:embed="rId2" cstate="print"/>
          <a:srcRect/>
          <a:stretch>
            <a:fillRect/>
          </a:stretch>
        </p:blipFill>
        <p:spPr bwMode="auto">
          <a:xfrm>
            <a:off x="2195513" y="3187700"/>
            <a:ext cx="4752975" cy="15367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Switches</a:t>
            </a:r>
            <a:endParaRPr lang="en-US" dirty="0"/>
          </a:p>
        </p:txBody>
      </p:sp>
      <p:sp>
        <p:nvSpPr>
          <p:cNvPr id="3" name="Content Placeholder 2"/>
          <p:cNvSpPr>
            <a:spLocks noGrp="1"/>
          </p:cNvSpPr>
          <p:nvPr>
            <p:ph idx="1"/>
          </p:nvPr>
        </p:nvSpPr>
        <p:spPr/>
        <p:txBody>
          <a:bodyPr>
            <a:normAutofit/>
          </a:bodyPr>
          <a:lstStyle/>
          <a:p>
            <a:r>
              <a:rPr lang="en-US" sz="2200" b="1" dirty="0" smtClean="0"/>
              <a:t>Network switch:</a:t>
            </a:r>
            <a:r>
              <a:rPr lang="en-US" sz="2200" dirty="0" smtClean="0"/>
              <a:t> It is a </a:t>
            </a:r>
            <a:r>
              <a:rPr lang="en-US" sz="2200" u="sng" dirty="0" smtClean="0"/>
              <a:t>level 2</a:t>
            </a:r>
            <a:r>
              <a:rPr lang="en-US" sz="2200" dirty="0" smtClean="0"/>
              <a:t> or </a:t>
            </a:r>
            <a:r>
              <a:rPr lang="en-US" sz="2200" i="1" dirty="0" smtClean="0">
                <a:solidFill>
                  <a:srgbClr val="C00000"/>
                </a:solidFill>
              </a:rPr>
              <a:t>data link device</a:t>
            </a:r>
            <a:r>
              <a:rPr lang="en-US" sz="2200" dirty="0" smtClean="0"/>
              <a:t> that can connect to many devices so they can communicate.</a:t>
            </a:r>
          </a:p>
          <a:p>
            <a:r>
              <a:rPr lang="en-US" sz="2200" dirty="0" smtClean="0"/>
              <a:t>It can inspect the contents of the Ethernet protocol data being sent around the network, determine which system the data is intended for and then only send that data to that one system.</a:t>
            </a:r>
          </a:p>
        </p:txBody>
      </p:sp>
      <p:pic>
        <p:nvPicPr>
          <p:cNvPr id="7171" name="Picture 3"/>
          <p:cNvPicPr>
            <a:picLocks noChangeAspect="1" noChangeArrowheads="1"/>
          </p:cNvPicPr>
          <p:nvPr/>
        </p:nvPicPr>
        <p:blipFill>
          <a:blip r:embed="rId2" cstate="print"/>
          <a:srcRect/>
          <a:stretch>
            <a:fillRect/>
          </a:stretch>
        </p:blipFill>
        <p:spPr bwMode="auto">
          <a:xfrm>
            <a:off x="785813" y="3943350"/>
            <a:ext cx="7572375" cy="192405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Routers</a:t>
            </a:r>
            <a:endParaRPr lang="en-US" dirty="0"/>
          </a:p>
        </p:txBody>
      </p:sp>
      <p:sp>
        <p:nvSpPr>
          <p:cNvPr id="3" name="Content Placeholder 2"/>
          <p:cNvSpPr>
            <a:spLocks noGrp="1"/>
          </p:cNvSpPr>
          <p:nvPr>
            <p:ph idx="1"/>
          </p:nvPr>
        </p:nvSpPr>
        <p:spPr/>
        <p:txBody>
          <a:bodyPr>
            <a:normAutofit/>
          </a:bodyPr>
          <a:lstStyle/>
          <a:p>
            <a:r>
              <a:rPr lang="en-US" sz="2400" b="1" dirty="0" smtClean="0"/>
              <a:t>Router:</a:t>
            </a:r>
            <a:r>
              <a:rPr lang="en-US" sz="2400" dirty="0" smtClean="0"/>
              <a:t> A </a:t>
            </a:r>
            <a:r>
              <a:rPr lang="en-US" sz="2400" i="1" dirty="0" smtClean="0">
                <a:solidFill>
                  <a:srgbClr val="C00000"/>
                </a:solidFill>
              </a:rPr>
              <a:t>network layer device</a:t>
            </a:r>
            <a:r>
              <a:rPr lang="en-US" sz="2400" dirty="0" smtClean="0"/>
              <a:t> that knows how to forward data between </a:t>
            </a:r>
            <a:r>
              <a:rPr lang="en-US" sz="2400" u="sng" dirty="0" smtClean="0"/>
              <a:t>independent networks</a:t>
            </a:r>
            <a:r>
              <a:rPr lang="en-US" sz="2400" dirty="0" smtClean="0"/>
              <a:t>.</a:t>
            </a:r>
          </a:p>
        </p:txBody>
      </p:sp>
      <p:pic>
        <p:nvPicPr>
          <p:cNvPr id="6145" name="Picture 1"/>
          <p:cNvPicPr>
            <a:picLocks noChangeAspect="1" noChangeArrowheads="1"/>
          </p:cNvPicPr>
          <p:nvPr/>
        </p:nvPicPr>
        <p:blipFill>
          <a:blip r:embed="rId2" cstate="print"/>
          <a:srcRect/>
          <a:stretch>
            <a:fillRect/>
          </a:stretch>
        </p:blipFill>
        <p:spPr bwMode="auto">
          <a:xfrm>
            <a:off x="2667000" y="3124200"/>
            <a:ext cx="3810000" cy="301498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Ports and Patch Panel</a:t>
            </a:r>
            <a:endParaRPr lang="en-US" dirty="0"/>
          </a:p>
        </p:txBody>
      </p:sp>
      <p:sp>
        <p:nvSpPr>
          <p:cNvPr id="3" name="Content Placeholder 2"/>
          <p:cNvSpPr>
            <a:spLocks noGrp="1"/>
          </p:cNvSpPr>
          <p:nvPr>
            <p:ph idx="1"/>
          </p:nvPr>
        </p:nvSpPr>
        <p:spPr/>
        <p:txBody>
          <a:bodyPr>
            <a:normAutofit/>
          </a:bodyPr>
          <a:lstStyle/>
          <a:p>
            <a:r>
              <a:rPr lang="en-US" sz="2200" b="1" dirty="0" smtClean="0"/>
              <a:t>Network port: </a:t>
            </a:r>
            <a:r>
              <a:rPr lang="en-US" sz="2200" dirty="0" smtClean="0"/>
              <a:t>The physical connector to be able to connect a device to the network. This may be attached directly to a device on a computer network, or could also be located on a wall or on a patch panel.</a:t>
            </a:r>
          </a:p>
          <a:p>
            <a:r>
              <a:rPr lang="en-US" sz="2200" b="1" dirty="0" smtClean="0"/>
              <a:t>Patch panel: </a:t>
            </a:r>
            <a:r>
              <a:rPr lang="en-US" sz="2200" dirty="0" smtClean="0"/>
              <a:t>A device containing many physical network ports.</a:t>
            </a:r>
            <a:endParaRPr lang="en-US" sz="2200" dirty="0"/>
          </a:p>
        </p:txBody>
      </p:sp>
      <p:pic>
        <p:nvPicPr>
          <p:cNvPr id="5122" name="Picture 2" descr="https://res.cloudinary.com/rsc/image/upload/b_rgb:FFFFFF,c_pad,dpr_2.0,f_auto,h_300,q_auto,w_600/c_pad,h_300,w_600/F0556702-01"/>
          <p:cNvPicPr>
            <a:picLocks noChangeAspect="1" noChangeArrowheads="1"/>
          </p:cNvPicPr>
          <p:nvPr/>
        </p:nvPicPr>
        <p:blipFill>
          <a:blip r:embed="rId2" cstate="print"/>
          <a:srcRect/>
          <a:stretch>
            <a:fillRect/>
          </a:stretch>
        </p:blipFill>
        <p:spPr bwMode="auto">
          <a:xfrm>
            <a:off x="2667000" y="3886200"/>
            <a:ext cx="3810000" cy="19050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Servers and Clients</a:t>
            </a:r>
            <a:endParaRPr lang="en-US" dirty="0"/>
          </a:p>
        </p:txBody>
      </p:sp>
      <p:sp>
        <p:nvSpPr>
          <p:cNvPr id="3" name="Content Placeholder 2"/>
          <p:cNvSpPr>
            <a:spLocks noGrp="1"/>
          </p:cNvSpPr>
          <p:nvPr>
            <p:ph idx="1"/>
          </p:nvPr>
        </p:nvSpPr>
        <p:spPr/>
        <p:txBody>
          <a:bodyPr>
            <a:normAutofit/>
          </a:bodyPr>
          <a:lstStyle/>
          <a:p>
            <a:r>
              <a:rPr lang="en-US" sz="2200" b="1" dirty="0" smtClean="0"/>
              <a:t>Server: </a:t>
            </a:r>
            <a:r>
              <a:rPr lang="en-US" sz="2200" dirty="0" smtClean="0"/>
              <a:t>A device that provides data to another device that is requesting that data, also known as a client.</a:t>
            </a:r>
          </a:p>
          <a:p>
            <a:r>
              <a:rPr lang="en-US" sz="2200" b="1" dirty="0" smtClean="0"/>
              <a:t>Client: </a:t>
            </a:r>
            <a:r>
              <a:rPr lang="en-US" sz="2200" dirty="0" smtClean="0"/>
              <a:t>A device that receives data from a server.</a:t>
            </a:r>
          </a:p>
          <a:p>
            <a:r>
              <a:rPr lang="en-US" sz="2200" b="1" dirty="0" smtClean="0"/>
              <a:t>Node:</a:t>
            </a:r>
            <a:r>
              <a:rPr lang="en-US" sz="2200" dirty="0" smtClean="0"/>
              <a:t> Any device connected to a network. On most networks, each node will typically act as a server or a client</a:t>
            </a:r>
            <a:r>
              <a:rPr lang="en-US" sz="2200" dirty="0"/>
              <a:t>.</a:t>
            </a:r>
            <a:endParaRPr lang="en-US" sz="2200" dirty="0" smtClean="0"/>
          </a:p>
        </p:txBody>
      </p:sp>
      <p:pic>
        <p:nvPicPr>
          <p:cNvPr id="4097" name="Picture 1"/>
          <p:cNvPicPr>
            <a:picLocks noChangeAspect="1" noChangeArrowheads="1"/>
          </p:cNvPicPr>
          <p:nvPr/>
        </p:nvPicPr>
        <p:blipFill>
          <a:blip r:embed="rId2" cstate="print"/>
          <a:srcRect/>
          <a:stretch>
            <a:fillRect/>
          </a:stretch>
        </p:blipFill>
        <p:spPr bwMode="auto">
          <a:xfrm>
            <a:off x="2590800" y="3780513"/>
            <a:ext cx="4284586" cy="2391687"/>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a:t>
            </a:r>
            <a:r>
              <a:rPr lang="en-US" dirty="0" smtClean="0"/>
              <a:t>Networks</a:t>
            </a:r>
            <a:endParaRPr lang="en-US" dirty="0"/>
          </a:p>
        </p:txBody>
      </p:sp>
      <p:sp>
        <p:nvSpPr>
          <p:cNvPr id="3" name="Content Placeholder 2"/>
          <p:cNvSpPr>
            <a:spLocks noGrp="1"/>
          </p:cNvSpPr>
          <p:nvPr>
            <p:ph idx="1"/>
          </p:nvPr>
        </p:nvSpPr>
        <p:spPr/>
        <p:txBody>
          <a:bodyPr>
            <a:normAutofit/>
          </a:bodyPr>
          <a:lstStyle/>
          <a:p>
            <a:r>
              <a:rPr lang="en-US" sz="2200" dirty="0" smtClean="0"/>
              <a:t>The physical network consists of the cables (coaxial cable, twisted pair, fiber optic, and telephone lines) that connect the different hardware residing on the network, the adapter used on computers connected to the network (hosts), and any concentrators, repeaters, routers, or bridges used in the network</a:t>
            </a:r>
            <a:r>
              <a:rPr lang="en-US" sz="2200" dirty="0" smtClean="0"/>
              <a:t>.</a:t>
            </a:r>
          </a:p>
          <a:p>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Bit</a:t>
            </a:r>
            <a:endParaRPr lang="en-US" dirty="0"/>
          </a:p>
        </p:txBody>
      </p:sp>
      <p:sp>
        <p:nvSpPr>
          <p:cNvPr id="3" name="Content Placeholder 2"/>
          <p:cNvSpPr>
            <a:spLocks noGrp="1"/>
          </p:cNvSpPr>
          <p:nvPr>
            <p:ph idx="1"/>
          </p:nvPr>
        </p:nvSpPr>
        <p:spPr/>
        <p:txBody>
          <a:bodyPr>
            <a:normAutofit/>
          </a:bodyPr>
          <a:lstStyle/>
          <a:p>
            <a:r>
              <a:rPr lang="en-US" sz="2400" b="1" dirty="0" smtClean="0"/>
              <a:t>Bit:</a:t>
            </a:r>
            <a:r>
              <a:rPr lang="en-US" sz="2400" dirty="0" smtClean="0"/>
              <a:t> The smallest representation of data that a computer can understand (0 or 1).</a:t>
            </a:r>
          </a:p>
          <a:p>
            <a:r>
              <a:rPr lang="en-US" sz="2400" b="1" dirty="0" smtClean="0"/>
              <a:t>Octet:</a:t>
            </a:r>
            <a:r>
              <a:rPr lang="en-US" sz="2400" dirty="0" smtClean="0"/>
              <a:t> Any number that can be represented by 8 bits (byte).</a:t>
            </a:r>
          </a:p>
          <a:p>
            <a:endParaRPr lang="en-US" sz="2400" dirty="0"/>
          </a:p>
        </p:txBody>
      </p:sp>
      <p:pic>
        <p:nvPicPr>
          <p:cNvPr id="2050" name="Picture 2" descr="https://getopenwireless.com/wp-content/uploads/2020/12/BytesBits.png"/>
          <p:cNvPicPr>
            <a:picLocks noChangeAspect="1" noChangeArrowheads="1"/>
          </p:cNvPicPr>
          <p:nvPr/>
        </p:nvPicPr>
        <p:blipFill>
          <a:blip r:embed="rId2" cstate="print"/>
          <a:srcRect/>
          <a:stretch>
            <a:fillRect/>
          </a:stretch>
        </p:blipFill>
        <p:spPr bwMode="auto">
          <a:xfrm>
            <a:off x="2895600" y="3657600"/>
            <a:ext cx="3067050" cy="2181226"/>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Modulation</a:t>
            </a:r>
            <a:endParaRPr lang="en-US" dirty="0"/>
          </a:p>
        </p:txBody>
      </p:sp>
      <p:sp>
        <p:nvSpPr>
          <p:cNvPr id="3" name="Content Placeholder 2"/>
          <p:cNvSpPr>
            <a:spLocks noGrp="1"/>
          </p:cNvSpPr>
          <p:nvPr>
            <p:ph idx="1"/>
          </p:nvPr>
        </p:nvSpPr>
        <p:spPr/>
        <p:txBody>
          <a:bodyPr>
            <a:normAutofit/>
          </a:bodyPr>
          <a:lstStyle/>
          <a:p>
            <a:r>
              <a:rPr lang="en-US" sz="2200" b="1" dirty="0" smtClean="0"/>
              <a:t>Modulation: </a:t>
            </a:r>
            <a:r>
              <a:rPr lang="en-US" sz="2200" dirty="0" smtClean="0"/>
              <a:t>A way of varying the voltage of a constant electrical charge moving across a standard copper network cable.</a:t>
            </a:r>
          </a:p>
          <a:p>
            <a:r>
              <a:rPr lang="en-US" sz="2200" b="1" dirty="0" smtClean="0"/>
              <a:t>Line coding:</a:t>
            </a:r>
            <a:r>
              <a:rPr lang="en-US" sz="2200" dirty="0" smtClean="0"/>
              <a:t> Modulation used for computer networks.</a:t>
            </a:r>
          </a:p>
          <a:p>
            <a:r>
              <a:rPr lang="en-US" sz="2200" dirty="0" smtClean="0"/>
              <a:t>Digital signals = 01010001</a:t>
            </a:r>
          </a:p>
        </p:txBody>
      </p:sp>
      <p:pic>
        <p:nvPicPr>
          <p:cNvPr id="1026" name="Picture 2" descr="https://www.computernetworkingnotes.org/images/networking-tutorials/nt14-02-data-modulation-example-isp-internet.png"/>
          <p:cNvPicPr>
            <a:picLocks noChangeAspect="1" noChangeArrowheads="1"/>
          </p:cNvPicPr>
          <p:nvPr/>
        </p:nvPicPr>
        <p:blipFill>
          <a:blip r:embed="rId2" cstate="print"/>
          <a:srcRect/>
          <a:stretch>
            <a:fillRect/>
          </a:stretch>
        </p:blipFill>
        <p:spPr bwMode="auto">
          <a:xfrm>
            <a:off x="2895600" y="3683000"/>
            <a:ext cx="3352800" cy="24892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Twisted Pair Cables</a:t>
            </a:r>
            <a:endParaRPr lang="en-US" dirty="0"/>
          </a:p>
        </p:txBody>
      </p:sp>
      <p:sp>
        <p:nvSpPr>
          <p:cNvPr id="3" name="Content Placeholder 2"/>
          <p:cNvSpPr>
            <a:spLocks noGrp="1"/>
          </p:cNvSpPr>
          <p:nvPr>
            <p:ph idx="1"/>
          </p:nvPr>
        </p:nvSpPr>
        <p:spPr/>
        <p:txBody>
          <a:bodyPr>
            <a:normAutofit/>
          </a:bodyPr>
          <a:lstStyle/>
          <a:p>
            <a:r>
              <a:rPr lang="en-US" sz="2400" b="1" dirty="0" smtClean="0"/>
              <a:t>Twisted pair cable:</a:t>
            </a:r>
            <a:r>
              <a:rPr lang="en-US" sz="2400" dirty="0" smtClean="0"/>
              <a:t> The most common type of cabling used for connecting computing devices. It features pairs of copper wires that are twisted together.</a:t>
            </a:r>
            <a:endParaRPr lang="en-US" sz="2400" dirty="0"/>
          </a:p>
        </p:txBody>
      </p:sp>
      <p:pic>
        <p:nvPicPr>
          <p:cNvPr id="28674" name="Picture 2" descr="https://www.networkcablinglosangeles.com/wp-content/themes/networkcablinglosangeles/images/unshielded_cable.jpg"/>
          <p:cNvPicPr>
            <a:picLocks noChangeAspect="1" noChangeArrowheads="1"/>
          </p:cNvPicPr>
          <p:nvPr/>
        </p:nvPicPr>
        <p:blipFill>
          <a:blip r:embed="rId2" cstate="print"/>
          <a:srcRect/>
          <a:stretch>
            <a:fillRect/>
          </a:stretch>
        </p:blipFill>
        <p:spPr bwMode="auto">
          <a:xfrm>
            <a:off x="2590800" y="3505200"/>
            <a:ext cx="3810000" cy="23114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Duplex Communication</a:t>
            </a:r>
            <a:endParaRPr lang="en-US" dirty="0"/>
          </a:p>
        </p:txBody>
      </p:sp>
      <p:sp>
        <p:nvSpPr>
          <p:cNvPr id="3" name="Content Placeholder 2"/>
          <p:cNvSpPr>
            <a:spLocks noGrp="1"/>
          </p:cNvSpPr>
          <p:nvPr>
            <p:ph idx="1"/>
          </p:nvPr>
        </p:nvSpPr>
        <p:spPr>
          <a:xfrm>
            <a:off x="457200" y="1600200"/>
            <a:ext cx="5410200" cy="4525963"/>
          </a:xfrm>
        </p:spPr>
        <p:txBody>
          <a:bodyPr>
            <a:normAutofit/>
          </a:bodyPr>
          <a:lstStyle/>
          <a:p>
            <a:r>
              <a:rPr lang="en-US" sz="2000" b="1" dirty="0" smtClean="0"/>
              <a:t>Simplex communication:</a:t>
            </a:r>
            <a:r>
              <a:rPr lang="en-US" sz="2000" dirty="0" smtClean="0"/>
              <a:t> A form of data communication that only goes in one direction across a cable.</a:t>
            </a:r>
          </a:p>
          <a:p>
            <a:r>
              <a:rPr lang="en-US" sz="2000" b="1" dirty="0" smtClean="0"/>
              <a:t>Duplex communication:</a:t>
            </a:r>
            <a:r>
              <a:rPr lang="en-US" sz="2000" dirty="0" smtClean="0"/>
              <a:t> A form of communication where information can flow in both directions across a cable.</a:t>
            </a:r>
          </a:p>
          <a:p>
            <a:r>
              <a:rPr lang="en-US" sz="2000" b="1" dirty="0" smtClean="0"/>
              <a:t>Full duplex: </a:t>
            </a:r>
            <a:r>
              <a:rPr lang="en-US" sz="2000" dirty="0" smtClean="0"/>
              <a:t>The capacity of devices on either side of a networking link to communicate with each other at the exact same time.</a:t>
            </a:r>
          </a:p>
          <a:p>
            <a:r>
              <a:rPr lang="en-US" sz="2000" b="1" dirty="0" smtClean="0"/>
              <a:t>Half-duplex:</a:t>
            </a:r>
            <a:r>
              <a:rPr lang="en-US" sz="2000" dirty="0" smtClean="0"/>
              <a:t> It means that, while communication is possible in each direction, only one device can be communicating at a time.</a:t>
            </a:r>
          </a:p>
        </p:txBody>
      </p:sp>
      <p:pic>
        <p:nvPicPr>
          <p:cNvPr id="29699" name="Picture 3"/>
          <p:cNvPicPr>
            <a:picLocks noChangeAspect="1" noChangeArrowheads="1"/>
          </p:cNvPicPr>
          <p:nvPr/>
        </p:nvPicPr>
        <p:blipFill>
          <a:blip r:embed="rId2" cstate="print"/>
          <a:srcRect/>
          <a:stretch>
            <a:fillRect/>
          </a:stretch>
        </p:blipFill>
        <p:spPr bwMode="auto">
          <a:xfrm>
            <a:off x="5943600" y="2438400"/>
            <a:ext cx="2755900" cy="210502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5323</TotalTime>
  <Words>675</Words>
  <Application>Microsoft Office PowerPoint</Application>
  <PresentationFormat>On-screen Show (4:3)</PresentationFormat>
  <Paragraphs>54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The Physical Layer</vt:lpstr>
      <vt:lpstr>Objectives</vt:lpstr>
      <vt:lpstr>Contents</vt:lpstr>
      <vt:lpstr>References</vt:lpstr>
      <vt:lpstr>Network Interface Cards</vt:lpstr>
      <vt:lpstr>RJ45 Ports and Plugs</vt:lpstr>
      <vt:lpstr>Cables</vt:lpstr>
      <vt:lpstr>Cabling Tools</vt:lpstr>
      <vt:lpstr>Hubs</vt:lpstr>
      <vt:lpstr>Switches</vt:lpstr>
      <vt:lpstr>Routers</vt:lpstr>
      <vt:lpstr>Network Ports and Patch Panel</vt:lpstr>
      <vt:lpstr>Servers and Clients</vt:lpstr>
      <vt:lpstr>Slide 14</vt:lpstr>
      <vt:lpstr>Physical Networks</vt:lpstr>
      <vt:lpstr>Bit</vt:lpstr>
      <vt:lpstr>Modulation</vt:lpstr>
      <vt:lpstr>Twisted Pair Cables</vt:lpstr>
      <vt:lpstr>Duplex Communication</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1574</cp:revision>
  <dcterms:created xsi:type="dcterms:W3CDTF">2009-01-22T10:11:40Z</dcterms:created>
  <dcterms:modified xsi:type="dcterms:W3CDTF">2023-12-30T10:00:47Z</dcterms:modified>
</cp:coreProperties>
</file>