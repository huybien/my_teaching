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3" r:id="rId2"/>
    <p:sldId id="414" r:id="rId3"/>
    <p:sldId id="415" r:id="rId4"/>
    <p:sldId id="416" r:id="rId5"/>
    <p:sldId id="439" r:id="rId6"/>
    <p:sldId id="440" r:id="rId7"/>
    <p:sldId id="452" r:id="rId8"/>
    <p:sldId id="441" r:id="rId9"/>
    <p:sldId id="442" r:id="rId10"/>
    <p:sldId id="443" r:id="rId11"/>
    <p:sldId id="445" r:id="rId12"/>
    <p:sldId id="444" r:id="rId13"/>
    <p:sldId id="460" r:id="rId14"/>
    <p:sldId id="453" r:id="rId15"/>
    <p:sldId id="461" r:id="rId16"/>
    <p:sldId id="446" r:id="rId17"/>
    <p:sldId id="451" r:id="rId18"/>
    <p:sldId id="448" r:id="rId19"/>
    <p:sldId id="449" r:id="rId20"/>
    <p:sldId id="450" r:id="rId21"/>
    <p:sldId id="456" r:id="rId22"/>
    <p:sldId id="457" r:id="rId23"/>
    <p:sldId id="459" r:id="rId24"/>
    <p:sldId id="462" r:id="rId25"/>
    <p:sldId id="463" r:id="rId26"/>
    <p:sldId id="454" r:id="rId27"/>
    <p:sldId id="447" r:id="rId28"/>
    <p:sldId id="417" r:id="rId29"/>
    <p:sldId id="419" r:id="rId30"/>
    <p:sldId id="420" r:id="rId31"/>
    <p:sldId id="421" r:id="rId32"/>
    <p:sldId id="422" r:id="rId33"/>
    <p:sldId id="424" r:id="rId34"/>
    <p:sldId id="423" r:id="rId35"/>
    <p:sldId id="425" r:id="rId36"/>
    <p:sldId id="464" r:id="rId37"/>
    <p:sldId id="465" r:id="rId38"/>
    <p:sldId id="466" r:id="rId39"/>
    <p:sldId id="467" r:id="rId40"/>
    <p:sldId id="343"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77" autoAdjust="0"/>
    <p:restoredTop sz="94660"/>
  </p:normalViewPr>
  <p:slideViewPr>
    <p:cSldViewPr>
      <p:cViewPr>
        <p:scale>
          <a:sx n="50" d="100"/>
          <a:sy n="50" d="100"/>
        </p:scale>
        <p:origin x="-1642"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BC163B-A334-4AF0-8F79-DA2B7EC4EC47}"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BC163B-A334-4AF0-8F79-DA2B7EC4EC47}"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BC163B-A334-4AF0-8F79-DA2B7EC4EC47}" type="datetimeFigureOut">
              <a:rPr lang="en-US" smtClean="0"/>
              <a:pPr/>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BC163B-A334-4AF0-8F79-DA2B7EC4EC47}" type="datetimeFigureOut">
              <a:rPr lang="en-US" smtClean="0"/>
              <a:pPr/>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C163B-A334-4AF0-8F79-DA2B7EC4EC47}" type="datetimeFigureOut">
              <a:rPr lang="en-US" smtClean="0"/>
              <a:pPr/>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C163B-A334-4AF0-8F79-DA2B7EC4EC47}" type="datetimeFigureOut">
              <a:rPr lang="en-US" smtClean="0"/>
              <a:pPr/>
              <a:t>10/9/2025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3B51A9-7D3A-4012-9382-6DE3942971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bm.com/docs/en/aix/7.3?topic=protocols-transmission-control-protoco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ibm.com/docs/en/aix/7.3?topic=protocols-user-datagram-protoco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docs.microsoft.com/en-us/sysinternals/downloads/tcpview" TargetMode="External"/><Relationship Id="rId2" Type="http://schemas.openxmlformats.org/officeDocument/2006/relationships/hyperlink" Target="http://www.nirsoft.net/utils/cports.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The Transport Layer</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5257800" cy="4343400"/>
          </a:xfrm>
        </p:spPr>
        <p:txBody>
          <a:bodyPr/>
          <a:lstStyle/>
          <a:p>
            <a:pPr marL="457200" indent="-457200">
              <a:buFont typeface="Wingdings" pitchFamily="2" charset="2"/>
              <a:buChar char="Ø"/>
            </a:pPr>
            <a:endParaRPr lang="en-US" sz="22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00750" y="260985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Multiplexing and </a:t>
            </a:r>
            <a:r>
              <a:rPr lang="en-US" sz="2400" dirty="0" err="1" smtClean="0"/>
              <a:t>Demultiplexing</a:t>
            </a:r>
            <a:endParaRPr lang="en-US" sz="2400" dirty="0" smtClean="0"/>
          </a:p>
          <a:p>
            <a:pPr marL="571500" indent="-571500">
              <a:buFont typeface="+mj-lt"/>
              <a:buAutoNum type="romanUcPeriod"/>
            </a:pPr>
            <a:r>
              <a:rPr lang="en-US" sz="2400" dirty="0" smtClean="0"/>
              <a:t>Ports</a:t>
            </a:r>
          </a:p>
          <a:p>
            <a:pPr marL="571500" indent="-571500">
              <a:buFont typeface="+mj-lt"/>
              <a:buAutoNum type="romanUcPeriod"/>
            </a:pPr>
            <a:r>
              <a:rPr lang="en-US" sz="2400" dirty="0" smtClean="0"/>
              <a:t>Transmission Control Protocol (TCP)</a:t>
            </a:r>
          </a:p>
          <a:p>
            <a:pPr marL="571500" indent="-571500">
              <a:buFont typeface="+mj-lt"/>
              <a:buAutoNum type="romanUcPeriod"/>
            </a:pPr>
            <a:r>
              <a:rPr lang="en-US" sz="2400" dirty="0" smtClean="0"/>
              <a:t>User Datagram Protocol (UDP)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257800" cy="4525963"/>
          </a:xfrm>
        </p:spPr>
        <p:txBody>
          <a:bodyPr/>
          <a:lstStyle/>
          <a:p>
            <a:pPr marL="514350" indent="-514350">
              <a:buFont typeface="+mj-lt"/>
              <a:buAutoNum type="arabicPeriod"/>
            </a:pPr>
            <a:r>
              <a:rPr lang="en-US" sz="2400" dirty="0" smtClean="0"/>
              <a:t>Andrew S. </a:t>
            </a:r>
            <a:r>
              <a:rPr lang="en-US" sz="2400" dirty="0" err="1" smtClean="0"/>
              <a:t>Tanenbaum</a:t>
            </a:r>
            <a:r>
              <a:rPr lang="en-US" sz="2400" dirty="0" smtClean="0"/>
              <a:t> and David J. </a:t>
            </a:r>
            <a:r>
              <a:rPr lang="en-US" sz="2400" dirty="0" err="1" smtClean="0"/>
              <a:t>Wetherall</a:t>
            </a:r>
            <a:r>
              <a:rPr lang="en-US" sz="2400" dirty="0" smtClean="0"/>
              <a:t> (2021). Computer Networks. Pearson Education.</a:t>
            </a:r>
          </a:p>
          <a:p>
            <a:pPr marL="514350" indent="-514350">
              <a:buFont typeface="+mj-lt"/>
              <a:buAutoNum type="arabicPeriod"/>
            </a:pPr>
            <a:r>
              <a:rPr lang="en-US" sz="2400" dirty="0" smtClean="0"/>
              <a:t>James F. Kurose and Keith W. Ross (2021). Computer Networking: A Top-Down Approach. Pearson.</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19125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Multiplexing and </a:t>
            </a:r>
            <a:r>
              <a:rPr lang="en-US" dirty="0" err="1" smtClean="0"/>
              <a:t>Demultiplexing</a:t>
            </a:r>
            <a:endParaRPr lang="en-US" dirty="0"/>
          </a:p>
        </p:txBody>
      </p:sp>
      <p:sp>
        <p:nvSpPr>
          <p:cNvPr id="3" name="Content Placeholder 2"/>
          <p:cNvSpPr>
            <a:spLocks noGrp="1"/>
          </p:cNvSpPr>
          <p:nvPr>
            <p:ph idx="1"/>
          </p:nvPr>
        </p:nvSpPr>
        <p:spPr/>
        <p:txBody>
          <a:bodyPr>
            <a:normAutofit/>
          </a:bodyPr>
          <a:lstStyle/>
          <a:p>
            <a:r>
              <a:rPr lang="en-US" sz="2200" b="1" dirty="0" smtClean="0"/>
              <a:t>Multiplexing: </a:t>
            </a:r>
            <a:r>
              <a:rPr lang="en-US" sz="2200" dirty="0" smtClean="0"/>
              <a:t>It means that nodes on the network have the ability to direct traffic toward many different receiving services.</a:t>
            </a:r>
          </a:p>
          <a:p>
            <a:r>
              <a:rPr lang="en-US" sz="2200" b="1" dirty="0" err="1" smtClean="0"/>
              <a:t>Demultiplexing</a:t>
            </a:r>
            <a:r>
              <a:rPr lang="en-US" sz="2200" b="1" dirty="0" smtClean="0"/>
              <a:t>:</a:t>
            </a:r>
            <a:r>
              <a:rPr lang="en-US" sz="2200" dirty="0" smtClean="0"/>
              <a:t> Taking traffic that's all aimed at the same node and delivering it to the proper receiving service.</a:t>
            </a:r>
          </a:p>
          <a:p>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2209800" y="3698875"/>
            <a:ext cx="4724400" cy="21685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Ports</a:t>
            </a:r>
            <a:endParaRPr lang="en-US" dirty="0"/>
          </a:p>
        </p:txBody>
      </p:sp>
      <p:sp>
        <p:nvSpPr>
          <p:cNvPr id="3" name="Content Placeholder 2"/>
          <p:cNvSpPr>
            <a:spLocks noGrp="1"/>
          </p:cNvSpPr>
          <p:nvPr>
            <p:ph idx="1"/>
          </p:nvPr>
        </p:nvSpPr>
        <p:spPr/>
        <p:txBody>
          <a:bodyPr>
            <a:normAutofit/>
          </a:bodyPr>
          <a:lstStyle/>
          <a:p>
            <a:r>
              <a:rPr lang="en-US" sz="2400" b="1" dirty="0" smtClean="0"/>
              <a:t>Port:</a:t>
            </a:r>
            <a:r>
              <a:rPr lang="en-US" sz="2400" dirty="0" smtClean="0"/>
              <a:t> It is a 16-bit number that's used to direct traffic to specific services running on a networked computer.</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1722438" y="3124200"/>
            <a:ext cx="5699125" cy="243522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 Categories</a:t>
            </a:r>
            <a:endParaRPr lang="en-US" dirty="0"/>
          </a:p>
        </p:txBody>
      </p:sp>
      <p:sp>
        <p:nvSpPr>
          <p:cNvPr id="3" name="Content Placeholder 2"/>
          <p:cNvSpPr>
            <a:spLocks noGrp="1"/>
          </p:cNvSpPr>
          <p:nvPr>
            <p:ph idx="1"/>
          </p:nvPr>
        </p:nvSpPr>
        <p:spPr/>
        <p:txBody>
          <a:bodyPr>
            <a:normAutofit/>
          </a:bodyPr>
          <a:lstStyle/>
          <a:p>
            <a:r>
              <a:rPr lang="en-US" sz="2000" dirty="0" smtClean="0"/>
              <a:t>Since a 16-bit number identifies ports, there can be 65,535 of them. Given the number of ports available, they have been divided into three categories by the Internet Assigned Numbers Authority (IANA).</a:t>
            </a:r>
          </a:p>
          <a:p>
            <a:r>
              <a:rPr lang="en-US" sz="2000" b="1" dirty="0" smtClean="0"/>
              <a:t>System Ports</a:t>
            </a:r>
            <a:r>
              <a:rPr lang="en-US" sz="2000" dirty="0" smtClean="0"/>
              <a:t> are identified as ports 1 through 1023. System ports are reserved for common applications like FTP (port 21) and Telnet over TLS/SSL (port 992). Many still are not assigned. Note: Modern operating systems do not use system ports for outbound traffic.</a:t>
            </a:r>
          </a:p>
          <a:p>
            <a:r>
              <a:rPr lang="en-US" sz="2000" b="1" dirty="0" smtClean="0"/>
              <a:t>User Ports</a:t>
            </a:r>
            <a:r>
              <a:rPr lang="en-US" sz="2000" dirty="0" smtClean="0"/>
              <a:t> are identified as ports 1024 through 49151. Vendors register user ports for their specific server applications. The IANA has officially registered some but not all of them.</a:t>
            </a:r>
          </a:p>
          <a:p>
            <a:r>
              <a:rPr lang="en-US" sz="2000" b="1" dirty="0" smtClean="0"/>
              <a:t>Ephemeral Ports (Dynamic or Private Ports)</a:t>
            </a:r>
            <a:r>
              <a:rPr lang="en-US" sz="2000" dirty="0" smtClean="0"/>
              <a:t> are identified as ports 49152 through 65535. Ephemeral ports are used as temporary ports for private transfers. Only clients use ephemeral 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Segment</a:t>
            </a:r>
            <a:endParaRPr lang="en-US" dirty="0"/>
          </a:p>
        </p:txBody>
      </p:sp>
      <p:sp>
        <p:nvSpPr>
          <p:cNvPr id="3" name="Content Placeholder 2"/>
          <p:cNvSpPr>
            <a:spLocks noGrp="1"/>
          </p:cNvSpPr>
          <p:nvPr>
            <p:ph idx="1"/>
          </p:nvPr>
        </p:nvSpPr>
        <p:spPr/>
        <p:txBody>
          <a:bodyPr>
            <a:normAutofit/>
          </a:bodyPr>
          <a:lstStyle/>
          <a:p>
            <a:r>
              <a:rPr lang="en-US" sz="2200" b="1" dirty="0" smtClean="0"/>
              <a:t>TCP segment:</a:t>
            </a:r>
            <a:r>
              <a:rPr lang="en-US" sz="2200" dirty="0" smtClean="0"/>
              <a:t> A payload section of an IP datagram made up of a TCP header and a data section.</a:t>
            </a:r>
          </a:p>
          <a:p>
            <a:r>
              <a:rPr lang="en-US" sz="2200" b="1" dirty="0" smtClean="0"/>
              <a:t>Sequence number: </a:t>
            </a:r>
            <a:r>
              <a:rPr lang="en-US" sz="2200" dirty="0" smtClean="0"/>
              <a:t>A 32-bit number that's used to keep track of where in a sequence of TCP segments this one is expected to be.</a:t>
            </a:r>
          </a:p>
          <a:p>
            <a:r>
              <a:rPr lang="en-US" sz="2200" b="1" dirty="0" smtClean="0"/>
              <a:t>Data offset field: </a:t>
            </a:r>
            <a:r>
              <a:rPr lang="en-US" sz="2200" dirty="0" smtClean="0"/>
              <a:t>The number of the next expected segment in a TCP packet/datagram.</a:t>
            </a:r>
          </a:p>
          <a:p>
            <a:r>
              <a:rPr lang="en-US" sz="2200" b="1" dirty="0" smtClean="0"/>
              <a:t>TCP checksum:</a:t>
            </a:r>
            <a:r>
              <a:rPr lang="en-US" sz="2200" dirty="0" smtClean="0"/>
              <a:t> A mechanism that makes sure that no data is lost or corrupted during a transfer.</a:t>
            </a:r>
          </a:p>
          <a:p>
            <a:r>
              <a:rPr lang="en-US" sz="2200" b="1" dirty="0" smtClean="0"/>
              <a:t>Urgent pointer field: </a:t>
            </a:r>
            <a:r>
              <a:rPr lang="en-US" sz="2200" dirty="0" smtClean="0"/>
              <a:t>A field used in conjunction with one of the TCP control flags to point out particular segments that might be more important than others.</a:t>
            </a:r>
          </a:p>
          <a:p>
            <a:endParaRPr lang="en-US" sz="22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Control Flags</a:t>
            </a:r>
            <a:endParaRPr lang="en-US" dirty="0"/>
          </a:p>
        </p:txBody>
      </p:sp>
      <p:sp>
        <p:nvSpPr>
          <p:cNvPr id="3" name="Content Placeholder 2"/>
          <p:cNvSpPr>
            <a:spLocks noGrp="1"/>
          </p:cNvSpPr>
          <p:nvPr>
            <p:ph idx="1"/>
          </p:nvPr>
        </p:nvSpPr>
        <p:spPr/>
        <p:txBody>
          <a:bodyPr>
            <a:noAutofit/>
          </a:bodyPr>
          <a:lstStyle/>
          <a:p>
            <a:r>
              <a:rPr lang="en-US" sz="1800" b="1" dirty="0" smtClean="0"/>
              <a:t>URG flag:</a:t>
            </a:r>
            <a:r>
              <a:rPr lang="en-US" sz="1800" dirty="0" smtClean="0"/>
              <a:t> One of the TCP control flags. URG is short for urgent. A value of one here indicates that the segment is considered urgent and that the urgent pointer field has more data about this.</a:t>
            </a:r>
          </a:p>
          <a:p>
            <a:r>
              <a:rPr lang="en-US" sz="1800" b="1" dirty="0" smtClean="0"/>
              <a:t>ACK flag:</a:t>
            </a:r>
            <a:r>
              <a:rPr lang="en-US" sz="1800" dirty="0" smtClean="0"/>
              <a:t> One of the TCP control flags. ACK is short for acknowledge. A value of one in this field means that the acknowledgment number field should be examined.</a:t>
            </a:r>
          </a:p>
          <a:p>
            <a:r>
              <a:rPr lang="en-US" sz="1800" b="1" dirty="0" smtClean="0"/>
              <a:t>PSH flag: </a:t>
            </a:r>
            <a:r>
              <a:rPr lang="en-US" sz="1800" dirty="0" smtClean="0"/>
              <a:t>One of the TCP control flags. PSH is short for push. This flag means that the transmitting device wants the receiving device to push currently buffered data to the application on the receiving end as soon as possible.</a:t>
            </a:r>
          </a:p>
          <a:p>
            <a:r>
              <a:rPr lang="en-US" sz="1800" b="1" dirty="0" smtClean="0"/>
              <a:t>RST flag: </a:t>
            </a:r>
            <a:r>
              <a:rPr lang="en-US" sz="1800" dirty="0" smtClean="0"/>
              <a:t>One of the TCP control flags. RST is short for reset. This flag means that one of the sides in a TCP connection hasn't been able to properly recover from a series of missing or malformed segments.</a:t>
            </a:r>
          </a:p>
          <a:p>
            <a:r>
              <a:rPr lang="en-US" sz="1800" b="1" dirty="0" smtClean="0"/>
              <a:t>FIN flag: </a:t>
            </a:r>
            <a:r>
              <a:rPr lang="en-US" sz="1800" dirty="0" smtClean="0"/>
              <a:t>One of the TCP control flags. FIN is short for finish. When this flag is set to one, it means the transmitting computer doesn't have any more data to send and the connection can be closed.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Three-way Handshake</a:t>
            </a:r>
            <a:endParaRPr lang="en-US" dirty="0"/>
          </a:p>
        </p:txBody>
      </p:sp>
      <p:sp>
        <p:nvSpPr>
          <p:cNvPr id="3" name="Content Placeholder 2"/>
          <p:cNvSpPr>
            <a:spLocks noGrp="1"/>
          </p:cNvSpPr>
          <p:nvPr>
            <p:ph idx="1"/>
          </p:nvPr>
        </p:nvSpPr>
        <p:spPr/>
        <p:txBody>
          <a:bodyPr>
            <a:noAutofit/>
          </a:bodyPr>
          <a:lstStyle/>
          <a:p>
            <a:r>
              <a:rPr lang="en-US" sz="2200" b="1" dirty="0" smtClean="0"/>
              <a:t>Handshake:</a:t>
            </a:r>
            <a:r>
              <a:rPr lang="en-US" sz="2200" dirty="0" smtClean="0"/>
              <a:t> A way for two devices to ensure that they're speaking the same protocol and will be able to understand each other.</a:t>
            </a:r>
          </a:p>
          <a:p>
            <a:r>
              <a:rPr lang="en-US" sz="2200" dirty="0" smtClean="0"/>
              <a:t>Since TCP is a connection-oriented protocol, a connection needs to be established before two devices can communicate.</a:t>
            </a:r>
          </a:p>
          <a:p>
            <a:r>
              <a:rPr lang="en-US" sz="2200" dirty="0" smtClean="0"/>
              <a:t>TCP uses a process called three-way handshake to negotiate the sequence and acknowledgment fields and start the session.</a:t>
            </a:r>
          </a:p>
        </p:txBody>
      </p:sp>
      <p:pic>
        <p:nvPicPr>
          <p:cNvPr id="1028" name="Picture 4" descr="TCP three way handshake explained"/>
          <p:cNvPicPr>
            <a:picLocks noChangeAspect="1" noChangeArrowheads="1"/>
          </p:cNvPicPr>
          <p:nvPr/>
        </p:nvPicPr>
        <p:blipFill>
          <a:blip r:embed="rId2" cstate="print"/>
          <a:srcRect/>
          <a:stretch>
            <a:fillRect/>
          </a:stretch>
        </p:blipFill>
        <p:spPr bwMode="auto">
          <a:xfrm>
            <a:off x="2362200" y="4267200"/>
            <a:ext cx="4514850" cy="162877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Three-way Handshake Example</a:t>
            </a:r>
            <a:endParaRPr lang="en-US" dirty="0"/>
          </a:p>
        </p:txBody>
      </p:sp>
      <p:sp>
        <p:nvSpPr>
          <p:cNvPr id="3" name="Content Placeholder 2"/>
          <p:cNvSpPr>
            <a:spLocks noGrp="1"/>
          </p:cNvSpPr>
          <p:nvPr>
            <p:ph idx="1"/>
          </p:nvPr>
        </p:nvSpPr>
        <p:spPr/>
        <p:txBody>
          <a:bodyPr>
            <a:noAutofit/>
          </a:bodyPr>
          <a:lstStyle/>
          <a:p>
            <a:r>
              <a:rPr lang="en-US" sz="1800" dirty="0" smtClean="0"/>
              <a:t>Host A initiates the connection by sending the TCP SYN packet to the destination host. The packet contains the random sequence number (e.g. 5432) which marks the beginning of the sequence numbers for data that the Host A will transmit.</a:t>
            </a:r>
          </a:p>
          <a:p>
            <a:r>
              <a:rPr lang="en-US" sz="1800" dirty="0" smtClean="0"/>
              <a:t>The Server receives the packet and responds with its own sequence number. The response also includes the acknowledgment number, which is Host A’s sequence number incremented by 1 (in our case, that would be 5433).</a:t>
            </a:r>
          </a:p>
          <a:p>
            <a:r>
              <a:rPr lang="en-US" sz="1800" dirty="0" smtClean="0"/>
              <a:t>Host A acknowledges the response of the Server by sending the acknowledgment number, which is the Server’s sequence number incremented by 1.</a:t>
            </a:r>
          </a:p>
        </p:txBody>
      </p:sp>
      <p:pic>
        <p:nvPicPr>
          <p:cNvPr id="1026" name="Picture 2" descr="https://study-ccna.com/wp-content/uploads/2018/09/tcp_three_way_handshake_numbers.png"/>
          <p:cNvPicPr>
            <a:picLocks noChangeAspect="1" noChangeArrowheads="1"/>
          </p:cNvPicPr>
          <p:nvPr/>
        </p:nvPicPr>
        <p:blipFill>
          <a:blip r:embed="rId2" cstate="print"/>
          <a:srcRect/>
          <a:stretch>
            <a:fillRect/>
          </a:stretch>
        </p:blipFill>
        <p:spPr bwMode="auto">
          <a:xfrm>
            <a:off x="2438400" y="4419600"/>
            <a:ext cx="4514850" cy="162877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Four-way Handshake</a:t>
            </a:r>
            <a:endParaRPr lang="en-US" dirty="0"/>
          </a:p>
        </p:txBody>
      </p:sp>
      <p:sp>
        <p:nvSpPr>
          <p:cNvPr id="3" name="Content Placeholder 2"/>
          <p:cNvSpPr>
            <a:spLocks noGrp="1"/>
          </p:cNvSpPr>
          <p:nvPr>
            <p:ph idx="1"/>
          </p:nvPr>
        </p:nvSpPr>
        <p:spPr/>
        <p:txBody>
          <a:bodyPr>
            <a:noAutofit/>
          </a:bodyPr>
          <a:lstStyle/>
          <a:p>
            <a:r>
              <a:rPr lang="en-US" sz="1800" dirty="0" smtClean="0"/>
              <a:t>After the data transmission process is finished, TCP will terminate the connection between two endpoints.</a:t>
            </a:r>
          </a:p>
          <a:p>
            <a:r>
              <a:rPr lang="en-US" sz="1800" dirty="0" smtClean="0"/>
              <a:t>The client application that wants to close the connection sends a TCP segment with the FIN (Finished) flag set to 1.</a:t>
            </a:r>
          </a:p>
          <a:p>
            <a:r>
              <a:rPr lang="en-US" sz="1800" dirty="0" smtClean="0"/>
              <a:t>The server receives the TCP segment and acknowledges it with the ACK segment.</a:t>
            </a:r>
          </a:p>
          <a:p>
            <a:r>
              <a:rPr lang="en-US" sz="1800" dirty="0" smtClean="0"/>
              <a:t>Server sends its own TCP segment with the FIN flag set to 1 to the client in order to terminate the connection.</a:t>
            </a:r>
          </a:p>
          <a:p>
            <a:r>
              <a:rPr lang="en-US" sz="1800" dirty="0" smtClean="0"/>
              <a:t>The client acknowledges the server’s FIN segment and closes the connection.</a:t>
            </a:r>
          </a:p>
          <a:p>
            <a:endParaRPr lang="en-US" sz="1800" dirty="0" smtClean="0"/>
          </a:p>
        </p:txBody>
      </p:sp>
      <p:pic>
        <p:nvPicPr>
          <p:cNvPr id="43010" name="Picture 2" descr="TCP connection termination process"/>
          <p:cNvPicPr>
            <a:picLocks noChangeAspect="1" noChangeArrowheads="1"/>
          </p:cNvPicPr>
          <p:nvPr/>
        </p:nvPicPr>
        <p:blipFill>
          <a:blip r:embed="rId2" cstate="print"/>
          <a:srcRect/>
          <a:stretch>
            <a:fillRect/>
          </a:stretch>
        </p:blipFill>
        <p:spPr bwMode="auto">
          <a:xfrm>
            <a:off x="2209800" y="4495800"/>
            <a:ext cx="4514850" cy="162877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Segment Transmission</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124200" y="2209800"/>
            <a:ext cx="2679700" cy="32829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Transmission Control Protocol</a:t>
            </a:r>
            <a:endParaRPr lang="en-US" dirty="0"/>
          </a:p>
        </p:txBody>
      </p:sp>
      <p:sp>
        <p:nvSpPr>
          <p:cNvPr id="3" name="Content Placeholder 2"/>
          <p:cNvSpPr>
            <a:spLocks noGrp="1"/>
          </p:cNvSpPr>
          <p:nvPr>
            <p:ph idx="1"/>
          </p:nvPr>
        </p:nvSpPr>
        <p:spPr/>
        <p:txBody>
          <a:bodyPr>
            <a:normAutofit/>
          </a:bodyPr>
          <a:lstStyle/>
          <a:p>
            <a:r>
              <a:rPr lang="en-US" sz="2400" dirty="0" smtClean="0"/>
              <a:t>Transmission Control Protocol (TCP) is a communications standard that enables application programs and computing devices to exchange messages over a network.</a:t>
            </a:r>
          </a:p>
          <a:p>
            <a:r>
              <a:rPr lang="en-US" sz="2400" dirty="0" smtClean="0"/>
              <a:t>It is designed to send packets across the internet and ensure the successful delivery of data and messages over networks.</a:t>
            </a:r>
          </a:p>
          <a:p>
            <a:r>
              <a:rPr lang="en-US" sz="2400" dirty="0" smtClean="0"/>
              <a:t>The TCP protocol sends acknowledgments between the service and client to show that sent data was received.</a:t>
            </a:r>
          </a:p>
          <a:p>
            <a:r>
              <a:rPr lang="en-US" sz="2400" dirty="0" smtClean="0"/>
              <a:t>Then, it uses checksum verification to confirm that the received data matches what was sent.</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Transmission Control Protocol</a:t>
            </a:r>
            <a:endParaRPr lang="en-US" dirty="0"/>
          </a:p>
        </p:txBody>
      </p:sp>
      <p:sp>
        <p:nvSpPr>
          <p:cNvPr id="3" name="Content Placeholder 2"/>
          <p:cNvSpPr>
            <a:spLocks noGrp="1"/>
          </p:cNvSpPr>
          <p:nvPr>
            <p:ph idx="1"/>
          </p:nvPr>
        </p:nvSpPr>
        <p:spPr/>
        <p:txBody>
          <a:bodyPr/>
          <a:lstStyle/>
          <a:p>
            <a:r>
              <a:rPr lang="en-US" sz="2400" dirty="0" smtClean="0">
                <a:hlinkClick r:id="rId2"/>
              </a:rPr>
              <a:t>https://www.ibm.com/docs/en/aix/7.3?topic=protocols-transmission-control-protocol</a:t>
            </a:r>
            <a:endParaRPr lang="en-US" sz="2400" dirty="0" smtClean="0"/>
          </a:p>
          <a:p>
            <a:r>
              <a:rPr lang="en-US" sz="2400" b="1" dirty="0" smtClean="0"/>
              <a:t>TCP</a:t>
            </a:r>
            <a:r>
              <a:rPr lang="en-US" sz="2400" dirty="0" smtClean="0"/>
              <a:t> uses Internet Protocol, the underlying protocol, to transport </a:t>
            </a:r>
            <a:r>
              <a:rPr lang="en-US" sz="2400" dirty="0" err="1" smtClean="0"/>
              <a:t>datagrams</a:t>
            </a:r>
            <a:r>
              <a:rPr lang="en-US" sz="2400" dirty="0" smtClean="0"/>
              <a:t>, and supports the block transmission of a continuous stream of </a:t>
            </a:r>
            <a:r>
              <a:rPr lang="en-US" sz="2400" dirty="0" err="1" smtClean="0"/>
              <a:t>datagrams</a:t>
            </a:r>
            <a:r>
              <a:rPr lang="en-US" sz="2400" dirty="0" smtClean="0"/>
              <a:t> between process ports.</a:t>
            </a:r>
          </a:p>
          <a:p>
            <a:r>
              <a:rPr lang="en-US" sz="2400" b="1" dirty="0" smtClean="0"/>
              <a:t>TCP</a:t>
            </a:r>
            <a:r>
              <a:rPr lang="en-US" sz="2400" dirty="0" smtClean="0"/>
              <a:t> provides </a:t>
            </a:r>
            <a:r>
              <a:rPr lang="en-US" sz="2400" i="1" dirty="0" smtClean="0">
                <a:solidFill>
                  <a:srgbClr val="C00000"/>
                </a:solidFill>
              </a:rPr>
              <a:t>reliable</a:t>
            </a:r>
            <a:r>
              <a:rPr lang="en-US" sz="2400" dirty="0" smtClean="0"/>
              <a:t> message delivery.</a:t>
            </a:r>
          </a:p>
          <a:p>
            <a:r>
              <a:rPr lang="en-US" sz="2400" b="1" dirty="0" smtClean="0"/>
              <a:t>TCP</a:t>
            </a:r>
            <a:r>
              <a:rPr lang="en-US" sz="2400" dirty="0" smtClean="0"/>
              <a:t> ensures that data is </a:t>
            </a:r>
            <a:r>
              <a:rPr lang="en-US" sz="2400" u="sng" dirty="0" smtClean="0"/>
              <a:t>not</a:t>
            </a:r>
            <a:r>
              <a:rPr lang="en-US" sz="2400" dirty="0" smtClean="0"/>
              <a:t> </a:t>
            </a:r>
            <a:r>
              <a:rPr lang="en-US" sz="2400" u="sng" dirty="0" smtClean="0"/>
              <a:t>damaged</a:t>
            </a:r>
            <a:r>
              <a:rPr lang="en-US" sz="2400" dirty="0" smtClean="0"/>
              <a:t>, </a:t>
            </a:r>
            <a:r>
              <a:rPr lang="en-US" sz="2400" u="sng" dirty="0" smtClean="0"/>
              <a:t>lost</a:t>
            </a:r>
            <a:r>
              <a:rPr lang="en-US" sz="2400" dirty="0" smtClean="0"/>
              <a:t>, </a:t>
            </a:r>
            <a:r>
              <a:rPr lang="en-US" sz="2400" u="sng" dirty="0" smtClean="0"/>
              <a:t>duplicated</a:t>
            </a:r>
            <a:r>
              <a:rPr lang="en-US" sz="2400" dirty="0" smtClean="0"/>
              <a:t>, or delivered </a:t>
            </a:r>
            <a:r>
              <a:rPr lang="en-US" sz="2400" u="sng" dirty="0" smtClean="0"/>
              <a:t>out of order</a:t>
            </a:r>
            <a:r>
              <a:rPr lang="en-US" sz="2400" dirty="0" smtClean="0"/>
              <a:t> to a receiving process. This assurance of transport reliability keeps applications programmers from having to build communications safeguards into their software.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TCP Sockets (Dependent on OS)</a:t>
            </a:r>
            <a:endParaRPr lang="en-US" dirty="0"/>
          </a:p>
        </p:txBody>
      </p:sp>
      <p:sp>
        <p:nvSpPr>
          <p:cNvPr id="3" name="Content Placeholder 2"/>
          <p:cNvSpPr>
            <a:spLocks noGrp="1"/>
          </p:cNvSpPr>
          <p:nvPr>
            <p:ph idx="1"/>
          </p:nvPr>
        </p:nvSpPr>
        <p:spPr/>
        <p:txBody>
          <a:bodyPr>
            <a:noAutofit/>
          </a:bodyPr>
          <a:lstStyle/>
          <a:p>
            <a:r>
              <a:rPr lang="en-US" sz="2400" b="1" dirty="0" smtClean="0"/>
              <a:t>Instantiation:</a:t>
            </a:r>
            <a:r>
              <a:rPr lang="en-US" sz="2400" dirty="0" smtClean="0"/>
              <a:t> The actual implementation of something defined elsewhere.</a:t>
            </a:r>
          </a:p>
          <a:p>
            <a:r>
              <a:rPr lang="en-US" sz="2400" dirty="0" smtClean="0"/>
              <a:t>A </a:t>
            </a:r>
            <a:r>
              <a:rPr lang="en-US" sz="2400" i="1" dirty="0" smtClean="0">
                <a:solidFill>
                  <a:srgbClr val="C00000"/>
                </a:solidFill>
              </a:rPr>
              <a:t>socket</a:t>
            </a:r>
            <a:r>
              <a:rPr lang="en-US" sz="2400" dirty="0" smtClean="0"/>
              <a:t> is an active port used by a service.</a:t>
            </a:r>
          </a:p>
          <a:p>
            <a:r>
              <a:rPr lang="en-US" sz="2400" dirty="0" smtClean="0"/>
              <a:t>Once a socket is activated, a client can send and receive data through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TCP Socket States</a:t>
            </a:r>
            <a:endParaRPr lang="en-US" dirty="0"/>
          </a:p>
        </p:txBody>
      </p:sp>
      <p:sp>
        <p:nvSpPr>
          <p:cNvPr id="3" name="Content Placeholder 2"/>
          <p:cNvSpPr>
            <a:spLocks noGrp="1"/>
          </p:cNvSpPr>
          <p:nvPr>
            <p:ph idx="1"/>
          </p:nvPr>
        </p:nvSpPr>
        <p:spPr/>
        <p:txBody>
          <a:bodyPr>
            <a:noAutofit/>
          </a:bodyPr>
          <a:lstStyle/>
          <a:p>
            <a:r>
              <a:rPr lang="en-US" sz="1800" b="1" dirty="0" smtClean="0"/>
              <a:t>Listen:</a:t>
            </a:r>
            <a:r>
              <a:rPr lang="en-US" sz="1800" dirty="0" smtClean="0"/>
              <a:t> It means that a TCP socket is ready and listening for incoming connections</a:t>
            </a:r>
          </a:p>
          <a:p>
            <a:r>
              <a:rPr lang="en-US" sz="1800" b="1" dirty="0" smtClean="0"/>
              <a:t>SYN_SENT:</a:t>
            </a:r>
            <a:r>
              <a:rPr lang="en-US" sz="1800" dirty="0" smtClean="0"/>
              <a:t> A TCP socket state that means that a synchronization request has been sent, but the connection hasn't been established yet.</a:t>
            </a:r>
          </a:p>
          <a:p>
            <a:r>
              <a:rPr lang="en-US" sz="1800" b="1" dirty="0" smtClean="0"/>
              <a:t>SYN_RECEIVED: </a:t>
            </a:r>
            <a:r>
              <a:rPr lang="en-US" sz="1800" dirty="0" smtClean="0"/>
              <a:t>A TCP socket state that means that a socket previously in a listener state, has received a synchronization request and sent a SYN_ACK back.</a:t>
            </a:r>
          </a:p>
          <a:p>
            <a:r>
              <a:rPr lang="en-US" sz="1800" b="1" dirty="0" smtClean="0"/>
              <a:t>ESTABLISHED:</a:t>
            </a:r>
            <a:r>
              <a:rPr lang="en-US" sz="1800" dirty="0" smtClean="0"/>
              <a:t> Status indicating that the TCP connection is in working order, and both sides are free to send each other data.</a:t>
            </a:r>
          </a:p>
          <a:p>
            <a:r>
              <a:rPr lang="en-US" sz="1800" b="1" dirty="0" smtClean="0"/>
              <a:t>FIN_WAIT:</a:t>
            </a:r>
            <a:r>
              <a:rPr lang="en-US" sz="1800" dirty="0" smtClean="0"/>
              <a:t> A TCP socket state indicating that a FIN has been sent, but the corresponding ACK from the other end hasn't been received yet.</a:t>
            </a:r>
          </a:p>
          <a:p>
            <a:r>
              <a:rPr lang="en-US" sz="1800" b="1" dirty="0" smtClean="0"/>
              <a:t>CLOSE_WAIT:</a:t>
            </a:r>
            <a:r>
              <a:rPr lang="en-US" sz="1800" dirty="0" smtClean="0"/>
              <a:t> A connection state that indicates that the connection has been closed at the TCP layer, but that the application that opened the socket hasn't released its hold on the socket yet.</a:t>
            </a:r>
          </a:p>
          <a:p>
            <a:r>
              <a:rPr lang="en-US" sz="1800" b="1" dirty="0" smtClean="0"/>
              <a:t>CLOSE:</a:t>
            </a:r>
            <a:r>
              <a:rPr lang="en-US" sz="1800" dirty="0" smtClean="0"/>
              <a:t> A connection state that indicates that the connection has been fully terminated, and that no further communication is possible.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Connection-Oriented Protocols</a:t>
            </a:r>
            <a:endParaRPr lang="en-US" dirty="0"/>
          </a:p>
        </p:txBody>
      </p:sp>
      <p:sp>
        <p:nvSpPr>
          <p:cNvPr id="3" name="Content Placeholder 2"/>
          <p:cNvSpPr>
            <a:spLocks noGrp="1"/>
          </p:cNvSpPr>
          <p:nvPr>
            <p:ph idx="1"/>
          </p:nvPr>
        </p:nvSpPr>
        <p:spPr/>
        <p:txBody>
          <a:bodyPr>
            <a:noAutofit/>
          </a:bodyPr>
          <a:lstStyle/>
          <a:p>
            <a:r>
              <a:rPr lang="en-US" sz="2400" b="1" dirty="0" smtClean="0"/>
              <a:t>Connection-oriented protocol:</a:t>
            </a:r>
            <a:r>
              <a:rPr lang="en-US" sz="2400" dirty="0" smtClean="0"/>
              <a:t> A data-transmission protocol that establishes a connection at the transport layer, and uses this to ensure that all data has been properly transmitted.</a:t>
            </a:r>
          </a:p>
          <a:p>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Connectionless Protocols</a:t>
            </a:r>
            <a:endParaRPr lang="en-US" dirty="0"/>
          </a:p>
        </p:txBody>
      </p:sp>
      <p:sp>
        <p:nvSpPr>
          <p:cNvPr id="3" name="Content Placeholder 2"/>
          <p:cNvSpPr>
            <a:spLocks noGrp="1"/>
          </p:cNvSpPr>
          <p:nvPr>
            <p:ph idx="1"/>
          </p:nvPr>
        </p:nvSpPr>
        <p:spPr/>
        <p:txBody>
          <a:bodyPr>
            <a:noAutofit/>
          </a:bodyPr>
          <a:lstStyle/>
          <a:p>
            <a:r>
              <a:rPr lang="en-US" sz="2400" b="1" dirty="0" smtClean="0"/>
              <a:t>Connectionless protocol:</a:t>
            </a:r>
            <a:r>
              <a:rPr lang="en-US" sz="2400" dirty="0" smtClean="0"/>
              <a:t> A data-transmission protocol that allows data to be exchanged without an established connection at the transport layer.</a:t>
            </a:r>
          </a:p>
          <a:p>
            <a:r>
              <a:rPr lang="en-US" sz="2400" dirty="0" smtClean="0"/>
              <a:t>The most common of these is known as UDP, or User Datagram Protocol</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User Datagram Protocol</a:t>
            </a:r>
            <a:endParaRPr lang="en-US" dirty="0"/>
          </a:p>
        </p:txBody>
      </p:sp>
      <p:sp>
        <p:nvSpPr>
          <p:cNvPr id="3" name="Content Placeholder 2"/>
          <p:cNvSpPr>
            <a:spLocks noGrp="1"/>
          </p:cNvSpPr>
          <p:nvPr>
            <p:ph idx="1"/>
          </p:nvPr>
        </p:nvSpPr>
        <p:spPr/>
        <p:txBody>
          <a:bodyPr>
            <a:noAutofit/>
          </a:bodyPr>
          <a:lstStyle/>
          <a:p>
            <a:r>
              <a:rPr lang="en-US" sz="2400" b="1" dirty="0" smtClean="0"/>
              <a:t>User Datagram Protocol (UDP):</a:t>
            </a:r>
            <a:r>
              <a:rPr lang="en-US" sz="2400" dirty="0" smtClean="0"/>
              <a:t> A transfer protocol that does not rely on connections.</a:t>
            </a:r>
          </a:p>
          <a:p>
            <a:r>
              <a:rPr lang="en-US" sz="2400" dirty="0" smtClean="0"/>
              <a:t>This protocol does not support the concept of an acknowledgement.</a:t>
            </a:r>
          </a:p>
          <a:p>
            <a:r>
              <a:rPr lang="en-US" sz="2400" dirty="0" smtClean="0"/>
              <a:t>With UDP, you just set </a:t>
            </a:r>
            <a:r>
              <a:rPr lang="en-US" sz="2400" i="1" dirty="0" smtClean="0">
                <a:solidFill>
                  <a:srgbClr val="C00000"/>
                </a:solidFill>
              </a:rPr>
              <a:t>a destination port</a:t>
            </a:r>
            <a:r>
              <a:rPr lang="en-US" sz="2400" dirty="0" smtClean="0"/>
              <a:t> and send the data packet.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UDP delivery is not guaranteed</a:t>
            </a:r>
            <a:endParaRPr lang="en-US" dirty="0"/>
          </a:p>
        </p:txBody>
      </p:sp>
      <p:sp>
        <p:nvSpPr>
          <p:cNvPr id="3" name="Content Placeholder 2"/>
          <p:cNvSpPr>
            <a:spLocks noGrp="1"/>
          </p:cNvSpPr>
          <p:nvPr>
            <p:ph idx="1"/>
          </p:nvPr>
        </p:nvSpPr>
        <p:spPr/>
        <p:txBody>
          <a:bodyPr/>
          <a:lstStyle/>
          <a:p>
            <a:r>
              <a:rPr lang="en-US" sz="2200" dirty="0" smtClean="0">
                <a:hlinkClick r:id="rId2"/>
              </a:rPr>
              <a:t>https://www.ibm.com/docs/en/aix/7.3?topic=protocols-user-datagram-protocol</a:t>
            </a:r>
            <a:endParaRPr lang="en-US" sz="2200" dirty="0" smtClean="0"/>
          </a:p>
          <a:p>
            <a:r>
              <a:rPr lang="en-US" sz="2200" b="1" dirty="0" smtClean="0"/>
              <a:t>UDP</a:t>
            </a:r>
            <a:r>
              <a:rPr lang="en-US" sz="2200" dirty="0" smtClean="0"/>
              <a:t> provides the same </a:t>
            </a:r>
            <a:r>
              <a:rPr lang="en-US" sz="2200" i="1" dirty="0" smtClean="0">
                <a:solidFill>
                  <a:srgbClr val="C00000"/>
                </a:solidFill>
              </a:rPr>
              <a:t>connectionless</a:t>
            </a:r>
            <a:r>
              <a:rPr lang="en-US" sz="2200" dirty="0" smtClean="0"/>
              <a:t> message delivery as </a:t>
            </a:r>
            <a:r>
              <a:rPr lang="en-US" sz="2200" b="1" dirty="0" smtClean="0"/>
              <a:t>IP</a:t>
            </a:r>
            <a:r>
              <a:rPr lang="en-US" sz="2200" dirty="0" smtClean="0"/>
              <a:t>.</a:t>
            </a:r>
          </a:p>
          <a:p>
            <a:r>
              <a:rPr lang="en-US" sz="2200" dirty="0" smtClean="0"/>
              <a:t>It offers </a:t>
            </a:r>
            <a:r>
              <a:rPr lang="en-US" sz="2200" u="sng" dirty="0" smtClean="0"/>
              <a:t>no assurance</a:t>
            </a:r>
            <a:r>
              <a:rPr lang="en-US" sz="2200" dirty="0" smtClean="0"/>
              <a:t> of datagram </a:t>
            </a:r>
            <a:r>
              <a:rPr lang="en-US" sz="2200" i="1" dirty="0" smtClean="0">
                <a:solidFill>
                  <a:srgbClr val="C00000"/>
                </a:solidFill>
              </a:rPr>
              <a:t>delivery</a:t>
            </a:r>
            <a:r>
              <a:rPr lang="en-US" sz="2200" dirty="0" smtClean="0"/>
              <a:t> or </a:t>
            </a:r>
            <a:r>
              <a:rPr lang="en-US" sz="2200" i="1" dirty="0" smtClean="0">
                <a:solidFill>
                  <a:srgbClr val="C00000"/>
                </a:solidFill>
              </a:rPr>
              <a:t>duplication</a:t>
            </a:r>
            <a:r>
              <a:rPr lang="en-US" sz="2200" dirty="0" smtClean="0"/>
              <a:t> protection.</a:t>
            </a:r>
          </a:p>
          <a:p>
            <a:r>
              <a:rPr lang="en-US" sz="2200" dirty="0" smtClean="0"/>
              <a:t>However, </a:t>
            </a:r>
            <a:r>
              <a:rPr lang="en-US" sz="2200" b="1" dirty="0" smtClean="0"/>
              <a:t>UDP</a:t>
            </a:r>
            <a:r>
              <a:rPr lang="en-US" sz="2200" dirty="0" smtClean="0"/>
              <a:t> does allow the sender to specify source and destination port numbers for the message and calculates a checksum of both the data and header. </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vs. UDP</a:t>
            </a:r>
            <a:endParaRPr lang="en-US" dirty="0"/>
          </a:p>
        </p:txBody>
      </p:sp>
      <p:sp>
        <p:nvSpPr>
          <p:cNvPr id="3" name="Content Placeholder 2"/>
          <p:cNvSpPr>
            <a:spLocks noGrp="1"/>
          </p:cNvSpPr>
          <p:nvPr>
            <p:ph idx="1"/>
          </p:nvPr>
        </p:nvSpPr>
        <p:spPr/>
        <p:txBody>
          <a:bodyPr/>
          <a:lstStyle/>
          <a:p>
            <a:r>
              <a:rPr lang="en-US" sz="2400" dirty="0" smtClean="0"/>
              <a:t>A TCP session:</a:t>
            </a:r>
          </a:p>
          <a:p>
            <a:pPr lvl="1"/>
            <a:r>
              <a:rPr lang="en-US" sz="2000" dirty="0" smtClean="0"/>
              <a:t>Client: Hello.</a:t>
            </a:r>
          </a:p>
          <a:p>
            <a:pPr lvl="1"/>
            <a:r>
              <a:rPr lang="en-US" sz="2000" dirty="0" smtClean="0"/>
              <a:t>Server: Okay. Hello.</a:t>
            </a:r>
          </a:p>
          <a:p>
            <a:pPr lvl="1"/>
            <a:r>
              <a:rPr lang="en-US" sz="2000" dirty="0" smtClean="0"/>
              <a:t>Client: Okay. Here is my question.</a:t>
            </a:r>
          </a:p>
          <a:p>
            <a:pPr lvl="1"/>
            <a:r>
              <a:rPr lang="en-US" sz="2000" dirty="0" smtClean="0"/>
              <a:t>Server: Okay. Server: Here is your answer</a:t>
            </a:r>
          </a:p>
          <a:p>
            <a:pPr lvl="1"/>
            <a:r>
              <a:rPr lang="en-US" sz="2000" dirty="0" smtClean="0"/>
              <a:t>Client: Okay.</a:t>
            </a:r>
          </a:p>
          <a:p>
            <a:pPr lvl="1"/>
            <a:r>
              <a:rPr lang="en-US" sz="2000" dirty="0" smtClean="0"/>
              <a:t>Client: Bye.</a:t>
            </a:r>
          </a:p>
          <a:p>
            <a:pPr lvl="1"/>
            <a:r>
              <a:rPr lang="en-US" sz="2000" dirty="0" smtClean="0"/>
              <a:t>Server: Gotcha. Bye yourself.</a:t>
            </a:r>
          </a:p>
          <a:p>
            <a:pPr lvl="1"/>
            <a:r>
              <a:rPr lang="en-US" sz="2000" dirty="0" smtClean="0"/>
              <a:t>Client: Okay.</a:t>
            </a:r>
          </a:p>
          <a:p>
            <a:r>
              <a:rPr lang="en-US" sz="2400" dirty="0" smtClean="0"/>
              <a:t>A UDP transaction:</a:t>
            </a:r>
          </a:p>
          <a:p>
            <a:pPr lvl="1"/>
            <a:r>
              <a:rPr lang="en-US" sz="2000" dirty="0" smtClean="0"/>
              <a:t>Client: Here's my question.</a:t>
            </a:r>
          </a:p>
          <a:p>
            <a:pPr lvl="1"/>
            <a:r>
              <a:rPr lang="en-US" sz="2000" dirty="0" smtClean="0"/>
              <a:t>Server: Here's the answer.</a:t>
            </a:r>
          </a:p>
          <a:p>
            <a:endParaRPr lang="en-US" sz="2400" dirty="0"/>
          </a:p>
        </p:txBody>
      </p:sp>
      <p:pic>
        <p:nvPicPr>
          <p:cNvPr id="5" name="Picture 2" descr="https://assets-global.website-files.com/5ff66329429d880392f6cba2/627cb380a65b450ed5e16988_TCP%20vs%20UDP.jpg"/>
          <p:cNvPicPr>
            <a:picLocks noChangeAspect="1" noChangeArrowheads="1"/>
          </p:cNvPicPr>
          <p:nvPr/>
        </p:nvPicPr>
        <p:blipFill>
          <a:blip r:embed="rId2" cstate="print"/>
          <a:srcRect/>
          <a:stretch>
            <a:fillRect/>
          </a:stretch>
        </p:blipFill>
        <p:spPr bwMode="auto">
          <a:xfrm>
            <a:off x="4800600" y="4267200"/>
            <a:ext cx="3810000" cy="184785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vs. UDP Detail</a:t>
            </a:r>
            <a:endParaRPr lang="en-US" dirty="0"/>
          </a:p>
        </p:txBody>
      </p:sp>
      <p:graphicFrame>
        <p:nvGraphicFramePr>
          <p:cNvPr id="4" name="Content Placeholder 3"/>
          <p:cNvGraphicFramePr>
            <a:graphicFrameLocks noGrp="1"/>
          </p:cNvGraphicFramePr>
          <p:nvPr>
            <p:ph idx="1"/>
          </p:nvPr>
        </p:nvGraphicFramePr>
        <p:xfrm>
          <a:off x="762001" y="1390690"/>
          <a:ext cx="7543800" cy="5226159"/>
        </p:xfrm>
        <a:graphic>
          <a:graphicData uri="http://schemas.openxmlformats.org/drawingml/2006/table">
            <a:tbl>
              <a:tblPr firstRow="1" firstCol="1">
                <a:tableStyleId>{3C2FFA5D-87B4-456A-9821-1D502468CF0F}</a:tableStyleId>
              </a:tblPr>
              <a:tblGrid>
                <a:gridCol w="1828799"/>
                <a:gridCol w="3200401"/>
                <a:gridCol w="2514600"/>
              </a:tblGrid>
              <a:tr h="98928">
                <a:tc>
                  <a:txBody>
                    <a:bodyPr/>
                    <a:lstStyle/>
                    <a:p>
                      <a:endParaRPr lang="en-US" sz="1200" dirty="0"/>
                    </a:p>
                  </a:txBody>
                  <a:tcPr marL="24732" marR="24732" marT="12366" marB="12366" anchor="ctr"/>
                </a:tc>
                <a:tc>
                  <a:txBody>
                    <a:bodyPr/>
                    <a:lstStyle/>
                    <a:p>
                      <a:r>
                        <a:rPr lang="en-US" sz="1200"/>
                        <a:t>TCP</a:t>
                      </a:r>
                    </a:p>
                  </a:txBody>
                  <a:tcPr marL="24732" marR="24732" marT="12366" marB="12366" anchor="ctr"/>
                </a:tc>
                <a:tc>
                  <a:txBody>
                    <a:bodyPr/>
                    <a:lstStyle/>
                    <a:p>
                      <a:r>
                        <a:rPr lang="en-US" sz="1200"/>
                        <a:t>UDP</a:t>
                      </a:r>
                    </a:p>
                  </a:txBody>
                  <a:tcPr marL="24732" marR="24732" marT="12366" marB="12366" anchor="ctr"/>
                </a:tc>
              </a:tr>
              <a:tr h="766693">
                <a:tc>
                  <a:txBody>
                    <a:bodyPr/>
                    <a:lstStyle/>
                    <a:p>
                      <a:r>
                        <a:rPr lang="en-US" sz="1200" dirty="0"/>
                        <a:t>Connection Type</a:t>
                      </a:r>
                    </a:p>
                  </a:txBody>
                  <a:tcPr marL="24732" marR="24732" marT="12366" marB="12366" anchor="ctr"/>
                </a:tc>
                <a:tc>
                  <a:txBody>
                    <a:bodyPr/>
                    <a:lstStyle/>
                    <a:p>
                      <a:r>
                        <a:rPr lang="en-US" sz="1200" dirty="0"/>
                        <a:t>Connection-oriented — The device must establish a connection before transmitting data (handshake included) and close the connection after transmission.</a:t>
                      </a:r>
                    </a:p>
                  </a:txBody>
                  <a:tcPr marL="24732" marR="24732" marT="12366" marB="12366" anchor="ctr"/>
                </a:tc>
                <a:tc>
                  <a:txBody>
                    <a:bodyPr/>
                    <a:lstStyle/>
                    <a:p>
                      <a:r>
                        <a:rPr lang="en-US" sz="1200" dirty="0"/>
                        <a:t>Connectionless — No connection and no handshake are required to send data.</a:t>
                      </a:r>
                    </a:p>
                  </a:txBody>
                  <a:tcPr marL="24732" marR="24732" marT="12366" marB="12366" anchor="ctr"/>
                </a:tc>
              </a:tr>
              <a:tr h="247320">
                <a:tc>
                  <a:txBody>
                    <a:bodyPr/>
                    <a:lstStyle/>
                    <a:p>
                      <a:r>
                        <a:rPr lang="en-US" sz="1200"/>
                        <a:t>Reliability</a:t>
                      </a:r>
                    </a:p>
                  </a:txBody>
                  <a:tcPr marL="24732" marR="24732" marT="12366" marB="12366" anchor="ctr"/>
                </a:tc>
                <a:tc>
                  <a:txBody>
                    <a:bodyPr/>
                    <a:lstStyle/>
                    <a:p>
                      <a:r>
                        <a:rPr lang="en-US" sz="1200"/>
                        <a:t>Reliable — Data packet delivery is guaranteed.</a:t>
                      </a:r>
                    </a:p>
                  </a:txBody>
                  <a:tcPr marL="24732" marR="24732" marT="12366" marB="12366" anchor="ctr"/>
                </a:tc>
                <a:tc>
                  <a:txBody>
                    <a:bodyPr/>
                    <a:lstStyle/>
                    <a:p>
                      <a:r>
                        <a:rPr lang="en-US" sz="1200"/>
                        <a:t>Unreliable — Datagrams delivery isn’t guaranteed.</a:t>
                      </a:r>
                    </a:p>
                  </a:txBody>
                  <a:tcPr marL="24732" marR="24732" marT="12366" marB="12366" anchor="ctr"/>
                </a:tc>
              </a:tr>
              <a:tr h="395713">
                <a:tc>
                  <a:txBody>
                    <a:bodyPr/>
                    <a:lstStyle/>
                    <a:p>
                      <a:r>
                        <a:rPr lang="en-US" sz="1200" dirty="0"/>
                        <a:t>Communication Information Type</a:t>
                      </a:r>
                    </a:p>
                  </a:txBody>
                  <a:tcPr marL="24732" marR="24732" marT="12366" marB="12366" anchor="ctr"/>
                </a:tc>
                <a:tc>
                  <a:txBody>
                    <a:bodyPr/>
                    <a:lstStyle/>
                    <a:p>
                      <a:r>
                        <a:rPr lang="en-US" sz="1200" dirty="0" err="1"/>
                        <a:t>Stateful</a:t>
                      </a:r>
                      <a:r>
                        <a:rPr lang="en-US" sz="1200" dirty="0"/>
                        <a:t> —The client and the server keep the information about the session.</a:t>
                      </a:r>
                    </a:p>
                  </a:txBody>
                  <a:tcPr marL="24732" marR="24732" marT="12366" marB="12366" anchor="ctr"/>
                </a:tc>
                <a:tc>
                  <a:txBody>
                    <a:bodyPr/>
                    <a:lstStyle/>
                    <a:p>
                      <a:r>
                        <a:rPr lang="en-US" sz="1200"/>
                        <a:t>Stateless — The server doesn’t keep any information about the session.</a:t>
                      </a:r>
                    </a:p>
                  </a:txBody>
                  <a:tcPr marL="24732" marR="24732" marT="12366" marB="12366" anchor="ctr"/>
                </a:tc>
              </a:tr>
              <a:tr h="247320">
                <a:tc>
                  <a:txBody>
                    <a:bodyPr/>
                    <a:lstStyle/>
                    <a:p>
                      <a:r>
                        <a:rPr lang="en-US" sz="1200"/>
                        <a:t>Header Size</a:t>
                      </a:r>
                    </a:p>
                  </a:txBody>
                  <a:tcPr marL="24732" marR="24732" marT="12366" marB="12366" anchor="ctr"/>
                </a:tc>
                <a:tc>
                  <a:txBody>
                    <a:bodyPr/>
                    <a:lstStyle/>
                    <a:p>
                      <a:r>
                        <a:rPr lang="en-US" sz="1200" dirty="0"/>
                        <a:t>Variable — 20-60 bytes header length.</a:t>
                      </a:r>
                    </a:p>
                  </a:txBody>
                  <a:tcPr marL="24732" marR="24732" marT="12366" marB="12366" anchor="ctr"/>
                </a:tc>
                <a:tc>
                  <a:txBody>
                    <a:bodyPr/>
                    <a:lstStyle/>
                    <a:p>
                      <a:r>
                        <a:rPr lang="en-US" sz="1200"/>
                        <a:t>Fixed — 8 bytes.</a:t>
                      </a:r>
                    </a:p>
                  </a:txBody>
                  <a:tcPr marL="24732" marR="24732" marT="12366" marB="12366" anchor="ctr"/>
                </a:tc>
              </a:tr>
              <a:tr h="321516">
                <a:tc>
                  <a:txBody>
                    <a:bodyPr/>
                    <a:lstStyle/>
                    <a:p>
                      <a:r>
                        <a:rPr lang="en-US" sz="1200"/>
                        <a:t>Speed</a:t>
                      </a:r>
                    </a:p>
                  </a:txBody>
                  <a:tcPr marL="24732" marR="24732" marT="12366" marB="12366" anchor="ctr"/>
                </a:tc>
                <a:tc>
                  <a:txBody>
                    <a:bodyPr/>
                    <a:lstStyle/>
                    <a:p>
                      <a:r>
                        <a:rPr lang="en-US" sz="1200"/>
                        <a:t>Slower than UDP as it follows many steps to ensure accuracy.</a:t>
                      </a:r>
                    </a:p>
                  </a:txBody>
                  <a:tcPr marL="24732" marR="24732" marT="12366" marB="12366" anchor="ctr"/>
                </a:tc>
                <a:tc>
                  <a:txBody>
                    <a:bodyPr/>
                    <a:lstStyle/>
                    <a:p>
                      <a:r>
                        <a:rPr lang="en-US" sz="1200"/>
                        <a:t>Faster than TCP as it’s a much simpler protocol.  </a:t>
                      </a:r>
                    </a:p>
                  </a:txBody>
                  <a:tcPr marL="24732" marR="24732" marT="12366" marB="12366" anchor="ctr"/>
                </a:tc>
              </a:tr>
              <a:tr h="544105">
                <a:tc>
                  <a:txBody>
                    <a:bodyPr/>
                    <a:lstStyle/>
                    <a:p>
                      <a:r>
                        <a:rPr lang="en-US" sz="1200"/>
                        <a:t>Sequence</a:t>
                      </a:r>
                    </a:p>
                  </a:txBody>
                  <a:tcPr marL="24732" marR="24732" marT="12366" marB="12366" anchor="ctr"/>
                </a:tc>
                <a:tc>
                  <a:txBody>
                    <a:bodyPr/>
                    <a:lstStyle/>
                    <a:p>
                      <a:r>
                        <a:rPr lang="en-US" sz="1200"/>
                        <a:t>All packets are delivered to the recipient in a specific order.</a:t>
                      </a:r>
                    </a:p>
                  </a:txBody>
                  <a:tcPr marL="24732" marR="24732" marT="12366" marB="12366" anchor="ctr"/>
                </a:tc>
                <a:tc>
                  <a:txBody>
                    <a:bodyPr/>
                    <a:lstStyle/>
                    <a:p>
                      <a:r>
                        <a:rPr lang="en-US" sz="1200"/>
                        <a:t>Datagrams are delivered in no specific order. If it’s required a kind of order, it has to be managed by the application.</a:t>
                      </a:r>
                    </a:p>
                  </a:txBody>
                  <a:tcPr marL="24732" marR="24732" marT="12366" marB="12366" anchor="ctr"/>
                </a:tc>
              </a:tr>
              <a:tr h="321516">
                <a:tc>
                  <a:txBody>
                    <a:bodyPr/>
                    <a:lstStyle/>
                    <a:p>
                      <a:r>
                        <a:rPr lang="en-US" sz="1200"/>
                        <a:t>Broadcast Support</a:t>
                      </a:r>
                    </a:p>
                  </a:txBody>
                  <a:tcPr marL="24732" marR="24732" marT="12366" marB="12366" anchor="ctr"/>
                </a:tc>
                <a:tc>
                  <a:txBody>
                    <a:bodyPr/>
                    <a:lstStyle/>
                    <a:p>
                      <a:r>
                        <a:rPr lang="en-US" sz="1200"/>
                        <a:t>No broadcast or multicast are supported.</a:t>
                      </a:r>
                    </a:p>
                  </a:txBody>
                  <a:tcPr marL="24732" marR="24732" marT="12366" marB="12366" anchor="ctr"/>
                </a:tc>
                <a:tc>
                  <a:txBody>
                    <a:bodyPr/>
                    <a:lstStyle/>
                    <a:p>
                      <a:r>
                        <a:rPr lang="en-US" sz="1200"/>
                        <a:t>Broadcast and multicast are supported in addition to unicast.</a:t>
                      </a:r>
                    </a:p>
                  </a:txBody>
                  <a:tcPr marL="24732" marR="24732" marT="12366" marB="12366" anchor="ctr"/>
                </a:tc>
              </a:tr>
              <a:tr h="469909">
                <a:tc>
                  <a:txBody>
                    <a:bodyPr/>
                    <a:lstStyle/>
                    <a:p>
                      <a:r>
                        <a:rPr lang="en-US" sz="1200"/>
                        <a:t>Error Detection Mechanism</a:t>
                      </a:r>
                    </a:p>
                  </a:txBody>
                  <a:tcPr marL="24732" marR="24732" marT="12366" marB="12366" anchor="ctr"/>
                </a:tc>
                <a:tc>
                  <a:txBody>
                    <a:bodyPr/>
                    <a:lstStyle/>
                    <a:p>
                      <a:r>
                        <a:rPr lang="en-US" sz="1200"/>
                        <a:t>Extensive error detection provided: Flow control. Congestion control. Acknowledgment of data.</a:t>
                      </a:r>
                    </a:p>
                  </a:txBody>
                  <a:tcPr marL="24732" marR="24732" marT="12366" marB="12366" anchor="ctr"/>
                </a:tc>
                <a:tc>
                  <a:txBody>
                    <a:bodyPr/>
                    <a:lstStyle/>
                    <a:p>
                      <a:r>
                        <a:rPr lang="en-US" sz="1200"/>
                        <a:t>Basic error detection provided: Checksums.</a:t>
                      </a:r>
                    </a:p>
                  </a:txBody>
                  <a:tcPr marL="24732" marR="24732" marT="12366" marB="12366" anchor="ctr"/>
                </a:tc>
              </a:tr>
              <a:tr h="98928">
                <a:tc>
                  <a:txBody>
                    <a:bodyPr/>
                    <a:lstStyle/>
                    <a:p>
                      <a:r>
                        <a:rPr lang="en-US" sz="1200"/>
                        <a:t>Overhead</a:t>
                      </a:r>
                    </a:p>
                  </a:txBody>
                  <a:tcPr marL="24732" marR="24732" marT="12366" marB="12366" anchor="ctr"/>
                </a:tc>
                <a:tc>
                  <a:txBody>
                    <a:bodyPr/>
                    <a:lstStyle/>
                    <a:p>
                      <a:r>
                        <a:rPr lang="en-US" sz="1200"/>
                        <a:t>Resource intensive.</a:t>
                      </a:r>
                    </a:p>
                  </a:txBody>
                  <a:tcPr marL="24732" marR="24732" marT="12366" marB="12366" anchor="ctr"/>
                </a:tc>
                <a:tc>
                  <a:txBody>
                    <a:bodyPr/>
                    <a:lstStyle/>
                    <a:p>
                      <a:r>
                        <a:rPr lang="en-US" sz="1200"/>
                        <a:t>Lightweight.</a:t>
                      </a:r>
                    </a:p>
                  </a:txBody>
                  <a:tcPr marL="24732" marR="24732" marT="12366" marB="12366" anchor="ctr"/>
                </a:tc>
              </a:tr>
              <a:tr h="247320">
                <a:tc>
                  <a:txBody>
                    <a:bodyPr/>
                    <a:lstStyle/>
                    <a:p>
                      <a:r>
                        <a:rPr lang="en-US" sz="1200"/>
                        <a:t>Protocols</a:t>
                      </a:r>
                    </a:p>
                  </a:txBody>
                  <a:tcPr marL="24732" marR="24732" marT="12366" marB="12366" anchor="ctr"/>
                </a:tc>
                <a:tc>
                  <a:txBody>
                    <a:bodyPr/>
                    <a:lstStyle/>
                    <a:p>
                      <a:r>
                        <a:rPr lang="en-US" sz="1200"/>
                        <a:t>HTTP, HTTPs, FTP, SMTP, and Telnet.</a:t>
                      </a:r>
                    </a:p>
                  </a:txBody>
                  <a:tcPr marL="24732" marR="24732" marT="12366" marB="12366" anchor="ctr"/>
                </a:tc>
                <a:tc>
                  <a:txBody>
                    <a:bodyPr/>
                    <a:lstStyle/>
                    <a:p>
                      <a:r>
                        <a:rPr lang="en-US" sz="1200"/>
                        <a:t>DNS, DHCP, TFTP, SNMP, RIP, and VoIP.</a:t>
                      </a:r>
                    </a:p>
                  </a:txBody>
                  <a:tcPr marL="24732" marR="24732" marT="12366" marB="12366" anchor="ctr"/>
                </a:tc>
              </a:tr>
              <a:tr h="766693">
                <a:tc>
                  <a:txBody>
                    <a:bodyPr/>
                    <a:lstStyle/>
                    <a:p>
                      <a:r>
                        <a:rPr lang="en-US" sz="1200"/>
                        <a:t>Applications</a:t>
                      </a:r>
                    </a:p>
                  </a:txBody>
                  <a:tcPr marL="24732" marR="24732" marT="12366" marB="12366" anchor="ctr"/>
                </a:tc>
                <a:tc>
                  <a:txBody>
                    <a:bodyPr/>
                    <a:lstStyle/>
                    <a:p>
                      <a:r>
                        <a:rPr lang="en-US" sz="1200"/>
                        <a:t>Web browsing. File transfer. Email (SMTP, IMAP/POP)</a:t>
                      </a:r>
                    </a:p>
                  </a:txBody>
                  <a:tcPr marL="24732" marR="24732" marT="12366" marB="12366" anchor="ctr"/>
                </a:tc>
                <a:tc>
                  <a:txBody>
                    <a:bodyPr/>
                    <a:lstStyle/>
                    <a:p>
                      <a:r>
                        <a:rPr lang="en-US" sz="1200" dirty="0"/>
                        <a:t>VPN. Video and music streaming. Online games, multiplayer games. Live broadcasts and video conferencing. Domain name system (DNS) queries. Voice over IP (VoIP).</a:t>
                      </a:r>
                    </a:p>
                  </a:txBody>
                  <a:tcPr marL="24732" marR="24732" marT="12366" marB="12366"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TCP and </a:t>
            </a:r>
            <a:r>
              <a:rPr lang="en-US" dirty="0" err="1" smtClean="0"/>
              <a:t>Unicast</a:t>
            </a:r>
            <a:endParaRPr lang="en-US" dirty="0"/>
          </a:p>
        </p:txBody>
      </p:sp>
      <p:sp>
        <p:nvSpPr>
          <p:cNvPr id="3" name="Content Placeholder 2"/>
          <p:cNvSpPr>
            <a:spLocks noGrp="1"/>
          </p:cNvSpPr>
          <p:nvPr>
            <p:ph idx="1"/>
          </p:nvPr>
        </p:nvSpPr>
        <p:spPr/>
        <p:txBody>
          <a:bodyPr/>
          <a:lstStyle/>
          <a:p>
            <a:r>
              <a:rPr lang="en-US" sz="2400" dirty="0" smtClean="0"/>
              <a:t>TCP is a connection-oriented protocol that implies a connection </a:t>
            </a:r>
            <a:r>
              <a:rPr lang="en-US" sz="2400" i="1" dirty="0" smtClean="0">
                <a:solidFill>
                  <a:srgbClr val="C00000"/>
                </a:solidFill>
              </a:rPr>
              <a:t>between two hosts</a:t>
            </a:r>
            <a:r>
              <a:rPr lang="en-US" sz="2400" dirty="0" smtClean="0"/>
              <a:t> (specified by IP addresses) and one process on each host (specified by port numbers).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UDP and Broadcast and Multicast</a:t>
            </a:r>
            <a:endParaRPr lang="en-US" dirty="0"/>
          </a:p>
        </p:txBody>
      </p:sp>
      <p:sp>
        <p:nvSpPr>
          <p:cNvPr id="3" name="Content Placeholder 2"/>
          <p:cNvSpPr>
            <a:spLocks noGrp="1"/>
          </p:cNvSpPr>
          <p:nvPr>
            <p:ph idx="1"/>
          </p:nvPr>
        </p:nvSpPr>
        <p:spPr/>
        <p:txBody>
          <a:bodyPr/>
          <a:lstStyle/>
          <a:p>
            <a:r>
              <a:rPr lang="en-US" sz="2400" dirty="0" smtClean="0"/>
              <a:t>Broadcasting and multicasting only </a:t>
            </a:r>
            <a:r>
              <a:rPr lang="en-US" sz="2400" i="1" dirty="0" smtClean="0">
                <a:solidFill>
                  <a:srgbClr val="C00000"/>
                </a:solidFill>
              </a:rPr>
              <a:t>apply to UDP</a:t>
            </a:r>
            <a:r>
              <a:rPr lang="en-US" sz="2400" dirty="0" smtClean="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Firewalls</a:t>
            </a:r>
            <a:endParaRPr lang="en-US" dirty="0"/>
          </a:p>
        </p:txBody>
      </p:sp>
      <p:sp>
        <p:nvSpPr>
          <p:cNvPr id="3" name="Content Placeholder 2"/>
          <p:cNvSpPr>
            <a:spLocks noGrp="1"/>
          </p:cNvSpPr>
          <p:nvPr>
            <p:ph idx="1"/>
          </p:nvPr>
        </p:nvSpPr>
        <p:spPr/>
        <p:txBody>
          <a:bodyPr>
            <a:noAutofit/>
          </a:bodyPr>
          <a:lstStyle/>
          <a:p>
            <a:r>
              <a:rPr lang="en-US" sz="1800" dirty="0" smtClean="0"/>
              <a:t>Ports allow services to send data to your computer but can also send malware into a client program. </a:t>
            </a:r>
          </a:p>
          <a:p>
            <a:r>
              <a:rPr lang="en-US" sz="1800" dirty="0" smtClean="0"/>
              <a:t>Malicious actors might also use port scanning to search for open and unsecured ports or to find weak points in your network security.</a:t>
            </a:r>
          </a:p>
          <a:p>
            <a:r>
              <a:rPr lang="en-US" sz="1800" dirty="0" smtClean="0"/>
              <a:t>To protect your network, you should use a firewall to secure your ports and only open sockets as needed.</a:t>
            </a:r>
          </a:p>
          <a:p>
            <a:r>
              <a:rPr lang="en-US" sz="1800" b="1" dirty="0" smtClean="0"/>
              <a:t>Firewall: </a:t>
            </a:r>
            <a:r>
              <a:rPr lang="en-US" sz="1800" dirty="0" smtClean="0"/>
              <a:t>It is a device that blocks or allows traffic based on established rules.</a:t>
            </a:r>
          </a:p>
        </p:txBody>
      </p:sp>
      <p:pic>
        <p:nvPicPr>
          <p:cNvPr id="44034" name="Picture 2"/>
          <p:cNvPicPr>
            <a:picLocks noChangeAspect="1" noChangeArrowheads="1"/>
          </p:cNvPicPr>
          <p:nvPr/>
        </p:nvPicPr>
        <p:blipFill>
          <a:blip r:embed="rId2" cstate="print"/>
          <a:srcRect/>
          <a:stretch>
            <a:fillRect/>
          </a:stretch>
        </p:blipFill>
        <p:spPr bwMode="auto">
          <a:xfrm>
            <a:off x="2743200" y="4038600"/>
            <a:ext cx="3554694" cy="2128161"/>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Layer Goal</a:t>
            </a:r>
            <a:endParaRPr lang="en-US" dirty="0"/>
          </a:p>
        </p:txBody>
      </p:sp>
      <p:sp>
        <p:nvSpPr>
          <p:cNvPr id="3" name="Content Placeholder 2"/>
          <p:cNvSpPr>
            <a:spLocks noGrp="1"/>
          </p:cNvSpPr>
          <p:nvPr>
            <p:ph idx="1"/>
          </p:nvPr>
        </p:nvSpPr>
        <p:spPr/>
        <p:txBody>
          <a:bodyPr>
            <a:noAutofit/>
          </a:bodyPr>
          <a:lstStyle/>
          <a:p>
            <a:r>
              <a:rPr lang="en-US" sz="2400" dirty="0" smtClean="0"/>
              <a:t>The ultimate goal of the transport layer is to provide efficient, reliable, and cost-effective </a:t>
            </a:r>
            <a:r>
              <a:rPr lang="en-US" sz="2400" i="1" dirty="0" smtClean="0">
                <a:solidFill>
                  <a:srgbClr val="C00000"/>
                </a:solidFill>
              </a:rPr>
              <a:t>data transmission service</a:t>
            </a:r>
            <a:r>
              <a:rPr lang="en-US" sz="2400" dirty="0" smtClean="0"/>
              <a:t> to its users, normally processes in the application layer.</a:t>
            </a:r>
          </a:p>
          <a:p>
            <a:r>
              <a:rPr lang="en-US" sz="2400" dirty="0" smtClean="0"/>
              <a:t>To achieve this, the transport layer makes use of the services provided by the network layer.</a:t>
            </a:r>
          </a:p>
          <a:p>
            <a:r>
              <a:rPr lang="en-US" sz="2400" dirty="0" smtClean="0"/>
              <a:t>The </a:t>
            </a:r>
            <a:r>
              <a:rPr lang="en-US" sz="2400" u="sng" dirty="0" smtClean="0"/>
              <a:t>software</a:t>
            </a:r>
            <a:r>
              <a:rPr lang="en-US" sz="2400" dirty="0" smtClean="0"/>
              <a:t> and/or </a:t>
            </a:r>
            <a:r>
              <a:rPr lang="en-US" sz="2400" u="sng" dirty="0" smtClean="0"/>
              <a:t>hardware</a:t>
            </a:r>
            <a:r>
              <a:rPr lang="en-US" sz="2400" dirty="0" smtClean="0"/>
              <a:t> within the transport layer that does the work is called the </a:t>
            </a:r>
            <a:r>
              <a:rPr lang="en-US" sz="2400" i="1" dirty="0" smtClean="0">
                <a:solidFill>
                  <a:srgbClr val="C00000"/>
                </a:solidFill>
              </a:rPr>
              <a:t>transport entity</a:t>
            </a:r>
            <a:r>
              <a:rPr lang="en-US" sz="2400" dirty="0" smtClean="0"/>
              <a:t>.</a:t>
            </a:r>
          </a:p>
          <a:p>
            <a:r>
              <a:rPr lang="en-US" sz="2400" dirty="0" smtClean="0"/>
              <a:t>The transport entity can be </a:t>
            </a:r>
            <a:r>
              <a:rPr lang="en-US" sz="2400" i="1" dirty="0" smtClean="0">
                <a:solidFill>
                  <a:srgbClr val="C00000"/>
                </a:solidFill>
              </a:rPr>
              <a:t>located in</a:t>
            </a:r>
            <a:r>
              <a:rPr lang="en-US" sz="2400" dirty="0" smtClean="0"/>
              <a:t> the </a:t>
            </a:r>
            <a:r>
              <a:rPr lang="en-US" sz="2400" u="sng" dirty="0" smtClean="0"/>
              <a:t>operating system kernel</a:t>
            </a:r>
            <a:r>
              <a:rPr lang="en-US" sz="2400" dirty="0" smtClean="0"/>
              <a:t>, in a </a:t>
            </a:r>
            <a:r>
              <a:rPr lang="en-US" sz="2400" u="sng" dirty="0" smtClean="0"/>
              <a:t>library package</a:t>
            </a:r>
            <a:r>
              <a:rPr lang="en-US" sz="2400" dirty="0" smtClean="0"/>
              <a:t> bound into network applications, in a separate user </a:t>
            </a:r>
            <a:r>
              <a:rPr lang="en-US" sz="2400" u="sng" dirty="0" smtClean="0"/>
              <a:t>process</a:t>
            </a:r>
            <a:r>
              <a:rPr lang="en-US" sz="2400" dirty="0" smtClean="0"/>
              <a:t>, or even on the </a:t>
            </a:r>
            <a:r>
              <a:rPr lang="en-US" sz="2400" u="sng" dirty="0" smtClean="0"/>
              <a:t>network interface card</a:t>
            </a:r>
            <a:r>
              <a:rPr lang="en-US" sz="2400" dirty="0" smtClean="0"/>
              <a:t>. The first two options are most common on the Internet.</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Service Types</a:t>
            </a:r>
            <a:endParaRPr lang="en-US" dirty="0"/>
          </a:p>
        </p:txBody>
      </p:sp>
      <p:sp>
        <p:nvSpPr>
          <p:cNvPr id="3" name="Content Placeholder 2"/>
          <p:cNvSpPr>
            <a:spLocks noGrp="1"/>
          </p:cNvSpPr>
          <p:nvPr>
            <p:ph idx="1"/>
          </p:nvPr>
        </p:nvSpPr>
        <p:spPr/>
        <p:txBody>
          <a:bodyPr>
            <a:noAutofit/>
          </a:bodyPr>
          <a:lstStyle/>
          <a:p>
            <a:r>
              <a:rPr lang="en-US" sz="2400" dirty="0" smtClean="0"/>
              <a:t>Just as there are two types of network service, connection-oriented and connectionless, there are also two types of transport service.</a:t>
            </a:r>
          </a:p>
          <a:p>
            <a:r>
              <a:rPr lang="en-US" sz="2400" dirty="0" smtClean="0"/>
              <a:t>The </a:t>
            </a:r>
            <a:r>
              <a:rPr lang="en-US" sz="2400" i="1" dirty="0" smtClean="0">
                <a:solidFill>
                  <a:srgbClr val="C00000"/>
                </a:solidFill>
              </a:rPr>
              <a:t>connection-oriented transport service</a:t>
            </a:r>
            <a:r>
              <a:rPr lang="en-US" sz="2400" dirty="0" smtClean="0"/>
              <a:t> is similar to the connection-oriented network service in many ways.</a:t>
            </a:r>
          </a:p>
          <a:p>
            <a:r>
              <a:rPr lang="en-US" sz="2400" dirty="0" smtClean="0"/>
              <a:t>In both cases, connections have three phases: establishment, data transfer, and release.</a:t>
            </a:r>
          </a:p>
          <a:p>
            <a:r>
              <a:rPr lang="en-US" sz="2400" dirty="0" smtClean="0"/>
              <a:t>Addressing and flow control are also similar in both layers.</a:t>
            </a:r>
          </a:p>
          <a:p>
            <a:r>
              <a:rPr lang="en-US" sz="2400" dirty="0" smtClean="0"/>
              <a:t>Furthermore, the </a:t>
            </a:r>
            <a:r>
              <a:rPr lang="en-US" sz="2400" i="1" dirty="0" smtClean="0">
                <a:solidFill>
                  <a:srgbClr val="C00000"/>
                </a:solidFill>
              </a:rPr>
              <a:t>connectionless transport service</a:t>
            </a:r>
            <a:r>
              <a:rPr lang="en-US" sz="2400" dirty="0" smtClean="0"/>
              <a:t> is also very similar to the connectionless network service.</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vs. Network Service (I)</a:t>
            </a:r>
            <a:endParaRPr lang="en-US" dirty="0"/>
          </a:p>
        </p:txBody>
      </p:sp>
      <p:sp>
        <p:nvSpPr>
          <p:cNvPr id="3" name="Content Placeholder 2"/>
          <p:cNvSpPr>
            <a:spLocks noGrp="1"/>
          </p:cNvSpPr>
          <p:nvPr>
            <p:ph idx="1"/>
          </p:nvPr>
        </p:nvSpPr>
        <p:spPr/>
        <p:txBody>
          <a:bodyPr>
            <a:noAutofit/>
          </a:bodyPr>
          <a:lstStyle/>
          <a:p>
            <a:r>
              <a:rPr lang="en-US" sz="2400" dirty="0" smtClean="0"/>
              <a:t>The transport code runs entirely on the </a:t>
            </a:r>
            <a:r>
              <a:rPr lang="en-US" sz="2400" i="1" dirty="0" smtClean="0">
                <a:solidFill>
                  <a:srgbClr val="C00000"/>
                </a:solidFill>
              </a:rPr>
              <a:t>users’ machines</a:t>
            </a:r>
            <a:r>
              <a:rPr lang="en-US" sz="2400" dirty="0" smtClean="0"/>
              <a:t>, but the network layer mostly runs on the </a:t>
            </a:r>
            <a:r>
              <a:rPr lang="en-US" sz="2400" i="1" dirty="0" smtClean="0">
                <a:solidFill>
                  <a:srgbClr val="C00000"/>
                </a:solidFill>
              </a:rPr>
              <a:t>routers</a:t>
            </a:r>
            <a:r>
              <a:rPr lang="en-US" sz="2400" dirty="0" smtClean="0"/>
              <a:t>, which are operated by the carrier (at least for a wide area network).</a:t>
            </a:r>
          </a:p>
          <a:p>
            <a:r>
              <a:rPr lang="en-US" sz="2400" dirty="0" smtClean="0"/>
              <a:t>What happens if the network layer offers inadequate service? What if it frequently loses packets? What happens if routers crash from time to time?</a:t>
            </a:r>
          </a:p>
          <a:p>
            <a:r>
              <a:rPr lang="en-US" sz="2400" dirty="0" smtClean="0"/>
              <a:t>The users have no real </a:t>
            </a:r>
            <a:r>
              <a:rPr lang="en-US" sz="2400" i="1" dirty="0" smtClean="0">
                <a:solidFill>
                  <a:srgbClr val="C00000"/>
                </a:solidFill>
              </a:rPr>
              <a:t>control over the network layer</a:t>
            </a:r>
            <a:r>
              <a:rPr lang="en-US" sz="2400" dirty="0" smtClean="0"/>
              <a:t>, so they cannot solve the problem of poor service by using better routers or putting more error handling in the data link layer because they don’t own the routers.</a:t>
            </a:r>
          </a:p>
          <a:p>
            <a:r>
              <a:rPr lang="en-US" sz="2400" dirty="0" smtClean="0"/>
              <a:t>The only possibility is to put on top of the network layer another layer that </a:t>
            </a:r>
            <a:r>
              <a:rPr lang="en-US" sz="2400" i="1" dirty="0" smtClean="0">
                <a:solidFill>
                  <a:srgbClr val="C00000"/>
                </a:solidFill>
              </a:rPr>
              <a:t>improves the quality</a:t>
            </a:r>
            <a:r>
              <a:rPr lang="en-US" sz="2400" dirty="0" smtClean="0"/>
              <a:t> of the service.</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vs. Network Service (II)</a:t>
            </a:r>
            <a:endParaRPr lang="en-US" dirty="0"/>
          </a:p>
        </p:txBody>
      </p:sp>
      <p:sp>
        <p:nvSpPr>
          <p:cNvPr id="3" name="Content Placeholder 2"/>
          <p:cNvSpPr>
            <a:spLocks noGrp="1"/>
          </p:cNvSpPr>
          <p:nvPr>
            <p:ph idx="1"/>
          </p:nvPr>
        </p:nvSpPr>
        <p:spPr/>
        <p:txBody>
          <a:bodyPr>
            <a:noAutofit/>
          </a:bodyPr>
          <a:lstStyle/>
          <a:p>
            <a:r>
              <a:rPr lang="en-US" sz="2400" dirty="0" smtClean="0"/>
              <a:t>Furthermore, the </a:t>
            </a:r>
            <a:r>
              <a:rPr lang="en-US" sz="2400" i="1" dirty="0" smtClean="0">
                <a:solidFill>
                  <a:srgbClr val="C00000"/>
                </a:solidFill>
              </a:rPr>
              <a:t>transport primitives</a:t>
            </a:r>
            <a:r>
              <a:rPr lang="en-US" sz="2400" dirty="0" smtClean="0"/>
              <a:t> can be implemented as calls to library procedures to make them independent of the network primitives.</a:t>
            </a:r>
          </a:p>
          <a:p>
            <a:r>
              <a:rPr lang="en-US" sz="2400" dirty="0" smtClean="0"/>
              <a:t>Hiding the network service behind a set of transport service primitives ensures that changing the network merely requires replacing one set of library procedures with another one that does the same thing with a different underlying service.</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Transport Service Primitives</a:t>
            </a:r>
            <a:endParaRPr lang="en-US" dirty="0"/>
          </a:p>
        </p:txBody>
      </p:sp>
      <p:sp>
        <p:nvSpPr>
          <p:cNvPr id="3" name="Content Placeholder 2"/>
          <p:cNvSpPr>
            <a:spLocks noGrp="1"/>
          </p:cNvSpPr>
          <p:nvPr>
            <p:ph idx="1"/>
          </p:nvPr>
        </p:nvSpPr>
        <p:spPr/>
        <p:txBody>
          <a:bodyPr>
            <a:normAutofit/>
          </a:bodyPr>
          <a:lstStyle/>
          <a:p>
            <a:r>
              <a:rPr lang="en-US" sz="2400" dirty="0" smtClean="0"/>
              <a:t>To allow users to access the transport service, the transport layer must provide some operations to application programs, that is, a transport service interface.</a:t>
            </a:r>
            <a:endParaRPr lang="en-US" sz="2400" dirty="0"/>
          </a:p>
        </p:txBody>
      </p:sp>
      <p:graphicFrame>
        <p:nvGraphicFramePr>
          <p:cNvPr id="4" name="Table 3"/>
          <p:cNvGraphicFramePr>
            <a:graphicFrameLocks noGrp="1"/>
          </p:cNvGraphicFramePr>
          <p:nvPr/>
        </p:nvGraphicFramePr>
        <p:xfrm>
          <a:off x="457200" y="3032760"/>
          <a:ext cx="8279021" cy="2987040"/>
        </p:xfrm>
        <a:graphic>
          <a:graphicData uri="http://schemas.openxmlformats.org/drawingml/2006/table">
            <a:tbl>
              <a:tblPr firstRow="1" bandRow="1">
                <a:tableStyleId>{5C22544A-7EE6-4342-B048-85BDC9FD1C3A}</a:tableStyleId>
              </a:tblPr>
              <a:tblGrid>
                <a:gridCol w="1585468"/>
                <a:gridCol w="2530793"/>
                <a:gridCol w="4162760"/>
              </a:tblGrid>
              <a:tr h="0">
                <a:tc>
                  <a:txBody>
                    <a:bodyPr/>
                    <a:lstStyle/>
                    <a:p>
                      <a:r>
                        <a:rPr lang="en-US" sz="2000" dirty="0" smtClean="0"/>
                        <a:t>Primitive</a:t>
                      </a:r>
                      <a:endParaRPr lang="en-US" sz="2000" dirty="0"/>
                    </a:p>
                  </a:txBody>
                  <a:tcPr/>
                </a:tc>
                <a:tc>
                  <a:txBody>
                    <a:bodyPr/>
                    <a:lstStyle/>
                    <a:p>
                      <a:r>
                        <a:rPr lang="en-US" sz="2000" b="1" kern="1200" baseline="0" dirty="0" smtClean="0">
                          <a:solidFill>
                            <a:schemeClr val="lt1"/>
                          </a:solidFill>
                          <a:latin typeface="+mn-lt"/>
                          <a:ea typeface="+mn-ea"/>
                          <a:cs typeface="+mn-cs"/>
                        </a:rPr>
                        <a:t>Packet sent</a:t>
                      </a:r>
                      <a:endParaRPr lang="en-US" sz="2000" dirty="0"/>
                    </a:p>
                  </a:txBody>
                  <a:tcPr/>
                </a:tc>
                <a:tc>
                  <a:txBody>
                    <a:bodyPr/>
                    <a:lstStyle/>
                    <a:p>
                      <a:r>
                        <a:rPr lang="en-US" sz="2000" dirty="0" smtClean="0"/>
                        <a:t>Meaning</a:t>
                      </a:r>
                      <a:endParaRPr lang="en-US" sz="2000" dirty="0"/>
                    </a:p>
                  </a:txBody>
                  <a:tcPr/>
                </a:tc>
              </a:tr>
              <a:tr h="370840">
                <a:tc>
                  <a:txBody>
                    <a:bodyPr/>
                    <a:lstStyle/>
                    <a:p>
                      <a:r>
                        <a:rPr lang="en-US" sz="2000" kern="1200" baseline="0" dirty="0" smtClean="0">
                          <a:solidFill>
                            <a:schemeClr val="dk1"/>
                          </a:solidFill>
                          <a:latin typeface="+mn-lt"/>
                          <a:ea typeface="+mn-ea"/>
                          <a:cs typeface="+mn-cs"/>
                        </a:rPr>
                        <a:t>LISTEN</a:t>
                      </a:r>
                      <a:endParaRPr lang="en-US" sz="2000" dirty="0"/>
                    </a:p>
                  </a:txBody>
                  <a:tcPr/>
                </a:tc>
                <a:tc>
                  <a:txBody>
                    <a:bodyPr/>
                    <a:lstStyle/>
                    <a:p>
                      <a:r>
                        <a:rPr lang="en-US" sz="2000" kern="1200" baseline="0" dirty="0" smtClean="0">
                          <a:solidFill>
                            <a:schemeClr val="dk1"/>
                          </a:solidFill>
                          <a:latin typeface="+mn-lt"/>
                          <a:ea typeface="+mn-ea"/>
                          <a:cs typeface="+mn-cs"/>
                        </a:rPr>
                        <a:t>(none)</a:t>
                      </a:r>
                      <a:endParaRPr lang="en-US" sz="2000" dirty="0"/>
                    </a:p>
                  </a:txBody>
                  <a:tcPr/>
                </a:tc>
                <a:tc>
                  <a:txBody>
                    <a:bodyPr/>
                    <a:lstStyle/>
                    <a:p>
                      <a:r>
                        <a:rPr lang="en-US" sz="2000" kern="1200" baseline="0" dirty="0" smtClean="0">
                          <a:solidFill>
                            <a:schemeClr val="dk1"/>
                          </a:solidFill>
                          <a:latin typeface="+mn-lt"/>
                          <a:ea typeface="+mn-ea"/>
                          <a:cs typeface="+mn-cs"/>
                        </a:rPr>
                        <a:t>Block until some process tries to connect</a:t>
                      </a:r>
                      <a:endParaRPr lang="en-US" sz="2000" dirty="0"/>
                    </a:p>
                  </a:txBody>
                  <a:tcPr/>
                </a:tc>
              </a:tr>
              <a:tr h="370840">
                <a:tc>
                  <a:txBody>
                    <a:bodyPr/>
                    <a:lstStyle/>
                    <a:p>
                      <a:r>
                        <a:rPr lang="en-US" sz="2000" kern="1200" baseline="0" dirty="0" smtClean="0">
                          <a:solidFill>
                            <a:schemeClr val="dk1"/>
                          </a:solidFill>
                          <a:latin typeface="+mn-lt"/>
                          <a:ea typeface="+mn-ea"/>
                          <a:cs typeface="+mn-cs"/>
                        </a:rPr>
                        <a:t>CONNECT</a:t>
                      </a:r>
                      <a:endParaRPr lang="en-US" sz="2000" dirty="0"/>
                    </a:p>
                  </a:txBody>
                  <a:tcPr/>
                </a:tc>
                <a:tc>
                  <a:txBody>
                    <a:bodyPr/>
                    <a:lstStyle/>
                    <a:p>
                      <a:r>
                        <a:rPr lang="en-US" sz="2000" kern="1200" baseline="0" dirty="0" smtClean="0">
                          <a:solidFill>
                            <a:schemeClr val="dk1"/>
                          </a:solidFill>
                          <a:latin typeface="+mn-lt"/>
                          <a:ea typeface="+mn-ea"/>
                          <a:cs typeface="+mn-cs"/>
                        </a:rPr>
                        <a:t>CONNECTION REQ.</a:t>
                      </a:r>
                      <a:endParaRPr lang="en-US" sz="2000" dirty="0"/>
                    </a:p>
                  </a:txBody>
                  <a:tcPr/>
                </a:tc>
                <a:tc>
                  <a:txBody>
                    <a:bodyPr/>
                    <a:lstStyle/>
                    <a:p>
                      <a:r>
                        <a:rPr lang="en-US" sz="2000" kern="1200" baseline="0" dirty="0" smtClean="0">
                          <a:solidFill>
                            <a:schemeClr val="dk1"/>
                          </a:solidFill>
                          <a:latin typeface="+mn-lt"/>
                          <a:ea typeface="+mn-ea"/>
                          <a:cs typeface="+mn-cs"/>
                        </a:rPr>
                        <a:t>Actively attempt to establish a connection</a:t>
                      </a:r>
                      <a:endParaRPr lang="en-US" sz="2000" dirty="0"/>
                    </a:p>
                  </a:txBody>
                  <a:tcPr/>
                </a:tc>
              </a:tr>
              <a:tr h="370840">
                <a:tc>
                  <a:txBody>
                    <a:bodyPr/>
                    <a:lstStyle/>
                    <a:p>
                      <a:r>
                        <a:rPr lang="en-US" sz="2000" kern="1200" baseline="0" dirty="0" smtClean="0">
                          <a:solidFill>
                            <a:schemeClr val="dk1"/>
                          </a:solidFill>
                          <a:latin typeface="+mn-lt"/>
                          <a:ea typeface="+mn-ea"/>
                          <a:cs typeface="+mn-cs"/>
                        </a:rPr>
                        <a:t>SEND</a:t>
                      </a:r>
                      <a:endParaRPr lang="en-US" sz="2000" dirty="0"/>
                    </a:p>
                  </a:txBody>
                  <a:tcPr/>
                </a:tc>
                <a:tc>
                  <a:txBody>
                    <a:bodyPr/>
                    <a:lstStyle/>
                    <a:p>
                      <a:r>
                        <a:rPr lang="en-US" sz="2000" kern="1200" baseline="0" dirty="0" smtClean="0">
                          <a:solidFill>
                            <a:schemeClr val="dk1"/>
                          </a:solidFill>
                          <a:latin typeface="+mn-lt"/>
                          <a:ea typeface="+mn-ea"/>
                          <a:cs typeface="+mn-cs"/>
                        </a:rPr>
                        <a:t>DATA</a:t>
                      </a:r>
                      <a:endParaRPr lang="en-US" sz="2000" dirty="0"/>
                    </a:p>
                  </a:txBody>
                  <a:tcPr/>
                </a:tc>
                <a:tc>
                  <a:txBody>
                    <a:bodyPr/>
                    <a:lstStyle/>
                    <a:p>
                      <a:r>
                        <a:rPr lang="en-US" sz="2000" kern="1200" baseline="0" dirty="0" smtClean="0">
                          <a:solidFill>
                            <a:schemeClr val="dk1"/>
                          </a:solidFill>
                          <a:latin typeface="+mn-lt"/>
                          <a:ea typeface="+mn-ea"/>
                          <a:cs typeface="+mn-cs"/>
                        </a:rPr>
                        <a:t>Send information</a:t>
                      </a:r>
                      <a:endParaRPr lang="en-US" sz="2000" dirty="0"/>
                    </a:p>
                  </a:txBody>
                  <a:tcPr/>
                </a:tc>
              </a:tr>
              <a:tr h="370840">
                <a:tc>
                  <a:txBody>
                    <a:bodyPr/>
                    <a:lstStyle/>
                    <a:p>
                      <a:r>
                        <a:rPr lang="en-US" sz="2000" kern="1200" baseline="0" dirty="0" smtClean="0">
                          <a:solidFill>
                            <a:schemeClr val="dk1"/>
                          </a:solidFill>
                          <a:latin typeface="+mn-lt"/>
                          <a:ea typeface="+mn-ea"/>
                          <a:cs typeface="+mn-cs"/>
                        </a:rPr>
                        <a:t>RECEIVE</a:t>
                      </a:r>
                      <a:endParaRPr lang="en-US" sz="2000" dirty="0"/>
                    </a:p>
                  </a:txBody>
                  <a:tcPr/>
                </a:tc>
                <a:tc>
                  <a:txBody>
                    <a:bodyPr/>
                    <a:lstStyle/>
                    <a:p>
                      <a:r>
                        <a:rPr lang="en-US" sz="2000" kern="1200" baseline="0" dirty="0" smtClean="0">
                          <a:solidFill>
                            <a:schemeClr val="dk1"/>
                          </a:solidFill>
                          <a:latin typeface="+mn-lt"/>
                          <a:ea typeface="+mn-ea"/>
                          <a:cs typeface="+mn-cs"/>
                        </a:rPr>
                        <a:t>(none)</a:t>
                      </a:r>
                      <a:endParaRPr lang="en-US" sz="2000" dirty="0"/>
                    </a:p>
                  </a:txBody>
                  <a:tcPr/>
                </a:tc>
                <a:tc>
                  <a:txBody>
                    <a:bodyPr/>
                    <a:lstStyle/>
                    <a:p>
                      <a:r>
                        <a:rPr lang="en-US" sz="2000" kern="1200" baseline="0" dirty="0" smtClean="0">
                          <a:solidFill>
                            <a:schemeClr val="dk1"/>
                          </a:solidFill>
                          <a:latin typeface="+mn-lt"/>
                          <a:ea typeface="+mn-ea"/>
                          <a:cs typeface="+mn-cs"/>
                        </a:rPr>
                        <a:t>Block until a DATA packet arrives</a:t>
                      </a:r>
                      <a:endParaRPr lang="en-US" sz="2000" dirty="0"/>
                    </a:p>
                  </a:txBody>
                  <a:tcPr/>
                </a:tc>
              </a:tr>
              <a:tr h="370840">
                <a:tc>
                  <a:txBody>
                    <a:bodyPr/>
                    <a:lstStyle/>
                    <a:p>
                      <a:r>
                        <a:rPr lang="en-US" sz="2000" kern="1200" baseline="0" dirty="0" smtClean="0">
                          <a:solidFill>
                            <a:schemeClr val="dk1"/>
                          </a:solidFill>
                          <a:latin typeface="+mn-lt"/>
                          <a:ea typeface="+mn-ea"/>
                          <a:cs typeface="+mn-cs"/>
                        </a:rPr>
                        <a:t>DISCONNECT</a:t>
                      </a:r>
                      <a:endParaRPr lang="en-US" sz="2000" dirty="0"/>
                    </a:p>
                  </a:txBody>
                  <a:tcPr/>
                </a:tc>
                <a:tc>
                  <a:txBody>
                    <a:bodyPr/>
                    <a:lstStyle/>
                    <a:p>
                      <a:r>
                        <a:rPr lang="en-US" sz="2000" kern="1200" baseline="0" dirty="0" smtClean="0">
                          <a:solidFill>
                            <a:schemeClr val="dk1"/>
                          </a:solidFill>
                          <a:latin typeface="+mn-lt"/>
                          <a:ea typeface="+mn-ea"/>
                          <a:cs typeface="+mn-cs"/>
                        </a:rPr>
                        <a:t>DISCONNECTION REQ.</a:t>
                      </a:r>
                      <a:endParaRPr lang="en-US" sz="2000" dirty="0"/>
                    </a:p>
                  </a:txBody>
                  <a:tcPr/>
                </a:tc>
                <a:tc>
                  <a:txBody>
                    <a:bodyPr/>
                    <a:lstStyle/>
                    <a:p>
                      <a:r>
                        <a:rPr lang="en-US" sz="2000" kern="1200" baseline="0" dirty="0" smtClean="0">
                          <a:solidFill>
                            <a:schemeClr val="dk1"/>
                          </a:solidFill>
                          <a:latin typeface="+mn-lt"/>
                          <a:ea typeface="+mn-ea"/>
                          <a:cs typeface="+mn-cs"/>
                        </a:rPr>
                        <a:t>Request a release of the connection</a:t>
                      </a:r>
                      <a:endParaRPr lang="en-US" sz="2000" dirty="0"/>
                    </a:p>
                  </a:txBody>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Segment</a:t>
            </a:r>
            <a:endParaRPr lang="en-US" dirty="0"/>
          </a:p>
        </p:txBody>
      </p:sp>
      <p:sp>
        <p:nvSpPr>
          <p:cNvPr id="3" name="Content Placeholder 2"/>
          <p:cNvSpPr>
            <a:spLocks noGrp="1"/>
          </p:cNvSpPr>
          <p:nvPr>
            <p:ph idx="1"/>
          </p:nvPr>
        </p:nvSpPr>
        <p:spPr/>
        <p:txBody>
          <a:bodyPr>
            <a:noAutofit/>
          </a:bodyPr>
          <a:lstStyle/>
          <a:p>
            <a:r>
              <a:rPr lang="en-US" sz="2200" dirty="0" smtClean="0"/>
              <a:t>For lack of a better term, we will use the term </a:t>
            </a:r>
            <a:r>
              <a:rPr lang="en-US" sz="2200" i="1" dirty="0" smtClean="0">
                <a:solidFill>
                  <a:srgbClr val="C00000"/>
                </a:solidFill>
              </a:rPr>
              <a:t>segment</a:t>
            </a:r>
            <a:r>
              <a:rPr lang="en-US" sz="2200" dirty="0" smtClean="0"/>
              <a:t> for </a:t>
            </a:r>
            <a:r>
              <a:rPr lang="en-US" sz="2200" u="sng" dirty="0" smtClean="0"/>
              <a:t>messages</a:t>
            </a:r>
            <a:r>
              <a:rPr lang="en-US" sz="2200" dirty="0" smtClean="0"/>
              <a:t> sent from transport entity to transport entity.</a:t>
            </a:r>
          </a:p>
          <a:p>
            <a:r>
              <a:rPr lang="en-US" sz="2200" dirty="0" smtClean="0"/>
              <a:t>Thus, segments (exchanged by the transport layer) are contained in packets (exchanged by the network layer). In turn, these packets are contained in frames (exchanged by the data link layer).</a:t>
            </a:r>
          </a:p>
        </p:txBody>
      </p:sp>
      <p:pic>
        <p:nvPicPr>
          <p:cNvPr id="3074" name="Picture 2"/>
          <p:cNvPicPr>
            <a:picLocks noChangeAspect="1" noChangeArrowheads="1"/>
          </p:cNvPicPr>
          <p:nvPr/>
        </p:nvPicPr>
        <p:blipFill>
          <a:blip r:embed="rId2" cstate="print"/>
          <a:srcRect/>
          <a:stretch>
            <a:fillRect/>
          </a:stretch>
        </p:blipFill>
        <p:spPr bwMode="auto">
          <a:xfrm>
            <a:off x="592138" y="3787775"/>
            <a:ext cx="7959725" cy="246062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Exchange</a:t>
            </a:r>
            <a:endParaRPr lang="en-US" dirty="0"/>
          </a:p>
        </p:txBody>
      </p:sp>
      <p:sp>
        <p:nvSpPr>
          <p:cNvPr id="3" name="Content Placeholder 2"/>
          <p:cNvSpPr>
            <a:spLocks noGrp="1"/>
          </p:cNvSpPr>
          <p:nvPr>
            <p:ph idx="1"/>
          </p:nvPr>
        </p:nvSpPr>
        <p:spPr/>
        <p:txBody>
          <a:bodyPr>
            <a:noAutofit/>
          </a:bodyPr>
          <a:lstStyle/>
          <a:p>
            <a:r>
              <a:rPr lang="en-US" sz="2400" dirty="0" smtClean="0"/>
              <a:t>When a frame arrives, the data link layer processes the frame header and, if the destination address matches for local delivery, passes the contents of the frame payload field up to the network entity.</a:t>
            </a:r>
          </a:p>
          <a:p>
            <a:r>
              <a:rPr lang="en-US" sz="2400" dirty="0" smtClean="0"/>
              <a:t>The network entity similarly processes the packet header and then passes the contents of the packet payload up to the transport entity.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Client-Server CONNECT Example</a:t>
            </a:r>
            <a:endParaRPr lang="en-US" dirty="0"/>
          </a:p>
        </p:txBody>
      </p:sp>
      <p:sp>
        <p:nvSpPr>
          <p:cNvPr id="3" name="Content Placeholder 2"/>
          <p:cNvSpPr>
            <a:spLocks noGrp="1"/>
          </p:cNvSpPr>
          <p:nvPr>
            <p:ph idx="1"/>
          </p:nvPr>
        </p:nvSpPr>
        <p:spPr/>
        <p:txBody>
          <a:bodyPr>
            <a:noAutofit/>
          </a:bodyPr>
          <a:lstStyle/>
          <a:p>
            <a:r>
              <a:rPr lang="en-US" sz="2400" dirty="0" smtClean="0"/>
              <a:t>The client’s CONNECT call causes a CONNECTION REQUEST segment to be sent to the server.</a:t>
            </a:r>
          </a:p>
          <a:p>
            <a:r>
              <a:rPr lang="en-US" sz="2400" dirty="0" smtClean="0"/>
              <a:t>When it arrives, the transport entity checks to see that the server is blocked on a LISTEN. If so, it then unblocks the server and sends a CONNECTION ACCEPTED segment back to the client.</a:t>
            </a:r>
          </a:p>
          <a:p>
            <a:r>
              <a:rPr lang="en-US" sz="2400" dirty="0" smtClean="0"/>
              <a:t>When this segment arrives, the client is unblocked and the connection is established.</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View </a:t>
            </a:r>
            <a:r>
              <a:rPr lang="en-US" dirty="0" smtClean="0"/>
              <a:t>TCP Connections</a:t>
            </a:r>
            <a:endParaRPr lang="en-US" dirty="0"/>
          </a:p>
        </p:txBody>
      </p:sp>
      <p:sp>
        <p:nvSpPr>
          <p:cNvPr id="3" name="Content Placeholder 2"/>
          <p:cNvSpPr>
            <a:spLocks noGrp="1"/>
          </p:cNvSpPr>
          <p:nvPr>
            <p:ph idx="1"/>
          </p:nvPr>
        </p:nvSpPr>
        <p:spPr/>
        <p:txBody>
          <a:bodyPr>
            <a:noAutofit/>
          </a:bodyPr>
          <a:lstStyle/>
          <a:p>
            <a:r>
              <a:rPr lang="en-US" sz="2000" dirty="0" smtClean="0">
                <a:hlinkClick r:id="rId2"/>
              </a:rPr>
              <a:t>http://www.nirsoft.net/utils/cports.html</a:t>
            </a:r>
            <a:endParaRPr lang="en-US" sz="2000" dirty="0" smtClean="0"/>
          </a:p>
          <a:p>
            <a:r>
              <a:rPr lang="en-US" sz="2000" dirty="0" smtClean="0">
                <a:hlinkClick r:id="rId3"/>
              </a:rPr>
              <a:t>https://docs.microsoft.com/en-us/sysinternals/downloads/tcpview</a:t>
            </a:r>
            <a:endParaRPr lang="en-US" sz="2000" dirty="0" smtClean="0"/>
          </a:p>
        </p:txBody>
      </p:sp>
      <p:sp>
        <p:nvSpPr>
          <p:cNvPr id="5" name="Content Placeholder 2"/>
          <p:cNvSpPr txBox="1">
            <a:spLocks/>
          </p:cNvSpPr>
          <p:nvPr/>
        </p:nvSpPr>
        <p:spPr>
          <a:xfrm>
            <a:off x="609600" y="2819400"/>
            <a:ext cx="8001000" cy="3078163"/>
          </a:xfrm>
          <a:prstGeom prst="rect">
            <a:avLst/>
          </a:prstGeom>
        </p:spPr>
        <p:style>
          <a:lnRef idx="1">
            <a:schemeClr val="dk1"/>
          </a:lnRef>
          <a:fillRef idx="2">
            <a:schemeClr val="dk1"/>
          </a:fillRef>
          <a:effectRef idx="1">
            <a:schemeClr val="dk1"/>
          </a:effectRef>
          <a:fontRef idx="minor">
            <a:schemeClr val="dk1"/>
          </a:fontRef>
        </p:style>
        <p:txBody>
          <a:bodyPr vert="horz" lIns="91440" tIns="45720" rIns="91440" bIns="45720" rtlCol="0">
            <a:noAutofit/>
          </a:bodyPr>
          <a:lstStyle/>
          <a:p>
            <a:r>
              <a:rPr lang="en-US" sz="1600" dirty="0" err="1" smtClean="0">
                <a:solidFill>
                  <a:schemeClr val="tx1"/>
                </a:solidFill>
                <a:latin typeface="Consolas" pitchFamily="49" charset="0"/>
              </a:rPr>
              <a:t>netstat</a:t>
            </a:r>
            <a:r>
              <a:rPr lang="en-US" sz="1600" dirty="0" smtClean="0">
                <a:solidFill>
                  <a:schemeClr val="tx1"/>
                </a:solidFill>
                <a:latin typeface="Consolas" pitchFamily="49" charset="0"/>
              </a:rPr>
              <a:t> -</a:t>
            </a:r>
            <a:r>
              <a:rPr lang="en-US" sz="1600" dirty="0" err="1" smtClean="0">
                <a:solidFill>
                  <a:schemeClr val="tx1"/>
                </a:solidFill>
                <a:latin typeface="Consolas" pitchFamily="49" charset="0"/>
              </a:rPr>
              <a:t>ano</a:t>
            </a:r>
            <a:endParaRPr lang="en-US" sz="1600" dirty="0" smtClean="0">
              <a:solidFill>
                <a:schemeClr val="tx1"/>
              </a:solidFill>
              <a:latin typeface="Consolas" pitchFamily="49" charset="0"/>
            </a:endParaRPr>
          </a:p>
          <a:p>
            <a:r>
              <a:rPr lang="en-US" sz="1600" dirty="0" err="1" smtClean="0">
                <a:solidFill>
                  <a:schemeClr val="tx1"/>
                </a:solidFill>
                <a:latin typeface="Consolas" pitchFamily="49" charset="0"/>
              </a:rPr>
              <a:t>taskkill</a:t>
            </a:r>
            <a:r>
              <a:rPr lang="en-US" sz="1600" dirty="0" smtClean="0">
                <a:solidFill>
                  <a:schemeClr val="tx1"/>
                </a:solidFill>
                <a:latin typeface="Consolas" pitchFamily="49" charset="0"/>
              </a:rPr>
              <a:t> /f /</a:t>
            </a:r>
            <a:r>
              <a:rPr lang="en-US" sz="1600" dirty="0" err="1" smtClean="0">
                <a:solidFill>
                  <a:schemeClr val="tx1"/>
                </a:solidFill>
                <a:latin typeface="Consolas" pitchFamily="49" charset="0"/>
              </a:rPr>
              <a:t>im</a:t>
            </a:r>
            <a:r>
              <a:rPr lang="en-US" sz="1600" dirty="0" smtClean="0">
                <a:solidFill>
                  <a:schemeClr val="tx1"/>
                </a:solidFill>
                <a:latin typeface="Consolas" pitchFamily="49" charset="0"/>
              </a:rPr>
              <a:t> [</a:t>
            </a:r>
            <a:r>
              <a:rPr lang="en-US" sz="1600" dirty="0" err="1" smtClean="0">
                <a:solidFill>
                  <a:schemeClr val="tx1"/>
                </a:solidFill>
                <a:latin typeface="Consolas" pitchFamily="49" charset="0"/>
              </a:rPr>
              <a:t>pid</a:t>
            </a:r>
            <a:r>
              <a:rPr lang="en-US" sz="1600" dirty="0" smtClean="0">
                <a:solidFill>
                  <a:schemeClr val="tx1"/>
                </a:solidFill>
                <a:latin typeface="Consolas" pitchFamily="49" charset="0"/>
              </a:rPr>
              <a:t> of the port 8080 got from previous command]</a:t>
            </a:r>
          </a:p>
          <a:p>
            <a:r>
              <a:rPr lang="en-US" sz="1600" dirty="0" err="1" smtClean="0">
                <a:solidFill>
                  <a:schemeClr val="tx1"/>
                </a:solidFill>
                <a:latin typeface="Consolas" pitchFamily="49" charset="0"/>
              </a:rPr>
              <a:t>taskkill</a:t>
            </a:r>
            <a:r>
              <a:rPr lang="en-US" sz="1600" dirty="0" smtClean="0">
                <a:solidFill>
                  <a:schemeClr val="tx1"/>
                </a:solidFill>
                <a:latin typeface="Consolas" pitchFamily="49" charset="0"/>
              </a:rPr>
              <a:t> /f /</a:t>
            </a:r>
            <a:r>
              <a:rPr lang="en-US" sz="1600" dirty="0" err="1" smtClean="0">
                <a:solidFill>
                  <a:schemeClr val="tx1"/>
                </a:solidFill>
                <a:latin typeface="Consolas" pitchFamily="49" charset="0"/>
              </a:rPr>
              <a:t>im</a:t>
            </a:r>
            <a:r>
              <a:rPr lang="en-US" sz="1600" dirty="0" smtClean="0">
                <a:solidFill>
                  <a:schemeClr val="tx1"/>
                </a:solidFill>
                <a:latin typeface="Consolas" pitchFamily="49" charset="0"/>
              </a:rPr>
              <a:t> 4</a:t>
            </a:r>
          </a:p>
          <a:p>
            <a:r>
              <a:rPr lang="en-US" sz="1600" dirty="0" smtClean="0">
                <a:solidFill>
                  <a:schemeClr val="tx1"/>
                </a:solidFill>
                <a:latin typeface="Consolas" pitchFamily="49" charset="0"/>
              </a:rPr>
              <a:t>net stop </a:t>
            </a:r>
            <a:r>
              <a:rPr lang="en-US" sz="1600" dirty="0" err="1" smtClean="0">
                <a:solidFill>
                  <a:schemeClr val="tx1"/>
                </a:solidFill>
                <a:latin typeface="Consolas" pitchFamily="49" charset="0"/>
              </a:rPr>
              <a:t>srv</a:t>
            </a:r>
            <a:endParaRPr lang="en-US" sz="1600" dirty="0" smtClean="0">
              <a:solidFill>
                <a:schemeClr val="tx1"/>
              </a:solidFill>
              <a:latin typeface="Consolas" pitchFamily="49" charset="0"/>
            </a:endParaRPr>
          </a:p>
          <a:p>
            <a:r>
              <a:rPr lang="en-US" sz="1600" dirty="0" smtClean="0">
                <a:solidFill>
                  <a:schemeClr val="tx1"/>
                </a:solidFill>
                <a:latin typeface="Consolas" pitchFamily="49" charset="0"/>
              </a:rPr>
              <a:t>net start </a:t>
            </a:r>
            <a:r>
              <a:rPr lang="en-US" sz="1600" dirty="0" err="1" smtClean="0">
                <a:solidFill>
                  <a:schemeClr val="tx1"/>
                </a:solidFill>
                <a:latin typeface="Consolas" pitchFamily="49" charset="0"/>
              </a:rPr>
              <a:t>srv</a:t>
            </a:r>
            <a:endParaRPr lang="en-US" sz="1600" dirty="0" smtClean="0">
              <a:solidFill>
                <a:schemeClr val="tx1"/>
              </a:solidFill>
              <a:latin typeface="Consolas" pitchFamily="49" charset="0"/>
            </a:endParaRPr>
          </a:p>
          <a:p>
            <a:r>
              <a:rPr lang="en-US" sz="1600" dirty="0" smtClean="0">
                <a:solidFill>
                  <a:schemeClr val="tx1"/>
                </a:solidFill>
                <a:latin typeface="Consolas" pitchFamily="49" charset="0"/>
              </a:rPr>
              <a:t>net stop </a:t>
            </a:r>
            <a:r>
              <a:rPr lang="en-US" sz="1600" dirty="0" err="1" smtClean="0">
                <a:solidFill>
                  <a:schemeClr val="tx1"/>
                </a:solidFill>
                <a:latin typeface="Consolas" pitchFamily="49" charset="0"/>
              </a:rPr>
              <a:t>rdr</a:t>
            </a:r>
            <a:endParaRPr lang="en-US" sz="1600" dirty="0" smtClean="0">
              <a:solidFill>
                <a:schemeClr val="tx1"/>
              </a:solidFill>
              <a:latin typeface="Consolas" pitchFamily="49" charset="0"/>
            </a:endParaRPr>
          </a:p>
          <a:p>
            <a:r>
              <a:rPr lang="en-US" sz="1600" dirty="0" smtClean="0">
                <a:solidFill>
                  <a:schemeClr val="tx1"/>
                </a:solidFill>
                <a:latin typeface="Consolas" pitchFamily="49" charset="0"/>
              </a:rPr>
              <a:t>net start </a:t>
            </a:r>
            <a:r>
              <a:rPr lang="en-US" sz="1600" dirty="0" err="1" smtClean="0">
                <a:solidFill>
                  <a:schemeClr val="tx1"/>
                </a:solidFill>
                <a:latin typeface="Consolas" pitchFamily="49" charset="0"/>
              </a:rPr>
              <a:t>rdr</a:t>
            </a:r>
            <a:endParaRPr lang="en-US" sz="1600" dirty="0" smtClean="0">
              <a:solidFill>
                <a:schemeClr val="tx1"/>
              </a:solidFill>
              <a:latin typeface="Consolas" pitchFamily="49"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Use a Network Resource</a:t>
            </a:r>
            <a:endParaRPr lang="en-US" dirty="0"/>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noAutofit/>
          </a:bodyPr>
          <a:lstStyle/>
          <a:p>
            <a:pPr>
              <a:buNone/>
            </a:pPr>
            <a:r>
              <a:rPr lang="en-US" sz="2400" dirty="0" smtClean="0">
                <a:solidFill>
                  <a:schemeClr val="tx1"/>
                </a:solidFill>
                <a:latin typeface="Consolas" pitchFamily="49" charset="0"/>
              </a:rPr>
              <a:t>net use \\192.168.101.110 </a:t>
            </a:r>
            <a:r>
              <a:rPr lang="en-US" sz="2400" dirty="0" smtClean="0">
                <a:solidFill>
                  <a:schemeClr val="tx1"/>
                </a:solidFill>
                <a:latin typeface="Consolas" pitchFamily="49" charset="0"/>
              </a:rPr>
              <a:t>XDYy4764pgoT /user:Developer1@example.com</a:t>
            </a:r>
            <a:endParaRPr lang="en-US" sz="2400" dirty="0" smtClean="0">
              <a:solidFill>
                <a:schemeClr val="tx1"/>
              </a:solidFill>
              <a:latin typeface="Consolas" pitchFamily="49" charset="0"/>
            </a:endParaRPr>
          </a:p>
          <a:p>
            <a:pPr>
              <a:buNone/>
            </a:pPr>
            <a:r>
              <a:rPr lang="en-US" sz="2400" dirty="0" smtClean="0">
                <a:solidFill>
                  <a:schemeClr val="tx1"/>
                </a:solidFill>
                <a:latin typeface="Consolas" pitchFamily="49" charset="0"/>
              </a:rPr>
              <a:t>SC \\192.168.101.110 Query</a:t>
            </a:r>
          </a:p>
          <a:p>
            <a:pPr>
              <a:buNone/>
            </a:pPr>
            <a:r>
              <a:rPr lang="en-US" sz="2400" dirty="0" smtClean="0">
                <a:solidFill>
                  <a:schemeClr val="tx1"/>
                </a:solidFill>
                <a:latin typeface="Consolas" pitchFamily="49" charset="0"/>
              </a:rPr>
              <a:t>SC \\192.168.101.110 Start </a:t>
            </a:r>
            <a:r>
              <a:rPr lang="en-US" sz="2400" dirty="0" err="1" smtClean="0">
                <a:solidFill>
                  <a:schemeClr val="tx1"/>
                </a:solidFill>
                <a:latin typeface="Consolas" pitchFamily="49" charset="0"/>
              </a:rPr>
              <a:t>TermService</a:t>
            </a:r>
            <a:endParaRPr lang="en-US" sz="2400" dirty="0" smtClean="0">
              <a:solidFill>
                <a:schemeClr val="tx1"/>
              </a:solidFill>
              <a:latin typeface="Consolas" pitchFamily="49" charset="0"/>
            </a:endParaRPr>
          </a:p>
          <a:p>
            <a:pPr>
              <a:buNone/>
            </a:pPr>
            <a:r>
              <a:rPr lang="en-US" sz="2400" dirty="0" smtClean="0">
                <a:solidFill>
                  <a:schemeClr val="tx1"/>
                </a:solidFill>
                <a:latin typeface="Consolas" pitchFamily="49" charset="0"/>
              </a:rPr>
              <a:t>net use \\192.168.101.105 /delete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4000" dirty="0" smtClean="0"/>
              <a:t>3. </a:t>
            </a:r>
            <a:r>
              <a:rPr lang="en-US" sz="4000" dirty="0" smtClean="0"/>
              <a:t>Find the Hostname of an IP Address</a:t>
            </a:r>
            <a:endParaRPr lang="en-US" sz="4000" dirty="0"/>
          </a:p>
        </p:txBody>
      </p:sp>
      <p:sp>
        <p:nvSpPr>
          <p:cNvPr id="3" name="Content Placeholder 2"/>
          <p:cNvSpPr>
            <a:spLocks noGrp="1"/>
          </p:cNvSpPr>
          <p:nvPr>
            <p:ph idx="1"/>
          </p:nvPr>
        </p:nvSpPr>
        <p:spPr/>
        <p:txBody>
          <a:bodyPr>
            <a:normAutofit/>
          </a:bodyPr>
          <a:lstStyle/>
          <a:p>
            <a:r>
              <a:rPr lang="en-US" sz="2400" dirty="0" smtClean="0"/>
              <a:t>Login a Domain Controller using an administrative account.</a:t>
            </a:r>
          </a:p>
          <a:p>
            <a:r>
              <a:rPr lang="en-US" sz="2400" dirty="0" smtClean="0"/>
              <a:t>Open cmd.exe</a:t>
            </a:r>
          </a:p>
          <a:p>
            <a:r>
              <a:rPr lang="en-US" sz="2400" b="1" dirty="0" smtClean="0">
                <a:latin typeface="Consolas" pitchFamily="49" charset="0"/>
              </a:rPr>
              <a:t>ping -a 192.168.1.60</a:t>
            </a:r>
          </a:p>
          <a:p>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5282</TotalTime>
  <Words>2659</Words>
  <Application>Microsoft Office PowerPoint</Application>
  <PresentationFormat>On-screen Show (4:3)</PresentationFormat>
  <Paragraphs>216</Paragraphs>
  <Slides>40</Slides>
  <Notes>0</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The Transport Layer</vt:lpstr>
      <vt:lpstr>Objectives</vt:lpstr>
      <vt:lpstr>Contents</vt:lpstr>
      <vt:lpstr>References</vt:lpstr>
      <vt:lpstr>Multiplexing and Demultiplexing</vt:lpstr>
      <vt:lpstr>Ports</vt:lpstr>
      <vt:lpstr>Port Categories</vt:lpstr>
      <vt:lpstr>TCP Segment</vt:lpstr>
      <vt:lpstr>TCP Control Flags</vt:lpstr>
      <vt:lpstr>Three-way Handshake</vt:lpstr>
      <vt:lpstr>Three-way Handshake Example</vt:lpstr>
      <vt:lpstr>Four-way Handshake</vt:lpstr>
      <vt:lpstr>TCP Segment Transmission</vt:lpstr>
      <vt:lpstr>Transmission Control Protocol</vt:lpstr>
      <vt:lpstr>Transmission Control Protocol</vt:lpstr>
      <vt:lpstr>TCP Sockets (Dependent on OS)</vt:lpstr>
      <vt:lpstr>TCP Socket States</vt:lpstr>
      <vt:lpstr>Connection-Oriented Protocols</vt:lpstr>
      <vt:lpstr>Connectionless Protocols</vt:lpstr>
      <vt:lpstr>User Datagram Protocol</vt:lpstr>
      <vt:lpstr>UDP delivery is not guaranteed</vt:lpstr>
      <vt:lpstr>TCP vs. UDP</vt:lpstr>
      <vt:lpstr>TCP vs. UDP Detail</vt:lpstr>
      <vt:lpstr>TCP and Unicast</vt:lpstr>
      <vt:lpstr>UDP and Broadcast and Multicast</vt:lpstr>
      <vt:lpstr>Firewalls</vt:lpstr>
      <vt:lpstr>Slide 27</vt:lpstr>
      <vt:lpstr>Transport Layer Goal</vt:lpstr>
      <vt:lpstr>Transport Service Types</vt:lpstr>
      <vt:lpstr>Transport vs. Network Service (I)</vt:lpstr>
      <vt:lpstr>Transport vs. Network Service (II)</vt:lpstr>
      <vt:lpstr>Transport Service Primitives</vt:lpstr>
      <vt:lpstr>Segment</vt:lpstr>
      <vt:lpstr>Data Exchange</vt:lpstr>
      <vt:lpstr>Client-Server CONNECT Example</vt:lpstr>
      <vt:lpstr>Slide 36</vt:lpstr>
      <vt:lpstr>1. View TCP Connections</vt:lpstr>
      <vt:lpstr>2. Use a Network Resource</vt:lpstr>
      <vt:lpstr>3. Find the Hostname of an IP Address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Client</dc:title>
  <dc:creator>HuyBien</dc:creator>
  <cp:lastModifiedBy>Ngo Huy Bien</cp:lastModifiedBy>
  <cp:revision>1814</cp:revision>
  <dcterms:created xsi:type="dcterms:W3CDTF">2009-01-22T10:11:40Z</dcterms:created>
  <dcterms:modified xsi:type="dcterms:W3CDTF">2025-10-08T17:07:24Z</dcterms:modified>
</cp:coreProperties>
</file>