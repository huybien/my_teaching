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85" r:id="rId3"/>
    <p:sldId id="454" r:id="rId4"/>
    <p:sldId id="455" r:id="rId5"/>
    <p:sldId id="453" r:id="rId6"/>
    <p:sldId id="443" r:id="rId7"/>
    <p:sldId id="444" r:id="rId8"/>
    <p:sldId id="445" r:id="rId9"/>
    <p:sldId id="446" r:id="rId10"/>
    <p:sldId id="447" r:id="rId11"/>
    <p:sldId id="452" r:id="rId12"/>
    <p:sldId id="34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8433" autoAdjust="0"/>
    <p:restoredTop sz="94660"/>
  </p:normalViewPr>
  <p:slideViewPr>
    <p:cSldViewPr>
      <p:cViewPr>
        <p:scale>
          <a:sx n="50" d="100"/>
          <a:sy n="50" d="100"/>
        </p:scale>
        <p:origin x="-1476" y="-4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C163B-A334-4AF0-8F79-DA2B7EC4EC47}" type="datetimeFigureOut">
              <a:rPr lang="en-US" smtClean="0"/>
              <a:pPr/>
              <a:t>12/18/2022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3B51A9-7D3A-4012-9382-6DE3942971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microsoft.com/en-us/edge/server/downloa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en.wikipedia.org/wiki/Bring_your_own_devic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en.wikipedia.org/wiki/Captive_porta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en.wikipedia.org/wiki/Simple_Certificate_Enrollment_Protoco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en.wikipedia.org/wiki/Extensible_Authentication_Protoco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earchunifiedcommunications.techtarget.com/definition/IP-telephony"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rmAutofit/>
          </a:bodyPr>
          <a:lstStyle/>
          <a:p>
            <a:r>
              <a:rPr lang="en-US" sz="6000" dirty="0" smtClean="0"/>
              <a:t>The Application Layer</a:t>
            </a:r>
          </a:p>
        </p:txBody>
      </p:sp>
      <p:sp>
        <p:nvSpPr>
          <p:cNvPr id="3" name="Subtitle 2"/>
          <p:cNvSpPr>
            <a:spLocks noGrp="1"/>
          </p:cNvSpPr>
          <p:nvPr>
            <p:ph type="subTitle" idx="1"/>
          </p:nvPr>
        </p:nvSpPr>
        <p:spPr/>
        <p:txBody>
          <a:bodyPr rtlCol="0">
            <a:normAutofit fontScale="40000" lnSpcReduction="20000"/>
          </a:bodyPr>
          <a:lstStyle/>
          <a:p>
            <a:pPr>
              <a:defRPr/>
            </a:pPr>
            <a:r>
              <a:rPr lang="en-US" sz="5400" dirty="0" smtClean="0"/>
              <a:t>Lecturer: Ngo Huy Bien</a:t>
            </a:r>
          </a:p>
          <a:p>
            <a:pPr>
              <a:defRPr/>
            </a:pPr>
            <a:r>
              <a:rPr lang="en-US" sz="4400" dirty="0" smtClean="0"/>
              <a:t>Software Engineering Department</a:t>
            </a:r>
          </a:p>
          <a:p>
            <a:pPr>
              <a:defRPr/>
            </a:pPr>
            <a:r>
              <a:rPr lang="en-US" sz="4400" dirty="0" smtClean="0"/>
              <a:t>Faculty of Information Technology</a:t>
            </a:r>
          </a:p>
          <a:p>
            <a:pPr>
              <a:defRPr/>
            </a:pPr>
            <a:r>
              <a:rPr lang="en-US" sz="4400" dirty="0" smtClean="0"/>
              <a:t>VNUHCM - University of Science</a:t>
            </a:r>
          </a:p>
          <a:p>
            <a:pPr>
              <a:defRPr/>
            </a:pPr>
            <a:r>
              <a:rPr lang="en-US" sz="4400" dirty="0" smtClean="0"/>
              <a:t>Ho Chi Minh City, Vietnam</a:t>
            </a:r>
          </a:p>
          <a:p>
            <a:pPr>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334000" cy="4525963"/>
          </a:xfrm>
        </p:spPr>
        <p:txBody>
          <a:bodyPr>
            <a:normAutofit/>
          </a:bodyPr>
          <a:lstStyle/>
          <a:p>
            <a:pPr marL="514350" indent="-514350">
              <a:buFont typeface="+mj-lt"/>
              <a:buAutoNum type="arabicPeriod"/>
            </a:pPr>
            <a:endParaRPr lang="en-US" sz="24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Edge on Server 2016</a:t>
            </a:r>
            <a:endParaRPr lang="en-US" dirty="0"/>
          </a:p>
        </p:txBody>
      </p:sp>
      <p:sp>
        <p:nvSpPr>
          <p:cNvPr id="3" name="Content Placeholder 2"/>
          <p:cNvSpPr>
            <a:spLocks noGrp="1"/>
          </p:cNvSpPr>
          <p:nvPr>
            <p:ph idx="1"/>
          </p:nvPr>
        </p:nvSpPr>
        <p:spPr/>
        <p:txBody>
          <a:bodyPr>
            <a:normAutofit/>
          </a:bodyPr>
          <a:lstStyle/>
          <a:p>
            <a:r>
              <a:rPr lang="en-US" sz="2400" dirty="0" smtClean="0">
                <a:latin typeface="+mj-lt"/>
                <a:hlinkClick r:id="rId2"/>
              </a:rPr>
              <a:t>https://</a:t>
            </a:r>
            <a:r>
              <a:rPr lang="en-US" sz="2400" dirty="0" smtClean="0">
                <a:latin typeface="+mj-lt"/>
                <a:hlinkClick r:id="rId2"/>
              </a:rPr>
              <a:t>www.microsoft.com/en-us/edge/server/download</a:t>
            </a:r>
            <a:endParaRPr lang="en-US" sz="2400" dirty="0" smtClean="0">
              <a:latin typeface="+mj-lt"/>
            </a:endParaRPr>
          </a:p>
          <a:p>
            <a:endParaRPr lang="en-US" sz="2400" dirty="0">
              <a:latin typeface="+mj-lt"/>
            </a:endParaRPr>
          </a:p>
        </p:txBody>
      </p:sp>
      <p:pic>
        <p:nvPicPr>
          <p:cNvPr id="1026" name="Picture 2"/>
          <p:cNvPicPr>
            <a:picLocks noChangeAspect="1" noChangeArrowheads="1"/>
          </p:cNvPicPr>
          <p:nvPr/>
        </p:nvPicPr>
        <p:blipFill>
          <a:blip r:embed="rId3" cstate="print"/>
          <a:srcRect/>
          <a:stretch>
            <a:fillRect/>
          </a:stretch>
        </p:blipFill>
        <p:spPr bwMode="auto">
          <a:xfrm>
            <a:off x="861060" y="2362200"/>
            <a:ext cx="7063740" cy="377952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a:t>
            </a:r>
            <a:r>
              <a:rPr lang="en-US" dirty="0" smtClean="0"/>
              <a:t>Telnet in </a:t>
            </a:r>
            <a:r>
              <a:rPr lang="en-US" dirty="0" err="1" smtClean="0"/>
              <a:t>macOS</a:t>
            </a:r>
            <a:endParaRPr lang="en-US" dirty="0"/>
          </a:p>
        </p:txBody>
      </p:sp>
      <p:sp>
        <p:nvSpPr>
          <p:cNvPr id="3" name="Content Placeholder 2"/>
          <p:cNvSpPr>
            <a:spLocks noGrp="1"/>
          </p:cNvSpPr>
          <p:nvPr>
            <p:ph idx="1"/>
          </p:nvPr>
        </p:nvSpPr>
        <p:spPr/>
        <p:txBody>
          <a:bodyPr>
            <a:normAutofit/>
          </a:bodyPr>
          <a:lstStyle/>
          <a:p>
            <a:r>
              <a:rPr lang="en-US" sz="2400" dirty="0" smtClean="0">
                <a:latin typeface="Consolas" pitchFamily="49" charset="0"/>
              </a:rPr>
              <a:t>brew install telnet</a:t>
            </a:r>
            <a:endParaRPr lang="en-US" sz="2400" dirty="0">
              <a:latin typeface="Consolas" pitchFamily="49" charset="0"/>
            </a:endParaRPr>
          </a:p>
        </p:txBody>
      </p:sp>
      <p:pic>
        <p:nvPicPr>
          <p:cNvPr id="1027" name="Picture 3"/>
          <p:cNvPicPr>
            <a:picLocks noChangeAspect="1" noChangeArrowheads="1"/>
          </p:cNvPicPr>
          <p:nvPr/>
        </p:nvPicPr>
        <p:blipFill>
          <a:blip r:embed="rId2" cstate="print"/>
          <a:srcRect/>
          <a:stretch>
            <a:fillRect/>
          </a:stretch>
        </p:blipFill>
        <p:spPr bwMode="auto">
          <a:xfrm>
            <a:off x="1430338" y="2800350"/>
            <a:ext cx="6283325" cy="21526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Bring Your Own Device (BYOD)?</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hlinkClick r:id="rId2"/>
              </a:rPr>
              <a:t>http://en.wikipedia.org/wiki/Bring_your_own_device</a:t>
            </a:r>
            <a:endParaRPr lang="en-US" dirty="0" smtClean="0"/>
          </a:p>
          <a:p>
            <a:pPr lvl="1"/>
            <a:r>
              <a:rPr lang="en-US" dirty="0" smtClean="0"/>
              <a:t>Bring Your Own Device (BYOD) describes the recent trend of employees bringing personally-owned mobile devices to their place of work, and using those devices to access privileged company resources such as email, file servers, and databases.</a:t>
            </a:r>
          </a:p>
          <a:p>
            <a:pPr lvl="1"/>
            <a:r>
              <a:rPr lang="en-US" dirty="0" smtClean="0"/>
              <a:t>The potential sensitivity of BYOD requires that it utilize a secure wireless protocol, most commonly WPA2-Enterprise.</a:t>
            </a:r>
          </a:p>
          <a:p>
            <a:pPr lvl="1"/>
            <a:r>
              <a:rPr lang="en-US" dirty="0" smtClean="0"/>
              <a:t>Compatibility of employee hardware with organization software and applications should not be overlooked when considering BYOD.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Captive Portal</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hlinkClick r:id="rId2"/>
              </a:rPr>
              <a:t>http://en.wikipedia.org/wiki/Captive_portal</a:t>
            </a:r>
            <a:endParaRPr lang="en-US" dirty="0" smtClean="0"/>
          </a:p>
          <a:p>
            <a:pPr lvl="1"/>
            <a:r>
              <a:rPr lang="en-US" dirty="0" smtClean="0"/>
              <a:t>The captive portal technique forces an HTTP client on a network to see a special web page (usually for authentication purposes) before using the Internet normally. A captive portal turns a Web browser into an authentication device.</a:t>
            </a:r>
          </a:p>
          <a:p>
            <a:pPr lvl="1"/>
            <a:r>
              <a:rPr lang="en-US" dirty="0" smtClean="0"/>
              <a:t>This is done by intercepting all packets, regardless of address or port, until the user opens a browser and tries to access the Internet. At that time the browser is redirected to a web page which may require authentication and/or payment, or simply display an acceptable use policy and require the user to agree.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Simple Certificate Enrollment Protocol</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hlinkClick r:id="rId2"/>
              </a:rPr>
              <a:t>http://en.wikipedia.org/wiki/Simple_Certificate_Enrollment_Protocol</a:t>
            </a:r>
            <a:endParaRPr lang="en-US" dirty="0" smtClean="0"/>
          </a:p>
          <a:p>
            <a:pPr lvl="1"/>
            <a:r>
              <a:rPr lang="en-US" dirty="0" smtClean="0"/>
              <a:t>Simple Certificate Enrollment Protocol (SCEP) is a protocol designed to make the issuing and revocation of digital certificates as scalable as possible.</a:t>
            </a:r>
          </a:p>
          <a:p>
            <a:pPr lvl="1"/>
            <a:r>
              <a:rPr lang="en-US" dirty="0" smtClean="0"/>
              <a:t>The idea is that any standard network user should be able to request their digital certificate electronically and as simply as possible. These processes have usually required intensive input from network administrators, and so have not been suited to large scale deployments.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Extensible Authentication Protocol</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hlinkClick r:id="rId2"/>
              </a:rPr>
              <a:t>http://en.wikipedia.org/wiki/Extensible_Authentication_Protocol</a:t>
            </a:r>
            <a:endParaRPr lang="en-US" dirty="0" smtClean="0"/>
          </a:p>
          <a:p>
            <a:pPr lvl="1"/>
            <a:r>
              <a:rPr lang="en-US" dirty="0" smtClean="0"/>
              <a:t>EAP is an authentication framework providing for the transport and usage of keying material and parameters generated by EAP methods.</a:t>
            </a:r>
          </a:p>
          <a:p>
            <a:pPr lvl="1"/>
            <a:r>
              <a:rPr lang="en-US" dirty="0" smtClean="0"/>
              <a:t>There are many methods defined by RFCs and a number of vendor specific methods and new proposals exist.</a:t>
            </a:r>
          </a:p>
          <a:p>
            <a:pPr lvl="1"/>
            <a:r>
              <a:rPr lang="en-US" dirty="0" smtClean="0"/>
              <a:t>EAP is not a wire protocol; instead it only defines message formats. Each protocol that uses EAP defines a way to encapsulate EAP messages within that protocol's messages.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Internet Protocol (IP) Telephony</a:t>
            </a:r>
            <a:endParaRPr lang="en-US" dirty="0"/>
          </a:p>
        </p:txBody>
      </p:sp>
      <p:sp>
        <p:nvSpPr>
          <p:cNvPr id="3" name="Content Placeholder 2"/>
          <p:cNvSpPr>
            <a:spLocks noGrp="1"/>
          </p:cNvSpPr>
          <p:nvPr>
            <p:ph idx="1"/>
          </p:nvPr>
        </p:nvSpPr>
        <p:spPr/>
        <p:txBody>
          <a:bodyPr>
            <a:normAutofit/>
          </a:bodyPr>
          <a:lstStyle/>
          <a:p>
            <a:r>
              <a:rPr lang="en-US" sz="2400" dirty="0" smtClean="0">
                <a:hlinkClick r:id="rId2"/>
              </a:rPr>
              <a:t>http://searchunifiedcommunications.techtarget.com/definition/IP-telephony</a:t>
            </a:r>
            <a:endParaRPr lang="en-US" sz="2400" dirty="0" smtClean="0"/>
          </a:p>
          <a:p>
            <a:r>
              <a:rPr lang="en-US" sz="2400" dirty="0" smtClean="0"/>
              <a:t>IP telephony (Internet Protocol telephony) is a general term for the technologies that use the Internet Protocol's packet-switched connections to exchange voice, fax, and other forms of information that have traditionally been carried over the dedicated circuit-switched connections of the public switched telephone network (PSTN).</a:t>
            </a:r>
          </a:p>
          <a:p>
            <a:r>
              <a:rPr lang="en-US" sz="2400" dirty="0" smtClean="0"/>
              <a:t>Using the Internet, calls travel as packets of data on shared lines, avoiding the tolls of the PSTN.</a:t>
            </a:r>
            <a:endParaRPr lang="en-US" sz="2400" smtClean="0"/>
          </a:p>
          <a:p>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6572</TotalTime>
  <Words>482</Words>
  <Application>Microsoft Office PowerPoint</Application>
  <PresentationFormat>On-screen Show (4:3)</PresentationFormat>
  <Paragraphs>35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The Application Layer</vt:lpstr>
      <vt:lpstr>References</vt:lpstr>
      <vt:lpstr>1. Install Edge on Server 2016</vt:lpstr>
      <vt:lpstr>Slide 4</vt:lpstr>
      <vt:lpstr>1. Install Telnet in macOS</vt:lpstr>
      <vt:lpstr>Slide 6</vt:lpstr>
      <vt:lpstr>What is Bring Your Own Device (BYOD)?</vt:lpstr>
      <vt:lpstr>Captive Portal</vt:lpstr>
      <vt:lpstr>Simple Certificate Enrollment Protocol</vt:lpstr>
      <vt:lpstr>Extensible Authentication Protocol</vt:lpstr>
      <vt:lpstr>Internet Protocol (IP) Telephony</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Client</dc:title>
  <dc:creator>HuyBien</dc:creator>
  <cp:lastModifiedBy>Ngo Huy Bien</cp:lastModifiedBy>
  <cp:revision>1714</cp:revision>
  <dcterms:created xsi:type="dcterms:W3CDTF">2009-01-22T10:11:40Z</dcterms:created>
  <dcterms:modified xsi:type="dcterms:W3CDTF">2022-12-17T20:15:04Z</dcterms:modified>
</cp:coreProperties>
</file>