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handoutMasterIdLst>
    <p:handoutMasterId r:id="rId23"/>
  </p:handoutMasterIdLst>
  <p:sldIdLst>
    <p:sldId id="470" r:id="rId2"/>
    <p:sldId id="471" r:id="rId3"/>
    <p:sldId id="472" r:id="rId4"/>
    <p:sldId id="473" r:id="rId5"/>
    <p:sldId id="551" r:id="rId6"/>
    <p:sldId id="552" r:id="rId7"/>
    <p:sldId id="553" r:id="rId8"/>
    <p:sldId id="554" r:id="rId9"/>
    <p:sldId id="587" r:id="rId10"/>
    <p:sldId id="589" r:id="rId11"/>
    <p:sldId id="588" r:id="rId12"/>
    <p:sldId id="590" r:id="rId13"/>
    <p:sldId id="591" r:id="rId14"/>
    <p:sldId id="593" r:id="rId15"/>
    <p:sldId id="592" r:id="rId16"/>
    <p:sldId id="594" r:id="rId17"/>
    <p:sldId id="596" r:id="rId18"/>
    <p:sldId id="597" r:id="rId19"/>
    <p:sldId id="598" r:id="rId20"/>
    <p:sldId id="343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77" autoAdjust="0"/>
    <p:restoredTop sz="96140" autoAdjust="0"/>
  </p:normalViewPr>
  <p:slideViewPr>
    <p:cSldViewPr>
      <p:cViewPr>
        <p:scale>
          <a:sx n="50" d="100"/>
          <a:sy n="50" d="100"/>
        </p:scale>
        <p:origin x="-148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2/21/2022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localhost/Reports/report/MatrixReport/RepairCountByTyp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Create a Matrix Report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Regions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err="1" smtClean="0">
                <a:solidFill>
                  <a:srgbClr val="C00000"/>
                </a:solidFill>
              </a:rPr>
              <a:t>tablix</a:t>
            </a:r>
            <a:r>
              <a:rPr lang="en-US" sz="2400" dirty="0" smtClean="0"/>
              <a:t>, when functioning like a table, starts with a predefined number of columns.</a:t>
            </a:r>
          </a:p>
          <a:p>
            <a:r>
              <a:rPr lang="en-US" sz="2400" dirty="0" smtClean="0"/>
              <a:t>It then adds a data row to the resulting report for each record in the dataset.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tablix</a:t>
            </a:r>
            <a:r>
              <a:rPr lang="en-US" sz="2400" dirty="0" smtClean="0"/>
              <a:t> is one of a number of special report items designed specifically for working with datasets. These special report items are called </a:t>
            </a:r>
            <a:r>
              <a:rPr lang="en-US" sz="2400" i="1" dirty="0" smtClean="0">
                <a:solidFill>
                  <a:srgbClr val="C00000"/>
                </a:solidFill>
              </a:rPr>
              <a:t>data regions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other data regions are the </a:t>
            </a:r>
            <a:r>
              <a:rPr lang="en-US" sz="2400" i="1" dirty="0" smtClean="0">
                <a:solidFill>
                  <a:srgbClr val="C00000"/>
                </a:solidFill>
              </a:rPr>
              <a:t>chart</a:t>
            </a:r>
            <a:r>
              <a:rPr lang="en-US" sz="2400" dirty="0" smtClean="0"/>
              <a:t>, the </a:t>
            </a:r>
            <a:r>
              <a:rPr lang="en-US" sz="2400" i="1" dirty="0" smtClean="0">
                <a:solidFill>
                  <a:srgbClr val="C00000"/>
                </a:solidFill>
              </a:rPr>
              <a:t>gauge</a:t>
            </a:r>
            <a:r>
              <a:rPr lang="en-US" sz="2400" dirty="0" smtClean="0"/>
              <a:t>, the </a:t>
            </a:r>
            <a:r>
              <a:rPr lang="en-US" sz="2400" i="1" dirty="0" smtClean="0">
                <a:solidFill>
                  <a:srgbClr val="C00000"/>
                </a:solidFill>
              </a:rPr>
              <a:t>map</a:t>
            </a:r>
            <a:r>
              <a:rPr lang="en-US" sz="2400" dirty="0" smtClean="0"/>
              <a:t>, and the </a:t>
            </a:r>
            <a:r>
              <a:rPr lang="en-US" sz="2400" i="1" dirty="0" err="1" smtClean="0">
                <a:solidFill>
                  <a:srgbClr val="C00000"/>
                </a:solidFill>
              </a:rPr>
              <a:t>sparkline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Data Regions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Data regions are able to work with multiple records from a dataset.</a:t>
            </a:r>
          </a:p>
          <a:p>
            <a:r>
              <a:rPr lang="en-US" sz="2400" dirty="0" smtClean="0"/>
              <a:t>The data region reads a record from the dataset, creates a portion of the report using the data found in that record, and then moves on to the next record.</a:t>
            </a:r>
          </a:p>
          <a:p>
            <a:r>
              <a:rPr lang="en-US" sz="2400" dirty="0" smtClean="0"/>
              <a:t>It does this until all the records from the dataset have been processed.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tablix</a:t>
            </a:r>
            <a:r>
              <a:rPr lang="en-US" sz="2400" dirty="0" smtClean="0"/>
              <a:t> creates mainly textual layout for each record in the dataset.</a:t>
            </a:r>
          </a:p>
          <a:p>
            <a:r>
              <a:rPr lang="en-US" sz="2400" dirty="0" smtClean="0"/>
              <a:t>The chart, gauge, </a:t>
            </a:r>
            <a:r>
              <a:rPr lang="en-US" sz="2400" dirty="0" err="1" smtClean="0"/>
              <a:t>sparkline</a:t>
            </a:r>
            <a:r>
              <a:rPr lang="en-US" sz="2400" dirty="0" smtClean="0"/>
              <a:t>, and map data regions create mainly graphical layout for the records in the dataset.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DataSetName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Each data region item has a property called </a:t>
            </a:r>
            <a:r>
              <a:rPr lang="en-US" sz="2400" b="1" dirty="0" err="1" smtClean="0">
                <a:latin typeface="Consolas" pitchFamily="49" charset="0"/>
              </a:rPr>
              <a:t>DataSetName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property contains the name of the dataset used by the data region.</a:t>
            </a:r>
            <a:endParaRPr lang="en-US" sz="2400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650" y="3279775"/>
            <a:ext cx="3568700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1. Create a Data Set (I)</a:t>
            </a:r>
            <a:endParaRPr lang="en-US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752600"/>
            <a:ext cx="6280785" cy="4204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Create a Data Set (II)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shall </a:t>
            </a:r>
            <a:r>
              <a:rPr lang="en-US" sz="2400" i="1" dirty="0" smtClean="0">
                <a:solidFill>
                  <a:srgbClr val="C00000"/>
                </a:solidFill>
              </a:rPr>
              <a:t>count</a:t>
            </a:r>
            <a:r>
              <a:rPr lang="en-US" sz="2400" dirty="0" smtClean="0"/>
              <a:t> the number of </a:t>
            </a:r>
            <a:r>
              <a:rPr lang="en-US" sz="2400" b="1" i="1" dirty="0" err="1" smtClean="0"/>
              <a:t>RepairID</a:t>
            </a:r>
            <a:r>
              <a:rPr lang="en-US" sz="2400" dirty="0" smtClean="0"/>
              <a:t> for </a:t>
            </a:r>
            <a:r>
              <a:rPr lang="en-US" sz="2400" u="sng" dirty="0" smtClean="0"/>
              <a:t>combination</a:t>
            </a:r>
            <a:r>
              <a:rPr lang="en-US" sz="2400" dirty="0" smtClean="0"/>
              <a:t> of </a:t>
            </a:r>
            <a:r>
              <a:rPr lang="en-US" sz="2400" b="1" i="1" dirty="0" err="1" smtClean="0"/>
              <a:t>TypeOfTransport</a:t>
            </a:r>
            <a:r>
              <a:rPr lang="en-US" sz="2400" dirty="0" smtClean="0"/>
              <a:t> and </a:t>
            </a:r>
            <a:r>
              <a:rPr lang="en-US" sz="2400" b="1" i="1" dirty="0" err="1" smtClean="0"/>
              <a:t>TypeOfWork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b="1" dirty="0" smtClean="0"/>
              <a:t>count meaning</a:t>
            </a:r>
            <a:r>
              <a:rPr lang="en-US" sz="2400" dirty="0" smtClean="0"/>
              <a:t> is important for understanding how matrix report works.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505200"/>
            <a:ext cx="5203825" cy="244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3657600"/>
            <a:ext cx="3148181" cy="214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Add a </a:t>
            </a:r>
            <a:r>
              <a:rPr lang="en-US" sz="4000" dirty="0" smtClean="0"/>
              <a:t>Matrix</a:t>
            </a:r>
            <a:endParaRPr lang="en-US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9100" y="1914525"/>
            <a:ext cx="57658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Select Data for the </a:t>
            </a:r>
            <a:r>
              <a:rPr lang="en-US" sz="4000" dirty="0" smtClean="0"/>
              <a:t>Matrix</a:t>
            </a:r>
            <a:endParaRPr lang="en-US" sz="40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100" y="1736725"/>
            <a:ext cx="6019800" cy="382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5. Preview the </a:t>
            </a:r>
            <a:r>
              <a:rPr lang="en-US" sz="4000" dirty="0" smtClean="0"/>
              <a:t>Matrix</a:t>
            </a:r>
            <a:endParaRPr lang="en-US" sz="40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828800"/>
            <a:ext cx="6314440" cy="4132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6. Create a Row Group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In the </a:t>
            </a:r>
            <a:r>
              <a:rPr lang="en-US" sz="2200" b="1" dirty="0" smtClean="0"/>
              <a:t>Row Groups</a:t>
            </a:r>
            <a:r>
              <a:rPr lang="en-US" sz="2200" dirty="0" smtClean="0"/>
              <a:t> area of the Grouping pane, click the drop-down arrow, and select </a:t>
            </a:r>
            <a:r>
              <a:rPr lang="en-US" sz="2200" b="1" dirty="0" smtClean="0"/>
              <a:t>Add Group</a:t>
            </a:r>
            <a:r>
              <a:rPr lang="en-US" sz="2200" dirty="0" smtClean="0"/>
              <a:t> </a:t>
            </a:r>
            <a:r>
              <a:rPr lang="en-US" sz="2200" b="1" dirty="0" smtClean="0"/>
              <a:t>| Parent Group</a:t>
            </a:r>
            <a:r>
              <a:rPr lang="en-US" sz="2200" dirty="0" smtClean="0"/>
              <a:t> from the menu. 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67000"/>
            <a:ext cx="7606665" cy="3649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7. Select a Column for Grouping Rows</a:t>
            </a:r>
            <a:endParaRPr lang="en-US" sz="4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8725" y="2184400"/>
            <a:ext cx="6686550" cy="360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8. Preview </a:t>
            </a:r>
            <a:r>
              <a:rPr lang="en-US" sz="4000" smtClean="0"/>
              <a:t>the </a:t>
            </a:r>
            <a:r>
              <a:rPr lang="en-US" sz="4000" smtClean="0"/>
              <a:t>Matrix</a:t>
            </a:r>
            <a:endParaRPr lang="en-US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05000"/>
            <a:ext cx="8223885" cy="4006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9. Open Row Group Properties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the Row Groups area, right-click the </a:t>
            </a:r>
            <a:r>
              <a:rPr lang="en-US" sz="2400" b="1" i="1" dirty="0" err="1" smtClean="0"/>
              <a:t>TypeOfWork</a:t>
            </a:r>
            <a:r>
              <a:rPr lang="en-US" sz="2400" dirty="0" smtClean="0"/>
              <a:t> entry, and select </a:t>
            </a:r>
            <a:r>
              <a:rPr lang="en-US" sz="2400" b="1" dirty="0" smtClean="0"/>
              <a:t>Group Properties</a:t>
            </a:r>
            <a:r>
              <a:rPr lang="en-US" sz="2400" dirty="0" smtClean="0"/>
              <a:t> from the context menu. 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687002"/>
            <a:ext cx="6869430" cy="3637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10. Modify Group Visibility</a:t>
            </a:r>
            <a:endParaRPr lang="en-US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752600"/>
            <a:ext cx="4808220" cy="4361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11. Test the Deployed Report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http://localhost/Reports/report/MatrixReport/RepairCountByType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5373" y="2284274"/>
            <a:ext cx="5406027" cy="4192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ight Arrow 4"/>
          <p:cNvSpPr/>
          <p:nvPr/>
        </p:nvSpPr>
        <p:spPr>
          <a:xfrm>
            <a:off x="762000" y="3886200"/>
            <a:ext cx="1143000" cy="13716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Click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12791</TotalTime>
  <Words>405</Words>
  <Application>Microsoft Office PowerPoint</Application>
  <PresentationFormat>On-screen Show (4:3)</PresentationFormat>
  <Paragraphs>44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Create a Matrix Report</vt:lpstr>
      <vt:lpstr>Objectives</vt:lpstr>
      <vt:lpstr>Contents</vt:lpstr>
      <vt:lpstr>References</vt:lpstr>
      <vt:lpstr>Data Regions</vt:lpstr>
      <vt:lpstr>How Data Regions Work</vt:lpstr>
      <vt:lpstr>DataSetName</vt:lpstr>
      <vt:lpstr>Slide 8</vt:lpstr>
      <vt:lpstr>1. Create a Data Set (I)</vt:lpstr>
      <vt:lpstr>2. Create a Data Set (II)</vt:lpstr>
      <vt:lpstr>3. Add a Matrix</vt:lpstr>
      <vt:lpstr>4. Select Data for the Matrix</vt:lpstr>
      <vt:lpstr>5. Preview the Matrix</vt:lpstr>
      <vt:lpstr>6. Create a Row Group</vt:lpstr>
      <vt:lpstr>7. Select a Column for Grouping Rows</vt:lpstr>
      <vt:lpstr>8. Preview the Matrix</vt:lpstr>
      <vt:lpstr>9. Open Row Group Properties</vt:lpstr>
      <vt:lpstr>10. Modify Group Visibility</vt:lpstr>
      <vt:lpstr>11. Test the Deployed Report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4366</cp:revision>
  <dcterms:created xsi:type="dcterms:W3CDTF">2007-10-06T08:25:13Z</dcterms:created>
  <dcterms:modified xsi:type="dcterms:W3CDTF">2022-02-21T16:35:28Z</dcterms:modified>
</cp:coreProperties>
</file>