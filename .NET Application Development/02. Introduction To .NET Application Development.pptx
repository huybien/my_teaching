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8"/>
  </p:notesMasterIdLst>
  <p:handoutMasterIdLst>
    <p:handoutMasterId r:id="rId39"/>
  </p:handoutMasterIdLst>
  <p:sldIdLst>
    <p:sldId id="256" r:id="rId2"/>
    <p:sldId id="431" r:id="rId3"/>
    <p:sldId id="423" r:id="rId4"/>
    <p:sldId id="457" r:id="rId5"/>
    <p:sldId id="458" r:id="rId6"/>
    <p:sldId id="459" r:id="rId7"/>
    <p:sldId id="481" r:id="rId8"/>
    <p:sldId id="483" r:id="rId9"/>
    <p:sldId id="484" r:id="rId10"/>
    <p:sldId id="482" r:id="rId11"/>
    <p:sldId id="465" r:id="rId12"/>
    <p:sldId id="466" r:id="rId13"/>
    <p:sldId id="472" r:id="rId14"/>
    <p:sldId id="471" r:id="rId15"/>
    <p:sldId id="473" r:id="rId16"/>
    <p:sldId id="479" r:id="rId17"/>
    <p:sldId id="475" r:id="rId18"/>
    <p:sldId id="468" r:id="rId19"/>
    <p:sldId id="510" r:id="rId20"/>
    <p:sldId id="511" r:id="rId21"/>
    <p:sldId id="512" r:id="rId22"/>
    <p:sldId id="509" r:id="rId23"/>
    <p:sldId id="478" r:id="rId24"/>
    <p:sldId id="513" r:id="rId25"/>
    <p:sldId id="514" r:id="rId26"/>
    <p:sldId id="463" r:id="rId27"/>
    <p:sldId id="485" r:id="rId28"/>
    <p:sldId id="521" r:id="rId29"/>
    <p:sldId id="486" r:id="rId30"/>
    <p:sldId id="487" r:id="rId31"/>
    <p:sldId id="522" r:id="rId32"/>
    <p:sldId id="523" r:id="rId33"/>
    <p:sldId id="525" r:id="rId34"/>
    <p:sldId id="526" r:id="rId35"/>
    <p:sldId id="527" r:id="rId36"/>
    <p:sldId id="343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1029" autoAdjust="0"/>
    <p:restoredTop sz="96140" autoAdjust="0"/>
  </p:normalViewPr>
  <p:slideViewPr>
    <p:cSldViewPr>
      <p:cViewPr>
        <p:scale>
          <a:sx n="50" d="100"/>
          <a:sy n="50" d="100"/>
        </p:scale>
        <p:origin x="-1476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5/29/2023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5/29/2023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B96204-6EBE-4E3A-8F90-C96A927FEE3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office.microsoft.com/en-us/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photoshop.com/" TargetMode="External"/><Relationship Id="rId5" Type="http://schemas.openxmlformats.org/officeDocument/2006/relationships/hyperlink" Target="https://github.com/" TargetMode="External"/><Relationship Id="rId4" Type="http://schemas.openxmlformats.org/officeDocument/2006/relationships/hyperlink" Target="http://git-scm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clipse.org/" TargetMode="External"/><Relationship Id="rId5" Type="http://schemas.openxmlformats.org/officeDocument/2006/relationships/hyperlink" Target="https://netbeans.org/" TargetMode="External"/><Relationship Id="rId4" Type="http://schemas.openxmlformats.org/officeDocument/2006/relationships/hyperlink" Target="http://www.visualstudio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hyperlink" Target="../Software%20Requirements/01.%20Software%20Requirements%20Introduction.pptx" TargetMode="Externa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hyperlink" Target="../Software%20Testing/01.%20Software%20Testing%20Introduction.pptx" TargetMode="Externa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hyperlink" Target="../Software%20Design/01.%20Software%20Design%20Introduction.pptx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hyperlink" Target="06.%20Software%20Architecture%20Introduction.lnk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deproject.com/Articles/294022/Walkthrough-Creating-an-N-tier-Data-Application-wi" TargetMode="External"/><Relationship Id="rId2" Type="http://schemas.openxmlformats.org/officeDocument/2006/relationships/hyperlink" Target="http://msdn.microsoft.com/EN-US/LIBRARY/BB384570.ASPX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hyperlink" Target="http://www.codeproject.com/Articles/70061/Architecture-Guide-ASP-NET-MVC-Framework-N-tier-En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ource.microsoft.com/en-us/marketplace/partner-dir" TargetMode="External"/><Relationship Id="rId2" Type="http://schemas.openxmlformats.org/officeDocument/2006/relationships/hyperlink" Target="https://visualstudio.microsoft.com/vs/pricing-detail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my.visualstudio.com/GetHelp/AssistedSupport?mkt=en-us" TargetMode="External"/><Relationship Id="rId2" Type="http://schemas.openxmlformats.org/officeDocument/2006/relationships/hyperlink" Target="https://my.visualstudio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Introduction to .NET Application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7337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are software applications.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what are </a:t>
            </a:r>
            <a:r>
              <a:rPr lang="en-US" sz="2400" i="1" dirty="0" smtClean="0">
                <a:solidFill>
                  <a:srgbClr val="C00000"/>
                </a:solidFill>
              </a:rPr>
              <a:t>software applications development prerequisites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to develop software applications.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 err="1" smtClean="0"/>
              <a:t>Antoni</a:t>
            </a:r>
            <a:r>
              <a:rPr lang="en-US" sz="2000" dirty="0" smtClean="0"/>
              <a:t> Olive. Conceptual Modeling of Information Systems. 2007.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Roger S. Pressman. </a:t>
            </a:r>
            <a:r>
              <a:rPr lang="en-US" sz="2000" i="1" dirty="0" smtClean="0"/>
              <a:t>Software Engineering -- A Practitioner’s Approach</a:t>
            </a:r>
            <a:r>
              <a:rPr lang="en-US" sz="2000" dirty="0" smtClean="0"/>
              <a:t>. 5th Edition. McGraw-Hill. 2001.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 smtClean="0"/>
              <a:t>Dan Clark. Beginning C# Object-Oriented Programming. </a:t>
            </a:r>
            <a:r>
              <a:rPr lang="en-US" sz="2000" dirty="0" err="1" smtClean="0"/>
              <a:t>Apress</a:t>
            </a:r>
            <a:r>
              <a:rPr lang="en-US" sz="2000" dirty="0" smtClean="0"/>
              <a:t>. 2013.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/>
              <a:t>Banani</a:t>
            </a:r>
            <a:r>
              <a:rPr lang="en-US" sz="2000" dirty="0" smtClean="0"/>
              <a:t> Roy and T.C. Nicholas Graham. Methods for Evaluating Software Architecture : A Survey. 2008.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200"/>
          </a:xfrm>
        </p:spPr>
        <p:txBody>
          <a:bodyPr/>
          <a:lstStyle/>
          <a:p>
            <a:r>
              <a:rPr lang="en-US" sz="2400" dirty="0" smtClean="0"/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information system</a:t>
            </a:r>
            <a:r>
              <a:rPr lang="en-US" sz="2400" dirty="0" smtClean="0"/>
              <a:t> is a designed system that collects, stores, processes, and distributes information about the state of a domain.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3276600"/>
            <a:ext cx="37338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57200" y="2895600"/>
            <a:ext cx="48006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i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 system is therefore considered to have three main functions: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i="1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Memory</a:t>
            </a:r>
            <a:r>
              <a:rPr kumimoji="0" lang="en-US" sz="2000" i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 to maintain a representation of the state of a domain.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i="1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Informative</a:t>
            </a:r>
            <a:r>
              <a:rPr kumimoji="0" lang="en-US" sz="2000" i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 to provide information about the state of a domain.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i="1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Active</a:t>
            </a:r>
            <a:r>
              <a:rPr kumimoji="0" lang="en-US" sz="2000" i="0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 to perform actions that change the state of a domain.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Software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Software is (1) </a:t>
            </a:r>
            <a:r>
              <a:rPr lang="en-US" sz="2400" i="1" dirty="0" smtClean="0">
                <a:solidFill>
                  <a:srgbClr val="C00000"/>
                </a:solidFill>
              </a:rPr>
              <a:t>instructions</a:t>
            </a:r>
            <a:r>
              <a:rPr lang="en-US" sz="2400" dirty="0" smtClean="0"/>
              <a:t> (computer programs) that when executed provide desired function and performance, (2) </a:t>
            </a:r>
            <a:r>
              <a:rPr lang="en-US" sz="2400" i="1" dirty="0" smtClean="0">
                <a:solidFill>
                  <a:srgbClr val="C00000"/>
                </a:solidFill>
              </a:rPr>
              <a:t>data structures</a:t>
            </a:r>
            <a:r>
              <a:rPr lang="en-US" sz="2400" dirty="0" smtClean="0"/>
              <a:t> that enable the programs to adequately manipulate information, and (3) </a:t>
            </a:r>
            <a:r>
              <a:rPr lang="en-US" sz="2400" i="1" dirty="0" smtClean="0">
                <a:solidFill>
                  <a:srgbClr val="C00000"/>
                </a:solidFill>
              </a:rPr>
              <a:t>documents</a:t>
            </a:r>
            <a:r>
              <a:rPr lang="en-US" sz="2400" dirty="0" smtClean="0"/>
              <a:t> that describe the operation and use of the programs.</a:t>
            </a:r>
            <a:endParaRPr lang="en-US" sz="2400" dirty="0"/>
          </a:p>
        </p:txBody>
      </p:sp>
      <p:pic>
        <p:nvPicPr>
          <p:cNvPr id="2050" name="Picture 2" descr="http://www.ibm.com/cloud-computing/images/what_is_software_as_a_service_saa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3810000"/>
            <a:ext cx="2857500" cy="20955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4419600" cy="3124200"/>
          </a:xfrm>
        </p:spPr>
        <p:txBody>
          <a:bodyPr/>
          <a:lstStyle/>
          <a:p>
            <a:r>
              <a:rPr lang="en-US" sz="2400" dirty="0" smtClean="0"/>
              <a:t>System software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Application software</a:t>
            </a:r>
          </a:p>
          <a:p>
            <a:r>
              <a:rPr lang="en-US" sz="2400" dirty="0" smtClean="0"/>
              <a:t>Engineering/scientific software</a:t>
            </a:r>
          </a:p>
          <a:p>
            <a:r>
              <a:rPr lang="en-US" sz="2400" dirty="0" smtClean="0"/>
              <a:t>Embedded software</a:t>
            </a:r>
          </a:p>
          <a:p>
            <a:r>
              <a:rPr lang="en-US" sz="2400" dirty="0" smtClean="0"/>
              <a:t>Product-line software</a:t>
            </a:r>
          </a:p>
          <a:p>
            <a:r>
              <a:rPr lang="en-US" sz="2400" dirty="0" smtClean="0"/>
              <a:t>Web applications</a:t>
            </a:r>
          </a:p>
          <a:p>
            <a:r>
              <a:rPr lang="en-US" sz="2400" dirty="0" smtClean="0"/>
              <a:t>AI software</a:t>
            </a:r>
            <a:endParaRPr lang="en-US" sz="2400" dirty="0"/>
          </a:p>
        </p:txBody>
      </p:sp>
      <p:pic>
        <p:nvPicPr>
          <p:cNvPr id="1026" name="Picture 2" descr="http://www.webopedia.com/FIG/APPLICAT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1295400"/>
            <a:ext cx="3009900" cy="3257550"/>
          </a:xfrm>
          <a:prstGeom prst="rect">
            <a:avLst/>
          </a:prstGeom>
          <a:noFill/>
        </p:spPr>
      </p:pic>
      <p:pic>
        <p:nvPicPr>
          <p:cNvPr id="1030" name="Picture 6" descr="http://www.iiwisoft.com/images/SoftwareIcon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495800"/>
            <a:ext cx="2819400" cy="20017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Types</a:t>
            </a:r>
            <a:endParaRPr lang="en-US" dirty="0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447800"/>
            <a:ext cx="3695700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0" y="1447800"/>
            <a:ext cx="2809875" cy="498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4343400"/>
            <a:ext cx="355282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752600"/>
            <a:ext cx="368617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 Prerequisite </a:t>
            </a:r>
            <a:endParaRPr lang="en-US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1066800"/>
            <a:ext cx="2334472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505200" y="1524000"/>
            <a:ext cx="3048000" cy="1600200"/>
          </a:xfrm>
        </p:spPr>
        <p:txBody>
          <a:bodyPr/>
          <a:lstStyle/>
          <a:p>
            <a:r>
              <a:rPr lang="en-US" dirty="0" smtClean="0"/>
              <a:t>WHY?</a:t>
            </a:r>
          </a:p>
          <a:p>
            <a:pPr lvl="1"/>
            <a:r>
              <a:rPr lang="en-US" dirty="0" smtClean="0"/>
              <a:t>Productivity</a:t>
            </a:r>
          </a:p>
          <a:p>
            <a:pPr lvl="1"/>
            <a:r>
              <a:rPr lang="en-US" dirty="0" smtClean="0"/>
              <a:t>Reducing Cost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800600" y="4953000"/>
            <a:ext cx="373608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+mj-lt"/>
              </a:rPr>
              <a:t>Source Code Version Control</a:t>
            </a:r>
          </a:p>
          <a:p>
            <a:r>
              <a:rPr lang="en-US" sz="2400" dirty="0" smtClean="0">
                <a:latin typeface="+mj-lt"/>
                <a:hlinkClick r:id="rId4"/>
              </a:rPr>
              <a:t>http://git-scm.com/</a:t>
            </a:r>
            <a:endParaRPr lang="en-US" sz="2400" dirty="0" smtClean="0">
              <a:latin typeface="+mj-lt"/>
            </a:endParaRPr>
          </a:p>
          <a:p>
            <a:r>
              <a:rPr lang="en-US" sz="2400" dirty="0" smtClean="0">
                <a:latin typeface="+mj-lt"/>
                <a:hlinkClick r:id="rId5"/>
              </a:rPr>
              <a:t>https://github.com/</a:t>
            </a:r>
            <a:endParaRPr lang="en-US" sz="2400" dirty="0" smtClean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64527" y="3429000"/>
            <a:ext cx="38270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+mj-lt"/>
                <a:hlinkClick r:id="rId6"/>
              </a:rPr>
              <a:t>http://www.photoshop.com/</a:t>
            </a:r>
            <a:endParaRPr lang="en-US" sz="2400" dirty="0">
              <a:latin typeface="+mj-lt"/>
            </a:endParaRP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66800" y="4800600"/>
            <a:ext cx="34671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/>
          <p:cNvSpPr/>
          <p:nvPr/>
        </p:nvSpPr>
        <p:spPr>
          <a:xfrm>
            <a:off x="76200" y="3429000"/>
            <a:ext cx="45931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+mj-lt"/>
                <a:hlinkClick r:id="rId8"/>
              </a:rPr>
              <a:t>http://office.microsoft.com/en-us/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Integrated Development Environment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524000"/>
            <a:ext cx="390525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524000"/>
            <a:ext cx="4191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533400" y="5074384"/>
            <a:ext cx="47244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dirty="0" smtClean="0">
                <a:latin typeface="+mj-lt"/>
              </a:rPr>
              <a:t>A source code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editor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A compiler</a:t>
            </a:r>
            <a:r>
              <a:rPr lang="en-US" sz="2400" dirty="0" smtClean="0">
                <a:latin typeface="+mj-lt"/>
              </a:rPr>
              <a:t> and/or an interpreter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Build</a:t>
            </a:r>
            <a:r>
              <a:rPr lang="en-US" sz="2400" dirty="0" smtClean="0">
                <a:latin typeface="+mj-lt"/>
              </a:rPr>
              <a:t> automation tools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A debugger</a:t>
            </a:r>
            <a:endParaRPr lang="en-US" sz="2400" i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4495800"/>
            <a:ext cx="40170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+mj-lt"/>
                <a:hlinkClick r:id="rId4"/>
              </a:rPr>
              <a:t>http://www.visualstudio.com/</a:t>
            </a:r>
            <a:endParaRPr lang="en-US" sz="2400" dirty="0" smtClean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0" y="4495800"/>
            <a:ext cx="33379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+mj-lt"/>
                <a:hlinkClick r:id="rId5"/>
              </a:rPr>
              <a:t>https://netbeans.org/</a:t>
            </a:r>
            <a:endParaRPr lang="en-US" sz="2400" dirty="0" smtClean="0">
              <a:latin typeface="+mj-lt"/>
            </a:endParaRPr>
          </a:p>
          <a:p>
            <a:r>
              <a:rPr lang="en-US" sz="2400" dirty="0" smtClean="0">
                <a:latin typeface="+mj-lt"/>
                <a:hlinkClick r:id="rId6"/>
              </a:rPr>
              <a:t>https://www.eclipse.org/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Platform</a:t>
            </a:r>
            <a:endParaRPr lang="en-US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295400"/>
            <a:ext cx="257175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1371600"/>
            <a:ext cx="27336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4343400"/>
            <a:ext cx="304800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708" name="Picture 4" descr="http://images.gizmag.com/hero/ios6overview-1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4400" y="4343400"/>
            <a:ext cx="3600450" cy="2024404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48000" y="2743200"/>
            <a:ext cx="193357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Oval 10"/>
          <p:cNvSpPr/>
          <p:nvPr/>
        </p:nvSpPr>
        <p:spPr>
          <a:xfrm>
            <a:off x="457200" y="1371600"/>
            <a:ext cx="1600200" cy="13716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 Arrow 12"/>
          <p:cNvSpPr/>
          <p:nvPr/>
        </p:nvSpPr>
        <p:spPr>
          <a:xfrm>
            <a:off x="457200" y="2743200"/>
            <a:ext cx="1066800" cy="609600"/>
          </a:xfrm>
          <a:prstGeom prst="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Language [4]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4495800"/>
            <a:ext cx="8458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Structured programming</a:t>
            </a:r>
            <a:r>
              <a:rPr lang="en-US" sz="2400" dirty="0" smtClean="0">
                <a:latin typeface="+mj-lt"/>
              </a:rPr>
              <a:t> was supposed to improve software productivity and remove most software defects.</a:t>
            </a:r>
          </a:p>
          <a:p>
            <a:pPr algn="just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Object orientation</a:t>
            </a:r>
            <a:r>
              <a:rPr lang="en-US" sz="2400" dirty="0" smtClean="0">
                <a:latin typeface="+mj-lt"/>
              </a:rPr>
              <a:t> was supposed to solve the problems of software productivity and adaptability, and make software highly reusable.</a:t>
            </a:r>
            <a:endParaRPr lang="en-US" sz="2400" dirty="0">
              <a:latin typeface="+mj-lt"/>
            </a:endParaRPr>
          </a:p>
        </p:txBody>
      </p:sp>
      <p:pic>
        <p:nvPicPr>
          <p:cNvPr id="35842" name="Picture 2" descr="http://www.techiwarehouse.com/userfiles/programming_langu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905000"/>
            <a:ext cx="5305425" cy="2171701"/>
          </a:xfrm>
          <a:prstGeom prst="rect">
            <a:avLst/>
          </a:prstGeom>
          <a:noFill/>
        </p:spPr>
      </p:pic>
      <p:sp>
        <p:nvSpPr>
          <p:cNvPr id="7" name="Up Arrow 6"/>
          <p:cNvSpPr/>
          <p:nvPr/>
        </p:nvSpPr>
        <p:spPr>
          <a:xfrm>
            <a:off x="4267200" y="3733800"/>
            <a:ext cx="1066800" cy="609600"/>
          </a:xfrm>
          <a:prstGeom prst="up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C# Language Basics?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4114800" cy="49530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sz="18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counter = 1;</a:t>
            </a:r>
          </a:p>
          <a:p>
            <a:pPr>
              <a:buNone/>
            </a:pPr>
            <a:endParaRPr lang="en-US" sz="1800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double?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salary = null;</a:t>
            </a:r>
          </a:p>
          <a:p>
            <a:pPr>
              <a:buNone/>
            </a:pPr>
            <a:endParaRPr lang="en-US" sz="1800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18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Point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_x, _y;</a:t>
            </a:r>
          </a:p>
          <a:p>
            <a:pPr>
              <a:buNone/>
            </a:pPr>
            <a:endParaRPr lang="en-US" sz="1800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public Point(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y)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_x = x;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_y = y;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Point p1 = new Point(10,20);</a:t>
            </a:r>
            <a:endParaRPr lang="en-US" sz="180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495800" y="1600200"/>
            <a:ext cx="4419600" cy="495300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2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</a:pPr>
            <a:r>
              <a:rPr lang="en-US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string[]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name = new string[4];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StringBuilder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sb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StringBuilder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const Single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pi = 3.14159265358979323846;</a:t>
            </a:r>
          </a:p>
          <a:p>
            <a:pPr marL="342900" lvl="0" indent="-342900" eaLnBrk="0" hangingPunct="0">
              <a:spcBef>
                <a:spcPct val="20000"/>
              </a:spcBef>
            </a:pPr>
            <a:endParaRPr lang="en-US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enum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Manager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DeptManager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GeneralManager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AssistantManager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42900" lvl="0" indent="-342900" eaLnBrk="0" hangingPunct="0">
              <a:spcBef>
                <a:spcPct val="20000"/>
              </a:spcBef>
            </a:pPr>
            <a:endParaRPr lang="en-US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Manager </a:t>
            </a:r>
            <a:r>
              <a:rPr lang="en-US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managerLevel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Manager.DeptManager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1400" y="533400"/>
            <a:ext cx="14001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/>
          <a:lstStyle/>
          <a:p>
            <a:pPr lvl="0"/>
            <a:r>
              <a:rPr lang="en-US" sz="2200" dirty="0" smtClean="0">
                <a:solidFill>
                  <a:srgbClr val="C00000"/>
                </a:solidFill>
              </a:rPr>
              <a:t>DAN CLARK. BEGINNING C# OBJECT-ORIENTED PROGRAMMING. APRESS. 2013.</a:t>
            </a:r>
          </a:p>
          <a:p>
            <a:r>
              <a:rPr lang="en-US" sz="2200" dirty="0" smtClean="0"/>
              <a:t>APPENDIX C - INSTALLING THE REQUIRED SOFTWARE</a:t>
            </a:r>
          </a:p>
          <a:p>
            <a:r>
              <a:rPr lang="en-US" sz="2200" dirty="0" smtClean="0"/>
              <a:t>ACTIVITY 5-1. TOURING VISUAL STUDIO.</a:t>
            </a:r>
          </a:p>
          <a:p>
            <a:r>
              <a:rPr lang="en-US" sz="2200" dirty="0" smtClean="0"/>
              <a:t>ACTIVITY 5-2. USING THE DEBUGGING FEATURES OF VS.</a:t>
            </a:r>
          </a:p>
          <a:p>
            <a:pPr lvl="0"/>
            <a:r>
              <a:rPr lang="en-US" sz="2200" dirty="0" smtClean="0">
                <a:solidFill>
                  <a:srgbClr val="C00000"/>
                </a:solidFill>
              </a:rPr>
              <a:t>JOSEPH ALBAHARI AND BEN ALBAHARI. C# 5.0 IN A NUTSHELL. FIFTH EDITION. O’REILLY MEDIA, INC. 2012.</a:t>
            </a:r>
          </a:p>
          <a:p>
            <a:pPr lvl="0"/>
            <a:r>
              <a:rPr lang="en-US" sz="2200" dirty="0" smtClean="0"/>
              <a:t>CHAPTER 6. FRAMEWORK FUNDAMENTALS</a:t>
            </a:r>
          </a:p>
        </p:txBody>
      </p:sp>
      <p:pic>
        <p:nvPicPr>
          <p:cNvPr id="3074" name="Picture 2" descr="http://www.howtoguide.in/wp-content/uploads/2013/04/programmer_im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514600"/>
            <a:ext cx="2933700" cy="3495675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381000"/>
            <a:ext cx="20859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OOP With C#?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4114800" cy="49530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Employee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private string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_name;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public string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get { return _name; }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set { _name = value; }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public Boolean Login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(string name, string password)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return true;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495800" y="1600200"/>
            <a:ext cx="4419600" cy="495300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lumMod val="2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</a:pPr>
            <a:r>
              <a:rPr lang="en-US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public abstract class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Account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public abstract string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GetAccountInfo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SavingsAccount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: Account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public override string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GetAccountInfo</a:t>
            </a: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return "Printing savings 	account info";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342900" lvl="0" indent="-342900" eaLnBrk="0" hangingPunct="0">
              <a:spcBef>
                <a:spcPct val="20000"/>
              </a:spcBef>
            </a:pPr>
            <a:r>
              <a:rPr lang="en-US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533400"/>
            <a:ext cx="14001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pPr lvl="0"/>
            <a:r>
              <a:rPr lang="en-US" sz="2200" dirty="0" smtClean="0">
                <a:solidFill>
                  <a:srgbClr val="C00000"/>
                </a:solidFill>
              </a:rPr>
              <a:t>DAN CLARK. BEGINNING C# OBJECT-ORIENTED PROGRAMMING. APRESS. 2013.</a:t>
            </a:r>
          </a:p>
          <a:p>
            <a:r>
              <a:rPr lang="en-US" sz="2200" dirty="0" smtClean="0"/>
              <a:t>ACTIVITY 6-1. CREATING THE EMPLOYEE CLASS</a:t>
            </a:r>
          </a:p>
          <a:p>
            <a:r>
              <a:rPr lang="en-US" sz="2200" dirty="0" smtClean="0"/>
              <a:t>ACTIVITY 6-2. CREATING CONSTRUCTORS AND OVERLOADING METHODS.</a:t>
            </a:r>
          </a:p>
          <a:p>
            <a:r>
              <a:rPr lang="en-US" sz="2200" dirty="0" smtClean="0"/>
              <a:t>ACTIVITY 7-1. IMPLEMENTING INHERITANCE USING BASE AND DERIVED CLASSES.</a:t>
            </a:r>
          </a:p>
          <a:p>
            <a:r>
              <a:rPr lang="en-US" sz="2200" dirty="0" smtClean="0"/>
              <a:t>ACTIVITY 7-2. OVERRIDING BASE CLASS METHODS.</a:t>
            </a:r>
          </a:p>
        </p:txBody>
      </p:sp>
      <p:pic>
        <p:nvPicPr>
          <p:cNvPr id="4" name="Picture 2" descr="http://www.howtoguide.in/wp-content/uploads/2013/04/programmer_im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828925"/>
            <a:ext cx="2933700" cy="3495675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714375"/>
            <a:ext cx="20859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.NET Collections With C#?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1425" y="533400"/>
            <a:ext cx="14001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9530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List&lt;Customer&gt;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customerList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 List&lt;Customer&gt;()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customerList.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(new Customer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("WHITC", "White Clover Markets", "Karl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Jablonski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"));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customerList.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(new Customer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("RANCH", "Rancho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grande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", "Sergio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Gutiérrez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"));</a:t>
            </a:r>
          </a:p>
          <a:p>
            <a:pPr>
              <a:buNone/>
            </a:pP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customerList.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(new Customer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ALFKI","Alfreds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Futterkiste","Maria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Anders"));</a:t>
            </a:r>
          </a:p>
          <a:p>
            <a:pPr>
              <a:buNone/>
            </a:pP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foreach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(Customer c in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customerList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(“Id: {0} Company: {1} Contact: {2}”,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c.CompanyId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c.CompanyName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c.ContactName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pPr lvl="0"/>
            <a:r>
              <a:rPr lang="en-US" sz="2200" dirty="0" smtClean="0">
                <a:solidFill>
                  <a:srgbClr val="C00000"/>
                </a:solidFill>
              </a:rPr>
              <a:t>DAN CLARK. BEGINNING C# OBJECT-ORIENTED PROGRAMMING. APRESS. 2013.</a:t>
            </a:r>
          </a:p>
          <a:p>
            <a:r>
              <a:rPr lang="en-US" sz="2200" dirty="0" smtClean="0"/>
              <a:t>ACTIVITY 9-1. WORKING WITH ARRAYS AND ARRAY LISTS</a:t>
            </a:r>
          </a:p>
          <a:p>
            <a:r>
              <a:rPr lang="en-US" sz="2200" dirty="0" smtClean="0"/>
              <a:t>ACTIVITY 9-2. IMPLEMENTING AND EXTENDING GENERIC COLLECTIONS</a:t>
            </a:r>
          </a:p>
          <a:p>
            <a:r>
              <a:rPr lang="en-US" sz="2200" dirty="0" smtClean="0"/>
              <a:t>ACTIVITY 9-3. IMPLEMENTING STACKS AND QUEUES</a:t>
            </a:r>
            <a:endParaRPr lang="en-US" sz="2200" dirty="0"/>
          </a:p>
        </p:txBody>
      </p:sp>
      <p:pic>
        <p:nvPicPr>
          <p:cNvPr id="4" name="Picture 2" descr="http://www.howtoguide.in/wp-content/uploads/2013/04/programmer_im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828925"/>
            <a:ext cx="2933700" cy="3495675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714375"/>
            <a:ext cx="20859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Streams And I/O With C#?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9530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public static string </a:t>
            </a:r>
            <a:r>
              <a:rPr lang="en-US" sz="18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WriteLog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(string 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logPath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string 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logInfo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using (</a:t>
            </a:r>
            <a:r>
              <a:rPr lang="en-US" sz="18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oFileStream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8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FileStream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logPath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FileMode.</a:t>
            </a:r>
            <a:r>
              <a:rPr lang="en-US" sz="18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Open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FileAccess.</a:t>
            </a:r>
            <a:r>
              <a:rPr lang="en-US" sz="18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Write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)){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using (</a:t>
            </a:r>
            <a:r>
              <a:rPr lang="en-US" sz="18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StreamWriter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oStreamWriter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new 	</a:t>
            </a:r>
            <a:r>
              <a:rPr lang="en-US" sz="18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StreamWriter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oFileStream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))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oFileStream.</a:t>
            </a:r>
            <a:r>
              <a:rPr lang="en-US" sz="18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Seek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(0, 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SeekOrigin.End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oStreamWriter.WriteLine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DateTime.Now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oStreamWriter.WriteLine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logInfo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18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oStreamWriter.WriteLine</a:t>
            </a: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return "Info Logged";</a:t>
            </a:r>
          </a:p>
          <a:p>
            <a:pPr>
              <a:buNone/>
            </a:pPr>
            <a:r>
              <a:rPr lang="en-US" sz="1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80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67625" y="533400"/>
            <a:ext cx="14001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pPr lvl="0"/>
            <a:r>
              <a:rPr lang="en-US" sz="2400" dirty="0" smtClean="0">
                <a:solidFill>
                  <a:srgbClr val="C00000"/>
                </a:solidFill>
              </a:rPr>
              <a:t>JOSEPH ALBAHARI AND BEN ALBAHARI. C# 5.0 IN A NUTSHELL. FIFTH EDITION. O’REILLY MEDIA, INC. 2012.</a:t>
            </a:r>
          </a:p>
          <a:p>
            <a:pPr lvl="0"/>
            <a:r>
              <a:rPr lang="en-US" sz="2400" dirty="0" smtClean="0"/>
              <a:t>CHAPTER 15. Streams and I/O</a:t>
            </a:r>
          </a:p>
        </p:txBody>
      </p:sp>
      <p:pic>
        <p:nvPicPr>
          <p:cNvPr id="4" name="Picture 2" descr="http://www.howtoguide.in/wp-content/uploads/2013/04/programmer_im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828925"/>
            <a:ext cx="2933700" cy="3495675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714375"/>
            <a:ext cx="20859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.NET Controls With C#? [3]</a:t>
            </a:r>
            <a:endParaRPr lang="en-US" dirty="0"/>
          </a:p>
        </p:txBody>
      </p:sp>
      <p:pic>
        <p:nvPicPr>
          <p:cNvPr id="59400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514475"/>
            <a:ext cx="3924300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401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3375" y="4600575"/>
            <a:ext cx="355282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114800" y="1524000"/>
            <a:ext cx="4800600" cy="44196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using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System.Windows.Controls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TextBox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phoneTextBox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sz="2000" b="1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private void 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btnSave_Click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object sender,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EventArgs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e)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private void 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btnCancel_Click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object sender,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EventArgs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e)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0" y="533400"/>
            <a:ext cx="14001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pPr lvl="0"/>
            <a:r>
              <a:rPr lang="en-US" sz="2000" dirty="0" smtClean="0">
                <a:solidFill>
                  <a:srgbClr val="C00000"/>
                </a:solidFill>
              </a:rPr>
              <a:t>DAN CLARK. BEGINNING C# OBJECT-ORIENTED PROGRAMMING. APRESS. 2013.</a:t>
            </a:r>
          </a:p>
          <a:p>
            <a:r>
              <a:rPr lang="en-US" sz="2000" dirty="0" smtClean="0"/>
              <a:t>ACTIVITY 8-1. ISSUING AND RESPONDING TO EVENT MESSAGES</a:t>
            </a:r>
          </a:p>
          <a:p>
            <a:r>
              <a:rPr lang="en-US" sz="2000" dirty="0" smtClean="0"/>
              <a:t>ACTIVITY 8-2. IMPLEMENTING EXCEPTION HANDLING AND STATIC METHODS</a:t>
            </a:r>
          </a:p>
          <a:p>
            <a:r>
              <a:rPr lang="en-US" sz="2000" dirty="0" smtClean="0"/>
              <a:t>ACTIVITY 11-1. WORKING WITH WINDOWS AND CONTROLS</a:t>
            </a:r>
          </a:p>
          <a:p>
            <a:r>
              <a:rPr lang="en-US" sz="2000" dirty="0" smtClean="0"/>
              <a:t>ACTIVITY 12-1. WORKING WITH WEB PAGES AND SERVER CONTROLS</a:t>
            </a:r>
          </a:p>
          <a:p>
            <a:r>
              <a:rPr lang="en-US" sz="2000" dirty="0" smtClean="0"/>
              <a:t>ACTIVITY 12-2. MAINTAINING STATE IN A WEB APPLICATION</a:t>
            </a:r>
          </a:p>
          <a:p>
            <a:r>
              <a:rPr lang="en-US" sz="2000" dirty="0" smtClean="0"/>
              <a:t>ACTIVITY 13-1. WORKING WITH CONTROLS</a:t>
            </a:r>
          </a:p>
        </p:txBody>
      </p:sp>
      <p:pic>
        <p:nvPicPr>
          <p:cNvPr id="4" name="Picture 2" descr="http://www.howtoguide.in/wp-content/uploads/2013/04/programmer_im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828925"/>
            <a:ext cx="2933700" cy="3495675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714375"/>
            <a:ext cx="20859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ADO.NET With C#?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9530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sz="22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SqlConnection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pubConnection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22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SqlConnection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22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connString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try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connString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"Data Source=drcsrv01; Initial Catalog=pubs; Integrated Security=True";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pubConnection.ConnectionString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2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connString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pubConnection.</a:t>
            </a:r>
            <a:r>
              <a:rPr lang="en-US" sz="22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Open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sz="22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2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SqlException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ex) { throw ex; }</a:t>
            </a:r>
          </a:p>
          <a:p>
            <a:pPr>
              <a:buNone/>
            </a:pPr>
            <a:r>
              <a:rPr lang="en-US" sz="22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finally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{ </a:t>
            </a:r>
            <a:r>
              <a:rPr lang="en-US" sz="22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pubConnection.Dispose</a:t>
            </a:r>
            <a:r>
              <a:rPr lang="en-US" sz="22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 }</a:t>
            </a:r>
            <a:endParaRPr lang="en-US" sz="220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533400"/>
            <a:ext cx="14001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pPr lvl="0"/>
            <a:r>
              <a:rPr lang="en-US" sz="1800" dirty="0" smtClean="0">
                <a:solidFill>
                  <a:srgbClr val="C00000"/>
                </a:solidFill>
              </a:rPr>
              <a:t>DAN CLARK. BEGINNING C# OBJECT-ORIENTED PROGRAMMING. APRESS. 2013.</a:t>
            </a:r>
          </a:p>
          <a:p>
            <a:r>
              <a:rPr lang="en-US" sz="1800" dirty="0" smtClean="0"/>
              <a:t>ACTIVITY 10-1. RETRIEVING DATA FROM A SQL SERVER DATA BASE</a:t>
            </a:r>
          </a:p>
          <a:p>
            <a:r>
              <a:rPr lang="en-US" sz="1800" dirty="0" smtClean="0"/>
              <a:t>ACTIVITY 10-2. WORKING WITH DATA SET OBJECTS</a:t>
            </a:r>
          </a:p>
          <a:p>
            <a:r>
              <a:rPr lang="en-US" sz="1800" dirty="0" smtClean="0"/>
              <a:t>ACTIVITY 11-2. WORKING WITH DATA BOUND CONTROLS</a:t>
            </a:r>
          </a:p>
          <a:p>
            <a:r>
              <a:rPr lang="en-US" sz="1800" dirty="0" smtClean="0"/>
              <a:t>ACTIVITY 11-3. WORKING WITH DATA TEMPLATES</a:t>
            </a:r>
          </a:p>
          <a:p>
            <a:r>
              <a:rPr lang="en-US" sz="1800" dirty="0" smtClean="0"/>
              <a:t>ACTIVITY 12-3. BINDING A GRIDVIEW CONTROL</a:t>
            </a:r>
          </a:p>
          <a:p>
            <a:r>
              <a:rPr lang="en-US" sz="1800" dirty="0" smtClean="0"/>
              <a:t>ACTIVITY 13-2. WORKING WITH DATA -BOUND CONTROLS</a:t>
            </a:r>
          </a:p>
          <a:p>
            <a:r>
              <a:rPr lang="en-US" sz="1800" dirty="0" smtClean="0"/>
              <a:t>ACTIVITY 13-3. WORKING WITH DATA TEMPLATES</a:t>
            </a:r>
          </a:p>
        </p:txBody>
      </p:sp>
      <p:pic>
        <p:nvPicPr>
          <p:cNvPr id="4" name="Picture 2" descr="http://www.howtoguide.in/wp-content/uploads/2013/04/programmer_im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743200"/>
            <a:ext cx="2933700" cy="3495675"/>
          </a:xfrm>
          <a:prstGeom prst="rect">
            <a:avLst/>
          </a:prstGeom>
          <a:noFill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714375"/>
            <a:ext cx="20859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Concurrency &amp; Asynchrony With C#?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953000"/>
          </a:xfr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static void Main()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// Kick off a new thread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Thread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writeYThread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Thread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WriteY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writeYThread.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Start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 // running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WriteY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// Simultaneously, do something on the main thread.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&lt; 1000;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++)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("x");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US" sz="2000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static void </a:t>
            </a:r>
            <a:r>
              <a:rPr lang="en-US" sz="20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WriteY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&lt; 1000;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++) </a:t>
            </a:r>
            <a:r>
              <a:rPr lang="en-US" sz="2000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Console.Write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("y");</a:t>
            </a:r>
          </a:p>
          <a:p>
            <a:pPr>
              <a:buNone/>
            </a:pP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838200"/>
            <a:ext cx="14001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pPr lvl="0"/>
            <a:r>
              <a:rPr lang="en-US" sz="2400" dirty="0" smtClean="0">
                <a:solidFill>
                  <a:srgbClr val="C00000"/>
                </a:solidFill>
              </a:rPr>
              <a:t>JOSEPH ALBAHARI AND BEN ALBAHARI. C# 5.0 IN A NUTSHELL. FIFTH EDITION. O’REILLY MEDIA, INC. 2012.</a:t>
            </a:r>
          </a:p>
          <a:p>
            <a:pPr lvl="0"/>
            <a:r>
              <a:rPr lang="en-US" sz="2400" dirty="0" smtClean="0"/>
              <a:t>CHAPTER 14. CONCURRENCY &amp; ASYNCHRONY</a:t>
            </a:r>
          </a:p>
          <a:p>
            <a:pPr lvl="0"/>
            <a:r>
              <a:rPr lang="en-US" sz="2400" dirty="0" smtClean="0">
                <a:solidFill>
                  <a:srgbClr val="C00000"/>
                </a:solidFill>
              </a:rPr>
              <a:t>DAN CLARK. BEGINNING C# OBJECT-ORIENTED PROGRAMMING. APRESS. 2013.</a:t>
            </a:r>
          </a:p>
          <a:p>
            <a:r>
              <a:rPr lang="en-US" sz="2400" dirty="0" smtClean="0"/>
              <a:t>ACTIVITY 8-3. CALLING METHODS ASYNCHRONOUSLY</a:t>
            </a:r>
          </a:p>
        </p:txBody>
      </p:sp>
      <p:pic>
        <p:nvPicPr>
          <p:cNvPr id="4" name="Picture 2" descr="http://www.howtoguide.in/wp-content/uploads/2013/04/programmer_im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743200"/>
            <a:ext cx="2933700" cy="3495675"/>
          </a:xfrm>
          <a:prstGeom prst="rect">
            <a:avLst/>
          </a:prstGeom>
          <a:noFill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714375"/>
            <a:ext cx="20859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http://cnx.org/content/m18854/latest/038_maths_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4114800"/>
            <a:ext cx="3952875" cy="23812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Developing a SRS? [3]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295400"/>
            <a:ext cx="321945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1371600"/>
            <a:ext cx="3200400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95900" y="2667000"/>
            <a:ext cx="31623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657600" y="4953000"/>
            <a:ext cx="493395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>
            <a:hlinkClick r:id="rId7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353300" y="228600"/>
            <a:ext cx="1333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pPr lvl="0"/>
            <a:r>
              <a:rPr lang="en-US" sz="2200" dirty="0" smtClean="0">
                <a:solidFill>
                  <a:srgbClr val="C00000"/>
                </a:solidFill>
              </a:rPr>
              <a:t>DAN CLARK. BEGINNING C# OBJECT-ORIENTED PROGRAMMING. APRESS. 2013.</a:t>
            </a:r>
          </a:p>
          <a:p>
            <a:r>
              <a:rPr lang="en-US" sz="2200" dirty="0" smtClean="0"/>
              <a:t>ACTIVITY 2-1. CREATING A USE CASE DIAGRAM</a:t>
            </a:r>
            <a:endParaRPr lang="en-US" sz="2200" dirty="0"/>
          </a:p>
        </p:txBody>
      </p:sp>
      <p:pic>
        <p:nvPicPr>
          <p:cNvPr id="4" name="Picture 2" descr="http://www.howtoguide.in/wp-content/uploads/2013/04/programmer_im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743200"/>
            <a:ext cx="2933700" cy="3495675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714375"/>
            <a:ext cx="20859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133475"/>
            <a:ext cx="280035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 descr="http://cnx.org/content/m18854/latest/038_maths_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295400"/>
            <a:ext cx="3952875" cy="2381250"/>
          </a:xfrm>
          <a:prstGeom prst="rect">
            <a:avLst/>
          </a:prstGeom>
          <a:noFill/>
        </p:spPr>
      </p:pic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43050" y="2209800"/>
            <a:ext cx="7296150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Developing a Test Plan?</a:t>
            </a:r>
            <a:endParaRPr lang="en-US" dirty="0"/>
          </a:p>
        </p:txBody>
      </p:sp>
      <p:pic>
        <p:nvPicPr>
          <p:cNvPr id="5" name="Picture 4">
            <a:hlinkClick r:id="rId5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391400" y="457200"/>
            <a:ext cx="1333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Detailed Design [3]</a:t>
            </a:r>
            <a:endParaRPr lang="en-US" dirty="0"/>
          </a:p>
        </p:txBody>
      </p:sp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5075" y="1533525"/>
            <a:ext cx="412432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3886200"/>
            <a:ext cx="53721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hlinkClick r:id="rId4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91400" y="1524000"/>
            <a:ext cx="1333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11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pPr lvl="0"/>
            <a:r>
              <a:rPr lang="en-US" sz="2200" dirty="0" smtClean="0">
                <a:solidFill>
                  <a:srgbClr val="C00000"/>
                </a:solidFill>
              </a:rPr>
              <a:t>DAN CLARK. BEGINNING C# OBJECT-ORIENTED PROGRAMMING. APRESS. 2013.</a:t>
            </a:r>
          </a:p>
          <a:p>
            <a:r>
              <a:rPr lang="en-US" sz="2200" dirty="0" smtClean="0"/>
              <a:t>ACTIVITY 2-2. CREATING A CLASS DIAGRAM</a:t>
            </a:r>
          </a:p>
          <a:p>
            <a:r>
              <a:rPr lang="en-US" sz="2200" dirty="0" smtClean="0"/>
              <a:t>ACTIVITY 3-1. CREATING A SEQUENCE DIAGRAM</a:t>
            </a:r>
          </a:p>
          <a:p>
            <a:r>
              <a:rPr lang="en-US" sz="2200" dirty="0" smtClean="0"/>
              <a:t>ACTIVITY 3-2. CREATING AN ACTIVITY DIAGRAM</a:t>
            </a:r>
          </a:p>
        </p:txBody>
      </p:sp>
      <p:pic>
        <p:nvPicPr>
          <p:cNvPr id="4" name="Picture 2" descr="http://www.howtoguide.in/wp-content/uploads/2013/04/programmer_ima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95600"/>
            <a:ext cx="2933700" cy="3495675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714375"/>
            <a:ext cx="20859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http://cnx.org/content/m18854/latest/038_maths_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4114800"/>
            <a:ext cx="3952875" cy="23812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An Architecture?</a:t>
            </a:r>
            <a:endParaRPr lang="en-US" dirty="0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447800"/>
            <a:ext cx="666750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81900" y="381000"/>
            <a:ext cx="13335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r>
              <a:rPr lang="en-US" sz="2200" dirty="0" smtClean="0">
                <a:hlinkClick r:id="rId2"/>
              </a:rPr>
              <a:t>HTTP://MSDN.MICROSOFT.COM/EN-US/LIBRARY/BB384570.ASPX</a:t>
            </a:r>
            <a:endParaRPr lang="en-US" sz="2200" dirty="0" smtClean="0"/>
          </a:p>
          <a:p>
            <a:pPr lvl="0"/>
            <a:r>
              <a:rPr lang="en-US" sz="2200" dirty="0" smtClean="0">
                <a:hlinkClick r:id="rId2"/>
              </a:rPr>
              <a:t>HTTP://WWW.CODEPROJECT.COM/ARTICLES/439688/CREATING-ASP-NET-APPLICATION-WITH-N-TIER-ARCHITECT</a:t>
            </a:r>
          </a:p>
          <a:p>
            <a:pPr lvl="0"/>
            <a:r>
              <a:rPr lang="en-US" sz="2200" dirty="0" smtClean="0">
                <a:hlinkClick r:id="rId3"/>
              </a:rPr>
              <a:t>HTTP://WWW.CODEPROJECT.COM/ARTICLES/294022/WALKTHROUGH-CREATING-AN-N-TIER-DATA-APPLICATION-WI</a:t>
            </a:r>
            <a:endParaRPr lang="en-US" sz="2200" dirty="0" smtClean="0"/>
          </a:p>
          <a:p>
            <a:pPr lvl="0"/>
            <a:r>
              <a:rPr lang="en-US" sz="2200" dirty="0" smtClean="0">
                <a:hlinkClick r:id="rId4"/>
              </a:rPr>
              <a:t>HTTP://WWW.CODEPROJECT.COM/ARTICLES/70061/ARCHITECTURE-GUIDE-ASP-NET-MVC-FRAMEWORK-N-TIER-EN</a:t>
            </a:r>
            <a:endParaRPr lang="en-US" sz="2200" dirty="0" smtClean="0"/>
          </a:p>
        </p:txBody>
      </p:sp>
      <p:pic>
        <p:nvPicPr>
          <p:cNvPr id="4" name="Picture 2" descr="http://www.howtoguide.in/wp-content/uploads/2013/04/programmer_image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7400" y="2743200"/>
            <a:ext cx="2933700" cy="3495675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00800" y="714375"/>
            <a:ext cx="20859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Purchase </a:t>
            </a:r>
            <a:r>
              <a:rPr lang="en-US" smtClean="0"/>
              <a:t>Visual Studio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Standard subscriptions: </a:t>
            </a:r>
            <a:r>
              <a:rPr lang="en-US" sz="1800" dirty="0" smtClean="0">
                <a:hlinkClick r:id="rId2"/>
              </a:rPr>
              <a:t>https://visualstudio.microsoft.com/vs/pricing-details/</a:t>
            </a:r>
            <a:endParaRPr lang="en-US" sz="1800" dirty="0" smtClean="0"/>
          </a:p>
          <a:p>
            <a:r>
              <a:rPr lang="en-US" sz="1800" dirty="0" smtClean="0"/>
              <a:t>Resellers: </a:t>
            </a:r>
            <a:r>
              <a:rPr lang="en-US" sz="1800" dirty="0" smtClean="0">
                <a:hlinkClick r:id="rId3"/>
              </a:rPr>
              <a:t>https://appsource.microsoft.com/en-us/marketplace/partner-dir</a:t>
            </a:r>
            <a:endParaRPr lang="en-US" sz="18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2667000"/>
            <a:ext cx="6421891" cy="3396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Transfer </a:t>
            </a:r>
            <a:r>
              <a:rPr lang="en-US" smtClean="0"/>
              <a:t>VS Subscription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Log in </a:t>
            </a:r>
            <a:r>
              <a:rPr lang="en-US" sz="2000" dirty="0" smtClean="0">
                <a:hlinkClick r:id="rId2"/>
              </a:rPr>
              <a:t>https://my.visualstudio.com</a:t>
            </a:r>
            <a:endParaRPr lang="en-US" sz="2000" dirty="0" smtClean="0"/>
          </a:p>
          <a:p>
            <a:r>
              <a:rPr lang="en-US" sz="2000" dirty="0" smtClean="0"/>
              <a:t>Click on </a:t>
            </a:r>
            <a:r>
              <a:rPr lang="en-US" sz="2000" dirty="0" smtClean="0">
                <a:hlinkClick r:id="rId3"/>
              </a:rPr>
              <a:t>https://my.visualstudio.com/GetHelp/AssistedSupport?mkt=en-us</a:t>
            </a:r>
            <a:endParaRPr lang="en-US" sz="2000" dirty="0" smtClean="0"/>
          </a:p>
          <a:p>
            <a:r>
              <a:rPr lang="en-US" sz="2000" dirty="0" smtClean="0"/>
              <a:t>Select “Category” = “Licensing terms”</a:t>
            </a:r>
          </a:p>
          <a:p>
            <a:r>
              <a:rPr lang="en-US" sz="2000" dirty="0" smtClean="0"/>
              <a:t>Select “Issue” = “Transferring…”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83005" y="3276600"/>
            <a:ext cx="6817995" cy="3187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9859</TotalTime>
  <Words>1085</Words>
  <Application>Microsoft Office PowerPoint</Application>
  <PresentationFormat>On-screen Show (4:3)</PresentationFormat>
  <Paragraphs>242</Paragraphs>
  <Slides>36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Introduction to .NET Application Development</vt:lpstr>
      <vt:lpstr>Objectives</vt:lpstr>
      <vt:lpstr>References</vt:lpstr>
      <vt:lpstr>Information System [1]</vt:lpstr>
      <vt:lpstr>What is Software [2]</vt:lpstr>
      <vt:lpstr>Software Applications</vt:lpstr>
      <vt:lpstr>Application Types</vt:lpstr>
      <vt:lpstr>Tool Prerequisite </vt:lpstr>
      <vt:lpstr>Integrated Development Environment</vt:lpstr>
      <vt:lpstr>Development Platform</vt:lpstr>
      <vt:lpstr>Programming Language [4]</vt:lpstr>
      <vt:lpstr>C# Language Basics? [3]</vt:lpstr>
      <vt:lpstr>Exercise 1</vt:lpstr>
      <vt:lpstr>OOP With C#?</vt:lpstr>
      <vt:lpstr>Exercise 2</vt:lpstr>
      <vt:lpstr>.NET Collections With C#?</vt:lpstr>
      <vt:lpstr>Exercise 3</vt:lpstr>
      <vt:lpstr>Streams And I/O With C#?</vt:lpstr>
      <vt:lpstr>Exercise 4</vt:lpstr>
      <vt:lpstr>.NET Controls With C#? [3]</vt:lpstr>
      <vt:lpstr>Exercise 5</vt:lpstr>
      <vt:lpstr>ADO.NET With C#?</vt:lpstr>
      <vt:lpstr>Exercise 6</vt:lpstr>
      <vt:lpstr>Concurrency &amp; Asynchrony With C#?</vt:lpstr>
      <vt:lpstr>Exercise 8</vt:lpstr>
      <vt:lpstr>Developing a SRS? [3]</vt:lpstr>
      <vt:lpstr>Exercise 9</vt:lpstr>
      <vt:lpstr>Developing a Test Plan?</vt:lpstr>
      <vt:lpstr>Creating Detailed Design [3]</vt:lpstr>
      <vt:lpstr>Exercise 11</vt:lpstr>
      <vt:lpstr>Creating An Architecture?</vt:lpstr>
      <vt:lpstr>Exercise 10</vt:lpstr>
      <vt:lpstr>Slide 33</vt:lpstr>
      <vt:lpstr>Purchase Visual Studio</vt:lpstr>
      <vt:lpstr>Transfer VS Subscription 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3223</cp:revision>
  <dcterms:created xsi:type="dcterms:W3CDTF">2007-10-06T08:25:13Z</dcterms:created>
  <dcterms:modified xsi:type="dcterms:W3CDTF">2023-05-29T10:23:13Z</dcterms:modified>
</cp:coreProperties>
</file>