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4"/>
  </p:notesMasterIdLst>
  <p:handoutMasterIdLst>
    <p:handoutMasterId r:id="rId35"/>
  </p:handoutMasterIdLst>
  <p:sldIdLst>
    <p:sldId id="470" r:id="rId2"/>
    <p:sldId id="471" r:id="rId3"/>
    <p:sldId id="472" r:id="rId4"/>
    <p:sldId id="473" r:id="rId5"/>
    <p:sldId id="482" r:id="rId6"/>
    <p:sldId id="492" r:id="rId7"/>
    <p:sldId id="493" r:id="rId8"/>
    <p:sldId id="491" r:id="rId9"/>
    <p:sldId id="495" r:id="rId10"/>
    <p:sldId id="537" r:id="rId11"/>
    <p:sldId id="538" r:id="rId12"/>
    <p:sldId id="496" r:id="rId13"/>
    <p:sldId id="497" r:id="rId14"/>
    <p:sldId id="498" r:id="rId15"/>
    <p:sldId id="499" r:id="rId16"/>
    <p:sldId id="500" r:id="rId17"/>
    <p:sldId id="502" r:id="rId18"/>
    <p:sldId id="501" r:id="rId19"/>
    <p:sldId id="613" r:id="rId20"/>
    <p:sldId id="614" r:id="rId21"/>
    <p:sldId id="615" r:id="rId22"/>
    <p:sldId id="616" r:id="rId23"/>
    <p:sldId id="617" r:id="rId24"/>
    <p:sldId id="628" r:id="rId25"/>
    <p:sldId id="629" r:id="rId26"/>
    <p:sldId id="575" r:id="rId27"/>
    <p:sldId id="630" r:id="rId28"/>
    <p:sldId id="631" r:id="rId29"/>
    <p:sldId id="632" r:id="rId30"/>
    <p:sldId id="633" r:id="rId31"/>
    <p:sldId id="494" r:id="rId32"/>
    <p:sldId id="343" r:id="rId3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277" autoAdjust="0"/>
    <p:restoredTop sz="96140" autoAdjust="0"/>
  </p:normalViewPr>
  <p:slideViewPr>
    <p:cSldViewPr>
      <p:cViewPr>
        <p:scale>
          <a:sx n="50" d="100"/>
          <a:sy n="50" d="100"/>
        </p:scale>
        <p:origin x="-1486" y="-422"/>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0D0DBAB-D1C9-4D1B-A41F-EB0AC0278643}" type="datetimeFigureOut">
              <a:rPr lang="en-US" smtClean="0"/>
              <a:pPr/>
              <a:t>3/4/2022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36056FB-ACC3-4B45-A768-F167A538151B}"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4B58165-DB01-4CBD-B628-63C8A0A6E3C5}" type="datetimeFigureOut">
              <a:rPr lang="en-US" smtClean="0"/>
              <a:pPr/>
              <a:t>3/4/2022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5B96204-6EBE-4E3A-8F90-C96A927FEE3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3/4/2022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3/4/2022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3/4/2022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3/4/2022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3/4/2022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3/4/2022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3/4/2022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3/4/2022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3/4/2022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3/4/2022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3/4/2022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3/4/2022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youtube.com/playlist?list=PL7A29088C98E92D5F" TargetMode="External"/><Relationship Id="rId2" Type="http://schemas.openxmlformats.org/officeDocument/2006/relationships/hyperlink" Target="https://www.tutorialgateway.org/ssrs-report-parameters/" TargetMode="Externa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r>
              <a:rPr lang="en-US" sz="6000" dirty="0" smtClean="0"/>
              <a:t>SQL Server Reporting Services</a:t>
            </a:r>
            <a:endParaRPr lang="en-US" sz="6000" dirty="0"/>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381000" y="1752600"/>
            <a:ext cx="5715000" cy="4038600"/>
          </a:xfrm>
        </p:spPr>
        <p:txBody>
          <a:bodyPr/>
          <a:lstStyle/>
          <a:p>
            <a:pPr>
              <a:buFont typeface="Wingdings" pitchFamily="2" charset="2"/>
              <a:buChar char="Ø"/>
            </a:pPr>
            <a:r>
              <a:rPr lang="en-US" sz="2400" dirty="0" smtClean="0"/>
              <a:t>To use Report Designer to create paginated reports.</a:t>
            </a:r>
          </a:p>
          <a:p>
            <a:pPr>
              <a:buFont typeface="Wingdings" pitchFamily="2" charset="2"/>
              <a:buChar char="Ø"/>
            </a:pPr>
            <a:r>
              <a:rPr lang="en-US" sz="2400" dirty="0" smtClean="0"/>
              <a:t>To deploy reports to reporting services web portal.</a:t>
            </a:r>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smtClean="0"/>
              <a:t>Microsoft reporting services</a:t>
            </a:r>
          </a:p>
          <a:p>
            <a:pPr marL="571500" indent="-571500">
              <a:buFont typeface="+mj-lt"/>
              <a:buAutoNum type="romanUcPeriod"/>
            </a:pPr>
            <a:r>
              <a:rPr lang="en-US" sz="2400" dirty="0" smtClean="0"/>
              <a:t>Report server project</a:t>
            </a:r>
          </a:p>
          <a:p>
            <a:pPr marL="571500" indent="-571500">
              <a:buFont typeface="+mj-lt"/>
              <a:buAutoNum type="romanUcPeriod"/>
            </a:pPr>
            <a:r>
              <a:rPr lang="en-US" sz="2400" smtClean="0"/>
              <a:t>Reports deployment</a:t>
            </a: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References</a:t>
            </a:r>
            <a:endParaRPr lang="en-US" dirty="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
        <p:nvSpPr>
          <p:cNvPr id="3" name="Content Placeholder 2"/>
          <p:cNvSpPr>
            <a:spLocks noGrp="1"/>
          </p:cNvSpPr>
          <p:nvPr>
            <p:ph idx="1"/>
          </p:nvPr>
        </p:nvSpPr>
        <p:spPr>
          <a:xfrm>
            <a:off x="457200" y="1600200"/>
            <a:ext cx="5638800" cy="4876800"/>
          </a:xfrm>
        </p:spPr>
        <p:txBody>
          <a:bodyPr/>
          <a:lstStyle/>
          <a:p>
            <a:pPr marL="457200" indent="-457200">
              <a:buFont typeface="+mj-lt"/>
              <a:buAutoNum type="arabicPeriod"/>
            </a:pPr>
            <a:r>
              <a:rPr lang="en-US" sz="2400" dirty="0" smtClean="0"/>
              <a:t>Brian Larson (2017). Microsoft SQL Server 2016 Reporting Services. McGraw-Hill Education.</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Report Types [1]</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Paginated reports</a:t>
            </a:r>
            <a:r>
              <a:rPr lang="en-US" sz="2200" dirty="0" smtClean="0"/>
              <a:t> are those reports that require exact placement and formatting of all elements on the report.</a:t>
            </a:r>
          </a:p>
          <a:p>
            <a:r>
              <a:rPr lang="en-US" sz="2200" i="1" dirty="0" smtClean="0">
                <a:solidFill>
                  <a:srgbClr val="C00000"/>
                </a:solidFill>
              </a:rPr>
              <a:t>Mobile reports</a:t>
            </a:r>
            <a:r>
              <a:rPr lang="en-US" sz="2200" dirty="0" smtClean="0"/>
              <a:t> are built to be displayed on </a:t>
            </a:r>
            <a:r>
              <a:rPr lang="en-US" sz="2200" u="sng" dirty="0" err="1" smtClean="0"/>
              <a:t>smartphones</a:t>
            </a:r>
            <a:r>
              <a:rPr lang="en-US" sz="2200" dirty="0" smtClean="0"/>
              <a:t> and </a:t>
            </a:r>
            <a:r>
              <a:rPr lang="en-US" sz="2200" u="sng" dirty="0" smtClean="0"/>
              <a:t>tablets</a:t>
            </a:r>
            <a:r>
              <a:rPr lang="en-US" sz="2200" dirty="0" smtClean="0"/>
              <a:t>.</a:t>
            </a:r>
          </a:p>
          <a:p>
            <a:r>
              <a:rPr lang="en-US" sz="2200" i="1" dirty="0" smtClean="0">
                <a:solidFill>
                  <a:srgbClr val="C00000"/>
                </a:solidFill>
              </a:rPr>
              <a:t>Interactive reports</a:t>
            </a:r>
            <a:r>
              <a:rPr lang="en-US" sz="2200" dirty="0" smtClean="0"/>
              <a:t> are created to allow the user to explore the data. The interactive reporting environment focuses on allowing the user to continuously </a:t>
            </a:r>
            <a:r>
              <a:rPr lang="en-US" sz="2200" u="sng" dirty="0" smtClean="0"/>
              <a:t>interact</a:t>
            </a:r>
            <a:r>
              <a:rPr lang="en-US" sz="2200" dirty="0" smtClean="0"/>
              <a:t> with the data by </a:t>
            </a:r>
            <a:r>
              <a:rPr lang="en-US" sz="2200" u="sng" dirty="0" smtClean="0"/>
              <a:t>slicing</a:t>
            </a:r>
            <a:r>
              <a:rPr lang="en-US" sz="2200" dirty="0" smtClean="0"/>
              <a:t>, </a:t>
            </a:r>
            <a:r>
              <a:rPr lang="en-US" sz="2200" u="sng" dirty="0" smtClean="0"/>
              <a:t>filtering</a:t>
            </a:r>
            <a:r>
              <a:rPr lang="en-US" sz="2200" dirty="0" smtClean="0"/>
              <a:t>, and </a:t>
            </a:r>
            <a:r>
              <a:rPr lang="en-US" sz="2200" u="sng" dirty="0" smtClean="0"/>
              <a:t>drilling down</a:t>
            </a:r>
            <a:r>
              <a:rPr lang="en-US" sz="2200" dirty="0" smtClean="0"/>
              <a:t>.</a:t>
            </a:r>
          </a:p>
          <a:p>
            <a:r>
              <a:rPr lang="en-US" sz="2200" i="1" dirty="0" smtClean="0">
                <a:solidFill>
                  <a:srgbClr val="C00000"/>
                </a:solidFill>
              </a:rPr>
              <a:t>Analytical reports</a:t>
            </a:r>
            <a:r>
              <a:rPr lang="en-US" sz="2200" dirty="0" smtClean="0"/>
              <a:t> are created within what has been the leading tool for data analysis for many years—Microsoft Excel. Pivot tables and pivot charts provide robust reporting right within an Excel spreadsheet.</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Custom Web Applications</a:t>
            </a:r>
            <a:endParaRPr lang="en-US" dirty="0"/>
          </a:p>
        </p:txBody>
      </p:sp>
      <p:sp>
        <p:nvSpPr>
          <p:cNvPr id="3" name="Content Placeholder 2"/>
          <p:cNvSpPr>
            <a:spLocks noGrp="1"/>
          </p:cNvSpPr>
          <p:nvPr>
            <p:ph idx="1"/>
          </p:nvPr>
        </p:nvSpPr>
        <p:spPr/>
        <p:txBody>
          <a:bodyPr/>
          <a:lstStyle/>
          <a:p>
            <a:r>
              <a:rPr lang="en-US" sz="2400" dirty="0" smtClean="0"/>
              <a:t>You could use one of a number of tools for creating data-driven HTML pages. This would include Microsoft’s ASP.NET, any of a number of Java environments, Hypertext Preprocessor (PHP).</a:t>
            </a:r>
          </a:p>
          <a:p>
            <a:r>
              <a:rPr lang="en-US" sz="2400" dirty="0" smtClean="0"/>
              <a:t>They all take </a:t>
            </a:r>
            <a:r>
              <a:rPr lang="en-US" sz="2400" i="1" dirty="0" smtClean="0">
                <a:solidFill>
                  <a:srgbClr val="C00000"/>
                </a:solidFill>
              </a:rPr>
              <a:t>time</a:t>
            </a:r>
            <a:r>
              <a:rPr lang="en-US" sz="2400" dirty="0" smtClean="0"/>
              <a:t> and a certain level of </a:t>
            </a:r>
            <a:r>
              <a:rPr lang="en-US" sz="2400" i="1" dirty="0" smtClean="0">
                <a:solidFill>
                  <a:srgbClr val="C00000"/>
                </a:solidFill>
              </a:rPr>
              <a:t>programming knowledge</a:t>
            </a:r>
            <a:r>
              <a:rPr lang="en-US" sz="2400" dirty="0" smtClean="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a:t>
            </a:r>
            <a:r>
              <a:rPr lang="en-US" baseline="30000" dirty="0" smtClean="0"/>
              <a:t>rd</a:t>
            </a:r>
            <a:r>
              <a:rPr lang="en-US" dirty="0" smtClean="0"/>
              <a:t> Reporting Environments</a:t>
            </a:r>
            <a:endParaRPr lang="en-US" dirty="0"/>
          </a:p>
        </p:txBody>
      </p:sp>
      <p:sp>
        <p:nvSpPr>
          <p:cNvPr id="3" name="Content Placeholder 2"/>
          <p:cNvSpPr>
            <a:spLocks noGrp="1"/>
          </p:cNvSpPr>
          <p:nvPr>
            <p:ph idx="1"/>
          </p:nvPr>
        </p:nvSpPr>
        <p:spPr/>
        <p:txBody>
          <a:bodyPr/>
          <a:lstStyle/>
          <a:p>
            <a:r>
              <a:rPr lang="en-US" sz="2400" dirty="0" smtClean="0"/>
              <a:t>The problem with third-party reporting environments such as </a:t>
            </a:r>
            <a:r>
              <a:rPr lang="en-US" sz="2400" dirty="0" err="1" smtClean="0"/>
              <a:t>Cognos</a:t>
            </a:r>
            <a:r>
              <a:rPr lang="en-US" sz="2400" dirty="0" smtClean="0"/>
              <a:t> or Tableau is the </a:t>
            </a:r>
            <a:r>
              <a:rPr lang="en-US" sz="2400" i="1" dirty="0" smtClean="0">
                <a:solidFill>
                  <a:srgbClr val="C00000"/>
                </a:solidFill>
              </a:rPr>
              <a:t>cost</a:t>
            </a:r>
            <a:r>
              <a:rPr lang="en-US" sz="2400" dirty="0" smtClean="0"/>
              <a:t>. </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Microsoft Reporting Services?</a:t>
            </a:r>
            <a:endParaRPr lang="en-US" dirty="0"/>
          </a:p>
        </p:txBody>
      </p:sp>
      <p:sp>
        <p:nvSpPr>
          <p:cNvPr id="3" name="Content Placeholder 2"/>
          <p:cNvSpPr>
            <a:spLocks noGrp="1"/>
          </p:cNvSpPr>
          <p:nvPr>
            <p:ph idx="1"/>
          </p:nvPr>
        </p:nvSpPr>
        <p:spPr/>
        <p:txBody>
          <a:bodyPr/>
          <a:lstStyle/>
          <a:p>
            <a:r>
              <a:rPr lang="en-US" sz="2600" dirty="0" smtClean="0"/>
              <a:t>No programming required</a:t>
            </a:r>
          </a:p>
          <a:p>
            <a:pPr lvl="1"/>
            <a:r>
              <a:rPr lang="en-US" sz="2200" dirty="0" smtClean="0"/>
              <a:t>Reporting Services provides a simple drag-and-drop approach to creating reports from database information.</a:t>
            </a:r>
          </a:p>
          <a:p>
            <a:pPr lvl="1"/>
            <a:r>
              <a:rPr lang="en-US" sz="2200" dirty="0" smtClean="0"/>
              <a:t>You can use a number of different tools to author reports. The Report Builder and the Report Designer in Visual Studio/SQL Server Data Tools let you truly unlock the power of Reporting Services to convey complex information.</a:t>
            </a:r>
          </a:p>
          <a:p>
            <a:r>
              <a:rPr lang="en-US" sz="2600" dirty="0" smtClean="0"/>
              <a:t>The price is right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Paginated Report Structure</a:t>
            </a:r>
            <a:endParaRPr lang="en-US" dirty="0"/>
          </a:p>
        </p:txBody>
      </p:sp>
      <p:sp>
        <p:nvSpPr>
          <p:cNvPr id="3" name="Content Placeholder 2"/>
          <p:cNvSpPr>
            <a:spLocks noGrp="1"/>
          </p:cNvSpPr>
          <p:nvPr>
            <p:ph idx="1"/>
          </p:nvPr>
        </p:nvSpPr>
        <p:spPr/>
        <p:txBody>
          <a:bodyPr/>
          <a:lstStyle/>
          <a:p>
            <a:r>
              <a:rPr lang="en-US" sz="1800" dirty="0" smtClean="0"/>
              <a:t>The information in the data definition and the report layout is stored using the </a:t>
            </a:r>
            <a:r>
              <a:rPr lang="en-US" sz="1800" i="1" dirty="0" smtClean="0">
                <a:solidFill>
                  <a:srgbClr val="C00000"/>
                </a:solidFill>
              </a:rPr>
              <a:t>Report Definition Language (RDL)</a:t>
            </a:r>
            <a:r>
              <a:rPr lang="en-US" sz="1800" dirty="0" smtClean="0"/>
              <a:t>.</a:t>
            </a:r>
          </a:p>
          <a:p>
            <a:r>
              <a:rPr lang="en-US" sz="1800" dirty="0" smtClean="0"/>
              <a:t>RDL is an Extensible Markup Language (XML) standard designed by Microsoft specifically for </a:t>
            </a:r>
            <a:r>
              <a:rPr lang="en-US" sz="1800" u="sng" dirty="0" smtClean="0"/>
              <a:t>storing report definitions</a:t>
            </a:r>
            <a:r>
              <a:rPr lang="en-US" sz="1800" dirty="0" smtClean="0"/>
              <a:t>.</a:t>
            </a:r>
            <a:endParaRPr lang="en-US" sz="1800" dirty="0"/>
          </a:p>
        </p:txBody>
      </p:sp>
      <p:pic>
        <p:nvPicPr>
          <p:cNvPr id="1026" name="Picture 2"/>
          <p:cNvPicPr>
            <a:picLocks noChangeAspect="1" noChangeArrowheads="1"/>
          </p:cNvPicPr>
          <p:nvPr/>
        </p:nvPicPr>
        <p:blipFill>
          <a:blip r:embed="rId2" cstate="print"/>
          <a:srcRect/>
          <a:stretch>
            <a:fillRect/>
          </a:stretch>
        </p:blipFill>
        <p:spPr bwMode="auto">
          <a:xfrm>
            <a:off x="1416050" y="2924175"/>
            <a:ext cx="6311900" cy="3324225"/>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Source and Dataset</a:t>
            </a:r>
            <a:endParaRPr lang="en-US" dirty="0"/>
          </a:p>
        </p:txBody>
      </p:sp>
      <p:sp>
        <p:nvSpPr>
          <p:cNvPr id="3" name="Content Placeholder 2"/>
          <p:cNvSpPr>
            <a:spLocks noGrp="1"/>
          </p:cNvSpPr>
          <p:nvPr>
            <p:ph idx="1"/>
          </p:nvPr>
        </p:nvSpPr>
        <p:spPr/>
        <p:txBody>
          <a:bodyPr/>
          <a:lstStyle/>
          <a:p>
            <a:r>
              <a:rPr lang="en-US" sz="2400" dirty="0" smtClean="0"/>
              <a:t>The </a:t>
            </a:r>
            <a:r>
              <a:rPr lang="en-US" sz="2400" i="1" dirty="0" smtClean="0">
                <a:solidFill>
                  <a:srgbClr val="C00000"/>
                </a:solidFill>
              </a:rPr>
              <a:t>data source</a:t>
            </a:r>
            <a:r>
              <a:rPr lang="en-US" sz="2400" dirty="0" smtClean="0"/>
              <a:t> is the </a:t>
            </a:r>
            <a:r>
              <a:rPr lang="en-US" sz="2400" u="sng" dirty="0" smtClean="0"/>
              <a:t>database server</a:t>
            </a:r>
            <a:r>
              <a:rPr lang="en-US" sz="2400" dirty="0" smtClean="0"/>
              <a:t> or </a:t>
            </a:r>
            <a:r>
              <a:rPr lang="en-US" sz="2400" u="sng" dirty="0" smtClean="0"/>
              <a:t>data file</a:t>
            </a:r>
            <a:r>
              <a:rPr lang="en-US" sz="2400" dirty="0" smtClean="0"/>
              <a:t> that provides the information for your report.</a:t>
            </a:r>
          </a:p>
          <a:p>
            <a:r>
              <a:rPr lang="en-US" sz="2400" dirty="0" smtClean="0"/>
              <a:t>The data source itself is not included in the report. What is included is </a:t>
            </a:r>
            <a:r>
              <a:rPr lang="en-US" sz="2400" i="1" dirty="0" smtClean="0">
                <a:solidFill>
                  <a:srgbClr val="C00000"/>
                </a:solidFill>
              </a:rPr>
              <a:t>the set of instructions</a:t>
            </a:r>
            <a:r>
              <a:rPr lang="en-US" sz="2400" dirty="0" smtClean="0"/>
              <a:t> the report needs to gain access to that data source.</a:t>
            </a:r>
          </a:p>
          <a:p>
            <a:r>
              <a:rPr lang="en-US" sz="2400" dirty="0" smtClean="0"/>
              <a:t>When the report is executing, it uses the data source instructions contained in the report to gain access to the data source.</a:t>
            </a:r>
          </a:p>
          <a:p>
            <a:r>
              <a:rPr lang="en-US" sz="2400" dirty="0" smtClean="0"/>
              <a:t>It then extracts information from the data source into a new format that can be used by the report. This new format is called a </a:t>
            </a:r>
            <a:r>
              <a:rPr lang="en-US" sz="2400" i="1" dirty="0" smtClean="0">
                <a:solidFill>
                  <a:srgbClr val="C00000"/>
                </a:solidFill>
              </a:rPr>
              <a:t>dataset</a:t>
            </a:r>
            <a:r>
              <a:rPr lang="en-US" sz="2400" i="1" dirty="0" smtClean="0"/>
              <a:t>.</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Query Designer</a:t>
            </a:r>
            <a:endParaRPr lang="en-US" dirty="0"/>
          </a:p>
        </p:txBody>
      </p:sp>
      <p:sp>
        <p:nvSpPr>
          <p:cNvPr id="3" name="Content Placeholder 2"/>
          <p:cNvSpPr>
            <a:spLocks noGrp="1"/>
          </p:cNvSpPr>
          <p:nvPr>
            <p:ph idx="1"/>
          </p:nvPr>
        </p:nvSpPr>
        <p:spPr/>
        <p:txBody>
          <a:bodyPr/>
          <a:lstStyle/>
          <a:p>
            <a:r>
              <a:rPr lang="en-US" sz="2400" dirty="0" smtClean="0"/>
              <a:t>The </a:t>
            </a:r>
            <a:r>
              <a:rPr lang="en-US" sz="2400" u="sng" dirty="0" smtClean="0"/>
              <a:t>content of the dataset</a:t>
            </a:r>
            <a:r>
              <a:rPr lang="en-US" sz="2400" dirty="0" smtClean="0"/>
              <a:t> is defined using </a:t>
            </a:r>
            <a:r>
              <a:rPr lang="en-US" sz="2400" u="sng" dirty="0" smtClean="0"/>
              <a:t>a tool</a:t>
            </a:r>
            <a:r>
              <a:rPr lang="en-US" sz="2400" dirty="0" smtClean="0"/>
              <a:t> called the </a:t>
            </a:r>
            <a:r>
              <a:rPr lang="en-US" sz="2400" i="1" dirty="0" smtClean="0">
                <a:solidFill>
                  <a:srgbClr val="C00000"/>
                </a:solidFill>
              </a:rPr>
              <a:t>Query Designer</a:t>
            </a:r>
            <a:r>
              <a:rPr lang="en-US" sz="2400" dirty="0" smtClean="0"/>
              <a:t>.</a:t>
            </a:r>
          </a:p>
          <a:p>
            <a:r>
              <a:rPr lang="en-US" sz="2400" dirty="0" smtClean="0"/>
              <a:t>The Query Designer helps you build a </a:t>
            </a:r>
            <a:r>
              <a:rPr lang="en-US" sz="2400" i="1" dirty="0" smtClean="0">
                <a:solidFill>
                  <a:srgbClr val="C00000"/>
                </a:solidFill>
              </a:rPr>
              <a:t>database query</a:t>
            </a:r>
            <a:r>
              <a:rPr lang="en-US" sz="2400" dirty="0" smtClean="0"/>
              <a:t>.</a:t>
            </a:r>
          </a:p>
          <a:p>
            <a:r>
              <a:rPr lang="en-US" sz="2400" dirty="0" smtClean="0"/>
              <a:t>The database query may be in</a:t>
            </a:r>
          </a:p>
          <a:p>
            <a:pPr lvl="1"/>
            <a:r>
              <a:rPr lang="en-US" sz="2000" dirty="0" smtClean="0"/>
              <a:t>Transact-Structured Query Language (T-SQL) for querying relational data, </a:t>
            </a:r>
          </a:p>
          <a:p>
            <a:pPr lvl="1"/>
            <a:r>
              <a:rPr lang="en-US" sz="2000" dirty="0" smtClean="0"/>
              <a:t>Multidimensional Expression language (MDX) for querying SQL Server Analysis Services data models, or </a:t>
            </a:r>
          </a:p>
          <a:p>
            <a:pPr lvl="1"/>
            <a:r>
              <a:rPr lang="en-US" sz="2000" dirty="0" smtClean="0"/>
              <a:t>Data Mining Expression language (DMX) for querying data-mining data.</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Report Designer</a:t>
            </a:r>
            <a:endParaRPr lang="en-US" dirty="0"/>
          </a:p>
        </p:txBody>
      </p:sp>
      <p:pic>
        <p:nvPicPr>
          <p:cNvPr id="2051" name="Picture 3"/>
          <p:cNvPicPr>
            <a:picLocks noChangeAspect="1" noChangeArrowheads="1"/>
          </p:cNvPicPr>
          <p:nvPr/>
        </p:nvPicPr>
        <p:blipFill>
          <a:blip r:embed="rId2" cstate="print"/>
          <a:srcRect/>
          <a:stretch>
            <a:fillRect/>
          </a:stretch>
        </p:blipFill>
        <p:spPr bwMode="auto">
          <a:xfrm>
            <a:off x="933450" y="2374900"/>
            <a:ext cx="7296150" cy="3873500"/>
          </a:xfrm>
          <a:prstGeom prst="rect">
            <a:avLst/>
          </a:prstGeom>
          <a:noFill/>
          <a:ln w="9525">
            <a:noFill/>
            <a:miter lim="800000"/>
            <a:headEnd/>
            <a:tailEnd/>
          </a:ln>
        </p:spPr>
      </p:pic>
      <p:sp>
        <p:nvSpPr>
          <p:cNvPr id="4" name="Content Placeholder 2"/>
          <p:cNvSpPr>
            <a:spLocks noGrp="1"/>
          </p:cNvSpPr>
          <p:nvPr>
            <p:ph idx="1"/>
          </p:nvPr>
        </p:nvSpPr>
        <p:spPr>
          <a:xfrm>
            <a:off x="457200" y="1600200"/>
            <a:ext cx="8229600" cy="4525963"/>
          </a:xfrm>
        </p:spPr>
        <p:txBody>
          <a:bodyPr/>
          <a:lstStyle/>
          <a:p>
            <a:r>
              <a:rPr lang="en-US" sz="2200" dirty="0" smtClean="0"/>
              <a:t>This is the tool you use for creating and editing reports.</a:t>
            </a:r>
          </a:p>
          <a:p>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Report Builder</a:t>
            </a:r>
            <a:endParaRPr lang="en-US" dirty="0"/>
          </a:p>
        </p:txBody>
      </p:sp>
      <p:sp>
        <p:nvSpPr>
          <p:cNvPr id="3" name="Content Placeholder 2"/>
          <p:cNvSpPr>
            <a:spLocks noGrp="1"/>
          </p:cNvSpPr>
          <p:nvPr>
            <p:ph idx="1"/>
          </p:nvPr>
        </p:nvSpPr>
        <p:spPr/>
        <p:txBody>
          <a:bodyPr/>
          <a:lstStyle/>
          <a:p>
            <a:r>
              <a:rPr lang="en-US" sz="2200" dirty="0" smtClean="0"/>
              <a:t>The Report Builder uses the </a:t>
            </a:r>
            <a:r>
              <a:rPr lang="en-US" sz="2200" i="1" dirty="0" smtClean="0">
                <a:solidFill>
                  <a:srgbClr val="C00000"/>
                </a:solidFill>
              </a:rPr>
              <a:t>ribbon-style user interface</a:t>
            </a:r>
            <a:r>
              <a:rPr lang="en-US" sz="2200" dirty="0" smtClean="0"/>
              <a:t> found in Microsoft Office 2010 and later. This is the main difference between the Report Designer and the Report Builder.</a:t>
            </a:r>
          </a:p>
          <a:p>
            <a:r>
              <a:rPr lang="en-US" sz="2200" dirty="0" smtClean="0"/>
              <a:t>The Report Builder does not have a Toolbox.</a:t>
            </a:r>
            <a:endParaRPr lang="en-US" sz="2200" dirty="0"/>
          </a:p>
        </p:txBody>
      </p:sp>
      <p:pic>
        <p:nvPicPr>
          <p:cNvPr id="3074" name="Picture 2"/>
          <p:cNvPicPr>
            <a:picLocks noChangeAspect="1" noChangeArrowheads="1"/>
          </p:cNvPicPr>
          <p:nvPr/>
        </p:nvPicPr>
        <p:blipFill>
          <a:blip r:embed="rId2" cstate="print"/>
          <a:srcRect/>
          <a:stretch>
            <a:fillRect/>
          </a:stretch>
        </p:blipFill>
        <p:spPr bwMode="auto">
          <a:xfrm>
            <a:off x="2133600" y="3505200"/>
            <a:ext cx="4913058" cy="2574992"/>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Mobile Report Structure</a:t>
            </a:r>
            <a:endParaRPr lang="en-US" dirty="0"/>
          </a:p>
        </p:txBody>
      </p:sp>
      <p:sp>
        <p:nvSpPr>
          <p:cNvPr id="3" name="Content Placeholder 2"/>
          <p:cNvSpPr>
            <a:spLocks noGrp="1"/>
          </p:cNvSpPr>
          <p:nvPr>
            <p:ph idx="1"/>
          </p:nvPr>
        </p:nvSpPr>
        <p:spPr/>
        <p:txBody>
          <a:bodyPr/>
          <a:lstStyle/>
          <a:p>
            <a:r>
              <a:rPr lang="en-US" sz="1600" dirty="0" smtClean="0"/>
              <a:t>In a </a:t>
            </a:r>
            <a:r>
              <a:rPr lang="en-US" sz="1600" i="1" dirty="0" smtClean="0">
                <a:solidFill>
                  <a:srgbClr val="C00000"/>
                </a:solidFill>
              </a:rPr>
              <a:t>mobile report</a:t>
            </a:r>
            <a:r>
              <a:rPr lang="en-US" sz="1600" dirty="0" smtClean="0"/>
              <a:t> you will create a </a:t>
            </a:r>
            <a:r>
              <a:rPr lang="en-US" sz="1600" u="sng" dirty="0" smtClean="0"/>
              <a:t>master layout</a:t>
            </a:r>
            <a:r>
              <a:rPr lang="en-US" sz="1600" dirty="0" smtClean="0"/>
              <a:t>, a </a:t>
            </a:r>
            <a:r>
              <a:rPr lang="en-US" sz="1600" u="sng" dirty="0" smtClean="0"/>
              <a:t>tablet layout</a:t>
            </a:r>
            <a:r>
              <a:rPr lang="en-US" sz="1600" dirty="0" smtClean="0"/>
              <a:t>, and a </a:t>
            </a:r>
            <a:r>
              <a:rPr lang="en-US" sz="1600" u="sng" dirty="0" smtClean="0"/>
              <a:t>phone layout</a:t>
            </a:r>
            <a:r>
              <a:rPr lang="en-US" sz="1600" dirty="0" smtClean="0"/>
              <a:t>.</a:t>
            </a:r>
          </a:p>
          <a:p>
            <a:r>
              <a:rPr lang="en-US" sz="1600" dirty="0" smtClean="0"/>
              <a:t>The report will use whichever layout is most </a:t>
            </a:r>
            <a:r>
              <a:rPr lang="en-US" sz="1600" i="1" dirty="0" smtClean="0">
                <a:solidFill>
                  <a:srgbClr val="C00000"/>
                </a:solidFill>
              </a:rPr>
              <a:t>appropriate to the device</a:t>
            </a:r>
            <a:r>
              <a:rPr lang="en-US" sz="1600" dirty="0" smtClean="0"/>
              <a:t> displaying the report.</a:t>
            </a:r>
            <a:endParaRPr lang="en-US" sz="1600" dirty="0"/>
          </a:p>
        </p:txBody>
      </p:sp>
      <p:pic>
        <p:nvPicPr>
          <p:cNvPr id="4098" name="Picture 2"/>
          <p:cNvPicPr>
            <a:picLocks noChangeAspect="1" noChangeArrowheads="1"/>
          </p:cNvPicPr>
          <p:nvPr/>
        </p:nvPicPr>
        <p:blipFill>
          <a:blip r:embed="rId2" cstate="print"/>
          <a:srcRect/>
          <a:stretch>
            <a:fillRect/>
          </a:stretch>
        </p:blipFill>
        <p:spPr bwMode="auto">
          <a:xfrm>
            <a:off x="1908175" y="2438400"/>
            <a:ext cx="5327650" cy="3756025"/>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Mobile Report Publisher</a:t>
            </a:r>
            <a:endParaRPr lang="en-US" dirty="0"/>
          </a:p>
        </p:txBody>
      </p:sp>
      <p:sp>
        <p:nvSpPr>
          <p:cNvPr id="3" name="Content Placeholder 2"/>
          <p:cNvSpPr>
            <a:spLocks noGrp="1"/>
          </p:cNvSpPr>
          <p:nvPr>
            <p:ph idx="1"/>
          </p:nvPr>
        </p:nvSpPr>
        <p:spPr/>
        <p:txBody>
          <a:bodyPr/>
          <a:lstStyle/>
          <a:p>
            <a:r>
              <a:rPr lang="en-US" sz="2000" dirty="0" smtClean="0"/>
              <a:t>This is the tool you use for creating and editing mobile reports.</a:t>
            </a:r>
            <a:endParaRPr lang="en-US" sz="2000" dirty="0"/>
          </a:p>
        </p:txBody>
      </p:sp>
      <p:pic>
        <p:nvPicPr>
          <p:cNvPr id="5122" name="Picture 2"/>
          <p:cNvPicPr>
            <a:picLocks noChangeAspect="1" noChangeArrowheads="1"/>
          </p:cNvPicPr>
          <p:nvPr/>
        </p:nvPicPr>
        <p:blipFill>
          <a:blip r:embed="rId2" cstate="print"/>
          <a:srcRect/>
          <a:stretch>
            <a:fillRect/>
          </a:stretch>
        </p:blipFill>
        <p:spPr bwMode="auto">
          <a:xfrm>
            <a:off x="914400" y="2209800"/>
            <a:ext cx="7258050" cy="41529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Report-Serving Architecture</a:t>
            </a:r>
            <a:endParaRPr lang="en-US" dirty="0"/>
          </a:p>
        </p:txBody>
      </p:sp>
      <p:sp>
        <p:nvSpPr>
          <p:cNvPr id="3" name="Content Placeholder 2"/>
          <p:cNvSpPr>
            <a:spLocks noGrp="1"/>
          </p:cNvSpPr>
          <p:nvPr>
            <p:ph idx="1"/>
          </p:nvPr>
        </p:nvSpPr>
        <p:spPr>
          <a:xfrm>
            <a:off x="304800" y="1600200"/>
            <a:ext cx="3581400" cy="4525963"/>
          </a:xfrm>
        </p:spPr>
        <p:txBody>
          <a:bodyPr/>
          <a:lstStyle/>
          <a:p>
            <a:r>
              <a:rPr lang="en-US" sz="1600" dirty="0" smtClean="0"/>
              <a:t>The </a:t>
            </a:r>
            <a:r>
              <a:rPr lang="en-US" sz="1600" i="1" dirty="0" smtClean="0">
                <a:solidFill>
                  <a:srgbClr val="C00000"/>
                </a:solidFill>
              </a:rPr>
              <a:t>report server</a:t>
            </a:r>
            <a:r>
              <a:rPr lang="en-US" sz="1600" dirty="0" smtClean="0"/>
              <a:t> is the piece of the puzzle that makes Reporting Services the product it is. This is the software environment that enables you to share your reports with the masses—at least, those masses who have rights to your server.</a:t>
            </a:r>
          </a:p>
          <a:p>
            <a:r>
              <a:rPr lang="en-US" sz="1600" dirty="0" smtClean="0"/>
              <a:t>When a report, shared data source, or shared dataset is deployed to a report server, a copy of the object’s definition is put in that server’s Report Catalog. The </a:t>
            </a:r>
            <a:r>
              <a:rPr lang="en-US" sz="1600" i="1" dirty="0" smtClean="0">
                <a:solidFill>
                  <a:srgbClr val="C00000"/>
                </a:solidFill>
              </a:rPr>
              <a:t>Report Catalog</a:t>
            </a:r>
            <a:r>
              <a:rPr lang="en-US" sz="1600" dirty="0" smtClean="0"/>
              <a:t> is a set of databases used to store the definitions for all of the reports and other objects available on a particular report server. It also stores the configuration, security, and caching information necessary for the operation of that report server.</a:t>
            </a:r>
            <a:endParaRPr lang="en-US" sz="1600" dirty="0"/>
          </a:p>
        </p:txBody>
      </p:sp>
      <p:pic>
        <p:nvPicPr>
          <p:cNvPr id="6146" name="Picture 2"/>
          <p:cNvPicPr>
            <a:picLocks noChangeAspect="1" noChangeArrowheads="1"/>
          </p:cNvPicPr>
          <p:nvPr/>
        </p:nvPicPr>
        <p:blipFill>
          <a:blip r:embed="rId2" cstate="print"/>
          <a:srcRect/>
          <a:stretch>
            <a:fillRect/>
          </a:stretch>
        </p:blipFill>
        <p:spPr bwMode="auto">
          <a:xfrm>
            <a:off x="4000500" y="1844675"/>
            <a:ext cx="4838700" cy="43275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Reporting Services Web Portal</a:t>
            </a:r>
            <a:endParaRPr lang="en-US" dirty="0"/>
          </a:p>
        </p:txBody>
      </p:sp>
      <p:sp>
        <p:nvSpPr>
          <p:cNvPr id="3" name="Content Placeholder 2"/>
          <p:cNvSpPr>
            <a:spLocks noGrp="1"/>
          </p:cNvSpPr>
          <p:nvPr>
            <p:ph idx="1"/>
          </p:nvPr>
        </p:nvSpPr>
        <p:spPr/>
        <p:txBody>
          <a:bodyPr/>
          <a:lstStyle/>
          <a:p>
            <a:r>
              <a:rPr lang="en-US" sz="2000" dirty="0" smtClean="0"/>
              <a:t>One way for users to request a report from the report server is through the Reporting Services </a:t>
            </a:r>
            <a:r>
              <a:rPr lang="en-US" sz="2000" i="1" dirty="0" smtClean="0">
                <a:solidFill>
                  <a:srgbClr val="C00000"/>
                </a:solidFill>
              </a:rPr>
              <a:t>web portal</a:t>
            </a:r>
            <a:r>
              <a:rPr lang="en-US" sz="2000" dirty="0" smtClean="0"/>
              <a:t>.</a:t>
            </a:r>
          </a:p>
          <a:p>
            <a:r>
              <a:rPr lang="en-US" sz="2000" dirty="0" smtClean="0"/>
              <a:t>This website is created for you when you install Reporting Services in native mode.</a:t>
            </a:r>
            <a:endParaRPr lang="en-US" sz="2000" dirty="0"/>
          </a:p>
        </p:txBody>
      </p:sp>
      <p:pic>
        <p:nvPicPr>
          <p:cNvPr id="7170" name="Picture 2"/>
          <p:cNvPicPr>
            <a:picLocks noChangeAspect="1" noChangeArrowheads="1"/>
          </p:cNvPicPr>
          <p:nvPr/>
        </p:nvPicPr>
        <p:blipFill>
          <a:blip r:embed="rId2" cstate="print"/>
          <a:srcRect/>
          <a:stretch>
            <a:fillRect/>
          </a:stretch>
        </p:blipFill>
        <p:spPr bwMode="auto">
          <a:xfrm>
            <a:off x="2089150" y="3200400"/>
            <a:ext cx="5073650" cy="3017203"/>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Install SQL Server Reporting Services</a:t>
            </a:r>
            <a:endParaRPr lang="en-US" sz="4200" dirty="0"/>
          </a:p>
        </p:txBody>
      </p:sp>
      <p:sp>
        <p:nvSpPr>
          <p:cNvPr id="3" name="Content Placeholder 2"/>
          <p:cNvSpPr>
            <a:spLocks noGrp="1"/>
          </p:cNvSpPr>
          <p:nvPr>
            <p:ph idx="1"/>
          </p:nvPr>
        </p:nvSpPr>
        <p:spPr/>
        <p:txBody>
          <a:bodyPr/>
          <a:lstStyle/>
          <a:p>
            <a:r>
              <a:rPr lang="en-US" sz="2400" dirty="0" smtClean="0"/>
              <a:t>Refer to </a:t>
            </a:r>
            <a:r>
              <a:rPr lang="en-US" sz="2400" b="1" dirty="0" smtClean="0"/>
              <a:t>06.1 Install SQL Server Reporting Services.pptx</a:t>
            </a:r>
            <a:r>
              <a:rPr lang="en-US" sz="2400" dirty="0" smtClean="0"/>
              <a:t>.</a:t>
            </a:r>
            <a:endParaRPr lang="en-US" sz="2400" b="1" dirty="0"/>
          </a:p>
        </p:txBody>
      </p:sp>
      <p:pic>
        <p:nvPicPr>
          <p:cNvPr id="5" name="Picture 2" descr="https://t4.ftcdn.net/jpg/01/00/76/57/360_F_100765796_hVO2AGkofuyqsiiPGd4rdEkjq1FaC11k.jpg"/>
          <p:cNvPicPr>
            <a:picLocks noChangeAspect="1" noChangeArrowheads="1"/>
          </p:cNvPicPr>
          <p:nvPr/>
        </p:nvPicPr>
        <p:blipFill>
          <a:blip r:embed="rId2" cstate="print"/>
          <a:srcRect/>
          <a:stretch>
            <a:fillRect/>
          </a:stretch>
        </p:blipFill>
        <p:spPr bwMode="auto">
          <a:xfrm>
            <a:off x="3200400" y="3048000"/>
            <a:ext cx="2743200" cy="2194560"/>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Create a Report Server Project Wizard</a:t>
            </a:r>
            <a:endParaRPr lang="en-US" sz="4000" dirty="0"/>
          </a:p>
        </p:txBody>
      </p:sp>
      <p:sp>
        <p:nvSpPr>
          <p:cNvPr id="3" name="Content Placeholder 2"/>
          <p:cNvSpPr>
            <a:spLocks noGrp="1"/>
          </p:cNvSpPr>
          <p:nvPr>
            <p:ph idx="1"/>
          </p:nvPr>
        </p:nvSpPr>
        <p:spPr/>
        <p:txBody>
          <a:bodyPr/>
          <a:lstStyle/>
          <a:p>
            <a:r>
              <a:rPr lang="en-US" sz="2400" dirty="0" smtClean="0"/>
              <a:t>Refer to </a:t>
            </a:r>
            <a:r>
              <a:rPr lang="en-US" sz="2400" b="1" dirty="0" smtClean="0"/>
              <a:t>06.2. Create a Report Server Project Wizard.pptx</a:t>
            </a:r>
            <a:r>
              <a:rPr lang="en-US" sz="2400" dirty="0" smtClean="0"/>
              <a:t>.</a:t>
            </a:r>
            <a:endParaRPr lang="en-US" sz="2400" b="1" dirty="0"/>
          </a:p>
        </p:txBody>
      </p:sp>
      <p:pic>
        <p:nvPicPr>
          <p:cNvPr id="4" name="Picture 2" descr="https://t4.ftcdn.net/jpg/01/00/76/57/360_F_100765796_hVO2AGkofuyqsiiPGd4rdEkjq1FaC11k.jpg"/>
          <p:cNvPicPr>
            <a:picLocks noChangeAspect="1" noChangeArrowheads="1"/>
          </p:cNvPicPr>
          <p:nvPr/>
        </p:nvPicPr>
        <p:blipFill>
          <a:blip r:embed="rId2" cstate="print"/>
          <a:srcRect/>
          <a:stretch>
            <a:fillRect/>
          </a:stretch>
        </p:blipFill>
        <p:spPr bwMode="auto">
          <a:xfrm>
            <a:off x="3200400" y="3048000"/>
            <a:ext cx="2743200" cy="219456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Create a Report Server Project</a:t>
            </a:r>
            <a:endParaRPr lang="en-US" dirty="0"/>
          </a:p>
        </p:txBody>
      </p:sp>
      <p:sp>
        <p:nvSpPr>
          <p:cNvPr id="3" name="Content Placeholder 2"/>
          <p:cNvSpPr>
            <a:spLocks noGrp="1"/>
          </p:cNvSpPr>
          <p:nvPr>
            <p:ph idx="1"/>
          </p:nvPr>
        </p:nvSpPr>
        <p:spPr/>
        <p:txBody>
          <a:bodyPr/>
          <a:lstStyle/>
          <a:p>
            <a:r>
              <a:rPr lang="en-US" sz="2400" dirty="0" smtClean="0"/>
              <a:t>Refer to </a:t>
            </a:r>
            <a:r>
              <a:rPr lang="en-US" sz="2400" b="1" dirty="0" smtClean="0"/>
              <a:t>06.3. Create a Report Server Project.pptx</a:t>
            </a:r>
            <a:r>
              <a:rPr lang="en-US" sz="2400" dirty="0" smtClean="0"/>
              <a:t>.</a:t>
            </a:r>
            <a:endParaRPr lang="en-US" sz="2400" b="1" dirty="0"/>
          </a:p>
        </p:txBody>
      </p:sp>
      <p:pic>
        <p:nvPicPr>
          <p:cNvPr id="4" name="Picture 2" descr="https://t4.ftcdn.net/jpg/01/00/76/57/360_F_100765796_hVO2AGkofuyqsiiPGd4rdEkjq1FaC11k.jpg"/>
          <p:cNvPicPr>
            <a:picLocks noChangeAspect="1" noChangeArrowheads="1"/>
          </p:cNvPicPr>
          <p:nvPr/>
        </p:nvPicPr>
        <p:blipFill>
          <a:blip r:embed="rId2" cstate="print"/>
          <a:srcRect/>
          <a:stretch>
            <a:fillRect/>
          </a:stretch>
        </p:blipFill>
        <p:spPr bwMode="auto">
          <a:xfrm>
            <a:off x="3200400" y="3048000"/>
            <a:ext cx="2743200" cy="2194560"/>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Create a Row Group</a:t>
            </a:r>
            <a:endParaRPr lang="en-US" dirty="0"/>
          </a:p>
        </p:txBody>
      </p:sp>
      <p:sp>
        <p:nvSpPr>
          <p:cNvPr id="3" name="Content Placeholder 2"/>
          <p:cNvSpPr>
            <a:spLocks noGrp="1"/>
          </p:cNvSpPr>
          <p:nvPr>
            <p:ph idx="1"/>
          </p:nvPr>
        </p:nvSpPr>
        <p:spPr/>
        <p:txBody>
          <a:bodyPr/>
          <a:lstStyle/>
          <a:p>
            <a:r>
              <a:rPr lang="en-US" sz="2400" dirty="0" smtClean="0"/>
              <a:t>Refer to </a:t>
            </a:r>
            <a:r>
              <a:rPr lang="en-US" sz="2400" b="1" dirty="0" smtClean="0"/>
              <a:t>06.4. Create a Row Group.pptx</a:t>
            </a:r>
            <a:r>
              <a:rPr lang="en-US" sz="2400" dirty="0" smtClean="0"/>
              <a:t>.</a:t>
            </a:r>
            <a:endParaRPr lang="en-US" sz="2400" b="1" dirty="0"/>
          </a:p>
        </p:txBody>
      </p:sp>
      <p:pic>
        <p:nvPicPr>
          <p:cNvPr id="4" name="Picture 2" descr="https://t4.ftcdn.net/jpg/01/00/76/57/360_F_100765796_hVO2AGkofuyqsiiPGd4rdEkjq1FaC11k.jpg"/>
          <p:cNvPicPr>
            <a:picLocks noChangeAspect="1" noChangeArrowheads="1"/>
          </p:cNvPicPr>
          <p:nvPr/>
        </p:nvPicPr>
        <p:blipFill>
          <a:blip r:embed="rId2" cstate="print"/>
          <a:srcRect/>
          <a:stretch>
            <a:fillRect/>
          </a:stretch>
        </p:blipFill>
        <p:spPr bwMode="auto">
          <a:xfrm>
            <a:off x="3200400" y="3048000"/>
            <a:ext cx="2743200" cy="219456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Create a Matrix Report</a:t>
            </a:r>
            <a:endParaRPr lang="en-US" dirty="0"/>
          </a:p>
        </p:txBody>
      </p:sp>
      <p:sp>
        <p:nvSpPr>
          <p:cNvPr id="3" name="Content Placeholder 2"/>
          <p:cNvSpPr>
            <a:spLocks noGrp="1"/>
          </p:cNvSpPr>
          <p:nvPr>
            <p:ph idx="1"/>
          </p:nvPr>
        </p:nvSpPr>
        <p:spPr/>
        <p:txBody>
          <a:bodyPr/>
          <a:lstStyle/>
          <a:p>
            <a:r>
              <a:rPr lang="en-US" sz="2400" dirty="0" smtClean="0"/>
              <a:t>Refer to </a:t>
            </a:r>
            <a:r>
              <a:rPr lang="en-US" sz="2400" b="1" dirty="0" smtClean="0"/>
              <a:t>06.5. Create a Matrix Report.pptx</a:t>
            </a:r>
            <a:r>
              <a:rPr lang="en-US" sz="2400" dirty="0" smtClean="0"/>
              <a:t>.</a:t>
            </a:r>
            <a:endParaRPr lang="en-US" sz="2400" dirty="0"/>
          </a:p>
        </p:txBody>
      </p:sp>
      <p:pic>
        <p:nvPicPr>
          <p:cNvPr id="4" name="Picture 2" descr="https://t4.ftcdn.net/jpg/01/00/76/57/360_F_100765796_hVO2AGkofuyqsiiPGd4rdEkjq1FaC11k.jpg"/>
          <p:cNvPicPr>
            <a:picLocks noChangeAspect="1" noChangeArrowheads="1"/>
          </p:cNvPicPr>
          <p:nvPr/>
        </p:nvPicPr>
        <p:blipFill>
          <a:blip r:embed="rId2" cstate="print"/>
          <a:srcRect/>
          <a:stretch>
            <a:fillRect/>
          </a:stretch>
        </p:blipFill>
        <p:spPr bwMode="auto">
          <a:xfrm>
            <a:off x="3200400" y="3048000"/>
            <a:ext cx="2743200" cy="2194560"/>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Create a Report with Parameter</a:t>
            </a:r>
            <a:endParaRPr lang="en-US" dirty="0"/>
          </a:p>
        </p:txBody>
      </p:sp>
      <p:sp>
        <p:nvSpPr>
          <p:cNvPr id="3" name="Content Placeholder 2"/>
          <p:cNvSpPr>
            <a:spLocks noGrp="1"/>
          </p:cNvSpPr>
          <p:nvPr>
            <p:ph idx="1"/>
          </p:nvPr>
        </p:nvSpPr>
        <p:spPr/>
        <p:txBody>
          <a:bodyPr/>
          <a:lstStyle/>
          <a:p>
            <a:r>
              <a:rPr lang="en-US" sz="2400" dirty="0" smtClean="0"/>
              <a:t>Refer to </a:t>
            </a:r>
            <a:r>
              <a:rPr lang="en-US" sz="2400" b="1" dirty="0" smtClean="0"/>
              <a:t>06.6. Create a Report with Parameter.pptx</a:t>
            </a:r>
            <a:r>
              <a:rPr lang="en-US" sz="2400" dirty="0" smtClean="0"/>
              <a:t>.</a:t>
            </a:r>
            <a:endParaRPr lang="en-US" sz="2400" dirty="0"/>
          </a:p>
        </p:txBody>
      </p:sp>
      <p:pic>
        <p:nvPicPr>
          <p:cNvPr id="4" name="Picture 2" descr="https://t4.ftcdn.net/jpg/01/00/76/57/360_F_100765796_hVO2AGkofuyqsiiPGd4rdEkjq1FaC11k.jpg"/>
          <p:cNvPicPr>
            <a:picLocks noChangeAspect="1" noChangeArrowheads="1"/>
          </p:cNvPicPr>
          <p:nvPr/>
        </p:nvPicPr>
        <p:blipFill>
          <a:blip r:embed="rId2" cstate="print"/>
          <a:srcRect/>
          <a:stretch>
            <a:fillRect/>
          </a:stretch>
        </p:blipFill>
        <p:spPr bwMode="auto">
          <a:xfrm>
            <a:off x="3200400" y="3048000"/>
            <a:ext cx="2743200" cy="219456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Create a Report with Stored Procedure</a:t>
            </a:r>
            <a:endParaRPr lang="en-US" sz="4000" dirty="0"/>
          </a:p>
        </p:txBody>
      </p:sp>
      <p:sp>
        <p:nvSpPr>
          <p:cNvPr id="3" name="Content Placeholder 2"/>
          <p:cNvSpPr>
            <a:spLocks noGrp="1"/>
          </p:cNvSpPr>
          <p:nvPr>
            <p:ph idx="1"/>
          </p:nvPr>
        </p:nvSpPr>
        <p:spPr/>
        <p:txBody>
          <a:bodyPr/>
          <a:lstStyle/>
          <a:p>
            <a:r>
              <a:rPr lang="en-US" sz="2400" dirty="0" smtClean="0"/>
              <a:t>Refer to </a:t>
            </a:r>
            <a:r>
              <a:rPr lang="en-US" sz="2400" b="1" dirty="0" smtClean="0"/>
              <a:t>06.7. Create a Report with Stored Procedure.pptx</a:t>
            </a:r>
            <a:r>
              <a:rPr lang="en-US" sz="2400" dirty="0" smtClean="0"/>
              <a:t>.</a:t>
            </a:r>
            <a:endParaRPr lang="en-US" sz="2400" dirty="0"/>
          </a:p>
        </p:txBody>
      </p:sp>
      <p:pic>
        <p:nvPicPr>
          <p:cNvPr id="4" name="Picture 2" descr="https://t4.ftcdn.net/jpg/01/00/76/57/360_F_100765796_hVO2AGkofuyqsiiPGd4rdEkjq1FaC11k.jpg"/>
          <p:cNvPicPr>
            <a:picLocks noChangeAspect="1" noChangeArrowheads="1"/>
          </p:cNvPicPr>
          <p:nvPr/>
        </p:nvPicPr>
        <p:blipFill>
          <a:blip r:embed="rId2" cstate="print"/>
          <a:srcRect/>
          <a:stretch>
            <a:fillRect/>
          </a:stretch>
        </p:blipFill>
        <p:spPr bwMode="auto">
          <a:xfrm>
            <a:off x="3200400" y="3048000"/>
            <a:ext cx="2743200" cy="2194560"/>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Create Cascading Parameters</a:t>
            </a:r>
            <a:endParaRPr lang="en-US" dirty="0"/>
          </a:p>
        </p:txBody>
      </p:sp>
      <p:sp>
        <p:nvSpPr>
          <p:cNvPr id="3" name="Content Placeholder 2"/>
          <p:cNvSpPr>
            <a:spLocks noGrp="1"/>
          </p:cNvSpPr>
          <p:nvPr>
            <p:ph idx="1"/>
          </p:nvPr>
        </p:nvSpPr>
        <p:spPr/>
        <p:txBody>
          <a:bodyPr/>
          <a:lstStyle/>
          <a:p>
            <a:r>
              <a:rPr lang="en-US" sz="2400" dirty="0" smtClean="0"/>
              <a:t>Create </a:t>
            </a:r>
            <a:r>
              <a:rPr lang="en-US" sz="2400" i="1" dirty="0" smtClean="0">
                <a:solidFill>
                  <a:srgbClr val="C00000"/>
                </a:solidFill>
              </a:rPr>
              <a:t>independent</a:t>
            </a:r>
            <a:r>
              <a:rPr lang="en-US" sz="2400" dirty="0" smtClean="0"/>
              <a:t> stored procedure and dataset.</a:t>
            </a:r>
          </a:p>
          <a:p>
            <a:r>
              <a:rPr lang="en-US" sz="2400" dirty="0" smtClean="0"/>
              <a:t>Create SSRS parameter (e.g. </a:t>
            </a:r>
            <a:r>
              <a:rPr lang="en-US" sz="2400" dirty="0" err="1" smtClean="0"/>
              <a:t>SpeciesCode</a:t>
            </a:r>
            <a:r>
              <a:rPr lang="en-US" sz="2400" dirty="0" smtClean="0"/>
              <a:t>) and set the parameter's available values with the independent dataset.</a:t>
            </a:r>
          </a:p>
          <a:p>
            <a:r>
              <a:rPr lang="en-US" sz="2400" dirty="0" smtClean="0"/>
              <a:t>Create </a:t>
            </a:r>
            <a:r>
              <a:rPr lang="en-US" sz="2400" i="1" dirty="0" smtClean="0">
                <a:solidFill>
                  <a:srgbClr val="C00000"/>
                </a:solidFill>
              </a:rPr>
              <a:t>dependent</a:t>
            </a:r>
            <a:r>
              <a:rPr lang="en-US" sz="2400" dirty="0" smtClean="0"/>
              <a:t> stored procedure with parameter having the same name as the independent SSRS parameter name (e.g. @</a:t>
            </a:r>
            <a:r>
              <a:rPr lang="en-US" sz="2400" dirty="0" err="1" smtClean="0"/>
              <a:t>SpeciesCode</a:t>
            </a:r>
            <a:r>
              <a:rPr lang="en-US" sz="2400" dirty="0" smtClean="0"/>
              <a:t>) and dataset.</a:t>
            </a:r>
          </a:p>
          <a:p>
            <a:r>
              <a:rPr lang="en-US" sz="2400" dirty="0" smtClean="0"/>
              <a:t>Create dependent SSRS parameter and set this parameter's available values with the dependent dataset.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 Parameter Position</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923925" y="2286000"/>
            <a:ext cx="7296150" cy="303530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Insert Header and Footer</a:t>
            </a:r>
            <a:endParaRPr lang="en-US" dirty="0"/>
          </a:p>
        </p:txBody>
      </p:sp>
      <p:pic>
        <p:nvPicPr>
          <p:cNvPr id="3" name="Picture 3"/>
          <p:cNvPicPr>
            <a:picLocks noChangeAspect="1" noChangeArrowheads="1"/>
          </p:cNvPicPr>
          <p:nvPr/>
        </p:nvPicPr>
        <p:blipFill>
          <a:blip r:embed="rId2" cstate="print"/>
          <a:srcRect/>
          <a:stretch>
            <a:fillRect/>
          </a:stretch>
        </p:blipFill>
        <p:spPr bwMode="auto">
          <a:xfrm>
            <a:off x="1176338" y="1958975"/>
            <a:ext cx="6791325" cy="3908425"/>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Show Parameter</a:t>
            </a:r>
            <a:endParaRPr lang="en-US" dirty="0"/>
          </a:p>
        </p:txBody>
      </p:sp>
      <p:sp>
        <p:nvSpPr>
          <p:cNvPr id="3" name="Content Placeholder 2"/>
          <p:cNvSpPr>
            <a:spLocks noGrp="1"/>
          </p:cNvSpPr>
          <p:nvPr>
            <p:ph idx="1"/>
          </p:nvPr>
        </p:nvSpPr>
        <p:spPr/>
        <p:txBody>
          <a:bodyPr/>
          <a:lstStyle/>
          <a:p>
            <a:pPr>
              <a:buNone/>
            </a:pPr>
            <a:r>
              <a:rPr lang="en-US" sz="2400" dirty="0" smtClean="0">
                <a:latin typeface="Consolas" pitchFamily="49" charset="0"/>
              </a:rPr>
              <a:t>= "Species:" &amp; </a:t>
            </a:r>
            <a:r>
              <a:rPr lang="en-US" sz="2400" dirty="0" err="1" smtClean="0">
                <a:latin typeface="Consolas" pitchFamily="49" charset="0"/>
              </a:rPr>
              <a:t>Parameters!SpeciesCode.Label</a:t>
            </a:r>
            <a:endParaRPr lang="en-US" sz="2400" dirty="0" smtClean="0">
              <a:latin typeface="Consolas" pitchFamily="49" charset="0"/>
            </a:endParaRPr>
          </a:p>
          <a:p>
            <a:pPr>
              <a:buNone/>
            </a:pPr>
            <a:r>
              <a:rPr lang="en-US" sz="2400" dirty="0" smtClean="0">
                <a:latin typeface="Consolas" pitchFamily="49" charset="0"/>
              </a:rPr>
              <a:t>= "GMUs: " &amp; Join(</a:t>
            </a:r>
            <a:r>
              <a:rPr lang="en-US" sz="2400" dirty="0" err="1" smtClean="0">
                <a:latin typeface="Consolas" pitchFamily="49" charset="0"/>
              </a:rPr>
              <a:t>Parameters!GMU.Label</a:t>
            </a:r>
            <a:r>
              <a:rPr lang="en-US" sz="2400" dirty="0" smtClean="0">
                <a:latin typeface="Consolas" pitchFamily="49" charset="0"/>
              </a:rPr>
              <a:t>, ", </a:t>
            </a:r>
            <a:r>
              <a:rPr lang="en-US" sz="2400" dirty="0" smtClean="0">
                <a:latin typeface="Consolas" pitchFamily="49" charset="0"/>
              </a:rPr>
              <a:t>")</a:t>
            </a:r>
          </a:p>
          <a:p>
            <a:pPr>
              <a:buNone/>
            </a:pPr>
            <a:r>
              <a:rPr lang="en-US" sz="2400" dirty="0" smtClean="0">
                <a:latin typeface="Consolas" pitchFamily="49" charset="0"/>
              </a:rPr>
              <a:t>= "Bio Year: " &amp; </a:t>
            </a:r>
            <a:r>
              <a:rPr lang="en-US" sz="2400" dirty="0" err="1" smtClean="0">
                <a:latin typeface="Consolas" pitchFamily="49" charset="0"/>
              </a:rPr>
              <a:t>Parameters!Year.Value</a:t>
            </a:r>
            <a:endParaRPr lang="en-US" sz="2400" dirty="0">
              <a:latin typeface="Consolas" pitchFamily="49" charset="0"/>
            </a:endParaRPr>
          </a:p>
        </p:txBody>
      </p:sp>
      <p:pic>
        <p:nvPicPr>
          <p:cNvPr id="1028" name="Picture 4"/>
          <p:cNvPicPr>
            <a:picLocks noChangeAspect="1" noChangeArrowheads="1"/>
          </p:cNvPicPr>
          <p:nvPr/>
        </p:nvPicPr>
        <p:blipFill>
          <a:blip r:embed="rId2" cstate="print"/>
          <a:srcRect/>
          <a:stretch>
            <a:fillRect/>
          </a:stretch>
        </p:blipFill>
        <p:spPr bwMode="auto">
          <a:xfrm>
            <a:off x="2133600" y="3581400"/>
            <a:ext cx="4972050" cy="2108200"/>
          </a:xfrm>
          <a:prstGeom prst="rect">
            <a:avLst/>
          </a:prstGeom>
          <a:noFill/>
          <a:ln w="9525">
            <a:solidFill>
              <a:schemeClr val="tx1"/>
            </a:solid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Further Reading</a:t>
            </a:r>
            <a:endParaRPr lang="en-US" dirty="0"/>
          </a:p>
        </p:txBody>
      </p:sp>
      <p:sp>
        <p:nvSpPr>
          <p:cNvPr id="3" name="Content Placeholder 2"/>
          <p:cNvSpPr>
            <a:spLocks noGrp="1"/>
          </p:cNvSpPr>
          <p:nvPr>
            <p:ph idx="1"/>
          </p:nvPr>
        </p:nvSpPr>
        <p:spPr/>
        <p:txBody>
          <a:bodyPr>
            <a:normAutofit/>
          </a:bodyPr>
          <a:lstStyle/>
          <a:p>
            <a:r>
              <a:rPr lang="en-US" sz="2200" dirty="0" smtClean="0">
                <a:hlinkClick r:id="rId2"/>
              </a:rPr>
              <a:t>https://www.tutorialgateway.org/ssrs-report-parameters/</a:t>
            </a:r>
            <a:endParaRPr lang="en-US" sz="2200" dirty="0" smtClean="0"/>
          </a:p>
          <a:p>
            <a:r>
              <a:rPr lang="en-US" sz="2200" dirty="0" smtClean="0">
                <a:hlinkClick r:id="rId3"/>
              </a:rPr>
              <a:t>https://www.youtube.com/playlist?list=PL7A29088C98E92D5F</a:t>
            </a:r>
            <a:endParaRPr lang="en-US" sz="2200" dirty="0" smtClean="0"/>
          </a:p>
          <a:p>
            <a:endParaRPr lang="en-US" sz="2200" dirty="0"/>
          </a:p>
        </p:txBody>
      </p:sp>
      <p:pic>
        <p:nvPicPr>
          <p:cNvPr id="4" name="Picture 2" descr="http://www.4aplus.com/wp-content/uploads/2014/02/shutterstock_74085415-1024x682.jpg"/>
          <p:cNvPicPr>
            <a:picLocks noChangeAspect="1" noChangeArrowheads="1"/>
          </p:cNvPicPr>
          <p:nvPr/>
        </p:nvPicPr>
        <p:blipFill>
          <a:blip r:embed="rId4" cstate="print"/>
          <a:srcRect/>
          <a:stretch>
            <a:fillRect/>
          </a:stretch>
        </p:blipFill>
        <p:spPr bwMode="auto">
          <a:xfrm>
            <a:off x="3048000" y="4287428"/>
            <a:ext cx="2600221" cy="1732372"/>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a:t>
            </a:r>
            <a:r>
              <a:rPr lang="en-US" smtClean="0"/>
              <a:t>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13209</TotalTime>
  <Words>1026</Words>
  <Application>Microsoft Office PowerPoint</Application>
  <PresentationFormat>On-screen Show (4:3)</PresentationFormat>
  <Paragraphs>92</Paragraphs>
  <Slides>32</Slides>
  <Notes>1</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SQL Server Reporting Services</vt:lpstr>
      <vt:lpstr>Objectives</vt:lpstr>
      <vt:lpstr>Contents</vt:lpstr>
      <vt:lpstr>References</vt:lpstr>
      <vt:lpstr>Report Types [1]</vt:lpstr>
      <vt:lpstr>Custom Web Applications</vt:lpstr>
      <vt:lpstr>3rd Reporting Environments</vt:lpstr>
      <vt:lpstr>Why Microsoft Reporting Services?</vt:lpstr>
      <vt:lpstr>Paginated Report Structure</vt:lpstr>
      <vt:lpstr>Data Source and Dataset</vt:lpstr>
      <vt:lpstr>The Query Designer</vt:lpstr>
      <vt:lpstr>Report Designer</vt:lpstr>
      <vt:lpstr>Report Builder</vt:lpstr>
      <vt:lpstr>Mobile Report Structure</vt:lpstr>
      <vt:lpstr>Mobile Report Publisher</vt:lpstr>
      <vt:lpstr>Report-Serving Architecture</vt:lpstr>
      <vt:lpstr>The Reporting Services Web Portal</vt:lpstr>
      <vt:lpstr>Slide 18</vt:lpstr>
      <vt:lpstr>Install SQL Server Reporting Services</vt:lpstr>
      <vt:lpstr>Create a Report Server Project Wizard</vt:lpstr>
      <vt:lpstr>Create a Report Server Project</vt:lpstr>
      <vt:lpstr>Create a Row Group</vt:lpstr>
      <vt:lpstr>Create a Matrix Report</vt:lpstr>
      <vt:lpstr>Create a Report with Parameter</vt:lpstr>
      <vt:lpstr>Create a Report with Stored Procedure</vt:lpstr>
      <vt:lpstr>Slide 26</vt:lpstr>
      <vt:lpstr>Create Cascading Parameters</vt:lpstr>
      <vt:lpstr>Change Parameter Position</vt:lpstr>
      <vt:lpstr>Insert Header and Footer</vt:lpstr>
      <vt:lpstr>Show Parameter</vt:lpstr>
      <vt:lpstr>Further Reading</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4480</cp:revision>
  <dcterms:created xsi:type="dcterms:W3CDTF">2007-10-06T08:25:13Z</dcterms:created>
  <dcterms:modified xsi:type="dcterms:W3CDTF">2022-03-03T19:48:36Z</dcterms:modified>
</cp:coreProperties>
</file>