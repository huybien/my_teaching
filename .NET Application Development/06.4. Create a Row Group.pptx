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handoutMasterIdLst>
    <p:handoutMasterId r:id="rId15"/>
  </p:handoutMasterIdLst>
  <p:sldIdLst>
    <p:sldId id="470" r:id="rId2"/>
    <p:sldId id="471" r:id="rId3"/>
    <p:sldId id="472" r:id="rId4"/>
    <p:sldId id="473" r:id="rId5"/>
    <p:sldId id="545" r:id="rId6"/>
    <p:sldId id="546" r:id="rId7"/>
    <p:sldId id="547" r:id="rId8"/>
    <p:sldId id="548" r:id="rId9"/>
    <p:sldId id="549" r:id="rId10"/>
    <p:sldId id="550" r:id="rId11"/>
    <p:sldId id="585" r:id="rId12"/>
    <p:sldId id="343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77" autoAdjust="0"/>
    <p:restoredTop sz="96140" autoAdjust="0"/>
  </p:normalViewPr>
  <p:slideViewPr>
    <p:cSldViewPr>
      <p:cViewPr>
        <p:scale>
          <a:sx n="50" d="100"/>
          <a:sy n="50" d="100"/>
        </p:scale>
        <p:origin x="-148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localhost/Reports/report/TableReport/Transport%20Lis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Create </a:t>
            </a:r>
            <a:r>
              <a:rPr lang="en-US" sz="6000" dirty="0" smtClean="0"/>
              <a:t>a Row </a:t>
            </a:r>
            <a:r>
              <a:rPr lang="en-US" sz="6000" dirty="0" smtClean="0"/>
              <a:t>Group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Brian Larson (2017). Microsoft SQL Server 2016 Reporting Services. McGraw-Hill Education.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Add </a:t>
            </a:r>
            <a:r>
              <a:rPr lang="en-US" dirty="0" smtClean="0"/>
              <a:t>Row Group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Assume that a table report is being </a:t>
            </a:r>
            <a:r>
              <a:rPr lang="en-US" sz="2400" dirty="0" err="1" smtClean="0"/>
              <a:t>editted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dirty="0" smtClean="0"/>
              <a:t>Right </a:t>
            </a:r>
            <a:r>
              <a:rPr lang="en-US" sz="2400" dirty="0" smtClean="0"/>
              <a:t>click the first row.</a:t>
            </a:r>
            <a:endParaRPr lang="en-US" sz="24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0088" y="2857500"/>
            <a:ext cx="7743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Add </a:t>
            </a:r>
            <a:r>
              <a:rPr lang="en-US" dirty="0" smtClean="0"/>
              <a:t>Row Group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Select </a:t>
            </a:r>
            <a:r>
              <a:rPr lang="en-US" sz="2400" b="1" dirty="0" smtClean="0"/>
              <a:t>Add group header</a:t>
            </a:r>
            <a:r>
              <a:rPr lang="en-US" sz="2400" dirty="0" smtClean="0"/>
              <a:t> checkbox.</a:t>
            </a:r>
          </a:p>
          <a:p>
            <a:r>
              <a:rPr lang="en-US" sz="2400" dirty="0" smtClean="0"/>
              <a:t>A </a:t>
            </a:r>
            <a:r>
              <a:rPr lang="en-US" sz="2400" i="1" dirty="0" err="1" smtClean="0">
                <a:solidFill>
                  <a:srgbClr val="C00000"/>
                </a:solidFill>
              </a:rPr>
              <a:t>tablix</a:t>
            </a:r>
            <a:r>
              <a:rPr lang="en-US" sz="2400" dirty="0" smtClean="0"/>
              <a:t> provides the capabilities of a table and a matrix combined into one. When we selected a table from the toolbox, what we really did was select a template that creates a </a:t>
            </a:r>
            <a:r>
              <a:rPr lang="en-US" sz="2400" dirty="0" err="1" smtClean="0"/>
              <a:t>tablix</a:t>
            </a:r>
            <a:r>
              <a:rPr lang="en-US" sz="2400" dirty="0" smtClean="0"/>
              <a:t> that functions like a table.</a:t>
            </a:r>
            <a:endParaRPr 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962400"/>
            <a:ext cx="46228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Delete </a:t>
            </a:r>
            <a:r>
              <a:rPr lang="en-US" dirty="0" smtClean="0"/>
              <a:t>a Column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Right click a column header.</a:t>
            </a:r>
            <a:endParaRPr lang="en-US" sz="24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988" y="2882900"/>
            <a:ext cx="8074025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Merge </a:t>
            </a:r>
            <a:r>
              <a:rPr lang="en-US" dirty="0" smtClean="0"/>
              <a:t>Cells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Hold down </a:t>
            </a:r>
            <a:r>
              <a:rPr lang="en-US" sz="2400" b="1" dirty="0" smtClean="0"/>
              <a:t>Shift</a:t>
            </a:r>
            <a:r>
              <a:rPr lang="en-US" sz="2400" dirty="0" smtClean="0"/>
              <a:t> then right click.</a:t>
            </a:r>
            <a:endParaRPr lang="en-US" sz="24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514600"/>
            <a:ext cx="5651818" cy="362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Add </a:t>
            </a:r>
            <a:r>
              <a:rPr lang="en-US" dirty="0" smtClean="0"/>
              <a:t>an Expression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Right click a cell.</a:t>
            </a:r>
            <a:endParaRPr lang="en-US" sz="24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125" y="2438400"/>
            <a:ext cx="8159750" cy="375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Add </a:t>
            </a:r>
            <a:r>
              <a:rPr lang="en-US" dirty="0" smtClean="0"/>
              <a:t>an Expression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="Cargo Capacity: " &amp; </a:t>
            </a:r>
            <a:r>
              <a:rPr lang="en-US" sz="2000" dirty="0" err="1" smtClean="0">
                <a:latin typeface="Consolas" pitchFamily="49" charset="0"/>
              </a:rPr>
              <a:t>CStr</a:t>
            </a:r>
            <a:r>
              <a:rPr lang="en-US" sz="2000" dirty="0" smtClean="0">
                <a:latin typeface="Consolas" pitchFamily="49" charset="0"/>
              </a:rPr>
              <a:t>(</a:t>
            </a:r>
            <a:r>
              <a:rPr lang="en-US" sz="2000" dirty="0" err="1" smtClean="0">
                <a:latin typeface="Consolas" pitchFamily="49" charset="0"/>
              </a:rPr>
              <a:t>Fields!CargoCapacity.Value</a:t>
            </a:r>
            <a:r>
              <a:rPr lang="en-US" sz="2000" dirty="0" smtClean="0">
                <a:latin typeface="Consolas" pitchFamily="49" charset="0"/>
              </a:rPr>
              <a:t>)</a:t>
            </a:r>
          </a:p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&amp; </a:t>
            </a:r>
            <a:r>
              <a:rPr lang="en-US" sz="2000" dirty="0" err="1" smtClean="0">
                <a:latin typeface="Consolas" pitchFamily="49" charset="0"/>
              </a:rPr>
              <a:t>vbCrLf</a:t>
            </a:r>
            <a:r>
              <a:rPr lang="en-US" sz="2000" dirty="0" smtClean="0">
                <a:latin typeface="Consolas" pitchFamily="49" charset="0"/>
              </a:rPr>
              <a:t> &amp; "Range: " &amp; </a:t>
            </a:r>
            <a:r>
              <a:rPr lang="en-US" sz="2000" dirty="0" err="1" smtClean="0">
                <a:latin typeface="Consolas" pitchFamily="49" charset="0"/>
              </a:rPr>
              <a:t>CStr</a:t>
            </a:r>
            <a:r>
              <a:rPr lang="en-US" sz="2000" dirty="0" smtClean="0">
                <a:latin typeface="Consolas" pitchFamily="49" charset="0"/>
              </a:rPr>
              <a:t>(</a:t>
            </a:r>
            <a:r>
              <a:rPr lang="en-US" sz="2000" dirty="0" err="1" smtClean="0">
                <a:latin typeface="Consolas" pitchFamily="49" charset="0"/>
              </a:rPr>
              <a:t>Fields!Range.Value</a:t>
            </a:r>
            <a:r>
              <a:rPr lang="en-US" sz="2000" dirty="0" smtClean="0">
                <a:latin typeface="Consolas" pitchFamily="49" charset="0"/>
              </a:rPr>
              <a:t>)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6877" y="2667000"/>
            <a:ext cx="5780723" cy="3660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Test </a:t>
            </a:r>
            <a:r>
              <a:rPr lang="en-US" dirty="0" smtClean="0"/>
              <a:t>the Deployed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http://localhost/Reports/report/TableReport/Transport%20List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2305685"/>
            <a:ext cx="4493895" cy="3942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12772</TotalTime>
  <Words>202</Words>
  <Application>Microsoft Office PowerPoint</Application>
  <PresentationFormat>On-screen Show (4:3)</PresentationFormat>
  <Paragraphs>30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Create a Row Group</vt:lpstr>
      <vt:lpstr>Objectives</vt:lpstr>
      <vt:lpstr>Contents</vt:lpstr>
      <vt:lpstr>References</vt:lpstr>
      <vt:lpstr>1. Add Row Group (I)</vt:lpstr>
      <vt:lpstr>2. Add Row Group (II)</vt:lpstr>
      <vt:lpstr>3. Delete a Column</vt:lpstr>
      <vt:lpstr>4. Merge Cells </vt:lpstr>
      <vt:lpstr>5. Add an Expression (I)</vt:lpstr>
      <vt:lpstr>6. Add an Expression (I)</vt:lpstr>
      <vt:lpstr>7. Test the Deployed Report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4330</cp:revision>
  <dcterms:created xsi:type="dcterms:W3CDTF">2007-10-06T08:25:13Z</dcterms:created>
  <dcterms:modified xsi:type="dcterms:W3CDTF">2022-02-17T19:39:58Z</dcterms:modified>
</cp:coreProperties>
</file>