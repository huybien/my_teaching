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4"/>
  </p:notesMasterIdLst>
  <p:handoutMasterIdLst>
    <p:handoutMasterId r:id="rId25"/>
  </p:handoutMasterIdLst>
  <p:sldIdLst>
    <p:sldId id="470" r:id="rId2"/>
    <p:sldId id="471" r:id="rId3"/>
    <p:sldId id="472" r:id="rId4"/>
    <p:sldId id="473" r:id="rId5"/>
    <p:sldId id="474" r:id="rId6"/>
    <p:sldId id="482" r:id="rId7"/>
    <p:sldId id="475" r:id="rId8"/>
    <p:sldId id="476" r:id="rId9"/>
    <p:sldId id="477" r:id="rId10"/>
    <p:sldId id="478" r:id="rId11"/>
    <p:sldId id="479" r:id="rId12"/>
    <p:sldId id="480" r:id="rId13"/>
    <p:sldId id="481" r:id="rId14"/>
    <p:sldId id="483" r:id="rId15"/>
    <p:sldId id="484" r:id="rId16"/>
    <p:sldId id="485" r:id="rId17"/>
    <p:sldId id="486" r:id="rId18"/>
    <p:sldId id="487" r:id="rId19"/>
    <p:sldId id="488" r:id="rId20"/>
    <p:sldId id="489" r:id="rId21"/>
    <p:sldId id="490" r:id="rId22"/>
    <p:sldId id="343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30" autoAdjust="0"/>
    <p:restoredTop sz="96140" autoAdjust="0"/>
  </p:normalViewPr>
  <p:slideViewPr>
    <p:cSldViewPr>
      <p:cViewPr>
        <p:scale>
          <a:sx n="50" d="100"/>
          <a:sy n="50" d="100"/>
        </p:scale>
        <p:origin x="-1484" y="-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11/29/2021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11/29/2021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11/29/2021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11/29/2021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11/29/2021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11/29/2021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11/29/2021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11/29/2021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sql/ssdt/download-sql-server-data-tools-ssd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sql/ssdt/previous-releases-of-sql-server-data-tools-ssdt-and-ssdt-bi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amirbehara.com/2018/04/16/database-delivery-state-based-vs-migration-based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rtinfowler.com/articles/evodb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SQL Server Data Tools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use SQL Server Data Tools to develop a software application.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Server Data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https://docs.microsoft.com/en-us/sql/ssdt/download-sql-server-data-tools-ssdt</a:t>
            </a:r>
            <a:endParaRPr lang="en-US" sz="2400" dirty="0" smtClean="0"/>
          </a:p>
          <a:p>
            <a:r>
              <a:rPr lang="en-US" sz="2400" b="1" dirty="0" smtClean="0"/>
              <a:t>SQL Server Data Tools (SSDT)</a:t>
            </a:r>
            <a:r>
              <a:rPr lang="en-US" sz="2400" dirty="0" smtClean="0"/>
              <a:t> is a modern development tool for building SQL Server relational databases, databases in Azure SQL, Analysis Services (AS) data models, Integration Services (IS) packages, and Reporting Services (RS) reports.</a:t>
            </a:r>
          </a:p>
          <a:p>
            <a:r>
              <a:rPr lang="en-US" sz="2400" dirty="0" smtClean="0"/>
              <a:t>With SSDT, you can design and deploy any SQL Server content type with the same ease as you would develop an application in Visual Studio.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Releases of SQL Server Data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https://docs.microsoft.com/en-us/sql/ssdt/previous-releases-of-sql-server-data-tools-ssdt-and-ssdt-bi</a:t>
            </a:r>
            <a:endParaRPr lang="en-US" sz="2200" dirty="0" smtClean="0"/>
          </a:p>
          <a:p>
            <a:r>
              <a:rPr lang="en-US" sz="2200" dirty="0" smtClean="0"/>
              <a:t>SQL Server Data Tools (SSDT) provides project templates and design surfaces for building SQL Server content types - relational databases, Analysis Services models, Reporting Services reports, and Integration Services packages.</a:t>
            </a:r>
          </a:p>
          <a:p>
            <a:r>
              <a:rPr lang="en-US" sz="2200" dirty="0" smtClean="0"/>
              <a:t>SSDT is backwards compatible, so you can always use the newest SSDT to design and deploy databases, models, reports, and packages that run on older versions of SQL Server.</a:t>
            </a:r>
          </a:p>
          <a:p>
            <a:r>
              <a:rPr lang="en-US" sz="2200" dirty="0" smtClean="0"/>
              <a:t>Historically, the Visual Studio shell used to create SQL Server content types has been released under various names, including </a:t>
            </a:r>
            <a:r>
              <a:rPr lang="en-US" sz="2200" b="1" dirty="0" smtClean="0"/>
              <a:t>SQL Server Data Tools</a:t>
            </a:r>
            <a:r>
              <a:rPr lang="en-US" sz="2200" dirty="0" smtClean="0"/>
              <a:t>, </a:t>
            </a:r>
            <a:r>
              <a:rPr lang="en-US" sz="2200" b="1" dirty="0" smtClean="0"/>
              <a:t>SQL Server Data Tools - Business Intelligence</a:t>
            </a:r>
            <a:r>
              <a:rPr lang="en-US" sz="2200" dirty="0" smtClean="0"/>
              <a:t>, and </a:t>
            </a:r>
            <a:r>
              <a:rPr lang="en-US" sz="2200" b="1" dirty="0" smtClean="0"/>
              <a:t>Business Intelligence Development Studio</a:t>
            </a:r>
            <a:r>
              <a:rPr lang="en-US" sz="2200" dirty="0" smtClean="0"/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Install SSDT with Visual Studio 2019</a:t>
            </a:r>
            <a:endParaRPr lang="en-US" sz="4200" dirty="0"/>
          </a:p>
        </p:txBody>
      </p:sp>
      <p:pic>
        <p:nvPicPr>
          <p:cNvPr id="1026" name="Picture 2" descr="https://docs.microsoft.com/en-us/sql/ssdt/media/download-sql-server-data-tools-ssdt/data-workload-2019.png?view=sql-server-ver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05000"/>
            <a:ext cx="8357030" cy="384067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Delivery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https://samirbehara.com/2018/04/16/database-delivery-state-based-vs-migration-based/</a:t>
            </a:r>
            <a:endParaRPr lang="en-US" sz="2400" dirty="0" smtClean="0"/>
          </a:p>
          <a:p>
            <a:r>
              <a:rPr lang="en-US" sz="2400" dirty="0" smtClean="0"/>
              <a:t>For database development and deployment there are primarily 2 delivery mechanisms — State based and Migration based approach.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Based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</a:t>
            </a:r>
            <a:r>
              <a:rPr lang="en-US" sz="2400" i="1" dirty="0" smtClean="0">
                <a:solidFill>
                  <a:srgbClr val="C00000"/>
                </a:solidFill>
              </a:rPr>
              <a:t>State based database delivery</a:t>
            </a:r>
            <a:r>
              <a:rPr lang="en-US" sz="2400" dirty="0" smtClean="0"/>
              <a:t>, you will need to store a </a:t>
            </a:r>
            <a:r>
              <a:rPr lang="en-US" sz="2400" u="sng" dirty="0" smtClean="0"/>
              <a:t>snapshot</a:t>
            </a:r>
            <a:r>
              <a:rPr lang="en-US" sz="2400" dirty="0" smtClean="0"/>
              <a:t> of the current state of the database in your </a:t>
            </a:r>
            <a:r>
              <a:rPr lang="en-US" sz="2400" u="sng" dirty="0" smtClean="0"/>
              <a:t>source control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Every table, stored procedure, view, trigger will be saved as separate </a:t>
            </a:r>
            <a:r>
              <a:rPr lang="en-US" sz="2400" i="1" dirty="0" err="1" smtClean="0">
                <a:solidFill>
                  <a:srgbClr val="C00000"/>
                </a:solidFill>
              </a:rPr>
              <a:t>sql</a:t>
            </a:r>
            <a:r>
              <a:rPr lang="en-US" sz="2400" i="1" dirty="0" smtClean="0">
                <a:solidFill>
                  <a:srgbClr val="C00000"/>
                </a:solidFill>
              </a:rPr>
              <a:t> files</a:t>
            </a:r>
            <a:r>
              <a:rPr lang="en-US" sz="2400" dirty="0" smtClean="0"/>
              <a:t> which will be the real representation of the state of your database objects.</a:t>
            </a:r>
          </a:p>
          <a:p>
            <a:r>
              <a:rPr lang="en-US" sz="2400" dirty="0" smtClean="0"/>
              <a:t>When you want to </a:t>
            </a:r>
            <a:r>
              <a:rPr lang="en-US" sz="2400" i="1" dirty="0" smtClean="0">
                <a:solidFill>
                  <a:srgbClr val="C00000"/>
                </a:solidFill>
              </a:rPr>
              <a:t>modify</a:t>
            </a:r>
            <a:r>
              <a:rPr lang="en-US" sz="2400" dirty="0" smtClean="0"/>
              <a:t> the database schema or reference data, all you need to do is explicitly mention the expected database state.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Compare Tool</a:t>
            </a:r>
            <a:r>
              <a:rPr lang="en-US" sz="2400" dirty="0" smtClean="0"/>
              <a:t> does all the magic and generates the difference script which then gets executed against the database.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State Based Approach Implementation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most important thing to note is that in State based approach the system of truth is the </a:t>
            </a:r>
            <a:r>
              <a:rPr lang="en-US" sz="2400" i="1" dirty="0" smtClean="0">
                <a:solidFill>
                  <a:srgbClr val="C00000"/>
                </a:solidFill>
              </a:rPr>
              <a:t>Source Code</a:t>
            </a:r>
            <a:r>
              <a:rPr lang="en-US" sz="2400" dirty="0" smtClean="0"/>
              <a:t> itself.</a:t>
            </a:r>
          </a:p>
          <a:p>
            <a:r>
              <a:rPr lang="en-US" sz="2400" dirty="0" smtClean="0"/>
              <a:t>If you want to </a:t>
            </a:r>
            <a:r>
              <a:rPr lang="en-US" sz="2400" i="1" dirty="0" smtClean="0">
                <a:solidFill>
                  <a:srgbClr val="C00000"/>
                </a:solidFill>
              </a:rPr>
              <a:t>implement</a:t>
            </a:r>
            <a:r>
              <a:rPr lang="en-US" sz="2400" dirty="0" smtClean="0"/>
              <a:t> State based approach, you can go with Database Projects in Visual Studio which uses SQL Server Data Tools.</a:t>
            </a:r>
            <a:endParaRPr lang="en-US" sz="2400" dirty="0"/>
          </a:p>
        </p:txBody>
      </p:sp>
      <p:pic>
        <p:nvPicPr>
          <p:cNvPr id="25602" name="Picture 2" descr="https://dotnetvibes.files.wordpress.com/2018/04/state-based-approac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886200"/>
            <a:ext cx="4476750" cy="2238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Migration Based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</a:t>
            </a:r>
            <a:r>
              <a:rPr lang="en-US" sz="2400" i="1" dirty="0" smtClean="0">
                <a:solidFill>
                  <a:srgbClr val="C00000"/>
                </a:solidFill>
              </a:rPr>
              <a:t>Migration Based Database Delivery</a:t>
            </a:r>
            <a:r>
              <a:rPr lang="en-US" sz="2400" dirty="0" smtClean="0"/>
              <a:t>, when you start working on a project you capture the current state of the database in a single migration script stored inside source control and that becomes the </a:t>
            </a:r>
            <a:r>
              <a:rPr lang="en-US" sz="2400" u="sng" dirty="0" smtClean="0"/>
              <a:t>base/initial state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As the project evolves over time, you will need to make changes to your database schema and reference data.</a:t>
            </a:r>
          </a:p>
          <a:p>
            <a:r>
              <a:rPr lang="en-US" sz="2400" dirty="0" smtClean="0"/>
              <a:t>On every instance, you will need to create a migration script with an </a:t>
            </a:r>
            <a:r>
              <a:rPr lang="en-US" sz="2400" i="1" dirty="0" smtClean="0">
                <a:solidFill>
                  <a:srgbClr val="C00000"/>
                </a:solidFill>
              </a:rPr>
              <a:t>incremental version number</a:t>
            </a:r>
            <a:r>
              <a:rPr lang="en-US" sz="2400" dirty="0" smtClean="0"/>
              <a:t>. If you want to determine the current state of your database or recreate the database in another environment, you will need to run all the migration scripts in the </a:t>
            </a:r>
            <a:r>
              <a:rPr lang="en-US" sz="2400" i="1" dirty="0" smtClean="0">
                <a:solidFill>
                  <a:srgbClr val="C00000"/>
                </a:solidFill>
              </a:rPr>
              <a:t>correct order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Migration Based Approach Implementation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system of truth in Migration based approach is </a:t>
            </a:r>
            <a:r>
              <a:rPr lang="en-US" sz="2400" i="1" dirty="0" smtClean="0">
                <a:solidFill>
                  <a:srgbClr val="C00000"/>
                </a:solidFill>
              </a:rPr>
              <a:t>the Database</a:t>
            </a:r>
            <a:r>
              <a:rPr lang="en-US" sz="2400" dirty="0" smtClean="0"/>
              <a:t> itself.</a:t>
            </a:r>
          </a:p>
          <a:p>
            <a:r>
              <a:rPr lang="en-US" sz="2400" dirty="0" smtClean="0"/>
              <a:t>If you want to </a:t>
            </a:r>
            <a:r>
              <a:rPr lang="en-US" sz="2400" i="1" dirty="0" smtClean="0">
                <a:solidFill>
                  <a:srgbClr val="C00000"/>
                </a:solidFill>
              </a:rPr>
              <a:t>implement</a:t>
            </a:r>
            <a:r>
              <a:rPr lang="en-US" sz="2400" dirty="0" smtClean="0"/>
              <a:t> Migration based approach, you can go with </a:t>
            </a:r>
            <a:r>
              <a:rPr lang="en-US" sz="2400" dirty="0" err="1" smtClean="0"/>
              <a:t>RedGate</a:t>
            </a:r>
            <a:r>
              <a:rPr lang="en-US" sz="2400" dirty="0" smtClean="0"/>
              <a:t> </a:t>
            </a:r>
            <a:r>
              <a:rPr lang="en-US" sz="2400" dirty="0" err="1" smtClean="0"/>
              <a:t>ReadyRoll</a:t>
            </a:r>
            <a:r>
              <a:rPr lang="en-US" sz="2400" dirty="0" smtClean="0"/>
              <a:t>. You can also go with Flyway.</a:t>
            </a:r>
          </a:p>
        </p:txBody>
      </p:sp>
      <p:pic>
        <p:nvPicPr>
          <p:cNvPr id="28674" name="Picture 2" descr="https://dotnetvibes.files.wordpress.com/2018/04/migration-based-approac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3810000"/>
            <a:ext cx="4710113" cy="1981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about Database Delivery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https://www.martinfowler.com/articles/evodb.html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Database Project</a:t>
            </a:r>
            <a:endParaRPr 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00" y="1828800"/>
            <a:ext cx="7200900" cy="410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 a Database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Build is roughly analogous to "will the code compile", e.g. is the syntax good, or are you referencing tables, columns, procedure that don't exist.</a:t>
            </a:r>
          </a:p>
          <a:p>
            <a:r>
              <a:rPr lang="en-US" sz="2200" dirty="0" smtClean="0"/>
              <a:t>As it's managed in Visual Studio, tracking down and fixing those bugs can be very easy.</a:t>
            </a:r>
            <a:endParaRPr lang="en-US" sz="2200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8950" y="3641725"/>
            <a:ext cx="5626100" cy="275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Publish a Database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Publish is, essentially, "take the database as defined in the code in this project, compare it with a target database, and make that database look like what we have in code".</a:t>
            </a:r>
          </a:p>
          <a:p>
            <a:r>
              <a:rPr lang="en-US" sz="2200" dirty="0" smtClean="0"/>
              <a:t>You feed the (table, procedure, etc.) definitions in, SSDT will write </a:t>
            </a:r>
            <a:r>
              <a:rPr lang="en-US" sz="2200" i="1" dirty="0" smtClean="0">
                <a:solidFill>
                  <a:srgbClr val="C00000"/>
                </a:solidFill>
              </a:rPr>
              <a:t>all</a:t>
            </a:r>
            <a:r>
              <a:rPr lang="en-US" sz="2200" dirty="0" smtClean="0"/>
              <a:t> of the necessary CREATE, ALTER, and DROP statements for you.</a:t>
            </a:r>
            <a:endParaRPr lang="en-US" sz="2200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8788" y="3663950"/>
            <a:ext cx="5686425" cy="273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Publish a Database Project</a:t>
            </a:r>
            <a:endParaRPr 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0" y="2206625"/>
            <a:ext cx="6286500" cy="335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Data-Tier </a:t>
            </a:r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data-tier application (DAC)</a:t>
            </a:r>
            <a:r>
              <a:rPr lang="en-US" sz="2400" dirty="0" smtClean="0"/>
              <a:t> is a logical database management entity that </a:t>
            </a:r>
            <a:r>
              <a:rPr lang="en-US" sz="2400" u="sng" dirty="0" smtClean="0"/>
              <a:t>defines</a:t>
            </a:r>
            <a:r>
              <a:rPr lang="en-US" sz="2400" dirty="0" smtClean="0"/>
              <a:t> all of the SQL Server objects - like tables, views, and instance objects, </a:t>
            </a:r>
            <a:r>
              <a:rPr lang="en-US" sz="2400" u="sng" dirty="0" smtClean="0"/>
              <a:t>including logins</a:t>
            </a:r>
            <a:r>
              <a:rPr lang="en-US" sz="2400" dirty="0" smtClean="0"/>
              <a:t> - associated with a user's database.</a:t>
            </a:r>
          </a:p>
          <a:p>
            <a:r>
              <a:rPr lang="en-US" sz="2400" dirty="0" smtClean="0"/>
              <a:t>A DAC is a self-contained unit of SQL Server database </a:t>
            </a:r>
            <a:r>
              <a:rPr lang="en-US" sz="2400" u="sng" dirty="0" smtClean="0"/>
              <a:t>deployment</a:t>
            </a:r>
            <a:r>
              <a:rPr lang="en-US" sz="2400" dirty="0" smtClean="0"/>
              <a:t> that enables data-tier developers and database administrators to package SQL Server objects into a portable artifact called a </a:t>
            </a:r>
            <a:r>
              <a:rPr lang="en-US" sz="2400" i="1" dirty="0" smtClean="0">
                <a:solidFill>
                  <a:srgbClr val="C00000"/>
                </a:solidFill>
              </a:rPr>
              <a:t>DAC package</a:t>
            </a:r>
            <a:r>
              <a:rPr lang="en-US" sz="2400" dirty="0" smtClean="0"/>
              <a:t>, also known as a DACPAC, or </a:t>
            </a:r>
            <a:r>
              <a:rPr lang="en-US" sz="2400" b="1" dirty="0" smtClean="0"/>
              <a:t>.</a:t>
            </a:r>
            <a:r>
              <a:rPr lang="en-US" sz="2400" b="1" dirty="0" err="1" smtClean="0"/>
              <a:t>dacpac</a:t>
            </a:r>
            <a:r>
              <a:rPr lang="en-US" sz="2400" dirty="0" smtClean="0"/>
              <a:t> file.</a:t>
            </a:r>
          </a:p>
          <a:p>
            <a:r>
              <a:rPr lang="en-US" sz="2400" dirty="0" smtClean="0"/>
              <a:t>A DACPAC is a Windows file with a .</a:t>
            </a:r>
            <a:r>
              <a:rPr lang="en-US" sz="2400" dirty="0" err="1" smtClean="0"/>
              <a:t>dacpac</a:t>
            </a:r>
            <a:r>
              <a:rPr lang="en-US" sz="2400" dirty="0" smtClean="0"/>
              <a:t> extension.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DAC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general, DAC tools are capable of reading DACPAC files generated by DAC tools from previous SQL Server versions, and can also deploy DACPACs to previous versions of SQL Server.</a:t>
            </a:r>
          </a:p>
          <a:p>
            <a:r>
              <a:rPr lang="en-US" sz="2400" dirty="0" smtClean="0"/>
              <a:t>However, DAC tools from earlier versions cannot read DACPAC files generated by DAC tools from later versions.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DAC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DAC supports the following operations:</a:t>
            </a:r>
          </a:p>
          <a:p>
            <a:pPr lvl="1"/>
            <a:r>
              <a:rPr lang="en-US" sz="2000" b="1" dirty="0" smtClean="0"/>
              <a:t>EXTRACT</a:t>
            </a:r>
            <a:r>
              <a:rPr lang="en-US" sz="2000" dirty="0" smtClean="0"/>
              <a:t> - the user can extract a database into a DACPAC.</a:t>
            </a:r>
          </a:p>
          <a:p>
            <a:pPr lvl="1"/>
            <a:r>
              <a:rPr lang="en-US" sz="2000" b="1" dirty="0" smtClean="0"/>
              <a:t>DEPLOY</a:t>
            </a:r>
            <a:r>
              <a:rPr lang="en-US" sz="2000" dirty="0" smtClean="0"/>
              <a:t> - the user can deploy a DACPAC to a host server. When the deployment is done from a manageability tool like SQL Server Management Studio or the Azure portal, the resulting database in the host server is implicitly registered as a data-tier application.</a:t>
            </a:r>
          </a:p>
          <a:p>
            <a:pPr lvl="1"/>
            <a:r>
              <a:rPr lang="en-US" sz="2000" b="1" dirty="0" smtClean="0"/>
              <a:t>REGISTER</a:t>
            </a:r>
            <a:r>
              <a:rPr lang="en-US" sz="2000" dirty="0" smtClean="0"/>
              <a:t> - the user can register a database as a data-tier application.</a:t>
            </a:r>
          </a:p>
          <a:p>
            <a:pPr lvl="1"/>
            <a:r>
              <a:rPr lang="en-US" sz="2000" b="1" dirty="0" smtClean="0"/>
              <a:t>UNREGISTER</a:t>
            </a:r>
            <a:r>
              <a:rPr lang="en-US" sz="2000" dirty="0" smtClean="0"/>
              <a:t> - a database previously registered as a DAC can be unregistered.</a:t>
            </a:r>
          </a:p>
          <a:p>
            <a:pPr lvl="1"/>
            <a:r>
              <a:rPr lang="en-US" sz="2000" b="1" dirty="0" smtClean="0"/>
              <a:t>UPGRADE</a:t>
            </a:r>
            <a:r>
              <a:rPr lang="en-US" sz="2000" dirty="0" smtClean="0"/>
              <a:t> - a database can be upgraded using a DACPAC. Upgrade is supported even on databases that are not previously registered as data-tier applications, but as a consequence of the upgrade, the database will be implicitly registered.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10358</TotalTime>
  <Words>1012</Words>
  <Application>Microsoft Office PowerPoint</Application>
  <PresentationFormat>On-screen Show (4:3)</PresentationFormat>
  <Paragraphs>65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SQL Server Data Tools</vt:lpstr>
      <vt:lpstr>Objectives</vt:lpstr>
      <vt:lpstr>Contents</vt:lpstr>
      <vt:lpstr>References</vt:lpstr>
      <vt:lpstr>SQL Server Data Tools</vt:lpstr>
      <vt:lpstr>Previous Releases of SQL Server Data Tools</vt:lpstr>
      <vt:lpstr>Install SSDT with Visual Studio 2019</vt:lpstr>
      <vt:lpstr>Database Delivery</vt:lpstr>
      <vt:lpstr>State Based Approach</vt:lpstr>
      <vt:lpstr>State Based Approach Implementation</vt:lpstr>
      <vt:lpstr>Migration Based Approach</vt:lpstr>
      <vt:lpstr>Migration Based Approach Implementation</vt:lpstr>
      <vt:lpstr>More about Database Delivery</vt:lpstr>
      <vt:lpstr>Create a Database Project</vt:lpstr>
      <vt:lpstr>Build a Database Project</vt:lpstr>
      <vt:lpstr>Publish a Database Project</vt:lpstr>
      <vt:lpstr>Publish a Database Project</vt:lpstr>
      <vt:lpstr>Slide 18</vt:lpstr>
      <vt:lpstr>Data-Tier Applications</vt:lpstr>
      <vt:lpstr>DAC Tools</vt:lpstr>
      <vt:lpstr>DAC Operations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3520</cp:revision>
  <dcterms:created xsi:type="dcterms:W3CDTF">2007-10-06T08:25:13Z</dcterms:created>
  <dcterms:modified xsi:type="dcterms:W3CDTF">2021-11-29T12:18:29Z</dcterms:modified>
</cp:coreProperties>
</file>