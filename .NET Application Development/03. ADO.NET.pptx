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437" r:id="rId2"/>
    <p:sldId id="433" r:id="rId3"/>
    <p:sldId id="434" r:id="rId4"/>
    <p:sldId id="362" r:id="rId5"/>
    <p:sldId id="389" r:id="rId6"/>
    <p:sldId id="427" r:id="rId7"/>
    <p:sldId id="428" r:id="rId8"/>
    <p:sldId id="429" r:id="rId9"/>
    <p:sldId id="430" r:id="rId10"/>
    <p:sldId id="436" r:id="rId11"/>
    <p:sldId id="412" r:id="rId12"/>
    <p:sldId id="390" r:id="rId13"/>
    <p:sldId id="401" r:id="rId14"/>
    <p:sldId id="402" r:id="rId15"/>
    <p:sldId id="403" r:id="rId16"/>
    <p:sldId id="391" r:id="rId17"/>
    <p:sldId id="404" r:id="rId18"/>
    <p:sldId id="405" r:id="rId19"/>
    <p:sldId id="407" r:id="rId20"/>
    <p:sldId id="406" r:id="rId21"/>
    <p:sldId id="408" r:id="rId22"/>
    <p:sldId id="409" r:id="rId23"/>
    <p:sldId id="431" r:id="rId24"/>
    <p:sldId id="410" r:id="rId25"/>
    <p:sldId id="432" r:id="rId26"/>
    <p:sldId id="438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38" autoAdjust="0"/>
    <p:restoredTop sz="94667" autoAdjust="0"/>
  </p:normalViewPr>
  <p:slideViewPr>
    <p:cSldViewPr>
      <p:cViewPr>
        <p:scale>
          <a:sx n="60" d="100"/>
          <a:sy n="60" d="100"/>
        </p:scale>
        <p:origin x="-1328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788B2-D072-42B4-8D8A-C0D124E6BC28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1EEBA-33BA-44F0-95C6-D2B8EF867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1952C-192D-4821-B649-2E0CA04C4511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C2F6C-BE6D-436A-AADD-17766C5D8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DC4DA-068B-4360-B747-02527662B78E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FDCA7-CDFD-48D2-A0F9-6647A39A9D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40E06-657E-4D7E-A70A-198E1C22BE37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BAF20-3648-4F57-A332-98CF168B43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83A99-EB31-44C9-BDAA-12A752EDCECF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EEE03-95E8-4EB0-9E91-229BBDD48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112B8-7F14-4C2F-BC40-B9558BE4358B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31928-B512-4B17-8B51-E81157E860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0651A-94B2-4F67-8F24-D862ACCA68FB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58576-A286-49B4-8248-6595C5261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FEFD-D06C-4A16-BB5B-D232FD6C1673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B2D05-4637-45E6-B13C-155A14DA3E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5E22-371E-4683-A2E7-070015375487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AA722-D044-4732-B3C8-D406AA14C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DC5F4-F7BB-411D-85E6-F9BF4FBB9066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3D8A9-F91B-4AA4-9412-7D185025B9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CF63F-29B2-4482-B6EF-B6342F965599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52EFD-9818-4DF5-9596-7CB4E745B4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8FB8FE2-2943-450E-BB6C-3F2395506934}" type="datetimeFigureOut">
              <a:rPr lang="en-US"/>
              <a:pPr>
                <a:defRPr/>
              </a:pPr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2E3C7B-2ABA-41DA-9FF6-2517B36E5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products.secureserver.net/products/hosting/PublishingWithDPW.htm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ADO.NET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are software applications.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to develop software applications.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r>
              <a:rPr lang="en-US" sz="2000" dirty="0" smtClean="0"/>
              <a:t>Bill Hamilton and Matthew MacDonald.  ADO.NET in a Nutshell. O'Reilly. 2003.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Prerequisites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C#</a:t>
            </a:r>
          </a:p>
          <a:p>
            <a:r>
              <a:rPr lang="en-US" dirty="0" smtClean="0"/>
              <a:t>.NET Framework</a:t>
            </a:r>
          </a:p>
          <a:p>
            <a:r>
              <a:rPr lang="en-US" dirty="0" smtClean="0"/>
              <a:t>MS SQL Server</a:t>
            </a:r>
          </a:p>
          <a:p>
            <a:r>
              <a:rPr lang="en-US" dirty="0" smtClean="0"/>
              <a:t>T-SQL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Access Component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371599"/>
          </a:xfrm>
        </p:spPr>
        <p:txBody>
          <a:bodyPr/>
          <a:lstStyle/>
          <a:p>
            <a:r>
              <a:rPr lang="en-US" sz="2400" dirty="0" smtClean="0"/>
              <a:t>Application database, database schema, stored procedure.</a:t>
            </a:r>
          </a:p>
          <a:p>
            <a:r>
              <a:rPr lang="en-US" sz="2400" dirty="0" smtClean="0"/>
              <a:t>Data access frameworks: ADO.NET Entities and LINQ, </a:t>
            </a:r>
            <a:r>
              <a:rPr lang="en-US" sz="2400" dirty="0" err="1" smtClean="0"/>
              <a:t>NHibernate</a:t>
            </a:r>
            <a:r>
              <a:rPr lang="en-US" sz="2400" dirty="0" smtClean="0"/>
              <a:t>, Castle </a:t>
            </a:r>
            <a:r>
              <a:rPr lang="en-US" sz="2400" dirty="0" err="1" smtClean="0"/>
              <a:t>ActiveRecord</a:t>
            </a:r>
            <a:r>
              <a:rPr lang="en-US" sz="2400" dirty="0" smtClean="0"/>
              <a:t>…</a:t>
            </a:r>
          </a:p>
        </p:txBody>
      </p:sp>
      <p:pic>
        <p:nvPicPr>
          <p:cNvPr id="26626" name="Picture 2" descr="http://i.msdn.microsoft.com/dynimg/IC146968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743200"/>
            <a:ext cx="4286250" cy="1257301"/>
          </a:xfrm>
          <a:prstGeom prst="rect">
            <a:avLst/>
          </a:prstGeom>
          <a:noFill/>
        </p:spPr>
      </p:pic>
      <p:pic>
        <p:nvPicPr>
          <p:cNvPr id="26628" name="Picture 4" descr="http://i.msdn.microsoft.com/dynimg/IC49458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5075" y="2733674"/>
            <a:ext cx="2219325" cy="1533526"/>
          </a:xfrm>
          <a:prstGeom prst="rect">
            <a:avLst/>
          </a:prstGeom>
          <a:noFill/>
        </p:spPr>
      </p:pic>
      <p:pic>
        <p:nvPicPr>
          <p:cNvPr id="26632" name="Picture 8" descr="http://www.diranieh.com/DistributedDesign_2/Figures/DataAccessComponent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4267200"/>
            <a:ext cx="5181600" cy="25336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Open DataBase Connectivity (ODBC)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5105400" cy="685800"/>
          </a:xfrm>
          <a:solidFill>
            <a:schemeClr val="accent1"/>
          </a:solidFill>
        </p:spPr>
        <p:txBody>
          <a:bodyPr/>
          <a:lstStyle/>
          <a:p>
            <a:pPr>
              <a:defRPr/>
            </a:pPr>
            <a:r>
              <a:rPr lang="en-US" sz="1800" i="1" dirty="0" smtClean="0">
                <a:solidFill>
                  <a:schemeClr val="bg1"/>
                </a:solidFill>
                <a:latin typeface="+mj-lt"/>
              </a:rPr>
              <a:t>Call Level Interface (CLI) to a relational database</a:t>
            </a:r>
          </a:p>
          <a:p>
            <a:pPr>
              <a:defRPr/>
            </a:pPr>
            <a:r>
              <a:rPr lang="en-US" sz="1800" i="1" dirty="0" smtClean="0">
                <a:solidFill>
                  <a:schemeClr val="bg1"/>
                </a:solidFill>
                <a:latin typeface="+mj-lt"/>
              </a:rPr>
              <a:t>C-style interface</a:t>
            </a:r>
            <a:endParaRPr lang="en-US" sz="18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12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819400"/>
            <a:ext cx="4391025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819400"/>
            <a:ext cx="32861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791200" y="1676400"/>
            <a:ext cx="3048000" cy="6858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VB support?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Object – oriented support?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Access Object (DAO)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990600" y="3581400"/>
            <a:ext cx="4191000" cy="12954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Performance overhead?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Distributed, componentized, COM support?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4191000" cy="1752600"/>
          </a:xfrm>
          <a:solidFill>
            <a:schemeClr val="accent1"/>
          </a:solidFill>
        </p:spPr>
        <p:txBody>
          <a:bodyPr/>
          <a:lstStyle/>
          <a:p>
            <a:pPr>
              <a:defRPr/>
            </a:pPr>
            <a:r>
              <a:rPr lang="en-US" sz="2400" dirty="0" smtClean="0">
                <a:solidFill>
                  <a:schemeClr val="bg1"/>
                </a:solidFill>
                <a:latin typeface="+mj-lt"/>
              </a:rPr>
              <a:t>VB support.</a:t>
            </a:r>
          </a:p>
          <a:p>
            <a:pPr>
              <a:defRPr/>
            </a:pPr>
            <a:r>
              <a:rPr lang="en-US" sz="2400" dirty="0" smtClean="0">
                <a:solidFill>
                  <a:schemeClr val="bg1"/>
                </a:solidFill>
                <a:latin typeface="+mj-lt"/>
              </a:rPr>
              <a:t>Object – oriented support</a:t>
            </a:r>
          </a:p>
          <a:p>
            <a:pPr>
              <a:defRPr/>
            </a:pPr>
            <a:r>
              <a:rPr lang="en-US" sz="2400" dirty="0" smtClean="0">
                <a:solidFill>
                  <a:schemeClr val="bg1"/>
                </a:solidFill>
                <a:latin typeface="+mj-lt"/>
              </a:rPr>
              <a:t>Use Access's internal "Jet" (Joint Engine Technology)</a:t>
            </a: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219200"/>
            <a:ext cx="340995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 Linking and Embedding Database (OLE-DB)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33400" y="2743200"/>
            <a:ext cx="8229600" cy="11430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“Low level" interface that used pointers, explicit memory management, and explicit lifetime control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Wrapper for VB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33400" y="1600200"/>
            <a:ext cx="8229600" cy="838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COM – based interface for working with data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Support for non-relational stores and components</a:t>
            </a:r>
          </a:p>
        </p:txBody>
      </p:sp>
      <p:pic>
        <p:nvPicPr>
          <p:cNvPr id="717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191000"/>
            <a:ext cx="51530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ActiveX Data Objects (ADO)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33400" y="1600200"/>
            <a:ext cx="8229600" cy="1295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Follow DAO model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Advanced local cursor engine</a:t>
            </a: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429000"/>
            <a:ext cx="543877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ADO.NET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ADO.NET is a new programming model</a:t>
            </a:r>
            <a:r>
              <a:rPr lang="en-US" sz="2400" dirty="0" smtClean="0"/>
              <a:t> built upon the .NET Framework, sharing a common type system, design patterns and naming conventions.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ADO.NET is designed to provide consistent</a:t>
            </a:r>
            <a:r>
              <a:rPr lang="en-US" sz="2400" dirty="0" smtClean="0"/>
              <a:t> access to data sources.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This is accomplished through ADO.NET data providers</a:t>
            </a:r>
            <a:r>
              <a:rPr lang="en-US" sz="2400" dirty="0" smtClean="0"/>
              <a:t> that provide methods for connecting to data sources as well as retrieving, manipulating, and updating data in both connected and disconnected environments.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Benefits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sz="2800" dirty="0" smtClean="0"/>
              <a:t>Disconnected (offline) data architecture in addition to supporting connected operation.</a:t>
            </a:r>
          </a:p>
          <a:p>
            <a:r>
              <a:rPr lang="en-US" sz="2800" dirty="0" smtClean="0"/>
              <a:t>XML support.</a:t>
            </a:r>
          </a:p>
          <a:p>
            <a:r>
              <a:rPr lang="en-US" sz="2800" dirty="0" smtClean="0"/>
              <a:t>A variety of data sources through a common data representation.</a:t>
            </a:r>
          </a:p>
          <a:p>
            <a:r>
              <a:rPr lang="en-US" sz="2800" dirty="0" smtClean="0"/>
              <a:t>Data source access optimization.</a:t>
            </a:r>
          </a:p>
          <a:p>
            <a:r>
              <a:rPr lang="en-US" sz="2800" dirty="0" smtClean="0"/>
              <a:t>language-independent, managed framework</a:t>
            </a: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2154238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ADO.NET Architecture</a:t>
            </a:r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4038" y="2005013"/>
            <a:ext cx="549592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Connected and Disconnected ADO.NET classes</a:t>
            </a:r>
          </a:p>
        </p:txBody>
      </p:sp>
      <p:pic>
        <p:nvPicPr>
          <p:cNvPr id="11267" name="Picture 5" descr="http://www.beansoftware.com/ASP.NET-Tutorials/Images/DAL-ADO-Mod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514600"/>
            <a:ext cx="481012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Providers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Microsoft SQL Server.</a:t>
            </a:r>
          </a:p>
          <a:p>
            <a:r>
              <a:rPr lang="en-US" smtClean="0"/>
              <a:t>OLE DB.</a:t>
            </a:r>
          </a:p>
          <a:p>
            <a:r>
              <a:rPr lang="en-US" smtClean="0"/>
              <a:t>ODBC.</a:t>
            </a:r>
          </a:p>
          <a:p>
            <a:r>
              <a:rPr lang="en-US" smtClean="0"/>
              <a:t>Oracle.</a:t>
            </a:r>
          </a:p>
          <a:p>
            <a:r>
              <a:rPr lang="en-US" smtClean="0"/>
              <a:t>SQLXML Managed Classes.</a:t>
            </a:r>
          </a:p>
          <a:p>
            <a:r>
              <a:rPr lang="en-US" smtClean="0"/>
              <a:t>MySQL, Firebird, PostgreSQL, TurboDB, Sybase.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Connection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ConnectionString property.</a:t>
            </a:r>
          </a:p>
          <a:p>
            <a:r>
              <a:rPr lang="en-US" smtClean="0"/>
              <a:t>ConnectionTimeout  property.</a:t>
            </a:r>
          </a:p>
          <a:p>
            <a:r>
              <a:rPr lang="en-US" smtClean="0"/>
              <a:t>Open method.</a:t>
            </a:r>
          </a:p>
          <a:p>
            <a:r>
              <a:rPr lang="en-US" smtClean="0"/>
              <a:t>Close method.</a:t>
            </a:r>
          </a:p>
          <a:p>
            <a:r>
              <a:rPr lang="en-US" smtClean="0"/>
              <a:t>State property.</a:t>
            </a:r>
          </a:p>
        </p:txBody>
      </p:sp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657600"/>
            <a:ext cx="4056063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Connection Pooling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Reusing active database connections instead of creating a new connection.</a:t>
            </a:r>
          </a:p>
          <a:p>
            <a:r>
              <a:rPr lang="en-US" smtClean="0"/>
              <a:t>Connect Timeout, Pooling, Max Pool Size, Min Pool Size.</a:t>
            </a:r>
          </a:p>
          <a:p>
            <a:r>
              <a:rPr lang="en-US" smtClean="0"/>
              <a:t>Connection leak.</a:t>
            </a:r>
          </a:p>
          <a:p>
            <a:r>
              <a:rPr lang="en-US" smtClean="0"/>
              <a:t>Monitoring connection pooling behavior.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Command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CommandText property.</a:t>
            </a:r>
          </a:p>
          <a:p>
            <a:r>
              <a:rPr lang="en-US" smtClean="0"/>
              <a:t>CommandType property.</a:t>
            </a:r>
          </a:p>
          <a:p>
            <a:r>
              <a:rPr lang="en-US" smtClean="0"/>
              <a:t>Parameters property.</a:t>
            </a:r>
          </a:p>
          <a:p>
            <a:r>
              <a:rPr lang="en-US" smtClean="0"/>
              <a:t>ExecuteNonQuery method.</a:t>
            </a:r>
          </a:p>
          <a:p>
            <a:r>
              <a:rPr lang="en-US" smtClean="0"/>
              <a:t>ExecuteReader method.</a:t>
            </a:r>
          </a:p>
          <a:p>
            <a:r>
              <a:rPr lang="en-US" smtClean="0"/>
              <a:t>ExecuteScalar method.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4114800"/>
            <a:ext cx="327660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DataReader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Read method.</a:t>
            </a:r>
          </a:p>
          <a:p>
            <a:r>
              <a:rPr lang="en-US" smtClean="0"/>
              <a:t>NextResult method.</a:t>
            </a:r>
          </a:p>
          <a:p>
            <a:r>
              <a:rPr lang="en-US" smtClean="0"/>
              <a:t>Close method.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590800"/>
            <a:ext cx="3429000" cy="367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DataAdapter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ConnectionString, ConnectionTimeout  property.</a:t>
            </a:r>
          </a:p>
          <a:p>
            <a:r>
              <a:rPr lang="en-US" smtClean="0"/>
              <a:t>Fill, Update method.</a:t>
            </a:r>
          </a:p>
          <a:p>
            <a:endParaRPr lang="en-US" smtClean="0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19200"/>
            <a:ext cx="5505450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DataSet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Memory-resident representation of data.</a:t>
            </a:r>
          </a:p>
          <a:p>
            <a:r>
              <a:rPr lang="en-US" smtClean="0"/>
              <a:t>DataTable.</a:t>
            </a:r>
          </a:p>
          <a:p>
            <a:r>
              <a:rPr lang="en-US" smtClean="0"/>
              <a:t>DataColumn.</a:t>
            </a:r>
          </a:p>
          <a:p>
            <a:r>
              <a:rPr lang="en-US" smtClean="0"/>
              <a:t>DataRow.</a:t>
            </a:r>
          </a:p>
          <a:p>
            <a:r>
              <a:rPr lang="en-US" smtClean="0"/>
              <a:t>Constraint (UniqueConstraint, ForeignKeyConstraint).</a:t>
            </a:r>
          </a:p>
          <a:p>
            <a:r>
              <a:rPr lang="en-US" smtClean="0"/>
              <a:t>DataRelation.</a:t>
            </a:r>
          </a:p>
          <a:p>
            <a:endParaRPr lang="en-US" smtClean="0"/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4656138"/>
            <a:ext cx="2379663" cy="152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DataView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logical table built from 1 or more tables.</a:t>
            </a:r>
          </a:p>
          <a:p>
            <a:r>
              <a:rPr lang="en-US" smtClean="0"/>
              <a:t>Sorting, Filtering, Searching.</a:t>
            </a:r>
          </a:p>
        </p:txBody>
      </p:sp>
      <p:pic>
        <p:nvPicPr>
          <p:cNvPr id="1946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276600"/>
            <a:ext cx="407670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Binding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Displaying data without writing any code .</a:t>
            </a:r>
          </a:p>
          <a:p>
            <a:r>
              <a:rPr lang="en-US" smtClean="0"/>
              <a:t>DataSource property.</a:t>
            </a:r>
          </a:p>
          <a:p>
            <a:r>
              <a:rPr lang="en-US" smtClean="0"/>
              <a:t>DataBind method.</a:t>
            </a:r>
          </a:p>
        </p:txBody>
      </p:sp>
      <p:pic>
        <p:nvPicPr>
          <p:cNvPr id="2048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352800"/>
            <a:ext cx="38100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ASP.NET Data Binding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Transaction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BeginTransaction method of a Connection object.</a:t>
            </a:r>
          </a:p>
          <a:p>
            <a:r>
              <a:rPr lang="en-US" smtClean="0"/>
              <a:t>Rollback method.</a:t>
            </a:r>
          </a:p>
          <a:p>
            <a:r>
              <a:rPr lang="en-US" smtClean="0"/>
              <a:t>Commit method.</a:t>
            </a:r>
          </a:p>
          <a:p>
            <a:endParaRPr lang="en-US" smtClean="0"/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3581400"/>
            <a:ext cx="25241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Publishing Wizard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http://products.secureserver.net/products/hosting/PublishingWithDPW.htm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4760</TotalTime>
  <Words>522</Words>
  <Application>Microsoft Office PowerPoint</Application>
  <PresentationFormat>On-screen Show (4:3)</PresentationFormat>
  <Paragraphs>113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ADO.NET</vt:lpstr>
      <vt:lpstr>Objectives</vt:lpstr>
      <vt:lpstr>References</vt:lpstr>
      <vt:lpstr>Prerequisites</vt:lpstr>
      <vt:lpstr>Data Access Component</vt:lpstr>
      <vt:lpstr>Open DataBase Connectivity (ODBC)</vt:lpstr>
      <vt:lpstr>Data Access Object (DAO)</vt:lpstr>
      <vt:lpstr>Object Linking and Embedding Database (OLE-DB)</vt:lpstr>
      <vt:lpstr>ActiveX Data Objects (ADO)</vt:lpstr>
      <vt:lpstr>ADO.NET [1]</vt:lpstr>
      <vt:lpstr>Benefits</vt:lpstr>
      <vt:lpstr>ADO.NET Architecture</vt:lpstr>
      <vt:lpstr>Connected and Disconnected ADO.NET classes</vt:lpstr>
      <vt:lpstr>Data Providers</vt:lpstr>
      <vt:lpstr>Connection</vt:lpstr>
      <vt:lpstr>Connection Pooling</vt:lpstr>
      <vt:lpstr>Command</vt:lpstr>
      <vt:lpstr>DataReader</vt:lpstr>
      <vt:lpstr>DataAdapter</vt:lpstr>
      <vt:lpstr>DataSet</vt:lpstr>
      <vt:lpstr>DataView</vt:lpstr>
      <vt:lpstr>Data Binding</vt:lpstr>
      <vt:lpstr>ASP.NET Data Binding</vt:lpstr>
      <vt:lpstr>Transaction</vt:lpstr>
      <vt:lpstr>Database Publishing Wizard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2291</cp:revision>
  <dcterms:created xsi:type="dcterms:W3CDTF">2007-10-06T08:25:13Z</dcterms:created>
  <dcterms:modified xsi:type="dcterms:W3CDTF">2023-05-19T17:23:58Z</dcterms:modified>
</cp:coreProperties>
</file>