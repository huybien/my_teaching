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7"/>
  </p:notesMasterIdLst>
  <p:sldIdLst>
    <p:sldId id="256" r:id="rId2"/>
    <p:sldId id="415" r:id="rId3"/>
    <p:sldId id="386" r:id="rId4"/>
    <p:sldId id="348" r:id="rId5"/>
    <p:sldId id="349" r:id="rId6"/>
    <p:sldId id="371" r:id="rId7"/>
    <p:sldId id="372" r:id="rId8"/>
    <p:sldId id="373" r:id="rId9"/>
    <p:sldId id="399" r:id="rId10"/>
    <p:sldId id="364" r:id="rId11"/>
    <p:sldId id="416" r:id="rId12"/>
    <p:sldId id="417" r:id="rId13"/>
    <p:sldId id="400" r:id="rId14"/>
    <p:sldId id="401" r:id="rId15"/>
    <p:sldId id="402" r:id="rId16"/>
    <p:sldId id="403" r:id="rId17"/>
    <p:sldId id="404" r:id="rId18"/>
    <p:sldId id="406" r:id="rId19"/>
    <p:sldId id="412" r:id="rId20"/>
    <p:sldId id="407" r:id="rId21"/>
    <p:sldId id="408" r:id="rId22"/>
    <p:sldId id="409" r:id="rId23"/>
    <p:sldId id="410" r:id="rId24"/>
    <p:sldId id="411" r:id="rId25"/>
    <p:sldId id="398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176" autoAdjust="0"/>
    <p:restoredTop sz="94667" autoAdjust="0"/>
  </p:normalViewPr>
  <p:slideViewPr>
    <p:cSldViewPr>
      <p:cViewPr>
        <p:scale>
          <a:sx n="60" d="100"/>
          <a:sy n="60" d="100"/>
        </p:scale>
        <p:origin x="-1428" y="-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6CC20-F782-49BF-9298-58220EE33FB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8EF1E8-8906-4BD4-9C15-F626A58FDCC6}">
      <dgm:prSet phldrT="[Text]" custT="1"/>
      <dgm:spPr/>
      <dgm:t>
        <a:bodyPr/>
        <a:lstStyle/>
        <a:p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viên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(</a:t>
          </a:r>
          <a:r>
            <a:rPr lang="en-US" sz="2400" dirty="0" err="1" smtClean="0"/>
            <a:t>tối</a:t>
          </a:r>
          <a:r>
            <a:rPr lang="en-US" sz="2400" dirty="0" smtClean="0"/>
            <a:t> </a:t>
          </a:r>
          <a:r>
            <a:rPr lang="en-US" sz="2400" dirty="0" err="1" smtClean="0"/>
            <a:t>đa</a:t>
          </a:r>
          <a:r>
            <a:rPr lang="en-US" sz="2400" dirty="0" smtClean="0"/>
            <a:t> 5 </a:t>
          </a:r>
          <a:r>
            <a:rPr lang="en-US" sz="2400" dirty="0" err="1" smtClean="0"/>
            <a:t>người</a:t>
          </a:r>
          <a:r>
            <a:rPr lang="en-US" sz="2400" dirty="0" smtClean="0"/>
            <a:t>)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gửi</a:t>
          </a:r>
          <a:r>
            <a:rPr lang="en-US" sz="2400" dirty="0" smtClean="0"/>
            <a:t> </a:t>
          </a:r>
          <a:r>
            <a:rPr lang="en-US" sz="2400" dirty="0" err="1" smtClean="0"/>
            <a:t>danh</a:t>
          </a:r>
          <a:r>
            <a:rPr lang="en-US" sz="2400" dirty="0" smtClean="0"/>
            <a:t> </a:t>
          </a:r>
          <a:r>
            <a:rPr lang="en-US" sz="2400" dirty="0" err="1" smtClean="0"/>
            <a:t>sách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.</a:t>
          </a:r>
          <a:endParaRPr lang="en-US" sz="2400" dirty="0"/>
        </a:p>
      </dgm:t>
    </dgm:pt>
    <dgm:pt modelId="{6BF9AFB6-11BE-4F14-A5D0-09999DA7A0B2}" type="parTrans" cxnId="{EA4A31DB-F72F-4AE4-B17E-AD33121C3939}">
      <dgm:prSet/>
      <dgm:spPr/>
      <dgm:t>
        <a:bodyPr/>
        <a:lstStyle/>
        <a:p>
          <a:endParaRPr lang="en-US"/>
        </a:p>
      </dgm:t>
    </dgm:pt>
    <dgm:pt modelId="{3F1207B9-429B-4B99-85C4-3136740A93B0}" type="sibTrans" cxnId="{EA4A31DB-F72F-4AE4-B17E-AD33121C3939}">
      <dgm:prSet/>
      <dgm:spPr/>
      <dgm:t>
        <a:bodyPr/>
        <a:lstStyle/>
        <a:p>
          <a:endParaRPr lang="en-US"/>
        </a:p>
      </dgm:t>
    </dgm:pt>
    <dgm:pt modelId="{03674545-BA26-40DC-9563-5BB49555B771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viện</a:t>
          </a:r>
          <a:r>
            <a:rPr lang="en-US" sz="2400" dirty="0" smtClean="0"/>
            <a:t> </a:t>
          </a:r>
          <a:r>
            <a:rPr lang="en-US" sz="2400" dirty="0" err="1" smtClean="0"/>
            <a:t>không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một</a:t>
          </a:r>
          <a:r>
            <a:rPr lang="en-US" sz="2400" dirty="0" smtClean="0"/>
            <a:t> </a:t>
          </a:r>
          <a:r>
            <a:rPr lang="en-US" sz="2400" dirty="0" err="1" smtClean="0"/>
            <a:t>danh</a:t>
          </a:r>
          <a:r>
            <a:rPr lang="en-US" sz="2400" dirty="0" smtClean="0"/>
            <a:t> </a:t>
          </a:r>
          <a:r>
            <a:rPr lang="en-US" sz="2400" dirty="0" err="1" smtClean="0"/>
            <a:t>sách</a:t>
          </a:r>
          <a:r>
            <a:rPr lang="en-US" sz="2400" dirty="0" smtClean="0"/>
            <a:t> </a:t>
          </a:r>
          <a:r>
            <a:rPr lang="en-US" sz="2400" dirty="0" err="1" smtClean="0"/>
            <a:t>gửi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.</a:t>
          </a:r>
          <a:endParaRPr lang="en-US" sz="2400" dirty="0"/>
        </a:p>
      </dgm:t>
    </dgm:pt>
    <dgm:pt modelId="{3985277F-7D42-4BAD-89C9-D7780923B77A}" type="parTrans" cxnId="{7408B2FF-AF5B-462C-B4C4-79591A49FEE4}">
      <dgm:prSet/>
      <dgm:spPr/>
      <dgm:t>
        <a:bodyPr/>
        <a:lstStyle/>
        <a:p>
          <a:endParaRPr lang="en-US"/>
        </a:p>
      </dgm:t>
    </dgm:pt>
    <dgm:pt modelId="{D8808E39-DF19-430D-8BBF-E410641655CC}" type="sibTrans" cxnId="{7408B2FF-AF5B-462C-B4C4-79591A49FEE4}">
      <dgm:prSet/>
      <dgm:spPr/>
      <dgm:t>
        <a:bodyPr/>
        <a:lstStyle/>
        <a:p>
          <a:endParaRPr lang="en-US"/>
        </a:p>
      </dgm:t>
    </dgm:pt>
    <dgm:pt modelId="{AEB21893-78BB-4713-B200-9FF9EABD9902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sắp</a:t>
          </a:r>
          <a:r>
            <a:rPr lang="en-US" sz="2400" dirty="0" smtClean="0"/>
            <a:t> </a:t>
          </a:r>
          <a:r>
            <a:rPr lang="en-US" sz="2400" dirty="0" err="1" smtClean="0"/>
            <a:t>xếp</a:t>
          </a:r>
          <a:r>
            <a:rPr lang="en-US" sz="2400" dirty="0" smtClean="0"/>
            <a:t>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phân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viên</a:t>
          </a:r>
          <a:r>
            <a:rPr lang="en-US" sz="2400" dirty="0" smtClean="0"/>
            <a:t> </a:t>
          </a:r>
          <a:r>
            <a:rPr lang="en-US" sz="2400" dirty="0" err="1" smtClean="0"/>
            <a:t>riêng</a:t>
          </a:r>
          <a:r>
            <a:rPr lang="en-US" sz="2400" dirty="0" smtClean="0"/>
            <a:t> </a:t>
          </a:r>
          <a:r>
            <a:rPr lang="en-US" sz="2400" dirty="0" err="1" smtClean="0"/>
            <a:t>lẻ</a:t>
          </a:r>
          <a:r>
            <a:rPr lang="en-US" sz="2400" dirty="0" smtClean="0"/>
            <a:t> </a:t>
          </a:r>
          <a:r>
            <a:rPr lang="en-US" sz="2400" dirty="0" err="1" smtClean="0"/>
            <a:t>hoặc</a:t>
          </a:r>
          <a:r>
            <a:rPr lang="en-US" sz="2400" dirty="0" smtClean="0"/>
            <a:t> </a:t>
          </a:r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thiếu</a:t>
          </a:r>
          <a:r>
            <a:rPr lang="en-US" sz="2400" dirty="0" smtClean="0"/>
            <a:t> </a:t>
          </a:r>
          <a:r>
            <a:rPr lang="en-US" sz="2400" dirty="0" err="1" smtClean="0"/>
            <a:t>người</a:t>
          </a:r>
          <a:r>
            <a:rPr lang="en-US" sz="2400" dirty="0" smtClean="0"/>
            <a:t>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tổng</a:t>
          </a:r>
          <a:r>
            <a:rPr lang="en-US" sz="2400" dirty="0" smtClean="0"/>
            <a:t> </a:t>
          </a:r>
          <a:r>
            <a:rPr lang="en-US" sz="2400" dirty="0" err="1" smtClean="0"/>
            <a:t>hợp</a:t>
          </a:r>
          <a:r>
            <a:rPr lang="en-US" sz="2400" dirty="0" smtClean="0"/>
            <a:t> </a:t>
          </a:r>
          <a:r>
            <a:rPr lang="en-US" sz="2400" dirty="0" err="1" smtClean="0"/>
            <a:t>toàn</a:t>
          </a:r>
          <a:r>
            <a:rPr lang="en-US" sz="2400" dirty="0" smtClean="0"/>
            <a:t> </a:t>
          </a:r>
          <a:r>
            <a:rPr lang="en-US" sz="2400" dirty="0" err="1" smtClean="0"/>
            <a:t>bộ</a:t>
          </a:r>
          <a:r>
            <a:rPr lang="en-US" sz="2400" dirty="0" smtClean="0"/>
            <a:t>.</a:t>
          </a:r>
          <a:endParaRPr lang="en-US" sz="2400" dirty="0"/>
        </a:p>
      </dgm:t>
    </dgm:pt>
    <dgm:pt modelId="{DDDDBF32-79A0-41CB-88DF-F3B064D5667C}" type="parTrans" cxnId="{F8F9AD7D-C2DA-41B8-8C00-01A5992BCEC0}">
      <dgm:prSet/>
      <dgm:spPr/>
      <dgm:t>
        <a:bodyPr/>
        <a:lstStyle/>
        <a:p>
          <a:endParaRPr lang="en-US"/>
        </a:p>
      </dgm:t>
    </dgm:pt>
    <dgm:pt modelId="{CF6A2888-B631-4648-886E-DD827C84F822}" type="sibTrans" cxnId="{F8F9AD7D-C2DA-41B8-8C00-01A5992BCEC0}">
      <dgm:prSet/>
      <dgm:spPr/>
      <dgm:t>
        <a:bodyPr/>
        <a:lstStyle/>
        <a:p>
          <a:endParaRPr lang="en-US"/>
        </a:p>
      </dgm:t>
    </dgm:pt>
    <dgm:pt modelId="{2B76ADBC-98AE-4FAA-9A69-6E06AD993881}" type="pres">
      <dgm:prSet presAssocID="{70B6CC20-F782-49BF-9298-58220EE33FB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7D5319-BEB6-4AF1-A058-28A35CD02069}" type="pres">
      <dgm:prSet presAssocID="{918EF1E8-8906-4BD4-9C15-F626A58FDCC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8676DC-440C-49A3-A986-419274325255}" type="pres">
      <dgm:prSet presAssocID="{3F1207B9-429B-4B99-85C4-3136740A93B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18F3B3E3-8B12-4E61-91B8-675F7434D6BC}" type="pres">
      <dgm:prSet presAssocID="{3F1207B9-429B-4B99-85C4-3136740A93B0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F5C0C9C0-022F-47D6-B71B-80666D536E11}" type="pres">
      <dgm:prSet presAssocID="{03674545-BA26-40DC-9563-5BB49555B77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1ED3C7-F37A-4663-B1F6-470D95834547}" type="pres">
      <dgm:prSet presAssocID="{D8808E39-DF19-430D-8BBF-E410641655CC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9EAE22A-7B46-4E13-9653-3C0380CE5B32}" type="pres">
      <dgm:prSet presAssocID="{D8808E39-DF19-430D-8BBF-E410641655CC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3724F900-98E4-4F6D-8248-F5958F7DECB0}" type="pres">
      <dgm:prSet presAssocID="{AEB21893-78BB-4713-B200-9FF9EABD990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719E332-240B-4E8B-B060-00FD095DFF3C}" type="presOf" srcId="{918EF1E8-8906-4BD4-9C15-F626A58FDCC6}" destId="{477D5319-BEB6-4AF1-A058-28A35CD02069}" srcOrd="0" destOrd="0" presId="urn:microsoft.com/office/officeart/2005/8/layout/process1"/>
    <dgm:cxn modelId="{656E58CF-88DD-40E6-9614-E22AFEABE236}" type="presOf" srcId="{70B6CC20-F782-49BF-9298-58220EE33FB7}" destId="{2B76ADBC-98AE-4FAA-9A69-6E06AD993881}" srcOrd="0" destOrd="0" presId="urn:microsoft.com/office/officeart/2005/8/layout/process1"/>
    <dgm:cxn modelId="{1B77B78C-4EBC-4878-B576-87F1C631D0D0}" type="presOf" srcId="{3F1207B9-429B-4B99-85C4-3136740A93B0}" destId="{18F3B3E3-8B12-4E61-91B8-675F7434D6BC}" srcOrd="1" destOrd="0" presId="urn:microsoft.com/office/officeart/2005/8/layout/process1"/>
    <dgm:cxn modelId="{DF474FC2-42EB-4C90-8127-80A5B78CBC5D}" type="presOf" srcId="{3F1207B9-429B-4B99-85C4-3136740A93B0}" destId="{C98676DC-440C-49A3-A986-419274325255}" srcOrd="0" destOrd="0" presId="urn:microsoft.com/office/officeart/2005/8/layout/process1"/>
    <dgm:cxn modelId="{F8F9AD7D-C2DA-41B8-8C00-01A5992BCEC0}" srcId="{70B6CC20-F782-49BF-9298-58220EE33FB7}" destId="{AEB21893-78BB-4713-B200-9FF9EABD9902}" srcOrd="2" destOrd="0" parTransId="{DDDDBF32-79A0-41CB-88DF-F3B064D5667C}" sibTransId="{CF6A2888-B631-4648-886E-DD827C84F822}"/>
    <dgm:cxn modelId="{EA4A31DB-F72F-4AE4-B17E-AD33121C3939}" srcId="{70B6CC20-F782-49BF-9298-58220EE33FB7}" destId="{918EF1E8-8906-4BD4-9C15-F626A58FDCC6}" srcOrd="0" destOrd="0" parTransId="{6BF9AFB6-11BE-4F14-A5D0-09999DA7A0B2}" sibTransId="{3F1207B9-429B-4B99-85C4-3136740A93B0}"/>
    <dgm:cxn modelId="{7408B2FF-AF5B-462C-B4C4-79591A49FEE4}" srcId="{70B6CC20-F782-49BF-9298-58220EE33FB7}" destId="{03674545-BA26-40DC-9563-5BB49555B771}" srcOrd="1" destOrd="0" parTransId="{3985277F-7D42-4BAD-89C9-D7780923B77A}" sibTransId="{D8808E39-DF19-430D-8BBF-E410641655CC}"/>
    <dgm:cxn modelId="{3D607674-D3B2-4AAB-BC80-FAB08C9E5BD7}" type="presOf" srcId="{AEB21893-78BB-4713-B200-9FF9EABD9902}" destId="{3724F900-98E4-4F6D-8248-F5958F7DECB0}" srcOrd="0" destOrd="0" presId="urn:microsoft.com/office/officeart/2005/8/layout/process1"/>
    <dgm:cxn modelId="{459C2A48-3CC2-452C-B4F9-C2CAC8978249}" type="presOf" srcId="{D8808E39-DF19-430D-8BBF-E410641655CC}" destId="{051ED3C7-F37A-4663-B1F6-470D95834547}" srcOrd="0" destOrd="0" presId="urn:microsoft.com/office/officeart/2005/8/layout/process1"/>
    <dgm:cxn modelId="{6153626B-1FE2-4255-A58E-1F1C708A3F24}" type="presOf" srcId="{03674545-BA26-40DC-9563-5BB49555B771}" destId="{F5C0C9C0-022F-47D6-B71B-80666D536E11}" srcOrd="0" destOrd="0" presId="urn:microsoft.com/office/officeart/2005/8/layout/process1"/>
    <dgm:cxn modelId="{98E81993-8826-4A63-81D6-927C750CAB6D}" type="presOf" srcId="{D8808E39-DF19-430D-8BBF-E410641655CC}" destId="{F9EAE22A-7B46-4E13-9653-3C0380CE5B32}" srcOrd="1" destOrd="0" presId="urn:microsoft.com/office/officeart/2005/8/layout/process1"/>
    <dgm:cxn modelId="{64B836EC-F08C-412B-8D51-AE4F2EC547BB}" type="presParOf" srcId="{2B76ADBC-98AE-4FAA-9A69-6E06AD993881}" destId="{477D5319-BEB6-4AF1-A058-28A35CD02069}" srcOrd="0" destOrd="0" presId="urn:microsoft.com/office/officeart/2005/8/layout/process1"/>
    <dgm:cxn modelId="{AC469E37-5F52-4A21-9BE5-6311C73BFA4B}" type="presParOf" srcId="{2B76ADBC-98AE-4FAA-9A69-6E06AD993881}" destId="{C98676DC-440C-49A3-A986-419274325255}" srcOrd="1" destOrd="0" presId="urn:microsoft.com/office/officeart/2005/8/layout/process1"/>
    <dgm:cxn modelId="{B6A392D2-3279-48E8-B5D6-729AB26B5902}" type="presParOf" srcId="{C98676DC-440C-49A3-A986-419274325255}" destId="{18F3B3E3-8B12-4E61-91B8-675F7434D6BC}" srcOrd="0" destOrd="0" presId="urn:microsoft.com/office/officeart/2005/8/layout/process1"/>
    <dgm:cxn modelId="{4615CD16-0F51-41BA-9EC1-DC464B94F19E}" type="presParOf" srcId="{2B76ADBC-98AE-4FAA-9A69-6E06AD993881}" destId="{F5C0C9C0-022F-47D6-B71B-80666D536E11}" srcOrd="2" destOrd="0" presId="urn:microsoft.com/office/officeart/2005/8/layout/process1"/>
    <dgm:cxn modelId="{5B678BCF-E5CE-434A-A806-8C843CA81A46}" type="presParOf" srcId="{2B76ADBC-98AE-4FAA-9A69-6E06AD993881}" destId="{051ED3C7-F37A-4663-B1F6-470D95834547}" srcOrd="3" destOrd="0" presId="urn:microsoft.com/office/officeart/2005/8/layout/process1"/>
    <dgm:cxn modelId="{45290854-644B-4A77-8336-082CC5283A19}" type="presParOf" srcId="{051ED3C7-F37A-4663-B1F6-470D95834547}" destId="{F9EAE22A-7B46-4E13-9653-3C0380CE5B32}" srcOrd="0" destOrd="0" presId="urn:microsoft.com/office/officeart/2005/8/layout/process1"/>
    <dgm:cxn modelId="{C4689B8D-3558-4502-AEA9-73897735E57A}" type="presParOf" srcId="{2B76ADBC-98AE-4FAA-9A69-6E06AD993881}" destId="{3724F900-98E4-4F6D-8248-F5958F7DECB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4/13/2014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edena.com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smtClean="0"/>
              <a:t>Application Development</a:t>
            </a:r>
            <a:endParaRPr lang="en-US" sz="54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GV, ThS,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Bộ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Khoa Công nghệ thông tin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ĐH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Khoa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Nhiên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Hồ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Chí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Minh.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3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điện thoại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Lịch làm việc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Thứ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hai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từ 1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30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đến 17h30 tại bộ môn Công nghệ phần mềm.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err="1" smtClean="0"/>
              <a:t>Mục</a:t>
            </a:r>
            <a:r>
              <a:rPr lang="en-US" sz="2400" dirty="0" smtClean="0"/>
              <a:t> </a:t>
            </a:r>
            <a:r>
              <a:rPr lang="en-US" sz="2400" dirty="0" err="1" smtClean="0"/>
              <a:t>tiêu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tượng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lượng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i="1" dirty="0" err="1" smtClean="0">
                <a:solidFill>
                  <a:srgbClr val="C00000"/>
                </a:solidFill>
              </a:rPr>
              <a:t>Đánh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endParaRPr lang="en-US" sz="2400" dirty="0" smtClean="0"/>
          </a:p>
          <a:p>
            <a:pPr lvl="0"/>
            <a:r>
              <a:rPr lang="en-US" sz="2400" i="1" dirty="0" err="1" smtClean="0">
                <a:solidFill>
                  <a:srgbClr val="C00000"/>
                </a:solidFill>
              </a:rPr>
              <a:t>Phương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pháp</a:t>
            </a:r>
            <a:r>
              <a:rPr lang="en-US" sz="2400" dirty="0" smtClean="0"/>
              <a:t> </a:t>
            </a:r>
            <a:r>
              <a:rPr lang="en-US" sz="2400" dirty="0" err="1" smtClean="0"/>
              <a:t>dạy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tham</a:t>
            </a:r>
            <a:r>
              <a:rPr lang="en-US" sz="2400" dirty="0" smtClean="0"/>
              <a:t> </a:t>
            </a:r>
            <a:r>
              <a:rPr lang="en-US" sz="2400" dirty="0" err="1" smtClean="0"/>
              <a:t>khảo</a:t>
            </a:r>
            <a:endParaRPr lang="en-US" sz="2400" dirty="0" smtClean="0"/>
          </a:p>
          <a:p>
            <a:pPr lvl="0"/>
            <a:r>
              <a:rPr lang="en-US" sz="2400" dirty="0" err="1" smtClean="0"/>
              <a:t>Nội</a:t>
            </a:r>
            <a:r>
              <a:rPr lang="en-US" sz="2400" dirty="0" smtClean="0"/>
              <a:t> </a:t>
            </a:r>
            <a:r>
              <a:rPr lang="en-US" sz="2400" dirty="0" err="1" smtClean="0"/>
              <a:t>quy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Câu</a:t>
            </a:r>
            <a:r>
              <a:rPr lang="en-US" sz="2400" dirty="0" smtClean="0"/>
              <a:t> </a:t>
            </a:r>
            <a:r>
              <a:rPr lang="en-US" sz="2400" dirty="0" err="1" smtClean="0"/>
              <a:t>hỏi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endParaRPr lang="en-US" sz="2400" dirty="0" smtClean="0"/>
          </a:p>
        </p:txBody>
      </p:sp>
      <p:pic>
        <p:nvPicPr>
          <p:cNvPr id="1026" name="Picture 2" descr="http://www.lvwebsolution.com/images/content-writ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476500" cy="2476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 (1)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1566208"/>
            <a:ext cx="403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Tại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chương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thu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lợi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nhuận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91000" y="5029200"/>
            <a:ext cx="388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Tại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năng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áp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tiễn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?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371600"/>
            <a:ext cx="40862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4" descr="http://www.visualbench.com/images/DigitalSchoo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4038600"/>
            <a:ext cx="2857500" cy="20288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 (2)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1524001"/>
            <a:ext cx="8153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974817"/>
            <a:ext cx="5905500" cy="2597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838200" y="1295400"/>
            <a:ext cx="7391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10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cùng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mã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4724400"/>
            <a:ext cx="7391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Cần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biết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khía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cạnh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của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ngữ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lập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và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thành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tham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gia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dự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án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tế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.NET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5182850"/>
            <a:ext cx="7696200" cy="14465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Analyze system requirements.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Participate in system design and implementation.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Coordinate and participate in code review.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knowledge and experience in system design and Web programming with Microsoft .NET and other Microsoft technologies (C#, ASP.NET, XML Web Services, ADO.NET, WCF, </a:t>
            </a:r>
            <a:r>
              <a:rPr lang="en-US" sz="2000" dirty="0" err="1" smtClean="0"/>
              <a:t>Linq</a:t>
            </a:r>
            <a:r>
              <a:rPr lang="en-US" sz="2000" dirty="0" smtClean="0"/>
              <a:t>, XAML, ASP.NET MVC...)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Having experience with database design and programming (MS SQL Server, or Oracle, </a:t>
            </a:r>
            <a:r>
              <a:rPr lang="en-US" sz="2000" dirty="0" err="1" smtClean="0"/>
              <a:t>MySQL</a:t>
            </a:r>
            <a:r>
              <a:rPr lang="en-US" sz="2000" dirty="0" smtClean="0"/>
              <a:t>,...)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Having worked with SVN, MS Team System, IIS,...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software development process.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Good soft skills: group discussion leading, team working, problem solving, presentation…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Java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5410200"/>
            <a:ext cx="7696200" cy="110799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Develop applications based on technical specifications.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Conduct system documentation.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Provide system maintenance service.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Nationality: Any (local &amp; overseas </a:t>
            </a:r>
            <a:r>
              <a:rPr lang="en-US" sz="2000" dirty="0" err="1" smtClean="0"/>
              <a:t>Vietnameses</a:t>
            </a:r>
            <a:r>
              <a:rPr lang="en-US" sz="2000" dirty="0" smtClean="0"/>
              <a:t> or expats).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knowledge and experience with Java Application development: J2EE, Spring, Struts, Hibernate, </a:t>
            </a:r>
            <a:r>
              <a:rPr lang="en-US" sz="2000" dirty="0" err="1" smtClean="0"/>
              <a:t>Ibatis</a:t>
            </a:r>
            <a:r>
              <a:rPr lang="en-US" sz="2000" dirty="0" smtClean="0"/>
              <a:t>…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experience using Web technologies: HTML, JSP, Ajax, 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>, RCP and experience in Flex/Flash is an advantage.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Knowledge of OOP, UML and MVC concept.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Understanding of RDBMS, data modeling and SQL.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quality assurance activities (CMMI)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PHP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5257800"/>
            <a:ext cx="8686800" cy="14465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Understand and interpret (in writing) project functional requirements.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Develop web applications.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Coordinate and participate in peer code review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Being expert in PHP,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, HTML, CSS, SQL Databases (preferably </a:t>
            </a:r>
            <a:r>
              <a:rPr lang="en-US" sz="1800" dirty="0" err="1" smtClean="0"/>
              <a:t>MySQL</a:t>
            </a:r>
            <a:r>
              <a:rPr lang="en-US" sz="1800" dirty="0" smtClean="0"/>
              <a:t>), AJAX.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solid competency in all aspects of LAMP stack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with SVN or CVS or GIT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PHP framework (</a:t>
            </a:r>
            <a:r>
              <a:rPr lang="en-US" sz="1800" dirty="0" err="1" smtClean="0"/>
              <a:t>eg</a:t>
            </a:r>
            <a:r>
              <a:rPr lang="en-US" sz="1800" dirty="0" smtClean="0"/>
              <a:t>.: </a:t>
            </a:r>
            <a:r>
              <a:rPr lang="en-US" sz="1800" dirty="0" err="1" smtClean="0"/>
              <a:t>Symfony</a:t>
            </a:r>
            <a:r>
              <a:rPr lang="en-US" sz="1800" dirty="0" smtClean="0"/>
              <a:t>, </a:t>
            </a:r>
            <a:r>
              <a:rPr lang="en-US" sz="1800" dirty="0" err="1" smtClean="0"/>
              <a:t>Zend</a:t>
            </a:r>
            <a:r>
              <a:rPr lang="en-US" sz="1800" dirty="0" smtClean="0"/>
              <a:t>, </a:t>
            </a:r>
            <a:r>
              <a:rPr lang="en-US" sz="1800" dirty="0" err="1" smtClean="0"/>
              <a:t>Drupal</a:t>
            </a:r>
            <a:r>
              <a:rPr lang="en-US" sz="1800" dirty="0" smtClean="0"/>
              <a:t> or any MVC framework)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 library (</a:t>
            </a:r>
            <a:r>
              <a:rPr lang="en-US" sz="1800" dirty="0" err="1" smtClean="0"/>
              <a:t>eg</a:t>
            </a:r>
            <a:r>
              <a:rPr lang="en-US" sz="1800" dirty="0" smtClean="0"/>
              <a:t>.: YUI, </a:t>
            </a:r>
            <a:r>
              <a:rPr lang="en-US" sz="1800" dirty="0" err="1" smtClean="0"/>
              <a:t>jquery</a:t>
            </a:r>
            <a:r>
              <a:rPr lang="en-US" sz="1800" dirty="0" smtClean="0"/>
              <a:t>, dojo, 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sound knowledge in web-application security, debugging and tuning web-applications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in agile software development, </a:t>
            </a:r>
            <a:r>
              <a:rPr lang="en-US" sz="1800" dirty="0" err="1" smtClean="0"/>
              <a:t>ie</a:t>
            </a:r>
            <a:r>
              <a:rPr lang="en-US" sz="1800" dirty="0" smtClean="0"/>
              <a:t> Scrum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077200" cy="4495800"/>
          </a:xfrm>
        </p:spPr>
        <p:txBody>
          <a:bodyPr/>
          <a:lstStyle/>
          <a:p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Trình bày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các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việc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quá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xây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dựng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quản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lý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cơ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quan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tổ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chức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hoặc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doanh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nghiệp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bày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các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kiến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thức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của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một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hiện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đại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(C#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và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Microsoft .NET)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xây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dựng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quản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lý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Thiết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kế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kiến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trúc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quản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lý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Xây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dựng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ứng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quản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lý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cơ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quan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tổ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chức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hoặc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doanh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nghiệp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bằng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hiện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đại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(Microsoft .NET).</a:t>
            </a:r>
          </a:p>
          <a:p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Tham gia vào nhóm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200" dirty="0" smtClean="0">
                <a:latin typeface="Calibri" pitchFamily="34" charset="0"/>
                <a:cs typeface="Calibri" pitchFamily="34" charset="0"/>
              </a:rPr>
              <a:t>và xây dựng được phần mềm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ứng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vi-VN" sz="2200" dirty="0" smtClean="0">
                <a:latin typeface="Calibri" pitchFamily="34" charset="0"/>
                <a:cs typeface="Calibri" pitchFamily="34" charset="0"/>
              </a:rPr>
              <a:t> kích cỡ khoảng 75.000 dòng mã nguồ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n.</a:t>
            </a:r>
          </a:p>
          <a:p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huẩn bị và thuyết trình</a:t>
            </a:r>
            <a:r>
              <a:rPr lang="vi-VN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200" dirty="0" smtClean="0">
                <a:latin typeface="Calibri" pitchFamily="34" charset="0"/>
                <a:cs typeface="Calibri" pitchFamily="34" charset="0"/>
              </a:rPr>
              <a:t>một vấn đề cho trước trong 15 - 20 phút.</a:t>
            </a:r>
            <a:endParaRPr lang="en-US" sz="2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15049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066800" y="1447802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tiên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quyết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phải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):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Phương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hướng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đối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tượng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(C#)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ứng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dụng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quản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lý</a:t>
            </a:r>
            <a:r>
              <a:rPr lang="en-US" sz="2000" dirty="0" smtClean="0">
                <a:latin typeface="+mj-lt"/>
                <a:cs typeface="Arial" pitchFamily="34" charset="0"/>
              </a:rPr>
              <a:t> 1 (C#, .NET)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cs typeface="Arial" pitchFamily="34" charset="0"/>
              </a:rPr>
              <a:t>Quản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trị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cơ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sở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dữ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liệu</a:t>
            </a:r>
            <a:r>
              <a:rPr lang="en-US" sz="2000" dirty="0" smtClean="0">
                <a:latin typeface="+mj-lt"/>
                <a:cs typeface="Arial" pitchFamily="34" charset="0"/>
              </a:rPr>
              <a:t> (MS SQL Server, T-SQL)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web 1 (HTML, CSS,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Javascript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)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web 2 (ASP.NET)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Nhập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môn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công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nghệ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song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hành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thể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trong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cùng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thiết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kế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quy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về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kiến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thức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làm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việc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nhóm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bày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báo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718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4958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6388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Framework, C#, and Visual Studio IDE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3733800"/>
            <a:ext cx="510540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 descr="http://3.bp.blogspot.com/-tSnUurQ4k3g/UDeoFP3H61I/AAAAAAAAAKw/_eSmYPY_Ugw/s1600/net4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752600"/>
            <a:ext cx="5400675" cy="1590675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3810000"/>
            <a:ext cx="23336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3600" y="914400"/>
            <a:ext cx="14192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" y="533400"/>
            <a:ext cx="8972550" cy="623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514600" y="87868"/>
            <a:ext cx="313688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  <a:hlinkClick r:id="rId3"/>
              </a:rPr>
              <a:t>http://www.fedena.com/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tín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chỉ</a:t>
            </a:r>
            <a:r>
              <a:rPr lang="en-US" dirty="0" smtClean="0">
                <a:latin typeface="+mj-lt"/>
              </a:rPr>
              <a:t>: 		4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lý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thuyết</a:t>
            </a:r>
            <a:r>
              <a:rPr lang="en-US" dirty="0" smtClean="0">
                <a:latin typeface="+mj-lt"/>
              </a:rPr>
              <a:t>: 	45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thực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hành</a:t>
            </a:r>
            <a:r>
              <a:rPr lang="en-US" dirty="0" smtClean="0">
                <a:latin typeface="+mj-lt"/>
              </a:rPr>
              <a:t>: 	30</a:t>
            </a:r>
          </a:p>
          <a:p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tiết tự học: 	</a:t>
            </a:r>
            <a:r>
              <a:rPr lang="en-US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Phân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bổ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thời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lượng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và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lịch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môn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chi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tiết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447800"/>
            <a:ext cx="5791200" cy="40386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Kết quả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tổng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: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Kiểm tra tại lớp (20%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Thuyết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trên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(10%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hành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 đ</a:t>
            </a:r>
            <a:r>
              <a:rPr lang="vi-VN" sz="2000" smtClean="0">
                <a:latin typeface="Calibri" pitchFamily="34" charset="0"/>
                <a:cs typeface="Calibri" pitchFamily="34" charset="0"/>
              </a:rPr>
              <a:t>ồ 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án môn học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Thi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vấn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đáp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cuối kỳ (30%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cộng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tối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đa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20%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trong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hai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Sinh viên tích cực trả lời trong lớp học và trả lời đúng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Ban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sự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phó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4864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Tiêu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chuẩn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đánh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giá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có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thay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đổi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tùy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theo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tập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của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lớp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giảng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334000" cy="5029200"/>
          </a:xfrm>
        </p:spPr>
        <p:txBody>
          <a:bodyPr/>
          <a:lstStyle/>
          <a:p>
            <a:pPr lvl="0"/>
            <a:r>
              <a:rPr lang="en-US" sz="2400" dirty="0" err="1" smtClean="0"/>
              <a:t>Giáo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đọc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, minh </a:t>
            </a:r>
            <a:r>
              <a:rPr lang="en-US" sz="2400" dirty="0" err="1" smtClean="0"/>
              <a:t>họa</a:t>
            </a:r>
            <a:r>
              <a:rPr lang="en-US" sz="2400" dirty="0" smtClean="0"/>
              <a:t> </a:t>
            </a:r>
            <a:r>
              <a:rPr lang="en-US" sz="2400" dirty="0" err="1" smtClean="0"/>
              <a:t>trực</a:t>
            </a:r>
            <a:r>
              <a:rPr lang="en-US" sz="2400" dirty="0" smtClean="0"/>
              <a:t> </a:t>
            </a:r>
            <a:r>
              <a:rPr lang="en-US" sz="2400" dirty="0" err="1" smtClean="0"/>
              <a:t>quan</a:t>
            </a:r>
            <a:r>
              <a:rPr lang="en-US" sz="2400" dirty="0" smtClean="0"/>
              <a:t>,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,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,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tra</a:t>
            </a:r>
            <a:r>
              <a:rPr lang="en-US" sz="2400" dirty="0" smtClean="0"/>
              <a:t> </a:t>
            </a:r>
            <a:r>
              <a:rPr lang="en-US" sz="2400" dirty="0" err="1" smtClean="0"/>
              <a:t>cuối</a:t>
            </a:r>
            <a:r>
              <a:rPr lang="en-US" sz="2400" dirty="0" smtClean="0"/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.</a:t>
            </a:r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đọc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, </a:t>
            </a:r>
            <a:r>
              <a:rPr lang="en-US" sz="2400" dirty="0" err="1" smtClean="0"/>
              <a:t>nghe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thảo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,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066800"/>
            <a:ext cx="24003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495800"/>
            <a:ext cx="20955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lvl="0"/>
            <a:r>
              <a:rPr lang="en-US" sz="2400" dirty="0" err="1" smtClean="0"/>
              <a:t>Giáo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đưa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chủ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điều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phối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 </a:t>
            </a:r>
            <a:r>
              <a:rPr lang="en-US" sz="2400" dirty="0" err="1" smtClean="0"/>
              <a:t>cuối</a:t>
            </a:r>
            <a:r>
              <a:rPr lang="en-US" sz="2400" dirty="0" smtClean="0"/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.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đọc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tài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, 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, </a:t>
            </a:r>
            <a:r>
              <a:rPr lang="en-US" sz="2400" dirty="0" err="1" smtClean="0"/>
              <a:t>chuẩn</a:t>
            </a:r>
            <a:r>
              <a:rPr lang="en-US" sz="2400" dirty="0" smtClean="0"/>
              <a:t> </a:t>
            </a:r>
            <a:r>
              <a:rPr lang="en-US" sz="2400" dirty="0" err="1" smtClean="0"/>
              <a:t>bị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,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thao</a:t>
            </a:r>
            <a:r>
              <a:rPr lang="en-US" sz="2400" dirty="0" smtClean="0"/>
              <a:t> </a:t>
            </a:r>
            <a:r>
              <a:rPr lang="en-US" sz="2400" dirty="0" err="1" smtClean="0"/>
              <a:t>tác</a:t>
            </a:r>
            <a:r>
              <a:rPr lang="en-US" sz="2400" dirty="0" smtClean="0"/>
              <a:t>, </a:t>
            </a:r>
            <a:r>
              <a:rPr lang="en-US" sz="2400" dirty="0" err="1" smtClean="0"/>
              <a:t>soạn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,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err="1" smtClean="0"/>
              <a:t>Những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kịp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sẽ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viết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và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nộp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báo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cáo</a:t>
            </a:r>
            <a:r>
              <a:rPr lang="en-US" sz="2400" dirty="0" smtClean="0"/>
              <a:t>.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362200"/>
            <a:ext cx="33337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Các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vấn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</a:t>
            </a:r>
            <a:r>
              <a:rPr lang="en-US" sz="2400" dirty="0" err="1" smtClean="0"/>
              <a:t>sẽ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smtClean="0"/>
              <a:t>quyết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Tải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Cài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đặt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và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cấu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thao</a:t>
            </a:r>
            <a:r>
              <a:rPr lang="en-US" sz="2400" dirty="0" smtClean="0"/>
              <a:t> </a:t>
            </a:r>
            <a:r>
              <a:rPr lang="en-US" sz="2400" dirty="0" err="1" smtClean="0"/>
              <a:t>tác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giải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quyết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vấn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Đánh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giá</a:t>
            </a:r>
            <a:r>
              <a:rPr lang="en-US" sz="2400" dirty="0" smtClean="0"/>
              <a:t>,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xét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(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vấn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nào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quyết</a:t>
            </a:r>
            <a:r>
              <a:rPr lang="en-US" sz="2400" dirty="0" smtClean="0"/>
              <a:t> </a:t>
            </a:r>
            <a:r>
              <a:rPr lang="en-US" sz="2400" dirty="0" err="1" smtClean="0"/>
              <a:t>hoặc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quyết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tốt</a:t>
            </a:r>
            <a:r>
              <a:rPr lang="en-US" sz="2400" dirty="0" smtClean="0"/>
              <a:t>)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Tuyệt</a:t>
            </a:r>
            <a:r>
              <a:rPr lang="en-US" sz="2400" dirty="0" smtClean="0"/>
              <a:t> </a:t>
            </a:r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videos </a:t>
            </a:r>
            <a:r>
              <a:rPr lang="en-US" sz="2400" i="1" dirty="0" err="1" smtClean="0">
                <a:solidFill>
                  <a:srgbClr val="C00000"/>
                </a:solidFill>
              </a:rPr>
              <a:t>trên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mạng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err="1" smtClean="0"/>
              <a:t>Chỉ</a:t>
            </a:r>
            <a:r>
              <a:rPr lang="en-US" sz="2400" dirty="0" smtClean="0"/>
              <a:t>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videos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ảnh</a:t>
            </a:r>
            <a:r>
              <a:rPr lang="en-US" sz="2400" dirty="0" smtClean="0"/>
              <a:t> do </a:t>
            </a:r>
            <a:r>
              <a:rPr lang="en-US" sz="2400" i="1" dirty="0" err="1" smtClean="0">
                <a:solidFill>
                  <a:srgbClr val="C00000"/>
                </a:solidFill>
              </a:rPr>
              <a:t>chính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mình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chụp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lại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tiên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thao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tác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trực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tiếp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(</a:t>
            </a:r>
            <a:r>
              <a:rPr lang="en-US" sz="2400" dirty="0" err="1" smtClean="0"/>
              <a:t>chỉ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20 </a:t>
            </a:r>
            <a:r>
              <a:rPr lang="en-US" sz="2400" dirty="0" err="1" smtClean="0"/>
              <a:t>phút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2362200"/>
          </a:xfrm>
        </p:spPr>
        <p:txBody>
          <a:bodyPr/>
          <a:lstStyle/>
          <a:p>
            <a:pPr lvl="0"/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đưa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ra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các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bài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tập</a:t>
            </a:r>
            <a:r>
              <a:rPr lang="en-US" sz="2400" dirty="0" smtClean="0"/>
              <a:t>,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vấn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căn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, </a:t>
            </a:r>
            <a:r>
              <a:rPr lang="en-US" sz="2400" dirty="0" err="1" smtClean="0"/>
              <a:t>định</a:t>
            </a:r>
            <a:r>
              <a:rPr lang="en-US" sz="2400" dirty="0" smtClean="0"/>
              <a:t>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,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xét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,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đáp</a:t>
            </a:r>
            <a:r>
              <a:rPr lang="en-US" sz="2400" dirty="0" smtClean="0"/>
              <a:t> </a:t>
            </a:r>
            <a:r>
              <a:rPr lang="en-US" sz="2400" dirty="0" err="1" smtClean="0"/>
              <a:t>thắc</a:t>
            </a:r>
            <a:r>
              <a:rPr lang="en-US" sz="2400" dirty="0" smtClean="0"/>
              <a:t> </a:t>
            </a:r>
            <a:r>
              <a:rPr lang="en-US" sz="2400" dirty="0" err="1" smtClean="0"/>
              <a:t>mắc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86200" y="4800600"/>
            <a:ext cx="4953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n-lt"/>
              </a:rPr>
              <a:t>làm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n-lt"/>
              </a:rPr>
              <a:t>bài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n-lt"/>
              </a:rPr>
              <a:t>tập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n-lt"/>
              </a:rPr>
              <a:t>thực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n-lt"/>
              </a:rPr>
              <a:t>hành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nộp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mỗi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tuần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8194" name="Picture 2" descr="http://www.18thtechnology.com/images/software_developm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600200"/>
            <a:ext cx="2190750" cy="2200275"/>
          </a:xfrm>
          <a:prstGeom prst="rect">
            <a:avLst/>
          </a:prstGeom>
          <a:noFill/>
        </p:spPr>
      </p:pic>
      <p:pic>
        <p:nvPicPr>
          <p:cNvPr id="8200" name="Picture 8" descr="http://www.taurusonline.net/imgs/software-developmen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191000"/>
            <a:ext cx="3038475" cy="18192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2362200"/>
          </a:xfrm>
        </p:spPr>
        <p:txBody>
          <a:bodyPr/>
          <a:lstStyle/>
          <a:p>
            <a:pPr lvl="0"/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chọn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,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vấn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căn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, </a:t>
            </a:r>
            <a:r>
              <a:rPr lang="en-US" sz="2400" dirty="0" err="1" smtClean="0"/>
              <a:t>định</a:t>
            </a:r>
            <a:r>
              <a:rPr lang="en-US" sz="2400" dirty="0" smtClean="0"/>
              <a:t>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,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xét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,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đáp</a:t>
            </a:r>
            <a:r>
              <a:rPr lang="en-US" sz="2400" dirty="0" smtClean="0"/>
              <a:t> </a:t>
            </a:r>
            <a:r>
              <a:rPr lang="en-US" sz="2400" dirty="0" err="1" smtClean="0"/>
              <a:t>thắc</a:t>
            </a:r>
            <a:r>
              <a:rPr lang="en-US" sz="2400" dirty="0" smtClean="0"/>
              <a:t> </a:t>
            </a:r>
            <a:r>
              <a:rPr lang="en-US" sz="2400" dirty="0" err="1" smtClean="0"/>
              <a:t>mắc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876800"/>
            <a:ext cx="22479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295400"/>
            <a:ext cx="376237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733800" y="5181600"/>
            <a:ext cx="4953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thực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đồ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án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nhóm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nộp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mỗi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tuần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và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tổng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hợp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cuối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kỳ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3962400"/>
            <a:ext cx="8382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0" indent="-457200" eaLnBrk="0" hangingPunct="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+mj-lt"/>
                <a:cs typeface="Calibri" pitchFamily="34" charset="0"/>
              </a:rPr>
              <a:t>DAN CLARK. BEGINNING C# OBJECT-ORIENTED PROGRAMMING. APRESS. 2013.</a:t>
            </a:r>
          </a:p>
          <a:p>
            <a:pPr marL="457200" lvl="0" indent="-457200" eaLnBrk="0" hangingPunct="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+mj-lt"/>
                <a:cs typeface="Calibri" pitchFamily="34" charset="0"/>
              </a:rPr>
              <a:t>JOSEPH ALBAHARI AND BEN ALBAHARI. C# 5.0 IN A NUTSHELL. FIFTH EDITION. O’REILLY MEDIA, INC. 2012.</a:t>
            </a:r>
          </a:p>
          <a:p>
            <a:pPr marL="457200" lvl="0" indent="-457200" eaLnBrk="0" hangingPunct="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+mj-lt"/>
                <a:cs typeface="Calibri" pitchFamily="34" charset="0"/>
              </a:rPr>
              <a:t>CRAIG LARMAN. APPLYING UML AND PATTERNS. ADDISON WESLEY PROFESSIONAL. 2004.</a:t>
            </a:r>
          </a:p>
          <a:p>
            <a:pPr marL="457200" lvl="0" indent="-457200" eaLnBrk="0" hangingPunct="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+mj-lt"/>
                <a:cs typeface="Calibri" pitchFamily="34" charset="0"/>
              </a:rPr>
              <a:t>STEFANO MOSTARDA ET AL.. ENTITY FRAMEWORK 4 IN ACTION. MANNING PUBLICATIONS CO. 2011</a:t>
            </a:r>
          </a:p>
          <a:p>
            <a:pPr marL="457200" lvl="0" indent="-457200" eaLnBrk="0" hangingPunct="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+mj-lt"/>
                <a:cs typeface="Calibri" pitchFamily="34" charset="0"/>
              </a:rPr>
              <a:t>PHẦN REFERENCES TRONG CÁC SLIDES MÔN HỌC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2192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mặt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quá</a:t>
            </a:r>
            <a:r>
              <a:rPr lang="en-US" sz="2000" dirty="0" smtClean="0">
                <a:latin typeface="+mj-lt"/>
              </a:rPr>
              <a:t> 20% </a:t>
            </a:r>
            <a:r>
              <a:rPr lang="en-US" sz="2000" dirty="0" err="1" smtClean="0">
                <a:latin typeface="+mj-lt"/>
              </a:rPr>
              <a:t>thời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lượng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cuối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trong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buổi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hoặc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tổng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số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cuối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một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phần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từ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mạng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bất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cứ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nguồn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 </a:t>
            </a:r>
            <a:r>
              <a:rPr lang="en-US" sz="2000" dirty="0" err="1" smtClean="0">
                <a:latin typeface="+mj-lt"/>
              </a:rPr>
              <a:t>Điều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dụng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sau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,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bằng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nhưng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báo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trừ</a:t>
            </a:r>
            <a:r>
              <a:rPr lang="en-US" sz="2000" dirty="0" smtClean="0">
                <a:latin typeface="+mj-lt"/>
              </a:rPr>
              <a:t> 50%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duy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quyết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ngoại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lệ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giấy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nhận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của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bệnh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về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trạng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sức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khỏe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419600"/>
            <a:ext cx="41338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smtClean="0"/>
              <a:t>dựng </a:t>
            </a:r>
            <a:r>
              <a:rPr lang="en-US" dirty="0" err="1" smtClean="0"/>
              <a:t>nhóm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85800" y="1397000"/>
          <a:ext cx="7848600" cy="30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Cám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Cám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8903</TotalTime>
  <Words>1805</Words>
  <Application>Microsoft Office PowerPoint</Application>
  <PresentationFormat>On-screen Show (4:3)</PresentationFormat>
  <Paragraphs>163</Paragraphs>
  <Slides>25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Application Development</vt:lpstr>
      <vt:lpstr>Giảng viên phụ trách</vt:lpstr>
      <vt:lpstr>Nội dung</vt:lpstr>
      <vt:lpstr>Tại sao tôi cần học môn này? (1)</vt:lpstr>
      <vt:lpstr>Tại sao tôi cần học môn này? (2)</vt:lpstr>
      <vt:lpstr>.NET Developer Hire</vt:lpstr>
      <vt:lpstr>Java Developer Hire</vt:lpstr>
      <vt:lpstr>PHP Developer Hire</vt:lpstr>
      <vt:lpstr>Mục tiêu</vt:lpstr>
      <vt:lpstr>Điều kiện đăng ký học phần</vt:lpstr>
      <vt:lpstr>.NET Framework, C#, and Visual Studio IDE</vt:lpstr>
      <vt:lpstr>Slide 12</vt:lpstr>
      <vt:lpstr>Thời lượng môn học</vt:lpstr>
      <vt:lpstr>Đánh giá kết quả học tập</vt:lpstr>
      <vt:lpstr>Thuyết giảng</vt:lpstr>
      <vt:lpstr>Thuyết trình trên lớp</vt:lpstr>
      <vt:lpstr>Nội dung thuyết trình</vt:lpstr>
      <vt:lpstr>Thực hành</vt:lpstr>
      <vt:lpstr>Đồ án</vt:lpstr>
      <vt:lpstr>Tài liệu tham khảo</vt:lpstr>
      <vt:lpstr>Nội quy môn học</vt:lpstr>
      <vt:lpstr>Xây dựng nhóm</vt:lpstr>
      <vt:lpstr>Câu hỏi và Trả lời</vt:lpstr>
      <vt:lpstr>Cám ơn</vt:lpstr>
      <vt:lpstr>Cám ơn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HuyBien</cp:lastModifiedBy>
  <cp:revision>3412</cp:revision>
  <dcterms:created xsi:type="dcterms:W3CDTF">2007-10-06T08:25:13Z</dcterms:created>
  <dcterms:modified xsi:type="dcterms:W3CDTF">2014-04-13T09:15:22Z</dcterms:modified>
</cp:coreProperties>
</file>