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5"/>
  </p:notesMasterIdLst>
  <p:handoutMasterIdLst>
    <p:handoutMasterId r:id="rId76"/>
  </p:handoutMasterIdLst>
  <p:sldIdLst>
    <p:sldId id="414" r:id="rId2"/>
    <p:sldId id="415" r:id="rId3"/>
    <p:sldId id="416" r:id="rId4"/>
    <p:sldId id="417" r:id="rId5"/>
    <p:sldId id="483" r:id="rId6"/>
    <p:sldId id="484" r:id="rId7"/>
    <p:sldId id="485" r:id="rId8"/>
    <p:sldId id="486" r:id="rId9"/>
    <p:sldId id="487" r:id="rId10"/>
    <p:sldId id="488" r:id="rId11"/>
    <p:sldId id="489" r:id="rId12"/>
    <p:sldId id="490" r:id="rId13"/>
    <p:sldId id="482" r:id="rId14"/>
    <p:sldId id="459" r:id="rId15"/>
    <p:sldId id="460" r:id="rId16"/>
    <p:sldId id="461" r:id="rId17"/>
    <p:sldId id="481" r:id="rId18"/>
    <p:sldId id="491" r:id="rId19"/>
    <p:sldId id="493" r:id="rId20"/>
    <p:sldId id="496" r:id="rId21"/>
    <p:sldId id="501" r:id="rId22"/>
    <p:sldId id="500" r:id="rId23"/>
    <p:sldId id="499" r:id="rId24"/>
    <p:sldId id="464" r:id="rId25"/>
    <p:sldId id="465" r:id="rId26"/>
    <p:sldId id="497" r:id="rId27"/>
    <p:sldId id="477" r:id="rId28"/>
    <p:sldId id="478" r:id="rId29"/>
    <p:sldId id="466" r:id="rId30"/>
    <p:sldId id="467" r:id="rId31"/>
    <p:sldId id="468" r:id="rId32"/>
    <p:sldId id="469" r:id="rId33"/>
    <p:sldId id="470" r:id="rId34"/>
    <p:sldId id="471" r:id="rId35"/>
    <p:sldId id="472" r:id="rId36"/>
    <p:sldId id="473" r:id="rId37"/>
    <p:sldId id="474" r:id="rId38"/>
    <p:sldId id="475" r:id="rId39"/>
    <p:sldId id="498" r:id="rId40"/>
    <p:sldId id="413" r:id="rId41"/>
    <p:sldId id="443" r:id="rId42"/>
    <p:sldId id="433" r:id="rId43"/>
    <p:sldId id="435" r:id="rId44"/>
    <p:sldId id="434" r:id="rId45"/>
    <p:sldId id="479" r:id="rId46"/>
    <p:sldId id="418" r:id="rId47"/>
    <p:sldId id="420" r:id="rId48"/>
    <p:sldId id="480" r:id="rId49"/>
    <p:sldId id="419" r:id="rId50"/>
    <p:sldId id="421" r:id="rId51"/>
    <p:sldId id="422" r:id="rId52"/>
    <p:sldId id="423" r:id="rId53"/>
    <p:sldId id="424" r:id="rId54"/>
    <p:sldId id="436" r:id="rId55"/>
    <p:sldId id="437" r:id="rId56"/>
    <p:sldId id="438" r:id="rId57"/>
    <p:sldId id="439" r:id="rId58"/>
    <p:sldId id="440" r:id="rId59"/>
    <p:sldId id="428" r:id="rId60"/>
    <p:sldId id="456" r:id="rId61"/>
    <p:sldId id="458" r:id="rId62"/>
    <p:sldId id="457" r:id="rId63"/>
    <p:sldId id="444" r:id="rId64"/>
    <p:sldId id="446" r:id="rId65"/>
    <p:sldId id="448" r:id="rId66"/>
    <p:sldId id="447" r:id="rId67"/>
    <p:sldId id="449" r:id="rId68"/>
    <p:sldId id="450" r:id="rId69"/>
    <p:sldId id="451" r:id="rId70"/>
    <p:sldId id="452" r:id="rId71"/>
    <p:sldId id="453" r:id="rId72"/>
    <p:sldId id="454" r:id="rId73"/>
    <p:sldId id="360" r:id="rId7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1" autoAdjust="0"/>
    <p:restoredTop sz="94667" autoAdjust="0"/>
  </p:normalViewPr>
  <p:slideViewPr>
    <p:cSldViewPr>
      <p:cViewPr>
        <p:scale>
          <a:sx n="50" d="100"/>
          <a:sy n="50" d="100"/>
        </p:scale>
        <p:origin x="-16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727DC-2E8F-43B3-8355-CCE0B6704CEB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4380-3815-4B2E-92FA-ED1993E061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C8F02-26E5-4602-B90C-9836E53E998C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C85B-1E6F-424F-86A0-250E63A4A2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6A842-585B-4FB8-B0AD-5A22636E93BF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57F44-DAAA-4BFA-A1D9-B690FD69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CC13E-AA34-4DB7-B0EC-5E3AAA7D3BAC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660F-9FDB-4AFB-BE29-11A381729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3334-71C9-49E2-A0BB-A043C182B878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881E5-BD58-41FC-93AD-0A9091087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3020B-3D2A-4D8C-B5FF-4D6A024CBDE8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8E1C0-584A-404B-B99A-E5AD89ACF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7DBA-E622-4CD1-BCA3-A03CD04FDCC6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4D90-9228-45C4-A427-06E557DE9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1D3DF-EF49-4212-81A5-83E2D6EC0182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97F0E-0BE9-471F-A7B8-4D2E909F9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6690-AF43-474E-AAC4-06B4786F7A5B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6AD9-6F95-4021-BF75-BF9B58A70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F0E39-78E2-4DE3-8C65-7CAB11F37A23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0FB-C1F7-4ADD-9C33-A8D7E6B4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2A139-0756-4DC4-8001-1DFC6C3458CC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5BAB-E1F5-4BBA-9D33-03EFE2F8D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C515-BCDF-4B2C-80BB-863C58D176FB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6CC5B-ED2C-42FF-AE49-898FC683E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8C39-B056-4409-B30D-266D32EB71C5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453D-B7C3-4D56-B8B4-B49BCBFB8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325272-1ED5-4E24-A128-8E8DEE352665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7590F4-D8FE-45EA-A958-7E45569A0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mongodb.com/manual/tutorial/install-mongodb-on-window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ongodb.com/manual/tutorial/manage-mongodb-processe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hub.docker.com/_/mongo/tag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1/" TargetMode="External"/><Relationship Id="rId2" Type="http://schemas.openxmlformats.org/officeDocument/2006/relationships/hyperlink" Target="https://hub.docker.com/_/mongo-expre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mongodb.com/manual/tutorial/install-mongodb-on-ubuntu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ocs.mongodb.com/manual/tutorial/install-mongodb-on-os-x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err="1" smtClean="0"/>
              <a:t>MongoDB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configure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to achieve </a:t>
            </a:r>
            <a:r>
              <a:rPr lang="en-US" sz="2400" i="1" dirty="0" smtClean="0">
                <a:solidFill>
                  <a:srgbClr val="C00000"/>
                </a:solidFill>
              </a:rPr>
              <a:t>high availability</a:t>
            </a:r>
            <a:r>
              <a:rPr lang="en-US" sz="2400" dirty="0" smtClean="0"/>
              <a:t>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configure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to achieve </a:t>
            </a:r>
            <a:r>
              <a:rPr lang="en-US" sz="2400" i="1" dirty="0" smtClean="0">
                <a:solidFill>
                  <a:srgbClr val="C00000"/>
                </a:solidFill>
              </a:rPr>
              <a:t>scalability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Data Replication Problem.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Data </a:t>
            </a:r>
            <a:r>
              <a:rPr lang="en-US" sz="2400" dirty="0" err="1" smtClean="0"/>
              <a:t>Sharding</a:t>
            </a:r>
            <a:r>
              <a:rPr lang="en-US" sz="2400" dirty="0" smtClean="0"/>
              <a:t> Problem.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MongoDB</a:t>
            </a:r>
            <a:r>
              <a:rPr lang="en-US" sz="2400" dirty="0" smtClean="0"/>
              <a:t> Installation.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MongoDB</a:t>
            </a:r>
            <a:r>
              <a:rPr lang="en-US" sz="2400" dirty="0" smtClean="0"/>
              <a:t> </a:t>
            </a:r>
            <a:r>
              <a:rPr lang="en-US" sz="2400" dirty="0" err="1" smtClean="0"/>
              <a:t>Concetps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Replication.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Sharding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Bradshaw Shannon, </a:t>
            </a:r>
            <a:r>
              <a:rPr lang="en-US" sz="2400" dirty="0" err="1" smtClean="0"/>
              <a:t>Eoin</a:t>
            </a:r>
            <a:r>
              <a:rPr lang="en-US" sz="2400" dirty="0" smtClean="0"/>
              <a:t> Brazil and Kristina </a:t>
            </a:r>
            <a:r>
              <a:rPr lang="en-US" sz="2400" dirty="0" err="1" smtClean="0"/>
              <a:t>Chodorow</a:t>
            </a:r>
            <a:r>
              <a:rPr lang="en-US" sz="2400" dirty="0" smtClean="0"/>
              <a:t> (2019).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: The Definitive Guide - Powerful and Scalable Data Storage. O'Reilly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Solving a Problem: The </a:t>
            </a:r>
            <a:r>
              <a:rPr lang="en-US" i="1" dirty="0" smtClean="0">
                <a:solidFill>
                  <a:srgbClr val="C00000"/>
                </a:solidFill>
              </a:rPr>
              <a:t>Hard</a:t>
            </a:r>
            <a:r>
              <a:rPr lang="en-US" dirty="0" smtClean="0"/>
              <a:t>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Input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Story: As sponsors, we want the system data to be stored on 2 database servers so that we can ensure that our data is safe from a server crash.</a:t>
            </a:r>
          </a:p>
          <a:p>
            <a:pPr lvl="1"/>
            <a:r>
              <a:rPr lang="en-US" sz="2000" dirty="0" smtClean="0"/>
              <a:t>Developer: Ngo Huy Bien.</a:t>
            </a:r>
          </a:p>
          <a:p>
            <a:r>
              <a:rPr lang="en-US" sz="2400" dirty="0" smtClean="0"/>
              <a:t>Bonus: </a:t>
            </a:r>
          </a:p>
          <a:p>
            <a:pPr lvl="1"/>
            <a:r>
              <a:rPr lang="en-US" sz="2000" dirty="0" smtClean="0"/>
              <a:t>Prototype, Architecture, Proof of Concept.</a:t>
            </a:r>
          </a:p>
          <a:p>
            <a:pPr lvl="1"/>
            <a:r>
              <a:rPr lang="en-US" sz="2000" dirty="0" smtClean="0"/>
              <a:t>Scenarios, Domain Models.</a:t>
            </a:r>
          </a:p>
          <a:p>
            <a:pPr lvl="1"/>
            <a:r>
              <a:rPr lang="en-US" sz="2000" dirty="0" smtClean="0"/>
              <a:t>ERD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Output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Source code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Problem solved.</a:t>
            </a:r>
          </a:p>
          <a:p>
            <a:r>
              <a:rPr lang="en-US" sz="2400" b="1" i="1" dirty="0" smtClean="0">
                <a:solidFill>
                  <a:srgbClr val="C00000"/>
                </a:solidFill>
              </a:rPr>
              <a:t>Issue: Which tools? I haven't used these tools.</a:t>
            </a:r>
          </a:p>
        </p:txBody>
      </p:sp>
      <p:pic>
        <p:nvPicPr>
          <p:cNvPr id="3074" name="Picture 2" descr="https://images.squarespace-cdn.com/content/v1/583ed05c59cc68a8c3e45c0f/1574085452103-JAY3739FDGTE0ZR90QPX/ke17ZwdGBToddI8pDm48kOggE0Ch6pMGalwtLMqzsSB7gQa3H78H3Y0txjaiv_0fDoOvxcdMmMKkDsyUqMSsMWxHk725yiiHCCLfrh8O1z5QPOohDIaIeljMHgDF5CVlOqpeNLcJ80NK65_fV7S1Ufo5RWkg_J4of0jUNHaDHx6pZKBvpVYzidBWCapg0tuoMuEaB2HPGSYDV-11UTcW2g/question-mark-2405197_1920.jpg?format=1000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3276600"/>
            <a:ext cx="3048000" cy="2033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money</a:t>
            </a:r>
          </a:p>
          <a:p>
            <a:pPr lvl="1"/>
            <a:r>
              <a:rPr lang="en-US" dirty="0" smtClean="0"/>
              <a:t>Get a job (job requirement)</a:t>
            </a:r>
          </a:p>
          <a:p>
            <a:pPr lvl="1"/>
            <a:r>
              <a:rPr lang="en-US" dirty="0" smtClean="0"/>
              <a:t>Startup (solving a problem)</a:t>
            </a:r>
          </a:p>
          <a:p>
            <a:pPr lvl="2"/>
            <a:r>
              <a:rPr lang="en-US" dirty="0" smtClean="0"/>
              <a:t>Tool selection</a:t>
            </a:r>
          </a:p>
          <a:p>
            <a:pPr lvl="3"/>
            <a:r>
              <a:rPr lang="en-US" i="1" dirty="0" smtClean="0">
                <a:solidFill>
                  <a:srgbClr val="C00000"/>
                </a:solidFill>
              </a:rPr>
              <a:t>Faster</a:t>
            </a:r>
            <a:r>
              <a:rPr lang="en-US" dirty="0" smtClean="0"/>
              <a:t> development (Get a task done).</a:t>
            </a:r>
          </a:p>
          <a:p>
            <a:pPr lvl="3"/>
            <a:r>
              <a:rPr lang="en-US" dirty="0" smtClean="0"/>
              <a:t>Easier </a:t>
            </a:r>
            <a:r>
              <a:rPr lang="en-US" i="1" dirty="0" smtClean="0">
                <a:solidFill>
                  <a:srgbClr val="C00000"/>
                </a:solidFill>
              </a:rPr>
              <a:t>modifiability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extensibility.</a:t>
            </a:r>
          </a:p>
          <a:p>
            <a:pPr lvl="3"/>
            <a:r>
              <a:rPr lang="en-US" dirty="0" smtClean="0"/>
              <a:t>Better security and </a:t>
            </a:r>
            <a:r>
              <a:rPr lang="en-US" i="1" dirty="0" smtClean="0">
                <a:solidFill>
                  <a:srgbClr val="C00000"/>
                </a:solidFill>
              </a:rPr>
              <a:t>scalability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Hobby</a:t>
            </a:r>
          </a:p>
          <a:p>
            <a:pPr lvl="1"/>
            <a:r>
              <a:rPr lang="en-US" i="1" dirty="0" smtClean="0">
                <a:solidFill>
                  <a:srgbClr val="C00000"/>
                </a:solidFill>
              </a:rPr>
              <a:t>Problem</a:t>
            </a:r>
            <a:r>
              <a:rPr lang="en-US" dirty="0" smtClean="0"/>
              <a:t>/need.</a:t>
            </a:r>
          </a:p>
          <a:p>
            <a:pPr lvl="1"/>
            <a:r>
              <a:rPr lang="en-US" dirty="0" smtClean="0"/>
              <a:t>Open yourself up to </a:t>
            </a:r>
            <a:r>
              <a:rPr lang="en-US" i="1" dirty="0" smtClean="0">
                <a:solidFill>
                  <a:srgbClr val="C00000"/>
                </a:solidFill>
              </a:rPr>
              <a:t>new ideas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approaches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Learn a New Tool?</a:t>
            </a:r>
            <a:endParaRPr lang="en-US" dirty="0"/>
          </a:p>
        </p:txBody>
      </p:sp>
      <p:cxnSp>
        <p:nvCxnSpPr>
          <p:cNvPr id="7" name="Curved Connector 6"/>
          <p:cNvCxnSpPr/>
          <p:nvPr/>
        </p:nvCxnSpPr>
        <p:spPr>
          <a:xfrm rot="16200000" flipV="1">
            <a:off x="990600" y="4267200"/>
            <a:ext cx="1752600" cy="3810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Curved Connector 5"/>
          <p:cNvCxnSpPr/>
          <p:nvPr/>
        </p:nvCxnSpPr>
        <p:spPr>
          <a:xfrm rot="10800000">
            <a:off x="3581400" y="5638800"/>
            <a:ext cx="1447800" cy="2286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228600" y="15240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228600" y="46482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pic>
        <p:nvPicPr>
          <p:cNvPr id="1026" name="Picture 2" descr="https://cdn.iconscout.com/icon/free/png-512/mongodb-22602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1600200"/>
            <a:ext cx="1625600" cy="1625600"/>
          </a:xfrm>
          <a:prstGeom prst="rect">
            <a:avLst/>
          </a:prstGeom>
          <a:noFill/>
        </p:spPr>
      </p:pic>
      <p:pic>
        <p:nvPicPr>
          <p:cNvPr id="1028" name="Picture 4" descr="https://upload.wikimedia.org/wikipedia/commons/thumb/5/5e/Cassandra_logo.svg/1280px-Cassandra_logo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3329940"/>
            <a:ext cx="1625600" cy="10896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a Concrete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Configure </a:t>
            </a:r>
            <a:r>
              <a:rPr lang="en-US" sz="2600" u="sng" dirty="0" smtClean="0"/>
              <a:t>data replication</a:t>
            </a:r>
            <a:r>
              <a:rPr lang="en-US" sz="2600" dirty="0" smtClean="0"/>
              <a:t> for </a:t>
            </a:r>
            <a:r>
              <a:rPr lang="en-US" sz="2600" i="1" dirty="0" err="1" smtClean="0">
                <a:solidFill>
                  <a:srgbClr val="C00000"/>
                </a:solidFill>
              </a:rPr>
              <a:t>mongoDB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Configure </a:t>
            </a:r>
            <a:r>
              <a:rPr lang="en-US" sz="2600" u="sng" dirty="0" smtClean="0"/>
              <a:t>data </a:t>
            </a:r>
            <a:r>
              <a:rPr lang="en-US" sz="2600" u="sng" dirty="0" err="1" smtClean="0"/>
              <a:t>sharding</a:t>
            </a:r>
            <a:r>
              <a:rPr lang="en-US" sz="2600" dirty="0" smtClean="0"/>
              <a:t> for </a:t>
            </a:r>
            <a:r>
              <a:rPr lang="en-US" sz="2600" i="1" dirty="0" err="1" smtClean="0">
                <a:solidFill>
                  <a:srgbClr val="C00000"/>
                </a:solidFill>
              </a:rPr>
              <a:t>mongoDB</a:t>
            </a:r>
            <a:r>
              <a:rPr lang="en-US" sz="2600" dirty="0" smtClean="0"/>
              <a:t>.</a:t>
            </a:r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200400"/>
            <a:ext cx="3251200" cy="2438400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5052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Clarify domain-specific terminologies (Data replication? Data </a:t>
            </a:r>
            <a:r>
              <a:rPr lang="en-US" sz="2600" dirty="0" err="1" smtClean="0"/>
              <a:t>sharding</a:t>
            </a:r>
            <a:r>
              <a:rPr lang="en-US" sz="2600" dirty="0" smtClean="0"/>
              <a:t>?, </a:t>
            </a:r>
            <a:r>
              <a:rPr lang="en-US" sz="2600" dirty="0" err="1" smtClean="0"/>
              <a:t>mongoDB</a:t>
            </a:r>
            <a:r>
              <a:rPr lang="en-US" sz="2600" dirty="0" smtClean="0"/>
              <a:t>? </a:t>
            </a:r>
            <a:r>
              <a:rPr lang="en-US" sz="2600" dirty="0" err="1" smtClean="0"/>
              <a:t>Casandra</a:t>
            </a:r>
            <a:r>
              <a:rPr lang="en-US" sz="2600" dirty="0" smtClean="0"/>
              <a:t>?)</a:t>
            </a:r>
          </a:p>
          <a:p>
            <a:r>
              <a:rPr lang="en-US" sz="2600" dirty="0" smtClean="0"/>
              <a:t>Find a tutorial (or a mentor).</a:t>
            </a:r>
          </a:p>
          <a:p>
            <a:r>
              <a:rPr lang="en-US" sz="2600" dirty="0" smtClean="0"/>
              <a:t>Install, configure and use the tool.</a:t>
            </a:r>
          </a:p>
          <a:p>
            <a:r>
              <a:rPr lang="en-US" sz="2600" dirty="0" smtClean="0"/>
              <a:t>Test results.</a:t>
            </a:r>
            <a:endParaRPr lang="en-US" sz="2600" dirty="0"/>
          </a:p>
        </p:txBody>
      </p:sp>
      <p:pic>
        <p:nvPicPr>
          <p:cNvPr id="1026" name="Picture 2" descr="https://static.thenounproject.com/png/204132-2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9624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 High Availability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User (SPA) ---&gt; Web server (API) ---&gt; Database server.</a:t>
            </a:r>
          </a:p>
          <a:p>
            <a:endParaRPr lang="en-US" sz="2200" dirty="0" smtClean="0"/>
          </a:p>
          <a:p>
            <a:r>
              <a:rPr lang="en-US" sz="2200" dirty="0" smtClean="0"/>
              <a:t>User (Brower) ---&gt; Web server (MPA/API) ---&gt; Database server.</a:t>
            </a:r>
          </a:p>
          <a:p>
            <a:endParaRPr lang="en-US" sz="2200" dirty="0" smtClean="0"/>
          </a:p>
          <a:p>
            <a:r>
              <a:rPr lang="en-US" sz="2200" dirty="0" smtClean="0"/>
              <a:t>User (Native mobile app) ---&gt; Web server (API) ---&gt; Database server.</a:t>
            </a:r>
          </a:p>
          <a:p>
            <a:endParaRPr lang="en-US" sz="2200" dirty="0" smtClean="0"/>
          </a:p>
          <a:p>
            <a:r>
              <a:rPr lang="en-US" sz="2200" dirty="0" smtClean="0"/>
              <a:t>User (SPA) ---&gt; Web server (API) ---&gt; Database server 1 ---&gt; Down.</a:t>
            </a:r>
          </a:p>
          <a:p>
            <a:pPr>
              <a:buNone/>
            </a:pPr>
            <a:r>
              <a:rPr lang="en-US" sz="2200" dirty="0" smtClean="0"/>
              <a:t>		                         (automated) ---&gt; Database server 2 (Backup, Up)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 High Availability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User (SPA) ---&gt; Web server (API) ---&gt; Database server 1 ---&gt; Down.</a:t>
            </a:r>
          </a:p>
          <a:p>
            <a:pPr>
              <a:buNone/>
            </a:pPr>
            <a:r>
              <a:rPr lang="en-US" sz="2200" dirty="0" smtClean="0"/>
              <a:t>		                         (automated) ---&gt; Database server 2 (Backup, Up)</a:t>
            </a:r>
          </a:p>
          <a:p>
            <a:pPr>
              <a:buNone/>
            </a:pPr>
            <a:r>
              <a:rPr lang="en-US" sz="2200" dirty="0" smtClean="0"/>
              <a:t>---</a:t>
            </a:r>
          </a:p>
          <a:p>
            <a:pPr>
              <a:buNone/>
            </a:pPr>
            <a:r>
              <a:rPr lang="en-US" sz="2200" dirty="0" smtClean="0"/>
              <a:t>Approach:</a:t>
            </a:r>
          </a:p>
          <a:p>
            <a:r>
              <a:rPr lang="en-US" sz="2200" dirty="0" smtClean="0"/>
              <a:t>Replication/Synchronization   --&gt; Tool? --&gt; How?</a:t>
            </a:r>
          </a:p>
          <a:p>
            <a:pPr lvl="1"/>
            <a:r>
              <a:rPr lang="en-US" sz="2200" dirty="0" err="1" smtClean="0"/>
              <a:t>MongDB</a:t>
            </a:r>
            <a:endParaRPr lang="en-US" sz="2200" dirty="0" smtClean="0"/>
          </a:p>
          <a:p>
            <a:pPr lvl="1"/>
            <a:r>
              <a:rPr lang="en-US" sz="2200" dirty="0" smtClean="0"/>
              <a:t>MS SQL, Oracle.</a:t>
            </a:r>
            <a:endParaRPr lang="en-US" sz="2600" dirty="0" smtClean="0"/>
          </a:p>
          <a:p>
            <a:r>
              <a:rPr lang="en-US" sz="2200" dirty="0" smtClean="0"/>
              <a:t>Mechanism -&gt; Switching 1 -&gt; 2 --&gt; Tool? --&gt; How?</a:t>
            </a:r>
          </a:p>
          <a:p>
            <a:r>
              <a:rPr lang="en-US" sz="2200" dirty="0" err="1" smtClean="0"/>
              <a:t>Ubuntu</a:t>
            </a:r>
            <a:r>
              <a:rPr lang="en-US" sz="2200" dirty="0" smtClean="0"/>
              <a:t>: less issues.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 Scalability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User (SPA) ---&gt; Web server (API) ---&gt;	Database server 1. (X)</a:t>
            </a:r>
          </a:p>
          <a:p>
            <a:pPr>
              <a:buNone/>
            </a:pPr>
            <a:r>
              <a:rPr lang="en-US" sz="2200" dirty="0" smtClean="0"/>
              <a:t>			     (automated) 	     ---&gt;	Database server 2, 3 (backup)</a:t>
            </a:r>
          </a:p>
          <a:p>
            <a:pPr>
              <a:buNone/>
            </a:pPr>
            <a:r>
              <a:rPr lang="en-US" sz="2200" dirty="0" smtClean="0"/>
              <a:t>						(1 - 500.000) -id</a:t>
            </a:r>
          </a:p>
          <a:p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					    ---&gt;	Database server 4. (X)</a:t>
            </a:r>
          </a:p>
          <a:p>
            <a:pPr>
              <a:buNone/>
            </a:pPr>
            <a:r>
              <a:rPr lang="en-US" sz="2200" smtClean="0"/>
              <a:t>	</a:t>
            </a:r>
            <a:r>
              <a:rPr lang="en-US" sz="2200" dirty="0" smtClean="0"/>
              <a:t>				    ---&gt;	Database server 5, 6 (backup)</a:t>
            </a:r>
          </a:p>
          <a:p>
            <a:pPr>
              <a:buNone/>
            </a:pPr>
            <a:r>
              <a:rPr lang="en-US" sz="2200" dirty="0" smtClean="0"/>
              <a:t>						(500.001 -  1.000.000) -id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 Scalability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User (SPA) ---&gt; Web server (API) ---&gt;	Database server 1. (X)</a:t>
            </a:r>
          </a:p>
          <a:p>
            <a:pPr>
              <a:buNone/>
            </a:pPr>
            <a:r>
              <a:rPr lang="en-US" sz="2200" dirty="0" smtClean="0"/>
              <a:t>			     (automated) 	     ---&gt;	Database server 2, 3 (backup)</a:t>
            </a:r>
          </a:p>
          <a:p>
            <a:pPr>
              <a:buNone/>
            </a:pPr>
            <a:r>
              <a:rPr lang="en-US" sz="2200" dirty="0" smtClean="0"/>
              <a:t>						(1 - 500.000) -id</a:t>
            </a:r>
          </a:p>
          <a:p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					    ---&gt;	Database server 4. (X)</a:t>
            </a:r>
          </a:p>
          <a:p>
            <a:pPr>
              <a:buNone/>
            </a:pPr>
            <a:r>
              <a:rPr lang="en-US" sz="2200" dirty="0" smtClean="0"/>
              <a:t>					    ---&gt;	Database server 5, 6 (backup)</a:t>
            </a:r>
          </a:p>
          <a:p>
            <a:pPr>
              <a:buNone/>
            </a:pPr>
            <a:r>
              <a:rPr lang="en-US" sz="2200" dirty="0" smtClean="0"/>
              <a:t>						(500.001 -  1.000.000) -id</a:t>
            </a:r>
          </a:p>
          <a:p>
            <a:pPr>
              <a:buNone/>
            </a:pPr>
            <a:r>
              <a:rPr lang="en-US" sz="2200" dirty="0" smtClean="0"/>
              <a:t>---</a:t>
            </a:r>
          </a:p>
          <a:p>
            <a:pPr>
              <a:buNone/>
            </a:pPr>
            <a:r>
              <a:rPr lang="en-US" sz="2200" dirty="0" smtClean="0"/>
              <a:t>Approach:</a:t>
            </a:r>
          </a:p>
          <a:p>
            <a:pPr>
              <a:buNone/>
            </a:pPr>
            <a:r>
              <a:rPr lang="en-US" sz="2200" dirty="0" smtClean="0"/>
              <a:t>Developers: Install and configure software.</a:t>
            </a:r>
          </a:p>
          <a:p>
            <a:pPr>
              <a:buNone/>
            </a:pPr>
            <a:r>
              <a:rPr lang="en-US" sz="2200" dirty="0" smtClean="0"/>
              <a:t>Concepts: Configuration server, Replica, Hashed key.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MongoDB</a:t>
            </a:r>
            <a:r>
              <a:rPr lang="en-US" dirty="0" smtClean="0"/>
              <a:t>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sz="1900" dirty="0" smtClean="0">
                <a:hlinkClick r:id="rId2"/>
              </a:rPr>
              <a:t>https://docs.mongodb.com/manual/tutorial/install-mongodb-on-windows/</a:t>
            </a:r>
            <a:endParaRPr lang="en-US" sz="1900" dirty="0" smtClean="0"/>
          </a:p>
          <a:p>
            <a:r>
              <a:rPr lang="en-US" sz="1900" dirty="0" smtClean="0"/>
              <a:t>Add “</a:t>
            </a:r>
            <a:r>
              <a:rPr lang="en-US" sz="1900" b="1" dirty="0" smtClean="0">
                <a:latin typeface="Consolas" pitchFamily="49" charset="0"/>
              </a:rPr>
              <a:t>C:\Program Files\</a:t>
            </a:r>
            <a:r>
              <a:rPr lang="en-US" sz="1900" b="1" dirty="0" err="1" smtClean="0">
                <a:latin typeface="Consolas" pitchFamily="49" charset="0"/>
              </a:rPr>
              <a:t>MongoDB</a:t>
            </a:r>
            <a:r>
              <a:rPr lang="en-US" sz="1900" b="1" dirty="0" smtClean="0">
                <a:latin typeface="Consolas" pitchFamily="49" charset="0"/>
              </a:rPr>
              <a:t>\Server\4.4\bin</a:t>
            </a:r>
            <a:r>
              <a:rPr lang="en-US" sz="1900" dirty="0" smtClean="0"/>
              <a:t>” to your PATH.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9850" y="2930525"/>
            <a:ext cx="3924300" cy="308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Test </a:t>
            </a:r>
            <a:r>
              <a:rPr lang="en-US" dirty="0" err="1" smtClean="0"/>
              <a:t>MongoDB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mongod</a:t>
            </a:r>
            <a:r>
              <a:rPr lang="en-US" sz="2400" dirty="0" smtClean="0">
                <a:latin typeface="Consolas" pitchFamily="49" charset="0"/>
              </a:rPr>
              <a:t> --version</a:t>
            </a:r>
          </a:p>
          <a:p>
            <a:r>
              <a:rPr lang="en-US" sz="2400" dirty="0" smtClean="0">
                <a:latin typeface="Consolas" pitchFamily="49" charset="0"/>
              </a:rPr>
              <a:t>mongo --version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495800"/>
            <a:ext cx="6838950" cy="190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1524000"/>
            <a:ext cx="4191000" cy="3992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Start </a:t>
            </a:r>
            <a:r>
              <a:rPr lang="en-US" dirty="0" err="1" smtClean="0"/>
              <a:t>MongoDB</a:t>
            </a:r>
            <a:r>
              <a:rPr lang="en-US" dirty="0" smtClean="0"/>
              <a:t>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+mj-lt"/>
                <a:hlinkClick r:id="rId2"/>
              </a:rPr>
              <a:t>https://docs.mongodb.com/manual/tutorial/manage-mongodb-processes/</a:t>
            </a:r>
            <a:endParaRPr lang="en-US" sz="1800" dirty="0" smtClean="0">
              <a:latin typeface="+mj-lt"/>
            </a:endParaRPr>
          </a:p>
          <a:p>
            <a:r>
              <a:rPr lang="en-US" sz="2600" dirty="0" smtClean="0">
                <a:latin typeface="+mj-lt"/>
              </a:rPr>
              <a:t>Create data directory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C:\data\db</a:t>
            </a:r>
          </a:p>
          <a:p>
            <a:r>
              <a:rPr lang="en-US" sz="2600" dirty="0" smtClean="0">
                <a:latin typeface="+mj-lt"/>
              </a:rPr>
              <a:t>Start a server on 27017 port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mongod</a:t>
            </a:r>
            <a:r>
              <a:rPr lang="en-US" sz="2000" dirty="0" smtClean="0">
                <a:latin typeface="Consolas" pitchFamily="49" charset="0"/>
              </a:rPr>
              <a:t> --</a:t>
            </a:r>
            <a:r>
              <a:rPr lang="en-US" sz="2000" dirty="0" err="1" smtClean="0">
                <a:latin typeface="Consolas" pitchFamily="49" charset="0"/>
              </a:rPr>
              <a:t>dbpath</a:t>
            </a:r>
            <a:r>
              <a:rPr lang="en-US" sz="2000" dirty="0" smtClean="0">
                <a:latin typeface="Consolas" pitchFamily="49" charset="0"/>
              </a:rPr>
              <a:t> C:\data\db</a:t>
            </a:r>
          </a:p>
          <a:p>
            <a:r>
              <a:rPr lang="en-US" sz="2400" dirty="0" smtClean="0">
                <a:latin typeface="Consolas" pitchFamily="49" charset="0"/>
              </a:rPr>
              <a:t>Allow remote connections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mongod</a:t>
            </a:r>
            <a:r>
              <a:rPr lang="en-US" sz="2000" dirty="0" smtClean="0">
                <a:latin typeface="Consolas" pitchFamily="49" charset="0"/>
              </a:rPr>
              <a:t> --</a:t>
            </a:r>
            <a:r>
              <a:rPr lang="en-US" sz="2000" dirty="0" err="1" smtClean="0">
                <a:latin typeface="Consolas" pitchFamily="49" charset="0"/>
              </a:rPr>
              <a:t>dbpath</a:t>
            </a:r>
            <a:r>
              <a:rPr lang="en-US" sz="2000" dirty="0" smtClean="0">
                <a:latin typeface="Consolas" pitchFamily="49" charset="0"/>
              </a:rPr>
              <a:t> C:\data\db --port 27017 </a:t>
            </a:r>
            <a:r>
              <a:rPr lang="en-US" sz="2000" b="1" dirty="0" smtClean="0">
                <a:latin typeface="Consolas" pitchFamily="49" charset="0"/>
              </a:rPr>
              <a:t>--</a:t>
            </a:r>
            <a:r>
              <a:rPr lang="en-US" sz="2000" b="1" dirty="0" err="1" smtClean="0">
                <a:latin typeface="Consolas" pitchFamily="49" charset="0"/>
              </a:rPr>
              <a:t>bind_ip</a:t>
            </a:r>
            <a:r>
              <a:rPr lang="en-US" sz="2000" b="1" dirty="0" smtClean="0">
                <a:latin typeface="Consolas" pitchFamily="49" charset="0"/>
              </a:rPr>
              <a:t> 0.0.0.0</a:t>
            </a:r>
          </a:p>
          <a:p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Connect to a </a:t>
            </a:r>
            <a:r>
              <a:rPr lang="en-US" dirty="0" err="1" smtClean="0"/>
              <a:t>MongoDB</a:t>
            </a:r>
            <a:r>
              <a:rPr lang="en-US" dirty="0" smtClean="0"/>
              <a:t>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Connect to a local server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mongo</a:t>
            </a:r>
          </a:p>
          <a:p>
            <a:r>
              <a:rPr lang="en-US" sz="2600" dirty="0" smtClean="0">
                <a:latin typeface="+mj-lt"/>
              </a:rPr>
              <a:t>List your current database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db</a:t>
            </a:r>
          </a:p>
          <a:p>
            <a:r>
              <a:rPr lang="en-US" sz="2600" dirty="0" smtClean="0">
                <a:latin typeface="+mj-lt"/>
              </a:rPr>
              <a:t>View all available databases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show </a:t>
            </a:r>
            <a:r>
              <a:rPr lang="en-US" sz="2200" dirty="0" err="1" smtClean="0">
                <a:latin typeface="Consolas" pitchFamily="49" charset="0"/>
              </a:rPr>
              <a:t>dbs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600" dirty="0" smtClean="0"/>
              <a:t>Connect to remote server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mongo --host 192.168.1.22 --port 27017</a:t>
            </a:r>
          </a:p>
          <a:p>
            <a:pPr lvl="1"/>
            <a:endParaRPr lang="en-US" sz="2200" dirty="0" smtClean="0">
              <a:latin typeface="Consolas" pitchFamily="49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Open </a:t>
            </a:r>
            <a:r>
              <a:rPr lang="en-US" dirty="0" err="1" smtClean="0"/>
              <a:t>MongoDB</a:t>
            </a:r>
            <a:r>
              <a:rPr lang="en-US" dirty="0" smtClean="0"/>
              <a:t> Compass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By default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does not enable access control, so there is no default user or password.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054350"/>
            <a:ext cx="5191125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Insert and Retrieve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To create a database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use </a:t>
            </a:r>
            <a:r>
              <a:rPr lang="en-US" sz="2000" b="1" dirty="0" err="1" smtClean="0">
                <a:latin typeface="Consolas" pitchFamily="49" charset="0"/>
              </a:rPr>
              <a:t>new_test_db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600" dirty="0" smtClean="0">
                <a:latin typeface="+mj-lt"/>
              </a:rPr>
              <a:t>To add data to the database</a:t>
            </a:r>
          </a:p>
          <a:p>
            <a:pPr lvl="1"/>
            <a:r>
              <a:rPr lang="en-US" sz="2000" b="1" dirty="0" err="1" smtClean="0"/>
              <a:t>db.contacts.insert</a:t>
            </a:r>
            <a:r>
              <a:rPr lang="en-US" sz="2000" b="1" dirty="0" smtClean="0"/>
              <a:t>({</a:t>
            </a:r>
          </a:p>
          <a:p>
            <a:pPr lvl="2">
              <a:buNone/>
            </a:pPr>
            <a:r>
              <a:rPr lang="en-US" sz="2000" b="1" dirty="0" smtClean="0"/>
              <a:t>name: "Jon Wexler",</a:t>
            </a:r>
          </a:p>
          <a:p>
            <a:pPr lvl="2">
              <a:buNone/>
            </a:pPr>
            <a:r>
              <a:rPr lang="en-US" sz="2000" b="1" dirty="0" smtClean="0"/>
              <a:t>email: "jon@jonwexler.com",</a:t>
            </a:r>
          </a:p>
          <a:p>
            <a:pPr lvl="2">
              <a:buNone/>
            </a:pPr>
            <a:r>
              <a:rPr lang="en-US" sz="2000" b="1" dirty="0" smtClean="0"/>
              <a:t>note: "Decent guy."</a:t>
            </a:r>
          </a:p>
          <a:p>
            <a:pPr lvl="1">
              <a:buNone/>
            </a:pPr>
            <a:r>
              <a:rPr lang="en-US" sz="2000" b="1" dirty="0" smtClean="0"/>
              <a:t>})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db.contacts.insert</a:t>
            </a:r>
            <a:r>
              <a:rPr lang="en-US" sz="2000" b="1" dirty="0" smtClean="0">
                <a:latin typeface="Consolas" pitchFamily="49" charset="0"/>
              </a:rPr>
              <a:t>({</a:t>
            </a:r>
            <a:r>
              <a:rPr lang="en-US" sz="2000" b="1" dirty="0" err="1" smtClean="0">
                <a:latin typeface="Consolas" pitchFamily="49" charset="0"/>
              </a:rPr>
              <a:t>first_name</a:t>
            </a:r>
            <a:r>
              <a:rPr lang="en-US" sz="2000" b="1" dirty="0" smtClean="0">
                <a:latin typeface="Consolas" pitchFamily="49" charset="0"/>
              </a:rPr>
              <a:t>: "Jon", </a:t>
            </a:r>
            <a:r>
              <a:rPr lang="en-US" sz="2000" b="1" dirty="0" err="1" smtClean="0">
                <a:latin typeface="Consolas" pitchFamily="49" charset="0"/>
              </a:rPr>
              <a:t>favoriteSeason</a:t>
            </a:r>
            <a:r>
              <a:rPr lang="en-US" sz="2000" b="1" dirty="0" smtClean="0">
                <a:latin typeface="Consolas" pitchFamily="49" charset="0"/>
              </a:rPr>
              <a:t>: "spring", </a:t>
            </a:r>
            <a:r>
              <a:rPr lang="en-US" sz="2000" b="1" dirty="0" err="1" smtClean="0">
                <a:latin typeface="Consolas" pitchFamily="49" charset="0"/>
              </a:rPr>
              <a:t>countries_visited</a:t>
            </a:r>
            <a:r>
              <a:rPr lang="en-US" sz="2000" b="1" dirty="0" smtClean="0">
                <a:latin typeface="Consolas" pitchFamily="49" charset="0"/>
              </a:rPr>
              <a:t>: 42})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db.contacts.find</a:t>
            </a:r>
            <a:r>
              <a:rPr lang="en-US" sz="2000" b="1" dirty="0" smtClean="0">
                <a:latin typeface="Consolas" pitchFamily="49" charset="0"/>
              </a:rPr>
              <a:t>()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Run </a:t>
            </a:r>
            <a:r>
              <a:rPr lang="en-US" dirty="0" err="1" smtClean="0"/>
              <a:t>MongoDB</a:t>
            </a:r>
            <a:r>
              <a:rPr lang="en-US" dirty="0" smtClean="0"/>
              <a:t> Container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  <a:hlinkClick r:id="rId2"/>
              </a:rPr>
              <a:t>https://hub.docker.com/_/mongo/tags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 run -d --name 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test-mongo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smtClean="0"/>
              <a:t>-p 27017:27017 </a:t>
            </a:r>
            <a:r>
              <a:rPr lang="en-US" sz="1800" dirty="0" smtClean="0">
                <a:latin typeface="Consolas" pitchFamily="49" charset="0"/>
              </a:rPr>
              <a:t>mongo: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8.0.1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 exec -it 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test-mongo</a:t>
            </a:r>
            <a:r>
              <a:rPr lang="en-US" sz="1800" dirty="0" smtClean="0">
                <a:latin typeface="Consolas" pitchFamily="49" charset="0"/>
              </a:rPr>
              <a:t> bash</a:t>
            </a:r>
          </a:p>
          <a:p>
            <a:r>
              <a:rPr lang="en-US" sz="1800" dirty="0" err="1" smtClean="0">
                <a:latin typeface="Consolas" pitchFamily="49" charset="0"/>
              </a:rPr>
              <a:t>mongosh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smtClean="0">
                <a:latin typeface="Consolas" pitchFamily="49" charset="0"/>
              </a:rPr>
              <a:t>show </a:t>
            </a:r>
            <a:r>
              <a:rPr lang="en-US" sz="1800" dirty="0" err="1" smtClean="0">
                <a:latin typeface="Consolas" pitchFamily="49" charset="0"/>
              </a:rPr>
              <a:t>dbs</a:t>
            </a:r>
            <a:endParaRPr lang="en-US" sz="18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8100" y="3733800"/>
            <a:ext cx="6527800" cy="192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Mongo Express Container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  <a:hlinkClick r:id="rId2"/>
              </a:rPr>
              <a:t>https://hub.docker.com/_/mongo-express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 run -d -p 8081:8081 --link </a:t>
            </a:r>
            <a:r>
              <a:rPr lang="en-US" sz="1800" b="1" dirty="0" smtClean="0">
                <a:latin typeface="Consolas" pitchFamily="49" charset="0"/>
              </a:rPr>
              <a:t>test-</a:t>
            </a:r>
            <a:r>
              <a:rPr lang="en-US" sz="1800" b="1" dirty="0" err="1" smtClean="0">
                <a:latin typeface="Consolas" pitchFamily="49" charset="0"/>
              </a:rPr>
              <a:t>mongo</a:t>
            </a:r>
            <a:r>
              <a:rPr lang="en-US" sz="1800" dirty="0" err="1" smtClean="0">
                <a:latin typeface="Consolas" pitchFamily="49" charset="0"/>
              </a:rPr>
              <a:t>:mongo</a:t>
            </a:r>
            <a:r>
              <a:rPr lang="en-US" sz="1800" dirty="0" smtClean="0">
                <a:latin typeface="Consolas" pitchFamily="49" charset="0"/>
              </a:rPr>
              <a:t> -e ME_CONFIG_MONGODB_URL="mongodb://mongo:27017" mongo-express</a:t>
            </a:r>
          </a:p>
          <a:p>
            <a:r>
              <a:rPr lang="en-US" sz="1800" dirty="0" smtClean="0">
                <a:latin typeface="Consolas" pitchFamily="49" charset="0"/>
                <a:hlinkClick r:id="rId3"/>
              </a:rPr>
              <a:t>http://127.0.0.1:8081</a:t>
            </a:r>
            <a:r>
              <a:rPr lang="en-US" sz="1800" dirty="0" smtClean="0">
                <a:latin typeface="Consolas" pitchFamily="49" charset="0"/>
              </a:rPr>
              <a:t> ( admin / pass )</a:t>
            </a:r>
          </a:p>
          <a:p>
            <a:endParaRPr lang="en-US" sz="1800" dirty="0" smtClean="0">
              <a:latin typeface="Consolas" pitchFamily="49" charset="0"/>
            </a:endParaRPr>
          </a:p>
          <a:p>
            <a:endParaRPr lang="en-US" sz="1800" dirty="0" err="1" smtClean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3365137"/>
            <a:ext cx="6678767" cy="273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MongoDB</a:t>
            </a:r>
            <a:r>
              <a:rPr lang="en-US" dirty="0" smtClean="0"/>
              <a:t>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https://docs.mongodb.com/manual/tutorial/install-mongodb-on-ubuntu/</a:t>
            </a:r>
            <a:endParaRPr lang="en-US" sz="1800" dirty="0" smtClean="0"/>
          </a:p>
          <a:p>
            <a:r>
              <a:rPr lang="en-US" sz="1800" b="1" dirty="0" smtClean="0"/>
              <a:t>Import the public key used by the package management system.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wget</a:t>
            </a:r>
            <a:r>
              <a:rPr lang="en-US" sz="1400" dirty="0" smtClean="0">
                <a:latin typeface="Consolas" pitchFamily="49" charset="0"/>
              </a:rPr>
              <a:t> -</a:t>
            </a:r>
            <a:r>
              <a:rPr lang="en-US" sz="1400" dirty="0" err="1" smtClean="0">
                <a:latin typeface="Consolas" pitchFamily="49" charset="0"/>
              </a:rPr>
              <a:t>qO</a:t>
            </a:r>
            <a:r>
              <a:rPr lang="en-US" sz="1400" dirty="0" smtClean="0">
                <a:latin typeface="Consolas" pitchFamily="49" charset="0"/>
              </a:rPr>
              <a:t> - https://www.mongodb.org/static/pgp/server-4.4.asc | </a:t>
            </a:r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apt-key add -</a:t>
            </a:r>
          </a:p>
          <a:p>
            <a:r>
              <a:rPr lang="en-US" sz="1800" b="1" dirty="0" smtClean="0"/>
              <a:t>Create a list file for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.</a:t>
            </a:r>
          </a:p>
          <a:p>
            <a:pPr lvl="1"/>
            <a:r>
              <a:rPr lang="en-US" sz="1400" dirty="0" smtClean="0">
                <a:latin typeface="Consolas" pitchFamily="49" charset="0"/>
              </a:rPr>
              <a:t>echo "</a:t>
            </a:r>
            <a:r>
              <a:rPr lang="en-US" sz="1400" dirty="0" err="1" smtClean="0">
                <a:latin typeface="Consolas" pitchFamily="49" charset="0"/>
              </a:rPr>
              <a:t>deb</a:t>
            </a:r>
            <a:r>
              <a:rPr lang="en-US" sz="1400" dirty="0" smtClean="0">
                <a:latin typeface="Consolas" pitchFamily="49" charset="0"/>
              </a:rPr>
              <a:t> [ arch=amd64,arm64 ] https://repo.mongodb.org/apt/ubuntu bionic/</a:t>
            </a:r>
            <a:r>
              <a:rPr lang="en-US" sz="1400" dirty="0" err="1" smtClean="0">
                <a:latin typeface="Consolas" pitchFamily="49" charset="0"/>
              </a:rPr>
              <a:t>mongodb</a:t>
            </a:r>
            <a:r>
              <a:rPr lang="en-US" sz="1400" dirty="0" smtClean="0">
                <a:latin typeface="Consolas" pitchFamily="49" charset="0"/>
              </a:rPr>
              <a:t>-org/4.4 </a:t>
            </a:r>
            <a:r>
              <a:rPr lang="en-US" sz="1400" dirty="0" err="1" smtClean="0">
                <a:latin typeface="Consolas" pitchFamily="49" charset="0"/>
              </a:rPr>
              <a:t>multiverse</a:t>
            </a:r>
            <a:r>
              <a:rPr lang="en-US" sz="1400" dirty="0" smtClean="0">
                <a:latin typeface="Consolas" pitchFamily="49" charset="0"/>
              </a:rPr>
              <a:t>" | </a:t>
            </a:r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tee /etc/apt/</a:t>
            </a:r>
            <a:r>
              <a:rPr lang="en-US" sz="1400" dirty="0" err="1" smtClean="0">
                <a:latin typeface="Consolas" pitchFamily="49" charset="0"/>
              </a:rPr>
              <a:t>sources.list.d</a:t>
            </a:r>
            <a:r>
              <a:rPr lang="en-US" sz="1400" dirty="0" smtClean="0">
                <a:latin typeface="Consolas" pitchFamily="49" charset="0"/>
              </a:rPr>
              <a:t>/mongodb-org-4.4.list</a:t>
            </a:r>
          </a:p>
          <a:p>
            <a:r>
              <a:rPr lang="en-US" sz="1800" b="1" dirty="0" smtClean="0"/>
              <a:t>Reload local package database.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apt-get update</a:t>
            </a:r>
          </a:p>
          <a:p>
            <a:r>
              <a:rPr lang="en-US" sz="1800" b="1" dirty="0" smtClean="0"/>
              <a:t>Install the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 packages.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apt-get install -y </a:t>
            </a:r>
            <a:r>
              <a:rPr lang="en-US" sz="1400" dirty="0" err="1" smtClean="0">
                <a:latin typeface="Consolas" pitchFamily="49" charset="0"/>
              </a:rPr>
              <a:t>mongodb</a:t>
            </a:r>
            <a:r>
              <a:rPr lang="en-US" sz="1400" dirty="0" smtClean="0">
                <a:latin typeface="Consolas" pitchFamily="49" charset="0"/>
              </a:rPr>
              <a:t>-org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5105400"/>
            <a:ext cx="62833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</a:t>
            </a:r>
            <a:r>
              <a:rPr lang="en-US" dirty="0" err="1" smtClean="0"/>
              <a:t>MongoDB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smtClean="0">
                <a:latin typeface="+mj-lt"/>
              </a:rPr>
              <a:t>Detect init system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ps</a:t>
            </a:r>
            <a:r>
              <a:rPr lang="en-US" sz="1400" dirty="0" smtClean="0">
                <a:latin typeface="Consolas" pitchFamily="49" charset="0"/>
              </a:rPr>
              <a:t> --no-headers -o </a:t>
            </a:r>
            <a:r>
              <a:rPr lang="en-US" sz="1400" dirty="0" err="1" smtClean="0">
                <a:latin typeface="Consolas" pitchFamily="49" charset="0"/>
              </a:rPr>
              <a:t>comm</a:t>
            </a:r>
            <a:r>
              <a:rPr lang="en-US" sz="1400" dirty="0" smtClean="0">
                <a:latin typeface="Consolas" pitchFamily="49" charset="0"/>
              </a:rPr>
              <a:t> 1</a:t>
            </a:r>
          </a:p>
          <a:p>
            <a:r>
              <a:rPr lang="en-US" sz="1800" b="1" dirty="0" smtClean="0"/>
              <a:t>Start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</a:t>
            </a:r>
            <a:r>
              <a:rPr lang="en-US" sz="1400" dirty="0" err="1" smtClean="0">
                <a:latin typeface="Consolas" pitchFamily="49" charset="0"/>
              </a:rPr>
              <a:t>systemctl</a:t>
            </a:r>
            <a:r>
              <a:rPr lang="en-US" sz="1400" dirty="0" smtClean="0">
                <a:latin typeface="Consolas" pitchFamily="49" charset="0"/>
              </a:rPr>
              <a:t> start </a:t>
            </a:r>
            <a:r>
              <a:rPr lang="en-US" sz="1400" dirty="0" err="1" smtClean="0">
                <a:latin typeface="Consolas" pitchFamily="49" charset="0"/>
              </a:rPr>
              <a:t>mongod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800" b="1" dirty="0" smtClean="0"/>
              <a:t>Verify that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 has started successfully.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</a:t>
            </a:r>
            <a:r>
              <a:rPr lang="en-US" sz="1400" dirty="0" err="1" smtClean="0">
                <a:latin typeface="Consolas" pitchFamily="49" charset="0"/>
              </a:rPr>
              <a:t>systemctl</a:t>
            </a:r>
            <a:r>
              <a:rPr lang="en-US" sz="1400" dirty="0" smtClean="0">
                <a:latin typeface="Consolas" pitchFamily="49" charset="0"/>
              </a:rPr>
              <a:t> status </a:t>
            </a:r>
            <a:r>
              <a:rPr lang="en-US" sz="1400" dirty="0" err="1" smtClean="0">
                <a:latin typeface="Consolas" pitchFamily="49" charset="0"/>
              </a:rPr>
              <a:t>mongod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800" b="1" dirty="0" smtClean="0"/>
              <a:t>Stop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</a:t>
            </a:r>
            <a:r>
              <a:rPr lang="en-US" sz="1400" dirty="0" err="1" smtClean="0">
                <a:latin typeface="Consolas" pitchFamily="49" charset="0"/>
              </a:rPr>
              <a:t>systemctl</a:t>
            </a:r>
            <a:r>
              <a:rPr lang="en-US" sz="1400" dirty="0" smtClean="0">
                <a:latin typeface="Consolas" pitchFamily="49" charset="0"/>
              </a:rPr>
              <a:t> stop </a:t>
            </a:r>
            <a:r>
              <a:rPr lang="en-US" sz="1400" dirty="0" err="1" smtClean="0">
                <a:latin typeface="Consolas" pitchFamily="49" charset="0"/>
              </a:rPr>
              <a:t>mongod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800" b="1" dirty="0" smtClean="0"/>
              <a:t>Restart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sudo</a:t>
            </a:r>
            <a:r>
              <a:rPr lang="en-US" sz="1400" dirty="0" smtClean="0">
                <a:latin typeface="Consolas" pitchFamily="49" charset="0"/>
              </a:rPr>
              <a:t> </a:t>
            </a:r>
            <a:r>
              <a:rPr lang="en-US" sz="1400" dirty="0" err="1" smtClean="0">
                <a:latin typeface="Consolas" pitchFamily="49" charset="0"/>
              </a:rPr>
              <a:t>systemctl</a:t>
            </a:r>
            <a:r>
              <a:rPr lang="en-US" sz="1400" dirty="0" smtClean="0">
                <a:latin typeface="Consolas" pitchFamily="49" charset="0"/>
              </a:rPr>
              <a:t> restart </a:t>
            </a:r>
            <a:r>
              <a:rPr lang="en-US" sz="1400" dirty="0" err="1" smtClean="0">
                <a:latin typeface="Consolas" pitchFamily="49" charset="0"/>
              </a:rPr>
              <a:t>mongod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800" b="1" dirty="0" smtClean="0"/>
              <a:t>Begin using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.</a:t>
            </a:r>
          </a:p>
          <a:p>
            <a:pPr lvl="1"/>
            <a:r>
              <a:rPr lang="en-US" sz="1400" dirty="0" smtClean="0">
                <a:latin typeface="Consolas" pitchFamily="49" charset="0"/>
              </a:rPr>
              <a:t>mongo</a:t>
            </a:r>
            <a:endParaRPr lang="en-US" sz="1400" b="1" dirty="0" smtClean="0">
              <a:latin typeface="Consolas" pitchFamily="49" charset="0"/>
            </a:endParaRPr>
          </a:p>
          <a:p>
            <a:pPr lvl="1"/>
            <a:endParaRPr lang="en-US" sz="14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5257800"/>
            <a:ext cx="62833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MongoDB</a:t>
            </a:r>
            <a:r>
              <a:rPr lang="en-US" dirty="0" smtClean="0"/>
              <a:t>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https://docs.mongodb.com/manual/tutorial/install-mongodb-on-os-x/</a:t>
            </a:r>
            <a:endParaRPr lang="en-US" sz="1800" dirty="0" smtClean="0"/>
          </a:p>
          <a:p>
            <a:r>
              <a:rPr lang="en-US" sz="1800" b="1" dirty="0" smtClean="0"/>
              <a:t>Install the </a:t>
            </a:r>
            <a:r>
              <a:rPr lang="en-US" sz="1800" b="1" dirty="0" err="1" smtClean="0"/>
              <a:t>Xcode</a:t>
            </a:r>
            <a:r>
              <a:rPr lang="en-US" sz="1800" b="1" dirty="0" smtClean="0"/>
              <a:t> command-line tools.</a:t>
            </a:r>
          </a:p>
          <a:p>
            <a:pPr lvl="1"/>
            <a:r>
              <a:rPr lang="en-US" sz="1400" dirty="0" err="1" smtClean="0">
                <a:latin typeface="Consolas" pitchFamily="49" charset="0"/>
              </a:rPr>
              <a:t>xcode</a:t>
            </a:r>
            <a:r>
              <a:rPr lang="en-US" sz="1400" dirty="0" smtClean="0">
                <a:latin typeface="Consolas" pitchFamily="49" charset="0"/>
              </a:rPr>
              <a:t>-select --install</a:t>
            </a:r>
          </a:p>
          <a:p>
            <a:r>
              <a:rPr lang="en-US" sz="1800" b="1" dirty="0" smtClean="0"/>
              <a:t>Install Homebrew</a:t>
            </a:r>
          </a:p>
          <a:p>
            <a:pPr lvl="1"/>
            <a:r>
              <a:rPr lang="en-US" sz="1400" dirty="0" smtClean="0">
                <a:latin typeface="Consolas" pitchFamily="49" charset="0"/>
              </a:rPr>
              <a:t>/bin/bash -c "$(curl -</a:t>
            </a:r>
            <a:r>
              <a:rPr lang="en-US" sz="1400" dirty="0" err="1" smtClean="0">
                <a:latin typeface="Consolas" pitchFamily="49" charset="0"/>
              </a:rPr>
              <a:t>fsSL</a:t>
            </a:r>
            <a:r>
              <a:rPr lang="en-US" sz="1400" dirty="0" smtClean="0">
                <a:latin typeface="Consolas" pitchFamily="49" charset="0"/>
              </a:rPr>
              <a:t> https://raw.githubusercontent.com/Homebrew/install/HEAD/install.sh)"</a:t>
            </a:r>
          </a:p>
          <a:p>
            <a:r>
              <a:rPr lang="en-US" sz="1800" b="1" dirty="0" smtClean="0"/>
              <a:t>Download the official Homebrew formula for </a:t>
            </a:r>
            <a:r>
              <a:rPr lang="en-US" sz="1800" b="1" dirty="0" err="1" smtClean="0"/>
              <a:t>MongoDB</a:t>
            </a:r>
            <a:r>
              <a:rPr lang="en-US" sz="1800" b="1" dirty="0" smtClean="0"/>
              <a:t> and the Database Tools. Homebrew Formulae is an online package browser for Homebrew – the </a:t>
            </a:r>
            <a:r>
              <a:rPr lang="en-US" sz="1800" b="1" dirty="0" err="1" smtClean="0"/>
              <a:t>macOS</a:t>
            </a:r>
            <a:r>
              <a:rPr lang="en-US" sz="1800" b="1" dirty="0" smtClean="0"/>
              <a:t> (and Linux) package manager.</a:t>
            </a:r>
          </a:p>
          <a:p>
            <a:pPr lvl="1"/>
            <a:r>
              <a:rPr lang="en-US" sz="1400" dirty="0" smtClean="0">
                <a:latin typeface="Consolas" pitchFamily="49" charset="0"/>
              </a:rPr>
              <a:t>brew tap </a:t>
            </a:r>
            <a:r>
              <a:rPr lang="en-US" sz="1400" dirty="0" err="1" smtClean="0">
                <a:latin typeface="Consolas" pitchFamily="49" charset="0"/>
              </a:rPr>
              <a:t>mongodb</a:t>
            </a:r>
            <a:r>
              <a:rPr lang="en-US" sz="1400" dirty="0" smtClean="0">
                <a:latin typeface="Consolas" pitchFamily="49" charset="0"/>
              </a:rPr>
              <a:t>/brew</a:t>
            </a:r>
          </a:p>
          <a:p>
            <a:r>
              <a:rPr lang="en-US" sz="1800" b="1" dirty="0" smtClean="0"/>
              <a:t>Install </a:t>
            </a:r>
            <a:r>
              <a:rPr lang="en-US" sz="1800" b="1" dirty="0" err="1" smtClean="0"/>
              <a:t>MongoDB</a:t>
            </a:r>
            <a:endParaRPr lang="en-US" sz="1800" b="1" dirty="0" smtClean="0"/>
          </a:p>
          <a:p>
            <a:pPr lvl="1"/>
            <a:r>
              <a:rPr lang="en-US" sz="1400" dirty="0" smtClean="0">
                <a:latin typeface="Consolas" pitchFamily="49" charset="0"/>
              </a:rPr>
              <a:t>brew install mongodb-community@4.4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5181600"/>
            <a:ext cx="62833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</a:t>
            </a:r>
            <a:r>
              <a:rPr lang="en-US" dirty="0" err="1" smtClean="0"/>
              <a:t>MongoDB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mongod</a:t>
            </a:r>
            <a:r>
              <a:rPr lang="en-US" sz="2400" dirty="0" smtClean="0">
                <a:latin typeface="Consolas" pitchFamily="49" charset="0"/>
              </a:rPr>
              <a:t> --version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438400"/>
            <a:ext cx="7481888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Document</a:t>
            </a:r>
            <a:r>
              <a:rPr lang="en-US" sz="2600" dirty="0" smtClean="0"/>
              <a:t>: an ordered set of keys with associated values.</a:t>
            </a:r>
          </a:p>
          <a:p>
            <a:r>
              <a:rPr lang="en-US" sz="2600" dirty="0" smtClean="0"/>
              <a:t>Examples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{"greeting" : "Hello, world!"}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{"greeting" : "Hello, world!", "views" : 3}</a:t>
            </a:r>
          </a:p>
          <a:p>
            <a:r>
              <a:rPr lang="en-US" sz="2600" dirty="0" smtClean="0"/>
              <a:t>Documents in </a:t>
            </a:r>
            <a:r>
              <a:rPr lang="en-US" sz="2600" dirty="0" err="1" smtClean="0"/>
              <a:t>MongoDB</a:t>
            </a:r>
            <a:r>
              <a:rPr lang="en-US" sz="2600" dirty="0" smtClean="0"/>
              <a:t> cannot contain </a:t>
            </a:r>
            <a:r>
              <a:rPr lang="en-US" sz="2600" i="1" dirty="0" smtClean="0">
                <a:solidFill>
                  <a:srgbClr val="C00000"/>
                </a:solidFill>
              </a:rPr>
              <a:t>duplicate</a:t>
            </a:r>
            <a:r>
              <a:rPr lang="en-US" sz="2600" dirty="0" smtClean="0"/>
              <a:t> keys.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{"greeting" : "Hello, world!", "greeting" : "Hello, </a:t>
            </a:r>
            <a:r>
              <a:rPr lang="en-US" sz="2200" dirty="0" err="1" smtClean="0">
                <a:latin typeface="Consolas" pitchFamily="49" charset="0"/>
              </a:rPr>
              <a:t>MongoDB</a:t>
            </a:r>
            <a:r>
              <a:rPr lang="en-US" sz="2200" dirty="0" smtClean="0">
                <a:latin typeface="Consolas" pitchFamily="49" charset="0"/>
              </a:rPr>
              <a:t>!"} (invalid document)</a:t>
            </a:r>
          </a:p>
          <a:p>
            <a:r>
              <a:rPr lang="en-US" sz="2600" dirty="0" smtClean="0"/>
              <a:t>A document is the </a:t>
            </a:r>
            <a:r>
              <a:rPr lang="en-US" sz="2600" dirty="0" err="1" smtClean="0"/>
              <a:t>MongoDB</a:t>
            </a:r>
            <a:r>
              <a:rPr lang="en-US" sz="2600" dirty="0" smtClean="0"/>
              <a:t> </a:t>
            </a:r>
            <a:r>
              <a:rPr lang="en-US" sz="2600" i="1" dirty="0" smtClean="0">
                <a:solidFill>
                  <a:srgbClr val="C00000"/>
                </a:solidFill>
              </a:rPr>
              <a:t>analog of a row</a:t>
            </a:r>
            <a:r>
              <a:rPr lang="en-US" sz="2600" dirty="0" smtClean="0"/>
              <a:t> in a relational database.</a:t>
            </a:r>
            <a:endParaRPr lang="en-US" sz="26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latin typeface="+mj-lt"/>
              </a:rPr>
              <a:t>A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collection</a:t>
            </a:r>
            <a:r>
              <a:rPr lang="en-US" sz="2600" dirty="0" smtClean="0">
                <a:latin typeface="+mj-lt"/>
              </a:rPr>
              <a:t> is a </a:t>
            </a:r>
            <a:r>
              <a:rPr lang="en-US" sz="2600" u="sng" dirty="0" smtClean="0">
                <a:latin typeface="+mj-lt"/>
              </a:rPr>
              <a:t>group of documents</a:t>
            </a:r>
            <a:r>
              <a:rPr lang="en-US" sz="2600" dirty="0" smtClean="0">
                <a:latin typeface="+mj-lt"/>
              </a:rPr>
              <a:t>.</a:t>
            </a:r>
          </a:p>
          <a:p>
            <a:r>
              <a:rPr lang="en-US" sz="2600" dirty="0" smtClean="0">
                <a:latin typeface="+mj-lt"/>
              </a:rPr>
              <a:t>A collection can be thought of as the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analog to a table</a:t>
            </a:r>
            <a:r>
              <a:rPr lang="en-US" sz="2600" dirty="0" smtClean="0">
                <a:latin typeface="+mj-lt"/>
              </a:rPr>
              <a:t> row in a relational database.</a:t>
            </a:r>
          </a:p>
          <a:p>
            <a:r>
              <a:rPr lang="en-US" sz="2600" dirty="0" smtClean="0">
                <a:latin typeface="+mj-lt"/>
              </a:rPr>
              <a:t>Collections have dynamic schemas. This means that the documents within a single collection can have any number of different “shapes.”</a:t>
            </a:r>
          </a:p>
          <a:p>
            <a:r>
              <a:rPr lang="en-US" sz="2600" dirty="0" smtClean="0">
                <a:latin typeface="+mj-lt"/>
              </a:rPr>
              <a:t>Examples: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{"greeting" : "Hello, world!", "views": 3}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{"signoff": "Good night, and good luck"}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err="1" smtClean="0">
                <a:latin typeface="+mj-lt"/>
              </a:rPr>
              <a:t>MongoDB</a:t>
            </a:r>
            <a:r>
              <a:rPr lang="en-US" sz="2600" dirty="0" smtClean="0">
                <a:latin typeface="+mj-lt"/>
              </a:rPr>
              <a:t> groups collections into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databases</a:t>
            </a:r>
            <a:r>
              <a:rPr lang="en-US" sz="2600" dirty="0" smtClean="0">
                <a:latin typeface="+mj-lt"/>
              </a:rPr>
              <a:t>.</a:t>
            </a:r>
          </a:p>
          <a:p>
            <a:r>
              <a:rPr lang="en-US" sz="2600" dirty="0" smtClean="0">
                <a:latin typeface="+mj-lt"/>
              </a:rPr>
              <a:t>A single instance of </a:t>
            </a:r>
            <a:r>
              <a:rPr lang="en-US" sz="2600" dirty="0" err="1" smtClean="0">
                <a:latin typeface="+mj-lt"/>
              </a:rPr>
              <a:t>MongoDB</a:t>
            </a:r>
            <a:r>
              <a:rPr lang="en-US" sz="2600" dirty="0" smtClean="0">
                <a:latin typeface="+mj-lt"/>
              </a:rPr>
              <a:t> can host several databases, each grouping together zero or more collections.</a:t>
            </a:r>
          </a:p>
          <a:p>
            <a:r>
              <a:rPr lang="en-US" sz="2600" dirty="0" smtClean="0">
                <a:latin typeface="+mj-lt"/>
              </a:rPr>
              <a:t>There are also some reserved database names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admin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local</a:t>
            </a:r>
          </a:p>
          <a:p>
            <a:pPr lvl="1"/>
            <a:r>
              <a:rPr lang="en-US" sz="2200" dirty="0" err="1" smtClean="0">
                <a:latin typeface="Consolas" pitchFamily="49" charset="0"/>
              </a:rPr>
              <a:t>config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Show current database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db</a:t>
            </a:r>
          </a:p>
          <a:p>
            <a:r>
              <a:rPr lang="en-US" sz="2600" dirty="0" smtClean="0"/>
              <a:t>Switch to another database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use admin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use test</a:t>
            </a:r>
          </a:p>
          <a:p>
            <a:pPr lvl="1"/>
            <a:endParaRPr lang="en-US" sz="2400" dirty="0" smtClean="0">
              <a:latin typeface="Consolas" pitchFamily="49" charset="0"/>
            </a:endParaRPr>
          </a:p>
          <a:p>
            <a:pPr lvl="1"/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Collections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Drop a collection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use test</a:t>
            </a:r>
          </a:p>
          <a:p>
            <a:pPr lvl="1"/>
            <a:r>
              <a:rPr lang="en-US" sz="2400" dirty="0" err="1" smtClean="0">
                <a:latin typeface="Consolas" pitchFamily="49" charset="0"/>
              </a:rPr>
              <a:t>db.users.drop</a:t>
            </a:r>
            <a:r>
              <a:rPr lang="en-US" sz="2400" dirty="0" smtClean="0">
                <a:latin typeface="Consolas" pitchFamily="49" charset="0"/>
              </a:rPr>
              <a:t>();</a:t>
            </a:r>
          </a:p>
          <a:p>
            <a:pPr lvl="1"/>
            <a:endParaRPr lang="en-US" sz="2400" dirty="0" smtClean="0">
              <a:latin typeface="Consolas" pitchFamily="49" charset="0"/>
            </a:endParaRPr>
          </a:p>
          <a:p>
            <a:pPr lvl="1"/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</a:rPr>
              <a:t>_id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Every document stored in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</a:t>
            </a:r>
            <a:r>
              <a:rPr lang="en-US" sz="2800" i="1" dirty="0" smtClean="0">
                <a:solidFill>
                  <a:srgbClr val="C00000"/>
                </a:solidFill>
              </a:rPr>
              <a:t>must have</a:t>
            </a:r>
            <a:r>
              <a:rPr lang="en-US" sz="2800" dirty="0" smtClean="0"/>
              <a:t> an "_id" key.</a:t>
            </a:r>
          </a:p>
          <a:p>
            <a:r>
              <a:rPr lang="en-US" sz="2800" dirty="0" smtClean="0"/>
              <a:t>The "_id" key’s value can be any type, but it defaults to an </a:t>
            </a:r>
            <a:r>
              <a:rPr lang="en-US" sz="2800" b="1" dirty="0" err="1" smtClean="0">
                <a:latin typeface="Consolas" pitchFamily="49" charset="0"/>
              </a:rPr>
              <a:t>ObjectId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In a single collection, every document must have a unique value for "_id", which ensures that every document in a collection can be uniquely identified.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ObjectId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err="1" smtClean="0">
                <a:latin typeface="Consolas" pitchFamily="49" charset="0"/>
              </a:rPr>
              <a:t>ObjectId</a:t>
            </a:r>
            <a:r>
              <a:rPr lang="en-US" sz="2000" dirty="0" smtClean="0"/>
              <a:t> is the default type for "_id".</a:t>
            </a:r>
          </a:p>
          <a:p>
            <a:r>
              <a:rPr lang="en-US" sz="2000" dirty="0" smtClean="0"/>
              <a:t>The </a:t>
            </a:r>
            <a:r>
              <a:rPr lang="en-US" sz="2000" i="1" dirty="0" err="1" smtClean="0">
                <a:solidFill>
                  <a:srgbClr val="C00000"/>
                </a:solidFill>
                <a:latin typeface="Consolas" pitchFamily="49" charset="0"/>
              </a:rPr>
              <a:t>ObjectId</a:t>
            </a:r>
            <a:r>
              <a:rPr lang="en-US" sz="2000" i="1" dirty="0" smtClean="0">
                <a:solidFill>
                  <a:srgbClr val="C00000"/>
                </a:solidFill>
              </a:rPr>
              <a:t> class</a:t>
            </a:r>
            <a:r>
              <a:rPr lang="en-US" sz="2000" dirty="0" smtClean="0"/>
              <a:t> is designed to be lightweight, while still being easy to generate in </a:t>
            </a:r>
            <a:r>
              <a:rPr lang="en-US" sz="2000" u="sng" dirty="0" smtClean="0"/>
              <a:t>a globally unique way</a:t>
            </a:r>
            <a:r>
              <a:rPr lang="en-US" sz="2000" dirty="0" smtClean="0"/>
              <a:t> across different machines.</a:t>
            </a:r>
          </a:p>
          <a:p>
            <a:r>
              <a:rPr lang="en-US" sz="2000" dirty="0" err="1" smtClean="0"/>
              <a:t>MongoDB’s</a:t>
            </a:r>
            <a:r>
              <a:rPr lang="en-US" sz="2000" dirty="0" smtClean="0"/>
              <a:t> distributed nature is the main reason why it uses </a:t>
            </a:r>
            <a:r>
              <a:rPr lang="en-US" sz="2000" dirty="0" err="1" smtClean="0"/>
              <a:t>ObjectIds</a:t>
            </a:r>
            <a:r>
              <a:rPr lang="en-US" sz="2000" dirty="0" smtClean="0"/>
              <a:t> as opposed to something more traditional, like an </a:t>
            </a:r>
            <a:r>
              <a:rPr lang="en-US" sz="2000" dirty="0" err="1" smtClean="0"/>
              <a:t>autoincrementing</a:t>
            </a:r>
            <a:r>
              <a:rPr lang="en-US" sz="2000" dirty="0" smtClean="0"/>
              <a:t> primary key: it is difficult and time-consuming to synchronize </a:t>
            </a:r>
            <a:r>
              <a:rPr lang="en-US" sz="2000" dirty="0" err="1" smtClean="0"/>
              <a:t>autoincrementing</a:t>
            </a:r>
            <a:r>
              <a:rPr lang="en-US" sz="2000" dirty="0" smtClean="0"/>
              <a:t> primary keys across multiple servers.</a:t>
            </a:r>
          </a:p>
          <a:p>
            <a:r>
              <a:rPr lang="en-US" sz="2000" dirty="0" smtClean="0"/>
              <a:t>Because </a:t>
            </a:r>
            <a:r>
              <a:rPr lang="en-US" sz="2000" dirty="0" err="1" smtClean="0"/>
              <a:t>MongoDB</a:t>
            </a:r>
            <a:r>
              <a:rPr lang="en-US" sz="2000" dirty="0" smtClean="0"/>
              <a:t> was designed to be a distributed database, it was important to be able to </a:t>
            </a:r>
            <a:r>
              <a:rPr lang="en-US" sz="2000" i="1" dirty="0" smtClean="0">
                <a:solidFill>
                  <a:srgbClr val="C00000"/>
                </a:solidFill>
              </a:rPr>
              <a:t>generate unique identifiers</a:t>
            </a:r>
            <a:r>
              <a:rPr lang="en-US" sz="2000" dirty="0" smtClean="0"/>
              <a:t> in a </a:t>
            </a:r>
            <a:r>
              <a:rPr lang="en-US" sz="2000" dirty="0" err="1" smtClean="0"/>
              <a:t>sharded</a:t>
            </a:r>
            <a:r>
              <a:rPr lang="en-US" sz="2000" dirty="0" smtClean="0"/>
              <a:t> environment.</a:t>
            </a:r>
          </a:p>
          <a:p>
            <a:r>
              <a:rPr lang="en-US" sz="2000" dirty="0" err="1" smtClean="0"/>
              <a:t>ObjectIds</a:t>
            </a:r>
            <a:r>
              <a:rPr lang="en-US" sz="2000" dirty="0" smtClean="0"/>
              <a:t> use 12 bytes of storage, which gives them a string representation that is 24 hexadecimal digits: 2 digits for each byte.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Documents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use test</a:t>
            </a:r>
          </a:p>
          <a:p>
            <a:r>
              <a:rPr lang="en-US" sz="2000" dirty="0" err="1" smtClean="0">
                <a:latin typeface="Consolas" pitchFamily="49" charset="0"/>
              </a:rPr>
              <a:t>db.users.insert</a:t>
            </a:r>
            <a:r>
              <a:rPr lang="en-US" sz="2000" dirty="0" smtClean="0">
                <a:latin typeface="Consolas" pitchFamily="49" charset="0"/>
              </a:rPr>
              <a:t>({"email": "email0", "password": "password0"})</a:t>
            </a:r>
          </a:p>
          <a:p>
            <a:r>
              <a:rPr lang="en-US" sz="2000" dirty="0" err="1" smtClean="0">
                <a:latin typeface="Consolas" pitchFamily="49" charset="0"/>
              </a:rPr>
              <a:t>db.users.insert</a:t>
            </a:r>
            <a:r>
              <a:rPr lang="en-US" sz="2000" dirty="0" smtClean="0">
                <a:latin typeface="Consolas" pitchFamily="49" charset="0"/>
              </a:rPr>
              <a:t>({"email": "email" + 1, "password": "password" + 1})</a:t>
            </a:r>
          </a:p>
          <a:p>
            <a:r>
              <a:rPr lang="en-US" sz="2000" dirty="0" smtClean="0">
                <a:latin typeface="Consolas" pitchFamily="49" charset="0"/>
              </a:rPr>
              <a:t>for (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=2;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&lt;1000;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++) {</a:t>
            </a:r>
            <a:r>
              <a:rPr lang="en-US" sz="2000" dirty="0" err="1" smtClean="0">
                <a:latin typeface="Consolas" pitchFamily="49" charset="0"/>
              </a:rPr>
              <a:t>db.users.insert</a:t>
            </a:r>
            <a:r>
              <a:rPr lang="en-US" sz="2000" dirty="0" smtClean="0">
                <a:latin typeface="Consolas" pitchFamily="49" charset="0"/>
              </a:rPr>
              <a:t>({"email": "email" +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, "password": "password" +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})}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db.users.count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err="1" smtClean="0">
                <a:latin typeface="Consolas" pitchFamily="49" charset="0"/>
              </a:rPr>
              <a:t>db.users.find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000" dirty="0" err="1" smtClean="0">
                <a:latin typeface="Consolas" pitchFamily="49" charset="0"/>
              </a:rPr>
              <a:t>db.users.remove</a:t>
            </a:r>
            <a:r>
              <a:rPr lang="en-US" sz="2000" dirty="0" smtClean="0">
                <a:latin typeface="Consolas" pitchFamily="49" charset="0"/>
              </a:rPr>
              <a:t>({})</a:t>
            </a:r>
          </a:p>
          <a:p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Documents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use test</a:t>
            </a:r>
          </a:p>
          <a:p>
            <a:r>
              <a:rPr lang="en-US" sz="2000" dirty="0" err="1" smtClean="0">
                <a:latin typeface="Consolas" pitchFamily="49" charset="0"/>
              </a:rPr>
              <a:t>db.users.insert</a:t>
            </a:r>
            <a:r>
              <a:rPr lang="en-US" sz="2000" dirty="0" smtClean="0">
                <a:latin typeface="Consolas" pitchFamily="49" charset="0"/>
              </a:rPr>
              <a:t>({"_id": 0, "email": "email0", "password": "password0"})</a:t>
            </a:r>
          </a:p>
          <a:p>
            <a:r>
              <a:rPr lang="en-US" sz="2000" dirty="0" err="1" smtClean="0">
                <a:latin typeface="Consolas" pitchFamily="49" charset="0"/>
              </a:rPr>
              <a:t>db.users.insert</a:t>
            </a:r>
            <a:r>
              <a:rPr lang="en-US" sz="2000" dirty="0" smtClean="0">
                <a:latin typeface="Consolas" pitchFamily="49" charset="0"/>
              </a:rPr>
              <a:t>({"_id": 1, "email": "email" + 1, "password": "password" + 1})</a:t>
            </a:r>
          </a:p>
          <a:p>
            <a:r>
              <a:rPr lang="en-US" sz="2000" dirty="0" smtClean="0">
                <a:latin typeface="Consolas" pitchFamily="49" charset="0"/>
              </a:rPr>
              <a:t>for (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=2;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&lt;1000;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++) {</a:t>
            </a:r>
            <a:r>
              <a:rPr lang="en-US" sz="2000" dirty="0" err="1" smtClean="0">
                <a:latin typeface="Consolas" pitchFamily="49" charset="0"/>
              </a:rPr>
              <a:t>db.users.insert</a:t>
            </a:r>
            <a:r>
              <a:rPr lang="en-US" sz="2000" dirty="0" smtClean="0">
                <a:latin typeface="Consolas" pitchFamily="49" charset="0"/>
              </a:rPr>
              <a:t>({"_id":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, "email": "email" +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, "password": "password" +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})}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db.users.count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err="1" smtClean="0">
                <a:latin typeface="Consolas" pitchFamily="49" charset="0"/>
              </a:rPr>
              <a:t>db.users.find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000" dirty="0" err="1" smtClean="0">
                <a:latin typeface="Consolas" pitchFamily="49" charset="0"/>
              </a:rPr>
              <a:t>db.users.remove</a:t>
            </a:r>
            <a:r>
              <a:rPr lang="en-US" sz="2000" dirty="0" smtClean="0">
                <a:latin typeface="Consolas" pitchFamily="49" charset="0"/>
              </a:rPr>
              <a:t>({})</a:t>
            </a:r>
          </a:p>
          <a:p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Refer to the </a:t>
            </a:r>
            <a:r>
              <a:rPr lang="en-US" b="1" dirty="0" smtClean="0"/>
              <a:t>Web Application Development</a:t>
            </a:r>
            <a:r>
              <a:rPr lang="en-US" dirty="0" smtClean="0"/>
              <a:t> course.</a:t>
            </a:r>
          </a:p>
          <a:p>
            <a:pPr lvl="1"/>
            <a:r>
              <a:rPr lang="en-US" b="1" dirty="0" smtClean="0"/>
              <a:t>10.2. Node.js and MongoDB.pptx</a:t>
            </a:r>
            <a:endParaRPr lang="en-US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Replication?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Replication</a:t>
            </a:r>
            <a:r>
              <a:rPr lang="en-US" sz="2400" dirty="0" smtClean="0"/>
              <a:t> is a way of keeping </a:t>
            </a:r>
            <a:r>
              <a:rPr lang="en-US" sz="2400" u="sng" dirty="0" smtClean="0"/>
              <a:t>identical</a:t>
            </a:r>
            <a:r>
              <a:rPr lang="en-US" sz="2400" dirty="0" smtClean="0"/>
              <a:t> copies of your data on </a:t>
            </a:r>
            <a:r>
              <a:rPr lang="en-US" sz="2400" u="sng" dirty="0" smtClean="0"/>
              <a:t>multiple servers</a:t>
            </a:r>
            <a:r>
              <a:rPr lang="en-US" sz="2400" dirty="0" smtClean="0"/>
              <a:t> and is recommended for all production deployments.</a:t>
            </a:r>
          </a:p>
        </p:txBody>
      </p:sp>
      <p:pic>
        <p:nvPicPr>
          <p:cNvPr id="1026" name="Picture 2" descr="https://cdn.hashnode.com/res/hashnode/image/upload/v1580748641192/BVzvK_v4k.png?auto=compres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4200" y="3429000"/>
            <a:ext cx="508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Replication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With </a:t>
            </a:r>
            <a:r>
              <a:rPr lang="en-US" sz="2200" dirty="0" err="1" smtClean="0"/>
              <a:t>MongoDB</a:t>
            </a:r>
            <a:r>
              <a:rPr lang="en-US" sz="2200" dirty="0" smtClean="0"/>
              <a:t>, you set up replication by creating a replica set.</a:t>
            </a:r>
          </a:p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replica set</a:t>
            </a:r>
            <a:r>
              <a:rPr lang="en-US" sz="2200" dirty="0" smtClean="0"/>
              <a:t> is </a:t>
            </a:r>
            <a:r>
              <a:rPr lang="en-US" sz="2200" u="sng" dirty="0" smtClean="0"/>
              <a:t>a group of servers</a:t>
            </a:r>
            <a:r>
              <a:rPr lang="en-US" sz="2200" dirty="0" smtClean="0"/>
              <a:t> with </a:t>
            </a:r>
            <a:r>
              <a:rPr lang="en-US" sz="2200" u="sng" dirty="0" smtClean="0"/>
              <a:t>one primary</a:t>
            </a:r>
            <a:r>
              <a:rPr lang="en-US" sz="2200" dirty="0" smtClean="0"/>
              <a:t>, the server taking writes, and </a:t>
            </a:r>
            <a:r>
              <a:rPr lang="en-US" sz="2200" u="sng" dirty="0" smtClean="0"/>
              <a:t>multiple </a:t>
            </a:r>
            <a:r>
              <a:rPr lang="en-US" sz="2200" u="sng" dirty="0" err="1" smtClean="0"/>
              <a:t>secondaries</a:t>
            </a:r>
            <a:r>
              <a:rPr lang="en-US" sz="2200" dirty="0" smtClean="0"/>
              <a:t>, servers that keep copies of the primary’s data.</a:t>
            </a:r>
          </a:p>
          <a:p>
            <a:r>
              <a:rPr lang="en-US" sz="2200" dirty="0" smtClean="0"/>
              <a:t>If the primary </a:t>
            </a:r>
            <a:r>
              <a:rPr lang="en-US" sz="2200" i="1" dirty="0" smtClean="0">
                <a:solidFill>
                  <a:srgbClr val="C00000"/>
                </a:solidFill>
              </a:rPr>
              <a:t>crashes</a:t>
            </a:r>
            <a:r>
              <a:rPr lang="en-US" sz="2200" dirty="0" smtClean="0"/>
              <a:t>, the </a:t>
            </a:r>
            <a:r>
              <a:rPr lang="en-US" sz="2200" dirty="0" err="1" smtClean="0"/>
              <a:t>secondaries</a:t>
            </a:r>
            <a:r>
              <a:rPr lang="en-US" sz="2200" dirty="0" smtClean="0"/>
              <a:t> can elect a new primary from amongst themselves.</a:t>
            </a:r>
          </a:p>
        </p:txBody>
      </p:sp>
      <p:pic>
        <p:nvPicPr>
          <p:cNvPr id="38914" name="Picture 2" descr="https://cdn.hashnode.com/res/hashnode/image/upload/v1580752780371/rR2L78t_6.png?auto=compres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886200"/>
            <a:ext cx="5588000" cy="279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Replication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Improve performance using replicas</a:t>
            </a:r>
          </a:p>
          <a:p>
            <a:endParaRPr lang="en-US" sz="2400" dirty="0"/>
          </a:p>
        </p:txBody>
      </p:sp>
      <p:pic>
        <p:nvPicPr>
          <p:cNvPr id="39938" name="Picture 2" descr="https://cdn.hashnode.com/res/hashnode/image/upload/v1580754605396/OG_XTkpK8.png?auto=compres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0"/>
            <a:ext cx="762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Clean Everything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latin typeface="+mj-lt"/>
              </a:rPr>
              <a:t>In Windows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net stop </a:t>
            </a:r>
            <a:r>
              <a:rPr lang="en-US" sz="1800" dirty="0" err="1" smtClean="0">
                <a:latin typeface="Consolas" pitchFamily="49" charset="0"/>
              </a:rPr>
              <a:t>MongoDB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2600" dirty="0" smtClean="0">
                <a:latin typeface="+mj-lt"/>
              </a:rPr>
              <a:t>In </a:t>
            </a:r>
            <a:r>
              <a:rPr lang="en-US" sz="2600" dirty="0" err="1" smtClean="0">
                <a:latin typeface="+mj-lt"/>
              </a:rPr>
              <a:t>Ubuntu</a:t>
            </a:r>
            <a:endParaRPr lang="en-US" sz="2600" dirty="0" smtClean="0">
              <a:latin typeface="+mj-lt"/>
            </a:endParaRPr>
          </a:p>
          <a:p>
            <a:pPr lvl="1"/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-s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echo "killing </a:t>
            </a:r>
            <a:r>
              <a:rPr lang="en-US" sz="1800" dirty="0" err="1" smtClean="0">
                <a:latin typeface="Consolas" pitchFamily="49" charset="0"/>
              </a:rPr>
              <a:t>mongod</a:t>
            </a:r>
            <a:r>
              <a:rPr lang="en-US" sz="1800" dirty="0" smtClean="0">
                <a:latin typeface="Consolas" pitchFamily="49" charset="0"/>
              </a:rPr>
              <a:t> and </a:t>
            </a:r>
            <a:r>
              <a:rPr lang="en-US" sz="1800" dirty="0" err="1" smtClean="0">
                <a:latin typeface="Consolas" pitchFamily="49" charset="0"/>
              </a:rPr>
              <a:t>mongos</a:t>
            </a:r>
            <a:r>
              <a:rPr lang="en-US" sz="1800" dirty="0" smtClean="0">
                <a:latin typeface="Consolas" pitchFamily="49" charset="0"/>
              </a:rPr>
              <a:t>"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killall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mongod</a:t>
            </a:r>
            <a:endParaRPr lang="en-US" sz="1800" dirty="0" smtClean="0">
              <a:latin typeface="Consolas" pitchFamily="49" charset="0"/>
            </a:endParaRPr>
          </a:p>
          <a:p>
            <a:pPr lvl="1"/>
            <a:r>
              <a:rPr lang="en-US" sz="1800" dirty="0" err="1" smtClean="0">
                <a:latin typeface="Consolas" pitchFamily="49" charset="0"/>
              </a:rPr>
              <a:t>killall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mongos</a:t>
            </a:r>
            <a:endParaRPr lang="en-US" sz="1800" dirty="0" smtClean="0">
              <a:latin typeface="Consolas" pitchFamily="49" charset="0"/>
            </a:endParaRPr>
          </a:p>
          <a:p>
            <a:pPr lvl="1"/>
            <a:r>
              <a:rPr lang="en-US" sz="1800" dirty="0" smtClean="0">
                <a:latin typeface="Consolas" pitchFamily="49" charset="0"/>
              </a:rPr>
              <a:t>echo "removing data files"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/data/</a:t>
            </a:r>
            <a:r>
              <a:rPr lang="en-US" sz="1800" dirty="0" err="1" smtClean="0">
                <a:latin typeface="Consolas" pitchFamily="49" charset="0"/>
              </a:rPr>
              <a:t>rs</a:t>
            </a:r>
            <a:r>
              <a:rPr lang="en-US" sz="1800" dirty="0" smtClean="0">
                <a:latin typeface="Consolas" pitchFamily="49" charset="0"/>
              </a:rPr>
              <a:t>*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Folders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+mj-lt"/>
              </a:rPr>
              <a:t>In Windows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md</a:t>
            </a:r>
            <a:r>
              <a:rPr lang="en-US" sz="2000" dirty="0" smtClean="0">
                <a:latin typeface="Consolas" pitchFamily="49" charset="0"/>
              </a:rPr>
              <a:t> c:\data\rs1 c:\data\rs2 c:\data\rs3</a:t>
            </a:r>
          </a:p>
          <a:p>
            <a:r>
              <a:rPr lang="en-US" sz="2800" dirty="0" smtClean="0"/>
              <a:t>In </a:t>
            </a:r>
            <a:r>
              <a:rPr lang="en-US" sz="2800" dirty="0" err="1" smtClean="0"/>
              <a:t>Ubuntu</a:t>
            </a:r>
            <a:endParaRPr lang="en-US" sz="2800" dirty="0" smtClean="0"/>
          </a:p>
          <a:p>
            <a:pPr lvl="1"/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/data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/data/rs1 /data/rs2 /data/rs3</a:t>
            </a:r>
          </a:p>
          <a:p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Start Servers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Use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Run as Administrator</a:t>
            </a:r>
            <a:r>
              <a:rPr lang="en-US" sz="2400" dirty="0" smtClean="0">
                <a:latin typeface="+mj-lt"/>
              </a:rPr>
              <a:t>.</a:t>
            </a:r>
          </a:p>
          <a:p>
            <a:r>
              <a:rPr lang="en-US" sz="1800" dirty="0" err="1" smtClean="0">
                <a:latin typeface="Consolas" pitchFamily="49" charset="0"/>
              </a:rPr>
              <a:t>mongod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bind_ip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localhost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b="1" dirty="0" smtClean="0">
                <a:latin typeface="Consolas" pitchFamily="49" charset="0"/>
              </a:rPr>
              <a:t>--</a:t>
            </a:r>
            <a:r>
              <a:rPr lang="en-US" sz="1800" b="1" dirty="0" err="1" smtClean="0">
                <a:latin typeface="Consolas" pitchFamily="49" charset="0"/>
              </a:rPr>
              <a:t>replSet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testRS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dbpath</a:t>
            </a:r>
            <a:r>
              <a:rPr lang="en-US" sz="1800" dirty="0" smtClean="0">
                <a:latin typeface="Consolas" pitchFamily="49" charset="0"/>
              </a:rPr>
              <a:t> c:\data\rs1 --port 27017 --</a:t>
            </a:r>
            <a:r>
              <a:rPr lang="en-US" sz="1800" dirty="0" err="1" smtClean="0">
                <a:latin typeface="Consolas" pitchFamily="49" charset="0"/>
              </a:rPr>
              <a:t>oplogSize</a:t>
            </a:r>
            <a:r>
              <a:rPr lang="en-US" sz="1800" dirty="0" smtClean="0">
                <a:latin typeface="Consolas" pitchFamily="49" charset="0"/>
              </a:rPr>
              <a:t> 200</a:t>
            </a:r>
          </a:p>
          <a:p>
            <a:r>
              <a:rPr lang="en-US" sz="1800" dirty="0" err="1" smtClean="0">
                <a:latin typeface="Consolas" pitchFamily="49" charset="0"/>
              </a:rPr>
              <a:t>mongod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bind_ip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localhost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b="1" dirty="0" smtClean="0">
                <a:latin typeface="Consolas" pitchFamily="49" charset="0"/>
              </a:rPr>
              <a:t>--</a:t>
            </a:r>
            <a:r>
              <a:rPr lang="en-US" sz="1800" b="1" dirty="0" err="1" smtClean="0">
                <a:latin typeface="Consolas" pitchFamily="49" charset="0"/>
              </a:rPr>
              <a:t>replSet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testRS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dbpath</a:t>
            </a:r>
            <a:r>
              <a:rPr lang="en-US" sz="1800" dirty="0" smtClean="0">
                <a:latin typeface="Consolas" pitchFamily="49" charset="0"/>
              </a:rPr>
              <a:t> c:\data\rs2 --port 27018 --</a:t>
            </a:r>
            <a:r>
              <a:rPr lang="en-US" sz="1800" dirty="0" err="1" smtClean="0">
                <a:latin typeface="Consolas" pitchFamily="49" charset="0"/>
              </a:rPr>
              <a:t>oplogSize</a:t>
            </a:r>
            <a:r>
              <a:rPr lang="en-US" sz="1800" dirty="0" smtClean="0">
                <a:latin typeface="Consolas" pitchFamily="49" charset="0"/>
              </a:rPr>
              <a:t> 200</a:t>
            </a:r>
          </a:p>
          <a:p>
            <a:r>
              <a:rPr lang="en-US" sz="1800" dirty="0" err="1" smtClean="0">
                <a:latin typeface="Consolas" pitchFamily="49" charset="0"/>
              </a:rPr>
              <a:t>mongod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bind_ip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localhost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b="1" dirty="0" smtClean="0">
                <a:latin typeface="Consolas" pitchFamily="49" charset="0"/>
              </a:rPr>
              <a:t>--</a:t>
            </a:r>
            <a:r>
              <a:rPr lang="en-US" sz="1800" b="1" dirty="0" err="1" smtClean="0">
                <a:latin typeface="Consolas" pitchFamily="49" charset="0"/>
              </a:rPr>
              <a:t>replSet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testRS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dbpath</a:t>
            </a:r>
            <a:r>
              <a:rPr lang="en-US" sz="1800" dirty="0" smtClean="0">
                <a:latin typeface="Consolas" pitchFamily="49" charset="0"/>
              </a:rPr>
              <a:t> c:\data\rs3 --port 27019 --</a:t>
            </a:r>
            <a:r>
              <a:rPr lang="en-US" sz="1800" dirty="0" err="1" smtClean="0">
                <a:latin typeface="Consolas" pitchFamily="49" charset="0"/>
              </a:rPr>
              <a:t>oplogSize</a:t>
            </a:r>
            <a:r>
              <a:rPr lang="en-US" sz="1800" dirty="0" smtClean="0">
                <a:latin typeface="Consolas" pitchFamily="49" charset="0"/>
              </a:rPr>
              <a:t> 200</a:t>
            </a:r>
          </a:p>
          <a:p>
            <a:r>
              <a:rPr lang="en-US" sz="2000" dirty="0" smtClean="0"/>
              <a:t>Replication is concerned with keeping an identical copy of data on multiple servers.</a:t>
            </a:r>
          </a:p>
          <a:p>
            <a:r>
              <a:rPr lang="en-US" sz="2000" dirty="0" smtClean="0"/>
              <a:t>The way </a:t>
            </a:r>
            <a:r>
              <a:rPr lang="en-US" sz="2000" dirty="0" err="1" smtClean="0"/>
              <a:t>MongoDB</a:t>
            </a:r>
            <a:r>
              <a:rPr lang="en-US" sz="2000" dirty="0" smtClean="0"/>
              <a:t> accomplishes this is by keeping a log of operations, or </a:t>
            </a:r>
            <a:r>
              <a:rPr lang="en-US" sz="2000" dirty="0" err="1" smtClean="0"/>
              <a:t>oplog</a:t>
            </a:r>
            <a:r>
              <a:rPr lang="en-US" sz="2000" dirty="0" smtClean="0"/>
              <a:t>, containing every write that a primary performs.</a:t>
            </a:r>
          </a:p>
          <a:p>
            <a:r>
              <a:rPr lang="en-US" sz="2000" dirty="0" smtClean="0">
                <a:latin typeface="Consolas" pitchFamily="49" charset="0"/>
              </a:rPr>
              <a:t>--</a:t>
            </a:r>
            <a:r>
              <a:rPr lang="en-US" sz="2000" dirty="0" err="1" smtClean="0">
                <a:latin typeface="Consolas" pitchFamily="49" charset="0"/>
              </a:rPr>
              <a:t>oplogSize</a:t>
            </a:r>
            <a:r>
              <a:rPr lang="en-US" sz="2000" dirty="0" smtClean="0">
                <a:latin typeface="Consolas" pitchFamily="49" charset="0"/>
              </a:rPr>
              <a:t>: </a:t>
            </a:r>
            <a:r>
              <a:rPr lang="en-US" sz="2000" dirty="0" smtClean="0"/>
              <a:t>Specifies a maximum size in megabytes for the replication operation log</a:t>
            </a:r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Start Servers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mongod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bind_ip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localhost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b="1" dirty="0" smtClean="0">
                <a:latin typeface="Consolas" pitchFamily="49" charset="0"/>
              </a:rPr>
              <a:t>--</a:t>
            </a:r>
            <a:r>
              <a:rPr lang="en-US" sz="1800" b="1" dirty="0" err="1" smtClean="0">
                <a:latin typeface="Consolas" pitchFamily="49" charset="0"/>
              </a:rPr>
              <a:t>replSet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testRS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dbpath</a:t>
            </a:r>
            <a:r>
              <a:rPr lang="en-US" sz="1800" dirty="0" smtClean="0">
                <a:latin typeface="Consolas" pitchFamily="49" charset="0"/>
              </a:rPr>
              <a:t> /data/rs1 --port 27017 --</a:t>
            </a:r>
            <a:r>
              <a:rPr lang="en-US" sz="1800" dirty="0" err="1" smtClean="0">
                <a:latin typeface="Consolas" pitchFamily="49" charset="0"/>
              </a:rPr>
              <a:t>oplogSize</a:t>
            </a:r>
            <a:r>
              <a:rPr lang="en-US" sz="1800" dirty="0" smtClean="0">
                <a:latin typeface="Consolas" pitchFamily="49" charset="0"/>
              </a:rPr>
              <a:t> 200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mongod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bind_ip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localhost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b="1" dirty="0" smtClean="0">
                <a:latin typeface="Consolas" pitchFamily="49" charset="0"/>
              </a:rPr>
              <a:t>--</a:t>
            </a:r>
            <a:r>
              <a:rPr lang="en-US" sz="1800" b="1" dirty="0" err="1" smtClean="0">
                <a:latin typeface="Consolas" pitchFamily="49" charset="0"/>
              </a:rPr>
              <a:t>replSet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testRS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dbpath</a:t>
            </a:r>
            <a:r>
              <a:rPr lang="en-US" sz="1800" dirty="0" smtClean="0">
                <a:latin typeface="Consolas" pitchFamily="49" charset="0"/>
              </a:rPr>
              <a:t> /data/rs2 --port 27018 --</a:t>
            </a:r>
            <a:r>
              <a:rPr lang="en-US" sz="1800" dirty="0" err="1" smtClean="0">
                <a:latin typeface="Consolas" pitchFamily="49" charset="0"/>
              </a:rPr>
              <a:t>oplogSize</a:t>
            </a:r>
            <a:r>
              <a:rPr lang="en-US" sz="1800" dirty="0" smtClean="0">
                <a:latin typeface="Consolas" pitchFamily="49" charset="0"/>
              </a:rPr>
              <a:t> 200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mongod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bind_ip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localhost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b="1" dirty="0" smtClean="0">
                <a:latin typeface="Consolas" pitchFamily="49" charset="0"/>
              </a:rPr>
              <a:t>--</a:t>
            </a:r>
            <a:r>
              <a:rPr lang="en-US" sz="1800" b="1" dirty="0" err="1" smtClean="0">
                <a:latin typeface="Consolas" pitchFamily="49" charset="0"/>
              </a:rPr>
              <a:t>replSet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testRS</a:t>
            </a:r>
            <a:r>
              <a:rPr lang="en-US" sz="1800" dirty="0" smtClean="0">
                <a:latin typeface="Consolas" pitchFamily="49" charset="0"/>
              </a:rPr>
              <a:t> --</a:t>
            </a:r>
            <a:r>
              <a:rPr lang="en-US" sz="1800" dirty="0" err="1" smtClean="0">
                <a:latin typeface="Consolas" pitchFamily="49" charset="0"/>
              </a:rPr>
              <a:t>dbpath</a:t>
            </a:r>
            <a:r>
              <a:rPr lang="en-US" sz="1800" dirty="0" smtClean="0">
                <a:latin typeface="Consolas" pitchFamily="49" charset="0"/>
              </a:rPr>
              <a:t> /data/rs3 --port 27019 --</a:t>
            </a:r>
            <a:r>
              <a:rPr lang="en-US" sz="1800" dirty="0" err="1" smtClean="0">
                <a:latin typeface="Consolas" pitchFamily="49" charset="0"/>
              </a:rPr>
              <a:t>oplogSize</a:t>
            </a:r>
            <a:r>
              <a:rPr lang="en-US" sz="1800" dirty="0" smtClean="0">
                <a:latin typeface="Consolas" pitchFamily="49" charset="0"/>
              </a:rPr>
              <a:t> 200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Initiate a Replica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</a:rPr>
              <a:t>mongo --port 27017</a:t>
            </a:r>
          </a:p>
          <a:p>
            <a:pPr>
              <a:buNone/>
            </a:pPr>
            <a:r>
              <a:rPr lang="en-US" sz="1800" dirty="0" err="1" smtClean="0">
                <a:latin typeface="Consolas" pitchFamily="49" charset="0"/>
              </a:rPr>
              <a:t>rsconf</a:t>
            </a:r>
            <a:r>
              <a:rPr lang="en-US" sz="1800" dirty="0" smtClean="0">
                <a:latin typeface="Consolas" pitchFamily="49" charset="0"/>
              </a:rPr>
              <a:t> = {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_id: "</a:t>
            </a:r>
            <a:r>
              <a:rPr lang="en-US" sz="1800" dirty="0" err="1" smtClean="0">
                <a:latin typeface="Consolas" pitchFamily="49" charset="0"/>
              </a:rPr>
              <a:t>testRS</a:t>
            </a:r>
            <a:r>
              <a:rPr lang="en-US" sz="1800" dirty="0" smtClean="0">
                <a:latin typeface="Consolas" pitchFamily="49" charset="0"/>
              </a:rPr>
              <a:t>",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members: [</a:t>
            </a:r>
          </a:p>
          <a:p>
            <a:pPr lvl="2">
              <a:buNone/>
            </a:pPr>
            <a:r>
              <a:rPr lang="en-US" sz="1800" dirty="0" smtClean="0">
                <a:latin typeface="Consolas" pitchFamily="49" charset="0"/>
              </a:rPr>
              <a:t>{_id: 0, host: "localhost:27017"},</a:t>
            </a:r>
          </a:p>
          <a:p>
            <a:pPr lvl="2">
              <a:buNone/>
            </a:pPr>
            <a:r>
              <a:rPr lang="en-US" sz="1800" dirty="0" smtClean="0">
                <a:latin typeface="Consolas" pitchFamily="49" charset="0"/>
              </a:rPr>
              <a:t>{_id: 1, host: "localhost:27018"},</a:t>
            </a:r>
          </a:p>
          <a:p>
            <a:pPr lvl="2">
              <a:buNone/>
            </a:pPr>
            <a:r>
              <a:rPr lang="en-US" sz="1800" dirty="0" smtClean="0">
                <a:latin typeface="Consolas" pitchFamily="49" charset="0"/>
              </a:rPr>
              <a:t>{_id: 2, host: "localhost:27019"}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]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}</a:t>
            </a:r>
          </a:p>
          <a:p>
            <a:pPr>
              <a:buNone/>
            </a:pPr>
            <a:r>
              <a:rPr lang="en-US" sz="1800" dirty="0" err="1" smtClean="0">
                <a:latin typeface="Consolas" pitchFamily="49" charset="0"/>
              </a:rPr>
              <a:t>rs.initiate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rsconf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>
              <a:buNone/>
            </a:pPr>
            <a:r>
              <a:rPr lang="en-US" sz="1800" dirty="0" err="1" smtClean="0">
                <a:latin typeface="Consolas" pitchFamily="49" charset="0"/>
              </a:rPr>
              <a:t>rs.status</a:t>
            </a:r>
            <a:r>
              <a:rPr lang="en-US" sz="1800" dirty="0" smtClean="0">
                <a:latin typeface="Consolas" pitchFamily="49" charset="0"/>
              </a:rPr>
              <a:t>()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4114800"/>
            <a:ext cx="47593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Write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use test</a:t>
            </a:r>
          </a:p>
          <a:p>
            <a:r>
              <a:rPr lang="en-US" sz="2000" dirty="0" smtClean="0">
                <a:latin typeface="Consolas" pitchFamily="49" charset="0"/>
              </a:rPr>
              <a:t>for (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=0;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&lt;1000;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++) {</a:t>
            </a:r>
            <a:r>
              <a:rPr lang="en-US" sz="2000" dirty="0" err="1" smtClean="0">
                <a:latin typeface="Consolas" pitchFamily="49" charset="0"/>
              </a:rPr>
              <a:t>db.testRS.insert</a:t>
            </a:r>
            <a:r>
              <a:rPr lang="en-US" sz="2000" dirty="0" smtClean="0">
                <a:latin typeface="Consolas" pitchFamily="49" charset="0"/>
              </a:rPr>
              <a:t>({count: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})}</a:t>
            </a:r>
          </a:p>
          <a:p>
            <a:r>
              <a:rPr lang="en-US" sz="2000" dirty="0" err="1" smtClean="0">
                <a:latin typeface="Consolas" pitchFamily="49" charset="0"/>
              </a:rPr>
              <a:t>db.testRS.count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err="1" smtClean="0">
                <a:latin typeface="Consolas" pitchFamily="49" charset="0"/>
              </a:rPr>
              <a:t>db.testRS.find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endParaRPr lang="en-US" sz="2000" dirty="0" smtClean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5638" y="3409950"/>
            <a:ext cx="52927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Verify Data 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mongo --port 27018</a:t>
            </a:r>
          </a:p>
          <a:p>
            <a:r>
              <a:rPr lang="en-US" sz="2000" dirty="0" smtClean="0">
                <a:latin typeface="Consolas" pitchFamily="49" charset="0"/>
              </a:rPr>
              <a:t>use test</a:t>
            </a:r>
          </a:p>
          <a:p>
            <a:r>
              <a:rPr lang="en-US" sz="2000" dirty="0" err="1" smtClean="0">
                <a:latin typeface="Consolas" pitchFamily="49" charset="0"/>
              </a:rPr>
              <a:t>db.testRS.find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200" i="1" dirty="0" err="1" smtClean="0"/>
              <a:t>Secondaries</a:t>
            </a:r>
            <a:r>
              <a:rPr lang="en-US" sz="2200" i="1" dirty="0" smtClean="0"/>
              <a:t> may fall behind the primary (or lag) and not have the most current writes, so </a:t>
            </a:r>
            <a:r>
              <a:rPr lang="en-US" sz="2200" i="1" dirty="0" err="1" smtClean="0"/>
              <a:t>secondaries</a:t>
            </a:r>
            <a:r>
              <a:rPr lang="en-US" sz="2200" i="1" dirty="0" smtClean="0"/>
              <a:t> will refuse read requests by default to prevent applications from accidentally reading stale data.</a:t>
            </a:r>
          </a:p>
          <a:p>
            <a:r>
              <a:rPr lang="en-US" sz="2200" i="1" dirty="0" smtClean="0"/>
              <a:t>We can set an “I’m okay with reading from </a:t>
            </a:r>
            <a:r>
              <a:rPr lang="en-US" sz="2200" i="1" dirty="0" err="1" smtClean="0"/>
              <a:t>secondaries</a:t>
            </a:r>
            <a:r>
              <a:rPr lang="en-US" sz="2200" i="1" dirty="0" smtClean="0"/>
              <a:t>” flag.</a:t>
            </a:r>
          </a:p>
          <a:p>
            <a:endParaRPr lang="en-US" sz="2200" i="1" dirty="0" smtClean="0"/>
          </a:p>
          <a:p>
            <a:r>
              <a:rPr lang="en-US" sz="2000" dirty="0" err="1" smtClean="0">
                <a:latin typeface="Consolas" pitchFamily="49" charset="0"/>
              </a:rPr>
              <a:t>db.setSecondaryOk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err="1" smtClean="0">
                <a:latin typeface="Consolas" pitchFamily="49" charset="0"/>
              </a:rPr>
              <a:t>db.testRS.find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pPr>
              <a:buNone/>
            </a:pPr>
            <a:r>
              <a:rPr lang="en-US" b="1" dirty="0" smtClean="0">
                <a:latin typeface="+mj-lt"/>
                <a:sym typeface="Wingdings" pitchFamily="2" charset="2"/>
              </a:rPr>
              <a:t> Consistency concept</a:t>
            </a:r>
            <a:endParaRPr lang="en-US" b="1" dirty="0" smtClean="0">
              <a:latin typeface="+mj-lt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Connect to a Replica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Connections to a replica set are similar to connections to a single server.</a:t>
            </a:r>
          </a:p>
          <a:p>
            <a:r>
              <a:rPr lang="en-US" sz="2000" dirty="0" smtClean="0"/>
              <a:t>Use the </a:t>
            </a:r>
            <a:r>
              <a:rPr lang="en-US" sz="2000" dirty="0" err="1" smtClean="0">
                <a:latin typeface="Consolas" pitchFamily="49" charset="0"/>
              </a:rPr>
              <a:t>MongoClient</a:t>
            </a:r>
            <a:r>
              <a:rPr lang="en-US" sz="2000" dirty="0" smtClean="0"/>
              <a:t> class (or equivalent) in your driver and provide a seed list for the driver to connect to.</a:t>
            </a:r>
          </a:p>
          <a:p>
            <a:r>
              <a:rPr lang="en-US" sz="2000" dirty="0" smtClean="0"/>
              <a:t>A seed list is simply a list of server addresses.</a:t>
            </a:r>
          </a:p>
          <a:p>
            <a:r>
              <a:rPr lang="en-US" sz="2000" dirty="0" smtClean="0"/>
              <a:t>When the driver connects to the seeds, it will discover the other members from them. A connection string usually looks something like this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1800" dirty="0" smtClean="0">
                <a:latin typeface="Consolas" pitchFamily="49" charset="0"/>
              </a:rPr>
              <a:t>"mongodb://server-1:27017,server-2:27017,server-3:27017"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Sharding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Sharding</a:t>
            </a:r>
            <a:r>
              <a:rPr lang="en-US" sz="2400" dirty="0" smtClean="0"/>
              <a:t> refers to the process of </a:t>
            </a:r>
            <a:r>
              <a:rPr lang="en-US" sz="2400" u="sng" dirty="0" smtClean="0"/>
              <a:t>splitting data</a:t>
            </a:r>
            <a:r>
              <a:rPr lang="en-US" sz="2400" dirty="0" smtClean="0"/>
              <a:t> up across machines; the term partitioning is also sometimes used to describe this concept.</a:t>
            </a:r>
            <a:endParaRPr lang="en-US" sz="2400" dirty="0"/>
          </a:p>
        </p:txBody>
      </p:sp>
      <p:pic>
        <p:nvPicPr>
          <p:cNvPr id="41986" name="Picture 2" descr="https://www.cubrid.org/manual/en/9.1.0/_images/image3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048000"/>
            <a:ext cx="4617143" cy="32304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Sharding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By putting a subset of data on each machine, it becomes possible to </a:t>
            </a:r>
            <a:r>
              <a:rPr lang="en-US" sz="2400" i="1" dirty="0" smtClean="0">
                <a:solidFill>
                  <a:srgbClr val="C00000"/>
                </a:solidFill>
              </a:rPr>
              <a:t>store more data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handle more load</a:t>
            </a:r>
            <a:r>
              <a:rPr lang="en-US" sz="2400" dirty="0" smtClean="0"/>
              <a:t> without requiring larger or more powerful machines—just a larger quantity of less powerful machines.</a:t>
            </a:r>
          </a:p>
          <a:p>
            <a:r>
              <a:rPr lang="en-US" sz="2400" dirty="0" err="1" smtClean="0"/>
              <a:t>Sharding</a:t>
            </a:r>
            <a:r>
              <a:rPr lang="en-US" sz="2400" dirty="0" smtClean="0"/>
              <a:t> may be used for other purposes as well, including placing more </a:t>
            </a:r>
            <a:r>
              <a:rPr lang="en-US" sz="2400" i="1" dirty="0" smtClean="0">
                <a:solidFill>
                  <a:srgbClr val="C00000"/>
                </a:solidFill>
              </a:rPr>
              <a:t>frequently accessed data</a:t>
            </a:r>
            <a:r>
              <a:rPr lang="en-US" sz="2400" dirty="0" smtClean="0"/>
              <a:t> on more </a:t>
            </a:r>
            <a:r>
              <a:rPr lang="en-US" sz="2400" dirty="0" err="1" smtClean="0"/>
              <a:t>performant</a:t>
            </a:r>
            <a:r>
              <a:rPr lang="en-US" sz="2400" dirty="0" smtClean="0"/>
              <a:t> hardware or splitting a dataset based on geography to locate a subset of documents in a collection (e.g., for users based in a particular locale) close to the application servers from which they are most commonly accessed.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Manual </a:t>
            </a:r>
            <a:r>
              <a:rPr lang="en-US" dirty="0" err="1" smtClean="0"/>
              <a:t>Sharding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Manual </a:t>
            </a:r>
            <a:r>
              <a:rPr lang="en-US" sz="2400" dirty="0" err="1" smtClean="0"/>
              <a:t>sharding</a:t>
            </a:r>
            <a:r>
              <a:rPr lang="en-US" sz="2400" dirty="0" smtClean="0"/>
              <a:t> can be done with almost any database software.</a:t>
            </a:r>
          </a:p>
          <a:p>
            <a:r>
              <a:rPr lang="en-US" sz="2400" dirty="0" smtClean="0"/>
              <a:t>With this approach, an </a:t>
            </a:r>
            <a:r>
              <a:rPr lang="en-US" sz="2400" i="1" dirty="0" smtClean="0">
                <a:solidFill>
                  <a:srgbClr val="C00000"/>
                </a:solidFill>
              </a:rPr>
              <a:t>application</a:t>
            </a:r>
            <a:r>
              <a:rPr lang="en-US" sz="2400" dirty="0" smtClean="0"/>
              <a:t> maintains connections to several different database servers, each of which are completely independent.</a:t>
            </a:r>
          </a:p>
          <a:p>
            <a:r>
              <a:rPr lang="en-US" sz="2400" dirty="0" smtClean="0"/>
              <a:t>The application manages storing different data on different servers and querying against the appropriate server to get data back.</a:t>
            </a:r>
          </a:p>
          <a:p>
            <a:r>
              <a:rPr lang="en-US" sz="2400" dirty="0" smtClean="0"/>
              <a:t>This setup can work well but becomes </a:t>
            </a:r>
            <a:r>
              <a:rPr lang="en-US" sz="2400" i="1" dirty="0" smtClean="0">
                <a:solidFill>
                  <a:srgbClr val="C00000"/>
                </a:solidFill>
              </a:rPr>
              <a:t>difficult to maintain</a:t>
            </a:r>
            <a:r>
              <a:rPr lang="en-US" sz="2400" dirty="0" smtClean="0"/>
              <a:t> when </a:t>
            </a:r>
            <a:r>
              <a:rPr lang="en-US" sz="2400" u="sng" dirty="0" smtClean="0"/>
              <a:t>adding or removing nodes</a:t>
            </a:r>
            <a:r>
              <a:rPr lang="en-US" sz="2400" dirty="0" smtClean="0"/>
              <a:t> from the cluster or in the face of </a:t>
            </a:r>
            <a:r>
              <a:rPr lang="en-US" sz="2400" u="sng" dirty="0" smtClean="0"/>
              <a:t>changing data distributions</a:t>
            </a:r>
            <a:r>
              <a:rPr lang="en-US" sz="2400" dirty="0" smtClean="0"/>
              <a:t> or load patterns.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Autosharding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MongoDB</a:t>
            </a:r>
            <a:r>
              <a:rPr lang="en-US" sz="2400" dirty="0" smtClean="0"/>
              <a:t> supports </a:t>
            </a:r>
            <a:r>
              <a:rPr lang="en-US" sz="2400" dirty="0" err="1" smtClean="0"/>
              <a:t>autosharding</a:t>
            </a:r>
            <a:r>
              <a:rPr lang="en-US" sz="2400" dirty="0" smtClean="0"/>
              <a:t>, which tries to both </a:t>
            </a:r>
            <a:r>
              <a:rPr lang="en-US" sz="2400" i="1" dirty="0" smtClean="0">
                <a:solidFill>
                  <a:srgbClr val="C00000"/>
                </a:solidFill>
              </a:rPr>
              <a:t>abstract</a:t>
            </a:r>
            <a:r>
              <a:rPr lang="en-US" sz="2400" dirty="0" smtClean="0"/>
              <a:t> the architecture away from </a:t>
            </a:r>
            <a:r>
              <a:rPr lang="en-US" sz="2400" u="sng" dirty="0" smtClean="0"/>
              <a:t>the application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simplify</a:t>
            </a:r>
            <a:r>
              <a:rPr lang="en-US" sz="2400" dirty="0" smtClean="0"/>
              <a:t> </a:t>
            </a:r>
            <a:r>
              <a:rPr lang="en-US" sz="2400" u="sng" dirty="0" smtClean="0"/>
              <a:t>the administration</a:t>
            </a:r>
            <a:r>
              <a:rPr lang="en-US" sz="2400" dirty="0" smtClean="0"/>
              <a:t> of such a system.</a:t>
            </a:r>
          </a:p>
          <a:p>
            <a:r>
              <a:rPr lang="en-US" sz="2400" dirty="0" err="1" smtClean="0"/>
              <a:t>MongoDB’s</a:t>
            </a:r>
            <a:r>
              <a:rPr lang="en-US" sz="2400" dirty="0" smtClean="0"/>
              <a:t> </a:t>
            </a:r>
            <a:r>
              <a:rPr lang="en-US" sz="2400" dirty="0" err="1" smtClean="0"/>
              <a:t>sharding</a:t>
            </a:r>
            <a:r>
              <a:rPr lang="en-US" sz="2400" dirty="0" smtClean="0"/>
              <a:t> allows you to create a cluster of </a:t>
            </a:r>
            <a:r>
              <a:rPr lang="en-US" sz="2400" i="1" dirty="0" smtClean="0">
                <a:solidFill>
                  <a:srgbClr val="C00000"/>
                </a:solidFill>
              </a:rPr>
              <a:t>many machines (shards)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break up</a:t>
            </a:r>
            <a:r>
              <a:rPr lang="en-US" sz="2400" dirty="0" smtClean="0"/>
              <a:t> a collection across them, putting a subset of data on each shard.</a:t>
            </a:r>
          </a:p>
          <a:p>
            <a:r>
              <a:rPr lang="en-US" sz="2400" dirty="0" err="1" smtClean="0"/>
              <a:t>MongoDB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automates</a:t>
            </a:r>
            <a:r>
              <a:rPr lang="en-US" sz="2400" dirty="0" smtClean="0"/>
              <a:t> balancing data across shards and makes it easier to add and remove capacity.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sz="2000" dirty="0" smtClean="0"/>
              <a:t>One of the goals of </a:t>
            </a:r>
            <a:r>
              <a:rPr lang="en-US" sz="2000" dirty="0" err="1" smtClean="0"/>
              <a:t>sharding</a:t>
            </a:r>
            <a:r>
              <a:rPr lang="en-US" sz="2000" dirty="0" smtClean="0"/>
              <a:t> is to make a cluster of 2, 3, 10, or even hundreds of shards look like a single machine to your application.</a:t>
            </a:r>
          </a:p>
          <a:p>
            <a:r>
              <a:rPr lang="en-US" sz="2000" dirty="0" smtClean="0"/>
              <a:t>To hide these details from the application, we run one or more </a:t>
            </a:r>
            <a:r>
              <a:rPr lang="en-US" sz="2000" i="1" dirty="0" smtClean="0">
                <a:solidFill>
                  <a:srgbClr val="C00000"/>
                </a:solidFill>
              </a:rPr>
              <a:t>routing processes</a:t>
            </a:r>
            <a:r>
              <a:rPr lang="en-US" sz="2000" dirty="0" smtClean="0"/>
              <a:t> called a </a:t>
            </a:r>
            <a:r>
              <a:rPr lang="en-US" sz="2000" b="1" dirty="0" err="1" smtClean="0">
                <a:latin typeface="Consolas" pitchFamily="49" charset="0"/>
              </a:rPr>
              <a:t>mongos</a:t>
            </a:r>
            <a:r>
              <a:rPr lang="en-US" sz="2000" dirty="0" smtClean="0"/>
              <a:t> in front of the shards.</a:t>
            </a:r>
          </a:p>
          <a:p>
            <a:r>
              <a:rPr lang="en-US" sz="2000" dirty="0" smtClean="0"/>
              <a:t>A </a:t>
            </a:r>
            <a:r>
              <a:rPr lang="en-US" sz="2000" b="1" dirty="0" err="1" smtClean="0">
                <a:latin typeface="Consolas" pitchFamily="49" charset="0"/>
              </a:rPr>
              <a:t>mongos</a:t>
            </a:r>
            <a:r>
              <a:rPr lang="en-US" sz="2000" dirty="0" smtClean="0"/>
              <a:t> keeps a “table of contents” that tells it which shard contains which data.</a:t>
            </a:r>
          </a:p>
          <a:p>
            <a:r>
              <a:rPr lang="en-US" sz="2000" dirty="0" smtClean="0"/>
              <a:t>Applications can connect to this router and issue requests normally.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6326" y="1981200"/>
            <a:ext cx="3864274" cy="3130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Config</a:t>
            </a:r>
            <a:r>
              <a:rPr lang="en-US" dirty="0" smtClean="0"/>
              <a:t> 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Config</a:t>
            </a:r>
            <a:r>
              <a:rPr lang="en-US" sz="2400" i="1" dirty="0" smtClean="0">
                <a:solidFill>
                  <a:srgbClr val="C00000"/>
                </a:solidFill>
              </a:rPr>
              <a:t> servers</a:t>
            </a:r>
            <a:r>
              <a:rPr lang="en-US" sz="2400" dirty="0" smtClean="0"/>
              <a:t> are the brains of your cluster: they hold all of the metadata about which servers hold what data.</a:t>
            </a:r>
          </a:p>
          <a:p>
            <a:r>
              <a:rPr lang="en-US" sz="2400" dirty="0" smtClean="0"/>
              <a:t>In production deployments, your </a:t>
            </a:r>
            <a:r>
              <a:rPr lang="en-US" sz="2400" i="1" dirty="0" err="1" smtClean="0">
                <a:solidFill>
                  <a:srgbClr val="C00000"/>
                </a:solidFill>
              </a:rPr>
              <a:t>config</a:t>
            </a:r>
            <a:r>
              <a:rPr lang="en-US" sz="2400" i="1" dirty="0" smtClean="0">
                <a:solidFill>
                  <a:srgbClr val="C00000"/>
                </a:solidFill>
              </a:rPr>
              <a:t> server replica set</a:t>
            </a:r>
            <a:r>
              <a:rPr lang="en-US" sz="2400" dirty="0" smtClean="0"/>
              <a:t> should consist of </a:t>
            </a:r>
            <a:r>
              <a:rPr lang="en-US" sz="2400" u="sng" dirty="0" smtClean="0"/>
              <a:t>at least three members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</a:t>
            </a:r>
            <a:r>
              <a:rPr lang="en-US" sz="2400" dirty="0" err="1" smtClean="0"/>
              <a:t>config</a:t>
            </a:r>
            <a:r>
              <a:rPr lang="en-US" sz="2400" dirty="0" smtClean="0"/>
              <a:t> server should be on a separate physical machine, </a:t>
            </a:r>
            <a:r>
              <a:rPr lang="en-US" sz="2400" i="1" dirty="0" smtClean="0">
                <a:solidFill>
                  <a:srgbClr val="C00000"/>
                </a:solidFill>
              </a:rPr>
              <a:t>preferable geographically distributed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74926" y="1981200"/>
            <a:ext cx="3864274" cy="3130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Shard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you shard a collection, you choose a </a:t>
            </a:r>
            <a:r>
              <a:rPr lang="en-US" sz="2400" i="1" dirty="0" smtClean="0">
                <a:solidFill>
                  <a:srgbClr val="C00000"/>
                </a:solidFill>
              </a:rPr>
              <a:t>shard key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is </a:t>
            </a:r>
            <a:r>
              <a:rPr lang="en-US" sz="2400" u="sng" dirty="0" smtClean="0"/>
              <a:t>a field or two</a:t>
            </a:r>
            <a:r>
              <a:rPr lang="en-US" sz="2400" dirty="0" smtClean="0"/>
              <a:t> that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uses to </a:t>
            </a:r>
            <a:r>
              <a:rPr lang="en-US" sz="2400" i="1" dirty="0" smtClean="0">
                <a:solidFill>
                  <a:srgbClr val="C00000"/>
                </a:solidFill>
              </a:rPr>
              <a:t>break up data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example, if you chose to shard on "username",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would break up the data into ranges of usernames: </a:t>
            </a:r>
          </a:p>
          <a:p>
            <a:pPr lvl="1"/>
            <a:r>
              <a:rPr lang="en-US" sz="2000" dirty="0" smtClean="0"/>
              <a:t>"a1-steak-sauce" through "</a:t>
            </a:r>
            <a:r>
              <a:rPr lang="en-US" sz="2000" dirty="0" err="1" smtClean="0"/>
              <a:t>defcon</a:t>
            </a:r>
            <a:r>
              <a:rPr lang="en-US" sz="2000" dirty="0" smtClean="0"/>
              <a:t>",</a:t>
            </a:r>
          </a:p>
          <a:p>
            <a:pPr lvl="1"/>
            <a:r>
              <a:rPr lang="en-US" sz="2000" dirty="0" smtClean="0"/>
              <a:t>"defcon1" through "howie1998", and so on.</a:t>
            </a:r>
          </a:p>
          <a:p>
            <a:r>
              <a:rPr lang="en-US" sz="2400" dirty="0" err="1" smtClean="0"/>
              <a:t>Sharding</a:t>
            </a:r>
            <a:r>
              <a:rPr lang="en-US" sz="2400" dirty="0" smtClean="0"/>
              <a:t> splits the collection into many chunks based on shard key ranges:</a:t>
            </a:r>
            <a:endParaRPr lang="en-US" sz="24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8638" y="5081587"/>
            <a:ext cx="5545137" cy="101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Chunks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Chunks are </a:t>
            </a:r>
            <a:r>
              <a:rPr lang="en-US" sz="2400" i="1" dirty="0" smtClean="0">
                <a:solidFill>
                  <a:srgbClr val="C00000"/>
                </a:solidFill>
              </a:rPr>
              <a:t>evenly distributed</a:t>
            </a:r>
            <a:r>
              <a:rPr lang="en-US" sz="2400" dirty="0" smtClean="0"/>
              <a:t> across the available shards.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225" y="2549525"/>
            <a:ext cx="5543550" cy="175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Hashed Shard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For loading data as fast as possible, hashed shard keys are the best option.</a:t>
            </a:r>
          </a:p>
          <a:p>
            <a:r>
              <a:rPr lang="en-US" sz="2400" dirty="0" smtClean="0"/>
              <a:t>A hashed shard key can make any field </a:t>
            </a:r>
            <a:r>
              <a:rPr lang="en-US" sz="2400" i="1" dirty="0" smtClean="0">
                <a:solidFill>
                  <a:srgbClr val="C00000"/>
                </a:solidFill>
              </a:rPr>
              <a:t>randomly distributed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trade-off is that you can </a:t>
            </a:r>
            <a:r>
              <a:rPr lang="en-US" sz="2400" u="sng" dirty="0" smtClean="0"/>
              <a:t>never</a:t>
            </a:r>
            <a:r>
              <a:rPr lang="en-US" sz="2400" dirty="0" smtClean="0"/>
              <a:t> do </a:t>
            </a:r>
            <a:r>
              <a:rPr lang="en-US" sz="2400" i="1" dirty="0" smtClean="0">
                <a:solidFill>
                  <a:srgbClr val="C00000"/>
                </a:solidFill>
              </a:rPr>
              <a:t>a targeted range query</a:t>
            </a:r>
            <a:r>
              <a:rPr lang="en-US" sz="2400" dirty="0" smtClean="0"/>
              <a:t> with a hashed shard key.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Clean Everything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-s</a:t>
            </a:r>
          </a:p>
          <a:p>
            <a:r>
              <a:rPr lang="en-US" sz="2200" dirty="0" smtClean="0">
                <a:latin typeface="Consolas" pitchFamily="49" charset="0"/>
              </a:rPr>
              <a:t>echo "killing </a:t>
            </a:r>
            <a:r>
              <a:rPr lang="en-US" sz="2200" dirty="0" err="1" smtClean="0">
                <a:latin typeface="Consolas" pitchFamily="49" charset="0"/>
              </a:rPr>
              <a:t>mongod</a:t>
            </a:r>
            <a:r>
              <a:rPr lang="en-US" sz="2200" dirty="0" smtClean="0">
                <a:latin typeface="Consolas" pitchFamily="49" charset="0"/>
              </a:rPr>
              <a:t> and </a:t>
            </a:r>
            <a:r>
              <a:rPr lang="en-US" sz="2200" dirty="0" err="1" smtClean="0">
                <a:latin typeface="Consolas" pitchFamily="49" charset="0"/>
              </a:rPr>
              <a:t>mongos</a:t>
            </a:r>
            <a:r>
              <a:rPr lang="en-US" sz="2200" dirty="0" smtClean="0">
                <a:latin typeface="Consolas" pitchFamily="49" charset="0"/>
              </a:rPr>
              <a:t>"</a:t>
            </a:r>
          </a:p>
          <a:p>
            <a:r>
              <a:rPr lang="en-US" sz="2200" dirty="0" err="1" smtClean="0">
                <a:latin typeface="Consolas" pitchFamily="49" charset="0"/>
              </a:rPr>
              <a:t>killall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mongod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killall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mongos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echo "removing data files"</a:t>
            </a:r>
          </a:p>
          <a:p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 -</a:t>
            </a:r>
            <a:r>
              <a:rPr lang="en-US" sz="2200" dirty="0" err="1" smtClean="0">
                <a:latin typeface="Consolas" pitchFamily="49" charset="0"/>
              </a:rPr>
              <a:t>rf</a:t>
            </a:r>
            <a:r>
              <a:rPr lang="en-US" sz="2200" dirty="0" smtClean="0">
                <a:latin typeface="Consolas" pitchFamily="49" charset="0"/>
              </a:rPr>
              <a:t> /data/</a:t>
            </a:r>
            <a:r>
              <a:rPr lang="en-US" sz="2200" dirty="0" err="1" smtClean="0">
                <a:latin typeface="Consolas" pitchFamily="49" charset="0"/>
              </a:rPr>
              <a:t>config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 -</a:t>
            </a:r>
            <a:r>
              <a:rPr lang="en-US" sz="2200" dirty="0" err="1" smtClean="0">
                <a:latin typeface="Consolas" pitchFamily="49" charset="0"/>
              </a:rPr>
              <a:t>rf</a:t>
            </a:r>
            <a:r>
              <a:rPr lang="en-US" sz="2200" dirty="0" smtClean="0">
                <a:latin typeface="Consolas" pitchFamily="49" charset="0"/>
              </a:rPr>
              <a:t> /data/shard*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7138" y="4638675"/>
            <a:ext cx="414972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Start a Replica Set and Tell It That It Will Be shard0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latin typeface="Consolas" pitchFamily="49" charset="0"/>
              </a:rPr>
              <a:t>echo "starting servers for shard 0"</a:t>
            </a:r>
          </a:p>
          <a:p>
            <a:r>
              <a:rPr lang="en-US" sz="1600" dirty="0" err="1" smtClean="0">
                <a:latin typeface="Consolas" pitchFamily="49" charset="0"/>
              </a:rPr>
              <a:t>mkdir</a:t>
            </a:r>
            <a:r>
              <a:rPr lang="en-US" sz="1600" dirty="0" smtClean="0">
                <a:latin typeface="Consolas" pitchFamily="49" charset="0"/>
              </a:rPr>
              <a:t> -p /data/shard0/rs0 /data/shard0/rs1 /data/shard0/rs2</a:t>
            </a: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s0 --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"s0-r0.log"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/data/shard0/rs0 --port 37017 --fork --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s0 --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"s0-r1.log"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/data/shard0/rs1 --port 37018 --fork --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s0 --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"s0-r2.log"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/data/shard0/rs2 --port 37019 --fork --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7138" y="4152900"/>
            <a:ext cx="41497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Connect to One Server and Initiate The Set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</a:rPr>
              <a:t>echo "Configuring s0 replica set"</a:t>
            </a:r>
          </a:p>
          <a:p>
            <a:r>
              <a:rPr lang="en-US" sz="1800" dirty="0" smtClean="0">
                <a:latin typeface="Consolas" pitchFamily="49" charset="0"/>
              </a:rPr>
              <a:t>mongo --port 37017</a:t>
            </a:r>
          </a:p>
          <a:p>
            <a:pPr lvl="1">
              <a:buNone/>
            </a:pPr>
            <a:r>
              <a:rPr lang="en-US" sz="1800" dirty="0" err="1" smtClean="0">
                <a:latin typeface="Consolas" pitchFamily="49" charset="0"/>
              </a:rPr>
              <a:t>config</a:t>
            </a:r>
            <a:r>
              <a:rPr lang="en-US" sz="1800" dirty="0" smtClean="0">
                <a:latin typeface="Consolas" pitchFamily="49" charset="0"/>
              </a:rPr>
              <a:t> = { _id: "s0", members:[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          { _id : 0, host : "localhost:37017" },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          { _id : 1, host : "localhost:37018" },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          { _id : 2, host : "localhost:37019" }]};</a:t>
            </a:r>
          </a:p>
          <a:p>
            <a:r>
              <a:rPr lang="en-US" sz="1800" dirty="0" err="1" smtClean="0">
                <a:latin typeface="Consolas" pitchFamily="49" charset="0"/>
              </a:rPr>
              <a:t>rs.initiate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config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r>
              <a:rPr lang="en-US" sz="1800" dirty="0" smtClean="0">
                <a:latin typeface="Consolas" pitchFamily="49" charset="0"/>
              </a:rPr>
              <a:t>exit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7138" y="4610100"/>
            <a:ext cx="41497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Start a Replica Set and Tell It That It Will Be shard1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latin typeface="Consolas" pitchFamily="49" charset="0"/>
              </a:rPr>
              <a:t>echo "starting servers for shard 1"</a:t>
            </a:r>
          </a:p>
          <a:p>
            <a:r>
              <a:rPr lang="en-US" sz="1600" dirty="0" err="1" smtClean="0">
                <a:latin typeface="Consolas" pitchFamily="49" charset="0"/>
              </a:rPr>
              <a:t>mkdir</a:t>
            </a:r>
            <a:r>
              <a:rPr lang="en-US" sz="1600" dirty="0" smtClean="0">
                <a:latin typeface="Consolas" pitchFamily="49" charset="0"/>
              </a:rPr>
              <a:t> -p /data/shard1/rs0 /data/shard1/rs1 /data/shard1/rs2</a:t>
            </a: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s1 --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"s1-r0.log"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/data/shard1/rs0 -port 47017 --fork –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s1 --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"s1-r1.log"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/data/shard1/rs1 --port 47018 --fork –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s1 --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"s1-r2.log"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/data/shard1/rs2 --port 47019 --fork –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echo "Configuring s1 replica set“</a:t>
            </a:r>
          </a:p>
          <a:p>
            <a:r>
              <a:rPr lang="en-US" sz="1600" dirty="0" smtClean="0">
                <a:latin typeface="Consolas" pitchFamily="49" charset="0"/>
              </a:rPr>
              <a:t>mongo --port 47017</a:t>
            </a:r>
          </a:p>
          <a:p>
            <a:pPr lvl="1">
              <a:buNone/>
            </a:pPr>
            <a:r>
              <a:rPr lang="en-US" sz="1200" dirty="0" err="1" smtClean="0">
                <a:latin typeface="Consolas" pitchFamily="49" charset="0"/>
              </a:rPr>
              <a:t>config</a:t>
            </a:r>
            <a:r>
              <a:rPr lang="en-US" sz="1200" dirty="0" smtClean="0">
                <a:latin typeface="Consolas" pitchFamily="49" charset="0"/>
              </a:rPr>
              <a:t> = { _id: "s1", members:[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    { _id : 0, host : "localhost:47017" },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    { _id : 1, host : "localhost:47018" },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    { _id : 2, host : "localhost:47019" }]};</a:t>
            </a:r>
          </a:p>
          <a:p>
            <a:r>
              <a:rPr lang="en-US" sz="1600" dirty="0" err="1" smtClean="0">
                <a:latin typeface="Consolas" pitchFamily="49" charset="0"/>
              </a:rPr>
              <a:t>rs.initiate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)</a:t>
            </a:r>
          </a:p>
          <a:p>
            <a:r>
              <a:rPr lang="en-US" sz="1600" dirty="0" smtClean="0">
                <a:latin typeface="Consolas" pitchFamily="49" charset="0"/>
              </a:rPr>
              <a:t>exit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4114800"/>
            <a:ext cx="36163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5. Start a Replica Set and Tell It That It Will Be shard2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latin typeface="Consolas" pitchFamily="49" charset="0"/>
              </a:rPr>
              <a:t>echo "starting servers for shard 2"</a:t>
            </a: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s2 --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"s2-r0.log"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/data/shard2/rs0 --port 57017 --fork --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s2 --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"s2-r1.log"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/data/shard2/rs1 --port 57018 --fork --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s2 --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"s2-r2.log"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/data/shard2/rs2 --port 57019 --fork --</a:t>
            </a:r>
            <a:r>
              <a:rPr lang="en-US" sz="1600" dirty="0" err="1" smtClean="0">
                <a:latin typeface="Consolas" pitchFamily="49" charset="0"/>
              </a:rPr>
              <a:t>shardsvr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echo "Configuring s2 replica set"</a:t>
            </a:r>
          </a:p>
          <a:p>
            <a:r>
              <a:rPr lang="en-US" sz="1600" dirty="0" smtClean="0">
                <a:latin typeface="Consolas" pitchFamily="49" charset="0"/>
              </a:rPr>
              <a:t>mongo --port 57017</a:t>
            </a:r>
          </a:p>
          <a:p>
            <a:pPr lvl="1">
              <a:buNone/>
            </a:pPr>
            <a:r>
              <a:rPr lang="en-US" sz="1200" dirty="0" err="1" smtClean="0">
                <a:latin typeface="Consolas" pitchFamily="49" charset="0"/>
              </a:rPr>
              <a:t>config</a:t>
            </a:r>
            <a:r>
              <a:rPr lang="en-US" sz="1200" dirty="0" smtClean="0">
                <a:latin typeface="Consolas" pitchFamily="49" charset="0"/>
              </a:rPr>
              <a:t> = { _id: "s2", members:[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{ _id : 0, host : "localhost:57017" },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{ _id : 1, host : "localhost:57018" },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{ _id : 2, host : "localhost:57019" }]};</a:t>
            </a:r>
          </a:p>
          <a:p>
            <a:r>
              <a:rPr lang="en-US" sz="1600" dirty="0" err="1" smtClean="0">
                <a:latin typeface="Consolas" pitchFamily="49" charset="0"/>
              </a:rPr>
              <a:t>rs.initiate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)</a:t>
            </a:r>
          </a:p>
          <a:p>
            <a:r>
              <a:rPr lang="en-US" sz="1600" dirty="0" smtClean="0">
                <a:latin typeface="Consolas" pitchFamily="49" charset="0"/>
              </a:rPr>
              <a:t>exit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3733800"/>
            <a:ext cx="36925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Start 3 </a:t>
            </a:r>
            <a:r>
              <a:rPr lang="en-US" dirty="0" err="1" smtClean="0"/>
              <a:t>Config</a:t>
            </a:r>
            <a:r>
              <a:rPr lang="en-US" dirty="0" smtClean="0"/>
              <a:t> 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latin typeface="Consolas" pitchFamily="49" charset="0"/>
              </a:rPr>
              <a:t>echo "Starting 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 servers"</a:t>
            </a:r>
          </a:p>
          <a:p>
            <a:r>
              <a:rPr lang="en-US" sz="1600" dirty="0" err="1" smtClean="0">
                <a:latin typeface="Consolas" pitchFamily="49" charset="0"/>
              </a:rPr>
              <a:t>mkdir</a:t>
            </a:r>
            <a:r>
              <a:rPr lang="en-US" sz="1600" dirty="0" smtClean="0">
                <a:latin typeface="Consolas" pitchFamily="49" charset="0"/>
              </a:rPr>
              <a:t> -p /data/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-a /data/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-b /data/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-c</a:t>
            </a: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csReplSet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"cfg-a.log"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-a --port 57040 --fork --</a:t>
            </a:r>
            <a:r>
              <a:rPr lang="en-US" sz="1600" dirty="0" err="1" smtClean="0">
                <a:latin typeface="Consolas" pitchFamily="49" charset="0"/>
              </a:rPr>
              <a:t>configsvr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csReplSet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"cfg-b.log"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-b --port 57041 --fork --</a:t>
            </a:r>
            <a:r>
              <a:rPr lang="en-US" sz="1600" dirty="0" err="1" smtClean="0">
                <a:latin typeface="Consolas" pitchFamily="49" charset="0"/>
              </a:rPr>
              <a:t>configsvr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err="1" smtClean="0">
                <a:latin typeface="Consolas" pitchFamily="49" charset="0"/>
              </a:rPr>
              <a:t>mongod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replSet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csReplSet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"cfg-c.log" --</a:t>
            </a:r>
            <a:r>
              <a:rPr lang="en-US" sz="1600" dirty="0" err="1" smtClean="0">
                <a:latin typeface="Consolas" pitchFamily="49" charset="0"/>
              </a:rPr>
              <a:t>dbpath</a:t>
            </a:r>
            <a:r>
              <a:rPr lang="en-US" sz="1600" dirty="0" smtClean="0">
                <a:latin typeface="Consolas" pitchFamily="49" charset="0"/>
              </a:rPr>
              <a:t> /data/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/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-c --port 57042 --fork --</a:t>
            </a:r>
            <a:r>
              <a:rPr lang="en-US" sz="1600" dirty="0" err="1" smtClean="0">
                <a:latin typeface="Consolas" pitchFamily="49" charset="0"/>
              </a:rPr>
              <a:t>configsvr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echo "Configuring configuration server replica set"</a:t>
            </a:r>
          </a:p>
          <a:p>
            <a:r>
              <a:rPr lang="en-US" sz="1600" dirty="0" smtClean="0">
                <a:latin typeface="Consolas" pitchFamily="49" charset="0"/>
              </a:rPr>
              <a:t>mongo --port 57040</a:t>
            </a:r>
          </a:p>
          <a:p>
            <a:pPr lvl="1">
              <a:buNone/>
            </a:pPr>
            <a:r>
              <a:rPr lang="en-US" sz="1200" dirty="0" err="1" smtClean="0">
                <a:latin typeface="Consolas" pitchFamily="49" charset="0"/>
              </a:rPr>
              <a:t>config</a:t>
            </a:r>
            <a:r>
              <a:rPr lang="en-US" sz="1200" dirty="0" smtClean="0">
                <a:latin typeface="Consolas" pitchFamily="49" charset="0"/>
              </a:rPr>
              <a:t> = { _id: "</a:t>
            </a:r>
            <a:r>
              <a:rPr lang="en-US" sz="1200" dirty="0" err="1" smtClean="0">
                <a:latin typeface="Consolas" pitchFamily="49" charset="0"/>
              </a:rPr>
              <a:t>csReplSet</a:t>
            </a:r>
            <a:r>
              <a:rPr lang="en-US" sz="1200" dirty="0" smtClean="0">
                <a:latin typeface="Consolas" pitchFamily="49" charset="0"/>
              </a:rPr>
              <a:t>", members:[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    { _id : 0, host : "localhost:57040" },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    { _id : 1, host : "localhost:57041" },</a:t>
            </a:r>
          </a:p>
          <a:p>
            <a:pPr lvl="1">
              <a:buNone/>
            </a:pPr>
            <a:r>
              <a:rPr lang="en-US" sz="1200" dirty="0" smtClean="0">
                <a:latin typeface="Consolas" pitchFamily="49" charset="0"/>
              </a:rPr>
              <a:t>          { _id : 2, host : "localhost:57042" }]};</a:t>
            </a:r>
          </a:p>
          <a:p>
            <a:r>
              <a:rPr lang="en-US" sz="1600" dirty="0" err="1" smtClean="0">
                <a:latin typeface="Consolas" pitchFamily="49" charset="0"/>
              </a:rPr>
              <a:t>rs.initiate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config</a:t>
            </a:r>
            <a:r>
              <a:rPr lang="en-US" sz="1600" dirty="0" smtClean="0">
                <a:latin typeface="Consolas" pitchFamily="49" charset="0"/>
              </a:rPr>
              <a:t>)</a:t>
            </a:r>
          </a:p>
          <a:p>
            <a:r>
              <a:rPr lang="en-US" sz="1600" dirty="0" smtClean="0">
                <a:latin typeface="Consolas" pitchFamily="49" charset="0"/>
              </a:rPr>
              <a:t>exit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4419600"/>
            <a:ext cx="36925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Start the </a:t>
            </a:r>
            <a:r>
              <a:rPr lang="en-US" dirty="0" err="1" smtClean="0"/>
              <a:t>mongos</a:t>
            </a:r>
            <a:r>
              <a:rPr lang="en-US" dirty="0" smtClean="0"/>
              <a:t> on Port 27017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err="1" smtClean="0">
                <a:latin typeface="Consolas" pitchFamily="49" charset="0"/>
              </a:rPr>
              <a:t>mongos</a:t>
            </a:r>
            <a:r>
              <a:rPr lang="en-US" sz="1600" dirty="0" smtClean="0">
                <a:latin typeface="Consolas" pitchFamily="49" charset="0"/>
              </a:rPr>
              <a:t> --</a:t>
            </a:r>
            <a:r>
              <a:rPr lang="en-US" sz="1600" dirty="0" err="1" smtClean="0">
                <a:latin typeface="Consolas" pitchFamily="49" charset="0"/>
              </a:rPr>
              <a:t>logpath</a:t>
            </a:r>
            <a:r>
              <a:rPr lang="en-US" sz="1600" dirty="0" smtClean="0">
                <a:latin typeface="Consolas" pitchFamily="49" charset="0"/>
              </a:rPr>
              <a:t> "mongos-1.log" --</a:t>
            </a:r>
            <a:r>
              <a:rPr lang="en-US" sz="1600" dirty="0" err="1" smtClean="0">
                <a:latin typeface="Consolas" pitchFamily="49" charset="0"/>
              </a:rPr>
              <a:t>configdb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csReplSet</a:t>
            </a:r>
            <a:r>
              <a:rPr lang="en-US" sz="1600" dirty="0" smtClean="0">
                <a:latin typeface="Consolas" pitchFamily="49" charset="0"/>
              </a:rPr>
              <a:t>/localhost:57040,localhost:57041,localhost:57042 --port 27017 --fork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Add shards and Enable </a:t>
            </a:r>
            <a:r>
              <a:rPr lang="en-US" dirty="0" err="1" smtClean="0"/>
              <a:t>sharding</a:t>
            </a:r>
            <a:r>
              <a:rPr lang="en-US" dirty="0" smtClean="0"/>
              <a:t> on the test 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mongo --port 27017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use admin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db.runCommand</a:t>
            </a:r>
            <a:r>
              <a:rPr lang="en-US" sz="1800" dirty="0" smtClean="0">
                <a:latin typeface="Consolas" pitchFamily="49" charset="0"/>
              </a:rPr>
              <a:t>( { </a:t>
            </a:r>
            <a:r>
              <a:rPr lang="en-US" sz="1800" dirty="0" err="1" smtClean="0">
                <a:latin typeface="Consolas" pitchFamily="49" charset="0"/>
              </a:rPr>
              <a:t>addshard</a:t>
            </a:r>
            <a:r>
              <a:rPr lang="en-US" sz="1800" dirty="0" smtClean="0">
                <a:latin typeface="Consolas" pitchFamily="49" charset="0"/>
              </a:rPr>
              <a:t> : "s0/localhost:37017" } );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db.runCommand</a:t>
            </a:r>
            <a:r>
              <a:rPr lang="en-US" sz="1800" dirty="0" smtClean="0">
                <a:latin typeface="Consolas" pitchFamily="49" charset="0"/>
              </a:rPr>
              <a:t>( { </a:t>
            </a:r>
            <a:r>
              <a:rPr lang="en-US" sz="1800" dirty="0" err="1" smtClean="0">
                <a:latin typeface="Consolas" pitchFamily="49" charset="0"/>
              </a:rPr>
              <a:t>addshard</a:t>
            </a:r>
            <a:r>
              <a:rPr lang="en-US" sz="1800" dirty="0" smtClean="0">
                <a:latin typeface="Consolas" pitchFamily="49" charset="0"/>
              </a:rPr>
              <a:t> : "s1/localhost:47017" } );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db.runCommand</a:t>
            </a:r>
            <a:r>
              <a:rPr lang="en-US" sz="1800" dirty="0" smtClean="0">
                <a:latin typeface="Consolas" pitchFamily="49" charset="0"/>
              </a:rPr>
              <a:t>( { </a:t>
            </a:r>
            <a:r>
              <a:rPr lang="en-US" sz="1800" dirty="0" err="1" smtClean="0">
                <a:latin typeface="Consolas" pitchFamily="49" charset="0"/>
              </a:rPr>
              <a:t>addshard</a:t>
            </a:r>
            <a:r>
              <a:rPr lang="en-US" sz="1800" dirty="0" smtClean="0">
                <a:latin typeface="Consolas" pitchFamily="49" charset="0"/>
              </a:rPr>
              <a:t> : "s2/localhost:57017" } );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db.runCommand</a:t>
            </a:r>
            <a:r>
              <a:rPr lang="en-US" sz="1800" dirty="0" smtClean="0">
                <a:latin typeface="Consolas" pitchFamily="49" charset="0"/>
              </a:rPr>
              <a:t>( { </a:t>
            </a:r>
            <a:r>
              <a:rPr lang="en-US" sz="1800" dirty="0" err="1" smtClean="0">
                <a:latin typeface="Consolas" pitchFamily="49" charset="0"/>
              </a:rPr>
              <a:t>enableSharding</a:t>
            </a:r>
            <a:r>
              <a:rPr lang="en-US" sz="1800" dirty="0" smtClean="0">
                <a:latin typeface="Consolas" pitchFamily="49" charset="0"/>
              </a:rPr>
              <a:t>: "test" } );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db.runCommand</a:t>
            </a:r>
            <a:r>
              <a:rPr lang="en-US" sz="1800" dirty="0" smtClean="0">
                <a:latin typeface="Consolas" pitchFamily="49" charset="0"/>
              </a:rPr>
              <a:t>( { </a:t>
            </a:r>
            <a:r>
              <a:rPr lang="en-US" sz="1800" dirty="0" err="1" smtClean="0">
                <a:latin typeface="Consolas" pitchFamily="49" charset="0"/>
              </a:rPr>
              <a:t>shardCollection</a:t>
            </a:r>
            <a:r>
              <a:rPr lang="en-US" sz="1800" dirty="0" smtClean="0">
                <a:latin typeface="Consolas" pitchFamily="49" charset="0"/>
              </a:rPr>
              <a:t>: "</a:t>
            </a:r>
            <a:r>
              <a:rPr lang="en-US" sz="1800" dirty="0" err="1" smtClean="0">
                <a:latin typeface="Consolas" pitchFamily="49" charset="0"/>
              </a:rPr>
              <a:t>test.users</a:t>
            </a:r>
            <a:r>
              <a:rPr lang="en-US" sz="1800" dirty="0" smtClean="0">
                <a:latin typeface="Consolas" pitchFamily="49" charset="0"/>
              </a:rPr>
              <a:t>", key: { "email": "hashed" } } );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Write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mongo --port 27017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use test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for (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=0;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&lt;100000;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++) {</a:t>
            </a:r>
            <a:r>
              <a:rPr lang="en-US" sz="2000" dirty="0" err="1" smtClean="0">
                <a:latin typeface="Consolas" pitchFamily="49" charset="0"/>
              </a:rPr>
              <a:t>db.users.insert</a:t>
            </a:r>
            <a:r>
              <a:rPr lang="en-US" sz="2000" dirty="0" smtClean="0">
                <a:latin typeface="Consolas" pitchFamily="49" charset="0"/>
              </a:rPr>
              <a:t>({"email": "email" +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, "password": "password" + 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})}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db.users.count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db.users.find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Verify </a:t>
            </a:r>
            <a:r>
              <a:rPr lang="en-US" dirty="0" err="1" smtClean="0"/>
              <a:t>Sharding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mongo --port 27017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db.users.getShardDistribution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endParaRPr lang="en-US" sz="2400" dirty="0" smtClean="0">
              <a:latin typeface="Consolas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276600"/>
            <a:ext cx="6283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7756</TotalTime>
  <Words>3391</Words>
  <Application>Microsoft Office PowerPoint</Application>
  <PresentationFormat>On-screen Show (4:3)</PresentationFormat>
  <Paragraphs>423</Paragraphs>
  <Slides>73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MongoDB</vt:lpstr>
      <vt:lpstr>Objectives</vt:lpstr>
      <vt:lpstr>Contents</vt:lpstr>
      <vt:lpstr>References</vt:lpstr>
      <vt:lpstr>Solving a Problem: The Hard Part</vt:lpstr>
      <vt:lpstr>Why Learn a New Tool?</vt:lpstr>
      <vt:lpstr>Identify a Concrete Problem</vt:lpstr>
      <vt:lpstr>Typical Procedure</vt:lpstr>
      <vt:lpstr>DB High Availability Example</vt:lpstr>
      <vt:lpstr>DB High Availability Approach</vt:lpstr>
      <vt:lpstr>DB Scalability Example</vt:lpstr>
      <vt:lpstr>DB Scalability Approach</vt:lpstr>
      <vt:lpstr>Slide 13</vt:lpstr>
      <vt:lpstr>1. Install MongoDB on Windows</vt:lpstr>
      <vt:lpstr>2. Test MongoDB Installation</vt:lpstr>
      <vt:lpstr>3. Start MongoDB Server</vt:lpstr>
      <vt:lpstr>4. Connect to a MongoDB Server</vt:lpstr>
      <vt:lpstr>5. Open MongoDB Compass</vt:lpstr>
      <vt:lpstr>6. Insert and Retrieve Data</vt:lpstr>
      <vt:lpstr>Slide 20</vt:lpstr>
      <vt:lpstr>1. Run MongoDB Container</vt:lpstr>
      <vt:lpstr>2. Run Mongo Express Container</vt:lpstr>
      <vt:lpstr>Slide 23</vt:lpstr>
      <vt:lpstr>1. Install MongoDB on Ubuntu</vt:lpstr>
      <vt:lpstr>2. Verify MongoDB Installation</vt:lpstr>
      <vt:lpstr>Slide 26</vt:lpstr>
      <vt:lpstr>1. Install MongoDB on macOS</vt:lpstr>
      <vt:lpstr>2. Verify MongoDB Installation</vt:lpstr>
      <vt:lpstr>Slide 29</vt:lpstr>
      <vt:lpstr>Documents [1]</vt:lpstr>
      <vt:lpstr>Collections</vt:lpstr>
      <vt:lpstr>Databases</vt:lpstr>
      <vt:lpstr>Working with Databases</vt:lpstr>
      <vt:lpstr>Working with Collections</vt:lpstr>
      <vt:lpstr>_id</vt:lpstr>
      <vt:lpstr>ObjectId</vt:lpstr>
      <vt:lpstr>Working with Documents (I)</vt:lpstr>
      <vt:lpstr>Working with Documents (II)</vt:lpstr>
      <vt:lpstr>Slide 39</vt:lpstr>
      <vt:lpstr>Programming</vt:lpstr>
      <vt:lpstr>Slide 41</vt:lpstr>
      <vt:lpstr>What is Replication? [1]</vt:lpstr>
      <vt:lpstr>Why Replication (I)</vt:lpstr>
      <vt:lpstr>Why Replication (II)</vt:lpstr>
      <vt:lpstr>1. Clean Everything Up</vt:lpstr>
      <vt:lpstr>2. Create Folders</vt:lpstr>
      <vt:lpstr>3. Start Servers on Windows</vt:lpstr>
      <vt:lpstr>3. Start Servers on Ubuntu</vt:lpstr>
      <vt:lpstr>4. Initiate a Replica Set</vt:lpstr>
      <vt:lpstr>5. Write Data</vt:lpstr>
      <vt:lpstr>6. Verify Data Replication</vt:lpstr>
      <vt:lpstr>7. Connect to a Replica Set</vt:lpstr>
      <vt:lpstr>Slide 53</vt:lpstr>
      <vt:lpstr>What is Sharding?</vt:lpstr>
      <vt:lpstr>Why Sharding?</vt:lpstr>
      <vt:lpstr>Why Not Manual Sharding?</vt:lpstr>
      <vt:lpstr>Why Autosharding?</vt:lpstr>
      <vt:lpstr>Routing Processes</vt:lpstr>
      <vt:lpstr>Config Servers</vt:lpstr>
      <vt:lpstr>Shard Key</vt:lpstr>
      <vt:lpstr>Chunks Distribution</vt:lpstr>
      <vt:lpstr>Hashed Shard Key</vt:lpstr>
      <vt:lpstr>1. Clean Everything Up</vt:lpstr>
      <vt:lpstr>2. Start a Replica Set and Tell It That It Will Be shard0</vt:lpstr>
      <vt:lpstr>3. Connect to One Server and Initiate The Set</vt:lpstr>
      <vt:lpstr>4. Start a Replica Set and Tell It That It Will Be shard1</vt:lpstr>
      <vt:lpstr>5. Start a Replica Set and Tell It That It Will Be shard2</vt:lpstr>
      <vt:lpstr>6. Start 3 Config Servers</vt:lpstr>
      <vt:lpstr>7. Start the mongos on Port 27017 </vt:lpstr>
      <vt:lpstr>8. Add shards and Enable sharding on the test db</vt:lpstr>
      <vt:lpstr>9. Write Data</vt:lpstr>
      <vt:lpstr>10. Verify Sharding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4367</cp:revision>
  <dcterms:created xsi:type="dcterms:W3CDTF">2007-10-06T08:25:13Z</dcterms:created>
  <dcterms:modified xsi:type="dcterms:W3CDTF">2025-04-17T19:01:48Z</dcterms:modified>
</cp:coreProperties>
</file>