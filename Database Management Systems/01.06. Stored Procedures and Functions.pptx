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2"/>
  </p:notesMasterIdLst>
  <p:handoutMasterIdLst>
    <p:handoutMasterId r:id="rId33"/>
  </p:handoutMasterIdLst>
  <p:sldIdLst>
    <p:sldId id="256" r:id="rId2"/>
    <p:sldId id="580" r:id="rId3"/>
    <p:sldId id="581" r:id="rId4"/>
    <p:sldId id="582" r:id="rId5"/>
    <p:sldId id="596" r:id="rId6"/>
    <p:sldId id="603" r:id="rId7"/>
    <p:sldId id="604" r:id="rId8"/>
    <p:sldId id="605" r:id="rId9"/>
    <p:sldId id="597" r:id="rId10"/>
    <p:sldId id="601" r:id="rId11"/>
    <p:sldId id="598" r:id="rId12"/>
    <p:sldId id="599" r:id="rId13"/>
    <p:sldId id="606" r:id="rId14"/>
    <p:sldId id="607" r:id="rId15"/>
    <p:sldId id="609" r:id="rId16"/>
    <p:sldId id="600" r:id="rId17"/>
    <p:sldId id="463" r:id="rId18"/>
    <p:sldId id="602" r:id="rId19"/>
    <p:sldId id="458" r:id="rId20"/>
    <p:sldId id="587" r:id="rId21"/>
    <p:sldId id="588" r:id="rId22"/>
    <p:sldId id="589" r:id="rId23"/>
    <p:sldId id="590" r:id="rId24"/>
    <p:sldId id="591" r:id="rId25"/>
    <p:sldId id="461" r:id="rId26"/>
    <p:sldId id="592" r:id="rId27"/>
    <p:sldId id="593" r:id="rId28"/>
    <p:sldId id="594" r:id="rId29"/>
    <p:sldId id="595" r:id="rId30"/>
    <p:sldId id="360" r:id="rId3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24" autoAdjust="0"/>
    <p:restoredTop sz="94667" autoAdjust="0"/>
  </p:normalViewPr>
  <p:slideViewPr>
    <p:cSldViewPr>
      <p:cViewPr>
        <p:scale>
          <a:sx n="50" d="100"/>
          <a:sy n="50" d="100"/>
        </p:scale>
        <p:origin x="-150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31727DC-2E8F-43B3-8355-CCE0B6704CEB}" type="datetimeFigureOut">
              <a:rPr lang="en-US" smtClean="0"/>
              <a:pPr/>
              <a:t>11/8/2024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D0B4380-3815-4B2E-92FA-ED1993E061BE}"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5A67CB-EC97-4A9C-AC01-CDE0E9628729}" type="datetimeFigureOut">
              <a:rPr lang="en-US" smtClean="0"/>
              <a:pPr/>
              <a:t>11/8/2024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4D21D0-87B8-43A2-A59B-A5690BBF949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57F6A842-585B-4FB8-B0AD-5A22636E93BF}" type="datetimeFigureOut">
              <a:rPr lang="en-US"/>
              <a:pPr>
                <a:defRPr/>
              </a:pPr>
              <a:t>11/8/2024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A757F44-DAAA-4BFA-A1D9-B690FD69F10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77CC13E-AA34-4DB7-B0EC-5E3AAA7D3BAC}" type="datetimeFigureOut">
              <a:rPr lang="en-US"/>
              <a:pPr>
                <a:defRPr/>
              </a:pPr>
              <a:t>11/8/2024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6F6660F-9FDB-4AFB-BE29-11A381729C2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5883334-71C9-49E2-A0BB-A043C182B878}" type="datetimeFigureOut">
              <a:rPr lang="en-US"/>
              <a:pPr>
                <a:defRPr/>
              </a:pPr>
              <a:t>11/8/2024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4F881E5-BD58-41FC-93AD-0A909108779A}"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5AC3020B-3D2A-4D8C-B5FF-4D6A024CBDE8}" type="datetimeFigureOut">
              <a:rPr lang="en-US"/>
              <a:pPr>
                <a:defRPr/>
              </a:pPr>
              <a:t>11/8/2024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908E1C0-584A-404B-B99A-E5AD89ACF00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DDB17DBA-E622-4CD1-BCA3-A03CD04FDCC6}" type="datetimeFigureOut">
              <a:rPr lang="en-US"/>
              <a:pPr>
                <a:defRPr/>
              </a:pPr>
              <a:t>11/8/2024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C9F4D90-9228-45C4-A427-06E557DE9CF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7491D3DF-EF49-4212-81A5-83E2D6EC0182}" type="datetimeFigureOut">
              <a:rPr lang="en-US"/>
              <a:pPr>
                <a:defRPr/>
              </a:pPr>
              <a:t>11/8/2024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5E97F0E-0BE9-471F-A7B8-4D2E909F9B3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0F86690-AF43-474E-AAC4-06B4786F7A5B}" type="datetimeFigureOut">
              <a:rPr lang="en-US"/>
              <a:pPr>
                <a:defRPr/>
              </a:pPr>
              <a:t>11/8/2024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C646AD9-6F95-4021-BF75-BF9B58A70F5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3CF0E39-78E2-4DE3-8C65-7CAB11F37A23}" type="datetimeFigureOut">
              <a:rPr lang="en-US"/>
              <a:pPr>
                <a:defRPr/>
              </a:pPr>
              <a:t>11/8/2024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4CF80FB-C1F7-4ADD-9C33-A8D7E6B4966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C12A139-0756-4DC4-8001-1DFC6C3458CC}" type="datetimeFigureOut">
              <a:rPr lang="en-US"/>
              <a:pPr>
                <a:defRPr/>
              </a:pPr>
              <a:t>11/8/2024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8795BAB-E1F5-4BBA-9D33-03EFE2F8DDA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E7FC515-BCDF-4B2C-80BB-863C58D176FB}" type="datetimeFigureOut">
              <a:rPr lang="en-US"/>
              <a:pPr>
                <a:defRPr/>
              </a:pPr>
              <a:t>11/8/2024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2C6CC5B-ED2C-42FF-AE49-898FC683E24F}"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62C8C39-B056-4409-B30D-266D32EB71C5}" type="datetimeFigureOut">
              <a:rPr lang="en-US"/>
              <a:pPr>
                <a:defRPr/>
              </a:pPr>
              <a:t>11/8/2024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8BD453D-B7C3-4D56-B8B4-B49BCBFB825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0B325272-1ED5-4E24-A128-8E8DEE352665}" type="datetimeFigureOut">
              <a:rPr lang="en-US"/>
              <a:pPr>
                <a:defRPr/>
              </a:pPr>
              <a:t>11/8/2024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F7590F4-D8FE-45EA-A958-7E45569A001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ocs.microsoft.com/en-us/sql/t-sql/functions/openrowset-transact-sq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www.sommarskog.se/arrays-in-sql-2005.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smtClean="0"/>
              <a:t>Stored Procedures and Functions</a:t>
            </a:r>
            <a:endParaRPr lang="en-US" sz="6000" dirty="0" smtClean="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marL="457200" indent="-457200">
              <a:buFont typeface="+mj-lt"/>
              <a:buAutoNum type="arabicPeriod"/>
            </a:pPr>
            <a:r>
              <a:rPr lang="en-US" sz="2400" dirty="0" smtClean="0"/>
              <a:t>Adam Jorgensen et al. (2012). Microsoft SQL Server 2012 Bible. Wiley.</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Stored Procedures</a:t>
            </a:r>
            <a:endParaRPr lang="en-US" dirty="0"/>
          </a:p>
        </p:txBody>
      </p:sp>
      <p:sp>
        <p:nvSpPr>
          <p:cNvPr id="3" name="Content Placeholder 2"/>
          <p:cNvSpPr>
            <a:spLocks noGrp="1"/>
          </p:cNvSpPr>
          <p:nvPr>
            <p:ph idx="1"/>
          </p:nvPr>
        </p:nvSpPr>
        <p:spPr/>
        <p:txBody>
          <a:bodyPr/>
          <a:lstStyle/>
          <a:p>
            <a:r>
              <a:rPr lang="en-US" sz="2400" dirty="0" smtClean="0"/>
              <a:t>Stored procedures are a way to </a:t>
            </a:r>
            <a:r>
              <a:rPr lang="en-US" sz="2400" i="1" dirty="0" smtClean="0">
                <a:solidFill>
                  <a:srgbClr val="C00000"/>
                </a:solidFill>
              </a:rPr>
              <a:t>store</a:t>
            </a:r>
            <a:r>
              <a:rPr lang="en-US" sz="2400" dirty="0" smtClean="0"/>
              <a:t> and </a:t>
            </a:r>
            <a:r>
              <a:rPr lang="en-US" sz="2400" i="1" dirty="0" smtClean="0">
                <a:solidFill>
                  <a:srgbClr val="C00000"/>
                </a:solidFill>
              </a:rPr>
              <a:t>reuse T-SQL code</a:t>
            </a:r>
            <a:r>
              <a:rPr lang="en-US" sz="2400" dirty="0" smtClean="0"/>
              <a:t> within the SQL Server Database Engine.</a:t>
            </a:r>
          </a:p>
          <a:p>
            <a:r>
              <a:rPr lang="en-US" sz="2400" dirty="0" smtClean="0"/>
              <a:t>The procedure is stored as an object within SQL Server, and when created, can be modified and executed with simple T-SQL commands.</a:t>
            </a:r>
            <a:endParaRPr lang="en-US" sz="2000" dirty="0" smtClean="0"/>
          </a:p>
          <a:p>
            <a:endParaRPr lang="en-US" sz="2400"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a:t>
            </a:r>
            <a:r>
              <a:rPr lang="en-US" dirty="0" smtClean="0"/>
              <a:t>Stored Procedure</a:t>
            </a:r>
            <a:endParaRPr lang="en-US" dirty="0"/>
          </a:p>
        </p:txBody>
      </p:sp>
      <p:sp>
        <p:nvSpPr>
          <p:cNvPr id="3" name="Content Placeholder 2"/>
          <p:cNvSpPr>
            <a:spLocks noGrp="1"/>
          </p:cNvSpPr>
          <p:nvPr>
            <p:ph idx="1"/>
          </p:nvPr>
        </p:nvSpPr>
        <p:spPr>
          <a:solidFill>
            <a:schemeClr val="bg1">
              <a:lumMod val="95000"/>
            </a:schemeClr>
          </a:solidFill>
        </p:spPr>
        <p:txBody>
          <a:bodyPr/>
          <a:lstStyle/>
          <a:p>
            <a:pPr>
              <a:buNone/>
            </a:pPr>
            <a:r>
              <a:rPr lang="en-US" sz="1600" dirty="0" smtClean="0">
                <a:solidFill>
                  <a:srgbClr val="0000FF"/>
                </a:solidFill>
                <a:latin typeface="Consolas"/>
              </a:rPr>
              <a:t>USE</a:t>
            </a:r>
            <a:r>
              <a:rPr lang="en-US" sz="1600" dirty="0" smtClean="0">
                <a:solidFill>
                  <a:srgbClr val="000000"/>
                </a:solidFill>
                <a:latin typeface="Consolas"/>
              </a:rPr>
              <a:t> AdventureWorks2016</a:t>
            </a:r>
          </a:p>
          <a:p>
            <a:pPr>
              <a:buNone/>
            </a:pPr>
            <a:r>
              <a:rPr lang="en-US" sz="1600" dirty="0" smtClean="0">
                <a:solidFill>
                  <a:srgbClr val="0000FF"/>
                </a:solidFill>
                <a:latin typeface="Consolas"/>
              </a:rPr>
              <a:t>GO</a:t>
            </a:r>
            <a:endParaRPr lang="en-US" sz="1600" dirty="0" smtClean="0">
              <a:solidFill>
                <a:srgbClr val="000000"/>
              </a:solidFill>
              <a:latin typeface="Consolas"/>
            </a:endParaRPr>
          </a:p>
          <a:p>
            <a:pPr>
              <a:buNone/>
            </a:pPr>
            <a:endParaRPr lang="en-US" sz="1600" dirty="0" smtClean="0">
              <a:solidFill>
                <a:srgbClr val="000000"/>
              </a:solidFill>
              <a:latin typeface="Consolas"/>
            </a:endParaRPr>
          </a:p>
          <a:p>
            <a:pPr>
              <a:buNone/>
            </a:pPr>
            <a:r>
              <a:rPr lang="en-US" sz="1600" dirty="0" smtClean="0">
                <a:solidFill>
                  <a:srgbClr val="0000FF"/>
                </a:solidFill>
                <a:latin typeface="Consolas"/>
              </a:rPr>
              <a:t>CREATE</a:t>
            </a:r>
            <a:r>
              <a:rPr lang="en-US" sz="1600" dirty="0" smtClean="0">
                <a:solidFill>
                  <a:srgbClr val="000000"/>
                </a:solidFill>
                <a:latin typeface="Consolas"/>
              </a:rPr>
              <a:t> </a:t>
            </a:r>
            <a:r>
              <a:rPr lang="en-US" sz="1600" dirty="0" smtClean="0">
                <a:solidFill>
                  <a:srgbClr val="0000FF"/>
                </a:solidFill>
                <a:latin typeface="Consolas"/>
              </a:rPr>
              <a:t>PROCEDURE</a:t>
            </a:r>
            <a:r>
              <a:rPr lang="en-US" sz="1600" dirty="0" smtClean="0">
                <a:solidFill>
                  <a:srgbClr val="000000"/>
                </a:solidFill>
                <a:latin typeface="Consolas"/>
              </a:rPr>
              <a:t> </a:t>
            </a:r>
            <a:r>
              <a:rPr lang="en-US" sz="1600" dirty="0" err="1" smtClean="0">
                <a:solidFill>
                  <a:srgbClr val="000000"/>
                </a:solidFill>
                <a:latin typeface="Consolas"/>
              </a:rPr>
              <a:t>Sales</a:t>
            </a:r>
            <a:r>
              <a:rPr lang="en-US" sz="1600" dirty="0" err="1" smtClean="0">
                <a:solidFill>
                  <a:srgbClr val="808080"/>
                </a:solidFill>
                <a:latin typeface="Consolas"/>
              </a:rPr>
              <a:t>.</a:t>
            </a:r>
            <a:r>
              <a:rPr lang="en-US" sz="1600" dirty="0" err="1" smtClean="0">
                <a:solidFill>
                  <a:srgbClr val="000000"/>
                </a:solidFill>
                <a:latin typeface="Consolas"/>
              </a:rPr>
              <a:t>uspGetCurrencyInformation</a:t>
            </a:r>
            <a:endParaRPr lang="en-US" sz="1600" dirty="0" smtClean="0">
              <a:solidFill>
                <a:srgbClr val="000000"/>
              </a:solidFill>
              <a:latin typeface="Consolas"/>
            </a:endParaRPr>
          </a:p>
          <a:p>
            <a:pPr>
              <a:buNone/>
            </a:pPr>
            <a:r>
              <a:rPr lang="en-US" sz="1600" dirty="0" smtClean="0">
                <a:solidFill>
                  <a:srgbClr val="0000FF"/>
                </a:solidFill>
                <a:latin typeface="Consolas"/>
              </a:rPr>
              <a:t>AS</a:t>
            </a:r>
            <a:endParaRPr lang="en-US" sz="1600" dirty="0" smtClean="0">
              <a:solidFill>
                <a:srgbClr val="000000"/>
              </a:solidFill>
              <a:latin typeface="Consolas"/>
            </a:endParaRPr>
          </a:p>
          <a:p>
            <a:pPr>
              <a:buNone/>
            </a:pPr>
            <a:endParaRPr lang="en-US" sz="1600" dirty="0" smtClean="0">
              <a:solidFill>
                <a:srgbClr val="000000"/>
              </a:solidFill>
              <a:latin typeface="Consolas"/>
            </a:endParaRPr>
          </a:p>
          <a:p>
            <a:pPr>
              <a:buNone/>
            </a:pPr>
            <a:r>
              <a:rPr lang="en-US" sz="1600" dirty="0" smtClean="0">
                <a:solidFill>
                  <a:srgbClr val="0000FF"/>
                </a:solidFill>
                <a:latin typeface="Consolas"/>
              </a:rPr>
              <a:t>SELECT</a:t>
            </a:r>
            <a:r>
              <a:rPr lang="en-US" sz="1600" dirty="0" smtClean="0">
                <a:solidFill>
                  <a:srgbClr val="000000"/>
                </a:solidFill>
                <a:latin typeface="Consolas"/>
              </a:rPr>
              <a:t> [</a:t>
            </a:r>
            <a:r>
              <a:rPr lang="en-US" sz="1600" dirty="0" err="1" smtClean="0">
                <a:solidFill>
                  <a:srgbClr val="000000"/>
                </a:solidFill>
                <a:latin typeface="Consolas"/>
              </a:rPr>
              <a:t>CurrencyCode</a:t>
            </a:r>
            <a:r>
              <a:rPr lang="en-US" sz="1600" dirty="0" smtClean="0">
                <a:solidFill>
                  <a:srgbClr val="000000"/>
                </a:solidFill>
                <a:latin typeface="Consolas"/>
              </a:rPr>
              <a:t>]</a:t>
            </a:r>
            <a:r>
              <a:rPr lang="en-US" sz="1600" dirty="0" smtClean="0">
                <a:solidFill>
                  <a:srgbClr val="808080"/>
                </a:solidFill>
                <a:latin typeface="Consolas"/>
              </a:rPr>
              <a:t>,</a:t>
            </a:r>
            <a:r>
              <a:rPr lang="en-US" sz="1600" dirty="0" smtClean="0">
                <a:solidFill>
                  <a:srgbClr val="000000"/>
                </a:solidFill>
                <a:latin typeface="Consolas"/>
              </a:rPr>
              <a:t> [Name]</a:t>
            </a:r>
          </a:p>
          <a:p>
            <a:pPr>
              <a:buNone/>
            </a:pPr>
            <a:r>
              <a:rPr lang="en-US" sz="1600" dirty="0" smtClean="0">
                <a:solidFill>
                  <a:srgbClr val="0000FF"/>
                </a:solidFill>
                <a:latin typeface="Consolas"/>
              </a:rPr>
              <a:t>FROM</a:t>
            </a:r>
            <a:r>
              <a:rPr lang="en-US" sz="1600" dirty="0" smtClean="0">
                <a:solidFill>
                  <a:srgbClr val="000000"/>
                </a:solidFill>
                <a:latin typeface="Consolas"/>
              </a:rPr>
              <a:t> </a:t>
            </a:r>
            <a:r>
              <a:rPr lang="en-US" sz="1600" dirty="0" err="1" smtClean="0">
                <a:solidFill>
                  <a:srgbClr val="000000"/>
                </a:solidFill>
                <a:latin typeface="Consolas"/>
              </a:rPr>
              <a:t>Sales</a:t>
            </a:r>
            <a:r>
              <a:rPr lang="en-US" sz="1600" dirty="0" err="1" smtClean="0">
                <a:solidFill>
                  <a:srgbClr val="808080"/>
                </a:solidFill>
                <a:latin typeface="Consolas"/>
              </a:rPr>
              <a:t>.</a:t>
            </a:r>
            <a:r>
              <a:rPr lang="en-US" sz="1600" dirty="0" err="1" smtClean="0">
                <a:solidFill>
                  <a:srgbClr val="000000"/>
                </a:solidFill>
                <a:latin typeface="Consolas"/>
              </a:rPr>
              <a:t>Currency</a:t>
            </a:r>
            <a:r>
              <a:rPr lang="en-US" sz="1600" dirty="0" smtClean="0">
                <a:solidFill>
                  <a:srgbClr val="808080"/>
                </a:solidFill>
                <a:latin typeface="Consolas"/>
              </a:rPr>
              <a:t>;</a:t>
            </a:r>
            <a:endParaRPr lang="en-US" sz="1600" dirty="0" smtClean="0">
              <a:solidFill>
                <a:srgbClr val="000000"/>
              </a:solidFill>
              <a:latin typeface="Consolas"/>
            </a:endParaRPr>
          </a:p>
          <a:p>
            <a:pPr>
              <a:buNone/>
            </a:pPr>
            <a:endParaRPr lang="en-US" sz="1600" dirty="0" smtClean="0">
              <a:solidFill>
                <a:srgbClr val="000000"/>
              </a:solidFill>
              <a:latin typeface="Consolas"/>
            </a:endParaRPr>
          </a:p>
          <a:p>
            <a:pPr>
              <a:buNone/>
            </a:pPr>
            <a:r>
              <a:rPr lang="en-US" sz="1600" dirty="0" smtClean="0">
                <a:solidFill>
                  <a:srgbClr val="0000FF"/>
                </a:solidFill>
                <a:latin typeface="Consolas"/>
              </a:rPr>
              <a:t>GO</a:t>
            </a:r>
            <a:endParaRPr lang="en-US" sz="1600" dirty="0" smtClean="0"/>
          </a:p>
        </p:txBody>
      </p:sp>
      <p:pic>
        <p:nvPicPr>
          <p:cNvPr id="2051" name="Picture 3"/>
          <p:cNvPicPr>
            <a:picLocks noChangeAspect="1" noChangeArrowheads="1"/>
          </p:cNvPicPr>
          <p:nvPr/>
        </p:nvPicPr>
        <p:blipFill>
          <a:blip r:embed="rId2" cstate="print"/>
          <a:srcRect/>
          <a:stretch>
            <a:fillRect/>
          </a:stretch>
        </p:blipFill>
        <p:spPr bwMode="auto">
          <a:xfrm>
            <a:off x="1981200" y="4191000"/>
            <a:ext cx="6689725" cy="231775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Execute </a:t>
            </a:r>
            <a:r>
              <a:rPr lang="en-US" dirty="0" smtClean="0"/>
              <a:t>Stored Procedure</a:t>
            </a:r>
            <a:endParaRPr lang="en-US" dirty="0"/>
          </a:p>
        </p:txBody>
      </p:sp>
      <p:sp>
        <p:nvSpPr>
          <p:cNvPr id="3" name="Content Placeholder 2"/>
          <p:cNvSpPr>
            <a:spLocks noGrp="1"/>
          </p:cNvSpPr>
          <p:nvPr>
            <p:ph idx="1"/>
          </p:nvPr>
        </p:nvSpPr>
        <p:spPr>
          <a:solidFill>
            <a:schemeClr val="bg1">
              <a:lumMod val="95000"/>
            </a:schemeClr>
          </a:solidFill>
        </p:spPr>
        <p:txBody>
          <a:bodyPr/>
          <a:lstStyle/>
          <a:p>
            <a:pPr>
              <a:buNone/>
            </a:pPr>
            <a:r>
              <a:rPr lang="en-US" sz="2200" dirty="0" err="1" smtClean="0">
                <a:solidFill>
                  <a:srgbClr val="000000"/>
                </a:solidFill>
                <a:latin typeface="Consolas"/>
              </a:rPr>
              <a:t>Sales</a:t>
            </a:r>
            <a:r>
              <a:rPr lang="en-US" sz="2200" dirty="0" err="1" smtClean="0">
                <a:solidFill>
                  <a:srgbClr val="808080"/>
                </a:solidFill>
                <a:latin typeface="Consolas"/>
              </a:rPr>
              <a:t>.</a:t>
            </a:r>
            <a:r>
              <a:rPr lang="en-US" sz="2200" dirty="0" err="1" smtClean="0">
                <a:solidFill>
                  <a:srgbClr val="000000"/>
                </a:solidFill>
                <a:latin typeface="Consolas"/>
              </a:rPr>
              <a:t>uspGetCurrencyInformation</a:t>
            </a:r>
            <a:r>
              <a:rPr lang="en-US" sz="2200" dirty="0" smtClean="0">
                <a:solidFill>
                  <a:srgbClr val="808080"/>
                </a:solidFill>
                <a:latin typeface="Consolas"/>
              </a:rPr>
              <a:t>;</a:t>
            </a:r>
            <a:endParaRPr lang="en-US" sz="2200" dirty="0" smtClean="0">
              <a:solidFill>
                <a:srgbClr val="000000"/>
              </a:solidFill>
              <a:latin typeface="Consolas"/>
            </a:endParaRPr>
          </a:p>
          <a:p>
            <a:pPr>
              <a:buNone/>
            </a:pPr>
            <a:r>
              <a:rPr lang="en-US" sz="2200" dirty="0" smtClean="0">
                <a:solidFill>
                  <a:srgbClr val="0000FF"/>
                </a:solidFill>
                <a:latin typeface="Consolas"/>
              </a:rPr>
              <a:t>EXECUTE</a:t>
            </a:r>
            <a:r>
              <a:rPr lang="en-US" sz="2200" dirty="0" smtClean="0">
                <a:solidFill>
                  <a:srgbClr val="000000"/>
                </a:solidFill>
                <a:latin typeface="Consolas"/>
              </a:rPr>
              <a:t> </a:t>
            </a:r>
            <a:r>
              <a:rPr lang="en-US" sz="2200" dirty="0" err="1" smtClean="0">
                <a:solidFill>
                  <a:srgbClr val="000000"/>
                </a:solidFill>
                <a:latin typeface="Consolas"/>
              </a:rPr>
              <a:t>Sales</a:t>
            </a:r>
            <a:r>
              <a:rPr lang="en-US" sz="2200" dirty="0" err="1" smtClean="0">
                <a:solidFill>
                  <a:srgbClr val="808080"/>
                </a:solidFill>
                <a:latin typeface="Consolas"/>
              </a:rPr>
              <a:t>.</a:t>
            </a:r>
            <a:r>
              <a:rPr lang="en-US" sz="2200" dirty="0" err="1" smtClean="0">
                <a:solidFill>
                  <a:srgbClr val="000000"/>
                </a:solidFill>
                <a:latin typeface="Consolas"/>
              </a:rPr>
              <a:t>uspGetCurrencyInformation</a:t>
            </a:r>
            <a:r>
              <a:rPr lang="en-US" sz="2200" dirty="0" smtClean="0">
                <a:solidFill>
                  <a:srgbClr val="808080"/>
                </a:solidFill>
                <a:latin typeface="Consolas"/>
              </a:rPr>
              <a:t>;</a:t>
            </a:r>
            <a:endParaRPr lang="en-US" sz="2200" dirty="0" smtClean="0">
              <a:solidFill>
                <a:srgbClr val="000000"/>
              </a:solidFill>
              <a:latin typeface="Consolas"/>
            </a:endParaRPr>
          </a:p>
          <a:p>
            <a:pPr>
              <a:buNone/>
            </a:pPr>
            <a:r>
              <a:rPr lang="en-US" sz="2200" dirty="0" smtClean="0">
                <a:solidFill>
                  <a:srgbClr val="0000FF"/>
                </a:solidFill>
                <a:latin typeface="Consolas"/>
              </a:rPr>
              <a:t>EXEC</a:t>
            </a:r>
            <a:r>
              <a:rPr lang="en-US" sz="2200" dirty="0" smtClean="0">
                <a:solidFill>
                  <a:srgbClr val="000000"/>
                </a:solidFill>
                <a:latin typeface="Consolas"/>
              </a:rPr>
              <a:t> </a:t>
            </a:r>
            <a:r>
              <a:rPr lang="en-US" sz="2200" dirty="0" err="1" smtClean="0">
                <a:solidFill>
                  <a:srgbClr val="000000"/>
                </a:solidFill>
                <a:latin typeface="Consolas"/>
              </a:rPr>
              <a:t>Sales</a:t>
            </a:r>
            <a:r>
              <a:rPr lang="en-US" sz="2200" dirty="0" err="1" smtClean="0">
                <a:solidFill>
                  <a:srgbClr val="808080"/>
                </a:solidFill>
                <a:latin typeface="Consolas"/>
              </a:rPr>
              <a:t>.</a:t>
            </a:r>
            <a:r>
              <a:rPr lang="en-US" sz="2200" dirty="0" err="1" smtClean="0">
                <a:solidFill>
                  <a:srgbClr val="000000"/>
                </a:solidFill>
                <a:latin typeface="Consolas"/>
              </a:rPr>
              <a:t>uspGetCurrencyInformation</a:t>
            </a:r>
            <a:r>
              <a:rPr lang="en-US" sz="2200" dirty="0" smtClean="0">
                <a:solidFill>
                  <a:srgbClr val="808080"/>
                </a:solidFill>
                <a:latin typeface="Consolas"/>
              </a:rPr>
              <a:t>;</a:t>
            </a:r>
            <a:endParaRPr lang="en-US" sz="2200" dirty="0" smtClean="0"/>
          </a:p>
        </p:txBody>
      </p:sp>
      <p:pic>
        <p:nvPicPr>
          <p:cNvPr id="1028" name="Picture 4"/>
          <p:cNvPicPr>
            <a:picLocks noChangeAspect="1" noChangeArrowheads="1"/>
          </p:cNvPicPr>
          <p:nvPr/>
        </p:nvPicPr>
        <p:blipFill>
          <a:blip r:embed="rId2" cstate="print"/>
          <a:srcRect/>
          <a:stretch>
            <a:fillRect/>
          </a:stretch>
        </p:blipFill>
        <p:spPr bwMode="auto">
          <a:xfrm>
            <a:off x="1135063" y="3079750"/>
            <a:ext cx="6873875" cy="301625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Create </a:t>
            </a:r>
            <a:r>
              <a:rPr lang="en-US" dirty="0" smtClean="0"/>
              <a:t>SP with Input Parameters</a:t>
            </a:r>
            <a:endParaRPr lang="en-US" dirty="0"/>
          </a:p>
        </p:txBody>
      </p:sp>
      <p:sp>
        <p:nvSpPr>
          <p:cNvPr id="3" name="Content Placeholder 2"/>
          <p:cNvSpPr>
            <a:spLocks noGrp="1"/>
          </p:cNvSpPr>
          <p:nvPr>
            <p:ph idx="1"/>
          </p:nvPr>
        </p:nvSpPr>
        <p:spPr>
          <a:solidFill>
            <a:schemeClr val="bg1">
              <a:lumMod val="95000"/>
            </a:schemeClr>
          </a:solidFill>
        </p:spPr>
        <p:txBody>
          <a:bodyPr/>
          <a:lstStyle/>
          <a:p>
            <a:pPr>
              <a:buNone/>
            </a:pPr>
            <a:r>
              <a:rPr lang="en-US" sz="1600" dirty="0" smtClean="0">
                <a:solidFill>
                  <a:srgbClr val="0000FF"/>
                </a:solidFill>
                <a:latin typeface="Consolas"/>
              </a:rPr>
              <a:t>USE</a:t>
            </a:r>
            <a:r>
              <a:rPr lang="en-US" sz="1600" dirty="0" smtClean="0">
                <a:solidFill>
                  <a:srgbClr val="000000"/>
                </a:solidFill>
                <a:latin typeface="Consolas"/>
              </a:rPr>
              <a:t> AdventureWorks2016</a:t>
            </a:r>
          </a:p>
          <a:p>
            <a:pPr>
              <a:buNone/>
            </a:pPr>
            <a:r>
              <a:rPr lang="en-US" sz="1600" dirty="0" smtClean="0">
                <a:solidFill>
                  <a:srgbClr val="0000FF"/>
                </a:solidFill>
                <a:latin typeface="Consolas"/>
              </a:rPr>
              <a:t>GO</a:t>
            </a:r>
            <a:endParaRPr lang="en-US" sz="1600" dirty="0" smtClean="0">
              <a:solidFill>
                <a:srgbClr val="000000"/>
              </a:solidFill>
              <a:latin typeface="Consolas"/>
            </a:endParaRPr>
          </a:p>
          <a:p>
            <a:pPr>
              <a:buNone/>
            </a:pPr>
            <a:r>
              <a:rPr lang="en-US" sz="1600" dirty="0" smtClean="0">
                <a:solidFill>
                  <a:srgbClr val="0000FF"/>
                </a:solidFill>
                <a:latin typeface="Consolas"/>
              </a:rPr>
              <a:t>DROP</a:t>
            </a:r>
            <a:r>
              <a:rPr lang="en-US" sz="1600" dirty="0" smtClean="0">
                <a:solidFill>
                  <a:srgbClr val="000000"/>
                </a:solidFill>
                <a:latin typeface="Consolas"/>
              </a:rPr>
              <a:t> </a:t>
            </a:r>
            <a:r>
              <a:rPr lang="en-US" sz="1600" dirty="0" smtClean="0">
                <a:solidFill>
                  <a:srgbClr val="0000FF"/>
                </a:solidFill>
                <a:latin typeface="Consolas"/>
              </a:rPr>
              <a:t>PROCEDURE</a:t>
            </a:r>
            <a:r>
              <a:rPr lang="en-US" sz="1600" dirty="0" smtClean="0">
                <a:solidFill>
                  <a:srgbClr val="000000"/>
                </a:solidFill>
                <a:latin typeface="Consolas"/>
              </a:rPr>
              <a:t> [Sales]</a:t>
            </a:r>
            <a:r>
              <a:rPr lang="en-US" sz="1600" dirty="0" smtClean="0">
                <a:solidFill>
                  <a:srgbClr val="808080"/>
                </a:solidFill>
                <a:latin typeface="Consolas"/>
              </a:rPr>
              <a:t>.</a:t>
            </a:r>
            <a:r>
              <a:rPr lang="en-US" sz="1600" dirty="0" smtClean="0">
                <a:solidFill>
                  <a:srgbClr val="000000"/>
                </a:solidFill>
                <a:latin typeface="Consolas"/>
              </a:rPr>
              <a:t>[</a:t>
            </a:r>
            <a:r>
              <a:rPr lang="en-US" sz="1600" dirty="0" err="1" smtClean="0">
                <a:solidFill>
                  <a:srgbClr val="000000"/>
                </a:solidFill>
                <a:latin typeface="Consolas"/>
              </a:rPr>
              <a:t>uspGetCurrencyInformation</a:t>
            </a:r>
            <a:r>
              <a:rPr lang="en-US" sz="1600" dirty="0" smtClean="0">
                <a:solidFill>
                  <a:srgbClr val="000000"/>
                </a:solidFill>
                <a:latin typeface="Consolas"/>
              </a:rPr>
              <a:t>]</a:t>
            </a:r>
          </a:p>
          <a:p>
            <a:pPr>
              <a:buNone/>
            </a:pPr>
            <a:r>
              <a:rPr lang="en-US" sz="1600" dirty="0" smtClean="0">
                <a:solidFill>
                  <a:srgbClr val="0000FF"/>
                </a:solidFill>
                <a:latin typeface="Consolas"/>
              </a:rPr>
              <a:t>GO</a:t>
            </a:r>
            <a:endParaRPr lang="en-US" sz="1600" dirty="0" smtClean="0">
              <a:solidFill>
                <a:srgbClr val="000000"/>
              </a:solidFill>
              <a:latin typeface="Consolas"/>
            </a:endParaRPr>
          </a:p>
          <a:p>
            <a:pPr>
              <a:buNone/>
            </a:pPr>
            <a:endParaRPr lang="en-US" sz="1600" dirty="0" smtClean="0">
              <a:solidFill>
                <a:srgbClr val="000000"/>
              </a:solidFill>
              <a:latin typeface="Consolas"/>
            </a:endParaRPr>
          </a:p>
          <a:p>
            <a:pPr>
              <a:buNone/>
            </a:pPr>
            <a:r>
              <a:rPr lang="en-US" sz="1600" dirty="0" smtClean="0">
                <a:solidFill>
                  <a:srgbClr val="0000FF"/>
                </a:solidFill>
                <a:latin typeface="Consolas"/>
              </a:rPr>
              <a:t>CREATE</a:t>
            </a:r>
            <a:r>
              <a:rPr lang="en-US" sz="1600" dirty="0" smtClean="0">
                <a:solidFill>
                  <a:srgbClr val="000000"/>
                </a:solidFill>
                <a:latin typeface="Consolas"/>
              </a:rPr>
              <a:t> </a:t>
            </a:r>
            <a:r>
              <a:rPr lang="en-US" sz="1600" dirty="0" smtClean="0">
                <a:solidFill>
                  <a:srgbClr val="0000FF"/>
                </a:solidFill>
                <a:latin typeface="Consolas"/>
              </a:rPr>
              <a:t>PROCEDURE</a:t>
            </a:r>
            <a:r>
              <a:rPr lang="en-US" sz="1600" dirty="0" smtClean="0">
                <a:solidFill>
                  <a:srgbClr val="000000"/>
                </a:solidFill>
                <a:latin typeface="Consolas"/>
              </a:rPr>
              <a:t> [Sales]</a:t>
            </a:r>
            <a:r>
              <a:rPr lang="en-US" sz="1600" dirty="0" smtClean="0">
                <a:solidFill>
                  <a:srgbClr val="808080"/>
                </a:solidFill>
                <a:latin typeface="Consolas"/>
              </a:rPr>
              <a:t>.</a:t>
            </a:r>
            <a:r>
              <a:rPr lang="en-US" sz="1600" dirty="0" smtClean="0">
                <a:solidFill>
                  <a:srgbClr val="000000"/>
                </a:solidFill>
                <a:latin typeface="Consolas"/>
              </a:rPr>
              <a:t>[</a:t>
            </a:r>
            <a:r>
              <a:rPr lang="en-US" sz="1600" dirty="0" err="1" smtClean="0">
                <a:solidFill>
                  <a:srgbClr val="000000"/>
                </a:solidFill>
                <a:latin typeface="Consolas"/>
              </a:rPr>
              <a:t>uspGetCurrencyInformation</a:t>
            </a:r>
            <a:r>
              <a:rPr lang="en-US" sz="1600" dirty="0" smtClean="0">
                <a:solidFill>
                  <a:srgbClr val="000000"/>
                </a:solidFill>
                <a:latin typeface="Consolas"/>
              </a:rPr>
              <a:t>]</a:t>
            </a:r>
          </a:p>
          <a:p>
            <a:pPr>
              <a:buNone/>
            </a:pPr>
            <a:r>
              <a:rPr lang="en-US" sz="1600" dirty="0" smtClean="0">
                <a:solidFill>
                  <a:srgbClr val="000000"/>
                </a:solidFill>
                <a:latin typeface="Consolas"/>
              </a:rPr>
              <a:t>@</a:t>
            </a:r>
            <a:r>
              <a:rPr lang="en-US" sz="1600" dirty="0" err="1" smtClean="0">
                <a:solidFill>
                  <a:srgbClr val="000000"/>
                </a:solidFill>
                <a:latin typeface="Consolas"/>
              </a:rPr>
              <a:t>CurrencyCode</a:t>
            </a:r>
            <a:r>
              <a:rPr lang="en-US" sz="1600" dirty="0" smtClean="0">
                <a:solidFill>
                  <a:srgbClr val="000000"/>
                </a:solidFill>
                <a:latin typeface="Consolas"/>
              </a:rPr>
              <a:t> </a:t>
            </a:r>
            <a:r>
              <a:rPr lang="en-US" sz="1600" dirty="0" smtClean="0">
                <a:solidFill>
                  <a:srgbClr val="0000FF"/>
                </a:solidFill>
                <a:latin typeface="Consolas"/>
              </a:rPr>
              <a:t>char</a:t>
            </a:r>
            <a:r>
              <a:rPr lang="en-US" sz="1600" dirty="0" smtClean="0">
                <a:solidFill>
                  <a:srgbClr val="808080"/>
                </a:solidFill>
                <a:latin typeface="Consolas"/>
              </a:rPr>
              <a:t>(</a:t>
            </a:r>
            <a:r>
              <a:rPr lang="en-US" sz="1600" dirty="0" smtClean="0">
                <a:solidFill>
                  <a:srgbClr val="000000"/>
                </a:solidFill>
                <a:latin typeface="Consolas"/>
              </a:rPr>
              <a:t>3</a:t>
            </a:r>
            <a:r>
              <a:rPr lang="en-US" sz="1600" dirty="0" smtClean="0">
                <a:solidFill>
                  <a:srgbClr val="808080"/>
                </a:solidFill>
                <a:latin typeface="Consolas"/>
              </a:rPr>
              <a:t>)</a:t>
            </a:r>
            <a:endParaRPr lang="en-US" sz="1600" dirty="0" smtClean="0">
              <a:solidFill>
                <a:srgbClr val="000000"/>
              </a:solidFill>
              <a:latin typeface="Consolas"/>
            </a:endParaRPr>
          </a:p>
          <a:p>
            <a:pPr>
              <a:buNone/>
            </a:pPr>
            <a:r>
              <a:rPr lang="en-US" sz="1600" dirty="0" smtClean="0">
                <a:solidFill>
                  <a:srgbClr val="0000FF"/>
                </a:solidFill>
                <a:latin typeface="Consolas"/>
              </a:rPr>
              <a:t>AS</a:t>
            </a:r>
            <a:endParaRPr lang="en-US" sz="1600" dirty="0" smtClean="0">
              <a:solidFill>
                <a:srgbClr val="000000"/>
              </a:solidFill>
              <a:latin typeface="Consolas"/>
            </a:endParaRPr>
          </a:p>
          <a:p>
            <a:pPr>
              <a:buNone/>
            </a:pPr>
            <a:r>
              <a:rPr lang="en-US" sz="1600" dirty="0" smtClean="0">
                <a:solidFill>
                  <a:srgbClr val="0000FF"/>
                </a:solidFill>
                <a:latin typeface="Consolas"/>
              </a:rPr>
              <a:t>SELECT</a:t>
            </a:r>
            <a:r>
              <a:rPr lang="en-US" sz="1600" dirty="0" smtClean="0">
                <a:solidFill>
                  <a:srgbClr val="000000"/>
                </a:solidFill>
                <a:latin typeface="Consolas"/>
              </a:rPr>
              <a:t> </a:t>
            </a:r>
            <a:r>
              <a:rPr lang="en-US" sz="1600" dirty="0" err="1" smtClean="0">
                <a:solidFill>
                  <a:srgbClr val="000000"/>
                </a:solidFill>
                <a:latin typeface="Consolas"/>
              </a:rPr>
              <a:t>CurrencyCode</a:t>
            </a:r>
            <a:r>
              <a:rPr lang="en-US" sz="1600" dirty="0" smtClean="0">
                <a:solidFill>
                  <a:srgbClr val="808080"/>
                </a:solidFill>
                <a:latin typeface="Consolas"/>
              </a:rPr>
              <a:t>,</a:t>
            </a:r>
            <a:r>
              <a:rPr lang="en-US" sz="1600" dirty="0" smtClean="0">
                <a:solidFill>
                  <a:srgbClr val="000000"/>
                </a:solidFill>
                <a:latin typeface="Consolas"/>
              </a:rPr>
              <a:t> </a:t>
            </a:r>
            <a:r>
              <a:rPr lang="en-US" sz="1600" dirty="0" smtClean="0">
                <a:solidFill>
                  <a:srgbClr val="0000FF"/>
                </a:solidFill>
                <a:latin typeface="Consolas"/>
              </a:rPr>
              <a:t>Name</a:t>
            </a:r>
            <a:endParaRPr lang="en-US" sz="1600" dirty="0" smtClean="0">
              <a:solidFill>
                <a:srgbClr val="000000"/>
              </a:solidFill>
              <a:latin typeface="Consolas"/>
            </a:endParaRPr>
          </a:p>
          <a:p>
            <a:pPr>
              <a:buNone/>
            </a:pPr>
            <a:r>
              <a:rPr lang="en-US" sz="1600" dirty="0" smtClean="0">
                <a:solidFill>
                  <a:srgbClr val="0000FF"/>
                </a:solidFill>
                <a:latin typeface="Consolas"/>
              </a:rPr>
              <a:t>FROM</a:t>
            </a:r>
            <a:r>
              <a:rPr lang="en-US" sz="1600" dirty="0" smtClean="0">
                <a:solidFill>
                  <a:srgbClr val="000000"/>
                </a:solidFill>
                <a:latin typeface="Consolas"/>
              </a:rPr>
              <a:t> </a:t>
            </a:r>
            <a:r>
              <a:rPr lang="en-US" sz="1600" dirty="0" err="1" smtClean="0">
                <a:solidFill>
                  <a:srgbClr val="000000"/>
                </a:solidFill>
                <a:latin typeface="Consolas"/>
              </a:rPr>
              <a:t>Sales</a:t>
            </a:r>
            <a:r>
              <a:rPr lang="en-US" sz="1600" dirty="0" err="1" smtClean="0">
                <a:solidFill>
                  <a:srgbClr val="808080"/>
                </a:solidFill>
                <a:latin typeface="Consolas"/>
              </a:rPr>
              <a:t>.</a:t>
            </a:r>
            <a:r>
              <a:rPr lang="en-US" sz="1600" dirty="0" err="1" smtClean="0">
                <a:solidFill>
                  <a:srgbClr val="000000"/>
                </a:solidFill>
                <a:latin typeface="Consolas"/>
              </a:rPr>
              <a:t>Currency</a:t>
            </a:r>
            <a:endParaRPr lang="en-US" sz="1600" dirty="0" smtClean="0">
              <a:solidFill>
                <a:srgbClr val="000000"/>
              </a:solidFill>
              <a:latin typeface="Consolas"/>
            </a:endParaRPr>
          </a:p>
          <a:p>
            <a:pPr>
              <a:buNone/>
            </a:pPr>
            <a:r>
              <a:rPr lang="en-US" sz="1600" dirty="0" smtClean="0">
                <a:solidFill>
                  <a:srgbClr val="0000FF"/>
                </a:solidFill>
                <a:latin typeface="Consolas"/>
              </a:rPr>
              <a:t>WHERE</a:t>
            </a:r>
            <a:r>
              <a:rPr lang="en-US" sz="1600" dirty="0" smtClean="0">
                <a:solidFill>
                  <a:srgbClr val="000000"/>
                </a:solidFill>
                <a:latin typeface="Consolas"/>
              </a:rPr>
              <a:t> </a:t>
            </a:r>
            <a:r>
              <a:rPr lang="en-US" sz="1600" dirty="0" err="1" smtClean="0">
                <a:solidFill>
                  <a:srgbClr val="000000"/>
                </a:solidFill>
                <a:latin typeface="Consolas"/>
              </a:rPr>
              <a:t>CurrencyCode</a:t>
            </a:r>
            <a:r>
              <a:rPr lang="en-US" sz="1600" dirty="0" smtClean="0">
                <a:solidFill>
                  <a:srgbClr val="000000"/>
                </a:solidFill>
                <a:latin typeface="Consolas"/>
              </a:rPr>
              <a:t> </a:t>
            </a:r>
            <a:r>
              <a:rPr lang="en-US" sz="1600" dirty="0" smtClean="0">
                <a:solidFill>
                  <a:srgbClr val="808080"/>
                </a:solidFill>
                <a:latin typeface="Consolas"/>
              </a:rPr>
              <a:t>=</a:t>
            </a:r>
            <a:r>
              <a:rPr lang="en-US" sz="1600" dirty="0" smtClean="0">
                <a:solidFill>
                  <a:srgbClr val="000000"/>
                </a:solidFill>
                <a:latin typeface="Consolas"/>
              </a:rPr>
              <a:t> @</a:t>
            </a:r>
            <a:r>
              <a:rPr lang="en-US" sz="1600" dirty="0" err="1" smtClean="0">
                <a:solidFill>
                  <a:srgbClr val="000000"/>
                </a:solidFill>
                <a:latin typeface="Consolas"/>
              </a:rPr>
              <a:t>CurrencyCode</a:t>
            </a:r>
            <a:r>
              <a:rPr lang="en-US" sz="1600" dirty="0" smtClean="0">
                <a:solidFill>
                  <a:srgbClr val="808080"/>
                </a:solidFill>
                <a:latin typeface="Consolas"/>
              </a:rPr>
              <a:t>;</a:t>
            </a:r>
            <a:endParaRPr lang="en-US" sz="1600" dirty="0" smtClean="0">
              <a:solidFill>
                <a:srgbClr val="000000"/>
              </a:solidFill>
              <a:latin typeface="Consolas"/>
            </a:endParaRPr>
          </a:p>
          <a:p>
            <a:pPr>
              <a:buNone/>
            </a:pPr>
            <a:r>
              <a:rPr lang="en-US" sz="1600" dirty="0" smtClean="0">
                <a:solidFill>
                  <a:srgbClr val="0000FF"/>
                </a:solidFill>
                <a:latin typeface="Consolas"/>
              </a:rPr>
              <a:t>GO</a:t>
            </a:r>
            <a:endParaRPr lang="en-US" sz="1600" dirty="0" smtClean="0">
              <a:solidFill>
                <a:srgbClr val="000000"/>
              </a:solidFill>
              <a:latin typeface="Consolas"/>
            </a:endParaRPr>
          </a:p>
          <a:p>
            <a:pPr>
              <a:buNone/>
            </a:pPr>
            <a:endParaRPr lang="en-US" sz="1600" dirty="0" smtClean="0">
              <a:solidFill>
                <a:srgbClr val="000000"/>
              </a:solidFill>
              <a:latin typeface="Consolas"/>
            </a:endParaRPr>
          </a:p>
          <a:p>
            <a:pPr>
              <a:buNone/>
            </a:pPr>
            <a:r>
              <a:rPr lang="en-US" sz="1600" dirty="0" smtClean="0">
                <a:solidFill>
                  <a:srgbClr val="0000FF"/>
                </a:solidFill>
                <a:latin typeface="Consolas"/>
              </a:rPr>
              <a:t>EXECUTE</a:t>
            </a:r>
            <a:r>
              <a:rPr lang="en-US" sz="1600" dirty="0" smtClean="0">
                <a:solidFill>
                  <a:srgbClr val="000000"/>
                </a:solidFill>
                <a:latin typeface="Consolas"/>
              </a:rPr>
              <a:t> </a:t>
            </a:r>
            <a:r>
              <a:rPr lang="en-US" sz="1600" dirty="0" err="1" smtClean="0">
                <a:solidFill>
                  <a:srgbClr val="000000"/>
                </a:solidFill>
                <a:latin typeface="Consolas"/>
              </a:rPr>
              <a:t>Sales</a:t>
            </a:r>
            <a:r>
              <a:rPr lang="en-US" sz="1600" dirty="0" err="1" smtClean="0">
                <a:solidFill>
                  <a:srgbClr val="808080"/>
                </a:solidFill>
                <a:latin typeface="Consolas"/>
              </a:rPr>
              <a:t>.</a:t>
            </a:r>
            <a:r>
              <a:rPr lang="en-US" sz="1600" dirty="0" err="1" smtClean="0">
                <a:solidFill>
                  <a:srgbClr val="000000"/>
                </a:solidFill>
                <a:latin typeface="Consolas"/>
              </a:rPr>
              <a:t>uspGetCurrencyInformation</a:t>
            </a:r>
            <a:r>
              <a:rPr lang="en-US" sz="1600" dirty="0" smtClean="0">
                <a:solidFill>
                  <a:srgbClr val="0000FF"/>
                </a:solidFill>
                <a:latin typeface="Consolas"/>
              </a:rPr>
              <a:t> </a:t>
            </a:r>
            <a:r>
              <a:rPr lang="en-US" sz="1600" dirty="0" smtClean="0">
                <a:solidFill>
                  <a:srgbClr val="000000"/>
                </a:solidFill>
                <a:latin typeface="Consolas"/>
              </a:rPr>
              <a:t>@</a:t>
            </a:r>
            <a:r>
              <a:rPr lang="en-US" sz="1600" dirty="0" err="1" smtClean="0">
                <a:solidFill>
                  <a:srgbClr val="000000"/>
                </a:solidFill>
                <a:latin typeface="Consolas"/>
              </a:rPr>
              <a:t>CurrencyCode</a:t>
            </a:r>
            <a:r>
              <a:rPr lang="en-US" sz="1600" dirty="0" smtClean="0">
                <a:solidFill>
                  <a:srgbClr val="000000"/>
                </a:solidFill>
                <a:latin typeface="Consolas"/>
              </a:rPr>
              <a:t> </a:t>
            </a:r>
            <a:r>
              <a:rPr lang="en-US" sz="1600" dirty="0" smtClean="0">
                <a:solidFill>
                  <a:srgbClr val="808080"/>
                </a:solidFill>
                <a:latin typeface="Consolas"/>
              </a:rPr>
              <a:t>=</a:t>
            </a:r>
            <a:r>
              <a:rPr lang="en-US" sz="1600" dirty="0" smtClean="0">
                <a:solidFill>
                  <a:srgbClr val="000000"/>
                </a:solidFill>
                <a:latin typeface="Consolas"/>
              </a:rPr>
              <a:t> </a:t>
            </a:r>
            <a:r>
              <a:rPr lang="en-US" sz="1600" dirty="0" smtClean="0">
                <a:solidFill>
                  <a:srgbClr val="FF0000"/>
                </a:solidFill>
                <a:latin typeface="Consolas"/>
              </a:rPr>
              <a:t>'USD'</a:t>
            </a:r>
            <a:r>
              <a:rPr lang="en-US" sz="1600" dirty="0" smtClean="0">
                <a:solidFill>
                  <a:srgbClr val="808080"/>
                </a:solidFill>
                <a:latin typeface="Consolas"/>
              </a:rPr>
              <a:t>;</a:t>
            </a:r>
            <a:endParaRPr lang="en-US" sz="1600" dirty="0" smtClean="0">
              <a:solidFill>
                <a:srgbClr val="000000"/>
              </a:solidFill>
              <a:latin typeface="Consolas"/>
            </a:endParaRPr>
          </a:p>
          <a:p>
            <a:pPr>
              <a:buNone/>
            </a:pPr>
            <a:r>
              <a:rPr lang="en-US" sz="1600" dirty="0" smtClean="0">
                <a:solidFill>
                  <a:srgbClr val="0000FF"/>
                </a:solidFill>
                <a:latin typeface="Consolas"/>
              </a:rPr>
              <a:t>GO</a:t>
            </a:r>
            <a:endParaRPr lang="en-US" sz="1600" dirty="0" smtClean="0">
              <a:solidFill>
                <a:srgbClr val="000000"/>
              </a:solidFill>
              <a:latin typeface="Consolas"/>
            </a:endParaRPr>
          </a:p>
          <a:p>
            <a:pPr>
              <a:buNone/>
            </a:pPr>
            <a:endParaRPr lang="en-US" sz="1600"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Stored Procedures?</a:t>
            </a:r>
            <a:endParaRPr lang="en-US" dirty="0"/>
          </a:p>
        </p:txBody>
      </p:sp>
      <p:sp>
        <p:nvSpPr>
          <p:cNvPr id="3" name="Content Placeholder 2"/>
          <p:cNvSpPr>
            <a:spLocks noGrp="1"/>
          </p:cNvSpPr>
          <p:nvPr>
            <p:ph idx="1"/>
          </p:nvPr>
        </p:nvSpPr>
        <p:spPr/>
        <p:txBody>
          <a:bodyPr/>
          <a:lstStyle/>
          <a:p>
            <a:r>
              <a:rPr lang="en-US" sz="2000" i="1" dirty="0" smtClean="0">
                <a:solidFill>
                  <a:srgbClr val="C00000"/>
                </a:solidFill>
              </a:rPr>
              <a:t>Consistency</a:t>
            </a:r>
            <a:r>
              <a:rPr lang="en-US" sz="2000" dirty="0" smtClean="0"/>
              <a:t>: A stored procedure encapsulates one or more T-SQL statements, enabling it to be executed consistently across different areas of a system.</a:t>
            </a:r>
          </a:p>
          <a:p>
            <a:r>
              <a:rPr lang="en-US" sz="2000" i="1" dirty="0" smtClean="0">
                <a:solidFill>
                  <a:srgbClr val="C00000"/>
                </a:solidFill>
              </a:rPr>
              <a:t>Maintainability</a:t>
            </a:r>
            <a:r>
              <a:rPr lang="en-US" sz="2000" dirty="0" smtClean="0"/>
              <a:t>: Stored procedures are maintainable because they are modular and independent of the application or tool that they’re called from. Complex logic within a stored procedure can be modified with little to no impact on the application that calls it.</a:t>
            </a:r>
          </a:p>
          <a:p>
            <a:r>
              <a:rPr lang="en-US" sz="2000" i="1" dirty="0" smtClean="0">
                <a:solidFill>
                  <a:srgbClr val="C00000"/>
                </a:solidFill>
              </a:rPr>
              <a:t>Security</a:t>
            </a:r>
            <a:r>
              <a:rPr lang="en-US" sz="2000" dirty="0" smtClean="0"/>
              <a:t>: From a database perspective, the stored procedure is an object. This means that the ability to execute the procedure can be granted to specific users or groups. From an application perspective, stored procedures provide an opportunity to validate input to a T-SQL process before it is executed.</a:t>
            </a:r>
          </a:p>
          <a:p>
            <a:r>
              <a:rPr lang="en-US" sz="2000" i="1" dirty="0" smtClean="0">
                <a:solidFill>
                  <a:srgbClr val="C00000"/>
                </a:solidFill>
              </a:rPr>
              <a:t>Performance</a:t>
            </a:r>
            <a:r>
              <a:rPr lang="en-US" sz="2000" dirty="0" smtClean="0"/>
              <a:t>: Stored procedure execution is a server-side process. This means that no matter how complex the procedure, only one statement is sent over the network.</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User-Defined Functions [1]</a:t>
            </a:r>
            <a:endParaRPr lang="en-US" dirty="0"/>
          </a:p>
        </p:txBody>
      </p:sp>
      <p:sp>
        <p:nvSpPr>
          <p:cNvPr id="3" name="Content Placeholder 2"/>
          <p:cNvSpPr>
            <a:spLocks noGrp="1"/>
          </p:cNvSpPr>
          <p:nvPr>
            <p:ph idx="1"/>
          </p:nvPr>
        </p:nvSpPr>
        <p:spPr/>
        <p:txBody>
          <a:bodyPr/>
          <a:lstStyle/>
          <a:p>
            <a:r>
              <a:rPr lang="en-US" sz="2400" dirty="0" smtClean="0"/>
              <a:t>A UDF is a routine that accepts parameters, performs an action, and returns the result of that action.</a:t>
            </a:r>
          </a:p>
          <a:p>
            <a:r>
              <a:rPr lang="en-US" sz="2400" dirty="0" smtClean="0"/>
              <a:t>The result is either a scalar (single) value or a table.</a:t>
            </a:r>
          </a:p>
          <a:p>
            <a:r>
              <a:rPr lang="en-US" sz="2400" dirty="0" smtClean="0"/>
              <a:t>They can be used within the FROM clause of a SELECT statement or an expression.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Scalar Functions</a:t>
            </a:r>
            <a:endParaRPr lang="en-US" dirty="0"/>
          </a:p>
        </p:txBody>
      </p:sp>
      <p:sp>
        <p:nvSpPr>
          <p:cNvPr id="3" name="Content Placeholder 2"/>
          <p:cNvSpPr>
            <a:spLocks noGrp="1"/>
          </p:cNvSpPr>
          <p:nvPr>
            <p:ph idx="1"/>
          </p:nvPr>
        </p:nvSpPr>
        <p:spPr/>
        <p:txBody>
          <a:bodyPr/>
          <a:lstStyle/>
          <a:p>
            <a:r>
              <a:rPr lang="en-US" sz="2400" dirty="0" smtClean="0"/>
              <a:t>Scalar functions return a single value.</a:t>
            </a:r>
          </a:p>
          <a:p>
            <a:r>
              <a:rPr lang="en-US" sz="2400" dirty="0" smtClean="0"/>
              <a:t>They are commonly used in expressions within the SELECT, WHERE, ORDER BY, GROUP, and HAVING clauses, or T-SQL code.</a:t>
            </a:r>
          </a:p>
          <a:p>
            <a:r>
              <a:rPr lang="en-US" sz="2400" b="1" i="1" dirty="0" smtClean="0">
                <a:solidFill>
                  <a:srgbClr val="C00000"/>
                </a:solidFill>
              </a:rPr>
              <a:t>Using a function in a WHERE condition forces the function to be calculated for every row.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Information Functions</a:t>
            </a:r>
            <a:endParaRPr lang="en-US" dirty="0"/>
          </a:p>
        </p:txBody>
      </p:sp>
      <p:sp>
        <p:nvSpPr>
          <p:cNvPr id="3" name="Content Placeholder 2"/>
          <p:cNvSpPr>
            <a:spLocks noGrp="1"/>
          </p:cNvSpPr>
          <p:nvPr>
            <p:ph idx="1"/>
          </p:nvPr>
        </p:nvSpPr>
        <p:spPr>
          <a:solidFill>
            <a:schemeClr val="bg1">
              <a:lumMod val="95000"/>
            </a:schemeClr>
          </a:solidFill>
        </p:spPr>
        <p:txBody>
          <a:bodyPr/>
          <a:lstStyle/>
          <a:p>
            <a:pPr>
              <a:buNone/>
            </a:pPr>
            <a:r>
              <a:rPr lang="en-US" sz="2400" dirty="0" smtClean="0">
                <a:solidFill>
                  <a:srgbClr val="0000FF"/>
                </a:solidFill>
                <a:latin typeface="Consolas"/>
              </a:rPr>
              <a:t>SELECT</a:t>
            </a:r>
            <a:endParaRPr lang="en-US" sz="2400" dirty="0" smtClean="0">
              <a:solidFill>
                <a:srgbClr val="000000"/>
              </a:solidFill>
              <a:latin typeface="Consolas"/>
            </a:endParaRPr>
          </a:p>
          <a:p>
            <a:pPr>
              <a:buNone/>
            </a:pPr>
            <a:r>
              <a:rPr lang="en-US" sz="2400" dirty="0" smtClean="0">
                <a:solidFill>
                  <a:srgbClr val="FF00FF"/>
                </a:solidFill>
                <a:latin typeface="Consolas"/>
              </a:rPr>
              <a:t>USER_NAME</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AS</a:t>
            </a:r>
            <a:r>
              <a:rPr lang="en-US" sz="2400" dirty="0" smtClean="0">
                <a:solidFill>
                  <a:srgbClr val="000000"/>
                </a:solidFill>
                <a:latin typeface="Consolas"/>
              </a:rPr>
              <a:t> </a:t>
            </a:r>
            <a:r>
              <a:rPr lang="en-US" sz="2400" dirty="0" smtClean="0">
                <a:solidFill>
                  <a:srgbClr val="FF0000"/>
                </a:solidFill>
                <a:latin typeface="Consolas"/>
              </a:rPr>
              <a:t>'User'</a:t>
            </a:r>
            <a:r>
              <a:rPr lang="en-US" sz="2400" dirty="0" smtClean="0">
                <a:solidFill>
                  <a:srgbClr val="808080"/>
                </a:solidFill>
                <a:latin typeface="Consolas"/>
              </a:rPr>
              <a:t>,</a:t>
            </a:r>
            <a:endParaRPr lang="en-US" sz="2400" dirty="0" smtClean="0">
              <a:solidFill>
                <a:srgbClr val="000000"/>
              </a:solidFill>
              <a:latin typeface="Consolas"/>
            </a:endParaRPr>
          </a:p>
          <a:p>
            <a:pPr>
              <a:buNone/>
            </a:pPr>
            <a:r>
              <a:rPr lang="en-US" sz="2400" dirty="0" smtClean="0">
                <a:solidFill>
                  <a:srgbClr val="FF00FF"/>
                </a:solidFill>
                <a:latin typeface="Consolas"/>
              </a:rPr>
              <a:t>SUSER_SNAME</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AS</a:t>
            </a:r>
            <a:r>
              <a:rPr lang="en-US" sz="2400" dirty="0" smtClean="0">
                <a:solidFill>
                  <a:srgbClr val="000000"/>
                </a:solidFill>
                <a:latin typeface="Consolas"/>
              </a:rPr>
              <a:t> </a:t>
            </a:r>
            <a:r>
              <a:rPr lang="en-US" sz="2400" dirty="0" smtClean="0">
                <a:solidFill>
                  <a:srgbClr val="FF0000"/>
                </a:solidFill>
                <a:latin typeface="Consolas"/>
              </a:rPr>
              <a:t>'Login'</a:t>
            </a:r>
            <a:r>
              <a:rPr lang="en-US" sz="2400" dirty="0" smtClean="0">
                <a:solidFill>
                  <a:srgbClr val="808080"/>
                </a:solidFill>
                <a:latin typeface="Consolas"/>
              </a:rPr>
              <a:t>,</a:t>
            </a:r>
            <a:endParaRPr lang="en-US" sz="2400" dirty="0" smtClean="0">
              <a:solidFill>
                <a:srgbClr val="000000"/>
              </a:solidFill>
              <a:latin typeface="Consolas"/>
            </a:endParaRPr>
          </a:p>
          <a:p>
            <a:pPr>
              <a:buNone/>
            </a:pPr>
            <a:r>
              <a:rPr lang="en-US" sz="2400" dirty="0" smtClean="0">
                <a:solidFill>
                  <a:srgbClr val="FF00FF"/>
                </a:solidFill>
                <a:latin typeface="Consolas"/>
              </a:rPr>
              <a:t>HOST_NAME</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AS</a:t>
            </a:r>
            <a:r>
              <a:rPr lang="en-US" sz="2400" dirty="0" smtClean="0">
                <a:solidFill>
                  <a:srgbClr val="000000"/>
                </a:solidFill>
                <a:latin typeface="Consolas"/>
              </a:rPr>
              <a:t> </a:t>
            </a:r>
            <a:r>
              <a:rPr lang="en-US" sz="2400" dirty="0" smtClean="0">
                <a:solidFill>
                  <a:srgbClr val="FF0000"/>
                </a:solidFill>
                <a:latin typeface="Consolas"/>
              </a:rPr>
              <a:t>'Workstation'</a:t>
            </a:r>
            <a:r>
              <a:rPr lang="en-US" sz="2400" dirty="0" smtClean="0">
                <a:solidFill>
                  <a:srgbClr val="808080"/>
                </a:solidFill>
                <a:latin typeface="Consolas"/>
              </a:rPr>
              <a:t>,</a:t>
            </a:r>
            <a:endParaRPr lang="en-US" sz="2400" dirty="0" smtClean="0">
              <a:solidFill>
                <a:srgbClr val="000000"/>
              </a:solidFill>
              <a:latin typeface="Consolas"/>
            </a:endParaRPr>
          </a:p>
          <a:p>
            <a:pPr>
              <a:buNone/>
            </a:pPr>
            <a:r>
              <a:rPr lang="en-US" sz="2400" dirty="0" smtClean="0">
                <a:solidFill>
                  <a:srgbClr val="FF00FF"/>
                </a:solidFill>
                <a:latin typeface="Consolas"/>
              </a:rPr>
              <a:t>APP_NAME</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AS</a:t>
            </a:r>
            <a:r>
              <a:rPr lang="en-US" sz="2400" dirty="0" smtClean="0">
                <a:solidFill>
                  <a:srgbClr val="000000"/>
                </a:solidFill>
                <a:latin typeface="Consolas"/>
              </a:rPr>
              <a:t> </a:t>
            </a:r>
            <a:r>
              <a:rPr lang="en-US" sz="2400" dirty="0" smtClean="0">
                <a:solidFill>
                  <a:srgbClr val="FF0000"/>
                </a:solidFill>
                <a:latin typeface="Consolas"/>
              </a:rPr>
              <a:t>'Application'</a:t>
            </a:r>
            <a:r>
              <a:rPr lang="en-US" sz="2400" dirty="0" smtClean="0">
                <a:solidFill>
                  <a:srgbClr val="808080"/>
                </a:solidFill>
                <a:latin typeface="Consolas"/>
              </a:rPr>
              <a:t>;</a:t>
            </a:r>
            <a:endParaRPr lang="en-US" sz="2400" b="1" i="1" dirty="0" smtClean="0">
              <a:solidFill>
                <a:srgbClr val="C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Date and Time Functions</a:t>
            </a:r>
            <a:endParaRPr lang="en-US" dirty="0"/>
          </a:p>
        </p:txBody>
      </p:sp>
      <p:sp>
        <p:nvSpPr>
          <p:cNvPr id="3" name="Content Placeholder 2"/>
          <p:cNvSpPr>
            <a:spLocks noGrp="1"/>
          </p:cNvSpPr>
          <p:nvPr>
            <p:ph idx="1"/>
          </p:nvPr>
        </p:nvSpPr>
        <p:spPr>
          <a:solidFill>
            <a:schemeClr val="bg1">
              <a:lumMod val="95000"/>
            </a:schemeClr>
          </a:solidFill>
        </p:spPr>
        <p:txBody>
          <a:bodyPr/>
          <a:lstStyle/>
          <a:p>
            <a:pPr>
              <a:buNone/>
            </a:pPr>
            <a:r>
              <a:rPr lang="en-US" sz="2400" dirty="0" smtClean="0">
                <a:solidFill>
                  <a:srgbClr val="0000FF"/>
                </a:solidFill>
                <a:latin typeface="Consolas"/>
              </a:rPr>
              <a:t>SELECT</a:t>
            </a:r>
            <a:r>
              <a:rPr lang="en-US" sz="2400" dirty="0" smtClean="0">
                <a:solidFill>
                  <a:srgbClr val="000000"/>
                </a:solidFill>
                <a:latin typeface="Consolas"/>
              </a:rPr>
              <a:t> </a:t>
            </a:r>
            <a:r>
              <a:rPr lang="en-US" sz="2400" dirty="0" smtClean="0">
                <a:solidFill>
                  <a:srgbClr val="FF00FF"/>
                </a:solidFill>
                <a:latin typeface="Consolas"/>
              </a:rPr>
              <a:t>GETDATE</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AS</a:t>
            </a:r>
            <a:r>
              <a:rPr lang="en-US" sz="2400" dirty="0" smtClean="0">
                <a:solidFill>
                  <a:srgbClr val="000000"/>
                </a:solidFill>
                <a:latin typeface="Consolas"/>
              </a:rPr>
              <a:t> </a:t>
            </a:r>
            <a:r>
              <a:rPr lang="en-US" sz="2400" dirty="0" smtClean="0">
                <a:solidFill>
                  <a:srgbClr val="FF0000"/>
                </a:solidFill>
                <a:latin typeface="Consolas"/>
              </a:rPr>
              <a:t>'</a:t>
            </a:r>
            <a:r>
              <a:rPr lang="en-US" sz="2400" dirty="0" err="1" smtClean="0">
                <a:solidFill>
                  <a:srgbClr val="FF0000"/>
                </a:solidFill>
                <a:latin typeface="Consolas"/>
              </a:rPr>
              <a:t>DateTime</a:t>
            </a:r>
            <a:r>
              <a:rPr lang="en-US" sz="2400" dirty="0" smtClean="0">
                <a:solidFill>
                  <a:srgbClr val="FF0000"/>
                </a:solidFill>
                <a:latin typeface="Consolas"/>
              </a:rPr>
              <a:t>'</a:t>
            </a:r>
            <a:endParaRPr lang="en-US" sz="2400" dirty="0" smtClean="0">
              <a:solidFill>
                <a:srgbClr val="000000"/>
              </a:solidFill>
              <a:latin typeface="Consolas"/>
            </a:endParaRPr>
          </a:p>
          <a:p>
            <a:pPr>
              <a:buNone/>
            </a:pPr>
            <a:r>
              <a:rPr lang="en-US" sz="2400" dirty="0" smtClean="0">
                <a:solidFill>
                  <a:srgbClr val="0000FF"/>
                </a:solidFill>
                <a:latin typeface="Consolas"/>
              </a:rPr>
              <a:t>SELECT</a:t>
            </a:r>
            <a:r>
              <a:rPr lang="en-US" sz="2400" dirty="0" smtClean="0">
                <a:solidFill>
                  <a:srgbClr val="000000"/>
                </a:solidFill>
                <a:latin typeface="Consolas"/>
              </a:rPr>
              <a:t> </a:t>
            </a:r>
            <a:r>
              <a:rPr lang="en-US" sz="2400" dirty="0" smtClean="0">
                <a:solidFill>
                  <a:srgbClr val="FF00FF"/>
                </a:solidFill>
                <a:latin typeface="Consolas"/>
              </a:rPr>
              <a:t>CURRENT_TIMESTAMP</a:t>
            </a:r>
            <a:r>
              <a:rPr lang="en-US" sz="2400" dirty="0" smtClean="0">
                <a:solidFill>
                  <a:srgbClr val="000000"/>
                </a:solidFill>
                <a:latin typeface="Consolas"/>
              </a:rPr>
              <a:t> </a:t>
            </a:r>
            <a:r>
              <a:rPr lang="en-US" sz="2400" dirty="0" smtClean="0">
                <a:solidFill>
                  <a:srgbClr val="0000FF"/>
                </a:solidFill>
                <a:latin typeface="Consolas"/>
              </a:rPr>
              <a:t>AS</a:t>
            </a:r>
            <a:r>
              <a:rPr lang="en-US" sz="2400" dirty="0" smtClean="0">
                <a:solidFill>
                  <a:srgbClr val="000000"/>
                </a:solidFill>
                <a:latin typeface="Consolas"/>
              </a:rPr>
              <a:t> </a:t>
            </a:r>
            <a:r>
              <a:rPr lang="en-US" sz="2400" dirty="0" smtClean="0">
                <a:solidFill>
                  <a:srgbClr val="FF0000"/>
                </a:solidFill>
                <a:latin typeface="Consolas"/>
              </a:rPr>
              <a:t>'</a:t>
            </a:r>
            <a:r>
              <a:rPr lang="en-US" sz="2400" dirty="0" err="1" smtClean="0">
                <a:solidFill>
                  <a:srgbClr val="FF0000"/>
                </a:solidFill>
                <a:latin typeface="Consolas"/>
              </a:rPr>
              <a:t>DateTime</a:t>
            </a:r>
            <a:r>
              <a:rPr lang="en-US" sz="2400" dirty="0" smtClean="0">
                <a:solidFill>
                  <a:srgbClr val="FF0000"/>
                </a:solidFill>
                <a:latin typeface="Consolas"/>
              </a:rPr>
              <a:t>'</a:t>
            </a:r>
            <a:r>
              <a:rPr lang="en-US" sz="2400" dirty="0" smtClean="0">
                <a:solidFill>
                  <a:srgbClr val="000000"/>
                </a:solidFill>
                <a:latin typeface="Consolas"/>
              </a:rPr>
              <a:t> </a:t>
            </a:r>
            <a:r>
              <a:rPr lang="en-US" sz="2400" dirty="0" smtClean="0">
                <a:solidFill>
                  <a:srgbClr val="008000"/>
                </a:solidFill>
                <a:latin typeface="Consolas"/>
              </a:rPr>
              <a:t>-- The same as GETDATE() except ANSI standard.</a:t>
            </a:r>
            <a:endParaRPr lang="en-US" sz="2400" dirty="0" smtClean="0">
              <a:solidFill>
                <a:srgbClr val="000000"/>
              </a:solidFill>
              <a:latin typeface="Consolas"/>
            </a:endParaRPr>
          </a:p>
          <a:p>
            <a:pPr>
              <a:buNone/>
            </a:pPr>
            <a:r>
              <a:rPr lang="en-US" sz="2400" dirty="0" smtClean="0">
                <a:solidFill>
                  <a:srgbClr val="0000FF"/>
                </a:solidFill>
                <a:latin typeface="Consolas"/>
              </a:rPr>
              <a:t>SELECT</a:t>
            </a:r>
            <a:r>
              <a:rPr lang="en-US" sz="2400" dirty="0" smtClean="0">
                <a:solidFill>
                  <a:srgbClr val="000000"/>
                </a:solidFill>
                <a:latin typeface="Consolas"/>
              </a:rPr>
              <a:t> </a:t>
            </a:r>
            <a:r>
              <a:rPr lang="en-US" sz="2400" dirty="0" smtClean="0">
                <a:solidFill>
                  <a:srgbClr val="FF00FF"/>
                </a:solidFill>
                <a:latin typeface="Consolas"/>
              </a:rPr>
              <a:t>DATENAME</a:t>
            </a:r>
            <a:r>
              <a:rPr lang="en-US" sz="2400" dirty="0" smtClean="0">
                <a:solidFill>
                  <a:srgbClr val="808080"/>
                </a:solidFill>
                <a:latin typeface="Consolas"/>
              </a:rPr>
              <a:t>(</a:t>
            </a:r>
            <a:r>
              <a:rPr lang="en-US" sz="2400" dirty="0" smtClean="0">
                <a:solidFill>
                  <a:srgbClr val="FF00FF"/>
                </a:solidFill>
                <a:latin typeface="Consolas"/>
              </a:rPr>
              <a:t>YEAR</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FF00FF"/>
                </a:solidFill>
                <a:latin typeface="Consolas"/>
              </a:rPr>
              <a:t>CURRENT_TIMESTAMP</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AS</a:t>
            </a:r>
            <a:r>
              <a:rPr lang="en-US" sz="2400" dirty="0" smtClean="0">
                <a:solidFill>
                  <a:srgbClr val="000000"/>
                </a:solidFill>
                <a:latin typeface="Consolas"/>
              </a:rPr>
              <a:t> </a:t>
            </a:r>
            <a:r>
              <a:rPr lang="en-US" sz="2400" dirty="0" smtClean="0">
                <a:solidFill>
                  <a:srgbClr val="FF0000"/>
                </a:solidFill>
                <a:latin typeface="Consolas"/>
              </a:rPr>
              <a:t>'Year'</a:t>
            </a:r>
            <a:r>
              <a:rPr lang="en-US" sz="2400" dirty="0" smtClean="0">
                <a:solidFill>
                  <a:srgbClr val="808080"/>
                </a:solidFill>
                <a:latin typeface="Consolas"/>
              </a:rPr>
              <a:t>;</a:t>
            </a:r>
            <a:endParaRPr lang="en-US" sz="2400" dirty="0" smtClean="0">
              <a:solidFill>
                <a:srgbClr val="000000"/>
              </a:solidFill>
              <a:latin typeface="Consolas"/>
            </a:endParaRPr>
          </a:p>
          <a:p>
            <a:pPr>
              <a:buNone/>
            </a:pPr>
            <a:r>
              <a:rPr lang="en-US" sz="2400" dirty="0" smtClean="0">
                <a:solidFill>
                  <a:srgbClr val="0000FF"/>
                </a:solidFill>
                <a:latin typeface="Consolas"/>
              </a:rPr>
              <a:t>SELECT</a:t>
            </a:r>
            <a:r>
              <a:rPr lang="en-US" sz="2400" dirty="0" smtClean="0">
                <a:solidFill>
                  <a:srgbClr val="000000"/>
                </a:solidFill>
                <a:latin typeface="Consolas"/>
              </a:rPr>
              <a:t> </a:t>
            </a:r>
            <a:r>
              <a:rPr lang="en-US" sz="2400" dirty="0" smtClean="0">
                <a:solidFill>
                  <a:srgbClr val="FF00FF"/>
                </a:solidFill>
                <a:latin typeface="Consolas"/>
              </a:rPr>
              <a:t>DATENAME</a:t>
            </a:r>
            <a:r>
              <a:rPr lang="en-US" sz="2400" dirty="0" smtClean="0">
                <a:solidFill>
                  <a:srgbClr val="808080"/>
                </a:solidFill>
                <a:latin typeface="Consolas"/>
              </a:rPr>
              <a:t>(</a:t>
            </a:r>
            <a:r>
              <a:rPr lang="en-US" sz="2400" dirty="0" smtClean="0">
                <a:solidFill>
                  <a:srgbClr val="FF00FF"/>
                </a:solidFill>
                <a:latin typeface="Consolas"/>
              </a:rPr>
              <a:t>MONTH</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FF00FF"/>
                </a:solidFill>
                <a:latin typeface="Consolas"/>
              </a:rPr>
              <a:t>CURRENT_TIMESTAMP</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as</a:t>
            </a:r>
            <a:r>
              <a:rPr lang="en-US" sz="2400" dirty="0" smtClean="0">
                <a:solidFill>
                  <a:srgbClr val="000000"/>
                </a:solidFill>
                <a:latin typeface="Consolas"/>
              </a:rPr>
              <a:t> </a:t>
            </a:r>
            <a:r>
              <a:rPr lang="en-US" sz="2400" dirty="0" smtClean="0">
                <a:solidFill>
                  <a:srgbClr val="FF0000"/>
                </a:solidFill>
                <a:latin typeface="Consolas"/>
              </a:rPr>
              <a:t>'Month'</a:t>
            </a:r>
            <a:r>
              <a:rPr lang="en-US" sz="2400" dirty="0" smtClean="0">
                <a:solidFill>
                  <a:srgbClr val="808080"/>
                </a:solidFill>
                <a:latin typeface="Consolas"/>
              </a:rPr>
              <a:t>,</a:t>
            </a:r>
            <a:endParaRPr lang="en-US" sz="2400" dirty="0" smtClean="0">
              <a:solidFill>
                <a:srgbClr val="000000"/>
              </a:solidFill>
              <a:latin typeface="Consolas"/>
            </a:endParaRPr>
          </a:p>
          <a:p>
            <a:pPr>
              <a:buNone/>
            </a:pPr>
            <a:r>
              <a:rPr lang="en-US" sz="2400" dirty="0" smtClean="0">
                <a:solidFill>
                  <a:srgbClr val="FF00FF"/>
                </a:solidFill>
                <a:latin typeface="Consolas"/>
              </a:rPr>
              <a:t>DATENAME</a:t>
            </a:r>
            <a:r>
              <a:rPr lang="en-US" sz="2400" dirty="0" smtClean="0">
                <a:solidFill>
                  <a:srgbClr val="808080"/>
                </a:solidFill>
                <a:latin typeface="Consolas"/>
              </a:rPr>
              <a:t>(</a:t>
            </a:r>
            <a:r>
              <a:rPr lang="en-US" sz="2400" dirty="0" smtClean="0">
                <a:solidFill>
                  <a:srgbClr val="0000FF"/>
                </a:solidFill>
                <a:latin typeface="Consolas"/>
              </a:rPr>
              <a:t>WEEKDAY</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FF00FF"/>
                </a:solidFill>
                <a:latin typeface="Consolas"/>
              </a:rPr>
              <a:t>CURRENT_TIMESTAMP</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As</a:t>
            </a:r>
            <a:r>
              <a:rPr lang="en-US" sz="2400" dirty="0" smtClean="0">
                <a:solidFill>
                  <a:srgbClr val="000000"/>
                </a:solidFill>
                <a:latin typeface="Consolas"/>
              </a:rPr>
              <a:t> </a:t>
            </a:r>
            <a:r>
              <a:rPr lang="en-US" sz="2400" dirty="0" smtClean="0">
                <a:solidFill>
                  <a:srgbClr val="FF0000"/>
                </a:solidFill>
                <a:latin typeface="Consolas"/>
              </a:rPr>
              <a:t>'Day'</a:t>
            </a:r>
            <a:endParaRPr lang="en-US" sz="2200" b="1" i="1" dirty="0" smtClean="0">
              <a:solidFill>
                <a:srgbClr val="C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STUFF</a:t>
            </a:r>
            <a:endParaRPr lang="en-US" dirty="0"/>
          </a:p>
        </p:txBody>
      </p:sp>
      <p:sp>
        <p:nvSpPr>
          <p:cNvPr id="3" name="Content Placeholder 2"/>
          <p:cNvSpPr>
            <a:spLocks noGrp="1"/>
          </p:cNvSpPr>
          <p:nvPr>
            <p:ph idx="1"/>
          </p:nvPr>
        </p:nvSpPr>
        <p:spPr/>
        <p:txBody>
          <a:bodyPr/>
          <a:lstStyle/>
          <a:p>
            <a:r>
              <a:rPr lang="en-US" sz="2400" b="1" dirty="0" smtClean="0">
                <a:latin typeface="Consolas" pitchFamily="49" charset="0"/>
              </a:rPr>
              <a:t>STUFF (string, insertion position, delete count, string inserted)</a:t>
            </a:r>
          </a:p>
          <a:p>
            <a:r>
              <a:rPr lang="en-US" sz="2400" dirty="0" smtClean="0"/>
              <a:t>The STUFF() function inserts one string into another string.</a:t>
            </a:r>
          </a:p>
          <a:p>
            <a:r>
              <a:rPr lang="en-US" sz="2400" dirty="0" smtClean="0"/>
              <a:t>The inserted string may delete a specified number of characters as it is inserted:</a:t>
            </a:r>
            <a:endParaRPr lang="en-US" sz="2400" dirty="0"/>
          </a:p>
        </p:txBody>
      </p:sp>
      <p:sp>
        <p:nvSpPr>
          <p:cNvPr id="4" name="Content Placeholder 2"/>
          <p:cNvSpPr txBox="1">
            <a:spLocks/>
          </p:cNvSpPr>
          <p:nvPr/>
        </p:nvSpPr>
        <p:spPr bwMode="auto">
          <a:xfrm>
            <a:off x="609600" y="3886201"/>
            <a:ext cx="7924800" cy="685799"/>
          </a:xfrm>
          <a:prstGeom prst="rect">
            <a:avLst/>
          </a:prstGeom>
          <a:solidFill>
            <a:schemeClr val="bg1">
              <a:lumMod val="95000"/>
            </a:schemeClr>
          </a:solid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eaLnBrk="0" hangingPunct="0">
              <a:spcBef>
                <a:spcPct val="20000"/>
              </a:spcBef>
            </a:pPr>
            <a:r>
              <a:rPr lang="en-US" sz="2400" dirty="0" smtClean="0">
                <a:solidFill>
                  <a:srgbClr val="0000FF"/>
                </a:solidFill>
                <a:latin typeface="Consolas"/>
              </a:rPr>
              <a:t>SELECT</a:t>
            </a:r>
            <a:r>
              <a:rPr lang="en-US" sz="2400" dirty="0" smtClean="0">
                <a:solidFill>
                  <a:srgbClr val="000000"/>
                </a:solidFill>
                <a:latin typeface="Consolas"/>
              </a:rPr>
              <a:t> </a:t>
            </a:r>
            <a:r>
              <a:rPr lang="en-US" sz="2400" dirty="0" smtClean="0">
                <a:solidFill>
                  <a:srgbClr val="FF00FF"/>
                </a:solidFill>
                <a:latin typeface="Consolas"/>
              </a:rPr>
              <a:t>STUFF</a:t>
            </a:r>
            <a:r>
              <a:rPr lang="en-US" sz="2400" dirty="0" smtClean="0">
                <a:solidFill>
                  <a:srgbClr val="808080"/>
                </a:solidFill>
                <a:latin typeface="Consolas"/>
              </a:rPr>
              <a:t>(</a:t>
            </a:r>
            <a:r>
              <a:rPr lang="en-US" sz="2400" dirty="0" smtClean="0">
                <a:solidFill>
                  <a:srgbClr val="FF0000"/>
                </a:solidFill>
                <a:latin typeface="Consolas"/>
              </a:rPr>
              <a:t>'</a:t>
            </a:r>
            <a:r>
              <a:rPr lang="en-US" sz="2400" dirty="0" err="1" smtClean="0">
                <a:solidFill>
                  <a:srgbClr val="FF0000"/>
                </a:solidFill>
                <a:latin typeface="Consolas"/>
              </a:rPr>
              <a:t>abcdefg</a:t>
            </a:r>
            <a:r>
              <a:rPr lang="en-US" sz="2400" dirty="0" smtClean="0">
                <a:solidFill>
                  <a:srgbClr val="FF0000"/>
                </a:solidFill>
                <a:latin typeface="Consolas"/>
              </a:rPr>
              <a:t>'</a:t>
            </a:r>
            <a:r>
              <a:rPr lang="en-US" sz="2400" dirty="0" smtClean="0">
                <a:solidFill>
                  <a:srgbClr val="808080"/>
                </a:solidFill>
                <a:latin typeface="Consolas"/>
              </a:rPr>
              <a:t>,</a:t>
            </a:r>
            <a:r>
              <a:rPr lang="en-US" sz="2400" dirty="0" smtClean="0">
                <a:solidFill>
                  <a:srgbClr val="000000"/>
                </a:solidFill>
                <a:latin typeface="Consolas"/>
              </a:rPr>
              <a:t> 3</a:t>
            </a:r>
            <a:r>
              <a:rPr lang="en-US" sz="2400" dirty="0" smtClean="0">
                <a:solidFill>
                  <a:srgbClr val="808080"/>
                </a:solidFill>
                <a:latin typeface="Consolas"/>
              </a:rPr>
              <a:t>,</a:t>
            </a:r>
            <a:r>
              <a:rPr lang="en-US" sz="2400" dirty="0" smtClean="0">
                <a:solidFill>
                  <a:srgbClr val="000000"/>
                </a:solidFill>
                <a:latin typeface="Consolas"/>
              </a:rPr>
              <a:t> 2</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FF0000"/>
                </a:solidFill>
                <a:latin typeface="Consolas"/>
              </a:rPr>
              <a:t>'123'</a:t>
            </a:r>
            <a:r>
              <a:rPr lang="en-US" sz="2400" dirty="0" smtClean="0">
                <a:solidFill>
                  <a:srgbClr val="808080"/>
                </a:solidFill>
                <a:latin typeface="Consolas"/>
              </a:rPr>
              <a:t>);</a:t>
            </a:r>
            <a:endParaRPr kumimoji="0" lang="en-US" sz="2200" b="1" i="1" u="none" strike="noStrike" kern="1200" cap="none" spc="0" normalizeH="0" baseline="0" noProof="0" dirty="0" smtClean="0">
              <a:ln>
                <a:noFill/>
              </a:ln>
              <a:solidFill>
                <a:srgbClr val="C00000"/>
              </a:solidFill>
              <a:effectLst/>
              <a:uLnTx/>
              <a:uFillTx/>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the SOUNDEX() Function</a:t>
            </a:r>
            <a:endParaRPr lang="en-US" dirty="0"/>
          </a:p>
        </p:txBody>
      </p:sp>
      <p:sp>
        <p:nvSpPr>
          <p:cNvPr id="3" name="Content Placeholder 2"/>
          <p:cNvSpPr>
            <a:spLocks noGrp="1"/>
          </p:cNvSpPr>
          <p:nvPr>
            <p:ph idx="1"/>
          </p:nvPr>
        </p:nvSpPr>
        <p:spPr/>
        <p:txBody>
          <a:bodyPr/>
          <a:lstStyle/>
          <a:p>
            <a:r>
              <a:rPr lang="en-US" sz="2400" dirty="0" smtClean="0"/>
              <a:t>The purpose of </a:t>
            </a:r>
            <a:r>
              <a:rPr lang="en-US" sz="2400" dirty="0" err="1" smtClean="0"/>
              <a:t>Soundex</a:t>
            </a:r>
            <a:r>
              <a:rPr lang="en-US" sz="2400" dirty="0" smtClean="0"/>
              <a:t> is to sort similar-sounding names together, which is very useful for dealing with contact information in a database application.</a:t>
            </a:r>
          </a:p>
          <a:p>
            <a:r>
              <a:rPr lang="en-US" sz="2400" dirty="0" smtClean="0"/>
              <a:t>For example, if I call a phone bank and give them my name (Nielsen), they invariably spell it ‘‘Nelson’’ in the contact lookup form, but if the database uses </a:t>
            </a:r>
            <a:r>
              <a:rPr lang="en-US" sz="2400" dirty="0" err="1" smtClean="0"/>
              <a:t>Soundex</a:t>
            </a:r>
            <a:r>
              <a:rPr lang="en-US" sz="2400" dirty="0" smtClean="0"/>
              <a:t> properly, then I’ll still be in the search-result list box.</a:t>
            </a:r>
            <a:endParaRPr lang="en-US" sz="2400" dirty="0"/>
          </a:p>
        </p:txBody>
      </p:sp>
      <p:sp>
        <p:nvSpPr>
          <p:cNvPr id="4" name="Content Placeholder 2"/>
          <p:cNvSpPr txBox="1">
            <a:spLocks/>
          </p:cNvSpPr>
          <p:nvPr/>
        </p:nvSpPr>
        <p:spPr>
          <a:xfrm>
            <a:off x="457200" y="4800600"/>
            <a:ext cx="8229600" cy="1371600"/>
          </a:xfrm>
          <a:prstGeom prst="rect">
            <a:avLst/>
          </a:prstGeom>
          <a:solidFill>
            <a:schemeClr val="bg1">
              <a:lumMod val="85000"/>
            </a:schemeClr>
          </a:solidFill>
          <a:ln>
            <a:solidFill>
              <a:schemeClr val="bg1">
                <a:lumMod val="50000"/>
              </a:schemeClr>
            </a:solidFill>
          </a:ln>
        </p:spPr>
        <p:txBody>
          <a:bodyPr vert="horz" lIns="91440" tIns="45720" rIns="91440" bIns="45720" rtlCol="0">
            <a:normAutofit/>
          </a:bodyPr>
          <a:lstStyle/>
          <a:p>
            <a:pPr marL="342900" lvl="0" indent="-342900" fontAlgn="auto">
              <a:spcBef>
                <a:spcPct val="20000"/>
              </a:spcBef>
              <a:spcAft>
                <a:spcPts val="0"/>
              </a:spcAft>
            </a:pPr>
            <a:r>
              <a:rPr lang="en-US" sz="2400" b="1" dirty="0" smtClean="0">
                <a:solidFill>
                  <a:srgbClr val="C00000"/>
                </a:solidFill>
                <a:latin typeface="Consolas" pitchFamily="49" charset="0"/>
              </a:rPr>
              <a:t>SELECT </a:t>
            </a:r>
            <a:r>
              <a:rPr lang="en-US" sz="2400" b="1" dirty="0" err="1" smtClean="0">
                <a:solidFill>
                  <a:srgbClr val="C00000"/>
                </a:solidFill>
                <a:latin typeface="Consolas" pitchFamily="49" charset="0"/>
              </a:rPr>
              <a:t>LastName</a:t>
            </a:r>
            <a:r>
              <a:rPr lang="en-US" sz="2400" b="1" dirty="0" smtClean="0">
                <a:solidFill>
                  <a:srgbClr val="C00000"/>
                </a:solidFill>
                <a:latin typeface="Consolas" pitchFamily="49" charset="0"/>
              </a:rPr>
              <a:t>, </a:t>
            </a:r>
            <a:r>
              <a:rPr lang="en-US" sz="2400" b="1" dirty="0" err="1" smtClean="0">
                <a:solidFill>
                  <a:srgbClr val="C00000"/>
                </a:solidFill>
                <a:latin typeface="Consolas" pitchFamily="49" charset="0"/>
              </a:rPr>
              <a:t>FirstName</a:t>
            </a:r>
            <a:endParaRPr lang="en-US" sz="2400" b="1" dirty="0" smtClean="0">
              <a:solidFill>
                <a:srgbClr val="C00000"/>
              </a:solidFill>
              <a:latin typeface="Consolas" pitchFamily="49" charset="0"/>
            </a:endParaRPr>
          </a:p>
          <a:p>
            <a:pPr marL="342900" lvl="0" indent="-342900" fontAlgn="auto">
              <a:spcBef>
                <a:spcPct val="20000"/>
              </a:spcBef>
              <a:spcAft>
                <a:spcPts val="0"/>
              </a:spcAft>
            </a:pPr>
            <a:r>
              <a:rPr lang="en-US" sz="2400" b="1" dirty="0" smtClean="0">
                <a:solidFill>
                  <a:srgbClr val="C00000"/>
                </a:solidFill>
                <a:latin typeface="Consolas" pitchFamily="49" charset="0"/>
              </a:rPr>
              <a:t>FROM </a:t>
            </a:r>
            <a:r>
              <a:rPr lang="en-US" sz="2400" b="1" dirty="0" err="1" smtClean="0">
                <a:solidFill>
                  <a:srgbClr val="C00000"/>
                </a:solidFill>
                <a:latin typeface="Consolas" pitchFamily="49" charset="0"/>
              </a:rPr>
              <a:t>dbo.Customer</a:t>
            </a:r>
            <a:endParaRPr lang="en-US" sz="2400" b="1" dirty="0" smtClean="0">
              <a:solidFill>
                <a:srgbClr val="C00000"/>
              </a:solidFill>
              <a:latin typeface="Consolas" pitchFamily="49" charset="0"/>
            </a:endParaRPr>
          </a:p>
          <a:p>
            <a:pPr marL="342900" lvl="0" indent="-342900" fontAlgn="auto">
              <a:spcBef>
                <a:spcPct val="20000"/>
              </a:spcBef>
              <a:spcAft>
                <a:spcPts val="0"/>
              </a:spcAft>
            </a:pPr>
            <a:r>
              <a:rPr lang="en-US" sz="2400" b="1" dirty="0" smtClean="0">
                <a:solidFill>
                  <a:srgbClr val="C00000"/>
                </a:solidFill>
                <a:latin typeface="Consolas" pitchFamily="49" charset="0"/>
              </a:rPr>
              <a:t>WHERE SOUNDEX('</a:t>
            </a:r>
            <a:r>
              <a:rPr lang="en-US" sz="2400" b="1" dirty="0" err="1" smtClean="0">
                <a:solidFill>
                  <a:srgbClr val="C00000"/>
                </a:solidFill>
                <a:latin typeface="Consolas" pitchFamily="49" charset="0"/>
              </a:rPr>
              <a:t>Nikolsen</a:t>
            </a:r>
            <a:r>
              <a:rPr lang="en-US" sz="2400" b="1" dirty="0" smtClean="0">
                <a:solidFill>
                  <a:srgbClr val="C00000"/>
                </a:solidFill>
                <a:latin typeface="Consolas" pitchFamily="49" charset="0"/>
              </a:rPr>
              <a:t>') = SOUNDEX(</a:t>
            </a:r>
            <a:r>
              <a:rPr lang="en-US" sz="2400" b="1" dirty="0" err="1" smtClean="0">
                <a:solidFill>
                  <a:srgbClr val="C00000"/>
                </a:solidFill>
                <a:latin typeface="Consolas" pitchFamily="49" charset="0"/>
              </a:rPr>
              <a:t>LastName</a:t>
            </a:r>
            <a:r>
              <a:rPr lang="en-US" sz="2400" b="1" dirty="0" smtClean="0">
                <a:solidFill>
                  <a:srgbClr val="C00000"/>
                </a:solidFill>
                <a:latin typeface="Consolas" pitchFamily="49" charset="0"/>
              </a:rPr>
              <a:t>);</a:t>
            </a:r>
            <a:endParaRPr kumimoji="0" lang="en-US" sz="2400" b="1" i="0" u="none" strike="noStrike" kern="1200" cap="none" spc="0" normalizeH="0" baseline="0" noProof="0" dirty="0">
              <a:ln>
                <a:noFill/>
              </a:ln>
              <a:solidFill>
                <a:srgbClr val="C00000"/>
              </a:solidFill>
              <a:effectLst/>
              <a:uLnTx/>
              <a:uFillTx/>
              <a:latin typeface="Consolas" pitchFamily="49" charset="0"/>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vs. Stored Procedures</a:t>
            </a:r>
            <a:endParaRPr lang="en-US" dirty="0"/>
          </a:p>
        </p:txBody>
      </p:sp>
      <p:sp>
        <p:nvSpPr>
          <p:cNvPr id="3" name="Content Placeholder 2"/>
          <p:cNvSpPr>
            <a:spLocks noGrp="1"/>
          </p:cNvSpPr>
          <p:nvPr>
            <p:ph idx="1"/>
          </p:nvPr>
        </p:nvSpPr>
        <p:spPr/>
        <p:txBody>
          <a:bodyPr/>
          <a:lstStyle/>
          <a:p>
            <a:endParaRPr lang="en-US" sz="2400" dirty="0">
              <a:solidFill>
                <a:srgbClr val="C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SQL</a:t>
            </a:r>
            <a:endParaRPr lang="en-US" dirty="0"/>
          </a:p>
        </p:txBody>
      </p:sp>
      <p:sp>
        <p:nvSpPr>
          <p:cNvPr id="3" name="Content Placeholder 2"/>
          <p:cNvSpPr>
            <a:spLocks noGrp="1"/>
          </p:cNvSpPr>
          <p:nvPr>
            <p:ph idx="1"/>
          </p:nvPr>
        </p:nvSpPr>
        <p:spPr/>
        <p:txBody>
          <a:bodyPr/>
          <a:lstStyle/>
          <a:p>
            <a:r>
              <a:rPr lang="en-US" sz="2400" dirty="0" smtClean="0"/>
              <a:t>The </a:t>
            </a:r>
            <a:r>
              <a:rPr lang="en-US" sz="2400" b="1" dirty="0" smtClean="0">
                <a:solidFill>
                  <a:srgbClr val="C00000"/>
                </a:solidFill>
              </a:rPr>
              <a:t>EXECUTE</a:t>
            </a:r>
            <a:r>
              <a:rPr lang="en-US" sz="2400" dirty="0" smtClean="0"/>
              <a:t> command, or </a:t>
            </a:r>
            <a:r>
              <a:rPr lang="en-US" sz="2400" b="1" dirty="0" smtClean="0">
                <a:solidFill>
                  <a:srgbClr val="C00000"/>
                </a:solidFill>
              </a:rPr>
              <a:t>EXEC</a:t>
            </a:r>
            <a:r>
              <a:rPr lang="en-US" sz="2400" dirty="0" smtClean="0"/>
              <a:t> for short, creates a new instance of the batch as if it were a batch submitted from some client to the server.</a:t>
            </a:r>
          </a:p>
          <a:p>
            <a:r>
              <a:rPr lang="en-US" sz="2400" dirty="0" smtClean="0"/>
              <a:t>While the EXECUTE command is normally used to call a stored procedure, it can also be used to execute a T-SQL query or batch.</a:t>
            </a:r>
          </a:p>
          <a:p>
            <a:r>
              <a:rPr lang="en-US" sz="2400" dirty="0" smtClean="0"/>
              <a:t>Issues:</a:t>
            </a:r>
          </a:p>
          <a:p>
            <a:pPr lvl="1"/>
            <a:r>
              <a:rPr lang="en-US" sz="2000" dirty="0" smtClean="0"/>
              <a:t>Dynamic SQL that includes user entries in WHERE clauses can be open to SQL injection attacks.</a:t>
            </a:r>
          </a:p>
          <a:p>
            <a:pPr lvl="1"/>
            <a:r>
              <a:rPr lang="en-US" sz="2000" dirty="0" smtClean="0"/>
              <a:t>Poorly written dynamic SQL queries often include extra table references and perform poorly.</a:t>
            </a:r>
          </a:p>
          <a:p>
            <a:pPr lvl="1"/>
            <a:r>
              <a:rPr lang="en-US" sz="2000" dirty="0" smtClean="0"/>
              <a:t>T-SQL code that generates T-SQL code can be tricky to debug.</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Notes</a:t>
            </a:r>
            <a:endParaRPr lang="en-US" dirty="0"/>
          </a:p>
        </p:txBody>
      </p:sp>
      <p:sp>
        <p:nvSpPr>
          <p:cNvPr id="3" name="Content Placeholder 2"/>
          <p:cNvSpPr>
            <a:spLocks noGrp="1"/>
          </p:cNvSpPr>
          <p:nvPr>
            <p:ph idx="1"/>
          </p:nvPr>
        </p:nvSpPr>
        <p:spPr/>
        <p:txBody>
          <a:bodyPr/>
          <a:lstStyle/>
          <a:p>
            <a:r>
              <a:rPr lang="en-US" sz="2400" dirty="0" smtClean="0">
                <a:solidFill>
                  <a:srgbClr val="C00000"/>
                </a:solidFill>
              </a:rPr>
              <a:t>You cannot execute a command with exec or </a:t>
            </a:r>
            <a:r>
              <a:rPr lang="en-US" sz="2400" dirty="0" err="1" smtClean="0">
                <a:solidFill>
                  <a:srgbClr val="C00000"/>
                </a:solidFill>
              </a:rPr>
              <a:t>sp_executesql</a:t>
            </a:r>
            <a:r>
              <a:rPr lang="en-US" sz="2400" dirty="0" smtClean="0">
                <a:solidFill>
                  <a:srgbClr val="C00000"/>
                </a:solidFill>
              </a:rPr>
              <a:t> nor can execute a stored procedure in a function.</a:t>
            </a:r>
          </a:p>
          <a:p>
            <a:endParaRPr lang="en-US" sz="2400" dirty="0" smtClean="0">
              <a:solidFill>
                <a:srgbClr val="C00000"/>
              </a:solidFill>
            </a:endParaRPr>
          </a:p>
          <a:p>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 File Data</a:t>
            </a:r>
            <a:endParaRPr lang="en-US" dirty="0"/>
          </a:p>
        </p:txBody>
      </p:sp>
      <p:sp>
        <p:nvSpPr>
          <p:cNvPr id="3" name="Content Placeholder 2"/>
          <p:cNvSpPr>
            <a:spLocks noGrp="1"/>
          </p:cNvSpPr>
          <p:nvPr>
            <p:ph idx="1"/>
          </p:nvPr>
        </p:nvSpPr>
        <p:spPr/>
        <p:txBody>
          <a:bodyPr/>
          <a:lstStyle/>
          <a:p>
            <a:r>
              <a:rPr lang="en-US" sz="2400" dirty="0" smtClean="0">
                <a:hlinkClick r:id="rId2"/>
              </a:rPr>
              <a:t>https://docs.microsoft.com/en-us/sql/t-sql/functions/openrowset-transact-sql</a:t>
            </a:r>
            <a:endParaRPr lang="en-US" sz="2400" dirty="0" smtClean="0"/>
          </a:p>
          <a:p>
            <a:r>
              <a:rPr lang="en-US" sz="2400" dirty="0" smtClean="0"/>
              <a:t>Uses the BULK </a:t>
            </a:r>
            <a:r>
              <a:rPr lang="en-US" sz="2400" dirty="0" err="1" smtClean="0"/>
              <a:t>rowset</a:t>
            </a:r>
            <a:r>
              <a:rPr lang="en-US" sz="2400" dirty="0" smtClean="0"/>
              <a:t> provider for OPENROWSET to read data from a file.</a:t>
            </a:r>
            <a:endParaRPr lang="en-US" sz="2400" dirty="0"/>
          </a:p>
        </p:txBody>
      </p:sp>
      <p:sp>
        <p:nvSpPr>
          <p:cNvPr id="4" name="Content Placeholder 2"/>
          <p:cNvSpPr txBox="1">
            <a:spLocks/>
          </p:cNvSpPr>
          <p:nvPr/>
        </p:nvSpPr>
        <p:spPr>
          <a:xfrm>
            <a:off x="457200" y="3505200"/>
            <a:ext cx="8229600" cy="1600200"/>
          </a:xfrm>
          <a:prstGeom prst="rect">
            <a:avLst/>
          </a:prstGeom>
          <a:solidFill>
            <a:schemeClr val="bg1">
              <a:lumMod val="95000"/>
            </a:schemeClr>
          </a:solidFill>
          <a:ln>
            <a:solidFill>
              <a:schemeClr val="bg1">
                <a:lumMod val="50000"/>
              </a:schemeClr>
            </a:solidFill>
          </a:ln>
        </p:spPr>
        <p:txBody>
          <a:bodyPr vert="horz" lIns="91440" tIns="45720" rIns="91440" bIns="45720" rtlCol="0">
            <a:noAutofit/>
          </a:bodyPr>
          <a:lstStyle/>
          <a:p>
            <a:r>
              <a:rPr lang="en-US" sz="2000" dirty="0" smtClean="0">
                <a:solidFill>
                  <a:srgbClr val="0000FF"/>
                </a:solidFill>
                <a:latin typeface="Consolas"/>
              </a:rPr>
              <a:t>SELECT</a:t>
            </a:r>
            <a:r>
              <a:rPr lang="en-US" sz="2000" dirty="0" smtClean="0">
                <a:solidFill>
                  <a:srgbClr val="000000"/>
                </a:solidFill>
                <a:latin typeface="Consolas"/>
              </a:rPr>
              <a:t> </a:t>
            </a:r>
            <a:r>
              <a:rPr lang="en-US" sz="2000" dirty="0" err="1" smtClean="0">
                <a:solidFill>
                  <a:srgbClr val="000000"/>
                </a:solidFill>
                <a:latin typeface="Consolas"/>
              </a:rPr>
              <a:t>BulkColumn</a:t>
            </a:r>
            <a:r>
              <a:rPr lang="en-US" sz="2000" dirty="0" smtClean="0">
                <a:solidFill>
                  <a:srgbClr val="000000"/>
                </a:solidFill>
                <a:latin typeface="Consolas"/>
              </a:rPr>
              <a:t> </a:t>
            </a:r>
          </a:p>
          <a:p>
            <a:r>
              <a:rPr lang="en-US" sz="2000" dirty="0" smtClean="0">
                <a:solidFill>
                  <a:srgbClr val="0000FF"/>
                </a:solidFill>
                <a:latin typeface="Consolas"/>
              </a:rPr>
              <a:t>FROM</a:t>
            </a:r>
            <a:r>
              <a:rPr lang="en-US" sz="2000" dirty="0" smtClean="0">
                <a:solidFill>
                  <a:srgbClr val="000000"/>
                </a:solidFill>
                <a:latin typeface="Consolas"/>
              </a:rPr>
              <a:t> </a:t>
            </a:r>
            <a:r>
              <a:rPr lang="en-US" sz="2000" dirty="0" smtClean="0">
                <a:solidFill>
                  <a:srgbClr val="0000FF"/>
                </a:solidFill>
                <a:latin typeface="Consolas"/>
              </a:rPr>
              <a:t>OPENROWSET </a:t>
            </a:r>
            <a:r>
              <a:rPr lang="en-US" sz="2000" dirty="0" smtClean="0">
                <a:solidFill>
                  <a:srgbClr val="808080"/>
                </a:solidFill>
                <a:latin typeface="Consolas"/>
              </a:rPr>
              <a:t>(</a:t>
            </a:r>
            <a:r>
              <a:rPr lang="en-US" sz="2000" dirty="0" smtClean="0">
                <a:solidFill>
                  <a:srgbClr val="0000FF"/>
                </a:solidFill>
                <a:latin typeface="Consolas"/>
              </a:rPr>
              <a:t>BULK</a:t>
            </a:r>
            <a:r>
              <a:rPr lang="en-US" sz="2000" dirty="0" smtClean="0">
                <a:solidFill>
                  <a:srgbClr val="000000"/>
                </a:solidFill>
                <a:latin typeface="Consolas"/>
              </a:rPr>
              <a:t> </a:t>
            </a:r>
            <a:r>
              <a:rPr lang="en-US" sz="2000" dirty="0" smtClean="0">
                <a:solidFill>
                  <a:srgbClr val="FF0000"/>
                </a:solidFill>
                <a:latin typeface="Consolas"/>
              </a:rPr>
              <a:t>'C:\Users\MED1DBBCAdmin\Downloads\SkinFile.skin'</a:t>
            </a:r>
            <a:r>
              <a:rPr lang="en-US" sz="2000" dirty="0" smtClean="0">
                <a:solidFill>
                  <a:srgbClr val="808080"/>
                </a:solidFill>
                <a:latin typeface="Consolas"/>
              </a:rPr>
              <a:t>,</a:t>
            </a:r>
            <a:r>
              <a:rPr lang="en-US" sz="2000" dirty="0" smtClean="0">
                <a:solidFill>
                  <a:srgbClr val="000000"/>
                </a:solidFill>
                <a:latin typeface="Consolas"/>
              </a:rPr>
              <a:t> </a:t>
            </a:r>
            <a:r>
              <a:rPr lang="en-US" sz="2000" dirty="0" smtClean="0">
                <a:solidFill>
                  <a:srgbClr val="0000FF"/>
                </a:solidFill>
                <a:latin typeface="Consolas"/>
              </a:rPr>
              <a:t>SINGLE_CLOB</a:t>
            </a:r>
            <a:r>
              <a:rPr lang="en-US" sz="2000" dirty="0" smtClean="0">
                <a:solidFill>
                  <a:srgbClr val="808080"/>
                </a:solidFill>
                <a:latin typeface="Consolas"/>
              </a:rPr>
              <a:t>)</a:t>
            </a:r>
            <a:r>
              <a:rPr lang="en-US" sz="2000" dirty="0" smtClean="0">
                <a:solidFill>
                  <a:srgbClr val="000000"/>
                </a:solidFill>
                <a:latin typeface="Consolas"/>
              </a:rPr>
              <a:t> </a:t>
            </a:r>
            <a:r>
              <a:rPr lang="en-US" sz="2000" dirty="0" err="1" smtClean="0">
                <a:solidFill>
                  <a:srgbClr val="000000"/>
                </a:solidFill>
                <a:latin typeface="Consolas"/>
              </a:rPr>
              <a:t>SkinFile</a:t>
            </a:r>
            <a:r>
              <a:rPr lang="en-US" sz="2000" dirty="0" smtClean="0">
                <a:solidFill>
                  <a:srgbClr val="000000"/>
                </a:solidFill>
                <a:latin typeface="Consolas"/>
              </a:rPr>
              <a:t> </a:t>
            </a:r>
            <a:endParaRPr lang="en-US" sz="2000" dirty="0" smtClean="0">
              <a:solidFill>
                <a:srgbClr val="0000FF"/>
              </a:solidFill>
              <a:latin typeface="Consolas"/>
            </a:endParaRPr>
          </a:p>
        </p:txBody>
      </p:sp>
      <p:pic>
        <p:nvPicPr>
          <p:cNvPr id="2050" name="Picture 2"/>
          <p:cNvPicPr>
            <a:picLocks noChangeAspect="1" noChangeArrowheads="1"/>
          </p:cNvPicPr>
          <p:nvPr/>
        </p:nvPicPr>
        <p:blipFill>
          <a:blip r:embed="rId3" cstate="print"/>
          <a:srcRect/>
          <a:stretch>
            <a:fillRect/>
          </a:stretch>
        </p:blipFill>
        <p:spPr bwMode="auto">
          <a:xfrm>
            <a:off x="2935288" y="5527675"/>
            <a:ext cx="3273425" cy="72072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Dynamically Read File Content (I)</a:t>
            </a:r>
            <a:endParaRPr lang="en-US" dirty="0"/>
          </a:p>
        </p:txBody>
      </p:sp>
      <p:sp>
        <p:nvSpPr>
          <p:cNvPr id="4" name="Content Placeholder 2"/>
          <p:cNvSpPr txBox="1">
            <a:spLocks/>
          </p:cNvSpPr>
          <p:nvPr/>
        </p:nvSpPr>
        <p:spPr>
          <a:xfrm>
            <a:off x="457200" y="1752600"/>
            <a:ext cx="8229600" cy="4876800"/>
          </a:xfrm>
          <a:prstGeom prst="rect">
            <a:avLst/>
          </a:prstGeom>
          <a:solidFill>
            <a:schemeClr val="bg1">
              <a:lumMod val="95000"/>
            </a:schemeClr>
          </a:solidFill>
          <a:ln>
            <a:solidFill>
              <a:schemeClr val="bg1">
                <a:lumMod val="50000"/>
              </a:schemeClr>
            </a:solidFill>
          </a:ln>
        </p:spPr>
        <p:txBody>
          <a:bodyPr vert="horz" lIns="91440" tIns="45720" rIns="91440" bIns="45720" rtlCol="0">
            <a:noAutofit/>
          </a:bodyPr>
          <a:lstStyle/>
          <a:p>
            <a:r>
              <a:rPr lang="en-US" sz="1200" dirty="0" smtClean="0">
                <a:solidFill>
                  <a:srgbClr val="0000FF"/>
                </a:solidFill>
                <a:latin typeface="Consolas" pitchFamily="49" charset="0"/>
              </a:rPr>
              <a:t>CREATE PROCEDURE [</a:t>
            </a:r>
            <a:r>
              <a:rPr lang="en-US" sz="1200" dirty="0" err="1" smtClean="0">
                <a:solidFill>
                  <a:srgbClr val="0000FF"/>
                </a:solidFill>
                <a:latin typeface="Consolas" pitchFamily="49" charset="0"/>
              </a:rPr>
              <a:t>dbo</a:t>
            </a:r>
            <a:r>
              <a:rPr lang="en-US" sz="1200" dirty="0" smtClean="0">
                <a:solidFill>
                  <a:srgbClr val="0000FF"/>
                </a:solidFill>
                <a:latin typeface="Consolas" pitchFamily="49" charset="0"/>
              </a:rPr>
              <a:t>]</a:t>
            </a:r>
            <a:r>
              <a:rPr lang="en-US" sz="1200" dirty="0" smtClean="0">
                <a:solidFill>
                  <a:srgbClr val="808080"/>
                </a:solidFill>
                <a:latin typeface="Consolas" pitchFamily="49" charset="0"/>
              </a:rPr>
              <a:t>.[</a:t>
            </a:r>
            <a:r>
              <a:rPr lang="en-US" sz="1200" dirty="0" err="1" smtClean="0">
                <a:solidFill>
                  <a:srgbClr val="808080"/>
                </a:solidFill>
                <a:latin typeface="Consolas" pitchFamily="49" charset="0"/>
              </a:rPr>
              <a:t>Ut_Read_OS_FileContent</a:t>
            </a:r>
            <a:r>
              <a:rPr lang="en-US" sz="1200" dirty="0" smtClean="0">
                <a:solidFill>
                  <a:srgbClr val="808080"/>
                </a:solidFill>
                <a:latin typeface="Consolas" pitchFamily="49" charset="0"/>
              </a:rPr>
              <a:t>]  </a:t>
            </a:r>
          </a:p>
          <a:p>
            <a:r>
              <a:rPr lang="en-US" sz="1200" dirty="0" smtClean="0">
                <a:solidFill>
                  <a:srgbClr val="808080"/>
                </a:solidFill>
                <a:latin typeface="Consolas" pitchFamily="49" charset="0"/>
              </a:rPr>
              <a:t>(</a:t>
            </a:r>
          </a:p>
          <a:p>
            <a:r>
              <a:rPr lang="en-US" sz="1200" dirty="0" smtClean="0">
                <a:solidFill>
                  <a:srgbClr val="008000"/>
                </a:solidFill>
                <a:latin typeface="Consolas" pitchFamily="49" charset="0"/>
              </a:rPr>
              <a:t>    </a:t>
            </a:r>
            <a:r>
              <a:rPr lang="en-US" sz="1200" dirty="0" smtClean="0">
                <a:solidFill>
                  <a:schemeClr val="tx1">
                    <a:lumMod val="50000"/>
                    <a:lumOff val="50000"/>
                  </a:schemeClr>
                </a:solidFill>
                <a:latin typeface="Consolas" pitchFamily="49" charset="0"/>
              </a:rPr>
              <a:t>@</a:t>
            </a:r>
            <a:r>
              <a:rPr lang="en-US" sz="1200" dirty="0" err="1" smtClean="0">
                <a:solidFill>
                  <a:schemeClr val="tx1">
                    <a:lumMod val="50000"/>
                    <a:lumOff val="50000"/>
                  </a:schemeClr>
                </a:solidFill>
                <a:latin typeface="Consolas" pitchFamily="49" charset="0"/>
              </a:rPr>
              <a:t>OSFilePath</a:t>
            </a:r>
            <a:r>
              <a:rPr lang="en-US" sz="1200" dirty="0" smtClean="0">
                <a:solidFill>
                  <a:schemeClr val="tx1">
                    <a:lumMod val="50000"/>
                    <a:lumOff val="50000"/>
                  </a:schemeClr>
                </a:solidFill>
                <a:latin typeface="Consolas" pitchFamily="49" charset="0"/>
              </a:rPr>
              <a:t> </a:t>
            </a:r>
            <a:r>
              <a:rPr lang="en-US" sz="1200" dirty="0" smtClean="0">
                <a:solidFill>
                  <a:srgbClr val="0000FF"/>
                </a:solidFill>
                <a:latin typeface="Consolas" pitchFamily="49" charset="0"/>
              </a:rPr>
              <a:t>NVARCHAR</a:t>
            </a:r>
            <a:r>
              <a:rPr lang="en-US" sz="1200" dirty="0" smtClean="0">
                <a:solidFill>
                  <a:srgbClr val="808080"/>
                </a:solidFill>
                <a:latin typeface="Consolas" pitchFamily="49" charset="0"/>
              </a:rPr>
              <a:t>(256)</a:t>
            </a:r>
          </a:p>
          <a:p>
            <a:r>
              <a:rPr lang="en-US" sz="1200" dirty="0" smtClean="0">
                <a:solidFill>
                  <a:srgbClr val="808080"/>
                </a:solidFill>
                <a:latin typeface="Consolas" pitchFamily="49" charset="0"/>
              </a:rPr>
              <a:t>  , @</a:t>
            </a:r>
            <a:r>
              <a:rPr lang="en-US" sz="1200" dirty="0" err="1" smtClean="0">
                <a:solidFill>
                  <a:srgbClr val="808080"/>
                </a:solidFill>
                <a:latin typeface="Consolas" pitchFamily="49" charset="0"/>
              </a:rPr>
              <a:t>FileContent</a:t>
            </a:r>
            <a:r>
              <a:rPr lang="en-US" sz="1200" dirty="0" smtClean="0">
                <a:solidFill>
                  <a:srgbClr val="808080"/>
                </a:solidFill>
                <a:latin typeface="Consolas" pitchFamily="49" charset="0"/>
              </a:rPr>
              <a:t> </a:t>
            </a:r>
            <a:r>
              <a:rPr lang="en-US" sz="1200" dirty="0" smtClean="0">
                <a:solidFill>
                  <a:srgbClr val="0000FF"/>
                </a:solidFill>
                <a:latin typeface="Consolas" pitchFamily="49" charset="0"/>
              </a:rPr>
              <a:t>NVARCHAR</a:t>
            </a:r>
            <a:r>
              <a:rPr lang="en-US" sz="1200" dirty="0" smtClean="0">
                <a:solidFill>
                  <a:srgbClr val="808080"/>
                </a:solidFill>
                <a:latin typeface="Consolas" pitchFamily="49" charset="0"/>
              </a:rPr>
              <a:t>(</a:t>
            </a:r>
            <a:r>
              <a:rPr lang="en-US" sz="1200" dirty="0" smtClean="0">
                <a:solidFill>
                  <a:srgbClr val="FF00FF"/>
                </a:solidFill>
                <a:latin typeface="Consolas" pitchFamily="49" charset="0"/>
              </a:rPr>
              <a:t>MAX</a:t>
            </a:r>
            <a:r>
              <a:rPr lang="en-US" sz="1200" dirty="0" smtClean="0">
                <a:solidFill>
                  <a:srgbClr val="808080"/>
                </a:solidFill>
                <a:latin typeface="Consolas" pitchFamily="49" charset="0"/>
              </a:rPr>
              <a:t>) </a:t>
            </a:r>
            <a:r>
              <a:rPr lang="en-US" sz="1200" dirty="0" smtClean="0">
                <a:solidFill>
                  <a:srgbClr val="0000FF"/>
                </a:solidFill>
                <a:latin typeface="Consolas" pitchFamily="49" charset="0"/>
              </a:rPr>
              <a:t>OUTPUT  </a:t>
            </a:r>
          </a:p>
          <a:p>
            <a:r>
              <a:rPr lang="en-US" sz="1200" dirty="0" smtClean="0">
                <a:solidFill>
                  <a:srgbClr val="808080"/>
                </a:solidFill>
                <a:latin typeface="Consolas" pitchFamily="49" charset="0"/>
              </a:rPr>
              <a:t>)    </a:t>
            </a:r>
          </a:p>
          <a:p>
            <a:endParaRPr lang="en-US" sz="1200" dirty="0" smtClean="0">
              <a:solidFill>
                <a:srgbClr val="808080"/>
              </a:solidFill>
              <a:latin typeface="Consolas" pitchFamily="49" charset="0"/>
            </a:endParaRPr>
          </a:p>
          <a:p>
            <a:r>
              <a:rPr lang="en-US" sz="1200" dirty="0" smtClean="0">
                <a:solidFill>
                  <a:srgbClr val="0000FF"/>
                </a:solidFill>
                <a:latin typeface="Consolas" pitchFamily="49" charset="0"/>
              </a:rPr>
              <a:t>AS  </a:t>
            </a:r>
          </a:p>
          <a:p>
            <a:r>
              <a:rPr lang="en-US" sz="1200" dirty="0" smtClean="0">
                <a:solidFill>
                  <a:srgbClr val="0000FF"/>
                </a:solidFill>
                <a:latin typeface="Consolas" pitchFamily="49" charset="0"/>
              </a:rPr>
              <a:t>BEGIN</a:t>
            </a:r>
          </a:p>
          <a:p>
            <a:endParaRPr lang="en-US" sz="1200" dirty="0" smtClean="0">
              <a:solidFill>
                <a:srgbClr val="0000FF"/>
              </a:solidFill>
              <a:latin typeface="Consolas" pitchFamily="49" charset="0"/>
            </a:endParaRPr>
          </a:p>
          <a:p>
            <a:r>
              <a:rPr lang="en-US" sz="1200" dirty="0" smtClean="0">
                <a:solidFill>
                  <a:srgbClr val="0000FF"/>
                </a:solidFill>
                <a:latin typeface="Consolas" pitchFamily="49" charset="0"/>
              </a:rPr>
              <a:t>DECLARE @</a:t>
            </a:r>
            <a:r>
              <a:rPr lang="en-US" sz="1200" dirty="0" err="1" smtClean="0">
                <a:solidFill>
                  <a:srgbClr val="0000FF"/>
                </a:solidFill>
                <a:latin typeface="Consolas" pitchFamily="49" charset="0"/>
              </a:rPr>
              <a:t>sql</a:t>
            </a:r>
            <a:r>
              <a:rPr lang="en-US" sz="1200" dirty="0" smtClean="0">
                <a:solidFill>
                  <a:srgbClr val="0000FF"/>
                </a:solidFill>
                <a:latin typeface="Consolas" pitchFamily="49" charset="0"/>
              </a:rPr>
              <a:t> NVARCHAR</a:t>
            </a:r>
            <a:r>
              <a:rPr lang="en-US" sz="1200" dirty="0" smtClean="0">
                <a:solidFill>
                  <a:srgbClr val="808080"/>
                </a:solidFill>
                <a:latin typeface="Consolas" pitchFamily="49" charset="0"/>
              </a:rPr>
              <a:t>(</a:t>
            </a:r>
            <a:r>
              <a:rPr lang="en-US" sz="1200" dirty="0" smtClean="0">
                <a:solidFill>
                  <a:srgbClr val="FF00FF"/>
                </a:solidFill>
                <a:latin typeface="Consolas" pitchFamily="49" charset="0"/>
              </a:rPr>
              <a:t>MAX</a:t>
            </a:r>
            <a:r>
              <a:rPr lang="en-US" sz="1200" dirty="0" smtClean="0">
                <a:solidFill>
                  <a:srgbClr val="808080"/>
                </a:solidFill>
                <a:latin typeface="Consolas" pitchFamily="49" charset="0"/>
              </a:rPr>
              <a:t>) </a:t>
            </a:r>
          </a:p>
          <a:p>
            <a:r>
              <a:rPr lang="en-US" sz="1200" dirty="0" smtClean="0">
                <a:solidFill>
                  <a:srgbClr val="808080"/>
                </a:solidFill>
                <a:latin typeface="Consolas" pitchFamily="49" charset="0"/>
              </a:rPr>
              <a:t>      , @</a:t>
            </a:r>
            <a:r>
              <a:rPr lang="en-US" sz="1200" dirty="0" err="1" smtClean="0">
                <a:solidFill>
                  <a:srgbClr val="808080"/>
                </a:solidFill>
                <a:latin typeface="Consolas" pitchFamily="49" charset="0"/>
              </a:rPr>
              <a:t>parmsdeclare</a:t>
            </a:r>
            <a:r>
              <a:rPr lang="en-US" sz="1200" dirty="0" smtClean="0">
                <a:solidFill>
                  <a:srgbClr val="808080"/>
                </a:solidFill>
                <a:latin typeface="Consolas" pitchFamily="49" charset="0"/>
              </a:rPr>
              <a:t> </a:t>
            </a:r>
            <a:r>
              <a:rPr lang="en-US" sz="1200" dirty="0" smtClean="0">
                <a:solidFill>
                  <a:srgbClr val="0000FF"/>
                </a:solidFill>
                <a:latin typeface="Consolas" pitchFamily="49" charset="0"/>
              </a:rPr>
              <a:t>NVARCHAR</a:t>
            </a:r>
            <a:r>
              <a:rPr lang="en-US" sz="1200" dirty="0" smtClean="0">
                <a:solidFill>
                  <a:srgbClr val="808080"/>
                </a:solidFill>
                <a:latin typeface="Consolas" pitchFamily="49" charset="0"/>
              </a:rPr>
              <a:t>(4000)</a:t>
            </a:r>
          </a:p>
          <a:p>
            <a:endParaRPr lang="en-US" sz="1200" dirty="0" smtClean="0">
              <a:solidFill>
                <a:srgbClr val="808080"/>
              </a:solidFill>
              <a:latin typeface="Consolas" pitchFamily="49" charset="0"/>
            </a:endParaRPr>
          </a:p>
          <a:p>
            <a:r>
              <a:rPr lang="en-US" sz="1200" dirty="0" smtClean="0">
                <a:solidFill>
                  <a:srgbClr val="0000FF"/>
                </a:solidFill>
                <a:latin typeface="Consolas" pitchFamily="49" charset="0"/>
              </a:rPr>
              <a:t>SET @</a:t>
            </a:r>
            <a:r>
              <a:rPr lang="en-US" sz="1200" dirty="0" err="1" smtClean="0">
                <a:solidFill>
                  <a:srgbClr val="0000FF"/>
                </a:solidFill>
                <a:latin typeface="Consolas" pitchFamily="49" charset="0"/>
              </a:rPr>
              <a:t>sql</a:t>
            </a:r>
            <a:r>
              <a:rPr lang="en-US" sz="1200" dirty="0" smtClean="0">
                <a:solidFill>
                  <a:srgbClr val="0000FF"/>
                </a:solidFill>
                <a:latin typeface="Consolas" pitchFamily="49" charset="0"/>
              </a:rPr>
              <a:t> </a:t>
            </a:r>
            <a:r>
              <a:rPr lang="en-US" sz="1200" dirty="0" smtClean="0">
                <a:solidFill>
                  <a:srgbClr val="808080"/>
                </a:solidFill>
                <a:latin typeface="Consolas" pitchFamily="49" charset="0"/>
              </a:rPr>
              <a:t>= </a:t>
            </a:r>
            <a:r>
              <a:rPr lang="en-US" sz="1200" dirty="0" smtClean="0">
                <a:solidFill>
                  <a:srgbClr val="FF0000"/>
                </a:solidFill>
                <a:latin typeface="Consolas" pitchFamily="49" charset="0"/>
              </a:rPr>
              <a:t>'select @</a:t>
            </a:r>
            <a:r>
              <a:rPr lang="en-US" sz="1200" dirty="0" err="1" smtClean="0">
                <a:solidFill>
                  <a:srgbClr val="FF0000"/>
                </a:solidFill>
                <a:latin typeface="Consolas" pitchFamily="49" charset="0"/>
              </a:rPr>
              <a:t>FileContent</a:t>
            </a:r>
            <a:r>
              <a:rPr lang="en-US" sz="1200" dirty="0" smtClean="0">
                <a:solidFill>
                  <a:srgbClr val="FF0000"/>
                </a:solidFill>
                <a:latin typeface="Consolas" pitchFamily="49" charset="0"/>
              </a:rPr>
              <a:t>=(select * from </a:t>
            </a:r>
            <a:r>
              <a:rPr lang="en-US" sz="1200" dirty="0" err="1" smtClean="0">
                <a:solidFill>
                  <a:srgbClr val="FF0000"/>
                </a:solidFill>
                <a:latin typeface="Consolas" pitchFamily="49" charset="0"/>
              </a:rPr>
              <a:t>openrowset</a:t>
            </a:r>
            <a:r>
              <a:rPr lang="en-US" sz="1200" dirty="0" smtClean="0">
                <a:solidFill>
                  <a:srgbClr val="FF0000"/>
                </a:solidFill>
                <a:latin typeface="Consolas" pitchFamily="49" charset="0"/>
              </a:rPr>
              <a:t> ( </a:t>
            </a:r>
          </a:p>
          <a:p>
            <a:r>
              <a:rPr lang="en-US" sz="1200" dirty="0" smtClean="0">
                <a:solidFill>
                  <a:srgbClr val="FF0000"/>
                </a:solidFill>
                <a:latin typeface="Consolas" pitchFamily="49" charset="0"/>
              </a:rPr>
              <a:t>           bulk ''' </a:t>
            </a:r>
            <a:r>
              <a:rPr lang="en-US" sz="1200" dirty="0" smtClean="0">
                <a:solidFill>
                  <a:srgbClr val="808080"/>
                </a:solidFill>
                <a:latin typeface="Consolas" pitchFamily="49" charset="0"/>
              </a:rPr>
              <a:t>+ @</a:t>
            </a:r>
            <a:r>
              <a:rPr lang="en-US" sz="1200" dirty="0" err="1" smtClean="0">
                <a:solidFill>
                  <a:srgbClr val="808080"/>
                </a:solidFill>
                <a:latin typeface="Consolas" pitchFamily="49" charset="0"/>
              </a:rPr>
              <a:t>OSFilePath</a:t>
            </a:r>
            <a:r>
              <a:rPr lang="en-US" sz="1200" dirty="0" smtClean="0">
                <a:solidFill>
                  <a:srgbClr val="808080"/>
                </a:solidFill>
                <a:latin typeface="Consolas" pitchFamily="49" charset="0"/>
              </a:rPr>
              <a:t> + </a:t>
            </a:r>
            <a:r>
              <a:rPr lang="en-US" sz="1200" dirty="0" smtClean="0">
                <a:solidFill>
                  <a:srgbClr val="FF0000"/>
                </a:solidFill>
                <a:latin typeface="Consolas" pitchFamily="49" charset="0"/>
              </a:rPr>
              <a:t>''' </a:t>
            </a:r>
          </a:p>
          <a:p>
            <a:r>
              <a:rPr lang="en-US" sz="1200" dirty="0" smtClean="0">
                <a:solidFill>
                  <a:srgbClr val="FF0000"/>
                </a:solidFill>
                <a:latin typeface="Consolas" pitchFamily="49" charset="0"/>
              </a:rPr>
              <a:t>           ,SINGLE_CLOB) x </a:t>
            </a:r>
          </a:p>
          <a:p>
            <a:r>
              <a:rPr lang="en-US" sz="1200" dirty="0" smtClean="0">
                <a:solidFill>
                  <a:srgbClr val="FF0000"/>
                </a:solidFill>
                <a:latin typeface="Consolas" pitchFamily="49" charset="0"/>
              </a:rPr>
              <a:t>           )' </a:t>
            </a:r>
          </a:p>
          <a:p>
            <a:endParaRPr lang="en-US" sz="1200" dirty="0" smtClean="0">
              <a:solidFill>
                <a:srgbClr val="FF0000"/>
              </a:solidFill>
              <a:latin typeface="Consolas" pitchFamily="49" charset="0"/>
            </a:endParaRPr>
          </a:p>
          <a:p>
            <a:r>
              <a:rPr lang="en-US" sz="1200" dirty="0" smtClean="0">
                <a:solidFill>
                  <a:srgbClr val="0000FF"/>
                </a:solidFill>
                <a:latin typeface="Consolas" pitchFamily="49" charset="0"/>
              </a:rPr>
              <a:t>SET @</a:t>
            </a:r>
            <a:r>
              <a:rPr lang="en-US" sz="1200" dirty="0" err="1" smtClean="0">
                <a:solidFill>
                  <a:srgbClr val="0000FF"/>
                </a:solidFill>
                <a:latin typeface="Consolas" pitchFamily="49" charset="0"/>
              </a:rPr>
              <a:t>parmsdeclare</a:t>
            </a:r>
            <a:r>
              <a:rPr lang="en-US" sz="1200" dirty="0" smtClean="0">
                <a:solidFill>
                  <a:srgbClr val="0000FF"/>
                </a:solidFill>
                <a:latin typeface="Consolas" pitchFamily="49" charset="0"/>
              </a:rPr>
              <a:t> </a:t>
            </a:r>
            <a:r>
              <a:rPr lang="en-US" sz="1200" dirty="0" smtClean="0">
                <a:solidFill>
                  <a:srgbClr val="808080"/>
                </a:solidFill>
                <a:latin typeface="Consolas" pitchFamily="49" charset="0"/>
              </a:rPr>
              <a:t>= </a:t>
            </a:r>
            <a:r>
              <a:rPr lang="en-US" sz="1200" dirty="0" smtClean="0">
                <a:solidFill>
                  <a:srgbClr val="FF0000"/>
                </a:solidFill>
                <a:latin typeface="Consolas" pitchFamily="49" charset="0"/>
              </a:rPr>
              <a:t>'@</a:t>
            </a:r>
            <a:r>
              <a:rPr lang="en-US" sz="1200" dirty="0" err="1" smtClean="0">
                <a:solidFill>
                  <a:srgbClr val="FF0000"/>
                </a:solidFill>
                <a:latin typeface="Consolas" pitchFamily="49" charset="0"/>
              </a:rPr>
              <a:t>FileContent</a:t>
            </a:r>
            <a:r>
              <a:rPr lang="en-US" sz="1200" dirty="0" smtClean="0">
                <a:solidFill>
                  <a:srgbClr val="FF0000"/>
                </a:solidFill>
                <a:latin typeface="Consolas" pitchFamily="49" charset="0"/>
              </a:rPr>
              <a:t> </a:t>
            </a:r>
            <a:r>
              <a:rPr lang="en-US" sz="1200" dirty="0" err="1" smtClean="0">
                <a:solidFill>
                  <a:srgbClr val="FF0000"/>
                </a:solidFill>
                <a:latin typeface="Consolas" pitchFamily="49" charset="0"/>
              </a:rPr>
              <a:t>varchar</a:t>
            </a:r>
            <a:r>
              <a:rPr lang="en-US" sz="1200" dirty="0" smtClean="0">
                <a:solidFill>
                  <a:srgbClr val="FF0000"/>
                </a:solidFill>
                <a:latin typeface="Consolas" pitchFamily="49" charset="0"/>
              </a:rPr>
              <a:t>(max) OUTPUT'  </a:t>
            </a:r>
          </a:p>
          <a:p>
            <a:endParaRPr lang="en-US" sz="1200" dirty="0" smtClean="0">
              <a:solidFill>
                <a:srgbClr val="FF0000"/>
              </a:solidFill>
              <a:latin typeface="Consolas" pitchFamily="49" charset="0"/>
            </a:endParaRPr>
          </a:p>
          <a:p>
            <a:r>
              <a:rPr lang="en-US" sz="1200" dirty="0" smtClean="0">
                <a:solidFill>
                  <a:srgbClr val="0000FF"/>
                </a:solidFill>
                <a:latin typeface="Consolas" pitchFamily="49" charset="0"/>
              </a:rPr>
              <a:t>EXEC </a:t>
            </a:r>
            <a:r>
              <a:rPr lang="en-US" sz="1200" dirty="0" err="1" smtClean="0">
                <a:solidFill>
                  <a:srgbClr val="800000"/>
                </a:solidFill>
                <a:latin typeface="Consolas" pitchFamily="49" charset="0"/>
              </a:rPr>
              <a:t>sp_executesql</a:t>
            </a:r>
            <a:r>
              <a:rPr lang="en-US" sz="1200" dirty="0" smtClean="0">
                <a:solidFill>
                  <a:srgbClr val="0000FF"/>
                </a:solidFill>
                <a:latin typeface="Consolas" pitchFamily="49" charset="0"/>
              </a:rPr>
              <a:t> @stmt </a:t>
            </a:r>
            <a:r>
              <a:rPr lang="en-US" sz="1200" dirty="0" smtClean="0">
                <a:solidFill>
                  <a:srgbClr val="808080"/>
                </a:solidFill>
                <a:latin typeface="Consolas" pitchFamily="49" charset="0"/>
              </a:rPr>
              <a:t>= @</a:t>
            </a:r>
            <a:r>
              <a:rPr lang="en-US" sz="1200" dirty="0" err="1" smtClean="0">
                <a:solidFill>
                  <a:srgbClr val="808080"/>
                </a:solidFill>
                <a:latin typeface="Consolas" pitchFamily="49" charset="0"/>
              </a:rPr>
              <a:t>sql</a:t>
            </a:r>
            <a:r>
              <a:rPr lang="en-US" sz="1200" dirty="0" smtClean="0">
                <a:solidFill>
                  <a:srgbClr val="808080"/>
                </a:solidFill>
                <a:latin typeface="Consolas" pitchFamily="49" charset="0"/>
              </a:rPr>
              <a:t> </a:t>
            </a:r>
          </a:p>
          <a:p>
            <a:r>
              <a:rPr lang="en-US" sz="1200" dirty="0" smtClean="0">
                <a:solidFill>
                  <a:srgbClr val="808080"/>
                </a:solidFill>
                <a:latin typeface="Consolas" pitchFamily="49" charset="0"/>
              </a:rPr>
              <a:t>                 , @</a:t>
            </a:r>
            <a:r>
              <a:rPr lang="en-US" sz="1200" dirty="0" err="1" smtClean="0">
                <a:solidFill>
                  <a:srgbClr val="808080"/>
                </a:solidFill>
                <a:latin typeface="Consolas" pitchFamily="49" charset="0"/>
              </a:rPr>
              <a:t>params</a:t>
            </a:r>
            <a:r>
              <a:rPr lang="en-US" sz="1200" dirty="0" smtClean="0">
                <a:solidFill>
                  <a:srgbClr val="808080"/>
                </a:solidFill>
                <a:latin typeface="Consolas" pitchFamily="49" charset="0"/>
              </a:rPr>
              <a:t> = @</a:t>
            </a:r>
            <a:r>
              <a:rPr lang="en-US" sz="1200" dirty="0" err="1" smtClean="0">
                <a:solidFill>
                  <a:srgbClr val="808080"/>
                </a:solidFill>
                <a:latin typeface="Consolas" pitchFamily="49" charset="0"/>
              </a:rPr>
              <a:t>parmsdeclare</a:t>
            </a:r>
            <a:r>
              <a:rPr lang="en-US" sz="1200" dirty="0" smtClean="0">
                <a:solidFill>
                  <a:srgbClr val="808080"/>
                </a:solidFill>
                <a:latin typeface="Consolas" pitchFamily="49" charset="0"/>
              </a:rPr>
              <a:t> </a:t>
            </a:r>
          </a:p>
          <a:p>
            <a:r>
              <a:rPr lang="en-US" sz="1200" dirty="0" smtClean="0">
                <a:solidFill>
                  <a:srgbClr val="808080"/>
                </a:solidFill>
                <a:latin typeface="Consolas" pitchFamily="49" charset="0"/>
              </a:rPr>
              <a:t>                 , @</a:t>
            </a:r>
            <a:r>
              <a:rPr lang="en-US" sz="1200" dirty="0" err="1" smtClean="0">
                <a:solidFill>
                  <a:srgbClr val="808080"/>
                </a:solidFill>
                <a:latin typeface="Consolas" pitchFamily="49" charset="0"/>
              </a:rPr>
              <a:t>FileContent</a:t>
            </a:r>
            <a:r>
              <a:rPr lang="en-US" sz="1200" dirty="0" smtClean="0">
                <a:solidFill>
                  <a:srgbClr val="808080"/>
                </a:solidFill>
                <a:latin typeface="Consolas" pitchFamily="49" charset="0"/>
              </a:rPr>
              <a:t> = @</a:t>
            </a:r>
            <a:r>
              <a:rPr lang="en-US" sz="1200" dirty="0" err="1" smtClean="0">
                <a:solidFill>
                  <a:srgbClr val="808080"/>
                </a:solidFill>
                <a:latin typeface="Consolas" pitchFamily="49" charset="0"/>
              </a:rPr>
              <a:t>FileContent</a:t>
            </a:r>
            <a:r>
              <a:rPr lang="en-US" sz="1200" dirty="0" smtClean="0">
                <a:solidFill>
                  <a:srgbClr val="808080"/>
                </a:solidFill>
                <a:latin typeface="Consolas" pitchFamily="49" charset="0"/>
              </a:rPr>
              <a:t> </a:t>
            </a:r>
            <a:r>
              <a:rPr lang="en-US" sz="1200" dirty="0" smtClean="0">
                <a:solidFill>
                  <a:srgbClr val="0000FF"/>
                </a:solidFill>
                <a:latin typeface="Consolas" pitchFamily="49" charset="0"/>
              </a:rPr>
              <a:t>OUTPUT </a:t>
            </a:r>
          </a:p>
          <a:p>
            <a:r>
              <a:rPr lang="en-US" sz="1200" dirty="0" smtClean="0">
                <a:solidFill>
                  <a:srgbClr val="0000FF"/>
                </a:solidFill>
                <a:latin typeface="Consolas" pitchFamily="49" charset="0"/>
              </a:rPr>
              <a:t>                 </a:t>
            </a:r>
          </a:p>
          <a:p>
            <a:r>
              <a:rPr lang="en-US" sz="1200" dirty="0" smtClean="0">
                <a:solidFill>
                  <a:srgbClr val="0000FF"/>
                </a:solidFill>
                <a:latin typeface="Consolas" pitchFamily="49" charset="0"/>
              </a:rPr>
              <a:t>END</a:t>
            </a:r>
          </a:p>
          <a:p>
            <a:endParaRPr lang="en-US" sz="1200" dirty="0" smtClean="0">
              <a:solidFill>
                <a:srgbClr val="0000FF"/>
              </a:solidFill>
              <a:latin typeface="Consolas" pitchFamily="49" charset="0"/>
            </a:endParaRPr>
          </a:p>
          <a:p>
            <a:r>
              <a:rPr lang="en-US" sz="1200" dirty="0" smtClean="0">
                <a:solidFill>
                  <a:srgbClr val="0000FF"/>
                </a:solidFill>
                <a:latin typeface="Consolas" pitchFamily="49" charset="0"/>
              </a:rPr>
              <a:t>GO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Dynamically Read File Content (II)</a:t>
            </a:r>
            <a:endParaRPr lang="en-US" dirty="0"/>
          </a:p>
        </p:txBody>
      </p:sp>
      <p:sp>
        <p:nvSpPr>
          <p:cNvPr id="4" name="Content Placeholder 2"/>
          <p:cNvSpPr txBox="1">
            <a:spLocks/>
          </p:cNvSpPr>
          <p:nvPr/>
        </p:nvSpPr>
        <p:spPr>
          <a:xfrm>
            <a:off x="457200" y="1752600"/>
            <a:ext cx="8229600" cy="2057400"/>
          </a:xfrm>
          <a:prstGeom prst="rect">
            <a:avLst/>
          </a:prstGeom>
          <a:solidFill>
            <a:schemeClr val="bg1">
              <a:lumMod val="95000"/>
            </a:schemeClr>
          </a:solidFill>
          <a:ln>
            <a:solidFill>
              <a:schemeClr val="bg1">
                <a:lumMod val="50000"/>
              </a:schemeClr>
            </a:solidFill>
          </a:ln>
        </p:spPr>
        <p:txBody>
          <a:bodyPr vert="horz" lIns="91440" tIns="45720" rIns="91440" bIns="45720" rtlCol="0">
            <a:noAutofit/>
          </a:bodyPr>
          <a:lstStyle/>
          <a:p>
            <a:r>
              <a:rPr lang="en-US" dirty="0" smtClean="0">
                <a:solidFill>
                  <a:srgbClr val="0000FF"/>
                </a:solidFill>
                <a:latin typeface="Consolas" pitchFamily="49" charset="0"/>
              </a:rPr>
              <a:t>DECLARE @</a:t>
            </a:r>
            <a:r>
              <a:rPr lang="en-US" dirty="0" err="1" smtClean="0">
                <a:solidFill>
                  <a:srgbClr val="0000FF"/>
                </a:solidFill>
                <a:latin typeface="Consolas" pitchFamily="49" charset="0"/>
              </a:rPr>
              <a:t>SkinFilePath</a:t>
            </a:r>
            <a:r>
              <a:rPr lang="en-US" dirty="0" smtClean="0">
                <a:solidFill>
                  <a:srgbClr val="0000FF"/>
                </a:solidFill>
                <a:latin typeface="Consolas" pitchFamily="49" charset="0"/>
              </a:rPr>
              <a:t> </a:t>
            </a:r>
            <a:r>
              <a:rPr lang="en-US" dirty="0" err="1" smtClean="0">
                <a:solidFill>
                  <a:srgbClr val="0000FF"/>
                </a:solidFill>
                <a:latin typeface="Consolas" pitchFamily="49" charset="0"/>
              </a:rPr>
              <a:t>nvarchar</a:t>
            </a:r>
            <a:r>
              <a:rPr lang="en-US" dirty="0" smtClean="0">
                <a:solidFill>
                  <a:srgbClr val="808080"/>
                </a:solidFill>
                <a:latin typeface="Consolas" pitchFamily="49" charset="0"/>
              </a:rPr>
              <a:t>(256);</a:t>
            </a:r>
          </a:p>
          <a:p>
            <a:r>
              <a:rPr lang="en-US" dirty="0" smtClean="0">
                <a:solidFill>
                  <a:srgbClr val="0000FF"/>
                </a:solidFill>
                <a:latin typeface="Consolas" pitchFamily="49" charset="0"/>
              </a:rPr>
              <a:t>DECLARE @</a:t>
            </a:r>
            <a:r>
              <a:rPr lang="en-US" dirty="0" err="1" smtClean="0">
                <a:solidFill>
                  <a:srgbClr val="0000FF"/>
                </a:solidFill>
                <a:latin typeface="Consolas" pitchFamily="49" charset="0"/>
              </a:rPr>
              <a:t>FileContent</a:t>
            </a:r>
            <a:r>
              <a:rPr lang="en-US" dirty="0" smtClean="0">
                <a:solidFill>
                  <a:srgbClr val="0000FF"/>
                </a:solidFill>
                <a:latin typeface="Consolas" pitchFamily="49" charset="0"/>
              </a:rPr>
              <a:t> NVARCHAR</a:t>
            </a:r>
            <a:r>
              <a:rPr lang="en-US" dirty="0" smtClean="0">
                <a:solidFill>
                  <a:srgbClr val="808080"/>
                </a:solidFill>
                <a:latin typeface="Consolas" pitchFamily="49" charset="0"/>
              </a:rPr>
              <a:t>(</a:t>
            </a:r>
            <a:r>
              <a:rPr lang="en-US" dirty="0" smtClean="0">
                <a:solidFill>
                  <a:srgbClr val="FF00FF"/>
                </a:solidFill>
                <a:latin typeface="Consolas" pitchFamily="49" charset="0"/>
              </a:rPr>
              <a:t>MAX</a:t>
            </a:r>
            <a:r>
              <a:rPr lang="en-US" dirty="0" smtClean="0">
                <a:solidFill>
                  <a:srgbClr val="808080"/>
                </a:solidFill>
                <a:latin typeface="Consolas" pitchFamily="49" charset="0"/>
              </a:rPr>
              <a:t>);</a:t>
            </a:r>
          </a:p>
          <a:p>
            <a:r>
              <a:rPr lang="en-US" dirty="0" smtClean="0">
                <a:solidFill>
                  <a:srgbClr val="0000FF"/>
                </a:solidFill>
                <a:latin typeface="Consolas" pitchFamily="49" charset="0"/>
              </a:rPr>
              <a:t>SELECT @</a:t>
            </a:r>
            <a:r>
              <a:rPr lang="en-US" dirty="0" err="1" smtClean="0">
                <a:solidFill>
                  <a:srgbClr val="0000FF"/>
                </a:solidFill>
                <a:latin typeface="Consolas" pitchFamily="49" charset="0"/>
              </a:rPr>
              <a:t>SkinFilePath</a:t>
            </a:r>
            <a:r>
              <a:rPr lang="en-US" dirty="0" smtClean="0">
                <a:solidFill>
                  <a:srgbClr val="0000FF"/>
                </a:solidFill>
                <a:latin typeface="Consolas" pitchFamily="49" charset="0"/>
              </a:rPr>
              <a:t> </a:t>
            </a:r>
            <a:r>
              <a:rPr lang="en-US" dirty="0" smtClean="0">
                <a:solidFill>
                  <a:srgbClr val="808080"/>
                </a:solidFill>
                <a:latin typeface="Consolas" pitchFamily="49" charset="0"/>
              </a:rPr>
              <a:t>= </a:t>
            </a:r>
            <a:r>
              <a:rPr lang="en-US" dirty="0" smtClean="0">
                <a:solidFill>
                  <a:srgbClr val="FF0000"/>
                </a:solidFill>
                <a:latin typeface="Consolas" pitchFamily="49" charset="0"/>
              </a:rPr>
              <a:t>'C:\Users\admin\Downloads\TestCompany1\SkinFile.skin'</a:t>
            </a:r>
            <a:r>
              <a:rPr lang="en-US" dirty="0" smtClean="0">
                <a:solidFill>
                  <a:srgbClr val="808080"/>
                </a:solidFill>
                <a:latin typeface="Consolas" pitchFamily="49" charset="0"/>
              </a:rPr>
              <a:t>;</a:t>
            </a:r>
          </a:p>
          <a:p>
            <a:r>
              <a:rPr lang="en-US" dirty="0" smtClean="0">
                <a:solidFill>
                  <a:srgbClr val="0000FF"/>
                </a:solidFill>
                <a:latin typeface="Consolas" pitchFamily="49" charset="0"/>
              </a:rPr>
              <a:t>EXECUTE </a:t>
            </a:r>
            <a:r>
              <a:rPr lang="en-US" dirty="0" err="1" smtClean="0">
                <a:solidFill>
                  <a:srgbClr val="0000FF"/>
                </a:solidFill>
                <a:latin typeface="Consolas" pitchFamily="49" charset="0"/>
              </a:rPr>
              <a:t>dbo</a:t>
            </a:r>
            <a:r>
              <a:rPr lang="en-US" dirty="0" err="1" smtClean="0">
                <a:solidFill>
                  <a:srgbClr val="808080"/>
                </a:solidFill>
                <a:latin typeface="Consolas" pitchFamily="49" charset="0"/>
              </a:rPr>
              <a:t>.Ut_Read_OS_FileContent</a:t>
            </a:r>
            <a:r>
              <a:rPr lang="en-US" dirty="0" smtClean="0">
                <a:solidFill>
                  <a:srgbClr val="0000FF"/>
                </a:solidFill>
                <a:latin typeface="Consolas" pitchFamily="49" charset="0"/>
              </a:rPr>
              <a:t> @</a:t>
            </a:r>
            <a:r>
              <a:rPr lang="en-US" dirty="0" err="1" smtClean="0">
                <a:solidFill>
                  <a:srgbClr val="0000FF"/>
                </a:solidFill>
                <a:latin typeface="Consolas" pitchFamily="49" charset="0"/>
              </a:rPr>
              <a:t>SkinFilePath</a:t>
            </a:r>
            <a:r>
              <a:rPr lang="en-US" dirty="0" smtClean="0">
                <a:solidFill>
                  <a:srgbClr val="808080"/>
                </a:solidFill>
                <a:latin typeface="Consolas" pitchFamily="49" charset="0"/>
              </a:rPr>
              <a:t>, @</a:t>
            </a:r>
            <a:r>
              <a:rPr lang="en-US" dirty="0" err="1" smtClean="0">
                <a:solidFill>
                  <a:srgbClr val="808080"/>
                </a:solidFill>
                <a:latin typeface="Consolas" pitchFamily="49" charset="0"/>
              </a:rPr>
              <a:t>FileContent</a:t>
            </a:r>
            <a:r>
              <a:rPr lang="en-US" dirty="0" smtClean="0">
                <a:solidFill>
                  <a:srgbClr val="808080"/>
                </a:solidFill>
                <a:latin typeface="Consolas" pitchFamily="49" charset="0"/>
              </a:rPr>
              <a:t> </a:t>
            </a:r>
            <a:r>
              <a:rPr lang="en-US" dirty="0" smtClean="0">
                <a:solidFill>
                  <a:srgbClr val="0000FF"/>
                </a:solidFill>
                <a:latin typeface="Consolas" pitchFamily="49" charset="0"/>
              </a:rPr>
              <a:t>OUTPUT</a:t>
            </a:r>
            <a:r>
              <a:rPr lang="en-US" dirty="0" smtClean="0">
                <a:solidFill>
                  <a:srgbClr val="808080"/>
                </a:solidFill>
                <a:latin typeface="Consolas" pitchFamily="49" charset="0"/>
              </a:rPr>
              <a:t>;</a:t>
            </a:r>
          </a:p>
          <a:p>
            <a:r>
              <a:rPr lang="en-US" dirty="0" smtClean="0">
                <a:solidFill>
                  <a:srgbClr val="0000FF"/>
                </a:solidFill>
                <a:latin typeface="Consolas" pitchFamily="49" charset="0"/>
              </a:rPr>
              <a:t>SELECT @</a:t>
            </a:r>
            <a:r>
              <a:rPr lang="en-US" dirty="0" err="1" smtClean="0">
                <a:solidFill>
                  <a:srgbClr val="0000FF"/>
                </a:solidFill>
                <a:latin typeface="Consolas" pitchFamily="49" charset="0"/>
              </a:rPr>
              <a:t>FileContent</a:t>
            </a:r>
            <a:r>
              <a:rPr lang="en-US" dirty="0" smtClean="0">
                <a:solidFill>
                  <a:srgbClr val="808080"/>
                </a:solidFill>
                <a:latin typeface="Consolas" pitchFamily="49" charset="0"/>
              </a:rPr>
              <a:t>;</a:t>
            </a:r>
            <a:endParaRPr lang="en-US" dirty="0" smtClean="0">
              <a:solidFill>
                <a:srgbClr val="0000FF"/>
              </a:solidFill>
              <a:latin typeface="Consolas" pitchFamily="49"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Determine If a File Exists</a:t>
            </a:r>
            <a:endParaRPr lang="en-US" dirty="0"/>
          </a:p>
        </p:txBody>
      </p:sp>
      <p:sp>
        <p:nvSpPr>
          <p:cNvPr id="4" name="Content Placeholder 2"/>
          <p:cNvSpPr txBox="1">
            <a:spLocks/>
          </p:cNvSpPr>
          <p:nvPr/>
        </p:nvSpPr>
        <p:spPr>
          <a:xfrm>
            <a:off x="457200" y="1752600"/>
            <a:ext cx="8229600" cy="2057400"/>
          </a:xfrm>
          <a:prstGeom prst="rect">
            <a:avLst/>
          </a:prstGeom>
          <a:solidFill>
            <a:schemeClr val="bg1">
              <a:lumMod val="95000"/>
            </a:schemeClr>
          </a:solidFill>
          <a:ln>
            <a:solidFill>
              <a:schemeClr val="bg1">
                <a:lumMod val="50000"/>
              </a:schemeClr>
            </a:solidFill>
          </a:ln>
        </p:spPr>
        <p:txBody>
          <a:bodyPr vert="horz" lIns="91440" tIns="45720" rIns="91440" bIns="45720" rtlCol="0">
            <a:noAutofit/>
          </a:bodyPr>
          <a:lstStyle/>
          <a:p>
            <a:r>
              <a:rPr lang="en-US" dirty="0" smtClean="0">
                <a:solidFill>
                  <a:srgbClr val="0000FF"/>
                </a:solidFill>
                <a:latin typeface="Consolas" pitchFamily="49" charset="0"/>
              </a:rPr>
              <a:t>DECLARE @</a:t>
            </a:r>
            <a:r>
              <a:rPr lang="en-US" dirty="0" err="1" smtClean="0">
                <a:solidFill>
                  <a:srgbClr val="0000FF"/>
                </a:solidFill>
                <a:latin typeface="Consolas" pitchFamily="49" charset="0"/>
              </a:rPr>
              <a:t>SkinFilePath</a:t>
            </a:r>
            <a:r>
              <a:rPr lang="en-US" dirty="0" smtClean="0">
                <a:solidFill>
                  <a:srgbClr val="0000FF"/>
                </a:solidFill>
                <a:latin typeface="Consolas" pitchFamily="49" charset="0"/>
              </a:rPr>
              <a:t> </a:t>
            </a:r>
            <a:r>
              <a:rPr lang="en-US" dirty="0" err="1" smtClean="0">
                <a:solidFill>
                  <a:srgbClr val="0000FF"/>
                </a:solidFill>
                <a:latin typeface="Consolas" pitchFamily="49" charset="0"/>
              </a:rPr>
              <a:t>nvarchar</a:t>
            </a:r>
            <a:r>
              <a:rPr lang="en-US" dirty="0" smtClean="0">
                <a:solidFill>
                  <a:srgbClr val="808080"/>
                </a:solidFill>
                <a:latin typeface="Consolas" pitchFamily="49" charset="0"/>
              </a:rPr>
              <a:t>(256);</a:t>
            </a:r>
          </a:p>
          <a:p>
            <a:r>
              <a:rPr lang="en-US" dirty="0" smtClean="0">
                <a:solidFill>
                  <a:srgbClr val="0000FF"/>
                </a:solidFill>
                <a:latin typeface="Consolas" pitchFamily="49" charset="0"/>
              </a:rPr>
              <a:t>DECLARE @</a:t>
            </a:r>
            <a:r>
              <a:rPr lang="en-US" dirty="0" err="1" smtClean="0">
                <a:solidFill>
                  <a:srgbClr val="0000FF"/>
                </a:solidFill>
                <a:latin typeface="Consolas" pitchFamily="49" charset="0"/>
              </a:rPr>
              <a:t>FileExists</a:t>
            </a:r>
            <a:r>
              <a:rPr lang="en-US" dirty="0" smtClean="0">
                <a:solidFill>
                  <a:srgbClr val="0000FF"/>
                </a:solidFill>
                <a:latin typeface="Consolas" pitchFamily="49" charset="0"/>
              </a:rPr>
              <a:t> INT</a:t>
            </a:r>
          </a:p>
          <a:p>
            <a:r>
              <a:rPr lang="en-US" dirty="0" smtClean="0">
                <a:solidFill>
                  <a:srgbClr val="0000FF"/>
                </a:solidFill>
                <a:latin typeface="Consolas" pitchFamily="49" charset="0"/>
              </a:rPr>
              <a:t>SELECT @</a:t>
            </a:r>
            <a:r>
              <a:rPr lang="en-US" dirty="0" err="1" smtClean="0">
                <a:solidFill>
                  <a:srgbClr val="0000FF"/>
                </a:solidFill>
                <a:latin typeface="Consolas" pitchFamily="49" charset="0"/>
              </a:rPr>
              <a:t>SkinFilePath</a:t>
            </a:r>
            <a:r>
              <a:rPr lang="en-US" dirty="0" smtClean="0">
                <a:solidFill>
                  <a:srgbClr val="0000FF"/>
                </a:solidFill>
                <a:latin typeface="Consolas" pitchFamily="49" charset="0"/>
              </a:rPr>
              <a:t> </a:t>
            </a:r>
            <a:r>
              <a:rPr lang="en-US" dirty="0" smtClean="0">
                <a:solidFill>
                  <a:srgbClr val="808080"/>
                </a:solidFill>
                <a:latin typeface="Consolas" pitchFamily="49" charset="0"/>
              </a:rPr>
              <a:t>= </a:t>
            </a:r>
            <a:r>
              <a:rPr lang="en-US" dirty="0" smtClean="0">
                <a:solidFill>
                  <a:srgbClr val="FF0000"/>
                </a:solidFill>
                <a:latin typeface="Consolas" pitchFamily="49" charset="0"/>
              </a:rPr>
              <a:t>'C:\Users\admin\Downloads\TestCompany1\SkinFile.skin'</a:t>
            </a:r>
            <a:r>
              <a:rPr lang="en-US" dirty="0" smtClean="0">
                <a:solidFill>
                  <a:srgbClr val="808080"/>
                </a:solidFill>
                <a:latin typeface="Consolas" pitchFamily="49" charset="0"/>
              </a:rPr>
              <a:t>;</a:t>
            </a:r>
          </a:p>
          <a:p>
            <a:r>
              <a:rPr lang="en-US" dirty="0" smtClean="0">
                <a:solidFill>
                  <a:srgbClr val="0000FF"/>
                </a:solidFill>
                <a:latin typeface="Consolas" pitchFamily="49" charset="0"/>
              </a:rPr>
              <a:t>EXEC </a:t>
            </a:r>
            <a:r>
              <a:rPr lang="en-US" dirty="0" err="1" smtClean="0">
                <a:solidFill>
                  <a:srgbClr val="0000FF"/>
                </a:solidFill>
                <a:latin typeface="Consolas" pitchFamily="49" charset="0"/>
              </a:rPr>
              <a:t>master</a:t>
            </a:r>
            <a:r>
              <a:rPr lang="en-US" dirty="0" err="1" smtClean="0">
                <a:solidFill>
                  <a:srgbClr val="808080"/>
                </a:solidFill>
                <a:latin typeface="Consolas" pitchFamily="49" charset="0"/>
              </a:rPr>
              <a:t>.dbo.</a:t>
            </a:r>
            <a:r>
              <a:rPr lang="en-US" dirty="0" err="1" smtClean="0">
                <a:solidFill>
                  <a:srgbClr val="800000"/>
                </a:solidFill>
                <a:latin typeface="Consolas" pitchFamily="49" charset="0"/>
              </a:rPr>
              <a:t>xp_fileexist</a:t>
            </a:r>
            <a:r>
              <a:rPr lang="en-US" dirty="0" smtClean="0">
                <a:solidFill>
                  <a:srgbClr val="0000FF"/>
                </a:solidFill>
                <a:latin typeface="Consolas" pitchFamily="49" charset="0"/>
              </a:rPr>
              <a:t> @</a:t>
            </a:r>
            <a:r>
              <a:rPr lang="en-US" dirty="0" err="1" smtClean="0">
                <a:solidFill>
                  <a:srgbClr val="0000FF"/>
                </a:solidFill>
                <a:latin typeface="Consolas" pitchFamily="49" charset="0"/>
              </a:rPr>
              <a:t>SkinFilePath</a:t>
            </a:r>
            <a:r>
              <a:rPr lang="en-US" dirty="0" smtClean="0">
                <a:solidFill>
                  <a:srgbClr val="808080"/>
                </a:solidFill>
                <a:latin typeface="Consolas" pitchFamily="49" charset="0"/>
              </a:rPr>
              <a:t>, @</a:t>
            </a:r>
            <a:r>
              <a:rPr lang="en-US" dirty="0" err="1" smtClean="0">
                <a:solidFill>
                  <a:srgbClr val="808080"/>
                </a:solidFill>
                <a:latin typeface="Consolas" pitchFamily="49" charset="0"/>
              </a:rPr>
              <a:t>FileExists</a:t>
            </a:r>
            <a:r>
              <a:rPr lang="en-US" dirty="0" smtClean="0">
                <a:solidFill>
                  <a:srgbClr val="808080"/>
                </a:solidFill>
                <a:latin typeface="Consolas" pitchFamily="49" charset="0"/>
              </a:rPr>
              <a:t> </a:t>
            </a:r>
            <a:r>
              <a:rPr lang="en-US" dirty="0" smtClean="0">
                <a:solidFill>
                  <a:srgbClr val="0000FF"/>
                </a:solidFill>
                <a:latin typeface="Consolas" pitchFamily="49" charset="0"/>
              </a:rPr>
              <a:t>OUTPUT</a:t>
            </a:r>
          </a:p>
          <a:p>
            <a:r>
              <a:rPr lang="en-US" dirty="0" smtClean="0">
                <a:solidFill>
                  <a:srgbClr val="0000FF"/>
                </a:solidFill>
                <a:latin typeface="Consolas" pitchFamily="49" charset="0"/>
              </a:rPr>
              <a:t>SELECT @</a:t>
            </a:r>
            <a:r>
              <a:rPr lang="en-US" dirty="0" err="1" smtClean="0">
                <a:solidFill>
                  <a:srgbClr val="0000FF"/>
                </a:solidFill>
                <a:latin typeface="Consolas" pitchFamily="49" charset="0"/>
              </a:rPr>
              <a:t>FileExists</a:t>
            </a:r>
            <a:r>
              <a:rPr lang="en-US" dirty="0" smtClean="0">
                <a:solidFill>
                  <a:srgbClr val="808080"/>
                </a:solidFill>
                <a:latin typeface="Consolas" pitchFamily="49" charset="0"/>
              </a:rPr>
              <a:t>;</a:t>
            </a:r>
            <a:endParaRPr lang="en-US" dirty="0" smtClean="0">
              <a:solidFill>
                <a:srgbClr val="0000FF"/>
              </a:solidFill>
              <a:latin typeface="Consolas" pitchFamily="49"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Arrays and Lists in SQL Server</a:t>
            </a:r>
            <a:endParaRPr lang="en-US" dirty="0"/>
          </a:p>
        </p:txBody>
      </p:sp>
      <p:sp>
        <p:nvSpPr>
          <p:cNvPr id="3" name="Content Placeholder 2"/>
          <p:cNvSpPr>
            <a:spLocks noGrp="1"/>
          </p:cNvSpPr>
          <p:nvPr>
            <p:ph idx="1"/>
          </p:nvPr>
        </p:nvSpPr>
        <p:spPr>
          <a:xfrm>
            <a:off x="457200" y="1600201"/>
            <a:ext cx="8229600" cy="1524000"/>
          </a:xfrm>
        </p:spPr>
        <p:txBody>
          <a:bodyPr/>
          <a:lstStyle/>
          <a:p>
            <a:r>
              <a:rPr lang="en-US" sz="2000" dirty="0" smtClean="0">
                <a:hlinkClick r:id="rId2"/>
              </a:rPr>
              <a:t>http://www.sommarskog.se/arrays-in-sql.html</a:t>
            </a:r>
          </a:p>
          <a:p>
            <a:r>
              <a:rPr lang="en-US" sz="2000" dirty="0" smtClean="0">
                <a:hlinkClick r:id="rId2"/>
              </a:rPr>
              <a:t>http://www.sommarskog.se/arrays-in-sql-2005.html</a:t>
            </a:r>
            <a:endParaRPr lang="en-US" sz="2000" dirty="0" smtClean="0"/>
          </a:p>
          <a:p>
            <a:r>
              <a:rPr lang="en-US" sz="2000" dirty="0" smtClean="0"/>
              <a:t>SQL 2016: </a:t>
            </a:r>
            <a:r>
              <a:rPr lang="en-US" sz="2000" dirty="0" err="1" smtClean="0"/>
              <a:t>string_split</a:t>
            </a:r>
            <a:endParaRPr lang="en-US" sz="2000" dirty="0" smtClean="0"/>
          </a:p>
          <a:p>
            <a:r>
              <a:rPr lang="en-US" sz="2000" dirty="0" smtClean="0"/>
              <a:t>Older version: add one yourself</a:t>
            </a:r>
            <a:endParaRPr lang="en-US" sz="2000" dirty="0"/>
          </a:p>
        </p:txBody>
      </p:sp>
      <p:sp>
        <p:nvSpPr>
          <p:cNvPr id="4" name="Content Placeholder 2"/>
          <p:cNvSpPr txBox="1">
            <a:spLocks/>
          </p:cNvSpPr>
          <p:nvPr/>
        </p:nvSpPr>
        <p:spPr>
          <a:xfrm>
            <a:off x="457200" y="3200400"/>
            <a:ext cx="8229600" cy="3078163"/>
          </a:xfrm>
          <a:prstGeom prst="rect">
            <a:avLst/>
          </a:prstGeom>
          <a:solidFill>
            <a:schemeClr val="bg1">
              <a:lumMod val="85000"/>
            </a:schemeClr>
          </a:solidFill>
          <a:ln>
            <a:solidFill>
              <a:schemeClr val="bg1">
                <a:lumMod val="50000"/>
              </a:schemeClr>
            </a:solidFill>
          </a:ln>
        </p:spPr>
        <p:txBody>
          <a:bodyPr vert="horz" lIns="91440" tIns="45720" rIns="91440" bIns="45720" rtlCol="0">
            <a:normAutofit fontScale="32500" lnSpcReduction="20000"/>
          </a:bodyPr>
          <a:lstStyle/>
          <a:p>
            <a:pPr marL="342900" lvl="0" indent="-342900" fontAlgn="auto">
              <a:spcBef>
                <a:spcPct val="20000"/>
              </a:spcBef>
              <a:spcAft>
                <a:spcPts val="0"/>
              </a:spcAft>
            </a:pPr>
            <a:r>
              <a:rPr lang="en-US" sz="2400" b="1" dirty="0" smtClean="0">
                <a:solidFill>
                  <a:srgbClr val="C00000"/>
                </a:solidFill>
                <a:latin typeface="Consolas" pitchFamily="49" charset="0"/>
              </a:rPr>
              <a:t>CREATE FUNCTION </a:t>
            </a:r>
            <a:r>
              <a:rPr lang="en-US" sz="2400" b="1" dirty="0" err="1" smtClean="0">
                <a:solidFill>
                  <a:srgbClr val="C00000"/>
                </a:solidFill>
                <a:latin typeface="Consolas" pitchFamily="49" charset="0"/>
              </a:rPr>
              <a:t>intlist_to_tbl</a:t>
            </a:r>
            <a:r>
              <a:rPr lang="en-US" sz="2400" b="1" dirty="0" smtClean="0">
                <a:solidFill>
                  <a:srgbClr val="C00000"/>
                </a:solidFill>
                <a:latin typeface="Consolas" pitchFamily="49" charset="0"/>
              </a:rPr>
              <a:t> (@list </a:t>
            </a:r>
            <a:r>
              <a:rPr lang="en-US" sz="2400" b="1" dirty="0" err="1" smtClean="0">
                <a:solidFill>
                  <a:srgbClr val="C00000"/>
                </a:solidFill>
                <a:latin typeface="Consolas" pitchFamily="49" charset="0"/>
              </a:rPr>
              <a:t>nvarchar</a:t>
            </a:r>
            <a:r>
              <a:rPr lang="en-US" sz="2400" b="1" dirty="0" smtClean="0">
                <a:solidFill>
                  <a:srgbClr val="C00000"/>
                </a:solidFill>
                <a:latin typeface="Consolas" pitchFamily="49" charset="0"/>
              </a:rPr>
              <a:t>(MAX))</a:t>
            </a:r>
          </a:p>
          <a:p>
            <a:pPr marL="342900" lvl="0" indent="-342900" fontAlgn="auto">
              <a:spcBef>
                <a:spcPct val="20000"/>
              </a:spcBef>
              <a:spcAft>
                <a:spcPts val="0"/>
              </a:spcAft>
            </a:pPr>
            <a:r>
              <a:rPr lang="en-US" sz="2400" b="1" dirty="0" smtClean="0">
                <a:solidFill>
                  <a:srgbClr val="C00000"/>
                </a:solidFill>
                <a:latin typeface="Consolas" pitchFamily="49" charset="0"/>
              </a:rPr>
              <a:t>   RETURNS @</a:t>
            </a:r>
            <a:r>
              <a:rPr lang="en-US" sz="2400" b="1" dirty="0" err="1" smtClean="0">
                <a:solidFill>
                  <a:srgbClr val="C00000"/>
                </a:solidFill>
                <a:latin typeface="Consolas" pitchFamily="49" charset="0"/>
              </a:rPr>
              <a:t>tbl</a:t>
            </a:r>
            <a:r>
              <a:rPr lang="en-US" sz="2400" b="1" dirty="0" smtClean="0">
                <a:solidFill>
                  <a:srgbClr val="C00000"/>
                </a:solidFill>
                <a:latin typeface="Consolas" pitchFamily="49" charset="0"/>
              </a:rPr>
              <a:t> TABLE (number </a:t>
            </a:r>
            <a:r>
              <a:rPr lang="en-US" sz="2400" b="1" dirty="0" err="1" smtClean="0">
                <a:solidFill>
                  <a:srgbClr val="C00000"/>
                </a:solidFill>
                <a:latin typeface="Consolas" pitchFamily="49" charset="0"/>
              </a:rPr>
              <a:t>int</a:t>
            </a:r>
            <a:r>
              <a:rPr lang="en-US" sz="2400" b="1" dirty="0" smtClean="0">
                <a:solidFill>
                  <a:srgbClr val="C00000"/>
                </a:solidFill>
                <a:latin typeface="Consolas" pitchFamily="49" charset="0"/>
              </a:rPr>
              <a:t> NOT NULL) AS</a:t>
            </a:r>
          </a:p>
          <a:p>
            <a:pPr marL="342900" lvl="0" indent="-342900" fontAlgn="auto">
              <a:spcBef>
                <a:spcPct val="20000"/>
              </a:spcBef>
              <a:spcAft>
                <a:spcPts val="0"/>
              </a:spcAft>
            </a:pPr>
            <a:r>
              <a:rPr lang="en-US" sz="2400" b="1" dirty="0" smtClean="0">
                <a:solidFill>
                  <a:srgbClr val="C00000"/>
                </a:solidFill>
                <a:latin typeface="Consolas" pitchFamily="49" charset="0"/>
              </a:rPr>
              <a:t>BEGIN</a:t>
            </a:r>
          </a:p>
          <a:p>
            <a:pPr marL="342900" lvl="0" indent="-342900" fontAlgn="auto">
              <a:spcBef>
                <a:spcPct val="20000"/>
              </a:spcBef>
              <a:spcAft>
                <a:spcPts val="0"/>
              </a:spcAft>
            </a:pPr>
            <a:r>
              <a:rPr lang="en-US" sz="2400" b="1" dirty="0" smtClean="0">
                <a:solidFill>
                  <a:srgbClr val="C00000"/>
                </a:solidFill>
                <a:latin typeface="Consolas" pitchFamily="49" charset="0"/>
              </a:rPr>
              <a:t>   DECLARE @pos        </a:t>
            </a:r>
            <a:r>
              <a:rPr lang="en-US" sz="2400" b="1" dirty="0" err="1" smtClean="0">
                <a:solidFill>
                  <a:srgbClr val="C00000"/>
                </a:solidFill>
                <a:latin typeface="Consolas" pitchFamily="49" charset="0"/>
              </a:rPr>
              <a:t>int</a:t>
            </a:r>
            <a:r>
              <a:rPr lang="en-US" sz="2400" b="1" dirty="0" smtClean="0">
                <a:solidFill>
                  <a:srgbClr val="C00000"/>
                </a:solidFill>
                <a:latin typeface="Consolas" pitchFamily="49" charset="0"/>
              </a:rPr>
              <a:t>,</a:t>
            </a:r>
          </a:p>
          <a:p>
            <a:pPr marL="342900" lvl="0" indent="-342900" fontAlgn="auto">
              <a:spcBef>
                <a:spcPct val="20000"/>
              </a:spcBef>
              <a:spcAft>
                <a:spcPts val="0"/>
              </a:spcAft>
            </a:pPr>
            <a:r>
              <a:rPr lang="en-US" sz="2400" b="1" dirty="0" smtClean="0">
                <a:solidFill>
                  <a:srgbClr val="C00000"/>
                </a:solidFill>
                <a:latin typeface="Consolas" pitchFamily="49" charset="0"/>
              </a:rPr>
              <a:t>           @</a:t>
            </a:r>
            <a:r>
              <a:rPr lang="en-US" sz="2400" b="1" dirty="0" err="1" smtClean="0">
                <a:solidFill>
                  <a:srgbClr val="C00000"/>
                </a:solidFill>
                <a:latin typeface="Consolas" pitchFamily="49" charset="0"/>
              </a:rPr>
              <a:t>nextpos</a:t>
            </a:r>
            <a:r>
              <a:rPr lang="en-US" sz="2400" b="1" dirty="0" smtClean="0">
                <a:solidFill>
                  <a:srgbClr val="C00000"/>
                </a:solidFill>
                <a:latin typeface="Consolas" pitchFamily="49" charset="0"/>
              </a:rPr>
              <a:t>    </a:t>
            </a:r>
            <a:r>
              <a:rPr lang="en-US" sz="2400" b="1" dirty="0" err="1" smtClean="0">
                <a:solidFill>
                  <a:srgbClr val="C00000"/>
                </a:solidFill>
                <a:latin typeface="Consolas" pitchFamily="49" charset="0"/>
              </a:rPr>
              <a:t>int</a:t>
            </a:r>
            <a:r>
              <a:rPr lang="en-US" sz="2400" b="1" dirty="0" smtClean="0">
                <a:solidFill>
                  <a:srgbClr val="C00000"/>
                </a:solidFill>
                <a:latin typeface="Consolas" pitchFamily="49" charset="0"/>
              </a:rPr>
              <a:t>,</a:t>
            </a:r>
          </a:p>
          <a:p>
            <a:pPr marL="342900" lvl="0" indent="-342900" fontAlgn="auto">
              <a:spcBef>
                <a:spcPct val="20000"/>
              </a:spcBef>
              <a:spcAft>
                <a:spcPts val="0"/>
              </a:spcAft>
            </a:pPr>
            <a:r>
              <a:rPr lang="en-US" sz="2400" b="1" dirty="0" smtClean="0">
                <a:solidFill>
                  <a:srgbClr val="C00000"/>
                </a:solidFill>
                <a:latin typeface="Consolas" pitchFamily="49" charset="0"/>
              </a:rPr>
              <a:t>           @</a:t>
            </a:r>
            <a:r>
              <a:rPr lang="en-US" sz="2400" b="1" dirty="0" err="1" smtClean="0">
                <a:solidFill>
                  <a:srgbClr val="C00000"/>
                </a:solidFill>
                <a:latin typeface="Consolas" pitchFamily="49" charset="0"/>
              </a:rPr>
              <a:t>valuelen</a:t>
            </a:r>
            <a:r>
              <a:rPr lang="en-US" sz="2400" b="1" dirty="0" smtClean="0">
                <a:solidFill>
                  <a:srgbClr val="C00000"/>
                </a:solidFill>
                <a:latin typeface="Consolas" pitchFamily="49" charset="0"/>
              </a:rPr>
              <a:t>   </a:t>
            </a:r>
            <a:r>
              <a:rPr lang="en-US" sz="2400" b="1" dirty="0" err="1" smtClean="0">
                <a:solidFill>
                  <a:srgbClr val="C00000"/>
                </a:solidFill>
                <a:latin typeface="Consolas" pitchFamily="49" charset="0"/>
              </a:rPr>
              <a:t>int</a:t>
            </a:r>
            <a:endParaRPr lang="en-US" sz="2400" b="1" dirty="0" smtClean="0">
              <a:solidFill>
                <a:srgbClr val="C00000"/>
              </a:solidFill>
              <a:latin typeface="Consolas" pitchFamily="49" charset="0"/>
            </a:endParaRPr>
          </a:p>
          <a:p>
            <a:pPr marL="342900" lvl="0" indent="-342900" fontAlgn="auto">
              <a:spcBef>
                <a:spcPct val="20000"/>
              </a:spcBef>
              <a:spcAft>
                <a:spcPts val="0"/>
              </a:spcAft>
            </a:pPr>
            <a:endParaRPr lang="en-US" sz="2400" b="1" dirty="0" smtClean="0">
              <a:solidFill>
                <a:srgbClr val="C00000"/>
              </a:solidFill>
              <a:latin typeface="Consolas" pitchFamily="49" charset="0"/>
            </a:endParaRPr>
          </a:p>
          <a:p>
            <a:pPr marL="342900" lvl="0" indent="-342900" fontAlgn="auto">
              <a:spcBef>
                <a:spcPct val="20000"/>
              </a:spcBef>
              <a:spcAft>
                <a:spcPts val="0"/>
              </a:spcAft>
            </a:pPr>
            <a:r>
              <a:rPr lang="en-US" sz="2400" b="1" dirty="0" smtClean="0">
                <a:solidFill>
                  <a:srgbClr val="C00000"/>
                </a:solidFill>
                <a:latin typeface="Consolas" pitchFamily="49" charset="0"/>
              </a:rPr>
              <a:t>   SELECT @pos = 0, @</a:t>
            </a:r>
            <a:r>
              <a:rPr lang="en-US" sz="2400" b="1" dirty="0" err="1" smtClean="0">
                <a:solidFill>
                  <a:srgbClr val="C00000"/>
                </a:solidFill>
                <a:latin typeface="Consolas" pitchFamily="49" charset="0"/>
              </a:rPr>
              <a:t>nextpos</a:t>
            </a:r>
            <a:r>
              <a:rPr lang="en-US" sz="2400" b="1" dirty="0" smtClean="0">
                <a:solidFill>
                  <a:srgbClr val="C00000"/>
                </a:solidFill>
                <a:latin typeface="Consolas" pitchFamily="49" charset="0"/>
              </a:rPr>
              <a:t> = 1</a:t>
            </a:r>
          </a:p>
          <a:p>
            <a:pPr marL="342900" lvl="0" indent="-342900" fontAlgn="auto">
              <a:spcBef>
                <a:spcPct val="20000"/>
              </a:spcBef>
              <a:spcAft>
                <a:spcPts val="0"/>
              </a:spcAft>
            </a:pPr>
            <a:endParaRPr lang="en-US" sz="2400" b="1" dirty="0" smtClean="0">
              <a:solidFill>
                <a:srgbClr val="C00000"/>
              </a:solidFill>
              <a:latin typeface="Consolas" pitchFamily="49" charset="0"/>
            </a:endParaRPr>
          </a:p>
          <a:p>
            <a:pPr marL="342900" lvl="0" indent="-342900" fontAlgn="auto">
              <a:spcBef>
                <a:spcPct val="20000"/>
              </a:spcBef>
              <a:spcAft>
                <a:spcPts val="0"/>
              </a:spcAft>
            </a:pPr>
            <a:r>
              <a:rPr lang="en-US" sz="2400" b="1" dirty="0" smtClean="0">
                <a:solidFill>
                  <a:srgbClr val="C00000"/>
                </a:solidFill>
                <a:latin typeface="Consolas" pitchFamily="49" charset="0"/>
              </a:rPr>
              <a:t>   WHILE @</a:t>
            </a:r>
            <a:r>
              <a:rPr lang="en-US" sz="2400" b="1" dirty="0" err="1" smtClean="0">
                <a:solidFill>
                  <a:srgbClr val="C00000"/>
                </a:solidFill>
                <a:latin typeface="Consolas" pitchFamily="49" charset="0"/>
              </a:rPr>
              <a:t>nextpos</a:t>
            </a:r>
            <a:r>
              <a:rPr lang="en-US" sz="2400" b="1" dirty="0" smtClean="0">
                <a:solidFill>
                  <a:srgbClr val="C00000"/>
                </a:solidFill>
                <a:latin typeface="Consolas" pitchFamily="49" charset="0"/>
              </a:rPr>
              <a:t> &gt; 0</a:t>
            </a:r>
          </a:p>
          <a:p>
            <a:pPr marL="342900" lvl="0" indent="-342900" fontAlgn="auto">
              <a:spcBef>
                <a:spcPct val="20000"/>
              </a:spcBef>
              <a:spcAft>
                <a:spcPts val="0"/>
              </a:spcAft>
            </a:pPr>
            <a:r>
              <a:rPr lang="en-US" sz="2400" b="1" dirty="0" smtClean="0">
                <a:solidFill>
                  <a:srgbClr val="C00000"/>
                </a:solidFill>
                <a:latin typeface="Consolas" pitchFamily="49" charset="0"/>
              </a:rPr>
              <a:t>   BEGIN</a:t>
            </a:r>
          </a:p>
          <a:p>
            <a:pPr marL="342900" lvl="0" indent="-342900" fontAlgn="auto">
              <a:spcBef>
                <a:spcPct val="20000"/>
              </a:spcBef>
              <a:spcAft>
                <a:spcPts val="0"/>
              </a:spcAft>
            </a:pPr>
            <a:r>
              <a:rPr lang="en-US" sz="2400" b="1" dirty="0" smtClean="0">
                <a:solidFill>
                  <a:srgbClr val="C00000"/>
                </a:solidFill>
                <a:latin typeface="Consolas" pitchFamily="49" charset="0"/>
              </a:rPr>
              <a:t>      SELECT @</a:t>
            </a:r>
            <a:r>
              <a:rPr lang="en-US" sz="2400" b="1" dirty="0" err="1" smtClean="0">
                <a:solidFill>
                  <a:srgbClr val="C00000"/>
                </a:solidFill>
                <a:latin typeface="Consolas" pitchFamily="49" charset="0"/>
              </a:rPr>
              <a:t>nextpos</a:t>
            </a:r>
            <a:r>
              <a:rPr lang="en-US" sz="2400" b="1" dirty="0" smtClean="0">
                <a:solidFill>
                  <a:srgbClr val="C00000"/>
                </a:solidFill>
                <a:latin typeface="Consolas" pitchFamily="49" charset="0"/>
              </a:rPr>
              <a:t> = </a:t>
            </a:r>
            <a:r>
              <a:rPr lang="en-US" sz="2400" b="1" dirty="0" err="1" smtClean="0">
                <a:solidFill>
                  <a:srgbClr val="C00000"/>
                </a:solidFill>
                <a:latin typeface="Consolas" pitchFamily="49" charset="0"/>
              </a:rPr>
              <a:t>charindex</a:t>
            </a:r>
            <a:r>
              <a:rPr lang="en-US" sz="2400" b="1" dirty="0" smtClean="0">
                <a:solidFill>
                  <a:srgbClr val="C00000"/>
                </a:solidFill>
                <a:latin typeface="Consolas" pitchFamily="49" charset="0"/>
              </a:rPr>
              <a:t>(',', @list, @pos + 1)</a:t>
            </a:r>
          </a:p>
          <a:p>
            <a:pPr marL="342900" lvl="0" indent="-342900" fontAlgn="auto">
              <a:spcBef>
                <a:spcPct val="20000"/>
              </a:spcBef>
              <a:spcAft>
                <a:spcPts val="0"/>
              </a:spcAft>
            </a:pPr>
            <a:r>
              <a:rPr lang="en-US" sz="2400" b="1" dirty="0" smtClean="0">
                <a:solidFill>
                  <a:srgbClr val="C00000"/>
                </a:solidFill>
                <a:latin typeface="Consolas" pitchFamily="49" charset="0"/>
              </a:rPr>
              <a:t>      SELECT @</a:t>
            </a:r>
            <a:r>
              <a:rPr lang="en-US" sz="2400" b="1" dirty="0" err="1" smtClean="0">
                <a:solidFill>
                  <a:srgbClr val="C00000"/>
                </a:solidFill>
                <a:latin typeface="Consolas" pitchFamily="49" charset="0"/>
              </a:rPr>
              <a:t>valuelen</a:t>
            </a:r>
            <a:r>
              <a:rPr lang="en-US" sz="2400" b="1" dirty="0" smtClean="0">
                <a:solidFill>
                  <a:srgbClr val="C00000"/>
                </a:solidFill>
                <a:latin typeface="Consolas" pitchFamily="49" charset="0"/>
              </a:rPr>
              <a:t> = CASE WHEN @</a:t>
            </a:r>
            <a:r>
              <a:rPr lang="en-US" sz="2400" b="1" dirty="0" err="1" smtClean="0">
                <a:solidFill>
                  <a:srgbClr val="C00000"/>
                </a:solidFill>
                <a:latin typeface="Consolas" pitchFamily="49" charset="0"/>
              </a:rPr>
              <a:t>nextpos</a:t>
            </a:r>
            <a:r>
              <a:rPr lang="en-US" sz="2400" b="1" dirty="0" smtClean="0">
                <a:solidFill>
                  <a:srgbClr val="C00000"/>
                </a:solidFill>
                <a:latin typeface="Consolas" pitchFamily="49" charset="0"/>
              </a:rPr>
              <a:t> &gt; 0</a:t>
            </a:r>
          </a:p>
          <a:p>
            <a:pPr marL="342900" lvl="0" indent="-342900" fontAlgn="auto">
              <a:spcBef>
                <a:spcPct val="20000"/>
              </a:spcBef>
              <a:spcAft>
                <a:spcPts val="0"/>
              </a:spcAft>
            </a:pPr>
            <a:r>
              <a:rPr lang="en-US" sz="2400" b="1" dirty="0" smtClean="0">
                <a:solidFill>
                  <a:srgbClr val="C00000"/>
                </a:solidFill>
                <a:latin typeface="Consolas" pitchFamily="49" charset="0"/>
              </a:rPr>
              <a:t>                              THEN @</a:t>
            </a:r>
            <a:r>
              <a:rPr lang="en-US" sz="2400" b="1" dirty="0" err="1" smtClean="0">
                <a:solidFill>
                  <a:srgbClr val="C00000"/>
                </a:solidFill>
                <a:latin typeface="Consolas" pitchFamily="49" charset="0"/>
              </a:rPr>
              <a:t>nextpos</a:t>
            </a:r>
            <a:endParaRPr lang="en-US" sz="2400" b="1" dirty="0" smtClean="0">
              <a:solidFill>
                <a:srgbClr val="C00000"/>
              </a:solidFill>
              <a:latin typeface="Consolas" pitchFamily="49" charset="0"/>
            </a:endParaRPr>
          </a:p>
          <a:p>
            <a:pPr marL="342900" lvl="0" indent="-342900" fontAlgn="auto">
              <a:spcBef>
                <a:spcPct val="20000"/>
              </a:spcBef>
              <a:spcAft>
                <a:spcPts val="0"/>
              </a:spcAft>
            </a:pPr>
            <a:r>
              <a:rPr lang="en-US" sz="2400" b="1" dirty="0" smtClean="0">
                <a:solidFill>
                  <a:srgbClr val="C00000"/>
                </a:solidFill>
                <a:latin typeface="Consolas" pitchFamily="49" charset="0"/>
              </a:rPr>
              <a:t>                              ELSE </a:t>
            </a:r>
            <a:r>
              <a:rPr lang="en-US" sz="2400" b="1" dirty="0" err="1" smtClean="0">
                <a:solidFill>
                  <a:srgbClr val="C00000"/>
                </a:solidFill>
                <a:latin typeface="Consolas" pitchFamily="49" charset="0"/>
              </a:rPr>
              <a:t>len</a:t>
            </a:r>
            <a:r>
              <a:rPr lang="en-US" sz="2400" b="1" dirty="0" smtClean="0">
                <a:solidFill>
                  <a:srgbClr val="C00000"/>
                </a:solidFill>
                <a:latin typeface="Consolas" pitchFamily="49" charset="0"/>
              </a:rPr>
              <a:t>(@list) + 1</a:t>
            </a:r>
          </a:p>
          <a:p>
            <a:pPr marL="342900" lvl="0" indent="-342900" fontAlgn="auto">
              <a:spcBef>
                <a:spcPct val="20000"/>
              </a:spcBef>
              <a:spcAft>
                <a:spcPts val="0"/>
              </a:spcAft>
            </a:pPr>
            <a:r>
              <a:rPr lang="en-US" sz="2400" b="1" dirty="0" smtClean="0">
                <a:solidFill>
                  <a:srgbClr val="C00000"/>
                </a:solidFill>
                <a:latin typeface="Consolas" pitchFamily="49" charset="0"/>
              </a:rPr>
              <a:t>                         END - @pos - 1</a:t>
            </a:r>
          </a:p>
          <a:p>
            <a:pPr marL="342900" lvl="0" indent="-342900" fontAlgn="auto">
              <a:spcBef>
                <a:spcPct val="20000"/>
              </a:spcBef>
              <a:spcAft>
                <a:spcPts val="0"/>
              </a:spcAft>
            </a:pPr>
            <a:r>
              <a:rPr lang="en-US" sz="2400" b="1" dirty="0" smtClean="0">
                <a:solidFill>
                  <a:srgbClr val="C00000"/>
                </a:solidFill>
                <a:latin typeface="Consolas" pitchFamily="49" charset="0"/>
              </a:rPr>
              <a:t>      INSERT @</a:t>
            </a:r>
            <a:r>
              <a:rPr lang="en-US" sz="2400" b="1" dirty="0" err="1" smtClean="0">
                <a:solidFill>
                  <a:srgbClr val="C00000"/>
                </a:solidFill>
                <a:latin typeface="Consolas" pitchFamily="49" charset="0"/>
              </a:rPr>
              <a:t>tbl</a:t>
            </a:r>
            <a:r>
              <a:rPr lang="en-US" sz="2400" b="1" dirty="0" smtClean="0">
                <a:solidFill>
                  <a:srgbClr val="C00000"/>
                </a:solidFill>
                <a:latin typeface="Consolas" pitchFamily="49" charset="0"/>
              </a:rPr>
              <a:t> (number)</a:t>
            </a:r>
          </a:p>
          <a:p>
            <a:pPr marL="342900" lvl="0" indent="-342900" fontAlgn="auto">
              <a:spcBef>
                <a:spcPct val="20000"/>
              </a:spcBef>
              <a:spcAft>
                <a:spcPts val="0"/>
              </a:spcAft>
            </a:pPr>
            <a:r>
              <a:rPr lang="en-US" sz="2400" b="1" dirty="0" smtClean="0">
                <a:solidFill>
                  <a:srgbClr val="C00000"/>
                </a:solidFill>
                <a:latin typeface="Consolas" pitchFamily="49" charset="0"/>
              </a:rPr>
              <a:t>         VALUES (convert(</a:t>
            </a:r>
            <a:r>
              <a:rPr lang="en-US" sz="2400" b="1" dirty="0" err="1" smtClean="0">
                <a:solidFill>
                  <a:srgbClr val="C00000"/>
                </a:solidFill>
                <a:latin typeface="Consolas" pitchFamily="49" charset="0"/>
              </a:rPr>
              <a:t>int</a:t>
            </a:r>
            <a:r>
              <a:rPr lang="en-US" sz="2400" b="1" dirty="0" smtClean="0">
                <a:solidFill>
                  <a:srgbClr val="C00000"/>
                </a:solidFill>
                <a:latin typeface="Consolas" pitchFamily="49" charset="0"/>
              </a:rPr>
              <a:t>, substring(@list, @pos + 1, @</a:t>
            </a:r>
            <a:r>
              <a:rPr lang="en-US" sz="2400" b="1" dirty="0" err="1" smtClean="0">
                <a:solidFill>
                  <a:srgbClr val="C00000"/>
                </a:solidFill>
                <a:latin typeface="Consolas" pitchFamily="49" charset="0"/>
              </a:rPr>
              <a:t>valuelen</a:t>
            </a:r>
            <a:r>
              <a:rPr lang="en-US" sz="2400" b="1" dirty="0" smtClean="0">
                <a:solidFill>
                  <a:srgbClr val="C00000"/>
                </a:solidFill>
                <a:latin typeface="Consolas" pitchFamily="49" charset="0"/>
              </a:rPr>
              <a:t>)))</a:t>
            </a:r>
          </a:p>
          <a:p>
            <a:pPr marL="342900" lvl="0" indent="-342900" fontAlgn="auto">
              <a:spcBef>
                <a:spcPct val="20000"/>
              </a:spcBef>
              <a:spcAft>
                <a:spcPts val="0"/>
              </a:spcAft>
            </a:pPr>
            <a:r>
              <a:rPr lang="en-US" sz="2400" b="1" dirty="0" smtClean="0">
                <a:solidFill>
                  <a:srgbClr val="C00000"/>
                </a:solidFill>
                <a:latin typeface="Consolas" pitchFamily="49" charset="0"/>
              </a:rPr>
              <a:t>      SELECT @pos = @</a:t>
            </a:r>
            <a:r>
              <a:rPr lang="en-US" sz="2400" b="1" dirty="0" err="1" smtClean="0">
                <a:solidFill>
                  <a:srgbClr val="C00000"/>
                </a:solidFill>
                <a:latin typeface="Consolas" pitchFamily="49" charset="0"/>
              </a:rPr>
              <a:t>nextpos</a:t>
            </a:r>
            <a:endParaRPr lang="en-US" sz="2400" b="1" dirty="0" smtClean="0">
              <a:solidFill>
                <a:srgbClr val="C00000"/>
              </a:solidFill>
              <a:latin typeface="Consolas" pitchFamily="49" charset="0"/>
            </a:endParaRPr>
          </a:p>
          <a:p>
            <a:pPr marL="342900" lvl="0" indent="-342900" fontAlgn="auto">
              <a:spcBef>
                <a:spcPct val="20000"/>
              </a:spcBef>
              <a:spcAft>
                <a:spcPts val="0"/>
              </a:spcAft>
            </a:pPr>
            <a:r>
              <a:rPr lang="en-US" sz="2400" b="1" dirty="0" smtClean="0">
                <a:solidFill>
                  <a:srgbClr val="C00000"/>
                </a:solidFill>
                <a:latin typeface="Consolas" pitchFamily="49" charset="0"/>
              </a:rPr>
              <a:t>   END</a:t>
            </a:r>
          </a:p>
          <a:p>
            <a:pPr marL="342900" lvl="0" indent="-342900" fontAlgn="auto">
              <a:spcBef>
                <a:spcPct val="20000"/>
              </a:spcBef>
              <a:spcAft>
                <a:spcPts val="0"/>
              </a:spcAft>
            </a:pPr>
            <a:r>
              <a:rPr lang="en-US" sz="2400" b="1" dirty="0" smtClean="0">
                <a:solidFill>
                  <a:srgbClr val="C00000"/>
                </a:solidFill>
                <a:latin typeface="Consolas" pitchFamily="49" charset="0"/>
              </a:rPr>
              <a:t>   RETURN</a:t>
            </a:r>
          </a:p>
          <a:p>
            <a:pPr marL="342900" lvl="0" indent="-342900" fontAlgn="auto">
              <a:spcBef>
                <a:spcPct val="20000"/>
              </a:spcBef>
              <a:spcAft>
                <a:spcPts val="0"/>
              </a:spcAft>
            </a:pPr>
            <a:r>
              <a:rPr lang="en-US" sz="2400" b="1" dirty="0" smtClean="0">
                <a:solidFill>
                  <a:srgbClr val="C00000"/>
                </a:solidFill>
                <a:latin typeface="Consolas" pitchFamily="49" charset="0"/>
              </a:rPr>
              <a:t>END</a:t>
            </a:r>
            <a:endParaRPr kumimoji="0" lang="en-US" sz="2400" b="1" i="0" u="none" strike="noStrike" kern="1200" cap="none" spc="0" normalizeH="0" baseline="0" noProof="0" dirty="0">
              <a:ln>
                <a:noFill/>
              </a:ln>
              <a:solidFill>
                <a:srgbClr val="C00000"/>
              </a:solidFill>
              <a:effectLst/>
              <a:uLnTx/>
              <a:uFillTx/>
              <a:latin typeface="Consolas" pitchFamily="49" charset="0"/>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Triggers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SQL Server triggers</a:t>
            </a:r>
            <a:r>
              <a:rPr lang="en-US" sz="2400" dirty="0" smtClean="0"/>
              <a:t> are special </a:t>
            </a:r>
            <a:r>
              <a:rPr lang="en-US" sz="2400" u="sng" dirty="0" smtClean="0"/>
              <a:t>stored procedures</a:t>
            </a:r>
            <a:r>
              <a:rPr lang="en-US" sz="2400" dirty="0" smtClean="0"/>
              <a:t> attached to table events. They can’t be executed directly, but fire only in response to an INSERT, UPDATE, or DELETE </a:t>
            </a:r>
            <a:r>
              <a:rPr lang="en-US" sz="2400" u="sng" dirty="0" smtClean="0"/>
              <a:t>event on a table</a:t>
            </a:r>
            <a:r>
              <a:rPr lang="en-US" sz="2400" dirty="0" smtClean="0"/>
              <a:t>.</a:t>
            </a:r>
          </a:p>
          <a:p>
            <a:r>
              <a:rPr lang="en-US" sz="2400" dirty="0" smtClean="0"/>
              <a:t>Users can’t bypass a trigger; and unless the trigger sends a message to the client, the end user is unaware of its actions.</a:t>
            </a:r>
          </a:p>
          <a:p>
            <a:r>
              <a:rPr lang="en-US" sz="2400" dirty="0" smtClean="0"/>
              <a:t>SQL Server has two kinds of transaction triggers: instead of triggers and after triggers.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Instead of Trigger</a:t>
            </a:r>
            <a:endParaRPr lang="en-US" dirty="0"/>
          </a:p>
        </p:txBody>
      </p:sp>
      <p:sp>
        <p:nvSpPr>
          <p:cNvPr id="3" name="Content Placeholder 2"/>
          <p:cNvSpPr>
            <a:spLocks noGrp="1"/>
          </p:cNvSpPr>
          <p:nvPr>
            <p:ph idx="1"/>
          </p:nvPr>
        </p:nvSpPr>
        <p:spPr/>
        <p:txBody>
          <a:bodyPr/>
          <a:lstStyle/>
          <a:p>
            <a:r>
              <a:rPr lang="en-US" sz="2400" dirty="0" smtClean="0"/>
              <a:t>INSTEAD OF triggers execute “instead of” (as a substitute for) the submitted DML statement.</a:t>
            </a:r>
          </a:p>
          <a:p>
            <a:r>
              <a:rPr lang="en-US" sz="2400" dirty="0" smtClean="0"/>
              <a:t>INSTEAD OF triggers are useful when the DML statement </a:t>
            </a:r>
            <a:r>
              <a:rPr lang="en-US" sz="2400" dirty="0" err="1" smtClean="0"/>
              <a:t>fi</a:t>
            </a:r>
            <a:r>
              <a:rPr lang="en-US" sz="2400" dirty="0" smtClean="0"/>
              <a:t> ring the trigger will always be rolled back and some other logic will be executed instead of the DML statement, for example:</a:t>
            </a:r>
          </a:p>
          <a:p>
            <a:pPr lvl="1"/>
            <a:r>
              <a:rPr lang="en-US" sz="2000" dirty="0" smtClean="0"/>
              <a:t>When the DML statement attempts to update a </a:t>
            </a:r>
            <a:r>
              <a:rPr lang="en-US" sz="2000" dirty="0" err="1" smtClean="0"/>
              <a:t>nonupdatable</a:t>
            </a:r>
            <a:r>
              <a:rPr lang="en-US" sz="2000" dirty="0" smtClean="0"/>
              <a:t> view, the INSTEAD OF trigger updates the underlying tables instead.</a:t>
            </a:r>
          </a:p>
          <a:p>
            <a:pPr lvl="1"/>
            <a:r>
              <a:rPr lang="en-US" sz="2000" dirty="0" smtClean="0"/>
              <a:t>When the DML statement attempts to directly update an inventory table, an INSTEAD OF trigger updates the inventory transaction table instead.</a:t>
            </a:r>
          </a:p>
          <a:p>
            <a:pPr lvl="1"/>
            <a:r>
              <a:rPr lang="en-US" sz="2000" dirty="0" smtClean="0"/>
              <a:t>When deleting rows, an INSTEAD OF trigger moves them to an archive table instead.</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Triggers</a:t>
            </a:r>
            <a:endParaRPr lang="en-US" dirty="0"/>
          </a:p>
        </p:txBody>
      </p:sp>
      <p:sp>
        <p:nvSpPr>
          <p:cNvPr id="3" name="Content Placeholder 2"/>
          <p:cNvSpPr>
            <a:spLocks noGrp="1"/>
          </p:cNvSpPr>
          <p:nvPr>
            <p:ph idx="1"/>
          </p:nvPr>
        </p:nvSpPr>
        <p:spPr/>
        <p:txBody>
          <a:bodyPr/>
          <a:lstStyle/>
          <a:p>
            <a:pPr>
              <a:buNone/>
            </a:pPr>
            <a:r>
              <a:rPr lang="en-US" sz="2400" dirty="0" smtClean="0">
                <a:latin typeface="Consolas" pitchFamily="49" charset="0"/>
              </a:rPr>
              <a:t>CREATE TRIGGER </a:t>
            </a:r>
            <a:r>
              <a:rPr lang="en-US" sz="2400" dirty="0" err="1" smtClean="0">
                <a:latin typeface="Consolas" pitchFamily="49" charset="0"/>
              </a:rPr>
              <a:t>Schema.TriggerName</a:t>
            </a:r>
            <a:r>
              <a:rPr lang="en-US" sz="2400" dirty="0" smtClean="0">
                <a:latin typeface="Consolas" pitchFamily="49" charset="0"/>
              </a:rPr>
              <a:t> ON </a:t>
            </a:r>
            <a:r>
              <a:rPr lang="en-US" sz="2400" dirty="0" err="1" smtClean="0">
                <a:latin typeface="Consolas" pitchFamily="49" charset="0"/>
              </a:rPr>
              <a:t>Schema.TableName</a:t>
            </a:r>
            <a:endParaRPr lang="en-US" sz="2400" dirty="0" smtClean="0">
              <a:latin typeface="Consolas" pitchFamily="49" charset="0"/>
            </a:endParaRPr>
          </a:p>
          <a:p>
            <a:pPr>
              <a:buNone/>
            </a:pPr>
            <a:r>
              <a:rPr lang="en-US" sz="2400" dirty="0" smtClean="0">
                <a:latin typeface="Consolas" pitchFamily="49" charset="0"/>
              </a:rPr>
              <a:t>AFTER | INSTEAD OF [Insert, Update, (and or) Delete]</a:t>
            </a:r>
          </a:p>
          <a:p>
            <a:pPr>
              <a:buNone/>
            </a:pPr>
            <a:r>
              <a:rPr lang="en-US" sz="2400" dirty="0" smtClean="0">
                <a:latin typeface="Consolas" pitchFamily="49" charset="0"/>
              </a:rPr>
              <a:t>AS</a:t>
            </a:r>
          </a:p>
          <a:p>
            <a:pPr>
              <a:buNone/>
            </a:pPr>
            <a:r>
              <a:rPr lang="en-US" sz="2400" dirty="0" smtClean="0">
                <a:latin typeface="Consolas" pitchFamily="49" charset="0"/>
              </a:rPr>
              <a:t>Trigger Code;</a:t>
            </a:r>
            <a:endParaRPr lang="en-US" sz="2400" dirty="0">
              <a:latin typeface="Consolas" pitchFamily="49"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7808</TotalTime>
  <Words>1378</Words>
  <Application>Microsoft Office PowerPoint</Application>
  <PresentationFormat>On-screen Show (4:3)</PresentationFormat>
  <Paragraphs>179</Paragraphs>
  <Slides>30</Slides>
  <Notes>1</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Stored Procedures and Functions</vt:lpstr>
      <vt:lpstr>Objectives</vt:lpstr>
      <vt:lpstr>Contents</vt:lpstr>
      <vt:lpstr>References</vt:lpstr>
      <vt:lpstr>Stored Procedures</vt:lpstr>
      <vt:lpstr>1. Create Stored Procedure</vt:lpstr>
      <vt:lpstr>2. Execute Stored Procedure</vt:lpstr>
      <vt:lpstr>3. Create SP with Input Parameters</vt:lpstr>
      <vt:lpstr>Why Stored Procedures?</vt:lpstr>
      <vt:lpstr>Slide 10</vt:lpstr>
      <vt:lpstr>User-Defined Functions [1]</vt:lpstr>
      <vt:lpstr>Scalar Functions</vt:lpstr>
      <vt:lpstr>User Information Functions</vt:lpstr>
      <vt:lpstr>Date and Time Functions</vt:lpstr>
      <vt:lpstr>STUFF</vt:lpstr>
      <vt:lpstr>Using the SOUNDEX() Function</vt:lpstr>
      <vt:lpstr>Functions vs. Stored Procedures</vt:lpstr>
      <vt:lpstr>Slide 18</vt:lpstr>
      <vt:lpstr>Dynamic SQL</vt:lpstr>
      <vt:lpstr>Notes</vt:lpstr>
      <vt:lpstr>Read File Data</vt:lpstr>
      <vt:lpstr>Dynamically Read File Content (I)</vt:lpstr>
      <vt:lpstr>Dynamically Read File Content (II)</vt:lpstr>
      <vt:lpstr>Determine If a File Exists</vt:lpstr>
      <vt:lpstr>Arrays and Lists in SQL Server</vt:lpstr>
      <vt:lpstr>Slide 26</vt:lpstr>
      <vt:lpstr>Triggers</vt:lpstr>
      <vt:lpstr>Instead of Trigger</vt:lpstr>
      <vt:lpstr>Creating Triggers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4069</cp:revision>
  <dcterms:created xsi:type="dcterms:W3CDTF">2007-10-06T08:25:13Z</dcterms:created>
  <dcterms:modified xsi:type="dcterms:W3CDTF">2024-11-07T19:43:14Z</dcterms:modified>
</cp:coreProperties>
</file>