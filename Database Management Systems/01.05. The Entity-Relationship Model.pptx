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0"/>
  </p:notesMasterIdLst>
  <p:handoutMasterIdLst>
    <p:handoutMasterId r:id="rId41"/>
  </p:handoutMasterIdLst>
  <p:sldIdLst>
    <p:sldId id="256" r:id="rId2"/>
    <p:sldId id="489" r:id="rId3"/>
    <p:sldId id="490" r:id="rId4"/>
    <p:sldId id="491" r:id="rId5"/>
    <p:sldId id="474" r:id="rId6"/>
    <p:sldId id="475" r:id="rId7"/>
    <p:sldId id="498" r:id="rId8"/>
    <p:sldId id="476" r:id="rId9"/>
    <p:sldId id="477" r:id="rId10"/>
    <p:sldId id="478" r:id="rId11"/>
    <p:sldId id="479" r:id="rId12"/>
    <p:sldId id="480" r:id="rId13"/>
    <p:sldId id="481" r:id="rId14"/>
    <p:sldId id="482" r:id="rId15"/>
    <p:sldId id="483" r:id="rId16"/>
    <p:sldId id="484" r:id="rId17"/>
    <p:sldId id="485" r:id="rId18"/>
    <p:sldId id="499" r:id="rId19"/>
    <p:sldId id="486" r:id="rId20"/>
    <p:sldId id="500" r:id="rId21"/>
    <p:sldId id="472" r:id="rId22"/>
    <p:sldId id="451" r:id="rId23"/>
    <p:sldId id="452" r:id="rId24"/>
    <p:sldId id="453" r:id="rId25"/>
    <p:sldId id="460" r:id="rId26"/>
    <p:sldId id="461" r:id="rId27"/>
    <p:sldId id="454" r:id="rId28"/>
    <p:sldId id="455" r:id="rId29"/>
    <p:sldId id="456" r:id="rId30"/>
    <p:sldId id="457" r:id="rId31"/>
    <p:sldId id="458" r:id="rId32"/>
    <p:sldId id="459" r:id="rId33"/>
    <p:sldId id="492" r:id="rId34"/>
    <p:sldId id="495" r:id="rId35"/>
    <p:sldId id="493" r:id="rId36"/>
    <p:sldId id="496" r:id="rId37"/>
    <p:sldId id="494" r:id="rId38"/>
    <p:sldId id="360" r:id="rId3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84" autoAdjust="0"/>
    <p:restoredTop sz="94667" autoAdjust="0"/>
  </p:normalViewPr>
  <p:slideViewPr>
    <p:cSldViewPr>
      <p:cViewPr>
        <p:scale>
          <a:sx n="50" d="100"/>
          <a:sy n="50" d="100"/>
        </p:scale>
        <p:origin x="-154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31727DC-2E8F-43B3-8355-CCE0B6704CEB}" type="datetimeFigureOut">
              <a:rPr lang="en-US" smtClean="0"/>
              <a:pPr/>
              <a:t>2/21/2022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D0B4380-3815-4B2E-92FA-ED1993E061BE}"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CA4B20-6AC4-4F03-B319-A77698EE7FF7}" type="datetimeFigureOut">
              <a:rPr lang="en-US" smtClean="0"/>
              <a:pPr/>
              <a:t>2/21/2022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559116-33F3-4418-9318-CB379B84640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1559116-33F3-4418-9318-CB379B84640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https://study.com/academy/lesson/relation-in-math-definition-examples.html</a:t>
            </a:r>
          </a:p>
        </p:txBody>
      </p:sp>
      <p:sp>
        <p:nvSpPr>
          <p:cNvPr id="4" name="Slide Number Placeholder 3"/>
          <p:cNvSpPr>
            <a:spLocks noGrp="1"/>
          </p:cNvSpPr>
          <p:nvPr>
            <p:ph type="sldNum" sz="quarter" idx="10"/>
          </p:nvPr>
        </p:nvSpPr>
        <p:spPr/>
        <p:txBody>
          <a:bodyPr/>
          <a:lstStyle/>
          <a:p>
            <a:fld id="{F221BAC6-1780-4248-A045-EEDC4FD7C334}" type="slidenum">
              <a:rPr lang="en-US" smtClean="0"/>
              <a:pPr/>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57F6A842-585B-4FB8-B0AD-5A22636E93BF}" type="datetimeFigureOut">
              <a:rPr lang="en-US"/>
              <a:pPr>
                <a:defRPr/>
              </a:pPr>
              <a:t>2/21/2022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A757F44-DAAA-4BFA-A1D9-B690FD69F10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77CC13E-AA34-4DB7-B0EC-5E3AAA7D3BAC}" type="datetimeFigureOut">
              <a:rPr lang="en-US"/>
              <a:pPr>
                <a:defRPr/>
              </a:pPr>
              <a:t>2/21/2022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6F6660F-9FDB-4AFB-BE29-11A381729C2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5883334-71C9-49E2-A0BB-A043C182B878}" type="datetimeFigureOut">
              <a:rPr lang="en-US"/>
              <a:pPr>
                <a:defRPr/>
              </a:pPr>
              <a:t>2/21/2022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4F881E5-BD58-41FC-93AD-0A909108779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5AC3020B-3D2A-4D8C-B5FF-4D6A024CBDE8}" type="datetimeFigureOut">
              <a:rPr lang="en-US"/>
              <a:pPr>
                <a:defRPr/>
              </a:pPr>
              <a:t>2/21/2022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908E1C0-584A-404B-B99A-E5AD89ACF00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DDB17DBA-E622-4CD1-BCA3-A03CD04FDCC6}" type="datetimeFigureOut">
              <a:rPr lang="en-US"/>
              <a:pPr>
                <a:defRPr/>
              </a:pPr>
              <a:t>2/21/2022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C9F4D90-9228-45C4-A427-06E557DE9CF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7491D3DF-EF49-4212-81A5-83E2D6EC0182}" type="datetimeFigureOut">
              <a:rPr lang="en-US"/>
              <a:pPr>
                <a:defRPr/>
              </a:pPr>
              <a:t>2/21/2022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5E97F0E-0BE9-471F-A7B8-4D2E909F9B3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0F86690-AF43-474E-AAC4-06B4786F7A5B}" type="datetimeFigureOut">
              <a:rPr lang="en-US"/>
              <a:pPr>
                <a:defRPr/>
              </a:pPr>
              <a:t>2/21/2022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C646AD9-6F95-4021-BF75-BF9B58A70F5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3CF0E39-78E2-4DE3-8C65-7CAB11F37A23}" type="datetimeFigureOut">
              <a:rPr lang="en-US"/>
              <a:pPr>
                <a:defRPr/>
              </a:pPr>
              <a:t>2/21/2022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4CF80FB-C1F7-4ADD-9C33-A8D7E6B4966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C12A139-0756-4DC4-8001-1DFC6C3458CC}" type="datetimeFigureOut">
              <a:rPr lang="en-US"/>
              <a:pPr>
                <a:defRPr/>
              </a:pPr>
              <a:t>2/21/2022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8795BAB-E1F5-4BBA-9D33-03EFE2F8DDA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E7FC515-BCDF-4B2C-80BB-863C58D176FB}" type="datetimeFigureOut">
              <a:rPr lang="en-US"/>
              <a:pPr>
                <a:defRPr/>
              </a:pPr>
              <a:t>2/21/2022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2C6CC5B-ED2C-42FF-AE49-898FC683E24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62C8C39-B056-4409-B30D-266D32EB71C5}" type="datetimeFigureOut">
              <a:rPr lang="en-US"/>
              <a:pPr>
                <a:defRPr/>
              </a:pPr>
              <a:t>2/21/2022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8BD453D-B7C3-4D56-B8B4-B49BCBFB825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0B325272-1ED5-4E24-A128-8E8DEE352665}" type="datetimeFigureOut">
              <a:rPr lang="en-US"/>
              <a:pPr>
                <a:defRPr/>
              </a:pPr>
              <a:t>2/21/2022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F7590F4-D8FE-45EA-A958-7E45569A001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nhbien@fit.hcmus.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blog.magestore.com/entity-attribute-value-in-magento/"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The Entity-Relationship Model</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smtClean="0">
                <a:hlinkClick r:id="rId3"/>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r>
              <a:rPr lang="en-US" sz="2400" dirty="0" smtClean="0"/>
              <a:t>To create a </a:t>
            </a:r>
            <a:r>
              <a:rPr lang="en-US" sz="2400" i="1" dirty="0" smtClean="0">
                <a:solidFill>
                  <a:srgbClr val="C00000"/>
                </a:solidFill>
              </a:rPr>
              <a:t>entity-relationship model</a:t>
            </a:r>
          </a:p>
          <a:p>
            <a:pPr>
              <a:buFont typeface="Wingdings" pitchFamily="2" charset="2"/>
              <a:buChar char="Ø"/>
            </a:pPr>
            <a:r>
              <a:rPr lang="en-US" sz="2400" dirty="0" smtClean="0"/>
              <a:t>To map </a:t>
            </a:r>
            <a:r>
              <a:rPr lang="en-US" sz="2400" i="1" dirty="0" smtClean="0">
                <a:solidFill>
                  <a:srgbClr val="C00000"/>
                </a:solidFill>
              </a:rPr>
              <a:t>classes to tables</a:t>
            </a:r>
          </a:p>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indent="-457200">
              <a:buFont typeface="+mj-lt"/>
              <a:buAutoNum type="arabicPeriod"/>
            </a:pPr>
            <a:r>
              <a:rPr lang="en-US" sz="1800" dirty="0" smtClean="0"/>
              <a:t>Peter Pin-Shan Chen (1976). The Entity-Relationship Model - Toward a Unified View of Data.</a:t>
            </a:r>
          </a:p>
          <a:p>
            <a:pPr marL="457200" lvl="0" indent="-457200">
              <a:buFont typeface="+mj-lt"/>
              <a:buAutoNum type="arabicPeriod"/>
            </a:pPr>
            <a:r>
              <a:rPr lang="en-US" sz="1800" dirty="0" smtClean="0"/>
              <a:t>Roger S. Pressman (2001). Software Engineering: A Practitioner’s Approach. 5th Edition.</a:t>
            </a:r>
          </a:p>
          <a:p>
            <a:pPr marL="457200" indent="-457200">
              <a:buFont typeface="+mj-lt"/>
              <a:buAutoNum type="arabicPeriod"/>
            </a:pPr>
            <a:r>
              <a:rPr lang="en-US" sz="1800" dirty="0" smtClean="0"/>
              <a:t>Peter Pin-Shan Chen (1997). English, Chinese and ER Diagrams.</a:t>
            </a:r>
          </a:p>
          <a:p>
            <a:pPr marL="457200" indent="-457200">
              <a:buFont typeface="+mj-lt"/>
              <a:buAutoNum type="arabicPeriod"/>
            </a:pPr>
            <a:r>
              <a:rPr lang="en-US" sz="1800" dirty="0" smtClean="0"/>
              <a:t>Craig </a:t>
            </a:r>
            <a:r>
              <a:rPr lang="en-US" sz="1800" dirty="0" err="1" smtClean="0"/>
              <a:t>Larman</a:t>
            </a:r>
            <a:r>
              <a:rPr lang="en-US" sz="1800" dirty="0" smtClean="0"/>
              <a:t> (2004). Applying UML And Patterns.</a:t>
            </a:r>
          </a:p>
          <a:p>
            <a:pPr marL="457200" indent="-457200">
              <a:buFont typeface="+mj-lt"/>
              <a:buAutoNum type="arabicPeriod"/>
            </a:pPr>
            <a:r>
              <a:rPr lang="en-US" sz="1800" dirty="0" smtClean="0"/>
              <a:t>Grady </a:t>
            </a:r>
            <a:r>
              <a:rPr lang="en-US" sz="1800" dirty="0" err="1" smtClean="0"/>
              <a:t>Booch</a:t>
            </a:r>
            <a:r>
              <a:rPr lang="en-US" sz="1800" dirty="0" smtClean="0"/>
              <a:t> et al. (2005). Unified Modeling Language User Guide.</a:t>
            </a:r>
          </a:p>
          <a:p>
            <a:pPr marL="457200" lvl="0" indent="-457200">
              <a:buFont typeface="+mj-lt"/>
              <a:buAutoNum type="arabicPeriod"/>
            </a:pPr>
            <a:r>
              <a:rPr lang="en-US" sz="1800" dirty="0" smtClean="0"/>
              <a:t>Wolfgang Keller (1997). Mapping Objects to Tables: A Pattern Language.</a:t>
            </a:r>
          </a:p>
          <a:p>
            <a:pPr marL="457200" lvl="0" indent="-457200">
              <a:buFont typeface="+mj-lt"/>
              <a:buAutoNum type="arabicPeriod"/>
            </a:pPr>
            <a:r>
              <a:rPr lang="en-US" sz="1800" dirty="0" err="1" smtClean="0"/>
              <a:t>Prakash</a:t>
            </a:r>
            <a:r>
              <a:rPr lang="en-US" sz="1800" dirty="0" smtClean="0"/>
              <a:t> M. </a:t>
            </a:r>
            <a:r>
              <a:rPr lang="en-US" sz="1800" dirty="0" err="1" smtClean="0"/>
              <a:t>Nadkarni</a:t>
            </a:r>
            <a:r>
              <a:rPr lang="en-US" sz="1800" dirty="0" smtClean="0"/>
              <a:t>, MD, Cynthia Brandt, MD, MOH (1998). Data Extraction and Ad Hoc Query of an Entity-Attribute-Value Database.</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What is Entity-Relationship Model? [1]</a:t>
            </a:r>
            <a:endParaRPr lang="en-US" sz="4000" dirty="0"/>
          </a:p>
        </p:txBody>
      </p:sp>
      <p:sp>
        <p:nvSpPr>
          <p:cNvPr id="3" name="Content Placeholder 2"/>
          <p:cNvSpPr>
            <a:spLocks noGrp="1"/>
          </p:cNvSpPr>
          <p:nvPr>
            <p:ph idx="1"/>
          </p:nvPr>
        </p:nvSpPr>
        <p:spPr/>
        <p:txBody>
          <a:bodyPr/>
          <a:lstStyle/>
          <a:p>
            <a:r>
              <a:rPr lang="en-US" sz="2400" dirty="0" smtClean="0"/>
              <a:t>A </a:t>
            </a:r>
            <a:r>
              <a:rPr lang="en-US" sz="2400" u="sng" dirty="0" smtClean="0"/>
              <a:t>data model</a:t>
            </a:r>
            <a:r>
              <a:rPr lang="en-US" sz="2400" dirty="0" smtClean="0"/>
              <a:t>, called the </a:t>
            </a:r>
            <a:r>
              <a:rPr lang="en-US" sz="2400" i="1" dirty="0" smtClean="0">
                <a:solidFill>
                  <a:srgbClr val="C00000"/>
                </a:solidFill>
              </a:rPr>
              <a:t>entity-relationship model</a:t>
            </a:r>
            <a:r>
              <a:rPr lang="en-US" sz="2400" dirty="0" smtClean="0"/>
              <a:t>, incorporates some of the important semantic information about the </a:t>
            </a:r>
            <a:r>
              <a:rPr lang="en-US" sz="2400" u="sng" dirty="0" smtClean="0"/>
              <a:t>real world</a:t>
            </a:r>
            <a:r>
              <a:rPr lang="en-US" sz="2400" dirty="0" smtClean="0"/>
              <a:t>.</a:t>
            </a:r>
          </a:p>
          <a:p>
            <a:r>
              <a:rPr lang="en-US" sz="2400" dirty="0" smtClean="0"/>
              <a:t>The entity-relationship model can be used as a basis for </a:t>
            </a:r>
            <a:r>
              <a:rPr lang="en-US" sz="2400" i="1" dirty="0" smtClean="0">
                <a:solidFill>
                  <a:srgbClr val="C00000"/>
                </a:solidFill>
              </a:rPr>
              <a:t>unification of different views of data</a:t>
            </a:r>
            <a:r>
              <a:rPr lang="en-US" sz="2400" dirty="0" smtClean="0"/>
              <a:t>: the network model, the relational model, and the entity set model.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a:t>
            </a:r>
            <a:endParaRPr lang="en-US" dirty="0"/>
          </a:p>
        </p:txBody>
      </p:sp>
      <p:sp>
        <p:nvSpPr>
          <p:cNvPr id="3" name="Content Placeholder 2"/>
          <p:cNvSpPr>
            <a:spLocks noGrp="1"/>
          </p:cNvSpPr>
          <p:nvPr>
            <p:ph idx="1"/>
          </p:nvPr>
        </p:nvSpPr>
        <p:spPr/>
        <p:txBody>
          <a:bodyPr/>
          <a:lstStyle/>
          <a:p>
            <a:r>
              <a:rPr lang="en-US" sz="2400" dirty="0" smtClean="0"/>
              <a:t>An </a:t>
            </a:r>
            <a:r>
              <a:rPr lang="en-US" sz="2400" i="1" dirty="0" smtClean="0">
                <a:solidFill>
                  <a:srgbClr val="C00000"/>
                </a:solidFill>
              </a:rPr>
              <a:t>entity</a:t>
            </a:r>
            <a:r>
              <a:rPr lang="en-US" sz="2400" dirty="0" smtClean="0"/>
              <a:t> is a “thing” which can be distinctly identified.</a:t>
            </a:r>
          </a:p>
          <a:p>
            <a:r>
              <a:rPr lang="en-US" sz="2400" dirty="0" smtClean="0"/>
              <a:t>A specific person, company, or event is an example of an entity.</a:t>
            </a:r>
          </a:p>
        </p:txBody>
      </p:sp>
      <p:pic>
        <p:nvPicPr>
          <p:cNvPr id="4" name="Picture 2"/>
          <p:cNvPicPr>
            <a:picLocks noChangeAspect="1" noChangeArrowheads="1"/>
          </p:cNvPicPr>
          <p:nvPr/>
        </p:nvPicPr>
        <p:blipFill>
          <a:blip r:embed="rId2" cstate="print"/>
          <a:srcRect/>
          <a:stretch>
            <a:fillRect/>
          </a:stretch>
        </p:blipFill>
        <p:spPr bwMode="auto">
          <a:xfrm>
            <a:off x="2971800" y="2895600"/>
            <a:ext cx="3343275" cy="309562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relationship</a:t>
            </a:r>
            <a:r>
              <a:rPr lang="en-US" sz="2400" dirty="0" smtClean="0"/>
              <a:t> is an association among entities. For instance, “father-son” is a relationship between two “person” entities.’</a:t>
            </a:r>
            <a:endParaRPr lang="en-US" sz="2400" dirty="0"/>
          </a:p>
        </p:txBody>
      </p:sp>
      <p:pic>
        <p:nvPicPr>
          <p:cNvPr id="5" name="Picture 3"/>
          <p:cNvPicPr>
            <a:picLocks noChangeAspect="1" noChangeArrowheads="1"/>
          </p:cNvPicPr>
          <p:nvPr/>
        </p:nvPicPr>
        <p:blipFill>
          <a:blip r:embed="rId2" cstate="print"/>
          <a:srcRect/>
          <a:stretch>
            <a:fillRect/>
          </a:stretch>
        </p:blipFill>
        <p:spPr bwMode="auto">
          <a:xfrm>
            <a:off x="1581150" y="2819400"/>
            <a:ext cx="5981700" cy="366712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Set</a:t>
            </a:r>
            <a:endParaRPr lang="en-US" dirty="0"/>
          </a:p>
        </p:txBody>
      </p:sp>
      <p:sp>
        <p:nvSpPr>
          <p:cNvPr id="3" name="Content Placeholder 2"/>
          <p:cNvSpPr>
            <a:spLocks noGrp="1"/>
          </p:cNvSpPr>
          <p:nvPr>
            <p:ph idx="1"/>
          </p:nvPr>
        </p:nvSpPr>
        <p:spPr/>
        <p:txBody>
          <a:bodyPr/>
          <a:lstStyle/>
          <a:p>
            <a:r>
              <a:rPr lang="en-US" sz="2400" dirty="0" smtClean="0"/>
              <a:t>Let e denote an entity which exists in our minds.</a:t>
            </a:r>
          </a:p>
          <a:p>
            <a:r>
              <a:rPr lang="en-US" sz="2400" dirty="0" smtClean="0"/>
              <a:t>Entities are classified into different </a:t>
            </a:r>
            <a:r>
              <a:rPr lang="en-US" sz="2400" i="1" dirty="0" smtClean="0">
                <a:solidFill>
                  <a:srgbClr val="C00000"/>
                </a:solidFill>
              </a:rPr>
              <a:t>entity sets</a:t>
            </a:r>
            <a:r>
              <a:rPr lang="en-US" sz="2400" dirty="0" smtClean="0"/>
              <a:t> such as EMPLOYEE, PROJECT, and DEPARTMENT.</a:t>
            </a:r>
          </a:p>
          <a:p>
            <a:r>
              <a:rPr lang="en-US" sz="2400" dirty="0" smtClean="0"/>
              <a:t>There is a </a:t>
            </a:r>
            <a:r>
              <a:rPr lang="en-US" sz="2400" i="1" dirty="0" smtClean="0">
                <a:solidFill>
                  <a:srgbClr val="C00000"/>
                </a:solidFill>
              </a:rPr>
              <a:t>predicate</a:t>
            </a:r>
            <a:r>
              <a:rPr lang="en-US" sz="2400" dirty="0" smtClean="0"/>
              <a:t> associated with each entity set </a:t>
            </a:r>
            <a:r>
              <a:rPr lang="en-US" sz="2400" u="sng" dirty="0" smtClean="0"/>
              <a:t>to test</a:t>
            </a:r>
            <a:r>
              <a:rPr lang="en-US" sz="2400" dirty="0" smtClean="0"/>
              <a:t> whether an entity belongs to it.</a:t>
            </a:r>
          </a:p>
          <a:p>
            <a:r>
              <a:rPr lang="en-US" sz="2400" dirty="0" smtClean="0"/>
              <a:t>For example, if we know an entity is in the entity set EMPLOYEE, then we know that it has the properties common to the other entities in the entity set EMPLOYEE. Among these properties is the aforementioned test predicate.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 Set &amp; Role</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relationship set</a:t>
            </a:r>
            <a:r>
              <a:rPr lang="en-US" sz="2400" dirty="0" smtClean="0"/>
              <a:t>, </a:t>
            </a:r>
            <a:r>
              <a:rPr lang="en-US" sz="2400" dirty="0" err="1" smtClean="0"/>
              <a:t>R</a:t>
            </a:r>
            <a:r>
              <a:rPr lang="en-US" sz="2400" baseline="-25000" dirty="0" err="1" smtClean="0"/>
              <a:t>i</a:t>
            </a:r>
            <a:r>
              <a:rPr lang="en-US" sz="2400" dirty="0" smtClean="0"/>
              <a:t>, is a </a:t>
            </a:r>
            <a:r>
              <a:rPr lang="en-US" sz="2400" u="sng" dirty="0" smtClean="0"/>
              <a:t>mathematical relation</a:t>
            </a:r>
            <a:r>
              <a:rPr lang="en-US" sz="2400" dirty="0" smtClean="0"/>
              <a:t> among n entities, each taken from an </a:t>
            </a:r>
            <a:r>
              <a:rPr lang="en-US" sz="2400" u="sng" dirty="0" smtClean="0"/>
              <a:t>entity set</a:t>
            </a:r>
            <a:r>
              <a:rPr lang="en-US" sz="2400" dirty="0" smtClean="0"/>
              <a:t>:</a:t>
            </a:r>
          </a:p>
          <a:p>
            <a:pPr algn="ctr">
              <a:buNone/>
            </a:pPr>
            <a:r>
              <a:rPr lang="en-US" sz="2400" dirty="0" smtClean="0"/>
              <a:t>{[e</a:t>
            </a:r>
            <a:r>
              <a:rPr lang="en-US" sz="2400" baseline="-25000" dirty="0" smtClean="0"/>
              <a:t>1</a:t>
            </a:r>
            <a:r>
              <a:rPr lang="en-US" sz="2400" dirty="0" smtClean="0"/>
              <a:t>, e</a:t>
            </a:r>
            <a:r>
              <a:rPr lang="en-US" sz="2400" baseline="-25000" dirty="0" smtClean="0"/>
              <a:t>2</a:t>
            </a:r>
            <a:r>
              <a:rPr lang="en-US" sz="2400" dirty="0" smtClean="0"/>
              <a:t>, . . . , e</a:t>
            </a:r>
            <a:r>
              <a:rPr lang="en-US" sz="2400" baseline="-25000" dirty="0" smtClean="0"/>
              <a:t>n</a:t>
            </a:r>
            <a:r>
              <a:rPr lang="en-US" sz="2400" dirty="0" smtClean="0"/>
              <a:t>] | e</a:t>
            </a:r>
            <a:r>
              <a:rPr lang="en-US" sz="2400" baseline="-25000" dirty="0" smtClean="0"/>
              <a:t>1</a:t>
            </a:r>
            <a:r>
              <a:rPr lang="en-US" sz="2400" dirty="0" smtClean="0"/>
              <a:t> ∈ E</a:t>
            </a:r>
            <a:r>
              <a:rPr lang="en-US" sz="2400" baseline="-25000" dirty="0" smtClean="0"/>
              <a:t>1</a:t>
            </a:r>
            <a:r>
              <a:rPr lang="en-US" sz="2400" dirty="0" smtClean="0"/>
              <a:t>, e</a:t>
            </a:r>
            <a:r>
              <a:rPr lang="en-US" sz="2400" baseline="-25000" dirty="0" smtClean="0"/>
              <a:t>2</a:t>
            </a:r>
            <a:r>
              <a:rPr lang="en-US" sz="2400" dirty="0" smtClean="0"/>
              <a:t> ∈ E</a:t>
            </a:r>
            <a:r>
              <a:rPr lang="en-US" sz="2400" baseline="-25000" dirty="0" smtClean="0"/>
              <a:t>2</a:t>
            </a:r>
            <a:r>
              <a:rPr lang="en-US" sz="2400" dirty="0" smtClean="0"/>
              <a:t>, . . . , e</a:t>
            </a:r>
            <a:r>
              <a:rPr lang="en-US" sz="2400" baseline="-25000" dirty="0" smtClean="0"/>
              <a:t>n</a:t>
            </a:r>
            <a:r>
              <a:rPr lang="en-US" sz="2400" dirty="0" smtClean="0"/>
              <a:t> ∈ E</a:t>
            </a:r>
            <a:r>
              <a:rPr lang="en-US" sz="2400" baseline="-25000" dirty="0" smtClean="0"/>
              <a:t>n</a:t>
            </a:r>
            <a:r>
              <a:rPr lang="en-US" sz="2400" dirty="0" smtClean="0"/>
              <a:t>},</a:t>
            </a:r>
          </a:p>
          <a:p>
            <a:pPr>
              <a:buNone/>
            </a:pPr>
            <a:r>
              <a:rPr lang="en-US" sz="2400" dirty="0" smtClean="0"/>
              <a:t>	and each </a:t>
            </a:r>
            <a:r>
              <a:rPr lang="en-US" sz="2400" dirty="0" err="1" smtClean="0"/>
              <a:t>tuple</a:t>
            </a:r>
            <a:r>
              <a:rPr lang="en-US" sz="2400" dirty="0" smtClean="0"/>
              <a:t> of entities, [e</a:t>
            </a:r>
            <a:r>
              <a:rPr lang="en-US" sz="2400" baseline="-25000" dirty="0" smtClean="0"/>
              <a:t>1</a:t>
            </a:r>
            <a:r>
              <a:rPr lang="en-US" sz="2400" dirty="0" smtClean="0"/>
              <a:t>, e</a:t>
            </a:r>
            <a:r>
              <a:rPr lang="en-US" sz="2400" baseline="-25000" dirty="0" smtClean="0"/>
              <a:t>2</a:t>
            </a:r>
            <a:r>
              <a:rPr lang="en-US" sz="2400" dirty="0" smtClean="0"/>
              <a:t>, . . . , e</a:t>
            </a:r>
            <a:r>
              <a:rPr lang="en-US" sz="2400" baseline="-25000" dirty="0" smtClean="0"/>
              <a:t>n</a:t>
            </a:r>
            <a:r>
              <a:rPr lang="en-US" sz="2400" dirty="0" smtClean="0"/>
              <a:t>], is a </a:t>
            </a:r>
            <a:r>
              <a:rPr lang="en-US" sz="2400" i="1" dirty="0" smtClean="0">
                <a:solidFill>
                  <a:srgbClr val="C00000"/>
                </a:solidFill>
              </a:rPr>
              <a:t>relationship</a:t>
            </a:r>
            <a:r>
              <a:rPr lang="en-US" sz="2400" dirty="0" smtClean="0"/>
              <a:t>.</a:t>
            </a:r>
          </a:p>
          <a:p>
            <a:r>
              <a:rPr lang="en-US" sz="2400" dirty="0" smtClean="0"/>
              <a:t>The </a:t>
            </a:r>
            <a:r>
              <a:rPr lang="en-US" sz="2400" i="1" dirty="0" smtClean="0">
                <a:solidFill>
                  <a:srgbClr val="C00000"/>
                </a:solidFill>
              </a:rPr>
              <a:t>role</a:t>
            </a:r>
            <a:r>
              <a:rPr lang="en-US" sz="2400" dirty="0" smtClean="0"/>
              <a:t> of an entity in a relationship is the </a:t>
            </a:r>
            <a:r>
              <a:rPr lang="en-US" sz="2400" u="sng" dirty="0" smtClean="0"/>
              <a:t>function</a:t>
            </a:r>
            <a:r>
              <a:rPr lang="en-US" sz="2400" dirty="0" smtClean="0"/>
              <a:t> that it performs in the relationship. “Husband” and “wife” are roles.</a:t>
            </a:r>
          </a:p>
          <a:p>
            <a:r>
              <a:rPr lang="en-US" sz="2400" dirty="0" smtClean="0"/>
              <a:t>The ordering of entities in the definition of relationship (note that square brackets were used) can be dropped if roles of entities in the relationship are </a:t>
            </a:r>
            <a:r>
              <a:rPr lang="en-US" sz="2400" i="1" dirty="0" smtClean="0">
                <a:solidFill>
                  <a:srgbClr val="C00000"/>
                </a:solidFill>
              </a:rPr>
              <a:t>explicitly stated</a:t>
            </a:r>
            <a:r>
              <a:rPr lang="en-US" sz="2400" dirty="0" smtClean="0"/>
              <a:t> as follows: (r</a:t>
            </a:r>
            <a:r>
              <a:rPr lang="en-US" sz="2400" baseline="-25000" dirty="0" smtClean="0"/>
              <a:t>1</a:t>
            </a:r>
            <a:r>
              <a:rPr lang="en-US" sz="2400" dirty="0" smtClean="0"/>
              <a:t>/e</a:t>
            </a:r>
            <a:r>
              <a:rPr lang="en-US" sz="2400" baseline="-25000" dirty="0" smtClean="0"/>
              <a:t>1</a:t>
            </a:r>
            <a:r>
              <a:rPr lang="en-US" sz="2400" dirty="0" smtClean="0"/>
              <a:t>, r</a:t>
            </a:r>
            <a:r>
              <a:rPr lang="en-US" sz="2400" baseline="-25000" dirty="0" smtClean="0"/>
              <a:t>2</a:t>
            </a:r>
            <a:r>
              <a:rPr lang="en-US" sz="2400" dirty="0" smtClean="0"/>
              <a:t>/e</a:t>
            </a:r>
            <a:r>
              <a:rPr lang="en-US" sz="2400" baseline="-25000" dirty="0" smtClean="0"/>
              <a:t>2</a:t>
            </a:r>
            <a:r>
              <a:rPr lang="en-US" sz="2400" dirty="0" smtClean="0"/>
              <a:t>, . . . , </a:t>
            </a:r>
            <a:r>
              <a:rPr lang="en-US" sz="2400" dirty="0" err="1" smtClean="0"/>
              <a:t>r</a:t>
            </a:r>
            <a:r>
              <a:rPr lang="en-US" sz="2400" baseline="-25000" dirty="0" err="1" smtClean="0"/>
              <a:t>n</a:t>
            </a:r>
            <a:r>
              <a:rPr lang="en-US" sz="2400" dirty="0" smtClean="0"/>
              <a:t>/e</a:t>
            </a:r>
            <a:r>
              <a:rPr lang="en-US" sz="2400" baseline="-25000" dirty="0" smtClean="0"/>
              <a:t>n</a:t>
            </a:r>
            <a:r>
              <a:rPr lang="en-US" sz="2400" dirty="0" smtClean="0"/>
              <a:t>) , where </a:t>
            </a:r>
            <a:r>
              <a:rPr lang="en-US" sz="2400" dirty="0" err="1" smtClean="0"/>
              <a:t>r</a:t>
            </a:r>
            <a:r>
              <a:rPr lang="en-US" sz="2400" baseline="-25000" dirty="0" err="1" smtClean="0"/>
              <a:t>i</a:t>
            </a:r>
            <a:r>
              <a:rPr lang="en-US" sz="2400" dirty="0" smtClean="0"/>
              <a:t> is the role of </a:t>
            </a:r>
            <a:r>
              <a:rPr lang="en-US" sz="2400" dirty="0" err="1" smtClean="0"/>
              <a:t>e</a:t>
            </a:r>
            <a:r>
              <a:rPr lang="en-US" sz="2400" baseline="-25000" dirty="0" err="1" smtClean="0"/>
              <a:t>i</a:t>
            </a:r>
            <a:r>
              <a:rPr lang="en-US" sz="2400" dirty="0" smtClean="0"/>
              <a:t> in the relationship.</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Mathematical Relation</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relation </a:t>
            </a:r>
            <a:r>
              <a:rPr lang="en-US" sz="2400" dirty="0" smtClean="0"/>
              <a:t>is a relationship between sets of values.</a:t>
            </a:r>
          </a:p>
          <a:p>
            <a:r>
              <a:rPr lang="en-US" sz="2400" dirty="0" smtClean="0"/>
              <a:t>In math, the relation is between the </a:t>
            </a:r>
            <a:r>
              <a:rPr lang="en-US" sz="2400" i="1" dirty="0" smtClean="0"/>
              <a:t>x</a:t>
            </a:r>
            <a:r>
              <a:rPr lang="en-US" sz="2400" dirty="0" smtClean="0"/>
              <a:t>-values and </a:t>
            </a:r>
            <a:r>
              <a:rPr lang="en-US" sz="2400" i="1" dirty="0" smtClean="0"/>
              <a:t>y</a:t>
            </a:r>
            <a:r>
              <a:rPr lang="en-US" sz="2400" dirty="0" smtClean="0"/>
              <a:t>-values of </a:t>
            </a:r>
            <a:r>
              <a:rPr lang="en-US" sz="2400" u="sng" dirty="0" smtClean="0"/>
              <a:t>ordered pairs</a:t>
            </a:r>
            <a:r>
              <a:rPr lang="en-US" sz="2400" dirty="0" smtClean="0"/>
              <a:t>. The set of all </a:t>
            </a:r>
            <a:r>
              <a:rPr lang="en-US" sz="2400" i="1" dirty="0" smtClean="0"/>
              <a:t>x</a:t>
            </a:r>
            <a:r>
              <a:rPr lang="en-US" sz="2400" dirty="0" smtClean="0"/>
              <a:t>-values is called the </a:t>
            </a:r>
            <a:r>
              <a:rPr lang="en-US" sz="2400" i="1" dirty="0" smtClean="0">
                <a:solidFill>
                  <a:srgbClr val="C00000"/>
                </a:solidFill>
              </a:rPr>
              <a:t>domain</a:t>
            </a:r>
            <a:r>
              <a:rPr lang="en-US" sz="2400" dirty="0" smtClean="0"/>
              <a:t>, and the set of all </a:t>
            </a:r>
            <a:r>
              <a:rPr lang="en-US" sz="2400" i="1" dirty="0" smtClean="0"/>
              <a:t>y</a:t>
            </a:r>
            <a:r>
              <a:rPr lang="en-US" sz="2400" dirty="0" smtClean="0"/>
              <a:t>-values is called the </a:t>
            </a:r>
            <a:r>
              <a:rPr lang="en-US" sz="2400" i="1" dirty="0" smtClean="0">
                <a:solidFill>
                  <a:srgbClr val="C00000"/>
                </a:solidFill>
              </a:rPr>
              <a:t>range</a:t>
            </a:r>
            <a:r>
              <a:rPr lang="en-US" sz="2400" dirty="0" smtClean="0"/>
              <a:t>.</a:t>
            </a:r>
          </a:p>
          <a:p>
            <a:r>
              <a:rPr lang="en-US" sz="2400" dirty="0" smtClean="0"/>
              <a:t>Relations can be displayed as a </a:t>
            </a:r>
            <a:r>
              <a:rPr lang="en-US" sz="2400" u="sng" dirty="0" smtClean="0"/>
              <a:t>table</a:t>
            </a:r>
            <a:r>
              <a:rPr lang="en-US" sz="2400" dirty="0" smtClean="0"/>
              <a:t>, a </a:t>
            </a:r>
            <a:r>
              <a:rPr lang="en-US" sz="2400" u="sng" dirty="0" smtClean="0"/>
              <a:t>mapping</a:t>
            </a:r>
            <a:r>
              <a:rPr lang="en-US" sz="2400" dirty="0" smtClean="0"/>
              <a:t> or a </a:t>
            </a:r>
            <a:r>
              <a:rPr lang="en-US" sz="2400" u="sng" dirty="0" smtClean="0"/>
              <a:t>graph</a:t>
            </a:r>
            <a:r>
              <a:rPr lang="en-US" sz="2400" dirty="0" smtClean="0"/>
              <a:t>.</a:t>
            </a:r>
            <a:endParaRPr lang="en-US" sz="2400" dirty="0"/>
          </a:p>
        </p:txBody>
      </p:sp>
      <p:pic>
        <p:nvPicPr>
          <p:cNvPr id="1026" name="Picture 2" descr="relation2"/>
          <p:cNvPicPr>
            <a:picLocks noChangeAspect="1" noChangeArrowheads="1"/>
          </p:cNvPicPr>
          <p:nvPr/>
        </p:nvPicPr>
        <p:blipFill>
          <a:blip r:embed="rId3" cstate="print"/>
          <a:srcRect/>
          <a:stretch>
            <a:fillRect/>
          </a:stretch>
        </p:blipFill>
        <p:spPr bwMode="auto">
          <a:xfrm>
            <a:off x="381000" y="4095750"/>
            <a:ext cx="1981200" cy="1962150"/>
          </a:xfrm>
          <a:prstGeom prst="rect">
            <a:avLst/>
          </a:prstGeom>
          <a:noFill/>
        </p:spPr>
      </p:pic>
      <p:pic>
        <p:nvPicPr>
          <p:cNvPr id="1028" name="Picture 4" descr="relation3"/>
          <p:cNvPicPr>
            <a:picLocks noChangeAspect="1" noChangeArrowheads="1"/>
          </p:cNvPicPr>
          <p:nvPr/>
        </p:nvPicPr>
        <p:blipFill>
          <a:blip r:embed="rId4" cstate="print"/>
          <a:srcRect/>
          <a:stretch>
            <a:fillRect/>
          </a:stretch>
        </p:blipFill>
        <p:spPr bwMode="auto">
          <a:xfrm>
            <a:off x="2667000" y="4019550"/>
            <a:ext cx="2552700" cy="2152650"/>
          </a:xfrm>
          <a:prstGeom prst="rect">
            <a:avLst/>
          </a:prstGeom>
          <a:noFill/>
        </p:spPr>
      </p:pic>
      <p:pic>
        <p:nvPicPr>
          <p:cNvPr id="1030" name="Picture 6" descr="relation4"/>
          <p:cNvPicPr>
            <a:picLocks noChangeAspect="1" noChangeArrowheads="1"/>
          </p:cNvPicPr>
          <p:nvPr/>
        </p:nvPicPr>
        <p:blipFill>
          <a:blip r:embed="rId5" cstate="print"/>
          <a:srcRect/>
          <a:stretch>
            <a:fillRect/>
          </a:stretch>
        </p:blipFill>
        <p:spPr bwMode="auto">
          <a:xfrm>
            <a:off x="5486400" y="3714750"/>
            <a:ext cx="3324225" cy="2838450"/>
          </a:xfrm>
          <a:prstGeom prst="rect">
            <a:avLst/>
          </a:prstGeom>
          <a:noFill/>
        </p:spPr>
      </p:pic>
      <p:pic>
        <p:nvPicPr>
          <p:cNvPr id="7" name="Picture 2" descr="http://fastbiz101.com/101/wpfast-content/uploads/2016/06/review.jpeg"/>
          <p:cNvPicPr>
            <a:picLocks noChangeAspect="1" noChangeArrowheads="1"/>
          </p:cNvPicPr>
          <p:nvPr/>
        </p:nvPicPr>
        <p:blipFill>
          <a:blip r:embed="rId6" cstate="print"/>
          <a:srcRect/>
          <a:stretch>
            <a:fillRect/>
          </a:stretch>
        </p:blipFill>
        <p:spPr bwMode="auto">
          <a:xfrm>
            <a:off x="304800" y="533400"/>
            <a:ext cx="1600200" cy="8001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Values and Values Set</a:t>
            </a:r>
            <a:endParaRPr lang="en-US" dirty="0"/>
          </a:p>
        </p:txBody>
      </p:sp>
      <p:sp>
        <p:nvSpPr>
          <p:cNvPr id="3" name="Content Placeholder 2"/>
          <p:cNvSpPr>
            <a:spLocks noGrp="1"/>
          </p:cNvSpPr>
          <p:nvPr>
            <p:ph idx="1"/>
          </p:nvPr>
        </p:nvSpPr>
        <p:spPr/>
        <p:txBody>
          <a:bodyPr/>
          <a:lstStyle/>
          <a:p>
            <a:r>
              <a:rPr lang="en-US" sz="2400" dirty="0" smtClean="0"/>
              <a:t>The information about an </a:t>
            </a:r>
            <a:r>
              <a:rPr lang="en-US" sz="2400" u="sng" dirty="0" smtClean="0"/>
              <a:t>entity</a:t>
            </a:r>
            <a:r>
              <a:rPr lang="en-US" sz="2400" dirty="0" smtClean="0"/>
              <a:t> or a </a:t>
            </a:r>
            <a:r>
              <a:rPr lang="en-US" sz="2400" u="sng" dirty="0" smtClean="0"/>
              <a:t>relationship</a:t>
            </a:r>
            <a:r>
              <a:rPr lang="en-US" sz="2400" dirty="0" smtClean="0"/>
              <a:t> is obtained by observation or measurement, and is expressed by a set of </a:t>
            </a:r>
            <a:r>
              <a:rPr lang="en-US" sz="2400" i="1" dirty="0" smtClean="0">
                <a:solidFill>
                  <a:srgbClr val="C00000"/>
                </a:solidFill>
              </a:rPr>
              <a:t>attribute-value pairs</a:t>
            </a:r>
            <a:r>
              <a:rPr lang="en-US" sz="2400" dirty="0" smtClean="0"/>
              <a:t>.</a:t>
            </a:r>
          </a:p>
          <a:p>
            <a:r>
              <a:rPr lang="en-US" sz="2400" dirty="0" smtClean="0"/>
              <a:t>“3”, “red”, “Peter”, and “Johnson” are </a:t>
            </a:r>
            <a:r>
              <a:rPr lang="en-US" sz="2400" i="1" dirty="0" smtClean="0">
                <a:solidFill>
                  <a:srgbClr val="C00000"/>
                </a:solidFill>
              </a:rPr>
              <a:t>values</a:t>
            </a:r>
            <a:r>
              <a:rPr lang="en-US" sz="2400" dirty="0" smtClean="0"/>
              <a:t>.</a:t>
            </a:r>
          </a:p>
          <a:p>
            <a:r>
              <a:rPr lang="en-US" sz="2400" dirty="0" smtClean="0"/>
              <a:t>Values are classified into different </a:t>
            </a:r>
            <a:r>
              <a:rPr lang="en-US" sz="2400" i="1" dirty="0" smtClean="0">
                <a:solidFill>
                  <a:srgbClr val="C00000"/>
                </a:solidFill>
              </a:rPr>
              <a:t>value sets</a:t>
            </a:r>
            <a:r>
              <a:rPr lang="en-US" sz="2400" dirty="0" smtClean="0"/>
              <a:t>, such as FEET, COLOR, FIRST-NAME, and LAST-NAME.</a:t>
            </a:r>
          </a:p>
          <a:p>
            <a:r>
              <a:rPr lang="en-US" sz="2400" dirty="0" smtClean="0"/>
              <a:t>There is a </a:t>
            </a:r>
            <a:r>
              <a:rPr lang="en-US" sz="2400" i="1" dirty="0" smtClean="0">
                <a:solidFill>
                  <a:srgbClr val="C00000"/>
                </a:solidFill>
              </a:rPr>
              <a:t>predicate</a:t>
            </a:r>
            <a:r>
              <a:rPr lang="en-US" sz="2400" dirty="0" smtClean="0"/>
              <a:t> </a:t>
            </a:r>
            <a:r>
              <a:rPr lang="en-US" sz="2400" u="sng" dirty="0" smtClean="0"/>
              <a:t>associated with each value set</a:t>
            </a:r>
            <a:r>
              <a:rPr lang="en-US" sz="2400" dirty="0" smtClean="0"/>
              <a:t> to test whether a value belongs to it.</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a:t>
            </a:r>
            <a:endParaRPr lang="en-US" dirty="0"/>
          </a:p>
        </p:txBody>
      </p:sp>
      <p:sp>
        <p:nvSpPr>
          <p:cNvPr id="3" name="Content Placeholder 2"/>
          <p:cNvSpPr>
            <a:spLocks noGrp="1"/>
          </p:cNvSpPr>
          <p:nvPr>
            <p:ph idx="1"/>
          </p:nvPr>
        </p:nvSpPr>
        <p:spPr>
          <a:xfrm>
            <a:off x="457200" y="1600200"/>
            <a:ext cx="4191000" cy="4525963"/>
          </a:xfrm>
        </p:spPr>
        <p:txBody>
          <a:bodyPr/>
          <a:lstStyle/>
          <a:p>
            <a:r>
              <a:rPr lang="en-US" sz="2400" dirty="0" smtClean="0"/>
              <a:t>An </a:t>
            </a:r>
            <a:r>
              <a:rPr lang="en-US" sz="2400" i="1" dirty="0" smtClean="0">
                <a:solidFill>
                  <a:srgbClr val="C00000"/>
                </a:solidFill>
              </a:rPr>
              <a:t>attribute</a:t>
            </a:r>
            <a:r>
              <a:rPr lang="en-US" sz="2400" dirty="0" smtClean="0"/>
              <a:t> can be formally defined as </a:t>
            </a:r>
            <a:r>
              <a:rPr lang="en-US" sz="2400" u="sng" dirty="0" smtClean="0"/>
              <a:t>a function</a:t>
            </a:r>
            <a:r>
              <a:rPr lang="en-US" sz="2400" dirty="0" smtClean="0"/>
              <a:t> which maps </a:t>
            </a:r>
            <a:r>
              <a:rPr lang="en-US" sz="2400" u="sng" dirty="0" smtClean="0"/>
              <a:t>from</a:t>
            </a:r>
            <a:r>
              <a:rPr lang="en-US" sz="2400" dirty="0" smtClean="0"/>
              <a:t> an entity set or a relationship set </a:t>
            </a:r>
            <a:r>
              <a:rPr lang="en-US" sz="2400" u="sng" dirty="0" smtClean="0"/>
              <a:t>into</a:t>
            </a:r>
            <a:r>
              <a:rPr lang="en-US" sz="2400" dirty="0" smtClean="0"/>
              <a:t> a value set or a </a:t>
            </a:r>
            <a:r>
              <a:rPr lang="en-US" sz="2400" u="sng" dirty="0" smtClean="0"/>
              <a:t>Cartesian product</a:t>
            </a:r>
            <a:r>
              <a:rPr lang="en-US" sz="2400" dirty="0" smtClean="0"/>
              <a:t> of value sets:</a:t>
            </a:r>
          </a:p>
          <a:p>
            <a:pPr algn="ctr">
              <a:buNone/>
            </a:pPr>
            <a:r>
              <a:rPr lang="en-US" sz="2400" dirty="0" smtClean="0"/>
              <a:t>f: </a:t>
            </a:r>
            <a:r>
              <a:rPr lang="en-US" sz="2400" dirty="0" err="1" smtClean="0"/>
              <a:t>E</a:t>
            </a:r>
            <a:r>
              <a:rPr lang="en-US" sz="2400" baseline="-25000" dirty="0" err="1" smtClean="0"/>
              <a:t>i</a:t>
            </a:r>
            <a:r>
              <a:rPr lang="en-US" sz="2400" dirty="0" smtClean="0"/>
              <a:t> or </a:t>
            </a:r>
            <a:r>
              <a:rPr lang="en-US" sz="2400" dirty="0" err="1" smtClean="0"/>
              <a:t>R</a:t>
            </a:r>
            <a:r>
              <a:rPr lang="en-US" sz="2400" baseline="-25000" dirty="0" err="1" smtClean="0"/>
              <a:t>i</a:t>
            </a:r>
            <a:r>
              <a:rPr lang="en-US" sz="2400" dirty="0" smtClean="0"/>
              <a:t> ⟶ V</a:t>
            </a:r>
            <a:r>
              <a:rPr lang="en-US" sz="2400" baseline="-25000" dirty="0" smtClean="0"/>
              <a:t>i</a:t>
            </a:r>
            <a:r>
              <a:rPr lang="en-US" sz="2400" dirty="0" smtClean="0"/>
              <a:t> or </a:t>
            </a:r>
          </a:p>
          <a:p>
            <a:pPr algn="ctr">
              <a:buNone/>
            </a:pPr>
            <a:r>
              <a:rPr lang="en-US" sz="2400" dirty="0" smtClean="0"/>
              <a:t>V</a:t>
            </a:r>
            <a:r>
              <a:rPr lang="en-US" sz="2400" baseline="-25000" dirty="0" smtClean="0"/>
              <a:t>i</a:t>
            </a:r>
            <a:r>
              <a:rPr lang="en-US" sz="1600" baseline="-25000" dirty="0" smtClean="0"/>
              <a:t>1</a:t>
            </a:r>
            <a:r>
              <a:rPr lang="en-US" sz="2400" dirty="0" smtClean="0"/>
              <a:t> ✕ V</a:t>
            </a:r>
            <a:r>
              <a:rPr lang="en-US" sz="2400" baseline="-25000" dirty="0" smtClean="0"/>
              <a:t>i</a:t>
            </a:r>
            <a:r>
              <a:rPr lang="en-US" sz="1600" baseline="-25000" dirty="0" smtClean="0"/>
              <a:t>2</a:t>
            </a:r>
            <a:r>
              <a:rPr lang="en-US" sz="2400" dirty="0" smtClean="0"/>
              <a:t> ✕ ∙ ∙ ∙ ✕ V</a:t>
            </a:r>
            <a:r>
              <a:rPr lang="en-US" sz="2400" baseline="-25000" dirty="0" smtClean="0"/>
              <a:t>i</a:t>
            </a:r>
            <a:r>
              <a:rPr lang="en-US" sz="1600" baseline="-25000" dirty="0" smtClean="0"/>
              <a:t>n</a:t>
            </a:r>
            <a:endParaRPr lang="en-US" sz="1600" dirty="0"/>
          </a:p>
        </p:txBody>
      </p:sp>
      <p:pic>
        <p:nvPicPr>
          <p:cNvPr id="4" name="Picture 6"/>
          <p:cNvPicPr>
            <a:picLocks noChangeAspect="1" noChangeArrowheads="1"/>
          </p:cNvPicPr>
          <p:nvPr/>
        </p:nvPicPr>
        <p:blipFill>
          <a:blip r:embed="rId2" cstate="print"/>
          <a:srcRect/>
          <a:stretch>
            <a:fillRect/>
          </a:stretch>
        </p:blipFill>
        <p:spPr bwMode="auto">
          <a:xfrm>
            <a:off x="4876800" y="1600200"/>
            <a:ext cx="3956304" cy="4936998"/>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 Attributes</a:t>
            </a:r>
            <a:endParaRPr lang="en-US" dirty="0"/>
          </a:p>
        </p:txBody>
      </p:sp>
      <p:sp>
        <p:nvSpPr>
          <p:cNvPr id="3" name="Content Placeholder 2"/>
          <p:cNvSpPr>
            <a:spLocks noGrp="1"/>
          </p:cNvSpPr>
          <p:nvPr>
            <p:ph idx="1"/>
          </p:nvPr>
        </p:nvSpPr>
        <p:spPr>
          <a:xfrm>
            <a:off x="457200" y="1600200"/>
            <a:ext cx="4191000" cy="4525963"/>
          </a:xfrm>
        </p:spPr>
        <p:txBody>
          <a:bodyPr/>
          <a:lstStyle/>
          <a:p>
            <a:r>
              <a:rPr lang="en-US" sz="2200" dirty="0" smtClean="0"/>
              <a:t>The attribute PERCENTAGE-OF-TIME, which is the portion of time a particular employee is committed to a particular project, is an attribute defined on the relationship set PROJECT-WORKER.</a:t>
            </a:r>
          </a:p>
          <a:p>
            <a:r>
              <a:rPr lang="en-US" sz="2200" dirty="0" smtClean="0"/>
              <a:t>It is neither an attribute of EMPLOYEE nor an attribute of PROJECT, since its meaning depends on both the employee and project involved.</a:t>
            </a:r>
            <a:endParaRPr lang="en-US" sz="2200" dirty="0"/>
          </a:p>
        </p:txBody>
      </p:sp>
      <p:pic>
        <p:nvPicPr>
          <p:cNvPr id="41986" name="Picture 2"/>
          <p:cNvPicPr>
            <a:picLocks noChangeAspect="1" noChangeArrowheads="1"/>
          </p:cNvPicPr>
          <p:nvPr/>
        </p:nvPicPr>
        <p:blipFill>
          <a:blip r:embed="rId2" cstate="print"/>
          <a:srcRect/>
          <a:stretch>
            <a:fillRect/>
          </a:stretch>
        </p:blipFill>
        <p:spPr bwMode="auto">
          <a:xfrm>
            <a:off x="4800600" y="1752600"/>
            <a:ext cx="3984625" cy="42227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Conceptual Information Structure</a:t>
            </a:r>
            <a:endParaRPr lang="en-US" dirty="0"/>
          </a:p>
        </p:txBody>
      </p:sp>
      <p:sp>
        <p:nvSpPr>
          <p:cNvPr id="3" name="Content Placeholder 2"/>
          <p:cNvSpPr>
            <a:spLocks noGrp="1"/>
          </p:cNvSpPr>
          <p:nvPr>
            <p:ph idx="1"/>
          </p:nvPr>
        </p:nvSpPr>
        <p:spPr/>
        <p:txBody>
          <a:bodyPr/>
          <a:lstStyle/>
          <a:p>
            <a:r>
              <a:rPr lang="en-US" sz="2400" dirty="0" smtClean="0"/>
              <a:t>We are now concerned with </a:t>
            </a:r>
            <a:r>
              <a:rPr lang="en-US" sz="2400" i="1" dirty="0" smtClean="0">
                <a:solidFill>
                  <a:srgbClr val="C00000"/>
                </a:solidFill>
              </a:rPr>
              <a:t>how to organize the information</a:t>
            </a:r>
            <a:r>
              <a:rPr lang="en-US" sz="2400" dirty="0" smtClean="0"/>
              <a:t> associated with </a:t>
            </a:r>
            <a:r>
              <a:rPr lang="en-US" sz="2400" u="sng" dirty="0" smtClean="0"/>
              <a:t>entities</a:t>
            </a:r>
            <a:r>
              <a:rPr lang="en-US" sz="2400" dirty="0" smtClean="0"/>
              <a:t> and </a:t>
            </a:r>
            <a:r>
              <a:rPr lang="en-US" sz="2400" u="sng" dirty="0" smtClean="0"/>
              <a:t>relationships</a:t>
            </a:r>
            <a:r>
              <a:rPr lang="en-US" sz="2400" dirty="0" smtClean="0"/>
              <a:t>.</a:t>
            </a:r>
          </a:p>
          <a:p>
            <a:r>
              <a:rPr lang="en-US" sz="2400" dirty="0" smtClean="0"/>
              <a:t>The </a:t>
            </a:r>
            <a:r>
              <a:rPr lang="en-US" sz="2400" i="1" dirty="0" smtClean="0">
                <a:solidFill>
                  <a:srgbClr val="C00000"/>
                </a:solidFill>
              </a:rPr>
              <a:t>method proposed</a:t>
            </a:r>
            <a:r>
              <a:rPr lang="en-US" sz="2400" dirty="0" smtClean="0"/>
              <a:t> in this paper is to </a:t>
            </a:r>
            <a:r>
              <a:rPr lang="en-US" sz="2400" u="sng" dirty="0" smtClean="0"/>
              <a:t>separate</a:t>
            </a:r>
            <a:r>
              <a:rPr lang="en-US" sz="2400" dirty="0" smtClean="0"/>
              <a:t> the information about </a:t>
            </a:r>
            <a:r>
              <a:rPr lang="en-US" sz="2400" u="sng" dirty="0" smtClean="0"/>
              <a:t>entities</a:t>
            </a:r>
            <a:r>
              <a:rPr lang="en-US" sz="2400" dirty="0" smtClean="0"/>
              <a:t> from the information about </a:t>
            </a:r>
            <a:r>
              <a:rPr lang="en-US" sz="2400" u="sng" dirty="0" smtClean="0"/>
              <a:t>relationships</a:t>
            </a:r>
            <a:r>
              <a:rPr lang="en-US" sz="2400" dirty="0" smtClean="0"/>
              <a:t>.</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Example</a:t>
            </a:r>
            <a:endParaRPr lang="en-US" dirty="0"/>
          </a:p>
        </p:txBody>
      </p:sp>
      <p:pic>
        <p:nvPicPr>
          <p:cNvPr id="2055" name="Picture 7"/>
          <p:cNvPicPr>
            <a:picLocks noChangeAspect="1" noChangeArrowheads="1"/>
          </p:cNvPicPr>
          <p:nvPr/>
        </p:nvPicPr>
        <p:blipFill>
          <a:blip r:embed="rId2" cstate="print"/>
          <a:srcRect/>
          <a:stretch>
            <a:fillRect/>
          </a:stretch>
        </p:blipFill>
        <p:spPr bwMode="auto">
          <a:xfrm>
            <a:off x="2438400" y="1676400"/>
            <a:ext cx="3998214" cy="3403092"/>
          </a:xfrm>
          <a:prstGeom prst="rect">
            <a:avLst/>
          </a:prstGeom>
          <a:noFill/>
          <a:ln w="9525">
            <a:noFill/>
            <a:miter lim="800000"/>
            <a:headEnd/>
            <a:tailEnd/>
          </a:ln>
        </p:spPr>
      </p:pic>
      <p:sp>
        <p:nvSpPr>
          <p:cNvPr id="5" name="Rectangle 4"/>
          <p:cNvSpPr/>
          <p:nvPr/>
        </p:nvSpPr>
        <p:spPr>
          <a:xfrm>
            <a:off x="1981200" y="5308092"/>
            <a:ext cx="4870244" cy="369332"/>
          </a:xfrm>
          <a:prstGeom prst="rect">
            <a:avLst/>
          </a:prstGeom>
        </p:spPr>
        <p:txBody>
          <a:bodyPr wrap="none">
            <a:spAutoFit/>
          </a:bodyPr>
          <a:lstStyle/>
          <a:p>
            <a:r>
              <a:rPr lang="en-US" b="1" dirty="0" smtClean="0">
                <a:latin typeface="Consolas" pitchFamily="49" charset="0"/>
              </a:rPr>
              <a:t>Entity Set, Attributes and Value Sets</a:t>
            </a:r>
            <a:endParaRPr lang="en-US" b="1" dirty="0">
              <a:latin typeface="Consolas"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 Set</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14300" y="1524000"/>
            <a:ext cx="4914900" cy="5067300"/>
          </a:xfrm>
          <a:prstGeom prst="rect">
            <a:avLst/>
          </a:prstGeom>
          <a:noFill/>
          <a:ln w="9525">
            <a:noFill/>
            <a:miter lim="800000"/>
            <a:headEnd/>
            <a:tailEnd/>
          </a:ln>
        </p:spPr>
      </p:pic>
      <p:pic>
        <p:nvPicPr>
          <p:cNvPr id="3076" name="Picture 4"/>
          <p:cNvPicPr>
            <a:picLocks noChangeAspect="1" noChangeArrowheads="1"/>
          </p:cNvPicPr>
          <p:nvPr/>
        </p:nvPicPr>
        <p:blipFill>
          <a:blip r:embed="rId3" cstate="print"/>
          <a:srcRect/>
          <a:stretch>
            <a:fillRect/>
          </a:stretch>
        </p:blipFill>
        <p:spPr bwMode="auto">
          <a:xfrm>
            <a:off x="5057775" y="2590800"/>
            <a:ext cx="4010025" cy="283845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Relationship Diagram</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981200" y="1485900"/>
            <a:ext cx="5200650" cy="1714500"/>
          </a:xfrm>
          <a:prstGeom prst="rect">
            <a:avLst/>
          </a:prstGeom>
          <a:noFill/>
          <a:ln w="9525">
            <a:noFill/>
            <a:miter lim="800000"/>
            <a:headEnd/>
            <a:tailEnd/>
          </a:ln>
        </p:spPr>
      </p:pic>
      <p:pic>
        <p:nvPicPr>
          <p:cNvPr id="1031" name="Picture 7"/>
          <p:cNvPicPr>
            <a:picLocks noChangeAspect="1" noChangeArrowheads="1"/>
          </p:cNvPicPr>
          <p:nvPr/>
        </p:nvPicPr>
        <p:blipFill>
          <a:blip r:embed="rId3" cstate="print"/>
          <a:srcRect/>
          <a:stretch>
            <a:fillRect/>
          </a:stretch>
        </p:blipFill>
        <p:spPr bwMode="auto">
          <a:xfrm>
            <a:off x="2438400" y="3276600"/>
            <a:ext cx="4229100" cy="344805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Cardinality and Modality [2]</a:t>
            </a:r>
            <a:endParaRPr lang="en-US" dirty="0"/>
          </a:p>
        </p:txBody>
      </p:sp>
      <p:sp>
        <p:nvSpPr>
          <p:cNvPr id="3" name="Content Placeholder 2"/>
          <p:cNvSpPr>
            <a:spLocks noGrp="1"/>
          </p:cNvSpPr>
          <p:nvPr>
            <p:ph idx="1"/>
          </p:nvPr>
        </p:nvSpPr>
        <p:spPr>
          <a:xfrm>
            <a:off x="533400" y="1295400"/>
            <a:ext cx="8153400" cy="2667000"/>
          </a:xfrm>
        </p:spPr>
        <p:txBody>
          <a:bodyPr/>
          <a:lstStyle/>
          <a:p>
            <a:r>
              <a:rPr lang="en-US" sz="2000" i="1" dirty="0" smtClean="0">
                <a:solidFill>
                  <a:srgbClr val="C00000"/>
                </a:solidFill>
              </a:rPr>
              <a:t>Cardinality is</a:t>
            </a:r>
            <a:r>
              <a:rPr lang="en-US" sz="2000" dirty="0" smtClean="0"/>
              <a:t> the specification of the number of occurrences of one [object] that can be related to the number of occurrences of another [object].</a:t>
            </a:r>
          </a:p>
          <a:p>
            <a:r>
              <a:rPr lang="en-US" sz="2000" i="1" dirty="0" smtClean="0">
                <a:solidFill>
                  <a:srgbClr val="C00000"/>
                </a:solidFill>
              </a:rPr>
              <a:t>Cardinality defines</a:t>
            </a:r>
            <a:r>
              <a:rPr lang="en-US" sz="2000" dirty="0" smtClean="0"/>
              <a:t> “the maximum number of objects that can participate in a relationship”.</a:t>
            </a:r>
          </a:p>
          <a:p>
            <a:r>
              <a:rPr lang="en-US" sz="2000" i="1" dirty="0" smtClean="0">
                <a:solidFill>
                  <a:srgbClr val="C00000"/>
                </a:solidFill>
              </a:rPr>
              <a:t>The modality of a relationship is</a:t>
            </a:r>
            <a:r>
              <a:rPr lang="en-US" sz="2000" dirty="0" smtClean="0"/>
              <a:t> 0 if there is no explicit need for the relationship to occur or the relationship is </a:t>
            </a:r>
            <a:r>
              <a:rPr lang="en-US" sz="2000" i="1" dirty="0" smtClean="0">
                <a:solidFill>
                  <a:srgbClr val="C00000"/>
                </a:solidFill>
              </a:rPr>
              <a:t>optional</a:t>
            </a:r>
            <a:r>
              <a:rPr lang="en-US" sz="2000" dirty="0" smtClean="0"/>
              <a:t>. The modality is 1 if an occurrence of the relationship is </a:t>
            </a:r>
            <a:r>
              <a:rPr lang="en-US" sz="2000" i="1" dirty="0" smtClean="0">
                <a:solidFill>
                  <a:srgbClr val="C00000"/>
                </a:solidFill>
              </a:rPr>
              <a:t>mandatory</a:t>
            </a:r>
            <a:r>
              <a:rPr lang="en-US" sz="2000" dirty="0" smtClean="0"/>
              <a:t>.</a:t>
            </a:r>
            <a:endParaRPr lang="en-US" sz="2000" dirty="0"/>
          </a:p>
        </p:txBody>
      </p:sp>
      <p:pic>
        <p:nvPicPr>
          <p:cNvPr id="4100" name="Picture 4"/>
          <p:cNvPicPr>
            <a:picLocks noChangeAspect="1" noChangeArrowheads="1"/>
          </p:cNvPicPr>
          <p:nvPr/>
        </p:nvPicPr>
        <p:blipFill>
          <a:blip r:embed="rId2" cstate="print"/>
          <a:srcRect/>
          <a:stretch>
            <a:fillRect/>
          </a:stretch>
        </p:blipFill>
        <p:spPr bwMode="auto">
          <a:xfrm>
            <a:off x="1590675" y="3962400"/>
            <a:ext cx="5962650" cy="276225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Create an ERD Diagram? [3]</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54000" y="2112963"/>
            <a:ext cx="8636000" cy="263207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ERD vs. Relational Model</a:t>
            </a:r>
            <a:endParaRPr lang="en-US" dirty="0"/>
          </a:p>
        </p:txBody>
      </p:sp>
      <p:sp>
        <p:nvSpPr>
          <p:cNvPr id="3" name="Content Placeholder 2"/>
          <p:cNvSpPr>
            <a:spLocks noGrp="1"/>
          </p:cNvSpPr>
          <p:nvPr>
            <p:ph idx="1"/>
          </p:nvPr>
        </p:nvSpPr>
        <p:spPr/>
        <p:txBody>
          <a:bodyPr/>
          <a:lstStyle/>
          <a:p>
            <a:pPr lvl="0"/>
            <a:r>
              <a:rPr lang="en-US" sz="2400" dirty="0" smtClean="0"/>
              <a:t>Edgar E </a:t>
            </a:r>
            <a:r>
              <a:rPr lang="en-US" sz="2400" dirty="0" err="1" smtClean="0"/>
              <a:t>Codd</a:t>
            </a:r>
            <a:r>
              <a:rPr lang="en-US" sz="2400" dirty="0" smtClean="0"/>
              <a:t> (1990). The Relational Model for Database Management Version 2.</a:t>
            </a:r>
          </a:p>
          <a:p>
            <a:pPr lvl="1"/>
            <a:r>
              <a:rPr lang="en-US" sz="1600" dirty="0" smtClean="0"/>
              <a:t>An </a:t>
            </a:r>
            <a:r>
              <a:rPr lang="en-US" sz="1600" b="1" dirty="0" smtClean="0"/>
              <a:t>Entity Relationship Diagram</a:t>
            </a:r>
            <a:r>
              <a:rPr lang="en-US" sz="1600" dirty="0" smtClean="0"/>
              <a:t> defines the relationship between entities and their attributes. An ERD contains many-to-many relationships and but </a:t>
            </a:r>
            <a:r>
              <a:rPr lang="en-US" sz="1600" u="sng" dirty="0" smtClean="0"/>
              <a:t>does not</a:t>
            </a:r>
            <a:r>
              <a:rPr lang="en-US" sz="1600" dirty="0" smtClean="0"/>
              <a:t> include </a:t>
            </a:r>
            <a:r>
              <a:rPr lang="en-US" sz="1600" i="1" dirty="0" smtClean="0">
                <a:solidFill>
                  <a:srgbClr val="C00000"/>
                </a:solidFill>
              </a:rPr>
              <a:t>foreign keys</a:t>
            </a:r>
            <a:r>
              <a:rPr lang="en-US" sz="1600" dirty="0" smtClean="0"/>
              <a:t>. The foreign keys are </a:t>
            </a:r>
            <a:r>
              <a:rPr lang="en-US" sz="1600" i="1" dirty="0" smtClean="0">
                <a:solidFill>
                  <a:srgbClr val="C00000"/>
                </a:solidFill>
              </a:rPr>
              <a:t>implied</a:t>
            </a:r>
            <a:r>
              <a:rPr lang="en-US" sz="1600" i="1" dirty="0" smtClean="0"/>
              <a:t>.</a:t>
            </a:r>
            <a:r>
              <a:rPr lang="en-US" sz="1600" dirty="0" smtClean="0"/>
              <a:t> In an ERD, we are simply visualizing the entities, their attributes, and the relation between them. We do not care about where foreign keys go or how to implement that many-to-many relationship. (But we do underline primary keys!). </a:t>
            </a:r>
            <a:r>
              <a:rPr lang="pt-BR" sz="1600" dirty="0" smtClean="0"/>
              <a:t>An ERD describes mapping cardinalities.</a:t>
            </a:r>
            <a:endParaRPr lang="en-US" sz="1600" dirty="0" smtClean="0"/>
          </a:p>
          <a:p>
            <a:pPr lvl="1"/>
            <a:r>
              <a:rPr lang="en-US" sz="1600" dirty="0" smtClean="0"/>
              <a:t>In a </a:t>
            </a:r>
            <a:r>
              <a:rPr lang="en-US" sz="1600" b="1" dirty="0" smtClean="0"/>
              <a:t>Relational Model</a:t>
            </a:r>
            <a:r>
              <a:rPr lang="en-US" sz="1600" dirty="0" smtClean="0"/>
              <a:t> we are referring to </a:t>
            </a:r>
            <a:r>
              <a:rPr lang="en-US" sz="1600" i="1" dirty="0" smtClean="0">
                <a:solidFill>
                  <a:srgbClr val="C00000"/>
                </a:solidFill>
              </a:rPr>
              <a:t>an implementation</a:t>
            </a:r>
            <a:r>
              <a:rPr lang="en-US" sz="1600" dirty="0" smtClean="0"/>
              <a:t> of our model. At this point we should be clear about the </a:t>
            </a:r>
            <a:r>
              <a:rPr lang="en-US" sz="1600" i="1" dirty="0" smtClean="0">
                <a:solidFill>
                  <a:srgbClr val="C00000"/>
                </a:solidFill>
              </a:rPr>
              <a:t>formats of our attribute</a:t>
            </a:r>
            <a:r>
              <a:rPr lang="en-US" sz="1600" dirty="0" smtClean="0"/>
              <a:t>s, </a:t>
            </a:r>
            <a:r>
              <a:rPr lang="en-US" sz="1600" i="1" dirty="0" smtClean="0">
                <a:solidFill>
                  <a:srgbClr val="C00000"/>
                </a:solidFill>
              </a:rPr>
              <a:t>the foreign keys</a:t>
            </a:r>
            <a:r>
              <a:rPr lang="en-US" sz="1600" dirty="0" smtClean="0"/>
              <a:t> we use, and the linking tables we might need to stitch entities together. A relational model does not describe mapping cardinalities. A relational model is basically a model of a possible database implementation.</a:t>
            </a:r>
          </a:p>
          <a:p>
            <a:pPr lvl="1"/>
            <a:r>
              <a:rPr lang="en-US" sz="1600" dirty="0" smtClean="0"/>
              <a:t>In short, an ERD is an abstract concept of our database, it speaks in entities and attributes, an entity model. A relational model defines formats and relations in a way a database could understand, a data model.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Mapping Classes to Tables [4, 5]</a:t>
            </a:r>
            <a:endParaRPr lang="en-US" dirty="0"/>
          </a:p>
        </p:txBody>
      </p:sp>
      <p:sp>
        <p:nvSpPr>
          <p:cNvPr id="3" name="Content Placeholder 2"/>
          <p:cNvSpPr>
            <a:spLocks noGrp="1"/>
          </p:cNvSpPr>
          <p:nvPr>
            <p:ph idx="1"/>
          </p:nvPr>
        </p:nvSpPr>
        <p:spPr>
          <a:xfrm>
            <a:off x="457200" y="1295400"/>
            <a:ext cx="8229600" cy="3352800"/>
          </a:xfrm>
        </p:spPr>
        <p:txBody>
          <a:bodyPr/>
          <a:lstStyle/>
          <a:p>
            <a:r>
              <a:rPr lang="en-US" sz="2400" dirty="0" smtClean="0"/>
              <a:t>Artifacts can have attributes, so a common idiom when modeling physical databases is to </a:t>
            </a:r>
            <a:r>
              <a:rPr lang="en-US" sz="2400" i="1" dirty="0" smtClean="0">
                <a:solidFill>
                  <a:srgbClr val="C00000"/>
                </a:solidFill>
              </a:rPr>
              <a:t>use these attributes to specify the columns</a:t>
            </a:r>
            <a:r>
              <a:rPr lang="en-US" sz="2400" dirty="0" smtClean="0"/>
              <a:t> of each table.</a:t>
            </a:r>
          </a:p>
          <a:p>
            <a:r>
              <a:rPr lang="en-US" sz="2400" dirty="0" smtClean="0"/>
              <a:t>Similarly, artifacts can have </a:t>
            </a:r>
            <a:r>
              <a:rPr lang="en-US" sz="2400" dirty="0" smtClean="0">
                <a:solidFill>
                  <a:srgbClr val="C00000"/>
                </a:solidFill>
              </a:rPr>
              <a:t>operations</a:t>
            </a:r>
            <a:r>
              <a:rPr lang="en-US" sz="2400" dirty="0" smtClean="0"/>
              <a:t>, and these can be used to denote </a:t>
            </a:r>
            <a:r>
              <a:rPr lang="en-US" sz="2400" i="1" dirty="0" smtClean="0">
                <a:solidFill>
                  <a:srgbClr val="C00000"/>
                </a:solidFill>
              </a:rPr>
              <a:t>stored procedures</a:t>
            </a:r>
            <a:r>
              <a:rPr lang="en-US" sz="2400" dirty="0" smtClean="0"/>
              <a:t>.</a:t>
            </a:r>
          </a:p>
          <a:p>
            <a:pPr lvl="1"/>
            <a:r>
              <a:rPr lang="en-US" sz="2000" i="1" dirty="0" smtClean="0">
                <a:solidFill>
                  <a:srgbClr val="C00000"/>
                </a:solidFill>
              </a:rPr>
              <a:t>For simple CRUD</a:t>
            </a:r>
            <a:r>
              <a:rPr lang="en-US" sz="2000" dirty="0" smtClean="0"/>
              <a:t> (create, read, update, delete) operations, implement them with standard SQL or ODBC calls.</a:t>
            </a:r>
          </a:p>
          <a:p>
            <a:pPr lvl="1"/>
            <a:r>
              <a:rPr lang="en-US" sz="2000" i="1" dirty="0" smtClean="0">
                <a:solidFill>
                  <a:srgbClr val="C00000"/>
                </a:solidFill>
              </a:rPr>
              <a:t>For more-complex behavior</a:t>
            </a:r>
            <a:r>
              <a:rPr lang="en-US" sz="2000" dirty="0" smtClean="0"/>
              <a:t> (such as business rules), map them to triggers or stored procedures.</a:t>
            </a:r>
            <a:endParaRPr lang="en-US" sz="2000" dirty="0"/>
          </a:p>
        </p:txBody>
      </p:sp>
      <p:pic>
        <p:nvPicPr>
          <p:cNvPr id="312322" name="Picture 2"/>
          <p:cNvPicPr>
            <a:picLocks noChangeAspect="1" noChangeArrowheads="1"/>
          </p:cNvPicPr>
          <p:nvPr/>
        </p:nvPicPr>
        <p:blipFill>
          <a:blip r:embed="rId2" cstate="print"/>
          <a:srcRect/>
          <a:stretch>
            <a:fillRect/>
          </a:stretch>
        </p:blipFill>
        <p:spPr bwMode="auto">
          <a:xfrm>
            <a:off x="381000" y="4762500"/>
            <a:ext cx="3333750" cy="1790700"/>
          </a:xfrm>
          <a:prstGeom prst="rect">
            <a:avLst/>
          </a:prstGeom>
          <a:noFill/>
          <a:ln w="9525">
            <a:noFill/>
            <a:miter lim="800000"/>
            <a:headEnd/>
            <a:tailEnd/>
          </a:ln>
        </p:spPr>
      </p:pic>
      <p:pic>
        <p:nvPicPr>
          <p:cNvPr id="335875" name="Picture 3"/>
          <p:cNvPicPr>
            <a:picLocks noChangeAspect="1" noChangeArrowheads="1"/>
          </p:cNvPicPr>
          <p:nvPr/>
        </p:nvPicPr>
        <p:blipFill>
          <a:blip r:embed="rId3" cstate="print"/>
          <a:srcRect/>
          <a:stretch>
            <a:fillRect/>
          </a:stretch>
        </p:blipFill>
        <p:spPr bwMode="auto">
          <a:xfrm>
            <a:off x="4648200" y="4267200"/>
            <a:ext cx="1619250" cy="1314450"/>
          </a:xfrm>
          <a:prstGeom prst="rect">
            <a:avLst/>
          </a:prstGeom>
          <a:noFill/>
          <a:ln w="9525">
            <a:noFill/>
            <a:miter lim="800000"/>
            <a:headEnd/>
            <a:tailEnd/>
          </a:ln>
        </p:spPr>
      </p:pic>
      <p:pic>
        <p:nvPicPr>
          <p:cNvPr id="335876" name="Picture 4"/>
          <p:cNvPicPr>
            <a:picLocks noChangeAspect="1" noChangeArrowheads="1"/>
          </p:cNvPicPr>
          <p:nvPr/>
        </p:nvPicPr>
        <p:blipFill>
          <a:blip r:embed="rId4" cstate="print"/>
          <a:srcRect/>
          <a:stretch>
            <a:fillRect/>
          </a:stretch>
        </p:blipFill>
        <p:spPr bwMode="auto">
          <a:xfrm>
            <a:off x="4295775" y="5534025"/>
            <a:ext cx="4772025" cy="124777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 Table Aggregation [6]</a:t>
            </a:r>
            <a:endParaRPr lang="en-US" dirty="0"/>
          </a:p>
        </p:txBody>
      </p:sp>
      <p:pic>
        <p:nvPicPr>
          <p:cNvPr id="339972" name="Picture 4"/>
          <p:cNvPicPr>
            <a:picLocks noChangeAspect="1" noChangeArrowheads="1"/>
          </p:cNvPicPr>
          <p:nvPr/>
        </p:nvPicPr>
        <p:blipFill>
          <a:blip r:embed="rId2" cstate="print"/>
          <a:srcRect/>
          <a:stretch>
            <a:fillRect/>
          </a:stretch>
        </p:blipFill>
        <p:spPr bwMode="auto">
          <a:xfrm>
            <a:off x="1571625" y="4419600"/>
            <a:ext cx="6000750" cy="2143125"/>
          </a:xfrm>
          <a:prstGeom prst="rect">
            <a:avLst/>
          </a:prstGeom>
          <a:noFill/>
          <a:ln w="9525">
            <a:noFill/>
            <a:miter lim="800000"/>
            <a:headEnd/>
            <a:tailEnd/>
          </a:ln>
        </p:spPr>
      </p:pic>
      <p:pic>
        <p:nvPicPr>
          <p:cNvPr id="339973" name="Picture 5"/>
          <p:cNvPicPr>
            <a:picLocks noChangeAspect="1" noChangeArrowheads="1"/>
          </p:cNvPicPr>
          <p:nvPr/>
        </p:nvPicPr>
        <p:blipFill>
          <a:blip r:embed="rId3" cstate="print"/>
          <a:srcRect/>
          <a:stretch>
            <a:fillRect/>
          </a:stretch>
        </p:blipFill>
        <p:spPr bwMode="auto">
          <a:xfrm>
            <a:off x="2652713" y="1447800"/>
            <a:ext cx="3838575" cy="27432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Foreign Key Aggregation</a:t>
            </a:r>
            <a:endParaRPr lang="en-US" dirty="0"/>
          </a:p>
        </p:txBody>
      </p:sp>
      <p:pic>
        <p:nvPicPr>
          <p:cNvPr id="339973" name="Picture 5"/>
          <p:cNvPicPr>
            <a:picLocks noChangeAspect="1" noChangeArrowheads="1"/>
          </p:cNvPicPr>
          <p:nvPr/>
        </p:nvPicPr>
        <p:blipFill>
          <a:blip r:embed="rId2" cstate="print"/>
          <a:srcRect/>
          <a:stretch>
            <a:fillRect/>
          </a:stretch>
        </p:blipFill>
        <p:spPr bwMode="auto">
          <a:xfrm>
            <a:off x="2652713" y="1447800"/>
            <a:ext cx="3838575" cy="2743200"/>
          </a:xfrm>
          <a:prstGeom prst="rect">
            <a:avLst/>
          </a:prstGeom>
          <a:noFill/>
          <a:ln w="9525">
            <a:noFill/>
            <a:miter lim="800000"/>
            <a:headEnd/>
            <a:tailEnd/>
          </a:ln>
        </p:spPr>
      </p:pic>
      <p:pic>
        <p:nvPicPr>
          <p:cNvPr id="340994" name="Picture 2"/>
          <p:cNvPicPr>
            <a:picLocks noChangeAspect="1" noChangeArrowheads="1"/>
          </p:cNvPicPr>
          <p:nvPr/>
        </p:nvPicPr>
        <p:blipFill>
          <a:blip r:embed="rId3" cstate="print"/>
          <a:srcRect/>
          <a:stretch>
            <a:fillRect/>
          </a:stretch>
        </p:blipFill>
        <p:spPr bwMode="auto">
          <a:xfrm>
            <a:off x="1585913" y="4343400"/>
            <a:ext cx="5972175" cy="23050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Foreign Key Association</a:t>
            </a:r>
            <a:endParaRPr lang="en-US" dirty="0"/>
          </a:p>
        </p:txBody>
      </p:sp>
      <p:pic>
        <p:nvPicPr>
          <p:cNvPr id="348162" name="Picture 2"/>
          <p:cNvPicPr>
            <a:picLocks noChangeAspect="1" noChangeArrowheads="1"/>
          </p:cNvPicPr>
          <p:nvPr/>
        </p:nvPicPr>
        <p:blipFill>
          <a:blip r:embed="rId2" cstate="print"/>
          <a:srcRect/>
          <a:stretch>
            <a:fillRect/>
          </a:stretch>
        </p:blipFill>
        <p:spPr bwMode="auto">
          <a:xfrm>
            <a:off x="766763" y="2019300"/>
            <a:ext cx="7610475" cy="39243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Association Table</a:t>
            </a:r>
            <a:endParaRPr lang="en-US" dirty="0"/>
          </a:p>
        </p:txBody>
      </p:sp>
      <p:pic>
        <p:nvPicPr>
          <p:cNvPr id="349186" name="Picture 2"/>
          <p:cNvPicPr>
            <a:picLocks noChangeAspect="1" noChangeArrowheads="1"/>
          </p:cNvPicPr>
          <p:nvPr/>
        </p:nvPicPr>
        <p:blipFill>
          <a:blip r:embed="rId2" cstate="print"/>
          <a:srcRect/>
          <a:stretch>
            <a:fillRect/>
          </a:stretch>
        </p:blipFill>
        <p:spPr bwMode="auto">
          <a:xfrm>
            <a:off x="757238" y="1695450"/>
            <a:ext cx="7629525" cy="447675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Mapping Inheritance</a:t>
            </a:r>
            <a:endParaRPr lang="en-US" dirty="0"/>
          </a:p>
        </p:txBody>
      </p:sp>
      <p:pic>
        <p:nvPicPr>
          <p:cNvPr id="342018" name="Picture 2"/>
          <p:cNvPicPr>
            <a:picLocks noChangeAspect="1" noChangeArrowheads="1"/>
          </p:cNvPicPr>
          <p:nvPr/>
        </p:nvPicPr>
        <p:blipFill>
          <a:blip r:embed="rId2" cstate="print"/>
          <a:srcRect/>
          <a:stretch>
            <a:fillRect/>
          </a:stretch>
        </p:blipFill>
        <p:spPr bwMode="auto">
          <a:xfrm>
            <a:off x="333375" y="1571625"/>
            <a:ext cx="8477250" cy="460057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Inheritance Tree One Table</a:t>
            </a:r>
            <a:endParaRPr lang="en-US" dirty="0"/>
          </a:p>
        </p:txBody>
      </p:sp>
      <p:pic>
        <p:nvPicPr>
          <p:cNvPr id="343043" name="Picture 3"/>
          <p:cNvPicPr>
            <a:picLocks noChangeAspect="1" noChangeArrowheads="1"/>
          </p:cNvPicPr>
          <p:nvPr/>
        </p:nvPicPr>
        <p:blipFill>
          <a:blip r:embed="rId2" cstate="print"/>
          <a:srcRect/>
          <a:stretch>
            <a:fillRect/>
          </a:stretch>
        </p:blipFill>
        <p:spPr bwMode="auto">
          <a:xfrm>
            <a:off x="400050" y="1676400"/>
            <a:ext cx="8343900" cy="447675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Class One Table</a:t>
            </a:r>
            <a:endParaRPr lang="en-US" dirty="0"/>
          </a:p>
        </p:txBody>
      </p:sp>
      <p:pic>
        <p:nvPicPr>
          <p:cNvPr id="344066" name="Picture 2"/>
          <p:cNvPicPr>
            <a:picLocks noChangeAspect="1" noChangeArrowheads="1"/>
          </p:cNvPicPr>
          <p:nvPr/>
        </p:nvPicPr>
        <p:blipFill>
          <a:blip r:embed="rId2" cstate="print"/>
          <a:srcRect/>
          <a:stretch>
            <a:fillRect/>
          </a:stretch>
        </p:blipFill>
        <p:spPr bwMode="auto">
          <a:xfrm>
            <a:off x="585788" y="1524000"/>
            <a:ext cx="7972425" cy="48768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Class One Table Example</a:t>
            </a:r>
            <a:endParaRPr lang="en-US" dirty="0"/>
          </a:p>
        </p:txBody>
      </p:sp>
      <p:pic>
        <p:nvPicPr>
          <p:cNvPr id="345092" name="Picture 4"/>
          <p:cNvPicPr>
            <a:picLocks noChangeAspect="1" noChangeArrowheads="1"/>
          </p:cNvPicPr>
          <p:nvPr/>
        </p:nvPicPr>
        <p:blipFill>
          <a:blip r:embed="rId2" cstate="print"/>
          <a:srcRect/>
          <a:stretch>
            <a:fillRect/>
          </a:stretch>
        </p:blipFill>
        <p:spPr bwMode="auto">
          <a:xfrm>
            <a:off x="657225" y="2124075"/>
            <a:ext cx="7829550" cy="3362325"/>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Inheritance Path One Table</a:t>
            </a:r>
            <a:endParaRPr lang="en-US" dirty="0"/>
          </a:p>
        </p:txBody>
      </p:sp>
      <p:pic>
        <p:nvPicPr>
          <p:cNvPr id="346114" name="Picture 2"/>
          <p:cNvPicPr>
            <a:picLocks noChangeAspect="1" noChangeArrowheads="1"/>
          </p:cNvPicPr>
          <p:nvPr/>
        </p:nvPicPr>
        <p:blipFill>
          <a:blip r:embed="rId2" cstate="print"/>
          <a:srcRect/>
          <a:stretch>
            <a:fillRect/>
          </a:stretch>
        </p:blipFill>
        <p:spPr bwMode="auto">
          <a:xfrm>
            <a:off x="995363" y="1714500"/>
            <a:ext cx="7153275" cy="44577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Objects in BLOBs</a:t>
            </a:r>
            <a:endParaRPr lang="en-US" dirty="0"/>
          </a:p>
        </p:txBody>
      </p:sp>
      <p:pic>
        <p:nvPicPr>
          <p:cNvPr id="347138" name="Picture 2"/>
          <p:cNvPicPr>
            <a:picLocks noChangeAspect="1" noChangeArrowheads="1"/>
          </p:cNvPicPr>
          <p:nvPr/>
        </p:nvPicPr>
        <p:blipFill>
          <a:blip r:embed="rId2" cstate="print"/>
          <a:srcRect/>
          <a:stretch>
            <a:fillRect/>
          </a:stretch>
        </p:blipFill>
        <p:spPr bwMode="auto">
          <a:xfrm>
            <a:off x="1866900" y="1781175"/>
            <a:ext cx="5410200" cy="423862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Entity—Attribute—Value (EAV) Tables Motivation [7]</a:t>
            </a:r>
            <a:endParaRPr lang="en-US" dirty="0"/>
          </a:p>
        </p:txBody>
      </p:sp>
      <p:sp>
        <p:nvSpPr>
          <p:cNvPr id="3" name="Content Placeholder 2"/>
          <p:cNvSpPr>
            <a:spLocks noGrp="1"/>
          </p:cNvSpPr>
          <p:nvPr>
            <p:ph idx="1"/>
          </p:nvPr>
        </p:nvSpPr>
        <p:spPr/>
        <p:txBody>
          <a:bodyPr/>
          <a:lstStyle/>
          <a:p>
            <a:r>
              <a:rPr lang="en-US" sz="2000" dirty="0" smtClean="0"/>
              <a:t>A clinical patient record needs to store several thousand possible facts for patients across all specialties.</a:t>
            </a:r>
          </a:p>
          <a:p>
            <a:r>
              <a:rPr lang="en-US" sz="2000" dirty="0" smtClean="0"/>
              <a:t>For any given patient, however, the number of actual findings may not exceed a few dozen.</a:t>
            </a:r>
          </a:p>
          <a:p>
            <a:r>
              <a:rPr lang="en-US" sz="2000" dirty="0" smtClean="0"/>
              <a:t>A conventional (“orthodox”) database table design (one fact per column) is unsuitable for such data, because of database vendor limitations on the number of columns per table and the need to continually add new tables or columns whenever new facts need incorporation.</a:t>
            </a:r>
          </a:p>
          <a:p>
            <a:r>
              <a:rPr lang="en-US" sz="2000" dirty="0" smtClean="0"/>
              <a:t>Example:</a:t>
            </a:r>
          </a:p>
          <a:p>
            <a:pPr>
              <a:buNone/>
            </a:pPr>
            <a:r>
              <a:rPr lang="en-US" sz="2000" i="1" dirty="0" smtClean="0"/>
              <a:t>	(〈patient XYZ〉, 1/5/98 12:00 AM, 12.5 gm/dl, 4.9 </a:t>
            </a:r>
            <a:r>
              <a:rPr lang="en-US" sz="2000" i="1" dirty="0" err="1" smtClean="0"/>
              <a:t>Meq</a:t>
            </a:r>
            <a:r>
              <a:rPr lang="en-US" sz="2000" i="1" dirty="0" smtClean="0"/>
              <a:t>/L, 80 IU …)</a:t>
            </a:r>
          </a:p>
          <a:p>
            <a:pPr>
              <a:buNone/>
            </a:pPr>
            <a:r>
              <a:rPr lang="en-US" sz="2000" i="1" dirty="0" smtClean="0"/>
              <a:t>	(〈patient XYZ〉, 1/5/98 12:00 AM, “Hemoglobin,” 12.5 gm/dl)</a:t>
            </a:r>
          </a:p>
          <a:p>
            <a:pPr>
              <a:buNone/>
            </a:pPr>
            <a:r>
              <a:rPr lang="en-US" sz="2000" i="1" dirty="0" smtClean="0"/>
              <a:t>	(〈patient XYZ〉, 1/5/98 12:00 AM, “Potassium,” 4.9 </a:t>
            </a:r>
            <a:r>
              <a:rPr lang="en-US" sz="2000" i="1" dirty="0" err="1" smtClean="0"/>
              <a:t>Meq</a:t>
            </a:r>
            <a:r>
              <a:rPr lang="en-US" sz="2000" i="1" dirty="0" smtClean="0"/>
              <a:t>/L)</a:t>
            </a:r>
          </a:p>
          <a:p>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Attribute Value Model</a:t>
            </a:r>
            <a:endParaRPr lang="en-US" dirty="0"/>
          </a:p>
        </p:txBody>
      </p:sp>
      <p:sp>
        <p:nvSpPr>
          <p:cNvPr id="3" name="Content Placeholder 2"/>
          <p:cNvSpPr>
            <a:spLocks noGrp="1"/>
          </p:cNvSpPr>
          <p:nvPr>
            <p:ph idx="1"/>
          </p:nvPr>
        </p:nvSpPr>
        <p:spPr/>
        <p:txBody>
          <a:bodyPr/>
          <a:lstStyle/>
          <a:p>
            <a:r>
              <a:rPr lang="en-US" sz="2000" dirty="0" smtClean="0">
                <a:hlinkClick r:id="rId2"/>
              </a:rPr>
              <a:t>https://blog.magestore.com/entity-attribute-value-in-magento/</a:t>
            </a:r>
            <a:endParaRPr lang="en-US" sz="2000" dirty="0" smtClean="0"/>
          </a:p>
          <a:p>
            <a:r>
              <a:rPr lang="en-US" sz="2000" dirty="0" smtClean="0"/>
              <a:t>Developers can add attributes to any entity (product, category, customer, order etc) without modifying the core database structure.</a:t>
            </a:r>
            <a:endParaRPr lang="en-US" sz="2000" dirty="0"/>
          </a:p>
        </p:txBody>
      </p:sp>
      <p:pic>
        <p:nvPicPr>
          <p:cNvPr id="1028" name="Picture 4" descr="entity table structure"/>
          <p:cNvPicPr>
            <a:picLocks noChangeAspect="1" noChangeArrowheads="1"/>
          </p:cNvPicPr>
          <p:nvPr/>
        </p:nvPicPr>
        <p:blipFill>
          <a:blip r:embed="rId3" cstate="print"/>
          <a:srcRect/>
          <a:stretch>
            <a:fillRect/>
          </a:stretch>
        </p:blipFill>
        <p:spPr bwMode="auto">
          <a:xfrm>
            <a:off x="2133600" y="3048000"/>
            <a:ext cx="4848225" cy="2905125"/>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 Hoc Query</a:t>
            </a:r>
            <a:endParaRPr lang="en-US" dirty="0"/>
          </a:p>
        </p:txBody>
      </p:sp>
      <p:sp>
        <p:nvSpPr>
          <p:cNvPr id="3" name="Content Placeholder 2"/>
          <p:cNvSpPr>
            <a:spLocks noGrp="1"/>
          </p:cNvSpPr>
          <p:nvPr>
            <p:ph idx="1"/>
          </p:nvPr>
        </p:nvSpPr>
        <p:spPr/>
        <p:txBody>
          <a:bodyPr/>
          <a:lstStyle/>
          <a:p>
            <a:pPr>
              <a:buNone/>
            </a:pPr>
            <a:r>
              <a:rPr lang="en-US" sz="2200" dirty="0" smtClean="0"/>
              <a:t>SELECT </a:t>
            </a:r>
            <a:r>
              <a:rPr lang="en-US" sz="2200" dirty="0" err="1" smtClean="0"/>
              <a:t>Patient_ID</a:t>
            </a:r>
            <a:r>
              <a:rPr lang="en-US" sz="2200" dirty="0" smtClean="0"/>
              <a:t>, 〈attributes to be displayed〉</a:t>
            </a:r>
          </a:p>
          <a:p>
            <a:pPr>
              <a:buNone/>
            </a:pPr>
            <a:r>
              <a:rPr lang="en-US" sz="2200" dirty="0" smtClean="0"/>
              <a:t>        FROM </a:t>
            </a:r>
            <a:r>
              <a:rPr lang="en-US" sz="2200" dirty="0" err="1" smtClean="0"/>
              <a:t>Data_table</a:t>
            </a:r>
            <a:endParaRPr lang="en-US" sz="2200" dirty="0" smtClean="0"/>
          </a:p>
          <a:p>
            <a:pPr>
              <a:buNone/>
            </a:pPr>
            <a:r>
              <a:rPr lang="en-US" sz="2200" dirty="0" smtClean="0"/>
              <a:t>        WHERE 〈patient selection criteria based on attributes〉</a:t>
            </a:r>
          </a:p>
          <a:p>
            <a:pPr>
              <a:buNone/>
            </a:pPr>
            <a:endParaRPr lang="en-US" sz="2200" dirty="0" smtClean="0"/>
          </a:p>
          <a:p>
            <a:pPr>
              <a:buNone/>
            </a:pPr>
            <a:r>
              <a:rPr lang="en-US" sz="2200" dirty="0" smtClean="0"/>
              <a:t>SELECT </a:t>
            </a:r>
            <a:r>
              <a:rPr lang="en-US" sz="2200" dirty="0" err="1" smtClean="0"/>
              <a:t>user_id</a:t>
            </a:r>
            <a:r>
              <a:rPr lang="en-US" sz="2200" dirty="0" smtClean="0"/>
              <a:t>, </a:t>
            </a:r>
            <a:r>
              <a:rPr lang="en-US" sz="2200" dirty="0" err="1" smtClean="0"/>
              <a:t>attribute_id</a:t>
            </a:r>
            <a:r>
              <a:rPr lang="en-US" sz="2200" dirty="0" smtClean="0"/>
              <a:t>, display, value</a:t>
            </a:r>
          </a:p>
          <a:p>
            <a:pPr>
              <a:buNone/>
            </a:pPr>
            <a:r>
              <a:rPr lang="en-US" sz="2200" dirty="0" smtClean="0"/>
              <a:t>        FROM </a:t>
            </a:r>
            <a:r>
              <a:rPr lang="en-US" sz="2200" dirty="0" err="1" smtClean="0"/>
              <a:t>user_varchar</a:t>
            </a:r>
            <a:endParaRPr lang="en-US" sz="2200" dirty="0" smtClean="0"/>
          </a:p>
          <a:p>
            <a:pPr>
              <a:buNone/>
            </a:pPr>
            <a:r>
              <a:rPr lang="en-US" sz="2200" dirty="0" smtClean="0"/>
              <a:t>	   INNER JOIN </a:t>
            </a:r>
            <a:r>
              <a:rPr lang="en-US" sz="2200" dirty="0" err="1" smtClean="0"/>
              <a:t>user_entity</a:t>
            </a:r>
            <a:r>
              <a:rPr lang="en-US" sz="2200" dirty="0" smtClean="0"/>
              <a:t> </a:t>
            </a:r>
          </a:p>
          <a:p>
            <a:pPr>
              <a:buNone/>
            </a:pPr>
            <a:r>
              <a:rPr lang="en-US" sz="2200" dirty="0" smtClean="0"/>
              <a:t>		       ON </a:t>
            </a:r>
            <a:r>
              <a:rPr lang="en-US" sz="2200" dirty="0" err="1" smtClean="0"/>
              <a:t>user_entity</a:t>
            </a:r>
            <a:r>
              <a:rPr lang="en-US" sz="2200" dirty="0" smtClean="0"/>
              <a:t>. </a:t>
            </a:r>
            <a:r>
              <a:rPr lang="en-US" sz="2200" dirty="0" err="1" smtClean="0"/>
              <a:t>user_id</a:t>
            </a:r>
            <a:r>
              <a:rPr lang="en-US" sz="2200" dirty="0" smtClean="0"/>
              <a:t> = </a:t>
            </a:r>
            <a:r>
              <a:rPr lang="en-US" sz="2200" dirty="0" err="1" smtClean="0"/>
              <a:t>user_varchar.entity_id</a:t>
            </a:r>
            <a:endParaRPr lang="en-US" sz="2200" dirty="0" smtClean="0"/>
          </a:p>
          <a:p>
            <a:pPr>
              <a:buNone/>
            </a:pPr>
            <a:r>
              <a:rPr lang="en-US" sz="2200" dirty="0" smtClean="0"/>
              <a:t>	   INNER JOIN </a:t>
            </a:r>
            <a:r>
              <a:rPr lang="en-US" sz="2200" dirty="0" err="1" smtClean="0"/>
              <a:t>eav_attribute</a:t>
            </a:r>
            <a:r>
              <a:rPr lang="en-US" sz="2200" dirty="0" smtClean="0"/>
              <a:t> </a:t>
            </a:r>
          </a:p>
          <a:p>
            <a:pPr>
              <a:buNone/>
            </a:pPr>
            <a:r>
              <a:rPr lang="en-US" sz="2200" dirty="0" smtClean="0"/>
              <a:t>		</a:t>
            </a:r>
            <a:r>
              <a:rPr lang="en-US" sz="2200" smtClean="0"/>
              <a:t>       ON </a:t>
            </a:r>
            <a:r>
              <a:rPr lang="en-US" sz="2200" dirty="0" err="1" smtClean="0"/>
              <a:t>eav_attribute.attribute_id</a:t>
            </a:r>
            <a:r>
              <a:rPr lang="en-US" sz="2200" dirty="0" smtClean="0"/>
              <a:t> = </a:t>
            </a:r>
            <a:r>
              <a:rPr lang="en-US" sz="2200" dirty="0" err="1" smtClean="0"/>
              <a:t>user_varchar.attribute_id</a:t>
            </a:r>
            <a:endParaRPr lang="en-US" sz="2200" dirty="0" smtClean="0"/>
          </a:p>
          <a:p>
            <a:pPr>
              <a:buNone/>
            </a:pPr>
            <a:r>
              <a:rPr lang="en-US" sz="2200" dirty="0" smtClean="0"/>
              <a:t>        WHERE </a:t>
            </a:r>
            <a:r>
              <a:rPr lang="en-US" sz="2200" dirty="0" err="1" smtClean="0"/>
              <a:t>entity_id</a:t>
            </a:r>
            <a:r>
              <a:rPr lang="en-US" sz="2200" dirty="0" smtClean="0"/>
              <a:t> = 100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EAV Model Drawbacks </a:t>
            </a:r>
            <a:endParaRPr lang="en-US" dirty="0"/>
          </a:p>
        </p:txBody>
      </p:sp>
      <p:sp>
        <p:nvSpPr>
          <p:cNvPr id="3" name="Content Placeholder 2"/>
          <p:cNvSpPr>
            <a:spLocks noGrp="1"/>
          </p:cNvSpPr>
          <p:nvPr>
            <p:ph idx="1"/>
          </p:nvPr>
        </p:nvSpPr>
        <p:spPr/>
        <p:txBody>
          <a:bodyPr/>
          <a:lstStyle/>
          <a:p>
            <a:r>
              <a:rPr lang="en-US" sz="2400" dirty="0" smtClean="0"/>
              <a:t>A major downside of EAV is its speed.</a:t>
            </a:r>
          </a:p>
          <a:p>
            <a:r>
              <a:rPr lang="en-US" sz="2400" dirty="0" smtClean="0"/>
              <a:t>With entity data being so fragmented, creating a whole entity record requires a lot of expensive table joins.</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4673</TotalTime>
  <Words>1333</Words>
  <Application>Microsoft Office PowerPoint</Application>
  <PresentationFormat>On-screen Show (4:3)</PresentationFormat>
  <Paragraphs>117</Paragraphs>
  <Slides>38</Slides>
  <Notes>3</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The Entity-Relationship Model</vt:lpstr>
      <vt:lpstr>Objectives</vt:lpstr>
      <vt:lpstr>Contents</vt:lpstr>
      <vt:lpstr>References</vt:lpstr>
      <vt:lpstr>What is Entity-Relationship Model? [1]</vt:lpstr>
      <vt:lpstr>Entity</vt:lpstr>
      <vt:lpstr>Relationship</vt:lpstr>
      <vt:lpstr>Entity Set</vt:lpstr>
      <vt:lpstr>Relationship Set &amp; Role</vt:lpstr>
      <vt:lpstr>Mathematical Relation</vt:lpstr>
      <vt:lpstr>Values and Values Set</vt:lpstr>
      <vt:lpstr>Attribute</vt:lpstr>
      <vt:lpstr>Relationship Attributes</vt:lpstr>
      <vt:lpstr>Conceptual Information Structure</vt:lpstr>
      <vt:lpstr>Example</vt:lpstr>
      <vt:lpstr>Relationship Set</vt:lpstr>
      <vt:lpstr>Entity Relationship Diagram</vt:lpstr>
      <vt:lpstr>Cardinality and Modality [2]</vt:lpstr>
      <vt:lpstr>How to Create an ERD Diagram? [3]</vt:lpstr>
      <vt:lpstr>ERD vs. Relational Model</vt:lpstr>
      <vt:lpstr>Slide 21</vt:lpstr>
      <vt:lpstr>Mapping Classes to Tables [4, 5]</vt:lpstr>
      <vt:lpstr>Single Table Aggregation [6]</vt:lpstr>
      <vt:lpstr>Foreign Key Aggregation</vt:lpstr>
      <vt:lpstr>Foreign Key Association</vt:lpstr>
      <vt:lpstr>Association Table</vt:lpstr>
      <vt:lpstr>Mapping Inheritance</vt:lpstr>
      <vt:lpstr>One Inheritance Tree One Table</vt:lpstr>
      <vt:lpstr>One Class One Table</vt:lpstr>
      <vt:lpstr>One Class One Table Example</vt:lpstr>
      <vt:lpstr>One Inheritance Path One Table</vt:lpstr>
      <vt:lpstr>Objects in BLOBs</vt:lpstr>
      <vt:lpstr>Slide 33</vt:lpstr>
      <vt:lpstr>Entity—Attribute—Value (EAV) Tables Motivation [7]</vt:lpstr>
      <vt:lpstr>Entity Attribute Value Model</vt:lpstr>
      <vt:lpstr>Ad Hoc Query</vt:lpstr>
      <vt:lpstr>EAV Model Drawbacks </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2421</cp:revision>
  <dcterms:created xsi:type="dcterms:W3CDTF">2007-10-06T08:25:13Z</dcterms:created>
  <dcterms:modified xsi:type="dcterms:W3CDTF">2022-02-20T18:43:32Z</dcterms:modified>
</cp:coreProperties>
</file>