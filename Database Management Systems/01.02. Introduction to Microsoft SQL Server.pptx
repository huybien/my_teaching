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5"/>
  </p:notesMasterIdLst>
  <p:handoutMasterIdLst>
    <p:handoutMasterId r:id="rId26"/>
  </p:handoutMasterIdLst>
  <p:sldIdLst>
    <p:sldId id="256" r:id="rId2"/>
    <p:sldId id="580" r:id="rId3"/>
    <p:sldId id="581" r:id="rId4"/>
    <p:sldId id="582" r:id="rId5"/>
    <p:sldId id="464" r:id="rId6"/>
    <p:sldId id="465" r:id="rId7"/>
    <p:sldId id="466" r:id="rId8"/>
    <p:sldId id="623" r:id="rId9"/>
    <p:sldId id="578" r:id="rId10"/>
    <p:sldId id="624" r:id="rId11"/>
    <p:sldId id="628" r:id="rId12"/>
    <p:sldId id="627" r:id="rId13"/>
    <p:sldId id="629" r:id="rId14"/>
    <p:sldId id="630" r:id="rId15"/>
    <p:sldId id="632" r:id="rId16"/>
    <p:sldId id="633" r:id="rId17"/>
    <p:sldId id="631" r:id="rId18"/>
    <p:sldId id="601" r:id="rId19"/>
    <p:sldId id="475" r:id="rId20"/>
    <p:sldId id="501" r:id="rId21"/>
    <p:sldId id="502" r:id="rId22"/>
    <p:sldId id="503" r:id="rId23"/>
    <p:sldId id="360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24" autoAdjust="0"/>
    <p:restoredTop sz="94667" autoAdjust="0"/>
  </p:normalViewPr>
  <p:slideViewPr>
    <p:cSldViewPr>
      <p:cViewPr>
        <p:scale>
          <a:sx n="50" d="100"/>
          <a:sy n="50" d="100"/>
        </p:scale>
        <p:origin x="-150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727DC-2E8F-43B3-8355-CCE0B6704CEB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B4380-3815-4B2E-92FA-ED1993E061B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A67CB-EC97-4A9C-AC01-CDE0E962872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D21D0-87B8-43A2-A59B-A5690BBF949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6A842-585B-4FB8-B0AD-5A22636E93BF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57F44-DAAA-4BFA-A1D9-B690FD69F1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CC13E-AA34-4DB7-B0EC-5E3AAA7D3BAC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F6660F-9FDB-4AFB-BE29-11A381729C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83334-71C9-49E2-A0BB-A043C182B878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881E5-BD58-41FC-93AD-0A90910877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3020B-3D2A-4D8C-B5FF-4D6A024CBDE8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8E1C0-584A-404B-B99A-E5AD89ACF0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17DBA-E622-4CD1-BCA3-A03CD04FDCC6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F4D90-9228-45C4-A427-06E557DE9C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1D3DF-EF49-4212-81A5-83E2D6EC0182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97F0E-0BE9-471F-A7B8-4D2E909F9B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86690-AF43-474E-AAC4-06B4786F7A5B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46AD9-6F95-4021-BF75-BF9B58A70F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F0E39-78E2-4DE3-8C65-7CAB11F37A23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F80FB-C1F7-4ADD-9C33-A8D7E6B49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12A139-0756-4DC4-8001-1DFC6C3458CC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95BAB-E1F5-4BBA-9D33-03EFE2F8DD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FC515-BCDF-4B2C-80BB-863C58D176FB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C6CC5B-ED2C-42FF-AE49-898FC683E2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C8C39-B056-4409-B30D-266D32EB71C5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D453D-B7C3-4D56-B8B4-B49BCBFB8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B325272-1ED5-4E24-A128-8E8DEE352665}" type="datetimeFigureOut">
              <a:rPr lang="en-US"/>
              <a:pPr>
                <a:defRPr/>
              </a:pPr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7590F4-D8FE-45EA-A958-7E45569A00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quest.com/using-database-schemas-in-sql-server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ssqltips.com/sqlservertip/1900/understanding-sql-server-fixed-database-roles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Introduction to Microsoft SQL Server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Adam Jorgensen et al. (2012). Microsoft SQL Server 2012 Bible. Wiley.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Architecture Principle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Information is an </a:t>
            </a:r>
            <a:r>
              <a:rPr lang="en-US" sz="2400" i="1" dirty="0" smtClean="0">
                <a:solidFill>
                  <a:srgbClr val="C00000"/>
                </a:solidFill>
              </a:rPr>
              <a:t>organizational asset</a:t>
            </a:r>
            <a:r>
              <a:rPr lang="en-US" sz="2400" dirty="0" smtClean="0"/>
              <a:t>, and, according to its value and scope, must be organized, inventoried, secured, and made readily available in a usable format for daily operations and analysis by individuals, groups, and processes, both today and in the future.</a:t>
            </a:r>
          </a:p>
          <a:p>
            <a:r>
              <a:rPr lang="en-US" sz="2400" dirty="0" smtClean="0"/>
              <a:t>There should be a </a:t>
            </a:r>
            <a:r>
              <a:rPr lang="en-US" sz="2400" i="1" dirty="0" smtClean="0">
                <a:solidFill>
                  <a:srgbClr val="C00000"/>
                </a:solidFill>
              </a:rPr>
              <a:t>known inventory of information</a:t>
            </a:r>
            <a:r>
              <a:rPr lang="en-US" sz="2400" dirty="0" smtClean="0"/>
              <a:t>, including its location, source, sensitivity, present and future value, and current owner.</a:t>
            </a:r>
          </a:p>
          <a:p>
            <a:r>
              <a:rPr lang="en-US" sz="2400" dirty="0" smtClean="0"/>
              <a:t>Most </a:t>
            </a:r>
            <a:r>
              <a:rPr lang="en-US" sz="2400" u="sng" dirty="0" smtClean="0"/>
              <a:t>organizational information</a:t>
            </a:r>
            <a:r>
              <a:rPr lang="en-US" sz="2400" dirty="0" smtClean="0"/>
              <a:t> is </a:t>
            </a:r>
            <a:r>
              <a:rPr lang="en-US" sz="2400" u="sng" dirty="0" smtClean="0"/>
              <a:t>stored</a:t>
            </a:r>
            <a:r>
              <a:rPr lang="en-US" sz="2400" dirty="0" smtClean="0"/>
              <a:t> in </a:t>
            </a:r>
            <a:r>
              <a:rPr lang="en-US" sz="2400" i="1" dirty="0" smtClean="0">
                <a:solidFill>
                  <a:srgbClr val="C00000"/>
                </a:solidFill>
              </a:rPr>
              <a:t>IT databases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Four of these objectives are primarily a function of design, development, and implementation: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usability, 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extensibility, 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data integrity, and 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performance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Availability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security</a:t>
            </a:r>
            <a:r>
              <a:rPr lang="en-US" sz="2400" dirty="0" smtClean="0"/>
              <a:t> are more a function of implementation than design.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Database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590800" cy="4525963"/>
          </a:xfrm>
        </p:spPr>
        <p:txBody>
          <a:bodyPr/>
          <a:lstStyle/>
          <a:p>
            <a:r>
              <a:rPr lang="en-US" sz="2400" dirty="0" smtClean="0"/>
              <a:t>Server environment</a:t>
            </a:r>
          </a:p>
          <a:p>
            <a:r>
              <a:rPr lang="en-US" sz="2400" dirty="0" smtClean="0"/>
              <a:t>Maintenance jobs</a:t>
            </a:r>
          </a:p>
          <a:p>
            <a:r>
              <a:rPr lang="en-US" sz="2400" dirty="0" smtClean="0"/>
              <a:t>The client application</a:t>
            </a:r>
          </a:p>
          <a:p>
            <a:r>
              <a:rPr lang="en-US" sz="2400" dirty="0" smtClean="0"/>
              <a:t>The database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1981200"/>
            <a:ext cx="4648200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Server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676400"/>
            <a:ext cx="6409944" cy="4503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</a:t>
            </a:r>
            <a:r>
              <a:rPr lang="nn-NO" dirty="0" smtClean="0"/>
              <a:t>SQL </a:t>
            </a:r>
            <a:r>
              <a:rPr lang="en-US" dirty="0" smtClean="0"/>
              <a:t>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SQL database contains multiple objects such as tables, views, stored procedures, functions, indexes, triggers.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Schemas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https://blog.quest.com/using-database-schemas-in-sql-server/</a:t>
            </a:r>
            <a:endParaRPr lang="en-US" sz="2200" dirty="0" smtClean="0"/>
          </a:p>
          <a:p>
            <a:r>
              <a:rPr lang="en-US" sz="2400" dirty="0" smtClean="0"/>
              <a:t>In a relational database management system such as SQL Server, the database contains various objects. These can be tables, stored procedures, views and functions. </a:t>
            </a:r>
          </a:p>
          <a:p>
            <a:r>
              <a:rPr lang="en-US" sz="2400" dirty="0" smtClean="0"/>
              <a:t>In a database, the schema refers to the logical collection of database objects.</a:t>
            </a:r>
          </a:p>
          <a:p>
            <a:r>
              <a:rPr lang="en-US" sz="2400" dirty="0" smtClean="0"/>
              <a:t>You can use schemas to segregate objects depending on the application, access rights and security.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Built-in Logical Schemas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SQL Server provides the following built-in logical schemas:</a:t>
            </a:r>
          </a:p>
          <a:p>
            <a:pPr lvl="1"/>
            <a:r>
              <a:rPr lang="en-US" sz="2200" b="1" dirty="0" err="1" smtClean="0">
                <a:latin typeface="Consolas" pitchFamily="49" charset="0"/>
              </a:rPr>
              <a:t>dbo</a:t>
            </a:r>
            <a:endParaRPr lang="en-US" sz="2200" b="1" dirty="0" smtClean="0">
              <a:latin typeface="Consolas" pitchFamily="49" charset="0"/>
            </a:endParaRPr>
          </a:p>
          <a:p>
            <a:pPr lvl="1"/>
            <a:r>
              <a:rPr lang="en-US" sz="2200" b="1" dirty="0" smtClean="0">
                <a:latin typeface="Consolas" pitchFamily="49" charset="0"/>
              </a:rPr>
              <a:t>sys</a:t>
            </a:r>
          </a:p>
          <a:p>
            <a:pPr lvl="1"/>
            <a:r>
              <a:rPr lang="en-US" sz="2200" b="1" dirty="0" smtClean="0">
                <a:latin typeface="Consolas" pitchFamily="49" charset="0"/>
              </a:rPr>
              <a:t>guest</a:t>
            </a:r>
          </a:p>
          <a:p>
            <a:pPr lvl="1"/>
            <a:r>
              <a:rPr lang="en-US" sz="2200" b="1" dirty="0" smtClean="0">
                <a:latin typeface="Consolas" pitchFamily="49" charset="0"/>
              </a:rPr>
              <a:t>INFORMATION_SCHEMA</a:t>
            </a:r>
          </a:p>
          <a:p>
            <a:r>
              <a:rPr lang="en-US" sz="2600" dirty="0" smtClean="0"/>
              <a:t>Every SQL Server schema must have a database user as a schema owner. The schema owner has full control over the schema. You can also change the schema owner or move objects from one schema to another.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Show all Schemas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SELECT s.name AS </a:t>
            </a:r>
            <a:r>
              <a:rPr lang="en-US" sz="2200" dirty="0" err="1" smtClean="0">
                <a:latin typeface="Consolas" pitchFamily="49" charset="0"/>
              </a:rPr>
              <a:t>schema_name</a:t>
            </a:r>
            <a:r>
              <a:rPr lang="en-US" sz="2200" dirty="0" smtClean="0">
                <a:latin typeface="Consolas" pitchFamily="49" charset="0"/>
              </a:rPr>
              <a:t>,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u.name AS </a:t>
            </a:r>
            <a:r>
              <a:rPr lang="en-US" sz="2200" dirty="0" err="1" smtClean="0">
                <a:latin typeface="Consolas" pitchFamily="49" charset="0"/>
              </a:rPr>
              <a:t>schema_owner</a:t>
            </a:r>
            <a:endParaRPr lang="en-US" sz="2200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FROM </a:t>
            </a:r>
            <a:r>
              <a:rPr lang="en-US" sz="2200" dirty="0" err="1" smtClean="0">
                <a:latin typeface="Consolas" pitchFamily="49" charset="0"/>
              </a:rPr>
              <a:t>sys.schemas</a:t>
            </a:r>
            <a:r>
              <a:rPr lang="en-US" sz="2200" dirty="0" smtClean="0">
                <a:latin typeface="Consolas" pitchFamily="49" charset="0"/>
              </a:rPr>
              <a:t> s</a:t>
            </a:r>
          </a:p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INNER JOIN </a:t>
            </a:r>
            <a:r>
              <a:rPr lang="en-US" sz="2200" dirty="0" err="1" smtClean="0">
                <a:latin typeface="Consolas" pitchFamily="49" charset="0"/>
              </a:rPr>
              <a:t>sys.sysusers</a:t>
            </a:r>
            <a:r>
              <a:rPr lang="en-US" sz="2200" dirty="0" smtClean="0">
                <a:latin typeface="Consolas" pitchFamily="49" charset="0"/>
              </a:rPr>
              <a:t> u ON u.uid = </a:t>
            </a:r>
            <a:r>
              <a:rPr lang="en-US" sz="2200" dirty="0" err="1" smtClean="0">
                <a:latin typeface="Consolas" pitchFamily="49" charset="0"/>
              </a:rPr>
              <a:t>s.principal_id</a:t>
            </a:r>
            <a:endParaRPr lang="en-US" sz="2200" dirty="0" smtClean="0">
              <a:latin typeface="Consolas" pitchFamily="49" charset="0"/>
            </a:endParaRPr>
          </a:p>
          <a:p>
            <a:pPr>
              <a:buNone/>
            </a:pPr>
            <a:r>
              <a:rPr lang="en-US" sz="2200" dirty="0" smtClean="0">
                <a:latin typeface="Consolas" pitchFamily="49" charset="0"/>
              </a:rPr>
              <a:t>ORDER BY s.name;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a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CREATE SCHEMA hr AUTHORIZATION </a:t>
            </a:r>
            <a:r>
              <a:rPr lang="en-US" sz="1800" dirty="0" err="1" smtClean="0">
                <a:latin typeface="Consolas" pitchFamily="49" charset="0"/>
              </a:rPr>
              <a:t>dbo</a:t>
            </a:r>
            <a:r>
              <a:rPr lang="en-US" sz="1800" dirty="0" smtClean="0">
                <a:latin typeface="Consolas" pitchFamily="49" charset="0"/>
              </a:rPr>
              <a:t>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GO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CREATE SCHEMA admin AUTHORIZATION </a:t>
            </a:r>
            <a:r>
              <a:rPr lang="en-US" sz="1800" dirty="0" err="1" smtClean="0">
                <a:latin typeface="Consolas" pitchFamily="49" charset="0"/>
              </a:rPr>
              <a:t>dbo</a:t>
            </a:r>
            <a:r>
              <a:rPr lang="en-US" sz="1800" dirty="0" smtClean="0">
                <a:latin typeface="Consolas" pitchFamily="49" charset="0"/>
              </a:rPr>
              <a:t>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GO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CREATE TABLE </a:t>
            </a:r>
            <a:r>
              <a:rPr lang="en-US" sz="1800" dirty="0" err="1" smtClean="0">
                <a:latin typeface="Consolas" pitchFamily="49" charset="0"/>
              </a:rPr>
              <a:t>hr.Users</a:t>
            </a:r>
            <a:r>
              <a:rPr lang="en-US" sz="1800" dirty="0" smtClean="0">
                <a:latin typeface="Consolas" pitchFamily="49" charset="0"/>
              </a:rPr>
              <a:t> (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ID </a:t>
            </a:r>
            <a:r>
              <a:rPr lang="en-US" sz="1800" dirty="0" err="1" smtClean="0">
                <a:latin typeface="Consolas" pitchFamily="49" charset="0"/>
              </a:rPr>
              <a:t>int</a:t>
            </a:r>
            <a:r>
              <a:rPr lang="en-US" sz="1800" dirty="0" smtClean="0">
                <a:latin typeface="Consolas" pitchFamily="49" charset="0"/>
              </a:rPr>
              <a:t> identity(1,1) PRIMARY KEY, 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[Name] </a:t>
            </a:r>
            <a:r>
              <a:rPr lang="en-US" sz="1800" dirty="0" err="1" smtClean="0">
                <a:latin typeface="Consolas" pitchFamily="49" charset="0"/>
              </a:rPr>
              <a:t>varchar</a:t>
            </a:r>
            <a:r>
              <a:rPr lang="en-US" sz="1800" dirty="0" smtClean="0">
                <a:latin typeface="Consolas" pitchFamily="49" charset="0"/>
              </a:rPr>
              <a:t>(100) 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)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CREATE TABLE [admin].Users (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ID </a:t>
            </a:r>
            <a:r>
              <a:rPr lang="en-US" sz="1800" dirty="0" err="1" smtClean="0">
                <a:latin typeface="Consolas" pitchFamily="49" charset="0"/>
              </a:rPr>
              <a:t>int</a:t>
            </a:r>
            <a:r>
              <a:rPr lang="en-US" sz="1800" dirty="0" smtClean="0">
                <a:latin typeface="Consolas" pitchFamily="49" charset="0"/>
              </a:rPr>
              <a:t> identity(1,1) PRIMARY KEY, 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[Name] </a:t>
            </a:r>
            <a:r>
              <a:rPr lang="en-US" sz="1800" dirty="0" err="1" smtClean="0">
                <a:latin typeface="Consolas" pitchFamily="49" charset="0"/>
              </a:rPr>
              <a:t>varchar</a:t>
            </a:r>
            <a:r>
              <a:rPr lang="en-US" sz="1800" dirty="0" smtClean="0">
                <a:latin typeface="Consolas" pitchFamily="49" charset="0"/>
              </a:rPr>
              <a:t>(100)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)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Roles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https://www.mssqltips.com/sqlservertip/1900/understanding-sql-server-fixed-database-roles/</a:t>
            </a:r>
            <a:endParaRPr lang="en-US" sz="2000" dirty="0" smtClean="0"/>
          </a:p>
          <a:p>
            <a:r>
              <a:rPr lang="en-US" sz="2000" dirty="0" smtClean="0"/>
              <a:t>Within each database, SQL Server does have fixed database roles, ones which are standard and included in every database.</a:t>
            </a:r>
          </a:p>
          <a:p>
            <a:r>
              <a:rPr lang="en-US" sz="2000" dirty="0" smtClean="0"/>
              <a:t>These differ from the database roles you can create and use yourself in that they have pre-assigned permissions.</a:t>
            </a:r>
          </a:p>
          <a:p>
            <a:r>
              <a:rPr lang="en-US" sz="2000" dirty="0" smtClean="0"/>
              <a:t>The fixed database roles are:</a:t>
            </a:r>
          </a:p>
          <a:p>
            <a:pPr lvl="1"/>
            <a:r>
              <a:rPr lang="en-US" sz="1200" dirty="0" err="1" smtClean="0">
                <a:latin typeface="Consolas" pitchFamily="49" charset="0"/>
              </a:rPr>
              <a:t>db_owner</a:t>
            </a:r>
            <a:endParaRPr lang="en-US" sz="1200" dirty="0" smtClean="0">
              <a:latin typeface="Consolas" pitchFamily="49" charset="0"/>
            </a:endParaRPr>
          </a:p>
          <a:p>
            <a:pPr lvl="1"/>
            <a:r>
              <a:rPr lang="en-US" sz="1200" dirty="0" err="1" smtClean="0">
                <a:latin typeface="Consolas" pitchFamily="49" charset="0"/>
              </a:rPr>
              <a:t>db_securityadmin</a:t>
            </a:r>
            <a:endParaRPr lang="en-US" sz="1200" dirty="0" smtClean="0">
              <a:latin typeface="Consolas" pitchFamily="49" charset="0"/>
            </a:endParaRPr>
          </a:p>
          <a:p>
            <a:pPr lvl="1"/>
            <a:r>
              <a:rPr lang="en-US" sz="1200" dirty="0" err="1" smtClean="0">
                <a:latin typeface="Consolas" pitchFamily="49" charset="0"/>
              </a:rPr>
              <a:t>db_accessadmin</a:t>
            </a:r>
            <a:endParaRPr lang="en-US" sz="1200" dirty="0" smtClean="0">
              <a:latin typeface="Consolas" pitchFamily="49" charset="0"/>
            </a:endParaRPr>
          </a:p>
          <a:p>
            <a:pPr lvl="1"/>
            <a:r>
              <a:rPr lang="en-US" sz="1200" dirty="0" err="1" smtClean="0">
                <a:latin typeface="Consolas" pitchFamily="49" charset="0"/>
              </a:rPr>
              <a:t>db_backupoperator</a:t>
            </a:r>
            <a:endParaRPr lang="en-US" sz="1200" dirty="0" smtClean="0">
              <a:latin typeface="Consolas" pitchFamily="49" charset="0"/>
            </a:endParaRPr>
          </a:p>
          <a:p>
            <a:pPr lvl="1"/>
            <a:r>
              <a:rPr lang="en-US" sz="1200" dirty="0" err="1" smtClean="0">
                <a:latin typeface="Consolas" pitchFamily="49" charset="0"/>
              </a:rPr>
              <a:t>db_ddladmin</a:t>
            </a:r>
            <a:endParaRPr lang="en-US" sz="1200" dirty="0" smtClean="0">
              <a:latin typeface="Consolas" pitchFamily="49" charset="0"/>
            </a:endParaRPr>
          </a:p>
          <a:p>
            <a:pPr lvl="1"/>
            <a:r>
              <a:rPr lang="en-US" sz="1200" dirty="0" err="1" smtClean="0">
                <a:latin typeface="Consolas" pitchFamily="49" charset="0"/>
              </a:rPr>
              <a:t>db_datareader</a:t>
            </a:r>
            <a:endParaRPr lang="en-US" sz="1200" dirty="0" smtClean="0">
              <a:latin typeface="Consolas" pitchFamily="49" charset="0"/>
            </a:endParaRPr>
          </a:p>
          <a:p>
            <a:pPr lvl="1"/>
            <a:r>
              <a:rPr lang="en-US" sz="1200" dirty="0" err="1" smtClean="0">
                <a:latin typeface="Consolas" pitchFamily="49" charset="0"/>
              </a:rPr>
              <a:t>db_datawriter</a:t>
            </a:r>
            <a:endParaRPr lang="en-US" sz="1200" dirty="0" smtClean="0">
              <a:latin typeface="Consolas" pitchFamily="49" charset="0"/>
            </a:endParaRPr>
          </a:p>
          <a:p>
            <a:pPr lvl="1"/>
            <a:r>
              <a:rPr lang="en-US" sz="1200" dirty="0" err="1" smtClean="0">
                <a:latin typeface="Consolas" pitchFamily="49" charset="0"/>
              </a:rPr>
              <a:t>db_denydatareader</a:t>
            </a:r>
            <a:endParaRPr lang="en-US" sz="1200" dirty="0" smtClean="0">
              <a:latin typeface="Consolas" pitchFamily="49" charset="0"/>
            </a:endParaRPr>
          </a:p>
          <a:p>
            <a:pPr lvl="1"/>
            <a:r>
              <a:rPr lang="en-US" sz="1200" dirty="0" err="1" smtClean="0">
                <a:latin typeface="Consolas" pitchFamily="49" charset="0"/>
              </a:rPr>
              <a:t>db_denydatawriter</a:t>
            </a:r>
            <a:endParaRPr lang="en-US" sz="1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db_owner</a:t>
            </a:r>
            <a:r>
              <a:rPr lang="en-US" dirty="0" smtClean="0"/>
              <a:t> role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member of the </a:t>
            </a:r>
            <a:r>
              <a:rPr lang="en-US" sz="2400" dirty="0" err="1" smtClean="0"/>
              <a:t>db_owner</a:t>
            </a:r>
            <a:r>
              <a:rPr lang="en-US" sz="2400" dirty="0" smtClean="0"/>
              <a:t> role can do anything inside the database.</a:t>
            </a:r>
          </a:p>
          <a:p>
            <a:r>
              <a:rPr lang="en-US" sz="2400" dirty="0" smtClean="0"/>
              <a:t>Now there is a difference between a member of the </a:t>
            </a:r>
            <a:r>
              <a:rPr lang="en-US" sz="2400" dirty="0" err="1" smtClean="0"/>
              <a:t>db_owner</a:t>
            </a:r>
            <a:r>
              <a:rPr lang="en-US" sz="2400" dirty="0" smtClean="0"/>
              <a:t> role and the </a:t>
            </a:r>
            <a:r>
              <a:rPr lang="en-US" sz="2400" dirty="0" err="1" smtClean="0"/>
              <a:t>dbo</a:t>
            </a:r>
            <a:r>
              <a:rPr lang="en-US" sz="2400" dirty="0" smtClean="0"/>
              <a:t> user.</a:t>
            </a:r>
          </a:p>
          <a:p>
            <a:r>
              <a:rPr lang="en-US" sz="2400" dirty="0" smtClean="0"/>
              <a:t>That difference is that if someone maps into the database as the </a:t>
            </a:r>
            <a:r>
              <a:rPr lang="en-US" sz="2400" dirty="0" err="1" smtClean="0"/>
              <a:t>dbo</a:t>
            </a:r>
            <a:r>
              <a:rPr lang="en-US" sz="2400" dirty="0" smtClean="0"/>
              <a:t> user, that person bypasses all security checks.</a:t>
            </a:r>
          </a:p>
          <a:p>
            <a:r>
              <a:rPr lang="en-US" sz="2400" dirty="0" smtClean="0"/>
              <a:t>If a user is not </a:t>
            </a:r>
            <a:r>
              <a:rPr lang="en-US" sz="2400" dirty="0" err="1" smtClean="0"/>
              <a:t>dbo</a:t>
            </a:r>
            <a:r>
              <a:rPr lang="en-US" sz="2400" dirty="0" smtClean="0"/>
              <a:t> but is a member of the </a:t>
            </a:r>
            <a:r>
              <a:rPr lang="en-US" sz="2400" dirty="0" err="1" smtClean="0"/>
              <a:t>db_owner</a:t>
            </a:r>
            <a:r>
              <a:rPr lang="en-US" sz="2400" dirty="0" smtClean="0"/>
              <a:t> role, it does receive a security check.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db_executor</a:t>
            </a:r>
            <a:r>
              <a:rPr lang="en-US" dirty="0" smtClean="0"/>
              <a:t> role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sz="1800" dirty="0" smtClean="0"/>
              <a:t>GRANT EXECUTE TO [sfu.smartstatus.com]</a:t>
            </a:r>
            <a:r>
              <a:rPr lang="en-US" sz="1800" dirty="0" smtClean="0">
                <a:latin typeface="Consolas" pitchFamily="49" charset="0"/>
              </a:rPr>
              <a:t>;</a:t>
            </a:r>
          </a:p>
          <a:p>
            <a:pPr>
              <a:buNone/>
            </a:pPr>
            <a:r>
              <a:rPr lang="en-US" sz="1800" dirty="0" smtClean="0">
                <a:latin typeface="Consolas" pitchFamily="49" charset="0"/>
              </a:rPr>
              <a:t>GO</a:t>
            </a:r>
          </a:p>
          <a:p>
            <a:pPr>
              <a:buNone/>
            </a:pPr>
            <a:endParaRPr lang="en-US" sz="1800" dirty="0" smtClean="0">
              <a:latin typeface="Consolas" pitchFamily="49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8163" y="2457450"/>
            <a:ext cx="5527675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Smart Database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1447800"/>
            <a:ext cx="4724400" cy="4678363"/>
          </a:xfrm>
        </p:spPr>
        <p:txBody>
          <a:bodyPr/>
          <a:lstStyle/>
          <a:p>
            <a:r>
              <a:rPr lang="en-US" sz="2500" dirty="0" smtClean="0"/>
              <a:t>My career has focused on turning around database projects that were previously considered failures and recommending solutions for ISV databases that are performing poorly.</a:t>
            </a:r>
          </a:p>
          <a:p>
            <a:r>
              <a:rPr lang="en-US" sz="2500" dirty="0" smtClean="0"/>
              <a:t>In nearly every case, </a:t>
            </a:r>
            <a:r>
              <a:rPr lang="en-US" sz="2500" i="1" dirty="0" smtClean="0">
                <a:solidFill>
                  <a:srgbClr val="C00000"/>
                </a:solidFill>
              </a:rPr>
              <a:t>the root cause of the failure</a:t>
            </a:r>
            <a:r>
              <a:rPr lang="en-US" sz="2500" dirty="0" smtClean="0"/>
              <a:t> was the </a:t>
            </a:r>
            <a:r>
              <a:rPr lang="en-US" sz="2500" u="sng" dirty="0" smtClean="0"/>
              <a:t>database design</a:t>
            </a:r>
            <a:r>
              <a:rPr lang="en-US" sz="2500" dirty="0" smtClean="0"/>
              <a:t>.</a:t>
            </a:r>
          </a:p>
          <a:p>
            <a:r>
              <a:rPr lang="en-US" sz="2500" dirty="0" smtClean="0"/>
              <a:t>It was too complex, too clumsy, or just plain inadequate.</a:t>
            </a:r>
            <a:endParaRPr lang="en-US" sz="2500" b="1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47800"/>
            <a:ext cx="3417570" cy="4737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physical schema</a:t>
            </a:r>
            <a:r>
              <a:rPr lang="en-US" sz="2400" dirty="0" smtClean="0"/>
              <a:t> includes the database’s tables, columns, primary and foreign keys, and constraints. Basically, the "physical" schema is what the server creates when you run data definition language (DDL) commands.</a:t>
            </a:r>
          </a:p>
          <a:p>
            <a:r>
              <a:rPr lang="en-US" sz="2400" dirty="0" smtClean="0"/>
              <a:t>A poorly designed (either non-normalized or overly complex) physical schema encourages developers to write iterative code, code that uses temporary buckets to manipulate data, or code that will be difficult to debug or maintain.</a:t>
            </a:r>
          </a:p>
          <a:p>
            <a:r>
              <a:rPr lang="en-US" sz="2400" dirty="0" smtClean="0"/>
              <a:t>Designing an elegant database schema is the first step in maximizing the performance of the overall database system, while reducing costs.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5334000"/>
            <a:ext cx="342900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Set-Based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r>
              <a:rPr lang="en-US" sz="2400" dirty="0" smtClean="0"/>
              <a:t>SQL Server is designed to </a:t>
            </a:r>
            <a:r>
              <a:rPr lang="en-US" sz="2400" i="1" dirty="0" smtClean="0">
                <a:solidFill>
                  <a:srgbClr val="C00000"/>
                </a:solidFill>
              </a:rPr>
              <a:t>handle data in sets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SQL is a declarative language, meaning that the SQL query describes the problem, and the Query Optimizer generates an execution plan to resolve the problem as a set.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Iterative</a:t>
            </a:r>
            <a:r>
              <a:rPr lang="en-US" sz="2400" dirty="0" smtClean="0"/>
              <a:t> T-SQL code, typically implemented via cursors, forces the database engine to perform thousands of wasteful single-row operations, instead of handling the problem in one larger, more efficient set.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4419600"/>
            <a:ext cx="3295650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1447800"/>
            <a:ext cx="4724400" cy="4678363"/>
          </a:xfrm>
        </p:spPr>
        <p:txBody>
          <a:bodyPr/>
          <a:lstStyle/>
          <a:p>
            <a:r>
              <a:rPr lang="en-US" sz="2400" dirty="0" smtClean="0"/>
              <a:t>An index is an organized pointer used to </a:t>
            </a:r>
            <a:r>
              <a:rPr lang="en-US" sz="2400" i="1" dirty="0" smtClean="0">
                <a:solidFill>
                  <a:srgbClr val="C00000"/>
                </a:solidFill>
              </a:rPr>
              <a:t>locate information</a:t>
            </a:r>
            <a:r>
              <a:rPr lang="en-US" sz="2400" dirty="0" smtClean="0"/>
              <a:t> in a larger collection.</a:t>
            </a:r>
          </a:p>
          <a:p>
            <a:r>
              <a:rPr lang="en-US" sz="2400" dirty="0" smtClean="0"/>
              <a:t>An index is only useful when it matches the needs of a question.</a:t>
            </a:r>
          </a:p>
          <a:p>
            <a:r>
              <a:rPr lang="en-US" sz="2400" dirty="0" smtClean="0"/>
              <a:t>In this case, it becomes </a:t>
            </a:r>
            <a:r>
              <a:rPr lang="en-US" sz="2400" i="1" dirty="0" smtClean="0">
                <a:solidFill>
                  <a:srgbClr val="C00000"/>
                </a:solidFill>
              </a:rPr>
              <a:t>the shortcut</a:t>
            </a:r>
            <a:r>
              <a:rPr lang="en-US" sz="2400" dirty="0" smtClean="0"/>
              <a:t> between a question and the right answer.</a:t>
            </a:r>
          </a:p>
          <a:p>
            <a:r>
              <a:rPr lang="en-US" sz="2400" dirty="0" smtClean="0"/>
              <a:t>The key is to design the fewest number of shortcuts between the right questions and the right answers.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447800"/>
            <a:ext cx="3417570" cy="4737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7858</TotalTime>
  <Words>884</Words>
  <Application>Microsoft Office PowerPoint</Application>
  <PresentationFormat>On-screen Show (4:3)</PresentationFormat>
  <Paragraphs>103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Introduction to Microsoft SQL Server</vt:lpstr>
      <vt:lpstr>Objectives</vt:lpstr>
      <vt:lpstr>Contents</vt:lpstr>
      <vt:lpstr>References</vt:lpstr>
      <vt:lpstr>Information Architecture Principle</vt:lpstr>
      <vt:lpstr>Database Objectives</vt:lpstr>
      <vt:lpstr>The Database System</vt:lpstr>
      <vt:lpstr>SQL Server</vt:lpstr>
      <vt:lpstr>Slide 9</vt:lpstr>
      <vt:lpstr>1. Create a SQL Database</vt:lpstr>
      <vt:lpstr>Database Schemas</vt:lpstr>
      <vt:lpstr>Built-in Logical Schemas</vt:lpstr>
      <vt:lpstr>2. Show all Schemas</vt:lpstr>
      <vt:lpstr>3. Create a Schema</vt:lpstr>
      <vt:lpstr>Database Roles</vt:lpstr>
      <vt:lpstr>db_owner role</vt:lpstr>
      <vt:lpstr>db_executor role</vt:lpstr>
      <vt:lpstr>Slide 18</vt:lpstr>
      <vt:lpstr>Smart Database Design</vt:lpstr>
      <vt:lpstr>Physical Schema</vt:lpstr>
      <vt:lpstr>Set-Based Queries</vt:lpstr>
      <vt:lpstr>Indexing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4104</cp:revision>
  <dcterms:created xsi:type="dcterms:W3CDTF">2007-10-06T08:25:13Z</dcterms:created>
  <dcterms:modified xsi:type="dcterms:W3CDTF">2025-12-02T16:33:17Z</dcterms:modified>
</cp:coreProperties>
</file>