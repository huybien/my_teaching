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4"/>
  </p:notesMasterIdLst>
  <p:handoutMasterIdLst>
    <p:handoutMasterId r:id="rId45"/>
  </p:handoutMasterIdLst>
  <p:sldIdLst>
    <p:sldId id="414" r:id="rId2"/>
    <p:sldId id="415" r:id="rId3"/>
    <p:sldId id="416" r:id="rId4"/>
    <p:sldId id="417" r:id="rId5"/>
    <p:sldId id="457" r:id="rId6"/>
    <p:sldId id="458" r:id="rId7"/>
    <p:sldId id="459" r:id="rId8"/>
    <p:sldId id="460" r:id="rId9"/>
    <p:sldId id="461" r:id="rId10"/>
    <p:sldId id="462" r:id="rId11"/>
    <p:sldId id="470" r:id="rId12"/>
    <p:sldId id="486" r:id="rId13"/>
    <p:sldId id="454" r:id="rId14"/>
    <p:sldId id="456" r:id="rId15"/>
    <p:sldId id="455" r:id="rId16"/>
    <p:sldId id="464" r:id="rId17"/>
    <p:sldId id="465" r:id="rId18"/>
    <p:sldId id="471" r:id="rId19"/>
    <p:sldId id="466" r:id="rId20"/>
    <p:sldId id="467" r:id="rId21"/>
    <p:sldId id="468" r:id="rId22"/>
    <p:sldId id="469" r:id="rId23"/>
    <p:sldId id="490" r:id="rId24"/>
    <p:sldId id="491" r:id="rId25"/>
    <p:sldId id="479" r:id="rId26"/>
    <p:sldId id="480" r:id="rId27"/>
    <p:sldId id="481" r:id="rId28"/>
    <p:sldId id="472" r:id="rId29"/>
    <p:sldId id="485" r:id="rId30"/>
    <p:sldId id="473" r:id="rId31"/>
    <p:sldId id="483" r:id="rId32"/>
    <p:sldId id="482" r:id="rId33"/>
    <p:sldId id="487" r:id="rId34"/>
    <p:sldId id="495" r:id="rId35"/>
    <p:sldId id="478" r:id="rId36"/>
    <p:sldId id="484" r:id="rId37"/>
    <p:sldId id="489" r:id="rId38"/>
    <p:sldId id="476" r:id="rId39"/>
    <p:sldId id="493" r:id="rId40"/>
    <p:sldId id="492" r:id="rId41"/>
    <p:sldId id="494" r:id="rId42"/>
    <p:sldId id="360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8" autoAdjust="0"/>
    <p:restoredTop sz="94667" autoAdjust="0"/>
  </p:normalViewPr>
  <p:slideViewPr>
    <p:cSldViewPr>
      <p:cViewPr>
        <p:scale>
          <a:sx n="50" d="100"/>
          <a:sy n="50" d="100"/>
        </p:scale>
        <p:origin x="-168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C8F02-26E5-4602-B90C-9836E53E998C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C85B-1E6F-424F-86A0-250E63A4A2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ple/foundationdb/release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le/foundationdb/releases/download/7.3.63/foundationdb-clients_7.3.63-1_amd64.deb" TargetMode="External"/><Relationship Id="rId2" Type="http://schemas.openxmlformats.org/officeDocument/2006/relationships/hyperlink" Target="https://github.com/apple/foundationdb/releas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github.com/apple/foundationdb/releases/download/7.3.63/foundationdb-server_7.3.63-1_amd64.deb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pple.github.io/foundationdb/developer-guide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le/foundationdb/releases/download/7.3.63/FoundationDB-7.3.63_arm64.pkg" TargetMode="External"/><Relationship Id="rId2" Type="http://schemas.openxmlformats.org/officeDocument/2006/relationships/hyperlink" Target="https://github.com/apple/foundationdb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le.github.io/foundationdb/getting-started-mac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yuriymomotenko/setting-up-a-scalable-foundationdb-cluster-a-step-by-step-guide-6f84f4182c63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pple.github.io/foundationdb/building-cluster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le/foundationdb/releases/download/7.3.63/foundationdb-clients_7.3.63-1_amd64.deb" TargetMode="External"/><Relationship Id="rId2" Type="http://schemas.openxmlformats.org/officeDocument/2006/relationships/hyperlink" Target="https://github.com/apple/foundationdb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pple/foundationdb/releases/download/7.3.63/foundationdb-server_7.3.63-1_amd64.deb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pple.github.io/foundationdb/configuration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apple.github.io/foundationdb/configuration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err="1" smtClean="0"/>
              <a:t>FoundationDB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Jingyu</a:t>
            </a:r>
            <a:r>
              <a:rPr lang="en-US" sz="2400" dirty="0" smtClean="0"/>
              <a:t> Zhou et al. (2021). </a:t>
            </a:r>
            <a:r>
              <a:rPr lang="en-US" sz="2400" dirty="0" err="1" smtClean="0"/>
              <a:t>FoundationDB</a:t>
            </a:r>
            <a:r>
              <a:rPr lang="en-US" sz="2400" dirty="0" smtClean="0"/>
              <a:t>: A Distributed Unbundled Transactional Key Value Store.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FoundationDB</a:t>
            </a:r>
            <a:r>
              <a:rPr lang="en-US" dirty="0" smtClean="0"/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Providing </a:t>
            </a:r>
            <a:r>
              <a:rPr lang="en-US" sz="2400" i="1" dirty="0" err="1" smtClean="0">
                <a:solidFill>
                  <a:srgbClr val="C00000"/>
                </a:solidFill>
              </a:rPr>
              <a:t>serializable</a:t>
            </a:r>
            <a:r>
              <a:rPr lang="en-US" sz="2400" i="1" dirty="0" smtClean="0">
                <a:solidFill>
                  <a:srgbClr val="C00000"/>
                </a:solidFill>
              </a:rPr>
              <a:t> transactions</a:t>
            </a:r>
            <a:r>
              <a:rPr lang="en-US" sz="2400" dirty="0" smtClean="0"/>
              <a:t> while scaling to handle the </a:t>
            </a:r>
            <a:r>
              <a:rPr lang="en-US" sz="2400" i="1" dirty="0" smtClean="0">
                <a:solidFill>
                  <a:srgbClr val="C00000"/>
                </a:solidFill>
              </a:rPr>
              <a:t>large workloads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Providing the foundational set of building blocks required to build higher-level distributed systems.</a:t>
            </a:r>
          </a:p>
          <a:p>
            <a:r>
              <a:rPr lang="en-US" sz="2400" dirty="0" smtClean="0"/>
              <a:t>Providing a highly scalable, transactional storage engine with a minimal yet carefully chosen set of features.</a:t>
            </a:r>
          </a:p>
          <a:p>
            <a:r>
              <a:rPr lang="en-US" sz="2400" dirty="0" smtClean="0"/>
              <a:t>Providing </a:t>
            </a:r>
            <a:r>
              <a:rPr lang="en-US" sz="2400" b="1" dirty="0" smtClean="0"/>
              <a:t>no</a:t>
            </a:r>
            <a:r>
              <a:rPr lang="en-US" sz="2400" dirty="0" smtClean="0"/>
              <a:t> structured semantics, no query language, data model or schema management, secondary indices or many other features one normally finds in a transactional database.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Simulation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Before building the database itself, we built a deterministic database simulation framework that can simulate a network of interacting processes and a variety of disk, process, network, and request-level failures and recoveries, all within a single physical process.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Unbundled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FDB adopts an </a:t>
            </a:r>
            <a:r>
              <a:rPr lang="en-US" sz="2400" i="1" dirty="0" smtClean="0">
                <a:solidFill>
                  <a:srgbClr val="C00000"/>
                </a:solidFill>
              </a:rPr>
              <a:t>unbundled architecture</a:t>
            </a:r>
            <a:r>
              <a:rPr lang="en-US" sz="2400" dirty="0" smtClean="0"/>
              <a:t> that comprises a control plane and a data plane.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control plane</a:t>
            </a:r>
            <a:r>
              <a:rPr lang="en-US" sz="2400" dirty="0" smtClean="0"/>
              <a:t> manages the metadata of the cluster and uses Active Disk </a:t>
            </a:r>
            <a:r>
              <a:rPr lang="en-US" sz="2400" dirty="0" err="1" smtClean="0"/>
              <a:t>Paxos</a:t>
            </a:r>
            <a:r>
              <a:rPr lang="en-US" sz="2400" dirty="0" smtClean="0"/>
              <a:t> for high availability.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data plane</a:t>
            </a:r>
            <a:r>
              <a:rPr lang="en-US" sz="2400" dirty="0" smtClean="0"/>
              <a:t> consists of a transaction management system, responsible for processing updates, and a distributed storage layer serving reads; both can be independently scaled out.</a:t>
            </a:r>
          </a:p>
          <a:p>
            <a:r>
              <a:rPr lang="en-US" sz="2400" dirty="0" smtClean="0"/>
              <a:t>FDB achieves </a:t>
            </a:r>
            <a:r>
              <a:rPr lang="en-US" sz="2400" i="1" dirty="0" smtClean="0">
                <a:solidFill>
                  <a:srgbClr val="C00000"/>
                </a:solidFill>
              </a:rPr>
              <a:t>strict </a:t>
            </a:r>
            <a:r>
              <a:rPr lang="en-US" sz="2400" i="1" dirty="0" err="1" smtClean="0">
                <a:solidFill>
                  <a:srgbClr val="C00000"/>
                </a:solidFill>
              </a:rPr>
              <a:t>serializability</a:t>
            </a:r>
            <a:r>
              <a:rPr lang="en-US" sz="2400" dirty="0" smtClean="0"/>
              <a:t> through a combination of </a:t>
            </a:r>
            <a:r>
              <a:rPr lang="en-US" sz="2400" u="sng" dirty="0" smtClean="0"/>
              <a:t>optimistic concurrency control (OCC)</a:t>
            </a:r>
            <a:r>
              <a:rPr lang="en-US" sz="2400" dirty="0" smtClean="0"/>
              <a:t> and </a:t>
            </a:r>
            <a:r>
              <a:rPr lang="en-US" sz="2400" u="sng" dirty="0" smtClean="0"/>
              <a:t>multi-version concurrency control (MVCC)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</a:rPr>
              <a:t>The </a:t>
            </a:r>
            <a:r>
              <a:rPr lang="en-US" sz="2200" b="1" dirty="0" smtClean="0">
                <a:latin typeface="Consolas" pitchFamily="49" charset="0"/>
              </a:rPr>
              <a:t>get()</a:t>
            </a:r>
            <a:r>
              <a:rPr lang="en-US" sz="2200" dirty="0" smtClean="0">
                <a:latin typeface="+mj-lt"/>
              </a:rPr>
              <a:t> and </a:t>
            </a:r>
            <a:r>
              <a:rPr lang="en-US" sz="2200" b="1" dirty="0" smtClean="0">
                <a:latin typeface="Consolas" pitchFamily="49" charset="0"/>
              </a:rPr>
              <a:t>set()</a:t>
            </a:r>
            <a:r>
              <a:rPr lang="en-US" sz="2200" dirty="0" smtClean="0">
                <a:latin typeface="+mj-lt"/>
              </a:rPr>
              <a:t> operations read and write a single key-value pair, respectively.</a:t>
            </a:r>
          </a:p>
          <a:p>
            <a:r>
              <a:rPr lang="en-US" sz="2200" dirty="0" smtClean="0">
                <a:latin typeface="+mj-lt"/>
              </a:rPr>
              <a:t>For ranges, </a:t>
            </a:r>
            <a:r>
              <a:rPr lang="en-US" sz="2200" b="1" dirty="0" smtClean="0">
                <a:latin typeface="Consolas" pitchFamily="49" charset="0"/>
              </a:rPr>
              <a:t>𝑔𝑒𝑡𝑅𝑎𝑛𝑔𝑒()</a:t>
            </a:r>
            <a:r>
              <a:rPr lang="en-US" sz="2200" dirty="0" smtClean="0">
                <a:latin typeface="+mj-lt"/>
              </a:rPr>
              <a:t> returns a sorted list of keys and their values within the given range; and </a:t>
            </a:r>
            <a:r>
              <a:rPr lang="en-US" sz="2200" b="1" dirty="0" smtClean="0">
                <a:latin typeface="Consolas" pitchFamily="49" charset="0"/>
              </a:rPr>
              <a:t>𝑐𝑙𝑒𝑎𝑟()</a:t>
            </a:r>
            <a:r>
              <a:rPr lang="en-US" sz="2200" dirty="0" smtClean="0">
                <a:latin typeface="+mj-lt"/>
              </a:rPr>
              <a:t> deletes all keys-value pairs </a:t>
            </a:r>
            <a:r>
              <a:rPr lang="en-US" sz="2200" dirty="0" err="1" smtClean="0">
                <a:latin typeface="+mj-lt"/>
              </a:rPr>
              <a:t>whithin</a:t>
            </a:r>
            <a:r>
              <a:rPr lang="en-US" sz="2200" dirty="0" smtClean="0">
                <a:latin typeface="+mj-lt"/>
              </a:rPr>
              <a:t> a range or starting with a certain key prefix.</a:t>
            </a:r>
          </a:p>
          <a:p>
            <a:r>
              <a:rPr lang="en-US" sz="2200" dirty="0" smtClean="0">
                <a:latin typeface="+mj-lt"/>
              </a:rPr>
              <a:t>A transaction’s writes (i.e., set() and clear() calls) are buffered by the FDB client until the final </a:t>
            </a:r>
            <a:r>
              <a:rPr lang="en-US" sz="2200" b="1" dirty="0" smtClean="0">
                <a:latin typeface="Consolas" pitchFamily="49" charset="0"/>
              </a:rPr>
              <a:t>commit()</a:t>
            </a:r>
            <a:r>
              <a:rPr lang="en-US" sz="2200" dirty="0" smtClean="0">
                <a:latin typeface="+mj-lt"/>
              </a:rPr>
              <a:t> call, and read-your-write semantics are preserved by combining results from database look-ups with uncommitted writes of the transaction.</a:t>
            </a:r>
          </a:p>
          <a:p>
            <a:r>
              <a:rPr lang="en-US" sz="2200" dirty="0" smtClean="0">
                <a:latin typeface="+mj-lt"/>
              </a:rPr>
              <a:t>Key and value sizes are limited to 10 KB and 100 KB respectively for better performance. Transaction size is limited to 10 MB.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Architecture: Control 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control plane is responsible for persisting critical system metadata, i.e., the configuration of transaction systems, on </a:t>
            </a:r>
            <a:r>
              <a:rPr lang="en-US" sz="2000" b="1" dirty="0" smtClean="0"/>
              <a:t>Coordinators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</a:t>
            </a:r>
            <a:r>
              <a:rPr lang="en-US" sz="2000" b="1" dirty="0" err="1" smtClean="0"/>
              <a:t>ClusterController</a:t>
            </a:r>
            <a:r>
              <a:rPr lang="en-US" sz="2000" dirty="0" smtClean="0"/>
              <a:t> monitors all servers in the cluster and recruits three singleton processes, Sequencer, </a:t>
            </a:r>
            <a:r>
              <a:rPr lang="en-US" sz="2000" dirty="0" err="1" smtClean="0"/>
              <a:t>DataDistributor</a:t>
            </a:r>
            <a:r>
              <a:rPr lang="en-US" sz="2000" dirty="0" smtClean="0"/>
              <a:t>, and </a:t>
            </a:r>
            <a:r>
              <a:rPr lang="en-US" sz="2000" dirty="0" err="1" smtClean="0"/>
              <a:t>Ratekeeper</a:t>
            </a:r>
            <a:r>
              <a:rPr lang="en-US" sz="2000" dirty="0" smtClean="0"/>
              <a:t>, which are re-recruited if they fail or crash.</a:t>
            </a:r>
          </a:p>
          <a:p>
            <a:r>
              <a:rPr lang="en-US" sz="2000" dirty="0" smtClean="0"/>
              <a:t>The </a:t>
            </a:r>
            <a:r>
              <a:rPr lang="en-US" sz="2000" b="1" dirty="0" smtClean="0"/>
              <a:t>Sequencer</a:t>
            </a:r>
            <a:r>
              <a:rPr lang="en-US" sz="2000" dirty="0" smtClean="0"/>
              <a:t> assigns read and commit versions to transactions.</a:t>
            </a:r>
          </a:p>
          <a:p>
            <a:r>
              <a:rPr lang="en-US" sz="2000" dirty="0" smtClean="0"/>
              <a:t>The </a:t>
            </a:r>
            <a:r>
              <a:rPr lang="en-US" sz="2000" b="1" dirty="0" err="1" smtClean="0"/>
              <a:t>DataDistributor</a:t>
            </a:r>
            <a:r>
              <a:rPr lang="en-US" sz="2000" dirty="0" smtClean="0"/>
              <a:t> is responsible for monitoring failures and balancing data among </a:t>
            </a:r>
            <a:r>
              <a:rPr lang="en-US" sz="2000" dirty="0" err="1" smtClean="0"/>
              <a:t>StorageServers</a:t>
            </a:r>
            <a:r>
              <a:rPr lang="en-US" sz="2000" dirty="0" smtClean="0"/>
              <a:t>.</a:t>
            </a:r>
          </a:p>
          <a:p>
            <a:r>
              <a:rPr lang="en-US" sz="2000" b="1" dirty="0" err="1" smtClean="0"/>
              <a:t>Ratekeeper</a:t>
            </a:r>
            <a:r>
              <a:rPr lang="en-US" sz="2000" dirty="0" smtClean="0"/>
              <a:t> provides overload protection for the cluster.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3238" y="5029200"/>
            <a:ext cx="3057525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Architecture: Data 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sz="2400" dirty="0" smtClean="0"/>
              <a:t>FDB chooses an unbundled architecture:</a:t>
            </a:r>
          </a:p>
          <a:p>
            <a:pPr lvl="1"/>
            <a:r>
              <a:rPr lang="en-US" sz="2000" b="1" dirty="0" smtClean="0"/>
              <a:t>a distributed transaction management system</a:t>
            </a:r>
            <a:r>
              <a:rPr lang="en-US" sz="2000" dirty="0" smtClean="0"/>
              <a:t> (TS) performs in-memory transaction processing, </a:t>
            </a:r>
          </a:p>
          <a:p>
            <a:pPr lvl="1"/>
            <a:r>
              <a:rPr lang="en-US" sz="2000" b="1" dirty="0" smtClean="0"/>
              <a:t>a log system (LS)</a:t>
            </a:r>
            <a:r>
              <a:rPr lang="en-US" sz="2000" dirty="0" smtClean="0"/>
              <a:t> stores Write-Ahead-Log (WAL) for TS, and </a:t>
            </a:r>
          </a:p>
          <a:p>
            <a:pPr lvl="1"/>
            <a:r>
              <a:rPr lang="en-US" sz="2000" b="1" dirty="0" smtClean="0"/>
              <a:t>a separate distributed storage system</a:t>
            </a:r>
            <a:r>
              <a:rPr lang="en-US" sz="2000" dirty="0" smtClean="0"/>
              <a:t> (SS) is used for storing data and servicing reads.</a:t>
            </a:r>
            <a:endParaRPr lang="en-US" sz="1800" dirty="0">
              <a:latin typeface="+mj-lt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057400"/>
            <a:ext cx="40386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FoundationDB</a:t>
            </a:r>
            <a:r>
              <a:rPr lang="en-US" dirty="0" smtClean="0"/>
              <a:t>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https://github.com/apple/foundationdb/releases</a:t>
            </a:r>
            <a:endParaRPr lang="en-US" sz="2400" dirty="0" smtClean="0"/>
          </a:p>
          <a:p>
            <a:r>
              <a:rPr lang="en-US" sz="2400" dirty="0" smtClean="0">
                <a:latin typeface="+mj-lt"/>
              </a:rPr>
              <a:t>For Linux distributions, there are two packages: </a:t>
            </a:r>
            <a:r>
              <a:rPr lang="en-US" sz="2400" dirty="0" err="1" smtClean="0">
                <a:latin typeface="+mj-lt"/>
              </a:rPr>
              <a:t>fdbserver</a:t>
            </a:r>
            <a:r>
              <a:rPr lang="en-US" sz="2400" dirty="0" smtClean="0">
                <a:latin typeface="+mj-lt"/>
              </a:rPr>
              <a:t> and </a:t>
            </a:r>
            <a:r>
              <a:rPr lang="en-US" sz="2400" dirty="0" err="1" smtClean="0">
                <a:latin typeface="+mj-lt"/>
              </a:rPr>
              <a:t>fdbcli</a:t>
            </a:r>
            <a:r>
              <a:rPr lang="en-US" sz="2400" dirty="0" smtClean="0">
                <a:latin typeface="+mj-lt"/>
              </a:rPr>
              <a:t>.</a:t>
            </a:r>
          </a:p>
          <a:p>
            <a:r>
              <a:rPr lang="en-US" sz="2400" dirty="0" smtClean="0">
                <a:latin typeface="+mj-lt"/>
              </a:rPr>
              <a:t>The first is for running the </a:t>
            </a:r>
            <a:r>
              <a:rPr lang="en-US" sz="2400" dirty="0" err="1" smtClean="0">
                <a:latin typeface="+mj-lt"/>
              </a:rPr>
              <a:t>FoundationDB</a:t>
            </a:r>
            <a:r>
              <a:rPr lang="en-US" sz="2400" dirty="0" smtClean="0">
                <a:latin typeface="+mj-lt"/>
              </a:rPr>
              <a:t> server itself, and the second is for connecting to the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FoundationDB</a:t>
            </a:r>
            <a:r>
              <a:rPr lang="en-US" dirty="0" smtClean="0"/>
              <a:t>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Check versions on </a:t>
            </a:r>
            <a:r>
              <a:rPr lang="en-US" sz="2000" dirty="0" smtClean="0">
                <a:hlinkClick r:id="rId2"/>
              </a:rPr>
              <a:t>https://github.com/apple/foundationdb/releases</a:t>
            </a:r>
            <a:endParaRPr lang="en-US" sz="2000" dirty="0" smtClean="0"/>
          </a:p>
          <a:p>
            <a:r>
              <a:rPr lang="en-US" sz="2000" dirty="0" err="1" smtClean="0">
                <a:latin typeface="Consolas" pitchFamily="49" charset="0"/>
              </a:rPr>
              <a:t>wget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3"/>
              </a:rPr>
              <a:t>https://github.com/apple/foundationdb/releases/download/7.3.63/foundationdb-clients_7.3.63-1_amd64.deb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wget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4"/>
              </a:rPr>
              <a:t>https://github.com/apple/foundationdb/releases/download/7.3.63/foundationdb-server_7.3.63-1_amd64.deb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dpkg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 foundationdb-clients_7.3.63-1_amd64.deb foundationdb-server_7.3.63-1_amd64.deb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30338" y="4876800"/>
            <a:ext cx="6283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the Install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fdbcli</a:t>
            </a:r>
            <a:r>
              <a:rPr lang="en-US" sz="2400" dirty="0" smtClean="0">
                <a:latin typeface="Consolas" pitchFamily="49" charset="0"/>
              </a:rPr>
              <a:t> --exec status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724150"/>
            <a:ext cx="628332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Configure </a:t>
            </a:r>
            <a:r>
              <a:rPr lang="en-US" dirty="0" err="1" smtClean="0"/>
              <a:t>FoundationDB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nano</a:t>
            </a:r>
            <a:r>
              <a:rPr lang="en-US" sz="2200" dirty="0" smtClean="0">
                <a:latin typeface="Consolas" pitchFamily="49" charset="0"/>
              </a:rPr>
              <a:t> /etc/</a:t>
            </a:r>
            <a:r>
              <a:rPr lang="en-US" sz="2200" dirty="0" err="1" smtClean="0">
                <a:latin typeface="Consolas" pitchFamily="49" charset="0"/>
              </a:rPr>
              <a:t>foundationdb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foundationdb.conf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memory = 4GiB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ls</a:t>
            </a:r>
            <a:r>
              <a:rPr lang="en-US" sz="2200" dirty="0" smtClean="0">
                <a:latin typeface="Consolas" pitchFamily="49" charset="0"/>
              </a:rPr>
              <a:t> /</a:t>
            </a:r>
            <a:r>
              <a:rPr lang="en-US" sz="2200" dirty="0" err="1" smtClean="0">
                <a:latin typeface="Consolas" pitchFamily="49" charset="0"/>
              </a:rPr>
              <a:t>var</a:t>
            </a:r>
            <a:r>
              <a:rPr lang="en-US" sz="2200" dirty="0" smtClean="0">
                <a:latin typeface="Consolas" pitchFamily="49" charset="0"/>
              </a:rPr>
              <a:t>/lib/</a:t>
            </a:r>
            <a:r>
              <a:rPr lang="en-US" sz="2200" dirty="0" err="1" smtClean="0">
                <a:latin typeface="Consolas" pitchFamily="49" charset="0"/>
              </a:rPr>
              <a:t>foundationdb</a:t>
            </a:r>
            <a:r>
              <a:rPr lang="en-US" sz="2200" dirty="0" smtClean="0">
                <a:latin typeface="Consolas" pitchFamily="49" charset="0"/>
              </a:rPr>
              <a:t>/data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181350"/>
            <a:ext cx="628332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</a:t>
            </a:r>
            <a:r>
              <a:rPr lang="en-US" dirty="0" err="1" smtClean="0"/>
              <a:t>foundationdb</a:t>
            </a:r>
            <a:r>
              <a:rPr lang="en-US" dirty="0" smtClean="0"/>
              <a:t> for python3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python3 --version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install python3-pip</a:t>
            </a:r>
          </a:p>
          <a:p>
            <a:r>
              <a:rPr lang="en-US" sz="2000" dirty="0" smtClean="0">
                <a:latin typeface="Consolas" pitchFamily="49" charset="0"/>
              </a:rPr>
              <a:t>pip --version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install python3-venv</a:t>
            </a:r>
          </a:p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fdb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fdb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python3 -m </a:t>
            </a:r>
            <a:r>
              <a:rPr lang="en-US" sz="2000" dirty="0" err="1" smtClean="0">
                <a:latin typeface="Consolas" pitchFamily="49" charset="0"/>
              </a:rPr>
              <a:t>venv</a:t>
            </a:r>
            <a:r>
              <a:rPr lang="en-US" sz="2000" dirty="0" smtClean="0">
                <a:latin typeface="Consolas" pitchFamily="49" charset="0"/>
              </a:rPr>
              <a:t> .</a:t>
            </a:r>
            <a:r>
              <a:rPr lang="en-US" sz="2000" dirty="0" err="1" smtClean="0">
                <a:latin typeface="Consolas" pitchFamily="49" charset="0"/>
              </a:rPr>
              <a:t>venv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source .</a:t>
            </a:r>
            <a:r>
              <a:rPr lang="en-US" sz="2000" dirty="0" err="1" smtClean="0">
                <a:latin typeface="Consolas" pitchFamily="49" charset="0"/>
              </a:rPr>
              <a:t>venv</a:t>
            </a:r>
            <a:r>
              <a:rPr lang="en-US" sz="2000" dirty="0" smtClean="0">
                <a:latin typeface="Consolas" pitchFamily="49" charset="0"/>
              </a:rPr>
              <a:t>/bin/activate</a:t>
            </a:r>
          </a:p>
          <a:p>
            <a:r>
              <a:rPr lang="en-US" sz="2000" dirty="0" smtClean="0">
                <a:latin typeface="Consolas" pitchFamily="49" charset="0"/>
              </a:rPr>
              <a:t>pip install </a:t>
            </a:r>
            <a:r>
              <a:rPr lang="en-US" sz="2000" dirty="0" err="1" smtClean="0">
                <a:latin typeface="Consolas" pitchFamily="49" charset="0"/>
              </a:rPr>
              <a:t>foundationdb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python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Call </a:t>
            </a:r>
            <a:r>
              <a:rPr lang="en-US" dirty="0" err="1" smtClean="0"/>
              <a:t>FoundationDB</a:t>
            </a:r>
            <a:r>
              <a:rPr lang="en-US" dirty="0" smtClean="0"/>
              <a:t>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import </a:t>
            </a:r>
            <a:r>
              <a:rPr lang="en-US" sz="2000" dirty="0" err="1" smtClean="0">
                <a:latin typeface="Consolas" pitchFamily="49" charset="0"/>
              </a:rPr>
              <a:t>fdb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fdb.api_version</a:t>
            </a:r>
            <a:r>
              <a:rPr lang="en-US" sz="2000" dirty="0" smtClean="0">
                <a:latin typeface="Consolas" pitchFamily="49" charset="0"/>
              </a:rPr>
              <a:t>(730)</a:t>
            </a:r>
          </a:p>
          <a:p>
            <a:r>
              <a:rPr lang="en-US" sz="2000" dirty="0" smtClean="0">
                <a:latin typeface="Consolas" pitchFamily="49" charset="0"/>
              </a:rPr>
              <a:t>db = </a:t>
            </a:r>
            <a:r>
              <a:rPr lang="en-US" sz="2000" dirty="0" err="1" smtClean="0">
                <a:latin typeface="Consolas" pitchFamily="49" charset="0"/>
              </a:rPr>
              <a:t>fdb.open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smtClean="0">
                <a:latin typeface="Consolas" pitchFamily="49" charset="0"/>
              </a:rPr>
              <a:t>db[</a:t>
            </a:r>
            <a:r>
              <a:rPr lang="en-US" sz="2000" dirty="0" err="1" smtClean="0">
                <a:latin typeface="Consolas" pitchFamily="49" charset="0"/>
              </a:rPr>
              <a:t>b'hello</a:t>
            </a:r>
            <a:r>
              <a:rPr lang="en-US" sz="2000" dirty="0" smtClean="0">
                <a:latin typeface="Consolas" pitchFamily="49" charset="0"/>
              </a:rPr>
              <a:t>'] = </a:t>
            </a:r>
            <a:r>
              <a:rPr lang="en-US" sz="2000" dirty="0" err="1" smtClean="0">
                <a:latin typeface="Consolas" pitchFamily="49" charset="0"/>
              </a:rPr>
              <a:t>b'world</a:t>
            </a:r>
            <a:r>
              <a:rPr lang="en-US" sz="2000" dirty="0" smtClean="0">
                <a:latin typeface="Consolas" pitchFamily="49" charset="0"/>
              </a:rPr>
              <a:t>'</a:t>
            </a:r>
          </a:p>
          <a:p>
            <a:r>
              <a:rPr lang="en-US" sz="2000" dirty="0" smtClean="0">
                <a:latin typeface="Consolas" pitchFamily="49" charset="0"/>
              </a:rPr>
              <a:t>print ('hello', db[</a:t>
            </a:r>
            <a:r>
              <a:rPr lang="en-US" sz="2000" dirty="0" err="1" smtClean="0">
                <a:latin typeface="Consolas" pitchFamily="49" charset="0"/>
              </a:rPr>
              <a:t>b'hello</a:t>
            </a:r>
            <a:r>
              <a:rPr lang="en-US" sz="2000" dirty="0" smtClean="0">
                <a:latin typeface="Consolas" pitchFamily="49" charset="0"/>
              </a:rPr>
              <a:t>'])</a:t>
            </a:r>
          </a:p>
          <a:p>
            <a:r>
              <a:rPr lang="en-US" sz="2000" dirty="0" smtClean="0">
                <a:latin typeface="Consolas" pitchFamily="49" charset="0"/>
              </a:rPr>
              <a:t>db[</a:t>
            </a:r>
            <a:r>
              <a:rPr lang="en-US" sz="2000" dirty="0" err="1" smtClean="0">
                <a:latin typeface="Consolas" pitchFamily="49" charset="0"/>
              </a:rPr>
              <a:t>b'hello</a:t>
            </a:r>
            <a:r>
              <a:rPr lang="en-US" sz="2000" dirty="0" smtClean="0">
                <a:latin typeface="Consolas" pitchFamily="49" charset="0"/>
              </a:rPr>
              <a:t>'] = </a:t>
            </a:r>
            <a:r>
              <a:rPr lang="en-US" sz="2000" dirty="0" err="1" smtClean="0">
                <a:latin typeface="Consolas" pitchFamily="49" charset="0"/>
              </a:rPr>
              <a:t>b'bien</a:t>
            </a:r>
            <a:r>
              <a:rPr lang="en-US" sz="2000" dirty="0" smtClean="0">
                <a:latin typeface="Consolas" pitchFamily="49" charset="0"/>
              </a:rPr>
              <a:t>'</a:t>
            </a:r>
          </a:p>
          <a:p>
            <a:r>
              <a:rPr lang="en-US" sz="2000" dirty="0" smtClean="0">
                <a:latin typeface="Consolas" pitchFamily="49" charset="0"/>
              </a:rPr>
              <a:t>print ('hello', db[</a:t>
            </a:r>
            <a:r>
              <a:rPr lang="en-US" sz="2000" dirty="0" err="1" smtClean="0">
                <a:latin typeface="Consolas" pitchFamily="49" charset="0"/>
              </a:rPr>
              <a:t>b'hello</a:t>
            </a:r>
            <a:r>
              <a:rPr lang="en-US" sz="2000" dirty="0" smtClean="0">
                <a:latin typeface="Consolas" pitchFamily="49" charset="0"/>
              </a:rPr>
              <a:t>'])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724400"/>
            <a:ext cx="4167188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https://apple.github.io/foundationdb/developer-guide.html</a:t>
            </a:r>
            <a:endParaRPr lang="en-US" sz="2400" dirty="0" smtClean="0"/>
          </a:p>
          <a:p>
            <a:r>
              <a:rPr lang="en-US" sz="2400" dirty="0" err="1" smtClean="0"/>
              <a:t>FoundationDB’s</a:t>
            </a:r>
            <a:r>
              <a:rPr lang="en-US" sz="2400" dirty="0" smtClean="0"/>
              <a:t> core data model is an ordered key-value store.</a:t>
            </a:r>
          </a:p>
          <a:p>
            <a:r>
              <a:rPr lang="en-US" sz="2400" dirty="0" smtClean="0"/>
              <a:t>Both keys and values in </a:t>
            </a:r>
            <a:r>
              <a:rPr lang="en-US" sz="2400" dirty="0" err="1" smtClean="0"/>
              <a:t>FoundationDB</a:t>
            </a:r>
            <a:r>
              <a:rPr lang="en-US" sz="2400" dirty="0" smtClean="0"/>
              <a:t> are simple byte strings.</a:t>
            </a:r>
          </a:p>
          <a:p>
            <a:r>
              <a:rPr lang="en-US" sz="2400" dirty="0" smtClean="0"/>
              <a:t>Apart from storage and retrieval, the database does not interpret or depend on the content of values.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keys in </a:t>
            </a:r>
            <a:r>
              <a:rPr lang="en-US" sz="2400" dirty="0" err="1" smtClean="0"/>
              <a:t>FoundationDB’s</a:t>
            </a:r>
            <a:r>
              <a:rPr lang="en-US" sz="2400" dirty="0" smtClean="0"/>
              <a:t> key-value store can be viewed as elements of a single, global </a:t>
            </a:r>
            <a:r>
              <a:rPr lang="en-US" sz="2400" dirty="0" err="1" smtClean="0"/>
              <a:t>keyspace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Your application will probably have multiple kinds of data to store, and it’s a good idea to separate them into different namespaces.</a:t>
            </a:r>
          </a:p>
          <a:p>
            <a:r>
              <a:rPr lang="en-US" sz="2400" dirty="0" smtClean="0"/>
              <a:t>The use of distinct namespaces will allow you to avoid conflicts among keys as your application grows.</a:t>
            </a:r>
          </a:p>
          <a:p>
            <a:r>
              <a:rPr lang="en-US" sz="2400" dirty="0" smtClean="0"/>
              <a:t>Because of the ordering of keys, a namespace in </a:t>
            </a:r>
            <a:r>
              <a:rPr lang="en-US" sz="2400" dirty="0" err="1" smtClean="0"/>
              <a:t>FoundationDB</a:t>
            </a:r>
            <a:r>
              <a:rPr lang="en-US" sz="2400" dirty="0" smtClean="0"/>
              <a:t> is defined by any prefix </a:t>
            </a:r>
            <a:r>
              <a:rPr lang="en-US" sz="2400" dirty="0" err="1" smtClean="0"/>
              <a:t>prepended</a:t>
            </a:r>
            <a:r>
              <a:rPr lang="en-US" sz="2400" dirty="0" smtClean="0"/>
              <a:t> to keys. For example, if we use a prefix 'alpha', any key of the form 'alpha' + remainder will be nested under 'alpha'.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Subspaces &amp; Directories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Subspaces employ the </a:t>
            </a:r>
            <a:r>
              <a:rPr lang="en-US" sz="2400" dirty="0" err="1" smtClean="0"/>
              <a:t>tuple</a:t>
            </a:r>
            <a:r>
              <a:rPr lang="en-US" sz="2400" dirty="0" smtClean="0"/>
              <a:t> layer to provide a convenient syntax for namespaces.</a:t>
            </a:r>
          </a:p>
          <a:p>
            <a:r>
              <a:rPr lang="en-US" sz="2400" dirty="0" smtClean="0"/>
              <a:t>While subspaces can be used directly, they are also returned when creating or opening a directory. Directories are designed to manage related subspaces.</a:t>
            </a:r>
          </a:p>
          <a:p>
            <a:r>
              <a:rPr lang="en-US" sz="2400" dirty="0" err="1" smtClean="0"/>
              <a:t>FoundationDB</a:t>
            </a:r>
            <a:r>
              <a:rPr lang="en-US" sz="2400" dirty="0" smtClean="0"/>
              <a:t> provides directories (available in each language binding) as a tool for managing related subspaces.</a:t>
            </a:r>
          </a:p>
          <a:p>
            <a:r>
              <a:rPr lang="en-US" sz="2400" dirty="0" smtClean="0"/>
              <a:t>Directories are a recommended approach for administering applications. Each application should create or open at least one directory to manage its subspaces.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Creating Directories and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a = </a:t>
            </a:r>
            <a:r>
              <a:rPr lang="en-US" sz="2000" dirty="0" err="1" smtClean="0">
                <a:latin typeface="Consolas" pitchFamily="49" charset="0"/>
              </a:rPr>
              <a:t>fdb.directory.create</a:t>
            </a:r>
            <a:r>
              <a:rPr lang="en-US" sz="2000" dirty="0" smtClean="0">
                <a:latin typeface="Consolas" pitchFamily="49" charset="0"/>
              </a:rPr>
              <a:t>(db, ('alpha',))</a:t>
            </a:r>
          </a:p>
          <a:p>
            <a:r>
              <a:rPr lang="en-US" sz="2000" dirty="0" smtClean="0">
                <a:latin typeface="Consolas" pitchFamily="49" charset="0"/>
              </a:rPr>
              <a:t>b = </a:t>
            </a:r>
            <a:r>
              <a:rPr lang="en-US" sz="2000" dirty="0" err="1" smtClean="0">
                <a:latin typeface="Consolas" pitchFamily="49" charset="0"/>
              </a:rPr>
              <a:t>a.create</a:t>
            </a:r>
            <a:r>
              <a:rPr lang="en-US" sz="2000" dirty="0" smtClean="0">
                <a:latin typeface="Consolas" pitchFamily="49" charset="0"/>
              </a:rPr>
              <a:t>(db, ('bravo',))</a:t>
            </a:r>
          </a:p>
          <a:p>
            <a:r>
              <a:rPr lang="en-US" sz="2000" dirty="0" smtClean="0">
                <a:latin typeface="Consolas" pitchFamily="49" charset="0"/>
              </a:rPr>
              <a:t>c = </a:t>
            </a:r>
            <a:r>
              <a:rPr lang="en-US" sz="2000" dirty="0" err="1" smtClean="0">
                <a:latin typeface="Consolas" pitchFamily="49" charset="0"/>
              </a:rPr>
              <a:t>b.create</a:t>
            </a:r>
            <a:r>
              <a:rPr lang="en-US" sz="2000" dirty="0" smtClean="0">
                <a:latin typeface="Consolas" pitchFamily="49" charset="0"/>
              </a:rPr>
              <a:t>(db, ('</a:t>
            </a:r>
            <a:r>
              <a:rPr lang="en-US" sz="2000" dirty="0" err="1" smtClean="0">
                <a:latin typeface="Consolas" pitchFamily="49" charset="0"/>
              </a:rPr>
              <a:t>charlie</a:t>
            </a:r>
            <a:r>
              <a:rPr lang="en-US" sz="2000" dirty="0" smtClean="0">
                <a:latin typeface="Consolas" pitchFamily="49" charset="0"/>
              </a:rPr>
              <a:t>',))</a:t>
            </a:r>
          </a:p>
          <a:p>
            <a:r>
              <a:rPr lang="en-US" sz="2000" dirty="0" err="1" smtClean="0">
                <a:latin typeface="Consolas" pitchFamily="49" charset="0"/>
              </a:rPr>
              <a:t>a.get_path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err="1" smtClean="0">
                <a:latin typeface="Consolas" pitchFamily="49" charset="0"/>
              </a:rPr>
              <a:t>b.get_path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smtClean="0">
                <a:latin typeface="Consolas" pitchFamily="49" charset="0"/>
              </a:rPr>
              <a:t>users = </a:t>
            </a:r>
            <a:r>
              <a:rPr lang="en-US" sz="2000" dirty="0" err="1" smtClean="0">
                <a:latin typeface="Consolas" pitchFamily="49" charset="0"/>
              </a:rPr>
              <a:t>fdb.directory.create</a:t>
            </a:r>
            <a:r>
              <a:rPr lang="en-US" sz="2000" dirty="0" smtClean="0">
                <a:latin typeface="Consolas" pitchFamily="49" charset="0"/>
              </a:rPr>
              <a:t>(db, ('users',))</a:t>
            </a:r>
          </a:p>
          <a:p>
            <a:r>
              <a:rPr lang="en-US" sz="2000" dirty="0" smtClean="0">
                <a:latin typeface="Consolas" pitchFamily="49" charset="0"/>
              </a:rPr>
              <a:t>stores = </a:t>
            </a:r>
            <a:r>
              <a:rPr lang="en-US" sz="2000" dirty="0" err="1" smtClean="0">
                <a:latin typeface="Consolas" pitchFamily="49" charset="0"/>
              </a:rPr>
              <a:t>fdb.directory.list</a:t>
            </a:r>
            <a:r>
              <a:rPr lang="en-US" sz="2000" dirty="0" smtClean="0">
                <a:latin typeface="Consolas" pitchFamily="49" charset="0"/>
              </a:rPr>
              <a:t>(db)</a:t>
            </a:r>
          </a:p>
          <a:p>
            <a:r>
              <a:rPr lang="en-US" sz="2000" dirty="0" smtClean="0">
                <a:latin typeface="Consolas" pitchFamily="49" charset="0"/>
              </a:rPr>
              <a:t>print(stores)</a:t>
            </a:r>
          </a:p>
          <a:p>
            <a:r>
              <a:rPr lang="en-US" sz="2000" dirty="0" smtClean="0"/>
              <a:t>db[users['X']] = b'10'</a:t>
            </a:r>
          </a:p>
          <a:p>
            <a:r>
              <a:rPr lang="en-US" sz="2000" dirty="0" smtClean="0"/>
              <a:t>db[users['Y']] = b'200'</a:t>
            </a:r>
          </a:p>
          <a:p>
            <a:r>
              <a:rPr lang="en-US" sz="2000" dirty="0" smtClean="0">
                <a:latin typeface="Consolas" pitchFamily="49" charset="0"/>
              </a:rPr>
              <a:t>print (db[users[</a:t>
            </a:r>
            <a:r>
              <a:rPr lang="en-US" sz="2000" dirty="0" err="1" smtClean="0">
                <a:latin typeface="Consolas" pitchFamily="49" charset="0"/>
              </a:rPr>
              <a:t>b'X</a:t>
            </a:r>
            <a:r>
              <a:rPr lang="en-US" sz="2000" dirty="0" smtClean="0">
                <a:latin typeface="Consolas" pitchFamily="49" charset="0"/>
              </a:rPr>
              <a:t>']])</a:t>
            </a:r>
          </a:p>
          <a:p>
            <a:r>
              <a:rPr lang="en-US" sz="2000" dirty="0" smtClean="0">
                <a:latin typeface="Consolas" pitchFamily="49" charset="0"/>
              </a:rPr>
              <a:t>print (db[users[</a:t>
            </a:r>
            <a:r>
              <a:rPr lang="en-US" sz="2000" dirty="0" err="1" smtClean="0">
                <a:latin typeface="Consolas" pitchFamily="49" charset="0"/>
              </a:rPr>
              <a:t>b'Y</a:t>
            </a:r>
            <a:r>
              <a:rPr lang="en-US" sz="2000" dirty="0" smtClean="0">
                <a:latin typeface="Consolas" pitchFamily="49" charset="0"/>
              </a:rPr>
              <a:t>']])</a:t>
            </a:r>
          </a:p>
          <a:p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users = </a:t>
            </a:r>
            <a:r>
              <a:rPr lang="en-US" sz="2200" dirty="0" err="1" smtClean="0">
                <a:latin typeface="Consolas" pitchFamily="49" charset="0"/>
              </a:rPr>
              <a:t>fdb.directory.open</a:t>
            </a:r>
            <a:r>
              <a:rPr lang="en-US" sz="2200" dirty="0" smtClean="0">
                <a:latin typeface="Consolas" pitchFamily="49" charset="0"/>
              </a:rPr>
              <a:t>(db, ('users',))</a:t>
            </a:r>
          </a:p>
          <a:p>
            <a:r>
              <a:rPr lang="en-US" sz="2200" dirty="0" smtClean="0">
                <a:latin typeface="Consolas" pitchFamily="49" charset="0"/>
              </a:rPr>
              <a:t>users</a:t>
            </a:r>
          </a:p>
          <a:p>
            <a:r>
              <a:rPr lang="en-US" sz="2200" dirty="0" smtClean="0">
                <a:latin typeface="Consolas" pitchFamily="49" charset="0"/>
              </a:rPr>
              <a:t># Out: </a:t>
            </a:r>
            <a:r>
              <a:rPr lang="en-US" sz="2200" dirty="0" err="1" smtClean="0">
                <a:latin typeface="Consolas" pitchFamily="49" charset="0"/>
              </a:rPr>
              <a:t>DirectorySubspace</a:t>
            </a:r>
            <a:r>
              <a:rPr lang="en-US" sz="2200" dirty="0" smtClean="0">
                <a:latin typeface="Consolas" pitchFamily="49" charset="0"/>
              </a:rPr>
              <a:t>(path=('users',), prefix=b'\x15$')</a:t>
            </a:r>
          </a:p>
          <a:p>
            <a:r>
              <a:rPr lang="en-US" sz="2200" dirty="0" smtClean="0">
                <a:latin typeface="Consolas" pitchFamily="49" charset="0"/>
              </a:rPr>
              <a:t>db[users['X']] = b'3'</a:t>
            </a:r>
          </a:p>
          <a:p>
            <a:r>
              <a:rPr lang="en-US" sz="2200" dirty="0" smtClean="0">
                <a:latin typeface="Consolas" pitchFamily="49" charset="0"/>
              </a:rPr>
              <a:t>print(db[users['X']])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Delete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stores = </a:t>
            </a:r>
            <a:r>
              <a:rPr lang="en-US" sz="2000" dirty="0" err="1" smtClean="0">
                <a:latin typeface="Consolas" pitchFamily="49" charset="0"/>
              </a:rPr>
              <a:t>fdb.directory.list</a:t>
            </a:r>
            <a:r>
              <a:rPr lang="en-US" sz="2000" dirty="0" smtClean="0">
                <a:latin typeface="Consolas" pitchFamily="49" charset="0"/>
              </a:rPr>
              <a:t>(db)</a:t>
            </a:r>
          </a:p>
          <a:p>
            <a:r>
              <a:rPr lang="en-US" sz="2000" dirty="0" smtClean="0">
                <a:latin typeface="Consolas" pitchFamily="49" charset="0"/>
              </a:rPr>
              <a:t>print(stores)</a:t>
            </a:r>
          </a:p>
          <a:p>
            <a:r>
              <a:rPr lang="en-US" sz="2000" dirty="0" err="1" smtClean="0">
                <a:latin typeface="Consolas" pitchFamily="49" charset="0"/>
              </a:rPr>
              <a:t>fdb.directory.remove_if_exists</a:t>
            </a:r>
            <a:r>
              <a:rPr lang="en-US" sz="2000" dirty="0" smtClean="0">
                <a:latin typeface="Consolas" pitchFamily="49" charset="0"/>
              </a:rPr>
              <a:t>(db, ('</a:t>
            </a:r>
            <a:r>
              <a:rPr lang="en-US" sz="2000" dirty="0" err="1" smtClean="0">
                <a:latin typeface="Consolas" pitchFamily="49" charset="0"/>
              </a:rPr>
              <a:t>bankaccounts</a:t>
            </a:r>
            <a:r>
              <a:rPr lang="en-US" sz="2000" dirty="0" smtClean="0">
                <a:latin typeface="Consolas" pitchFamily="49" charset="0"/>
              </a:rPr>
              <a:t>'))</a:t>
            </a:r>
          </a:p>
          <a:p>
            <a:r>
              <a:rPr lang="en-US" sz="2000" dirty="0" smtClean="0">
                <a:latin typeface="Consolas" pitchFamily="49" charset="0"/>
              </a:rPr>
              <a:t>print(stores)</a:t>
            </a:r>
          </a:p>
          <a:p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FoundationDB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Check versions on </a:t>
            </a:r>
            <a:r>
              <a:rPr lang="en-US" sz="2000" dirty="0" smtClean="0">
                <a:latin typeface="Consolas" pitchFamily="49" charset="0"/>
                <a:hlinkClick r:id="rId2"/>
              </a:rPr>
              <a:t>https://github.com/apple/foundationdb/releases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curl -L -o FoundationDB-7.3.63_arm64.pkg </a:t>
            </a:r>
            <a:r>
              <a:rPr lang="en-US" sz="2000" dirty="0" smtClean="0">
                <a:latin typeface="Consolas" pitchFamily="49" charset="0"/>
                <a:hlinkClick r:id="rId3"/>
              </a:rPr>
              <a:t>https://github.com/apple/foundationdb/releases/download/7.3.63/FoundationDB-7.3.63_arm64.pkg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installer -</a:t>
            </a:r>
            <a:r>
              <a:rPr lang="en-US" sz="2000" dirty="0" err="1" smtClean="0">
                <a:latin typeface="Consolas" pitchFamily="49" charset="0"/>
              </a:rPr>
              <a:t>pkg</a:t>
            </a:r>
            <a:r>
              <a:rPr lang="en-US" sz="2000" dirty="0" smtClean="0">
                <a:latin typeface="Consolas" pitchFamily="49" charset="0"/>
              </a:rPr>
              <a:t> FoundationDB-7.3.63_arm64.pkg -target 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0338" y="4495800"/>
            <a:ext cx="6283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Manage </a:t>
            </a:r>
            <a:r>
              <a:rPr lang="en-US" dirty="0" err="1" smtClean="0"/>
              <a:t>FoundationDB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  <a:hlinkClick r:id="rId2"/>
              </a:rPr>
              <a:t>https://apple.github.io/foundationdb/getting-started-mac.html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ls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/local/etc/</a:t>
            </a:r>
            <a:r>
              <a:rPr lang="en-US" sz="1800" dirty="0" err="1" smtClean="0">
                <a:latin typeface="Consolas" pitchFamily="49" charset="0"/>
              </a:rPr>
              <a:t>foundationdb</a:t>
            </a:r>
            <a:r>
              <a:rPr lang="en-US" sz="1800" dirty="0" smtClean="0">
                <a:latin typeface="Consolas" pitchFamily="49" charset="0"/>
              </a:rPr>
              <a:t>/</a:t>
            </a:r>
          </a:p>
          <a:p>
            <a:r>
              <a:rPr lang="en-US" sz="1800" dirty="0" smtClean="0">
                <a:latin typeface="Consolas" pitchFamily="49" charset="0"/>
              </a:rPr>
              <a:t>cat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/local/etc/</a:t>
            </a:r>
            <a:r>
              <a:rPr lang="en-US" sz="1800" dirty="0" err="1" smtClean="0">
                <a:latin typeface="Consolas" pitchFamily="49" charset="0"/>
              </a:rPr>
              <a:t>foundationdb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fdb.cluster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launchctl</a:t>
            </a:r>
            <a:r>
              <a:rPr lang="en-US" sz="1800" dirty="0" smtClean="0">
                <a:latin typeface="Consolas" pitchFamily="49" charset="0"/>
              </a:rPr>
              <a:t> unload /Library/</a:t>
            </a:r>
            <a:r>
              <a:rPr lang="en-US" sz="1800" dirty="0" err="1" smtClean="0">
                <a:latin typeface="Consolas" pitchFamily="49" charset="0"/>
              </a:rPr>
              <a:t>LaunchDaemons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com.foundationdb.fdbmonitor.plist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launchctl</a:t>
            </a:r>
            <a:r>
              <a:rPr lang="en-US" sz="1800" dirty="0" smtClean="0">
                <a:latin typeface="Consolas" pitchFamily="49" charset="0"/>
              </a:rPr>
              <a:t> load /Library/</a:t>
            </a:r>
            <a:r>
              <a:rPr lang="en-US" sz="1800" dirty="0" err="1" smtClean="0">
                <a:latin typeface="Consolas" pitchFamily="49" charset="0"/>
              </a:rPr>
              <a:t>LaunchDaemons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com.foundationdb.fdbmonitor.plist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b="1" dirty="0" err="1" smtClean="0">
                <a:latin typeface="Consolas" pitchFamily="49" charset="0"/>
              </a:rPr>
              <a:t>fdbcli</a:t>
            </a:r>
            <a:r>
              <a:rPr lang="en-US" sz="1800" b="1" dirty="0" smtClean="0">
                <a:latin typeface="Consolas" pitchFamily="49" charset="0"/>
              </a:rPr>
              <a:t> --exec status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https://medium.com/@yuriymomotenko/setting-up-a-scalable-foundationdb-cluster-a-step-by-step-guide-6f84f4182c63</a:t>
            </a:r>
            <a:endParaRPr lang="en-US" sz="2400" dirty="0" smtClean="0"/>
          </a:p>
          <a:p>
            <a:r>
              <a:rPr lang="en-US" sz="2400" dirty="0" err="1" smtClean="0"/>
              <a:t>FoundationDB</a:t>
            </a:r>
            <a:r>
              <a:rPr lang="en-US" sz="2400" dirty="0" smtClean="0"/>
              <a:t> operates by running </a:t>
            </a:r>
            <a:r>
              <a:rPr lang="en-US" sz="2400" i="1" dirty="0" smtClean="0">
                <a:solidFill>
                  <a:srgbClr val="C00000"/>
                </a:solidFill>
              </a:rPr>
              <a:t>processes</a:t>
            </a:r>
            <a:r>
              <a:rPr lang="en-US" sz="2400" dirty="0" smtClean="0"/>
              <a:t> with different </a:t>
            </a:r>
            <a:r>
              <a:rPr lang="en-US" sz="2400" i="1" dirty="0" smtClean="0">
                <a:solidFill>
                  <a:srgbClr val="C00000"/>
                </a:solidFill>
              </a:rPr>
              <a:t>roles</a:t>
            </a:r>
            <a:r>
              <a:rPr lang="en-US" sz="2400" dirty="0" smtClean="0"/>
              <a:t>: storage, transaction, and stateless.</a:t>
            </a:r>
          </a:p>
          <a:p>
            <a:r>
              <a:rPr lang="en-US" sz="2400" dirty="0" smtClean="0"/>
              <a:t>A single process can have multiple roles.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cluster</a:t>
            </a:r>
            <a:r>
              <a:rPr lang="en-US" sz="2400" dirty="0" smtClean="0"/>
              <a:t> is a multiple physical server running </a:t>
            </a:r>
            <a:r>
              <a:rPr lang="en-US" sz="2400" dirty="0" err="1" smtClean="0"/>
              <a:t>FoundationDB</a:t>
            </a:r>
            <a:r>
              <a:rPr lang="en-US" sz="2400" dirty="0" smtClean="0"/>
              <a:t> processes for one big database.</a:t>
            </a:r>
          </a:p>
          <a:p>
            <a:r>
              <a:rPr lang="en-US" sz="2400" dirty="0" smtClean="0"/>
              <a:t>When building a cluster, the amount of total transactions and stateless processes are counted among all of the servers in the cluster.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Expose Database on Machine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+mj-lt"/>
                <a:hlinkClick r:id="rId2"/>
              </a:rPr>
              <a:t>https://apple.github.io/foundationdb/building-cluster.html</a:t>
            </a:r>
            <a:endParaRPr lang="en-US" sz="1800" dirty="0" smtClean="0">
              <a:latin typeface="+mj-lt"/>
            </a:endParaRPr>
          </a:p>
          <a:p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python3 /</a:t>
            </a:r>
            <a:r>
              <a:rPr lang="en-US" sz="1800" b="1" dirty="0" err="1" smtClean="0">
                <a:latin typeface="Consolas" pitchFamily="49" charset="0"/>
              </a:rPr>
              <a:t>usr</a:t>
            </a:r>
            <a:r>
              <a:rPr lang="en-US" sz="1800" b="1" dirty="0" smtClean="0">
                <a:latin typeface="Consolas" pitchFamily="49" charset="0"/>
              </a:rPr>
              <a:t>/lib/</a:t>
            </a:r>
            <a:r>
              <a:rPr lang="en-US" sz="1800" b="1" dirty="0" err="1" smtClean="0">
                <a:latin typeface="Consolas" pitchFamily="49" charset="0"/>
              </a:rPr>
              <a:t>foundationdb</a:t>
            </a:r>
            <a:r>
              <a:rPr lang="en-US" sz="1800" b="1" dirty="0" smtClean="0">
                <a:latin typeface="Consolas" pitchFamily="49" charset="0"/>
              </a:rPr>
              <a:t>/make_public.py</a:t>
            </a:r>
          </a:p>
          <a:p>
            <a:r>
              <a:rPr lang="en-US" sz="1800" dirty="0" smtClean="0"/>
              <a:t>By default, the script will pick a local network interface that can access the internet.</a:t>
            </a:r>
          </a:p>
          <a:p>
            <a:r>
              <a:rPr lang="en-US" sz="1800" dirty="0" smtClean="0"/>
              <a:t>To specify the address manually, use the -a flag and choose an address that is accessible by all machines in the cluster as well as by all intended clients.</a:t>
            </a:r>
          </a:p>
          <a:p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python3 /</a:t>
            </a:r>
            <a:r>
              <a:rPr lang="en-US" sz="1800" b="1" dirty="0" err="1" smtClean="0">
                <a:latin typeface="Consolas" pitchFamily="49" charset="0"/>
              </a:rPr>
              <a:t>usr</a:t>
            </a:r>
            <a:r>
              <a:rPr lang="en-US" sz="1800" b="1" dirty="0" smtClean="0">
                <a:latin typeface="Consolas" pitchFamily="49" charset="0"/>
              </a:rPr>
              <a:t>/lib/</a:t>
            </a:r>
            <a:r>
              <a:rPr lang="en-US" sz="1800" b="1" dirty="0" err="1" smtClean="0">
                <a:latin typeface="Consolas" pitchFamily="49" charset="0"/>
              </a:rPr>
              <a:t>foundationdb</a:t>
            </a:r>
            <a:r>
              <a:rPr lang="en-US" sz="1800" b="1" dirty="0" smtClean="0">
                <a:latin typeface="Consolas" pitchFamily="49" charset="0"/>
              </a:rPr>
              <a:t>/make_public.py -a </a:t>
            </a:r>
            <a:r>
              <a:rPr lang="en-US" sz="1800" b="1" i="1" dirty="0" smtClean="0">
                <a:solidFill>
                  <a:srgbClr val="C00000"/>
                </a:solidFill>
                <a:latin typeface="Consolas" pitchFamily="49" charset="0"/>
              </a:rPr>
              <a:t>10.0.1.1</a:t>
            </a:r>
          </a:p>
          <a:p>
            <a:r>
              <a:rPr lang="en-US" sz="1800" b="1" dirty="0" smtClean="0">
                <a:latin typeface="Consolas" pitchFamily="49" charset="0"/>
              </a:rPr>
              <a:t>cat /etc/</a:t>
            </a:r>
            <a:r>
              <a:rPr lang="en-US" sz="1800" b="1" dirty="0" err="1" smtClean="0">
                <a:latin typeface="Consolas" pitchFamily="49" charset="0"/>
              </a:rPr>
              <a:t>foundationdb</a:t>
            </a:r>
            <a:r>
              <a:rPr lang="en-US" sz="1800" b="1" dirty="0" smtClean="0">
                <a:latin typeface="Consolas" pitchFamily="49" charset="0"/>
              </a:rPr>
              <a:t>/</a:t>
            </a:r>
            <a:r>
              <a:rPr lang="en-US" sz="1800" b="1" dirty="0" err="1" smtClean="0">
                <a:latin typeface="Consolas" pitchFamily="49" charset="0"/>
              </a:rPr>
              <a:t>fdb.cluster</a:t>
            </a:r>
            <a:endParaRPr lang="en-US" sz="1800" b="1" dirty="0" smtClean="0">
              <a:latin typeface="Consolas" pitchFamily="49" charset="0"/>
            </a:endParaRPr>
          </a:p>
          <a:p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reboot</a:t>
            </a:r>
          </a:p>
          <a:p>
            <a:r>
              <a:rPr lang="en-US" sz="1800" b="1" dirty="0" smtClean="0">
                <a:solidFill>
                  <a:srgbClr val="C00000"/>
                </a:solidFill>
              </a:rPr>
              <a:t>FDB is overall not good with NAT rewriting IPs.</a:t>
            </a:r>
            <a:endParaRPr lang="en-US" sz="1800" b="1" dirty="0">
              <a:solidFill>
                <a:srgbClr val="C00000"/>
              </a:solidFill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1338" y="5067300"/>
            <a:ext cx="55213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Install </a:t>
            </a:r>
            <a:r>
              <a:rPr lang="en-US" sz="4000" dirty="0" err="1" smtClean="0"/>
              <a:t>FoundationDB</a:t>
            </a:r>
            <a:r>
              <a:rPr lang="en-US" sz="4000" dirty="0" smtClean="0"/>
              <a:t> on Machine 2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Check versions on </a:t>
            </a:r>
            <a:r>
              <a:rPr lang="en-US" sz="2000" dirty="0" smtClean="0">
                <a:hlinkClick r:id="rId2"/>
              </a:rPr>
              <a:t>https://github.com/apple/foundationdb/releases</a:t>
            </a:r>
            <a:endParaRPr lang="en-US" sz="2000" dirty="0" smtClean="0"/>
          </a:p>
          <a:p>
            <a:r>
              <a:rPr lang="en-US" sz="2000" dirty="0" err="1" smtClean="0">
                <a:latin typeface="Consolas" pitchFamily="49" charset="0"/>
              </a:rPr>
              <a:t>wget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3"/>
              </a:rPr>
              <a:t>https://github.com/apple/foundationdb/releases/download/7.3.63/foundationdb-clients_7.3.63-1_amd64.deb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wget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4"/>
              </a:rPr>
              <a:t>https://github.com/apple/foundationdb/releases/download/7.3.63/foundationdb-server_7.3.63-1_amd64.deb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dpkg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 foundationdb-clients_7.3.63-1_amd64.deb foundationdb-server_7.3.63-1_amd64.deb</a:t>
            </a:r>
          </a:p>
          <a:p>
            <a:r>
              <a:rPr lang="en-US" sz="2000" dirty="0" err="1" smtClean="0">
                <a:latin typeface="Consolas" pitchFamily="49" charset="0"/>
              </a:rPr>
              <a:t>fdbcli</a:t>
            </a:r>
            <a:r>
              <a:rPr lang="en-US" sz="2000" dirty="0" smtClean="0">
                <a:latin typeface="Consolas" pitchFamily="49" charset="0"/>
              </a:rPr>
              <a:t> --exec status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reboot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Replicate </a:t>
            </a:r>
            <a:r>
              <a:rPr lang="en-US" dirty="0" err="1" smtClean="0">
                <a:latin typeface="Consolas" pitchFamily="49" charset="0"/>
              </a:rPr>
              <a:t>fdb.cluster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On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Ubuntu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 1:</a:t>
            </a:r>
          </a:p>
          <a:p>
            <a:r>
              <a:rPr lang="en-US" sz="2000" dirty="0" smtClean="0">
                <a:latin typeface="Consolas" pitchFamily="49" charset="0"/>
              </a:rPr>
              <a:t>cat /etc/</a:t>
            </a:r>
            <a:r>
              <a:rPr lang="en-US" sz="2000" dirty="0" err="1" smtClean="0">
                <a:latin typeface="Consolas" pitchFamily="49" charset="0"/>
              </a:rPr>
              <a:t>foundationdb</a:t>
            </a:r>
            <a:r>
              <a:rPr lang="en-US" sz="2000" dirty="0" smtClean="0">
                <a:latin typeface="Consolas" pitchFamily="49" charset="0"/>
              </a:rPr>
              <a:t>/</a:t>
            </a:r>
            <a:r>
              <a:rPr lang="en-US" sz="2000" dirty="0" err="1" smtClean="0">
                <a:latin typeface="Consolas" pitchFamily="49" charset="0"/>
              </a:rPr>
              <a:t>fdb.cluster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On </a:t>
            </a:r>
            <a:r>
              <a:rPr lang="en-US" sz="2000" b="1" smtClean="0">
                <a:solidFill>
                  <a:srgbClr val="C00000"/>
                </a:solidFill>
                <a:latin typeface="Consolas" pitchFamily="49" charset="0"/>
              </a:rPr>
              <a:t>Windows (under Admin):</a:t>
            </a:r>
            <a:endParaRPr lang="en-US" sz="20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scp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 C:/Users/admin/Downloads/private_key.pem ubuntu@13.88.45.59:/etc/</a:t>
            </a:r>
            <a:r>
              <a:rPr lang="en-US" sz="2000" dirty="0" err="1" smtClean="0">
                <a:latin typeface="Consolas" pitchFamily="49" charset="0"/>
              </a:rPr>
              <a:t>foundationdb</a:t>
            </a:r>
            <a:r>
              <a:rPr lang="en-US" sz="2000" dirty="0" smtClean="0">
                <a:latin typeface="Consolas" pitchFamily="49" charset="0"/>
              </a:rPr>
              <a:t>/</a:t>
            </a:r>
            <a:r>
              <a:rPr lang="en-US" sz="2000" dirty="0" err="1" smtClean="0">
                <a:latin typeface="Consolas" pitchFamily="49" charset="0"/>
              </a:rPr>
              <a:t>fdb.cluster</a:t>
            </a:r>
            <a:r>
              <a:rPr lang="en-US" sz="2000" dirty="0" smtClean="0">
                <a:latin typeface="Consolas" pitchFamily="49" charset="0"/>
              </a:rPr>
              <a:t> C:/Users/admin/Downloads</a:t>
            </a:r>
          </a:p>
          <a:p>
            <a:r>
              <a:rPr lang="en-US" sz="2000" dirty="0" err="1" smtClean="0">
                <a:latin typeface="Consolas" pitchFamily="49" charset="0"/>
              </a:rPr>
              <a:t>scp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i</a:t>
            </a:r>
            <a:r>
              <a:rPr lang="en-US" sz="2000" dirty="0" smtClean="0">
                <a:latin typeface="Consolas" pitchFamily="49" charset="0"/>
              </a:rPr>
              <a:t> C:/Users/admin/Downloads/private_key.pem C:/Users/admin/Downloads/fdb.cluster ubuntu@40.83.166.123:/home/</a:t>
            </a:r>
            <a:r>
              <a:rPr lang="en-US" sz="2000" dirty="0" err="1" smtClean="0">
                <a:latin typeface="Consolas" pitchFamily="49" charset="0"/>
              </a:rPr>
              <a:t>ubuntu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On 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</a:rPr>
              <a:t>Ubuntu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 2: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cp </a:t>
            </a:r>
            <a:r>
              <a:rPr lang="en-US" sz="2000" dirty="0" err="1" smtClean="0">
                <a:latin typeface="Consolas" pitchFamily="49" charset="0"/>
              </a:rPr>
              <a:t>fdb.cluster</a:t>
            </a:r>
            <a:r>
              <a:rPr lang="en-US" sz="2000" dirty="0" smtClean="0">
                <a:latin typeface="Consolas" pitchFamily="49" charset="0"/>
              </a:rPr>
              <a:t> /etc/</a:t>
            </a:r>
            <a:r>
              <a:rPr lang="en-US" sz="2000" dirty="0" err="1" smtClean="0">
                <a:latin typeface="Consolas" pitchFamily="49" charset="0"/>
              </a:rPr>
              <a:t>foundationdb</a:t>
            </a:r>
            <a:r>
              <a:rPr lang="en-US" sz="2000" dirty="0" smtClean="0">
                <a:latin typeface="Consolas" pitchFamily="49" charset="0"/>
              </a:rPr>
              <a:t>/</a:t>
            </a:r>
          </a:p>
          <a:p>
            <a:r>
              <a:rPr lang="en-US" sz="2000" b="1" dirty="0" err="1" smtClean="0">
                <a:latin typeface="Consolas" pitchFamily="49" charset="0"/>
              </a:rPr>
              <a:t>rm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err="1" smtClean="0">
                <a:latin typeface="Consolas" pitchFamily="49" charset="0"/>
              </a:rPr>
              <a:t>fdb.cluster</a:t>
            </a:r>
            <a:endParaRPr lang="en-US" sz="2000" b="1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Replicate </a:t>
            </a:r>
            <a:r>
              <a:rPr lang="en-US" dirty="0" err="1" smtClean="0">
                <a:latin typeface="Consolas" pitchFamily="49" charset="0"/>
              </a:rPr>
              <a:t>foundationdb.conf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On </a:t>
            </a:r>
            <a:r>
              <a:rPr lang="en-US" sz="1800" b="1" dirty="0" err="1" smtClean="0">
                <a:solidFill>
                  <a:srgbClr val="C00000"/>
                </a:solidFill>
                <a:latin typeface="Consolas" pitchFamily="49" charset="0"/>
              </a:rPr>
              <a:t>Ubuntu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 1:</a:t>
            </a:r>
          </a:p>
          <a:p>
            <a:r>
              <a:rPr lang="en-US" sz="1800" dirty="0" smtClean="0">
                <a:latin typeface="Consolas" pitchFamily="49" charset="0"/>
              </a:rPr>
              <a:t>cat /etc/</a:t>
            </a:r>
            <a:r>
              <a:rPr lang="en-US" sz="1800" dirty="0" err="1" smtClean="0">
                <a:latin typeface="Consolas" pitchFamily="49" charset="0"/>
              </a:rPr>
              <a:t>foundationdb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foundationdb.conf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On Windows:</a:t>
            </a:r>
          </a:p>
          <a:p>
            <a:r>
              <a:rPr lang="en-US" sz="1800" dirty="0" err="1" smtClean="0">
                <a:latin typeface="Consolas" pitchFamily="49" charset="0"/>
              </a:rPr>
              <a:t>scp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i</a:t>
            </a:r>
            <a:r>
              <a:rPr lang="en-US" sz="1800" dirty="0" smtClean="0">
                <a:latin typeface="Consolas" pitchFamily="49" charset="0"/>
              </a:rPr>
              <a:t> C:/Users/admin/Downloads/private_key.pem ubuntu@13.88.45.59:/etc/</a:t>
            </a:r>
            <a:r>
              <a:rPr lang="en-US" sz="1800" dirty="0" err="1" smtClean="0">
                <a:latin typeface="Consolas" pitchFamily="49" charset="0"/>
              </a:rPr>
              <a:t>foundationdb</a:t>
            </a:r>
            <a:r>
              <a:rPr lang="en-US" sz="1800" dirty="0" smtClean="0">
                <a:latin typeface="Consolas" pitchFamily="49" charset="0"/>
              </a:rPr>
              <a:t>/</a:t>
            </a:r>
            <a:r>
              <a:rPr lang="en-US" sz="1800" dirty="0" err="1" smtClean="0">
                <a:latin typeface="Consolas" pitchFamily="49" charset="0"/>
              </a:rPr>
              <a:t>foundationdb.conf</a:t>
            </a:r>
            <a:r>
              <a:rPr lang="en-US" sz="1800" dirty="0" smtClean="0">
                <a:latin typeface="Consolas" pitchFamily="49" charset="0"/>
              </a:rPr>
              <a:t> C:/Users/admin/Downloads</a:t>
            </a:r>
          </a:p>
          <a:p>
            <a:r>
              <a:rPr lang="en-US" sz="1800" dirty="0" err="1" smtClean="0">
                <a:latin typeface="Consolas" pitchFamily="49" charset="0"/>
              </a:rPr>
              <a:t>scp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i</a:t>
            </a:r>
            <a:r>
              <a:rPr lang="en-US" sz="1800" dirty="0" smtClean="0">
                <a:latin typeface="Consolas" pitchFamily="49" charset="0"/>
              </a:rPr>
              <a:t> C:/Users/admin/Downloads/private_key.pem C:/Users/admin/Downloads/foundationdb.conf ubuntu@40.83.166.123:/home/</a:t>
            </a:r>
            <a:r>
              <a:rPr lang="en-US" sz="1800" dirty="0" err="1" smtClean="0">
                <a:latin typeface="Consolas" pitchFamily="49" charset="0"/>
              </a:rPr>
              <a:t>ubuntu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On </a:t>
            </a:r>
            <a:r>
              <a:rPr lang="en-US" sz="1800" b="1" dirty="0" err="1" smtClean="0">
                <a:solidFill>
                  <a:srgbClr val="C00000"/>
                </a:solidFill>
                <a:latin typeface="Consolas" pitchFamily="49" charset="0"/>
              </a:rPr>
              <a:t>Ubuntu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 2: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cp </a:t>
            </a:r>
            <a:r>
              <a:rPr lang="en-US" sz="1800" dirty="0" err="1" smtClean="0">
                <a:latin typeface="Consolas" pitchFamily="49" charset="0"/>
              </a:rPr>
              <a:t>foundationdb.conf</a:t>
            </a:r>
            <a:r>
              <a:rPr lang="en-US" sz="1800" dirty="0" smtClean="0">
                <a:latin typeface="Consolas" pitchFamily="49" charset="0"/>
              </a:rPr>
              <a:t> /etc/</a:t>
            </a:r>
            <a:r>
              <a:rPr lang="en-US" sz="1800" dirty="0" err="1" smtClean="0">
                <a:latin typeface="Consolas" pitchFamily="49" charset="0"/>
              </a:rPr>
              <a:t>foundationdb</a:t>
            </a:r>
            <a:r>
              <a:rPr lang="en-US" sz="1800" dirty="0" smtClean="0">
                <a:latin typeface="Consolas" pitchFamily="49" charset="0"/>
              </a:rPr>
              <a:t>/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service </a:t>
            </a:r>
            <a:r>
              <a:rPr lang="en-US" sz="1800" dirty="0" err="1" smtClean="0">
                <a:latin typeface="Consolas" pitchFamily="49" charset="0"/>
              </a:rPr>
              <a:t>foundationdb</a:t>
            </a:r>
            <a:r>
              <a:rPr lang="en-US" sz="1800" dirty="0" smtClean="0">
                <a:latin typeface="Consolas" pitchFamily="49" charset="0"/>
              </a:rPr>
              <a:t> restart</a:t>
            </a:r>
          </a:p>
          <a:p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foundationdb.conf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reboot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Open 4500 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latin typeface="Consolas" pitchFamily="49" charset="0"/>
              </a:rPr>
              <a:t>fdbcli</a:t>
            </a:r>
            <a:r>
              <a:rPr lang="en-US" b="1" dirty="0" smtClean="0">
                <a:latin typeface="Consolas" pitchFamily="49" charset="0"/>
              </a:rPr>
              <a:t> --exec status</a:t>
            </a:r>
          </a:p>
          <a:p>
            <a:r>
              <a:rPr lang="en-US" dirty="0" err="1" smtClean="0">
                <a:latin typeface="Consolas" pitchFamily="49" charset="0"/>
              </a:rPr>
              <a:t>sudo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ufw</a:t>
            </a:r>
            <a:r>
              <a:rPr lang="en-US" dirty="0" smtClean="0">
                <a:latin typeface="Consolas" pitchFamily="49" charset="0"/>
              </a:rPr>
              <a:t> status</a:t>
            </a:r>
          </a:p>
          <a:p>
            <a:r>
              <a:rPr lang="en-US" dirty="0" err="1" smtClean="0">
                <a:latin typeface="Consolas" pitchFamily="49" charset="0"/>
              </a:rPr>
              <a:t>sudo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ufw</a:t>
            </a:r>
            <a:r>
              <a:rPr lang="en-US" dirty="0" smtClean="0">
                <a:latin typeface="Consolas" pitchFamily="49" charset="0"/>
              </a:rPr>
              <a:t> disable</a:t>
            </a:r>
          </a:p>
          <a:p>
            <a:r>
              <a:rPr lang="en-US" dirty="0" err="1" smtClean="0"/>
              <a:t>sudo</a:t>
            </a:r>
            <a:r>
              <a:rPr lang="en-US" dirty="0" smtClean="0"/>
              <a:t> service </a:t>
            </a:r>
            <a:r>
              <a:rPr lang="en-US" dirty="0" err="1" smtClean="0"/>
              <a:t>foundationdb</a:t>
            </a:r>
            <a:r>
              <a:rPr lang="en-US" dirty="0" smtClean="0"/>
              <a:t> status</a:t>
            </a:r>
          </a:p>
          <a:p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systemctl</a:t>
            </a:r>
            <a:r>
              <a:rPr lang="en-US" dirty="0" smtClean="0"/>
              <a:t> enable </a:t>
            </a:r>
            <a:r>
              <a:rPr lang="en-US" smtClean="0"/>
              <a:t>foundationdb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Change redundancy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https://apple.github.io/foundationdb/configuration.html#configuration-choosing-redundancy-mode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/>
              <a:t>single mode</a:t>
            </a:r>
            <a:r>
              <a:rPr lang="en-US" sz="2400" i="1" dirty="0" smtClean="0"/>
              <a:t>(best for 1-2 machines)</a:t>
            </a:r>
            <a:endParaRPr lang="en-US" sz="2400" dirty="0" smtClean="0"/>
          </a:p>
          <a:p>
            <a:r>
              <a:rPr lang="en-US" sz="2400" dirty="0" err="1" smtClean="0"/>
              <a:t>FoundationDB</a:t>
            </a:r>
            <a:r>
              <a:rPr lang="en-US" sz="2400" dirty="0" smtClean="0"/>
              <a:t> does not replicate data and needs only one physical machine to make progress. Because data is not replicated, the database is not fault-tolerant. This mode is recommended for testing on a single development machine. (single mode </a:t>
            </a:r>
            <a:r>
              <a:rPr lang="en-US" sz="2400" i="1" dirty="0" smtClean="0"/>
              <a:t>will</a:t>
            </a:r>
            <a:r>
              <a:rPr lang="en-US" sz="2400" dirty="0" smtClean="0"/>
              <a:t> work with clusters of two or more computers and </a:t>
            </a:r>
            <a:r>
              <a:rPr lang="en-US" sz="2400" b="1" dirty="0" smtClean="0"/>
              <a:t>will partition data</a:t>
            </a:r>
            <a:r>
              <a:rPr lang="en-US" sz="2400" dirty="0" smtClean="0"/>
              <a:t> for increased performance but the cluster will not tolerate the loss of any machines.)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Change storage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https://apple.github.io/foundationdb/configuration.html#configuration-storage-engine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/>
              <a:t>A storage engine is the part of the database that is responsible for storing data to disk.</a:t>
            </a:r>
          </a:p>
          <a:p>
            <a:r>
              <a:rPr lang="en-US" sz="2400" dirty="0" err="1" smtClean="0"/>
              <a:t>FoundationDB</a:t>
            </a:r>
            <a:r>
              <a:rPr lang="en-US" sz="2400" dirty="0" smtClean="0"/>
              <a:t> has two storage engines options, </a:t>
            </a:r>
            <a:r>
              <a:rPr lang="en-US" sz="2400" dirty="0" err="1" smtClean="0"/>
              <a:t>ssd</a:t>
            </a:r>
            <a:r>
              <a:rPr lang="en-US" sz="2400" dirty="0" smtClean="0"/>
              <a:t> and memory.</a:t>
            </a:r>
          </a:p>
          <a:p>
            <a:r>
              <a:rPr lang="en-US" sz="2400" b="1" dirty="0" err="1" smtClean="0">
                <a:latin typeface="Consolas" pitchFamily="49" charset="0"/>
              </a:rPr>
              <a:t>fdbcli</a:t>
            </a:r>
            <a:endParaRPr lang="en-US" sz="2400" b="1" dirty="0" smtClean="0">
              <a:latin typeface="Consolas" pitchFamily="49" charset="0"/>
            </a:endParaRPr>
          </a:p>
          <a:p>
            <a:pPr lvl="1"/>
            <a:r>
              <a:rPr lang="en-US" sz="2000" b="1" dirty="0" smtClean="0">
                <a:latin typeface="Consolas" pitchFamily="49" charset="0"/>
              </a:rPr>
              <a:t>configure </a:t>
            </a:r>
            <a:r>
              <a:rPr lang="en-US" sz="2000" b="1" dirty="0" err="1" smtClean="0">
                <a:latin typeface="Consolas" pitchFamily="49" charset="0"/>
              </a:rPr>
              <a:t>storage_migration_type</a:t>
            </a:r>
            <a:r>
              <a:rPr lang="en-US" sz="2000" b="1" dirty="0" smtClean="0">
                <a:latin typeface="Consolas" pitchFamily="49" charset="0"/>
              </a:rPr>
              <a:t>=aggressive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configure </a:t>
            </a:r>
            <a:r>
              <a:rPr lang="en-US" sz="2000" b="1" dirty="0" err="1" smtClean="0">
                <a:latin typeface="Consolas" pitchFamily="49" charset="0"/>
              </a:rPr>
              <a:t>ssd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fdbcli</a:t>
            </a:r>
            <a:r>
              <a:rPr lang="en-US" sz="2400" dirty="0" smtClean="0">
                <a:latin typeface="Consolas" pitchFamily="49" charset="0"/>
              </a:rPr>
              <a:t> --exec status</a:t>
            </a:r>
          </a:p>
          <a:p>
            <a:pPr lvl="1"/>
            <a:endParaRPr lang="en-US" sz="2000" b="1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Install </a:t>
            </a:r>
            <a:r>
              <a:rPr lang="en-US" dirty="0" err="1" smtClean="0"/>
              <a:t>foundationdb</a:t>
            </a:r>
            <a:r>
              <a:rPr lang="en-US" dirty="0" smtClean="0"/>
              <a:t> for python3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install python3.12-venv</a:t>
            </a:r>
          </a:p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fdb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fdb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python3 -m </a:t>
            </a:r>
            <a:r>
              <a:rPr lang="en-US" sz="2000" dirty="0" err="1" smtClean="0">
                <a:latin typeface="Consolas" pitchFamily="49" charset="0"/>
              </a:rPr>
              <a:t>venv</a:t>
            </a:r>
            <a:r>
              <a:rPr lang="en-US" sz="2000" dirty="0" smtClean="0">
                <a:latin typeface="Consolas" pitchFamily="49" charset="0"/>
              </a:rPr>
              <a:t> .</a:t>
            </a:r>
            <a:r>
              <a:rPr lang="en-US" sz="2000" dirty="0" err="1" smtClean="0">
                <a:latin typeface="Consolas" pitchFamily="49" charset="0"/>
              </a:rPr>
              <a:t>venv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source .</a:t>
            </a:r>
            <a:r>
              <a:rPr lang="en-US" sz="2000" dirty="0" err="1" smtClean="0">
                <a:latin typeface="Consolas" pitchFamily="49" charset="0"/>
              </a:rPr>
              <a:t>venv</a:t>
            </a:r>
            <a:r>
              <a:rPr lang="en-US" sz="2000" dirty="0" smtClean="0">
                <a:latin typeface="Consolas" pitchFamily="49" charset="0"/>
              </a:rPr>
              <a:t>/bin/activate</a:t>
            </a:r>
          </a:p>
          <a:p>
            <a:r>
              <a:rPr lang="en-US" sz="2000" dirty="0" smtClean="0">
                <a:latin typeface="Consolas" pitchFamily="49" charset="0"/>
              </a:rPr>
              <a:t>pip install </a:t>
            </a:r>
            <a:r>
              <a:rPr lang="en-US" sz="2000" dirty="0" err="1" smtClean="0">
                <a:latin typeface="Consolas" pitchFamily="49" charset="0"/>
              </a:rPr>
              <a:t>foundationdb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python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Call Remote </a:t>
            </a:r>
            <a:r>
              <a:rPr lang="en-US" dirty="0" err="1" smtClean="0"/>
              <a:t>FoundationDB</a:t>
            </a:r>
            <a:r>
              <a:rPr lang="en-US" dirty="0" smtClean="0"/>
              <a:t>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import </a:t>
            </a:r>
            <a:r>
              <a:rPr lang="en-US" sz="2000" dirty="0" err="1" smtClean="0">
                <a:latin typeface="Consolas" pitchFamily="49" charset="0"/>
              </a:rPr>
              <a:t>fdb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fdb.api_version</a:t>
            </a:r>
            <a:r>
              <a:rPr lang="en-US" sz="2000" dirty="0" smtClean="0">
                <a:latin typeface="Consolas" pitchFamily="49" charset="0"/>
              </a:rPr>
              <a:t>(730)</a:t>
            </a:r>
          </a:p>
          <a:p>
            <a:r>
              <a:rPr lang="en-US" sz="2000" dirty="0" smtClean="0">
                <a:latin typeface="Consolas" pitchFamily="49" charset="0"/>
              </a:rPr>
              <a:t>db = </a:t>
            </a:r>
            <a:r>
              <a:rPr lang="en-US" sz="2000" dirty="0" err="1" smtClean="0">
                <a:latin typeface="Consolas" pitchFamily="49" charset="0"/>
              </a:rPr>
              <a:t>fdb.open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r>
              <a:rPr lang="en-US" sz="2000" dirty="0" smtClean="0">
                <a:latin typeface="Consolas" pitchFamily="49" charset="0"/>
              </a:rPr>
              <a:t>print(db[users['X']])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Remove </a:t>
            </a:r>
            <a:r>
              <a:rPr lang="en-US" sz="4200" dirty="0" err="1" smtClean="0"/>
              <a:t>FoundationDB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apt-cache search '</a:t>
            </a:r>
            <a:r>
              <a:rPr lang="en-US" sz="2200" dirty="0" err="1" smtClean="0">
                <a:latin typeface="Consolas" pitchFamily="49" charset="0"/>
              </a:rPr>
              <a:t>foundationdb</a:t>
            </a:r>
            <a:r>
              <a:rPr lang="en-US" sz="2200" dirty="0" smtClean="0">
                <a:latin typeface="Consolas" pitchFamily="49" charset="0"/>
              </a:rPr>
              <a:t>'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apt remove </a:t>
            </a:r>
            <a:r>
              <a:rPr lang="en-US" sz="2200" dirty="0" err="1" smtClean="0">
                <a:latin typeface="Consolas" pitchFamily="49" charset="0"/>
              </a:rPr>
              <a:t>foundationdb</a:t>
            </a:r>
            <a:r>
              <a:rPr lang="en-US" sz="2200" dirty="0" smtClean="0">
                <a:latin typeface="Consolas" pitchFamily="49" charset="0"/>
              </a:rPr>
              <a:t>-clients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Configure Firewall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ufw</a:t>
            </a:r>
            <a:r>
              <a:rPr lang="en-US" sz="2200" dirty="0" smtClean="0">
                <a:latin typeface="Consolas" pitchFamily="49" charset="0"/>
              </a:rPr>
              <a:t> status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ufw</a:t>
            </a:r>
            <a:r>
              <a:rPr lang="en-US" sz="2200" dirty="0" smtClean="0">
                <a:latin typeface="Consolas" pitchFamily="49" charset="0"/>
              </a:rPr>
              <a:t> enable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ufw</a:t>
            </a:r>
            <a:r>
              <a:rPr lang="en-US" sz="2200" dirty="0" smtClean="0">
                <a:latin typeface="Consolas" pitchFamily="49" charset="0"/>
              </a:rPr>
              <a:t> allow 22/</a:t>
            </a:r>
            <a:r>
              <a:rPr lang="en-US" sz="2200" dirty="0" err="1" smtClean="0">
                <a:latin typeface="Consolas" pitchFamily="49" charset="0"/>
              </a:rPr>
              <a:t>tcp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ufw</a:t>
            </a:r>
            <a:r>
              <a:rPr lang="en-US" sz="2200" dirty="0" smtClean="0">
                <a:latin typeface="Consolas" pitchFamily="49" charset="0"/>
              </a:rPr>
              <a:t> allow 4500/</a:t>
            </a:r>
            <a:r>
              <a:rPr lang="en-US" sz="2200" dirty="0" err="1" smtClean="0">
                <a:latin typeface="Consolas" pitchFamily="49" charset="0"/>
              </a:rPr>
              <a:t>tcp</a:t>
            </a:r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8730</TotalTime>
  <Words>1576</Words>
  <Application>Microsoft Office PowerPoint</Application>
  <PresentationFormat>On-screen Show (4:3)</PresentationFormat>
  <Paragraphs>206</Paragraphs>
  <Slides>42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FoundationDB</vt:lpstr>
      <vt:lpstr>Objectives</vt:lpstr>
      <vt:lpstr>Contents</vt:lpstr>
      <vt:lpstr>References</vt:lpstr>
      <vt:lpstr>FoundationDB [1]</vt:lpstr>
      <vt:lpstr>Database Simulation Framework</vt:lpstr>
      <vt:lpstr>Unbundled Architecture</vt:lpstr>
      <vt:lpstr>System Interface</vt:lpstr>
      <vt:lpstr>Architecture: Control Plane</vt:lpstr>
      <vt:lpstr>Architecture: Data Plane</vt:lpstr>
      <vt:lpstr>Slide 11</vt:lpstr>
      <vt:lpstr>FoundationDB Packages</vt:lpstr>
      <vt:lpstr>1. Install FoundationDB on Ubuntu</vt:lpstr>
      <vt:lpstr>2. Verify the Install</vt:lpstr>
      <vt:lpstr>3. Configure FoundationDB</vt:lpstr>
      <vt:lpstr>4. Install foundationdb for python3</vt:lpstr>
      <vt:lpstr>5. Call FoundationDB APIs</vt:lpstr>
      <vt:lpstr>Slide 18</vt:lpstr>
      <vt:lpstr>Data Model</vt:lpstr>
      <vt:lpstr>Namespaces</vt:lpstr>
      <vt:lpstr>Subspaces &amp; Directories</vt:lpstr>
      <vt:lpstr>1. Creating Directories and Data</vt:lpstr>
      <vt:lpstr>2. Open Directory</vt:lpstr>
      <vt:lpstr>3. Delete Directory</vt:lpstr>
      <vt:lpstr>Slide 25</vt:lpstr>
      <vt:lpstr>1. Install FoundationDB on macOS</vt:lpstr>
      <vt:lpstr>2. Manage FoundationDB</vt:lpstr>
      <vt:lpstr>Slide 28</vt:lpstr>
      <vt:lpstr>Terms</vt:lpstr>
      <vt:lpstr>1. Expose Database on Machine 1</vt:lpstr>
      <vt:lpstr>2. Install FoundationDB on Machine 2</vt:lpstr>
      <vt:lpstr>4. Replicate fdb.cluster</vt:lpstr>
      <vt:lpstr>5. Replicate foundationdb.conf</vt:lpstr>
      <vt:lpstr>6. Open 4500 Port</vt:lpstr>
      <vt:lpstr>6. Change redundancy mode</vt:lpstr>
      <vt:lpstr>7. Change storage engine</vt:lpstr>
      <vt:lpstr>8. Install foundationdb for python3</vt:lpstr>
      <vt:lpstr>9. Call Remote FoundationDB APIs</vt:lpstr>
      <vt:lpstr>Slide 39</vt:lpstr>
      <vt:lpstr>1. Remove FoundationDB</vt:lpstr>
      <vt:lpstr>2. Configure Firewall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4805</cp:revision>
  <dcterms:created xsi:type="dcterms:W3CDTF">2007-10-06T08:25:13Z</dcterms:created>
  <dcterms:modified xsi:type="dcterms:W3CDTF">2025-03-26T17:06:58Z</dcterms:modified>
</cp:coreProperties>
</file>