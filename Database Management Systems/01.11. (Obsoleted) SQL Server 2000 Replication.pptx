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Default Extension="docx" ContentType="application/vnd.openxmlformats-officedocument.wordprocessingml.document"/>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376" r:id="rId2"/>
    <p:sldId id="377" r:id="rId3"/>
    <p:sldId id="378" r:id="rId4"/>
    <p:sldId id="349" r:id="rId5"/>
    <p:sldId id="350" r:id="rId6"/>
    <p:sldId id="351" r:id="rId7"/>
    <p:sldId id="352" r:id="rId8"/>
    <p:sldId id="353" r:id="rId9"/>
    <p:sldId id="370" r:id="rId10"/>
    <p:sldId id="361" r:id="rId11"/>
    <p:sldId id="362" r:id="rId12"/>
    <p:sldId id="363" r:id="rId13"/>
    <p:sldId id="354" r:id="rId14"/>
    <p:sldId id="355" r:id="rId15"/>
    <p:sldId id="356" r:id="rId16"/>
    <p:sldId id="357" r:id="rId17"/>
    <p:sldId id="359" r:id="rId18"/>
    <p:sldId id="365" r:id="rId19"/>
    <p:sldId id="366" r:id="rId20"/>
    <p:sldId id="367" r:id="rId21"/>
    <p:sldId id="368" r:id="rId22"/>
    <p:sldId id="369" r:id="rId23"/>
    <p:sldId id="371" r:id="rId24"/>
    <p:sldId id="372" r:id="rId25"/>
    <p:sldId id="373" r:id="rId26"/>
    <p:sldId id="374" r:id="rId27"/>
    <p:sldId id="348" r:id="rId28"/>
    <p:sldId id="375" r:id="rId29"/>
    <p:sldId id="379"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1" autoAdjust="0"/>
    <p:restoredTop sz="94667" autoAdjust="0"/>
  </p:normalViewPr>
  <p:slideViewPr>
    <p:cSldViewPr>
      <p:cViewPr>
        <p:scale>
          <a:sx n="70" d="100"/>
          <a:sy n="70" d="100"/>
        </p:scale>
        <p:origin x="-1145" y="-29"/>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4B3FA97-BDD8-4C02-B5A4-07934E4D1A30}" type="datetimeFigureOut">
              <a:rPr lang="en-US"/>
              <a:pPr>
                <a:defRPr/>
              </a:pPr>
              <a:t>9/7/2020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9AF37B9-62E7-4BC7-AA84-499F5C9CD75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2920DD6-6A8A-4502-BD22-FA84BB7E4C0F}" type="datetimeFigureOut">
              <a:rPr lang="en-US"/>
              <a:pPr>
                <a:defRPr/>
              </a:pPr>
              <a:t>9/7/2020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23D794E-E95D-42C7-BD30-D6F838F9F70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C8AB704-9861-462F-9FE8-96A86C97D0B2}" type="datetimeFigureOut">
              <a:rPr lang="en-US"/>
              <a:pPr>
                <a:defRPr/>
              </a:pPr>
              <a:t>9/7/2020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CCEF404-5DF9-4437-BDBA-9AA787C825C6}"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460DF469-B201-4789-9009-0790ADB249D8}" type="datetimeFigureOut">
              <a:rPr lang="en-US"/>
              <a:pPr>
                <a:defRPr/>
              </a:pPr>
              <a:t>9/7/2020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733B954-DCC0-46CD-8D03-222586BAF5A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9A12EEF-A4E0-43EC-BDB5-0056E02E26E6}" type="datetimeFigureOut">
              <a:rPr lang="en-US"/>
              <a:pPr>
                <a:defRPr/>
              </a:pPr>
              <a:t>9/7/2020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7794F38-48CF-4152-9E08-27CEB994B1C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1118CC25-DBAA-4783-84D7-485357D0EADD}" type="datetimeFigureOut">
              <a:rPr lang="en-US"/>
              <a:pPr>
                <a:defRPr/>
              </a:pPr>
              <a:t>9/7/2020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D87D59C-B3CC-4156-B546-702FA4D58AE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13350BA-DEA6-42D9-8AD8-7B97852EB6D0}" type="datetimeFigureOut">
              <a:rPr lang="en-US"/>
              <a:pPr>
                <a:defRPr/>
              </a:pPr>
              <a:t>9/7/2020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6ED0DF1-301B-4634-B610-1C8AB2CF57C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A386F4B-1277-4655-8C20-8E0AF23E6C4F}" type="datetimeFigureOut">
              <a:rPr lang="en-US"/>
              <a:pPr>
                <a:defRPr/>
              </a:pPr>
              <a:t>9/7/2020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2B959A2-E999-4BFC-8FBA-38CB25A5E4E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4BC5151-D3D1-4653-B5E6-DB02C023CDF6}" type="datetimeFigureOut">
              <a:rPr lang="en-US"/>
              <a:pPr>
                <a:defRPr/>
              </a:pPr>
              <a:t>9/7/2020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80A69BF-0319-4DE6-AA5B-80C2073E325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F2A5C8E-E26E-459F-A384-E39E54BBFE7D}" type="datetimeFigureOut">
              <a:rPr lang="en-US"/>
              <a:pPr>
                <a:defRPr/>
              </a:pPr>
              <a:t>9/7/2020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83EF3D7-E981-4902-83B9-177522B1E02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CE17393-3621-472B-A053-779223A2A9AD}" type="datetimeFigureOut">
              <a:rPr lang="en-US"/>
              <a:pPr>
                <a:defRPr/>
              </a:pPr>
              <a:t>9/7/2020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B681BF8-0D3A-4B7E-A583-0D71DDC5127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DDAD4BF-3D9D-4A85-8082-0A4D1F6755A2}" type="datetimeFigureOut">
              <a:rPr lang="en-US"/>
              <a:pPr>
                <a:defRPr/>
              </a:pPr>
              <a:t>9/7/2020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1411300-5127-4E3F-A517-F3235C51474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Office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SQL </a:t>
            </a:r>
            <a:r>
              <a:rPr lang="en-US" sz="6000" dirty="0" smtClean="0"/>
              <a:t>Server 200 </a:t>
            </a:r>
            <a:r>
              <a:rPr lang="en-US" sz="6000" dirty="0" smtClean="0"/>
              <a:t>Replication</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3428999"/>
          </a:xfrm>
        </p:spPr>
        <p:txBody>
          <a:bodyPr/>
          <a:lstStyle/>
          <a:p>
            <a:pPr>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524000"/>
            <a:ext cx="5715000" cy="4724400"/>
          </a:xfrm>
        </p:spPr>
        <p:txBody>
          <a:bodyPr/>
          <a:lstStyle/>
          <a:p>
            <a:r>
              <a:rPr lang="en-US" sz="2400" dirty="0" smtClean="0"/>
              <a:t>Designing SQL Server 2000 Databases for .NET Enterprise </a:t>
            </a:r>
            <a:r>
              <a:rPr lang="en-US" sz="2400" dirty="0" smtClean="0"/>
              <a:t>Servers.</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mtClean="0"/>
              <a:t>SQL Server Replication Architecture</a:t>
            </a:r>
          </a:p>
        </p:txBody>
      </p:sp>
      <p:sp>
        <p:nvSpPr>
          <p:cNvPr id="5" name="TextBox 4"/>
          <p:cNvSpPr txBox="1"/>
          <p:nvPr/>
        </p:nvSpPr>
        <p:spPr>
          <a:xfrm>
            <a:off x="381000" y="1447800"/>
            <a:ext cx="7777163" cy="923925"/>
          </a:xfrm>
          <a:prstGeom prst="rect">
            <a:avLst/>
          </a:prstGeom>
          <a:noFill/>
        </p:spPr>
        <p:txBody>
          <a:bodyPr>
            <a:spAutoFit/>
          </a:bodyPr>
          <a:lstStyle/>
          <a:p>
            <a:pPr>
              <a:defRPr/>
            </a:pPr>
            <a:r>
              <a:rPr lang="en-US" dirty="0">
                <a:latin typeface="+mj-lt"/>
              </a:rPr>
              <a:t>The server that contains the actual database or databases to be replicated</a:t>
            </a:r>
          </a:p>
          <a:p>
            <a:pPr>
              <a:defRPr/>
            </a:pPr>
            <a:r>
              <a:rPr lang="en-US" dirty="0">
                <a:latin typeface="+mj-lt"/>
              </a:rPr>
              <a:t>is referred to as the Publisher.</a:t>
            </a:r>
          </a:p>
          <a:p>
            <a:pPr>
              <a:defRPr/>
            </a:pPr>
            <a:endParaRPr lang="en-US" dirty="0"/>
          </a:p>
        </p:txBody>
      </p:sp>
      <p:sp>
        <p:nvSpPr>
          <p:cNvPr id="6" name="TextBox 5"/>
          <p:cNvSpPr txBox="1"/>
          <p:nvPr/>
        </p:nvSpPr>
        <p:spPr>
          <a:xfrm>
            <a:off x="685800" y="6172200"/>
            <a:ext cx="6592888" cy="369888"/>
          </a:xfrm>
          <a:prstGeom prst="rect">
            <a:avLst/>
          </a:prstGeom>
          <a:noFill/>
        </p:spPr>
        <p:txBody>
          <a:bodyPr wrap="none">
            <a:spAutoFit/>
          </a:bodyPr>
          <a:lstStyle/>
          <a:p>
            <a:pPr>
              <a:defRPr/>
            </a:pPr>
            <a:r>
              <a:rPr lang="en-US" dirty="0">
                <a:latin typeface="+mj-lt"/>
              </a:rPr>
              <a:t>The recipient of a Publisher’s replicated data is called the Subscriber.</a:t>
            </a:r>
          </a:p>
        </p:txBody>
      </p:sp>
      <p:sp>
        <p:nvSpPr>
          <p:cNvPr id="7" name="Rectangle 6"/>
          <p:cNvSpPr/>
          <p:nvPr/>
        </p:nvSpPr>
        <p:spPr>
          <a:xfrm>
            <a:off x="4267200" y="4419600"/>
            <a:ext cx="3048000" cy="923925"/>
          </a:xfrm>
          <a:prstGeom prst="rect">
            <a:avLst/>
          </a:prstGeom>
        </p:spPr>
        <p:txBody>
          <a:bodyPr>
            <a:spAutoFit/>
          </a:bodyPr>
          <a:lstStyle/>
          <a:p>
            <a:pPr>
              <a:defRPr/>
            </a:pPr>
            <a:r>
              <a:rPr lang="en-US" dirty="0">
                <a:latin typeface="+mj-lt"/>
              </a:rPr>
              <a:t>Information about the replicated data is stored in a database on the Distributor.</a:t>
            </a:r>
          </a:p>
        </p:txBody>
      </p:sp>
      <p:pic>
        <p:nvPicPr>
          <p:cNvPr id="5126" name="Picture 4"/>
          <p:cNvPicPr>
            <a:picLocks noChangeAspect="1" noChangeArrowheads="1"/>
          </p:cNvPicPr>
          <p:nvPr/>
        </p:nvPicPr>
        <p:blipFill>
          <a:blip r:embed="rId2" cstate="print"/>
          <a:srcRect/>
          <a:stretch>
            <a:fillRect/>
          </a:stretch>
        </p:blipFill>
        <p:spPr bwMode="auto">
          <a:xfrm>
            <a:off x="533400" y="2057400"/>
            <a:ext cx="3505200" cy="3714750"/>
          </a:xfrm>
          <a:prstGeom prst="rect">
            <a:avLst/>
          </a:prstGeom>
          <a:noFill/>
          <a:ln w="9525">
            <a:noFill/>
            <a:miter lim="800000"/>
            <a:headEnd/>
            <a:tailEnd/>
          </a:ln>
        </p:spPr>
      </p:pic>
      <p:sp>
        <p:nvSpPr>
          <p:cNvPr id="9" name="Rectangle 8"/>
          <p:cNvSpPr/>
          <p:nvPr/>
        </p:nvSpPr>
        <p:spPr>
          <a:xfrm>
            <a:off x="3581400" y="1981200"/>
            <a:ext cx="4572000" cy="646113"/>
          </a:xfrm>
          <a:prstGeom prst="rect">
            <a:avLst/>
          </a:prstGeom>
        </p:spPr>
        <p:txBody>
          <a:bodyPr>
            <a:spAutoFit/>
          </a:bodyPr>
          <a:lstStyle/>
          <a:p>
            <a:pPr>
              <a:defRPr/>
            </a:pPr>
            <a:r>
              <a:rPr lang="en-US" dirty="0">
                <a:latin typeface="+mj-lt"/>
              </a:rPr>
              <a:t>The complete data set made available by the Publisher is called a publication.</a:t>
            </a:r>
          </a:p>
        </p:txBody>
      </p:sp>
      <p:sp>
        <p:nvSpPr>
          <p:cNvPr id="10" name="Rectangle 9"/>
          <p:cNvSpPr/>
          <p:nvPr/>
        </p:nvSpPr>
        <p:spPr>
          <a:xfrm>
            <a:off x="3124200" y="5410200"/>
            <a:ext cx="4572000" cy="646113"/>
          </a:xfrm>
          <a:prstGeom prst="rect">
            <a:avLst/>
          </a:prstGeom>
        </p:spPr>
        <p:txBody>
          <a:bodyPr>
            <a:spAutoFit/>
          </a:bodyPr>
          <a:lstStyle/>
          <a:p>
            <a:pPr>
              <a:defRPr/>
            </a:pPr>
            <a:r>
              <a:rPr lang="en-US" dirty="0">
                <a:latin typeface="+mj-lt"/>
              </a:rPr>
              <a:t>The request for a publication to be sent to a Subscriber is called the subscription.</a:t>
            </a:r>
          </a:p>
        </p:txBody>
      </p:sp>
      <p:sp>
        <p:nvSpPr>
          <p:cNvPr id="11" name="Rectangle 10"/>
          <p:cNvSpPr/>
          <p:nvPr/>
        </p:nvSpPr>
        <p:spPr>
          <a:xfrm>
            <a:off x="4267200" y="2667000"/>
            <a:ext cx="4572000" cy="1754188"/>
          </a:xfrm>
          <a:prstGeom prst="rect">
            <a:avLst/>
          </a:prstGeom>
        </p:spPr>
        <p:txBody>
          <a:bodyPr>
            <a:spAutoFit/>
          </a:bodyPr>
          <a:lstStyle/>
          <a:p>
            <a:pPr>
              <a:defRPr/>
            </a:pPr>
            <a:r>
              <a:rPr lang="en-US" dirty="0">
                <a:latin typeface="+mj-lt"/>
              </a:rPr>
              <a:t>A publication can contain any number of database objects such as tables, stored procedures, or views. It also might contain filtered data from tables. Each of these individual published items is referred to as an article.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mtClean="0"/>
              <a:t>Replication Agents</a:t>
            </a:r>
          </a:p>
        </p:txBody>
      </p:sp>
      <p:sp>
        <p:nvSpPr>
          <p:cNvPr id="6147" name="Content Placeholder 2"/>
          <p:cNvSpPr>
            <a:spLocks noGrp="1"/>
          </p:cNvSpPr>
          <p:nvPr>
            <p:ph idx="1"/>
          </p:nvPr>
        </p:nvSpPr>
        <p:spPr/>
        <p:txBody>
          <a:bodyPr/>
          <a:lstStyle/>
          <a:p>
            <a:r>
              <a:rPr lang="en-US" smtClean="0"/>
              <a:t>Snapshot Agent</a:t>
            </a:r>
          </a:p>
          <a:p>
            <a:r>
              <a:rPr lang="en-US" smtClean="0"/>
              <a:t>Distribution Agent</a:t>
            </a:r>
          </a:p>
          <a:p>
            <a:r>
              <a:rPr lang="en-US" smtClean="0"/>
              <a:t>Merge Agent</a:t>
            </a:r>
          </a:p>
          <a:p>
            <a:r>
              <a:rPr lang="en-US" smtClean="0"/>
              <a:t>Log Reader Agent</a:t>
            </a:r>
          </a:p>
          <a:p>
            <a:r>
              <a:rPr lang="en-US" smtClean="0"/>
              <a:t>Queue Reader Agent</a:t>
            </a:r>
          </a:p>
          <a:p>
            <a:r>
              <a:rPr lang="en-US" smtClean="0"/>
              <a:t>Miscellaneous Agents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t>Transactional Replication</a:t>
            </a:r>
          </a:p>
        </p:txBody>
      </p:sp>
      <p:pic>
        <p:nvPicPr>
          <p:cNvPr id="7171" name="Picture 2"/>
          <p:cNvPicPr>
            <a:picLocks noChangeAspect="1" noChangeArrowheads="1"/>
          </p:cNvPicPr>
          <p:nvPr/>
        </p:nvPicPr>
        <p:blipFill>
          <a:blip r:embed="rId2" cstate="print"/>
          <a:srcRect/>
          <a:stretch>
            <a:fillRect/>
          </a:stretch>
        </p:blipFill>
        <p:spPr bwMode="auto">
          <a:xfrm>
            <a:off x="3429000" y="2743200"/>
            <a:ext cx="4019550" cy="3448050"/>
          </a:xfrm>
          <a:prstGeom prst="rect">
            <a:avLst/>
          </a:prstGeom>
          <a:noFill/>
          <a:ln w="9525">
            <a:noFill/>
            <a:miter lim="800000"/>
            <a:headEnd/>
            <a:tailEnd/>
          </a:ln>
        </p:spPr>
      </p:pic>
      <p:sp>
        <p:nvSpPr>
          <p:cNvPr id="5" name="Rectangle 4"/>
          <p:cNvSpPr/>
          <p:nvPr/>
        </p:nvSpPr>
        <p:spPr>
          <a:xfrm>
            <a:off x="457200" y="1295400"/>
            <a:ext cx="5867400" cy="1200150"/>
          </a:xfrm>
          <a:prstGeom prst="rect">
            <a:avLst/>
          </a:prstGeom>
        </p:spPr>
        <p:txBody>
          <a:bodyPr>
            <a:spAutoFit/>
          </a:bodyPr>
          <a:lstStyle/>
          <a:p>
            <a:pPr>
              <a:defRPr/>
            </a:pPr>
            <a:r>
              <a:rPr lang="en-US" dirty="0">
                <a:latin typeface="+mj-lt"/>
              </a:rPr>
              <a:t>Transactional replication uses an initial snapshot of the data</a:t>
            </a:r>
          </a:p>
          <a:p>
            <a:pPr>
              <a:defRPr/>
            </a:pPr>
            <a:r>
              <a:rPr lang="en-US" dirty="0">
                <a:latin typeface="+mj-lt"/>
              </a:rPr>
              <a:t>applied to the Subscribers, then captures and propagates the individual transactions to Subscribers once data modifications have been made at the Publisher.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t>Merge Replication</a:t>
            </a:r>
          </a:p>
        </p:txBody>
      </p:sp>
      <p:sp>
        <p:nvSpPr>
          <p:cNvPr id="4" name="Rectangle 3"/>
          <p:cNvSpPr/>
          <p:nvPr/>
        </p:nvSpPr>
        <p:spPr>
          <a:xfrm>
            <a:off x="533400" y="1371600"/>
            <a:ext cx="5791200" cy="923925"/>
          </a:xfrm>
          <a:prstGeom prst="rect">
            <a:avLst/>
          </a:prstGeom>
        </p:spPr>
        <p:txBody>
          <a:bodyPr>
            <a:spAutoFit/>
          </a:bodyPr>
          <a:lstStyle/>
          <a:p>
            <a:pPr>
              <a:defRPr/>
            </a:pPr>
            <a:r>
              <a:rPr lang="en-US" dirty="0">
                <a:latin typeface="+mj-lt"/>
              </a:rPr>
              <a:t>Merge replication distributes data from Publisher to Subscribers while allowing both the Publisher and Subscribers to make updates to the data.</a:t>
            </a:r>
          </a:p>
        </p:txBody>
      </p:sp>
      <p:pic>
        <p:nvPicPr>
          <p:cNvPr id="8196" name="Picture 2"/>
          <p:cNvPicPr>
            <a:picLocks noChangeAspect="1" noChangeArrowheads="1"/>
          </p:cNvPicPr>
          <p:nvPr/>
        </p:nvPicPr>
        <p:blipFill>
          <a:blip r:embed="rId2" cstate="print"/>
          <a:srcRect/>
          <a:stretch>
            <a:fillRect/>
          </a:stretch>
        </p:blipFill>
        <p:spPr bwMode="auto">
          <a:xfrm>
            <a:off x="3505200" y="2438400"/>
            <a:ext cx="3943350" cy="36576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mtClean="0"/>
              <a:t>Snapshot Replication</a:t>
            </a:r>
          </a:p>
        </p:txBody>
      </p:sp>
      <p:sp>
        <p:nvSpPr>
          <p:cNvPr id="4" name="Rectangle 3"/>
          <p:cNvSpPr/>
          <p:nvPr/>
        </p:nvSpPr>
        <p:spPr>
          <a:xfrm>
            <a:off x="533400" y="1371600"/>
            <a:ext cx="7924800" cy="646113"/>
          </a:xfrm>
          <a:prstGeom prst="rect">
            <a:avLst/>
          </a:prstGeom>
        </p:spPr>
        <p:txBody>
          <a:bodyPr>
            <a:spAutoFit/>
          </a:bodyPr>
          <a:lstStyle/>
          <a:p>
            <a:pPr>
              <a:defRPr/>
            </a:pPr>
            <a:r>
              <a:rPr lang="en-US" dirty="0">
                <a:latin typeface="+mj-lt"/>
              </a:rPr>
              <a:t>Snapshot replication does not monitor updates to the data.</a:t>
            </a:r>
          </a:p>
          <a:p>
            <a:pPr>
              <a:defRPr/>
            </a:pPr>
            <a:r>
              <a:rPr lang="en-US" dirty="0">
                <a:latin typeface="+mj-lt"/>
              </a:rPr>
              <a:t>Rather, it distributes data exactly as they appear at a specific point in time.</a:t>
            </a:r>
          </a:p>
        </p:txBody>
      </p:sp>
      <p:pic>
        <p:nvPicPr>
          <p:cNvPr id="9220" name="Picture 2"/>
          <p:cNvPicPr>
            <a:picLocks noChangeAspect="1" noChangeArrowheads="1"/>
          </p:cNvPicPr>
          <p:nvPr/>
        </p:nvPicPr>
        <p:blipFill>
          <a:blip r:embed="rId2" cstate="print"/>
          <a:srcRect/>
          <a:stretch>
            <a:fillRect/>
          </a:stretch>
        </p:blipFill>
        <p:spPr bwMode="auto">
          <a:xfrm>
            <a:off x="3429000" y="2667000"/>
            <a:ext cx="3648075" cy="3352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Minimize Potential Conflicts</a:t>
            </a:r>
          </a:p>
        </p:txBody>
      </p:sp>
      <p:sp>
        <p:nvSpPr>
          <p:cNvPr id="10243" name="Content Placeholder 2"/>
          <p:cNvSpPr>
            <a:spLocks noGrp="1"/>
          </p:cNvSpPr>
          <p:nvPr>
            <p:ph idx="1"/>
          </p:nvPr>
        </p:nvSpPr>
        <p:spPr/>
        <p:txBody>
          <a:bodyPr/>
          <a:lstStyle/>
          <a:p>
            <a:r>
              <a:rPr lang="en-US" smtClean="0"/>
              <a:t>Use NOT FOR REPLICATION when creating IDENTITY columns. This tells SQL Server to use the existing value in the IDENTITY field from the publisher and not to assign a new one during replication.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Creating SQLAgent User</a:t>
            </a:r>
          </a:p>
        </p:txBody>
      </p:sp>
      <p:pic>
        <p:nvPicPr>
          <p:cNvPr id="11267" name="Picture 3"/>
          <p:cNvPicPr>
            <a:picLocks noChangeAspect="1" noChangeArrowheads="1"/>
          </p:cNvPicPr>
          <p:nvPr/>
        </p:nvPicPr>
        <p:blipFill>
          <a:blip r:embed="rId2" cstate="print"/>
          <a:srcRect/>
          <a:stretch>
            <a:fillRect/>
          </a:stretch>
        </p:blipFill>
        <p:spPr bwMode="auto">
          <a:xfrm>
            <a:off x="1524000" y="1266825"/>
            <a:ext cx="6096000" cy="43243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Adding SQLAgent To Adminstrators Group</a:t>
            </a:r>
          </a:p>
        </p:txBody>
      </p:sp>
      <p:pic>
        <p:nvPicPr>
          <p:cNvPr id="12291" name="Picture 3"/>
          <p:cNvPicPr>
            <a:picLocks noChangeAspect="1" noChangeArrowheads="1"/>
          </p:cNvPicPr>
          <p:nvPr/>
        </p:nvPicPr>
        <p:blipFill>
          <a:blip r:embed="rId2" cstate="print"/>
          <a:srcRect/>
          <a:stretch>
            <a:fillRect/>
          </a:stretch>
        </p:blipFill>
        <p:spPr bwMode="auto">
          <a:xfrm>
            <a:off x="1143000" y="1828800"/>
            <a:ext cx="6829425" cy="45624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mtClean="0"/>
              <a:t>Configuring Log On User Of SQLAgent Service</a:t>
            </a:r>
          </a:p>
        </p:txBody>
      </p:sp>
      <p:pic>
        <p:nvPicPr>
          <p:cNvPr id="13315" name="Picture 3"/>
          <p:cNvPicPr>
            <a:picLocks noChangeAspect="1" noChangeArrowheads="1"/>
          </p:cNvPicPr>
          <p:nvPr/>
        </p:nvPicPr>
        <p:blipFill>
          <a:blip r:embed="rId2" cstate="print"/>
          <a:srcRect/>
          <a:stretch>
            <a:fillRect/>
          </a:stretch>
        </p:blipFill>
        <p:spPr bwMode="auto">
          <a:xfrm>
            <a:off x="304800" y="1524000"/>
            <a:ext cx="8439150" cy="51339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mtClean="0"/>
              <a:t>Configuring SQL Server Replication</a:t>
            </a:r>
          </a:p>
        </p:txBody>
      </p:sp>
      <p:pic>
        <p:nvPicPr>
          <p:cNvPr id="14339" name="Picture 2"/>
          <p:cNvPicPr>
            <a:picLocks noChangeAspect="1" noChangeArrowheads="1"/>
          </p:cNvPicPr>
          <p:nvPr/>
        </p:nvPicPr>
        <p:blipFill>
          <a:blip r:embed="rId2" cstate="print"/>
          <a:srcRect/>
          <a:stretch>
            <a:fillRect/>
          </a:stretch>
        </p:blipFill>
        <p:spPr bwMode="auto">
          <a:xfrm>
            <a:off x="838200" y="1447800"/>
            <a:ext cx="7486650" cy="50101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Configuring SQL Server Replication</a:t>
            </a:r>
          </a:p>
        </p:txBody>
      </p:sp>
      <p:pic>
        <p:nvPicPr>
          <p:cNvPr id="15363" name="Picture 3"/>
          <p:cNvPicPr>
            <a:picLocks noChangeAspect="1" noChangeArrowheads="1"/>
          </p:cNvPicPr>
          <p:nvPr/>
        </p:nvPicPr>
        <p:blipFill>
          <a:blip r:embed="rId2" cstate="print"/>
          <a:srcRect/>
          <a:stretch>
            <a:fillRect/>
          </a:stretch>
        </p:blipFill>
        <p:spPr bwMode="auto">
          <a:xfrm>
            <a:off x="838200" y="1600200"/>
            <a:ext cx="7458075" cy="49911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Configuring SQL Server Replication</a:t>
            </a:r>
          </a:p>
        </p:txBody>
      </p:sp>
      <p:pic>
        <p:nvPicPr>
          <p:cNvPr id="16387" name="Picture 2"/>
          <p:cNvPicPr>
            <a:picLocks noChangeAspect="1" noChangeArrowheads="1"/>
          </p:cNvPicPr>
          <p:nvPr/>
        </p:nvPicPr>
        <p:blipFill>
          <a:blip r:embed="rId2" cstate="print"/>
          <a:srcRect/>
          <a:stretch>
            <a:fillRect/>
          </a:stretch>
        </p:blipFill>
        <p:spPr bwMode="auto">
          <a:xfrm>
            <a:off x="838200" y="1676400"/>
            <a:ext cx="7448550" cy="49720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mtClean="0"/>
              <a:t>Configuring SQL Server Replication</a:t>
            </a:r>
          </a:p>
        </p:txBody>
      </p:sp>
      <p:pic>
        <p:nvPicPr>
          <p:cNvPr id="17411" name="Picture 2"/>
          <p:cNvPicPr>
            <a:picLocks noChangeAspect="1" noChangeArrowheads="1"/>
          </p:cNvPicPr>
          <p:nvPr/>
        </p:nvPicPr>
        <p:blipFill>
          <a:blip r:embed="rId2" cstate="print"/>
          <a:srcRect/>
          <a:stretch>
            <a:fillRect/>
          </a:stretch>
        </p:blipFill>
        <p:spPr bwMode="auto">
          <a:xfrm>
            <a:off x="838200" y="1447800"/>
            <a:ext cx="7477125" cy="49911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t>Configuring SQL Server Replication</a:t>
            </a:r>
          </a:p>
        </p:txBody>
      </p:sp>
      <p:pic>
        <p:nvPicPr>
          <p:cNvPr id="18435" name="Picture 2"/>
          <p:cNvPicPr>
            <a:picLocks noChangeAspect="1" noChangeArrowheads="1"/>
          </p:cNvPicPr>
          <p:nvPr/>
        </p:nvPicPr>
        <p:blipFill>
          <a:blip r:embed="rId2" cstate="print"/>
          <a:srcRect/>
          <a:stretch>
            <a:fillRect/>
          </a:stretch>
        </p:blipFill>
        <p:spPr bwMode="auto">
          <a:xfrm>
            <a:off x="838200" y="1524000"/>
            <a:ext cx="7505700" cy="50006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mtClean="0"/>
              <a:t>Configuring SQL Server Replication</a:t>
            </a:r>
          </a:p>
        </p:txBody>
      </p:sp>
      <p:pic>
        <p:nvPicPr>
          <p:cNvPr id="19459" name="Picture 3"/>
          <p:cNvPicPr>
            <a:picLocks noChangeAspect="1" noChangeArrowheads="1"/>
          </p:cNvPicPr>
          <p:nvPr/>
        </p:nvPicPr>
        <p:blipFill>
          <a:blip r:embed="rId2" cstate="print"/>
          <a:srcRect/>
          <a:stretch>
            <a:fillRect/>
          </a:stretch>
        </p:blipFill>
        <p:spPr bwMode="auto">
          <a:xfrm>
            <a:off x="838200" y="1524000"/>
            <a:ext cx="7467600" cy="501967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t>Configuring SQL Server Replication</a:t>
            </a:r>
          </a:p>
        </p:txBody>
      </p:sp>
      <p:pic>
        <p:nvPicPr>
          <p:cNvPr id="20483" name="Picture 2"/>
          <p:cNvPicPr>
            <a:picLocks noChangeAspect="1" noChangeArrowheads="1"/>
          </p:cNvPicPr>
          <p:nvPr/>
        </p:nvPicPr>
        <p:blipFill>
          <a:blip r:embed="rId2" cstate="print"/>
          <a:srcRect/>
          <a:stretch>
            <a:fillRect/>
          </a:stretch>
        </p:blipFill>
        <p:spPr bwMode="auto">
          <a:xfrm>
            <a:off x="914400" y="1600200"/>
            <a:ext cx="7496175" cy="50006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mtClean="0"/>
              <a:t>Configuring SQL Server Replication</a:t>
            </a:r>
          </a:p>
        </p:txBody>
      </p:sp>
      <p:pic>
        <p:nvPicPr>
          <p:cNvPr id="21507" name="Picture 2"/>
          <p:cNvPicPr>
            <a:picLocks noChangeAspect="1" noChangeArrowheads="1"/>
          </p:cNvPicPr>
          <p:nvPr/>
        </p:nvPicPr>
        <p:blipFill>
          <a:blip r:embed="rId2" cstate="print"/>
          <a:srcRect/>
          <a:stretch>
            <a:fillRect/>
          </a:stretch>
        </p:blipFill>
        <p:spPr bwMode="auto">
          <a:xfrm>
            <a:off x="838200" y="1524000"/>
            <a:ext cx="7448550" cy="49911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t>Configuring SQL Server Replication</a:t>
            </a:r>
          </a:p>
        </p:txBody>
      </p:sp>
      <p:pic>
        <p:nvPicPr>
          <p:cNvPr id="22531" name="Picture 3"/>
          <p:cNvPicPr>
            <a:picLocks noChangeAspect="1" noChangeArrowheads="1"/>
          </p:cNvPicPr>
          <p:nvPr/>
        </p:nvPicPr>
        <p:blipFill>
          <a:blip r:embed="rId2" cstate="print"/>
          <a:srcRect/>
          <a:stretch>
            <a:fillRect/>
          </a:stretch>
        </p:blipFill>
        <p:spPr bwMode="auto">
          <a:xfrm>
            <a:off x="838200" y="1447800"/>
            <a:ext cx="7467600" cy="49720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mtClean="0"/>
              <a:t>Configuring SQL Server Replication</a:t>
            </a:r>
          </a:p>
        </p:txBody>
      </p:sp>
      <p:pic>
        <p:nvPicPr>
          <p:cNvPr id="23555" name="Picture 2"/>
          <p:cNvPicPr>
            <a:picLocks noChangeAspect="1" noChangeArrowheads="1"/>
          </p:cNvPicPr>
          <p:nvPr/>
        </p:nvPicPr>
        <p:blipFill>
          <a:blip r:embed="rId2" cstate="print"/>
          <a:srcRect/>
          <a:stretch>
            <a:fillRect/>
          </a:stretch>
        </p:blipFill>
        <p:spPr bwMode="auto">
          <a:xfrm>
            <a:off x="762000" y="1524000"/>
            <a:ext cx="7458075" cy="49911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mtClean="0"/>
              <a:t>Configuring SQL Server Replication</a:t>
            </a:r>
          </a:p>
        </p:txBody>
      </p:sp>
      <p:pic>
        <p:nvPicPr>
          <p:cNvPr id="24579" name="Picture 2"/>
          <p:cNvPicPr>
            <a:picLocks noChangeAspect="1" noChangeArrowheads="1"/>
          </p:cNvPicPr>
          <p:nvPr/>
        </p:nvPicPr>
        <p:blipFill>
          <a:blip r:embed="rId2" cstate="print"/>
          <a:srcRect/>
          <a:stretch>
            <a:fillRect/>
          </a:stretch>
        </p:blipFill>
        <p:spPr bwMode="auto">
          <a:xfrm>
            <a:off x="838200" y="1371600"/>
            <a:ext cx="7496175" cy="49720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t>Configuring SQL Server Replication</a:t>
            </a:r>
          </a:p>
        </p:txBody>
      </p:sp>
      <p:pic>
        <p:nvPicPr>
          <p:cNvPr id="25603" name="Picture 2"/>
          <p:cNvPicPr>
            <a:picLocks noChangeAspect="1" noChangeArrowheads="1"/>
          </p:cNvPicPr>
          <p:nvPr/>
        </p:nvPicPr>
        <p:blipFill>
          <a:blip r:embed="rId2" cstate="print"/>
          <a:srcRect/>
          <a:stretch>
            <a:fillRect/>
          </a:stretch>
        </p:blipFill>
        <p:spPr bwMode="auto">
          <a:xfrm>
            <a:off x="838200" y="1524000"/>
            <a:ext cx="7467600" cy="4972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smtClean="0"/>
              <a:t>Configuring SQL Server Replication</a:t>
            </a:r>
          </a:p>
        </p:txBody>
      </p:sp>
      <p:pic>
        <p:nvPicPr>
          <p:cNvPr id="26627" name="Picture 2"/>
          <p:cNvPicPr>
            <a:picLocks noChangeAspect="1" noChangeArrowheads="1"/>
          </p:cNvPicPr>
          <p:nvPr/>
        </p:nvPicPr>
        <p:blipFill>
          <a:blip r:embed="rId2" cstate="print"/>
          <a:srcRect/>
          <a:stretch>
            <a:fillRect/>
          </a:stretch>
        </p:blipFill>
        <p:spPr bwMode="auto">
          <a:xfrm>
            <a:off x="838200" y="1371600"/>
            <a:ext cx="7458075" cy="49720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mtClean="0"/>
              <a:t>Configuring SQL Server Replication</a:t>
            </a:r>
          </a:p>
        </p:txBody>
      </p:sp>
      <p:pic>
        <p:nvPicPr>
          <p:cNvPr id="27651" name="Picture 2"/>
          <p:cNvPicPr>
            <a:picLocks noChangeAspect="1" noChangeArrowheads="1"/>
          </p:cNvPicPr>
          <p:nvPr/>
        </p:nvPicPr>
        <p:blipFill>
          <a:blip r:embed="rId2" cstate="print"/>
          <a:srcRect/>
          <a:stretch>
            <a:fillRect/>
          </a:stretch>
        </p:blipFill>
        <p:spPr bwMode="auto">
          <a:xfrm>
            <a:off x="838200" y="1447800"/>
            <a:ext cx="7486650" cy="49815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r>
              <a:rPr lang="en-US" smtClean="0"/>
              <a:t>T-SQL Encryption</a:t>
            </a:r>
          </a:p>
        </p:txBody>
      </p:sp>
      <p:graphicFrame>
        <p:nvGraphicFramePr>
          <p:cNvPr id="1026" name="Object 2"/>
          <p:cNvGraphicFramePr>
            <a:graphicFrameLocks noChangeAspect="1"/>
          </p:cNvGraphicFramePr>
          <p:nvPr/>
        </p:nvGraphicFramePr>
        <p:xfrm>
          <a:off x="762000" y="1447800"/>
          <a:ext cx="5943600" cy="723900"/>
        </p:xfrm>
        <a:graphic>
          <a:graphicData uri="http://schemas.openxmlformats.org/presentationml/2006/ole">
            <p:oleObj spid="_x0000_s1026" name="Document" r:id="rId3" imgW="5943600" imgH="723900" progId="Word.Document.12">
              <p:embed/>
            </p:oleObj>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p:txBody>
          <a:bodyPr/>
          <a:lstStyle/>
          <a:p>
            <a:r>
              <a:rPr lang="en-US" smtClean="0"/>
              <a:t>Insert IDENTITY</a:t>
            </a:r>
          </a:p>
        </p:txBody>
      </p:sp>
      <p:graphicFrame>
        <p:nvGraphicFramePr>
          <p:cNvPr id="2050" name="Object 2"/>
          <p:cNvGraphicFramePr>
            <a:graphicFrameLocks noChangeAspect="1"/>
          </p:cNvGraphicFramePr>
          <p:nvPr/>
        </p:nvGraphicFramePr>
        <p:xfrm>
          <a:off x="1495425" y="2133600"/>
          <a:ext cx="6153150" cy="2589213"/>
        </p:xfrm>
        <a:graphic>
          <a:graphicData uri="http://schemas.openxmlformats.org/presentationml/2006/ole">
            <p:oleObj spid="_x0000_s2050" name="Document" r:id="rId3" imgW="6152388" imgH="2589657" progId="Word.Document.12">
              <p:embed/>
            </p:oleObj>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t>
            </a:r>
            <a:r>
              <a:rPr lang="en-US" dirty="0" smtClean="0"/>
              <a:t>&amp; 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3386</TotalTime>
  <Words>383</Words>
  <Application>Microsoft Office PowerPoint</Application>
  <PresentationFormat>On-screen Show (4:3)</PresentationFormat>
  <Paragraphs>55</Paragraphs>
  <Slides>29</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1" baseType="lpstr">
      <vt:lpstr>Office Theme</vt:lpstr>
      <vt:lpstr>Document</vt:lpstr>
      <vt:lpstr>SQL Server 200 Replication</vt:lpstr>
      <vt:lpstr>Objectives</vt:lpstr>
      <vt:lpstr>References</vt:lpstr>
      <vt:lpstr>SQL Server Replication Architecture</vt:lpstr>
      <vt:lpstr>Replication Agents</vt:lpstr>
      <vt:lpstr>Transactional Replication</vt:lpstr>
      <vt:lpstr>Merge Replication</vt:lpstr>
      <vt:lpstr>Snapshot Replication</vt:lpstr>
      <vt:lpstr>Minimize Potential Conflicts</vt:lpstr>
      <vt:lpstr>Creating SQLAgent User</vt:lpstr>
      <vt:lpstr>Adding SQLAgent To Adminstrators Group</vt:lpstr>
      <vt:lpstr>Configuring Log On User Of SQLAgent Service</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Configuring SQL Server Replication</vt:lpstr>
      <vt:lpstr>T-SQL Encryption</vt:lpstr>
      <vt:lpstr>Insert IDENTITY</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1784</cp:revision>
  <dcterms:created xsi:type="dcterms:W3CDTF">2007-10-06T08:25:13Z</dcterms:created>
  <dcterms:modified xsi:type="dcterms:W3CDTF">2020-09-07T15:41:32Z</dcterms:modified>
</cp:coreProperties>
</file>