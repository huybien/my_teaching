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handoutMasters/handoutMaster1.xml" ContentType="application/vnd.openxmlformats-officedocument.presentationml.handoutMaster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79"/>
  </p:notesMasterIdLst>
  <p:handoutMasterIdLst>
    <p:handoutMasterId r:id="rId80"/>
  </p:handoutMasterIdLst>
  <p:sldIdLst>
    <p:sldId id="544" r:id="rId2"/>
    <p:sldId id="545" r:id="rId3"/>
    <p:sldId id="546" r:id="rId4"/>
    <p:sldId id="547" r:id="rId5"/>
    <p:sldId id="463" r:id="rId6"/>
    <p:sldId id="464" r:id="rId7"/>
    <p:sldId id="465" r:id="rId8"/>
    <p:sldId id="466" r:id="rId9"/>
    <p:sldId id="467" r:id="rId10"/>
    <p:sldId id="468" r:id="rId11"/>
    <p:sldId id="469" r:id="rId12"/>
    <p:sldId id="470" r:id="rId13"/>
    <p:sldId id="471" r:id="rId14"/>
    <p:sldId id="538" r:id="rId15"/>
    <p:sldId id="472" r:id="rId16"/>
    <p:sldId id="473" r:id="rId17"/>
    <p:sldId id="506" r:id="rId18"/>
    <p:sldId id="474" r:id="rId19"/>
    <p:sldId id="475" r:id="rId20"/>
    <p:sldId id="476" r:id="rId21"/>
    <p:sldId id="539" r:id="rId22"/>
    <p:sldId id="478" r:id="rId23"/>
    <p:sldId id="479" r:id="rId24"/>
    <p:sldId id="480" r:id="rId25"/>
    <p:sldId id="481" r:id="rId26"/>
    <p:sldId id="483" r:id="rId27"/>
    <p:sldId id="485" r:id="rId28"/>
    <p:sldId id="486" r:id="rId29"/>
    <p:sldId id="488" r:id="rId30"/>
    <p:sldId id="490" r:id="rId31"/>
    <p:sldId id="489" r:id="rId32"/>
    <p:sldId id="491" r:id="rId33"/>
    <p:sldId id="492" r:id="rId34"/>
    <p:sldId id="493" r:id="rId35"/>
    <p:sldId id="494" r:id="rId36"/>
    <p:sldId id="495" r:id="rId37"/>
    <p:sldId id="496" r:id="rId38"/>
    <p:sldId id="540" r:id="rId39"/>
    <p:sldId id="497" r:id="rId40"/>
    <p:sldId id="498" r:id="rId41"/>
    <p:sldId id="499" r:id="rId42"/>
    <p:sldId id="500" r:id="rId43"/>
    <p:sldId id="501" r:id="rId44"/>
    <p:sldId id="502" r:id="rId45"/>
    <p:sldId id="504" r:id="rId46"/>
    <p:sldId id="503" r:id="rId47"/>
    <p:sldId id="522" r:id="rId48"/>
    <p:sldId id="521" r:id="rId49"/>
    <p:sldId id="523" r:id="rId50"/>
    <p:sldId id="524" r:id="rId51"/>
    <p:sldId id="507" r:id="rId52"/>
    <p:sldId id="508" r:id="rId53"/>
    <p:sldId id="509" r:id="rId54"/>
    <p:sldId id="510" r:id="rId55"/>
    <p:sldId id="511" r:id="rId56"/>
    <p:sldId id="512" r:id="rId57"/>
    <p:sldId id="513" r:id="rId58"/>
    <p:sldId id="514" r:id="rId59"/>
    <p:sldId id="541" r:id="rId60"/>
    <p:sldId id="515" r:id="rId61"/>
    <p:sldId id="516" r:id="rId62"/>
    <p:sldId id="518" r:id="rId63"/>
    <p:sldId id="520" r:id="rId64"/>
    <p:sldId id="519" r:id="rId65"/>
    <p:sldId id="527" r:id="rId66"/>
    <p:sldId id="542" r:id="rId67"/>
    <p:sldId id="526" r:id="rId68"/>
    <p:sldId id="529" r:id="rId69"/>
    <p:sldId id="530" r:id="rId70"/>
    <p:sldId id="531" r:id="rId71"/>
    <p:sldId id="533" r:id="rId72"/>
    <p:sldId id="534" r:id="rId73"/>
    <p:sldId id="535" r:id="rId74"/>
    <p:sldId id="537" r:id="rId75"/>
    <p:sldId id="532" r:id="rId76"/>
    <p:sldId id="536" r:id="rId77"/>
    <p:sldId id="543" r:id="rId7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44" autoAdjust="0"/>
    <p:restoredTop sz="94667" autoAdjust="0"/>
  </p:normalViewPr>
  <p:slideViewPr>
    <p:cSldViewPr>
      <p:cViewPr>
        <p:scale>
          <a:sx n="66" d="100"/>
          <a:sy n="66" d="100"/>
        </p:scale>
        <p:origin x="-1150" y="-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1727DC-2E8F-43B3-8355-CCE0B6704CEB}" type="datetimeFigureOut">
              <a:rPr lang="en-US" smtClean="0"/>
              <a:pPr/>
              <a:t>9/10/2023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0B4380-3815-4B2E-92FA-ED1993E061B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BC1A5A-27DC-464D-BC33-B84FCFC4A4C2}" type="datetimeFigureOut">
              <a:rPr lang="en-US" smtClean="0"/>
              <a:t>9/10/2023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2A36B7-737A-4545-8147-BADAF981C87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F6A842-585B-4FB8-B0AD-5A22636E93BF}" type="datetimeFigureOut">
              <a:rPr lang="en-US"/>
              <a:pPr>
                <a:defRPr/>
              </a:pPr>
              <a:t>9/10/2023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757F44-DAAA-4BFA-A1D9-B690FD69F1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7CC13E-AA34-4DB7-B0EC-5E3AAA7D3BAC}" type="datetimeFigureOut">
              <a:rPr lang="en-US"/>
              <a:pPr>
                <a:defRPr/>
              </a:pPr>
              <a:t>9/10/2023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F6660F-9FDB-4AFB-BE29-11A381729C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883334-71C9-49E2-A0BB-A043C182B878}" type="datetimeFigureOut">
              <a:rPr lang="en-US"/>
              <a:pPr>
                <a:defRPr/>
              </a:pPr>
              <a:t>9/10/2023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F881E5-BD58-41FC-93AD-0A90910877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C3020B-3D2A-4D8C-B5FF-4D6A024CBDE8}" type="datetimeFigureOut">
              <a:rPr lang="en-US"/>
              <a:pPr>
                <a:defRPr/>
              </a:pPr>
              <a:t>9/10/2023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08E1C0-584A-404B-B99A-E5AD89ACF0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B17DBA-E622-4CD1-BCA3-A03CD04FDCC6}" type="datetimeFigureOut">
              <a:rPr lang="en-US"/>
              <a:pPr>
                <a:defRPr/>
              </a:pPr>
              <a:t>9/10/2023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9F4D90-9228-45C4-A427-06E557DE9C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91D3DF-EF49-4212-81A5-83E2D6EC0182}" type="datetimeFigureOut">
              <a:rPr lang="en-US"/>
              <a:pPr>
                <a:defRPr/>
              </a:pPr>
              <a:t>9/10/2023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E97F0E-0BE9-471F-A7B8-4D2E909F9B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F86690-AF43-474E-AAC4-06B4786F7A5B}" type="datetimeFigureOut">
              <a:rPr lang="en-US"/>
              <a:pPr>
                <a:defRPr/>
              </a:pPr>
              <a:t>9/10/2023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646AD9-6F95-4021-BF75-BF9B58A70F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CF0E39-78E2-4DE3-8C65-7CAB11F37A23}" type="datetimeFigureOut">
              <a:rPr lang="en-US"/>
              <a:pPr>
                <a:defRPr/>
              </a:pPr>
              <a:t>9/10/2023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CF80FB-C1F7-4ADD-9C33-A8D7E6B496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12A139-0756-4DC4-8001-1DFC6C3458CC}" type="datetimeFigureOut">
              <a:rPr lang="en-US"/>
              <a:pPr>
                <a:defRPr/>
              </a:pPr>
              <a:t>9/10/2023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795BAB-E1F5-4BBA-9D33-03EFE2F8DD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7FC515-BCDF-4B2C-80BB-863C58D176FB}" type="datetimeFigureOut">
              <a:rPr lang="en-US"/>
              <a:pPr>
                <a:defRPr/>
              </a:pPr>
              <a:t>9/10/2023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C6CC5B-ED2C-42FF-AE49-898FC683E2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2C8C39-B056-4409-B30D-266D32EB71C5}" type="datetimeFigureOut">
              <a:rPr lang="en-US"/>
              <a:pPr>
                <a:defRPr/>
              </a:pPr>
              <a:t>9/10/2023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D453D-B7C3-4D56-B8B4-B49BCBFB82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B325272-1ED5-4E24-A128-8E8DEE352665}" type="datetimeFigureOut">
              <a:rPr lang="en-US"/>
              <a:pPr>
                <a:defRPr/>
              </a:pPr>
              <a:t>9/10/2023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F7590F4-D8FE-45EA-A958-7E45569A00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dirty="0" smtClean="0"/>
              <a:t>The Data Warehouse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en-US" sz="2400" dirty="0" smtClean="0"/>
              <a:t>W.H. </a:t>
            </a:r>
            <a:r>
              <a:rPr lang="en-US" sz="2400" dirty="0" err="1" smtClean="0"/>
              <a:t>Inmon</a:t>
            </a:r>
            <a:r>
              <a:rPr lang="en-US" sz="2400" dirty="0" smtClean="0"/>
              <a:t> (2003). Building The Data Warehouse. Wiley.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 smtClean="0"/>
              <a:t>Ralph Kimball and </a:t>
            </a:r>
            <a:r>
              <a:rPr lang="en-US" sz="2400" dirty="0" err="1" smtClean="0"/>
              <a:t>Margy</a:t>
            </a:r>
            <a:r>
              <a:rPr lang="en-US" sz="2400" dirty="0" smtClean="0"/>
              <a:t> Ross (2002). The Data Warehouse Toolkit - The Complete Guide to Dimensional Modeling. Wiley.</a:t>
            </a: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Database Systems Goals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primary focus of the early database systems was operational—usually transactional—</a:t>
            </a:r>
            <a:r>
              <a:rPr lang="en-US" i="1" dirty="0" smtClean="0">
                <a:solidFill>
                  <a:srgbClr val="C00000"/>
                </a:solidFill>
              </a:rPr>
              <a:t>processing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A more sophisticated notion of the database has emerged—one that serves </a:t>
            </a:r>
            <a:r>
              <a:rPr lang="en-US" i="1" dirty="0" smtClean="0">
                <a:solidFill>
                  <a:srgbClr val="C00000"/>
                </a:solidFill>
              </a:rPr>
              <a:t>operational needs</a:t>
            </a:r>
            <a:r>
              <a:rPr lang="en-US" dirty="0" smtClean="0"/>
              <a:t> and another that serves </a:t>
            </a:r>
            <a:r>
              <a:rPr lang="en-US" i="1" dirty="0" smtClean="0">
                <a:solidFill>
                  <a:srgbClr val="C00000"/>
                </a:solidFill>
              </a:rPr>
              <a:t>informational or analytical needs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Extract Program/Processing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43138" y="3352800"/>
            <a:ext cx="4657725" cy="267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05013" y="1676400"/>
            <a:ext cx="5133975" cy="146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Naturally Evolving Architecture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81213" y="1438275"/>
            <a:ext cx="4981575" cy="519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Lack of Data Credibility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1781175"/>
            <a:ext cx="4724400" cy="477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Problems with Productivity I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4438" y="1371600"/>
            <a:ext cx="6715125" cy="527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Problems with Productivity II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8263" y="2286000"/>
            <a:ext cx="6467475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Problems with Productivity III</a:t>
            </a:r>
            <a:endParaRPr 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95475" y="1943100"/>
            <a:ext cx="5353050" cy="422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From Data to Information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733800" cy="4525963"/>
          </a:xfrm>
        </p:spPr>
        <p:txBody>
          <a:bodyPr/>
          <a:lstStyle/>
          <a:p>
            <a:r>
              <a:rPr lang="en-US" sz="2400" dirty="0" smtClean="0"/>
              <a:t>How has account activity been </a:t>
            </a:r>
            <a:r>
              <a:rPr lang="en-US" sz="2400" i="1" dirty="0" smtClean="0">
                <a:solidFill>
                  <a:srgbClr val="C00000"/>
                </a:solidFill>
              </a:rPr>
              <a:t>different</a:t>
            </a:r>
            <a:r>
              <a:rPr lang="en-US" sz="2400" dirty="0" smtClean="0"/>
              <a:t> this year from each of the past five years for the financial institution?</a:t>
            </a:r>
            <a:endParaRPr lang="en-US" sz="2400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24325" y="1438275"/>
            <a:ext cx="4714875" cy="511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Historical Data Problem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2038" y="1847850"/>
            <a:ext cx="7019925" cy="417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Primitive Data vs. Derived Data 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There are fundamentally two kinds of data at the heart of an “architected” environment — </a:t>
            </a:r>
            <a:r>
              <a:rPr lang="en-US" sz="2400" i="1" dirty="0" smtClean="0">
                <a:solidFill>
                  <a:srgbClr val="C00000"/>
                </a:solidFill>
              </a:rPr>
              <a:t>primitive data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derived data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Primitive data is detailed data used to run the day-to-day operations of the company. Derived data has been summarized or otherwise calculated to meet the needs of the management of the company.</a:t>
            </a:r>
          </a:p>
          <a:p>
            <a:r>
              <a:rPr lang="en-US" sz="2400" dirty="0" smtClean="0"/>
              <a:t>Primitive data can be updated. Derived data can be recalculated but cannot be directly updated.</a:t>
            </a:r>
          </a:p>
          <a:p>
            <a:r>
              <a:rPr lang="en-US" sz="2400" dirty="0" smtClean="0"/>
              <a:t>Primitive data is primarily current-value data. Derived data is often historical data.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Primitive Data vs. Derived Data II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Primitive data is operated on by </a:t>
            </a:r>
            <a:r>
              <a:rPr lang="en-US" sz="2400" i="1" dirty="0" smtClean="0">
                <a:solidFill>
                  <a:srgbClr val="C00000"/>
                </a:solidFill>
              </a:rPr>
              <a:t>repetitive</a:t>
            </a:r>
            <a:r>
              <a:rPr lang="en-US" sz="2400" dirty="0" smtClean="0"/>
              <a:t> procedures. Derived data is operated on by </a:t>
            </a:r>
            <a:r>
              <a:rPr lang="en-US" sz="2400" i="1" dirty="0" smtClean="0">
                <a:solidFill>
                  <a:srgbClr val="C00000"/>
                </a:solidFill>
              </a:rPr>
              <a:t>heuristic</a:t>
            </a:r>
            <a:r>
              <a:rPr lang="en-US" sz="2400" dirty="0" smtClean="0"/>
              <a:t>, </a:t>
            </a:r>
            <a:r>
              <a:rPr lang="en-US" sz="2400" i="1" dirty="0" smtClean="0">
                <a:solidFill>
                  <a:srgbClr val="C00000"/>
                </a:solidFill>
              </a:rPr>
              <a:t>non-repetitive</a:t>
            </a:r>
            <a:r>
              <a:rPr lang="en-US" sz="2400" dirty="0" smtClean="0"/>
              <a:t> programs and procedures.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Operational data</a:t>
            </a:r>
            <a:r>
              <a:rPr lang="en-US" sz="2400" dirty="0" smtClean="0"/>
              <a:t> is primitive; </a:t>
            </a:r>
            <a:r>
              <a:rPr lang="en-US" sz="2400" i="1" dirty="0" smtClean="0">
                <a:solidFill>
                  <a:srgbClr val="C00000"/>
                </a:solidFill>
              </a:rPr>
              <a:t>decision support system</a:t>
            </a:r>
            <a:r>
              <a:rPr lang="en-US" sz="2400" dirty="0" smtClean="0"/>
              <a:t> (DSS) </a:t>
            </a:r>
            <a:r>
              <a:rPr lang="en-US" sz="2400" i="1" dirty="0" smtClean="0">
                <a:solidFill>
                  <a:srgbClr val="C00000"/>
                </a:solidFill>
              </a:rPr>
              <a:t>data</a:t>
            </a:r>
            <a:r>
              <a:rPr lang="en-US" sz="2400" dirty="0" smtClean="0"/>
              <a:t> is derived.</a:t>
            </a:r>
          </a:p>
          <a:p>
            <a:r>
              <a:rPr lang="en-US" sz="2400" dirty="0" smtClean="0"/>
              <a:t>Primitive data supports the </a:t>
            </a:r>
            <a:r>
              <a:rPr lang="en-US" sz="2400" i="1" dirty="0" smtClean="0">
                <a:solidFill>
                  <a:srgbClr val="C00000"/>
                </a:solidFill>
              </a:rPr>
              <a:t>clerical function</a:t>
            </a:r>
            <a:r>
              <a:rPr lang="en-US" sz="2400" dirty="0" smtClean="0"/>
              <a:t>. Derived data supports the </a:t>
            </a:r>
            <a:r>
              <a:rPr lang="en-US" sz="2400" i="1" dirty="0" smtClean="0">
                <a:solidFill>
                  <a:srgbClr val="C00000"/>
                </a:solidFill>
              </a:rPr>
              <a:t>managerial function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Primitive data and derived data are so different that they do </a:t>
            </a:r>
            <a:r>
              <a:rPr lang="en-US" sz="2400" i="1" dirty="0" smtClean="0">
                <a:solidFill>
                  <a:srgbClr val="C00000"/>
                </a:solidFill>
              </a:rPr>
              <a:t>not reside in the same database</a:t>
            </a:r>
            <a:r>
              <a:rPr lang="en-US" sz="2400" dirty="0" smtClean="0"/>
              <a:t> or even the same environment.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Levels of Data 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operational level</a:t>
            </a:r>
            <a:r>
              <a:rPr lang="en-US" sz="2400" dirty="0" smtClean="0"/>
              <a:t> of data holds application-oriented primitive data only and primarily serves the high-performance transaction-processing community.</a:t>
            </a:r>
          </a:p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data-warehouse level</a:t>
            </a:r>
            <a:r>
              <a:rPr lang="en-US" sz="2400" dirty="0" smtClean="0"/>
              <a:t> of data holds integrated, historical primitive data that cannot be updated.</a:t>
            </a:r>
          </a:p>
          <a:p>
            <a:r>
              <a:rPr lang="en-US" sz="2400" dirty="0" smtClean="0"/>
              <a:t>The departmental environment—sometimes called the </a:t>
            </a:r>
            <a:r>
              <a:rPr lang="en-US" sz="2400" i="1" dirty="0" smtClean="0">
                <a:solidFill>
                  <a:srgbClr val="C00000"/>
                </a:solidFill>
              </a:rPr>
              <a:t>data mart level</a:t>
            </a:r>
            <a:r>
              <a:rPr lang="en-US" sz="2400" dirty="0" smtClean="0"/>
              <a:t>, the OLAP level, or the multidimensional DBMS level—contains information useful to the different parochial departments of a company.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Individual data</a:t>
            </a:r>
            <a:r>
              <a:rPr lang="en-US" sz="2400" dirty="0" smtClean="0"/>
              <a:t> is usually temporary and small. Much heuristic analysis is done at the individual level.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Levels of Data II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7225" y="1885950"/>
            <a:ext cx="7829550" cy="405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Kinds of Queries</a:t>
            </a:r>
            <a:endParaRPr lang="en-US" dirty="0"/>
          </a:p>
        </p:txBody>
      </p:sp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81163" y="1476375"/>
            <a:ext cx="5781675" cy="5153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Integration</a:t>
            </a:r>
            <a:endParaRPr lang="en-US" dirty="0"/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09813" y="1466850"/>
            <a:ext cx="4524375" cy="523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Data Warehouse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data warehouse</a:t>
            </a:r>
            <a:r>
              <a:rPr lang="en-US" sz="2400" dirty="0" smtClean="0"/>
              <a:t> is a subject-oriented, integrated, nonvolatile, and time-variant collection of data in support of management’s decisions.</a:t>
            </a:r>
          </a:p>
          <a:p>
            <a:r>
              <a:rPr lang="en-US" sz="2400" dirty="0" smtClean="0"/>
              <a:t>The data warehouse contains </a:t>
            </a:r>
            <a:r>
              <a:rPr lang="en-US" sz="2400" i="1" dirty="0" smtClean="0">
                <a:solidFill>
                  <a:srgbClr val="C00000"/>
                </a:solidFill>
              </a:rPr>
              <a:t>granular corporate data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Subject Orientation of Insurance Company Data</a:t>
            </a:r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85950" y="1600200"/>
            <a:ext cx="5372100" cy="490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Integration Issue</a:t>
            </a:r>
            <a:endParaRPr lang="en-US" dirty="0"/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95475" y="1676400"/>
            <a:ext cx="5353050" cy="488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Non-volatility of Data</a:t>
            </a:r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9163" y="1757363"/>
            <a:ext cx="7305675" cy="3343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 </a:t>
            </a:r>
            <a:r>
              <a:rPr lang="en-US" dirty="0" err="1" smtClean="0"/>
              <a:t>Variancy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Time </a:t>
            </a:r>
            <a:r>
              <a:rPr lang="en-US" sz="2400" i="1" dirty="0" err="1" smtClean="0">
                <a:solidFill>
                  <a:srgbClr val="C00000"/>
                </a:solidFill>
              </a:rPr>
              <a:t>variancy</a:t>
            </a:r>
            <a:r>
              <a:rPr lang="en-US" sz="2400" dirty="0" smtClean="0"/>
              <a:t> implies that every unit of data in the data warehouse is accurate as of some one moment in time.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Different environments</a:t>
            </a:r>
            <a:r>
              <a:rPr lang="en-US" sz="2400" dirty="0" smtClean="0"/>
              <a:t> have different time horizons.</a:t>
            </a:r>
          </a:p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time horizon</a:t>
            </a:r>
            <a:r>
              <a:rPr lang="en-US" sz="2400" dirty="0" smtClean="0"/>
              <a:t> is the parameters of time represented in an environment.</a:t>
            </a:r>
            <a:endParaRPr lang="en-US" sz="2400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76388" y="3724275"/>
            <a:ext cx="5991225" cy="290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Major Subject Area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1981200"/>
          </a:xfrm>
        </p:spPr>
        <p:txBody>
          <a:bodyPr/>
          <a:lstStyle/>
          <a:p>
            <a:r>
              <a:rPr lang="en-US" sz="2400" dirty="0" smtClean="0"/>
              <a:t>The data warehouse is oriented to the </a:t>
            </a:r>
            <a:r>
              <a:rPr lang="en-US" sz="2400" i="1" dirty="0" smtClean="0">
                <a:solidFill>
                  <a:srgbClr val="C00000"/>
                </a:solidFill>
              </a:rPr>
              <a:t>major subject areas</a:t>
            </a:r>
            <a:r>
              <a:rPr lang="en-US" sz="2400" dirty="0" smtClean="0"/>
              <a:t> of the corporation that have been defined in the high-level corporate data model.</a:t>
            </a:r>
          </a:p>
          <a:p>
            <a:r>
              <a:rPr lang="en-US" sz="2400" dirty="0" smtClean="0"/>
              <a:t>Data warehouse data is organized by major subject area—in this case, by </a:t>
            </a:r>
            <a:r>
              <a:rPr lang="en-US" sz="2400" i="1" dirty="0" smtClean="0">
                <a:solidFill>
                  <a:srgbClr val="C00000"/>
                </a:solidFill>
              </a:rPr>
              <a:t>customer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3438525"/>
            <a:ext cx="5286375" cy="319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7400" y="3600450"/>
            <a:ext cx="3086100" cy="302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Physical Implementation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276600" cy="4876800"/>
          </a:xfrm>
        </p:spPr>
        <p:txBody>
          <a:bodyPr/>
          <a:lstStyle/>
          <a:p>
            <a:r>
              <a:rPr lang="en-US" sz="2200" dirty="0" smtClean="0"/>
              <a:t>Each major subject area is </a:t>
            </a:r>
            <a:r>
              <a:rPr lang="en-US" sz="2200" i="1" dirty="0" smtClean="0">
                <a:solidFill>
                  <a:srgbClr val="C00000"/>
                </a:solidFill>
              </a:rPr>
              <a:t>physically implemented</a:t>
            </a:r>
            <a:r>
              <a:rPr lang="en-US" sz="2200" dirty="0" smtClean="0"/>
              <a:t> as a series of related tables in the data warehouse.</a:t>
            </a:r>
          </a:p>
          <a:p>
            <a:r>
              <a:rPr lang="en-US" sz="2200" dirty="0" smtClean="0"/>
              <a:t>A subject area may </a:t>
            </a:r>
            <a:r>
              <a:rPr lang="en-US" sz="2200" i="1" dirty="0" smtClean="0">
                <a:solidFill>
                  <a:srgbClr val="C00000"/>
                </a:solidFill>
              </a:rPr>
              <a:t>consist of</a:t>
            </a:r>
            <a:r>
              <a:rPr lang="en-US" sz="2200" dirty="0" smtClean="0"/>
              <a:t> 10, 100, or even more physical tables that are all related.</a:t>
            </a:r>
          </a:p>
          <a:p>
            <a:r>
              <a:rPr lang="en-US" sz="2200" dirty="0" smtClean="0"/>
              <a:t>All of the physical tables for the customer subject area are related by a </a:t>
            </a:r>
            <a:r>
              <a:rPr lang="en-US" sz="2200" i="1" dirty="0" smtClean="0">
                <a:solidFill>
                  <a:srgbClr val="C00000"/>
                </a:solidFill>
              </a:rPr>
              <a:t>common key</a:t>
            </a:r>
            <a:r>
              <a:rPr lang="en-US" sz="2200" dirty="0" smtClean="0"/>
              <a:t>.</a:t>
            </a:r>
            <a:endParaRPr lang="en-US" sz="2200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67125" y="1752600"/>
            <a:ext cx="5324475" cy="442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Granularity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Granularity</a:t>
            </a:r>
            <a:r>
              <a:rPr lang="en-US" sz="2400" dirty="0" smtClean="0"/>
              <a:t> refers to the level of detail or summarization of the units of data in the data warehouse.</a:t>
            </a:r>
          </a:p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more detail</a:t>
            </a:r>
            <a:r>
              <a:rPr lang="en-US" sz="2400" dirty="0" smtClean="0"/>
              <a:t> there is, the lower the level of granularity.</a:t>
            </a:r>
          </a:p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less detail</a:t>
            </a:r>
            <a:r>
              <a:rPr lang="en-US" sz="2400" dirty="0" smtClean="0"/>
              <a:t> there is, the higher the level of granularity.</a:t>
            </a:r>
            <a:endParaRPr lang="en-US" sz="2400" dirty="0"/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09713" y="3695700"/>
            <a:ext cx="6124575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Granularity Example</a:t>
            </a:r>
            <a:endParaRPr lang="en-US" dirty="0"/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95475" y="1733550"/>
            <a:ext cx="5353050" cy="474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Determining the Level of Granularity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1"/>
            <a:ext cx="8229600" cy="2209799"/>
          </a:xfrm>
        </p:spPr>
        <p:txBody>
          <a:bodyPr/>
          <a:lstStyle/>
          <a:p>
            <a:r>
              <a:rPr lang="en-US" sz="2200" dirty="0" smtClean="0"/>
              <a:t>When data is compacted, </a:t>
            </a:r>
            <a:r>
              <a:rPr lang="en-US" sz="2200" i="1" dirty="0" smtClean="0">
                <a:solidFill>
                  <a:srgbClr val="C00000"/>
                </a:solidFill>
              </a:rPr>
              <a:t>significant savings</a:t>
            </a:r>
            <a:r>
              <a:rPr lang="en-US" sz="2200" dirty="0" smtClean="0"/>
              <a:t> can be realized in the amount of direct access storage device (DASD) used, the number of index entries required, and the processor resources required to manipulate data.</a:t>
            </a:r>
          </a:p>
          <a:p>
            <a:r>
              <a:rPr lang="en-US" sz="2200" dirty="0" smtClean="0"/>
              <a:t>As the level of granularity of data rises, there is a </a:t>
            </a:r>
            <a:r>
              <a:rPr lang="en-US" sz="2200" i="1" dirty="0" smtClean="0">
                <a:solidFill>
                  <a:srgbClr val="C00000"/>
                </a:solidFill>
              </a:rPr>
              <a:t>corresponding loss</a:t>
            </a:r>
            <a:r>
              <a:rPr lang="en-US" sz="2200" dirty="0" smtClean="0"/>
              <a:t> in the ability to answer queries using the data.</a:t>
            </a:r>
            <a:endParaRPr lang="en-US" sz="2200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90713" y="4162425"/>
            <a:ext cx="5362575" cy="246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Effect of Granularity Example</a:t>
            </a:r>
            <a:endParaRPr lang="en-US" dirty="0"/>
          </a:p>
        </p:txBody>
      </p:sp>
      <p:pic>
        <p:nvPicPr>
          <p:cNvPr id="19461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8838" y="1628775"/>
            <a:ext cx="4886325" cy="500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Dual Levels of Granularity</a:t>
            </a:r>
            <a:endParaRPr lang="en-US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95425" y="1533525"/>
            <a:ext cx="6153150" cy="494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Dual Levels of Granularity Example</a:t>
            </a:r>
            <a:endParaRPr lang="en-US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14525" y="1676400"/>
            <a:ext cx="5314950" cy="483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Living Sample Database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905000"/>
          </a:xfrm>
        </p:spPr>
        <p:txBody>
          <a:bodyPr/>
          <a:lstStyle/>
          <a:p>
            <a:r>
              <a:rPr lang="en-US" sz="2200" dirty="0" smtClean="0"/>
              <a:t>The </a:t>
            </a:r>
            <a:r>
              <a:rPr lang="en-US" sz="2200" i="1" dirty="0" smtClean="0">
                <a:solidFill>
                  <a:srgbClr val="C00000"/>
                </a:solidFill>
              </a:rPr>
              <a:t>living sample database</a:t>
            </a:r>
            <a:r>
              <a:rPr lang="en-US" sz="2200" dirty="0" smtClean="0"/>
              <a:t> refers to a subset of either true archival data or lightly summarized data taken from a data warehouse.</a:t>
            </a:r>
          </a:p>
          <a:p>
            <a:r>
              <a:rPr lang="en-US" sz="2200" dirty="0" smtClean="0"/>
              <a:t>The term “living” stems from the fact that it is a </a:t>
            </a:r>
            <a:r>
              <a:rPr lang="en-US" sz="2200" i="1" dirty="0" smtClean="0">
                <a:solidFill>
                  <a:srgbClr val="C00000"/>
                </a:solidFill>
              </a:rPr>
              <a:t>subset</a:t>
            </a:r>
            <a:r>
              <a:rPr lang="en-US" sz="2200" dirty="0" smtClean="0"/>
              <a:t>—a sample—of a larger database, and the term “sample” stems from the fact that periodically the database needs to </a:t>
            </a:r>
            <a:r>
              <a:rPr lang="en-US" sz="2200" i="1" dirty="0" smtClean="0">
                <a:solidFill>
                  <a:srgbClr val="C00000"/>
                </a:solidFill>
              </a:rPr>
              <a:t>be refreshed</a:t>
            </a:r>
            <a:r>
              <a:rPr lang="en-US" sz="2200" dirty="0" smtClean="0"/>
              <a:t>.</a:t>
            </a:r>
            <a:endParaRPr lang="en-US" sz="2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0275" y="3733800"/>
            <a:ext cx="4743450" cy="284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Reporting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1885950"/>
            <a:ext cx="6705600" cy="421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Incorrect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Suppose that on July 1 an entry for </a:t>
            </a:r>
            <a:r>
              <a:rPr lang="en-US" sz="2200" i="1" dirty="0" smtClean="0">
                <a:solidFill>
                  <a:srgbClr val="C00000"/>
                </a:solidFill>
              </a:rPr>
              <a:t>$5,000</a:t>
            </a:r>
            <a:r>
              <a:rPr lang="en-US" sz="2200" dirty="0" smtClean="0"/>
              <a:t> is made into an </a:t>
            </a:r>
            <a:r>
              <a:rPr lang="en-US" sz="2200" i="1" dirty="0" smtClean="0">
                <a:solidFill>
                  <a:srgbClr val="C00000"/>
                </a:solidFill>
              </a:rPr>
              <a:t>operational system</a:t>
            </a:r>
            <a:r>
              <a:rPr lang="en-US" sz="2200" dirty="0" smtClean="0"/>
              <a:t> for account ABC.</a:t>
            </a:r>
          </a:p>
          <a:p>
            <a:r>
              <a:rPr lang="en-US" sz="2200" dirty="0" smtClean="0"/>
              <a:t>On July 2 a </a:t>
            </a:r>
            <a:r>
              <a:rPr lang="en-US" sz="2200" i="1" dirty="0" smtClean="0">
                <a:solidFill>
                  <a:srgbClr val="C00000"/>
                </a:solidFill>
              </a:rPr>
              <a:t>snapshot</a:t>
            </a:r>
            <a:r>
              <a:rPr lang="en-US" sz="2200" dirty="0" smtClean="0"/>
              <a:t> for $5,000 is created in the </a:t>
            </a:r>
            <a:r>
              <a:rPr lang="en-US" sz="2200" i="1" dirty="0" smtClean="0">
                <a:solidFill>
                  <a:srgbClr val="C00000"/>
                </a:solidFill>
              </a:rPr>
              <a:t>data warehouse</a:t>
            </a:r>
            <a:r>
              <a:rPr lang="en-US" sz="2200" dirty="0" smtClean="0"/>
              <a:t> for account ABC.</a:t>
            </a:r>
          </a:p>
          <a:p>
            <a:r>
              <a:rPr lang="en-US" sz="2200" dirty="0" smtClean="0"/>
              <a:t>Then on August 15 an </a:t>
            </a:r>
            <a:r>
              <a:rPr lang="en-US" sz="2200" i="1" dirty="0" smtClean="0">
                <a:solidFill>
                  <a:srgbClr val="C00000"/>
                </a:solidFill>
              </a:rPr>
              <a:t>error is discovered</a:t>
            </a:r>
            <a:r>
              <a:rPr lang="en-US" sz="2200" dirty="0" smtClean="0"/>
              <a:t>. Instead of an entry for $5,000, the entry should have been for </a:t>
            </a:r>
            <a:r>
              <a:rPr lang="en-US" sz="2200" i="1" dirty="0" smtClean="0">
                <a:solidFill>
                  <a:srgbClr val="C00000"/>
                </a:solidFill>
              </a:rPr>
              <a:t>$750</a:t>
            </a:r>
            <a:r>
              <a:rPr lang="en-US" sz="2200" dirty="0" smtClean="0"/>
              <a:t>.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How</a:t>
            </a:r>
            <a:r>
              <a:rPr lang="en-US" sz="2200" dirty="0" smtClean="0"/>
              <a:t> can the data in the data warehouse be corrected?</a:t>
            </a:r>
          </a:p>
          <a:p>
            <a:pPr lvl="1"/>
            <a:r>
              <a:rPr lang="en-US" sz="1800" dirty="0" smtClean="0"/>
              <a:t>Using </a:t>
            </a:r>
            <a:r>
              <a:rPr lang="en-US" sz="1800" i="1" dirty="0" smtClean="0">
                <a:solidFill>
                  <a:srgbClr val="C00000"/>
                </a:solidFill>
              </a:rPr>
              <a:t>update capabilities</a:t>
            </a:r>
            <a:r>
              <a:rPr lang="en-US" sz="1800" dirty="0" smtClean="0"/>
              <a:t>, replace the value $5,000 with the value $750.</a:t>
            </a:r>
          </a:p>
          <a:p>
            <a:pPr lvl="1"/>
            <a:r>
              <a:rPr lang="en-US" sz="1800" dirty="0" smtClean="0"/>
              <a:t>Enter </a:t>
            </a:r>
            <a:r>
              <a:rPr lang="en-US" sz="1800" i="1" dirty="0" smtClean="0">
                <a:solidFill>
                  <a:srgbClr val="C00000"/>
                </a:solidFill>
              </a:rPr>
              <a:t>offsetting entries</a:t>
            </a:r>
            <a:r>
              <a:rPr lang="en-US" sz="1800" dirty="0" smtClean="0"/>
              <a:t>. Two entries are made on August 16, one for $5,000 and another for $750.</a:t>
            </a:r>
          </a:p>
          <a:p>
            <a:pPr lvl="1"/>
            <a:r>
              <a:rPr lang="en-US" sz="1800" i="1" dirty="0" smtClean="0">
                <a:solidFill>
                  <a:srgbClr val="C00000"/>
                </a:solidFill>
              </a:rPr>
              <a:t>Reset the account</a:t>
            </a:r>
            <a:r>
              <a:rPr lang="en-US" sz="1800" dirty="0" smtClean="0"/>
              <a:t> to the proper value on August 16. An entry on August 16 reflects the balance of the account at that moment </a:t>
            </a:r>
            <a:r>
              <a:rPr lang="en-US" sz="1800" i="1" dirty="0" smtClean="0">
                <a:solidFill>
                  <a:srgbClr val="C00000"/>
                </a:solidFill>
              </a:rPr>
              <a:t>regardless of any past activity</a:t>
            </a:r>
            <a:r>
              <a:rPr lang="en-US" sz="1800" dirty="0" smtClean="0"/>
              <a:t>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corporate data model</a:t>
            </a:r>
            <a:r>
              <a:rPr lang="en-US" sz="2400" dirty="0" smtClean="0"/>
              <a:t> focuses on and represents only primitive data.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Performance factors</a:t>
            </a:r>
            <a:r>
              <a:rPr lang="en-US" sz="2400" dirty="0" smtClean="0"/>
              <a:t> are added into the corporate data model as the model is transported to the existing systems environment.</a:t>
            </a:r>
          </a:p>
          <a:p>
            <a:r>
              <a:rPr lang="en-US" sz="2400" dirty="0" smtClean="0"/>
              <a:t>A fair number of changes are made to the corporate data model as it is applied to the </a:t>
            </a:r>
            <a:r>
              <a:rPr lang="en-US" sz="2400" i="1" dirty="0" smtClean="0">
                <a:solidFill>
                  <a:srgbClr val="C00000"/>
                </a:solidFill>
              </a:rPr>
              <a:t>data warehouse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Different Levels of Modeling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95500" y="1657350"/>
            <a:ext cx="4953000" cy="489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Stability Analysis</a:t>
            </a:r>
            <a:endParaRPr lang="en-US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285875"/>
            <a:ext cx="4133850" cy="549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5181600" y="1981200"/>
            <a:ext cx="3581400" cy="230832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>
                <a:latin typeface="+mj-lt"/>
              </a:rPr>
              <a:t>Data that seldom changes is grouped.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>
                <a:latin typeface="+mj-lt"/>
              </a:rPr>
              <a:t>Data that sometimes changes is grouped.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>
                <a:latin typeface="+mj-lt"/>
              </a:rPr>
              <a:t>Data that frequently changes is grouped.</a:t>
            </a:r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Corporate ERD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9725" y="1628775"/>
            <a:ext cx="5924550" cy="469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Item Set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71575" y="1933575"/>
            <a:ext cx="6800850" cy="393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990600" y="5943600"/>
            <a:ext cx="7010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latin typeface="+mj-lt"/>
              </a:rPr>
              <a:t>Each entity in the ERD is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further defined</a:t>
            </a:r>
            <a:r>
              <a:rPr lang="en-US" sz="2400" dirty="0" smtClean="0">
                <a:latin typeface="+mj-lt"/>
              </a:rPr>
              <a:t> by its own DIS.</a:t>
            </a:r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Four Constructs Making Up Midlevel Data Model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6313" y="2076450"/>
            <a:ext cx="7191375" cy="379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Four Constructs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primary grouping</a:t>
            </a:r>
            <a:r>
              <a:rPr lang="en-US" sz="2400" dirty="0" smtClean="0"/>
              <a:t> exists once, and only once, for each major subject area. It holds attributes that exist only once for each major subject area.</a:t>
            </a:r>
          </a:p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secondary grouping</a:t>
            </a:r>
            <a:r>
              <a:rPr lang="en-US" sz="2400" dirty="0" smtClean="0"/>
              <a:t> holds data attributes that can exist multiple times for each major subject area.</a:t>
            </a:r>
          </a:p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connector</a:t>
            </a:r>
            <a:r>
              <a:rPr lang="en-US" sz="2400" dirty="0" smtClean="0"/>
              <a:t> relates data from one grouping to another.</a:t>
            </a:r>
          </a:p>
          <a:p>
            <a:r>
              <a:rPr lang="en-US" sz="2400" dirty="0" smtClean="0"/>
              <a:t>“</a:t>
            </a:r>
            <a:r>
              <a:rPr lang="en-US" sz="2400" i="1" dirty="0" smtClean="0">
                <a:solidFill>
                  <a:srgbClr val="C00000"/>
                </a:solidFill>
              </a:rPr>
              <a:t>Type of</a:t>
            </a:r>
            <a:r>
              <a:rPr lang="en-US" sz="2400" dirty="0" smtClean="0"/>
              <a:t>” data is indicated by a line leading to the right of a grouping of data. The grouping of data to the left is the super-type. The grouping of data to the right is the subtype of data.</a:t>
            </a:r>
            <a:endParaRPr lang="en-US" sz="2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“Type of” Data Example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00350" y="1866900"/>
            <a:ext cx="6038850" cy="453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228600" y="1905000"/>
            <a:ext cx="38862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>
                <a:latin typeface="+mj-lt"/>
              </a:rPr>
              <a:t>One type of criteria is by 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activity type</a:t>
            </a:r>
            <a:r>
              <a:rPr lang="en-US" sz="2000" dirty="0" smtClean="0">
                <a:latin typeface="+mj-lt"/>
              </a:rPr>
              <a:t>—either a deposit or a withdrawal.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The other line</a:t>
            </a:r>
            <a:r>
              <a:rPr lang="en-US" sz="2000" dirty="0" smtClean="0">
                <a:latin typeface="+mj-lt"/>
              </a:rPr>
              <a:t> indicates another—either an ATM activity or a teller activity.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Collectively</a:t>
            </a:r>
            <a:r>
              <a:rPr lang="en-US" sz="2000" dirty="0" smtClean="0">
                <a:latin typeface="+mj-lt"/>
              </a:rPr>
              <a:t>, the two types of activity encompass the following transactions: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sz="2000" dirty="0" smtClean="0">
                <a:latin typeface="+mj-lt"/>
              </a:rPr>
              <a:t>ATM deposit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sz="2000" dirty="0" smtClean="0">
                <a:latin typeface="+mj-lt"/>
              </a:rPr>
              <a:t>ATM withdrawal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sz="2000" dirty="0" smtClean="0">
                <a:latin typeface="+mj-lt"/>
              </a:rPr>
              <a:t>Teller deposit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sz="2000" dirty="0" smtClean="0">
                <a:latin typeface="+mj-lt"/>
              </a:rPr>
              <a:t>Teller withdrawal</a:t>
            </a:r>
            <a:endParaRPr lang="en-US" sz="2000" dirty="0">
              <a:latin typeface="+mj-l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Two-Dimensional Data Model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04800" y="4907340"/>
            <a:ext cx="85344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>
                <a:latin typeface="+mj-lt"/>
              </a:rPr>
              <a:t>A simple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two-dimensional data model</a:t>
            </a:r>
            <a:r>
              <a:rPr lang="en-US" sz="2400" dirty="0" smtClean="0">
                <a:latin typeface="+mj-lt"/>
              </a:rPr>
              <a:t> gives the impression that all entities are equal.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>
                <a:latin typeface="+mj-lt"/>
              </a:rPr>
              <a:t>Approaching database design for the data warehouse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solely </a:t>
            </a:r>
            <a:r>
              <a:rPr lang="en-US" sz="2400" dirty="0" smtClean="0">
                <a:latin typeface="+mj-lt"/>
              </a:rPr>
              <a:t>from the perspective of the data model produces a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“flat” effect</a:t>
            </a:r>
            <a:r>
              <a:rPr lang="en-US" sz="2400" dirty="0" smtClean="0">
                <a:latin typeface="+mj-lt"/>
              </a:rPr>
              <a:t>.</a:t>
            </a:r>
            <a:endParaRPr lang="en-US" sz="2400" dirty="0">
              <a:latin typeface="+mj-lt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57413" y="1752600"/>
            <a:ext cx="4829175" cy="282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Three-Dimensional Data Model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09600" y="5105400"/>
            <a:ext cx="7696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latin typeface="+mj-lt"/>
              </a:rPr>
              <a:t>A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three-dimensional</a:t>
            </a:r>
            <a:r>
              <a:rPr lang="en-US" sz="2400" dirty="0" smtClean="0">
                <a:latin typeface="+mj-lt"/>
              </a:rPr>
              <a:t> perspective of the entities shows that the entities are anything but equals.</a:t>
            </a:r>
          </a:p>
          <a:p>
            <a:pPr algn="ctr"/>
            <a:r>
              <a:rPr lang="en-US" sz="2400" dirty="0" smtClean="0">
                <a:latin typeface="+mj-lt"/>
              </a:rPr>
              <a:t>Some contain far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more occurrences</a:t>
            </a:r>
            <a:r>
              <a:rPr lang="en-US" sz="2400" dirty="0" smtClean="0">
                <a:latin typeface="+mj-lt"/>
              </a:rPr>
              <a:t> of the data than others.</a:t>
            </a:r>
            <a:endParaRPr lang="en-US" sz="2400" dirty="0">
              <a:latin typeface="+mj-lt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43188" y="1971675"/>
            <a:ext cx="3857625" cy="244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Star Join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438400"/>
          </a:xfrm>
        </p:spPr>
        <p:txBody>
          <a:bodyPr/>
          <a:lstStyle/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design structure</a:t>
            </a:r>
            <a:r>
              <a:rPr lang="en-US" sz="2400" dirty="0" smtClean="0"/>
              <a:t> that is required to manage large amounts of data residing in an entity in a data mart is called a “</a:t>
            </a:r>
            <a:r>
              <a:rPr lang="en-US" sz="2400" i="1" dirty="0" smtClean="0">
                <a:solidFill>
                  <a:srgbClr val="C00000"/>
                </a:solidFill>
              </a:rPr>
              <a:t>star join</a:t>
            </a:r>
            <a:r>
              <a:rPr lang="en-US" sz="2400" dirty="0" smtClean="0"/>
              <a:t>.”</a:t>
            </a:r>
          </a:p>
          <a:p>
            <a:r>
              <a:rPr lang="en-US" sz="2400" dirty="0" smtClean="0"/>
              <a:t>The center of the star join-ORDER-is called the “</a:t>
            </a:r>
            <a:r>
              <a:rPr lang="en-US" sz="2400" i="1" dirty="0" smtClean="0">
                <a:solidFill>
                  <a:srgbClr val="C00000"/>
                </a:solidFill>
              </a:rPr>
              <a:t>fact table</a:t>
            </a:r>
            <a:r>
              <a:rPr lang="en-US" sz="2400" dirty="0" smtClean="0"/>
              <a:t>.”</a:t>
            </a:r>
          </a:p>
          <a:p>
            <a:r>
              <a:rPr lang="en-US" sz="2400" dirty="0" smtClean="0"/>
              <a:t>The surrounding entities—PART, DATE, SUPPLIER, and SHIPMENT—are called “</a:t>
            </a:r>
            <a:r>
              <a:rPr lang="en-US" sz="2400" i="1" dirty="0" smtClean="0">
                <a:solidFill>
                  <a:srgbClr val="C00000"/>
                </a:solidFill>
              </a:rPr>
              <a:t>dimension tables</a:t>
            </a:r>
            <a:r>
              <a:rPr lang="en-US" sz="2400" dirty="0" smtClean="0"/>
              <a:t>."</a:t>
            </a:r>
          </a:p>
          <a:p>
            <a:endParaRPr lang="en-US" sz="2400" dirty="0"/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3125" y="4181475"/>
            <a:ext cx="4857750" cy="244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Star Join and Data Mart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star join applies as a </a:t>
            </a:r>
            <a:r>
              <a:rPr lang="en-US" sz="2400" i="1" dirty="0" smtClean="0">
                <a:solidFill>
                  <a:srgbClr val="C00000"/>
                </a:solidFill>
              </a:rPr>
              <a:t>design foundation</a:t>
            </a:r>
            <a:r>
              <a:rPr lang="en-US" sz="2400" dirty="0" smtClean="0"/>
              <a:t> to the very large entities that will exist in the data mart.</a:t>
            </a:r>
          </a:p>
          <a:p>
            <a:r>
              <a:rPr lang="en-US" sz="2400" dirty="0" smtClean="0"/>
              <a:t>The data mart structures are typically known as </a:t>
            </a:r>
            <a:r>
              <a:rPr lang="en-US" sz="2400" i="1" dirty="0" smtClean="0">
                <a:solidFill>
                  <a:srgbClr val="C00000"/>
                </a:solidFill>
              </a:rPr>
              <a:t>multidimensional structures</a:t>
            </a:r>
            <a:r>
              <a:rPr lang="en-US" sz="2400" dirty="0" smtClean="0"/>
              <a:t> and are served by OLAP technology.</a:t>
            </a:r>
          </a:p>
          <a:p>
            <a:r>
              <a:rPr lang="en-US" sz="2400" dirty="0" smtClean="0"/>
              <a:t>Because the data mart is a </a:t>
            </a:r>
            <a:r>
              <a:rPr lang="en-US" sz="2400" i="1" dirty="0" smtClean="0">
                <a:solidFill>
                  <a:srgbClr val="C00000"/>
                </a:solidFill>
              </a:rPr>
              <a:t>load-and-access environment</a:t>
            </a:r>
            <a:r>
              <a:rPr lang="en-US" sz="2400" dirty="0" smtClean="0"/>
              <a:t>, because the data mart contains </a:t>
            </a:r>
            <a:r>
              <a:rPr lang="en-US" sz="2400" i="1" dirty="0" smtClean="0">
                <a:solidFill>
                  <a:srgbClr val="C00000"/>
                </a:solidFill>
              </a:rPr>
              <a:t>historical data</a:t>
            </a:r>
            <a:r>
              <a:rPr lang="en-US" sz="2400" dirty="0" smtClean="0"/>
              <a:t>, and because </a:t>
            </a:r>
            <a:r>
              <a:rPr lang="en-US" sz="2400" i="1" dirty="0" smtClean="0">
                <a:solidFill>
                  <a:srgbClr val="C00000"/>
                </a:solidFill>
              </a:rPr>
              <a:t>massive amounts</a:t>
            </a:r>
            <a:r>
              <a:rPr lang="en-US" sz="2400" dirty="0" smtClean="0"/>
              <a:t> of data need to be managed, the star join data structure is ideal for the processing that occurs inside the star join.</a:t>
            </a:r>
            <a:endParaRPr lang="en-US" sz="2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Normalization Drawbacks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62100" y="1866900"/>
            <a:ext cx="6019800" cy="354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685800" y="5715000"/>
            <a:ext cx="7467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latin typeface="+mj-lt"/>
              </a:rPr>
              <a:t>When there are many tables, much I/O is required for dynamic interconnect-ability.</a:t>
            </a:r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Denormalization</a:t>
            </a:r>
            <a:r>
              <a:rPr lang="en-US" dirty="0" smtClean="0"/>
              <a:t>: Merging Tables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85800" y="5715000"/>
            <a:ext cx="7848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latin typeface="+mj-lt"/>
              </a:rPr>
              <a:t>When tables are physically merged, much less I/O is required.</a:t>
            </a:r>
            <a:endParaRPr lang="en-US" sz="2400" dirty="0">
              <a:latin typeface="+mj-lt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52575" y="2043113"/>
            <a:ext cx="6038850" cy="277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Denormalization</a:t>
            </a:r>
            <a:r>
              <a:rPr lang="en-US" dirty="0" smtClean="0"/>
              <a:t>: Creating Arrays of Data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85800" y="5798403"/>
            <a:ext cx="7848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latin typeface="+mj-lt"/>
              </a:rPr>
              <a:t>Under the right circumstances, creating arrays of data can save considerable resources.</a:t>
            </a:r>
            <a:endParaRPr lang="en-US" sz="2400" dirty="0">
              <a:latin typeface="+mj-lt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2538" y="1771650"/>
            <a:ext cx="6638925" cy="3867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Denormalization</a:t>
            </a:r>
            <a:r>
              <a:rPr lang="en-US" dirty="0" smtClean="0"/>
              <a:t>: Redundant Data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85950" y="1228725"/>
            <a:ext cx="5372100" cy="547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Denormalization</a:t>
            </a:r>
            <a:r>
              <a:rPr lang="en-US" dirty="0" smtClean="0"/>
              <a:t>: Further Separation of Data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85800" y="5798403"/>
            <a:ext cx="7848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latin typeface="+mj-lt"/>
              </a:rPr>
              <a:t>Further separation of data based on a wide disparity in the probability of access.</a:t>
            </a:r>
            <a:endParaRPr lang="en-US" sz="2400" dirty="0">
              <a:latin typeface="+mj-lt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2162175"/>
            <a:ext cx="6705600" cy="340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Denormalization</a:t>
            </a:r>
            <a:r>
              <a:rPr lang="en-US" dirty="0" smtClean="0"/>
              <a:t>: Derived Data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85800" y="5798403"/>
            <a:ext cx="7848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latin typeface="+mj-lt"/>
              </a:rPr>
              <a:t>Derived data, calculated once, then forever available.</a:t>
            </a:r>
            <a:endParaRPr lang="en-US" sz="2400" dirty="0">
              <a:latin typeface="+mj-lt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1390650"/>
            <a:ext cx="6096000" cy="407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Denormalization</a:t>
            </a:r>
            <a:r>
              <a:rPr lang="en-US" dirty="0" smtClean="0"/>
              <a:t>: Creative Indexes/Profiles</a:t>
            </a:r>
            <a:endParaRPr lang="en-US" dirty="0"/>
          </a:p>
        </p:txBody>
      </p:sp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1552575"/>
            <a:ext cx="5791200" cy="5153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Referential Integrity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In the </a:t>
            </a:r>
            <a:r>
              <a:rPr lang="en-US" sz="2400" i="1" dirty="0" smtClean="0">
                <a:solidFill>
                  <a:srgbClr val="C00000"/>
                </a:solidFill>
              </a:rPr>
              <a:t>operational environment</a:t>
            </a:r>
            <a:r>
              <a:rPr lang="en-US" sz="2400" dirty="0" smtClean="0"/>
              <a:t>, </a:t>
            </a:r>
            <a:r>
              <a:rPr lang="en-US" sz="2400" i="1" dirty="0" smtClean="0">
                <a:solidFill>
                  <a:srgbClr val="C00000"/>
                </a:solidFill>
              </a:rPr>
              <a:t>referential integrity</a:t>
            </a:r>
            <a:r>
              <a:rPr lang="en-US" sz="2400" dirty="0" smtClean="0"/>
              <a:t> appears as a dynamic link among tables of data.</a:t>
            </a:r>
          </a:p>
          <a:p>
            <a:r>
              <a:rPr lang="en-US" sz="2400" dirty="0" smtClean="0"/>
              <a:t>But because of the volume of data in a data warehouse, because the data warehouse is not updated, and because the warehouse represents data over time and relationships do not remain static, relationships of data are </a:t>
            </a:r>
            <a:r>
              <a:rPr lang="en-US" sz="2400" i="1" dirty="0" smtClean="0">
                <a:solidFill>
                  <a:srgbClr val="C00000"/>
                </a:solidFill>
              </a:rPr>
              <a:t>represented by an artifact</a:t>
            </a:r>
            <a:r>
              <a:rPr lang="en-US" sz="2400" dirty="0" smtClean="0"/>
              <a:t> in the data warehouse environment.</a:t>
            </a:r>
          </a:p>
          <a:p>
            <a:r>
              <a:rPr lang="en-US" sz="2400" dirty="0" smtClean="0"/>
              <a:t>Therefore, some data will </a:t>
            </a:r>
            <a:r>
              <a:rPr lang="en-US" sz="2400" i="1" dirty="0" smtClean="0">
                <a:solidFill>
                  <a:srgbClr val="C00000"/>
                </a:solidFill>
              </a:rPr>
              <a:t>be duplicated</a:t>
            </a:r>
            <a:r>
              <a:rPr lang="en-US" sz="2400" dirty="0" smtClean="0"/>
              <a:t>, and some data will be deleted when other data is still in the warehouse.</a:t>
            </a:r>
          </a:p>
          <a:p>
            <a:r>
              <a:rPr lang="en-US" sz="2400" dirty="0" smtClean="0"/>
              <a:t>In any case, trying to replicate referential integrity in the data warehouse environment is a patently </a:t>
            </a:r>
            <a:r>
              <a:rPr lang="en-US" sz="2400" i="1" dirty="0" smtClean="0">
                <a:solidFill>
                  <a:srgbClr val="C00000"/>
                </a:solidFill>
              </a:rPr>
              <a:t>incorrect approach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Snapshots in the Data Warehouse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505200"/>
          </a:xfrm>
        </p:spPr>
        <p:txBody>
          <a:bodyPr/>
          <a:lstStyle/>
          <a:p>
            <a:r>
              <a:rPr lang="en-US" sz="2400" dirty="0" smtClean="0"/>
              <a:t>Each of the data warehouses centers around </a:t>
            </a:r>
            <a:r>
              <a:rPr lang="en-US" sz="2400" i="1" dirty="0" smtClean="0">
                <a:solidFill>
                  <a:srgbClr val="C00000"/>
                </a:solidFill>
              </a:rPr>
              <a:t>a structure of data</a:t>
            </a:r>
            <a:r>
              <a:rPr lang="en-US" sz="2400" dirty="0" smtClean="0"/>
              <a:t> called a “snapshot.”</a:t>
            </a:r>
          </a:p>
          <a:p>
            <a:r>
              <a:rPr lang="en-US" sz="2400" dirty="0" smtClean="0"/>
              <a:t>The snapshot triggered by an event has </a:t>
            </a:r>
            <a:r>
              <a:rPr lang="en-US" sz="2400" i="1" dirty="0" smtClean="0">
                <a:solidFill>
                  <a:srgbClr val="C00000"/>
                </a:solidFill>
              </a:rPr>
              <a:t>four basic components</a:t>
            </a:r>
            <a:r>
              <a:rPr lang="en-US" sz="2400" dirty="0" smtClean="0"/>
              <a:t>:</a:t>
            </a:r>
          </a:p>
          <a:p>
            <a:pPr lvl="1"/>
            <a:r>
              <a:rPr lang="en-US" sz="2000" dirty="0" smtClean="0"/>
              <a:t>A key</a:t>
            </a:r>
          </a:p>
          <a:p>
            <a:pPr lvl="1"/>
            <a:r>
              <a:rPr lang="en-US" sz="2000" dirty="0" smtClean="0"/>
              <a:t>A unit of time</a:t>
            </a:r>
          </a:p>
          <a:p>
            <a:pPr lvl="1"/>
            <a:r>
              <a:rPr lang="en-US" sz="2000" dirty="0" smtClean="0"/>
              <a:t>Primary data that relates only to the key</a:t>
            </a:r>
          </a:p>
          <a:p>
            <a:pPr lvl="1"/>
            <a:r>
              <a:rPr lang="en-US" sz="2000" dirty="0" smtClean="0"/>
              <a:t>Secondary data captured as part of the snapshot process that has no direct relationship to the primary data or key</a:t>
            </a:r>
            <a:endParaRPr lang="en-US" sz="20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5105400"/>
            <a:ext cx="3276600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4572000" y="5181600"/>
            <a:ext cx="411480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>
                <a:latin typeface="+mj-lt"/>
              </a:rPr>
              <a:t>A data warehouse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record of data</a:t>
            </a:r>
            <a:r>
              <a:rPr lang="en-US" sz="2200" dirty="0" smtClean="0">
                <a:latin typeface="+mj-lt"/>
              </a:rPr>
              <a:t> is a snapshot taken at one moment in time and includes a variety of types of data.</a:t>
            </a:r>
            <a:endParaRPr lang="en-US" sz="2200" dirty="0">
              <a:latin typeface="+mj-lt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Meta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Meta data then acts like an </a:t>
            </a:r>
            <a:r>
              <a:rPr lang="en-US" sz="2400" i="1" dirty="0" smtClean="0">
                <a:solidFill>
                  <a:srgbClr val="C00000"/>
                </a:solidFill>
              </a:rPr>
              <a:t>index to the contents</a:t>
            </a:r>
            <a:r>
              <a:rPr lang="en-US" sz="2400" dirty="0" smtClean="0"/>
              <a:t> of the data warehouse.</a:t>
            </a:r>
          </a:p>
          <a:p>
            <a:r>
              <a:rPr lang="en-US" sz="2400" dirty="0" smtClean="0"/>
              <a:t>It sits above the warehouse and </a:t>
            </a:r>
            <a:r>
              <a:rPr lang="en-US" sz="2400" i="1" dirty="0" smtClean="0">
                <a:solidFill>
                  <a:srgbClr val="C00000"/>
                </a:solidFill>
              </a:rPr>
              <a:t>keeps track of what is where</a:t>
            </a:r>
            <a:r>
              <a:rPr lang="en-US" sz="2400" dirty="0" smtClean="0"/>
              <a:t> in the warehouse.</a:t>
            </a:r>
          </a:p>
          <a:p>
            <a:r>
              <a:rPr lang="en-US" sz="2400" dirty="0" smtClean="0"/>
              <a:t>Typically, items the </a:t>
            </a:r>
            <a:r>
              <a:rPr lang="en-US" sz="2400" i="1" dirty="0" smtClean="0">
                <a:solidFill>
                  <a:srgbClr val="C00000"/>
                </a:solidFill>
              </a:rPr>
              <a:t>meta data store tracks</a:t>
            </a:r>
            <a:r>
              <a:rPr lang="en-US" sz="2400" dirty="0" smtClean="0"/>
              <a:t> are as follows:</a:t>
            </a:r>
          </a:p>
          <a:p>
            <a:pPr lvl="1"/>
            <a:r>
              <a:rPr lang="en-US" sz="2000" dirty="0" smtClean="0"/>
              <a:t>Structure of data as known to the programmer</a:t>
            </a:r>
          </a:p>
          <a:p>
            <a:pPr lvl="1"/>
            <a:r>
              <a:rPr lang="en-US" sz="2000" dirty="0" smtClean="0"/>
              <a:t>Structure of data as known to the DSS analyst</a:t>
            </a:r>
          </a:p>
          <a:p>
            <a:pPr lvl="1"/>
            <a:r>
              <a:rPr lang="en-US" sz="2000" dirty="0" smtClean="0"/>
              <a:t>Source data feeding the data warehouse</a:t>
            </a:r>
          </a:p>
          <a:p>
            <a:pPr lvl="1"/>
            <a:r>
              <a:rPr lang="en-US" sz="2000" dirty="0" smtClean="0"/>
              <a:t>Transformation of data as it passes into the data warehouse</a:t>
            </a:r>
          </a:p>
          <a:p>
            <a:pPr lvl="1"/>
            <a:r>
              <a:rPr lang="en-US" sz="2000" dirty="0" smtClean="0"/>
              <a:t>Data model</a:t>
            </a:r>
          </a:p>
          <a:p>
            <a:pPr lvl="1"/>
            <a:r>
              <a:rPr lang="en-US" sz="2000" dirty="0" smtClean="0"/>
              <a:t>Relationship between the data model and the data warehouse</a:t>
            </a:r>
          </a:p>
          <a:p>
            <a:pPr lvl="1"/>
            <a:r>
              <a:rPr lang="en-US" sz="2000" dirty="0" smtClean="0"/>
              <a:t>History of extracts</a:t>
            </a:r>
            <a:endParaRPr lang="en-US" sz="2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Cyclicity</a:t>
            </a:r>
            <a:r>
              <a:rPr lang="en-US" dirty="0" smtClean="0"/>
              <a:t> of Data</a:t>
            </a:r>
            <a:endParaRPr lang="en-US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72050" y="1371600"/>
            <a:ext cx="3943350" cy="496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1371600"/>
            <a:ext cx="3124200" cy="300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" y="4724400"/>
            <a:ext cx="3838575" cy="189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Complexity of Transformation and Integration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Data relationships</a:t>
            </a:r>
            <a:r>
              <a:rPr lang="en-US" sz="2400" dirty="0" smtClean="0"/>
              <a:t> that have been built into old legacy program logic must be understood and unraveled before those files can be used as input.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Multiple input sources</a:t>
            </a:r>
            <a:r>
              <a:rPr lang="en-US" sz="2400" dirty="0" smtClean="0"/>
              <a:t> of data exist and must </a:t>
            </a:r>
            <a:r>
              <a:rPr lang="en-US" sz="2400" i="1" dirty="0" smtClean="0">
                <a:solidFill>
                  <a:srgbClr val="C00000"/>
                </a:solidFill>
              </a:rPr>
              <a:t>be merged</a:t>
            </a:r>
            <a:r>
              <a:rPr lang="en-US" sz="2400" dirty="0" smtClean="0"/>
              <a:t> as they pass into the data warehouse.</a:t>
            </a:r>
          </a:p>
          <a:p>
            <a:r>
              <a:rPr lang="en-US" sz="2400" dirty="0" smtClean="0"/>
              <a:t>When there are multiple input files, </a:t>
            </a:r>
            <a:r>
              <a:rPr lang="en-US" sz="2400" i="1" dirty="0" smtClean="0">
                <a:solidFill>
                  <a:srgbClr val="C00000"/>
                </a:solidFill>
              </a:rPr>
              <a:t>key resolution</a:t>
            </a:r>
            <a:r>
              <a:rPr lang="en-US" sz="2400" dirty="0" smtClean="0"/>
              <a:t> must be done before the files can be merged.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Multiple outputs</a:t>
            </a:r>
            <a:r>
              <a:rPr lang="en-US" sz="2400" dirty="0" smtClean="0"/>
              <a:t> may result. Data may be produced at different levels of summarization by the same data warehouse creation program.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Massive volumes</a:t>
            </a:r>
            <a:r>
              <a:rPr lang="en-US" sz="2400" dirty="0" smtClean="0"/>
              <a:t> of input must be accounted for.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Extract/Transform/Load (ETL)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ETL software </a:t>
            </a:r>
            <a:r>
              <a:rPr lang="en-US" sz="2400" i="1" dirty="0" smtClean="0">
                <a:solidFill>
                  <a:srgbClr val="C00000"/>
                </a:solidFill>
              </a:rPr>
              <a:t>automates</a:t>
            </a:r>
            <a:r>
              <a:rPr lang="en-US" sz="2400" dirty="0" smtClean="0"/>
              <a:t> the process of converting, reformatting, and integrating data from multiple legacy operational sources.</a:t>
            </a:r>
          </a:p>
          <a:p>
            <a:r>
              <a:rPr lang="en-US" sz="2400" dirty="0" smtClean="0"/>
              <a:t>Only under very unusual circumstances does attempting to build and maintain the operational/data warehouse interface </a:t>
            </a:r>
            <a:r>
              <a:rPr lang="en-US" sz="2400" i="1" dirty="0" smtClean="0">
                <a:solidFill>
                  <a:srgbClr val="C00000"/>
                </a:solidFill>
              </a:rPr>
              <a:t>manually</a:t>
            </a:r>
            <a:r>
              <a:rPr lang="en-US" sz="2400" dirty="0" smtClean="0"/>
              <a:t> make sense.</a:t>
            </a:r>
            <a:endParaRPr lang="en-US" sz="24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Warehouse and Data Mart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5863" y="1638300"/>
            <a:ext cx="6772275" cy="461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Warehouse Components [2]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0513" y="1943100"/>
            <a:ext cx="8562975" cy="392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Staging Area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data staging area of the data warehouse is both a </a:t>
            </a:r>
            <a:r>
              <a:rPr lang="en-US" sz="2400" i="1" dirty="0" smtClean="0">
                <a:solidFill>
                  <a:srgbClr val="C00000"/>
                </a:solidFill>
              </a:rPr>
              <a:t>storage area</a:t>
            </a:r>
            <a:r>
              <a:rPr lang="en-US" sz="2400" dirty="0" smtClean="0"/>
              <a:t> and a set of processes commonly referred to as </a:t>
            </a:r>
            <a:r>
              <a:rPr lang="en-US" sz="2400" i="1" dirty="0" smtClean="0">
                <a:solidFill>
                  <a:srgbClr val="C00000"/>
                </a:solidFill>
              </a:rPr>
              <a:t>extract-transformation-load</a:t>
            </a:r>
            <a:r>
              <a:rPr lang="en-US" sz="2400" dirty="0" smtClean="0"/>
              <a:t> (ETL).</a:t>
            </a:r>
          </a:p>
          <a:p>
            <a:r>
              <a:rPr lang="en-US" sz="2400" dirty="0" smtClean="0"/>
              <a:t>The key architectural requirement for the data staging area is that it is </a:t>
            </a:r>
            <a:r>
              <a:rPr lang="en-US" sz="2400" i="1" dirty="0" smtClean="0">
                <a:solidFill>
                  <a:srgbClr val="C00000"/>
                </a:solidFill>
              </a:rPr>
              <a:t>off-limits to business users</a:t>
            </a:r>
            <a:r>
              <a:rPr lang="en-US" sz="2400" dirty="0" smtClean="0"/>
              <a:t> and does not provide query and presentation services.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Presentation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data presentation area is where data is </a:t>
            </a:r>
            <a:r>
              <a:rPr lang="en-US" sz="2400" i="1" dirty="0" smtClean="0">
                <a:solidFill>
                  <a:srgbClr val="C00000"/>
                </a:solidFill>
              </a:rPr>
              <a:t>organized, stored, and made available</a:t>
            </a:r>
            <a:r>
              <a:rPr lang="en-US" sz="2400" dirty="0" smtClean="0"/>
              <a:t> for direct querying by users, report writers, and other analytical applications.</a:t>
            </a:r>
          </a:p>
          <a:p>
            <a:r>
              <a:rPr lang="en-US" sz="2400" dirty="0" smtClean="0"/>
              <a:t>The data be presented, stored, and accessed in </a:t>
            </a:r>
            <a:r>
              <a:rPr lang="en-US" sz="2400" i="1" dirty="0" smtClean="0">
                <a:solidFill>
                  <a:srgbClr val="C00000"/>
                </a:solidFill>
              </a:rPr>
              <a:t>dimensional schemas</a:t>
            </a:r>
            <a:r>
              <a:rPr lang="en-US" sz="2400" dirty="0" smtClean="0"/>
              <a:t>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Dimensional Modeling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Dimensional modeling is a new name for an old technique for making databases </a:t>
            </a:r>
            <a:r>
              <a:rPr lang="en-US" sz="2400" i="1" dirty="0" smtClean="0">
                <a:solidFill>
                  <a:srgbClr val="C00000"/>
                </a:solidFill>
              </a:rPr>
              <a:t>simple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understandable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r>
              <a:rPr lang="en-US" sz="2400" dirty="0" smtClean="0"/>
              <a:t>“We sell products in various markets and measure our performance over time.”</a:t>
            </a:r>
          </a:p>
          <a:p>
            <a:r>
              <a:rPr lang="en-US" sz="2400" dirty="0" smtClean="0"/>
              <a:t>As dimensional designers, we listen carefully to the CEO’s emphasis on </a:t>
            </a:r>
            <a:r>
              <a:rPr lang="en-US" sz="2400" i="1" dirty="0" smtClean="0">
                <a:solidFill>
                  <a:srgbClr val="C00000"/>
                </a:solidFill>
              </a:rPr>
              <a:t>product</a:t>
            </a:r>
            <a:r>
              <a:rPr lang="en-US" sz="2400" dirty="0" smtClean="0"/>
              <a:t>, </a:t>
            </a:r>
            <a:r>
              <a:rPr lang="en-US" sz="2400" i="1" dirty="0" smtClean="0">
                <a:solidFill>
                  <a:srgbClr val="C00000"/>
                </a:solidFill>
              </a:rPr>
              <a:t>market</a:t>
            </a:r>
            <a:r>
              <a:rPr lang="en-US" sz="2400" dirty="0" smtClean="0"/>
              <a:t>, and </a:t>
            </a:r>
            <a:r>
              <a:rPr lang="en-US" sz="2400" i="1" dirty="0" smtClean="0">
                <a:solidFill>
                  <a:srgbClr val="C00000"/>
                </a:solidFill>
              </a:rPr>
              <a:t>time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Most people find it intuitive to think of this business as a </a:t>
            </a:r>
            <a:r>
              <a:rPr lang="en-US" sz="2400" i="1" dirty="0" smtClean="0">
                <a:solidFill>
                  <a:srgbClr val="C00000"/>
                </a:solidFill>
              </a:rPr>
              <a:t>cube of data</a:t>
            </a:r>
            <a:r>
              <a:rPr lang="en-US" sz="2400" dirty="0" smtClean="0"/>
              <a:t>, with the edges labeled product, market, and time.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Points</a:t>
            </a:r>
            <a:r>
              <a:rPr lang="en-US" sz="2400" dirty="0" smtClean="0"/>
              <a:t> inside the cube are where the measurements for that combination of product, market, and time are stored.</a:t>
            </a:r>
            <a:endParaRPr lang="en-US" sz="24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Fact 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fact table</a:t>
            </a:r>
            <a:r>
              <a:rPr lang="en-US" sz="2400" dirty="0" smtClean="0"/>
              <a:t> is the primary table in a dimensional model where the numerical performance measurements of the business are stored.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We use the term fact to represent a </a:t>
            </a:r>
            <a:r>
              <a:rPr lang="en-US" sz="2400" i="1" dirty="0" smtClean="0">
                <a:solidFill>
                  <a:srgbClr val="C00000"/>
                </a:solidFill>
              </a:rPr>
              <a:t>business measure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A measurement is taken at the </a:t>
            </a:r>
            <a:r>
              <a:rPr lang="en-US" sz="2400" i="1" dirty="0" smtClean="0">
                <a:solidFill>
                  <a:srgbClr val="C00000"/>
                </a:solidFill>
              </a:rPr>
              <a:t>intersection</a:t>
            </a:r>
            <a:r>
              <a:rPr lang="en-US" sz="2400" dirty="0" smtClean="0"/>
              <a:t> of all the dimensions (day, product, and store).</a:t>
            </a:r>
            <a:endParaRPr 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24175" y="2933700"/>
            <a:ext cx="3295650" cy="163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Dimension Tables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295400"/>
          </a:xfrm>
        </p:spPr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Dimension tables</a:t>
            </a:r>
            <a:r>
              <a:rPr lang="en-US" sz="2400" dirty="0" smtClean="0"/>
              <a:t> are integral companions to a fact table.</a:t>
            </a:r>
          </a:p>
          <a:p>
            <a:r>
              <a:rPr lang="en-US" sz="2400" dirty="0" smtClean="0"/>
              <a:t>The dimension tables contain the </a:t>
            </a:r>
            <a:r>
              <a:rPr lang="en-US" sz="2400" i="1" dirty="0" smtClean="0">
                <a:solidFill>
                  <a:srgbClr val="C00000"/>
                </a:solidFill>
              </a:rPr>
              <a:t>textual descriptors</a:t>
            </a:r>
            <a:r>
              <a:rPr lang="en-US" sz="2400" dirty="0" smtClean="0"/>
              <a:t> of the business.</a:t>
            </a:r>
            <a:endParaRPr 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33800" y="2971800"/>
            <a:ext cx="2524125" cy="339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Dimensional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676399"/>
          </a:xfrm>
        </p:spPr>
        <p:txBody>
          <a:bodyPr/>
          <a:lstStyle/>
          <a:p>
            <a:r>
              <a:rPr lang="en-US" sz="2400" dirty="0" smtClean="0"/>
              <a:t>The fact table consisting of numeric measurements </a:t>
            </a:r>
            <a:r>
              <a:rPr lang="en-US" sz="2400" i="1" dirty="0" smtClean="0">
                <a:solidFill>
                  <a:srgbClr val="C00000"/>
                </a:solidFill>
              </a:rPr>
              <a:t>is joined to a set</a:t>
            </a:r>
            <a:r>
              <a:rPr lang="en-US" sz="2400" dirty="0" smtClean="0"/>
              <a:t> of dimension tables filled with descriptive attributes.</a:t>
            </a:r>
          </a:p>
          <a:p>
            <a:r>
              <a:rPr lang="en-US" sz="2400" dirty="0" smtClean="0"/>
              <a:t>This characteristic star-like structure is often called a </a:t>
            </a:r>
            <a:r>
              <a:rPr lang="en-US" sz="2400" i="1" dirty="0" smtClean="0">
                <a:solidFill>
                  <a:srgbClr val="C00000"/>
                </a:solidFill>
              </a:rPr>
              <a:t>star join schema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0550" y="3790950"/>
            <a:ext cx="7962900" cy="207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Reporting Dimensional Attributes and Facts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47825" y="1962150"/>
            <a:ext cx="5848350" cy="443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Dimensional vs. 3NF Modeling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Dimensional modeling is </a:t>
            </a:r>
            <a:r>
              <a:rPr lang="en-US" sz="2400" i="1" dirty="0" smtClean="0">
                <a:solidFill>
                  <a:srgbClr val="C00000"/>
                </a:solidFill>
              </a:rPr>
              <a:t>quite different</a:t>
            </a:r>
            <a:r>
              <a:rPr lang="en-US" sz="2400" dirty="0" smtClean="0"/>
              <a:t> from third-normal-form (3NF) modeling.</a:t>
            </a:r>
          </a:p>
          <a:p>
            <a:endParaRPr lang="en-US" sz="2400" dirty="0" smtClean="0"/>
          </a:p>
          <a:p>
            <a:r>
              <a:rPr lang="en-US" sz="2400" dirty="0" smtClean="0"/>
              <a:t>3NF modeling is a design technique that seeks to </a:t>
            </a:r>
            <a:r>
              <a:rPr lang="en-US" sz="2400" i="1" dirty="0" smtClean="0">
                <a:solidFill>
                  <a:srgbClr val="C00000"/>
                </a:solidFill>
              </a:rPr>
              <a:t>remove data redundancies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Normalized modeling is immensely helpful to </a:t>
            </a:r>
            <a:r>
              <a:rPr lang="en-US" sz="2400" i="1" dirty="0" smtClean="0">
                <a:solidFill>
                  <a:srgbClr val="C00000"/>
                </a:solidFill>
              </a:rPr>
              <a:t>operational processing</a:t>
            </a:r>
            <a:r>
              <a:rPr lang="en-US" sz="2400" dirty="0" smtClean="0"/>
              <a:t> performance because an update or insert transaction only needs to touch the database in </a:t>
            </a:r>
            <a:r>
              <a:rPr lang="en-US" sz="2400" i="1" dirty="0" smtClean="0">
                <a:solidFill>
                  <a:srgbClr val="C00000"/>
                </a:solidFill>
              </a:rPr>
              <a:t>one place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r>
              <a:rPr lang="en-US" sz="2400" dirty="0" smtClean="0"/>
              <a:t>Normalized models, however, are </a:t>
            </a:r>
            <a:r>
              <a:rPr lang="en-US" sz="2400" i="1" dirty="0" smtClean="0">
                <a:solidFill>
                  <a:srgbClr val="C00000"/>
                </a:solidFill>
              </a:rPr>
              <a:t>too complicated</a:t>
            </a:r>
            <a:r>
              <a:rPr lang="en-US" sz="2400" dirty="0" smtClean="0"/>
              <a:t> for data warehouse queries.</a:t>
            </a:r>
            <a:endParaRPr lang="en-US" sz="24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Converting 3NF Model to Dimensional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If you already have an existing normalized ER diagram, the first step in converting it into a set of dimensional models is to separate the ER diagram into its </a:t>
            </a:r>
            <a:r>
              <a:rPr lang="en-US" sz="2400" i="1" dirty="0" smtClean="0">
                <a:solidFill>
                  <a:srgbClr val="C00000"/>
                </a:solidFill>
              </a:rPr>
              <a:t>discrete business processes</a:t>
            </a:r>
            <a:r>
              <a:rPr lang="en-US" sz="2400" dirty="0" smtClean="0"/>
              <a:t> and then </a:t>
            </a:r>
            <a:r>
              <a:rPr lang="en-US" sz="2400" i="1" dirty="0" smtClean="0">
                <a:solidFill>
                  <a:srgbClr val="C00000"/>
                </a:solidFill>
              </a:rPr>
              <a:t>model each one</a:t>
            </a:r>
            <a:r>
              <a:rPr lang="en-US" sz="2400" dirty="0" smtClean="0"/>
              <a:t> separately.</a:t>
            </a:r>
          </a:p>
          <a:p>
            <a:r>
              <a:rPr lang="en-US" sz="2400" dirty="0" smtClean="0"/>
              <a:t>The second step is to select those </a:t>
            </a:r>
            <a:r>
              <a:rPr lang="en-US" sz="2400" i="1" dirty="0" smtClean="0">
                <a:solidFill>
                  <a:srgbClr val="C00000"/>
                </a:solidFill>
              </a:rPr>
              <a:t>many-to-many relationships</a:t>
            </a:r>
            <a:r>
              <a:rPr lang="en-US" sz="2400" dirty="0" smtClean="0"/>
              <a:t> in the ER diagrams that contain numeric and additive non-key facts and designate them as </a:t>
            </a:r>
            <a:r>
              <a:rPr lang="en-US" sz="2400" i="1" dirty="0" smtClean="0">
                <a:solidFill>
                  <a:srgbClr val="C00000"/>
                </a:solidFill>
              </a:rPr>
              <a:t>fact tables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The final step is to </a:t>
            </a:r>
            <a:r>
              <a:rPr lang="en-US" sz="2400" i="1" dirty="0" smtClean="0">
                <a:solidFill>
                  <a:srgbClr val="C00000"/>
                </a:solidFill>
              </a:rPr>
              <a:t>de-normalize all the remaining tables</a:t>
            </a:r>
            <a:r>
              <a:rPr lang="en-US" sz="2400" dirty="0" smtClean="0"/>
              <a:t> into flat tables with single-part keys that join directly to the fact tables.</a:t>
            </a:r>
          </a:p>
          <a:p>
            <a:r>
              <a:rPr lang="en-US" sz="2400" dirty="0" smtClean="0"/>
              <a:t>These tables become the </a:t>
            </a:r>
            <a:r>
              <a:rPr lang="en-US" sz="2400" i="1" dirty="0" smtClean="0">
                <a:solidFill>
                  <a:srgbClr val="C00000"/>
                </a:solidFill>
              </a:rPr>
              <a:t>dimension tables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5326</TotalTime>
  <Words>2461</Words>
  <Application>Microsoft Office PowerPoint</Application>
  <PresentationFormat>On-screen Show (4:3)</PresentationFormat>
  <Paragraphs>214</Paragraphs>
  <Slides>77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78" baseType="lpstr">
      <vt:lpstr>Office Theme</vt:lpstr>
      <vt:lpstr>The Data Warehouse</vt:lpstr>
      <vt:lpstr>Objectives</vt:lpstr>
      <vt:lpstr>Contents</vt:lpstr>
      <vt:lpstr>References</vt:lpstr>
      <vt:lpstr>Database Systems Goals [1]</vt:lpstr>
      <vt:lpstr>Extract Program/Processing</vt:lpstr>
      <vt:lpstr>Naturally Evolving Architecture</vt:lpstr>
      <vt:lpstr>Lack of Data Credibility</vt:lpstr>
      <vt:lpstr>Problems with Productivity I</vt:lpstr>
      <vt:lpstr>Problems with Productivity II</vt:lpstr>
      <vt:lpstr>Problems with Productivity III</vt:lpstr>
      <vt:lpstr>From Data to Information</vt:lpstr>
      <vt:lpstr>Historical Data Problem</vt:lpstr>
      <vt:lpstr>Slide 14</vt:lpstr>
      <vt:lpstr>Primitive Data vs. Derived Data I</vt:lpstr>
      <vt:lpstr>Primitive Data vs. Derived Data II</vt:lpstr>
      <vt:lpstr>Levels of Data I</vt:lpstr>
      <vt:lpstr>Levels of Data II</vt:lpstr>
      <vt:lpstr>Kinds of Queries</vt:lpstr>
      <vt:lpstr>Data Integration</vt:lpstr>
      <vt:lpstr>Slide 21</vt:lpstr>
      <vt:lpstr>What is a Data Warehouse</vt:lpstr>
      <vt:lpstr>Subject Orientation of Insurance Company Data</vt:lpstr>
      <vt:lpstr>Integration Issue</vt:lpstr>
      <vt:lpstr>Non-volatility of Data</vt:lpstr>
      <vt:lpstr>Time Variancy</vt:lpstr>
      <vt:lpstr>Major Subject Area</vt:lpstr>
      <vt:lpstr>Physical Implementation</vt:lpstr>
      <vt:lpstr>Granularity</vt:lpstr>
      <vt:lpstr>Granularity Example</vt:lpstr>
      <vt:lpstr>Determining the Level of Granularity</vt:lpstr>
      <vt:lpstr>Effect of Granularity Example</vt:lpstr>
      <vt:lpstr>Dual Levels of Granularity</vt:lpstr>
      <vt:lpstr>Dual Levels of Granularity Example</vt:lpstr>
      <vt:lpstr>Living Sample Database</vt:lpstr>
      <vt:lpstr>Reporting</vt:lpstr>
      <vt:lpstr>Incorrect Data</vt:lpstr>
      <vt:lpstr>Slide 38</vt:lpstr>
      <vt:lpstr>Data Models</vt:lpstr>
      <vt:lpstr>Different Levels of Modeling</vt:lpstr>
      <vt:lpstr>Stability Analysis</vt:lpstr>
      <vt:lpstr>Corporate ERD</vt:lpstr>
      <vt:lpstr>Data Item Set</vt:lpstr>
      <vt:lpstr>Four Constructs Making Up Midlevel Data Model</vt:lpstr>
      <vt:lpstr>Four Constructs</vt:lpstr>
      <vt:lpstr>“Type of” Data Example</vt:lpstr>
      <vt:lpstr>Two-Dimensional Data Model</vt:lpstr>
      <vt:lpstr>Three-Dimensional Data Model</vt:lpstr>
      <vt:lpstr>Star Join</vt:lpstr>
      <vt:lpstr>Star Join and Data Mart</vt:lpstr>
      <vt:lpstr>Normalization Drawbacks</vt:lpstr>
      <vt:lpstr>Denormalization: Merging Tables</vt:lpstr>
      <vt:lpstr>Denormalization: Creating Arrays of Data</vt:lpstr>
      <vt:lpstr>Denormalization: Redundant Data</vt:lpstr>
      <vt:lpstr>Denormalization: Further Separation of Data</vt:lpstr>
      <vt:lpstr>Denormalization: Derived Data</vt:lpstr>
      <vt:lpstr>Denormalization: Creative Indexes/Profiles</vt:lpstr>
      <vt:lpstr>Referential Integrity</vt:lpstr>
      <vt:lpstr>Slide 59</vt:lpstr>
      <vt:lpstr>Snapshots in the Data Warehouse</vt:lpstr>
      <vt:lpstr>Meta Data</vt:lpstr>
      <vt:lpstr>Cyclicity of Data</vt:lpstr>
      <vt:lpstr>Complexity of Transformation and Integration</vt:lpstr>
      <vt:lpstr>Extract/Transform/Load (ETL)</vt:lpstr>
      <vt:lpstr>Data Warehouse and Data Mart</vt:lpstr>
      <vt:lpstr>Slide 66</vt:lpstr>
      <vt:lpstr>Data Warehouse Components [2]</vt:lpstr>
      <vt:lpstr>Data Staging Area</vt:lpstr>
      <vt:lpstr>Data Presentation</vt:lpstr>
      <vt:lpstr>Dimensional Modeling</vt:lpstr>
      <vt:lpstr>Fact Table</vt:lpstr>
      <vt:lpstr>Dimension Tables</vt:lpstr>
      <vt:lpstr>Dimensional Model</vt:lpstr>
      <vt:lpstr>Reporting Dimensional Attributes and Facts</vt:lpstr>
      <vt:lpstr>Dimensional vs. 3NF Modeling</vt:lpstr>
      <vt:lpstr>Converting 3NF Model to Dimensional Model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2639</cp:revision>
  <dcterms:created xsi:type="dcterms:W3CDTF">2007-10-06T08:25:13Z</dcterms:created>
  <dcterms:modified xsi:type="dcterms:W3CDTF">2023-09-09T19:28:56Z</dcterms:modified>
</cp:coreProperties>
</file>