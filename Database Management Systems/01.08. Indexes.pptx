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0"/>
  </p:notesMasterIdLst>
  <p:handoutMasterIdLst>
    <p:handoutMasterId r:id="rId21"/>
  </p:handoutMasterIdLst>
  <p:sldIdLst>
    <p:sldId id="256" r:id="rId2"/>
    <p:sldId id="580" r:id="rId3"/>
    <p:sldId id="581" r:id="rId4"/>
    <p:sldId id="582" r:id="rId5"/>
    <p:sldId id="557" r:id="rId6"/>
    <p:sldId id="558" r:id="rId7"/>
    <p:sldId id="559" r:id="rId8"/>
    <p:sldId id="560" r:id="rId9"/>
    <p:sldId id="561" r:id="rId10"/>
    <p:sldId id="562" r:id="rId11"/>
    <p:sldId id="563" r:id="rId12"/>
    <p:sldId id="564" r:id="rId13"/>
    <p:sldId id="565" r:id="rId14"/>
    <p:sldId id="566" r:id="rId15"/>
    <p:sldId id="567" r:id="rId16"/>
    <p:sldId id="568" r:id="rId17"/>
    <p:sldId id="569" r:id="rId18"/>
    <p:sldId id="360" r:id="rId1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24" autoAdjust="0"/>
    <p:restoredTop sz="94667" autoAdjust="0"/>
  </p:normalViewPr>
  <p:slideViewPr>
    <p:cSldViewPr>
      <p:cViewPr>
        <p:scale>
          <a:sx n="50" d="100"/>
          <a:sy n="50" d="100"/>
        </p:scale>
        <p:origin x="-150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31727DC-2E8F-43B3-8355-CCE0B6704CEB}" type="datetimeFigureOut">
              <a:rPr lang="en-US" smtClean="0"/>
              <a:pPr/>
              <a:t>2/21/2022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D0B4380-3815-4B2E-92FA-ED1993E061BE}"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5A67CB-EC97-4A9C-AC01-CDE0E9628729}" type="datetimeFigureOut">
              <a:rPr lang="en-US" smtClean="0"/>
              <a:pPr/>
              <a:t>2/21/2022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4D21D0-87B8-43A2-A59B-A5690BBF949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57F6A842-585B-4FB8-B0AD-5A22636E93BF}" type="datetimeFigureOut">
              <a:rPr lang="en-US"/>
              <a:pPr>
                <a:defRPr/>
              </a:pPr>
              <a:t>2/21/2022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A757F44-DAAA-4BFA-A1D9-B690FD69F10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77CC13E-AA34-4DB7-B0EC-5E3AAA7D3BAC}" type="datetimeFigureOut">
              <a:rPr lang="en-US"/>
              <a:pPr>
                <a:defRPr/>
              </a:pPr>
              <a:t>2/21/2022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6F6660F-9FDB-4AFB-BE29-11A381729C2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5883334-71C9-49E2-A0BB-A043C182B878}" type="datetimeFigureOut">
              <a:rPr lang="en-US"/>
              <a:pPr>
                <a:defRPr/>
              </a:pPr>
              <a:t>2/21/2022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4F881E5-BD58-41FC-93AD-0A909108779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5AC3020B-3D2A-4D8C-B5FF-4D6A024CBDE8}" type="datetimeFigureOut">
              <a:rPr lang="en-US"/>
              <a:pPr>
                <a:defRPr/>
              </a:pPr>
              <a:t>2/21/2022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908E1C0-584A-404B-B99A-E5AD89ACF00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DDB17DBA-E622-4CD1-BCA3-A03CD04FDCC6}" type="datetimeFigureOut">
              <a:rPr lang="en-US"/>
              <a:pPr>
                <a:defRPr/>
              </a:pPr>
              <a:t>2/21/2022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C9F4D90-9228-45C4-A427-06E557DE9CF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7491D3DF-EF49-4212-81A5-83E2D6EC0182}" type="datetimeFigureOut">
              <a:rPr lang="en-US"/>
              <a:pPr>
                <a:defRPr/>
              </a:pPr>
              <a:t>2/21/2022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5E97F0E-0BE9-471F-A7B8-4D2E909F9B3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0F86690-AF43-474E-AAC4-06B4786F7A5B}" type="datetimeFigureOut">
              <a:rPr lang="en-US"/>
              <a:pPr>
                <a:defRPr/>
              </a:pPr>
              <a:t>2/21/2022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C646AD9-6F95-4021-BF75-BF9B58A70F5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3CF0E39-78E2-4DE3-8C65-7CAB11F37A23}" type="datetimeFigureOut">
              <a:rPr lang="en-US"/>
              <a:pPr>
                <a:defRPr/>
              </a:pPr>
              <a:t>2/21/2022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4CF80FB-C1F7-4ADD-9C33-A8D7E6B4966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C12A139-0756-4DC4-8001-1DFC6C3458CC}" type="datetimeFigureOut">
              <a:rPr lang="en-US"/>
              <a:pPr>
                <a:defRPr/>
              </a:pPr>
              <a:t>2/21/2022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8795BAB-E1F5-4BBA-9D33-03EFE2F8DDA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E7FC515-BCDF-4B2C-80BB-863C58D176FB}" type="datetimeFigureOut">
              <a:rPr lang="en-US"/>
              <a:pPr>
                <a:defRPr/>
              </a:pPr>
              <a:t>2/21/2022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2C6CC5B-ED2C-42FF-AE49-898FC683E24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62C8C39-B056-4409-B30D-266D32EB71C5}" type="datetimeFigureOut">
              <a:rPr lang="en-US"/>
              <a:pPr>
                <a:defRPr/>
              </a:pPr>
              <a:t>2/21/2022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8BD453D-B7C3-4D56-B8B4-B49BCBFB825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B325272-1ED5-4E24-A128-8E8DEE352665}" type="datetimeFigureOut">
              <a:rPr lang="en-US"/>
              <a:pPr>
                <a:defRPr/>
              </a:pPr>
              <a:t>2/21/2022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F7590F4-D8FE-45EA-A958-7E45569A001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solutioncenter.apexsql.com/why-when-and-how-to-rebuild-and-reorganize-sql-server-indexe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ocs.microsoft.com/en-us/sql/relational-databases/indexes/clustered-and-nonclustered-indexes-described?view=sql-server-2017"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mssqltips.com/sqlservertip/1367/sql-server-script-to-rebuild-all-indexes-for-all-tables-and-all-database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blog.sqlauthority.com/2007/02/05/sql-server-primary-key-constraints-and-unique-key-constraint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Indexes</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2400" dirty="0" smtClean="0"/>
              <a:t>Adam Jorgensen et al. (2012). Microsoft SQL Server 2012 Bible. Wiley.</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Server Index</a:t>
            </a:r>
            <a:endParaRPr lang="en-US" dirty="0"/>
          </a:p>
        </p:txBody>
      </p:sp>
      <p:sp>
        <p:nvSpPr>
          <p:cNvPr id="3" name="Content Placeholder 2"/>
          <p:cNvSpPr>
            <a:spLocks noGrp="1"/>
          </p:cNvSpPr>
          <p:nvPr>
            <p:ph idx="1"/>
          </p:nvPr>
        </p:nvSpPr>
        <p:spPr/>
        <p:txBody>
          <a:bodyPr/>
          <a:lstStyle/>
          <a:p>
            <a:r>
              <a:rPr lang="en-US" sz="1900" dirty="0" smtClean="0">
                <a:hlinkClick r:id="rId2"/>
              </a:rPr>
              <a:t>https://solutioncenter.apexsql.com/why-when-and-how-to-rebuild-and-reorganize-sql-server-indexes</a:t>
            </a:r>
            <a:endParaRPr lang="en-US" sz="1900" dirty="0" smtClean="0"/>
          </a:p>
          <a:p>
            <a:r>
              <a:rPr lang="en-US" sz="1900" dirty="0" smtClean="0"/>
              <a:t>The purpose of SQL Server index is pretty much the same as in its distant relative – the book index – it allows you to get to the information quickly, but instead of navigating through the book, it indexes a SQL Server database.</a:t>
            </a:r>
          </a:p>
          <a:p>
            <a:r>
              <a:rPr lang="en-US" sz="1900" dirty="0" smtClean="0"/>
              <a:t>SQL Server </a:t>
            </a:r>
            <a:r>
              <a:rPr lang="en-US" sz="1900" i="1" dirty="0" smtClean="0">
                <a:solidFill>
                  <a:srgbClr val="C00000"/>
                </a:solidFill>
              </a:rPr>
              <a:t>indexes are created on a column level in both tables and views</a:t>
            </a:r>
            <a:r>
              <a:rPr lang="en-US" sz="1900" dirty="0" smtClean="0"/>
              <a:t>. Its aim is to provide a “quick to locate” data based on the values within indexed columns. If an index is created on the primary key, whenever a search for a row of data based on one of the primary key values is performed, the SQL Server will locate searched value in the index, and then use that index to locate the entire row of data.</a:t>
            </a:r>
          </a:p>
          <a:p>
            <a:r>
              <a:rPr lang="en-US" sz="1900" dirty="0" smtClean="0"/>
              <a:t>This means that the SQL Server </a:t>
            </a:r>
            <a:r>
              <a:rPr lang="en-US" sz="1900" i="1" dirty="0" smtClean="0">
                <a:solidFill>
                  <a:srgbClr val="C00000"/>
                </a:solidFill>
              </a:rPr>
              <a:t>does not have to perform a full table scan</a:t>
            </a:r>
            <a:r>
              <a:rPr lang="en-US" sz="1900" dirty="0" smtClean="0"/>
              <a:t> when searching for particular row, which is much more performance intensive task –consuming more time, and using more SQL Server resources.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a:t>
            </a:r>
            <a:endParaRPr lang="en-US" dirty="0"/>
          </a:p>
        </p:txBody>
      </p:sp>
      <p:sp>
        <p:nvSpPr>
          <p:cNvPr id="3" name="Content Placeholder 2"/>
          <p:cNvSpPr>
            <a:spLocks noGrp="1"/>
          </p:cNvSpPr>
          <p:nvPr>
            <p:ph idx="1"/>
          </p:nvPr>
        </p:nvSpPr>
        <p:spPr/>
        <p:txBody>
          <a:bodyPr/>
          <a:lstStyle/>
          <a:p>
            <a:r>
              <a:rPr lang="en-US" sz="2400" dirty="0" smtClean="0">
                <a:hlinkClick r:id="rId2"/>
              </a:rPr>
              <a:t>https://docs.microsoft.com/en-us/sql/relational-databases/indexes/clustered-and-nonclustered-indexes-described?view=sql-server-2017</a:t>
            </a:r>
            <a:endParaRPr lang="en-US" sz="2400" dirty="0" smtClean="0"/>
          </a:p>
          <a:p>
            <a:r>
              <a:rPr lang="en-US" sz="2400" dirty="0" smtClean="0"/>
              <a:t>An index is an on-disk structure associated with a table or view that speeds retrieval of rows from the table or view.</a:t>
            </a:r>
          </a:p>
          <a:p>
            <a:r>
              <a:rPr lang="en-US" sz="2400" dirty="0" smtClean="0"/>
              <a:t>An index contains keys built from one or more columns in the table or view.</a:t>
            </a:r>
          </a:p>
          <a:p>
            <a:r>
              <a:rPr lang="en-US" sz="2400" dirty="0" smtClean="0"/>
              <a:t>These keys are stored in a structure (B-tree) that enables SQL Server to find the row or rows associated with the key values quickly and efficiently. </a:t>
            </a:r>
          </a:p>
          <a:p>
            <a:r>
              <a:rPr lang="en-US" sz="2400" dirty="0" smtClean="0"/>
              <a:t>A table or view can contain the following types of indexes: Clustered and Non-clustered.</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Clustered Indexes</a:t>
            </a:r>
            <a:endParaRPr lang="en-US" dirty="0"/>
          </a:p>
        </p:txBody>
      </p:sp>
      <p:sp>
        <p:nvSpPr>
          <p:cNvPr id="3" name="Content Placeholder 2"/>
          <p:cNvSpPr>
            <a:spLocks noGrp="1"/>
          </p:cNvSpPr>
          <p:nvPr>
            <p:ph idx="1"/>
          </p:nvPr>
        </p:nvSpPr>
        <p:spPr/>
        <p:txBody>
          <a:bodyPr/>
          <a:lstStyle/>
          <a:p>
            <a:r>
              <a:rPr lang="en-US" sz="2400" dirty="0" smtClean="0"/>
              <a:t>Clustered indexes sort and store the data rows in the table or view based on their key values.</a:t>
            </a:r>
          </a:p>
          <a:p>
            <a:r>
              <a:rPr lang="en-US" sz="2400" dirty="0" smtClean="0"/>
              <a:t>These are the columns included in the index definition.</a:t>
            </a:r>
          </a:p>
          <a:p>
            <a:r>
              <a:rPr lang="en-US" sz="2400" dirty="0" smtClean="0"/>
              <a:t>There can be only one clustered index per table, because the data rows themselves can be stored in only one order.</a:t>
            </a:r>
          </a:p>
          <a:p>
            <a:r>
              <a:rPr lang="en-US" sz="2400" dirty="0" smtClean="0"/>
              <a:t>The only time the data rows in a table are stored in sorted order is when the table contains a clustered index.</a:t>
            </a:r>
          </a:p>
          <a:p>
            <a:r>
              <a:rPr lang="en-US" sz="2400" dirty="0" smtClean="0"/>
              <a:t>When a table has a clustered index, the table is called a clustered table.</a:t>
            </a:r>
          </a:p>
          <a:p>
            <a:r>
              <a:rPr lang="en-US" sz="2400" dirty="0" smtClean="0"/>
              <a:t>If a table has no clustered index, its data rows are stored in an unordered structure called a heap.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Non-clustered Indexes</a:t>
            </a:r>
            <a:endParaRPr lang="en-US" dirty="0"/>
          </a:p>
        </p:txBody>
      </p:sp>
      <p:sp>
        <p:nvSpPr>
          <p:cNvPr id="3" name="Content Placeholder 2"/>
          <p:cNvSpPr>
            <a:spLocks noGrp="1"/>
          </p:cNvSpPr>
          <p:nvPr>
            <p:ph idx="1"/>
          </p:nvPr>
        </p:nvSpPr>
        <p:spPr/>
        <p:txBody>
          <a:bodyPr/>
          <a:lstStyle/>
          <a:p>
            <a:r>
              <a:rPr lang="en-US" sz="2000" dirty="0" err="1" smtClean="0"/>
              <a:t>Nonclustered</a:t>
            </a:r>
            <a:r>
              <a:rPr lang="en-US" sz="2000" dirty="0" smtClean="0"/>
              <a:t> indexes have a structure separate from the data rows.</a:t>
            </a:r>
          </a:p>
          <a:p>
            <a:r>
              <a:rPr lang="en-US" sz="2000" dirty="0" smtClean="0"/>
              <a:t>A </a:t>
            </a:r>
            <a:r>
              <a:rPr lang="en-US" sz="2000" dirty="0" err="1" smtClean="0"/>
              <a:t>nonclustered</a:t>
            </a:r>
            <a:r>
              <a:rPr lang="en-US" sz="2000" dirty="0" smtClean="0"/>
              <a:t> index contains the </a:t>
            </a:r>
            <a:r>
              <a:rPr lang="en-US" sz="2000" dirty="0" err="1" smtClean="0"/>
              <a:t>nonclustered</a:t>
            </a:r>
            <a:r>
              <a:rPr lang="en-US" sz="2000" dirty="0" smtClean="0"/>
              <a:t> index key values and each key value entry has a pointer to the data row that contains the key value.</a:t>
            </a:r>
          </a:p>
          <a:p>
            <a:r>
              <a:rPr lang="en-US" sz="2000" dirty="0" smtClean="0"/>
              <a:t>The pointer from an index row in a </a:t>
            </a:r>
            <a:r>
              <a:rPr lang="en-US" sz="2000" dirty="0" err="1" smtClean="0"/>
              <a:t>nonclustered</a:t>
            </a:r>
            <a:r>
              <a:rPr lang="en-US" sz="2000" dirty="0" smtClean="0"/>
              <a:t> index to a data row is called a row locator.</a:t>
            </a:r>
          </a:p>
          <a:p>
            <a:r>
              <a:rPr lang="en-US" sz="2000" dirty="0" smtClean="0"/>
              <a:t>The structure of the row locator depends on whether the data pages are stored in a heap or a clustered table.</a:t>
            </a:r>
          </a:p>
          <a:p>
            <a:r>
              <a:rPr lang="en-US" sz="2000" dirty="0" smtClean="0"/>
              <a:t>For a heap, a row locator is a pointer to the row.</a:t>
            </a:r>
          </a:p>
          <a:p>
            <a:r>
              <a:rPr lang="en-US" sz="2000" dirty="0" smtClean="0"/>
              <a:t>For a clustered table, the row locator is the clustered index key.</a:t>
            </a:r>
          </a:p>
          <a:p>
            <a:r>
              <a:rPr lang="en-US" sz="2000" dirty="0" smtClean="0"/>
              <a:t>You can add </a:t>
            </a:r>
            <a:r>
              <a:rPr lang="en-US" sz="2000" dirty="0" err="1" smtClean="0"/>
              <a:t>nonkey</a:t>
            </a:r>
            <a:r>
              <a:rPr lang="en-US" sz="2000" dirty="0" smtClean="0"/>
              <a:t> columns to the leaf level of the </a:t>
            </a:r>
            <a:r>
              <a:rPr lang="en-US" sz="2000" dirty="0" err="1" smtClean="0"/>
              <a:t>nonclustered</a:t>
            </a:r>
            <a:r>
              <a:rPr lang="en-US" sz="2000" dirty="0" smtClean="0"/>
              <a:t> index to by-pass existing index key limits, and execute fully covered, indexed, queries.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Clustered vs. Non-clustered</a:t>
            </a:r>
            <a:endParaRPr lang="en-US" dirty="0"/>
          </a:p>
        </p:txBody>
      </p:sp>
      <p:sp>
        <p:nvSpPr>
          <p:cNvPr id="3" name="Content Placeholder 2"/>
          <p:cNvSpPr>
            <a:spLocks noGrp="1"/>
          </p:cNvSpPr>
          <p:nvPr>
            <p:ph idx="1"/>
          </p:nvPr>
        </p:nvSpPr>
        <p:spPr/>
        <p:txBody>
          <a:bodyPr/>
          <a:lstStyle/>
          <a:p>
            <a:r>
              <a:rPr lang="en-US" sz="2400" dirty="0" smtClean="0"/>
              <a:t>With a clustered index the rows are stored physically on the disk in the same order as the index. Therefore, there can be only one clustered index.</a:t>
            </a:r>
          </a:p>
          <a:p>
            <a:r>
              <a:rPr lang="en-US" sz="2400" dirty="0" smtClean="0"/>
              <a:t>With a non clustered index there is a second list that has pointers to the physical rows. You can have many non clustered indexes, although each new index will increase the time it takes to write new records.</a:t>
            </a:r>
          </a:p>
          <a:p>
            <a:r>
              <a:rPr lang="en-US" sz="2400" dirty="0" smtClean="0"/>
              <a:t>It is generally faster to read from a clustered index if you want to get back all the columns. You do not have to go first to the index and then to the table.</a:t>
            </a:r>
          </a:p>
          <a:p>
            <a:r>
              <a:rPr lang="en-US" sz="2400" dirty="0" smtClean="0"/>
              <a:t>Writing to a table with a clustered index can be slower, if there is a need to rearrange the data.</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an Index</a:t>
            </a:r>
            <a:endParaRPr lang="en-US" dirty="0"/>
          </a:p>
        </p:txBody>
      </p:sp>
      <p:sp>
        <p:nvSpPr>
          <p:cNvPr id="4" name="Content Placeholder 2"/>
          <p:cNvSpPr txBox="1">
            <a:spLocks/>
          </p:cNvSpPr>
          <p:nvPr/>
        </p:nvSpPr>
        <p:spPr>
          <a:xfrm>
            <a:off x="457200" y="1752600"/>
            <a:ext cx="8229600" cy="4495800"/>
          </a:xfrm>
          <a:prstGeom prst="rect">
            <a:avLst/>
          </a:prstGeom>
          <a:solidFill>
            <a:schemeClr val="bg1">
              <a:lumMod val="95000"/>
            </a:schemeClr>
          </a:solidFill>
          <a:ln>
            <a:solidFill>
              <a:schemeClr val="bg1">
                <a:lumMod val="50000"/>
              </a:schemeClr>
            </a:solidFill>
          </a:ln>
        </p:spPr>
        <p:txBody>
          <a:bodyPr vert="horz" lIns="91440" tIns="45720" rIns="91440" bIns="45720" rtlCol="0">
            <a:normAutofit fontScale="85000" lnSpcReduction="20000"/>
          </a:bodyPr>
          <a:lstStyle/>
          <a:p>
            <a:r>
              <a:rPr lang="en-US" sz="2400" dirty="0" smtClean="0">
                <a:solidFill>
                  <a:srgbClr val="0000FF"/>
                </a:solidFill>
                <a:latin typeface="Consolas"/>
              </a:rPr>
              <a:t>IF</a:t>
            </a:r>
            <a:r>
              <a:rPr lang="en-US" sz="2400" dirty="0" smtClean="0">
                <a:solidFill>
                  <a:srgbClr val="000000"/>
                </a:solidFill>
                <a:latin typeface="Consolas"/>
              </a:rPr>
              <a:t>  </a:t>
            </a:r>
            <a:r>
              <a:rPr lang="en-US" sz="2400" dirty="0" smtClean="0">
                <a:solidFill>
                  <a:srgbClr val="808080"/>
                </a:solidFill>
                <a:latin typeface="Consolas"/>
              </a:rPr>
              <a:t>EXISTS</a:t>
            </a:r>
            <a:r>
              <a:rPr lang="en-US" sz="2400" dirty="0" smtClean="0">
                <a:solidFill>
                  <a:srgbClr val="0000FF"/>
                </a:solidFill>
                <a:latin typeface="Consolas"/>
              </a:rPr>
              <a:t> </a:t>
            </a:r>
            <a:r>
              <a:rPr lang="en-US" sz="2400" dirty="0" smtClean="0">
                <a:solidFill>
                  <a:srgbClr val="808080"/>
                </a:solidFill>
                <a:latin typeface="Consolas"/>
              </a:rPr>
              <a:t>(</a:t>
            </a:r>
            <a:r>
              <a:rPr lang="en-US" sz="2400" dirty="0" smtClean="0">
                <a:solidFill>
                  <a:srgbClr val="0000FF"/>
                </a:solidFill>
                <a:latin typeface="Consolas"/>
              </a:rPr>
              <a:t>SELECT</a:t>
            </a:r>
            <a:r>
              <a:rPr lang="en-US" sz="2400" dirty="0" smtClean="0">
                <a:solidFill>
                  <a:srgbClr val="000000"/>
                </a:solidFill>
                <a:latin typeface="Consolas"/>
              </a:rPr>
              <a:t>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FROM</a:t>
            </a:r>
            <a:r>
              <a:rPr lang="en-US" sz="2400" dirty="0" smtClean="0">
                <a:solidFill>
                  <a:srgbClr val="000000"/>
                </a:solidFill>
                <a:latin typeface="Consolas"/>
              </a:rPr>
              <a:t> </a:t>
            </a:r>
            <a:r>
              <a:rPr lang="en-US" sz="2400" dirty="0" err="1" smtClean="0">
                <a:solidFill>
                  <a:srgbClr val="008000"/>
                </a:solidFill>
                <a:latin typeface="Consolas"/>
              </a:rPr>
              <a:t>sys</a:t>
            </a:r>
            <a:r>
              <a:rPr lang="en-US" sz="2400" dirty="0" err="1" smtClean="0">
                <a:solidFill>
                  <a:srgbClr val="808080"/>
                </a:solidFill>
                <a:latin typeface="Consolas"/>
              </a:rPr>
              <a:t>.</a:t>
            </a:r>
            <a:r>
              <a:rPr lang="en-US" sz="2400" dirty="0" err="1" smtClean="0">
                <a:solidFill>
                  <a:srgbClr val="008000"/>
                </a:solidFill>
                <a:latin typeface="Consolas"/>
              </a:rPr>
              <a:t>indexes</a:t>
            </a:r>
            <a:r>
              <a:rPr lang="en-US" sz="2400" dirty="0" smtClean="0">
                <a:solidFill>
                  <a:srgbClr val="000000"/>
                </a:solidFill>
                <a:latin typeface="Consolas"/>
              </a:rPr>
              <a:t> </a:t>
            </a:r>
            <a:r>
              <a:rPr lang="en-US" sz="2400" dirty="0" smtClean="0">
                <a:solidFill>
                  <a:srgbClr val="0000FF"/>
                </a:solidFill>
                <a:latin typeface="Consolas"/>
              </a:rPr>
              <a:t>WHERE</a:t>
            </a:r>
            <a:r>
              <a:rPr lang="en-US" sz="2400" dirty="0" smtClean="0">
                <a:solidFill>
                  <a:srgbClr val="000000"/>
                </a:solidFill>
                <a:latin typeface="Consolas"/>
              </a:rPr>
              <a:t> </a:t>
            </a:r>
            <a:r>
              <a:rPr lang="en-US" sz="2400" dirty="0" err="1" smtClean="0">
                <a:solidFill>
                  <a:srgbClr val="FF00FF"/>
                </a:solidFill>
                <a:latin typeface="Consolas"/>
              </a:rPr>
              <a:t>object_id</a:t>
            </a:r>
            <a:r>
              <a:rPr lang="en-US" sz="2400" dirty="0" smtClean="0">
                <a:solidFill>
                  <a:srgbClr val="000000"/>
                </a:solidFill>
                <a:latin typeface="Consolas"/>
              </a:rPr>
              <a:t>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FF00FF"/>
                </a:solidFill>
                <a:latin typeface="Consolas"/>
              </a:rPr>
              <a:t>OBJECT_ID</a:t>
            </a:r>
            <a:r>
              <a:rPr lang="en-US" sz="2400" dirty="0" smtClean="0">
                <a:solidFill>
                  <a:srgbClr val="808080"/>
                </a:solidFill>
                <a:latin typeface="Consolas"/>
              </a:rPr>
              <a:t>(</a:t>
            </a:r>
            <a:r>
              <a:rPr lang="en-US" sz="2400" dirty="0" smtClean="0">
                <a:solidFill>
                  <a:srgbClr val="FF0000"/>
                </a:solidFill>
                <a:latin typeface="Consolas"/>
              </a:rPr>
              <a:t>N'[</a:t>
            </a:r>
            <a:r>
              <a:rPr lang="en-US" sz="2400" dirty="0" err="1" smtClean="0">
                <a:solidFill>
                  <a:srgbClr val="FF0000"/>
                </a:solidFill>
                <a:latin typeface="Consolas"/>
              </a:rPr>
              <a:t>dbo</a:t>
            </a:r>
            <a:r>
              <a:rPr lang="en-US" sz="2400" dirty="0" smtClean="0">
                <a:solidFill>
                  <a:srgbClr val="FF0000"/>
                </a:solidFill>
                <a:latin typeface="Consolas"/>
              </a:rPr>
              <a:t>].[</a:t>
            </a:r>
            <a:r>
              <a:rPr lang="en-US" sz="2400" dirty="0" err="1" smtClean="0">
                <a:solidFill>
                  <a:srgbClr val="FF0000"/>
                </a:solidFill>
                <a:latin typeface="Consolas"/>
              </a:rPr>
              <a:t>aspnet_Users</a:t>
            </a:r>
            <a:r>
              <a:rPr lang="en-US" sz="2400" dirty="0" smtClean="0">
                <a:solidFill>
                  <a:srgbClr val="FF0000"/>
                </a:solidFill>
                <a:latin typeface="Consolas"/>
              </a:rPr>
              <a:t>]'</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808080"/>
                </a:solidFill>
                <a:latin typeface="Consolas"/>
              </a:rPr>
              <a:t>AND</a:t>
            </a:r>
            <a:r>
              <a:rPr lang="en-US" sz="2400" dirty="0" smtClean="0">
                <a:solidFill>
                  <a:srgbClr val="000000"/>
                </a:solidFill>
                <a:latin typeface="Consolas"/>
              </a:rPr>
              <a:t> name </a:t>
            </a:r>
            <a:r>
              <a:rPr lang="en-US" sz="2400" dirty="0" smtClean="0">
                <a:solidFill>
                  <a:srgbClr val="808080"/>
                </a:solidFill>
                <a:latin typeface="Consolas"/>
              </a:rPr>
              <a:t>=</a:t>
            </a:r>
            <a:r>
              <a:rPr lang="en-US" sz="2400" dirty="0" smtClean="0">
                <a:solidFill>
                  <a:srgbClr val="000000"/>
                </a:solidFill>
                <a:latin typeface="Consolas"/>
              </a:rPr>
              <a:t> </a:t>
            </a:r>
            <a:r>
              <a:rPr lang="en-US" sz="2400" dirty="0" err="1" smtClean="0">
                <a:solidFill>
                  <a:srgbClr val="FF0000"/>
                </a:solidFill>
                <a:latin typeface="Consolas"/>
              </a:rPr>
              <a:t>N'aspnet_Users_LoweredUserName_Index</a:t>
            </a:r>
            <a:r>
              <a:rPr lang="en-US" sz="2400" dirty="0" smtClean="0">
                <a:solidFill>
                  <a:srgbClr val="FF0000"/>
                </a:solidFill>
                <a:latin typeface="Consolas"/>
              </a:rPr>
              <a:t>'</a:t>
            </a:r>
            <a:r>
              <a:rPr lang="en-US" sz="2400" dirty="0" smtClean="0">
                <a:solidFill>
                  <a:srgbClr val="808080"/>
                </a:solidFill>
                <a:latin typeface="Consolas"/>
              </a:rPr>
              <a:t>)</a:t>
            </a:r>
            <a:endParaRPr lang="en-US" sz="2400" dirty="0" smtClean="0">
              <a:solidFill>
                <a:srgbClr val="000000"/>
              </a:solidFill>
              <a:latin typeface="Consolas"/>
            </a:endParaRPr>
          </a:p>
          <a:p>
            <a:r>
              <a:rPr lang="en-US" sz="2400" dirty="0" smtClean="0">
                <a:solidFill>
                  <a:srgbClr val="0000FF"/>
                </a:solidFill>
                <a:latin typeface="Consolas"/>
              </a:rPr>
              <a:t>DROP</a:t>
            </a:r>
            <a:r>
              <a:rPr lang="en-US" sz="2400" dirty="0" smtClean="0">
                <a:solidFill>
                  <a:srgbClr val="000000"/>
                </a:solidFill>
                <a:latin typeface="Consolas"/>
              </a:rPr>
              <a:t> </a:t>
            </a:r>
            <a:r>
              <a:rPr lang="en-US" sz="2400" dirty="0" smtClean="0">
                <a:solidFill>
                  <a:srgbClr val="0000FF"/>
                </a:solidFill>
                <a:latin typeface="Consolas"/>
              </a:rPr>
              <a:t>INDEX</a:t>
            </a:r>
            <a:r>
              <a:rPr lang="en-US" sz="2400" dirty="0" smtClean="0">
                <a:solidFill>
                  <a:srgbClr val="000000"/>
                </a:solidFill>
                <a:latin typeface="Consolas"/>
              </a:rPr>
              <a:t> [</a:t>
            </a:r>
            <a:r>
              <a:rPr lang="en-US" sz="2400" dirty="0" err="1" smtClean="0">
                <a:solidFill>
                  <a:srgbClr val="000000"/>
                </a:solidFill>
                <a:latin typeface="Consolas"/>
              </a:rPr>
              <a:t>aspnet_Users_LoweredUserName_Index</a:t>
            </a:r>
            <a:r>
              <a:rPr lang="en-US" sz="2400" dirty="0" smtClean="0">
                <a:solidFill>
                  <a:srgbClr val="000000"/>
                </a:solidFill>
                <a:latin typeface="Consolas"/>
              </a:rPr>
              <a:t>] </a:t>
            </a:r>
            <a:r>
              <a:rPr lang="en-US" sz="2400" dirty="0" smtClean="0">
                <a:solidFill>
                  <a:srgbClr val="0000FF"/>
                </a:solidFill>
                <a:latin typeface="Consolas"/>
              </a:rPr>
              <a:t>ON</a:t>
            </a:r>
            <a:r>
              <a:rPr lang="en-US" sz="2400" dirty="0" smtClean="0">
                <a:solidFill>
                  <a:srgbClr val="000000"/>
                </a:solidFill>
                <a:latin typeface="Consolas"/>
              </a:rPr>
              <a:t> [</a:t>
            </a:r>
            <a:r>
              <a:rPr lang="en-US" sz="2400" dirty="0" err="1" smtClean="0">
                <a:solidFill>
                  <a:srgbClr val="000000"/>
                </a:solidFill>
                <a:latin typeface="Consolas"/>
              </a:rPr>
              <a:t>dbo</a:t>
            </a:r>
            <a:r>
              <a:rPr lang="en-US" sz="2400" dirty="0" smtClean="0">
                <a:solidFill>
                  <a:srgbClr val="000000"/>
                </a:solidFill>
                <a:latin typeface="Consolas"/>
              </a:rPr>
              <a:t>]</a:t>
            </a:r>
            <a:r>
              <a:rPr lang="en-US" sz="2400" dirty="0" smtClean="0">
                <a:solidFill>
                  <a:srgbClr val="808080"/>
                </a:solidFill>
                <a:latin typeface="Consolas"/>
              </a:rPr>
              <a:t>.</a:t>
            </a:r>
            <a:r>
              <a:rPr lang="en-US" sz="2400" dirty="0" smtClean="0">
                <a:solidFill>
                  <a:srgbClr val="000000"/>
                </a:solidFill>
                <a:latin typeface="Consolas"/>
              </a:rPr>
              <a:t>[</a:t>
            </a:r>
            <a:r>
              <a:rPr lang="en-US" sz="2400" dirty="0" err="1" smtClean="0">
                <a:solidFill>
                  <a:srgbClr val="000000"/>
                </a:solidFill>
                <a:latin typeface="Consolas"/>
              </a:rPr>
              <a:t>aspnet_Users</a:t>
            </a:r>
            <a:r>
              <a:rPr lang="en-US" sz="2400" dirty="0" smtClean="0">
                <a:solidFill>
                  <a:srgbClr val="000000"/>
                </a:solidFill>
                <a:latin typeface="Consolas"/>
              </a:rPr>
              <a:t>] </a:t>
            </a:r>
            <a:r>
              <a:rPr lang="en-US" sz="2400" dirty="0" smtClean="0">
                <a:solidFill>
                  <a:srgbClr val="0000FF"/>
                </a:solidFill>
                <a:latin typeface="Consolas"/>
              </a:rPr>
              <a:t>WITH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ONLINE</a:t>
            </a:r>
            <a:r>
              <a:rPr lang="en-US" sz="2400" dirty="0" smtClean="0">
                <a:solidFill>
                  <a:srgbClr val="000000"/>
                </a:solidFill>
                <a:latin typeface="Consolas"/>
              </a:rPr>
              <a:t>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OFF</a:t>
            </a:r>
            <a:r>
              <a:rPr lang="en-US" sz="2400" dirty="0" smtClean="0">
                <a:solidFill>
                  <a:srgbClr val="000000"/>
                </a:solidFill>
                <a:latin typeface="Consolas"/>
              </a:rPr>
              <a:t> </a:t>
            </a:r>
            <a:r>
              <a:rPr lang="en-US" sz="2400" dirty="0" smtClean="0">
                <a:solidFill>
                  <a:srgbClr val="808080"/>
                </a:solidFill>
                <a:latin typeface="Consolas"/>
              </a:rPr>
              <a:t>)</a:t>
            </a:r>
            <a:endParaRPr lang="en-US" sz="2400" dirty="0" smtClean="0">
              <a:solidFill>
                <a:srgbClr val="000000"/>
              </a:solidFill>
              <a:latin typeface="Consolas"/>
            </a:endParaRPr>
          </a:p>
          <a:p>
            <a:r>
              <a:rPr lang="en-US" sz="2400" dirty="0" smtClean="0">
                <a:solidFill>
                  <a:srgbClr val="0000FF"/>
                </a:solidFill>
                <a:latin typeface="Consolas"/>
              </a:rPr>
              <a:t>GO</a:t>
            </a:r>
            <a:endParaRPr lang="en-US" sz="2400" dirty="0" smtClean="0">
              <a:solidFill>
                <a:srgbClr val="000000"/>
              </a:solidFill>
              <a:latin typeface="Consolas"/>
            </a:endParaRPr>
          </a:p>
          <a:p>
            <a:endParaRPr lang="en-US" sz="2400" dirty="0" smtClean="0">
              <a:solidFill>
                <a:srgbClr val="000000"/>
              </a:solidFill>
              <a:latin typeface="Consolas"/>
            </a:endParaRPr>
          </a:p>
          <a:p>
            <a:r>
              <a:rPr lang="en-US" sz="2400" dirty="0" smtClean="0">
                <a:solidFill>
                  <a:srgbClr val="0000FF"/>
                </a:solidFill>
                <a:latin typeface="Consolas"/>
              </a:rPr>
              <a:t>CREATE</a:t>
            </a:r>
            <a:r>
              <a:rPr lang="en-US" sz="2400" dirty="0" smtClean="0">
                <a:solidFill>
                  <a:srgbClr val="000000"/>
                </a:solidFill>
                <a:latin typeface="Consolas"/>
              </a:rPr>
              <a:t> </a:t>
            </a:r>
            <a:r>
              <a:rPr lang="en-US" sz="2400" dirty="0" smtClean="0">
                <a:solidFill>
                  <a:srgbClr val="0000FF"/>
                </a:solidFill>
                <a:latin typeface="Consolas"/>
              </a:rPr>
              <a:t>NONCLUSTERED</a:t>
            </a:r>
            <a:r>
              <a:rPr lang="en-US" sz="2400" dirty="0" smtClean="0">
                <a:solidFill>
                  <a:srgbClr val="000000"/>
                </a:solidFill>
                <a:latin typeface="Consolas"/>
              </a:rPr>
              <a:t> </a:t>
            </a:r>
            <a:r>
              <a:rPr lang="en-US" sz="2400" dirty="0" smtClean="0">
                <a:solidFill>
                  <a:srgbClr val="0000FF"/>
                </a:solidFill>
                <a:latin typeface="Consolas"/>
              </a:rPr>
              <a:t>INDEX</a:t>
            </a:r>
            <a:r>
              <a:rPr lang="en-US" sz="2400" dirty="0" smtClean="0">
                <a:solidFill>
                  <a:srgbClr val="000000"/>
                </a:solidFill>
                <a:latin typeface="Consolas"/>
              </a:rPr>
              <a:t> [</a:t>
            </a:r>
            <a:r>
              <a:rPr lang="en-US" sz="2400" dirty="0" err="1" smtClean="0">
                <a:solidFill>
                  <a:srgbClr val="000000"/>
                </a:solidFill>
                <a:latin typeface="Consolas"/>
              </a:rPr>
              <a:t>aspnet_Users_LoweredUserName_Index</a:t>
            </a:r>
            <a:r>
              <a:rPr lang="en-US" sz="2400" dirty="0" smtClean="0">
                <a:solidFill>
                  <a:srgbClr val="000000"/>
                </a:solidFill>
                <a:latin typeface="Consolas"/>
              </a:rPr>
              <a:t>] </a:t>
            </a:r>
            <a:r>
              <a:rPr lang="en-US" sz="2400" dirty="0" smtClean="0">
                <a:solidFill>
                  <a:srgbClr val="0000FF"/>
                </a:solidFill>
                <a:latin typeface="Consolas"/>
              </a:rPr>
              <a:t>ON</a:t>
            </a:r>
            <a:r>
              <a:rPr lang="en-US" sz="2400" dirty="0" smtClean="0">
                <a:solidFill>
                  <a:srgbClr val="000000"/>
                </a:solidFill>
                <a:latin typeface="Consolas"/>
              </a:rPr>
              <a:t> [</a:t>
            </a:r>
            <a:r>
              <a:rPr lang="en-US" sz="2400" dirty="0" err="1" smtClean="0">
                <a:solidFill>
                  <a:srgbClr val="000000"/>
                </a:solidFill>
                <a:latin typeface="Consolas"/>
              </a:rPr>
              <a:t>dbo</a:t>
            </a:r>
            <a:r>
              <a:rPr lang="en-US" sz="2400" dirty="0" smtClean="0">
                <a:solidFill>
                  <a:srgbClr val="000000"/>
                </a:solidFill>
                <a:latin typeface="Consolas"/>
              </a:rPr>
              <a:t>]</a:t>
            </a:r>
            <a:r>
              <a:rPr lang="en-US" sz="2400" dirty="0" smtClean="0">
                <a:solidFill>
                  <a:srgbClr val="808080"/>
                </a:solidFill>
                <a:latin typeface="Consolas"/>
              </a:rPr>
              <a:t>.</a:t>
            </a:r>
            <a:r>
              <a:rPr lang="en-US" sz="2400" dirty="0" smtClean="0">
                <a:solidFill>
                  <a:srgbClr val="000000"/>
                </a:solidFill>
                <a:latin typeface="Consolas"/>
              </a:rPr>
              <a:t>[</a:t>
            </a:r>
            <a:r>
              <a:rPr lang="en-US" sz="2400" dirty="0" err="1" smtClean="0">
                <a:solidFill>
                  <a:srgbClr val="000000"/>
                </a:solidFill>
                <a:latin typeface="Consolas"/>
              </a:rPr>
              <a:t>aspnet_Users</a:t>
            </a:r>
            <a:r>
              <a:rPr lang="en-US" sz="2400" dirty="0" smtClean="0">
                <a:solidFill>
                  <a:srgbClr val="000000"/>
                </a:solidFill>
                <a:latin typeface="Consolas"/>
              </a:rPr>
              <a:t>] </a:t>
            </a:r>
          </a:p>
          <a:p>
            <a:r>
              <a:rPr lang="en-US" sz="2400" dirty="0" smtClean="0">
                <a:solidFill>
                  <a:srgbClr val="808080"/>
                </a:solidFill>
                <a:latin typeface="Consolas"/>
              </a:rPr>
              <a:t>(</a:t>
            </a:r>
            <a:endParaRPr lang="en-US" sz="2400" dirty="0" smtClean="0">
              <a:solidFill>
                <a:srgbClr val="000000"/>
              </a:solidFill>
              <a:latin typeface="Consolas"/>
            </a:endParaRPr>
          </a:p>
          <a:p>
            <a:r>
              <a:rPr lang="en-US" sz="2400" dirty="0" smtClean="0">
                <a:solidFill>
                  <a:srgbClr val="000000"/>
                </a:solidFill>
                <a:latin typeface="Consolas"/>
              </a:rPr>
              <a:t>[</a:t>
            </a:r>
            <a:r>
              <a:rPr lang="en-US" sz="2400" dirty="0" err="1" smtClean="0">
                <a:solidFill>
                  <a:srgbClr val="000000"/>
                </a:solidFill>
                <a:latin typeface="Consolas"/>
              </a:rPr>
              <a:t>LoweredUserName</a:t>
            </a:r>
            <a:r>
              <a:rPr lang="en-US" sz="2400" dirty="0" smtClean="0">
                <a:solidFill>
                  <a:srgbClr val="000000"/>
                </a:solidFill>
                <a:latin typeface="Consolas"/>
              </a:rPr>
              <a:t>] </a:t>
            </a:r>
            <a:r>
              <a:rPr lang="en-US" sz="2400" dirty="0" smtClean="0">
                <a:solidFill>
                  <a:srgbClr val="0000FF"/>
                </a:solidFill>
                <a:latin typeface="Consolas"/>
              </a:rPr>
              <a:t>ASC</a:t>
            </a:r>
            <a:endParaRPr lang="en-US" sz="2400" dirty="0" smtClean="0">
              <a:solidFill>
                <a:srgbClr val="000000"/>
              </a:solidFill>
              <a:latin typeface="Consolas"/>
            </a:endParaRPr>
          </a:p>
          <a:p>
            <a:r>
              <a:rPr lang="en-US" sz="2400" dirty="0" smtClean="0">
                <a:solidFill>
                  <a:srgbClr val="808080"/>
                </a:solidFill>
                <a:latin typeface="Consolas"/>
              </a:rPr>
              <a:t>)</a:t>
            </a:r>
            <a:r>
              <a:rPr lang="en-US" sz="2400" dirty="0" smtClean="0">
                <a:solidFill>
                  <a:srgbClr val="0000FF"/>
                </a:solidFill>
                <a:latin typeface="Consolas"/>
              </a:rPr>
              <a:t>WITH </a:t>
            </a:r>
            <a:r>
              <a:rPr lang="en-US" sz="2400" dirty="0" smtClean="0">
                <a:solidFill>
                  <a:srgbClr val="808080"/>
                </a:solidFill>
                <a:latin typeface="Consolas"/>
              </a:rPr>
              <a:t>(</a:t>
            </a:r>
            <a:r>
              <a:rPr lang="en-US" sz="2400" dirty="0" smtClean="0">
                <a:solidFill>
                  <a:srgbClr val="0000FF"/>
                </a:solidFill>
                <a:latin typeface="Consolas"/>
              </a:rPr>
              <a:t>PAD_INDEX</a:t>
            </a:r>
            <a:r>
              <a:rPr lang="en-US" sz="2400" dirty="0" smtClean="0">
                <a:solidFill>
                  <a:srgbClr val="000000"/>
                </a:solidFill>
                <a:latin typeface="Consolas"/>
              </a:rPr>
              <a:t>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OFF</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STATISTICS_NORECOMPUTE</a:t>
            </a:r>
            <a:r>
              <a:rPr lang="en-US" sz="2400" dirty="0" smtClean="0">
                <a:solidFill>
                  <a:srgbClr val="000000"/>
                </a:solidFill>
                <a:latin typeface="Consolas"/>
              </a:rPr>
              <a:t>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OFF</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SORT_IN_TEMPDB</a:t>
            </a:r>
            <a:r>
              <a:rPr lang="en-US" sz="2400" dirty="0" smtClean="0">
                <a:solidFill>
                  <a:srgbClr val="000000"/>
                </a:solidFill>
                <a:latin typeface="Consolas"/>
              </a:rPr>
              <a:t>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OFF</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IGNORE_DUP_KEY</a:t>
            </a:r>
            <a:r>
              <a:rPr lang="en-US" sz="2400" dirty="0" smtClean="0">
                <a:solidFill>
                  <a:srgbClr val="000000"/>
                </a:solidFill>
                <a:latin typeface="Consolas"/>
              </a:rPr>
              <a:t>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OFF</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DROP_EXISTING</a:t>
            </a:r>
            <a:r>
              <a:rPr lang="en-US" sz="2400" dirty="0" smtClean="0">
                <a:solidFill>
                  <a:srgbClr val="000000"/>
                </a:solidFill>
                <a:latin typeface="Consolas"/>
              </a:rPr>
              <a:t>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OFF</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ONLINE</a:t>
            </a:r>
            <a:r>
              <a:rPr lang="en-US" sz="2400" dirty="0" smtClean="0">
                <a:solidFill>
                  <a:srgbClr val="000000"/>
                </a:solidFill>
                <a:latin typeface="Consolas"/>
              </a:rPr>
              <a:t>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OFF</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ALLOW_ROW_LOCKS</a:t>
            </a:r>
            <a:r>
              <a:rPr lang="en-US" sz="2400" dirty="0" smtClean="0">
                <a:solidFill>
                  <a:srgbClr val="000000"/>
                </a:solidFill>
                <a:latin typeface="Consolas"/>
              </a:rPr>
              <a:t>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ON</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ALLOW_PAGE_LOCKS</a:t>
            </a:r>
            <a:r>
              <a:rPr lang="en-US" sz="2400" dirty="0" smtClean="0">
                <a:solidFill>
                  <a:srgbClr val="000000"/>
                </a:solidFill>
                <a:latin typeface="Consolas"/>
              </a:rPr>
              <a:t>  </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ON</a:t>
            </a:r>
            <a:r>
              <a:rPr lang="en-US" sz="2400" dirty="0" smtClean="0">
                <a:solidFill>
                  <a:srgbClr val="808080"/>
                </a:solidFill>
                <a:latin typeface="Consolas"/>
              </a:rPr>
              <a:t>)</a:t>
            </a:r>
            <a:r>
              <a:rPr lang="en-US" sz="2400" dirty="0" smtClean="0">
                <a:solidFill>
                  <a:srgbClr val="000000"/>
                </a:solidFill>
                <a:latin typeface="Consolas"/>
              </a:rPr>
              <a:t> </a:t>
            </a:r>
            <a:r>
              <a:rPr lang="en-US" sz="2400" dirty="0" smtClean="0">
                <a:solidFill>
                  <a:srgbClr val="0000FF"/>
                </a:solidFill>
                <a:latin typeface="Consolas"/>
              </a:rPr>
              <a:t>ON</a:t>
            </a:r>
            <a:r>
              <a:rPr lang="en-US" sz="2400" dirty="0" smtClean="0">
                <a:solidFill>
                  <a:srgbClr val="000000"/>
                </a:solidFill>
                <a:latin typeface="Consolas"/>
              </a:rPr>
              <a:t> [PRIMARY]</a:t>
            </a:r>
          </a:p>
          <a:p>
            <a:r>
              <a:rPr lang="en-US" sz="2400" dirty="0" smtClean="0">
                <a:solidFill>
                  <a:srgbClr val="0000FF"/>
                </a:solidFill>
                <a:latin typeface="Consolas"/>
              </a:rPr>
              <a:t>GO</a:t>
            </a:r>
            <a:endParaRPr lang="en-US" sz="2400" dirty="0" smtClean="0">
              <a:solidFill>
                <a:srgbClr val="808080"/>
              </a:solidFill>
              <a:latin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Listing Indexes for A Database</a:t>
            </a:r>
            <a:endParaRPr lang="en-US" dirty="0"/>
          </a:p>
        </p:txBody>
      </p:sp>
      <p:sp>
        <p:nvSpPr>
          <p:cNvPr id="4" name="Content Placeholder 2"/>
          <p:cNvSpPr txBox="1">
            <a:spLocks/>
          </p:cNvSpPr>
          <p:nvPr/>
        </p:nvSpPr>
        <p:spPr>
          <a:xfrm>
            <a:off x="457200" y="1752600"/>
            <a:ext cx="8229600" cy="3429000"/>
          </a:xfrm>
          <a:prstGeom prst="rect">
            <a:avLst/>
          </a:prstGeom>
          <a:solidFill>
            <a:schemeClr val="bg1">
              <a:lumMod val="95000"/>
            </a:schemeClr>
          </a:solidFill>
          <a:ln>
            <a:solidFill>
              <a:schemeClr val="bg1">
                <a:lumMod val="50000"/>
              </a:schemeClr>
            </a:solidFill>
          </a:ln>
        </p:spPr>
        <p:txBody>
          <a:bodyPr vert="horz" lIns="91440" tIns="45720" rIns="91440" bIns="45720" rtlCol="0">
            <a:normAutofit/>
          </a:bodyPr>
          <a:lstStyle/>
          <a:p>
            <a:r>
              <a:rPr lang="en-US" dirty="0" smtClean="0">
                <a:solidFill>
                  <a:srgbClr val="0000FF"/>
                </a:solidFill>
                <a:latin typeface="Consolas"/>
              </a:rPr>
              <a:t>SELECT</a:t>
            </a:r>
          </a:p>
          <a:p>
            <a:r>
              <a:rPr lang="en-US" dirty="0" smtClean="0">
                <a:solidFill>
                  <a:srgbClr val="0000FF"/>
                </a:solidFill>
                <a:latin typeface="Consolas"/>
              </a:rPr>
              <a:t>	so</a:t>
            </a:r>
            <a:r>
              <a:rPr lang="en-US" dirty="0" smtClean="0">
                <a:solidFill>
                  <a:srgbClr val="808080"/>
                </a:solidFill>
                <a:latin typeface="Consolas"/>
              </a:rPr>
              <a:t>.name </a:t>
            </a:r>
            <a:r>
              <a:rPr lang="en-US" dirty="0" smtClean="0">
                <a:solidFill>
                  <a:srgbClr val="0000FF"/>
                </a:solidFill>
                <a:latin typeface="Consolas"/>
              </a:rPr>
              <a:t>AS </a:t>
            </a:r>
            <a:r>
              <a:rPr lang="en-US" dirty="0" err="1" smtClean="0">
                <a:solidFill>
                  <a:srgbClr val="0000FF"/>
                </a:solidFill>
                <a:latin typeface="Consolas"/>
              </a:rPr>
              <a:t>TableName</a:t>
            </a:r>
            <a:endParaRPr lang="en-US" dirty="0" smtClean="0">
              <a:solidFill>
                <a:srgbClr val="0000FF"/>
              </a:solidFill>
              <a:latin typeface="Consolas"/>
            </a:endParaRPr>
          </a:p>
          <a:p>
            <a:r>
              <a:rPr lang="en-US" dirty="0" smtClean="0">
                <a:solidFill>
                  <a:srgbClr val="808080"/>
                </a:solidFill>
                <a:latin typeface="Consolas"/>
              </a:rPr>
              <a:t>	, si.name </a:t>
            </a:r>
            <a:r>
              <a:rPr lang="en-US" dirty="0" smtClean="0">
                <a:solidFill>
                  <a:srgbClr val="0000FF"/>
                </a:solidFill>
                <a:latin typeface="Consolas"/>
              </a:rPr>
              <a:t>AS </a:t>
            </a:r>
            <a:r>
              <a:rPr lang="en-US" dirty="0" err="1" smtClean="0">
                <a:solidFill>
                  <a:srgbClr val="0000FF"/>
                </a:solidFill>
                <a:latin typeface="Consolas"/>
              </a:rPr>
              <a:t>IndexName</a:t>
            </a:r>
            <a:endParaRPr lang="en-US" dirty="0" smtClean="0">
              <a:solidFill>
                <a:srgbClr val="0000FF"/>
              </a:solidFill>
              <a:latin typeface="Consolas"/>
            </a:endParaRPr>
          </a:p>
          <a:p>
            <a:r>
              <a:rPr lang="en-US" dirty="0" smtClean="0">
                <a:solidFill>
                  <a:srgbClr val="808080"/>
                </a:solidFill>
                <a:latin typeface="Consolas"/>
              </a:rPr>
              <a:t>	, </a:t>
            </a:r>
            <a:r>
              <a:rPr lang="en-US" dirty="0" err="1" smtClean="0">
                <a:solidFill>
                  <a:srgbClr val="808080"/>
                </a:solidFill>
                <a:latin typeface="Consolas"/>
              </a:rPr>
              <a:t>si.type_desc</a:t>
            </a:r>
            <a:r>
              <a:rPr lang="en-US" dirty="0" smtClean="0">
                <a:solidFill>
                  <a:srgbClr val="808080"/>
                </a:solidFill>
                <a:latin typeface="Consolas"/>
              </a:rPr>
              <a:t> </a:t>
            </a:r>
            <a:r>
              <a:rPr lang="en-US" dirty="0" smtClean="0">
                <a:solidFill>
                  <a:srgbClr val="0000FF"/>
                </a:solidFill>
                <a:latin typeface="Consolas"/>
              </a:rPr>
              <a:t>AS </a:t>
            </a:r>
            <a:r>
              <a:rPr lang="en-US" dirty="0" err="1" smtClean="0">
                <a:solidFill>
                  <a:srgbClr val="0000FF"/>
                </a:solidFill>
                <a:latin typeface="Consolas"/>
              </a:rPr>
              <a:t>IndexType</a:t>
            </a:r>
            <a:endParaRPr lang="en-US" dirty="0" smtClean="0">
              <a:solidFill>
                <a:srgbClr val="0000FF"/>
              </a:solidFill>
              <a:latin typeface="Consolas"/>
            </a:endParaRPr>
          </a:p>
          <a:p>
            <a:r>
              <a:rPr lang="en-US" dirty="0" smtClean="0">
                <a:solidFill>
                  <a:srgbClr val="0000FF"/>
                </a:solidFill>
                <a:latin typeface="Consolas"/>
              </a:rPr>
              <a:t>FROM</a:t>
            </a:r>
          </a:p>
          <a:p>
            <a:r>
              <a:rPr lang="en-US" dirty="0" smtClean="0">
                <a:solidFill>
                  <a:srgbClr val="008000"/>
                </a:solidFill>
                <a:latin typeface="Consolas"/>
              </a:rPr>
              <a:t>	</a:t>
            </a:r>
            <a:r>
              <a:rPr lang="en-US" dirty="0" err="1" smtClean="0">
                <a:solidFill>
                  <a:srgbClr val="008000"/>
                </a:solidFill>
                <a:latin typeface="Consolas"/>
              </a:rPr>
              <a:t>sys</a:t>
            </a:r>
            <a:r>
              <a:rPr lang="en-US" dirty="0" err="1" smtClean="0">
                <a:solidFill>
                  <a:srgbClr val="808080"/>
                </a:solidFill>
                <a:latin typeface="Consolas"/>
              </a:rPr>
              <a:t>.</a:t>
            </a:r>
            <a:r>
              <a:rPr lang="en-US" dirty="0" err="1" smtClean="0">
                <a:solidFill>
                  <a:srgbClr val="008000"/>
                </a:solidFill>
                <a:latin typeface="Consolas"/>
              </a:rPr>
              <a:t>indexes</a:t>
            </a:r>
            <a:r>
              <a:rPr lang="en-US" dirty="0" smtClean="0">
                <a:solidFill>
                  <a:srgbClr val="008000"/>
                </a:solidFill>
                <a:latin typeface="Consolas"/>
              </a:rPr>
              <a:t> </a:t>
            </a:r>
            <a:r>
              <a:rPr lang="en-US" dirty="0" err="1" smtClean="0">
                <a:solidFill>
                  <a:srgbClr val="008000"/>
                </a:solidFill>
                <a:latin typeface="Consolas"/>
              </a:rPr>
              <a:t>si</a:t>
            </a:r>
            <a:endParaRPr lang="en-US" dirty="0" smtClean="0">
              <a:solidFill>
                <a:srgbClr val="008000"/>
              </a:solidFill>
              <a:latin typeface="Consolas"/>
            </a:endParaRPr>
          </a:p>
          <a:p>
            <a:r>
              <a:rPr lang="en-US" dirty="0" smtClean="0">
                <a:solidFill>
                  <a:srgbClr val="808080"/>
                </a:solidFill>
                <a:latin typeface="Consolas"/>
              </a:rPr>
              <a:t>	JOIN </a:t>
            </a:r>
            <a:r>
              <a:rPr lang="en-US" dirty="0" err="1" smtClean="0">
                <a:solidFill>
                  <a:srgbClr val="008000"/>
                </a:solidFill>
                <a:latin typeface="Consolas"/>
              </a:rPr>
              <a:t>sys</a:t>
            </a:r>
            <a:r>
              <a:rPr lang="en-US" dirty="0" err="1" smtClean="0">
                <a:solidFill>
                  <a:srgbClr val="808080"/>
                </a:solidFill>
                <a:latin typeface="Consolas"/>
              </a:rPr>
              <a:t>.</a:t>
            </a:r>
            <a:r>
              <a:rPr lang="en-US" dirty="0" err="1" smtClean="0">
                <a:solidFill>
                  <a:srgbClr val="008000"/>
                </a:solidFill>
                <a:latin typeface="Consolas"/>
              </a:rPr>
              <a:t>objects</a:t>
            </a:r>
            <a:r>
              <a:rPr lang="en-US" dirty="0" smtClean="0">
                <a:solidFill>
                  <a:srgbClr val="008000"/>
                </a:solidFill>
                <a:latin typeface="Consolas"/>
              </a:rPr>
              <a:t> so </a:t>
            </a:r>
            <a:r>
              <a:rPr lang="en-US" dirty="0" smtClean="0">
                <a:solidFill>
                  <a:srgbClr val="0000FF"/>
                </a:solidFill>
                <a:latin typeface="Consolas"/>
              </a:rPr>
              <a:t>ON </a:t>
            </a:r>
            <a:r>
              <a:rPr lang="en-US" dirty="0" err="1" smtClean="0">
                <a:solidFill>
                  <a:srgbClr val="0000FF"/>
                </a:solidFill>
                <a:latin typeface="Consolas"/>
              </a:rPr>
              <a:t>si</a:t>
            </a:r>
            <a:r>
              <a:rPr lang="en-US" dirty="0" smtClean="0">
                <a:solidFill>
                  <a:srgbClr val="808080"/>
                </a:solidFill>
                <a:latin typeface="Consolas"/>
              </a:rPr>
              <a:t>.[</a:t>
            </a:r>
            <a:r>
              <a:rPr lang="en-US" dirty="0" err="1" smtClean="0">
                <a:solidFill>
                  <a:srgbClr val="808080"/>
                </a:solidFill>
                <a:latin typeface="Consolas"/>
              </a:rPr>
              <a:t>object_id</a:t>
            </a:r>
            <a:r>
              <a:rPr lang="en-US" dirty="0" smtClean="0">
                <a:solidFill>
                  <a:srgbClr val="808080"/>
                </a:solidFill>
                <a:latin typeface="Consolas"/>
              </a:rPr>
              <a:t>] = so.[</a:t>
            </a:r>
            <a:r>
              <a:rPr lang="en-US" dirty="0" err="1" smtClean="0">
                <a:solidFill>
                  <a:srgbClr val="808080"/>
                </a:solidFill>
                <a:latin typeface="Consolas"/>
              </a:rPr>
              <a:t>object_id</a:t>
            </a:r>
            <a:r>
              <a:rPr lang="en-US" dirty="0" smtClean="0">
                <a:solidFill>
                  <a:srgbClr val="808080"/>
                </a:solidFill>
                <a:latin typeface="Consolas"/>
              </a:rPr>
              <a:t>]</a:t>
            </a:r>
          </a:p>
          <a:p>
            <a:r>
              <a:rPr lang="en-US" dirty="0" smtClean="0">
                <a:solidFill>
                  <a:srgbClr val="0000FF"/>
                </a:solidFill>
                <a:latin typeface="Consolas"/>
              </a:rPr>
              <a:t>WHERE</a:t>
            </a:r>
          </a:p>
          <a:p>
            <a:r>
              <a:rPr lang="en-US" dirty="0" smtClean="0">
                <a:solidFill>
                  <a:srgbClr val="0000FF"/>
                </a:solidFill>
                <a:latin typeface="Consolas"/>
              </a:rPr>
              <a:t>	</a:t>
            </a:r>
            <a:r>
              <a:rPr lang="en-US" dirty="0" err="1" smtClean="0">
                <a:solidFill>
                  <a:srgbClr val="0000FF"/>
                </a:solidFill>
                <a:latin typeface="Consolas"/>
              </a:rPr>
              <a:t>so</a:t>
            </a:r>
            <a:r>
              <a:rPr lang="en-US" dirty="0" err="1" smtClean="0">
                <a:solidFill>
                  <a:srgbClr val="808080"/>
                </a:solidFill>
                <a:latin typeface="Consolas"/>
              </a:rPr>
              <a:t>.</a:t>
            </a:r>
            <a:r>
              <a:rPr lang="en-US" dirty="0" err="1" smtClean="0">
                <a:solidFill>
                  <a:srgbClr val="0000FF"/>
                </a:solidFill>
                <a:latin typeface="Consolas"/>
              </a:rPr>
              <a:t>type</a:t>
            </a:r>
            <a:r>
              <a:rPr lang="en-US" dirty="0" smtClean="0">
                <a:solidFill>
                  <a:srgbClr val="0000FF"/>
                </a:solidFill>
                <a:latin typeface="Consolas"/>
              </a:rPr>
              <a:t> </a:t>
            </a:r>
            <a:r>
              <a:rPr lang="en-US" dirty="0" smtClean="0">
                <a:solidFill>
                  <a:srgbClr val="808080"/>
                </a:solidFill>
                <a:latin typeface="Consolas"/>
              </a:rPr>
              <a:t>= </a:t>
            </a:r>
            <a:r>
              <a:rPr lang="en-US" dirty="0" smtClean="0">
                <a:solidFill>
                  <a:srgbClr val="FF0000"/>
                </a:solidFill>
                <a:latin typeface="Consolas"/>
              </a:rPr>
              <a:t>'U' </a:t>
            </a:r>
            <a:r>
              <a:rPr lang="en-US" dirty="0" smtClean="0">
                <a:solidFill>
                  <a:srgbClr val="008000"/>
                </a:solidFill>
                <a:latin typeface="Consolas"/>
              </a:rPr>
              <a:t>--Only get indexes for User Created Tables</a:t>
            </a:r>
          </a:p>
          <a:p>
            <a:r>
              <a:rPr lang="en-US" dirty="0" smtClean="0">
                <a:solidFill>
                  <a:srgbClr val="808080"/>
                </a:solidFill>
                <a:latin typeface="Consolas"/>
              </a:rPr>
              <a:t>	AND si.name IS NOT NULL</a:t>
            </a:r>
          </a:p>
          <a:p>
            <a:r>
              <a:rPr lang="en-US" dirty="0" smtClean="0">
                <a:solidFill>
                  <a:srgbClr val="0000FF"/>
                </a:solidFill>
                <a:latin typeface="Consolas"/>
              </a:rPr>
              <a:t>ORDER BY</a:t>
            </a:r>
          </a:p>
          <a:p>
            <a:r>
              <a:rPr lang="en-US" dirty="0" smtClean="0">
                <a:solidFill>
                  <a:srgbClr val="0000FF"/>
                </a:solidFill>
                <a:latin typeface="Consolas"/>
              </a:rPr>
              <a:t>	so</a:t>
            </a:r>
            <a:r>
              <a:rPr lang="en-US" dirty="0" smtClean="0">
                <a:solidFill>
                  <a:srgbClr val="808080"/>
                </a:solidFill>
                <a:latin typeface="Consolas"/>
              </a:rPr>
              <a:t>.name, </a:t>
            </a:r>
            <a:r>
              <a:rPr lang="en-US" dirty="0" err="1" smtClean="0">
                <a:solidFill>
                  <a:srgbClr val="808080"/>
                </a:solidFill>
                <a:latin typeface="Consolas"/>
              </a:rPr>
              <a:t>si.</a:t>
            </a:r>
            <a:r>
              <a:rPr lang="en-US" dirty="0" err="1" smtClean="0">
                <a:solidFill>
                  <a:srgbClr val="0000FF"/>
                </a:solidFill>
                <a:latin typeface="Consolas"/>
              </a:rPr>
              <a:t>type</a:t>
            </a:r>
            <a:endParaRPr lang="en-US" dirty="0" smtClean="0">
              <a:solidFill>
                <a:srgbClr val="0000FF"/>
              </a:solidFill>
              <a:latin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 Fragmentation</a:t>
            </a:r>
            <a:endParaRPr lang="en-US" dirty="0"/>
          </a:p>
        </p:txBody>
      </p:sp>
      <p:sp>
        <p:nvSpPr>
          <p:cNvPr id="3" name="Content Placeholder 2"/>
          <p:cNvSpPr>
            <a:spLocks noGrp="1"/>
          </p:cNvSpPr>
          <p:nvPr>
            <p:ph idx="1"/>
          </p:nvPr>
        </p:nvSpPr>
        <p:spPr/>
        <p:txBody>
          <a:bodyPr/>
          <a:lstStyle/>
          <a:p>
            <a:r>
              <a:rPr lang="en-US" sz="2200" dirty="0" smtClean="0"/>
              <a:t>After indexes are created, they will undergo automatic maintenance by the SQL Server Database Engine whenever insert, update or delete operations are executed on the underlying data.</a:t>
            </a:r>
          </a:p>
          <a:p>
            <a:r>
              <a:rPr lang="en-US" sz="2200" dirty="0" smtClean="0"/>
              <a:t>Even so, these automatic modifications will continuously scatter the information in the index throughout the database – fragmenting the index over time. The result – indexes now have pages where logical ordering (based on the key value) differs from the physical ordering inside the data file.</a:t>
            </a:r>
          </a:p>
          <a:p>
            <a:r>
              <a:rPr lang="en-US" sz="2200" dirty="0" smtClean="0"/>
              <a:t>This means that there is a high percentage of free space on the index pages, and that SQL Server has to read higher number of pages when scanning each index. Also, ordering of pages that belong to the same index gets scrambled and this adds more work to the SQL Server when reading an index – especially in IO terms.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Detecting Fragmentation</a:t>
            </a:r>
            <a:endParaRPr lang="en-US" dirty="0"/>
          </a:p>
        </p:txBody>
      </p:sp>
      <p:sp>
        <p:nvSpPr>
          <p:cNvPr id="4" name="Content Placeholder 2"/>
          <p:cNvSpPr txBox="1">
            <a:spLocks/>
          </p:cNvSpPr>
          <p:nvPr/>
        </p:nvSpPr>
        <p:spPr>
          <a:xfrm>
            <a:off x="457200" y="1752600"/>
            <a:ext cx="8229600" cy="1828800"/>
          </a:xfrm>
          <a:prstGeom prst="rect">
            <a:avLst/>
          </a:prstGeom>
          <a:solidFill>
            <a:schemeClr val="bg1">
              <a:lumMod val="95000"/>
            </a:schemeClr>
          </a:solidFill>
          <a:ln>
            <a:solidFill>
              <a:schemeClr val="bg1">
                <a:lumMod val="50000"/>
              </a:schemeClr>
            </a:solidFill>
          </a:ln>
        </p:spPr>
        <p:txBody>
          <a:bodyPr vert="horz" lIns="91440" tIns="45720" rIns="91440" bIns="45720" rtlCol="0">
            <a:noAutofit/>
          </a:bodyPr>
          <a:lstStyle/>
          <a:p>
            <a:r>
              <a:rPr lang="en-US" sz="1600" dirty="0" smtClean="0">
                <a:solidFill>
                  <a:srgbClr val="0000FF"/>
                </a:solidFill>
                <a:latin typeface="Consolas"/>
              </a:rPr>
              <a:t>SELECT</a:t>
            </a:r>
          </a:p>
          <a:p>
            <a:r>
              <a:rPr lang="en-US" sz="1600" dirty="0" smtClean="0">
                <a:solidFill>
                  <a:srgbClr val="FF00FF"/>
                </a:solidFill>
                <a:latin typeface="Consolas"/>
              </a:rPr>
              <a:t>OBJECT_NAME</a:t>
            </a:r>
            <a:r>
              <a:rPr lang="en-US" sz="1600" dirty="0" smtClean="0">
                <a:solidFill>
                  <a:srgbClr val="808080"/>
                </a:solidFill>
                <a:latin typeface="Consolas"/>
              </a:rPr>
              <a:t>(</a:t>
            </a:r>
            <a:r>
              <a:rPr lang="en-US" sz="1600" dirty="0" err="1" smtClean="0">
                <a:solidFill>
                  <a:srgbClr val="FF00FF"/>
                </a:solidFill>
                <a:latin typeface="Consolas"/>
              </a:rPr>
              <a:t>object_id</a:t>
            </a:r>
            <a:r>
              <a:rPr lang="en-US" sz="1600" dirty="0" smtClean="0">
                <a:solidFill>
                  <a:srgbClr val="808080"/>
                </a:solidFill>
                <a:latin typeface="Consolas"/>
              </a:rPr>
              <a:t>) </a:t>
            </a:r>
            <a:r>
              <a:rPr lang="en-US" sz="1600" dirty="0" smtClean="0">
                <a:solidFill>
                  <a:srgbClr val="0000FF"/>
                </a:solidFill>
                <a:latin typeface="Consolas"/>
              </a:rPr>
              <a:t>AS </a:t>
            </a:r>
            <a:r>
              <a:rPr lang="en-US" sz="1600" dirty="0" err="1" smtClean="0">
                <a:solidFill>
                  <a:srgbClr val="0000FF"/>
                </a:solidFill>
                <a:latin typeface="Consolas"/>
              </a:rPr>
              <a:t>Table_Name</a:t>
            </a:r>
            <a:endParaRPr lang="en-US" sz="1600" dirty="0" smtClean="0">
              <a:solidFill>
                <a:srgbClr val="0000FF"/>
              </a:solidFill>
              <a:latin typeface="Consolas"/>
            </a:endParaRPr>
          </a:p>
          <a:p>
            <a:r>
              <a:rPr lang="en-US" sz="1600" dirty="0" smtClean="0">
                <a:solidFill>
                  <a:srgbClr val="808080"/>
                </a:solidFill>
                <a:latin typeface="Consolas"/>
              </a:rPr>
              <a:t>,(</a:t>
            </a:r>
            <a:r>
              <a:rPr lang="en-US" sz="1600" dirty="0" smtClean="0">
                <a:solidFill>
                  <a:srgbClr val="0000FF"/>
                </a:solidFill>
                <a:latin typeface="Consolas"/>
              </a:rPr>
              <a:t>SELECT name FROM </a:t>
            </a:r>
            <a:r>
              <a:rPr lang="en-US" sz="1600" dirty="0" err="1" smtClean="0">
                <a:solidFill>
                  <a:srgbClr val="008000"/>
                </a:solidFill>
                <a:latin typeface="Consolas"/>
              </a:rPr>
              <a:t>sys</a:t>
            </a:r>
            <a:r>
              <a:rPr lang="en-US" sz="1600" dirty="0" err="1" smtClean="0">
                <a:solidFill>
                  <a:srgbClr val="808080"/>
                </a:solidFill>
                <a:latin typeface="Consolas"/>
              </a:rPr>
              <a:t>.</a:t>
            </a:r>
            <a:r>
              <a:rPr lang="en-US" sz="1600" dirty="0" err="1" smtClean="0">
                <a:solidFill>
                  <a:srgbClr val="008000"/>
                </a:solidFill>
                <a:latin typeface="Consolas"/>
              </a:rPr>
              <a:t>indexes</a:t>
            </a:r>
            <a:r>
              <a:rPr lang="en-US" sz="1600" dirty="0" smtClean="0">
                <a:solidFill>
                  <a:srgbClr val="008000"/>
                </a:solidFill>
                <a:latin typeface="Consolas"/>
              </a:rPr>
              <a:t> </a:t>
            </a:r>
            <a:r>
              <a:rPr lang="en-US" sz="1600" dirty="0" smtClean="0">
                <a:solidFill>
                  <a:srgbClr val="0000FF"/>
                </a:solidFill>
                <a:latin typeface="Consolas"/>
              </a:rPr>
              <a:t>WHERE </a:t>
            </a:r>
            <a:r>
              <a:rPr lang="en-US" sz="1600" dirty="0" err="1" smtClean="0">
                <a:solidFill>
                  <a:srgbClr val="FF00FF"/>
                </a:solidFill>
                <a:latin typeface="Consolas"/>
              </a:rPr>
              <a:t>object_id</a:t>
            </a:r>
            <a:r>
              <a:rPr lang="en-US" sz="1600" dirty="0" smtClean="0">
                <a:solidFill>
                  <a:srgbClr val="FF00FF"/>
                </a:solidFill>
                <a:latin typeface="Consolas"/>
              </a:rPr>
              <a:t> </a:t>
            </a:r>
            <a:r>
              <a:rPr lang="en-US" sz="1600" dirty="0" smtClean="0">
                <a:solidFill>
                  <a:srgbClr val="808080"/>
                </a:solidFill>
                <a:latin typeface="Consolas"/>
              </a:rPr>
              <a:t>= </a:t>
            </a:r>
            <a:r>
              <a:rPr lang="en-US" sz="1600" dirty="0" err="1" smtClean="0">
                <a:solidFill>
                  <a:srgbClr val="808080"/>
                </a:solidFill>
                <a:latin typeface="Consolas"/>
              </a:rPr>
              <a:t>i.</a:t>
            </a:r>
            <a:r>
              <a:rPr lang="en-US" sz="1600" dirty="0" err="1" smtClean="0">
                <a:solidFill>
                  <a:srgbClr val="FF00FF"/>
                </a:solidFill>
                <a:latin typeface="Consolas"/>
              </a:rPr>
              <a:t>object_id</a:t>
            </a:r>
            <a:r>
              <a:rPr lang="en-US" sz="1600" dirty="0" smtClean="0">
                <a:solidFill>
                  <a:srgbClr val="FF00FF"/>
                </a:solidFill>
                <a:latin typeface="Consolas"/>
              </a:rPr>
              <a:t> </a:t>
            </a:r>
            <a:r>
              <a:rPr lang="en-US" sz="1600" dirty="0" smtClean="0">
                <a:solidFill>
                  <a:srgbClr val="808080"/>
                </a:solidFill>
                <a:latin typeface="Consolas"/>
              </a:rPr>
              <a:t>and </a:t>
            </a:r>
            <a:r>
              <a:rPr lang="en-US" sz="1600" dirty="0" err="1" smtClean="0">
                <a:solidFill>
                  <a:srgbClr val="808080"/>
                </a:solidFill>
                <a:latin typeface="Consolas"/>
              </a:rPr>
              <a:t>index_id</a:t>
            </a:r>
            <a:r>
              <a:rPr lang="en-US" sz="1600" dirty="0" smtClean="0">
                <a:solidFill>
                  <a:srgbClr val="808080"/>
                </a:solidFill>
                <a:latin typeface="Consolas"/>
              </a:rPr>
              <a:t> = </a:t>
            </a:r>
            <a:r>
              <a:rPr lang="en-US" sz="1600" dirty="0" err="1" smtClean="0">
                <a:solidFill>
                  <a:srgbClr val="808080"/>
                </a:solidFill>
                <a:latin typeface="Consolas"/>
              </a:rPr>
              <a:t>i.index_id</a:t>
            </a:r>
            <a:r>
              <a:rPr lang="en-US" sz="1600" dirty="0" smtClean="0">
                <a:solidFill>
                  <a:srgbClr val="808080"/>
                </a:solidFill>
                <a:latin typeface="Consolas"/>
              </a:rPr>
              <a:t>) </a:t>
            </a:r>
            <a:r>
              <a:rPr lang="en-US" sz="1600" dirty="0" smtClean="0">
                <a:solidFill>
                  <a:srgbClr val="0000FF"/>
                </a:solidFill>
                <a:latin typeface="Consolas"/>
              </a:rPr>
              <a:t>as </a:t>
            </a:r>
            <a:r>
              <a:rPr lang="en-US" sz="1600" dirty="0" err="1" smtClean="0">
                <a:solidFill>
                  <a:srgbClr val="0000FF"/>
                </a:solidFill>
                <a:latin typeface="Consolas"/>
              </a:rPr>
              <a:t>Index_Name</a:t>
            </a:r>
            <a:endParaRPr lang="en-US" sz="1600" dirty="0" smtClean="0">
              <a:solidFill>
                <a:srgbClr val="0000FF"/>
              </a:solidFill>
              <a:latin typeface="Consolas"/>
            </a:endParaRPr>
          </a:p>
          <a:p>
            <a:r>
              <a:rPr lang="en-US" sz="1600" dirty="0" smtClean="0">
                <a:solidFill>
                  <a:srgbClr val="808080"/>
                </a:solidFill>
                <a:latin typeface="Consolas"/>
              </a:rPr>
              <a:t>,</a:t>
            </a:r>
            <a:r>
              <a:rPr lang="en-US" sz="1600" dirty="0" err="1" smtClean="0">
                <a:solidFill>
                  <a:srgbClr val="808080"/>
                </a:solidFill>
                <a:latin typeface="Consolas"/>
              </a:rPr>
              <a:t>avg_fragmentation_in_percent</a:t>
            </a:r>
            <a:r>
              <a:rPr lang="en-US" sz="1600" dirty="0" smtClean="0">
                <a:solidFill>
                  <a:srgbClr val="808080"/>
                </a:solidFill>
                <a:latin typeface="Consolas"/>
              </a:rPr>
              <a:t>, </a:t>
            </a:r>
            <a:r>
              <a:rPr lang="en-US" sz="1600" dirty="0" err="1" smtClean="0">
                <a:solidFill>
                  <a:srgbClr val="808080"/>
                </a:solidFill>
                <a:latin typeface="Consolas"/>
              </a:rPr>
              <a:t>page_count</a:t>
            </a:r>
            <a:endParaRPr lang="en-US" sz="1600" dirty="0" smtClean="0">
              <a:solidFill>
                <a:srgbClr val="808080"/>
              </a:solidFill>
              <a:latin typeface="Consolas"/>
            </a:endParaRPr>
          </a:p>
          <a:p>
            <a:r>
              <a:rPr lang="en-US" sz="1600" dirty="0" smtClean="0">
                <a:solidFill>
                  <a:srgbClr val="0000FF"/>
                </a:solidFill>
                <a:latin typeface="Consolas"/>
              </a:rPr>
              <a:t>FROM </a:t>
            </a:r>
            <a:r>
              <a:rPr lang="en-US" sz="1600" dirty="0" err="1" smtClean="0">
                <a:solidFill>
                  <a:srgbClr val="008000"/>
                </a:solidFill>
                <a:latin typeface="Consolas"/>
              </a:rPr>
              <a:t>sys</a:t>
            </a:r>
            <a:r>
              <a:rPr lang="en-US" sz="1600" dirty="0" err="1" smtClean="0">
                <a:solidFill>
                  <a:srgbClr val="808080"/>
                </a:solidFill>
                <a:latin typeface="Consolas"/>
              </a:rPr>
              <a:t>.</a:t>
            </a:r>
            <a:r>
              <a:rPr lang="en-US" sz="1600" dirty="0" err="1" smtClean="0">
                <a:solidFill>
                  <a:srgbClr val="008000"/>
                </a:solidFill>
                <a:latin typeface="Consolas"/>
              </a:rPr>
              <a:t>dm_db_index_physical_stats</a:t>
            </a:r>
            <a:r>
              <a:rPr lang="en-US" sz="1600" dirty="0" smtClean="0">
                <a:solidFill>
                  <a:srgbClr val="808080"/>
                </a:solidFill>
                <a:latin typeface="Consolas"/>
              </a:rPr>
              <a:t>(</a:t>
            </a:r>
            <a:r>
              <a:rPr lang="en-US" sz="1600" dirty="0" smtClean="0">
                <a:solidFill>
                  <a:srgbClr val="FF00FF"/>
                </a:solidFill>
                <a:latin typeface="Consolas"/>
              </a:rPr>
              <a:t>DB_ID</a:t>
            </a:r>
            <a:r>
              <a:rPr lang="en-US" sz="1600" dirty="0" smtClean="0">
                <a:solidFill>
                  <a:srgbClr val="808080"/>
                </a:solidFill>
                <a:latin typeface="Consolas"/>
              </a:rPr>
              <a:t>(), NULL, NULL, NULL, NULL) </a:t>
            </a:r>
            <a:r>
              <a:rPr lang="en-US" sz="1600" dirty="0" err="1" smtClean="0">
                <a:solidFill>
                  <a:srgbClr val="808080"/>
                </a:solidFill>
                <a:latin typeface="Consolas"/>
              </a:rPr>
              <a:t>i</a:t>
            </a:r>
            <a:endParaRPr lang="en-US" sz="1600" dirty="0" smtClean="0">
              <a:solidFill>
                <a:srgbClr val="808080"/>
              </a:solidFill>
              <a:latin typeface="Consolas"/>
            </a:endParaRPr>
          </a:p>
          <a:p>
            <a:r>
              <a:rPr lang="en-US" sz="1600" dirty="0" smtClean="0">
                <a:solidFill>
                  <a:srgbClr val="0000FF"/>
                </a:solidFill>
                <a:latin typeface="Consolas"/>
              </a:rPr>
              <a:t>ORDER BY </a:t>
            </a:r>
            <a:r>
              <a:rPr lang="en-US" sz="1600" dirty="0" err="1" smtClean="0">
                <a:solidFill>
                  <a:srgbClr val="0000FF"/>
                </a:solidFill>
                <a:latin typeface="Consolas"/>
              </a:rPr>
              <a:t>avg_fragmentation_in_percent</a:t>
            </a:r>
            <a:r>
              <a:rPr lang="en-US" sz="1600" dirty="0" smtClean="0">
                <a:solidFill>
                  <a:srgbClr val="0000FF"/>
                </a:solidFill>
                <a:latin typeface="Consolas"/>
              </a:rPr>
              <a:t> DESC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 Name Is NULL</a:t>
            </a:r>
            <a:endParaRPr lang="en-US" dirty="0"/>
          </a:p>
        </p:txBody>
      </p:sp>
      <p:sp>
        <p:nvSpPr>
          <p:cNvPr id="3" name="Content Placeholder 2"/>
          <p:cNvSpPr>
            <a:spLocks noGrp="1"/>
          </p:cNvSpPr>
          <p:nvPr>
            <p:ph idx="1"/>
          </p:nvPr>
        </p:nvSpPr>
        <p:spPr/>
        <p:txBody>
          <a:bodyPr/>
          <a:lstStyle/>
          <a:p>
            <a:r>
              <a:rPr lang="en-US" sz="2300" dirty="0" smtClean="0"/>
              <a:t>Name will appear as Null when </a:t>
            </a:r>
            <a:r>
              <a:rPr lang="en-US" sz="2300" dirty="0" err="1" smtClean="0"/>
              <a:t>indid</a:t>
            </a:r>
            <a:r>
              <a:rPr lang="en-US" sz="2300" dirty="0" smtClean="0"/>
              <a:t> = 0 for that index.</a:t>
            </a:r>
          </a:p>
          <a:p>
            <a:r>
              <a:rPr lang="en-US" sz="2300" dirty="0" smtClean="0"/>
              <a:t>An </a:t>
            </a:r>
            <a:r>
              <a:rPr lang="en-US" sz="2300" dirty="0" err="1" smtClean="0"/>
              <a:t>indid</a:t>
            </a:r>
            <a:r>
              <a:rPr lang="en-US" sz="2300" dirty="0" smtClean="0"/>
              <a:t> of 0 means that a table does not have an index, and is stored by SQL Server as a heap.</a:t>
            </a:r>
          </a:p>
          <a:p>
            <a:r>
              <a:rPr lang="en-US" sz="2300" dirty="0" smtClean="0"/>
              <a:t>A "heap" is just a table without a clustered index.  There is no index to rebuild/reorganize. </a:t>
            </a:r>
          </a:p>
          <a:p>
            <a:r>
              <a:rPr lang="en-US" sz="2300" dirty="0" smtClean="0"/>
              <a:t>Heaps are fragmented by their very nature.</a:t>
            </a:r>
          </a:p>
          <a:p>
            <a:r>
              <a:rPr lang="en-US" sz="2300" dirty="0" smtClean="0"/>
              <a:t>If your queries do quite a bit of table scans, then you'll probably want to add a clustered index (which will reorganize the data for you).</a:t>
            </a:r>
          </a:p>
          <a:p>
            <a:r>
              <a:rPr lang="en-US" sz="2300" dirty="0" smtClean="0"/>
              <a:t>If you have non-clustered indexes on a heap, and your queries mainly do index seeks, then there is no issue with a "fragmented" heap.</a:t>
            </a:r>
            <a:endParaRPr lang="en-US" sz="2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Analyzing Detection Results</a:t>
            </a:r>
            <a:endParaRPr lang="en-US" dirty="0"/>
          </a:p>
        </p:txBody>
      </p:sp>
      <p:sp>
        <p:nvSpPr>
          <p:cNvPr id="3" name="Content Placeholder 2"/>
          <p:cNvSpPr>
            <a:spLocks noGrp="1"/>
          </p:cNvSpPr>
          <p:nvPr>
            <p:ph idx="1"/>
          </p:nvPr>
        </p:nvSpPr>
        <p:spPr/>
        <p:txBody>
          <a:bodyPr/>
          <a:lstStyle/>
          <a:p>
            <a:r>
              <a:rPr lang="en-US" sz="2800" dirty="0" smtClean="0"/>
              <a:t>Fragmentation is less than 10% – no de-fragmentation is required. It is generally accepted that in majority of environments index fragmentation less than 10% in negligible and its performance impact on the SQL Server is minimal.</a:t>
            </a:r>
          </a:p>
          <a:p>
            <a:r>
              <a:rPr lang="en-US" sz="2800" dirty="0" smtClean="0"/>
              <a:t>Fragmentation is between 10-30% – it is suggested to perform index reorganization</a:t>
            </a:r>
          </a:p>
          <a:p>
            <a:r>
              <a:rPr lang="en-US" sz="2800" dirty="0" smtClean="0"/>
              <a:t>Fragmentation is higher than 30% – it is suggested to perform index rebuild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Reorganize and Rebuild Index</a:t>
            </a:r>
            <a:endParaRPr lang="en-US" dirty="0"/>
          </a:p>
        </p:txBody>
      </p:sp>
      <p:sp>
        <p:nvSpPr>
          <p:cNvPr id="3" name="Content Placeholder 2"/>
          <p:cNvSpPr>
            <a:spLocks noGrp="1"/>
          </p:cNvSpPr>
          <p:nvPr>
            <p:ph idx="1"/>
          </p:nvPr>
        </p:nvSpPr>
        <p:spPr>
          <a:xfrm>
            <a:off x="457200" y="4191000"/>
            <a:ext cx="4267200" cy="1447800"/>
          </a:xfrm>
        </p:spPr>
        <p:txBody>
          <a:bodyPr/>
          <a:lstStyle/>
          <a:p>
            <a:r>
              <a:rPr lang="en-US" sz="2000" dirty="0" smtClean="0">
                <a:hlinkClick r:id="rId2"/>
              </a:rPr>
              <a:t>https://www.mssqltips.com/sqlservertip/1367/sql-server-script-to-rebuild-all-indexes-for-all-tables-and-all-databases</a:t>
            </a:r>
            <a:endParaRPr lang="en-US" sz="2000" dirty="0" smtClean="0"/>
          </a:p>
        </p:txBody>
      </p:sp>
      <p:pic>
        <p:nvPicPr>
          <p:cNvPr id="65539" name="Picture 3"/>
          <p:cNvPicPr>
            <a:picLocks noChangeAspect="1" noChangeArrowheads="1"/>
          </p:cNvPicPr>
          <p:nvPr/>
        </p:nvPicPr>
        <p:blipFill>
          <a:blip r:embed="rId3" cstate="print"/>
          <a:srcRect/>
          <a:stretch>
            <a:fillRect/>
          </a:stretch>
        </p:blipFill>
        <p:spPr bwMode="auto">
          <a:xfrm>
            <a:off x="4800600" y="1905000"/>
            <a:ext cx="4029075" cy="4095750"/>
          </a:xfrm>
          <a:prstGeom prst="rect">
            <a:avLst/>
          </a:prstGeom>
          <a:noFill/>
          <a:ln w="9525">
            <a:noFill/>
            <a:miter lim="800000"/>
            <a:headEnd/>
            <a:tailEnd/>
          </a:ln>
        </p:spPr>
      </p:pic>
      <p:sp>
        <p:nvSpPr>
          <p:cNvPr id="6" name="Content Placeholder 2"/>
          <p:cNvSpPr txBox="1">
            <a:spLocks/>
          </p:cNvSpPr>
          <p:nvPr/>
        </p:nvSpPr>
        <p:spPr>
          <a:xfrm>
            <a:off x="609600" y="1828800"/>
            <a:ext cx="4267200" cy="2209800"/>
          </a:xfrm>
          <a:prstGeom prst="rect">
            <a:avLst/>
          </a:prstGeom>
          <a:solidFill>
            <a:schemeClr val="bg1">
              <a:lumMod val="85000"/>
            </a:schemeClr>
          </a:solidFill>
          <a:ln>
            <a:solidFill>
              <a:schemeClr val="bg1">
                <a:lumMod val="50000"/>
              </a:schemeClr>
            </a:solidFill>
          </a:ln>
        </p:spPr>
        <p:txBody>
          <a:bodyPr vert="horz" lIns="91440" tIns="45720" rIns="91440" bIns="45720" rtlCol="0">
            <a:noAutofit/>
          </a:bodyPr>
          <a:lstStyle/>
          <a:p>
            <a:pPr marL="342900" lvl="0" indent="-342900" fontAlgn="auto">
              <a:spcBef>
                <a:spcPct val="20000"/>
              </a:spcBef>
              <a:spcAft>
                <a:spcPts val="0"/>
              </a:spcAft>
            </a:pPr>
            <a:r>
              <a:rPr lang="en-US" sz="2000" b="1" dirty="0" smtClean="0">
                <a:solidFill>
                  <a:srgbClr val="C00000"/>
                </a:solidFill>
                <a:latin typeface="Consolas" pitchFamily="49" charset="0"/>
              </a:rPr>
              <a:t>USE </a:t>
            </a:r>
            <a:r>
              <a:rPr lang="en-US" sz="2000" b="1" dirty="0" err="1" smtClean="0">
                <a:solidFill>
                  <a:srgbClr val="C00000"/>
                </a:solidFill>
                <a:latin typeface="Consolas" pitchFamily="49" charset="0"/>
              </a:rPr>
              <a:t>testdb</a:t>
            </a:r>
            <a:r>
              <a:rPr lang="en-US" sz="2000" b="1" dirty="0" smtClean="0">
                <a:solidFill>
                  <a:srgbClr val="C00000"/>
                </a:solidFill>
                <a:latin typeface="Consolas" pitchFamily="49" charset="0"/>
              </a:rPr>
              <a:t>;</a:t>
            </a:r>
          </a:p>
          <a:p>
            <a:pPr marL="342900" lvl="0" indent="-342900" fontAlgn="auto">
              <a:spcBef>
                <a:spcPct val="20000"/>
              </a:spcBef>
              <a:spcAft>
                <a:spcPts val="0"/>
              </a:spcAft>
            </a:pPr>
            <a:r>
              <a:rPr lang="en-US" sz="2000" b="1" dirty="0" smtClean="0">
                <a:solidFill>
                  <a:srgbClr val="C00000"/>
                </a:solidFill>
                <a:latin typeface="Consolas" pitchFamily="49" charset="0"/>
              </a:rPr>
              <a:t>GO</a:t>
            </a:r>
          </a:p>
          <a:p>
            <a:pPr marL="342900" lvl="0" indent="-342900" fontAlgn="auto">
              <a:spcBef>
                <a:spcPct val="20000"/>
              </a:spcBef>
              <a:spcAft>
                <a:spcPts val="0"/>
              </a:spcAft>
            </a:pPr>
            <a:endParaRPr lang="en-US" sz="2000" b="1" dirty="0" smtClean="0">
              <a:solidFill>
                <a:srgbClr val="C00000"/>
              </a:solidFill>
              <a:latin typeface="Consolas" pitchFamily="49" charset="0"/>
            </a:endParaRPr>
          </a:p>
          <a:p>
            <a:pPr marL="342900" lvl="0" indent="-342900" fontAlgn="auto">
              <a:spcBef>
                <a:spcPct val="20000"/>
              </a:spcBef>
              <a:spcAft>
                <a:spcPts val="0"/>
              </a:spcAft>
            </a:pPr>
            <a:r>
              <a:rPr lang="en-US" sz="2000" b="1" dirty="0" smtClean="0">
                <a:solidFill>
                  <a:srgbClr val="C00000"/>
                </a:solidFill>
                <a:latin typeface="Consolas" pitchFamily="49" charset="0"/>
              </a:rPr>
              <a:t>ALTER INDEX ALL ON </a:t>
            </a:r>
            <a:r>
              <a:rPr lang="en-US" sz="2000" b="1" dirty="0" err="1" smtClean="0">
                <a:solidFill>
                  <a:srgbClr val="C00000"/>
                </a:solidFill>
                <a:latin typeface="Consolas" pitchFamily="49" charset="0"/>
              </a:rPr>
              <a:t>aspnet_Membership</a:t>
            </a:r>
            <a:r>
              <a:rPr lang="en-US" sz="2000" b="1" dirty="0" smtClean="0">
                <a:solidFill>
                  <a:srgbClr val="C00000"/>
                </a:solidFill>
                <a:latin typeface="Consolas" pitchFamily="49" charset="0"/>
              </a:rPr>
              <a:t> REBUILD;</a:t>
            </a:r>
          </a:p>
          <a:p>
            <a:pPr marL="342900" lvl="0" indent="-342900" fontAlgn="auto">
              <a:spcBef>
                <a:spcPct val="20000"/>
              </a:spcBef>
              <a:spcAft>
                <a:spcPts val="0"/>
              </a:spcAft>
            </a:pPr>
            <a:r>
              <a:rPr lang="en-US" sz="2000" b="1" dirty="0" smtClean="0">
                <a:solidFill>
                  <a:srgbClr val="C00000"/>
                </a:solidFill>
                <a:latin typeface="Consolas" pitchFamily="49" charset="0"/>
              </a:rPr>
              <a:t>GO</a:t>
            </a:r>
            <a:endParaRPr kumimoji="0" lang="en-US" sz="2000" b="1" i="0" u="none" strike="noStrike" kern="1200" cap="none" spc="0" normalizeH="0" baseline="0" noProof="0" dirty="0">
              <a:ln>
                <a:noFill/>
              </a:ln>
              <a:solidFill>
                <a:srgbClr val="C00000"/>
              </a:solidFill>
              <a:effectLst/>
              <a:uLnTx/>
              <a:uFillTx/>
              <a:latin typeface="Consolas" pitchFamily="49" charset="0"/>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Key Constraints and Unique Key Constraints</a:t>
            </a:r>
            <a:endParaRPr lang="en-US" dirty="0"/>
          </a:p>
        </p:txBody>
      </p:sp>
      <p:sp>
        <p:nvSpPr>
          <p:cNvPr id="3" name="Content Placeholder 2"/>
          <p:cNvSpPr>
            <a:spLocks noGrp="1"/>
          </p:cNvSpPr>
          <p:nvPr>
            <p:ph idx="1"/>
          </p:nvPr>
        </p:nvSpPr>
        <p:spPr/>
        <p:txBody>
          <a:bodyPr/>
          <a:lstStyle/>
          <a:p>
            <a:r>
              <a:rPr lang="en-US" sz="2600" dirty="0" smtClean="0">
                <a:hlinkClick r:id="rId2"/>
              </a:rPr>
              <a:t>https://blog.sqlauthority.com/2007/02/05/sql-server-primary-key-constraints-and-unique-key-constraints/</a:t>
            </a:r>
            <a:endParaRPr lang="en-US" sz="2600" dirty="0" smtClean="0"/>
          </a:p>
          <a:p>
            <a:r>
              <a:rPr lang="en-US" sz="2600" dirty="0" smtClean="0"/>
              <a:t>Primary Key enforces uniqueness of the column on which they are defined.</a:t>
            </a:r>
          </a:p>
          <a:p>
            <a:r>
              <a:rPr lang="en-US" sz="2600" dirty="0" smtClean="0"/>
              <a:t>Primary Key creates a </a:t>
            </a:r>
            <a:r>
              <a:rPr lang="en-US" sz="2600" i="1" dirty="0" smtClean="0">
                <a:solidFill>
                  <a:srgbClr val="C00000"/>
                </a:solidFill>
              </a:rPr>
              <a:t>clustered index</a:t>
            </a:r>
            <a:r>
              <a:rPr lang="en-US" sz="2600" dirty="0" smtClean="0"/>
              <a:t> on the column.</a:t>
            </a:r>
          </a:p>
          <a:p>
            <a:r>
              <a:rPr lang="en-US" sz="2600" dirty="0" smtClean="0"/>
              <a:t>Primary Key does not allow Nulls.</a:t>
            </a:r>
          </a:p>
          <a:p>
            <a:r>
              <a:rPr lang="en-US" sz="2600" dirty="0" smtClean="0"/>
              <a:t>Unique Key enforces uniqueness of the column on which they are defined.</a:t>
            </a:r>
          </a:p>
          <a:p>
            <a:r>
              <a:rPr lang="en-US" sz="2600" dirty="0" smtClean="0"/>
              <a:t>Unique Key creates a </a:t>
            </a:r>
            <a:r>
              <a:rPr lang="en-US" sz="2600" i="1" dirty="0" smtClean="0">
                <a:solidFill>
                  <a:srgbClr val="C00000"/>
                </a:solidFill>
              </a:rPr>
              <a:t>non-clustered index</a:t>
            </a:r>
            <a:r>
              <a:rPr lang="en-US" sz="2600" dirty="0" smtClean="0"/>
              <a:t> on the column.</a:t>
            </a:r>
          </a:p>
          <a:p>
            <a:r>
              <a:rPr lang="en-US" sz="2600" dirty="0" smtClean="0"/>
              <a:t>Unique Key allows only one NULL Value.</a:t>
            </a:r>
            <a:endParaRPr lang="en-US" sz="2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7713</TotalTime>
  <Words>1288</Words>
  <Application>Microsoft Office PowerPoint</Application>
  <PresentationFormat>On-screen Show (4:3)</PresentationFormat>
  <Paragraphs>104</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Indexes</vt:lpstr>
      <vt:lpstr>Objectives</vt:lpstr>
      <vt:lpstr>Contents</vt:lpstr>
      <vt:lpstr>References</vt:lpstr>
      <vt:lpstr>SQL Server Index</vt:lpstr>
      <vt:lpstr>Index</vt:lpstr>
      <vt:lpstr>Clustered Indexes</vt:lpstr>
      <vt:lpstr>Non-clustered Indexes</vt:lpstr>
      <vt:lpstr>Clustered vs. Non-clustered</vt:lpstr>
      <vt:lpstr>Create an Index</vt:lpstr>
      <vt:lpstr>Listing Indexes for A Database</vt:lpstr>
      <vt:lpstr>Index Fragmentation</vt:lpstr>
      <vt:lpstr>Detecting Fragmentation</vt:lpstr>
      <vt:lpstr>Index Name Is NULL</vt:lpstr>
      <vt:lpstr>Analyzing Detection Results</vt:lpstr>
      <vt:lpstr>Reorganize and Rebuild Index</vt:lpstr>
      <vt:lpstr>Primary Key Constraints and Unique Key Constraints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3984</cp:revision>
  <dcterms:created xsi:type="dcterms:W3CDTF">2007-10-06T08:25:13Z</dcterms:created>
  <dcterms:modified xsi:type="dcterms:W3CDTF">2022-02-20T19:25:29Z</dcterms:modified>
</cp:coreProperties>
</file>