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35"/>
  </p:notesMasterIdLst>
  <p:handoutMasterIdLst>
    <p:handoutMasterId r:id="rId36"/>
  </p:handoutMasterIdLst>
  <p:sldIdLst>
    <p:sldId id="256" r:id="rId2"/>
    <p:sldId id="580" r:id="rId3"/>
    <p:sldId id="581" r:id="rId4"/>
    <p:sldId id="582" r:id="rId5"/>
    <p:sldId id="601" r:id="rId6"/>
    <p:sldId id="602" r:id="rId7"/>
    <p:sldId id="603" r:id="rId8"/>
    <p:sldId id="604" r:id="rId9"/>
    <p:sldId id="492" r:id="rId10"/>
    <p:sldId id="595" r:id="rId11"/>
    <p:sldId id="597" r:id="rId12"/>
    <p:sldId id="596" r:id="rId13"/>
    <p:sldId id="493" r:id="rId14"/>
    <p:sldId id="598" r:id="rId15"/>
    <p:sldId id="594" r:id="rId16"/>
    <p:sldId id="600" r:id="rId17"/>
    <p:sldId id="599" r:id="rId18"/>
    <p:sldId id="491" r:id="rId19"/>
    <p:sldId id="496" r:id="rId20"/>
    <p:sldId id="497" r:id="rId21"/>
    <p:sldId id="498" r:id="rId22"/>
    <p:sldId id="605" r:id="rId23"/>
    <p:sldId id="606" r:id="rId24"/>
    <p:sldId id="607" r:id="rId25"/>
    <p:sldId id="608" r:id="rId26"/>
    <p:sldId id="609" r:id="rId27"/>
    <p:sldId id="610" r:id="rId28"/>
    <p:sldId id="611" r:id="rId29"/>
    <p:sldId id="612" r:id="rId30"/>
    <p:sldId id="613" r:id="rId31"/>
    <p:sldId id="614" r:id="rId32"/>
    <p:sldId id="615" r:id="rId33"/>
    <p:sldId id="360" r:id="rId34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724" autoAdjust="0"/>
    <p:restoredTop sz="94667" autoAdjust="0"/>
  </p:normalViewPr>
  <p:slideViewPr>
    <p:cSldViewPr>
      <p:cViewPr>
        <p:scale>
          <a:sx n="50" d="100"/>
          <a:sy n="50" d="100"/>
        </p:scale>
        <p:origin x="-1506" y="-4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1727DC-2E8F-43B3-8355-CCE0B6704CEB}" type="datetimeFigureOut">
              <a:rPr lang="en-US" smtClean="0"/>
              <a:pPr/>
              <a:t>11/8/2024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0B4380-3815-4B2E-92FA-ED1993E061BE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5A67CB-EC97-4A9C-AC01-CDE0E9628729}" type="datetimeFigureOut">
              <a:rPr lang="en-US" smtClean="0"/>
              <a:pPr/>
              <a:t>11/8/2024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4D21D0-87B8-43A2-A59B-A5690BBF9499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670EC-EF90-4A84-9798-83F1F2DBB460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F6A842-585B-4FB8-B0AD-5A22636E93BF}" type="datetimeFigureOut">
              <a:rPr lang="en-US"/>
              <a:pPr>
                <a:defRPr/>
              </a:pPr>
              <a:t>11/8/2024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757F44-DAAA-4BFA-A1D9-B690FD69F10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7CC13E-AA34-4DB7-B0EC-5E3AAA7D3BAC}" type="datetimeFigureOut">
              <a:rPr lang="en-US"/>
              <a:pPr>
                <a:defRPr/>
              </a:pPr>
              <a:t>11/8/2024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F6660F-9FDB-4AFB-BE29-11A381729C2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883334-71C9-49E2-A0BB-A043C182B878}" type="datetimeFigureOut">
              <a:rPr lang="en-US"/>
              <a:pPr>
                <a:defRPr/>
              </a:pPr>
              <a:t>11/8/2024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F881E5-BD58-41FC-93AD-0A909108779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C3020B-3D2A-4D8C-B5FF-4D6A024CBDE8}" type="datetimeFigureOut">
              <a:rPr lang="en-US"/>
              <a:pPr>
                <a:defRPr/>
              </a:pPr>
              <a:t>11/8/2024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08E1C0-584A-404B-B99A-E5AD89ACF00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B17DBA-E622-4CD1-BCA3-A03CD04FDCC6}" type="datetimeFigureOut">
              <a:rPr lang="en-US"/>
              <a:pPr>
                <a:defRPr/>
              </a:pPr>
              <a:t>11/8/2024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C9F4D90-9228-45C4-A427-06E557DE9CF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91D3DF-EF49-4212-81A5-83E2D6EC0182}" type="datetimeFigureOut">
              <a:rPr lang="en-US"/>
              <a:pPr>
                <a:defRPr/>
              </a:pPr>
              <a:t>11/8/2024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E97F0E-0BE9-471F-A7B8-4D2E909F9B3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F86690-AF43-474E-AAC4-06B4786F7A5B}" type="datetimeFigureOut">
              <a:rPr lang="en-US"/>
              <a:pPr>
                <a:defRPr/>
              </a:pPr>
              <a:t>11/8/2024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646AD9-6F95-4021-BF75-BF9B58A70F5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CF0E39-78E2-4DE3-8C65-7CAB11F37A23}" type="datetimeFigureOut">
              <a:rPr lang="en-US"/>
              <a:pPr>
                <a:defRPr/>
              </a:pPr>
              <a:t>11/8/2024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CF80FB-C1F7-4ADD-9C33-A8D7E6B4966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12A139-0756-4DC4-8001-1DFC6C3458CC}" type="datetimeFigureOut">
              <a:rPr lang="en-US"/>
              <a:pPr>
                <a:defRPr/>
              </a:pPr>
              <a:t>11/8/2024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8795BAB-E1F5-4BBA-9D33-03EFE2F8DDA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7FC515-BCDF-4B2C-80BB-863C58D176FB}" type="datetimeFigureOut">
              <a:rPr lang="en-US"/>
              <a:pPr>
                <a:defRPr/>
              </a:pPr>
              <a:t>11/8/2024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C6CC5B-ED2C-42FF-AE49-898FC683E24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2C8C39-B056-4409-B30D-266D32EB71C5}" type="datetimeFigureOut">
              <a:rPr lang="en-US"/>
              <a:pPr>
                <a:defRPr/>
              </a:pPr>
              <a:t>11/8/2024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D453D-B7C3-4D56-B8B4-B49BCBFB825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B325272-1ED5-4E24-A128-8E8DEE352665}" type="datetimeFigureOut">
              <a:rPr lang="en-US"/>
              <a:pPr>
                <a:defRPr/>
              </a:pPr>
              <a:t>11/8/2024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F7590F4-D8FE-45EA-A958-7E45569A001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sz="6000" dirty="0" smtClean="0"/>
              <a:t>The SELECT Statement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400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dirty="0" smtClean="0"/>
              <a:t>Lecturer: Ngo Huy Bien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Software Engineering Department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Faculty of Information Technology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VNUHCM - University of Science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Ho Chi Minh City, Vietnam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smtClean="0">
                <a:hlinkClick r:id="rId2"/>
              </a:rPr>
              <a:t>nhbien@fit.hcmus.edu.vn</a:t>
            </a:r>
            <a:endParaRPr lang="en-US" sz="4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5334000" cy="3886200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endParaRPr lang="en-US" sz="2400" dirty="0" smtClean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19800" y="182880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77000" y="2438400"/>
            <a:ext cx="239077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096000" cy="4525963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endParaRPr lang="en-US" sz="2400" dirty="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867400" cy="4724400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sz="2400" dirty="0" smtClean="0"/>
              <a:t>Adam Jorgensen et al. (2012). Microsoft SQL Server 2012 Bible. Wiley.</a:t>
            </a:r>
          </a:p>
        </p:txBody>
      </p:sp>
      <p:pic>
        <p:nvPicPr>
          <p:cNvPr id="4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48400" y="1676400"/>
            <a:ext cx="2724150" cy="413385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Transact-SQL [1]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600" dirty="0" smtClean="0"/>
              <a:t>SQL was invented by E. F. </a:t>
            </a:r>
            <a:r>
              <a:rPr lang="en-US" sz="2600" dirty="0" err="1" smtClean="0"/>
              <a:t>Codd</a:t>
            </a:r>
            <a:r>
              <a:rPr lang="en-US" sz="2600" dirty="0" smtClean="0"/>
              <a:t> in 1971.</a:t>
            </a:r>
          </a:p>
          <a:p>
            <a:r>
              <a:rPr lang="en-US" sz="2600" dirty="0" smtClean="0"/>
              <a:t>ANSI SQL 92 </a:t>
            </a:r>
            <a:r>
              <a:rPr lang="en-US" sz="2600" b="1" dirty="0" smtClean="0">
                <a:solidFill>
                  <a:srgbClr val="C00000"/>
                </a:solidFill>
              </a:rPr>
              <a:t>standard</a:t>
            </a:r>
            <a:r>
              <a:rPr lang="en-US" sz="2600" dirty="0" smtClean="0"/>
              <a:t>, SQL-1999, SQL-2003</a:t>
            </a:r>
          </a:p>
          <a:p>
            <a:r>
              <a:rPr lang="en-US" sz="2600" dirty="0" smtClean="0"/>
              <a:t>Transact-SQL, or T-SQL — </a:t>
            </a:r>
            <a:r>
              <a:rPr lang="en-US" sz="2600" i="1" dirty="0" smtClean="0">
                <a:solidFill>
                  <a:srgbClr val="C00000"/>
                </a:solidFill>
              </a:rPr>
              <a:t>the dialect of SQL</a:t>
            </a:r>
            <a:r>
              <a:rPr lang="en-US" sz="2600" dirty="0" smtClean="0"/>
              <a:t> understood by SQL Server.</a:t>
            </a:r>
          </a:p>
          <a:p>
            <a:pPr lvl="1"/>
            <a:r>
              <a:rPr lang="en-US" sz="2200" dirty="0" smtClean="0"/>
              <a:t>Reason: including commands for controlling SQL Server properties, or providing the level of logical control within batches required to develop a SQL Server–specific application.</a:t>
            </a:r>
          </a:p>
          <a:p>
            <a:pPr lvl="1"/>
            <a:r>
              <a:rPr lang="en-US" sz="2200" dirty="0" smtClean="0"/>
              <a:t>T-SQL, by default, also handles nulls, quotes, and padding differently than the ANSI standard.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SQL and T-SQL Commands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i="1" dirty="0" smtClean="0">
                <a:solidFill>
                  <a:srgbClr val="C00000"/>
                </a:solidFill>
              </a:rPr>
              <a:t>Data Manipulation Language (DML)</a:t>
            </a:r>
            <a:r>
              <a:rPr lang="en-US" sz="2400" dirty="0" smtClean="0"/>
              <a:t>: includes the common SQL SELECT, INSERT, UPDATE, and DELETE commands.</a:t>
            </a:r>
          </a:p>
          <a:p>
            <a:r>
              <a:rPr lang="en-US" sz="2400" i="1" dirty="0" smtClean="0">
                <a:solidFill>
                  <a:srgbClr val="C00000"/>
                </a:solidFill>
              </a:rPr>
              <a:t>Data Definition Language (DDL)</a:t>
            </a:r>
            <a:r>
              <a:rPr lang="en-US" sz="2400" dirty="0" smtClean="0"/>
              <a:t>: Commands that CREATE, ALTER, or DROP data tables, constraints, indexes, and other database objects.</a:t>
            </a:r>
          </a:p>
          <a:p>
            <a:r>
              <a:rPr lang="en-US" sz="2400" i="1" dirty="0" smtClean="0">
                <a:solidFill>
                  <a:srgbClr val="C00000"/>
                </a:solidFill>
              </a:rPr>
              <a:t>Data Control Language (DCL)</a:t>
            </a:r>
            <a:r>
              <a:rPr lang="en-US" sz="2400" dirty="0" smtClean="0"/>
              <a:t>: Security commands such as GRANT, REVOKE, and DENY that control how a principal (user or role) can access a securable (object or data.)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T-SQL Query and </a:t>
            </a:r>
            <a:r>
              <a:rPr lang="en-US" dirty="0" smtClean="0"/>
              <a:t>Batches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A </a:t>
            </a:r>
            <a:r>
              <a:rPr lang="en-US" sz="2400" i="1" dirty="0" smtClean="0">
                <a:solidFill>
                  <a:srgbClr val="C00000"/>
                </a:solidFill>
              </a:rPr>
              <a:t>query</a:t>
            </a:r>
            <a:r>
              <a:rPr lang="en-US" sz="2400" dirty="0" smtClean="0"/>
              <a:t> is a </a:t>
            </a:r>
            <a:r>
              <a:rPr lang="en-US" sz="2400" u="sng" dirty="0" smtClean="0"/>
              <a:t>single</a:t>
            </a:r>
            <a:r>
              <a:rPr lang="en-US" sz="2400" dirty="0" smtClean="0"/>
              <a:t> SQL DML statement, and a </a:t>
            </a:r>
            <a:r>
              <a:rPr lang="en-US" sz="2400" i="1" dirty="0" smtClean="0">
                <a:solidFill>
                  <a:srgbClr val="C00000"/>
                </a:solidFill>
              </a:rPr>
              <a:t>batch</a:t>
            </a:r>
            <a:r>
              <a:rPr lang="en-US" sz="2400" dirty="0" smtClean="0"/>
              <a:t> is a </a:t>
            </a:r>
            <a:r>
              <a:rPr lang="en-US" sz="2400" u="sng" dirty="0" smtClean="0"/>
              <a:t>collection</a:t>
            </a:r>
            <a:r>
              <a:rPr lang="en-US" sz="2400" dirty="0" smtClean="0"/>
              <a:t> of one or more T-SQL statements.</a:t>
            </a:r>
          </a:p>
          <a:p>
            <a:r>
              <a:rPr lang="en-US" sz="2400" dirty="0" smtClean="0"/>
              <a:t>The entire collection is sent to SQL Server from the front-end application as a </a:t>
            </a:r>
            <a:r>
              <a:rPr lang="en-US" sz="2400" i="1" dirty="0" smtClean="0">
                <a:solidFill>
                  <a:srgbClr val="C00000"/>
                </a:solidFill>
              </a:rPr>
              <a:t>single unit of code</a:t>
            </a:r>
            <a:r>
              <a:rPr lang="en-US" sz="2400" dirty="0" smtClean="0"/>
              <a:t>.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SELECT Statement: Syntactical Flow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In its basic form, the </a:t>
            </a:r>
            <a:r>
              <a:rPr lang="en-US" sz="2400" i="1" dirty="0" smtClean="0">
                <a:solidFill>
                  <a:srgbClr val="C00000"/>
                </a:solidFill>
              </a:rPr>
              <a:t>SELECT statement</a:t>
            </a:r>
            <a:r>
              <a:rPr lang="en-US" sz="2400" dirty="0" smtClean="0"/>
              <a:t> tells SQL Server </a:t>
            </a:r>
            <a:r>
              <a:rPr lang="en-US" sz="2400" u="sng" dirty="0" smtClean="0"/>
              <a:t>what data to retrieve</a:t>
            </a:r>
            <a:r>
              <a:rPr lang="en-US" sz="2400" dirty="0" smtClean="0"/>
              <a:t>, including which </a:t>
            </a:r>
            <a:r>
              <a:rPr lang="en-US" sz="2400" u="sng" dirty="0" smtClean="0"/>
              <a:t>columns</a:t>
            </a:r>
            <a:r>
              <a:rPr lang="en-US" sz="2400" dirty="0" smtClean="0"/>
              <a:t>, </a:t>
            </a:r>
            <a:r>
              <a:rPr lang="en-US" sz="2400" u="sng" dirty="0" smtClean="0"/>
              <a:t>rows</a:t>
            </a:r>
            <a:r>
              <a:rPr lang="en-US" sz="2400" dirty="0" smtClean="0"/>
              <a:t>, and </a:t>
            </a:r>
            <a:r>
              <a:rPr lang="en-US" sz="2400" u="sng" dirty="0" smtClean="0"/>
              <a:t>tables</a:t>
            </a:r>
            <a:r>
              <a:rPr lang="en-US" sz="2400" dirty="0" smtClean="0"/>
              <a:t> to pull from, and how to </a:t>
            </a:r>
            <a:r>
              <a:rPr lang="en-US" sz="2400" u="sng" dirty="0" smtClean="0"/>
              <a:t>sort</a:t>
            </a:r>
            <a:r>
              <a:rPr lang="en-US" sz="2400" dirty="0" smtClean="0"/>
              <a:t> the data.</a:t>
            </a:r>
            <a:endParaRPr lang="en-US" sz="2400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457200" y="3200400"/>
            <a:ext cx="8229600" cy="28956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vert="horz" lIns="91440" tIns="45720" rIns="91440" bIns="45720" rtlCol="0">
            <a:normAutofit fontScale="85000" lnSpcReduction="10000"/>
          </a:bodyPr>
          <a:lstStyle/>
          <a:p>
            <a:pPr marL="342900" lvl="0" indent="-342900" fontAlgn="auto">
              <a:spcBef>
                <a:spcPct val="20000"/>
              </a:spcBef>
              <a:spcAft>
                <a:spcPts val="0"/>
              </a:spcAft>
            </a:pPr>
            <a:r>
              <a:rPr lang="en-US" sz="2400" b="1" dirty="0" smtClean="0">
                <a:solidFill>
                  <a:srgbClr val="C00000"/>
                </a:solidFill>
                <a:latin typeface="Consolas" pitchFamily="49" charset="0"/>
              </a:rPr>
              <a:t>SELECT [DISTINCT][TOP (n)] *, columns, or expressions</a:t>
            </a:r>
          </a:p>
          <a:p>
            <a:pPr marL="342900" lvl="0" indent="-342900" fontAlgn="auto">
              <a:spcBef>
                <a:spcPct val="20000"/>
              </a:spcBef>
              <a:spcAft>
                <a:spcPts val="0"/>
              </a:spcAft>
            </a:pPr>
            <a:r>
              <a:rPr lang="en-US" sz="2400" b="1" dirty="0" smtClean="0">
                <a:solidFill>
                  <a:srgbClr val="C00000"/>
                </a:solidFill>
                <a:latin typeface="Consolas" pitchFamily="49" charset="0"/>
              </a:rPr>
              <a:t>[FROM data source(s)]</a:t>
            </a:r>
          </a:p>
          <a:p>
            <a:pPr marL="342900" lvl="0" indent="-342900" fontAlgn="auto">
              <a:spcBef>
                <a:spcPct val="20000"/>
              </a:spcBef>
              <a:spcAft>
                <a:spcPts val="0"/>
              </a:spcAft>
            </a:pPr>
            <a:r>
              <a:rPr lang="en-US" sz="2400" b="1" dirty="0" smtClean="0">
                <a:solidFill>
                  <a:srgbClr val="C00000"/>
                </a:solidFill>
                <a:latin typeface="Consolas" pitchFamily="49" charset="0"/>
              </a:rPr>
              <a:t>[JOIN data source</a:t>
            </a:r>
          </a:p>
          <a:p>
            <a:pPr marL="342900" lvl="0" indent="-342900" fontAlgn="auto">
              <a:spcBef>
                <a:spcPct val="20000"/>
              </a:spcBef>
              <a:spcAft>
                <a:spcPts val="0"/>
              </a:spcAft>
            </a:pPr>
            <a:r>
              <a:rPr lang="en-US" sz="2400" b="1" dirty="0" smtClean="0">
                <a:solidFill>
                  <a:srgbClr val="C00000"/>
                </a:solidFill>
                <a:latin typeface="Consolas" pitchFamily="49" charset="0"/>
              </a:rPr>
              <a:t>ON condition](may include multiple joins)</a:t>
            </a:r>
          </a:p>
          <a:p>
            <a:pPr marL="342900" lvl="0" indent="-342900" fontAlgn="auto">
              <a:spcBef>
                <a:spcPct val="20000"/>
              </a:spcBef>
              <a:spcAft>
                <a:spcPts val="0"/>
              </a:spcAft>
            </a:pPr>
            <a:r>
              <a:rPr lang="en-US" sz="2400" b="1" dirty="0" smtClean="0">
                <a:solidFill>
                  <a:srgbClr val="C00000"/>
                </a:solidFill>
                <a:latin typeface="Consolas" pitchFamily="49" charset="0"/>
              </a:rPr>
              <a:t>[WHERE conditions]</a:t>
            </a:r>
          </a:p>
          <a:p>
            <a:pPr marL="342900" lvl="0" indent="-342900" fontAlgn="auto">
              <a:spcBef>
                <a:spcPct val="20000"/>
              </a:spcBef>
              <a:spcAft>
                <a:spcPts val="0"/>
              </a:spcAft>
            </a:pPr>
            <a:r>
              <a:rPr lang="en-US" sz="2400" b="1" dirty="0" smtClean="0">
                <a:solidFill>
                  <a:srgbClr val="C00000"/>
                </a:solidFill>
                <a:latin typeface="Consolas" pitchFamily="49" charset="0"/>
              </a:rPr>
              <a:t>[GROUP BY columns]</a:t>
            </a:r>
          </a:p>
          <a:p>
            <a:pPr marL="342900" lvl="0" indent="-342900" fontAlgn="auto">
              <a:spcBef>
                <a:spcPct val="20000"/>
              </a:spcBef>
              <a:spcAft>
                <a:spcPts val="0"/>
              </a:spcAft>
            </a:pPr>
            <a:r>
              <a:rPr lang="en-US" sz="2400" b="1" dirty="0" smtClean="0">
                <a:solidFill>
                  <a:srgbClr val="C00000"/>
                </a:solidFill>
                <a:latin typeface="Consolas" pitchFamily="49" charset="0"/>
              </a:rPr>
              <a:t>[HAVING conditions]</a:t>
            </a:r>
          </a:p>
          <a:p>
            <a:pPr marL="342900" lvl="0" indent="-342900" fontAlgn="auto">
              <a:spcBef>
                <a:spcPct val="20000"/>
              </a:spcBef>
              <a:spcAft>
                <a:spcPts val="0"/>
              </a:spcAft>
            </a:pPr>
            <a:r>
              <a:rPr lang="en-US" sz="2400" b="1" dirty="0" smtClean="0">
                <a:solidFill>
                  <a:srgbClr val="C00000"/>
                </a:solidFill>
                <a:latin typeface="Consolas" pitchFamily="49" charset="0"/>
              </a:rPr>
              <a:t>[ORDER BY Columns];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onsolas" pitchFamily="49" charset="0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457200" y="1981200"/>
            <a:ext cx="8229600" cy="28956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vert="horz" lIns="91440" tIns="45720" rIns="91440" bIns="45720" rtlCol="0">
            <a:normAutofit lnSpcReduction="10000"/>
          </a:bodyPr>
          <a:lstStyle/>
          <a:p>
            <a:pPr marL="347472" indent="-347472" eaLnBrk="0" hangingPunct="0">
              <a:spcBef>
                <a:spcPts val="432"/>
              </a:spcBef>
              <a:spcAft>
                <a:spcPts val="0"/>
              </a:spcAft>
            </a:pPr>
            <a:r>
              <a:rPr lang="en-US" sz="2400" dirty="0" smtClean="0">
                <a:solidFill>
                  <a:srgbClr val="0000FF"/>
                </a:solidFill>
                <a:latin typeface="Consolas"/>
              </a:rPr>
              <a:t>SELECT</a:t>
            </a:r>
            <a:r>
              <a:rPr lang="en-US" sz="2400" dirty="0" smtClean="0">
                <a:solidFill>
                  <a:srgbClr val="000000"/>
                </a:solidFill>
                <a:latin typeface="Consolas"/>
              </a:rPr>
              <a:t> [id]</a:t>
            </a:r>
            <a:endParaRPr lang="en-US" sz="2000" dirty="0" smtClean="0"/>
          </a:p>
          <a:p>
            <a:pPr marL="347472" indent="-347472" eaLnBrk="0" hangingPunct="0">
              <a:spcBef>
                <a:spcPts val="432"/>
              </a:spcBef>
              <a:spcAft>
                <a:spcPts val="0"/>
              </a:spcAft>
            </a:pPr>
            <a:r>
              <a:rPr lang="en-US" sz="2400" dirty="0" smtClean="0">
                <a:solidFill>
                  <a:srgbClr val="000000"/>
                </a:solidFill>
                <a:latin typeface="Consolas"/>
              </a:rPr>
              <a:t>      </a:t>
            </a:r>
            <a:r>
              <a:rPr lang="en-US" sz="2400" dirty="0" smtClean="0">
                <a:solidFill>
                  <a:srgbClr val="808080"/>
                </a:solidFill>
                <a:latin typeface="Consolas"/>
              </a:rPr>
              <a:t>,</a:t>
            </a:r>
            <a:r>
              <a:rPr lang="en-US" sz="2400" dirty="0" smtClean="0">
                <a:solidFill>
                  <a:srgbClr val="000000"/>
                </a:solidFill>
                <a:latin typeface="Consolas"/>
              </a:rPr>
              <a:t>[</a:t>
            </a:r>
            <a:r>
              <a:rPr lang="en-US" sz="2400" dirty="0" err="1" smtClean="0">
                <a:solidFill>
                  <a:srgbClr val="000000"/>
                </a:solidFill>
                <a:latin typeface="Consolas"/>
              </a:rPr>
              <a:t>version_string</a:t>
            </a:r>
            <a:r>
              <a:rPr lang="en-US" sz="2400" dirty="0" smtClean="0">
                <a:solidFill>
                  <a:srgbClr val="000000"/>
                </a:solidFill>
                <a:latin typeface="Consolas"/>
              </a:rPr>
              <a:t>]</a:t>
            </a:r>
            <a:endParaRPr lang="en-US" sz="2000" dirty="0" smtClean="0"/>
          </a:p>
          <a:p>
            <a:pPr marL="347472" indent="-347472" eaLnBrk="0" hangingPunct="0">
              <a:spcBef>
                <a:spcPts val="432"/>
              </a:spcBef>
              <a:spcAft>
                <a:spcPts val="0"/>
              </a:spcAft>
            </a:pPr>
            <a:r>
              <a:rPr lang="en-US" sz="2400" dirty="0" smtClean="0">
                <a:solidFill>
                  <a:srgbClr val="000000"/>
                </a:solidFill>
                <a:latin typeface="Consolas"/>
              </a:rPr>
              <a:t>      </a:t>
            </a:r>
            <a:r>
              <a:rPr lang="en-US" sz="2400" dirty="0" smtClean="0">
                <a:solidFill>
                  <a:srgbClr val="808080"/>
                </a:solidFill>
                <a:latin typeface="Consolas"/>
              </a:rPr>
              <a:t>,</a:t>
            </a:r>
            <a:r>
              <a:rPr lang="en-US" sz="2400" dirty="0" smtClean="0">
                <a:solidFill>
                  <a:srgbClr val="000000"/>
                </a:solidFill>
                <a:latin typeface="Consolas"/>
              </a:rPr>
              <a:t>[</a:t>
            </a:r>
            <a:r>
              <a:rPr lang="en-US" sz="2400" dirty="0" err="1" smtClean="0">
                <a:solidFill>
                  <a:srgbClr val="000000"/>
                </a:solidFill>
                <a:latin typeface="Consolas"/>
              </a:rPr>
              <a:t>version_major</a:t>
            </a:r>
            <a:r>
              <a:rPr lang="en-US" sz="2400" dirty="0" smtClean="0">
                <a:solidFill>
                  <a:srgbClr val="000000"/>
                </a:solidFill>
                <a:latin typeface="Consolas"/>
              </a:rPr>
              <a:t>]</a:t>
            </a:r>
            <a:endParaRPr lang="en-US" sz="2000" dirty="0" smtClean="0"/>
          </a:p>
          <a:p>
            <a:pPr marL="347472" indent="-347472" eaLnBrk="0" hangingPunct="0">
              <a:spcBef>
                <a:spcPts val="432"/>
              </a:spcBef>
              <a:spcAft>
                <a:spcPts val="0"/>
              </a:spcAft>
            </a:pPr>
            <a:r>
              <a:rPr lang="en-US" sz="2400" dirty="0" smtClean="0">
                <a:solidFill>
                  <a:srgbClr val="000000"/>
                </a:solidFill>
                <a:latin typeface="Consolas"/>
              </a:rPr>
              <a:t>      </a:t>
            </a:r>
            <a:r>
              <a:rPr lang="en-US" sz="2400" dirty="0" smtClean="0">
                <a:solidFill>
                  <a:srgbClr val="808080"/>
                </a:solidFill>
                <a:latin typeface="Consolas"/>
              </a:rPr>
              <a:t>,</a:t>
            </a:r>
            <a:r>
              <a:rPr lang="en-US" sz="2400" dirty="0" smtClean="0">
                <a:solidFill>
                  <a:srgbClr val="000000"/>
                </a:solidFill>
                <a:latin typeface="Consolas"/>
              </a:rPr>
              <a:t>[</a:t>
            </a:r>
            <a:r>
              <a:rPr lang="en-US" sz="2400" dirty="0" err="1" smtClean="0">
                <a:solidFill>
                  <a:srgbClr val="000000"/>
                </a:solidFill>
                <a:latin typeface="Consolas"/>
              </a:rPr>
              <a:t>version_minor</a:t>
            </a:r>
            <a:r>
              <a:rPr lang="en-US" sz="2400" dirty="0" smtClean="0">
                <a:solidFill>
                  <a:srgbClr val="000000"/>
                </a:solidFill>
                <a:latin typeface="Consolas"/>
              </a:rPr>
              <a:t>]</a:t>
            </a:r>
            <a:endParaRPr lang="en-US" sz="2000" dirty="0" smtClean="0"/>
          </a:p>
          <a:p>
            <a:pPr marL="347472" indent="-347472" eaLnBrk="0" hangingPunct="0">
              <a:spcBef>
                <a:spcPts val="432"/>
              </a:spcBef>
              <a:spcAft>
                <a:spcPts val="0"/>
              </a:spcAft>
            </a:pPr>
            <a:r>
              <a:rPr lang="en-US" sz="2400" dirty="0" smtClean="0">
                <a:solidFill>
                  <a:srgbClr val="000000"/>
                </a:solidFill>
                <a:latin typeface="Consolas"/>
              </a:rPr>
              <a:t>      </a:t>
            </a:r>
            <a:r>
              <a:rPr lang="en-US" sz="2400" dirty="0" smtClean="0">
                <a:solidFill>
                  <a:srgbClr val="808080"/>
                </a:solidFill>
                <a:latin typeface="Consolas"/>
              </a:rPr>
              <a:t>,</a:t>
            </a:r>
            <a:r>
              <a:rPr lang="en-US" sz="2400" dirty="0" smtClean="0">
                <a:solidFill>
                  <a:srgbClr val="000000"/>
                </a:solidFill>
                <a:latin typeface="Consolas"/>
              </a:rPr>
              <a:t>[</a:t>
            </a:r>
            <a:r>
              <a:rPr lang="en-US" sz="2400" dirty="0" err="1" smtClean="0">
                <a:solidFill>
                  <a:srgbClr val="000000"/>
                </a:solidFill>
                <a:latin typeface="Consolas"/>
              </a:rPr>
              <a:t>version_build</a:t>
            </a:r>
            <a:r>
              <a:rPr lang="en-US" sz="2400" dirty="0" smtClean="0">
                <a:solidFill>
                  <a:srgbClr val="000000"/>
                </a:solidFill>
                <a:latin typeface="Consolas"/>
              </a:rPr>
              <a:t>]</a:t>
            </a:r>
            <a:endParaRPr lang="en-US" sz="2000" dirty="0" smtClean="0"/>
          </a:p>
          <a:p>
            <a:pPr marL="347472" indent="-347472" eaLnBrk="0" hangingPunct="0">
              <a:spcBef>
                <a:spcPts val="432"/>
              </a:spcBef>
              <a:spcAft>
                <a:spcPts val="0"/>
              </a:spcAft>
            </a:pPr>
            <a:r>
              <a:rPr lang="en-US" sz="2400" dirty="0" smtClean="0">
                <a:solidFill>
                  <a:srgbClr val="000000"/>
                </a:solidFill>
                <a:latin typeface="Consolas"/>
              </a:rPr>
              <a:t>      </a:t>
            </a:r>
            <a:r>
              <a:rPr lang="en-US" sz="2400" dirty="0" smtClean="0">
                <a:solidFill>
                  <a:srgbClr val="808080"/>
                </a:solidFill>
                <a:latin typeface="Consolas"/>
              </a:rPr>
              <a:t>,</a:t>
            </a:r>
            <a:r>
              <a:rPr lang="en-US" sz="2400" dirty="0" smtClean="0">
                <a:solidFill>
                  <a:srgbClr val="000000"/>
                </a:solidFill>
                <a:latin typeface="Consolas"/>
              </a:rPr>
              <a:t>[</a:t>
            </a:r>
            <a:r>
              <a:rPr lang="en-US" sz="2400" dirty="0" err="1" smtClean="0">
                <a:solidFill>
                  <a:srgbClr val="000000"/>
                </a:solidFill>
                <a:latin typeface="Consolas"/>
              </a:rPr>
              <a:t>version_revision</a:t>
            </a:r>
            <a:r>
              <a:rPr lang="en-US" sz="2400" dirty="0" smtClean="0">
                <a:solidFill>
                  <a:srgbClr val="000000"/>
                </a:solidFill>
                <a:latin typeface="Consolas"/>
              </a:rPr>
              <a:t>]</a:t>
            </a:r>
            <a:endParaRPr lang="en-US" sz="2000" dirty="0" smtClean="0"/>
          </a:p>
          <a:p>
            <a:pPr marL="347472" indent="-347472" eaLnBrk="0" hangingPunct="0">
              <a:spcBef>
                <a:spcPts val="432"/>
              </a:spcBef>
              <a:spcAft>
                <a:spcPts val="0"/>
              </a:spcAft>
            </a:pPr>
            <a:r>
              <a:rPr lang="en-US" sz="2400" dirty="0" smtClean="0">
                <a:solidFill>
                  <a:srgbClr val="0000FF"/>
                </a:solidFill>
                <a:latin typeface="Consolas"/>
              </a:rPr>
              <a:t>FROM</a:t>
            </a:r>
            <a:r>
              <a:rPr lang="en-US" sz="2400" dirty="0" smtClean="0">
                <a:solidFill>
                  <a:srgbClr val="000000"/>
                </a:solidFill>
                <a:latin typeface="Consolas"/>
              </a:rPr>
              <a:t> [</a:t>
            </a:r>
            <a:r>
              <a:rPr lang="en-US" sz="2400" dirty="0" err="1" smtClean="0">
                <a:solidFill>
                  <a:srgbClr val="000000"/>
                </a:solidFill>
                <a:latin typeface="Consolas"/>
              </a:rPr>
              <a:t>msdb</a:t>
            </a:r>
            <a:r>
              <a:rPr lang="en-US" sz="2400" dirty="0" smtClean="0">
                <a:solidFill>
                  <a:srgbClr val="000000"/>
                </a:solidFill>
                <a:latin typeface="Consolas"/>
              </a:rPr>
              <a:t>]</a:t>
            </a:r>
            <a:r>
              <a:rPr lang="en-US" sz="2400" dirty="0" smtClean="0">
                <a:solidFill>
                  <a:srgbClr val="808080"/>
                </a:solidFill>
                <a:latin typeface="Consolas"/>
              </a:rPr>
              <a:t>.</a:t>
            </a:r>
            <a:r>
              <a:rPr lang="en-US" sz="2400" dirty="0" smtClean="0">
                <a:solidFill>
                  <a:srgbClr val="000000"/>
                </a:solidFill>
                <a:latin typeface="Consolas"/>
              </a:rPr>
              <a:t>[</a:t>
            </a:r>
            <a:r>
              <a:rPr lang="en-US" sz="2400" dirty="0" err="1" smtClean="0">
                <a:solidFill>
                  <a:srgbClr val="000000"/>
                </a:solidFill>
                <a:latin typeface="Consolas"/>
              </a:rPr>
              <a:t>dbo</a:t>
            </a:r>
            <a:r>
              <a:rPr lang="en-US" sz="2400" dirty="0" smtClean="0">
                <a:solidFill>
                  <a:srgbClr val="000000"/>
                </a:solidFill>
                <a:latin typeface="Consolas"/>
              </a:rPr>
              <a:t>]</a:t>
            </a:r>
            <a:r>
              <a:rPr lang="en-US" sz="2400" dirty="0" smtClean="0">
                <a:solidFill>
                  <a:srgbClr val="808080"/>
                </a:solidFill>
                <a:latin typeface="Consolas"/>
              </a:rPr>
              <a:t>.</a:t>
            </a:r>
            <a:r>
              <a:rPr lang="en-US" sz="2400" dirty="0" smtClean="0">
                <a:solidFill>
                  <a:srgbClr val="000000"/>
                </a:solidFill>
                <a:latin typeface="Consolas"/>
              </a:rPr>
              <a:t>[</a:t>
            </a:r>
            <a:r>
              <a:rPr lang="en-US" sz="2400" dirty="0" err="1" smtClean="0">
                <a:solidFill>
                  <a:srgbClr val="000000"/>
                </a:solidFill>
                <a:latin typeface="Consolas"/>
              </a:rPr>
              <a:t>msdb_version</a:t>
            </a:r>
            <a:r>
              <a:rPr lang="en-US" sz="2400" dirty="0" smtClean="0">
                <a:solidFill>
                  <a:srgbClr val="000000"/>
                </a:solidFill>
                <a:latin typeface="Consolas"/>
              </a:rPr>
              <a:t>]</a:t>
            </a:r>
            <a:endParaRPr lang="en-US" sz="2400" dirty="0">
              <a:latin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Create and Execute a Query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49275" y="1692275"/>
            <a:ext cx="8045450" cy="4327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5"/>
          <p:cNvSpPr/>
          <p:nvPr/>
        </p:nvSpPr>
        <p:spPr>
          <a:xfrm>
            <a:off x="6705600" y="4419600"/>
            <a:ext cx="1747914" cy="46166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400" i="1" dirty="0" smtClean="0">
                <a:solidFill>
                  <a:srgbClr val="C00000"/>
                </a:solidFill>
              </a:rPr>
              <a:t>Query Editor</a:t>
            </a:r>
            <a:endParaRPr lang="en-US" sz="2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Query Designer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u="sng" dirty="0" smtClean="0"/>
              <a:t>SQL Server Management Studio</a:t>
            </a:r>
            <a:r>
              <a:rPr lang="en-US" sz="2000" dirty="0" smtClean="0"/>
              <a:t> includes two basic methods to </a:t>
            </a:r>
            <a:r>
              <a:rPr lang="en-US" sz="2000" i="1" dirty="0" smtClean="0">
                <a:solidFill>
                  <a:srgbClr val="C00000"/>
                </a:solidFill>
              </a:rPr>
              <a:t>construct and submit queries</a:t>
            </a:r>
            <a:r>
              <a:rPr lang="en-US" sz="2000" dirty="0" smtClean="0"/>
              <a:t>: Query Designer and Query Editor.</a:t>
            </a:r>
          </a:p>
          <a:p>
            <a:r>
              <a:rPr lang="en-US" sz="2000" i="1" dirty="0" smtClean="0">
                <a:solidFill>
                  <a:srgbClr val="C00000"/>
                </a:solidFill>
              </a:rPr>
              <a:t>Query Designer</a:t>
            </a:r>
            <a:r>
              <a:rPr lang="en-US" sz="2000" dirty="0" smtClean="0"/>
              <a:t> offers a </a:t>
            </a:r>
            <a:r>
              <a:rPr lang="en-US" sz="2000" u="sng" dirty="0" smtClean="0"/>
              <a:t>graphical method</a:t>
            </a:r>
            <a:r>
              <a:rPr lang="en-US" sz="2000" dirty="0" smtClean="0"/>
              <a:t> to build a query, whereas </a:t>
            </a:r>
            <a:r>
              <a:rPr lang="en-US" sz="2000" i="1" dirty="0" smtClean="0">
                <a:solidFill>
                  <a:srgbClr val="C00000"/>
                </a:solidFill>
              </a:rPr>
              <a:t>Query Editor</a:t>
            </a:r>
            <a:r>
              <a:rPr lang="en-US" sz="2000" dirty="0" smtClean="0"/>
              <a:t> is an excellent tool for </a:t>
            </a:r>
            <a:r>
              <a:rPr lang="en-US" sz="2000" u="sng" dirty="0" smtClean="0"/>
              <a:t>writing SQL code</a:t>
            </a:r>
            <a:r>
              <a:rPr lang="en-US" sz="2000" dirty="0" smtClean="0"/>
              <a:t>.</a:t>
            </a:r>
            <a:endParaRPr lang="en-US" sz="2000" dirty="0"/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70013" y="3175000"/>
            <a:ext cx="6403975" cy="314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of Using Query Designer</a:t>
            </a:r>
            <a:endParaRPr 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90700" y="1805940"/>
            <a:ext cx="5829300" cy="43662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SELECT Statement: Logical Flow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Understanding the flow of SELECT and how to read the query execution plan will help you </a:t>
            </a:r>
            <a:r>
              <a:rPr lang="en-US" sz="2400" i="1" dirty="0" smtClean="0">
                <a:solidFill>
                  <a:srgbClr val="C00000"/>
                </a:solidFill>
              </a:rPr>
              <a:t>think through</a:t>
            </a:r>
            <a:r>
              <a:rPr lang="en-US" sz="2400" dirty="0" smtClean="0"/>
              <a:t> and develop difficult queries.</a:t>
            </a:r>
          </a:p>
          <a:p>
            <a:endParaRPr lang="en-US" sz="2400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09650" y="3467100"/>
            <a:ext cx="7124700" cy="2095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SELECT Statement: Physical Flow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SQL Server will take the SELECT statement and develop an </a:t>
            </a:r>
            <a:r>
              <a:rPr lang="en-US" sz="2400" i="1" dirty="0" smtClean="0">
                <a:solidFill>
                  <a:srgbClr val="C00000"/>
                </a:solidFill>
              </a:rPr>
              <a:t>optimized</a:t>
            </a:r>
            <a:r>
              <a:rPr lang="en-US" sz="2400" dirty="0" smtClean="0"/>
              <a:t> query execution plan, which may not be in the </a:t>
            </a:r>
            <a:r>
              <a:rPr lang="en-US" sz="2400" u="sng" dirty="0" smtClean="0"/>
              <a:t>execution order</a:t>
            </a:r>
            <a:r>
              <a:rPr lang="en-US" sz="2400" dirty="0" smtClean="0"/>
              <a:t> you would guess.</a:t>
            </a:r>
          </a:p>
          <a:p>
            <a:r>
              <a:rPr lang="en-US" sz="2400" dirty="0" smtClean="0"/>
              <a:t>The indexes available to the SQL Server Query Optimizer also affect the query execution plan.</a:t>
            </a:r>
          </a:p>
          <a:p>
            <a:endParaRPr lang="en-US" sz="2400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81200" y="3886200"/>
            <a:ext cx="5007293" cy="2653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Query Plan Reuse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SQL Server generates a query execution plan </a:t>
            </a:r>
            <a:r>
              <a:rPr lang="en-US" sz="2400" i="1" dirty="0" smtClean="0">
                <a:solidFill>
                  <a:srgbClr val="C00000"/>
                </a:solidFill>
              </a:rPr>
              <a:t>the first time</a:t>
            </a:r>
            <a:r>
              <a:rPr lang="en-US" sz="2400" dirty="0" smtClean="0"/>
              <a:t> the query is executed and then stores that query execution plan in memory.</a:t>
            </a:r>
          </a:p>
          <a:p>
            <a:r>
              <a:rPr lang="en-US" sz="2400" dirty="0" smtClean="0"/>
              <a:t>The next time the same query is executed, SQL Server uses the stored query execution plan instead of generating a new plan.</a:t>
            </a:r>
          </a:p>
          <a:p>
            <a:r>
              <a:rPr lang="en-US" sz="2400" dirty="0" smtClean="0"/>
              <a:t>SQL Server compiles both SQL queries and stored procedures into query execution plans.</a:t>
            </a:r>
            <a:endParaRPr lang="en-US" sz="2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View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A </a:t>
            </a:r>
            <a:r>
              <a:rPr lang="en-US" sz="2400" i="1" dirty="0" smtClean="0">
                <a:solidFill>
                  <a:srgbClr val="C00000"/>
                </a:solidFill>
              </a:rPr>
              <a:t>view</a:t>
            </a:r>
            <a:r>
              <a:rPr lang="en-US" sz="2400" dirty="0" smtClean="0"/>
              <a:t> is the </a:t>
            </a:r>
            <a:r>
              <a:rPr lang="en-US" sz="2400" u="sng" dirty="0" smtClean="0"/>
              <a:t>saved text of a SQL SELECT statement</a:t>
            </a:r>
            <a:r>
              <a:rPr lang="en-US" sz="2400" dirty="0" smtClean="0"/>
              <a:t> that may be referenced as a data source within a query, similar to how a sub-query can be used as a data source — no more, no less.</a:t>
            </a:r>
          </a:p>
          <a:p>
            <a:r>
              <a:rPr lang="en-US" sz="2400" dirty="0" smtClean="0"/>
              <a:t>A view can’t be executed by itself; it must be used within a query.</a:t>
            </a:r>
          </a:p>
          <a:p>
            <a:r>
              <a:rPr lang="en-US" sz="2400" dirty="0" smtClean="0"/>
              <a:t>The goal when developing views is two-fold: to enable users </a:t>
            </a:r>
            <a:r>
              <a:rPr lang="en-US" sz="2400" i="1" dirty="0" smtClean="0">
                <a:solidFill>
                  <a:srgbClr val="C00000"/>
                </a:solidFill>
              </a:rPr>
              <a:t>to get to the data easily</a:t>
            </a:r>
            <a:r>
              <a:rPr lang="en-US" sz="2400" dirty="0" smtClean="0"/>
              <a:t> and </a:t>
            </a:r>
            <a:r>
              <a:rPr lang="en-US" sz="2400" i="1" dirty="0" smtClean="0">
                <a:solidFill>
                  <a:srgbClr val="C00000"/>
                </a:solidFill>
              </a:rPr>
              <a:t>to protect the data</a:t>
            </a:r>
            <a:r>
              <a:rPr lang="en-US" sz="2400" dirty="0" smtClean="0"/>
              <a:t> from the users.</a:t>
            </a:r>
          </a:p>
          <a:p>
            <a:r>
              <a:rPr lang="en-US" sz="2400" dirty="0" smtClean="0"/>
              <a:t>By building views that provide the correct data, you are preventing erroneous or inaccurate queries and misinterpretation.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Create and Use Views</a:t>
            </a:r>
            <a:endParaRPr lang="en-US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457200" y="1600200"/>
            <a:ext cx="8229600" cy="28956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vert="horz" lIns="91440" tIns="45720" rIns="91440" bIns="45720" rtlCol="0">
            <a:normAutofit lnSpcReduction="10000"/>
          </a:bodyPr>
          <a:lstStyle/>
          <a:p>
            <a:pPr marL="342900" lvl="0" indent="-342900" fontAlgn="auto">
              <a:spcBef>
                <a:spcPct val="20000"/>
              </a:spcBef>
              <a:spcAft>
                <a:spcPts val="0"/>
              </a:spcAft>
            </a:pPr>
            <a:r>
              <a:rPr lang="en-US" sz="2400" b="1" dirty="0" smtClean="0">
                <a:solidFill>
                  <a:srgbClr val="C00000"/>
                </a:solidFill>
                <a:latin typeface="Consolas" pitchFamily="49" charset="0"/>
              </a:rPr>
              <a:t>CREATE VIEW </a:t>
            </a:r>
            <a:r>
              <a:rPr lang="en-US" sz="2400" b="1" dirty="0" err="1" smtClean="0">
                <a:solidFill>
                  <a:srgbClr val="C00000"/>
                </a:solidFill>
                <a:latin typeface="Consolas" pitchFamily="49" charset="0"/>
              </a:rPr>
              <a:t>dbo.vEmployeeList</a:t>
            </a:r>
            <a:endParaRPr lang="en-US" sz="2400" b="1" dirty="0" smtClean="0">
              <a:solidFill>
                <a:srgbClr val="C00000"/>
              </a:solidFill>
              <a:latin typeface="Consolas" pitchFamily="49" charset="0"/>
            </a:endParaRPr>
          </a:p>
          <a:p>
            <a:pPr marL="342900" lvl="0" indent="-342900" fontAlgn="auto">
              <a:spcBef>
                <a:spcPct val="20000"/>
              </a:spcBef>
              <a:spcAft>
                <a:spcPts val="0"/>
              </a:spcAft>
            </a:pPr>
            <a:r>
              <a:rPr lang="en-US" sz="2400" b="1" dirty="0" smtClean="0">
                <a:solidFill>
                  <a:srgbClr val="C00000"/>
                </a:solidFill>
                <a:latin typeface="Consolas" pitchFamily="49" charset="0"/>
              </a:rPr>
              <a:t>AS</a:t>
            </a:r>
          </a:p>
          <a:p>
            <a:pPr marL="342900" lvl="0" indent="-342900" fontAlgn="auto">
              <a:spcBef>
                <a:spcPct val="20000"/>
              </a:spcBef>
              <a:spcAft>
                <a:spcPts val="0"/>
              </a:spcAft>
            </a:pPr>
            <a:r>
              <a:rPr lang="en-US" sz="2400" b="1" dirty="0" smtClean="0">
                <a:solidFill>
                  <a:srgbClr val="C00000"/>
                </a:solidFill>
                <a:latin typeface="Consolas" pitchFamily="49" charset="0"/>
              </a:rPr>
              <a:t>SELECT </a:t>
            </a:r>
            <a:r>
              <a:rPr lang="en-US" sz="2400" b="1" dirty="0" err="1" smtClean="0">
                <a:solidFill>
                  <a:srgbClr val="C00000"/>
                </a:solidFill>
                <a:latin typeface="Consolas" pitchFamily="49" charset="0"/>
              </a:rPr>
              <a:t>P.BusinessEntityID</a:t>
            </a:r>
            <a:r>
              <a:rPr lang="en-US" sz="2400" b="1" dirty="0" smtClean="0">
                <a:solidFill>
                  <a:srgbClr val="C00000"/>
                </a:solidFill>
                <a:latin typeface="Consolas" pitchFamily="49" charset="0"/>
              </a:rPr>
              <a:t>, </a:t>
            </a:r>
            <a:r>
              <a:rPr lang="en-US" sz="2400" b="1" dirty="0" err="1" smtClean="0">
                <a:solidFill>
                  <a:srgbClr val="C00000"/>
                </a:solidFill>
                <a:latin typeface="Consolas" pitchFamily="49" charset="0"/>
              </a:rPr>
              <a:t>P.Title</a:t>
            </a:r>
            <a:r>
              <a:rPr lang="en-US" sz="2400" b="1" dirty="0" smtClean="0">
                <a:solidFill>
                  <a:srgbClr val="C00000"/>
                </a:solidFill>
                <a:latin typeface="Consolas" pitchFamily="49" charset="0"/>
              </a:rPr>
              <a:t>, </a:t>
            </a:r>
            <a:r>
              <a:rPr lang="en-US" sz="2400" b="1" dirty="0" err="1" smtClean="0">
                <a:solidFill>
                  <a:srgbClr val="C00000"/>
                </a:solidFill>
                <a:latin typeface="Consolas" pitchFamily="49" charset="0"/>
              </a:rPr>
              <a:t>P.LastName</a:t>
            </a:r>
            <a:r>
              <a:rPr lang="en-US" sz="2400" b="1" dirty="0" smtClean="0">
                <a:solidFill>
                  <a:srgbClr val="C00000"/>
                </a:solidFill>
                <a:latin typeface="Consolas" pitchFamily="49" charset="0"/>
              </a:rPr>
              <a:t>,</a:t>
            </a:r>
          </a:p>
          <a:p>
            <a:pPr marL="342900" lvl="0" indent="-342900" fontAlgn="auto">
              <a:spcBef>
                <a:spcPct val="20000"/>
              </a:spcBef>
              <a:spcAft>
                <a:spcPts val="0"/>
              </a:spcAft>
            </a:pPr>
            <a:r>
              <a:rPr lang="en-US" sz="2400" b="1" dirty="0" err="1" smtClean="0">
                <a:solidFill>
                  <a:srgbClr val="C00000"/>
                </a:solidFill>
                <a:latin typeface="Consolas" pitchFamily="49" charset="0"/>
              </a:rPr>
              <a:t>P.FirstName</a:t>
            </a:r>
            <a:r>
              <a:rPr lang="en-US" sz="2400" b="1" dirty="0" smtClean="0">
                <a:solidFill>
                  <a:srgbClr val="C00000"/>
                </a:solidFill>
                <a:latin typeface="Consolas" pitchFamily="49" charset="0"/>
              </a:rPr>
              <a:t>, </a:t>
            </a:r>
            <a:r>
              <a:rPr lang="en-US" sz="2400" b="1" dirty="0" err="1" smtClean="0">
                <a:solidFill>
                  <a:srgbClr val="C00000"/>
                </a:solidFill>
                <a:latin typeface="Consolas" pitchFamily="49" charset="0"/>
              </a:rPr>
              <a:t>E.JobTitle</a:t>
            </a:r>
            <a:endParaRPr lang="en-US" sz="2400" b="1" dirty="0" smtClean="0">
              <a:solidFill>
                <a:srgbClr val="C00000"/>
              </a:solidFill>
              <a:latin typeface="Consolas" pitchFamily="49" charset="0"/>
            </a:endParaRPr>
          </a:p>
          <a:p>
            <a:pPr marL="342900" lvl="0" indent="-342900" fontAlgn="auto">
              <a:spcBef>
                <a:spcPct val="20000"/>
              </a:spcBef>
              <a:spcAft>
                <a:spcPts val="0"/>
              </a:spcAft>
            </a:pPr>
            <a:r>
              <a:rPr lang="en-US" sz="2400" b="1" dirty="0" smtClean="0">
                <a:solidFill>
                  <a:srgbClr val="C00000"/>
                </a:solidFill>
                <a:latin typeface="Consolas" pitchFamily="49" charset="0"/>
              </a:rPr>
              <a:t>FROM </a:t>
            </a:r>
            <a:r>
              <a:rPr lang="en-US" sz="2400" b="1" dirty="0" err="1" smtClean="0">
                <a:solidFill>
                  <a:srgbClr val="C00000"/>
                </a:solidFill>
                <a:latin typeface="Consolas" pitchFamily="49" charset="0"/>
              </a:rPr>
              <a:t>Person.Person</a:t>
            </a:r>
            <a:r>
              <a:rPr lang="en-US" sz="2400" b="1" dirty="0" smtClean="0">
                <a:solidFill>
                  <a:srgbClr val="C00000"/>
                </a:solidFill>
                <a:latin typeface="Consolas" pitchFamily="49" charset="0"/>
              </a:rPr>
              <a:t> P</a:t>
            </a:r>
          </a:p>
          <a:p>
            <a:pPr marL="342900" lvl="0" indent="-342900" fontAlgn="auto">
              <a:spcBef>
                <a:spcPct val="20000"/>
              </a:spcBef>
              <a:spcAft>
                <a:spcPts val="0"/>
              </a:spcAft>
            </a:pPr>
            <a:r>
              <a:rPr lang="en-US" sz="2400" b="1" dirty="0" smtClean="0">
                <a:solidFill>
                  <a:srgbClr val="C00000"/>
                </a:solidFill>
                <a:latin typeface="Consolas" pitchFamily="49" charset="0"/>
              </a:rPr>
              <a:t>INNER JOIN </a:t>
            </a:r>
            <a:r>
              <a:rPr lang="en-US" sz="2400" b="1" dirty="0" err="1" smtClean="0">
                <a:solidFill>
                  <a:srgbClr val="C00000"/>
                </a:solidFill>
                <a:latin typeface="Consolas" pitchFamily="49" charset="0"/>
              </a:rPr>
              <a:t>HumanResources.Employee</a:t>
            </a:r>
            <a:r>
              <a:rPr lang="en-US" sz="2400" b="1" dirty="0" smtClean="0">
                <a:solidFill>
                  <a:srgbClr val="C00000"/>
                </a:solidFill>
                <a:latin typeface="Consolas" pitchFamily="49" charset="0"/>
              </a:rPr>
              <a:t> E</a:t>
            </a:r>
          </a:p>
          <a:p>
            <a:pPr marL="342900" lvl="0" indent="-342900" fontAlgn="auto">
              <a:spcBef>
                <a:spcPct val="20000"/>
              </a:spcBef>
              <a:spcAft>
                <a:spcPts val="0"/>
              </a:spcAft>
            </a:pPr>
            <a:r>
              <a:rPr lang="en-US" sz="2400" b="1" dirty="0" smtClean="0">
                <a:solidFill>
                  <a:srgbClr val="C00000"/>
                </a:solidFill>
                <a:latin typeface="Consolas" pitchFamily="49" charset="0"/>
              </a:rPr>
              <a:t>ON </a:t>
            </a:r>
            <a:r>
              <a:rPr lang="en-US" sz="2400" b="1" dirty="0" err="1" smtClean="0">
                <a:solidFill>
                  <a:srgbClr val="C00000"/>
                </a:solidFill>
                <a:latin typeface="Consolas" pitchFamily="49" charset="0"/>
              </a:rPr>
              <a:t>P.BusinessEntityID</a:t>
            </a:r>
            <a:r>
              <a:rPr lang="en-US" sz="2400" b="1" dirty="0" smtClean="0">
                <a:solidFill>
                  <a:srgbClr val="C00000"/>
                </a:solidFill>
                <a:latin typeface="Consolas" pitchFamily="49" charset="0"/>
              </a:rPr>
              <a:t> = </a:t>
            </a:r>
            <a:r>
              <a:rPr lang="en-US" sz="2400" b="1" dirty="0" err="1" smtClean="0">
                <a:solidFill>
                  <a:srgbClr val="C00000"/>
                </a:solidFill>
                <a:latin typeface="Consolas" pitchFamily="49" charset="0"/>
              </a:rPr>
              <a:t>E.BusinessEntityID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onsolas" pitchFamily="49" charset="0"/>
              <a:ea typeface="+mn-ea"/>
              <a:cs typeface="+mn-cs"/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457200" y="5029200"/>
            <a:ext cx="8229600" cy="152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/>
          <a:p>
            <a:pPr marL="342900" lvl="0" indent="-342900" fontAlgn="auto">
              <a:spcBef>
                <a:spcPct val="20000"/>
              </a:spcBef>
              <a:spcAft>
                <a:spcPts val="0"/>
              </a:spcAft>
            </a:pPr>
            <a:r>
              <a:rPr lang="en-US" sz="2400" b="1" dirty="0" smtClean="0">
                <a:solidFill>
                  <a:srgbClr val="C00000"/>
                </a:solidFill>
                <a:latin typeface="Consolas" pitchFamily="49" charset="0"/>
              </a:rPr>
              <a:t>SELECT </a:t>
            </a:r>
            <a:r>
              <a:rPr lang="en-US" sz="2400" b="1" dirty="0" err="1" smtClean="0">
                <a:solidFill>
                  <a:srgbClr val="C00000"/>
                </a:solidFill>
                <a:latin typeface="Consolas" pitchFamily="49" charset="0"/>
              </a:rPr>
              <a:t>BusinessEntityID</a:t>
            </a:r>
            <a:r>
              <a:rPr lang="en-US" sz="2400" b="1" dirty="0" smtClean="0">
                <a:solidFill>
                  <a:srgbClr val="C00000"/>
                </a:solidFill>
                <a:latin typeface="Consolas" pitchFamily="49" charset="0"/>
              </a:rPr>
              <a:t>, </a:t>
            </a:r>
            <a:r>
              <a:rPr lang="en-US" sz="2400" b="1" dirty="0" err="1" smtClean="0">
                <a:solidFill>
                  <a:srgbClr val="C00000"/>
                </a:solidFill>
                <a:latin typeface="Consolas" pitchFamily="49" charset="0"/>
              </a:rPr>
              <a:t>LastName</a:t>
            </a:r>
            <a:r>
              <a:rPr lang="en-US" sz="2400" b="1" dirty="0" smtClean="0">
                <a:solidFill>
                  <a:srgbClr val="C00000"/>
                </a:solidFill>
                <a:latin typeface="Consolas" pitchFamily="49" charset="0"/>
              </a:rPr>
              <a:t>, </a:t>
            </a:r>
            <a:r>
              <a:rPr lang="en-US" sz="2400" b="1" dirty="0" err="1" smtClean="0">
                <a:solidFill>
                  <a:srgbClr val="C00000"/>
                </a:solidFill>
                <a:latin typeface="Consolas" pitchFamily="49" charset="0"/>
              </a:rPr>
              <a:t>FirstName</a:t>
            </a:r>
            <a:r>
              <a:rPr lang="en-US" sz="2400" b="1" dirty="0" smtClean="0">
                <a:solidFill>
                  <a:srgbClr val="C00000"/>
                </a:solidFill>
                <a:latin typeface="Consolas" pitchFamily="49" charset="0"/>
              </a:rPr>
              <a:t>, </a:t>
            </a:r>
            <a:r>
              <a:rPr lang="en-US" sz="2400" b="1" dirty="0" err="1" smtClean="0">
                <a:solidFill>
                  <a:srgbClr val="C00000"/>
                </a:solidFill>
                <a:latin typeface="Consolas" pitchFamily="49" charset="0"/>
              </a:rPr>
              <a:t>JobTitle</a:t>
            </a:r>
            <a:endParaRPr lang="en-US" sz="2400" b="1" dirty="0" smtClean="0">
              <a:solidFill>
                <a:srgbClr val="C00000"/>
              </a:solidFill>
              <a:latin typeface="Consolas" pitchFamily="49" charset="0"/>
            </a:endParaRPr>
          </a:p>
          <a:p>
            <a:pPr marL="342900" lvl="0" indent="-342900" fontAlgn="auto">
              <a:spcBef>
                <a:spcPct val="20000"/>
              </a:spcBef>
              <a:spcAft>
                <a:spcPts val="0"/>
              </a:spcAft>
            </a:pPr>
            <a:r>
              <a:rPr lang="en-US" sz="2400" b="1" dirty="0" smtClean="0">
                <a:solidFill>
                  <a:srgbClr val="C00000"/>
                </a:solidFill>
                <a:latin typeface="Consolas" pitchFamily="49" charset="0"/>
              </a:rPr>
              <a:t>FROM </a:t>
            </a:r>
            <a:r>
              <a:rPr lang="en-US" sz="2400" b="1" dirty="0" err="1" smtClean="0">
                <a:solidFill>
                  <a:srgbClr val="C00000"/>
                </a:solidFill>
                <a:latin typeface="Consolas" pitchFamily="49" charset="0"/>
              </a:rPr>
              <a:t>dbo.vEmployeeList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onsolas" pitchFamily="49" charset="0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View Works</a:t>
            </a:r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16050" y="1670050"/>
            <a:ext cx="6311900" cy="4578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Alternatives to Views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600" dirty="0" smtClean="0"/>
              <a:t>The reason to </a:t>
            </a:r>
            <a:r>
              <a:rPr lang="en-US" sz="2600" i="1" dirty="0" smtClean="0">
                <a:solidFill>
                  <a:srgbClr val="C00000"/>
                </a:solidFill>
              </a:rPr>
              <a:t>limit views to ad hoc queries and reports</a:t>
            </a:r>
            <a:r>
              <a:rPr lang="en-US" sz="2600" dirty="0" smtClean="0"/>
              <a:t> isn’t for performance, but for extensibility and control.</a:t>
            </a:r>
          </a:p>
          <a:p>
            <a:r>
              <a:rPr lang="en-US" sz="2600" dirty="0" smtClean="0"/>
              <a:t>Besides views, SQL Server offers several technologies to build an abstraction layer around the data.</a:t>
            </a:r>
          </a:p>
          <a:p>
            <a:pPr lvl="1"/>
            <a:r>
              <a:rPr lang="en-US" sz="2200" i="1" dirty="0" smtClean="0">
                <a:solidFill>
                  <a:srgbClr val="C00000"/>
                </a:solidFill>
              </a:rPr>
              <a:t>Stored procedures</a:t>
            </a:r>
            <a:r>
              <a:rPr lang="en-US" sz="2200" dirty="0" smtClean="0"/>
              <a:t> are generally my first choice when exposing any data to the outside world.</a:t>
            </a:r>
          </a:p>
          <a:p>
            <a:pPr lvl="1"/>
            <a:r>
              <a:rPr lang="en-US" sz="2200" i="1" dirty="0" smtClean="0">
                <a:solidFill>
                  <a:srgbClr val="C00000"/>
                </a:solidFill>
              </a:rPr>
              <a:t>User-defined functions</a:t>
            </a:r>
            <a:r>
              <a:rPr lang="en-US" sz="2200" dirty="0" smtClean="0"/>
              <a:t> offer several benefits, and</a:t>
            </a:r>
          </a:p>
          <a:p>
            <a:pPr lvl="1"/>
            <a:r>
              <a:rPr lang="en-US" sz="2200" i="1" dirty="0" smtClean="0">
                <a:solidFill>
                  <a:srgbClr val="C00000"/>
                </a:solidFill>
              </a:rPr>
              <a:t>inline table-valued user-defined functions</a:t>
            </a:r>
            <a:r>
              <a:rPr lang="en-US" sz="2200" dirty="0" smtClean="0"/>
              <a:t> are very similar to views but with parameters.</a:t>
            </a:r>
            <a:endParaRPr lang="en-US" sz="2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 Types (I)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Character Data Types</a:t>
            </a:r>
          </a:p>
          <a:p>
            <a:pPr lvl="1"/>
            <a:r>
              <a:rPr lang="en-US" sz="2000" dirty="0" err="1" smtClean="0"/>
              <a:t>VarChar</a:t>
            </a:r>
            <a:r>
              <a:rPr lang="en-US" sz="2000" dirty="0" smtClean="0"/>
              <a:t>(n)</a:t>
            </a:r>
          </a:p>
          <a:p>
            <a:pPr lvl="1"/>
            <a:r>
              <a:rPr lang="en-US" sz="2000" dirty="0" err="1" smtClean="0"/>
              <a:t>nVarChar</a:t>
            </a:r>
            <a:r>
              <a:rPr lang="en-US" sz="2000" dirty="0" smtClean="0"/>
              <a:t>(n)</a:t>
            </a:r>
          </a:p>
          <a:p>
            <a:r>
              <a:rPr lang="en-US" sz="2400" dirty="0" smtClean="0"/>
              <a:t>Numeric Data Types</a:t>
            </a:r>
          </a:p>
          <a:p>
            <a:pPr lvl="1"/>
            <a:r>
              <a:rPr lang="en-US" sz="2000" dirty="0" smtClean="0"/>
              <a:t>Bit</a:t>
            </a:r>
          </a:p>
          <a:p>
            <a:pPr lvl="1"/>
            <a:r>
              <a:rPr lang="en-US" sz="2000" dirty="0" err="1" smtClean="0"/>
              <a:t>Int</a:t>
            </a:r>
            <a:endParaRPr lang="en-US" sz="2000" dirty="0" smtClean="0"/>
          </a:p>
          <a:p>
            <a:pPr lvl="1"/>
            <a:r>
              <a:rPr lang="en-US" sz="2000" dirty="0" err="1" smtClean="0"/>
              <a:t>Bigint</a:t>
            </a:r>
            <a:endParaRPr lang="en-US" sz="2000" dirty="0" smtClean="0"/>
          </a:p>
          <a:p>
            <a:pPr lvl="1"/>
            <a:r>
              <a:rPr lang="en-US" sz="2000" dirty="0" smtClean="0"/>
              <a:t>Decimal</a:t>
            </a:r>
          </a:p>
          <a:p>
            <a:r>
              <a:rPr lang="en-US" sz="2400" dirty="0" smtClean="0"/>
              <a:t>Date/Time Data Types</a:t>
            </a:r>
          </a:p>
          <a:p>
            <a:pPr lvl="1"/>
            <a:r>
              <a:rPr lang="en-US" sz="2000" dirty="0" err="1" smtClean="0"/>
              <a:t>Datetime</a:t>
            </a:r>
            <a:endParaRPr lang="en-US" sz="2000" dirty="0" smtClean="0"/>
          </a:p>
          <a:p>
            <a:pPr lvl="1"/>
            <a:r>
              <a:rPr lang="en-US" sz="2000" dirty="0" smtClean="0"/>
              <a:t>Date</a:t>
            </a:r>
            <a:endParaRPr lang="en-US" sz="2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 Types (II)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Other Data Types</a:t>
            </a:r>
          </a:p>
          <a:p>
            <a:pPr lvl="1"/>
            <a:r>
              <a:rPr lang="en-US" sz="2000" dirty="0" smtClean="0"/>
              <a:t>Timestamp </a:t>
            </a:r>
          </a:p>
          <a:p>
            <a:pPr lvl="1"/>
            <a:r>
              <a:rPr lang="en-US" sz="2000" dirty="0" err="1" smtClean="0"/>
              <a:t>Uniqueidentifier</a:t>
            </a:r>
            <a:endParaRPr lang="en-US" sz="2000" dirty="0" smtClean="0"/>
          </a:p>
          <a:p>
            <a:pPr lvl="1"/>
            <a:r>
              <a:rPr lang="en-US" sz="2000" dirty="0" smtClean="0"/>
              <a:t>Binary(n)</a:t>
            </a:r>
          </a:p>
          <a:p>
            <a:pPr lvl="1"/>
            <a:r>
              <a:rPr lang="en-US" sz="2000" dirty="0" err="1" smtClean="0"/>
              <a:t>Sql_variant</a:t>
            </a:r>
            <a:endParaRPr lang="en-US" sz="2000" dirty="0" smtClean="0"/>
          </a:p>
          <a:p>
            <a:pPr lvl="1"/>
            <a:r>
              <a:rPr lang="en-US" sz="2000" dirty="0" smtClean="0"/>
              <a:t>Cursor</a:t>
            </a:r>
          </a:p>
          <a:p>
            <a:pPr lvl="1"/>
            <a:r>
              <a:rPr lang="en-US" sz="2000" dirty="0" smtClean="0"/>
              <a:t>Xml</a:t>
            </a:r>
          </a:p>
          <a:p>
            <a:pPr lvl="1"/>
            <a:r>
              <a:rPr lang="en-US" sz="2000" dirty="0" smtClean="0"/>
              <a:t>Table</a:t>
            </a:r>
          </a:p>
          <a:p>
            <a:pPr lvl="1"/>
            <a:endParaRPr lang="en-US" sz="2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SQL Expressions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You can construct </a:t>
            </a:r>
            <a:r>
              <a:rPr lang="en-US" sz="2400" i="1" dirty="0" smtClean="0">
                <a:solidFill>
                  <a:srgbClr val="C00000"/>
                </a:solidFill>
              </a:rPr>
              <a:t>SQL expressions</a:t>
            </a:r>
            <a:r>
              <a:rPr lang="en-US" sz="2400" dirty="0" smtClean="0"/>
              <a:t> from a nearly limitless list of constants, variables, operators, and functions.</a:t>
            </a:r>
          </a:p>
          <a:p>
            <a:pPr lvl="1"/>
            <a:r>
              <a:rPr lang="en-US" sz="2000" dirty="0" smtClean="0"/>
              <a:t>User-defined variables: </a:t>
            </a:r>
            <a:r>
              <a:rPr lang="en-US" sz="2000" b="1" dirty="0" smtClean="0">
                <a:latin typeface="Consolas" pitchFamily="49" charset="0"/>
              </a:rPr>
              <a:t>@</a:t>
            </a:r>
            <a:r>
              <a:rPr lang="en-US" sz="2000" b="1" dirty="0" err="1" smtClean="0">
                <a:latin typeface="Consolas" pitchFamily="49" charset="0"/>
              </a:rPr>
              <a:t>MyVariable</a:t>
            </a:r>
            <a:endParaRPr lang="en-US" sz="2000" b="1" dirty="0" smtClean="0">
              <a:latin typeface="Consolas" pitchFamily="49" charset="0"/>
            </a:endParaRPr>
          </a:p>
          <a:p>
            <a:pPr lvl="1"/>
            <a:r>
              <a:rPr lang="en-US" sz="2000" dirty="0" smtClean="0"/>
              <a:t>Mathematical operators: </a:t>
            </a:r>
            <a:r>
              <a:rPr lang="en-US" sz="2000" b="1" dirty="0" smtClean="0">
                <a:latin typeface="Consolas" pitchFamily="49" charset="0"/>
              </a:rPr>
              <a:t>*, /, % (remainder), +, -</a:t>
            </a:r>
          </a:p>
          <a:p>
            <a:pPr lvl="1"/>
            <a:r>
              <a:rPr lang="en-US" sz="2000" dirty="0" smtClean="0"/>
              <a:t>String operator (concatenation): </a:t>
            </a:r>
            <a:r>
              <a:rPr lang="en-US" sz="2000" b="1" dirty="0" smtClean="0">
                <a:latin typeface="Consolas" pitchFamily="49" charset="0"/>
              </a:rPr>
              <a:t>+</a:t>
            </a:r>
          </a:p>
          <a:p>
            <a:pPr lvl="1"/>
            <a:r>
              <a:rPr lang="en-US" sz="2000" dirty="0" smtClean="0"/>
              <a:t>Bitwise operators (in order of precedence): </a:t>
            </a:r>
            <a:r>
              <a:rPr lang="en-US" sz="2000" b="1" dirty="0" smtClean="0">
                <a:latin typeface="Consolas" pitchFamily="49" charset="0"/>
              </a:rPr>
              <a:t>not, and &amp;, or |, exclusive or (XOR)</a:t>
            </a:r>
          </a:p>
          <a:p>
            <a:pPr lvl="1"/>
            <a:r>
              <a:rPr lang="en-US" sz="2000" dirty="0" smtClean="0"/>
              <a:t>Scalar functions: </a:t>
            </a:r>
            <a:r>
              <a:rPr lang="en-US" sz="2000" b="1" dirty="0" err="1" smtClean="0">
                <a:latin typeface="Consolas" pitchFamily="49" charset="0"/>
              </a:rPr>
              <a:t>GetDate</a:t>
            </a:r>
            <a:r>
              <a:rPr lang="en-US" sz="2000" b="1" dirty="0" smtClean="0">
                <a:latin typeface="Consolas" pitchFamily="49" charset="0"/>
              </a:rPr>
              <a:t>(), Radians()</a:t>
            </a:r>
          </a:p>
          <a:p>
            <a:pPr lvl="1"/>
            <a:r>
              <a:rPr lang="en-US" sz="2000" dirty="0" smtClean="0"/>
              <a:t>Columns: </a:t>
            </a:r>
            <a:r>
              <a:rPr lang="en-US" sz="2000" b="1" dirty="0" err="1" smtClean="0">
                <a:latin typeface="Consolas" pitchFamily="49" charset="0"/>
              </a:rPr>
              <a:t>LastName</a:t>
            </a:r>
            <a:r>
              <a:rPr lang="en-US" sz="2000" b="1" dirty="0" smtClean="0">
                <a:latin typeface="Consolas" pitchFamily="49" charset="0"/>
              </a:rPr>
              <a:t>, </a:t>
            </a:r>
            <a:r>
              <a:rPr lang="en-US" sz="2000" b="1" dirty="0" err="1" smtClean="0">
                <a:latin typeface="Consolas" pitchFamily="49" charset="0"/>
              </a:rPr>
              <a:t>PrimaryKeyID</a:t>
            </a:r>
            <a:endParaRPr lang="en-US" sz="2000" b="1" dirty="0" smtClean="0">
              <a:latin typeface="Consolas" pitchFamily="49" charset="0"/>
            </a:endParaRPr>
          </a:p>
          <a:p>
            <a:r>
              <a:rPr lang="en-US" sz="2200" dirty="0" smtClean="0">
                <a:latin typeface="Consolas" pitchFamily="49" charset="0"/>
              </a:rPr>
              <a:t>DECLARE @A BIT;</a:t>
            </a:r>
          </a:p>
          <a:p>
            <a:pPr>
              <a:buNone/>
            </a:pPr>
            <a:r>
              <a:rPr lang="en-US" sz="2200" dirty="0" smtClean="0">
                <a:latin typeface="Consolas" pitchFamily="49" charset="0"/>
              </a:rPr>
              <a:t>	SET @A = 1;</a:t>
            </a:r>
          </a:p>
          <a:p>
            <a:pPr>
              <a:buNone/>
            </a:pPr>
            <a:r>
              <a:rPr lang="en-US" sz="2200" dirty="0" smtClean="0">
                <a:latin typeface="Consolas" pitchFamily="49" charset="0"/>
              </a:rPr>
              <a:t>	SELECT (~)@A;</a:t>
            </a:r>
            <a:endParaRPr lang="en-US" sz="2200" b="1" dirty="0" smtClean="0">
              <a:latin typeface="Consolas" pitchFamily="49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Table Variable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bg1">
              <a:lumMod val="95000"/>
            </a:schemeClr>
          </a:solidFill>
        </p:spPr>
        <p:txBody>
          <a:bodyPr/>
          <a:lstStyle/>
          <a:p>
            <a:pPr>
              <a:buNone/>
            </a:pPr>
            <a:r>
              <a:rPr lang="en-US" sz="2400" dirty="0" smtClean="0">
                <a:solidFill>
                  <a:srgbClr val="0000FF"/>
                </a:solidFill>
                <a:latin typeface="Consolas"/>
              </a:rPr>
              <a:t>DECLARE</a:t>
            </a:r>
            <a:r>
              <a:rPr lang="en-US" sz="2400" dirty="0" smtClean="0">
                <a:solidFill>
                  <a:srgbClr val="000000"/>
                </a:solidFill>
                <a:latin typeface="Consolas"/>
              </a:rPr>
              <a:t> @</a:t>
            </a:r>
            <a:r>
              <a:rPr lang="en-US" sz="2400" dirty="0" err="1" smtClean="0">
                <a:solidFill>
                  <a:srgbClr val="000000"/>
                </a:solidFill>
                <a:latin typeface="Consolas"/>
              </a:rPr>
              <a:t>listOfIDs</a:t>
            </a:r>
            <a:r>
              <a:rPr lang="en-US" sz="24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2400" dirty="0" smtClean="0">
                <a:solidFill>
                  <a:srgbClr val="0000FF"/>
                </a:solidFill>
                <a:latin typeface="Consolas"/>
              </a:rPr>
              <a:t>Table </a:t>
            </a:r>
            <a:r>
              <a:rPr lang="en-US" sz="2400" dirty="0" smtClean="0">
                <a:solidFill>
                  <a:srgbClr val="808080"/>
                </a:solidFill>
                <a:latin typeface="Consolas"/>
              </a:rPr>
              <a:t>(</a:t>
            </a:r>
            <a:r>
              <a:rPr lang="en-US" sz="2400" dirty="0" smtClean="0">
                <a:solidFill>
                  <a:srgbClr val="000000"/>
                </a:solidFill>
                <a:latin typeface="Consolas"/>
              </a:rPr>
              <a:t>id </a:t>
            </a:r>
            <a:r>
              <a:rPr lang="en-US" sz="2400" dirty="0" err="1" smtClean="0">
                <a:solidFill>
                  <a:srgbClr val="0000FF"/>
                </a:solidFill>
                <a:latin typeface="Consolas"/>
              </a:rPr>
              <a:t>int</a:t>
            </a:r>
            <a:r>
              <a:rPr lang="en-US" sz="2400" dirty="0" smtClean="0">
                <a:solidFill>
                  <a:srgbClr val="808080"/>
                </a:solidFill>
                <a:latin typeface="Consolas"/>
              </a:rPr>
              <a:t>);</a:t>
            </a:r>
            <a:endParaRPr lang="en-US" sz="2400" dirty="0" smtClean="0">
              <a:solidFill>
                <a:srgbClr val="000000"/>
              </a:solidFill>
              <a:latin typeface="Consolas"/>
            </a:endParaRPr>
          </a:p>
          <a:p>
            <a:pPr>
              <a:buNone/>
            </a:pPr>
            <a:r>
              <a:rPr lang="en-US" sz="2400" dirty="0" smtClean="0">
                <a:solidFill>
                  <a:srgbClr val="0000FF"/>
                </a:solidFill>
                <a:latin typeface="Consolas"/>
              </a:rPr>
              <a:t>INSERT</a:t>
            </a:r>
            <a:r>
              <a:rPr lang="en-US" sz="2400" dirty="0" smtClean="0">
                <a:solidFill>
                  <a:srgbClr val="000000"/>
                </a:solidFill>
                <a:latin typeface="Consolas"/>
              </a:rPr>
              <a:t> @</a:t>
            </a:r>
            <a:r>
              <a:rPr lang="en-US" sz="2400" dirty="0" err="1" smtClean="0">
                <a:solidFill>
                  <a:srgbClr val="000000"/>
                </a:solidFill>
                <a:latin typeface="Consolas"/>
              </a:rPr>
              <a:t>listOfIDs</a:t>
            </a:r>
            <a:r>
              <a:rPr lang="en-US" sz="2400" dirty="0" smtClean="0">
                <a:solidFill>
                  <a:srgbClr val="808080"/>
                </a:solidFill>
                <a:latin typeface="Consolas"/>
              </a:rPr>
              <a:t>(</a:t>
            </a:r>
            <a:r>
              <a:rPr lang="en-US" sz="2400" dirty="0" smtClean="0">
                <a:solidFill>
                  <a:srgbClr val="000000"/>
                </a:solidFill>
                <a:latin typeface="Consolas"/>
              </a:rPr>
              <a:t>id</a:t>
            </a:r>
            <a:r>
              <a:rPr lang="en-US" sz="2400" dirty="0" smtClean="0">
                <a:solidFill>
                  <a:srgbClr val="808080"/>
                </a:solidFill>
                <a:latin typeface="Consolas"/>
              </a:rPr>
              <a:t>)</a:t>
            </a:r>
            <a:r>
              <a:rPr lang="en-US" sz="24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2400" dirty="0" smtClean="0">
                <a:solidFill>
                  <a:srgbClr val="0000FF"/>
                </a:solidFill>
                <a:latin typeface="Consolas"/>
              </a:rPr>
              <a:t>VALUES </a:t>
            </a:r>
            <a:r>
              <a:rPr lang="en-US" sz="2400" dirty="0" smtClean="0">
                <a:solidFill>
                  <a:srgbClr val="808080"/>
                </a:solidFill>
                <a:latin typeface="Consolas"/>
              </a:rPr>
              <a:t>(</a:t>
            </a:r>
            <a:r>
              <a:rPr lang="en-US" sz="2400" dirty="0" smtClean="0">
                <a:solidFill>
                  <a:srgbClr val="000000"/>
                </a:solidFill>
                <a:latin typeface="Consolas"/>
              </a:rPr>
              <a:t>1</a:t>
            </a:r>
            <a:r>
              <a:rPr lang="en-US" sz="2400" dirty="0" smtClean="0">
                <a:solidFill>
                  <a:srgbClr val="808080"/>
                </a:solidFill>
                <a:latin typeface="Consolas"/>
              </a:rPr>
              <a:t>),</a:t>
            </a:r>
            <a:r>
              <a:rPr lang="en-US" sz="2400" dirty="0" smtClean="0">
                <a:solidFill>
                  <a:srgbClr val="0000FF"/>
                </a:solidFill>
                <a:latin typeface="Consolas"/>
              </a:rPr>
              <a:t> </a:t>
            </a:r>
            <a:r>
              <a:rPr lang="en-US" sz="2400" dirty="0" smtClean="0">
                <a:solidFill>
                  <a:srgbClr val="808080"/>
                </a:solidFill>
                <a:latin typeface="Consolas"/>
              </a:rPr>
              <a:t>(</a:t>
            </a:r>
            <a:r>
              <a:rPr lang="en-US" sz="2400" dirty="0" smtClean="0">
                <a:solidFill>
                  <a:srgbClr val="000000"/>
                </a:solidFill>
                <a:latin typeface="Consolas"/>
              </a:rPr>
              <a:t>2</a:t>
            </a:r>
            <a:r>
              <a:rPr lang="en-US" sz="2400" dirty="0" smtClean="0">
                <a:solidFill>
                  <a:srgbClr val="808080"/>
                </a:solidFill>
                <a:latin typeface="Consolas"/>
              </a:rPr>
              <a:t>),</a:t>
            </a:r>
            <a:r>
              <a:rPr lang="en-US" sz="2400" dirty="0" smtClean="0">
                <a:solidFill>
                  <a:srgbClr val="0000FF"/>
                </a:solidFill>
                <a:latin typeface="Consolas"/>
              </a:rPr>
              <a:t> </a:t>
            </a:r>
            <a:r>
              <a:rPr lang="en-US" sz="2400" dirty="0" smtClean="0">
                <a:solidFill>
                  <a:srgbClr val="808080"/>
                </a:solidFill>
                <a:latin typeface="Consolas"/>
              </a:rPr>
              <a:t>(</a:t>
            </a:r>
            <a:r>
              <a:rPr lang="en-US" sz="2400" dirty="0" smtClean="0">
                <a:solidFill>
                  <a:srgbClr val="000000"/>
                </a:solidFill>
                <a:latin typeface="Consolas"/>
              </a:rPr>
              <a:t>3</a:t>
            </a:r>
            <a:r>
              <a:rPr lang="en-US" sz="2400" dirty="0" smtClean="0">
                <a:solidFill>
                  <a:srgbClr val="808080"/>
                </a:solidFill>
                <a:latin typeface="Consolas"/>
              </a:rPr>
              <a:t>),</a:t>
            </a:r>
            <a:r>
              <a:rPr lang="en-US" sz="2400" dirty="0" smtClean="0">
                <a:solidFill>
                  <a:srgbClr val="0000FF"/>
                </a:solidFill>
                <a:latin typeface="Consolas"/>
              </a:rPr>
              <a:t> </a:t>
            </a:r>
            <a:r>
              <a:rPr lang="en-US" sz="2400" dirty="0" smtClean="0">
                <a:solidFill>
                  <a:srgbClr val="808080"/>
                </a:solidFill>
                <a:latin typeface="Consolas"/>
              </a:rPr>
              <a:t>(</a:t>
            </a:r>
            <a:r>
              <a:rPr lang="en-US" sz="2400" dirty="0" smtClean="0">
                <a:solidFill>
                  <a:srgbClr val="000000"/>
                </a:solidFill>
                <a:latin typeface="Consolas"/>
              </a:rPr>
              <a:t>4</a:t>
            </a:r>
            <a:r>
              <a:rPr lang="en-US" sz="2400" dirty="0" smtClean="0">
                <a:solidFill>
                  <a:srgbClr val="808080"/>
                </a:solidFill>
                <a:latin typeface="Consolas"/>
              </a:rPr>
              <a:t>),</a:t>
            </a:r>
            <a:r>
              <a:rPr lang="en-US" sz="2400" dirty="0" smtClean="0">
                <a:solidFill>
                  <a:srgbClr val="0000FF"/>
                </a:solidFill>
                <a:latin typeface="Consolas"/>
              </a:rPr>
              <a:t> </a:t>
            </a:r>
            <a:r>
              <a:rPr lang="en-US" sz="2400" dirty="0" smtClean="0">
                <a:solidFill>
                  <a:srgbClr val="808080"/>
                </a:solidFill>
                <a:latin typeface="Consolas"/>
              </a:rPr>
              <a:t>(</a:t>
            </a:r>
            <a:r>
              <a:rPr lang="en-US" sz="2400" dirty="0" smtClean="0">
                <a:solidFill>
                  <a:srgbClr val="000000"/>
                </a:solidFill>
                <a:latin typeface="Consolas"/>
              </a:rPr>
              <a:t>5</a:t>
            </a:r>
            <a:r>
              <a:rPr lang="en-US" sz="2400" dirty="0" smtClean="0">
                <a:solidFill>
                  <a:srgbClr val="808080"/>
                </a:solidFill>
                <a:latin typeface="Consolas"/>
              </a:rPr>
              <a:t>);</a:t>
            </a:r>
            <a:r>
              <a:rPr lang="en-US" sz="2400" dirty="0" smtClean="0">
                <a:solidFill>
                  <a:srgbClr val="000000"/>
                </a:solidFill>
                <a:latin typeface="Consolas"/>
              </a:rPr>
              <a:t>    </a:t>
            </a:r>
          </a:p>
          <a:p>
            <a:pPr>
              <a:buNone/>
            </a:pPr>
            <a:r>
              <a:rPr lang="en-US" sz="2400" dirty="0" smtClean="0">
                <a:solidFill>
                  <a:srgbClr val="0000FF"/>
                </a:solidFill>
                <a:latin typeface="Consolas"/>
              </a:rPr>
              <a:t>SELECT</a:t>
            </a:r>
            <a:r>
              <a:rPr lang="en-US" sz="2400" dirty="0" smtClean="0">
                <a:solidFill>
                  <a:srgbClr val="000000"/>
                </a:solidFill>
                <a:latin typeface="Consolas"/>
              </a:rPr>
              <a:t> id </a:t>
            </a:r>
            <a:r>
              <a:rPr lang="en-US" sz="2400" dirty="0" smtClean="0">
                <a:solidFill>
                  <a:srgbClr val="0000FF"/>
                </a:solidFill>
                <a:latin typeface="Consolas"/>
              </a:rPr>
              <a:t>FROM</a:t>
            </a:r>
            <a:r>
              <a:rPr lang="en-US" sz="2400" dirty="0" smtClean="0">
                <a:solidFill>
                  <a:srgbClr val="000000"/>
                </a:solidFill>
                <a:latin typeface="Consolas"/>
              </a:rPr>
              <a:t> @</a:t>
            </a:r>
            <a:r>
              <a:rPr lang="en-US" sz="2400" dirty="0" err="1" smtClean="0">
                <a:solidFill>
                  <a:srgbClr val="000000"/>
                </a:solidFill>
                <a:latin typeface="Consolas"/>
              </a:rPr>
              <a:t>listOfIDs</a:t>
            </a:r>
            <a:endParaRPr lang="en-US" sz="2400" dirty="0" smtClean="0">
              <a:solidFill>
                <a:srgbClr val="000000"/>
              </a:solidFill>
              <a:latin typeface="Consolas"/>
            </a:endParaRPr>
          </a:p>
          <a:p>
            <a:pPr>
              <a:buNone/>
            </a:pPr>
            <a:r>
              <a:rPr lang="en-US" sz="2400" dirty="0" smtClean="0">
                <a:solidFill>
                  <a:srgbClr val="0000FF"/>
                </a:solidFill>
                <a:latin typeface="Consolas"/>
              </a:rPr>
              <a:t>WHERE</a:t>
            </a:r>
            <a:r>
              <a:rPr lang="en-US" sz="2400" dirty="0" smtClean="0">
                <a:solidFill>
                  <a:srgbClr val="000000"/>
                </a:solidFill>
                <a:latin typeface="Consolas"/>
              </a:rPr>
              <a:t> id </a:t>
            </a:r>
            <a:r>
              <a:rPr lang="en-US" sz="2400" dirty="0" smtClean="0">
                <a:solidFill>
                  <a:srgbClr val="808080"/>
                </a:solidFill>
                <a:latin typeface="Consolas"/>
              </a:rPr>
              <a:t>&gt;</a:t>
            </a:r>
            <a:r>
              <a:rPr lang="en-US" sz="2400" dirty="0" smtClean="0">
                <a:solidFill>
                  <a:srgbClr val="000000"/>
                </a:solidFill>
                <a:latin typeface="Consolas"/>
              </a:rPr>
              <a:t> 2</a:t>
            </a:r>
          </a:p>
          <a:p>
            <a:pPr>
              <a:buNone/>
            </a:pPr>
            <a:r>
              <a:rPr lang="en-US" sz="2400" dirty="0" smtClean="0">
                <a:solidFill>
                  <a:srgbClr val="0000FF"/>
                </a:solidFill>
                <a:latin typeface="Consolas"/>
              </a:rPr>
              <a:t>SELECT</a:t>
            </a:r>
            <a:r>
              <a:rPr lang="en-US" sz="2400" dirty="0" smtClean="0">
                <a:solidFill>
                  <a:srgbClr val="000000"/>
                </a:solidFill>
                <a:latin typeface="Consolas"/>
              </a:rPr>
              <a:t> id </a:t>
            </a:r>
            <a:r>
              <a:rPr lang="en-US" sz="2400" dirty="0" smtClean="0">
                <a:solidFill>
                  <a:srgbClr val="0000FF"/>
                </a:solidFill>
                <a:latin typeface="Consolas"/>
              </a:rPr>
              <a:t>FROM</a:t>
            </a:r>
            <a:r>
              <a:rPr lang="en-US" sz="2400" dirty="0" smtClean="0">
                <a:solidFill>
                  <a:srgbClr val="000000"/>
                </a:solidFill>
                <a:latin typeface="Consolas"/>
              </a:rPr>
              <a:t> @</a:t>
            </a:r>
            <a:r>
              <a:rPr lang="en-US" sz="2400" dirty="0" err="1" smtClean="0">
                <a:solidFill>
                  <a:srgbClr val="000000"/>
                </a:solidFill>
                <a:latin typeface="Consolas"/>
              </a:rPr>
              <a:t>listOfIDs</a:t>
            </a:r>
            <a:endParaRPr lang="en-US" sz="2400" dirty="0" smtClean="0">
              <a:solidFill>
                <a:srgbClr val="000000"/>
              </a:solidFill>
              <a:latin typeface="Consolas"/>
            </a:endParaRPr>
          </a:p>
          <a:p>
            <a:pPr>
              <a:buNone/>
            </a:pPr>
            <a:r>
              <a:rPr lang="en-US" sz="2400" dirty="0" smtClean="0">
                <a:solidFill>
                  <a:srgbClr val="0000FF"/>
                </a:solidFill>
                <a:latin typeface="Consolas"/>
              </a:rPr>
              <a:t>WHERE</a:t>
            </a:r>
            <a:r>
              <a:rPr lang="en-US" sz="2400" dirty="0" smtClean="0">
                <a:solidFill>
                  <a:srgbClr val="000000"/>
                </a:solidFill>
                <a:latin typeface="Consolas"/>
              </a:rPr>
              <a:t> id </a:t>
            </a:r>
            <a:r>
              <a:rPr lang="en-US" sz="2400" dirty="0" smtClean="0">
                <a:solidFill>
                  <a:srgbClr val="808080"/>
                </a:solidFill>
                <a:latin typeface="Consolas"/>
              </a:rPr>
              <a:t>&lt;=</a:t>
            </a:r>
            <a:r>
              <a:rPr lang="en-US" sz="2400" dirty="0" smtClean="0">
                <a:solidFill>
                  <a:srgbClr val="000000"/>
                </a:solidFill>
                <a:latin typeface="Consolas"/>
              </a:rPr>
              <a:t> 2</a:t>
            </a:r>
            <a:endParaRPr lang="en-US" sz="2200" b="1" dirty="0" smtClean="0">
              <a:latin typeface="Consolas" pitchFamily="49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Integer Division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bg1">
              <a:lumMod val="95000"/>
            </a:schemeClr>
          </a:solidFill>
        </p:spPr>
        <p:txBody>
          <a:bodyPr/>
          <a:lstStyle/>
          <a:p>
            <a:pPr>
              <a:buNone/>
            </a:pPr>
            <a:r>
              <a:rPr lang="en-US" sz="1800" dirty="0" smtClean="0">
                <a:solidFill>
                  <a:srgbClr val="0000FF"/>
                </a:solidFill>
                <a:latin typeface="Consolas"/>
              </a:rPr>
              <a:t>SELECT</a:t>
            </a:r>
            <a:r>
              <a:rPr lang="en-US" sz="1800" dirty="0" smtClean="0">
                <a:solidFill>
                  <a:srgbClr val="000000"/>
                </a:solidFill>
                <a:latin typeface="Consolas"/>
              </a:rPr>
              <a:t> 1159</a:t>
            </a:r>
            <a:r>
              <a:rPr lang="en-US" sz="1800" dirty="0" smtClean="0">
                <a:solidFill>
                  <a:srgbClr val="808080"/>
                </a:solidFill>
                <a:latin typeface="Consolas"/>
              </a:rPr>
              <a:t>/</a:t>
            </a:r>
            <a:r>
              <a:rPr lang="en-US" sz="1800" dirty="0" smtClean="0">
                <a:solidFill>
                  <a:srgbClr val="000000"/>
                </a:solidFill>
                <a:latin typeface="Consolas"/>
              </a:rPr>
              <a:t>6056</a:t>
            </a:r>
          </a:p>
          <a:p>
            <a:pPr>
              <a:buNone/>
            </a:pPr>
            <a:r>
              <a:rPr lang="en-US" sz="1800" dirty="0" smtClean="0">
                <a:solidFill>
                  <a:srgbClr val="0000FF"/>
                </a:solidFill>
                <a:latin typeface="Consolas"/>
              </a:rPr>
              <a:t>SELECT</a:t>
            </a:r>
            <a:r>
              <a:rPr lang="en-US" sz="1800" dirty="0" smtClean="0">
                <a:solidFill>
                  <a:srgbClr val="000000"/>
                </a:solidFill>
                <a:latin typeface="Consolas"/>
              </a:rPr>
              <a:t> 1159</a:t>
            </a:r>
            <a:r>
              <a:rPr lang="en-US" sz="1800" dirty="0" smtClean="0">
                <a:solidFill>
                  <a:srgbClr val="808080"/>
                </a:solidFill>
                <a:latin typeface="Consolas"/>
              </a:rPr>
              <a:t>/</a:t>
            </a:r>
            <a:r>
              <a:rPr lang="en-US" sz="1800" dirty="0" smtClean="0">
                <a:solidFill>
                  <a:srgbClr val="FF00FF"/>
                </a:solidFill>
                <a:latin typeface="Consolas"/>
              </a:rPr>
              <a:t>CAST</a:t>
            </a:r>
            <a:r>
              <a:rPr lang="en-US" sz="1800" dirty="0" smtClean="0">
                <a:solidFill>
                  <a:srgbClr val="808080"/>
                </a:solidFill>
                <a:latin typeface="Consolas"/>
              </a:rPr>
              <a:t>(</a:t>
            </a:r>
            <a:r>
              <a:rPr lang="en-US" sz="1800" dirty="0" smtClean="0">
                <a:solidFill>
                  <a:srgbClr val="000000"/>
                </a:solidFill>
                <a:latin typeface="Consolas"/>
              </a:rPr>
              <a:t>6056 </a:t>
            </a:r>
            <a:r>
              <a:rPr lang="en-US" sz="1800" dirty="0" smtClean="0">
                <a:solidFill>
                  <a:srgbClr val="0000FF"/>
                </a:solidFill>
                <a:latin typeface="Consolas"/>
              </a:rPr>
              <a:t>AS</a:t>
            </a:r>
            <a:r>
              <a:rPr lang="en-US" sz="18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800" dirty="0" smtClean="0">
                <a:solidFill>
                  <a:srgbClr val="0000FF"/>
                </a:solidFill>
                <a:latin typeface="Consolas"/>
              </a:rPr>
              <a:t>DECIMAL </a:t>
            </a:r>
            <a:r>
              <a:rPr lang="en-US" sz="1800" dirty="0" smtClean="0">
                <a:solidFill>
                  <a:srgbClr val="808080"/>
                </a:solidFill>
                <a:latin typeface="Consolas"/>
              </a:rPr>
              <a:t>(</a:t>
            </a:r>
            <a:r>
              <a:rPr lang="en-US" sz="1800" dirty="0" smtClean="0">
                <a:solidFill>
                  <a:srgbClr val="000000"/>
                </a:solidFill>
                <a:latin typeface="Consolas"/>
              </a:rPr>
              <a:t>12</a:t>
            </a:r>
            <a:r>
              <a:rPr lang="en-US" sz="1800" dirty="0" smtClean="0">
                <a:solidFill>
                  <a:srgbClr val="808080"/>
                </a:solidFill>
                <a:latin typeface="Consolas"/>
              </a:rPr>
              <a:t>,</a:t>
            </a:r>
            <a:r>
              <a:rPr lang="en-US" sz="1800" dirty="0" smtClean="0">
                <a:solidFill>
                  <a:srgbClr val="000000"/>
                </a:solidFill>
                <a:latin typeface="Consolas"/>
              </a:rPr>
              <a:t> 4</a:t>
            </a:r>
            <a:r>
              <a:rPr lang="en-US" sz="1800" dirty="0" smtClean="0">
                <a:solidFill>
                  <a:srgbClr val="808080"/>
                </a:solidFill>
                <a:latin typeface="Consolas"/>
              </a:rPr>
              <a:t>))</a:t>
            </a:r>
            <a:endParaRPr lang="en-US" sz="1800" dirty="0" smtClean="0">
              <a:solidFill>
                <a:srgbClr val="000000"/>
              </a:solidFill>
              <a:latin typeface="Consolas"/>
            </a:endParaRPr>
          </a:p>
          <a:p>
            <a:pPr>
              <a:buNone/>
            </a:pPr>
            <a:endParaRPr lang="en-US" sz="1800" dirty="0" smtClean="0">
              <a:solidFill>
                <a:srgbClr val="000000"/>
              </a:solidFill>
              <a:latin typeface="Consolas"/>
            </a:endParaRPr>
          </a:p>
          <a:p>
            <a:pPr>
              <a:buNone/>
            </a:pPr>
            <a:r>
              <a:rPr lang="en-US" sz="1800" dirty="0" smtClean="0">
                <a:solidFill>
                  <a:srgbClr val="0000FF"/>
                </a:solidFill>
                <a:latin typeface="Consolas"/>
              </a:rPr>
              <a:t>DECLARE</a:t>
            </a:r>
            <a:r>
              <a:rPr lang="en-US" sz="1800" dirty="0" smtClean="0">
                <a:solidFill>
                  <a:srgbClr val="000000"/>
                </a:solidFill>
                <a:latin typeface="Consolas"/>
              </a:rPr>
              <a:t> @</a:t>
            </a:r>
            <a:r>
              <a:rPr lang="en-US" sz="1800" dirty="0" err="1" smtClean="0">
                <a:solidFill>
                  <a:srgbClr val="000000"/>
                </a:solidFill>
                <a:latin typeface="Consolas"/>
              </a:rPr>
              <a:t>SMales</a:t>
            </a:r>
            <a:r>
              <a:rPr lang="en-US" sz="18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800" dirty="0" err="1" smtClean="0">
                <a:solidFill>
                  <a:srgbClr val="0000FF"/>
                </a:solidFill>
                <a:latin typeface="Consolas"/>
              </a:rPr>
              <a:t>bigint</a:t>
            </a:r>
            <a:r>
              <a:rPr lang="en-US" sz="1800" dirty="0" smtClean="0">
                <a:solidFill>
                  <a:srgbClr val="808080"/>
                </a:solidFill>
                <a:latin typeface="Consolas"/>
              </a:rPr>
              <a:t>,</a:t>
            </a:r>
            <a:r>
              <a:rPr lang="en-US" sz="1800" dirty="0" smtClean="0">
                <a:solidFill>
                  <a:srgbClr val="000000"/>
                </a:solidFill>
                <a:latin typeface="Consolas"/>
              </a:rPr>
              <a:t> @</a:t>
            </a:r>
            <a:r>
              <a:rPr lang="en-US" sz="1800" dirty="0" err="1" smtClean="0">
                <a:solidFill>
                  <a:srgbClr val="000000"/>
                </a:solidFill>
                <a:latin typeface="Consolas"/>
              </a:rPr>
              <a:t>SMalesAndFemales</a:t>
            </a:r>
            <a:r>
              <a:rPr lang="en-US" sz="18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800" dirty="0" err="1" smtClean="0">
                <a:solidFill>
                  <a:srgbClr val="0000FF"/>
                </a:solidFill>
                <a:latin typeface="Consolas"/>
              </a:rPr>
              <a:t>bigint</a:t>
            </a:r>
            <a:r>
              <a:rPr lang="en-US" sz="1800" dirty="0" smtClean="0">
                <a:solidFill>
                  <a:srgbClr val="808080"/>
                </a:solidFill>
                <a:latin typeface="Consolas"/>
              </a:rPr>
              <a:t>,</a:t>
            </a:r>
            <a:r>
              <a:rPr lang="en-US" sz="1800" dirty="0" smtClean="0">
                <a:solidFill>
                  <a:srgbClr val="000000"/>
                </a:solidFill>
                <a:latin typeface="Consolas"/>
              </a:rPr>
              <a:t> @</a:t>
            </a:r>
            <a:r>
              <a:rPr lang="en-US" sz="1800" dirty="0" err="1" smtClean="0">
                <a:solidFill>
                  <a:srgbClr val="000000"/>
                </a:solidFill>
                <a:latin typeface="Consolas"/>
              </a:rPr>
              <a:t>MalesRatio</a:t>
            </a:r>
            <a:r>
              <a:rPr lang="en-US" sz="18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800" dirty="0" smtClean="0">
                <a:solidFill>
                  <a:srgbClr val="0000FF"/>
                </a:solidFill>
                <a:latin typeface="Consolas"/>
              </a:rPr>
              <a:t>decimal </a:t>
            </a:r>
            <a:r>
              <a:rPr lang="en-US" sz="1800" dirty="0" smtClean="0">
                <a:solidFill>
                  <a:srgbClr val="808080"/>
                </a:solidFill>
                <a:latin typeface="Consolas"/>
              </a:rPr>
              <a:t>(</a:t>
            </a:r>
            <a:r>
              <a:rPr lang="en-US" sz="1800" dirty="0" smtClean="0">
                <a:solidFill>
                  <a:srgbClr val="000000"/>
                </a:solidFill>
                <a:latin typeface="Consolas"/>
              </a:rPr>
              <a:t>12</a:t>
            </a:r>
            <a:r>
              <a:rPr lang="en-US" sz="1800" dirty="0" smtClean="0">
                <a:solidFill>
                  <a:srgbClr val="808080"/>
                </a:solidFill>
                <a:latin typeface="Consolas"/>
              </a:rPr>
              <a:t>,</a:t>
            </a:r>
            <a:r>
              <a:rPr lang="en-US" sz="1800" dirty="0" smtClean="0">
                <a:solidFill>
                  <a:srgbClr val="000000"/>
                </a:solidFill>
                <a:latin typeface="Consolas"/>
              </a:rPr>
              <a:t> 4</a:t>
            </a:r>
            <a:r>
              <a:rPr lang="en-US" sz="1800" dirty="0" smtClean="0">
                <a:solidFill>
                  <a:srgbClr val="808080"/>
                </a:solidFill>
                <a:latin typeface="Consolas"/>
              </a:rPr>
              <a:t>)</a:t>
            </a:r>
            <a:endParaRPr lang="en-US" sz="1800" dirty="0" smtClean="0">
              <a:solidFill>
                <a:srgbClr val="000000"/>
              </a:solidFill>
              <a:latin typeface="Consolas"/>
            </a:endParaRPr>
          </a:p>
          <a:p>
            <a:pPr>
              <a:buNone/>
            </a:pPr>
            <a:endParaRPr lang="en-US" sz="1800" dirty="0" smtClean="0">
              <a:solidFill>
                <a:srgbClr val="000000"/>
              </a:solidFill>
              <a:latin typeface="Consolas"/>
            </a:endParaRPr>
          </a:p>
          <a:p>
            <a:pPr>
              <a:buNone/>
            </a:pPr>
            <a:r>
              <a:rPr lang="en-US" sz="1800" dirty="0" smtClean="0">
                <a:solidFill>
                  <a:srgbClr val="0000FF"/>
                </a:solidFill>
                <a:latin typeface="Consolas"/>
              </a:rPr>
              <a:t>SELECT</a:t>
            </a:r>
            <a:r>
              <a:rPr lang="en-US" sz="1800" dirty="0" smtClean="0">
                <a:solidFill>
                  <a:srgbClr val="000000"/>
                </a:solidFill>
                <a:latin typeface="Consolas"/>
              </a:rPr>
              <a:t> @</a:t>
            </a:r>
            <a:r>
              <a:rPr lang="en-US" sz="1800" dirty="0" err="1" smtClean="0">
                <a:solidFill>
                  <a:srgbClr val="000000"/>
                </a:solidFill>
                <a:latin typeface="Consolas"/>
              </a:rPr>
              <a:t>SMales</a:t>
            </a:r>
            <a:r>
              <a:rPr lang="en-US" sz="18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800" dirty="0" smtClean="0">
                <a:solidFill>
                  <a:srgbClr val="808080"/>
                </a:solidFill>
                <a:latin typeface="Consolas"/>
              </a:rPr>
              <a:t>=</a:t>
            </a:r>
            <a:r>
              <a:rPr lang="en-US" sz="1800" dirty="0" smtClean="0">
                <a:solidFill>
                  <a:srgbClr val="000000"/>
                </a:solidFill>
                <a:latin typeface="Consolas"/>
              </a:rPr>
              <a:t> 1159</a:t>
            </a:r>
          </a:p>
          <a:p>
            <a:pPr>
              <a:buNone/>
            </a:pPr>
            <a:r>
              <a:rPr lang="en-US" sz="1800" dirty="0" smtClean="0">
                <a:solidFill>
                  <a:srgbClr val="0000FF"/>
                </a:solidFill>
                <a:latin typeface="Consolas"/>
              </a:rPr>
              <a:t>SELECT</a:t>
            </a:r>
            <a:r>
              <a:rPr lang="en-US" sz="1800" dirty="0" smtClean="0">
                <a:solidFill>
                  <a:srgbClr val="000000"/>
                </a:solidFill>
                <a:latin typeface="Consolas"/>
              </a:rPr>
              <a:t> @</a:t>
            </a:r>
            <a:r>
              <a:rPr lang="en-US" sz="1800" dirty="0" err="1" smtClean="0">
                <a:solidFill>
                  <a:srgbClr val="000000"/>
                </a:solidFill>
                <a:latin typeface="Consolas"/>
              </a:rPr>
              <a:t>SMalesAndFemales</a:t>
            </a:r>
            <a:r>
              <a:rPr lang="en-US" sz="18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800" dirty="0" smtClean="0">
                <a:solidFill>
                  <a:srgbClr val="808080"/>
                </a:solidFill>
                <a:latin typeface="Consolas"/>
              </a:rPr>
              <a:t>=</a:t>
            </a:r>
            <a:r>
              <a:rPr lang="en-US" sz="1800" dirty="0" smtClean="0">
                <a:solidFill>
                  <a:srgbClr val="000000"/>
                </a:solidFill>
                <a:latin typeface="Consolas"/>
              </a:rPr>
              <a:t> 6056</a:t>
            </a:r>
          </a:p>
          <a:p>
            <a:pPr>
              <a:buNone/>
            </a:pPr>
            <a:r>
              <a:rPr lang="en-US" sz="1800" dirty="0" smtClean="0">
                <a:solidFill>
                  <a:srgbClr val="0000FF"/>
                </a:solidFill>
                <a:latin typeface="Consolas"/>
              </a:rPr>
              <a:t>SELECT</a:t>
            </a:r>
            <a:r>
              <a:rPr lang="en-US" sz="1800" dirty="0" smtClean="0">
                <a:solidFill>
                  <a:srgbClr val="000000"/>
                </a:solidFill>
                <a:latin typeface="Consolas"/>
              </a:rPr>
              <a:t> @</a:t>
            </a:r>
            <a:r>
              <a:rPr lang="en-US" sz="1800" dirty="0" err="1" smtClean="0">
                <a:solidFill>
                  <a:srgbClr val="000000"/>
                </a:solidFill>
                <a:latin typeface="Consolas"/>
              </a:rPr>
              <a:t>SMales</a:t>
            </a:r>
            <a:endParaRPr lang="en-US" sz="1800" dirty="0" smtClean="0">
              <a:solidFill>
                <a:srgbClr val="000000"/>
              </a:solidFill>
              <a:latin typeface="Consolas"/>
            </a:endParaRPr>
          </a:p>
          <a:p>
            <a:pPr>
              <a:buNone/>
            </a:pPr>
            <a:r>
              <a:rPr lang="en-US" sz="1800" dirty="0" smtClean="0">
                <a:solidFill>
                  <a:srgbClr val="0000FF"/>
                </a:solidFill>
                <a:latin typeface="Consolas"/>
              </a:rPr>
              <a:t>SELECT</a:t>
            </a:r>
            <a:r>
              <a:rPr lang="en-US" sz="1800" dirty="0" smtClean="0">
                <a:solidFill>
                  <a:srgbClr val="000000"/>
                </a:solidFill>
                <a:latin typeface="Consolas"/>
              </a:rPr>
              <a:t> @</a:t>
            </a:r>
            <a:r>
              <a:rPr lang="en-US" sz="1800" dirty="0" err="1" smtClean="0">
                <a:solidFill>
                  <a:srgbClr val="000000"/>
                </a:solidFill>
                <a:latin typeface="Consolas"/>
              </a:rPr>
              <a:t>SMalesAndFemales</a:t>
            </a:r>
            <a:endParaRPr lang="en-US" sz="1800" dirty="0" smtClean="0">
              <a:solidFill>
                <a:srgbClr val="000000"/>
              </a:solidFill>
              <a:latin typeface="Consolas"/>
            </a:endParaRPr>
          </a:p>
          <a:p>
            <a:pPr>
              <a:buNone/>
            </a:pPr>
            <a:r>
              <a:rPr lang="en-US" sz="1800" dirty="0" smtClean="0">
                <a:solidFill>
                  <a:srgbClr val="0000FF"/>
                </a:solidFill>
                <a:latin typeface="Consolas"/>
              </a:rPr>
              <a:t>SELECT</a:t>
            </a:r>
            <a:r>
              <a:rPr lang="en-US" sz="1800" dirty="0" smtClean="0">
                <a:solidFill>
                  <a:srgbClr val="000000"/>
                </a:solidFill>
                <a:latin typeface="Consolas"/>
              </a:rPr>
              <a:t> @</a:t>
            </a:r>
            <a:r>
              <a:rPr lang="en-US" sz="1800" dirty="0" err="1" smtClean="0">
                <a:solidFill>
                  <a:srgbClr val="000000"/>
                </a:solidFill>
                <a:latin typeface="Consolas"/>
              </a:rPr>
              <a:t>MalesRatio</a:t>
            </a:r>
            <a:r>
              <a:rPr lang="en-US" sz="18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800" dirty="0" smtClean="0">
                <a:solidFill>
                  <a:srgbClr val="808080"/>
                </a:solidFill>
                <a:latin typeface="Consolas"/>
              </a:rPr>
              <a:t>=</a:t>
            </a:r>
            <a:r>
              <a:rPr lang="en-US" sz="1800" dirty="0" smtClean="0">
                <a:solidFill>
                  <a:srgbClr val="000000"/>
                </a:solidFill>
                <a:latin typeface="Consolas"/>
              </a:rPr>
              <a:t> @</a:t>
            </a:r>
            <a:r>
              <a:rPr lang="en-US" sz="1800" dirty="0" err="1" smtClean="0">
                <a:solidFill>
                  <a:srgbClr val="000000"/>
                </a:solidFill>
                <a:latin typeface="Consolas"/>
              </a:rPr>
              <a:t>SMales</a:t>
            </a:r>
            <a:r>
              <a:rPr lang="en-US" sz="18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800" dirty="0" smtClean="0">
                <a:solidFill>
                  <a:srgbClr val="808080"/>
                </a:solidFill>
                <a:latin typeface="Consolas"/>
              </a:rPr>
              <a:t>/</a:t>
            </a:r>
            <a:r>
              <a:rPr lang="en-US" sz="18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800" dirty="0" smtClean="0">
                <a:solidFill>
                  <a:srgbClr val="FF00FF"/>
                </a:solidFill>
                <a:latin typeface="Consolas"/>
              </a:rPr>
              <a:t>CAST</a:t>
            </a:r>
            <a:r>
              <a:rPr lang="en-US" sz="1800" dirty="0" smtClean="0">
                <a:solidFill>
                  <a:srgbClr val="808080"/>
                </a:solidFill>
                <a:latin typeface="Consolas"/>
              </a:rPr>
              <a:t>(</a:t>
            </a:r>
            <a:r>
              <a:rPr lang="en-US" sz="1800" dirty="0" smtClean="0">
                <a:solidFill>
                  <a:srgbClr val="000000"/>
                </a:solidFill>
                <a:latin typeface="Consolas"/>
              </a:rPr>
              <a:t>@</a:t>
            </a:r>
            <a:r>
              <a:rPr lang="en-US" sz="1800" dirty="0" err="1" smtClean="0">
                <a:solidFill>
                  <a:srgbClr val="000000"/>
                </a:solidFill>
                <a:latin typeface="Consolas"/>
              </a:rPr>
              <a:t>SMalesAndFemales</a:t>
            </a:r>
            <a:r>
              <a:rPr lang="en-US" sz="18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800" dirty="0" smtClean="0">
                <a:solidFill>
                  <a:srgbClr val="0000FF"/>
                </a:solidFill>
                <a:latin typeface="Consolas"/>
              </a:rPr>
              <a:t>AS</a:t>
            </a:r>
            <a:r>
              <a:rPr lang="en-US" sz="18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800" dirty="0" smtClean="0">
                <a:solidFill>
                  <a:srgbClr val="0000FF"/>
                </a:solidFill>
                <a:latin typeface="Consolas"/>
              </a:rPr>
              <a:t>decimal </a:t>
            </a:r>
            <a:r>
              <a:rPr lang="en-US" sz="1800" dirty="0" smtClean="0">
                <a:solidFill>
                  <a:srgbClr val="808080"/>
                </a:solidFill>
                <a:latin typeface="Consolas"/>
              </a:rPr>
              <a:t>(</a:t>
            </a:r>
            <a:r>
              <a:rPr lang="en-US" sz="1800" dirty="0" smtClean="0">
                <a:solidFill>
                  <a:srgbClr val="000000"/>
                </a:solidFill>
                <a:latin typeface="Consolas"/>
              </a:rPr>
              <a:t>12</a:t>
            </a:r>
            <a:r>
              <a:rPr lang="en-US" sz="1800" dirty="0" smtClean="0">
                <a:solidFill>
                  <a:srgbClr val="808080"/>
                </a:solidFill>
                <a:latin typeface="Consolas"/>
              </a:rPr>
              <a:t>,</a:t>
            </a:r>
            <a:r>
              <a:rPr lang="en-US" sz="1800" dirty="0" smtClean="0">
                <a:solidFill>
                  <a:srgbClr val="000000"/>
                </a:solidFill>
                <a:latin typeface="Consolas"/>
              </a:rPr>
              <a:t> 4</a:t>
            </a:r>
            <a:r>
              <a:rPr lang="en-US" sz="1800" dirty="0" smtClean="0">
                <a:solidFill>
                  <a:srgbClr val="808080"/>
                </a:solidFill>
                <a:latin typeface="Consolas"/>
              </a:rPr>
              <a:t>))</a:t>
            </a:r>
            <a:endParaRPr lang="en-US" sz="1800" dirty="0" smtClean="0">
              <a:solidFill>
                <a:srgbClr val="000000"/>
              </a:solidFill>
              <a:latin typeface="Consolas"/>
            </a:endParaRPr>
          </a:p>
          <a:p>
            <a:pPr>
              <a:buNone/>
            </a:pPr>
            <a:r>
              <a:rPr lang="en-US" sz="1800" dirty="0" smtClean="0">
                <a:solidFill>
                  <a:srgbClr val="0000FF"/>
                </a:solidFill>
                <a:latin typeface="Consolas"/>
              </a:rPr>
              <a:t>SELECT</a:t>
            </a:r>
            <a:r>
              <a:rPr lang="en-US" sz="1800" dirty="0" smtClean="0">
                <a:solidFill>
                  <a:srgbClr val="000000"/>
                </a:solidFill>
                <a:latin typeface="Consolas"/>
              </a:rPr>
              <a:t> @</a:t>
            </a:r>
            <a:r>
              <a:rPr lang="en-US" sz="1800" dirty="0" err="1" smtClean="0">
                <a:solidFill>
                  <a:srgbClr val="000000"/>
                </a:solidFill>
                <a:latin typeface="Consolas"/>
              </a:rPr>
              <a:t>MalesRatio</a:t>
            </a:r>
            <a:r>
              <a:rPr lang="en-US" sz="18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800" dirty="0" smtClean="0">
                <a:solidFill>
                  <a:srgbClr val="0000FF"/>
                </a:solidFill>
                <a:latin typeface="Consolas"/>
              </a:rPr>
              <a:t>AS</a:t>
            </a:r>
            <a:r>
              <a:rPr lang="en-US" sz="18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800" dirty="0" err="1" smtClean="0">
                <a:solidFill>
                  <a:srgbClr val="000000"/>
                </a:solidFill>
                <a:latin typeface="Consolas"/>
              </a:rPr>
              <a:t>MalesRatio</a:t>
            </a:r>
            <a:endParaRPr lang="en-US" sz="1800" dirty="0" smtClean="0">
              <a:solidFill>
                <a:srgbClr val="000000"/>
              </a:solidFill>
              <a:latin typeface="Consola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Add or Remove Linked Servers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bg1">
              <a:lumMod val="95000"/>
            </a:schemeClr>
          </a:solidFill>
        </p:spPr>
        <p:txBody>
          <a:bodyPr/>
          <a:lstStyle/>
          <a:p>
            <a:pPr>
              <a:buNone/>
            </a:pPr>
            <a:r>
              <a:rPr lang="en-US" sz="2200" dirty="0" smtClean="0">
                <a:solidFill>
                  <a:srgbClr val="0000FF"/>
                </a:solidFill>
                <a:latin typeface="Consolas"/>
              </a:rPr>
              <a:t>EXEC</a:t>
            </a:r>
            <a:r>
              <a:rPr lang="en-US" sz="22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2200" dirty="0" err="1" smtClean="0">
                <a:solidFill>
                  <a:srgbClr val="800000"/>
                </a:solidFill>
                <a:latin typeface="Consolas"/>
              </a:rPr>
              <a:t>sp_addlinkedserver</a:t>
            </a:r>
            <a:r>
              <a:rPr lang="en-US" sz="2200" dirty="0" smtClean="0">
                <a:solidFill>
                  <a:srgbClr val="0000FF"/>
                </a:solidFill>
                <a:latin typeface="Consolas"/>
              </a:rPr>
              <a:t> </a:t>
            </a:r>
            <a:r>
              <a:rPr lang="en-US" sz="2200" dirty="0" smtClean="0">
                <a:solidFill>
                  <a:srgbClr val="000000"/>
                </a:solidFill>
                <a:latin typeface="Consolas"/>
              </a:rPr>
              <a:t>@server </a:t>
            </a:r>
            <a:r>
              <a:rPr lang="en-US" sz="2200" dirty="0" smtClean="0">
                <a:solidFill>
                  <a:srgbClr val="808080"/>
                </a:solidFill>
                <a:latin typeface="Consolas"/>
              </a:rPr>
              <a:t>=</a:t>
            </a:r>
            <a:r>
              <a:rPr lang="en-US" sz="22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2200" dirty="0" smtClean="0">
                <a:solidFill>
                  <a:srgbClr val="FF0000"/>
                </a:solidFill>
                <a:latin typeface="Consolas"/>
              </a:rPr>
              <a:t>'DB1'</a:t>
            </a:r>
            <a:r>
              <a:rPr lang="en-US" sz="22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2200" dirty="0" smtClean="0">
                <a:solidFill>
                  <a:srgbClr val="008000"/>
                </a:solidFill>
                <a:latin typeface="Consolas"/>
              </a:rPr>
              <a:t>--or may be server </a:t>
            </a:r>
            <a:r>
              <a:rPr lang="en-US" sz="2200" dirty="0" err="1" smtClean="0">
                <a:solidFill>
                  <a:srgbClr val="008000"/>
                </a:solidFill>
                <a:latin typeface="Consolas"/>
              </a:rPr>
              <a:t>ip</a:t>
            </a:r>
            <a:r>
              <a:rPr lang="en-US" sz="2200" dirty="0" smtClean="0">
                <a:solidFill>
                  <a:srgbClr val="008000"/>
                </a:solidFill>
                <a:latin typeface="Consolas"/>
              </a:rPr>
              <a:t> address</a:t>
            </a:r>
            <a:endParaRPr lang="en-US" sz="2200" dirty="0" smtClean="0">
              <a:solidFill>
                <a:srgbClr val="000000"/>
              </a:solidFill>
              <a:latin typeface="Consolas"/>
            </a:endParaRPr>
          </a:p>
          <a:p>
            <a:pPr>
              <a:buNone/>
            </a:pPr>
            <a:r>
              <a:rPr lang="en-US" sz="2200" dirty="0" smtClean="0">
                <a:solidFill>
                  <a:srgbClr val="0000FF"/>
                </a:solidFill>
                <a:latin typeface="Consolas"/>
              </a:rPr>
              <a:t>EXEC</a:t>
            </a:r>
            <a:r>
              <a:rPr lang="en-US" sz="22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2200" dirty="0" err="1" smtClean="0">
                <a:solidFill>
                  <a:srgbClr val="800000"/>
                </a:solidFill>
                <a:latin typeface="Consolas"/>
              </a:rPr>
              <a:t>sp_addlinkedserver</a:t>
            </a:r>
            <a:r>
              <a:rPr lang="en-US" sz="2200" dirty="0" smtClean="0">
                <a:solidFill>
                  <a:srgbClr val="0000FF"/>
                </a:solidFill>
                <a:latin typeface="Consolas"/>
              </a:rPr>
              <a:t> </a:t>
            </a:r>
            <a:r>
              <a:rPr lang="en-US" sz="2200" dirty="0" smtClean="0">
                <a:solidFill>
                  <a:srgbClr val="000000"/>
                </a:solidFill>
                <a:latin typeface="Consolas"/>
              </a:rPr>
              <a:t>@server </a:t>
            </a:r>
            <a:r>
              <a:rPr lang="en-US" sz="2200" dirty="0" smtClean="0">
                <a:solidFill>
                  <a:srgbClr val="808080"/>
                </a:solidFill>
                <a:latin typeface="Consolas"/>
              </a:rPr>
              <a:t>=</a:t>
            </a:r>
            <a:r>
              <a:rPr lang="en-US" sz="22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2200" dirty="0" smtClean="0">
                <a:solidFill>
                  <a:srgbClr val="FF0000"/>
                </a:solidFill>
                <a:latin typeface="Consolas"/>
              </a:rPr>
              <a:t>'DB2'</a:t>
            </a:r>
            <a:r>
              <a:rPr lang="en-US" sz="22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2200" dirty="0" smtClean="0">
                <a:solidFill>
                  <a:srgbClr val="008000"/>
                </a:solidFill>
                <a:latin typeface="Consolas"/>
              </a:rPr>
              <a:t>--or may be server </a:t>
            </a:r>
            <a:r>
              <a:rPr lang="en-US" sz="2200" dirty="0" err="1" smtClean="0">
                <a:solidFill>
                  <a:srgbClr val="008000"/>
                </a:solidFill>
                <a:latin typeface="Consolas"/>
              </a:rPr>
              <a:t>ip</a:t>
            </a:r>
            <a:r>
              <a:rPr lang="en-US" sz="2200" dirty="0" smtClean="0">
                <a:solidFill>
                  <a:srgbClr val="008000"/>
                </a:solidFill>
                <a:latin typeface="Consolas"/>
              </a:rPr>
              <a:t> address</a:t>
            </a:r>
            <a:endParaRPr lang="en-US" sz="2200" dirty="0" smtClean="0">
              <a:solidFill>
                <a:srgbClr val="000000"/>
              </a:solidFill>
              <a:latin typeface="Consolas"/>
            </a:endParaRPr>
          </a:p>
          <a:p>
            <a:pPr>
              <a:buNone/>
            </a:pPr>
            <a:r>
              <a:rPr lang="en-US" sz="2200" dirty="0" smtClean="0">
                <a:solidFill>
                  <a:srgbClr val="0000FF"/>
                </a:solidFill>
                <a:latin typeface="Consolas"/>
              </a:rPr>
              <a:t>EXEC</a:t>
            </a:r>
            <a:r>
              <a:rPr lang="en-US" sz="22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2200" dirty="0" err="1" smtClean="0">
                <a:solidFill>
                  <a:srgbClr val="800000"/>
                </a:solidFill>
                <a:latin typeface="Consolas"/>
              </a:rPr>
              <a:t>sp_dropserver</a:t>
            </a:r>
            <a:r>
              <a:rPr lang="en-US" sz="2200" dirty="0" smtClean="0">
                <a:solidFill>
                  <a:srgbClr val="0000FF"/>
                </a:solidFill>
                <a:latin typeface="Consolas"/>
              </a:rPr>
              <a:t> </a:t>
            </a:r>
            <a:r>
              <a:rPr lang="en-US" sz="2200" dirty="0" smtClean="0">
                <a:solidFill>
                  <a:srgbClr val="FF0000"/>
                </a:solidFill>
                <a:latin typeface="Consolas"/>
              </a:rPr>
              <a:t>'DB1'</a:t>
            </a:r>
            <a:r>
              <a:rPr lang="en-US" sz="2200" dirty="0" smtClean="0">
                <a:solidFill>
                  <a:srgbClr val="808080"/>
                </a:solidFill>
                <a:latin typeface="Consolas"/>
              </a:rPr>
              <a:t>,</a:t>
            </a:r>
            <a:r>
              <a:rPr lang="en-US" sz="22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2200" dirty="0" smtClean="0">
                <a:solidFill>
                  <a:srgbClr val="FF0000"/>
                </a:solidFill>
                <a:latin typeface="Consolas"/>
              </a:rPr>
              <a:t>'</a:t>
            </a:r>
            <a:r>
              <a:rPr lang="en-US" sz="2200" dirty="0" err="1" smtClean="0">
                <a:solidFill>
                  <a:srgbClr val="FF0000"/>
                </a:solidFill>
                <a:latin typeface="Consolas"/>
              </a:rPr>
              <a:t>droplogins</a:t>
            </a:r>
            <a:r>
              <a:rPr lang="en-US" sz="2200" dirty="0" smtClean="0">
                <a:solidFill>
                  <a:srgbClr val="FF0000"/>
                </a:solidFill>
                <a:latin typeface="Consolas"/>
              </a:rPr>
              <a:t>'</a:t>
            </a:r>
            <a:r>
              <a:rPr lang="en-US" sz="2200" dirty="0" smtClean="0">
                <a:solidFill>
                  <a:srgbClr val="808080"/>
                </a:solidFill>
                <a:latin typeface="Consolas"/>
              </a:rPr>
              <a:t>;</a:t>
            </a:r>
            <a:endParaRPr lang="en-US" sz="2200" dirty="0" smtClean="0">
              <a:solidFill>
                <a:srgbClr val="000000"/>
              </a:solidFill>
              <a:latin typeface="Consolas"/>
            </a:endParaRPr>
          </a:p>
          <a:p>
            <a:pPr>
              <a:buNone/>
            </a:pPr>
            <a:r>
              <a:rPr lang="en-US" sz="2200" dirty="0" smtClean="0">
                <a:solidFill>
                  <a:srgbClr val="0000FF"/>
                </a:solidFill>
                <a:latin typeface="Consolas"/>
              </a:rPr>
              <a:t>select</a:t>
            </a:r>
            <a:r>
              <a:rPr lang="en-US" sz="22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2200" dirty="0" smtClean="0">
                <a:solidFill>
                  <a:srgbClr val="0000FF"/>
                </a:solidFill>
                <a:latin typeface="Consolas"/>
              </a:rPr>
              <a:t>name</a:t>
            </a:r>
            <a:r>
              <a:rPr lang="en-US" sz="22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2200" dirty="0" smtClean="0">
                <a:solidFill>
                  <a:srgbClr val="0000FF"/>
                </a:solidFill>
                <a:latin typeface="Consolas"/>
              </a:rPr>
              <a:t>from</a:t>
            </a:r>
            <a:r>
              <a:rPr lang="en-US" sz="22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2200" dirty="0" err="1" smtClean="0">
                <a:solidFill>
                  <a:srgbClr val="00FF00"/>
                </a:solidFill>
                <a:latin typeface="Consolas"/>
              </a:rPr>
              <a:t>sys</a:t>
            </a:r>
            <a:r>
              <a:rPr lang="en-US" sz="2200" dirty="0" err="1" smtClean="0">
                <a:solidFill>
                  <a:srgbClr val="808080"/>
                </a:solidFill>
                <a:latin typeface="Consolas"/>
              </a:rPr>
              <a:t>.</a:t>
            </a:r>
            <a:r>
              <a:rPr lang="en-US" sz="2200" dirty="0" err="1" smtClean="0">
                <a:solidFill>
                  <a:srgbClr val="00FF00"/>
                </a:solidFill>
                <a:latin typeface="Consolas"/>
              </a:rPr>
              <a:t>servers</a:t>
            </a:r>
            <a:endParaRPr lang="en-US" sz="2200" dirty="0" smtClean="0">
              <a:solidFill>
                <a:srgbClr val="000000"/>
              </a:solidFill>
              <a:latin typeface="Consolas"/>
            </a:endParaRPr>
          </a:p>
          <a:p>
            <a:pPr>
              <a:buNone/>
            </a:pPr>
            <a:r>
              <a:rPr lang="en-US" sz="2200" dirty="0" smtClean="0">
                <a:solidFill>
                  <a:srgbClr val="0000FF"/>
                </a:solidFill>
                <a:latin typeface="Consolas"/>
              </a:rPr>
              <a:t>GO</a:t>
            </a:r>
            <a:endParaRPr lang="en-US" sz="2200" dirty="0" smtClean="0">
              <a:solidFill>
                <a:srgbClr val="000000"/>
              </a:solidFill>
              <a:latin typeface="Consolas"/>
            </a:endParaRPr>
          </a:p>
          <a:p>
            <a:pPr>
              <a:buNone/>
            </a:pPr>
            <a:endParaRPr lang="en-US" sz="2200" dirty="0" smtClean="0">
              <a:solidFill>
                <a:srgbClr val="000000"/>
              </a:solidFill>
              <a:latin typeface="Consola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SELECT From Multiple Servers (I)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bg1">
              <a:lumMod val="95000"/>
            </a:schemeClr>
          </a:solidFill>
        </p:spPr>
        <p:txBody>
          <a:bodyPr/>
          <a:lstStyle/>
          <a:p>
            <a:pPr>
              <a:buNone/>
            </a:pPr>
            <a:r>
              <a:rPr lang="en-US" sz="1800" dirty="0" smtClean="0">
                <a:solidFill>
                  <a:srgbClr val="0000FF"/>
                </a:solidFill>
                <a:latin typeface="Consolas"/>
              </a:rPr>
              <a:t>DECLARE</a:t>
            </a:r>
            <a:r>
              <a:rPr lang="en-US" sz="1800" dirty="0" smtClean="0">
                <a:solidFill>
                  <a:srgbClr val="000000"/>
                </a:solidFill>
                <a:latin typeface="Consolas"/>
              </a:rPr>
              <a:t> @#DB1Companies </a:t>
            </a:r>
            <a:r>
              <a:rPr lang="en-US" sz="1800" dirty="0" err="1" smtClean="0">
                <a:solidFill>
                  <a:srgbClr val="0000FF"/>
                </a:solidFill>
                <a:latin typeface="Consolas"/>
              </a:rPr>
              <a:t>int</a:t>
            </a:r>
            <a:r>
              <a:rPr lang="en-US" sz="1800" dirty="0" smtClean="0">
                <a:solidFill>
                  <a:srgbClr val="808080"/>
                </a:solidFill>
                <a:latin typeface="Consolas"/>
              </a:rPr>
              <a:t>,</a:t>
            </a:r>
            <a:r>
              <a:rPr lang="en-US" sz="1800" dirty="0" smtClean="0">
                <a:solidFill>
                  <a:srgbClr val="000000"/>
                </a:solidFill>
                <a:latin typeface="Consolas"/>
              </a:rPr>
              <a:t> @#DB2Companies </a:t>
            </a:r>
            <a:r>
              <a:rPr lang="en-US" sz="1800" dirty="0" err="1" smtClean="0">
                <a:solidFill>
                  <a:srgbClr val="0000FF"/>
                </a:solidFill>
                <a:latin typeface="Consolas"/>
              </a:rPr>
              <a:t>int</a:t>
            </a:r>
            <a:endParaRPr lang="en-US" sz="1800" dirty="0" smtClean="0">
              <a:solidFill>
                <a:srgbClr val="000000"/>
              </a:solidFill>
              <a:latin typeface="Consolas"/>
            </a:endParaRPr>
          </a:p>
          <a:p>
            <a:pPr>
              <a:buNone/>
            </a:pPr>
            <a:r>
              <a:rPr lang="en-US" sz="1800" dirty="0" smtClean="0">
                <a:solidFill>
                  <a:srgbClr val="0000FF"/>
                </a:solidFill>
                <a:latin typeface="Consolas"/>
              </a:rPr>
              <a:t>DECLARE</a:t>
            </a:r>
            <a:r>
              <a:rPr lang="en-US" sz="1800" dirty="0" smtClean="0">
                <a:solidFill>
                  <a:srgbClr val="000000"/>
                </a:solidFill>
                <a:latin typeface="Consolas"/>
              </a:rPr>
              <a:t> @#DB1Users </a:t>
            </a:r>
            <a:r>
              <a:rPr lang="en-US" sz="1800" dirty="0" err="1" smtClean="0">
                <a:solidFill>
                  <a:srgbClr val="0000FF"/>
                </a:solidFill>
                <a:latin typeface="Consolas"/>
              </a:rPr>
              <a:t>int</a:t>
            </a:r>
            <a:r>
              <a:rPr lang="en-US" sz="1800" dirty="0" smtClean="0">
                <a:solidFill>
                  <a:srgbClr val="808080"/>
                </a:solidFill>
                <a:latin typeface="Consolas"/>
              </a:rPr>
              <a:t>,</a:t>
            </a:r>
            <a:r>
              <a:rPr lang="en-US" sz="1800" dirty="0" smtClean="0">
                <a:solidFill>
                  <a:srgbClr val="000000"/>
                </a:solidFill>
                <a:latin typeface="Consolas"/>
              </a:rPr>
              <a:t> @#DB2Users </a:t>
            </a:r>
            <a:r>
              <a:rPr lang="en-US" sz="1800" dirty="0" err="1" smtClean="0">
                <a:solidFill>
                  <a:srgbClr val="0000FF"/>
                </a:solidFill>
                <a:latin typeface="Consolas"/>
              </a:rPr>
              <a:t>int</a:t>
            </a:r>
            <a:endParaRPr lang="en-US" sz="1800" dirty="0" smtClean="0">
              <a:solidFill>
                <a:srgbClr val="000000"/>
              </a:solidFill>
              <a:latin typeface="Consolas"/>
            </a:endParaRPr>
          </a:p>
          <a:p>
            <a:pPr>
              <a:buNone/>
            </a:pPr>
            <a:endParaRPr lang="en-US" sz="1800" dirty="0" smtClean="0">
              <a:solidFill>
                <a:srgbClr val="000000"/>
              </a:solidFill>
              <a:latin typeface="Consolas"/>
            </a:endParaRPr>
          </a:p>
          <a:p>
            <a:pPr>
              <a:buNone/>
            </a:pPr>
            <a:r>
              <a:rPr lang="en-US" sz="1800" dirty="0" smtClean="0">
                <a:solidFill>
                  <a:srgbClr val="0000FF"/>
                </a:solidFill>
                <a:latin typeface="Consolas"/>
              </a:rPr>
              <a:t>SELECT</a:t>
            </a:r>
            <a:r>
              <a:rPr lang="en-US" sz="1800" dirty="0" smtClean="0">
                <a:solidFill>
                  <a:srgbClr val="000000"/>
                </a:solidFill>
                <a:latin typeface="Consolas"/>
              </a:rPr>
              <a:t> @#DB1Companies </a:t>
            </a:r>
            <a:r>
              <a:rPr lang="en-US" sz="1800" dirty="0" smtClean="0">
                <a:solidFill>
                  <a:srgbClr val="808080"/>
                </a:solidFill>
                <a:latin typeface="Consolas"/>
              </a:rPr>
              <a:t>=</a:t>
            </a:r>
            <a:r>
              <a:rPr lang="en-US" sz="18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800" dirty="0" smtClean="0">
                <a:solidFill>
                  <a:srgbClr val="FF00FF"/>
                </a:solidFill>
                <a:latin typeface="Consolas"/>
              </a:rPr>
              <a:t>COUNT</a:t>
            </a:r>
            <a:r>
              <a:rPr lang="en-US" sz="1800" dirty="0" smtClean="0">
                <a:solidFill>
                  <a:srgbClr val="0000FF"/>
                </a:solidFill>
                <a:latin typeface="Consolas"/>
              </a:rPr>
              <a:t> </a:t>
            </a:r>
            <a:r>
              <a:rPr lang="en-US" sz="1800" dirty="0" smtClean="0">
                <a:solidFill>
                  <a:srgbClr val="808080"/>
                </a:solidFill>
                <a:latin typeface="Consolas"/>
              </a:rPr>
              <a:t>(*)</a:t>
            </a:r>
            <a:r>
              <a:rPr lang="en-US" sz="18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800" dirty="0" smtClean="0">
                <a:solidFill>
                  <a:srgbClr val="0000FF"/>
                </a:solidFill>
                <a:latin typeface="Consolas"/>
              </a:rPr>
              <a:t>FROM</a:t>
            </a:r>
            <a:r>
              <a:rPr lang="en-US" sz="1800" dirty="0" smtClean="0">
                <a:solidFill>
                  <a:srgbClr val="000000"/>
                </a:solidFill>
                <a:latin typeface="Consolas"/>
              </a:rPr>
              <a:t> [DB1DB]</a:t>
            </a:r>
            <a:r>
              <a:rPr lang="en-US" sz="1800" dirty="0" smtClean="0">
                <a:solidFill>
                  <a:srgbClr val="808080"/>
                </a:solidFill>
                <a:latin typeface="Consolas"/>
              </a:rPr>
              <a:t>.</a:t>
            </a:r>
            <a:r>
              <a:rPr lang="en-US" sz="1800" dirty="0" smtClean="0">
                <a:solidFill>
                  <a:srgbClr val="000000"/>
                </a:solidFill>
                <a:latin typeface="Consolas"/>
              </a:rPr>
              <a:t>[db1.example.com]</a:t>
            </a:r>
            <a:r>
              <a:rPr lang="en-US" sz="1800" dirty="0" smtClean="0">
                <a:solidFill>
                  <a:srgbClr val="808080"/>
                </a:solidFill>
                <a:latin typeface="Consolas"/>
              </a:rPr>
              <a:t>.</a:t>
            </a:r>
            <a:r>
              <a:rPr lang="en-US" sz="1800" dirty="0" smtClean="0">
                <a:solidFill>
                  <a:srgbClr val="000000"/>
                </a:solidFill>
                <a:latin typeface="Consolas"/>
              </a:rPr>
              <a:t>[</a:t>
            </a:r>
            <a:r>
              <a:rPr lang="en-US" sz="1800" dirty="0" err="1" smtClean="0">
                <a:solidFill>
                  <a:srgbClr val="000000"/>
                </a:solidFill>
                <a:latin typeface="Consolas"/>
              </a:rPr>
              <a:t>dbo</a:t>
            </a:r>
            <a:r>
              <a:rPr lang="en-US" sz="1800" dirty="0" smtClean="0">
                <a:solidFill>
                  <a:srgbClr val="000000"/>
                </a:solidFill>
                <a:latin typeface="Consolas"/>
              </a:rPr>
              <a:t>]</a:t>
            </a:r>
            <a:r>
              <a:rPr lang="en-US" sz="1800" dirty="0" smtClean="0">
                <a:solidFill>
                  <a:srgbClr val="808080"/>
                </a:solidFill>
                <a:latin typeface="Consolas"/>
              </a:rPr>
              <a:t>.</a:t>
            </a:r>
            <a:r>
              <a:rPr lang="en-US" sz="1800" dirty="0" smtClean="0">
                <a:solidFill>
                  <a:srgbClr val="000000"/>
                </a:solidFill>
                <a:latin typeface="Consolas"/>
              </a:rPr>
              <a:t>[</a:t>
            </a:r>
            <a:r>
              <a:rPr lang="en-US" sz="1800" dirty="0" err="1" smtClean="0">
                <a:solidFill>
                  <a:srgbClr val="000000"/>
                </a:solidFill>
                <a:latin typeface="Consolas"/>
              </a:rPr>
              <a:t>SNS_Companies</a:t>
            </a:r>
            <a:r>
              <a:rPr lang="en-US" sz="1800" dirty="0" smtClean="0">
                <a:solidFill>
                  <a:srgbClr val="000000"/>
                </a:solidFill>
                <a:latin typeface="Consolas"/>
              </a:rPr>
              <a:t>]</a:t>
            </a:r>
          </a:p>
          <a:p>
            <a:pPr>
              <a:buNone/>
            </a:pPr>
            <a:r>
              <a:rPr lang="en-US" sz="1800" dirty="0" smtClean="0">
                <a:solidFill>
                  <a:srgbClr val="0000FF"/>
                </a:solidFill>
                <a:latin typeface="Consolas"/>
              </a:rPr>
              <a:t>WHERE</a:t>
            </a:r>
            <a:r>
              <a:rPr lang="en-US" sz="18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800" dirty="0" smtClean="0">
                <a:solidFill>
                  <a:srgbClr val="FF00FF"/>
                </a:solidFill>
                <a:latin typeface="Consolas"/>
              </a:rPr>
              <a:t>ISNULL</a:t>
            </a:r>
            <a:r>
              <a:rPr lang="en-US" sz="1800" dirty="0" smtClean="0">
                <a:solidFill>
                  <a:srgbClr val="808080"/>
                </a:solidFill>
                <a:latin typeface="Consolas"/>
              </a:rPr>
              <a:t>(</a:t>
            </a:r>
            <a:r>
              <a:rPr lang="en-US" sz="1800" dirty="0" err="1" smtClean="0">
                <a:solidFill>
                  <a:srgbClr val="000000"/>
                </a:solidFill>
                <a:latin typeface="Consolas"/>
              </a:rPr>
              <a:t>IsDeleted</a:t>
            </a:r>
            <a:r>
              <a:rPr lang="en-US" sz="1800" dirty="0" smtClean="0">
                <a:solidFill>
                  <a:srgbClr val="808080"/>
                </a:solidFill>
                <a:latin typeface="Consolas"/>
              </a:rPr>
              <a:t>,</a:t>
            </a:r>
            <a:r>
              <a:rPr lang="en-US" sz="1800" dirty="0" smtClean="0">
                <a:solidFill>
                  <a:srgbClr val="000000"/>
                </a:solidFill>
                <a:latin typeface="Consolas"/>
              </a:rPr>
              <a:t> 0</a:t>
            </a:r>
            <a:r>
              <a:rPr lang="en-US" sz="1800" dirty="0" smtClean="0">
                <a:solidFill>
                  <a:srgbClr val="808080"/>
                </a:solidFill>
                <a:latin typeface="Consolas"/>
              </a:rPr>
              <a:t>)</a:t>
            </a:r>
            <a:r>
              <a:rPr lang="en-US" sz="18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800" dirty="0" smtClean="0">
                <a:solidFill>
                  <a:srgbClr val="808080"/>
                </a:solidFill>
                <a:latin typeface="Consolas"/>
              </a:rPr>
              <a:t>&lt;&gt;</a:t>
            </a:r>
            <a:r>
              <a:rPr lang="en-US" sz="1800" dirty="0" smtClean="0">
                <a:solidFill>
                  <a:srgbClr val="000000"/>
                </a:solidFill>
                <a:latin typeface="Consolas"/>
              </a:rPr>
              <a:t> 1</a:t>
            </a:r>
          </a:p>
          <a:p>
            <a:pPr>
              <a:buNone/>
            </a:pPr>
            <a:endParaRPr lang="en-US" sz="1800" dirty="0" smtClean="0">
              <a:solidFill>
                <a:srgbClr val="000000"/>
              </a:solidFill>
              <a:latin typeface="Consolas"/>
            </a:endParaRPr>
          </a:p>
          <a:p>
            <a:pPr>
              <a:buNone/>
            </a:pPr>
            <a:r>
              <a:rPr lang="en-US" sz="1800" dirty="0" smtClean="0">
                <a:solidFill>
                  <a:srgbClr val="0000FF"/>
                </a:solidFill>
                <a:latin typeface="Consolas"/>
              </a:rPr>
              <a:t>SELECT</a:t>
            </a:r>
            <a:r>
              <a:rPr lang="en-US" sz="1800" dirty="0" smtClean="0">
                <a:solidFill>
                  <a:srgbClr val="000000"/>
                </a:solidFill>
                <a:latin typeface="Consolas"/>
              </a:rPr>
              <a:t> @#DB2Companies </a:t>
            </a:r>
            <a:r>
              <a:rPr lang="en-US" sz="1800" dirty="0" smtClean="0">
                <a:solidFill>
                  <a:srgbClr val="808080"/>
                </a:solidFill>
                <a:latin typeface="Consolas"/>
              </a:rPr>
              <a:t>=</a:t>
            </a:r>
            <a:r>
              <a:rPr lang="en-US" sz="18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800" dirty="0" smtClean="0">
                <a:solidFill>
                  <a:srgbClr val="FF00FF"/>
                </a:solidFill>
                <a:latin typeface="Consolas"/>
              </a:rPr>
              <a:t>COUNT</a:t>
            </a:r>
            <a:r>
              <a:rPr lang="en-US" sz="1800" dirty="0" smtClean="0">
                <a:solidFill>
                  <a:srgbClr val="0000FF"/>
                </a:solidFill>
                <a:latin typeface="Consolas"/>
              </a:rPr>
              <a:t> </a:t>
            </a:r>
            <a:r>
              <a:rPr lang="en-US" sz="1800" dirty="0" smtClean="0">
                <a:solidFill>
                  <a:srgbClr val="808080"/>
                </a:solidFill>
                <a:latin typeface="Consolas"/>
              </a:rPr>
              <a:t>(*)</a:t>
            </a:r>
            <a:r>
              <a:rPr lang="en-US" sz="18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800" dirty="0" smtClean="0">
                <a:solidFill>
                  <a:srgbClr val="0000FF"/>
                </a:solidFill>
                <a:latin typeface="Consolas"/>
              </a:rPr>
              <a:t>FROM</a:t>
            </a:r>
            <a:r>
              <a:rPr lang="en-US" sz="1800" dirty="0" smtClean="0">
                <a:solidFill>
                  <a:srgbClr val="000000"/>
                </a:solidFill>
                <a:latin typeface="Consolas"/>
              </a:rPr>
              <a:t> [DB2DB]</a:t>
            </a:r>
            <a:r>
              <a:rPr lang="en-US" sz="1800" dirty="0" smtClean="0">
                <a:solidFill>
                  <a:srgbClr val="808080"/>
                </a:solidFill>
                <a:latin typeface="Consolas"/>
              </a:rPr>
              <a:t>.</a:t>
            </a:r>
            <a:r>
              <a:rPr lang="en-US" sz="1800" dirty="0" smtClean="0">
                <a:solidFill>
                  <a:srgbClr val="000000"/>
                </a:solidFill>
                <a:latin typeface="Consolas"/>
              </a:rPr>
              <a:t>[db2.example.com]</a:t>
            </a:r>
            <a:r>
              <a:rPr lang="en-US" sz="1800" dirty="0" smtClean="0">
                <a:solidFill>
                  <a:srgbClr val="808080"/>
                </a:solidFill>
                <a:latin typeface="Consolas"/>
              </a:rPr>
              <a:t>.</a:t>
            </a:r>
            <a:r>
              <a:rPr lang="en-US" sz="1800" dirty="0" smtClean="0">
                <a:solidFill>
                  <a:srgbClr val="000000"/>
                </a:solidFill>
                <a:latin typeface="Consolas"/>
              </a:rPr>
              <a:t>[</a:t>
            </a:r>
            <a:r>
              <a:rPr lang="en-US" sz="1800" dirty="0" err="1" smtClean="0">
                <a:solidFill>
                  <a:srgbClr val="000000"/>
                </a:solidFill>
                <a:latin typeface="Consolas"/>
              </a:rPr>
              <a:t>dbo</a:t>
            </a:r>
            <a:r>
              <a:rPr lang="en-US" sz="1800" dirty="0" smtClean="0">
                <a:solidFill>
                  <a:srgbClr val="000000"/>
                </a:solidFill>
                <a:latin typeface="Consolas"/>
              </a:rPr>
              <a:t>]</a:t>
            </a:r>
            <a:r>
              <a:rPr lang="en-US" sz="1800" dirty="0" smtClean="0">
                <a:solidFill>
                  <a:srgbClr val="808080"/>
                </a:solidFill>
                <a:latin typeface="Consolas"/>
              </a:rPr>
              <a:t>.</a:t>
            </a:r>
            <a:r>
              <a:rPr lang="en-US" sz="1800" dirty="0" smtClean="0">
                <a:solidFill>
                  <a:srgbClr val="000000"/>
                </a:solidFill>
                <a:latin typeface="Consolas"/>
              </a:rPr>
              <a:t>[</a:t>
            </a:r>
            <a:r>
              <a:rPr lang="en-US" sz="1800" dirty="0" err="1" smtClean="0">
                <a:solidFill>
                  <a:srgbClr val="000000"/>
                </a:solidFill>
                <a:latin typeface="Consolas"/>
              </a:rPr>
              <a:t>SNS_Companies</a:t>
            </a:r>
            <a:r>
              <a:rPr lang="en-US" sz="1800" dirty="0" smtClean="0">
                <a:solidFill>
                  <a:srgbClr val="000000"/>
                </a:solidFill>
                <a:latin typeface="Consolas"/>
              </a:rPr>
              <a:t>]</a:t>
            </a:r>
          </a:p>
          <a:p>
            <a:pPr>
              <a:buNone/>
            </a:pPr>
            <a:r>
              <a:rPr lang="en-US" sz="1800" dirty="0" smtClean="0">
                <a:solidFill>
                  <a:srgbClr val="0000FF"/>
                </a:solidFill>
                <a:latin typeface="Consolas"/>
              </a:rPr>
              <a:t>WHERE</a:t>
            </a:r>
            <a:r>
              <a:rPr lang="en-US" sz="18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800" dirty="0" smtClean="0">
                <a:solidFill>
                  <a:srgbClr val="FF00FF"/>
                </a:solidFill>
                <a:latin typeface="Consolas"/>
              </a:rPr>
              <a:t>ISNULL</a:t>
            </a:r>
            <a:r>
              <a:rPr lang="en-US" sz="1800" dirty="0" smtClean="0">
                <a:solidFill>
                  <a:srgbClr val="808080"/>
                </a:solidFill>
                <a:latin typeface="Consolas"/>
              </a:rPr>
              <a:t>(</a:t>
            </a:r>
            <a:r>
              <a:rPr lang="en-US" sz="1800" dirty="0" err="1" smtClean="0">
                <a:solidFill>
                  <a:srgbClr val="000000"/>
                </a:solidFill>
                <a:latin typeface="Consolas"/>
              </a:rPr>
              <a:t>IsDeleted</a:t>
            </a:r>
            <a:r>
              <a:rPr lang="en-US" sz="1800" dirty="0" smtClean="0">
                <a:solidFill>
                  <a:srgbClr val="808080"/>
                </a:solidFill>
                <a:latin typeface="Consolas"/>
              </a:rPr>
              <a:t>,</a:t>
            </a:r>
            <a:r>
              <a:rPr lang="en-US" sz="1800" dirty="0" smtClean="0">
                <a:solidFill>
                  <a:srgbClr val="000000"/>
                </a:solidFill>
                <a:latin typeface="Consolas"/>
              </a:rPr>
              <a:t> 0</a:t>
            </a:r>
            <a:r>
              <a:rPr lang="en-US" sz="1800" dirty="0" smtClean="0">
                <a:solidFill>
                  <a:srgbClr val="808080"/>
                </a:solidFill>
                <a:latin typeface="Consolas"/>
              </a:rPr>
              <a:t>)</a:t>
            </a:r>
            <a:r>
              <a:rPr lang="en-US" sz="18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800" dirty="0" smtClean="0">
                <a:solidFill>
                  <a:srgbClr val="808080"/>
                </a:solidFill>
                <a:latin typeface="Consolas"/>
              </a:rPr>
              <a:t>&lt;&gt;</a:t>
            </a:r>
            <a:r>
              <a:rPr lang="en-US" sz="1800" dirty="0" smtClean="0">
                <a:solidFill>
                  <a:srgbClr val="000000"/>
                </a:solidFill>
                <a:latin typeface="Consolas"/>
              </a:rPr>
              <a:t> 1</a:t>
            </a:r>
          </a:p>
          <a:p>
            <a:pPr>
              <a:buNone/>
            </a:pPr>
            <a:endParaRPr lang="en-US" sz="1800" dirty="0" smtClean="0">
              <a:solidFill>
                <a:srgbClr val="000000"/>
              </a:solidFill>
              <a:latin typeface="Consolas"/>
            </a:endParaRPr>
          </a:p>
          <a:p>
            <a:pPr>
              <a:buNone/>
            </a:pPr>
            <a:r>
              <a:rPr lang="en-US" sz="1800" dirty="0" smtClean="0">
                <a:solidFill>
                  <a:srgbClr val="0000FF"/>
                </a:solidFill>
                <a:latin typeface="Consolas"/>
              </a:rPr>
              <a:t>SELECT</a:t>
            </a:r>
            <a:r>
              <a:rPr lang="en-US" sz="1800" dirty="0" smtClean="0">
                <a:solidFill>
                  <a:srgbClr val="000000"/>
                </a:solidFill>
                <a:latin typeface="Consolas"/>
              </a:rPr>
              <a:t> @#DB1Companies </a:t>
            </a:r>
            <a:r>
              <a:rPr lang="en-US" sz="1800" dirty="0" smtClean="0">
                <a:solidFill>
                  <a:srgbClr val="808080"/>
                </a:solidFill>
                <a:latin typeface="Consolas"/>
              </a:rPr>
              <a:t>+</a:t>
            </a:r>
            <a:r>
              <a:rPr lang="en-US" sz="1800" dirty="0" smtClean="0">
                <a:solidFill>
                  <a:srgbClr val="000000"/>
                </a:solidFill>
                <a:latin typeface="Consolas"/>
              </a:rPr>
              <a:t> @#DB2Companies </a:t>
            </a:r>
            <a:r>
              <a:rPr lang="en-US" sz="1800" dirty="0" smtClean="0">
                <a:solidFill>
                  <a:srgbClr val="0000FF"/>
                </a:solidFill>
                <a:latin typeface="Consolas"/>
              </a:rPr>
              <a:t>AS</a:t>
            </a:r>
            <a:r>
              <a:rPr lang="en-US" sz="18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800" dirty="0" smtClean="0">
                <a:solidFill>
                  <a:srgbClr val="FF0000"/>
                </a:solidFill>
                <a:latin typeface="Consolas"/>
              </a:rPr>
              <a:t>'# Companies'</a:t>
            </a:r>
            <a:endParaRPr lang="en-US" sz="1800" dirty="0" smtClean="0">
              <a:solidFill>
                <a:srgbClr val="000000"/>
              </a:solidFill>
              <a:latin typeface="Consolas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SELECT From Multiple Servers (II)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bg1">
              <a:lumMod val="95000"/>
            </a:schemeClr>
          </a:solidFill>
        </p:spPr>
        <p:txBody>
          <a:bodyPr/>
          <a:lstStyle/>
          <a:p>
            <a:pPr>
              <a:buNone/>
            </a:pPr>
            <a:r>
              <a:rPr lang="en-US" sz="1600" dirty="0" smtClean="0">
                <a:solidFill>
                  <a:srgbClr val="0000FF"/>
                </a:solidFill>
                <a:latin typeface="Consolas"/>
              </a:rPr>
              <a:t>DECLARE</a:t>
            </a:r>
            <a:r>
              <a:rPr lang="en-US" sz="1600" dirty="0" smtClean="0">
                <a:solidFill>
                  <a:srgbClr val="000000"/>
                </a:solidFill>
                <a:latin typeface="Consolas"/>
              </a:rPr>
              <a:t> @#DB1FullUsers </a:t>
            </a:r>
            <a:r>
              <a:rPr lang="en-US" sz="1600" dirty="0" err="1" smtClean="0">
                <a:solidFill>
                  <a:srgbClr val="0000FF"/>
                </a:solidFill>
                <a:latin typeface="Consolas"/>
              </a:rPr>
              <a:t>int</a:t>
            </a:r>
            <a:r>
              <a:rPr lang="en-US" sz="1600" dirty="0" smtClean="0">
                <a:solidFill>
                  <a:srgbClr val="808080"/>
                </a:solidFill>
                <a:latin typeface="Consolas"/>
              </a:rPr>
              <a:t>,</a:t>
            </a:r>
            <a:r>
              <a:rPr lang="en-US" sz="1600" dirty="0" smtClean="0">
                <a:solidFill>
                  <a:srgbClr val="000000"/>
                </a:solidFill>
                <a:latin typeface="Consolas"/>
              </a:rPr>
              <a:t> @#DB2FullUsers </a:t>
            </a:r>
            <a:r>
              <a:rPr lang="en-US" sz="1600" dirty="0" err="1" smtClean="0">
                <a:solidFill>
                  <a:srgbClr val="0000FF"/>
                </a:solidFill>
                <a:latin typeface="Consolas"/>
              </a:rPr>
              <a:t>int</a:t>
            </a:r>
            <a:endParaRPr lang="en-US" sz="1600" dirty="0" smtClean="0">
              <a:solidFill>
                <a:srgbClr val="000000"/>
              </a:solidFill>
              <a:latin typeface="Consolas"/>
            </a:endParaRPr>
          </a:p>
          <a:p>
            <a:pPr>
              <a:buNone/>
            </a:pPr>
            <a:endParaRPr lang="en-US" sz="1600" dirty="0" smtClean="0">
              <a:solidFill>
                <a:srgbClr val="000000"/>
              </a:solidFill>
              <a:latin typeface="Consolas"/>
            </a:endParaRPr>
          </a:p>
          <a:p>
            <a:pPr>
              <a:buNone/>
            </a:pPr>
            <a:r>
              <a:rPr lang="en-US" sz="1600" dirty="0" smtClean="0">
                <a:solidFill>
                  <a:srgbClr val="0000FF"/>
                </a:solidFill>
                <a:latin typeface="Consolas"/>
              </a:rPr>
              <a:t>SELECT</a:t>
            </a:r>
            <a:r>
              <a:rPr lang="en-US" sz="1600" dirty="0" smtClean="0">
                <a:solidFill>
                  <a:srgbClr val="000000"/>
                </a:solidFill>
                <a:latin typeface="Consolas"/>
              </a:rPr>
              <a:t> @#DB1FullUsers </a:t>
            </a:r>
            <a:r>
              <a:rPr lang="en-US" sz="1600" dirty="0" smtClean="0">
                <a:solidFill>
                  <a:srgbClr val="808080"/>
                </a:solidFill>
                <a:latin typeface="Consolas"/>
              </a:rPr>
              <a:t>=</a:t>
            </a:r>
            <a:r>
              <a:rPr lang="en-US" sz="16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600" dirty="0" smtClean="0">
                <a:solidFill>
                  <a:srgbClr val="FF00FF"/>
                </a:solidFill>
                <a:latin typeface="Consolas"/>
              </a:rPr>
              <a:t>COUNT</a:t>
            </a:r>
            <a:r>
              <a:rPr lang="en-US" sz="1600" dirty="0" smtClean="0">
                <a:solidFill>
                  <a:srgbClr val="808080"/>
                </a:solidFill>
                <a:latin typeface="Consolas"/>
              </a:rPr>
              <a:t>(</a:t>
            </a:r>
            <a:r>
              <a:rPr lang="en-US" sz="1600" dirty="0" smtClean="0">
                <a:solidFill>
                  <a:srgbClr val="0000FF"/>
                </a:solidFill>
                <a:latin typeface="Consolas"/>
              </a:rPr>
              <a:t>DISTINCT</a:t>
            </a:r>
            <a:r>
              <a:rPr lang="en-US" sz="16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600" dirty="0" err="1" smtClean="0">
                <a:solidFill>
                  <a:srgbClr val="000000"/>
                </a:solidFill>
                <a:latin typeface="Consolas"/>
              </a:rPr>
              <a:t>Membership</a:t>
            </a:r>
            <a:r>
              <a:rPr lang="en-US" sz="1600" dirty="0" err="1" smtClean="0">
                <a:solidFill>
                  <a:srgbClr val="808080"/>
                </a:solidFill>
                <a:latin typeface="Consolas"/>
              </a:rPr>
              <a:t>.</a:t>
            </a:r>
            <a:r>
              <a:rPr lang="en-US" sz="1600" dirty="0" err="1" smtClean="0">
                <a:solidFill>
                  <a:srgbClr val="000000"/>
                </a:solidFill>
                <a:latin typeface="Consolas"/>
              </a:rPr>
              <a:t>UserId</a:t>
            </a:r>
            <a:r>
              <a:rPr lang="en-US" sz="1600" dirty="0" smtClean="0">
                <a:solidFill>
                  <a:srgbClr val="808080"/>
                </a:solidFill>
                <a:latin typeface="Consolas"/>
              </a:rPr>
              <a:t>)</a:t>
            </a:r>
            <a:endParaRPr lang="en-US" sz="1600" dirty="0" smtClean="0">
              <a:solidFill>
                <a:srgbClr val="000000"/>
              </a:solidFill>
              <a:latin typeface="Consolas"/>
            </a:endParaRPr>
          </a:p>
          <a:p>
            <a:pPr>
              <a:buNone/>
            </a:pPr>
            <a:r>
              <a:rPr lang="en-US" sz="1600" dirty="0" smtClean="0">
                <a:solidFill>
                  <a:srgbClr val="0000FF"/>
                </a:solidFill>
                <a:latin typeface="Consolas"/>
              </a:rPr>
              <a:t>FROM</a:t>
            </a:r>
            <a:r>
              <a:rPr lang="en-US" sz="1600" dirty="0" smtClean="0">
                <a:solidFill>
                  <a:srgbClr val="000000"/>
                </a:solidFill>
                <a:latin typeface="Consolas"/>
              </a:rPr>
              <a:t> [DB1DB]</a:t>
            </a:r>
            <a:r>
              <a:rPr lang="en-US" sz="1600" dirty="0" smtClean="0">
                <a:solidFill>
                  <a:srgbClr val="808080"/>
                </a:solidFill>
                <a:latin typeface="Consolas"/>
              </a:rPr>
              <a:t>.</a:t>
            </a:r>
            <a:r>
              <a:rPr lang="en-US" sz="1600" dirty="0" smtClean="0">
                <a:solidFill>
                  <a:srgbClr val="000000"/>
                </a:solidFill>
                <a:latin typeface="Consolas"/>
              </a:rPr>
              <a:t>[db1.example.com]</a:t>
            </a:r>
            <a:r>
              <a:rPr lang="en-US" sz="1600" dirty="0" smtClean="0">
                <a:solidFill>
                  <a:srgbClr val="808080"/>
                </a:solidFill>
                <a:latin typeface="Consolas"/>
              </a:rPr>
              <a:t>.</a:t>
            </a:r>
            <a:r>
              <a:rPr lang="en-US" sz="1600" dirty="0" smtClean="0">
                <a:solidFill>
                  <a:srgbClr val="000000"/>
                </a:solidFill>
                <a:latin typeface="Consolas"/>
              </a:rPr>
              <a:t>[</a:t>
            </a:r>
            <a:r>
              <a:rPr lang="en-US" sz="1600" dirty="0" err="1" smtClean="0">
                <a:solidFill>
                  <a:srgbClr val="000000"/>
                </a:solidFill>
                <a:latin typeface="Consolas"/>
              </a:rPr>
              <a:t>dbo</a:t>
            </a:r>
            <a:r>
              <a:rPr lang="en-US" sz="1600" dirty="0" smtClean="0">
                <a:solidFill>
                  <a:srgbClr val="000000"/>
                </a:solidFill>
                <a:latin typeface="Consolas"/>
              </a:rPr>
              <a:t>]</a:t>
            </a:r>
            <a:r>
              <a:rPr lang="en-US" sz="1600" dirty="0" smtClean="0">
                <a:solidFill>
                  <a:srgbClr val="808080"/>
                </a:solidFill>
                <a:latin typeface="Consolas"/>
              </a:rPr>
              <a:t>.</a:t>
            </a:r>
            <a:r>
              <a:rPr lang="en-US" sz="1600" dirty="0" smtClean="0">
                <a:solidFill>
                  <a:srgbClr val="000000"/>
                </a:solidFill>
                <a:latin typeface="Consolas"/>
              </a:rPr>
              <a:t>[</a:t>
            </a:r>
            <a:r>
              <a:rPr lang="en-US" sz="1600" dirty="0" err="1" smtClean="0">
                <a:solidFill>
                  <a:srgbClr val="000000"/>
                </a:solidFill>
                <a:latin typeface="Consolas"/>
              </a:rPr>
              <a:t>aspnet_Membership</a:t>
            </a:r>
            <a:r>
              <a:rPr lang="en-US" sz="1600" dirty="0" smtClean="0">
                <a:solidFill>
                  <a:srgbClr val="000000"/>
                </a:solidFill>
                <a:latin typeface="Consolas"/>
              </a:rPr>
              <a:t>] Membership</a:t>
            </a:r>
          </a:p>
          <a:p>
            <a:pPr>
              <a:buNone/>
            </a:pPr>
            <a:r>
              <a:rPr lang="en-US" sz="1600" dirty="0" smtClean="0">
                <a:solidFill>
                  <a:srgbClr val="808080"/>
                </a:solidFill>
                <a:latin typeface="Consolas"/>
              </a:rPr>
              <a:t>INNER</a:t>
            </a:r>
            <a:r>
              <a:rPr lang="en-US" sz="16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600" dirty="0" smtClean="0">
                <a:solidFill>
                  <a:srgbClr val="808080"/>
                </a:solidFill>
                <a:latin typeface="Consolas"/>
              </a:rPr>
              <a:t>JOIN</a:t>
            </a:r>
            <a:r>
              <a:rPr lang="en-US" sz="1600" dirty="0" smtClean="0">
                <a:solidFill>
                  <a:srgbClr val="000000"/>
                </a:solidFill>
                <a:latin typeface="Consolas"/>
              </a:rPr>
              <a:t> [DB1DB]</a:t>
            </a:r>
            <a:r>
              <a:rPr lang="en-US" sz="1600" dirty="0" smtClean="0">
                <a:solidFill>
                  <a:srgbClr val="808080"/>
                </a:solidFill>
                <a:latin typeface="Consolas"/>
              </a:rPr>
              <a:t>.</a:t>
            </a:r>
            <a:r>
              <a:rPr lang="en-US" sz="1600" dirty="0" smtClean="0">
                <a:solidFill>
                  <a:srgbClr val="000000"/>
                </a:solidFill>
                <a:latin typeface="Consolas"/>
              </a:rPr>
              <a:t>[db1.example.com]</a:t>
            </a:r>
            <a:r>
              <a:rPr lang="en-US" sz="1600" dirty="0" smtClean="0">
                <a:solidFill>
                  <a:srgbClr val="808080"/>
                </a:solidFill>
                <a:latin typeface="Consolas"/>
              </a:rPr>
              <a:t>.</a:t>
            </a:r>
            <a:r>
              <a:rPr lang="en-US" sz="1600" dirty="0" smtClean="0">
                <a:solidFill>
                  <a:srgbClr val="000000"/>
                </a:solidFill>
                <a:latin typeface="Consolas"/>
              </a:rPr>
              <a:t>[</a:t>
            </a:r>
            <a:r>
              <a:rPr lang="en-US" sz="1600" dirty="0" err="1" smtClean="0">
                <a:solidFill>
                  <a:srgbClr val="000000"/>
                </a:solidFill>
                <a:latin typeface="Consolas"/>
              </a:rPr>
              <a:t>dbo</a:t>
            </a:r>
            <a:r>
              <a:rPr lang="en-US" sz="1600" dirty="0" smtClean="0">
                <a:solidFill>
                  <a:srgbClr val="000000"/>
                </a:solidFill>
                <a:latin typeface="Consolas"/>
              </a:rPr>
              <a:t>]</a:t>
            </a:r>
            <a:r>
              <a:rPr lang="en-US" sz="1600" dirty="0" smtClean="0">
                <a:solidFill>
                  <a:srgbClr val="808080"/>
                </a:solidFill>
                <a:latin typeface="Consolas"/>
              </a:rPr>
              <a:t>.</a:t>
            </a:r>
            <a:r>
              <a:rPr lang="en-US" sz="1600" dirty="0" smtClean="0">
                <a:solidFill>
                  <a:srgbClr val="000000"/>
                </a:solidFill>
                <a:latin typeface="Consolas"/>
              </a:rPr>
              <a:t>[</a:t>
            </a:r>
            <a:r>
              <a:rPr lang="en-US" sz="1600" dirty="0" err="1" smtClean="0">
                <a:solidFill>
                  <a:srgbClr val="000000"/>
                </a:solidFill>
                <a:latin typeface="Consolas"/>
              </a:rPr>
              <a:t>aspnet_Users</a:t>
            </a:r>
            <a:r>
              <a:rPr lang="en-US" sz="1600" dirty="0" smtClean="0">
                <a:solidFill>
                  <a:srgbClr val="000000"/>
                </a:solidFill>
                <a:latin typeface="Consolas"/>
              </a:rPr>
              <a:t>] Users </a:t>
            </a:r>
            <a:r>
              <a:rPr lang="en-US" sz="1600" dirty="0" smtClean="0">
                <a:solidFill>
                  <a:srgbClr val="0000FF"/>
                </a:solidFill>
                <a:latin typeface="Consolas"/>
              </a:rPr>
              <a:t>ON</a:t>
            </a:r>
            <a:r>
              <a:rPr lang="en-US" sz="16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600" dirty="0" err="1" smtClean="0">
                <a:solidFill>
                  <a:srgbClr val="000000"/>
                </a:solidFill>
                <a:latin typeface="Consolas"/>
              </a:rPr>
              <a:t>Users</a:t>
            </a:r>
            <a:r>
              <a:rPr lang="en-US" sz="1600" dirty="0" err="1" smtClean="0">
                <a:solidFill>
                  <a:srgbClr val="808080"/>
                </a:solidFill>
                <a:latin typeface="Consolas"/>
              </a:rPr>
              <a:t>.</a:t>
            </a:r>
            <a:r>
              <a:rPr lang="en-US" sz="1600" dirty="0" err="1" smtClean="0">
                <a:solidFill>
                  <a:srgbClr val="000000"/>
                </a:solidFill>
                <a:latin typeface="Consolas"/>
              </a:rPr>
              <a:t>UserId</a:t>
            </a:r>
            <a:r>
              <a:rPr lang="en-US" sz="16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600" dirty="0" smtClean="0">
                <a:solidFill>
                  <a:srgbClr val="808080"/>
                </a:solidFill>
                <a:latin typeface="Consolas"/>
              </a:rPr>
              <a:t>=</a:t>
            </a:r>
            <a:r>
              <a:rPr lang="en-US" sz="16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600" dirty="0" err="1" smtClean="0">
                <a:solidFill>
                  <a:srgbClr val="000000"/>
                </a:solidFill>
                <a:latin typeface="Consolas"/>
              </a:rPr>
              <a:t>Membership</a:t>
            </a:r>
            <a:r>
              <a:rPr lang="en-US" sz="1600" dirty="0" err="1" smtClean="0">
                <a:solidFill>
                  <a:srgbClr val="808080"/>
                </a:solidFill>
                <a:latin typeface="Consolas"/>
              </a:rPr>
              <a:t>.</a:t>
            </a:r>
            <a:r>
              <a:rPr lang="en-US" sz="1600" dirty="0" err="1" smtClean="0">
                <a:solidFill>
                  <a:srgbClr val="000000"/>
                </a:solidFill>
                <a:latin typeface="Consolas"/>
              </a:rPr>
              <a:t>UserID</a:t>
            </a:r>
            <a:endParaRPr lang="en-US" sz="1600" dirty="0" smtClean="0">
              <a:solidFill>
                <a:srgbClr val="000000"/>
              </a:solidFill>
              <a:latin typeface="Consolas"/>
            </a:endParaRPr>
          </a:p>
          <a:p>
            <a:pPr>
              <a:buNone/>
            </a:pPr>
            <a:r>
              <a:rPr lang="en-US" sz="1600" dirty="0" smtClean="0">
                <a:solidFill>
                  <a:srgbClr val="808080"/>
                </a:solidFill>
                <a:latin typeface="Consolas"/>
              </a:rPr>
              <a:t>INNER</a:t>
            </a:r>
            <a:r>
              <a:rPr lang="en-US" sz="16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600" dirty="0" smtClean="0">
                <a:solidFill>
                  <a:srgbClr val="808080"/>
                </a:solidFill>
                <a:latin typeface="Consolas"/>
              </a:rPr>
              <a:t>JOIN</a:t>
            </a:r>
            <a:r>
              <a:rPr lang="en-US" sz="1600" dirty="0" smtClean="0">
                <a:solidFill>
                  <a:srgbClr val="000000"/>
                </a:solidFill>
                <a:latin typeface="Consolas"/>
              </a:rPr>
              <a:t> [DB1DB]</a:t>
            </a:r>
            <a:r>
              <a:rPr lang="en-US" sz="1600" dirty="0" smtClean="0">
                <a:solidFill>
                  <a:srgbClr val="808080"/>
                </a:solidFill>
                <a:latin typeface="Consolas"/>
              </a:rPr>
              <a:t>.</a:t>
            </a:r>
            <a:r>
              <a:rPr lang="en-US" sz="1600" dirty="0" smtClean="0">
                <a:solidFill>
                  <a:srgbClr val="000000"/>
                </a:solidFill>
                <a:latin typeface="Consolas"/>
              </a:rPr>
              <a:t>[db1.example.com]</a:t>
            </a:r>
            <a:r>
              <a:rPr lang="en-US" sz="1600" dirty="0" smtClean="0">
                <a:solidFill>
                  <a:srgbClr val="808080"/>
                </a:solidFill>
                <a:latin typeface="Consolas"/>
              </a:rPr>
              <a:t>.</a:t>
            </a:r>
            <a:r>
              <a:rPr lang="en-US" sz="1600" dirty="0" smtClean="0">
                <a:solidFill>
                  <a:srgbClr val="000000"/>
                </a:solidFill>
                <a:latin typeface="Consolas"/>
              </a:rPr>
              <a:t>[</a:t>
            </a:r>
            <a:r>
              <a:rPr lang="en-US" sz="1600" dirty="0" err="1" smtClean="0">
                <a:solidFill>
                  <a:srgbClr val="000000"/>
                </a:solidFill>
                <a:latin typeface="Consolas"/>
              </a:rPr>
              <a:t>dbo</a:t>
            </a:r>
            <a:r>
              <a:rPr lang="en-US" sz="1600" dirty="0" smtClean="0">
                <a:solidFill>
                  <a:srgbClr val="000000"/>
                </a:solidFill>
                <a:latin typeface="Consolas"/>
              </a:rPr>
              <a:t>]</a:t>
            </a:r>
            <a:r>
              <a:rPr lang="en-US" sz="1600" dirty="0" smtClean="0">
                <a:solidFill>
                  <a:srgbClr val="808080"/>
                </a:solidFill>
                <a:latin typeface="Consolas"/>
              </a:rPr>
              <a:t>.</a:t>
            </a:r>
            <a:r>
              <a:rPr lang="en-US" sz="1600" dirty="0" smtClean="0">
                <a:solidFill>
                  <a:srgbClr val="000000"/>
                </a:solidFill>
                <a:latin typeface="Consolas"/>
              </a:rPr>
              <a:t>[</a:t>
            </a:r>
            <a:r>
              <a:rPr lang="en-US" sz="1600" dirty="0" err="1" smtClean="0">
                <a:solidFill>
                  <a:srgbClr val="000000"/>
                </a:solidFill>
                <a:latin typeface="Consolas"/>
              </a:rPr>
              <a:t>aspnet_UsersInRoles</a:t>
            </a:r>
            <a:r>
              <a:rPr lang="en-US" sz="1600" dirty="0" smtClean="0">
                <a:solidFill>
                  <a:srgbClr val="000000"/>
                </a:solidFill>
                <a:latin typeface="Consolas"/>
              </a:rPr>
              <a:t>] </a:t>
            </a:r>
            <a:r>
              <a:rPr lang="en-US" sz="1600" dirty="0" err="1" smtClean="0">
                <a:solidFill>
                  <a:srgbClr val="000000"/>
                </a:solidFill>
                <a:latin typeface="Consolas"/>
              </a:rPr>
              <a:t>UsersInRoles</a:t>
            </a:r>
            <a:r>
              <a:rPr lang="en-US" sz="16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600" dirty="0" smtClean="0">
                <a:solidFill>
                  <a:srgbClr val="0000FF"/>
                </a:solidFill>
                <a:latin typeface="Consolas"/>
              </a:rPr>
              <a:t>ON</a:t>
            </a:r>
            <a:r>
              <a:rPr lang="en-US" sz="16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600" dirty="0" err="1" smtClean="0">
                <a:solidFill>
                  <a:srgbClr val="000000"/>
                </a:solidFill>
                <a:latin typeface="Consolas"/>
              </a:rPr>
              <a:t>UsersInRoles</a:t>
            </a:r>
            <a:r>
              <a:rPr lang="en-US" sz="1600" dirty="0" err="1" smtClean="0">
                <a:solidFill>
                  <a:srgbClr val="808080"/>
                </a:solidFill>
                <a:latin typeface="Consolas"/>
              </a:rPr>
              <a:t>.</a:t>
            </a:r>
            <a:r>
              <a:rPr lang="en-US" sz="1600" dirty="0" err="1" smtClean="0">
                <a:solidFill>
                  <a:srgbClr val="000000"/>
                </a:solidFill>
                <a:latin typeface="Consolas"/>
              </a:rPr>
              <a:t>UserId</a:t>
            </a:r>
            <a:r>
              <a:rPr lang="en-US" sz="16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600" dirty="0" smtClean="0">
                <a:solidFill>
                  <a:srgbClr val="808080"/>
                </a:solidFill>
                <a:latin typeface="Consolas"/>
              </a:rPr>
              <a:t>=</a:t>
            </a:r>
            <a:r>
              <a:rPr lang="en-US" sz="16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600" dirty="0" err="1" smtClean="0">
                <a:solidFill>
                  <a:srgbClr val="000000"/>
                </a:solidFill>
                <a:latin typeface="Consolas"/>
              </a:rPr>
              <a:t>Membership</a:t>
            </a:r>
            <a:r>
              <a:rPr lang="en-US" sz="1600" dirty="0" err="1" smtClean="0">
                <a:solidFill>
                  <a:srgbClr val="808080"/>
                </a:solidFill>
                <a:latin typeface="Consolas"/>
              </a:rPr>
              <a:t>.</a:t>
            </a:r>
            <a:r>
              <a:rPr lang="en-US" sz="1600" dirty="0" err="1" smtClean="0">
                <a:solidFill>
                  <a:srgbClr val="000000"/>
                </a:solidFill>
                <a:latin typeface="Consolas"/>
              </a:rPr>
              <a:t>UserID</a:t>
            </a:r>
            <a:endParaRPr lang="en-US" sz="1600" dirty="0" smtClean="0">
              <a:solidFill>
                <a:srgbClr val="000000"/>
              </a:solidFill>
              <a:latin typeface="Consolas"/>
            </a:endParaRPr>
          </a:p>
          <a:p>
            <a:pPr>
              <a:buNone/>
            </a:pPr>
            <a:r>
              <a:rPr lang="en-US" sz="1600" dirty="0" smtClean="0">
                <a:solidFill>
                  <a:srgbClr val="808080"/>
                </a:solidFill>
                <a:latin typeface="Consolas"/>
              </a:rPr>
              <a:t>INNER</a:t>
            </a:r>
            <a:r>
              <a:rPr lang="en-US" sz="16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600" dirty="0" smtClean="0">
                <a:solidFill>
                  <a:srgbClr val="808080"/>
                </a:solidFill>
                <a:latin typeface="Consolas"/>
              </a:rPr>
              <a:t>JOIN</a:t>
            </a:r>
            <a:r>
              <a:rPr lang="en-US" sz="1600" dirty="0" smtClean="0">
                <a:solidFill>
                  <a:srgbClr val="000000"/>
                </a:solidFill>
                <a:latin typeface="Consolas"/>
              </a:rPr>
              <a:t> [DB1DB]</a:t>
            </a:r>
            <a:r>
              <a:rPr lang="en-US" sz="1600" dirty="0" smtClean="0">
                <a:solidFill>
                  <a:srgbClr val="808080"/>
                </a:solidFill>
                <a:latin typeface="Consolas"/>
              </a:rPr>
              <a:t>.</a:t>
            </a:r>
            <a:r>
              <a:rPr lang="en-US" sz="1600" dirty="0" smtClean="0">
                <a:solidFill>
                  <a:srgbClr val="000000"/>
                </a:solidFill>
                <a:latin typeface="Consolas"/>
              </a:rPr>
              <a:t>[db1.example.com]</a:t>
            </a:r>
            <a:r>
              <a:rPr lang="en-US" sz="1600" dirty="0" smtClean="0">
                <a:solidFill>
                  <a:srgbClr val="808080"/>
                </a:solidFill>
                <a:latin typeface="Consolas"/>
              </a:rPr>
              <a:t>.</a:t>
            </a:r>
            <a:r>
              <a:rPr lang="en-US" sz="1600" dirty="0" smtClean="0">
                <a:solidFill>
                  <a:srgbClr val="000000"/>
                </a:solidFill>
                <a:latin typeface="Consolas"/>
              </a:rPr>
              <a:t>[</a:t>
            </a:r>
            <a:r>
              <a:rPr lang="en-US" sz="1600" dirty="0" err="1" smtClean="0">
                <a:solidFill>
                  <a:srgbClr val="000000"/>
                </a:solidFill>
                <a:latin typeface="Consolas"/>
              </a:rPr>
              <a:t>dbo</a:t>
            </a:r>
            <a:r>
              <a:rPr lang="en-US" sz="1600" dirty="0" smtClean="0">
                <a:solidFill>
                  <a:srgbClr val="000000"/>
                </a:solidFill>
                <a:latin typeface="Consolas"/>
              </a:rPr>
              <a:t>]</a:t>
            </a:r>
            <a:r>
              <a:rPr lang="en-US" sz="1600" dirty="0" smtClean="0">
                <a:solidFill>
                  <a:srgbClr val="808080"/>
                </a:solidFill>
                <a:latin typeface="Consolas"/>
              </a:rPr>
              <a:t>.</a:t>
            </a:r>
            <a:r>
              <a:rPr lang="en-US" sz="1600" dirty="0" smtClean="0">
                <a:solidFill>
                  <a:srgbClr val="000000"/>
                </a:solidFill>
                <a:latin typeface="Consolas"/>
              </a:rPr>
              <a:t>[</a:t>
            </a:r>
            <a:r>
              <a:rPr lang="en-US" sz="1600" dirty="0" err="1" smtClean="0">
                <a:solidFill>
                  <a:srgbClr val="000000"/>
                </a:solidFill>
                <a:latin typeface="Consolas"/>
              </a:rPr>
              <a:t>aspnet_Roles</a:t>
            </a:r>
            <a:r>
              <a:rPr lang="en-US" sz="1600" dirty="0" smtClean="0">
                <a:solidFill>
                  <a:srgbClr val="000000"/>
                </a:solidFill>
                <a:latin typeface="Consolas"/>
              </a:rPr>
              <a:t>] Roles </a:t>
            </a:r>
            <a:r>
              <a:rPr lang="en-US" sz="1600" dirty="0" smtClean="0">
                <a:solidFill>
                  <a:srgbClr val="0000FF"/>
                </a:solidFill>
                <a:latin typeface="Consolas"/>
              </a:rPr>
              <a:t>ON</a:t>
            </a:r>
            <a:r>
              <a:rPr lang="en-US" sz="16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600" dirty="0" err="1" smtClean="0">
                <a:solidFill>
                  <a:srgbClr val="000000"/>
                </a:solidFill>
                <a:latin typeface="Consolas"/>
              </a:rPr>
              <a:t>Roles</a:t>
            </a:r>
            <a:r>
              <a:rPr lang="en-US" sz="1600" dirty="0" err="1" smtClean="0">
                <a:solidFill>
                  <a:srgbClr val="808080"/>
                </a:solidFill>
                <a:latin typeface="Consolas"/>
              </a:rPr>
              <a:t>.</a:t>
            </a:r>
            <a:r>
              <a:rPr lang="en-US" sz="1600" dirty="0" err="1" smtClean="0">
                <a:solidFill>
                  <a:srgbClr val="000000"/>
                </a:solidFill>
                <a:latin typeface="Consolas"/>
              </a:rPr>
              <a:t>RoleId</a:t>
            </a:r>
            <a:r>
              <a:rPr lang="en-US" sz="16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600" dirty="0" smtClean="0">
                <a:solidFill>
                  <a:srgbClr val="808080"/>
                </a:solidFill>
                <a:latin typeface="Consolas"/>
              </a:rPr>
              <a:t>=</a:t>
            </a:r>
            <a:r>
              <a:rPr lang="en-US" sz="16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600" dirty="0" err="1" smtClean="0">
                <a:solidFill>
                  <a:srgbClr val="000000"/>
                </a:solidFill>
                <a:latin typeface="Consolas"/>
              </a:rPr>
              <a:t>UsersInRoles</a:t>
            </a:r>
            <a:r>
              <a:rPr lang="en-US" sz="1600" dirty="0" err="1" smtClean="0">
                <a:solidFill>
                  <a:srgbClr val="808080"/>
                </a:solidFill>
                <a:latin typeface="Consolas"/>
              </a:rPr>
              <a:t>.</a:t>
            </a:r>
            <a:r>
              <a:rPr lang="en-US" sz="1600" dirty="0" err="1" smtClean="0">
                <a:solidFill>
                  <a:srgbClr val="000000"/>
                </a:solidFill>
                <a:latin typeface="Consolas"/>
              </a:rPr>
              <a:t>RoleId</a:t>
            </a:r>
            <a:endParaRPr lang="en-US" sz="1600" dirty="0" smtClean="0">
              <a:solidFill>
                <a:srgbClr val="000000"/>
              </a:solidFill>
              <a:latin typeface="Consolas"/>
            </a:endParaRPr>
          </a:p>
          <a:p>
            <a:pPr>
              <a:buNone/>
            </a:pPr>
            <a:r>
              <a:rPr lang="en-US" sz="1600" dirty="0" smtClean="0">
                <a:solidFill>
                  <a:srgbClr val="808080"/>
                </a:solidFill>
                <a:latin typeface="Consolas"/>
              </a:rPr>
              <a:t>AND</a:t>
            </a:r>
            <a:r>
              <a:rPr lang="en-US" sz="16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600" dirty="0" err="1" smtClean="0">
                <a:solidFill>
                  <a:srgbClr val="000000"/>
                </a:solidFill>
                <a:latin typeface="Consolas"/>
              </a:rPr>
              <a:t>Roles</a:t>
            </a:r>
            <a:r>
              <a:rPr lang="en-US" sz="1600" dirty="0" err="1" smtClean="0">
                <a:solidFill>
                  <a:srgbClr val="808080"/>
                </a:solidFill>
                <a:latin typeface="Consolas"/>
              </a:rPr>
              <a:t>.</a:t>
            </a:r>
            <a:r>
              <a:rPr lang="en-US" sz="1600" dirty="0" err="1" smtClean="0">
                <a:solidFill>
                  <a:srgbClr val="000000"/>
                </a:solidFill>
                <a:latin typeface="Consolas"/>
              </a:rPr>
              <a:t>RoleName</a:t>
            </a:r>
            <a:r>
              <a:rPr lang="en-US" sz="16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600" dirty="0" smtClean="0">
                <a:solidFill>
                  <a:srgbClr val="808080"/>
                </a:solidFill>
                <a:latin typeface="Consolas"/>
              </a:rPr>
              <a:t>IN</a:t>
            </a:r>
            <a:r>
              <a:rPr lang="en-US" sz="1600" dirty="0" smtClean="0">
                <a:solidFill>
                  <a:srgbClr val="0000FF"/>
                </a:solidFill>
                <a:latin typeface="Consolas"/>
              </a:rPr>
              <a:t> </a:t>
            </a:r>
            <a:r>
              <a:rPr lang="en-US" sz="1600" dirty="0" smtClean="0">
                <a:solidFill>
                  <a:srgbClr val="808080"/>
                </a:solidFill>
                <a:latin typeface="Consolas"/>
              </a:rPr>
              <a:t>(</a:t>
            </a:r>
            <a:r>
              <a:rPr lang="en-US" sz="1600" dirty="0" smtClean="0">
                <a:solidFill>
                  <a:srgbClr val="FF0000"/>
                </a:solidFill>
                <a:latin typeface="Consolas"/>
              </a:rPr>
              <a:t>'Full Users'</a:t>
            </a:r>
            <a:r>
              <a:rPr lang="en-US" sz="1600" dirty="0" smtClean="0">
                <a:solidFill>
                  <a:srgbClr val="808080"/>
                </a:solidFill>
                <a:latin typeface="Consolas"/>
              </a:rPr>
              <a:t>,</a:t>
            </a:r>
            <a:r>
              <a:rPr lang="en-US" sz="16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600" dirty="0" smtClean="0">
                <a:solidFill>
                  <a:srgbClr val="FF0000"/>
                </a:solidFill>
                <a:latin typeface="Consolas"/>
              </a:rPr>
              <a:t>'Company Administrators'</a:t>
            </a:r>
            <a:r>
              <a:rPr lang="en-US" sz="1600" dirty="0" smtClean="0">
                <a:solidFill>
                  <a:srgbClr val="808080"/>
                </a:solidFill>
                <a:latin typeface="Consolas"/>
              </a:rPr>
              <a:t>,</a:t>
            </a:r>
            <a:r>
              <a:rPr lang="en-US" sz="1600" dirty="0" smtClean="0">
                <a:solidFill>
                  <a:srgbClr val="000000"/>
                </a:solidFill>
                <a:latin typeface="Consolas"/>
              </a:rPr>
              <a:t> </a:t>
            </a:r>
          </a:p>
          <a:p>
            <a:pPr>
              <a:buNone/>
            </a:pPr>
            <a:r>
              <a:rPr lang="en-US" sz="1600" dirty="0" smtClean="0">
                <a:solidFill>
                  <a:srgbClr val="FF0000"/>
                </a:solidFill>
                <a:latin typeface="Consolas"/>
              </a:rPr>
              <a:t>'Power Users'</a:t>
            </a:r>
            <a:r>
              <a:rPr lang="en-US" sz="1600" dirty="0" smtClean="0">
                <a:solidFill>
                  <a:srgbClr val="808080"/>
                </a:solidFill>
                <a:latin typeface="Consolas"/>
              </a:rPr>
              <a:t>,</a:t>
            </a:r>
            <a:r>
              <a:rPr lang="en-US" sz="16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600" dirty="0" smtClean="0">
                <a:solidFill>
                  <a:srgbClr val="FF0000"/>
                </a:solidFill>
                <a:latin typeface="Consolas"/>
              </a:rPr>
              <a:t>'Power Users 2'</a:t>
            </a:r>
            <a:r>
              <a:rPr lang="en-US" sz="1600" dirty="0" smtClean="0">
                <a:solidFill>
                  <a:srgbClr val="808080"/>
                </a:solidFill>
                <a:latin typeface="Consolas"/>
              </a:rPr>
              <a:t>,</a:t>
            </a:r>
            <a:r>
              <a:rPr lang="en-US" sz="16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600" dirty="0" smtClean="0">
                <a:solidFill>
                  <a:srgbClr val="FF0000"/>
                </a:solidFill>
                <a:latin typeface="Consolas"/>
              </a:rPr>
              <a:t>'Power Users '</a:t>
            </a:r>
            <a:r>
              <a:rPr lang="en-US" sz="1600" dirty="0" smtClean="0">
                <a:solidFill>
                  <a:srgbClr val="808080"/>
                </a:solidFill>
                <a:latin typeface="Consolas"/>
              </a:rPr>
              <a:t>,</a:t>
            </a:r>
            <a:r>
              <a:rPr lang="en-US" sz="16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600" dirty="0" smtClean="0">
                <a:solidFill>
                  <a:srgbClr val="FF0000"/>
                </a:solidFill>
                <a:latin typeface="Consolas"/>
              </a:rPr>
              <a:t>'Power Users 4'</a:t>
            </a:r>
            <a:r>
              <a:rPr lang="en-US" sz="1600" dirty="0" smtClean="0">
                <a:solidFill>
                  <a:srgbClr val="808080"/>
                </a:solidFill>
                <a:latin typeface="Consolas"/>
              </a:rPr>
              <a:t>,</a:t>
            </a:r>
            <a:r>
              <a:rPr lang="en-US" sz="16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600" dirty="0" smtClean="0">
                <a:solidFill>
                  <a:srgbClr val="FF0000"/>
                </a:solidFill>
                <a:latin typeface="Consolas"/>
              </a:rPr>
              <a:t>'Power Users 5'</a:t>
            </a:r>
            <a:r>
              <a:rPr lang="en-US" sz="1600" dirty="0" smtClean="0">
                <a:solidFill>
                  <a:srgbClr val="808080"/>
                </a:solidFill>
                <a:latin typeface="Consolas"/>
              </a:rPr>
              <a:t>,</a:t>
            </a:r>
            <a:r>
              <a:rPr lang="en-US" sz="1600" dirty="0" smtClean="0">
                <a:solidFill>
                  <a:srgbClr val="000000"/>
                </a:solidFill>
                <a:latin typeface="Consolas"/>
              </a:rPr>
              <a:t> </a:t>
            </a:r>
          </a:p>
          <a:p>
            <a:pPr>
              <a:buNone/>
            </a:pPr>
            <a:r>
              <a:rPr lang="en-US" sz="1600" dirty="0" smtClean="0">
                <a:solidFill>
                  <a:srgbClr val="FF0000"/>
                </a:solidFill>
                <a:latin typeface="Consolas"/>
              </a:rPr>
              <a:t>'Large File Users'</a:t>
            </a:r>
            <a:r>
              <a:rPr lang="en-US" sz="1600" dirty="0" smtClean="0">
                <a:solidFill>
                  <a:srgbClr val="808080"/>
                </a:solidFill>
                <a:latin typeface="Consolas"/>
              </a:rPr>
              <a:t>)</a:t>
            </a:r>
            <a:endParaRPr lang="en-US" sz="1600" dirty="0" smtClean="0">
              <a:solidFill>
                <a:srgbClr val="000000"/>
              </a:solidFill>
              <a:latin typeface="Consolas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SELECT From Multiple Servers (III)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bg1">
              <a:lumMod val="95000"/>
            </a:schemeClr>
          </a:solidFill>
        </p:spPr>
        <p:txBody>
          <a:bodyPr/>
          <a:lstStyle/>
          <a:p>
            <a:pPr>
              <a:buNone/>
            </a:pPr>
            <a:r>
              <a:rPr lang="en-US" sz="1600" dirty="0" smtClean="0">
                <a:solidFill>
                  <a:srgbClr val="0000FF"/>
                </a:solidFill>
                <a:latin typeface="Consolas"/>
              </a:rPr>
              <a:t>SELECT</a:t>
            </a:r>
            <a:r>
              <a:rPr lang="en-US" sz="1600" dirty="0" smtClean="0">
                <a:solidFill>
                  <a:srgbClr val="000000"/>
                </a:solidFill>
                <a:latin typeface="Consolas"/>
              </a:rPr>
              <a:t> @#DB2FullUsers </a:t>
            </a:r>
            <a:r>
              <a:rPr lang="en-US" sz="1600" dirty="0" smtClean="0">
                <a:solidFill>
                  <a:srgbClr val="808080"/>
                </a:solidFill>
                <a:latin typeface="Consolas"/>
              </a:rPr>
              <a:t>=</a:t>
            </a:r>
            <a:r>
              <a:rPr lang="en-US" sz="16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600" dirty="0" smtClean="0">
                <a:solidFill>
                  <a:srgbClr val="FF00FF"/>
                </a:solidFill>
                <a:latin typeface="Consolas"/>
              </a:rPr>
              <a:t>COUNT</a:t>
            </a:r>
            <a:r>
              <a:rPr lang="en-US" sz="1600" dirty="0" smtClean="0">
                <a:solidFill>
                  <a:srgbClr val="808080"/>
                </a:solidFill>
                <a:latin typeface="Consolas"/>
              </a:rPr>
              <a:t>(</a:t>
            </a:r>
            <a:r>
              <a:rPr lang="en-US" sz="1600" dirty="0" smtClean="0">
                <a:solidFill>
                  <a:srgbClr val="0000FF"/>
                </a:solidFill>
                <a:latin typeface="Consolas"/>
              </a:rPr>
              <a:t>DISTINCT</a:t>
            </a:r>
            <a:r>
              <a:rPr lang="en-US" sz="16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600" dirty="0" err="1" smtClean="0">
                <a:solidFill>
                  <a:srgbClr val="000000"/>
                </a:solidFill>
                <a:latin typeface="Consolas"/>
              </a:rPr>
              <a:t>Membership</a:t>
            </a:r>
            <a:r>
              <a:rPr lang="en-US" sz="1600" dirty="0" err="1" smtClean="0">
                <a:solidFill>
                  <a:srgbClr val="808080"/>
                </a:solidFill>
                <a:latin typeface="Consolas"/>
              </a:rPr>
              <a:t>.</a:t>
            </a:r>
            <a:r>
              <a:rPr lang="en-US" sz="1600" dirty="0" err="1" smtClean="0">
                <a:solidFill>
                  <a:srgbClr val="000000"/>
                </a:solidFill>
                <a:latin typeface="Consolas"/>
              </a:rPr>
              <a:t>UserId</a:t>
            </a:r>
            <a:r>
              <a:rPr lang="en-US" sz="1600" dirty="0" smtClean="0">
                <a:solidFill>
                  <a:srgbClr val="808080"/>
                </a:solidFill>
                <a:latin typeface="Consolas"/>
              </a:rPr>
              <a:t>)</a:t>
            </a:r>
            <a:endParaRPr lang="en-US" sz="1600" dirty="0" smtClean="0">
              <a:solidFill>
                <a:srgbClr val="000000"/>
              </a:solidFill>
              <a:latin typeface="Consolas"/>
            </a:endParaRPr>
          </a:p>
          <a:p>
            <a:pPr>
              <a:buNone/>
            </a:pPr>
            <a:r>
              <a:rPr lang="en-US" sz="1600" dirty="0" smtClean="0">
                <a:solidFill>
                  <a:srgbClr val="0000FF"/>
                </a:solidFill>
                <a:latin typeface="Consolas"/>
              </a:rPr>
              <a:t>FROM</a:t>
            </a:r>
            <a:r>
              <a:rPr lang="en-US" sz="1600" dirty="0" smtClean="0">
                <a:solidFill>
                  <a:srgbClr val="000000"/>
                </a:solidFill>
                <a:latin typeface="Consolas"/>
              </a:rPr>
              <a:t> [DB2DB]</a:t>
            </a:r>
            <a:r>
              <a:rPr lang="en-US" sz="1600" dirty="0" smtClean="0">
                <a:solidFill>
                  <a:srgbClr val="808080"/>
                </a:solidFill>
                <a:latin typeface="Consolas"/>
              </a:rPr>
              <a:t>.</a:t>
            </a:r>
            <a:r>
              <a:rPr lang="en-US" sz="1600" dirty="0" smtClean="0">
                <a:solidFill>
                  <a:srgbClr val="000000"/>
                </a:solidFill>
                <a:latin typeface="Consolas"/>
              </a:rPr>
              <a:t>[db2.example.com]</a:t>
            </a:r>
            <a:r>
              <a:rPr lang="en-US" sz="1600" dirty="0" smtClean="0">
                <a:solidFill>
                  <a:srgbClr val="808080"/>
                </a:solidFill>
                <a:latin typeface="Consolas"/>
              </a:rPr>
              <a:t>.</a:t>
            </a:r>
            <a:r>
              <a:rPr lang="en-US" sz="1600" dirty="0" smtClean="0">
                <a:solidFill>
                  <a:srgbClr val="000000"/>
                </a:solidFill>
                <a:latin typeface="Consolas"/>
              </a:rPr>
              <a:t>[</a:t>
            </a:r>
            <a:r>
              <a:rPr lang="en-US" sz="1600" dirty="0" err="1" smtClean="0">
                <a:solidFill>
                  <a:srgbClr val="000000"/>
                </a:solidFill>
                <a:latin typeface="Consolas"/>
              </a:rPr>
              <a:t>dbo</a:t>
            </a:r>
            <a:r>
              <a:rPr lang="en-US" sz="1600" dirty="0" smtClean="0">
                <a:solidFill>
                  <a:srgbClr val="000000"/>
                </a:solidFill>
                <a:latin typeface="Consolas"/>
              </a:rPr>
              <a:t>]</a:t>
            </a:r>
            <a:r>
              <a:rPr lang="en-US" sz="1600" dirty="0" smtClean="0">
                <a:solidFill>
                  <a:srgbClr val="808080"/>
                </a:solidFill>
                <a:latin typeface="Consolas"/>
              </a:rPr>
              <a:t>.</a:t>
            </a:r>
            <a:r>
              <a:rPr lang="en-US" sz="1600" dirty="0" smtClean="0">
                <a:solidFill>
                  <a:srgbClr val="000000"/>
                </a:solidFill>
                <a:latin typeface="Consolas"/>
              </a:rPr>
              <a:t>[</a:t>
            </a:r>
            <a:r>
              <a:rPr lang="en-US" sz="1600" dirty="0" err="1" smtClean="0">
                <a:solidFill>
                  <a:srgbClr val="000000"/>
                </a:solidFill>
                <a:latin typeface="Consolas"/>
              </a:rPr>
              <a:t>aspnet_Membership</a:t>
            </a:r>
            <a:r>
              <a:rPr lang="en-US" sz="1600" dirty="0" smtClean="0">
                <a:solidFill>
                  <a:srgbClr val="000000"/>
                </a:solidFill>
                <a:latin typeface="Consolas"/>
              </a:rPr>
              <a:t>] Membership</a:t>
            </a:r>
          </a:p>
          <a:p>
            <a:pPr>
              <a:buNone/>
            </a:pPr>
            <a:r>
              <a:rPr lang="en-US" sz="1600" dirty="0" smtClean="0">
                <a:solidFill>
                  <a:srgbClr val="808080"/>
                </a:solidFill>
                <a:latin typeface="Consolas"/>
              </a:rPr>
              <a:t>INNER</a:t>
            </a:r>
            <a:r>
              <a:rPr lang="en-US" sz="16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600" dirty="0" smtClean="0">
                <a:solidFill>
                  <a:srgbClr val="808080"/>
                </a:solidFill>
                <a:latin typeface="Consolas"/>
              </a:rPr>
              <a:t>JOIN</a:t>
            </a:r>
            <a:r>
              <a:rPr lang="en-US" sz="1600" dirty="0" smtClean="0">
                <a:solidFill>
                  <a:srgbClr val="000000"/>
                </a:solidFill>
                <a:latin typeface="Consolas"/>
              </a:rPr>
              <a:t> [DB2DB]</a:t>
            </a:r>
            <a:r>
              <a:rPr lang="en-US" sz="1600" dirty="0" smtClean="0">
                <a:solidFill>
                  <a:srgbClr val="808080"/>
                </a:solidFill>
                <a:latin typeface="Consolas"/>
              </a:rPr>
              <a:t>.</a:t>
            </a:r>
            <a:r>
              <a:rPr lang="en-US" sz="1600" dirty="0" smtClean="0">
                <a:solidFill>
                  <a:srgbClr val="000000"/>
                </a:solidFill>
                <a:latin typeface="Consolas"/>
              </a:rPr>
              <a:t>[db2.example.com]</a:t>
            </a:r>
            <a:r>
              <a:rPr lang="en-US" sz="1600" dirty="0" smtClean="0">
                <a:solidFill>
                  <a:srgbClr val="808080"/>
                </a:solidFill>
                <a:latin typeface="Consolas"/>
              </a:rPr>
              <a:t>.</a:t>
            </a:r>
            <a:r>
              <a:rPr lang="en-US" sz="1600" dirty="0" smtClean="0">
                <a:solidFill>
                  <a:srgbClr val="000000"/>
                </a:solidFill>
                <a:latin typeface="Consolas"/>
              </a:rPr>
              <a:t>[</a:t>
            </a:r>
            <a:r>
              <a:rPr lang="en-US" sz="1600" dirty="0" err="1" smtClean="0">
                <a:solidFill>
                  <a:srgbClr val="000000"/>
                </a:solidFill>
                <a:latin typeface="Consolas"/>
              </a:rPr>
              <a:t>dbo</a:t>
            </a:r>
            <a:r>
              <a:rPr lang="en-US" sz="1600" dirty="0" smtClean="0">
                <a:solidFill>
                  <a:srgbClr val="000000"/>
                </a:solidFill>
                <a:latin typeface="Consolas"/>
              </a:rPr>
              <a:t>]</a:t>
            </a:r>
            <a:r>
              <a:rPr lang="en-US" sz="1600" dirty="0" smtClean="0">
                <a:solidFill>
                  <a:srgbClr val="808080"/>
                </a:solidFill>
                <a:latin typeface="Consolas"/>
              </a:rPr>
              <a:t>.</a:t>
            </a:r>
            <a:r>
              <a:rPr lang="en-US" sz="1600" dirty="0" smtClean="0">
                <a:solidFill>
                  <a:srgbClr val="000000"/>
                </a:solidFill>
                <a:latin typeface="Consolas"/>
              </a:rPr>
              <a:t>[</a:t>
            </a:r>
            <a:r>
              <a:rPr lang="en-US" sz="1600" dirty="0" err="1" smtClean="0">
                <a:solidFill>
                  <a:srgbClr val="000000"/>
                </a:solidFill>
                <a:latin typeface="Consolas"/>
              </a:rPr>
              <a:t>aspnet_Users</a:t>
            </a:r>
            <a:r>
              <a:rPr lang="en-US" sz="1600" dirty="0" smtClean="0">
                <a:solidFill>
                  <a:srgbClr val="000000"/>
                </a:solidFill>
                <a:latin typeface="Consolas"/>
              </a:rPr>
              <a:t>] Users </a:t>
            </a:r>
            <a:r>
              <a:rPr lang="en-US" sz="1600" dirty="0" smtClean="0">
                <a:solidFill>
                  <a:srgbClr val="0000FF"/>
                </a:solidFill>
                <a:latin typeface="Consolas"/>
              </a:rPr>
              <a:t>ON</a:t>
            </a:r>
            <a:r>
              <a:rPr lang="en-US" sz="16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600" dirty="0" err="1" smtClean="0">
                <a:solidFill>
                  <a:srgbClr val="000000"/>
                </a:solidFill>
                <a:latin typeface="Consolas"/>
              </a:rPr>
              <a:t>Users</a:t>
            </a:r>
            <a:r>
              <a:rPr lang="en-US" sz="1600" dirty="0" err="1" smtClean="0">
                <a:solidFill>
                  <a:srgbClr val="808080"/>
                </a:solidFill>
                <a:latin typeface="Consolas"/>
              </a:rPr>
              <a:t>.</a:t>
            </a:r>
            <a:r>
              <a:rPr lang="en-US" sz="1600" dirty="0" err="1" smtClean="0">
                <a:solidFill>
                  <a:srgbClr val="000000"/>
                </a:solidFill>
                <a:latin typeface="Consolas"/>
              </a:rPr>
              <a:t>UserId</a:t>
            </a:r>
            <a:r>
              <a:rPr lang="en-US" sz="16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600" dirty="0" smtClean="0">
                <a:solidFill>
                  <a:srgbClr val="808080"/>
                </a:solidFill>
                <a:latin typeface="Consolas"/>
              </a:rPr>
              <a:t>=</a:t>
            </a:r>
            <a:r>
              <a:rPr lang="en-US" sz="16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600" dirty="0" err="1" smtClean="0">
                <a:solidFill>
                  <a:srgbClr val="000000"/>
                </a:solidFill>
                <a:latin typeface="Consolas"/>
              </a:rPr>
              <a:t>Membership</a:t>
            </a:r>
            <a:r>
              <a:rPr lang="en-US" sz="1600" dirty="0" err="1" smtClean="0">
                <a:solidFill>
                  <a:srgbClr val="808080"/>
                </a:solidFill>
                <a:latin typeface="Consolas"/>
              </a:rPr>
              <a:t>.</a:t>
            </a:r>
            <a:r>
              <a:rPr lang="en-US" sz="1600" dirty="0" err="1" smtClean="0">
                <a:solidFill>
                  <a:srgbClr val="000000"/>
                </a:solidFill>
                <a:latin typeface="Consolas"/>
              </a:rPr>
              <a:t>UserID</a:t>
            </a:r>
            <a:endParaRPr lang="en-US" sz="1600" dirty="0" smtClean="0">
              <a:solidFill>
                <a:srgbClr val="000000"/>
              </a:solidFill>
              <a:latin typeface="Consolas"/>
            </a:endParaRPr>
          </a:p>
          <a:p>
            <a:pPr>
              <a:buNone/>
            </a:pPr>
            <a:r>
              <a:rPr lang="en-US" sz="1600" dirty="0" smtClean="0">
                <a:solidFill>
                  <a:srgbClr val="808080"/>
                </a:solidFill>
                <a:latin typeface="Consolas"/>
              </a:rPr>
              <a:t>INNER</a:t>
            </a:r>
            <a:r>
              <a:rPr lang="en-US" sz="16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600" dirty="0" smtClean="0">
                <a:solidFill>
                  <a:srgbClr val="808080"/>
                </a:solidFill>
                <a:latin typeface="Consolas"/>
              </a:rPr>
              <a:t>JOIN</a:t>
            </a:r>
            <a:r>
              <a:rPr lang="en-US" sz="1600" dirty="0" smtClean="0">
                <a:solidFill>
                  <a:srgbClr val="000000"/>
                </a:solidFill>
                <a:latin typeface="Consolas"/>
              </a:rPr>
              <a:t> [DB2DB]</a:t>
            </a:r>
            <a:r>
              <a:rPr lang="en-US" sz="1600" dirty="0" smtClean="0">
                <a:solidFill>
                  <a:srgbClr val="808080"/>
                </a:solidFill>
                <a:latin typeface="Consolas"/>
              </a:rPr>
              <a:t>.</a:t>
            </a:r>
            <a:r>
              <a:rPr lang="en-US" sz="1600" dirty="0" smtClean="0">
                <a:solidFill>
                  <a:srgbClr val="000000"/>
                </a:solidFill>
                <a:latin typeface="Consolas"/>
              </a:rPr>
              <a:t>[db2.example.com]</a:t>
            </a:r>
            <a:r>
              <a:rPr lang="en-US" sz="1600" dirty="0" smtClean="0">
                <a:solidFill>
                  <a:srgbClr val="808080"/>
                </a:solidFill>
                <a:latin typeface="Consolas"/>
              </a:rPr>
              <a:t>.</a:t>
            </a:r>
            <a:r>
              <a:rPr lang="en-US" sz="1600" dirty="0" smtClean="0">
                <a:solidFill>
                  <a:srgbClr val="000000"/>
                </a:solidFill>
                <a:latin typeface="Consolas"/>
              </a:rPr>
              <a:t>[</a:t>
            </a:r>
            <a:r>
              <a:rPr lang="en-US" sz="1600" dirty="0" err="1" smtClean="0">
                <a:solidFill>
                  <a:srgbClr val="000000"/>
                </a:solidFill>
                <a:latin typeface="Consolas"/>
              </a:rPr>
              <a:t>dbo</a:t>
            </a:r>
            <a:r>
              <a:rPr lang="en-US" sz="1600" dirty="0" smtClean="0">
                <a:solidFill>
                  <a:srgbClr val="000000"/>
                </a:solidFill>
                <a:latin typeface="Consolas"/>
              </a:rPr>
              <a:t>]</a:t>
            </a:r>
            <a:r>
              <a:rPr lang="en-US" sz="1600" dirty="0" smtClean="0">
                <a:solidFill>
                  <a:srgbClr val="808080"/>
                </a:solidFill>
                <a:latin typeface="Consolas"/>
              </a:rPr>
              <a:t>.</a:t>
            </a:r>
            <a:r>
              <a:rPr lang="en-US" sz="1600" dirty="0" smtClean="0">
                <a:solidFill>
                  <a:srgbClr val="000000"/>
                </a:solidFill>
                <a:latin typeface="Consolas"/>
              </a:rPr>
              <a:t>[</a:t>
            </a:r>
            <a:r>
              <a:rPr lang="en-US" sz="1600" dirty="0" err="1" smtClean="0">
                <a:solidFill>
                  <a:srgbClr val="000000"/>
                </a:solidFill>
                <a:latin typeface="Consolas"/>
              </a:rPr>
              <a:t>aspnet_UsersInRoles</a:t>
            </a:r>
            <a:r>
              <a:rPr lang="en-US" sz="1600" dirty="0" smtClean="0">
                <a:solidFill>
                  <a:srgbClr val="000000"/>
                </a:solidFill>
                <a:latin typeface="Consolas"/>
              </a:rPr>
              <a:t>] </a:t>
            </a:r>
            <a:r>
              <a:rPr lang="en-US" sz="1600" dirty="0" err="1" smtClean="0">
                <a:solidFill>
                  <a:srgbClr val="000000"/>
                </a:solidFill>
                <a:latin typeface="Consolas"/>
              </a:rPr>
              <a:t>UsersInRoles</a:t>
            </a:r>
            <a:r>
              <a:rPr lang="en-US" sz="16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600" dirty="0" smtClean="0">
                <a:solidFill>
                  <a:srgbClr val="0000FF"/>
                </a:solidFill>
                <a:latin typeface="Consolas"/>
              </a:rPr>
              <a:t>ON</a:t>
            </a:r>
            <a:r>
              <a:rPr lang="en-US" sz="16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600" dirty="0" err="1" smtClean="0">
                <a:solidFill>
                  <a:srgbClr val="000000"/>
                </a:solidFill>
                <a:latin typeface="Consolas"/>
              </a:rPr>
              <a:t>UsersInRoles</a:t>
            </a:r>
            <a:r>
              <a:rPr lang="en-US" sz="1600" dirty="0" err="1" smtClean="0">
                <a:solidFill>
                  <a:srgbClr val="808080"/>
                </a:solidFill>
                <a:latin typeface="Consolas"/>
              </a:rPr>
              <a:t>.</a:t>
            </a:r>
            <a:r>
              <a:rPr lang="en-US" sz="1600" dirty="0" err="1" smtClean="0">
                <a:solidFill>
                  <a:srgbClr val="000000"/>
                </a:solidFill>
                <a:latin typeface="Consolas"/>
              </a:rPr>
              <a:t>UserId</a:t>
            </a:r>
            <a:r>
              <a:rPr lang="en-US" sz="16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600" dirty="0" smtClean="0">
                <a:solidFill>
                  <a:srgbClr val="808080"/>
                </a:solidFill>
                <a:latin typeface="Consolas"/>
              </a:rPr>
              <a:t>=</a:t>
            </a:r>
            <a:r>
              <a:rPr lang="en-US" sz="16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600" dirty="0" err="1" smtClean="0">
                <a:solidFill>
                  <a:srgbClr val="000000"/>
                </a:solidFill>
                <a:latin typeface="Consolas"/>
              </a:rPr>
              <a:t>Membership</a:t>
            </a:r>
            <a:r>
              <a:rPr lang="en-US" sz="1600" dirty="0" err="1" smtClean="0">
                <a:solidFill>
                  <a:srgbClr val="808080"/>
                </a:solidFill>
                <a:latin typeface="Consolas"/>
              </a:rPr>
              <a:t>.</a:t>
            </a:r>
            <a:r>
              <a:rPr lang="en-US" sz="1600" dirty="0" err="1" smtClean="0">
                <a:solidFill>
                  <a:srgbClr val="000000"/>
                </a:solidFill>
                <a:latin typeface="Consolas"/>
              </a:rPr>
              <a:t>UserID</a:t>
            </a:r>
            <a:endParaRPr lang="en-US" sz="1600" dirty="0" smtClean="0">
              <a:solidFill>
                <a:srgbClr val="000000"/>
              </a:solidFill>
              <a:latin typeface="Consolas"/>
            </a:endParaRPr>
          </a:p>
          <a:p>
            <a:pPr>
              <a:buNone/>
            </a:pPr>
            <a:r>
              <a:rPr lang="en-US" sz="1600" dirty="0" smtClean="0">
                <a:solidFill>
                  <a:srgbClr val="808080"/>
                </a:solidFill>
                <a:latin typeface="Consolas"/>
              </a:rPr>
              <a:t>INNER</a:t>
            </a:r>
            <a:r>
              <a:rPr lang="en-US" sz="16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600" dirty="0" smtClean="0">
                <a:solidFill>
                  <a:srgbClr val="808080"/>
                </a:solidFill>
                <a:latin typeface="Consolas"/>
              </a:rPr>
              <a:t>JOIN</a:t>
            </a:r>
            <a:r>
              <a:rPr lang="en-US" sz="1600" dirty="0" smtClean="0">
                <a:solidFill>
                  <a:srgbClr val="000000"/>
                </a:solidFill>
                <a:latin typeface="Consolas"/>
              </a:rPr>
              <a:t> [DB2DB]</a:t>
            </a:r>
            <a:r>
              <a:rPr lang="en-US" sz="1600" dirty="0" smtClean="0">
                <a:solidFill>
                  <a:srgbClr val="808080"/>
                </a:solidFill>
                <a:latin typeface="Consolas"/>
              </a:rPr>
              <a:t>.</a:t>
            </a:r>
            <a:r>
              <a:rPr lang="en-US" sz="1600" dirty="0" smtClean="0">
                <a:solidFill>
                  <a:srgbClr val="000000"/>
                </a:solidFill>
                <a:latin typeface="Consolas"/>
              </a:rPr>
              <a:t>[db2.example.com]</a:t>
            </a:r>
            <a:r>
              <a:rPr lang="en-US" sz="1600" dirty="0" smtClean="0">
                <a:solidFill>
                  <a:srgbClr val="808080"/>
                </a:solidFill>
                <a:latin typeface="Consolas"/>
              </a:rPr>
              <a:t>.</a:t>
            </a:r>
            <a:r>
              <a:rPr lang="en-US" sz="1600" dirty="0" smtClean="0">
                <a:solidFill>
                  <a:srgbClr val="000000"/>
                </a:solidFill>
                <a:latin typeface="Consolas"/>
              </a:rPr>
              <a:t>[</a:t>
            </a:r>
            <a:r>
              <a:rPr lang="en-US" sz="1600" dirty="0" err="1" smtClean="0">
                <a:solidFill>
                  <a:srgbClr val="000000"/>
                </a:solidFill>
                <a:latin typeface="Consolas"/>
              </a:rPr>
              <a:t>dbo</a:t>
            </a:r>
            <a:r>
              <a:rPr lang="en-US" sz="1600" dirty="0" smtClean="0">
                <a:solidFill>
                  <a:srgbClr val="000000"/>
                </a:solidFill>
                <a:latin typeface="Consolas"/>
              </a:rPr>
              <a:t>]</a:t>
            </a:r>
            <a:r>
              <a:rPr lang="en-US" sz="1600" dirty="0" smtClean="0">
                <a:solidFill>
                  <a:srgbClr val="808080"/>
                </a:solidFill>
                <a:latin typeface="Consolas"/>
              </a:rPr>
              <a:t>.</a:t>
            </a:r>
            <a:r>
              <a:rPr lang="en-US" sz="1600" dirty="0" smtClean="0">
                <a:solidFill>
                  <a:srgbClr val="000000"/>
                </a:solidFill>
                <a:latin typeface="Consolas"/>
              </a:rPr>
              <a:t>[</a:t>
            </a:r>
            <a:r>
              <a:rPr lang="en-US" sz="1600" dirty="0" err="1" smtClean="0">
                <a:solidFill>
                  <a:srgbClr val="000000"/>
                </a:solidFill>
                <a:latin typeface="Consolas"/>
              </a:rPr>
              <a:t>aspnet_Roles</a:t>
            </a:r>
            <a:r>
              <a:rPr lang="en-US" sz="1600" dirty="0" smtClean="0">
                <a:solidFill>
                  <a:srgbClr val="000000"/>
                </a:solidFill>
                <a:latin typeface="Consolas"/>
              </a:rPr>
              <a:t>] Roles </a:t>
            </a:r>
            <a:r>
              <a:rPr lang="en-US" sz="1600" dirty="0" smtClean="0">
                <a:solidFill>
                  <a:srgbClr val="0000FF"/>
                </a:solidFill>
                <a:latin typeface="Consolas"/>
              </a:rPr>
              <a:t>ON</a:t>
            </a:r>
            <a:r>
              <a:rPr lang="en-US" sz="16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600" dirty="0" err="1" smtClean="0">
                <a:solidFill>
                  <a:srgbClr val="000000"/>
                </a:solidFill>
                <a:latin typeface="Consolas"/>
              </a:rPr>
              <a:t>Roles</a:t>
            </a:r>
            <a:r>
              <a:rPr lang="en-US" sz="1600" dirty="0" err="1" smtClean="0">
                <a:solidFill>
                  <a:srgbClr val="808080"/>
                </a:solidFill>
                <a:latin typeface="Consolas"/>
              </a:rPr>
              <a:t>.</a:t>
            </a:r>
            <a:r>
              <a:rPr lang="en-US" sz="1600" dirty="0" err="1" smtClean="0">
                <a:solidFill>
                  <a:srgbClr val="000000"/>
                </a:solidFill>
                <a:latin typeface="Consolas"/>
              </a:rPr>
              <a:t>RoleId</a:t>
            </a:r>
            <a:r>
              <a:rPr lang="en-US" sz="16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600" dirty="0" smtClean="0">
                <a:solidFill>
                  <a:srgbClr val="808080"/>
                </a:solidFill>
                <a:latin typeface="Consolas"/>
              </a:rPr>
              <a:t>=</a:t>
            </a:r>
            <a:r>
              <a:rPr lang="en-US" sz="16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600" dirty="0" err="1" smtClean="0">
                <a:solidFill>
                  <a:srgbClr val="000000"/>
                </a:solidFill>
                <a:latin typeface="Consolas"/>
              </a:rPr>
              <a:t>UsersInRoles</a:t>
            </a:r>
            <a:r>
              <a:rPr lang="en-US" sz="1600" dirty="0" err="1" smtClean="0">
                <a:solidFill>
                  <a:srgbClr val="808080"/>
                </a:solidFill>
                <a:latin typeface="Consolas"/>
              </a:rPr>
              <a:t>.</a:t>
            </a:r>
            <a:r>
              <a:rPr lang="en-US" sz="1600" dirty="0" err="1" smtClean="0">
                <a:solidFill>
                  <a:srgbClr val="000000"/>
                </a:solidFill>
                <a:latin typeface="Consolas"/>
              </a:rPr>
              <a:t>RoleId</a:t>
            </a:r>
            <a:endParaRPr lang="en-US" sz="1600" dirty="0" smtClean="0">
              <a:solidFill>
                <a:srgbClr val="000000"/>
              </a:solidFill>
              <a:latin typeface="Consolas"/>
            </a:endParaRPr>
          </a:p>
          <a:p>
            <a:pPr>
              <a:buNone/>
            </a:pPr>
            <a:r>
              <a:rPr lang="en-US" sz="1600" dirty="0" smtClean="0">
                <a:solidFill>
                  <a:srgbClr val="808080"/>
                </a:solidFill>
                <a:latin typeface="Consolas"/>
              </a:rPr>
              <a:t>AND</a:t>
            </a:r>
            <a:r>
              <a:rPr lang="en-US" sz="16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600" dirty="0" err="1" smtClean="0">
                <a:solidFill>
                  <a:srgbClr val="000000"/>
                </a:solidFill>
                <a:latin typeface="Consolas"/>
              </a:rPr>
              <a:t>Roles</a:t>
            </a:r>
            <a:r>
              <a:rPr lang="en-US" sz="1600" dirty="0" err="1" smtClean="0">
                <a:solidFill>
                  <a:srgbClr val="808080"/>
                </a:solidFill>
                <a:latin typeface="Consolas"/>
              </a:rPr>
              <a:t>.</a:t>
            </a:r>
            <a:r>
              <a:rPr lang="en-US" sz="1600" dirty="0" err="1" smtClean="0">
                <a:solidFill>
                  <a:srgbClr val="000000"/>
                </a:solidFill>
                <a:latin typeface="Consolas"/>
              </a:rPr>
              <a:t>RoleName</a:t>
            </a:r>
            <a:r>
              <a:rPr lang="en-US" sz="16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600" dirty="0" smtClean="0">
                <a:solidFill>
                  <a:srgbClr val="808080"/>
                </a:solidFill>
                <a:latin typeface="Consolas"/>
              </a:rPr>
              <a:t>IN</a:t>
            </a:r>
            <a:r>
              <a:rPr lang="en-US" sz="1600" dirty="0" smtClean="0">
                <a:solidFill>
                  <a:srgbClr val="0000FF"/>
                </a:solidFill>
                <a:latin typeface="Consolas"/>
              </a:rPr>
              <a:t> </a:t>
            </a:r>
            <a:r>
              <a:rPr lang="en-US" sz="1600" dirty="0" smtClean="0">
                <a:solidFill>
                  <a:srgbClr val="808080"/>
                </a:solidFill>
                <a:latin typeface="Consolas"/>
              </a:rPr>
              <a:t>(</a:t>
            </a:r>
            <a:r>
              <a:rPr lang="en-US" sz="1600" dirty="0" smtClean="0">
                <a:solidFill>
                  <a:srgbClr val="FF0000"/>
                </a:solidFill>
                <a:latin typeface="Consolas"/>
              </a:rPr>
              <a:t>'Full Users'</a:t>
            </a:r>
            <a:r>
              <a:rPr lang="en-US" sz="1600" dirty="0" smtClean="0">
                <a:solidFill>
                  <a:srgbClr val="808080"/>
                </a:solidFill>
                <a:latin typeface="Consolas"/>
              </a:rPr>
              <a:t>,</a:t>
            </a:r>
            <a:r>
              <a:rPr lang="en-US" sz="16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600" dirty="0" smtClean="0">
                <a:solidFill>
                  <a:srgbClr val="FF0000"/>
                </a:solidFill>
                <a:latin typeface="Consolas"/>
              </a:rPr>
              <a:t>'Company Administrators'</a:t>
            </a:r>
            <a:r>
              <a:rPr lang="en-US" sz="1600" dirty="0" smtClean="0">
                <a:solidFill>
                  <a:srgbClr val="808080"/>
                </a:solidFill>
                <a:latin typeface="Consolas"/>
              </a:rPr>
              <a:t>,</a:t>
            </a:r>
            <a:r>
              <a:rPr lang="en-US" sz="1600" dirty="0" smtClean="0">
                <a:solidFill>
                  <a:srgbClr val="000000"/>
                </a:solidFill>
                <a:latin typeface="Consolas"/>
              </a:rPr>
              <a:t> </a:t>
            </a:r>
          </a:p>
          <a:p>
            <a:pPr>
              <a:buNone/>
            </a:pPr>
            <a:r>
              <a:rPr lang="en-US" sz="1600" dirty="0" smtClean="0">
                <a:solidFill>
                  <a:srgbClr val="FF0000"/>
                </a:solidFill>
                <a:latin typeface="Consolas"/>
              </a:rPr>
              <a:t>'Power Users'</a:t>
            </a:r>
            <a:r>
              <a:rPr lang="en-US" sz="1600" dirty="0" smtClean="0">
                <a:solidFill>
                  <a:srgbClr val="808080"/>
                </a:solidFill>
                <a:latin typeface="Consolas"/>
              </a:rPr>
              <a:t>,</a:t>
            </a:r>
            <a:r>
              <a:rPr lang="en-US" sz="16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600" dirty="0" smtClean="0">
                <a:solidFill>
                  <a:srgbClr val="FF0000"/>
                </a:solidFill>
                <a:latin typeface="Consolas"/>
              </a:rPr>
              <a:t>'Power Users 2'</a:t>
            </a:r>
            <a:r>
              <a:rPr lang="en-US" sz="1600" dirty="0" smtClean="0">
                <a:solidFill>
                  <a:srgbClr val="808080"/>
                </a:solidFill>
                <a:latin typeface="Consolas"/>
              </a:rPr>
              <a:t>,</a:t>
            </a:r>
            <a:r>
              <a:rPr lang="en-US" sz="16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600" dirty="0" smtClean="0">
                <a:solidFill>
                  <a:srgbClr val="FF0000"/>
                </a:solidFill>
                <a:latin typeface="Consolas"/>
              </a:rPr>
              <a:t>'Power Users '</a:t>
            </a:r>
            <a:r>
              <a:rPr lang="en-US" sz="1600" dirty="0" smtClean="0">
                <a:solidFill>
                  <a:srgbClr val="808080"/>
                </a:solidFill>
                <a:latin typeface="Consolas"/>
              </a:rPr>
              <a:t>,</a:t>
            </a:r>
            <a:r>
              <a:rPr lang="en-US" sz="16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600" dirty="0" smtClean="0">
                <a:solidFill>
                  <a:srgbClr val="FF0000"/>
                </a:solidFill>
                <a:latin typeface="Consolas"/>
              </a:rPr>
              <a:t>'Power Users 4'</a:t>
            </a:r>
            <a:r>
              <a:rPr lang="en-US" sz="1600" dirty="0" smtClean="0">
                <a:solidFill>
                  <a:srgbClr val="808080"/>
                </a:solidFill>
                <a:latin typeface="Consolas"/>
              </a:rPr>
              <a:t>,</a:t>
            </a:r>
            <a:r>
              <a:rPr lang="en-US" sz="16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600" dirty="0" smtClean="0">
                <a:solidFill>
                  <a:srgbClr val="FF0000"/>
                </a:solidFill>
                <a:latin typeface="Consolas"/>
              </a:rPr>
              <a:t>'Power Users 5'</a:t>
            </a:r>
            <a:r>
              <a:rPr lang="en-US" sz="1600" dirty="0" smtClean="0">
                <a:solidFill>
                  <a:srgbClr val="808080"/>
                </a:solidFill>
                <a:latin typeface="Consolas"/>
              </a:rPr>
              <a:t>,</a:t>
            </a:r>
            <a:r>
              <a:rPr lang="en-US" sz="1600" dirty="0" smtClean="0">
                <a:solidFill>
                  <a:srgbClr val="000000"/>
                </a:solidFill>
                <a:latin typeface="Consolas"/>
              </a:rPr>
              <a:t> </a:t>
            </a:r>
          </a:p>
          <a:p>
            <a:pPr>
              <a:buNone/>
            </a:pPr>
            <a:r>
              <a:rPr lang="en-US" sz="1600" dirty="0" smtClean="0">
                <a:solidFill>
                  <a:srgbClr val="FF0000"/>
                </a:solidFill>
                <a:latin typeface="Consolas"/>
              </a:rPr>
              <a:t>'Large File Users'</a:t>
            </a:r>
            <a:r>
              <a:rPr lang="en-US" sz="1600" dirty="0" smtClean="0">
                <a:solidFill>
                  <a:srgbClr val="808080"/>
                </a:solidFill>
                <a:latin typeface="Consolas"/>
              </a:rPr>
              <a:t>)</a:t>
            </a:r>
            <a:endParaRPr lang="en-US" sz="1600" dirty="0" smtClean="0">
              <a:solidFill>
                <a:srgbClr val="000000"/>
              </a:solidFill>
              <a:latin typeface="Consolas"/>
            </a:endParaRPr>
          </a:p>
          <a:p>
            <a:pPr>
              <a:buNone/>
            </a:pPr>
            <a:endParaRPr lang="en-US" sz="1600" dirty="0" smtClean="0">
              <a:solidFill>
                <a:srgbClr val="000000"/>
              </a:solidFill>
              <a:latin typeface="Consolas"/>
            </a:endParaRPr>
          </a:p>
          <a:p>
            <a:pPr>
              <a:buNone/>
            </a:pPr>
            <a:r>
              <a:rPr lang="en-US" sz="1600" dirty="0" smtClean="0">
                <a:solidFill>
                  <a:srgbClr val="0000FF"/>
                </a:solidFill>
                <a:latin typeface="Consolas"/>
              </a:rPr>
              <a:t>SELECT</a:t>
            </a:r>
            <a:r>
              <a:rPr lang="en-US" sz="1600" dirty="0" smtClean="0">
                <a:solidFill>
                  <a:srgbClr val="000000"/>
                </a:solidFill>
                <a:latin typeface="Consolas"/>
              </a:rPr>
              <a:t> @#DB1FullUsers </a:t>
            </a:r>
            <a:r>
              <a:rPr lang="en-US" sz="1600" dirty="0" smtClean="0">
                <a:solidFill>
                  <a:srgbClr val="808080"/>
                </a:solidFill>
                <a:latin typeface="Consolas"/>
              </a:rPr>
              <a:t>+</a:t>
            </a:r>
            <a:r>
              <a:rPr lang="en-US" sz="1600" dirty="0" smtClean="0">
                <a:solidFill>
                  <a:srgbClr val="000000"/>
                </a:solidFill>
                <a:latin typeface="Consolas"/>
              </a:rPr>
              <a:t> @#DB2FullUsers </a:t>
            </a:r>
            <a:r>
              <a:rPr lang="en-US" sz="1600" dirty="0" smtClean="0">
                <a:solidFill>
                  <a:srgbClr val="0000FF"/>
                </a:solidFill>
                <a:latin typeface="Consolas"/>
              </a:rPr>
              <a:t>AS</a:t>
            </a:r>
            <a:r>
              <a:rPr lang="en-US" sz="16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600" dirty="0" smtClean="0">
                <a:solidFill>
                  <a:srgbClr val="FF0000"/>
                </a:solidFill>
                <a:latin typeface="Consolas"/>
              </a:rPr>
              <a:t>'# Full Users'</a:t>
            </a:r>
            <a:endParaRPr lang="en-US" sz="1600" dirty="0" smtClean="0">
              <a:solidFill>
                <a:srgbClr val="000000"/>
              </a:solidFill>
              <a:latin typeface="Consolas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You &amp; See You Again</a:t>
            </a:r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8187</TotalTime>
  <Words>1397</Words>
  <Application>Microsoft Office PowerPoint</Application>
  <PresentationFormat>On-screen Show (4:3)</PresentationFormat>
  <Paragraphs>171</Paragraphs>
  <Slides>33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4" baseType="lpstr">
      <vt:lpstr>Office Theme</vt:lpstr>
      <vt:lpstr>The SELECT Statement</vt:lpstr>
      <vt:lpstr>Objectives</vt:lpstr>
      <vt:lpstr>Contents</vt:lpstr>
      <vt:lpstr>References</vt:lpstr>
      <vt:lpstr>Transact-SQL [1]</vt:lpstr>
      <vt:lpstr>SQL and T-SQL Commands</vt:lpstr>
      <vt:lpstr>T-SQL Query and Batches</vt:lpstr>
      <vt:lpstr>Slide 8</vt:lpstr>
      <vt:lpstr>SELECT Statement: Syntactical Flow</vt:lpstr>
      <vt:lpstr>Example</vt:lpstr>
      <vt:lpstr>Create and Execute a Query</vt:lpstr>
      <vt:lpstr>Query Designer</vt:lpstr>
      <vt:lpstr>Example of Using Query Designer</vt:lpstr>
      <vt:lpstr>SELECT Statement: Logical Flow</vt:lpstr>
      <vt:lpstr>SELECT Statement: Physical Flow</vt:lpstr>
      <vt:lpstr>Query Plan Reuse</vt:lpstr>
      <vt:lpstr>Slide 17</vt:lpstr>
      <vt:lpstr>View</vt:lpstr>
      <vt:lpstr>Create and Use Views</vt:lpstr>
      <vt:lpstr>How View Works</vt:lpstr>
      <vt:lpstr>Alternatives to Views</vt:lpstr>
      <vt:lpstr>Slide 22</vt:lpstr>
      <vt:lpstr>Data Types (I)</vt:lpstr>
      <vt:lpstr>Data Types (II)</vt:lpstr>
      <vt:lpstr>SQL Expressions</vt:lpstr>
      <vt:lpstr>Table Variable</vt:lpstr>
      <vt:lpstr>Integer Division</vt:lpstr>
      <vt:lpstr>Slide 28</vt:lpstr>
      <vt:lpstr>Add or Remove Linked Servers</vt:lpstr>
      <vt:lpstr>SELECT From Multiple Servers (I)</vt:lpstr>
      <vt:lpstr>SELECT From Multiple Servers (II)</vt:lpstr>
      <vt:lpstr>SELECT From Multiple Servers (III)</vt:lpstr>
      <vt:lpstr>Thank You &amp; See You Again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4045</cp:revision>
  <dcterms:created xsi:type="dcterms:W3CDTF">2007-10-06T08:25:13Z</dcterms:created>
  <dcterms:modified xsi:type="dcterms:W3CDTF">2024-11-07T20:01:49Z</dcterms:modified>
</cp:coreProperties>
</file>