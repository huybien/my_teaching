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477" r:id="rId3"/>
    <p:sldId id="607" r:id="rId4"/>
    <p:sldId id="478" r:id="rId5"/>
    <p:sldId id="619" r:id="rId6"/>
    <p:sldId id="620" r:id="rId7"/>
    <p:sldId id="618" r:id="rId8"/>
    <p:sldId id="621" r:id="rId9"/>
    <p:sldId id="625" r:id="rId10"/>
    <p:sldId id="626" r:id="rId11"/>
    <p:sldId id="623" r:id="rId12"/>
    <p:sldId id="343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01" autoAdjust="0"/>
    <p:restoredTop sz="94667" autoAdjust="0"/>
  </p:normalViewPr>
  <p:slideViewPr>
    <p:cSldViewPr>
      <p:cViewPr>
        <p:scale>
          <a:sx n="50" d="100"/>
          <a:sy n="50" d="100"/>
        </p:scale>
        <p:origin x="-155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Vector Databases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5410200" cy="37338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6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2228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5259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>
              <a:latin typeface="+mj-lt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k-dimensional binary search </a:t>
            </a:r>
            <a:r>
              <a:rPr lang="en-US" dirty="0" smtClean="0"/>
              <a:t>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 smtClean="0"/>
              <a:t>Jon Louis Bentley (1975). Multidimensional  Binary Search Trees Used for Associative </a:t>
            </a:r>
            <a:r>
              <a:rPr lang="en-US" sz="2000" b="1" dirty="0" smtClean="0"/>
              <a:t>Searching.</a:t>
            </a:r>
          </a:p>
          <a:p>
            <a:r>
              <a:rPr lang="en-US" sz="2000" dirty="0" smtClean="0"/>
              <a:t>A </a:t>
            </a:r>
            <a:r>
              <a:rPr lang="en-US" sz="2000" b="1" dirty="0" smtClean="0"/>
              <a:t>k-d tree</a:t>
            </a:r>
            <a:r>
              <a:rPr lang="en-US" sz="2000" dirty="0" smtClean="0"/>
              <a:t> is like a binary search tree, but instead of sorting by one key, it alternates between dimensions. The </a:t>
            </a:r>
            <a:r>
              <a:rPr lang="en-US" sz="2000" dirty="0" smtClean="0"/>
              <a:t>"k" </a:t>
            </a:r>
            <a:r>
              <a:rPr lang="en-US" sz="2000" dirty="0" smtClean="0"/>
              <a:t>means the number of dimensions, such as 2D, 3D, or 128D.</a:t>
            </a:r>
            <a:endParaRPr lang="en-US" sz="2000" dirty="0" smtClean="0"/>
          </a:p>
          <a:p>
            <a:r>
              <a:rPr lang="en-US" sz="2000" dirty="0" smtClean="0"/>
              <a:t>For 2D points, it may split by:</a:t>
            </a:r>
          </a:p>
          <a:p>
            <a:pPr lvl="1"/>
            <a:r>
              <a:rPr lang="en-US" sz="1800" dirty="0" smtClean="0"/>
              <a:t>Level 0: x </a:t>
            </a:r>
            <a:r>
              <a:rPr lang="en-US" sz="1800" dirty="0" smtClean="0"/>
              <a:t>coordinate</a:t>
            </a:r>
          </a:p>
          <a:p>
            <a:pPr lvl="1"/>
            <a:r>
              <a:rPr lang="en-US" sz="1800" dirty="0" smtClean="0"/>
              <a:t>Level </a:t>
            </a:r>
            <a:r>
              <a:rPr lang="en-US" sz="1800" dirty="0" smtClean="0"/>
              <a:t>1: y </a:t>
            </a:r>
            <a:r>
              <a:rPr lang="en-US" sz="1800" dirty="0" smtClean="0"/>
              <a:t>coordinate</a:t>
            </a:r>
          </a:p>
          <a:p>
            <a:pPr lvl="1"/>
            <a:r>
              <a:rPr lang="en-US" sz="1800" dirty="0" smtClean="0"/>
              <a:t>Level </a:t>
            </a:r>
            <a:r>
              <a:rPr lang="en-US" sz="1800" dirty="0" smtClean="0"/>
              <a:t>2: x </a:t>
            </a:r>
            <a:r>
              <a:rPr lang="en-US" sz="1800" dirty="0" smtClean="0"/>
              <a:t>coordinate</a:t>
            </a:r>
          </a:p>
          <a:p>
            <a:pPr lvl="1"/>
            <a:r>
              <a:rPr lang="en-US" sz="1800" dirty="0" smtClean="0"/>
              <a:t>Level </a:t>
            </a:r>
            <a:r>
              <a:rPr lang="en-US" sz="1800" dirty="0" smtClean="0"/>
              <a:t>3: y coordinate</a:t>
            </a:r>
          </a:p>
          <a:p>
            <a:r>
              <a:rPr lang="en-US" sz="2000" dirty="0" smtClean="0"/>
              <a:t>A k-d tree avoids checking many points because each split creates a geometric boundary. During search, if the query is already closer to the current best point than it is to the boundary of an unexplored region, that whole region cannot contain a better answer.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Searching k-d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A </a:t>
            </a:r>
            <a:r>
              <a:rPr lang="en-US" sz="2000" b="1" dirty="0" smtClean="0"/>
              <a:t>k-d tree can be used for exact search or approximate search</a:t>
            </a:r>
            <a:r>
              <a:rPr lang="en-US" sz="2000" dirty="0" smtClean="0"/>
              <a:t>, depending on the search algorithm.</a:t>
            </a:r>
          </a:p>
          <a:p>
            <a:r>
              <a:rPr lang="en-US" sz="2000" dirty="0" smtClean="0"/>
              <a:t>The original idea is an </a:t>
            </a:r>
            <a:r>
              <a:rPr lang="en-US" sz="2000" b="1" dirty="0" smtClean="0"/>
              <a:t>exact spatial index</a:t>
            </a:r>
            <a:r>
              <a:rPr lang="en-US" sz="2000" dirty="0" smtClean="0"/>
              <a:t>. If you perform full backtracking and only prune a region when it is mathematically impossible for that region to contain a closer point, the result is exact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Exact </a:t>
            </a:r>
            <a:r>
              <a:rPr lang="en-US" sz="2000" dirty="0" smtClean="0"/>
              <a:t>k-d tree search </a:t>
            </a:r>
            <a:r>
              <a:rPr lang="en-US" sz="2000" dirty="0" smtClean="0"/>
              <a:t>means: Skip </a:t>
            </a:r>
            <a:r>
              <a:rPr lang="en-US" sz="2000" dirty="0" smtClean="0"/>
              <a:t>a </a:t>
            </a:r>
            <a:r>
              <a:rPr lang="en-US" sz="2000" dirty="0" err="1" smtClean="0"/>
              <a:t>subtree</a:t>
            </a:r>
            <a:r>
              <a:rPr lang="en-US" sz="2000" dirty="0" smtClean="0"/>
              <a:t> only when geometry proves it cannot contain a better answer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Approximate k-d tree search </a:t>
            </a:r>
            <a:r>
              <a:rPr lang="en-US" sz="2000" dirty="0" smtClean="0"/>
              <a:t>means: Skip </a:t>
            </a:r>
            <a:r>
              <a:rPr lang="en-US" sz="2000" dirty="0" smtClean="0"/>
              <a:t>a </a:t>
            </a:r>
            <a:r>
              <a:rPr lang="en-US" sz="2000" dirty="0" err="1" smtClean="0"/>
              <a:t>subtree</a:t>
            </a:r>
            <a:r>
              <a:rPr lang="en-US" sz="2000" dirty="0" smtClean="0"/>
              <a:t> because it is probably not useful, or because we set a time/visit limit.</a:t>
            </a:r>
          </a:p>
          <a:p>
            <a:r>
              <a:rPr lang="en-US" sz="2000" dirty="0" smtClean="0"/>
              <a:t>For low-dimensional data, exact k-d tree search can work well. For high-dimensional embeddings, exact k-d tree search often loses its advantage and may need to check many points, sometimes nearly all points</a:t>
            </a:r>
            <a:r>
              <a:rPr lang="en-US" sz="2000" dirty="0" smtClean="0"/>
              <a:t>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Hierarchical Navigable Small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Yu. A. </a:t>
            </a:r>
            <a:r>
              <a:rPr lang="en-US" sz="2400" b="1" dirty="0" err="1" smtClean="0"/>
              <a:t>Malkov</a:t>
            </a:r>
            <a:r>
              <a:rPr lang="en-US" sz="2400" b="1" dirty="0" smtClean="0"/>
              <a:t> and D. A. </a:t>
            </a:r>
            <a:r>
              <a:rPr lang="en-US" sz="2400" b="1" dirty="0" err="1" smtClean="0"/>
              <a:t>Yashunin</a:t>
            </a:r>
            <a:r>
              <a:rPr lang="en-US" sz="2400" b="1" dirty="0" smtClean="0"/>
              <a:t> (2016). Efficient and robust approximate nearest neighbor search using Hierarchical Navigable </a:t>
            </a:r>
            <a:r>
              <a:rPr lang="en-US" sz="2400" b="1" dirty="0" smtClean="0"/>
              <a:t>Small </a:t>
            </a:r>
            <a:r>
              <a:rPr lang="en-US" sz="2400" b="1" dirty="0" smtClean="0"/>
              <a:t>World </a:t>
            </a:r>
            <a:r>
              <a:rPr lang="en-US" sz="2400" b="1" dirty="0" smtClean="0"/>
              <a:t>graphs.</a:t>
            </a:r>
          </a:p>
          <a:p>
            <a:r>
              <a:rPr lang="en-US" sz="2400" dirty="0" smtClean="0"/>
              <a:t>HNSW builds a multi-layer graph of </a:t>
            </a:r>
            <a:r>
              <a:rPr lang="en-US" sz="2400" dirty="0" smtClean="0"/>
              <a:t>vectors.</a:t>
            </a:r>
          </a:p>
          <a:p>
            <a:r>
              <a:rPr lang="en-US" sz="2400" dirty="0" smtClean="0"/>
              <a:t>Nearby </a:t>
            </a:r>
            <a:r>
              <a:rPr lang="en-US" sz="2400" dirty="0" smtClean="0"/>
              <a:t>vectors are connected by edges. Upper layers are sparse and support long jumps; lower layers are denser and refine the </a:t>
            </a:r>
            <a:r>
              <a:rPr lang="en-US" sz="2400" dirty="0" smtClean="0"/>
              <a:t>search.</a:t>
            </a:r>
          </a:p>
          <a:p>
            <a:r>
              <a:rPr lang="en-US" sz="2400" dirty="0" smtClean="0"/>
              <a:t>A </a:t>
            </a:r>
            <a:r>
              <a:rPr lang="en-US" sz="2400" dirty="0" smtClean="0"/>
              <a:t>query starts at an entry point in the top layer, greedily moves to closer nodes, descends layer by layer, and finally performs a broader candidate search near the bottom layer.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HNSW Insertion and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 graph-based approximate nearest-neighbor search, such as HNSW, the index stores vectors together with a proximity </a:t>
            </a:r>
            <a:r>
              <a:rPr lang="en-US" sz="2400" dirty="0" smtClean="0"/>
              <a:t>graph.</a:t>
            </a:r>
          </a:p>
          <a:p>
            <a:r>
              <a:rPr lang="en-US" sz="2400" dirty="0" smtClean="0"/>
              <a:t>During </a:t>
            </a:r>
            <a:r>
              <a:rPr lang="en-US" sz="2400" b="1" dirty="0" smtClean="0"/>
              <a:t>insertion</a:t>
            </a:r>
            <a:r>
              <a:rPr lang="en-US" sz="2400" dirty="0" smtClean="0"/>
              <a:t>, a graph-based index such as HNSW still has to compare the new vector with existing vectors, but it does </a:t>
            </a:r>
            <a:r>
              <a:rPr lang="en-US" sz="2400" b="1" dirty="0" smtClean="0"/>
              <a:t>not</a:t>
            </a:r>
            <a:r>
              <a:rPr lang="en-US" sz="2400" dirty="0" smtClean="0"/>
              <a:t> compare against all existing vectors.</a:t>
            </a:r>
          </a:p>
          <a:p>
            <a:r>
              <a:rPr lang="en-US" sz="2400" dirty="0" smtClean="0"/>
              <a:t>It performs an </a:t>
            </a:r>
            <a:r>
              <a:rPr lang="en-US" sz="2400" b="1" dirty="0" smtClean="0"/>
              <a:t>approximate search using the graph that already exists</a:t>
            </a:r>
            <a:r>
              <a:rPr lang="en-US" sz="2400" dirty="0" smtClean="0"/>
              <a:t>, then connects the new vector to the best candidates it found.</a:t>
            </a:r>
          </a:p>
          <a:p>
            <a:r>
              <a:rPr lang="en-US" sz="2400" dirty="0" smtClean="0"/>
              <a:t>Search </a:t>
            </a:r>
            <a:r>
              <a:rPr lang="en-US" sz="2400" dirty="0" smtClean="0"/>
              <a:t>is then performed by navigating the graph from coarse to fine neighborhoods, instead of comparing the query against every vector</a:t>
            </a:r>
            <a:r>
              <a:rPr lang="en-US" sz="2400" dirty="0" smtClean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Scaling Vector 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Naive </a:t>
            </a:r>
            <a:r>
              <a:rPr lang="en-US" sz="2400" dirty="0" smtClean="0"/>
              <a:t>HNSW cannot reasonably work for billion </a:t>
            </a:r>
            <a:r>
              <a:rPr lang="en-US" sz="2400" dirty="0" smtClean="0"/>
              <a:t>vectors.</a:t>
            </a:r>
          </a:p>
          <a:p>
            <a:r>
              <a:rPr lang="en-US" sz="2400" b="1" dirty="0" smtClean="0"/>
              <a:t>(2017). Billion-scale similarity search with GPUs</a:t>
            </a:r>
            <a:r>
              <a:rPr lang="en-US" sz="2400" b="1" dirty="0" smtClean="0"/>
              <a:t>.</a:t>
            </a:r>
          </a:p>
          <a:p>
            <a:r>
              <a:rPr lang="en-US" sz="2400" b="1" dirty="0" smtClean="0"/>
              <a:t>(2024). The FAISS Library.</a:t>
            </a:r>
            <a:endParaRPr lang="en-US" sz="2400" dirty="0" smtClean="0"/>
          </a:p>
          <a:p>
            <a:r>
              <a:rPr lang="en-US" sz="2400" dirty="0" smtClean="0"/>
              <a:t>FAISS-style </a:t>
            </a:r>
            <a:r>
              <a:rPr lang="en-US" sz="2400" dirty="0" smtClean="0"/>
              <a:t>GPU search combines exact search, approximate search, and compressed-domain search with optimized GPU k-selection.</a:t>
            </a:r>
          </a:p>
          <a:p>
            <a:r>
              <a:rPr lang="en-US" sz="2400" dirty="0" smtClean="0"/>
              <a:t>FAISS is useful if you care about implementation at billion-vector scale.</a:t>
            </a:r>
          </a:p>
          <a:p>
            <a:r>
              <a:rPr lang="en-US" sz="2400" b="1" dirty="0" smtClean="0"/>
              <a:t>(</a:t>
            </a:r>
            <a:r>
              <a:rPr lang="en-US" sz="2400" b="1" dirty="0" smtClean="0"/>
              <a:t>2019). </a:t>
            </a:r>
            <a:r>
              <a:rPr lang="en-US" sz="2400" b="1" dirty="0" err="1" smtClean="0"/>
              <a:t>DiskANN</a:t>
            </a:r>
            <a:r>
              <a:rPr lang="en-US" sz="2400" b="1" dirty="0" smtClean="0"/>
              <a:t>: </a:t>
            </a:r>
            <a:r>
              <a:rPr lang="en-US" sz="2400" b="1" dirty="0" smtClean="0"/>
              <a:t>Fast Accurate Billion-point Nearest Neighbor Search on a Single </a:t>
            </a:r>
            <a:r>
              <a:rPr lang="en-US" sz="2400" b="1" dirty="0" smtClean="0"/>
              <a:t>Node.</a:t>
            </a:r>
          </a:p>
          <a:p>
            <a:endParaRPr lang="en-US" sz="2400" b="1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 Quantization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err="1" smtClean="0"/>
              <a:t>Herve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Jego</a:t>
            </a:r>
            <a:r>
              <a:rPr lang="en-US" sz="2400" b="1" dirty="0" smtClean="0"/>
              <a:t> et al. (2010). Product quantization for nearest neighbor </a:t>
            </a:r>
            <a:r>
              <a:rPr lang="en-US" sz="2400" b="1" dirty="0" smtClean="0"/>
              <a:t>search.</a:t>
            </a:r>
          </a:p>
          <a:p>
            <a:r>
              <a:rPr lang="en-US" sz="2400" dirty="0" smtClean="0"/>
              <a:t>Product Quantization compresses vectors into short </a:t>
            </a:r>
            <a:r>
              <a:rPr lang="en-US" sz="2400" dirty="0" smtClean="0"/>
              <a:t>codes.</a:t>
            </a:r>
          </a:p>
          <a:p>
            <a:r>
              <a:rPr lang="en-US" sz="2400" dirty="0" smtClean="0"/>
              <a:t>It </a:t>
            </a:r>
            <a:r>
              <a:rPr lang="en-US" sz="2400" dirty="0" smtClean="0"/>
              <a:t>splits a vector into sub-vectors, quantizes each subspace separately, and estimates distances using lookup tables instead of full vector </a:t>
            </a:r>
            <a:r>
              <a:rPr lang="en-US" sz="2400" dirty="0" smtClean="0"/>
              <a:t>comparisons.</a:t>
            </a:r>
          </a:p>
          <a:p>
            <a:r>
              <a:rPr lang="en-US" sz="2400" dirty="0" smtClean="0"/>
              <a:t>This </a:t>
            </a:r>
            <a:r>
              <a:rPr lang="en-US" sz="2400" dirty="0" smtClean="0"/>
              <a:t>is important for billion-scale search and is used heavily in FAISS-style systems.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9257</TotalTime>
  <Words>653</Words>
  <Application>Microsoft Office PowerPoint</Application>
  <PresentationFormat>On-screen Show (4:3)</PresentationFormat>
  <Paragraphs>48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Vector Databases</vt:lpstr>
      <vt:lpstr>Objectives</vt:lpstr>
      <vt:lpstr>Contents</vt:lpstr>
      <vt:lpstr>References</vt:lpstr>
      <vt:lpstr>k-dimensional binary search trees</vt:lpstr>
      <vt:lpstr>Searching k-d tree</vt:lpstr>
      <vt:lpstr>Slide 7</vt:lpstr>
      <vt:lpstr>Hierarchical Navigable Small World</vt:lpstr>
      <vt:lpstr>HNSW Insertion and Search</vt:lpstr>
      <vt:lpstr>Scaling Vector Database</vt:lpstr>
      <vt:lpstr>Product Quantization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3790</cp:revision>
  <dcterms:created xsi:type="dcterms:W3CDTF">2007-10-06T08:25:13Z</dcterms:created>
  <dcterms:modified xsi:type="dcterms:W3CDTF">2026-07-07T12:05:07Z</dcterms:modified>
</cp:coreProperties>
</file>