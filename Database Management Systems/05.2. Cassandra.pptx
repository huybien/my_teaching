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handoutMasterIdLst>
    <p:handoutMasterId r:id="rId15"/>
  </p:handoutMasterIdLst>
  <p:sldIdLst>
    <p:sldId id="256" r:id="rId2"/>
    <p:sldId id="412" r:id="rId3"/>
    <p:sldId id="353" r:id="rId4"/>
    <p:sldId id="428" r:id="rId5"/>
    <p:sldId id="421" r:id="rId6"/>
    <p:sldId id="429" r:id="rId7"/>
    <p:sldId id="430" r:id="rId8"/>
    <p:sldId id="431" r:id="rId9"/>
    <p:sldId id="424" r:id="rId10"/>
    <p:sldId id="426" r:id="rId11"/>
    <p:sldId id="432" r:id="rId12"/>
    <p:sldId id="427" r:id="rId13"/>
    <p:sldId id="360" r:id="rId14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171" autoAdjust="0"/>
    <p:restoredTop sz="94667" autoAdjust="0"/>
  </p:normalViewPr>
  <p:slideViewPr>
    <p:cSldViewPr>
      <p:cViewPr>
        <p:scale>
          <a:sx n="60" d="100"/>
          <a:sy n="60" d="100"/>
        </p:scale>
        <p:origin x="-1392" y="-18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1727DC-2E8F-43B3-8355-CCE0B6704CEB}" type="datetimeFigureOut">
              <a:rPr lang="en-US" smtClean="0"/>
              <a:pPr/>
              <a:t>4/29/2021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0B4380-3815-4B2E-92FA-ED1993E061BE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7F6A842-585B-4FB8-B0AD-5A22636E93BF}" type="datetimeFigureOut">
              <a:rPr lang="en-US"/>
              <a:pPr>
                <a:defRPr/>
              </a:pPr>
              <a:t>4/29/2021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A757F44-DAAA-4BFA-A1D9-B690FD69F10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7CC13E-AA34-4DB7-B0EC-5E3AAA7D3BAC}" type="datetimeFigureOut">
              <a:rPr lang="en-US"/>
              <a:pPr>
                <a:defRPr/>
              </a:pPr>
              <a:t>4/29/2021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6F6660F-9FDB-4AFB-BE29-11A381729C2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883334-71C9-49E2-A0BB-A043C182B878}" type="datetimeFigureOut">
              <a:rPr lang="en-US"/>
              <a:pPr>
                <a:defRPr/>
              </a:pPr>
              <a:t>4/29/2021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4F881E5-BD58-41FC-93AD-0A909108779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AC3020B-3D2A-4D8C-B5FF-4D6A024CBDE8}" type="datetimeFigureOut">
              <a:rPr lang="en-US"/>
              <a:pPr>
                <a:defRPr/>
              </a:pPr>
              <a:t>4/29/2021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08E1C0-584A-404B-B99A-E5AD89ACF00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DB17DBA-E622-4CD1-BCA3-A03CD04FDCC6}" type="datetimeFigureOut">
              <a:rPr lang="en-US"/>
              <a:pPr>
                <a:defRPr/>
              </a:pPr>
              <a:t>4/29/2021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C9F4D90-9228-45C4-A427-06E557DE9CF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91D3DF-EF49-4212-81A5-83E2D6EC0182}" type="datetimeFigureOut">
              <a:rPr lang="en-US"/>
              <a:pPr>
                <a:defRPr/>
              </a:pPr>
              <a:t>4/29/2021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5E97F0E-0BE9-471F-A7B8-4D2E909F9B3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F86690-AF43-474E-AAC4-06B4786F7A5B}" type="datetimeFigureOut">
              <a:rPr lang="en-US"/>
              <a:pPr>
                <a:defRPr/>
              </a:pPr>
              <a:t>4/29/2021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C646AD9-6F95-4021-BF75-BF9B58A70F5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3CF0E39-78E2-4DE3-8C65-7CAB11F37A23}" type="datetimeFigureOut">
              <a:rPr lang="en-US"/>
              <a:pPr>
                <a:defRPr/>
              </a:pPr>
              <a:t>4/29/2021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4CF80FB-C1F7-4ADD-9C33-A8D7E6B4966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C12A139-0756-4DC4-8001-1DFC6C3458CC}" type="datetimeFigureOut">
              <a:rPr lang="en-US"/>
              <a:pPr>
                <a:defRPr/>
              </a:pPr>
              <a:t>4/29/2021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8795BAB-E1F5-4BBA-9D33-03EFE2F8DDA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E7FC515-BCDF-4B2C-80BB-863C58D176FB}" type="datetimeFigureOut">
              <a:rPr lang="en-US"/>
              <a:pPr>
                <a:defRPr/>
              </a:pPr>
              <a:t>4/29/2021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2C6CC5B-ED2C-42FF-AE49-898FC683E24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2C8C39-B056-4409-B30D-266D32EB71C5}" type="datetimeFigureOut">
              <a:rPr lang="en-US"/>
              <a:pPr>
                <a:defRPr/>
              </a:pPr>
              <a:t>4/29/2021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D453D-B7C3-4D56-B8B4-B49BCBFB825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B325272-1ED5-4E24-A128-8E8DEE352665}" type="datetimeFigureOut">
              <a:rPr lang="en-US"/>
              <a:pPr>
                <a:defRPr/>
              </a:pPr>
              <a:t>4/29/2021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5F7590F4-D8FE-45EA-A958-7E45569A001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nhbien@fit.hcmus.edu.v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cassandra.apache.org/doc/latest/getting_started/installing.html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datastax.com/en/archived/cassandra/3.0/cassandra/architecture/archIntro.html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sz="6000" dirty="0" smtClean="0"/>
              <a:t>Cassandra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 fontScale="400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5400" dirty="0" smtClean="0"/>
              <a:t>Lecturer: Ngo Huy Bien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Software Engineering Department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Faculty of Information Technology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VNUHCM - University of Science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Ho Chi Minh City, Vietnam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smtClean="0">
                <a:hlinkClick r:id="rId2"/>
              </a:rPr>
              <a:t>nhbien@fit.hcmus.edu.vn</a:t>
            </a:r>
            <a:endParaRPr lang="en-US" sz="4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5334000" cy="3428999"/>
          </a:xfrm>
        </p:spPr>
        <p:txBody>
          <a:bodyPr/>
          <a:lstStyle/>
          <a:p>
            <a:pPr>
              <a:buFont typeface="Wingdings" pitchFamily="2" charset="2"/>
              <a:buChar char="Ø"/>
            </a:pPr>
            <a:endParaRPr lang="en-US" sz="2400" i="1" dirty="0" smtClean="0">
              <a:solidFill>
                <a:srgbClr val="C00000"/>
              </a:solidFill>
            </a:endParaRP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19800" y="1828800"/>
            <a:ext cx="2762250" cy="2114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0"/>
            <a:ext cx="5715000" cy="4724400"/>
          </a:xfrm>
        </p:spPr>
        <p:txBody>
          <a:bodyPr/>
          <a:lstStyle/>
          <a:p>
            <a:pPr marL="457200" lvl="0" indent="-457200">
              <a:buFont typeface="+mj-lt"/>
              <a:buAutoNum type="arabicPeriod"/>
            </a:pPr>
            <a:r>
              <a:rPr lang="en-US" sz="2400" dirty="0" smtClean="0"/>
              <a:t>Jeff Carpenter and </a:t>
            </a:r>
            <a:r>
              <a:rPr lang="en-US" sz="2400" dirty="0" err="1" smtClean="0"/>
              <a:t>Eben</a:t>
            </a:r>
            <a:r>
              <a:rPr lang="en-US" sz="2400" dirty="0" smtClean="0"/>
              <a:t> Hewitt (2020). Cassandra - The Definitive Guide - Distributed Data at Web Scale. O'Reilly </a:t>
            </a:r>
            <a:r>
              <a:rPr lang="en-US" sz="2400" dirty="0" smtClean="0"/>
              <a:t>Media.</a:t>
            </a:r>
            <a:endParaRPr lang="en-US" sz="2400" dirty="0" smtClean="0"/>
          </a:p>
        </p:txBody>
      </p:sp>
      <p:pic>
        <p:nvPicPr>
          <p:cNvPr id="4" name="Picture 4" descr="http://2.bp.blogspot.com/-FqRM_5NQE6Q/TaSdzyWfvtI/AAAAAAAAAFg/C_2LDJWJOx4/s1600/books-pil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248400" y="1676400"/>
            <a:ext cx="2724150" cy="413385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Cassandra </a:t>
            </a:r>
            <a:r>
              <a:rPr lang="en-US" dirty="0" smtClean="0"/>
              <a:t>Elevator Pitch [1]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Apache Cassandra is an open source, distributed, </a:t>
            </a:r>
            <a:r>
              <a:rPr lang="en-US" sz="2400" dirty="0" smtClean="0"/>
              <a:t>decentralized, elastically </a:t>
            </a:r>
            <a:r>
              <a:rPr lang="en-US" sz="2400" dirty="0" smtClean="0"/>
              <a:t>scalable, highly available, fault-tolerant, </a:t>
            </a:r>
            <a:r>
              <a:rPr lang="en-US" sz="2400" dirty="0" err="1" smtClean="0"/>
              <a:t>tuneably</a:t>
            </a:r>
            <a:r>
              <a:rPr lang="en-US" sz="2400" dirty="0" smtClean="0"/>
              <a:t> </a:t>
            </a:r>
            <a:r>
              <a:rPr lang="en-US" sz="2400" dirty="0" smtClean="0"/>
              <a:t>consistent, row-oriented </a:t>
            </a:r>
            <a:r>
              <a:rPr lang="en-US" sz="2400" dirty="0" smtClean="0"/>
              <a:t>database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Cassandra </a:t>
            </a:r>
            <a:r>
              <a:rPr lang="en-US" sz="2400" dirty="0" smtClean="0"/>
              <a:t>bases its distribution design </a:t>
            </a:r>
            <a:r>
              <a:rPr lang="en-US" sz="2400" dirty="0" smtClean="0"/>
              <a:t>on Amazon’s </a:t>
            </a:r>
            <a:r>
              <a:rPr lang="en-US" sz="2400" dirty="0" smtClean="0"/>
              <a:t>Dynamo and its data model on Google’s </a:t>
            </a:r>
            <a:r>
              <a:rPr lang="en-US" sz="2400" dirty="0" err="1" smtClean="0"/>
              <a:t>Bigtable</a:t>
            </a:r>
            <a:r>
              <a:rPr lang="en-US" sz="2400" dirty="0" smtClean="0"/>
              <a:t>, with </a:t>
            </a:r>
            <a:r>
              <a:rPr lang="en-US" sz="2400" dirty="0" smtClean="0"/>
              <a:t>a </a:t>
            </a:r>
            <a:r>
              <a:rPr lang="en-US" sz="2400" dirty="0" smtClean="0"/>
              <a:t>query language similar to </a:t>
            </a:r>
            <a:r>
              <a:rPr lang="en-US" sz="2400" dirty="0" smtClean="0"/>
              <a:t>SQL.</a:t>
            </a:r>
          </a:p>
          <a:p>
            <a:r>
              <a:rPr lang="en-US" sz="2400" dirty="0" smtClean="0"/>
              <a:t>Created </a:t>
            </a:r>
            <a:r>
              <a:rPr lang="en-US" sz="2400" dirty="0" smtClean="0"/>
              <a:t>at </a:t>
            </a:r>
            <a:r>
              <a:rPr lang="en-US" sz="2400" dirty="0" err="1" smtClean="0"/>
              <a:t>Facebook</a:t>
            </a:r>
            <a:r>
              <a:rPr lang="en-US" sz="2400" dirty="0" smtClean="0"/>
              <a:t>, it now </a:t>
            </a:r>
            <a:r>
              <a:rPr lang="en-US" sz="2400" dirty="0" smtClean="0"/>
              <a:t>powers cloud-scale </a:t>
            </a:r>
            <a:r>
              <a:rPr lang="en-US" sz="2400" dirty="0" smtClean="0"/>
              <a:t>applications across many industries.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Install Prerequisites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Check </a:t>
            </a:r>
            <a:r>
              <a:rPr lang="en-US" sz="2400" dirty="0" smtClean="0"/>
              <a:t>prerequisites</a:t>
            </a:r>
            <a:endParaRPr lang="en-US" sz="2400" dirty="0" smtClean="0">
              <a:hlinkClick r:id="rId2"/>
            </a:endParaRPr>
          </a:p>
          <a:p>
            <a:pPr lvl="1"/>
            <a:r>
              <a:rPr lang="en-US" sz="1600" dirty="0" smtClean="0">
                <a:hlinkClick r:id="rId2"/>
              </a:rPr>
              <a:t>https://cassandra.apache.org/doc/latest/getting_started/installing.html#prerequisites</a:t>
            </a:r>
            <a:endParaRPr lang="en-US" sz="1600" dirty="0" smtClean="0"/>
          </a:p>
          <a:p>
            <a:r>
              <a:rPr lang="fr-FR" sz="2400" dirty="0" smtClean="0"/>
              <a:t>Install Oracle Java Standard Edition 8</a:t>
            </a:r>
          </a:p>
          <a:p>
            <a:pPr lvl="1"/>
            <a:r>
              <a:rPr lang="en-US" sz="1800" dirty="0" err="1" smtClean="0">
                <a:latin typeface="Consolas" pitchFamily="49" charset="0"/>
              </a:rPr>
              <a:t>sudo</a:t>
            </a:r>
            <a:r>
              <a:rPr lang="en-US" sz="1800" dirty="0" smtClean="0">
                <a:latin typeface="Consolas" pitchFamily="49" charset="0"/>
              </a:rPr>
              <a:t> </a:t>
            </a:r>
            <a:r>
              <a:rPr lang="en-US" sz="1800" dirty="0" smtClean="0">
                <a:latin typeface="Consolas" pitchFamily="49" charset="0"/>
              </a:rPr>
              <a:t>apt-get install </a:t>
            </a:r>
            <a:r>
              <a:rPr lang="en-US" sz="1800" dirty="0" smtClean="0">
                <a:latin typeface="Consolas" pitchFamily="49" charset="0"/>
              </a:rPr>
              <a:t>openjdk-8-jdk</a:t>
            </a:r>
            <a:endParaRPr lang="en-US" sz="1800" dirty="0" smtClean="0">
              <a:latin typeface="Consolas" pitchFamily="49" charset="0"/>
            </a:endParaRPr>
          </a:p>
          <a:p>
            <a:pPr lvl="1"/>
            <a:r>
              <a:rPr lang="en-US" sz="1800" dirty="0" smtClean="0">
                <a:latin typeface="Consolas" pitchFamily="49" charset="0"/>
              </a:rPr>
              <a:t>java -version //Output: </a:t>
            </a:r>
            <a:r>
              <a:rPr lang="en-US" sz="1800" dirty="0" err="1" smtClean="0">
                <a:latin typeface="Consolas" pitchFamily="49" charset="0"/>
              </a:rPr>
              <a:t>openjdk</a:t>
            </a:r>
            <a:r>
              <a:rPr lang="en-US" sz="1800" dirty="0" smtClean="0">
                <a:latin typeface="Consolas" pitchFamily="49" charset="0"/>
              </a:rPr>
              <a:t> version "1.8.0_292" </a:t>
            </a:r>
            <a:endParaRPr lang="en-US" sz="1800" dirty="0" smtClean="0">
              <a:latin typeface="Consolas" pitchFamily="49" charset="0"/>
            </a:endParaRPr>
          </a:p>
          <a:p>
            <a:r>
              <a:rPr lang="en-US" sz="2200" dirty="0" smtClean="0"/>
              <a:t>Install Python 3.6.9</a:t>
            </a:r>
            <a:endParaRPr lang="en-US" sz="2200" dirty="0" smtClean="0"/>
          </a:p>
          <a:p>
            <a:pPr lvl="1"/>
            <a:r>
              <a:rPr lang="en-US" sz="1800" dirty="0" smtClean="0">
                <a:latin typeface="Consolas" pitchFamily="49" charset="0"/>
              </a:rPr>
              <a:t>python </a:t>
            </a:r>
            <a:r>
              <a:rPr lang="en-US" sz="1800" dirty="0" smtClean="0">
                <a:latin typeface="Consolas" pitchFamily="49" charset="0"/>
              </a:rPr>
              <a:t>--version</a:t>
            </a:r>
            <a:endParaRPr lang="en-US" sz="1800" dirty="0" smtClean="0">
              <a:latin typeface="+mj-lt"/>
            </a:endParaRPr>
          </a:p>
          <a:p>
            <a:pPr lvl="1"/>
            <a:endParaRPr lang="en-US" sz="1800" b="1" dirty="0">
              <a:latin typeface="Consolas" pitchFamily="49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Download and Run </a:t>
            </a:r>
            <a:r>
              <a:rPr lang="en-US" dirty="0" smtClean="0"/>
              <a:t>Cassandra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dirty="0" smtClean="0">
                <a:latin typeface="Consolas" pitchFamily="49" charset="0"/>
              </a:rPr>
              <a:t>curl -OL http://archive.apache.org/dist/cassandra/3.9/apache-cassandra-3.9-bin.tar.gz</a:t>
            </a:r>
            <a:endParaRPr lang="en-US" sz="1800" dirty="0" smtClean="0">
              <a:latin typeface="Consolas" pitchFamily="49" charset="0"/>
            </a:endParaRPr>
          </a:p>
          <a:p>
            <a:r>
              <a:rPr lang="en-US" sz="1800" dirty="0" smtClean="0">
                <a:latin typeface="Consolas" pitchFamily="49" charset="0"/>
              </a:rPr>
              <a:t>tar </a:t>
            </a:r>
            <a:r>
              <a:rPr lang="en-US" sz="1800" dirty="0" err="1" smtClean="0">
                <a:latin typeface="Consolas" pitchFamily="49" charset="0"/>
              </a:rPr>
              <a:t>xzvf</a:t>
            </a:r>
            <a:r>
              <a:rPr lang="en-US" sz="1800" dirty="0" smtClean="0">
                <a:latin typeface="Consolas" pitchFamily="49" charset="0"/>
              </a:rPr>
              <a:t> apache-cassandra-3.9-bin.tar.gz</a:t>
            </a:r>
          </a:p>
          <a:p>
            <a:r>
              <a:rPr lang="en-US" sz="1800" dirty="0" err="1" smtClean="0">
                <a:latin typeface="Consolas" pitchFamily="49" charset="0"/>
              </a:rPr>
              <a:t>cd</a:t>
            </a:r>
            <a:r>
              <a:rPr lang="en-US" sz="1800" dirty="0" smtClean="0">
                <a:latin typeface="Consolas" pitchFamily="49" charset="0"/>
              </a:rPr>
              <a:t> apache-cassandra-3.9</a:t>
            </a:r>
          </a:p>
          <a:p>
            <a:r>
              <a:rPr lang="en-US" sz="1800" dirty="0" smtClean="0">
                <a:latin typeface="Consolas" pitchFamily="49" charset="0"/>
              </a:rPr>
              <a:t>bin/</a:t>
            </a:r>
            <a:r>
              <a:rPr lang="en-US" sz="1800" dirty="0" err="1" smtClean="0">
                <a:latin typeface="Consolas" pitchFamily="49" charset="0"/>
              </a:rPr>
              <a:t>cassandra</a:t>
            </a:r>
            <a:endParaRPr lang="en-US" sz="1800" dirty="0" smtClean="0">
              <a:latin typeface="Consolas" pitchFamily="49" charset="0"/>
            </a:endParaRPr>
          </a:p>
          <a:p>
            <a:endParaRPr lang="en-US" sz="1800" dirty="0" smtClean="0">
              <a:latin typeface="Consolas" pitchFamily="49" charset="0"/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30338" y="3524250"/>
            <a:ext cx="6283325" cy="2419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Verify Status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dirty="0" smtClean="0">
                <a:latin typeface="Consolas" pitchFamily="49" charset="0"/>
              </a:rPr>
              <a:t>bin/</a:t>
            </a:r>
            <a:r>
              <a:rPr lang="en-US" sz="1800" dirty="0" err="1" smtClean="0">
                <a:latin typeface="Consolas" pitchFamily="49" charset="0"/>
              </a:rPr>
              <a:t>nodetool</a:t>
            </a:r>
            <a:r>
              <a:rPr lang="en-US" sz="1800" dirty="0" smtClean="0">
                <a:latin typeface="Consolas" pitchFamily="49" charset="0"/>
              </a:rPr>
              <a:t> status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30338" y="2552700"/>
            <a:ext cx="6283325" cy="175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Run </a:t>
            </a:r>
            <a:r>
              <a:rPr lang="en-US" dirty="0" smtClean="0"/>
              <a:t>the CQL Shell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err="1" smtClean="0">
                <a:latin typeface="Consolas" pitchFamily="49" charset="0"/>
              </a:rPr>
              <a:t>cqlsh</a:t>
            </a:r>
            <a:endParaRPr lang="en-US" sz="2400" dirty="0" smtClean="0">
              <a:latin typeface="Consolas" pitchFamily="49" charset="0"/>
            </a:endParaRPr>
          </a:p>
          <a:p>
            <a:r>
              <a:rPr lang="en-US" sz="2400" dirty="0" err="1" smtClean="0">
                <a:latin typeface="Consolas" pitchFamily="49" charset="0"/>
              </a:rPr>
              <a:t>cqlsh</a:t>
            </a:r>
            <a:r>
              <a:rPr lang="en-US" sz="2400" dirty="0" smtClean="0">
                <a:latin typeface="Consolas" pitchFamily="49" charset="0"/>
              </a:rPr>
              <a:t> </a:t>
            </a:r>
            <a:r>
              <a:rPr lang="en-US" sz="2400" dirty="0" err="1" smtClean="0">
                <a:latin typeface="Consolas" pitchFamily="49" charset="0"/>
              </a:rPr>
              <a:t>localhost</a:t>
            </a:r>
            <a:r>
              <a:rPr lang="en-US" sz="2400" dirty="0" smtClean="0">
                <a:latin typeface="Consolas" pitchFamily="49" charset="0"/>
              </a:rPr>
              <a:t> 9042</a:t>
            </a:r>
          </a:p>
          <a:p>
            <a:r>
              <a:rPr lang="en-US" sz="2400" dirty="0" err="1" smtClean="0">
                <a:latin typeface="Consolas" pitchFamily="49" charset="0"/>
              </a:rPr>
              <a:t>cqlsh</a:t>
            </a:r>
            <a:r>
              <a:rPr lang="en-US" sz="2400" dirty="0" smtClean="0">
                <a:latin typeface="Consolas" pitchFamily="49" charset="0"/>
              </a:rPr>
              <a:t>&gt; HELP</a:t>
            </a:r>
          </a:p>
          <a:p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76400" y="3657600"/>
            <a:ext cx="6283325" cy="1085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Create </a:t>
            </a:r>
            <a:r>
              <a:rPr lang="en-US" dirty="0" smtClean="0"/>
              <a:t>a </a:t>
            </a:r>
            <a:r>
              <a:rPr lang="en-US" dirty="0" err="1" smtClean="0"/>
              <a:t>Keyspace</a:t>
            </a:r>
            <a:r>
              <a:rPr lang="en-US" dirty="0" smtClean="0"/>
              <a:t> and Table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A Cassandra </a:t>
            </a:r>
            <a:r>
              <a:rPr lang="en-US" sz="2400" dirty="0" err="1" smtClean="0"/>
              <a:t>keyspace</a:t>
            </a:r>
            <a:r>
              <a:rPr lang="en-US" sz="2400" dirty="0" smtClean="0"/>
              <a:t> is sort of like a relational database</a:t>
            </a:r>
            <a:r>
              <a:rPr lang="en-US" sz="2400" dirty="0" smtClean="0"/>
              <a:t>.</a:t>
            </a:r>
          </a:p>
          <a:p>
            <a:endParaRPr lang="en-US" sz="2400" dirty="0" smtClean="0"/>
          </a:p>
          <a:p>
            <a:r>
              <a:rPr lang="en-US" sz="2000" dirty="0" smtClean="0">
                <a:latin typeface="Consolas" pitchFamily="49" charset="0"/>
              </a:rPr>
              <a:t>CREATE KEYSPACE </a:t>
            </a:r>
            <a:r>
              <a:rPr lang="en-US" sz="2000" dirty="0" err="1" smtClean="0">
                <a:latin typeface="Consolas" pitchFamily="49" charset="0"/>
              </a:rPr>
              <a:t>my_keyspace</a:t>
            </a:r>
            <a:r>
              <a:rPr lang="en-US" sz="2000" dirty="0" smtClean="0">
                <a:latin typeface="Consolas" pitchFamily="49" charset="0"/>
              </a:rPr>
              <a:t> WITH replication = {'</a:t>
            </a:r>
            <a:r>
              <a:rPr lang="en-US" sz="2000" dirty="0" err="1" smtClean="0">
                <a:latin typeface="Consolas" pitchFamily="49" charset="0"/>
              </a:rPr>
              <a:t>class':'SimpleStrategy</a:t>
            </a:r>
            <a:r>
              <a:rPr lang="en-US" sz="2000" dirty="0" smtClean="0">
                <a:latin typeface="Consolas" pitchFamily="49" charset="0"/>
              </a:rPr>
              <a:t>', '</a:t>
            </a:r>
            <a:r>
              <a:rPr lang="en-US" sz="2000" dirty="0" err="1" smtClean="0">
                <a:latin typeface="Consolas" pitchFamily="49" charset="0"/>
              </a:rPr>
              <a:t>replication_factor</a:t>
            </a:r>
            <a:r>
              <a:rPr lang="en-US" sz="2000" dirty="0" smtClean="0">
                <a:latin typeface="Consolas" pitchFamily="49" charset="0"/>
              </a:rPr>
              <a:t>': 1};</a:t>
            </a:r>
          </a:p>
          <a:p>
            <a:r>
              <a:rPr lang="en-US" sz="2000" dirty="0" smtClean="0">
                <a:latin typeface="Consolas" pitchFamily="49" charset="0"/>
              </a:rPr>
              <a:t>DESCRIBE KEYSPACE </a:t>
            </a:r>
            <a:r>
              <a:rPr lang="en-US" sz="2000" dirty="0" err="1" smtClean="0">
                <a:latin typeface="Consolas" pitchFamily="49" charset="0"/>
              </a:rPr>
              <a:t>my_keyspace</a:t>
            </a:r>
            <a:r>
              <a:rPr lang="en-US" sz="2000" dirty="0" smtClean="0">
                <a:latin typeface="Consolas" pitchFamily="49" charset="0"/>
              </a:rPr>
              <a:t>;</a:t>
            </a:r>
          </a:p>
          <a:p>
            <a:r>
              <a:rPr lang="en-US" sz="2000" dirty="0" smtClean="0">
                <a:latin typeface="Consolas" pitchFamily="49" charset="0"/>
              </a:rPr>
              <a:t>USE </a:t>
            </a:r>
            <a:r>
              <a:rPr lang="en-US" sz="2000" dirty="0" err="1" smtClean="0">
                <a:latin typeface="Consolas" pitchFamily="49" charset="0"/>
              </a:rPr>
              <a:t>my_keyspace</a:t>
            </a:r>
            <a:r>
              <a:rPr lang="en-US" sz="2000" dirty="0" smtClean="0">
                <a:latin typeface="Consolas" pitchFamily="49" charset="0"/>
              </a:rPr>
              <a:t>;</a:t>
            </a:r>
          </a:p>
          <a:p>
            <a:r>
              <a:rPr lang="en-US" sz="2000" dirty="0" smtClean="0">
                <a:latin typeface="Consolas" pitchFamily="49" charset="0"/>
              </a:rPr>
              <a:t>CREATE TABLE user ( </a:t>
            </a:r>
            <a:r>
              <a:rPr lang="en-US" sz="2000" dirty="0" err="1" smtClean="0">
                <a:latin typeface="Consolas" pitchFamily="49" charset="0"/>
              </a:rPr>
              <a:t>first_name</a:t>
            </a:r>
            <a:r>
              <a:rPr lang="en-US" sz="2000" dirty="0" smtClean="0">
                <a:latin typeface="Consolas" pitchFamily="49" charset="0"/>
              </a:rPr>
              <a:t> text,</a:t>
            </a:r>
          </a:p>
          <a:p>
            <a:pPr>
              <a:buNone/>
            </a:pPr>
            <a:r>
              <a:rPr lang="en-US" sz="2000" dirty="0" smtClean="0">
                <a:latin typeface="Consolas" pitchFamily="49" charset="0"/>
              </a:rPr>
              <a:t>	</a:t>
            </a:r>
            <a:r>
              <a:rPr lang="en-US" sz="2000" dirty="0" err="1" smtClean="0">
                <a:latin typeface="Consolas" pitchFamily="49" charset="0"/>
              </a:rPr>
              <a:t>last_name</a:t>
            </a:r>
            <a:r>
              <a:rPr lang="en-US" sz="2000" dirty="0" smtClean="0">
                <a:latin typeface="Consolas" pitchFamily="49" charset="0"/>
              </a:rPr>
              <a:t> text, PRIMARY KEY (</a:t>
            </a:r>
            <a:r>
              <a:rPr lang="en-US" sz="2000" dirty="0" err="1" smtClean="0">
                <a:latin typeface="Consolas" pitchFamily="49" charset="0"/>
              </a:rPr>
              <a:t>first_name</a:t>
            </a:r>
            <a:r>
              <a:rPr lang="en-US" sz="2000" dirty="0" smtClean="0">
                <a:latin typeface="Consolas" pitchFamily="49" charset="0"/>
              </a:rPr>
              <a:t>));</a:t>
            </a:r>
          </a:p>
          <a:p>
            <a:r>
              <a:rPr lang="en-US" sz="2000" dirty="0" smtClean="0">
                <a:latin typeface="Consolas" pitchFamily="49" charset="0"/>
              </a:rPr>
              <a:t>DESCRIBE TABLE user;</a:t>
            </a:r>
            <a:endParaRPr lang="en-US" sz="2000" dirty="0">
              <a:latin typeface="Consolas" pitchFamily="49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Write </a:t>
            </a:r>
            <a:r>
              <a:rPr lang="en-US" dirty="0" smtClean="0"/>
              <a:t>and </a:t>
            </a:r>
            <a:r>
              <a:rPr lang="en-US" dirty="0" smtClean="0"/>
              <a:t>Read </a:t>
            </a:r>
            <a:r>
              <a:rPr lang="en-US" dirty="0" smtClean="0"/>
              <a:t>Data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 smtClean="0">
                <a:latin typeface="Consolas" pitchFamily="49" charset="0"/>
              </a:rPr>
              <a:t>INSERT INTO user (</a:t>
            </a:r>
            <a:r>
              <a:rPr lang="en-US" sz="2200" dirty="0" err="1" smtClean="0">
                <a:latin typeface="Consolas" pitchFamily="49" charset="0"/>
              </a:rPr>
              <a:t>first_name</a:t>
            </a:r>
            <a:r>
              <a:rPr lang="en-US" sz="2200" dirty="0" smtClean="0">
                <a:latin typeface="Consolas" pitchFamily="49" charset="0"/>
              </a:rPr>
              <a:t>, </a:t>
            </a:r>
            <a:r>
              <a:rPr lang="en-US" sz="2200" dirty="0" err="1" smtClean="0">
                <a:latin typeface="Consolas" pitchFamily="49" charset="0"/>
              </a:rPr>
              <a:t>last_name</a:t>
            </a:r>
            <a:r>
              <a:rPr lang="en-US" sz="2200" dirty="0" smtClean="0">
                <a:latin typeface="Consolas" pitchFamily="49" charset="0"/>
              </a:rPr>
              <a:t> </a:t>
            </a:r>
            <a:r>
              <a:rPr lang="en-US" sz="2200" dirty="0" smtClean="0">
                <a:latin typeface="Consolas" pitchFamily="49" charset="0"/>
              </a:rPr>
              <a:t>) VALUES </a:t>
            </a:r>
            <a:r>
              <a:rPr lang="en-US" sz="2200" dirty="0" smtClean="0">
                <a:latin typeface="Consolas" pitchFamily="49" charset="0"/>
              </a:rPr>
              <a:t>('Bill', 'Nguyen');</a:t>
            </a:r>
          </a:p>
          <a:p>
            <a:r>
              <a:rPr lang="en-US" sz="2200" dirty="0" smtClean="0">
                <a:latin typeface="Consolas" pitchFamily="49" charset="0"/>
              </a:rPr>
              <a:t>SELECT COUNT (*) FROM user;</a:t>
            </a:r>
          </a:p>
          <a:p>
            <a:r>
              <a:rPr lang="en-US" sz="2200" dirty="0" smtClean="0">
                <a:latin typeface="Consolas" pitchFamily="49" charset="0"/>
              </a:rPr>
              <a:t>SELECT * FROM user WHERE </a:t>
            </a:r>
            <a:r>
              <a:rPr lang="en-US" sz="2200" dirty="0" err="1" smtClean="0">
                <a:latin typeface="Consolas" pitchFamily="49" charset="0"/>
              </a:rPr>
              <a:t>first_name</a:t>
            </a:r>
            <a:r>
              <a:rPr lang="en-US" sz="2200" dirty="0" smtClean="0">
                <a:latin typeface="Consolas" pitchFamily="49" charset="0"/>
              </a:rPr>
              <a:t>='Bill';</a:t>
            </a:r>
          </a:p>
          <a:p>
            <a:r>
              <a:rPr lang="en-US" sz="2200" dirty="0" smtClean="0">
                <a:latin typeface="Consolas" pitchFamily="49" charset="0"/>
              </a:rPr>
              <a:t>DELETE </a:t>
            </a:r>
            <a:r>
              <a:rPr lang="en-US" sz="2200" dirty="0" err="1" smtClean="0">
                <a:latin typeface="Consolas" pitchFamily="49" charset="0"/>
              </a:rPr>
              <a:t>last_name</a:t>
            </a:r>
            <a:r>
              <a:rPr lang="en-US" sz="2200" dirty="0" smtClean="0">
                <a:latin typeface="Consolas" pitchFamily="49" charset="0"/>
              </a:rPr>
              <a:t> FROM USER </a:t>
            </a:r>
            <a:r>
              <a:rPr lang="en-US" sz="2200" dirty="0" smtClean="0">
                <a:latin typeface="Consolas" pitchFamily="49" charset="0"/>
              </a:rPr>
              <a:t>WHERE </a:t>
            </a:r>
            <a:r>
              <a:rPr lang="en-US" sz="2200" dirty="0" err="1" smtClean="0">
                <a:latin typeface="Consolas" pitchFamily="49" charset="0"/>
              </a:rPr>
              <a:t>first_name</a:t>
            </a:r>
            <a:r>
              <a:rPr lang="en-US" sz="2200" dirty="0" smtClean="0">
                <a:latin typeface="Consolas" pitchFamily="49" charset="0"/>
              </a:rPr>
              <a:t>='Bill';</a:t>
            </a:r>
          </a:p>
          <a:p>
            <a:r>
              <a:rPr lang="en-US" sz="2200" dirty="0" smtClean="0">
                <a:latin typeface="Consolas" pitchFamily="49" charset="0"/>
              </a:rPr>
              <a:t>SELECT * FROM user WHERE </a:t>
            </a:r>
            <a:r>
              <a:rPr lang="en-US" sz="2200" dirty="0" err="1" smtClean="0">
                <a:latin typeface="Consolas" pitchFamily="49" charset="0"/>
              </a:rPr>
              <a:t>first_name</a:t>
            </a:r>
            <a:r>
              <a:rPr lang="en-US" sz="2200" dirty="0" smtClean="0">
                <a:latin typeface="Consolas" pitchFamily="49" charset="0"/>
              </a:rPr>
              <a:t>='Bill';</a:t>
            </a:r>
          </a:p>
          <a:p>
            <a:r>
              <a:rPr lang="en-US" sz="2200" dirty="0" smtClean="0">
                <a:latin typeface="Consolas" pitchFamily="49" charset="0"/>
              </a:rPr>
              <a:t>DELETE FROM USER WHERE </a:t>
            </a:r>
            <a:r>
              <a:rPr lang="en-US" sz="2200" dirty="0" err="1" smtClean="0">
                <a:latin typeface="Consolas" pitchFamily="49" charset="0"/>
              </a:rPr>
              <a:t>first_name</a:t>
            </a:r>
            <a:r>
              <a:rPr lang="en-US" sz="2200" dirty="0" smtClean="0">
                <a:latin typeface="Consolas" pitchFamily="49" charset="0"/>
              </a:rPr>
              <a:t>='Bill';</a:t>
            </a:r>
          </a:p>
          <a:p>
            <a:r>
              <a:rPr lang="en-US" sz="2200" dirty="0" smtClean="0">
                <a:latin typeface="Consolas" pitchFamily="49" charset="0"/>
              </a:rPr>
              <a:t>TRUNCATE user;</a:t>
            </a:r>
          </a:p>
          <a:p>
            <a:r>
              <a:rPr lang="en-US" sz="2200" dirty="0" smtClean="0">
                <a:latin typeface="Consolas" pitchFamily="49" charset="0"/>
              </a:rPr>
              <a:t>DROP TABLE user;</a:t>
            </a:r>
            <a:endParaRPr lang="en-US" sz="2200" dirty="0">
              <a:latin typeface="Consolas" pitchFamily="49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Architecture in brief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hlinkClick r:id="rId2"/>
              </a:rPr>
              <a:t>https://docs.datastax.com/en/archived/cassandra/3.0/cassandra/architecture/archIntro.html</a:t>
            </a:r>
            <a:endParaRPr lang="en-US" sz="2400" dirty="0" smtClean="0"/>
          </a:p>
          <a:p>
            <a:endParaRPr lang="en-US" sz="2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Thank You </a:t>
            </a:r>
            <a:r>
              <a:rPr lang="en-US" dirty="0" smtClean="0"/>
              <a:t>&amp; See You Again</a:t>
            </a:r>
            <a:endParaRPr lang="en-US" dirty="0" smtClean="0"/>
          </a:p>
        </p:txBody>
      </p:sp>
      <p:pic>
        <p:nvPicPr>
          <p:cNvPr id="5" name="Content Placeholder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143000" y="1676400"/>
            <a:ext cx="6810375" cy="4525963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6715</TotalTime>
  <Words>307</Words>
  <Application>Microsoft Office PowerPoint</Application>
  <PresentationFormat>On-screen Show (4:3)</PresentationFormat>
  <Paragraphs>54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Cassandra</vt:lpstr>
      <vt:lpstr>Objectives</vt:lpstr>
      <vt:lpstr>References</vt:lpstr>
      <vt:lpstr>The Cassandra Elevator Pitch [1]</vt:lpstr>
      <vt:lpstr>Install Prerequisites</vt:lpstr>
      <vt:lpstr>Download and Run Cassandra</vt:lpstr>
      <vt:lpstr>Verify Status</vt:lpstr>
      <vt:lpstr>Run the CQL Shell</vt:lpstr>
      <vt:lpstr>Create a Keyspace and Table</vt:lpstr>
      <vt:lpstr>Write and Read Data</vt:lpstr>
      <vt:lpstr>Slide 11</vt:lpstr>
      <vt:lpstr>Architecture in brief</vt:lpstr>
      <vt:lpstr>Thank You &amp; See You Again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3261</cp:revision>
  <dcterms:created xsi:type="dcterms:W3CDTF">2007-10-06T08:25:13Z</dcterms:created>
  <dcterms:modified xsi:type="dcterms:W3CDTF">2021-04-28T20:13:32Z</dcterms:modified>
</cp:coreProperties>
</file>