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08" r:id="rId1"/>
  </p:sldMasterIdLst>
  <p:notesMasterIdLst>
    <p:notesMasterId r:id="rId35"/>
  </p:notesMasterIdLst>
  <p:sldIdLst>
    <p:sldId id="514" r:id="rId2"/>
    <p:sldId id="515" r:id="rId3"/>
    <p:sldId id="516" r:id="rId4"/>
    <p:sldId id="517" r:id="rId5"/>
    <p:sldId id="497" r:id="rId6"/>
    <p:sldId id="513" r:id="rId7"/>
    <p:sldId id="499" r:id="rId8"/>
    <p:sldId id="512" r:id="rId9"/>
    <p:sldId id="534" r:id="rId10"/>
    <p:sldId id="518" r:id="rId11"/>
    <p:sldId id="519" r:id="rId12"/>
    <p:sldId id="501" r:id="rId13"/>
    <p:sldId id="496" r:id="rId14"/>
    <p:sldId id="520" r:id="rId15"/>
    <p:sldId id="492" r:id="rId16"/>
    <p:sldId id="529" r:id="rId17"/>
    <p:sldId id="503" r:id="rId18"/>
    <p:sldId id="504" r:id="rId19"/>
    <p:sldId id="530" r:id="rId20"/>
    <p:sldId id="505" r:id="rId21"/>
    <p:sldId id="506" r:id="rId22"/>
    <p:sldId id="507" r:id="rId23"/>
    <p:sldId id="533" r:id="rId24"/>
    <p:sldId id="524" r:id="rId25"/>
    <p:sldId id="525" r:id="rId26"/>
    <p:sldId id="526" r:id="rId27"/>
    <p:sldId id="523" r:id="rId28"/>
    <p:sldId id="528" r:id="rId29"/>
    <p:sldId id="495" r:id="rId30"/>
    <p:sldId id="527" r:id="rId31"/>
    <p:sldId id="535" r:id="rId32"/>
    <p:sldId id="532" r:id="rId33"/>
    <p:sldId id="343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86" autoAdjust="0"/>
    <p:restoredTop sz="94667" autoAdjust="0"/>
  </p:normalViewPr>
  <p:slideViewPr>
    <p:cSldViewPr>
      <p:cViewPr>
        <p:scale>
          <a:sx n="50" d="100"/>
          <a:sy n="50" d="100"/>
        </p:scale>
        <p:origin x="-147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3F9A6-3026-4212-AA4F-75BD4E27E981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7C773-D8B8-4802-B7AB-FF444380CFE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B7C773-D8B8-4802-B7AB-FF444380CFE5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neo4j.com/" TargetMode="External"/><Relationship Id="rId3" Type="http://schemas.openxmlformats.org/officeDocument/2006/relationships/hyperlink" Target="https://cassandra.apache.org/" TargetMode="External"/><Relationship Id="rId7" Type="http://schemas.openxmlformats.org/officeDocument/2006/relationships/hyperlink" Target="https://aws.amazon.com/dynamodb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racle.com/database/technologies/related/nosql.html" TargetMode="External"/><Relationship Id="rId5" Type="http://schemas.openxmlformats.org/officeDocument/2006/relationships/hyperlink" Target="https://hbase.apache.org/" TargetMode="External"/><Relationship Id="rId4" Type="http://schemas.openxmlformats.org/officeDocument/2006/relationships/hyperlink" Target="https://www.mongodb.com/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err="1" smtClean="0"/>
              <a:t>NoSQL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select</a:t>
            </a:r>
            <a:r>
              <a:rPr lang="en-US" sz="2400" dirty="0" smtClean="0"/>
              <a:t> appropriate database tools for an enterprise system.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Why Relational Databases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Why Not Relational Databases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Data Models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Relational Data Model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Aggregate Data Models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Key-Value Databases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Document Databases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Column-Family Models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Demo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Pramod</a:t>
            </a:r>
            <a:r>
              <a:rPr lang="en-US" sz="2400" dirty="0" smtClean="0"/>
              <a:t> J. </a:t>
            </a:r>
            <a:r>
              <a:rPr lang="en-US" sz="2400" dirty="0" err="1" smtClean="0"/>
              <a:t>Sadalage</a:t>
            </a:r>
            <a:r>
              <a:rPr lang="en-US" sz="2400" dirty="0" smtClean="0"/>
              <a:t> and Martin Fowler (2012). </a:t>
            </a:r>
            <a:r>
              <a:rPr lang="en-US" sz="2400" dirty="0" err="1" smtClean="0"/>
              <a:t>NoSQL</a:t>
            </a:r>
            <a:r>
              <a:rPr lang="en-US" sz="2400" dirty="0" smtClean="0"/>
              <a:t> Distilled: A Brief Guide to the Emerging World of Polyglot Persistence. Addison-Wesley Professional.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vs. Files vs. Databases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432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Main memory</a:t>
            </a:r>
            <a:r>
              <a:rPr lang="en-US" sz="2400" dirty="0" smtClean="0"/>
              <a:t> is both </a:t>
            </a:r>
            <a:r>
              <a:rPr lang="en-US" sz="2400" u="sng" dirty="0" smtClean="0"/>
              <a:t>limited in space</a:t>
            </a:r>
            <a:r>
              <a:rPr lang="en-US" sz="2400" dirty="0" smtClean="0"/>
              <a:t> and </a:t>
            </a:r>
            <a:r>
              <a:rPr lang="en-US" sz="2400" u="sng" dirty="0" smtClean="0"/>
              <a:t>loses all data</a:t>
            </a:r>
            <a:r>
              <a:rPr lang="en-US" sz="2400" dirty="0" smtClean="0"/>
              <a:t> when you lose power or something bad happens to the operating system.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database</a:t>
            </a:r>
            <a:r>
              <a:rPr lang="en-US" sz="2400" dirty="0" smtClean="0"/>
              <a:t> allows more flexibility than </a:t>
            </a:r>
            <a:r>
              <a:rPr lang="en-US" sz="2400" i="1" dirty="0" smtClean="0">
                <a:solidFill>
                  <a:srgbClr val="C00000"/>
                </a:solidFill>
              </a:rPr>
              <a:t>a file system</a:t>
            </a:r>
            <a:r>
              <a:rPr lang="en-US" sz="2400" dirty="0" smtClean="0"/>
              <a:t> in storing large amounts of data in a way that allows an application program to </a:t>
            </a:r>
            <a:r>
              <a:rPr lang="en-US" sz="2400" u="sng" dirty="0" smtClean="0"/>
              <a:t>get at small bits of that information quickly and easily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4562475"/>
            <a:ext cx="238125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Relational Databases?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Since enterprise applications can have lots of users and other systems all </a:t>
            </a:r>
            <a:r>
              <a:rPr lang="en-US" sz="2000" i="1" dirty="0" smtClean="0">
                <a:solidFill>
                  <a:srgbClr val="C00000"/>
                </a:solidFill>
              </a:rPr>
              <a:t>working concurrently</a:t>
            </a:r>
            <a:r>
              <a:rPr lang="en-US" sz="2000" dirty="0" smtClean="0"/>
              <a:t>, there’s a lot of room for bad things to happen.</a:t>
            </a:r>
          </a:p>
          <a:p>
            <a:r>
              <a:rPr lang="en-US" sz="2000" u="sng" dirty="0" smtClean="0"/>
              <a:t>Relational databases</a:t>
            </a:r>
            <a:r>
              <a:rPr lang="en-US" sz="2000" dirty="0" smtClean="0"/>
              <a:t> help handle this by controlling all access to their data through </a:t>
            </a:r>
            <a:r>
              <a:rPr lang="en-US" sz="2000" i="1" dirty="0" smtClean="0">
                <a:solidFill>
                  <a:srgbClr val="C00000"/>
                </a:solidFill>
              </a:rPr>
              <a:t>transactions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Transactions also play a role in </a:t>
            </a:r>
            <a:r>
              <a:rPr lang="en-US" sz="2000" i="1" dirty="0" smtClean="0">
                <a:solidFill>
                  <a:srgbClr val="C00000"/>
                </a:solidFill>
              </a:rPr>
              <a:t>error handling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With transactions, you can make a change, and if an error occurs during the processing of the change you can </a:t>
            </a:r>
            <a:r>
              <a:rPr lang="en-US" sz="2000" i="1" dirty="0" smtClean="0">
                <a:solidFill>
                  <a:srgbClr val="C00000"/>
                </a:solidFill>
              </a:rPr>
              <a:t>roll back</a:t>
            </a:r>
            <a:r>
              <a:rPr lang="en-US" sz="2000" dirty="0" smtClean="0"/>
              <a:t> the transaction to clean things up.</a:t>
            </a:r>
          </a:p>
          <a:p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495800"/>
            <a:ext cx="319087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4752975"/>
            <a:ext cx="34194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Relational Databases?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19400"/>
          </a:xfrm>
        </p:spPr>
        <p:txBody>
          <a:bodyPr/>
          <a:lstStyle/>
          <a:p>
            <a:r>
              <a:rPr lang="en-US" sz="2200" dirty="0" smtClean="0"/>
              <a:t>Applications often need to </a:t>
            </a:r>
            <a:r>
              <a:rPr lang="en-US" sz="2200" i="1" dirty="0" smtClean="0">
                <a:solidFill>
                  <a:srgbClr val="C00000"/>
                </a:solidFill>
              </a:rPr>
              <a:t>use the same data</a:t>
            </a:r>
            <a:r>
              <a:rPr lang="en-US" sz="2200" dirty="0" smtClean="0"/>
              <a:t> and updates made through one application have to be visible to others.</a:t>
            </a:r>
          </a:p>
          <a:p>
            <a:r>
              <a:rPr lang="en-US" sz="2200" dirty="0" smtClean="0"/>
              <a:t>A common way to do this is </a:t>
            </a:r>
            <a:r>
              <a:rPr lang="en-US" sz="2200" i="1" dirty="0" smtClean="0">
                <a:solidFill>
                  <a:srgbClr val="C00000"/>
                </a:solidFill>
              </a:rPr>
              <a:t>shared database integration</a:t>
            </a:r>
            <a:r>
              <a:rPr lang="en-US" sz="2200" dirty="0" smtClean="0"/>
              <a:t> where multiple applications store their data in a single database.</a:t>
            </a:r>
          </a:p>
          <a:p>
            <a:r>
              <a:rPr lang="en-US" sz="2200" dirty="0" smtClean="0"/>
              <a:t>Using a single database allows all the applications to </a:t>
            </a:r>
            <a:r>
              <a:rPr lang="en-US" sz="2200" i="1" dirty="0" smtClean="0">
                <a:solidFill>
                  <a:srgbClr val="C00000"/>
                </a:solidFill>
              </a:rPr>
              <a:t>use each others’ data easily</a:t>
            </a:r>
            <a:r>
              <a:rPr lang="en-US" sz="2200" dirty="0" smtClean="0"/>
              <a:t>, while the database’s concurrency control handles multiple applications.</a:t>
            </a:r>
          </a:p>
        </p:txBody>
      </p:sp>
      <p:pic>
        <p:nvPicPr>
          <p:cNvPr id="3074" name="Picture 2" descr="http://www.eaipatterns.com/img/SharedDatabaseIntegration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4724400"/>
            <a:ext cx="2724150" cy="1476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Relational Databases?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343400" cy="4525963"/>
          </a:xfrm>
        </p:spPr>
        <p:txBody>
          <a:bodyPr/>
          <a:lstStyle/>
          <a:p>
            <a:r>
              <a:rPr lang="en-US" sz="2400" dirty="0" smtClean="0"/>
              <a:t>Developers and database professionals can </a:t>
            </a:r>
            <a:r>
              <a:rPr lang="en-US" sz="2400" i="1" dirty="0" smtClean="0">
                <a:solidFill>
                  <a:srgbClr val="C00000"/>
                </a:solidFill>
              </a:rPr>
              <a:t>learn the basic relational model</a:t>
            </a:r>
            <a:r>
              <a:rPr lang="en-US" sz="2400" dirty="0" smtClean="0"/>
              <a:t> and apply it in </a:t>
            </a:r>
            <a:r>
              <a:rPr lang="en-US" sz="2400" u="sng" dirty="0" smtClean="0"/>
              <a:t>many</a:t>
            </a:r>
            <a:r>
              <a:rPr lang="en-US" sz="2400" dirty="0" smtClean="0"/>
              <a:t> projects.</a:t>
            </a:r>
          </a:p>
          <a:p>
            <a:r>
              <a:rPr lang="en-US" sz="2400" dirty="0" smtClean="0"/>
              <a:t>Although there are differences between different relational databases, the core mechanisms remain </a:t>
            </a:r>
            <a:r>
              <a:rPr lang="en-US" sz="2400" i="1" dirty="0" smtClean="0">
                <a:solidFill>
                  <a:srgbClr val="C00000"/>
                </a:solidFill>
              </a:rPr>
              <a:t>the same</a:t>
            </a:r>
            <a:r>
              <a:rPr lang="en-US" sz="2400" dirty="0" smtClean="0"/>
              <a:t>: Different vendors’ </a:t>
            </a:r>
            <a:r>
              <a:rPr lang="en-US" sz="2400" u="sng" dirty="0" smtClean="0"/>
              <a:t>SQL dialects are similar</a:t>
            </a:r>
            <a:r>
              <a:rPr lang="en-US" sz="2400" dirty="0" smtClean="0"/>
              <a:t>, transactions operate in mostly the same way.</a:t>
            </a:r>
            <a:endParaRPr lang="en-US" sz="2400" dirty="0"/>
          </a:p>
        </p:txBody>
      </p:sp>
      <p:pic>
        <p:nvPicPr>
          <p:cNvPr id="27650" name="Picture 2" descr="https://www.guru99.com/images/1/091318_0803_RelationalD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905000"/>
            <a:ext cx="3373438" cy="31035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Relational Databases? (IV)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ability to create </a:t>
            </a:r>
            <a:r>
              <a:rPr lang="en-US" sz="2400" i="1" dirty="0" smtClean="0">
                <a:solidFill>
                  <a:srgbClr val="C00000"/>
                </a:solidFill>
              </a:rPr>
              <a:t>meaningful information</a:t>
            </a:r>
            <a:r>
              <a:rPr lang="en-US" sz="2400" dirty="0" smtClean="0"/>
              <a:t> by joining the tables (aka </a:t>
            </a:r>
            <a:r>
              <a:rPr lang="en-US" sz="2400" u="sng" dirty="0" smtClean="0"/>
              <a:t>reporting</a:t>
            </a:r>
            <a:r>
              <a:rPr lang="en-US" sz="2400" dirty="0" smtClean="0"/>
              <a:t>).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Eliminate</a:t>
            </a:r>
            <a:r>
              <a:rPr lang="en-US" sz="2400" dirty="0" smtClean="0"/>
              <a:t> data </a:t>
            </a:r>
            <a:r>
              <a:rPr lang="en-US" sz="2400" u="sng" dirty="0" smtClean="0"/>
              <a:t>redundancy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26" name="Picture 2" descr="https://documentation.brightspace.com/EN/Resources/Stylesheets/Images/1069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162299"/>
            <a:ext cx="7143750" cy="308610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419600" y="2895600"/>
            <a:ext cx="3962400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Just add columns because we can easily remove or change them later if necessary.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Relational Databases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The impedance mismatch</a:t>
            </a:r>
            <a:r>
              <a:rPr lang="en-US" sz="2200" dirty="0" smtClean="0"/>
              <a:t> is the difference between </a:t>
            </a:r>
            <a:r>
              <a:rPr lang="en-US" sz="2200" u="sng" dirty="0" smtClean="0"/>
              <a:t>the relational model</a:t>
            </a:r>
            <a:r>
              <a:rPr lang="en-US" sz="2200" dirty="0" smtClean="0"/>
              <a:t> and </a:t>
            </a:r>
            <a:r>
              <a:rPr lang="en-US" sz="2200" u="sng" dirty="0" smtClean="0"/>
              <a:t>the in-memory data structures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relational data model organizes data into a structure of </a:t>
            </a:r>
            <a:r>
              <a:rPr lang="en-US" sz="2200" i="1" dirty="0" smtClean="0">
                <a:solidFill>
                  <a:srgbClr val="C00000"/>
                </a:solidFill>
              </a:rPr>
              <a:t>tables and rows</a:t>
            </a:r>
            <a:r>
              <a:rPr lang="en-US" sz="2200" dirty="0" smtClean="0"/>
              <a:t>, or more properly, </a:t>
            </a:r>
            <a:r>
              <a:rPr lang="en-US" sz="2200" i="1" dirty="0" smtClean="0">
                <a:solidFill>
                  <a:srgbClr val="C00000"/>
                </a:solidFill>
              </a:rPr>
              <a:t>relations and </a:t>
            </a:r>
            <a:r>
              <a:rPr lang="en-US" sz="2200" i="1" dirty="0" err="1" smtClean="0">
                <a:solidFill>
                  <a:srgbClr val="C00000"/>
                </a:solidFill>
              </a:rPr>
              <a:t>tuples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values in a relational </a:t>
            </a:r>
            <a:r>
              <a:rPr lang="en-US" sz="2200" dirty="0" err="1" smtClean="0"/>
              <a:t>tuple</a:t>
            </a:r>
            <a:r>
              <a:rPr lang="en-US" sz="2200" dirty="0" smtClean="0"/>
              <a:t> </a:t>
            </a:r>
            <a:r>
              <a:rPr lang="en-US" sz="2200" i="1" dirty="0" smtClean="0">
                <a:solidFill>
                  <a:srgbClr val="C00000"/>
                </a:solidFill>
              </a:rPr>
              <a:t>have to be simple</a:t>
            </a:r>
            <a:r>
              <a:rPr lang="en-US" sz="2200" dirty="0" smtClean="0"/>
              <a:t>—they </a:t>
            </a:r>
            <a:r>
              <a:rPr lang="en-US" sz="2200" i="1" dirty="0" smtClean="0">
                <a:solidFill>
                  <a:srgbClr val="C00000"/>
                </a:solidFill>
              </a:rPr>
              <a:t>cannot</a:t>
            </a:r>
            <a:r>
              <a:rPr lang="en-US" sz="2200" dirty="0" smtClean="0"/>
              <a:t> contain any structure, such as a nested record or a list.</a:t>
            </a:r>
          </a:p>
          <a:p>
            <a:endParaRPr lang="en-US" sz="22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970337"/>
            <a:ext cx="4302125" cy="265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257800" y="4191000"/>
            <a:ext cx="35814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If you want to use a richer in-memory data structure, you have to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translate</a:t>
            </a:r>
            <a:r>
              <a:rPr lang="en-US" sz="2200" dirty="0" smtClean="0">
                <a:latin typeface="+mj-lt"/>
              </a:rPr>
              <a:t> it to a relational representation to store it on disk.</a:t>
            </a:r>
          </a:p>
          <a:p>
            <a:r>
              <a:rPr lang="en-US" sz="2200" dirty="0" smtClean="0">
                <a:latin typeface="+mj-lt"/>
                <a:sym typeface="Wingdings" pitchFamily="2" charset="2"/>
              </a:rPr>
              <a:t> More development effort.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Relational Databases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Impedance mismatch has been made much easier to deal with by the wide availability of </a:t>
            </a:r>
            <a:r>
              <a:rPr lang="en-US" sz="2200" i="1" dirty="0" smtClean="0">
                <a:solidFill>
                  <a:srgbClr val="C00000"/>
                </a:solidFill>
              </a:rPr>
              <a:t>object-relational mapping frameworks</a:t>
            </a:r>
            <a:r>
              <a:rPr lang="en-US" sz="2200" dirty="0" smtClean="0"/>
              <a:t>, such as Hibernate and </a:t>
            </a:r>
            <a:r>
              <a:rPr lang="en-US" sz="2200" dirty="0" err="1" smtClean="0"/>
              <a:t>iBATIS</a:t>
            </a:r>
            <a:r>
              <a:rPr lang="en-US" sz="2200" dirty="0" smtClean="0"/>
              <a:t> that implement well-known mapping patterns, but the mapping problem is still an issue.</a:t>
            </a:r>
          </a:p>
          <a:p>
            <a:r>
              <a:rPr lang="en-US" sz="2200" dirty="0" smtClean="0"/>
              <a:t>Object-relational mapping frameworks remove a lot of grunt work, but can become a problem of their own when people try too hard to ignore the database and </a:t>
            </a:r>
            <a:r>
              <a:rPr lang="en-US" sz="2200" i="1" dirty="0" smtClean="0">
                <a:solidFill>
                  <a:srgbClr val="C00000"/>
                </a:solidFill>
              </a:rPr>
              <a:t>query performance</a:t>
            </a:r>
            <a:r>
              <a:rPr lang="en-US" sz="2200" dirty="0" smtClean="0"/>
              <a:t> suffers.</a:t>
            </a:r>
            <a:endParaRPr lang="en-US" sz="2200" dirty="0"/>
          </a:p>
        </p:txBody>
      </p:sp>
      <p:pic>
        <p:nvPicPr>
          <p:cNvPr id="1026" name="Picture 2" descr="https://blog.trangvangtructuyen.vn/wp-content/uploads/2020/07/Hibernate-l%C3%A0-g%C3%A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4572000"/>
            <a:ext cx="2390324" cy="1593550"/>
          </a:xfrm>
          <a:prstGeom prst="rect">
            <a:avLst/>
          </a:prstGeom>
          <a:noFill/>
        </p:spPr>
      </p:pic>
      <p:pic>
        <p:nvPicPr>
          <p:cNvPr id="1028" name="Picture 4" descr="https://sethphat.com/wp-content/uploads/2017/07/entity-framewor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4648200"/>
            <a:ext cx="2571750" cy="1400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Relational Databases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/>
          <a:lstStyle/>
          <a:p>
            <a:r>
              <a:rPr lang="en-US" sz="2400" dirty="0" smtClean="0"/>
              <a:t>Coping with the </a:t>
            </a:r>
            <a:r>
              <a:rPr lang="en-US" sz="2400" i="1" dirty="0" smtClean="0">
                <a:solidFill>
                  <a:srgbClr val="C00000"/>
                </a:solidFill>
              </a:rPr>
              <a:t>increase in data and traffic</a:t>
            </a:r>
            <a:r>
              <a:rPr lang="en-US" sz="2400" dirty="0" smtClean="0"/>
              <a:t> required more computing resources.</a:t>
            </a:r>
          </a:p>
          <a:p>
            <a:r>
              <a:rPr lang="en-US" sz="2400" dirty="0" smtClean="0"/>
              <a:t>Relational databases are </a:t>
            </a:r>
            <a:r>
              <a:rPr lang="en-US" sz="2400" i="1" dirty="0" smtClean="0">
                <a:solidFill>
                  <a:srgbClr val="C00000"/>
                </a:solidFill>
              </a:rPr>
              <a:t>not designed</a:t>
            </a:r>
            <a:r>
              <a:rPr lang="en-US" sz="2400" dirty="0" smtClean="0"/>
              <a:t> to be </a:t>
            </a:r>
            <a:r>
              <a:rPr lang="en-US" sz="2400" u="sng" dirty="0" smtClean="0"/>
              <a:t>run on clusters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5" name="Picture 2" descr="http://www.oracle.com/ocom/groups/public/@otn/documents/digitalasset/35513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429000"/>
            <a:ext cx="4038095" cy="25371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Relational Databases (IV)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162800" cy="4525963"/>
          </a:xfrm>
        </p:spPr>
        <p:txBody>
          <a:bodyPr/>
          <a:lstStyle/>
          <a:p>
            <a:r>
              <a:rPr lang="en-US" sz="2200" dirty="0" smtClean="0"/>
              <a:t>When you want to store data in a relational database, you first have to define </a:t>
            </a:r>
            <a:r>
              <a:rPr lang="en-US" sz="2200" i="1" dirty="0" smtClean="0">
                <a:solidFill>
                  <a:srgbClr val="C00000"/>
                </a:solidFill>
              </a:rPr>
              <a:t>a schema—a defined structure</a:t>
            </a:r>
            <a:r>
              <a:rPr lang="en-US" sz="2200" dirty="0" smtClean="0"/>
              <a:t> for the database which says what tables exist, which columns exist, and what data types each column can hold.</a:t>
            </a:r>
          </a:p>
          <a:p>
            <a:r>
              <a:rPr lang="en-US" sz="2200" dirty="0" smtClean="0"/>
              <a:t>Before you store some data, you have to</a:t>
            </a:r>
            <a:r>
              <a:rPr lang="en-US" sz="2200" i="1" dirty="0" smtClean="0">
                <a:solidFill>
                  <a:srgbClr val="C00000"/>
                </a:solidFill>
              </a:rPr>
              <a:t> have the schema defined</a:t>
            </a:r>
            <a:r>
              <a:rPr lang="en-US" sz="2200" dirty="0" smtClean="0"/>
              <a:t> for it.</a:t>
            </a:r>
          </a:p>
          <a:p>
            <a:r>
              <a:rPr lang="en-US" sz="2200" dirty="0" smtClean="0"/>
              <a:t>With a schema, you have to figure out </a:t>
            </a:r>
            <a:r>
              <a:rPr lang="en-US" sz="2200" i="1" dirty="0" smtClean="0">
                <a:solidFill>
                  <a:srgbClr val="C00000"/>
                </a:solidFill>
              </a:rPr>
              <a:t>in advance</a:t>
            </a:r>
            <a:r>
              <a:rPr lang="en-US" sz="2200" dirty="0" smtClean="0"/>
              <a:t> what you need to store, but that can </a:t>
            </a:r>
            <a:r>
              <a:rPr lang="en-US" sz="2200" u="sng" dirty="0" smtClean="0"/>
              <a:t>be hard</a:t>
            </a:r>
            <a:r>
              <a:rPr lang="en-US" sz="2200" dirty="0" smtClean="0"/>
              <a:t> to do.</a:t>
            </a:r>
          </a:p>
          <a:p>
            <a:r>
              <a:rPr lang="en-US" sz="2200" dirty="0" smtClean="0"/>
              <a:t>There was a need for systems that could work with different kinds of data formats and sources </a:t>
            </a:r>
            <a:r>
              <a:rPr lang="en-US" sz="2200" i="1" dirty="0" smtClean="0">
                <a:solidFill>
                  <a:srgbClr val="C00000"/>
                </a:solidFill>
              </a:rPr>
              <a:t>without requiring strict schema definitions up front</a:t>
            </a:r>
            <a:r>
              <a:rPr lang="en-US" sz="2200" dirty="0" smtClean="0"/>
              <a:t>, and do it at scale.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0" y="2895600"/>
            <a:ext cx="133350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NoSQL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7924800" cy="4525963"/>
          </a:xfrm>
        </p:spPr>
        <p:txBody>
          <a:bodyPr/>
          <a:lstStyle/>
          <a:p>
            <a:r>
              <a:rPr lang="en-US" sz="2400" dirty="0" err="1" smtClean="0"/>
              <a:t>NoSQL</a:t>
            </a:r>
            <a:r>
              <a:rPr lang="en-US" sz="2400" dirty="0" smtClean="0"/>
              <a:t> is an </a:t>
            </a:r>
            <a:r>
              <a:rPr lang="en-US" sz="2400" i="1" dirty="0" smtClean="0">
                <a:solidFill>
                  <a:srgbClr val="C00000"/>
                </a:solidFill>
              </a:rPr>
              <a:t>accidental</a:t>
            </a:r>
            <a:r>
              <a:rPr lang="en-US" sz="2400" dirty="0" smtClean="0"/>
              <a:t> neologism.</a:t>
            </a:r>
          </a:p>
          <a:p>
            <a:r>
              <a:rPr lang="en-US" sz="2400" dirty="0" smtClean="0"/>
              <a:t>There is </a:t>
            </a:r>
            <a:r>
              <a:rPr lang="en-US" sz="2400" i="1" dirty="0" smtClean="0">
                <a:solidFill>
                  <a:srgbClr val="C00000"/>
                </a:solidFill>
              </a:rPr>
              <a:t>no prescriptive definition</a:t>
            </a:r>
            <a:r>
              <a:rPr lang="en-US" sz="2400" dirty="0" smtClean="0"/>
              <a:t>—all you can make is an observation of common characteristics.</a:t>
            </a:r>
          </a:p>
          <a:p>
            <a:r>
              <a:rPr lang="en-US" sz="2400" dirty="0" smtClean="0"/>
              <a:t>The common </a:t>
            </a:r>
            <a:r>
              <a:rPr lang="en-US" sz="2400" i="1" dirty="0" smtClean="0">
                <a:solidFill>
                  <a:srgbClr val="C00000"/>
                </a:solidFill>
              </a:rPr>
              <a:t>characteristics</a:t>
            </a:r>
            <a:r>
              <a:rPr lang="en-US" sz="2400" dirty="0" smtClean="0"/>
              <a:t> of </a:t>
            </a:r>
            <a:r>
              <a:rPr lang="en-US" sz="2400" dirty="0" err="1" smtClean="0"/>
              <a:t>NoSQL</a:t>
            </a:r>
            <a:r>
              <a:rPr lang="en-US" sz="2400" dirty="0" smtClean="0"/>
              <a:t> databases are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Not</a:t>
            </a:r>
            <a:r>
              <a:rPr lang="en-US" sz="2000" dirty="0" smtClean="0"/>
              <a:t> using the relational model</a:t>
            </a:r>
          </a:p>
          <a:p>
            <a:pPr lvl="1"/>
            <a:r>
              <a:rPr lang="en-US" sz="2000" dirty="0" smtClean="0"/>
              <a:t>Running well on </a:t>
            </a:r>
            <a:r>
              <a:rPr lang="en-US" sz="2000" i="1" dirty="0" smtClean="0">
                <a:solidFill>
                  <a:srgbClr val="C00000"/>
                </a:solidFill>
              </a:rPr>
              <a:t>clusters</a:t>
            </a:r>
          </a:p>
          <a:p>
            <a:pPr lvl="1"/>
            <a:r>
              <a:rPr lang="en-US" sz="2000" i="1" dirty="0" err="1" smtClean="0">
                <a:solidFill>
                  <a:srgbClr val="C00000"/>
                </a:solidFill>
              </a:rPr>
              <a:t>Schemaless</a:t>
            </a:r>
            <a:endParaRPr lang="en-US" sz="2000" i="1" dirty="0" smtClean="0">
              <a:solidFill>
                <a:srgbClr val="C00000"/>
              </a:solidFill>
            </a:endParaRPr>
          </a:p>
          <a:p>
            <a:pPr lvl="1"/>
            <a:r>
              <a:rPr lang="en-US" sz="2000" dirty="0" smtClean="0"/>
              <a:t>Open-source</a:t>
            </a:r>
          </a:p>
          <a:p>
            <a:pPr lvl="1"/>
            <a:r>
              <a:rPr lang="en-US" sz="2000" dirty="0" smtClean="0"/>
              <a:t>Built for the 21st century web estates</a:t>
            </a:r>
          </a:p>
          <a:p>
            <a:r>
              <a:rPr lang="en-US" sz="2400" dirty="0" smtClean="0"/>
              <a:t>The most important result of the rise of </a:t>
            </a:r>
            <a:r>
              <a:rPr lang="en-US" sz="2400" dirty="0" err="1" smtClean="0"/>
              <a:t>NoSQL</a:t>
            </a:r>
            <a:r>
              <a:rPr lang="en-US" sz="2400" dirty="0" smtClean="0"/>
              <a:t> is </a:t>
            </a:r>
            <a:r>
              <a:rPr lang="en-US" sz="2400" i="1" dirty="0" smtClean="0">
                <a:solidFill>
                  <a:srgbClr val="C00000"/>
                </a:solidFill>
              </a:rPr>
              <a:t>Polyglot Persistence</a:t>
            </a:r>
            <a:r>
              <a:rPr lang="en-US" sz="2400" dirty="0" smtClean="0"/>
              <a:t> — using different data stores in different circumstances.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3429000"/>
            <a:ext cx="311467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data model</a:t>
            </a:r>
            <a:r>
              <a:rPr lang="en-US" sz="2400" dirty="0" smtClean="0"/>
              <a:t> is the model through which we </a:t>
            </a:r>
            <a:r>
              <a:rPr lang="en-US" sz="2400" u="sng" dirty="0" smtClean="0"/>
              <a:t>perceive</a:t>
            </a:r>
            <a:r>
              <a:rPr lang="en-US" sz="2400" dirty="0" smtClean="0"/>
              <a:t> and </a:t>
            </a:r>
            <a:r>
              <a:rPr lang="en-US" sz="2400" u="sng" dirty="0" smtClean="0"/>
              <a:t>manipulate our data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is distinct from a </a:t>
            </a:r>
            <a:r>
              <a:rPr lang="en-US" sz="2400" i="1" dirty="0" smtClean="0">
                <a:solidFill>
                  <a:srgbClr val="C00000"/>
                </a:solidFill>
              </a:rPr>
              <a:t>storage model</a:t>
            </a:r>
            <a:r>
              <a:rPr lang="en-US" sz="2400" dirty="0" smtClean="0"/>
              <a:t>, which describes how the database </a:t>
            </a:r>
            <a:r>
              <a:rPr lang="en-US" sz="2400" u="sng" dirty="0" smtClean="0"/>
              <a:t>stores</a:t>
            </a:r>
            <a:r>
              <a:rPr lang="en-US" sz="2400" dirty="0" smtClean="0"/>
              <a:t> and </a:t>
            </a:r>
            <a:r>
              <a:rPr lang="en-US" sz="2400" u="sng" dirty="0" smtClean="0"/>
              <a:t>manipulates</a:t>
            </a:r>
            <a:r>
              <a:rPr lang="en-US" sz="2400" dirty="0" smtClean="0"/>
              <a:t> the data </a:t>
            </a:r>
            <a:r>
              <a:rPr lang="en-US" sz="2400" u="sng" dirty="0" smtClean="0"/>
              <a:t>internally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The relational model</a:t>
            </a:r>
            <a:r>
              <a:rPr lang="en-US" sz="2400" dirty="0" smtClean="0"/>
              <a:t> takes the information that we want to store and divides it into </a:t>
            </a:r>
            <a:r>
              <a:rPr lang="en-US" sz="2400" dirty="0" err="1" smtClean="0"/>
              <a:t>tuples</a:t>
            </a:r>
            <a:r>
              <a:rPr lang="en-US" sz="2400" dirty="0" smtClean="0"/>
              <a:t> (rows).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Data Model Sample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88" y="1676400"/>
            <a:ext cx="614362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Data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7825" y="1676400"/>
            <a:ext cx="584835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Aggregate Data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aggregate</a:t>
            </a:r>
            <a:r>
              <a:rPr lang="en-US" sz="2400" dirty="0" smtClean="0"/>
              <a:t> is </a:t>
            </a:r>
            <a:r>
              <a:rPr lang="en-US" sz="2400" u="sng" dirty="0" smtClean="0"/>
              <a:t>a collection of related objects</a:t>
            </a:r>
            <a:r>
              <a:rPr lang="en-US" sz="2400" dirty="0" smtClean="0"/>
              <a:t> that we wish to treat as </a:t>
            </a:r>
            <a:r>
              <a:rPr lang="en-US" sz="2400" u="sng" dirty="0" smtClean="0"/>
              <a:t>a unit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particular, it is a </a:t>
            </a:r>
            <a:r>
              <a:rPr lang="en-US" sz="2400" i="1" dirty="0" smtClean="0">
                <a:solidFill>
                  <a:srgbClr val="C00000"/>
                </a:solidFill>
              </a:rPr>
              <a:t>unit</a:t>
            </a:r>
            <a:r>
              <a:rPr lang="en-US" sz="2400" dirty="0" smtClean="0"/>
              <a:t> for data manipulation and management of </a:t>
            </a:r>
            <a:r>
              <a:rPr lang="en-US" sz="2400" u="sng" dirty="0" smtClean="0"/>
              <a:t>consistency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Aggregate Data Model 1</a:t>
            </a:r>
            <a:endParaRPr lang="en-US" sz="42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8725" y="1524000"/>
            <a:ext cx="668655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524000" y="5715000"/>
            <a:ext cx="6172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In this model, we have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two main aggregates</a:t>
            </a:r>
            <a:r>
              <a:rPr lang="en-US" sz="2400" dirty="0" smtClean="0">
                <a:latin typeface="+mj-lt"/>
              </a:rPr>
              <a:t>: </a:t>
            </a:r>
            <a:r>
              <a:rPr lang="en-US" sz="2400" u="sng" dirty="0" smtClean="0">
                <a:latin typeface="+mj-lt"/>
              </a:rPr>
              <a:t>customer</a:t>
            </a:r>
            <a:r>
              <a:rPr lang="en-US" sz="2400" dirty="0" smtClean="0">
                <a:latin typeface="+mj-lt"/>
              </a:rPr>
              <a:t> and </a:t>
            </a:r>
            <a:r>
              <a:rPr lang="en-US" sz="2400" u="sng" dirty="0" smtClean="0">
                <a:latin typeface="+mj-lt"/>
              </a:rPr>
              <a:t>order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>
              <a:latin typeface="+mj-lt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10200" y="2057400"/>
            <a:ext cx="457200" cy="381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133600" y="2133600"/>
            <a:ext cx="457200" cy="381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477000" y="4038600"/>
            <a:ext cx="533400" cy="381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 1: 2 Aggregates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554063"/>
            <a:ext cx="8229600" cy="477053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// in customers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    "id":1, "name":"Martin",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billingAddress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":[{"city":"Chicago"}]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// in orders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    "id":99, 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customerId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":1,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orderItems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":[{</a:t>
            </a:r>
          </a:p>
          <a:p>
            <a:pPr lvl="3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productId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":27, "price": 32.45,</a:t>
            </a:r>
          </a:p>
          <a:p>
            <a:pPr lvl="3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productName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": 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NoSQL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Distilled"</a:t>
            </a:r>
          </a:p>
          <a:p>
            <a:pPr lvl="3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}],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shippingAddress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":[{"city":"Chicago"}]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orderPayment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":[</a:t>
            </a:r>
          </a:p>
          <a:p>
            <a:pPr lvl="2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2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ccinfo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":"1000-1000-1000-1000“, 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txnId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":"abelif879rft",</a:t>
            </a:r>
          </a:p>
          <a:p>
            <a:pPr lvl="2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billingAddress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": {"city": "Chicago"}</a:t>
            </a:r>
          </a:p>
          <a:p>
            <a:pPr lvl="2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}],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Aggregate Data Model 2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5913" y="1954212"/>
            <a:ext cx="4976813" cy="429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886200" y="1447800"/>
            <a:ext cx="48768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We could draw our aggregate boundaries differently, putting all the orders for a customer into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customer aggregate</a:t>
            </a:r>
            <a:r>
              <a:rPr lang="en-US" sz="2200" dirty="0" smtClean="0">
                <a:latin typeface="+mj-lt"/>
              </a:rPr>
              <a:t>.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Key-Value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2484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Suitable</a:t>
            </a:r>
            <a:r>
              <a:rPr lang="en-US" sz="2400" dirty="0" smtClean="0"/>
              <a:t> use cases</a:t>
            </a:r>
          </a:p>
          <a:p>
            <a:pPr lvl="1"/>
            <a:r>
              <a:rPr lang="en-US" sz="2000" dirty="0" smtClean="0"/>
              <a:t>Storing session information</a:t>
            </a:r>
          </a:p>
          <a:p>
            <a:pPr lvl="1"/>
            <a:r>
              <a:rPr lang="en-US" sz="2000" dirty="0" smtClean="0"/>
              <a:t>Storing user profiles or preferences. Getting preferences of a user takes a single GET operation.</a:t>
            </a:r>
          </a:p>
          <a:p>
            <a:pPr lvl="1"/>
            <a:r>
              <a:rPr lang="en-US" sz="2000" dirty="0" smtClean="0"/>
              <a:t>Storing shopping cart data.</a:t>
            </a:r>
          </a:p>
          <a:p>
            <a:r>
              <a:rPr lang="en-US" sz="2400" dirty="0" smtClean="0"/>
              <a:t>When </a:t>
            </a:r>
            <a:r>
              <a:rPr lang="en-US" sz="2400" i="1" dirty="0" smtClean="0">
                <a:solidFill>
                  <a:srgbClr val="C00000"/>
                </a:solidFill>
              </a:rPr>
              <a:t>not</a:t>
            </a:r>
            <a:r>
              <a:rPr lang="en-US" sz="2400" dirty="0" smtClean="0"/>
              <a:t> to use</a:t>
            </a:r>
          </a:p>
          <a:p>
            <a:pPr lvl="1"/>
            <a:r>
              <a:rPr lang="en-US" sz="2000" dirty="0" smtClean="0"/>
              <a:t>Having relationships between different sets of data, or correlate the data between different sets of keys.</a:t>
            </a:r>
          </a:p>
          <a:p>
            <a:pPr lvl="1"/>
            <a:r>
              <a:rPr lang="en-US" sz="2000" dirty="0" smtClean="0"/>
              <a:t>Searching the keys based on something found in the value part of the key-value pairs.</a:t>
            </a:r>
          </a:p>
          <a:p>
            <a:pPr lvl="1"/>
            <a:r>
              <a:rPr lang="en-US" sz="2000" dirty="0" smtClean="0"/>
              <a:t>Operating upon multiple keys at the same time.</a:t>
            </a:r>
            <a:endParaRPr lang="en-US" sz="2000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97675" y="2438400"/>
            <a:ext cx="1812925" cy="291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Suitable</a:t>
            </a:r>
            <a:r>
              <a:rPr lang="en-US" sz="2400" dirty="0" smtClean="0"/>
              <a:t> use cases</a:t>
            </a:r>
          </a:p>
          <a:p>
            <a:pPr lvl="1"/>
            <a:r>
              <a:rPr lang="en-US" sz="2000" dirty="0" smtClean="0"/>
              <a:t>Event logging, data for real-time analytics.</a:t>
            </a:r>
          </a:p>
          <a:p>
            <a:pPr lvl="1"/>
            <a:r>
              <a:rPr lang="en-US" sz="2000" dirty="0" smtClean="0"/>
              <a:t>Publishing websites, managing user comments, user registrations, profiles, web-facing documents.</a:t>
            </a:r>
          </a:p>
          <a:p>
            <a:pPr lvl="1"/>
            <a:r>
              <a:rPr lang="en-US" sz="2000" dirty="0" smtClean="0"/>
              <a:t>E-commerce applications often need to have flexible schema for products and orders.</a:t>
            </a:r>
          </a:p>
          <a:p>
            <a:r>
              <a:rPr lang="en-US" sz="2400" dirty="0" smtClean="0"/>
              <a:t>When </a:t>
            </a:r>
            <a:r>
              <a:rPr lang="en-US" sz="2400" i="1" dirty="0" smtClean="0">
                <a:solidFill>
                  <a:srgbClr val="C00000"/>
                </a:solidFill>
              </a:rPr>
              <a:t>not</a:t>
            </a:r>
            <a:r>
              <a:rPr lang="en-US" sz="2400" dirty="0" smtClean="0"/>
              <a:t> to use</a:t>
            </a:r>
          </a:p>
          <a:p>
            <a:pPr lvl="1"/>
            <a:r>
              <a:rPr lang="en-US" sz="2000" dirty="0" smtClean="0"/>
              <a:t>Data is saved in the form of application entities. If you need to </a:t>
            </a:r>
            <a:r>
              <a:rPr lang="en-US" sz="2000" i="1" dirty="0" smtClean="0">
                <a:solidFill>
                  <a:srgbClr val="C00000"/>
                </a:solidFill>
              </a:rPr>
              <a:t>query these entities ad hoc</a:t>
            </a:r>
            <a:r>
              <a:rPr lang="en-US" sz="2000" dirty="0" smtClean="0"/>
              <a:t>, your queries will be changing.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0" y="1676400"/>
            <a:ext cx="2971800" cy="40318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{</a:t>
            </a:r>
          </a:p>
          <a:p>
            <a:r>
              <a:rPr lang="en-US" sz="1600" dirty="0" smtClean="0">
                <a:latin typeface="Consolas" pitchFamily="49" charset="0"/>
              </a:rPr>
              <a:t> "</a:t>
            </a:r>
            <a:r>
              <a:rPr lang="en-US" sz="1600" dirty="0" err="1" smtClean="0">
                <a:latin typeface="Consolas" pitchFamily="49" charset="0"/>
              </a:rPr>
              <a:t>firstname</a:t>
            </a:r>
            <a:r>
              <a:rPr lang="en-US" sz="1600" dirty="0" smtClean="0">
                <a:latin typeface="Consolas" pitchFamily="49" charset="0"/>
              </a:rPr>
              <a:t>": "</a:t>
            </a:r>
            <a:r>
              <a:rPr lang="en-US" sz="1600" dirty="0" err="1" smtClean="0">
                <a:latin typeface="Consolas" pitchFamily="49" charset="0"/>
              </a:rPr>
              <a:t>Pramod</a:t>
            </a:r>
            <a:r>
              <a:rPr lang="en-US" sz="1600" dirty="0" smtClean="0">
                <a:latin typeface="Consolas" pitchFamily="49" charset="0"/>
              </a:rPr>
              <a:t>",</a:t>
            </a:r>
          </a:p>
          <a:p>
            <a:r>
              <a:rPr lang="en-US" sz="1600" dirty="0" smtClean="0">
                <a:latin typeface="Consolas" pitchFamily="49" charset="0"/>
              </a:rPr>
              <a:t> "</a:t>
            </a:r>
            <a:r>
              <a:rPr lang="en-US" sz="1600" dirty="0" err="1" smtClean="0">
                <a:latin typeface="Consolas" pitchFamily="49" charset="0"/>
              </a:rPr>
              <a:t>citiesvisited</a:t>
            </a:r>
            <a:r>
              <a:rPr lang="en-US" sz="1600" dirty="0" smtClean="0">
                <a:latin typeface="Consolas" pitchFamily="49" charset="0"/>
              </a:rPr>
              <a:t>": [ "Chicago", "London", "</a:t>
            </a:r>
            <a:r>
              <a:rPr lang="en-US" sz="1600" dirty="0" err="1" smtClean="0">
                <a:latin typeface="Consolas" pitchFamily="49" charset="0"/>
              </a:rPr>
              <a:t>Pune</a:t>
            </a:r>
            <a:r>
              <a:rPr lang="en-US" sz="1600" dirty="0" smtClean="0">
                <a:latin typeface="Consolas" pitchFamily="49" charset="0"/>
              </a:rPr>
              <a:t>", "Bangalore" ],</a:t>
            </a:r>
          </a:p>
          <a:p>
            <a:r>
              <a:rPr lang="en-US" sz="1600" dirty="0" smtClean="0">
                <a:latin typeface="Consolas" pitchFamily="49" charset="0"/>
              </a:rPr>
              <a:t> "addresses": [</a:t>
            </a:r>
          </a:p>
          <a:p>
            <a:r>
              <a:rPr lang="en-US" sz="1600" dirty="0" smtClean="0">
                <a:latin typeface="Consolas" pitchFamily="49" charset="0"/>
              </a:rPr>
              <a:t>   { "state": "AK",</a:t>
            </a:r>
          </a:p>
          <a:p>
            <a:r>
              <a:rPr lang="en-US" sz="1600" dirty="0" smtClean="0">
                <a:latin typeface="Consolas" pitchFamily="49" charset="0"/>
              </a:rPr>
              <a:t>   "city": "DILLINGHAM",</a:t>
            </a:r>
          </a:p>
          <a:p>
            <a:r>
              <a:rPr lang="en-US" sz="1600" dirty="0" smtClean="0">
                <a:latin typeface="Consolas" pitchFamily="49" charset="0"/>
              </a:rPr>
              <a:t>   "type": "R"</a:t>
            </a:r>
          </a:p>
          <a:p>
            <a:r>
              <a:rPr lang="en-US" sz="1600" dirty="0" smtClean="0">
                <a:latin typeface="Consolas" pitchFamily="49" charset="0"/>
              </a:rPr>
              <a:t>   },</a:t>
            </a:r>
          </a:p>
          <a:p>
            <a:r>
              <a:rPr lang="en-US" sz="1600" dirty="0" smtClean="0">
                <a:latin typeface="Consolas" pitchFamily="49" charset="0"/>
              </a:rPr>
              <a:t>   { "state": "MH",</a:t>
            </a:r>
          </a:p>
          <a:p>
            <a:r>
              <a:rPr lang="en-US" sz="1600" dirty="0" smtClean="0">
                <a:latin typeface="Consolas" pitchFamily="49" charset="0"/>
              </a:rPr>
              <a:t>   "city": "PUNE",</a:t>
            </a:r>
          </a:p>
          <a:p>
            <a:r>
              <a:rPr lang="en-US" sz="1600" dirty="0" smtClean="0">
                <a:latin typeface="Consolas" pitchFamily="49" charset="0"/>
              </a:rPr>
              <a:t>   "type": "R" }</a:t>
            </a:r>
          </a:p>
          <a:p>
            <a:r>
              <a:rPr lang="en-US" sz="1600" dirty="0" smtClean="0">
                <a:latin typeface="Consolas" pitchFamily="49" charset="0"/>
              </a:rPr>
              <a:t>  ],</a:t>
            </a:r>
          </a:p>
          <a:p>
            <a:r>
              <a:rPr lang="en-US" sz="1600" dirty="0" smtClean="0">
                <a:latin typeface="Consolas" pitchFamily="49" charset="0"/>
              </a:rPr>
              <a:t>  "</a:t>
            </a:r>
            <a:r>
              <a:rPr lang="en-US" sz="1600" dirty="0" err="1" smtClean="0">
                <a:latin typeface="Consolas" pitchFamily="49" charset="0"/>
              </a:rPr>
              <a:t>lastcity</a:t>
            </a:r>
            <a:r>
              <a:rPr lang="en-US" sz="1600" dirty="0" smtClean="0">
                <a:latin typeface="Consolas" pitchFamily="49" charset="0"/>
              </a:rPr>
              <a:t>": "Chicago"</a:t>
            </a:r>
          </a:p>
          <a:p>
            <a:r>
              <a:rPr lang="en-US" sz="1600" dirty="0" smtClean="0">
                <a:latin typeface="Consolas" pitchFamily="49" charset="0"/>
              </a:rPr>
              <a:t>}</a:t>
            </a:r>
            <a:endParaRPr lang="en-US" sz="16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Key-Value vs. Document Data Models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Key-value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document databases</a:t>
            </a:r>
            <a:r>
              <a:rPr lang="en-US" sz="2200" dirty="0" smtClean="0"/>
              <a:t> were strongly aggregate oriented.</a:t>
            </a:r>
          </a:p>
          <a:p>
            <a:r>
              <a:rPr lang="en-US" sz="2200" dirty="0" smtClean="0"/>
              <a:t>Both of these types of databases </a:t>
            </a:r>
            <a:r>
              <a:rPr lang="en-US" sz="2200" i="1" dirty="0" smtClean="0">
                <a:solidFill>
                  <a:srgbClr val="C00000"/>
                </a:solidFill>
              </a:rPr>
              <a:t>consist of lots of aggregates</a:t>
            </a:r>
            <a:r>
              <a:rPr lang="en-US" sz="2200" dirty="0" smtClean="0"/>
              <a:t> with each aggregate having </a:t>
            </a:r>
            <a:r>
              <a:rPr lang="en-US" sz="2200" u="sng" dirty="0" smtClean="0"/>
              <a:t>a key or ID</a:t>
            </a:r>
            <a:r>
              <a:rPr lang="en-US" sz="2200" dirty="0" smtClean="0"/>
              <a:t> that’s used to get at </a:t>
            </a:r>
            <a:r>
              <a:rPr lang="en-US" sz="2200" u="sng" dirty="0" smtClean="0"/>
              <a:t>the data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two models differ in that in a </a:t>
            </a:r>
            <a:r>
              <a:rPr lang="en-US" sz="2200" i="1" dirty="0" smtClean="0">
                <a:solidFill>
                  <a:srgbClr val="C00000"/>
                </a:solidFill>
              </a:rPr>
              <a:t>key-value database</a:t>
            </a:r>
            <a:r>
              <a:rPr lang="en-US" sz="2200" dirty="0" smtClean="0"/>
              <a:t>, the aggregate is </a:t>
            </a:r>
            <a:r>
              <a:rPr lang="en-US" sz="2200" u="sng" dirty="0" smtClean="0"/>
              <a:t>opaque</a:t>
            </a:r>
            <a:r>
              <a:rPr lang="en-US" sz="2200" dirty="0" smtClean="0"/>
              <a:t> to the database—just some big blob of mostly </a:t>
            </a:r>
            <a:r>
              <a:rPr lang="en-US" sz="2200" u="sng" dirty="0" smtClean="0"/>
              <a:t>meaningless bits</a:t>
            </a:r>
            <a:r>
              <a:rPr lang="en-US" sz="2200" dirty="0" smtClean="0"/>
              <a:t>. In contrast, a </a:t>
            </a:r>
            <a:r>
              <a:rPr lang="en-US" sz="2200" i="1" dirty="0" smtClean="0">
                <a:solidFill>
                  <a:srgbClr val="C00000"/>
                </a:solidFill>
              </a:rPr>
              <a:t>document database</a:t>
            </a:r>
            <a:r>
              <a:rPr lang="en-US" sz="2200" dirty="0" smtClean="0"/>
              <a:t> is able to see a </a:t>
            </a:r>
            <a:r>
              <a:rPr lang="en-US" sz="2200" u="sng" dirty="0" smtClean="0"/>
              <a:t>structure</a:t>
            </a:r>
            <a:r>
              <a:rPr lang="en-US" sz="2200" dirty="0" smtClean="0"/>
              <a:t> in the aggregate.</a:t>
            </a:r>
          </a:p>
          <a:p>
            <a:r>
              <a:rPr lang="en-US" sz="2200" dirty="0" smtClean="0"/>
              <a:t>With a key-value store, we can only access an aggregate by lookup </a:t>
            </a:r>
            <a:r>
              <a:rPr lang="en-US" sz="2200" i="1" dirty="0" smtClean="0">
                <a:solidFill>
                  <a:srgbClr val="C00000"/>
                </a:solidFill>
              </a:rPr>
              <a:t>based on its key</a:t>
            </a:r>
            <a:r>
              <a:rPr lang="en-US" sz="2200" dirty="0" smtClean="0"/>
              <a:t>. With a document database, we can submit queries to the database </a:t>
            </a:r>
            <a:r>
              <a:rPr lang="en-US" sz="2200" i="1" dirty="0" smtClean="0">
                <a:solidFill>
                  <a:srgbClr val="C00000"/>
                </a:solidFill>
              </a:rPr>
              <a:t>based on the fields</a:t>
            </a:r>
            <a:r>
              <a:rPr lang="en-US" sz="2200" dirty="0" smtClean="0"/>
              <a:t> in the aggregate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Column-Family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Column-family model</a:t>
            </a:r>
            <a:r>
              <a:rPr lang="en-US" sz="2200" dirty="0" smtClean="0"/>
              <a:t> is a </a:t>
            </a:r>
            <a:r>
              <a:rPr lang="en-US" sz="2200" i="1" dirty="0" smtClean="0">
                <a:solidFill>
                  <a:srgbClr val="C00000"/>
                </a:solidFill>
              </a:rPr>
              <a:t>two-level</a:t>
            </a:r>
            <a:r>
              <a:rPr lang="en-US" sz="2200" dirty="0" smtClean="0"/>
              <a:t> aggregate structure.</a:t>
            </a:r>
          </a:p>
          <a:p>
            <a:r>
              <a:rPr lang="en-US" sz="2200" dirty="0" smtClean="0">
                <a:solidFill>
                  <a:srgbClr val="C00000"/>
                </a:solidFill>
              </a:rPr>
              <a:t>The first key</a:t>
            </a:r>
            <a:r>
              <a:rPr lang="en-US" sz="2200" dirty="0" smtClean="0"/>
              <a:t> is often described as a row identifier, picking up the aggregate of interest.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These second-level</a:t>
            </a:r>
            <a:r>
              <a:rPr lang="en-US" sz="2200" dirty="0" smtClean="0"/>
              <a:t> values are referred to as columns.</a:t>
            </a:r>
          </a:p>
          <a:p>
            <a:endParaRPr lang="en-US" sz="22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3352800"/>
            <a:ext cx="4325938" cy="315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990600" y="5867400"/>
            <a:ext cx="3139001" cy="43088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  <a:cs typeface="Consolas" pitchFamily="49" charset="0"/>
              </a:rPr>
              <a:t>get('1234', 'name')</a:t>
            </a:r>
            <a:endParaRPr lang="en-US" sz="2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3429000"/>
            <a:ext cx="28194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As well as</a:t>
            </a:r>
          </a:p>
          <a:p>
            <a:r>
              <a:rPr lang="en-US" sz="2200" dirty="0" smtClean="0">
                <a:latin typeface="+mj-lt"/>
              </a:rPr>
              <a:t>accessing the row as a whole, operations also allow picking out a particular column so to get a particular customer’s name: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Cassandra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Suitable</a:t>
            </a:r>
            <a:r>
              <a:rPr lang="en-US" sz="2400" dirty="0" smtClean="0"/>
              <a:t> use cases</a:t>
            </a:r>
          </a:p>
          <a:p>
            <a:pPr lvl="1"/>
            <a:r>
              <a:rPr lang="en-US" sz="1800" dirty="0" smtClean="0"/>
              <a:t>Since we can </a:t>
            </a:r>
            <a:r>
              <a:rPr lang="en-US" sz="1800" i="1" dirty="0" smtClean="0">
                <a:solidFill>
                  <a:srgbClr val="C00000"/>
                </a:solidFill>
              </a:rPr>
              <a:t>scale writes</a:t>
            </a:r>
            <a:r>
              <a:rPr lang="en-US" sz="1800" dirty="0" smtClean="0"/>
              <a:t>, Cassandra would work ideally for an event logging system.</a:t>
            </a:r>
          </a:p>
          <a:p>
            <a:pPr lvl="1"/>
            <a:r>
              <a:rPr lang="en-US" sz="1800" dirty="0" smtClean="0"/>
              <a:t>Using column families, you can store blog entries with tags, categories, links, and trackbacks in different columns.</a:t>
            </a:r>
          </a:p>
          <a:p>
            <a:r>
              <a:rPr lang="en-US" sz="2400" dirty="0" smtClean="0"/>
              <a:t>When </a:t>
            </a:r>
            <a:r>
              <a:rPr lang="en-US" sz="2400" i="1" dirty="0" smtClean="0">
                <a:solidFill>
                  <a:srgbClr val="C00000"/>
                </a:solidFill>
              </a:rPr>
              <a:t>not</a:t>
            </a:r>
            <a:r>
              <a:rPr lang="en-US" sz="2400" dirty="0" smtClean="0"/>
              <a:t> to use</a:t>
            </a:r>
          </a:p>
          <a:p>
            <a:pPr lvl="1"/>
            <a:r>
              <a:rPr lang="en-US" sz="1800" dirty="0" smtClean="0"/>
              <a:t>Systems that require </a:t>
            </a:r>
            <a:r>
              <a:rPr lang="en-US" sz="1800" i="1" dirty="0" smtClean="0">
                <a:solidFill>
                  <a:srgbClr val="C00000"/>
                </a:solidFill>
              </a:rPr>
              <a:t>ACID transactions</a:t>
            </a:r>
            <a:r>
              <a:rPr lang="en-US" sz="1800" dirty="0" smtClean="0"/>
              <a:t> for writes and reads.</a:t>
            </a:r>
          </a:p>
          <a:p>
            <a:pPr lvl="1"/>
            <a:r>
              <a:rPr lang="en-US" sz="1800" i="1" dirty="0" smtClean="0">
                <a:solidFill>
                  <a:srgbClr val="C00000"/>
                </a:solidFill>
              </a:rPr>
              <a:t>Aggregating the data</a:t>
            </a:r>
            <a:r>
              <a:rPr lang="en-US" sz="1800" dirty="0" smtClean="0"/>
              <a:t> using queries (such as SUM or AVG).</a:t>
            </a:r>
          </a:p>
          <a:p>
            <a:pPr lvl="1"/>
            <a:r>
              <a:rPr lang="en-US" sz="1800" dirty="0" smtClean="0"/>
              <a:t>During the </a:t>
            </a:r>
            <a:r>
              <a:rPr lang="en-US" sz="1800" i="1" dirty="0" smtClean="0">
                <a:solidFill>
                  <a:srgbClr val="C00000"/>
                </a:solidFill>
              </a:rPr>
              <a:t>early stages</a:t>
            </a:r>
            <a:r>
              <a:rPr lang="en-US" sz="1800" dirty="0" smtClean="0"/>
              <a:t>, we are not sure how the query patterns may change, and as the query patterns change, we have to change the column family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0" y="2286000"/>
            <a:ext cx="2971800" cy="37856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//column family</a:t>
            </a:r>
          </a:p>
          <a:p>
            <a:r>
              <a:rPr lang="en-US" sz="1600" dirty="0" smtClean="0">
                <a:latin typeface="Consolas" pitchFamily="49" charset="0"/>
              </a:rPr>
              <a:t>{</a:t>
            </a:r>
          </a:p>
          <a:p>
            <a:r>
              <a:rPr lang="en-US" sz="1600" dirty="0" smtClean="0">
                <a:latin typeface="Consolas" pitchFamily="49" charset="0"/>
              </a:rPr>
              <a:t> //row</a:t>
            </a:r>
          </a:p>
          <a:p>
            <a:r>
              <a:rPr lang="en-US" sz="1600" dirty="0" smtClean="0">
                <a:latin typeface="Consolas" pitchFamily="49" charset="0"/>
              </a:rPr>
              <a:t> "</a:t>
            </a:r>
            <a:r>
              <a:rPr lang="en-US" sz="1600" dirty="0" err="1" smtClean="0">
                <a:latin typeface="Consolas" pitchFamily="49" charset="0"/>
              </a:rPr>
              <a:t>pramod-sadalage</a:t>
            </a:r>
            <a:r>
              <a:rPr lang="en-US" sz="1600" dirty="0" smtClean="0">
                <a:latin typeface="Consolas" pitchFamily="49" charset="0"/>
              </a:rPr>
              <a:t>" : {</a:t>
            </a:r>
          </a:p>
          <a:p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firstName</a:t>
            </a:r>
            <a:r>
              <a:rPr lang="en-US" sz="1600" dirty="0" smtClean="0">
                <a:latin typeface="Consolas" pitchFamily="49" charset="0"/>
              </a:rPr>
              <a:t>: "</a:t>
            </a:r>
            <a:r>
              <a:rPr lang="en-US" sz="1600" dirty="0" err="1" smtClean="0">
                <a:latin typeface="Consolas" pitchFamily="49" charset="0"/>
              </a:rPr>
              <a:t>Pramod</a:t>
            </a:r>
            <a:r>
              <a:rPr lang="en-US" sz="1600" dirty="0" smtClean="0">
                <a:latin typeface="Consolas" pitchFamily="49" charset="0"/>
              </a:rPr>
              <a:t>",</a:t>
            </a:r>
          </a:p>
          <a:p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lastName</a:t>
            </a:r>
            <a:r>
              <a:rPr lang="en-US" sz="1600" dirty="0" smtClean="0">
                <a:latin typeface="Consolas" pitchFamily="49" charset="0"/>
              </a:rPr>
              <a:t>: "</a:t>
            </a:r>
            <a:r>
              <a:rPr lang="en-US" sz="1600" dirty="0" err="1" smtClean="0">
                <a:latin typeface="Consolas" pitchFamily="49" charset="0"/>
              </a:rPr>
              <a:t>Sadalage</a:t>
            </a:r>
            <a:r>
              <a:rPr lang="en-US" sz="1600" dirty="0" smtClean="0">
                <a:latin typeface="Consolas" pitchFamily="49" charset="0"/>
              </a:rPr>
              <a:t>",</a:t>
            </a:r>
          </a:p>
          <a:p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lastVisit</a:t>
            </a:r>
            <a:r>
              <a:rPr lang="en-US" sz="1600" dirty="0" smtClean="0">
                <a:latin typeface="Consolas" pitchFamily="49" charset="0"/>
              </a:rPr>
              <a:t>: "2012/12/12"</a:t>
            </a:r>
          </a:p>
          <a:p>
            <a:r>
              <a:rPr lang="en-US" sz="1600" dirty="0" smtClean="0">
                <a:latin typeface="Consolas" pitchFamily="49" charset="0"/>
              </a:rPr>
              <a:t> }</a:t>
            </a:r>
          </a:p>
          <a:p>
            <a:r>
              <a:rPr lang="en-US" sz="1600" dirty="0" smtClean="0">
                <a:latin typeface="Consolas" pitchFamily="49" charset="0"/>
              </a:rPr>
              <a:t> //row</a:t>
            </a:r>
          </a:p>
          <a:p>
            <a:r>
              <a:rPr lang="en-US" sz="1600" dirty="0" smtClean="0">
                <a:latin typeface="Consolas" pitchFamily="49" charset="0"/>
              </a:rPr>
              <a:t> "martin-fowler" : {</a:t>
            </a:r>
          </a:p>
          <a:p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firstName</a:t>
            </a:r>
            <a:r>
              <a:rPr lang="en-US" sz="1600" dirty="0" smtClean="0">
                <a:latin typeface="Consolas" pitchFamily="49" charset="0"/>
              </a:rPr>
              <a:t>: "Martin",</a:t>
            </a:r>
          </a:p>
          <a:p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lastName</a:t>
            </a:r>
            <a:r>
              <a:rPr lang="en-US" sz="1600" dirty="0" smtClean="0">
                <a:latin typeface="Consolas" pitchFamily="49" charset="0"/>
              </a:rPr>
              <a:t>: "Fowler",</a:t>
            </a:r>
          </a:p>
          <a:p>
            <a:r>
              <a:rPr lang="en-US" sz="1600" dirty="0" smtClean="0">
                <a:latin typeface="Consolas" pitchFamily="49" charset="0"/>
              </a:rPr>
              <a:t> location: "Boston"</a:t>
            </a:r>
          </a:p>
          <a:p>
            <a:r>
              <a:rPr lang="en-US" sz="1600" dirty="0" smtClean="0">
                <a:latin typeface="Consolas" pitchFamily="49" charset="0"/>
              </a:rPr>
              <a:t> }</a:t>
            </a:r>
          </a:p>
          <a:p>
            <a:r>
              <a:rPr lang="en-US" sz="1600" dirty="0" smtClean="0">
                <a:latin typeface="Consolas" pitchFamily="49" charset="0"/>
              </a:rPr>
              <a:t>}</a:t>
            </a:r>
            <a:endParaRPr lang="en-US" sz="16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143000"/>
            <a:ext cx="50514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3"/>
              </a:rPr>
              <a:t>https://cassandra.apache.org/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https://www.mongodb.com/</a:t>
            </a:r>
            <a:endParaRPr lang="en-US" sz="2400" dirty="0" smtClean="0"/>
          </a:p>
          <a:p>
            <a:r>
              <a:rPr lang="en-US" sz="2400" dirty="0" smtClean="0">
                <a:hlinkClick r:id="rId5"/>
              </a:rPr>
              <a:t>https://hbase.apache.org/</a:t>
            </a:r>
            <a:endParaRPr lang="en-US" sz="2400" dirty="0" smtClean="0"/>
          </a:p>
          <a:p>
            <a:r>
              <a:rPr lang="en-US" sz="2400" dirty="0" smtClean="0">
                <a:hlinkClick r:id="rId6"/>
              </a:rPr>
              <a:t>https://www.oracle.com/database/technologies/related/nosql.html</a:t>
            </a:r>
            <a:endParaRPr lang="en-US" sz="2400" dirty="0" smtClean="0"/>
          </a:p>
          <a:p>
            <a:r>
              <a:rPr lang="en-US" sz="2400" dirty="0" smtClean="0">
                <a:hlinkClick r:id="rId7"/>
              </a:rPr>
              <a:t>https://aws.amazon.com/dynamodb/</a:t>
            </a:r>
            <a:endParaRPr lang="en-US" sz="2400" dirty="0" smtClean="0"/>
          </a:p>
          <a:p>
            <a:r>
              <a:rPr lang="en-US" sz="2400" dirty="0" smtClean="0">
                <a:hlinkClick r:id="rId8"/>
              </a:rPr>
              <a:t>https://neo4j.com/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MongoDB</a:t>
            </a:r>
            <a:endParaRPr lang="en-US" sz="2800" dirty="0" smtClean="0"/>
          </a:p>
          <a:p>
            <a:pPr lvl="1"/>
            <a:r>
              <a:rPr lang="en-US" sz="2400" dirty="0" smtClean="0"/>
              <a:t>Bradshaw Shannon, </a:t>
            </a:r>
            <a:r>
              <a:rPr lang="en-US" sz="2400" dirty="0" err="1" smtClean="0"/>
              <a:t>Eoin</a:t>
            </a:r>
            <a:r>
              <a:rPr lang="en-US" sz="2400" dirty="0" smtClean="0"/>
              <a:t> Brazil and Kristina </a:t>
            </a:r>
            <a:r>
              <a:rPr lang="en-US" sz="2400" dirty="0" err="1" smtClean="0"/>
              <a:t>Chodorow</a:t>
            </a:r>
            <a:r>
              <a:rPr lang="en-US" sz="2400" dirty="0" smtClean="0"/>
              <a:t> (2019).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: The Definitive Guide - Powerful and Scalable Data Storage. O'Reilly Media.</a:t>
            </a:r>
          </a:p>
          <a:p>
            <a:pPr lvl="2"/>
            <a:r>
              <a:rPr lang="en-US" sz="2000" dirty="0" smtClean="0"/>
              <a:t>Chapter 10. Setting Up a Replica Set</a:t>
            </a:r>
          </a:p>
          <a:p>
            <a:pPr lvl="2"/>
            <a:r>
              <a:rPr lang="en-US" sz="2000" dirty="0" smtClean="0"/>
              <a:t>Chapter 15. Configuring </a:t>
            </a:r>
            <a:r>
              <a:rPr lang="en-US" sz="2000" dirty="0" err="1" smtClean="0"/>
              <a:t>Sharding</a:t>
            </a:r>
            <a:endParaRPr lang="en-US" sz="2000" dirty="0" smtClean="0"/>
          </a:p>
          <a:p>
            <a:r>
              <a:rPr lang="en-US" sz="2800" dirty="0" err="1" smtClean="0"/>
              <a:t>Casandara</a:t>
            </a:r>
            <a:endParaRPr lang="en-US" sz="2800" dirty="0" smtClean="0"/>
          </a:p>
          <a:p>
            <a:pPr lvl="1"/>
            <a:r>
              <a:rPr lang="en-US" sz="2400" dirty="0" smtClean="0"/>
              <a:t>Jeff Carpenter and </a:t>
            </a:r>
            <a:r>
              <a:rPr lang="en-US" sz="2400" dirty="0" err="1" smtClean="0"/>
              <a:t>Eben</a:t>
            </a:r>
            <a:r>
              <a:rPr lang="en-US" sz="2400" dirty="0" smtClean="0"/>
              <a:t> Hewitt (2020). Cassandra: The Definitive Guide - Distributed Data at Web Scale. O'Reilly Media.</a:t>
            </a:r>
          </a:p>
          <a:p>
            <a:pPr lvl="2"/>
            <a:r>
              <a:rPr lang="en-US" sz="2000" dirty="0" smtClean="0"/>
              <a:t>Chapter 3. Installing Cassandra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Luc Perkins, Eric Redmond and Jim Wilson (2018). Seven Databases in Seven Weeks: A Guide to Modern Databases and the </a:t>
            </a:r>
            <a:r>
              <a:rPr lang="en-US" sz="2400" dirty="0" err="1" smtClean="0"/>
              <a:t>NoSQL</a:t>
            </a:r>
            <a:r>
              <a:rPr lang="en-US" sz="2400" dirty="0" smtClean="0"/>
              <a:t> Movement. Pragmatic Bookshelf.</a:t>
            </a:r>
          </a:p>
          <a:p>
            <a:r>
              <a:rPr lang="en-US" sz="2400" dirty="0" smtClean="0"/>
              <a:t>Martin </a:t>
            </a:r>
            <a:r>
              <a:rPr lang="en-US" sz="2400" dirty="0" err="1" smtClean="0"/>
              <a:t>Kleppmann</a:t>
            </a:r>
            <a:r>
              <a:rPr lang="en-US" sz="2400" dirty="0" smtClean="0"/>
              <a:t> (2017). Designing Data-Intensive Applications: The Big Ideas Behind Reliable, Scalable, and Maintainable Systems. O'Reilly Media.</a:t>
            </a:r>
          </a:p>
          <a:p>
            <a:r>
              <a:rPr lang="en-US" sz="2400" dirty="0" smtClean="0"/>
              <a:t>Alex </a:t>
            </a:r>
            <a:r>
              <a:rPr lang="en-US" sz="2400" dirty="0" err="1" smtClean="0"/>
              <a:t>Petrov</a:t>
            </a:r>
            <a:r>
              <a:rPr lang="en-US" sz="2400" dirty="0" smtClean="0"/>
              <a:t> (2019). Database Internals. O'Reilly Media.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14507</TotalTime>
  <Words>1811</Words>
  <Application>Microsoft Office PowerPoint</Application>
  <PresentationFormat>On-screen Show (4:3)</PresentationFormat>
  <Paragraphs>192</Paragraphs>
  <Slides>33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NoSQL</vt:lpstr>
      <vt:lpstr>Objectives</vt:lpstr>
      <vt:lpstr>Contents</vt:lpstr>
      <vt:lpstr>References</vt:lpstr>
      <vt:lpstr>Memory vs. Files vs. Databases [1]</vt:lpstr>
      <vt:lpstr>Why Relational Databases? (I)</vt:lpstr>
      <vt:lpstr>Why Relational Databases? (II)</vt:lpstr>
      <vt:lpstr>Why Relational Databases? (III)</vt:lpstr>
      <vt:lpstr>Why Relational Databases? (IV)</vt:lpstr>
      <vt:lpstr>Why Not Relational Databases (I)</vt:lpstr>
      <vt:lpstr>Why Not Relational Databases (II)</vt:lpstr>
      <vt:lpstr>Why Not Relational Databases (III)</vt:lpstr>
      <vt:lpstr>Why Not Relational Databases (IV)</vt:lpstr>
      <vt:lpstr>Slide 14</vt:lpstr>
      <vt:lpstr>What is NoSQL?</vt:lpstr>
      <vt:lpstr>Relational Data Model</vt:lpstr>
      <vt:lpstr>Relational Data Model Sample</vt:lpstr>
      <vt:lpstr>Typical Data</vt:lpstr>
      <vt:lpstr>Aggregate Data Models</vt:lpstr>
      <vt:lpstr>Aggregate Data Model 1</vt:lpstr>
      <vt:lpstr>Data Model 1: 2 Aggregates</vt:lpstr>
      <vt:lpstr>Aggregate Data Model 2</vt:lpstr>
      <vt:lpstr>Slide 23</vt:lpstr>
      <vt:lpstr>Key-Value Databases</vt:lpstr>
      <vt:lpstr>Document Databases</vt:lpstr>
      <vt:lpstr>Key-Value vs. Document Data Models</vt:lpstr>
      <vt:lpstr>Column-Family Models</vt:lpstr>
      <vt:lpstr>Cassandra</vt:lpstr>
      <vt:lpstr>Tools</vt:lpstr>
      <vt:lpstr>Demo</vt:lpstr>
      <vt:lpstr>Slide 31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4235</cp:revision>
  <dcterms:created xsi:type="dcterms:W3CDTF">2007-10-06T08:25:13Z</dcterms:created>
  <dcterms:modified xsi:type="dcterms:W3CDTF">2023-03-20T12:43:05Z</dcterms:modified>
</cp:coreProperties>
</file>