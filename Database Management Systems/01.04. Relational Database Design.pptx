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4"/>
  </p:notesMasterIdLst>
  <p:handoutMasterIdLst>
    <p:handoutMasterId r:id="rId65"/>
  </p:handoutMasterIdLst>
  <p:sldIdLst>
    <p:sldId id="256" r:id="rId2"/>
    <p:sldId id="580" r:id="rId3"/>
    <p:sldId id="581" r:id="rId4"/>
    <p:sldId id="582" r:id="rId5"/>
    <p:sldId id="623" r:id="rId6"/>
    <p:sldId id="624" r:id="rId7"/>
    <p:sldId id="625" r:id="rId8"/>
    <p:sldId id="626" r:id="rId9"/>
    <p:sldId id="627" r:id="rId10"/>
    <p:sldId id="607" r:id="rId11"/>
    <p:sldId id="608" r:id="rId12"/>
    <p:sldId id="609" r:id="rId13"/>
    <p:sldId id="610" r:id="rId14"/>
    <p:sldId id="611" r:id="rId15"/>
    <p:sldId id="612" r:id="rId16"/>
    <p:sldId id="613" r:id="rId17"/>
    <p:sldId id="614" r:id="rId18"/>
    <p:sldId id="615" r:id="rId19"/>
    <p:sldId id="616" r:id="rId20"/>
    <p:sldId id="617" r:id="rId21"/>
    <p:sldId id="634" r:id="rId22"/>
    <p:sldId id="628" r:id="rId23"/>
    <p:sldId id="629" r:id="rId24"/>
    <p:sldId id="630" r:id="rId25"/>
    <p:sldId id="631" r:id="rId26"/>
    <p:sldId id="632" r:id="rId27"/>
    <p:sldId id="635" r:id="rId28"/>
    <p:sldId id="636" r:id="rId29"/>
    <p:sldId id="637" r:id="rId30"/>
    <p:sldId id="638" r:id="rId31"/>
    <p:sldId id="639" r:id="rId32"/>
    <p:sldId id="661" r:id="rId33"/>
    <p:sldId id="641" r:id="rId34"/>
    <p:sldId id="642" r:id="rId35"/>
    <p:sldId id="643" r:id="rId36"/>
    <p:sldId id="644" r:id="rId37"/>
    <p:sldId id="645" r:id="rId38"/>
    <p:sldId id="646" r:id="rId39"/>
    <p:sldId id="647" r:id="rId40"/>
    <p:sldId id="648" r:id="rId41"/>
    <p:sldId id="649" r:id="rId42"/>
    <p:sldId id="650" r:id="rId43"/>
    <p:sldId id="651" r:id="rId44"/>
    <p:sldId id="652" r:id="rId45"/>
    <p:sldId id="654" r:id="rId46"/>
    <p:sldId id="655" r:id="rId47"/>
    <p:sldId id="656" r:id="rId48"/>
    <p:sldId id="657" r:id="rId49"/>
    <p:sldId id="658" r:id="rId50"/>
    <p:sldId id="659" r:id="rId51"/>
    <p:sldId id="660" r:id="rId52"/>
    <p:sldId id="666" r:id="rId53"/>
    <p:sldId id="664" r:id="rId54"/>
    <p:sldId id="665" r:id="rId55"/>
    <p:sldId id="674" r:id="rId56"/>
    <p:sldId id="675" r:id="rId57"/>
    <p:sldId id="676" r:id="rId58"/>
    <p:sldId id="677" r:id="rId59"/>
    <p:sldId id="678" r:id="rId60"/>
    <p:sldId id="679" r:id="rId61"/>
    <p:sldId id="673" r:id="rId62"/>
    <p:sldId id="360" r:id="rId6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03" autoAdjust="0"/>
    <p:restoredTop sz="94667" autoAdjust="0"/>
  </p:normalViewPr>
  <p:slideViewPr>
    <p:cSldViewPr>
      <p:cViewPr>
        <p:scale>
          <a:sx n="50" d="100"/>
          <a:sy n="50" d="100"/>
        </p:scale>
        <p:origin x="-150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31727DC-2E8F-43B3-8355-CCE0B6704CEB}" type="datetimeFigureOut">
              <a:rPr lang="en-US" smtClean="0"/>
              <a:pPr/>
              <a:t>11/10/2024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D0B4380-3815-4B2E-92FA-ED1993E061B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A67CB-EC97-4A9C-AC01-CDE0E9628729}" type="datetimeFigureOut">
              <a:rPr lang="en-US" smtClean="0"/>
              <a:pPr/>
              <a:t>11/10/2024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4D21D0-87B8-43A2-A59B-A5690BBF94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7F6A842-585B-4FB8-B0AD-5A22636E93BF}" type="datetimeFigureOut">
              <a:rPr lang="en-US"/>
              <a:pPr>
                <a:defRPr/>
              </a:pPr>
              <a:t>11/10/2024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A757F44-DAAA-4BFA-A1D9-B690FD69F10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77CC13E-AA34-4DB7-B0EC-5E3AAA7D3BAC}" type="datetimeFigureOut">
              <a:rPr lang="en-US"/>
              <a:pPr>
                <a:defRPr/>
              </a:pPr>
              <a:t>11/10/2024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6F6660F-9FDB-4AFB-BE29-11A381729C2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5883334-71C9-49E2-A0BB-A043C182B878}" type="datetimeFigureOut">
              <a:rPr lang="en-US"/>
              <a:pPr>
                <a:defRPr/>
              </a:pPr>
              <a:t>11/10/2024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4F881E5-BD58-41FC-93AD-0A909108779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AC3020B-3D2A-4D8C-B5FF-4D6A024CBDE8}" type="datetimeFigureOut">
              <a:rPr lang="en-US"/>
              <a:pPr>
                <a:defRPr/>
              </a:pPr>
              <a:t>11/10/2024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08E1C0-584A-404B-B99A-E5AD89ACF00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DB17DBA-E622-4CD1-BCA3-A03CD04FDCC6}" type="datetimeFigureOut">
              <a:rPr lang="en-US"/>
              <a:pPr>
                <a:defRPr/>
              </a:pPr>
              <a:t>11/10/2024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C9F4D90-9228-45C4-A427-06E557DE9CF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491D3DF-EF49-4212-81A5-83E2D6EC0182}" type="datetimeFigureOut">
              <a:rPr lang="en-US"/>
              <a:pPr>
                <a:defRPr/>
              </a:pPr>
              <a:t>11/10/2024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5E97F0E-0BE9-471F-A7B8-4D2E909F9B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0F86690-AF43-474E-AAC4-06B4786F7A5B}" type="datetimeFigureOut">
              <a:rPr lang="en-US"/>
              <a:pPr>
                <a:defRPr/>
              </a:pPr>
              <a:t>11/10/2024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C646AD9-6F95-4021-BF75-BF9B58A70F5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3CF0E39-78E2-4DE3-8C65-7CAB11F37A23}" type="datetimeFigureOut">
              <a:rPr lang="en-US"/>
              <a:pPr>
                <a:defRPr/>
              </a:pPr>
              <a:t>11/10/2024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4CF80FB-C1F7-4ADD-9C33-A8D7E6B496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C12A139-0756-4DC4-8001-1DFC6C3458CC}" type="datetimeFigureOut">
              <a:rPr lang="en-US"/>
              <a:pPr>
                <a:defRPr/>
              </a:pPr>
              <a:t>11/10/2024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795BAB-E1F5-4BBA-9D33-03EFE2F8DDA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E7FC515-BCDF-4B2C-80BB-863C58D176FB}" type="datetimeFigureOut">
              <a:rPr lang="en-US"/>
              <a:pPr>
                <a:defRPr/>
              </a:pPr>
              <a:t>11/10/2024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C6CC5B-ED2C-42FF-AE49-898FC683E24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2C8C39-B056-4409-B30D-266D32EB71C5}" type="datetimeFigureOut">
              <a:rPr lang="en-US"/>
              <a:pPr>
                <a:defRPr/>
              </a:pPr>
              <a:t>11/10/2024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BD453D-B7C3-4D56-B8B4-B49BCBFB82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B325272-1ED5-4E24-A128-8E8DEE352665}" type="datetimeFigureOut">
              <a:rPr lang="en-US"/>
              <a:pPr>
                <a:defRPr/>
              </a:pPr>
              <a:t>11/10/2024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F7590F4-D8FE-45EA-A958-7E45569A001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technet.microsoft.com/en-us/library/dd283095(v=sql.100).aspx" TargetMode="External"/><Relationship Id="rId2" Type="http://schemas.openxmlformats.org/officeDocument/2006/relationships/hyperlink" Target="http://www.informit.com/articles/article.aspx?p=1216889&amp;seqNum=2"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Relational Database Design</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t>Adam Jorgensen et al. (2012). Microsoft SQL Server 2012 Bible. Wiley.</a:t>
            </a:r>
          </a:p>
          <a:p>
            <a:pPr marL="457200" lvl="0" indent="-457200">
              <a:buFont typeface="+mj-lt"/>
              <a:buAutoNum type="arabicPeriod"/>
            </a:pPr>
            <a:r>
              <a:rPr lang="en-US" sz="2400" dirty="0" smtClean="0"/>
              <a:t>Edgar E </a:t>
            </a:r>
            <a:r>
              <a:rPr lang="en-US" sz="2400" dirty="0" err="1" smtClean="0"/>
              <a:t>Codd</a:t>
            </a:r>
            <a:r>
              <a:rPr lang="en-US" sz="2400" dirty="0" smtClean="0"/>
              <a:t> (1990). The Relational Model for Database Management.</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Tables, Rows, Columns [1]</a:t>
            </a:r>
            <a:endParaRPr lang="en-US" dirty="0"/>
          </a:p>
        </p:txBody>
      </p:sp>
      <p:sp>
        <p:nvSpPr>
          <p:cNvPr id="3" name="Content Placeholder 2"/>
          <p:cNvSpPr>
            <a:spLocks noGrp="1"/>
          </p:cNvSpPr>
          <p:nvPr>
            <p:ph idx="1"/>
          </p:nvPr>
        </p:nvSpPr>
        <p:spPr/>
        <p:txBody>
          <a:bodyPr/>
          <a:lstStyle/>
          <a:p>
            <a:r>
              <a:rPr lang="en-US" sz="2400" dirty="0" smtClean="0"/>
              <a:t>A relational database collects related, or common, data in a </a:t>
            </a:r>
            <a:r>
              <a:rPr lang="en-US" sz="2400" i="1" dirty="0" smtClean="0">
                <a:solidFill>
                  <a:srgbClr val="C00000"/>
                </a:solidFill>
              </a:rPr>
              <a:t>single list</a:t>
            </a:r>
            <a:r>
              <a:rPr lang="en-US" sz="2400" dirty="0" smtClean="0"/>
              <a:t>.</a:t>
            </a:r>
          </a:p>
          <a:p>
            <a:r>
              <a:rPr lang="en-US" sz="2400" dirty="0" smtClean="0"/>
              <a:t>A </a:t>
            </a:r>
            <a:r>
              <a:rPr lang="en-US" sz="2400" i="1" dirty="0" smtClean="0">
                <a:solidFill>
                  <a:srgbClr val="C00000"/>
                </a:solidFill>
              </a:rPr>
              <a:t>table</a:t>
            </a:r>
            <a:r>
              <a:rPr lang="en-US" sz="2400" dirty="0" smtClean="0"/>
              <a:t> appears similar to a </a:t>
            </a:r>
            <a:r>
              <a:rPr lang="en-US" sz="2400" u="sng" dirty="0" smtClean="0"/>
              <a:t>spreadsheet</a:t>
            </a:r>
            <a:r>
              <a:rPr lang="en-US" sz="2400" dirty="0" smtClean="0"/>
              <a:t> and is constructed of </a:t>
            </a:r>
            <a:r>
              <a:rPr lang="en-US" sz="2400" i="1" dirty="0" smtClean="0">
                <a:solidFill>
                  <a:srgbClr val="C00000"/>
                </a:solidFill>
              </a:rPr>
              <a:t>columns</a:t>
            </a:r>
            <a:r>
              <a:rPr lang="en-US" sz="2400" dirty="0" smtClean="0"/>
              <a:t> and </a:t>
            </a:r>
            <a:r>
              <a:rPr lang="en-US" sz="2400" i="1" dirty="0" smtClean="0">
                <a:solidFill>
                  <a:srgbClr val="C00000"/>
                </a:solidFill>
              </a:rPr>
              <a:t>rows</a:t>
            </a:r>
            <a:r>
              <a:rPr lang="en-US" sz="2400" dirty="0" smtClean="0"/>
              <a:t>.</a:t>
            </a:r>
          </a:p>
          <a:p>
            <a:r>
              <a:rPr lang="en-US" sz="2400" dirty="0" smtClean="0"/>
              <a:t>Whereas a spreadsheet tends to be free-flowing and loose in its design, database tables should be very </a:t>
            </a:r>
            <a:r>
              <a:rPr lang="en-US" sz="2400" u="sng" dirty="0" smtClean="0"/>
              <a:t>consistent</a:t>
            </a:r>
            <a:r>
              <a:rPr lang="en-US" sz="2400" dirty="0" smtClean="0"/>
              <a:t> in terms of </a:t>
            </a:r>
            <a:r>
              <a:rPr lang="en-US" sz="2400" i="1" dirty="0" smtClean="0">
                <a:solidFill>
                  <a:srgbClr val="C00000"/>
                </a:solidFill>
              </a:rPr>
              <a:t>the meaning of the data in a column</a:t>
            </a:r>
            <a:r>
              <a:rPr lang="en-US" sz="2400" dirty="0" smtClean="0"/>
              <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Comparing Database Terms</a:t>
            </a:r>
            <a:endParaRPr lang="en-US" dirty="0"/>
          </a:p>
        </p:txBody>
      </p:sp>
      <p:graphicFrame>
        <p:nvGraphicFramePr>
          <p:cNvPr id="4" name="Content Placeholder 3"/>
          <p:cNvGraphicFramePr>
            <a:graphicFrameLocks noGrp="1"/>
          </p:cNvGraphicFramePr>
          <p:nvPr>
            <p:ph idx="1"/>
          </p:nvPr>
        </p:nvGraphicFramePr>
        <p:xfrm>
          <a:off x="457200" y="1600200"/>
          <a:ext cx="8229600" cy="490728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r>
                        <a:rPr lang="en-US" sz="2200" b="1" kern="1200" baseline="0" dirty="0" smtClean="0">
                          <a:solidFill>
                            <a:schemeClr val="lt1"/>
                          </a:solidFill>
                          <a:latin typeface="+mn-lt"/>
                          <a:ea typeface="+mn-ea"/>
                          <a:cs typeface="+mn-cs"/>
                        </a:rPr>
                        <a:t>Development Style</a:t>
                      </a:r>
                      <a:endParaRPr lang="en-US" sz="2200" dirty="0"/>
                    </a:p>
                  </a:txBody>
                  <a:tcPr/>
                </a:tc>
                <a:tc>
                  <a:txBody>
                    <a:bodyPr/>
                    <a:lstStyle/>
                    <a:p>
                      <a:r>
                        <a:rPr lang="en-US" sz="2200" b="1" kern="1200" baseline="0" dirty="0" smtClean="0">
                          <a:solidFill>
                            <a:schemeClr val="lt1"/>
                          </a:solidFill>
                          <a:latin typeface="+mn-lt"/>
                          <a:ea typeface="+mn-ea"/>
                          <a:cs typeface="+mn-cs"/>
                        </a:rPr>
                        <a:t>List of Common Items</a:t>
                      </a:r>
                      <a:endParaRPr lang="en-US" sz="2200" dirty="0"/>
                    </a:p>
                  </a:txBody>
                  <a:tcPr/>
                </a:tc>
                <a:tc>
                  <a:txBody>
                    <a:bodyPr/>
                    <a:lstStyle/>
                    <a:p>
                      <a:r>
                        <a:rPr lang="en-US" sz="2200" b="1" kern="1200" baseline="0" dirty="0" smtClean="0">
                          <a:solidFill>
                            <a:schemeClr val="lt1"/>
                          </a:solidFill>
                          <a:latin typeface="+mn-lt"/>
                          <a:ea typeface="+mn-ea"/>
                          <a:cs typeface="+mn-cs"/>
                        </a:rPr>
                        <a:t>Item in the List</a:t>
                      </a:r>
                      <a:endParaRPr lang="en-US" sz="2200" dirty="0"/>
                    </a:p>
                  </a:txBody>
                  <a:tcPr/>
                </a:tc>
                <a:tc>
                  <a:txBody>
                    <a:bodyPr/>
                    <a:lstStyle/>
                    <a:p>
                      <a:r>
                        <a:rPr lang="en-US" sz="2200" b="1" kern="1200" baseline="0" dirty="0" smtClean="0">
                          <a:solidFill>
                            <a:schemeClr val="lt1"/>
                          </a:solidFill>
                          <a:latin typeface="+mn-lt"/>
                          <a:ea typeface="+mn-ea"/>
                          <a:cs typeface="+mn-cs"/>
                        </a:rPr>
                        <a:t>Piece of</a:t>
                      </a:r>
                    </a:p>
                    <a:p>
                      <a:r>
                        <a:rPr lang="en-US" sz="2200" b="1" kern="1200" baseline="0" dirty="0" smtClean="0">
                          <a:solidFill>
                            <a:schemeClr val="lt1"/>
                          </a:solidFill>
                          <a:latin typeface="+mn-lt"/>
                          <a:ea typeface="+mn-ea"/>
                          <a:cs typeface="+mn-cs"/>
                        </a:rPr>
                        <a:t>Information</a:t>
                      </a:r>
                    </a:p>
                    <a:p>
                      <a:r>
                        <a:rPr lang="en-US" sz="2200" b="1" kern="1200" baseline="0" dirty="0" smtClean="0">
                          <a:solidFill>
                            <a:schemeClr val="lt1"/>
                          </a:solidFill>
                          <a:latin typeface="+mn-lt"/>
                          <a:ea typeface="+mn-ea"/>
                          <a:cs typeface="+mn-cs"/>
                        </a:rPr>
                        <a:t>in the List</a:t>
                      </a:r>
                      <a:endParaRPr lang="en-US" sz="2200" dirty="0"/>
                    </a:p>
                  </a:txBody>
                  <a:tcPr/>
                </a:tc>
              </a:tr>
              <a:tr h="370840">
                <a:tc>
                  <a:txBody>
                    <a:bodyPr/>
                    <a:lstStyle/>
                    <a:p>
                      <a:r>
                        <a:rPr lang="en-US" sz="2200" kern="1200" baseline="0" dirty="0" smtClean="0">
                          <a:solidFill>
                            <a:schemeClr val="dk1"/>
                          </a:solidFill>
                          <a:latin typeface="+mn-lt"/>
                          <a:ea typeface="+mn-ea"/>
                          <a:cs typeface="+mn-cs"/>
                        </a:rPr>
                        <a:t>Legacy software</a:t>
                      </a:r>
                      <a:endParaRPr lang="en-US" sz="2200" dirty="0"/>
                    </a:p>
                  </a:txBody>
                  <a:tcPr/>
                </a:tc>
                <a:tc>
                  <a:txBody>
                    <a:bodyPr/>
                    <a:lstStyle/>
                    <a:p>
                      <a:r>
                        <a:rPr lang="en-US" sz="2200" kern="1200" baseline="0" dirty="0" smtClean="0">
                          <a:solidFill>
                            <a:schemeClr val="dk1"/>
                          </a:solidFill>
                          <a:latin typeface="+mn-lt"/>
                          <a:ea typeface="+mn-ea"/>
                          <a:cs typeface="+mn-cs"/>
                        </a:rPr>
                        <a:t>File</a:t>
                      </a:r>
                      <a:endParaRPr lang="en-US" sz="2200" dirty="0"/>
                    </a:p>
                  </a:txBody>
                  <a:tcPr/>
                </a:tc>
                <a:tc>
                  <a:txBody>
                    <a:bodyPr/>
                    <a:lstStyle/>
                    <a:p>
                      <a:r>
                        <a:rPr lang="en-US" sz="2200" kern="1200" baseline="0" dirty="0" smtClean="0">
                          <a:solidFill>
                            <a:schemeClr val="dk1"/>
                          </a:solidFill>
                          <a:latin typeface="+mn-lt"/>
                          <a:ea typeface="+mn-ea"/>
                          <a:cs typeface="+mn-cs"/>
                        </a:rPr>
                        <a:t>Record</a:t>
                      </a:r>
                      <a:endParaRPr lang="en-US" sz="2200" dirty="0"/>
                    </a:p>
                  </a:txBody>
                  <a:tcPr/>
                </a:tc>
                <a:tc>
                  <a:txBody>
                    <a:bodyPr/>
                    <a:lstStyle/>
                    <a:p>
                      <a:r>
                        <a:rPr lang="en-US" sz="2200" kern="1200" baseline="0" dirty="0" smtClean="0">
                          <a:solidFill>
                            <a:schemeClr val="dk1"/>
                          </a:solidFill>
                          <a:latin typeface="+mn-lt"/>
                          <a:ea typeface="+mn-ea"/>
                          <a:cs typeface="+mn-cs"/>
                        </a:rPr>
                        <a:t>Field</a:t>
                      </a:r>
                      <a:endParaRPr lang="en-US" sz="2200" dirty="0"/>
                    </a:p>
                  </a:txBody>
                  <a:tcPr/>
                </a:tc>
              </a:tr>
              <a:tr h="370840">
                <a:tc>
                  <a:txBody>
                    <a:bodyPr/>
                    <a:lstStyle/>
                    <a:p>
                      <a:r>
                        <a:rPr lang="en-US" sz="2200" kern="1200" baseline="0" dirty="0" smtClean="0">
                          <a:solidFill>
                            <a:schemeClr val="dk1"/>
                          </a:solidFill>
                          <a:latin typeface="+mn-lt"/>
                          <a:ea typeface="+mn-ea"/>
                          <a:cs typeface="+mn-cs"/>
                        </a:rPr>
                        <a:t>Spreadsheet</a:t>
                      </a:r>
                      <a:endParaRPr lang="en-US" sz="2200" dirty="0"/>
                    </a:p>
                  </a:txBody>
                  <a:tcPr/>
                </a:tc>
                <a:tc>
                  <a:txBody>
                    <a:bodyPr/>
                    <a:lstStyle/>
                    <a:p>
                      <a:r>
                        <a:rPr lang="en-US" sz="2200" kern="1200" baseline="0" dirty="0" smtClean="0">
                          <a:solidFill>
                            <a:schemeClr val="dk1"/>
                          </a:solidFill>
                          <a:latin typeface="+mn-lt"/>
                          <a:ea typeface="+mn-ea"/>
                          <a:cs typeface="+mn-cs"/>
                        </a:rPr>
                        <a:t>Spreadsheet/worksheet/named</a:t>
                      </a:r>
                    </a:p>
                    <a:p>
                      <a:r>
                        <a:rPr lang="en-US" sz="2200" kern="1200" baseline="0" dirty="0" smtClean="0">
                          <a:solidFill>
                            <a:schemeClr val="dk1"/>
                          </a:solidFill>
                          <a:latin typeface="+mn-lt"/>
                          <a:ea typeface="+mn-ea"/>
                          <a:cs typeface="+mn-cs"/>
                        </a:rPr>
                        <a:t>range</a:t>
                      </a:r>
                      <a:endParaRPr lang="en-US" sz="2200" dirty="0"/>
                    </a:p>
                  </a:txBody>
                  <a:tcPr/>
                </a:tc>
                <a:tc>
                  <a:txBody>
                    <a:bodyPr/>
                    <a:lstStyle/>
                    <a:p>
                      <a:r>
                        <a:rPr lang="en-US" sz="2200" kern="1200" baseline="0" dirty="0" smtClean="0">
                          <a:solidFill>
                            <a:schemeClr val="dk1"/>
                          </a:solidFill>
                          <a:latin typeface="+mn-lt"/>
                          <a:ea typeface="+mn-ea"/>
                          <a:cs typeface="+mn-cs"/>
                        </a:rPr>
                        <a:t>Row</a:t>
                      </a:r>
                      <a:endParaRPr lang="en-US" sz="2200" dirty="0"/>
                    </a:p>
                  </a:txBody>
                  <a:tcPr/>
                </a:tc>
                <a:tc>
                  <a:txBody>
                    <a:bodyPr/>
                    <a:lstStyle/>
                    <a:p>
                      <a:r>
                        <a:rPr lang="en-US" sz="2200" kern="1200" baseline="0" dirty="0" smtClean="0">
                          <a:solidFill>
                            <a:schemeClr val="dk1"/>
                          </a:solidFill>
                          <a:latin typeface="+mn-lt"/>
                          <a:ea typeface="+mn-ea"/>
                          <a:cs typeface="+mn-cs"/>
                        </a:rPr>
                        <a:t>Column/</a:t>
                      </a:r>
                    </a:p>
                    <a:p>
                      <a:r>
                        <a:rPr lang="en-US" sz="2200" kern="1200" baseline="0" dirty="0" smtClean="0">
                          <a:solidFill>
                            <a:schemeClr val="dk1"/>
                          </a:solidFill>
                          <a:latin typeface="+mn-lt"/>
                          <a:ea typeface="+mn-ea"/>
                          <a:cs typeface="+mn-cs"/>
                        </a:rPr>
                        <a:t>cell</a:t>
                      </a:r>
                      <a:endParaRPr lang="en-US" sz="2200" dirty="0"/>
                    </a:p>
                  </a:txBody>
                  <a:tcPr/>
                </a:tc>
              </a:tr>
              <a:tr h="370840">
                <a:tc>
                  <a:txBody>
                    <a:bodyPr/>
                    <a:lstStyle/>
                    <a:p>
                      <a:r>
                        <a:rPr lang="en-US" sz="2200" kern="1200" baseline="0" dirty="0" smtClean="0">
                          <a:solidFill>
                            <a:schemeClr val="dk1"/>
                          </a:solidFill>
                          <a:latin typeface="+mn-lt"/>
                          <a:ea typeface="+mn-ea"/>
                          <a:cs typeface="+mn-cs"/>
                        </a:rPr>
                        <a:t>Relational algebra/</a:t>
                      </a:r>
                    </a:p>
                    <a:p>
                      <a:r>
                        <a:rPr lang="en-US" sz="2200" kern="1200" baseline="0" dirty="0" smtClean="0">
                          <a:solidFill>
                            <a:schemeClr val="dk1"/>
                          </a:solidFill>
                          <a:latin typeface="+mn-lt"/>
                          <a:ea typeface="+mn-ea"/>
                          <a:cs typeface="+mn-cs"/>
                        </a:rPr>
                        <a:t>logical design</a:t>
                      </a:r>
                      <a:endParaRPr lang="en-US" sz="2200" dirty="0"/>
                    </a:p>
                  </a:txBody>
                  <a:tcPr/>
                </a:tc>
                <a:tc>
                  <a:txBody>
                    <a:bodyPr/>
                    <a:lstStyle/>
                    <a:p>
                      <a:r>
                        <a:rPr lang="en-US" sz="2200" kern="1200" baseline="0" dirty="0" smtClean="0">
                          <a:solidFill>
                            <a:schemeClr val="dk1"/>
                          </a:solidFill>
                          <a:latin typeface="+mn-lt"/>
                          <a:ea typeface="+mn-ea"/>
                          <a:cs typeface="+mn-cs"/>
                        </a:rPr>
                        <a:t>Entity, or relation</a:t>
                      </a:r>
                      <a:endParaRPr lang="en-US" sz="2200" dirty="0"/>
                    </a:p>
                  </a:txBody>
                  <a:tcPr/>
                </a:tc>
                <a:tc>
                  <a:txBody>
                    <a:bodyPr/>
                    <a:lstStyle/>
                    <a:p>
                      <a:r>
                        <a:rPr lang="en-US" sz="2200" kern="1200" baseline="0" dirty="0" err="1" smtClean="0">
                          <a:solidFill>
                            <a:schemeClr val="dk1"/>
                          </a:solidFill>
                          <a:latin typeface="+mn-lt"/>
                          <a:ea typeface="+mn-ea"/>
                          <a:cs typeface="+mn-cs"/>
                        </a:rPr>
                        <a:t>Tuple</a:t>
                      </a:r>
                      <a:r>
                        <a:rPr lang="en-US" sz="2200" kern="1200" baseline="0" dirty="0" smtClean="0">
                          <a:solidFill>
                            <a:schemeClr val="dk1"/>
                          </a:solidFill>
                          <a:latin typeface="+mn-lt"/>
                          <a:ea typeface="+mn-ea"/>
                          <a:cs typeface="+mn-cs"/>
                        </a:rPr>
                        <a:t> (rhymes</a:t>
                      </a:r>
                    </a:p>
                    <a:p>
                      <a:r>
                        <a:rPr lang="en-US" sz="2200" kern="1200" baseline="0" dirty="0" smtClean="0">
                          <a:solidFill>
                            <a:schemeClr val="dk1"/>
                          </a:solidFill>
                          <a:latin typeface="+mn-lt"/>
                          <a:ea typeface="+mn-ea"/>
                          <a:cs typeface="+mn-cs"/>
                        </a:rPr>
                        <a:t>with couple)</a:t>
                      </a:r>
                      <a:endParaRPr lang="en-US" sz="2200" dirty="0"/>
                    </a:p>
                  </a:txBody>
                  <a:tcPr/>
                </a:tc>
                <a:tc>
                  <a:txBody>
                    <a:bodyPr/>
                    <a:lstStyle/>
                    <a:p>
                      <a:r>
                        <a:rPr lang="en-US" sz="2200" kern="1200" baseline="0" dirty="0" smtClean="0">
                          <a:solidFill>
                            <a:schemeClr val="dk1"/>
                          </a:solidFill>
                          <a:latin typeface="+mn-lt"/>
                          <a:ea typeface="+mn-ea"/>
                          <a:cs typeface="+mn-cs"/>
                        </a:rPr>
                        <a:t>Attribute</a:t>
                      </a:r>
                      <a:endParaRPr lang="en-US" sz="2200" dirty="0"/>
                    </a:p>
                  </a:txBody>
                  <a:tcPr/>
                </a:tc>
              </a:tr>
              <a:tr h="370840">
                <a:tc>
                  <a:txBody>
                    <a:bodyPr/>
                    <a:lstStyle/>
                    <a:p>
                      <a:r>
                        <a:rPr lang="en-US" sz="2200" kern="1200" baseline="0" dirty="0" smtClean="0">
                          <a:solidFill>
                            <a:schemeClr val="dk1"/>
                          </a:solidFill>
                          <a:latin typeface="+mn-lt"/>
                          <a:ea typeface="+mn-ea"/>
                          <a:cs typeface="+mn-cs"/>
                        </a:rPr>
                        <a:t>SQL DDL design</a:t>
                      </a:r>
                      <a:endParaRPr lang="en-US" sz="2200" dirty="0"/>
                    </a:p>
                  </a:txBody>
                  <a:tcPr/>
                </a:tc>
                <a:tc>
                  <a:txBody>
                    <a:bodyPr/>
                    <a:lstStyle/>
                    <a:p>
                      <a:r>
                        <a:rPr lang="en-US" sz="2200" kern="1200" baseline="0" dirty="0" smtClean="0">
                          <a:solidFill>
                            <a:schemeClr val="dk1"/>
                          </a:solidFill>
                          <a:latin typeface="+mn-lt"/>
                          <a:ea typeface="+mn-ea"/>
                          <a:cs typeface="+mn-cs"/>
                        </a:rPr>
                        <a:t>Table</a:t>
                      </a:r>
                      <a:endParaRPr lang="en-US" sz="2200" dirty="0"/>
                    </a:p>
                  </a:txBody>
                  <a:tcPr/>
                </a:tc>
                <a:tc>
                  <a:txBody>
                    <a:bodyPr/>
                    <a:lstStyle/>
                    <a:p>
                      <a:r>
                        <a:rPr lang="en-US" sz="2200" kern="1200" baseline="0" dirty="0" smtClean="0">
                          <a:solidFill>
                            <a:schemeClr val="dk1"/>
                          </a:solidFill>
                          <a:latin typeface="+mn-lt"/>
                          <a:ea typeface="+mn-ea"/>
                          <a:cs typeface="+mn-cs"/>
                        </a:rPr>
                        <a:t>Row</a:t>
                      </a:r>
                      <a:endParaRPr lang="en-US" sz="2200" dirty="0"/>
                    </a:p>
                  </a:txBody>
                  <a:tcPr/>
                </a:tc>
                <a:tc>
                  <a:txBody>
                    <a:bodyPr/>
                    <a:lstStyle/>
                    <a:p>
                      <a:r>
                        <a:rPr lang="en-US" sz="2200" kern="1200" baseline="0" dirty="0" smtClean="0">
                          <a:solidFill>
                            <a:schemeClr val="dk1"/>
                          </a:solidFill>
                          <a:latin typeface="+mn-lt"/>
                          <a:ea typeface="+mn-ea"/>
                          <a:cs typeface="+mn-cs"/>
                        </a:rPr>
                        <a:t>Column</a:t>
                      </a:r>
                      <a:endParaRPr lang="en-US" sz="2200" dirty="0"/>
                    </a:p>
                  </a:txBody>
                  <a:tcPr/>
                </a:tc>
              </a:tr>
              <a:tr h="370840">
                <a:tc>
                  <a:txBody>
                    <a:bodyPr/>
                    <a:lstStyle/>
                    <a:p>
                      <a:r>
                        <a:rPr lang="en-US" sz="2200" kern="1200" baseline="0" dirty="0" smtClean="0">
                          <a:solidFill>
                            <a:schemeClr val="dk1"/>
                          </a:solidFill>
                          <a:latin typeface="+mn-lt"/>
                          <a:ea typeface="+mn-ea"/>
                          <a:cs typeface="+mn-cs"/>
                        </a:rPr>
                        <a:t>Object-oriented</a:t>
                      </a:r>
                    </a:p>
                    <a:p>
                      <a:r>
                        <a:rPr lang="en-US" sz="2200" kern="1200" baseline="0" dirty="0" smtClean="0">
                          <a:solidFill>
                            <a:schemeClr val="dk1"/>
                          </a:solidFill>
                          <a:latin typeface="+mn-lt"/>
                          <a:ea typeface="+mn-ea"/>
                          <a:cs typeface="+mn-cs"/>
                        </a:rPr>
                        <a:t>design</a:t>
                      </a:r>
                      <a:endParaRPr lang="en-US" sz="2200" dirty="0"/>
                    </a:p>
                  </a:txBody>
                  <a:tcPr/>
                </a:tc>
                <a:tc>
                  <a:txBody>
                    <a:bodyPr/>
                    <a:lstStyle/>
                    <a:p>
                      <a:r>
                        <a:rPr lang="en-US" sz="2200" kern="1200" baseline="0" dirty="0" smtClean="0">
                          <a:solidFill>
                            <a:schemeClr val="dk1"/>
                          </a:solidFill>
                          <a:latin typeface="+mn-lt"/>
                          <a:ea typeface="+mn-ea"/>
                          <a:cs typeface="+mn-cs"/>
                        </a:rPr>
                        <a:t>Class</a:t>
                      </a:r>
                      <a:endParaRPr lang="en-US" sz="2200" dirty="0"/>
                    </a:p>
                  </a:txBody>
                  <a:tcPr/>
                </a:tc>
                <a:tc>
                  <a:txBody>
                    <a:bodyPr/>
                    <a:lstStyle/>
                    <a:p>
                      <a:r>
                        <a:rPr lang="en-US" sz="2200" kern="1200" baseline="0" dirty="0" smtClean="0">
                          <a:solidFill>
                            <a:schemeClr val="dk1"/>
                          </a:solidFill>
                          <a:latin typeface="+mn-lt"/>
                          <a:ea typeface="+mn-ea"/>
                          <a:cs typeface="+mn-cs"/>
                        </a:rPr>
                        <a:t>Object instance</a:t>
                      </a:r>
                      <a:endParaRPr lang="en-US" sz="2200" dirty="0"/>
                    </a:p>
                  </a:txBody>
                  <a:tcPr/>
                </a:tc>
                <a:tc>
                  <a:txBody>
                    <a:bodyPr/>
                    <a:lstStyle/>
                    <a:p>
                      <a:r>
                        <a:rPr lang="en-US" sz="2200" kern="1200" baseline="0" dirty="0" smtClean="0">
                          <a:solidFill>
                            <a:schemeClr val="dk1"/>
                          </a:solidFill>
                          <a:latin typeface="+mn-lt"/>
                          <a:ea typeface="+mn-ea"/>
                          <a:cs typeface="+mn-cs"/>
                        </a:rPr>
                        <a:t>Property</a:t>
                      </a:r>
                      <a:endParaRPr lang="en-US" sz="2200"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Keys</a:t>
            </a:r>
            <a:endParaRPr lang="en-US" dirty="0"/>
          </a:p>
        </p:txBody>
      </p:sp>
      <p:sp>
        <p:nvSpPr>
          <p:cNvPr id="3" name="Content Placeholder 2"/>
          <p:cNvSpPr>
            <a:spLocks noGrp="1"/>
          </p:cNvSpPr>
          <p:nvPr>
            <p:ph idx="1"/>
          </p:nvPr>
        </p:nvSpPr>
        <p:spPr/>
        <p:txBody>
          <a:bodyPr/>
          <a:lstStyle/>
          <a:p>
            <a:r>
              <a:rPr lang="en-US" sz="2400" dirty="0" smtClean="0"/>
              <a:t>Perhaps the most important concept of an entity (table) is that it has a </a:t>
            </a:r>
            <a:r>
              <a:rPr lang="en-US" sz="2400" i="1" dirty="0" smtClean="0">
                <a:solidFill>
                  <a:srgbClr val="C00000"/>
                </a:solidFill>
              </a:rPr>
              <a:t>primary key</a:t>
            </a:r>
            <a:r>
              <a:rPr lang="en-US" sz="2400" dirty="0" smtClean="0"/>
              <a:t> — </a:t>
            </a:r>
            <a:r>
              <a:rPr lang="en-US" sz="2400" u="sng" dirty="0" smtClean="0"/>
              <a:t>an attribute or set of attributes</a:t>
            </a:r>
            <a:r>
              <a:rPr lang="en-US" sz="2400" dirty="0" smtClean="0"/>
              <a:t> that can be used to </a:t>
            </a:r>
            <a:r>
              <a:rPr lang="en-US" sz="2400" u="sng" dirty="0" smtClean="0"/>
              <a:t>uniquely</a:t>
            </a:r>
            <a:r>
              <a:rPr lang="en-US" sz="2400" dirty="0" smtClean="0"/>
              <a:t> identify the </a:t>
            </a:r>
            <a:r>
              <a:rPr lang="en-US" sz="2400" dirty="0" err="1" smtClean="0"/>
              <a:t>tuple</a:t>
            </a:r>
            <a:r>
              <a:rPr lang="en-US" sz="2400" dirty="0" smtClean="0"/>
              <a:t> (row).</a:t>
            </a:r>
          </a:p>
          <a:p>
            <a:r>
              <a:rPr lang="en-US" sz="2400" dirty="0" smtClean="0"/>
              <a:t>Every entity must have a primary key; without a primary key, it’s not a valid entity.</a:t>
            </a:r>
          </a:p>
          <a:p>
            <a:r>
              <a:rPr lang="en-US" sz="2400" dirty="0" smtClean="0"/>
              <a:t>By definition, a primary key must be </a:t>
            </a:r>
            <a:r>
              <a:rPr lang="en-US" sz="2400" i="1" dirty="0" smtClean="0">
                <a:solidFill>
                  <a:srgbClr val="C00000"/>
                </a:solidFill>
              </a:rPr>
              <a:t>unique</a:t>
            </a:r>
            <a:r>
              <a:rPr lang="en-US" sz="2400" dirty="0" smtClean="0"/>
              <a:t> and must </a:t>
            </a:r>
            <a:r>
              <a:rPr lang="en-US" sz="2400" i="1" dirty="0" smtClean="0">
                <a:solidFill>
                  <a:srgbClr val="C00000"/>
                </a:solidFill>
              </a:rPr>
              <a:t>have a value</a:t>
            </a:r>
            <a:r>
              <a:rPr lang="en-US" sz="2400" dirty="0" smtClean="0"/>
              <a:t> (not null).</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Foreign Keys</a:t>
            </a:r>
            <a:endParaRPr lang="en-US" dirty="0"/>
          </a:p>
        </p:txBody>
      </p:sp>
      <p:sp>
        <p:nvSpPr>
          <p:cNvPr id="3" name="Content Placeholder 2"/>
          <p:cNvSpPr>
            <a:spLocks noGrp="1"/>
          </p:cNvSpPr>
          <p:nvPr>
            <p:ph idx="1"/>
          </p:nvPr>
        </p:nvSpPr>
        <p:spPr/>
        <p:txBody>
          <a:bodyPr/>
          <a:lstStyle/>
          <a:p>
            <a:r>
              <a:rPr lang="en-US" sz="2400" dirty="0" smtClean="0"/>
              <a:t>When two entities (tables) relate to one another, one entity is typically the primary entity and the other entity is the secondary entity.</a:t>
            </a:r>
          </a:p>
          <a:p>
            <a:r>
              <a:rPr lang="en-US" sz="2400" dirty="0" smtClean="0"/>
              <a:t>The connection between the two entities is made by </a:t>
            </a:r>
            <a:r>
              <a:rPr lang="en-US" sz="2400" i="1" dirty="0" smtClean="0">
                <a:solidFill>
                  <a:srgbClr val="C00000"/>
                </a:solidFill>
              </a:rPr>
              <a:t>replicating the primary key</a:t>
            </a:r>
            <a:r>
              <a:rPr lang="en-US" sz="2400" dirty="0" smtClean="0"/>
              <a:t> from the primary entity in the secondary entity.</a:t>
            </a:r>
          </a:p>
          <a:p>
            <a:r>
              <a:rPr lang="en-US" sz="2400" dirty="0" smtClean="0"/>
              <a:t>The </a:t>
            </a:r>
            <a:r>
              <a:rPr lang="en-US" sz="2400" u="sng" dirty="0" smtClean="0"/>
              <a:t>duplicated attributes in the secondary entity</a:t>
            </a:r>
            <a:r>
              <a:rPr lang="en-US" sz="2400" dirty="0" smtClean="0"/>
              <a:t> are known as a </a:t>
            </a:r>
            <a:r>
              <a:rPr lang="en-US" sz="2400" i="1" dirty="0" smtClean="0">
                <a:solidFill>
                  <a:srgbClr val="C00000"/>
                </a:solidFill>
              </a:rPr>
              <a:t>foreign key</a:t>
            </a:r>
            <a:r>
              <a:rPr lang="en-US" sz="2400" dirty="0" smtClean="0"/>
              <a:t>.</a:t>
            </a:r>
          </a:p>
          <a:p>
            <a:r>
              <a:rPr lang="en-US" sz="2400" dirty="0" smtClean="0"/>
              <a:t>Informally this type of relationship is sometimes called a parent-child relationship.</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Normalization?</a:t>
            </a:r>
            <a:endParaRPr lang="en-US" dirty="0"/>
          </a:p>
        </p:txBody>
      </p:sp>
      <p:sp>
        <p:nvSpPr>
          <p:cNvPr id="3" name="Content Placeholder 2"/>
          <p:cNvSpPr>
            <a:spLocks noGrp="1"/>
          </p:cNvSpPr>
          <p:nvPr>
            <p:ph idx="1"/>
          </p:nvPr>
        </p:nvSpPr>
        <p:spPr/>
        <p:txBody>
          <a:bodyPr/>
          <a:lstStyle/>
          <a:p>
            <a:r>
              <a:rPr lang="en-US" sz="2400" dirty="0" smtClean="0"/>
              <a:t>The primary purpose of normalization is to improve the data integrity of the database by </a:t>
            </a:r>
            <a:r>
              <a:rPr lang="en-US" sz="2400" i="1" dirty="0" smtClean="0">
                <a:solidFill>
                  <a:srgbClr val="C00000"/>
                </a:solidFill>
              </a:rPr>
              <a:t>reducing or eliminating modification anomalies</a:t>
            </a:r>
            <a:r>
              <a:rPr lang="en-US" sz="2400" dirty="0" smtClean="0"/>
              <a:t> that can occur when the same fact is stored in multiple locations within the database.</a:t>
            </a:r>
          </a:p>
          <a:p>
            <a:r>
              <a:rPr lang="en-US" sz="2400" i="1" dirty="0" smtClean="0">
                <a:solidFill>
                  <a:srgbClr val="C00000"/>
                </a:solidFill>
              </a:rPr>
              <a:t>Duplicate data</a:t>
            </a:r>
            <a:r>
              <a:rPr lang="en-US" sz="2400" dirty="0" smtClean="0"/>
              <a:t> raises all sorts of interesting problems for inserts, updates, and deletes. For example, if the product name is stored in the order detail table, and the product name is edited, should every order details row be updated?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Three “Rules of One”</a:t>
            </a:r>
            <a:endParaRPr lang="en-US" dirty="0"/>
          </a:p>
        </p:txBody>
      </p:sp>
      <p:sp>
        <p:nvSpPr>
          <p:cNvPr id="3" name="Content Placeholder 2"/>
          <p:cNvSpPr>
            <a:spLocks noGrp="1"/>
          </p:cNvSpPr>
          <p:nvPr>
            <p:ph idx="1"/>
          </p:nvPr>
        </p:nvSpPr>
        <p:spPr/>
        <p:txBody>
          <a:bodyPr/>
          <a:lstStyle/>
          <a:p>
            <a:r>
              <a:rPr lang="en-US" sz="2600" dirty="0" smtClean="0"/>
              <a:t>The key to designing a schema that </a:t>
            </a:r>
            <a:r>
              <a:rPr lang="en-US" sz="2600" u="sng" dirty="0" smtClean="0"/>
              <a:t>avoids update anomalies</a:t>
            </a:r>
            <a:r>
              <a:rPr lang="en-US" sz="2600" dirty="0" smtClean="0"/>
              <a:t> is to ensure that each single fact in real life is modeled by a </a:t>
            </a:r>
            <a:r>
              <a:rPr lang="en-US" sz="2600" i="1" dirty="0" smtClean="0">
                <a:solidFill>
                  <a:srgbClr val="C00000"/>
                </a:solidFill>
              </a:rPr>
              <a:t>single data point</a:t>
            </a:r>
            <a:r>
              <a:rPr lang="en-US" sz="2600" dirty="0" smtClean="0"/>
              <a:t> in the database.</a:t>
            </a:r>
          </a:p>
          <a:p>
            <a:r>
              <a:rPr lang="en-US" sz="2600" dirty="0" smtClean="0"/>
              <a:t>Three </a:t>
            </a:r>
            <a:r>
              <a:rPr lang="en-US" sz="2600" i="1" dirty="0" smtClean="0">
                <a:solidFill>
                  <a:srgbClr val="C00000"/>
                </a:solidFill>
              </a:rPr>
              <a:t>principles</a:t>
            </a:r>
            <a:r>
              <a:rPr lang="en-US" sz="2600" dirty="0" smtClean="0"/>
              <a:t> define a single data point:</a:t>
            </a:r>
          </a:p>
          <a:p>
            <a:pPr lvl="1"/>
            <a:r>
              <a:rPr lang="en-US" sz="2400" dirty="0" smtClean="0"/>
              <a:t>One </a:t>
            </a:r>
            <a:r>
              <a:rPr lang="en-US" sz="2400" i="1" dirty="0" smtClean="0">
                <a:solidFill>
                  <a:srgbClr val="C00000"/>
                </a:solidFill>
              </a:rPr>
              <a:t>group of similar things</a:t>
            </a:r>
            <a:r>
              <a:rPr lang="en-US" sz="2400" dirty="0" smtClean="0"/>
              <a:t> is represented by </a:t>
            </a:r>
            <a:r>
              <a:rPr lang="en-US" sz="2400" u="sng" dirty="0" smtClean="0"/>
              <a:t>one entity</a:t>
            </a:r>
            <a:r>
              <a:rPr lang="en-US" sz="2400" dirty="0" smtClean="0"/>
              <a:t> (table).</a:t>
            </a:r>
          </a:p>
          <a:p>
            <a:pPr lvl="1"/>
            <a:r>
              <a:rPr lang="en-US" sz="2400" dirty="0" smtClean="0"/>
              <a:t>One </a:t>
            </a:r>
            <a:r>
              <a:rPr lang="en-US" sz="2400" i="1" dirty="0" smtClean="0">
                <a:solidFill>
                  <a:srgbClr val="C00000"/>
                </a:solidFill>
              </a:rPr>
              <a:t>thing</a:t>
            </a:r>
            <a:r>
              <a:rPr lang="en-US" sz="2400" dirty="0" smtClean="0"/>
              <a:t> is represented by one </a:t>
            </a:r>
            <a:r>
              <a:rPr lang="en-US" sz="2400" u="sng" dirty="0" err="1" smtClean="0"/>
              <a:t>tuple</a:t>
            </a:r>
            <a:r>
              <a:rPr lang="en-US" sz="2400" dirty="0" smtClean="0"/>
              <a:t> (row).</a:t>
            </a:r>
          </a:p>
          <a:p>
            <a:pPr lvl="1"/>
            <a:r>
              <a:rPr lang="en-US" sz="2400" dirty="0" smtClean="0"/>
              <a:t>One </a:t>
            </a:r>
            <a:r>
              <a:rPr lang="en-US" sz="2400" i="1" dirty="0" smtClean="0">
                <a:solidFill>
                  <a:srgbClr val="C00000"/>
                </a:solidFill>
              </a:rPr>
              <a:t>descriptive fact</a:t>
            </a:r>
            <a:r>
              <a:rPr lang="en-US" sz="2400" dirty="0" smtClean="0"/>
              <a:t> about the thing is represented by one </a:t>
            </a:r>
            <a:r>
              <a:rPr lang="en-US" sz="2400" u="sng" dirty="0" smtClean="0"/>
              <a:t>attribute</a:t>
            </a:r>
            <a:r>
              <a:rPr lang="en-US" sz="2400" dirty="0" smtClean="0"/>
              <a:t> (column).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Normal Form (1NF)</a:t>
            </a:r>
            <a:endParaRPr lang="en-US" dirty="0"/>
          </a:p>
        </p:txBody>
      </p:sp>
      <p:sp>
        <p:nvSpPr>
          <p:cNvPr id="3" name="Content Placeholder 2"/>
          <p:cNvSpPr>
            <a:spLocks noGrp="1"/>
          </p:cNvSpPr>
          <p:nvPr>
            <p:ph idx="1"/>
          </p:nvPr>
        </p:nvSpPr>
        <p:spPr/>
        <p:txBody>
          <a:bodyPr/>
          <a:lstStyle/>
          <a:p>
            <a:r>
              <a:rPr lang="en-US" sz="2600" dirty="0" smtClean="0"/>
              <a:t>The </a:t>
            </a:r>
            <a:r>
              <a:rPr lang="en-US" sz="2600" i="1" dirty="0" smtClean="0">
                <a:solidFill>
                  <a:srgbClr val="C00000"/>
                </a:solidFill>
              </a:rPr>
              <a:t>first normalized form</a:t>
            </a:r>
            <a:r>
              <a:rPr lang="en-US" sz="2600" dirty="0" smtClean="0"/>
              <a:t> means the data is in an entity format, such that the following </a:t>
            </a:r>
            <a:r>
              <a:rPr lang="en-US" sz="2600" u="sng" dirty="0" smtClean="0"/>
              <a:t>three conditions</a:t>
            </a:r>
            <a:r>
              <a:rPr lang="en-US" sz="2600" dirty="0" smtClean="0"/>
              <a:t> are met:</a:t>
            </a:r>
          </a:p>
          <a:p>
            <a:pPr lvl="1"/>
            <a:r>
              <a:rPr lang="en-US" sz="2400" dirty="0" smtClean="0"/>
              <a:t>Every unit of data is represented within </a:t>
            </a:r>
            <a:r>
              <a:rPr lang="en-US" sz="2400" i="1" dirty="0" smtClean="0">
                <a:solidFill>
                  <a:srgbClr val="C00000"/>
                </a:solidFill>
              </a:rPr>
              <a:t>scalar attributes</a:t>
            </a:r>
            <a:r>
              <a:rPr lang="en-US" sz="2400" dirty="0" smtClean="0"/>
              <a:t>. A scalar value is a value “capable of being represented by a point on a scale”.</a:t>
            </a:r>
          </a:p>
          <a:p>
            <a:pPr lvl="1"/>
            <a:r>
              <a:rPr lang="en-US" sz="2400" dirty="0" smtClean="0"/>
              <a:t>All data must be represented in </a:t>
            </a:r>
            <a:r>
              <a:rPr lang="en-US" sz="2400" i="1" dirty="0" smtClean="0">
                <a:solidFill>
                  <a:srgbClr val="C00000"/>
                </a:solidFill>
              </a:rPr>
              <a:t>unique attributes</a:t>
            </a:r>
            <a:r>
              <a:rPr lang="en-US" sz="2400" dirty="0" smtClean="0"/>
              <a:t>. Each attribute must have a unique name and a unique purpose.</a:t>
            </a:r>
          </a:p>
          <a:p>
            <a:pPr lvl="1"/>
            <a:r>
              <a:rPr lang="en-US" sz="2400" dirty="0" smtClean="0"/>
              <a:t>All data must be represented within </a:t>
            </a:r>
            <a:r>
              <a:rPr lang="en-US" sz="2400" i="1" dirty="0" smtClean="0">
                <a:solidFill>
                  <a:srgbClr val="C00000"/>
                </a:solidFill>
              </a:rPr>
              <a:t>unique </a:t>
            </a:r>
            <a:r>
              <a:rPr lang="en-US" sz="2400" i="1" dirty="0" err="1" smtClean="0">
                <a:solidFill>
                  <a:srgbClr val="C00000"/>
                </a:solidFill>
              </a:rPr>
              <a:t>tuples</a:t>
            </a:r>
            <a:r>
              <a:rPr lang="en-US" sz="2400" dirty="0" smtClean="0"/>
              <a:t>. If the entity design requires or permits duplicate </a:t>
            </a:r>
            <a:r>
              <a:rPr lang="en-US" sz="2400" dirty="0" err="1" smtClean="0"/>
              <a:t>tuples</a:t>
            </a:r>
            <a:r>
              <a:rPr lang="en-US" sz="2400" dirty="0" smtClean="0"/>
              <a:t>, that design violates the first normal form.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First Normal Form Violation</a:t>
            </a:r>
            <a:endParaRPr lang="en-US" dirty="0"/>
          </a:p>
        </p:txBody>
      </p:sp>
      <p:sp>
        <p:nvSpPr>
          <p:cNvPr id="3" name="Content Placeholder 2"/>
          <p:cNvSpPr>
            <a:spLocks noGrp="1"/>
          </p:cNvSpPr>
          <p:nvPr>
            <p:ph idx="1"/>
          </p:nvPr>
        </p:nvSpPr>
        <p:spPr/>
        <p:txBody>
          <a:bodyPr/>
          <a:lstStyle/>
          <a:p>
            <a:r>
              <a:rPr lang="en-US" sz="2400" dirty="0" smtClean="0"/>
              <a:t>You have a listing of customers and each customer can have multiple phone numbers.</a:t>
            </a:r>
          </a:p>
          <a:p>
            <a:r>
              <a:rPr lang="en-US" sz="2400" dirty="0" smtClean="0"/>
              <a:t>Each customer corresponds to a "repeating group" of phone number (second rule violation).</a:t>
            </a:r>
            <a:endParaRPr lang="en-US" sz="2400" dirty="0"/>
          </a:p>
        </p:txBody>
      </p:sp>
      <p:graphicFrame>
        <p:nvGraphicFramePr>
          <p:cNvPr id="4" name="Content Placeholder 3"/>
          <p:cNvGraphicFramePr>
            <a:graphicFrameLocks/>
          </p:cNvGraphicFramePr>
          <p:nvPr/>
        </p:nvGraphicFramePr>
        <p:xfrm>
          <a:off x="609600" y="3627120"/>
          <a:ext cx="7848600" cy="1706880"/>
        </p:xfrm>
        <a:graphic>
          <a:graphicData uri="http://schemas.openxmlformats.org/drawingml/2006/table">
            <a:tbl>
              <a:tblPr firstRow="1" bandRow="1">
                <a:tableStyleId>{5C22544A-7EE6-4342-B048-85BDC9FD1C3A}</a:tableStyleId>
              </a:tblPr>
              <a:tblGrid>
                <a:gridCol w="3924300"/>
                <a:gridCol w="3924300"/>
              </a:tblGrid>
              <a:tr h="370840">
                <a:tc>
                  <a:txBody>
                    <a:bodyPr/>
                    <a:lstStyle/>
                    <a:p>
                      <a:r>
                        <a:rPr lang="en-US" sz="2200" dirty="0" smtClean="0"/>
                        <a:t>Customer</a:t>
                      </a:r>
                      <a:endParaRPr lang="en-US" sz="2200" dirty="0"/>
                    </a:p>
                  </a:txBody>
                  <a:tcPr/>
                </a:tc>
                <a:tc>
                  <a:txBody>
                    <a:bodyPr/>
                    <a:lstStyle/>
                    <a:p>
                      <a:r>
                        <a:rPr lang="en-US" sz="2200" dirty="0" err="1" smtClean="0"/>
                        <a:t>PhoneNumber</a:t>
                      </a:r>
                      <a:endParaRPr lang="en-US" sz="2200" dirty="0"/>
                    </a:p>
                  </a:txBody>
                  <a:tcPr/>
                </a:tc>
              </a:tr>
              <a:tr h="370840">
                <a:tc>
                  <a:txBody>
                    <a:bodyPr/>
                    <a:lstStyle/>
                    <a:p>
                      <a:r>
                        <a:rPr lang="en-US" sz="2200" kern="1200" baseline="0" dirty="0" smtClean="0">
                          <a:solidFill>
                            <a:schemeClr val="dk1"/>
                          </a:solidFill>
                          <a:latin typeface="+mn-lt"/>
                          <a:ea typeface="+mn-ea"/>
                          <a:cs typeface="+mn-cs"/>
                        </a:rPr>
                        <a:t>John Doe</a:t>
                      </a:r>
                      <a:endParaRPr lang="en-US" sz="2200" dirty="0"/>
                    </a:p>
                  </a:txBody>
                  <a:tcPr/>
                </a:tc>
                <a:tc>
                  <a:txBody>
                    <a:bodyPr/>
                    <a:lstStyle/>
                    <a:p>
                      <a:r>
                        <a:rPr lang="en-US" sz="2200" b="1" dirty="0" smtClean="0"/>
                        <a:t>111 111 1111, 222 222 2222</a:t>
                      </a:r>
                      <a:endParaRPr lang="en-US" sz="2200" b="1" dirty="0"/>
                    </a:p>
                  </a:txBody>
                  <a:tcPr/>
                </a:tc>
              </a:tr>
              <a:tr h="370840">
                <a:tc>
                  <a:txBody>
                    <a:bodyPr/>
                    <a:lstStyle/>
                    <a:p>
                      <a:r>
                        <a:rPr lang="en-US" sz="2200" kern="1200" baseline="0" dirty="0" smtClean="0">
                          <a:solidFill>
                            <a:schemeClr val="dk1"/>
                          </a:solidFill>
                          <a:latin typeface="+mn-lt"/>
                          <a:ea typeface="+mn-ea"/>
                          <a:cs typeface="+mn-cs"/>
                        </a:rPr>
                        <a:t>Jane Smith</a:t>
                      </a:r>
                      <a:endParaRPr lang="en-US" sz="2200" dirty="0"/>
                    </a:p>
                  </a:txBody>
                  <a:tcPr/>
                </a:tc>
                <a:tc>
                  <a:txBody>
                    <a:bodyPr/>
                    <a:lstStyle/>
                    <a:p>
                      <a:r>
                        <a:rPr lang="en-US" sz="2200" b="1" dirty="0" smtClean="0"/>
                        <a:t>333 333 3333, 444 444 4444</a:t>
                      </a:r>
                      <a:endParaRPr lang="en-US" sz="2200" b="1" dirty="0"/>
                    </a:p>
                  </a:txBody>
                  <a:tcPr/>
                </a:tc>
              </a:tr>
              <a:tr h="370840">
                <a:tc>
                  <a:txBody>
                    <a:bodyPr/>
                    <a:lstStyle/>
                    <a:p>
                      <a:r>
                        <a:rPr lang="en-US" sz="2200" dirty="0" smtClean="0"/>
                        <a:t>Luke Phillips</a:t>
                      </a:r>
                      <a:endParaRPr lang="en-US" sz="2200" dirty="0"/>
                    </a:p>
                  </a:txBody>
                  <a:tcPr/>
                </a:tc>
                <a:tc>
                  <a:txBody>
                    <a:bodyPr/>
                    <a:lstStyle/>
                    <a:p>
                      <a:r>
                        <a:rPr lang="en-US" sz="2200" dirty="0" smtClean="0"/>
                        <a:t>555 555 5555</a:t>
                      </a:r>
                      <a:endParaRPr lang="en-US" sz="2200"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 1NF Violation</a:t>
            </a:r>
            <a:endParaRPr lang="en-US" dirty="0"/>
          </a:p>
        </p:txBody>
      </p:sp>
      <p:sp>
        <p:nvSpPr>
          <p:cNvPr id="5" name="Content Placeholder 4"/>
          <p:cNvSpPr>
            <a:spLocks noGrp="1"/>
          </p:cNvSpPr>
          <p:nvPr>
            <p:ph idx="1"/>
          </p:nvPr>
        </p:nvSpPr>
        <p:spPr/>
        <p:txBody>
          <a:bodyPr/>
          <a:lstStyle/>
          <a:p>
            <a:r>
              <a:rPr lang="en-US" sz="2400" dirty="0" smtClean="0"/>
              <a:t>To redesign the data model so that it complies with the first normal form, resolve the repeating group of phone number attributes into a single unique attribute.</a:t>
            </a:r>
            <a:endParaRPr lang="en-US" sz="2400" dirty="0"/>
          </a:p>
        </p:txBody>
      </p:sp>
      <p:graphicFrame>
        <p:nvGraphicFramePr>
          <p:cNvPr id="6" name="Content Placeholder 3"/>
          <p:cNvGraphicFramePr>
            <a:graphicFrameLocks/>
          </p:cNvGraphicFramePr>
          <p:nvPr/>
        </p:nvGraphicFramePr>
        <p:xfrm>
          <a:off x="533400" y="3048000"/>
          <a:ext cx="8229600" cy="340360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gridSpan="2">
                  <a:txBody>
                    <a:bodyPr/>
                    <a:lstStyle/>
                    <a:p>
                      <a:r>
                        <a:rPr lang="en-US" sz="1800" b="1" kern="1200" baseline="0" dirty="0" err="1" smtClean="0">
                          <a:solidFill>
                            <a:schemeClr val="lt1"/>
                          </a:solidFill>
                          <a:latin typeface="+mn-lt"/>
                          <a:ea typeface="+mn-ea"/>
                          <a:cs typeface="+mn-cs"/>
                        </a:rPr>
                        <a:t>PhoneNumber</a:t>
                      </a:r>
                      <a:r>
                        <a:rPr lang="en-US" sz="1800" b="1" kern="1200" baseline="0" dirty="0" smtClean="0">
                          <a:solidFill>
                            <a:schemeClr val="lt1"/>
                          </a:solidFill>
                          <a:latin typeface="+mn-lt"/>
                          <a:ea typeface="+mn-ea"/>
                          <a:cs typeface="+mn-cs"/>
                        </a:rPr>
                        <a:t> Entity</a:t>
                      </a:r>
                      <a:endParaRPr lang="en-US" dirty="0"/>
                    </a:p>
                  </a:txBody>
                  <a:tcPr/>
                </a:tc>
                <a:tc hMerge="1">
                  <a:txBody>
                    <a:bodyPr/>
                    <a:lstStyle/>
                    <a:p>
                      <a:endParaRPr lang="en-US" dirty="0"/>
                    </a:p>
                  </a:txBody>
                  <a:tcPr/>
                </a:tc>
                <a:tc gridSpan="2">
                  <a:txBody>
                    <a:bodyPr/>
                    <a:lstStyle/>
                    <a:p>
                      <a:r>
                        <a:rPr lang="en-US" sz="1800" b="1" kern="1200" baseline="0" dirty="0" err="1" smtClean="0">
                          <a:solidFill>
                            <a:schemeClr val="lt1"/>
                          </a:solidFill>
                          <a:latin typeface="+mn-lt"/>
                          <a:ea typeface="+mn-ea"/>
                          <a:cs typeface="+mn-cs"/>
                        </a:rPr>
                        <a:t>CustomerEntity</a:t>
                      </a:r>
                      <a:endParaRPr lang="en-US" dirty="0"/>
                    </a:p>
                  </a:txBody>
                  <a:tcPr/>
                </a:tc>
                <a:tc hMerge="1">
                  <a:txBody>
                    <a:bodyPr/>
                    <a:lstStyle/>
                    <a:p>
                      <a:endParaRPr lang="en-US" dirty="0"/>
                    </a:p>
                  </a:txBody>
                  <a:tcPr/>
                </a:tc>
              </a:tr>
              <a:tr h="370840">
                <a:tc>
                  <a:txBody>
                    <a:bodyPr/>
                    <a:lstStyle/>
                    <a:p>
                      <a:r>
                        <a:rPr lang="en-US" sz="1800" kern="1200" baseline="0" dirty="0" err="1" smtClean="0">
                          <a:solidFill>
                            <a:schemeClr val="dk1"/>
                          </a:solidFill>
                          <a:latin typeface="+mn-lt"/>
                          <a:ea typeface="+mn-ea"/>
                          <a:cs typeface="+mn-cs"/>
                        </a:rPr>
                        <a:t>CustomerID</a:t>
                      </a:r>
                      <a:r>
                        <a:rPr lang="en-US" sz="1800" kern="1200" baseline="0" dirty="0" smtClean="0">
                          <a:solidFill>
                            <a:schemeClr val="dk1"/>
                          </a:solidFill>
                          <a:latin typeface="+mn-lt"/>
                          <a:ea typeface="+mn-ea"/>
                          <a:cs typeface="+mn-cs"/>
                        </a:rPr>
                        <a:t> (FK)</a:t>
                      </a:r>
                      <a:endParaRPr lang="en-US" dirty="0"/>
                    </a:p>
                  </a:txBody>
                  <a:tcPr/>
                </a:tc>
                <a:tc>
                  <a:txBody>
                    <a:bodyPr/>
                    <a:lstStyle/>
                    <a:p>
                      <a:r>
                        <a:rPr lang="en-US" sz="1800" kern="1200" baseline="0" dirty="0" err="1" smtClean="0">
                          <a:solidFill>
                            <a:schemeClr val="dk1"/>
                          </a:solidFill>
                          <a:latin typeface="+mn-lt"/>
                          <a:ea typeface="+mn-ea"/>
                          <a:cs typeface="+mn-cs"/>
                        </a:rPr>
                        <a:t>PhoneNumber</a:t>
                      </a:r>
                      <a:endParaRPr lang="en-US" dirty="0"/>
                    </a:p>
                  </a:txBody>
                  <a:tcPr/>
                </a:tc>
                <a:tc>
                  <a:txBody>
                    <a:bodyPr/>
                    <a:lstStyle/>
                    <a:p>
                      <a:r>
                        <a:rPr lang="en-US" dirty="0" err="1" smtClean="0"/>
                        <a:t>CustomerID</a:t>
                      </a:r>
                      <a:r>
                        <a:rPr lang="en-US" dirty="0" smtClean="0"/>
                        <a:t> (PK)</a:t>
                      </a:r>
                      <a:endParaRPr lang="en-US" dirty="0"/>
                    </a:p>
                  </a:txBody>
                  <a:tcPr/>
                </a:tc>
                <a:tc>
                  <a:txBody>
                    <a:bodyPr/>
                    <a:lstStyle/>
                    <a:p>
                      <a:r>
                        <a:rPr lang="en-US" dirty="0" smtClean="0"/>
                        <a:t>Name</a:t>
                      </a:r>
                      <a:endParaRPr lang="en-US" dirty="0"/>
                    </a:p>
                  </a:txBody>
                  <a:tcPr/>
                </a:tc>
              </a:tr>
              <a:tr h="370840">
                <a:tc>
                  <a:txBody>
                    <a:bodyPr/>
                    <a:lstStyle/>
                    <a:p>
                      <a:r>
                        <a:rPr lang="en-US" dirty="0" smtClean="0"/>
                        <a:t>1</a:t>
                      </a:r>
                      <a:endParaRPr lang="en-US" dirty="0"/>
                    </a:p>
                  </a:txBody>
                  <a:tcPr/>
                </a:tc>
                <a:tc>
                  <a:txBody>
                    <a:bodyPr/>
                    <a:lstStyle/>
                    <a:p>
                      <a:r>
                        <a:rPr lang="en-US" dirty="0" smtClean="0"/>
                        <a:t>111 111 1111</a:t>
                      </a:r>
                      <a:endParaRPr lang="en-US" dirty="0"/>
                    </a:p>
                  </a:txBody>
                  <a:tcPr/>
                </a:tc>
                <a:tc>
                  <a:txBody>
                    <a:bodyPr/>
                    <a:lstStyle/>
                    <a:p>
                      <a:r>
                        <a:rPr lang="en-US" dirty="0" smtClean="0"/>
                        <a:t>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dk1"/>
                          </a:solidFill>
                          <a:latin typeface="+mn-lt"/>
                          <a:ea typeface="+mn-ea"/>
                          <a:cs typeface="+mn-cs"/>
                        </a:rPr>
                        <a:t>John Doe</a:t>
                      </a:r>
                      <a:endParaRPr lang="en-US" dirty="0" smtClean="0"/>
                    </a:p>
                    <a:p>
                      <a:endParaRPr lang="en-US" dirty="0"/>
                    </a:p>
                  </a:txBody>
                  <a:tcPr/>
                </a:tc>
              </a:tr>
              <a:tr h="370840">
                <a:tc>
                  <a:txBody>
                    <a:bodyPr/>
                    <a:lstStyle/>
                    <a:p>
                      <a:r>
                        <a:rPr lang="en-US" dirty="0" smtClean="0"/>
                        <a:t>1</a:t>
                      </a:r>
                      <a:endParaRPr lang="en-US" dirty="0"/>
                    </a:p>
                  </a:txBody>
                  <a:tcPr/>
                </a:tc>
                <a:tc>
                  <a:txBody>
                    <a:bodyPr/>
                    <a:lstStyle/>
                    <a:p>
                      <a:r>
                        <a:rPr lang="en-US" dirty="0" smtClean="0"/>
                        <a:t>222 222 2222</a:t>
                      </a:r>
                      <a:endParaRPr lang="en-US" dirty="0"/>
                    </a:p>
                  </a:txBody>
                  <a:tcPr/>
                </a:tc>
                <a:tc>
                  <a:txBody>
                    <a:bodyPr/>
                    <a:lstStyle/>
                    <a:p>
                      <a:r>
                        <a:rPr lang="en-US" dirty="0" smtClean="0"/>
                        <a:t>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dk1"/>
                          </a:solidFill>
                          <a:latin typeface="+mn-lt"/>
                          <a:ea typeface="+mn-ea"/>
                          <a:cs typeface="+mn-cs"/>
                        </a:rPr>
                        <a:t>Jane Smith</a:t>
                      </a:r>
                      <a:endParaRPr lang="en-US" dirty="0" smtClean="0"/>
                    </a:p>
                    <a:p>
                      <a:endParaRPr lang="en-US" dirty="0"/>
                    </a:p>
                  </a:txBody>
                  <a:tcPr/>
                </a:tc>
              </a:tr>
              <a:tr h="370840">
                <a:tc>
                  <a:txBody>
                    <a:bodyPr/>
                    <a:lstStyle/>
                    <a:p>
                      <a:r>
                        <a:rPr lang="en-US" dirty="0" smtClean="0"/>
                        <a:t>2</a:t>
                      </a:r>
                      <a:endParaRPr lang="en-US" dirty="0"/>
                    </a:p>
                  </a:txBody>
                  <a:tcPr/>
                </a:tc>
                <a:tc>
                  <a:txBody>
                    <a:bodyPr/>
                    <a:lstStyle/>
                    <a:p>
                      <a:r>
                        <a:rPr lang="en-US" dirty="0" smtClean="0"/>
                        <a:t>333 333 3333</a:t>
                      </a:r>
                      <a:endParaRPr lang="en-US" dirty="0"/>
                    </a:p>
                  </a:txBody>
                  <a:tcPr/>
                </a:tc>
                <a:tc>
                  <a:txBody>
                    <a:bodyPr/>
                    <a:lstStyle/>
                    <a:p>
                      <a:r>
                        <a:rPr lang="en-US" dirty="0" smtClean="0"/>
                        <a:t>3</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Luke Phillips</a:t>
                      </a:r>
                    </a:p>
                    <a:p>
                      <a:endParaRPr lang="en-US" dirty="0"/>
                    </a:p>
                  </a:txBody>
                  <a:tcPr/>
                </a:tc>
              </a:tr>
              <a:tr h="370840">
                <a:tc>
                  <a:txBody>
                    <a:bodyPr/>
                    <a:lstStyle/>
                    <a:p>
                      <a:r>
                        <a:rPr lang="en-US" dirty="0" smtClean="0"/>
                        <a:t>2</a:t>
                      </a:r>
                      <a:endParaRPr lang="en-US" dirty="0"/>
                    </a:p>
                  </a:txBody>
                  <a:tcPr/>
                </a:tc>
                <a:tc>
                  <a:txBody>
                    <a:bodyPr/>
                    <a:lstStyle/>
                    <a:p>
                      <a:r>
                        <a:rPr lang="en-US" dirty="0" smtClean="0"/>
                        <a:t>444 444</a:t>
                      </a:r>
                      <a:r>
                        <a:rPr lang="en-US" baseline="0" dirty="0" smtClean="0"/>
                        <a:t> 4444</a:t>
                      </a:r>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3</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555 555 5555</a:t>
                      </a:r>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Normal Form (2NF)</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second normal form</a:t>
            </a:r>
            <a:r>
              <a:rPr lang="en-US" sz="2400" dirty="0" smtClean="0"/>
              <a:t> ensures that </a:t>
            </a:r>
            <a:r>
              <a:rPr lang="en-US" sz="2400" u="sng" dirty="0" smtClean="0"/>
              <a:t>each attribute describes the entity</a:t>
            </a:r>
            <a:r>
              <a:rPr lang="en-US" sz="2400" dirty="0" smtClean="0"/>
              <a:t>. It’s a dependency issue.</a:t>
            </a:r>
          </a:p>
          <a:p>
            <a:r>
              <a:rPr lang="en-US" sz="2400" dirty="0" smtClean="0"/>
              <a:t>Does the attribute depend on, or describe, the item identified by the </a:t>
            </a:r>
            <a:r>
              <a:rPr lang="en-US" sz="2400" i="1" dirty="0" smtClean="0">
                <a:solidFill>
                  <a:srgbClr val="C00000"/>
                </a:solidFill>
              </a:rPr>
              <a:t>primary key</a:t>
            </a:r>
            <a:r>
              <a:rPr lang="en-US" sz="2400" dirty="0" smtClean="0"/>
              <a:t>?</a:t>
            </a:r>
          </a:p>
          <a:p>
            <a:r>
              <a:rPr lang="en-US" sz="2400" dirty="0" smtClean="0"/>
              <a:t>If the entity’s primary key is a </a:t>
            </a:r>
            <a:r>
              <a:rPr lang="en-US" sz="2400" i="1" dirty="0" smtClean="0">
                <a:solidFill>
                  <a:srgbClr val="C00000"/>
                </a:solidFill>
              </a:rPr>
              <a:t>single value</a:t>
            </a:r>
            <a:r>
              <a:rPr lang="en-US" sz="2400" dirty="0" smtClean="0"/>
              <a:t>, this isn’t too difficult.</a:t>
            </a:r>
          </a:p>
          <a:p>
            <a:r>
              <a:rPr lang="en-US" sz="2400" i="1" dirty="0" smtClean="0">
                <a:solidFill>
                  <a:srgbClr val="C00000"/>
                </a:solidFill>
              </a:rPr>
              <a:t>Composite primary keys</a:t>
            </a:r>
            <a:r>
              <a:rPr lang="en-US" sz="2400" dirty="0" smtClean="0"/>
              <a:t> can sometimes get into trouble with the second normal form if the attributes aren’t dependent on every attribute in the primary key.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Second Normal Form Violation</a:t>
            </a:r>
            <a:endParaRPr lang="en-US" dirty="0"/>
          </a:p>
        </p:txBody>
      </p:sp>
      <p:sp>
        <p:nvSpPr>
          <p:cNvPr id="3" name="Content Placeholder 2"/>
          <p:cNvSpPr>
            <a:spLocks noGrp="1"/>
          </p:cNvSpPr>
          <p:nvPr>
            <p:ph idx="1"/>
          </p:nvPr>
        </p:nvSpPr>
        <p:spPr/>
        <p:txBody>
          <a:bodyPr/>
          <a:lstStyle/>
          <a:p>
            <a:r>
              <a:rPr lang="en-US" sz="2000" dirty="0" smtClean="0"/>
              <a:t>Assume a database contains the table </a:t>
            </a:r>
            <a:r>
              <a:rPr lang="en-US" sz="2000" b="1" dirty="0" err="1" smtClean="0">
                <a:latin typeface="Consolas" pitchFamily="49" charset="0"/>
              </a:rPr>
              <a:t>RegionalOfficeStore</a:t>
            </a:r>
            <a:r>
              <a:rPr lang="en-US" sz="2000" dirty="0" smtClean="0"/>
              <a:t>, whose primary key was a composite key including </a:t>
            </a:r>
            <a:r>
              <a:rPr lang="en-US" sz="2000" b="1" dirty="0" err="1" smtClean="0">
                <a:latin typeface="Consolas" pitchFamily="49" charset="0"/>
              </a:rPr>
              <a:t>RegionalOfficeID</a:t>
            </a:r>
            <a:r>
              <a:rPr lang="en-US" sz="2000" dirty="0" smtClean="0"/>
              <a:t> and </a:t>
            </a:r>
            <a:r>
              <a:rPr lang="en-US" sz="2000" b="1" dirty="0" err="1" smtClean="0">
                <a:latin typeface="Consolas" pitchFamily="49" charset="0"/>
              </a:rPr>
              <a:t>StoreID</a:t>
            </a:r>
            <a:r>
              <a:rPr lang="en-US" sz="2000" dirty="0" smtClean="0"/>
              <a:t>.</a:t>
            </a:r>
          </a:p>
          <a:p>
            <a:r>
              <a:rPr lang="en-US" sz="2000" dirty="0" smtClean="0"/>
              <a:t>Adding the regional phone number to the data model would violate the second normal form.</a:t>
            </a:r>
          </a:p>
          <a:p>
            <a:r>
              <a:rPr lang="en-US" sz="2000" dirty="0" smtClean="0"/>
              <a:t>Because the primary key (PK) is a composite of both </a:t>
            </a:r>
            <a:r>
              <a:rPr lang="en-US" sz="2000" dirty="0" err="1" smtClean="0"/>
              <a:t>RegionalOffice</a:t>
            </a:r>
            <a:r>
              <a:rPr lang="en-US" sz="2000" dirty="0" smtClean="0"/>
              <a:t> and Store, and that the phone number is a permanent phone number </a:t>
            </a:r>
            <a:r>
              <a:rPr lang="en-US" sz="2000" i="1" dirty="0" smtClean="0">
                <a:solidFill>
                  <a:srgbClr val="C00000"/>
                </a:solidFill>
              </a:rPr>
              <a:t>for the regional office</a:t>
            </a:r>
            <a:r>
              <a:rPr lang="en-US" sz="2000" dirty="0" smtClean="0"/>
              <a:t>, a phone number </a:t>
            </a:r>
            <a:r>
              <a:rPr lang="en-US" sz="2000" i="1" dirty="0" smtClean="0">
                <a:solidFill>
                  <a:srgbClr val="C00000"/>
                </a:solidFill>
              </a:rPr>
              <a:t>isn’t assigned for each store</a:t>
            </a:r>
            <a:r>
              <a:rPr lang="en-US" sz="2000" dirty="0" smtClean="0"/>
              <a:t>.</a:t>
            </a:r>
          </a:p>
        </p:txBody>
      </p:sp>
      <p:graphicFrame>
        <p:nvGraphicFramePr>
          <p:cNvPr id="4" name="Content Placeholder 3"/>
          <p:cNvGraphicFramePr>
            <a:graphicFrameLocks/>
          </p:cNvGraphicFramePr>
          <p:nvPr/>
        </p:nvGraphicFramePr>
        <p:xfrm>
          <a:off x="457200" y="4495800"/>
          <a:ext cx="8153400" cy="1584960"/>
        </p:xfrm>
        <a:graphic>
          <a:graphicData uri="http://schemas.openxmlformats.org/drawingml/2006/table">
            <a:tbl>
              <a:tblPr firstRow="1" bandRow="1">
                <a:tableStyleId>{5C22544A-7EE6-4342-B048-85BDC9FD1C3A}</a:tableStyleId>
              </a:tblPr>
              <a:tblGrid>
                <a:gridCol w="2432782"/>
                <a:gridCol w="1885782"/>
                <a:gridCol w="3834836"/>
              </a:tblGrid>
              <a:tr h="370840">
                <a:tc>
                  <a:txBody>
                    <a:bodyPr/>
                    <a:lstStyle/>
                    <a:p>
                      <a:r>
                        <a:rPr lang="en-US" sz="2000" dirty="0" smtClean="0"/>
                        <a:t>PK-</a:t>
                      </a:r>
                      <a:r>
                        <a:rPr lang="en-US" sz="2000" dirty="0" err="1" smtClean="0"/>
                        <a:t>RegionalOffice</a:t>
                      </a:r>
                      <a:endParaRPr lang="en-US" sz="2000" dirty="0"/>
                    </a:p>
                  </a:txBody>
                  <a:tcPr/>
                </a:tc>
                <a:tc>
                  <a:txBody>
                    <a:bodyPr/>
                    <a:lstStyle/>
                    <a:p>
                      <a:r>
                        <a:rPr lang="en-US" sz="2000" dirty="0" smtClean="0"/>
                        <a:t>PK-Store</a:t>
                      </a:r>
                      <a:endParaRPr lang="en-US" sz="2000" dirty="0"/>
                    </a:p>
                  </a:txBody>
                  <a:tcPr/>
                </a:tc>
                <a:tc>
                  <a:txBody>
                    <a:bodyPr/>
                    <a:lstStyle/>
                    <a:p>
                      <a:r>
                        <a:rPr lang="en-US" sz="2000" dirty="0" err="1" smtClean="0"/>
                        <a:t>RegionalOffice</a:t>
                      </a:r>
                      <a:r>
                        <a:rPr lang="en-US" sz="2000" dirty="0" smtClean="0"/>
                        <a:t> </a:t>
                      </a:r>
                      <a:r>
                        <a:rPr lang="en-US" sz="2000" dirty="0" err="1" smtClean="0"/>
                        <a:t>PhoneNumber</a:t>
                      </a:r>
                      <a:endParaRPr lang="en-US" sz="2000" dirty="0"/>
                    </a:p>
                  </a:txBody>
                  <a:tcPr/>
                </a:tc>
              </a:tr>
              <a:tr h="370840">
                <a:tc>
                  <a:txBody>
                    <a:bodyPr/>
                    <a:lstStyle/>
                    <a:p>
                      <a:r>
                        <a:rPr lang="en-US" sz="2000" kern="1200" baseline="0" dirty="0" smtClean="0">
                          <a:solidFill>
                            <a:schemeClr val="dk1"/>
                          </a:solidFill>
                          <a:latin typeface="+mn-lt"/>
                          <a:ea typeface="+mn-ea"/>
                          <a:cs typeface="+mn-cs"/>
                        </a:rPr>
                        <a:t>Southeast</a:t>
                      </a:r>
                      <a:endParaRPr lang="en-US" sz="2000" dirty="0"/>
                    </a:p>
                  </a:txBody>
                  <a:tcPr/>
                </a:tc>
                <a:tc>
                  <a:txBody>
                    <a:bodyPr/>
                    <a:lstStyle/>
                    <a:p>
                      <a:r>
                        <a:rPr lang="en-US" sz="2000" dirty="0" smtClean="0"/>
                        <a:t>Store One</a:t>
                      </a:r>
                      <a:endParaRPr lang="en-US" sz="2000" dirty="0"/>
                    </a:p>
                  </a:txBody>
                  <a:tcPr/>
                </a:tc>
                <a:tc>
                  <a:txBody>
                    <a:bodyPr/>
                    <a:lstStyle/>
                    <a:p>
                      <a:r>
                        <a:rPr lang="en-US" sz="2000" kern="1200" baseline="0" dirty="0" smtClean="0">
                          <a:solidFill>
                            <a:schemeClr val="dk1"/>
                          </a:solidFill>
                          <a:latin typeface="+mn-lt"/>
                          <a:ea typeface="+mn-ea"/>
                          <a:cs typeface="+mn-cs"/>
                        </a:rPr>
                        <a:t>828-555-1212</a:t>
                      </a:r>
                      <a:endParaRPr lang="en-US" sz="2000" dirty="0"/>
                    </a:p>
                  </a:txBody>
                  <a:tcPr/>
                </a:tc>
              </a:tr>
              <a:tr h="370840">
                <a:tc>
                  <a:txBody>
                    <a:bodyPr/>
                    <a:lstStyle/>
                    <a:p>
                      <a:r>
                        <a:rPr lang="en-US" sz="2000" kern="1200" baseline="0" dirty="0" smtClean="0">
                          <a:solidFill>
                            <a:schemeClr val="dk1"/>
                          </a:solidFill>
                          <a:latin typeface="+mn-lt"/>
                          <a:ea typeface="+mn-ea"/>
                          <a:cs typeface="+mn-cs"/>
                        </a:rPr>
                        <a:t>Southeast</a:t>
                      </a:r>
                      <a:endParaRPr lang="en-US" sz="2000" dirty="0"/>
                    </a:p>
                  </a:txBody>
                  <a:tcPr/>
                </a:tc>
                <a:tc>
                  <a:txBody>
                    <a:bodyPr/>
                    <a:lstStyle/>
                    <a:p>
                      <a:r>
                        <a:rPr lang="en-US" sz="2000" kern="1200" baseline="0" dirty="0" smtClean="0">
                          <a:solidFill>
                            <a:schemeClr val="dk1"/>
                          </a:solidFill>
                          <a:latin typeface="+mn-lt"/>
                          <a:ea typeface="+mn-ea"/>
                          <a:cs typeface="+mn-cs"/>
                        </a:rPr>
                        <a:t>Store Two</a:t>
                      </a:r>
                      <a:endParaRPr lang="en-US" sz="2000" dirty="0"/>
                    </a:p>
                  </a:txBody>
                  <a:tcPr/>
                </a:tc>
                <a:tc>
                  <a:txBody>
                    <a:bodyPr/>
                    <a:lstStyle/>
                    <a:p>
                      <a:r>
                        <a:rPr lang="en-US" sz="2000" kern="1200" baseline="0" dirty="0" smtClean="0">
                          <a:solidFill>
                            <a:schemeClr val="dk1"/>
                          </a:solidFill>
                          <a:latin typeface="+mn-lt"/>
                          <a:ea typeface="+mn-ea"/>
                          <a:cs typeface="+mn-cs"/>
                        </a:rPr>
                        <a:t>828-555-1212</a:t>
                      </a:r>
                      <a:endParaRPr lang="en-US" sz="2000" dirty="0"/>
                    </a:p>
                  </a:txBody>
                  <a:tcPr/>
                </a:tc>
              </a:tr>
              <a:tr h="370840">
                <a:tc>
                  <a:txBody>
                    <a:bodyPr/>
                    <a:lstStyle/>
                    <a:p>
                      <a:r>
                        <a:rPr lang="en-US" sz="2000" dirty="0" smtClean="0"/>
                        <a:t>North</a:t>
                      </a:r>
                      <a:endParaRPr lang="en-US" sz="2000" dirty="0"/>
                    </a:p>
                  </a:txBody>
                  <a:tcPr/>
                </a:tc>
                <a:tc>
                  <a:txBody>
                    <a:bodyPr/>
                    <a:lstStyle/>
                    <a:p>
                      <a:r>
                        <a:rPr lang="en-US" sz="2000" dirty="0" smtClean="0"/>
                        <a:t>Store Three</a:t>
                      </a:r>
                      <a:endParaRPr lang="en-US" sz="2000" dirty="0"/>
                    </a:p>
                  </a:txBody>
                  <a:tcPr/>
                </a:tc>
                <a:tc>
                  <a:txBody>
                    <a:bodyPr/>
                    <a:lstStyle/>
                    <a:p>
                      <a:r>
                        <a:rPr lang="en-US" sz="2000" dirty="0" smtClean="0"/>
                        <a:t>828-555-1213</a:t>
                      </a:r>
                      <a:endParaRPr lang="en-US" sz="2000" dirty="0"/>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Conform to the 2NF</a:t>
            </a:r>
            <a:endParaRPr lang="en-US" dirty="0"/>
          </a:p>
        </p:txBody>
      </p:sp>
      <p:sp>
        <p:nvSpPr>
          <p:cNvPr id="5" name="Content Placeholder 4"/>
          <p:cNvSpPr>
            <a:spLocks noGrp="1"/>
          </p:cNvSpPr>
          <p:nvPr>
            <p:ph idx="1"/>
          </p:nvPr>
        </p:nvSpPr>
        <p:spPr>
          <a:xfrm>
            <a:off x="457200" y="1600201"/>
            <a:ext cx="8229600" cy="2057400"/>
          </a:xfrm>
        </p:spPr>
        <p:txBody>
          <a:bodyPr/>
          <a:lstStyle/>
          <a:p>
            <a:r>
              <a:rPr lang="en-US" sz="2400" dirty="0" smtClean="0"/>
              <a:t>The solution is to remove the </a:t>
            </a:r>
            <a:r>
              <a:rPr lang="en-US" sz="2400" i="1" dirty="0" smtClean="0">
                <a:solidFill>
                  <a:srgbClr val="C00000"/>
                </a:solidFill>
              </a:rPr>
              <a:t>partially dependent attribute</a:t>
            </a:r>
            <a:r>
              <a:rPr lang="en-US" sz="2400" dirty="0" smtClean="0"/>
              <a:t> from the entity with the </a:t>
            </a:r>
            <a:r>
              <a:rPr lang="en-US" sz="2400" u="sng" dirty="0" smtClean="0"/>
              <a:t>composite keys</a:t>
            </a:r>
            <a:r>
              <a:rPr lang="en-US" sz="2400" dirty="0" smtClean="0"/>
              <a:t>, and create an entity with a </a:t>
            </a:r>
            <a:r>
              <a:rPr lang="en-US" sz="2400" u="sng" dirty="0" smtClean="0"/>
              <a:t>unique primary key</a:t>
            </a:r>
            <a:r>
              <a:rPr lang="en-US" sz="2400" dirty="0" smtClean="0"/>
              <a:t> for the store.</a:t>
            </a:r>
          </a:p>
          <a:p>
            <a:r>
              <a:rPr lang="en-US" sz="2400" dirty="0" smtClean="0"/>
              <a:t>This new entity is then an appropriate location for the </a:t>
            </a:r>
            <a:r>
              <a:rPr lang="en-US" sz="2400" i="1" dirty="0" smtClean="0">
                <a:solidFill>
                  <a:srgbClr val="C00000"/>
                </a:solidFill>
              </a:rPr>
              <a:t>dependent attribute</a:t>
            </a:r>
            <a:r>
              <a:rPr lang="en-US" sz="2400" dirty="0" smtClean="0"/>
              <a:t>.</a:t>
            </a:r>
            <a:endParaRPr lang="en-US" sz="2400" dirty="0"/>
          </a:p>
        </p:txBody>
      </p:sp>
      <p:graphicFrame>
        <p:nvGraphicFramePr>
          <p:cNvPr id="6" name="Content Placeholder 3"/>
          <p:cNvGraphicFramePr>
            <a:graphicFrameLocks/>
          </p:cNvGraphicFramePr>
          <p:nvPr/>
        </p:nvGraphicFramePr>
        <p:xfrm>
          <a:off x="533400" y="3810000"/>
          <a:ext cx="8229600" cy="235204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gridSpan="2">
                  <a:txBody>
                    <a:bodyPr/>
                    <a:lstStyle/>
                    <a:p>
                      <a:r>
                        <a:rPr lang="en-US" sz="1800" b="1" kern="1200" baseline="0" dirty="0" smtClean="0">
                          <a:solidFill>
                            <a:schemeClr val="lt1"/>
                          </a:solidFill>
                          <a:latin typeface="+mn-lt"/>
                          <a:ea typeface="+mn-ea"/>
                          <a:cs typeface="+mn-cs"/>
                        </a:rPr>
                        <a:t>Store Entity</a:t>
                      </a:r>
                      <a:endParaRPr lang="en-US" dirty="0"/>
                    </a:p>
                  </a:txBody>
                  <a:tcPr/>
                </a:tc>
                <a:tc hMerge="1">
                  <a:txBody>
                    <a:bodyPr/>
                    <a:lstStyle/>
                    <a:p>
                      <a:endParaRPr lang="en-US" dirty="0"/>
                    </a:p>
                  </a:txBody>
                  <a:tcPr/>
                </a:tc>
                <a:tc gridSpan="2">
                  <a:txBody>
                    <a:bodyPr/>
                    <a:lstStyle/>
                    <a:p>
                      <a:r>
                        <a:rPr lang="en-US" sz="1800" b="1" kern="1200" baseline="0" dirty="0" smtClean="0">
                          <a:solidFill>
                            <a:schemeClr val="lt1"/>
                          </a:solidFill>
                          <a:latin typeface="+mn-lt"/>
                          <a:ea typeface="+mn-ea"/>
                          <a:cs typeface="+mn-cs"/>
                        </a:rPr>
                        <a:t>Regional Office Entity</a:t>
                      </a:r>
                      <a:endParaRPr lang="en-US" dirty="0"/>
                    </a:p>
                  </a:txBody>
                  <a:tcPr/>
                </a:tc>
                <a:tc hMerge="1">
                  <a:txBody>
                    <a:bodyPr/>
                    <a:lstStyle/>
                    <a:p>
                      <a:endParaRPr lang="en-US" dirty="0"/>
                    </a:p>
                  </a:txBody>
                  <a:tcPr/>
                </a:tc>
              </a:tr>
              <a:tr h="370840">
                <a:tc>
                  <a:txBody>
                    <a:bodyPr/>
                    <a:lstStyle/>
                    <a:p>
                      <a:r>
                        <a:rPr lang="en-US" sz="2000" dirty="0" smtClean="0"/>
                        <a:t>PK-</a:t>
                      </a:r>
                      <a:r>
                        <a:rPr lang="en-US" sz="2000" dirty="0" err="1" smtClean="0"/>
                        <a:t>RegionalOffice</a:t>
                      </a:r>
                      <a:endParaRPr lang="en-US" sz="2000" dirty="0"/>
                    </a:p>
                  </a:txBody>
                  <a:tcPr/>
                </a:tc>
                <a:tc>
                  <a:txBody>
                    <a:bodyPr/>
                    <a:lstStyle/>
                    <a:p>
                      <a:r>
                        <a:rPr lang="en-US" sz="2000" dirty="0" smtClean="0"/>
                        <a:t>PK-Store</a:t>
                      </a:r>
                      <a:endParaRPr lang="en-US" sz="2000" dirty="0"/>
                    </a:p>
                  </a:txBody>
                  <a:tcPr/>
                </a:tc>
                <a:tc>
                  <a:txBody>
                    <a:bodyPr/>
                    <a:lstStyle/>
                    <a:p>
                      <a:r>
                        <a:rPr lang="en-US" sz="2000" dirty="0" smtClean="0"/>
                        <a:t>PK-</a:t>
                      </a:r>
                      <a:r>
                        <a:rPr lang="en-US" sz="2000" dirty="0" err="1" smtClean="0"/>
                        <a:t>RegionalOffice</a:t>
                      </a:r>
                      <a:endParaRPr lang="en-US" sz="2000" dirty="0"/>
                    </a:p>
                  </a:txBody>
                  <a:tcPr/>
                </a:tc>
                <a:tc>
                  <a:txBody>
                    <a:bodyPr/>
                    <a:lstStyle/>
                    <a:p>
                      <a:r>
                        <a:rPr lang="en-US" sz="2000" dirty="0" err="1" smtClean="0"/>
                        <a:t>PPhoneNumber</a:t>
                      </a:r>
                      <a:endParaRPr lang="en-US" sz="2000" dirty="0"/>
                    </a:p>
                  </a:txBody>
                  <a:tcPr/>
                </a:tc>
              </a:tr>
              <a:tr h="370840">
                <a:tc>
                  <a:txBody>
                    <a:bodyPr/>
                    <a:lstStyle/>
                    <a:p>
                      <a:r>
                        <a:rPr lang="en-US" sz="2000" kern="1200" baseline="0" dirty="0" smtClean="0">
                          <a:solidFill>
                            <a:schemeClr val="dk1"/>
                          </a:solidFill>
                          <a:latin typeface="+mn-lt"/>
                          <a:ea typeface="+mn-ea"/>
                          <a:cs typeface="+mn-cs"/>
                        </a:rPr>
                        <a:t>Southeast</a:t>
                      </a:r>
                      <a:endParaRPr lang="en-US" sz="2000" dirty="0"/>
                    </a:p>
                  </a:txBody>
                  <a:tcPr/>
                </a:tc>
                <a:tc>
                  <a:txBody>
                    <a:bodyPr/>
                    <a:lstStyle/>
                    <a:p>
                      <a:r>
                        <a:rPr lang="en-US" sz="2000" dirty="0" smtClean="0"/>
                        <a:t>Store One</a:t>
                      </a:r>
                      <a:endParaRPr lang="en-US" sz="2000" dirty="0"/>
                    </a:p>
                  </a:txBody>
                  <a:tcPr/>
                </a:tc>
                <a:tc>
                  <a:txBody>
                    <a:bodyPr/>
                    <a:lstStyle/>
                    <a:p>
                      <a:r>
                        <a:rPr lang="en-US" sz="2000" kern="1200" baseline="0" dirty="0" smtClean="0">
                          <a:solidFill>
                            <a:schemeClr val="dk1"/>
                          </a:solidFill>
                          <a:latin typeface="+mn-lt"/>
                          <a:ea typeface="+mn-ea"/>
                          <a:cs typeface="+mn-cs"/>
                        </a:rPr>
                        <a:t>Southeast</a:t>
                      </a:r>
                      <a:endParaRPr lang="en-US" sz="2000" dirty="0"/>
                    </a:p>
                  </a:txBody>
                  <a:tcPr/>
                </a:tc>
                <a:tc>
                  <a:txBody>
                    <a:bodyPr/>
                    <a:lstStyle/>
                    <a:p>
                      <a:r>
                        <a:rPr lang="en-US" sz="2000" kern="1200" baseline="0" dirty="0" smtClean="0">
                          <a:solidFill>
                            <a:schemeClr val="dk1"/>
                          </a:solidFill>
                          <a:latin typeface="+mn-lt"/>
                          <a:ea typeface="+mn-ea"/>
                          <a:cs typeface="+mn-cs"/>
                        </a:rPr>
                        <a:t>828-555-1212</a:t>
                      </a:r>
                      <a:endParaRPr lang="en-US" sz="2000" dirty="0"/>
                    </a:p>
                  </a:txBody>
                  <a:tcPr/>
                </a:tc>
              </a:tr>
              <a:tr h="370840">
                <a:tc>
                  <a:txBody>
                    <a:bodyPr/>
                    <a:lstStyle/>
                    <a:p>
                      <a:r>
                        <a:rPr lang="en-US" sz="2000" kern="1200" baseline="0" dirty="0" smtClean="0">
                          <a:solidFill>
                            <a:schemeClr val="dk1"/>
                          </a:solidFill>
                          <a:latin typeface="+mn-lt"/>
                          <a:ea typeface="+mn-ea"/>
                          <a:cs typeface="+mn-cs"/>
                        </a:rPr>
                        <a:t>Southeast</a:t>
                      </a:r>
                      <a:endParaRPr lang="en-US" sz="2000" dirty="0"/>
                    </a:p>
                  </a:txBody>
                  <a:tcPr/>
                </a:tc>
                <a:tc>
                  <a:txBody>
                    <a:bodyPr/>
                    <a:lstStyle/>
                    <a:p>
                      <a:r>
                        <a:rPr lang="en-US" sz="2000" kern="1200" baseline="0" dirty="0" smtClean="0">
                          <a:solidFill>
                            <a:schemeClr val="dk1"/>
                          </a:solidFill>
                          <a:latin typeface="+mn-lt"/>
                          <a:ea typeface="+mn-ea"/>
                          <a:cs typeface="+mn-cs"/>
                        </a:rPr>
                        <a:t>Store Two</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North</a:t>
                      </a:r>
                    </a:p>
                  </a:txBody>
                  <a:tcPr/>
                </a:tc>
                <a:tc>
                  <a:txBody>
                    <a:bodyPr/>
                    <a:lstStyle/>
                    <a:p>
                      <a:r>
                        <a:rPr lang="en-US" sz="2000" dirty="0" smtClean="0"/>
                        <a:t>828-555-1213</a:t>
                      </a:r>
                      <a:endParaRPr lang="en-US" sz="2000" dirty="0"/>
                    </a:p>
                  </a:txBody>
                  <a:tcPr/>
                </a:tc>
              </a:tr>
              <a:tr h="370840">
                <a:tc>
                  <a:txBody>
                    <a:bodyPr/>
                    <a:lstStyle/>
                    <a:p>
                      <a:r>
                        <a:rPr lang="en-US" sz="2000" dirty="0" smtClean="0"/>
                        <a:t>North</a:t>
                      </a:r>
                      <a:endParaRPr lang="en-US" sz="2000" dirty="0"/>
                    </a:p>
                  </a:txBody>
                  <a:tcPr/>
                </a:tc>
                <a:tc>
                  <a:txBody>
                    <a:bodyPr/>
                    <a:lstStyle/>
                    <a:p>
                      <a:r>
                        <a:rPr lang="en-US" sz="2000" dirty="0" smtClean="0"/>
                        <a:t>Store Three</a:t>
                      </a:r>
                      <a:endParaRPr lang="en-US" sz="2000" dirty="0"/>
                    </a:p>
                  </a:txBody>
                  <a:tcPr/>
                </a:tc>
                <a:tc>
                  <a:txBody>
                    <a:bodyPr/>
                    <a:lstStyle/>
                    <a:p>
                      <a:endParaRPr lang="en-US" sz="2000" dirty="0"/>
                    </a:p>
                  </a:txBody>
                  <a:tcPr/>
                </a:tc>
                <a:tc>
                  <a:txBody>
                    <a:bodyPr/>
                    <a:lstStyle/>
                    <a:p>
                      <a:endParaRPr lang="en-US" sz="2000" dirty="0"/>
                    </a:p>
                  </a:txBody>
                  <a:tcPr/>
                </a:tc>
              </a:tr>
              <a:tr h="370840">
                <a:tc>
                  <a:txBody>
                    <a:bodyPr/>
                    <a:lstStyle/>
                    <a:p>
                      <a:r>
                        <a:rPr lang="en-US" sz="2000" kern="1200" baseline="0" dirty="0" smtClean="0">
                          <a:solidFill>
                            <a:schemeClr val="dk1"/>
                          </a:solidFill>
                          <a:latin typeface="+mn-lt"/>
                          <a:ea typeface="+mn-ea"/>
                          <a:cs typeface="+mn-cs"/>
                        </a:rPr>
                        <a:t>North</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kern="1200" baseline="0" dirty="0" smtClean="0">
                          <a:solidFill>
                            <a:schemeClr val="dk1"/>
                          </a:solidFill>
                          <a:latin typeface="+mn-lt"/>
                          <a:ea typeface="+mn-ea"/>
                          <a:cs typeface="+mn-cs"/>
                        </a:rPr>
                        <a:t>Store Four</a:t>
                      </a:r>
                      <a:endParaRPr lang="en-US" sz="2000" dirty="0" smtClean="0"/>
                    </a:p>
                  </a:txBody>
                  <a:tcPr/>
                </a:tc>
                <a:tc>
                  <a:txBody>
                    <a:bodyPr/>
                    <a:lstStyle/>
                    <a:p>
                      <a:endParaRPr lang="en-US" sz="2000" dirty="0"/>
                    </a:p>
                  </a:txBody>
                  <a:tcPr/>
                </a:tc>
                <a:tc>
                  <a:txBody>
                    <a:bodyPr/>
                    <a:lstStyle/>
                    <a:p>
                      <a:endParaRPr lang="en-US" sz="2000" dirty="0"/>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Third Normal Form (3NF)</a:t>
            </a:r>
            <a:endParaRPr lang="en-US" dirty="0"/>
          </a:p>
        </p:txBody>
      </p:sp>
      <p:sp>
        <p:nvSpPr>
          <p:cNvPr id="3" name="Content Placeholder 2"/>
          <p:cNvSpPr>
            <a:spLocks noGrp="1"/>
          </p:cNvSpPr>
          <p:nvPr>
            <p:ph idx="1"/>
          </p:nvPr>
        </p:nvSpPr>
        <p:spPr>
          <a:xfrm>
            <a:off x="457200" y="1600201"/>
            <a:ext cx="8229600" cy="2590799"/>
          </a:xfrm>
        </p:spPr>
        <p:txBody>
          <a:bodyPr/>
          <a:lstStyle/>
          <a:p>
            <a:r>
              <a:rPr lang="en-US" sz="2400" dirty="0" smtClean="0"/>
              <a:t>The </a:t>
            </a:r>
            <a:r>
              <a:rPr lang="en-US" sz="2400" i="1" dirty="0" smtClean="0">
                <a:solidFill>
                  <a:srgbClr val="C00000"/>
                </a:solidFill>
              </a:rPr>
              <a:t>third normal form</a:t>
            </a:r>
            <a:r>
              <a:rPr lang="en-US" sz="2400" dirty="0" smtClean="0"/>
              <a:t> checks for </a:t>
            </a:r>
            <a:r>
              <a:rPr lang="en-US" sz="2400" u="sng" dirty="0" smtClean="0"/>
              <a:t>transitive dependencies</a:t>
            </a:r>
            <a:r>
              <a:rPr lang="en-US" sz="2400" dirty="0" smtClean="0"/>
              <a:t>.</a:t>
            </a:r>
          </a:p>
          <a:p>
            <a:r>
              <a:rPr lang="en-US" sz="2400" dirty="0" smtClean="0"/>
              <a:t>A transitive dependency is similar to a partial dependency in that they both refer to </a:t>
            </a:r>
            <a:r>
              <a:rPr lang="en-US" sz="2400" i="1" dirty="0" smtClean="0">
                <a:solidFill>
                  <a:srgbClr val="C00000"/>
                </a:solidFill>
              </a:rPr>
              <a:t>attributes</a:t>
            </a:r>
            <a:r>
              <a:rPr lang="en-US" sz="2400" dirty="0" smtClean="0"/>
              <a:t> that are </a:t>
            </a:r>
            <a:r>
              <a:rPr lang="en-US" sz="2400" u="sng" dirty="0" smtClean="0"/>
              <a:t>not fully dependent on a primary key</a:t>
            </a:r>
            <a:r>
              <a:rPr lang="en-US" sz="2400" dirty="0" smtClean="0"/>
              <a:t>.</a:t>
            </a:r>
          </a:p>
          <a:p>
            <a:r>
              <a:rPr lang="en-US" sz="2400" dirty="0" smtClean="0"/>
              <a:t>A dependency is transient when </a:t>
            </a:r>
            <a:r>
              <a:rPr lang="en-US" sz="2400" i="1" dirty="0" smtClean="0">
                <a:solidFill>
                  <a:srgbClr val="C00000"/>
                </a:solidFill>
                <a:latin typeface="Consolas" pitchFamily="49" charset="0"/>
              </a:rPr>
              <a:t>attribute1</a:t>
            </a:r>
            <a:r>
              <a:rPr lang="en-US" sz="2400" dirty="0" smtClean="0"/>
              <a:t> is dependent on </a:t>
            </a:r>
            <a:r>
              <a:rPr lang="en-US" sz="2400" i="1" dirty="0" smtClean="0">
                <a:solidFill>
                  <a:srgbClr val="C00000"/>
                </a:solidFill>
                <a:latin typeface="Consolas" pitchFamily="49" charset="0"/>
              </a:rPr>
              <a:t>attribute2</a:t>
            </a:r>
            <a:r>
              <a:rPr lang="en-US" sz="2400" dirty="0" smtClean="0"/>
              <a:t>, which is dependent on the </a:t>
            </a:r>
            <a:r>
              <a:rPr lang="en-US" sz="2400" i="1" dirty="0" smtClean="0">
                <a:solidFill>
                  <a:srgbClr val="C00000"/>
                </a:solidFill>
                <a:latin typeface="Consolas" pitchFamily="49" charset="0"/>
              </a:rPr>
              <a:t>primary key</a:t>
            </a:r>
            <a:r>
              <a:rPr lang="en-US" sz="2400" dirty="0" smtClean="0"/>
              <a: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Violating the Third Normal Form</a:t>
            </a:r>
            <a:endParaRPr lang="en-US" dirty="0"/>
          </a:p>
        </p:txBody>
      </p:sp>
      <p:sp>
        <p:nvSpPr>
          <p:cNvPr id="3" name="Content Placeholder 2"/>
          <p:cNvSpPr>
            <a:spLocks noGrp="1"/>
          </p:cNvSpPr>
          <p:nvPr>
            <p:ph idx="1"/>
          </p:nvPr>
        </p:nvSpPr>
        <p:spPr>
          <a:xfrm>
            <a:off x="457200" y="1600201"/>
            <a:ext cx="8229600" cy="2590799"/>
          </a:xfrm>
        </p:spPr>
        <p:txBody>
          <a:bodyPr/>
          <a:lstStyle/>
          <a:p>
            <a:r>
              <a:rPr lang="en-US" sz="2400" dirty="0" smtClean="0"/>
              <a:t>The </a:t>
            </a:r>
            <a:r>
              <a:rPr lang="en-US" sz="2400" dirty="0" err="1" smtClean="0"/>
              <a:t>DateofHire</a:t>
            </a:r>
            <a:r>
              <a:rPr lang="en-US" sz="2400" dirty="0" smtClean="0"/>
              <a:t> describes the manager </a:t>
            </a:r>
            <a:r>
              <a:rPr lang="en-US" sz="2400" i="1" dirty="0" smtClean="0">
                <a:solidFill>
                  <a:srgbClr val="C00000"/>
                </a:solidFill>
              </a:rPr>
              <a:t>not the region</a:t>
            </a:r>
            <a:r>
              <a:rPr lang="en-US" sz="2400" dirty="0" smtClean="0"/>
              <a:t>, so the hire-date attribute is not directly dependent on the </a:t>
            </a:r>
            <a:r>
              <a:rPr lang="en-US" sz="2400" dirty="0" err="1" smtClean="0"/>
              <a:t>RegionalOffice</a:t>
            </a:r>
            <a:r>
              <a:rPr lang="en-US" sz="2400" dirty="0" smtClean="0"/>
              <a:t> entity’s primary key.</a:t>
            </a:r>
          </a:p>
          <a:p>
            <a:r>
              <a:rPr lang="en-US" sz="2400" dirty="0" smtClean="0"/>
              <a:t>The </a:t>
            </a:r>
            <a:r>
              <a:rPr lang="en-US" sz="2400" dirty="0" err="1" smtClean="0"/>
              <a:t>DateOfHire’s</a:t>
            </a:r>
            <a:r>
              <a:rPr lang="en-US" sz="2400" dirty="0" smtClean="0"/>
              <a:t> dependency is transitive — it describes the key and a non-key attribute — in that it goes through the Manager attribute.</a:t>
            </a:r>
            <a:endParaRPr lang="en-US" sz="2400" dirty="0"/>
          </a:p>
        </p:txBody>
      </p:sp>
      <p:graphicFrame>
        <p:nvGraphicFramePr>
          <p:cNvPr id="4" name="Content Placeholder 3"/>
          <p:cNvGraphicFramePr>
            <a:graphicFrameLocks/>
          </p:cNvGraphicFramePr>
          <p:nvPr/>
        </p:nvGraphicFramePr>
        <p:xfrm>
          <a:off x="731645" y="4343400"/>
          <a:ext cx="7726555" cy="1905000"/>
        </p:xfrm>
        <a:graphic>
          <a:graphicData uri="http://schemas.openxmlformats.org/drawingml/2006/table">
            <a:tbl>
              <a:tblPr firstRow="1" bandRow="1">
                <a:tableStyleId>{5C22544A-7EE6-4342-B048-85BDC9FD1C3A}</a:tableStyleId>
              </a:tblPr>
              <a:tblGrid>
                <a:gridCol w="2004759"/>
                <a:gridCol w="3306509"/>
                <a:gridCol w="1166813"/>
                <a:gridCol w="1248474"/>
              </a:tblGrid>
              <a:tr h="370840">
                <a:tc gridSpan="4">
                  <a:txBody>
                    <a:bodyPr/>
                    <a:lstStyle/>
                    <a:p>
                      <a:r>
                        <a:rPr lang="en-US" sz="1800" b="1" kern="1200" baseline="0" dirty="0" smtClean="0">
                          <a:solidFill>
                            <a:schemeClr val="lt1"/>
                          </a:solidFill>
                          <a:latin typeface="+mn-lt"/>
                          <a:ea typeface="+mn-ea"/>
                          <a:cs typeface="+mn-cs"/>
                        </a:rPr>
                        <a:t>Regional Office Entity</a:t>
                      </a:r>
                      <a:endParaRPr lang="en-US" sz="2000" dirty="0"/>
                    </a:p>
                  </a:txBody>
                  <a:tcPr/>
                </a:tc>
                <a:tc hMerge="1">
                  <a:txBody>
                    <a:bodyPr/>
                    <a:lstStyle/>
                    <a:p>
                      <a:endParaRPr lang="en-US" sz="2000" dirty="0"/>
                    </a:p>
                  </a:txBody>
                  <a:tcPr/>
                </a:tc>
                <a:tc hMerge="1">
                  <a:txBody>
                    <a:bodyPr/>
                    <a:lstStyle/>
                    <a:p>
                      <a:endParaRPr lang="en-US" sz="2000" dirty="0"/>
                    </a:p>
                  </a:txBody>
                  <a:tcPr/>
                </a:tc>
                <a:tc hMerge="1">
                  <a:txBody>
                    <a:bodyPr/>
                    <a:lstStyle/>
                    <a:p>
                      <a:endParaRPr lang="en-US" sz="2000" dirty="0"/>
                    </a:p>
                  </a:txBody>
                  <a:tcPr/>
                </a:tc>
              </a:tr>
              <a:tr h="370840">
                <a:tc>
                  <a:txBody>
                    <a:bodyPr/>
                    <a:lstStyle/>
                    <a:p>
                      <a:r>
                        <a:rPr lang="en-US" sz="2000" kern="1200" baseline="0" dirty="0" err="1" smtClean="0">
                          <a:solidFill>
                            <a:schemeClr val="dk1"/>
                          </a:solidFill>
                          <a:latin typeface="+mn-lt"/>
                          <a:ea typeface="+mn-ea"/>
                          <a:cs typeface="+mn-cs"/>
                        </a:rPr>
                        <a:t>RegionalOfficePK</a:t>
                      </a:r>
                      <a:endParaRPr lang="en-US" sz="2000" dirty="0"/>
                    </a:p>
                  </a:txBody>
                  <a:tcPr/>
                </a:tc>
                <a:tc>
                  <a:txBody>
                    <a:bodyPr/>
                    <a:lstStyle/>
                    <a:p>
                      <a:r>
                        <a:rPr lang="en-US" sz="2000" dirty="0" err="1" smtClean="0"/>
                        <a:t>RegionalOfficePhoneNumber</a:t>
                      </a:r>
                      <a:endParaRPr lang="en-US" sz="2000" dirty="0"/>
                    </a:p>
                  </a:txBody>
                  <a:tcPr/>
                </a:tc>
                <a:tc>
                  <a:txBody>
                    <a:bodyPr/>
                    <a:lstStyle/>
                    <a:p>
                      <a:r>
                        <a:rPr lang="en-US" sz="1800" kern="1200" baseline="0" dirty="0" err="1" smtClean="0">
                          <a:solidFill>
                            <a:schemeClr val="dk1"/>
                          </a:solidFill>
                          <a:latin typeface="+mn-lt"/>
                          <a:ea typeface="+mn-ea"/>
                          <a:cs typeface="+mn-cs"/>
                        </a:rPr>
                        <a:t>LManager</a:t>
                      </a:r>
                      <a:endParaRPr lang="en-US" sz="2000" dirty="0"/>
                    </a:p>
                  </a:txBody>
                  <a:tcPr/>
                </a:tc>
                <a:tc>
                  <a:txBody>
                    <a:bodyPr/>
                    <a:lstStyle/>
                    <a:p>
                      <a:r>
                        <a:rPr lang="en-US" sz="1800" kern="1200" baseline="0" dirty="0" err="1" smtClean="0">
                          <a:solidFill>
                            <a:schemeClr val="dk1"/>
                          </a:solidFill>
                          <a:latin typeface="+mn-lt"/>
                          <a:ea typeface="+mn-ea"/>
                          <a:cs typeface="+mn-cs"/>
                        </a:rPr>
                        <a:t>DateofHire</a:t>
                      </a:r>
                      <a:endParaRPr lang="en-US" sz="2000" dirty="0"/>
                    </a:p>
                  </a:txBody>
                  <a:tcPr/>
                </a:tc>
              </a:tr>
              <a:tr h="370840">
                <a:tc>
                  <a:txBody>
                    <a:bodyPr/>
                    <a:lstStyle/>
                    <a:p>
                      <a:r>
                        <a:rPr lang="en-US" sz="1800" kern="1200" baseline="0" dirty="0" smtClean="0">
                          <a:solidFill>
                            <a:schemeClr val="dk1"/>
                          </a:solidFill>
                          <a:latin typeface="+mn-lt"/>
                          <a:ea typeface="+mn-ea"/>
                          <a:cs typeface="+mn-cs"/>
                        </a:rPr>
                        <a:t>Southeast</a:t>
                      </a:r>
                      <a:endParaRPr lang="en-US" sz="2000" dirty="0"/>
                    </a:p>
                  </a:txBody>
                  <a:tcPr/>
                </a:tc>
                <a:tc>
                  <a:txBody>
                    <a:bodyPr/>
                    <a:lstStyle/>
                    <a:p>
                      <a:r>
                        <a:rPr lang="en-US" sz="1800" kern="1200" baseline="0" dirty="0" smtClean="0">
                          <a:solidFill>
                            <a:schemeClr val="dk1"/>
                          </a:solidFill>
                          <a:latin typeface="+mn-lt"/>
                          <a:ea typeface="+mn-ea"/>
                          <a:cs typeface="+mn-cs"/>
                        </a:rPr>
                        <a:t>1-828-555-1212</a:t>
                      </a:r>
                      <a:endParaRPr lang="en-US" sz="2000" dirty="0"/>
                    </a:p>
                  </a:txBody>
                  <a:tcPr/>
                </a:tc>
                <a:tc>
                  <a:txBody>
                    <a:bodyPr/>
                    <a:lstStyle/>
                    <a:p>
                      <a:r>
                        <a:rPr lang="en-US" sz="1800" kern="1200" baseline="0" dirty="0" smtClean="0">
                          <a:solidFill>
                            <a:schemeClr val="dk1"/>
                          </a:solidFill>
                          <a:latin typeface="+mn-lt"/>
                          <a:ea typeface="+mn-ea"/>
                          <a:cs typeface="+mn-cs"/>
                        </a:rPr>
                        <a:t>Jeff Davis</a:t>
                      </a:r>
                      <a:endParaRPr lang="en-US" sz="2000" dirty="0"/>
                    </a:p>
                  </a:txBody>
                  <a:tcPr/>
                </a:tc>
                <a:tc>
                  <a:txBody>
                    <a:bodyPr/>
                    <a:lstStyle/>
                    <a:p>
                      <a:r>
                        <a:rPr lang="en-US" sz="1800" kern="1200" baseline="0" dirty="0" smtClean="0">
                          <a:solidFill>
                            <a:schemeClr val="dk1"/>
                          </a:solidFill>
                          <a:latin typeface="+mn-lt"/>
                          <a:ea typeface="+mn-ea"/>
                          <a:cs typeface="+mn-cs"/>
                        </a:rPr>
                        <a:t>5/1/99</a:t>
                      </a:r>
                      <a:endParaRPr lang="en-US" sz="2000" dirty="0"/>
                    </a:p>
                  </a:txBody>
                  <a:tcPr/>
                </a:tc>
              </a:tr>
              <a:tr h="370840">
                <a:tc>
                  <a:txBody>
                    <a:bodyPr/>
                    <a:lstStyle/>
                    <a:p>
                      <a:r>
                        <a:rPr lang="en-US" sz="1800" kern="1200" baseline="0" dirty="0" smtClean="0">
                          <a:solidFill>
                            <a:schemeClr val="dk1"/>
                          </a:solidFill>
                          <a:latin typeface="+mn-lt"/>
                          <a:ea typeface="+mn-ea"/>
                          <a:cs typeface="+mn-cs"/>
                        </a:rPr>
                        <a:t>North</a:t>
                      </a:r>
                      <a:endParaRPr lang="en-US" sz="2000" dirty="0"/>
                    </a:p>
                  </a:txBody>
                  <a:tcPr/>
                </a:tc>
                <a:tc>
                  <a:txBody>
                    <a:bodyPr/>
                    <a:lstStyle/>
                    <a:p>
                      <a:r>
                        <a:rPr lang="en-US" sz="1800" kern="1200" baseline="0" dirty="0" smtClean="0">
                          <a:solidFill>
                            <a:schemeClr val="dk1"/>
                          </a:solidFill>
                          <a:latin typeface="+mn-lt"/>
                          <a:ea typeface="+mn-ea"/>
                          <a:cs typeface="+mn-cs"/>
                        </a:rPr>
                        <a:t>1-828-555-1213</a:t>
                      </a:r>
                      <a:endParaRPr lang="en-US" sz="2000" dirty="0"/>
                    </a:p>
                  </a:txBody>
                  <a:tcPr/>
                </a:tc>
                <a:tc>
                  <a:txBody>
                    <a:bodyPr/>
                    <a:lstStyle/>
                    <a:p>
                      <a:r>
                        <a:rPr lang="en-US" sz="1800" kern="1200" baseline="0" dirty="0" smtClean="0">
                          <a:solidFill>
                            <a:schemeClr val="dk1"/>
                          </a:solidFill>
                          <a:latin typeface="+mn-lt"/>
                          <a:ea typeface="+mn-ea"/>
                          <a:cs typeface="+mn-cs"/>
                        </a:rPr>
                        <a:t>Ken Frank</a:t>
                      </a:r>
                      <a:endParaRPr lang="en-US" sz="2000" dirty="0"/>
                    </a:p>
                  </a:txBody>
                  <a:tcPr/>
                </a:tc>
                <a:tc>
                  <a:txBody>
                    <a:bodyPr/>
                    <a:lstStyle/>
                    <a:p>
                      <a:r>
                        <a:rPr lang="en-US" sz="1800" kern="1200" baseline="0" dirty="0" smtClean="0">
                          <a:solidFill>
                            <a:schemeClr val="dk1"/>
                          </a:solidFill>
                          <a:latin typeface="+mn-lt"/>
                          <a:ea typeface="+mn-ea"/>
                          <a:cs typeface="+mn-cs"/>
                        </a:rPr>
                        <a:t>4/15/97</a:t>
                      </a:r>
                      <a:endParaRPr lang="en-US" sz="2000" dirty="0"/>
                    </a:p>
                  </a:txBody>
                  <a:tcPr/>
                </a:tc>
              </a:tr>
              <a:tr h="370840">
                <a:tc>
                  <a:txBody>
                    <a:bodyPr/>
                    <a:lstStyle/>
                    <a:p>
                      <a:r>
                        <a:rPr lang="en-US" sz="2000" dirty="0" smtClean="0"/>
                        <a:t>Northwest</a:t>
                      </a:r>
                      <a:endParaRPr lang="en-US" sz="2000" dirty="0"/>
                    </a:p>
                  </a:txBody>
                  <a:tcPr/>
                </a:tc>
                <a:tc>
                  <a:txBody>
                    <a:bodyPr/>
                    <a:lstStyle/>
                    <a:p>
                      <a:r>
                        <a:rPr lang="en-US" sz="1800" kern="1200" baseline="0" dirty="0" smtClean="0">
                          <a:solidFill>
                            <a:schemeClr val="dk1"/>
                          </a:solidFill>
                          <a:latin typeface="+mn-lt"/>
                          <a:ea typeface="+mn-ea"/>
                          <a:cs typeface="+mn-cs"/>
                        </a:rPr>
                        <a:t>1-828-555-1214</a:t>
                      </a:r>
                      <a:endParaRPr lang="en-US" sz="2000" dirty="0"/>
                    </a:p>
                  </a:txBody>
                  <a:tcPr/>
                </a:tc>
                <a:tc>
                  <a:txBody>
                    <a:bodyPr/>
                    <a:lstStyle/>
                    <a:p>
                      <a:r>
                        <a:rPr lang="en-US" sz="1800" kern="1200" baseline="0" dirty="0" smtClean="0">
                          <a:solidFill>
                            <a:schemeClr val="dk1"/>
                          </a:solidFill>
                          <a:latin typeface="+mn-lt"/>
                          <a:ea typeface="+mn-ea"/>
                          <a:cs typeface="+mn-cs"/>
                        </a:rPr>
                        <a:t>Dab Smith</a:t>
                      </a:r>
                      <a:endParaRPr lang="en-US" sz="2000" dirty="0"/>
                    </a:p>
                  </a:txBody>
                  <a:tcPr/>
                </a:tc>
                <a:tc>
                  <a:txBody>
                    <a:bodyPr/>
                    <a:lstStyle/>
                    <a:p>
                      <a:r>
                        <a:rPr lang="en-US" sz="1800" kern="1200" baseline="0" dirty="0" smtClean="0">
                          <a:solidFill>
                            <a:schemeClr val="dk1"/>
                          </a:solidFill>
                          <a:latin typeface="+mn-lt"/>
                          <a:ea typeface="+mn-ea"/>
                          <a:cs typeface="+mn-cs"/>
                        </a:rPr>
                        <a:t>7/7/2001</a:t>
                      </a:r>
                      <a:endParaRPr lang="en-US" sz="2000" dirty="0"/>
                    </a:p>
                  </a:txBody>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Conforming to the 3NF</a:t>
            </a:r>
            <a:endParaRPr lang="en-US" dirty="0"/>
          </a:p>
        </p:txBody>
      </p:sp>
      <p:sp>
        <p:nvSpPr>
          <p:cNvPr id="3" name="Content Placeholder 2"/>
          <p:cNvSpPr>
            <a:spLocks noGrp="1"/>
          </p:cNvSpPr>
          <p:nvPr>
            <p:ph idx="1"/>
          </p:nvPr>
        </p:nvSpPr>
        <p:spPr>
          <a:xfrm>
            <a:off x="457200" y="1600201"/>
            <a:ext cx="8229600" cy="2590799"/>
          </a:xfrm>
        </p:spPr>
        <p:txBody>
          <a:bodyPr/>
          <a:lstStyle/>
          <a:p>
            <a:r>
              <a:rPr lang="en-US" sz="2400" dirty="0" smtClean="0"/>
              <a:t>Creating a Manager entity and moving its attributes to the new entity resolves the violation of the third normal form</a:t>
            </a:r>
            <a:endParaRPr lang="en-US" sz="2400" dirty="0"/>
          </a:p>
        </p:txBody>
      </p:sp>
      <p:graphicFrame>
        <p:nvGraphicFramePr>
          <p:cNvPr id="6" name="Content Placeholder 3"/>
          <p:cNvGraphicFramePr>
            <a:graphicFrameLocks/>
          </p:cNvGraphicFramePr>
          <p:nvPr/>
        </p:nvGraphicFramePr>
        <p:xfrm>
          <a:off x="1442021" y="3124200"/>
          <a:ext cx="6177979" cy="1905000"/>
        </p:xfrm>
        <a:graphic>
          <a:graphicData uri="http://schemas.openxmlformats.org/drawingml/2006/table">
            <a:tbl>
              <a:tblPr firstRow="1" bandRow="1">
                <a:tableStyleId>{5C22544A-7EE6-4342-B048-85BDC9FD1C3A}</a:tableStyleId>
              </a:tblPr>
              <a:tblGrid>
                <a:gridCol w="2057400"/>
                <a:gridCol w="1195705"/>
                <a:gridCol w="1676400"/>
                <a:gridCol w="1248474"/>
              </a:tblGrid>
              <a:tr h="370840">
                <a:tc gridSpan="2">
                  <a:txBody>
                    <a:bodyPr/>
                    <a:lstStyle/>
                    <a:p>
                      <a:r>
                        <a:rPr lang="en-US" sz="1800" b="1" kern="1200" baseline="0" dirty="0" smtClean="0">
                          <a:solidFill>
                            <a:schemeClr val="lt1"/>
                          </a:solidFill>
                          <a:latin typeface="+mn-lt"/>
                          <a:ea typeface="+mn-ea"/>
                          <a:cs typeface="+mn-cs"/>
                        </a:rPr>
                        <a:t>Regional Office Entity</a:t>
                      </a:r>
                      <a:endParaRPr lang="en-US" dirty="0"/>
                    </a:p>
                  </a:txBody>
                  <a:tcPr/>
                </a:tc>
                <a:tc hMerge="1">
                  <a:txBody>
                    <a:bodyPr/>
                    <a:lstStyle/>
                    <a:p>
                      <a:endParaRPr lang="en-US" dirty="0"/>
                    </a:p>
                  </a:txBody>
                  <a:tcPr/>
                </a:tc>
                <a:tc gridSpan="2">
                  <a:txBody>
                    <a:bodyPr/>
                    <a:lstStyle/>
                    <a:p>
                      <a:r>
                        <a:rPr lang="en-US" sz="1800" b="1" kern="1200" baseline="0" dirty="0" smtClean="0">
                          <a:solidFill>
                            <a:schemeClr val="lt1"/>
                          </a:solidFill>
                          <a:latin typeface="+mn-lt"/>
                          <a:ea typeface="+mn-ea"/>
                          <a:cs typeface="+mn-cs"/>
                        </a:rPr>
                        <a:t>Manager Entity</a:t>
                      </a:r>
                      <a:endParaRPr lang="en-US" dirty="0"/>
                    </a:p>
                  </a:txBody>
                  <a:tcPr/>
                </a:tc>
                <a:tc hMerge="1">
                  <a:txBody>
                    <a:bodyPr/>
                    <a:lstStyle/>
                    <a:p>
                      <a:endParaRPr lang="en-US" dirty="0"/>
                    </a:p>
                  </a:txBody>
                  <a:tcPr/>
                </a:tc>
              </a:tr>
              <a:tr h="370840">
                <a:tc>
                  <a:txBody>
                    <a:bodyPr/>
                    <a:lstStyle/>
                    <a:p>
                      <a:r>
                        <a:rPr lang="en-US" sz="2000" kern="1200" baseline="0" dirty="0" err="1" smtClean="0">
                          <a:solidFill>
                            <a:schemeClr val="dk1"/>
                          </a:solidFill>
                          <a:latin typeface="+mn-lt"/>
                          <a:ea typeface="+mn-ea"/>
                          <a:cs typeface="+mn-cs"/>
                        </a:rPr>
                        <a:t>RegionalOfficePK</a:t>
                      </a:r>
                      <a:endParaRPr lang="en-US" sz="2000" dirty="0"/>
                    </a:p>
                  </a:txBody>
                  <a:tcPr/>
                </a:tc>
                <a:tc>
                  <a:txBody>
                    <a:bodyPr/>
                    <a:lstStyle/>
                    <a:p>
                      <a:r>
                        <a:rPr lang="en-US" sz="1800" kern="1200" baseline="0" dirty="0" smtClean="0">
                          <a:solidFill>
                            <a:schemeClr val="dk1"/>
                          </a:solidFill>
                          <a:latin typeface="+mn-lt"/>
                          <a:ea typeface="+mn-ea"/>
                          <a:cs typeface="+mn-cs"/>
                        </a:rPr>
                        <a:t>Manager</a:t>
                      </a:r>
                      <a:endParaRPr lang="en-US" sz="2000" dirty="0"/>
                    </a:p>
                  </a:txBody>
                  <a:tcPr/>
                </a:tc>
                <a:tc>
                  <a:txBody>
                    <a:bodyPr/>
                    <a:lstStyle/>
                    <a:p>
                      <a:r>
                        <a:rPr lang="en-US" sz="1800" kern="1200" baseline="0" dirty="0" err="1" smtClean="0">
                          <a:solidFill>
                            <a:schemeClr val="dk1"/>
                          </a:solidFill>
                          <a:latin typeface="+mn-lt"/>
                          <a:ea typeface="+mn-ea"/>
                          <a:cs typeface="+mn-cs"/>
                        </a:rPr>
                        <a:t>ManagerPK</a:t>
                      </a:r>
                      <a:endParaRPr lang="en-US" sz="2000" dirty="0"/>
                    </a:p>
                  </a:txBody>
                  <a:tcPr/>
                </a:tc>
                <a:tc>
                  <a:txBody>
                    <a:bodyPr/>
                    <a:lstStyle/>
                    <a:p>
                      <a:r>
                        <a:rPr lang="en-US" sz="1800" kern="1200" baseline="0" smtClean="0">
                          <a:solidFill>
                            <a:schemeClr val="dk1"/>
                          </a:solidFill>
                          <a:latin typeface="+mn-lt"/>
                          <a:ea typeface="+mn-ea"/>
                          <a:cs typeface="+mn-cs"/>
                        </a:rPr>
                        <a:t>DateofHire</a:t>
                      </a:r>
                      <a:endParaRPr lang="en-US" sz="2000" dirty="0"/>
                    </a:p>
                  </a:txBody>
                  <a:tcPr/>
                </a:tc>
              </a:tr>
              <a:tr h="370840">
                <a:tc>
                  <a:txBody>
                    <a:bodyPr/>
                    <a:lstStyle/>
                    <a:p>
                      <a:r>
                        <a:rPr lang="en-US" sz="1800" kern="1200" baseline="0" dirty="0" smtClean="0">
                          <a:solidFill>
                            <a:schemeClr val="dk1"/>
                          </a:solidFill>
                          <a:latin typeface="+mn-lt"/>
                          <a:ea typeface="+mn-ea"/>
                          <a:cs typeface="+mn-cs"/>
                        </a:rPr>
                        <a:t>Southeast</a:t>
                      </a:r>
                      <a:endParaRPr lang="en-US" sz="2000" dirty="0"/>
                    </a:p>
                  </a:txBody>
                  <a:tcPr/>
                </a:tc>
                <a:tc>
                  <a:txBody>
                    <a:bodyPr/>
                    <a:lstStyle/>
                    <a:p>
                      <a:r>
                        <a:rPr lang="en-US" sz="1800" kern="1200" baseline="0" dirty="0" smtClean="0">
                          <a:solidFill>
                            <a:schemeClr val="dk1"/>
                          </a:solidFill>
                          <a:latin typeface="+mn-lt"/>
                          <a:ea typeface="+mn-ea"/>
                          <a:cs typeface="+mn-cs"/>
                        </a:rPr>
                        <a:t>Jeff Davis</a:t>
                      </a:r>
                      <a:endParaRPr lang="en-US" sz="2000" dirty="0"/>
                    </a:p>
                  </a:txBody>
                  <a:tcPr/>
                </a:tc>
                <a:tc>
                  <a:txBody>
                    <a:bodyPr/>
                    <a:lstStyle/>
                    <a:p>
                      <a:r>
                        <a:rPr lang="en-US" sz="1800" kern="1200" baseline="0" dirty="0" smtClean="0">
                          <a:solidFill>
                            <a:schemeClr val="dk1"/>
                          </a:solidFill>
                          <a:latin typeface="+mn-lt"/>
                          <a:ea typeface="+mn-ea"/>
                          <a:cs typeface="+mn-cs"/>
                        </a:rPr>
                        <a:t>Jeff Davis</a:t>
                      </a:r>
                      <a:endParaRPr lang="en-US" sz="2000" dirty="0"/>
                    </a:p>
                  </a:txBody>
                  <a:tcPr/>
                </a:tc>
                <a:tc>
                  <a:txBody>
                    <a:bodyPr/>
                    <a:lstStyle/>
                    <a:p>
                      <a:r>
                        <a:rPr lang="en-US" sz="1800" kern="1200" baseline="0" dirty="0" smtClean="0">
                          <a:solidFill>
                            <a:schemeClr val="dk1"/>
                          </a:solidFill>
                          <a:latin typeface="+mn-lt"/>
                          <a:ea typeface="+mn-ea"/>
                          <a:cs typeface="+mn-cs"/>
                        </a:rPr>
                        <a:t>5/1/99</a:t>
                      </a:r>
                      <a:endParaRPr lang="en-US" sz="2000" dirty="0"/>
                    </a:p>
                  </a:txBody>
                  <a:tcPr/>
                </a:tc>
              </a:tr>
              <a:tr h="370840">
                <a:tc>
                  <a:txBody>
                    <a:bodyPr/>
                    <a:lstStyle/>
                    <a:p>
                      <a:r>
                        <a:rPr lang="en-US" sz="1800" kern="1200" baseline="0" dirty="0" smtClean="0">
                          <a:solidFill>
                            <a:schemeClr val="dk1"/>
                          </a:solidFill>
                          <a:latin typeface="+mn-lt"/>
                          <a:ea typeface="+mn-ea"/>
                          <a:cs typeface="+mn-cs"/>
                        </a:rPr>
                        <a:t>North</a:t>
                      </a:r>
                      <a:endParaRPr lang="en-US" sz="2000" dirty="0"/>
                    </a:p>
                  </a:txBody>
                  <a:tcPr/>
                </a:tc>
                <a:tc>
                  <a:txBody>
                    <a:bodyPr/>
                    <a:lstStyle/>
                    <a:p>
                      <a:r>
                        <a:rPr lang="en-US" sz="1800" kern="1200" baseline="0" dirty="0" smtClean="0">
                          <a:solidFill>
                            <a:schemeClr val="dk1"/>
                          </a:solidFill>
                          <a:latin typeface="+mn-lt"/>
                          <a:ea typeface="+mn-ea"/>
                          <a:cs typeface="+mn-cs"/>
                        </a:rPr>
                        <a:t>Ken Frank</a:t>
                      </a:r>
                      <a:endParaRPr lang="en-US" sz="2000" dirty="0"/>
                    </a:p>
                  </a:txBody>
                  <a:tcPr/>
                </a:tc>
                <a:tc>
                  <a:txBody>
                    <a:bodyPr/>
                    <a:lstStyle/>
                    <a:p>
                      <a:r>
                        <a:rPr lang="en-US" sz="1800" kern="1200" baseline="0" dirty="0" smtClean="0">
                          <a:solidFill>
                            <a:schemeClr val="dk1"/>
                          </a:solidFill>
                          <a:latin typeface="+mn-lt"/>
                          <a:ea typeface="+mn-ea"/>
                          <a:cs typeface="+mn-cs"/>
                        </a:rPr>
                        <a:t>Ken Frank</a:t>
                      </a:r>
                      <a:endParaRPr lang="en-US" sz="2000" dirty="0"/>
                    </a:p>
                  </a:txBody>
                  <a:tcPr/>
                </a:tc>
                <a:tc>
                  <a:txBody>
                    <a:bodyPr/>
                    <a:lstStyle/>
                    <a:p>
                      <a:r>
                        <a:rPr lang="en-US" sz="1800" kern="1200" baseline="0" dirty="0" smtClean="0">
                          <a:solidFill>
                            <a:schemeClr val="dk1"/>
                          </a:solidFill>
                          <a:latin typeface="+mn-lt"/>
                          <a:ea typeface="+mn-ea"/>
                          <a:cs typeface="+mn-cs"/>
                        </a:rPr>
                        <a:t>4/15/97</a:t>
                      </a:r>
                      <a:endParaRPr lang="en-US" sz="2000" dirty="0"/>
                    </a:p>
                  </a:txBody>
                  <a:tcPr/>
                </a:tc>
              </a:tr>
              <a:tr h="370840">
                <a:tc>
                  <a:txBody>
                    <a:bodyPr/>
                    <a:lstStyle/>
                    <a:p>
                      <a:r>
                        <a:rPr lang="en-US" sz="2000" smtClean="0"/>
                        <a:t>Northwest</a:t>
                      </a:r>
                      <a:endParaRPr lang="en-US" sz="2000" dirty="0"/>
                    </a:p>
                  </a:txBody>
                  <a:tcPr/>
                </a:tc>
                <a:tc>
                  <a:txBody>
                    <a:bodyPr/>
                    <a:lstStyle/>
                    <a:p>
                      <a:r>
                        <a:rPr lang="en-US" sz="1800" kern="1200" baseline="0" dirty="0" smtClean="0">
                          <a:solidFill>
                            <a:schemeClr val="dk1"/>
                          </a:solidFill>
                          <a:latin typeface="+mn-lt"/>
                          <a:ea typeface="+mn-ea"/>
                          <a:cs typeface="+mn-cs"/>
                        </a:rPr>
                        <a:t>Dab Smith</a:t>
                      </a:r>
                      <a:endParaRPr lang="en-US" sz="2000" dirty="0"/>
                    </a:p>
                  </a:txBody>
                  <a:tcPr/>
                </a:tc>
                <a:tc>
                  <a:txBody>
                    <a:bodyPr/>
                    <a:lstStyle/>
                    <a:p>
                      <a:r>
                        <a:rPr lang="en-US" sz="1800" kern="1200" baseline="0" dirty="0" smtClean="0">
                          <a:solidFill>
                            <a:schemeClr val="dk1"/>
                          </a:solidFill>
                          <a:latin typeface="+mn-lt"/>
                          <a:ea typeface="+mn-ea"/>
                          <a:cs typeface="+mn-cs"/>
                        </a:rPr>
                        <a:t>Dab Smith</a:t>
                      </a:r>
                      <a:endParaRPr lang="en-US" sz="2000" dirty="0"/>
                    </a:p>
                  </a:txBody>
                  <a:tcPr/>
                </a:tc>
                <a:tc>
                  <a:txBody>
                    <a:bodyPr/>
                    <a:lstStyle/>
                    <a:p>
                      <a:r>
                        <a:rPr lang="en-US" sz="1800" kern="1200" baseline="0" dirty="0" smtClean="0">
                          <a:solidFill>
                            <a:schemeClr val="dk1"/>
                          </a:solidFill>
                          <a:latin typeface="+mn-lt"/>
                          <a:ea typeface="+mn-ea"/>
                          <a:cs typeface="+mn-cs"/>
                        </a:rPr>
                        <a:t>7/7/2001</a:t>
                      </a:r>
                      <a:endParaRPr lang="en-US" sz="2000" dirty="0"/>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Design Phases</a:t>
            </a:r>
            <a:endParaRPr lang="en-US" dirty="0"/>
          </a:p>
        </p:txBody>
      </p:sp>
      <p:sp>
        <p:nvSpPr>
          <p:cNvPr id="3" name="Content Placeholder 2"/>
          <p:cNvSpPr>
            <a:spLocks noGrp="1"/>
          </p:cNvSpPr>
          <p:nvPr>
            <p:ph idx="1"/>
          </p:nvPr>
        </p:nvSpPr>
        <p:spPr/>
        <p:txBody>
          <a:bodyPr/>
          <a:lstStyle/>
          <a:p>
            <a:r>
              <a:rPr lang="en-US" sz="2400" dirty="0" smtClean="0"/>
              <a:t>Traditionally, data modeling has been split into two phases:</a:t>
            </a:r>
          </a:p>
          <a:p>
            <a:pPr lvl="1"/>
            <a:r>
              <a:rPr lang="en-US" sz="2000" dirty="0" smtClean="0"/>
              <a:t>the </a:t>
            </a:r>
            <a:r>
              <a:rPr lang="en-US" sz="2000" i="1" dirty="0" smtClean="0">
                <a:solidFill>
                  <a:srgbClr val="C00000"/>
                </a:solidFill>
              </a:rPr>
              <a:t>logical design</a:t>
            </a:r>
            <a:r>
              <a:rPr lang="en-US" sz="2000" dirty="0" smtClean="0"/>
              <a:t> (Conceptual Model, i.e. ERD) and </a:t>
            </a:r>
          </a:p>
          <a:p>
            <a:pPr lvl="1"/>
            <a:r>
              <a:rPr lang="en-US" sz="2000" dirty="0" smtClean="0"/>
              <a:t>the </a:t>
            </a:r>
            <a:r>
              <a:rPr lang="en-US" sz="2000" i="1" dirty="0" smtClean="0">
                <a:solidFill>
                  <a:srgbClr val="C00000"/>
                </a:solidFill>
              </a:rPr>
              <a:t>physical design</a:t>
            </a:r>
            <a:r>
              <a:rPr lang="en-US" sz="2000" dirty="0" smtClean="0"/>
              <a:t> (SQL DDL Layer &amp; Physical Layer).</a:t>
            </a:r>
          </a:p>
          <a:p>
            <a:r>
              <a:rPr lang="en-US" sz="2400" dirty="0" smtClean="0"/>
              <a:t>However, after spending countless hours designing relation databases and listening to several lectures on database design the authors are convinced that there are three phases to database design.</a:t>
            </a:r>
          </a:p>
          <a:p>
            <a:pPr lvl="1"/>
            <a:r>
              <a:rPr lang="en-US" sz="2000" dirty="0" smtClean="0"/>
              <a:t>Conceptual model</a:t>
            </a:r>
          </a:p>
          <a:p>
            <a:pPr lvl="1"/>
            <a:r>
              <a:rPr lang="en-US" sz="2000" dirty="0" smtClean="0"/>
              <a:t>SQL DDL Layer</a:t>
            </a:r>
          </a:p>
          <a:p>
            <a:pPr lvl="1"/>
            <a:r>
              <a:rPr lang="en-US" sz="2000" dirty="0" smtClean="0"/>
              <a:t>Physical Layer</a:t>
            </a:r>
          </a:p>
          <a:p>
            <a:r>
              <a:rPr lang="en-US" sz="2400" b="1" dirty="0" smtClean="0"/>
              <a:t>See the next Slides for details.</a:t>
            </a:r>
          </a:p>
          <a:p>
            <a:pPr lvl="1"/>
            <a:endParaRPr lang="en-US" sz="20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Model</a:t>
            </a:r>
            <a:endParaRPr lang="en-US" dirty="0"/>
          </a:p>
        </p:txBody>
      </p:sp>
      <p:sp>
        <p:nvSpPr>
          <p:cNvPr id="3" name="Content Placeholder 2"/>
          <p:cNvSpPr>
            <a:spLocks noGrp="1"/>
          </p:cNvSpPr>
          <p:nvPr>
            <p:ph idx="1"/>
          </p:nvPr>
        </p:nvSpPr>
        <p:spPr/>
        <p:txBody>
          <a:bodyPr/>
          <a:lstStyle/>
          <a:p>
            <a:r>
              <a:rPr lang="en-US" sz="2400" dirty="0" smtClean="0"/>
              <a:t>The first phase digests the organizational requirements and identifies the </a:t>
            </a:r>
            <a:r>
              <a:rPr lang="en-US" sz="2400" i="1" dirty="0" smtClean="0">
                <a:solidFill>
                  <a:srgbClr val="C00000"/>
                </a:solidFill>
              </a:rPr>
              <a:t>entities</a:t>
            </a:r>
            <a:r>
              <a:rPr lang="en-US" sz="2400" dirty="0" smtClean="0"/>
              <a:t>, their </a:t>
            </a:r>
            <a:r>
              <a:rPr lang="en-US" sz="2400" i="1" dirty="0" smtClean="0">
                <a:solidFill>
                  <a:srgbClr val="C00000"/>
                </a:solidFill>
              </a:rPr>
              <a:t>attributes</a:t>
            </a:r>
            <a:r>
              <a:rPr lang="en-US" sz="2400" dirty="0" smtClean="0"/>
              <a:t>, and their </a:t>
            </a:r>
            <a:r>
              <a:rPr lang="en-US" sz="2400" i="1" dirty="0" smtClean="0">
                <a:solidFill>
                  <a:srgbClr val="C00000"/>
                </a:solidFill>
              </a:rPr>
              <a:t>relationships</a:t>
            </a:r>
            <a:r>
              <a:rPr lang="en-US" sz="2400" dirty="0" smtClean="0"/>
              <a:t>.</a:t>
            </a:r>
          </a:p>
          <a:p>
            <a:r>
              <a:rPr lang="en-US" sz="2400" dirty="0" smtClean="0"/>
              <a:t>The conceptual diagram model is great for understanding, communicating, and verifying the organization’s requirements.</a:t>
            </a:r>
          </a:p>
          <a:p>
            <a:r>
              <a:rPr lang="en-US" sz="2400" dirty="0" smtClean="0"/>
              <a:t>Visio or some similar diagramming tool can assist to provide a visual aspect to the conceptual model.</a:t>
            </a:r>
          </a:p>
          <a:p>
            <a:r>
              <a:rPr lang="en-US" sz="2400" dirty="0" smtClean="0"/>
              <a:t>At this layer, the design is </a:t>
            </a:r>
            <a:r>
              <a:rPr lang="en-US" sz="2400" i="1" dirty="0" smtClean="0">
                <a:solidFill>
                  <a:srgbClr val="C00000"/>
                </a:solidFill>
              </a:rPr>
              <a:t>implementation-independent</a:t>
            </a:r>
            <a:r>
              <a:rPr lang="en-US" sz="2400" dirty="0" smtClean="0"/>
              <a:t>: It could end up on Oracle, SQL Server, or even Access.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DDL Layer</a:t>
            </a:r>
            <a:endParaRPr lang="en-US" dirty="0"/>
          </a:p>
        </p:txBody>
      </p:sp>
      <p:sp>
        <p:nvSpPr>
          <p:cNvPr id="3" name="Content Placeholder 2"/>
          <p:cNvSpPr>
            <a:spLocks noGrp="1"/>
          </p:cNvSpPr>
          <p:nvPr>
            <p:ph idx="1"/>
          </p:nvPr>
        </p:nvSpPr>
        <p:spPr/>
        <p:txBody>
          <a:bodyPr/>
          <a:lstStyle/>
          <a:p>
            <a:r>
              <a:rPr lang="en-US" sz="2400" dirty="0" smtClean="0"/>
              <a:t>This phase concentrates on </a:t>
            </a:r>
            <a:r>
              <a:rPr lang="en-US" sz="2400" i="1" dirty="0" smtClean="0">
                <a:solidFill>
                  <a:srgbClr val="C00000"/>
                </a:solidFill>
              </a:rPr>
              <a:t>performance</a:t>
            </a:r>
            <a:r>
              <a:rPr lang="en-US" sz="2400" dirty="0" smtClean="0"/>
              <a:t> without losing the fidelity of the logical model as it applies the design to a specific version of a database engine — SQL Server 2012, for example, </a:t>
            </a:r>
            <a:r>
              <a:rPr lang="en-US" sz="2400" i="1" dirty="0" smtClean="0">
                <a:solidFill>
                  <a:srgbClr val="C00000"/>
                </a:solidFill>
              </a:rPr>
              <a:t>generating the DDL</a:t>
            </a:r>
            <a:r>
              <a:rPr lang="en-US" sz="2400" dirty="0" smtClean="0"/>
              <a:t> for the actual tables, keys, and attributes.</a:t>
            </a:r>
          </a:p>
          <a:p>
            <a:r>
              <a:rPr lang="en-US" sz="2400" dirty="0" smtClean="0"/>
              <a:t>Typically, the SQL DDL Layer generalizes some entities and replaces some natural keys with surrogate computer-generated keys.</a:t>
            </a:r>
          </a:p>
          <a:p>
            <a:r>
              <a:rPr lang="en-US" sz="2400" dirty="0" smtClean="0"/>
              <a:t>Typically, database developers realize the need for </a:t>
            </a:r>
            <a:r>
              <a:rPr lang="en-US" sz="2400" i="1" dirty="0" smtClean="0">
                <a:solidFill>
                  <a:srgbClr val="C00000"/>
                </a:solidFill>
              </a:rPr>
              <a:t>additional tables (entities)</a:t>
            </a:r>
            <a:r>
              <a:rPr lang="en-US" sz="2400" dirty="0" smtClean="0"/>
              <a:t> and their </a:t>
            </a:r>
            <a:r>
              <a:rPr lang="en-US" sz="2400" i="1" dirty="0" smtClean="0">
                <a:solidFill>
                  <a:srgbClr val="C00000"/>
                </a:solidFill>
              </a:rPr>
              <a:t>corresponding attributes</a:t>
            </a:r>
            <a:r>
              <a:rPr lang="en-US" sz="2400" dirty="0" smtClean="0"/>
              <a:t> and </a:t>
            </a:r>
            <a:r>
              <a:rPr lang="en-US" sz="2400" i="1" dirty="0" smtClean="0">
                <a:solidFill>
                  <a:srgbClr val="C00000"/>
                </a:solidFill>
              </a:rPr>
              <a:t>keys</a:t>
            </a:r>
            <a:r>
              <a:rPr lang="en-US" sz="2400" dirty="0" smtClean="0"/>
              <a:t>.</a:t>
            </a:r>
          </a:p>
          <a:p>
            <a:r>
              <a:rPr lang="en-US" sz="2400" dirty="0" smtClean="0"/>
              <a:t>As a result, the SQL DDL layer might look different than the conceptual model.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Layer</a:t>
            </a:r>
            <a:endParaRPr lang="en-US" dirty="0"/>
          </a:p>
        </p:txBody>
      </p:sp>
      <p:sp>
        <p:nvSpPr>
          <p:cNvPr id="3" name="Content Placeholder 2"/>
          <p:cNvSpPr>
            <a:spLocks noGrp="1"/>
          </p:cNvSpPr>
          <p:nvPr>
            <p:ph idx="1"/>
          </p:nvPr>
        </p:nvSpPr>
        <p:spPr/>
        <p:txBody>
          <a:bodyPr/>
          <a:lstStyle/>
          <a:p>
            <a:r>
              <a:rPr lang="en-US" sz="2400" dirty="0" smtClean="0"/>
              <a:t>The implementation phase considers how the data will be physically stored on the disk subsystems using </a:t>
            </a:r>
            <a:r>
              <a:rPr lang="en-US" sz="2400" i="1" dirty="0" smtClean="0">
                <a:solidFill>
                  <a:srgbClr val="C00000"/>
                </a:solidFill>
              </a:rPr>
              <a:t>indexes</a:t>
            </a:r>
            <a:r>
              <a:rPr lang="en-US" sz="2400" dirty="0" smtClean="0"/>
              <a:t>, </a:t>
            </a:r>
            <a:r>
              <a:rPr lang="en-US" sz="2400" i="1" dirty="0" smtClean="0">
                <a:solidFill>
                  <a:srgbClr val="C00000"/>
                </a:solidFill>
              </a:rPr>
              <a:t>partitioning</a:t>
            </a:r>
            <a:r>
              <a:rPr lang="en-US" sz="2400" dirty="0" smtClean="0"/>
              <a:t>, and </a:t>
            </a:r>
            <a:r>
              <a:rPr lang="en-US" sz="2400" i="1" dirty="0" smtClean="0">
                <a:solidFill>
                  <a:srgbClr val="C00000"/>
                </a:solidFill>
              </a:rPr>
              <a:t>materialized views</a:t>
            </a:r>
            <a:r>
              <a:rPr lang="en-US" sz="2400" dirty="0" smtClean="0"/>
              <a:t>.</a:t>
            </a:r>
          </a:p>
          <a:p>
            <a:r>
              <a:rPr lang="en-US" sz="2400" dirty="0" smtClean="0"/>
              <a:t>Changes made to this layer </a:t>
            </a:r>
            <a:r>
              <a:rPr lang="en-US" sz="2400" i="1" dirty="0" smtClean="0">
                <a:solidFill>
                  <a:srgbClr val="C00000"/>
                </a:solidFill>
              </a:rPr>
              <a:t>won’t affect</a:t>
            </a:r>
            <a:r>
              <a:rPr lang="en-US" sz="2400" dirty="0" smtClean="0"/>
              <a:t> how the data is </a:t>
            </a:r>
            <a:r>
              <a:rPr lang="en-US" sz="2400" u="sng" dirty="0" smtClean="0"/>
              <a:t>accessed</a:t>
            </a:r>
            <a:r>
              <a:rPr lang="en-US" sz="2400" dirty="0" smtClean="0"/>
              <a:t>, only how it’s </a:t>
            </a:r>
            <a:r>
              <a:rPr lang="en-US" sz="2400" u="sng" dirty="0" smtClean="0"/>
              <a:t>stored</a:t>
            </a:r>
            <a:r>
              <a:rPr lang="en-US" sz="2400" dirty="0" smtClean="0"/>
              <a:t> on the disk.</a:t>
            </a:r>
          </a:p>
          <a:p>
            <a:r>
              <a:rPr lang="en-US" sz="2400" dirty="0" smtClean="0"/>
              <a:t>The physical layer ranges from simple, for small databases (under 20Gb), to complex, with </a:t>
            </a:r>
            <a:r>
              <a:rPr lang="en-US" sz="2400" i="1" dirty="0" smtClean="0">
                <a:solidFill>
                  <a:srgbClr val="C00000"/>
                </a:solidFill>
              </a:rPr>
              <a:t>multiple </a:t>
            </a:r>
            <a:r>
              <a:rPr lang="en-US" sz="2400" i="1" dirty="0" err="1" smtClean="0">
                <a:solidFill>
                  <a:srgbClr val="C00000"/>
                </a:solidFill>
              </a:rPr>
              <a:t>filegroups</a:t>
            </a:r>
            <a:r>
              <a:rPr lang="en-US" sz="2400" dirty="0" smtClean="0"/>
              <a:t>, indexed views, and </a:t>
            </a:r>
            <a:r>
              <a:rPr lang="en-US" sz="2400" i="1" dirty="0" smtClean="0">
                <a:solidFill>
                  <a:srgbClr val="C00000"/>
                </a:solidFill>
              </a:rPr>
              <a:t>data routing partitions</a:t>
            </a:r>
            <a:r>
              <a:rPr lang="en-US" sz="2400" dirty="0" smtClean="0"/>
              <a:t>.</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Implementing a database without working through the SQL DLL Layer </a:t>
            </a:r>
            <a:r>
              <a:rPr lang="en-US" sz="2400" u="sng" dirty="0" smtClean="0"/>
              <a:t>design phase</a:t>
            </a:r>
            <a:r>
              <a:rPr lang="en-US" sz="2400" dirty="0" smtClean="0"/>
              <a:t> is a certain path to a </a:t>
            </a:r>
            <a:r>
              <a:rPr lang="en-US" sz="2400" i="1" dirty="0" smtClean="0">
                <a:solidFill>
                  <a:srgbClr val="C00000"/>
                </a:solidFill>
              </a:rPr>
              <a:t>poorly performing</a:t>
            </a:r>
            <a:r>
              <a:rPr lang="en-US" sz="2400" dirty="0" smtClean="0"/>
              <a:t> database.</a:t>
            </a:r>
          </a:p>
          <a:p>
            <a:r>
              <a:rPr lang="en-US" sz="2400" dirty="0" smtClean="0"/>
              <a:t>Many database purists didn’t care to learn SQL Server implement conceptual designs only to blame SQL Server for the </a:t>
            </a:r>
            <a:r>
              <a:rPr lang="en-US" sz="2400" i="1" dirty="0" smtClean="0">
                <a:solidFill>
                  <a:srgbClr val="C00000"/>
                </a:solidFill>
              </a:rPr>
              <a:t>horrible performance</a:t>
            </a:r>
            <a:r>
              <a:rPr lang="en-US" sz="2400" dirty="0" smtClean="0"/>
              <a:t>.</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Early DBMSs</a:t>
            </a:r>
            <a:endParaRPr lang="en-US" dirty="0"/>
          </a:p>
        </p:txBody>
      </p:sp>
      <p:pic>
        <p:nvPicPr>
          <p:cNvPr id="10242" name="Picture 2"/>
          <p:cNvPicPr>
            <a:picLocks noChangeAspect="1" noChangeArrowheads="1"/>
          </p:cNvPicPr>
          <p:nvPr/>
        </p:nvPicPr>
        <p:blipFill>
          <a:blip r:embed="rId2" cstate="print"/>
          <a:srcRect/>
          <a:stretch>
            <a:fillRect/>
          </a:stretch>
        </p:blipFill>
        <p:spPr bwMode="auto">
          <a:xfrm>
            <a:off x="1865313" y="2008188"/>
            <a:ext cx="5413375" cy="28416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Model Idea</a:t>
            </a:r>
            <a:endParaRPr lang="en-US" dirty="0"/>
          </a:p>
        </p:txBody>
      </p:sp>
      <p:pic>
        <p:nvPicPr>
          <p:cNvPr id="11266" name="Picture 2"/>
          <p:cNvPicPr>
            <a:picLocks noChangeAspect="1" noChangeArrowheads="1"/>
          </p:cNvPicPr>
          <p:nvPr/>
        </p:nvPicPr>
        <p:blipFill>
          <a:blip r:embed="rId2" cstate="print"/>
          <a:srcRect/>
          <a:stretch>
            <a:fillRect/>
          </a:stretch>
        </p:blipFill>
        <p:spPr bwMode="auto">
          <a:xfrm>
            <a:off x="1598613" y="2112963"/>
            <a:ext cx="5946775" cy="263207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Model</a:t>
            </a:r>
            <a:endParaRPr lang="en-US" dirty="0"/>
          </a:p>
        </p:txBody>
      </p:sp>
      <p:sp>
        <p:nvSpPr>
          <p:cNvPr id="3" name="Content Placeholder 2"/>
          <p:cNvSpPr>
            <a:spLocks noGrp="1"/>
          </p:cNvSpPr>
          <p:nvPr>
            <p:ph idx="1"/>
          </p:nvPr>
        </p:nvSpPr>
        <p:spPr/>
        <p:txBody>
          <a:bodyPr/>
          <a:lstStyle/>
          <a:p>
            <a:r>
              <a:rPr lang="en-US" sz="2400" dirty="0" smtClean="0"/>
              <a:t>Structure: The definition of the database’s relations and their contents independent of their physical representation.</a:t>
            </a:r>
          </a:p>
          <a:p>
            <a:r>
              <a:rPr lang="en-US" sz="2400" dirty="0" smtClean="0"/>
              <a:t>Integrity: Ensure the database’s contents satisfy constraints.</a:t>
            </a:r>
          </a:p>
          <a:p>
            <a:r>
              <a:rPr lang="en-US" sz="2400" dirty="0" smtClean="0"/>
              <a:t>Manipulation: Programming interface for accessing and modifying a database's contents. </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Independence</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658813" y="1987550"/>
            <a:ext cx="7826375" cy="38036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Model: Relations &amp; </a:t>
            </a:r>
            <a:r>
              <a:rPr lang="en-US" sz="4200" dirty="0" err="1" smtClean="0"/>
              <a:t>Tuples</a:t>
            </a:r>
            <a:endParaRPr lang="en-US" sz="4200" dirty="0"/>
          </a:p>
        </p:txBody>
      </p:sp>
      <p:sp>
        <p:nvSpPr>
          <p:cNvPr id="3" name="Content Placeholder 2"/>
          <p:cNvSpPr>
            <a:spLocks noGrp="1"/>
          </p:cNvSpPr>
          <p:nvPr>
            <p:ph idx="1"/>
          </p:nvPr>
        </p:nvSpPr>
        <p:spPr>
          <a:xfrm>
            <a:off x="457200" y="1600200"/>
            <a:ext cx="4114800" cy="4525963"/>
          </a:xfrm>
        </p:spPr>
        <p:txBody>
          <a:bodyPr/>
          <a:lstStyle/>
          <a:p>
            <a:r>
              <a:rPr lang="en-US" sz="2400" dirty="0" smtClean="0"/>
              <a:t>A </a:t>
            </a:r>
            <a:r>
              <a:rPr lang="en-US" sz="2400" i="1" dirty="0" smtClean="0">
                <a:solidFill>
                  <a:srgbClr val="C00000"/>
                </a:solidFill>
              </a:rPr>
              <a:t>relation</a:t>
            </a:r>
            <a:r>
              <a:rPr lang="en-US" sz="2400" dirty="0" smtClean="0"/>
              <a:t> is an </a:t>
            </a:r>
            <a:r>
              <a:rPr lang="en-US" sz="2400" u="sng" dirty="0" smtClean="0"/>
              <a:t>unordered set</a:t>
            </a:r>
            <a:r>
              <a:rPr lang="en-US" sz="2400" dirty="0" smtClean="0"/>
              <a:t> that contain the relationship of </a:t>
            </a:r>
            <a:r>
              <a:rPr lang="en-US" sz="2400" u="sng" dirty="0" smtClean="0"/>
              <a:t>attributes</a:t>
            </a:r>
            <a:r>
              <a:rPr lang="en-US" sz="2400" dirty="0" smtClean="0"/>
              <a:t> that represent entities.</a:t>
            </a:r>
          </a:p>
          <a:p>
            <a:r>
              <a:rPr lang="en-US" sz="2400" dirty="0" smtClean="0"/>
              <a:t>A </a:t>
            </a:r>
            <a:r>
              <a:rPr lang="en-US" sz="2400" i="1" dirty="0" err="1" smtClean="0">
                <a:solidFill>
                  <a:srgbClr val="C00000"/>
                </a:solidFill>
              </a:rPr>
              <a:t>tuple</a:t>
            </a:r>
            <a:r>
              <a:rPr lang="en-US" sz="2400" dirty="0" smtClean="0"/>
              <a:t> is a set of </a:t>
            </a:r>
            <a:r>
              <a:rPr lang="en-US" sz="2400" u="sng" dirty="0" smtClean="0"/>
              <a:t>attribute values</a:t>
            </a:r>
            <a:r>
              <a:rPr lang="en-US" sz="2400" dirty="0" smtClean="0"/>
              <a:t> (also known as its domain) in the relation. </a:t>
            </a:r>
          </a:p>
          <a:p>
            <a:pPr lvl="1"/>
            <a:r>
              <a:rPr lang="en-US" sz="2000" dirty="0" smtClean="0"/>
              <a:t>Values are (normally) atomic/scalar. </a:t>
            </a:r>
          </a:p>
          <a:p>
            <a:pPr lvl="1"/>
            <a:r>
              <a:rPr lang="en-US" sz="2000" dirty="0" smtClean="0"/>
              <a:t>The special value NULL is a member of every domain (if allowed). </a:t>
            </a:r>
          </a:p>
          <a:p>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4724400" y="2082800"/>
            <a:ext cx="3940175" cy="32512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Model: Primary Keys</a:t>
            </a:r>
            <a:endParaRPr lang="en-US" sz="4200" dirty="0"/>
          </a:p>
        </p:txBody>
      </p:sp>
      <p:pic>
        <p:nvPicPr>
          <p:cNvPr id="3074" name="Picture 2"/>
          <p:cNvPicPr>
            <a:picLocks noChangeAspect="1" noChangeArrowheads="1"/>
          </p:cNvPicPr>
          <p:nvPr/>
        </p:nvPicPr>
        <p:blipFill>
          <a:blip r:embed="rId2" cstate="print"/>
          <a:srcRect/>
          <a:stretch>
            <a:fillRect/>
          </a:stretch>
        </p:blipFill>
        <p:spPr bwMode="auto">
          <a:xfrm>
            <a:off x="933450" y="2143125"/>
            <a:ext cx="7277100" cy="31146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Model: Foreign Keys</a:t>
            </a:r>
            <a:endParaRPr lang="en-US" sz="4200" dirty="0"/>
          </a:p>
        </p:txBody>
      </p:sp>
      <p:pic>
        <p:nvPicPr>
          <p:cNvPr id="4098" name="Picture 2"/>
          <p:cNvPicPr>
            <a:picLocks noChangeAspect="1" noChangeArrowheads="1"/>
          </p:cNvPicPr>
          <p:nvPr/>
        </p:nvPicPr>
        <p:blipFill>
          <a:blip r:embed="rId2" cstate="print"/>
          <a:srcRect/>
          <a:stretch>
            <a:fillRect/>
          </a:stretch>
        </p:blipFill>
        <p:spPr bwMode="auto">
          <a:xfrm>
            <a:off x="2590800" y="1828800"/>
            <a:ext cx="3940175" cy="869950"/>
          </a:xfrm>
          <a:prstGeom prst="rect">
            <a:avLst/>
          </a:prstGeom>
          <a:noFill/>
          <a:ln w="9525">
            <a:noFill/>
            <a:miter lim="800000"/>
            <a:headEnd/>
            <a:tailEnd/>
          </a:ln>
        </p:spPr>
      </p:pic>
      <p:pic>
        <p:nvPicPr>
          <p:cNvPr id="4100" name="Picture 4"/>
          <p:cNvPicPr>
            <a:picLocks noChangeAspect="1" noChangeArrowheads="1"/>
          </p:cNvPicPr>
          <p:nvPr/>
        </p:nvPicPr>
        <p:blipFill>
          <a:blip r:embed="rId3" cstate="print"/>
          <a:srcRect/>
          <a:stretch>
            <a:fillRect/>
          </a:stretch>
        </p:blipFill>
        <p:spPr bwMode="auto">
          <a:xfrm>
            <a:off x="906463" y="2987675"/>
            <a:ext cx="7331075" cy="31083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Model: Constraints</a:t>
            </a:r>
            <a:endParaRPr lang="en-US" sz="4200" dirty="0"/>
          </a:p>
        </p:txBody>
      </p:sp>
      <p:pic>
        <p:nvPicPr>
          <p:cNvPr id="6" name="Picture 2"/>
          <p:cNvPicPr>
            <a:picLocks noChangeAspect="1" noChangeArrowheads="1"/>
          </p:cNvPicPr>
          <p:nvPr/>
        </p:nvPicPr>
        <p:blipFill>
          <a:blip r:embed="rId2" cstate="print"/>
          <a:srcRect/>
          <a:stretch>
            <a:fillRect/>
          </a:stretch>
        </p:blipFill>
        <p:spPr bwMode="auto">
          <a:xfrm>
            <a:off x="871538" y="2149475"/>
            <a:ext cx="7400925" cy="326072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Data Manipulation Languages (DMLs) </a:t>
            </a:r>
            <a:endParaRPr lang="en-US" sz="4200" dirty="0"/>
          </a:p>
        </p:txBody>
      </p:sp>
      <p:pic>
        <p:nvPicPr>
          <p:cNvPr id="6147" name="Picture 3"/>
          <p:cNvPicPr>
            <a:picLocks noChangeAspect="1" noChangeArrowheads="1"/>
          </p:cNvPicPr>
          <p:nvPr/>
        </p:nvPicPr>
        <p:blipFill>
          <a:blip r:embed="rId2" cstate="print"/>
          <a:srcRect/>
          <a:stretch>
            <a:fillRect/>
          </a:stretch>
        </p:blipFill>
        <p:spPr bwMode="auto">
          <a:xfrm>
            <a:off x="1038225" y="2011363"/>
            <a:ext cx="7067550" cy="28352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Algebra</a:t>
            </a:r>
            <a:endParaRPr lang="en-US" sz="4200" dirty="0"/>
          </a:p>
        </p:txBody>
      </p:sp>
      <p:pic>
        <p:nvPicPr>
          <p:cNvPr id="6146" name="Picture 2"/>
          <p:cNvPicPr>
            <a:picLocks noChangeAspect="1" noChangeArrowheads="1"/>
          </p:cNvPicPr>
          <p:nvPr/>
        </p:nvPicPr>
        <p:blipFill>
          <a:blip r:embed="rId2" cstate="print"/>
          <a:srcRect/>
          <a:stretch>
            <a:fillRect/>
          </a:stretch>
        </p:blipFill>
        <p:spPr bwMode="auto">
          <a:xfrm>
            <a:off x="968375" y="1871663"/>
            <a:ext cx="7207250" cy="311467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Algebra: Extra Operators</a:t>
            </a:r>
            <a:endParaRPr lang="en-US" sz="4200" dirty="0"/>
          </a:p>
        </p:txBody>
      </p:sp>
      <p:pic>
        <p:nvPicPr>
          <p:cNvPr id="7170" name="Picture 2"/>
          <p:cNvPicPr>
            <a:picLocks noChangeAspect="1" noChangeArrowheads="1"/>
          </p:cNvPicPr>
          <p:nvPr/>
        </p:nvPicPr>
        <p:blipFill>
          <a:blip r:embed="rId2" cstate="print"/>
          <a:srcRect/>
          <a:stretch>
            <a:fillRect/>
          </a:stretch>
        </p:blipFill>
        <p:spPr bwMode="auto">
          <a:xfrm>
            <a:off x="2782888" y="2290763"/>
            <a:ext cx="3578225" cy="22764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Relational Model: Queries</a:t>
            </a:r>
            <a:endParaRPr lang="en-US" sz="4200" dirty="0"/>
          </a:p>
        </p:txBody>
      </p:sp>
      <p:pic>
        <p:nvPicPr>
          <p:cNvPr id="8194" name="Picture 2"/>
          <p:cNvPicPr>
            <a:picLocks noChangeAspect="1" noChangeArrowheads="1"/>
          </p:cNvPicPr>
          <p:nvPr/>
        </p:nvPicPr>
        <p:blipFill>
          <a:blip r:embed="rId2" cstate="print"/>
          <a:srcRect/>
          <a:stretch>
            <a:fillRect/>
          </a:stretch>
        </p:blipFill>
        <p:spPr bwMode="auto">
          <a:xfrm>
            <a:off x="947738" y="2159000"/>
            <a:ext cx="7248525" cy="31750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Vector Data Model</a:t>
            </a:r>
            <a:endParaRPr lang="en-US" sz="4200" dirty="0"/>
          </a:p>
        </p:txBody>
      </p:sp>
      <p:pic>
        <p:nvPicPr>
          <p:cNvPr id="9219" name="Picture 3"/>
          <p:cNvPicPr>
            <a:picLocks noChangeAspect="1" noChangeArrowheads="1"/>
          </p:cNvPicPr>
          <p:nvPr/>
        </p:nvPicPr>
        <p:blipFill>
          <a:blip r:embed="rId2" cstate="print"/>
          <a:srcRect/>
          <a:stretch>
            <a:fillRect/>
          </a:stretch>
        </p:blipFill>
        <p:spPr bwMode="auto">
          <a:xfrm>
            <a:off x="660400" y="2028825"/>
            <a:ext cx="7823200" cy="360997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Relation? </a:t>
            </a:r>
            <a:r>
              <a:rPr lang="en-US" smtClean="0"/>
              <a:t>[2]</a:t>
            </a:r>
            <a:endParaRPr lang="en-US" dirty="0"/>
          </a:p>
        </p:txBody>
      </p:sp>
      <p:sp>
        <p:nvSpPr>
          <p:cNvPr id="3" name="Content Placeholder 2"/>
          <p:cNvSpPr>
            <a:spLocks noGrp="1"/>
          </p:cNvSpPr>
          <p:nvPr>
            <p:ph idx="1"/>
          </p:nvPr>
        </p:nvSpPr>
        <p:spPr/>
        <p:txBody>
          <a:bodyPr/>
          <a:lstStyle/>
          <a:p>
            <a:r>
              <a:rPr lang="en-US" sz="2400" dirty="0" smtClean="0"/>
              <a:t>Given sets S1, S2 , . . . , </a:t>
            </a:r>
            <a:r>
              <a:rPr lang="en-US" sz="2400" dirty="0" err="1" smtClean="0"/>
              <a:t>Sn</a:t>
            </a:r>
            <a:r>
              <a:rPr lang="en-US" sz="2400" dirty="0" smtClean="0"/>
              <a:t> (not necessarily distinct), </a:t>
            </a:r>
            <a:r>
              <a:rPr lang="en-US" sz="2400" i="1" dirty="0" smtClean="0">
                <a:solidFill>
                  <a:srgbClr val="C00000"/>
                </a:solidFill>
              </a:rPr>
              <a:t>R is a relation</a:t>
            </a:r>
            <a:r>
              <a:rPr lang="en-US" sz="2400" dirty="0" smtClean="0"/>
              <a:t> on these n sets if it is </a:t>
            </a:r>
            <a:r>
              <a:rPr lang="en-US" sz="2400" u="sng" dirty="0" smtClean="0"/>
              <a:t>a set of n-</a:t>
            </a:r>
            <a:r>
              <a:rPr lang="en-US" sz="2400" u="sng" dirty="0" err="1" smtClean="0"/>
              <a:t>tuples</a:t>
            </a:r>
            <a:r>
              <a:rPr lang="en-US" sz="2400" dirty="0" smtClean="0"/>
              <a:t>, the first component of which is drawn from S1, the second component from S2, and so on.</a:t>
            </a:r>
          </a:p>
          <a:p>
            <a:r>
              <a:rPr lang="en-US" sz="2400" dirty="0" smtClean="0"/>
              <a:t>More concisely, R is a subset of the </a:t>
            </a:r>
            <a:r>
              <a:rPr lang="en-US" sz="2400" i="1" dirty="0" smtClean="0">
                <a:solidFill>
                  <a:srgbClr val="C00000"/>
                </a:solidFill>
              </a:rPr>
              <a:t>Cartesian product</a:t>
            </a:r>
            <a:r>
              <a:rPr lang="en-US" sz="2400" dirty="0" smtClean="0"/>
              <a:t> </a:t>
            </a:r>
          </a:p>
          <a:p>
            <a:pPr>
              <a:buNone/>
            </a:pPr>
            <a:r>
              <a:rPr lang="en-US" sz="2400" dirty="0" smtClean="0"/>
              <a:t>	S1 × S2 × . . . × </a:t>
            </a:r>
            <a:r>
              <a:rPr lang="en-US" sz="2400" dirty="0" err="1" smtClean="0"/>
              <a:t>Sn</a:t>
            </a:r>
            <a:r>
              <a:rPr lang="en-US" sz="2400" dirty="0" smtClean="0"/>
              <a:t>.</a:t>
            </a:r>
          </a:p>
          <a:p>
            <a:r>
              <a:rPr lang="en-US" sz="2400" dirty="0" smtClean="0"/>
              <a:t>Relation R is said to be of </a:t>
            </a:r>
            <a:r>
              <a:rPr lang="en-US" sz="2400" i="1" dirty="0" smtClean="0">
                <a:solidFill>
                  <a:srgbClr val="C00000"/>
                </a:solidFill>
              </a:rPr>
              <a:t>degree</a:t>
            </a:r>
            <a:r>
              <a:rPr lang="en-US" sz="2400" dirty="0" smtClean="0"/>
              <a:t> n.</a:t>
            </a:r>
          </a:p>
          <a:p>
            <a:r>
              <a:rPr lang="en-US" sz="2400" dirty="0" smtClean="0"/>
              <a:t>Each of the sets S1, S2, . . . , </a:t>
            </a:r>
            <a:r>
              <a:rPr lang="en-US" sz="2400" dirty="0" err="1" smtClean="0"/>
              <a:t>Sn</a:t>
            </a:r>
            <a:r>
              <a:rPr lang="en-US" sz="2400" dirty="0" smtClean="0"/>
              <a:t> on which one or more relations are defined is called a </a:t>
            </a:r>
            <a:r>
              <a:rPr lang="en-US" sz="2400" i="1" dirty="0" smtClean="0">
                <a:solidFill>
                  <a:srgbClr val="C00000"/>
                </a:solidFill>
              </a:rPr>
              <a:t>domain</a:t>
            </a:r>
            <a:r>
              <a:rPr lang="en-US" sz="2400" dirty="0" smtClean="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mathematical relation</a:t>
            </a:r>
            <a:r>
              <a:rPr lang="en-US" sz="2400" dirty="0" smtClean="0"/>
              <a:t> is </a:t>
            </a:r>
            <a:r>
              <a:rPr lang="en-US" sz="2400" u="sng" dirty="0" smtClean="0"/>
              <a:t>a set</a:t>
            </a:r>
            <a:r>
              <a:rPr lang="en-US" sz="2400" dirty="0" smtClean="0"/>
              <a:t> with special properties.</a:t>
            </a:r>
          </a:p>
          <a:p>
            <a:r>
              <a:rPr lang="en-US" sz="2400" dirty="0" smtClean="0"/>
              <a:t>First, all of its </a:t>
            </a:r>
            <a:r>
              <a:rPr lang="en-US" sz="2400" i="1" dirty="0" smtClean="0">
                <a:solidFill>
                  <a:srgbClr val="C00000"/>
                </a:solidFill>
              </a:rPr>
              <a:t>elements</a:t>
            </a:r>
            <a:r>
              <a:rPr lang="en-US" sz="2400" dirty="0" smtClean="0"/>
              <a:t> are </a:t>
            </a:r>
            <a:r>
              <a:rPr lang="en-US" sz="2400" u="sng" dirty="0" err="1" smtClean="0"/>
              <a:t>tuples</a:t>
            </a:r>
            <a:r>
              <a:rPr lang="en-US" sz="2400" dirty="0" smtClean="0"/>
              <a:t>, all of </a:t>
            </a:r>
            <a:r>
              <a:rPr lang="en-US" sz="2400" u="sng" dirty="0" smtClean="0"/>
              <a:t>the same type</a:t>
            </a:r>
            <a:r>
              <a:rPr lang="en-US" sz="2400" dirty="0" smtClean="0"/>
              <a:t>.</a:t>
            </a:r>
          </a:p>
          <a:p>
            <a:r>
              <a:rPr lang="en-US" sz="2400" dirty="0" smtClean="0"/>
              <a:t>Second, it is an </a:t>
            </a:r>
            <a:r>
              <a:rPr lang="en-US" sz="2400" u="sng" dirty="0" smtClean="0"/>
              <a:t>unordered set</a:t>
            </a:r>
            <a:r>
              <a:rPr lang="en-US" sz="2400" dirty="0" smtClean="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a Relation</a:t>
            </a:r>
            <a:endParaRPr lang="en-US" dirty="0"/>
          </a:p>
        </p:txBody>
      </p:sp>
      <p:sp>
        <p:nvSpPr>
          <p:cNvPr id="3" name="Content Placeholder 2"/>
          <p:cNvSpPr>
            <a:spLocks noGrp="1"/>
          </p:cNvSpPr>
          <p:nvPr>
            <p:ph idx="1"/>
          </p:nvPr>
        </p:nvSpPr>
        <p:spPr/>
        <p:txBody>
          <a:bodyPr/>
          <a:lstStyle/>
          <a:p>
            <a:r>
              <a:rPr lang="en-US" sz="2400" dirty="0" smtClean="0"/>
              <a:t>When conceived as a table, R has the following </a:t>
            </a:r>
            <a:r>
              <a:rPr lang="en-US" sz="2400" i="1" dirty="0" smtClean="0">
                <a:solidFill>
                  <a:srgbClr val="C00000"/>
                </a:solidFill>
              </a:rPr>
              <a:t>properties</a:t>
            </a:r>
            <a:r>
              <a:rPr lang="en-US" sz="2400" dirty="0" smtClean="0"/>
              <a:t>:</a:t>
            </a:r>
          </a:p>
          <a:p>
            <a:pPr lvl="1"/>
            <a:r>
              <a:rPr lang="en-US" sz="2000" dirty="0" smtClean="0"/>
              <a:t>each </a:t>
            </a:r>
            <a:r>
              <a:rPr lang="en-US" sz="2000" i="1" dirty="0" smtClean="0">
                <a:solidFill>
                  <a:srgbClr val="C00000"/>
                </a:solidFill>
              </a:rPr>
              <a:t>row</a:t>
            </a:r>
            <a:r>
              <a:rPr lang="en-US" sz="2000" dirty="0" smtClean="0"/>
              <a:t> represents a </a:t>
            </a:r>
            <a:r>
              <a:rPr lang="en-US" sz="2000" i="1" dirty="0" err="1" smtClean="0">
                <a:solidFill>
                  <a:srgbClr val="C00000"/>
                </a:solidFill>
              </a:rPr>
              <a:t>tuple</a:t>
            </a:r>
            <a:r>
              <a:rPr lang="en-US" sz="2000" dirty="0" smtClean="0"/>
              <a:t> of R;</a:t>
            </a:r>
          </a:p>
          <a:p>
            <a:pPr lvl="1"/>
            <a:r>
              <a:rPr lang="en-US" sz="2000" dirty="0" smtClean="0"/>
              <a:t>the ordering of rows is </a:t>
            </a:r>
            <a:r>
              <a:rPr lang="en-US" sz="2000" i="1" dirty="0" smtClean="0">
                <a:solidFill>
                  <a:srgbClr val="C00000"/>
                </a:solidFill>
              </a:rPr>
              <a:t>immaterial</a:t>
            </a:r>
            <a:r>
              <a:rPr lang="en-US" sz="2000" dirty="0" smtClean="0"/>
              <a:t>;</a:t>
            </a:r>
          </a:p>
          <a:p>
            <a:pPr lvl="1"/>
            <a:r>
              <a:rPr lang="en-US" sz="2000" dirty="0" smtClean="0"/>
              <a:t>all rows are </a:t>
            </a:r>
            <a:r>
              <a:rPr lang="en-US" sz="2000" i="1" dirty="0" smtClean="0">
                <a:solidFill>
                  <a:srgbClr val="C00000"/>
                </a:solidFill>
              </a:rPr>
              <a:t>distinct</a:t>
            </a:r>
            <a:r>
              <a:rPr lang="en-US" sz="2000" dirty="0" smtClean="0"/>
              <a:t> from one another in content.</a:t>
            </a:r>
          </a:p>
          <a:p>
            <a:r>
              <a:rPr lang="en-US" sz="2400" dirty="0" smtClean="0"/>
              <a:t>All of the rows (nine in this example) constitute the </a:t>
            </a:r>
            <a:r>
              <a:rPr lang="en-US" sz="2400" i="1" dirty="0" smtClean="0">
                <a:solidFill>
                  <a:srgbClr val="C00000"/>
                </a:solidFill>
              </a:rPr>
              <a:t>extension of the capabilities relation</a:t>
            </a:r>
            <a:r>
              <a:rPr lang="en-US" sz="2400" dirty="0" smtClean="0"/>
              <a:t> </a:t>
            </a:r>
            <a:r>
              <a:rPr lang="en-US" sz="2400" b="1" dirty="0" smtClean="0"/>
              <a:t>C</a:t>
            </a:r>
            <a:r>
              <a:rPr lang="en-US" sz="2400" dirty="0" smtClean="0"/>
              <a:t>.</a:t>
            </a:r>
          </a:p>
          <a:p>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895600" y="4038600"/>
            <a:ext cx="5667375" cy="2619375"/>
          </a:xfrm>
          <a:prstGeom prst="rect">
            <a:avLst/>
          </a:prstGeom>
          <a:noFill/>
          <a:ln w="9525">
            <a:noFill/>
            <a:miter lim="800000"/>
            <a:headEnd/>
            <a:tailEnd/>
          </a:ln>
        </p:spPr>
      </p:pic>
      <p:sp>
        <p:nvSpPr>
          <p:cNvPr id="5" name="Rectangle 4"/>
          <p:cNvSpPr/>
          <p:nvPr/>
        </p:nvSpPr>
        <p:spPr>
          <a:xfrm>
            <a:off x="533400" y="4766608"/>
            <a:ext cx="2743200" cy="132343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sz="2000" b="1" dirty="0" smtClean="0">
                <a:latin typeface="+mj-lt"/>
              </a:rPr>
              <a:t>C</a:t>
            </a:r>
            <a:r>
              <a:rPr lang="en-US" sz="2000" dirty="0" smtClean="0">
                <a:latin typeface="+mj-lt"/>
              </a:rPr>
              <a:t>: Providing information concerning which suppliers can supply which kinds of parts.</a:t>
            </a:r>
            <a:endParaRPr lang="en-US" sz="2000" dirty="0">
              <a:latin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a:t>
            </a:r>
            <a:endParaRPr lang="en-US" dirty="0"/>
          </a:p>
        </p:txBody>
      </p:sp>
      <p:graphicFrame>
        <p:nvGraphicFramePr>
          <p:cNvPr id="4" name="Content Placeholder 3"/>
          <p:cNvGraphicFramePr>
            <a:graphicFrameLocks noGrp="1"/>
          </p:cNvGraphicFramePr>
          <p:nvPr>
            <p:ph idx="1"/>
          </p:nvPr>
        </p:nvGraphicFramePr>
        <p:xfrm>
          <a:off x="457200" y="2286000"/>
          <a:ext cx="8229600" cy="274320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US" sz="2400" dirty="0" smtClean="0"/>
                        <a:t>Mathematical Term</a:t>
                      </a:r>
                      <a:endParaRPr lang="en-US" sz="2400" dirty="0"/>
                    </a:p>
                  </a:txBody>
                  <a:tcPr/>
                </a:tc>
                <a:tc>
                  <a:txBody>
                    <a:bodyPr/>
                    <a:lstStyle/>
                    <a:p>
                      <a:r>
                        <a:rPr lang="en-US" sz="2400" dirty="0" smtClean="0"/>
                        <a:t>Database Term</a:t>
                      </a:r>
                      <a:endParaRPr lang="en-US" sz="2400" dirty="0"/>
                    </a:p>
                  </a:txBody>
                  <a:tcPr/>
                </a:tc>
              </a:tr>
              <a:tr h="370840">
                <a:tc>
                  <a:txBody>
                    <a:bodyPr/>
                    <a:lstStyle/>
                    <a:p>
                      <a:r>
                        <a:rPr lang="en-US" sz="2400" dirty="0" smtClean="0"/>
                        <a:t>Relation of degree n</a:t>
                      </a:r>
                      <a:endParaRPr lang="en-US" sz="2400" dirty="0"/>
                    </a:p>
                  </a:txBody>
                  <a:tcPr/>
                </a:tc>
                <a:tc>
                  <a:txBody>
                    <a:bodyPr/>
                    <a:lstStyle/>
                    <a:p>
                      <a:r>
                        <a:rPr lang="en-US" sz="2400" kern="1200" baseline="0" dirty="0" smtClean="0">
                          <a:solidFill>
                            <a:schemeClr val="dk1"/>
                          </a:solidFill>
                          <a:latin typeface="+mn-lt"/>
                          <a:ea typeface="+mn-ea"/>
                          <a:cs typeface="+mn-cs"/>
                        </a:rPr>
                        <a:t>R-table with n columns</a:t>
                      </a:r>
                      <a:endParaRPr lang="en-US" sz="2400" dirty="0"/>
                    </a:p>
                  </a:txBody>
                  <a:tcPr/>
                </a:tc>
              </a:tr>
              <a:tr h="370840">
                <a:tc>
                  <a:txBody>
                    <a:bodyPr/>
                    <a:lstStyle/>
                    <a:p>
                      <a:r>
                        <a:rPr lang="en-US" sz="2400" kern="1200" baseline="0" dirty="0" smtClean="0">
                          <a:solidFill>
                            <a:schemeClr val="dk1"/>
                          </a:solidFill>
                          <a:latin typeface="+mn-lt"/>
                          <a:ea typeface="+mn-ea"/>
                          <a:cs typeface="+mn-cs"/>
                        </a:rPr>
                        <a:t>Attribute</a:t>
                      </a:r>
                      <a:endParaRPr lang="en-US" sz="2400" dirty="0"/>
                    </a:p>
                  </a:txBody>
                  <a:tcPr/>
                </a:tc>
                <a:tc>
                  <a:txBody>
                    <a:bodyPr/>
                    <a:lstStyle/>
                    <a:p>
                      <a:r>
                        <a:rPr lang="en-US" sz="2400" kern="1200" baseline="0" dirty="0" smtClean="0">
                          <a:solidFill>
                            <a:schemeClr val="dk1"/>
                          </a:solidFill>
                          <a:latin typeface="+mn-lt"/>
                          <a:ea typeface="+mn-ea"/>
                          <a:cs typeface="+mn-cs"/>
                        </a:rPr>
                        <a:t>Column of R-table</a:t>
                      </a:r>
                      <a:endParaRPr lang="en-US" sz="2400" dirty="0"/>
                    </a:p>
                  </a:txBody>
                  <a:tcPr/>
                </a:tc>
              </a:tr>
              <a:tr h="370840">
                <a:tc>
                  <a:txBody>
                    <a:bodyPr/>
                    <a:lstStyle/>
                    <a:p>
                      <a:r>
                        <a:rPr lang="en-US" sz="2400" kern="1200" baseline="0" dirty="0" smtClean="0">
                          <a:solidFill>
                            <a:schemeClr val="dk1"/>
                          </a:solidFill>
                          <a:latin typeface="+mn-lt"/>
                          <a:ea typeface="+mn-ea"/>
                          <a:cs typeface="+mn-cs"/>
                        </a:rPr>
                        <a:t>Domain</a:t>
                      </a:r>
                      <a:endParaRPr lang="en-US" sz="2400" dirty="0"/>
                    </a:p>
                  </a:txBody>
                  <a:tcPr/>
                </a:tc>
                <a:tc>
                  <a:txBody>
                    <a:bodyPr/>
                    <a:lstStyle/>
                    <a:p>
                      <a:r>
                        <a:rPr lang="en-US" sz="2400" kern="1200" baseline="0" dirty="0" smtClean="0">
                          <a:solidFill>
                            <a:schemeClr val="dk1"/>
                          </a:solidFill>
                          <a:latin typeface="+mn-lt"/>
                          <a:ea typeface="+mn-ea"/>
                          <a:cs typeface="+mn-cs"/>
                        </a:rPr>
                        <a:t>Extended data type</a:t>
                      </a:r>
                      <a:endParaRPr lang="en-US" sz="2400" dirty="0"/>
                    </a:p>
                  </a:txBody>
                  <a:tcPr/>
                </a:tc>
              </a:tr>
              <a:tr h="370840">
                <a:tc>
                  <a:txBody>
                    <a:bodyPr/>
                    <a:lstStyle/>
                    <a:p>
                      <a:r>
                        <a:rPr lang="en-US" sz="2400" kern="1200" baseline="0" dirty="0" smtClean="0">
                          <a:solidFill>
                            <a:schemeClr val="dk1"/>
                          </a:solidFill>
                          <a:latin typeface="+mn-lt"/>
                          <a:ea typeface="+mn-ea"/>
                          <a:cs typeface="+mn-cs"/>
                        </a:rPr>
                        <a:t>Tuple</a:t>
                      </a:r>
                      <a:endParaRPr lang="en-US" sz="2400" dirty="0"/>
                    </a:p>
                  </a:txBody>
                  <a:tcPr/>
                </a:tc>
                <a:tc>
                  <a:txBody>
                    <a:bodyPr/>
                    <a:lstStyle/>
                    <a:p>
                      <a:r>
                        <a:rPr lang="en-US" sz="2400" kern="1200" baseline="0" dirty="0" smtClean="0">
                          <a:solidFill>
                            <a:schemeClr val="dk1"/>
                          </a:solidFill>
                          <a:latin typeface="+mn-lt"/>
                          <a:ea typeface="+mn-ea"/>
                          <a:cs typeface="+mn-cs"/>
                        </a:rPr>
                        <a:t>Row of R-table</a:t>
                      </a:r>
                      <a:endParaRPr lang="en-US" sz="2400" dirty="0"/>
                    </a:p>
                  </a:txBody>
                  <a:tcPr/>
                </a:tc>
              </a:tr>
              <a:tr h="370840">
                <a:tc>
                  <a:txBody>
                    <a:bodyPr/>
                    <a:lstStyle/>
                    <a:p>
                      <a:r>
                        <a:rPr lang="en-US" sz="2400" kern="1200" baseline="0" dirty="0" smtClean="0">
                          <a:solidFill>
                            <a:schemeClr val="dk1"/>
                          </a:solidFill>
                          <a:latin typeface="+mn-lt"/>
                          <a:ea typeface="+mn-ea"/>
                          <a:cs typeface="+mn-cs"/>
                        </a:rPr>
                        <a:t>Cardinality of relation</a:t>
                      </a:r>
                      <a:endParaRPr lang="en-US" sz="2400" dirty="0"/>
                    </a:p>
                  </a:txBody>
                  <a:tcPr/>
                </a:tc>
                <a:tc>
                  <a:txBody>
                    <a:bodyPr/>
                    <a:lstStyle/>
                    <a:p>
                      <a:r>
                        <a:rPr lang="en-US" sz="2400" kern="1200" baseline="0" dirty="0" smtClean="0">
                          <a:solidFill>
                            <a:schemeClr val="dk1"/>
                          </a:solidFill>
                          <a:latin typeface="+mn-lt"/>
                          <a:ea typeface="+mn-ea"/>
                          <a:cs typeface="+mn-cs"/>
                        </a:rPr>
                        <a:t>Number of rows in R-table</a:t>
                      </a:r>
                      <a:endParaRPr lang="en-US" sz="2400" dirty="0"/>
                    </a:p>
                  </a:txBody>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Relational Model</a:t>
            </a:r>
            <a:endParaRPr lang="en-US" dirty="0"/>
          </a:p>
        </p:txBody>
      </p:sp>
      <p:sp>
        <p:nvSpPr>
          <p:cNvPr id="3" name="Content Placeholder 2"/>
          <p:cNvSpPr>
            <a:spLocks noGrp="1"/>
          </p:cNvSpPr>
          <p:nvPr>
            <p:ph idx="1"/>
          </p:nvPr>
        </p:nvSpPr>
        <p:spPr/>
        <p:txBody>
          <a:bodyPr/>
          <a:lstStyle/>
          <a:p>
            <a:r>
              <a:rPr lang="en-US" sz="2400" dirty="0" smtClean="0"/>
              <a:t>Database management involves </a:t>
            </a:r>
            <a:r>
              <a:rPr lang="en-US" sz="2400" i="1" dirty="0" smtClean="0">
                <a:solidFill>
                  <a:srgbClr val="C00000"/>
                </a:solidFill>
              </a:rPr>
              <a:t>the sharing of large quantities of data by many users </a:t>
            </a:r>
            <a:r>
              <a:rPr lang="en-US" sz="2400" dirty="0" smtClean="0"/>
              <a:t>– who, for the most part, conceive their actions on the data independently from one another.</a:t>
            </a:r>
          </a:p>
          <a:p>
            <a:r>
              <a:rPr lang="en-US" sz="2400" i="1" dirty="0" smtClean="0">
                <a:solidFill>
                  <a:srgbClr val="C00000"/>
                </a:solidFill>
              </a:rPr>
              <a:t>The relational model</a:t>
            </a:r>
            <a:r>
              <a:rPr lang="en-US" sz="2400" dirty="0" smtClean="0"/>
              <a:t> can be construed as a </a:t>
            </a:r>
            <a:r>
              <a:rPr lang="en-US" sz="2400" u="sng" dirty="0" smtClean="0"/>
              <a:t>highly disciplined approach</a:t>
            </a:r>
            <a:r>
              <a:rPr lang="en-US" sz="2400" dirty="0" smtClean="0"/>
              <a:t> to database management.</a:t>
            </a:r>
          </a:p>
          <a:p>
            <a:r>
              <a:rPr lang="en-US" sz="2400" dirty="0" smtClean="0"/>
              <a:t>The </a:t>
            </a:r>
            <a:r>
              <a:rPr lang="en-US" sz="2400" i="1" dirty="0" smtClean="0">
                <a:solidFill>
                  <a:srgbClr val="C00000"/>
                </a:solidFill>
              </a:rPr>
              <a:t>fundamental principle</a:t>
            </a:r>
            <a:r>
              <a:rPr lang="en-US" sz="2400" dirty="0" smtClean="0"/>
              <a:t> in the relational model is that all </a:t>
            </a:r>
            <a:r>
              <a:rPr lang="en-US" sz="2400" u="sng" dirty="0" smtClean="0"/>
              <a:t>inter-relating</a:t>
            </a:r>
            <a:r>
              <a:rPr lang="en-US" sz="2400" dirty="0" smtClean="0"/>
              <a:t> is achieved by means of </a:t>
            </a:r>
            <a:r>
              <a:rPr lang="en-US" sz="2400" u="sng" dirty="0" smtClean="0"/>
              <a:t>comparisons of values</a:t>
            </a:r>
            <a:r>
              <a:rPr lang="en-US" sz="2400" dirty="0" smtClean="0"/>
              <a:t>, whether these values identify objects in the real world or whether they indicate properties of those objects.</a:t>
            </a:r>
          </a:p>
          <a:p>
            <a:r>
              <a:rPr lang="en-US" sz="2400" dirty="0" smtClean="0"/>
              <a:t>A pair of values may be </a:t>
            </a:r>
            <a:r>
              <a:rPr lang="en-US" sz="2400" i="1" dirty="0" smtClean="0">
                <a:solidFill>
                  <a:srgbClr val="C00000"/>
                </a:solidFill>
              </a:rPr>
              <a:t>meaningfully compared</a:t>
            </a:r>
            <a:r>
              <a:rPr lang="en-US" sz="2400" dirty="0" smtClean="0"/>
              <a:t>, however, if and only if these values are drawn from a common domain.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Database</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relational database</a:t>
            </a:r>
            <a:r>
              <a:rPr lang="en-US" sz="2400" dirty="0" smtClean="0"/>
              <a:t> is a collection of relations of assorted degrees.</a:t>
            </a:r>
          </a:p>
          <a:p>
            <a:r>
              <a:rPr lang="en-US" sz="2400" dirty="0" smtClean="0"/>
              <a:t>All of the query and manipulative operators are upon relations, and all of them generate </a:t>
            </a:r>
            <a:r>
              <a:rPr lang="en-US" sz="2400" i="1" dirty="0" smtClean="0">
                <a:solidFill>
                  <a:srgbClr val="C00000"/>
                </a:solidFill>
              </a:rPr>
              <a:t>relations as results</a:t>
            </a:r>
            <a:r>
              <a:rPr lang="en-US" sz="2400" dirty="0" smtClean="0"/>
              <a:t>.</a:t>
            </a:r>
          </a:p>
          <a:p>
            <a:r>
              <a:rPr lang="en-US" sz="2400" dirty="0" smtClean="0"/>
              <a:t>Relational databases that have many relations, each with few rows (</a:t>
            </a:r>
            <a:r>
              <a:rPr lang="en-US" sz="2400" dirty="0" err="1" smtClean="0"/>
              <a:t>tuples</a:t>
            </a:r>
            <a:r>
              <a:rPr lang="en-US" sz="2400" dirty="0" smtClean="0"/>
              <a:t>), are often called </a:t>
            </a:r>
            <a:r>
              <a:rPr lang="en-US" sz="2400" i="1" dirty="0" smtClean="0">
                <a:solidFill>
                  <a:srgbClr val="C00000"/>
                </a:solidFill>
              </a:rPr>
              <a:t>rich</a:t>
            </a:r>
            <a:r>
              <a:rPr lang="en-US" sz="2400" dirty="0" smtClean="0"/>
              <a:t>, while those that have few relations, each with many rows, are called </a:t>
            </a:r>
            <a:r>
              <a:rPr lang="en-US" sz="2400" i="1" dirty="0" smtClean="0">
                <a:solidFill>
                  <a:srgbClr val="C00000"/>
                </a:solidFill>
              </a:rPr>
              <a:t>large</a:t>
            </a:r>
            <a:r>
              <a:rPr lang="en-US" sz="2400" dirty="0" smtClean="0"/>
              <a:t>.</a:t>
            </a:r>
          </a:p>
          <a:p>
            <a:r>
              <a:rPr lang="en-US" sz="2400" dirty="0" smtClean="0"/>
              <a:t>In the relational model there is only </a:t>
            </a:r>
            <a:r>
              <a:rPr lang="en-US" sz="2400" i="1" dirty="0" smtClean="0">
                <a:solidFill>
                  <a:srgbClr val="C00000"/>
                </a:solidFill>
              </a:rPr>
              <a:t>one type of compound data</a:t>
            </a:r>
            <a:r>
              <a:rPr lang="en-US" sz="2400" dirty="0" smtClean="0"/>
              <a:t>: the relation.</a:t>
            </a:r>
          </a:p>
          <a:p>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Entity-Relationship Approach Problems</a:t>
            </a:r>
            <a:endParaRPr lang="en-US" sz="3800" dirty="0"/>
          </a:p>
        </p:txBody>
      </p:sp>
      <p:sp>
        <p:nvSpPr>
          <p:cNvPr id="3" name="Content Placeholder 2"/>
          <p:cNvSpPr>
            <a:spLocks noGrp="1"/>
          </p:cNvSpPr>
          <p:nvPr>
            <p:ph idx="1"/>
          </p:nvPr>
        </p:nvSpPr>
        <p:spPr/>
        <p:txBody>
          <a:bodyPr/>
          <a:lstStyle/>
          <a:p>
            <a:r>
              <a:rPr lang="en-US" sz="2200" dirty="0" smtClean="0"/>
              <a:t>Only the structural aspects were described; neither the </a:t>
            </a:r>
            <a:r>
              <a:rPr lang="en-US" sz="2200" i="1" dirty="0" smtClean="0">
                <a:solidFill>
                  <a:srgbClr val="C00000"/>
                </a:solidFill>
              </a:rPr>
              <a:t>operators</a:t>
            </a:r>
            <a:r>
              <a:rPr lang="en-US" sz="2200" dirty="0" smtClean="0"/>
              <a:t> upon these structures nor the </a:t>
            </a:r>
            <a:r>
              <a:rPr lang="en-US" sz="2200" i="1" dirty="0" smtClean="0">
                <a:solidFill>
                  <a:srgbClr val="C00000"/>
                </a:solidFill>
              </a:rPr>
              <a:t>integrity constraints</a:t>
            </a:r>
            <a:r>
              <a:rPr lang="en-US" sz="2200" dirty="0" smtClean="0"/>
              <a:t> were discussed. Therefore, it was </a:t>
            </a:r>
            <a:r>
              <a:rPr lang="en-US" sz="2200" i="1" dirty="0" smtClean="0">
                <a:solidFill>
                  <a:srgbClr val="C00000"/>
                </a:solidFill>
              </a:rPr>
              <a:t>not</a:t>
            </a:r>
            <a:r>
              <a:rPr lang="en-US" sz="2200" dirty="0" smtClean="0"/>
              <a:t> a data model.</a:t>
            </a:r>
          </a:p>
          <a:p>
            <a:r>
              <a:rPr lang="en-US" sz="2200" dirty="0" smtClean="0"/>
              <a:t>The </a:t>
            </a:r>
            <a:r>
              <a:rPr lang="en-US" sz="2200" i="1" dirty="0" smtClean="0">
                <a:solidFill>
                  <a:srgbClr val="C00000"/>
                </a:solidFill>
              </a:rPr>
              <a:t>distinction between entities and relationships</a:t>
            </a:r>
            <a:r>
              <a:rPr lang="en-US" sz="2200" dirty="0" smtClean="0"/>
              <a:t> was not, and is still not, precisely defined.</a:t>
            </a:r>
          </a:p>
          <a:p>
            <a:r>
              <a:rPr lang="en-US" sz="2200" dirty="0" smtClean="0"/>
              <a:t>Consequently, one person's entity is another person's relationship.</a:t>
            </a:r>
          </a:p>
          <a:p>
            <a:pPr lvl="1"/>
            <a:r>
              <a:rPr lang="en-US" sz="1600" dirty="0" smtClean="0"/>
              <a:t>A good example is an airline flight.</a:t>
            </a:r>
          </a:p>
          <a:p>
            <a:pPr lvl="1"/>
            <a:r>
              <a:rPr lang="en-US" sz="1600" dirty="0" smtClean="0"/>
              <a:t>An accountant is likely to think of this as an entity.</a:t>
            </a:r>
          </a:p>
          <a:p>
            <a:pPr lvl="1"/>
            <a:r>
              <a:rPr lang="en-US" sz="1600" dirty="0" smtClean="0"/>
              <a:t>Someone responsible for airplane scheduling or crew scheduling is likely to think of it as a relationship between a type of aircraft, a flight route, a crew, and a date.</a:t>
            </a:r>
          </a:p>
          <a:p>
            <a:r>
              <a:rPr lang="en-US" sz="2200" dirty="0" smtClean="0"/>
              <a:t>Even if this distinction had been precisely defined, it would have </a:t>
            </a:r>
            <a:r>
              <a:rPr lang="en-US" sz="2200" i="1" dirty="0" smtClean="0">
                <a:solidFill>
                  <a:srgbClr val="C00000"/>
                </a:solidFill>
              </a:rPr>
              <a:t>added complexity without adding power</a:t>
            </a:r>
            <a:r>
              <a:rPr lang="en-US" sz="2200" dirty="0" smtClean="0"/>
              <a:t>.</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Role of Language in the Relational Model</a:t>
            </a:r>
            <a:endParaRPr lang="en-US" sz="3800" dirty="0"/>
          </a:p>
        </p:txBody>
      </p:sp>
      <p:sp>
        <p:nvSpPr>
          <p:cNvPr id="3" name="Content Placeholder 2"/>
          <p:cNvSpPr>
            <a:spLocks noGrp="1"/>
          </p:cNvSpPr>
          <p:nvPr>
            <p:ph idx="1"/>
          </p:nvPr>
        </p:nvSpPr>
        <p:spPr/>
        <p:txBody>
          <a:bodyPr/>
          <a:lstStyle/>
          <a:p>
            <a:r>
              <a:rPr lang="en-US" sz="2200" i="1" dirty="0" smtClean="0">
                <a:solidFill>
                  <a:srgbClr val="C00000"/>
                </a:solidFill>
              </a:rPr>
              <a:t>The abbreviation RL denotes</a:t>
            </a:r>
            <a:r>
              <a:rPr lang="en-US" sz="2200" dirty="0" smtClean="0"/>
              <a:t> the principal relational language supported by the DBMS – a language intended specifically for database management, and one that is not guaranteed to be usable for the computation of all computable functions.</a:t>
            </a:r>
          </a:p>
          <a:p>
            <a:r>
              <a:rPr lang="en-US" sz="2200" i="1" dirty="0" smtClean="0">
                <a:solidFill>
                  <a:srgbClr val="C00000"/>
                </a:solidFill>
              </a:rPr>
              <a:t>The complete power of RL should be fully exploitable</a:t>
            </a:r>
            <a:r>
              <a:rPr lang="en-US" sz="2200" dirty="0" smtClean="0"/>
              <a:t> in at least the following contexts:</a:t>
            </a:r>
          </a:p>
          <a:p>
            <a:pPr lvl="1"/>
            <a:r>
              <a:rPr lang="en-US" sz="1600" dirty="0" smtClean="0"/>
              <a:t>retrieval (database description, contents, and audit log);</a:t>
            </a:r>
          </a:p>
          <a:p>
            <a:pPr lvl="1"/>
            <a:r>
              <a:rPr lang="en-US" sz="1600" dirty="0" smtClean="0"/>
              <a:t>view definition;</a:t>
            </a:r>
          </a:p>
          <a:p>
            <a:pPr lvl="1"/>
            <a:r>
              <a:rPr lang="en-US" sz="1600" dirty="0" smtClean="0"/>
              <a:t>insertion, update, and deletion;</a:t>
            </a:r>
          </a:p>
          <a:p>
            <a:pPr lvl="1"/>
            <a:r>
              <a:rPr lang="en-US" sz="1600" dirty="0" smtClean="0"/>
              <a:t>handling missing information (independent of data type);</a:t>
            </a:r>
          </a:p>
          <a:p>
            <a:pPr lvl="1"/>
            <a:r>
              <a:rPr lang="en-US" sz="1600" dirty="0" smtClean="0"/>
              <a:t>integrity constraints;</a:t>
            </a:r>
          </a:p>
          <a:p>
            <a:pPr lvl="1"/>
            <a:r>
              <a:rPr lang="en-US" sz="1600" dirty="0" smtClean="0"/>
              <a:t>authorization constraints;</a:t>
            </a:r>
          </a:p>
          <a:p>
            <a:pPr lvl="1"/>
            <a:r>
              <a:rPr lang="en-US" sz="1600" dirty="0" smtClean="0"/>
              <a:t>if the DBMS is claimed to be able to handle distributed data, distributed database management with distribution independence, including automatic decomposition of commands by the DBMS and automatic re-composition of results by the DBMS</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Keys</a:t>
            </a:r>
            <a:endParaRPr lang="en-US" dirty="0"/>
          </a:p>
        </p:txBody>
      </p:sp>
      <p:sp>
        <p:nvSpPr>
          <p:cNvPr id="3" name="Content Placeholder 2"/>
          <p:cNvSpPr>
            <a:spLocks noGrp="1"/>
          </p:cNvSpPr>
          <p:nvPr>
            <p:ph idx="1"/>
          </p:nvPr>
        </p:nvSpPr>
        <p:spPr>
          <a:xfrm>
            <a:off x="457200" y="1600201"/>
            <a:ext cx="8229600" cy="2971800"/>
          </a:xfrm>
        </p:spPr>
        <p:txBody>
          <a:bodyPr/>
          <a:lstStyle/>
          <a:p>
            <a:r>
              <a:rPr lang="en-US" sz="2400" dirty="0" smtClean="0"/>
              <a:t>Each base R-table has exactly one </a:t>
            </a:r>
            <a:r>
              <a:rPr lang="en-US" sz="2400" i="1" dirty="0" smtClean="0">
                <a:solidFill>
                  <a:srgbClr val="C00000"/>
                </a:solidFill>
              </a:rPr>
              <a:t>primary key</a:t>
            </a:r>
            <a:r>
              <a:rPr lang="en-US" sz="2400" dirty="0" smtClean="0"/>
              <a:t>.</a:t>
            </a:r>
          </a:p>
          <a:p>
            <a:r>
              <a:rPr lang="en-US" sz="2400" i="1" dirty="0" smtClean="0">
                <a:solidFill>
                  <a:srgbClr val="C00000"/>
                </a:solidFill>
              </a:rPr>
              <a:t>This key is</a:t>
            </a:r>
            <a:r>
              <a:rPr lang="en-US" sz="2400" dirty="0" smtClean="0"/>
              <a:t> a combination of columns (possibly just one column) such that</a:t>
            </a:r>
          </a:p>
          <a:p>
            <a:pPr lvl="1"/>
            <a:r>
              <a:rPr lang="en-US" sz="2000" i="1" dirty="0" smtClean="0">
                <a:solidFill>
                  <a:srgbClr val="C00000"/>
                </a:solidFill>
              </a:rPr>
              <a:t>the value of the primary key</a:t>
            </a:r>
            <a:r>
              <a:rPr lang="en-US" sz="2000" dirty="0" smtClean="0"/>
              <a:t> in each row of the pertinent R-table </a:t>
            </a:r>
            <a:r>
              <a:rPr lang="en-US" sz="2000" i="1" dirty="0" smtClean="0">
                <a:solidFill>
                  <a:srgbClr val="C00000"/>
                </a:solidFill>
              </a:rPr>
              <a:t>identifies that row uniquely</a:t>
            </a:r>
            <a:r>
              <a:rPr lang="en-US" sz="2000" dirty="0" smtClean="0"/>
              <a:t> (i.e., it distinguishes that row from every other row in that R-table);</a:t>
            </a:r>
          </a:p>
          <a:p>
            <a:pPr lvl="1"/>
            <a:r>
              <a:rPr lang="en-US" sz="2000" dirty="0" smtClean="0"/>
              <a:t>if the primary key is </a:t>
            </a:r>
            <a:r>
              <a:rPr lang="en-US" sz="2000" i="1" dirty="0" smtClean="0">
                <a:solidFill>
                  <a:srgbClr val="C00000"/>
                </a:solidFill>
              </a:rPr>
              <a:t>composite</a:t>
            </a:r>
            <a:r>
              <a:rPr lang="en-US" sz="2000" dirty="0" smtClean="0"/>
              <a:t> and if </a:t>
            </a:r>
            <a:r>
              <a:rPr lang="en-US" sz="2000" i="1" dirty="0" smtClean="0">
                <a:solidFill>
                  <a:srgbClr val="C00000"/>
                </a:solidFill>
              </a:rPr>
              <a:t>one of the columns is dropped</a:t>
            </a:r>
            <a:r>
              <a:rPr lang="en-US" sz="2000" dirty="0" smtClean="0"/>
              <a:t> from the primary key, the first property is no longer guaranteed.</a:t>
            </a:r>
          </a:p>
          <a:p>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833438" y="4572000"/>
            <a:ext cx="7477125" cy="203835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Foreign Key</a:t>
            </a:r>
            <a:endParaRPr lang="en-US" dirty="0"/>
          </a:p>
        </p:txBody>
      </p:sp>
      <p:sp>
        <p:nvSpPr>
          <p:cNvPr id="3" name="Content Placeholder 2"/>
          <p:cNvSpPr>
            <a:spLocks noGrp="1"/>
          </p:cNvSpPr>
          <p:nvPr>
            <p:ph idx="1"/>
          </p:nvPr>
        </p:nvSpPr>
        <p:spPr>
          <a:xfrm>
            <a:off x="228600" y="1600200"/>
            <a:ext cx="5486400" cy="4525963"/>
          </a:xfrm>
        </p:spPr>
        <p:txBody>
          <a:bodyPr/>
          <a:lstStyle/>
          <a:p>
            <a:r>
              <a:rPr lang="en-US" sz="2000" dirty="0" smtClean="0"/>
              <a:t>It is equally valid to interpret the uniqueness property in terms of object identification: the value of the primary key in each row of the pertinent R-table</a:t>
            </a:r>
            <a:r>
              <a:rPr lang="en-US" sz="2000" i="1" dirty="0" smtClean="0">
                <a:solidFill>
                  <a:srgbClr val="C00000"/>
                </a:solidFill>
              </a:rPr>
              <a:t> identifies the particular object</a:t>
            </a:r>
            <a:r>
              <a:rPr lang="en-US" sz="2000" dirty="0" smtClean="0"/>
              <a:t> represented by that row uniquely within the </a:t>
            </a:r>
            <a:r>
              <a:rPr lang="en-US" sz="2000" i="1" dirty="0" smtClean="0">
                <a:solidFill>
                  <a:srgbClr val="C00000"/>
                </a:solidFill>
              </a:rPr>
              <a:t>type of objects</a:t>
            </a:r>
            <a:r>
              <a:rPr lang="en-US" sz="2000" dirty="0" smtClean="0"/>
              <a:t> that are represented by that relation.</a:t>
            </a:r>
          </a:p>
          <a:p>
            <a:r>
              <a:rPr lang="en-US" sz="2000" dirty="0" smtClean="0"/>
              <a:t>Everywhere else in the database that there is a need to refer to that particular object, </a:t>
            </a:r>
            <a:r>
              <a:rPr lang="en-US" sz="2000" i="1" dirty="0" smtClean="0">
                <a:solidFill>
                  <a:srgbClr val="C00000"/>
                </a:solidFill>
              </a:rPr>
              <a:t>the same identifying value</a:t>
            </a:r>
            <a:r>
              <a:rPr lang="en-US" sz="2000" dirty="0" smtClean="0"/>
              <a:t> drawn from the </a:t>
            </a:r>
            <a:r>
              <a:rPr lang="en-US" sz="2000" i="1" dirty="0" smtClean="0">
                <a:solidFill>
                  <a:srgbClr val="C00000"/>
                </a:solidFill>
              </a:rPr>
              <a:t>same domain</a:t>
            </a:r>
            <a:r>
              <a:rPr lang="en-US" sz="2000" dirty="0" smtClean="0"/>
              <a:t> is used.</a:t>
            </a:r>
          </a:p>
          <a:p>
            <a:r>
              <a:rPr lang="en-US" sz="2000" i="1" dirty="0" smtClean="0">
                <a:solidFill>
                  <a:srgbClr val="C00000"/>
                </a:solidFill>
              </a:rPr>
              <a:t>Any column</a:t>
            </a:r>
            <a:r>
              <a:rPr lang="en-US" sz="2000" dirty="0" smtClean="0"/>
              <a:t> containing those values </a:t>
            </a:r>
            <a:r>
              <a:rPr lang="en-US" sz="2000" i="1" dirty="0" smtClean="0">
                <a:solidFill>
                  <a:srgbClr val="C00000"/>
                </a:solidFill>
              </a:rPr>
              <a:t>is called a foreign key</a:t>
            </a:r>
            <a:r>
              <a:rPr lang="en-US" sz="2000" dirty="0" smtClean="0"/>
              <a:t>, and each value in that column is called a foreign key value.</a:t>
            </a:r>
            <a:endParaRPr lang="en-US" sz="2000" dirty="0"/>
          </a:p>
        </p:txBody>
      </p:sp>
      <p:pic>
        <p:nvPicPr>
          <p:cNvPr id="20484" name="Picture 4" descr="https://publib.boulder.ibm.com/infocenter/zos/basics/topic/com.ibm.db2z.doc.intro/bknt0062.gif"/>
          <p:cNvPicPr>
            <a:picLocks noChangeAspect="1" noChangeArrowheads="1"/>
          </p:cNvPicPr>
          <p:nvPr/>
        </p:nvPicPr>
        <p:blipFill>
          <a:blip r:embed="rId2" cstate="print"/>
          <a:srcRect/>
          <a:stretch>
            <a:fillRect/>
          </a:stretch>
        </p:blipFill>
        <p:spPr bwMode="auto">
          <a:xfrm>
            <a:off x="5762625" y="2438400"/>
            <a:ext cx="3305175" cy="2847976"/>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smtClean="0"/>
              <a:t>Model (</a:t>
            </a:r>
            <a:r>
              <a:rPr lang="en-US" dirty="0" err="1" smtClean="0"/>
              <a:t>ChatGPT</a:t>
            </a:r>
            <a:r>
              <a:rPr lang="en-US" dirty="0" smtClean="0"/>
              <a:t>)</a:t>
            </a:r>
            <a:endParaRPr lang="en-US" dirty="0"/>
          </a:p>
        </p:txBody>
      </p:sp>
      <p:sp>
        <p:nvSpPr>
          <p:cNvPr id="3" name="Content Placeholder 2"/>
          <p:cNvSpPr>
            <a:spLocks noGrp="1"/>
          </p:cNvSpPr>
          <p:nvPr>
            <p:ph idx="1"/>
          </p:nvPr>
        </p:nvSpPr>
        <p:spPr/>
        <p:txBody>
          <a:bodyPr/>
          <a:lstStyle/>
          <a:p>
            <a:r>
              <a:rPr lang="en-US" sz="2000" dirty="0" smtClean="0"/>
              <a:t>A </a:t>
            </a:r>
            <a:r>
              <a:rPr lang="en-US" sz="2000" b="1" dirty="0" smtClean="0"/>
              <a:t>data model</a:t>
            </a:r>
            <a:r>
              <a:rPr lang="en-US" sz="2000" dirty="0" smtClean="0"/>
              <a:t> is an abstract representation or conceptual framework that defines how data is structured, related, and manipulated within a system. It provides a high-level view of how data is organized, as well as the relationships between different types of data</a:t>
            </a:r>
            <a:r>
              <a:rPr lang="en-US" sz="2000" dirty="0" smtClean="0"/>
              <a:t>.</a:t>
            </a:r>
          </a:p>
          <a:p>
            <a:r>
              <a:rPr lang="en-US" sz="2000" b="1" dirty="0" smtClean="0"/>
              <a:t>Conceptual Layer</a:t>
            </a:r>
            <a:r>
              <a:rPr lang="en-US" sz="2000" dirty="0" smtClean="0"/>
              <a:t>: A data model represents the overall structure of the data in a conceptual way, without worrying about the specifics of how the data is physically stored</a:t>
            </a:r>
            <a:r>
              <a:rPr lang="en-US" sz="2000" dirty="0" smtClean="0"/>
              <a:t>.</a:t>
            </a:r>
          </a:p>
          <a:p>
            <a:r>
              <a:rPr lang="en-US" sz="2000" b="1" dirty="0" smtClean="0"/>
              <a:t>Purpose</a:t>
            </a:r>
            <a:r>
              <a:rPr lang="en-US" sz="2000" dirty="0" smtClean="0"/>
              <a:t>: The primary goal of a data model is to </a:t>
            </a:r>
            <a:r>
              <a:rPr lang="en-US" sz="2000" b="1" dirty="0" smtClean="0"/>
              <a:t>define the data requirements</a:t>
            </a:r>
            <a:r>
              <a:rPr lang="en-US" sz="2000" dirty="0" smtClean="0"/>
              <a:t> and </a:t>
            </a:r>
            <a:r>
              <a:rPr lang="en-US" sz="2000" b="1" dirty="0" smtClean="0"/>
              <a:t>relationships</a:t>
            </a:r>
            <a:r>
              <a:rPr lang="en-US" sz="2000" dirty="0" smtClean="0"/>
              <a:t> in a way that can be understood by both business users and developers. It helps in ensuring that the data structure meets the needs of the application or system</a:t>
            </a:r>
            <a:r>
              <a:rPr lang="en-US" sz="2000" dirty="0" smtClean="0"/>
              <a:t>.</a:t>
            </a:r>
          </a:p>
          <a:p>
            <a:r>
              <a:rPr lang="en-US" sz="2000" b="1" dirty="0" smtClean="0"/>
              <a:t>Scope</a:t>
            </a:r>
            <a:r>
              <a:rPr lang="en-US" sz="2000" dirty="0" smtClean="0"/>
              <a:t>: Data models are often used at an abstract level during the initial stages of database design to understand the data needs before focusing on implementation </a:t>
            </a:r>
            <a:r>
              <a:rPr lang="en-US" sz="2000" dirty="0" smtClean="0"/>
              <a:t>details.</a:t>
            </a:r>
            <a:endParaRPr lang="en-US"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 Models</a:t>
            </a:r>
            <a:endParaRPr lang="en-US" dirty="0"/>
          </a:p>
        </p:txBody>
      </p:sp>
      <p:sp>
        <p:nvSpPr>
          <p:cNvPr id="3" name="Content Placeholder 2"/>
          <p:cNvSpPr>
            <a:spLocks noGrp="1"/>
          </p:cNvSpPr>
          <p:nvPr>
            <p:ph idx="1"/>
          </p:nvPr>
        </p:nvSpPr>
        <p:spPr/>
        <p:txBody>
          <a:bodyPr/>
          <a:lstStyle/>
          <a:p>
            <a:r>
              <a:rPr lang="en-US" sz="2400" b="1" dirty="0" smtClean="0"/>
              <a:t>Entity-Relationship (ER) Model</a:t>
            </a:r>
            <a:r>
              <a:rPr lang="en-US" sz="2400" dirty="0" smtClean="0"/>
              <a:t>: Defines entities (objects) and the relationships between them</a:t>
            </a:r>
            <a:r>
              <a:rPr lang="en-US" sz="2400" dirty="0" smtClean="0"/>
              <a:t>.</a:t>
            </a:r>
          </a:p>
          <a:p>
            <a:r>
              <a:rPr lang="en-US" sz="2400" b="1" dirty="0" smtClean="0"/>
              <a:t>Relational </a:t>
            </a:r>
            <a:r>
              <a:rPr lang="en-US" sz="2400" b="1" dirty="0" smtClean="0"/>
              <a:t>Model</a:t>
            </a:r>
            <a:r>
              <a:rPr lang="en-US" sz="2400" dirty="0" smtClean="0"/>
              <a:t>: Data is represented in tables (relations), with rows (</a:t>
            </a:r>
            <a:r>
              <a:rPr lang="en-US" sz="2400" dirty="0" err="1" smtClean="0"/>
              <a:t>tuples</a:t>
            </a:r>
            <a:r>
              <a:rPr lang="en-US" sz="2400" dirty="0" smtClean="0"/>
              <a:t>) and columns (attributes</a:t>
            </a:r>
            <a:r>
              <a:rPr lang="en-US" sz="2400" dirty="0" smtClean="0"/>
              <a:t>).</a:t>
            </a:r>
          </a:p>
          <a:p>
            <a:r>
              <a:rPr lang="en-US" sz="2400" b="1" dirty="0" smtClean="0"/>
              <a:t>Object-Oriented </a:t>
            </a:r>
            <a:r>
              <a:rPr lang="en-US" sz="2400" b="1" dirty="0" smtClean="0"/>
              <a:t>Model</a:t>
            </a:r>
            <a:r>
              <a:rPr lang="en-US" sz="2400" dirty="0" smtClean="0"/>
              <a:t>: Data is organized as objects, like in object-oriented programming (OOP</a:t>
            </a:r>
            <a:r>
              <a:rPr lang="en-US" sz="2400" dirty="0" smtClean="0"/>
              <a:t>).</a:t>
            </a:r>
          </a:p>
          <a:p>
            <a:r>
              <a:rPr lang="en-US" sz="2400" b="1" dirty="0" err="1" smtClean="0"/>
              <a:t>NoSQL</a:t>
            </a:r>
            <a:r>
              <a:rPr lang="en-US" sz="2400" b="1" dirty="0" smtClean="0"/>
              <a:t> </a:t>
            </a:r>
            <a:r>
              <a:rPr lang="en-US" sz="2400" b="1" dirty="0" smtClean="0"/>
              <a:t>Models</a:t>
            </a:r>
            <a:r>
              <a:rPr lang="en-US" sz="2400" dirty="0" smtClean="0"/>
              <a:t>: These can vary based on the database type, such as document-based, key-value, column-family, or graph models.</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Schema (</a:t>
            </a:r>
            <a:r>
              <a:rPr lang="en-US" dirty="0" err="1" smtClean="0"/>
              <a:t>ChatGPT</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A </a:t>
            </a:r>
            <a:r>
              <a:rPr lang="en-US" sz="2400" b="1" dirty="0" smtClean="0"/>
              <a:t>schema</a:t>
            </a:r>
            <a:r>
              <a:rPr lang="en-US" sz="2400" dirty="0" smtClean="0"/>
              <a:t> is a more concrete, technical specification of the database's structure. It defines how data is </a:t>
            </a:r>
            <a:r>
              <a:rPr lang="en-US" sz="2400" b="1" dirty="0" smtClean="0"/>
              <a:t>actually organized</a:t>
            </a:r>
            <a:r>
              <a:rPr lang="en-US" sz="2400" dirty="0" smtClean="0"/>
              <a:t> in the database, including the tables, fields, indexes, constraints, and relationships. In simple terms, a schema is a blueprint for the actual implementation of the database</a:t>
            </a:r>
            <a:r>
              <a:rPr lang="en-US" sz="2400" dirty="0" smtClean="0"/>
              <a:t>.</a:t>
            </a:r>
          </a:p>
          <a:p>
            <a:r>
              <a:rPr lang="en-US" sz="2400" b="1" dirty="0" smtClean="0"/>
              <a:t>Physical and Logical Layer</a:t>
            </a:r>
            <a:r>
              <a:rPr lang="en-US" sz="2400" dirty="0" smtClean="0"/>
              <a:t>: A schema defines both the logical organization of data (what tables, views, and constraints exist) and the physical organization (how data is stored and indexed) within a specific DBMS</a:t>
            </a:r>
            <a:r>
              <a:rPr lang="en-US" sz="2400" dirty="0" smtClean="0"/>
              <a:t>.</a:t>
            </a:r>
          </a:p>
          <a:p>
            <a:r>
              <a:rPr lang="en-US" sz="2400" b="1" dirty="0" smtClean="0"/>
              <a:t>Scope</a:t>
            </a:r>
            <a:r>
              <a:rPr lang="en-US" sz="2400" dirty="0" smtClean="0"/>
              <a:t>: A schema is typically used at the implementation and maintenance stages, defining the structure that corresponds to the data model</a:t>
            </a:r>
            <a:r>
              <a:rPr lang="en-US" sz="2400" dirty="0" smtClean="0"/>
              <a:t>.</a:t>
            </a:r>
            <a:endParaRPr lang="en-US" sz="2400" dirty="0" smtClean="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a Schema</a:t>
            </a:r>
            <a:endParaRPr lang="en-US" dirty="0"/>
          </a:p>
        </p:txBody>
      </p:sp>
      <p:sp>
        <p:nvSpPr>
          <p:cNvPr id="3" name="Content Placeholder 2"/>
          <p:cNvSpPr>
            <a:spLocks noGrp="1"/>
          </p:cNvSpPr>
          <p:nvPr>
            <p:ph idx="1"/>
          </p:nvPr>
        </p:nvSpPr>
        <p:spPr/>
        <p:txBody>
          <a:bodyPr/>
          <a:lstStyle/>
          <a:p>
            <a:r>
              <a:rPr lang="en-US" sz="2200" b="1" dirty="0" smtClean="0"/>
              <a:t>Tables</a:t>
            </a:r>
            <a:r>
              <a:rPr lang="en-US" sz="2200" dirty="0" smtClean="0"/>
              <a:t>: Define the structure of data in terms of rows and columns</a:t>
            </a:r>
            <a:r>
              <a:rPr lang="en-US" sz="2200" dirty="0" smtClean="0"/>
              <a:t>.</a:t>
            </a:r>
          </a:p>
          <a:p>
            <a:r>
              <a:rPr lang="en-US" sz="2200" b="1" dirty="0" smtClean="0"/>
              <a:t>Indexes</a:t>
            </a:r>
            <a:r>
              <a:rPr lang="en-US" sz="2200" dirty="0" smtClean="0"/>
              <a:t>: Define how the data is accessed and optimized for queries</a:t>
            </a:r>
            <a:r>
              <a:rPr lang="en-US" sz="2200" dirty="0" smtClean="0"/>
              <a:t>.</a:t>
            </a:r>
          </a:p>
          <a:p>
            <a:r>
              <a:rPr lang="en-US" sz="2200" b="1" dirty="0" smtClean="0"/>
              <a:t>Constraints</a:t>
            </a:r>
            <a:r>
              <a:rPr lang="en-US" sz="2200" dirty="0" smtClean="0"/>
              <a:t>: Rules like primary keys, foreign keys, and unique constraints to ensure data integrity</a:t>
            </a:r>
            <a:r>
              <a:rPr lang="en-US" sz="2200" dirty="0" smtClean="0"/>
              <a:t>.</a:t>
            </a:r>
          </a:p>
          <a:p>
            <a:r>
              <a:rPr lang="en-US" sz="2200" b="1" dirty="0" smtClean="0"/>
              <a:t>Views</a:t>
            </a:r>
            <a:r>
              <a:rPr lang="en-US" sz="2200" dirty="0" smtClean="0"/>
              <a:t>: Logical representations of data that simplify access and management</a:t>
            </a:r>
            <a:r>
              <a:rPr lang="en-US" sz="2200" dirty="0" smtClean="0"/>
              <a:t>.</a:t>
            </a:r>
          </a:p>
          <a:p>
            <a:r>
              <a:rPr lang="en-US" sz="2200" b="1" dirty="0" smtClean="0"/>
              <a:t>Stored </a:t>
            </a:r>
            <a:r>
              <a:rPr lang="en-US" sz="2200" b="1" dirty="0" smtClean="0"/>
              <a:t>Procedures</a:t>
            </a:r>
            <a:r>
              <a:rPr lang="en-US" sz="2200" dirty="0" smtClean="0"/>
              <a:t>: Predefined queries or operations that can be executed</a:t>
            </a:r>
            <a:r>
              <a:rPr lang="en-US" sz="2200" dirty="0" smtClean="0"/>
              <a:t>.</a:t>
            </a:r>
          </a:p>
          <a:p>
            <a:r>
              <a:rPr lang="en-US" sz="2200" b="1" dirty="0" smtClean="0"/>
              <a:t>Relationships</a:t>
            </a:r>
            <a:r>
              <a:rPr lang="en-US" sz="2200" dirty="0" smtClean="0"/>
              <a:t>: Foreign key relationships between tables, constraints on data, etc</a:t>
            </a:r>
            <a:r>
              <a:rPr lang="en-US" sz="2200" dirty="0" smtClean="0"/>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Schema</a:t>
            </a:r>
            <a:endParaRPr lang="en-US" dirty="0"/>
          </a:p>
        </p:txBody>
      </p:sp>
      <p:sp>
        <p:nvSpPr>
          <p:cNvPr id="3" name="Content Placeholder 2"/>
          <p:cNvSpPr>
            <a:spLocks noGrp="1"/>
          </p:cNvSpPr>
          <p:nvPr>
            <p:ph idx="1"/>
          </p:nvPr>
        </p:nvSpPr>
        <p:spPr>
          <a:xfrm>
            <a:off x="457200" y="1447800"/>
            <a:ext cx="8229600" cy="4678363"/>
          </a:xfrm>
        </p:spPr>
        <p:txBody>
          <a:bodyPr/>
          <a:lstStyle/>
          <a:p>
            <a:r>
              <a:rPr lang="en-US" sz="2000" dirty="0" smtClean="0">
                <a:hlinkClick r:id="rId2"/>
              </a:rPr>
              <a:t>http://www.informit.com/articles/article.aspx?p=1216889&amp;seqNum=2</a:t>
            </a:r>
            <a:endParaRPr lang="en-US" sz="2000" dirty="0" smtClean="0"/>
          </a:p>
          <a:p>
            <a:r>
              <a:rPr lang="en-US" sz="2000" dirty="0" smtClean="0">
                <a:hlinkClick r:id="rId3"/>
              </a:rPr>
              <a:t>https://technet.microsoft.com/en-us/library/dd283095(v=sql.100).aspx</a:t>
            </a:r>
            <a:endParaRPr lang="en-US" sz="2000" dirty="0" smtClean="0"/>
          </a:p>
          <a:p>
            <a:r>
              <a:rPr lang="en-US" sz="2000" dirty="0" smtClean="0"/>
              <a:t>A schema – a container that can hold many database objects.</a:t>
            </a:r>
          </a:p>
          <a:p>
            <a:r>
              <a:rPr lang="en-US" sz="2000" dirty="0" smtClean="0"/>
              <a:t>Schemas logically group tables, procedures, views together.</a:t>
            </a:r>
          </a:p>
          <a:p>
            <a:r>
              <a:rPr lang="en-US" sz="2000" dirty="0" smtClean="0"/>
              <a:t>A schema is a collection of database objects associated with one particular database username.</a:t>
            </a:r>
          </a:p>
          <a:p>
            <a:r>
              <a:rPr lang="en-US" sz="2000" dirty="0" smtClean="0"/>
              <a:t>This username is called the schema owner, or the owner of the related group of objects.</a:t>
            </a:r>
          </a:p>
          <a:p>
            <a:r>
              <a:rPr lang="en-US" sz="2000" dirty="0" smtClean="0"/>
              <a:t>The schema owner may own one or many schemas.</a:t>
            </a:r>
          </a:p>
          <a:p>
            <a:r>
              <a:rPr lang="en-US" sz="2000" dirty="0" smtClean="0"/>
              <a:t>A schema is a distinct namespace to facilitate the separation, management, and ownership of database objects.</a:t>
            </a:r>
          </a:p>
          <a:p>
            <a:r>
              <a:rPr lang="en-US" sz="2000" dirty="0" smtClean="0"/>
              <a:t>It removed the tight coupling of database objects and owners to improve the security administration of database objects.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Physical Location </a:t>
            </a:r>
            <a:r>
              <a:rPr lang="en-US" sz="4000" dirty="0" smtClean="0"/>
              <a:t>of </a:t>
            </a:r>
            <a:r>
              <a:rPr lang="en-US" sz="4000" dirty="0" smtClean="0"/>
              <a:t>Each Table (Entity)</a:t>
            </a:r>
            <a:endParaRPr lang="en-US" sz="4000" dirty="0"/>
          </a:p>
        </p:txBody>
      </p:sp>
      <p:sp>
        <p:nvSpPr>
          <p:cNvPr id="3" name="Content Placeholder 2"/>
          <p:cNvSpPr>
            <a:spLocks noGrp="1"/>
          </p:cNvSpPr>
          <p:nvPr>
            <p:ph idx="1"/>
          </p:nvPr>
        </p:nvSpPr>
        <p:spPr/>
        <p:txBody>
          <a:bodyPr/>
          <a:lstStyle/>
          <a:p>
            <a:r>
              <a:rPr lang="en-US" sz="2400" dirty="0" smtClean="0"/>
              <a:t>Store all tables in one database and one schema.</a:t>
            </a:r>
          </a:p>
          <a:p>
            <a:r>
              <a:rPr lang="en-US" sz="2400" dirty="0" smtClean="0"/>
              <a:t>Store subject-specific tables in separate databases.</a:t>
            </a:r>
          </a:p>
          <a:p>
            <a:r>
              <a:rPr lang="en-US" sz="2400" dirty="0" smtClean="0"/>
              <a:t>Store subject-specific tables in one database and separate schemas.</a:t>
            </a:r>
          </a:p>
          <a:p>
            <a:r>
              <a:rPr lang="en-US" sz="2400" dirty="0" smtClean="0"/>
              <a:t>Traditionally, most database designers using SQL Server have followed the pattern to store each table in the same database under the </a:t>
            </a:r>
            <a:r>
              <a:rPr lang="en-US" sz="2400" i="1" dirty="0" err="1" smtClean="0">
                <a:solidFill>
                  <a:srgbClr val="C00000"/>
                </a:solidFill>
              </a:rPr>
              <a:t>dbo</a:t>
            </a:r>
            <a:r>
              <a:rPr lang="en-US" sz="2400" dirty="0" smtClean="0"/>
              <a:t> schema. However, this approach does </a:t>
            </a:r>
            <a:r>
              <a:rPr lang="en-US" sz="2400" i="1" dirty="0" smtClean="0">
                <a:solidFill>
                  <a:srgbClr val="C00000"/>
                </a:solidFill>
              </a:rPr>
              <a:t>limit the scalability</a:t>
            </a:r>
            <a:r>
              <a:rPr lang="en-US" sz="2400" dirty="0" smtClean="0"/>
              <a:t> of the database.</a:t>
            </a:r>
          </a:p>
          <a:p>
            <a:r>
              <a:rPr lang="en-US" sz="2400" dirty="0" smtClean="0"/>
              <a:t>Deciding whether to store the tables in the same database with different schemas or in different databases affects the scalability and flexibility of the database.</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When to Separate into Different Databases</a:t>
            </a:r>
            <a:endParaRPr lang="en-US" sz="3600" dirty="0"/>
          </a:p>
        </p:txBody>
      </p:sp>
      <p:sp>
        <p:nvSpPr>
          <p:cNvPr id="3" name="Content Placeholder 2"/>
          <p:cNvSpPr>
            <a:spLocks noGrp="1"/>
          </p:cNvSpPr>
          <p:nvPr>
            <p:ph idx="1"/>
          </p:nvPr>
        </p:nvSpPr>
        <p:spPr/>
        <p:txBody>
          <a:bodyPr/>
          <a:lstStyle/>
          <a:p>
            <a:r>
              <a:rPr lang="en-US" sz="2400" dirty="0" smtClean="0"/>
              <a:t>If the related tables were stored in individual databases, </a:t>
            </a:r>
            <a:r>
              <a:rPr lang="en-US" sz="2400" i="1" dirty="0" smtClean="0">
                <a:solidFill>
                  <a:srgbClr val="C00000"/>
                </a:solidFill>
              </a:rPr>
              <a:t>moving the tables</a:t>
            </a:r>
            <a:r>
              <a:rPr lang="en-US" sz="2400" dirty="0" smtClean="0"/>
              <a:t> would require only backing up and restoring the database to the new server.</a:t>
            </a:r>
          </a:p>
          <a:p>
            <a:r>
              <a:rPr lang="en-US" sz="2400" dirty="0" smtClean="0"/>
              <a:t>Different databases enable you to </a:t>
            </a:r>
            <a:r>
              <a:rPr lang="en-US" sz="2400" i="1" dirty="0" smtClean="0">
                <a:solidFill>
                  <a:srgbClr val="C00000"/>
                </a:solidFill>
              </a:rPr>
              <a:t>secure objects</a:t>
            </a:r>
            <a:r>
              <a:rPr lang="en-US" sz="2400" dirty="0" smtClean="0"/>
              <a:t> based on their location. Security can be aligned directly with the specific databases.</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 Which Schema</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Security can be applied</a:t>
            </a:r>
            <a:r>
              <a:rPr lang="en-US" sz="2400" dirty="0" smtClean="0"/>
              <a:t> at a schema level as opposed to an object level, and the objects will be grouped according to the schema they are assigned.</a:t>
            </a:r>
          </a:p>
          <a:p>
            <a:r>
              <a:rPr lang="en-US" sz="2400" dirty="0" smtClean="0"/>
              <a:t>If you need to move the tables to another database, you can </a:t>
            </a:r>
            <a:r>
              <a:rPr lang="en-US" sz="2400" i="1" dirty="0" smtClean="0">
                <a:solidFill>
                  <a:srgbClr val="C00000"/>
                </a:solidFill>
              </a:rPr>
              <a:t>quickly identify and move the tables</a:t>
            </a:r>
            <a:r>
              <a:rPr lang="en-US" sz="2400" dirty="0" smtClean="0"/>
              <a:t> based on the schema.</a:t>
            </a:r>
          </a:p>
          <a:p>
            <a:r>
              <a:rPr lang="en-US" sz="2400" dirty="0" smtClean="0"/>
              <a:t>You need to either back up the individual tables and move them or script the tables and then copy the data from one location to the next.</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Model vs. Schema</a:t>
            </a:r>
            <a:endParaRPr lang="en-US" dirty="0"/>
          </a:p>
        </p:txBody>
      </p:sp>
      <p:graphicFrame>
        <p:nvGraphicFramePr>
          <p:cNvPr id="12" name="Content Placeholder 11"/>
          <p:cNvGraphicFramePr>
            <a:graphicFrameLocks noGrp="1"/>
          </p:cNvGraphicFramePr>
          <p:nvPr>
            <p:ph idx="1"/>
          </p:nvPr>
        </p:nvGraphicFramePr>
        <p:xfrm>
          <a:off x="533400" y="1600200"/>
          <a:ext cx="8153400" cy="4965239"/>
        </p:xfrm>
        <a:graphic>
          <a:graphicData uri="http://schemas.openxmlformats.org/drawingml/2006/table">
            <a:tbl>
              <a:tblPr firstRow="1" firstCol="1">
                <a:tableStyleId>{3C2FFA5D-87B4-456A-9821-1D502468CF0F}</a:tableStyleId>
              </a:tblPr>
              <a:tblGrid>
                <a:gridCol w="1810410"/>
                <a:gridCol w="3171495"/>
                <a:gridCol w="3171495"/>
              </a:tblGrid>
              <a:tr h="131187">
                <a:tc>
                  <a:txBody>
                    <a:bodyPr/>
                    <a:lstStyle/>
                    <a:p>
                      <a:pPr algn="ctr" fontAlgn="ctr"/>
                      <a:r>
                        <a:rPr lang="en-US" sz="1600" u="none" strike="noStrike" dirty="0"/>
                        <a:t>Aspect</a:t>
                      </a:r>
                      <a:endParaRPr lang="en-US" sz="1600" b="1" i="0" u="none" strike="noStrike" dirty="0">
                        <a:solidFill>
                          <a:srgbClr val="000000"/>
                        </a:solidFill>
                        <a:latin typeface="Calibri"/>
                      </a:endParaRPr>
                    </a:p>
                  </a:txBody>
                  <a:tcPr marL="1151" marR="1151" marT="1151" marB="0" anchor="ctr"/>
                </a:tc>
                <a:tc>
                  <a:txBody>
                    <a:bodyPr/>
                    <a:lstStyle/>
                    <a:p>
                      <a:pPr algn="ctr" fontAlgn="ctr"/>
                      <a:r>
                        <a:rPr lang="en-US" sz="1600" u="none" strike="noStrike"/>
                        <a:t>Data Model</a:t>
                      </a:r>
                      <a:endParaRPr lang="en-US" sz="1600" b="1" i="0" u="none" strike="noStrike">
                        <a:solidFill>
                          <a:srgbClr val="000000"/>
                        </a:solidFill>
                        <a:latin typeface="Calibri"/>
                      </a:endParaRPr>
                    </a:p>
                  </a:txBody>
                  <a:tcPr marL="1151" marR="1151" marT="1151" marB="0" anchor="ctr"/>
                </a:tc>
                <a:tc>
                  <a:txBody>
                    <a:bodyPr/>
                    <a:lstStyle/>
                    <a:p>
                      <a:pPr algn="ctr" fontAlgn="ctr"/>
                      <a:r>
                        <a:rPr lang="en-US" sz="1600" u="none" strike="noStrike"/>
                        <a:t>Schema</a:t>
                      </a:r>
                      <a:endParaRPr lang="en-US" sz="1600" b="1" i="0" u="none" strike="noStrike">
                        <a:solidFill>
                          <a:srgbClr val="000000"/>
                        </a:solidFill>
                        <a:latin typeface="Calibri"/>
                      </a:endParaRPr>
                    </a:p>
                  </a:txBody>
                  <a:tcPr marL="1151" marR="1151" marT="1151" marB="0" anchor="ctr"/>
                </a:tc>
              </a:tr>
              <a:tr h="721530">
                <a:tc>
                  <a:txBody>
                    <a:bodyPr/>
                    <a:lstStyle/>
                    <a:p>
                      <a:pPr algn="l" fontAlgn="b"/>
                      <a:r>
                        <a:rPr lang="en-US" sz="1600" u="none" strike="noStrike"/>
                        <a:t>Definition</a:t>
                      </a:r>
                      <a:endParaRPr lang="en-US" sz="1600" b="1" i="0" u="none" strike="noStrike">
                        <a:solidFill>
                          <a:srgbClr val="000000"/>
                        </a:solidFill>
                        <a:latin typeface="Calibri"/>
                      </a:endParaRPr>
                    </a:p>
                  </a:txBody>
                  <a:tcPr marL="1151" marR="1151" marT="1151" marB="0" anchor="b"/>
                </a:tc>
                <a:tc>
                  <a:txBody>
                    <a:bodyPr/>
                    <a:lstStyle/>
                    <a:p>
                      <a:pPr algn="l" fontAlgn="b"/>
                      <a:r>
                        <a:rPr lang="en-US" sz="1600" u="none" strike="noStrike"/>
                        <a:t>Conceptual framework that defines the structure and relationships of data.</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a:t>Concrete definition of how data is organized in a specific DBMS.</a:t>
                      </a:r>
                      <a:endParaRPr lang="en-US" sz="1600" b="0" i="0" u="none" strike="noStrike">
                        <a:solidFill>
                          <a:srgbClr val="000000"/>
                        </a:solidFill>
                        <a:latin typeface="Calibri"/>
                      </a:endParaRPr>
                    </a:p>
                  </a:txBody>
                  <a:tcPr marL="1151" marR="1151" marT="1151" marB="0" anchor="b"/>
                </a:tc>
              </a:tr>
              <a:tr h="393562">
                <a:tc>
                  <a:txBody>
                    <a:bodyPr/>
                    <a:lstStyle/>
                    <a:p>
                      <a:pPr algn="l" fontAlgn="b"/>
                      <a:r>
                        <a:rPr lang="en-US" sz="1600" u="none" strike="noStrike" dirty="0"/>
                        <a:t>Level of Abstraction</a:t>
                      </a:r>
                      <a:endParaRPr lang="en-US" sz="1600" b="1" i="0" u="none" strike="noStrike" dirty="0">
                        <a:solidFill>
                          <a:srgbClr val="000000"/>
                        </a:solidFill>
                        <a:latin typeface="Calibri"/>
                      </a:endParaRPr>
                    </a:p>
                  </a:txBody>
                  <a:tcPr marL="1151" marR="1151" marT="1151" marB="0" anchor="b"/>
                </a:tc>
                <a:tc>
                  <a:txBody>
                    <a:bodyPr/>
                    <a:lstStyle/>
                    <a:p>
                      <a:pPr algn="l" fontAlgn="b"/>
                      <a:r>
                        <a:rPr lang="en-US" sz="1600" u="none" strike="noStrike"/>
                        <a:t>High-level, abstract view of data.</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a:t>Detailed, technical implementation in the database.</a:t>
                      </a:r>
                      <a:endParaRPr lang="en-US" sz="1600" b="0" i="0" u="none" strike="noStrike">
                        <a:solidFill>
                          <a:srgbClr val="000000"/>
                        </a:solidFill>
                        <a:latin typeface="Calibri"/>
                      </a:endParaRPr>
                    </a:p>
                  </a:txBody>
                  <a:tcPr marL="1151" marR="1151" marT="1151" marB="0" anchor="b"/>
                </a:tc>
              </a:tr>
              <a:tr h="655937">
                <a:tc>
                  <a:txBody>
                    <a:bodyPr/>
                    <a:lstStyle/>
                    <a:p>
                      <a:pPr algn="l" fontAlgn="b"/>
                      <a:r>
                        <a:rPr lang="en-US" sz="1600" u="none" strike="noStrike"/>
                        <a:t>Purpose</a:t>
                      </a:r>
                      <a:endParaRPr lang="en-US" sz="1600" b="1" i="0" u="none" strike="noStrike">
                        <a:solidFill>
                          <a:srgbClr val="000000"/>
                        </a:solidFill>
                        <a:latin typeface="Calibri"/>
                      </a:endParaRPr>
                    </a:p>
                  </a:txBody>
                  <a:tcPr marL="1151" marR="1151" marT="1151" marB="0" anchor="b"/>
                </a:tc>
                <a:tc>
                  <a:txBody>
                    <a:bodyPr/>
                    <a:lstStyle/>
                    <a:p>
                      <a:pPr algn="l" fontAlgn="b"/>
                      <a:r>
                        <a:rPr lang="en-US" sz="1600" u="none" strike="noStrike"/>
                        <a:t>Describes what data is needed and how it relates.</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dirty="0"/>
                        <a:t>Describes how data is physically stored, indexed, and constrained in the DBMS.</a:t>
                      </a:r>
                      <a:endParaRPr lang="en-US" sz="1600" b="0" i="0" u="none" strike="noStrike" dirty="0">
                        <a:solidFill>
                          <a:srgbClr val="000000"/>
                        </a:solidFill>
                        <a:latin typeface="Calibri"/>
                      </a:endParaRPr>
                    </a:p>
                  </a:txBody>
                  <a:tcPr marL="1151" marR="1151" marT="1151" marB="0" anchor="b"/>
                </a:tc>
              </a:tr>
              <a:tr h="590343">
                <a:tc>
                  <a:txBody>
                    <a:bodyPr/>
                    <a:lstStyle/>
                    <a:p>
                      <a:pPr algn="l" fontAlgn="b"/>
                      <a:r>
                        <a:rPr lang="en-US" sz="1600" u="none" strike="noStrike"/>
                        <a:t>Scope</a:t>
                      </a:r>
                      <a:endParaRPr lang="en-US" sz="1600" b="1" i="0" u="none" strike="noStrike">
                        <a:solidFill>
                          <a:srgbClr val="000000"/>
                        </a:solidFill>
                        <a:latin typeface="Calibri"/>
                      </a:endParaRPr>
                    </a:p>
                  </a:txBody>
                  <a:tcPr marL="1151" marR="1151" marT="1151" marB="0" anchor="b"/>
                </a:tc>
                <a:tc>
                  <a:txBody>
                    <a:bodyPr/>
                    <a:lstStyle/>
                    <a:p>
                      <a:pPr algn="l" fontAlgn="b"/>
                      <a:r>
                        <a:rPr lang="en-US" sz="1600" u="none" strike="noStrike"/>
                        <a:t>Focuses on understanding data needs and relationships.</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dirty="0"/>
                        <a:t>Focuses on implementing the structure and integrity in the database.</a:t>
                      </a:r>
                      <a:endParaRPr lang="en-US" sz="1600" b="0" i="0" u="none" strike="noStrike" dirty="0">
                        <a:solidFill>
                          <a:srgbClr val="000000"/>
                        </a:solidFill>
                        <a:latin typeface="Calibri"/>
                      </a:endParaRPr>
                    </a:p>
                  </a:txBody>
                  <a:tcPr marL="1151" marR="1151" marT="1151" marB="0" anchor="b"/>
                </a:tc>
              </a:tr>
              <a:tr h="655937">
                <a:tc>
                  <a:txBody>
                    <a:bodyPr/>
                    <a:lstStyle/>
                    <a:p>
                      <a:pPr algn="l" fontAlgn="b"/>
                      <a:r>
                        <a:rPr lang="en-US" sz="1600" u="none" strike="noStrike"/>
                        <a:t>Use Case</a:t>
                      </a:r>
                      <a:endParaRPr lang="en-US" sz="1600" b="1" i="0" u="none" strike="noStrike">
                        <a:solidFill>
                          <a:srgbClr val="000000"/>
                        </a:solidFill>
                        <a:latin typeface="Calibri"/>
                      </a:endParaRPr>
                    </a:p>
                  </a:txBody>
                  <a:tcPr marL="1151" marR="1151" marT="1151" marB="0" anchor="b"/>
                </a:tc>
                <a:tc>
                  <a:txBody>
                    <a:bodyPr/>
                    <a:lstStyle/>
                    <a:p>
                      <a:pPr algn="l" fontAlgn="b"/>
                      <a:r>
                        <a:rPr lang="en-US" sz="1600" u="none" strike="noStrike"/>
                        <a:t>Used early in design to define business requirements and logic.</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a:t>Used during implementation to create and manage the actual database.</a:t>
                      </a:r>
                      <a:endParaRPr lang="en-US" sz="1600" b="0" i="0" u="none" strike="noStrike">
                        <a:solidFill>
                          <a:srgbClr val="000000"/>
                        </a:solidFill>
                        <a:latin typeface="Calibri"/>
                      </a:endParaRPr>
                    </a:p>
                  </a:txBody>
                  <a:tcPr marL="1151" marR="1151" marT="1151" marB="0" anchor="b"/>
                </a:tc>
              </a:tr>
              <a:tr h="590343">
                <a:tc>
                  <a:txBody>
                    <a:bodyPr/>
                    <a:lstStyle/>
                    <a:p>
                      <a:pPr algn="l" fontAlgn="b"/>
                      <a:r>
                        <a:rPr lang="en-US" sz="1600" u="none" strike="noStrike"/>
                        <a:t>Examples</a:t>
                      </a:r>
                      <a:endParaRPr lang="en-US" sz="1600" b="1" i="0" u="none" strike="noStrike">
                        <a:solidFill>
                          <a:srgbClr val="000000"/>
                        </a:solidFill>
                        <a:latin typeface="Calibri"/>
                      </a:endParaRPr>
                    </a:p>
                  </a:txBody>
                  <a:tcPr marL="1151" marR="1151" marT="1151" marB="0" anchor="b"/>
                </a:tc>
                <a:tc>
                  <a:txBody>
                    <a:bodyPr/>
                    <a:lstStyle/>
                    <a:p>
                      <a:pPr algn="l" fontAlgn="b"/>
                      <a:r>
                        <a:rPr lang="en-US" sz="1600" u="none" strike="noStrike"/>
                        <a:t>ER Diagrams, Relational Models, UML class diagrams.</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a:t>Table definitions, indexes, views, foreign keys, constraints, etc.</a:t>
                      </a:r>
                      <a:endParaRPr lang="en-US" sz="1600" b="0" i="0" u="none" strike="noStrike">
                        <a:solidFill>
                          <a:srgbClr val="000000"/>
                        </a:solidFill>
                        <a:latin typeface="Calibri"/>
                      </a:endParaRPr>
                    </a:p>
                  </a:txBody>
                  <a:tcPr marL="1151" marR="1151" marT="1151" marB="0" anchor="b"/>
                </a:tc>
              </a:tr>
              <a:tr h="787124">
                <a:tc>
                  <a:txBody>
                    <a:bodyPr/>
                    <a:lstStyle/>
                    <a:p>
                      <a:pPr algn="l" fontAlgn="b"/>
                      <a:r>
                        <a:rPr lang="en-US" sz="1600" u="none" strike="noStrike"/>
                        <a:t>Tools</a:t>
                      </a:r>
                      <a:endParaRPr lang="en-US" sz="1600" b="1" i="0" u="none" strike="noStrike">
                        <a:solidFill>
                          <a:srgbClr val="000000"/>
                        </a:solidFill>
                        <a:latin typeface="Calibri"/>
                      </a:endParaRPr>
                    </a:p>
                  </a:txBody>
                  <a:tcPr marL="1151" marR="1151" marT="1151" marB="0" anchor="b"/>
                </a:tc>
                <a:tc>
                  <a:txBody>
                    <a:bodyPr/>
                    <a:lstStyle/>
                    <a:p>
                      <a:pPr algn="l" fontAlgn="b"/>
                      <a:r>
                        <a:rPr lang="en-US" sz="1600" u="none" strike="noStrike"/>
                        <a:t>ERD tools (e.g., Lucidchart, draw.io, Microsoft Visio).</a:t>
                      </a:r>
                      <a:endParaRPr lang="en-US" sz="1600" b="0" i="0" u="none" strike="noStrike">
                        <a:solidFill>
                          <a:srgbClr val="000000"/>
                        </a:solidFill>
                        <a:latin typeface="Calibri"/>
                      </a:endParaRPr>
                    </a:p>
                  </a:txBody>
                  <a:tcPr marL="1151" marR="1151" marT="1151" marB="0" anchor="b"/>
                </a:tc>
                <a:tc>
                  <a:txBody>
                    <a:bodyPr/>
                    <a:lstStyle/>
                    <a:p>
                      <a:pPr algn="l" fontAlgn="b"/>
                      <a:r>
                        <a:rPr lang="en-US" sz="1600" u="none" strike="noStrike" dirty="0"/>
                        <a:t>DBMS tools (e.g., </a:t>
                      </a:r>
                      <a:r>
                        <a:rPr lang="en-US" sz="1600" u="none" strike="noStrike" dirty="0" err="1"/>
                        <a:t>MySQL</a:t>
                      </a:r>
                      <a:r>
                        <a:rPr lang="en-US" sz="1600" u="none" strike="noStrike" dirty="0"/>
                        <a:t> Workbench, </a:t>
                      </a:r>
                      <a:r>
                        <a:rPr lang="en-US" sz="1600" u="none" strike="noStrike" dirty="0" err="1"/>
                        <a:t>pgAdmin</a:t>
                      </a:r>
                      <a:r>
                        <a:rPr lang="en-US" sz="1600" u="none" strike="noStrike" dirty="0"/>
                        <a:t>, SQL Server Management Studio).</a:t>
                      </a:r>
                      <a:endParaRPr lang="en-US" sz="1600" b="0" i="0" u="none" strike="noStrike" dirty="0">
                        <a:solidFill>
                          <a:srgbClr val="000000"/>
                        </a:solidFill>
                        <a:latin typeface="Calibri"/>
                      </a:endParaRPr>
                    </a:p>
                  </a:txBody>
                  <a:tcPr marL="1151" marR="1151" marT="1151" marB="0" anchor="b"/>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7745</TotalTime>
  <Words>3560</Words>
  <Application>Microsoft Office PowerPoint</Application>
  <PresentationFormat>On-screen Show (4:3)</PresentationFormat>
  <Paragraphs>376</Paragraphs>
  <Slides>62</Slides>
  <Notes>1</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Relational Database Design</vt:lpstr>
      <vt:lpstr>Objectives</vt:lpstr>
      <vt:lpstr>Contents</vt:lpstr>
      <vt:lpstr>References</vt:lpstr>
      <vt:lpstr>Tables, Rows, Columns [1]</vt:lpstr>
      <vt:lpstr>Comparing Database Terms</vt:lpstr>
      <vt:lpstr>Primary Keys</vt:lpstr>
      <vt:lpstr>Foreign Keys</vt:lpstr>
      <vt:lpstr>Slide 9</vt:lpstr>
      <vt:lpstr>Why Normalization?</vt:lpstr>
      <vt:lpstr>The Three “Rules of One”</vt:lpstr>
      <vt:lpstr>First Normal Form (1NF)</vt:lpstr>
      <vt:lpstr>The First Normal Form Violation</vt:lpstr>
      <vt:lpstr>Fix 1NF Violation</vt:lpstr>
      <vt:lpstr>Second Normal Form (2NF)</vt:lpstr>
      <vt:lpstr>The Second Normal Form Violation</vt:lpstr>
      <vt:lpstr>Conform to the 2NF</vt:lpstr>
      <vt:lpstr>Third Normal Form (3NF)</vt:lpstr>
      <vt:lpstr>Violating the Third Normal Form</vt:lpstr>
      <vt:lpstr>Conforming to the 3NF</vt:lpstr>
      <vt:lpstr>Slide 21</vt:lpstr>
      <vt:lpstr>Database Design Phases</vt:lpstr>
      <vt:lpstr>Conceptual Model</vt:lpstr>
      <vt:lpstr>SQL DDL Layer</vt:lpstr>
      <vt:lpstr>Physical Layer</vt:lpstr>
      <vt:lpstr>Notes</vt:lpstr>
      <vt:lpstr>Slide 27</vt:lpstr>
      <vt:lpstr>Early DBMSs</vt:lpstr>
      <vt:lpstr>Relational Model Idea</vt:lpstr>
      <vt:lpstr>Relational Model</vt:lpstr>
      <vt:lpstr>Data Independence</vt:lpstr>
      <vt:lpstr>Relational Model: Relations &amp; Tuples</vt:lpstr>
      <vt:lpstr>Relational Model: Primary Keys</vt:lpstr>
      <vt:lpstr>Relational Model: Foreign Keys</vt:lpstr>
      <vt:lpstr>Relational Model: Constraints</vt:lpstr>
      <vt:lpstr>Data Manipulation Languages (DMLs) </vt:lpstr>
      <vt:lpstr>Relational Algebra</vt:lpstr>
      <vt:lpstr>Relational Algebra: Extra Operators</vt:lpstr>
      <vt:lpstr>Relational Model: Queries</vt:lpstr>
      <vt:lpstr>Vector Data Model</vt:lpstr>
      <vt:lpstr>Slide 41</vt:lpstr>
      <vt:lpstr>What is a Relation? [2]</vt:lpstr>
      <vt:lpstr>Notes</vt:lpstr>
      <vt:lpstr>Properties of a Relation</vt:lpstr>
      <vt:lpstr>Terminology</vt:lpstr>
      <vt:lpstr>The Relational Model</vt:lpstr>
      <vt:lpstr>Relational Database</vt:lpstr>
      <vt:lpstr>Entity-Relationship Approach Problems</vt:lpstr>
      <vt:lpstr>Role of Language in the Relational Model</vt:lpstr>
      <vt:lpstr>Primary Keys</vt:lpstr>
      <vt:lpstr>Foreign Key</vt:lpstr>
      <vt:lpstr>Slide 52</vt:lpstr>
      <vt:lpstr>Data Model (ChatGPT)</vt:lpstr>
      <vt:lpstr>Types of Data Models</vt:lpstr>
      <vt:lpstr>Schema (ChatGPT)</vt:lpstr>
      <vt:lpstr>Components of a Schema</vt:lpstr>
      <vt:lpstr>Schema</vt:lpstr>
      <vt:lpstr>Physical Location of Each Table (Entity)</vt:lpstr>
      <vt:lpstr>When to Separate into Different Databases</vt:lpstr>
      <vt:lpstr>When to Use Which Schema</vt:lpstr>
      <vt:lpstr>Data Model vs. Schema</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4023</cp:revision>
  <dcterms:created xsi:type="dcterms:W3CDTF">2007-10-06T08:25:13Z</dcterms:created>
  <dcterms:modified xsi:type="dcterms:W3CDTF">2024-11-10T17:05:01Z</dcterms:modified>
</cp:coreProperties>
</file>