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4"/>
  </p:notesMasterIdLst>
  <p:handoutMasterIdLst>
    <p:handoutMasterId r:id="rId35"/>
  </p:handoutMasterIdLst>
  <p:sldIdLst>
    <p:sldId id="256" r:id="rId2"/>
    <p:sldId id="580" r:id="rId3"/>
    <p:sldId id="581" r:id="rId4"/>
    <p:sldId id="582" r:id="rId5"/>
    <p:sldId id="543" r:id="rId6"/>
    <p:sldId id="592" r:id="rId7"/>
    <p:sldId id="593" r:id="rId8"/>
    <p:sldId id="544" r:id="rId9"/>
    <p:sldId id="545" r:id="rId10"/>
    <p:sldId id="600" r:id="rId11"/>
    <p:sldId id="605" r:id="rId12"/>
    <p:sldId id="606" r:id="rId13"/>
    <p:sldId id="607" r:id="rId14"/>
    <p:sldId id="608" r:id="rId15"/>
    <p:sldId id="609" r:id="rId16"/>
    <p:sldId id="610" r:id="rId17"/>
    <p:sldId id="611" r:id="rId18"/>
    <p:sldId id="612" r:id="rId19"/>
    <p:sldId id="613" r:id="rId20"/>
    <p:sldId id="614" r:id="rId21"/>
    <p:sldId id="615" r:id="rId22"/>
    <p:sldId id="556" r:id="rId23"/>
    <p:sldId id="594" r:id="rId24"/>
    <p:sldId id="595" r:id="rId25"/>
    <p:sldId id="596" r:id="rId26"/>
    <p:sldId id="599" r:id="rId27"/>
    <p:sldId id="597" r:id="rId28"/>
    <p:sldId id="598" r:id="rId29"/>
    <p:sldId id="602" r:id="rId30"/>
    <p:sldId id="601" r:id="rId31"/>
    <p:sldId id="603" r:id="rId32"/>
    <p:sldId id="360" r:id="rId3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24" autoAdjust="0"/>
    <p:restoredTop sz="94667" autoAdjust="0"/>
  </p:normalViewPr>
  <p:slideViewPr>
    <p:cSldViewPr>
      <p:cViewPr>
        <p:scale>
          <a:sx n="50" d="100"/>
          <a:sy n="50" d="100"/>
        </p:scale>
        <p:origin x="-150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31727DC-2E8F-43B3-8355-CCE0B6704CEB}" type="datetimeFigureOut">
              <a:rPr lang="en-US" smtClean="0"/>
              <a:pPr/>
              <a:t>11/8/2024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D0B4380-3815-4B2E-92FA-ED1993E061BE}"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5A67CB-EC97-4A9C-AC01-CDE0E9628729}" type="datetimeFigureOut">
              <a:rPr lang="en-US" smtClean="0"/>
              <a:pPr/>
              <a:t>11/8/2024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4D21D0-87B8-43A2-A59B-A5690BBF94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4D21D0-87B8-43A2-A59B-A5690BBF9499}"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4D21D0-87B8-43A2-A59B-A5690BBF9499}"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4D21D0-87B8-43A2-A59B-A5690BBF9499}"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7F6A842-585B-4FB8-B0AD-5A22636E93BF}"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A757F44-DAAA-4BFA-A1D9-B690FD69F10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77CC13E-AA34-4DB7-B0EC-5E3AAA7D3BAC}"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6F6660F-9FDB-4AFB-BE29-11A381729C2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5883334-71C9-49E2-A0BB-A043C182B878}"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4F881E5-BD58-41FC-93AD-0A909108779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AC3020B-3D2A-4D8C-B5FF-4D6A024CBDE8}" type="datetimeFigureOut">
              <a:rPr lang="en-US"/>
              <a:pPr>
                <a:defRPr/>
              </a:pPr>
              <a:t>11/8/2024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908E1C0-584A-404B-B99A-E5AD89ACF00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DB17DBA-E622-4CD1-BCA3-A03CD04FDCC6}" type="datetimeFigureOut">
              <a:rPr lang="en-US"/>
              <a:pPr>
                <a:defRPr/>
              </a:pPr>
              <a:t>11/8/2024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C9F4D90-9228-45C4-A427-06E557DE9CF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7491D3DF-EF49-4212-81A5-83E2D6EC0182}" type="datetimeFigureOut">
              <a:rPr lang="en-US"/>
              <a:pPr>
                <a:defRPr/>
              </a:pPr>
              <a:t>11/8/2024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5E97F0E-0BE9-471F-A7B8-4D2E909F9B3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0F86690-AF43-474E-AAC4-06B4786F7A5B}" type="datetimeFigureOut">
              <a:rPr lang="en-US"/>
              <a:pPr>
                <a:defRPr/>
              </a:pPr>
              <a:t>11/8/2024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C646AD9-6F95-4021-BF75-BF9B58A70F5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3CF0E39-78E2-4DE3-8C65-7CAB11F37A23}" type="datetimeFigureOut">
              <a:rPr lang="en-US"/>
              <a:pPr>
                <a:defRPr/>
              </a:pPr>
              <a:t>11/8/2024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4CF80FB-C1F7-4ADD-9C33-A8D7E6B4966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C12A139-0756-4DC4-8001-1DFC6C3458CC}" type="datetimeFigureOut">
              <a:rPr lang="en-US"/>
              <a:pPr>
                <a:defRPr/>
              </a:pPr>
              <a:t>11/8/2024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8795BAB-E1F5-4BBA-9D33-03EFE2F8DDA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E7FC515-BCDF-4B2C-80BB-863C58D176FB}"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2C6CC5B-ED2C-42FF-AE49-898FC683E24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62C8C39-B056-4409-B30D-266D32EB71C5}"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8BD453D-B7C3-4D56-B8B4-B49BCBFB825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B325272-1ED5-4E24-A128-8E8DEE352665}" type="datetimeFigureOut">
              <a:rPr lang="en-US"/>
              <a:pPr>
                <a:defRPr/>
              </a:pPr>
              <a:t>11/8/2024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F7590F4-D8FE-45EA-A958-7E45569A001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Joins, </a:t>
            </a:r>
            <a:r>
              <a:rPr lang="en-US" sz="6000" dirty="0" err="1" smtClean="0"/>
              <a:t>Subqueries</a:t>
            </a:r>
            <a:r>
              <a:rPr lang="en-US" sz="6000" dirty="0" smtClean="0"/>
              <a:t>, and CTEs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dirty="0" smtClean="0"/>
              <a:t>Adam Jorgensen et al. (2012). Microsoft SQL Server 2012 Bible. Wiley.</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Algebra</a:t>
            </a:r>
            <a:endParaRPr lang="en-US" dirty="0"/>
          </a:p>
        </p:txBody>
      </p:sp>
      <p:sp>
        <p:nvSpPr>
          <p:cNvPr id="3" name="Content Placeholder 2"/>
          <p:cNvSpPr>
            <a:spLocks noGrp="1"/>
          </p:cNvSpPr>
          <p:nvPr>
            <p:ph idx="1"/>
          </p:nvPr>
        </p:nvSpPr>
        <p:spPr/>
        <p:txBody>
          <a:bodyPr/>
          <a:lstStyle/>
          <a:p>
            <a:r>
              <a:rPr lang="en-US" sz="2400" dirty="0" smtClean="0"/>
              <a:t>Relational databases, by their nature, </a:t>
            </a:r>
            <a:r>
              <a:rPr lang="en-US" sz="2400" u="sng" dirty="0" smtClean="0"/>
              <a:t>segment data</a:t>
            </a:r>
            <a:r>
              <a:rPr lang="en-US" sz="2400" dirty="0" smtClean="0"/>
              <a:t> into several </a:t>
            </a:r>
            <a:r>
              <a:rPr lang="en-US" sz="2400" i="1" dirty="0" smtClean="0">
                <a:solidFill>
                  <a:srgbClr val="C00000"/>
                </a:solidFill>
              </a:rPr>
              <a:t>narrow</a:t>
            </a:r>
            <a:r>
              <a:rPr lang="en-US" sz="2400" dirty="0" smtClean="0"/>
              <a:t>, but </a:t>
            </a:r>
            <a:r>
              <a:rPr lang="en-US" sz="2400" i="1" dirty="0" smtClean="0">
                <a:solidFill>
                  <a:srgbClr val="C00000"/>
                </a:solidFill>
              </a:rPr>
              <a:t>long</a:t>
            </a:r>
            <a:r>
              <a:rPr lang="en-US" sz="2400" dirty="0" smtClean="0"/>
              <a:t>, </a:t>
            </a:r>
            <a:r>
              <a:rPr lang="en-US" sz="2400" i="1" dirty="0" smtClean="0">
                <a:solidFill>
                  <a:srgbClr val="C00000"/>
                </a:solidFill>
              </a:rPr>
              <a:t>tables</a:t>
            </a:r>
            <a:r>
              <a:rPr lang="en-US" sz="2400" dirty="0" smtClean="0"/>
              <a:t>.</a:t>
            </a:r>
          </a:p>
          <a:p>
            <a:r>
              <a:rPr lang="en-US" sz="2400" dirty="0" smtClean="0"/>
              <a:t>Seldom does looking at a single table provide meaningful data. Therefore, </a:t>
            </a:r>
            <a:r>
              <a:rPr lang="en-US" sz="2400" i="1" dirty="0" smtClean="0">
                <a:solidFill>
                  <a:srgbClr val="C00000"/>
                </a:solidFill>
              </a:rPr>
              <a:t>merging data</a:t>
            </a:r>
            <a:r>
              <a:rPr lang="en-US" sz="2400" dirty="0" smtClean="0"/>
              <a:t> from </a:t>
            </a:r>
            <a:r>
              <a:rPr lang="en-US" sz="2400" u="sng" dirty="0" smtClean="0"/>
              <a:t>multiple tables</a:t>
            </a:r>
            <a:r>
              <a:rPr lang="en-US" sz="2400" dirty="0" smtClean="0"/>
              <a:t> is an important task for SQL developers.</a:t>
            </a:r>
          </a:p>
          <a:p>
            <a:r>
              <a:rPr lang="en-US" sz="2400" dirty="0" smtClean="0"/>
              <a:t>The </a:t>
            </a:r>
            <a:r>
              <a:rPr lang="en-US" sz="2400" u="sng" dirty="0" smtClean="0"/>
              <a:t>theory</a:t>
            </a:r>
            <a:r>
              <a:rPr lang="en-US" sz="2400" dirty="0" smtClean="0"/>
              <a:t> behind merging data sets is </a:t>
            </a:r>
            <a:r>
              <a:rPr lang="en-US" sz="2400" i="1" dirty="0" smtClean="0">
                <a:solidFill>
                  <a:srgbClr val="C00000"/>
                </a:solidFill>
              </a:rPr>
              <a:t>relational algebra</a:t>
            </a:r>
            <a:r>
              <a:rPr lang="en-US" sz="2400" dirty="0" smtClean="0"/>
              <a:t>, as defined by E. F. </a:t>
            </a:r>
            <a:r>
              <a:rPr lang="en-US" sz="2400" dirty="0" err="1" smtClean="0"/>
              <a:t>Codd</a:t>
            </a:r>
            <a:r>
              <a:rPr lang="en-US" sz="2400" dirty="0" smtClean="0"/>
              <a:t> in 1970.</a:t>
            </a:r>
          </a:p>
          <a:p>
            <a:r>
              <a:rPr lang="en-US" sz="2400" dirty="0" smtClean="0"/>
              <a:t>In the </a:t>
            </a:r>
            <a:r>
              <a:rPr lang="en-US" sz="2400" i="1" dirty="0" smtClean="0">
                <a:solidFill>
                  <a:srgbClr val="C00000"/>
                </a:solidFill>
              </a:rPr>
              <a:t>formal language</a:t>
            </a:r>
            <a:r>
              <a:rPr lang="en-US" sz="2400" dirty="0" smtClean="0"/>
              <a:t> of relational algebra:</a:t>
            </a:r>
          </a:p>
          <a:p>
            <a:pPr lvl="1"/>
            <a:r>
              <a:rPr lang="en-US" sz="2000" dirty="0" smtClean="0"/>
              <a:t>A </a:t>
            </a:r>
            <a:r>
              <a:rPr lang="en-US" sz="2000" u="sng" dirty="0" smtClean="0"/>
              <a:t>table</a:t>
            </a:r>
            <a:r>
              <a:rPr lang="en-US" sz="2000" dirty="0" smtClean="0"/>
              <a:t>, or data set, is a </a:t>
            </a:r>
            <a:r>
              <a:rPr lang="en-US" sz="2000" i="1" dirty="0" smtClean="0">
                <a:solidFill>
                  <a:srgbClr val="C00000"/>
                </a:solidFill>
              </a:rPr>
              <a:t>relation</a:t>
            </a:r>
            <a:r>
              <a:rPr lang="en-US" sz="2000" dirty="0" smtClean="0"/>
              <a:t> or entity.</a:t>
            </a:r>
          </a:p>
          <a:p>
            <a:pPr lvl="1"/>
            <a:r>
              <a:rPr lang="en-US" sz="2000" dirty="0" smtClean="0"/>
              <a:t>A </a:t>
            </a:r>
            <a:r>
              <a:rPr lang="en-US" sz="2000" u="sng" dirty="0" smtClean="0"/>
              <a:t>row</a:t>
            </a:r>
            <a:r>
              <a:rPr lang="en-US" sz="2000" dirty="0" smtClean="0"/>
              <a:t> is a </a:t>
            </a:r>
            <a:r>
              <a:rPr lang="en-US" sz="2000" i="1" dirty="0" err="1" smtClean="0">
                <a:solidFill>
                  <a:srgbClr val="C00000"/>
                </a:solidFill>
              </a:rPr>
              <a:t>tuple</a:t>
            </a:r>
            <a:r>
              <a:rPr lang="en-US" sz="2000" dirty="0" smtClean="0"/>
              <a:t>.</a:t>
            </a:r>
          </a:p>
          <a:p>
            <a:pPr lvl="1"/>
            <a:r>
              <a:rPr lang="en-US" sz="2000" dirty="0" smtClean="0"/>
              <a:t>A </a:t>
            </a:r>
            <a:r>
              <a:rPr lang="en-US" sz="2000" u="sng" dirty="0" smtClean="0"/>
              <a:t>column</a:t>
            </a:r>
            <a:r>
              <a:rPr lang="en-US" sz="2000" dirty="0" smtClean="0"/>
              <a:t> is an </a:t>
            </a:r>
            <a:r>
              <a:rPr lang="en-US" sz="2000" i="1" dirty="0" smtClean="0">
                <a:solidFill>
                  <a:srgbClr val="C00000"/>
                </a:solidFill>
              </a:rPr>
              <a:t>attribute</a:t>
            </a:r>
            <a:r>
              <a:rPr lang="en-US" sz="2000" dirty="0" smtClean="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Operators</a:t>
            </a:r>
            <a:endParaRPr lang="en-US" dirty="0"/>
          </a:p>
        </p:txBody>
      </p:sp>
      <p:sp>
        <p:nvSpPr>
          <p:cNvPr id="3" name="Content Placeholder 2"/>
          <p:cNvSpPr>
            <a:spLocks noGrp="1"/>
          </p:cNvSpPr>
          <p:nvPr>
            <p:ph idx="1"/>
          </p:nvPr>
        </p:nvSpPr>
        <p:spPr/>
        <p:txBody>
          <a:bodyPr/>
          <a:lstStyle/>
          <a:p>
            <a:r>
              <a:rPr lang="en-US" sz="2400" dirty="0" smtClean="0"/>
              <a:t>Relational algebra consists of eight relational operators:</a:t>
            </a:r>
            <a:endParaRPr lang="en-US" sz="2400" i="1" dirty="0" smtClean="0">
              <a:solidFill>
                <a:srgbClr val="C00000"/>
              </a:solidFill>
            </a:endParaRPr>
          </a:p>
          <a:p>
            <a:pPr lvl="1"/>
            <a:r>
              <a:rPr lang="en-US" sz="1800" i="1" dirty="0" smtClean="0">
                <a:solidFill>
                  <a:srgbClr val="C00000"/>
                </a:solidFill>
              </a:rPr>
              <a:t>Restrict</a:t>
            </a:r>
            <a:r>
              <a:rPr lang="en-US" sz="1800" dirty="0" smtClean="0"/>
              <a:t>: Returns the rows that meet a certain criterion</a:t>
            </a:r>
          </a:p>
          <a:p>
            <a:pPr lvl="1"/>
            <a:r>
              <a:rPr lang="en-US" sz="1800" i="1" dirty="0" smtClean="0">
                <a:solidFill>
                  <a:srgbClr val="C00000"/>
                </a:solidFill>
              </a:rPr>
              <a:t>Project</a:t>
            </a:r>
            <a:r>
              <a:rPr lang="en-US" sz="1800" dirty="0" smtClean="0"/>
              <a:t>: Returns selected columns, or calculated data, from a data set</a:t>
            </a:r>
          </a:p>
          <a:p>
            <a:pPr lvl="1"/>
            <a:r>
              <a:rPr lang="en-US" sz="1800" i="1" dirty="0" smtClean="0">
                <a:solidFill>
                  <a:srgbClr val="C00000"/>
                </a:solidFill>
              </a:rPr>
              <a:t>Product</a:t>
            </a:r>
            <a:r>
              <a:rPr lang="en-US" sz="1800" dirty="0" smtClean="0"/>
              <a:t>: Relational multiplication that returns all possible combinations of data between two data sets</a:t>
            </a:r>
          </a:p>
          <a:p>
            <a:pPr lvl="1"/>
            <a:r>
              <a:rPr lang="en-US" sz="1800" i="1" dirty="0" smtClean="0">
                <a:solidFill>
                  <a:srgbClr val="C00000"/>
                </a:solidFill>
              </a:rPr>
              <a:t>Union</a:t>
            </a:r>
            <a:r>
              <a:rPr lang="en-US" sz="1800" dirty="0" smtClean="0"/>
              <a:t>: Relational addition and subtraction that merges two tables vertically by stacking one table above another table and lining up the columns</a:t>
            </a:r>
          </a:p>
          <a:p>
            <a:pPr lvl="1"/>
            <a:r>
              <a:rPr lang="en-US" sz="1800" i="1" dirty="0" smtClean="0">
                <a:solidFill>
                  <a:srgbClr val="C00000"/>
                </a:solidFill>
              </a:rPr>
              <a:t>Intersection</a:t>
            </a:r>
            <a:r>
              <a:rPr lang="en-US" sz="1800" dirty="0" smtClean="0"/>
              <a:t>: Returns the rows common to two data sets</a:t>
            </a:r>
          </a:p>
          <a:p>
            <a:pPr lvl="1"/>
            <a:r>
              <a:rPr lang="en-US" sz="1800" i="1" dirty="0" smtClean="0">
                <a:solidFill>
                  <a:srgbClr val="C00000"/>
                </a:solidFill>
              </a:rPr>
              <a:t>Difference</a:t>
            </a:r>
            <a:r>
              <a:rPr lang="en-US" sz="1800" dirty="0" smtClean="0"/>
              <a:t>: Returns the rows unique to one data set</a:t>
            </a:r>
          </a:p>
          <a:p>
            <a:pPr lvl="1"/>
            <a:r>
              <a:rPr lang="en-US" sz="1800" i="1" dirty="0" smtClean="0">
                <a:solidFill>
                  <a:srgbClr val="C00000"/>
                </a:solidFill>
              </a:rPr>
              <a:t>Join</a:t>
            </a:r>
            <a:r>
              <a:rPr lang="en-US" sz="1800" dirty="0" smtClean="0"/>
              <a:t>: Returns the horizontal merger of two tables, matching up rows based on common data</a:t>
            </a:r>
          </a:p>
          <a:p>
            <a:pPr lvl="1"/>
            <a:r>
              <a:rPr lang="en-US" sz="1800" i="1" dirty="0" smtClean="0">
                <a:solidFill>
                  <a:srgbClr val="C00000"/>
                </a:solidFill>
              </a:rPr>
              <a:t>Divide</a:t>
            </a:r>
            <a:r>
              <a:rPr lang="en-US" sz="1800" dirty="0" smtClean="0"/>
              <a:t>: The inverse of relational multiplication, returns rows in one data set that match every row in a corresponding data set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Subqueries</a:t>
            </a:r>
            <a:endParaRPr lang="en-US" dirty="0"/>
          </a:p>
        </p:txBody>
      </p:sp>
      <p:sp>
        <p:nvSpPr>
          <p:cNvPr id="3" name="Content Placeholder 2"/>
          <p:cNvSpPr>
            <a:spLocks noGrp="1"/>
          </p:cNvSpPr>
          <p:nvPr>
            <p:ph idx="1"/>
          </p:nvPr>
        </p:nvSpPr>
        <p:spPr/>
        <p:txBody>
          <a:bodyPr/>
          <a:lstStyle/>
          <a:p>
            <a:r>
              <a:rPr lang="en-US" sz="2400" dirty="0" smtClean="0"/>
              <a:t>In addition, as a method to accomplish relational algebra, SQL has implemented the following:</a:t>
            </a:r>
          </a:p>
          <a:p>
            <a:pPr lvl="1"/>
            <a:r>
              <a:rPr lang="en-US" sz="2000" dirty="0" err="1" smtClean="0"/>
              <a:t>Subqueries</a:t>
            </a:r>
            <a:r>
              <a:rPr lang="en-US" sz="2000" dirty="0" smtClean="0"/>
              <a:t>: Similar to a join but more flexible; the results of the </a:t>
            </a:r>
            <a:r>
              <a:rPr lang="en-US" sz="2000" dirty="0" err="1" smtClean="0"/>
              <a:t>subquery</a:t>
            </a:r>
            <a:r>
              <a:rPr lang="en-US" sz="2000" dirty="0" smtClean="0"/>
              <a:t> are used in place of an expression, list, or data set within an outer query.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 Joins</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inner join</a:t>
            </a:r>
            <a:r>
              <a:rPr lang="en-US" sz="2400" dirty="0" smtClean="0"/>
              <a:t> includes only those rows from each side of the join that are contained within the intersection of the two data sources.</a:t>
            </a:r>
            <a:endParaRPr lang="en-US" sz="2400" dirty="0"/>
          </a:p>
        </p:txBody>
      </p:sp>
      <p:sp>
        <p:nvSpPr>
          <p:cNvPr id="4" name="Content Placeholder 2"/>
          <p:cNvSpPr txBox="1">
            <a:spLocks/>
          </p:cNvSpPr>
          <p:nvPr/>
        </p:nvSpPr>
        <p:spPr>
          <a:xfrm>
            <a:off x="457200" y="4648200"/>
            <a:ext cx="8229600" cy="1600200"/>
          </a:xfrm>
          <a:prstGeom prst="rect">
            <a:avLst/>
          </a:prstGeom>
          <a:solidFill>
            <a:schemeClr val="bg1">
              <a:lumMod val="95000"/>
            </a:schemeClr>
          </a:solidFill>
          <a:ln>
            <a:solidFill>
              <a:schemeClr val="bg1">
                <a:lumMod val="50000"/>
              </a:schemeClr>
            </a:solidFill>
          </a:ln>
        </p:spPr>
        <p:txBody>
          <a:bodyPr vert="horz" lIns="91440" tIns="45720" rIns="91440" bIns="45720" rtlCol="0">
            <a:normAutofit/>
          </a:bodyPr>
          <a:lstStyle/>
          <a:p>
            <a:r>
              <a:rPr lang="en-US" sz="2400" dirty="0" smtClean="0">
                <a:solidFill>
                  <a:srgbClr val="0000FF"/>
                </a:solidFill>
                <a:latin typeface="Courier New" pitchFamily="49" charset="0"/>
                <a:cs typeface="Courier New" pitchFamily="49" charset="0"/>
              </a:rPr>
              <a:t>SELECT </a:t>
            </a:r>
            <a:r>
              <a:rPr lang="en-US" sz="2400" dirty="0" smtClean="0">
                <a:solidFill>
                  <a:srgbClr val="808080"/>
                </a:solidFill>
                <a:latin typeface="Courier New" pitchFamily="49" charset="0"/>
                <a:cs typeface="Courier New" pitchFamily="49" charset="0"/>
              </a:rPr>
              <a:t>*</a:t>
            </a:r>
          </a:p>
          <a:p>
            <a:r>
              <a:rPr lang="en-US" sz="2400" dirty="0" smtClean="0">
                <a:solidFill>
                  <a:srgbClr val="808080"/>
                </a:solidFill>
                <a:latin typeface="Courier New" pitchFamily="49" charset="0"/>
                <a:cs typeface="Courier New" pitchFamily="49" charset="0"/>
              </a:rPr>
              <a:t>	</a:t>
            </a:r>
            <a:r>
              <a:rPr lang="en-US" sz="2400" dirty="0" smtClean="0">
                <a:solidFill>
                  <a:srgbClr val="0000FF"/>
                </a:solidFill>
                <a:latin typeface="Courier New" pitchFamily="49" charset="0"/>
                <a:cs typeface="Courier New" pitchFamily="49" charset="0"/>
              </a:rPr>
              <a:t>FROM Table1</a:t>
            </a:r>
          </a:p>
          <a:p>
            <a:r>
              <a:rPr lang="en-US" sz="2400" dirty="0" smtClean="0">
                <a:solidFill>
                  <a:srgbClr val="0000FF"/>
                </a:solidFill>
                <a:latin typeface="Courier New" pitchFamily="49" charset="0"/>
                <a:cs typeface="Courier New" pitchFamily="49" charset="0"/>
              </a:rPr>
              <a:t>	[INNER] </a:t>
            </a:r>
            <a:r>
              <a:rPr lang="en-US" sz="2400" dirty="0" smtClean="0">
                <a:solidFill>
                  <a:srgbClr val="808080"/>
                </a:solidFill>
                <a:latin typeface="Courier New" pitchFamily="49" charset="0"/>
                <a:cs typeface="Courier New" pitchFamily="49" charset="0"/>
              </a:rPr>
              <a:t>JOIN Table2</a:t>
            </a:r>
          </a:p>
          <a:p>
            <a:r>
              <a:rPr lang="en-US" sz="2400" dirty="0" smtClean="0">
                <a:solidFill>
                  <a:srgbClr val="808080"/>
                </a:solidFill>
                <a:latin typeface="Courier New" pitchFamily="49" charset="0"/>
                <a:cs typeface="Courier New" pitchFamily="49" charset="0"/>
              </a:rPr>
              <a:t>		</a:t>
            </a:r>
            <a:r>
              <a:rPr lang="en-US" sz="2400" dirty="0" smtClean="0">
                <a:solidFill>
                  <a:srgbClr val="0000FF"/>
                </a:solidFill>
                <a:latin typeface="Courier New" pitchFamily="49" charset="0"/>
                <a:cs typeface="Courier New" pitchFamily="49" charset="0"/>
              </a:rPr>
              <a:t>ON Table1</a:t>
            </a:r>
            <a:r>
              <a:rPr lang="en-US" sz="2400" dirty="0" smtClean="0">
                <a:solidFill>
                  <a:srgbClr val="808080"/>
                </a:solidFill>
                <a:latin typeface="Courier New" pitchFamily="49" charset="0"/>
                <a:cs typeface="Courier New" pitchFamily="49" charset="0"/>
              </a:rPr>
              <a:t>.</a:t>
            </a:r>
            <a:r>
              <a:rPr lang="en-US" sz="2400" dirty="0" smtClean="0">
                <a:solidFill>
                  <a:srgbClr val="0000FF"/>
                </a:solidFill>
                <a:latin typeface="Courier New" pitchFamily="49" charset="0"/>
                <a:cs typeface="Courier New" pitchFamily="49" charset="0"/>
              </a:rPr>
              <a:t>column </a:t>
            </a:r>
            <a:r>
              <a:rPr lang="en-US" sz="2400" dirty="0" smtClean="0">
                <a:solidFill>
                  <a:srgbClr val="808080"/>
                </a:solidFill>
                <a:latin typeface="Courier New" pitchFamily="49" charset="0"/>
                <a:cs typeface="Courier New" pitchFamily="49" charset="0"/>
              </a:rPr>
              <a:t>= Table2.</a:t>
            </a:r>
            <a:r>
              <a:rPr lang="en-US" sz="2400" dirty="0" smtClean="0">
                <a:solidFill>
                  <a:srgbClr val="0000FF"/>
                </a:solidFill>
                <a:latin typeface="Courier New" pitchFamily="49" charset="0"/>
                <a:cs typeface="Courier New" pitchFamily="49" charset="0"/>
              </a:rPr>
              <a:t>column</a:t>
            </a:r>
            <a:r>
              <a:rPr lang="en-US" sz="2400" dirty="0" smtClean="0">
                <a:solidFill>
                  <a:srgbClr val="808080"/>
                </a:solidFill>
                <a:latin typeface="Courier New" pitchFamily="49" charset="0"/>
                <a:cs typeface="Courier New" pitchFamily="49" charset="0"/>
              </a:rPr>
              <a:t>;</a:t>
            </a:r>
          </a:p>
        </p:txBody>
      </p:sp>
      <p:pic>
        <p:nvPicPr>
          <p:cNvPr id="1026" name="Picture 2"/>
          <p:cNvPicPr>
            <a:picLocks noChangeAspect="1" noChangeArrowheads="1"/>
          </p:cNvPicPr>
          <p:nvPr/>
        </p:nvPicPr>
        <p:blipFill>
          <a:blip r:embed="rId2" cstate="print"/>
          <a:srcRect/>
          <a:stretch>
            <a:fillRect/>
          </a:stretch>
        </p:blipFill>
        <p:spPr bwMode="auto">
          <a:xfrm>
            <a:off x="3276600" y="2743200"/>
            <a:ext cx="2651760" cy="1746504"/>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Outer Joins</a:t>
            </a:r>
            <a:endParaRPr lang="en-US" dirty="0"/>
          </a:p>
        </p:txBody>
      </p:sp>
      <p:sp>
        <p:nvSpPr>
          <p:cNvPr id="3" name="Content Placeholder 2"/>
          <p:cNvSpPr>
            <a:spLocks noGrp="1"/>
          </p:cNvSpPr>
          <p:nvPr>
            <p:ph idx="1"/>
          </p:nvPr>
        </p:nvSpPr>
        <p:spPr/>
        <p:txBody>
          <a:bodyPr/>
          <a:lstStyle/>
          <a:p>
            <a:r>
              <a:rPr lang="en-US" sz="2400" dirty="0" smtClean="0"/>
              <a:t>An </a:t>
            </a:r>
            <a:r>
              <a:rPr lang="en-US" sz="2400" i="1" dirty="0" smtClean="0">
                <a:solidFill>
                  <a:srgbClr val="C00000"/>
                </a:solidFill>
              </a:rPr>
              <a:t>outer join</a:t>
            </a:r>
            <a:r>
              <a:rPr lang="en-US" sz="2400" dirty="0" smtClean="0"/>
              <a:t> includes not only rows from the two data sources with a match, but also unmatched rows from outside the intersection.</a:t>
            </a:r>
            <a:endParaRPr lang="en-US" sz="2400" dirty="0"/>
          </a:p>
        </p:txBody>
      </p:sp>
      <p:sp>
        <p:nvSpPr>
          <p:cNvPr id="4" name="Content Placeholder 2"/>
          <p:cNvSpPr txBox="1">
            <a:spLocks/>
          </p:cNvSpPr>
          <p:nvPr/>
        </p:nvSpPr>
        <p:spPr>
          <a:xfrm>
            <a:off x="457200" y="4800600"/>
            <a:ext cx="8229600" cy="1447800"/>
          </a:xfrm>
          <a:prstGeom prst="rect">
            <a:avLst/>
          </a:prstGeom>
          <a:solidFill>
            <a:schemeClr val="bg1">
              <a:lumMod val="95000"/>
            </a:schemeClr>
          </a:solidFill>
          <a:ln>
            <a:solidFill>
              <a:schemeClr val="bg1">
                <a:lumMod val="50000"/>
              </a:schemeClr>
            </a:solidFill>
          </a:ln>
        </p:spPr>
        <p:txBody>
          <a:bodyPr vert="horz" lIns="91440" tIns="45720" rIns="91440" bIns="45720" rtlCol="0">
            <a:normAutofit/>
          </a:bodyPr>
          <a:lstStyle/>
          <a:p>
            <a:r>
              <a:rPr lang="en-US" sz="2000" dirty="0" smtClean="0">
                <a:solidFill>
                  <a:srgbClr val="0000FF"/>
                </a:solidFill>
                <a:latin typeface="Courier New" pitchFamily="49" charset="0"/>
                <a:cs typeface="Courier New" pitchFamily="49" charset="0"/>
              </a:rPr>
              <a:t>SELECT </a:t>
            </a:r>
            <a:r>
              <a:rPr lang="en-US" sz="2000" dirty="0" smtClean="0">
                <a:solidFill>
                  <a:srgbClr val="808080"/>
                </a:solidFill>
                <a:latin typeface="Courier New" pitchFamily="49" charset="0"/>
                <a:cs typeface="Courier New" pitchFamily="49" charset="0"/>
              </a:rPr>
              <a:t>*</a:t>
            </a:r>
          </a:p>
          <a:p>
            <a:r>
              <a:rPr lang="en-US" sz="2000" dirty="0" smtClean="0">
                <a:solidFill>
                  <a:srgbClr val="808080"/>
                </a:solidFill>
                <a:latin typeface="Courier New" pitchFamily="49" charset="0"/>
                <a:cs typeface="Courier New" pitchFamily="49" charset="0"/>
              </a:rPr>
              <a:t>	</a:t>
            </a:r>
            <a:r>
              <a:rPr lang="en-US" sz="2000" dirty="0" smtClean="0">
                <a:solidFill>
                  <a:srgbClr val="0000FF"/>
                </a:solidFill>
                <a:latin typeface="Courier New" pitchFamily="49" charset="0"/>
                <a:cs typeface="Courier New" pitchFamily="49" charset="0"/>
              </a:rPr>
              <a:t>FROM Table1</a:t>
            </a:r>
          </a:p>
          <a:p>
            <a:r>
              <a:rPr lang="en-US" sz="2000" dirty="0" smtClean="0">
                <a:solidFill>
                  <a:srgbClr val="0000FF"/>
                </a:solidFill>
                <a:latin typeface="Courier New" pitchFamily="49" charset="0"/>
                <a:cs typeface="Courier New" pitchFamily="49" charset="0"/>
              </a:rPr>
              <a:t>		</a:t>
            </a:r>
            <a:r>
              <a:rPr lang="en-US" sz="2000" dirty="0" smtClean="0">
                <a:solidFill>
                  <a:srgbClr val="808080"/>
                </a:solidFill>
                <a:latin typeface="Courier New" pitchFamily="49" charset="0"/>
                <a:cs typeface="Courier New" pitchFamily="49" charset="0"/>
              </a:rPr>
              <a:t>LEFT|RIGHT [OUTER] JOIN Table2</a:t>
            </a:r>
          </a:p>
          <a:p>
            <a:r>
              <a:rPr lang="en-US" sz="2000" dirty="0" smtClean="0">
                <a:solidFill>
                  <a:srgbClr val="808080"/>
                </a:solidFill>
                <a:latin typeface="Courier New" pitchFamily="49" charset="0"/>
                <a:cs typeface="Courier New" pitchFamily="49" charset="0"/>
              </a:rPr>
              <a:t>			</a:t>
            </a:r>
            <a:r>
              <a:rPr lang="en-US" sz="2000" dirty="0" smtClean="0">
                <a:solidFill>
                  <a:srgbClr val="0000FF"/>
                </a:solidFill>
                <a:latin typeface="Courier New" pitchFamily="49" charset="0"/>
                <a:cs typeface="Courier New" pitchFamily="49" charset="0"/>
              </a:rPr>
              <a:t>ON Table1</a:t>
            </a:r>
            <a:r>
              <a:rPr lang="en-US" sz="2000" dirty="0" smtClean="0">
                <a:solidFill>
                  <a:srgbClr val="808080"/>
                </a:solidFill>
                <a:latin typeface="Courier New" pitchFamily="49" charset="0"/>
                <a:cs typeface="Courier New" pitchFamily="49" charset="0"/>
              </a:rPr>
              <a:t>.</a:t>
            </a:r>
            <a:r>
              <a:rPr lang="en-US" sz="2000" dirty="0" smtClean="0">
                <a:solidFill>
                  <a:srgbClr val="0000FF"/>
                </a:solidFill>
                <a:latin typeface="Courier New" pitchFamily="49" charset="0"/>
                <a:cs typeface="Courier New" pitchFamily="49" charset="0"/>
              </a:rPr>
              <a:t>column </a:t>
            </a:r>
            <a:r>
              <a:rPr lang="en-US" sz="2000" dirty="0" smtClean="0">
                <a:solidFill>
                  <a:srgbClr val="808080"/>
                </a:solidFill>
                <a:latin typeface="Courier New" pitchFamily="49" charset="0"/>
                <a:cs typeface="Courier New" pitchFamily="49" charset="0"/>
              </a:rPr>
              <a:t>= Table2.</a:t>
            </a:r>
            <a:r>
              <a:rPr lang="en-US" sz="2000" dirty="0" smtClean="0">
                <a:solidFill>
                  <a:srgbClr val="0000FF"/>
                </a:solidFill>
                <a:latin typeface="Courier New" pitchFamily="49" charset="0"/>
                <a:cs typeface="Courier New" pitchFamily="49" charset="0"/>
              </a:rPr>
              <a:t>column</a:t>
            </a:r>
            <a:r>
              <a:rPr lang="en-US" sz="2000" dirty="0" smtClean="0">
                <a:solidFill>
                  <a:srgbClr val="808080"/>
                </a:solidFill>
                <a:latin typeface="Courier New" pitchFamily="49" charset="0"/>
                <a:cs typeface="Courier New" pitchFamily="49" charset="0"/>
              </a:rPr>
              <a:t>;</a:t>
            </a:r>
          </a:p>
        </p:txBody>
      </p:sp>
      <p:pic>
        <p:nvPicPr>
          <p:cNvPr id="2050" name="Picture 2"/>
          <p:cNvPicPr>
            <a:picLocks noChangeAspect="1" noChangeArrowheads="1"/>
          </p:cNvPicPr>
          <p:nvPr/>
        </p:nvPicPr>
        <p:blipFill>
          <a:blip r:embed="rId2" cstate="print"/>
          <a:srcRect/>
          <a:stretch>
            <a:fillRect/>
          </a:stretch>
        </p:blipFill>
        <p:spPr bwMode="auto">
          <a:xfrm>
            <a:off x="3200400" y="2700528"/>
            <a:ext cx="2729484" cy="1947672"/>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Outer Joins</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full outer join</a:t>
            </a:r>
            <a:r>
              <a:rPr lang="en-US" sz="2400" dirty="0" smtClean="0"/>
              <a:t> returns all the data from both data sets, matching the rows where it can and presenting NULL when it cannot.</a:t>
            </a:r>
            <a:endParaRPr lang="en-US" sz="2400" dirty="0"/>
          </a:p>
        </p:txBody>
      </p:sp>
      <p:sp>
        <p:nvSpPr>
          <p:cNvPr id="4" name="Content Placeholder 2"/>
          <p:cNvSpPr txBox="1">
            <a:spLocks/>
          </p:cNvSpPr>
          <p:nvPr/>
        </p:nvSpPr>
        <p:spPr>
          <a:xfrm>
            <a:off x="457200" y="4800600"/>
            <a:ext cx="8229600" cy="1447800"/>
          </a:xfrm>
          <a:prstGeom prst="rect">
            <a:avLst/>
          </a:prstGeom>
          <a:solidFill>
            <a:schemeClr val="bg1">
              <a:lumMod val="95000"/>
            </a:schemeClr>
          </a:solidFill>
          <a:ln>
            <a:solidFill>
              <a:schemeClr val="bg1">
                <a:lumMod val="50000"/>
              </a:schemeClr>
            </a:solidFill>
          </a:ln>
        </p:spPr>
        <p:txBody>
          <a:bodyPr vert="horz" lIns="91440" tIns="45720" rIns="91440" bIns="45720" rtlCol="0">
            <a:normAutofit/>
          </a:bodyPr>
          <a:lstStyle/>
          <a:p>
            <a:r>
              <a:rPr lang="en-US" sz="2000" dirty="0" smtClean="0">
                <a:solidFill>
                  <a:srgbClr val="0000FF"/>
                </a:solidFill>
                <a:latin typeface="Courier New" pitchFamily="49" charset="0"/>
                <a:cs typeface="Courier New" pitchFamily="49" charset="0"/>
              </a:rPr>
              <a:t>SELECT </a:t>
            </a:r>
            <a:r>
              <a:rPr lang="en-US" sz="2000" dirty="0" smtClean="0">
                <a:solidFill>
                  <a:srgbClr val="808080"/>
                </a:solidFill>
                <a:latin typeface="Courier New" pitchFamily="49" charset="0"/>
                <a:cs typeface="Courier New" pitchFamily="49" charset="0"/>
              </a:rPr>
              <a:t>*</a:t>
            </a:r>
          </a:p>
          <a:p>
            <a:r>
              <a:rPr lang="en-US" sz="2000" dirty="0" smtClean="0">
                <a:solidFill>
                  <a:srgbClr val="808080"/>
                </a:solidFill>
                <a:latin typeface="Courier New" pitchFamily="49" charset="0"/>
                <a:cs typeface="Courier New" pitchFamily="49" charset="0"/>
              </a:rPr>
              <a:t>	</a:t>
            </a:r>
            <a:r>
              <a:rPr lang="en-US" sz="2000" dirty="0" smtClean="0">
                <a:solidFill>
                  <a:srgbClr val="0000FF"/>
                </a:solidFill>
                <a:latin typeface="Courier New" pitchFamily="49" charset="0"/>
                <a:cs typeface="Courier New" pitchFamily="49" charset="0"/>
              </a:rPr>
              <a:t>FROM Table1</a:t>
            </a:r>
          </a:p>
          <a:p>
            <a:r>
              <a:rPr lang="en-US" sz="2000" dirty="0" smtClean="0">
                <a:solidFill>
                  <a:srgbClr val="0000FF"/>
                </a:solidFill>
                <a:latin typeface="Courier New" pitchFamily="49" charset="0"/>
                <a:cs typeface="Courier New" pitchFamily="49" charset="0"/>
              </a:rPr>
              <a:t>		</a:t>
            </a:r>
            <a:r>
              <a:rPr lang="en-US" sz="2000" dirty="0" smtClean="0">
                <a:solidFill>
                  <a:srgbClr val="808080"/>
                </a:solidFill>
                <a:latin typeface="Courier New" pitchFamily="49" charset="0"/>
                <a:cs typeface="Courier New" pitchFamily="49" charset="0"/>
              </a:rPr>
              <a:t>LEFT|RIGHT [OUTER] JOIN Table2</a:t>
            </a:r>
          </a:p>
          <a:p>
            <a:r>
              <a:rPr lang="en-US" sz="2000" dirty="0" smtClean="0">
                <a:solidFill>
                  <a:srgbClr val="808080"/>
                </a:solidFill>
                <a:latin typeface="Courier New" pitchFamily="49" charset="0"/>
                <a:cs typeface="Courier New" pitchFamily="49" charset="0"/>
              </a:rPr>
              <a:t>			</a:t>
            </a:r>
            <a:r>
              <a:rPr lang="en-US" sz="2000" dirty="0" smtClean="0">
                <a:solidFill>
                  <a:srgbClr val="0000FF"/>
                </a:solidFill>
                <a:latin typeface="Courier New" pitchFamily="49" charset="0"/>
                <a:cs typeface="Courier New" pitchFamily="49" charset="0"/>
              </a:rPr>
              <a:t>ON Table1</a:t>
            </a:r>
            <a:r>
              <a:rPr lang="en-US" sz="2000" dirty="0" smtClean="0">
                <a:solidFill>
                  <a:srgbClr val="808080"/>
                </a:solidFill>
                <a:latin typeface="Courier New" pitchFamily="49" charset="0"/>
                <a:cs typeface="Courier New" pitchFamily="49" charset="0"/>
              </a:rPr>
              <a:t>.</a:t>
            </a:r>
            <a:r>
              <a:rPr lang="en-US" sz="2000" dirty="0" smtClean="0">
                <a:solidFill>
                  <a:srgbClr val="0000FF"/>
                </a:solidFill>
                <a:latin typeface="Courier New" pitchFamily="49" charset="0"/>
                <a:cs typeface="Courier New" pitchFamily="49" charset="0"/>
              </a:rPr>
              <a:t>column </a:t>
            </a:r>
            <a:r>
              <a:rPr lang="en-US" sz="2000" dirty="0" smtClean="0">
                <a:solidFill>
                  <a:srgbClr val="808080"/>
                </a:solidFill>
                <a:latin typeface="Courier New" pitchFamily="49" charset="0"/>
                <a:cs typeface="Courier New" pitchFamily="49" charset="0"/>
              </a:rPr>
              <a:t>= Table2.</a:t>
            </a:r>
            <a:r>
              <a:rPr lang="en-US" sz="2000" dirty="0" smtClean="0">
                <a:solidFill>
                  <a:srgbClr val="0000FF"/>
                </a:solidFill>
                <a:latin typeface="Courier New" pitchFamily="49" charset="0"/>
                <a:cs typeface="Courier New" pitchFamily="49" charset="0"/>
              </a:rPr>
              <a:t>column</a:t>
            </a:r>
            <a:r>
              <a:rPr lang="en-US" sz="2000" dirty="0" smtClean="0">
                <a:solidFill>
                  <a:srgbClr val="808080"/>
                </a:solidFill>
                <a:latin typeface="Courier New" pitchFamily="49" charset="0"/>
                <a:cs typeface="Courier New" pitchFamily="49" charset="0"/>
              </a:rPr>
              <a:t>;</a:t>
            </a:r>
          </a:p>
        </p:txBody>
      </p:sp>
      <p:pic>
        <p:nvPicPr>
          <p:cNvPr id="1026" name="Picture 2"/>
          <p:cNvPicPr>
            <a:picLocks noChangeAspect="1" noChangeArrowheads="1"/>
          </p:cNvPicPr>
          <p:nvPr/>
        </p:nvPicPr>
        <p:blipFill>
          <a:blip r:embed="rId2" cstate="print"/>
          <a:srcRect/>
          <a:stretch>
            <a:fillRect/>
          </a:stretch>
        </p:blipFill>
        <p:spPr bwMode="auto">
          <a:xfrm>
            <a:off x="3429000" y="2819400"/>
            <a:ext cx="2209800" cy="128587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Aggregates</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219200" y="2260600"/>
            <a:ext cx="6705600" cy="23368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ANY_VALUE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609600" y="1717675"/>
            <a:ext cx="7924800" cy="43783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920750" y="2117725"/>
            <a:ext cx="7302500" cy="314007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 Non-aggregated Values</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728788" y="2486025"/>
            <a:ext cx="5686425" cy="277177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HAVING</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765300" y="2171700"/>
            <a:ext cx="5613400" cy="36195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Strings: LIKE</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712788" y="2609850"/>
            <a:ext cx="7718425" cy="23431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 Redirection</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1385888" y="2076450"/>
            <a:ext cx="6372225" cy="34099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 BY</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604963" y="1974850"/>
            <a:ext cx="5934075" cy="35877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ROW_NUMBER</a:t>
            </a:r>
            <a:endParaRPr lang="en-US" dirty="0"/>
          </a:p>
        </p:txBody>
      </p:sp>
      <p:pic>
        <p:nvPicPr>
          <p:cNvPr id="6147" name="Picture 3"/>
          <p:cNvPicPr>
            <a:picLocks noChangeAspect="1" noChangeArrowheads="1"/>
          </p:cNvPicPr>
          <p:nvPr/>
        </p:nvPicPr>
        <p:blipFill>
          <a:blip r:embed="rId2" cstate="print"/>
          <a:srcRect/>
          <a:stretch>
            <a:fillRect/>
          </a:stretch>
        </p:blipFill>
        <p:spPr bwMode="auto">
          <a:xfrm>
            <a:off x="914400" y="2130425"/>
            <a:ext cx="7315200" cy="335597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RANK</a:t>
            </a:r>
            <a:endParaRPr lang="en-US" dirty="0"/>
          </a:p>
        </p:txBody>
      </p:sp>
      <p:sp>
        <p:nvSpPr>
          <p:cNvPr id="3" name="Content Placeholder 2"/>
          <p:cNvSpPr>
            <a:spLocks noGrp="1"/>
          </p:cNvSpPr>
          <p:nvPr>
            <p:ph idx="1"/>
          </p:nvPr>
        </p:nvSpPr>
        <p:spPr/>
        <p:txBody>
          <a:bodyPr/>
          <a:lstStyle/>
          <a:p>
            <a:r>
              <a:rPr lang="en-US" sz="2400" dirty="0" smtClean="0"/>
              <a:t>ROW_NUMBER() provides a unique number for each row, with no gaps.</a:t>
            </a:r>
          </a:p>
          <a:p>
            <a:r>
              <a:rPr lang="en-US" sz="2400" smtClean="0"/>
              <a:t>RANK() provides the same rank for rows with the same values and introduces gaps in the ranking sequence after ties.</a:t>
            </a:r>
            <a:endParaRPr lang="en-US" sz="2400"/>
          </a:p>
        </p:txBody>
      </p:sp>
      <p:pic>
        <p:nvPicPr>
          <p:cNvPr id="7170" name="Picture 2"/>
          <p:cNvPicPr>
            <a:picLocks noChangeAspect="1" noChangeArrowheads="1"/>
          </p:cNvPicPr>
          <p:nvPr/>
        </p:nvPicPr>
        <p:blipFill>
          <a:blip r:embed="rId2" cstate="print"/>
          <a:srcRect/>
          <a:stretch>
            <a:fillRect/>
          </a:stretch>
        </p:blipFill>
        <p:spPr bwMode="auto">
          <a:xfrm>
            <a:off x="1343025" y="3511550"/>
            <a:ext cx="6457950" cy="281305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Subqueries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err="1" smtClean="0">
                <a:solidFill>
                  <a:srgbClr val="C00000"/>
                </a:solidFill>
              </a:rPr>
              <a:t>subquery</a:t>
            </a:r>
            <a:r>
              <a:rPr lang="en-US" sz="2400" dirty="0" smtClean="0"/>
              <a:t> is an embedded SQL statement within an outer query.</a:t>
            </a:r>
          </a:p>
          <a:p>
            <a:r>
              <a:rPr lang="en-US" sz="2400" dirty="0" smtClean="0"/>
              <a:t>The </a:t>
            </a:r>
            <a:r>
              <a:rPr lang="en-US" sz="2400" dirty="0" err="1" smtClean="0"/>
              <a:t>subquery</a:t>
            </a:r>
            <a:r>
              <a:rPr lang="en-US" sz="2400" dirty="0" smtClean="0"/>
              <a:t> provides an answer to the outer query in the form of a </a:t>
            </a:r>
            <a:r>
              <a:rPr lang="en-US" sz="2400" i="1" dirty="0" smtClean="0">
                <a:solidFill>
                  <a:srgbClr val="C00000"/>
                </a:solidFill>
              </a:rPr>
              <a:t>scalar value</a:t>
            </a:r>
            <a:r>
              <a:rPr lang="en-US" sz="2400" dirty="0" smtClean="0"/>
              <a:t>, </a:t>
            </a:r>
            <a:r>
              <a:rPr lang="en-US" sz="2400" i="1" dirty="0" smtClean="0">
                <a:solidFill>
                  <a:srgbClr val="C00000"/>
                </a:solidFill>
              </a:rPr>
              <a:t>a list of values</a:t>
            </a:r>
            <a:r>
              <a:rPr lang="en-US" sz="2400" dirty="0" smtClean="0"/>
              <a:t>, or </a:t>
            </a:r>
            <a:r>
              <a:rPr lang="en-US" sz="2400" i="1" dirty="0" smtClean="0">
                <a:solidFill>
                  <a:srgbClr val="C00000"/>
                </a:solidFill>
              </a:rPr>
              <a:t>a data set</a:t>
            </a:r>
            <a:r>
              <a:rPr lang="en-US" sz="2400" dirty="0" smtClean="0"/>
              <a:t> and may </a:t>
            </a:r>
            <a:r>
              <a:rPr lang="en-US" sz="2400" u="sng" dirty="0" smtClean="0"/>
              <a:t>be substituted</a:t>
            </a:r>
            <a:r>
              <a:rPr lang="en-US" sz="2400" dirty="0" smtClean="0"/>
              <a:t> for </a:t>
            </a:r>
            <a:r>
              <a:rPr lang="en-US" sz="2400" u="sng" dirty="0" smtClean="0"/>
              <a:t>an expression</a:t>
            </a:r>
            <a:r>
              <a:rPr lang="en-US" sz="2400" dirty="0" smtClean="0"/>
              <a:t>, </a:t>
            </a:r>
            <a:r>
              <a:rPr lang="en-US" sz="2400" u="sng" dirty="0" smtClean="0"/>
              <a:t>list</a:t>
            </a:r>
            <a:r>
              <a:rPr lang="en-US" sz="2400" dirty="0" smtClean="0"/>
              <a:t>, or </a:t>
            </a:r>
            <a:r>
              <a:rPr lang="en-US" sz="2400" u="sng" dirty="0" smtClean="0"/>
              <a:t>table</a:t>
            </a:r>
            <a:r>
              <a:rPr lang="en-US" sz="2400" dirty="0" smtClean="0"/>
              <a:t>, respectively, within the outer query.</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a:t>
            </a:r>
            <a:r>
              <a:rPr lang="en-US" dirty="0" err="1" smtClean="0"/>
              <a:t>Subqueries</a:t>
            </a:r>
            <a:endParaRPr lang="en-US" dirty="0"/>
          </a:p>
        </p:txBody>
      </p:sp>
      <p:sp>
        <p:nvSpPr>
          <p:cNvPr id="3" name="Content Placeholder 2"/>
          <p:cNvSpPr>
            <a:spLocks noGrp="1"/>
          </p:cNvSpPr>
          <p:nvPr>
            <p:ph idx="1"/>
          </p:nvPr>
        </p:nvSpPr>
        <p:spPr/>
        <p:txBody>
          <a:bodyPr/>
          <a:lstStyle/>
          <a:p>
            <a:r>
              <a:rPr lang="en-US" sz="2600" i="1" dirty="0" smtClean="0">
                <a:solidFill>
                  <a:srgbClr val="C00000"/>
                </a:solidFill>
              </a:rPr>
              <a:t>Simple </a:t>
            </a:r>
            <a:r>
              <a:rPr lang="en-US" sz="2600" i="1" dirty="0" err="1" smtClean="0">
                <a:solidFill>
                  <a:srgbClr val="C00000"/>
                </a:solidFill>
              </a:rPr>
              <a:t>subqueries</a:t>
            </a:r>
            <a:r>
              <a:rPr lang="en-US" sz="2600" dirty="0" smtClean="0"/>
              <a:t> are </a:t>
            </a:r>
            <a:r>
              <a:rPr lang="en-US" sz="2600" u="sng" dirty="0" smtClean="0"/>
              <a:t>executed</a:t>
            </a:r>
            <a:r>
              <a:rPr lang="en-US" sz="2600" dirty="0" smtClean="0"/>
              <a:t> in the following order:</a:t>
            </a:r>
          </a:p>
          <a:p>
            <a:pPr lvl="1"/>
            <a:r>
              <a:rPr lang="en-US" sz="2200" dirty="0" smtClean="0"/>
              <a:t>The simple </a:t>
            </a:r>
            <a:r>
              <a:rPr lang="en-US" sz="2200" dirty="0" err="1" smtClean="0"/>
              <a:t>subquery</a:t>
            </a:r>
            <a:r>
              <a:rPr lang="en-US" sz="2200" dirty="0" smtClean="0"/>
              <a:t> is executed once.</a:t>
            </a:r>
          </a:p>
          <a:p>
            <a:pPr lvl="1"/>
            <a:r>
              <a:rPr lang="en-US" sz="2200" dirty="0" smtClean="0"/>
              <a:t>The results are passed to the outer query.</a:t>
            </a:r>
          </a:p>
          <a:p>
            <a:pPr lvl="1"/>
            <a:r>
              <a:rPr lang="en-US" sz="2200" dirty="0" smtClean="0"/>
              <a:t>The outer query is executed once.</a:t>
            </a:r>
          </a:p>
          <a:p>
            <a:endParaRPr lang="en-US" sz="2600" dirty="0"/>
          </a:p>
        </p:txBody>
      </p:sp>
      <p:sp>
        <p:nvSpPr>
          <p:cNvPr id="4" name="Content Placeholder 2"/>
          <p:cNvSpPr txBox="1">
            <a:spLocks/>
          </p:cNvSpPr>
          <p:nvPr/>
        </p:nvSpPr>
        <p:spPr>
          <a:xfrm>
            <a:off x="457200" y="3657600"/>
            <a:ext cx="8229600" cy="2286000"/>
          </a:xfrm>
          <a:prstGeom prst="rect">
            <a:avLst/>
          </a:prstGeom>
          <a:solidFill>
            <a:schemeClr val="bg1">
              <a:lumMod val="95000"/>
            </a:schemeClr>
          </a:solidFill>
          <a:ln>
            <a:solidFill>
              <a:schemeClr val="bg1">
                <a:lumMod val="50000"/>
              </a:schemeClr>
            </a:solidFill>
          </a:ln>
        </p:spPr>
        <p:txBody>
          <a:bodyPr vert="horz" lIns="91440" tIns="45720" rIns="91440" bIns="45720" rtlCol="0">
            <a:noAutofit/>
          </a:bodyPr>
          <a:lstStyle/>
          <a:p>
            <a:r>
              <a:rPr lang="en-US" sz="2000" dirty="0" smtClean="0">
                <a:solidFill>
                  <a:srgbClr val="0000FF"/>
                </a:solidFill>
                <a:latin typeface="Consolas"/>
              </a:rPr>
              <a:t>USE</a:t>
            </a:r>
            <a:r>
              <a:rPr lang="en-US" sz="2000" dirty="0" smtClean="0">
                <a:solidFill>
                  <a:srgbClr val="000000"/>
                </a:solidFill>
                <a:latin typeface="Consolas"/>
              </a:rPr>
              <a:t> AdventureWorksLT2016</a:t>
            </a:r>
            <a:r>
              <a:rPr lang="en-US" sz="2000" dirty="0" smtClean="0">
                <a:solidFill>
                  <a:srgbClr val="808080"/>
                </a:solidFill>
                <a:latin typeface="Consolas"/>
              </a:rPr>
              <a:t>;</a:t>
            </a:r>
            <a:endParaRPr lang="en-US" sz="2000" dirty="0" smtClean="0">
              <a:solidFill>
                <a:srgbClr val="000000"/>
              </a:solidFill>
              <a:latin typeface="Consolas"/>
            </a:endParaRPr>
          </a:p>
          <a:p>
            <a:r>
              <a:rPr lang="en-US" sz="2000" dirty="0" smtClean="0">
                <a:solidFill>
                  <a:srgbClr val="0000FF"/>
                </a:solidFill>
                <a:latin typeface="Consolas"/>
              </a:rPr>
              <a:t>SELECT</a:t>
            </a:r>
            <a:r>
              <a:rPr lang="en-US" sz="2000" dirty="0" smtClean="0">
                <a:solidFill>
                  <a:srgbClr val="000000"/>
                </a:solidFill>
                <a:latin typeface="Consolas"/>
              </a:rPr>
              <a:t> </a:t>
            </a:r>
            <a:r>
              <a:rPr lang="en-US" sz="2000" dirty="0" err="1" smtClean="0">
                <a:solidFill>
                  <a:srgbClr val="000000"/>
                </a:solidFill>
                <a:latin typeface="Consolas"/>
              </a:rPr>
              <a:t>pd</a:t>
            </a:r>
            <a:r>
              <a:rPr lang="en-US" sz="2000" dirty="0" err="1" smtClean="0">
                <a:solidFill>
                  <a:srgbClr val="808080"/>
                </a:solidFill>
                <a:latin typeface="Consolas"/>
              </a:rPr>
              <a:t>.</a:t>
            </a:r>
            <a:r>
              <a:rPr lang="en-US" sz="2000" dirty="0" err="1" smtClean="0">
                <a:solidFill>
                  <a:srgbClr val="0000FF"/>
                </a:solidFill>
                <a:latin typeface="Consolas"/>
              </a:rPr>
              <a:t>Name</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a:t>
            </a:r>
            <a:r>
              <a:rPr lang="en-US" sz="2000" dirty="0" err="1" smtClean="0">
                <a:solidFill>
                  <a:srgbClr val="000000"/>
                </a:solidFill>
                <a:latin typeface="Consolas"/>
              </a:rPr>
              <a:t>ProductName</a:t>
            </a:r>
            <a:endParaRPr lang="en-US" sz="2000" dirty="0" smtClean="0">
              <a:solidFill>
                <a:srgbClr val="000000"/>
              </a:solidFill>
              <a:latin typeface="Consolas"/>
            </a:endParaRPr>
          </a:p>
          <a:p>
            <a:r>
              <a:rPr lang="en-US" sz="2000" dirty="0" smtClean="0">
                <a:solidFill>
                  <a:srgbClr val="0000FF"/>
                </a:solidFill>
                <a:latin typeface="Consolas"/>
              </a:rPr>
              <a:t>FROM</a:t>
            </a:r>
            <a:r>
              <a:rPr lang="en-US" sz="2000" dirty="0" smtClean="0">
                <a:solidFill>
                  <a:srgbClr val="000000"/>
                </a:solidFill>
                <a:latin typeface="Consolas"/>
              </a:rPr>
              <a:t> </a:t>
            </a:r>
            <a:r>
              <a:rPr lang="en-US" sz="2000" dirty="0" err="1" smtClean="0">
                <a:solidFill>
                  <a:srgbClr val="000000"/>
                </a:solidFill>
                <a:latin typeface="Consolas"/>
              </a:rPr>
              <a:t>SalesLT</a:t>
            </a:r>
            <a:r>
              <a:rPr lang="en-US" sz="2000" dirty="0" err="1" smtClean="0">
                <a:solidFill>
                  <a:srgbClr val="808080"/>
                </a:solidFill>
                <a:latin typeface="Consolas"/>
              </a:rPr>
              <a:t>.</a:t>
            </a:r>
            <a:r>
              <a:rPr lang="en-US" sz="2000" dirty="0" err="1" smtClean="0">
                <a:solidFill>
                  <a:srgbClr val="000000"/>
                </a:solidFill>
                <a:latin typeface="Consolas"/>
              </a:rPr>
              <a:t>Product</a:t>
            </a:r>
            <a:r>
              <a:rPr lang="en-US" sz="2000" dirty="0" smtClean="0">
                <a:solidFill>
                  <a:srgbClr val="000000"/>
                </a:solidFill>
                <a:latin typeface="Consolas"/>
              </a:rPr>
              <a:t> pd</a:t>
            </a:r>
          </a:p>
          <a:p>
            <a:r>
              <a:rPr lang="en-US" sz="2000" dirty="0" smtClean="0">
                <a:solidFill>
                  <a:srgbClr val="0000FF"/>
                </a:solidFill>
                <a:latin typeface="Consolas"/>
              </a:rPr>
              <a:t>WHERE</a:t>
            </a:r>
            <a:r>
              <a:rPr lang="en-US" sz="2000" dirty="0" smtClean="0">
                <a:solidFill>
                  <a:srgbClr val="000000"/>
                </a:solidFill>
                <a:latin typeface="Consolas"/>
              </a:rPr>
              <a:t> </a:t>
            </a:r>
            <a:r>
              <a:rPr lang="en-US" sz="2000" dirty="0" err="1" smtClean="0">
                <a:solidFill>
                  <a:srgbClr val="000000"/>
                </a:solidFill>
                <a:latin typeface="Consolas"/>
              </a:rPr>
              <a:t>ProductCategoryID</a:t>
            </a:r>
            <a:endParaRPr lang="en-US" sz="2000" dirty="0" smtClean="0">
              <a:solidFill>
                <a:srgbClr val="000000"/>
              </a:solidFill>
              <a:latin typeface="Consolas"/>
            </a:endParaRPr>
          </a:p>
          <a:p>
            <a:r>
              <a:rPr lang="en-US" sz="2000" dirty="0" smtClean="0">
                <a:solidFill>
                  <a:srgbClr val="808080"/>
                </a:solidFill>
                <a:latin typeface="Consolas"/>
              </a:rPr>
              <a:t>	IN</a:t>
            </a:r>
            <a:r>
              <a:rPr lang="en-US" sz="2000" dirty="0" smtClean="0">
                <a:solidFill>
                  <a:srgbClr val="0000FF"/>
                </a:solidFill>
                <a:latin typeface="Consolas"/>
              </a:rPr>
              <a:t> </a:t>
            </a:r>
            <a:r>
              <a:rPr lang="en-US" sz="2000" dirty="0" smtClean="0">
                <a:solidFill>
                  <a:srgbClr val="808080"/>
                </a:solidFill>
                <a:latin typeface="Consolas"/>
              </a:rPr>
              <a:t>(</a:t>
            </a:r>
            <a:r>
              <a:rPr lang="en-US" sz="2000" dirty="0" smtClean="0">
                <a:solidFill>
                  <a:srgbClr val="0000FF"/>
                </a:solidFill>
                <a:latin typeface="Consolas"/>
              </a:rPr>
              <a:t>Select</a:t>
            </a:r>
            <a:r>
              <a:rPr lang="en-US" sz="2000" dirty="0" smtClean="0">
                <a:solidFill>
                  <a:srgbClr val="000000"/>
                </a:solidFill>
                <a:latin typeface="Consolas"/>
              </a:rPr>
              <a:t> </a:t>
            </a:r>
            <a:r>
              <a:rPr lang="en-US" sz="2000" dirty="0" err="1" smtClean="0">
                <a:solidFill>
                  <a:srgbClr val="000000"/>
                </a:solidFill>
                <a:latin typeface="Consolas"/>
              </a:rPr>
              <a:t>ProductCategoryID</a:t>
            </a:r>
            <a:endParaRPr lang="en-US" sz="2000" dirty="0" smtClean="0">
              <a:solidFill>
                <a:srgbClr val="000000"/>
              </a:solidFill>
              <a:latin typeface="Consolas"/>
            </a:endParaRPr>
          </a:p>
          <a:p>
            <a:r>
              <a:rPr lang="en-US" sz="2000" dirty="0" smtClean="0">
                <a:solidFill>
                  <a:srgbClr val="0000FF"/>
                </a:solidFill>
                <a:latin typeface="Consolas"/>
              </a:rPr>
              <a:t>		From</a:t>
            </a:r>
            <a:r>
              <a:rPr lang="en-US" sz="2000" dirty="0" smtClean="0">
                <a:solidFill>
                  <a:srgbClr val="000000"/>
                </a:solidFill>
                <a:latin typeface="Consolas"/>
              </a:rPr>
              <a:t> </a:t>
            </a:r>
            <a:r>
              <a:rPr lang="en-US" sz="2000" dirty="0" err="1" smtClean="0">
                <a:solidFill>
                  <a:srgbClr val="000000"/>
                </a:solidFill>
                <a:latin typeface="Consolas"/>
              </a:rPr>
              <a:t>SalesLT</a:t>
            </a:r>
            <a:r>
              <a:rPr lang="en-US" sz="2000" dirty="0" err="1" smtClean="0">
                <a:solidFill>
                  <a:srgbClr val="808080"/>
                </a:solidFill>
                <a:latin typeface="Consolas"/>
              </a:rPr>
              <a:t>.</a:t>
            </a:r>
            <a:r>
              <a:rPr lang="en-US" sz="2000" dirty="0" err="1" smtClean="0">
                <a:solidFill>
                  <a:srgbClr val="000000"/>
                </a:solidFill>
                <a:latin typeface="Consolas"/>
              </a:rPr>
              <a:t>ProductCategory</a:t>
            </a:r>
            <a:endParaRPr lang="en-US" sz="2000" dirty="0" smtClean="0">
              <a:solidFill>
                <a:srgbClr val="000000"/>
              </a:solidFill>
              <a:latin typeface="Consolas"/>
            </a:endParaRPr>
          </a:p>
          <a:p>
            <a:r>
              <a:rPr lang="en-US" sz="2000" dirty="0" smtClean="0">
                <a:solidFill>
                  <a:srgbClr val="0000FF"/>
                </a:solidFill>
                <a:latin typeface="Consolas"/>
              </a:rPr>
              <a:t>		Where</a:t>
            </a:r>
            <a:r>
              <a:rPr lang="en-US" sz="2000" dirty="0" smtClean="0">
                <a:solidFill>
                  <a:srgbClr val="000000"/>
                </a:solidFill>
                <a:latin typeface="Consolas"/>
              </a:rPr>
              <a:t> </a:t>
            </a:r>
            <a:r>
              <a:rPr lang="en-US" sz="2000" dirty="0" smtClean="0">
                <a:solidFill>
                  <a:srgbClr val="0000FF"/>
                </a:solidFill>
                <a:latin typeface="Consolas"/>
              </a:rPr>
              <a:t>Name</a:t>
            </a:r>
            <a:r>
              <a:rPr lang="en-US" sz="2000" dirty="0" smtClean="0">
                <a:solidFill>
                  <a:srgbClr val="000000"/>
                </a:solidFill>
                <a:latin typeface="Consolas"/>
              </a:rPr>
              <a:t> </a:t>
            </a:r>
            <a:r>
              <a:rPr lang="en-US" sz="2000" dirty="0" smtClean="0">
                <a:solidFill>
                  <a:srgbClr val="808080"/>
                </a:solidFill>
                <a:latin typeface="Consolas"/>
              </a:rPr>
              <a:t>=</a:t>
            </a:r>
            <a:r>
              <a:rPr lang="en-US" sz="2000" dirty="0" smtClean="0">
                <a:solidFill>
                  <a:srgbClr val="000000"/>
                </a:solidFill>
                <a:latin typeface="Consolas"/>
              </a:rPr>
              <a:t> </a:t>
            </a:r>
            <a:r>
              <a:rPr lang="en-US" sz="2000" dirty="0" smtClean="0">
                <a:solidFill>
                  <a:srgbClr val="FF0000"/>
                </a:solidFill>
                <a:latin typeface="Consolas"/>
              </a:rPr>
              <a:t>'</a:t>
            </a:r>
            <a:r>
              <a:rPr lang="en-US" sz="2000" dirty="0" err="1" smtClean="0">
                <a:solidFill>
                  <a:srgbClr val="FF0000"/>
                </a:solidFill>
                <a:latin typeface="Consolas"/>
              </a:rPr>
              <a:t>Cranksets</a:t>
            </a:r>
            <a:r>
              <a:rPr lang="en-US" sz="2000" dirty="0" smtClean="0">
                <a:solidFill>
                  <a:srgbClr val="FF0000"/>
                </a:solidFill>
                <a:latin typeface="Consolas"/>
              </a:rPr>
              <a:t>'</a:t>
            </a:r>
            <a:r>
              <a:rPr lang="en-US" sz="2000" dirty="0" smtClean="0">
                <a:solidFill>
                  <a:srgbClr val="808080"/>
                </a:solidFill>
                <a:latin typeface="Consolas"/>
              </a:rPr>
              <a:t>);</a:t>
            </a:r>
            <a:endParaRPr lang="en-US" sz="2000" dirty="0" smtClean="0">
              <a:solidFill>
                <a:srgbClr val="808080"/>
              </a:solidFill>
              <a:latin typeface="Courier New" pitchFamily="49" charset="0"/>
              <a:cs typeface="Courier New"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Table Expressions</a:t>
            </a:r>
            <a:endParaRPr lang="en-US" dirty="0"/>
          </a:p>
        </p:txBody>
      </p:sp>
      <p:sp>
        <p:nvSpPr>
          <p:cNvPr id="3" name="Content Placeholder 2"/>
          <p:cNvSpPr>
            <a:spLocks noGrp="1"/>
          </p:cNvSpPr>
          <p:nvPr>
            <p:ph idx="1"/>
          </p:nvPr>
        </p:nvSpPr>
        <p:spPr/>
        <p:txBody>
          <a:bodyPr/>
          <a:lstStyle/>
          <a:p>
            <a:r>
              <a:rPr lang="en-US" sz="1800" dirty="0" smtClean="0"/>
              <a:t>The </a:t>
            </a:r>
            <a:r>
              <a:rPr lang="en-US" sz="1800" i="1" dirty="0" smtClean="0">
                <a:solidFill>
                  <a:srgbClr val="C00000"/>
                </a:solidFill>
              </a:rPr>
              <a:t>common table expression (CTE)</a:t>
            </a:r>
            <a:r>
              <a:rPr lang="en-US" sz="1800" dirty="0" smtClean="0"/>
              <a:t> defines what could be considered </a:t>
            </a:r>
            <a:r>
              <a:rPr lang="en-US" sz="1800" u="sng" dirty="0" smtClean="0"/>
              <a:t>a temporary view</a:t>
            </a:r>
            <a:r>
              <a:rPr lang="en-US" sz="1800" dirty="0" smtClean="0"/>
              <a:t>, which can </a:t>
            </a:r>
            <a:r>
              <a:rPr lang="en-US" sz="1800" u="sng" dirty="0" smtClean="0"/>
              <a:t>be referenced</a:t>
            </a:r>
            <a:r>
              <a:rPr lang="en-US" sz="1800" dirty="0" smtClean="0"/>
              <a:t> just like a view </a:t>
            </a:r>
            <a:r>
              <a:rPr lang="en-US" sz="1800" u="sng" dirty="0" smtClean="0"/>
              <a:t>in the same query</a:t>
            </a:r>
            <a:r>
              <a:rPr lang="en-US" sz="1800" dirty="0" smtClean="0"/>
              <a:t>.</a:t>
            </a:r>
          </a:p>
          <a:p>
            <a:r>
              <a:rPr lang="en-US" sz="1800" dirty="0" smtClean="0"/>
              <a:t>The CTE uses the WITH clause, which defines the CTE. Inside the WITH clause is the name, column aliases, and SQL code for the CTE </a:t>
            </a:r>
            <a:r>
              <a:rPr lang="en-US" sz="1800" dirty="0" err="1" smtClean="0"/>
              <a:t>subquery</a:t>
            </a:r>
            <a:r>
              <a:rPr lang="en-US" sz="1800" dirty="0" smtClean="0"/>
              <a:t>.</a:t>
            </a:r>
          </a:p>
          <a:p>
            <a:r>
              <a:rPr lang="en-US" sz="1800" dirty="0" smtClean="0"/>
              <a:t>After the CTE has been defined in the WITH clause, the main portion of the query can reference the CTE using its name as if the CTE were any other table source, such as a table or a view.</a:t>
            </a:r>
            <a:endParaRPr lang="en-US" sz="1800" dirty="0"/>
          </a:p>
        </p:txBody>
      </p:sp>
      <p:sp>
        <p:nvSpPr>
          <p:cNvPr id="5" name="Content Placeholder 2"/>
          <p:cNvSpPr txBox="1">
            <a:spLocks/>
          </p:cNvSpPr>
          <p:nvPr/>
        </p:nvSpPr>
        <p:spPr>
          <a:xfrm>
            <a:off x="457200" y="4038600"/>
            <a:ext cx="8229600" cy="2286000"/>
          </a:xfrm>
          <a:prstGeom prst="rect">
            <a:avLst/>
          </a:prstGeom>
          <a:solidFill>
            <a:schemeClr val="bg1">
              <a:lumMod val="95000"/>
            </a:schemeClr>
          </a:solidFill>
          <a:ln>
            <a:solidFill>
              <a:schemeClr val="bg1">
                <a:lumMod val="50000"/>
              </a:schemeClr>
            </a:solidFill>
          </a:ln>
        </p:spPr>
        <p:txBody>
          <a:bodyPr vert="horz" lIns="91440" tIns="45720" rIns="91440" bIns="45720" rtlCol="0">
            <a:noAutofit/>
          </a:bodyPr>
          <a:lstStyle/>
          <a:p>
            <a:r>
              <a:rPr lang="en-US" dirty="0" smtClean="0">
                <a:solidFill>
                  <a:srgbClr val="0000FF"/>
                </a:solidFill>
                <a:latin typeface="Consolas"/>
              </a:rPr>
              <a:t>WITH</a:t>
            </a:r>
            <a:r>
              <a:rPr lang="en-US" dirty="0" smtClean="0">
                <a:solidFill>
                  <a:srgbClr val="000000"/>
                </a:solidFill>
                <a:latin typeface="Consolas"/>
              </a:rPr>
              <a:t> </a:t>
            </a:r>
            <a:r>
              <a:rPr lang="en-US" dirty="0" err="1" smtClean="0">
                <a:solidFill>
                  <a:srgbClr val="000000"/>
                </a:solidFill>
                <a:latin typeface="Consolas"/>
              </a:rPr>
              <a:t>cteQuery</a:t>
            </a:r>
            <a:r>
              <a:rPr lang="en-US" dirty="0" smtClean="0">
                <a:solidFill>
                  <a:srgbClr val="0000FF"/>
                </a:solidFill>
                <a:latin typeface="Consolas"/>
              </a:rPr>
              <a:t> </a:t>
            </a:r>
            <a:r>
              <a:rPr lang="en-US" dirty="0" smtClean="0">
                <a:solidFill>
                  <a:srgbClr val="808080"/>
                </a:solidFill>
                <a:latin typeface="Consolas"/>
              </a:rPr>
              <a:t>(</a:t>
            </a:r>
            <a:r>
              <a:rPr lang="en-US" dirty="0" err="1" smtClean="0">
                <a:solidFill>
                  <a:srgbClr val="000000"/>
                </a:solidFill>
                <a:latin typeface="Consolas"/>
              </a:rPr>
              <a:t>ProductCategoryID</a:t>
            </a:r>
            <a:r>
              <a:rPr lang="en-US" dirty="0" smtClean="0">
                <a:solidFill>
                  <a:srgbClr val="808080"/>
                </a:solidFill>
                <a:latin typeface="Consolas"/>
              </a:rPr>
              <a:t>)</a:t>
            </a:r>
            <a:endParaRPr lang="en-US" dirty="0" smtClean="0">
              <a:solidFill>
                <a:srgbClr val="000000"/>
              </a:solidFill>
              <a:latin typeface="Consolas"/>
            </a:endParaRPr>
          </a:p>
          <a:p>
            <a:r>
              <a:rPr lang="en-US" dirty="0" smtClean="0">
                <a:solidFill>
                  <a:srgbClr val="0000FF"/>
                </a:solidFill>
                <a:latin typeface="Consolas"/>
              </a:rPr>
              <a:t>AS </a:t>
            </a:r>
            <a:r>
              <a:rPr lang="en-US" dirty="0" smtClean="0">
                <a:solidFill>
                  <a:srgbClr val="808080"/>
                </a:solidFill>
                <a:latin typeface="Consolas"/>
              </a:rPr>
              <a:t>(</a:t>
            </a:r>
            <a:r>
              <a:rPr lang="en-US" dirty="0" smtClean="0">
                <a:solidFill>
                  <a:srgbClr val="0000FF"/>
                </a:solidFill>
                <a:latin typeface="Consolas"/>
              </a:rPr>
              <a:t>SELECT</a:t>
            </a:r>
            <a:r>
              <a:rPr lang="en-US" dirty="0" smtClean="0">
                <a:solidFill>
                  <a:srgbClr val="000000"/>
                </a:solidFill>
                <a:latin typeface="Consolas"/>
              </a:rPr>
              <a:t> </a:t>
            </a:r>
            <a:r>
              <a:rPr lang="en-US" dirty="0" err="1" smtClean="0">
                <a:solidFill>
                  <a:srgbClr val="000000"/>
                </a:solidFill>
                <a:latin typeface="Consolas"/>
              </a:rPr>
              <a:t>ProductCategoryID</a:t>
            </a:r>
            <a:endParaRPr lang="en-US" dirty="0" smtClean="0">
              <a:solidFill>
                <a:srgbClr val="000000"/>
              </a:solidFill>
              <a:latin typeface="Consolas"/>
            </a:endParaRPr>
          </a:p>
          <a:p>
            <a:r>
              <a:rPr lang="en-US" dirty="0" smtClean="0">
                <a:solidFill>
                  <a:srgbClr val="0000FF"/>
                </a:solidFill>
                <a:latin typeface="Consolas"/>
              </a:rPr>
              <a:t>FROM</a:t>
            </a:r>
            <a:r>
              <a:rPr lang="en-US" dirty="0" smtClean="0">
                <a:solidFill>
                  <a:srgbClr val="000000"/>
                </a:solidFill>
                <a:latin typeface="Consolas"/>
              </a:rPr>
              <a:t> </a:t>
            </a:r>
            <a:r>
              <a:rPr lang="en-US" dirty="0" err="1" smtClean="0">
                <a:solidFill>
                  <a:srgbClr val="000000"/>
                </a:solidFill>
                <a:latin typeface="Consolas"/>
              </a:rPr>
              <a:t>SalesLT</a:t>
            </a:r>
            <a:r>
              <a:rPr lang="en-US" dirty="0" err="1" smtClean="0">
                <a:solidFill>
                  <a:srgbClr val="808080"/>
                </a:solidFill>
                <a:latin typeface="Consolas"/>
              </a:rPr>
              <a:t>.</a:t>
            </a:r>
            <a:r>
              <a:rPr lang="en-US" dirty="0" err="1" smtClean="0">
                <a:solidFill>
                  <a:srgbClr val="000000"/>
                </a:solidFill>
                <a:latin typeface="Consolas"/>
              </a:rPr>
              <a:t>ProductCategory</a:t>
            </a:r>
            <a:endParaRPr lang="en-US" dirty="0" smtClean="0">
              <a:solidFill>
                <a:srgbClr val="000000"/>
              </a:solidFill>
              <a:latin typeface="Consolas"/>
            </a:endParaRPr>
          </a:p>
          <a:p>
            <a:r>
              <a:rPr lang="en-US" dirty="0" smtClean="0">
                <a:solidFill>
                  <a:srgbClr val="0000FF"/>
                </a:solidFill>
                <a:latin typeface="Consolas"/>
              </a:rPr>
              <a:t>WHERE</a:t>
            </a:r>
            <a:r>
              <a:rPr lang="en-US" dirty="0" smtClean="0">
                <a:solidFill>
                  <a:srgbClr val="000000"/>
                </a:solidFill>
                <a:latin typeface="Consolas"/>
              </a:rPr>
              <a:t> </a:t>
            </a:r>
            <a:r>
              <a:rPr lang="en-US" dirty="0" smtClean="0">
                <a:solidFill>
                  <a:srgbClr val="0000FF"/>
                </a:solidFill>
                <a:latin typeface="Consolas"/>
              </a:rPr>
              <a:t>Name</a:t>
            </a:r>
            <a:r>
              <a:rPr lang="en-US" dirty="0" smtClean="0">
                <a:solidFill>
                  <a:srgbClr val="000000"/>
                </a:solidFill>
                <a:latin typeface="Consolas"/>
              </a:rPr>
              <a:t> </a:t>
            </a:r>
            <a:r>
              <a:rPr lang="en-US" dirty="0" smtClean="0">
                <a:solidFill>
                  <a:srgbClr val="808080"/>
                </a:solidFill>
                <a:latin typeface="Consolas"/>
              </a:rPr>
              <a:t>=</a:t>
            </a:r>
            <a:r>
              <a:rPr lang="en-US" dirty="0" smtClean="0">
                <a:solidFill>
                  <a:srgbClr val="000000"/>
                </a:solidFill>
                <a:latin typeface="Consolas"/>
              </a:rPr>
              <a:t> </a:t>
            </a:r>
            <a:r>
              <a:rPr lang="en-US" dirty="0" smtClean="0">
                <a:solidFill>
                  <a:srgbClr val="FF0000"/>
                </a:solidFill>
                <a:latin typeface="Consolas"/>
              </a:rPr>
              <a:t>'</a:t>
            </a:r>
            <a:r>
              <a:rPr lang="en-US" dirty="0" err="1" smtClean="0">
                <a:solidFill>
                  <a:srgbClr val="FF0000"/>
                </a:solidFill>
                <a:latin typeface="Consolas"/>
              </a:rPr>
              <a:t>Cranksets</a:t>
            </a:r>
            <a:r>
              <a:rPr lang="en-US" dirty="0" smtClean="0">
                <a:solidFill>
                  <a:srgbClr val="FF0000"/>
                </a:solidFill>
                <a:latin typeface="Consolas"/>
              </a:rPr>
              <a:t>'</a:t>
            </a:r>
            <a:r>
              <a:rPr lang="en-US" dirty="0" smtClean="0">
                <a:solidFill>
                  <a:srgbClr val="808080"/>
                </a:solidFill>
                <a:latin typeface="Consolas"/>
              </a:rPr>
              <a:t>)</a:t>
            </a:r>
            <a:endParaRPr lang="en-US" dirty="0" smtClean="0">
              <a:solidFill>
                <a:srgbClr val="000000"/>
              </a:solidFill>
              <a:latin typeface="Consolas"/>
            </a:endParaRPr>
          </a:p>
          <a:p>
            <a:r>
              <a:rPr lang="en-US" dirty="0" smtClean="0">
                <a:solidFill>
                  <a:srgbClr val="0000FF"/>
                </a:solidFill>
                <a:latin typeface="Consolas"/>
              </a:rPr>
              <a:t>SELECT</a:t>
            </a:r>
            <a:r>
              <a:rPr lang="en-US" dirty="0" smtClean="0">
                <a:solidFill>
                  <a:srgbClr val="000000"/>
                </a:solidFill>
                <a:latin typeface="Consolas"/>
              </a:rPr>
              <a:t> </a:t>
            </a:r>
            <a:r>
              <a:rPr lang="en-US" dirty="0" smtClean="0">
                <a:solidFill>
                  <a:srgbClr val="0000FF"/>
                </a:solidFill>
                <a:latin typeface="Consolas"/>
              </a:rPr>
              <a:t>Name</a:t>
            </a:r>
            <a:r>
              <a:rPr lang="en-US" dirty="0" smtClean="0">
                <a:solidFill>
                  <a:srgbClr val="000000"/>
                </a:solidFill>
                <a:latin typeface="Consolas"/>
              </a:rPr>
              <a:t> </a:t>
            </a:r>
            <a:r>
              <a:rPr lang="en-US" dirty="0" smtClean="0">
                <a:solidFill>
                  <a:srgbClr val="0000FF"/>
                </a:solidFill>
                <a:latin typeface="Consolas"/>
              </a:rPr>
              <a:t>AS</a:t>
            </a:r>
            <a:r>
              <a:rPr lang="en-US" dirty="0" smtClean="0">
                <a:solidFill>
                  <a:srgbClr val="000000"/>
                </a:solidFill>
                <a:latin typeface="Consolas"/>
              </a:rPr>
              <a:t> </a:t>
            </a:r>
            <a:r>
              <a:rPr lang="en-US" dirty="0" err="1" smtClean="0">
                <a:solidFill>
                  <a:srgbClr val="000000"/>
                </a:solidFill>
                <a:latin typeface="Consolas"/>
              </a:rPr>
              <a:t>ProductName</a:t>
            </a:r>
            <a:endParaRPr lang="en-US" dirty="0" smtClean="0">
              <a:solidFill>
                <a:srgbClr val="000000"/>
              </a:solidFill>
              <a:latin typeface="Consolas"/>
            </a:endParaRPr>
          </a:p>
          <a:p>
            <a:r>
              <a:rPr lang="en-US" dirty="0" smtClean="0">
                <a:solidFill>
                  <a:srgbClr val="0000FF"/>
                </a:solidFill>
                <a:latin typeface="Consolas"/>
              </a:rPr>
              <a:t>FROM</a:t>
            </a:r>
            <a:r>
              <a:rPr lang="en-US" dirty="0" smtClean="0">
                <a:solidFill>
                  <a:srgbClr val="000000"/>
                </a:solidFill>
                <a:latin typeface="Consolas"/>
              </a:rPr>
              <a:t> </a:t>
            </a:r>
            <a:r>
              <a:rPr lang="en-US" dirty="0" err="1" smtClean="0">
                <a:solidFill>
                  <a:srgbClr val="000000"/>
                </a:solidFill>
                <a:latin typeface="Consolas"/>
              </a:rPr>
              <a:t>SalesLT</a:t>
            </a:r>
            <a:r>
              <a:rPr lang="en-US" dirty="0" err="1" smtClean="0">
                <a:solidFill>
                  <a:srgbClr val="808080"/>
                </a:solidFill>
                <a:latin typeface="Consolas"/>
              </a:rPr>
              <a:t>.</a:t>
            </a:r>
            <a:r>
              <a:rPr lang="en-US" dirty="0" err="1" smtClean="0">
                <a:solidFill>
                  <a:srgbClr val="000000"/>
                </a:solidFill>
                <a:latin typeface="Consolas"/>
              </a:rPr>
              <a:t>Product</a:t>
            </a:r>
            <a:r>
              <a:rPr lang="en-US" dirty="0" smtClean="0">
                <a:solidFill>
                  <a:srgbClr val="000000"/>
                </a:solidFill>
                <a:latin typeface="Consolas"/>
              </a:rPr>
              <a:t> p</a:t>
            </a:r>
          </a:p>
          <a:p>
            <a:r>
              <a:rPr lang="en-US" dirty="0" smtClean="0">
                <a:solidFill>
                  <a:srgbClr val="808080"/>
                </a:solidFill>
                <a:latin typeface="Consolas"/>
              </a:rPr>
              <a:t>INNER</a:t>
            </a:r>
            <a:r>
              <a:rPr lang="en-US" dirty="0" smtClean="0">
                <a:solidFill>
                  <a:srgbClr val="000000"/>
                </a:solidFill>
                <a:latin typeface="Consolas"/>
              </a:rPr>
              <a:t> </a:t>
            </a:r>
            <a:r>
              <a:rPr lang="en-US" dirty="0" smtClean="0">
                <a:solidFill>
                  <a:srgbClr val="808080"/>
                </a:solidFill>
                <a:latin typeface="Consolas"/>
              </a:rPr>
              <a:t>JOIN</a:t>
            </a:r>
            <a:r>
              <a:rPr lang="en-US" dirty="0" smtClean="0">
                <a:solidFill>
                  <a:srgbClr val="000000"/>
                </a:solidFill>
                <a:latin typeface="Consolas"/>
              </a:rPr>
              <a:t> </a:t>
            </a:r>
            <a:r>
              <a:rPr lang="en-US" dirty="0" err="1" smtClean="0">
                <a:solidFill>
                  <a:srgbClr val="000000"/>
                </a:solidFill>
                <a:latin typeface="Consolas"/>
              </a:rPr>
              <a:t>cteQuery</a:t>
            </a:r>
            <a:r>
              <a:rPr lang="en-US" dirty="0" smtClean="0">
                <a:solidFill>
                  <a:srgbClr val="000000"/>
                </a:solidFill>
                <a:latin typeface="Consolas"/>
              </a:rPr>
              <a:t> c</a:t>
            </a:r>
          </a:p>
          <a:p>
            <a:r>
              <a:rPr lang="en-US" dirty="0" smtClean="0">
                <a:solidFill>
                  <a:srgbClr val="0000FF"/>
                </a:solidFill>
                <a:latin typeface="Consolas"/>
              </a:rPr>
              <a:t>ON</a:t>
            </a:r>
            <a:r>
              <a:rPr lang="en-US" dirty="0" smtClean="0">
                <a:solidFill>
                  <a:srgbClr val="000000"/>
                </a:solidFill>
                <a:latin typeface="Consolas"/>
              </a:rPr>
              <a:t> </a:t>
            </a:r>
            <a:r>
              <a:rPr lang="en-US" dirty="0" err="1" smtClean="0">
                <a:solidFill>
                  <a:srgbClr val="000000"/>
                </a:solidFill>
                <a:latin typeface="Consolas"/>
              </a:rPr>
              <a:t>p</a:t>
            </a:r>
            <a:r>
              <a:rPr lang="en-US" dirty="0" err="1" smtClean="0">
                <a:solidFill>
                  <a:srgbClr val="808080"/>
                </a:solidFill>
                <a:latin typeface="Consolas"/>
              </a:rPr>
              <a:t>.</a:t>
            </a:r>
            <a:r>
              <a:rPr lang="en-US" dirty="0" err="1" smtClean="0">
                <a:solidFill>
                  <a:srgbClr val="000000"/>
                </a:solidFill>
                <a:latin typeface="Consolas"/>
              </a:rPr>
              <a:t>ProductCategoryID</a:t>
            </a:r>
            <a:r>
              <a:rPr lang="en-US" dirty="0" smtClean="0">
                <a:solidFill>
                  <a:srgbClr val="000000"/>
                </a:solidFill>
                <a:latin typeface="Consolas"/>
              </a:rPr>
              <a:t> </a:t>
            </a:r>
            <a:r>
              <a:rPr lang="en-US" dirty="0" smtClean="0">
                <a:solidFill>
                  <a:srgbClr val="808080"/>
                </a:solidFill>
                <a:latin typeface="Consolas"/>
              </a:rPr>
              <a:t>=</a:t>
            </a:r>
            <a:r>
              <a:rPr lang="en-US" dirty="0" smtClean="0">
                <a:solidFill>
                  <a:srgbClr val="000000"/>
                </a:solidFill>
                <a:latin typeface="Consolas"/>
              </a:rPr>
              <a:t> </a:t>
            </a:r>
            <a:r>
              <a:rPr lang="en-US" dirty="0" err="1" smtClean="0">
                <a:solidFill>
                  <a:srgbClr val="000000"/>
                </a:solidFill>
                <a:latin typeface="Consolas"/>
              </a:rPr>
              <a:t>c</a:t>
            </a:r>
            <a:r>
              <a:rPr lang="en-US" dirty="0" err="1" smtClean="0">
                <a:solidFill>
                  <a:srgbClr val="808080"/>
                </a:solidFill>
                <a:latin typeface="Consolas"/>
              </a:rPr>
              <a:t>.</a:t>
            </a:r>
            <a:r>
              <a:rPr lang="en-US" dirty="0" err="1" smtClean="0">
                <a:solidFill>
                  <a:srgbClr val="000000"/>
                </a:solidFill>
                <a:latin typeface="Consolas"/>
              </a:rPr>
              <a:t>ProductCategoryID</a:t>
            </a:r>
            <a:r>
              <a:rPr lang="en-US" dirty="0" smtClean="0">
                <a:solidFill>
                  <a:srgbClr val="808080"/>
                </a:solidFill>
                <a:latin typeface="Consolas"/>
              </a:rPr>
              <a:t>;</a:t>
            </a:r>
            <a:endParaRPr lang="en-US" dirty="0" smtClean="0">
              <a:solidFill>
                <a:srgbClr val="000000"/>
              </a:solidFill>
              <a:latin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CTEs</a:t>
            </a:r>
            <a:endParaRPr lang="en-US" dirty="0"/>
          </a:p>
        </p:txBody>
      </p:sp>
      <p:sp>
        <p:nvSpPr>
          <p:cNvPr id="4" name="Content Placeholder 2"/>
          <p:cNvSpPr txBox="1">
            <a:spLocks/>
          </p:cNvSpPr>
          <p:nvPr/>
        </p:nvSpPr>
        <p:spPr>
          <a:xfrm>
            <a:off x="457200" y="1600200"/>
            <a:ext cx="8229600" cy="4495800"/>
          </a:xfrm>
          <a:prstGeom prst="rect">
            <a:avLst/>
          </a:prstGeom>
          <a:solidFill>
            <a:schemeClr val="bg1">
              <a:lumMod val="95000"/>
            </a:schemeClr>
          </a:solidFill>
          <a:ln>
            <a:solidFill>
              <a:schemeClr val="bg1">
                <a:lumMod val="50000"/>
              </a:schemeClr>
            </a:solidFill>
          </a:ln>
        </p:spPr>
        <p:txBody>
          <a:bodyPr vert="horz" lIns="91440" tIns="45720" rIns="91440" bIns="45720" rtlCol="0">
            <a:noAutofit/>
          </a:bodyPr>
          <a:lstStyle/>
          <a:p>
            <a:r>
              <a:rPr lang="en-US" sz="1400" dirty="0" smtClean="0">
                <a:solidFill>
                  <a:srgbClr val="0000FF"/>
                </a:solidFill>
                <a:latin typeface="Consolas"/>
              </a:rPr>
              <a:t>WITH</a:t>
            </a:r>
            <a:r>
              <a:rPr lang="en-US" sz="1400" dirty="0" smtClean="0">
                <a:solidFill>
                  <a:srgbClr val="000000"/>
                </a:solidFill>
                <a:latin typeface="Consolas"/>
              </a:rPr>
              <a:t> cteQuery1</a:t>
            </a:r>
            <a:r>
              <a:rPr lang="en-US" sz="1400" dirty="0" smtClean="0">
                <a:solidFill>
                  <a:srgbClr val="0000FF"/>
                </a:solidFill>
                <a:latin typeface="Consolas"/>
              </a:rPr>
              <a:t> </a:t>
            </a:r>
            <a:r>
              <a:rPr lang="en-US" sz="1400" dirty="0" smtClean="0">
                <a:solidFill>
                  <a:srgbClr val="808080"/>
                </a:solidFill>
                <a:latin typeface="Consolas"/>
              </a:rPr>
              <a:t>(</a:t>
            </a:r>
            <a:r>
              <a:rPr lang="en-US" sz="1400" dirty="0" err="1" smtClean="0">
                <a:solidFill>
                  <a:srgbClr val="000000"/>
                </a:solidFill>
                <a:latin typeface="Consolas"/>
              </a:rPr>
              <a:t>ProductCategoryID</a:t>
            </a:r>
            <a:r>
              <a:rPr lang="en-US" sz="1400" dirty="0" smtClean="0">
                <a:solidFill>
                  <a:srgbClr val="808080"/>
                </a:solidFill>
                <a:latin typeface="Consolas"/>
              </a:rPr>
              <a:t>)</a:t>
            </a:r>
            <a:endParaRPr lang="en-US" sz="1400" dirty="0" smtClean="0">
              <a:solidFill>
                <a:srgbClr val="000000"/>
              </a:solidFill>
              <a:latin typeface="Consolas"/>
            </a:endParaRPr>
          </a:p>
          <a:p>
            <a:r>
              <a:rPr lang="en-US" sz="1400" dirty="0" smtClean="0">
                <a:solidFill>
                  <a:srgbClr val="0000FF"/>
                </a:solidFill>
                <a:latin typeface="Consolas"/>
              </a:rPr>
              <a:t>AS </a:t>
            </a:r>
            <a:r>
              <a:rPr lang="en-US" sz="1400" dirty="0" smtClean="0">
                <a:solidFill>
                  <a:srgbClr val="808080"/>
                </a:solidFill>
                <a:latin typeface="Consolas"/>
              </a:rPr>
              <a:t>(</a:t>
            </a:r>
            <a:r>
              <a:rPr lang="en-US" sz="1400" dirty="0" smtClean="0">
                <a:solidFill>
                  <a:srgbClr val="0000FF"/>
                </a:solidFill>
                <a:latin typeface="Consolas"/>
              </a:rPr>
              <a:t>SELECT</a:t>
            </a:r>
            <a:r>
              <a:rPr lang="en-US" sz="1400" dirty="0" smtClean="0">
                <a:solidFill>
                  <a:srgbClr val="000000"/>
                </a:solidFill>
                <a:latin typeface="Consolas"/>
              </a:rPr>
              <a:t> </a:t>
            </a:r>
            <a:r>
              <a:rPr lang="en-US" sz="1400" dirty="0" err="1" smtClean="0">
                <a:solidFill>
                  <a:srgbClr val="000000"/>
                </a:solidFill>
                <a:latin typeface="Consolas"/>
              </a:rPr>
              <a:t>ProductCategoryID</a:t>
            </a:r>
            <a:endParaRPr lang="en-US" sz="1400" dirty="0" smtClean="0">
              <a:solidFill>
                <a:srgbClr val="000000"/>
              </a:solidFill>
              <a:latin typeface="Consolas"/>
            </a:endParaRPr>
          </a:p>
          <a:p>
            <a:r>
              <a:rPr lang="en-US" sz="1400" dirty="0" smtClean="0">
                <a:solidFill>
                  <a:srgbClr val="0000FF"/>
                </a:solidFill>
                <a:latin typeface="Consolas"/>
              </a:rPr>
              <a:t>FROM</a:t>
            </a:r>
            <a:r>
              <a:rPr lang="en-US" sz="1400" dirty="0" smtClean="0">
                <a:solidFill>
                  <a:srgbClr val="000000"/>
                </a:solidFill>
                <a:latin typeface="Consolas"/>
              </a:rPr>
              <a:t> </a:t>
            </a:r>
            <a:r>
              <a:rPr lang="en-US" sz="1400" dirty="0" err="1" smtClean="0">
                <a:solidFill>
                  <a:srgbClr val="000000"/>
                </a:solidFill>
                <a:latin typeface="Consolas"/>
              </a:rPr>
              <a:t>SalesLT</a:t>
            </a:r>
            <a:r>
              <a:rPr lang="en-US" sz="1400" dirty="0" err="1" smtClean="0">
                <a:solidFill>
                  <a:srgbClr val="808080"/>
                </a:solidFill>
                <a:latin typeface="Consolas"/>
              </a:rPr>
              <a:t>.</a:t>
            </a:r>
            <a:r>
              <a:rPr lang="en-US" sz="1400" dirty="0" err="1" smtClean="0">
                <a:solidFill>
                  <a:srgbClr val="000000"/>
                </a:solidFill>
                <a:latin typeface="Consolas"/>
              </a:rPr>
              <a:t>ProductCategory</a:t>
            </a:r>
            <a:endParaRPr lang="en-US" sz="1400" dirty="0" smtClean="0">
              <a:solidFill>
                <a:srgbClr val="000000"/>
              </a:solidFill>
              <a:latin typeface="Consolas"/>
            </a:endParaRPr>
          </a:p>
          <a:p>
            <a:r>
              <a:rPr lang="en-US" sz="1400" dirty="0" smtClean="0">
                <a:solidFill>
                  <a:srgbClr val="0000FF"/>
                </a:solidFill>
                <a:latin typeface="Consolas"/>
              </a:rPr>
              <a:t>WHERE</a:t>
            </a:r>
            <a:r>
              <a:rPr lang="en-US" sz="1400" dirty="0" smtClean="0">
                <a:solidFill>
                  <a:srgbClr val="000000"/>
                </a:solidFill>
                <a:latin typeface="Consolas"/>
              </a:rPr>
              <a:t> </a:t>
            </a:r>
            <a:r>
              <a:rPr lang="en-US" sz="1400" dirty="0" smtClean="0">
                <a:solidFill>
                  <a:srgbClr val="0000FF"/>
                </a:solidFill>
                <a:latin typeface="Consolas"/>
              </a:rPr>
              <a:t>Name</a:t>
            </a:r>
            <a:r>
              <a:rPr lang="en-US" sz="1400" dirty="0" smtClean="0">
                <a:solidFill>
                  <a:srgbClr val="000000"/>
                </a:solidFill>
                <a:latin typeface="Consolas"/>
              </a:rPr>
              <a:t> </a:t>
            </a:r>
            <a:r>
              <a:rPr lang="en-US" sz="1400" dirty="0" smtClean="0">
                <a:solidFill>
                  <a:srgbClr val="808080"/>
                </a:solidFill>
                <a:latin typeface="Consolas"/>
              </a:rPr>
              <a:t>=</a:t>
            </a:r>
            <a:r>
              <a:rPr lang="en-US" sz="1400" dirty="0" smtClean="0">
                <a:solidFill>
                  <a:srgbClr val="000000"/>
                </a:solidFill>
                <a:latin typeface="Consolas"/>
              </a:rPr>
              <a:t> </a:t>
            </a:r>
            <a:r>
              <a:rPr lang="en-US" sz="1400" dirty="0" smtClean="0">
                <a:solidFill>
                  <a:srgbClr val="FF0000"/>
                </a:solidFill>
                <a:latin typeface="Consolas"/>
              </a:rPr>
              <a:t>'</a:t>
            </a:r>
            <a:r>
              <a:rPr lang="en-US" sz="1400" dirty="0" err="1" smtClean="0">
                <a:solidFill>
                  <a:srgbClr val="FF0000"/>
                </a:solidFill>
                <a:latin typeface="Consolas"/>
              </a:rPr>
              <a:t>Cranksets</a:t>
            </a:r>
            <a:r>
              <a:rPr lang="en-US" sz="1400" dirty="0" smtClean="0">
                <a:solidFill>
                  <a:srgbClr val="FF0000"/>
                </a:solidFill>
                <a:latin typeface="Consolas"/>
              </a:rPr>
              <a:t>'</a:t>
            </a:r>
            <a:r>
              <a:rPr lang="en-US" sz="1400" dirty="0" smtClean="0">
                <a:solidFill>
                  <a:srgbClr val="808080"/>
                </a:solidFill>
                <a:latin typeface="Consolas"/>
              </a:rPr>
              <a:t>)</a:t>
            </a:r>
            <a:endParaRPr lang="en-US" sz="1400" dirty="0" smtClean="0">
              <a:solidFill>
                <a:srgbClr val="000000"/>
              </a:solidFill>
              <a:latin typeface="Consolas"/>
            </a:endParaRPr>
          </a:p>
          <a:p>
            <a:r>
              <a:rPr lang="en-US" sz="1400" dirty="0" smtClean="0">
                <a:solidFill>
                  <a:srgbClr val="808080"/>
                </a:solidFill>
                <a:latin typeface="Consolas"/>
              </a:rPr>
              <a:t>,</a:t>
            </a:r>
            <a:r>
              <a:rPr lang="en-US" sz="1400" dirty="0" smtClean="0">
                <a:solidFill>
                  <a:srgbClr val="000000"/>
                </a:solidFill>
                <a:latin typeface="Consolas"/>
              </a:rPr>
              <a:t> cteQuery2</a:t>
            </a:r>
            <a:r>
              <a:rPr lang="en-US" sz="1400" dirty="0" smtClean="0">
                <a:solidFill>
                  <a:srgbClr val="0000FF"/>
                </a:solidFill>
                <a:latin typeface="Consolas"/>
              </a:rPr>
              <a:t> </a:t>
            </a:r>
            <a:r>
              <a:rPr lang="en-US" sz="1400" dirty="0" smtClean="0">
                <a:solidFill>
                  <a:srgbClr val="808080"/>
                </a:solidFill>
                <a:latin typeface="Consolas"/>
              </a:rPr>
              <a:t>(</a:t>
            </a:r>
            <a:r>
              <a:rPr lang="en-US" sz="1400" dirty="0" err="1" smtClean="0">
                <a:solidFill>
                  <a:srgbClr val="000000"/>
                </a:solidFill>
                <a:latin typeface="Consolas"/>
              </a:rPr>
              <a:t>ProductCategoryID</a:t>
            </a:r>
            <a:r>
              <a:rPr lang="en-US" sz="1400" dirty="0" smtClean="0">
                <a:solidFill>
                  <a:srgbClr val="808080"/>
                </a:solidFill>
                <a:latin typeface="Consolas"/>
              </a:rPr>
              <a:t>)</a:t>
            </a:r>
            <a:endParaRPr lang="en-US" sz="1400" dirty="0" smtClean="0">
              <a:solidFill>
                <a:srgbClr val="000000"/>
              </a:solidFill>
              <a:latin typeface="Consolas"/>
            </a:endParaRPr>
          </a:p>
          <a:p>
            <a:r>
              <a:rPr lang="en-US" sz="1400" dirty="0" smtClean="0">
                <a:solidFill>
                  <a:srgbClr val="0000FF"/>
                </a:solidFill>
                <a:latin typeface="Consolas"/>
              </a:rPr>
              <a:t>AS </a:t>
            </a:r>
            <a:r>
              <a:rPr lang="en-US" sz="1400" dirty="0" smtClean="0">
                <a:solidFill>
                  <a:srgbClr val="808080"/>
                </a:solidFill>
                <a:latin typeface="Consolas"/>
              </a:rPr>
              <a:t>(</a:t>
            </a:r>
            <a:r>
              <a:rPr lang="en-US" sz="1400" dirty="0" smtClean="0">
                <a:solidFill>
                  <a:srgbClr val="0000FF"/>
                </a:solidFill>
                <a:latin typeface="Consolas"/>
              </a:rPr>
              <a:t>SELECT</a:t>
            </a:r>
            <a:r>
              <a:rPr lang="en-US" sz="1400" dirty="0" smtClean="0">
                <a:solidFill>
                  <a:srgbClr val="000000"/>
                </a:solidFill>
                <a:latin typeface="Consolas"/>
              </a:rPr>
              <a:t> </a:t>
            </a:r>
            <a:r>
              <a:rPr lang="en-US" sz="1400" dirty="0" err="1" smtClean="0">
                <a:solidFill>
                  <a:srgbClr val="000000"/>
                </a:solidFill>
                <a:latin typeface="Consolas"/>
              </a:rPr>
              <a:t>ProductCategoryID</a:t>
            </a:r>
            <a:endParaRPr lang="en-US" sz="1400" dirty="0" smtClean="0">
              <a:solidFill>
                <a:srgbClr val="000000"/>
              </a:solidFill>
              <a:latin typeface="Consolas"/>
            </a:endParaRPr>
          </a:p>
          <a:p>
            <a:r>
              <a:rPr lang="en-US" sz="1400" dirty="0" smtClean="0">
                <a:solidFill>
                  <a:srgbClr val="0000FF"/>
                </a:solidFill>
                <a:latin typeface="Consolas"/>
              </a:rPr>
              <a:t>FROM</a:t>
            </a:r>
            <a:r>
              <a:rPr lang="en-US" sz="1400" dirty="0" smtClean="0">
                <a:solidFill>
                  <a:srgbClr val="000000"/>
                </a:solidFill>
                <a:latin typeface="Consolas"/>
              </a:rPr>
              <a:t> </a:t>
            </a:r>
            <a:r>
              <a:rPr lang="en-US" sz="1400" dirty="0" err="1" smtClean="0">
                <a:solidFill>
                  <a:srgbClr val="000000"/>
                </a:solidFill>
                <a:latin typeface="Consolas"/>
              </a:rPr>
              <a:t>SalesLT</a:t>
            </a:r>
            <a:r>
              <a:rPr lang="en-US" sz="1400" dirty="0" err="1" smtClean="0">
                <a:solidFill>
                  <a:srgbClr val="808080"/>
                </a:solidFill>
                <a:latin typeface="Consolas"/>
              </a:rPr>
              <a:t>.</a:t>
            </a:r>
            <a:r>
              <a:rPr lang="en-US" sz="1400" dirty="0" err="1" smtClean="0">
                <a:solidFill>
                  <a:srgbClr val="000000"/>
                </a:solidFill>
                <a:latin typeface="Consolas"/>
              </a:rPr>
              <a:t>ProductCategory</a:t>
            </a:r>
            <a:endParaRPr lang="en-US" sz="1400" dirty="0" smtClean="0">
              <a:solidFill>
                <a:srgbClr val="000000"/>
              </a:solidFill>
              <a:latin typeface="Consolas"/>
            </a:endParaRPr>
          </a:p>
          <a:p>
            <a:r>
              <a:rPr lang="en-US" sz="1400" dirty="0" smtClean="0">
                <a:solidFill>
                  <a:srgbClr val="0000FF"/>
                </a:solidFill>
                <a:latin typeface="Consolas"/>
              </a:rPr>
              <a:t>WHERE</a:t>
            </a:r>
            <a:r>
              <a:rPr lang="en-US" sz="1400" dirty="0" smtClean="0">
                <a:solidFill>
                  <a:srgbClr val="000000"/>
                </a:solidFill>
                <a:latin typeface="Consolas"/>
              </a:rPr>
              <a:t> </a:t>
            </a:r>
            <a:r>
              <a:rPr lang="en-US" sz="1400" dirty="0" smtClean="0">
                <a:solidFill>
                  <a:srgbClr val="0000FF"/>
                </a:solidFill>
                <a:latin typeface="Consolas"/>
              </a:rPr>
              <a:t>Name</a:t>
            </a:r>
            <a:r>
              <a:rPr lang="en-US" sz="1400" dirty="0" smtClean="0">
                <a:solidFill>
                  <a:srgbClr val="000000"/>
                </a:solidFill>
                <a:latin typeface="Consolas"/>
              </a:rPr>
              <a:t> </a:t>
            </a:r>
            <a:r>
              <a:rPr lang="en-US" sz="1400" dirty="0" smtClean="0">
                <a:solidFill>
                  <a:srgbClr val="808080"/>
                </a:solidFill>
                <a:latin typeface="Consolas"/>
              </a:rPr>
              <a:t>=</a:t>
            </a:r>
            <a:r>
              <a:rPr lang="en-US" sz="1400" dirty="0" smtClean="0">
                <a:solidFill>
                  <a:srgbClr val="000000"/>
                </a:solidFill>
                <a:latin typeface="Consolas"/>
              </a:rPr>
              <a:t> </a:t>
            </a:r>
            <a:r>
              <a:rPr lang="en-US" sz="1400" dirty="0" smtClean="0">
                <a:solidFill>
                  <a:srgbClr val="FF0000"/>
                </a:solidFill>
                <a:latin typeface="Consolas"/>
              </a:rPr>
              <a:t>'Lights'</a:t>
            </a:r>
            <a:r>
              <a:rPr lang="en-US" sz="1400" dirty="0" smtClean="0">
                <a:solidFill>
                  <a:srgbClr val="808080"/>
                </a:solidFill>
                <a:latin typeface="Consolas"/>
              </a:rPr>
              <a:t>)</a:t>
            </a:r>
            <a:endParaRPr lang="en-US" sz="1400" dirty="0" smtClean="0">
              <a:solidFill>
                <a:srgbClr val="000000"/>
              </a:solidFill>
              <a:latin typeface="Consolas"/>
            </a:endParaRPr>
          </a:p>
          <a:p>
            <a:endParaRPr lang="en-US" sz="1400" dirty="0" smtClean="0">
              <a:solidFill>
                <a:srgbClr val="000000"/>
              </a:solidFill>
              <a:latin typeface="Consolas"/>
            </a:endParaRPr>
          </a:p>
          <a:p>
            <a:r>
              <a:rPr lang="en-US" sz="1400" dirty="0" smtClean="0">
                <a:solidFill>
                  <a:srgbClr val="0000FF"/>
                </a:solidFill>
                <a:latin typeface="Consolas"/>
              </a:rPr>
              <a:t>SELECT</a:t>
            </a:r>
            <a:r>
              <a:rPr lang="en-US" sz="1400" dirty="0" smtClean="0">
                <a:solidFill>
                  <a:srgbClr val="000000"/>
                </a:solidFill>
                <a:latin typeface="Consolas"/>
              </a:rPr>
              <a:t> </a:t>
            </a:r>
            <a:r>
              <a:rPr lang="en-US" sz="1400" dirty="0" smtClean="0">
                <a:solidFill>
                  <a:srgbClr val="0000FF"/>
                </a:solidFill>
                <a:latin typeface="Consolas"/>
              </a:rPr>
              <a:t>Name</a:t>
            </a:r>
            <a:r>
              <a:rPr lang="en-US" sz="1400" dirty="0" smtClean="0">
                <a:solidFill>
                  <a:srgbClr val="000000"/>
                </a:solidFill>
                <a:latin typeface="Consolas"/>
              </a:rPr>
              <a:t> </a:t>
            </a:r>
            <a:r>
              <a:rPr lang="en-US" sz="1400" dirty="0" smtClean="0">
                <a:solidFill>
                  <a:srgbClr val="0000FF"/>
                </a:solidFill>
                <a:latin typeface="Consolas"/>
              </a:rPr>
              <a:t>AS</a:t>
            </a:r>
            <a:r>
              <a:rPr lang="en-US" sz="1400" dirty="0" smtClean="0">
                <a:solidFill>
                  <a:srgbClr val="000000"/>
                </a:solidFill>
                <a:latin typeface="Consolas"/>
              </a:rPr>
              <a:t> </a:t>
            </a:r>
            <a:r>
              <a:rPr lang="en-US" sz="1400" dirty="0" err="1" smtClean="0">
                <a:solidFill>
                  <a:srgbClr val="000000"/>
                </a:solidFill>
                <a:latin typeface="Consolas"/>
              </a:rPr>
              <a:t>ProductName</a:t>
            </a:r>
            <a:endParaRPr lang="en-US" sz="1400" dirty="0" smtClean="0">
              <a:solidFill>
                <a:srgbClr val="000000"/>
              </a:solidFill>
              <a:latin typeface="Consolas"/>
            </a:endParaRPr>
          </a:p>
          <a:p>
            <a:r>
              <a:rPr lang="en-US" sz="1400" dirty="0" smtClean="0">
                <a:solidFill>
                  <a:srgbClr val="0000FF"/>
                </a:solidFill>
                <a:latin typeface="Consolas"/>
              </a:rPr>
              <a:t>FROM</a:t>
            </a:r>
            <a:r>
              <a:rPr lang="en-US" sz="1400" dirty="0" smtClean="0">
                <a:solidFill>
                  <a:srgbClr val="000000"/>
                </a:solidFill>
                <a:latin typeface="Consolas"/>
              </a:rPr>
              <a:t> </a:t>
            </a:r>
            <a:r>
              <a:rPr lang="en-US" sz="1400" dirty="0" err="1" smtClean="0">
                <a:solidFill>
                  <a:srgbClr val="000000"/>
                </a:solidFill>
                <a:latin typeface="Consolas"/>
              </a:rPr>
              <a:t>SalesLT</a:t>
            </a:r>
            <a:r>
              <a:rPr lang="en-US" sz="1400" dirty="0" err="1" smtClean="0">
                <a:solidFill>
                  <a:srgbClr val="808080"/>
                </a:solidFill>
                <a:latin typeface="Consolas"/>
              </a:rPr>
              <a:t>.</a:t>
            </a:r>
            <a:r>
              <a:rPr lang="en-US" sz="1400" dirty="0" err="1" smtClean="0">
                <a:solidFill>
                  <a:srgbClr val="000000"/>
                </a:solidFill>
                <a:latin typeface="Consolas"/>
              </a:rPr>
              <a:t>Product</a:t>
            </a:r>
            <a:r>
              <a:rPr lang="en-US" sz="1400" dirty="0" smtClean="0">
                <a:solidFill>
                  <a:srgbClr val="000000"/>
                </a:solidFill>
                <a:latin typeface="Consolas"/>
              </a:rPr>
              <a:t> p</a:t>
            </a:r>
          </a:p>
          <a:p>
            <a:r>
              <a:rPr lang="en-US" sz="1400" dirty="0" smtClean="0">
                <a:solidFill>
                  <a:srgbClr val="808080"/>
                </a:solidFill>
                <a:latin typeface="Consolas"/>
              </a:rPr>
              <a:t>INNER</a:t>
            </a:r>
            <a:r>
              <a:rPr lang="en-US" sz="1400" dirty="0" smtClean="0">
                <a:solidFill>
                  <a:srgbClr val="000000"/>
                </a:solidFill>
                <a:latin typeface="Consolas"/>
              </a:rPr>
              <a:t> </a:t>
            </a:r>
            <a:r>
              <a:rPr lang="en-US" sz="1400" dirty="0" smtClean="0">
                <a:solidFill>
                  <a:srgbClr val="808080"/>
                </a:solidFill>
                <a:latin typeface="Consolas"/>
              </a:rPr>
              <a:t>JOIN</a:t>
            </a:r>
            <a:r>
              <a:rPr lang="en-US" sz="1400" dirty="0" smtClean="0">
                <a:solidFill>
                  <a:srgbClr val="000000"/>
                </a:solidFill>
                <a:latin typeface="Consolas"/>
              </a:rPr>
              <a:t> cteQuery1 c1</a:t>
            </a:r>
          </a:p>
          <a:p>
            <a:r>
              <a:rPr lang="en-US" sz="1400" dirty="0" smtClean="0">
                <a:solidFill>
                  <a:srgbClr val="0000FF"/>
                </a:solidFill>
                <a:latin typeface="Consolas"/>
              </a:rPr>
              <a:t>ON</a:t>
            </a:r>
            <a:r>
              <a:rPr lang="en-US" sz="1400" dirty="0" smtClean="0">
                <a:solidFill>
                  <a:srgbClr val="000000"/>
                </a:solidFill>
                <a:latin typeface="Consolas"/>
              </a:rPr>
              <a:t> </a:t>
            </a:r>
            <a:r>
              <a:rPr lang="en-US" sz="1400" dirty="0" err="1" smtClean="0">
                <a:solidFill>
                  <a:srgbClr val="000000"/>
                </a:solidFill>
                <a:latin typeface="Consolas"/>
              </a:rPr>
              <a:t>p</a:t>
            </a:r>
            <a:r>
              <a:rPr lang="en-US" sz="1400" dirty="0" err="1" smtClean="0">
                <a:solidFill>
                  <a:srgbClr val="808080"/>
                </a:solidFill>
                <a:latin typeface="Consolas"/>
              </a:rPr>
              <a:t>.</a:t>
            </a:r>
            <a:r>
              <a:rPr lang="en-US" sz="1400" dirty="0" err="1" smtClean="0">
                <a:solidFill>
                  <a:srgbClr val="000000"/>
                </a:solidFill>
                <a:latin typeface="Consolas"/>
              </a:rPr>
              <a:t>ProductCategoryID</a:t>
            </a:r>
            <a:r>
              <a:rPr lang="en-US" sz="1400" dirty="0" smtClean="0">
                <a:solidFill>
                  <a:srgbClr val="000000"/>
                </a:solidFill>
                <a:latin typeface="Consolas"/>
              </a:rPr>
              <a:t> </a:t>
            </a:r>
            <a:r>
              <a:rPr lang="en-US" sz="1400" dirty="0" smtClean="0">
                <a:solidFill>
                  <a:srgbClr val="808080"/>
                </a:solidFill>
                <a:latin typeface="Consolas"/>
              </a:rPr>
              <a:t>=</a:t>
            </a:r>
            <a:r>
              <a:rPr lang="en-US" sz="1400" dirty="0" smtClean="0">
                <a:solidFill>
                  <a:srgbClr val="000000"/>
                </a:solidFill>
                <a:latin typeface="Consolas"/>
              </a:rPr>
              <a:t> c1</a:t>
            </a:r>
            <a:r>
              <a:rPr lang="en-US" sz="1400" dirty="0" smtClean="0">
                <a:solidFill>
                  <a:srgbClr val="808080"/>
                </a:solidFill>
                <a:latin typeface="Consolas"/>
              </a:rPr>
              <a:t>.</a:t>
            </a:r>
            <a:r>
              <a:rPr lang="en-US" sz="1400" dirty="0" smtClean="0">
                <a:solidFill>
                  <a:srgbClr val="000000"/>
                </a:solidFill>
                <a:latin typeface="Consolas"/>
              </a:rPr>
              <a:t>ProductCategoryID</a:t>
            </a:r>
          </a:p>
          <a:p>
            <a:endParaRPr lang="en-US" sz="1400" dirty="0" smtClean="0">
              <a:solidFill>
                <a:srgbClr val="000000"/>
              </a:solidFill>
              <a:latin typeface="Consolas"/>
            </a:endParaRPr>
          </a:p>
          <a:p>
            <a:r>
              <a:rPr lang="en-US" sz="1400" dirty="0" smtClean="0">
                <a:solidFill>
                  <a:srgbClr val="0000FF"/>
                </a:solidFill>
                <a:latin typeface="Consolas"/>
              </a:rPr>
              <a:t>UNION</a:t>
            </a:r>
            <a:r>
              <a:rPr lang="en-US" sz="1400" dirty="0" smtClean="0">
                <a:solidFill>
                  <a:srgbClr val="000000"/>
                </a:solidFill>
                <a:latin typeface="Consolas"/>
              </a:rPr>
              <a:t> </a:t>
            </a:r>
            <a:r>
              <a:rPr lang="en-US" sz="1400" dirty="0" smtClean="0">
                <a:solidFill>
                  <a:srgbClr val="808080"/>
                </a:solidFill>
                <a:latin typeface="Consolas"/>
              </a:rPr>
              <a:t>ALL</a:t>
            </a:r>
            <a:endParaRPr lang="en-US" sz="1400" dirty="0" smtClean="0">
              <a:solidFill>
                <a:srgbClr val="000000"/>
              </a:solidFill>
              <a:latin typeface="Consolas"/>
            </a:endParaRPr>
          </a:p>
          <a:p>
            <a:endParaRPr lang="en-US" sz="1400" dirty="0" smtClean="0">
              <a:solidFill>
                <a:srgbClr val="000000"/>
              </a:solidFill>
              <a:latin typeface="Consolas"/>
            </a:endParaRPr>
          </a:p>
          <a:p>
            <a:r>
              <a:rPr lang="en-US" sz="1400" dirty="0" smtClean="0">
                <a:solidFill>
                  <a:srgbClr val="0000FF"/>
                </a:solidFill>
                <a:latin typeface="Consolas"/>
              </a:rPr>
              <a:t>SELECT</a:t>
            </a:r>
            <a:r>
              <a:rPr lang="en-US" sz="1400" dirty="0" smtClean="0">
                <a:solidFill>
                  <a:srgbClr val="000000"/>
                </a:solidFill>
                <a:latin typeface="Consolas"/>
              </a:rPr>
              <a:t> </a:t>
            </a:r>
            <a:r>
              <a:rPr lang="en-US" sz="1400" dirty="0" smtClean="0">
                <a:solidFill>
                  <a:srgbClr val="0000FF"/>
                </a:solidFill>
                <a:latin typeface="Consolas"/>
              </a:rPr>
              <a:t>Name</a:t>
            </a:r>
            <a:r>
              <a:rPr lang="en-US" sz="1400" dirty="0" smtClean="0">
                <a:solidFill>
                  <a:srgbClr val="000000"/>
                </a:solidFill>
                <a:latin typeface="Consolas"/>
              </a:rPr>
              <a:t> </a:t>
            </a:r>
            <a:r>
              <a:rPr lang="en-US" sz="1400" dirty="0" smtClean="0">
                <a:solidFill>
                  <a:srgbClr val="0000FF"/>
                </a:solidFill>
                <a:latin typeface="Consolas"/>
              </a:rPr>
              <a:t>AS</a:t>
            </a:r>
            <a:r>
              <a:rPr lang="en-US" sz="1400" dirty="0" smtClean="0">
                <a:solidFill>
                  <a:srgbClr val="000000"/>
                </a:solidFill>
                <a:latin typeface="Consolas"/>
              </a:rPr>
              <a:t> </a:t>
            </a:r>
            <a:r>
              <a:rPr lang="en-US" sz="1400" dirty="0" err="1" smtClean="0">
                <a:solidFill>
                  <a:srgbClr val="000000"/>
                </a:solidFill>
                <a:latin typeface="Consolas"/>
              </a:rPr>
              <a:t>ProductName</a:t>
            </a:r>
            <a:endParaRPr lang="en-US" sz="1400" dirty="0" smtClean="0">
              <a:solidFill>
                <a:srgbClr val="000000"/>
              </a:solidFill>
              <a:latin typeface="Consolas"/>
            </a:endParaRPr>
          </a:p>
          <a:p>
            <a:r>
              <a:rPr lang="en-US" sz="1400" dirty="0" smtClean="0">
                <a:solidFill>
                  <a:srgbClr val="0000FF"/>
                </a:solidFill>
                <a:latin typeface="Consolas"/>
              </a:rPr>
              <a:t>FROM</a:t>
            </a:r>
            <a:r>
              <a:rPr lang="en-US" sz="1400" dirty="0" smtClean="0">
                <a:solidFill>
                  <a:srgbClr val="000000"/>
                </a:solidFill>
                <a:latin typeface="Consolas"/>
              </a:rPr>
              <a:t> </a:t>
            </a:r>
            <a:r>
              <a:rPr lang="en-US" sz="1400" dirty="0" err="1" smtClean="0">
                <a:solidFill>
                  <a:srgbClr val="000000"/>
                </a:solidFill>
                <a:latin typeface="Consolas"/>
              </a:rPr>
              <a:t>SalesLT</a:t>
            </a:r>
            <a:r>
              <a:rPr lang="en-US" sz="1400" dirty="0" err="1" smtClean="0">
                <a:solidFill>
                  <a:srgbClr val="808080"/>
                </a:solidFill>
                <a:latin typeface="Consolas"/>
              </a:rPr>
              <a:t>.</a:t>
            </a:r>
            <a:r>
              <a:rPr lang="en-US" sz="1400" dirty="0" err="1" smtClean="0">
                <a:solidFill>
                  <a:srgbClr val="000000"/>
                </a:solidFill>
                <a:latin typeface="Consolas"/>
              </a:rPr>
              <a:t>Product</a:t>
            </a:r>
            <a:r>
              <a:rPr lang="en-US" sz="1400" dirty="0" smtClean="0">
                <a:solidFill>
                  <a:srgbClr val="000000"/>
                </a:solidFill>
                <a:latin typeface="Consolas"/>
              </a:rPr>
              <a:t> p</a:t>
            </a:r>
          </a:p>
          <a:p>
            <a:r>
              <a:rPr lang="en-US" sz="1400" dirty="0" smtClean="0">
                <a:solidFill>
                  <a:srgbClr val="808080"/>
                </a:solidFill>
                <a:latin typeface="Consolas"/>
              </a:rPr>
              <a:t>INNER</a:t>
            </a:r>
            <a:r>
              <a:rPr lang="en-US" sz="1400" dirty="0" smtClean="0">
                <a:solidFill>
                  <a:srgbClr val="000000"/>
                </a:solidFill>
                <a:latin typeface="Consolas"/>
              </a:rPr>
              <a:t> </a:t>
            </a:r>
            <a:r>
              <a:rPr lang="en-US" sz="1400" dirty="0" smtClean="0">
                <a:solidFill>
                  <a:srgbClr val="808080"/>
                </a:solidFill>
                <a:latin typeface="Consolas"/>
              </a:rPr>
              <a:t>JOIN</a:t>
            </a:r>
            <a:r>
              <a:rPr lang="en-US" sz="1400" dirty="0" smtClean="0">
                <a:solidFill>
                  <a:srgbClr val="000000"/>
                </a:solidFill>
                <a:latin typeface="Consolas"/>
              </a:rPr>
              <a:t> cteQuery2 c2</a:t>
            </a:r>
          </a:p>
          <a:p>
            <a:r>
              <a:rPr lang="en-US" sz="1400" dirty="0" smtClean="0">
                <a:solidFill>
                  <a:srgbClr val="0000FF"/>
                </a:solidFill>
                <a:latin typeface="Consolas"/>
              </a:rPr>
              <a:t>ON</a:t>
            </a:r>
            <a:r>
              <a:rPr lang="en-US" sz="1400" dirty="0" smtClean="0">
                <a:solidFill>
                  <a:srgbClr val="000000"/>
                </a:solidFill>
                <a:latin typeface="Consolas"/>
              </a:rPr>
              <a:t> </a:t>
            </a:r>
            <a:r>
              <a:rPr lang="en-US" sz="1400" dirty="0" err="1" smtClean="0">
                <a:solidFill>
                  <a:srgbClr val="000000"/>
                </a:solidFill>
                <a:latin typeface="Consolas"/>
              </a:rPr>
              <a:t>p</a:t>
            </a:r>
            <a:r>
              <a:rPr lang="en-US" sz="1400" dirty="0" err="1" smtClean="0">
                <a:solidFill>
                  <a:srgbClr val="808080"/>
                </a:solidFill>
                <a:latin typeface="Consolas"/>
              </a:rPr>
              <a:t>.</a:t>
            </a:r>
            <a:r>
              <a:rPr lang="en-US" sz="1400" dirty="0" err="1" smtClean="0">
                <a:solidFill>
                  <a:srgbClr val="000000"/>
                </a:solidFill>
                <a:latin typeface="Consolas"/>
              </a:rPr>
              <a:t>ProductCategoryID</a:t>
            </a:r>
            <a:r>
              <a:rPr lang="en-US" sz="1400" dirty="0" smtClean="0">
                <a:solidFill>
                  <a:srgbClr val="000000"/>
                </a:solidFill>
                <a:latin typeface="Consolas"/>
              </a:rPr>
              <a:t> </a:t>
            </a:r>
            <a:r>
              <a:rPr lang="en-US" sz="1400" dirty="0" smtClean="0">
                <a:solidFill>
                  <a:srgbClr val="808080"/>
                </a:solidFill>
                <a:latin typeface="Consolas"/>
              </a:rPr>
              <a:t>=</a:t>
            </a:r>
            <a:r>
              <a:rPr lang="en-US" sz="1400" dirty="0" smtClean="0">
                <a:solidFill>
                  <a:srgbClr val="000000"/>
                </a:solidFill>
                <a:latin typeface="Consolas"/>
              </a:rPr>
              <a:t> c2</a:t>
            </a:r>
            <a:r>
              <a:rPr lang="en-US" sz="1400" dirty="0" smtClean="0">
                <a:solidFill>
                  <a:srgbClr val="808080"/>
                </a:solidFill>
                <a:latin typeface="Consolas"/>
              </a:rPr>
              <a:t>.</a:t>
            </a:r>
            <a:r>
              <a:rPr lang="en-US" sz="1400" dirty="0" smtClean="0">
                <a:solidFill>
                  <a:srgbClr val="000000"/>
                </a:solidFill>
                <a:latin typeface="Consolas"/>
              </a:rPr>
              <a:t>ProductCategoryID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Recursive CTE</a:t>
            </a:r>
            <a:endParaRPr lang="en-US" dirty="0"/>
          </a:p>
        </p:txBody>
      </p:sp>
      <p:sp>
        <p:nvSpPr>
          <p:cNvPr id="3" name="Content Placeholder 2"/>
          <p:cNvSpPr>
            <a:spLocks noGrp="1"/>
          </p:cNvSpPr>
          <p:nvPr>
            <p:ph idx="1"/>
          </p:nvPr>
        </p:nvSpPr>
        <p:spPr/>
        <p:txBody>
          <a:bodyPr/>
          <a:lstStyle/>
          <a:p>
            <a:r>
              <a:rPr lang="en-US" sz="1800" dirty="0" smtClean="0"/>
              <a:t>CTEs can be self-referencing, enabling it to be referenced multiple times in the same query.</a:t>
            </a:r>
          </a:p>
          <a:p>
            <a:r>
              <a:rPr lang="en-US" sz="1800" dirty="0" smtClean="0"/>
              <a:t>Because it is self-referencing, it therefore creates recursion, thus a recursive CTE.</a:t>
            </a:r>
          </a:p>
          <a:p>
            <a:r>
              <a:rPr lang="en-US" sz="1800" dirty="0" smtClean="0"/>
              <a:t>A recursive CTE is one in which an initial CTE is </a:t>
            </a:r>
            <a:r>
              <a:rPr lang="en-US" sz="1800" u="sng" dirty="0" smtClean="0"/>
              <a:t>repeatedly executed</a:t>
            </a:r>
            <a:r>
              <a:rPr lang="en-US" sz="1800" dirty="0" smtClean="0"/>
              <a:t> to return subsets of data until the complete result set is returned.</a:t>
            </a:r>
            <a:endParaRPr lang="en-US" sz="1800" dirty="0"/>
          </a:p>
        </p:txBody>
      </p:sp>
      <p:sp>
        <p:nvSpPr>
          <p:cNvPr id="5" name="Content Placeholder 2"/>
          <p:cNvSpPr txBox="1">
            <a:spLocks/>
          </p:cNvSpPr>
          <p:nvPr/>
        </p:nvSpPr>
        <p:spPr>
          <a:xfrm>
            <a:off x="457200" y="3352800"/>
            <a:ext cx="8229600" cy="2819400"/>
          </a:xfrm>
          <a:prstGeom prst="rect">
            <a:avLst/>
          </a:prstGeom>
          <a:solidFill>
            <a:schemeClr val="bg1">
              <a:lumMod val="95000"/>
            </a:schemeClr>
          </a:solidFill>
          <a:ln>
            <a:solidFill>
              <a:schemeClr val="bg1">
                <a:lumMod val="50000"/>
              </a:schemeClr>
            </a:solidFill>
          </a:ln>
        </p:spPr>
        <p:txBody>
          <a:bodyPr vert="horz" lIns="91440" tIns="45720" rIns="91440" bIns="45720" rtlCol="0">
            <a:noAutofit/>
          </a:bodyPr>
          <a:lstStyle/>
          <a:p>
            <a:r>
              <a:rPr lang="en-US" dirty="0" smtClean="0">
                <a:solidFill>
                  <a:srgbClr val="0000FF"/>
                </a:solidFill>
                <a:latin typeface="Consolas"/>
              </a:rPr>
              <a:t>WITH</a:t>
            </a:r>
            <a:r>
              <a:rPr lang="en-US" dirty="0" smtClean="0">
                <a:solidFill>
                  <a:srgbClr val="000000"/>
                </a:solidFill>
                <a:latin typeface="Consolas"/>
              </a:rPr>
              <a:t> </a:t>
            </a:r>
            <a:r>
              <a:rPr lang="en-US" dirty="0" err="1" smtClean="0">
                <a:solidFill>
                  <a:srgbClr val="000000"/>
                </a:solidFill>
                <a:latin typeface="Consolas"/>
              </a:rPr>
              <a:t>cte_numbers</a:t>
            </a:r>
            <a:r>
              <a:rPr lang="en-US" dirty="0" smtClean="0">
                <a:solidFill>
                  <a:srgbClr val="808080"/>
                </a:solidFill>
                <a:latin typeface="Consolas"/>
              </a:rPr>
              <a:t>(</a:t>
            </a:r>
            <a:r>
              <a:rPr lang="en-US" dirty="0" smtClean="0">
                <a:solidFill>
                  <a:srgbClr val="000000"/>
                </a:solidFill>
                <a:latin typeface="Consolas"/>
              </a:rPr>
              <a:t>n</a:t>
            </a:r>
            <a:r>
              <a:rPr lang="en-US" dirty="0" smtClean="0">
                <a:solidFill>
                  <a:srgbClr val="808080"/>
                </a:solidFill>
                <a:latin typeface="Consolas"/>
              </a:rPr>
              <a:t>,</a:t>
            </a:r>
            <a:r>
              <a:rPr lang="en-US" dirty="0" smtClean="0">
                <a:solidFill>
                  <a:srgbClr val="000000"/>
                </a:solidFill>
                <a:latin typeface="Consolas"/>
              </a:rPr>
              <a:t> [weekday]</a:t>
            </a:r>
            <a:r>
              <a:rPr lang="en-US" dirty="0" smtClean="0">
                <a:solidFill>
                  <a:srgbClr val="808080"/>
                </a:solidFill>
                <a:latin typeface="Consolas"/>
              </a:rPr>
              <a:t>)</a:t>
            </a:r>
            <a:r>
              <a:rPr lang="en-US" dirty="0" smtClean="0">
                <a:solidFill>
                  <a:srgbClr val="000000"/>
                </a:solidFill>
                <a:latin typeface="Consolas"/>
              </a:rPr>
              <a:t> </a:t>
            </a:r>
          </a:p>
          <a:p>
            <a:r>
              <a:rPr lang="en-US" dirty="0" smtClean="0">
                <a:solidFill>
                  <a:srgbClr val="0000FF"/>
                </a:solidFill>
                <a:latin typeface="Consolas"/>
              </a:rPr>
              <a:t>AS </a:t>
            </a:r>
            <a:r>
              <a:rPr lang="en-US" dirty="0" smtClean="0">
                <a:solidFill>
                  <a:srgbClr val="808080"/>
                </a:solidFill>
                <a:latin typeface="Consolas"/>
              </a:rPr>
              <a:t>(</a:t>
            </a:r>
            <a:endParaRPr lang="en-US" dirty="0" smtClean="0">
              <a:solidFill>
                <a:srgbClr val="000000"/>
              </a:solidFill>
              <a:latin typeface="Consolas"/>
            </a:endParaRPr>
          </a:p>
          <a:p>
            <a:r>
              <a:rPr lang="en-US" dirty="0" smtClean="0">
                <a:solidFill>
                  <a:srgbClr val="000000"/>
                </a:solidFill>
                <a:latin typeface="Consolas"/>
              </a:rPr>
              <a:t>    </a:t>
            </a:r>
            <a:r>
              <a:rPr lang="en-US" dirty="0" smtClean="0">
                <a:solidFill>
                  <a:srgbClr val="0000FF"/>
                </a:solidFill>
                <a:latin typeface="Consolas"/>
              </a:rPr>
              <a:t>SELECT</a:t>
            </a:r>
            <a:r>
              <a:rPr lang="en-US" dirty="0" smtClean="0">
                <a:solidFill>
                  <a:srgbClr val="000000"/>
                </a:solidFill>
                <a:latin typeface="Consolas"/>
              </a:rPr>
              <a:t> 0</a:t>
            </a:r>
            <a:r>
              <a:rPr lang="en-US" dirty="0" smtClean="0">
                <a:solidFill>
                  <a:srgbClr val="808080"/>
                </a:solidFill>
                <a:latin typeface="Consolas"/>
              </a:rPr>
              <a:t>,</a:t>
            </a:r>
            <a:r>
              <a:rPr lang="en-US" dirty="0" smtClean="0">
                <a:solidFill>
                  <a:srgbClr val="000000"/>
                </a:solidFill>
                <a:latin typeface="Consolas"/>
              </a:rPr>
              <a:t> </a:t>
            </a:r>
            <a:r>
              <a:rPr lang="en-US" dirty="0" smtClean="0">
                <a:solidFill>
                  <a:srgbClr val="FF00FF"/>
                </a:solidFill>
                <a:latin typeface="Consolas"/>
              </a:rPr>
              <a:t>DATENAME</a:t>
            </a:r>
            <a:r>
              <a:rPr lang="en-US" dirty="0" smtClean="0">
                <a:solidFill>
                  <a:srgbClr val="808080"/>
                </a:solidFill>
                <a:latin typeface="Consolas"/>
              </a:rPr>
              <a:t>(</a:t>
            </a:r>
            <a:r>
              <a:rPr lang="en-US" dirty="0" smtClean="0">
                <a:solidFill>
                  <a:srgbClr val="000000"/>
                </a:solidFill>
                <a:latin typeface="Consolas"/>
              </a:rPr>
              <a:t>DW</a:t>
            </a:r>
            <a:r>
              <a:rPr lang="en-US" dirty="0" smtClean="0">
                <a:solidFill>
                  <a:srgbClr val="808080"/>
                </a:solidFill>
                <a:latin typeface="Consolas"/>
              </a:rPr>
              <a:t>,</a:t>
            </a:r>
            <a:r>
              <a:rPr lang="en-US" dirty="0" smtClean="0">
                <a:solidFill>
                  <a:srgbClr val="000000"/>
                </a:solidFill>
                <a:latin typeface="Consolas"/>
              </a:rPr>
              <a:t> 0</a:t>
            </a:r>
            <a:r>
              <a:rPr lang="en-US" dirty="0" smtClean="0">
                <a:solidFill>
                  <a:srgbClr val="808080"/>
                </a:solidFill>
                <a:latin typeface="Consolas"/>
              </a:rPr>
              <a:t>)</a:t>
            </a:r>
            <a:endParaRPr lang="en-US" dirty="0" smtClean="0">
              <a:solidFill>
                <a:srgbClr val="000000"/>
              </a:solidFill>
              <a:latin typeface="Consolas"/>
            </a:endParaRPr>
          </a:p>
          <a:p>
            <a:r>
              <a:rPr lang="en-US" dirty="0" smtClean="0">
                <a:solidFill>
                  <a:srgbClr val="000000"/>
                </a:solidFill>
                <a:latin typeface="Consolas"/>
              </a:rPr>
              <a:t>    </a:t>
            </a:r>
            <a:r>
              <a:rPr lang="en-US" dirty="0" smtClean="0">
                <a:solidFill>
                  <a:srgbClr val="0000FF"/>
                </a:solidFill>
                <a:latin typeface="Consolas"/>
              </a:rPr>
              <a:t>UNION</a:t>
            </a:r>
            <a:r>
              <a:rPr lang="en-US" dirty="0" smtClean="0">
                <a:solidFill>
                  <a:srgbClr val="000000"/>
                </a:solidFill>
                <a:latin typeface="Consolas"/>
              </a:rPr>
              <a:t> </a:t>
            </a:r>
            <a:r>
              <a:rPr lang="en-US" dirty="0" smtClean="0">
                <a:solidFill>
                  <a:srgbClr val="808080"/>
                </a:solidFill>
                <a:latin typeface="Consolas"/>
              </a:rPr>
              <a:t>ALL</a:t>
            </a:r>
            <a:endParaRPr lang="en-US" dirty="0" smtClean="0">
              <a:solidFill>
                <a:srgbClr val="000000"/>
              </a:solidFill>
              <a:latin typeface="Consolas"/>
            </a:endParaRPr>
          </a:p>
          <a:p>
            <a:r>
              <a:rPr lang="pt-BR" dirty="0" smtClean="0">
                <a:solidFill>
                  <a:srgbClr val="000000"/>
                </a:solidFill>
                <a:latin typeface="Consolas"/>
              </a:rPr>
              <a:t>    </a:t>
            </a:r>
            <a:r>
              <a:rPr lang="pt-BR" dirty="0" smtClean="0">
                <a:solidFill>
                  <a:srgbClr val="0000FF"/>
                </a:solidFill>
                <a:latin typeface="Consolas"/>
              </a:rPr>
              <a:t>SELECT</a:t>
            </a:r>
            <a:r>
              <a:rPr lang="pt-BR" dirty="0" smtClean="0">
                <a:solidFill>
                  <a:srgbClr val="000000"/>
                </a:solidFill>
                <a:latin typeface="Consolas"/>
              </a:rPr>
              <a:t> n </a:t>
            </a:r>
            <a:r>
              <a:rPr lang="pt-BR" dirty="0" smtClean="0">
                <a:solidFill>
                  <a:srgbClr val="808080"/>
                </a:solidFill>
                <a:latin typeface="Consolas"/>
              </a:rPr>
              <a:t>+</a:t>
            </a:r>
            <a:r>
              <a:rPr lang="pt-BR" dirty="0" smtClean="0">
                <a:solidFill>
                  <a:srgbClr val="000000"/>
                </a:solidFill>
                <a:latin typeface="Consolas"/>
              </a:rPr>
              <a:t> 1</a:t>
            </a:r>
            <a:r>
              <a:rPr lang="pt-BR" dirty="0" smtClean="0">
                <a:solidFill>
                  <a:srgbClr val="808080"/>
                </a:solidFill>
                <a:latin typeface="Consolas"/>
              </a:rPr>
              <a:t>,</a:t>
            </a:r>
            <a:r>
              <a:rPr lang="pt-BR" dirty="0" smtClean="0">
                <a:solidFill>
                  <a:srgbClr val="000000"/>
                </a:solidFill>
                <a:latin typeface="Consolas"/>
              </a:rPr>
              <a:t> </a:t>
            </a:r>
            <a:r>
              <a:rPr lang="pt-BR" dirty="0" smtClean="0">
                <a:solidFill>
                  <a:srgbClr val="FF00FF"/>
                </a:solidFill>
                <a:latin typeface="Consolas"/>
              </a:rPr>
              <a:t>DATENAME</a:t>
            </a:r>
            <a:r>
              <a:rPr lang="pt-BR" dirty="0" smtClean="0">
                <a:solidFill>
                  <a:srgbClr val="808080"/>
                </a:solidFill>
                <a:latin typeface="Consolas"/>
              </a:rPr>
              <a:t>(</a:t>
            </a:r>
            <a:r>
              <a:rPr lang="pt-BR" dirty="0" smtClean="0">
                <a:solidFill>
                  <a:srgbClr val="000000"/>
                </a:solidFill>
                <a:latin typeface="Consolas"/>
              </a:rPr>
              <a:t>DW</a:t>
            </a:r>
            <a:r>
              <a:rPr lang="pt-BR" dirty="0" smtClean="0">
                <a:solidFill>
                  <a:srgbClr val="808080"/>
                </a:solidFill>
                <a:latin typeface="Consolas"/>
              </a:rPr>
              <a:t>,</a:t>
            </a:r>
            <a:r>
              <a:rPr lang="pt-BR" dirty="0" smtClean="0">
                <a:solidFill>
                  <a:srgbClr val="000000"/>
                </a:solidFill>
                <a:latin typeface="Consolas"/>
              </a:rPr>
              <a:t> n </a:t>
            </a:r>
            <a:r>
              <a:rPr lang="pt-BR" dirty="0" smtClean="0">
                <a:solidFill>
                  <a:srgbClr val="808080"/>
                </a:solidFill>
                <a:latin typeface="Consolas"/>
              </a:rPr>
              <a:t>+</a:t>
            </a:r>
            <a:r>
              <a:rPr lang="pt-BR" dirty="0" smtClean="0">
                <a:solidFill>
                  <a:srgbClr val="000000"/>
                </a:solidFill>
                <a:latin typeface="Consolas"/>
              </a:rPr>
              <a:t> 1</a:t>
            </a:r>
            <a:r>
              <a:rPr lang="pt-BR" dirty="0" smtClean="0">
                <a:solidFill>
                  <a:srgbClr val="808080"/>
                </a:solidFill>
                <a:latin typeface="Consolas"/>
              </a:rPr>
              <a:t>)</a:t>
            </a:r>
            <a:endParaRPr lang="pt-BR" dirty="0" smtClean="0">
              <a:solidFill>
                <a:srgbClr val="000000"/>
              </a:solidFill>
              <a:latin typeface="Consolas"/>
            </a:endParaRPr>
          </a:p>
          <a:p>
            <a:r>
              <a:rPr lang="en-US" dirty="0" smtClean="0">
                <a:solidFill>
                  <a:srgbClr val="000000"/>
                </a:solidFill>
                <a:latin typeface="Consolas"/>
              </a:rPr>
              <a:t>    </a:t>
            </a:r>
            <a:r>
              <a:rPr lang="en-US" dirty="0" smtClean="0">
                <a:solidFill>
                  <a:srgbClr val="0000FF"/>
                </a:solidFill>
                <a:latin typeface="Consolas"/>
              </a:rPr>
              <a:t>FROM</a:t>
            </a:r>
            <a:r>
              <a:rPr lang="en-US" dirty="0" smtClean="0">
                <a:solidFill>
                  <a:srgbClr val="000000"/>
                </a:solidFill>
                <a:latin typeface="Consolas"/>
              </a:rPr>
              <a:t> </a:t>
            </a:r>
            <a:r>
              <a:rPr lang="en-US" dirty="0" err="1" smtClean="0">
                <a:solidFill>
                  <a:srgbClr val="000000"/>
                </a:solidFill>
                <a:latin typeface="Consolas"/>
              </a:rPr>
              <a:t>cte_numbers</a:t>
            </a:r>
            <a:endParaRPr lang="en-US" dirty="0" smtClean="0">
              <a:solidFill>
                <a:srgbClr val="000000"/>
              </a:solidFill>
              <a:latin typeface="Consolas"/>
            </a:endParaRPr>
          </a:p>
          <a:p>
            <a:r>
              <a:rPr lang="en-US" dirty="0" smtClean="0">
                <a:solidFill>
                  <a:srgbClr val="000000"/>
                </a:solidFill>
                <a:latin typeface="Consolas"/>
              </a:rPr>
              <a:t>    </a:t>
            </a:r>
            <a:r>
              <a:rPr lang="en-US" dirty="0" smtClean="0">
                <a:solidFill>
                  <a:srgbClr val="0000FF"/>
                </a:solidFill>
                <a:latin typeface="Consolas"/>
              </a:rPr>
              <a:t>WHERE</a:t>
            </a:r>
            <a:r>
              <a:rPr lang="en-US" dirty="0" smtClean="0">
                <a:solidFill>
                  <a:srgbClr val="000000"/>
                </a:solidFill>
                <a:latin typeface="Consolas"/>
              </a:rPr>
              <a:t> n </a:t>
            </a:r>
            <a:r>
              <a:rPr lang="en-US" dirty="0" smtClean="0">
                <a:solidFill>
                  <a:srgbClr val="808080"/>
                </a:solidFill>
                <a:latin typeface="Consolas"/>
              </a:rPr>
              <a:t>&lt;</a:t>
            </a:r>
            <a:r>
              <a:rPr lang="en-US" dirty="0" smtClean="0">
                <a:solidFill>
                  <a:srgbClr val="000000"/>
                </a:solidFill>
                <a:latin typeface="Consolas"/>
              </a:rPr>
              <a:t> 6</a:t>
            </a:r>
          </a:p>
          <a:p>
            <a:r>
              <a:rPr lang="en-US" dirty="0" smtClean="0">
                <a:solidFill>
                  <a:srgbClr val="808080"/>
                </a:solidFill>
                <a:latin typeface="Consolas"/>
              </a:rPr>
              <a:t>)</a:t>
            </a:r>
            <a:endParaRPr lang="en-US" dirty="0" smtClean="0">
              <a:solidFill>
                <a:srgbClr val="000000"/>
              </a:solidFill>
              <a:latin typeface="Consolas"/>
            </a:endParaRPr>
          </a:p>
          <a:p>
            <a:r>
              <a:rPr lang="en-US" dirty="0" smtClean="0">
                <a:solidFill>
                  <a:srgbClr val="0000FF"/>
                </a:solidFill>
                <a:latin typeface="Consolas"/>
              </a:rPr>
              <a:t>SELECT</a:t>
            </a:r>
            <a:r>
              <a:rPr lang="en-US" dirty="0" smtClean="0">
                <a:solidFill>
                  <a:srgbClr val="000000"/>
                </a:solidFill>
                <a:latin typeface="Consolas"/>
              </a:rPr>
              <a:t> [weekday]</a:t>
            </a:r>
          </a:p>
          <a:p>
            <a:r>
              <a:rPr lang="en-US" dirty="0" smtClean="0">
                <a:solidFill>
                  <a:srgbClr val="0000FF"/>
                </a:solidFill>
                <a:latin typeface="Consolas"/>
              </a:rPr>
              <a:t>FROM</a:t>
            </a:r>
            <a:r>
              <a:rPr lang="en-US" dirty="0" smtClean="0">
                <a:solidFill>
                  <a:srgbClr val="000000"/>
                </a:solidFill>
                <a:latin typeface="Consolas"/>
              </a:rPr>
              <a:t> </a:t>
            </a:r>
            <a:r>
              <a:rPr lang="en-US" dirty="0" err="1" smtClean="0">
                <a:solidFill>
                  <a:srgbClr val="000000"/>
                </a:solidFill>
                <a:latin typeface="Consolas"/>
              </a:rPr>
              <a:t>cte_numbers</a:t>
            </a:r>
            <a:r>
              <a:rPr lang="en-US" dirty="0" smtClean="0">
                <a:solidFill>
                  <a:srgbClr val="808080"/>
                </a:solidFill>
                <a:latin typeface="Consolas"/>
              </a:rPr>
              <a:t>;</a:t>
            </a:r>
            <a:endParaRPr lang="en-US" dirty="0" smtClean="0">
              <a:solidFill>
                <a:srgbClr val="808080"/>
              </a:solidFill>
              <a:latin typeface="Courier New" pitchFamily="49" charset="0"/>
              <a:cs typeface="Courier New"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a:t>
            </a:r>
            <a:endParaRPr lang="en-US" dirty="0"/>
          </a:p>
        </p:txBody>
      </p:sp>
      <p:sp>
        <p:nvSpPr>
          <p:cNvPr id="3" name="Content Placeholder 2"/>
          <p:cNvSpPr>
            <a:spLocks noGrp="1"/>
          </p:cNvSpPr>
          <p:nvPr>
            <p:ph idx="1"/>
          </p:nvPr>
        </p:nvSpPr>
        <p:spPr>
          <a:solidFill>
            <a:schemeClr val="bg1">
              <a:lumMod val="95000"/>
            </a:schemeClr>
          </a:solidFill>
        </p:spPr>
        <p:txBody>
          <a:bodyPr/>
          <a:lstStyle/>
          <a:p>
            <a:pPr>
              <a:buNone/>
            </a:pPr>
            <a:r>
              <a:rPr lang="en-US" sz="2000" dirty="0" smtClean="0">
                <a:solidFill>
                  <a:srgbClr val="0000FF"/>
                </a:solidFill>
                <a:latin typeface="Consolas"/>
              </a:rPr>
              <a:t>USE</a:t>
            </a:r>
            <a:r>
              <a:rPr lang="en-US" sz="2000" dirty="0" smtClean="0">
                <a:solidFill>
                  <a:srgbClr val="000000"/>
                </a:solidFill>
                <a:latin typeface="Consolas"/>
              </a:rPr>
              <a:t> AdventureWorksLT2012</a:t>
            </a:r>
            <a:r>
              <a:rPr lang="en-US" sz="2000" dirty="0" smtClean="0">
                <a:solidFill>
                  <a:srgbClr val="808080"/>
                </a:solidFill>
                <a:latin typeface="Consolas"/>
              </a:rPr>
              <a:t>;</a:t>
            </a:r>
            <a:endParaRPr lang="en-US" sz="2000" dirty="0" smtClean="0">
              <a:solidFill>
                <a:srgbClr val="000000"/>
              </a:solidFill>
              <a:latin typeface="Consolas"/>
            </a:endParaRPr>
          </a:p>
          <a:p>
            <a:pPr>
              <a:buNone/>
            </a:pPr>
            <a:endParaRPr lang="en-US" sz="2000" dirty="0" smtClean="0">
              <a:solidFill>
                <a:srgbClr val="000000"/>
              </a:solidFill>
              <a:latin typeface="Consolas"/>
            </a:endParaRPr>
          </a:p>
          <a:p>
            <a:pPr>
              <a:buNone/>
            </a:pPr>
            <a:r>
              <a:rPr lang="en-US" sz="2000" dirty="0" smtClean="0">
                <a:solidFill>
                  <a:srgbClr val="0000FF"/>
                </a:solidFill>
                <a:latin typeface="Consolas"/>
              </a:rPr>
              <a:t>SELECT</a:t>
            </a:r>
            <a:r>
              <a:rPr lang="en-US" sz="2000" dirty="0" smtClean="0">
                <a:solidFill>
                  <a:srgbClr val="000000"/>
                </a:solidFill>
                <a:latin typeface="Consolas"/>
              </a:rPr>
              <a:t> </a:t>
            </a:r>
            <a:r>
              <a:rPr lang="en-US" sz="2000" dirty="0" err="1" smtClean="0">
                <a:solidFill>
                  <a:srgbClr val="000000"/>
                </a:solidFill>
                <a:latin typeface="Consolas"/>
              </a:rPr>
              <a:t>pc</a:t>
            </a:r>
            <a:r>
              <a:rPr lang="en-US" sz="2000" dirty="0" err="1" smtClean="0">
                <a:solidFill>
                  <a:srgbClr val="808080"/>
                </a:solidFill>
                <a:latin typeface="Consolas"/>
              </a:rPr>
              <a:t>.</a:t>
            </a:r>
            <a:r>
              <a:rPr lang="en-US" sz="2000" dirty="0" err="1" smtClean="0">
                <a:solidFill>
                  <a:srgbClr val="0000FF"/>
                </a:solidFill>
                <a:latin typeface="Consolas"/>
              </a:rPr>
              <a:t>Name</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a:t>
            </a:r>
            <a:r>
              <a:rPr lang="en-US" sz="2000" dirty="0" err="1" smtClean="0">
                <a:solidFill>
                  <a:srgbClr val="000000"/>
                </a:solidFill>
                <a:latin typeface="Consolas"/>
              </a:rPr>
              <a:t>ProductCategoryName</a:t>
            </a:r>
            <a:r>
              <a:rPr lang="en-US" sz="2000" dirty="0" smtClean="0">
                <a:solidFill>
                  <a:srgbClr val="808080"/>
                </a:solidFill>
                <a:latin typeface="Consolas"/>
              </a:rPr>
              <a:t>,</a:t>
            </a:r>
            <a:endParaRPr lang="en-US" sz="2000" dirty="0" smtClean="0">
              <a:solidFill>
                <a:srgbClr val="000000"/>
              </a:solidFill>
              <a:latin typeface="Consolas"/>
            </a:endParaRPr>
          </a:p>
          <a:p>
            <a:pPr>
              <a:buNone/>
            </a:pPr>
            <a:r>
              <a:rPr lang="en-US" sz="2000" dirty="0" smtClean="0">
                <a:solidFill>
                  <a:srgbClr val="FF00FF"/>
                </a:solidFill>
                <a:latin typeface="Consolas"/>
              </a:rPr>
              <a:t>SUM</a:t>
            </a:r>
            <a:r>
              <a:rPr lang="en-US" sz="2000" dirty="0" smtClean="0">
                <a:solidFill>
                  <a:srgbClr val="808080"/>
                </a:solidFill>
                <a:latin typeface="Consolas"/>
              </a:rPr>
              <a:t>(</a:t>
            </a:r>
            <a:r>
              <a:rPr lang="en-US" sz="2000" dirty="0" err="1" smtClean="0">
                <a:solidFill>
                  <a:srgbClr val="000000"/>
                </a:solidFill>
                <a:latin typeface="Consolas"/>
              </a:rPr>
              <a:t>OrderQty</a:t>
            </a:r>
            <a:r>
              <a:rPr lang="en-US" sz="2000" dirty="0" smtClean="0">
                <a:solidFill>
                  <a:srgbClr val="000000"/>
                </a:solidFill>
                <a:latin typeface="Consolas"/>
              </a:rPr>
              <a:t> </a:t>
            </a:r>
            <a:r>
              <a:rPr lang="en-US" sz="2000" dirty="0" smtClean="0">
                <a:solidFill>
                  <a:srgbClr val="808080"/>
                </a:solidFill>
                <a:latin typeface="Consolas"/>
              </a:rPr>
              <a:t>*</a:t>
            </a:r>
            <a:r>
              <a:rPr lang="en-US" sz="2000" dirty="0" smtClean="0">
                <a:solidFill>
                  <a:srgbClr val="000000"/>
                </a:solidFill>
                <a:latin typeface="Consolas"/>
              </a:rPr>
              <a:t> </a:t>
            </a:r>
            <a:r>
              <a:rPr lang="en-US" sz="2000" dirty="0" err="1" smtClean="0">
                <a:solidFill>
                  <a:srgbClr val="000000"/>
                </a:solidFill>
                <a:latin typeface="Consolas"/>
              </a:rPr>
              <a:t>UnitPrice</a:t>
            </a:r>
            <a:r>
              <a:rPr lang="en-US" sz="2000" dirty="0" smtClean="0">
                <a:solidFill>
                  <a:srgbClr val="808080"/>
                </a:solidFill>
                <a:latin typeface="Consolas"/>
              </a:rPr>
              <a:t>)</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Sales</a:t>
            </a:r>
          </a:p>
          <a:p>
            <a:pPr>
              <a:buNone/>
            </a:pPr>
            <a:r>
              <a:rPr lang="en-US" sz="2000" dirty="0" smtClean="0">
                <a:solidFill>
                  <a:srgbClr val="0000FF"/>
                </a:solidFill>
                <a:latin typeface="Consolas"/>
              </a:rPr>
              <a:t>FROM</a:t>
            </a:r>
            <a:r>
              <a:rPr lang="en-US" sz="2000" dirty="0" smtClean="0">
                <a:solidFill>
                  <a:srgbClr val="000000"/>
                </a:solidFill>
                <a:latin typeface="Consolas"/>
              </a:rPr>
              <a:t> </a:t>
            </a:r>
            <a:r>
              <a:rPr lang="en-US" sz="2000" dirty="0" err="1" smtClean="0">
                <a:solidFill>
                  <a:srgbClr val="000000"/>
                </a:solidFill>
                <a:latin typeface="Consolas"/>
              </a:rPr>
              <a:t>SalesLT</a:t>
            </a:r>
            <a:r>
              <a:rPr lang="en-US" sz="2000" dirty="0" err="1" smtClean="0">
                <a:solidFill>
                  <a:srgbClr val="808080"/>
                </a:solidFill>
                <a:latin typeface="Consolas"/>
              </a:rPr>
              <a:t>.</a:t>
            </a:r>
            <a:r>
              <a:rPr lang="en-US" sz="2000" dirty="0" err="1" smtClean="0">
                <a:solidFill>
                  <a:srgbClr val="000000"/>
                </a:solidFill>
                <a:latin typeface="Consolas"/>
              </a:rPr>
              <a:t>SalesOrderDetail</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sod</a:t>
            </a:r>
          </a:p>
          <a:p>
            <a:pPr>
              <a:buNone/>
            </a:pPr>
            <a:r>
              <a:rPr lang="en-US" sz="2000" dirty="0" smtClean="0">
                <a:solidFill>
                  <a:srgbClr val="808080"/>
                </a:solidFill>
                <a:latin typeface="Consolas"/>
              </a:rPr>
              <a:t>INNER</a:t>
            </a:r>
            <a:r>
              <a:rPr lang="en-US" sz="2000" dirty="0" smtClean="0">
                <a:solidFill>
                  <a:srgbClr val="000000"/>
                </a:solidFill>
                <a:latin typeface="Consolas"/>
              </a:rPr>
              <a:t> </a:t>
            </a:r>
            <a:r>
              <a:rPr lang="en-US" sz="2000" dirty="0" smtClean="0">
                <a:solidFill>
                  <a:srgbClr val="808080"/>
                </a:solidFill>
                <a:latin typeface="Consolas"/>
              </a:rPr>
              <a:t>JOIN</a:t>
            </a:r>
            <a:r>
              <a:rPr lang="en-US" sz="2000" dirty="0" smtClean="0">
                <a:solidFill>
                  <a:srgbClr val="000000"/>
                </a:solidFill>
                <a:latin typeface="Consolas"/>
              </a:rPr>
              <a:t> </a:t>
            </a:r>
            <a:r>
              <a:rPr lang="en-US" sz="2000" dirty="0" err="1" smtClean="0">
                <a:solidFill>
                  <a:srgbClr val="000000"/>
                </a:solidFill>
                <a:latin typeface="Consolas"/>
              </a:rPr>
              <a:t>SalesLT</a:t>
            </a:r>
            <a:r>
              <a:rPr lang="en-US" sz="2000" dirty="0" err="1" smtClean="0">
                <a:solidFill>
                  <a:srgbClr val="808080"/>
                </a:solidFill>
                <a:latin typeface="Consolas"/>
              </a:rPr>
              <a:t>.</a:t>
            </a:r>
            <a:r>
              <a:rPr lang="en-US" sz="2000" dirty="0" err="1" smtClean="0">
                <a:solidFill>
                  <a:srgbClr val="000000"/>
                </a:solidFill>
                <a:latin typeface="Consolas"/>
              </a:rPr>
              <a:t>Product</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pd</a:t>
            </a:r>
          </a:p>
          <a:p>
            <a:pPr>
              <a:buNone/>
            </a:pPr>
            <a:r>
              <a:rPr lang="en-US" sz="2000" dirty="0" smtClean="0">
                <a:solidFill>
                  <a:srgbClr val="0000FF"/>
                </a:solidFill>
                <a:latin typeface="Consolas"/>
              </a:rPr>
              <a:t>ON</a:t>
            </a:r>
            <a:r>
              <a:rPr lang="en-US" sz="2000" dirty="0" smtClean="0">
                <a:solidFill>
                  <a:srgbClr val="000000"/>
                </a:solidFill>
                <a:latin typeface="Consolas"/>
              </a:rPr>
              <a:t> </a:t>
            </a:r>
            <a:r>
              <a:rPr lang="en-US" sz="2000" dirty="0" err="1" smtClean="0">
                <a:solidFill>
                  <a:srgbClr val="000000"/>
                </a:solidFill>
                <a:latin typeface="Consolas"/>
              </a:rPr>
              <a:t>sod</a:t>
            </a:r>
            <a:r>
              <a:rPr lang="en-US" sz="2000" dirty="0" err="1" smtClean="0">
                <a:solidFill>
                  <a:srgbClr val="808080"/>
                </a:solidFill>
                <a:latin typeface="Consolas"/>
              </a:rPr>
              <a:t>.</a:t>
            </a:r>
            <a:r>
              <a:rPr lang="en-US" sz="2000" dirty="0" err="1" smtClean="0">
                <a:solidFill>
                  <a:srgbClr val="000000"/>
                </a:solidFill>
                <a:latin typeface="Consolas"/>
              </a:rPr>
              <a:t>ProductID</a:t>
            </a:r>
            <a:r>
              <a:rPr lang="en-US" sz="2000" dirty="0" smtClean="0">
                <a:solidFill>
                  <a:srgbClr val="000000"/>
                </a:solidFill>
                <a:latin typeface="Consolas"/>
              </a:rPr>
              <a:t> </a:t>
            </a:r>
            <a:r>
              <a:rPr lang="en-US" sz="2000" dirty="0" smtClean="0">
                <a:solidFill>
                  <a:srgbClr val="808080"/>
                </a:solidFill>
                <a:latin typeface="Consolas"/>
              </a:rPr>
              <a:t>=</a:t>
            </a:r>
            <a:r>
              <a:rPr lang="en-US" sz="2000" dirty="0" smtClean="0">
                <a:solidFill>
                  <a:srgbClr val="000000"/>
                </a:solidFill>
                <a:latin typeface="Consolas"/>
              </a:rPr>
              <a:t> </a:t>
            </a:r>
            <a:r>
              <a:rPr lang="en-US" sz="2000" dirty="0" err="1" smtClean="0">
                <a:solidFill>
                  <a:srgbClr val="000000"/>
                </a:solidFill>
                <a:latin typeface="Consolas"/>
              </a:rPr>
              <a:t>pd</a:t>
            </a:r>
            <a:r>
              <a:rPr lang="en-US" sz="2000" dirty="0" err="1" smtClean="0">
                <a:solidFill>
                  <a:srgbClr val="808080"/>
                </a:solidFill>
                <a:latin typeface="Consolas"/>
              </a:rPr>
              <a:t>.</a:t>
            </a:r>
            <a:r>
              <a:rPr lang="en-US" sz="2000" dirty="0" err="1" smtClean="0">
                <a:solidFill>
                  <a:srgbClr val="000000"/>
                </a:solidFill>
                <a:latin typeface="Consolas"/>
              </a:rPr>
              <a:t>ProductID</a:t>
            </a:r>
            <a:endParaRPr lang="en-US" sz="2000" dirty="0" smtClean="0">
              <a:solidFill>
                <a:srgbClr val="000000"/>
              </a:solidFill>
              <a:latin typeface="Consolas"/>
            </a:endParaRPr>
          </a:p>
          <a:p>
            <a:pPr>
              <a:buNone/>
            </a:pPr>
            <a:r>
              <a:rPr lang="en-US" sz="2000" dirty="0" smtClean="0">
                <a:solidFill>
                  <a:srgbClr val="808080"/>
                </a:solidFill>
                <a:latin typeface="Consolas"/>
              </a:rPr>
              <a:t>INNER</a:t>
            </a:r>
            <a:r>
              <a:rPr lang="en-US" sz="2000" dirty="0" smtClean="0">
                <a:solidFill>
                  <a:srgbClr val="000000"/>
                </a:solidFill>
                <a:latin typeface="Consolas"/>
              </a:rPr>
              <a:t> </a:t>
            </a:r>
            <a:r>
              <a:rPr lang="en-US" sz="2000" dirty="0" smtClean="0">
                <a:solidFill>
                  <a:srgbClr val="808080"/>
                </a:solidFill>
                <a:latin typeface="Consolas"/>
              </a:rPr>
              <a:t>JOIN</a:t>
            </a:r>
            <a:r>
              <a:rPr lang="en-US" sz="2000" dirty="0" smtClean="0">
                <a:solidFill>
                  <a:srgbClr val="000000"/>
                </a:solidFill>
                <a:latin typeface="Consolas"/>
              </a:rPr>
              <a:t> </a:t>
            </a:r>
            <a:r>
              <a:rPr lang="en-US" sz="2000" dirty="0" err="1" smtClean="0">
                <a:solidFill>
                  <a:srgbClr val="000000"/>
                </a:solidFill>
                <a:latin typeface="Consolas"/>
              </a:rPr>
              <a:t>SalesLT</a:t>
            </a:r>
            <a:r>
              <a:rPr lang="en-US" sz="2000" dirty="0" err="1" smtClean="0">
                <a:solidFill>
                  <a:srgbClr val="808080"/>
                </a:solidFill>
                <a:latin typeface="Consolas"/>
              </a:rPr>
              <a:t>.</a:t>
            </a:r>
            <a:r>
              <a:rPr lang="en-US" sz="2000" dirty="0" err="1" smtClean="0">
                <a:solidFill>
                  <a:srgbClr val="000000"/>
                </a:solidFill>
                <a:latin typeface="Consolas"/>
              </a:rPr>
              <a:t>ProductCategory</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pc</a:t>
            </a:r>
          </a:p>
          <a:p>
            <a:pPr>
              <a:buNone/>
            </a:pPr>
            <a:r>
              <a:rPr lang="en-US" sz="2000" dirty="0" smtClean="0">
                <a:solidFill>
                  <a:srgbClr val="0000FF"/>
                </a:solidFill>
                <a:latin typeface="Consolas"/>
              </a:rPr>
              <a:t>ON</a:t>
            </a:r>
            <a:r>
              <a:rPr lang="en-US" sz="2000" dirty="0" smtClean="0">
                <a:solidFill>
                  <a:srgbClr val="000000"/>
                </a:solidFill>
                <a:latin typeface="Consolas"/>
              </a:rPr>
              <a:t> </a:t>
            </a:r>
            <a:r>
              <a:rPr lang="en-US" sz="2000" dirty="0" err="1" smtClean="0">
                <a:solidFill>
                  <a:srgbClr val="000000"/>
                </a:solidFill>
                <a:latin typeface="Consolas"/>
              </a:rPr>
              <a:t>pd</a:t>
            </a:r>
            <a:r>
              <a:rPr lang="en-US" sz="2000" dirty="0" err="1" smtClean="0">
                <a:solidFill>
                  <a:srgbClr val="808080"/>
                </a:solidFill>
                <a:latin typeface="Consolas"/>
              </a:rPr>
              <a:t>.</a:t>
            </a:r>
            <a:r>
              <a:rPr lang="en-US" sz="2000" dirty="0" err="1" smtClean="0">
                <a:solidFill>
                  <a:srgbClr val="000000"/>
                </a:solidFill>
                <a:latin typeface="Consolas"/>
              </a:rPr>
              <a:t>ProductCategoryID</a:t>
            </a:r>
            <a:r>
              <a:rPr lang="en-US" sz="2000" dirty="0" smtClean="0">
                <a:solidFill>
                  <a:srgbClr val="000000"/>
                </a:solidFill>
                <a:latin typeface="Consolas"/>
              </a:rPr>
              <a:t> </a:t>
            </a:r>
            <a:r>
              <a:rPr lang="en-US" sz="2000" dirty="0" smtClean="0">
                <a:solidFill>
                  <a:srgbClr val="808080"/>
                </a:solidFill>
                <a:latin typeface="Consolas"/>
              </a:rPr>
              <a:t>=</a:t>
            </a:r>
            <a:r>
              <a:rPr lang="en-US" sz="2000" dirty="0" smtClean="0">
                <a:solidFill>
                  <a:srgbClr val="000000"/>
                </a:solidFill>
                <a:latin typeface="Consolas"/>
              </a:rPr>
              <a:t> </a:t>
            </a:r>
            <a:r>
              <a:rPr lang="en-US" sz="2000" dirty="0" err="1" smtClean="0">
                <a:solidFill>
                  <a:srgbClr val="000000"/>
                </a:solidFill>
                <a:latin typeface="Consolas"/>
              </a:rPr>
              <a:t>pc</a:t>
            </a:r>
            <a:r>
              <a:rPr lang="en-US" sz="2000" dirty="0" err="1" smtClean="0">
                <a:solidFill>
                  <a:srgbClr val="808080"/>
                </a:solidFill>
                <a:latin typeface="Consolas"/>
              </a:rPr>
              <a:t>.</a:t>
            </a:r>
            <a:r>
              <a:rPr lang="en-US" sz="2000" dirty="0" err="1" smtClean="0">
                <a:solidFill>
                  <a:srgbClr val="000000"/>
                </a:solidFill>
                <a:latin typeface="Consolas"/>
              </a:rPr>
              <a:t>ProductCategoryID</a:t>
            </a:r>
            <a:endParaRPr lang="en-US" sz="2000" dirty="0" smtClean="0">
              <a:solidFill>
                <a:srgbClr val="000000"/>
              </a:solidFill>
              <a:latin typeface="Consolas"/>
            </a:endParaRPr>
          </a:p>
          <a:p>
            <a:pPr>
              <a:buNone/>
            </a:pPr>
            <a:r>
              <a:rPr lang="en-US" sz="2000" dirty="0" smtClean="0">
                <a:solidFill>
                  <a:srgbClr val="0000FF"/>
                </a:solidFill>
                <a:latin typeface="Consolas"/>
              </a:rPr>
              <a:t>GROUP</a:t>
            </a:r>
            <a:r>
              <a:rPr lang="en-US" sz="2000" dirty="0" smtClean="0">
                <a:solidFill>
                  <a:srgbClr val="000000"/>
                </a:solidFill>
                <a:latin typeface="Consolas"/>
              </a:rPr>
              <a:t> </a:t>
            </a:r>
            <a:r>
              <a:rPr lang="en-US" sz="2000" dirty="0" smtClean="0">
                <a:solidFill>
                  <a:srgbClr val="0000FF"/>
                </a:solidFill>
                <a:latin typeface="Consolas"/>
              </a:rPr>
              <a:t>BY</a:t>
            </a:r>
            <a:r>
              <a:rPr lang="en-US" sz="2000" dirty="0" smtClean="0">
                <a:solidFill>
                  <a:srgbClr val="000000"/>
                </a:solidFill>
                <a:latin typeface="Consolas"/>
              </a:rPr>
              <a:t> </a:t>
            </a:r>
            <a:r>
              <a:rPr lang="en-US" sz="2000" dirty="0" err="1" smtClean="0">
                <a:solidFill>
                  <a:srgbClr val="000000"/>
                </a:solidFill>
                <a:latin typeface="Consolas"/>
              </a:rPr>
              <a:t>pc</a:t>
            </a:r>
            <a:r>
              <a:rPr lang="en-US" sz="2000" dirty="0" err="1" smtClean="0">
                <a:solidFill>
                  <a:srgbClr val="808080"/>
                </a:solidFill>
                <a:latin typeface="Consolas"/>
              </a:rPr>
              <a:t>.</a:t>
            </a:r>
            <a:r>
              <a:rPr lang="en-US" sz="2000" dirty="0" err="1" smtClean="0">
                <a:solidFill>
                  <a:srgbClr val="0000FF"/>
                </a:solidFill>
                <a:latin typeface="Consolas"/>
              </a:rPr>
              <a:t>Name</a:t>
            </a:r>
            <a:endParaRPr lang="en-US" sz="2000" dirty="0" smtClean="0">
              <a:solidFill>
                <a:srgbClr val="000000"/>
              </a:solidFill>
              <a:latin typeface="Consolas"/>
            </a:endParaRPr>
          </a:p>
          <a:p>
            <a:pPr>
              <a:buNone/>
            </a:pPr>
            <a:r>
              <a:rPr lang="en-US" sz="2000" dirty="0" smtClean="0">
                <a:solidFill>
                  <a:srgbClr val="0000FF"/>
                </a:solidFill>
                <a:latin typeface="Consolas"/>
              </a:rPr>
              <a:t>ORDER</a:t>
            </a:r>
            <a:r>
              <a:rPr lang="en-US" sz="2000" dirty="0" smtClean="0">
                <a:solidFill>
                  <a:srgbClr val="000000"/>
                </a:solidFill>
                <a:latin typeface="Consolas"/>
              </a:rPr>
              <a:t> </a:t>
            </a:r>
            <a:r>
              <a:rPr lang="en-US" sz="2000" dirty="0" smtClean="0">
                <a:solidFill>
                  <a:srgbClr val="0000FF"/>
                </a:solidFill>
                <a:latin typeface="Consolas"/>
              </a:rPr>
              <a:t>BY</a:t>
            </a:r>
            <a:r>
              <a:rPr lang="en-US" sz="2000" dirty="0" smtClean="0">
                <a:solidFill>
                  <a:srgbClr val="000000"/>
                </a:solidFill>
                <a:latin typeface="Consolas"/>
              </a:rPr>
              <a:t> </a:t>
            </a:r>
            <a:r>
              <a:rPr lang="en-US" sz="2000" dirty="0" smtClean="0">
                <a:solidFill>
                  <a:srgbClr val="FF00FF"/>
                </a:solidFill>
                <a:latin typeface="Consolas"/>
              </a:rPr>
              <a:t>Count</a:t>
            </a:r>
            <a:r>
              <a:rPr lang="en-US" sz="2000" dirty="0" smtClean="0">
                <a:solidFill>
                  <a:srgbClr val="808080"/>
                </a:solidFill>
                <a:latin typeface="Consolas"/>
              </a:rPr>
              <a:t>(*)</a:t>
            </a:r>
            <a:r>
              <a:rPr lang="en-US" sz="2000" dirty="0" smtClean="0">
                <a:solidFill>
                  <a:srgbClr val="000000"/>
                </a:solidFill>
                <a:latin typeface="Consolas"/>
              </a:rPr>
              <a:t> </a:t>
            </a:r>
            <a:r>
              <a:rPr lang="en-US" sz="2000" dirty="0" smtClean="0">
                <a:solidFill>
                  <a:srgbClr val="0000FF"/>
                </a:solidFill>
                <a:latin typeface="Consolas"/>
              </a:rPr>
              <a:t>DESC</a:t>
            </a:r>
            <a:r>
              <a:rPr lang="en-US" sz="2000" dirty="0" smtClean="0">
                <a:solidFill>
                  <a:srgbClr val="808080"/>
                </a:solidFill>
                <a:latin typeface="Consolas"/>
              </a:rPr>
              <a:t>;</a:t>
            </a:r>
            <a:endParaRPr lang="en-US" sz="2000" dirty="0" smtClean="0">
              <a:solidFill>
                <a:srgbClr val="000000"/>
              </a:solidFill>
              <a:latin typeface="Consolas"/>
            </a:endParaRPr>
          </a:p>
          <a:p>
            <a:pPr>
              <a:buNone/>
            </a:pPr>
            <a:r>
              <a:rPr lang="en-US" sz="2000" dirty="0" smtClean="0">
                <a:solidFill>
                  <a:srgbClr val="0000FF"/>
                </a:solidFill>
                <a:latin typeface="Consolas"/>
              </a:rPr>
              <a:t>GO</a:t>
            </a:r>
            <a:endParaRPr lang="en-US" sz="2000" b="1" i="1" dirty="0" smtClean="0">
              <a:solidFill>
                <a:srgbClr val="C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XML</a:t>
            </a:r>
            <a:endParaRPr lang="en-US" dirty="0"/>
          </a:p>
        </p:txBody>
      </p:sp>
      <p:sp>
        <p:nvSpPr>
          <p:cNvPr id="3" name="Content Placeholder 2"/>
          <p:cNvSpPr>
            <a:spLocks noGrp="1"/>
          </p:cNvSpPr>
          <p:nvPr>
            <p:ph idx="1"/>
          </p:nvPr>
        </p:nvSpPr>
        <p:spPr/>
        <p:txBody>
          <a:bodyPr/>
          <a:lstStyle/>
          <a:p>
            <a:r>
              <a:rPr lang="en-US" sz="2400" dirty="0" smtClean="0"/>
              <a:t>The </a:t>
            </a:r>
            <a:r>
              <a:rPr lang="en-US" sz="2400" b="1" dirty="0" smtClean="0">
                <a:latin typeface="Consolas" pitchFamily="49" charset="0"/>
              </a:rPr>
              <a:t>FOR XML</a:t>
            </a:r>
            <a:r>
              <a:rPr lang="en-US" sz="2400" dirty="0" smtClean="0"/>
              <a:t> clause is a </a:t>
            </a:r>
            <a:r>
              <a:rPr lang="en-US" sz="2400" i="1" dirty="0" err="1" smtClean="0">
                <a:solidFill>
                  <a:srgbClr val="C00000"/>
                </a:solidFill>
              </a:rPr>
              <a:t>rowset</a:t>
            </a:r>
            <a:r>
              <a:rPr lang="en-US" sz="2400" i="1" dirty="0" smtClean="0">
                <a:solidFill>
                  <a:srgbClr val="C00000"/>
                </a:solidFill>
              </a:rPr>
              <a:t> aggregation function</a:t>
            </a:r>
            <a:r>
              <a:rPr lang="en-US" sz="2400" dirty="0" smtClean="0"/>
              <a:t> that returns a one-row, one-column result set containing an NVARCHAR(MAX) value.</a:t>
            </a:r>
          </a:p>
          <a:p>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XML Example</a:t>
            </a:r>
            <a:endParaRPr lang="en-US" dirty="0"/>
          </a:p>
        </p:txBody>
      </p:sp>
      <p:sp>
        <p:nvSpPr>
          <p:cNvPr id="3" name="Content Placeholder 2"/>
          <p:cNvSpPr>
            <a:spLocks noGrp="1"/>
          </p:cNvSpPr>
          <p:nvPr>
            <p:ph idx="1"/>
          </p:nvPr>
        </p:nvSpPr>
        <p:spPr>
          <a:xfrm>
            <a:off x="457200" y="1828800"/>
            <a:ext cx="8229600" cy="3886200"/>
          </a:xfrm>
          <a:solidFill>
            <a:schemeClr val="bg1">
              <a:lumMod val="95000"/>
            </a:schemeClr>
          </a:solidFill>
        </p:spPr>
        <p:txBody>
          <a:bodyPr/>
          <a:lstStyle/>
          <a:p>
            <a:pPr>
              <a:buNone/>
            </a:pPr>
            <a:r>
              <a:rPr lang="en-US" sz="2000" dirty="0" smtClean="0">
                <a:solidFill>
                  <a:srgbClr val="0000FF"/>
                </a:solidFill>
                <a:latin typeface="Consolas"/>
              </a:rPr>
              <a:t>SELECT</a:t>
            </a:r>
            <a:endParaRPr lang="en-US" sz="2000" dirty="0" smtClean="0">
              <a:solidFill>
                <a:srgbClr val="000000"/>
              </a:solidFill>
              <a:latin typeface="Consolas"/>
            </a:endParaRPr>
          </a:p>
          <a:p>
            <a:pPr>
              <a:buNone/>
            </a:pPr>
            <a:r>
              <a:rPr lang="en-US" sz="2000" dirty="0" err="1" smtClean="0">
                <a:solidFill>
                  <a:srgbClr val="000000"/>
                </a:solidFill>
                <a:latin typeface="Consolas"/>
              </a:rPr>
              <a:t>o</a:t>
            </a:r>
            <a:r>
              <a:rPr lang="en-US" sz="2000" dirty="0" err="1" smtClean="0">
                <a:solidFill>
                  <a:srgbClr val="808080"/>
                </a:solidFill>
                <a:latin typeface="Consolas"/>
              </a:rPr>
              <a:t>.</a:t>
            </a:r>
            <a:r>
              <a:rPr lang="en-US" sz="2000" dirty="0" err="1" smtClean="0">
                <a:solidFill>
                  <a:srgbClr val="000000"/>
                </a:solidFill>
                <a:latin typeface="Consolas"/>
              </a:rPr>
              <a:t>OrderNumber</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a:t>
            </a:r>
            <a:r>
              <a:rPr lang="en-US" sz="2000" dirty="0" smtClean="0">
                <a:solidFill>
                  <a:srgbClr val="FF0000"/>
                </a:solidFill>
                <a:latin typeface="Consolas"/>
              </a:rPr>
              <a:t>'@</a:t>
            </a:r>
            <a:r>
              <a:rPr lang="en-US" sz="2000" dirty="0" err="1" smtClean="0">
                <a:solidFill>
                  <a:srgbClr val="FF0000"/>
                </a:solidFill>
                <a:latin typeface="Consolas"/>
              </a:rPr>
              <a:t>OrderNumber</a:t>
            </a:r>
            <a:r>
              <a:rPr lang="en-US" sz="2000" dirty="0" smtClean="0">
                <a:solidFill>
                  <a:srgbClr val="FF0000"/>
                </a:solidFill>
                <a:latin typeface="Consolas"/>
              </a:rPr>
              <a:t>'</a:t>
            </a:r>
            <a:r>
              <a:rPr lang="en-US" sz="2000" dirty="0" smtClean="0">
                <a:solidFill>
                  <a:srgbClr val="808080"/>
                </a:solidFill>
                <a:latin typeface="Consolas"/>
              </a:rPr>
              <a:t>,</a:t>
            </a:r>
            <a:endParaRPr lang="en-US" sz="2000" dirty="0" smtClean="0">
              <a:solidFill>
                <a:srgbClr val="000000"/>
              </a:solidFill>
              <a:latin typeface="Consolas"/>
            </a:endParaRPr>
          </a:p>
          <a:p>
            <a:pPr>
              <a:buNone/>
            </a:pPr>
            <a:r>
              <a:rPr lang="en-US" sz="2000" dirty="0" err="1" smtClean="0">
                <a:solidFill>
                  <a:srgbClr val="000000"/>
                </a:solidFill>
                <a:latin typeface="Consolas"/>
              </a:rPr>
              <a:t>c</a:t>
            </a:r>
            <a:r>
              <a:rPr lang="en-US" sz="2000" dirty="0" err="1" smtClean="0">
                <a:solidFill>
                  <a:srgbClr val="808080"/>
                </a:solidFill>
                <a:latin typeface="Consolas"/>
              </a:rPr>
              <a:t>.</a:t>
            </a:r>
            <a:r>
              <a:rPr lang="en-US" sz="2000" dirty="0" err="1" smtClean="0">
                <a:solidFill>
                  <a:srgbClr val="0000FF"/>
                </a:solidFill>
                <a:latin typeface="Consolas"/>
              </a:rPr>
              <a:t>Name</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a:t>
            </a:r>
            <a:r>
              <a:rPr lang="en-US" sz="2000" dirty="0" smtClean="0">
                <a:solidFill>
                  <a:srgbClr val="FF0000"/>
                </a:solidFill>
                <a:latin typeface="Consolas"/>
              </a:rPr>
              <a:t>'Customer/@Name'</a:t>
            </a:r>
            <a:r>
              <a:rPr lang="en-US" sz="2000" dirty="0" smtClean="0">
                <a:solidFill>
                  <a:srgbClr val="808080"/>
                </a:solidFill>
                <a:latin typeface="Consolas"/>
              </a:rPr>
              <a:t>,</a:t>
            </a:r>
            <a:endParaRPr lang="en-US" sz="2000" dirty="0" smtClean="0">
              <a:solidFill>
                <a:srgbClr val="000000"/>
              </a:solidFill>
              <a:latin typeface="Consolas"/>
            </a:endParaRPr>
          </a:p>
          <a:p>
            <a:pPr>
              <a:buNone/>
            </a:pPr>
            <a:r>
              <a:rPr lang="en-US" sz="2000" dirty="0" err="1" smtClean="0">
                <a:solidFill>
                  <a:srgbClr val="000000"/>
                </a:solidFill>
                <a:latin typeface="Consolas"/>
              </a:rPr>
              <a:t>i</a:t>
            </a:r>
            <a:r>
              <a:rPr lang="en-US" sz="2000" dirty="0" err="1" smtClean="0">
                <a:solidFill>
                  <a:srgbClr val="808080"/>
                </a:solidFill>
                <a:latin typeface="Consolas"/>
              </a:rPr>
              <a:t>.</a:t>
            </a:r>
            <a:r>
              <a:rPr lang="en-US" sz="2000" dirty="0" err="1" smtClean="0">
                <a:solidFill>
                  <a:srgbClr val="000000"/>
                </a:solidFill>
                <a:latin typeface="Consolas"/>
              </a:rPr>
              <a:t>ItemNumber</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a:t>
            </a:r>
            <a:r>
              <a:rPr lang="en-US" sz="2000" dirty="0" smtClean="0">
                <a:solidFill>
                  <a:srgbClr val="FF0000"/>
                </a:solidFill>
                <a:latin typeface="Consolas"/>
              </a:rPr>
              <a:t>'</a:t>
            </a:r>
            <a:r>
              <a:rPr lang="en-US" sz="2000" dirty="0" err="1" smtClean="0">
                <a:solidFill>
                  <a:srgbClr val="FF0000"/>
                </a:solidFill>
                <a:latin typeface="Consolas"/>
              </a:rPr>
              <a:t>LineItems</a:t>
            </a:r>
            <a:r>
              <a:rPr lang="en-US" sz="2000" dirty="0" smtClean="0">
                <a:solidFill>
                  <a:srgbClr val="FF0000"/>
                </a:solidFill>
                <a:latin typeface="Consolas"/>
              </a:rPr>
              <a:t>/Item/@</a:t>
            </a:r>
            <a:r>
              <a:rPr lang="en-US" sz="2000" dirty="0" err="1" smtClean="0">
                <a:solidFill>
                  <a:srgbClr val="FF0000"/>
                </a:solidFill>
                <a:latin typeface="Consolas"/>
              </a:rPr>
              <a:t>ItemNo</a:t>
            </a:r>
            <a:r>
              <a:rPr lang="en-US" sz="2000" dirty="0" smtClean="0">
                <a:solidFill>
                  <a:srgbClr val="FF0000"/>
                </a:solidFill>
                <a:latin typeface="Consolas"/>
              </a:rPr>
              <a:t>'</a:t>
            </a:r>
            <a:r>
              <a:rPr lang="en-US" sz="2000" dirty="0" smtClean="0">
                <a:solidFill>
                  <a:srgbClr val="808080"/>
                </a:solidFill>
                <a:latin typeface="Consolas"/>
              </a:rPr>
              <a:t>,</a:t>
            </a:r>
            <a:endParaRPr lang="en-US" sz="2000" dirty="0" smtClean="0">
              <a:solidFill>
                <a:srgbClr val="000000"/>
              </a:solidFill>
              <a:latin typeface="Consolas"/>
            </a:endParaRPr>
          </a:p>
          <a:p>
            <a:pPr>
              <a:buNone/>
            </a:pPr>
            <a:r>
              <a:rPr lang="en-US" sz="2000" dirty="0" err="1" smtClean="0">
                <a:solidFill>
                  <a:srgbClr val="000000"/>
                </a:solidFill>
                <a:latin typeface="Consolas"/>
              </a:rPr>
              <a:t>od</a:t>
            </a:r>
            <a:r>
              <a:rPr lang="en-US" sz="2000" dirty="0" err="1" smtClean="0">
                <a:solidFill>
                  <a:srgbClr val="808080"/>
                </a:solidFill>
                <a:latin typeface="Consolas"/>
              </a:rPr>
              <a:t>.</a:t>
            </a:r>
            <a:r>
              <a:rPr lang="en-US" sz="2000" dirty="0" err="1" smtClean="0">
                <a:solidFill>
                  <a:srgbClr val="000000"/>
                </a:solidFill>
                <a:latin typeface="Consolas"/>
              </a:rPr>
              <a:t>Quantity</a:t>
            </a:r>
            <a:r>
              <a:rPr lang="en-US" sz="2000" dirty="0" smtClean="0">
                <a:solidFill>
                  <a:srgbClr val="000000"/>
                </a:solidFill>
                <a:latin typeface="Consolas"/>
              </a:rPr>
              <a:t> </a:t>
            </a:r>
            <a:r>
              <a:rPr lang="en-US" sz="2000" dirty="0" smtClean="0">
                <a:solidFill>
                  <a:srgbClr val="0000FF"/>
                </a:solidFill>
                <a:latin typeface="Consolas"/>
              </a:rPr>
              <a:t>AS</a:t>
            </a:r>
            <a:r>
              <a:rPr lang="en-US" sz="2000" dirty="0" smtClean="0">
                <a:solidFill>
                  <a:srgbClr val="000000"/>
                </a:solidFill>
                <a:latin typeface="Consolas"/>
              </a:rPr>
              <a:t> </a:t>
            </a:r>
            <a:r>
              <a:rPr lang="en-US" sz="2000" dirty="0" smtClean="0">
                <a:solidFill>
                  <a:srgbClr val="FF0000"/>
                </a:solidFill>
                <a:latin typeface="Consolas"/>
              </a:rPr>
              <a:t>'</a:t>
            </a:r>
            <a:r>
              <a:rPr lang="en-US" sz="2000" dirty="0" err="1" smtClean="0">
                <a:solidFill>
                  <a:srgbClr val="FF0000"/>
                </a:solidFill>
                <a:latin typeface="Consolas"/>
              </a:rPr>
              <a:t>LineItems</a:t>
            </a:r>
            <a:r>
              <a:rPr lang="en-US" sz="2000" dirty="0" smtClean="0">
                <a:solidFill>
                  <a:srgbClr val="FF0000"/>
                </a:solidFill>
                <a:latin typeface="Consolas"/>
              </a:rPr>
              <a:t>/Item/@Qty'</a:t>
            </a:r>
            <a:endParaRPr lang="en-US" sz="2000" dirty="0" smtClean="0">
              <a:solidFill>
                <a:srgbClr val="000000"/>
              </a:solidFill>
              <a:latin typeface="Consolas"/>
            </a:endParaRPr>
          </a:p>
          <a:p>
            <a:pPr>
              <a:buNone/>
            </a:pPr>
            <a:r>
              <a:rPr lang="en-US" sz="2000" dirty="0" smtClean="0">
                <a:solidFill>
                  <a:srgbClr val="0000FF"/>
                </a:solidFill>
                <a:latin typeface="Consolas"/>
              </a:rPr>
              <a:t>FROM</a:t>
            </a:r>
            <a:r>
              <a:rPr lang="en-US" sz="2000" dirty="0" smtClean="0">
                <a:solidFill>
                  <a:srgbClr val="000000"/>
                </a:solidFill>
                <a:latin typeface="Consolas"/>
              </a:rPr>
              <a:t> Orders o</a:t>
            </a:r>
          </a:p>
          <a:p>
            <a:pPr>
              <a:buNone/>
            </a:pPr>
            <a:r>
              <a:rPr lang="en-US" sz="2000" dirty="0" smtClean="0">
                <a:solidFill>
                  <a:srgbClr val="808080"/>
                </a:solidFill>
                <a:latin typeface="Consolas"/>
              </a:rPr>
              <a:t>INNER</a:t>
            </a:r>
            <a:r>
              <a:rPr lang="en-US" sz="2000" dirty="0" smtClean="0">
                <a:solidFill>
                  <a:srgbClr val="000000"/>
                </a:solidFill>
                <a:latin typeface="Consolas"/>
              </a:rPr>
              <a:t> </a:t>
            </a:r>
            <a:r>
              <a:rPr lang="en-US" sz="2000" dirty="0" smtClean="0">
                <a:solidFill>
                  <a:srgbClr val="808080"/>
                </a:solidFill>
                <a:latin typeface="Consolas"/>
              </a:rPr>
              <a:t>JOIN</a:t>
            </a:r>
            <a:r>
              <a:rPr lang="en-US" sz="2000" dirty="0" smtClean="0">
                <a:solidFill>
                  <a:srgbClr val="000000"/>
                </a:solidFill>
                <a:latin typeface="Consolas"/>
              </a:rPr>
              <a:t> Customer c </a:t>
            </a:r>
            <a:r>
              <a:rPr lang="en-US" sz="2000" dirty="0" smtClean="0">
                <a:solidFill>
                  <a:srgbClr val="0000FF"/>
                </a:solidFill>
                <a:latin typeface="Consolas"/>
              </a:rPr>
              <a:t>on</a:t>
            </a:r>
            <a:r>
              <a:rPr lang="en-US" sz="2000" dirty="0" smtClean="0">
                <a:solidFill>
                  <a:srgbClr val="000000"/>
                </a:solidFill>
                <a:latin typeface="Consolas"/>
              </a:rPr>
              <a:t> </a:t>
            </a:r>
            <a:r>
              <a:rPr lang="en-US" sz="2000" dirty="0" err="1" smtClean="0">
                <a:solidFill>
                  <a:srgbClr val="000000"/>
                </a:solidFill>
                <a:latin typeface="Consolas"/>
              </a:rPr>
              <a:t>o</a:t>
            </a:r>
            <a:r>
              <a:rPr lang="en-US" sz="2000" dirty="0" err="1" smtClean="0">
                <a:solidFill>
                  <a:srgbClr val="808080"/>
                </a:solidFill>
                <a:latin typeface="Consolas"/>
              </a:rPr>
              <a:t>.</a:t>
            </a:r>
            <a:r>
              <a:rPr lang="en-US" sz="2000" dirty="0" err="1" smtClean="0">
                <a:solidFill>
                  <a:srgbClr val="000000"/>
                </a:solidFill>
                <a:latin typeface="Consolas"/>
              </a:rPr>
              <a:t>customerID</a:t>
            </a:r>
            <a:r>
              <a:rPr lang="en-US" sz="2000" dirty="0" smtClean="0">
                <a:solidFill>
                  <a:srgbClr val="000000"/>
                </a:solidFill>
                <a:latin typeface="Consolas"/>
              </a:rPr>
              <a:t> </a:t>
            </a:r>
            <a:r>
              <a:rPr lang="en-US" sz="2000" dirty="0" smtClean="0">
                <a:solidFill>
                  <a:srgbClr val="808080"/>
                </a:solidFill>
                <a:latin typeface="Consolas"/>
              </a:rPr>
              <a:t>=</a:t>
            </a:r>
            <a:r>
              <a:rPr lang="en-US" sz="2000" dirty="0" smtClean="0">
                <a:solidFill>
                  <a:srgbClr val="000000"/>
                </a:solidFill>
                <a:latin typeface="Consolas"/>
              </a:rPr>
              <a:t> </a:t>
            </a:r>
            <a:r>
              <a:rPr lang="en-US" sz="2000" dirty="0" err="1" smtClean="0">
                <a:solidFill>
                  <a:srgbClr val="000000"/>
                </a:solidFill>
                <a:latin typeface="Consolas"/>
              </a:rPr>
              <a:t>c</a:t>
            </a:r>
            <a:r>
              <a:rPr lang="en-US" sz="2000" dirty="0" err="1" smtClean="0">
                <a:solidFill>
                  <a:srgbClr val="808080"/>
                </a:solidFill>
                <a:latin typeface="Consolas"/>
              </a:rPr>
              <a:t>.</a:t>
            </a:r>
            <a:r>
              <a:rPr lang="en-US" sz="2000" dirty="0" err="1" smtClean="0">
                <a:solidFill>
                  <a:srgbClr val="000000"/>
                </a:solidFill>
                <a:latin typeface="Consolas"/>
              </a:rPr>
              <a:t>customerid</a:t>
            </a:r>
            <a:endParaRPr lang="en-US" sz="2000" dirty="0" smtClean="0">
              <a:solidFill>
                <a:srgbClr val="000000"/>
              </a:solidFill>
              <a:latin typeface="Consolas"/>
            </a:endParaRPr>
          </a:p>
          <a:p>
            <a:pPr>
              <a:buNone/>
            </a:pPr>
            <a:r>
              <a:rPr lang="en-US" sz="2000" dirty="0" smtClean="0">
                <a:solidFill>
                  <a:srgbClr val="808080"/>
                </a:solidFill>
                <a:latin typeface="Consolas"/>
              </a:rPr>
              <a:t>INNER</a:t>
            </a:r>
            <a:r>
              <a:rPr lang="en-US" sz="2000" dirty="0" smtClean="0">
                <a:solidFill>
                  <a:srgbClr val="000000"/>
                </a:solidFill>
                <a:latin typeface="Consolas"/>
              </a:rPr>
              <a:t> </a:t>
            </a:r>
            <a:r>
              <a:rPr lang="en-US" sz="2000" dirty="0" smtClean="0">
                <a:solidFill>
                  <a:srgbClr val="808080"/>
                </a:solidFill>
                <a:latin typeface="Consolas"/>
              </a:rPr>
              <a:t>JOIN</a:t>
            </a:r>
            <a:r>
              <a:rPr lang="en-US" sz="2000" dirty="0" smtClean="0">
                <a:solidFill>
                  <a:srgbClr val="000000"/>
                </a:solidFill>
                <a:latin typeface="Consolas"/>
              </a:rPr>
              <a:t> </a:t>
            </a:r>
            <a:r>
              <a:rPr lang="en-US" sz="2000" dirty="0" err="1" smtClean="0">
                <a:solidFill>
                  <a:srgbClr val="000000"/>
                </a:solidFill>
                <a:latin typeface="Consolas"/>
              </a:rPr>
              <a:t>OrderDetail</a:t>
            </a:r>
            <a:r>
              <a:rPr lang="en-US" sz="2000" dirty="0" smtClean="0">
                <a:solidFill>
                  <a:srgbClr val="000000"/>
                </a:solidFill>
                <a:latin typeface="Consolas"/>
              </a:rPr>
              <a:t> </a:t>
            </a:r>
            <a:r>
              <a:rPr lang="en-US" sz="2000" dirty="0" err="1" smtClean="0">
                <a:solidFill>
                  <a:srgbClr val="000000"/>
                </a:solidFill>
                <a:latin typeface="Consolas"/>
              </a:rPr>
              <a:t>od</a:t>
            </a:r>
            <a:r>
              <a:rPr lang="en-US" sz="2000" dirty="0" smtClean="0">
                <a:solidFill>
                  <a:srgbClr val="000000"/>
                </a:solidFill>
                <a:latin typeface="Consolas"/>
              </a:rPr>
              <a:t> </a:t>
            </a:r>
            <a:r>
              <a:rPr lang="en-US" sz="2000" dirty="0" smtClean="0">
                <a:solidFill>
                  <a:srgbClr val="0000FF"/>
                </a:solidFill>
                <a:latin typeface="Consolas"/>
              </a:rPr>
              <a:t>on</a:t>
            </a:r>
            <a:r>
              <a:rPr lang="en-US" sz="2000" dirty="0" smtClean="0">
                <a:solidFill>
                  <a:srgbClr val="000000"/>
                </a:solidFill>
                <a:latin typeface="Consolas"/>
              </a:rPr>
              <a:t> </a:t>
            </a:r>
            <a:r>
              <a:rPr lang="en-US" sz="2000" dirty="0" err="1" smtClean="0">
                <a:solidFill>
                  <a:srgbClr val="000000"/>
                </a:solidFill>
                <a:latin typeface="Consolas"/>
              </a:rPr>
              <a:t>od</a:t>
            </a:r>
            <a:r>
              <a:rPr lang="en-US" sz="2000" dirty="0" err="1" smtClean="0">
                <a:solidFill>
                  <a:srgbClr val="808080"/>
                </a:solidFill>
                <a:latin typeface="Consolas"/>
              </a:rPr>
              <a:t>.</a:t>
            </a:r>
            <a:r>
              <a:rPr lang="en-US" sz="2000" dirty="0" err="1" smtClean="0">
                <a:solidFill>
                  <a:srgbClr val="000000"/>
                </a:solidFill>
                <a:latin typeface="Consolas"/>
              </a:rPr>
              <a:t>OrderID</a:t>
            </a:r>
            <a:r>
              <a:rPr lang="en-US" sz="2000" dirty="0" smtClean="0">
                <a:solidFill>
                  <a:srgbClr val="000000"/>
                </a:solidFill>
                <a:latin typeface="Consolas"/>
              </a:rPr>
              <a:t> </a:t>
            </a:r>
            <a:r>
              <a:rPr lang="en-US" sz="2000" dirty="0" smtClean="0">
                <a:solidFill>
                  <a:srgbClr val="808080"/>
                </a:solidFill>
                <a:latin typeface="Consolas"/>
              </a:rPr>
              <a:t>=</a:t>
            </a:r>
            <a:r>
              <a:rPr lang="en-US" sz="2000" dirty="0" smtClean="0">
                <a:solidFill>
                  <a:srgbClr val="000000"/>
                </a:solidFill>
                <a:latin typeface="Consolas"/>
              </a:rPr>
              <a:t> </a:t>
            </a:r>
            <a:r>
              <a:rPr lang="en-US" sz="2000" dirty="0" err="1" smtClean="0">
                <a:solidFill>
                  <a:srgbClr val="000000"/>
                </a:solidFill>
                <a:latin typeface="Consolas"/>
              </a:rPr>
              <a:t>o</a:t>
            </a:r>
            <a:r>
              <a:rPr lang="en-US" sz="2000" dirty="0" err="1" smtClean="0">
                <a:solidFill>
                  <a:srgbClr val="808080"/>
                </a:solidFill>
                <a:latin typeface="Consolas"/>
              </a:rPr>
              <a:t>.</a:t>
            </a:r>
            <a:r>
              <a:rPr lang="en-US" sz="2000" dirty="0" err="1" smtClean="0">
                <a:solidFill>
                  <a:srgbClr val="000000"/>
                </a:solidFill>
                <a:latin typeface="Consolas"/>
              </a:rPr>
              <a:t>OrderID</a:t>
            </a:r>
            <a:endParaRPr lang="en-US" sz="2000" dirty="0" smtClean="0">
              <a:solidFill>
                <a:srgbClr val="000000"/>
              </a:solidFill>
              <a:latin typeface="Consolas"/>
            </a:endParaRPr>
          </a:p>
          <a:p>
            <a:pPr>
              <a:buNone/>
            </a:pPr>
            <a:r>
              <a:rPr lang="en-US" sz="2000" dirty="0" smtClean="0">
                <a:solidFill>
                  <a:srgbClr val="808080"/>
                </a:solidFill>
                <a:latin typeface="Consolas"/>
              </a:rPr>
              <a:t>INNER</a:t>
            </a:r>
            <a:r>
              <a:rPr lang="en-US" sz="2000" dirty="0" smtClean="0">
                <a:solidFill>
                  <a:srgbClr val="000000"/>
                </a:solidFill>
                <a:latin typeface="Consolas"/>
              </a:rPr>
              <a:t> </a:t>
            </a:r>
            <a:r>
              <a:rPr lang="en-US" sz="2000" dirty="0" smtClean="0">
                <a:solidFill>
                  <a:srgbClr val="808080"/>
                </a:solidFill>
                <a:latin typeface="Consolas"/>
              </a:rPr>
              <a:t>JOIN</a:t>
            </a:r>
            <a:r>
              <a:rPr lang="en-US" sz="2000" dirty="0" smtClean="0">
                <a:solidFill>
                  <a:srgbClr val="000000"/>
                </a:solidFill>
                <a:latin typeface="Consolas"/>
              </a:rPr>
              <a:t> Item </a:t>
            </a:r>
            <a:r>
              <a:rPr lang="en-US" sz="2000" dirty="0" err="1" smtClean="0">
                <a:solidFill>
                  <a:srgbClr val="000000"/>
                </a:solidFill>
                <a:latin typeface="Consolas"/>
              </a:rPr>
              <a:t>i</a:t>
            </a:r>
            <a:r>
              <a:rPr lang="en-US" sz="2000" dirty="0" smtClean="0">
                <a:solidFill>
                  <a:srgbClr val="000000"/>
                </a:solidFill>
                <a:latin typeface="Consolas"/>
              </a:rPr>
              <a:t> </a:t>
            </a:r>
            <a:r>
              <a:rPr lang="en-US" sz="2000" dirty="0" smtClean="0">
                <a:solidFill>
                  <a:srgbClr val="0000FF"/>
                </a:solidFill>
                <a:latin typeface="Consolas"/>
              </a:rPr>
              <a:t>on</a:t>
            </a:r>
            <a:r>
              <a:rPr lang="en-US" sz="2000" dirty="0" smtClean="0">
                <a:solidFill>
                  <a:srgbClr val="000000"/>
                </a:solidFill>
                <a:latin typeface="Consolas"/>
              </a:rPr>
              <a:t> </a:t>
            </a:r>
            <a:r>
              <a:rPr lang="en-US" sz="2000" dirty="0" err="1" smtClean="0">
                <a:solidFill>
                  <a:srgbClr val="000000"/>
                </a:solidFill>
                <a:latin typeface="Consolas"/>
              </a:rPr>
              <a:t>i</a:t>
            </a:r>
            <a:r>
              <a:rPr lang="en-US" sz="2000" dirty="0" err="1" smtClean="0">
                <a:solidFill>
                  <a:srgbClr val="808080"/>
                </a:solidFill>
                <a:latin typeface="Consolas"/>
              </a:rPr>
              <a:t>.</a:t>
            </a:r>
            <a:r>
              <a:rPr lang="en-US" sz="2000" dirty="0" err="1" smtClean="0">
                <a:solidFill>
                  <a:srgbClr val="000000"/>
                </a:solidFill>
                <a:latin typeface="Consolas"/>
              </a:rPr>
              <a:t>ItemID</a:t>
            </a:r>
            <a:r>
              <a:rPr lang="en-US" sz="2000" dirty="0" smtClean="0">
                <a:solidFill>
                  <a:srgbClr val="000000"/>
                </a:solidFill>
                <a:latin typeface="Consolas"/>
              </a:rPr>
              <a:t> </a:t>
            </a:r>
            <a:r>
              <a:rPr lang="en-US" sz="2000" dirty="0" smtClean="0">
                <a:solidFill>
                  <a:srgbClr val="808080"/>
                </a:solidFill>
                <a:latin typeface="Consolas"/>
              </a:rPr>
              <a:t>=</a:t>
            </a:r>
            <a:r>
              <a:rPr lang="en-US" sz="2000" dirty="0" smtClean="0">
                <a:solidFill>
                  <a:srgbClr val="000000"/>
                </a:solidFill>
                <a:latin typeface="Consolas"/>
              </a:rPr>
              <a:t> </a:t>
            </a:r>
            <a:r>
              <a:rPr lang="en-US" sz="2000" dirty="0" err="1" smtClean="0">
                <a:solidFill>
                  <a:srgbClr val="000000"/>
                </a:solidFill>
                <a:latin typeface="Consolas"/>
              </a:rPr>
              <a:t>od</a:t>
            </a:r>
            <a:r>
              <a:rPr lang="en-US" sz="2000" dirty="0" err="1" smtClean="0">
                <a:solidFill>
                  <a:srgbClr val="808080"/>
                </a:solidFill>
                <a:latin typeface="Consolas"/>
              </a:rPr>
              <a:t>.</a:t>
            </a:r>
            <a:r>
              <a:rPr lang="en-US" sz="2000" dirty="0" err="1" smtClean="0">
                <a:solidFill>
                  <a:srgbClr val="000000"/>
                </a:solidFill>
                <a:latin typeface="Consolas"/>
              </a:rPr>
              <a:t>ItemID</a:t>
            </a:r>
            <a:endParaRPr lang="en-US" sz="2000" dirty="0" smtClean="0">
              <a:solidFill>
                <a:srgbClr val="000000"/>
              </a:solidFill>
              <a:latin typeface="Consolas"/>
            </a:endParaRPr>
          </a:p>
          <a:p>
            <a:pPr>
              <a:buNone/>
            </a:pPr>
            <a:r>
              <a:rPr lang="en-US" sz="2000" dirty="0" smtClean="0">
                <a:solidFill>
                  <a:srgbClr val="0000FF"/>
                </a:solidFill>
                <a:latin typeface="Consolas"/>
              </a:rPr>
              <a:t>FOR</a:t>
            </a:r>
            <a:r>
              <a:rPr lang="en-US" sz="2000" dirty="0" smtClean="0">
                <a:solidFill>
                  <a:srgbClr val="000000"/>
                </a:solidFill>
                <a:latin typeface="Consolas"/>
              </a:rPr>
              <a:t> </a:t>
            </a:r>
            <a:r>
              <a:rPr lang="en-US" sz="2000" dirty="0" smtClean="0">
                <a:solidFill>
                  <a:srgbClr val="0000FF"/>
                </a:solidFill>
                <a:latin typeface="Consolas"/>
              </a:rPr>
              <a:t>XML</a:t>
            </a:r>
            <a:r>
              <a:rPr lang="en-US" sz="2000" dirty="0" smtClean="0">
                <a:solidFill>
                  <a:srgbClr val="000000"/>
                </a:solidFill>
                <a:latin typeface="Consolas"/>
              </a:rPr>
              <a:t> </a:t>
            </a:r>
            <a:r>
              <a:rPr lang="en-US" sz="2000" dirty="0" smtClean="0">
                <a:solidFill>
                  <a:srgbClr val="0000FF"/>
                </a:solidFill>
                <a:latin typeface="Consolas"/>
              </a:rPr>
              <a:t>PATH</a:t>
            </a:r>
            <a:r>
              <a:rPr lang="en-US" sz="2000" dirty="0" smtClean="0">
                <a:solidFill>
                  <a:srgbClr val="808080"/>
                </a:solidFill>
                <a:latin typeface="Consolas"/>
              </a:rPr>
              <a:t>(</a:t>
            </a:r>
            <a:r>
              <a:rPr lang="en-US" sz="2000" dirty="0" smtClean="0">
                <a:solidFill>
                  <a:srgbClr val="FF0000"/>
                </a:solidFill>
                <a:latin typeface="Consolas"/>
              </a:rPr>
              <a:t>'Order'</a:t>
            </a:r>
            <a:r>
              <a:rPr lang="en-US" sz="2000" dirty="0" smtClean="0">
                <a:solidFill>
                  <a:srgbClr val="808080"/>
                </a:solidFill>
                <a:latin typeface="Consolas"/>
              </a:rPr>
              <a:t>),</a:t>
            </a:r>
            <a:r>
              <a:rPr lang="en-US" sz="2000" dirty="0" smtClean="0">
                <a:solidFill>
                  <a:srgbClr val="000000"/>
                </a:solidFill>
                <a:latin typeface="Consolas"/>
              </a:rPr>
              <a:t> </a:t>
            </a:r>
            <a:r>
              <a:rPr lang="en-US" sz="2000" dirty="0" smtClean="0">
                <a:solidFill>
                  <a:srgbClr val="0000FF"/>
                </a:solidFill>
                <a:latin typeface="Consolas"/>
              </a:rPr>
              <a:t>ROOT</a:t>
            </a:r>
            <a:r>
              <a:rPr lang="en-US" sz="2000" dirty="0" smtClean="0">
                <a:solidFill>
                  <a:srgbClr val="808080"/>
                </a:solidFill>
                <a:latin typeface="Consolas"/>
              </a:rPr>
              <a:t>(</a:t>
            </a:r>
            <a:r>
              <a:rPr lang="en-US" sz="2000" dirty="0" smtClean="0">
                <a:solidFill>
                  <a:srgbClr val="FF0000"/>
                </a:solidFill>
                <a:latin typeface="Consolas"/>
              </a:rPr>
              <a:t>'Orders'</a:t>
            </a:r>
            <a:r>
              <a:rPr lang="en-US" sz="2000" dirty="0" smtClean="0">
                <a:solidFill>
                  <a:srgbClr val="808080"/>
                </a:solidFill>
                <a:latin typeface="Consolas"/>
              </a:rPr>
              <a:t>)</a:t>
            </a:r>
            <a:endParaRPr lang="en-US" sz="2000" b="1" i="1" dirty="0" smtClean="0">
              <a:solidFill>
                <a:srgbClr val="C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XML Result</a:t>
            </a:r>
            <a:endParaRPr lang="en-US" dirty="0"/>
          </a:p>
        </p:txBody>
      </p:sp>
      <p:sp>
        <p:nvSpPr>
          <p:cNvPr id="3" name="Content Placeholder 2"/>
          <p:cNvSpPr>
            <a:spLocks noGrp="1"/>
          </p:cNvSpPr>
          <p:nvPr>
            <p:ph idx="1"/>
          </p:nvPr>
        </p:nvSpPr>
        <p:spPr>
          <a:xfrm>
            <a:off x="457200" y="1676400"/>
            <a:ext cx="8229600" cy="4876800"/>
          </a:xfrm>
          <a:solidFill>
            <a:schemeClr val="bg1">
              <a:lumMod val="95000"/>
            </a:schemeClr>
          </a:solidFill>
        </p:spPr>
        <p:txBody>
          <a:bodyPr/>
          <a:lstStyle/>
          <a:p>
            <a:pPr>
              <a:buNone/>
            </a:pPr>
            <a:r>
              <a:rPr lang="en-US" sz="2000" dirty="0" smtClean="0">
                <a:solidFill>
                  <a:srgbClr val="0000FF"/>
                </a:solidFill>
                <a:latin typeface="Consolas"/>
              </a:rPr>
              <a:t>&lt;</a:t>
            </a:r>
            <a:r>
              <a:rPr lang="en-US" sz="2000" dirty="0" smtClean="0">
                <a:solidFill>
                  <a:srgbClr val="A31515"/>
                </a:solidFill>
                <a:latin typeface="Consolas"/>
              </a:rPr>
              <a:t>Orders</a:t>
            </a:r>
            <a:r>
              <a:rPr lang="en-US" sz="2000" dirty="0" smtClean="0">
                <a:solidFill>
                  <a:srgbClr val="0000FF"/>
                </a:solidFill>
                <a:latin typeface="Consolas"/>
              </a:rPr>
              <a:t>&gt;</a:t>
            </a:r>
            <a:endParaRPr lang="en-US" sz="2000" dirty="0" smtClean="0">
              <a:solidFill>
                <a:srgbClr val="000000"/>
              </a:solidFill>
              <a:latin typeface="Consolas"/>
            </a:endParaRPr>
          </a:p>
          <a:p>
            <a:pPr>
              <a:buNone/>
            </a:pPr>
            <a:r>
              <a:rPr lang="en-US" sz="2000" dirty="0" smtClean="0">
                <a:solidFill>
                  <a:srgbClr val="0000FF"/>
                </a:solidFill>
                <a:latin typeface="Consolas"/>
              </a:rPr>
              <a:t>  &lt;</a:t>
            </a:r>
            <a:r>
              <a:rPr lang="en-US" sz="2000" dirty="0" smtClean="0">
                <a:solidFill>
                  <a:srgbClr val="A31515"/>
                </a:solidFill>
                <a:latin typeface="Consolas"/>
              </a:rPr>
              <a:t>Order</a:t>
            </a:r>
            <a:r>
              <a:rPr lang="en-US" sz="2000" dirty="0" smtClean="0">
                <a:solidFill>
                  <a:srgbClr val="0000FF"/>
                </a:solidFill>
                <a:latin typeface="Consolas"/>
              </a:rPr>
              <a:t> </a:t>
            </a:r>
            <a:r>
              <a:rPr lang="en-US" sz="2000" dirty="0" err="1" smtClean="0">
                <a:solidFill>
                  <a:srgbClr val="FF0000"/>
                </a:solidFill>
                <a:latin typeface="Consolas"/>
              </a:rPr>
              <a:t>OrderNumber</a:t>
            </a:r>
            <a:r>
              <a:rPr lang="en-US" sz="2000" dirty="0" smtClean="0">
                <a:solidFill>
                  <a:srgbClr val="0000FF"/>
                </a:solidFill>
                <a:latin typeface="Consolas"/>
              </a:rPr>
              <a:t>=</a:t>
            </a:r>
            <a:r>
              <a:rPr lang="en-US" sz="2000" dirty="0" smtClean="0">
                <a:solidFill>
                  <a:srgbClr val="000000"/>
                </a:solidFill>
                <a:latin typeface="Consolas"/>
              </a:rPr>
              <a:t>"</a:t>
            </a:r>
            <a:r>
              <a:rPr lang="en-US" sz="2000" dirty="0" smtClean="0">
                <a:solidFill>
                  <a:srgbClr val="0000FF"/>
                </a:solidFill>
                <a:latin typeface="Consolas"/>
              </a:rPr>
              <a:t>10001</a:t>
            </a:r>
            <a:r>
              <a:rPr lang="en-US" sz="2000" dirty="0" smtClean="0">
                <a:solidFill>
                  <a:srgbClr val="000000"/>
                </a:solidFill>
                <a:latin typeface="Consolas"/>
              </a:rPr>
              <a:t>"</a:t>
            </a:r>
            <a:r>
              <a:rPr lang="en-US" sz="2000" dirty="0" smtClean="0">
                <a:solidFill>
                  <a:srgbClr val="0000FF"/>
                </a:solidFill>
                <a:latin typeface="Consolas"/>
              </a:rPr>
              <a:t>&gt;</a:t>
            </a:r>
            <a:endParaRPr lang="en-US" sz="2000" dirty="0" smtClean="0">
              <a:solidFill>
                <a:srgbClr val="000000"/>
              </a:solidFill>
              <a:latin typeface="Consolas"/>
            </a:endParaRPr>
          </a:p>
          <a:p>
            <a:pPr>
              <a:buNone/>
            </a:pPr>
            <a:r>
              <a:rPr lang="en-US" sz="2000" dirty="0" smtClean="0">
                <a:solidFill>
                  <a:srgbClr val="0000FF"/>
                </a:solidFill>
                <a:latin typeface="Consolas"/>
              </a:rPr>
              <a:t>    &lt;</a:t>
            </a:r>
            <a:r>
              <a:rPr lang="en-US" sz="2000" dirty="0" smtClean="0">
                <a:solidFill>
                  <a:srgbClr val="A31515"/>
                </a:solidFill>
                <a:latin typeface="Consolas"/>
              </a:rPr>
              <a:t>Customer</a:t>
            </a:r>
            <a:r>
              <a:rPr lang="en-US" sz="2000" dirty="0" smtClean="0">
                <a:solidFill>
                  <a:srgbClr val="0000FF"/>
                </a:solidFill>
                <a:latin typeface="Consolas"/>
              </a:rPr>
              <a:t> </a:t>
            </a:r>
            <a:r>
              <a:rPr lang="en-US" sz="2000" dirty="0" smtClean="0">
                <a:solidFill>
                  <a:srgbClr val="FF0000"/>
                </a:solidFill>
                <a:latin typeface="Consolas"/>
              </a:rPr>
              <a:t>Name</a:t>
            </a:r>
            <a:r>
              <a:rPr lang="en-US" sz="2000" dirty="0" smtClean="0">
                <a:solidFill>
                  <a:srgbClr val="0000FF"/>
                </a:solidFill>
                <a:latin typeface="Consolas"/>
              </a:rPr>
              <a:t>=</a:t>
            </a:r>
            <a:r>
              <a:rPr lang="en-US" sz="2000" dirty="0" smtClean="0">
                <a:solidFill>
                  <a:srgbClr val="000000"/>
                </a:solidFill>
                <a:latin typeface="Consolas"/>
              </a:rPr>
              <a:t>"</a:t>
            </a:r>
            <a:r>
              <a:rPr lang="en-US" sz="2000" dirty="0" smtClean="0">
                <a:solidFill>
                  <a:srgbClr val="0000FF"/>
                </a:solidFill>
                <a:latin typeface="Consolas"/>
              </a:rPr>
              <a:t>Scott</a:t>
            </a:r>
            <a:r>
              <a:rPr lang="en-US" sz="2000" dirty="0" smtClean="0">
                <a:solidFill>
                  <a:srgbClr val="000000"/>
                </a:solidFill>
                <a:latin typeface="Consolas"/>
              </a:rPr>
              <a:t>"</a:t>
            </a:r>
            <a:r>
              <a:rPr lang="en-US" sz="2000" dirty="0" smtClean="0">
                <a:solidFill>
                  <a:srgbClr val="0000FF"/>
                </a:solidFill>
                <a:latin typeface="Consolas"/>
              </a:rPr>
              <a:t> /&gt;</a:t>
            </a:r>
            <a:endParaRPr lang="en-US" sz="2000" dirty="0" smtClean="0">
              <a:solidFill>
                <a:srgbClr val="000000"/>
              </a:solidFill>
              <a:latin typeface="Consolas"/>
            </a:endParaRPr>
          </a:p>
          <a:p>
            <a:pPr>
              <a:buNone/>
            </a:pPr>
            <a:r>
              <a:rPr lang="en-US" sz="2000" dirty="0" smtClean="0">
                <a:solidFill>
                  <a:srgbClr val="0000FF"/>
                </a:solidFill>
                <a:latin typeface="Consolas"/>
              </a:rPr>
              <a:t>    &lt;</a:t>
            </a:r>
            <a:r>
              <a:rPr lang="en-US" sz="2000" dirty="0" err="1" smtClean="0">
                <a:solidFill>
                  <a:srgbClr val="A31515"/>
                </a:solidFill>
                <a:latin typeface="Consolas"/>
              </a:rPr>
              <a:t>LineItems</a:t>
            </a:r>
            <a:r>
              <a:rPr lang="en-US" sz="2000" dirty="0" smtClean="0">
                <a:solidFill>
                  <a:srgbClr val="0000FF"/>
                </a:solidFill>
                <a:latin typeface="Consolas"/>
              </a:rPr>
              <a:t>&gt;</a:t>
            </a:r>
            <a:endParaRPr lang="en-US" sz="2000" dirty="0" smtClean="0">
              <a:solidFill>
                <a:srgbClr val="000000"/>
              </a:solidFill>
              <a:latin typeface="Consolas"/>
            </a:endParaRPr>
          </a:p>
          <a:p>
            <a:pPr>
              <a:buNone/>
            </a:pPr>
            <a:r>
              <a:rPr lang="pt-BR" sz="2000" dirty="0" smtClean="0">
                <a:solidFill>
                  <a:srgbClr val="0000FF"/>
                </a:solidFill>
                <a:latin typeface="Consolas"/>
              </a:rPr>
              <a:t>      &lt;</a:t>
            </a:r>
            <a:r>
              <a:rPr lang="pt-BR" sz="2000" dirty="0" smtClean="0">
                <a:solidFill>
                  <a:srgbClr val="A31515"/>
                </a:solidFill>
                <a:latin typeface="Consolas"/>
              </a:rPr>
              <a:t>Item</a:t>
            </a:r>
            <a:r>
              <a:rPr lang="pt-BR" sz="2000" dirty="0" smtClean="0">
                <a:solidFill>
                  <a:srgbClr val="0000FF"/>
                </a:solidFill>
                <a:latin typeface="Consolas"/>
              </a:rPr>
              <a:t> </a:t>
            </a:r>
            <a:r>
              <a:rPr lang="pt-BR" sz="2000" dirty="0" smtClean="0">
                <a:solidFill>
                  <a:srgbClr val="FF0000"/>
                </a:solidFill>
                <a:latin typeface="Consolas"/>
              </a:rPr>
              <a:t>ItemNo</a:t>
            </a:r>
            <a:r>
              <a:rPr lang="pt-BR" sz="2000" dirty="0" smtClean="0">
                <a:solidFill>
                  <a:srgbClr val="0000FF"/>
                </a:solidFill>
                <a:latin typeface="Consolas"/>
              </a:rPr>
              <a:t>=</a:t>
            </a:r>
            <a:r>
              <a:rPr lang="pt-BR" sz="2000" dirty="0" smtClean="0">
                <a:solidFill>
                  <a:srgbClr val="000000"/>
                </a:solidFill>
                <a:latin typeface="Consolas"/>
              </a:rPr>
              <a:t>"</a:t>
            </a:r>
            <a:r>
              <a:rPr lang="pt-BR" sz="2000" dirty="0" smtClean="0">
                <a:solidFill>
                  <a:srgbClr val="0000FF"/>
                </a:solidFill>
                <a:latin typeface="Consolas"/>
              </a:rPr>
              <a:t>V001</a:t>
            </a:r>
            <a:r>
              <a:rPr lang="pt-BR" sz="2000" dirty="0" smtClean="0">
                <a:solidFill>
                  <a:srgbClr val="000000"/>
                </a:solidFill>
                <a:latin typeface="Consolas"/>
              </a:rPr>
              <a:t>"</a:t>
            </a:r>
            <a:r>
              <a:rPr lang="pt-BR" sz="2000" dirty="0" smtClean="0">
                <a:solidFill>
                  <a:srgbClr val="0000FF"/>
                </a:solidFill>
                <a:latin typeface="Consolas"/>
              </a:rPr>
              <a:t> </a:t>
            </a:r>
            <a:r>
              <a:rPr lang="pt-BR" sz="2000" dirty="0" smtClean="0">
                <a:solidFill>
                  <a:srgbClr val="FF0000"/>
                </a:solidFill>
                <a:latin typeface="Consolas"/>
              </a:rPr>
              <a:t>Qty</a:t>
            </a:r>
            <a:r>
              <a:rPr lang="pt-BR" sz="2000" dirty="0" smtClean="0">
                <a:solidFill>
                  <a:srgbClr val="0000FF"/>
                </a:solidFill>
                <a:latin typeface="Consolas"/>
              </a:rPr>
              <a:t>=</a:t>
            </a:r>
            <a:r>
              <a:rPr lang="pt-BR" sz="2000" dirty="0" smtClean="0">
                <a:solidFill>
                  <a:srgbClr val="000000"/>
                </a:solidFill>
                <a:latin typeface="Consolas"/>
              </a:rPr>
              <a:t>"</a:t>
            </a:r>
            <a:r>
              <a:rPr lang="pt-BR" sz="2000" dirty="0" smtClean="0">
                <a:solidFill>
                  <a:srgbClr val="0000FF"/>
                </a:solidFill>
                <a:latin typeface="Consolas"/>
              </a:rPr>
              <a:t>1</a:t>
            </a:r>
            <a:r>
              <a:rPr lang="pt-BR" sz="2000" dirty="0" smtClean="0">
                <a:solidFill>
                  <a:srgbClr val="000000"/>
                </a:solidFill>
                <a:latin typeface="Consolas"/>
              </a:rPr>
              <a:t>"</a:t>
            </a:r>
            <a:r>
              <a:rPr lang="pt-BR" sz="2000" dirty="0" smtClean="0">
                <a:solidFill>
                  <a:srgbClr val="0000FF"/>
                </a:solidFill>
                <a:latin typeface="Consolas"/>
              </a:rPr>
              <a:t> /&gt;</a:t>
            </a:r>
            <a:endParaRPr lang="pt-BR" sz="2000" dirty="0" smtClean="0">
              <a:solidFill>
                <a:srgbClr val="000000"/>
              </a:solidFill>
              <a:latin typeface="Consolas"/>
            </a:endParaRPr>
          </a:p>
          <a:p>
            <a:pPr>
              <a:buNone/>
            </a:pPr>
            <a:r>
              <a:rPr lang="en-US" sz="2000" dirty="0" smtClean="0">
                <a:solidFill>
                  <a:srgbClr val="0000FF"/>
                </a:solidFill>
                <a:latin typeface="Consolas"/>
              </a:rPr>
              <a:t>    &lt;/</a:t>
            </a:r>
            <a:r>
              <a:rPr lang="en-US" sz="2000" dirty="0" err="1" smtClean="0">
                <a:solidFill>
                  <a:srgbClr val="A31515"/>
                </a:solidFill>
                <a:latin typeface="Consolas"/>
              </a:rPr>
              <a:t>LineItems</a:t>
            </a:r>
            <a:r>
              <a:rPr lang="en-US" sz="2000" dirty="0" smtClean="0">
                <a:solidFill>
                  <a:srgbClr val="0000FF"/>
                </a:solidFill>
                <a:latin typeface="Consolas"/>
              </a:rPr>
              <a:t>&gt;</a:t>
            </a:r>
            <a:endParaRPr lang="en-US" sz="2000" dirty="0" smtClean="0">
              <a:solidFill>
                <a:srgbClr val="000000"/>
              </a:solidFill>
              <a:latin typeface="Consolas"/>
            </a:endParaRPr>
          </a:p>
          <a:p>
            <a:pPr>
              <a:buNone/>
            </a:pPr>
            <a:r>
              <a:rPr lang="en-US" sz="2000" dirty="0" smtClean="0">
                <a:solidFill>
                  <a:srgbClr val="0000FF"/>
                </a:solidFill>
                <a:latin typeface="Consolas"/>
              </a:rPr>
              <a:t>  &lt;/</a:t>
            </a:r>
            <a:r>
              <a:rPr lang="en-US" sz="2000" dirty="0" smtClean="0">
                <a:solidFill>
                  <a:srgbClr val="A31515"/>
                </a:solidFill>
                <a:latin typeface="Consolas"/>
              </a:rPr>
              <a:t>Order</a:t>
            </a:r>
            <a:r>
              <a:rPr lang="en-US" sz="2000" dirty="0" smtClean="0">
                <a:solidFill>
                  <a:srgbClr val="0000FF"/>
                </a:solidFill>
                <a:latin typeface="Consolas"/>
              </a:rPr>
              <a:t>&gt;</a:t>
            </a:r>
            <a:endParaRPr lang="en-US" sz="2000" dirty="0" smtClean="0">
              <a:solidFill>
                <a:srgbClr val="000000"/>
              </a:solidFill>
              <a:latin typeface="Consolas"/>
            </a:endParaRPr>
          </a:p>
          <a:p>
            <a:pPr>
              <a:buNone/>
            </a:pPr>
            <a:r>
              <a:rPr lang="en-US" sz="2000" dirty="0" smtClean="0">
                <a:solidFill>
                  <a:srgbClr val="0000FF"/>
                </a:solidFill>
                <a:latin typeface="Consolas"/>
              </a:rPr>
              <a:t>  &lt;</a:t>
            </a:r>
            <a:r>
              <a:rPr lang="en-US" sz="2000" dirty="0" smtClean="0">
                <a:solidFill>
                  <a:srgbClr val="A31515"/>
                </a:solidFill>
                <a:latin typeface="Consolas"/>
              </a:rPr>
              <a:t>Order</a:t>
            </a:r>
            <a:r>
              <a:rPr lang="en-US" sz="2000" dirty="0" smtClean="0">
                <a:solidFill>
                  <a:srgbClr val="0000FF"/>
                </a:solidFill>
                <a:latin typeface="Consolas"/>
              </a:rPr>
              <a:t> </a:t>
            </a:r>
            <a:r>
              <a:rPr lang="en-US" sz="2000" dirty="0" err="1" smtClean="0">
                <a:solidFill>
                  <a:srgbClr val="FF0000"/>
                </a:solidFill>
                <a:latin typeface="Consolas"/>
              </a:rPr>
              <a:t>OrderNumber</a:t>
            </a:r>
            <a:r>
              <a:rPr lang="en-US" sz="2000" dirty="0" smtClean="0">
                <a:solidFill>
                  <a:srgbClr val="0000FF"/>
                </a:solidFill>
                <a:latin typeface="Consolas"/>
              </a:rPr>
              <a:t>=</a:t>
            </a:r>
            <a:r>
              <a:rPr lang="en-US" sz="2000" dirty="0" smtClean="0">
                <a:solidFill>
                  <a:srgbClr val="000000"/>
                </a:solidFill>
                <a:latin typeface="Consolas"/>
              </a:rPr>
              <a:t>"</a:t>
            </a:r>
            <a:r>
              <a:rPr lang="en-US" sz="2000" dirty="0" smtClean="0">
                <a:solidFill>
                  <a:srgbClr val="0000FF"/>
                </a:solidFill>
                <a:latin typeface="Consolas"/>
              </a:rPr>
              <a:t>10002</a:t>
            </a:r>
            <a:r>
              <a:rPr lang="en-US" sz="2000" dirty="0" smtClean="0">
                <a:solidFill>
                  <a:srgbClr val="000000"/>
                </a:solidFill>
                <a:latin typeface="Consolas"/>
              </a:rPr>
              <a:t>"</a:t>
            </a:r>
            <a:r>
              <a:rPr lang="en-US" sz="2000" dirty="0" smtClean="0">
                <a:solidFill>
                  <a:srgbClr val="0000FF"/>
                </a:solidFill>
                <a:latin typeface="Consolas"/>
              </a:rPr>
              <a:t>&gt;</a:t>
            </a:r>
            <a:endParaRPr lang="en-US" sz="2000" dirty="0" smtClean="0">
              <a:solidFill>
                <a:srgbClr val="000000"/>
              </a:solidFill>
              <a:latin typeface="Consolas"/>
            </a:endParaRPr>
          </a:p>
          <a:p>
            <a:pPr>
              <a:buNone/>
            </a:pPr>
            <a:r>
              <a:rPr lang="en-US" sz="2000" dirty="0" smtClean="0">
                <a:solidFill>
                  <a:srgbClr val="0000FF"/>
                </a:solidFill>
                <a:latin typeface="Consolas"/>
              </a:rPr>
              <a:t>    &lt;</a:t>
            </a:r>
            <a:r>
              <a:rPr lang="en-US" sz="2000" dirty="0" smtClean="0">
                <a:solidFill>
                  <a:srgbClr val="A31515"/>
                </a:solidFill>
                <a:latin typeface="Consolas"/>
              </a:rPr>
              <a:t>Customer</a:t>
            </a:r>
            <a:r>
              <a:rPr lang="en-US" sz="2000" dirty="0" smtClean="0">
                <a:solidFill>
                  <a:srgbClr val="0000FF"/>
                </a:solidFill>
                <a:latin typeface="Consolas"/>
              </a:rPr>
              <a:t> </a:t>
            </a:r>
            <a:r>
              <a:rPr lang="en-US" sz="2000" dirty="0" smtClean="0">
                <a:solidFill>
                  <a:srgbClr val="FF0000"/>
                </a:solidFill>
                <a:latin typeface="Consolas"/>
              </a:rPr>
              <a:t>Name</a:t>
            </a:r>
            <a:r>
              <a:rPr lang="en-US" sz="2000" dirty="0" smtClean="0">
                <a:solidFill>
                  <a:srgbClr val="0000FF"/>
                </a:solidFill>
                <a:latin typeface="Consolas"/>
              </a:rPr>
              <a:t>=</a:t>
            </a:r>
            <a:r>
              <a:rPr lang="en-US" sz="2000" dirty="0" smtClean="0">
                <a:solidFill>
                  <a:srgbClr val="000000"/>
                </a:solidFill>
                <a:latin typeface="Consolas"/>
              </a:rPr>
              <a:t>"</a:t>
            </a:r>
            <a:r>
              <a:rPr lang="en-US" sz="2000" dirty="0" smtClean="0">
                <a:solidFill>
                  <a:srgbClr val="0000FF"/>
                </a:solidFill>
                <a:latin typeface="Consolas"/>
              </a:rPr>
              <a:t>Adam</a:t>
            </a:r>
            <a:r>
              <a:rPr lang="en-US" sz="2000" dirty="0" smtClean="0">
                <a:solidFill>
                  <a:srgbClr val="000000"/>
                </a:solidFill>
                <a:latin typeface="Consolas"/>
              </a:rPr>
              <a:t>"</a:t>
            </a:r>
            <a:r>
              <a:rPr lang="en-US" sz="2000" dirty="0" smtClean="0">
                <a:solidFill>
                  <a:srgbClr val="0000FF"/>
                </a:solidFill>
                <a:latin typeface="Consolas"/>
              </a:rPr>
              <a:t> /&gt;</a:t>
            </a:r>
            <a:endParaRPr lang="en-US" sz="2000" dirty="0" smtClean="0">
              <a:solidFill>
                <a:srgbClr val="000000"/>
              </a:solidFill>
              <a:latin typeface="Consolas"/>
            </a:endParaRPr>
          </a:p>
          <a:p>
            <a:pPr>
              <a:buNone/>
            </a:pPr>
            <a:r>
              <a:rPr lang="en-US" sz="2000" dirty="0" smtClean="0">
                <a:solidFill>
                  <a:srgbClr val="0000FF"/>
                </a:solidFill>
                <a:latin typeface="Consolas"/>
              </a:rPr>
              <a:t>    &lt;</a:t>
            </a:r>
            <a:r>
              <a:rPr lang="en-US" sz="2000" dirty="0" err="1" smtClean="0">
                <a:solidFill>
                  <a:srgbClr val="A31515"/>
                </a:solidFill>
                <a:latin typeface="Consolas"/>
              </a:rPr>
              <a:t>LineItems</a:t>
            </a:r>
            <a:r>
              <a:rPr lang="en-US" sz="2000" dirty="0" smtClean="0">
                <a:solidFill>
                  <a:srgbClr val="0000FF"/>
                </a:solidFill>
                <a:latin typeface="Consolas"/>
              </a:rPr>
              <a:t>&gt;</a:t>
            </a:r>
            <a:endParaRPr lang="en-US" sz="2000" dirty="0" smtClean="0">
              <a:solidFill>
                <a:srgbClr val="000000"/>
              </a:solidFill>
              <a:latin typeface="Consolas"/>
            </a:endParaRPr>
          </a:p>
          <a:p>
            <a:pPr>
              <a:buNone/>
            </a:pPr>
            <a:r>
              <a:rPr lang="pt-BR" sz="2000" dirty="0" smtClean="0">
                <a:solidFill>
                  <a:srgbClr val="0000FF"/>
                </a:solidFill>
                <a:latin typeface="Consolas"/>
              </a:rPr>
              <a:t>      &lt;</a:t>
            </a:r>
            <a:r>
              <a:rPr lang="pt-BR" sz="2000" dirty="0" smtClean="0">
                <a:solidFill>
                  <a:srgbClr val="A31515"/>
                </a:solidFill>
                <a:latin typeface="Consolas"/>
              </a:rPr>
              <a:t>Item</a:t>
            </a:r>
            <a:r>
              <a:rPr lang="pt-BR" sz="2000" dirty="0" smtClean="0">
                <a:solidFill>
                  <a:srgbClr val="0000FF"/>
                </a:solidFill>
                <a:latin typeface="Consolas"/>
              </a:rPr>
              <a:t> </a:t>
            </a:r>
            <a:r>
              <a:rPr lang="pt-BR" sz="2000" dirty="0" smtClean="0">
                <a:solidFill>
                  <a:srgbClr val="FF0000"/>
                </a:solidFill>
                <a:latin typeface="Consolas"/>
              </a:rPr>
              <a:t>ItemNo</a:t>
            </a:r>
            <a:r>
              <a:rPr lang="pt-BR" sz="2000" dirty="0" smtClean="0">
                <a:solidFill>
                  <a:srgbClr val="0000FF"/>
                </a:solidFill>
                <a:latin typeface="Consolas"/>
              </a:rPr>
              <a:t>=</a:t>
            </a:r>
            <a:r>
              <a:rPr lang="pt-BR" sz="2000" dirty="0" smtClean="0">
                <a:solidFill>
                  <a:srgbClr val="000000"/>
                </a:solidFill>
                <a:latin typeface="Consolas"/>
              </a:rPr>
              <a:t>"</a:t>
            </a:r>
            <a:r>
              <a:rPr lang="pt-BR" sz="2000" dirty="0" smtClean="0">
                <a:solidFill>
                  <a:srgbClr val="0000FF"/>
                </a:solidFill>
                <a:latin typeface="Consolas"/>
              </a:rPr>
              <a:t>A017</a:t>
            </a:r>
            <a:r>
              <a:rPr lang="pt-BR" sz="2000" dirty="0" smtClean="0">
                <a:solidFill>
                  <a:srgbClr val="000000"/>
                </a:solidFill>
                <a:latin typeface="Consolas"/>
              </a:rPr>
              <a:t>"</a:t>
            </a:r>
            <a:r>
              <a:rPr lang="pt-BR" sz="2000" dirty="0" smtClean="0">
                <a:solidFill>
                  <a:srgbClr val="0000FF"/>
                </a:solidFill>
                <a:latin typeface="Consolas"/>
              </a:rPr>
              <a:t> </a:t>
            </a:r>
            <a:r>
              <a:rPr lang="pt-BR" sz="2000" dirty="0" smtClean="0">
                <a:solidFill>
                  <a:srgbClr val="FF0000"/>
                </a:solidFill>
                <a:latin typeface="Consolas"/>
              </a:rPr>
              <a:t>Qty</a:t>
            </a:r>
            <a:r>
              <a:rPr lang="pt-BR" sz="2000" dirty="0" smtClean="0">
                <a:solidFill>
                  <a:srgbClr val="0000FF"/>
                </a:solidFill>
                <a:latin typeface="Consolas"/>
              </a:rPr>
              <a:t>=</a:t>
            </a:r>
            <a:r>
              <a:rPr lang="pt-BR" sz="2000" dirty="0" smtClean="0">
                <a:solidFill>
                  <a:srgbClr val="000000"/>
                </a:solidFill>
                <a:latin typeface="Consolas"/>
              </a:rPr>
              <a:t>"</a:t>
            </a:r>
            <a:r>
              <a:rPr lang="pt-BR" sz="2000" dirty="0" smtClean="0">
                <a:solidFill>
                  <a:srgbClr val="0000FF"/>
                </a:solidFill>
                <a:latin typeface="Consolas"/>
              </a:rPr>
              <a:t>1</a:t>
            </a:r>
            <a:r>
              <a:rPr lang="pt-BR" sz="2000" dirty="0" smtClean="0">
                <a:solidFill>
                  <a:srgbClr val="000000"/>
                </a:solidFill>
                <a:latin typeface="Consolas"/>
              </a:rPr>
              <a:t>"</a:t>
            </a:r>
            <a:r>
              <a:rPr lang="pt-BR" sz="2000" dirty="0" smtClean="0">
                <a:solidFill>
                  <a:srgbClr val="0000FF"/>
                </a:solidFill>
                <a:latin typeface="Consolas"/>
              </a:rPr>
              <a:t> /&gt;</a:t>
            </a:r>
            <a:endParaRPr lang="pt-BR" sz="2000" dirty="0" smtClean="0">
              <a:solidFill>
                <a:srgbClr val="000000"/>
              </a:solidFill>
              <a:latin typeface="Consolas"/>
            </a:endParaRPr>
          </a:p>
          <a:p>
            <a:pPr>
              <a:buNone/>
            </a:pPr>
            <a:r>
              <a:rPr lang="en-US" sz="2000" dirty="0" smtClean="0">
                <a:solidFill>
                  <a:srgbClr val="0000FF"/>
                </a:solidFill>
                <a:latin typeface="Consolas"/>
              </a:rPr>
              <a:t>    &lt;/</a:t>
            </a:r>
            <a:r>
              <a:rPr lang="en-US" sz="2000" dirty="0" err="1" smtClean="0">
                <a:solidFill>
                  <a:srgbClr val="A31515"/>
                </a:solidFill>
                <a:latin typeface="Consolas"/>
              </a:rPr>
              <a:t>LineItems</a:t>
            </a:r>
            <a:r>
              <a:rPr lang="en-US" sz="2000" dirty="0" smtClean="0">
                <a:solidFill>
                  <a:srgbClr val="0000FF"/>
                </a:solidFill>
                <a:latin typeface="Consolas"/>
              </a:rPr>
              <a:t>&gt;</a:t>
            </a:r>
          </a:p>
          <a:p>
            <a:pPr>
              <a:buNone/>
            </a:pPr>
            <a:r>
              <a:rPr lang="en-US" sz="2000" dirty="0" smtClean="0">
                <a:solidFill>
                  <a:srgbClr val="0000FF"/>
                </a:solidFill>
                <a:latin typeface="Consolas"/>
              </a:rPr>
              <a:t>...</a:t>
            </a:r>
            <a:endParaRPr lang="en-US" sz="2000" dirty="0" smtClean="0">
              <a:solidFill>
                <a:srgbClr val="000000"/>
              </a:solidFill>
              <a:latin typeface="Consolas"/>
            </a:endParaRPr>
          </a:p>
          <a:p>
            <a:pPr>
              <a:buNone/>
            </a:pPr>
            <a:r>
              <a:rPr lang="en-US" sz="2000" dirty="0" smtClean="0">
                <a:solidFill>
                  <a:srgbClr val="0000FF"/>
                </a:solidFill>
                <a:latin typeface="Consolas"/>
              </a:rPr>
              <a:t>  </a:t>
            </a:r>
            <a:endParaRPr lang="en-US" sz="2000" b="1" i="1" dirty="0" smtClean="0">
              <a:solidFill>
                <a:srgbClr val="C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7947</TotalTime>
  <Words>1085</Words>
  <Application>Microsoft Office PowerPoint</Application>
  <PresentationFormat>On-screen Show (4:3)</PresentationFormat>
  <Paragraphs>170</Paragraphs>
  <Slides>32</Slides>
  <Notes>4</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Joins, Subqueries, and CTEs</vt:lpstr>
      <vt:lpstr>Objectives</vt:lpstr>
      <vt:lpstr>Contents</vt:lpstr>
      <vt:lpstr>References</vt:lpstr>
      <vt:lpstr>Relational Algebra</vt:lpstr>
      <vt:lpstr>Relational Operators</vt:lpstr>
      <vt:lpstr>Subqueries</vt:lpstr>
      <vt:lpstr>Inner Joins</vt:lpstr>
      <vt:lpstr>Outer Joins</vt:lpstr>
      <vt:lpstr>Full Outer Joins</vt:lpstr>
      <vt:lpstr>Slide 11</vt:lpstr>
      <vt:lpstr>Aggregates</vt:lpstr>
      <vt:lpstr>ANY_VALUE</vt:lpstr>
      <vt:lpstr>GROUP BY</vt:lpstr>
      <vt:lpstr>GROUP BY: Non-aggregated Values</vt:lpstr>
      <vt:lpstr>HAVING</vt:lpstr>
      <vt:lpstr>Strings: LIKE</vt:lpstr>
      <vt:lpstr>Output Redirection</vt:lpstr>
      <vt:lpstr>ORDER BY</vt:lpstr>
      <vt:lpstr>ROW_NUMBER</vt:lpstr>
      <vt:lpstr>RANK</vt:lpstr>
      <vt:lpstr>Slide 22</vt:lpstr>
      <vt:lpstr>Subqueries</vt:lpstr>
      <vt:lpstr>Simple Subqueries</vt:lpstr>
      <vt:lpstr>Common Table Expressions</vt:lpstr>
      <vt:lpstr>2 CTEs</vt:lpstr>
      <vt:lpstr>Recursive CTE</vt:lpstr>
      <vt:lpstr>SUM</vt:lpstr>
      <vt:lpstr>FOR XML</vt:lpstr>
      <vt:lpstr>FOR XML Example</vt:lpstr>
      <vt:lpstr>FOR XML Result</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4113</cp:revision>
  <dcterms:created xsi:type="dcterms:W3CDTF">2007-10-06T08:25:13Z</dcterms:created>
  <dcterms:modified xsi:type="dcterms:W3CDTF">2024-11-07T20:05:11Z</dcterms:modified>
</cp:coreProperties>
</file>