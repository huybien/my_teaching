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6"/>
  </p:notesMasterIdLst>
  <p:sldIdLst>
    <p:sldId id="470" r:id="rId2"/>
    <p:sldId id="471" r:id="rId3"/>
    <p:sldId id="472" r:id="rId4"/>
    <p:sldId id="473" r:id="rId5"/>
    <p:sldId id="440" r:id="rId6"/>
    <p:sldId id="441" r:id="rId7"/>
    <p:sldId id="457" r:id="rId8"/>
    <p:sldId id="458" r:id="rId9"/>
    <p:sldId id="442" r:id="rId10"/>
    <p:sldId id="444" r:id="rId11"/>
    <p:sldId id="445" r:id="rId12"/>
    <p:sldId id="446" r:id="rId13"/>
    <p:sldId id="447" r:id="rId14"/>
    <p:sldId id="448" r:id="rId15"/>
    <p:sldId id="449" r:id="rId16"/>
    <p:sldId id="450" r:id="rId17"/>
    <p:sldId id="479" r:id="rId18"/>
    <p:sldId id="438" r:id="rId19"/>
    <p:sldId id="439" r:id="rId20"/>
    <p:sldId id="467" r:id="rId21"/>
    <p:sldId id="436" r:id="rId22"/>
    <p:sldId id="370" r:id="rId23"/>
    <p:sldId id="460" r:id="rId24"/>
    <p:sldId id="462" r:id="rId25"/>
    <p:sldId id="461" r:id="rId26"/>
    <p:sldId id="465" r:id="rId27"/>
    <p:sldId id="464" r:id="rId28"/>
    <p:sldId id="466" r:id="rId29"/>
    <p:sldId id="468" r:id="rId30"/>
    <p:sldId id="469" r:id="rId31"/>
    <p:sldId id="478" r:id="rId32"/>
    <p:sldId id="476" r:id="rId33"/>
    <p:sldId id="477" r:id="rId34"/>
    <p:sldId id="343" r:id="rId3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6928" autoAdjust="0"/>
    <p:restoredTop sz="94667" autoAdjust="0"/>
  </p:normalViewPr>
  <p:slideViewPr>
    <p:cSldViewPr>
      <p:cViewPr>
        <p:scale>
          <a:sx n="50" d="100"/>
          <a:sy n="50" d="100"/>
        </p:scale>
        <p:origin x="-1476"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78BF5F87-2049-40AA-8F46-716DC689E9FB}" type="datetimeFigureOut">
              <a:rPr lang="en-US"/>
              <a:pPr>
                <a:defRPr/>
              </a:pPr>
              <a:t>8/4/2025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C37162A9-E817-4FA2-8116-DD6AC9B6A8B4}"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6CAA961E-6EE8-4039-A1A6-0EABAAE5E2EB}" type="datetimeFigureOut">
              <a:rPr lang="en-US"/>
              <a:pPr>
                <a:defRPr/>
              </a:pPr>
              <a:t>8/4/2025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BE35CB4-CF17-47D7-96AA-936BDDDE12B6}"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EE51540E-C53B-42C6-8099-BB6606CE1021}" type="datetimeFigureOut">
              <a:rPr lang="en-US"/>
              <a:pPr>
                <a:defRPr/>
              </a:pPr>
              <a:t>8/4/2025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A26FCBC-189E-4F52-973B-BFB0750B295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13B92E-91CA-4FE6-965A-F01C7ACEF459}" type="datetimeFigureOut">
              <a:rPr lang="en-US"/>
              <a:pPr>
                <a:defRPr/>
              </a:pPr>
              <a:t>8/4/2025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D367505-FC9C-4829-A2C5-8D9539F50D1D}"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C52D384C-9A4E-461B-BB23-F93A3AAF3419}" type="datetimeFigureOut">
              <a:rPr lang="en-US"/>
              <a:pPr>
                <a:defRPr/>
              </a:pPr>
              <a:t>8/4/2025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A97F266-8102-4D7C-B0FA-72A1D71C4A9F}"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AAC8FED-8EC6-4E03-8633-F9D63165028A}" type="datetimeFigureOut">
              <a:rPr lang="en-US"/>
              <a:pPr>
                <a:defRPr/>
              </a:pPr>
              <a:t>8/4/2025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9A0AA738-E070-4C7D-8215-A9E9186978F6}"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B9109C7D-7857-432A-8DD8-5C43F7E3C7CF}" type="datetimeFigureOut">
              <a:rPr lang="en-US"/>
              <a:pPr>
                <a:defRPr/>
              </a:pPr>
              <a:t>8/4/2025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8DBA6BF-B89E-4B84-9284-BF0D71643284}"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94341F6-3120-4451-901B-8E96C2128DE4}" type="datetimeFigureOut">
              <a:rPr lang="en-US"/>
              <a:pPr>
                <a:defRPr/>
              </a:pPr>
              <a:t>8/4/2025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3D516167-3E32-49C7-B449-23B33F33516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E52B12F5-6CA7-4A24-8F05-2D2ACC989520}" type="datetimeFigureOut">
              <a:rPr lang="en-US"/>
              <a:pPr>
                <a:defRPr/>
              </a:pPr>
              <a:t>8/4/2025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8A50DFC-223B-4C17-8EA5-A3BC2E2B700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4BCF139-0BFF-4962-91BE-1F1514D86238}" type="datetimeFigureOut">
              <a:rPr lang="en-US"/>
              <a:pPr>
                <a:defRPr/>
              </a:pPr>
              <a:t>8/4/2025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B27F731-B728-442B-8D29-57522735D897}"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5F3ECA0-F5DD-4989-8D08-A636380CF86F}" type="datetimeFigureOut">
              <a:rPr lang="en-US"/>
              <a:pPr>
                <a:defRPr/>
              </a:pPr>
              <a:t>8/4/2025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EA18408-4541-4111-8F56-46B363D97B61}"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D533026-B6A9-4D4E-A2BD-3141F8B632E9}" type="datetimeFigureOut">
              <a:rPr lang="en-US"/>
              <a:pPr>
                <a:defRPr/>
              </a:pPr>
              <a:t>8/4/2025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798B7DE-CC25-4488-B0E3-2CD008C0959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075"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EDB71AD6-D82A-46BB-BB7B-8ABE21D04123}" type="datetimeFigureOut">
              <a:rPr lang="en-US"/>
              <a:pPr>
                <a:defRPr/>
              </a:pPr>
              <a:t>8/4/2025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0B29163-B4D0-4B08-BCE5-40FF1D4EF817}"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angular.io/"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reactjs.org/"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vuejs.org/"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backbonejs.org/"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gruntjs.com/"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bower.io/"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lit.dev/"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stenciljs.com/"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normAutofit/>
          </a:bodyPr>
          <a:lstStyle/>
          <a:p>
            <a:r>
              <a:rPr lang="en-US" sz="6000" dirty="0" smtClean="0"/>
              <a:t>Single Page Application</a:t>
            </a:r>
          </a:p>
        </p:txBody>
      </p:sp>
      <p:sp>
        <p:nvSpPr>
          <p:cNvPr id="3" name="Subtitle 2"/>
          <p:cNvSpPr>
            <a:spLocks noGrp="1"/>
          </p:cNvSpPr>
          <p:nvPr>
            <p:ph type="subTitle" idx="1"/>
          </p:nvPr>
        </p:nvSpPr>
        <p:spPr/>
        <p:txBody>
          <a:bodyPr rtlCol="0">
            <a:normAutofit fontScale="40000" lnSpcReduction="20000"/>
          </a:bodyPr>
          <a:lstStyle/>
          <a:p>
            <a:pPr>
              <a:defRPr/>
            </a:pPr>
            <a:r>
              <a:rPr lang="en-US" sz="5400" dirty="0" smtClean="0"/>
              <a:t>Lecturer: Ngo Huy Bien</a:t>
            </a:r>
          </a:p>
          <a:p>
            <a:pPr>
              <a:defRPr/>
            </a:pPr>
            <a:r>
              <a:rPr lang="en-US" sz="4400" dirty="0" smtClean="0"/>
              <a:t>Software Engineering Department</a:t>
            </a:r>
          </a:p>
          <a:p>
            <a:pPr>
              <a:defRPr/>
            </a:pPr>
            <a:r>
              <a:rPr lang="en-US" sz="4400" dirty="0" smtClean="0"/>
              <a:t>Faculty of Information Technology</a:t>
            </a:r>
          </a:p>
          <a:p>
            <a:pPr>
              <a:defRPr/>
            </a:pPr>
            <a:r>
              <a:rPr lang="en-US" sz="4400" dirty="0" smtClean="0"/>
              <a:t>VNUHCM - University of Science</a:t>
            </a:r>
          </a:p>
          <a:p>
            <a:pPr>
              <a:defRPr/>
            </a:pPr>
            <a:r>
              <a:rPr lang="en-US" sz="4400" dirty="0" smtClean="0"/>
              <a:t>Ho Chi Minh City, Vietnam</a:t>
            </a:r>
          </a:p>
          <a:p>
            <a:pPr>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1"/>
            <a:ext cx="5562600" cy="4114799"/>
          </a:xfrm>
        </p:spPr>
        <p:txBody>
          <a:bodyPr/>
          <a:lstStyle/>
          <a:p>
            <a:pPr marL="571500" indent="-514350">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00750" y="2438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
        <p:nvSpPr>
          <p:cNvPr id="3" name="Content Placeholder 2"/>
          <p:cNvSpPr>
            <a:spLocks noGrp="1"/>
          </p:cNvSpPr>
          <p:nvPr>
            <p:ph idx="1"/>
          </p:nvPr>
        </p:nvSpPr>
        <p:spPr>
          <a:xfrm>
            <a:off x="457200" y="1752600"/>
            <a:ext cx="5867400" cy="3992563"/>
          </a:xfrm>
        </p:spPr>
        <p:txBody>
          <a:bodyPr>
            <a:normAutofit/>
          </a:bodyPr>
          <a:lstStyle/>
          <a:p>
            <a:pPr marL="457200" lvl="0" indent="-457200">
              <a:buFont typeface="+mj-lt"/>
              <a:buAutoNum type="arabicPeriod"/>
            </a:pPr>
            <a:r>
              <a:rPr lang="en-US" sz="2400" dirty="0" err="1" smtClean="0"/>
              <a:t>Emmit</a:t>
            </a:r>
            <a:r>
              <a:rPr lang="en-US" sz="2400" dirty="0" smtClean="0"/>
              <a:t> Scott (2015). SPA Design and Architecture. Manning Publications.</a:t>
            </a:r>
          </a:p>
          <a:p>
            <a:pPr marL="457200" lvl="0" indent="-457200">
              <a:buFont typeface="+mj-lt"/>
              <a:buAutoNum type="arabicPeriod"/>
            </a:pPr>
            <a:r>
              <a:rPr lang="en-US" sz="2400" dirty="0" smtClean="0"/>
              <a:t>Michael S. </a:t>
            </a:r>
            <a:r>
              <a:rPr lang="en-US" sz="2400" dirty="0" err="1" smtClean="0"/>
              <a:t>Mikowski</a:t>
            </a:r>
            <a:r>
              <a:rPr lang="en-US" sz="2400" dirty="0" smtClean="0"/>
              <a:t> and Josh C. Powell (2013). Single Page Web Applications - JavaScript End-to-End. Manning Publications.</a:t>
            </a:r>
          </a:p>
          <a:p>
            <a:pPr marL="457200" lvl="0" indent="-457200">
              <a:buFont typeface="+mj-lt"/>
              <a:buAutoNum type="arabicPeriod"/>
            </a:pPr>
            <a:r>
              <a:rPr lang="en-US" sz="2400" dirty="0" smtClean="0"/>
              <a:t>Bruno Joseph </a:t>
            </a:r>
            <a:r>
              <a:rPr lang="en-US" sz="2400" dirty="0" err="1" smtClean="0"/>
              <a:t>D'mello</a:t>
            </a:r>
            <a:r>
              <a:rPr lang="en-US" sz="2400" dirty="0" smtClean="0"/>
              <a:t> </a:t>
            </a:r>
            <a:r>
              <a:rPr lang="en-US" sz="2400" dirty="0" smtClean="0"/>
              <a:t>et al. (2017). Web Development with </a:t>
            </a:r>
            <a:r>
              <a:rPr lang="en-US" sz="2400" dirty="0" err="1" smtClean="0"/>
              <a:t>MongoDB</a:t>
            </a:r>
            <a:r>
              <a:rPr lang="en-US" sz="2400" dirty="0" smtClean="0"/>
              <a:t> and Node</a:t>
            </a:r>
            <a:r>
              <a:rPr lang="en-US" sz="2400" dirty="0" smtClean="0"/>
              <a:t>.</a:t>
            </a:r>
          </a:p>
          <a:p>
            <a:pPr marL="457200" lvl="0" indent="-457200">
              <a:buFont typeface="+mj-lt"/>
              <a:buAutoNum type="arabicPeriod"/>
            </a:pPr>
            <a:r>
              <a:rPr lang="en-US" sz="2400" dirty="0" smtClean="0"/>
              <a:t>Luca </a:t>
            </a:r>
            <a:r>
              <a:rPr lang="en-US" sz="2400" dirty="0" err="1" smtClean="0"/>
              <a:t>Mezzalira</a:t>
            </a:r>
            <a:r>
              <a:rPr lang="en-US" sz="2400" dirty="0" smtClean="0"/>
              <a:t> (2022). Building Micro-Frontends. </a:t>
            </a:r>
            <a:r>
              <a:rPr lang="en-US" sz="2400" dirty="0" smtClean="0"/>
              <a:t>O'Reilly Media.</a:t>
            </a:r>
            <a:endParaRPr lang="en-US" sz="24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Traditional Web Application [1]</a:t>
            </a:r>
            <a:endParaRPr lang="en-US" dirty="0"/>
          </a:p>
        </p:txBody>
      </p:sp>
      <p:sp>
        <p:nvSpPr>
          <p:cNvPr id="3" name="Content Placeholder 2"/>
          <p:cNvSpPr>
            <a:spLocks noGrp="1"/>
          </p:cNvSpPr>
          <p:nvPr>
            <p:ph idx="1"/>
          </p:nvPr>
        </p:nvSpPr>
        <p:spPr>
          <a:xfrm>
            <a:off x="457200" y="1600200"/>
            <a:ext cx="3962400" cy="4525963"/>
          </a:xfrm>
        </p:spPr>
        <p:txBody>
          <a:bodyPr/>
          <a:lstStyle/>
          <a:p>
            <a:r>
              <a:rPr lang="en-US" dirty="0" smtClean="0"/>
              <a:t>In a traditional web application, each new view (HTML page) is constructed on the server.</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4724400" y="1212850"/>
            <a:ext cx="3975100" cy="541655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Single-Page Web Application</a:t>
            </a:r>
            <a:endParaRPr lang="en-US" dirty="0"/>
          </a:p>
        </p:txBody>
      </p:sp>
      <p:sp>
        <p:nvSpPr>
          <p:cNvPr id="3" name="Content Placeholder 2"/>
          <p:cNvSpPr>
            <a:spLocks noGrp="1"/>
          </p:cNvSpPr>
          <p:nvPr>
            <p:ph idx="1"/>
          </p:nvPr>
        </p:nvSpPr>
        <p:spPr>
          <a:xfrm>
            <a:off x="457200" y="1600200"/>
            <a:ext cx="3962400" cy="4525963"/>
          </a:xfrm>
        </p:spPr>
        <p:txBody>
          <a:bodyPr/>
          <a:lstStyle/>
          <a:p>
            <a:r>
              <a:rPr lang="en-US" dirty="0" smtClean="0"/>
              <a:t>In an SPA, the presentation layer moves to the client-side code, and transactions </a:t>
            </a:r>
            <a:r>
              <a:rPr lang="en-US" i="1" dirty="0" smtClean="0">
                <a:solidFill>
                  <a:srgbClr val="C00000"/>
                </a:solidFill>
              </a:rPr>
              <a:t>never require a browser refresh</a:t>
            </a:r>
            <a:r>
              <a:rPr lang="en-US" dirty="0" smtClean="0"/>
              <a:t>.</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572000" y="1428750"/>
            <a:ext cx="4127500" cy="512445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Little History [2]</a:t>
            </a:r>
            <a:endParaRPr lang="en-US" dirty="0"/>
          </a:p>
        </p:txBody>
      </p:sp>
      <p:sp>
        <p:nvSpPr>
          <p:cNvPr id="3" name="Content Placeholder 2"/>
          <p:cNvSpPr>
            <a:spLocks noGrp="1"/>
          </p:cNvSpPr>
          <p:nvPr>
            <p:ph idx="1"/>
          </p:nvPr>
        </p:nvSpPr>
        <p:spPr/>
        <p:txBody>
          <a:bodyPr/>
          <a:lstStyle/>
          <a:p>
            <a:r>
              <a:rPr lang="en-US" sz="2400" dirty="0" smtClean="0"/>
              <a:t>The </a:t>
            </a:r>
            <a:r>
              <a:rPr lang="en-US" sz="2400" i="1" dirty="0" smtClean="0">
                <a:solidFill>
                  <a:srgbClr val="C00000"/>
                </a:solidFill>
              </a:rPr>
              <a:t>Java applets</a:t>
            </a:r>
            <a:r>
              <a:rPr lang="en-US" sz="2400" dirty="0" smtClean="0"/>
              <a:t> approach.</a:t>
            </a:r>
          </a:p>
          <a:p>
            <a:r>
              <a:rPr lang="en-US" sz="2400" dirty="0" smtClean="0"/>
              <a:t>The </a:t>
            </a:r>
            <a:r>
              <a:rPr lang="en-US" sz="2400" i="1" dirty="0" smtClean="0">
                <a:solidFill>
                  <a:srgbClr val="C00000"/>
                </a:solidFill>
              </a:rPr>
              <a:t>Flash/Flex</a:t>
            </a:r>
            <a:r>
              <a:rPr lang="en-US" sz="2400" dirty="0" smtClean="0"/>
              <a:t> approach.</a:t>
            </a:r>
          </a:p>
          <a:p>
            <a:r>
              <a:rPr lang="en-US" sz="2400" dirty="0" smtClean="0"/>
              <a:t>What took </a:t>
            </a:r>
            <a:r>
              <a:rPr lang="en-US" sz="2400" i="1" dirty="0" smtClean="0">
                <a:solidFill>
                  <a:srgbClr val="C00000"/>
                </a:solidFill>
              </a:rPr>
              <a:t>JavaScript SPAs</a:t>
            </a:r>
            <a:r>
              <a:rPr lang="en-US" sz="2400" dirty="0" smtClean="0"/>
              <a:t> so long?</a:t>
            </a:r>
          </a:p>
          <a:p>
            <a:pPr lvl="1"/>
            <a:r>
              <a:rPr lang="en-US" sz="1800" dirty="0" smtClean="0"/>
              <a:t>HTML5, SVG, and CSS3 </a:t>
            </a:r>
            <a:r>
              <a:rPr lang="en-US" sz="1800" u="sng" dirty="0" smtClean="0"/>
              <a:t>standards</a:t>
            </a:r>
            <a:r>
              <a:rPr lang="en-US" sz="1800" dirty="0" smtClean="0"/>
              <a:t> and support have advanced—These advancements allow for the </a:t>
            </a:r>
            <a:r>
              <a:rPr lang="en-US" sz="1800" u="sng" dirty="0" smtClean="0"/>
              <a:t>rendering</a:t>
            </a:r>
            <a:r>
              <a:rPr lang="en-US" sz="1800" dirty="0" smtClean="0"/>
              <a:t> of pixel-perfect graphics that can rival the speed and quality produced by Java or Flash.</a:t>
            </a:r>
          </a:p>
          <a:p>
            <a:pPr lvl="1"/>
            <a:r>
              <a:rPr lang="en-US" sz="1800" dirty="0" smtClean="0"/>
              <a:t>JavaScript now is </a:t>
            </a:r>
            <a:r>
              <a:rPr lang="en-US" sz="1800" u="sng" dirty="0" smtClean="0"/>
              <a:t>cross-platform</a:t>
            </a:r>
            <a:r>
              <a:rPr lang="en-US" sz="1800" dirty="0" smtClean="0"/>
              <a:t> due to converging implementations of </a:t>
            </a:r>
            <a:r>
              <a:rPr lang="en-US" sz="1800" u="sng" dirty="0" smtClean="0"/>
              <a:t>standards</a:t>
            </a:r>
            <a:r>
              <a:rPr lang="en-US" sz="1800" dirty="0" smtClean="0"/>
              <a:t> across browsers.</a:t>
            </a:r>
          </a:p>
          <a:p>
            <a:pPr lvl="1"/>
            <a:r>
              <a:rPr lang="en-US" sz="1800" dirty="0" smtClean="0"/>
              <a:t>JavaScript has become surprisingly fast—Modern JavaScript implementations enjoy advanced optimizations such as JIT compilation to native machine code, branch prediction, type-inference, and multi-threading.</a:t>
            </a:r>
          </a:p>
          <a:p>
            <a:pPr lvl="1"/>
            <a:r>
              <a:rPr lang="en-US" sz="1800" dirty="0" smtClean="0"/>
              <a:t>JavaScript has evolved to include advanced features—These features include the JSON native object, native </a:t>
            </a:r>
            <a:r>
              <a:rPr lang="en-US" sz="1800" dirty="0" err="1" smtClean="0"/>
              <a:t>jQuery</a:t>
            </a:r>
            <a:r>
              <a:rPr lang="en-US" sz="1800" dirty="0" smtClean="0"/>
              <a:t>-style selectors, and more </a:t>
            </a:r>
            <a:r>
              <a:rPr lang="en-US" sz="1800" u="sng" dirty="0" smtClean="0"/>
              <a:t>consistent AJAX capabilities</a:t>
            </a:r>
            <a:r>
              <a:rPr lang="en-US" sz="1800" dirty="0" smtClean="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From Traditional WA To SPA</a:t>
            </a:r>
            <a:endParaRPr lang="en-US" dirty="0"/>
          </a:p>
        </p:txBody>
      </p:sp>
      <p:sp>
        <p:nvSpPr>
          <p:cNvPr id="3" name="Content Placeholder 2"/>
          <p:cNvSpPr>
            <a:spLocks noGrp="1"/>
          </p:cNvSpPr>
          <p:nvPr>
            <p:ph idx="1"/>
          </p:nvPr>
        </p:nvSpPr>
        <p:spPr>
          <a:xfrm>
            <a:off x="457200" y="5105400"/>
            <a:ext cx="8229600" cy="1295400"/>
          </a:xfrm>
        </p:spPr>
        <p:txBody>
          <a:bodyPr/>
          <a:lstStyle/>
          <a:p>
            <a:r>
              <a:rPr lang="en-US" sz="2400" dirty="0" smtClean="0"/>
              <a:t>The business logic and generation of HTML migrates from the server to the client.</a:t>
            </a:r>
          </a:p>
          <a:p>
            <a:r>
              <a:rPr lang="en-US" sz="2400" dirty="0" smtClean="0">
                <a:solidFill>
                  <a:srgbClr val="C00000"/>
                </a:solidFill>
              </a:rPr>
              <a:t>Note: Business logic = navigation + data presentation.</a:t>
            </a:r>
            <a:endParaRPr lang="en-US" sz="2400" dirty="0">
              <a:solidFill>
                <a:srgbClr val="C00000"/>
              </a:solidFill>
            </a:endParaRPr>
          </a:p>
        </p:txBody>
      </p:sp>
      <p:pic>
        <p:nvPicPr>
          <p:cNvPr id="2052" name="Picture 4"/>
          <p:cNvPicPr>
            <a:picLocks noChangeAspect="1" noChangeArrowheads="1"/>
          </p:cNvPicPr>
          <p:nvPr/>
        </p:nvPicPr>
        <p:blipFill>
          <a:blip r:embed="rId2" cstate="print"/>
          <a:srcRect/>
          <a:stretch>
            <a:fillRect/>
          </a:stretch>
        </p:blipFill>
        <p:spPr bwMode="auto">
          <a:xfrm>
            <a:off x="1752600" y="1371600"/>
            <a:ext cx="5855970" cy="364617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SPA Shell [1]</a:t>
            </a:r>
            <a:endParaRPr lang="en-US" dirty="0"/>
          </a:p>
        </p:txBody>
      </p:sp>
      <p:sp>
        <p:nvSpPr>
          <p:cNvPr id="3" name="Content Placeholder 2"/>
          <p:cNvSpPr>
            <a:spLocks noGrp="1"/>
          </p:cNvSpPr>
          <p:nvPr>
            <p:ph idx="1"/>
          </p:nvPr>
        </p:nvSpPr>
        <p:spPr>
          <a:xfrm>
            <a:off x="457200" y="1600200"/>
            <a:ext cx="3733800" cy="4525963"/>
          </a:xfrm>
        </p:spPr>
        <p:txBody>
          <a:bodyPr/>
          <a:lstStyle/>
          <a:p>
            <a:r>
              <a:rPr lang="en-US" sz="2400" dirty="0" smtClean="0"/>
              <a:t>The single-page part of the SPA refers to </a:t>
            </a:r>
            <a:r>
              <a:rPr lang="en-US" sz="2400" u="sng" dirty="0" smtClean="0"/>
              <a:t>the initial HTML file</a:t>
            </a:r>
            <a:r>
              <a:rPr lang="en-US" sz="2400" dirty="0" smtClean="0"/>
              <a:t>, or </a:t>
            </a:r>
            <a:r>
              <a:rPr lang="en-US" sz="2400" i="1" dirty="0" smtClean="0">
                <a:solidFill>
                  <a:srgbClr val="C00000"/>
                </a:solidFill>
              </a:rPr>
              <a:t>shell</a:t>
            </a:r>
            <a:r>
              <a:rPr lang="en-US" sz="2400" dirty="0" smtClean="0"/>
              <a:t>.</a:t>
            </a:r>
          </a:p>
          <a:p>
            <a:r>
              <a:rPr lang="en-US" sz="2400" dirty="0" smtClean="0"/>
              <a:t>This single HTML file is loaded once and only once, and it serves as the </a:t>
            </a:r>
            <a:r>
              <a:rPr lang="en-US" sz="2400" i="1" dirty="0" smtClean="0">
                <a:solidFill>
                  <a:srgbClr val="C00000"/>
                </a:solidFill>
              </a:rPr>
              <a:t>starting point</a:t>
            </a:r>
            <a:r>
              <a:rPr lang="en-US" sz="2400" dirty="0" smtClean="0"/>
              <a:t> for the rest of the application.</a:t>
            </a:r>
            <a:endParaRPr lang="en-US" sz="2400" dirty="0"/>
          </a:p>
        </p:txBody>
      </p:sp>
      <p:pic>
        <p:nvPicPr>
          <p:cNvPr id="3074" name="Picture 2"/>
          <p:cNvPicPr>
            <a:picLocks noChangeAspect="1" noChangeArrowheads="1"/>
          </p:cNvPicPr>
          <p:nvPr/>
        </p:nvPicPr>
        <p:blipFill>
          <a:blip r:embed="rId2" cstate="print"/>
          <a:srcRect/>
          <a:stretch>
            <a:fillRect/>
          </a:stretch>
        </p:blipFill>
        <p:spPr bwMode="auto">
          <a:xfrm>
            <a:off x="4267200" y="2362200"/>
            <a:ext cx="4400550" cy="333375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Regions</a:t>
            </a:r>
            <a:endParaRPr lang="en-US" dirty="0"/>
          </a:p>
        </p:txBody>
      </p:sp>
      <p:sp>
        <p:nvSpPr>
          <p:cNvPr id="3" name="Content Placeholder 2"/>
          <p:cNvSpPr>
            <a:spLocks noGrp="1"/>
          </p:cNvSpPr>
          <p:nvPr>
            <p:ph idx="1"/>
          </p:nvPr>
        </p:nvSpPr>
        <p:spPr>
          <a:xfrm>
            <a:off x="457200" y="1600201"/>
            <a:ext cx="8229600" cy="1828800"/>
          </a:xfrm>
        </p:spPr>
        <p:txBody>
          <a:bodyPr/>
          <a:lstStyle/>
          <a:p>
            <a:r>
              <a:rPr lang="en-US" sz="2400" dirty="0" smtClean="0"/>
              <a:t>The initial container DIV can have </a:t>
            </a:r>
            <a:r>
              <a:rPr lang="en-US" sz="2400" u="sng" dirty="0" smtClean="0"/>
              <a:t>child containers</a:t>
            </a:r>
            <a:r>
              <a:rPr lang="en-US" sz="2400" dirty="0" smtClean="0"/>
              <a:t> beneath it if the </a:t>
            </a:r>
            <a:r>
              <a:rPr lang="en-US" sz="2400" dirty="0" smtClean="0"/>
              <a:t>application's </a:t>
            </a:r>
            <a:r>
              <a:rPr lang="en-US" sz="2400" dirty="0" smtClean="0"/>
              <a:t>viewable area is divided into subsections.</a:t>
            </a:r>
          </a:p>
          <a:p>
            <a:r>
              <a:rPr lang="en-US" sz="2400" dirty="0" smtClean="0"/>
              <a:t>Subsections of the shell are called </a:t>
            </a:r>
            <a:r>
              <a:rPr lang="en-US" sz="2400" i="1" dirty="0" smtClean="0">
                <a:solidFill>
                  <a:srgbClr val="C00000"/>
                </a:solidFill>
              </a:rPr>
              <a:t>regions</a:t>
            </a:r>
            <a:r>
              <a:rPr lang="en-US" sz="2400" dirty="0" smtClean="0"/>
              <a:t>.</a:t>
            </a:r>
          </a:p>
          <a:p>
            <a:r>
              <a:rPr lang="en-US" sz="2400" dirty="0" smtClean="0"/>
              <a:t>A </a:t>
            </a:r>
            <a:r>
              <a:rPr lang="en-US" sz="2400" dirty="0" smtClean="0"/>
              <a:t>region's </a:t>
            </a:r>
            <a:r>
              <a:rPr lang="en-US" sz="2400" dirty="0" smtClean="0"/>
              <a:t>content is provided by a </a:t>
            </a:r>
            <a:r>
              <a:rPr lang="en-US" sz="2400" i="1" dirty="0" smtClean="0">
                <a:solidFill>
                  <a:srgbClr val="C00000"/>
                </a:solidFill>
              </a:rPr>
              <a:t>view</a:t>
            </a:r>
            <a:r>
              <a:rPr lang="en-US" sz="2400" dirty="0" smtClean="0"/>
              <a:t>.</a:t>
            </a:r>
            <a:endParaRPr lang="en-US" sz="2400" dirty="0"/>
          </a:p>
        </p:txBody>
      </p:sp>
      <p:pic>
        <p:nvPicPr>
          <p:cNvPr id="4" name="Picture 2"/>
          <p:cNvPicPr>
            <a:picLocks noChangeAspect="1" noChangeArrowheads="1"/>
          </p:cNvPicPr>
          <p:nvPr/>
        </p:nvPicPr>
        <p:blipFill>
          <a:blip r:embed="rId2" cstate="print"/>
          <a:srcRect/>
          <a:stretch>
            <a:fillRect/>
          </a:stretch>
        </p:blipFill>
        <p:spPr bwMode="auto">
          <a:xfrm>
            <a:off x="2362200" y="3581400"/>
            <a:ext cx="4480560" cy="2691765"/>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Traditional Site Design</a:t>
            </a:r>
            <a:endParaRPr lang="en-US" dirty="0"/>
          </a:p>
        </p:txBody>
      </p:sp>
      <p:sp>
        <p:nvSpPr>
          <p:cNvPr id="3" name="Content Placeholder 2"/>
          <p:cNvSpPr>
            <a:spLocks noGrp="1"/>
          </p:cNvSpPr>
          <p:nvPr>
            <p:ph idx="1"/>
          </p:nvPr>
        </p:nvSpPr>
        <p:spPr>
          <a:xfrm>
            <a:off x="457200" y="1600201"/>
            <a:ext cx="8229600" cy="1828800"/>
          </a:xfrm>
        </p:spPr>
        <p:txBody>
          <a:bodyPr/>
          <a:lstStyle/>
          <a:p>
            <a:r>
              <a:rPr lang="en-US" sz="2400" dirty="0" smtClean="0"/>
              <a:t>In traditional site design, each HTML file is a complete HTML page.</a:t>
            </a:r>
            <a:endParaRPr lang="en-US" sz="2400" dirty="0"/>
          </a:p>
        </p:txBody>
      </p:sp>
      <p:pic>
        <p:nvPicPr>
          <p:cNvPr id="5123" name="Picture 3"/>
          <p:cNvPicPr>
            <a:picLocks noChangeAspect="1" noChangeArrowheads="1"/>
          </p:cNvPicPr>
          <p:nvPr/>
        </p:nvPicPr>
        <p:blipFill>
          <a:blip r:embed="rId2" cstate="print"/>
          <a:srcRect/>
          <a:stretch>
            <a:fillRect/>
          </a:stretch>
        </p:blipFill>
        <p:spPr bwMode="auto">
          <a:xfrm>
            <a:off x="2087563" y="2743200"/>
            <a:ext cx="4968875" cy="32766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cstate="print"/>
          <a:srcRect/>
          <a:stretch>
            <a:fillRect/>
          </a:stretch>
        </p:blipFill>
        <p:spPr bwMode="auto">
          <a:xfrm>
            <a:off x="1501775" y="3241675"/>
            <a:ext cx="6140450" cy="338772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SPA Design</a:t>
            </a:r>
            <a:endParaRPr lang="en-US" dirty="0"/>
          </a:p>
        </p:txBody>
      </p:sp>
      <p:sp>
        <p:nvSpPr>
          <p:cNvPr id="3" name="Content Placeholder 2"/>
          <p:cNvSpPr>
            <a:spLocks noGrp="1"/>
          </p:cNvSpPr>
          <p:nvPr>
            <p:ph idx="1"/>
          </p:nvPr>
        </p:nvSpPr>
        <p:spPr>
          <a:xfrm>
            <a:off x="457200" y="1600201"/>
            <a:ext cx="8229600" cy="1828800"/>
          </a:xfrm>
        </p:spPr>
        <p:txBody>
          <a:bodyPr/>
          <a:lstStyle/>
          <a:p>
            <a:r>
              <a:rPr lang="en-US" sz="2000" dirty="0" smtClean="0"/>
              <a:t>In an SPA design, one complete HTML file contains placeholders for the </a:t>
            </a:r>
            <a:r>
              <a:rPr lang="en-US" sz="2000" i="1" dirty="0" smtClean="0">
                <a:solidFill>
                  <a:srgbClr val="C00000"/>
                </a:solidFill>
              </a:rPr>
              <a:t>HTML fragments</a:t>
            </a:r>
            <a:r>
              <a:rPr lang="en-US" sz="2000" dirty="0" smtClean="0"/>
              <a:t> stored in view files.</a:t>
            </a:r>
          </a:p>
          <a:p>
            <a:r>
              <a:rPr lang="en-US" sz="2000" dirty="0" smtClean="0"/>
              <a:t>When the application starts, the MV* framework inserts view 1. When the user navigates to what appears to be a new page, the framework is </a:t>
            </a:r>
            <a:r>
              <a:rPr lang="en-US" sz="2000" i="1" dirty="0" smtClean="0">
                <a:solidFill>
                  <a:srgbClr val="C00000"/>
                </a:solidFill>
              </a:rPr>
              <a:t>swapping</a:t>
            </a:r>
            <a:r>
              <a:rPr lang="en-US" sz="2000" dirty="0" smtClean="0"/>
              <a:t> view 1 for view 2.</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Template</a:t>
            </a:r>
            <a:endParaRPr lang="en-US" dirty="0"/>
          </a:p>
        </p:txBody>
      </p:sp>
      <p:sp>
        <p:nvSpPr>
          <p:cNvPr id="3" name="Content Placeholder 2"/>
          <p:cNvSpPr>
            <a:spLocks noGrp="1"/>
          </p:cNvSpPr>
          <p:nvPr>
            <p:ph idx="1"/>
          </p:nvPr>
        </p:nvSpPr>
        <p:spPr>
          <a:xfrm>
            <a:off x="457200" y="1600201"/>
            <a:ext cx="8229600" cy="1295399"/>
          </a:xfrm>
        </p:spPr>
        <p:txBody>
          <a:bodyPr/>
          <a:lstStyle/>
          <a:p>
            <a:r>
              <a:rPr lang="en-US" sz="2400" dirty="0" smtClean="0"/>
              <a:t>The skeletal HTML structure of each section, called a </a:t>
            </a:r>
            <a:r>
              <a:rPr lang="en-US" sz="2400" i="1" dirty="0" smtClean="0">
                <a:solidFill>
                  <a:srgbClr val="C00000"/>
                </a:solidFill>
              </a:rPr>
              <a:t>template</a:t>
            </a:r>
            <a:r>
              <a:rPr lang="en-US" sz="2400" dirty="0" smtClean="0"/>
              <a:t>, contains </a:t>
            </a:r>
            <a:r>
              <a:rPr lang="en-US" sz="2400" u="sng" dirty="0" smtClean="0"/>
              <a:t>placeholders</a:t>
            </a:r>
            <a:r>
              <a:rPr lang="en-US" sz="2400" dirty="0" smtClean="0"/>
              <a:t> for data.</a:t>
            </a:r>
          </a:p>
          <a:p>
            <a:r>
              <a:rPr lang="en-US" sz="2400" dirty="0" smtClean="0"/>
              <a:t>A </a:t>
            </a:r>
            <a:r>
              <a:rPr lang="en-US" sz="2400" i="1" dirty="0" smtClean="0">
                <a:solidFill>
                  <a:srgbClr val="C00000"/>
                </a:solidFill>
              </a:rPr>
              <a:t>view</a:t>
            </a:r>
            <a:r>
              <a:rPr lang="en-US" sz="2400" dirty="0" smtClean="0"/>
              <a:t> is the marriage of data and one or more templates.</a:t>
            </a:r>
            <a:endParaRPr lang="en-US" sz="2400" dirty="0"/>
          </a:p>
        </p:txBody>
      </p:sp>
      <p:pic>
        <p:nvPicPr>
          <p:cNvPr id="7171" name="Picture 3"/>
          <p:cNvPicPr>
            <a:picLocks noChangeAspect="1" noChangeArrowheads="1"/>
          </p:cNvPicPr>
          <p:nvPr/>
        </p:nvPicPr>
        <p:blipFill>
          <a:blip r:embed="rId2" cstate="print"/>
          <a:srcRect/>
          <a:stretch>
            <a:fillRect/>
          </a:stretch>
        </p:blipFill>
        <p:spPr bwMode="auto">
          <a:xfrm>
            <a:off x="768350" y="3552825"/>
            <a:ext cx="7607300" cy="147637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Updating DOM Content</a:t>
            </a:r>
            <a:endParaRPr lang="en-US" dirty="0"/>
          </a:p>
        </p:txBody>
      </p:sp>
      <p:sp>
        <p:nvSpPr>
          <p:cNvPr id="3" name="Content Placeholder 2"/>
          <p:cNvSpPr>
            <a:spLocks noGrp="1"/>
          </p:cNvSpPr>
          <p:nvPr>
            <p:ph idx="1"/>
          </p:nvPr>
        </p:nvSpPr>
        <p:spPr>
          <a:xfrm>
            <a:off x="457200" y="1600201"/>
            <a:ext cx="8229600" cy="1295399"/>
          </a:xfrm>
        </p:spPr>
        <p:txBody>
          <a:bodyPr/>
          <a:lstStyle/>
          <a:p>
            <a:r>
              <a:rPr lang="en-US" sz="2400" dirty="0" smtClean="0"/>
              <a:t>Views are attached to the DOM </a:t>
            </a:r>
            <a:r>
              <a:rPr lang="en-US" sz="2400" i="1" dirty="0" smtClean="0">
                <a:solidFill>
                  <a:srgbClr val="C00000"/>
                </a:solidFill>
              </a:rPr>
              <a:t>dynamically</a:t>
            </a:r>
            <a:r>
              <a:rPr lang="en-US" sz="2400" dirty="0" smtClean="0"/>
              <a:t>, usually as a result of </a:t>
            </a:r>
            <a:r>
              <a:rPr lang="en-US" sz="2400" u="sng" dirty="0" smtClean="0"/>
              <a:t>user navigation</a:t>
            </a:r>
            <a:r>
              <a:rPr lang="en-US" sz="2400" dirty="0" smtClean="0"/>
              <a:t>, beneath the initial container DIV or one of its regions.</a:t>
            </a:r>
          </a:p>
        </p:txBody>
      </p:sp>
      <p:pic>
        <p:nvPicPr>
          <p:cNvPr id="8195" name="Picture 3"/>
          <p:cNvPicPr>
            <a:picLocks noChangeAspect="1" noChangeArrowheads="1"/>
          </p:cNvPicPr>
          <p:nvPr/>
        </p:nvPicPr>
        <p:blipFill>
          <a:blip r:embed="rId2" cstate="print"/>
          <a:srcRect/>
          <a:stretch>
            <a:fillRect/>
          </a:stretch>
        </p:blipFill>
        <p:spPr bwMode="auto">
          <a:xfrm>
            <a:off x="2105025" y="3276600"/>
            <a:ext cx="4933950" cy="25019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Swapping Views</a:t>
            </a:r>
            <a:endParaRPr lang="en-US" dirty="0"/>
          </a:p>
        </p:txBody>
      </p:sp>
      <p:sp>
        <p:nvSpPr>
          <p:cNvPr id="3" name="Content Placeholder 2"/>
          <p:cNvSpPr>
            <a:spLocks noGrp="1"/>
          </p:cNvSpPr>
          <p:nvPr>
            <p:ph idx="1"/>
          </p:nvPr>
        </p:nvSpPr>
        <p:spPr>
          <a:xfrm>
            <a:off x="457200" y="1600201"/>
            <a:ext cx="8229600" cy="1295399"/>
          </a:xfrm>
        </p:spPr>
        <p:txBody>
          <a:bodyPr/>
          <a:lstStyle/>
          <a:p>
            <a:r>
              <a:rPr lang="en-US" sz="2000" dirty="0" smtClean="0"/>
              <a:t>Views in an SPA are </a:t>
            </a:r>
            <a:r>
              <a:rPr lang="en-US" sz="2000" i="1" dirty="0" smtClean="0">
                <a:solidFill>
                  <a:srgbClr val="C00000"/>
                </a:solidFill>
              </a:rPr>
              <a:t>seamlessly swapped</a:t>
            </a:r>
            <a:r>
              <a:rPr lang="en-US" sz="2000" dirty="0" smtClean="0"/>
              <a:t> (through DOM manipulation) for a given area of the screen, giving the user a more desktop-like feel.</a:t>
            </a:r>
          </a:p>
          <a:p>
            <a:r>
              <a:rPr lang="en-US" sz="2000" dirty="0" smtClean="0"/>
              <a:t>The heavy lifting of </a:t>
            </a:r>
            <a:r>
              <a:rPr lang="en-US" sz="2000" i="1" dirty="0" smtClean="0">
                <a:solidFill>
                  <a:srgbClr val="C00000"/>
                </a:solidFill>
              </a:rPr>
              <a:t>creating and managing the views</a:t>
            </a:r>
            <a:r>
              <a:rPr lang="en-US" sz="2000" dirty="0" smtClean="0"/>
              <a:t> in the client is handled by MV* frameworks.</a:t>
            </a:r>
            <a:endParaRPr lang="en-US" sz="2000" dirty="0"/>
          </a:p>
        </p:txBody>
      </p:sp>
      <p:pic>
        <p:nvPicPr>
          <p:cNvPr id="9219" name="Picture 3"/>
          <p:cNvPicPr>
            <a:picLocks noChangeAspect="1" noChangeArrowheads="1"/>
          </p:cNvPicPr>
          <p:nvPr/>
        </p:nvPicPr>
        <p:blipFill>
          <a:blip r:embed="rId2" cstate="print"/>
          <a:srcRect/>
          <a:stretch>
            <a:fillRect/>
          </a:stretch>
        </p:blipFill>
        <p:spPr bwMode="auto">
          <a:xfrm>
            <a:off x="1130300" y="2940050"/>
            <a:ext cx="6883400" cy="353695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Benefits of SPAs over Traditional WAs</a:t>
            </a:r>
            <a:endParaRPr lang="en-US" sz="4000" dirty="0"/>
          </a:p>
        </p:txBody>
      </p:sp>
      <p:sp>
        <p:nvSpPr>
          <p:cNvPr id="3" name="Content Placeholder 2"/>
          <p:cNvSpPr>
            <a:spLocks noGrp="1"/>
          </p:cNvSpPr>
          <p:nvPr>
            <p:ph idx="1"/>
          </p:nvPr>
        </p:nvSpPr>
        <p:spPr/>
        <p:txBody>
          <a:bodyPr/>
          <a:lstStyle/>
          <a:p>
            <a:r>
              <a:rPr lang="en-US" sz="2400" dirty="0" smtClean="0"/>
              <a:t>Renders and provides user experience like a desktop application.</a:t>
            </a:r>
          </a:p>
          <a:p>
            <a:r>
              <a:rPr lang="en-US" sz="2400" dirty="0" smtClean="0"/>
              <a:t>Faster, lightweight transaction payloads.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SPA Implementation Approach (I) [3]</a:t>
            </a:r>
            <a:endParaRPr lang="en-US" sz="4200" dirty="0"/>
          </a:p>
        </p:txBody>
      </p:sp>
      <p:sp>
        <p:nvSpPr>
          <p:cNvPr id="3" name="Content Placeholder 2"/>
          <p:cNvSpPr>
            <a:spLocks noGrp="1"/>
          </p:cNvSpPr>
          <p:nvPr>
            <p:ph idx="1"/>
          </p:nvPr>
        </p:nvSpPr>
        <p:spPr/>
        <p:txBody>
          <a:bodyPr/>
          <a:lstStyle/>
          <a:p>
            <a:r>
              <a:rPr lang="en-US" sz="2400" dirty="0" smtClean="0"/>
              <a:t>If we rely on </a:t>
            </a:r>
            <a:r>
              <a:rPr lang="en-US" sz="2400" i="1" dirty="0" smtClean="0">
                <a:solidFill>
                  <a:srgbClr val="C00000"/>
                </a:solidFill>
              </a:rPr>
              <a:t>full-page </a:t>
            </a:r>
            <a:r>
              <a:rPr lang="en-US" sz="2400" i="1" dirty="0" err="1" smtClean="0">
                <a:solidFill>
                  <a:srgbClr val="C00000"/>
                </a:solidFill>
              </a:rPr>
              <a:t>postbacks</a:t>
            </a:r>
            <a:r>
              <a:rPr lang="en-US" sz="2400" dirty="0" smtClean="0"/>
              <a:t> every time, we need to facilitate one of these requests; our app will feel sluggish and unresponsive, as the user will have to wait for a full round trip with every request.</a:t>
            </a:r>
          </a:p>
          <a:p>
            <a:r>
              <a:rPr lang="en-US" sz="2400" dirty="0" smtClean="0"/>
              <a:t>Fortunately, we were able to easily rectify this </a:t>
            </a:r>
            <a:r>
              <a:rPr lang="en-US" sz="2400" i="1" dirty="0" smtClean="0">
                <a:solidFill>
                  <a:srgbClr val="C00000"/>
                </a:solidFill>
              </a:rPr>
              <a:t>using </a:t>
            </a:r>
            <a:r>
              <a:rPr lang="en-US" sz="2400" i="1" dirty="0" err="1" smtClean="0">
                <a:solidFill>
                  <a:srgbClr val="C00000"/>
                </a:solidFill>
              </a:rPr>
              <a:t>jQuery</a:t>
            </a:r>
            <a:r>
              <a:rPr lang="en-US" sz="2400" i="1" dirty="0" smtClean="0">
                <a:solidFill>
                  <a:srgbClr val="C00000"/>
                </a:solidFill>
              </a:rPr>
              <a:t> and AJAX</a:t>
            </a:r>
            <a:r>
              <a:rPr lang="en-US" sz="2400" dirty="0" smtClean="0"/>
              <a:t>. This is a perfect </a:t>
            </a:r>
            <a:r>
              <a:rPr lang="en-US" sz="2400" u="sng" dirty="0" smtClean="0"/>
              <a:t>example</a:t>
            </a:r>
            <a:r>
              <a:rPr lang="en-US" sz="2400" dirty="0" smtClean="0"/>
              <a:t> of how a single page application works (only on a much larger scale).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SPA Implementation Approach (II)</a:t>
            </a:r>
            <a:endParaRPr lang="en-US" dirty="0"/>
          </a:p>
        </p:txBody>
      </p:sp>
      <p:sp>
        <p:nvSpPr>
          <p:cNvPr id="3" name="Content Placeholder 2"/>
          <p:cNvSpPr>
            <a:spLocks noGrp="1"/>
          </p:cNvSpPr>
          <p:nvPr>
            <p:ph idx="1"/>
          </p:nvPr>
        </p:nvSpPr>
        <p:spPr/>
        <p:txBody>
          <a:bodyPr/>
          <a:lstStyle/>
          <a:p>
            <a:r>
              <a:rPr lang="en-US" sz="2400" dirty="0" smtClean="0"/>
              <a:t>Creating an SPA typically involves having </a:t>
            </a:r>
            <a:r>
              <a:rPr lang="en-US" sz="2400" i="1" dirty="0" smtClean="0">
                <a:solidFill>
                  <a:srgbClr val="C00000"/>
                </a:solidFill>
              </a:rPr>
              <a:t>a single HTML page</a:t>
            </a:r>
            <a:r>
              <a:rPr lang="en-US" sz="2400" dirty="0" smtClean="0"/>
              <a:t> as the source of the application, which loads all of the necessary JavaScript in order to trigger a series of events that include:</a:t>
            </a:r>
          </a:p>
          <a:p>
            <a:pPr lvl="1"/>
            <a:r>
              <a:rPr lang="en-US" sz="2000" i="1" dirty="0" smtClean="0">
                <a:solidFill>
                  <a:srgbClr val="C00000"/>
                </a:solidFill>
              </a:rPr>
              <a:t>Bootstrapping the app</a:t>
            </a:r>
            <a:r>
              <a:rPr lang="en-US" sz="2000" dirty="0" smtClean="0"/>
              <a:t>: This means connecting to the server via AJAX to download the necessary startup data.</a:t>
            </a:r>
          </a:p>
          <a:p>
            <a:pPr lvl="1"/>
            <a:r>
              <a:rPr lang="en-US" sz="2000" i="1" dirty="0" smtClean="0">
                <a:solidFill>
                  <a:srgbClr val="C00000"/>
                </a:solidFill>
              </a:rPr>
              <a:t>Rendering the screens based on user actions</a:t>
            </a:r>
            <a:r>
              <a:rPr lang="en-US" sz="2000" dirty="0" smtClean="0"/>
              <a:t>: This means monitoring events triggered by the user and </a:t>
            </a:r>
            <a:r>
              <a:rPr lang="en-US" sz="2000" i="1" dirty="0" smtClean="0">
                <a:solidFill>
                  <a:srgbClr val="C00000"/>
                </a:solidFill>
              </a:rPr>
              <a:t>manipulating the DOM</a:t>
            </a:r>
            <a:r>
              <a:rPr lang="en-US" sz="2000" dirty="0" smtClean="0"/>
              <a:t> so that sections of the app are hidden, revealed, or redrawn, which emulates the feel of a desktop application.</a:t>
            </a:r>
          </a:p>
          <a:p>
            <a:pPr lvl="1"/>
            <a:r>
              <a:rPr lang="en-US" sz="2000" i="1" dirty="0" smtClean="0">
                <a:solidFill>
                  <a:srgbClr val="C00000"/>
                </a:solidFill>
              </a:rPr>
              <a:t>Communicating with the server</a:t>
            </a:r>
            <a:r>
              <a:rPr lang="en-US" sz="2000" dirty="0" smtClean="0"/>
              <a:t>: This means using AJAX to constantly send and receive data from the server, which maintains </a:t>
            </a:r>
            <a:r>
              <a:rPr lang="en-US" sz="2000" i="1" dirty="0" smtClean="0">
                <a:solidFill>
                  <a:srgbClr val="C00000"/>
                </a:solidFill>
              </a:rPr>
              <a:t>the illusion of a </a:t>
            </a:r>
            <a:r>
              <a:rPr lang="en-US" sz="2000" i="1" dirty="0" err="1" smtClean="0">
                <a:solidFill>
                  <a:srgbClr val="C00000"/>
                </a:solidFill>
              </a:rPr>
              <a:t>stateful</a:t>
            </a:r>
            <a:r>
              <a:rPr lang="en-US" sz="2000" i="1" dirty="0" smtClean="0">
                <a:solidFill>
                  <a:srgbClr val="C00000"/>
                </a:solidFill>
              </a:rPr>
              <a:t> connection</a:t>
            </a:r>
            <a:r>
              <a:rPr lang="en-US" sz="2000" dirty="0" smtClean="0"/>
              <a:t> via the browser.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SPA from Scratch Tools [2]</a:t>
            </a:r>
            <a:endParaRPr lang="en-US" dirty="0"/>
          </a:p>
        </p:txBody>
      </p:sp>
      <p:sp>
        <p:nvSpPr>
          <p:cNvPr id="3" name="Content Placeholder 2"/>
          <p:cNvSpPr>
            <a:spLocks noGrp="1"/>
          </p:cNvSpPr>
          <p:nvPr>
            <p:ph idx="1"/>
          </p:nvPr>
        </p:nvSpPr>
        <p:spPr/>
        <p:txBody>
          <a:bodyPr/>
          <a:lstStyle/>
          <a:p>
            <a:r>
              <a:rPr lang="en-US" sz="2400" dirty="0" smtClean="0"/>
              <a:t>Our client libraries include </a:t>
            </a:r>
            <a:r>
              <a:rPr lang="en-US" sz="2400" i="1" dirty="0" err="1" smtClean="0">
                <a:solidFill>
                  <a:srgbClr val="C00000"/>
                </a:solidFill>
              </a:rPr>
              <a:t>jQuery</a:t>
            </a:r>
            <a:r>
              <a:rPr lang="en-US" sz="2400" dirty="0" smtClean="0"/>
              <a:t> for DOM manipulation with </a:t>
            </a:r>
            <a:r>
              <a:rPr lang="en-US" sz="2400" dirty="0" err="1" smtClean="0"/>
              <a:t>plugins</a:t>
            </a:r>
            <a:r>
              <a:rPr lang="en-US" sz="2400" dirty="0" smtClean="0"/>
              <a:t> for history management and event handling.</a:t>
            </a:r>
          </a:p>
          <a:p>
            <a:r>
              <a:rPr lang="en-US" sz="2400" dirty="0" smtClean="0"/>
              <a:t>We use </a:t>
            </a:r>
            <a:r>
              <a:rPr lang="en-US" sz="2400" i="1" dirty="0" smtClean="0">
                <a:solidFill>
                  <a:srgbClr val="C00000"/>
                </a:solidFill>
              </a:rPr>
              <a:t>TaffyDB2</a:t>
            </a:r>
            <a:r>
              <a:rPr lang="en-US" sz="2400" dirty="0" smtClean="0"/>
              <a:t> to provide high-performance, data-centric models.</a:t>
            </a:r>
          </a:p>
          <a:p>
            <a:r>
              <a:rPr lang="en-US" sz="2400" i="1" dirty="0" smtClean="0">
                <a:solidFill>
                  <a:srgbClr val="C00000"/>
                </a:solidFill>
              </a:rPr>
              <a:t>Socket.IO</a:t>
            </a:r>
            <a:r>
              <a:rPr lang="en-US" sz="2400" dirty="0" smtClean="0"/>
              <a:t> provides seamless near-real-time messaging between the web server and the client.</a:t>
            </a:r>
          </a:p>
          <a:p>
            <a:r>
              <a:rPr lang="en-US" sz="2400" dirty="0" smtClean="0"/>
              <a:t>On the server, we use </a:t>
            </a:r>
            <a:r>
              <a:rPr lang="en-US" sz="2400" i="1" dirty="0" smtClean="0">
                <a:solidFill>
                  <a:srgbClr val="C00000"/>
                </a:solidFill>
              </a:rPr>
              <a:t>Node.js</a:t>
            </a:r>
            <a:r>
              <a:rPr lang="en-US" sz="2400" dirty="0" smtClean="0"/>
              <a:t> for our event-based web server.</a:t>
            </a:r>
          </a:p>
          <a:p>
            <a:r>
              <a:rPr lang="en-US" sz="2400" dirty="0" smtClean="0"/>
              <a:t>We also use </a:t>
            </a:r>
            <a:r>
              <a:rPr lang="en-US" sz="2400" i="1" dirty="0" smtClean="0">
                <a:solidFill>
                  <a:srgbClr val="C00000"/>
                </a:solidFill>
              </a:rPr>
              <a:t>Socket.IO</a:t>
            </a:r>
            <a:r>
              <a:rPr lang="en-US" sz="2400" dirty="0" smtClean="0"/>
              <a:t> on the web server.</a:t>
            </a:r>
          </a:p>
          <a:p>
            <a:r>
              <a:rPr lang="en-US" sz="2400" dirty="0" smtClean="0"/>
              <a:t>Our database is </a:t>
            </a:r>
            <a:r>
              <a:rPr lang="en-US" sz="2400" i="1" dirty="0" err="1" smtClean="0">
                <a:solidFill>
                  <a:srgbClr val="C00000"/>
                </a:solidFill>
              </a:rPr>
              <a:t>MongoDB</a:t>
            </a:r>
            <a:r>
              <a:rPr lang="en-US" sz="2400" dirty="0" smtClean="0"/>
              <a:t>, a </a:t>
            </a:r>
            <a:r>
              <a:rPr lang="en-US" sz="2400" dirty="0" err="1" smtClean="0"/>
              <a:t>noSQL</a:t>
            </a:r>
            <a:r>
              <a:rPr lang="en-US" sz="2400" dirty="0" smtClean="0"/>
              <a:t> database that uses the JavaScript native data format, JSON, to store data and also has a JavaScript API and command-line interface.</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Use a Frontend Framework?</a:t>
            </a:r>
            <a:endParaRPr lang="en-US" dirty="0"/>
          </a:p>
        </p:txBody>
      </p:sp>
      <p:sp>
        <p:nvSpPr>
          <p:cNvPr id="3" name="Content Placeholder 2"/>
          <p:cNvSpPr>
            <a:spLocks noGrp="1"/>
          </p:cNvSpPr>
          <p:nvPr>
            <p:ph idx="1"/>
          </p:nvPr>
        </p:nvSpPr>
        <p:spPr/>
        <p:txBody>
          <a:bodyPr/>
          <a:lstStyle/>
          <a:p>
            <a:r>
              <a:rPr lang="en-US" sz="2400" dirty="0" smtClean="0"/>
              <a:t>We use frameworks to increase our </a:t>
            </a:r>
            <a:r>
              <a:rPr lang="en-US" sz="2400" i="1" dirty="0" smtClean="0">
                <a:solidFill>
                  <a:srgbClr val="C00000"/>
                </a:solidFill>
              </a:rPr>
              <a:t>productivity</a:t>
            </a:r>
            <a:r>
              <a:rPr lang="en-US" sz="2400" dirty="0" smtClean="0"/>
              <a:t>.</a:t>
            </a:r>
          </a:p>
          <a:p>
            <a:r>
              <a:rPr lang="en-US" sz="2400" dirty="0" smtClean="0"/>
              <a:t>Any amount of complex code is eventually going to need to be properly organized, and we need to use </a:t>
            </a:r>
            <a:r>
              <a:rPr lang="en-US" sz="2400" i="1" dirty="0" smtClean="0">
                <a:solidFill>
                  <a:srgbClr val="C00000"/>
                </a:solidFill>
              </a:rPr>
              <a:t>a standard set of reusable tools</a:t>
            </a:r>
            <a:r>
              <a:rPr lang="en-US" sz="2400" dirty="0" smtClean="0"/>
              <a:t> to achieve common tasks.</a:t>
            </a:r>
          </a:p>
          <a:p>
            <a:r>
              <a:rPr lang="en-US" sz="2400" dirty="0" smtClean="0"/>
              <a:t>A framework allows us to </a:t>
            </a:r>
            <a:r>
              <a:rPr lang="en-US" sz="2400" i="1" dirty="0" smtClean="0">
                <a:solidFill>
                  <a:srgbClr val="C00000"/>
                </a:solidFill>
              </a:rPr>
              <a:t>organize our code</a:t>
            </a:r>
            <a:r>
              <a:rPr lang="en-US" sz="2400" dirty="0" smtClean="0"/>
              <a:t>, and it extrapolates out a lot of </a:t>
            </a:r>
            <a:r>
              <a:rPr lang="en-US" sz="2400" u="sng" dirty="0" smtClean="0"/>
              <a:t>boilerplate code</a:t>
            </a:r>
            <a:r>
              <a:rPr lang="en-US" sz="2400" dirty="0" smtClean="0"/>
              <a:t>, freeing up our time to focus on our custom business logic.</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AngularJS</a:t>
            </a:r>
            <a:endParaRPr lang="en-US" dirty="0"/>
          </a:p>
        </p:txBody>
      </p:sp>
      <p:sp>
        <p:nvSpPr>
          <p:cNvPr id="3" name="Content Placeholder 2"/>
          <p:cNvSpPr>
            <a:spLocks noGrp="1"/>
          </p:cNvSpPr>
          <p:nvPr>
            <p:ph idx="1"/>
          </p:nvPr>
        </p:nvSpPr>
        <p:spPr/>
        <p:txBody>
          <a:bodyPr/>
          <a:lstStyle/>
          <a:p>
            <a:r>
              <a:rPr lang="en-US" sz="2400" dirty="0" smtClean="0">
                <a:hlinkClick r:id="rId2"/>
              </a:rPr>
              <a:t>https://angular.io/</a:t>
            </a:r>
            <a:endParaRPr lang="en-US" sz="2400" dirty="0" smtClean="0"/>
          </a:p>
          <a:p>
            <a:r>
              <a:rPr lang="en-US" sz="2400" dirty="0" smtClean="0"/>
              <a:t>One framework. Mobile &amp; desktop.</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React</a:t>
            </a:r>
            <a:endParaRPr lang="en-US" dirty="0"/>
          </a:p>
        </p:txBody>
      </p:sp>
      <p:sp>
        <p:nvSpPr>
          <p:cNvPr id="3" name="Content Placeholder 2"/>
          <p:cNvSpPr>
            <a:spLocks noGrp="1"/>
          </p:cNvSpPr>
          <p:nvPr>
            <p:ph idx="1"/>
          </p:nvPr>
        </p:nvSpPr>
        <p:spPr/>
        <p:txBody>
          <a:bodyPr/>
          <a:lstStyle/>
          <a:p>
            <a:r>
              <a:rPr lang="en-US" sz="2400" dirty="0" smtClean="0">
                <a:hlinkClick r:id="rId2"/>
              </a:rPr>
              <a:t>https://reactjs.org/</a:t>
            </a:r>
            <a:endParaRPr lang="en-US" sz="2400" dirty="0" smtClean="0"/>
          </a:p>
          <a:p>
            <a:r>
              <a:rPr lang="en-US" sz="2400" dirty="0" smtClean="0"/>
              <a:t>A JavaScript library for building user interfaces</a:t>
            </a:r>
          </a:p>
          <a:p>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Vue</a:t>
            </a:r>
            <a:endParaRPr lang="en-US" dirty="0"/>
          </a:p>
        </p:txBody>
      </p:sp>
      <p:sp>
        <p:nvSpPr>
          <p:cNvPr id="3" name="Content Placeholder 2"/>
          <p:cNvSpPr>
            <a:spLocks noGrp="1"/>
          </p:cNvSpPr>
          <p:nvPr>
            <p:ph idx="1"/>
          </p:nvPr>
        </p:nvSpPr>
        <p:spPr/>
        <p:txBody>
          <a:bodyPr/>
          <a:lstStyle/>
          <a:p>
            <a:r>
              <a:rPr lang="en-US" sz="2400" dirty="0" smtClean="0">
                <a:hlinkClick r:id="rId2"/>
              </a:rPr>
              <a:t>https://vuejs.org/</a:t>
            </a:r>
            <a:endParaRPr lang="en-US" sz="2400" dirty="0" smtClean="0"/>
          </a:p>
          <a:p>
            <a:r>
              <a:rPr lang="en-US" sz="2400" dirty="0" err="1" smtClean="0"/>
              <a:t>Vue</a:t>
            </a:r>
            <a:r>
              <a:rPr lang="en-US" sz="2400" dirty="0" smtClean="0"/>
              <a:t> (pronounced /</a:t>
            </a:r>
            <a:r>
              <a:rPr lang="en-US" sz="2400" dirty="0" err="1" smtClean="0"/>
              <a:t>vju</a:t>
            </a:r>
            <a:r>
              <a:rPr lang="en-US" sz="2400" dirty="0" smtClean="0"/>
              <a:t>ː/, like </a:t>
            </a:r>
            <a:r>
              <a:rPr lang="en-US" sz="2400" b="1" dirty="0" smtClean="0"/>
              <a:t>view</a:t>
            </a:r>
            <a:r>
              <a:rPr lang="en-US" sz="2400" dirty="0" smtClean="0"/>
              <a:t>) is a </a:t>
            </a:r>
            <a:r>
              <a:rPr lang="en-US" sz="2400" b="1" dirty="0" smtClean="0"/>
              <a:t>progressive framework</a:t>
            </a:r>
            <a:r>
              <a:rPr lang="en-US" sz="2400" dirty="0" smtClean="0"/>
              <a:t> for building user interfaces.</a:t>
            </a:r>
          </a:p>
          <a:p>
            <a:r>
              <a:rPr lang="en-US" sz="2400" dirty="0" smtClean="0"/>
              <a:t>Unlike other monolithic frameworks, </a:t>
            </a:r>
            <a:r>
              <a:rPr lang="en-US" sz="2400" dirty="0" err="1" smtClean="0"/>
              <a:t>Vue</a:t>
            </a:r>
            <a:r>
              <a:rPr lang="en-US" sz="2400" dirty="0" smtClean="0"/>
              <a:t> is designed from the ground up to be incrementally adoptable.</a:t>
            </a:r>
          </a:p>
          <a:p>
            <a:r>
              <a:rPr lang="en-US" sz="2400" dirty="0" smtClean="0"/>
              <a:t>The core library is focused on the view layer only, and is easy to pick up and integrate with other libraries or existing projects. </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Backbone.js</a:t>
            </a:r>
            <a:endParaRPr lang="en-US" dirty="0"/>
          </a:p>
        </p:txBody>
      </p:sp>
      <p:sp>
        <p:nvSpPr>
          <p:cNvPr id="3" name="Content Placeholder 2"/>
          <p:cNvSpPr>
            <a:spLocks noGrp="1"/>
          </p:cNvSpPr>
          <p:nvPr>
            <p:ph idx="1"/>
          </p:nvPr>
        </p:nvSpPr>
        <p:spPr/>
        <p:txBody>
          <a:bodyPr/>
          <a:lstStyle/>
          <a:p>
            <a:r>
              <a:rPr lang="en-US" sz="2400" dirty="0" smtClean="0">
                <a:hlinkClick r:id="rId2"/>
              </a:rPr>
              <a:t>https://backbonejs.org</a:t>
            </a:r>
            <a:r>
              <a:rPr lang="en-US" sz="2400" dirty="0" smtClean="0">
                <a:hlinkClick r:id="rId2"/>
              </a:rPr>
              <a:t>/</a:t>
            </a:r>
            <a:endParaRPr lang="en-US" sz="2400" dirty="0" smtClean="0"/>
          </a:p>
          <a:p>
            <a:r>
              <a:rPr lang="en-US" sz="2400" dirty="0" smtClean="0"/>
              <a:t>Backbone.js gives structure to web applications by providing </a:t>
            </a:r>
            <a:r>
              <a:rPr lang="en-US" sz="2400" b="1" dirty="0" smtClean="0"/>
              <a:t>models</a:t>
            </a:r>
            <a:r>
              <a:rPr lang="en-US" sz="2400" dirty="0" smtClean="0"/>
              <a:t> with key-value binding and custom events, </a:t>
            </a:r>
            <a:r>
              <a:rPr lang="en-US" sz="2400" b="1" dirty="0" smtClean="0"/>
              <a:t>collections</a:t>
            </a:r>
            <a:r>
              <a:rPr lang="en-US" sz="2400" dirty="0" smtClean="0"/>
              <a:t> with a rich API of enumerable functions, </a:t>
            </a:r>
            <a:r>
              <a:rPr lang="en-US" sz="2400" b="1" dirty="0" smtClean="0"/>
              <a:t>views</a:t>
            </a:r>
            <a:r>
              <a:rPr lang="en-US" sz="2400" dirty="0" smtClean="0"/>
              <a:t> with declarative event handling, and connects it all to your existing API over a </a:t>
            </a:r>
            <a:r>
              <a:rPr lang="en-US" sz="2400" dirty="0" err="1" smtClean="0"/>
              <a:t>RESTful</a:t>
            </a:r>
            <a:r>
              <a:rPr lang="en-US" sz="2400" dirty="0" smtClean="0"/>
              <a:t> JSON interface</a:t>
            </a:r>
            <a:r>
              <a:rPr lang="en-US" sz="2400" dirty="0" smtClean="0"/>
              <a:t>.</a:t>
            </a:r>
          </a:p>
          <a:p>
            <a:endParaRPr lang="en-US" sz="2400" dirty="0"/>
          </a:p>
        </p:txBody>
      </p:sp>
      <p:sp>
        <p:nvSpPr>
          <p:cNvPr id="14338" name="AutoShape 2" descr="Model-View Separ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Grunt.js</a:t>
            </a:r>
            <a:endParaRPr lang="en-US" dirty="0"/>
          </a:p>
        </p:txBody>
      </p:sp>
      <p:sp>
        <p:nvSpPr>
          <p:cNvPr id="3" name="Content Placeholder 2"/>
          <p:cNvSpPr>
            <a:spLocks noGrp="1"/>
          </p:cNvSpPr>
          <p:nvPr>
            <p:ph idx="1"/>
          </p:nvPr>
        </p:nvSpPr>
        <p:spPr/>
        <p:txBody>
          <a:bodyPr/>
          <a:lstStyle/>
          <a:p>
            <a:r>
              <a:rPr lang="en-US" dirty="0" smtClean="0">
                <a:hlinkClick r:id="rId2"/>
              </a:rPr>
              <a:t>https://gruntjs.com</a:t>
            </a:r>
            <a:r>
              <a:rPr lang="en-US" dirty="0" smtClean="0">
                <a:hlinkClick r:id="rId2"/>
              </a:rPr>
              <a:t>/</a:t>
            </a:r>
            <a:endParaRPr lang="en-US" dirty="0" smtClean="0"/>
          </a:p>
          <a:p>
            <a:r>
              <a:rPr lang="en-US" dirty="0" smtClean="0"/>
              <a:t>The </a:t>
            </a:r>
            <a:r>
              <a:rPr lang="en-US" dirty="0" smtClean="0"/>
              <a:t>JavaScript Task Runner</a:t>
            </a:r>
          </a:p>
          <a:p>
            <a:r>
              <a:rPr lang="en-US" dirty="0" smtClean="0"/>
              <a:t>Why use a task runner?</a:t>
            </a:r>
          </a:p>
          <a:p>
            <a:pPr lvl="1"/>
            <a:r>
              <a:rPr lang="en-US" dirty="0" smtClean="0"/>
              <a:t>In one word: automation.</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Bower</a:t>
            </a:r>
            <a:endParaRPr lang="en-US" dirty="0"/>
          </a:p>
        </p:txBody>
      </p:sp>
      <p:sp>
        <p:nvSpPr>
          <p:cNvPr id="3" name="Content Placeholder 2"/>
          <p:cNvSpPr>
            <a:spLocks noGrp="1"/>
          </p:cNvSpPr>
          <p:nvPr>
            <p:ph idx="1"/>
          </p:nvPr>
        </p:nvSpPr>
        <p:spPr/>
        <p:txBody>
          <a:bodyPr/>
          <a:lstStyle/>
          <a:p>
            <a:r>
              <a:rPr lang="en-US" dirty="0" smtClean="0">
                <a:hlinkClick r:id="rId2"/>
              </a:rPr>
              <a:t>https://bower.io</a:t>
            </a:r>
            <a:r>
              <a:rPr lang="en-US" dirty="0" smtClean="0">
                <a:hlinkClick r:id="rId2"/>
              </a:rPr>
              <a:t>/</a:t>
            </a:r>
            <a:endParaRPr lang="en-US" dirty="0" smtClean="0"/>
          </a:p>
          <a:p>
            <a:r>
              <a:rPr lang="en-US" dirty="0" smtClean="0"/>
              <a:t>Web </a:t>
            </a:r>
            <a:r>
              <a:rPr lang="en-US" dirty="0" smtClean="0"/>
              <a:t>sites are made of lots of things — frameworks, libraries, assets, utilities, and rainbows.</a:t>
            </a:r>
          </a:p>
          <a:p>
            <a:r>
              <a:rPr lang="en-US" dirty="0" smtClean="0"/>
              <a:t>Bower manages all these things for you.</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a:t>
            </a:r>
            <a:endParaRPr lang="en-US" dirty="0"/>
          </a:p>
        </p:txBody>
      </p:sp>
      <p:sp>
        <p:nvSpPr>
          <p:cNvPr id="3" name="Content Placeholder 2"/>
          <p:cNvSpPr>
            <a:spLocks noGrp="1"/>
          </p:cNvSpPr>
          <p:nvPr>
            <p:ph idx="1"/>
          </p:nvPr>
        </p:nvSpPr>
        <p:spPr/>
        <p:txBody>
          <a:bodyPr/>
          <a:lstStyle/>
          <a:p>
            <a:r>
              <a:rPr lang="en-US" sz="2200" dirty="0" smtClean="0">
                <a:hlinkClick r:id="rId2"/>
              </a:rPr>
              <a:t>https://lit.dev/</a:t>
            </a:r>
            <a:endParaRPr lang="en-US" sz="2200" dirty="0" smtClean="0"/>
          </a:p>
          <a:p>
            <a:r>
              <a:rPr lang="en-US" sz="2200" dirty="0" smtClean="0"/>
              <a:t>Developed by Google</a:t>
            </a:r>
          </a:p>
          <a:p>
            <a:r>
              <a:rPr lang="en-US" sz="2200" i="1" dirty="0" smtClean="0">
                <a:solidFill>
                  <a:srgbClr val="C00000"/>
                </a:solidFill>
              </a:rPr>
              <a:t>Building on top of the Web Components standards</a:t>
            </a:r>
            <a:r>
              <a:rPr lang="en-US" sz="2200" dirty="0" smtClean="0"/>
              <a:t>, Lit adds just what you need to be happy and productive: reactivity, declarative templates and a handful of thoughtful features to reduce boilerplate and make your job easier. Every Lit feature is carefully designed with web platform evolution in mind.</a:t>
            </a:r>
          </a:p>
          <a:p>
            <a:r>
              <a:rPr lang="en-US" sz="2200" dirty="0" smtClean="0"/>
              <a:t>Every Lit component is a native web component, with the superpower of interoperability. Web components work anywhere you use HTML, </a:t>
            </a:r>
            <a:r>
              <a:rPr lang="en-US" sz="2200" i="1" dirty="0" smtClean="0">
                <a:solidFill>
                  <a:srgbClr val="C00000"/>
                </a:solidFill>
              </a:rPr>
              <a:t>with any framework or none at all</a:t>
            </a:r>
            <a:r>
              <a:rPr lang="en-US" sz="2200" dirty="0" smtClean="0"/>
              <a:t>. This makes Lit ideal for building shareable components, design systems, or maintainable, future-ready sites and apps.</a:t>
            </a:r>
            <a:endParaRPr lang="en-US"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Stencil</a:t>
            </a:r>
            <a:endParaRPr lang="en-US" dirty="0"/>
          </a:p>
        </p:txBody>
      </p:sp>
      <p:sp>
        <p:nvSpPr>
          <p:cNvPr id="3" name="Content Placeholder 2"/>
          <p:cNvSpPr>
            <a:spLocks noGrp="1"/>
          </p:cNvSpPr>
          <p:nvPr>
            <p:ph idx="1"/>
          </p:nvPr>
        </p:nvSpPr>
        <p:spPr/>
        <p:txBody>
          <a:bodyPr/>
          <a:lstStyle/>
          <a:p>
            <a:r>
              <a:rPr lang="en-US" sz="1800" dirty="0" smtClean="0">
                <a:hlinkClick r:id="rId2"/>
              </a:rPr>
              <a:t>https://stenciljs.com/</a:t>
            </a:r>
            <a:endParaRPr lang="en-US" sz="1800" dirty="0" smtClean="0"/>
          </a:p>
          <a:p>
            <a:r>
              <a:rPr lang="en-US" sz="1800" dirty="0" smtClean="0"/>
              <a:t>Created by the Ionic Framework team.</a:t>
            </a:r>
          </a:p>
          <a:p>
            <a:r>
              <a:rPr lang="en-US" sz="1800" dirty="0" smtClean="0"/>
              <a:t>Stencil is </a:t>
            </a:r>
            <a:r>
              <a:rPr lang="en-US" sz="1800" i="1" dirty="0" smtClean="0">
                <a:solidFill>
                  <a:srgbClr val="C00000"/>
                </a:solidFill>
              </a:rPr>
              <a:t>a compiler that generates Web Components</a:t>
            </a:r>
            <a:r>
              <a:rPr lang="en-US" sz="1800" dirty="0" smtClean="0"/>
              <a:t> (more specifically, Custom Elements) and builds high performance web apps. Stencil combines the best concepts of the most popular frameworks into a simple build-time tool.</a:t>
            </a:r>
          </a:p>
          <a:p>
            <a:r>
              <a:rPr lang="en-US" sz="1800" dirty="0" smtClean="0"/>
              <a:t>Stencil takes features such as</a:t>
            </a:r>
          </a:p>
          <a:p>
            <a:pPr lvl="1"/>
            <a:r>
              <a:rPr lang="en-US" sz="1800" dirty="0" smtClean="0"/>
              <a:t>Virtual DOM</a:t>
            </a:r>
          </a:p>
          <a:p>
            <a:pPr lvl="1"/>
            <a:r>
              <a:rPr lang="en-US" sz="1800" dirty="0" err="1" smtClean="0"/>
              <a:t>Async</a:t>
            </a:r>
            <a:r>
              <a:rPr lang="en-US" sz="1800" dirty="0" smtClean="0"/>
              <a:t> rendering (inspired by React Fiber)</a:t>
            </a:r>
          </a:p>
          <a:p>
            <a:pPr lvl="1"/>
            <a:r>
              <a:rPr lang="en-US" sz="1800" dirty="0" smtClean="0"/>
              <a:t>Reactive data-binding</a:t>
            </a:r>
          </a:p>
          <a:p>
            <a:pPr lvl="1"/>
            <a:r>
              <a:rPr lang="en-US" sz="1800" dirty="0" err="1" smtClean="0"/>
              <a:t>TypeScript</a:t>
            </a:r>
            <a:endParaRPr lang="en-US" sz="1800" dirty="0" smtClean="0"/>
          </a:p>
          <a:p>
            <a:pPr lvl="1"/>
            <a:r>
              <a:rPr lang="en-US" sz="1800" dirty="0" smtClean="0"/>
              <a:t>JSX</a:t>
            </a:r>
          </a:p>
          <a:p>
            <a:pPr lvl="1"/>
            <a:r>
              <a:rPr lang="en-US" sz="1800" dirty="0" smtClean="0"/>
              <a:t>Static Site Generation (SSG)</a:t>
            </a:r>
          </a:p>
          <a:p>
            <a:pPr lvl="1">
              <a:buNone/>
            </a:pPr>
            <a:r>
              <a:rPr lang="en-US" sz="1800" dirty="0" smtClean="0"/>
              <a:t>and then generates standards-based Web Components and web apps with these features baked in.</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SPA Tradeoffs [4]</a:t>
            </a:r>
            <a:endParaRPr lang="en-US" dirty="0"/>
          </a:p>
        </p:txBody>
      </p:sp>
      <p:sp>
        <p:nvSpPr>
          <p:cNvPr id="3" name="Content Placeholder 2"/>
          <p:cNvSpPr>
            <a:spLocks noGrp="1"/>
          </p:cNvSpPr>
          <p:nvPr>
            <p:ph idx="1"/>
          </p:nvPr>
        </p:nvSpPr>
        <p:spPr/>
        <p:txBody>
          <a:bodyPr/>
          <a:lstStyle/>
          <a:p>
            <a:r>
              <a:rPr lang="en-US" sz="2400" dirty="0" smtClean="0"/>
              <a:t>Downloading all the application logic in one go can be a disadvantage as well because it can lead to potential memory leaks when the user is jumping from one view to another if the code is not well implemented and does not correctly dispose of the unused objects.</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Progressive </a:t>
            </a:r>
            <a:r>
              <a:rPr lang="en-US" dirty="0" smtClean="0"/>
              <a:t>Web Apps</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Progressive web apps</a:t>
            </a:r>
            <a:r>
              <a:rPr lang="en-US" sz="2400" dirty="0" smtClean="0"/>
              <a:t> provide a set of new capabilities based on service workers.</a:t>
            </a:r>
          </a:p>
          <a:p>
            <a:r>
              <a:rPr lang="en-US" sz="2400" dirty="0" smtClean="0"/>
              <a:t>A </a:t>
            </a:r>
            <a:r>
              <a:rPr lang="en-US" sz="2400" i="1" dirty="0" smtClean="0">
                <a:solidFill>
                  <a:srgbClr val="C00000"/>
                </a:solidFill>
              </a:rPr>
              <a:t>service worker</a:t>
            </a:r>
            <a:r>
              <a:rPr lang="en-US" sz="2400" dirty="0" smtClean="0"/>
              <a:t> is a script that your browser runs in the background, separate from a web page, for providing functionality such as offline experience or push notifications.</a:t>
            </a:r>
          </a:p>
          <a:p>
            <a:r>
              <a:rPr lang="en-US" sz="2400" dirty="0" smtClean="0"/>
              <a:t>Thanks to service workers, we can now create our caching strategy for a web application, with native APIs available inside the browsers.</a:t>
            </a:r>
          </a:p>
          <a:p>
            <a:r>
              <a:rPr lang="en-US" sz="2400" dirty="0" smtClean="0"/>
              <a:t>If a resource is cached and available offline, return it first before trying to download it from the server. If it </a:t>
            </a:r>
            <a:r>
              <a:rPr lang="en-US" sz="2400" dirty="0" smtClean="0"/>
              <a:t>isn't </a:t>
            </a:r>
            <a:r>
              <a:rPr lang="en-US" sz="2400" dirty="0" smtClean="0"/>
              <a:t>in the cache already, download it and cache it for future usage.</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eaLnBrk="1" hangingPunct="1"/>
            <a:r>
              <a:rPr lang="en-US" dirty="0" smtClean="0"/>
              <a:t>Thank You &amp; See You Again</a:t>
            </a:r>
          </a:p>
        </p:txBody>
      </p:sp>
      <p:pic>
        <p:nvPicPr>
          <p:cNvPr id="38915" name="Picture 4"/>
          <p:cNvPicPr>
            <a:picLocks noGrp="1" noChangeAspect="1" noChangeArrowheads="1"/>
          </p:cNvPicPr>
          <p:nvPr>
            <p:ph idx="1"/>
          </p:nvPr>
        </p:nvPicPr>
        <p:blipFill>
          <a:blip r:embed="rId2" cstate="print"/>
          <a:srcRect/>
          <a:stretch>
            <a:fillRect/>
          </a:stretch>
        </p:blipFill>
        <p:spPr>
          <a:xfrm>
            <a:off x="1166813" y="16002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9987</TotalTime>
  <Words>1546</Words>
  <Application>Microsoft Office PowerPoint</Application>
  <PresentationFormat>On-screen Show (4:3)</PresentationFormat>
  <Paragraphs>120</Paragraphs>
  <Slides>34</Slides>
  <Notes>1</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Single Page Application</vt:lpstr>
      <vt:lpstr>Objectives</vt:lpstr>
      <vt:lpstr>Contents</vt:lpstr>
      <vt:lpstr>References</vt:lpstr>
      <vt:lpstr>A Traditional Web Application [1]</vt:lpstr>
      <vt:lpstr>Single-Page Web Application</vt:lpstr>
      <vt:lpstr>A Little History [2]</vt:lpstr>
      <vt:lpstr>From Traditional WA To SPA</vt:lpstr>
      <vt:lpstr>The SPA Shell [1]</vt:lpstr>
      <vt:lpstr>Regions</vt:lpstr>
      <vt:lpstr>Traditional Site Design</vt:lpstr>
      <vt:lpstr>SPA Design</vt:lpstr>
      <vt:lpstr>Template</vt:lpstr>
      <vt:lpstr>Updating DOM Content</vt:lpstr>
      <vt:lpstr>Swapping Views</vt:lpstr>
      <vt:lpstr>Benefits of SPAs over Traditional WAs</vt:lpstr>
      <vt:lpstr>Slide 17</vt:lpstr>
      <vt:lpstr>SPA Implementation Approach (I) [3]</vt:lpstr>
      <vt:lpstr>SPA Implementation Approach (II)</vt:lpstr>
      <vt:lpstr>SPA from Scratch Tools [2]</vt:lpstr>
      <vt:lpstr>Why Use a Frontend Framework?</vt:lpstr>
      <vt:lpstr>AngularJS</vt:lpstr>
      <vt:lpstr>React</vt:lpstr>
      <vt:lpstr>Vue</vt:lpstr>
      <vt:lpstr>Backbone.js</vt:lpstr>
      <vt:lpstr>Grunt.js</vt:lpstr>
      <vt:lpstr>Bower</vt:lpstr>
      <vt:lpstr>Slide 28</vt:lpstr>
      <vt:lpstr>Lit</vt:lpstr>
      <vt:lpstr>Stencil</vt:lpstr>
      <vt:lpstr>Slide 31</vt:lpstr>
      <vt:lpstr>SPA Tradeoffs [4]</vt:lpstr>
      <vt:lpstr>Progressive Web Apps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3916</cp:revision>
  <dcterms:created xsi:type="dcterms:W3CDTF">2007-10-06T08:25:13Z</dcterms:created>
  <dcterms:modified xsi:type="dcterms:W3CDTF">2025-08-04T15:19:12Z</dcterms:modified>
</cp:coreProperties>
</file>