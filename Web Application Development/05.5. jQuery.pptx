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6"/>
  </p:notesMasterIdLst>
  <p:handoutMasterIdLst>
    <p:handoutMasterId r:id="rId47"/>
  </p:handoutMasterIdLst>
  <p:sldIdLst>
    <p:sldId id="256" r:id="rId2"/>
    <p:sldId id="431" r:id="rId3"/>
    <p:sldId id="503" r:id="rId4"/>
    <p:sldId id="423" r:id="rId5"/>
    <p:sldId id="458" r:id="rId6"/>
    <p:sldId id="494" r:id="rId7"/>
    <p:sldId id="495" r:id="rId8"/>
    <p:sldId id="496" r:id="rId9"/>
    <p:sldId id="508" r:id="rId10"/>
    <p:sldId id="498" r:id="rId11"/>
    <p:sldId id="499" r:id="rId12"/>
    <p:sldId id="500" r:id="rId13"/>
    <p:sldId id="501" r:id="rId14"/>
    <p:sldId id="505" r:id="rId15"/>
    <p:sldId id="506" r:id="rId16"/>
    <p:sldId id="502" r:id="rId17"/>
    <p:sldId id="459" r:id="rId18"/>
    <p:sldId id="509" r:id="rId19"/>
    <p:sldId id="510" r:id="rId20"/>
    <p:sldId id="511" r:id="rId21"/>
    <p:sldId id="460" r:id="rId22"/>
    <p:sldId id="469" r:id="rId23"/>
    <p:sldId id="464" r:id="rId24"/>
    <p:sldId id="470" r:id="rId25"/>
    <p:sldId id="467" r:id="rId26"/>
    <p:sldId id="471" r:id="rId27"/>
    <p:sldId id="472" r:id="rId28"/>
    <p:sldId id="474" r:id="rId29"/>
    <p:sldId id="490" r:id="rId30"/>
    <p:sldId id="484" r:id="rId31"/>
    <p:sldId id="492" r:id="rId32"/>
    <p:sldId id="475" r:id="rId33"/>
    <p:sldId id="477" r:id="rId34"/>
    <p:sldId id="479" r:id="rId35"/>
    <p:sldId id="480" r:id="rId36"/>
    <p:sldId id="481" r:id="rId37"/>
    <p:sldId id="482" r:id="rId38"/>
    <p:sldId id="485" r:id="rId39"/>
    <p:sldId id="487" r:id="rId40"/>
    <p:sldId id="489" r:id="rId41"/>
    <p:sldId id="488" r:id="rId42"/>
    <p:sldId id="466" r:id="rId43"/>
    <p:sldId id="507" r:id="rId44"/>
    <p:sldId id="343" r:id="rId4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1029" autoAdjust="0"/>
    <p:restoredTop sz="94667" autoAdjust="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0540A-F6E6-4195-9860-4EE39CABFE7B}" type="datetimeFigureOut">
              <a:rPr lang="en-US" smtClean="0"/>
              <a:pPr/>
              <a:t>2/5/2024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06245-CAB1-4BEB-9F86-F0CF1972228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jquery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jquery.com/category/selectors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igitalBush/jquery.maskedinput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crunchify.com/jquery-very-simple-showhide-panel-on-mouse-click-event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jqueryui.co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tailwindcss.com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jquerymobile.com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api.jquerymobile.com/icons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demos.jquerymobile.com/1.4.5/grids/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err="1" smtClean="0"/>
              <a:t>jQuery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hlinkClick r:id="rId2"/>
              </a:rPr>
              <a:t>nhbien@fit.hcmus.edu.vn</a:t>
            </a: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implement UI interactions</a:t>
            </a:r>
            <a:r>
              <a:rPr lang="en-US" sz="2400" dirty="0" smtClean="0"/>
              <a:t> using </a:t>
            </a:r>
            <a:r>
              <a:rPr lang="en-US" sz="2400" dirty="0" err="1" smtClean="0"/>
              <a:t>jQuery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err="1" smtClean="0"/>
              <a:t>Semmy</a:t>
            </a:r>
            <a:r>
              <a:rPr lang="en-US" sz="2400" dirty="0" smtClean="0"/>
              <a:t> </a:t>
            </a:r>
            <a:r>
              <a:rPr lang="en-US" sz="2400" dirty="0" err="1" smtClean="0"/>
              <a:t>Purewal</a:t>
            </a:r>
            <a:r>
              <a:rPr lang="en-US" sz="2400" dirty="0" smtClean="0"/>
              <a:t> (2014). Learning Web App Development. O'Reilly Media.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err="1" smtClean="0"/>
              <a:t>Maximiliano</a:t>
            </a:r>
            <a:r>
              <a:rPr lang="en-US" sz="2400" dirty="0" smtClean="0"/>
              <a:t> </a:t>
            </a:r>
            <a:r>
              <a:rPr lang="en-US" sz="2400" dirty="0" err="1" smtClean="0"/>
              <a:t>Firtman</a:t>
            </a:r>
            <a:r>
              <a:rPr lang="en-US" sz="2400" dirty="0" smtClean="0"/>
              <a:t> (2012). </a:t>
            </a:r>
            <a:r>
              <a:rPr lang="en-US" sz="2400" dirty="0" err="1" smtClean="0"/>
              <a:t>jQuery</a:t>
            </a:r>
            <a:r>
              <a:rPr lang="en-US" sz="2400" dirty="0" smtClean="0"/>
              <a:t> Mobile Up and Running. O’Reilly.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https://jquery.com/</a:t>
            </a:r>
            <a:endParaRPr lang="en-US" sz="2200" dirty="0" smtClean="0"/>
          </a:p>
          <a:p>
            <a:r>
              <a:rPr lang="en-US" sz="2200" i="1" dirty="0" err="1" smtClean="0">
                <a:solidFill>
                  <a:srgbClr val="C00000"/>
                </a:solidFill>
              </a:rPr>
              <a:t>jQuery</a:t>
            </a:r>
            <a:r>
              <a:rPr lang="en-US" sz="2200" dirty="0" smtClean="0"/>
              <a:t> is a fast, small, and feature-rich </a:t>
            </a:r>
            <a:r>
              <a:rPr lang="en-US" sz="2200" u="sng" dirty="0" smtClean="0"/>
              <a:t>JavaScript library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It makes things like HTML document traversal and manipulation, event handling, animation, and Ajax much simpler with an easy-to-use API that works across a multitude of browsers.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3907155"/>
            <a:ext cx="4562475" cy="2265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Hello World [1]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831300"/>
            <a:ext cx="6858000" cy="304698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Hello 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jQuery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link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href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"style.css"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rel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stylesheet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"text/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css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Hello 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jQuery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"https://code.jquery.com/jquery-3.6.0.min.js"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"app.js"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34200" y="1143000"/>
            <a:ext cx="1905000" cy="107721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*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margin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padding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sz="1600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57800" y="2895600"/>
            <a:ext cx="145103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b="1" dirty="0" smtClean="0">
                <a:latin typeface="Consolas" pitchFamily="49" charset="0"/>
              </a:rPr>
              <a:t>index.html</a:t>
            </a:r>
            <a:endParaRPr lang="en-US" b="1" dirty="0">
              <a:latin typeface="Consolas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0" y="2362200"/>
            <a:ext cx="132440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b="1" dirty="0" smtClean="0">
                <a:latin typeface="Consolas" pitchFamily="49" charset="0"/>
              </a:rPr>
              <a:t>style.css</a:t>
            </a:r>
            <a:endParaRPr lang="en-US" b="1" dirty="0">
              <a:latin typeface="Consolas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1000" y="4953000"/>
            <a:ext cx="5181600" cy="132343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"use strict"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window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alert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"Hello 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jQuery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!"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$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ready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1600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38600" y="5181600"/>
            <a:ext cx="94449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b="1" dirty="0" smtClean="0">
                <a:latin typeface="Consolas" pitchFamily="49" charset="0"/>
              </a:rPr>
              <a:t>app.js</a:t>
            </a:r>
            <a:endParaRPr lang="en-US" b="1" dirty="0">
              <a:latin typeface="Consolas" pitchFamily="49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4419600"/>
            <a:ext cx="3760470" cy="7658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Handle Click Events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4419600"/>
            <a:ext cx="8458200" cy="224676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() 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"use strict"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$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".comment-input button"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on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"click"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event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$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new_comment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$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"&lt;p&gt;"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),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    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comment_text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$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".comment-input input"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val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$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new_comment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text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comment_text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$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".comments"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append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$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new_comment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});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$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document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ready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14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371600"/>
            <a:ext cx="567372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648200" y="1981200"/>
            <a:ext cx="4343400" cy="252376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section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'comment-input'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p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Add Your Comment: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p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input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button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button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section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section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'comments'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p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This is the first comment!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p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p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Here's the second one!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p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p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And this is one more.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p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p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Here is another one!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p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section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4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Use </a:t>
            </a:r>
            <a:r>
              <a:rPr lang="en-US" dirty="0" err="1" smtClean="0"/>
              <a:t>jQuery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Essentially, </a:t>
            </a:r>
            <a:r>
              <a:rPr lang="en-US" sz="2600" dirty="0" err="1" smtClean="0"/>
              <a:t>jQuery</a:t>
            </a:r>
            <a:r>
              <a:rPr lang="en-US" sz="2600" dirty="0" smtClean="0"/>
              <a:t> offers us three things:</a:t>
            </a:r>
          </a:p>
          <a:p>
            <a:pPr lvl="1"/>
            <a:r>
              <a:rPr lang="en-US" sz="2200" dirty="0" smtClean="0"/>
              <a:t>A streamlined, expressive approach to </a:t>
            </a:r>
            <a:r>
              <a:rPr lang="en-US" sz="2200" i="1" dirty="0" smtClean="0">
                <a:solidFill>
                  <a:srgbClr val="C00000"/>
                </a:solidFill>
              </a:rPr>
              <a:t>DOM manipulation</a:t>
            </a:r>
          </a:p>
          <a:p>
            <a:pPr lvl="1"/>
            <a:r>
              <a:rPr lang="en-US" sz="2200" dirty="0" smtClean="0"/>
              <a:t>A consistent approach to </a:t>
            </a:r>
            <a:r>
              <a:rPr lang="en-US" sz="2200" i="1" dirty="0" smtClean="0">
                <a:solidFill>
                  <a:srgbClr val="C00000"/>
                </a:solidFill>
              </a:rPr>
              <a:t>DOM event handling</a:t>
            </a:r>
          </a:p>
          <a:p>
            <a:pPr lvl="1"/>
            <a:r>
              <a:rPr lang="en-US" sz="2200" dirty="0" smtClean="0"/>
              <a:t>A simplified approach to AJAX</a:t>
            </a:r>
            <a:endParaRPr lang="en-US" sz="2200" dirty="0"/>
          </a:p>
        </p:txBody>
      </p:sp>
      <p:pic>
        <p:nvPicPr>
          <p:cNvPr id="38914" name="Picture 2" descr="https://www.studytienganh.vn/upload/2017/12/4905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3886200"/>
            <a:ext cx="3241829" cy="16658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jQuery</a:t>
            </a:r>
            <a:r>
              <a:rPr lang="en-US" dirty="0" smtClean="0"/>
              <a:t> Selectors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https://api.jquery.com/category/selectors/</a:t>
            </a:r>
            <a:endParaRPr lang="en-US" sz="2200" dirty="0" smtClean="0"/>
          </a:p>
          <a:p>
            <a:r>
              <a:rPr lang="en-US" sz="2200" i="1" dirty="0" err="1" smtClean="0">
                <a:solidFill>
                  <a:srgbClr val="C00000"/>
                </a:solidFill>
              </a:rPr>
              <a:t>jQuery</a:t>
            </a:r>
            <a:r>
              <a:rPr lang="en-US" sz="2200" i="1" dirty="0" smtClean="0">
                <a:solidFill>
                  <a:srgbClr val="C00000"/>
                </a:solidFill>
              </a:rPr>
              <a:t> selectors</a:t>
            </a:r>
            <a:r>
              <a:rPr lang="en-US" sz="2200" dirty="0" smtClean="0"/>
              <a:t> are very </a:t>
            </a:r>
            <a:r>
              <a:rPr lang="en-US" sz="2200" u="sng" dirty="0" smtClean="0"/>
              <a:t>similar</a:t>
            </a:r>
            <a:r>
              <a:rPr lang="en-US" sz="2200" dirty="0" smtClean="0"/>
              <a:t> to </a:t>
            </a:r>
            <a:r>
              <a:rPr lang="en-US" sz="2200" u="sng" dirty="0" smtClean="0"/>
              <a:t>CSS selectors</a:t>
            </a:r>
            <a:r>
              <a:rPr lang="en-US" sz="2200" dirty="0" smtClean="0"/>
              <a:t>.</a:t>
            </a:r>
          </a:p>
          <a:p>
            <a:r>
              <a:rPr lang="en-US" sz="2200" dirty="0" err="1" smtClean="0"/>
              <a:t>jQuery</a:t>
            </a:r>
            <a:r>
              <a:rPr lang="en-US" sz="2200" dirty="0" smtClean="0"/>
              <a:t> selectors </a:t>
            </a:r>
            <a:r>
              <a:rPr lang="en-US" sz="2200" u="sng" dirty="0" smtClean="0"/>
              <a:t>aren’t identical</a:t>
            </a:r>
            <a:r>
              <a:rPr lang="en-US" sz="2200" dirty="0" smtClean="0"/>
              <a:t> to CSS selectors in all cases.</a:t>
            </a:r>
          </a:p>
          <a:p>
            <a:r>
              <a:rPr lang="en-US" sz="2200" dirty="0" err="1" smtClean="0"/>
              <a:t>jQuery</a:t>
            </a:r>
            <a:r>
              <a:rPr lang="en-US" sz="2200" dirty="0" smtClean="0"/>
              <a:t> adds a rich set of </a:t>
            </a:r>
            <a:r>
              <a:rPr lang="en-US" sz="2200" dirty="0" err="1" smtClean="0"/>
              <a:t>pseudoclasses</a:t>
            </a:r>
            <a:r>
              <a:rPr lang="en-US" sz="2200" dirty="0" smtClean="0"/>
              <a:t> and </a:t>
            </a:r>
            <a:r>
              <a:rPr lang="en-US" sz="2200" dirty="0" err="1" smtClean="0"/>
              <a:t>pseudoelements</a:t>
            </a:r>
            <a:r>
              <a:rPr lang="en-US" sz="2200" dirty="0" smtClean="0"/>
              <a:t> that are not currently available in CSS.</a:t>
            </a:r>
          </a:p>
          <a:p>
            <a:endParaRPr lang="en-US" sz="2200" dirty="0"/>
          </a:p>
        </p:txBody>
      </p:sp>
      <p:sp>
        <p:nvSpPr>
          <p:cNvPr id="4" name="Rectangle 3"/>
          <p:cNvSpPr/>
          <p:nvPr/>
        </p:nvSpPr>
        <p:spPr>
          <a:xfrm>
            <a:off x="533400" y="3975318"/>
            <a:ext cx="8077200" cy="1815882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i="1" dirty="0" smtClean="0">
                <a:latin typeface="Consolas" pitchFamily="49" charset="0"/>
              </a:rPr>
              <a:t>$("*"); // selects all elements in the document</a:t>
            </a:r>
          </a:p>
          <a:p>
            <a:r>
              <a:rPr lang="en-US" sz="1600" i="1" dirty="0" smtClean="0">
                <a:latin typeface="Consolas" pitchFamily="49" charset="0"/>
              </a:rPr>
              <a:t>$("h1"); // selects all of the h1 elements</a:t>
            </a:r>
          </a:p>
          <a:p>
            <a:r>
              <a:rPr lang="en-US" sz="1600" i="1" dirty="0" smtClean="0">
                <a:latin typeface="Consolas" pitchFamily="49" charset="0"/>
              </a:rPr>
              <a:t>$("p"); // selects all of the p elements</a:t>
            </a:r>
          </a:p>
          <a:p>
            <a:r>
              <a:rPr lang="en-US" sz="1600" i="1" dirty="0" smtClean="0">
                <a:latin typeface="Consolas" pitchFamily="49" charset="0"/>
              </a:rPr>
              <a:t>$("p .first"); // selects all paragraph elements with the class 'first'</a:t>
            </a:r>
          </a:p>
          <a:p>
            <a:r>
              <a:rPr lang="en-US" sz="1600" i="1" dirty="0" smtClean="0">
                <a:latin typeface="Consolas" pitchFamily="49" charset="0"/>
              </a:rPr>
              <a:t>$(".first"); // selects all elements with the class 'first'</a:t>
            </a:r>
          </a:p>
          <a:p>
            <a:r>
              <a:rPr lang="en-US" sz="1600" i="1" dirty="0" smtClean="0">
                <a:latin typeface="Consolas" pitchFamily="49" charset="0"/>
              </a:rPr>
              <a:t>$("p:nth-child(3)"); // selects all paragraph elements that are the third child</a:t>
            </a:r>
            <a:endParaRPr lang="en-US" sz="16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Elements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89318"/>
            <a:ext cx="3352800" cy="1815882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latin typeface="Consolas" pitchFamily="49" charset="0"/>
              </a:rPr>
              <a:t>&lt;body&gt;</a:t>
            </a:r>
          </a:p>
          <a:p>
            <a:r>
              <a:rPr lang="en-US" sz="1600" dirty="0" smtClean="0">
                <a:latin typeface="Consolas" pitchFamily="49" charset="0"/>
              </a:rPr>
              <a:t>&lt;h1&gt;This is an example!&lt;/h1&gt;</a:t>
            </a:r>
          </a:p>
          <a:p>
            <a:r>
              <a:rPr lang="en-US" sz="1600" dirty="0" smtClean="0">
                <a:latin typeface="Consolas" pitchFamily="49" charset="0"/>
              </a:rPr>
              <a:t>&lt;main&gt;</a:t>
            </a:r>
          </a:p>
          <a:p>
            <a:r>
              <a:rPr lang="en-US" sz="1600" dirty="0" smtClean="0">
                <a:latin typeface="Consolas" pitchFamily="49" charset="0"/>
              </a:rPr>
              <a:t>&lt;/main&gt;</a:t>
            </a:r>
          </a:p>
          <a:p>
            <a:r>
              <a:rPr lang="en-US" sz="1600" dirty="0" smtClean="0">
                <a:latin typeface="Consolas" pitchFamily="49" charset="0"/>
              </a:rPr>
              <a:t>&lt;footer&gt;</a:t>
            </a:r>
          </a:p>
          <a:p>
            <a:r>
              <a:rPr lang="en-US" sz="1600" dirty="0" smtClean="0">
                <a:latin typeface="Consolas" pitchFamily="49" charset="0"/>
              </a:rPr>
              <a:t>&lt;/footer&gt;</a:t>
            </a:r>
          </a:p>
          <a:p>
            <a:r>
              <a:rPr lang="en-US" sz="1600" dirty="0" smtClean="0">
                <a:latin typeface="Consolas" pitchFamily="49" charset="0"/>
              </a:rPr>
              <a:t>&lt;/body&gt;</a:t>
            </a:r>
            <a:endParaRPr lang="en-US" sz="16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1676400"/>
            <a:ext cx="277749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57200" y="3962400"/>
            <a:ext cx="4191000" cy="206210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latin typeface="Consolas" pitchFamily="49" charset="0"/>
              </a:rPr>
              <a:t>// By convention, I start </a:t>
            </a:r>
            <a:r>
              <a:rPr lang="en-US" sz="1600" dirty="0" err="1" smtClean="0">
                <a:latin typeface="Consolas" pitchFamily="49" charset="0"/>
              </a:rPr>
              <a:t>jQuery</a:t>
            </a:r>
            <a:r>
              <a:rPr lang="en-US" sz="1600" dirty="0" smtClean="0">
                <a:latin typeface="Consolas" pitchFamily="49" charset="0"/>
              </a:rPr>
              <a:t> object variables with a $</a:t>
            </a:r>
          </a:p>
          <a:p>
            <a:r>
              <a:rPr lang="en-US" sz="1600" dirty="0" err="1" smtClean="0">
                <a:latin typeface="Consolas" pitchFamily="49" charset="0"/>
              </a:rPr>
              <a:t>var</a:t>
            </a:r>
            <a:r>
              <a:rPr lang="en-US" sz="1600" dirty="0" smtClean="0">
                <a:latin typeface="Consolas" pitchFamily="49" charset="0"/>
              </a:rPr>
              <a:t> $</a:t>
            </a:r>
            <a:r>
              <a:rPr lang="en-US" sz="1600" dirty="0" err="1" smtClean="0">
                <a:latin typeface="Consolas" pitchFamily="49" charset="0"/>
              </a:rPr>
              <a:t>newUL</a:t>
            </a:r>
            <a:r>
              <a:rPr lang="en-US" sz="1600" dirty="0" smtClean="0">
                <a:latin typeface="Consolas" pitchFamily="49" charset="0"/>
              </a:rPr>
              <a:t> = $("&lt;</a:t>
            </a:r>
            <a:r>
              <a:rPr lang="en-US" sz="1600" dirty="0" err="1" smtClean="0">
                <a:latin typeface="Consolas" pitchFamily="49" charset="0"/>
              </a:rPr>
              <a:t>ul</a:t>
            </a:r>
            <a:r>
              <a:rPr lang="en-US" sz="1600" dirty="0" smtClean="0">
                <a:latin typeface="Consolas" pitchFamily="49" charset="0"/>
              </a:rPr>
              <a:t>&gt;"); //create a new </a:t>
            </a:r>
            <a:r>
              <a:rPr lang="en-US" sz="1600" dirty="0" err="1" smtClean="0">
                <a:latin typeface="Consolas" pitchFamily="49" charset="0"/>
              </a:rPr>
              <a:t>li</a:t>
            </a:r>
            <a:r>
              <a:rPr lang="en-US" sz="1600" dirty="0" smtClean="0">
                <a:latin typeface="Consolas" pitchFamily="49" charset="0"/>
              </a:rPr>
              <a:t> element</a:t>
            </a:r>
          </a:p>
          <a:p>
            <a:r>
              <a:rPr lang="en-US" sz="1600" dirty="0" err="1" smtClean="0">
                <a:latin typeface="Consolas" pitchFamily="49" charset="0"/>
              </a:rPr>
              <a:t>var</a:t>
            </a:r>
            <a:r>
              <a:rPr lang="en-US" sz="1600" dirty="0" smtClean="0">
                <a:latin typeface="Consolas" pitchFamily="49" charset="0"/>
              </a:rPr>
              <a:t> $</a:t>
            </a:r>
            <a:r>
              <a:rPr lang="en-US" sz="1600" dirty="0" err="1" smtClean="0">
                <a:latin typeface="Consolas" pitchFamily="49" charset="0"/>
              </a:rPr>
              <a:t>newParagraphElement</a:t>
            </a:r>
            <a:r>
              <a:rPr lang="en-US" sz="1600" dirty="0" smtClean="0">
                <a:latin typeface="Consolas" pitchFamily="49" charset="0"/>
              </a:rPr>
              <a:t> = $("&lt;p&gt;"); // create a new p element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$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newParagraphElement.text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("this is a paragraph");</a:t>
            </a:r>
            <a:endParaRPr lang="en-US" sz="16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3810000"/>
            <a:ext cx="3851275" cy="234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Add Elements to the DOM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1676400"/>
            <a:ext cx="277749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57200" y="1447800"/>
            <a:ext cx="4495800" cy="5047536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latin typeface="Consolas" pitchFamily="49" charset="0"/>
              </a:rPr>
              <a:t>// By convention, I start </a:t>
            </a:r>
            <a:r>
              <a:rPr lang="en-US" sz="1400" dirty="0" err="1" smtClean="0">
                <a:latin typeface="Consolas" pitchFamily="49" charset="0"/>
              </a:rPr>
              <a:t>jQuery</a:t>
            </a:r>
            <a:r>
              <a:rPr lang="en-US" sz="1400" dirty="0" smtClean="0">
                <a:latin typeface="Consolas" pitchFamily="49" charset="0"/>
              </a:rPr>
              <a:t> object variables with a $</a:t>
            </a:r>
          </a:p>
          <a:p>
            <a:r>
              <a:rPr lang="en-US" sz="1400" dirty="0" err="1" smtClean="0">
                <a:latin typeface="Consolas" pitchFamily="49" charset="0"/>
              </a:rPr>
              <a:t>var</a:t>
            </a:r>
            <a:r>
              <a:rPr lang="en-US" sz="1400" dirty="0" smtClean="0">
                <a:latin typeface="Consolas" pitchFamily="49" charset="0"/>
              </a:rPr>
              <a:t> $</a:t>
            </a:r>
            <a:r>
              <a:rPr lang="en-US" sz="1400" dirty="0" err="1" smtClean="0">
                <a:latin typeface="Consolas" pitchFamily="49" charset="0"/>
              </a:rPr>
              <a:t>newUL</a:t>
            </a:r>
            <a:r>
              <a:rPr lang="en-US" sz="1400" dirty="0" smtClean="0">
                <a:latin typeface="Consolas" pitchFamily="49" charset="0"/>
              </a:rPr>
              <a:t> = $("&lt;</a:t>
            </a:r>
            <a:r>
              <a:rPr lang="en-US" sz="1400" dirty="0" err="1" smtClean="0">
                <a:latin typeface="Consolas" pitchFamily="49" charset="0"/>
              </a:rPr>
              <a:t>ul</a:t>
            </a:r>
            <a:r>
              <a:rPr lang="en-US" sz="1400" dirty="0" smtClean="0">
                <a:latin typeface="Consolas" pitchFamily="49" charset="0"/>
              </a:rPr>
              <a:t>&gt;"); //create a new </a:t>
            </a:r>
            <a:r>
              <a:rPr lang="en-US" sz="1400" dirty="0" err="1" smtClean="0">
                <a:latin typeface="Consolas" pitchFamily="49" charset="0"/>
              </a:rPr>
              <a:t>li</a:t>
            </a:r>
            <a:r>
              <a:rPr lang="en-US" sz="1400" dirty="0" smtClean="0">
                <a:latin typeface="Consolas" pitchFamily="49" charset="0"/>
              </a:rPr>
              <a:t> element</a:t>
            </a:r>
          </a:p>
          <a:p>
            <a:r>
              <a:rPr lang="en-US" sz="1400" dirty="0" err="1" smtClean="0">
                <a:latin typeface="Consolas" pitchFamily="49" charset="0"/>
              </a:rPr>
              <a:t>var</a:t>
            </a:r>
            <a:r>
              <a:rPr lang="en-US" sz="1400" dirty="0" smtClean="0">
                <a:latin typeface="Consolas" pitchFamily="49" charset="0"/>
              </a:rPr>
              <a:t> $</a:t>
            </a:r>
            <a:r>
              <a:rPr lang="en-US" sz="1400" dirty="0" err="1" smtClean="0">
                <a:latin typeface="Consolas" pitchFamily="49" charset="0"/>
              </a:rPr>
              <a:t>newParagraphElement</a:t>
            </a:r>
            <a:r>
              <a:rPr lang="en-US" sz="1400" dirty="0" smtClean="0">
                <a:latin typeface="Consolas" pitchFamily="49" charset="0"/>
              </a:rPr>
              <a:t> = $("&lt;p&gt;"); // create a new p element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$</a:t>
            </a:r>
            <a:r>
              <a:rPr lang="en-US" sz="1400" dirty="0" err="1" smtClean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newParagraphElement.text</a:t>
            </a:r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("this is a paragraph");</a:t>
            </a:r>
          </a:p>
          <a:p>
            <a:r>
              <a:rPr lang="en-US" sz="1400" b="1" dirty="0" smtClean="0">
                <a:solidFill>
                  <a:srgbClr val="C00000"/>
                </a:solidFill>
                <a:latin typeface="Consolas" pitchFamily="49" charset="0"/>
              </a:rPr>
              <a:t>$("footer").append($</a:t>
            </a:r>
            <a:r>
              <a:rPr lang="en-US" sz="1400" b="1" dirty="0" err="1" smtClean="0">
                <a:solidFill>
                  <a:srgbClr val="C00000"/>
                </a:solidFill>
                <a:latin typeface="Consolas" pitchFamily="49" charset="0"/>
              </a:rPr>
              <a:t>newParagraphElement</a:t>
            </a:r>
            <a:r>
              <a:rPr lang="en-US" sz="1400" b="1" dirty="0" smtClean="0">
                <a:solidFill>
                  <a:srgbClr val="C00000"/>
                </a:solidFill>
                <a:latin typeface="Consolas" pitchFamily="49" charset="0"/>
              </a:rPr>
              <a:t>);</a:t>
            </a:r>
          </a:p>
          <a:p>
            <a:r>
              <a:rPr lang="en-US" sz="1400" i="1" dirty="0" smtClean="0">
                <a:latin typeface="Consolas" pitchFamily="49" charset="0"/>
              </a:rPr>
              <a:t>// we can chain our creation and call to add the text</a:t>
            </a:r>
          </a:p>
          <a:p>
            <a:r>
              <a:rPr lang="en-US" sz="1400" b="1" dirty="0" err="1" smtClean="0">
                <a:latin typeface="Consolas" pitchFamily="49" charset="0"/>
              </a:rPr>
              <a:t>var</a:t>
            </a:r>
            <a:r>
              <a:rPr lang="en-US" sz="1400" b="1" dirty="0" smtClean="0">
                <a:latin typeface="Consolas" pitchFamily="49" charset="0"/>
              </a:rPr>
              <a:t> $</a:t>
            </a:r>
            <a:r>
              <a:rPr lang="en-US" sz="1400" b="1" dirty="0" err="1" smtClean="0">
                <a:latin typeface="Consolas" pitchFamily="49" charset="0"/>
              </a:rPr>
              <a:t>listItemOne</a:t>
            </a:r>
            <a:r>
              <a:rPr lang="en-US" sz="1400" b="1" dirty="0" smtClean="0">
                <a:latin typeface="Consolas" pitchFamily="49" charset="0"/>
              </a:rPr>
              <a:t> = $("&lt;</a:t>
            </a:r>
            <a:r>
              <a:rPr lang="en-US" sz="1400" b="1" dirty="0" err="1" smtClean="0">
                <a:latin typeface="Consolas" pitchFamily="49" charset="0"/>
              </a:rPr>
              <a:t>li</a:t>
            </a:r>
            <a:r>
              <a:rPr lang="en-US" sz="1400" b="1" dirty="0" smtClean="0">
                <a:latin typeface="Consolas" pitchFamily="49" charset="0"/>
              </a:rPr>
              <a:t>&gt;").text("this is the first list item");</a:t>
            </a:r>
          </a:p>
          <a:p>
            <a:r>
              <a:rPr lang="en-US" sz="1400" b="1" dirty="0" err="1" smtClean="0">
                <a:latin typeface="Consolas" pitchFamily="49" charset="0"/>
              </a:rPr>
              <a:t>var</a:t>
            </a:r>
            <a:r>
              <a:rPr lang="en-US" sz="1400" b="1" dirty="0" smtClean="0">
                <a:latin typeface="Consolas" pitchFamily="49" charset="0"/>
              </a:rPr>
              <a:t> $</a:t>
            </a:r>
            <a:r>
              <a:rPr lang="en-US" sz="1400" b="1" dirty="0" err="1" smtClean="0">
                <a:latin typeface="Consolas" pitchFamily="49" charset="0"/>
              </a:rPr>
              <a:t>listItemTwo</a:t>
            </a:r>
            <a:r>
              <a:rPr lang="en-US" sz="1400" b="1" dirty="0" smtClean="0">
                <a:latin typeface="Consolas" pitchFamily="49" charset="0"/>
              </a:rPr>
              <a:t> = $("&lt;</a:t>
            </a:r>
            <a:r>
              <a:rPr lang="en-US" sz="1400" b="1" dirty="0" err="1" smtClean="0">
                <a:latin typeface="Consolas" pitchFamily="49" charset="0"/>
              </a:rPr>
              <a:t>li</a:t>
            </a:r>
            <a:r>
              <a:rPr lang="en-US" sz="1400" b="1" dirty="0" smtClean="0">
                <a:latin typeface="Consolas" pitchFamily="49" charset="0"/>
              </a:rPr>
              <a:t>&gt;").text("second list item");</a:t>
            </a:r>
          </a:p>
          <a:p>
            <a:r>
              <a:rPr lang="en-US" sz="1400" b="1" dirty="0" err="1" smtClean="0">
                <a:latin typeface="Consolas" pitchFamily="49" charset="0"/>
              </a:rPr>
              <a:t>var</a:t>
            </a:r>
            <a:r>
              <a:rPr lang="en-US" sz="1400" b="1" dirty="0" smtClean="0">
                <a:latin typeface="Consolas" pitchFamily="49" charset="0"/>
              </a:rPr>
              <a:t> $</a:t>
            </a:r>
            <a:r>
              <a:rPr lang="en-US" sz="1400" b="1" dirty="0" err="1" smtClean="0">
                <a:latin typeface="Consolas" pitchFamily="49" charset="0"/>
              </a:rPr>
              <a:t>listItemThree</a:t>
            </a:r>
            <a:r>
              <a:rPr lang="en-US" sz="1400" b="1" dirty="0" smtClean="0">
                <a:latin typeface="Consolas" pitchFamily="49" charset="0"/>
              </a:rPr>
              <a:t> = $("&lt;</a:t>
            </a:r>
            <a:r>
              <a:rPr lang="en-US" sz="1400" b="1" dirty="0" err="1" smtClean="0">
                <a:latin typeface="Consolas" pitchFamily="49" charset="0"/>
              </a:rPr>
              <a:t>li</a:t>
            </a:r>
            <a:r>
              <a:rPr lang="en-US" sz="1400" b="1" dirty="0" smtClean="0">
                <a:latin typeface="Consolas" pitchFamily="49" charset="0"/>
              </a:rPr>
              <a:t>&gt;").text("OMG third list item");</a:t>
            </a:r>
          </a:p>
          <a:p>
            <a:r>
              <a:rPr lang="en-US" sz="1400" i="1" dirty="0" smtClean="0">
                <a:latin typeface="Consolas" pitchFamily="49" charset="0"/>
              </a:rPr>
              <a:t>// now we'll append these elements to the </a:t>
            </a:r>
            <a:r>
              <a:rPr lang="en-US" sz="1400" i="1" dirty="0" err="1" smtClean="0">
                <a:latin typeface="Consolas" pitchFamily="49" charset="0"/>
              </a:rPr>
              <a:t>ul</a:t>
            </a:r>
            <a:r>
              <a:rPr lang="en-US" sz="1400" i="1" dirty="0" smtClean="0">
                <a:latin typeface="Consolas" pitchFamily="49" charset="0"/>
              </a:rPr>
              <a:t> element we created earlier</a:t>
            </a:r>
          </a:p>
          <a:p>
            <a:r>
              <a:rPr lang="en-US" sz="1400" dirty="0" smtClean="0">
                <a:latin typeface="Consolas" pitchFamily="49" charset="0"/>
              </a:rPr>
              <a:t>$</a:t>
            </a:r>
            <a:r>
              <a:rPr lang="en-US" sz="1400" dirty="0" err="1" smtClean="0">
                <a:latin typeface="Consolas" pitchFamily="49" charset="0"/>
              </a:rPr>
              <a:t>newUL.append</a:t>
            </a:r>
            <a:r>
              <a:rPr lang="en-US" sz="1400" dirty="0" smtClean="0">
                <a:latin typeface="Consolas" pitchFamily="49" charset="0"/>
              </a:rPr>
              <a:t>($</a:t>
            </a:r>
            <a:r>
              <a:rPr lang="en-US" sz="1400" dirty="0" err="1" smtClean="0">
                <a:latin typeface="Consolas" pitchFamily="49" charset="0"/>
              </a:rPr>
              <a:t>listItemOne</a:t>
            </a:r>
            <a:r>
              <a:rPr lang="en-US" sz="1400" dirty="0" smtClean="0">
                <a:latin typeface="Consolas" pitchFamily="49" charset="0"/>
              </a:rPr>
              <a:t>);</a:t>
            </a:r>
          </a:p>
          <a:p>
            <a:r>
              <a:rPr lang="en-US" sz="1400" dirty="0" smtClean="0">
                <a:latin typeface="Consolas" pitchFamily="49" charset="0"/>
              </a:rPr>
              <a:t>$</a:t>
            </a:r>
            <a:r>
              <a:rPr lang="en-US" sz="1400" dirty="0" err="1" smtClean="0">
                <a:latin typeface="Consolas" pitchFamily="49" charset="0"/>
              </a:rPr>
              <a:t>newUL.append</a:t>
            </a:r>
            <a:r>
              <a:rPr lang="en-US" sz="1400" dirty="0" smtClean="0">
                <a:latin typeface="Consolas" pitchFamily="49" charset="0"/>
              </a:rPr>
              <a:t>($</a:t>
            </a:r>
            <a:r>
              <a:rPr lang="en-US" sz="1400" dirty="0" err="1" smtClean="0">
                <a:latin typeface="Consolas" pitchFamily="49" charset="0"/>
              </a:rPr>
              <a:t>listItemTwo</a:t>
            </a:r>
            <a:r>
              <a:rPr lang="en-US" sz="1400" dirty="0" smtClean="0">
                <a:latin typeface="Consolas" pitchFamily="49" charset="0"/>
              </a:rPr>
              <a:t>);</a:t>
            </a:r>
          </a:p>
          <a:p>
            <a:r>
              <a:rPr lang="en-US" sz="1400" dirty="0" smtClean="0">
                <a:latin typeface="Consolas" pitchFamily="49" charset="0"/>
              </a:rPr>
              <a:t>$</a:t>
            </a:r>
            <a:r>
              <a:rPr lang="en-US" sz="1400" dirty="0" err="1" smtClean="0">
                <a:latin typeface="Consolas" pitchFamily="49" charset="0"/>
              </a:rPr>
              <a:t>newUL.append</a:t>
            </a:r>
            <a:r>
              <a:rPr lang="en-US" sz="1400" dirty="0" smtClean="0">
                <a:latin typeface="Consolas" pitchFamily="49" charset="0"/>
              </a:rPr>
              <a:t>($</a:t>
            </a:r>
            <a:r>
              <a:rPr lang="en-US" sz="1400" dirty="0" err="1" smtClean="0">
                <a:latin typeface="Consolas" pitchFamily="49" charset="0"/>
              </a:rPr>
              <a:t>listItemThree</a:t>
            </a:r>
            <a:r>
              <a:rPr lang="en-US" sz="1400" dirty="0" smtClean="0">
                <a:latin typeface="Consolas" pitchFamily="49" charset="0"/>
              </a:rPr>
              <a:t>);</a:t>
            </a:r>
          </a:p>
          <a:p>
            <a:r>
              <a:rPr lang="en-US" sz="1400" b="1" i="1" dirty="0" smtClean="0">
                <a:latin typeface="Consolas" pitchFamily="49" charset="0"/>
              </a:rPr>
              <a:t>// $("main").append($</a:t>
            </a:r>
            <a:r>
              <a:rPr lang="en-US" sz="1400" b="1" i="1" dirty="0" err="1" smtClean="0">
                <a:latin typeface="Consolas" pitchFamily="49" charset="0"/>
              </a:rPr>
              <a:t>newUL</a:t>
            </a:r>
            <a:r>
              <a:rPr lang="en-US" sz="1400" b="1" i="1" dirty="0" smtClean="0">
                <a:latin typeface="Consolas" pitchFamily="49" charset="0"/>
              </a:rPr>
              <a:t>);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67300" y="3657600"/>
            <a:ext cx="3848100" cy="249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Events and </a:t>
            </a:r>
            <a:r>
              <a:rPr lang="en-US" dirty="0" err="1" smtClean="0"/>
              <a:t>Asynchronicity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With asynchronous programming, certain event-related functions take callbacks, or functions that are to be </a:t>
            </a:r>
            <a:r>
              <a:rPr lang="en-US" sz="2400" i="1" dirty="0" smtClean="0">
                <a:solidFill>
                  <a:srgbClr val="C00000"/>
                </a:solidFill>
              </a:rPr>
              <a:t>executed later</a:t>
            </a:r>
            <a:r>
              <a:rPr lang="en-US" sz="2400" dirty="0" smtClean="0"/>
              <a:t>, as arguments.</a:t>
            </a:r>
          </a:p>
          <a:p>
            <a:r>
              <a:rPr lang="en-US" sz="2400" dirty="0" smtClean="0"/>
              <a:t>This makes it so the </a:t>
            </a:r>
            <a:r>
              <a:rPr lang="en-US" sz="2400" i="1" dirty="0" smtClean="0">
                <a:solidFill>
                  <a:srgbClr val="C00000"/>
                </a:solidFill>
              </a:rPr>
              <a:t>execution order</a:t>
            </a:r>
            <a:r>
              <a:rPr lang="en-US" sz="2400" dirty="0" smtClean="0"/>
              <a:t> is </a:t>
            </a:r>
            <a:r>
              <a:rPr lang="en-US" sz="2400" u="sng" dirty="0" smtClean="0"/>
              <a:t>not always so clear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685800" y="3505200"/>
            <a:ext cx="3429000" cy="206210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latin typeface="Consolas" pitchFamily="49" charset="0"/>
              </a:rPr>
              <a:t>console.log("this will print first");</a:t>
            </a:r>
          </a:p>
          <a:p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smtClean="0">
                <a:latin typeface="Consolas" pitchFamily="49" charset="0"/>
              </a:rPr>
              <a:t>console.log("this will print second");</a:t>
            </a:r>
          </a:p>
          <a:p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smtClean="0">
                <a:latin typeface="Consolas" pitchFamily="49" charset="0"/>
              </a:rPr>
              <a:t>console.log("this will print third");</a:t>
            </a:r>
            <a:endParaRPr lang="en-US" sz="16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67200" y="3505200"/>
            <a:ext cx="4495800" cy="206210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latin typeface="Consolas" pitchFamily="49" charset="0"/>
              </a:rPr>
              <a:t>console.log("this will print first");</a:t>
            </a:r>
          </a:p>
          <a:p>
            <a:endParaRPr lang="en-US" sz="1600" dirty="0" smtClean="0">
              <a:latin typeface="Consolas" pitchFamily="49" charset="0"/>
            </a:endParaRPr>
          </a:p>
          <a:p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$("button").on("click", function () {</a:t>
            </a:r>
          </a:p>
          <a:p>
            <a:pPr lvl="1"/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console.log("this will only print when someone clicks");</a:t>
            </a:r>
          </a:p>
          <a:p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});</a:t>
            </a:r>
          </a:p>
          <a:p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smtClean="0">
                <a:latin typeface="Consolas" pitchFamily="49" charset="0"/>
              </a:rPr>
              <a:t>console.log("this will print second");</a:t>
            </a:r>
            <a:endParaRPr lang="en-US" sz="16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Anonymous Function 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7848600" cy="3785652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latin typeface="Consolas" pitchFamily="49" charset="0"/>
              </a:rPr>
              <a:t>// This is a </a:t>
            </a:r>
            <a:r>
              <a:rPr lang="en-US" sz="1600" dirty="0" err="1" smtClean="0">
                <a:latin typeface="Consolas" pitchFamily="49" charset="0"/>
              </a:rPr>
              <a:t>jQuery</a:t>
            </a:r>
            <a:r>
              <a:rPr lang="en-US" sz="1600" dirty="0" smtClean="0">
                <a:latin typeface="Consolas" pitchFamily="49" charset="0"/>
              </a:rPr>
              <a:t> event that executes the callback</a:t>
            </a:r>
          </a:p>
          <a:p>
            <a:r>
              <a:rPr lang="en-US" sz="1600" dirty="0" smtClean="0">
                <a:latin typeface="Consolas" pitchFamily="49" charset="0"/>
              </a:rPr>
              <a:t>// when the DOM is ready. In this example, we're using</a:t>
            </a:r>
          </a:p>
          <a:p>
            <a:r>
              <a:rPr lang="en-US" sz="1600" dirty="0" smtClean="0">
                <a:latin typeface="Consolas" pitchFamily="49" charset="0"/>
              </a:rPr>
              <a:t>// an anonymous function instead of sending the main</a:t>
            </a:r>
          </a:p>
          <a:p>
            <a:r>
              <a:rPr lang="en-US" sz="1600" dirty="0" smtClean="0">
                <a:latin typeface="Consolas" pitchFamily="49" charset="0"/>
              </a:rPr>
              <a:t>// function as an argument</a:t>
            </a:r>
          </a:p>
          <a:p>
            <a:r>
              <a:rPr lang="en-US" sz="1600" dirty="0" smtClean="0">
                <a:latin typeface="Consolas" pitchFamily="49" charset="0"/>
              </a:rPr>
              <a:t>$(document).ready(function () {</a:t>
            </a:r>
          </a:p>
          <a:p>
            <a:r>
              <a:rPr lang="en-US" sz="1600" dirty="0" smtClean="0">
                <a:latin typeface="Consolas" pitchFamily="49" charset="0"/>
              </a:rPr>
              <a:t>	</a:t>
            </a:r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console.log("this will print when the document is ready");</a:t>
            </a:r>
          </a:p>
          <a:p>
            <a:r>
              <a:rPr lang="en-US" sz="1600" dirty="0" smtClean="0">
                <a:latin typeface="Consolas" pitchFamily="49" charset="0"/>
              </a:rPr>
              <a:t>});</a:t>
            </a:r>
          </a:p>
          <a:p>
            <a:r>
              <a:rPr lang="en-US" sz="1600" dirty="0" smtClean="0">
                <a:latin typeface="Consolas" pitchFamily="49" charset="0"/>
              </a:rPr>
              <a:t>// This is a built-in JavaScript function that executes</a:t>
            </a:r>
          </a:p>
          <a:p>
            <a:r>
              <a:rPr lang="en-US" sz="1600" dirty="0" smtClean="0">
                <a:latin typeface="Consolas" pitchFamily="49" charset="0"/>
              </a:rPr>
              <a:t>// after the specified number of milliseconds</a:t>
            </a:r>
          </a:p>
          <a:p>
            <a:r>
              <a:rPr lang="en-US" sz="1600" dirty="0" err="1" smtClean="0">
                <a:latin typeface="Consolas" pitchFamily="49" charset="0"/>
              </a:rPr>
              <a:t>setTimeout</a:t>
            </a:r>
            <a:r>
              <a:rPr lang="en-US" sz="1600" dirty="0" smtClean="0">
                <a:latin typeface="Consolas" pitchFamily="49" charset="0"/>
              </a:rPr>
              <a:t>(function () {</a:t>
            </a:r>
          </a:p>
          <a:p>
            <a:r>
              <a:rPr lang="en-US" sz="1600" dirty="0" smtClean="0">
                <a:latin typeface="Consolas" pitchFamily="49" charset="0"/>
              </a:rPr>
              <a:t>	</a:t>
            </a:r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console.log("this will print after 3 seconds");</a:t>
            </a:r>
          </a:p>
          <a:p>
            <a:r>
              <a:rPr lang="en-US" sz="1600" dirty="0" smtClean="0">
                <a:latin typeface="Consolas" pitchFamily="49" charset="0"/>
              </a:rPr>
              <a:t>}, 3000);</a:t>
            </a:r>
          </a:p>
          <a:p>
            <a:r>
              <a:rPr lang="en-US" sz="1600" dirty="0" smtClean="0">
                <a:latin typeface="Consolas" pitchFamily="49" charset="0"/>
              </a:rPr>
              <a:t>// this will print before anything else, even though</a:t>
            </a:r>
          </a:p>
          <a:p>
            <a:r>
              <a:rPr lang="en-US" sz="1600" dirty="0" smtClean="0">
                <a:latin typeface="Consolas" pitchFamily="49" charset="0"/>
              </a:rPr>
              <a:t>// it appears last</a:t>
            </a:r>
          </a:p>
          <a:p>
            <a:r>
              <a:rPr lang="en-US" sz="1600" b="1" dirty="0" smtClean="0">
                <a:solidFill>
                  <a:srgbClr val="C00000"/>
                </a:solidFill>
                <a:latin typeface="Consolas" pitchFamily="49" charset="0"/>
              </a:rPr>
              <a:t>console.log("this will print first");</a:t>
            </a:r>
            <a:endParaRPr lang="en-US" sz="1600" b="1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Masked Input </a:t>
            </a:r>
            <a:r>
              <a:rPr lang="en-US" dirty="0" err="1" smtClean="0"/>
              <a:t>Plugin</a:t>
            </a:r>
            <a:r>
              <a:rPr lang="en-US" dirty="0" smtClean="0"/>
              <a:t> for </a:t>
            </a:r>
            <a:r>
              <a:rPr lang="en-US" dirty="0" err="1" smtClean="0"/>
              <a:t>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https://github.com/digitalBush/jquery.maskedinput/</a:t>
            </a:r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685800" y="2266414"/>
            <a:ext cx="7848600" cy="3600986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 err="1" smtClean="0">
                <a:latin typeface="Consolas" pitchFamily="49" charset="0"/>
              </a:rPr>
              <a:t>jQuery</a:t>
            </a:r>
            <a:r>
              <a:rPr lang="en-US" sz="1200" dirty="0" smtClean="0">
                <a:latin typeface="Consolas" pitchFamily="49" charset="0"/>
              </a:rPr>
              <a:t>(window).bind('load', function(){</a:t>
            </a:r>
          </a:p>
          <a:p>
            <a:r>
              <a:rPr lang="en-US" sz="1200" dirty="0" smtClean="0">
                <a:latin typeface="Consolas" pitchFamily="49" charset="0"/>
              </a:rPr>
              <a:t>  </a:t>
            </a:r>
            <a:r>
              <a:rPr lang="en-US" sz="1200" dirty="0" err="1" smtClean="0">
                <a:latin typeface="Consolas" pitchFamily="49" charset="0"/>
              </a:rPr>
              <a:t>jQuery</a:t>
            </a:r>
            <a:r>
              <a:rPr lang="en-US" sz="1200" dirty="0" smtClean="0">
                <a:latin typeface="Consolas" pitchFamily="49" charset="0"/>
              </a:rPr>
              <a:t>("[name^=</a:t>
            </a:r>
            <a:r>
              <a:rPr lang="en-US" sz="1200" dirty="0" err="1" smtClean="0">
                <a:latin typeface="Consolas" pitchFamily="49" charset="0"/>
              </a:rPr>
              <a:t>wpcf</a:t>
            </a:r>
            <a:r>
              <a:rPr lang="en-US" sz="1200" dirty="0" smtClean="0">
                <a:latin typeface="Consolas" pitchFamily="49" charset="0"/>
              </a:rPr>
              <a:t>-applicant-home-phone]").mask("(999) 999-9999");</a:t>
            </a:r>
          </a:p>
          <a:p>
            <a:r>
              <a:rPr lang="en-US" sz="1200" dirty="0" smtClean="0">
                <a:latin typeface="Consolas" pitchFamily="49" charset="0"/>
              </a:rPr>
              <a:t>  </a:t>
            </a:r>
            <a:r>
              <a:rPr lang="en-US" sz="1200" dirty="0" err="1" smtClean="0">
                <a:latin typeface="Consolas" pitchFamily="49" charset="0"/>
              </a:rPr>
              <a:t>jQuery</a:t>
            </a:r>
            <a:r>
              <a:rPr lang="en-US" sz="1200" dirty="0" smtClean="0">
                <a:latin typeface="Consolas" pitchFamily="49" charset="0"/>
              </a:rPr>
              <a:t>("[name^=</a:t>
            </a:r>
            <a:r>
              <a:rPr lang="en-US" sz="1200" dirty="0" err="1" smtClean="0">
                <a:latin typeface="Consolas" pitchFamily="49" charset="0"/>
              </a:rPr>
              <a:t>wpcf</a:t>
            </a:r>
            <a:r>
              <a:rPr lang="en-US" sz="1200" dirty="0" smtClean="0">
                <a:latin typeface="Consolas" pitchFamily="49" charset="0"/>
              </a:rPr>
              <a:t>-applicant-work-phone-number]").mask("(999) 999-9999");</a:t>
            </a:r>
          </a:p>
          <a:p>
            <a:r>
              <a:rPr lang="en-US" sz="1200" dirty="0" smtClean="0">
                <a:latin typeface="Consolas" pitchFamily="49" charset="0"/>
              </a:rPr>
              <a:t>  </a:t>
            </a:r>
            <a:r>
              <a:rPr lang="en-US" sz="1200" dirty="0" err="1" smtClean="0">
                <a:latin typeface="Consolas" pitchFamily="49" charset="0"/>
              </a:rPr>
              <a:t>jQuery</a:t>
            </a:r>
            <a:r>
              <a:rPr lang="en-US" sz="1200" dirty="0" smtClean="0">
                <a:latin typeface="Consolas" pitchFamily="49" charset="0"/>
              </a:rPr>
              <a:t>("[name^=wpcf-family-member-1-phone-number]").mask("(999) 999-9999");</a:t>
            </a:r>
          </a:p>
          <a:p>
            <a:endParaRPr lang="en-US" sz="1200" dirty="0" smtClean="0">
              <a:latin typeface="Consolas" pitchFamily="49" charset="0"/>
            </a:endParaRPr>
          </a:p>
          <a:p>
            <a:r>
              <a:rPr lang="en-US" sz="1200" dirty="0" smtClean="0">
                <a:latin typeface="Consolas" pitchFamily="49" charset="0"/>
              </a:rPr>
              <a:t>  </a:t>
            </a:r>
            <a:r>
              <a:rPr lang="en-US" sz="1200" dirty="0" err="1" smtClean="0">
                <a:latin typeface="Consolas" pitchFamily="49" charset="0"/>
              </a:rPr>
              <a:t>jQuery</a:t>
            </a:r>
            <a:r>
              <a:rPr lang="en-US" sz="1200" dirty="0" smtClean="0">
                <a:latin typeface="Consolas" pitchFamily="49" charset="0"/>
              </a:rPr>
              <a:t>("[name^=</a:t>
            </a:r>
            <a:r>
              <a:rPr lang="en-US" sz="1200" dirty="0" err="1" smtClean="0">
                <a:latin typeface="Consolas" pitchFamily="49" charset="0"/>
              </a:rPr>
              <a:t>wpcf</a:t>
            </a:r>
            <a:r>
              <a:rPr lang="en-US" sz="1200" dirty="0" smtClean="0">
                <a:latin typeface="Consolas" pitchFamily="49" charset="0"/>
              </a:rPr>
              <a:t>-applicant-home-phone]", "[name^=</a:t>
            </a:r>
            <a:r>
              <a:rPr lang="en-US" sz="1200" dirty="0" err="1" smtClean="0">
                <a:latin typeface="Consolas" pitchFamily="49" charset="0"/>
              </a:rPr>
              <a:t>wpcf</a:t>
            </a:r>
            <a:r>
              <a:rPr lang="en-US" sz="1200" dirty="0" smtClean="0">
                <a:latin typeface="Consolas" pitchFamily="49" charset="0"/>
              </a:rPr>
              <a:t>-applicant-work-phone-number]", </a:t>
            </a:r>
          </a:p>
          <a:p>
            <a:r>
              <a:rPr lang="en-US" sz="1200" dirty="0" smtClean="0">
                <a:latin typeface="Consolas" pitchFamily="49" charset="0"/>
              </a:rPr>
              <a:t>         "[name^=wpcf-family-member-1-phone-number]").on("blur", function() {</a:t>
            </a:r>
          </a:p>
          <a:p>
            <a:r>
              <a:rPr lang="en-US" sz="1200" dirty="0" smtClean="0">
                <a:latin typeface="Consolas" pitchFamily="49" charset="0"/>
              </a:rPr>
              <a:t>    </a:t>
            </a:r>
            <a:r>
              <a:rPr lang="en-US" sz="1200" dirty="0" err="1" smtClean="0">
                <a:latin typeface="Consolas" pitchFamily="49" charset="0"/>
              </a:rPr>
              <a:t>var</a:t>
            </a:r>
            <a:r>
              <a:rPr lang="en-US" sz="1200" dirty="0" smtClean="0">
                <a:latin typeface="Consolas" pitchFamily="49" charset="0"/>
              </a:rPr>
              <a:t> last = </a:t>
            </a:r>
            <a:r>
              <a:rPr lang="en-US" sz="1200" dirty="0" err="1" smtClean="0">
                <a:latin typeface="Consolas" pitchFamily="49" charset="0"/>
              </a:rPr>
              <a:t>jQuery</a:t>
            </a:r>
            <a:r>
              <a:rPr lang="en-US" sz="1200" dirty="0" smtClean="0">
                <a:latin typeface="Consolas" pitchFamily="49" charset="0"/>
              </a:rPr>
              <a:t>(this).</a:t>
            </a:r>
            <a:r>
              <a:rPr lang="en-US" sz="1200" dirty="0" err="1" smtClean="0">
                <a:latin typeface="Consolas" pitchFamily="49" charset="0"/>
              </a:rPr>
              <a:t>val</a:t>
            </a:r>
            <a:r>
              <a:rPr lang="en-US" sz="1200" dirty="0" smtClean="0">
                <a:latin typeface="Consolas" pitchFamily="49" charset="0"/>
              </a:rPr>
              <a:t>().</a:t>
            </a:r>
            <a:r>
              <a:rPr lang="en-US" sz="1200" dirty="0" err="1" smtClean="0">
                <a:latin typeface="Consolas" pitchFamily="49" charset="0"/>
              </a:rPr>
              <a:t>substr</a:t>
            </a:r>
            <a:r>
              <a:rPr lang="en-US" sz="1200" dirty="0" smtClean="0">
                <a:latin typeface="Consolas" pitchFamily="49" charset="0"/>
              </a:rPr>
              <a:t>( </a:t>
            </a:r>
            <a:r>
              <a:rPr lang="en-US" sz="1200" dirty="0" err="1" smtClean="0">
                <a:latin typeface="Consolas" pitchFamily="49" charset="0"/>
              </a:rPr>
              <a:t>jQuery</a:t>
            </a:r>
            <a:r>
              <a:rPr lang="en-US" sz="1200" dirty="0" smtClean="0">
                <a:latin typeface="Consolas" pitchFamily="49" charset="0"/>
              </a:rPr>
              <a:t>(this).</a:t>
            </a:r>
            <a:r>
              <a:rPr lang="en-US" sz="1200" dirty="0" err="1" smtClean="0">
                <a:latin typeface="Consolas" pitchFamily="49" charset="0"/>
              </a:rPr>
              <a:t>val</a:t>
            </a:r>
            <a:r>
              <a:rPr lang="en-US" sz="1200" dirty="0" smtClean="0">
                <a:latin typeface="Consolas" pitchFamily="49" charset="0"/>
              </a:rPr>
              <a:t>().</a:t>
            </a:r>
            <a:r>
              <a:rPr lang="en-US" sz="1200" dirty="0" err="1" smtClean="0">
                <a:latin typeface="Consolas" pitchFamily="49" charset="0"/>
              </a:rPr>
              <a:t>indexOf</a:t>
            </a:r>
            <a:r>
              <a:rPr lang="en-US" sz="1200" dirty="0" smtClean="0">
                <a:latin typeface="Consolas" pitchFamily="49" charset="0"/>
              </a:rPr>
              <a:t>("-") + 1 );</a:t>
            </a:r>
          </a:p>
          <a:p>
            <a:endParaRPr lang="en-US" sz="1200" dirty="0" smtClean="0">
              <a:latin typeface="Consolas" pitchFamily="49" charset="0"/>
            </a:endParaRPr>
          </a:p>
          <a:p>
            <a:r>
              <a:rPr lang="en-US" sz="1200" dirty="0" smtClean="0">
                <a:latin typeface="Consolas" pitchFamily="49" charset="0"/>
              </a:rPr>
              <a:t>    if( 3 == </a:t>
            </a:r>
            <a:r>
              <a:rPr lang="en-US" sz="1200" dirty="0" err="1" smtClean="0">
                <a:latin typeface="Consolas" pitchFamily="49" charset="0"/>
              </a:rPr>
              <a:t>last.length</a:t>
            </a:r>
            <a:r>
              <a:rPr lang="en-US" sz="1200" dirty="0" smtClean="0">
                <a:latin typeface="Consolas" pitchFamily="49" charset="0"/>
              </a:rPr>
              <a:t> ) {</a:t>
            </a:r>
          </a:p>
          <a:p>
            <a:r>
              <a:rPr lang="en-US" sz="1200" dirty="0" smtClean="0">
                <a:latin typeface="Consolas" pitchFamily="49" charset="0"/>
              </a:rPr>
              <a:t>      </a:t>
            </a:r>
            <a:r>
              <a:rPr lang="en-US" sz="1200" dirty="0" err="1" smtClean="0">
                <a:latin typeface="Consolas" pitchFamily="49" charset="0"/>
              </a:rPr>
              <a:t>var</a:t>
            </a:r>
            <a:r>
              <a:rPr lang="en-US" sz="1200" dirty="0" smtClean="0">
                <a:latin typeface="Consolas" pitchFamily="49" charset="0"/>
              </a:rPr>
              <a:t> move = </a:t>
            </a:r>
            <a:r>
              <a:rPr lang="en-US" sz="1200" dirty="0" err="1" smtClean="0">
                <a:latin typeface="Consolas" pitchFamily="49" charset="0"/>
              </a:rPr>
              <a:t>jQuery</a:t>
            </a:r>
            <a:r>
              <a:rPr lang="en-US" sz="1200" dirty="0" smtClean="0">
                <a:latin typeface="Consolas" pitchFamily="49" charset="0"/>
              </a:rPr>
              <a:t>(this).</a:t>
            </a:r>
            <a:r>
              <a:rPr lang="en-US" sz="1200" dirty="0" err="1" smtClean="0">
                <a:latin typeface="Consolas" pitchFamily="49" charset="0"/>
              </a:rPr>
              <a:t>val</a:t>
            </a:r>
            <a:r>
              <a:rPr lang="en-US" sz="1200" dirty="0" smtClean="0">
                <a:latin typeface="Consolas" pitchFamily="49" charset="0"/>
              </a:rPr>
              <a:t>().</a:t>
            </a:r>
            <a:r>
              <a:rPr lang="en-US" sz="1200" dirty="0" err="1" smtClean="0">
                <a:latin typeface="Consolas" pitchFamily="49" charset="0"/>
              </a:rPr>
              <a:t>substr</a:t>
            </a:r>
            <a:r>
              <a:rPr lang="en-US" sz="1200" dirty="0" smtClean="0">
                <a:latin typeface="Consolas" pitchFamily="49" charset="0"/>
              </a:rPr>
              <a:t>( </a:t>
            </a:r>
            <a:r>
              <a:rPr lang="en-US" sz="1200" dirty="0" err="1" smtClean="0">
                <a:latin typeface="Consolas" pitchFamily="49" charset="0"/>
              </a:rPr>
              <a:t>jQuery</a:t>
            </a:r>
            <a:r>
              <a:rPr lang="en-US" sz="1200" dirty="0" smtClean="0">
                <a:latin typeface="Consolas" pitchFamily="49" charset="0"/>
              </a:rPr>
              <a:t>(this).</a:t>
            </a:r>
            <a:r>
              <a:rPr lang="en-US" sz="1200" dirty="0" err="1" smtClean="0">
                <a:latin typeface="Consolas" pitchFamily="49" charset="0"/>
              </a:rPr>
              <a:t>val</a:t>
            </a:r>
            <a:r>
              <a:rPr lang="en-US" sz="1200" dirty="0" smtClean="0">
                <a:latin typeface="Consolas" pitchFamily="49" charset="0"/>
              </a:rPr>
              <a:t>().</a:t>
            </a:r>
            <a:r>
              <a:rPr lang="en-US" sz="1200" dirty="0" err="1" smtClean="0">
                <a:latin typeface="Consolas" pitchFamily="49" charset="0"/>
              </a:rPr>
              <a:t>indexOf</a:t>
            </a:r>
            <a:r>
              <a:rPr lang="en-US" sz="1200" dirty="0" smtClean="0">
                <a:latin typeface="Consolas" pitchFamily="49" charset="0"/>
              </a:rPr>
              <a:t>("-") - 1, 1 );</a:t>
            </a:r>
          </a:p>
          <a:p>
            <a:r>
              <a:rPr lang="en-US" sz="1200" dirty="0" smtClean="0">
                <a:latin typeface="Consolas" pitchFamily="49" charset="0"/>
              </a:rPr>
              <a:t>      </a:t>
            </a:r>
            <a:r>
              <a:rPr lang="en-US" sz="1200" dirty="0" err="1" smtClean="0">
                <a:latin typeface="Consolas" pitchFamily="49" charset="0"/>
              </a:rPr>
              <a:t>var</a:t>
            </a:r>
            <a:r>
              <a:rPr lang="en-US" sz="1200" dirty="0" smtClean="0">
                <a:latin typeface="Consolas" pitchFamily="49" charset="0"/>
              </a:rPr>
              <a:t> </a:t>
            </a:r>
            <a:r>
              <a:rPr lang="en-US" sz="1200" dirty="0" err="1" smtClean="0">
                <a:latin typeface="Consolas" pitchFamily="49" charset="0"/>
              </a:rPr>
              <a:t>lastfour</a:t>
            </a:r>
            <a:r>
              <a:rPr lang="en-US" sz="1200" dirty="0" smtClean="0">
                <a:latin typeface="Consolas" pitchFamily="49" charset="0"/>
              </a:rPr>
              <a:t> = move + last;</a:t>
            </a:r>
          </a:p>
          <a:p>
            <a:endParaRPr lang="en-US" sz="1200" dirty="0" smtClean="0">
              <a:latin typeface="Consolas" pitchFamily="49" charset="0"/>
            </a:endParaRPr>
          </a:p>
          <a:p>
            <a:r>
              <a:rPr lang="en-US" sz="1200" dirty="0" smtClean="0">
                <a:latin typeface="Consolas" pitchFamily="49" charset="0"/>
              </a:rPr>
              <a:t>      </a:t>
            </a:r>
            <a:r>
              <a:rPr lang="en-US" sz="1200" dirty="0" err="1" smtClean="0">
                <a:latin typeface="Consolas" pitchFamily="49" charset="0"/>
              </a:rPr>
              <a:t>var</a:t>
            </a:r>
            <a:r>
              <a:rPr lang="en-US" sz="1200" dirty="0" smtClean="0">
                <a:latin typeface="Consolas" pitchFamily="49" charset="0"/>
              </a:rPr>
              <a:t> first = </a:t>
            </a:r>
            <a:r>
              <a:rPr lang="en-US" sz="1200" dirty="0" err="1" smtClean="0">
                <a:latin typeface="Consolas" pitchFamily="49" charset="0"/>
              </a:rPr>
              <a:t>jQuery</a:t>
            </a:r>
            <a:r>
              <a:rPr lang="en-US" sz="1200" dirty="0" smtClean="0">
                <a:latin typeface="Consolas" pitchFamily="49" charset="0"/>
              </a:rPr>
              <a:t>(this).</a:t>
            </a:r>
            <a:r>
              <a:rPr lang="en-US" sz="1200" dirty="0" err="1" smtClean="0">
                <a:latin typeface="Consolas" pitchFamily="49" charset="0"/>
              </a:rPr>
              <a:t>val</a:t>
            </a:r>
            <a:r>
              <a:rPr lang="en-US" sz="1200" dirty="0" smtClean="0">
                <a:latin typeface="Consolas" pitchFamily="49" charset="0"/>
              </a:rPr>
              <a:t>().</a:t>
            </a:r>
            <a:r>
              <a:rPr lang="en-US" sz="1200" dirty="0" err="1" smtClean="0">
                <a:latin typeface="Consolas" pitchFamily="49" charset="0"/>
              </a:rPr>
              <a:t>substr</a:t>
            </a:r>
            <a:r>
              <a:rPr lang="en-US" sz="1200" dirty="0" smtClean="0">
                <a:latin typeface="Consolas" pitchFamily="49" charset="0"/>
              </a:rPr>
              <a:t>( 0, 9 );</a:t>
            </a:r>
          </a:p>
          <a:p>
            <a:endParaRPr lang="en-US" sz="1200" dirty="0" smtClean="0">
              <a:latin typeface="Consolas" pitchFamily="49" charset="0"/>
            </a:endParaRPr>
          </a:p>
          <a:p>
            <a:r>
              <a:rPr lang="en-US" sz="1200" dirty="0" smtClean="0">
                <a:latin typeface="Consolas" pitchFamily="49" charset="0"/>
              </a:rPr>
              <a:t>      </a:t>
            </a:r>
            <a:r>
              <a:rPr lang="en-US" sz="1200" dirty="0" err="1" smtClean="0">
                <a:latin typeface="Consolas" pitchFamily="49" charset="0"/>
              </a:rPr>
              <a:t>jQuery</a:t>
            </a:r>
            <a:r>
              <a:rPr lang="en-US" sz="1200" dirty="0" smtClean="0">
                <a:latin typeface="Consolas" pitchFamily="49" charset="0"/>
              </a:rPr>
              <a:t>(this).</a:t>
            </a:r>
            <a:r>
              <a:rPr lang="en-US" sz="1200" dirty="0" err="1" smtClean="0">
                <a:latin typeface="Consolas" pitchFamily="49" charset="0"/>
              </a:rPr>
              <a:t>val</a:t>
            </a:r>
            <a:r>
              <a:rPr lang="en-US" sz="1200" dirty="0" smtClean="0">
                <a:latin typeface="Consolas" pitchFamily="49" charset="0"/>
              </a:rPr>
              <a:t>( first + '-' + </a:t>
            </a:r>
            <a:r>
              <a:rPr lang="en-US" sz="1200" dirty="0" err="1" smtClean="0">
                <a:latin typeface="Consolas" pitchFamily="49" charset="0"/>
              </a:rPr>
              <a:t>lastfour</a:t>
            </a:r>
            <a:r>
              <a:rPr lang="en-US" sz="1200" dirty="0" smtClean="0">
                <a:latin typeface="Consolas" pitchFamily="49" charset="0"/>
              </a:rPr>
              <a:t> );</a:t>
            </a:r>
          </a:p>
          <a:p>
            <a:r>
              <a:rPr lang="en-US" sz="1200" dirty="0" smtClean="0">
                <a:latin typeface="Consolas" pitchFamily="49" charset="0"/>
              </a:rPr>
              <a:t>    }</a:t>
            </a:r>
          </a:p>
          <a:p>
            <a:r>
              <a:rPr lang="en-US" sz="1200" dirty="0" smtClean="0">
                <a:latin typeface="Consolas" pitchFamily="49" charset="0"/>
              </a:rPr>
              <a:t>  });</a:t>
            </a:r>
          </a:p>
          <a:p>
            <a:r>
              <a:rPr lang="en-US" sz="1200" dirty="0" smtClean="0">
                <a:latin typeface="Consolas" pitchFamily="49" charset="0"/>
              </a:rPr>
              <a:t>});</a:t>
            </a:r>
            <a:endParaRPr lang="en-US" sz="1200" b="1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Show/Hide Panel using </a:t>
            </a:r>
            <a:r>
              <a:rPr lang="en-US" dirty="0" err="1" smtClean="0"/>
              <a:t>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1437"/>
            <a:ext cx="8229600" cy="4525963"/>
          </a:xfrm>
        </p:spPr>
        <p:txBody>
          <a:bodyPr/>
          <a:lstStyle/>
          <a:p>
            <a:r>
              <a:rPr lang="en-US" sz="1800" dirty="0" smtClean="0">
                <a:hlinkClick r:id="rId2"/>
              </a:rPr>
              <a:t>https://crunchify.com/jquery-very-simple-showhide-panel-on-mouse-click-event/</a:t>
            </a:r>
            <a:endParaRPr lang="en-US" sz="1800" dirty="0" smtClean="0"/>
          </a:p>
          <a:p>
            <a:endParaRPr lang="en-US" sz="1800" dirty="0"/>
          </a:p>
        </p:txBody>
      </p:sp>
      <p:sp>
        <p:nvSpPr>
          <p:cNvPr id="4" name="Rectangle 3"/>
          <p:cNvSpPr/>
          <p:nvPr/>
        </p:nvSpPr>
        <p:spPr>
          <a:xfrm>
            <a:off x="685800" y="1784151"/>
            <a:ext cx="7848600" cy="1384995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 err="1" smtClean="0">
                <a:latin typeface="Consolas" pitchFamily="49" charset="0"/>
              </a:rPr>
              <a:t>div.opg_panel</a:t>
            </a:r>
            <a:r>
              <a:rPr lang="en-US" sz="1200" dirty="0" smtClean="0">
                <a:latin typeface="Consolas" pitchFamily="49" charset="0"/>
              </a:rPr>
              <a:t>{</a:t>
            </a:r>
          </a:p>
          <a:p>
            <a:r>
              <a:rPr lang="en-US" sz="1200" dirty="0" smtClean="0">
                <a:latin typeface="Consolas" pitchFamily="49" charset="0"/>
              </a:rPr>
              <a:t>	margin: 0px -5px 0px </a:t>
            </a:r>
            <a:r>
              <a:rPr lang="en-US" sz="1200" dirty="0" err="1" smtClean="0">
                <a:latin typeface="Consolas" pitchFamily="49" charset="0"/>
              </a:rPr>
              <a:t>0px</a:t>
            </a:r>
            <a:r>
              <a:rPr lang="en-US" sz="1200" dirty="0" smtClean="0">
                <a:latin typeface="Consolas" pitchFamily="49" charset="0"/>
              </a:rPr>
              <a:t>; </a:t>
            </a:r>
          </a:p>
          <a:p>
            <a:r>
              <a:rPr lang="en-US" sz="1200" dirty="0" smtClean="0">
                <a:latin typeface="Consolas" pitchFamily="49" charset="0"/>
              </a:rPr>
              <a:t>	padding: 0px 10px 0px 10px;</a:t>
            </a:r>
          </a:p>
          <a:p>
            <a:r>
              <a:rPr lang="en-US" sz="1200" dirty="0" smtClean="0">
                <a:latin typeface="Consolas" pitchFamily="49" charset="0"/>
              </a:rPr>
              <a:t>	background: #f6f6f6;</a:t>
            </a:r>
          </a:p>
          <a:p>
            <a:r>
              <a:rPr lang="en-US" sz="1200" dirty="0" smtClean="0">
                <a:latin typeface="Consolas" pitchFamily="49" charset="0"/>
              </a:rPr>
              <a:t>	border: solid 1px #000000;</a:t>
            </a:r>
          </a:p>
          <a:p>
            <a:r>
              <a:rPr lang="en-US" sz="1200" dirty="0" smtClean="0">
                <a:latin typeface="Consolas" pitchFamily="49" charset="0"/>
              </a:rPr>
              <a:t>    	display: none;</a:t>
            </a:r>
          </a:p>
          <a:p>
            <a:r>
              <a:rPr lang="en-US" sz="1200" dirty="0" smtClean="0">
                <a:latin typeface="Consolas" pitchFamily="49" charset="0"/>
              </a:rPr>
              <a:t>}</a:t>
            </a:r>
            <a:endParaRPr lang="en-US" sz="1200" b="1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3327737"/>
            <a:ext cx="7848600" cy="2123658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 smtClean="0">
                <a:latin typeface="Consolas" pitchFamily="49" charset="0"/>
              </a:rPr>
              <a:t> &lt;div class="row form-group col-md-12"&gt;           </a:t>
            </a:r>
          </a:p>
          <a:p>
            <a:r>
              <a:rPr lang="en-US" sz="1200" dirty="0" smtClean="0">
                <a:latin typeface="Consolas" pitchFamily="49" charset="0"/>
              </a:rPr>
              <a:t>          &lt;span class="</a:t>
            </a:r>
            <a:r>
              <a:rPr lang="en-US" sz="1200" dirty="0" err="1" smtClean="0">
                <a:latin typeface="Consolas" pitchFamily="49" charset="0"/>
              </a:rPr>
              <a:t>opg_notice</a:t>
            </a:r>
            <a:r>
              <a:rPr lang="en-US" sz="1200" dirty="0" smtClean="0">
                <a:latin typeface="Consolas" pitchFamily="49" charset="0"/>
              </a:rPr>
              <a:t>"&gt;Note: There is specific criteria that constitutes an Emergency Referral. You must review &lt;a </a:t>
            </a:r>
            <a:r>
              <a:rPr lang="en-US" sz="1200" dirty="0" err="1" smtClean="0">
                <a:latin typeface="Consolas" pitchFamily="49" charset="0"/>
              </a:rPr>
              <a:t>href</a:t>
            </a:r>
            <a:r>
              <a:rPr lang="en-US" sz="1200" dirty="0" smtClean="0">
                <a:latin typeface="Consolas" pitchFamily="49" charset="0"/>
              </a:rPr>
              <a:t> ="</a:t>
            </a:r>
            <a:r>
              <a:rPr lang="en-US" sz="1200" dirty="0" err="1" smtClean="0">
                <a:latin typeface="Consolas" pitchFamily="49" charset="0"/>
              </a:rPr>
              <a:t>javascript:void</a:t>
            </a:r>
            <a:r>
              <a:rPr lang="en-US" sz="1200" dirty="0" smtClean="0">
                <a:latin typeface="Consolas" pitchFamily="49" charset="0"/>
              </a:rPr>
              <a:t>(0);" class="</a:t>
            </a:r>
            <a:r>
              <a:rPr lang="en-US" sz="1200" dirty="0" err="1" smtClean="0">
                <a:latin typeface="Consolas" pitchFamily="49" charset="0"/>
              </a:rPr>
              <a:t>opg_flip</a:t>
            </a:r>
            <a:r>
              <a:rPr lang="en-US" sz="1200" dirty="0" smtClean="0">
                <a:latin typeface="Consolas" pitchFamily="49" charset="0"/>
              </a:rPr>
              <a:t>"&gt;this information&lt;/a&gt; before completing this section.</a:t>
            </a:r>
          </a:p>
          <a:p>
            <a:r>
              <a:rPr lang="en-US" sz="1200" dirty="0" smtClean="0">
                <a:latin typeface="Consolas" pitchFamily="49" charset="0"/>
              </a:rPr>
              <a:t>          &lt;/span&gt;</a:t>
            </a:r>
          </a:p>
          <a:p>
            <a:r>
              <a:rPr lang="en-US" sz="1200" dirty="0" smtClean="0">
                <a:latin typeface="Consolas" pitchFamily="49" charset="0"/>
              </a:rPr>
              <a:t>&lt;/div&gt;</a:t>
            </a:r>
          </a:p>
          <a:p>
            <a:r>
              <a:rPr lang="en-US" sz="1200" dirty="0" smtClean="0">
                <a:latin typeface="Consolas" pitchFamily="49" charset="0"/>
              </a:rPr>
              <a:t>        </a:t>
            </a:r>
          </a:p>
          <a:p>
            <a:r>
              <a:rPr lang="en-US" sz="1200" dirty="0" smtClean="0">
                <a:latin typeface="Consolas" pitchFamily="49" charset="0"/>
              </a:rPr>
              <a:t>&lt;div class="row form-group col-md-12 </a:t>
            </a:r>
            <a:r>
              <a:rPr lang="en-US" sz="1200" dirty="0" err="1" smtClean="0">
                <a:latin typeface="Consolas" pitchFamily="49" charset="0"/>
              </a:rPr>
              <a:t>opg_panel</a:t>
            </a:r>
            <a:r>
              <a:rPr lang="en-US" sz="1200" dirty="0" smtClean="0">
                <a:latin typeface="Consolas" pitchFamily="49" charset="0"/>
              </a:rPr>
              <a:t>"&gt;</a:t>
            </a:r>
          </a:p>
          <a:p>
            <a:r>
              <a:rPr lang="en-US" sz="1200" dirty="0" smtClean="0">
                <a:latin typeface="Consolas" pitchFamily="49" charset="0"/>
              </a:rPr>
              <a:t>        &lt;h4&gt;&lt;strong&gt;Emergency Referrals and Emergency Guardianship&lt;/strong&gt;&lt;/h4&gt;</a:t>
            </a:r>
          </a:p>
          <a:p>
            <a:r>
              <a:rPr lang="en-US" sz="1200" dirty="0" smtClean="0">
                <a:latin typeface="Consolas" pitchFamily="49" charset="0"/>
              </a:rPr>
              <a:t>        &lt;p&gt;The Colorado Office of Public Guardianship (OPG) will consider emergency</a:t>
            </a:r>
          </a:p>
          <a:p>
            <a:r>
              <a:rPr lang="en-US" sz="1200" dirty="0" smtClean="0">
                <a:latin typeface="Consolas" pitchFamily="49" charset="0"/>
              </a:rPr>
              <a:t>&lt;/div&gt; </a:t>
            </a:r>
            <a:endParaRPr lang="en-US" sz="1200" b="1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5613737"/>
            <a:ext cx="7848600" cy="101566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 err="1" smtClean="0">
                <a:latin typeface="Consolas" pitchFamily="49" charset="0"/>
              </a:rPr>
              <a:t>jQuery</a:t>
            </a:r>
            <a:r>
              <a:rPr lang="en-US" sz="1200" dirty="0" smtClean="0">
                <a:latin typeface="Consolas" pitchFamily="49" charset="0"/>
              </a:rPr>
              <a:t>(document).ready(function ($) {</a:t>
            </a:r>
          </a:p>
          <a:p>
            <a:r>
              <a:rPr lang="en-US" sz="1200" dirty="0" smtClean="0">
                <a:latin typeface="Consolas" pitchFamily="49" charset="0"/>
              </a:rPr>
              <a:t>	$(".</a:t>
            </a:r>
            <a:r>
              <a:rPr lang="en-US" sz="1200" dirty="0" err="1" smtClean="0">
                <a:latin typeface="Consolas" pitchFamily="49" charset="0"/>
              </a:rPr>
              <a:t>opg_flip</a:t>
            </a:r>
            <a:r>
              <a:rPr lang="en-US" sz="1200" dirty="0" smtClean="0">
                <a:latin typeface="Consolas" pitchFamily="49" charset="0"/>
              </a:rPr>
              <a:t>").click(function() {</a:t>
            </a:r>
          </a:p>
          <a:p>
            <a:r>
              <a:rPr lang="en-US" sz="1200" dirty="0" smtClean="0">
                <a:latin typeface="Consolas" pitchFamily="49" charset="0"/>
              </a:rPr>
              <a:t>		$(".</a:t>
            </a:r>
            <a:r>
              <a:rPr lang="en-US" sz="1200" dirty="0" err="1" smtClean="0">
                <a:latin typeface="Consolas" pitchFamily="49" charset="0"/>
              </a:rPr>
              <a:t>opg_panel</a:t>
            </a:r>
            <a:r>
              <a:rPr lang="en-US" sz="1200" dirty="0" smtClean="0">
                <a:latin typeface="Consolas" pitchFamily="49" charset="0"/>
              </a:rPr>
              <a:t>").</a:t>
            </a:r>
            <a:r>
              <a:rPr lang="en-US" sz="1200" dirty="0" err="1" smtClean="0">
                <a:latin typeface="Consolas" pitchFamily="49" charset="0"/>
              </a:rPr>
              <a:t>slideToggle</a:t>
            </a:r>
            <a:r>
              <a:rPr lang="en-US" sz="1200" dirty="0" smtClean="0">
                <a:latin typeface="Consolas" pitchFamily="49" charset="0"/>
              </a:rPr>
              <a:t>("slow");</a:t>
            </a:r>
          </a:p>
          <a:p>
            <a:r>
              <a:rPr lang="en-US" sz="1200" dirty="0" smtClean="0">
                <a:latin typeface="Consolas" pitchFamily="49" charset="0"/>
              </a:rPr>
              <a:t>	});</a:t>
            </a:r>
          </a:p>
          <a:p>
            <a:r>
              <a:rPr lang="en-US" sz="1200" dirty="0" smtClean="0">
                <a:latin typeface="Consolas" pitchFamily="49" charset="0"/>
              </a:rPr>
              <a:t>});</a:t>
            </a:r>
            <a:endParaRPr lang="en-US" sz="1200" b="1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jQuery</a:t>
            </a:r>
            <a:r>
              <a:rPr lang="en-US" dirty="0" smtClean="0"/>
              <a:t> UI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https://jqueryui.com/</a:t>
            </a:r>
            <a:endParaRPr lang="en-US" sz="2400" dirty="0" smtClean="0"/>
          </a:p>
          <a:p>
            <a:r>
              <a:rPr lang="en-US" sz="2400" i="1" dirty="0" err="1" smtClean="0">
                <a:solidFill>
                  <a:srgbClr val="C00000"/>
                </a:solidFill>
              </a:rPr>
              <a:t>jQuery</a:t>
            </a:r>
            <a:r>
              <a:rPr lang="en-US" sz="2400" i="1" dirty="0" smtClean="0">
                <a:solidFill>
                  <a:srgbClr val="C00000"/>
                </a:solidFill>
              </a:rPr>
              <a:t> UI</a:t>
            </a:r>
            <a:r>
              <a:rPr lang="en-US" sz="2400" dirty="0" smtClean="0"/>
              <a:t> is a </a:t>
            </a:r>
            <a:r>
              <a:rPr lang="en-US" sz="2400" dirty="0" err="1" smtClean="0"/>
              <a:t>curated</a:t>
            </a:r>
            <a:r>
              <a:rPr lang="en-US" sz="2400" dirty="0" smtClean="0"/>
              <a:t> </a:t>
            </a:r>
            <a:r>
              <a:rPr lang="en-US" sz="2400" u="sng" dirty="0" smtClean="0"/>
              <a:t>set of user interface interactions</a:t>
            </a:r>
            <a:r>
              <a:rPr lang="en-US" sz="2400" dirty="0" smtClean="0"/>
              <a:t>, </a:t>
            </a:r>
            <a:r>
              <a:rPr lang="en-US" sz="2400" u="sng" dirty="0" smtClean="0"/>
              <a:t>effects</a:t>
            </a:r>
            <a:r>
              <a:rPr lang="en-US" sz="2400" dirty="0" smtClean="0"/>
              <a:t>, </a:t>
            </a:r>
            <a:r>
              <a:rPr lang="en-US" sz="2400" u="sng" dirty="0" smtClean="0"/>
              <a:t>widgets</a:t>
            </a:r>
            <a:r>
              <a:rPr lang="en-US" sz="2400" dirty="0" smtClean="0"/>
              <a:t>, and </a:t>
            </a:r>
            <a:r>
              <a:rPr lang="en-US" sz="2400" u="sng" dirty="0" smtClean="0"/>
              <a:t>themes</a:t>
            </a:r>
            <a:r>
              <a:rPr lang="en-US" sz="2400" dirty="0" smtClean="0"/>
              <a:t> built on top of the </a:t>
            </a:r>
            <a:r>
              <a:rPr lang="en-US" sz="2400" dirty="0" err="1" smtClean="0"/>
              <a:t>jQuery</a:t>
            </a:r>
            <a:r>
              <a:rPr lang="en-US" sz="2400" dirty="0" smtClean="0"/>
              <a:t> JavaScript Library.</a:t>
            </a:r>
          </a:p>
          <a:p>
            <a:r>
              <a:rPr lang="en-US" sz="2400" dirty="0" smtClean="0"/>
              <a:t>Whether you're building </a:t>
            </a:r>
            <a:r>
              <a:rPr lang="en-US" sz="2400" i="1" dirty="0" smtClean="0">
                <a:solidFill>
                  <a:srgbClr val="C00000"/>
                </a:solidFill>
              </a:rPr>
              <a:t>highly interactive web applications</a:t>
            </a:r>
            <a:r>
              <a:rPr lang="en-US" sz="2400" dirty="0" smtClean="0"/>
              <a:t> or you just need to add a </a:t>
            </a:r>
            <a:r>
              <a:rPr lang="en-US" sz="2400" u="sng" dirty="0" smtClean="0"/>
              <a:t>date picker</a:t>
            </a:r>
            <a:r>
              <a:rPr lang="en-US" sz="2400" dirty="0" smtClean="0"/>
              <a:t> to a form control, </a:t>
            </a:r>
            <a:r>
              <a:rPr lang="en-US" sz="2400" dirty="0" err="1" smtClean="0"/>
              <a:t>jQuery</a:t>
            </a:r>
            <a:r>
              <a:rPr lang="en-US" sz="2400" dirty="0" smtClean="0"/>
              <a:t> UI is the perfect choice.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jQuery</a:t>
            </a:r>
            <a:r>
              <a:rPr lang="en-US" dirty="0" smtClean="0"/>
              <a:t> </a:t>
            </a:r>
            <a:r>
              <a:rPr lang="en-US" smtClean="0"/>
              <a:t>Mobile </a:t>
            </a:r>
            <a:r>
              <a:rPr lang="en-US" smtClean="0"/>
              <a:t>Alternatives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https://getbootstrap.com/</a:t>
            </a:r>
          </a:p>
          <a:p>
            <a:r>
              <a:rPr lang="en-US" sz="2400" dirty="0" smtClean="0">
                <a:hlinkClick r:id="rId2"/>
              </a:rPr>
              <a:t>https</a:t>
            </a:r>
            <a:r>
              <a:rPr lang="en-US" sz="2400" dirty="0" smtClean="0">
                <a:hlinkClick r:id="rId2"/>
              </a:rPr>
              <a:t>://tailwindcss.com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jQuery</a:t>
            </a:r>
            <a:r>
              <a:rPr lang="en-US" dirty="0" smtClean="0"/>
              <a:t> Mobile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http://jquerymobile.com/</a:t>
            </a:r>
            <a:endParaRPr lang="en-US" sz="2400" dirty="0" smtClean="0"/>
          </a:p>
          <a:p>
            <a:r>
              <a:rPr lang="en-US" sz="2400" i="1" dirty="0" err="1" smtClean="0">
                <a:solidFill>
                  <a:srgbClr val="C00000"/>
                </a:solidFill>
              </a:rPr>
              <a:t>jQuery</a:t>
            </a:r>
            <a:r>
              <a:rPr lang="en-US" sz="2400" i="1" dirty="0" smtClean="0">
                <a:solidFill>
                  <a:srgbClr val="C00000"/>
                </a:solidFill>
              </a:rPr>
              <a:t> Mobile</a:t>
            </a:r>
            <a:r>
              <a:rPr lang="en-US" sz="2400" dirty="0" smtClean="0"/>
              <a:t> is a </a:t>
            </a:r>
            <a:r>
              <a:rPr lang="en-US" sz="2400" u="sng" dirty="0" smtClean="0"/>
              <a:t>HTML5-based user interface system</a:t>
            </a:r>
            <a:r>
              <a:rPr lang="en-US" sz="2400" dirty="0" smtClean="0"/>
              <a:t> designed to make </a:t>
            </a:r>
            <a:r>
              <a:rPr lang="en-US" sz="2400" u="sng" dirty="0" smtClean="0"/>
              <a:t>responsive</a:t>
            </a:r>
            <a:r>
              <a:rPr lang="en-US" sz="2400" dirty="0" smtClean="0"/>
              <a:t> web sites and apps that are accessible on all </a:t>
            </a:r>
            <a:r>
              <a:rPr lang="en-US" sz="2400" u="sng" dirty="0" err="1" smtClean="0"/>
              <a:t>smartphone</a:t>
            </a:r>
            <a:r>
              <a:rPr lang="en-US" sz="2400" dirty="0" smtClean="0"/>
              <a:t>, </a:t>
            </a:r>
            <a:r>
              <a:rPr lang="en-US" sz="2400" u="sng" dirty="0" smtClean="0"/>
              <a:t>tablet</a:t>
            </a:r>
            <a:r>
              <a:rPr lang="en-US" sz="2400" dirty="0" smtClean="0"/>
              <a:t> and </a:t>
            </a:r>
            <a:r>
              <a:rPr lang="en-US" sz="2400" u="sng" dirty="0" smtClean="0"/>
              <a:t>desktop devices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76399"/>
          </a:xfrm>
        </p:spPr>
        <p:txBody>
          <a:bodyPr/>
          <a:lstStyle/>
          <a:p>
            <a:r>
              <a:rPr lang="en-US" sz="2000" dirty="0" smtClean="0"/>
              <a:t>The page is the primary unit of interaction in </a:t>
            </a:r>
            <a:r>
              <a:rPr lang="en-US" sz="2000" dirty="0" err="1" smtClean="0"/>
              <a:t>jQuery</a:t>
            </a:r>
            <a:r>
              <a:rPr lang="en-US" sz="2000" dirty="0" smtClean="0"/>
              <a:t> Mobile and is used to group content into logical views that can be animated in and out of view with page transitions.</a:t>
            </a:r>
          </a:p>
          <a:p>
            <a:r>
              <a:rPr lang="en-US" sz="2000" dirty="0" smtClean="0"/>
              <a:t>By setting the viewport attributes to content="width=device-width, initial-scale=1", the width will be set to the pixel width of the device screen.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381613"/>
            <a:ext cx="8229600" cy="3323987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&lt;!DOCTYPE html&gt; 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&lt;html&gt;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&lt;head&gt;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&lt;title&gt;Page Title&lt;/title&gt;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&lt;meta name="viewport" content="width=device-width, initial-scale=1"&gt;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&lt;link 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rel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stylesheet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 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href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="http://code.jquery.com/mobile/1.4.2/jquery.mobile-1.4.2.min.css" /&gt;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&lt;script 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src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="http://code.jquery.com/jquery-1.9.1.min.js"&gt;&lt;/script&gt;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&lt;script </a:t>
            </a:r>
            <a:r>
              <a:rPr lang="en-US" sz="1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src</a:t>
            </a:r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="http://code.jquery.com/mobile/1.4.2/jquery.mobile-1.4.2.min.js"&gt;&lt;/script&gt;&lt;/head&gt;</a:t>
            </a:r>
          </a:p>
          <a:p>
            <a:endParaRPr lang="en-US" sz="14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&lt;body&gt;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...content goes here...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&lt;/body&gt;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&lt;/html&gt;</a:t>
            </a:r>
            <a:endParaRPr lang="en-US" sz="14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05800" cy="1219200"/>
          </a:xfrm>
        </p:spPr>
        <p:txBody>
          <a:bodyPr/>
          <a:lstStyle/>
          <a:p>
            <a:r>
              <a:rPr lang="en-US" sz="2200" dirty="0" smtClean="0"/>
              <a:t>Inside the &lt;body&gt; tag, each view or "page" on the mobile device is identified with an element (usually a div) with the data-role="page" attribute.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4538008"/>
            <a:ext cx="6096000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&lt;div data-role="page"&gt;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&lt;div data-role="header"&gt;...&lt;/div&gt;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&lt;div role="main" class="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ui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-content"&gt;...&lt;/div&gt;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&lt;div data-role="footer"&gt;...&lt;/div&gt;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&lt;/div&gt;</a:t>
            </a:r>
            <a:endParaRPr lang="en-US" sz="20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3048000"/>
            <a:ext cx="2209800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457200" y="2438400"/>
            <a:ext cx="61722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Within the "page" container, any valid HTML markup can be used, but for typical pages in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jQuery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Mobile, the immediate children of a "page" are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divs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with data-role="header", class="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ui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-content", and data-role="footer“.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124200" cy="4525963"/>
          </a:xfrm>
        </p:spPr>
        <p:txBody>
          <a:bodyPr/>
          <a:lstStyle/>
          <a:p>
            <a:r>
              <a:rPr lang="en-US" sz="2200" dirty="0" err="1" smtClean="0"/>
              <a:t>jQuery</a:t>
            </a:r>
            <a:r>
              <a:rPr lang="en-US" sz="2200" dirty="0" smtClean="0"/>
              <a:t> Mobile uses standard HTML markup, such as the </a:t>
            </a:r>
            <a:r>
              <a:rPr lang="en-US" sz="2200" b="1" dirty="0" smtClean="0"/>
              <a:t>div</a:t>
            </a:r>
            <a:r>
              <a:rPr lang="en-US" sz="2200" dirty="0" smtClean="0"/>
              <a:t> tag.</a:t>
            </a:r>
          </a:p>
          <a:p>
            <a:r>
              <a:rPr lang="en-US" sz="2200" dirty="0" smtClean="0"/>
              <a:t>To define what the framework should do with that </a:t>
            </a:r>
            <a:r>
              <a:rPr lang="en-US" sz="2200" b="1" dirty="0" smtClean="0"/>
              <a:t>div</a:t>
            </a:r>
            <a:r>
              <a:rPr lang="en-US" sz="2200" dirty="0" smtClean="0"/>
              <a:t>, we define a </a:t>
            </a:r>
            <a:r>
              <a:rPr lang="en-US" sz="2200" b="1" i="1" dirty="0" smtClean="0"/>
              <a:t>role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A role in the framework is defined using the attribute </a:t>
            </a:r>
            <a:r>
              <a:rPr lang="en-US" sz="2200" b="1" dirty="0" smtClean="0"/>
              <a:t>data-role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86175" y="1552575"/>
            <a:ext cx="5305425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Toolbars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3200400"/>
          </a:xfrm>
        </p:spPr>
        <p:txBody>
          <a:bodyPr/>
          <a:lstStyle/>
          <a:p>
            <a:r>
              <a:rPr lang="en-US" sz="2400" dirty="0" smtClean="0"/>
              <a:t>Toolbars are optional areas in our </a:t>
            </a:r>
            <a:r>
              <a:rPr lang="en-US" sz="2400" dirty="0" err="1" smtClean="0"/>
              <a:t>webapp</a:t>
            </a:r>
            <a:r>
              <a:rPr lang="en-US" sz="2400" dirty="0" smtClean="0"/>
              <a:t> defining headers and/or footers.</a:t>
            </a:r>
          </a:p>
          <a:p>
            <a:r>
              <a:rPr lang="en-US" sz="2400" dirty="0" smtClean="0"/>
              <a:t>Every toolbar (header or footer) can be positioned in four ways:</a:t>
            </a:r>
          </a:p>
          <a:p>
            <a:pPr lvl="1"/>
            <a:r>
              <a:rPr lang="en-US" sz="2000" dirty="0" smtClean="0"/>
              <a:t>Inline mode</a:t>
            </a:r>
          </a:p>
          <a:p>
            <a:pPr lvl="1"/>
            <a:r>
              <a:rPr lang="en-US" sz="2000" dirty="0" smtClean="0"/>
              <a:t>Standard fixed mode</a:t>
            </a:r>
          </a:p>
          <a:p>
            <a:pPr lvl="1"/>
            <a:r>
              <a:rPr lang="en-US" sz="2000" dirty="0" smtClean="0"/>
              <a:t>Full-screen fixed mode</a:t>
            </a:r>
          </a:p>
          <a:p>
            <a:pPr lvl="1"/>
            <a:r>
              <a:rPr lang="en-US" sz="2000" dirty="0" smtClean="0"/>
              <a:t>True fixed mode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381000" y="5124271"/>
            <a:ext cx="8229600" cy="120032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&lt;div data-role="</a:t>
            </a: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header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"&gt;</a:t>
            </a:r>
          </a:p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&lt;h1&gt;Page's title&lt;/h1&gt;</a:t>
            </a:r>
          </a:p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&lt;/div&gt;</a:t>
            </a:r>
            <a:endParaRPr lang="en-US" sz="24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2743200"/>
            <a:ext cx="3076575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Content to the Header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3200400"/>
          </a:xfrm>
        </p:spPr>
        <p:txBody>
          <a:bodyPr/>
          <a:lstStyle/>
          <a:p>
            <a:r>
              <a:rPr lang="en-US" sz="2400" dirty="0" smtClean="0"/>
              <a:t>A header’s button is just a hyperlink; it uses an a element inside the header.</a:t>
            </a:r>
          </a:p>
          <a:p>
            <a:r>
              <a:rPr lang="en-US" sz="2400" dirty="0" smtClean="0"/>
              <a:t>If we provide only one a element, it will be located at the left side of the title.</a:t>
            </a:r>
          </a:p>
          <a:p>
            <a:r>
              <a:rPr lang="en-US" sz="2400" dirty="0" smtClean="0"/>
              <a:t>If we add two buttons, the first one will be located at the left and the second one at the right of the title.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381000" y="4114800"/>
            <a:ext cx="8382000" cy="1631216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&lt;div data-role="header"&gt;</a:t>
            </a:r>
          </a:p>
          <a:p>
            <a:pPr lvl="1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&lt;a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href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="logout"&gt;Log out&lt;/a&gt;</a:t>
            </a:r>
          </a:p>
          <a:p>
            <a:pPr lvl="1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&lt;h1&gt;Title&lt;/h1&gt;</a:t>
            </a:r>
          </a:p>
          <a:p>
            <a:pPr lvl="1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&lt;a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href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="settings" data-icon="gear"&gt;Settings&lt;/a&gt;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&lt;/div&gt;</a:t>
            </a:r>
            <a:endParaRPr lang="en-US" sz="20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28950" y="5991225"/>
            <a:ext cx="30861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Navigation Bars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1981200"/>
          </a:xfrm>
        </p:spPr>
        <p:txBody>
          <a:bodyPr/>
          <a:lstStyle/>
          <a:p>
            <a:r>
              <a:rPr lang="en-US" sz="2400" dirty="0" smtClean="0"/>
              <a:t>A navigation bar (also known as a </a:t>
            </a:r>
            <a:r>
              <a:rPr lang="en-US" sz="2400" dirty="0" err="1" smtClean="0"/>
              <a:t>navbar</a:t>
            </a:r>
            <a:r>
              <a:rPr lang="en-US" sz="2400" dirty="0" smtClean="0"/>
              <a:t>) is a set of links that can be placed at a toolbar, usually a footer, that combine to create a series of exclusive options.</a:t>
            </a:r>
          </a:p>
          <a:p>
            <a:r>
              <a:rPr lang="en-US" sz="2400" dirty="0" smtClean="0"/>
              <a:t>The idea of a navigation bar is to act as a main navigation method for our </a:t>
            </a:r>
            <a:r>
              <a:rPr lang="en-US" sz="2400" dirty="0" err="1" smtClean="0"/>
              <a:t>webapp</a:t>
            </a:r>
            <a:r>
              <a:rPr lang="en-US" sz="2400" dirty="0" smtClean="0"/>
              <a:t>.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152400" y="3925431"/>
            <a:ext cx="5638800" cy="224676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&lt;div data-role="</a:t>
            </a:r>
            <a:r>
              <a:rPr lang="en-US" sz="20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navbar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"&gt;</a:t>
            </a:r>
          </a:p>
          <a:p>
            <a:pPr lvl="1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ul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</a:t>
            </a:r>
          </a:p>
          <a:p>
            <a:pPr lvl="2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&gt;&lt;a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href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="link1"&gt;Option 1&lt;/a&gt;</a:t>
            </a:r>
          </a:p>
          <a:p>
            <a:pPr lvl="2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&lt;!-- ... --&gt;</a:t>
            </a:r>
          </a:p>
          <a:p>
            <a:pPr lvl="2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li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&gt;&lt;a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href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linkn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"&gt;Option n&lt;/a&gt;</a:t>
            </a:r>
          </a:p>
          <a:p>
            <a:pPr lvl="1"/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ul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&lt;/div&gt;</a:t>
            </a:r>
            <a:endParaRPr lang="en-US" sz="20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91225" y="3124200"/>
            <a:ext cx="3000375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Buttons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3124200"/>
          </a:xfrm>
        </p:spPr>
        <p:txBody>
          <a:bodyPr/>
          <a:lstStyle/>
          <a:p>
            <a:r>
              <a:rPr lang="en-US" sz="2400" dirty="0" smtClean="0"/>
              <a:t>A button is a UI component that feels like…well, a button.</a:t>
            </a:r>
          </a:p>
          <a:p>
            <a:r>
              <a:rPr lang="en-US" sz="2400" dirty="0" smtClean="0"/>
              <a:t>That is, a larger clickable area with text and optionally an icon.</a:t>
            </a:r>
          </a:p>
          <a:p>
            <a:r>
              <a:rPr lang="en-US" sz="2400" dirty="0" smtClean="0"/>
              <a:t>A button can be created in different ways:</a:t>
            </a:r>
          </a:p>
          <a:p>
            <a:pPr lvl="1"/>
            <a:r>
              <a:rPr lang="en-US" sz="2000" dirty="0" smtClean="0"/>
              <a:t>Using a button element</a:t>
            </a:r>
          </a:p>
          <a:p>
            <a:pPr lvl="1"/>
            <a:r>
              <a:rPr lang="en-US" sz="2000" dirty="0" smtClean="0"/>
              <a:t>Using an input element that typically renders a button, including type="button",</a:t>
            </a:r>
          </a:p>
          <a:p>
            <a:pPr lvl="1"/>
            <a:r>
              <a:rPr lang="en-US" sz="2000" dirty="0" smtClean="0"/>
              <a:t>type="submit", type="reset" and type="image"</a:t>
            </a:r>
          </a:p>
          <a:p>
            <a:pPr lvl="1"/>
            <a:r>
              <a:rPr lang="en-US" sz="2000" dirty="0" smtClean="0"/>
              <a:t>Any a element with data-role="button"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533400" y="4419600"/>
            <a:ext cx="8001000" cy="101566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&lt;a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href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="#" data-role="</a:t>
            </a:r>
            <a:r>
              <a:rPr lang="en-US" sz="20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button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"&gt;Click me!&lt;/a&gt;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&lt;button data-theme="b"&gt;Click me too!&lt;/button&gt;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&lt;input type="button" value="Don't forget about me!"&gt;</a:t>
            </a:r>
            <a:endParaRPr lang="en-US" sz="20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00350" y="5562600"/>
            <a:ext cx="35433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Buttons Note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Buttons in </a:t>
            </a:r>
            <a:r>
              <a:rPr lang="en-US" sz="2400" dirty="0" err="1" smtClean="0"/>
              <a:t>jQuery</a:t>
            </a:r>
            <a:r>
              <a:rPr lang="en-US" sz="2400" dirty="0" smtClean="0"/>
              <a:t> Mobile are automatically styled, making them attractive and useable on both mobile devices and desktop computers.</a:t>
            </a:r>
          </a:p>
          <a:p>
            <a:r>
              <a:rPr lang="en-US" sz="2400" dirty="0" smtClean="0"/>
              <a:t>We recommend that you use the &lt;a&gt; element with class="</a:t>
            </a:r>
            <a:r>
              <a:rPr lang="en-US" sz="2400" dirty="0" err="1" smtClean="0"/>
              <a:t>ui-btn</a:t>
            </a:r>
            <a:r>
              <a:rPr lang="en-US" sz="2400" dirty="0" smtClean="0"/>
              <a:t>" to link between pages, and &lt;input&gt; or &lt;button&gt; elements for form submission.</a:t>
            </a:r>
          </a:p>
          <a:p>
            <a:endParaRPr lang="en-US" sz="2400" dirty="0" smtClean="0"/>
          </a:p>
          <a:p>
            <a:r>
              <a:rPr lang="en-US" sz="2400" dirty="0" smtClean="0"/>
              <a:t>Note: Before version 1.4, we used the data-role="button" attribute to create a button in </a:t>
            </a:r>
            <a:r>
              <a:rPr lang="en-US" sz="2400" dirty="0" err="1" smtClean="0"/>
              <a:t>jQuery</a:t>
            </a:r>
            <a:r>
              <a:rPr lang="en-US" sz="2400" dirty="0" smtClean="0"/>
              <a:t> Mobile.</a:t>
            </a:r>
          </a:p>
          <a:p>
            <a:r>
              <a:rPr lang="en-US" sz="2400" dirty="0" smtClean="0"/>
              <a:t>As of 1.4, the framework use CSS classes to style buttons (except for &lt;input&gt; buttons).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Grouped Buttons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600200"/>
            <a:ext cx="8001000" cy="341632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&lt;div </a:t>
            </a: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data-role="</a:t>
            </a:r>
            <a:r>
              <a:rPr lang="en-US" sz="2400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controlgroup</a:t>
            </a:r>
            <a:r>
              <a:rPr lang="en-US" sz="24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data-type="horizontal"&gt;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&lt;a </a:t>
            </a:r>
            <a:r>
              <a:rPr lang="en-US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href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="#" data-role="button" data-inline="true"&gt;Button 1&lt;/a&gt;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&lt;a </a:t>
            </a:r>
            <a:r>
              <a:rPr lang="en-US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href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="#" data-role="button" data-inline="true"&gt;Button 2&lt;/a&gt;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&lt;a </a:t>
            </a:r>
            <a:r>
              <a:rPr lang="en-US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href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="#" data-role="button" data-inline="true"&gt;Button 2&lt;/a&gt;</a:t>
            </a:r>
          </a:p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&lt;/div&gt;</a:t>
            </a:r>
            <a:endParaRPr lang="en-US" sz="24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5334000"/>
            <a:ext cx="6657975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Grids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600200"/>
            <a:ext cx="8001000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&lt;div class="</a:t>
            </a:r>
            <a:r>
              <a:rPr lang="en-US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ui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-grid-b"&gt;</a:t>
            </a:r>
          </a:p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&lt;div class="</a:t>
            </a:r>
            <a:r>
              <a:rPr lang="en-US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ui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-block-a"&gt;Block A&lt;/div&gt;</a:t>
            </a:r>
          </a:p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&lt;div class="</a:t>
            </a:r>
            <a:r>
              <a:rPr lang="en-US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ui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-block-b"&gt;Block B&lt;/div&gt;</a:t>
            </a:r>
          </a:p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&lt;/div&gt;</a:t>
            </a:r>
            <a:endParaRPr lang="en-US" sz="24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3657600"/>
            <a:ext cx="8001000" cy="230832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&lt;div class="</a:t>
            </a:r>
            <a:r>
              <a:rPr lang="en-US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ui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-grid-b"&gt;</a:t>
            </a:r>
          </a:p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&lt;div class="</a:t>
            </a:r>
            <a:r>
              <a:rPr lang="en-US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ui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-block-a" style="width:80%;"&gt;Block A&lt;/div&gt;</a:t>
            </a:r>
          </a:p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&lt;div class="</a:t>
            </a:r>
            <a:r>
              <a:rPr lang="en-US" sz="24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ui</a:t>
            </a:r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-block-b" style="width:20%;"&gt;Block B&lt;/div&gt;</a:t>
            </a:r>
          </a:p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&lt;/div&gt;</a:t>
            </a:r>
            <a:endParaRPr lang="en-US" sz="24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typical </a:t>
            </a:r>
            <a:r>
              <a:rPr lang="en-US" dirty="0" err="1" smtClean="0"/>
              <a:t>jQuery</a:t>
            </a:r>
            <a:r>
              <a:rPr lang="en-US" dirty="0" smtClean="0"/>
              <a:t> Mobile form will look very similar to a typical web form: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If we want to force a standard HTTP request without AJAX, we can use </a:t>
            </a:r>
            <a:r>
              <a:rPr lang="en-US" b="1" dirty="0" smtClean="0"/>
              <a:t>data-</a:t>
            </a:r>
            <a:r>
              <a:rPr lang="en-US" b="1" dirty="0" err="1" smtClean="0"/>
              <a:t>ajax</a:t>
            </a:r>
            <a:r>
              <a:rPr lang="en-US" b="1" dirty="0" smtClean="0"/>
              <a:t>="false"</a:t>
            </a:r>
            <a:r>
              <a:rPr lang="en-US" dirty="0" smtClean="0"/>
              <a:t> on the form element.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8229600" cy="830997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&lt;form action="send.php" action="get"&gt;</a:t>
            </a:r>
          </a:p>
          <a:p>
            <a:r>
              <a:rPr lang="en-US" sz="24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&lt;/form&gt;</a:t>
            </a:r>
            <a:endParaRPr lang="en-US" sz="24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Mobile Initialization Event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Mobile initialization is fired after the </a:t>
            </a:r>
            <a:r>
              <a:rPr lang="en-US" sz="2400" dirty="0" err="1" smtClean="0"/>
              <a:t>jQuery</a:t>
            </a:r>
            <a:r>
              <a:rPr lang="en-US" sz="2400" dirty="0" smtClean="0"/>
              <a:t> Mobile framework is loaded into memory and just before rendering the UI elements.</a:t>
            </a:r>
          </a:p>
          <a:p>
            <a:r>
              <a:rPr lang="en-US" sz="2400" dirty="0" smtClean="0"/>
              <a:t>That is why we can use this event handler to change some of the UI global preferences.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810000"/>
            <a:ext cx="8229600" cy="2862322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&lt;script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src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=“./jquery.mobile-1.4.2/jquery-1.9.1.min.js”&gt;&lt;/script&gt;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&lt;script type = “text/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javascript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”&gt;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$(document).bind('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mobileinit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', function() {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Initialization code here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});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&lt;/script&gt;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&lt;script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src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=“./jquery.mobile-1.4.2/jquery.mobile-1.4.2.min.js"&gt;&lt;/script&gt;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1371599"/>
          </a:xfrm>
        </p:spPr>
        <p:txBody>
          <a:bodyPr/>
          <a:lstStyle/>
          <a:p>
            <a:r>
              <a:rPr lang="en-US" sz="2200" dirty="0" smtClean="0"/>
              <a:t>A list is just an ordered (</a:t>
            </a:r>
            <a:r>
              <a:rPr lang="en-US" sz="2200" dirty="0" err="1" smtClean="0"/>
              <a:t>ol</a:t>
            </a:r>
            <a:r>
              <a:rPr lang="en-US" sz="2200" dirty="0" smtClean="0"/>
              <a:t> HTML element) or unordered (</a:t>
            </a:r>
            <a:r>
              <a:rPr lang="en-US" sz="2200" dirty="0" err="1" smtClean="0"/>
              <a:t>ul</a:t>
            </a:r>
            <a:r>
              <a:rPr lang="en-US" sz="2200" dirty="0" smtClean="0"/>
              <a:t> HTML element) list inside a page with at least one list item (</a:t>
            </a:r>
            <a:r>
              <a:rPr lang="en-US" sz="2200" dirty="0" err="1" smtClean="0"/>
              <a:t>li</a:t>
            </a:r>
            <a:r>
              <a:rPr lang="en-US" sz="2200" dirty="0" smtClean="0"/>
              <a:t> HTML element) and the role defined as </a:t>
            </a:r>
            <a:r>
              <a:rPr lang="en-US" sz="2200" dirty="0" err="1" smtClean="0"/>
              <a:t>listview</a:t>
            </a:r>
            <a:r>
              <a:rPr lang="en-US" sz="2200" dirty="0" smtClean="0"/>
              <a:t> using the HTML5 syntax </a:t>
            </a:r>
            <a:r>
              <a:rPr lang="en-US" sz="2200" b="1" dirty="0" smtClean="0"/>
              <a:t>data-role="</a:t>
            </a:r>
            <a:r>
              <a:rPr lang="en-US" sz="2200" b="1" dirty="0" err="1" smtClean="0"/>
              <a:t>listview</a:t>
            </a:r>
            <a:r>
              <a:rPr lang="en-US" sz="2200" b="1" dirty="0" smtClean="0"/>
              <a:t>"</a:t>
            </a:r>
            <a:r>
              <a:rPr lang="en-US" sz="2200" dirty="0" smtClean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2895600"/>
            <a:ext cx="4648200" cy="3785652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&lt;div data-role="header"&gt;</a:t>
            </a:r>
          </a:p>
          <a:p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&lt;h1&gt;HTML5 and APIs&lt;/h1&gt;</a:t>
            </a:r>
          </a:p>
          <a:p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&lt;/div&gt;</a:t>
            </a:r>
          </a:p>
          <a:p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&lt;div data-role="content"&gt;</a:t>
            </a:r>
          </a:p>
          <a:p>
            <a:pPr lvl="1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&lt;ul </a:t>
            </a:r>
            <a:r>
              <a:rPr lang="it-IT" sz="20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data-role="listview"</a:t>
            </a:r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</a:t>
            </a:r>
          </a:p>
          <a:p>
            <a:pPr lvl="1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&lt;li&gt;Offline Access</a:t>
            </a:r>
          </a:p>
          <a:p>
            <a:pPr lvl="1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&lt;li&gt;Geolocation API</a:t>
            </a:r>
          </a:p>
          <a:p>
            <a:pPr lvl="1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&lt;li&gt;Canvas</a:t>
            </a:r>
          </a:p>
          <a:p>
            <a:pPr lvl="1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&lt;li&gt;Offline Storage</a:t>
            </a:r>
          </a:p>
          <a:p>
            <a:pPr lvl="1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&lt;li&gt;New semantic tags</a:t>
            </a:r>
          </a:p>
          <a:p>
            <a:pPr lvl="1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&lt;/ul&gt;</a:t>
            </a:r>
          </a:p>
          <a:p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&lt;/div&gt;</a:t>
            </a:r>
            <a:endParaRPr lang="en-US" sz="20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3581400"/>
            <a:ext cx="3152775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Inset Lists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621572"/>
            <a:ext cx="4648200" cy="4093428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&lt;div data-role="header"&gt;</a:t>
            </a:r>
          </a:p>
          <a:p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&lt;h1&gt;HTML5 and APIs&lt;/h1&gt;</a:t>
            </a:r>
          </a:p>
          <a:p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&lt;/div&gt;</a:t>
            </a:r>
          </a:p>
          <a:p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&lt;div data-role="content"&gt;</a:t>
            </a:r>
          </a:p>
          <a:p>
            <a:pPr lvl="1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&lt;ul </a:t>
            </a:r>
            <a:r>
              <a:rPr lang="it-IT" sz="20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data-role="listview" data-inset="true"</a:t>
            </a:r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</a:t>
            </a:r>
          </a:p>
          <a:p>
            <a:pPr lvl="1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&lt;li&gt;Offline Access</a:t>
            </a:r>
          </a:p>
          <a:p>
            <a:pPr lvl="1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&lt;li&gt;Geolocation API</a:t>
            </a:r>
          </a:p>
          <a:p>
            <a:pPr lvl="1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&lt;li&gt;Canvas</a:t>
            </a:r>
          </a:p>
          <a:p>
            <a:pPr lvl="1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&lt;li&gt;Offline Storage</a:t>
            </a:r>
          </a:p>
          <a:p>
            <a:pPr lvl="1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&lt;li&gt;New semantic tags</a:t>
            </a:r>
          </a:p>
          <a:p>
            <a:pPr lvl="1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&lt;/ul&gt;</a:t>
            </a:r>
          </a:p>
          <a:p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&lt;/div&gt;</a:t>
            </a:r>
            <a:endParaRPr lang="en-US" sz="20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1600200"/>
            <a:ext cx="3124200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Aside Content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2400" y="1600200"/>
            <a:ext cx="5562600" cy="4708981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&lt;div data-role="content"&gt;</a:t>
            </a:r>
          </a:p>
          <a:p>
            <a:pPr lvl="1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&lt;ul data-role="listview"&gt;</a:t>
            </a:r>
          </a:p>
          <a:p>
            <a:pPr lvl="2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&lt;li&gt;&lt;a href="buy.html"&gt;Soda&lt;/a&gt;</a:t>
            </a:r>
          </a:p>
          <a:p>
            <a:pPr lvl="2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&lt;span </a:t>
            </a:r>
            <a:r>
              <a:rPr lang="it-IT" sz="20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class="ui-li-aside"</a:t>
            </a:r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&gt;$1.00&lt;/span&gt;</a:t>
            </a:r>
          </a:p>
          <a:p>
            <a:pPr lvl="2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&lt;li&gt;&lt;a href="buy.html"&gt;Sandwich&lt;/a&gt;</a:t>
            </a:r>
          </a:p>
          <a:p>
            <a:pPr lvl="2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&lt;span class</a:t>
            </a:r>
            <a:r>
              <a:rPr lang="it-IT" sz="20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="ui-li-aside"</a:t>
            </a:r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&gt;$3.20&lt;/span&gt;</a:t>
            </a:r>
          </a:p>
          <a:p>
            <a:pPr lvl="2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&lt;li&gt;&lt;a href="buy.html"&gt;Ice cream&lt;/a&gt;</a:t>
            </a:r>
          </a:p>
          <a:p>
            <a:pPr lvl="2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&lt;span </a:t>
            </a:r>
            <a:r>
              <a:rPr lang="it-IT" sz="20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class="ui-li-aside"</a:t>
            </a:r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&gt;$1.50&lt;/span&gt;</a:t>
            </a:r>
          </a:p>
          <a:p>
            <a:pPr lvl="1"/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&lt;/ul&gt;</a:t>
            </a:r>
          </a:p>
          <a:p>
            <a:r>
              <a:rPr lang="it-IT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&lt;/div&gt;</a:t>
            </a:r>
            <a:endParaRPr lang="en-US" sz="2000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38825" y="1562100"/>
            <a:ext cx="3152775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Title and Description</a:t>
            </a:r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562100"/>
            <a:ext cx="7772400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Icons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http://api.jquerymobile.com/icons/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Sliding Menu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600200"/>
            <a:ext cx="8382000" cy="415498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&lt;div data-role="panel" id="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navpanel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 data-theme="a" data-display="overlay" data-position="right"&gt;</a:t>
            </a:r>
          </a:p>
          <a:p>
            <a:pPr lvl="1"/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&lt;div data-role="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controlgroup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 data-corners="false"&gt;</a:t>
            </a:r>
          </a:p>
          <a:p>
            <a:pPr lvl="2"/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&lt;a 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href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="#" data-role="button"&gt;Business&lt;/a&gt;</a:t>
            </a:r>
          </a:p>
          <a:p>
            <a:pPr lvl="2"/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&lt;a 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href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="#" data-role="button"&gt;Numbers&lt;/a&gt;</a:t>
            </a:r>
          </a:p>
          <a:p>
            <a:pPr lvl="1"/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&lt;/div&gt;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&lt;/div&gt;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&lt;div id="header" data-role="header" data-theme="b"&gt;</a:t>
            </a:r>
          </a:p>
          <a:p>
            <a:pPr lvl="1"/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&lt;a id="bars-button" data-icon="bars"  class="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ui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-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btn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-right" 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href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="#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navpanel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"&gt;Menu&lt;/a&gt;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&lt;/div&gt;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AutoComplete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600200"/>
            <a:ext cx="8382000" cy="4832092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&lt;input type="text" id="txtCar" value="Select a Car" /&gt;</a:t>
            </a:r>
          </a:p>
          <a:p>
            <a:r>
              <a:rPr lang="it-IT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&lt;ul data-role="listview" data-inset="true" data-filter="true" data-filter-reveal="true" data-input="#txtCar" id="lstCars"&gt;</a:t>
            </a:r>
          </a:p>
          <a:p>
            <a:r>
              <a:rPr lang="it-IT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&lt;li&gt;&lt;a href="#"&gt;Audi&lt;/a&gt;&lt;/li&gt;</a:t>
            </a:r>
          </a:p>
          <a:p>
            <a:r>
              <a:rPr lang="it-IT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&lt;li&gt;&lt;a href="#"&gt;BMW&lt;/a&gt;&lt;/li&gt;</a:t>
            </a:r>
          </a:p>
          <a:p>
            <a:r>
              <a:rPr lang="it-IT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&lt;li&gt;&lt;a href="#"&gt;Ferrari&lt;/a&gt;&lt;/li&gt;</a:t>
            </a:r>
          </a:p>
          <a:p>
            <a:r>
              <a:rPr lang="it-IT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&lt;li&gt;&lt;a href="#"&gt;Ford&lt;/a&gt;&lt;/li&gt;</a:t>
            </a:r>
          </a:p>
          <a:p>
            <a:r>
              <a:rPr lang="it-IT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&lt;li&gt;&lt;a href="#"&gt;Honda&lt;/a&gt;&lt;/li&gt;</a:t>
            </a:r>
          </a:p>
          <a:p>
            <a:r>
              <a:rPr lang="it-IT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&lt;li&gt;&lt;a href="#"&gt;Kia&lt;/a&gt;&lt;/li&gt;</a:t>
            </a:r>
          </a:p>
          <a:p>
            <a:pPr lvl="1"/>
            <a:r>
              <a:rPr lang="it-IT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&lt;li&gt;&lt;a href="#"&gt;Lexus&lt;/a&gt;&lt;/li&gt;</a:t>
            </a:r>
          </a:p>
          <a:p>
            <a:r>
              <a:rPr lang="it-IT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&lt;li&gt;&lt;a href="#"&gt;Volvo&lt;/a&gt;&lt;/li&gt;</a:t>
            </a:r>
          </a:p>
          <a:p>
            <a:r>
              <a:rPr lang="it-IT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&lt;/ul&gt;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Event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4191000"/>
            <a:ext cx="8382000" cy="246221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$(document).on("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pagecreate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", function () {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$("#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btnAddCar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").on("click", function () {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    alert("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btnAddCar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clicked");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    $("#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lstTo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li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").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removeClass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('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ui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-screen-hidden');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});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});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524000"/>
            <a:ext cx="8382000" cy="246221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&lt;input type="button" data-inline="true" id="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btnAddCar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 value="Add a Car" /&gt;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ul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data-role="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listview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 data-inset="true“ id="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lstCars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"&gt;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li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&gt;&lt;a 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href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="#"&gt;Audi&lt;/a&gt;&lt;/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li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li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&gt;&lt;a 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href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="#"&gt;BMW&lt;/a&gt;&lt;/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li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22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ul</a:t>
            </a:r>
            <a:r>
              <a:rPr lang="en-US" sz="22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&gt;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Dialogs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2590800"/>
          </a:xfrm>
        </p:spPr>
        <p:txBody>
          <a:bodyPr/>
          <a:lstStyle/>
          <a:p>
            <a:r>
              <a:rPr lang="en-US" sz="2000" dirty="0" smtClean="0"/>
              <a:t>Any page can be presented as a modal dialog by adding the data-dialog="true" attribute to the page. </a:t>
            </a:r>
          </a:p>
          <a:p>
            <a:r>
              <a:rPr lang="en-US" sz="2000" dirty="0" smtClean="0"/>
              <a:t>When any link is clicked within a dialog, the framework will automatically close the dialog and transition to the requested page, just as if the dialog were a normal page.</a:t>
            </a:r>
          </a:p>
          <a:p>
            <a:r>
              <a:rPr lang="en-US" sz="2000" dirty="0" smtClean="0"/>
              <a:t>If a dialog opens another dialog (chaining), closing the last one with a link of type data-</a:t>
            </a:r>
            <a:r>
              <a:rPr lang="en-US" sz="2000" dirty="0" err="1" smtClean="0"/>
              <a:t>rel</a:t>
            </a:r>
            <a:r>
              <a:rPr lang="en-US" sz="2000" dirty="0" smtClean="0"/>
              <a:t>="back" will always navigate to the previous dialog until the root-page of type data-role="page" is reached. 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457200" y="4191000"/>
            <a:ext cx="8229600" cy="255454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&lt;div data-role="page" data-dialog="true"&gt;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&lt;div data-role="header" data-theme="b"&gt;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&lt;h1&gt;Dialog&lt;/h1&gt;&lt;/div&gt;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&lt;div role="main" class="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ui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-content"&gt;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&lt;a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href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="dialog/index.html" data-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rel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="back" 	class="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ui-btn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ui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-shadow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ui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-corner-all </a:t>
            </a:r>
            <a:r>
              <a:rPr lang="en-US" sz="2000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ui-btn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-	a"&gt;Cancel&lt;/a&gt;&lt;/div&gt;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&lt;/div&gt;</a:t>
            </a:r>
            <a:endParaRPr lang="en-US" sz="20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Grids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https://demos.jquerymobile.com/1.4.5/grids/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 err="1" smtClean="0"/>
              <a:t>jQuery</a:t>
            </a:r>
            <a:r>
              <a:rPr lang="en-US" sz="2400" dirty="0" smtClean="0"/>
              <a:t> Mobile framework provides a simple way to build CSS-based columns that can also be responsive.</a:t>
            </a:r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457200" y="4233208"/>
            <a:ext cx="8229600" cy="193899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latin typeface="Consolas" pitchFamily="49" charset="0"/>
              </a:rPr>
              <a:t>&lt;div class="</a:t>
            </a:r>
            <a:r>
              <a:rPr lang="en-US" sz="2000" dirty="0" err="1" smtClean="0">
                <a:latin typeface="Consolas" pitchFamily="49" charset="0"/>
              </a:rPr>
              <a:t>ui</a:t>
            </a:r>
            <a:r>
              <a:rPr lang="en-US" sz="2000" dirty="0" smtClean="0">
                <a:latin typeface="Consolas" pitchFamily="49" charset="0"/>
              </a:rPr>
              <a:t>-grid-a"&gt;</a:t>
            </a:r>
          </a:p>
          <a:p>
            <a:r>
              <a:rPr lang="en-US" sz="2000" dirty="0" smtClean="0">
                <a:latin typeface="Consolas" pitchFamily="49" charset="0"/>
              </a:rPr>
              <a:t>    &lt;div class="</a:t>
            </a:r>
            <a:r>
              <a:rPr lang="en-US" sz="2000" dirty="0" err="1" smtClean="0">
                <a:latin typeface="Consolas" pitchFamily="49" charset="0"/>
              </a:rPr>
              <a:t>ui</a:t>
            </a:r>
            <a:r>
              <a:rPr lang="en-US" sz="2000" dirty="0" smtClean="0">
                <a:latin typeface="Consolas" pitchFamily="49" charset="0"/>
              </a:rPr>
              <a:t>-block-a"&gt;&lt;div class="</a:t>
            </a:r>
            <a:r>
              <a:rPr lang="en-US" sz="2000" dirty="0" err="1" smtClean="0">
                <a:latin typeface="Consolas" pitchFamily="49" charset="0"/>
              </a:rPr>
              <a:t>ui</a:t>
            </a:r>
            <a:r>
              <a:rPr lang="en-US" sz="2000" dirty="0" smtClean="0">
                <a:latin typeface="Consolas" pitchFamily="49" charset="0"/>
              </a:rPr>
              <a:t>-bar </a:t>
            </a:r>
            <a:r>
              <a:rPr lang="en-US" sz="2000" dirty="0" err="1" smtClean="0">
                <a:latin typeface="Consolas" pitchFamily="49" charset="0"/>
              </a:rPr>
              <a:t>ui</a:t>
            </a:r>
            <a:r>
              <a:rPr lang="en-US" sz="2000" dirty="0" smtClean="0">
                <a:latin typeface="Consolas" pitchFamily="49" charset="0"/>
              </a:rPr>
              <a:t>-bar-a" style="height:60px"&gt;Block A&lt;/div&gt;&lt;/div&gt;</a:t>
            </a:r>
          </a:p>
          <a:p>
            <a:r>
              <a:rPr lang="en-US" sz="2000" dirty="0" smtClean="0">
                <a:latin typeface="Consolas" pitchFamily="49" charset="0"/>
              </a:rPr>
              <a:t>    &lt;div class="</a:t>
            </a:r>
            <a:r>
              <a:rPr lang="en-US" sz="2000" dirty="0" err="1" smtClean="0">
                <a:latin typeface="Consolas" pitchFamily="49" charset="0"/>
              </a:rPr>
              <a:t>ui</a:t>
            </a:r>
            <a:r>
              <a:rPr lang="en-US" sz="2000" dirty="0" smtClean="0">
                <a:latin typeface="Consolas" pitchFamily="49" charset="0"/>
              </a:rPr>
              <a:t>-block-b"&gt;&lt;div class="</a:t>
            </a:r>
            <a:r>
              <a:rPr lang="en-US" sz="2000" dirty="0" err="1" smtClean="0">
                <a:latin typeface="Consolas" pitchFamily="49" charset="0"/>
              </a:rPr>
              <a:t>ui</a:t>
            </a:r>
            <a:r>
              <a:rPr lang="en-US" sz="2000" dirty="0" smtClean="0">
                <a:latin typeface="Consolas" pitchFamily="49" charset="0"/>
              </a:rPr>
              <a:t>-bar </a:t>
            </a:r>
            <a:r>
              <a:rPr lang="en-US" sz="2000" dirty="0" err="1" smtClean="0">
                <a:latin typeface="Consolas" pitchFamily="49" charset="0"/>
              </a:rPr>
              <a:t>ui</a:t>
            </a:r>
            <a:r>
              <a:rPr lang="en-US" sz="2000" dirty="0" smtClean="0">
                <a:latin typeface="Consolas" pitchFamily="49" charset="0"/>
              </a:rPr>
              <a:t>-bar-a" style="height:60px"&gt;Block B&lt;/div&gt;&lt;/div&gt;</a:t>
            </a:r>
          </a:p>
          <a:p>
            <a:r>
              <a:rPr lang="en-US" sz="2000" dirty="0" smtClean="0">
                <a:latin typeface="Consolas" pitchFamily="49" charset="0"/>
              </a:rPr>
              <a:t>&lt;/div&gt;&lt;!-- /grid-a --&gt;</a:t>
            </a:r>
            <a:endParaRPr lang="en-US" sz="2000" dirty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3060700"/>
            <a:ext cx="3984625" cy="90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8845</TotalTime>
  <Words>2605</Words>
  <Application>Microsoft Office PowerPoint</Application>
  <PresentationFormat>On-screen Show (4:3)</PresentationFormat>
  <Paragraphs>390</Paragraphs>
  <Slides>44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jQuery</vt:lpstr>
      <vt:lpstr>Objectives</vt:lpstr>
      <vt:lpstr>Contents</vt:lpstr>
      <vt:lpstr>References</vt:lpstr>
      <vt:lpstr>jQuery</vt:lpstr>
      <vt:lpstr>1. Create Hello World [1]</vt:lpstr>
      <vt:lpstr>2. Handle Click Events</vt:lpstr>
      <vt:lpstr>Why Use jQuery?</vt:lpstr>
      <vt:lpstr>jQuery Selectors</vt:lpstr>
      <vt:lpstr>3. Create Elements</vt:lpstr>
      <vt:lpstr>4. Add Elements to the DOM</vt:lpstr>
      <vt:lpstr>Events and Asynchronicity</vt:lpstr>
      <vt:lpstr>Anonymous Function Example</vt:lpstr>
      <vt:lpstr>Masked Input Plugin for jQuery</vt:lpstr>
      <vt:lpstr>5. Show/Hide Panel using jQuery</vt:lpstr>
      <vt:lpstr>Slide 16</vt:lpstr>
      <vt:lpstr>jQuery UI [2]</vt:lpstr>
      <vt:lpstr>Slide 18</vt:lpstr>
      <vt:lpstr>jQuery Mobile Alternatives</vt:lpstr>
      <vt:lpstr>Slide 20</vt:lpstr>
      <vt:lpstr>jQuery Mobile</vt:lpstr>
      <vt:lpstr>Page</vt:lpstr>
      <vt:lpstr>The Page</vt:lpstr>
      <vt:lpstr>Roles [1]</vt:lpstr>
      <vt:lpstr>Toolbars</vt:lpstr>
      <vt:lpstr>Adding Content to the Header</vt:lpstr>
      <vt:lpstr>Navigation Bars</vt:lpstr>
      <vt:lpstr>Buttons</vt:lpstr>
      <vt:lpstr>Buttons Note</vt:lpstr>
      <vt:lpstr>Grouped Buttons</vt:lpstr>
      <vt:lpstr>Grids</vt:lpstr>
      <vt:lpstr>Form Action</vt:lpstr>
      <vt:lpstr>Mobile Initialization Event</vt:lpstr>
      <vt:lpstr>Lists</vt:lpstr>
      <vt:lpstr>Inset Lists</vt:lpstr>
      <vt:lpstr>Aside Content</vt:lpstr>
      <vt:lpstr>Title and Description</vt:lpstr>
      <vt:lpstr>Icons</vt:lpstr>
      <vt:lpstr>Sliding Menu</vt:lpstr>
      <vt:lpstr>AutoComplete</vt:lpstr>
      <vt:lpstr>Click Event</vt:lpstr>
      <vt:lpstr>Dialogs</vt:lpstr>
      <vt:lpstr>Grids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3118</cp:revision>
  <dcterms:created xsi:type="dcterms:W3CDTF">2007-10-06T08:25:13Z</dcterms:created>
  <dcterms:modified xsi:type="dcterms:W3CDTF">2024-02-04T17:45:27Z</dcterms:modified>
</cp:coreProperties>
</file>