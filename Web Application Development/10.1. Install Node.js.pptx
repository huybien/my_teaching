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1"/>
  </p:notesMasterIdLst>
  <p:sldIdLst>
    <p:sldId id="256" r:id="rId2"/>
    <p:sldId id="499" r:id="rId3"/>
    <p:sldId id="500" r:id="rId4"/>
    <p:sldId id="501" r:id="rId5"/>
    <p:sldId id="490" r:id="rId6"/>
    <p:sldId id="519" r:id="rId7"/>
    <p:sldId id="440" r:id="rId8"/>
    <p:sldId id="496" r:id="rId9"/>
    <p:sldId id="515" r:id="rId10"/>
    <p:sldId id="506" r:id="rId11"/>
    <p:sldId id="479" r:id="rId12"/>
    <p:sldId id="507" r:id="rId13"/>
    <p:sldId id="518" r:id="rId14"/>
    <p:sldId id="516" r:id="rId15"/>
    <p:sldId id="511" r:id="rId16"/>
    <p:sldId id="498" r:id="rId17"/>
    <p:sldId id="483" r:id="rId18"/>
    <p:sldId id="513" r:id="rId19"/>
    <p:sldId id="514" r:id="rId20"/>
    <p:sldId id="529" r:id="rId21"/>
    <p:sldId id="530" r:id="rId22"/>
    <p:sldId id="525" r:id="rId23"/>
    <p:sldId id="520" r:id="rId24"/>
    <p:sldId id="521" r:id="rId25"/>
    <p:sldId id="522" r:id="rId26"/>
    <p:sldId id="528" r:id="rId27"/>
    <p:sldId id="526" r:id="rId28"/>
    <p:sldId id="527" r:id="rId29"/>
    <p:sldId id="343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28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about/previous-releases" TargetMode="External"/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eb.nodesource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nodejs.org/en/download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gitalocean.com/community/tutorials/how-to-install-and-use-the-yarn-package-manager-for-node-j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eno.com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Install Node.js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install</a:t>
            </a:r>
            <a:r>
              <a:rPr lang="en-US" sz="2400" dirty="0" smtClean="0"/>
              <a:t> </a:t>
            </a:r>
            <a:r>
              <a:rPr lang="en-US" sz="2400" dirty="0" smtClean="0">
                <a:latin typeface="Consolas" pitchFamily="49" charset="0"/>
              </a:rPr>
              <a:t>Node.js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Node.js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Go to </a:t>
            </a:r>
            <a:r>
              <a:rPr lang="en-US" sz="2200" dirty="0" smtClean="0">
                <a:hlinkClick r:id="rId2"/>
              </a:rPr>
              <a:t>https://nodejs.org/en/download</a:t>
            </a:r>
            <a:r>
              <a:rPr lang="en-US" sz="2200" dirty="0" smtClean="0"/>
              <a:t> (Select the </a:t>
            </a:r>
            <a:r>
              <a:rPr lang="en-US" sz="2200" b="1" dirty="0" smtClean="0"/>
              <a:t>LTS</a:t>
            </a:r>
            <a:r>
              <a:rPr lang="en-US" sz="2200" dirty="0" smtClean="0"/>
              <a:t> tab)</a:t>
            </a:r>
          </a:p>
          <a:p>
            <a:r>
              <a:rPr lang="en-US" sz="2200" dirty="0" smtClean="0"/>
              <a:t>Roadmap. </a:t>
            </a:r>
            <a:r>
              <a:rPr lang="en-US" sz="2200" dirty="0" smtClean="0">
                <a:hlinkClick r:id="rId3"/>
              </a:rPr>
              <a:t>https://nodejs.org/en/about/previous-releases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11400" y="2730500"/>
            <a:ext cx="4521200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2. Do Not Select Native Modules Tools</a:t>
            </a:r>
            <a:endParaRPr lang="en-US" sz="4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1400" y="2120900"/>
            <a:ext cx="4521200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Verify Node.js Installation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14350"/>
            <a:r>
              <a:rPr lang="en-US" sz="2400" dirty="0" smtClean="0">
                <a:latin typeface="Consolas" pitchFamily="49" charset="0"/>
              </a:rPr>
              <a:t>node --version </a:t>
            </a:r>
          </a:p>
          <a:p>
            <a:pPr marL="571500" indent="-514350"/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--version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048000"/>
            <a:ext cx="56769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Upgrade </a:t>
            </a:r>
            <a:r>
              <a:rPr lang="en-US" dirty="0" err="1" smtClean="0"/>
              <a:t>npm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14350"/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-g </a:t>
            </a:r>
            <a:r>
              <a:rPr lang="en-US" sz="2400" dirty="0" err="1" smtClean="0">
                <a:latin typeface="Consolas" pitchFamily="49" charset="0"/>
              </a:rPr>
              <a:t>npm@latest</a:t>
            </a:r>
            <a:endParaRPr lang="en-US" sz="2400" dirty="0" smtClean="0">
              <a:latin typeface="Consolas" pitchFamily="49" charset="0"/>
            </a:endParaRPr>
          </a:p>
          <a:p>
            <a:pPr marL="571500" indent="-514350"/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--version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276600"/>
            <a:ext cx="601503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Remove Node from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apt-get remove </a:t>
            </a:r>
            <a:r>
              <a:rPr lang="en-US" sz="2000" dirty="0" err="1" smtClean="0">
                <a:latin typeface="Consolas" pitchFamily="49" charset="0"/>
              </a:rPr>
              <a:t>nodejs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npm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rm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rf</a:t>
            </a:r>
            <a:r>
              <a:rPr lang="en-US" sz="2000" dirty="0" smtClean="0">
                <a:latin typeface="Consolas" pitchFamily="49" charset="0"/>
              </a:rPr>
              <a:t> /</a:t>
            </a:r>
            <a:r>
              <a:rPr lang="en-US" sz="2000" dirty="0" err="1" smtClean="0">
                <a:latin typeface="Consolas" pitchFamily="49" charset="0"/>
              </a:rPr>
              <a:t>usr</a:t>
            </a:r>
            <a:r>
              <a:rPr lang="en-US" sz="2000" dirty="0" smtClean="0">
                <a:latin typeface="Consolas" pitchFamily="49" charset="0"/>
              </a:rPr>
              <a:t>/local/bin/</a:t>
            </a:r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/</a:t>
            </a:r>
            <a:r>
              <a:rPr lang="en-US" sz="2000" dirty="0" err="1" smtClean="0">
                <a:latin typeface="Consolas" pitchFamily="49" charset="0"/>
              </a:rPr>
              <a:t>usr</a:t>
            </a:r>
            <a:r>
              <a:rPr lang="en-US" sz="2000" dirty="0" smtClean="0">
                <a:latin typeface="Consolas" pitchFamily="49" charset="0"/>
              </a:rPr>
              <a:t>/local/share/man/man1/node* /</a:t>
            </a:r>
            <a:r>
              <a:rPr lang="en-US" sz="2000" dirty="0" err="1" smtClean="0">
                <a:latin typeface="Consolas" pitchFamily="49" charset="0"/>
              </a:rPr>
              <a:t>usr</a:t>
            </a:r>
            <a:r>
              <a:rPr lang="en-US" sz="2000" dirty="0" smtClean="0">
                <a:latin typeface="Consolas" pitchFamily="49" charset="0"/>
              </a:rPr>
              <a:t>/local/lib/</a:t>
            </a:r>
            <a:r>
              <a:rPr lang="en-US" sz="2000" dirty="0" err="1" smtClean="0">
                <a:latin typeface="Consolas" pitchFamily="49" charset="0"/>
              </a:rPr>
              <a:t>dtrace</a:t>
            </a:r>
            <a:r>
              <a:rPr lang="en-US" sz="2000" dirty="0" smtClean="0">
                <a:latin typeface="Consolas" pitchFamily="49" charset="0"/>
              </a:rPr>
              <a:t>/</a:t>
            </a:r>
            <a:r>
              <a:rPr lang="en-US" sz="2000" dirty="0" err="1" smtClean="0">
                <a:latin typeface="Consolas" pitchFamily="49" charset="0"/>
              </a:rPr>
              <a:t>node.d</a:t>
            </a:r>
            <a:r>
              <a:rPr lang="en-US" sz="2000" dirty="0" smtClean="0">
                <a:latin typeface="Consolas" pitchFamily="49" charset="0"/>
              </a:rPr>
              <a:t> ~/.</a:t>
            </a:r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~/.node-gyp /opt/local/bin/node /opt/local/include/node /opt/local/lib/</a:t>
            </a:r>
            <a:r>
              <a:rPr lang="en-US" sz="2000" dirty="0" err="1" smtClean="0">
                <a:latin typeface="Consolas" pitchFamily="49" charset="0"/>
              </a:rPr>
              <a:t>node_modules</a:t>
            </a:r>
            <a:r>
              <a:rPr lang="en-US" sz="2000" dirty="0" smtClean="0">
                <a:latin typeface="Consolas" pitchFamily="49" charset="0"/>
              </a:rPr>
              <a:t> 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rm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rf</a:t>
            </a:r>
            <a:r>
              <a:rPr lang="en-US" sz="2000" dirty="0" smtClean="0">
                <a:latin typeface="Consolas" pitchFamily="49" charset="0"/>
              </a:rPr>
              <a:t> /</a:t>
            </a:r>
            <a:r>
              <a:rPr lang="en-US" sz="2000" dirty="0" err="1" smtClean="0">
                <a:latin typeface="Consolas" pitchFamily="49" charset="0"/>
              </a:rPr>
              <a:t>usr</a:t>
            </a:r>
            <a:r>
              <a:rPr lang="en-US" sz="2000" dirty="0" smtClean="0">
                <a:latin typeface="Consolas" pitchFamily="49" charset="0"/>
              </a:rPr>
              <a:t>/local/lib/node*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rm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rf</a:t>
            </a:r>
            <a:r>
              <a:rPr lang="en-US" sz="2000" dirty="0" smtClean="0">
                <a:latin typeface="Consolas" pitchFamily="49" charset="0"/>
              </a:rPr>
              <a:t> /</a:t>
            </a:r>
            <a:r>
              <a:rPr lang="en-US" sz="2000" dirty="0" err="1" smtClean="0">
                <a:latin typeface="Consolas" pitchFamily="49" charset="0"/>
              </a:rPr>
              <a:t>usr</a:t>
            </a:r>
            <a:r>
              <a:rPr lang="en-US" sz="2000" dirty="0" smtClean="0">
                <a:latin typeface="Consolas" pitchFamily="49" charset="0"/>
              </a:rPr>
              <a:t>/local/include/node*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rm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rf</a:t>
            </a:r>
            <a:r>
              <a:rPr lang="en-US" sz="2000" dirty="0" smtClean="0">
                <a:latin typeface="Consolas" pitchFamily="49" charset="0"/>
              </a:rPr>
              <a:t> /</a:t>
            </a:r>
            <a:r>
              <a:rPr lang="en-US" sz="2000" dirty="0" err="1" smtClean="0">
                <a:latin typeface="Consolas" pitchFamily="49" charset="0"/>
              </a:rPr>
              <a:t>usr</a:t>
            </a:r>
            <a:r>
              <a:rPr lang="en-US" sz="2000" dirty="0" smtClean="0">
                <a:latin typeface="Consolas" pitchFamily="49" charset="0"/>
              </a:rPr>
              <a:t>/local/bin/node*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Update &amp; Upgrade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update 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-y upgrade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914650"/>
            <a:ext cx="6283325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Download 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Check the latest version at </a:t>
            </a:r>
            <a:r>
              <a:rPr lang="en-US" sz="2400" dirty="0" smtClean="0">
                <a:latin typeface="+mj-lt"/>
                <a:hlinkClick r:id="rId2"/>
              </a:rPr>
              <a:t>https://</a:t>
            </a:r>
            <a:r>
              <a:rPr lang="en-US" sz="2400" dirty="0" smtClean="0">
                <a:latin typeface="+mj-lt"/>
                <a:hlinkClick r:id="rId2"/>
              </a:rPr>
              <a:t>deb.nodesource.com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Get </a:t>
            </a:r>
            <a:r>
              <a:rPr lang="en-US" sz="2400" dirty="0" smtClean="0">
                <a:latin typeface="+mj-lt"/>
              </a:rPr>
              <a:t>your desired Node version: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curl -</a:t>
            </a:r>
            <a:r>
              <a:rPr lang="en-US" sz="1800" dirty="0" err="1" smtClean="0">
                <a:latin typeface="Consolas" pitchFamily="49" charset="0"/>
              </a:rPr>
              <a:t>sL</a:t>
            </a:r>
            <a:r>
              <a:rPr lang="en-US" sz="1800" dirty="0" smtClean="0">
                <a:latin typeface="Consolas" pitchFamily="49" charset="0"/>
              </a:rPr>
              <a:t> https://</a:t>
            </a:r>
            <a:r>
              <a:rPr lang="en-US" sz="1800" dirty="0" smtClean="0">
                <a:latin typeface="Consolas" pitchFamily="49" charset="0"/>
              </a:rPr>
              <a:t>deb.nodesource.com/setup_22.x </a:t>
            </a:r>
            <a:r>
              <a:rPr lang="en-US" sz="1800" dirty="0" smtClean="0">
                <a:latin typeface="Consolas" pitchFamily="49" charset="0"/>
              </a:rPr>
              <a:t>-o nodesource_setup.sh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//replace 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22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.x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smtClean="0">
                <a:latin typeface="Consolas" pitchFamily="49" charset="0"/>
              </a:rPr>
              <a:t>with desired major version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bash nodesource_setup.sh</a:t>
            </a:r>
          </a:p>
          <a:p>
            <a:pPr lvl="1"/>
            <a:endParaRPr lang="en-US" sz="1800" dirty="0" smtClean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4305300"/>
            <a:ext cx="62833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Node </a:t>
            </a:r>
            <a:r>
              <a:rPr lang="en-US" dirty="0" smtClean="0"/>
              <a:t>and NPM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apt-get install -y </a:t>
            </a:r>
            <a:r>
              <a:rPr lang="en-US" sz="2000" dirty="0" err="1" smtClean="0">
                <a:latin typeface="Consolas" pitchFamily="49" charset="0"/>
              </a:rPr>
              <a:t>nodejs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node -v</a:t>
            </a:r>
          </a:p>
          <a:p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-v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390900"/>
            <a:ext cx="62833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Remove Node.js from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~/.</a:t>
            </a:r>
            <a:r>
              <a:rPr lang="en-US" sz="1800" dirty="0" err="1" smtClean="0">
                <a:latin typeface="Consolas" pitchFamily="49" charset="0"/>
              </a:rPr>
              <a:t>npm</a:t>
            </a:r>
            <a:r>
              <a:rPr lang="en-US" sz="1800" dirty="0" smtClean="0">
                <a:latin typeface="Consolas" pitchFamily="49" charset="0"/>
              </a:rPr>
              <a:t> ~/.</a:t>
            </a:r>
            <a:r>
              <a:rPr lang="en-US" sz="1800" dirty="0" err="1" smtClean="0">
                <a:latin typeface="Consolas" pitchFamily="49" charset="0"/>
              </a:rPr>
              <a:t>nvm</a:t>
            </a:r>
            <a:r>
              <a:rPr lang="en-US" sz="1800" dirty="0" smtClean="0">
                <a:latin typeface="Consolas" pitchFamily="49" charset="0"/>
              </a:rPr>
              <a:t> ~/</a:t>
            </a:r>
            <a:r>
              <a:rPr lang="en-US" sz="1800" dirty="0" err="1" smtClean="0">
                <a:latin typeface="Consolas" pitchFamily="49" charset="0"/>
              </a:rPr>
              <a:t>node_modules</a:t>
            </a:r>
            <a:r>
              <a:rPr lang="en-US" sz="1800" dirty="0" smtClean="0">
                <a:latin typeface="Consolas" pitchFamily="49" charset="0"/>
              </a:rPr>
              <a:t> ~/.node-gyp ~/.</a:t>
            </a:r>
            <a:r>
              <a:rPr lang="en-US" sz="1800" dirty="0" err="1" smtClean="0">
                <a:latin typeface="Consolas" pitchFamily="49" charset="0"/>
              </a:rPr>
              <a:t>npmrc</a:t>
            </a:r>
            <a:r>
              <a:rPr lang="en-US" sz="1800" dirty="0" smtClean="0">
                <a:latin typeface="Consolas" pitchFamily="49" charset="0"/>
              </a:rPr>
              <a:t> ~/.</a:t>
            </a:r>
            <a:r>
              <a:rPr lang="en-US" sz="1800" dirty="0" err="1" smtClean="0">
                <a:latin typeface="Consolas" pitchFamily="49" charset="0"/>
              </a:rPr>
              <a:t>node_repl_history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/local/bin/</a:t>
            </a:r>
            <a:r>
              <a:rPr lang="en-US" sz="1800" dirty="0" err="1" smtClean="0">
                <a:latin typeface="Consolas" pitchFamily="49" charset="0"/>
              </a:rPr>
              <a:t>npm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/local/bin/node-debug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/local/bin/node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/local/bin/node-gyp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/local/share/man/man1/node*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/local/share/man/man1/</a:t>
            </a:r>
            <a:r>
              <a:rPr lang="en-US" sz="1800" dirty="0" err="1" smtClean="0">
                <a:latin typeface="Consolas" pitchFamily="49" charset="0"/>
              </a:rPr>
              <a:t>npm</a:t>
            </a:r>
            <a:r>
              <a:rPr lang="en-US" sz="1800" dirty="0" smtClean="0">
                <a:latin typeface="Consolas" pitchFamily="49" charset="0"/>
              </a:rPr>
              <a:t>*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/local/include/node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/local/include/</a:t>
            </a:r>
            <a:r>
              <a:rPr lang="en-US" sz="1800" dirty="0" err="1" smtClean="0">
                <a:latin typeface="Consolas" pitchFamily="49" charset="0"/>
              </a:rPr>
              <a:t>node_modules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/local/lib/node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/local/lib/</a:t>
            </a:r>
            <a:r>
              <a:rPr lang="en-US" sz="1800" dirty="0" err="1" smtClean="0">
                <a:latin typeface="Consolas" pitchFamily="49" charset="0"/>
              </a:rPr>
              <a:t>node_modules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/local/lib/</a:t>
            </a:r>
            <a:r>
              <a:rPr lang="en-US" sz="1800" dirty="0" err="1" smtClean="0">
                <a:latin typeface="Consolas" pitchFamily="49" charset="0"/>
              </a:rPr>
              <a:t>dtrace</a:t>
            </a:r>
            <a:r>
              <a:rPr lang="en-US" sz="1800" dirty="0" smtClean="0">
                <a:latin typeface="Consolas" pitchFamily="49" charset="0"/>
              </a:rPr>
              <a:t>/</a:t>
            </a:r>
            <a:r>
              <a:rPr lang="en-US" sz="1800" dirty="0" err="1" smtClean="0">
                <a:latin typeface="Consolas" pitchFamily="49" charset="0"/>
              </a:rPr>
              <a:t>node.d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/opt/local/include/node /opt/local/bin/node /opt/local/lib/node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/local/share/doc/node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/local/share/</a:t>
            </a:r>
            <a:r>
              <a:rPr lang="en-US" sz="1800" dirty="0" err="1" smtClean="0">
                <a:latin typeface="Consolas" pitchFamily="49" charset="0"/>
              </a:rPr>
              <a:t>systemtap</a:t>
            </a:r>
            <a:r>
              <a:rPr lang="en-US" sz="1800" dirty="0" smtClean="0">
                <a:latin typeface="Consolas" pitchFamily="49" charset="0"/>
              </a:rPr>
              <a:t>/</a:t>
            </a:r>
            <a:r>
              <a:rPr lang="en-US" sz="1800" dirty="0" err="1" smtClean="0">
                <a:latin typeface="Consolas" pitchFamily="49" charset="0"/>
              </a:rPr>
              <a:t>tapset</a:t>
            </a:r>
            <a:r>
              <a:rPr lang="en-US" sz="1800" dirty="0" smtClean="0">
                <a:latin typeface="Consolas" pitchFamily="49" charset="0"/>
              </a:rPr>
              <a:t>/node.stp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reboot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Node.js Removal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node -v</a:t>
            </a:r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-v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248025"/>
            <a:ext cx="5195888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Download Node.js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https://nodejs.org/en/download/</a:t>
            </a:r>
            <a:endParaRPr lang="en-US" sz="2400" dirty="0" smtClean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3563" y="3041650"/>
            <a:ext cx="5476875" cy="198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Node.js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7900" y="2082800"/>
            <a:ext cx="4648200" cy="35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Verify Node.js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node -v</a:t>
            </a:r>
          </a:p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-v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200400"/>
            <a:ext cx="54038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npx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Stands for </a:t>
            </a:r>
            <a:r>
              <a:rPr lang="en-US" sz="2400" b="1" dirty="0" smtClean="0"/>
              <a:t>Node Package Execute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Comes bundled with </a:t>
            </a:r>
            <a:r>
              <a:rPr lang="en-US" sz="2400" dirty="0" err="1" smtClean="0"/>
              <a:t>npm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Used to run executables from </a:t>
            </a:r>
            <a:r>
              <a:rPr lang="en-US" sz="2400" dirty="0" err="1" smtClean="0"/>
              <a:t>npm</a:t>
            </a:r>
            <a:r>
              <a:rPr lang="en-US" sz="2400" dirty="0" smtClean="0"/>
              <a:t> packages without installing them globally.</a:t>
            </a:r>
          </a:p>
          <a:p>
            <a:r>
              <a:rPr lang="en-US" sz="2400" dirty="0" smtClean="0"/>
              <a:t>This downloads create-react-app temporarily (if not already installed), runs it, and then discards it.</a:t>
            </a:r>
          </a:p>
          <a:p>
            <a:r>
              <a:rPr lang="en-US" sz="2400" dirty="0" smtClean="0"/>
              <a:t>Also ensures the </a:t>
            </a:r>
            <a:r>
              <a:rPr lang="en-US" sz="2400" b="1" dirty="0" smtClean="0"/>
              <a:t>local version</a:t>
            </a:r>
            <a:r>
              <a:rPr lang="en-US" sz="2400" dirty="0" smtClean="0"/>
              <a:t> of a tool in </a:t>
            </a:r>
            <a:r>
              <a:rPr lang="en-US" sz="2400" dirty="0" err="1" smtClean="0"/>
              <a:t>node_modules</a:t>
            </a:r>
            <a:r>
              <a:rPr lang="en-US" sz="2400" dirty="0" smtClean="0"/>
              <a:t>/.bin takes priority.</a:t>
            </a:r>
          </a:p>
          <a:p>
            <a:r>
              <a:rPr lang="en-US" sz="2400" b="1" dirty="0" err="1" smtClean="0">
                <a:latin typeface="Consolas" pitchFamily="49" charset="0"/>
              </a:rPr>
              <a:t>npx</a:t>
            </a:r>
            <a:r>
              <a:rPr lang="en-US" sz="2400" b="1" dirty="0" smtClean="0">
                <a:latin typeface="Consolas" pitchFamily="49" charset="0"/>
              </a:rPr>
              <a:t> create-react-app my-app</a:t>
            </a:r>
            <a:endParaRPr lang="en-US" sz="24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https://www.digitalocean.com/community/tutorials/how-to-install-and-use-the-yarn-package-manager-for-node-js</a:t>
            </a:r>
            <a:endParaRPr lang="en-US" sz="2400" dirty="0" smtClean="0">
              <a:latin typeface="+mj-lt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Yarn</a:t>
            </a:r>
            <a:r>
              <a:rPr lang="en-US" sz="2400" dirty="0" smtClean="0">
                <a:latin typeface="+mj-lt"/>
              </a:rPr>
              <a:t> is a </a:t>
            </a:r>
            <a:r>
              <a:rPr lang="en-US" sz="2400" u="sng" dirty="0" smtClean="0">
                <a:latin typeface="+mj-lt"/>
              </a:rPr>
              <a:t>package manager</a:t>
            </a:r>
            <a:r>
              <a:rPr lang="en-US" sz="2400" dirty="0" smtClean="0">
                <a:latin typeface="+mj-lt"/>
              </a:rPr>
              <a:t> for Node.js that focuses on speed, security, and consistency.</a:t>
            </a:r>
          </a:p>
          <a:p>
            <a:r>
              <a:rPr lang="en-US" sz="2400" dirty="0" smtClean="0">
                <a:latin typeface="+mj-lt"/>
              </a:rPr>
              <a:t>It was originally created to address some issues with the popular NPM package manager.</a:t>
            </a:r>
          </a:p>
          <a:p>
            <a:r>
              <a:rPr lang="en-US" sz="2400" dirty="0" smtClean="0">
                <a:latin typeface="+mj-lt"/>
              </a:rPr>
              <a:t>Though the two package managers have since converged in terms of performance and features, Yarn remains popular, especially in the world of React development.</a:t>
            </a:r>
          </a:p>
          <a:p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Unique Features of Yarn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>
                <a:latin typeface="+mj-lt"/>
              </a:rPr>
              <a:t>Some of the unique features of Yarn are:</a:t>
            </a:r>
          </a:p>
          <a:p>
            <a:pPr lvl="1"/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per-project caching</a:t>
            </a:r>
            <a:r>
              <a:rPr lang="en-US" sz="2400" dirty="0" smtClean="0">
                <a:latin typeface="+mj-lt"/>
              </a:rPr>
              <a:t> mechanism, that can greatly speed up subsequent installs and builds</a:t>
            </a:r>
          </a:p>
          <a:p>
            <a:pPr lvl="1"/>
            <a:r>
              <a:rPr lang="en-US" sz="2400" dirty="0" smtClean="0">
                <a:latin typeface="+mj-lt"/>
              </a:rPr>
              <a:t>Consistent, deterministic installs that guarantee the structure of installed libraries are always the same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Checksum testing</a:t>
            </a:r>
            <a:r>
              <a:rPr lang="en-US" sz="2400" dirty="0" smtClean="0">
                <a:latin typeface="+mj-lt"/>
              </a:rPr>
              <a:t> of all packages to verify their integrity</a:t>
            </a:r>
          </a:p>
          <a:p>
            <a:pPr lvl="1"/>
            <a:r>
              <a:rPr lang="en-US" sz="2400" dirty="0" smtClean="0">
                <a:latin typeface="+mj-lt"/>
              </a:rPr>
              <a:t>“Workspaces”, which facilitate using Yarn in a </a:t>
            </a:r>
            <a:r>
              <a:rPr lang="en-US" sz="2400" dirty="0" err="1" smtClean="0">
                <a:latin typeface="+mj-lt"/>
              </a:rPr>
              <a:t>monorepo</a:t>
            </a:r>
            <a:r>
              <a:rPr lang="en-US" sz="2400" dirty="0" smtClean="0">
                <a:latin typeface="+mj-lt"/>
              </a:rPr>
              <a:t> (multiple projects developed in a single source code repository)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yarn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apt install </a:t>
            </a:r>
            <a:r>
              <a:rPr lang="en-US" sz="2200" dirty="0" err="1" smtClean="0">
                <a:latin typeface="Consolas" pitchFamily="49" charset="0"/>
              </a:rPr>
              <a:t>cmdtest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yarn --version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yarn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--global yarn</a:t>
            </a:r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6513" y="2857500"/>
            <a:ext cx="653097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Deno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https://deno.com/</a:t>
            </a:r>
            <a:endParaRPr lang="en-US" dirty="0" smtClean="0"/>
          </a:p>
          <a:p>
            <a:r>
              <a:rPr lang="en-US" dirty="0" err="1" smtClean="0"/>
              <a:t>Deno</a:t>
            </a:r>
            <a:r>
              <a:rPr lang="en-US" dirty="0" smtClean="0"/>
              <a:t> is the open-source JavaScript runtime for the modern web. Built on web standards with zero-</a:t>
            </a:r>
            <a:r>
              <a:rPr lang="en-US" dirty="0" err="1" smtClean="0"/>
              <a:t>config</a:t>
            </a:r>
            <a:r>
              <a:rPr lang="en-US" dirty="0" smtClean="0"/>
              <a:t> </a:t>
            </a:r>
            <a:r>
              <a:rPr lang="en-US" dirty="0" err="1" smtClean="0"/>
              <a:t>TypeScript</a:t>
            </a:r>
            <a:r>
              <a:rPr lang="en-US" dirty="0" smtClean="0"/>
              <a:t>, unmatched security, and a complete built-in </a:t>
            </a:r>
            <a:r>
              <a:rPr lang="en-US" dirty="0" err="1" smtClean="0"/>
              <a:t>toolchain</a:t>
            </a:r>
            <a:r>
              <a:rPr lang="en-US" dirty="0" smtClean="0"/>
              <a:t>, </a:t>
            </a:r>
            <a:r>
              <a:rPr lang="en-US" dirty="0" err="1" smtClean="0"/>
              <a:t>Deno</a:t>
            </a:r>
            <a:r>
              <a:rPr lang="en-US" dirty="0" smtClean="0"/>
              <a:t> is the easiest, most productive way to JavaScript.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10566</TotalTime>
  <Words>596</Words>
  <Application>Microsoft Office PowerPoint</Application>
  <PresentationFormat>On-screen Show (4:3)</PresentationFormat>
  <Paragraphs>87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Install Node.js</vt:lpstr>
      <vt:lpstr>Objectives</vt:lpstr>
      <vt:lpstr>Contents</vt:lpstr>
      <vt:lpstr>References</vt:lpstr>
      <vt:lpstr>1. Install Node.js on Windows</vt:lpstr>
      <vt:lpstr>2. Do Not Select Native Modules Tools</vt:lpstr>
      <vt:lpstr>3. Verify Node.js Installation</vt:lpstr>
      <vt:lpstr>4. Upgrade npm</vt:lpstr>
      <vt:lpstr>Slide 9</vt:lpstr>
      <vt:lpstr>1. Remove Node from Ubuntu</vt:lpstr>
      <vt:lpstr>2. Update &amp; Upgrade Ubuntu</vt:lpstr>
      <vt:lpstr>3. Download Node</vt:lpstr>
      <vt:lpstr>4. Install Node and NPM</vt:lpstr>
      <vt:lpstr>Slide 14</vt:lpstr>
      <vt:lpstr>1. Remove Node.js from macOS</vt:lpstr>
      <vt:lpstr>2. Verify Node.js Removal</vt:lpstr>
      <vt:lpstr>3. Download Node.js</vt:lpstr>
      <vt:lpstr>4. Install Node.js</vt:lpstr>
      <vt:lpstr>5. Verify Node.js Installation</vt:lpstr>
      <vt:lpstr>Slide 20</vt:lpstr>
      <vt:lpstr>npx</vt:lpstr>
      <vt:lpstr>Slide 22</vt:lpstr>
      <vt:lpstr>Yarn</vt:lpstr>
      <vt:lpstr>Unique Features of Yarn</vt:lpstr>
      <vt:lpstr>1. Install yarn on Ubuntu</vt:lpstr>
      <vt:lpstr>2. Install yarn on Windows</vt:lpstr>
      <vt:lpstr>Slide 27</vt:lpstr>
      <vt:lpstr>Deno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4274</cp:revision>
  <dcterms:created xsi:type="dcterms:W3CDTF">2007-10-06T08:25:13Z</dcterms:created>
  <dcterms:modified xsi:type="dcterms:W3CDTF">2025-10-14T15:36:01Z</dcterms:modified>
</cp:coreProperties>
</file>