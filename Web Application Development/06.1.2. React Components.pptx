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708" r:id="rId1"/>
  </p:sldMasterIdLst>
  <p:notesMasterIdLst>
    <p:notesMasterId r:id="rId56"/>
  </p:notesMasterIdLst>
  <p:sldIdLst>
    <p:sldId id="499" r:id="rId2"/>
    <p:sldId id="500" r:id="rId3"/>
    <p:sldId id="501" r:id="rId4"/>
    <p:sldId id="502" r:id="rId5"/>
    <p:sldId id="551" r:id="rId6"/>
    <p:sldId id="552" r:id="rId7"/>
    <p:sldId id="389" r:id="rId8"/>
    <p:sldId id="550" r:id="rId9"/>
    <p:sldId id="391" r:id="rId10"/>
    <p:sldId id="553" r:id="rId11"/>
    <p:sldId id="393" r:id="rId12"/>
    <p:sldId id="554" r:id="rId13"/>
    <p:sldId id="394" r:id="rId14"/>
    <p:sldId id="395" r:id="rId15"/>
    <p:sldId id="396" r:id="rId16"/>
    <p:sldId id="397" r:id="rId17"/>
    <p:sldId id="398" r:id="rId18"/>
    <p:sldId id="399" r:id="rId19"/>
    <p:sldId id="534" r:id="rId20"/>
    <p:sldId id="535" r:id="rId21"/>
    <p:sldId id="400" r:id="rId22"/>
    <p:sldId id="401" r:id="rId23"/>
    <p:sldId id="402" r:id="rId24"/>
    <p:sldId id="404" r:id="rId25"/>
    <p:sldId id="405" r:id="rId26"/>
    <p:sldId id="515" r:id="rId27"/>
    <p:sldId id="516" r:id="rId28"/>
    <p:sldId id="406" r:id="rId29"/>
    <p:sldId id="409" r:id="rId30"/>
    <p:sldId id="540" r:id="rId31"/>
    <p:sldId id="541" r:id="rId32"/>
    <p:sldId id="542" r:id="rId33"/>
    <p:sldId id="543" r:id="rId34"/>
    <p:sldId id="544" r:id="rId35"/>
    <p:sldId id="545" r:id="rId36"/>
    <p:sldId id="546" r:id="rId37"/>
    <p:sldId id="547" r:id="rId38"/>
    <p:sldId id="548" r:id="rId39"/>
    <p:sldId id="549" r:id="rId40"/>
    <p:sldId id="519" r:id="rId41"/>
    <p:sldId id="537" r:id="rId42"/>
    <p:sldId id="539" r:id="rId43"/>
    <p:sldId id="538" r:id="rId44"/>
    <p:sldId id="536" r:id="rId45"/>
    <p:sldId id="412" r:id="rId46"/>
    <p:sldId id="413" r:id="rId47"/>
    <p:sldId id="415" r:id="rId48"/>
    <p:sldId id="416" r:id="rId49"/>
    <p:sldId id="417" r:id="rId50"/>
    <p:sldId id="418" r:id="rId51"/>
    <p:sldId id="420" r:id="rId52"/>
    <p:sldId id="421" r:id="rId53"/>
    <p:sldId id="422" r:id="rId54"/>
    <p:sldId id="343" r:id="rId5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96" autoAdjust="0"/>
    <p:restoredTop sz="94667" autoAdjust="0"/>
  </p:normalViewPr>
  <p:slideViewPr>
    <p:cSldViewPr>
      <p:cViewPr>
        <p:scale>
          <a:sx n="50" d="100"/>
          <a:sy n="50" d="100"/>
        </p:scale>
        <p:origin x="-1580"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972150E-24DE-4D23-AF8D-CF01896B0C83}" type="datetimeFigureOut">
              <a:rPr lang="en-US" smtClean="0"/>
              <a:pPr/>
              <a:t>1/28/2024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8E95B1-5ED0-4005-B293-784E4C93134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1/28/2024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1/28/2024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1/28/2024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1/28/2024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1/28/2024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1/28/2024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1/28/2024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1/28/2024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1/28/2024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1/28/2024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1/28/2024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1/28/2024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react.dev/learn/rendering-lists"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smtClean="0"/>
              <a:t>React Components</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381000" y="1752600"/>
            <a:ext cx="5715000" cy="4038600"/>
          </a:xfrm>
        </p:spPr>
        <p:txBody>
          <a:bodyPr/>
          <a:lstStyle/>
          <a:p>
            <a:pPr marL="514350" indent="-514350">
              <a:buFont typeface="Wingdings" pitchFamily="2" charset="2"/>
              <a:buChar char="Ø"/>
            </a:pPr>
            <a:endParaRPr lang="en-US" sz="2400" i="1" dirty="0" smtClean="0">
              <a:solidFill>
                <a:srgbClr val="C00000"/>
              </a:solidFill>
            </a:endParaRPr>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References</a:t>
            </a:r>
            <a:endParaRPr lang="en-US" dirty="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
        <p:nvSpPr>
          <p:cNvPr id="3" name="Content Placeholder 2"/>
          <p:cNvSpPr>
            <a:spLocks noGrp="1"/>
          </p:cNvSpPr>
          <p:nvPr>
            <p:ph idx="1"/>
          </p:nvPr>
        </p:nvSpPr>
        <p:spPr>
          <a:xfrm>
            <a:off x="457200" y="1600200"/>
            <a:ext cx="5638800" cy="4876800"/>
          </a:xfrm>
        </p:spPr>
        <p:txBody>
          <a:bodyPr/>
          <a:lstStyle/>
          <a:p>
            <a:r>
              <a:rPr lang="en-US" sz="2400" dirty="0" err="1" smtClean="0"/>
              <a:t>Morten</a:t>
            </a:r>
            <a:r>
              <a:rPr lang="en-US" sz="2400" dirty="0" smtClean="0"/>
              <a:t> </a:t>
            </a:r>
            <a:r>
              <a:rPr lang="en-US" sz="2400" dirty="0" err="1" smtClean="0"/>
              <a:t>Barklund</a:t>
            </a:r>
            <a:r>
              <a:rPr lang="en-US" sz="2400" dirty="0" smtClean="0"/>
              <a:t> and </a:t>
            </a:r>
            <a:r>
              <a:rPr lang="en-US" sz="2400" dirty="0" err="1" smtClean="0"/>
              <a:t>Azat</a:t>
            </a:r>
            <a:r>
              <a:rPr lang="en-US" sz="2400" dirty="0" smtClean="0"/>
              <a:t> </a:t>
            </a:r>
            <a:r>
              <a:rPr lang="en-US" sz="2400" dirty="0" err="1" smtClean="0"/>
              <a:t>Mardan</a:t>
            </a:r>
            <a:r>
              <a:rPr lang="en-US" sz="2400" dirty="0" smtClean="0"/>
              <a:t> (2023). React Quickly. Manning.</a:t>
            </a:r>
          </a:p>
          <a:p>
            <a:r>
              <a:rPr lang="en-US" sz="2400" dirty="0" err="1" smtClean="0"/>
              <a:t>Kirupa</a:t>
            </a:r>
            <a:r>
              <a:rPr lang="en-US" sz="2400" dirty="0" smtClean="0"/>
              <a:t> </a:t>
            </a:r>
            <a:r>
              <a:rPr lang="en-US" sz="2400" dirty="0" err="1" smtClean="0"/>
              <a:t>Chinnathambi</a:t>
            </a:r>
            <a:r>
              <a:rPr lang="en-US" sz="2400" dirty="0" smtClean="0"/>
              <a:t> (2018). Learning React: A Hands-On Guide to Building Web Applications Using React and </a:t>
            </a:r>
            <a:r>
              <a:rPr lang="en-US" sz="2400" dirty="0" err="1" smtClean="0"/>
              <a:t>Redux</a:t>
            </a:r>
            <a:r>
              <a:rPr lang="en-US" sz="2400" dirty="0" smtClean="0"/>
              <a:t>. Addison-Wesley Professional.</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Do We Use JSX? [1]</a:t>
            </a:r>
            <a:endParaRPr lang="en-US" dirty="0"/>
          </a:p>
        </p:txBody>
      </p:sp>
      <p:sp>
        <p:nvSpPr>
          <p:cNvPr id="3" name="Content Placeholder 2"/>
          <p:cNvSpPr>
            <a:spLocks noGrp="1"/>
          </p:cNvSpPr>
          <p:nvPr>
            <p:ph idx="1"/>
          </p:nvPr>
        </p:nvSpPr>
        <p:spPr/>
        <p:txBody>
          <a:bodyPr/>
          <a:lstStyle/>
          <a:p>
            <a:r>
              <a:rPr lang="en-US" sz="2000" dirty="0" smtClean="0"/>
              <a:t>JSX is a JavaScript extension that provides </a:t>
            </a:r>
            <a:r>
              <a:rPr lang="en-US" sz="2000" u="sng" dirty="0" smtClean="0"/>
              <a:t>syntactic sugar</a:t>
            </a:r>
            <a:r>
              <a:rPr lang="en-US" sz="2000" dirty="0" smtClean="0"/>
              <a:t> (i.e., making it easier to type, but otherwise functionally equivalent) for function calls and object construction, particularly a replacement for </a:t>
            </a:r>
            <a:r>
              <a:rPr lang="en-US" sz="2000" b="1" dirty="0" err="1" smtClean="0">
                <a:latin typeface="Consolas" pitchFamily="49" charset="0"/>
              </a:rPr>
              <a:t>React.createElement</a:t>
            </a:r>
            <a:r>
              <a:rPr lang="en-US" sz="2000" b="1" dirty="0" smtClean="0">
                <a:latin typeface="Consolas" pitchFamily="49" charset="0"/>
              </a:rPr>
              <a:t>()</a:t>
            </a:r>
            <a:r>
              <a:rPr lang="en-US" sz="2000" dirty="0" smtClean="0"/>
              <a:t>.</a:t>
            </a:r>
          </a:p>
          <a:p>
            <a:r>
              <a:rPr lang="en-US" sz="2000" dirty="0" smtClean="0"/>
              <a:t>JSX produces React elements while allowing you to harness the full power of JavaScript.</a:t>
            </a:r>
            <a:endParaRPr lang="en-US" sz="2000" dirty="0"/>
          </a:p>
        </p:txBody>
      </p:sp>
      <p:sp>
        <p:nvSpPr>
          <p:cNvPr id="4" name="Rectangle 3"/>
          <p:cNvSpPr/>
          <p:nvPr/>
        </p:nvSpPr>
        <p:spPr>
          <a:xfrm>
            <a:off x="533400" y="3657600"/>
            <a:ext cx="8153400" cy="3046988"/>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808080"/>
                </a:solidFill>
                <a:latin typeface="Consolas"/>
              </a:rPr>
              <a:t>...</a:t>
            </a:r>
            <a:endParaRPr lang="en-US" sz="1600" dirty="0" smtClean="0">
              <a:solidFill>
                <a:srgbClr val="CCCCCC"/>
              </a:solidFill>
              <a:latin typeface="Consolas"/>
            </a:endParaRPr>
          </a:p>
          <a:p>
            <a:r>
              <a:rPr lang="en-US" sz="1600" dirty="0" smtClean="0">
                <a:solidFill>
                  <a:srgbClr val="D4D4D4"/>
                </a:solidFill>
                <a:latin typeface="Consolas"/>
              </a:rPr>
              <a:t>        </a:t>
            </a:r>
            <a:r>
              <a:rPr lang="en-US" sz="1600" dirty="0" smtClean="0">
                <a:solidFill>
                  <a:srgbClr val="569CD6"/>
                </a:solidFill>
                <a:latin typeface="Consolas"/>
              </a:rPr>
              <a:t>const</a:t>
            </a:r>
            <a:r>
              <a:rPr lang="en-US" sz="1600" dirty="0" smtClean="0">
                <a:solidFill>
                  <a:srgbClr val="D4D4D4"/>
                </a:solidFill>
                <a:latin typeface="Consolas"/>
              </a:rPr>
              <a:t> </a:t>
            </a:r>
            <a:r>
              <a:rPr lang="en-US" sz="1600" dirty="0" err="1" smtClean="0">
                <a:solidFill>
                  <a:srgbClr val="4FC1FF"/>
                </a:solidFill>
                <a:latin typeface="Consolas"/>
              </a:rPr>
              <a:t>myUI</a:t>
            </a:r>
            <a:r>
              <a:rPr lang="en-US" sz="1600" dirty="0" smtClean="0">
                <a:solidFill>
                  <a:srgbClr val="D4D4D4"/>
                </a:solidFill>
                <a:latin typeface="Consolas"/>
              </a:rPr>
              <a:t> =</a:t>
            </a:r>
            <a:endParaRPr lang="en-US" sz="1600" dirty="0" smtClean="0">
              <a:solidFill>
                <a:srgbClr val="CCCCCC"/>
              </a:solidFill>
              <a:latin typeface="Consolas"/>
            </a:endParaRPr>
          </a:p>
          <a:p>
            <a:r>
              <a:rPr lang="en-US" sz="1600" dirty="0" smtClean="0">
                <a:solidFill>
                  <a:srgbClr val="D4D4D4"/>
                </a:solidFill>
                <a:latin typeface="Consolas"/>
              </a:rPr>
              <a:t>            </a:t>
            </a:r>
            <a:r>
              <a:rPr lang="en-US" sz="1600" dirty="0" smtClean="0">
                <a:solidFill>
                  <a:srgbClr val="808080"/>
                </a:solidFill>
                <a:latin typeface="Consolas"/>
              </a:rPr>
              <a:t>&lt;</a:t>
            </a:r>
            <a:r>
              <a:rPr lang="en-US" sz="1600" dirty="0" smtClean="0">
                <a:solidFill>
                  <a:srgbClr val="569CD6"/>
                </a:solidFill>
                <a:latin typeface="Consolas"/>
              </a:rPr>
              <a:t>div</a:t>
            </a:r>
            <a:r>
              <a:rPr lang="en-US" sz="1600" dirty="0" smtClean="0">
                <a:solidFill>
                  <a:srgbClr val="808080"/>
                </a:solidFill>
                <a:latin typeface="Consolas"/>
              </a:rPr>
              <a:t>&gt;</a:t>
            </a:r>
            <a:endParaRPr lang="en-US" sz="1600" dirty="0" smtClean="0">
              <a:solidFill>
                <a:srgbClr val="CCCCCC"/>
              </a:solidFill>
              <a:latin typeface="Consolas"/>
            </a:endParaRPr>
          </a:p>
          <a:p>
            <a:r>
              <a:rPr lang="en-US" sz="1600" dirty="0" smtClean="0">
                <a:solidFill>
                  <a:srgbClr val="D4D4D4"/>
                </a:solidFill>
                <a:latin typeface="Consolas"/>
              </a:rPr>
              <a:t>                </a:t>
            </a:r>
            <a:r>
              <a:rPr lang="en-US" sz="1600" dirty="0" smtClean="0">
                <a:solidFill>
                  <a:srgbClr val="808080"/>
                </a:solidFill>
                <a:latin typeface="Consolas"/>
              </a:rPr>
              <a:t>&lt;</a:t>
            </a:r>
            <a:r>
              <a:rPr lang="en-US" sz="1600" dirty="0" smtClean="0">
                <a:solidFill>
                  <a:srgbClr val="569CD6"/>
                </a:solidFill>
                <a:latin typeface="Consolas"/>
              </a:rPr>
              <a:t>h1</a:t>
            </a:r>
            <a:r>
              <a:rPr lang="en-US" sz="1600" dirty="0" smtClean="0">
                <a:solidFill>
                  <a:srgbClr val="808080"/>
                </a:solidFill>
                <a:latin typeface="Consolas"/>
              </a:rPr>
              <a:t>&gt;</a:t>
            </a:r>
            <a:r>
              <a:rPr lang="en-US" sz="1600" dirty="0" smtClean="0">
                <a:solidFill>
                  <a:srgbClr val="D4D4D4"/>
                </a:solidFill>
                <a:latin typeface="Consolas"/>
              </a:rPr>
              <a:t>Batman</a:t>
            </a:r>
            <a:r>
              <a:rPr lang="en-US" sz="1600" dirty="0" smtClean="0">
                <a:solidFill>
                  <a:srgbClr val="808080"/>
                </a:solidFill>
                <a:latin typeface="Consolas"/>
              </a:rPr>
              <a:t>&lt;/</a:t>
            </a:r>
            <a:r>
              <a:rPr lang="en-US" sz="1600" dirty="0" smtClean="0">
                <a:solidFill>
                  <a:srgbClr val="569CD6"/>
                </a:solidFill>
                <a:latin typeface="Consolas"/>
              </a:rPr>
              <a:t>h1</a:t>
            </a:r>
            <a:r>
              <a:rPr lang="en-US" sz="1600" dirty="0" smtClean="0">
                <a:solidFill>
                  <a:srgbClr val="808080"/>
                </a:solidFill>
                <a:latin typeface="Consolas"/>
              </a:rPr>
              <a:t>&gt;</a:t>
            </a:r>
            <a:endParaRPr lang="en-US" sz="1600" dirty="0" smtClean="0">
              <a:solidFill>
                <a:srgbClr val="CCCCCC"/>
              </a:solidFill>
              <a:latin typeface="Consolas"/>
            </a:endParaRPr>
          </a:p>
          <a:p>
            <a:r>
              <a:rPr lang="en-US" sz="1600" dirty="0" smtClean="0">
                <a:solidFill>
                  <a:srgbClr val="D4D4D4"/>
                </a:solidFill>
                <a:latin typeface="Consolas"/>
              </a:rPr>
              <a:t>                </a:t>
            </a:r>
            <a:r>
              <a:rPr lang="en-US" sz="1600" dirty="0" smtClean="0">
                <a:solidFill>
                  <a:srgbClr val="808080"/>
                </a:solidFill>
                <a:latin typeface="Consolas"/>
              </a:rPr>
              <a:t>&lt;</a:t>
            </a:r>
            <a:r>
              <a:rPr lang="en-US" sz="1600" dirty="0" smtClean="0">
                <a:solidFill>
                  <a:srgbClr val="569CD6"/>
                </a:solidFill>
                <a:latin typeface="Consolas"/>
              </a:rPr>
              <a:t>h1</a:t>
            </a:r>
            <a:r>
              <a:rPr lang="en-US" sz="1600" dirty="0" smtClean="0">
                <a:solidFill>
                  <a:srgbClr val="808080"/>
                </a:solidFill>
                <a:latin typeface="Consolas"/>
              </a:rPr>
              <a:t>&gt;</a:t>
            </a:r>
            <a:r>
              <a:rPr lang="en-US" sz="1600" dirty="0" smtClean="0">
                <a:solidFill>
                  <a:srgbClr val="D4D4D4"/>
                </a:solidFill>
                <a:latin typeface="Consolas"/>
              </a:rPr>
              <a:t>Iron Man</a:t>
            </a:r>
            <a:r>
              <a:rPr lang="en-US" sz="1600" dirty="0" smtClean="0">
                <a:solidFill>
                  <a:srgbClr val="808080"/>
                </a:solidFill>
                <a:latin typeface="Consolas"/>
              </a:rPr>
              <a:t>&lt;/</a:t>
            </a:r>
            <a:r>
              <a:rPr lang="en-US" sz="1600" dirty="0" smtClean="0">
                <a:solidFill>
                  <a:srgbClr val="569CD6"/>
                </a:solidFill>
                <a:latin typeface="Consolas"/>
              </a:rPr>
              <a:t>h1</a:t>
            </a:r>
            <a:r>
              <a:rPr lang="en-US" sz="1600" dirty="0" smtClean="0">
                <a:solidFill>
                  <a:srgbClr val="808080"/>
                </a:solidFill>
                <a:latin typeface="Consolas"/>
              </a:rPr>
              <a:t>&gt;</a:t>
            </a:r>
            <a:endParaRPr lang="en-US" sz="1600" dirty="0" smtClean="0">
              <a:solidFill>
                <a:srgbClr val="CCCCCC"/>
              </a:solidFill>
              <a:latin typeface="Consolas"/>
            </a:endParaRPr>
          </a:p>
          <a:p>
            <a:r>
              <a:rPr lang="en-US" sz="1600" dirty="0" smtClean="0">
                <a:solidFill>
                  <a:srgbClr val="D4D4D4"/>
                </a:solidFill>
                <a:latin typeface="Consolas"/>
              </a:rPr>
              <a:t>                </a:t>
            </a:r>
            <a:r>
              <a:rPr lang="en-US" sz="1600" dirty="0" smtClean="0">
                <a:solidFill>
                  <a:srgbClr val="808080"/>
                </a:solidFill>
                <a:latin typeface="Consolas"/>
              </a:rPr>
              <a:t>&lt;</a:t>
            </a:r>
            <a:r>
              <a:rPr lang="en-US" sz="1600" dirty="0" smtClean="0">
                <a:solidFill>
                  <a:srgbClr val="569CD6"/>
                </a:solidFill>
                <a:latin typeface="Consolas"/>
              </a:rPr>
              <a:t>h1</a:t>
            </a:r>
            <a:r>
              <a:rPr lang="en-US" sz="1600" dirty="0" smtClean="0">
                <a:solidFill>
                  <a:srgbClr val="808080"/>
                </a:solidFill>
                <a:latin typeface="Consolas"/>
              </a:rPr>
              <a:t>&gt;</a:t>
            </a:r>
            <a:r>
              <a:rPr lang="en-US" sz="1600" dirty="0" smtClean="0">
                <a:solidFill>
                  <a:srgbClr val="D4D4D4"/>
                </a:solidFill>
                <a:latin typeface="Consolas"/>
              </a:rPr>
              <a:t>Nicolas Cage</a:t>
            </a:r>
            <a:r>
              <a:rPr lang="en-US" sz="1600" dirty="0" smtClean="0">
                <a:solidFill>
                  <a:srgbClr val="808080"/>
                </a:solidFill>
                <a:latin typeface="Consolas"/>
              </a:rPr>
              <a:t>&lt;/</a:t>
            </a:r>
            <a:r>
              <a:rPr lang="en-US" sz="1600" dirty="0" smtClean="0">
                <a:solidFill>
                  <a:srgbClr val="569CD6"/>
                </a:solidFill>
                <a:latin typeface="Consolas"/>
              </a:rPr>
              <a:t>h1</a:t>
            </a:r>
            <a:r>
              <a:rPr lang="en-US" sz="1600" dirty="0" smtClean="0">
                <a:solidFill>
                  <a:srgbClr val="808080"/>
                </a:solidFill>
                <a:latin typeface="Consolas"/>
              </a:rPr>
              <a:t>&gt;</a:t>
            </a:r>
            <a:endParaRPr lang="en-US" sz="1600" dirty="0" smtClean="0">
              <a:solidFill>
                <a:srgbClr val="CCCCCC"/>
              </a:solidFill>
              <a:latin typeface="Consolas"/>
            </a:endParaRPr>
          </a:p>
          <a:p>
            <a:r>
              <a:rPr lang="en-US" sz="1600" dirty="0" smtClean="0">
                <a:solidFill>
                  <a:srgbClr val="D4D4D4"/>
                </a:solidFill>
                <a:latin typeface="Consolas"/>
              </a:rPr>
              <a:t>                </a:t>
            </a:r>
            <a:r>
              <a:rPr lang="en-US" sz="1600" dirty="0" smtClean="0">
                <a:solidFill>
                  <a:srgbClr val="808080"/>
                </a:solidFill>
                <a:latin typeface="Consolas"/>
              </a:rPr>
              <a:t>&lt;</a:t>
            </a:r>
            <a:r>
              <a:rPr lang="en-US" sz="1600" dirty="0" smtClean="0">
                <a:solidFill>
                  <a:srgbClr val="569CD6"/>
                </a:solidFill>
                <a:latin typeface="Consolas"/>
              </a:rPr>
              <a:t>h1</a:t>
            </a:r>
            <a:r>
              <a:rPr lang="en-US" sz="1600" dirty="0" smtClean="0">
                <a:solidFill>
                  <a:srgbClr val="808080"/>
                </a:solidFill>
                <a:latin typeface="Consolas"/>
              </a:rPr>
              <a:t>&gt;</a:t>
            </a:r>
            <a:r>
              <a:rPr lang="en-US" sz="1600" dirty="0" smtClean="0">
                <a:solidFill>
                  <a:srgbClr val="D4D4D4"/>
                </a:solidFill>
                <a:latin typeface="Consolas"/>
              </a:rPr>
              <a:t>Mega Man</a:t>
            </a:r>
            <a:r>
              <a:rPr lang="en-US" sz="1600" dirty="0" smtClean="0">
                <a:solidFill>
                  <a:srgbClr val="808080"/>
                </a:solidFill>
                <a:latin typeface="Consolas"/>
              </a:rPr>
              <a:t>&lt;/</a:t>
            </a:r>
            <a:r>
              <a:rPr lang="en-US" sz="1600" dirty="0" smtClean="0">
                <a:solidFill>
                  <a:srgbClr val="569CD6"/>
                </a:solidFill>
                <a:latin typeface="Consolas"/>
              </a:rPr>
              <a:t>h1</a:t>
            </a:r>
            <a:r>
              <a:rPr lang="en-US" sz="1600" dirty="0" smtClean="0">
                <a:solidFill>
                  <a:srgbClr val="808080"/>
                </a:solidFill>
                <a:latin typeface="Consolas"/>
              </a:rPr>
              <a:t>&gt;</a:t>
            </a:r>
            <a:endParaRPr lang="en-US" sz="1600" dirty="0" smtClean="0">
              <a:solidFill>
                <a:srgbClr val="CCCCCC"/>
              </a:solidFill>
              <a:latin typeface="Consolas"/>
            </a:endParaRPr>
          </a:p>
          <a:p>
            <a:r>
              <a:rPr lang="en-US" sz="1600" dirty="0" smtClean="0">
                <a:solidFill>
                  <a:srgbClr val="D4D4D4"/>
                </a:solidFill>
                <a:latin typeface="Consolas"/>
              </a:rPr>
              <a:t>            </a:t>
            </a:r>
            <a:r>
              <a:rPr lang="en-US" sz="1600" dirty="0" smtClean="0">
                <a:solidFill>
                  <a:srgbClr val="808080"/>
                </a:solidFill>
                <a:latin typeface="Consolas"/>
              </a:rPr>
              <a:t>&lt;/</a:t>
            </a:r>
            <a:r>
              <a:rPr lang="en-US" sz="1600" dirty="0" smtClean="0">
                <a:solidFill>
                  <a:srgbClr val="569CD6"/>
                </a:solidFill>
                <a:latin typeface="Consolas"/>
              </a:rPr>
              <a:t>div</a:t>
            </a:r>
            <a:r>
              <a:rPr lang="en-US" sz="1600" dirty="0" smtClean="0">
                <a:solidFill>
                  <a:srgbClr val="808080"/>
                </a:solidFill>
                <a:latin typeface="Consolas"/>
              </a:rPr>
              <a:t>&gt;</a:t>
            </a:r>
            <a:r>
              <a:rPr lang="en-US" sz="1600" dirty="0" smtClean="0">
                <a:solidFill>
                  <a:srgbClr val="D4D4D4"/>
                </a:solidFill>
                <a:latin typeface="Consolas"/>
              </a:rPr>
              <a:t>;</a:t>
            </a:r>
            <a:endParaRPr lang="en-US" sz="1600" dirty="0" smtClean="0">
              <a:solidFill>
                <a:srgbClr val="CCCCCC"/>
              </a:solidFill>
              <a:latin typeface="Consolas"/>
            </a:endParaRPr>
          </a:p>
          <a:p>
            <a:r>
              <a:rPr lang="en-US" sz="1600" dirty="0" smtClean="0">
                <a:solidFill>
                  <a:srgbClr val="D4D4D4"/>
                </a:solidFill>
                <a:latin typeface="Consolas"/>
              </a:rPr>
              <a:t>        </a:t>
            </a:r>
            <a:r>
              <a:rPr lang="en-US" sz="1600" dirty="0" err="1" smtClean="0">
                <a:solidFill>
                  <a:srgbClr val="9CDCFE"/>
                </a:solidFill>
                <a:latin typeface="Consolas"/>
              </a:rPr>
              <a:t>ReactDOM</a:t>
            </a:r>
            <a:r>
              <a:rPr lang="en-US" sz="1600" dirty="0" err="1" smtClean="0">
                <a:solidFill>
                  <a:srgbClr val="D4D4D4"/>
                </a:solidFill>
                <a:latin typeface="Consolas"/>
              </a:rPr>
              <a:t>.</a:t>
            </a:r>
            <a:r>
              <a:rPr lang="en-US" sz="1600" dirty="0" err="1" smtClean="0">
                <a:solidFill>
                  <a:srgbClr val="DCDCAA"/>
                </a:solidFill>
                <a:latin typeface="Consolas"/>
              </a:rPr>
              <a:t>render</a:t>
            </a:r>
            <a:r>
              <a:rPr lang="en-US" sz="1600" dirty="0" smtClean="0">
                <a:solidFill>
                  <a:srgbClr val="D4D4D4"/>
                </a:solidFill>
                <a:latin typeface="Consolas"/>
              </a:rPr>
              <a:t>(</a:t>
            </a:r>
            <a:endParaRPr lang="en-US" sz="1600" dirty="0" smtClean="0">
              <a:solidFill>
                <a:srgbClr val="CCCCCC"/>
              </a:solidFill>
              <a:latin typeface="Consolas"/>
            </a:endParaRPr>
          </a:p>
          <a:p>
            <a:r>
              <a:rPr lang="en-US" sz="1600" dirty="0" smtClean="0">
                <a:solidFill>
                  <a:srgbClr val="D4D4D4"/>
                </a:solidFill>
                <a:latin typeface="Consolas"/>
              </a:rPr>
              <a:t>            </a:t>
            </a:r>
            <a:r>
              <a:rPr lang="en-US" sz="1600" dirty="0" err="1" smtClean="0">
                <a:solidFill>
                  <a:srgbClr val="4FC1FF"/>
                </a:solidFill>
                <a:latin typeface="Consolas"/>
              </a:rPr>
              <a:t>myUI</a:t>
            </a:r>
            <a:r>
              <a:rPr lang="en-US" sz="1600" dirty="0" smtClean="0">
                <a:solidFill>
                  <a:srgbClr val="D4D4D4"/>
                </a:solidFill>
                <a:latin typeface="Consolas"/>
              </a:rPr>
              <a:t>, </a:t>
            </a:r>
            <a:r>
              <a:rPr lang="en-US" sz="1600" dirty="0" smtClean="0">
                <a:solidFill>
                  <a:srgbClr val="9CDCFE"/>
                </a:solidFill>
                <a:latin typeface="Consolas"/>
              </a:rPr>
              <a:t>destination</a:t>
            </a:r>
            <a:endParaRPr lang="en-US" sz="1600" dirty="0" smtClean="0">
              <a:solidFill>
                <a:srgbClr val="CCCCCC"/>
              </a:solidFill>
              <a:latin typeface="Consolas"/>
            </a:endParaRPr>
          </a:p>
          <a:p>
            <a:r>
              <a:rPr lang="en-US" sz="1600" dirty="0" smtClean="0">
                <a:solidFill>
                  <a:srgbClr val="D4D4D4"/>
                </a:solidFill>
                <a:latin typeface="Consolas"/>
              </a:rPr>
              <a:t>        );</a:t>
            </a:r>
            <a:endParaRPr lang="en-US" sz="1600" dirty="0" smtClean="0">
              <a:solidFill>
                <a:srgbClr val="CCCCCC"/>
              </a:solidFill>
              <a:latin typeface="Consolas"/>
            </a:endParaRPr>
          </a:p>
          <a:p>
            <a:r>
              <a:rPr lang="en-US" sz="1600" dirty="0" smtClean="0">
                <a:solidFill>
                  <a:srgbClr val="D4D4D4"/>
                </a:solidFill>
                <a:latin typeface="Consolas"/>
              </a:rPr>
              <a:t>...</a:t>
            </a:r>
            <a:endParaRPr lang="en-US" sz="1600" b="0" dirty="0">
              <a:solidFill>
                <a:srgbClr val="CCCCCC"/>
              </a:solidFill>
              <a:latin typeface="Consola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JavaScript Code versus JSX</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1789113" y="1616075"/>
            <a:ext cx="5565775" cy="463232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Quick Review of Functions [2]</a:t>
            </a:r>
            <a:endParaRPr lang="en-US" dirty="0"/>
          </a:p>
        </p:txBody>
      </p:sp>
      <p:sp>
        <p:nvSpPr>
          <p:cNvPr id="3" name="Content Placeholder 2"/>
          <p:cNvSpPr>
            <a:spLocks noGrp="1"/>
          </p:cNvSpPr>
          <p:nvPr>
            <p:ph idx="1"/>
          </p:nvPr>
        </p:nvSpPr>
        <p:spPr/>
        <p:txBody>
          <a:bodyPr/>
          <a:lstStyle/>
          <a:p>
            <a:r>
              <a:rPr lang="en-US" sz="2400" dirty="0" smtClean="0"/>
              <a:t>This capability to have functions call other functions enables us to cleanly separate what functions do.</a:t>
            </a:r>
          </a:p>
          <a:p>
            <a:r>
              <a:rPr lang="en-US" sz="2400" dirty="0" smtClean="0"/>
              <a:t>You don't need to have one monolithic function that does everything under the sun.</a:t>
            </a:r>
          </a:p>
          <a:p>
            <a:r>
              <a:rPr lang="en-US" sz="2400" dirty="0" smtClean="0"/>
              <a:t>You can distribute the functionality across many functions specialized for a particular type of task.</a:t>
            </a:r>
            <a:endParaRPr lang="en-US" sz="2400" dirty="0"/>
          </a:p>
        </p:txBody>
      </p:sp>
      <p:sp>
        <p:nvSpPr>
          <p:cNvPr id="4" name="Rectangle 3"/>
          <p:cNvSpPr/>
          <p:nvPr/>
        </p:nvSpPr>
        <p:spPr>
          <a:xfrm>
            <a:off x="533400" y="4267200"/>
            <a:ext cx="8153400" cy="2092881"/>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dirty="0" smtClean="0">
                <a:latin typeface="Consolas" pitchFamily="49" charset="0"/>
              </a:rPr>
              <a:t>function </a:t>
            </a:r>
            <a:r>
              <a:rPr lang="en-US" sz="1600" b="1" dirty="0" err="1" smtClean="0">
                <a:latin typeface="Consolas" pitchFamily="49" charset="0"/>
              </a:rPr>
              <a:t>formatDistance</a:t>
            </a:r>
            <a:r>
              <a:rPr lang="en-US" sz="1600" b="1" dirty="0" smtClean="0">
                <a:latin typeface="Consolas" pitchFamily="49" charset="0"/>
              </a:rPr>
              <a:t>(distance) {</a:t>
            </a:r>
          </a:p>
          <a:p>
            <a:r>
              <a:rPr lang="en-US" sz="1600" dirty="0" smtClean="0">
                <a:latin typeface="Consolas" pitchFamily="49" charset="0"/>
              </a:rPr>
              <a:t>	return distance + "km";</a:t>
            </a:r>
          </a:p>
          <a:p>
            <a:r>
              <a:rPr lang="en-US" sz="1600" dirty="0" smtClean="0">
                <a:latin typeface="Consolas" pitchFamily="49" charset="0"/>
              </a:rPr>
              <a:t>}</a:t>
            </a:r>
          </a:p>
          <a:p>
            <a:r>
              <a:rPr lang="en-US" sz="1600" dirty="0" smtClean="0">
                <a:latin typeface="Consolas" pitchFamily="49" charset="0"/>
              </a:rPr>
              <a:t>function </a:t>
            </a:r>
            <a:r>
              <a:rPr lang="en-US" sz="1600" b="1" dirty="0" err="1" smtClean="0">
                <a:latin typeface="Consolas" pitchFamily="49" charset="0"/>
              </a:rPr>
              <a:t>getDistance</a:t>
            </a:r>
            <a:r>
              <a:rPr lang="en-US" sz="1600" b="1" dirty="0" smtClean="0">
                <a:latin typeface="Consolas" pitchFamily="49" charset="0"/>
              </a:rPr>
              <a:t>(speed, time) {</a:t>
            </a:r>
          </a:p>
          <a:p>
            <a:pPr lvl="1"/>
            <a:r>
              <a:rPr lang="en-US" sz="1600" dirty="0" err="1" smtClean="0">
                <a:latin typeface="Consolas" pitchFamily="49" charset="0"/>
              </a:rPr>
              <a:t>var</a:t>
            </a:r>
            <a:r>
              <a:rPr lang="en-US" sz="1600" dirty="0" smtClean="0">
                <a:latin typeface="Consolas" pitchFamily="49" charset="0"/>
              </a:rPr>
              <a:t> result = speed * time;</a:t>
            </a:r>
          </a:p>
          <a:p>
            <a:pPr lvl="1"/>
            <a:r>
              <a:rPr lang="en-US" sz="1600" b="1" dirty="0" smtClean="0">
                <a:latin typeface="Consolas" pitchFamily="49" charset="0"/>
              </a:rPr>
              <a:t>alert(</a:t>
            </a:r>
            <a:r>
              <a:rPr lang="en-US" sz="1600" b="1" dirty="0" err="1" smtClean="0">
                <a:latin typeface="Consolas" pitchFamily="49" charset="0"/>
              </a:rPr>
              <a:t>formatDistance</a:t>
            </a:r>
            <a:r>
              <a:rPr lang="en-US" sz="1600" b="1" dirty="0" smtClean="0">
                <a:latin typeface="Consolas" pitchFamily="49" charset="0"/>
              </a:rPr>
              <a:t>(result));</a:t>
            </a:r>
          </a:p>
          <a:p>
            <a:r>
              <a:rPr lang="en-US" sz="1600" dirty="0" smtClean="0">
                <a:latin typeface="Consolas" pitchFamily="49" charset="0"/>
              </a:rPr>
              <a:t>}</a:t>
            </a:r>
          </a:p>
          <a:p>
            <a:r>
              <a:rPr lang="en-US" sz="1600" b="1" dirty="0" err="1" smtClean="0">
                <a:latin typeface="Consolas" pitchFamily="49" charset="0"/>
              </a:rPr>
              <a:t>getDistance</a:t>
            </a:r>
            <a:r>
              <a:rPr lang="en-US" sz="1600" b="1" dirty="0" smtClean="0">
                <a:latin typeface="Consolas" pitchFamily="49" charset="0"/>
              </a:rPr>
              <a:t>(42, 21);</a:t>
            </a:r>
            <a:endParaRPr lang="en-US" sz="1600" dirty="0">
              <a:latin typeface="Consolas" pitchFamily="49"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Function Component</a:t>
            </a:r>
            <a:endParaRPr lang="en-US" dirty="0"/>
          </a:p>
        </p:txBody>
      </p:sp>
      <p:sp>
        <p:nvSpPr>
          <p:cNvPr id="3" name="Content Placeholder 2"/>
          <p:cNvSpPr>
            <a:spLocks noGrp="1"/>
          </p:cNvSpPr>
          <p:nvPr>
            <p:ph idx="1"/>
          </p:nvPr>
        </p:nvSpPr>
        <p:spPr/>
        <p:txBody>
          <a:bodyPr/>
          <a:lstStyle/>
          <a:p>
            <a:r>
              <a:rPr lang="en-US" sz="2400" dirty="0" err="1" smtClean="0">
                <a:latin typeface="Consolas" pitchFamily="49" charset="0"/>
              </a:rPr>
              <a:t>npm</a:t>
            </a:r>
            <a:r>
              <a:rPr lang="en-US" sz="2400" dirty="0" smtClean="0">
                <a:latin typeface="Consolas" pitchFamily="49" charset="0"/>
              </a:rPr>
              <a:t> init react-app hello-functional-component</a:t>
            </a:r>
          </a:p>
          <a:p>
            <a:endParaRPr lang="en-US" sz="2400" dirty="0">
              <a:latin typeface="Consolas" pitchFamily="49" charset="0"/>
            </a:endParaRPr>
          </a:p>
        </p:txBody>
      </p:sp>
      <p:sp>
        <p:nvSpPr>
          <p:cNvPr id="4" name="Rectangle 3"/>
          <p:cNvSpPr/>
          <p:nvPr/>
        </p:nvSpPr>
        <p:spPr>
          <a:xfrm>
            <a:off x="381000" y="2362200"/>
            <a:ext cx="8458200" cy="3693319"/>
          </a:xfrm>
          <a:prstGeom prst="rect">
            <a:avLst/>
          </a:prstGeom>
          <a:ln/>
        </p:spPr>
        <p:style>
          <a:lnRef idx="3">
            <a:schemeClr val="lt1"/>
          </a:lnRef>
          <a:fillRef idx="1">
            <a:schemeClr val="dk1"/>
          </a:fillRef>
          <a:effectRef idx="1">
            <a:schemeClr val="dk1"/>
          </a:effectRef>
          <a:fontRef idx="minor">
            <a:schemeClr val="lt1"/>
          </a:fontRef>
        </p:style>
        <p:txBody>
          <a:bodyPr wrap="square">
            <a:spAutoFit/>
          </a:bodyPr>
          <a:lstStyle/>
          <a:p>
            <a:r>
              <a:rPr lang="en-US" dirty="0" smtClean="0">
                <a:solidFill>
                  <a:srgbClr val="569CD6"/>
                </a:solidFill>
                <a:latin typeface="Consolas"/>
              </a:rPr>
              <a:t>function</a:t>
            </a:r>
            <a:r>
              <a:rPr lang="en-US" dirty="0" smtClean="0">
                <a:solidFill>
                  <a:srgbClr val="CCCCCC"/>
                </a:solidFill>
                <a:latin typeface="Consolas"/>
              </a:rPr>
              <a:t> </a:t>
            </a:r>
            <a:r>
              <a:rPr lang="en-US" dirty="0" smtClean="0">
                <a:solidFill>
                  <a:srgbClr val="DCDCAA"/>
                </a:solidFill>
                <a:latin typeface="Consolas"/>
              </a:rPr>
              <a:t>Heading</a:t>
            </a:r>
            <a:r>
              <a:rPr lang="en-US" dirty="0" smtClean="0">
                <a:solidFill>
                  <a:srgbClr val="CCCCCC"/>
                </a:solidFill>
                <a:latin typeface="Consolas"/>
              </a:rPr>
              <a:t>() {</a:t>
            </a:r>
          </a:p>
          <a:p>
            <a:r>
              <a:rPr lang="en-US" dirty="0" smtClean="0">
                <a:solidFill>
                  <a:srgbClr val="CCCCCC"/>
                </a:solidFill>
                <a:latin typeface="Consolas"/>
              </a:rPr>
              <a:t>  </a:t>
            </a:r>
            <a:r>
              <a:rPr lang="en-US" dirty="0" smtClean="0">
                <a:solidFill>
                  <a:srgbClr val="C586C0"/>
                </a:solidFill>
                <a:latin typeface="Consolas"/>
              </a:rPr>
              <a:t>return</a:t>
            </a:r>
            <a:r>
              <a:rPr lang="en-US" dirty="0" smtClean="0">
                <a:solidFill>
                  <a:srgbClr val="CCCCCC"/>
                </a:solidFill>
                <a:latin typeface="Consolas"/>
              </a:rPr>
              <a:t> (</a:t>
            </a:r>
          </a:p>
          <a:p>
            <a:r>
              <a:rPr lang="en-US" dirty="0" smtClean="0">
                <a:solidFill>
                  <a:srgbClr val="CCCCCC"/>
                </a:solidFill>
                <a:latin typeface="Consolas"/>
              </a:rPr>
              <a:t>    </a:t>
            </a:r>
            <a:r>
              <a:rPr lang="en-US" dirty="0" smtClean="0">
                <a:solidFill>
                  <a:srgbClr val="808080"/>
                </a:solidFill>
                <a:latin typeface="Consolas"/>
              </a:rPr>
              <a:t>&lt;</a:t>
            </a:r>
            <a:r>
              <a:rPr lang="en-US" dirty="0" smtClean="0">
                <a:solidFill>
                  <a:srgbClr val="569CD6"/>
                </a:solidFill>
                <a:latin typeface="Consolas"/>
              </a:rPr>
              <a:t>h1</a:t>
            </a:r>
            <a:r>
              <a:rPr lang="en-US" dirty="0" smtClean="0">
                <a:solidFill>
                  <a:srgbClr val="808080"/>
                </a:solidFill>
                <a:latin typeface="Consolas"/>
              </a:rPr>
              <a:t>&gt;</a:t>
            </a:r>
            <a:r>
              <a:rPr lang="en-US" dirty="0" smtClean="0">
                <a:solidFill>
                  <a:srgbClr val="CCCCCC"/>
                </a:solidFill>
                <a:latin typeface="Consolas"/>
              </a:rPr>
              <a:t>This is an h1 heading.</a:t>
            </a:r>
            <a:r>
              <a:rPr lang="en-US" dirty="0" smtClean="0">
                <a:solidFill>
                  <a:srgbClr val="808080"/>
                </a:solidFill>
                <a:latin typeface="Consolas"/>
              </a:rPr>
              <a:t>&lt;/</a:t>
            </a:r>
            <a:r>
              <a:rPr lang="en-US" dirty="0" smtClean="0">
                <a:solidFill>
                  <a:srgbClr val="569CD6"/>
                </a:solidFill>
                <a:latin typeface="Consolas"/>
              </a:rPr>
              <a:t>h1</a:t>
            </a:r>
            <a:r>
              <a:rPr lang="en-US" dirty="0" smtClean="0">
                <a:solidFill>
                  <a:srgbClr val="808080"/>
                </a:solidFill>
                <a:latin typeface="Consolas"/>
              </a:rPr>
              <a:t>&gt;</a:t>
            </a:r>
            <a:endParaRPr lang="en-US" dirty="0" smtClean="0">
              <a:solidFill>
                <a:srgbClr val="CCCCCC"/>
              </a:solidFill>
              <a:latin typeface="Consolas"/>
            </a:endParaRPr>
          </a:p>
          <a:p>
            <a:r>
              <a:rPr lang="en-US" dirty="0" smtClean="0">
                <a:solidFill>
                  <a:srgbClr val="CCCCCC"/>
                </a:solidFill>
                <a:latin typeface="Consolas"/>
              </a:rPr>
              <a:t>  )</a:t>
            </a:r>
          </a:p>
          <a:p>
            <a:r>
              <a:rPr lang="en-US" dirty="0" smtClean="0">
                <a:solidFill>
                  <a:srgbClr val="CCCCCC"/>
                </a:solidFill>
                <a:latin typeface="Consolas"/>
              </a:rPr>
              <a:t>}</a:t>
            </a:r>
          </a:p>
          <a:p>
            <a:r>
              <a:rPr lang="en-US" dirty="0" smtClean="0">
                <a:solidFill>
                  <a:srgbClr val="CCCCCC"/>
                </a:solidFill>
                <a:latin typeface="Consolas"/>
              </a:rPr>
              <a:t/>
            </a:r>
            <a:br>
              <a:rPr lang="en-US" dirty="0" smtClean="0">
                <a:solidFill>
                  <a:srgbClr val="CCCCCC"/>
                </a:solidFill>
                <a:latin typeface="Consolas"/>
              </a:rPr>
            </a:br>
            <a:r>
              <a:rPr lang="en-US" dirty="0" smtClean="0">
                <a:solidFill>
                  <a:srgbClr val="569CD6"/>
                </a:solidFill>
                <a:latin typeface="Consolas"/>
              </a:rPr>
              <a:t>function</a:t>
            </a:r>
            <a:r>
              <a:rPr lang="en-US" dirty="0" smtClean="0">
                <a:solidFill>
                  <a:srgbClr val="CCCCCC"/>
                </a:solidFill>
                <a:latin typeface="Consolas"/>
              </a:rPr>
              <a:t> </a:t>
            </a:r>
            <a:r>
              <a:rPr lang="en-US" dirty="0" smtClean="0">
                <a:solidFill>
                  <a:srgbClr val="DCDCAA"/>
                </a:solidFill>
                <a:latin typeface="Consolas"/>
              </a:rPr>
              <a:t>App</a:t>
            </a:r>
            <a:r>
              <a:rPr lang="en-US" dirty="0" smtClean="0">
                <a:solidFill>
                  <a:srgbClr val="CCCCCC"/>
                </a:solidFill>
                <a:latin typeface="Consolas"/>
              </a:rPr>
              <a:t>() {</a:t>
            </a:r>
          </a:p>
          <a:p>
            <a:r>
              <a:rPr lang="en-US" dirty="0" smtClean="0">
                <a:solidFill>
                  <a:srgbClr val="CCCCCC"/>
                </a:solidFill>
                <a:latin typeface="Consolas"/>
              </a:rPr>
              <a:t>  </a:t>
            </a:r>
            <a:r>
              <a:rPr lang="en-US" dirty="0" smtClean="0">
                <a:solidFill>
                  <a:srgbClr val="C586C0"/>
                </a:solidFill>
                <a:latin typeface="Consolas"/>
              </a:rPr>
              <a:t>return</a:t>
            </a:r>
            <a:r>
              <a:rPr lang="en-US" dirty="0" smtClean="0">
                <a:solidFill>
                  <a:srgbClr val="CCCCCC"/>
                </a:solidFill>
                <a:latin typeface="Consolas"/>
              </a:rPr>
              <a:t> (</a:t>
            </a:r>
          </a:p>
          <a:p>
            <a:r>
              <a:rPr lang="en-US" dirty="0" smtClean="0">
                <a:solidFill>
                  <a:srgbClr val="CCCCCC"/>
                </a:solidFill>
                <a:latin typeface="Consolas"/>
              </a:rPr>
              <a:t>        </a:t>
            </a:r>
            <a:r>
              <a:rPr lang="en-US" dirty="0" smtClean="0">
                <a:solidFill>
                  <a:srgbClr val="808080"/>
                </a:solidFill>
                <a:latin typeface="Consolas"/>
              </a:rPr>
              <a:t>&lt;</a:t>
            </a:r>
            <a:r>
              <a:rPr lang="en-US" dirty="0" smtClean="0">
                <a:solidFill>
                  <a:srgbClr val="4EC9B0"/>
                </a:solidFill>
                <a:latin typeface="Consolas"/>
              </a:rPr>
              <a:t>Heading</a:t>
            </a:r>
            <a:r>
              <a:rPr lang="en-US" dirty="0" smtClean="0">
                <a:solidFill>
                  <a:srgbClr val="CCCCCC"/>
                </a:solidFill>
                <a:latin typeface="Consolas"/>
              </a:rPr>
              <a:t> </a:t>
            </a:r>
            <a:r>
              <a:rPr lang="en-US" dirty="0" smtClean="0">
                <a:solidFill>
                  <a:srgbClr val="808080"/>
                </a:solidFill>
                <a:latin typeface="Consolas"/>
              </a:rPr>
              <a:t>/&gt;</a:t>
            </a:r>
            <a:endParaRPr lang="en-US" dirty="0" smtClean="0">
              <a:solidFill>
                <a:srgbClr val="CCCCCC"/>
              </a:solidFill>
              <a:latin typeface="Consolas"/>
            </a:endParaRPr>
          </a:p>
          <a:p>
            <a:r>
              <a:rPr lang="en-US" dirty="0" smtClean="0">
                <a:solidFill>
                  <a:srgbClr val="CCCCCC"/>
                </a:solidFill>
                <a:latin typeface="Consolas"/>
              </a:rPr>
              <a:t>  );</a:t>
            </a:r>
          </a:p>
          <a:p>
            <a:r>
              <a:rPr lang="en-US" dirty="0" smtClean="0">
                <a:solidFill>
                  <a:srgbClr val="CCCCCC"/>
                </a:solidFill>
                <a:latin typeface="Consolas"/>
              </a:rPr>
              <a:t>}</a:t>
            </a:r>
          </a:p>
          <a:p>
            <a:r>
              <a:rPr lang="en-US" dirty="0" smtClean="0">
                <a:solidFill>
                  <a:srgbClr val="CCCCCC"/>
                </a:solidFill>
                <a:latin typeface="Consolas"/>
              </a:rPr>
              <a:t/>
            </a:r>
            <a:br>
              <a:rPr lang="en-US" dirty="0" smtClean="0">
                <a:solidFill>
                  <a:srgbClr val="CCCCCC"/>
                </a:solidFill>
                <a:latin typeface="Consolas"/>
              </a:rPr>
            </a:br>
            <a:r>
              <a:rPr lang="en-US" dirty="0" smtClean="0">
                <a:solidFill>
                  <a:srgbClr val="C586C0"/>
                </a:solidFill>
                <a:latin typeface="Consolas"/>
              </a:rPr>
              <a:t>export</a:t>
            </a:r>
            <a:r>
              <a:rPr lang="en-US" dirty="0" smtClean="0">
                <a:solidFill>
                  <a:srgbClr val="CCCCCC"/>
                </a:solidFill>
                <a:latin typeface="Consolas"/>
              </a:rPr>
              <a:t> </a:t>
            </a:r>
            <a:r>
              <a:rPr lang="en-US" dirty="0" smtClean="0">
                <a:solidFill>
                  <a:srgbClr val="C586C0"/>
                </a:solidFill>
                <a:latin typeface="Consolas"/>
              </a:rPr>
              <a:t>default</a:t>
            </a:r>
            <a:r>
              <a:rPr lang="en-US" dirty="0" smtClean="0">
                <a:solidFill>
                  <a:srgbClr val="CCCCCC"/>
                </a:solidFill>
                <a:latin typeface="Consolas"/>
              </a:rPr>
              <a:t> </a:t>
            </a:r>
            <a:r>
              <a:rPr lang="en-US" dirty="0" smtClean="0">
                <a:solidFill>
                  <a:srgbClr val="DCDCAA"/>
                </a:solidFill>
                <a:latin typeface="Consolas"/>
              </a:rPr>
              <a:t>App</a:t>
            </a:r>
            <a:r>
              <a:rPr lang="en-US" dirty="0" smtClean="0">
                <a:solidFill>
                  <a:srgbClr val="CCCCCC"/>
                </a:solidFill>
                <a:latin typeface="Consolas"/>
              </a:rPr>
              <a:t>;</a:t>
            </a:r>
            <a:endParaRPr lang="en-US" b="0" dirty="0">
              <a:solidFill>
                <a:srgbClr val="CCCCCC"/>
              </a:solidFill>
              <a:latin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Create Class Component</a:t>
            </a:r>
            <a:endParaRPr lang="en-US" dirty="0"/>
          </a:p>
        </p:txBody>
      </p:sp>
      <p:sp>
        <p:nvSpPr>
          <p:cNvPr id="4" name="Rectangle 3"/>
          <p:cNvSpPr/>
          <p:nvPr/>
        </p:nvSpPr>
        <p:spPr>
          <a:xfrm>
            <a:off x="533400" y="1447800"/>
            <a:ext cx="8153400" cy="4647426"/>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dirty="0" smtClean="0">
                <a:latin typeface="Consolas" pitchFamily="49" charset="0"/>
              </a:rPr>
              <a:t>&lt;body&gt;</a:t>
            </a:r>
          </a:p>
          <a:p>
            <a:r>
              <a:rPr lang="en-US" sz="1600" dirty="0" smtClean="0">
                <a:latin typeface="Consolas" pitchFamily="49" charset="0"/>
              </a:rPr>
              <a:t>    &lt;div id="container"&gt;&lt;/div&gt;</a:t>
            </a:r>
          </a:p>
          <a:p>
            <a:r>
              <a:rPr lang="en-US" sz="1600" dirty="0" smtClean="0">
                <a:latin typeface="Consolas" pitchFamily="49" charset="0"/>
              </a:rPr>
              <a:t>    &lt;script type="text/</a:t>
            </a:r>
            <a:r>
              <a:rPr lang="en-US" sz="1600" dirty="0" err="1" smtClean="0">
                <a:latin typeface="Consolas" pitchFamily="49" charset="0"/>
              </a:rPr>
              <a:t>babel</a:t>
            </a:r>
            <a:r>
              <a:rPr lang="en-US" sz="1600" dirty="0" smtClean="0">
                <a:latin typeface="Consolas" pitchFamily="49" charset="0"/>
              </a:rPr>
              <a:t>"&gt;</a:t>
            </a:r>
          </a:p>
          <a:p>
            <a:r>
              <a:rPr lang="en-US" sz="1600" dirty="0" smtClean="0">
                <a:latin typeface="Consolas" pitchFamily="49" charset="0"/>
              </a:rPr>
              <a:t>        class </a:t>
            </a:r>
            <a:r>
              <a:rPr lang="en-US" sz="1600" dirty="0" err="1" smtClean="0">
                <a:latin typeface="Consolas" pitchFamily="49" charset="0"/>
              </a:rPr>
              <a:t>HelloWorld</a:t>
            </a:r>
            <a:r>
              <a:rPr lang="en-US" sz="1600" dirty="0" smtClean="0">
                <a:latin typeface="Consolas" pitchFamily="49" charset="0"/>
              </a:rPr>
              <a:t> extends </a:t>
            </a:r>
            <a:r>
              <a:rPr lang="en-US" sz="1600" dirty="0" err="1" smtClean="0">
                <a:latin typeface="Consolas" pitchFamily="49" charset="0"/>
              </a:rPr>
              <a:t>React.Component</a:t>
            </a:r>
            <a:r>
              <a:rPr lang="en-US" sz="1600" dirty="0" smtClean="0">
                <a:latin typeface="Consolas" pitchFamily="49" charset="0"/>
              </a:rPr>
              <a:t> {</a:t>
            </a:r>
          </a:p>
          <a:p>
            <a:r>
              <a:rPr lang="en-US" sz="1600" dirty="0" smtClean="0">
                <a:latin typeface="Consolas" pitchFamily="49" charset="0"/>
              </a:rPr>
              <a:t>            render() {</a:t>
            </a:r>
          </a:p>
          <a:p>
            <a:r>
              <a:rPr lang="en-US" sz="1600" dirty="0" smtClean="0">
                <a:latin typeface="Consolas" pitchFamily="49" charset="0"/>
              </a:rPr>
              <a:t>                return (</a:t>
            </a:r>
          </a:p>
          <a:p>
            <a:r>
              <a:rPr lang="en-US" sz="1600" dirty="0" smtClean="0">
                <a:latin typeface="Consolas" pitchFamily="49" charset="0"/>
              </a:rPr>
              <a:t>                    &lt;h1&gt;Hello, componentized world!&lt;/h1&gt;</a:t>
            </a:r>
          </a:p>
          <a:p>
            <a:r>
              <a:rPr lang="en-US" sz="1600" dirty="0" smtClean="0">
                <a:latin typeface="Consolas" pitchFamily="49" charset="0"/>
              </a:rPr>
              <a:t>                )</a:t>
            </a:r>
          </a:p>
          <a:p>
            <a:r>
              <a:rPr lang="en-US" sz="1600" dirty="0" smtClean="0">
                <a:latin typeface="Consolas" pitchFamily="49" charset="0"/>
              </a:rPr>
              <a:t>            }</a:t>
            </a:r>
          </a:p>
          <a:p>
            <a:r>
              <a:rPr lang="en-US" sz="1600" dirty="0" smtClean="0">
                <a:latin typeface="Consolas" pitchFamily="49" charset="0"/>
              </a:rPr>
              <a:t>        }</a:t>
            </a:r>
          </a:p>
          <a:p>
            <a:endParaRPr lang="en-US" sz="1600" dirty="0" smtClean="0">
              <a:latin typeface="Consolas" pitchFamily="49" charset="0"/>
            </a:endParaRPr>
          </a:p>
          <a:p>
            <a:r>
              <a:rPr lang="en-US" sz="1600" dirty="0" smtClean="0">
                <a:latin typeface="Consolas" pitchFamily="49" charset="0"/>
              </a:rPr>
              <a:t>        </a:t>
            </a:r>
            <a:r>
              <a:rPr lang="en-US" sz="1600" dirty="0" err="1" smtClean="0">
                <a:latin typeface="Consolas" pitchFamily="49" charset="0"/>
              </a:rPr>
              <a:t>var</a:t>
            </a:r>
            <a:r>
              <a:rPr lang="en-US" sz="1600" dirty="0" smtClean="0">
                <a:latin typeface="Consolas" pitchFamily="49" charset="0"/>
              </a:rPr>
              <a:t> destination = </a:t>
            </a:r>
            <a:r>
              <a:rPr lang="en-US" sz="1600" dirty="0" err="1" smtClean="0">
                <a:latin typeface="Consolas" pitchFamily="49" charset="0"/>
              </a:rPr>
              <a:t>document.querySelector</a:t>
            </a:r>
            <a:r>
              <a:rPr lang="en-US" sz="1600" dirty="0" smtClean="0">
                <a:latin typeface="Consolas" pitchFamily="49" charset="0"/>
              </a:rPr>
              <a:t>("#container");</a:t>
            </a:r>
          </a:p>
          <a:p>
            <a:r>
              <a:rPr lang="en-US" sz="1600" dirty="0" smtClean="0">
                <a:latin typeface="Consolas" pitchFamily="49" charset="0"/>
              </a:rPr>
              <a:t>        </a:t>
            </a:r>
            <a:r>
              <a:rPr lang="en-US" sz="1600" dirty="0" err="1" smtClean="0">
                <a:latin typeface="Consolas" pitchFamily="49" charset="0"/>
              </a:rPr>
              <a:t>ReactDOM.render</a:t>
            </a:r>
            <a:r>
              <a:rPr lang="en-US" sz="1600" dirty="0" smtClean="0">
                <a:latin typeface="Consolas" pitchFamily="49" charset="0"/>
              </a:rPr>
              <a:t>(</a:t>
            </a:r>
          </a:p>
          <a:p>
            <a:r>
              <a:rPr lang="en-US" sz="1600" dirty="0" smtClean="0">
                <a:latin typeface="Consolas" pitchFamily="49" charset="0"/>
              </a:rPr>
              <a:t>            &lt;</a:t>
            </a:r>
            <a:r>
              <a:rPr lang="en-US" sz="1600" dirty="0" err="1" smtClean="0">
                <a:latin typeface="Consolas" pitchFamily="49" charset="0"/>
              </a:rPr>
              <a:t>HelloWorld</a:t>
            </a:r>
            <a:r>
              <a:rPr lang="en-US" sz="1600" dirty="0" smtClean="0">
                <a:latin typeface="Consolas" pitchFamily="49" charset="0"/>
              </a:rPr>
              <a:t> /&gt;,</a:t>
            </a:r>
          </a:p>
          <a:p>
            <a:r>
              <a:rPr lang="en-US" sz="1600" dirty="0" smtClean="0">
                <a:latin typeface="Consolas" pitchFamily="49" charset="0"/>
              </a:rPr>
              <a:t>            destination</a:t>
            </a:r>
          </a:p>
          <a:p>
            <a:r>
              <a:rPr lang="en-US" sz="1600" dirty="0" smtClean="0">
                <a:latin typeface="Consolas" pitchFamily="49" charset="0"/>
              </a:rPr>
              <a:t>        );</a:t>
            </a:r>
          </a:p>
          <a:p>
            <a:r>
              <a:rPr lang="en-US" sz="1600" dirty="0" smtClean="0">
                <a:latin typeface="Consolas" pitchFamily="49" charset="0"/>
              </a:rPr>
              <a:t>    &lt;/script&gt;</a:t>
            </a:r>
          </a:p>
          <a:p>
            <a:r>
              <a:rPr lang="en-US" sz="1600" dirty="0" smtClean="0">
                <a:latin typeface="Consolas" pitchFamily="49" charset="0"/>
              </a:rPr>
              <a:t>&lt;/body&gt;</a:t>
            </a:r>
            <a:endParaRPr lang="en-US" sz="1600" dirty="0">
              <a:latin typeface="Consolas" pitchFamily="49" charset="0"/>
            </a:endParaRPr>
          </a:p>
        </p:txBody>
      </p:sp>
      <p:pic>
        <p:nvPicPr>
          <p:cNvPr id="5122" name="Picture 2"/>
          <p:cNvPicPr>
            <a:picLocks noChangeAspect="1" noChangeArrowheads="1"/>
          </p:cNvPicPr>
          <p:nvPr/>
        </p:nvPicPr>
        <p:blipFill>
          <a:blip r:embed="rId2" cstate="print"/>
          <a:srcRect/>
          <a:stretch>
            <a:fillRect/>
          </a:stretch>
        </p:blipFill>
        <p:spPr bwMode="auto">
          <a:xfrm>
            <a:off x="2514600" y="5410200"/>
            <a:ext cx="5803900" cy="492125"/>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onsolas" pitchFamily="49" charset="0"/>
              </a:rPr>
              <a:t>props</a:t>
            </a:r>
            <a:endParaRPr lang="en-US" dirty="0">
              <a:latin typeface="Consolas" pitchFamily="49" charset="0"/>
            </a:endParaRPr>
          </a:p>
        </p:txBody>
      </p:sp>
      <p:sp>
        <p:nvSpPr>
          <p:cNvPr id="3" name="Content Placeholder 2"/>
          <p:cNvSpPr>
            <a:spLocks noGrp="1"/>
          </p:cNvSpPr>
          <p:nvPr>
            <p:ph idx="1"/>
          </p:nvPr>
        </p:nvSpPr>
        <p:spPr/>
        <p:txBody>
          <a:bodyPr/>
          <a:lstStyle/>
          <a:p>
            <a:r>
              <a:rPr lang="en-US" sz="2200" dirty="0" smtClean="0"/>
              <a:t>React components use </a:t>
            </a:r>
            <a:r>
              <a:rPr lang="en-US" sz="2200" b="1" dirty="0" smtClean="0">
                <a:solidFill>
                  <a:srgbClr val="C00000"/>
                </a:solidFill>
                <a:latin typeface="Consolas" pitchFamily="49" charset="0"/>
              </a:rPr>
              <a:t>props</a:t>
            </a:r>
            <a:r>
              <a:rPr lang="en-US" sz="2200" dirty="0" smtClean="0"/>
              <a:t> to communicate with each other.</a:t>
            </a:r>
          </a:p>
          <a:p>
            <a:r>
              <a:rPr lang="en-US" sz="2200" dirty="0" smtClean="0"/>
              <a:t>Every </a:t>
            </a:r>
            <a:r>
              <a:rPr lang="en-US" sz="2200" i="1" dirty="0" smtClean="0">
                <a:solidFill>
                  <a:srgbClr val="C00000"/>
                </a:solidFill>
              </a:rPr>
              <a:t>parent component</a:t>
            </a:r>
            <a:r>
              <a:rPr lang="en-US" sz="2200" dirty="0" smtClean="0"/>
              <a:t> can pass some information to its </a:t>
            </a:r>
            <a:r>
              <a:rPr lang="en-US" sz="2200" u="sng" dirty="0" smtClean="0"/>
              <a:t>child components</a:t>
            </a:r>
            <a:r>
              <a:rPr lang="en-US" sz="2200" dirty="0" smtClean="0"/>
              <a:t> by giving them </a:t>
            </a:r>
            <a:r>
              <a:rPr lang="en-US" sz="2200" u="sng" dirty="0" smtClean="0"/>
              <a:t>props</a:t>
            </a:r>
            <a:r>
              <a:rPr lang="en-US" sz="2200" dirty="0" smtClean="0"/>
              <a:t>.</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Set Component Properties</a:t>
            </a:r>
            <a:endParaRPr lang="en-US" dirty="0"/>
          </a:p>
        </p:txBody>
      </p:sp>
      <p:sp>
        <p:nvSpPr>
          <p:cNvPr id="4" name="Rectangle 3"/>
          <p:cNvSpPr/>
          <p:nvPr/>
        </p:nvSpPr>
        <p:spPr>
          <a:xfrm>
            <a:off x="533400" y="1447800"/>
            <a:ext cx="8153400" cy="4647426"/>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dirty="0" smtClean="0">
                <a:latin typeface="Consolas" pitchFamily="49" charset="0"/>
              </a:rPr>
              <a:t>&lt;body&gt;</a:t>
            </a:r>
          </a:p>
          <a:p>
            <a:r>
              <a:rPr lang="en-US" sz="1600" dirty="0" smtClean="0">
                <a:latin typeface="Consolas" pitchFamily="49" charset="0"/>
              </a:rPr>
              <a:t>    &lt;div id="container"&gt;&lt;/div&gt;</a:t>
            </a:r>
          </a:p>
          <a:p>
            <a:r>
              <a:rPr lang="en-US" sz="1600" dirty="0" smtClean="0">
                <a:latin typeface="Consolas" pitchFamily="49" charset="0"/>
              </a:rPr>
              <a:t>    &lt;script type="text/</a:t>
            </a:r>
            <a:r>
              <a:rPr lang="en-US" sz="1600" dirty="0" err="1" smtClean="0">
                <a:latin typeface="Consolas" pitchFamily="49" charset="0"/>
              </a:rPr>
              <a:t>babel</a:t>
            </a:r>
            <a:r>
              <a:rPr lang="en-US" sz="1600" dirty="0" smtClean="0">
                <a:latin typeface="Consolas" pitchFamily="49" charset="0"/>
              </a:rPr>
              <a:t>"&gt;</a:t>
            </a:r>
          </a:p>
          <a:p>
            <a:r>
              <a:rPr lang="en-US" sz="1600" dirty="0" smtClean="0">
                <a:latin typeface="Consolas" pitchFamily="49" charset="0"/>
              </a:rPr>
              <a:t>        class </a:t>
            </a:r>
            <a:r>
              <a:rPr lang="en-US" sz="1600" dirty="0" err="1" smtClean="0">
                <a:latin typeface="Consolas" pitchFamily="49" charset="0"/>
              </a:rPr>
              <a:t>HelloWorld</a:t>
            </a:r>
            <a:r>
              <a:rPr lang="en-US" sz="1600" dirty="0" smtClean="0">
                <a:latin typeface="Consolas" pitchFamily="49" charset="0"/>
              </a:rPr>
              <a:t> extends </a:t>
            </a:r>
            <a:r>
              <a:rPr lang="en-US" sz="1600" dirty="0" err="1" smtClean="0">
                <a:latin typeface="Consolas" pitchFamily="49" charset="0"/>
              </a:rPr>
              <a:t>React.Component</a:t>
            </a:r>
            <a:r>
              <a:rPr lang="en-US" sz="1600" dirty="0" smtClean="0">
                <a:latin typeface="Consolas" pitchFamily="49" charset="0"/>
              </a:rPr>
              <a:t> {</a:t>
            </a:r>
          </a:p>
          <a:p>
            <a:r>
              <a:rPr lang="en-US" sz="1600" dirty="0" smtClean="0">
                <a:latin typeface="Consolas" pitchFamily="49" charset="0"/>
              </a:rPr>
              <a:t>            render() {</a:t>
            </a:r>
          </a:p>
          <a:p>
            <a:r>
              <a:rPr lang="en-US" sz="1600" dirty="0" smtClean="0">
                <a:latin typeface="Consolas" pitchFamily="49" charset="0"/>
              </a:rPr>
              <a:t>                return (</a:t>
            </a:r>
          </a:p>
          <a:p>
            <a:r>
              <a:rPr lang="en-US" sz="1600" dirty="0" smtClean="0">
                <a:latin typeface="Consolas" pitchFamily="49" charset="0"/>
              </a:rPr>
              <a:t>                    &lt;h1&gt;Hello, </a:t>
            </a:r>
            <a:r>
              <a:rPr lang="en-US" sz="1600" b="1" dirty="0" smtClean="0">
                <a:solidFill>
                  <a:srgbClr val="C00000"/>
                </a:solidFill>
                <a:latin typeface="Consolas" pitchFamily="49" charset="0"/>
              </a:rPr>
              <a:t>{</a:t>
            </a:r>
            <a:r>
              <a:rPr lang="en-US" sz="1600" b="1" dirty="0" err="1" smtClean="0">
                <a:solidFill>
                  <a:srgbClr val="C00000"/>
                </a:solidFill>
                <a:latin typeface="Consolas" pitchFamily="49" charset="0"/>
              </a:rPr>
              <a:t>this.props.greetTarget</a:t>
            </a:r>
            <a:r>
              <a:rPr lang="en-US" sz="1600" b="1" dirty="0" smtClean="0">
                <a:solidFill>
                  <a:srgbClr val="C00000"/>
                </a:solidFill>
                <a:latin typeface="Consolas" pitchFamily="49" charset="0"/>
              </a:rPr>
              <a:t>}</a:t>
            </a:r>
            <a:r>
              <a:rPr lang="en-US" sz="1600" dirty="0" smtClean="0">
                <a:latin typeface="Consolas" pitchFamily="49" charset="0"/>
              </a:rPr>
              <a:t>!&lt;/h1&gt;</a:t>
            </a:r>
          </a:p>
          <a:p>
            <a:r>
              <a:rPr lang="en-US" sz="1600" dirty="0" smtClean="0">
                <a:latin typeface="Consolas" pitchFamily="49" charset="0"/>
              </a:rPr>
              <a:t>                )</a:t>
            </a:r>
          </a:p>
          <a:p>
            <a:r>
              <a:rPr lang="en-US" sz="1600" dirty="0" smtClean="0">
                <a:latin typeface="Consolas" pitchFamily="49" charset="0"/>
              </a:rPr>
              <a:t>            }</a:t>
            </a:r>
          </a:p>
          <a:p>
            <a:r>
              <a:rPr lang="en-US" sz="1600" dirty="0" smtClean="0">
                <a:latin typeface="Consolas" pitchFamily="49" charset="0"/>
              </a:rPr>
              <a:t>        }</a:t>
            </a:r>
          </a:p>
          <a:p>
            <a:endParaRPr lang="en-US" sz="1600" dirty="0" smtClean="0">
              <a:latin typeface="Consolas" pitchFamily="49" charset="0"/>
            </a:endParaRPr>
          </a:p>
          <a:p>
            <a:r>
              <a:rPr lang="en-US" sz="1600" dirty="0" smtClean="0">
                <a:latin typeface="Consolas" pitchFamily="49" charset="0"/>
              </a:rPr>
              <a:t>        </a:t>
            </a:r>
            <a:r>
              <a:rPr lang="en-US" sz="1600" dirty="0" err="1" smtClean="0">
                <a:latin typeface="Consolas" pitchFamily="49" charset="0"/>
              </a:rPr>
              <a:t>var</a:t>
            </a:r>
            <a:r>
              <a:rPr lang="en-US" sz="1600" dirty="0" smtClean="0">
                <a:latin typeface="Consolas" pitchFamily="49" charset="0"/>
              </a:rPr>
              <a:t> destination = </a:t>
            </a:r>
            <a:r>
              <a:rPr lang="en-US" sz="1600" dirty="0" err="1" smtClean="0">
                <a:latin typeface="Consolas" pitchFamily="49" charset="0"/>
              </a:rPr>
              <a:t>document.querySelector</a:t>
            </a:r>
            <a:r>
              <a:rPr lang="en-US" sz="1600" dirty="0" smtClean="0">
                <a:latin typeface="Consolas" pitchFamily="49" charset="0"/>
              </a:rPr>
              <a:t>("#container");</a:t>
            </a:r>
          </a:p>
          <a:p>
            <a:r>
              <a:rPr lang="en-US" sz="1600" dirty="0" smtClean="0">
                <a:latin typeface="Consolas" pitchFamily="49" charset="0"/>
              </a:rPr>
              <a:t>        </a:t>
            </a:r>
            <a:r>
              <a:rPr lang="en-US" sz="1600" dirty="0" err="1" smtClean="0">
                <a:latin typeface="Consolas" pitchFamily="49" charset="0"/>
              </a:rPr>
              <a:t>ReactDOM.render</a:t>
            </a:r>
            <a:r>
              <a:rPr lang="en-US" sz="1600" dirty="0" smtClean="0">
                <a:latin typeface="Consolas" pitchFamily="49" charset="0"/>
              </a:rPr>
              <a:t>(</a:t>
            </a:r>
          </a:p>
          <a:p>
            <a:r>
              <a:rPr lang="en-US" sz="1600" dirty="0" smtClean="0">
                <a:latin typeface="Consolas" pitchFamily="49" charset="0"/>
              </a:rPr>
              <a:t>            &lt;</a:t>
            </a:r>
            <a:r>
              <a:rPr lang="en-US" sz="1600" dirty="0" err="1" smtClean="0">
                <a:latin typeface="Consolas" pitchFamily="49" charset="0"/>
              </a:rPr>
              <a:t>HelloWorld</a:t>
            </a:r>
            <a:r>
              <a:rPr lang="en-US" sz="1600" dirty="0" smtClean="0">
                <a:latin typeface="Consolas" pitchFamily="49" charset="0"/>
              </a:rPr>
              <a:t> </a:t>
            </a:r>
            <a:r>
              <a:rPr lang="en-US" sz="1600" dirty="0" err="1" smtClean="0">
                <a:latin typeface="Consolas" pitchFamily="49" charset="0"/>
              </a:rPr>
              <a:t>greetTarget</a:t>
            </a:r>
            <a:r>
              <a:rPr lang="en-US" sz="1600" dirty="0" smtClean="0">
                <a:latin typeface="Consolas" pitchFamily="49" charset="0"/>
              </a:rPr>
              <a:t>="Property" /&gt;,</a:t>
            </a:r>
          </a:p>
          <a:p>
            <a:r>
              <a:rPr lang="en-US" sz="1600" dirty="0" smtClean="0">
                <a:latin typeface="Consolas" pitchFamily="49" charset="0"/>
              </a:rPr>
              <a:t>            destination</a:t>
            </a:r>
          </a:p>
          <a:p>
            <a:r>
              <a:rPr lang="en-US" sz="1600" dirty="0" smtClean="0">
                <a:latin typeface="Consolas" pitchFamily="49" charset="0"/>
              </a:rPr>
              <a:t>        );</a:t>
            </a:r>
          </a:p>
          <a:p>
            <a:r>
              <a:rPr lang="en-US" sz="1600" dirty="0" smtClean="0">
                <a:latin typeface="Consolas" pitchFamily="49" charset="0"/>
              </a:rPr>
              <a:t>    &lt;/script&gt;</a:t>
            </a:r>
          </a:p>
          <a:p>
            <a:r>
              <a:rPr lang="en-US" sz="1600" dirty="0" smtClean="0">
                <a:latin typeface="Consolas" pitchFamily="49" charset="0"/>
              </a:rPr>
              <a:t>&lt;/body&gt;</a:t>
            </a:r>
            <a:endParaRPr lang="en-US" sz="1600" dirty="0">
              <a:latin typeface="Consolas" pitchFamily="49" charset="0"/>
            </a:endParaRPr>
          </a:p>
        </p:txBody>
      </p:sp>
      <p:pic>
        <p:nvPicPr>
          <p:cNvPr id="6146" name="Picture 2"/>
          <p:cNvPicPr>
            <a:picLocks noChangeAspect="1" noChangeArrowheads="1"/>
          </p:cNvPicPr>
          <p:nvPr/>
        </p:nvPicPr>
        <p:blipFill>
          <a:blip r:embed="rId2" cstate="print"/>
          <a:srcRect/>
          <a:stretch>
            <a:fillRect/>
          </a:stretch>
        </p:blipFill>
        <p:spPr bwMode="auto">
          <a:xfrm>
            <a:off x="4876800" y="5257800"/>
            <a:ext cx="3289300" cy="628650"/>
          </a:xfrm>
          <a:prstGeom prst="rect">
            <a:avLst/>
          </a:prstGeom>
          <a:noFill/>
          <a:ln w="9525">
            <a:noFill/>
            <a:miter lim="800000"/>
            <a:headEnd/>
            <a:tailEnd/>
          </a:ln>
        </p:spPr>
      </p:pic>
      <p:sp>
        <p:nvSpPr>
          <p:cNvPr id="6" name="Rectangle 5"/>
          <p:cNvSpPr/>
          <p:nvPr/>
        </p:nvSpPr>
        <p:spPr>
          <a:xfrm>
            <a:off x="2667000" y="3352800"/>
            <a:ext cx="6172200" cy="646331"/>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r>
              <a:rPr lang="en-US" i="1" dirty="0" smtClean="0"/>
              <a:t>In JSX, if you want something to get evaluated as an expression, you need to wrap that something inside curly brackets.</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latin typeface="Consolas" pitchFamily="49" charset="0"/>
              </a:rPr>
              <a:t>props.children</a:t>
            </a:r>
            <a:endParaRPr lang="en-US" dirty="0">
              <a:latin typeface="Consolas" pitchFamily="49" charset="0"/>
            </a:endParaRPr>
          </a:p>
        </p:txBody>
      </p:sp>
      <p:sp>
        <p:nvSpPr>
          <p:cNvPr id="3" name="Content Placeholder 2"/>
          <p:cNvSpPr>
            <a:spLocks noGrp="1"/>
          </p:cNvSpPr>
          <p:nvPr>
            <p:ph idx="1"/>
          </p:nvPr>
        </p:nvSpPr>
        <p:spPr/>
        <p:txBody>
          <a:bodyPr/>
          <a:lstStyle/>
          <a:p>
            <a:r>
              <a:rPr lang="en-US" sz="2400" dirty="0" smtClean="0"/>
              <a:t>In JSX expressions, the content between an opening and closing tag is passed as a unique prop called children.</a:t>
            </a:r>
            <a:endParaRPr lang="en-US" sz="2400" dirty="0" smtClean="0"/>
          </a:p>
          <a:p>
            <a:r>
              <a:rPr lang="en-US" sz="2400" dirty="0" smtClean="0"/>
              <a:t>Why use </a:t>
            </a:r>
            <a:r>
              <a:rPr lang="en-US" sz="2400" dirty="0" err="1" smtClean="0">
                <a:latin typeface="Consolas" pitchFamily="49" charset="0"/>
              </a:rPr>
              <a:t>props.children</a:t>
            </a:r>
            <a:r>
              <a:rPr lang="en-US" sz="2400" dirty="0" smtClean="0">
                <a:latin typeface="Consolas" pitchFamily="49" charset="0"/>
              </a:rPr>
              <a:t>? </a:t>
            </a:r>
            <a:r>
              <a:rPr lang="en-US" sz="2400" dirty="0" smtClean="0"/>
              <a:t>Some </a:t>
            </a:r>
            <a:r>
              <a:rPr lang="en-US" sz="2400" dirty="0" smtClean="0"/>
              <a:t>components don't know their children ahead of time.</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Access Component Children</a:t>
            </a:r>
            <a:endParaRPr lang="en-US" dirty="0"/>
          </a:p>
        </p:txBody>
      </p:sp>
      <p:sp>
        <p:nvSpPr>
          <p:cNvPr id="4" name="Rectangle 3"/>
          <p:cNvSpPr/>
          <p:nvPr/>
        </p:nvSpPr>
        <p:spPr>
          <a:xfrm>
            <a:off x="533400" y="1447800"/>
            <a:ext cx="8153400" cy="4832092"/>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400" dirty="0" smtClean="0">
                <a:latin typeface="Consolas" pitchFamily="49" charset="0"/>
              </a:rPr>
              <a:t>&lt;body&gt;</a:t>
            </a:r>
          </a:p>
          <a:p>
            <a:r>
              <a:rPr lang="en-US" sz="1400" dirty="0" smtClean="0">
                <a:latin typeface="Consolas" pitchFamily="49" charset="0"/>
              </a:rPr>
              <a:t>    &lt;div id="container"&gt;&lt;/div&gt;</a:t>
            </a:r>
          </a:p>
          <a:p>
            <a:r>
              <a:rPr lang="en-US" sz="1400" dirty="0" smtClean="0">
                <a:latin typeface="Consolas" pitchFamily="49" charset="0"/>
              </a:rPr>
              <a:t>    &lt;script type="text/</a:t>
            </a:r>
            <a:r>
              <a:rPr lang="en-US" sz="1400" dirty="0" err="1" smtClean="0">
                <a:latin typeface="Consolas" pitchFamily="49" charset="0"/>
              </a:rPr>
              <a:t>babel</a:t>
            </a:r>
            <a:r>
              <a:rPr lang="en-US" sz="1400" dirty="0" smtClean="0">
                <a:latin typeface="Consolas" pitchFamily="49" charset="0"/>
              </a:rPr>
              <a:t>"&gt;</a:t>
            </a:r>
          </a:p>
          <a:p>
            <a:r>
              <a:rPr lang="en-US" sz="1400" dirty="0" smtClean="0">
                <a:latin typeface="Consolas" pitchFamily="49" charset="0"/>
              </a:rPr>
              <a:t>        class </a:t>
            </a:r>
            <a:r>
              <a:rPr lang="en-US" sz="1400" dirty="0" err="1" smtClean="0">
                <a:latin typeface="Consolas" pitchFamily="49" charset="0"/>
              </a:rPr>
              <a:t>Buttonify</a:t>
            </a:r>
            <a:r>
              <a:rPr lang="en-US" sz="1400" dirty="0" smtClean="0">
                <a:latin typeface="Consolas" pitchFamily="49" charset="0"/>
              </a:rPr>
              <a:t> extends </a:t>
            </a:r>
            <a:r>
              <a:rPr lang="en-US" sz="1400" dirty="0" err="1" smtClean="0">
                <a:latin typeface="Consolas" pitchFamily="49" charset="0"/>
              </a:rPr>
              <a:t>React.Component</a:t>
            </a:r>
            <a:r>
              <a:rPr lang="en-US" sz="1400" dirty="0" smtClean="0">
                <a:latin typeface="Consolas" pitchFamily="49" charset="0"/>
              </a:rPr>
              <a:t> {</a:t>
            </a:r>
          </a:p>
          <a:p>
            <a:r>
              <a:rPr lang="en-US" sz="1400" dirty="0" smtClean="0">
                <a:latin typeface="Consolas" pitchFamily="49" charset="0"/>
              </a:rPr>
              <a:t>            render() {</a:t>
            </a:r>
          </a:p>
          <a:p>
            <a:r>
              <a:rPr lang="en-US" sz="1400" dirty="0" smtClean="0">
                <a:latin typeface="Consolas" pitchFamily="49" charset="0"/>
              </a:rPr>
              <a:t>                return (</a:t>
            </a:r>
          </a:p>
          <a:p>
            <a:r>
              <a:rPr lang="en-US" sz="1400" dirty="0" smtClean="0">
                <a:latin typeface="Consolas" pitchFamily="49" charset="0"/>
              </a:rPr>
              <a:t>                    &lt;div&gt;</a:t>
            </a:r>
          </a:p>
          <a:p>
            <a:r>
              <a:rPr lang="en-US" sz="1400" dirty="0" smtClean="0">
                <a:latin typeface="Consolas" pitchFamily="49" charset="0"/>
              </a:rPr>
              <a:t>                        &lt;button type={</a:t>
            </a:r>
            <a:r>
              <a:rPr lang="en-US" sz="1400" dirty="0" err="1" smtClean="0">
                <a:latin typeface="Consolas" pitchFamily="49" charset="0"/>
              </a:rPr>
              <a:t>this.props.behavior</a:t>
            </a:r>
            <a:r>
              <a:rPr lang="en-US" sz="1400" dirty="0" smtClean="0">
                <a:latin typeface="Consolas" pitchFamily="49" charset="0"/>
              </a:rPr>
              <a:t>}&gt;</a:t>
            </a:r>
          </a:p>
          <a:p>
            <a:r>
              <a:rPr lang="en-US" sz="1400" dirty="0" smtClean="0">
                <a:latin typeface="Consolas" pitchFamily="49" charset="0"/>
              </a:rPr>
              <a:t>                            </a:t>
            </a:r>
            <a:r>
              <a:rPr lang="en-US" sz="1400" b="1" dirty="0" smtClean="0">
                <a:solidFill>
                  <a:srgbClr val="C00000"/>
                </a:solidFill>
                <a:latin typeface="Consolas" pitchFamily="49" charset="0"/>
              </a:rPr>
              <a:t>{</a:t>
            </a:r>
            <a:r>
              <a:rPr lang="en-US" sz="1400" b="1" dirty="0" err="1" smtClean="0">
                <a:solidFill>
                  <a:srgbClr val="C00000"/>
                </a:solidFill>
                <a:latin typeface="Consolas" pitchFamily="49" charset="0"/>
              </a:rPr>
              <a:t>this.props.children</a:t>
            </a:r>
            <a:r>
              <a:rPr lang="en-US" sz="1400" b="1" dirty="0" smtClean="0">
                <a:solidFill>
                  <a:srgbClr val="C00000"/>
                </a:solidFill>
                <a:latin typeface="Consolas" pitchFamily="49" charset="0"/>
              </a:rPr>
              <a:t>}</a:t>
            </a:r>
          </a:p>
          <a:p>
            <a:r>
              <a:rPr lang="en-US" sz="1400" dirty="0" smtClean="0">
                <a:latin typeface="Consolas" pitchFamily="49" charset="0"/>
              </a:rPr>
              <a:t>                        &lt;/button&gt;</a:t>
            </a:r>
          </a:p>
          <a:p>
            <a:r>
              <a:rPr lang="en-US" sz="1400" dirty="0" smtClean="0">
                <a:latin typeface="Consolas" pitchFamily="49" charset="0"/>
              </a:rPr>
              <a:t>                    &lt;/div&gt;</a:t>
            </a:r>
          </a:p>
          <a:p>
            <a:r>
              <a:rPr lang="en-US" sz="1400" dirty="0" smtClean="0">
                <a:latin typeface="Consolas" pitchFamily="49" charset="0"/>
              </a:rPr>
              <a:t>                )</a:t>
            </a:r>
          </a:p>
          <a:p>
            <a:r>
              <a:rPr lang="en-US" sz="1400" dirty="0" smtClean="0">
                <a:latin typeface="Consolas" pitchFamily="49" charset="0"/>
              </a:rPr>
              <a:t>            }</a:t>
            </a:r>
          </a:p>
          <a:p>
            <a:r>
              <a:rPr lang="en-US" sz="1400" dirty="0" smtClean="0">
                <a:latin typeface="Consolas" pitchFamily="49" charset="0"/>
              </a:rPr>
              <a:t>        }</a:t>
            </a:r>
          </a:p>
          <a:p>
            <a:endParaRPr lang="en-US" sz="1400" dirty="0" smtClean="0">
              <a:latin typeface="Consolas" pitchFamily="49" charset="0"/>
            </a:endParaRPr>
          </a:p>
          <a:p>
            <a:r>
              <a:rPr lang="en-US" sz="1400" dirty="0" smtClean="0">
                <a:latin typeface="Consolas" pitchFamily="49" charset="0"/>
              </a:rPr>
              <a:t>        </a:t>
            </a:r>
            <a:r>
              <a:rPr lang="en-US" sz="1400" dirty="0" err="1" smtClean="0">
                <a:latin typeface="Consolas" pitchFamily="49" charset="0"/>
              </a:rPr>
              <a:t>var</a:t>
            </a:r>
            <a:r>
              <a:rPr lang="en-US" sz="1400" dirty="0" smtClean="0">
                <a:latin typeface="Consolas" pitchFamily="49" charset="0"/>
              </a:rPr>
              <a:t> destination = </a:t>
            </a:r>
            <a:r>
              <a:rPr lang="en-US" sz="1400" dirty="0" err="1" smtClean="0">
                <a:latin typeface="Consolas" pitchFamily="49" charset="0"/>
              </a:rPr>
              <a:t>document.querySelector</a:t>
            </a:r>
            <a:r>
              <a:rPr lang="en-US" sz="1400" dirty="0" smtClean="0">
                <a:latin typeface="Consolas" pitchFamily="49" charset="0"/>
              </a:rPr>
              <a:t>("#container");</a:t>
            </a:r>
          </a:p>
          <a:p>
            <a:r>
              <a:rPr lang="en-US" sz="1400" dirty="0" smtClean="0">
                <a:latin typeface="Consolas" pitchFamily="49" charset="0"/>
              </a:rPr>
              <a:t>        </a:t>
            </a:r>
            <a:r>
              <a:rPr lang="en-US" sz="1400" dirty="0" err="1" smtClean="0">
                <a:latin typeface="Consolas" pitchFamily="49" charset="0"/>
              </a:rPr>
              <a:t>ReactDOM.render</a:t>
            </a:r>
            <a:r>
              <a:rPr lang="en-US" sz="1400" dirty="0" smtClean="0">
                <a:latin typeface="Consolas" pitchFamily="49" charset="0"/>
              </a:rPr>
              <a:t>(</a:t>
            </a:r>
          </a:p>
          <a:p>
            <a:r>
              <a:rPr lang="en-US" sz="1400" dirty="0" smtClean="0">
                <a:latin typeface="Consolas" pitchFamily="49" charset="0"/>
              </a:rPr>
              <a:t>            &lt;</a:t>
            </a:r>
            <a:r>
              <a:rPr lang="en-US" sz="1400" dirty="0" err="1" smtClean="0">
                <a:latin typeface="Consolas" pitchFamily="49" charset="0"/>
              </a:rPr>
              <a:t>Buttonify</a:t>
            </a:r>
            <a:r>
              <a:rPr lang="en-US" sz="1400" dirty="0" smtClean="0">
                <a:latin typeface="Consolas" pitchFamily="49" charset="0"/>
              </a:rPr>
              <a:t> behavior="Submit"&gt;</a:t>
            </a:r>
            <a:r>
              <a:rPr lang="en-US" sz="1400" b="1" dirty="0" smtClean="0">
                <a:solidFill>
                  <a:srgbClr val="C00000"/>
                </a:solidFill>
                <a:latin typeface="Consolas" pitchFamily="49" charset="0"/>
              </a:rPr>
              <a:t>SEND DATA</a:t>
            </a:r>
            <a:r>
              <a:rPr lang="en-US" sz="1400" dirty="0" smtClean="0">
                <a:latin typeface="Consolas" pitchFamily="49" charset="0"/>
              </a:rPr>
              <a:t>&lt;/</a:t>
            </a:r>
            <a:r>
              <a:rPr lang="en-US" sz="1400" dirty="0" err="1" smtClean="0">
                <a:latin typeface="Consolas" pitchFamily="49" charset="0"/>
              </a:rPr>
              <a:t>Buttonify</a:t>
            </a:r>
            <a:r>
              <a:rPr lang="en-US" sz="1400" dirty="0" smtClean="0">
                <a:latin typeface="Consolas" pitchFamily="49" charset="0"/>
              </a:rPr>
              <a:t>&gt;,</a:t>
            </a:r>
          </a:p>
          <a:p>
            <a:r>
              <a:rPr lang="en-US" sz="1400" dirty="0" smtClean="0">
                <a:latin typeface="Consolas" pitchFamily="49" charset="0"/>
              </a:rPr>
              <a:t>            destination</a:t>
            </a:r>
          </a:p>
          <a:p>
            <a:r>
              <a:rPr lang="en-US" sz="1400" dirty="0" smtClean="0">
                <a:latin typeface="Consolas" pitchFamily="49" charset="0"/>
              </a:rPr>
              <a:t>        );</a:t>
            </a:r>
          </a:p>
          <a:p>
            <a:r>
              <a:rPr lang="en-US" sz="1400" dirty="0" smtClean="0">
                <a:latin typeface="Consolas" pitchFamily="49" charset="0"/>
              </a:rPr>
              <a:t>    &lt;/script&gt;</a:t>
            </a:r>
          </a:p>
          <a:p>
            <a:r>
              <a:rPr lang="en-US" sz="1400" dirty="0" smtClean="0">
                <a:latin typeface="Consolas" pitchFamily="49" charset="0"/>
              </a:rPr>
              <a:t>&lt;/body&gt;</a:t>
            </a:r>
            <a:endParaRPr lang="en-US" sz="1400" dirty="0">
              <a:latin typeface="Consolas" pitchFamily="49" charset="0"/>
            </a:endParaRPr>
          </a:p>
        </p:txBody>
      </p:sp>
      <p:pic>
        <p:nvPicPr>
          <p:cNvPr id="7171" name="Picture 3"/>
          <p:cNvPicPr>
            <a:picLocks noChangeAspect="1" noChangeArrowheads="1"/>
          </p:cNvPicPr>
          <p:nvPr/>
        </p:nvPicPr>
        <p:blipFill>
          <a:blip r:embed="rId2" cstate="print"/>
          <a:srcRect/>
          <a:stretch>
            <a:fillRect/>
          </a:stretch>
        </p:blipFill>
        <p:spPr bwMode="auto">
          <a:xfrm>
            <a:off x="4648200" y="3733800"/>
            <a:ext cx="2686050" cy="62865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Use Children for Styling</a:t>
            </a:r>
            <a:endParaRPr lang="en-US" dirty="0"/>
          </a:p>
        </p:txBody>
      </p:sp>
      <p:sp>
        <p:nvSpPr>
          <p:cNvPr id="4" name="Rectangle 3"/>
          <p:cNvSpPr/>
          <p:nvPr/>
        </p:nvSpPr>
        <p:spPr>
          <a:xfrm>
            <a:off x="533400" y="1447800"/>
            <a:ext cx="8153400" cy="4770537"/>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dirty="0" smtClean="0">
                <a:latin typeface="Consolas" pitchFamily="49" charset="0"/>
              </a:rPr>
              <a:t>&lt;body&gt;</a:t>
            </a:r>
          </a:p>
          <a:p>
            <a:r>
              <a:rPr lang="en-US" sz="1600" dirty="0" smtClean="0">
                <a:latin typeface="Consolas" pitchFamily="49" charset="0"/>
              </a:rPr>
              <a:t>    &lt;div id="container"&gt;&lt;/div&gt;</a:t>
            </a:r>
          </a:p>
          <a:p>
            <a:r>
              <a:rPr lang="en-US" sz="1600" dirty="0" smtClean="0">
                <a:latin typeface="Consolas" pitchFamily="49" charset="0"/>
              </a:rPr>
              <a:t>    &lt;script type="text/</a:t>
            </a:r>
            <a:r>
              <a:rPr lang="en-US" sz="1600" dirty="0" err="1" smtClean="0">
                <a:latin typeface="Consolas" pitchFamily="49" charset="0"/>
              </a:rPr>
              <a:t>babel</a:t>
            </a:r>
            <a:r>
              <a:rPr lang="en-US" sz="1600" dirty="0" smtClean="0">
                <a:latin typeface="Consolas" pitchFamily="49" charset="0"/>
              </a:rPr>
              <a:t>"&gt;</a:t>
            </a:r>
          </a:p>
          <a:p>
            <a:r>
              <a:rPr lang="en-US" sz="1600" dirty="0" smtClean="0">
                <a:latin typeface="Consolas" pitchFamily="49" charset="0"/>
              </a:rPr>
              <a:t>        class Letter extends </a:t>
            </a:r>
            <a:r>
              <a:rPr lang="en-US" sz="1600" dirty="0" err="1" smtClean="0">
                <a:latin typeface="Consolas" pitchFamily="49" charset="0"/>
              </a:rPr>
              <a:t>React.Component</a:t>
            </a:r>
            <a:r>
              <a:rPr lang="en-US" sz="1600" dirty="0" smtClean="0">
                <a:latin typeface="Consolas" pitchFamily="49" charset="0"/>
              </a:rPr>
              <a:t> {</a:t>
            </a:r>
          </a:p>
          <a:p>
            <a:r>
              <a:rPr lang="en-US" sz="1600" dirty="0" smtClean="0">
                <a:latin typeface="Consolas" pitchFamily="49" charset="0"/>
              </a:rPr>
              <a:t>            render() {</a:t>
            </a:r>
          </a:p>
          <a:p>
            <a:r>
              <a:rPr lang="en-US" sz="1600" dirty="0" smtClean="0">
                <a:latin typeface="Consolas" pitchFamily="49" charset="0"/>
              </a:rPr>
              <a:t>                return (</a:t>
            </a:r>
          </a:p>
          <a:p>
            <a:r>
              <a:rPr lang="en-US" sz="1600" dirty="0" smtClean="0">
                <a:latin typeface="Consolas" pitchFamily="49" charset="0"/>
              </a:rPr>
              <a:t>                    &lt;div </a:t>
            </a:r>
            <a:r>
              <a:rPr lang="en-US" sz="1600" dirty="0" err="1" smtClean="0">
                <a:latin typeface="Consolas" pitchFamily="49" charset="0"/>
              </a:rPr>
              <a:t>className</a:t>
            </a:r>
            <a:r>
              <a:rPr lang="en-US" sz="1600" dirty="0" smtClean="0">
                <a:latin typeface="Consolas" pitchFamily="49" charset="0"/>
              </a:rPr>
              <a:t>="letter"&gt;</a:t>
            </a:r>
          </a:p>
          <a:p>
            <a:r>
              <a:rPr lang="en-US" sz="1600" dirty="0" smtClean="0">
                <a:latin typeface="Consolas" pitchFamily="49" charset="0"/>
              </a:rPr>
              <a:t>                        </a:t>
            </a:r>
            <a:r>
              <a:rPr lang="en-US" sz="1600" b="1" dirty="0" smtClean="0">
                <a:solidFill>
                  <a:srgbClr val="C00000"/>
                </a:solidFill>
                <a:latin typeface="Consolas" pitchFamily="49" charset="0"/>
              </a:rPr>
              <a:t>{</a:t>
            </a:r>
            <a:r>
              <a:rPr lang="en-US" sz="1600" b="1" dirty="0" err="1" smtClean="0">
                <a:solidFill>
                  <a:srgbClr val="C00000"/>
                </a:solidFill>
                <a:latin typeface="Consolas" pitchFamily="49" charset="0"/>
              </a:rPr>
              <a:t>this.props.children</a:t>
            </a:r>
            <a:r>
              <a:rPr lang="en-US" sz="1600" b="1" dirty="0" smtClean="0">
                <a:solidFill>
                  <a:srgbClr val="C00000"/>
                </a:solidFill>
                <a:latin typeface="Consolas" pitchFamily="49" charset="0"/>
              </a:rPr>
              <a:t>}</a:t>
            </a:r>
          </a:p>
          <a:p>
            <a:r>
              <a:rPr lang="en-US" sz="1600" dirty="0" smtClean="0">
                <a:latin typeface="Consolas" pitchFamily="49" charset="0"/>
              </a:rPr>
              <a:t>                    &lt;/div&gt;</a:t>
            </a:r>
          </a:p>
          <a:p>
            <a:r>
              <a:rPr lang="en-US" sz="1600" dirty="0" smtClean="0">
                <a:latin typeface="Consolas" pitchFamily="49" charset="0"/>
              </a:rPr>
              <a:t>                )</a:t>
            </a:r>
          </a:p>
          <a:p>
            <a:r>
              <a:rPr lang="en-US" sz="1600" dirty="0" smtClean="0">
                <a:latin typeface="Consolas" pitchFamily="49" charset="0"/>
              </a:rPr>
              <a:t>            }</a:t>
            </a:r>
          </a:p>
          <a:p>
            <a:r>
              <a:rPr lang="en-US" sz="1600" dirty="0" smtClean="0">
                <a:latin typeface="Consolas" pitchFamily="49" charset="0"/>
              </a:rPr>
              <a:t>        }</a:t>
            </a:r>
          </a:p>
          <a:p>
            <a:endParaRPr lang="en-US" sz="1600" dirty="0" smtClean="0">
              <a:latin typeface="Consolas" pitchFamily="49" charset="0"/>
            </a:endParaRPr>
          </a:p>
          <a:p>
            <a:r>
              <a:rPr lang="en-US" sz="1600" dirty="0" smtClean="0">
                <a:latin typeface="Consolas" pitchFamily="49" charset="0"/>
              </a:rPr>
              <a:t>        </a:t>
            </a:r>
            <a:r>
              <a:rPr lang="en-US" sz="1600" dirty="0" err="1" smtClean="0">
                <a:latin typeface="Consolas" pitchFamily="49" charset="0"/>
              </a:rPr>
              <a:t>var</a:t>
            </a:r>
            <a:r>
              <a:rPr lang="en-US" sz="1600" dirty="0" smtClean="0">
                <a:latin typeface="Consolas" pitchFamily="49" charset="0"/>
              </a:rPr>
              <a:t> destination = </a:t>
            </a:r>
            <a:r>
              <a:rPr lang="en-US" sz="1600" dirty="0" err="1" smtClean="0">
                <a:latin typeface="Consolas" pitchFamily="49" charset="0"/>
              </a:rPr>
              <a:t>document.querySelector</a:t>
            </a:r>
            <a:r>
              <a:rPr lang="en-US" sz="1600" dirty="0" smtClean="0">
                <a:latin typeface="Consolas" pitchFamily="49" charset="0"/>
              </a:rPr>
              <a:t>("#container");</a:t>
            </a:r>
          </a:p>
          <a:p>
            <a:r>
              <a:rPr lang="en-US" sz="1600" dirty="0" smtClean="0">
                <a:latin typeface="Consolas" pitchFamily="49" charset="0"/>
              </a:rPr>
              <a:t>        </a:t>
            </a:r>
            <a:r>
              <a:rPr lang="en-US" sz="1600" dirty="0" err="1" smtClean="0">
                <a:latin typeface="Consolas" pitchFamily="49" charset="0"/>
              </a:rPr>
              <a:t>ReactDOM.render</a:t>
            </a:r>
            <a:r>
              <a:rPr lang="en-US" sz="1600" dirty="0" smtClean="0">
                <a:latin typeface="Consolas" pitchFamily="49" charset="0"/>
              </a:rPr>
              <a:t>(</a:t>
            </a:r>
          </a:p>
          <a:p>
            <a:r>
              <a:rPr lang="en-US" sz="1600" dirty="0" smtClean="0">
                <a:latin typeface="Consolas" pitchFamily="49" charset="0"/>
              </a:rPr>
              <a:t>            &lt;div&gt;</a:t>
            </a:r>
          </a:p>
          <a:p>
            <a:r>
              <a:rPr lang="en-US" sz="1600" dirty="0" smtClean="0">
                <a:latin typeface="Consolas" pitchFamily="49" charset="0"/>
              </a:rPr>
              <a:t>                &lt;Letter&gt;</a:t>
            </a:r>
            <a:r>
              <a:rPr lang="en-US" sz="1600" b="1" dirty="0" smtClean="0">
                <a:solidFill>
                  <a:srgbClr val="C00000"/>
                </a:solidFill>
                <a:latin typeface="Consolas" pitchFamily="49" charset="0"/>
              </a:rPr>
              <a:t>A</a:t>
            </a:r>
            <a:r>
              <a:rPr lang="en-US" sz="1600" dirty="0" smtClean="0">
                <a:latin typeface="Consolas" pitchFamily="49" charset="0"/>
              </a:rPr>
              <a:t>&lt;/Letter&gt;</a:t>
            </a:r>
          </a:p>
          <a:p>
            <a:r>
              <a:rPr lang="en-US" sz="1600" dirty="0" smtClean="0">
                <a:latin typeface="Consolas" pitchFamily="49" charset="0"/>
              </a:rPr>
              <a:t>                &lt;Letter&gt;</a:t>
            </a:r>
            <a:r>
              <a:rPr lang="en-US" sz="1600" b="1" dirty="0" smtClean="0">
                <a:solidFill>
                  <a:srgbClr val="C00000"/>
                </a:solidFill>
                <a:latin typeface="Consolas" pitchFamily="49" charset="0"/>
              </a:rPr>
              <a:t>E</a:t>
            </a:r>
            <a:r>
              <a:rPr lang="en-US" sz="1600" dirty="0" smtClean="0">
                <a:latin typeface="Consolas" pitchFamily="49" charset="0"/>
              </a:rPr>
              <a:t>&lt;/Letter&gt;</a:t>
            </a:r>
          </a:p>
          <a:p>
            <a:r>
              <a:rPr lang="en-US" sz="1600" b="1" dirty="0" smtClean="0">
                <a:solidFill>
                  <a:srgbClr val="C00000"/>
                </a:solidFill>
                <a:latin typeface="Consolas" pitchFamily="49" charset="0"/>
              </a:rPr>
              <a:t>...</a:t>
            </a:r>
          </a:p>
        </p:txBody>
      </p:sp>
      <p:pic>
        <p:nvPicPr>
          <p:cNvPr id="1026" name="Picture 2"/>
          <p:cNvPicPr>
            <a:picLocks noChangeAspect="1" noChangeArrowheads="1"/>
          </p:cNvPicPr>
          <p:nvPr/>
        </p:nvPicPr>
        <p:blipFill>
          <a:blip r:embed="rId2" cstate="print"/>
          <a:srcRect/>
          <a:stretch>
            <a:fillRect/>
          </a:stretch>
        </p:blipFill>
        <p:spPr bwMode="auto">
          <a:xfrm>
            <a:off x="5105400" y="5486400"/>
            <a:ext cx="3268980" cy="74295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6. Create Style as Object</a:t>
            </a:r>
            <a:endParaRPr lang="en-US" dirty="0"/>
          </a:p>
        </p:txBody>
      </p:sp>
      <p:sp>
        <p:nvSpPr>
          <p:cNvPr id="4" name="Rectangle 3"/>
          <p:cNvSpPr/>
          <p:nvPr/>
        </p:nvSpPr>
        <p:spPr>
          <a:xfrm>
            <a:off x="533400" y="1371600"/>
            <a:ext cx="8153400" cy="5262979"/>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b="1" dirty="0" smtClean="0">
                <a:solidFill>
                  <a:srgbClr val="C00000"/>
                </a:solidFill>
                <a:latin typeface="Consolas" pitchFamily="49" charset="0"/>
              </a:rPr>
              <a:t>...</a:t>
            </a:r>
          </a:p>
          <a:p>
            <a:r>
              <a:rPr lang="en-US" sz="1600" dirty="0" smtClean="0">
                <a:latin typeface="Consolas" pitchFamily="49" charset="0"/>
              </a:rPr>
              <a:t> class Letter extends </a:t>
            </a:r>
            <a:r>
              <a:rPr lang="en-US" sz="1600" dirty="0" err="1" smtClean="0">
                <a:latin typeface="Consolas" pitchFamily="49" charset="0"/>
              </a:rPr>
              <a:t>React.Component</a:t>
            </a:r>
            <a:r>
              <a:rPr lang="en-US" sz="1600" dirty="0" smtClean="0">
                <a:latin typeface="Consolas" pitchFamily="49" charset="0"/>
              </a:rPr>
              <a:t> {</a:t>
            </a:r>
          </a:p>
          <a:p>
            <a:r>
              <a:rPr lang="en-US" sz="1600" dirty="0" smtClean="0">
                <a:latin typeface="Consolas" pitchFamily="49" charset="0"/>
              </a:rPr>
              <a:t>            render() {</a:t>
            </a:r>
          </a:p>
          <a:p>
            <a:r>
              <a:rPr lang="en-US" sz="1600" dirty="0" smtClean="0">
                <a:latin typeface="Consolas" pitchFamily="49" charset="0"/>
              </a:rPr>
              <a:t>                    </a:t>
            </a:r>
            <a:r>
              <a:rPr lang="en-US" sz="1600" dirty="0" err="1" smtClean="0">
                <a:latin typeface="Consolas" pitchFamily="49" charset="0"/>
              </a:rPr>
              <a:t>var</a:t>
            </a:r>
            <a:r>
              <a:rPr lang="en-US" sz="1600" dirty="0" smtClean="0">
                <a:latin typeface="Consolas" pitchFamily="49" charset="0"/>
              </a:rPr>
              <a:t> </a:t>
            </a:r>
            <a:r>
              <a:rPr lang="en-US" sz="1600" dirty="0" err="1" smtClean="0">
                <a:latin typeface="Consolas" pitchFamily="49" charset="0"/>
              </a:rPr>
              <a:t>letterStyle</a:t>
            </a:r>
            <a:r>
              <a:rPr lang="en-US" sz="1600" dirty="0" smtClean="0">
                <a:latin typeface="Consolas" pitchFamily="49" charset="0"/>
              </a:rPr>
              <a:t> = {</a:t>
            </a:r>
          </a:p>
          <a:p>
            <a:r>
              <a:rPr lang="en-US" sz="1600" dirty="0" smtClean="0">
                <a:latin typeface="Consolas" pitchFamily="49" charset="0"/>
              </a:rPr>
              <a:t>                    padding: 10,</a:t>
            </a:r>
          </a:p>
          <a:p>
            <a:r>
              <a:rPr lang="en-US" sz="1600" dirty="0" smtClean="0">
                <a:latin typeface="Consolas" pitchFamily="49" charset="0"/>
              </a:rPr>
              <a:t>                    margin: 10,</a:t>
            </a:r>
          </a:p>
          <a:p>
            <a:r>
              <a:rPr lang="en-US" sz="1600" dirty="0" smtClean="0">
                <a:latin typeface="Consolas" pitchFamily="49" charset="0"/>
              </a:rPr>
              <a:t>                    </a:t>
            </a:r>
            <a:r>
              <a:rPr lang="en-US" sz="1600" dirty="0" err="1" smtClean="0">
                <a:latin typeface="Consolas" pitchFamily="49" charset="0"/>
              </a:rPr>
              <a:t>backgroundColor</a:t>
            </a:r>
            <a:r>
              <a:rPr lang="en-US" sz="1600" dirty="0" smtClean="0">
                <a:latin typeface="Consolas" pitchFamily="49" charset="0"/>
              </a:rPr>
              <a:t>: "#ffde00",</a:t>
            </a:r>
          </a:p>
          <a:p>
            <a:r>
              <a:rPr lang="en-US" sz="1600" dirty="0" smtClean="0">
                <a:latin typeface="Consolas" pitchFamily="49" charset="0"/>
              </a:rPr>
              <a:t>                    color: "#333",</a:t>
            </a:r>
          </a:p>
          <a:p>
            <a:r>
              <a:rPr lang="en-US" sz="1600" dirty="0" smtClean="0">
                <a:latin typeface="Consolas" pitchFamily="49" charset="0"/>
              </a:rPr>
              <a:t>                    display: "inline-block",</a:t>
            </a:r>
          </a:p>
          <a:p>
            <a:r>
              <a:rPr lang="en-US" sz="1600" dirty="0" smtClean="0">
                <a:latin typeface="Consolas" pitchFamily="49" charset="0"/>
              </a:rPr>
              <a:t>                    </a:t>
            </a:r>
            <a:r>
              <a:rPr lang="en-US" sz="1600" dirty="0" err="1" smtClean="0">
                <a:latin typeface="Consolas" pitchFamily="49" charset="0"/>
              </a:rPr>
              <a:t>fontFamily</a:t>
            </a:r>
            <a:r>
              <a:rPr lang="en-US" sz="1600" dirty="0" smtClean="0">
                <a:latin typeface="Consolas" pitchFamily="49" charset="0"/>
              </a:rPr>
              <a:t>: "</a:t>
            </a:r>
            <a:r>
              <a:rPr lang="en-US" sz="1600" dirty="0" err="1" smtClean="0">
                <a:latin typeface="Consolas" pitchFamily="49" charset="0"/>
              </a:rPr>
              <a:t>monospace</a:t>
            </a:r>
            <a:r>
              <a:rPr lang="en-US" sz="1600" dirty="0" smtClean="0">
                <a:latin typeface="Consolas" pitchFamily="49" charset="0"/>
              </a:rPr>
              <a:t>",</a:t>
            </a:r>
          </a:p>
          <a:p>
            <a:r>
              <a:rPr lang="en-US" sz="1600" dirty="0" smtClean="0">
                <a:latin typeface="Consolas" pitchFamily="49" charset="0"/>
              </a:rPr>
              <a:t>                    </a:t>
            </a:r>
            <a:r>
              <a:rPr lang="en-US" sz="1600" dirty="0" err="1" smtClean="0">
                <a:latin typeface="Consolas" pitchFamily="49" charset="0"/>
              </a:rPr>
              <a:t>fontSize</a:t>
            </a:r>
            <a:r>
              <a:rPr lang="en-US" sz="1600" dirty="0" smtClean="0">
                <a:latin typeface="Consolas" pitchFamily="49" charset="0"/>
              </a:rPr>
              <a:t>: 32,</a:t>
            </a:r>
          </a:p>
          <a:p>
            <a:r>
              <a:rPr lang="en-US" sz="1600" dirty="0" smtClean="0">
                <a:latin typeface="Consolas" pitchFamily="49" charset="0"/>
              </a:rPr>
              <a:t>                    </a:t>
            </a:r>
            <a:r>
              <a:rPr lang="en-US" sz="1600" dirty="0" err="1" smtClean="0">
                <a:latin typeface="Consolas" pitchFamily="49" charset="0"/>
              </a:rPr>
              <a:t>textAlign</a:t>
            </a:r>
            <a:r>
              <a:rPr lang="en-US" sz="1600" dirty="0" smtClean="0">
                <a:latin typeface="Consolas" pitchFamily="49" charset="0"/>
              </a:rPr>
              <a:t>: "center"</a:t>
            </a:r>
          </a:p>
          <a:p>
            <a:r>
              <a:rPr lang="en-US" sz="1600" dirty="0" smtClean="0">
                <a:latin typeface="Consolas" pitchFamily="49" charset="0"/>
              </a:rPr>
              <a:t>                };</a:t>
            </a:r>
          </a:p>
          <a:p>
            <a:r>
              <a:rPr lang="en-US" sz="1600" dirty="0" smtClean="0">
                <a:latin typeface="Consolas" pitchFamily="49" charset="0"/>
              </a:rPr>
              <a:t>                return (</a:t>
            </a:r>
          </a:p>
          <a:p>
            <a:r>
              <a:rPr lang="en-US" sz="1600" dirty="0" smtClean="0">
                <a:latin typeface="Consolas" pitchFamily="49" charset="0"/>
              </a:rPr>
              <a:t>                    &lt;div style={</a:t>
            </a:r>
            <a:r>
              <a:rPr lang="en-US" sz="1600" dirty="0" err="1" smtClean="0">
                <a:latin typeface="Consolas" pitchFamily="49" charset="0"/>
              </a:rPr>
              <a:t>letterStyle</a:t>
            </a:r>
            <a:r>
              <a:rPr lang="en-US" sz="1600" dirty="0" smtClean="0">
                <a:latin typeface="Consolas" pitchFamily="49" charset="0"/>
              </a:rPr>
              <a:t>}&gt;</a:t>
            </a:r>
          </a:p>
          <a:p>
            <a:r>
              <a:rPr lang="en-US" sz="1600" dirty="0" smtClean="0">
                <a:latin typeface="Consolas" pitchFamily="49" charset="0"/>
              </a:rPr>
              <a:t>                        {</a:t>
            </a:r>
            <a:r>
              <a:rPr lang="en-US" sz="1600" dirty="0" err="1" smtClean="0">
                <a:latin typeface="Consolas" pitchFamily="49" charset="0"/>
              </a:rPr>
              <a:t>this.props.children</a:t>
            </a:r>
            <a:r>
              <a:rPr lang="en-US" sz="1600" dirty="0" smtClean="0">
                <a:latin typeface="Consolas" pitchFamily="49" charset="0"/>
              </a:rPr>
              <a:t>}</a:t>
            </a:r>
          </a:p>
          <a:p>
            <a:r>
              <a:rPr lang="en-US" sz="1600" dirty="0" smtClean="0">
                <a:latin typeface="Consolas" pitchFamily="49" charset="0"/>
              </a:rPr>
              <a:t>                    &lt;/div&gt;</a:t>
            </a:r>
          </a:p>
          <a:p>
            <a:r>
              <a:rPr lang="en-US" sz="1600" dirty="0" smtClean="0">
                <a:latin typeface="Consolas" pitchFamily="49" charset="0"/>
              </a:rPr>
              <a:t>                );</a:t>
            </a:r>
          </a:p>
          <a:p>
            <a:r>
              <a:rPr lang="en-US" sz="1600" dirty="0" smtClean="0">
                <a:latin typeface="Consolas" pitchFamily="49" charset="0"/>
              </a:rPr>
              <a:t>            }</a:t>
            </a:r>
          </a:p>
          <a:p>
            <a:r>
              <a:rPr lang="en-US" sz="1600" dirty="0" smtClean="0">
                <a:latin typeface="Consolas" pitchFamily="49" charset="0"/>
              </a:rPr>
              <a:t>        }</a:t>
            </a:r>
          </a:p>
          <a:p>
            <a:r>
              <a:rPr lang="en-US" sz="1600" b="1" dirty="0" smtClean="0">
                <a:solidFill>
                  <a:srgbClr val="C00000"/>
                </a:solidFill>
                <a:latin typeface="Consolas" pitchFamily="49" charset="0"/>
              </a:rPr>
              <a:t>...</a:t>
            </a:r>
          </a:p>
        </p:txBody>
      </p:sp>
      <p:pic>
        <p:nvPicPr>
          <p:cNvPr id="1026" name="Picture 2"/>
          <p:cNvPicPr>
            <a:picLocks noChangeAspect="1" noChangeArrowheads="1"/>
          </p:cNvPicPr>
          <p:nvPr/>
        </p:nvPicPr>
        <p:blipFill>
          <a:blip r:embed="rId2" cstate="print"/>
          <a:srcRect/>
          <a:stretch>
            <a:fillRect/>
          </a:stretch>
        </p:blipFill>
        <p:spPr bwMode="auto">
          <a:xfrm>
            <a:off x="5105400" y="5486400"/>
            <a:ext cx="3268980" cy="74295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7. Set Style Object Property</a:t>
            </a:r>
            <a:endParaRPr lang="en-US" dirty="0"/>
          </a:p>
        </p:txBody>
      </p:sp>
      <p:sp>
        <p:nvSpPr>
          <p:cNvPr id="4" name="Rectangle 3"/>
          <p:cNvSpPr/>
          <p:nvPr/>
        </p:nvSpPr>
        <p:spPr>
          <a:xfrm>
            <a:off x="533400" y="1371600"/>
            <a:ext cx="8153400" cy="5016758"/>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b="1" dirty="0" smtClean="0">
                <a:solidFill>
                  <a:srgbClr val="C00000"/>
                </a:solidFill>
                <a:latin typeface="Consolas" pitchFamily="49" charset="0"/>
              </a:rPr>
              <a:t>...</a:t>
            </a:r>
          </a:p>
          <a:p>
            <a:r>
              <a:rPr lang="en-US" sz="1600" dirty="0" smtClean="0">
                <a:latin typeface="Consolas" pitchFamily="49" charset="0"/>
              </a:rPr>
              <a:t> &lt;script type="text/</a:t>
            </a:r>
            <a:r>
              <a:rPr lang="en-US" sz="1600" dirty="0" err="1" smtClean="0">
                <a:latin typeface="Consolas" pitchFamily="49" charset="0"/>
              </a:rPr>
              <a:t>babel</a:t>
            </a:r>
            <a:r>
              <a:rPr lang="en-US" sz="1600" dirty="0" smtClean="0">
                <a:latin typeface="Consolas" pitchFamily="49" charset="0"/>
              </a:rPr>
              <a:t>"&gt;</a:t>
            </a:r>
          </a:p>
          <a:p>
            <a:r>
              <a:rPr lang="en-US" sz="1600" dirty="0" smtClean="0">
                <a:latin typeface="Consolas" pitchFamily="49" charset="0"/>
              </a:rPr>
              <a:t>        class Letter extends </a:t>
            </a:r>
            <a:r>
              <a:rPr lang="en-US" sz="1600" dirty="0" err="1" smtClean="0">
                <a:latin typeface="Consolas" pitchFamily="49" charset="0"/>
              </a:rPr>
              <a:t>React.Component</a:t>
            </a:r>
            <a:r>
              <a:rPr lang="en-US" sz="1600" dirty="0" smtClean="0">
                <a:latin typeface="Consolas" pitchFamily="49" charset="0"/>
              </a:rPr>
              <a:t> {</a:t>
            </a:r>
          </a:p>
          <a:p>
            <a:r>
              <a:rPr lang="en-US" sz="1600" dirty="0" smtClean="0">
                <a:latin typeface="Consolas" pitchFamily="49" charset="0"/>
              </a:rPr>
              <a:t>            render() {</a:t>
            </a:r>
          </a:p>
          <a:p>
            <a:r>
              <a:rPr lang="en-US" sz="1600" dirty="0" smtClean="0">
                <a:latin typeface="Consolas" pitchFamily="49" charset="0"/>
              </a:rPr>
              <a:t>                    </a:t>
            </a:r>
            <a:r>
              <a:rPr lang="en-US" sz="1600" dirty="0" err="1" smtClean="0">
                <a:latin typeface="Consolas" pitchFamily="49" charset="0"/>
              </a:rPr>
              <a:t>var</a:t>
            </a:r>
            <a:r>
              <a:rPr lang="en-US" sz="1600" dirty="0" smtClean="0">
                <a:latin typeface="Consolas" pitchFamily="49" charset="0"/>
              </a:rPr>
              <a:t> </a:t>
            </a:r>
            <a:r>
              <a:rPr lang="en-US" sz="1600" dirty="0" err="1" smtClean="0">
                <a:latin typeface="Consolas" pitchFamily="49" charset="0"/>
              </a:rPr>
              <a:t>letterStyle</a:t>
            </a:r>
            <a:r>
              <a:rPr lang="en-US" sz="1600" dirty="0" smtClean="0">
                <a:latin typeface="Consolas" pitchFamily="49" charset="0"/>
              </a:rPr>
              <a:t> = {</a:t>
            </a:r>
          </a:p>
          <a:p>
            <a:r>
              <a:rPr lang="en-US" sz="1600" b="1" dirty="0" smtClean="0">
                <a:solidFill>
                  <a:srgbClr val="C00000"/>
                </a:solidFill>
                <a:latin typeface="Consolas" pitchFamily="49" charset="0"/>
              </a:rPr>
              <a:t>...</a:t>
            </a:r>
          </a:p>
          <a:p>
            <a:r>
              <a:rPr lang="en-US" sz="1600" dirty="0" smtClean="0">
                <a:latin typeface="Consolas" pitchFamily="49" charset="0"/>
              </a:rPr>
              <a:t>                    </a:t>
            </a:r>
            <a:r>
              <a:rPr lang="en-US" sz="1600" dirty="0" err="1" smtClean="0">
                <a:latin typeface="Consolas" pitchFamily="49" charset="0"/>
              </a:rPr>
              <a:t>backgroundColor</a:t>
            </a:r>
            <a:r>
              <a:rPr lang="en-US" sz="1600" dirty="0" smtClean="0">
                <a:latin typeface="Consolas" pitchFamily="49" charset="0"/>
              </a:rPr>
              <a:t>: </a:t>
            </a:r>
            <a:r>
              <a:rPr lang="en-US" sz="1600" b="1" dirty="0" err="1" smtClean="0">
                <a:solidFill>
                  <a:srgbClr val="C00000"/>
                </a:solidFill>
                <a:latin typeface="Consolas" pitchFamily="49" charset="0"/>
              </a:rPr>
              <a:t>this.props.bgcolor</a:t>
            </a:r>
            <a:r>
              <a:rPr lang="en-US" sz="1600" dirty="0" smtClean="0">
                <a:latin typeface="Consolas" pitchFamily="49" charset="0"/>
              </a:rPr>
              <a:t>,</a:t>
            </a:r>
          </a:p>
          <a:p>
            <a:r>
              <a:rPr lang="en-US" sz="1600" dirty="0" smtClean="0">
                <a:latin typeface="Consolas" pitchFamily="49" charset="0"/>
              </a:rPr>
              <a:t>                    color: "#333",</a:t>
            </a:r>
          </a:p>
          <a:p>
            <a:r>
              <a:rPr lang="en-US" sz="1600" b="1" dirty="0" smtClean="0">
                <a:solidFill>
                  <a:srgbClr val="C00000"/>
                </a:solidFill>
                <a:latin typeface="Consolas" pitchFamily="49" charset="0"/>
              </a:rPr>
              <a:t>...</a:t>
            </a:r>
          </a:p>
          <a:p>
            <a:r>
              <a:rPr lang="en-US" sz="1600" dirty="0" err="1" smtClean="0">
                <a:latin typeface="Consolas" pitchFamily="49" charset="0"/>
              </a:rPr>
              <a:t>ReactDOM.render</a:t>
            </a:r>
            <a:r>
              <a:rPr lang="en-US" sz="1600" dirty="0" smtClean="0">
                <a:latin typeface="Consolas" pitchFamily="49" charset="0"/>
              </a:rPr>
              <a:t>(</a:t>
            </a:r>
          </a:p>
          <a:p>
            <a:r>
              <a:rPr lang="en-US" sz="1600" dirty="0" smtClean="0">
                <a:latin typeface="Consolas" pitchFamily="49" charset="0"/>
              </a:rPr>
              <a:t>            &lt;div&gt;</a:t>
            </a:r>
          </a:p>
          <a:p>
            <a:r>
              <a:rPr lang="en-US" sz="1600" dirty="0" smtClean="0">
                <a:latin typeface="Consolas" pitchFamily="49" charset="0"/>
              </a:rPr>
              <a:t>                &lt;Letter </a:t>
            </a:r>
            <a:r>
              <a:rPr lang="en-US" sz="1600" b="1" dirty="0" err="1" smtClean="0">
                <a:solidFill>
                  <a:srgbClr val="C00000"/>
                </a:solidFill>
                <a:latin typeface="Consolas" pitchFamily="49" charset="0"/>
              </a:rPr>
              <a:t>bgcolor</a:t>
            </a:r>
            <a:r>
              <a:rPr lang="en-US" sz="1600" b="1" dirty="0" smtClean="0">
                <a:solidFill>
                  <a:srgbClr val="C00000"/>
                </a:solidFill>
                <a:latin typeface="Consolas" pitchFamily="49" charset="0"/>
              </a:rPr>
              <a:t>="#58B3FF"</a:t>
            </a:r>
            <a:r>
              <a:rPr lang="en-US" sz="1600" dirty="0" smtClean="0">
                <a:latin typeface="Consolas" pitchFamily="49" charset="0"/>
              </a:rPr>
              <a:t>&gt;A&lt;/Letter&gt;</a:t>
            </a:r>
          </a:p>
          <a:p>
            <a:r>
              <a:rPr lang="en-US" sz="1600" dirty="0" smtClean="0">
                <a:latin typeface="Consolas" pitchFamily="49" charset="0"/>
              </a:rPr>
              <a:t>                &lt;Letter </a:t>
            </a:r>
            <a:r>
              <a:rPr lang="en-US" sz="1600" dirty="0" err="1" smtClean="0">
                <a:latin typeface="Consolas" pitchFamily="49" charset="0"/>
              </a:rPr>
              <a:t>bgcolor</a:t>
            </a:r>
            <a:r>
              <a:rPr lang="en-US" sz="1600" dirty="0" smtClean="0">
                <a:latin typeface="Consolas" pitchFamily="49" charset="0"/>
              </a:rPr>
              <a:t>="#FF605F"&gt;E&lt;/Letter&gt;</a:t>
            </a:r>
          </a:p>
          <a:p>
            <a:r>
              <a:rPr lang="en-US" sz="1600" dirty="0" smtClean="0">
                <a:latin typeface="Consolas" pitchFamily="49" charset="0"/>
              </a:rPr>
              <a:t>                &lt;Letter </a:t>
            </a:r>
            <a:r>
              <a:rPr lang="en-US" sz="1600" dirty="0" err="1" smtClean="0">
                <a:latin typeface="Consolas" pitchFamily="49" charset="0"/>
              </a:rPr>
              <a:t>bgcolor</a:t>
            </a:r>
            <a:r>
              <a:rPr lang="en-US" sz="1600" dirty="0" smtClean="0">
                <a:latin typeface="Consolas" pitchFamily="49" charset="0"/>
              </a:rPr>
              <a:t>="#FFD52E"&gt;I&lt;/Letter&gt;</a:t>
            </a:r>
          </a:p>
          <a:p>
            <a:r>
              <a:rPr lang="it-IT" sz="1600" dirty="0" smtClean="0">
                <a:latin typeface="Consolas" pitchFamily="49" charset="0"/>
              </a:rPr>
              <a:t>                &lt;Letter bgcolor="#49DD8E"&gt;O&lt;/Letter&gt;</a:t>
            </a:r>
          </a:p>
          <a:p>
            <a:r>
              <a:rPr lang="nb-NO" sz="1600" dirty="0" smtClean="0">
                <a:latin typeface="Consolas" pitchFamily="49" charset="0"/>
              </a:rPr>
              <a:t>                &lt;Letter bgcolor="#AE99FF"&gt;U&lt;/Letter&gt;</a:t>
            </a:r>
          </a:p>
          <a:p>
            <a:r>
              <a:rPr lang="en-US" sz="1600" dirty="0" smtClean="0">
                <a:latin typeface="Consolas" pitchFamily="49" charset="0"/>
              </a:rPr>
              <a:t>            &lt;/div&gt;,</a:t>
            </a:r>
          </a:p>
          <a:p>
            <a:r>
              <a:rPr lang="en-US" sz="1600" dirty="0" smtClean="0">
                <a:latin typeface="Consolas" pitchFamily="49" charset="0"/>
              </a:rPr>
              <a:t>            destination</a:t>
            </a:r>
          </a:p>
          <a:p>
            <a:r>
              <a:rPr lang="en-US" sz="1600" dirty="0" smtClean="0">
                <a:latin typeface="Consolas" pitchFamily="49" charset="0"/>
              </a:rPr>
              <a:t>        );</a:t>
            </a:r>
          </a:p>
          <a:p>
            <a:r>
              <a:rPr lang="en-US" sz="1600" b="1" dirty="0" smtClean="0">
                <a:solidFill>
                  <a:srgbClr val="C00000"/>
                </a:solidFill>
                <a:latin typeface="Consolas" pitchFamily="49" charset="0"/>
              </a:rPr>
              <a:t>...</a:t>
            </a:r>
          </a:p>
        </p:txBody>
      </p:sp>
      <p:pic>
        <p:nvPicPr>
          <p:cNvPr id="2050" name="Picture 2"/>
          <p:cNvPicPr>
            <a:picLocks noChangeAspect="1" noChangeArrowheads="1"/>
          </p:cNvPicPr>
          <p:nvPr/>
        </p:nvPicPr>
        <p:blipFill>
          <a:blip r:embed="rId2" cstate="print"/>
          <a:srcRect/>
          <a:stretch>
            <a:fillRect/>
          </a:stretch>
        </p:blipFill>
        <p:spPr bwMode="auto">
          <a:xfrm>
            <a:off x="5181600" y="5486400"/>
            <a:ext cx="3303270" cy="73533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8. Create Nested Components</a:t>
            </a:r>
            <a:endParaRPr lang="en-US" dirty="0"/>
          </a:p>
        </p:txBody>
      </p:sp>
      <p:sp>
        <p:nvSpPr>
          <p:cNvPr id="4" name="Rectangle 3"/>
          <p:cNvSpPr/>
          <p:nvPr/>
        </p:nvSpPr>
        <p:spPr>
          <a:xfrm>
            <a:off x="533400" y="1371600"/>
            <a:ext cx="8153400" cy="4770537"/>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dirty="0" smtClean="0">
                <a:latin typeface="Consolas" pitchFamily="49" charset="0"/>
              </a:rPr>
              <a:t>class Card extends </a:t>
            </a:r>
            <a:r>
              <a:rPr lang="en-US" sz="1600" dirty="0" err="1" smtClean="0">
                <a:latin typeface="Consolas" pitchFamily="49" charset="0"/>
              </a:rPr>
              <a:t>React.Component</a:t>
            </a:r>
            <a:r>
              <a:rPr lang="en-US" sz="1600" dirty="0" smtClean="0">
                <a:latin typeface="Consolas" pitchFamily="49" charset="0"/>
              </a:rPr>
              <a:t> {</a:t>
            </a:r>
          </a:p>
          <a:p>
            <a:r>
              <a:rPr lang="en-US" sz="1600" b="1" dirty="0" smtClean="0">
                <a:solidFill>
                  <a:srgbClr val="C00000"/>
                </a:solidFill>
                <a:latin typeface="Consolas" pitchFamily="49" charset="0"/>
              </a:rPr>
              <a:t>...</a:t>
            </a:r>
          </a:p>
          <a:p>
            <a:r>
              <a:rPr lang="en-US" sz="1600" dirty="0" smtClean="0">
                <a:latin typeface="Consolas" pitchFamily="49" charset="0"/>
              </a:rPr>
              <a:t>        </a:t>
            </a:r>
          </a:p>
          <a:p>
            <a:r>
              <a:rPr lang="en-US" sz="1600" dirty="0" smtClean="0">
                <a:latin typeface="Consolas" pitchFamily="49" charset="0"/>
              </a:rPr>
              <a:t>                return (</a:t>
            </a:r>
          </a:p>
          <a:p>
            <a:r>
              <a:rPr lang="en-US" sz="1600" dirty="0" smtClean="0">
                <a:latin typeface="Consolas" pitchFamily="49" charset="0"/>
              </a:rPr>
              <a:t>                        &lt;div style={</a:t>
            </a:r>
            <a:r>
              <a:rPr lang="en-US" sz="1600" dirty="0" err="1" smtClean="0">
                <a:latin typeface="Consolas" pitchFamily="49" charset="0"/>
              </a:rPr>
              <a:t>cardStyle</a:t>
            </a:r>
            <a:r>
              <a:rPr lang="en-US" sz="1600" dirty="0" smtClean="0">
                <a:latin typeface="Consolas" pitchFamily="49" charset="0"/>
              </a:rPr>
              <a:t>}&gt;</a:t>
            </a:r>
          </a:p>
          <a:p>
            <a:r>
              <a:rPr lang="en-US" sz="1600" dirty="0" smtClean="0">
                <a:latin typeface="Consolas" pitchFamily="49" charset="0"/>
              </a:rPr>
              <a:t>                            &lt;Square color={</a:t>
            </a:r>
            <a:r>
              <a:rPr lang="en-US" sz="1600" dirty="0" err="1" smtClean="0">
                <a:latin typeface="Consolas" pitchFamily="49" charset="0"/>
              </a:rPr>
              <a:t>this.props.color</a:t>
            </a:r>
            <a:r>
              <a:rPr lang="en-US" sz="1600" dirty="0" smtClean="0">
                <a:latin typeface="Consolas" pitchFamily="49" charset="0"/>
              </a:rPr>
              <a:t>} /&gt;</a:t>
            </a:r>
          </a:p>
          <a:p>
            <a:r>
              <a:rPr lang="en-US" sz="1600" dirty="0" smtClean="0">
                <a:latin typeface="Consolas" pitchFamily="49" charset="0"/>
              </a:rPr>
              <a:t>                            &lt;Label color={</a:t>
            </a:r>
            <a:r>
              <a:rPr lang="en-US" sz="1600" dirty="0" err="1" smtClean="0">
                <a:latin typeface="Consolas" pitchFamily="49" charset="0"/>
              </a:rPr>
              <a:t>this.props.color</a:t>
            </a:r>
            <a:r>
              <a:rPr lang="en-US" sz="1600" dirty="0" smtClean="0">
                <a:latin typeface="Consolas" pitchFamily="49" charset="0"/>
              </a:rPr>
              <a:t>} /&gt;          </a:t>
            </a:r>
          </a:p>
          <a:p>
            <a:r>
              <a:rPr lang="en-US" sz="1600" dirty="0" smtClean="0">
                <a:latin typeface="Consolas" pitchFamily="49" charset="0"/>
              </a:rPr>
              <a:t>                        &lt;/div&gt;</a:t>
            </a:r>
          </a:p>
          <a:p>
            <a:r>
              <a:rPr lang="en-US" sz="1600" dirty="0" smtClean="0">
                <a:latin typeface="Consolas" pitchFamily="49" charset="0"/>
              </a:rPr>
              <a:t>                );</a:t>
            </a:r>
          </a:p>
          <a:p>
            <a:r>
              <a:rPr lang="en-US" sz="1600" dirty="0" smtClean="0">
                <a:latin typeface="Consolas" pitchFamily="49" charset="0"/>
              </a:rPr>
              <a:t>            }</a:t>
            </a:r>
          </a:p>
          <a:p>
            <a:r>
              <a:rPr lang="en-US" sz="1600" dirty="0" smtClean="0">
                <a:latin typeface="Consolas" pitchFamily="49" charset="0"/>
              </a:rPr>
              <a:t>        });</a:t>
            </a:r>
          </a:p>
          <a:p>
            <a:endParaRPr lang="en-US" sz="1600" dirty="0" smtClean="0">
              <a:latin typeface="Consolas" pitchFamily="49" charset="0"/>
            </a:endParaRPr>
          </a:p>
          <a:p>
            <a:r>
              <a:rPr lang="en-US" sz="1600" dirty="0" err="1" smtClean="0">
                <a:latin typeface="Consolas" pitchFamily="49" charset="0"/>
              </a:rPr>
              <a:t>var</a:t>
            </a:r>
            <a:r>
              <a:rPr lang="en-US" sz="1600" dirty="0" smtClean="0">
                <a:latin typeface="Consolas" pitchFamily="49" charset="0"/>
              </a:rPr>
              <a:t> destination = </a:t>
            </a:r>
            <a:r>
              <a:rPr lang="en-US" sz="1600" dirty="0" err="1" smtClean="0">
                <a:latin typeface="Consolas" pitchFamily="49" charset="0"/>
              </a:rPr>
              <a:t>document.querySelector</a:t>
            </a:r>
            <a:r>
              <a:rPr lang="en-US" sz="1600" dirty="0" smtClean="0">
                <a:latin typeface="Consolas" pitchFamily="49" charset="0"/>
              </a:rPr>
              <a:t>("#container");</a:t>
            </a:r>
          </a:p>
          <a:p>
            <a:r>
              <a:rPr lang="en-US" sz="1600" dirty="0" err="1" smtClean="0">
                <a:latin typeface="Consolas" pitchFamily="49" charset="0"/>
              </a:rPr>
              <a:t>ReactDOM.render</a:t>
            </a:r>
            <a:r>
              <a:rPr lang="en-US" sz="1600" dirty="0" smtClean="0">
                <a:latin typeface="Consolas" pitchFamily="49" charset="0"/>
              </a:rPr>
              <a:t>(</a:t>
            </a:r>
          </a:p>
          <a:p>
            <a:pPr lvl="1"/>
            <a:r>
              <a:rPr lang="en-US" sz="1600" dirty="0" smtClean="0">
                <a:latin typeface="Consolas" pitchFamily="49" charset="0"/>
              </a:rPr>
              <a:t>&lt;div&gt;</a:t>
            </a:r>
          </a:p>
          <a:p>
            <a:pPr lvl="1"/>
            <a:r>
              <a:rPr lang="en-US" sz="1600" dirty="0" smtClean="0">
                <a:latin typeface="Consolas" pitchFamily="49" charset="0"/>
              </a:rPr>
              <a:t>	&lt;Card color="#FF6663" /&gt;</a:t>
            </a:r>
          </a:p>
          <a:p>
            <a:pPr lvl="1"/>
            <a:r>
              <a:rPr lang="en-US" sz="1600" dirty="0" smtClean="0">
                <a:latin typeface="Consolas" pitchFamily="49" charset="0"/>
              </a:rPr>
              <a:t>&lt;/div&gt;,</a:t>
            </a:r>
          </a:p>
          <a:p>
            <a:pPr lvl="1"/>
            <a:r>
              <a:rPr lang="en-US" sz="1600" dirty="0" smtClean="0">
                <a:latin typeface="Consolas" pitchFamily="49" charset="0"/>
              </a:rPr>
              <a:t>destination</a:t>
            </a:r>
          </a:p>
          <a:p>
            <a:r>
              <a:rPr lang="en-US" sz="1600" dirty="0" smtClean="0">
                <a:latin typeface="Consolas" pitchFamily="49" charset="0"/>
              </a:rPr>
              <a:t>);</a:t>
            </a:r>
          </a:p>
        </p:txBody>
      </p:sp>
      <p:pic>
        <p:nvPicPr>
          <p:cNvPr id="3074" name="Picture 2"/>
          <p:cNvPicPr>
            <a:picLocks noChangeAspect="1" noChangeArrowheads="1"/>
          </p:cNvPicPr>
          <p:nvPr/>
        </p:nvPicPr>
        <p:blipFill>
          <a:blip r:embed="rId2" cstate="print"/>
          <a:srcRect/>
          <a:stretch>
            <a:fillRect/>
          </a:stretch>
        </p:blipFill>
        <p:spPr bwMode="auto">
          <a:xfrm>
            <a:off x="7010400" y="4114800"/>
            <a:ext cx="1805940" cy="238887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Props and State</a:t>
            </a:r>
            <a:endParaRPr lang="en-US" dirty="0"/>
          </a:p>
        </p:txBody>
      </p:sp>
      <p:sp>
        <p:nvSpPr>
          <p:cNvPr id="3" name="Content Placeholder 2"/>
          <p:cNvSpPr>
            <a:spLocks noGrp="1"/>
          </p:cNvSpPr>
          <p:nvPr>
            <p:ph idx="1"/>
          </p:nvPr>
        </p:nvSpPr>
        <p:spPr/>
        <p:txBody>
          <a:bodyPr/>
          <a:lstStyle/>
          <a:p>
            <a:r>
              <a:rPr lang="en-US" sz="2400" dirty="0" smtClean="0"/>
              <a:t>State and props are both plain JavaScript or JS objects that React uses to hold information.</a:t>
            </a:r>
          </a:p>
          <a:p>
            <a:r>
              <a:rPr lang="en-US" sz="2400" dirty="0" smtClean="0"/>
              <a:t>If a component needs to alter one of its attributes at some point in time, that attribute should be part of its state, otherwise, it should be a prop for that component.</a:t>
            </a:r>
          </a:p>
          <a:p>
            <a:r>
              <a:rPr lang="en-US" sz="2400" dirty="0" smtClean="0"/>
              <a:t>State is managed within the component, whereas props get passed to the component.</a:t>
            </a:r>
          </a:p>
          <a:p>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Stateless vs. </a:t>
            </a:r>
            <a:r>
              <a:rPr lang="en-US" dirty="0" err="1" smtClean="0"/>
              <a:t>Stateful</a:t>
            </a:r>
            <a:r>
              <a:rPr lang="en-US" dirty="0" smtClean="0"/>
              <a:t> Components</a:t>
            </a:r>
            <a:endParaRPr lang="en-US" dirty="0"/>
          </a:p>
        </p:txBody>
      </p:sp>
      <p:sp>
        <p:nvSpPr>
          <p:cNvPr id="3" name="Content Placeholder 2"/>
          <p:cNvSpPr>
            <a:spLocks noGrp="1"/>
          </p:cNvSpPr>
          <p:nvPr>
            <p:ph idx="1"/>
          </p:nvPr>
        </p:nvSpPr>
        <p:spPr/>
        <p:txBody>
          <a:bodyPr/>
          <a:lstStyle/>
          <a:p>
            <a:r>
              <a:rPr lang="en-US" sz="2400" dirty="0" smtClean="0"/>
              <a:t>Stateless components: props only, no state.</a:t>
            </a:r>
          </a:p>
          <a:p>
            <a:r>
              <a:rPr lang="en-US" sz="2400" dirty="0" smtClean="0"/>
              <a:t>Stateless components: props and state.</a:t>
            </a:r>
          </a:p>
          <a:p>
            <a:endParaRPr lang="en-US" sz="2400" dirty="0"/>
          </a:p>
        </p:txBody>
      </p:sp>
      <p:pic>
        <p:nvPicPr>
          <p:cNvPr id="1027" name="Picture 3"/>
          <p:cNvPicPr>
            <a:picLocks noChangeAspect="1" noChangeArrowheads="1"/>
          </p:cNvPicPr>
          <p:nvPr/>
        </p:nvPicPr>
        <p:blipFill>
          <a:blip r:embed="rId2" cstate="print"/>
          <a:srcRect/>
          <a:stretch>
            <a:fillRect/>
          </a:stretch>
        </p:blipFill>
        <p:spPr bwMode="auto">
          <a:xfrm>
            <a:off x="1919288" y="3041650"/>
            <a:ext cx="5305425" cy="259715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a:t>
            </a:r>
            <a:endParaRPr lang="en-US" dirty="0"/>
          </a:p>
        </p:txBody>
      </p:sp>
      <p:sp>
        <p:nvSpPr>
          <p:cNvPr id="4" name="Rectangle 3"/>
          <p:cNvSpPr/>
          <p:nvPr/>
        </p:nvSpPr>
        <p:spPr>
          <a:xfrm>
            <a:off x="533400" y="1398687"/>
            <a:ext cx="8153400" cy="5078313"/>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100" dirty="0" smtClean="0">
                <a:latin typeface="Consolas" pitchFamily="49" charset="0"/>
              </a:rPr>
              <a:t> class </a:t>
            </a:r>
            <a:r>
              <a:rPr lang="en-US" sz="1100" dirty="0" err="1" smtClean="0">
                <a:latin typeface="Consolas" pitchFamily="49" charset="0"/>
              </a:rPr>
              <a:t>LightningCounter</a:t>
            </a:r>
            <a:r>
              <a:rPr lang="en-US" sz="1100" dirty="0" smtClean="0">
                <a:latin typeface="Consolas" pitchFamily="49" charset="0"/>
              </a:rPr>
              <a:t> extends </a:t>
            </a:r>
            <a:r>
              <a:rPr lang="en-US" sz="1100" dirty="0" err="1" smtClean="0">
                <a:latin typeface="Consolas" pitchFamily="49" charset="0"/>
              </a:rPr>
              <a:t>React.Component</a:t>
            </a:r>
            <a:r>
              <a:rPr lang="en-US" sz="1100" dirty="0" smtClean="0">
                <a:latin typeface="Consolas" pitchFamily="49" charset="0"/>
              </a:rPr>
              <a:t> {</a:t>
            </a:r>
          </a:p>
          <a:p>
            <a:r>
              <a:rPr lang="en-US" sz="1100" dirty="0" smtClean="0">
                <a:latin typeface="Consolas" pitchFamily="49" charset="0"/>
              </a:rPr>
              <a:t>            constructor(props) {</a:t>
            </a:r>
          </a:p>
          <a:p>
            <a:r>
              <a:rPr lang="en-US" sz="1100" dirty="0" smtClean="0">
                <a:latin typeface="Consolas" pitchFamily="49" charset="0"/>
              </a:rPr>
              <a:t>                super(props);</a:t>
            </a:r>
          </a:p>
          <a:p>
            <a:r>
              <a:rPr lang="en-US" sz="1100" dirty="0" smtClean="0">
                <a:latin typeface="Consolas" pitchFamily="49" charset="0"/>
              </a:rPr>
              <a:t>                </a:t>
            </a:r>
            <a:r>
              <a:rPr lang="en-US" sz="1100" dirty="0" err="1" smtClean="0">
                <a:latin typeface="Consolas" pitchFamily="49" charset="0"/>
              </a:rPr>
              <a:t>this.state</a:t>
            </a:r>
            <a:r>
              <a:rPr lang="en-US" sz="1100" dirty="0" smtClean="0">
                <a:latin typeface="Consolas" pitchFamily="49" charset="0"/>
              </a:rPr>
              <a:t> = {</a:t>
            </a:r>
          </a:p>
          <a:p>
            <a:r>
              <a:rPr lang="en-US" sz="1100" dirty="0" smtClean="0">
                <a:latin typeface="Consolas" pitchFamily="49" charset="0"/>
              </a:rPr>
              <a:t>                    strikes: 0</a:t>
            </a:r>
          </a:p>
          <a:p>
            <a:r>
              <a:rPr lang="en-US" sz="1100" dirty="0" smtClean="0">
                <a:latin typeface="Consolas" pitchFamily="49" charset="0"/>
              </a:rPr>
              <a:t>                };</a:t>
            </a:r>
          </a:p>
          <a:p>
            <a:endParaRPr lang="en-US" sz="1100" dirty="0" smtClean="0">
              <a:latin typeface="Consolas" pitchFamily="49" charset="0"/>
            </a:endParaRPr>
          </a:p>
          <a:p>
            <a:r>
              <a:rPr lang="en-US" sz="1100" dirty="0" smtClean="0">
                <a:latin typeface="Consolas" pitchFamily="49" charset="0"/>
              </a:rPr>
              <a:t>                </a:t>
            </a:r>
            <a:r>
              <a:rPr lang="en-US" sz="1100" dirty="0" err="1" smtClean="0">
                <a:latin typeface="Consolas" pitchFamily="49" charset="0"/>
              </a:rPr>
              <a:t>this.timerTick</a:t>
            </a:r>
            <a:r>
              <a:rPr lang="en-US" sz="1100" dirty="0" smtClean="0">
                <a:latin typeface="Consolas" pitchFamily="49" charset="0"/>
              </a:rPr>
              <a:t> = </a:t>
            </a:r>
            <a:r>
              <a:rPr lang="en-US" sz="1100" dirty="0" err="1" smtClean="0">
                <a:latin typeface="Consolas" pitchFamily="49" charset="0"/>
              </a:rPr>
              <a:t>this.timerTick.bind</a:t>
            </a:r>
            <a:r>
              <a:rPr lang="en-US" sz="1100" dirty="0" smtClean="0">
                <a:latin typeface="Consolas" pitchFamily="49" charset="0"/>
              </a:rPr>
              <a:t>(this);</a:t>
            </a:r>
          </a:p>
          <a:p>
            <a:r>
              <a:rPr lang="en-US" sz="1100" dirty="0" smtClean="0">
                <a:latin typeface="Consolas" pitchFamily="49" charset="0"/>
              </a:rPr>
              <a:t>                {/* explicitly bind our </a:t>
            </a:r>
            <a:r>
              <a:rPr lang="en-US" sz="1100" dirty="0" err="1" smtClean="0">
                <a:latin typeface="Consolas" pitchFamily="49" charset="0"/>
              </a:rPr>
              <a:t>timerTick</a:t>
            </a:r>
            <a:r>
              <a:rPr lang="en-US" sz="1100" dirty="0" smtClean="0">
                <a:latin typeface="Consolas" pitchFamily="49" charset="0"/>
              </a:rPr>
              <a:t> function to our component </a:t>
            </a:r>
          </a:p>
          <a:p>
            <a:r>
              <a:rPr lang="en-US" sz="1100" dirty="0" smtClean="0">
                <a:latin typeface="Consolas" pitchFamily="49" charset="0"/>
              </a:rPr>
              <a:t>                    so that all the this references resolve properly. */}</a:t>
            </a:r>
          </a:p>
          <a:p>
            <a:r>
              <a:rPr lang="en-US" sz="1100" dirty="0" smtClean="0">
                <a:latin typeface="Consolas" pitchFamily="49" charset="0"/>
              </a:rPr>
              <a:t>            }</a:t>
            </a:r>
          </a:p>
          <a:p>
            <a:endParaRPr lang="en-US" sz="1100" dirty="0" smtClean="0">
              <a:latin typeface="Consolas" pitchFamily="49" charset="0"/>
            </a:endParaRPr>
          </a:p>
          <a:p>
            <a:r>
              <a:rPr lang="en-US" sz="1100" dirty="0" smtClean="0">
                <a:latin typeface="Consolas" pitchFamily="49" charset="0"/>
              </a:rPr>
              <a:t>            </a:t>
            </a:r>
            <a:r>
              <a:rPr lang="en-US" sz="1100" dirty="0" err="1" smtClean="0">
                <a:latin typeface="Consolas" pitchFamily="49" charset="0"/>
              </a:rPr>
              <a:t>timerTick</a:t>
            </a:r>
            <a:r>
              <a:rPr lang="en-US" sz="1100" dirty="0" smtClean="0">
                <a:latin typeface="Consolas" pitchFamily="49" charset="0"/>
              </a:rPr>
              <a:t>() {</a:t>
            </a:r>
          </a:p>
          <a:p>
            <a:r>
              <a:rPr lang="en-US" sz="1100" dirty="0" smtClean="0">
                <a:latin typeface="Consolas" pitchFamily="49" charset="0"/>
              </a:rPr>
              <a:t>                </a:t>
            </a:r>
            <a:r>
              <a:rPr lang="en-US" sz="1100" dirty="0" err="1" smtClean="0">
                <a:latin typeface="Consolas" pitchFamily="49" charset="0"/>
              </a:rPr>
              <a:t>this.setState</a:t>
            </a:r>
            <a:r>
              <a:rPr lang="en-US" sz="1100" dirty="0" smtClean="0">
                <a:latin typeface="Consolas" pitchFamily="49" charset="0"/>
              </a:rPr>
              <a:t>({</a:t>
            </a:r>
          </a:p>
          <a:p>
            <a:r>
              <a:rPr lang="en-US" sz="1100" dirty="0" smtClean="0">
                <a:latin typeface="Consolas" pitchFamily="49" charset="0"/>
              </a:rPr>
              <a:t>                    strikes: </a:t>
            </a:r>
            <a:r>
              <a:rPr lang="en-US" sz="1100" dirty="0" err="1" smtClean="0">
                <a:latin typeface="Consolas" pitchFamily="49" charset="0"/>
              </a:rPr>
              <a:t>this.state.strikes</a:t>
            </a:r>
            <a:r>
              <a:rPr lang="en-US" sz="1100" dirty="0" smtClean="0">
                <a:latin typeface="Consolas" pitchFamily="49" charset="0"/>
              </a:rPr>
              <a:t> + 100</a:t>
            </a:r>
          </a:p>
          <a:p>
            <a:r>
              <a:rPr lang="en-US" sz="1100" dirty="0" smtClean="0">
                <a:latin typeface="Consolas" pitchFamily="49" charset="0"/>
              </a:rPr>
              <a:t>                });</a:t>
            </a:r>
          </a:p>
          <a:p>
            <a:r>
              <a:rPr lang="en-US" sz="1100" dirty="0" smtClean="0">
                <a:latin typeface="Consolas" pitchFamily="49" charset="0"/>
              </a:rPr>
              <a:t>            }</a:t>
            </a:r>
          </a:p>
          <a:p>
            <a:endParaRPr lang="en-US" sz="1100" dirty="0" smtClean="0">
              <a:latin typeface="Consolas" pitchFamily="49" charset="0"/>
            </a:endParaRPr>
          </a:p>
          <a:p>
            <a:r>
              <a:rPr lang="en-US" sz="1100" dirty="0" smtClean="0">
                <a:latin typeface="Consolas" pitchFamily="49" charset="0"/>
              </a:rPr>
              <a:t>            </a:t>
            </a:r>
            <a:r>
              <a:rPr lang="en-US" sz="1100" dirty="0" err="1" smtClean="0">
                <a:latin typeface="Consolas" pitchFamily="49" charset="0"/>
              </a:rPr>
              <a:t>componentDidMount</a:t>
            </a:r>
            <a:r>
              <a:rPr lang="en-US" sz="1100" dirty="0" smtClean="0">
                <a:latin typeface="Consolas" pitchFamily="49" charset="0"/>
              </a:rPr>
              <a:t>() {</a:t>
            </a:r>
          </a:p>
          <a:p>
            <a:r>
              <a:rPr lang="en-US" sz="1100" dirty="0" smtClean="0">
                <a:latin typeface="Consolas" pitchFamily="49" charset="0"/>
              </a:rPr>
              <a:t>                </a:t>
            </a:r>
            <a:r>
              <a:rPr lang="en-US" sz="1100" dirty="0" err="1" smtClean="0">
                <a:latin typeface="Consolas" pitchFamily="49" charset="0"/>
              </a:rPr>
              <a:t>setInterval</a:t>
            </a:r>
            <a:r>
              <a:rPr lang="en-US" sz="1100" dirty="0" smtClean="0">
                <a:latin typeface="Consolas" pitchFamily="49" charset="0"/>
              </a:rPr>
              <a:t>(</a:t>
            </a:r>
            <a:r>
              <a:rPr lang="en-US" sz="1100" dirty="0" err="1" smtClean="0">
                <a:latin typeface="Consolas" pitchFamily="49" charset="0"/>
              </a:rPr>
              <a:t>this.timerTick</a:t>
            </a:r>
            <a:r>
              <a:rPr lang="en-US" sz="1100" dirty="0" smtClean="0">
                <a:latin typeface="Consolas" pitchFamily="49" charset="0"/>
              </a:rPr>
              <a:t>, 1000);</a:t>
            </a:r>
          </a:p>
          <a:p>
            <a:r>
              <a:rPr lang="en-US" sz="1100" dirty="0" smtClean="0">
                <a:latin typeface="Consolas" pitchFamily="49" charset="0"/>
              </a:rPr>
              <a:t>            }</a:t>
            </a:r>
          </a:p>
          <a:p>
            <a:endParaRPr lang="en-US" sz="1100" dirty="0" smtClean="0">
              <a:latin typeface="Consolas" pitchFamily="49" charset="0"/>
            </a:endParaRPr>
          </a:p>
          <a:p>
            <a:r>
              <a:rPr lang="en-US" sz="1100" dirty="0" smtClean="0">
                <a:latin typeface="Consolas" pitchFamily="49" charset="0"/>
              </a:rPr>
              <a:t>            render() {</a:t>
            </a:r>
          </a:p>
          <a:p>
            <a:r>
              <a:rPr lang="en-US" sz="1100" dirty="0" smtClean="0">
                <a:latin typeface="Consolas" pitchFamily="49" charset="0"/>
              </a:rPr>
              <a:t>                </a:t>
            </a:r>
            <a:r>
              <a:rPr lang="en-US" sz="1100" dirty="0" err="1" smtClean="0">
                <a:latin typeface="Consolas" pitchFamily="49" charset="0"/>
              </a:rPr>
              <a:t>var</a:t>
            </a:r>
            <a:r>
              <a:rPr lang="en-US" sz="1100" dirty="0" smtClean="0">
                <a:latin typeface="Consolas" pitchFamily="49" charset="0"/>
              </a:rPr>
              <a:t> </a:t>
            </a:r>
            <a:r>
              <a:rPr lang="en-US" sz="1100" dirty="0" err="1" smtClean="0">
                <a:latin typeface="Consolas" pitchFamily="49" charset="0"/>
              </a:rPr>
              <a:t>counterStyle</a:t>
            </a:r>
            <a:r>
              <a:rPr lang="en-US" sz="1100" dirty="0" smtClean="0">
                <a:latin typeface="Consolas" pitchFamily="49" charset="0"/>
              </a:rPr>
              <a:t> = {</a:t>
            </a:r>
          </a:p>
          <a:p>
            <a:r>
              <a:rPr lang="en-US" sz="1100" b="1" dirty="0" smtClean="0">
                <a:solidFill>
                  <a:srgbClr val="C00000"/>
                </a:solidFill>
                <a:latin typeface="Consolas" pitchFamily="49" charset="0"/>
              </a:rPr>
              <a:t>...</a:t>
            </a:r>
          </a:p>
          <a:p>
            <a:r>
              <a:rPr lang="en-US" sz="1100" dirty="0" smtClean="0">
                <a:latin typeface="Consolas" pitchFamily="49" charset="0"/>
              </a:rPr>
              <a:t>                </a:t>
            </a:r>
            <a:r>
              <a:rPr lang="en-US" sz="1100" dirty="0" err="1" smtClean="0">
                <a:latin typeface="Consolas" pitchFamily="49" charset="0"/>
              </a:rPr>
              <a:t>var</a:t>
            </a:r>
            <a:r>
              <a:rPr lang="en-US" sz="1100" dirty="0" smtClean="0">
                <a:latin typeface="Consolas" pitchFamily="49" charset="0"/>
              </a:rPr>
              <a:t> count = </a:t>
            </a:r>
            <a:r>
              <a:rPr lang="en-US" sz="1100" dirty="0" err="1" smtClean="0">
                <a:latin typeface="Consolas" pitchFamily="49" charset="0"/>
              </a:rPr>
              <a:t>this.state.strikes.toLocaleString</a:t>
            </a:r>
            <a:r>
              <a:rPr lang="en-US" sz="1100" dirty="0" smtClean="0">
                <a:latin typeface="Consolas" pitchFamily="49" charset="0"/>
              </a:rPr>
              <a:t>();</a:t>
            </a:r>
          </a:p>
          <a:p>
            <a:r>
              <a:rPr lang="en-US" sz="1100" dirty="0" smtClean="0">
                <a:latin typeface="Consolas" pitchFamily="49" charset="0"/>
              </a:rPr>
              <a:t>                return (</a:t>
            </a:r>
          </a:p>
          <a:p>
            <a:r>
              <a:rPr lang="en-US" sz="1100" dirty="0" smtClean="0">
                <a:latin typeface="Consolas" pitchFamily="49" charset="0"/>
              </a:rPr>
              <a:t>                    &lt;h1 style={</a:t>
            </a:r>
            <a:r>
              <a:rPr lang="en-US" sz="1100" dirty="0" err="1" smtClean="0">
                <a:latin typeface="Consolas" pitchFamily="49" charset="0"/>
              </a:rPr>
              <a:t>counterStyle</a:t>
            </a:r>
            <a:r>
              <a:rPr lang="en-US" sz="1100" dirty="0" smtClean="0">
                <a:latin typeface="Consolas" pitchFamily="49" charset="0"/>
              </a:rPr>
              <a:t>}&gt;{count}&lt;/h1&gt;</a:t>
            </a:r>
          </a:p>
          <a:p>
            <a:r>
              <a:rPr lang="en-US" sz="1100" b="1" dirty="0" smtClean="0">
                <a:solidFill>
                  <a:srgbClr val="C00000"/>
                </a:solidFill>
                <a:latin typeface="Consolas" pitchFamily="49" charset="0"/>
              </a:rPr>
              <a:t>...</a:t>
            </a:r>
          </a:p>
        </p:txBody>
      </p:sp>
      <p:pic>
        <p:nvPicPr>
          <p:cNvPr id="4098" name="Picture 2"/>
          <p:cNvPicPr>
            <a:picLocks noChangeAspect="1" noChangeArrowheads="1"/>
          </p:cNvPicPr>
          <p:nvPr/>
        </p:nvPicPr>
        <p:blipFill>
          <a:blip r:embed="rId2" cstate="print"/>
          <a:srcRect/>
          <a:stretch>
            <a:fillRect/>
          </a:stretch>
        </p:blipFill>
        <p:spPr bwMode="auto">
          <a:xfrm>
            <a:off x="7239000" y="2743200"/>
            <a:ext cx="1184910" cy="59817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Transferring Styles</a:t>
            </a:r>
            <a:endParaRPr lang="en-US" dirty="0"/>
          </a:p>
        </p:txBody>
      </p:sp>
      <p:sp>
        <p:nvSpPr>
          <p:cNvPr id="4" name="Rectangle 3"/>
          <p:cNvSpPr/>
          <p:nvPr/>
        </p:nvSpPr>
        <p:spPr>
          <a:xfrm>
            <a:off x="533400" y="1371600"/>
            <a:ext cx="8153400" cy="4939814"/>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900" dirty="0" smtClean="0">
                <a:latin typeface="Consolas" pitchFamily="49" charset="0"/>
              </a:rPr>
              <a:t> class </a:t>
            </a:r>
            <a:r>
              <a:rPr lang="en-US" sz="900" dirty="0" err="1" smtClean="0">
                <a:latin typeface="Consolas" pitchFamily="49" charset="0"/>
              </a:rPr>
              <a:t>LightningCounterDisplay</a:t>
            </a:r>
            <a:r>
              <a:rPr lang="en-US" sz="900" dirty="0" smtClean="0">
                <a:latin typeface="Consolas" pitchFamily="49" charset="0"/>
              </a:rPr>
              <a:t> extends </a:t>
            </a:r>
            <a:r>
              <a:rPr lang="en-US" sz="900" dirty="0" err="1" smtClean="0">
                <a:latin typeface="Consolas" pitchFamily="49" charset="0"/>
              </a:rPr>
              <a:t>React.Component</a:t>
            </a:r>
            <a:r>
              <a:rPr lang="en-US" sz="900" dirty="0" smtClean="0">
                <a:latin typeface="Consolas" pitchFamily="49" charset="0"/>
              </a:rPr>
              <a:t> {</a:t>
            </a:r>
          </a:p>
          <a:p>
            <a:r>
              <a:rPr lang="en-US" sz="900" dirty="0" smtClean="0">
                <a:latin typeface="Consolas" pitchFamily="49" charset="0"/>
              </a:rPr>
              <a:t>            render() {</a:t>
            </a:r>
          </a:p>
          <a:p>
            <a:r>
              <a:rPr lang="en-US" sz="900" dirty="0" smtClean="0">
                <a:latin typeface="Consolas" pitchFamily="49" charset="0"/>
              </a:rPr>
              <a:t>                    </a:t>
            </a:r>
            <a:r>
              <a:rPr lang="en-US" sz="900" dirty="0" err="1" smtClean="0">
                <a:latin typeface="Consolas" pitchFamily="49" charset="0"/>
              </a:rPr>
              <a:t>var</a:t>
            </a:r>
            <a:r>
              <a:rPr lang="en-US" sz="900" dirty="0" smtClean="0">
                <a:latin typeface="Consolas" pitchFamily="49" charset="0"/>
              </a:rPr>
              <a:t> </a:t>
            </a:r>
            <a:r>
              <a:rPr lang="en-US" sz="900" dirty="0" err="1" smtClean="0">
                <a:latin typeface="Consolas" pitchFamily="49" charset="0"/>
              </a:rPr>
              <a:t>commonStyle</a:t>
            </a:r>
            <a:r>
              <a:rPr lang="en-US" sz="900" dirty="0" smtClean="0">
                <a:latin typeface="Consolas" pitchFamily="49" charset="0"/>
              </a:rPr>
              <a:t> = {</a:t>
            </a:r>
          </a:p>
          <a:p>
            <a:r>
              <a:rPr lang="en-US" sz="900" dirty="0" smtClean="0">
                <a:latin typeface="Consolas" pitchFamily="49" charset="0"/>
              </a:rPr>
              <a:t>                        margin: 0,</a:t>
            </a:r>
          </a:p>
          <a:p>
            <a:r>
              <a:rPr lang="en-US" sz="900" dirty="0" smtClean="0">
                <a:latin typeface="Consolas" pitchFamily="49" charset="0"/>
              </a:rPr>
              <a:t>                        padding: 0</a:t>
            </a:r>
          </a:p>
          <a:p>
            <a:r>
              <a:rPr lang="en-US" sz="900" dirty="0" smtClean="0">
                <a:latin typeface="Consolas" pitchFamily="49" charset="0"/>
              </a:rPr>
              <a:t>                    }</a:t>
            </a:r>
          </a:p>
          <a:p>
            <a:r>
              <a:rPr lang="en-US" sz="900" dirty="0" smtClean="0">
                <a:latin typeface="Consolas" pitchFamily="49" charset="0"/>
              </a:rPr>
              <a:t>                    </a:t>
            </a:r>
            <a:r>
              <a:rPr lang="en-US" sz="900" dirty="0" err="1" smtClean="0">
                <a:latin typeface="Consolas" pitchFamily="49" charset="0"/>
              </a:rPr>
              <a:t>var</a:t>
            </a:r>
            <a:r>
              <a:rPr lang="en-US" sz="900" dirty="0" smtClean="0">
                <a:latin typeface="Consolas" pitchFamily="49" charset="0"/>
              </a:rPr>
              <a:t> </a:t>
            </a:r>
            <a:r>
              <a:rPr lang="en-US" sz="900" dirty="0" err="1" smtClean="0">
                <a:latin typeface="Consolas" pitchFamily="49" charset="0"/>
              </a:rPr>
              <a:t>divStyle</a:t>
            </a:r>
            <a:r>
              <a:rPr lang="en-US" sz="900" dirty="0" smtClean="0">
                <a:latin typeface="Consolas" pitchFamily="49" charset="0"/>
              </a:rPr>
              <a:t> = {</a:t>
            </a:r>
          </a:p>
          <a:p>
            <a:r>
              <a:rPr lang="en-US" sz="900" dirty="0" smtClean="0">
                <a:latin typeface="Consolas" pitchFamily="49" charset="0"/>
              </a:rPr>
              <a:t>                        width: 250,</a:t>
            </a:r>
          </a:p>
          <a:p>
            <a:r>
              <a:rPr lang="en-US" sz="900" b="1" dirty="0" smtClean="0">
                <a:solidFill>
                  <a:srgbClr val="C00000"/>
                </a:solidFill>
                <a:latin typeface="Consolas" pitchFamily="49" charset="0"/>
              </a:rPr>
              <a:t>...</a:t>
            </a:r>
          </a:p>
          <a:p>
            <a:r>
              <a:rPr lang="en-US" sz="900" dirty="0" smtClean="0">
                <a:latin typeface="Consolas" pitchFamily="49" charset="0"/>
              </a:rPr>
              <a:t>                    };</a:t>
            </a:r>
          </a:p>
          <a:p>
            <a:endParaRPr lang="en-US" sz="900" dirty="0" smtClean="0">
              <a:latin typeface="Consolas" pitchFamily="49" charset="0"/>
            </a:endParaRPr>
          </a:p>
          <a:p>
            <a:r>
              <a:rPr lang="en-US" sz="900" dirty="0" smtClean="0">
                <a:latin typeface="Consolas" pitchFamily="49" charset="0"/>
              </a:rPr>
              <a:t>                    </a:t>
            </a:r>
            <a:r>
              <a:rPr lang="en-US" sz="900" dirty="0" err="1" smtClean="0">
                <a:latin typeface="Consolas" pitchFamily="49" charset="0"/>
              </a:rPr>
              <a:t>var</a:t>
            </a:r>
            <a:r>
              <a:rPr lang="en-US" sz="900" dirty="0" smtClean="0">
                <a:latin typeface="Consolas" pitchFamily="49" charset="0"/>
              </a:rPr>
              <a:t> </a:t>
            </a:r>
            <a:r>
              <a:rPr lang="en-US" sz="900" dirty="0" err="1" smtClean="0">
                <a:latin typeface="Consolas" pitchFamily="49" charset="0"/>
              </a:rPr>
              <a:t>textStyles</a:t>
            </a:r>
            <a:r>
              <a:rPr lang="en-US" sz="900" dirty="0" smtClean="0">
                <a:latin typeface="Consolas" pitchFamily="49" charset="0"/>
              </a:rPr>
              <a:t> = {</a:t>
            </a:r>
          </a:p>
          <a:p>
            <a:r>
              <a:rPr lang="en-US" sz="900" dirty="0" smtClean="0">
                <a:latin typeface="Consolas" pitchFamily="49" charset="0"/>
              </a:rPr>
              <a:t>                        emphasis: {</a:t>
            </a:r>
          </a:p>
          <a:p>
            <a:r>
              <a:rPr lang="en-US" sz="900" dirty="0" smtClean="0">
                <a:latin typeface="Consolas" pitchFamily="49" charset="0"/>
              </a:rPr>
              <a:t>                            </a:t>
            </a:r>
            <a:r>
              <a:rPr lang="en-US" sz="900" dirty="0" err="1" smtClean="0">
                <a:latin typeface="Consolas" pitchFamily="49" charset="0"/>
              </a:rPr>
              <a:t>fontSize</a:t>
            </a:r>
            <a:r>
              <a:rPr lang="en-US" sz="900" dirty="0" smtClean="0">
                <a:latin typeface="Consolas" pitchFamily="49" charset="0"/>
              </a:rPr>
              <a:t>: 38,</a:t>
            </a:r>
          </a:p>
          <a:p>
            <a:r>
              <a:rPr lang="en-US" sz="900" dirty="0" smtClean="0">
                <a:latin typeface="Consolas" pitchFamily="49" charset="0"/>
              </a:rPr>
              <a:t>                            ...</a:t>
            </a:r>
            <a:r>
              <a:rPr lang="en-US" sz="900" dirty="0" err="1" smtClean="0">
                <a:latin typeface="Consolas" pitchFamily="49" charset="0"/>
              </a:rPr>
              <a:t>commonStyle</a:t>
            </a:r>
            <a:endParaRPr lang="en-US" sz="900" dirty="0" smtClean="0">
              <a:latin typeface="Consolas" pitchFamily="49" charset="0"/>
            </a:endParaRPr>
          </a:p>
          <a:p>
            <a:r>
              <a:rPr lang="en-US" sz="900" dirty="0" smtClean="0">
                <a:latin typeface="Consolas" pitchFamily="49" charset="0"/>
              </a:rPr>
              <a:t>                        },</a:t>
            </a:r>
          </a:p>
          <a:p>
            <a:r>
              <a:rPr lang="en-US" sz="900" dirty="0" smtClean="0">
                <a:latin typeface="Consolas" pitchFamily="49" charset="0"/>
              </a:rPr>
              <a:t>                        </a:t>
            </a:r>
            <a:r>
              <a:rPr lang="en-US" sz="900" dirty="0" err="1" smtClean="0">
                <a:latin typeface="Consolas" pitchFamily="49" charset="0"/>
              </a:rPr>
              <a:t>smallEmphasis</a:t>
            </a:r>
            <a:r>
              <a:rPr lang="en-US" sz="900" dirty="0" smtClean="0">
                <a:latin typeface="Consolas" pitchFamily="49" charset="0"/>
              </a:rPr>
              <a:t>: {</a:t>
            </a:r>
          </a:p>
          <a:p>
            <a:r>
              <a:rPr lang="en-US" sz="900" dirty="0" smtClean="0">
                <a:latin typeface="Consolas" pitchFamily="49" charset="0"/>
              </a:rPr>
              <a:t>                            ...</a:t>
            </a:r>
            <a:r>
              <a:rPr lang="en-US" sz="900" dirty="0" err="1" smtClean="0">
                <a:latin typeface="Consolas" pitchFamily="49" charset="0"/>
              </a:rPr>
              <a:t>commonStyle</a:t>
            </a:r>
            <a:endParaRPr lang="en-US" sz="900" dirty="0" smtClean="0">
              <a:latin typeface="Consolas" pitchFamily="49" charset="0"/>
            </a:endParaRPr>
          </a:p>
          <a:p>
            <a:r>
              <a:rPr lang="en-US" sz="900" dirty="0" smtClean="0">
                <a:latin typeface="Consolas" pitchFamily="49" charset="0"/>
              </a:rPr>
              <a:t>                        },</a:t>
            </a:r>
          </a:p>
          <a:p>
            <a:r>
              <a:rPr lang="en-US" sz="900" dirty="0" smtClean="0">
                <a:latin typeface="Consolas" pitchFamily="49" charset="0"/>
              </a:rPr>
              <a:t>                        small: {</a:t>
            </a:r>
          </a:p>
          <a:p>
            <a:r>
              <a:rPr lang="en-US" sz="900" dirty="0" smtClean="0">
                <a:latin typeface="Consolas" pitchFamily="49" charset="0"/>
              </a:rPr>
              <a:t>                            </a:t>
            </a:r>
            <a:r>
              <a:rPr lang="en-US" sz="900" dirty="0" err="1" smtClean="0">
                <a:latin typeface="Consolas" pitchFamily="49" charset="0"/>
              </a:rPr>
              <a:t>fontSize</a:t>
            </a:r>
            <a:r>
              <a:rPr lang="en-US" sz="900" dirty="0" smtClean="0">
                <a:latin typeface="Consolas" pitchFamily="49" charset="0"/>
              </a:rPr>
              <a:t>: 17,</a:t>
            </a:r>
          </a:p>
          <a:p>
            <a:r>
              <a:rPr lang="en-US" sz="900" dirty="0" smtClean="0">
                <a:latin typeface="Consolas" pitchFamily="49" charset="0"/>
              </a:rPr>
              <a:t>                            opacity: 0.5,</a:t>
            </a:r>
          </a:p>
          <a:p>
            <a:r>
              <a:rPr lang="en-US" sz="900" dirty="0" smtClean="0">
                <a:latin typeface="Consolas" pitchFamily="49" charset="0"/>
              </a:rPr>
              <a:t>                            ...</a:t>
            </a:r>
            <a:r>
              <a:rPr lang="en-US" sz="900" dirty="0" err="1" smtClean="0">
                <a:latin typeface="Consolas" pitchFamily="49" charset="0"/>
              </a:rPr>
              <a:t>commonStyle</a:t>
            </a:r>
            <a:endParaRPr lang="en-US" sz="900" dirty="0" smtClean="0">
              <a:latin typeface="Consolas" pitchFamily="49" charset="0"/>
            </a:endParaRPr>
          </a:p>
          <a:p>
            <a:r>
              <a:rPr lang="en-US" sz="900" dirty="0" smtClean="0">
                <a:latin typeface="Consolas" pitchFamily="49" charset="0"/>
              </a:rPr>
              <a:t>                        }</a:t>
            </a:r>
          </a:p>
          <a:p>
            <a:r>
              <a:rPr lang="en-US" sz="900" dirty="0" smtClean="0">
                <a:latin typeface="Consolas" pitchFamily="49" charset="0"/>
              </a:rPr>
              <a:t>                    }</a:t>
            </a:r>
          </a:p>
          <a:p>
            <a:endParaRPr lang="en-US" sz="900" dirty="0" smtClean="0">
              <a:latin typeface="Consolas" pitchFamily="49" charset="0"/>
            </a:endParaRPr>
          </a:p>
          <a:p>
            <a:r>
              <a:rPr lang="en-US" sz="900" dirty="0" smtClean="0">
                <a:latin typeface="Consolas" pitchFamily="49" charset="0"/>
              </a:rPr>
              <a:t>                    return(</a:t>
            </a:r>
          </a:p>
          <a:p>
            <a:r>
              <a:rPr lang="en-US" sz="900" dirty="0" smtClean="0">
                <a:latin typeface="Consolas" pitchFamily="49" charset="0"/>
              </a:rPr>
              <a:t>                        &lt;div style={</a:t>
            </a:r>
            <a:r>
              <a:rPr lang="en-US" sz="900" dirty="0" err="1" smtClean="0">
                <a:latin typeface="Consolas" pitchFamily="49" charset="0"/>
              </a:rPr>
              <a:t>divStyle</a:t>
            </a:r>
            <a:r>
              <a:rPr lang="en-US" sz="900" dirty="0" smtClean="0">
                <a:latin typeface="Consolas" pitchFamily="49" charset="0"/>
              </a:rPr>
              <a:t>}&gt;</a:t>
            </a:r>
          </a:p>
          <a:p>
            <a:r>
              <a:rPr lang="en-US" sz="900" dirty="0" smtClean="0">
                <a:latin typeface="Consolas" pitchFamily="49" charset="0"/>
              </a:rPr>
              <a:t>                            &lt;</a:t>
            </a:r>
            <a:r>
              <a:rPr lang="en-US" sz="900" dirty="0" err="1" smtClean="0">
                <a:latin typeface="Consolas" pitchFamily="49" charset="0"/>
              </a:rPr>
              <a:t>LightningCounter</a:t>
            </a:r>
            <a:r>
              <a:rPr lang="en-US" sz="900" dirty="0" smtClean="0">
                <a:latin typeface="Consolas" pitchFamily="49" charset="0"/>
              </a:rPr>
              <a:t> /&gt;</a:t>
            </a:r>
          </a:p>
          <a:p>
            <a:r>
              <a:rPr lang="en-US" sz="900" dirty="0" smtClean="0">
                <a:latin typeface="Consolas" pitchFamily="49" charset="0"/>
              </a:rPr>
              <a:t>                            &lt;h2 style={</a:t>
            </a:r>
            <a:r>
              <a:rPr lang="en-US" sz="900" dirty="0" err="1" smtClean="0">
                <a:latin typeface="Consolas" pitchFamily="49" charset="0"/>
              </a:rPr>
              <a:t>textStyles.smallEmphasis</a:t>
            </a:r>
            <a:r>
              <a:rPr lang="en-US" sz="900" dirty="0" smtClean="0">
                <a:latin typeface="Consolas" pitchFamily="49" charset="0"/>
              </a:rPr>
              <a:t>}&gt;LIGHTNING STRIKES&lt;/h2&gt;</a:t>
            </a:r>
          </a:p>
          <a:p>
            <a:r>
              <a:rPr lang="en-US" sz="900" dirty="0" smtClean="0">
                <a:latin typeface="Consolas" pitchFamily="49" charset="0"/>
              </a:rPr>
              <a:t>                            &lt;h2 style={</a:t>
            </a:r>
            <a:r>
              <a:rPr lang="en-US" sz="900" dirty="0" err="1" smtClean="0">
                <a:latin typeface="Consolas" pitchFamily="49" charset="0"/>
              </a:rPr>
              <a:t>textStyles.emphasis</a:t>
            </a:r>
            <a:r>
              <a:rPr lang="en-US" sz="900" dirty="0" smtClean="0">
                <a:latin typeface="Consolas" pitchFamily="49" charset="0"/>
              </a:rPr>
              <a:t>}&gt;WORLDWIDE&lt;/h2&gt;</a:t>
            </a:r>
          </a:p>
          <a:p>
            <a:r>
              <a:rPr lang="en-US" sz="900" dirty="0" smtClean="0">
                <a:latin typeface="Consolas" pitchFamily="49" charset="0"/>
              </a:rPr>
              <a:t>                            &lt;p style={</a:t>
            </a:r>
            <a:r>
              <a:rPr lang="en-US" sz="900" dirty="0" err="1" smtClean="0">
                <a:latin typeface="Consolas" pitchFamily="49" charset="0"/>
              </a:rPr>
              <a:t>textStyles.small</a:t>
            </a:r>
            <a:r>
              <a:rPr lang="en-US" sz="900" dirty="0" smtClean="0">
                <a:latin typeface="Consolas" pitchFamily="49" charset="0"/>
              </a:rPr>
              <a:t>}&gt;(since you loaded this example)&lt;/p&gt;</a:t>
            </a:r>
          </a:p>
          <a:p>
            <a:r>
              <a:rPr lang="en-US" sz="900" dirty="0" smtClean="0">
                <a:latin typeface="Consolas" pitchFamily="49" charset="0"/>
              </a:rPr>
              <a:t>                        &lt;/div&gt;</a:t>
            </a:r>
          </a:p>
          <a:p>
            <a:r>
              <a:rPr lang="en-US" sz="900" dirty="0" smtClean="0">
                <a:latin typeface="Consolas" pitchFamily="49" charset="0"/>
              </a:rPr>
              <a:t>                    );</a:t>
            </a:r>
          </a:p>
          <a:p>
            <a:r>
              <a:rPr lang="en-US" sz="900" b="1" dirty="0" smtClean="0">
                <a:solidFill>
                  <a:srgbClr val="C00000"/>
                </a:solidFill>
                <a:latin typeface="Consolas" pitchFamily="49" charset="0"/>
              </a:rPr>
              <a:t>...</a:t>
            </a:r>
          </a:p>
        </p:txBody>
      </p:sp>
      <p:pic>
        <p:nvPicPr>
          <p:cNvPr id="5122" name="Picture 2"/>
          <p:cNvPicPr>
            <a:picLocks noChangeAspect="1" noChangeArrowheads="1"/>
          </p:cNvPicPr>
          <p:nvPr/>
        </p:nvPicPr>
        <p:blipFill>
          <a:blip r:embed="rId2" cstate="print"/>
          <a:srcRect/>
          <a:stretch>
            <a:fillRect/>
          </a:stretch>
        </p:blipFill>
        <p:spPr bwMode="auto">
          <a:xfrm>
            <a:off x="5029200" y="1828800"/>
            <a:ext cx="3241675" cy="2924175"/>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JSX Variable</a:t>
            </a:r>
            <a:endParaRPr lang="en-US" dirty="0"/>
          </a:p>
        </p:txBody>
      </p:sp>
      <p:sp>
        <p:nvSpPr>
          <p:cNvPr id="4" name="Rectangle 3"/>
          <p:cNvSpPr/>
          <p:nvPr/>
        </p:nvSpPr>
        <p:spPr>
          <a:xfrm>
            <a:off x="533400" y="1371600"/>
            <a:ext cx="8153400" cy="5170646"/>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400" dirty="0" smtClean="0">
                <a:latin typeface="Consolas" pitchFamily="49" charset="0"/>
              </a:rPr>
              <a:t> class Circle extends </a:t>
            </a:r>
            <a:r>
              <a:rPr lang="en-US" sz="1400" dirty="0" err="1" smtClean="0">
                <a:latin typeface="Consolas" pitchFamily="49" charset="0"/>
              </a:rPr>
              <a:t>React.Component</a:t>
            </a:r>
            <a:r>
              <a:rPr lang="en-US" sz="1400" dirty="0" smtClean="0">
                <a:latin typeface="Consolas" pitchFamily="49" charset="0"/>
              </a:rPr>
              <a:t> {</a:t>
            </a:r>
          </a:p>
          <a:p>
            <a:r>
              <a:rPr lang="en-US" sz="1400" dirty="0" smtClean="0">
                <a:latin typeface="Consolas" pitchFamily="49" charset="0"/>
              </a:rPr>
              <a:t>            render() {</a:t>
            </a:r>
          </a:p>
          <a:p>
            <a:r>
              <a:rPr lang="en-US" sz="1400" dirty="0" smtClean="0">
                <a:latin typeface="Consolas" pitchFamily="49" charset="0"/>
              </a:rPr>
              <a:t>                </a:t>
            </a:r>
            <a:r>
              <a:rPr lang="en-US" sz="1400" dirty="0" err="1" smtClean="0">
                <a:latin typeface="Consolas" pitchFamily="49" charset="0"/>
              </a:rPr>
              <a:t>var</a:t>
            </a:r>
            <a:r>
              <a:rPr lang="en-US" sz="1400" dirty="0" smtClean="0">
                <a:latin typeface="Consolas" pitchFamily="49" charset="0"/>
              </a:rPr>
              <a:t> </a:t>
            </a:r>
            <a:r>
              <a:rPr lang="en-US" sz="1400" dirty="0" err="1" smtClean="0">
                <a:latin typeface="Consolas" pitchFamily="49" charset="0"/>
              </a:rPr>
              <a:t>circleStyle</a:t>
            </a:r>
            <a:r>
              <a:rPr lang="en-US" sz="1400" dirty="0" smtClean="0">
                <a:latin typeface="Consolas" pitchFamily="49" charset="0"/>
              </a:rPr>
              <a:t> = {</a:t>
            </a:r>
          </a:p>
          <a:p>
            <a:r>
              <a:rPr lang="en-US" sz="1400" b="1" dirty="0" smtClean="0">
                <a:solidFill>
                  <a:srgbClr val="C00000"/>
                </a:solidFill>
                <a:latin typeface="Consolas" pitchFamily="49" charset="0"/>
              </a:rPr>
              <a:t>...</a:t>
            </a:r>
          </a:p>
          <a:p>
            <a:r>
              <a:rPr lang="en-US" sz="1400" dirty="0" smtClean="0">
                <a:latin typeface="Consolas" pitchFamily="49" charset="0"/>
              </a:rPr>
              <a:t>                    </a:t>
            </a:r>
            <a:r>
              <a:rPr lang="en-US" sz="1400" dirty="0" err="1" smtClean="0">
                <a:latin typeface="Consolas" pitchFamily="49" charset="0"/>
              </a:rPr>
              <a:t>borderRadius</a:t>
            </a:r>
            <a:r>
              <a:rPr lang="en-US" sz="1400" dirty="0" smtClean="0">
                <a:latin typeface="Consolas" pitchFamily="49" charset="0"/>
              </a:rPr>
              <a:t>: "50%",</a:t>
            </a:r>
          </a:p>
          <a:p>
            <a:r>
              <a:rPr lang="en-US" sz="1400" dirty="0" smtClean="0">
                <a:latin typeface="Consolas" pitchFamily="49" charset="0"/>
              </a:rPr>
              <a:t>                    width: 100,</a:t>
            </a:r>
          </a:p>
          <a:p>
            <a:r>
              <a:rPr lang="en-US" sz="1400" dirty="0" smtClean="0">
                <a:latin typeface="Consolas" pitchFamily="49" charset="0"/>
              </a:rPr>
              <a:t>                    height: 100,</a:t>
            </a:r>
          </a:p>
          <a:p>
            <a:r>
              <a:rPr lang="en-US" sz="1400" dirty="0" smtClean="0">
                <a:latin typeface="Consolas" pitchFamily="49" charset="0"/>
              </a:rPr>
              <a:t>                };</a:t>
            </a:r>
          </a:p>
          <a:p>
            <a:r>
              <a:rPr lang="en-US" sz="1400" dirty="0" smtClean="0">
                <a:latin typeface="Consolas" pitchFamily="49" charset="0"/>
              </a:rPr>
              <a:t>                return (</a:t>
            </a:r>
          </a:p>
          <a:p>
            <a:r>
              <a:rPr lang="en-US" sz="1400" dirty="0" smtClean="0">
                <a:latin typeface="Consolas" pitchFamily="49" charset="0"/>
              </a:rPr>
              <a:t>                    &lt;div style={</a:t>
            </a:r>
            <a:r>
              <a:rPr lang="en-US" sz="1400" dirty="0" err="1" smtClean="0">
                <a:latin typeface="Consolas" pitchFamily="49" charset="0"/>
              </a:rPr>
              <a:t>circleStyle</a:t>
            </a:r>
            <a:r>
              <a:rPr lang="en-US" sz="1400" dirty="0" smtClean="0">
                <a:latin typeface="Consolas" pitchFamily="49" charset="0"/>
              </a:rPr>
              <a:t>}&gt;</a:t>
            </a:r>
          </a:p>
          <a:p>
            <a:r>
              <a:rPr lang="en-US" sz="1400" dirty="0" smtClean="0">
                <a:latin typeface="Consolas" pitchFamily="49" charset="0"/>
              </a:rPr>
              <a:t>                    &lt;/div&gt;</a:t>
            </a:r>
          </a:p>
          <a:p>
            <a:r>
              <a:rPr lang="en-US" sz="1400" dirty="0" smtClean="0">
                <a:latin typeface="Consolas" pitchFamily="49" charset="0"/>
              </a:rPr>
              <a:t>                );</a:t>
            </a:r>
          </a:p>
          <a:p>
            <a:r>
              <a:rPr lang="en-US" sz="1400" dirty="0" smtClean="0">
                <a:latin typeface="Consolas" pitchFamily="49" charset="0"/>
              </a:rPr>
              <a:t>            }</a:t>
            </a:r>
          </a:p>
          <a:p>
            <a:r>
              <a:rPr lang="en-US" sz="1400" dirty="0" smtClean="0">
                <a:latin typeface="Consolas" pitchFamily="49" charset="0"/>
              </a:rPr>
              <a:t>        }</a:t>
            </a:r>
          </a:p>
          <a:p>
            <a:endParaRPr lang="en-US" sz="1400" dirty="0" smtClean="0">
              <a:latin typeface="Consolas" pitchFamily="49" charset="0"/>
            </a:endParaRPr>
          </a:p>
          <a:p>
            <a:r>
              <a:rPr lang="en-US" sz="1400" dirty="0" smtClean="0">
                <a:latin typeface="Consolas" pitchFamily="49" charset="0"/>
              </a:rPr>
              <a:t>        </a:t>
            </a:r>
            <a:r>
              <a:rPr lang="en-US" sz="1400" dirty="0" err="1" smtClean="0">
                <a:latin typeface="Consolas" pitchFamily="49" charset="0"/>
              </a:rPr>
              <a:t>var</a:t>
            </a:r>
            <a:r>
              <a:rPr lang="en-US" sz="1400" dirty="0" smtClean="0">
                <a:latin typeface="Consolas" pitchFamily="49" charset="0"/>
              </a:rPr>
              <a:t> destination = </a:t>
            </a:r>
            <a:r>
              <a:rPr lang="en-US" sz="1400" dirty="0" err="1" smtClean="0">
                <a:latin typeface="Consolas" pitchFamily="49" charset="0"/>
              </a:rPr>
              <a:t>document.querySelector</a:t>
            </a:r>
            <a:r>
              <a:rPr lang="en-US" sz="1400" dirty="0" smtClean="0">
                <a:latin typeface="Consolas" pitchFamily="49" charset="0"/>
              </a:rPr>
              <a:t>("#container");</a:t>
            </a:r>
          </a:p>
          <a:p>
            <a:r>
              <a:rPr lang="en-US" sz="1400" dirty="0" smtClean="0">
                <a:latin typeface="Consolas" pitchFamily="49" charset="0"/>
              </a:rPr>
              <a:t>        </a:t>
            </a:r>
            <a:r>
              <a:rPr lang="en-US" sz="1400" dirty="0" err="1" smtClean="0">
                <a:latin typeface="Consolas" pitchFamily="49" charset="0"/>
              </a:rPr>
              <a:t>var</a:t>
            </a:r>
            <a:r>
              <a:rPr lang="en-US" sz="1400" dirty="0" smtClean="0">
                <a:latin typeface="Consolas" pitchFamily="49" charset="0"/>
              </a:rPr>
              <a:t> </a:t>
            </a:r>
            <a:r>
              <a:rPr lang="en-US" sz="1400" dirty="0" err="1" smtClean="0">
                <a:latin typeface="Consolas" pitchFamily="49" charset="0"/>
              </a:rPr>
              <a:t>theCircle</a:t>
            </a:r>
            <a:r>
              <a:rPr lang="en-US" sz="1400" dirty="0" smtClean="0">
                <a:latin typeface="Consolas" pitchFamily="49" charset="0"/>
              </a:rPr>
              <a:t> = &lt;Circle </a:t>
            </a:r>
            <a:r>
              <a:rPr lang="en-US" sz="1400" dirty="0" err="1" smtClean="0">
                <a:latin typeface="Consolas" pitchFamily="49" charset="0"/>
              </a:rPr>
              <a:t>bgColor</a:t>
            </a:r>
            <a:r>
              <a:rPr lang="en-US" sz="1400" dirty="0" smtClean="0">
                <a:latin typeface="Consolas" pitchFamily="49" charset="0"/>
              </a:rPr>
              <a:t>="#F9C240"/&gt;;</a:t>
            </a:r>
          </a:p>
          <a:p>
            <a:r>
              <a:rPr lang="en-US" sz="1400" dirty="0" smtClean="0">
                <a:latin typeface="Consolas" pitchFamily="49" charset="0"/>
              </a:rPr>
              <a:t>        </a:t>
            </a:r>
            <a:r>
              <a:rPr lang="en-US" sz="1400" dirty="0" err="1" smtClean="0">
                <a:latin typeface="Consolas" pitchFamily="49" charset="0"/>
              </a:rPr>
              <a:t>ReactDOM.render</a:t>
            </a:r>
            <a:r>
              <a:rPr lang="en-US" sz="1400" dirty="0" smtClean="0">
                <a:latin typeface="Consolas" pitchFamily="49" charset="0"/>
              </a:rPr>
              <a:t>(</a:t>
            </a:r>
          </a:p>
          <a:p>
            <a:r>
              <a:rPr lang="en-US" sz="1400" dirty="0" smtClean="0">
                <a:latin typeface="Consolas" pitchFamily="49" charset="0"/>
              </a:rPr>
              <a:t>            &lt;div&gt;</a:t>
            </a:r>
          </a:p>
          <a:p>
            <a:r>
              <a:rPr lang="en-US" sz="1400" dirty="0" smtClean="0">
                <a:latin typeface="Consolas" pitchFamily="49" charset="0"/>
              </a:rPr>
              <a:t>                {</a:t>
            </a:r>
            <a:r>
              <a:rPr lang="en-US" sz="1400" dirty="0" err="1" smtClean="0">
                <a:latin typeface="Consolas" pitchFamily="49" charset="0"/>
              </a:rPr>
              <a:t>theCircle</a:t>
            </a:r>
            <a:r>
              <a:rPr lang="en-US" sz="1400" dirty="0" smtClean="0">
                <a:latin typeface="Consolas" pitchFamily="49" charset="0"/>
              </a:rPr>
              <a:t>}</a:t>
            </a:r>
          </a:p>
          <a:p>
            <a:r>
              <a:rPr lang="en-US" sz="1400" dirty="0" smtClean="0">
                <a:latin typeface="Consolas" pitchFamily="49" charset="0"/>
              </a:rPr>
              <a:t>            &lt;/div&gt;,</a:t>
            </a:r>
          </a:p>
          <a:p>
            <a:r>
              <a:rPr lang="en-US" sz="1400" dirty="0" smtClean="0">
                <a:latin typeface="Consolas" pitchFamily="49" charset="0"/>
              </a:rPr>
              <a:t>            destination</a:t>
            </a:r>
          </a:p>
          <a:p>
            <a:r>
              <a:rPr lang="en-US" sz="1400" dirty="0" smtClean="0">
                <a:latin typeface="Consolas" pitchFamily="49" charset="0"/>
              </a:rPr>
              <a:t>        );</a:t>
            </a:r>
          </a:p>
        </p:txBody>
      </p:sp>
      <p:pic>
        <p:nvPicPr>
          <p:cNvPr id="1026" name="Picture 2"/>
          <p:cNvPicPr>
            <a:picLocks noChangeAspect="1" noChangeArrowheads="1"/>
          </p:cNvPicPr>
          <p:nvPr/>
        </p:nvPicPr>
        <p:blipFill>
          <a:blip r:embed="rId2" cstate="print"/>
          <a:srcRect/>
          <a:stretch>
            <a:fillRect/>
          </a:stretch>
        </p:blipFill>
        <p:spPr bwMode="auto">
          <a:xfrm>
            <a:off x="6934200" y="1752600"/>
            <a:ext cx="1455420" cy="1447800"/>
          </a:xfrm>
          <a:prstGeom prst="rect">
            <a:avLst/>
          </a:prstGeom>
          <a:noFill/>
          <a:ln w="9525">
            <a:noFill/>
            <a:miter lim="800000"/>
            <a:headEnd/>
            <a:tailEnd/>
          </a:ln>
        </p:spPr>
      </p:pic>
      <p:sp>
        <p:nvSpPr>
          <p:cNvPr id="6" name="Rectangle 5"/>
          <p:cNvSpPr/>
          <p:nvPr/>
        </p:nvSpPr>
        <p:spPr>
          <a:xfrm>
            <a:off x="3733800" y="5181600"/>
            <a:ext cx="4572000" cy="923330"/>
          </a:xfrm>
          <a:prstGeom prst="rect">
            <a:avLst/>
          </a:prstGeom>
        </p:spPr>
        <p:style>
          <a:lnRef idx="1">
            <a:schemeClr val="dk1"/>
          </a:lnRef>
          <a:fillRef idx="3">
            <a:schemeClr val="dk1"/>
          </a:fillRef>
          <a:effectRef idx="2">
            <a:schemeClr val="dk1"/>
          </a:effectRef>
          <a:fontRef idx="minor">
            <a:schemeClr val="lt1"/>
          </a:fontRef>
        </p:style>
        <p:txBody>
          <a:bodyPr>
            <a:spAutoFit/>
          </a:bodyPr>
          <a:lstStyle/>
          <a:p>
            <a:r>
              <a:rPr lang="en-US" i="1" dirty="0" smtClean="0"/>
              <a:t>The </a:t>
            </a:r>
            <a:r>
              <a:rPr lang="en-US" i="1" dirty="0" err="1" smtClean="0"/>
              <a:t>theCircle</a:t>
            </a:r>
            <a:r>
              <a:rPr lang="en-US" i="1" dirty="0" smtClean="0"/>
              <a:t> variable stores the JSX for instantiating our Circle component.</a:t>
            </a:r>
          </a:p>
          <a:p>
            <a:r>
              <a:rPr lang="en-US" i="1" dirty="0" smtClean="0"/>
              <a:t>Why doing this?</a:t>
            </a:r>
            <a:endParaRPr lang="en-US" i="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JSX Function</a:t>
            </a:r>
            <a:endParaRPr lang="en-US" dirty="0"/>
          </a:p>
        </p:txBody>
      </p:sp>
      <p:sp>
        <p:nvSpPr>
          <p:cNvPr id="4" name="Rectangle 3"/>
          <p:cNvSpPr/>
          <p:nvPr/>
        </p:nvSpPr>
        <p:spPr>
          <a:xfrm>
            <a:off x="533400" y="1371600"/>
            <a:ext cx="8153400" cy="4031873"/>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b="1" dirty="0" smtClean="0">
                <a:solidFill>
                  <a:srgbClr val="C00000"/>
                </a:solidFill>
                <a:latin typeface="Consolas" pitchFamily="49" charset="0"/>
              </a:rPr>
              <a:t>...</a:t>
            </a:r>
          </a:p>
          <a:p>
            <a:r>
              <a:rPr lang="en-US" sz="1600" dirty="0" smtClean="0">
                <a:latin typeface="Consolas" pitchFamily="49" charset="0"/>
              </a:rPr>
              <a:t> function </a:t>
            </a:r>
            <a:r>
              <a:rPr lang="en-US" sz="1600" dirty="0" err="1" smtClean="0">
                <a:latin typeface="Consolas" pitchFamily="49" charset="0"/>
              </a:rPr>
              <a:t>showCircle</a:t>
            </a:r>
            <a:r>
              <a:rPr lang="en-US" sz="1600" dirty="0" smtClean="0">
                <a:latin typeface="Consolas" pitchFamily="49" charset="0"/>
              </a:rPr>
              <a:t>() {</a:t>
            </a:r>
          </a:p>
          <a:p>
            <a:r>
              <a:rPr lang="en-US" sz="1600" dirty="0" smtClean="0">
                <a:latin typeface="Consolas" pitchFamily="49" charset="0"/>
              </a:rPr>
              <a:t>            </a:t>
            </a:r>
            <a:r>
              <a:rPr lang="en-US" sz="1600" dirty="0" err="1" smtClean="0">
                <a:latin typeface="Consolas" pitchFamily="49" charset="0"/>
              </a:rPr>
              <a:t>var</a:t>
            </a:r>
            <a:r>
              <a:rPr lang="en-US" sz="1600" dirty="0" smtClean="0">
                <a:latin typeface="Consolas" pitchFamily="49" charset="0"/>
              </a:rPr>
              <a:t> colors = ["#393E41", "#E94F37", "#1C89BF", "#A1D363"];</a:t>
            </a:r>
          </a:p>
          <a:p>
            <a:r>
              <a:rPr lang="en-US" sz="1600" dirty="0" smtClean="0">
                <a:latin typeface="Consolas" pitchFamily="49" charset="0"/>
              </a:rPr>
              <a:t>            </a:t>
            </a:r>
            <a:r>
              <a:rPr lang="en-US" sz="1600" dirty="0" err="1" smtClean="0">
                <a:latin typeface="Consolas" pitchFamily="49" charset="0"/>
              </a:rPr>
              <a:t>var</a:t>
            </a:r>
            <a:r>
              <a:rPr lang="en-US" sz="1600" dirty="0" smtClean="0">
                <a:latin typeface="Consolas" pitchFamily="49" charset="0"/>
              </a:rPr>
              <a:t> ran = </a:t>
            </a:r>
            <a:r>
              <a:rPr lang="en-US" sz="1600" dirty="0" err="1" smtClean="0">
                <a:latin typeface="Consolas" pitchFamily="49" charset="0"/>
              </a:rPr>
              <a:t>Math.floor</a:t>
            </a:r>
            <a:r>
              <a:rPr lang="en-US" sz="1600" dirty="0" smtClean="0">
                <a:latin typeface="Consolas" pitchFamily="49" charset="0"/>
              </a:rPr>
              <a:t>(</a:t>
            </a:r>
            <a:r>
              <a:rPr lang="en-US" sz="1600" dirty="0" err="1" smtClean="0">
                <a:latin typeface="Consolas" pitchFamily="49" charset="0"/>
              </a:rPr>
              <a:t>Math.random</a:t>
            </a:r>
            <a:r>
              <a:rPr lang="en-US" sz="1600" dirty="0" smtClean="0">
                <a:latin typeface="Consolas" pitchFamily="49" charset="0"/>
              </a:rPr>
              <a:t>() * </a:t>
            </a:r>
            <a:r>
              <a:rPr lang="en-US" sz="1600" dirty="0" err="1" smtClean="0">
                <a:latin typeface="Consolas" pitchFamily="49" charset="0"/>
              </a:rPr>
              <a:t>colors.length</a:t>
            </a:r>
            <a:r>
              <a:rPr lang="en-US" sz="1600" dirty="0" smtClean="0">
                <a:latin typeface="Consolas" pitchFamily="49" charset="0"/>
              </a:rPr>
              <a:t>);</a:t>
            </a:r>
          </a:p>
          <a:p>
            <a:r>
              <a:rPr lang="en-US" sz="1600" dirty="0" smtClean="0">
                <a:latin typeface="Consolas" pitchFamily="49" charset="0"/>
              </a:rPr>
              <a:t>            // return a Circle with a randomly chosen color</a:t>
            </a:r>
          </a:p>
          <a:p>
            <a:r>
              <a:rPr lang="en-US" sz="1600" dirty="0" smtClean="0">
                <a:latin typeface="Consolas" pitchFamily="49" charset="0"/>
              </a:rPr>
              <a:t>            return &lt;Circle </a:t>
            </a:r>
            <a:r>
              <a:rPr lang="en-US" sz="1600" dirty="0" err="1" smtClean="0">
                <a:latin typeface="Consolas" pitchFamily="49" charset="0"/>
              </a:rPr>
              <a:t>bgColor</a:t>
            </a:r>
            <a:r>
              <a:rPr lang="en-US" sz="1600" dirty="0" smtClean="0">
                <a:latin typeface="Consolas" pitchFamily="49" charset="0"/>
              </a:rPr>
              <a:t>={colors[ran]} /&gt;;</a:t>
            </a:r>
          </a:p>
          <a:p>
            <a:r>
              <a:rPr lang="en-US" sz="1600" dirty="0" smtClean="0">
                <a:latin typeface="Consolas" pitchFamily="49" charset="0"/>
              </a:rPr>
              <a:t>        };</a:t>
            </a:r>
          </a:p>
          <a:p>
            <a:endParaRPr lang="en-US" sz="1600" dirty="0" smtClean="0">
              <a:latin typeface="Consolas" pitchFamily="49" charset="0"/>
            </a:endParaRPr>
          </a:p>
          <a:p>
            <a:r>
              <a:rPr lang="en-US" sz="1600" dirty="0" smtClean="0">
                <a:latin typeface="Consolas" pitchFamily="49" charset="0"/>
              </a:rPr>
              <a:t>        </a:t>
            </a:r>
            <a:r>
              <a:rPr lang="en-US" sz="1600" dirty="0" err="1" smtClean="0">
                <a:latin typeface="Consolas" pitchFamily="49" charset="0"/>
              </a:rPr>
              <a:t>var</a:t>
            </a:r>
            <a:r>
              <a:rPr lang="en-US" sz="1600" dirty="0" smtClean="0">
                <a:latin typeface="Consolas" pitchFamily="49" charset="0"/>
              </a:rPr>
              <a:t> destination = </a:t>
            </a:r>
            <a:r>
              <a:rPr lang="en-US" sz="1600" dirty="0" err="1" smtClean="0">
                <a:latin typeface="Consolas" pitchFamily="49" charset="0"/>
              </a:rPr>
              <a:t>document.querySelector</a:t>
            </a:r>
            <a:r>
              <a:rPr lang="en-US" sz="1600" dirty="0" smtClean="0">
                <a:latin typeface="Consolas" pitchFamily="49" charset="0"/>
              </a:rPr>
              <a:t>("#container");</a:t>
            </a:r>
          </a:p>
          <a:p>
            <a:r>
              <a:rPr lang="en-US" sz="1600" dirty="0" smtClean="0">
                <a:latin typeface="Consolas" pitchFamily="49" charset="0"/>
              </a:rPr>
              <a:t>        </a:t>
            </a:r>
            <a:r>
              <a:rPr lang="en-US" sz="1600" dirty="0" err="1" smtClean="0">
                <a:latin typeface="Consolas" pitchFamily="49" charset="0"/>
              </a:rPr>
              <a:t>ReactDOM.render</a:t>
            </a:r>
            <a:r>
              <a:rPr lang="en-US" sz="1600" dirty="0" smtClean="0">
                <a:latin typeface="Consolas" pitchFamily="49" charset="0"/>
              </a:rPr>
              <a:t>(</a:t>
            </a:r>
          </a:p>
          <a:p>
            <a:r>
              <a:rPr lang="en-US" sz="1600" dirty="0" smtClean="0">
                <a:latin typeface="Consolas" pitchFamily="49" charset="0"/>
              </a:rPr>
              <a:t>            &lt;div&gt;</a:t>
            </a:r>
          </a:p>
          <a:p>
            <a:r>
              <a:rPr lang="en-US" sz="1600" dirty="0" smtClean="0">
                <a:latin typeface="Consolas" pitchFamily="49" charset="0"/>
              </a:rPr>
              <a:t>                {</a:t>
            </a:r>
            <a:r>
              <a:rPr lang="en-US" sz="1600" dirty="0" err="1" smtClean="0">
                <a:latin typeface="Consolas" pitchFamily="49" charset="0"/>
              </a:rPr>
              <a:t>showCircle</a:t>
            </a:r>
            <a:r>
              <a:rPr lang="en-US" sz="1600" dirty="0" smtClean="0">
                <a:latin typeface="Consolas" pitchFamily="49" charset="0"/>
              </a:rPr>
              <a:t>()}</a:t>
            </a:r>
          </a:p>
          <a:p>
            <a:r>
              <a:rPr lang="en-US" sz="1600" dirty="0" smtClean="0">
                <a:latin typeface="Consolas" pitchFamily="49" charset="0"/>
              </a:rPr>
              <a:t>            &lt;/div&gt;,</a:t>
            </a:r>
          </a:p>
          <a:p>
            <a:r>
              <a:rPr lang="en-US" sz="1600" dirty="0" smtClean="0">
                <a:latin typeface="Consolas" pitchFamily="49" charset="0"/>
              </a:rPr>
              <a:t>            destination</a:t>
            </a:r>
          </a:p>
          <a:p>
            <a:r>
              <a:rPr lang="en-US" sz="1600" dirty="0" smtClean="0">
                <a:latin typeface="Consolas" pitchFamily="49" charset="0"/>
              </a:rPr>
              <a:t>        );</a:t>
            </a:r>
          </a:p>
          <a:p>
            <a:r>
              <a:rPr lang="en-US" sz="1600" b="1" dirty="0" smtClean="0">
                <a:solidFill>
                  <a:srgbClr val="C00000"/>
                </a:solidFill>
                <a:latin typeface="Consolas" pitchFamily="49" charset="0"/>
              </a:rPr>
              <a:t>...</a:t>
            </a:r>
          </a:p>
        </p:txBody>
      </p:sp>
      <p:pic>
        <p:nvPicPr>
          <p:cNvPr id="2050" name="Picture 2"/>
          <p:cNvPicPr>
            <a:picLocks noChangeAspect="1" noChangeArrowheads="1"/>
          </p:cNvPicPr>
          <p:nvPr/>
        </p:nvPicPr>
        <p:blipFill>
          <a:blip r:embed="rId2" cstate="print"/>
          <a:srcRect/>
          <a:stretch>
            <a:fillRect/>
          </a:stretch>
        </p:blipFill>
        <p:spPr bwMode="auto">
          <a:xfrm>
            <a:off x="6705600" y="4419600"/>
            <a:ext cx="1485900" cy="146685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JSX Array</a:t>
            </a:r>
            <a:endParaRPr lang="en-US" dirty="0"/>
          </a:p>
        </p:txBody>
      </p:sp>
      <p:sp>
        <p:nvSpPr>
          <p:cNvPr id="4" name="Rectangle 3"/>
          <p:cNvSpPr/>
          <p:nvPr/>
        </p:nvSpPr>
        <p:spPr>
          <a:xfrm>
            <a:off x="533400" y="1371600"/>
            <a:ext cx="8153400" cy="4031873"/>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b="1" dirty="0" smtClean="0">
                <a:solidFill>
                  <a:srgbClr val="C00000"/>
                </a:solidFill>
                <a:latin typeface="Consolas" pitchFamily="49" charset="0"/>
              </a:rPr>
              <a:t>...</a:t>
            </a:r>
          </a:p>
          <a:p>
            <a:r>
              <a:rPr lang="en-US" sz="1600" dirty="0" smtClean="0">
                <a:latin typeface="Consolas" pitchFamily="49" charset="0"/>
              </a:rPr>
              <a:t> </a:t>
            </a:r>
            <a:r>
              <a:rPr lang="en-US" sz="1600" dirty="0" err="1" smtClean="0">
                <a:latin typeface="Consolas" pitchFamily="49" charset="0"/>
              </a:rPr>
              <a:t>var</a:t>
            </a:r>
            <a:r>
              <a:rPr lang="en-US" sz="1600" dirty="0" smtClean="0">
                <a:latin typeface="Consolas" pitchFamily="49" charset="0"/>
              </a:rPr>
              <a:t> colors = ["#393E41", "#E94F37", "#1C89BF", "#A1D363",</a:t>
            </a:r>
          </a:p>
          <a:p>
            <a:r>
              <a:rPr lang="en-US" sz="1600" dirty="0" smtClean="0">
                <a:latin typeface="Consolas" pitchFamily="49" charset="0"/>
              </a:rPr>
              <a:t>        "#85FFC7", "#297373", "#FF8552", "#A40E4C"];</a:t>
            </a:r>
          </a:p>
          <a:p>
            <a:r>
              <a:rPr lang="en-US" sz="1600" dirty="0" smtClean="0">
                <a:latin typeface="Consolas" pitchFamily="49" charset="0"/>
              </a:rPr>
              <a:t>        </a:t>
            </a:r>
            <a:r>
              <a:rPr lang="en-US" sz="1600" dirty="0" err="1" smtClean="0">
                <a:latin typeface="Consolas" pitchFamily="49" charset="0"/>
              </a:rPr>
              <a:t>var</a:t>
            </a:r>
            <a:r>
              <a:rPr lang="en-US" sz="1600" dirty="0" smtClean="0">
                <a:latin typeface="Consolas" pitchFamily="49" charset="0"/>
              </a:rPr>
              <a:t> </a:t>
            </a:r>
            <a:r>
              <a:rPr lang="en-US" sz="1600" dirty="0" err="1" smtClean="0">
                <a:latin typeface="Consolas" pitchFamily="49" charset="0"/>
              </a:rPr>
              <a:t>renderData</a:t>
            </a:r>
            <a:r>
              <a:rPr lang="en-US" sz="1600" dirty="0" smtClean="0">
                <a:latin typeface="Consolas" pitchFamily="49" charset="0"/>
              </a:rPr>
              <a:t> = [];</a:t>
            </a:r>
          </a:p>
          <a:p>
            <a:r>
              <a:rPr lang="en-US" sz="1600" dirty="0" smtClean="0">
                <a:latin typeface="Consolas" pitchFamily="49" charset="0"/>
              </a:rPr>
              <a:t>        for (</a:t>
            </a:r>
            <a:r>
              <a:rPr lang="en-US" sz="1600" dirty="0" err="1" smtClean="0">
                <a:latin typeface="Consolas" pitchFamily="49" charset="0"/>
              </a:rPr>
              <a:t>var</a:t>
            </a:r>
            <a:r>
              <a:rPr lang="en-US" sz="1600" dirty="0" smtClean="0">
                <a:latin typeface="Consolas" pitchFamily="49" charset="0"/>
              </a:rPr>
              <a:t> </a:t>
            </a:r>
            <a:r>
              <a:rPr lang="en-US" sz="1600" dirty="0" err="1" smtClean="0">
                <a:latin typeface="Consolas" pitchFamily="49" charset="0"/>
              </a:rPr>
              <a:t>i</a:t>
            </a:r>
            <a:r>
              <a:rPr lang="en-US" sz="1600" dirty="0" smtClean="0">
                <a:latin typeface="Consolas" pitchFamily="49" charset="0"/>
              </a:rPr>
              <a:t> = 0; </a:t>
            </a:r>
            <a:r>
              <a:rPr lang="en-US" sz="1600" dirty="0" err="1" smtClean="0">
                <a:latin typeface="Consolas" pitchFamily="49" charset="0"/>
              </a:rPr>
              <a:t>i</a:t>
            </a:r>
            <a:r>
              <a:rPr lang="en-US" sz="1600" dirty="0" smtClean="0">
                <a:latin typeface="Consolas" pitchFamily="49" charset="0"/>
              </a:rPr>
              <a:t> &lt; </a:t>
            </a:r>
            <a:r>
              <a:rPr lang="en-US" sz="1600" dirty="0" err="1" smtClean="0">
                <a:latin typeface="Consolas" pitchFamily="49" charset="0"/>
              </a:rPr>
              <a:t>colors.length</a:t>
            </a:r>
            <a:r>
              <a:rPr lang="en-US" sz="1600" dirty="0" smtClean="0">
                <a:latin typeface="Consolas" pitchFamily="49" charset="0"/>
              </a:rPr>
              <a:t>; </a:t>
            </a:r>
            <a:r>
              <a:rPr lang="en-US" sz="1600" dirty="0" err="1" smtClean="0">
                <a:latin typeface="Consolas" pitchFamily="49" charset="0"/>
              </a:rPr>
              <a:t>i</a:t>
            </a:r>
            <a:r>
              <a:rPr lang="en-US" sz="1600" dirty="0" smtClean="0">
                <a:latin typeface="Consolas" pitchFamily="49" charset="0"/>
              </a:rPr>
              <a:t>++) {</a:t>
            </a:r>
          </a:p>
          <a:p>
            <a:r>
              <a:rPr lang="en-US" sz="1600" dirty="0" smtClean="0">
                <a:latin typeface="Consolas" pitchFamily="49" charset="0"/>
              </a:rPr>
              <a:t>            </a:t>
            </a:r>
            <a:r>
              <a:rPr lang="en-US" sz="1600" dirty="0" err="1" smtClean="0">
                <a:latin typeface="Consolas" pitchFamily="49" charset="0"/>
              </a:rPr>
              <a:t>renderData.push</a:t>
            </a:r>
            <a:r>
              <a:rPr lang="en-US" sz="1600" dirty="0" smtClean="0">
                <a:latin typeface="Consolas" pitchFamily="49" charset="0"/>
              </a:rPr>
              <a:t>(&lt;Circle </a:t>
            </a:r>
            <a:r>
              <a:rPr lang="en-US" sz="1600" dirty="0" err="1" smtClean="0">
                <a:latin typeface="Consolas" pitchFamily="49" charset="0"/>
              </a:rPr>
              <a:t>bgColor</a:t>
            </a:r>
            <a:r>
              <a:rPr lang="en-US" sz="1600" dirty="0" smtClean="0">
                <a:latin typeface="Consolas" pitchFamily="49" charset="0"/>
              </a:rPr>
              <a:t>={colors[</a:t>
            </a:r>
            <a:r>
              <a:rPr lang="en-US" sz="1600" dirty="0" err="1" smtClean="0">
                <a:latin typeface="Consolas" pitchFamily="49" charset="0"/>
              </a:rPr>
              <a:t>i</a:t>
            </a:r>
            <a:r>
              <a:rPr lang="en-US" sz="1600" dirty="0" smtClean="0">
                <a:latin typeface="Consolas" pitchFamily="49" charset="0"/>
              </a:rPr>
              <a:t>]}/&gt;);</a:t>
            </a:r>
          </a:p>
          <a:p>
            <a:r>
              <a:rPr lang="en-US" sz="1600" dirty="0" smtClean="0">
                <a:latin typeface="Consolas" pitchFamily="49" charset="0"/>
              </a:rPr>
              <a:t>        }</a:t>
            </a:r>
          </a:p>
          <a:p>
            <a:endParaRPr lang="en-US" sz="1600" dirty="0" smtClean="0">
              <a:latin typeface="Consolas" pitchFamily="49" charset="0"/>
            </a:endParaRPr>
          </a:p>
          <a:p>
            <a:r>
              <a:rPr lang="en-US" sz="1600" dirty="0" smtClean="0">
                <a:latin typeface="Consolas" pitchFamily="49" charset="0"/>
              </a:rPr>
              <a:t>        </a:t>
            </a:r>
            <a:r>
              <a:rPr lang="en-US" sz="1600" dirty="0" err="1" smtClean="0">
                <a:latin typeface="Consolas" pitchFamily="49" charset="0"/>
              </a:rPr>
              <a:t>var</a:t>
            </a:r>
            <a:r>
              <a:rPr lang="en-US" sz="1600" dirty="0" smtClean="0">
                <a:latin typeface="Consolas" pitchFamily="49" charset="0"/>
              </a:rPr>
              <a:t> destination = </a:t>
            </a:r>
            <a:r>
              <a:rPr lang="en-US" sz="1600" dirty="0" err="1" smtClean="0">
                <a:latin typeface="Consolas" pitchFamily="49" charset="0"/>
              </a:rPr>
              <a:t>document.querySelector</a:t>
            </a:r>
            <a:r>
              <a:rPr lang="en-US" sz="1600" dirty="0" smtClean="0">
                <a:latin typeface="Consolas" pitchFamily="49" charset="0"/>
              </a:rPr>
              <a:t>("#container");</a:t>
            </a:r>
          </a:p>
          <a:p>
            <a:r>
              <a:rPr lang="en-US" sz="1600" dirty="0" smtClean="0">
                <a:latin typeface="Consolas" pitchFamily="49" charset="0"/>
              </a:rPr>
              <a:t>        </a:t>
            </a:r>
            <a:r>
              <a:rPr lang="en-US" sz="1600" dirty="0" err="1" smtClean="0">
                <a:latin typeface="Consolas" pitchFamily="49" charset="0"/>
              </a:rPr>
              <a:t>ReactDOM.render</a:t>
            </a:r>
            <a:r>
              <a:rPr lang="en-US" sz="1600" dirty="0" smtClean="0">
                <a:latin typeface="Consolas" pitchFamily="49" charset="0"/>
              </a:rPr>
              <a:t>(</a:t>
            </a:r>
          </a:p>
          <a:p>
            <a:r>
              <a:rPr lang="en-US" sz="1600" dirty="0" smtClean="0">
                <a:latin typeface="Consolas" pitchFamily="49" charset="0"/>
              </a:rPr>
              <a:t>            &lt;div&gt;</a:t>
            </a:r>
          </a:p>
          <a:p>
            <a:r>
              <a:rPr lang="en-US" sz="1600" dirty="0" smtClean="0">
                <a:latin typeface="Consolas" pitchFamily="49" charset="0"/>
              </a:rPr>
              <a:t>                {</a:t>
            </a:r>
            <a:r>
              <a:rPr lang="en-US" sz="1600" dirty="0" err="1" smtClean="0">
                <a:latin typeface="Consolas" pitchFamily="49" charset="0"/>
              </a:rPr>
              <a:t>renderData</a:t>
            </a:r>
            <a:r>
              <a:rPr lang="en-US" sz="1600" dirty="0" smtClean="0">
                <a:latin typeface="Consolas" pitchFamily="49" charset="0"/>
              </a:rPr>
              <a:t>}</a:t>
            </a:r>
          </a:p>
          <a:p>
            <a:r>
              <a:rPr lang="en-US" sz="1600" dirty="0" smtClean="0">
                <a:latin typeface="Consolas" pitchFamily="49" charset="0"/>
              </a:rPr>
              <a:t>            &lt;/div&gt;,</a:t>
            </a:r>
          </a:p>
          <a:p>
            <a:r>
              <a:rPr lang="en-US" sz="1600" dirty="0" smtClean="0">
                <a:latin typeface="Consolas" pitchFamily="49" charset="0"/>
              </a:rPr>
              <a:t>            destination</a:t>
            </a:r>
          </a:p>
          <a:p>
            <a:r>
              <a:rPr lang="en-US" sz="1600" dirty="0" smtClean="0">
                <a:latin typeface="Consolas" pitchFamily="49" charset="0"/>
              </a:rPr>
              <a:t>        );</a:t>
            </a:r>
          </a:p>
          <a:p>
            <a:r>
              <a:rPr lang="en-US" sz="1600" b="1" dirty="0" smtClean="0">
                <a:solidFill>
                  <a:srgbClr val="C00000"/>
                </a:solidFill>
                <a:latin typeface="Consolas" pitchFamily="49" charset="0"/>
              </a:rPr>
              <a:t>...</a:t>
            </a:r>
          </a:p>
        </p:txBody>
      </p:sp>
      <p:pic>
        <p:nvPicPr>
          <p:cNvPr id="3074" name="Picture 2"/>
          <p:cNvPicPr>
            <a:picLocks noChangeAspect="1" noChangeArrowheads="1"/>
          </p:cNvPicPr>
          <p:nvPr/>
        </p:nvPicPr>
        <p:blipFill>
          <a:blip r:embed="rId2" cstate="print"/>
          <a:srcRect/>
          <a:stretch>
            <a:fillRect/>
          </a:stretch>
        </p:blipFill>
        <p:spPr bwMode="auto">
          <a:xfrm>
            <a:off x="4114800" y="4648200"/>
            <a:ext cx="4446270" cy="171831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Keys</a:t>
            </a:r>
            <a:endParaRPr lang="en-US" dirty="0"/>
          </a:p>
        </p:txBody>
      </p:sp>
      <p:sp>
        <p:nvSpPr>
          <p:cNvPr id="3" name="Content Placeholder 2"/>
          <p:cNvSpPr>
            <a:spLocks noGrp="1"/>
          </p:cNvSpPr>
          <p:nvPr>
            <p:ph idx="1"/>
          </p:nvPr>
        </p:nvSpPr>
        <p:spPr/>
        <p:txBody>
          <a:bodyPr/>
          <a:lstStyle/>
          <a:p>
            <a:r>
              <a:rPr lang="en-US" sz="2400" dirty="0" smtClean="0">
                <a:hlinkClick r:id="rId2"/>
              </a:rPr>
              <a:t>https://react.dev/learn/rendering-lists</a:t>
            </a:r>
            <a:endParaRPr lang="en-US" sz="2400" dirty="0" smtClean="0"/>
          </a:p>
          <a:p>
            <a:r>
              <a:rPr lang="en-US" sz="2400" dirty="0" smtClean="0"/>
              <a:t>Keys tell React which array item each component corresponds to, so that it can match them up later.</a:t>
            </a:r>
          </a:p>
          <a:p>
            <a:r>
              <a:rPr lang="en-US" sz="2400" dirty="0" smtClean="0"/>
              <a:t>This becomes important if your array items can move (e.g. due to sorting), get inserted, or get deleted.</a:t>
            </a:r>
          </a:p>
          <a:p>
            <a:r>
              <a:rPr lang="en-US" sz="2400" dirty="0" smtClean="0"/>
              <a:t>A well-chosen key helps React infer what exactly has happened, and make the correct updates to the DOM tree.</a:t>
            </a:r>
          </a:p>
          <a:p>
            <a:r>
              <a:rPr lang="en-US" sz="2400" dirty="0" smtClean="0"/>
              <a:t>You need to give each array item a key — a string or a number that uniquely identifies it among other items in that array:</a:t>
            </a:r>
          </a:p>
          <a:p>
            <a:r>
              <a:rPr lang="en-US" sz="2400" b="1" dirty="0" smtClean="0">
                <a:latin typeface="Consolas" pitchFamily="49" charset="0"/>
              </a:rPr>
              <a:t>&lt;</a:t>
            </a:r>
            <a:r>
              <a:rPr lang="en-US" sz="2400" b="1" dirty="0" err="1" smtClean="0">
                <a:latin typeface="Consolas" pitchFamily="49" charset="0"/>
              </a:rPr>
              <a:t>li</a:t>
            </a:r>
            <a:r>
              <a:rPr lang="en-US" sz="2400" b="1" dirty="0" smtClean="0">
                <a:latin typeface="Consolas" pitchFamily="49" charset="0"/>
              </a:rPr>
              <a:t> key={person.id}&gt;...&lt;/</a:t>
            </a:r>
            <a:r>
              <a:rPr lang="en-US" sz="2400" b="1" dirty="0" err="1" smtClean="0">
                <a:latin typeface="Consolas" pitchFamily="49" charset="0"/>
              </a:rPr>
              <a:t>li</a:t>
            </a:r>
            <a:r>
              <a:rPr lang="en-US" sz="2400" b="1" dirty="0" smtClean="0">
                <a:latin typeface="Consolas" pitchFamily="49" charset="0"/>
              </a:rPr>
              <a:t>&gt;</a:t>
            </a:r>
          </a:p>
          <a:p>
            <a:endParaRPr lang="en-US" sz="2400" dirty="0" smtClean="0"/>
          </a:p>
          <a:p>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Where to Get Your Key</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Data from a database</a:t>
            </a:r>
            <a:r>
              <a:rPr lang="en-US" sz="2400" dirty="0" smtClean="0"/>
              <a:t>: If your data is coming from a database, you can use the database keys/IDs, which are unique by nature.</a:t>
            </a:r>
          </a:p>
          <a:p>
            <a:r>
              <a:rPr lang="en-US" sz="2400" i="1" dirty="0" smtClean="0">
                <a:solidFill>
                  <a:srgbClr val="C00000"/>
                </a:solidFill>
              </a:rPr>
              <a:t>Locally generated data</a:t>
            </a:r>
            <a:r>
              <a:rPr lang="en-US" sz="2400" dirty="0" smtClean="0"/>
              <a:t>: If your data is generated and persisted locally (e.g. notes in a note-taking app), use an incrementing counter, </a:t>
            </a:r>
            <a:r>
              <a:rPr lang="en-US" sz="2400" dirty="0" err="1" smtClean="0"/>
              <a:t>crypto.randomUUID</a:t>
            </a:r>
            <a:r>
              <a:rPr lang="en-US" sz="2400" dirty="0" smtClean="0"/>
              <a:t>() or a package like </a:t>
            </a:r>
            <a:r>
              <a:rPr lang="en-US" sz="2400" dirty="0" err="1" smtClean="0"/>
              <a:t>uuid</a:t>
            </a:r>
            <a:r>
              <a:rPr lang="en-US" sz="2400" dirty="0" smtClean="0"/>
              <a:t> when creating items.</a:t>
            </a:r>
          </a:p>
          <a:p>
            <a:r>
              <a:rPr lang="en-US" sz="2400" dirty="0" smtClean="0"/>
              <a:t>Although item indexes can be used as keys, using indexes as keys can create problems if the order of your list of items is prone to change and can negatively affect performance.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JSX Key</a:t>
            </a:r>
            <a:endParaRPr lang="en-US" dirty="0"/>
          </a:p>
        </p:txBody>
      </p:sp>
      <p:sp>
        <p:nvSpPr>
          <p:cNvPr id="4" name="Rectangle 3"/>
          <p:cNvSpPr/>
          <p:nvPr/>
        </p:nvSpPr>
        <p:spPr>
          <a:xfrm>
            <a:off x="533400" y="1371600"/>
            <a:ext cx="8153400" cy="4524315"/>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b="1" dirty="0" smtClean="0">
                <a:solidFill>
                  <a:srgbClr val="C00000"/>
                </a:solidFill>
                <a:latin typeface="Consolas" pitchFamily="49" charset="0"/>
              </a:rPr>
              <a:t>...</a:t>
            </a:r>
          </a:p>
          <a:p>
            <a:r>
              <a:rPr lang="en-US" sz="1600" dirty="0" err="1" smtClean="0">
                <a:latin typeface="Consolas" pitchFamily="49" charset="0"/>
              </a:rPr>
              <a:t>var</a:t>
            </a:r>
            <a:r>
              <a:rPr lang="en-US" sz="1600" dirty="0" smtClean="0">
                <a:latin typeface="Consolas" pitchFamily="49" charset="0"/>
              </a:rPr>
              <a:t> colors = ["#393E41", "#E94F37", "#1C89BF", "#A1D363",</a:t>
            </a:r>
          </a:p>
          <a:p>
            <a:r>
              <a:rPr lang="en-US" sz="1600" dirty="0" smtClean="0">
                <a:latin typeface="Consolas" pitchFamily="49" charset="0"/>
              </a:rPr>
              <a:t>        "#85FFC7", "#297373", "#FF8552", "#A40E4C"];</a:t>
            </a:r>
          </a:p>
          <a:p>
            <a:r>
              <a:rPr lang="en-US" sz="1600" dirty="0" smtClean="0">
                <a:latin typeface="Consolas" pitchFamily="49" charset="0"/>
              </a:rPr>
              <a:t>        </a:t>
            </a:r>
            <a:r>
              <a:rPr lang="en-US" sz="1600" dirty="0" err="1" smtClean="0">
                <a:latin typeface="Consolas" pitchFamily="49" charset="0"/>
              </a:rPr>
              <a:t>var</a:t>
            </a:r>
            <a:r>
              <a:rPr lang="en-US" sz="1600" dirty="0" smtClean="0">
                <a:latin typeface="Consolas" pitchFamily="49" charset="0"/>
              </a:rPr>
              <a:t> </a:t>
            </a:r>
            <a:r>
              <a:rPr lang="en-US" sz="1600" dirty="0" err="1" smtClean="0">
                <a:latin typeface="Consolas" pitchFamily="49" charset="0"/>
              </a:rPr>
              <a:t>renderData</a:t>
            </a:r>
            <a:r>
              <a:rPr lang="en-US" sz="1600" dirty="0" smtClean="0">
                <a:latin typeface="Consolas" pitchFamily="49" charset="0"/>
              </a:rPr>
              <a:t> = [];</a:t>
            </a:r>
          </a:p>
          <a:p>
            <a:r>
              <a:rPr lang="en-US" sz="1600" dirty="0" smtClean="0">
                <a:latin typeface="Consolas" pitchFamily="49" charset="0"/>
              </a:rPr>
              <a:t>        for (</a:t>
            </a:r>
            <a:r>
              <a:rPr lang="en-US" sz="1600" dirty="0" err="1" smtClean="0">
                <a:latin typeface="Consolas" pitchFamily="49" charset="0"/>
              </a:rPr>
              <a:t>var</a:t>
            </a:r>
            <a:r>
              <a:rPr lang="en-US" sz="1600" dirty="0" smtClean="0">
                <a:latin typeface="Consolas" pitchFamily="49" charset="0"/>
              </a:rPr>
              <a:t> </a:t>
            </a:r>
            <a:r>
              <a:rPr lang="en-US" sz="1600" dirty="0" err="1" smtClean="0">
                <a:latin typeface="Consolas" pitchFamily="49" charset="0"/>
              </a:rPr>
              <a:t>i</a:t>
            </a:r>
            <a:r>
              <a:rPr lang="en-US" sz="1600" dirty="0" smtClean="0">
                <a:latin typeface="Consolas" pitchFamily="49" charset="0"/>
              </a:rPr>
              <a:t> = 0; </a:t>
            </a:r>
            <a:r>
              <a:rPr lang="en-US" sz="1600" dirty="0" err="1" smtClean="0">
                <a:latin typeface="Consolas" pitchFamily="49" charset="0"/>
              </a:rPr>
              <a:t>i</a:t>
            </a:r>
            <a:r>
              <a:rPr lang="en-US" sz="1600" dirty="0" smtClean="0">
                <a:latin typeface="Consolas" pitchFamily="49" charset="0"/>
              </a:rPr>
              <a:t> &lt; </a:t>
            </a:r>
            <a:r>
              <a:rPr lang="en-US" sz="1600" dirty="0" err="1" smtClean="0">
                <a:latin typeface="Consolas" pitchFamily="49" charset="0"/>
              </a:rPr>
              <a:t>colors.length</a:t>
            </a:r>
            <a:r>
              <a:rPr lang="en-US" sz="1600" dirty="0" smtClean="0">
                <a:latin typeface="Consolas" pitchFamily="49" charset="0"/>
              </a:rPr>
              <a:t>; </a:t>
            </a:r>
            <a:r>
              <a:rPr lang="en-US" sz="1600" dirty="0" err="1" smtClean="0">
                <a:latin typeface="Consolas" pitchFamily="49" charset="0"/>
              </a:rPr>
              <a:t>i</a:t>
            </a:r>
            <a:r>
              <a:rPr lang="en-US" sz="1600" dirty="0" smtClean="0">
                <a:latin typeface="Consolas" pitchFamily="49" charset="0"/>
              </a:rPr>
              <a:t>++) {</a:t>
            </a:r>
          </a:p>
          <a:p>
            <a:r>
              <a:rPr lang="en-US" sz="1600" dirty="0" smtClean="0">
                <a:latin typeface="Consolas" pitchFamily="49" charset="0"/>
              </a:rPr>
              <a:t>            </a:t>
            </a:r>
            <a:r>
              <a:rPr lang="en-US" sz="1600" dirty="0" err="1" smtClean="0">
                <a:latin typeface="Consolas" pitchFamily="49" charset="0"/>
              </a:rPr>
              <a:t>var</a:t>
            </a:r>
            <a:r>
              <a:rPr lang="en-US" sz="1600" dirty="0" smtClean="0">
                <a:latin typeface="Consolas" pitchFamily="49" charset="0"/>
              </a:rPr>
              <a:t> color = colors[</a:t>
            </a:r>
            <a:r>
              <a:rPr lang="en-US" sz="1600" dirty="0" err="1" smtClean="0">
                <a:latin typeface="Consolas" pitchFamily="49" charset="0"/>
              </a:rPr>
              <a:t>i</a:t>
            </a:r>
            <a:r>
              <a:rPr lang="en-US" sz="1600" dirty="0" smtClean="0">
                <a:latin typeface="Consolas" pitchFamily="49" charset="0"/>
              </a:rPr>
              <a:t>];</a:t>
            </a:r>
          </a:p>
          <a:p>
            <a:r>
              <a:rPr lang="en-US" sz="1600" dirty="0" smtClean="0">
                <a:latin typeface="Consolas" pitchFamily="49" charset="0"/>
              </a:rPr>
              <a:t>            </a:t>
            </a:r>
            <a:r>
              <a:rPr lang="en-US" sz="1600" dirty="0" err="1" smtClean="0">
                <a:latin typeface="Consolas" pitchFamily="49" charset="0"/>
              </a:rPr>
              <a:t>renderData.push</a:t>
            </a:r>
            <a:r>
              <a:rPr lang="en-US" sz="1600" dirty="0" smtClean="0">
                <a:latin typeface="Consolas" pitchFamily="49" charset="0"/>
              </a:rPr>
              <a:t>(&lt;Circle </a:t>
            </a:r>
            <a:r>
              <a:rPr lang="en-US" sz="1600" b="1" dirty="0" smtClean="0">
                <a:solidFill>
                  <a:srgbClr val="C00000"/>
                </a:solidFill>
                <a:latin typeface="Consolas" pitchFamily="49" charset="0"/>
              </a:rPr>
              <a:t>key={</a:t>
            </a:r>
            <a:r>
              <a:rPr lang="en-US" sz="1600" b="1" dirty="0" err="1" smtClean="0">
                <a:solidFill>
                  <a:srgbClr val="C00000"/>
                </a:solidFill>
                <a:latin typeface="Consolas" pitchFamily="49" charset="0"/>
              </a:rPr>
              <a:t>i</a:t>
            </a:r>
            <a:r>
              <a:rPr lang="en-US" sz="1600" b="1" dirty="0" smtClean="0">
                <a:solidFill>
                  <a:srgbClr val="C00000"/>
                </a:solidFill>
                <a:latin typeface="Consolas" pitchFamily="49" charset="0"/>
              </a:rPr>
              <a:t> + color</a:t>
            </a:r>
            <a:r>
              <a:rPr lang="en-US" sz="1600" b="1" dirty="0" smtClean="0">
                <a:latin typeface="Consolas" pitchFamily="49" charset="0"/>
              </a:rPr>
              <a:t>}</a:t>
            </a:r>
            <a:r>
              <a:rPr lang="en-US" sz="1600" dirty="0" smtClean="0">
                <a:latin typeface="Consolas" pitchFamily="49" charset="0"/>
              </a:rPr>
              <a:t> </a:t>
            </a:r>
            <a:r>
              <a:rPr lang="en-US" sz="1600" dirty="0" err="1" smtClean="0">
                <a:latin typeface="Consolas" pitchFamily="49" charset="0"/>
              </a:rPr>
              <a:t>bgColor</a:t>
            </a:r>
            <a:r>
              <a:rPr lang="en-US" sz="1600" dirty="0" smtClean="0">
                <a:latin typeface="Consolas" pitchFamily="49" charset="0"/>
              </a:rPr>
              <a:t>={colors[</a:t>
            </a:r>
            <a:r>
              <a:rPr lang="en-US" sz="1600" dirty="0" err="1" smtClean="0">
                <a:latin typeface="Consolas" pitchFamily="49" charset="0"/>
              </a:rPr>
              <a:t>i</a:t>
            </a:r>
            <a:r>
              <a:rPr lang="en-US" sz="1600" dirty="0" smtClean="0">
                <a:latin typeface="Consolas" pitchFamily="49" charset="0"/>
              </a:rPr>
              <a:t>]}/&gt;);</a:t>
            </a:r>
          </a:p>
          <a:p>
            <a:r>
              <a:rPr lang="en-US" sz="1600" dirty="0" smtClean="0">
                <a:latin typeface="Consolas" pitchFamily="49" charset="0"/>
              </a:rPr>
              <a:t>        }</a:t>
            </a:r>
          </a:p>
          <a:p>
            <a:endParaRPr lang="en-US" sz="1600" dirty="0" smtClean="0">
              <a:latin typeface="Consolas" pitchFamily="49" charset="0"/>
            </a:endParaRPr>
          </a:p>
          <a:p>
            <a:r>
              <a:rPr lang="en-US" sz="1600" dirty="0" smtClean="0">
                <a:latin typeface="Consolas" pitchFamily="49" charset="0"/>
              </a:rPr>
              <a:t>        </a:t>
            </a:r>
            <a:r>
              <a:rPr lang="en-US" sz="1600" dirty="0" err="1" smtClean="0">
                <a:latin typeface="Consolas" pitchFamily="49" charset="0"/>
              </a:rPr>
              <a:t>var</a:t>
            </a:r>
            <a:r>
              <a:rPr lang="en-US" sz="1600" dirty="0" smtClean="0">
                <a:latin typeface="Consolas" pitchFamily="49" charset="0"/>
              </a:rPr>
              <a:t> destination = </a:t>
            </a:r>
            <a:r>
              <a:rPr lang="en-US" sz="1600" dirty="0" err="1" smtClean="0">
                <a:latin typeface="Consolas" pitchFamily="49" charset="0"/>
              </a:rPr>
              <a:t>document.querySelector</a:t>
            </a:r>
            <a:r>
              <a:rPr lang="en-US" sz="1600" dirty="0" smtClean="0">
                <a:latin typeface="Consolas" pitchFamily="49" charset="0"/>
              </a:rPr>
              <a:t>("#container");</a:t>
            </a:r>
          </a:p>
          <a:p>
            <a:r>
              <a:rPr lang="en-US" sz="1600" dirty="0" smtClean="0">
                <a:latin typeface="Consolas" pitchFamily="49" charset="0"/>
              </a:rPr>
              <a:t>        </a:t>
            </a:r>
            <a:r>
              <a:rPr lang="en-US" sz="1600" dirty="0" err="1" smtClean="0">
                <a:latin typeface="Consolas" pitchFamily="49" charset="0"/>
              </a:rPr>
              <a:t>ReactDOM.render</a:t>
            </a:r>
            <a:r>
              <a:rPr lang="en-US" sz="1600" dirty="0" smtClean="0">
                <a:latin typeface="Consolas" pitchFamily="49" charset="0"/>
              </a:rPr>
              <a:t>(</a:t>
            </a:r>
          </a:p>
          <a:p>
            <a:r>
              <a:rPr lang="en-US" sz="1600" dirty="0" smtClean="0">
                <a:latin typeface="Consolas" pitchFamily="49" charset="0"/>
              </a:rPr>
              <a:t>            &lt;div&gt;</a:t>
            </a:r>
          </a:p>
          <a:p>
            <a:r>
              <a:rPr lang="en-US" sz="1600" dirty="0" smtClean="0">
                <a:latin typeface="Consolas" pitchFamily="49" charset="0"/>
              </a:rPr>
              <a:t>                {</a:t>
            </a:r>
            <a:r>
              <a:rPr lang="en-US" sz="1600" dirty="0" err="1" smtClean="0">
                <a:latin typeface="Consolas" pitchFamily="49" charset="0"/>
              </a:rPr>
              <a:t>renderData</a:t>
            </a:r>
            <a:r>
              <a:rPr lang="en-US" sz="1600" dirty="0" smtClean="0">
                <a:latin typeface="Consolas" pitchFamily="49" charset="0"/>
              </a:rPr>
              <a:t>}</a:t>
            </a:r>
          </a:p>
          <a:p>
            <a:r>
              <a:rPr lang="en-US" sz="1600" dirty="0" smtClean="0">
                <a:latin typeface="Consolas" pitchFamily="49" charset="0"/>
              </a:rPr>
              <a:t>            &lt;/div&gt;,</a:t>
            </a:r>
          </a:p>
          <a:p>
            <a:r>
              <a:rPr lang="en-US" sz="1600" dirty="0" smtClean="0">
                <a:latin typeface="Consolas" pitchFamily="49" charset="0"/>
              </a:rPr>
              <a:t>            destination</a:t>
            </a:r>
          </a:p>
          <a:p>
            <a:r>
              <a:rPr lang="en-US" sz="1600" dirty="0" smtClean="0">
                <a:latin typeface="Consolas" pitchFamily="49" charset="0"/>
              </a:rPr>
              <a:t>        );</a:t>
            </a:r>
          </a:p>
          <a:p>
            <a:r>
              <a:rPr lang="en-US" sz="1600" b="1" dirty="0" smtClean="0">
                <a:solidFill>
                  <a:srgbClr val="C00000"/>
                </a:solidFill>
                <a:latin typeface="Consolas" pitchFamily="49" charset="0"/>
              </a:rPr>
              <a:t>...</a:t>
            </a:r>
          </a:p>
        </p:txBody>
      </p:sp>
      <p:pic>
        <p:nvPicPr>
          <p:cNvPr id="3074" name="Picture 2"/>
          <p:cNvPicPr>
            <a:picLocks noChangeAspect="1" noChangeArrowheads="1"/>
          </p:cNvPicPr>
          <p:nvPr/>
        </p:nvPicPr>
        <p:blipFill>
          <a:blip r:embed="rId2" cstate="print"/>
          <a:srcRect/>
          <a:stretch>
            <a:fillRect/>
          </a:stretch>
        </p:blipFill>
        <p:spPr bwMode="auto">
          <a:xfrm>
            <a:off x="4114800" y="4648200"/>
            <a:ext cx="4446270" cy="1718310"/>
          </a:xfrm>
          <a:prstGeom prst="rect">
            <a:avLst/>
          </a:prstGeom>
          <a:noFill/>
          <a:ln w="9525">
            <a:noFill/>
            <a:miter lim="800000"/>
            <a:headEnd/>
            <a:tailEnd/>
          </a:ln>
        </p:spPr>
      </p:pic>
      <p:sp>
        <p:nvSpPr>
          <p:cNvPr id="5" name="Rectangle 4"/>
          <p:cNvSpPr/>
          <p:nvPr/>
        </p:nvSpPr>
        <p:spPr>
          <a:xfrm>
            <a:off x="3733800" y="3124200"/>
            <a:ext cx="4800600" cy="646331"/>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r>
              <a:rPr lang="en-US" dirty="0" smtClean="0"/>
              <a:t>Getting a unique identifier that React can then use to optimize any future UI updates.</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JSX </a:t>
            </a:r>
            <a:r>
              <a:rPr lang="en-US" dirty="0" err="1" smtClean="0"/>
              <a:t>Underhood</a:t>
            </a:r>
            <a:endParaRPr lang="en-US" dirty="0"/>
          </a:p>
        </p:txBody>
      </p:sp>
      <p:sp>
        <p:nvSpPr>
          <p:cNvPr id="4" name="Rectangle 3"/>
          <p:cNvSpPr/>
          <p:nvPr/>
        </p:nvSpPr>
        <p:spPr>
          <a:xfrm>
            <a:off x="533400" y="1371600"/>
            <a:ext cx="8153400" cy="5262979"/>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b="1" dirty="0" smtClean="0">
                <a:solidFill>
                  <a:srgbClr val="C00000"/>
                </a:solidFill>
                <a:latin typeface="Consolas" pitchFamily="49" charset="0"/>
              </a:rPr>
              <a:t>...</a:t>
            </a:r>
          </a:p>
          <a:p>
            <a:r>
              <a:rPr lang="en-US" sz="1600" dirty="0" err="1" smtClean="0">
                <a:latin typeface="Consolas" pitchFamily="49" charset="0"/>
              </a:rPr>
              <a:t>var</a:t>
            </a:r>
            <a:r>
              <a:rPr lang="en-US" sz="1600" dirty="0" smtClean="0">
                <a:latin typeface="Consolas" pitchFamily="49" charset="0"/>
              </a:rPr>
              <a:t> colors = ["#393E41", "#E94F37", "#1C89BF", "#A1D363",</a:t>
            </a:r>
          </a:p>
          <a:p>
            <a:r>
              <a:rPr lang="en-US" sz="1600" dirty="0" smtClean="0">
                <a:latin typeface="Consolas" pitchFamily="49" charset="0"/>
              </a:rPr>
              <a:t>        "#85FFC7", "#297373", "#FF8552", "#A40E4C"];</a:t>
            </a:r>
          </a:p>
          <a:p>
            <a:r>
              <a:rPr lang="en-US" sz="1600" dirty="0" smtClean="0">
                <a:latin typeface="Consolas" pitchFamily="49" charset="0"/>
              </a:rPr>
              <a:t>        </a:t>
            </a:r>
            <a:r>
              <a:rPr lang="en-US" sz="1600" dirty="0" err="1" smtClean="0">
                <a:latin typeface="Consolas" pitchFamily="49" charset="0"/>
              </a:rPr>
              <a:t>var</a:t>
            </a:r>
            <a:r>
              <a:rPr lang="en-US" sz="1600" dirty="0" smtClean="0">
                <a:latin typeface="Consolas" pitchFamily="49" charset="0"/>
              </a:rPr>
              <a:t> </a:t>
            </a:r>
            <a:r>
              <a:rPr lang="en-US" sz="1600" dirty="0" err="1" smtClean="0">
                <a:latin typeface="Consolas" pitchFamily="49" charset="0"/>
              </a:rPr>
              <a:t>renderData</a:t>
            </a:r>
            <a:r>
              <a:rPr lang="en-US" sz="1600" dirty="0" smtClean="0">
                <a:latin typeface="Consolas" pitchFamily="49" charset="0"/>
              </a:rPr>
              <a:t> = [];</a:t>
            </a:r>
          </a:p>
          <a:p>
            <a:r>
              <a:rPr lang="en-US" sz="1600" dirty="0" smtClean="0">
                <a:latin typeface="Consolas" pitchFamily="49" charset="0"/>
              </a:rPr>
              <a:t>        for (</a:t>
            </a:r>
            <a:r>
              <a:rPr lang="en-US" sz="1600" dirty="0" err="1" smtClean="0">
                <a:latin typeface="Consolas" pitchFamily="49" charset="0"/>
              </a:rPr>
              <a:t>var</a:t>
            </a:r>
            <a:r>
              <a:rPr lang="en-US" sz="1600" dirty="0" smtClean="0">
                <a:latin typeface="Consolas" pitchFamily="49" charset="0"/>
              </a:rPr>
              <a:t> </a:t>
            </a:r>
            <a:r>
              <a:rPr lang="en-US" sz="1600" dirty="0" err="1" smtClean="0">
                <a:latin typeface="Consolas" pitchFamily="49" charset="0"/>
              </a:rPr>
              <a:t>i</a:t>
            </a:r>
            <a:r>
              <a:rPr lang="en-US" sz="1600" dirty="0" smtClean="0">
                <a:latin typeface="Consolas" pitchFamily="49" charset="0"/>
              </a:rPr>
              <a:t> = 0; </a:t>
            </a:r>
            <a:r>
              <a:rPr lang="en-US" sz="1600" dirty="0" err="1" smtClean="0">
                <a:latin typeface="Consolas" pitchFamily="49" charset="0"/>
              </a:rPr>
              <a:t>i</a:t>
            </a:r>
            <a:r>
              <a:rPr lang="en-US" sz="1600" dirty="0" smtClean="0">
                <a:latin typeface="Consolas" pitchFamily="49" charset="0"/>
              </a:rPr>
              <a:t> &lt; </a:t>
            </a:r>
            <a:r>
              <a:rPr lang="en-US" sz="1600" dirty="0" err="1" smtClean="0">
                <a:latin typeface="Consolas" pitchFamily="49" charset="0"/>
              </a:rPr>
              <a:t>colors.length</a:t>
            </a:r>
            <a:r>
              <a:rPr lang="en-US" sz="1600" dirty="0" smtClean="0">
                <a:latin typeface="Consolas" pitchFamily="49" charset="0"/>
              </a:rPr>
              <a:t>; </a:t>
            </a:r>
            <a:r>
              <a:rPr lang="en-US" sz="1600" dirty="0" err="1" smtClean="0">
                <a:latin typeface="Consolas" pitchFamily="49" charset="0"/>
              </a:rPr>
              <a:t>i</a:t>
            </a:r>
            <a:r>
              <a:rPr lang="en-US" sz="1600" dirty="0" smtClean="0">
                <a:latin typeface="Consolas" pitchFamily="49" charset="0"/>
              </a:rPr>
              <a:t>++) {</a:t>
            </a:r>
          </a:p>
          <a:p>
            <a:r>
              <a:rPr lang="en-US" sz="1600" dirty="0" smtClean="0">
                <a:latin typeface="Consolas" pitchFamily="49" charset="0"/>
              </a:rPr>
              <a:t>            </a:t>
            </a:r>
            <a:r>
              <a:rPr lang="en-US" sz="1600" dirty="0" err="1" smtClean="0">
                <a:latin typeface="Consolas" pitchFamily="49" charset="0"/>
              </a:rPr>
              <a:t>var</a:t>
            </a:r>
            <a:r>
              <a:rPr lang="en-US" sz="1600" dirty="0" smtClean="0">
                <a:latin typeface="Consolas" pitchFamily="49" charset="0"/>
              </a:rPr>
              <a:t> color = colors[</a:t>
            </a:r>
            <a:r>
              <a:rPr lang="en-US" sz="1600" dirty="0" err="1" smtClean="0">
                <a:latin typeface="Consolas" pitchFamily="49" charset="0"/>
              </a:rPr>
              <a:t>i</a:t>
            </a:r>
            <a:r>
              <a:rPr lang="en-US" sz="1600" dirty="0" smtClean="0">
                <a:latin typeface="Consolas" pitchFamily="49" charset="0"/>
              </a:rPr>
              <a:t>];</a:t>
            </a:r>
          </a:p>
          <a:p>
            <a:r>
              <a:rPr lang="en-US" sz="1600" dirty="0" smtClean="0">
                <a:latin typeface="Consolas" pitchFamily="49" charset="0"/>
              </a:rPr>
              <a:t>            </a:t>
            </a:r>
            <a:r>
              <a:rPr lang="en-US" sz="1600" dirty="0" err="1" smtClean="0">
                <a:latin typeface="Consolas" pitchFamily="49" charset="0"/>
              </a:rPr>
              <a:t>renderData.push</a:t>
            </a:r>
            <a:r>
              <a:rPr lang="en-US" sz="1600" dirty="0" smtClean="0">
                <a:latin typeface="Consolas" pitchFamily="49" charset="0"/>
              </a:rPr>
              <a:t>(</a:t>
            </a:r>
            <a:r>
              <a:rPr lang="en-US" sz="1600" dirty="0" err="1" smtClean="0">
                <a:latin typeface="Consolas" pitchFamily="49" charset="0"/>
              </a:rPr>
              <a:t>React.createElement</a:t>
            </a:r>
            <a:r>
              <a:rPr lang="en-US" sz="1600" dirty="0" smtClean="0">
                <a:latin typeface="Consolas" pitchFamily="49" charset="0"/>
              </a:rPr>
              <a:t>(Circle,</a:t>
            </a:r>
          </a:p>
          <a:p>
            <a:r>
              <a:rPr lang="en-US" sz="1600" dirty="0" smtClean="0">
                <a:latin typeface="Consolas" pitchFamily="49" charset="0"/>
              </a:rPr>
              <a:t>            {</a:t>
            </a:r>
          </a:p>
          <a:p>
            <a:r>
              <a:rPr lang="en-US" sz="1600" dirty="0" smtClean="0">
                <a:latin typeface="Consolas" pitchFamily="49" charset="0"/>
              </a:rPr>
              <a:t>                key: </a:t>
            </a:r>
            <a:r>
              <a:rPr lang="en-US" sz="1600" dirty="0" err="1" smtClean="0">
                <a:latin typeface="Consolas" pitchFamily="49" charset="0"/>
              </a:rPr>
              <a:t>i</a:t>
            </a:r>
            <a:r>
              <a:rPr lang="en-US" sz="1600" dirty="0" smtClean="0">
                <a:latin typeface="Consolas" pitchFamily="49" charset="0"/>
              </a:rPr>
              <a:t> + color,</a:t>
            </a:r>
          </a:p>
          <a:p>
            <a:r>
              <a:rPr lang="en-US" sz="1600" dirty="0" smtClean="0">
                <a:latin typeface="Consolas" pitchFamily="49" charset="0"/>
              </a:rPr>
              <a:t>                </a:t>
            </a:r>
            <a:r>
              <a:rPr lang="en-US" sz="1600" dirty="0" err="1" smtClean="0">
                <a:latin typeface="Consolas" pitchFamily="49" charset="0"/>
              </a:rPr>
              <a:t>bgColor</a:t>
            </a:r>
            <a:r>
              <a:rPr lang="en-US" sz="1600" dirty="0" smtClean="0">
                <a:latin typeface="Consolas" pitchFamily="49" charset="0"/>
              </a:rPr>
              <a:t>: color</a:t>
            </a:r>
          </a:p>
          <a:p>
            <a:r>
              <a:rPr lang="en-US" sz="1600" dirty="0" smtClean="0">
                <a:latin typeface="Consolas" pitchFamily="49" charset="0"/>
              </a:rPr>
              <a:t>            }));</a:t>
            </a:r>
          </a:p>
          <a:p>
            <a:r>
              <a:rPr lang="en-US" sz="1600" dirty="0" smtClean="0">
                <a:latin typeface="Consolas" pitchFamily="49" charset="0"/>
              </a:rPr>
              <a:t>        }</a:t>
            </a:r>
          </a:p>
          <a:p>
            <a:endParaRPr lang="en-US" sz="1600" dirty="0" smtClean="0">
              <a:latin typeface="Consolas" pitchFamily="49" charset="0"/>
            </a:endParaRPr>
          </a:p>
          <a:p>
            <a:r>
              <a:rPr lang="en-US" sz="1600" dirty="0" smtClean="0">
                <a:latin typeface="Consolas" pitchFamily="49" charset="0"/>
              </a:rPr>
              <a:t>        </a:t>
            </a:r>
            <a:r>
              <a:rPr lang="en-US" sz="1600" dirty="0" err="1" smtClean="0">
                <a:latin typeface="Consolas" pitchFamily="49" charset="0"/>
              </a:rPr>
              <a:t>var</a:t>
            </a:r>
            <a:r>
              <a:rPr lang="en-US" sz="1600" dirty="0" smtClean="0">
                <a:latin typeface="Consolas" pitchFamily="49" charset="0"/>
              </a:rPr>
              <a:t> destination = </a:t>
            </a:r>
            <a:r>
              <a:rPr lang="en-US" sz="1600" dirty="0" err="1" smtClean="0">
                <a:latin typeface="Consolas" pitchFamily="49" charset="0"/>
              </a:rPr>
              <a:t>document.querySelector</a:t>
            </a:r>
            <a:r>
              <a:rPr lang="en-US" sz="1600" dirty="0" smtClean="0">
                <a:latin typeface="Consolas" pitchFamily="49" charset="0"/>
              </a:rPr>
              <a:t>("#container");</a:t>
            </a:r>
          </a:p>
          <a:p>
            <a:r>
              <a:rPr lang="en-US" sz="1600" dirty="0" smtClean="0">
                <a:latin typeface="Consolas" pitchFamily="49" charset="0"/>
              </a:rPr>
              <a:t>        </a:t>
            </a:r>
            <a:r>
              <a:rPr lang="en-US" sz="1600" dirty="0" err="1" smtClean="0">
                <a:latin typeface="Consolas" pitchFamily="49" charset="0"/>
              </a:rPr>
              <a:t>ReactDOM.render</a:t>
            </a:r>
            <a:r>
              <a:rPr lang="en-US" sz="1600" dirty="0" smtClean="0">
                <a:latin typeface="Consolas" pitchFamily="49" charset="0"/>
              </a:rPr>
              <a:t>(</a:t>
            </a:r>
          </a:p>
          <a:p>
            <a:r>
              <a:rPr lang="en-US" sz="1600" dirty="0" smtClean="0">
                <a:latin typeface="Consolas" pitchFamily="49" charset="0"/>
              </a:rPr>
              <a:t>            &lt;div&gt;</a:t>
            </a:r>
          </a:p>
          <a:p>
            <a:r>
              <a:rPr lang="en-US" sz="1600" dirty="0" smtClean="0">
                <a:latin typeface="Consolas" pitchFamily="49" charset="0"/>
              </a:rPr>
              <a:t>                {</a:t>
            </a:r>
            <a:r>
              <a:rPr lang="en-US" sz="1600" dirty="0" err="1" smtClean="0">
                <a:latin typeface="Consolas" pitchFamily="49" charset="0"/>
              </a:rPr>
              <a:t>renderData</a:t>
            </a:r>
            <a:r>
              <a:rPr lang="en-US" sz="1600" dirty="0" smtClean="0">
                <a:latin typeface="Consolas" pitchFamily="49" charset="0"/>
              </a:rPr>
              <a:t>}</a:t>
            </a:r>
          </a:p>
          <a:p>
            <a:r>
              <a:rPr lang="en-US" sz="1600" dirty="0" smtClean="0">
                <a:latin typeface="Consolas" pitchFamily="49" charset="0"/>
              </a:rPr>
              <a:t>            &lt;/div&gt;,</a:t>
            </a:r>
          </a:p>
          <a:p>
            <a:r>
              <a:rPr lang="en-US" sz="1600" dirty="0" smtClean="0">
                <a:latin typeface="Consolas" pitchFamily="49" charset="0"/>
              </a:rPr>
              <a:t>            destination</a:t>
            </a:r>
          </a:p>
          <a:p>
            <a:r>
              <a:rPr lang="en-US" sz="1600" dirty="0" smtClean="0">
                <a:latin typeface="Consolas" pitchFamily="49" charset="0"/>
              </a:rPr>
              <a:t>        );</a:t>
            </a:r>
          </a:p>
          <a:p>
            <a:r>
              <a:rPr lang="en-US" sz="1600" b="1" dirty="0" smtClean="0">
                <a:solidFill>
                  <a:srgbClr val="C00000"/>
                </a:solidFill>
                <a:latin typeface="Consolas" pitchFamily="49" charset="0"/>
              </a:rPr>
              <a:t>...</a:t>
            </a:r>
          </a:p>
        </p:txBody>
      </p:sp>
      <p:pic>
        <p:nvPicPr>
          <p:cNvPr id="3074" name="Picture 2"/>
          <p:cNvPicPr>
            <a:picLocks noChangeAspect="1" noChangeArrowheads="1"/>
          </p:cNvPicPr>
          <p:nvPr/>
        </p:nvPicPr>
        <p:blipFill>
          <a:blip r:embed="rId2" cstate="print"/>
          <a:srcRect/>
          <a:stretch>
            <a:fillRect/>
          </a:stretch>
        </p:blipFill>
        <p:spPr bwMode="auto">
          <a:xfrm>
            <a:off x="4392930" y="4953000"/>
            <a:ext cx="4446270" cy="171831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React and Functional Programming</a:t>
            </a:r>
            <a:endParaRPr lang="en-US" dirty="0"/>
          </a:p>
        </p:txBody>
      </p:sp>
      <p:pic>
        <p:nvPicPr>
          <p:cNvPr id="1026" name="Picture 2" descr="https://miro.medium.com/max/800/1*s-ICrnsjB6Yu4RY5_Fbi1w.png"/>
          <p:cNvPicPr>
            <a:picLocks noChangeAspect="1" noChangeArrowheads="1"/>
          </p:cNvPicPr>
          <p:nvPr/>
        </p:nvPicPr>
        <p:blipFill>
          <a:blip r:embed="rId2" cstate="print"/>
          <a:srcRect/>
          <a:stretch>
            <a:fillRect/>
          </a:stretch>
        </p:blipFill>
        <p:spPr bwMode="auto">
          <a:xfrm>
            <a:off x="762000" y="1905000"/>
            <a:ext cx="7620000" cy="3600451"/>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Object-Oriented Programming</a:t>
            </a:r>
            <a:endParaRPr lang="en-US" dirty="0"/>
          </a:p>
        </p:txBody>
      </p:sp>
      <p:sp>
        <p:nvSpPr>
          <p:cNvPr id="4" name="Rectangle 3"/>
          <p:cNvSpPr/>
          <p:nvPr/>
        </p:nvSpPr>
        <p:spPr>
          <a:xfrm>
            <a:off x="533400" y="1447800"/>
            <a:ext cx="8153400" cy="4524315"/>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dirty="0" smtClean="0">
                <a:solidFill>
                  <a:srgbClr val="0000FF"/>
                </a:solidFill>
                <a:latin typeface="Consolas"/>
              </a:rPr>
              <a:t>&lt;</a:t>
            </a:r>
            <a:r>
              <a:rPr lang="en-US" sz="1600" dirty="0" smtClean="0">
                <a:solidFill>
                  <a:srgbClr val="800000"/>
                </a:solidFill>
                <a:latin typeface="Consolas"/>
              </a:rPr>
              <a:t>body</a:t>
            </a:r>
            <a:r>
              <a:rPr lang="en-US" sz="1600" dirty="0" smtClean="0">
                <a:solidFill>
                  <a:srgbClr val="0000FF"/>
                </a:solidFill>
                <a:latin typeface="Consolas"/>
              </a:rPr>
              <a:t>&gt;</a:t>
            </a:r>
            <a:endParaRPr lang="en-US" sz="1600" dirty="0" smtClean="0">
              <a:solidFill>
                <a:srgbClr val="000000"/>
              </a:solidFill>
              <a:latin typeface="Consolas"/>
            </a:endParaRPr>
          </a:p>
          <a:p>
            <a:r>
              <a:rPr lang="en-US" sz="1600" dirty="0" smtClean="0">
                <a:solidFill>
                  <a:srgbClr val="000000"/>
                </a:solidFill>
                <a:latin typeface="Consolas"/>
              </a:rPr>
              <a:t>    </a:t>
            </a:r>
            <a:r>
              <a:rPr lang="en-US" sz="1600" dirty="0" smtClean="0">
                <a:solidFill>
                  <a:srgbClr val="0000FF"/>
                </a:solidFill>
                <a:latin typeface="Consolas"/>
              </a:rPr>
              <a:t>&lt;</a:t>
            </a:r>
            <a:r>
              <a:rPr lang="en-US" sz="1600" dirty="0" smtClean="0">
                <a:solidFill>
                  <a:srgbClr val="800000"/>
                </a:solidFill>
                <a:latin typeface="Consolas"/>
              </a:rPr>
              <a:t>div</a:t>
            </a:r>
            <a:r>
              <a:rPr lang="en-US" sz="1600" dirty="0" smtClean="0">
                <a:solidFill>
                  <a:srgbClr val="000000"/>
                </a:solidFill>
                <a:latin typeface="Consolas"/>
              </a:rPr>
              <a:t> </a:t>
            </a:r>
            <a:r>
              <a:rPr lang="en-US" sz="1600" dirty="0" smtClean="0">
                <a:solidFill>
                  <a:srgbClr val="FF0000"/>
                </a:solidFill>
                <a:latin typeface="Consolas"/>
              </a:rPr>
              <a:t>id</a:t>
            </a:r>
            <a:r>
              <a:rPr lang="en-US" sz="1600" dirty="0" smtClean="0">
                <a:solidFill>
                  <a:srgbClr val="0000FF"/>
                </a:solidFill>
                <a:latin typeface="Consolas"/>
              </a:rPr>
              <a:t>="container"&gt;&lt;/</a:t>
            </a:r>
            <a:r>
              <a:rPr lang="en-US" sz="1600" dirty="0" smtClean="0">
                <a:solidFill>
                  <a:srgbClr val="800000"/>
                </a:solidFill>
                <a:latin typeface="Consolas"/>
              </a:rPr>
              <a:t>div</a:t>
            </a:r>
            <a:r>
              <a:rPr lang="en-US" sz="1600" dirty="0" smtClean="0">
                <a:solidFill>
                  <a:srgbClr val="0000FF"/>
                </a:solidFill>
                <a:latin typeface="Consolas"/>
              </a:rPr>
              <a:t>&gt;</a:t>
            </a:r>
            <a:endParaRPr lang="en-US" sz="1600" dirty="0" smtClean="0">
              <a:solidFill>
                <a:srgbClr val="000000"/>
              </a:solidFill>
              <a:latin typeface="Consolas"/>
            </a:endParaRPr>
          </a:p>
          <a:p>
            <a:r>
              <a:rPr lang="en-US" sz="1600" dirty="0" smtClean="0">
                <a:solidFill>
                  <a:srgbClr val="000000"/>
                </a:solidFill>
                <a:latin typeface="Consolas"/>
              </a:rPr>
              <a:t>    </a:t>
            </a:r>
            <a:r>
              <a:rPr lang="en-US" sz="1600" dirty="0" smtClean="0">
                <a:solidFill>
                  <a:srgbClr val="0000FF"/>
                </a:solidFill>
                <a:latin typeface="Consolas"/>
              </a:rPr>
              <a:t>&lt;</a:t>
            </a:r>
            <a:r>
              <a:rPr lang="en-US" sz="1600" dirty="0" smtClean="0">
                <a:solidFill>
                  <a:srgbClr val="800000"/>
                </a:solidFill>
                <a:latin typeface="Consolas"/>
              </a:rPr>
              <a:t>script</a:t>
            </a:r>
            <a:r>
              <a:rPr lang="en-US" sz="1600" dirty="0" smtClean="0">
                <a:solidFill>
                  <a:srgbClr val="000000"/>
                </a:solidFill>
                <a:latin typeface="Consolas"/>
              </a:rPr>
              <a:t> </a:t>
            </a:r>
            <a:r>
              <a:rPr lang="en-US" sz="1600" dirty="0" smtClean="0">
                <a:solidFill>
                  <a:srgbClr val="FF0000"/>
                </a:solidFill>
                <a:latin typeface="Consolas"/>
              </a:rPr>
              <a:t>type</a:t>
            </a:r>
            <a:r>
              <a:rPr lang="en-US" sz="1600" dirty="0" smtClean="0">
                <a:solidFill>
                  <a:srgbClr val="0000FF"/>
                </a:solidFill>
                <a:latin typeface="Consolas"/>
              </a:rPr>
              <a:t>="text/</a:t>
            </a:r>
            <a:r>
              <a:rPr lang="en-US" sz="1600" dirty="0" err="1" smtClean="0">
                <a:solidFill>
                  <a:srgbClr val="0000FF"/>
                </a:solidFill>
                <a:latin typeface="Consolas"/>
              </a:rPr>
              <a:t>babel</a:t>
            </a:r>
            <a:r>
              <a:rPr lang="en-US" sz="1600" dirty="0" smtClean="0">
                <a:solidFill>
                  <a:srgbClr val="0000FF"/>
                </a:solidFill>
                <a:latin typeface="Consolas"/>
              </a:rPr>
              <a:t>"&gt;</a:t>
            </a:r>
            <a:endParaRPr lang="en-US" sz="1600" dirty="0" smtClean="0">
              <a:solidFill>
                <a:srgbClr val="000000"/>
              </a:solidFill>
              <a:latin typeface="Consolas"/>
            </a:endParaRPr>
          </a:p>
          <a:p>
            <a:r>
              <a:rPr lang="en-US" sz="1600" dirty="0" smtClean="0">
                <a:solidFill>
                  <a:srgbClr val="000000"/>
                </a:solidFill>
                <a:latin typeface="Consolas"/>
              </a:rPr>
              <a:t>        class </a:t>
            </a:r>
            <a:r>
              <a:rPr lang="en-US" sz="1600" dirty="0" err="1" smtClean="0">
                <a:solidFill>
                  <a:srgbClr val="000000"/>
                </a:solidFill>
                <a:latin typeface="Consolas"/>
              </a:rPr>
              <a:t>HelloWorld</a:t>
            </a:r>
            <a:r>
              <a:rPr lang="en-US" sz="1600" dirty="0" smtClean="0">
                <a:solidFill>
                  <a:srgbClr val="000000"/>
                </a:solidFill>
                <a:latin typeface="Consolas"/>
              </a:rPr>
              <a:t> extends </a:t>
            </a:r>
            <a:r>
              <a:rPr lang="en-US" sz="1600" dirty="0" err="1" smtClean="0">
                <a:solidFill>
                  <a:srgbClr val="000000"/>
                </a:solidFill>
                <a:latin typeface="Consolas"/>
              </a:rPr>
              <a:t>React.Component</a:t>
            </a:r>
            <a:r>
              <a:rPr lang="en-US" sz="1600" dirty="0" smtClean="0">
                <a:solidFill>
                  <a:srgbClr val="000000"/>
                </a:solidFill>
                <a:latin typeface="Consolas"/>
              </a:rPr>
              <a:t> {</a:t>
            </a:r>
          </a:p>
          <a:p>
            <a:r>
              <a:rPr lang="en-US" sz="1600" dirty="0" smtClean="0">
                <a:solidFill>
                  <a:srgbClr val="000000"/>
                </a:solidFill>
                <a:latin typeface="Consolas"/>
              </a:rPr>
              <a:t>            render() {</a:t>
            </a:r>
          </a:p>
          <a:p>
            <a:r>
              <a:rPr lang="en-US" sz="1600" dirty="0" smtClean="0">
                <a:solidFill>
                  <a:srgbClr val="000000"/>
                </a:solidFill>
                <a:latin typeface="Consolas"/>
              </a:rPr>
              <a:t>                return (</a:t>
            </a:r>
          </a:p>
          <a:p>
            <a:r>
              <a:rPr lang="en-US" sz="1600" dirty="0" smtClean="0">
                <a:solidFill>
                  <a:srgbClr val="000000"/>
                </a:solidFill>
                <a:latin typeface="Consolas"/>
              </a:rPr>
              <a:t>                    </a:t>
            </a:r>
            <a:r>
              <a:rPr lang="en-US" sz="1600" dirty="0" smtClean="0">
                <a:solidFill>
                  <a:srgbClr val="0000FF"/>
                </a:solidFill>
                <a:latin typeface="Consolas"/>
              </a:rPr>
              <a:t>&lt;</a:t>
            </a:r>
            <a:r>
              <a:rPr lang="en-US" sz="1600" dirty="0" smtClean="0">
                <a:solidFill>
                  <a:srgbClr val="800000"/>
                </a:solidFill>
                <a:latin typeface="Consolas"/>
              </a:rPr>
              <a:t>h1</a:t>
            </a:r>
            <a:r>
              <a:rPr lang="en-US" sz="1600" dirty="0" smtClean="0">
                <a:solidFill>
                  <a:srgbClr val="0000FF"/>
                </a:solidFill>
                <a:latin typeface="Consolas"/>
              </a:rPr>
              <a:t>&gt;</a:t>
            </a:r>
            <a:r>
              <a:rPr lang="en-US" sz="1600" dirty="0" smtClean="0">
                <a:solidFill>
                  <a:srgbClr val="000000"/>
                </a:solidFill>
                <a:latin typeface="Consolas"/>
              </a:rPr>
              <a:t>Hello, OOP world!</a:t>
            </a:r>
            <a:r>
              <a:rPr lang="en-US" sz="1600" dirty="0" smtClean="0">
                <a:solidFill>
                  <a:srgbClr val="0000FF"/>
                </a:solidFill>
                <a:latin typeface="Consolas"/>
              </a:rPr>
              <a:t>&lt;/</a:t>
            </a:r>
            <a:r>
              <a:rPr lang="en-US" sz="1600" dirty="0" smtClean="0">
                <a:solidFill>
                  <a:srgbClr val="800000"/>
                </a:solidFill>
                <a:latin typeface="Consolas"/>
              </a:rPr>
              <a:t>h1</a:t>
            </a:r>
            <a:r>
              <a:rPr lang="en-US" sz="1600" dirty="0" smtClean="0">
                <a:solidFill>
                  <a:srgbClr val="0000FF"/>
                </a:solidFill>
                <a:latin typeface="Consolas"/>
              </a:rPr>
              <a:t>&gt;</a:t>
            </a:r>
            <a:endParaRPr lang="en-US" sz="1600" dirty="0" smtClean="0">
              <a:solidFill>
                <a:srgbClr val="000000"/>
              </a:solidFill>
              <a:latin typeface="Consolas"/>
            </a:endParaRPr>
          </a:p>
          <a:p>
            <a:r>
              <a:rPr lang="en-US" sz="1600" dirty="0" smtClean="0">
                <a:solidFill>
                  <a:srgbClr val="000000"/>
                </a:solidFill>
                <a:latin typeface="Consolas"/>
              </a:rPr>
              <a:t>                )</a:t>
            </a:r>
          </a:p>
          <a:p>
            <a:r>
              <a:rPr lang="en-US" sz="1600" dirty="0" smtClean="0">
                <a:solidFill>
                  <a:srgbClr val="000000"/>
                </a:solidFill>
                <a:latin typeface="Consolas"/>
              </a:rPr>
              <a:t>            }</a:t>
            </a:r>
          </a:p>
          <a:p>
            <a:r>
              <a:rPr lang="en-US" sz="1600" dirty="0" smtClean="0">
                <a:solidFill>
                  <a:srgbClr val="000000"/>
                </a:solidFill>
                <a:latin typeface="Consolas"/>
              </a:rPr>
              <a:t>        }</a:t>
            </a:r>
          </a:p>
          <a:p>
            <a:endParaRPr lang="en-US" sz="1600" dirty="0" smtClean="0">
              <a:solidFill>
                <a:srgbClr val="000000"/>
              </a:solidFill>
              <a:latin typeface="Consolas"/>
            </a:endParaRPr>
          </a:p>
          <a:p>
            <a:r>
              <a:rPr lang="en-US" sz="1600" dirty="0" smtClean="0">
                <a:solidFill>
                  <a:srgbClr val="000000"/>
                </a:solidFill>
                <a:latin typeface="Consolas"/>
              </a:rPr>
              <a:t>        </a:t>
            </a:r>
            <a:r>
              <a:rPr lang="en-US" sz="1600" dirty="0" err="1" smtClean="0">
                <a:solidFill>
                  <a:srgbClr val="000000"/>
                </a:solidFill>
                <a:latin typeface="Consolas"/>
              </a:rPr>
              <a:t>var</a:t>
            </a:r>
            <a:r>
              <a:rPr lang="en-US" sz="1600" dirty="0" smtClean="0">
                <a:solidFill>
                  <a:srgbClr val="000000"/>
                </a:solidFill>
                <a:latin typeface="Consolas"/>
              </a:rPr>
              <a:t> destination = </a:t>
            </a:r>
            <a:r>
              <a:rPr lang="en-US" sz="1600" dirty="0" err="1" smtClean="0">
                <a:solidFill>
                  <a:srgbClr val="000000"/>
                </a:solidFill>
                <a:latin typeface="Consolas"/>
              </a:rPr>
              <a:t>document.querySelector</a:t>
            </a:r>
            <a:r>
              <a:rPr lang="en-US" sz="1600" dirty="0" smtClean="0">
                <a:solidFill>
                  <a:srgbClr val="000000"/>
                </a:solidFill>
                <a:latin typeface="Consolas"/>
              </a:rPr>
              <a:t>("#container");</a:t>
            </a:r>
          </a:p>
          <a:p>
            <a:r>
              <a:rPr lang="en-US" sz="1600" dirty="0" smtClean="0">
                <a:solidFill>
                  <a:srgbClr val="000000"/>
                </a:solidFill>
                <a:latin typeface="Consolas"/>
              </a:rPr>
              <a:t>        </a:t>
            </a:r>
            <a:r>
              <a:rPr lang="en-US" sz="1600" dirty="0" err="1" smtClean="0">
                <a:solidFill>
                  <a:srgbClr val="000000"/>
                </a:solidFill>
                <a:latin typeface="Consolas"/>
              </a:rPr>
              <a:t>ReactDOM.render</a:t>
            </a:r>
            <a:r>
              <a:rPr lang="en-US" sz="1600" dirty="0" smtClean="0">
                <a:solidFill>
                  <a:srgbClr val="000000"/>
                </a:solidFill>
                <a:latin typeface="Consolas"/>
              </a:rPr>
              <a:t>(</a:t>
            </a:r>
          </a:p>
          <a:p>
            <a:r>
              <a:rPr lang="en-US" sz="1600" dirty="0" smtClean="0">
                <a:solidFill>
                  <a:srgbClr val="000000"/>
                </a:solidFill>
                <a:latin typeface="Consolas"/>
              </a:rPr>
              <a:t>            </a:t>
            </a:r>
            <a:r>
              <a:rPr lang="en-US" sz="1600" dirty="0" smtClean="0">
                <a:solidFill>
                  <a:srgbClr val="0000FF"/>
                </a:solidFill>
                <a:latin typeface="Consolas"/>
              </a:rPr>
              <a:t>&lt;</a:t>
            </a:r>
            <a:r>
              <a:rPr lang="en-US" sz="1600" dirty="0" err="1" smtClean="0">
                <a:solidFill>
                  <a:srgbClr val="800000"/>
                </a:solidFill>
                <a:latin typeface="Consolas"/>
              </a:rPr>
              <a:t>HelloWorld</a:t>
            </a:r>
            <a:r>
              <a:rPr lang="en-US" sz="1600" dirty="0" smtClean="0">
                <a:solidFill>
                  <a:srgbClr val="000000"/>
                </a:solidFill>
                <a:latin typeface="Consolas"/>
              </a:rPr>
              <a:t> </a:t>
            </a:r>
            <a:r>
              <a:rPr lang="en-US" sz="1600" dirty="0" smtClean="0">
                <a:solidFill>
                  <a:srgbClr val="0000FF"/>
                </a:solidFill>
                <a:latin typeface="Consolas"/>
              </a:rPr>
              <a:t>/&gt;</a:t>
            </a:r>
            <a:r>
              <a:rPr lang="en-US" sz="1600" dirty="0" smtClean="0">
                <a:solidFill>
                  <a:srgbClr val="000000"/>
                </a:solidFill>
                <a:latin typeface="Consolas"/>
              </a:rPr>
              <a:t>,</a:t>
            </a:r>
          </a:p>
          <a:p>
            <a:r>
              <a:rPr lang="en-US" sz="1600" dirty="0" smtClean="0">
                <a:solidFill>
                  <a:srgbClr val="000000"/>
                </a:solidFill>
                <a:latin typeface="Consolas"/>
              </a:rPr>
              <a:t>            destination</a:t>
            </a:r>
          </a:p>
          <a:p>
            <a:r>
              <a:rPr lang="en-US" sz="1600" dirty="0" smtClean="0">
                <a:solidFill>
                  <a:srgbClr val="000000"/>
                </a:solidFill>
                <a:latin typeface="Consolas"/>
              </a:rPr>
              <a:t>        );</a:t>
            </a:r>
          </a:p>
          <a:p>
            <a:r>
              <a:rPr lang="en-US" sz="1600" dirty="0" smtClean="0">
                <a:solidFill>
                  <a:srgbClr val="000000"/>
                </a:solidFill>
                <a:latin typeface="Consolas"/>
              </a:rPr>
              <a:t>    </a:t>
            </a:r>
            <a:r>
              <a:rPr lang="en-US" sz="1600" dirty="0" smtClean="0">
                <a:solidFill>
                  <a:srgbClr val="0000FF"/>
                </a:solidFill>
                <a:latin typeface="Consolas"/>
              </a:rPr>
              <a:t>&lt;/</a:t>
            </a:r>
            <a:r>
              <a:rPr lang="en-US" sz="1600" dirty="0" smtClean="0">
                <a:solidFill>
                  <a:srgbClr val="800000"/>
                </a:solidFill>
                <a:latin typeface="Consolas"/>
              </a:rPr>
              <a:t>script</a:t>
            </a:r>
            <a:r>
              <a:rPr lang="en-US" sz="1600" dirty="0" smtClean="0">
                <a:solidFill>
                  <a:srgbClr val="0000FF"/>
                </a:solidFill>
                <a:latin typeface="Consolas"/>
              </a:rPr>
              <a:t>&gt;</a:t>
            </a:r>
            <a:endParaRPr lang="en-US" sz="1600" dirty="0" smtClean="0">
              <a:solidFill>
                <a:srgbClr val="000000"/>
              </a:solidFill>
              <a:latin typeface="Consolas"/>
            </a:endParaRPr>
          </a:p>
          <a:p>
            <a:r>
              <a:rPr lang="en-US" sz="1600" dirty="0" smtClean="0">
                <a:solidFill>
                  <a:srgbClr val="0000FF"/>
                </a:solidFill>
                <a:latin typeface="Consolas"/>
              </a:rPr>
              <a:t>&lt;/</a:t>
            </a:r>
            <a:r>
              <a:rPr lang="en-US" sz="1600" dirty="0" smtClean="0">
                <a:solidFill>
                  <a:srgbClr val="800000"/>
                </a:solidFill>
                <a:latin typeface="Consolas"/>
              </a:rPr>
              <a:t>body</a:t>
            </a:r>
            <a:r>
              <a:rPr lang="en-US" sz="1600" dirty="0" smtClean="0">
                <a:solidFill>
                  <a:srgbClr val="0000FF"/>
                </a:solidFill>
                <a:latin typeface="Consolas"/>
              </a:rPr>
              <a:t>&gt;</a:t>
            </a:r>
            <a:endParaRPr lang="en-US" sz="1600" dirty="0">
              <a:latin typeface="Consolas" pitchFamily="49" charset="0"/>
            </a:endParaRPr>
          </a:p>
        </p:txBody>
      </p:sp>
      <p:pic>
        <p:nvPicPr>
          <p:cNvPr id="1026" name="Picture 2"/>
          <p:cNvPicPr>
            <a:picLocks noChangeAspect="1" noChangeArrowheads="1"/>
          </p:cNvPicPr>
          <p:nvPr/>
        </p:nvPicPr>
        <p:blipFill>
          <a:blip r:embed="rId2" cstate="print"/>
          <a:srcRect/>
          <a:stretch>
            <a:fillRect/>
          </a:stretch>
        </p:blipFill>
        <p:spPr bwMode="auto">
          <a:xfrm>
            <a:off x="3429000" y="5330825"/>
            <a:ext cx="5060950" cy="765175"/>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Functional Programming</a:t>
            </a:r>
            <a:endParaRPr lang="en-US" dirty="0"/>
          </a:p>
        </p:txBody>
      </p:sp>
      <p:sp>
        <p:nvSpPr>
          <p:cNvPr id="4" name="Rectangle 3"/>
          <p:cNvSpPr/>
          <p:nvPr/>
        </p:nvSpPr>
        <p:spPr>
          <a:xfrm>
            <a:off x="533400" y="1447800"/>
            <a:ext cx="8153400" cy="3046988"/>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dirty="0" smtClean="0">
                <a:solidFill>
                  <a:srgbClr val="0000FF"/>
                </a:solidFill>
                <a:latin typeface="Consolas"/>
              </a:rPr>
              <a:t>&lt;</a:t>
            </a:r>
            <a:r>
              <a:rPr lang="en-US" sz="1600" dirty="0" smtClean="0">
                <a:solidFill>
                  <a:srgbClr val="800000"/>
                </a:solidFill>
                <a:latin typeface="Consolas"/>
              </a:rPr>
              <a:t>body</a:t>
            </a:r>
            <a:r>
              <a:rPr lang="en-US" sz="1600" dirty="0" smtClean="0">
                <a:solidFill>
                  <a:srgbClr val="0000FF"/>
                </a:solidFill>
                <a:latin typeface="Consolas"/>
              </a:rPr>
              <a:t>&gt;</a:t>
            </a:r>
            <a:endParaRPr lang="en-US" sz="1600" dirty="0" smtClean="0">
              <a:solidFill>
                <a:srgbClr val="000000"/>
              </a:solidFill>
              <a:latin typeface="Consolas"/>
            </a:endParaRPr>
          </a:p>
          <a:p>
            <a:r>
              <a:rPr lang="en-US" sz="1600" dirty="0" smtClean="0">
                <a:solidFill>
                  <a:srgbClr val="000000"/>
                </a:solidFill>
                <a:latin typeface="Consolas"/>
              </a:rPr>
              <a:t>    </a:t>
            </a:r>
            <a:r>
              <a:rPr lang="en-US" sz="1600" dirty="0" smtClean="0">
                <a:solidFill>
                  <a:srgbClr val="0000FF"/>
                </a:solidFill>
                <a:latin typeface="Consolas"/>
              </a:rPr>
              <a:t>&lt;</a:t>
            </a:r>
            <a:r>
              <a:rPr lang="en-US" sz="1600" dirty="0" smtClean="0">
                <a:solidFill>
                  <a:srgbClr val="800000"/>
                </a:solidFill>
                <a:latin typeface="Consolas"/>
              </a:rPr>
              <a:t>div</a:t>
            </a:r>
            <a:r>
              <a:rPr lang="en-US" sz="1600" dirty="0" smtClean="0">
                <a:solidFill>
                  <a:srgbClr val="000000"/>
                </a:solidFill>
                <a:latin typeface="Consolas"/>
              </a:rPr>
              <a:t> </a:t>
            </a:r>
            <a:r>
              <a:rPr lang="en-US" sz="1600" dirty="0" smtClean="0">
                <a:solidFill>
                  <a:srgbClr val="FF0000"/>
                </a:solidFill>
                <a:latin typeface="Consolas"/>
              </a:rPr>
              <a:t>id</a:t>
            </a:r>
            <a:r>
              <a:rPr lang="en-US" sz="1600" dirty="0" smtClean="0">
                <a:solidFill>
                  <a:srgbClr val="0000FF"/>
                </a:solidFill>
                <a:latin typeface="Consolas"/>
              </a:rPr>
              <a:t>="container"&gt;&lt;/</a:t>
            </a:r>
            <a:r>
              <a:rPr lang="en-US" sz="1600" dirty="0" smtClean="0">
                <a:solidFill>
                  <a:srgbClr val="800000"/>
                </a:solidFill>
                <a:latin typeface="Consolas"/>
              </a:rPr>
              <a:t>div</a:t>
            </a:r>
            <a:r>
              <a:rPr lang="en-US" sz="1600" dirty="0" smtClean="0">
                <a:solidFill>
                  <a:srgbClr val="0000FF"/>
                </a:solidFill>
                <a:latin typeface="Consolas"/>
              </a:rPr>
              <a:t>&gt;</a:t>
            </a:r>
            <a:endParaRPr lang="en-US" sz="1600" dirty="0" smtClean="0">
              <a:solidFill>
                <a:srgbClr val="000000"/>
              </a:solidFill>
              <a:latin typeface="Consolas"/>
            </a:endParaRPr>
          </a:p>
          <a:p>
            <a:r>
              <a:rPr lang="en-US" sz="1600" dirty="0" smtClean="0">
                <a:solidFill>
                  <a:srgbClr val="000000"/>
                </a:solidFill>
                <a:latin typeface="Consolas"/>
              </a:rPr>
              <a:t>    </a:t>
            </a:r>
            <a:r>
              <a:rPr lang="en-US" sz="1600" dirty="0" smtClean="0">
                <a:solidFill>
                  <a:srgbClr val="0000FF"/>
                </a:solidFill>
                <a:latin typeface="Consolas"/>
              </a:rPr>
              <a:t>&lt;</a:t>
            </a:r>
            <a:r>
              <a:rPr lang="en-US" sz="1600" dirty="0" smtClean="0">
                <a:solidFill>
                  <a:srgbClr val="800000"/>
                </a:solidFill>
                <a:latin typeface="Consolas"/>
              </a:rPr>
              <a:t>script</a:t>
            </a:r>
            <a:r>
              <a:rPr lang="en-US" sz="1600" dirty="0" smtClean="0">
                <a:solidFill>
                  <a:srgbClr val="000000"/>
                </a:solidFill>
                <a:latin typeface="Consolas"/>
              </a:rPr>
              <a:t> </a:t>
            </a:r>
            <a:r>
              <a:rPr lang="en-US" sz="1600" dirty="0" smtClean="0">
                <a:solidFill>
                  <a:srgbClr val="FF0000"/>
                </a:solidFill>
                <a:latin typeface="Consolas"/>
              </a:rPr>
              <a:t>type</a:t>
            </a:r>
            <a:r>
              <a:rPr lang="en-US" sz="1600" dirty="0" smtClean="0">
                <a:solidFill>
                  <a:srgbClr val="0000FF"/>
                </a:solidFill>
                <a:latin typeface="Consolas"/>
              </a:rPr>
              <a:t>="text/</a:t>
            </a:r>
            <a:r>
              <a:rPr lang="en-US" sz="1600" dirty="0" err="1" smtClean="0">
                <a:solidFill>
                  <a:srgbClr val="0000FF"/>
                </a:solidFill>
                <a:latin typeface="Consolas"/>
              </a:rPr>
              <a:t>babel</a:t>
            </a:r>
            <a:r>
              <a:rPr lang="en-US" sz="1600" dirty="0" smtClean="0">
                <a:solidFill>
                  <a:srgbClr val="0000FF"/>
                </a:solidFill>
                <a:latin typeface="Consolas"/>
              </a:rPr>
              <a:t>"&gt;</a:t>
            </a:r>
            <a:endParaRPr lang="en-US" sz="1600" dirty="0" smtClean="0">
              <a:solidFill>
                <a:srgbClr val="000000"/>
              </a:solidFill>
              <a:latin typeface="Consolas"/>
            </a:endParaRPr>
          </a:p>
          <a:p>
            <a:r>
              <a:rPr lang="en-US" sz="1600" dirty="0" smtClean="0">
                <a:solidFill>
                  <a:srgbClr val="000000"/>
                </a:solidFill>
                <a:latin typeface="Consolas"/>
              </a:rPr>
              <a:t>        const </a:t>
            </a:r>
            <a:r>
              <a:rPr lang="en-US" sz="1600" dirty="0" err="1" smtClean="0">
                <a:solidFill>
                  <a:srgbClr val="000000"/>
                </a:solidFill>
                <a:latin typeface="Consolas"/>
              </a:rPr>
              <a:t>HelloWorld</a:t>
            </a:r>
            <a:r>
              <a:rPr lang="en-US" sz="1600" dirty="0" smtClean="0">
                <a:solidFill>
                  <a:srgbClr val="000000"/>
                </a:solidFill>
                <a:latin typeface="Consolas"/>
              </a:rPr>
              <a:t> = () =&gt; </a:t>
            </a:r>
            <a:r>
              <a:rPr lang="en-US" sz="1600" dirty="0" smtClean="0">
                <a:solidFill>
                  <a:srgbClr val="0000FF"/>
                </a:solidFill>
                <a:latin typeface="Consolas"/>
              </a:rPr>
              <a:t>&lt;</a:t>
            </a:r>
            <a:r>
              <a:rPr lang="en-US" sz="1600" dirty="0" smtClean="0">
                <a:solidFill>
                  <a:srgbClr val="800000"/>
                </a:solidFill>
                <a:latin typeface="Consolas"/>
              </a:rPr>
              <a:t>h1</a:t>
            </a:r>
            <a:r>
              <a:rPr lang="en-US" sz="1600" dirty="0" smtClean="0">
                <a:solidFill>
                  <a:srgbClr val="0000FF"/>
                </a:solidFill>
                <a:latin typeface="Consolas"/>
              </a:rPr>
              <a:t>&gt;</a:t>
            </a:r>
            <a:r>
              <a:rPr lang="en-US" sz="1600" dirty="0" smtClean="0">
                <a:solidFill>
                  <a:srgbClr val="000000"/>
                </a:solidFill>
                <a:latin typeface="Consolas"/>
              </a:rPr>
              <a:t>Hello, FP world!</a:t>
            </a:r>
            <a:r>
              <a:rPr lang="en-US" sz="1600" dirty="0" smtClean="0">
                <a:solidFill>
                  <a:srgbClr val="0000FF"/>
                </a:solidFill>
                <a:latin typeface="Consolas"/>
              </a:rPr>
              <a:t>&lt;/</a:t>
            </a:r>
            <a:r>
              <a:rPr lang="en-US" sz="1600" dirty="0" smtClean="0">
                <a:solidFill>
                  <a:srgbClr val="800000"/>
                </a:solidFill>
                <a:latin typeface="Consolas"/>
              </a:rPr>
              <a:t>h1</a:t>
            </a:r>
            <a:r>
              <a:rPr lang="en-US" sz="1600" dirty="0" smtClean="0">
                <a:solidFill>
                  <a:srgbClr val="0000FF"/>
                </a:solidFill>
                <a:latin typeface="Consolas"/>
              </a:rPr>
              <a:t>&gt;</a:t>
            </a:r>
            <a:r>
              <a:rPr lang="en-US" sz="1600" dirty="0" smtClean="0">
                <a:solidFill>
                  <a:srgbClr val="000000"/>
                </a:solidFill>
                <a:latin typeface="Consolas"/>
              </a:rPr>
              <a:t>;</a:t>
            </a:r>
          </a:p>
          <a:p>
            <a:endParaRPr lang="en-US" sz="1600" dirty="0" smtClean="0">
              <a:solidFill>
                <a:srgbClr val="000000"/>
              </a:solidFill>
              <a:latin typeface="Consolas"/>
            </a:endParaRPr>
          </a:p>
          <a:p>
            <a:r>
              <a:rPr lang="en-US" sz="1600" dirty="0" smtClean="0">
                <a:solidFill>
                  <a:srgbClr val="000000"/>
                </a:solidFill>
                <a:latin typeface="Consolas"/>
              </a:rPr>
              <a:t>        </a:t>
            </a:r>
            <a:r>
              <a:rPr lang="en-US" sz="1600" dirty="0" err="1" smtClean="0">
                <a:solidFill>
                  <a:srgbClr val="000000"/>
                </a:solidFill>
                <a:latin typeface="Consolas"/>
              </a:rPr>
              <a:t>var</a:t>
            </a:r>
            <a:r>
              <a:rPr lang="en-US" sz="1600" dirty="0" smtClean="0">
                <a:solidFill>
                  <a:srgbClr val="000000"/>
                </a:solidFill>
                <a:latin typeface="Consolas"/>
              </a:rPr>
              <a:t> destination = </a:t>
            </a:r>
            <a:r>
              <a:rPr lang="en-US" sz="1600" dirty="0" err="1" smtClean="0">
                <a:solidFill>
                  <a:srgbClr val="000000"/>
                </a:solidFill>
                <a:latin typeface="Consolas"/>
              </a:rPr>
              <a:t>document.querySelector</a:t>
            </a:r>
            <a:r>
              <a:rPr lang="en-US" sz="1600" dirty="0" smtClean="0">
                <a:solidFill>
                  <a:srgbClr val="000000"/>
                </a:solidFill>
                <a:latin typeface="Consolas"/>
              </a:rPr>
              <a:t>("#container");</a:t>
            </a:r>
          </a:p>
          <a:p>
            <a:r>
              <a:rPr lang="en-US" sz="1600" dirty="0" smtClean="0">
                <a:solidFill>
                  <a:srgbClr val="000000"/>
                </a:solidFill>
                <a:latin typeface="Consolas"/>
              </a:rPr>
              <a:t>        </a:t>
            </a:r>
            <a:r>
              <a:rPr lang="en-US" sz="1600" dirty="0" err="1" smtClean="0">
                <a:solidFill>
                  <a:srgbClr val="000000"/>
                </a:solidFill>
                <a:latin typeface="Consolas"/>
              </a:rPr>
              <a:t>ReactDOM.render</a:t>
            </a:r>
            <a:r>
              <a:rPr lang="en-US" sz="1600" dirty="0" smtClean="0">
                <a:solidFill>
                  <a:srgbClr val="000000"/>
                </a:solidFill>
                <a:latin typeface="Consolas"/>
              </a:rPr>
              <a:t>(</a:t>
            </a:r>
          </a:p>
          <a:p>
            <a:r>
              <a:rPr lang="en-US" sz="1600" dirty="0" smtClean="0">
                <a:solidFill>
                  <a:srgbClr val="000000"/>
                </a:solidFill>
                <a:latin typeface="Consolas"/>
              </a:rPr>
              <a:t>            </a:t>
            </a:r>
            <a:r>
              <a:rPr lang="en-US" sz="1600" dirty="0" smtClean="0">
                <a:solidFill>
                  <a:srgbClr val="0000FF"/>
                </a:solidFill>
                <a:latin typeface="Consolas"/>
              </a:rPr>
              <a:t>&lt;</a:t>
            </a:r>
            <a:r>
              <a:rPr lang="en-US" sz="1600" dirty="0" err="1" smtClean="0">
                <a:solidFill>
                  <a:srgbClr val="800000"/>
                </a:solidFill>
                <a:latin typeface="Consolas"/>
              </a:rPr>
              <a:t>HelloWorld</a:t>
            </a:r>
            <a:r>
              <a:rPr lang="en-US" sz="1600" dirty="0" smtClean="0">
                <a:solidFill>
                  <a:srgbClr val="000000"/>
                </a:solidFill>
                <a:latin typeface="Consolas"/>
              </a:rPr>
              <a:t> </a:t>
            </a:r>
            <a:r>
              <a:rPr lang="en-US" sz="1600" dirty="0" smtClean="0">
                <a:solidFill>
                  <a:srgbClr val="0000FF"/>
                </a:solidFill>
                <a:latin typeface="Consolas"/>
              </a:rPr>
              <a:t>/&gt;</a:t>
            </a:r>
            <a:r>
              <a:rPr lang="en-US" sz="1600" dirty="0" smtClean="0">
                <a:solidFill>
                  <a:srgbClr val="000000"/>
                </a:solidFill>
                <a:latin typeface="Consolas"/>
              </a:rPr>
              <a:t>,</a:t>
            </a:r>
          </a:p>
          <a:p>
            <a:r>
              <a:rPr lang="en-US" sz="1600" dirty="0" smtClean="0">
                <a:solidFill>
                  <a:srgbClr val="000000"/>
                </a:solidFill>
                <a:latin typeface="Consolas"/>
              </a:rPr>
              <a:t>            destination</a:t>
            </a:r>
          </a:p>
          <a:p>
            <a:r>
              <a:rPr lang="en-US" sz="1600" dirty="0" smtClean="0">
                <a:solidFill>
                  <a:srgbClr val="000000"/>
                </a:solidFill>
                <a:latin typeface="Consolas"/>
              </a:rPr>
              <a:t>        );</a:t>
            </a:r>
          </a:p>
          <a:p>
            <a:r>
              <a:rPr lang="en-US" sz="1600" dirty="0" smtClean="0">
                <a:solidFill>
                  <a:srgbClr val="000000"/>
                </a:solidFill>
                <a:latin typeface="Consolas"/>
              </a:rPr>
              <a:t>    </a:t>
            </a:r>
            <a:r>
              <a:rPr lang="en-US" sz="1600" dirty="0" smtClean="0">
                <a:solidFill>
                  <a:srgbClr val="0000FF"/>
                </a:solidFill>
                <a:latin typeface="Consolas"/>
              </a:rPr>
              <a:t>&lt;/</a:t>
            </a:r>
            <a:r>
              <a:rPr lang="en-US" sz="1600" dirty="0" smtClean="0">
                <a:solidFill>
                  <a:srgbClr val="800000"/>
                </a:solidFill>
                <a:latin typeface="Consolas"/>
              </a:rPr>
              <a:t>script</a:t>
            </a:r>
            <a:r>
              <a:rPr lang="en-US" sz="1600" dirty="0" smtClean="0">
                <a:solidFill>
                  <a:srgbClr val="0000FF"/>
                </a:solidFill>
                <a:latin typeface="Consolas"/>
              </a:rPr>
              <a:t>&gt;</a:t>
            </a:r>
            <a:endParaRPr lang="en-US" sz="1600" dirty="0" smtClean="0">
              <a:solidFill>
                <a:srgbClr val="000000"/>
              </a:solidFill>
              <a:latin typeface="Consolas"/>
            </a:endParaRPr>
          </a:p>
          <a:p>
            <a:r>
              <a:rPr lang="en-US" sz="1600" dirty="0" smtClean="0">
                <a:solidFill>
                  <a:srgbClr val="0000FF"/>
                </a:solidFill>
                <a:latin typeface="Consolas"/>
              </a:rPr>
              <a:t>&lt;/</a:t>
            </a:r>
            <a:r>
              <a:rPr lang="en-US" sz="1600" dirty="0" smtClean="0">
                <a:solidFill>
                  <a:srgbClr val="800000"/>
                </a:solidFill>
                <a:latin typeface="Consolas"/>
              </a:rPr>
              <a:t>body</a:t>
            </a:r>
            <a:r>
              <a:rPr lang="en-US" sz="1600" dirty="0" smtClean="0">
                <a:solidFill>
                  <a:srgbClr val="0000FF"/>
                </a:solidFill>
                <a:latin typeface="Consolas"/>
              </a:rPr>
              <a:t>&gt;</a:t>
            </a:r>
            <a:endParaRPr lang="en-US" sz="1600" dirty="0">
              <a:latin typeface="Consolas" pitchFamily="49" charset="0"/>
            </a:endParaRPr>
          </a:p>
        </p:txBody>
      </p:sp>
      <p:pic>
        <p:nvPicPr>
          <p:cNvPr id="2050" name="Picture 2"/>
          <p:cNvPicPr>
            <a:picLocks noChangeAspect="1" noChangeArrowheads="1"/>
          </p:cNvPicPr>
          <p:nvPr/>
        </p:nvPicPr>
        <p:blipFill>
          <a:blip r:embed="rId2" cstate="print"/>
          <a:srcRect/>
          <a:stretch>
            <a:fillRect/>
          </a:stretch>
        </p:blipFill>
        <p:spPr bwMode="auto">
          <a:xfrm>
            <a:off x="3276600" y="5105400"/>
            <a:ext cx="4438650" cy="701675"/>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Passing Arguments</a:t>
            </a:r>
            <a:endParaRPr lang="en-US" dirty="0"/>
          </a:p>
        </p:txBody>
      </p:sp>
      <p:sp>
        <p:nvSpPr>
          <p:cNvPr id="4" name="Rectangle 3"/>
          <p:cNvSpPr/>
          <p:nvPr/>
        </p:nvSpPr>
        <p:spPr>
          <a:xfrm>
            <a:off x="533400" y="1447800"/>
            <a:ext cx="8153400" cy="3046988"/>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dirty="0" smtClean="0">
                <a:solidFill>
                  <a:srgbClr val="0000FF"/>
                </a:solidFill>
                <a:latin typeface="Consolas"/>
              </a:rPr>
              <a:t>&lt;</a:t>
            </a:r>
            <a:r>
              <a:rPr lang="en-US" sz="1600" dirty="0" smtClean="0">
                <a:solidFill>
                  <a:srgbClr val="800000"/>
                </a:solidFill>
                <a:latin typeface="Consolas"/>
              </a:rPr>
              <a:t>body</a:t>
            </a:r>
            <a:r>
              <a:rPr lang="en-US" sz="1600" dirty="0" smtClean="0">
                <a:solidFill>
                  <a:srgbClr val="0000FF"/>
                </a:solidFill>
                <a:latin typeface="Consolas"/>
              </a:rPr>
              <a:t>&gt;</a:t>
            </a:r>
            <a:endParaRPr lang="en-US" sz="1600" dirty="0" smtClean="0">
              <a:solidFill>
                <a:srgbClr val="000000"/>
              </a:solidFill>
              <a:latin typeface="Consolas"/>
            </a:endParaRPr>
          </a:p>
          <a:p>
            <a:r>
              <a:rPr lang="en-US" sz="1600" dirty="0" smtClean="0">
                <a:solidFill>
                  <a:srgbClr val="000000"/>
                </a:solidFill>
                <a:latin typeface="Consolas"/>
              </a:rPr>
              <a:t>    </a:t>
            </a:r>
            <a:r>
              <a:rPr lang="en-US" sz="1600" dirty="0" smtClean="0">
                <a:solidFill>
                  <a:srgbClr val="0000FF"/>
                </a:solidFill>
                <a:latin typeface="Consolas"/>
              </a:rPr>
              <a:t>&lt;</a:t>
            </a:r>
            <a:r>
              <a:rPr lang="en-US" sz="1600" dirty="0" smtClean="0">
                <a:solidFill>
                  <a:srgbClr val="800000"/>
                </a:solidFill>
                <a:latin typeface="Consolas"/>
              </a:rPr>
              <a:t>div</a:t>
            </a:r>
            <a:r>
              <a:rPr lang="en-US" sz="1600" dirty="0" smtClean="0">
                <a:solidFill>
                  <a:srgbClr val="000000"/>
                </a:solidFill>
                <a:latin typeface="Consolas"/>
              </a:rPr>
              <a:t> </a:t>
            </a:r>
            <a:r>
              <a:rPr lang="en-US" sz="1600" dirty="0" smtClean="0">
                <a:solidFill>
                  <a:srgbClr val="FF0000"/>
                </a:solidFill>
                <a:latin typeface="Consolas"/>
              </a:rPr>
              <a:t>id</a:t>
            </a:r>
            <a:r>
              <a:rPr lang="en-US" sz="1600" dirty="0" smtClean="0">
                <a:solidFill>
                  <a:srgbClr val="0000FF"/>
                </a:solidFill>
                <a:latin typeface="Consolas"/>
              </a:rPr>
              <a:t>="container"&gt;&lt;/</a:t>
            </a:r>
            <a:r>
              <a:rPr lang="en-US" sz="1600" dirty="0" smtClean="0">
                <a:solidFill>
                  <a:srgbClr val="800000"/>
                </a:solidFill>
                <a:latin typeface="Consolas"/>
              </a:rPr>
              <a:t>div</a:t>
            </a:r>
            <a:r>
              <a:rPr lang="en-US" sz="1600" dirty="0" smtClean="0">
                <a:solidFill>
                  <a:srgbClr val="0000FF"/>
                </a:solidFill>
                <a:latin typeface="Consolas"/>
              </a:rPr>
              <a:t>&gt;</a:t>
            </a:r>
            <a:endParaRPr lang="en-US" sz="1600" dirty="0" smtClean="0">
              <a:solidFill>
                <a:srgbClr val="000000"/>
              </a:solidFill>
              <a:latin typeface="Consolas"/>
            </a:endParaRPr>
          </a:p>
          <a:p>
            <a:r>
              <a:rPr lang="en-US" sz="1600" dirty="0" smtClean="0">
                <a:solidFill>
                  <a:srgbClr val="000000"/>
                </a:solidFill>
                <a:latin typeface="Consolas"/>
              </a:rPr>
              <a:t>    </a:t>
            </a:r>
            <a:r>
              <a:rPr lang="en-US" sz="1600" dirty="0" smtClean="0">
                <a:solidFill>
                  <a:srgbClr val="0000FF"/>
                </a:solidFill>
                <a:latin typeface="Consolas"/>
              </a:rPr>
              <a:t>&lt;</a:t>
            </a:r>
            <a:r>
              <a:rPr lang="en-US" sz="1600" dirty="0" smtClean="0">
                <a:solidFill>
                  <a:srgbClr val="800000"/>
                </a:solidFill>
                <a:latin typeface="Consolas"/>
              </a:rPr>
              <a:t>script</a:t>
            </a:r>
            <a:r>
              <a:rPr lang="en-US" sz="1600" dirty="0" smtClean="0">
                <a:solidFill>
                  <a:srgbClr val="000000"/>
                </a:solidFill>
                <a:latin typeface="Consolas"/>
              </a:rPr>
              <a:t> </a:t>
            </a:r>
            <a:r>
              <a:rPr lang="en-US" sz="1600" dirty="0" smtClean="0">
                <a:solidFill>
                  <a:srgbClr val="FF0000"/>
                </a:solidFill>
                <a:latin typeface="Consolas"/>
              </a:rPr>
              <a:t>type</a:t>
            </a:r>
            <a:r>
              <a:rPr lang="en-US" sz="1600" dirty="0" smtClean="0">
                <a:solidFill>
                  <a:srgbClr val="0000FF"/>
                </a:solidFill>
                <a:latin typeface="Consolas"/>
              </a:rPr>
              <a:t>="text/</a:t>
            </a:r>
            <a:r>
              <a:rPr lang="en-US" sz="1600" dirty="0" err="1" smtClean="0">
                <a:solidFill>
                  <a:srgbClr val="0000FF"/>
                </a:solidFill>
                <a:latin typeface="Consolas"/>
              </a:rPr>
              <a:t>babel</a:t>
            </a:r>
            <a:r>
              <a:rPr lang="en-US" sz="1600" dirty="0" smtClean="0">
                <a:solidFill>
                  <a:srgbClr val="0000FF"/>
                </a:solidFill>
                <a:latin typeface="Consolas"/>
              </a:rPr>
              <a:t>"&gt;</a:t>
            </a:r>
            <a:endParaRPr lang="en-US" sz="1600" dirty="0" smtClean="0">
              <a:solidFill>
                <a:srgbClr val="000000"/>
              </a:solidFill>
              <a:latin typeface="Consolas"/>
            </a:endParaRPr>
          </a:p>
          <a:p>
            <a:r>
              <a:rPr lang="en-US" sz="1600" dirty="0" smtClean="0">
                <a:solidFill>
                  <a:srgbClr val="000000"/>
                </a:solidFill>
                <a:latin typeface="Consolas"/>
              </a:rPr>
              <a:t>        const </a:t>
            </a:r>
            <a:r>
              <a:rPr lang="en-US" sz="1600" dirty="0" err="1" smtClean="0">
                <a:solidFill>
                  <a:srgbClr val="000000"/>
                </a:solidFill>
                <a:latin typeface="Consolas"/>
              </a:rPr>
              <a:t>HelloWorld</a:t>
            </a:r>
            <a:r>
              <a:rPr lang="en-US" sz="1600" dirty="0" smtClean="0">
                <a:solidFill>
                  <a:srgbClr val="000000"/>
                </a:solidFill>
                <a:latin typeface="Consolas"/>
              </a:rPr>
              <a:t> = (props) =&gt; </a:t>
            </a:r>
            <a:r>
              <a:rPr lang="en-US" sz="1600" dirty="0" smtClean="0">
                <a:solidFill>
                  <a:srgbClr val="0000FF"/>
                </a:solidFill>
                <a:latin typeface="Consolas"/>
              </a:rPr>
              <a:t>&lt;</a:t>
            </a:r>
            <a:r>
              <a:rPr lang="en-US" sz="1600" dirty="0" smtClean="0">
                <a:solidFill>
                  <a:srgbClr val="800000"/>
                </a:solidFill>
                <a:latin typeface="Consolas"/>
              </a:rPr>
              <a:t>h1</a:t>
            </a:r>
            <a:r>
              <a:rPr lang="en-US" sz="1600" dirty="0" smtClean="0">
                <a:solidFill>
                  <a:srgbClr val="0000FF"/>
                </a:solidFill>
                <a:latin typeface="Consolas"/>
              </a:rPr>
              <a:t>&gt;</a:t>
            </a:r>
            <a:r>
              <a:rPr lang="en-US" sz="1600" dirty="0" smtClean="0">
                <a:solidFill>
                  <a:srgbClr val="000000"/>
                </a:solidFill>
                <a:latin typeface="Consolas"/>
              </a:rPr>
              <a:t>Hello, {props.name}!</a:t>
            </a:r>
            <a:r>
              <a:rPr lang="en-US" sz="1600" dirty="0" smtClean="0">
                <a:solidFill>
                  <a:srgbClr val="0000FF"/>
                </a:solidFill>
                <a:latin typeface="Consolas"/>
              </a:rPr>
              <a:t>&lt;/</a:t>
            </a:r>
            <a:r>
              <a:rPr lang="en-US" sz="1600" dirty="0" smtClean="0">
                <a:solidFill>
                  <a:srgbClr val="800000"/>
                </a:solidFill>
                <a:latin typeface="Consolas"/>
              </a:rPr>
              <a:t>h1</a:t>
            </a:r>
            <a:r>
              <a:rPr lang="en-US" sz="1600" dirty="0" smtClean="0">
                <a:solidFill>
                  <a:srgbClr val="0000FF"/>
                </a:solidFill>
                <a:latin typeface="Consolas"/>
              </a:rPr>
              <a:t>&gt;</a:t>
            </a:r>
            <a:r>
              <a:rPr lang="en-US" sz="1600" dirty="0" smtClean="0">
                <a:solidFill>
                  <a:srgbClr val="000000"/>
                </a:solidFill>
                <a:latin typeface="Consolas"/>
              </a:rPr>
              <a:t>;</a:t>
            </a:r>
          </a:p>
          <a:p>
            <a:endParaRPr lang="en-US" sz="1600" dirty="0" smtClean="0">
              <a:solidFill>
                <a:srgbClr val="000000"/>
              </a:solidFill>
              <a:latin typeface="Consolas"/>
            </a:endParaRPr>
          </a:p>
          <a:p>
            <a:r>
              <a:rPr lang="en-US" sz="1600" dirty="0" smtClean="0">
                <a:solidFill>
                  <a:srgbClr val="000000"/>
                </a:solidFill>
                <a:latin typeface="Consolas"/>
              </a:rPr>
              <a:t>        </a:t>
            </a:r>
            <a:r>
              <a:rPr lang="en-US" sz="1600" dirty="0" err="1" smtClean="0">
                <a:solidFill>
                  <a:srgbClr val="000000"/>
                </a:solidFill>
                <a:latin typeface="Consolas"/>
              </a:rPr>
              <a:t>var</a:t>
            </a:r>
            <a:r>
              <a:rPr lang="en-US" sz="1600" dirty="0" smtClean="0">
                <a:solidFill>
                  <a:srgbClr val="000000"/>
                </a:solidFill>
                <a:latin typeface="Consolas"/>
              </a:rPr>
              <a:t> destination = </a:t>
            </a:r>
            <a:r>
              <a:rPr lang="en-US" sz="1600" dirty="0" err="1" smtClean="0">
                <a:solidFill>
                  <a:srgbClr val="000000"/>
                </a:solidFill>
                <a:latin typeface="Consolas"/>
              </a:rPr>
              <a:t>document.querySelector</a:t>
            </a:r>
            <a:r>
              <a:rPr lang="en-US" sz="1600" dirty="0" smtClean="0">
                <a:solidFill>
                  <a:srgbClr val="000000"/>
                </a:solidFill>
                <a:latin typeface="Consolas"/>
              </a:rPr>
              <a:t>("#container");</a:t>
            </a:r>
          </a:p>
          <a:p>
            <a:r>
              <a:rPr lang="en-US" sz="1600" dirty="0" smtClean="0">
                <a:solidFill>
                  <a:srgbClr val="000000"/>
                </a:solidFill>
                <a:latin typeface="Consolas"/>
              </a:rPr>
              <a:t>        </a:t>
            </a:r>
            <a:r>
              <a:rPr lang="en-US" sz="1600" dirty="0" err="1" smtClean="0">
                <a:solidFill>
                  <a:srgbClr val="000000"/>
                </a:solidFill>
                <a:latin typeface="Consolas"/>
              </a:rPr>
              <a:t>ReactDOM.render</a:t>
            </a:r>
            <a:r>
              <a:rPr lang="en-US" sz="1600" dirty="0" smtClean="0">
                <a:solidFill>
                  <a:srgbClr val="000000"/>
                </a:solidFill>
                <a:latin typeface="Consolas"/>
              </a:rPr>
              <a:t>(</a:t>
            </a:r>
          </a:p>
          <a:p>
            <a:r>
              <a:rPr lang="en-US" sz="1600" dirty="0" smtClean="0">
                <a:solidFill>
                  <a:srgbClr val="000000"/>
                </a:solidFill>
                <a:latin typeface="Consolas"/>
              </a:rPr>
              <a:t>            </a:t>
            </a:r>
            <a:r>
              <a:rPr lang="en-US" sz="1600" dirty="0" smtClean="0">
                <a:solidFill>
                  <a:srgbClr val="0000FF"/>
                </a:solidFill>
                <a:latin typeface="Consolas"/>
              </a:rPr>
              <a:t>&lt;</a:t>
            </a:r>
            <a:r>
              <a:rPr lang="en-US" sz="1600" dirty="0" err="1" smtClean="0">
                <a:solidFill>
                  <a:srgbClr val="800000"/>
                </a:solidFill>
                <a:latin typeface="Consolas"/>
              </a:rPr>
              <a:t>HelloWorld</a:t>
            </a:r>
            <a:r>
              <a:rPr lang="en-US" sz="1600" dirty="0" smtClean="0">
                <a:solidFill>
                  <a:srgbClr val="000000"/>
                </a:solidFill>
                <a:latin typeface="Consolas"/>
              </a:rPr>
              <a:t> </a:t>
            </a:r>
            <a:r>
              <a:rPr lang="en-US" sz="1600" dirty="0" smtClean="0">
                <a:solidFill>
                  <a:srgbClr val="FF0000"/>
                </a:solidFill>
                <a:latin typeface="Consolas"/>
              </a:rPr>
              <a:t>name</a:t>
            </a:r>
            <a:r>
              <a:rPr lang="en-US" sz="1600" dirty="0" smtClean="0">
                <a:solidFill>
                  <a:srgbClr val="000000"/>
                </a:solidFill>
                <a:latin typeface="Consolas"/>
              </a:rPr>
              <a:t> </a:t>
            </a:r>
            <a:r>
              <a:rPr lang="en-US" sz="1600" dirty="0" smtClean="0">
                <a:solidFill>
                  <a:srgbClr val="0000FF"/>
                </a:solidFill>
                <a:latin typeface="Consolas"/>
              </a:rPr>
              <a:t>=</a:t>
            </a:r>
            <a:r>
              <a:rPr lang="en-US" sz="1600" dirty="0" smtClean="0">
                <a:solidFill>
                  <a:srgbClr val="000000"/>
                </a:solidFill>
                <a:latin typeface="Consolas"/>
              </a:rPr>
              <a:t> </a:t>
            </a:r>
            <a:r>
              <a:rPr lang="en-US" sz="1600" dirty="0" smtClean="0">
                <a:solidFill>
                  <a:srgbClr val="0000FF"/>
                </a:solidFill>
                <a:latin typeface="Consolas"/>
              </a:rPr>
              <a:t>"Passing Arguments"</a:t>
            </a:r>
            <a:r>
              <a:rPr lang="en-US" sz="1600" dirty="0" smtClean="0">
                <a:solidFill>
                  <a:srgbClr val="000000"/>
                </a:solidFill>
                <a:latin typeface="Consolas"/>
              </a:rPr>
              <a:t> </a:t>
            </a:r>
            <a:r>
              <a:rPr lang="en-US" sz="1600" dirty="0" smtClean="0">
                <a:solidFill>
                  <a:srgbClr val="0000FF"/>
                </a:solidFill>
                <a:latin typeface="Consolas"/>
              </a:rPr>
              <a:t>/&gt;</a:t>
            </a:r>
            <a:r>
              <a:rPr lang="en-US" sz="1600" dirty="0" smtClean="0">
                <a:solidFill>
                  <a:srgbClr val="000000"/>
                </a:solidFill>
                <a:latin typeface="Consolas"/>
              </a:rPr>
              <a:t>,</a:t>
            </a:r>
          </a:p>
          <a:p>
            <a:r>
              <a:rPr lang="en-US" sz="1600" dirty="0" smtClean="0">
                <a:solidFill>
                  <a:srgbClr val="000000"/>
                </a:solidFill>
                <a:latin typeface="Consolas"/>
              </a:rPr>
              <a:t>            destination</a:t>
            </a:r>
          </a:p>
          <a:p>
            <a:r>
              <a:rPr lang="en-US" sz="1600" dirty="0" smtClean="0">
                <a:solidFill>
                  <a:srgbClr val="000000"/>
                </a:solidFill>
                <a:latin typeface="Consolas"/>
              </a:rPr>
              <a:t>        );</a:t>
            </a:r>
          </a:p>
          <a:p>
            <a:r>
              <a:rPr lang="en-US" sz="1600" dirty="0" smtClean="0">
                <a:solidFill>
                  <a:srgbClr val="000000"/>
                </a:solidFill>
                <a:latin typeface="Consolas"/>
              </a:rPr>
              <a:t>    </a:t>
            </a:r>
            <a:r>
              <a:rPr lang="en-US" sz="1600" dirty="0" smtClean="0">
                <a:solidFill>
                  <a:srgbClr val="0000FF"/>
                </a:solidFill>
                <a:latin typeface="Consolas"/>
              </a:rPr>
              <a:t>&lt;/</a:t>
            </a:r>
            <a:r>
              <a:rPr lang="en-US" sz="1600" dirty="0" smtClean="0">
                <a:solidFill>
                  <a:srgbClr val="800000"/>
                </a:solidFill>
                <a:latin typeface="Consolas"/>
              </a:rPr>
              <a:t>script</a:t>
            </a:r>
            <a:r>
              <a:rPr lang="en-US" sz="1600" dirty="0" smtClean="0">
                <a:solidFill>
                  <a:srgbClr val="0000FF"/>
                </a:solidFill>
                <a:latin typeface="Consolas"/>
              </a:rPr>
              <a:t>&gt;</a:t>
            </a:r>
            <a:endParaRPr lang="en-US" sz="1600" dirty="0" smtClean="0">
              <a:solidFill>
                <a:srgbClr val="000000"/>
              </a:solidFill>
              <a:latin typeface="Consolas"/>
            </a:endParaRPr>
          </a:p>
          <a:p>
            <a:r>
              <a:rPr lang="en-US" sz="1600" dirty="0" smtClean="0">
                <a:solidFill>
                  <a:srgbClr val="0000FF"/>
                </a:solidFill>
                <a:latin typeface="Consolas"/>
              </a:rPr>
              <a:t>&lt;/</a:t>
            </a:r>
            <a:r>
              <a:rPr lang="en-US" sz="1600" dirty="0" smtClean="0">
                <a:solidFill>
                  <a:srgbClr val="800000"/>
                </a:solidFill>
                <a:latin typeface="Consolas"/>
              </a:rPr>
              <a:t>body</a:t>
            </a:r>
            <a:r>
              <a:rPr lang="en-US" sz="1600" dirty="0" smtClean="0">
                <a:solidFill>
                  <a:srgbClr val="0000FF"/>
                </a:solidFill>
                <a:latin typeface="Consolas"/>
              </a:rPr>
              <a:t>&gt;</a:t>
            </a:r>
            <a:endParaRPr lang="en-US" sz="1600" dirty="0">
              <a:latin typeface="Consolas" pitchFamily="49" charset="0"/>
            </a:endParaRPr>
          </a:p>
        </p:txBody>
      </p:sp>
      <p:pic>
        <p:nvPicPr>
          <p:cNvPr id="3075" name="Picture 3"/>
          <p:cNvPicPr>
            <a:picLocks noChangeAspect="1" noChangeArrowheads="1"/>
          </p:cNvPicPr>
          <p:nvPr/>
        </p:nvPicPr>
        <p:blipFill>
          <a:blip r:embed="rId2" cstate="print"/>
          <a:srcRect/>
          <a:stretch>
            <a:fillRect/>
          </a:stretch>
        </p:blipFill>
        <p:spPr bwMode="auto">
          <a:xfrm>
            <a:off x="1612900" y="5035550"/>
            <a:ext cx="5918200" cy="603250"/>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Calling Functions</a:t>
            </a:r>
            <a:endParaRPr lang="en-US" dirty="0"/>
          </a:p>
        </p:txBody>
      </p:sp>
      <p:sp>
        <p:nvSpPr>
          <p:cNvPr id="4" name="Rectangle 3"/>
          <p:cNvSpPr/>
          <p:nvPr/>
        </p:nvSpPr>
        <p:spPr>
          <a:xfrm>
            <a:off x="533400" y="1447800"/>
            <a:ext cx="8153400" cy="3785652"/>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dirty="0" smtClean="0">
                <a:solidFill>
                  <a:srgbClr val="0000FF"/>
                </a:solidFill>
                <a:latin typeface="Consolas"/>
              </a:rPr>
              <a:t>&lt;</a:t>
            </a:r>
            <a:r>
              <a:rPr lang="en-US" sz="1600" dirty="0" smtClean="0">
                <a:solidFill>
                  <a:srgbClr val="800000"/>
                </a:solidFill>
                <a:latin typeface="Consolas"/>
              </a:rPr>
              <a:t>body</a:t>
            </a:r>
            <a:r>
              <a:rPr lang="en-US" sz="1600" dirty="0" smtClean="0">
                <a:solidFill>
                  <a:srgbClr val="0000FF"/>
                </a:solidFill>
                <a:latin typeface="Consolas"/>
              </a:rPr>
              <a:t>&gt;</a:t>
            </a:r>
            <a:endParaRPr lang="en-US" sz="1600" dirty="0" smtClean="0">
              <a:solidFill>
                <a:srgbClr val="000000"/>
              </a:solidFill>
              <a:latin typeface="Consolas"/>
            </a:endParaRPr>
          </a:p>
          <a:p>
            <a:r>
              <a:rPr lang="en-US" sz="1600" dirty="0" smtClean="0">
                <a:solidFill>
                  <a:srgbClr val="000000"/>
                </a:solidFill>
                <a:latin typeface="Consolas"/>
              </a:rPr>
              <a:t>    </a:t>
            </a:r>
            <a:r>
              <a:rPr lang="en-US" sz="1600" dirty="0" smtClean="0">
                <a:solidFill>
                  <a:srgbClr val="0000FF"/>
                </a:solidFill>
                <a:latin typeface="Consolas"/>
              </a:rPr>
              <a:t>&lt;</a:t>
            </a:r>
            <a:r>
              <a:rPr lang="en-US" sz="1600" dirty="0" smtClean="0">
                <a:solidFill>
                  <a:srgbClr val="800000"/>
                </a:solidFill>
                <a:latin typeface="Consolas"/>
              </a:rPr>
              <a:t>div</a:t>
            </a:r>
            <a:r>
              <a:rPr lang="en-US" sz="1600" dirty="0" smtClean="0">
                <a:solidFill>
                  <a:srgbClr val="000000"/>
                </a:solidFill>
                <a:latin typeface="Consolas"/>
              </a:rPr>
              <a:t> </a:t>
            </a:r>
            <a:r>
              <a:rPr lang="en-US" sz="1600" dirty="0" smtClean="0">
                <a:solidFill>
                  <a:srgbClr val="FF0000"/>
                </a:solidFill>
                <a:latin typeface="Consolas"/>
              </a:rPr>
              <a:t>id</a:t>
            </a:r>
            <a:r>
              <a:rPr lang="en-US" sz="1600" dirty="0" smtClean="0">
                <a:solidFill>
                  <a:srgbClr val="0000FF"/>
                </a:solidFill>
                <a:latin typeface="Consolas"/>
              </a:rPr>
              <a:t>="container"&gt;&lt;/</a:t>
            </a:r>
            <a:r>
              <a:rPr lang="en-US" sz="1600" dirty="0" smtClean="0">
                <a:solidFill>
                  <a:srgbClr val="800000"/>
                </a:solidFill>
                <a:latin typeface="Consolas"/>
              </a:rPr>
              <a:t>div</a:t>
            </a:r>
            <a:r>
              <a:rPr lang="en-US" sz="1600" dirty="0" smtClean="0">
                <a:solidFill>
                  <a:srgbClr val="0000FF"/>
                </a:solidFill>
                <a:latin typeface="Consolas"/>
              </a:rPr>
              <a:t>&gt;</a:t>
            </a:r>
            <a:endParaRPr lang="en-US" sz="1600" dirty="0" smtClean="0">
              <a:solidFill>
                <a:srgbClr val="000000"/>
              </a:solidFill>
              <a:latin typeface="Consolas"/>
            </a:endParaRPr>
          </a:p>
          <a:p>
            <a:r>
              <a:rPr lang="en-US" sz="1600" dirty="0" smtClean="0">
                <a:solidFill>
                  <a:srgbClr val="000000"/>
                </a:solidFill>
                <a:latin typeface="Consolas"/>
              </a:rPr>
              <a:t>    </a:t>
            </a:r>
            <a:r>
              <a:rPr lang="en-US" sz="1600" dirty="0" smtClean="0">
                <a:solidFill>
                  <a:srgbClr val="0000FF"/>
                </a:solidFill>
                <a:latin typeface="Consolas"/>
              </a:rPr>
              <a:t>&lt;</a:t>
            </a:r>
            <a:r>
              <a:rPr lang="en-US" sz="1600" dirty="0" smtClean="0">
                <a:solidFill>
                  <a:srgbClr val="800000"/>
                </a:solidFill>
                <a:latin typeface="Consolas"/>
              </a:rPr>
              <a:t>script</a:t>
            </a:r>
            <a:r>
              <a:rPr lang="en-US" sz="1600" dirty="0" smtClean="0">
                <a:solidFill>
                  <a:srgbClr val="000000"/>
                </a:solidFill>
                <a:latin typeface="Consolas"/>
              </a:rPr>
              <a:t> </a:t>
            </a:r>
            <a:r>
              <a:rPr lang="en-US" sz="1600" dirty="0" smtClean="0">
                <a:solidFill>
                  <a:srgbClr val="FF0000"/>
                </a:solidFill>
                <a:latin typeface="Consolas"/>
              </a:rPr>
              <a:t>type</a:t>
            </a:r>
            <a:r>
              <a:rPr lang="en-US" sz="1600" dirty="0" smtClean="0">
                <a:solidFill>
                  <a:srgbClr val="0000FF"/>
                </a:solidFill>
                <a:latin typeface="Consolas"/>
              </a:rPr>
              <a:t>="text/</a:t>
            </a:r>
            <a:r>
              <a:rPr lang="en-US" sz="1600" dirty="0" err="1" smtClean="0">
                <a:solidFill>
                  <a:srgbClr val="0000FF"/>
                </a:solidFill>
                <a:latin typeface="Consolas"/>
              </a:rPr>
              <a:t>babel</a:t>
            </a:r>
            <a:r>
              <a:rPr lang="en-US" sz="1600" dirty="0" smtClean="0">
                <a:solidFill>
                  <a:srgbClr val="0000FF"/>
                </a:solidFill>
                <a:latin typeface="Consolas"/>
              </a:rPr>
              <a:t>"&gt;</a:t>
            </a:r>
            <a:endParaRPr lang="en-US" sz="1600" dirty="0" smtClean="0">
              <a:solidFill>
                <a:srgbClr val="000000"/>
              </a:solidFill>
              <a:latin typeface="Consolas"/>
            </a:endParaRPr>
          </a:p>
          <a:p>
            <a:r>
              <a:rPr lang="en-US" sz="1600" dirty="0" smtClean="0">
                <a:solidFill>
                  <a:srgbClr val="000000"/>
                </a:solidFill>
                <a:latin typeface="Consolas"/>
              </a:rPr>
              <a:t>        const </a:t>
            </a:r>
            <a:r>
              <a:rPr lang="en-US" sz="1600" dirty="0" err="1" smtClean="0">
                <a:solidFill>
                  <a:srgbClr val="000000"/>
                </a:solidFill>
                <a:latin typeface="Consolas"/>
              </a:rPr>
              <a:t>HelloWorld</a:t>
            </a:r>
            <a:r>
              <a:rPr lang="en-US" sz="1600" dirty="0" smtClean="0">
                <a:solidFill>
                  <a:srgbClr val="000000"/>
                </a:solidFill>
                <a:latin typeface="Consolas"/>
              </a:rPr>
              <a:t> = (props) =&gt; </a:t>
            </a:r>
            <a:r>
              <a:rPr lang="en-US" sz="1600" dirty="0" smtClean="0">
                <a:solidFill>
                  <a:srgbClr val="0000FF"/>
                </a:solidFill>
                <a:latin typeface="Consolas"/>
              </a:rPr>
              <a:t>&lt;</a:t>
            </a:r>
            <a:r>
              <a:rPr lang="en-US" sz="1600" dirty="0" smtClean="0">
                <a:solidFill>
                  <a:srgbClr val="800000"/>
                </a:solidFill>
                <a:latin typeface="Consolas"/>
              </a:rPr>
              <a:t>h1</a:t>
            </a:r>
            <a:r>
              <a:rPr lang="en-US" sz="1600" dirty="0" smtClean="0">
                <a:solidFill>
                  <a:srgbClr val="0000FF"/>
                </a:solidFill>
                <a:latin typeface="Consolas"/>
              </a:rPr>
              <a:t>&gt;</a:t>
            </a:r>
            <a:r>
              <a:rPr lang="en-US" sz="1600" dirty="0" smtClean="0">
                <a:solidFill>
                  <a:srgbClr val="000000"/>
                </a:solidFill>
                <a:latin typeface="Consolas"/>
              </a:rPr>
              <a:t>Hello, {props.name}!</a:t>
            </a:r>
            <a:r>
              <a:rPr lang="en-US" sz="1600" dirty="0" smtClean="0">
                <a:solidFill>
                  <a:srgbClr val="0000FF"/>
                </a:solidFill>
                <a:latin typeface="Consolas"/>
              </a:rPr>
              <a:t>&lt;/</a:t>
            </a:r>
            <a:r>
              <a:rPr lang="en-US" sz="1600" dirty="0" smtClean="0">
                <a:solidFill>
                  <a:srgbClr val="800000"/>
                </a:solidFill>
                <a:latin typeface="Consolas"/>
              </a:rPr>
              <a:t>h1</a:t>
            </a:r>
            <a:r>
              <a:rPr lang="en-US" sz="1600" dirty="0" smtClean="0">
                <a:solidFill>
                  <a:srgbClr val="0000FF"/>
                </a:solidFill>
                <a:latin typeface="Consolas"/>
              </a:rPr>
              <a:t>&gt;</a:t>
            </a:r>
            <a:r>
              <a:rPr lang="en-US" sz="1600" dirty="0" smtClean="0">
                <a:solidFill>
                  <a:srgbClr val="000000"/>
                </a:solidFill>
                <a:latin typeface="Consolas"/>
              </a:rPr>
              <a:t>;</a:t>
            </a:r>
          </a:p>
          <a:p>
            <a:endParaRPr lang="en-US" sz="1600" dirty="0" smtClean="0">
              <a:solidFill>
                <a:srgbClr val="000000"/>
              </a:solidFill>
              <a:latin typeface="Consolas"/>
            </a:endParaRPr>
          </a:p>
          <a:p>
            <a:r>
              <a:rPr lang="en-US" sz="1600" dirty="0" smtClean="0">
                <a:solidFill>
                  <a:srgbClr val="000000"/>
                </a:solidFill>
                <a:latin typeface="Consolas"/>
              </a:rPr>
              <a:t>        const App = () =&gt; { return </a:t>
            </a:r>
            <a:r>
              <a:rPr lang="en-US" sz="1600" dirty="0" err="1" smtClean="0">
                <a:solidFill>
                  <a:srgbClr val="000000"/>
                </a:solidFill>
                <a:latin typeface="Consolas"/>
              </a:rPr>
              <a:t>HelloWorld</a:t>
            </a:r>
            <a:r>
              <a:rPr lang="en-US" sz="1600" dirty="0" smtClean="0">
                <a:solidFill>
                  <a:srgbClr val="000000"/>
                </a:solidFill>
                <a:latin typeface="Consolas"/>
              </a:rPr>
              <a:t>({name: "Calling Function"}); }</a:t>
            </a:r>
          </a:p>
          <a:p>
            <a:endParaRPr lang="en-US" sz="1600" dirty="0" smtClean="0">
              <a:solidFill>
                <a:srgbClr val="000000"/>
              </a:solidFill>
              <a:latin typeface="Consolas"/>
            </a:endParaRPr>
          </a:p>
          <a:p>
            <a:r>
              <a:rPr lang="en-US" sz="1600" dirty="0" smtClean="0">
                <a:solidFill>
                  <a:srgbClr val="000000"/>
                </a:solidFill>
                <a:latin typeface="Consolas"/>
              </a:rPr>
              <a:t>        </a:t>
            </a:r>
            <a:r>
              <a:rPr lang="en-US" sz="1600" dirty="0" err="1" smtClean="0">
                <a:solidFill>
                  <a:srgbClr val="000000"/>
                </a:solidFill>
                <a:latin typeface="Consolas"/>
              </a:rPr>
              <a:t>var</a:t>
            </a:r>
            <a:r>
              <a:rPr lang="en-US" sz="1600" dirty="0" smtClean="0">
                <a:solidFill>
                  <a:srgbClr val="000000"/>
                </a:solidFill>
                <a:latin typeface="Consolas"/>
              </a:rPr>
              <a:t> destination = </a:t>
            </a:r>
            <a:r>
              <a:rPr lang="en-US" sz="1600" dirty="0" err="1" smtClean="0">
                <a:solidFill>
                  <a:srgbClr val="000000"/>
                </a:solidFill>
                <a:latin typeface="Consolas"/>
              </a:rPr>
              <a:t>document.querySelector</a:t>
            </a:r>
            <a:r>
              <a:rPr lang="en-US" sz="1600" dirty="0" smtClean="0">
                <a:solidFill>
                  <a:srgbClr val="000000"/>
                </a:solidFill>
                <a:latin typeface="Consolas"/>
              </a:rPr>
              <a:t>("#container");</a:t>
            </a:r>
          </a:p>
          <a:p>
            <a:r>
              <a:rPr lang="en-US" sz="1600" dirty="0" smtClean="0">
                <a:solidFill>
                  <a:srgbClr val="000000"/>
                </a:solidFill>
                <a:latin typeface="Consolas"/>
              </a:rPr>
              <a:t>        </a:t>
            </a:r>
            <a:r>
              <a:rPr lang="en-US" sz="1600" dirty="0" err="1" smtClean="0">
                <a:solidFill>
                  <a:srgbClr val="000000"/>
                </a:solidFill>
                <a:latin typeface="Consolas"/>
              </a:rPr>
              <a:t>ReactDOM.render</a:t>
            </a:r>
            <a:r>
              <a:rPr lang="en-US" sz="1600" dirty="0" smtClean="0">
                <a:solidFill>
                  <a:srgbClr val="000000"/>
                </a:solidFill>
                <a:latin typeface="Consolas"/>
              </a:rPr>
              <a:t>(</a:t>
            </a:r>
          </a:p>
          <a:p>
            <a:r>
              <a:rPr lang="en-US" sz="1600" dirty="0" smtClean="0">
                <a:solidFill>
                  <a:srgbClr val="000000"/>
                </a:solidFill>
                <a:latin typeface="Consolas"/>
              </a:rPr>
              <a:t>            </a:t>
            </a:r>
            <a:r>
              <a:rPr lang="en-US" sz="1600" dirty="0" smtClean="0">
                <a:solidFill>
                  <a:srgbClr val="0000FF"/>
                </a:solidFill>
                <a:latin typeface="Consolas"/>
              </a:rPr>
              <a:t>&lt;</a:t>
            </a:r>
            <a:r>
              <a:rPr lang="en-US" sz="1600" dirty="0" smtClean="0">
                <a:solidFill>
                  <a:srgbClr val="800000"/>
                </a:solidFill>
                <a:latin typeface="Consolas"/>
              </a:rPr>
              <a:t>App</a:t>
            </a:r>
            <a:r>
              <a:rPr lang="en-US" sz="1600" dirty="0" smtClean="0">
                <a:solidFill>
                  <a:srgbClr val="000000"/>
                </a:solidFill>
                <a:latin typeface="Consolas"/>
              </a:rPr>
              <a:t> </a:t>
            </a:r>
            <a:r>
              <a:rPr lang="en-US" sz="1600" dirty="0" smtClean="0">
                <a:solidFill>
                  <a:srgbClr val="0000FF"/>
                </a:solidFill>
                <a:latin typeface="Consolas"/>
              </a:rPr>
              <a:t>/&gt;</a:t>
            </a:r>
            <a:r>
              <a:rPr lang="en-US" sz="1600" dirty="0" smtClean="0">
                <a:solidFill>
                  <a:srgbClr val="000000"/>
                </a:solidFill>
                <a:latin typeface="Consolas"/>
              </a:rPr>
              <a:t>,</a:t>
            </a:r>
          </a:p>
          <a:p>
            <a:r>
              <a:rPr lang="en-US" sz="1600" dirty="0" smtClean="0">
                <a:solidFill>
                  <a:srgbClr val="000000"/>
                </a:solidFill>
                <a:latin typeface="Consolas"/>
              </a:rPr>
              <a:t>            destination</a:t>
            </a:r>
          </a:p>
          <a:p>
            <a:r>
              <a:rPr lang="en-US" sz="1600" dirty="0" smtClean="0">
                <a:solidFill>
                  <a:srgbClr val="000000"/>
                </a:solidFill>
                <a:latin typeface="Consolas"/>
              </a:rPr>
              <a:t>        );</a:t>
            </a:r>
          </a:p>
          <a:p>
            <a:r>
              <a:rPr lang="en-US" sz="1600" dirty="0" smtClean="0">
                <a:solidFill>
                  <a:srgbClr val="000000"/>
                </a:solidFill>
                <a:latin typeface="Consolas"/>
              </a:rPr>
              <a:t>    </a:t>
            </a:r>
            <a:r>
              <a:rPr lang="en-US" sz="1600" dirty="0" smtClean="0">
                <a:solidFill>
                  <a:srgbClr val="0000FF"/>
                </a:solidFill>
                <a:latin typeface="Consolas"/>
              </a:rPr>
              <a:t>&lt;/</a:t>
            </a:r>
            <a:r>
              <a:rPr lang="en-US" sz="1600" dirty="0" smtClean="0">
                <a:solidFill>
                  <a:srgbClr val="800000"/>
                </a:solidFill>
                <a:latin typeface="Consolas"/>
              </a:rPr>
              <a:t>script</a:t>
            </a:r>
            <a:r>
              <a:rPr lang="en-US" sz="1600" dirty="0" smtClean="0">
                <a:solidFill>
                  <a:srgbClr val="0000FF"/>
                </a:solidFill>
                <a:latin typeface="Consolas"/>
              </a:rPr>
              <a:t>&gt;</a:t>
            </a:r>
            <a:endParaRPr lang="en-US" sz="1600" dirty="0" smtClean="0">
              <a:solidFill>
                <a:srgbClr val="000000"/>
              </a:solidFill>
              <a:latin typeface="Consolas"/>
            </a:endParaRPr>
          </a:p>
          <a:p>
            <a:r>
              <a:rPr lang="en-US" sz="1600" dirty="0" smtClean="0">
                <a:solidFill>
                  <a:srgbClr val="0000FF"/>
                </a:solidFill>
                <a:latin typeface="Consolas"/>
              </a:rPr>
              <a:t>&lt;/</a:t>
            </a:r>
            <a:r>
              <a:rPr lang="en-US" sz="1600" dirty="0" smtClean="0">
                <a:solidFill>
                  <a:srgbClr val="800000"/>
                </a:solidFill>
                <a:latin typeface="Consolas"/>
              </a:rPr>
              <a:t>body</a:t>
            </a:r>
            <a:r>
              <a:rPr lang="en-US" sz="1600" dirty="0" smtClean="0">
                <a:solidFill>
                  <a:srgbClr val="0000FF"/>
                </a:solidFill>
                <a:latin typeface="Consolas"/>
              </a:rPr>
              <a:t>&gt;</a:t>
            </a:r>
            <a:endParaRPr lang="en-US" sz="1600" dirty="0">
              <a:latin typeface="Consolas" pitchFamily="49" charset="0"/>
            </a:endParaRPr>
          </a:p>
        </p:txBody>
      </p:sp>
      <p:pic>
        <p:nvPicPr>
          <p:cNvPr id="7170" name="Picture 2"/>
          <p:cNvPicPr>
            <a:picLocks noChangeAspect="1" noChangeArrowheads="1"/>
          </p:cNvPicPr>
          <p:nvPr/>
        </p:nvPicPr>
        <p:blipFill>
          <a:blip r:embed="rId2" cstate="print"/>
          <a:srcRect/>
          <a:stretch>
            <a:fillRect/>
          </a:stretch>
        </p:blipFill>
        <p:spPr bwMode="auto">
          <a:xfrm>
            <a:off x="3429000" y="5562600"/>
            <a:ext cx="4616450" cy="603250"/>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Unidirectional Data Flow with OOP</a:t>
            </a:r>
            <a:endParaRPr lang="en-US" dirty="0"/>
          </a:p>
        </p:txBody>
      </p:sp>
      <p:sp>
        <p:nvSpPr>
          <p:cNvPr id="4" name="Rectangle 3"/>
          <p:cNvSpPr/>
          <p:nvPr/>
        </p:nvSpPr>
        <p:spPr>
          <a:xfrm>
            <a:off x="533400" y="1447800"/>
            <a:ext cx="8153400" cy="5016758"/>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dirty="0" smtClean="0">
                <a:solidFill>
                  <a:srgbClr val="000000"/>
                </a:solidFill>
                <a:latin typeface="Consolas"/>
              </a:rPr>
              <a:t>class App extends </a:t>
            </a:r>
            <a:r>
              <a:rPr lang="en-US" sz="1600" dirty="0" err="1" smtClean="0">
                <a:solidFill>
                  <a:srgbClr val="000000"/>
                </a:solidFill>
                <a:latin typeface="Consolas"/>
              </a:rPr>
              <a:t>React.Component</a:t>
            </a:r>
            <a:r>
              <a:rPr lang="en-US" sz="1600" dirty="0" smtClean="0">
                <a:solidFill>
                  <a:srgbClr val="000000"/>
                </a:solidFill>
                <a:latin typeface="Consolas"/>
              </a:rPr>
              <a:t> {</a:t>
            </a:r>
          </a:p>
          <a:p>
            <a:r>
              <a:rPr lang="en-US" sz="1600" dirty="0" smtClean="0">
                <a:solidFill>
                  <a:srgbClr val="000000"/>
                </a:solidFill>
                <a:latin typeface="Consolas"/>
              </a:rPr>
              <a:t> 	render() {</a:t>
            </a:r>
          </a:p>
          <a:p>
            <a:r>
              <a:rPr lang="en-US" sz="1600" dirty="0" smtClean="0">
                <a:solidFill>
                  <a:srgbClr val="000000"/>
                </a:solidFill>
                <a:latin typeface="Consolas"/>
              </a:rPr>
              <a:t>		return (</a:t>
            </a:r>
          </a:p>
          <a:p>
            <a:r>
              <a:rPr lang="en-US" sz="1600" dirty="0" smtClean="0">
                <a:solidFill>
                  <a:srgbClr val="0000FF"/>
                </a:solidFill>
                <a:latin typeface="Consolas"/>
              </a:rPr>
              <a:t>			&lt;</a:t>
            </a:r>
            <a:r>
              <a:rPr lang="en-US" sz="1600" dirty="0" err="1" smtClean="0">
                <a:solidFill>
                  <a:srgbClr val="800000"/>
                </a:solidFill>
                <a:latin typeface="Consolas"/>
              </a:rPr>
              <a:t>HelloWorld</a:t>
            </a:r>
            <a:r>
              <a:rPr lang="en-US" sz="1600" dirty="0" smtClean="0">
                <a:solidFill>
                  <a:srgbClr val="000000"/>
                </a:solidFill>
                <a:latin typeface="Consolas"/>
              </a:rPr>
              <a:t> </a:t>
            </a:r>
            <a:r>
              <a:rPr lang="en-US" sz="1600" dirty="0" smtClean="0">
                <a:solidFill>
                  <a:srgbClr val="FF0000"/>
                </a:solidFill>
                <a:latin typeface="Consolas"/>
              </a:rPr>
              <a:t>name</a:t>
            </a:r>
            <a:r>
              <a:rPr lang="en-US" sz="1600" dirty="0" smtClean="0">
                <a:solidFill>
                  <a:srgbClr val="0000FF"/>
                </a:solidFill>
                <a:latin typeface="Consolas"/>
              </a:rPr>
              <a:t>="Unidirectional Data Flow with OOP"</a:t>
            </a:r>
            <a:r>
              <a:rPr lang="en-US" sz="1600" dirty="0" smtClean="0">
                <a:solidFill>
                  <a:srgbClr val="000000"/>
                </a:solidFill>
                <a:latin typeface="Consolas"/>
              </a:rPr>
              <a:t> </a:t>
            </a:r>
            <a:r>
              <a:rPr lang="en-US" sz="1600" dirty="0" smtClean="0">
                <a:solidFill>
                  <a:srgbClr val="0000FF"/>
                </a:solidFill>
                <a:latin typeface="Consolas"/>
              </a:rPr>
              <a:t>/&gt;</a:t>
            </a:r>
            <a:r>
              <a:rPr lang="en-US" sz="1600" dirty="0" smtClean="0">
                <a:solidFill>
                  <a:srgbClr val="000000"/>
                </a:solidFill>
                <a:latin typeface="Consolas"/>
              </a:rPr>
              <a:t>)</a:t>
            </a:r>
          </a:p>
          <a:p>
            <a:r>
              <a:rPr lang="en-US" sz="1600" dirty="0" smtClean="0">
                <a:solidFill>
                  <a:srgbClr val="000000"/>
                </a:solidFill>
                <a:latin typeface="Consolas"/>
              </a:rPr>
              <a:t>	}</a:t>
            </a:r>
          </a:p>
          <a:p>
            <a:r>
              <a:rPr lang="en-US" sz="1600" dirty="0" smtClean="0">
                <a:solidFill>
                  <a:srgbClr val="000000"/>
                </a:solidFill>
                <a:latin typeface="Consolas"/>
              </a:rPr>
              <a:t>}</a:t>
            </a:r>
          </a:p>
          <a:p>
            <a:endParaRPr lang="en-US" sz="1600" dirty="0" smtClean="0">
              <a:solidFill>
                <a:srgbClr val="000000"/>
              </a:solidFill>
              <a:latin typeface="Consolas"/>
            </a:endParaRPr>
          </a:p>
          <a:p>
            <a:r>
              <a:rPr lang="en-US" sz="1600" dirty="0" smtClean="0">
                <a:solidFill>
                  <a:srgbClr val="000000"/>
                </a:solidFill>
                <a:latin typeface="Consolas"/>
              </a:rPr>
              <a:t>class </a:t>
            </a:r>
            <a:r>
              <a:rPr lang="en-US" sz="1600" dirty="0" err="1" smtClean="0">
                <a:solidFill>
                  <a:srgbClr val="000000"/>
                </a:solidFill>
                <a:latin typeface="Consolas"/>
              </a:rPr>
              <a:t>HelloWorld</a:t>
            </a:r>
            <a:r>
              <a:rPr lang="en-US" sz="1600" dirty="0" smtClean="0">
                <a:solidFill>
                  <a:srgbClr val="000000"/>
                </a:solidFill>
                <a:latin typeface="Consolas"/>
              </a:rPr>
              <a:t> extends </a:t>
            </a:r>
            <a:r>
              <a:rPr lang="en-US" sz="1600" dirty="0" err="1" smtClean="0">
                <a:solidFill>
                  <a:srgbClr val="000000"/>
                </a:solidFill>
                <a:latin typeface="Consolas"/>
              </a:rPr>
              <a:t>React.Component</a:t>
            </a:r>
            <a:r>
              <a:rPr lang="en-US" sz="1600" dirty="0" smtClean="0">
                <a:solidFill>
                  <a:srgbClr val="000000"/>
                </a:solidFill>
                <a:latin typeface="Consolas"/>
              </a:rPr>
              <a:t> {</a:t>
            </a:r>
          </a:p>
          <a:p>
            <a:r>
              <a:rPr lang="en-US" sz="1600" dirty="0" smtClean="0">
                <a:solidFill>
                  <a:srgbClr val="000000"/>
                </a:solidFill>
                <a:latin typeface="Consolas"/>
              </a:rPr>
              <a:t>	render() {</a:t>
            </a:r>
          </a:p>
          <a:p>
            <a:r>
              <a:rPr lang="en-US" sz="1600" dirty="0" smtClean="0">
                <a:solidFill>
                  <a:srgbClr val="000000"/>
                </a:solidFill>
                <a:latin typeface="Consolas"/>
              </a:rPr>
              <a:t>                return (</a:t>
            </a:r>
          </a:p>
          <a:p>
            <a:r>
              <a:rPr lang="en-US" sz="1600" dirty="0" smtClean="0">
                <a:solidFill>
                  <a:srgbClr val="0000FF"/>
                </a:solidFill>
                <a:latin typeface="Consolas"/>
              </a:rPr>
              <a:t>		&lt;</a:t>
            </a:r>
            <a:r>
              <a:rPr lang="en-US" sz="1600" dirty="0" smtClean="0">
                <a:solidFill>
                  <a:srgbClr val="800000"/>
                </a:solidFill>
                <a:latin typeface="Consolas"/>
              </a:rPr>
              <a:t>h1</a:t>
            </a:r>
            <a:r>
              <a:rPr lang="en-US" sz="1600" dirty="0" smtClean="0">
                <a:solidFill>
                  <a:srgbClr val="0000FF"/>
                </a:solidFill>
                <a:latin typeface="Consolas"/>
              </a:rPr>
              <a:t>&gt;</a:t>
            </a:r>
            <a:r>
              <a:rPr lang="en-US" sz="1600" dirty="0" smtClean="0">
                <a:solidFill>
                  <a:srgbClr val="000000"/>
                </a:solidFill>
                <a:latin typeface="Consolas"/>
              </a:rPr>
              <a:t>Hello, {this.props.name}!</a:t>
            </a:r>
            <a:r>
              <a:rPr lang="en-US" sz="1600" dirty="0" smtClean="0">
                <a:solidFill>
                  <a:srgbClr val="0000FF"/>
                </a:solidFill>
                <a:latin typeface="Consolas"/>
              </a:rPr>
              <a:t>&lt;/</a:t>
            </a:r>
            <a:r>
              <a:rPr lang="en-US" sz="1600" dirty="0" smtClean="0">
                <a:solidFill>
                  <a:srgbClr val="800000"/>
                </a:solidFill>
                <a:latin typeface="Consolas"/>
              </a:rPr>
              <a:t>h1</a:t>
            </a:r>
            <a:r>
              <a:rPr lang="en-US" sz="1600" dirty="0" smtClean="0">
                <a:solidFill>
                  <a:srgbClr val="0000FF"/>
                </a:solidFill>
                <a:latin typeface="Consolas"/>
              </a:rPr>
              <a:t>&gt;</a:t>
            </a:r>
            <a:r>
              <a:rPr lang="en-US" sz="1600" dirty="0" smtClean="0">
                <a:solidFill>
                  <a:srgbClr val="000000"/>
                </a:solidFill>
                <a:latin typeface="Consolas"/>
              </a:rPr>
              <a:t>)</a:t>
            </a:r>
          </a:p>
          <a:p>
            <a:r>
              <a:rPr lang="en-US" sz="1600" dirty="0" smtClean="0">
                <a:solidFill>
                  <a:srgbClr val="000000"/>
                </a:solidFill>
                <a:latin typeface="Consolas"/>
              </a:rPr>
              <a:t>	}</a:t>
            </a:r>
          </a:p>
          <a:p>
            <a:r>
              <a:rPr lang="en-US" sz="1600" dirty="0" smtClean="0">
                <a:solidFill>
                  <a:srgbClr val="000000"/>
                </a:solidFill>
                <a:latin typeface="Consolas"/>
              </a:rPr>
              <a:t>}</a:t>
            </a:r>
          </a:p>
          <a:p>
            <a:endParaRPr lang="en-US" sz="1600" dirty="0" smtClean="0">
              <a:solidFill>
                <a:srgbClr val="000000"/>
              </a:solidFill>
              <a:latin typeface="Consolas"/>
            </a:endParaRPr>
          </a:p>
          <a:p>
            <a:r>
              <a:rPr lang="en-US" sz="1600" dirty="0" err="1" smtClean="0">
                <a:solidFill>
                  <a:srgbClr val="000000"/>
                </a:solidFill>
                <a:latin typeface="Consolas"/>
              </a:rPr>
              <a:t>var</a:t>
            </a:r>
            <a:r>
              <a:rPr lang="en-US" sz="1600" dirty="0" smtClean="0">
                <a:solidFill>
                  <a:srgbClr val="000000"/>
                </a:solidFill>
                <a:latin typeface="Consolas"/>
              </a:rPr>
              <a:t> destination = </a:t>
            </a:r>
            <a:r>
              <a:rPr lang="en-US" sz="1600" dirty="0" err="1" smtClean="0">
                <a:solidFill>
                  <a:srgbClr val="000000"/>
                </a:solidFill>
                <a:latin typeface="Consolas"/>
              </a:rPr>
              <a:t>document.querySelector</a:t>
            </a:r>
            <a:r>
              <a:rPr lang="en-US" sz="1600" dirty="0" smtClean="0">
                <a:solidFill>
                  <a:srgbClr val="000000"/>
                </a:solidFill>
                <a:latin typeface="Consolas"/>
              </a:rPr>
              <a:t>("#container");</a:t>
            </a:r>
          </a:p>
          <a:p>
            <a:r>
              <a:rPr lang="en-US" sz="1600" dirty="0" err="1" smtClean="0">
                <a:solidFill>
                  <a:srgbClr val="000000"/>
                </a:solidFill>
                <a:latin typeface="Consolas"/>
              </a:rPr>
              <a:t>ReactDOM.render</a:t>
            </a:r>
            <a:r>
              <a:rPr lang="en-US" sz="1600" dirty="0" smtClean="0">
                <a:solidFill>
                  <a:srgbClr val="000000"/>
                </a:solidFill>
                <a:latin typeface="Consolas"/>
              </a:rPr>
              <a:t>(</a:t>
            </a:r>
          </a:p>
          <a:p>
            <a:r>
              <a:rPr lang="en-US" sz="1600" dirty="0" smtClean="0">
                <a:solidFill>
                  <a:srgbClr val="0000FF"/>
                </a:solidFill>
                <a:latin typeface="Consolas"/>
              </a:rPr>
              <a:t>	&lt;</a:t>
            </a:r>
            <a:r>
              <a:rPr lang="en-US" sz="1600" dirty="0" smtClean="0">
                <a:solidFill>
                  <a:srgbClr val="800000"/>
                </a:solidFill>
                <a:latin typeface="Consolas"/>
              </a:rPr>
              <a:t>App</a:t>
            </a:r>
            <a:r>
              <a:rPr lang="en-US" sz="1600" dirty="0" smtClean="0">
                <a:solidFill>
                  <a:srgbClr val="000000"/>
                </a:solidFill>
                <a:latin typeface="Consolas"/>
              </a:rPr>
              <a:t> </a:t>
            </a:r>
            <a:r>
              <a:rPr lang="en-US" sz="1600" dirty="0" smtClean="0">
                <a:solidFill>
                  <a:srgbClr val="0000FF"/>
                </a:solidFill>
                <a:latin typeface="Consolas"/>
              </a:rPr>
              <a:t>/&gt;</a:t>
            </a:r>
            <a:r>
              <a:rPr lang="en-US" sz="1600" dirty="0" smtClean="0">
                <a:solidFill>
                  <a:srgbClr val="000000"/>
                </a:solidFill>
                <a:latin typeface="Consolas"/>
              </a:rPr>
              <a:t>,</a:t>
            </a:r>
          </a:p>
          <a:p>
            <a:r>
              <a:rPr lang="en-US" sz="1600" dirty="0" smtClean="0">
                <a:solidFill>
                  <a:srgbClr val="000000"/>
                </a:solidFill>
                <a:latin typeface="Consolas"/>
              </a:rPr>
              <a:t>	destination</a:t>
            </a:r>
          </a:p>
          <a:p>
            <a:r>
              <a:rPr lang="en-US" sz="1600" dirty="0" smtClean="0">
                <a:solidFill>
                  <a:srgbClr val="000000"/>
                </a:solidFill>
                <a:latin typeface="Consolas"/>
              </a:rPr>
              <a:t>);</a:t>
            </a:r>
            <a:endParaRPr lang="en-US" sz="1600" dirty="0">
              <a:latin typeface="Consolas" pitchFamily="49" charset="0"/>
            </a:endParaRPr>
          </a:p>
        </p:txBody>
      </p:sp>
      <p:pic>
        <p:nvPicPr>
          <p:cNvPr id="5122" name="Picture 2"/>
          <p:cNvPicPr>
            <a:picLocks noChangeAspect="1" noChangeArrowheads="1"/>
          </p:cNvPicPr>
          <p:nvPr/>
        </p:nvPicPr>
        <p:blipFill>
          <a:blip r:embed="rId2" cstate="print"/>
          <a:srcRect/>
          <a:stretch>
            <a:fillRect/>
          </a:stretch>
        </p:blipFill>
        <p:spPr bwMode="auto">
          <a:xfrm>
            <a:off x="2971800" y="5715000"/>
            <a:ext cx="5835650" cy="40005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Unidirectional Data Flow with FP</a:t>
            </a:r>
            <a:endParaRPr lang="en-US" dirty="0"/>
          </a:p>
        </p:txBody>
      </p:sp>
      <p:sp>
        <p:nvSpPr>
          <p:cNvPr id="4" name="Rectangle 3"/>
          <p:cNvSpPr/>
          <p:nvPr/>
        </p:nvSpPr>
        <p:spPr>
          <a:xfrm>
            <a:off x="533400" y="1824097"/>
            <a:ext cx="8305800" cy="2062103"/>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dirty="0" smtClean="0">
                <a:solidFill>
                  <a:srgbClr val="000000"/>
                </a:solidFill>
                <a:latin typeface="Consolas"/>
              </a:rPr>
              <a:t>const App = () =&gt; </a:t>
            </a:r>
            <a:r>
              <a:rPr lang="en-US" sz="1600" dirty="0" smtClean="0">
                <a:solidFill>
                  <a:srgbClr val="0000FF"/>
                </a:solidFill>
                <a:latin typeface="Consolas"/>
              </a:rPr>
              <a:t>&lt;</a:t>
            </a:r>
            <a:r>
              <a:rPr lang="en-US" sz="1600" dirty="0" err="1" smtClean="0">
                <a:solidFill>
                  <a:srgbClr val="800000"/>
                </a:solidFill>
                <a:latin typeface="Consolas"/>
              </a:rPr>
              <a:t>HelloWorld</a:t>
            </a:r>
            <a:r>
              <a:rPr lang="en-US" sz="1600" dirty="0" smtClean="0">
                <a:solidFill>
                  <a:srgbClr val="000000"/>
                </a:solidFill>
                <a:latin typeface="Consolas"/>
              </a:rPr>
              <a:t> </a:t>
            </a:r>
            <a:r>
              <a:rPr lang="en-US" sz="1600" dirty="0" smtClean="0">
                <a:solidFill>
                  <a:srgbClr val="FF0000"/>
                </a:solidFill>
                <a:latin typeface="Consolas"/>
              </a:rPr>
              <a:t>name</a:t>
            </a:r>
            <a:r>
              <a:rPr lang="en-US" sz="1600" dirty="0" smtClean="0">
                <a:solidFill>
                  <a:srgbClr val="0000FF"/>
                </a:solidFill>
                <a:latin typeface="Consolas"/>
              </a:rPr>
              <a:t>="Unidirectional Data Flow with FP"</a:t>
            </a:r>
            <a:r>
              <a:rPr lang="en-US" sz="1600" dirty="0" smtClean="0">
                <a:solidFill>
                  <a:srgbClr val="000000"/>
                </a:solidFill>
                <a:latin typeface="Consolas"/>
              </a:rPr>
              <a:t> </a:t>
            </a:r>
            <a:r>
              <a:rPr lang="en-US" sz="1600" dirty="0" smtClean="0">
                <a:solidFill>
                  <a:srgbClr val="0000FF"/>
                </a:solidFill>
                <a:latin typeface="Consolas"/>
              </a:rPr>
              <a:t>/&gt;</a:t>
            </a:r>
            <a:r>
              <a:rPr lang="en-US" sz="1600" dirty="0" smtClean="0">
                <a:solidFill>
                  <a:srgbClr val="000000"/>
                </a:solidFill>
                <a:latin typeface="Consolas"/>
              </a:rPr>
              <a:t>;</a:t>
            </a:r>
          </a:p>
          <a:p>
            <a:r>
              <a:rPr lang="en-US" sz="1600" dirty="0" smtClean="0">
                <a:solidFill>
                  <a:srgbClr val="000000"/>
                </a:solidFill>
                <a:latin typeface="Consolas"/>
              </a:rPr>
              <a:t>const </a:t>
            </a:r>
            <a:r>
              <a:rPr lang="en-US" sz="1600" dirty="0" err="1" smtClean="0">
                <a:solidFill>
                  <a:srgbClr val="000000"/>
                </a:solidFill>
                <a:latin typeface="Consolas"/>
              </a:rPr>
              <a:t>HelloWorld</a:t>
            </a:r>
            <a:r>
              <a:rPr lang="en-US" sz="1600" dirty="0" smtClean="0">
                <a:solidFill>
                  <a:srgbClr val="000000"/>
                </a:solidFill>
                <a:latin typeface="Consolas"/>
              </a:rPr>
              <a:t> = (props) =&gt; </a:t>
            </a:r>
            <a:r>
              <a:rPr lang="en-US" sz="1600" dirty="0" smtClean="0">
                <a:solidFill>
                  <a:srgbClr val="0000FF"/>
                </a:solidFill>
                <a:latin typeface="Consolas"/>
              </a:rPr>
              <a:t>&lt;</a:t>
            </a:r>
            <a:r>
              <a:rPr lang="en-US" sz="1600" dirty="0" smtClean="0">
                <a:solidFill>
                  <a:srgbClr val="800000"/>
                </a:solidFill>
                <a:latin typeface="Consolas"/>
              </a:rPr>
              <a:t>h1</a:t>
            </a:r>
            <a:r>
              <a:rPr lang="en-US" sz="1600" dirty="0" smtClean="0">
                <a:solidFill>
                  <a:srgbClr val="0000FF"/>
                </a:solidFill>
                <a:latin typeface="Consolas"/>
              </a:rPr>
              <a:t>&gt;</a:t>
            </a:r>
            <a:r>
              <a:rPr lang="en-US" sz="1600" dirty="0" smtClean="0">
                <a:solidFill>
                  <a:srgbClr val="000000"/>
                </a:solidFill>
                <a:latin typeface="Consolas"/>
              </a:rPr>
              <a:t>Hello, {props.name}!</a:t>
            </a:r>
            <a:r>
              <a:rPr lang="en-US" sz="1600" dirty="0" smtClean="0">
                <a:solidFill>
                  <a:srgbClr val="0000FF"/>
                </a:solidFill>
                <a:latin typeface="Consolas"/>
              </a:rPr>
              <a:t>&lt;/</a:t>
            </a:r>
            <a:r>
              <a:rPr lang="en-US" sz="1600" dirty="0" smtClean="0">
                <a:solidFill>
                  <a:srgbClr val="800000"/>
                </a:solidFill>
                <a:latin typeface="Consolas"/>
              </a:rPr>
              <a:t>h1</a:t>
            </a:r>
            <a:r>
              <a:rPr lang="en-US" sz="1600" dirty="0" smtClean="0">
                <a:solidFill>
                  <a:srgbClr val="0000FF"/>
                </a:solidFill>
                <a:latin typeface="Consolas"/>
              </a:rPr>
              <a:t>&gt;</a:t>
            </a:r>
            <a:r>
              <a:rPr lang="en-US" sz="1600" dirty="0" smtClean="0">
                <a:solidFill>
                  <a:srgbClr val="000000"/>
                </a:solidFill>
                <a:latin typeface="Consolas"/>
              </a:rPr>
              <a:t>;</a:t>
            </a:r>
          </a:p>
          <a:p>
            <a:endParaRPr lang="en-US" sz="1600" dirty="0" smtClean="0">
              <a:solidFill>
                <a:srgbClr val="000000"/>
              </a:solidFill>
              <a:latin typeface="Consolas"/>
            </a:endParaRPr>
          </a:p>
          <a:p>
            <a:r>
              <a:rPr lang="en-US" sz="1600" dirty="0" err="1" smtClean="0">
                <a:solidFill>
                  <a:srgbClr val="000000"/>
                </a:solidFill>
                <a:latin typeface="Consolas"/>
              </a:rPr>
              <a:t>var</a:t>
            </a:r>
            <a:r>
              <a:rPr lang="en-US" sz="1600" dirty="0" smtClean="0">
                <a:solidFill>
                  <a:srgbClr val="000000"/>
                </a:solidFill>
                <a:latin typeface="Consolas"/>
              </a:rPr>
              <a:t> destination = </a:t>
            </a:r>
            <a:r>
              <a:rPr lang="en-US" sz="1600" dirty="0" err="1" smtClean="0">
                <a:solidFill>
                  <a:srgbClr val="000000"/>
                </a:solidFill>
                <a:latin typeface="Consolas"/>
              </a:rPr>
              <a:t>document.querySelector</a:t>
            </a:r>
            <a:r>
              <a:rPr lang="en-US" sz="1600" dirty="0" smtClean="0">
                <a:solidFill>
                  <a:srgbClr val="000000"/>
                </a:solidFill>
                <a:latin typeface="Consolas"/>
              </a:rPr>
              <a:t>("#container");</a:t>
            </a:r>
          </a:p>
          <a:p>
            <a:r>
              <a:rPr lang="en-US" sz="1600" dirty="0" err="1" smtClean="0">
                <a:solidFill>
                  <a:srgbClr val="000000"/>
                </a:solidFill>
                <a:latin typeface="Consolas"/>
              </a:rPr>
              <a:t>ReactDOM.render</a:t>
            </a:r>
            <a:r>
              <a:rPr lang="en-US" sz="1600" dirty="0" smtClean="0">
                <a:solidFill>
                  <a:srgbClr val="000000"/>
                </a:solidFill>
                <a:latin typeface="Consolas"/>
              </a:rPr>
              <a:t>(</a:t>
            </a:r>
          </a:p>
          <a:p>
            <a:r>
              <a:rPr lang="en-US" sz="1600" dirty="0" smtClean="0">
                <a:solidFill>
                  <a:srgbClr val="0000FF"/>
                </a:solidFill>
                <a:latin typeface="Consolas"/>
              </a:rPr>
              <a:t>	&lt;</a:t>
            </a:r>
            <a:r>
              <a:rPr lang="en-US" sz="1600" dirty="0" smtClean="0">
                <a:solidFill>
                  <a:srgbClr val="800000"/>
                </a:solidFill>
                <a:latin typeface="Consolas"/>
              </a:rPr>
              <a:t>App</a:t>
            </a:r>
            <a:r>
              <a:rPr lang="en-US" sz="1600" dirty="0" smtClean="0">
                <a:solidFill>
                  <a:srgbClr val="000000"/>
                </a:solidFill>
                <a:latin typeface="Consolas"/>
              </a:rPr>
              <a:t> </a:t>
            </a:r>
            <a:r>
              <a:rPr lang="en-US" sz="1600" dirty="0" smtClean="0">
                <a:solidFill>
                  <a:srgbClr val="0000FF"/>
                </a:solidFill>
                <a:latin typeface="Consolas"/>
              </a:rPr>
              <a:t>/&gt;</a:t>
            </a:r>
            <a:r>
              <a:rPr lang="en-US" sz="1600" dirty="0" smtClean="0">
                <a:solidFill>
                  <a:srgbClr val="000000"/>
                </a:solidFill>
                <a:latin typeface="Consolas"/>
              </a:rPr>
              <a:t>,</a:t>
            </a:r>
          </a:p>
          <a:p>
            <a:r>
              <a:rPr lang="en-US" sz="1600" dirty="0" smtClean="0">
                <a:solidFill>
                  <a:srgbClr val="000000"/>
                </a:solidFill>
                <a:latin typeface="Consolas"/>
              </a:rPr>
              <a:t>	destination</a:t>
            </a:r>
          </a:p>
          <a:p>
            <a:r>
              <a:rPr lang="en-US" sz="1600" dirty="0" smtClean="0">
                <a:solidFill>
                  <a:srgbClr val="000000"/>
                </a:solidFill>
                <a:latin typeface="Consolas"/>
              </a:rPr>
              <a:t>);</a:t>
            </a:r>
            <a:endParaRPr lang="en-US" sz="1600" dirty="0">
              <a:latin typeface="Consolas" pitchFamily="49" charset="0"/>
            </a:endParaRPr>
          </a:p>
        </p:txBody>
      </p:sp>
      <p:pic>
        <p:nvPicPr>
          <p:cNvPr id="4098" name="Picture 2"/>
          <p:cNvPicPr>
            <a:picLocks noChangeAspect="1" noChangeArrowheads="1"/>
          </p:cNvPicPr>
          <p:nvPr/>
        </p:nvPicPr>
        <p:blipFill>
          <a:blip r:embed="rId2" cstate="print"/>
          <a:srcRect/>
          <a:stretch>
            <a:fillRect/>
          </a:stretch>
        </p:blipFill>
        <p:spPr bwMode="auto">
          <a:xfrm>
            <a:off x="1811338" y="4457700"/>
            <a:ext cx="5521325" cy="419100"/>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Composition</a:t>
            </a:r>
            <a:endParaRPr lang="en-US" dirty="0"/>
          </a:p>
        </p:txBody>
      </p:sp>
      <p:sp>
        <p:nvSpPr>
          <p:cNvPr id="4" name="Rectangle 3"/>
          <p:cNvSpPr/>
          <p:nvPr/>
        </p:nvSpPr>
        <p:spPr>
          <a:xfrm>
            <a:off x="533400" y="1676400"/>
            <a:ext cx="8305800" cy="2800767"/>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dirty="0" smtClean="0">
                <a:solidFill>
                  <a:srgbClr val="000000"/>
                </a:solidFill>
                <a:latin typeface="Consolas"/>
              </a:rPr>
              <a:t>const </a:t>
            </a:r>
            <a:r>
              <a:rPr lang="en-US" sz="1600" dirty="0" err="1" smtClean="0">
                <a:solidFill>
                  <a:srgbClr val="000000"/>
                </a:solidFill>
                <a:latin typeface="Consolas"/>
              </a:rPr>
              <a:t>HelloWorld</a:t>
            </a:r>
            <a:r>
              <a:rPr lang="en-US" sz="1600" dirty="0" smtClean="0">
                <a:solidFill>
                  <a:srgbClr val="000000"/>
                </a:solidFill>
                <a:latin typeface="Consolas"/>
              </a:rPr>
              <a:t> = (props) =&gt; </a:t>
            </a:r>
            <a:r>
              <a:rPr lang="en-US" sz="1600" dirty="0" smtClean="0">
                <a:solidFill>
                  <a:srgbClr val="0000FF"/>
                </a:solidFill>
                <a:latin typeface="Consolas"/>
              </a:rPr>
              <a:t>&lt;</a:t>
            </a:r>
            <a:r>
              <a:rPr lang="en-US" sz="1600" dirty="0" smtClean="0">
                <a:solidFill>
                  <a:srgbClr val="800000"/>
                </a:solidFill>
                <a:latin typeface="Consolas"/>
              </a:rPr>
              <a:t>h1</a:t>
            </a:r>
            <a:r>
              <a:rPr lang="en-US" sz="1600" dirty="0" smtClean="0">
                <a:solidFill>
                  <a:srgbClr val="0000FF"/>
                </a:solidFill>
                <a:latin typeface="Consolas"/>
              </a:rPr>
              <a:t>&gt;</a:t>
            </a:r>
            <a:r>
              <a:rPr lang="en-US" sz="1600" dirty="0" smtClean="0">
                <a:solidFill>
                  <a:srgbClr val="000000"/>
                </a:solidFill>
                <a:latin typeface="Consolas"/>
              </a:rPr>
              <a:t>Hello, {props.name}!</a:t>
            </a:r>
            <a:r>
              <a:rPr lang="en-US" sz="1600" dirty="0" smtClean="0">
                <a:solidFill>
                  <a:srgbClr val="0000FF"/>
                </a:solidFill>
                <a:latin typeface="Consolas"/>
              </a:rPr>
              <a:t>&lt;/</a:t>
            </a:r>
            <a:r>
              <a:rPr lang="en-US" sz="1600" dirty="0" smtClean="0">
                <a:solidFill>
                  <a:srgbClr val="800000"/>
                </a:solidFill>
                <a:latin typeface="Consolas"/>
              </a:rPr>
              <a:t>h1</a:t>
            </a:r>
            <a:r>
              <a:rPr lang="en-US" sz="1600" dirty="0" smtClean="0">
                <a:solidFill>
                  <a:srgbClr val="0000FF"/>
                </a:solidFill>
                <a:latin typeface="Consolas"/>
              </a:rPr>
              <a:t>&gt;</a:t>
            </a:r>
            <a:r>
              <a:rPr lang="en-US" sz="1600" dirty="0" smtClean="0">
                <a:solidFill>
                  <a:srgbClr val="000000"/>
                </a:solidFill>
                <a:latin typeface="Consolas"/>
              </a:rPr>
              <a:t>;</a:t>
            </a:r>
          </a:p>
          <a:p>
            <a:r>
              <a:rPr lang="en-US" sz="1600" dirty="0" smtClean="0">
                <a:solidFill>
                  <a:srgbClr val="000000"/>
                </a:solidFill>
                <a:latin typeface="Consolas"/>
              </a:rPr>
              <a:t>const </a:t>
            </a:r>
            <a:r>
              <a:rPr lang="en-US" sz="1600" dirty="0" err="1" smtClean="0">
                <a:solidFill>
                  <a:srgbClr val="000000"/>
                </a:solidFill>
                <a:latin typeface="Consolas"/>
              </a:rPr>
              <a:t>HelloAndWelcome</a:t>
            </a:r>
            <a:r>
              <a:rPr lang="en-US" sz="1600" dirty="0" smtClean="0">
                <a:solidFill>
                  <a:srgbClr val="000000"/>
                </a:solidFill>
                <a:latin typeface="Consolas"/>
              </a:rPr>
              <a:t> = (props) =&gt; </a:t>
            </a:r>
            <a:r>
              <a:rPr lang="en-US" sz="1600" dirty="0" smtClean="0">
                <a:solidFill>
                  <a:srgbClr val="0000FF"/>
                </a:solidFill>
                <a:latin typeface="Consolas"/>
              </a:rPr>
              <a:t>&lt;</a:t>
            </a:r>
            <a:r>
              <a:rPr lang="en-US" sz="1600" dirty="0" smtClean="0">
                <a:solidFill>
                  <a:srgbClr val="800000"/>
                </a:solidFill>
                <a:latin typeface="Consolas"/>
              </a:rPr>
              <a:t>div</a:t>
            </a:r>
            <a:r>
              <a:rPr lang="en-US" sz="1600" dirty="0" smtClean="0">
                <a:solidFill>
                  <a:srgbClr val="0000FF"/>
                </a:solidFill>
                <a:latin typeface="Consolas"/>
              </a:rPr>
              <a:t>&gt;&lt;</a:t>
            </a:r>
            <a:r>
              <a:rPr lang="en-US" sz="1600" dirty="0" err="1" smtClean="0">
                <a:solidFill>
                  <a:srgbClr val="800000"/>
                </a:solidFill>
                <a:latin typeface="Consolas"/>
              </a:rPr>
              <a:t>HelloWorld</a:t>
            </a:r>
            <a:r>
              <a:rPr lang="en-US" sz="1600" dirty="0" smtClean="0">
                <a:solidFill>
                  <a:srgbClr val="000000"/>
                </a:solidFill>
                <a:latin typeface="Consolas"/>
              </a:rPr>
              <a:t> </a:t>
            </a:r>
            <a:r>
              <a:rPr lang="en-US" sz="1600" dirty="0" smtClean="0">
                <a:solidFill>
                  <a:srgbClr val="FF0000"/>
                </a:solidFill>
                <a:latin typeface="Consolas"/>
              </a:rPr>
              <a:t>{...props}</a:t>
            </a:r>
            <a:r>
              <a:rPr lang="en-US" sz="1600" dirty="0" smtClean="0">
                <a:solidFill>
                  <a:srgbClr val="000000"/>
                </a:solidFill>
                <a:latin typeface="Consolas"/>
              </a:rPr>
              <a:t> </a:t>
            </a:r>
            <a:r>
              <a:rPr lang="en-US" sz="1600" dirty="0" smtClean="0">
                <a:solidFill>
                  <a:srgbClr val="0000FF"/>
                </a:solidFill>
                <a:latin typeface="Consolas"/>
              </a:rPr>
              <a:t>/&gt;&lt;</a:t>
            </a:r>
            <a:r>
              <a:rPr lang="en-US" sz="1600" dirty="0" smtClean="0">
                <a:solidFill>
                  <a:srgbClr val="800000"/>
                </a:solidFill>
                <a:latin typeface="Consolas"/>
              </a:rPr>
              <a:t>h2</a:t>
            </a:r>
            <a:r>
              <a:rPr lang="en-US" sz="1600" dirty="0" smtClean="0">
                <a:solidFill>
                  <a:srgbClr val="0000FF"/>
                </a:solidFill>
                <a:latin typeface="Consolas"/>
              </a:rPr>
              <a:t>&gt;</a:t>
            </a:r>
            <a:r>
              <a:rPr lang="en-US" sz="1600" dirty="0" smtClean="0">
                <a:solidFill>
                  <a:srgbClr val="000000"/>
                </a:solidFill>
                <a:latin typeface="Consolas"/>
              </a:rPr>
              <a:t>Welcome to Functional Programming!</a:t>
            </a:r>
            <a:r>
              <a:rPr lang="en-US" sz="1600" dirty="0" smtClean="0">
                <a:solidFill>
                  <a:srgbClr val="0000FF"/>
                </a:solidFill>
                <a:latin typeface="Consolas"/>
              </a:rPr>
              <a:t>&lt;/</a:t>
            </a:r>
            <a:r>
              <a:rPr lang="en-US" sz="1600" dirty="0" smtClean="0">
                <a:solidFill>
                  <a:srgbClr val="800000"/>
                </a:solidFill>
                <a:latin typeface="Consolas"/>
              </a:rPr>
              <a:t>h2</a:t>
            </a:r>
            <a:r>
              <a:rPr lang="en-US" sz="1600" dirty="0" smtClean="0">
                <a:solidFill>
                  <a:srgbClr val="0000FF"/>
                </a:solidFill>
                <a:latin typeface="Consolas"/>
              </a:rPr>
              <a:t>&gt;&lt;/</a:t>
            </a:r>
            <a:r>
              <a:rPr lang="en-US" sz="1600" dirty="0" smtClean="0">
                <a:solidFill>
                  <a:srgbClr val="800000"/>
                </a:solidFill>
                <a:latin typeface="Consolas"/>
              </a:rPr>
              <a:t>div</a:t>
            </a:r>
            <a:r>
              <a:rPr lang="en-US" sz="1600" dirty="0" smtClean="0">
                <a:solidFill>
                  <a:srgbClr val="0000FF"/>
                </a:solidFill>
                <a:latin typeface="Consolas"/>
              </a:rPr>
              <a:t>&gt;</a:t>
            </a:r>
            <a:r>
              <a:rPr lang="en-US" sz="1600" dirty="0" smtClean="0">
                <a:solidFill>
                  <a:srgbClr val="000000"/>
                </a:solidFill>
                <a:latin typeface="Consolas"/>
              </a:rPr>
              <a:t>;</a:t>
            </a:r>
          </a:p>
          <a:p>
            <a:r>
              <a:rPr lang="en-US" sz="1600" dirty="0" smtClean="0">
                <a:solidFill>
                  <a:srgbClr val="000000"/>
                </a:solidFill>
                <a:latin typeface="Consolas"/>
              </a:rPr>
              <a:t>        </a:t>
            </a:r>
          </a:p>
          <a:p>
            <a:r>
              <a:rPr lang="en-US" sz="1600" dirty="0" smtClean="0">
                <a:solidFill>
                  <a:srgbClr val="000000"/>
                </a:solidFill>
                <a:latin typeface="Consolas"/>
              </a:rPr>
              <a:t>const App = () =&gt; </a:t>
            </a:r>
            <a:r>
              <a:rPr lang="en-US" sz="1600" dirty="0" smtClean="0">
                <a:solidFill>
                  <a:srgbClr val="0000FF"/>
                </a:solidFill>
                <a:latin typeface="Consolas"/>
              </a:rPr>
              <a:t>&lt;</a:t>
            </a:r>
            <a:r>
              <a:rPr lang="en-US" sz="1600" dirty="0" err="1" smtClean="0">
                <a:solidFill>
                  <a:srgbClr val="800000"/>
                </a:solidFill>
                <a:latin typeface="Consolas"/>
              </a:rPr>
              <a:t>HelloAndWelcome</a:t>
            </a:r>
            <a:r>
              <a:rPr lang="en-US" sz="1600" dirty="0" smtClean="0">
                <a:solidFill>
                  <a:srgbClr val="000000"/>
                </a:solidFill>
                <a:latin typeface="Consolas"/>
              </a:rPr>
              <a:t> </a:t>
            </a:r>
            <a:r>
              <a:rPr lang="en-US" sz="1600" dirty="0" smtClean="0">
                <a:solidFill>
                  <a:srgbClr val="FF0000"/>
                </a:solidFill>
                <a:latin typeface="Consolas"/>
              </a:rPr>
              <a:t>name</a:t>
            </a:r>
            <a:r>
              <a:rPr lang="en-US" sz="1600" dirty="0" smtClean="0">
                <a:solidFill>
                  <a:srgbClr val="0000FF"/>
                </a:solidFill>
                <a:latin typeface="Consolas"/>
              </a:rPr>
              <a:t>="Composition"</a:t>
            </a:r>
            <a:r>
              <a:rPr lang="en-US" sz="1600" dirty="0" smtClean="0">
                <a:solidFill>
                  <a:srgbClr val="000000"/>
                </a:solidFill>
                <a:latin typeface="Consolas"/>
              </a:rPr>
              <a:t> </a:t>
            </a:r>
            <a:r>
              <a:rPr lang="en-US" sz="1600" dirty="0" smtClean="0">
                <a:solidFill>
                  <a:srgbClr val="0000FF"/>
                </a:solidFill>
                <a:latin typeface="Consolas"/>
              </a:rPr>
              <a:t>/&gt;</a:t>
            </a:r>
            <a:r>
              <a:rPr lang="en-US" sz="1600" dirty="0" smtClean="0">
                <a:solidFill>
                  <a:srgbClr val="000000"/>
                </a:solidFill>
                <a:latin typeface="Consolas"/>
              </a:rPr>
              <a:t>;</a:t>
            </a:r>
          </a:p>
          <a:p>
            <a:endParaRPr lang="en-US" sz="1600" dirty="0" smtClean="0">
              <a:solidFill>
                <a:srgbClr val="000000"/>
              </a:solidFill>
              <a:latin typeface="Consolas"/>
            </a:endParaRPr>
          </a:p>
          <a:p>
            <a:r>
              <a:rPr lang="en-US" sz="1600" dirty="0" err="1" smtClean="0">
                <a:solidFill>
                  <a:srgbClr val="000000"/>
                </a:solidFill>
                <a:latin typeface="Consolas"/>
              </a:rPr>
              <a:t>var</a:t>
            </a:r>
            <a:r>
              <a:rPr lang="en-US" sz="1600" dirty="0" smtClean="0">
                <a:solidFill>
                  <a:srgbClr val="000000"/>
                </a:solidFill>
                <a:latin typeface="Consolas"/>
              </a:rPr>
              <a:t> destination = </a:t>
            </a:r>
            <a:r>
              <a:rPr lang="en-US" sz="1600" dirty="0" err="1" smtClean="0">
                <a:solidFill>
                  <a:srgbClr val="000000"/>
                </a:solidFill>
                <a:latin typeface="Consolas"/>
              </a:rPr>
              <a:t>document.querySelector</a:t>
            </a:r>
            <a:r>
              <a:rPr lang="en-US" sz="1600" dirty="0" smtClean="0">
                <a:solidFill>
                  <a:srgbClr val="000000"/>
                </a:solidFill>
                <a:latin typeface="Consolas"/>
              </a:rPr>
              <a:t>("#container");</a:t>
            </a:r>
          </a:p>
          <a:p>
            <a:r>
              <a:rPr lang="en-US" sz="1600" dirty="0" smtClean="0">
                <a:solidFill>
                  <a:srgbClr val="000000"/>
                </a:solidFill>
                <a:latin typeface="Consolas"/>
              </a:rPr>
              <a:t>	</a:t>
            </a:r>
            <a:r>
              <a:rPr lang="en-US" sz="1600" dirty="0" err="1" smtClean="0">
                <a:solidFill>
                  <a:srgbClr val="000000"/>
                </a:solidFill>
                <a:latin typeface="Consolas"/>
              </a:rPr>
              <a:t>ReactDOM.render</a:t>
            </a:r>
            <a:r>
              <a:rPr lang="en-US" sz="1600" dirty="0" smtClean="0">
                <a:solidFill>
                  <a:srgbClr val="000000"/>
                </a:solidFill>
                <a:latin typeface="Consolas"/>
              </a:rPr>
              <a:t>(</a:t>
            </a:r>
          </a:p>
          <a:p>
            <a:r>
              <a:rPr lang="en-US" sz="1600" dirty="0" smtClean="0">
                <a:solidFill>
                  <a:srgbClr val="0000FF"/>
                </a:solidFill>
                <a:latin typeface="Consolas"/>
              </a:rPr>
              <a:t>		&lt;</a:t>
            </a:r>
            <a:r>
              <a:rPr lang="en-US" sz="1600" dirty="0" smtClean="0">
                <a:solidFill>
                  <a:srgbClr val="800000"/>
                </a:solidFill>
                <a:latin typeface="Consolas"/>
              </a:rPr>
              <a:t>App</a:t>
            </a:r>
            <a:r>
              <a:rPr lang="en-US" sz="1600" dirty="0" smtClean="0">
                <a:solidFill>
                  <a:srgbClr val="000000"/>
                </a:solidFill>
                <a:latin typeface="Consolas"/>
              </a:rPr>
              <a:t> </a:t>
            </a:r>
            <a:r>
              <a:rPr lang="en-US" sz="1600" dirty="0" smtClean="0">
                <a:solidFill>
                  <a:srgbClr val="0000FF"/>
                </a:solidFill>
                <a:latin typeface="Consolas"/>
              </a:rPr>
              <a:t>/&gt;</a:t>
            </a:r>
            <a:r>
              <a:rPr lang="en-US" sz="1600" dirty="0" smtClean="0">
                <a:solidFill>
                  <a:srgbClr val="000000"/>
                </a:solidFill>
                <a:latin typeface="Consolas"/>
              </a:rPr>
              <a:t>,</a:t>
            </a:r>
          </a:p>
          <a:p>
            <a:r>
              <a:rPr lang="en-US" sz="1600" dirty="0" smtClean="0">
                <a:solidFill>
                  <a:srgbClr val="000000"/>
                </a:solidFill>
                <a:latin typeface="Consolas"/>
              </a:rPr>
              <a:t>		destination</a:t>
            </a:r>
          </a:p>
          <a:p>
            <a:r>
              <a:rPr lang="en-US" sz="1600" dirty="0" smtClean="0">
                <a:solidFill>
                  <a:srgbClr val="000000"/>
                </a:solidFill>
                <a:latin typeface="Consolas"/>
              </a:rPr>
              <a:t>        );</a:t>
            </a:r>
            <a:endParaRPr lang="en-US" sz="1600" dirty="0">
              <a:latin typeface="Consolas" pitchFamily="49" charset="0"/>
            </a:endParaRPr>
          </a:p>
        </p:txBody>
      </p:sp>
      <p:pic>
        <p:nvPicPr>
          <p:cNvPr id="2050" name="Picture 2"/>
          <p:cNvPicPr>
            <a:picLocks noChangeAspect="1" noChangeArrowheads="1"/>
          </p:cNvPicPr>
          <p:nvPr/>
        </p:nvPicPr>
        <p:blipFill>
          <a:blip r:embed="rId2" cstate="print"/>
          <a:srcRect/>
          <a:stretch>
            <a:fillRect/>
          </a:stretch>
        </p:blipFill>
        <p:spPr bwMode="auto">
          <a:xfrm>
            <a:off x="2743200" y="4953000"/>
            <a:ext cx="3686175" cy="955675"/>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Higher-Order Functions</a:t>
            </a:r>
            <a:endParaRPr lang="en-US" dirty="0"/>
          </a:p>
        </p:txBody>
      </p:sp>
      <p:sp>
        <p:nvSpPr>
          <p:cNvPr id="4" name="Rectangle 3"/>
          <p:cNvSpPr/>
          <p:nvPr/>
        </p:nvSpPr>
        <p:spPr>
          <a:xfrm>
            <a:off x="533400" y="1676400"/>
            <a:ext cx="8305800" cy="4278094"/>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dirty="0" smtClean="0">
                <a:solidFill>
                  <a:srgbClr val="000000"/>
                </a:solidFill>
                <a:latin typeface="Consolas"/>
              </a:rPr>
              <a:t>const </a:t>
            </a:r>
            <a:r>
              <a:rPr lang="en-US" sz="1600" dirty="0" err="1" smtClean="0">
                <a:solidFill>
                  <a:srgbClr val="000000"/>
                </a:solidFill>
                <a:latin typeface="Consolas"/>
              </a:rPr>
              <a:t>HelloWorld</a:t>
            </a:r>
            <a:r>
              <a:rPr lang="en-US" sz="1600" dirty="0" smtClean="0">
                <a:solidFill>
                  <a:srgbClr val="000000"/>
                </a:solidFill>
                <a:latin typeface="Consolas"/>
              </a:rPr>
              <a:t> = (props) =&gt; </a:t>
            </a:r>
            <a:r>
              <a:rPr lang="en-US" sz="1600" dirty="0" smtClean="0">
                <a:solidFill>
                  <a:srgbClr val="0000FF"/>
                </a:solidFill>
                <a:latin typeface="Consolas"/>
              </a:rPr>
              <a:t>&lt;</a:t>
            </a:r>
            <a:r>
              <a:rPr lang="en-US" sz="1600" dirty="0" smtClean="0">
                <a:solidFill>
                  <a:srgbClr val="800000"/>
                </a:solidFill>
                <a:latin typeface="Consolas"/>
              </a:rPr>
              <a:t>h1</a:t>
            </a:r>
            <a:r>
              <a:rPr lang="en-US" sz="1600" dirty="0" smtClean="0">
                <a:solidFill>
                  <a:srgbClr val="0000FF"/>
                </a:solidFill>
                <a:latin typeface="Consolas"/>
              </a:rPr>
              <a:t>&gt;</a:t>
            </a:r>
            <a:r>
              <a:rPr lang="en-US" sz="1600" dirty="0" smtClean="0">
                <a:solidFill>
                  <a:srgbClr val="000000"/>
                </a:solidFill>
                <a:latin typeface="Consolas"/>
              </a:rPr>
              <a:t>Hello, {props.name}!</a:t>
            </a:r>
            <a:r>
              <a:rPr lang="en-US" sz="1600" dirty="0" smtClean="0">
                <a:solidFill>
                  <a:srgbClr val="0000FF"/>
                </a:solidFill>
                <a:latin typeface="Consolas"/>
              </a:rPr>
              <a:t>&lt;/</a:t>
            </a:r>
            <a:r>
              <a:rPr lang="en-US" sz="1600" dirty="0" smtClean="0">
                <a:solidFill>
                  <a:srgbClr val="800000"/>
                </a:solidFill>
                <a:latin typeface="Consolas"/>
              </a:rPr>
              <a:t>h1</a:t>
            </a:r>
            <a:r>
              <a:rPr lang="en-US" sz="1600" dirty="0" smtClean="0">
                <a:solidFill>
                  <a:srgbClr val="0000FF"/>
                </a:solidFill>
                <a:latin typeface="Consolas"/>
              </a:rPr>
              <a:t>&gt;</a:t>
            </a:r>
            <a:r>
              <a:rPr lang="en-US" sz="1600" dirty="0" smtClean="0">
                <a:solidFill>
                  <a:srgbClr val="000000"/>
                </a:solidFill>
                <a:latin typeface="Consolas"/>
              </a:rPr>
              <a:t>;</a:t>
            </a:r>
          </a:p>
          <a:p>
            <a:endParaRPr lang="en-US" sz="1600" dirty="0" smtClean="0">
              <a:solidFill>
                <a:srgbClr val="000000"/>
              </a:solidFill>
              <a:latin typeface="Consolas"/>
            </a:endParaRPr>
          </a:p>
          <a:p>
            <a:r>
              <a:rPr lang="en-US" sz="1600" dirty="0" smtClean="0">
                <a:solidFill>
                  <a:srgbClr val="000000"/>
                </a:solidFill>
                <a:latin typeface="Consolas"/>
              </a:rPr>
              <a:t>const </a:t>
            </a:r>
            <a:r>
              <a:rPr lang="en-US" sz="1600" dirty="0" err="1" smtClean="0">
                <a:solidFill>
                  <a:srgbClr val="000000"/>
                </a:solidFill>
                <a:latin typeface="Consolas"/>
              </a:rPr>
              <a:t>AddWelcome</a:t>
            </a:r>
            <a:r>
              <a:rPr lang="en-US" sz="1600" dirty="0" smtClean="0">
                <a:solidFill>
                  <a:srgbClr val="000000"/>
                </a:solidFill>
                <a:latin typeface="Consolas"/>
              </a:rPr>
              <a:t> = (</a:t>
            </a:r>
            <a:r>
              <a:rPr lang="en-US" sz="1600" dirty="0" err="1" smtClean="0">
                <a:solidFill>
                  <a:srgbClr val="000000"/>
                </a:solidFill>
                <a:latin typeface="Consolas"/>
              </a:rPr>
              <a:t>GreetingComponent</a:t>
            </a:r>
            <a:r>
              <a:rPr lang="en-US" sz="1600" dirty="0" smtClean="0">
                <a:solidFill>
                  <a:srgbClr val="000000"/>
                </a:solidFill>
                <a:latin typeface="Consolas"/>
              </a:rPr>
              <a:t>) =&gt; {</a:t>
            </a:r>
          </a:p>
          <a:p>
            <a:r>
              <a:rPr lang="en-US" sz="1600" dirty="0" smtClean="0">
                <a:solidFill>
                  <a:srgbClr val="000000"/>
                </a:solidFill>
                <a:latin typeface="Consolas"/>
              </a:rPr>
              <a:t>	const </a:t>
            </a:r>
            <a:r>
              <a:rPr lang="en-US" sz="1600" dirty="0" err="1" smtClean="0">
                <a:solidFill>
                  <a:srgbClr val="000000"/>
                </a:solidFill>
                <a:latin typeface="Consolas"/>
              </a:rPr>
              <a:t>TheNewComponent</a:t>
            </a:r>
            <a:r>
              <a:rPr lang="en-US" sz="1600" dirty="0" smtClean="0">
                <a:solidFill>
                  <a:srgbClr val="000000"/>
                </a:solidFill>
                <a:latin typeface="Consolas"/>
              </a:rPr>
              <a:t> = (props) =&gt;</a:t>
            </a:r>
          </a:p>
          <a:p>
            <a:r>
              <a:rPr lang="en-US" sz="1600" dirty="0" smtClean="0">
                <a:solidFill>
                  <a:srgbClr val="0000FF"/>
                </a:solidFill>
                <a:latin typeface="Consolas"/>
              </a:rPr>
              <a:t>		&lt;</a:t>
            </a:r>
            <a:r>
              <a:rPr lang="en-US" sz="1600" dirty="0" smtClean="0">
                <a:solidFill>
                  <a:srgbClr val="800000"/>
                </a:solidFill>
                <a:latin typeface="Consolas"/>
              </a:rPr>
              <a:t>div</a:t>
            </a:r>
            <a:r>
              <a:rPr lang="en-US" sz="1600" dirty="0" smtClean="0">
                <a:solidFill>
                  <a:srgbClr val="0000FF"/>
                </a:solidFill>
                <a:latin typeface="Consolas"/>
              </a:rPr>
              <a:t>&gt;&lt;</a:t>
            </a:r>
            <a:r>
              <a:rPr lang="en-US" sz="1600" dirty="0" err="1" smtClean="0">
                <a:solidFill>
                  <a:srgbClr val="800000"/>
                </a:solidFill>
                <a:latin typeface="Consolas"/>
              </a:rPr>
              <a:t>GreetingComponent</a:t>
            </a:r>
            <a:r>
              <a:rPr lang="en-US" sz="1600" dirty="0" smtClean="0">
                <a:solidFill>
                  <a:srgbClr val="000000"/>
                </a:solidFill>
                <a:latin typeface="Consolas"/>
              </a:rPr>
              <a:t> </a:t>
            </a:r>
            <a:r>
              <a:rPr lang="en-US" sz="1600" dirty="0" smtClean="0">
                <a:solidFill>
                  <a:srgbClr val="FF0000"/>
                </a:solidFill>
                <a:latin typeface="Consolas"/>
              </a:rPr>
              <a:t>{...props}</a:t>
            </a:r>
            <a:r>
              <a:rPr lang="en-US" sz="1600" dirty="0" smtClean="0">
                <a:solidFill>
                  <a:srgbClr val="000000"/>
                </a:solidFill>
                <a:latin typeface="Consolas"/>
              </a:rPr>
              <a:t> </a:t>
            </a:r>
            <a:r>
              <a:rPr lang="en-US" sz="1600" dirty="0" smtClean="0">
                <a:solidFill>
                  <a:srgbClr val="0000FF"/>
                </a:solidFill>
                <a:latin typeface="Consolas"/>
              </a:rPr>
              <a:t>/&gt;&lt;</a:t>
            </a:r>
            <a:r>
              <a:rPr lang="en-US" sz="1600" dirty="0" smtClean="0">
                <a:solidFill>
                  <a:srgbClr val="800000"/>
                </a:solidFill>
                <a:latin typeface="Consolas"/>
              </a:rPr>
              <a:t>h2</a:t>
            </a:r>
            <a:r>
              <a:rPr lang="en-US" sz="1600" dirty="0" smtClean="0">
                <a:solidFill>
                  <a:srgbClr val="0000FF"/>
                </a:solidFill>
                <a:latin typeface="Consolas"/>
              </a:rPr>
              <a:t>&gt;</a:t>
            </a:r>
            <a:r>
              <a:rPr lang="en-US" sz="1600" dirty="0" smtClean="0">
                <a:solidFill>
                  <a:srgbClr val="000000"/>
                </a:solidFill>
                <a:latin typeface="Consolas"/>
              </a:rPr>
              <a:t>Welcome to High-Order Components!</a:t>
            </a:r>
            <a:r>
              <a:rPr lang="en-US" sz="1600" dirty="0" smtClean="0">
                <a:solidFill>
                  <a:srgbClr val="0000FF"/>
                </a:solidFill>
                <a:latin typeface="Consolas"/>
              </a:rPr>
              <a:t>&lt;/</a:t>
            </a:r>
            <a:r>
              <a:rPr lang="en-US" sz="1600" dirty="0" smtClean="0">
                <a:solidFill>
                  <a:srgbClr val="800000"/>
                </a:solidFill>
                <a:latin typeface="Consolas"/>
              </a:rPr>
              <a:t>h2</a:t>
            </a:r>
            <a:r>
              <a:rPr lang="en-US" sz="1600" dirty="0" smtClean="0">
                <a:solidFill>
                  <a:srgbClr val="0000FF"/>
                </a:solidFill>
                <a:latin typeface="Consolas"/>
              </a:rPr>
              <a:t>&gt;&lt;/</a:t>
            </a:r>
            <a:r>
              <a:rPr lang="en-US" sz="1600" dirty="0" smtClean="0">
                <a:solidFill>
                  <a:srgbClr val="800000"/>
                </a:solidFill>
                <a:latin typeface="Consolas"/>
              </a:rPr>
              <a:t>div</a:t>
            </a:r>
            <a:r>
              <a:rPr lang="en-US" sz="1600" dirty="0" smtClean="0">
                <a:solidFill>
                  <a:srgbClr val="0000FF"/>
                </a:solidFill>
                <a:latin typeface="Consolas"/>
              </a:rPr>
              <a:t>&gt;</a:t>
            </a:r>
            <a:r>
              <a:rPr lang="en-US" sz="1600" dirty="0" smtClean="0">
                <a:solidFill>
                  <a:srgbClr val="000000"/>
                </a:solidFill>
                <a:latin typeface="Consolas"/>
              </a:rPr>
              <a:t>;</a:t>
            </a:r>
          </a:p>
          <a:p>
            <a:r>
              <a:rPr lang="en-US" sz="1600" dirty="0" smtClean="0">
                <a:solidFill>
                  <a:srgbClr val="000000"/>
                </a:solidFill>
                <a:latin typeface="Consolas"/>
              </a:rPr>
              <a:t>	return </a:t>
            </a:r>
            <a:r>
              <a:rPr lang="en-US" sz="1600" dirty="0" err="1" smtClean="0">
                <a:solidFill>
                  <a:srgbClr val="000000"/>
                </a:solidFill>
                <a:latin typeface="Consolas"/>
              </a:rPr>
              <a:t>TheNewComponent</a:t>
            </a:r>
            <a:r>
              <a:rPr lang="en-US" sz="1600" dirty="0" smtClean="0">
                <a:solidFill>
                  <a:srgbClr val="000000"/>
                </a:solidFill>
                <a:latin typeface="Consolas"/>
              </a:rPr>
              <a:t>;</a:t>
            </a:r>
          </a:p>
          <a:p>
            <a:r>
              <a:rPr lang="en-US" sz="1600" dirty="0" smtClean="0">
                <a:solidFill>
                  <a:srgbClr val="000000"/>
                </a:solidFill>
                <a:latin typeface="Consolas"/>
              </a:rPr>
              <a:t>      };</a:t>
            </a:r>
          </a:p>
          <a:p>
            <a:endParaRPr lang="en-US" sz="1600" dirty="0" smtClean="0">
              <a:solidFill>
                <a:srgbClr val="000000"/>
              </a:solidFill>
              <a:latin typeface="Consolas"/>
            </a:endParaRPr>
          </a:p>
          <a:p>
            <a:r>
              <a:rPr lang="en-US" sz="1600" dirty="0" smtClean="0">
                <a:solidFill>
                  <a:srgbClr val="000000"/>
                </a:solidFill>
                <a:latin typeface="Consolas"/>
              </a:rPr>
              <a:t>const App = () =&gt; { return </a:t>
            </a:r>
            <a:r>
              <a:rPr lang="en-US" sz="1600" dirty="0" err="1" smtClean="0">
                <a:solidFill>
                  <a:srgbClr val="000000"/>
                </a:solidFill>
                <a:latin typeface="Consolas"/>
              </a:rPr>
              <a:t>AddWelcome</a:t>
            </a:r>
            <a:r>
              <a:rPr lang="en-US" sz="1600" dirty="0" smtClean="0">
                <a:solidFill>
                  <a:srgbClr val="000000"/>
                </a:solidFill>
                <a:latin typeface="Consolas"/>
              </a:rPr>
              <a:t>(</a:t>
            </a:r>
            <a:r>
              <a:rPr lang="en-US" sz="1600" dirty="0" err="1" smtClean="0">
                <a:solidFill>
                  <a:srgbClr val="000000"/>
                </a:solidFill>
                <a:latin typeface="Consolas"/>
              </a:rPr>
              <a:t>HelloWorld</a:t>
            </a:r>
            <a:r>
              <a:rPr lang="en-US" sz="1600" dirty="0" smtClean="0">
                <a:solidFill>
                  <a:srgbClr val="000000"/>
                </a:solidFill>
                <a:latin typeface="Consolas"/>
              </a:rPr>
              <a:t>)({name : "High-Order Functions"}); }</a:t>
            </a:r>
          </a:p>
          <a:p>
            <a:endParaRPr lang="en-US" sz="1600" dirty="0" smtClean="0">
              <a:solidFill>
                <a:srgbClr val="000000"/>
              </a:solidFill>
              <a:latin typeface="Consolas"/>
            </a:endParaRPr>
          </a:p>
          <a:p>
            <a:r>
              <a:rPr lang="en-US" sz="1600" dirty="0" err="1" smtClean="0">
                <a:solidFill>
                  <a:srgbClr val="000000"/>
                </a:solidFill>
                <a:latin typeface="Consolas"/>
              </a:rPr>
              <a:t>var</a:t>
            </a:r>
            <a:r>
              <a:rPr lang="en-US" sz="1600" dirty="0" smtClean="0">
                <a:solidFill>
                  <a:srgbClr val="000000"/>
                </a:solidFill>
                <a:latin typeface="Consolas"/>
              </a:rPr>
              <a:t> destination = </a:t>
            </a:r>
            <a:r>
              <a:rPr lang="en-US" sz="1600" dirty="0" err="1" smtClean="0">
                <a:solidFill>
                  <a:srgbClr val="000000"/>
                </a:solidFill>
                <a:latin typeface="Consolas"/>
              </a:rPr>
              <a:t>document.querySelector</a:t>
            </a:r>
            <a:r>
              <a:rPr lang="en-US" sz="1600" dirty="0" smtClean="0">
                <a:solidFill>
                  <a:srgbClr val="000000"/>
                </a:solidFill>
                <a:latin typeface="Consolas"/>
              </a:rPr>
              <a:t>("#container");</a:t>
            </a:r>
          </a:p>
          <a:p>
            <a:r>
              <a:rPr lang="en-US" sz="1600" dirty="0" smtClean="0">
                <a:solidFill>
                  <a:srgbClr val="000000"/>
                </a:solidFill>
                <a:latin typeface="Consolas"/>
              </a:rPr>
              <a:t>        </a:t>
            </a:r>
            <a:r>
              <a:rPr lang="en-US" sz="1600" dirty="0" err="1" smtClean="0">
                <a:solidFill>
                  <a:srgbClr val="000000"/>
                </a:solidFill>
                <a:latin typeface="Consolas"/>
              </a:rPr>
              <a:t>ReactDOM.render</a:t>
            </a:r>
            <a:r>
              <a:rPr lang="en-US" sz="1600" dirty="0" smtClean="0">
                <a:solidFill>
                  <a:srgbClr val="000000"/>
                </a:solidFill>
                <a:latin typeface="Consolas"/>
              </a:rPr>
              <a:t>(</a:t>
            </a:r>
          </a:p>
          <a:p>
            <a:r>
              <a:rPr lang="en-US" sz="1600" dirty="0" smtClean="0">
                <a:solidFill>
                  <a:srgbClr val="000000"/>
                </a:solidFill>
                <a:latin typeface="Consolas"/>
              </a:rPr>
              <a:t>            </a:t>
            </a:r>
            <a:r>
              <a:rPr lang="en-US" sz="1600" dirty="0" smtClean="0">
                <a:solidFill>
                  <a:srgbClr val="0000FF"/>
                </a:solidFill>
                <a:latin typeface="Consolas"/>
              </a:rPr>
              <a:t>&lt;</a:t>
            </a:r>
            <a:r>
              <a:rPr lang="en-US" sz="1600" dirty="0" smtClean="0">
                <a:solidFill>
                  <a:srgbClr val="800000"/>
                </a:solidFill>
                <a:latin typeface="Consolas"/>
              </a:rPr>
              <a:t>App</a:t>
            </a:r>
            <a:r>
              <a:rPr lang="en-US" sz="1600" dirty="0" smtClean="0">
                <a:solidFill>
                  <a:srgbClr val="000000"/>
                </a:solidFill>
                <a:latin typeface="Consolas"/>
              </a:rPr>
              <a:t> </a:t>
            </a:r>
            <a:r>
              <a:rPr lang="en-US" sz="1600" dirty="0" smtClean="0">
                <a:solidFill>
                  <a:srgbClr val="0000FF"/>
                </a:solidFill>
                <a:latin typeface="Consolas"/>
              </a:rPr>
              <a:t>/&gt;</a:t>
            </a:r>
            <a:r>
              <a:rPr lang="en-US" sz="1600" dirty="0" smtClean="0">
                <a:solidFill>
                  <a:srgbClr val="000000"/>
                </a:solidFill>
                <a:latin typeface="Consolas"/>
              </a:rPr>
              <a:t>,</a:t>
            </a:r>
          </a:p>
          <a:p>
            <a:r>
              <a:rPr lang="en-US" sz="1600" dirty="0" smtClean="0">
                <a:solidFill>
                  <a:srgbClr val="000000"/>
                </a:solidFill>
                <a:latin typeface="Consolas"/>
              </a:rPr>
              <a:t>            destination</a:t>
            </a:r>
          </a:p>
          <a:p>
            <a:r>
              <a:rPr lang="en-US" sz="1600" dirty="0" smtClean="0">
                <a:solidFill>
                  <a:srgbClr val="000000"/>
                </a:solidFill>
                <a:latin typeface="Consolas"/>
              </a:rPr>
              <a:t>        );</a:t>
            </a:r>
            <a:endParaRPr lang="en-US" sz="1600" dirty="0">
              <a:latin typeface="Consolas" pitchFamily="49" charset="0"/>
            </a:endParaRPr>
          </a:p>
        </p:txBody>
      </p:sp>
      <p:pic>
        <p:nvPicPr>
          <p:cNvPr id="6" name="Picture 2"/>
          <p:cNvPicPr>
            <a:picLocks noChangeAspect="1" noChangeArrowheads="1"/>
          </p:cNvPicPr>
          <p:nvPr/>
        </p:nvPicPr>
        <p:blipFill>
          <a:blip r:embed="rId2" cstate="print"/>
          <a:srcRect/>
          <a:stretch>
            <a:fillRect/>
          </a:stretch>
        </p:blipFill>
        <p:spPr bwMode="auto">
          <a:xfrm>
            <a:off x="3352800" y="5334000"/>
            <a:ext cx="5384800" cy="974725"/>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useState</a:t>
            </a:r>
            <a:r>
              <a:rPr lang="en-US" dirty="0" smtClean="0"/>
              <a:t> Hook</a:t>
            </a:r>
            <a:endParaRPr lang="en-US" dirty="0"/>
          </a:p>
        </p:txBody>
      </p:sp>
      <p:sp>
        <p:nvSpPr>
          <p:cNvPr id="3" name="Content Placeholder 2"/>
          <p:cNvSpPr>
            <a:spLocks noGrp="1"/>
          </p:cNvSpPr>
          <p:nvPr>
            <p:ph idx="1"/>
          </p:nvPr>
        </p:nvSpPr>
        <p:spPr/>
        <p:txBody>
          <a:bodyPr/>
          <a:lstStyle/>
          <a:p>
            <a:r>
              <a:rPr lang="en-US" sz="2400" dirty="0" smtClean="0"/>
              <a:t>The </a:t>
            </a:r>
            <a:r>
              <a:rPr lang="en-US" sz="2400" dirty="0" err="1" smtClean="0"/>
              <a:t>useState</a:t>
            </a:r>
            <a:r>
              <a:rPr lang="en-US" sz="2400" dirty="0" smtClean="0"/>
              <a:t> hook’s return value in React is the array data structure.</a:t>
            </a:r>
          </a:p>
          <a:p>
            <a:r>
              <a:rPr lang="en-US" sz="2400" dirty="0" smtClean="0"/>
              <a:t>The </a:t>
            </a:r>
            <a:r>
              <a:rPr lang="en-US" sz="2400" dirty="0" err="1" smtClean="0"/>
              <a:t>useState</a:t>
            </a:r>
            <a:r>
              <a:rPr lang="en-US" sz="2400" dirty="0" smtClean="0"/>
              <a:t> hook allows you to work with state in components.</a:t>
            </a:r>
          </a:p>
          <a:p>
            <a:r>
              <a:rPr lang="en-US" sz="2400" dirty="0" smtClean="0"/>
              <a:t>When calling the </a:t>
            </a:r>
            <a:r>
              <a:rPr lang="en-US" sz="2400" dirty="0" err="1" smtClean="0"/>
              <a:t>useState</a:t>
            </a:r>
            <a:r>
              <a:rPr lang="en-US" sz="2400" dirty="0" smtClean="0"/>
              <a:t>() hook, the returned array holds the state variable's value as the first item of that array and the function that will be used to update the </a:t>
            </a:r>
            <a:r>
              <a:rPr lang="en-US" sz="2400" dirty="0" err="1" smtClean="0"/>
              <a:t>stateas</a:t>
            </a:r>
            <a:r>
              <a:rPr lang="en-US" sz="2400" dirty="0" smtClean="0"/>
              <a:t> the second item of that returned array.</a:t>
            </a:r>
          </a:p>
          <a:p>
            <a:r>
              <a:rPr lang="en-US" sz="2400" dirty="0" smtClean="0"/>
              <a:t>When using the </a:t>
            </a:r>
            <a:r>
              <a:rPr lang="en-US" sz="2400" dirty="0" err="1" smtClean="0"/>
              <a:t>useState</a:t>
            </a:r>
            <a:r>
              <a:rPr lang="en-US" sz="2400" dirty="0" smtClean="0"/>
              <a:t> hook, you must use the state-updating function to update state.</a:t>
            </a:r>
            <a:endParaRPr 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Note</a:t>
            </a:r>
            <a:endParaRPr lang="en-US" dirty="0"/>
          </a:p>
        </p:txBody>
      </p:sp>
      <p:sp>
        <p:nvSpPr>
          <p:cNvPr id="3" name="Content Placeholder 2"/>
          <p:cNvSpPr>
            <a:spLocks noGrp="1"/>
          </p:cNvSpPr>
          <p:nvPr>
            <p:ph idx="1"/>
          </p:nvPr>
        </p:nvSpPr>
        <p:spPr/>
        <p:txBody>
          <a:bodyPr/>
          <a:lstStyle/>
          <a:p>
            <a:r>
              <a:rPr lang="en-US" sz="2400" dirty="0" smtClean="0"/>
              <a:t>The proper way of working with state when it's saved as an object is to:</a:t>
            </a:r>
          </a:p>
          <a:p>
            <a:pPr lvl="1"/>
            <a:r>
              <a:rPr lang="en-US" sz="2000" dirty="0" smtClean="0"/>
              <a:t>Copy the old state object using the spread (</a:t>
            </a:r>
            <a:r>
              <a:rPr lang="en-US" sz="2000" i="1" dirty="0" smtClean="0"/>
              <a:t>...</a:t>
            </a:r>
            <a:r>
              <a:rPr lang="en-US" sz="2000" dirty="0" smtClean="0"/>
              <a:t>) operator and save it into a new variable and </a:t>
            </a:r>
          </a:p>
          <a:p>
            <a:pPr lvl="1"/>
            <a:r>
              <a:rPr lang="en-US" sz="2000" dirty="0" smtClean="0"/>
              <a:t>Pass the new variable to the state-updating function.</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Use </a:t>
            </a:r>
            <a:r>
              <a:rPr lang="en-US" dirty="0" err="1" smtClean="0"/>
              <a:t>useState</a:t>
            </a:r>
            <a:r>
              <a:rPr lang="en-US" dirty="0" smtClean="0"/>
              <a:t> Hook</a:t>
            </a:r>
            <a:endParaRPr lang="en-US" dirty="0"/>
          </a:p>
        </p:txBody>
      </p:sp>
      <p:sp>
        <p:nvSpPr>
          <p:cNvPr id="4" name="Rectangle 3"/>
          <p:cNvSpPr/>
          <p:nvPr/>
        </p:nvSpPr>
        <p:spPr>
          <a:xfrm>
            <a:off x="381000" y="1554063"/>
            <a:ext cx="8458200" cy="4770537"/>
          </a:xfrm>
          <a:prstGeom prst="rect">
            <a:avLst/>
          </a:prstGeom>
          <a:ln/>
        </p:spPr>
        <p:style>
          <a:lnRef idx="3">
            <a:schemeClr val="lt1"/>
          </a:lnRef>
          <a:fillRef idx="1">
            <a:schemeClr val="dk1"/>
          </a:fillRef>
          <a:effectRef idx="1">
            <a:schemeClr val="dk1"/>
          </a:effectRef>
          <a:fontRef idx="minor">
            <a:schemeClr val="lt1"/>
          </a:fontRef>
        </p:style>
        <p:txBody>
          <a:bodyPr wrap="square">
            <a:spAutoFit/>
          </a:bodyPr>
          <a:lstStyle/>
          <a:p>
            <a:r>
              <a:rPr lang="en-US" sz="1600" dirty="0" smtClean="0">
                <a:solidFill>
                  <a:srgbClr val="C586C0"/>
                </a:solidFill>
                <a:latin typeface="Consolas"/>
              </a:rPr>
              <a:t>import</a:t>
            </a:r>
            <a:r>
              <a:rPr lang="en-US" sz="1600" dirty="0" smtClean="0">
                <a:solidFill>
                  <a:srgbClr val="CCCCCC"/>
                </a:solidFill>
                <a:latin typeface="Consolas"/>
              </a:rPr>
              <a:t> { </a:t>
            </a:r>
            <a:r>
              <a:rPr lang="en-US" sz="1600" dirty="0" err="1" smtClean="0">
                <a:solidFill>
                  <a:srgbClr val="9CDCFE"/>
                </a:solidFill>
                <a:latin typeface="Consolas"/>
              </a:rPr>
              <a:t>useState</a:t>
            </a:r>
            <a:r>
              <a:rPr lang="en-US" sz="1600" dirty="0" smtClean="0">
                <a:solidFill>
                  <a:srgbClr val="CCCCCC"/>
                </a:solidFill>
                <a:latin typeface="Consolas"/>
              </a:rPr>
              <a:t> } </a:t>
            </a:r>
            <a:r>
              <a:rPr lang="en-US" sz="1600" dirty="0" smtClean="0">
                <a:solidFill>
                  <a:srgbClr val="C586C0"/>
                </a:solidFill>
                <a:latin typeface="Consolas"/>
              </a:rPr>
              <a:t>from</a:t>
            </a:r>
            <a:r>
              <a:rPr lang="en-US" sz="1600" dirty="0" smtClean="0">
                <a:solidFill>
                  <a:srgbClr val="CCCCCC"/>
                </a:solidFill>
                <a:latin typeface="Consolas"/>
              </a:rPr>
              <a:t> </a:t>
            </a:r>
            <a:r>
              <a:rPr lang="en-US" sz="1600" dirty="0" smtClean="0">
                <a:solidFill>
                  <a:srgbClr val="CE9178"/>
                </a:solidFill>
                <a:latin typeface="Consolas"/>
              </a:rPr>
              <a:t>"react"</a:t>
            </a:r>
            <a:r>
              <a:rPr lang="en-US" sz="1600" dirty="0" smtClean="0">
                <a:solidFill>
                  <a:srgbClr val="CCCCCC"/>
                </a:solidFill>
                <a:latin typeface="Consolas"/>
              </a:rPr>
              <a:t>;</a:t>
            </a:r>
            <a:br>
              <a:rPr lang="en-US" sz="1600" dirty="0" smtClean="0">
                <a:solidFill>
                  <a:srgbClr val="CCCCCC"/>
                </a:solidFill>
                <a:latin typeface="Consolas"/>
              </a:rPr>
            </a:br>
            <a:r>
              <a:rPr lang="en-US" sz="1600" dirty="0" smtClean="0">
                <a:solidFill>
                  <a:srgbClr val="C586C0"/>
                </a:solidFill>
                <a:latin typeface="Consolas"/>
              </a:rPr>
              <a:t>export</a:t>
            </a:r>
            <a:r>
              <a:rPr lang="en-US" sz="1600" dirty="0" smtClean="0">
                <a:solidFill>
                  <a:srgbClr val="CCCCCC"/>
                </a:solidFill>
                <a:latin typeface="Consolas"/>
              </a:rPr>
              <a:t> </a:t>
            </a:r>
            <a:r>
              <a:rPr lang="en-US" sz="1600" dirty="0" smtClean="0">
                <a:solidFill>
                  <a:srgbClr val="C586C0"/>
                </a:solidFill>
                <a:latin typeface="Consolas"/>
              </a:rPr>
              <a:t>default</a:t>
            </a:r>
            <a:r>
              <a:rPr lang="en-US" sz="1600" dirty="0" smtClean="0">
                <a:solidFill>
                  <a:srgbClr val="CCCCCC"/>
                </a:solidFill>
                <a:latin typeface="Consolas"/>
              </a:rPr>
              <a:t> </a:t>
            </a:r>
            <a:r>
              <a:rPr lang="en-US" sz="1600" dirty="0" smtClean="0">
                <a:solidFill>
                  <a:srgbClr val="569CD6"/>
                </a:solidFill>
                <a:latin typeface="Consolas"/>
              </a:rPr>
              <a:t>function</a:t>
            </a:r>
            <a:r>
              <a:rPr lang="en-US" sz="1600" dirty="0" smtClean="0">
                <a:solidFill>
                  <a:srgbClr val="CCCCCC"/>
                </a:solidFill>
                <a:latin typeface="Consolas"/>
              </a:rPr>
              <a:t> </a:t>
            </a:r>
            <a:r>
              <a:rPr lang="en-US" sz="1600" dirty="0" smtClean="0">
                <a:solidFill>
                  <a:srgbClr val="DCDCAA"/>
                </a:solidFill>
                <a:latin typeface="Consolas"/>
              </a:rPr>
              <a:t>App</a:t>
            </a:r>
            <a:r>
              <a:rPr lang="en-US" sz="1600" dirty="0" smtClean="0">
                <a:solidFill>
                  <a:srgbClr val="CCCCCC"/>
                </a:solidFill>
                <a:latin typeface="Consolas"/>
              </a:rPr>
              <a:t>() {</a:t>
            </a:r>
          </a:p>
          <a:p>
            <a:r>
              <a:rPr lang="en-US" sz="1600" dirty="0" smtClean="0">
                <a:solidFill>
                  <a:srgbClr val="CCCCCC"/>
                </a:solidFill>
                <a:latin typeface="Consolas"/>
              </a:rPr>
              <a:t>  </a:t>
            </a:r>
            <a:r>
              <a:rPr lang="en-US" sz="1600" dirty="0" smtClean="0">
                <a:solidFill>
                  <a:srgbClr val="569CD6"/>
                </a:solidFill>
                <a:latin typeface="Consolas"/>
              </a:rPr>
              <a:t>const</a:t>
            </a:r>
            <a:r>
              <a:rPr lang="en-US" sz="1600" dirty="0" smtClean="0">
                <a:solidFill>
                  <a:srgbClr val="CCCCCC"/>
                </a:solidFill>
                <a:latin typeface="Consolas"/>
              </a:rPr>
              <a:t> [</a:t>
            </a:r>
            <a:r>
              <a:rPr lang="en-US" sz="1600" dirty="0" smtClean="0">
                <a:solidFill>
                  <a:srgbClr val="4FC1FF"/>
                </a:solidFill>
                <a:latin typeface="Consolas"/>
              </a:rPr>
              <a:t>greeting</a:t>
            </a:r>
            <a:r>
              <a:rPr lang="en-US" sz="1600" dirty="0" smtClean="0">
                <a:solidFill>
                  <a:srgbClr val="CCCCCC"/>
                </a:solidFill>
                <a:latin typeface="Consolas"/>
              </a:rPr>
              <a:t>, </a:t>
            </a:r>
            <a:r>
              <a:rPr lang="en-US" sz="1600" dirty="0" err="1" smtClean="0">
                <a:solidFill>
                  <a:srgbClr val="DCDCAA"/>
                </a:solidFill>
                <a:latin typeface="Consolas"/>
              </a:rPr>
              <a:t>setGreeting</a:t>
            </a:r>
            <a:r>
              <a:rPr lang="en-US" sz="1600" dirty="0" smtClean="0">
                <a:solidFill>
                  <a:srgbClr val="CCCCCC"/>
                </a:solidFill>
                <a:latin typeface="Consolas"/>
              </a:rPr>
              <a:t>] </a:t>
            </a:r>
            <a:r>
              <a:rPr lang="en-US" sz="1600" dirty="0" smtClean="0">
                <a:solidFill>
                  <a:srgbClr val="D4D4D4"/>
                </a:solidFill>
                <a:latin typeface="Consolas"/>
              </a:rPr>
              <a:t>=</a:t>
            </a:r>
            <a:r>
              <a:rPr lang="en-US" sz="1600" dirty="0" smtClean="0">
                <a:solidFill>
                  <a:srgbClr val="CCCCCC"/>
                </a:solidFill>
                <a:latin typeface="Consolas"/>
              </a:rPr>
              <a:t> </a:t>
            </a:r>
            <a:r>
              <a:rPr lang="en-US" sz="1600" dirty="0" err="1" smtClean="0">
                <a:solidFill>
                  <a:srgbClr val="DCDCAA"/>
                </a:solidFill>
                <a:latin typeface="Consolas"/>
              </a:rPr>
              <a:t>useState</a:t>
            </a:r>
            <a:r>
              <a:rPr lang="en-US" sz="1600" dirty="0" smtClean="0">
                <a:solidFill>
                  <a:srgbClr val="CCCCCC"/>
                </a:solidFill>
                <a:latin typeface="Consolas"/>
              </a:rPr>
              <a:t>({ </a:t>
            </a:r>
            <a:r>
              <a:rPr lang="en-US" sz="1600" dirty="0" smtClean="0">
                <a:solidFill>
                  <a:srgbClr val="9CDCFE"/>
                </a:solidFill>
                <a:latin typeface="Consolas"/>
              </a:rPr>
              <a:t>greet:</a:t>
            </a:r>
            <a:r>
              <a:rPr lang="en-US" sz="1600" dirty="0" smtClean="0">
                <a:solidFill>
                  <a:srgbClr val="CCCCCC"/>
                </a:solidFill>
                <a:latin typeface="Consolas"/>
              </a:rPr>
              <a:t> </a:t>
            </a:r>
            <a:r>
              <a:rPr lang="en-US" sz="1600" dirty="0" smtClean="0">
                <a:solidFill>
                  <a:srgbClr val="CE9178"/>
                </a:solidFill>
                <a:latin typeface="Consolas"/>
              </a:rPr>
              <a:t>"Hello, World"</a:t>
            </a:r>
            <a:r>
              <a:rPr lang="en-US" sz="1600" dirty="0" smtClean="0">
                <a:solidFill>
                  <a:srgbClr val="CCCCCC"/>
                </a:solidFill>
                <a:latin typeface="Consolas"/>
              </a:rPr>
              <a:t>, </a:t>
            </a:r>
            <a:r>
              <a:rPr lang="en-US" sz="1600" dirty="0" smtClean="0">
                <a:solidFill>
                  <a:srgbClr val="9CDCFE"/>
                </a:solidFill>
                <a:latin typeface="Consolas"/>
              </a:rPr>
              <a:t>counter:</a:t>
            </a:r>
            <a:r>
              <a:rPr lang="en-US" sz="1600" dirty="0" smtClean="0">
                <a:solidFill>
                  <a:srgbClr val="CCCCCC"/>
                </a:solidFill>
                <a:latin typeface="Consolas"/>
              </a:rPr>
              <a:t> </a:t>
            </a:r>
            <a:r>
              <a:rPr lang="en-US" sz="1600" dirty="0" smtClean="0">
                <a:solidFill>
                  <a:srgbClr val="B5CEA8"/>
                </a:solidFill>
                <a:latin typeface="Consolas"/>
              </a:rPr>
              <a:t>0</a:t>
            </a:r>
            <a:r>
              <a:rPr lang="en-US" sz="1600" dirty="0" smtClean="0">
                <a:solidFill>
                  <a:srgbClr val="CCCCCC"/>
                </a:solidFill>
                <a:latin typeface="Consolas"/>
              </a:rPr>
              <a:t> });</a:t>
            </a:r>
          </a:p>
          <a:p>
            <a:r>
              <a:rPr lang="en-US" sz="1600" dirty="0" smtClean="0">
                <a:solidFill>
                  <a:srgbClr val="CCCCCC"/>
                </a:solidFill>
                <a:latin typeface="Consolas"/>
              </a:rPr>
              <a:t/>
            </a:r>
            <a:br>
              <a:rPr lang="en-US" sz="1600" dirty="0" smtClean="0">
                <a:solidFill>
                  <a:srgbClr val="CCCCCC"/>
                </a:solidFill>
                <a:latin typeface="Consolas"/>
              </a:rPr>
            </a:br>
            <a:r>
              <a:rPr lang="en-US" sz="1600" dirty="0" smtClean="0">
                <a:solidFill>
                  <a:srgbClr val="CCCCCC"/>
                </a:solidFill>
                <a:latin typeface="Consolas"/>
              </a:rPr>
              <a:t>  </a:t>
            </a:r>
            <a:r>
              <a:rPr lang="en-US" sz="1600" dirty="0" smtClean="0">
                <a:solidFill>
                  <a:srgbClr val="569CD6"/>
                </a:solidFill>
                <a:latin typeface="Consolas"/>
              </a:rPr>
              <a:t>function</a:t>
            </a:r>
            <a:r>
              <a:rPr lang="en-US" sz="1600" dirty="0" smtClean="0">
                <a:solidFill>
                  <a:srgbClr val="CCCCCC"/>
                </a:solidFill>
                <a:latin typeface="Consolas"/>
              </a:rPr>
              <a:t> </a:t>
            </a:r>
            <a:r>
              <a:rPr lang="en-US" sz="1600" dirty="0" err="1" smtClean="0">
                <a:solidFill>
                  <a:srgbClr val="DCDCAA"/>
                </a:solidFill>
                <a:latin typeface="Consolas"/>
              </a:rPr>
              <a:t>updateGreeting</a:t>
            </a:r>
            <a:r>
              <a:rPr lang="en-US" sz="1600" dirty="0" smtClean="0">
                <a:solidFill>
                  <a:srgbClr val="CCCCCC"/>
                </a:solidFill>
                <a:latin typeface="Consolas"/>
              </a:rPr>
              <a:t>() {</a:t>
            </a:r>
          </a:p>
          <a:p>
            <a:r>
              <a:rPr lang="en-US" sz="1600" dirty="0" smtClean="0">
                <a:solidFill>
                  <a:srgbClr val="CCCCCC"/>
                </a:solidFill>
                <a:latin typeface="Consolas"/>
              </a:rPr>
              <a:t>    </a:t>
            </a:r>
            <a:r>
              <a:rPr lang="en-US" sz="1600" dirty="0" smtClean="0">
                <a:solidFill>
                  <a:srgbClr val="569CD6"/>
                </a:solidFill>
                <a:latin typeface="Consolas"/>
              </a:rPr>
              <a:t>const</a:t>
            </a:r>
            <a:r>
              <a:rPr lang="en-US" sz="1600" dirty="0" smtClean="0">
                <a:solidFill>
                  <a:srgbClr val="CCCCCC"/>
                </a:solidFill>
                <a:latin typeface="Consolas"/>
              </a:rPr>
              <a:t> </a:t>
            </a:r>
            <a:r>
              <a:rPr lang="en-US" sz="1600" dirty="0" err="1" smtClean="0">
                <a:solidFill>
                  <a:srgbClr val="4FC1FF"/>
                </a:solidFill>
                <a:latin typeface="Consolas"/>
              </a:rPr>
              <a:t>newGreeting</a:t>
            </a:r>
            <a:r>
              <a:rPr lang="en-US" sz="1600" dirty="0" smtClean="0">
                <a:solidFill>
                  <a:srgbClr val="CCCCCC"/>
                </a:solidFill>
                <a:latin typeface="Consolas"/>
              </a:rPr>
              <a:t> </a:t>
            </a:r>
            <a:r>
              <a:rPr lang="en-US" sz="1600" dirty="0" smtClean="0">
                <a:solidFill>
                  <a:srgbClr val="D4D4D4"/>
                </a:solidFill>
                <a:latin typeface="Consolas"/>
              </a:rPr>
              <a:t>=</a:t>
            </a:r>
            <a:r>
              <a:rPr lang="en-US" sz="1600" dirty="0" smtClean="0">
                <a:solidFill>
                  <a:srgbClr val="CCCCCC"/>
                </a:solidFill>
                <a:latin typeface="Consolas"/>
              </a:rPr>
              <a:t> { </a:t>
            </a:r>
            <a:r>
              <a:rPr lang="en-US" sz="1600" dirty="0" smtClean="0">
                <a:solidFill>
                  <a:srgbClr val="D4D4D4"/>
                </a:solidFill>
                <a:latin typeface="Consolas"/>
              </a:rPr>
              <a:t>...</a:t>
            </a:r>
            <a:r>
              <a:rPr lang="en-US" sz="1600" dirty="0" smtClean="0">
                <a:solidFill>
                  <a:srgbClr val="4FC1FF"/>
                </a:solidFill>
                <a:latin typeface="Consolas"/>
              </a:rPr>
              <a:t>greeting</a:t>
            </a:r>
            <a:r>
              <a:rPr lang="en-US" sz="1600" dirty="0" smtClean="0">
                <a:solidFill>
                  <a:srgbClr val="CCCCCC"/>
                </a:solidFill>
                <a:latin typeface="Consolas"/>
              </a:rPr>
              <a:t> };</a:t>
            </a:r>
          </a:p>
          <a:p>
            <a:r>
              <a:rPr lang="en-US" sz="1600" dirty="0" smtClean="0">
                <a:solidFill>
                  <a:srgbClr val="CCCCCC"/>
                </a:solidFill>
                <a:latin typeface="Consolas"/>
              </a:rPr>
              <a:t>    </a:t>
            </a:r>
            <a:r>
              <a:rPr lang="en-US" sz="1600" dirty="0" err="1" smtClean="0">
                <a:solidFill>
                  <a:srgbClr val="4FC1FF"/>
                </a:solidFill>
                <a:latin typeface="Consolas"/>
              </a:rPr>
              <a:t>newGreeting</a:t>
            </a:r>
            <a:r>
              <a:rPr lang="en-US" sz="1600" dirty="0" err="1" smtClean="0">
                <a:solidFill>
                  <a:srgbClr val="CCCCCC"/>
                </a:solidFill>
                <a:latin typeface="Consolas"/>
              </a:rPr>
              <a:t>.</a:t>
            </a:r>
            <a:r>
              <a:rPr lang="en-US" sz="1600" dirty="0" err="1" smtClean="0">
                <a:solidFill>
                  <a:srgbClr val="9CDCFE"/>
                </a:solidFill>
                <a:latin typeface="Consolas"/>
              </a:rPr>
              <a:t>counter</a:t>
            </a:r>
            <a:r>
              <a:rPr lang="en-US" sz="1600" dirty="0" smtClean="0">
                <a:solidFill>
                  <a:srgbClr val="D4D4D4"/>
                </a:solidFill>
                <a:latin typeface="Consolas"/>
              </a:rPr>
              <a:t>++</a:t>
            </a:r>
            <a:r>
              <a:rPr lang="en-US" sz="1600" dirty="0" smtClean="0">
                <a:solidFill>
                  <a:srgbClr val="CCCCCC"/>
                </a:solidFill>
                <a:latin typeface="Consolas"/>
              </a:rPr>
              <a:t>;</a:t>
            </a:r>
          </a:p>
          <a:p>
            <a:r>
              <a:rPr lang="en-US" sz="1600" dirty="0" smtClean="0">
                <a:solidFill>
                  <a:srgbClr val="CCCCCC"/>
                </a:solidFill>
                <a:latin typeface="Consolas"/>
              </a:rPr>
              <a:t>    </a:t>
            </a:r>
            <a:r>
              <a:rPr lang="en-US" sz="1600" dirty="0" err="1" smtClean="0">
                <a:solidFill>
                  <a:srgbClr val="4FC1FF"/>
                </a:solidFill>
                <a:latin typeface="Consolas"/>
              </a:rPr>
              <a:t>newGreeting</a:t>
            </a:r>
            <a:r>
              <a:rPr lang="en-US" sz="1600" dirty="0" err="1" smtClean="0">
                <a:solidFill>
                  <a:srgbClr val="CCCCCC"/>
                </a:solidFill>
                <a:latin typeface="Consolas"/>
              </a:rPr>
              <a:t>.</a:t>
            </a:r>
            <a:r>
              <a:rPr lang="en-US" sz="1600" dirty="0" err="1" smtClean="0">
                <a:solidFill>
                  <a:srgbClr val="9CDCFE"/>
                </a:solidFill>
                <a:latin typeface="Consolas"/>
              </a:rPr>
              <a:t>greet</a:t>
            </a:r>
            <a:r>
              <a:rPr lang="en-US" sz="1600" dirty="0" smtClean="0">
                <a:solidFill>
                  <a:srgbClr val="CCCCCC"/>
                </a:solidFill>
                <a:latin typeface="Consolas"/>
              </a:rPr>
              <a:t> </a:t>
            </a:r>
            <a:r>
              <a:rPr lang="en-US" sz="1600" dirty="0" smtClean="0">
                <a:solidFill>
                  <a:srgbClr val="D4D4D4"/>
                </a:solidFill>
                <a:latin typeface="Consolas"/>
              </a:rPr>
              <a:t>=</a:t>
            </a:r>
            <a:r>
              <a:rPr lang="en-US" sz="1600" dirty="0" smtClean="0">
                <a:solidFill>
                  <a:srgbClr val="CCCCCC"/>
                </a:solidFill>
                <a:latin typeface="Consolas"/>
              </a:rPr>
              <a:t> </a:t>
            </a:r>
            <a:r>
              <a:rPr lang="en-US" sz="1600" dirty="0" smtClean="0">
                <a:solidFill>
                  <a:srgbClr val="CE9178"/>
                </a:solidFill>
                <a:latin typeface="Consolas"/>
              </a:rPr>
              <a:t>"Hello, Bien"</a:t>
            </a:r>
            <a:r>
              <a:rPr lang="en-US" sz="1600" dirty="0" smtClean="0">
                <a:solidFill>
                  <a:srgbClr val="CCCCCC"/>
                </a:solidFill>
                <a:latin typeface="Consolas"/>
              </a:rPr>
              <a:t>;</a:t>
            </a:r>
          </a:p>
          <a:p>
            <a:r>
              <a:rPr lang="en-US" sz="1600" dirty="0" smtClean="0">
                <a:solidFill>
                  <a:srgbClr val="CCCCCC"/>
                </a:solidFill>
                <a:latin typeface="Consolas"/>
              </a:rPr>
              <a:t>    </a:t>
            </a:r>
            <a:r>
              <a:rPr lang="en-US" sz="1600" dirty="0" err="1" smtClean="0">
                <a:solidFill>
                  <a:srgbClr val="DCDCAA"/>
                </a:solidFill>
                <a:latin typeface="Consolas"/>
              </a:rPr>
              <a:t>setGreeting</a:t>
            </a:r>
            <a:r>
              <a:rPr lang="en-US" sz="1600" dirty="0" smtClean="0">
                <a:solidFill>
                  <a:srgbClr val="CCCCCC"/>
                </a:solidFill>
                <a:latin typeface="Consolas"/>
              </a:rPr>
              <a:t>(</a:t>
            </a:r>
            <a:r>
              <a:rPr lang="en-US" sz="1600" dirty="0" err="1" smtClean="0">
                <a:solidFill>
                  <a:srgbClr val="4FC1FF"/>
                </a:solidFill>
                <a:latin typeface="Consolas"/>
              </a:rPr>
              <a:t>newGreeting</a:t>
            </a:r>
            <a:r>
              <a:rPr lang="en-US" sz="1600" dirty="0" smtClean="0">
                <a:solidFill>
                  <a:srgbClr val="CCCCCC"/>
                </a:solidFill>
                <a:latin typeface="Consolas"/>
              </a:rPr>
              <a:t>);</a:t>
            </a:r>
          </a:p>
          <a:p>
            <a:r>
              <a:rPr lang="en-US" sz="1600" dirty="0" smtClean="0">
                <a:solidFill>
                  <a:srgbClr val="CCCCCC"/>
                </a:solidFill>
                <a:latin typeface="Consolas"/>
              </a:rPr>
              <a:t>  }</a:t>
            </a:r>
          </a:p>
          <a:p>
            <a:r>
              <a:rPr lang="en-US" sz="1600" dirty="0" smtClean="0">
                <a:solidFill>
                  <a:srgbClr val="CCCCCC"/>
                </a:solidFill>
                <a:latin typeface="Consolas"/>
              </a:rPr>
              <a:t/>
            </a:r>
            <a:br>
              <a:rPr lang="en-US" sz="1600" dirty="0" smtClean="0">
                <a:solidFill>
                  <a:srgbClr val="CCCCCC"/>
                </a:solidFill>
                <a:latin typeface="Consolas"/>
              </a:rPr>
            </a:br>
            <a:r>
              <a:rPr lang="en-US" sz="1600" dirty="0" smtClean="0">
                <a:solidFill>
                  <a:srgbClr val="CCCCCC"/>
                </a:solidFill>
                <a:latin typeface="Consolas"/>
              </a:rPr>
              <a:t>  </a:t>
            </a:r>
            <a:r>
              <a:rPr lang="en-US" sz="1600" dirty="0" smtClean="0">
                <a:solidFill>
                  <a:srgbClr val="C586C0"/>
                </a:solidFill>
                <a:latin typeface="Consolas"/>
              </a:rPr>
              <a:t>return</a:t>
            </a:r>
            <a:r>
              <a:rPr lang="en-US" sz="1600" dirty="0" smtClean="0">
                <a:solidFill>
                  <a:srgbClr val="CCCCCC"/>
                </a:solidFill>
                <a:latin typeface="Consolas"/>
              </a:rPr>
              <a:t> (</a:t>
            </a:r>
          </a:p>
          <a:p>
            <a:r>
              <a:rPr lang="en-US" sz="1600" dirty="0" smtClean="0">
                <a:solidFill>
                  <a:srgbClr val="CCCCCC"/>
                </a:solidFill>
                <a:latin typeface="Consolas"/>
              </a:rPr>
              <a:t>    </a:t>
            </a:r>
            <a:r>
              <a:rPr lang="en-US" sz="1600" dirty="0" smtClean="0">
                <a:solidFill>
                  <a:srgbClr val="808080"/>
                </a:solidFill>
                <a:latin typeface="Consolas"/>
              </a:rPr>
              <a:t>&lt;</a:t>
            </a:r>
            <a:r>
              <a:rPr lang="en-US" sz="1600" dirty="0" smtClean="0">
                <a:solidFill>
                  <a:srgbClr val="569CD6"/>
                </a:solidFill>
                <a:latin typeface="Consolas"/>
              </a:rPr>
              <a:t>div</a:t>
            </a:r>
            <a:r>
              <a:rPr lang="en-US" sz="1600" dirty="0" smtClean="0">
                <a:solidFill>
                  <a:srgbClr val="808080"/>
                </a:solidFill>
                <a:latin typeface="Consolas"/>
              </a:rPr>
              <a:t>&gt;</a:t>
            </a:r>
            <a:endParaRPr lang="en-US" sz="1600" dirty="0" smtClean="0">
              <a:solidFill>
                <a:srgbClr val="CCCCCC"/>
              </a:solidFill>
              <a:latin typeface="Consolas"/>
            </a:endParaRPr>
          </a:p>
          <a:p>
            <a:r>
              <a:rPr lang="en-US" sz="1600" dirty="0" smtClean="0">
                <a:solidFill>
                  <a:srgbClr val="CCCCCC"/>
                </a:solidFill>
                <a:latin typeface="Consolas"/>
              </a:rPr>
              <a:t>      </a:t>
            </a:r>
            <a:r>
              <a:rPr lang="en-US" sz="1600" dirty="0" smtClean="0">
                <a:solidFill>
                  <a:srgbClr val="808080"/>
                </a:solidFill>
                <a:latin typeface="Consolas"/>
              </a:rPr>
              <a:t>&lt;</a:t>
            </a:r>
            <a:r>
              <a:rPr lang="en-US" sz="1600" dirty="0" smtClean="0">
                <a:solidFill>
                  <a:srgbClr val="569CD6"/>
                </a:solidFill>
                <a:latin typeface="Consolas"/>
              </a:rPr>
              <a:t>h1</a:t>
            </a:r>
            <a:r>
              <a:rPr lang="en-US" sz="1600" dirty="0" smtClean="0">
                <a:solidFill>
                  <a:srgbClr val="808080"/>
                </a:solidFill>
                <a:latin typeface="Consolas"/>
              </a:rPr>
              <a:t>&gt;</a:t>
            </a:r>
            <a:r>
              <a:rPr lang="en-US" sz="1600" dirty="0" smtClean="0">
                <a:solidFill>
                  <a:srgbClr val="569CD6"/>
                </a:solidFill>
                <a:latin typeface="Consolas"/>
              </a:rPr>
              <a:t>{</a:t>
            </a:r>
            <a:r>
              <a:rPr lang="en-US" sz="1600" dirty="0" err="1" smtClean="0">
                <a:solidFill>
                  <a:srgbClr val="4FC1FF"/>
                </a:solidFill>
                <a:latin typeface="Consolas"/>
              </a:rPr>
              <a:t>greeting</a:t>
            </a:r>
            <a:r>
              <a:rPr lang="en-US" sz="1600" dirty="0" err="1" smtClean="0">
                <a:solidFill>
                  <a:srgbClr val="D4D4D4"/>
                </a:solidFill>
                <a:latin typeface="Consolas"/>
              </a:rPr>
              <a:t>.</a:t>
            </a:r>
            <a:r>
              <a:rPr lang="en-US" sz="1600" dirty="0" err="1" smtClean="0">
                <a:solidFill>
                  <a:srgbClr val="9CDCFE"/>
                </a:solidFill>
                <a:latin typeface="Consolas"/>
              </a:rPr>
              <a:t>greet</a:t>
            </a:r>
            <a:r>
              <a:rPr lang="en-US" sz="1600" dirty="0" smtClean="0">
                <a:solidFill>
                  <a:srgbClr val="569CD6"/>
                </a:solidFill>
                <a:latin typeface="Consolas"/>
              </a:rPr>
              <a:t>}</a:t>
            </a:r>
            <a:r>
              <a:rPr lang="en-US" sz="1600" dirty="0" smtClean="0">
                <a:solidFill>
                  <a:srgbClr val="CCCCCC"/>
                </a:solidFill>
                <a:latin typeface="Consolas"/>
              </a:rPr>
              <a:t>: </a:t>
            </a:r>
            <a:r>
              <a:rPr lang="en-US" sz="1600" dirty="0" smtClean="0">
                <a:solidFill>
                  <a:srgbClr val="569CD6"/>
                </a:solidFill>
                <a:latin typeface="Consolas"/>
              </a:rPr>
              <a:t>{</a:t>
            </a:r>
            <a:r>
              <a:rPr lang="en-US" sz="1600" dirty="0" err="1" smtClean="0">
                <a:solidFill>
                  <a:srgbClr val="4FC1FF"/>
                </a:solidFill>
                <a:latin typeface="Consolas"/>
              </a:rPr>
              <a:t>greeting</a:t>
            </a:r>
            <a:r>
              <a:rPr lang="en-US" sz="1600" dirty="0" err="1" smtClean="0">
                <a:solidFill>
                  <a:srgbClr val="D4D4D4"/>
                </a:solidFill>
                <a:latin typeface="Consolas"/>
              </a:rPr>
              <a:t>.</a:t>
            </a:r>
            <a:r>
              <a:rPr lang="en-US" sz="1600" dirty="0" err="1" smtClean="0">
                <a:solidFill>
                  <a:srgbClr val="9CDCFE"/>
                </a:solidFill>
                <a:latin typeface="Consolas"/>
              </a:rPr>
              <a:t>counter</a:t>
            </a:r>
            <a:r>
              <a:rPr lang="en-US" sz="1600" dirty="0" smtClean="0">
                <a:solidFill>
                  <a:srgbClr val="569CD6"/>
                </a:solidFill>
                <a:latin typeface="Consolas"/>
              </a:rPr>
              <a:t>}</a:t>
            </a:r>
            <a:r>
              <a:rPr lang="en-US" sz="1600" dirty="0" smtClean="0">
                <a:solidFill>
                  <a:srgbClr val="808080"/>
                </a:solidFill>
                <a:latin typeface="Consolas"/>
              </a:rPr>
              <a:t>&lt;/</a:t>
            </a:r>
            <a:r>
              <a:rPr lang="en-US" sz="1600" dirty="0" smtClean="0">
                <a:solidFill>
                  <a:srgbClr val="569CD6"/>
                </a:solidFill>
                <a:latin typeface="Consolas"/>
              </a:rPr>
              <a:t>h1</a:t>
            </a:r>
            <a:r>
              <a:rPr lang="en-US" sz="1600" dirty="0" smtClean="0">
                <a:solidFill>
                  <a:srgbClr val="808080"/>
                </a:solidFill>
                <a:latin typeface="Consolas"/>
              </a:rPr>
              <a:t>&gt;</a:t>
            </a:r>
            <a:endParaRPr lang="en-US" sz="1600" dirty="0" smtClean="0">
              <a:solidFill>
                <a:srgbClr val="CCCCCC"/>
              </a:solidFill>
              <a:latin typeface="Consolas"/>
            </a:endParaRPr>
          </a:p>
          <a:p>
            <a:r>
              <a:rPr lang="en-US" sz="1600" dirty="0" smtClean="0">
                <a:solidFill>
                  <a:srgbClr val="CCCCCC"/>
                </a:solidFill>
                <a:latin typeface="Consolas"/>
              </a:rPr>
              <a:t>      </a:t>
            </a:r>
            <a:r>
              <a:rPr lang="en-US" sz="1600" dirty="0" smtClean="0">
                <a:solidFill>
                  <a:srgbClr val="808080"/>
                </a:solidFill>
                <a:latin typeface="Consolas"/>
              </a:rPr>
              <a:t>&lt;</a:t>
            </a:r>
            <a:r>
              <a:rPr lang="en-US" sz="1600" dirty="0" smtClean="0">
                <a:solidFill>
                  <a:srgbClr val="569CD6"/>
                </a:solidFill>
                <a:latin typeface="Consolas"/>
              </a:rPr>
              <a:t>button</a:t>
            </a:r>
            <a:r>
              <a:rPr lang="en-US" sz="1600" dirty="0" smtClean="0">
                <a:solidFill>
                  <a:srgbClr val="CCCCCC"/>
                </a:solidFill>
                <a:latin typeface="Consolas"/>
              </a:rPr>
              <a:t> </a:t>
            </a:r>
            <a:r>
              <a:rPr lang="en-US" sz="1600" dirty="0" err="1" smtClean="0">
                <a:solidFill>
                  <a:srgbClr val="9CDCFE"/>
                </a:solidFill>
                <a:latin typeface="Consolas"/>
              </a:rPr>
              <a:t>onClick</a:t>
            </a:r>
            <a:r>
              <a:rPr lang="en-US" sz="1600" dirty="0" smtClean="0">
                <a:solidFill>
                  <a:srgbClr val="D4D4D4"/>
                </a:solidFill>
                <a:latin typeface="Consolas"/>
              </a:rPr>
              <a:t>=</a:t>
            </a:r>
            <a:r>
              <a:rPr lang="en-US" sz="1600" dirty="0" smtClean="0">
                <a:solidFill>
                  <a:srgbClr val="569CD6"/>
                </a:solidFill>
                <a:latin typeface="Consolas"/>
              </a:rPr>
              <a:t>{</a:t>
            </a:r>
            <a:r>
              <a:rPr lang="en-US" sz="1600" dirty="0" err="1" smtClean="0">
                <a:solidFill>
                  <a:srgbClr val="DCDCAA"/>
                </a:solidFill>
                <a:latin typeface="Consolas"/>
              </a:rPr>
              <a:t>updateGreeting</a:t>
            </a:r>
            <a:r>
              <a:rPr lang="en-US" sz="1600" dirty="0" smtClean="0">
                <a:solidFill>
                  <a:srgbClr val="569CD6"/>
                </a:solidFill>
                <a:latin typeface="Consolas"/>
              </a:rPr>
              <a:t>}</a:t>
            </a:r>
            <a:r>
              <a:rPr lang="en-US" sz="1600" dirty="0" smtClean="0">
                <a:solidFill>
                  <a:srgbClr val="808080"/>
                </a:solidFill>
                <a:latin typeface="Consolas"/>
              </a:rPr>
              <a:t>&gt;</a:t>
            </a:r>
            <a:r>
              <a:rPr lang="en-US" sz="1600" dirty="0" smtClean="0">
                <a:solidFill>
                  <a:srgbClr val="CCCCCC"/>
                </a:solidFill>
                <a:latin typeface="Consolas"/>
              </a:rPr>
              <a:t>Update greeting</a:t>
            </a:r>
            <a:r>
              <a:rPr lang="en-US" sz="1600" dirty="0" smtClean="0">
                <a:solidFill>
                  <a:srgbClr val="808080"/>
                </a:solidFill>
                <a:latin typeface="Consolas"/>
              </a:rPr>
              <a:t>&lt;/</a:t>
            </a:r>
            <a:r>
              <a:rPr lang="en-US" sz="1600" dirty="0" smtClean="0">
                <a:solidFill>
                  <a:srgbClr val="569CD6"/>
                </a:solidFill>
                <a:latin typeface="Consolas"/>
              </a:rPr>
              <a:t>button</a:t>
            </a:r>
            <a:r>
              <a:rPr lang="en-US" sz="1600" dirty="0" smtClean="0">
                <a:solidFill>
                  <a:srgbClr val="808080"/>
                </a:solidFill>
                <a:latin typeface="Consolas"/>
              </a:rPr>
              <a:t>&gt;</a:t>
            </a:r>
            <a:endParaRPr lang="en-US" sz="1600" dirty="0" smtClean="0">
              <a:solidFill>
                <a:srgbClr val="CCCCCC"/>
              </a:solidFill>
              <a:latin typeface="Consolas"/>
            </a:endParaRPr>
          </a:p>
          <a:p>
            <a:r>
              <a:rPr lang="en-US" sz="1600" dirty="0" smtClean="0">
                <a:solidFill>
                  <a:srgbClr val="CCCCCC"/>
                </a:solidFill>
                <a:latin typeface="Consolas"/>
              </a:rPr>
              <a:t>    </a:t>
            </a:r>
            <a:r>
              <a:rPr lang="en-US" sz="1600" dirty="0" smtClean="0">
                <a:solidFill>
                  <a:srgbClr val="808080"/>
                </a:solidFill>
                <a:latin typeface="Consolas"/>
              </a:rPr>
              <a:t>&lt;/</a:t>
            </a:r>
            <a:r>
              <a:rPr lang="en-US" sz="1600" dirty="0" smtClean="0">
                <a:solidFill>
                  <a:srgbClr val="569CD6"/>
                </a:solidFill>
                <a:latin typeface="Consolas"/>
              </a:rPr>
              <a:t>div</a:t>
            </a:r>
            <a:r>
              <a:rPr lang="en-US" sz="1600" dirty="0" smtClean="0">
                <a:solidFill>
                  <a:srgbClr val="808080"/>
                </a:solidFill>
                <a:latin typeface="Consolas"/>
              </a:rPr>
              <a:t>&gt;</a:t>
            </a:r>
            <a:endParaRPr lang="en-US" sz="1600" dirty="0" smtClean="0">
              <a:solidFill>
                <a:srgbClr val="CCCCCC"/>
              </a:solidFill>
              <a:latin typeface="Consolas"/>
            </a:endParaRPr>
          </a:p>
          <a:p>
            <a:r>
              <a:rPr lang="en-US" sz="1600" dirty="0" smtClean="0">
                <a:solidFill>
                  <a:srgbClr val="CCCCCC"/>
                </a:solidFill>
                <a:latin typeface="Consolas"/>
              </a:rPr>
              <a:t>  );</a:t>
            </a:r>
          </a:p>
          <a:p>
            <a:r>
              <a:rPr lang="en-US" sz="1600" dirty="0" smtClean="0">
                <a:solidFill>
                  <a:srgbClr val="CCCCCC"/>
                </a:solidFill>
                <a:latin typeface="Consolas"/>
              </a:rPr>
              <a:t>} </a:t>
            </a:r>
            <a:endParaRPr lang="en-US" sz="1600" b="0" dirty="0">
              <a:solidFill>
                <a:srgbClr val="CCCCCC"/>
              </a:solidFill>
              <a:latin typeface="Consola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 Use Case</a:t>
            </a:r>
            <a:endParaRPr lang="en-US" dirty="0"/>
          </a:p>
        </p:txBody>
      </p:sp>
      <p:sp>
        <p:nvSpPr>
          <p:cNvPr id="4" name="Rectangle 3"/>
          <p:cNvSpPr/>
          <p:nvPr/>
        </p:nvSpPr>
        <p:spPr>
          <a:xfrm>
            <a:off x="533400" y="1371600"/>
            <a:ext cx="8153400" cy="5324535"/>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400" b="1" dirty="0" smtClean="0">
                <a:solidFill>
                  <a:srgbClr val="C00000"/>
                </a:solidFill>
                <a:latin typeface="Consolas" pitchFamily="49" charset="0"/>
              </a:rPr>
              <a:t>...</a:t>
            </a:r>
          </a:p>
          <a:p>
            <a:r>
              <a:rPr lang="en-US" sz="1400" dirty="0" smtClean="0">
                <a:latin typeface="Consolas" pitchFamily="49" charset="0"/>
              </a:rPr>
              <a:t>class Counter extends </a:t>
            </a:r>
            <a:r>
              <a:rPr lang="en-US" sz="1400" dirty="0" err="1" smtClean="0">
                <a:latin typeface="Consolas" pitchFamily="49" charset="0"/>
              </a:rPr>
              <a:t>React.Component</a:t>
            </a:r>
            <a:r>
              <a:rPr lang="en-US" sz="1400" dirty="0" smtClean="0">
                <a:latin typeface="Consolas" pitchFamily="49" charset="0"/>
              </a:rPr>
              <a:t> {</a:t>
            </a:r>
          </a:p>
          <a:p>
            <a:r>
              <a:rPr lang="en-US" sz="1400" b="1" dirty="0" smtClean="0">
                <a:solidFill>
                  <a:srgbClr val="C00000"/>
                </a:solidFill>
                <a:latin typeface="Consolas" pitchFamily="49" charset="0"/>
              </a:rPr>
              <a:t>...</a:t>
            </a:r>
          </a:p>
          <a:p>
            <a:r>
              <a:rPr lang="en-US" sz="1400" dirty="0" smtClean="0">
                <a:latin typeface="Consolas" pitchFamily="49" charset="0"/>
              </a:rPr>
              <a:t>                return (</a:t>
            </a:r>
          </a:p>
          <a:p>
            <a:r>
              <a:rPr lang="en-US" sz="1400" dirty="0" smtClean="0">
                <a:latin typeface="Consolas" pitchFamily="49" charset="0"/>
              </a:rPr>
              <a:t>                    &lt;div style={</a:t>
            </a:r>
            <a:r>
              <a:rPr lang="en-US" sz="1400" dirty="0" err="1" smtClean="0">
                <a:latin typeface="Consolas" pitchFamily="49" charset="0"/>
              </a:rPr>
              <a:t>textStyle</a:t>
            </a:r>
            <a:r>
              <a:rPr lang="en-US" sz="1400" dirty="0" smtClean="0">
                <a:latin typeface="Consolas" pitchFamily="49" charset="0"/>
              </a:rPr>
              <a:t>}&gt;</a:t>
            </a:r>
          </a:p>
          <a:p>
            <a:r>
              <a:rPr lang="en-US" sz="1400" dirty="0" smtClean="0">
                <a:latin typeface="Consolas" pitchFamily="49" charset="0"/>
              </a:rPr>
              <a:t>                        {</a:t>
            </a:r>
            <a:r>
              <a:rPr lang="en-US" sz="1400" dirty="0" err="1" smtClean="0">
                <a:latin typeface="Consolas" pitchFamily="49" charset="0"/>
              </a:rPr>
              <a:t>this.props.display</a:t>
            </a:r>
            <a:r>
              <a:rPr lang="en-US" sz="1400" dirty="0" smtClean="0">
                <a:latin typeface="Consolas" pitchFamily="49" charset="0"/>
              </a:rPr>
              <a:t>}</a:t>
            </a:r>
          </a:p>
          <a:p>
            <a:r>
              <a:rPr lang="en-US" sz="1400" dirty="0" smtClean="0">
                <a:latin typeface="Consolas" pitchFamily="49" charset="0"/>
              </a:rPr>
              <a:t>                    &lt;/div&gt;</a:t>
            </a:r>
          </a:p>
          <a:p>
            <a:r>
              <a:rPr lang="en-US" sz="1400" dirty="0" smtClean="0">
                <a:latin typeface="Consolas" pitchFamily="49" charset="0"/>
              </a:rPr>
              <a:t>                );</a:t>
            </a:r>
          </a:p>
          <a:p>
            <a:r>
              <a:rPr lang="en-US" sz="1400" b="1" dirty="0" smtClean="0">
                <a:solidFill>
                  <a:srgbClr val="C00000"/>
                </a:solidFill>
                <a:latin typeface="Consolas" pitchFamily="49" charset="0"/>
              </a:rPr>
              <a:t>...</a:t>
            </a:r>
          </a:p>
          <a:p>
            <a:endParaRPr lang="en-US" sz="1400" dirty="0" smtClean="0">
              <a:latin typeface="Consolas" pitchFamily="49" charset="0"/>
            </a:endParaRPr>
          </a:p>
          <a:p>
            <a:r>
              <a:rPr lang="en-US" sz="1400" dirty="0" smtClean="0">
                <a:latin typeface="Consolas" pitchFamily="49" charset="0"/>
              </a:rPr>
              <a:t>class </a:t>
            </a:r>
            <a:r>
              <a:rPr lang="en-US" sz="1400" dirty="0" err="1" smtClean="0">
                <a:latin typeface="Consolas" pitchFamily="49" charset="0"/>
              </a:rPr>
              <a:t>CounterParent</a:t>
            </a:r>
            <a:r>
              <a:rPr lang="en-US" sz="1400" dirty="0" smtClean="0">
                <a:latin typeface="Consolas" pitchFamily="49" charset="0"/>
              </a:rPr>
              <a:t> extends </a:t>
            </a:r>
            <a:r>
              <a:rPr lang="en-US" sz="1400" dirty="0" err="1" smtClean="0">
                <a:latin typeface="Consolas" pitchFamily="49" charset="0"/>
              </a:rPr>
              <a:t>React.Component</a:t>
            </a:r>
            <a:r>
              <a:rPr lang="en-US" sz="1400" dirty="0" smtClean="0">
                <a:latin typeface="Consolas" pitchFamily="49" charset="0"/>
              </a:rPr>
              <a:t> {</a:t>
            </a:r>
          </a:p>
          <a:p>
            <a:r>
              <a:rPr lang="en-US" sz="1400" dirty="0" smtClean="0">
                <a:latin typeface="Consolas" pitchFamily="49" charset="0"/>
              </a:rPr>
              <a:t>            </a:t>
            </a:r>
            <a:r>
              <a:rPr lang="en-US" sz="1400" dirty="0" err="1" smtClean="0">
                <a:latin typeface="Consolas" pitchFamily="49" charset="0"/>
              </a:rPr>
              <a:t>getInitialState</a:t>
            </a:r>
            <a:r>
              <a:rPr lang="en-US" sz="1400" dirty="0" smtClean="0">
                <a:latin typeface="Consolas" pitchFamily="49" charset="0"/>
              </a:rPr>
              <a:t>: function() {</a:t>
            </a:r>
          </a:p>
          <a:p>
            <a:r>
              <a:rPr lang="en-US" sz="1400" dirty="0" smtClean="0">
                <a:latin typeface="Consolas" pitchFamily="49" charset="0"/>
              </a:rPr>
              <a:t>                return {</a:t>
            </a:r>
          </a:p>
          <a:p>
            <a:r>
              <a:rPr lang="en-US" sz="1400" dirty="0" smtClean="0">
                <a:latin typeface="Consolas" pitchFamily="49" charset="0"/>
              </a:rPr>
              <a:t>                    count: 0</a:t>
            </a:r>
          </a:p>
          <a:p>
            <a:r>
              <a:rPr lang="en-US" sz="1400" dirty="0" smtClean="0">
                <a:latin typeface="Consolas" pitchFamily="49" charset="0"/>
              </a:rPr>
              <a:t>                };</a:t>
            </a:r>
          </a:p>
          <a:p>
            <a:r>
              <a:rPr lang="en-US" sz="1400" dirty="0" smtClean="0">
                <a:latin typeface="Consolas" pitchFamily="49" charset="0"/>
              </a:rPr>
              <a:t>            },</a:t>
            </a:r>
          </a:p>
          <a:p>
            <a:r>
              <a:rPr lang="en-US" sz="1400" b="1" dirty="0" smtClean="0">
                <a:solidFill>
                  <a:srgbClr val="C00000"/>
                </a:solidFill>
                <a:latin typeface="Consolas" pitchFamily="49" charset="0"/>
              </a:rPr>
              <a:t>...</a:t>
            </a:r>
          </a:p>
          <a:p>
            <a:endParaRPr lang="en-US" sz="1400" dirty="0" smtClean="0">
              <a:latin typeface="Consolas" pitchFamily="49" charset="0"/>
            </a:endParaRPr>
          </a:p>
          <a:p>
            <a:r>
              <a:rPr lang="en-US" sz="1400" dirty="0" smtClean="0">
                <a:latin typeface="Consolas" pitchFamily="49" charset="0"/>
              </a:rPr>
              <a:t>                return (</a:t>
            </a:r>
          </a:p>
          <a:p>
            <a:r>
              <a:rPr lang="en-US" sz="1400" dirty="0" smtClean="0">
                <a:latin typeface="Consolas" pitchFamily="49" charset="0"/>
              </a:rPr>
              <a:t>                    &lt;div style={</a:t>
            </a:r>
            <a:r>
              <a:rPr lang="en-US" sz="1400" dirty="0" err="1" smtClean="0">
                <a:latin typeface="Consolas" pitchFamily="49" charset="0"/>
              </a:rPr>
              <a:t>backgroundStyle</a:t>
            </a:r>
            <a:r>
              <a:rPr lang="en-US" sz="1400" dirty="0" smtClean="0">
                <a:latin typeface="Consolas" pitchFamily="49" charset="0"/>
              </a:rPr>
              <a:t>}&gt;</a:t>
            </a:r>
          </a:p>
          <a:p>
            <a:r>
              <a:rPr lang="en-US" sz="1400" dirty="0" smtClean="0">
                <a:latin typeface="Consolas" pitchFamily="49" charset="0"/>
              </a:rPr>
              <a:t>                        &lt;Counter display={</a:t>
            </a:r>
            <a:r>
              <a:rPr lang="en-US" sz="1400" dirty="0" err="1" smtClean="0">
                <a:latin typeface="Consolas" pitchFamily="49" charset="0"/>
              </a:rPr>
              <a:t>this.state.count</a:t>
            </a:r>
            <a:r>
              <a:rPr lang="en-US" sz="1400" dirty="0" smtClean="0">
                <a:latin typeface="Consolas" pitchFamily="49" charset="0"/>
              </a:rPr>
              <a:t>} /&gt;</a:t>
            </a:r>
          </a:p>
          <a:p>
            <a:r>
              <a:rPr lang="en-US" sz="1400" dirty="0" smtClean="0">
                <a:latin typeface="Consolas" pitchFamily="49" charset="0"/>
              </a:rPr>
              <a:t>                        &lt;button style={</a:t>
            </a:r>
            <a:r>
              <a:rPr lang="en-US" sz="1400" dirty="0" err="1" smtClean="0">
                <a:latin typeface="Consolas" pitchFamily="49" charset="0"/>
              </a:rPr>
              <a:t>buttonStyle</a:t>
            </a:r>
            <a:r>
              <a:rPr lang="en-US" sz="1400" dirty="0" smtClean="0">
                <a:latin typeface="Consolas" pitchFamily="49" charset="0"/>
              </a:rPr>
              <a:t>}&gt;+&lt;/button&gt;</a:t>
            </a:r>
          </a:p>
          <a:p>
            <a:r>
              <a:rPr lang="en-US" sz="1400" dirty="0" smtClean="0">
                <a:latin typeface="Consolas" pitchFamily="49" charset="0"/>
              </a:rPr>
              <a:t>                    &lt;/div&gt;</a:t>
            </a:r>
          </a:p>
          <a:p>
            <a:r>
              <a:rPr lang="en-US" sz="1400" b="1" dirty="0" smtClean="0">
                <a:solidFill>
                  <a:srgbClr val="C00000"/>
                </a:solidFill>
                <a:latin typeface="Consolas" pitchFamily="49" charset="0"/>
              </a:rPr>
              <a:t>...</a:t>
            </a:r>
          </a:p>
        </p:txBody>
      </p:sp>
      <p:pic>
        <p:nvPicPr>
          <p:cNvPr id="1026" name="Picture 2"/>
          <p:cNvPicPr>
            <a:picLocks noChangeAspect="1" noChangeArrowheads="1"/>
          </p:cNvPicPr>
          <p:nvPr/>
        </p:nvPicPr>
        <p:blipFill>
          <a:blip r:embed="rId2" cstate="print"/>
          <a:srcRect/>
          <a:stretch>
            <a:fillRect/>
          </a:stretch>
        </p:blipFill>
        <p:spPr bwMode="auto">
          <a:xfrm>
            <a:off x="5181600" y="1600200"/>
            <a:ext cx="3406775" cy="1974850"/>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HTML Control Event</a:t>
            </a:r>
            <a:endParaRPr lang="en-US" dirty="0"/>
          </a:p>
        </p:txBody>
      </p:sp>
      <p:sp>
        <p:nvSpPr>
          <p:cNvPr id="4" name="Rectangle 3"/>
          <p:cNvSpPr/>
          <p:nvPr/>
        </p:nvSpPr>
        <p:spPr>
          <a:xfrm>
            <a:off x="533400" y="1371600"/>
            <a:ext cx="8153400" cy="5047536"/>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400" b="1" dirty="0" smtClean="0">
                <a:solidFill>
                  <a:srgbClr val="C00000"/>
                </a:solidFill>
                <a:latin typeface="Consolas" pitchFamily="49" charset="0"/>
              </a:rPr>
              <a:t>...</a:t>
            </a:r>
          </a:p>
          <a:p>
            <a:endParaRPr lang="en-US" sz="1400" dirty="0" smtClean="0">
              <a:latin typeface="Consolas" pitchFamily="49" charset="0"/>
            </a:endParaRPr>
          </a:p>
          <a:p>
            <a:r>
              <a:rPr lang="en-US" sz="1400" dirty="0" smtClean="0">
                <a:latin typeface="Consolas" pitchFamily="49" charset="0"/>
              </a:rPr>
              <a:t> class </a:t>
            </a:r>
            <a:r>
              <a:rPr lang="en-US" sz="1400" dirty="0" err="1" smtClean="0">
                <a:latin typeface="Consolas" pitchFamily="49" charset="0"/>
              </a:rPr>
              <a:t>CounterParent</a:t>
            </a:r>
            <a:r>
              <a:rPr lang="en-US" sz="1400" dirty="0" smtClean="0">
                <a:latin typeface="Consolas" pitchFamily="49" charset="0"/>
              </a:rPr>
              <a:t> extends </a:t>
            </a:r>
            <a:r>
              <a:rPr lang="en-US" sz="1400" dirty="0" err="1" smtClean="0">
                <a:latin typeface="Consolas" pitchFamily="49" charset="0"/>
              </a:rPr>
              <a:t>React.Component</a:t>
            </a:r>
            <a:r>
              <a:rPr lang="en-US" sz="1400" dirty="0" smtClean="0">
                <a:latin typeface="Consolas" pitchFamily="49" charset="0"/>
              </a:rPr>
              <a:t> {</a:t>
            </a:r>
          </a:p>
          <a:p>
            <a:r>
              <a:rPr lang="en-US" sz="1400" dirty="0" smtClean="0">
                <a:latin typeface="Consolas" pitchFamily="49" charset="0"/>
              </a:rPr>
              <a:t>            constructor(props) {</a:t>
            </a:r>
          </a:p>
          <a:p>
            <a:r>
              <a:rPr lang="en-US" sz="1400" dirty="0" smtClean="0">
                <a:latin typeface="Consolas" pitchFamily="49" charset="0"/>
              </a:rPr>
              <a:t>                super(props);</a:t>
            </a:r>
          </a:p>
          <a:p>
            <a:r>
              <a:rPr lang="en-US" sz="1400" dirty="0" smtClean="0">
                <a:latin typeface="Consolas" pitchFamily="49" charset="0"/>
              </a:rPr>
              <a:t>                </a:t>
            </a:r>
            <a:r>
              <a:rPr lang="en-US" sz="1400" dirty="0" err="1" smtClean="0">
                <a:latin typeface="Consolas" pitchFamily="49" charset="0"/>
              </a:rPr>
              <a:t>this.state</a:t>
            </a:r>
            <a:r>
              <a:rPr lang="en-US" sz="1400" dirty="0" smtClean="0">
                <a:latin typeface="Consolas" pitchFamily="49" charset="0"/>
              </a:rPr>
              <a:t> = {</a:t>
            </a:r>
          </a:p>
          <a:p>
            <a:r>
              <a:rPr lang="en-US" sz="1400" dirty="0" smtClean="0">
                <a:latin typeface="Consolas" pitchFamily="49" charset="0"/>
              </a:rPr>
              <a:t>                    count: 0</a:t>
            </a:r>
          </a:p>
          <a:p>
            <a:r>
              <a:rPr lang="en-US" sz="1400" dirty="0" smtClean="0">
                <a:latin typeface="Consolas" pitchFamily="49" charset="0"/>
              </a:rPr>
              <a:t>                };</a:t>
            </a:r>
          </a:p>
          <a:p>
            <a:endParaRPr lang="en-US" sz="1400" dirty="0" smtClean="0">
              <a:latin typeface="Consolas" pitchFamily="49" charset="0"/>
            </a:endParaRPr>
          </a:p>
          <a:p>
            <a:r>
              <a:rPr lang="en-US" sz="1400" dirty="0" smtClean="0">
                <a:latin typeface="Consolas" pitchFamily="49" charset="0"/>
              </a:rPr>
              <a:t>                </a:t>
            </a:r>
            <a:r>
              <a:rPr lang="en-US" sz="1400" dirty="0" err="1" smtClean="0">
                <a:latin typeface="Consolas" pitchFamily="49" charset="0"/>
              </a:rPr>
              <a:t>this.increase</a:t>
            </a:r>
            <a:r>
              <a:rPr lang="en-US" sz="1400" dirty="0" smtClean="0">
                <a:latin typeface="Consolas" pitchFamily="49" charset="0"/>
              </a:rPr>
              <a:t> = </a:t>
            </a:r>
            <a:r>
              <a:rPr lang="en-US" sz="1400" dirty="0" err="1" smtClean="0">
                <a:latin typeface="Consolas" pitchFamily="49" charset="0"/>
              </a:rPr>
              <a:t>this.increase.bind</a:t>
            </a:r>
            <a:r>
              <a:rPr lang="en-US" sz="1400" dirty="0" smtClean="0">
                <a:latin typeface="Consolas" pitchFamily="49" charset="0"/>
              </a:rPr>
              <a:t>(this);</a:t>
            </a:r>
          </a:p>
          <a:p>
            <a:r>
              <a:rPr lang="en-US" sz="1400" dirty="0" smtClean="0">
                <a:latin typeface="Consolas" pitchFamily="49" charset="0"/>
              </a:rPr>
              <a:t>            }</a:t>
            </a:r>
          </a:p>
          <a:p>
            <a:endParaRPr lang="en-US" sz="1400" dirty="0" smtClean="0">
              <a:latin typeface="Consolas" pitchFamily="49" charset="0"/>
            </a:endParaRPr>
          </a:p>
          <a:p>
            <a:r>
              <a:rPr lang="en-US" sz="1400" dirty="0" smtClean="0">
                <a:latin typeface="Consolas" pitchFamily="49" charset="0"/>
              </a:rPr>
              <a:t>            increase(e) {</a:t>
            </a:r>
          </a:p>
          <a:p>
            <a:r>
              <a:rPr lang="en-US" sz="1400" dirty="0" smtClean="0">
                <a:latin typeface="Consolas" pitchFamily="49" charset="0"/>
              </a:rPr>
              <a:t>                </a:t>
            </a:r>
            <a:r>
              <a:rPr lang="en-US" sz="1400" dirty="0" err="1" smtClean="0">
                <a:latin typeface="Consolas" pitchFamily="49" charset="0"/>
              </a:rPr>
              <a:t>this.setState</a:t>
            </a:r>
            <a:r>
              <a:rPr lang="en-US" sz="1400" dirty="0" smtClean="0">
                <a:latin typeface="Consolas" pitchFamily="49" charset="0"/>
              </a:rPr>
              <a:t>({</a:t>
            </a:r>
          </a:p>
          <a:p>
            <a:r>
              <a:rPr lang="en-US" sz="1400" dirty="0" smtClean="0">
                <a:latin typeface="Consolas" pitchFamily="49" charset="0"/>
              </a:rPr>
              <a:t>                    count: </a:t>
            </a:r>
            <a:r>
              <a:rPr lang="en-US" sz="1400" dirty="0" err="1" smtClean="0">
                <a:latin typeface="Consolas" pitchFamily="49" charset="0"/>
              </a:rPr>
              <a:t>this.state.count</a:t>
            </a:r>
            <a:r>
              <a:rPr lang="en-US" sz="1400" dirty="0" smtClean="0">
                <a:latin typeface="Consolas" pitchFamily="49" charset="0"/>
              </a:rPr>
              <a:t> + 1</a:t>
            </a:r>
          </a:p>
          <a:p>
            <a:r>
              <a:rPr lang="en-US" sz="1400" dirty="0" smtClean="0">
                <a:latin typeface="Consolas" pitchFamily="49" charset="0"/>
              </a:rPr>
              <a:t>                });</a:t>
            </a:r>
          </a:p>
          <a:p>
            <a:r>
              <a:rPr lang="en-US" sz="1400" dirty="0" smtClean="0">
                <a:latin typeface="Consolas" pitchFamily="49" charset="0"/>
              </a:rPr>
              <a:t>            }</a:t>
            </a:r>
          </a:p>
          <a:p>
            <a:r>
              <a:rPr lang="en-US" sz="1400" b="1" dirty="0" smtClean="0">
                <a:solidFill>
                  <a:srgbClr val="C00000"/>
                </a:solidFill>
                <a:latin typeface="Consolas" pitchFamily="49" charset="0"/>
              </a:rPr>
              <a:t>...</a:t>
            </a:r>
            <a:endParaRPr lang="en-US" sz="1400" dirty="0" smtClean="0">
              <a:latin typeface="Consolas" pitchFamily="49" charset="0"/>
            </a:endParaRPr>
          </a:p>
          <a:p>
            <a:r>
              <a:rPr lang="en-US" sz="1400" dirty="0" smtClean="0">
                <a:latin typeface="Consolas" pitchFamily="49" charset="0"/>
              </a:rPr>
              <a:t>                        &lt;Counter display={</a:t>
            </a:r>
            <a:r>
              <a:rPr lang="en-US" sz="1400" dirty="0" err="1" smtClean="0">
                <a:latin typeface="Consolas" pitchFamily="49" charset="0"/>
              </a:rPr>
              <a:t>this.state.count</a:t>
            </a:r>
            <a:r>
              <a:rPr lang="en-US" sz="1400" dirty="0" smtClean="0">
                <a:latin typeface="Consolas" pitchFamily="49" charset="0"/>
              </a:rPr>
              <a:t>} /&gt;</a:t>
            </a:r>
          </a:p>
          <a:p>
            <a:r>
              <a:rPr lang="en-US" sz="1400" dirty="0" smtClean="0">
                <a:latin typeface="Consolas" pitchFamily="49" charset="0"/>
              </a:rPr>
              <a:t>                        </a:t>
            </a:r>
            <a:r>
              <a:rPr lang="en-US" sz="1400" b="1" dirty="0" smtClean="0">
                <a:latin typeface="Consolas" pitchFamily="49" charset="0"/>
              </a:rPr>
              <a:t>&lt;button </a:t>
            </a:r>
            <a:r>
              <a:rPr lang="en-US" sz="1400" b="1" dirty="0" err="1" smtClean="0">
                <a:latin typeface="Consolas" pitchFamily="49" charset="0"/>
              </a:rPr>
              <a:t>onClick</a:t>
            </a:r>
            <a:r>
              <a:rPr lang="en-US" sz="1400" b="1" dirty="0" smtClean="0">
                <a:latin typeface="Consolas" pitchFamily="49" charset="0"/>
              </a:rPr>
              <a:t>={</a:t>
            </a:r>
            <a:r>
              <a:rPr lang="en-US" sz="1400" b="1" dirty="0" err="1" smtClean="0">
                <a:latin typeface="Consolas" pitchFamily="49" charset="0"/>
              </a:rPr>
              <a:t>this.increase</a:t>
            </a:r>
            <a:r>
              <a:rPr lang="en-US" sz="1400" b="1" dirty="0" smtClean="0">
                <a:latin typeface="Consolas" pitchFamily="49" charset="0"/>
              </a:rPr>
              <a:t>} style={</a:t>
            </a:r>
            <a:r>
              <a:rPr lang="en-US" sz="1400" b="1" dirty="0" err="1" smtClean="0">
                <a:latin typeface="Consolas" pitchFamily="49" charset="0"/>
              </a:rPr>
              <a:t>buttonStyle</a:t>
            </a:r>
            <a:r>
              <a:rPr lang="en-US" sz="1400" b="1" dirty="0" smtClean="0">
                <a:latin typeface="Consolas" pitchFamily="49" charset="0"/>
              </a:rPr>
              <a:t>}&gt;+&lt;/button&gt;</a:t>
            </a:r>
          </a:p>
          <a:p>
            <a:r>
              <a:rPr lang="en-US" sz="1400" dirty="0" smtClean="0">
                <a:latin typeface="Consolas" pitchFamily="49" charset="0"/>
              </a:rPr>
              <a:t>                    &lt;/div&gt;</a:t>
            </a:r>
          </a:p>
          <a:p>
            <a:r>
              <a:rPr lang="en-US" sz="1400" b="1" dirty="0" smtClean="0">
                <a:solidFill>
                  <a:srgbClr val="C00000"/>
                </a:solidFill>
                <a:latin typeface="Consolas" pitchFamily="49" charset="0"/>
              </a:rPr>
              <a:t>...</a:t>
            </a:r>
          </a:p>
        </p:txBody>
      </p:sp>
      <p:pic>
        <p:nvPicPr>
          <p:cNvPr id="2050" name="Picture 2"/>
          <p:cNvPicPr>
            <a:picLocks noChangeAspect="1" noChangeArrowheads="1"/>
          </p:cNvPicPr>
          <p:nvPr/>
        </p:nvPicPr>
        <p:blipFill>
          <a:blip r:embed="rId2" cstate="print"/>
          <a:srcRect/>
          <a:stretch>
            <a:fillRect/>
          </a:stretch>
        </p:blipFill>
        <p:spPr bwMode="auto">
          <a:xfrm>
            <a:off x="5486400" y="1219200"/>
            <a:ext cx="3409950" cy="1997075"/>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Synthetic Events</a:t>
            </a:r>
            <a:endParaRPr lang="en-US" dirty="0"/>
          </a:p>
        </p:txBody>
      </p:sp>
      <p:sp>
        <p:nvSpPr>
          <p:cNvPr id="3" name="Content Placeholder 2"/>
          <p:cNvSpPr>
            <a:spLocks noGrp="1"/>
          </p:cNvSpPr>
          <p:nvPr>
            <p:ph idx="1"/>
          </p:nvPr>
        </p:nvSpPr>
        <p:spPr/>
        <p:txBody>
          <a:bodyPr/>
          <a:lstStyle/>
          <a:p>
            <a:r>
              <a:rPr lang="en-US" sz="1800" dirty="0" smtClean="0"/>
              <a:t>In React, when you specify an event in JSX like we did with </a:t>
            </a:r>
            <a:r>
              <a:rPr lang="en-US" sz="1800" dirty="0" err="1" smtClean="0"/>
              <a:t>onClick</a:t>
            </a:r>
            <a:r>
              <a:rPr lang="en-US" sz="1800" dirty="0" smtClean="0"/>
              <a:t>, you are not directly dealing with regular DOM events.</a:t>
            </a:r>
          </a:p>
          <a:p>
            <a:r>
              <a:rPr lang="en-US" sz="1800" dirty="0" smtClean="0"/>
              <a:t>Instead, you are dealing with a React-specific event type known as a </a:t>
            </a:r>
            <a:r>
              <a:rPr lang="en-US" sz="1800" i="1" dirty="0" err="1" smtClean="0">
                <a:solidFill>
                  <a:srgbClr val="C00000"/>
                </a:solidFill>
              </a:rPr>
              <a:t>SyntheticEvent</a:t>
            </a:r>
            <a:r>
              <a:rPr lang="en-US" sz="1800" dirty="0" smtClean="0"/>
              <a:t>.</a:t>
            </a:r>
          </a:p>
          <a:p>
            <a:r>
              <a:rPr lang="en-US" sz="1800" dirty="0" smtClean="0"/>
              <a:t>Each </a:t>
            </a:r>
            <a:r>
              <a:rPr lang="en-US" sz="1800" dirty="0" err="1" smtClean="0"/>
              <a:t>SyntheticEvent</a:t>
            </a:r>
            <a:r>
              <a:rPr lang="en-US" sz="1800" dirty="0" smtClean="0"/>
              <a:t> contains the following properties:</a:t>
            </a:r>
          </a:p>
          <a:p>
            <a:pPr lvl="1"/>
            <a:r>
              <a:rPr lang="en-US" sz="1800" dirty="0" smtClean="0"/>
              <a:t>Property Name Type</a:t>
            </a:r>
          </a:p>
          <a:p>
            <a:pPr lvl="1"/>
            <a:r>
              <a:rPr lang="en-US" sz="1800" dirty="0" smtClean="0"/>
              <a:t>bubbles </a:t>
            </a:r>
            <a:r>
              <a:rPr lang="en-US" sz="1800" dirty="0" err="1" smtClean="0"/>
              <a:t>boolean</a:t>
            </a:r>
            <a:endParaRPr lang="en-US" sz="1800" dirty="0" smtClean="0"/>
          </a:p>
          <a:p>
            <a:pPr lvl="1"/>
            <a:r>
              <a:rPr lang="en-US" sz="1800" dirty="0" smtClean="0"/>
              <a:t>cancelable </a:t>
            </a:r>
            <a:r>
              <a:rPr lang="en-US" sz="1800" dirty="0" err="1" smtClean="0"/>
              <a:t>boolean</a:t>
            </a:r>
            <a:endParaRPr lang="en-US" sz="1800" dirty="0" smtClean="0"/>
          </a:p>
          <a:p>
            <a:pPr lvl="1"/>
            <a:r>
              <a:rPr lang="en-US" sz="1800" dirty="0" err="1" smtClean="0"/>
              <a:t>currentTarget</a:t>
            </a:r>
            <a:r>
              <a:rPr lang="en-US" sz="1800" dirty="0" smtClean="0"/>
              <a:t> </a:t>
            </a:r>
            <a:r>
              <a:rPr lang="en-US" sz="1800" dirty="0" err="1" smtClean="0"/>
              <a:t>DOMEventTarget</a:t>
            </a:r>
            <a:endParaRPr lang="en-US" sz="1800" dirty="0" smtClean="0"/>
          </a:p>
          <a:p>
            <a:r>
              <a:rPr lang="en-US" sz="1800" dirty="0" smtClean="0"/>
              <a:t>A </a:t>
            </a:r>
            <a:r>
              <a:rPr lang="en-US" sz="1800" dirty="0" err="1" smtClean="0"/>
              <a:t>SyntheticEvent</a:t>
            </a:r>
            <a:r>
              <a:rPr lang="en-US" sz="1800" dirty="0" smtClean="0"/>
              <a:t> that wraps a </a:t>
            </a:r>
            <a:r>
              <a:rPr lang="en-US" sz="1800" dirty="0" err="1" smtClean="0"/>
              <a:t>MouseEvent</a:t>
            </a:r>
            <a:r>
              <a:rPr lang="en-US" sz="1800" dirty="0" smtClean="0"/>
              <a:t> will have access to mouse-specific properties such as the following:</a:t>
            </a:r>
          </a:p>
          <a:p>
            <a:pPr lvl="1"/>
            <a:r>
              <a:rPr lang="en-US" sz="1800" dirty="0" err="1" smtClean="0"/>
              <a:t>boolean</a:t>
            </a:r>
            <a:r>
              <a:rPr lang="en-US" sz="1800" dirty="0" smtClean="0"/>
              <a:t> </a:t>
            </a:r>
            <a:r>
              <a:rPr lang="en-US" sz="1800" dirty="0" err="1" smtClean="0"/>
              <a:t>altKey</a:t>
            </a:r>
            <a:endParaRPr lang="en-US" sz="1800" dirty="0" smtClean="0"/>
          </a:p>
          <a:p>
            <a:pPr lvl="1"/>
            <a:r>
              <a:rPr lang="en-US" sz="1800" dirty="0" smtClean="0"/>
              <a:t>number button</a:t>
            </a:r>
          </a:p>
          <a:p>
            <a:pPr lvl="1"/>
            <a:r>
              <a:rPr lang="en-US" sz="1800" dirty="0" smtClean="0"/>
              <a:t>number buttons</a:t>
            </a:r>
            <a:endParaRPr 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 Properties</a:t>
            </a:r>
            <a:endParaRPr lang="en-US" dirty="0"/>
          </a:p>
        </p:txBody>
      </p:sp>
      <p:sp>
        <p:nvSpPr>
          <p:cNvPr id="4" name="Rectangle 3"/>
          <p:cNvSpPr/>
          <p:nvPr/>
        </p:nvSpPr>
        <p:spPr>
          <a:xfrm>
            <a:off x="533400" y="1371600"/>
            <a:ext cx="8153400" cy="3539430"/>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b="1" dirty="0" smtClean="0">
                <a:solidFill>
                  <a:srgbClr val="C00000"/>
                </a:solidFill>
                <a:latin typeface="Consolas" pitchFamily="49" charset="0"/>
              </a:rPr>
              <a:t>...</a:t>
            </a:r>
          </a:p>
          <a:p>
            <a:r>
              <a:rPr lang="en-US" sz="1600" dirty="0" smtClean="0">
                <a:latin typeface="Consolas" pitchFamily="49" charset="0"/>
              </a:rPr>
              <a:t> increase(e) {</a:t>
            </a:r>
          </a:p>
          <a:p>
            <a:r>
              <a:rPr lang="en-US" sz="1600" dirty="0" smtClean="0">
                <a:latin typeface="Consolas" pitchFamily="49" charset="0"/>
              </a:rPr>
              <a:t>                </a:t>
            </a:r>
            <a:r>
              <a:rPr lang="en-US" sz="1600" dirty="0" err="1" smtClean="0">
                <a:latin typeface="Consolas" pitchFamily="49" charset="0"/>
              </a:rPr>
              <a:t>var</a:t>
            </a:r>
            <a:r>
              <a:rPr lang="en-US" sz="1600" dirty="0" smtClean="0">
                <a:latin typeface="Consolas" pitchFamily="49" charset="0"/>
              </a:rPr>
              <a:t> </a:t>
            </a:r>
            <a:r>
              <a:rPr lang="en-US" sz="1600" dirty="0" err="1" smtClean="0">
                <a:latin typeface="Consolas" pitchFamily="49" charset="0"/>
              </a:rPr>
              <a:t>currentCount</a:t>
            </a:r>
            <a:r>
              <a:rPr lang="en-US" sz="1600" dirty="0" smtClean="0">
                <a:latin typeface="Consolas" pitchFamily="49" charset="0"/>
              </a:rPr>
              <a:t> = </a:t>
            </a:r>
            <a:r>
              <a:rPr lang="en-US" sz="1600" dirty="0" err="1" smtClean="0">
                <a:latin typeface="Consolas" pitchFamily="49" charset="0"/>
              </a:rPr>
              <a:t>this.state.count</a:t>
            </a:r>
            <a:r>
              <a:rPr lang="en-US" sz="1600" dirty="0" smtClean="0">
                <a:latin typeface="Consolas" pitchFamily="49" charset="0"/>
              </a:rPr>
              <a:t>;</a:t>
            </a:r>
          </a:p>
          <a:p>
            <a:r>
              <a:rPr lang="en-US" sz="1600" dirty="0" smtClean="0">
                <a:latin typeface="Consolas" pitchFamily="49" charset="0"/>
              </a:rPr>
              <a:t>                if (</a:t>
            </a:r>
            <a:r>
              <a:rPr lang="en-US" sz="1600" dirty="0" err="1" smtClean="0">
                <a:latin typeface="Consolas" pitchFamily="49" charset="0"/>
              </a:rPr>
              <a:t>e.shiftKey</a:t>
            </a:r>
            <a:r>
              <a:rPr lang="en-US" sz="1600" dirty="0" smtClean="0">
                <a:latin typeface="Consolas" pitchFamily="49" charset="0"/>
              </a:rPr>
              <a:t>) {</a:t>
            </a:r>
          </a:p>
          <a:p>
            <a:r>
              <a:rPr lang="en-US" sz="1600" dirty="0" smtClean="0">
                <a:latin typeface="Consolas" pitchFamily="49" charset="0"/>
              </a:rPr>
              <a:t>                    </a:t>
            </a:r>
            <a:r>
              <a:rPr lang="en-US" sz="1600" dirty="0" err="1" smtClean="0">
                <a:latin typeface="Consolas" pitchFamily="49" charset="0"/>
              </a:rPr>
              <a:t>currentCount</a:t>
            </a:r>
            <a:r>
              <a:rPr lang="en-US" sz="1600" dirty="0" smtClean="0">
                <a:latin typeface="Consolas" pitchFamily="49" charset="0"/>
              </a:rPr>
              <a:t> += 10;</a:t>
            </a:r>
          </a:p>
          <a:p>
            <a:r>
              <a:rPr lang="en-US" sz="1600" dirty="0" smtClean="0">
                <a:latin typeface="Consolas" pitchFamily="49" charset="0"/>
              </a:rPr>
              <a:t>                } else {</a:t>
            </a:r>
          </a:p>
          <a:p>
            <a:r>
              <a:rPr lang="en-US" sz="1600" dirty="0" smtClean="0">
                <a:latin typeface="Consolas" pitchFamily="49" charset="0"/>
              </a:rPr>
              <a:t>                    </a:t>
            </a:r>
            <a:r>
              <a:rPr lang="en-US" sz="1600" dirty="0" err="1" smtClean="0">
                <a:latin typeface="Consolas" pitchFamily="49" charset="0"/>
              </a:rPr>
              <a:t>currentCount</a:t>
            </a:r>
            <a:r>
              <a:rPr lang="en-US" sz="1600" dirty="0" smtClean="0">
                <a:latin typeface="Consolas" pitchFamily="49" charset="0"/>
              </a:rPr>
              <a:t> += 1;</a:t>
            </a:r>
          </a:p>
          <a:p>
            <a:r>
              <a:rPr lang="en-US" sz="1600" dirty="0" smtClean="0">
                <a:latin typeface="Consolas" pitchFamily="49" charset="0"/>
              </a:rPr>
              <a:t>                }</a:t>
            </a:r>
          </a:p>
          <a:p>
            <a:endParaRPr lang="en-US" sz="1600" dirty="0" smtClean="0">
              <a:latin typeface="Consolas" pitchFamily="49" charset="0"/>
            </a:endParaRPr>
          </a:p>
          <a:p>
            <a:r>
              <a:rPr lang="en-US" sz="1600" dirty="0" smtClean="0">
                <a:latin typeface="Consolas" pitchFamily="49" charset="0"/>
              </a:rPr>
              <a:t>                </a:t>
            </a:r>
            <a:r>
              <a:rPr lang="en-US" sz="1600" dirty="0" err="1" smtClean="0">
                <a:latin typeface="Consolas" pitchFamily="49" charset="0"/>
              </a:rPr>
              <a:t>this.setState</a:t>
            </a:r>
            <a:r>
              <a:rPr lang="en-US" sz="1600" dirty="0" smtClean="0">
                <a:latin typeface="Consolas" pitchFamily="49" charset="0"/>
              </a:rPr>
              <a:t>({</a:t>
            </a:r>
          </a:p>
          <a:p>
            <a:r>
              <a:rPr lang="en-US" sz="1600" dirty="0" smtClean="0">
                <a:latin typeface="Consolas" pitchFamily="49" charset="0"/>
              </a:rPr>
              <a:t>                    count: </a:t>
            </a:r>
            <a:r>
              <a:rPr lang="en-US" sz="1600" dirty="0" err="1" smtClean="0">
                <a:latin typeface="Consolas" pitchFamily="49" charset="0"/>
              </a:rPr>
              <a:t>currentCount</a:t>
            </a:r>
            <a:endParaRPr lang="en-US" sz="1600" dirty="0" smtClean="0">
              <a:latin typeface="Consolas" pitchFamily="49" charset="0"/>
            </a:endParaRPr>
          </a:p>
          <a:p>
            <a:r>
              <a:rPr lang="en-US" sz="1600" dirty="0" smtClean="0">
                <a:latin typeface="Consolas" pitchFamily="49" charset="0"/>
              </a:rPr>
              <a:t>                });</a:t>
            </a:r>
          </a:p>
          <a:p>
            <a:r>
              <a:rPr lang="en-US" sz="1600" dirty="0" smtClean="0">
                <a:latin typeface="Consolas" pitchFamily="49" charset="0"/>
              </a:rPr>
              <a:t>            }</a:t>
            </a:r>
          </a:p>
          <a:p>
            <a:r>
              <a:rPr lang="en-US" sz="1600" b="1" dirty="0" smtClean="0">
                <a:solidFill>
                  <a:srgbClr val="C00000"/>
                </a:solidFill>
                <a:latin typeface="Consolas" pitchFamily="49" charset="0"/>
              </a:rPr>
              <a:t>...</a:t>
            </a:r>
          </a:p>
        </p:txBody>
      </p:sp>
      <p:pic>
        <p:nvPicPr>
          <p:cNvPr id="3074" name="Picture 2"/>
          <p:cNvPicPr>
            <a:picLocks noChangeAspect="1" noChangeArrowheads="1"/>
          </p:cNvPicPr>
          <p:nvPr/>
        </p:nvPicPr>
        <p:blipFill>
          <a:blip r:embed="rId2" cstate="print"/>
          <a:srcRect/>
          <a:stretch>
            <a:fillRect/>
          </a:stretch>
        </p:blipFill>
        <p:spPr bwMode="auto">
          <a:xfrm>
            <a:off x="3276600" y="4495800"/>
            <a:ext cx="3400425" cy="1946275"/>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DOM Events Note</a:t>
            </a:r>
            <a:endParaRPr lang="en-US" dirty="0"/>
          </a:p>
        </p:txBody>
      </p:sp>
      <p:sp>
        <p:nvSpPr>
          <p:cNvPr id="3" name="Content Placeholder 2"/>
          <p:cNvSpPr>
            <a:spLocks noGrp="1"/>
          </p:cNvSpPr>
          <p:nvPr>
            <p:ph idx="1"/>
          </p:nvPr>
        </p:nvSpPr>
        <p:spPr/>
        <p:txBody>
          <a:bodyPr/>
          <a:lstStyle/>
          <a:p>
            <a:r>
              <a:rPr lang="en-US" sz="2400" i="1" dirty="0" smtClean="0"/>
              <a:t>Don't refer to traditional DOM event documentation when using Synthetic events and their properties.</a:t>
            </a:r>
          </a:p>
          <a:p>
            <a:r>
              <a:rPr lang="en-US" sz="2400" dirty="0" smtClean="0"/>
              <a:t>Because the </a:t>
            </a:r>
            <a:r>
              <a:rPr lang="en-US" sz="2400" dirty="0" err="1" smtClean="0"/>
              <a:t>SyntheticEvent</a:t>
            </a:r>
            <a:r>
              <a:rPr lang="en-US" sz="2400" dirty="0" smtClean="0"/>
              <a:t> wraps your native DOM event, events and their properties may not map one-to-one. Some DOM events don't even exist in React.</a:t>
            </a:r>
            <a:endParaRPr lang="en-US"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Component Event</a:t>
            </a:r>
            <a:endParaRPr lang="en-US" dirty="0"/>
          </a:p>
        </p:txBody>
      </p:sp>
      <p:sp>
        <p:nvSpPr>
          <p:cNvPr id="4" name="Rectangle 3"/>
          <p:cNvSpPr/>
          <p:nvPr/>
        </p:nvSpPr>
        <p:spPr>
          <a:xfrm>
            <a:off x="533400" y="1371600"/>
            <a:ext cx="8153400" cy="4770537"/>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b="1" dirty="0" smtClean="0">
                <a:solidFill>
                  <a:srgbClr val="C00000"/>
                </a:solidFill>
                <a:latin typeface="Consolas" pitchFamily="49" charset="0"/>
              </a:rPr>
              <a:t>...</a:t>
            </a:r>
          </a:p>
          <a:p>
            <a:r>
              <a:rPr lang="en-US" sz="1600" dirty="0" smtClean="0">
                <a:latin typeface="Consolas" pitchFamily="49" charset="0"/>
              </a:rPr>
              <a:t> class </a:t>
            </a:r>
            <a:r>
              <a:rPr lang="en-US" sz="1600" dirty="0" err="1" smtClean="0">
                <a:latin typeface="Consolas" pitchFamily="49" charset="0"/>
              </a:rPr>
              <a:t>PlusButton</a:t>
            </a:r>
            <a:r>
              <a:rPr lang="en-US" sz="1600" dirty="0" smtClean="0">
                <a:latin typeface="Consolas" pitchFamily="49" charset="0"/>
              </a:rPr>
              <a:t> extends </a:t>
            </a:r>
            <a:r>
              <a:rPr lang="en-US" sz="1600" dirty="0" err="1" smtClean="0">
                <a:latin typeface="Consolas" pitchFamily="49" charset="0"/>
              </a:rPr>
              <a:t>React.Component</a:t>
            </a:r>
            <a:r>
              <a:rPr lang="en-US" sz="1600" dirty="0" smtClean="0">
                <a:latin typeface="Consolas" pitchFamily="49" charset="0"/>
              </a:rPr>
              <a:t> {</a:t>
            </a:r>
          </a:p>
          <a:p>
            <a:r>
              <a:rPr lang="en-US" sz="1600" dirty="0" smtClean="0">
                <a:latin typeface="Consolas" pitchFamily="49" charset="0"/>
              </a:rPr>
              <a:t>            render() {</a:t>
            </a:r>
          </a:p>
          <a:p>
            <a:r>
              <a:rPr lang="en-US" sz="1600" dirty="0" smtClean="0">
                <a:latin typeface="Consolas" pitchFamily="49" charset="0"/>
              </a:rPr>
              <a:t>                return (</a:t>
            </a:r>
          </a:p>
          <a:p>
            <a:r>
              <a:rPr lang="en-US" sz="1600" dirty="0" smtClean="0">
                <a:latin typeface="Consolas" pitchFamily="49" charset="0"/>
              </a:rPr>
              <a:t>                    &lt;button </a:t>
            </a:r>
            <a:r>
              <a:rPr lang="en-US" sz="1600" dirty="0" err="1" smtClean="0">
                <a:latin typeface="Consolas" pitchFamily="49" charset="0"/>
              </a:rPr>
              <a:t>onClick</a:t>
            </a:r>
            <a:r>
              <a:rPr lang="en-US" sz="1600" dirty="0" smtClean="0">
                <a:latin typeface="Consolas" pitchFamily="49" charset="0"/>
              </a:rPr>
              <a:t>={</a:t>
            </a:r>
            <a:r>
              <a:rPr lang="en-US" sz="1600" dirty="0" err="1" smtClean="0">
                <a:latin typeface="Consolas" pitchFamily="49" charset="0"/>
              </a:rPr>
              <a:t>this.props.clickHandler</a:t>
            </a:r>
            <a:r>
              <a:rPr lang="en-US" sz="1600" dirty="0" smtClean="0">
                <a:latin typeface="Consolas" pitchFamily="49" charset="0"/>
              </a:rPr>
              <a:t>}&gt;</a:t>
            </a:r>
          </a:p>
          <a:p>
            <a:r>
              <a:rPr lang="en-US" sz="1600" dirty="0" smtClean="0">
                <a:latin typeface="Consolas" pitchFamily="49" charset="0"/>
              </a:rPr>
              <a:t>                        +</a:t>
            </a:r>
          </a:p>
          <a:p>
            <a:r>
              <a:rPr lang="en-US" sz="1600" dirty="0" smtClean="0">
                <a:latin typeface="Consolas" pitchFamily="49" charset="0"/>
              </a:rPr>
              <a:t>                    &lt;/button&gt;</a:t>
            </a:r>
          </a:p>
          <a:p>
            <a:r>
              <a:rPr lang="en-US" sz="1600" dirty="0" smtClean="0">
                <a:latin typeface="Consolas" pitchFamily="49" charset="0"/>
              </a:rPr>
              <a:t>                );</a:t>
            </a:r>
          </a:p>
          <a:p>
            <a:r>
              <a:rPr lang="en-US" sz="1600" dirty="0" smtClean="0">
                <a:latin typeface="Consolas" pitchFamily="49" charset="0"/>
              </a:rPr>
              <a:t>            }</a:t>
            </a:r>
          </a:p>
          <a:p>
            <a:r>
              <a:rPr lang="en-US" sz="1600" dirty="0" smtClean="0">
                <a:latin typeface="Consolas" pitchFamily="49" charset="0"/>
              </a:rPr>
              <a:t>        }</a:t>
            </a:r>
          </a:p>
          <a:p>
            <a:r>
              <a:rPr lang="en-US" sz="1600" dirty="0" smtClean="0">
                <a:latin typeface="Consolas" pitchFamily="49" charset="0"/>
              </a:rPr>
              <a:t>class </a:t>
            </a:r>
            <a:r>
              <a:rPr lang="en-US" sz="1600" dirty="0" err="1" smtClean="0">
                <a:latin typeface="Consolas" pitchFamily="49" charset="0"/>
              </a:rPr>
              <a:t>CounterParent</a:t>
            </a:r>
            <a:r>
              <a:rPr lang="en-US" sz="1600" dirty="0" smtClean="0">
                <a:latin typeface="Consolas" pitchFamily="49" charset="0"/>
              </a:rPr>
              <a:t> extends </a:t>
            </a:r>
            <a:r>
              <a:rPr lang="en-US" sz="1600" dirty="0" err="1" smtClean="0">
                <a:latin typeface="Consolas" pitchFamily="49" charset="0"/>
              </a:rPr>
              <a:t>React.Component</a:t>
            </a:r>
            <a:r>
              <a:rPr lang="en-US" sz="1600" dirty="0" smtClean="0">
                <a:latin typeface="Consolas" pitchFamily="49" charset="0"/>
              </a:rPr>
              <a:t> {</a:t>
            </a:r>
          </a:p>
          <a:p>
            <a:r>
              <a:rPr lang="en-US" sz="1600" b="1" dirty="0" smtClean="0">
                <a:solidFill>
                  <a:srgbClr val="C00000"/>
                </a:solidFill>
                <a:latin typeface="Consolas" pitchFamily="49" charset="0"/>
              </a:rPr>
              <a:t>...</a:t>
            </a:r>
          </a:p>
          <a:p>
            <a:endParaRPr lang="en-US" sz="1600" dirty="0" smtClean="0">
              <a:latin typeface="Consolas" pitchFamily="49" charset="0"/>
            </a:endParaRPr>
          </a:p>
          <a:p>
            <a:r>
              <a:rPr lang="en-US" sz="1600" dirty="0" smtClean="0">
                <a:latin typeface="Consolas" pitchFamily="49" charset="0"/>
              </a:rPr>
              <a:t>                return (</a:t>
            </a:r>
          </a:p>
          <a:p>
            <a:r>
              <a:rPr lang="en-US" sz="1600" dirty="0" smtClean="0">
                <a:latin typeface="Consolas" pitchFamily="49" charset="0"/>
              </a:rPr>
              <a:t>                    &lt;div style={</a:t>
            </a:r>
            <a:r>
              <a:rPr lang="en-US" sz="1600" dirty="0" err="1" smtClean="0">
                <a:latin typeface="Consolas" pitchFamily="49" charset="0"/>
              </a:rPr>
              <a:t>backgroundStyle</a:t>
            </a:r>
            <a:r>
              <a:rPr lang="en-US" sz="1600" dirty="0" smtClean="0">
                <a:latin typeface="Consolas" pitchFamily="49" charset="0"/>
              </a:rPr>
              <a:t>}&gt;</a:t>
            </a:r>
          </a:p>
          <a:p>
            <a:r>
              <a:rPr lang="en-US" sz="1600" dirty="0" smtClean="0">
                <a:latin typeface="Consolas" pitchFamily="49" charset="0"/>
              </a:rPr>
              <a:t>                        &lt;Counter display={</a:t>
            </a:r>
            <a:r>
              <a:rPr lang="en-US" sz="1600" dirty="0" err="1" smtClean="0">
                <a:latin typeface="Consolas" pitchFamily="49" charset="0"/>
              </a:rPr>
              <a:t>this.state.count</a:t>
            </a:r>
            <a:r>
              <a:rPr lang="en-US" sz="1600" dirty="0" smtClean="0">
                <a:latin typeface="Consolas" pitchFamily="49" charset="0"/>
              </a:rPr>
              <a:t>} /&gt;</a:t>
            </a:r>
          </a:p>
          <a:p>
            <a:r>
              <a:rPr lang="en-US" sz="1600" dirty="0" smtClean="0">
                <a:latin typeface="Consolas" pitchFamily="49" charset="0"/>
              </a:rPr>
              <a:t>                        </a:t>
            </a:r>
            <a:r>
              <a:rPr lang="en-US" sz="1600" b="1" dirty="0" smtClean="0">
                <a:latin typeface="Consolas" pitchFamily="49" charset="0"/>
              </a:rPr>
              <a:t>&lt;</a:t>
            </a:r>
            <a:r>
              <a:rPr lang="en-US" sz="1600" b="1" dirty="0" err="1" smtClean="0">
                <a:latin typeface="Consolas" pitchFamily="49" charset="0"/>
              </a:rPr>
              <a:t>PlusButton</a:t>
            </a:r>
            <a:r>
              <a:rPr lang="en-US" sz="1600" b="1" dirty="0" smtClean="0">
                <a:latin typeface="Consolas" pitchFamily="49" charset="0"/>
              </a:rPr>
              <a:t> </a:t>
            </a:r>
            <a:r>
              <a:rPr lang="en-US" sz="1600" b="1" dirty="0" err="1" smtClean="0">
                <a:latin typeface="Consolas" pitchFamily="49" charset="0"/>
              </a:rPr>
              <a:t>clickHandler</a:t>
            </a:r>
            <a:r>
              <a:rPr lang="en-US" sz="1600" b="1" dirty="0" smtClean="0">
                <a:latin typeface="Consolas" pitchFamily="49" charset="0"/>
              </a:rPr>
              <a:t>={</a:t>
            </a:r>
            <a:r>
              <a:rPr lang="en-US" sz="1600" b="1" dirty="0" err="1" smtClean="0">
                <a:latin typeface="Consolas" pitchFamily="49" charset="0"/>
              </a:rPr>
              <a:t>this.increase</a:t>
            </a:r>
            <a:r>
              <a:rPr lang="en-US" sz="1600" b="1" dirty="0" smtClean="0">
                <a:latin typeface="Consolas" pitchFamily="49" charset="0"/>
              </a:rPr>
              <a:t>} /&gt;</a:t>
            </a:r>
          </a:p>
          <a:p>
            <a:r>
              <a:rPr lang="en-US" sz="1600" dirty="0" smtClean="0">
                <a:latin typeface="Consolas" pitchFamily="49" charset="0"/>
              </a:rPr>
              <a:t>                    &lt;/div&gt;</a:t>
            </a:r>
          </a:p>
          <a:p>
            <a:r>
              <a:rPr lang="en-US" sz="1600" b="1" dirty="0" smtClean="0">
                <a:solidFill>
                  <a:srgbClr val="C00000"/>
                </a:solidFill>
                <a:latin typeface="Consolas" pitchFamily="49" charset="0"/>
              </a:rPr>
              <a:t>...</a:t>
            </a:r>
          </a:p>
        </p:txBody>
      </p:sp>
      <p:pic>
        <p:nvPicPr>
          <p:cNvPr id="3074" name="Picture 2"/>
          <p:cNvPicPr>
            <a:picLocks noChangeAspect="1" noChangeArrowheads="1"/>
          </p:cNvPicPr>
          <p:nvPr/>
        </p:nvPicPr>
        <p:blipFill>
          <a:blip r:embed="rId2" cstate="print"/>
          <a:srcRect/>
          <a:stretch>
            <a:fillRect/>
          </a:stretch>
        </p:blipFill>
        <p:spPr bwMode="auto">
          <a:xfrm>
            <a:off x="5638800" y="2743200"/>
            <a:ext cx="3400425" cy="1946275"/>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Component Lifecycle (I)</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1066800" y="2209800"/>
            <a:ext cx="2857500" cy="2857500"/>
          </a:xfrm>
          <a:prstGeom prst="rect">
            <a:avLst/>
          </a:prstGeom>
          <a:noFill/>
          <a:ln w="9525">
            <a:noFill/>
            <a:miter lim="800000"/>
            <a:headEnd/>
            <a:tailEnd/>
          </a:ln>
        </p:spPr>
      </p:pic>
      <p:pic>
        <p:nvPicPr>
          <p:cNvPr id="1028" name="Picture 4"/>
          <p:cNvPicPr>
            <a:picLocks noChangeAspect="1" noChangeArrowheads="1"/>
          </p:cNvPicPr>
          <p:nvPr/>
        </p:nvPicPr>
        <p:blipFill>
          <a:blip r:embed="rId3" cstate="print"/>
          <a:srcRect/>
          <a:stretch>
            <a:fillRect/>
          </a:stretch>
        </p:blipFill>
        <p:spPr bwMode="auto">
          <a:xfrm>
            <a:off x="5257800" y="2286000"/>
            <a:ext cx="2857500" cy="2857500"/>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Component Lifecycle (II)</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5334000" y="2286000"/>
            <a:ext cx="2857500" cy="2857500"/>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1066800" y="2286000"/>
            <a:ext cx="2857500" cy="2857500"/>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Component Lifecycle (III)</a:t>
            </a:r>
            <a:endParaRPr lang="en-US" dirty="0"/>
          </a:p>
        </p:txBody>
      </p:sp>
      <p:sp>
        <p:nvSpPr>
          <p:cNvPr id="5" name="Rectangle 4"/>
          <p:cNvSpPr/>
          <p:nvPr/>
        </p:nvSpPr>
        <p:spPr>
          <a:xfrm>
            <a:off x="533400" y="1371600"/>
            <a:ext cx="8153400" cy="5047536"/>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400" b="1" dirty="0" smtClean="0">
                <a:solidFill>
                  <a:srgbClr val="C00000"/>
                </a:solidFill>
                <a:latin typeface="Consolas" pitchFamily="49" charset="0"/>
              </a:rPr>
              <a:t>...</a:t>
            </a:r>
          </a:p>
          <a:p>
            <a:r>
              <a:rPr lang="en-US" sz="1400" dirty="0" smtClean="0">
                <a:latin typeface="Consolas" pitchFamily="49" charset="0"/>
              </a:rPr>
              <a:t>class </a:t>
            </a:r>
            <a:r>
              <a:rPr lang="en-US" sz="1400" dirty="0" err="1" smtClean="0">
                <a:latin typeface="Consolas" pitchFamily="49" charset="0"/>
              </a:rPr>
              <a:t>CounterParent</a:t>
            </a:r>
            <a:r>
              <a:rPr lang="en-US" sz="1400" dirty="0" smtClean="0">
                <a:latin typeface="Consolas" pitchFamily="49" charset="0"/>
              </a:rPr>
              <a:t> extends </a:t>
            </a:r>
            <a:r>
              <a:rPr lang="en-US" sz="1400" dirty="0" err="1" smtClean="0">
                <a:latin typeface="Consolas" pitchFamily="49" charset="0"/>
              </a:rPr>
              <a:t>React.Component</a:t>
            </a:r>
            <a:r>
              <a:rPr lang="en-US" sz="1400" dirty="0" smtClean="0">
                <a:latin typeface="Consolas" pitchFamily="49" charset="0"/>
              </a:rPr>
              <a:t> {</a:t>
            </a:r>
          </a:p>
          <a:p>
            <a:r>
              <a:rPr lang="en-US" sz="1400" dirty="0" smtClean="0">
                <a:latin typeface="Consolas" pitchFamily="49" charset="0"/>
              </a:rPr>
              <a:t>            constructor(props) {</a:t>
            </a:r>
          </a:p>
          <a:p>
            <a:r>
              <a:rPr lang="en-US" sz="1400" dirty="0" smtClean="0">
                <a:latin typeface="Consolas" pitchFamily="49" charset="0"/>
              </a:rPr>
              <a:t>                super(props);</a:t>
            </a:r>
          </a:p>
          <a:p>
            <a:endParaRPr lang="en-US" sz="1400" dirty="0" smtClean="0">
              <a:latin typeface="Consolas" pitchFamily="49" charset="0"/>
            </a:endParaRPr>
          </a:p>
          <a:p>
            <a:r>
              <a:rPr lang="en-US" sz="1400" dirty="0" smtClean="0">
                <a:latin typeface="Consolas" pitchFamily="49" charset="0"/>
              </a:rPr>
              <a:t>                console.log("constructor: Default state time!");</a:t>
            </a:r>
          </a:p>
          <a:p>
            <a:endParaRPr lang="en-US" sz="1400" dirty="0" smtClean="0">
              <a:latin typeface="Consolas" pitchFamily="49" charset="0"/>
            </a:endParaRPr>
          </a:p>
          <a:p>
            <a:r>
              <a:rPr lang="en-US" sz="1400" dirty="0" smtClean="0">
                <a:latin typeface="Consolas" pitchFamily="49" charset="0"/>
              </a:rPr>
              <a:t>                </a:t>
            </a:r>
            <a:r>
              <a:rPr lang="en-US" sz="1400" dirty="0" err="1" smtClean="0">
                <a:latin typeface="Consolas" pitchFamily="49" charset="0"/>
              </a:rPr>
              <a:t>this.state</a:t>
            </a:r>
            <a:r>
              <a:rPr lang="en-US" sz="1400" dirty="0" smtClean="0">
                <a:latin typeface="Consolas" pitchFamily="49" charset="0"/>
              </a:rPr>
              <a:t> = {</a:t>
            </a:r>
          </a:p>
          <a:p>
            <a:r>
              <a:rPr lang="en-US" sz="1400" dirty="0" smtClean="0">
                <a:latin typeface="Consolas" pitchFamily="49" charset="0"/>
              </a:rPr>
              <a:t>                    count: 0</a:t>
            </a:r>
          </a:p>
          <a:p>
            <a:r>
              <a:rPr lang="en-US" sz="1400" dirty="0" smtClean="0">
                <a:latin typeface="Consolas" pitchFamily="49" charset="0"/>
              </a:rPr>
              <a:t>                };</a:t>
            </a:r>
          </a:p>
          <a:p>
            <a:endParaRPr lang="en-US" sz="1400" dirty="0" smtClean="0">
              <a:latin typeface="Consolas" pitchFamily="49" charset="0"/>
            </a:endParaRPr>
          </a:p>
          <a:p>
            <a:r>
              <a:rPr lang="en-US" sz="1400" dirty="0" smtClean="0">
                <a:latin typeface="Consolas" pitchFamily="49" charset="0"/>
              </a:rPr>
              <a:t>                </a:t>
            </a:r>
            <a:r>
              <a:rPr lang="en-US" sz="1400" dirty="0" err="1" smtClean="0">
                <a:latin typeface="Consolas" pitchFamily="49" charset="0"/>
              </a:rPr>
              <a:t>this.increase</a:t>
            </a:r>
            <a:r>
              <a:rPr lang="en-US" sz="1400" dirty="0" smtClean="0">
                <a:latin typeface="Consolas" pitchFamily="49" charset="0"/>
              </a:rPr>
              <a:t> = </a:t>
            </a:r>
            <a:r>
              <a:rPr lang="en-US" sz="1400" dirty="0" err="1" smtClean="0">
                <a:latin typeface="Consolas" pitchFamily="49" charset="0"/>
              </a:rPr>
              <a:t>this.increase.bind</a:t>
            </a:r>
            <a:r>
              <a:rPr lang="en-US" sz="1400" dirty="0" smtClean="0">
                <a:latin typeface="Consolas" pitchFamily="49" charset="0"/>
              </a:rPr>
              <a:t>(this);</a:t>
            </a:r>
          </a:p>
          <a:p>
            <a:r>
              <a:rPr lang="en-US" sz="1400" dirty="0" smtClean="0">
                <a:latin typeface="Consolas" pitchFamily="49" charset="0"/>
              </a:rPr>
              <a:t>            }</a:t>
            </a:r>
          </a:p>
          <a:p>
            <a:r>
              <a:rPr lang="en-US" sz="1400" b="1" dirty="0" smtClean="0">
                <a:solidFill>
                  <a:srgbClr val="C00000"/>
                </a:solidFill>
                <a:latin typeface="Consolas" pitchFamily="49" charset="0"/>
              </a:rPr>
              <a:t>...</a:t>
            </a:r>
          </a:p>
          <a:p>
            <a:r>
              <a:rPr lang="en-US" sz="1400" dirty="0" smtClean="0">
                <a:latin typeface="Consolas" pitchFamily="49" charset="0"/>
              </a:rPr>
              <a:t>	   </a:t>
            </a:r>
            <a:r>
              <a:rPr lang="en-US" sz="1400" dirty="0" err="1" smtClean="0">
                <a:latin typeface="Consolas" pitchFamily="49" charset="0"/>
              </a:rPr>
              <a:t>UNSAFE_componentWillUpdate</a:t>
            </a:r>
            <a:r>
              <a:rPr lang="en-US" sz="1400" dirty="0" smtClean="0">
                <a:latin typeface="Consolas" pitchFamily="49" charset="0"/>
              </a:rPr>
              <a:t>(</a:t>
            </a:r>
            <a:r>
              <a:rPr lang="en-US" sz="1400" dirty="0" err="1" smtClean="0">
                <a:latin typeface="Consolas" pitchFamily="49" charset="0"/>
              </a:rPr>
              <a:t>newProps</a:t>
            </a:r>
            <a:r>
              <a:rPr lang="en-US" sz="1400" dirty="0" smtClean="0">
                <a:latin typeface="Consolas" pitchFamily="49" charset="0"/>
              </a:rPr>
              <a:t>, </a:t>
            </a:r>
            <a:r>
              <a:rPr lang="en-US" sz="1400" dirty="0" err="1" smtClean="0">
                <a:latin typeface="Consolas" pitchFamily="49" charset="0"/>
              </a:rPr>
              <a:t>newState</a:t>
            </a:r>
            <a:r>
              <a:rPr lang="en-US" sz="1400" dirty="0" smtClean="0">
                <a:latin typeface="Consolas" pitchFamily="49" charset="0"/>
              </a:rPr>
              <a:t>) {</a:t>
            </a:r>
          </a:p>
          <a:p>
            <a:r>
              <a:rPr lang="en-US" sz="1400" dirty="0" smtClean="0">
                <a:latin typeface="Consolas" pitchFamily="49" charset="0"/>
              </a:rPr>
              <a:t>                console.log("</a:t>
            </a:r>
            <a:r>
              <a:rPr lang="en-US" sz="1400" dirty="0" err="1" smtClean="0">
                <a:latin typeface="Consolas" pitchFamily="49" charset="0"/>
              </a:rPr>
              <a:t>componentWillUpdate</a:t>
            </a:r>
            <a:r>
              <a:rPr lang="en-US" sz="1400" dirty="0" smtClean="0">
                <a:latin typeface="Consolas" pitchFamily="49" charset="0"/>
              </a:rPr>
              <a:t>: Component is about to update!");</a:t>
            </a:r>
          </a:p>
          <a:p>
            <a:r>
              <a:rPr lang="en-US" sz="1400" dirty="0" smtClean="0">
                <a:latin typeface="Consolas" pitchFamily="49" charset="0"/>
              </a:rPr>
              <a:t>            }</a:t>
            </a:r>
          </a:p>
          <a:p>
            <a:endParaRPr lang="en-US" sz="1400" dirty="0" smtClean="0">
              <a:latin typeface="Consolas" pitchFamily="49" charset="0"/>
            </a:endParaRPr>
          </a:p>
          <a:p>
            <a:r>
              <a:rPr lang="en-US" sz="1400" dirty="0" smtClean="0">
                <a:latin typeface="Consolas" pitchFamily="49" charset="0"/>
              </a:rPr>
              <a:t>            </a:t>
            </a:r>
            <a:r>
              <a:rPr lang="en-US" sz="1400" dirty="0" err="1" smtClean="0">
                <a:latin typeface="Consolas" pitchFamily="49" charset="0"/>
              </a:rPr>
              <a:t>componentDidUpdate</a:t>
            </a:r>
            <a:r>
              <a:rPr lang="en-US" sz="1400" dirty="0" smtClean="0">
                <a:latin typeface="Consolas" pitchFamily="49" charset="0"/>
              </a:rPr>
              <a:t>(</a:t>
            </a:r>
            <a:r>
              <a:rPr lang="en-US" sz="1400" dirty="0" err="1" smtClean="0">
                <a:latin typeface="Consolas" pitchFamily="49" charset="0"/>
              </a:rPr>
              <a:t>currentProps</a:t>
            </a:r>
            <a:r>
              <a:rPr lang="en-US" sz="1400" dirty="0" smtClean="0">
                <a:latin typeface="Consolas" pitchFamily="49" charset="0"/>
              </a:rPr>
              <a:t>, </a:t>
            </a:r>
            <a:r>
              <a:rPr lang="en-US" sz="1400" dirty="0" err="1" smtClean="0">
                <a:latin typeface="Consolas" pitchFamily="49" charset="0"/>
              </a:rPr>
              <a:t>currentState</a:t>
            </a:r>
            <a:r>
              <a:rPr lang="en-US" sz="1400" dirty="0" smtClean="0">
                <a:latin typeface="Consolas" pitchFamily="49" charset="0"/>
              </a:rPr>
              <a:t>) {</a:t>
            </a:r>
          </a:p>
          <a:p>
            <a:r>
              <a:rPr lang="en-US" sz="1400" dirty="0" smtClean="0">
                <a:latin typeface="Consolas" pitchFamily="49" charset="0"/>
              </a:rPr>
              <a:t>                console.log("</a:t>
            </a:r>
            <a:r>
              <a:rPr lang="en-US" sz="1400" dirty="0" err="1" smtClean="0">
                <a:latin typeface="Consolas" pitchFamily="49" charset="0"/>
              </a:rPr>
              <a:t>componentDidUpdate</a:t>
            </a:r>
            <a:r>
              <a:rPr lang="en-US" sz="1400" dirty="0" smtClean="0">
                <a:latin typeface="Consolas" pitchFamily="49" charset="0"/>
              </a:rPr>
              <a:t>: Component just updated!");</a:t>
            </a:r>
          </a:p>
          <a:p>
            <a:r>
              <a:rPr lang="en-US" sz="1400" dirty="0" smtClean="0">
                <a:latin typeface="Consolas" pitchFamily="49" charset="0"/>
              </a:rPr>
              <a:t>            }</a:t>
            </a:r>
          </a:p>
          <a:p>
            <a:r>
              <a:rPr lang="en-US" sz="1400" b="1" dirty="0" smtClean="0">
                <a:solidFill>
                  <a:srgbClr val="C00000"/>
                </a:solidFill>
                <a:latin typeface="Consolas" pitchFamily="49" charset="0"/>
              </a:rPr>
              <a:t>...</a:t>
            </a:r>
          </a:p>
        </p:txBody>
      </p:sp>
      <p:pic>
        <p:nvPicPr>
          <p:cNvPr id="1026" name="Picture 2"/>
          <p:cNvPicPr>
            <a:picLocks noChangeAspect="1" noChangeArrowheads="1"/>
          </p:cNvPicPr>
          <p:nvPr/>
        </p:nvPicPr>
        <p:blipFill>
          <a:blip r:embed="rId2" cstate="print"/>
          <a:srcRect/>
          <a:stretch>
            <a:fillRect/>
          </a:stretch>
        </p:blipFill>
        <p:spPr bwMode="auto">
          <a:xfrm>
            <a:off x="4191000" y="1371600"/>
            <a:ext cx="4486275" cy="3990975"/>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a:t>
            </a:r>
            <a:r>
              <a:rPr lang="en-US" smtClean="0"/>
              <a:t>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20125</TotalTime>
  <Words>3000</Words>
  <Application>Microsoft Office PowerPoint</Application>
  <PresentationFormat>On-screen Show (4:3)</PresentationFormat>
  <Paragraphs>656</Paragraphs>
  <Slides>54</Slides>
  <Notes>1</Notes>
  <HiddenSlides>0</HiddenSlides>
  <MMClips>0</MMClip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Office Theme</vt:lpstr>
      <vt:lpstr>React Components</vt:lpstr>
      <vt:lpstr>Objectives</vt:lpstr>
      <vt:lpstr>Contents</vt:lpstr>
      <vt:lpstr>References</vt:lpstr>
      <vt:lpstr>Why Do We Use JSX? [1]</vt:lpstr>
      <vt:lpstr>JavaScript Code versus JSX</vt:lpstr>
      <vt:lpstr>A Quick Review of Functions [2]</vt:lpstr>
      <vt:lpstr>1. Create Function Component</vt:lpstr>
      <vt:lpstr>2. Create Class Component</vt:lpstr>
      <vt:lpstr>props</vt:lpstr>
      <vt:lpstr>3. Set Component Properties</vt:lpstr>
      <vt:lpstr>props.children</vt:lpstr>
      <vt:lpstr>4. Access Component Children</vt:lpstr>
      <vt:lpstr>5. Use Children for Styling</vt:lpstr>
      <vt:lpstr>6. Create Style as Object</vt:lpstr>
      <vt:lpstr>7. Set Style Object Property</vt:lpstr>
      <vt:lpstr>8. Create Nested Components</vt:lpstr>
      <vt:lpstr>Slide 18</vt:lpstr>
      <vt:lpstr>Props and State</vt:lpstr>
      <vt:lpstr>Stateless vs. Stateful Components</vt:lpstr>
      <vt:lpstr>State</vt:lpstr>
      <vt:lpstr>Transferring Styles</vt:lpstr>
      <vt:lpstr>JSX Variable</vt:lpstr>
      <vt:lpstr>JSX Function</vt:lpstr>
      <vt:lpstr>JSX Array</vt:lpstr>
      <vt:lpstr>Keys</vt:lpstr>
      <vt:lpstr>Where to Get Your Key</vt:lpstr>
      <vt:lpstr>JSX Key</vt:lpstr>
      <vt:lpstr>JSX Underhood</vt:lpstr>
      <vt:lpstr>Slide 30</vt:lpstr>
      <vt:lpstr>React and Functional Programming</vt:lpstr>
      <vt:lpstr>Object-Oriented Programming</vt:lpstr>
      <vt:lpstr>Functional Programming</vt:lpstr>
      <vt:lpstr>Passing Arguments</vt:lpstr>
      <vt:lpstr>Calling Functions</vt:lpstr>
      <vt:lpstr>Unidirectional Data Flow with OOP</vt:lpstr>
      <vt:lpstr>Unidirectional Data Flow with FP</vt:lpstr>
      <vt:lpstr>Composition</vt:lpstr>
      <vt:lpstr>Higher-Order Functions</vt:lpstr>
      <vt:lpstr>Slide 40</vt:lpstr>
      <vt:lpstr>useState Hook</vt:lpstr>
      <vt:lpstr>Note</vt:lpstr>
      <vt:lpstr>2. Use useState Hook</vt:lpstr>
      <vt:lpstr>Slide 44</vt:lpstr>
      <vt:lpstr>Event Use Case</vt:lpstr>
      <vt:lpstr>HTML Control Event</vt:lpstr>
      <vt:lpstr>Synthetic Events</vt:lpstr>
      <vt:lpstr>Event Properties</vt:lpstr>
      <vt:lpstr>DOM Events Note</vt:lpstr>
      <vt:lpstr>Component Event</vt:lpstr>
      <vt:lpstr>The Component Lifecycle (I)</vt:lpstr>
      <vt:lpstr>The Component Lifecycle (II)</vt:lpstr>
      <vt:lpstr>The Component Lifecycle (III)</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5602</cp:revision>
  <dcterms:created xsi:type="dcterms:W3CDTF">2007-10-06T08:25:13Z</dcterms:created>
  <dcterms:modified xsi:type="dcterms:W3CDTF">2024-01-27T20:55:40Z</dcterms:modified>
</cp:coreProperties>
</file>