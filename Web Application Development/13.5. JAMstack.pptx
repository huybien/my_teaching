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24"/>
  </p:notesMasterIdLst>
  <p:handoutMasterIdLst>
    <p:handoutMasterId r:id="rId25"/>
  </p:handoutMasterIdLst>
  <p:sldIdLst>
    <p:sldId id="534" r:id="rId2"/>
    <p:sldId id="535" r:id="rId3"/>
    <p:sldId id="536" r:id="rId4"/>
    <p:sldId id="537" r:id="rId5"/>
    <p:sldId id="539" r:id="rId6"/>
    <p:sldId id="540" r:id="rId7"/>
    <p:sldId id="541" r:id="rId8"/>
    <p:sldId id="542" r:id="rId9"/>
    <p:sldId id="543" r:id="rId10"/>
    <p:sldId id="544" r:id="rId11"/>
    <p:sldId id="545" r:id="rId12"/>
    <p:sldId id="546" r:id="rId13"/>
    <p:sldId id="547" r:id="rId14"/>
    <p:sldId id="548" r:id="rId15"/>
    <p:sldId id="550" r:id="rId16"/>
    <p:sldId id="551" r:id="rId17"/>
    <p:sldId id="552" r:id="rId18"/>
    <p:sldId id="553" r:id="rId19"/>
    <p:sldId id="549" r:id="rId20"/>
    <p:sldId id="554" r:id="rId21"/>
    <p:sldId id="555" r:id="rId22"/>
    <p:sldId id="343" r:id="rId23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aximized">
    <p:restoredLeft sz="21029" autoAdjust="0"/>
    <p:restoredTop sz="94667" autoAdjust="0"/>
  </p:normalViewPr>
  <p:slideViewPr>
    <p:cSldViewPr>
      <p:cViewPr>
        <p:scale>
          <a:sx n="50" d="100"/>
          <a:sy n="50" d="100"/>
        </p:scale>
        <p:origin x="-1476" y="-4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D0DBAB-D1C9-4D1B-A41F-EB0AC0278643}" type="datetimeFigureOut">
              <a:rPr lang="en-US" smtClean="0"/>
              <a:pPr/>
              <a:t>8/5/2025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6056FB-ACC3-4B45-A768-F167A538151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9B2289-D6D1-40EC-85F2-6A14DC834E89}" type="datetimeFigureOut">
              <a:rPr lang="en-US" smtClean="0"/>
              <a:pPr/>
              <a:t>8/5/2025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DE3A5A-3803-4289-BB69-E335C0B45A87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8/5/2025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8/5/2025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8/5/2025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8/5/2025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8/5/2025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8/5/2025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8/5/2025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8/5/2025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8/5/2025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8/5/2025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8/5/2025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8/5/2025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jamstack.org/generators/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err="1" smtClean="0"/>
              <a:t>JAMstack</a:t>
            </a:r>
            <a:endParaRPr lang="en-US" sz="6000" dirty="0" smtClean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75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36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36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3600" dirty="0" smtClean="0"/>
              <a:t>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36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3600" smtClean="0">
                <a:hlinkClick r:id="rId2"/>
              </a:rPr>
              <a:t>nhbien@fit.hcmus.edu.vn</a:t>
            </a:r>
            <a:endParaRPr lang="en-US" sz="36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905001"/>
            <a:ext cx="5562600" cy="4114799"/>
          </a:xfrm>
        </p:spPr>
        <p:txBody>
          <a:bodyPr/>
          <a:lstStyle/>
          <a:p>
            <a:pPr marL="571500" indent="-514350">
              <a:buFont typeface="Wingdings" pitchFamily="2" charset="2"/>
              <a:buChar char="Ø"/>
            </a:pPr>
            <a:endParaRPr lang="en-US" sz="2400" dirty="0" smtClean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00750" y="24384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Static Site Generator (SSG)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96000" y="1676400"/>
            <a:ext cx="2724150" cy="4133850"/>
          </a:xfrm>
          <a:prstGeom prst="rect">
            <a:avLst/>
          </a:prstGeom>
          <a:noFill/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334000" cy="4525963"/>
          </a:xfrm>
        </p:spPr>
        <p:txBody>
          <a:bodyPr>
            <a:normAutofit/>
          </a:bodyPr>
          <a:lstStyle/>
          <a:p>
            <a:pPr marL="457200" lvl="0" indent="-457200">
              <a:buFont typeface="+mj-lt"/>
              <a:buAutoNum type="arabicPeriod"/>
            </a:pPr>
            <a:endParaRPr lang="en-US" sz="2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Static Site Generator (SSG)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static site generator</a:t>
            </a:r>
            <a:r>
              <a:rPr lang="en-US" sz="2400" dirty="0" smtClean="0"/>
              <a:t> grabs the content (like Markdown files), applies it to the right templates (like HTML/CSS layouts), </a:t>
            </a:r>
            <a:r>
              <a:rPr lang="en-US" sz="2400" u="sng" dirty="0" smtClean="0"/>
              <a:t>creates static HTML files</a:t>
            </a:r>
            <a:r>
              <a:rPr lang="en-US" sz="2400" dirty="0" smtClean="0"/>
              <a:t>, and quickly delivers the formatted content to the user.</a:t>
            </a:r>
          </a:p>
          <a:p>
            <a:r>
              <a:rPr lang="en-US" sz="2400" dirty="0" smtClean="0"/>
              <a:t>There is no dealing with databases or any other external data sources—avoiding opportunities for security breaches and time-consuming server-side processing. 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Static Site Generator?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 smtClean="0"/>
              <a:t>Fast</a:t>
            </a:r>
            <a:r>
              <a:rPr lang="en-US" sz="2400" dirty="0" smtClean="0"/>
              <a:t>: Pages load quickly because they’re just plain HTML.</a:t>
            </a:r>
          </a:p>
          <a:p>
            <a:r>
              <a:rPr lang="en-US" sz="2400" b="1" dirty="0" smtClean="0"/>
              <a:t>Secure</a:t>
            </a:r>
            <a:r>
              <a:rPr lang="en-US" sz="2400" dirty="0" smtClean="0"/>
              <a:t>: No server-side code means fewer vulnerabilities.</a:t>
            </a:r>
          </a:p>
          <a:p>
            <a:r>
              <a:rPr lang="en-US" sz="2400" b="1" dirty="0" smtClean="0"/>
              <a:t>Easy hosting</a:t>
            </a:r>
            <a:r>
              <a:rPr lang="en-US" sz="2400" dirty="0" smtClean="0"/>
              <a:t>: Can be deployed on any static web host like </a:t>
            </a:r>
            <a:r>
              <a:rPr lang="en-US" sz="2400" dirty="0" err="1" smtClean="0"/>
              <a:t>GitHub</a:t>
            </a:r>
            <a:r>
              <a:rPr lang="en-US" sz="2400" dirty="0" smtClean="0"/>
              <a:t> Pages, </a:t>
            </a:r>
            <a:r>
              <a:rPr lang="en-US" sz="2400" dirty="0" err="1" smtClean="0"/>
              <a:t>Netlify</a:t>
            </a:r>
            <a:r>
              <a:rPr lang="en-US" sz="2400" dirty="0" smtClean="0"/>
              <a:t>, or </a:t>
            </a:r>
            <a:r>
              <a:rPr lang="en-US" sz="2400" dirty="0" err="1" smtClean="0"/>
              <a:t>Vercel</a:t>
            </a:r>
            <a:r>
              <a:rPr lang="en-US" sz="2400" dirty="0" smtClean="0"/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not just use HTML? (I)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 smtClean="0"/>
              <a:t>Reusability</a:t>
            </a:r>
          </a:p>
          <a:p>
            <a:pPr lvl="1"/>
            <a:r>
              <a:rPr lang="en-US" sz="2000" dirty="0" smtClean="0"/>
              <a:t>With plain HTML: You copy-paste the same header/footer on every page. With an SSG: You write it once in a layout/template. The SSG includes it on all pages automatically.</a:t>
            </a:r>
          </a:p>
          <a:p>
            <a:r>
              <a:rPr lang="en-US" sz="2400" b="1" dirty="0" smtClean="0"/>
              <a:t>Automation</a:t>
            </a:r>
          </a:p>
          <a:p>
            <a:pPr lvl="1"/>
            <a:r>
              <a:rPr lang="en-US" sz="2000" dirty="0" smtClean="0"/>
              <a:t>SSGs: Automatically generate navigation menus, blog indexes, sitemaps, etc.</a:t>
            </a:r>
          </a:p>
          <a:p>
            <a:pPr lvl="1"/>
            <a:r>
              <a:rPr lang="en-US" sz="2000" dirty="0" smtClean="0"/>
              <a:t>Can take Markdown files and turn them into HTML.</a:t>
            </a:r>
          </a:p>
          <a:p>
            <a:r>
              <a:rPr lang="en-US" sz="2400" b="1" dirty="0" smtClean="0"/>
              <a:t>Content Management</a:t>
            </a:r>
          </a:p>
          <a:p>
            <a:pPr lvl="1"/>
            <a:r>
              <a:rPr lang="en-US" sz="2000" dirty="0" smtClean="0"/>
              <a:t>SSGs let you: Write content in Markdown or another friendly format.</a:t>
            </a:r>
          </a:p>
          <a:p>
            <a:pPr lvl="1"/>
            <a:r>
              <a:rPr lang="en-US" sz="2000" dirty="0" smtClean="0"/>
              <a:t>Keep content and design separate (great for teams).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not just use HTML?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 smtClean="0"/>
              <a:t>Scalability</a:t>
            </a:r>
          </a:p>
          <a:p>
            <a:pPr lvl="1"/>
            <a:r>
              <a:rPr lang="en-US" sz="2000" dirty="0" smtClean="0"/>
              <a:t>Manually managing 5 HTML pages is doable. Managing 500? Painful.</a:t>
            </a:r>
          </a:p>
          <a:p>
            <a:pPr lvl="1"/>
            <a:r>
              <a:rPr lang="en-US" sz="2000" dirty="0" smtClean="0"/>
              <a:t>SSGs can generate hundreds or thousands of pages automatically.</a:t>
            </a:r>
          </a:p>
          <a:p>
            <a:r>
              <a:rPr lang="en-US" sz="2400" b="1" dirty="0" err="1" smtClean="0"/>
              <a:t>Plugins</a:t>
            </a:r>
            <a:r>
              <a:rPr lang="en-US" sz="2400" b="1" dirty="0" smtClean="0"/>
              <a:t> &amp; Ecosystem</a:t>
            </a:r>
          </a:p>
          <a:p>
            <a:pPr lvl="1"/>
            <a:r>
              <a:rPr lang="en-US" sz="2000" dirty="0" smtClean="0"/>
              <a:t>Many SSGs offer </a:t>
            </a:r>
            <a:r>
              <a:rPr lang="en-US" sz="2000" dirty="0" err="1" smtClean="0"/>
              <a:t>plugins</a:t>
            </a:r>
            <a:r>
              <a:rPr lang="en-US" sz="2000" dirty="0" smtClean="0"/>
              <a:t> for things like:</a:t>
            </a:r>
          </a:p>
          <a:p>
            <a:pPr lvl="1"/>
            <a:r>
              <a:rPr lang="en-US" sz="2000" dirty="0" smtClean="0"/>
              <a:t>Image optimization</a:t>
            </a:r>
          </a:p>
          <a:p>
            <a:pPr lvl="1"/>
            <a:r>
              <a:rPr lang="en-US" sz="2000" dirty="0" smtClean="0"/>
              <a:t>SEO metadata</a:t>
            </a:r>
          </a:p>
          <a:p>
            <a:pPr lvl="1"/>
            <a:r>
              <a:rPr lang="en-US" sz="2000" dirty="0" smtClean="0"/>
              <a:t>Code highlighting</a:t>
            </a:r>
          </a:p>
          <a:p>
            <a:pPr lvl="1"/>
            <a:r>
              <a:rPr lang="en-US" sz="2000" dirty="0" smtClean="0"/>
              <a:t>RSS feeds</a:t>
            </a:r>
          </a:p>
          <a:p>
            <a:r>
              <a:rPr lang="en-US" sz="2400" dirty="0" smtClean="0"/>
              <a:t>So, it’s not that HTML is bad — it’s just that SSGs make it easier and faster to build </a:t>
            </a:r>
            <a:r>
              <a:rPr lang="en-US" sz="2400" b="1" dirty="0" smtClean="0"/>
              <a:t>well-structured, maintainable sites</a:t>
            </a:r>
            <a:r>
              <a:rPr lang="en-US" sz="2400" dirty="0" smtClean="0"/>
              <a:t>.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Popular Static Site Generators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Next.js (when used in static export mode)</a:t>
            </a:r>
          </a:p>
          <a:p>
            <a:r>
              <a:rPr lang="en-US" sz="2400" dirty="0" smtClean="0"/>
              <a:t>Gatsby (for React-based static sites)</a:t>
            </a:r>
          </a:p>
          <a:p>
            <a:r>
              <a:rPr lang="en-US" sz="2400" dirty="0" smtClean="0"/>
              <a:t>Jekyll (commonly used with </a:t>
            </a:r>
            <a:r>
              <a:rPr lang="en-US" sz="2400" dirty="0" err="1" smtClean="0"/>
              <a:t>GitHub</a:t>
            </a:r>
            <a:r>
              <a:rPr lang="en-US" sz="2400" dirty="0" smtClean="0"/>
              <a:t> Pages)</a:t>
            </a:r>
          </a:p>
          <a:p>
            <a:r>
              <a:rPr lang="en-US" sz="2400" smtClean="0"/>
              <a:t>Hugo </a:t>
            </a:r>
            <a:r>
              <a:rPr lang="en-US" sz="2400" dirty="0" smtClean="0"/>
              <a:t>(written in Go, super fast)</a:t>
            </a:r>
          </a:p>
          <a:p>
            <a:r>
              <a:rPr lang="en-US" sz="2400" smtClean="0"/>
              <a:t>Eleventy</a:t>
            </a:r>
            <a:r>
              <a:rPr lang="en-US" sz="2400" dirty="0" smtClean="0"/>
              <a:t> (simple and flexible)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JAM in </a:t>
            </a:r>
            <a:r>
              <a:rPr lang="en-US" dirty="0" err="1" smtClean="0"/>
              <a:t>JAMstack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The </a:t>
            </a:r>
            <a:r>
              <a:rPr lang="en-US" dirty="0" err="1" smtClean="0"/>
              <a:t>JAMstack</a:t>
            </a:r>
            <a:r>
              <a:rPr lang="en-US" dirty="0" smtClean="0"/>
              <a:t> brings together JavaScript, APIs, and markup, </a:t>
            </a:r>
            <a:r>
              <a:rPr lang="en-US" dirty="0" smtClean="0"/>
              <a:t>the three </a:t>
            </a:r>
            <a:r>
              <a:rPr lang="en-US" dirty="0" smtClean="0"/>
              <a:t>core components used to create sites that are both fast </a:t>
            </a:r>
            <a:r>
              <a:rPr lang="en-US" dirty="0" smtClean="0"/>
              <a:t>and highly </a:t>
            </a:r>
            <a:r>
              <a:rPr lang="en-US" dirty="0" smtClean="0"/>
              <a:t>dynamic</a:t>
            </a:r>
            <a:r>
              <a:rPr lang="en-US" dirty="0" smtClean="0"/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</a:t>
            </a:r>
            <a:r>
              <a:rPr lang="en-US" dirty="0" err="1" smtClean="0"/>
              <a:t>JAMstack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SSGs: Jekyll, </a:t>
            </a:r>
            <a:r>
              <a:rPr lang="en-US" sz="2200" dirty="0" err="1" smtClean="0"/>
              <a:t>Gatby</a:t>
            </a:r>
            <a:r>
              <a:rPr lang="en-US" sz="2200" dirty="0" smtClean="0"/>
              <a:t>, Hugo</a:t>
            </a:r>
          </a:p>
          <a:p>
            <a:r>
              <a:rPr lang="en-US" sz="2200" dirty="0" smtClean="0"/>
              <a:t>Single-page app Frameworks: React, </a:t>
            </a:r>
            <a:r>
              <a:rPr lang="en-US" sz="2200" dirty="0" err="1" smtClean="0"/>
              <a:t>Vue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API ecosystem: Stripe, </a:t>
            </a:r>
            <a:r>
              <a:rPr lang="en-US" sz="2200" dirty="0" err="1" smtClean="0"/>
              <a:t>Disqus</a:t>
            </a:r>
            <a:r>
              <a:rPr lang="en-US" sz="2200" dirty="0" smtClean="0"/>
              <a:t>, </a:t>
            </a:r>
            <a:r>
              <a:rPr lang="en-US" sz="2200" dirty="0" err="1" smtClean="0"/>
              <a:t>Algolia</a:t>
            </a:r>
            <a:endParaRPr lang="en-US" sz="2200" dirty="0" smtClean="0"/>
          </a:p>
          <a:p>
            <a:r>
              <a:rPr lang="en-US" sz="2200" dirty="0" smtClean="0"/>
              <a:t>A </a:t>
            </a:r>
            <a:r>
              <a:rPr lang="en-US" sz="2200" dirty="0" smtClean="0"/>
              <a:t>large set of terms for the different pieces of these new </a:t>
            </a:r>
            <a:r>
              <a:rPr lang="en-US" sz="2200" dirty="0" smtClean="0"/>
              <a:t>software architectures </a:t>
            </a:r>
            <a:r>
              <a:rPr lang="en-US" sz="2200" dirty="0" smtClean="0"/>
              <a:t>began to appear: progressive web apps, static </a:t>
            </a:r>
            <a:r>
              <a:rPr lang="en-US" sz="2200" dirty="0" smtClean="0"/>
              <a:t>sites, frontend </a:t>
            </a:r>
            <a:r>
              <a:rPr lang="en-US" sz="2200" dirty="0" smtClean="0"/>
              <a:t>build pipelines, </a:t>
            </a:r>
            <a:r>
              <a:rPr lang="en-US" sz="2200" dirty="0" smtClean="0"/>
              <a:t>single-page applications</a:t>
            </a:r>
            <a:r>
              <a:rPr lang="en-US" sz="2200" dirty="0" smtClean="0"/>
              <a:t>, decoupled </a:t>
            </a:r>
            <a:r>
              <a:rPr lang="en-US" sz="2200" dirty="0" smtClean="0"/>
              <a:t>web projects</a:t>
            </a:r>
            <a:r>
              <a:rPr lang="en-US" sz="2200" dirty="0" smtClean="0"/>
              <a:t>, and </a:t>
            </a:r>
            <a:r>
              <a:rPr lang="en-US" sz="2200" dirty="0" err="1" smtClean="0"/>
              <a:t>serverless</a:t>
            </a:r>
            <a:r>
              <a:rPr lang="en-US" sz="2200" dirty="0" smtClean="0"/>
              <a:t> </a:t>
            </a:r>
            <a:r>
              <a:rPr lang="en-US" sz="2200" dirty="0" smtClean="0"/>
              <a:t>functions.</a:t>
            </a:r>
          </a:p>
          <a:p>
            <a:r>
              <a:rPr lang="en-US" sz="2200" dirty="0" smtClean="0"/>
              <a:t>However</a:t>
            </a:r>
            <a:r>
              <a:rPr lang="en-US" sz="2200" dirty="0" smtClean="0"/>
              <a:t>, none of them </a:t>
            </a:r>
            <a:r>
              <a:rPr lang="en-US" sz="2200" dirty="0" smtClean="0"/>
              <a:t>really captured </a:t>
            </a:r>
            <a:r>
              <a:rPr lang="en-US" sz="2200" dirty="0" smtClean="0"/>
              <a:t>the move to a new architecture that encompassed </a:t>
            </a:r>
            <a:r>
              <a:rPr lang="en-US" sz="2200" dirty="0" smtClean="0"/>
              <a:t>content-driven websites</a:t>
            </a:r>
            <a:r>
              <a:rPr lang="en-US" sz="2200" dirty="0" smtClean="0"/>
              <a:t>, web applications, and all the interesting </a:t>
            </a:r>
            <a:r>
              <a:rPr lang="en-US" sz="2200" dirty="0" smtClean="0"/>
              <a:t>hybrids between </a:t>
            </a:r>
            <a:r>
              <a:rPr lang="en-US" sz="2200" dirty="0" smtClean="0"/>
              <a:t>the two.</a:t>
            </a:r>
          </a:p>
          <a:p>
            <a:r>
              <a:rPr lang="en-US" sz="2200" dirty="0" smtClean="0"/>
              <a:t>The </a:t>
            </a:r>
            <a:r>
              <a:rPr lang="en-US" sz="2200" dirty="0" err="1" smtClean="0"/>
              <a:t>JAMstack</a:t>
            </a:r>
            <a:r>
              <a:rPr lang="en-US" sz="2200" dirty="0" smtClean="0"/>
              <a:t> put a name to all of it.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Types of </a:t>
            </a:r>
            <a:r>
              <a:rPr lang="en-US" dirty="0" err="1" smtClean="0"/>
              <a:t>JAMstack</a:t>
            </a:r>
            <a:r>
              <a:rPr lang="en-US" dirty="0" smtClean="0"/>
              <a:t> Projects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HTML </a:t>
            </a:r>
            <a:r>
              <a:rPr lang="en-US" sz="2400" dirty="0" smtClean="0"/>
              <a:t>Content</a:t>
            </a:r>
          </a:p>
          <a:p>
            <a:r>
              <a:rPr lang="en-US" sz="2400" dirty="0" smtClean="0"/>
              <a:t>Content from a </a:t>
            </a:r>
            <a:r>
              <a:rPr lang="en-US" sz="2400" dirty="0" smtClean="0"/>
              <a:t>CMS</a:t>
            </a:r>
          </a:p>
          <a:p>
            <a:r>
              <a:rPr lang="en-US" sz="2400" dirty="0" smtClean="0"/>
              <a:t>Web Applications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Setting Up the Project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With no server or database to configure, a </a:t>
            </a:r>
            <a:r>
              <a:rPr lang="en-US" sz="2400" dirty="0" err="1" smtClean="0"/>
              <a:t>JAMstack</a:t>
            </a:r>
            <a:r>
              <a:rPr lang="en-US" sz="2400" dirty="0" smtClean="0"/>
              <a:t> project </a:t>
            </a:r>
            <a:r>
              <a:rPr lang="en-US" sz="2400" dirty="0" smtClean="0"/>
              <a:t>is largely </a:t>
            </a:r>
            <a:r>
              <a:rPr lang="en-US" sz="2400" dirty="0" smtClean="0"/>
              <a:t>a simple folder structure full of text files. The contents </a:t>
            </a:r>
            <a:r>
              <a:rPr lang="en-US" sz="2400" dirty="0" smtClean="0"/>
              <a:t>of your </a:t>
            </a:r>
            <a:r>
              <a:rPr lang="en-US" sz="2400" dirty="0" err="1" smtClean="0"/>
              <a:t>JAMstack</a:t>
            </a:r>
            <a:r>
              <a:rPr lang="en-US" sz="2400" dirty="0" smtClean="0"/>
              <a:t> project will usually include the following</a:t>
            </a:r>
            <a:r>
              <a:rPr lang="en-US" sz="2400" dirty="0" smtClean="0"/>
              <a:t>:</a:t>
            </a:r>
          </a:p>
          <a:p>
            <a:pPr lvl="1"/>
            <a:r>
              <a:rPr lang="en-US" sz="2000" dirty="0" smtClean="0"/>
              <a:t>A source folder to store your content </a:t>
            </a:r>
            <a:r>
              <a:rPr lang="en-US" sz="2000" dirty="0" smtClean="0"/>
              <a:t>files</a:t>
            </a:r>
          </a:p>
          <a:p>
            <a:pPr lvl="1"/>
            <a:r>
              <a:rPr lang="en-US" sz="2000" dirty="0" smtClean="0"/>
              <a:t>A folder for layouts and templates</a:t>
            </a:r>
          </a:p>
          <a:p>
            <a:pPr lvl="1"/>
            <a:r>
              <a:rPr lang="en-US" sz="2000" dirty="0" smtClean="0"/>
              <a:t>A </a:t>
            </a:r>
            <a:r>
              <a:rPr lang="en-US" sz="2000" dirty="0" smtClean="0"/>
              <a:t>configuration file containing the settings for the build process</a:t>
            </a:r>
          </a:p>
          <a:p>
            <a:pPr lvl="1"/>
            <a:r>
              <a:rPr lang="en-US" sz="2000" dirty="0" smtClean="0"/>
              <a:t>A </a:t>
            </a:r>
            <a:r>
              <a:rPr lang="en-US" sz="2000" dirty="0" smtClean="0"/>
              <a:t>static site generator, usually added as a dependency</a:t>
            </a:r>
          </a:p>
          <a:p>
            <a:pPr lvl="1"/>
            <a:r>
              <a:rPr lang="en-US" sz="2000" dirty="0" smtClean="0"/>
              <a:t>A </a:t>
            </a:r>
            <a:r>
              <a:rPr lang="en-US" sz="2000" dirty="0" smtClean="0"/>
              <a:t>destination folder to save the final output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Strategies for Managing Content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Text </a:t>
            </a:r>
            <a:r>
              <a:rPr lang="en-US" sz="2400" dirty="0" smtClean="0"/>
              <a:t>Files</a:t>
            </a:r>
          </a:p>
          <a:p>
            <a:r>
              <a:rPr lang="en-US" sz="2400" dirty="0" err="1" smtClean="0"/>
              <a:t>Git</a:t>
            </a:r>
            <a:r>
              <a:rPr lang="en-US" sz="2400" dirty="0" smtClean="0"/>
              <a:t>-Based </a:t>
            </a:r>
            <a:r>
              <a:rPr lang="en-US" sz="2400" dirty="0" smtClean="0"/>
              <a:t>CMS</a:t>
            </a:r>
          </a:p>
          <a:p>
            <a:r>
              <a:rPr lang="en-US" sz="2400" dirty="0" smtClean="0"/>
              <a:t>Headless </a:t>
            </a:r>
            <a:r>
              <a:rPr lang="en-US" sz="2400" dirty="0" smtClean="0"/>
              <a:t>CMS</a:t>
            </a:r>
          </a:p>
          <a:p>
            <a:r>
              <a:rPr lang="en-US" sz="2400" dirty="0" smtClean="0"/>
              <a:t>Self-Hosted CMS</a:t>
            </a:r>
            <a:endParaRPr lang="en-US" sz="2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Choosing a Site Generator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Perhaps the most difficult part of getting started with the </a:t>
            </a:r>
            <a:r>
              <a:rPr lang="en-US" sz="2400" dirty="0" err="1" smtClean="0"/>
              <a:t>JAMstack</a:t>
            </a:r>
            <a:r>
              <a:rPr lang="en-US" sz="2400" dirty="0" smtClean="0"/>
              <a:t> is </a:t>
            </a:r>
            <a:r>
              <a:rPr lang="en-US" sz="2400" dirty="0" smtClean="0"/>
              <a:t>picking the appropriate site generator from the </a:t>
            </a:r>
            <a:r>
              <a:rPr lang="en-US" sz="2400" dirty="0" smtClean="0"/>
              <a:t>ever-expanding list </a:t>
            </a:r>
            <a:r>
              <a:rPr lang="en-US" sz="2400" dirty="0" smtClean="0"/>
              <a:t>of options</a:t>
            </a:r>
            <a:r>
              <a:rPr lang="en-US" sz="2400" dirty="0" smtClean="0"/>
              <a:t>.</a:t>
            </a:r>
          </a:p>
          <a:p>
            <a:r>
              <a:rPr lang="en-US" sz="2400" dirty="0" smtClean="0">
                <a:hlinkClick r:id="rId2"/>
              </a:rPr>
              <a:t>https://jamstack.org/generators</a:t>
            </a:r>
            <a:r>
              <a:rPr lang="en-US" sz="2400" dirty="0" smtClean="0">
                <a:hlinkClick r:id="rId2"/>
              </a:rPr>
              <a:t>/</a:t>
            </a:r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Adding Automation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All site generators have a build command that can be run from </a:t>
            </a:r>
            <a:r>
              <a:rPr lang="en-US" sz="2400" dirty="0" smtClean="0"/>
              <a:t>the terminal.</a:t>
            </a:r>
          </a:p>
          <a:p>
            <a:r>
              <a:rPr lang="en-US" sz="2400" dirty="0" smtClean="0"/>
              <a:t>The </a:t>
            </a:r>
            <a:r>
              <a:rPr lang="en-US" sz="2400" dirty="0" smtClean="0"/>
              <a:t>final assets are usually compiled to a folder named </a:t>
            </a:r>
            <a:r>
              <a:rPr lang="en-US" sz="2400" dirty="0" smtClean="0"/>
              <a:t>dist or </a:t>
            </a:r>
            <a:r>
              <a:rPr lang="en-US" sz="2400" dirty="0" smtClean="0"/>
              <a:t>build and then can be uploaded to almost any server or CDN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Ideally, your automated build process will do the following:</a:t>
            </a:r>
          </a:p>
          <a:p>
            <a:pPr lvl="1"/>
            <a:r>
              <a:rPr lang="en-US" sz="2000" dirty="0" smtClean="0"/>
              <a:t>Listen </a:t>
            </a:r>
            <a:r>
              <a:rPr lang="en-US" sz="2000" dirty="0" smtClean="0"/>
              <a:t>for notifications of changes to your </a:t>
            </a:r>
            <a:r>
              <a:rPr lang="en-US" sz="2000" dirty="0" err="1" smtClean="0"/>
              <a:t>Git</a:t>
            </a:r>
            <a:r>
              <a:rPr lang="en-US" sz="2000" dirty="0" smtClean="0"/>
              <a:t> repository (</a:t>
            </a:r>
            <a:r>
              <a:rPr lang="en-US" sz="2000" dirty="0" smtClean="0"/>
              <a:t>usually via </a:t>
            </a:r>
            <a:r>
              <a:rPr lang="en-US" sz="2000" dirty="0" err="1" smtClean="0"/>
              <a:t>webhooks</a:t>
            </a:r>
            <a:r>
              <a:rPr lang="en-US" sz="2000" dirty="0" smtClean="0"/>
              <a:t>).</a:t>
            </a:r>
          </a:p>
          <a:p>
            <a:pPr lvl="1"/>
            <a:r>
              <a:rPr lang="en-US" sz="2000" dirty="0" smtClean="0"/>
              <a:t>Prepare </a:t>
            </a:r>
            <a:r>
              <a:rPr lang="en-US" sz="2000" dirty="0" smtClean="0"/>
              <a:t>the build environment and fetch any required dependencies.</a:t>
            </a:r>
          </a:p>
          <a:p>
            <a:pPr lvl="1"/>
            <a:r>
              <a:rPr lang="en-US" sz="2000" dirty="0" smtClean="0"/>
              <a:t>Fetch </a:t>
            </a:r>
            <a:r>
              <a:rPr lang="en-US" sz="2000" dirty="0" smtClean="0"/>
              <a:t>remote data from APIs (as needed).</a:t>
            </a:r>
          </a:p>
          <a:p>
            <a:pPr lvl="1"/>
            <a:r>
              <a:rPr lang="en-US" sz="2000" dirty="0" smtClean="0"/>
              <a:t>Build </a:t>
            </a:r>
            <a:r>
              <a:rPr lang="en-US" sz="2000" dirty="0" smtClean="0"/>
              <a:t>the site and prepare assets.</a:t>
            </a:r>
          </a:p>
          <a:p>
            <a:pPr lvl="1"/>
            <a:r>
              <a:rPr lang="en-US" sz="2000" dirty="0" smtClean="0"/>
              <a:t>Publish </a:t>
            </a:r>
            <a:r>
              <a:rPr lang="en-US" sz="2000" dirty="0" smtClean="0"/>
              <a:t>the final site to a CDN.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Selecting a CDN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Publishing to a CDN usually means your site content becomes </a:t>
            </a:r>
            <a:r>
              <a:rPr lang="en-US" sz="2400" dirty="0" smtClean="0"/>
              <a:t>available to </a:t>
            </a:r>
            <a:r>
              <a:rPr lang="en-US" sz="2400" dirty="0" smtClean="0"/>
              <a:t>a minimum of 10 or 15 locations worldwide.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Providing Functionality: APIs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In the example flow </a:t>
            </a:r>
            <a:r>
              <a:rPr lang="en-US" sz="2400" dirty="0" smtClean="0"/>
              <a:t>shown, </a:t>
            </a:r>
            <a:r>
              <a:rPr lang="en-US" sz="2400" dirty="0" smtClean="0"/>
              <a:t>notice how content </a:t>
            </a:r>
            <a:r>
              <a:rPr lang="en-US" sz="2400" dirty="0" smtClean="0"/>
              <a:t>is managed </a:t>
            </a:r>
            <a:r>
              <a:rPr lang="en-US" sz="2400" dirty="0" smtClean="0"/>
              <a:t>in a hosted CMS service called </a:t>
            </a:r>
            <a:r>
              <a:rPr lang="en-US" sz="2400" dirty="0" err="1" smtClean="0"/>
              <a:t>Contentful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Store owners and </a:t>
            </a:r>
            <a:r>
              <a:rPr lang="en-US" sz="2400" dirty="0" smtClean="0"/>
              <a:t>editors use the </a:t>
            </a:r>
            <a:r>
              <a:rPr lang="en-US" sz="2400" dirty="0" err="1" smtClean="0"/>
              <a:t>Contentful</a:t>
            </a:r>
            <a:r>
              <a:rPr lang="en-US" sz="2400" dirty="0" smtClean="0"/>
              <a:t> interface to manage store listings </a:t>
            </a:r>
            <a:r>
              <a:rPr lang="en-US" sz="2400" dirty="0" smtClean="0"/>
              <a:t>and upload </a:t>
            </a:r>
            <a:r>
              <a:rPr lang="en-US" sz="2400" dirty="0" smtClean="0"/>
              <a:t>photos</a:t>
            </a:r>
            <a:r>
              <a:rPr lang="en-US" sz="2400" dirty="0" smtClean="0"/>
              <a:t>.</a:t>
            </a:r>
          </a:p>
          <a:p>
            <a:endParaRPr lang="en-US" sz="18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57375" y="3705225"/>
            <a:ext cx="5429250" cy="1171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Providing </a:t>
            </a:r>
            <a:r>
              <a:rPr lang="en-US" dirty="0" smtClean="0"/>
              <a:t>Security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But with no servers to store user sessions, how do we connect all </a:t>
            </a:r>
            <a:r>
              <a:rPr lang="en-US" sz="2400" dirty="0" smtClean="0"/>
              <a:t>of these </a:t>
            </a:r>
            <a:r>
              <a:rPr lang="en-US" sz="2400" dirty="0" smtClean="0"/>
              <a:t>discrete API calls? How do we handle authentication and </a:t>
            </a:r>
            <a:r>
              <a:rPr lang="en-US" sz="2400" dirty="0" smtClean="0"/>
              <a:t>identity?</a:t>
            </a:r>
          </a:p>
          <a:p>
            <a:r>
              <a:rPr lang="en-US" sz="2400" dirty="0" smtClean="0"/>
              <a:t>To </a:t>
            </a:r>
            <a:r>
              <a:rPr lang="en-US" sz="2400" dirty="0" smtClean="0"/>
              <a:t>power user accounts, a </a:t>
            </a:r>
            <a:r>
              <a:rPr lang="en-US" sz="2400" dirty="0" err="1" smtClean="0"/>
              <a:t>JAMstack</a:t>
            </a:r>
            <a:r>
              <a:rPr lang="en-US" sz="2400" dirty="0" smtClean="0"/>
              <a:t> application will often </a:t>
            </a:r>
            <a:r>
              <a:rPr lang="en-US" sz="2400" dirty="0" smtClean="0"/>
              <a:t>create a </a:t>
            </a:r>
            <a:r>
              <a:rPr lang="en-US" sz="2400" dirty="0" smtClean="0"/>
              <a:t>secure ID token stored in the browser. (This type of token </a:t>
            </a:r>
            <a:r>
              <a:rPr lang="en-US" sz="2400" dirty="0" smtClean="0"/>
              <a:t>is called </a:t>
            </a:r>
            <a:r>
              <a:rPr lang="en-US" sz="2400" dirty="0" smtClean="0"/>
              <a:t>a JavaScript Web Token, or JWT</a:t>
            </a:r>
            <a:r>
              <a:rPr lang="en-US" sz="2400" dirty="0" smtClean="0"/>
              <a:t>.)</a:t>
            </a:r>
          </a:p>
          <a:p>
            <a:r>
              <a:rPr lang="en-US" sz="2400" dirty="0" smtClean="0"/>
              <a:t>The </a:t>
            </a:r>
            <a:r>
              <a:rPr lang="en-US" sz="2400" dirty="0" smtClean="0"/>
              <a:t>identity is then </a:t>
            </a:r>
            <a:r>
              <a:rPr lang="en-US" sz="2400" dirty="0" smtClean="0"/>
              <a:t>passed with </a:t>
            </a:r>
            <a:r>
              <a:rPr lang="en-US" sz="2400" dirty="0" smtClean="0"/>
              <a:t>each API call so that services are aware of the user.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JAMstack</a:t>
            </a:r>
            <a:r>
              <a:rPr lang="en-US" dirty="0" smtClean="0"/>
              <a:t> and Static Sites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</a:t>
            </a:r>
            <a:r>
              <a:rPr lang="en-US" sz="2400" dirty="0" err="1" smtClean="0"/>
              <a:t>JAMstack</a:t>
            </a:r>
            <a:r>
              <a:rPr lang="en-US" sz="2400" dirty="0" smtClean="0"/>
              <a:t> delivers static sites.</a:t>
            </a:r>
          </a:p>
          <a:p>
            <a:r>
              <a:rPr lang="en-US" sz="2400" dirty="0" smtClean="0"/>
              <a:t>This is a convenient, bite-sized summary. But it misses the mark.</a:t>
            </a:r>
          </a:p>
          <a:p>
            <a:r>
              <a:rPr lang="en-US" sz="2400" dirty="0" smtClean="0"/>
              <a:t>Sites designed for the </a:t>
            </a:r>
            <a:r>
              <a:rPr lang="en-US" sz="2400" dirty="0" err="1" smtClean="0"/>
              <a:t>JAMstack</a:t>
            </a:r>
            <a:r>
              <a:rPr lang="en-US" sz="2400" dirty="0" smtClean="0"/>
              <a:t> are sites that are capable of </a:t>
            </a:r>
            <a:r>
              <a:rPr lang="en-US" sz="2400" dirty="0" smtClean="0"/>
              <a:t>being served </a:t>
            </a:r>
            <a:r>
              <a:rPr lang="en-US" sz="2400" dirty="0" smtClean="0"/>
              <a:t>with static hosting infrastructure, but they can also </a:t>
            </a:r>
            <a:r>
              <a:rPr lang="en-US" sz="2400" dirty="0" smtClean="0"/>
              <a:t>be enriched </a:t>
            </a:r>
            <a:r>
              <a:rPr lang="en-US" sz="2400" dirty="0" smtClean="0"/>
              <a:t>with </a:t>
            </a:r>
            <a:r>
              <a:rPr lang="en-US" sz="2400" i="1" dirty="0" smtClean="0">
                <a:solidFill>
                  <a:srgbClr val="C00000"/>
                </a:solidFill>
              </a:rPr>
              <a:t>external tools and services</a:t>
            </a:r>
            <a:r>
              <a:rPr lang="en-US" sz="2400" dirty="0" smtClean="0"/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11088</TotalTime>
  <Words>936</Words>
  <Application>Microsoft Office PowerPoint</Application>
  <PresentationFormat>On-screen Show (4:3)</PresentationFormat>
  <Paragraphs>96</Paragraphs>
  <Slides>22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3" baseType="lpstr">
      <vt:lpstr>Office Theme</vt:lpstr>
      <vt:lpstr>JAMstack</vt:lpstr>
      <vt:lpstr>Objectives</vt:lpstr>
      <vt:lpstr>Contents</vt:lpstr>
      <vt:lpstr>References</vt:lpstr>
      <vt:lpstr>Static Site Generator (SSG)</vt:lpstr>
      <vt:lpstr>Why Static Site Generator?</vt:lpstr>
      <vt:lpstr>Why not just use HTML? (I)</vt:lpstr>
      <vt:lpstr>Why not just use HTML? (II)</vt:lpstr>
      <vt:lpstr>Popular Static Site Generators</vt:lpstr>
      <vt:lpstr>Slide 10</vt:lpstr>
      <vt:lpstr>The JAM in JAMstack</vt:lpstr>
      <vt:lpstr>The JAMstack</vt:lpstr>
      <vt:lpstr>Types of JAMstack Projects</vt:lpstr>
      <vt:lpstr>Setting Up the Project</vt:lpstr>
      <vt:lpstr>Strategies for Managing Content</vt:lpstr>
      <vt:lpstr>Choosing a Site Generator</vt:lpstr>
      <vt:lpstr>Adding Automation</vt:lpstr>
      <vt:lpstr>Selecting a CDN</vt:lpstr>
      <vt:lpstr>Providing Functionality: APIs</vt:lpstr>
      <vt:lpstr>Providing Security</vt:lpstr>
      <vt:lpstr>JAMstack and Static Sites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3452</cp:revision>
  <dcterms:created xsi:type="dcterms:W3CDTF">2007-10-06T08:25:13Z</dcterms:created>
  <dcterms:modified xsi:type="dcterms:W3CDTF">2025-08-04T20:31:33Z</dcterms:modified>
</cp:coreProperties>
</file>