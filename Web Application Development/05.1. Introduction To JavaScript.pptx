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62" r:id="rId2"/>
    <p:sldId id="372" r:id="rId3"/>
    <p:sldId id="373" r:id="rId4"/>
    <p:sldId id="285" r:id="rId5"/>
    <p:sldId id="374" r:id="rId6"/>
    <p:sldId id="375" r:id="rId7"/>
    <p:sldId id="448" r:id="rId8"/>
    <p:sldId id="339" r:id="rId9"/>
    <p:sldId id="458" r:id="rId10"/>
    <p:sldId id="376" r:id="rId11"/>
    <p:sldId id="459" r:id="rId12"/>
    <p:sldId id="401" r:id="rId13"/>
    <p:sldId id="461" r:id="rId14"/>
    <p:sldId id="487" r:id="rId15"/>
    <p:sldId id="518" r:id="rId16"/>
    <p:sldId id="411" r:id="rId17"/>
    <p:sldId id="412" r:id="rId18"/>
    <p:sldId id="413" r:id="rId19"/>
    <p:sldId id="470" r:id="rId20"/>
    <p:sldId id="474" r:id="rId21"/>
    <p:sldId id="515" r:id="rId22"/>
    <p:sldId id="517" r:id="rId23"/>
    <p:sldId id="416" r:id="rId24"/>
    <p:sldId id="476" r:id="rId25"/>
    <p:sldId id="478" r:id="rId26"/>
    <p:sldId id="479" r:id="rId27"/>
    <p:sldId id="417" r:id="rId28"/>
    <p:sldId id="532" r:id="rId29"/>
    <p:sldId id="533" r:id="rId30"/>
    <p:sldId id="419" r:id="rId31"/>
    <p:sldId id="468" r:id="rId32"/>
    <p:sldId id="469" r:id="rId33"/>
    <p:sldId id="492" r:id="rId34"/>
    <p:sldId id="527" r:id="rId35"/>
    <p:sldId id="528" r:id="rId36"/>
    <p:sldId id="529" r:id="rId37"/>
    <p:sldId id="530" r:id="rId38"/>
    <p:sldId id="486" r:id="rId39"/>
    <p:sldId id="482" r:id="rId40"/>
    <p:sldId id="488" r:id="rId41"/>
    <p:sldId id="491" r:id="rId42"/>
    <p:sldId id="495" r:id="rId43"/>
    <p:sldId id="493" r:id="rId44"/>
    <p:sldId id="494" r:id="rId45"/>
    <p:sldId id="498" r:id="rId46"/>
    <p:sldId id="521" r:id="rId47"/>
    <p:sldId id="522" r:id="rId48"/>
    <p:sldId id="523" r:id="rId49"/>
    <p:sldId id="524" r:id="rId50"/>
    <p:sldId id="490" r:id="rId51"/>
    <p:sldId id="371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1" autoAdjust="0"/>
    <p:restoredTop sz="82917" autoAdjust="0"/>
  </p:normalViewPr>
  <p:slideViewPr>
    <p:cSldViewPr>
      <p:cViewPr>
        <p:scale>
          <a:sx n="50" d="100"/>
          <a:sy n="50" d="100"/>
        </p:scale>
        <p:origin x="-1612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0" y="13066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31185-9D31-472E-A4C1-E109FAA53E08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C63F8-74DE-4EBD-9E3B-8C76B927D4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63F8-74DE-4EBD-9E3B-8C76B927D450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63F8-74DE-4EBD-9E3B-8C76B927D450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63F8-74DE-4EBD-9E3B-8C76B927D450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C163B-A334-4AF0-8F79-DA2B7EC4EC47}" type="datetimeFigureOut">
              <a:rPr lang="en-US" smtClean="0"/>
              <a:pPr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B51A9-7D3A-4012-9382-6DE394297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insights.stackoverflow.com/survey/202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eveloper.mozilla.org/en-US/docs/Glossary/Type_coercion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twitter.com/BrendanEich/status/522394590301933568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Glossary/Primitive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hyperlink" Target="https://developer.mozilla.org/en-US/docs/Learn/JavaScript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smtClean="0"/>
              <a:t>Introduction to JavaScript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create</a:t>
            </a:r>
            <a:r>
              <a:rPr lang="en-US" sz="2400" dirty="0" smtClean="0"/>
              <a:t> a program using JavaScript.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Variables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Functions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Object Literals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Data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39925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David Flanagan (2020). JavaScript - The Definitive Guide. O'Reilly Media.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JavaScript?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JavaScript</a:t>
            </a:r>
            <a:r>
              <a:rPr lang="en-US" sz="2400" dirty="0" smtClean="0"/>
              <a:t> is a high-level, </a:t>
            </a:r>
            <a:r>
              <a:rPr lang="en-US" sz="2400" u="sng" dirty="0" smtClean="0"/>
              <a:t>dynamic</a:t>
            </a:r>
            <a:r>
              <a:rPr lang="en-US" sz="2400" dirty="0" smtClean="0"/>
              <a:t>, </a:t>
            </a:r>
            <a:r>
              <a:rPr lang="en-US" sz="2400" u="sng" dirty="0" err="1" smtClean="0"/>
              <a:t>untyped</a:t>
            </a:r>
            <a:r>
              <a:rPr lang="en-US" sz="2400" dirty="0" smtClean="0"/>
              <a:t> </a:t>
            </a:r>
            <a:r>
              <a:rPr lang="en-US" sz="2400" u="sng" dirty="0" smtClean="0"/>
              <a:t>interpreted</a:t>
            </a:r>
            <a:r>
              <a:rPr lang="en-US" sz="2400" dirty="0" smtClean="0"/>
              <a:t> programming language that is well-suited to </a:t>
            </a:r>
            <a:r>
              <a:rPr lang="en-US" sz="2400" u="sng" dirty="0" smtClean="0"/>
              <a:t>object-oriented</a:t>
            </a:r>
            <a:r>
              <a:rPr lang="en-US" sz="2400" dirty="0" smtClean="0"/>
              <a:t> and </a:t>
            </a:r>
            <a:r>
              <a:rPr lang="en-US" sz="2400" u="sng" dirty="0" smtClean="0"/>
              <a:t>functional</a:t>
            </a:r>
            <a:r>
              <a:rPr lang="en-US" sz="2400" dirty="0" smtClean="0"/>
              <a:t> programming styles.</a:t>
            </a:r>
          </a:p>
          <a:p>
            <a:r>
              <a:rPr lang="en-US" sz="2400" dirty="0" smtClean="0"/>
              <a:t>JavaScript derives its </a:t>
            </a:r>
            <a:r>
              <a:rPr lang="en-US" sz="2400" u="sng" dirty="0" smtClean="0"/>
              <a:t>syntax</a:t>
            </a:r>
            <a:r>
              <a:rPr lang="en-US" sz="2400" dirty="0" smtClean="0"/>
              <a:t> from Java, its </a:t>
            </a:r>
            <a:r>
              <a:rPr lang="en-US" sz="2400" u="sng" dirty="0" smtClean="0"/>
              <a:t>first-class functions</a:t>
            </a:r>
            <a:r>
              <a:rPr lang="en-US" sz="2400" dirty="0" smtClean="0"/>
              <a:t> from Scheme, and its </a:t>
            </a:r>
            <a:r>
              <a:rPr lang="en-US" sz="2400" u="sng" dirty="0" smtClean="0"/>
              <a:t>prototype-based inheritance</a:t>
            </a:r>
            <a:r>
              <a:rPr lang="en-US" sz="2400" dirty="0" smtClean="0"/>
              <a:t> from Self.</a:t>
            </a:r>
          </a:p>
          <a:p>
            <a:endParaRPr lang="en-US" sz="2400" dirty="0" smtClean="0"/>
          </a:p>
          <a:p>
            <a:r>
              <a:rPr lang="en-US" sz="2400" dirty="0" smtClean="0"/>
              <a:t>What is a </a:t>
            </a:r>
            <a:r>
              <a:rPr lang="en-US" sz="2400" i="1" dirty="0" smtClean="0">
                <a:solidFill>
                  <a:srgbClr val="C00000"/>
                </a:solidFill>
              </a:rPr>
              <a:t>dynamically typed</a:t>
            </a:r>
            <a:r>
              <a:rPr lang="en-US" sz="2400" dirty="0" smtClean="0"/>
              <a:t> programming language?</a:t>
            </a:r>
          </a:p>
          <a:p>
            <a:pPr lvl="1"/>
            <a:r>
              <a:rPr lang="en-US" sz="2000" dirty="0" smtClean="0"/>
              <a:t>After you set a variable to a type you can change it.</a:t>
            </a:r>
          </a:p>
          <a:p>
            <a:r>
              <a:rPr lang="en-US" sz="2400" dirty="0" smtClean="0"/>
              <a:t>What is an </a:t>
            </a:r>
            <a:r>
              <a:rPr lang="en-US" sz="2400" i="1" dirty="0" err="1" smtClean="0">
                <a:solidFill>
                  <a:srgbClr val="C00000"/>
                </a:solidFill>
              </a:rPr>
              <a:t>untyped</a:t>
            </a:r>
            <a:r>
              <a:rPr lang="en-US" sz="2400" dirty="0" smtClean="0"/>
              <a:t> programming language?</a:t>
            </a:r>
          </a:p>
          <a:p>
            <a:pPr lvl="1"/>
            <a:r>
              <a:rPr lang="en-US" sz="2000" dirty="0" smtClean="0"/>
              <a:t>You do not need to define the type of a variable.</a:t>
            </a:r>
          </a:p>
          <a:p>
            <a:pPr lvl="1"/>
            <a:endParaRPr lang="en-US" sz="20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Learn JavaScript?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JavaScript is the </a:t>
            </a:r>
            <a:r>
              <a:rPr lang="en-US" sz="2400" i="1" dirty="0" smtClean="0">
                <a:solidFill>
                  <a:srgbClr val="C00000"/>
                </a:solidFill>
              </a:rPr>
              <a:t>programming language of the Web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overwhelming </a:t>
            </a:r>
            <a:r>
              <a:rPr lang="en-US" sz="2400" i="1" dirty="0" smtClean="0">
                <a:solidFill>
                  <a:srgbClr val="C00000"/>
                </a:solidFill>
              </a:rPr>
              <a:t>majority of modern websites</a:t>
            </a:r>
            <a:r>
              <a:rPr lang="en-US" sz="2400" dirty="0" smtClean="0"/>
              <a:t> use JavaScript, and all modern web browsers—on desktops, game consoles, tablets, and smart phones—include JavaScript interpreters, making JavaScript the most ubiquitous programming language in history.</a:t>
            </a:r>
          </a:p>
          <a:p>
            <a:endParaRPr lang="en-US" sz="2400" dirty="0"/>
          </a:p>
        </p:txBody>
      </p:sp>
      <p:pic>
        <p:nvPicPr>
          <p:cNvPr id="70658" name="Picture 2" descr="https://www.wasabi-jpn.com/wp-content/uploads/2016/02/A-Man-Asking-a-Questi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4267200"/>
            <a:ext cx="2080260" cy="20116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hlinkClick r:id="rId2"/>
              </a:rPr>
              <a:t>https://insights.stackoverflow.com/survey/2021#most-popular-technologies-language-prof</a:t>
            </a:r>
            <a:endParaRPr lang="en-US" sz="2000" dirty="0" smtClean="0"/>
          </a:p>
          <a:p>
            <a:endParaRPr lang="en-US" sz="20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9775" y="2686050"/>
            <a:ext cx="512445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Chrome JavaScript Console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9563" y="2247900"/>
            <a:ext cx="5984875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2667000" y="1676400"/>
            <a:ext cx="1143000" cy="6096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Hello JavaScript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47800"/>
            <a:ext cx="6096000" cy="424731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&lt;!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doctype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html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html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lang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"en"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Hello JavaScript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title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src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js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/script.js"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"Hello Again."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head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"&lt;h1&gt;Hello JavaScript&lt;/h1&gt;"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script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body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html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5867400"/>
            <a:ext cx="6096000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nn-NO" dirty="0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nn-NO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nn-NO" dirty="0" smtClean="0">
                <a:solidFill>
                  <a:srgbClr val="9CDCFE"/>
                </a:solidFill>
                <a:latin typeface="Consolas"/>
              </a:rPr>
              <a:t>hello</a:t>
            </a:r>
            <a:r>
              <a:rPr lang="nn-NO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nn-NO" dirty="0" smtClean="0">
                <a:solidFill>
                  <a:srgbClr val="CE9178"/>
                </a:solidFill>
                <a:latin typeface="Consolas"/>
              </a:rPr>
              <a:t>"Hello World!"</a:t>
            </a:r>
            <a:r>
              <a:rPr lang="nn-NO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nn-NO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nn-NO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nn-NO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nn-NO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nn-NO" dirty="0" smtClean="0">
                <a:solidFill>
                  <a:srgbClr val="9CDCFE"/>
                </a:solidFill>
                <a:latin typeface="Consolas"/>
              </a:rPr>
              <a:t>hello</a:t>
            </a:r>
            <a:r>
              <a:rPr lang="nn-NO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nn-NO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0" y="1447800"/>
            <a:ext cx="145103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b="1" dirty="0" smtClean="0">
                <a:latin typeface="Consolas" pitchFamily="49" charset="0"/>
              </a:rPr>
              <a:t>index.html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06286" y="5867400"/>
            <a:ext cx="170431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b="1" dirty="0" err="1" smtClean="0">
                <a:latin typeface="Consolas" pitchFamily="49" charset="0"/>
              </a:rPr>
              <a:t>js</a:t>
            </a:r>
            <a:r>
              <a:rPr lang="en-US" b="1" dirty="0" smtClean="0">
                <a:latin typeface="Consolas" pitchFamily="49" charset="0"/>
              </a:rPr>
              <a:t>/script.js</a:t>
            </a:r>
            <a:endParaRPr lang="en-US" b="1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2743200"/>
            <a:ext cx="1978025" cy="1450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Literals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literal</a:t>
            </a:r>
            <a:r>
              <a:rPr lang="en-US" sz="2400" dirty="0" smtClean="0"/>
              <a:t> is a </a:t>
            </a:r>
            <a:r>
              <a:rPr lang="en-US" sz="2400" u="sng" dirty="0" smtClean="0"/>
              <a:t>data value</a:t>
            </a:r>
            <a:r>
              <a:rPr lang="en-US" sz="2400" dirty="0" smtClean="0"/>
              <a:t> that appears directly in a program.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685800" y="2541925"/>
            <a:ext cx="7848600" cy="347787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noAutofit/>
          </a:bodyPr>
          <a:lstStyle/>
          <a:p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12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  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 The number twelve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1.2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 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 The number one point two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"hello world"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 A string of text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'Hi'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 Another string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 A Boolean value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false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   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 The other Boolean value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16969"/>
                </a:solidFill>
                <a:latin typeface="Consolas"/>
              </a:rPr>
              <a:t>/\w</a:t>
            </a:r>
            <a:r>
              <a:rPr lang="en-US" sz="2000" dirty="0" smtClean="0">
                <a:solidFill>
                  <a:srgbClr val="D7BA7D"/>
                </a:solidFill>
                <a:latin typeface="Consolas"/>
              </a:rPr>
              <a:t>+</a:t>
            </a:r>
            <a:r>
              <a:rPr lang="en-US" sz="2000" dirty="0" smtClean="0">
                <a:solidFill>
                  <a:srgbClr val="D16969"/>
                </a:solidFill>
                <a:latin typeface="Consolas"/>
              </a:rPr>
              <a:t>\s/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 A "regular expression" literal 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        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 (for pattern matching)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null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 Absence of an object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{ </a:t>
            </a:r>
            <a:r>
              <a:rPr lang="en-US" sz="2000" dirty="0" smtClean="0">
                <a:solidFill>
                  <a:srgbClr val="C8C8C8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2000" dirty="0" smtClean="0">
                <a:solidFill>
                  <a:srgbClr val="C8C8C8"/>
                </a:solidFill>
                <a:latin typeface="Consolas"/>
              </a:rPr>
              <a:t>y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}    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 An object </a:t>
            </a:r>
            <a:r>
              <a:rPr lang="en-US" sz="2000" dirty="0" err="1" smtClean="0">
                <a:solidFill>
                  <a:srgbClr val="6A9955"/>
                </a:solidFill>
                <a:latin typeface="Consolas"/>
              </a:rPr>
              <a:t>initializer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4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] </a:t>
            </a: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 An array </a:t>
            </a:r>
            <a:r>
              <a:rPr lang="en-US" sz="2000" dirty="0" err="1" smtClean="0">
                <a:solidFill>
                  <a:srgbClr val="6A9955"/>
                </a:solidFill>
                <a:latin typeface="Consolas"/>
              </a:rPr>
              <a:t>initializer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Literals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788616"/>
            <a:ext cx="8229600" cy="415498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12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1.2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"hello world"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'Hi'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569CD6"/>
                </a:solidFill>
                <a:latin typeface="Consolas"/>
              </a:rPr>
              <a:t>false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"One or more characters followed by a space: 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+ 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'fee </a:t>
            </a:r>
            <a:r>
              <a:rPr lang="en-US" sz="2200" dirty="0" err="1" smtClean="0">
                <a:solidFill>
                  <a:srgbClr val="CE9178"/>
                </a:solidFill>
                <a:latin typeface="Consolas"/>
              </a:rPr>
              <a:t>fi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 </a:t>
            </a:r>
            <a:r>
              <a:rPr lang="en-US" sz="2200" dirty="0" err="1" smtClean="0">
                <a:solidFill>
                  <a:srgbClr val="CE9178"/>
                </a:solidFill>
                <a:latin typeface="Consolas"/>
              </a:rPr>
              <a:t>fo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 </a:t>
            </a:r>
            <a:r>
              <a:rPr lang="en-US" sz="2200" dirty="0" err="1" smtClean="0">
                <a:solidFill>
                  <a:srgbClr val="CE9178"/>
                </a:solidFill>
                <a:latin typeface="Consolas"/>
              </a:rPr>
              <a:t>fum'</a:t>
            </a:r>
            <a:r>
              <a:rPr lang="en-US" sz="22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err="1" smtClean="0">
                <a:solidFill>
                  <a:srgbClr val="DCDCAA"/>
                </a:solidFill>
                <a:latin typeface="Consolas"/>
              </a:rPr>
              <a:t>match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D16969"/>
                </a:solidFill>
                <a:latin typeface="Consolas"/>
              </a:rPr>
              <a:t>/\w</a:t>
            </a:r>
            <a:r>
              <a:rPr lang="en-US" sz="2200" dirty="0" smtClean="0">
                <a:solidFill>
                  <a:srgbClr val="D7BA7D"/>
                </a:solidFill>
                <a:latin typeface="Consolas"/>
              </a:rPr>
              <a:t>+</a:t>
            </a:r>
            <a:r>
              <a:rPr lang="en-US" sz="2200" dirty="0" smtClean="0">
                <a:solidFill>
                  <a:srgbClr val="D16969"/>
                </a:solidFill>
                <a:latin typeface="Consolas"/>
              </a:rPr>
              <a:t>\s/</a:t>
            </a:r>
            <a:r>
              <a:rPr lang="en-US" sz="2200" dirty="0" smtClean="0">
                <a:solidFill>
                  <a:srgbClr val="569CD6"/>
                </a:solidFill>
                <a:latin typeface="Consolas"/>
              </a:rPr>
              <a:t>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569CD6"/>
                </a:solidFill>
                <a:latin typeface="Consolas"/>
              </a:rPr>
              <a:t>null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({ 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x: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y: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});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([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4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]);</a:t>
            </a:r>
            <a:endParaRPr lang="en-US" sz="22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4495800" cy="3139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 This holds a string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message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"hello world!"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message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 These hold numbers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3.1415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pi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 This holds a </a:t>
            </a:r>
            <a:r>
              <a:rPr lang="en-US" dirty="0" err="1" smtClean="0">
                <a:solidFill>
                  <a:srgbClr val="6A9955"/>
                </a:solidFill>
                <a:latin typeface="Consolas"/>
              </a:rPr>
              <a:t>boolean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isFun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isFun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257800"/>
            <a:ext cx="8229600" cy="107721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 this is a single-line comment, which runs to the end of the line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 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 this is a single-line comment following some actual code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/* This is a multiline comment that will run until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we close it. It looks like a CSS comment */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2381250"/>
            <a:ext cx="30099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724400" y="1362670"/>
            <a:ext cx="4114801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No types are declared.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Same variable can hold different types during the life of the execution.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 smtClean="0">
                <a:latin typeface="Consolas" pitchFamily="49" charset="0"/>
              </a:rPr>
              <a:t>Undefined</a:t>
            </a:r>
            <a:r>
              <a:rPr lang="en-US" sz="3800" dirty="0" smtClean="0"/>
              <a:t>, </a:t>
            </a:r>
            <a:r>
              <a:rPr lang="en-US" sz="3800" dirty="0" smtClean="0">
                <a:latin typeface="Consolas" pitchFamily="49" charset="0"/>
              </a:rPr>
              <a:t>null</a:t>
            </a:r>
            <a:r>
              <a:rPr lang="en-US" sz="3800" dirty="0" smtClean="0"/>
              <a:t>, </a:t>
            </a:r>
            <a:r>
              <a:rPr lang="en-US" sz="3800" dirty="0" err="1" smtClean="0">
                <a:latin typeface="Consolas" pitchFamily="49" charset="0"/>
              </a:rPr>
              <a:t>NaN</a:t>
            </a:r>
            <a:r>
              <a:rPr lang="en-US" sz="3800" dirty="0" smtClean="0"/>
              <a:t> and </a:t>
            </a:r>
            <a:r>
              <a:rPr lang="en-US" sz="3800" dirty="0" smtClean="0">
                <a:latin typeface="Consolas" pitchFamily="49" charset="0"/>
              </a:rPr>
              <a:t>Infinity</a:t>
            </a:r>
            <a:endParaRPr lang="en-US" sz="3800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Undefined</a:t>
            </a:r>
          </a:p>
          <a:p>
            <a:pPr lvl="1"/>
            <a:r>
              <a:rPr lang="en-US" sz="2000" dirty="0" smtClean="0"/>
              <a:t>uninitialized value</a:t>
            </a:r>
          </a:p>
          <a:p>
            <a:r>
              <a:rPr lang="en-US" sz="2400" dirty="0" smtClean="0">
                <a:latin typeface="Consolas" pitchFamily="49" charset="0"/>
              </a:rPr>
              <a:t>null</a:t>
            </a:r>
          </a:p>
          <a:p>
            <a:pPr lvl="1"/>
            <a:r>
              <a:rPr lang="en-US" sz="2000" dirty="0" smtClean="0"/>
              <a:t>deliberate non-value</a:t>
            </a:r>
          </a:p>
          <a:p>
            <a:r>
              <a:rPr lang="en-US" sz="2400" dirty="0" err="1" smtClean="0">
                <a:latin typeface="Consolas" pitchFamily="49" charset="0"/>
              </a:rPr>
              <a:t>NaN</a:t>
            </a:r>
            <a:endParaRPr lang="en-US" sz="2400" dirty="0" smtClean="0">
              <a:latin typeface="Consolas" pitchFamily="49" charset="0"/>
            </a:endParaRPr>
          </a:p>
          <a:p>
            <a:pPr lvl="1"/>
            <a:r>
              <a:rPr lang="en-US" sz="2000" dirty="0" smtClean="0"/>
              <a:t>not-a-number</a:t>
            </a:r>
          </a:p>
          <a:p>
            <a:r>
              <a:rPr lang="en-US" sz="2400" dirty="0" smtClean="0">
                <a:latin typeface="Consolas" pitchFamily="49" charset="0"/>
              </a:rPr>
              <a:t>Infinity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581400" y="1371600"/>
            <a:ext cx="5257800" cy="3139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"x: 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+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null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"y: 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+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"'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abc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'/2 = 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+ 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abc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/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"'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abc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'*2 = 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+ 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abc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*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"'abc'+2 = 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+ 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'abc'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+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"'abc'-2 = 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+ 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'abc'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-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"true*2 = 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+ 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*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"false*2 = 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+ 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*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"1/0 = 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+ 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/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4800600"/>
            <a:ext cx="6629400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hlinkClick r:id="rId2"/>
              </a:rPr>
              <a:t>https://developer.mozilla.org/en-US/docs/Glossary/Type_coercion</a:t>
            </a:r>
            <a:endParaRPr lang="en-US" sz="2000" dirty="0" smtClean="0"/>
          </a:p>
          <a:p>
            <a:r>
              <a:rPr lang="en-US" sz="2000" i="1" dirty="0" smtClean="0">
                <a:solidFill>
                  <a:srgbClr val="C00000"/>
                </a:solidFill>
              </a:rPr>
              <a:t>Type coercion</a:t>
            </a:r>
            <a:r>
              <a:rPr lang="en-US" sz="2000" dirty="0" smtClean="0"/>
              <a:t> is the </a:t>
            </a:r>
            <a:r>
              <a:rPr lang="en-US" sz="2000" u="sng" dirty="0" smtClean="0"/>
              <a:t>automatic</a:t>
            </a:r>
            <a:r>
              <a:rPr lang="en-US" sz="2000" dirty="0" smtClean="0"/>
              <a:t> or </a:t>
            </a:r>
            <a:r>
              <a:rPr lang="en-US" sz="2000" u="sng" dirty="0" smtClean="0"/>
              <a:t>implicit</a:t>
            </a:r>
            <a:r>
              <a:rPr lang="en-US" sz="2000" dirty="0" smtClean="0"/>
              <a:t> conversion of values from one data type to another (such as strings to numbers).</a:t>
            </a:r>
            <a:endParaRPr lang="en-US" sz="2000" dirty="0"/>
          </a:p>
        </p:txBody>
      </p:sp>
      <p:pic>
        <p:nvPicPr>
          <p:cNvPr id="6348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4343400"/>
            <a:ext cx="1320800" cy="2127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</a:rPr>
              <a:t>"not defined"</a:t>
            </a:r>
            <a:endParaRPr lang="en-US" dirty="0">
              <a:solidFill>
                <a:srgbClr val="C00000"/>
              </a:solidFill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57400" y="2133600"/>
            <a:ext cx="5257800" cy="46166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400" dirty="0" smtClean="0">
                <a:solidFill>
                  <a:srgbClr val="CE9178"/>
                </a:solidFill>
                <a:latin typeface="Consolas"/>
              </a:rPr>
              <a:t>"z: "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400" dirty="0" smtClean="0">
                <a:solidFill>
                  <a:srgbClr val="9CDCFE"/>
                </a:solidFill>
                <a:latin typeface="Consolas"/>
              </a:rPr>
              <a:t>z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24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9238" y="3206750"/>
            <a:ext cx="3565525" cy="144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b="1" dirty="0" smtClean="0">
                <a:latin typeface="Consolas" pitchFamily="49" charset="0"/>
              </a:rPr>
              <a:t>==</a:t>
            </a:r>
            <a:r>
              <a:rPr lang="en-US" sz="2400" dirty="0" smtClean="0"/>
              <a:t> comparisons should be used where </a:t>
            </a:r>
            <a:r>
              <a:rPr lang="en-US" sz="2400" i="1" dirty="0" smtClean="0">
                <a:solidFill>
                  <a:srgbClr val="C00000"/>
                </a:solidFill>
              </a:rPr>
              <a:t>the type of variable</a:t>
            </a:r>
            <a:r>
              <a:rPr lang="en-US" sz="2400" dirty="0" smtClean="0"/>
              <a:t> is not your concern;</a:t>
            </a:r>
          </a:p>
          <a:p>
            <a:r>
              <a:rPr lang="en-US" sz="2400" dirty="0" smtClean="0"/>
              <a:t>If the </a:t>
            </a:r>
            <a:r>
              <a:rPr lang="en-US" sz="2400" i="1" dirty="0" smtClean="0">
                <a:solidFill>
                  <a:srgbClr val="C00000"/>
                </a:solidFill>
              </a:rPr>
              <a:t>data type</a:t>
            </a:r>
            <a:r>
              <a:rPr lang="en-US" sz="2400" dirty="0" smtClean="0"/>
              <a:t> of the variables also should be compared, then you should opt for a </a:t>
            </a:r>
            <a:r>
              <a:rPr lang="en-US" sz="2400" b="1" dirty="0" smtClean="0">
                <a:latin typeface="Consolas" pitchFamily="49" charset="0"/>
              </a:rPr>
              <a:t>===</a:t>
            </a:r>
            <a:r>
              <a:rPr lang="en-US" sz="2400" dirty="0" smtClean="0"/>
              <a:t> comparison symbol.</a:t>
            </a:r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838200" y="3429000"/>
            <a:ext cx="7543800" cy="132343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string5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'5'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number5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"'5' == 5: 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+ 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string5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== 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number5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"'5' === 5: 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+ 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string5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=== 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number5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));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5105400"/>
            <a:ext cx="20510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Function Declarations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Function declarations</a:t>
            </a:r>
            <a:r>
              <a:rPr lang="en-US" sz="2400" dirty="0" smtClean="0"/>
              <a:t> consist of the </a:t>
            </a:r>
            <a:r>
              <a:rPr lang="en-US" sz="2400" b="1" dirty="0" smtClean="0">
                <a:latin typeface="Consolas" pitchFamily="49" charset="0"/>
              </a:rPr>
              <a:t>function</a:t>
            </a:r>
            <a:r>
              <a:rPr lang="en-US" sz="2400" dirty="0" smtClean="0"/>
              <a:t> keyword, followed by these components:</a:t>
            </a:r>
          </a:p>
          <a:p>
            <a:pPr lvl="1"/>
            <a:r>
              <a:rPr lang="en-US" sz="2000" dirty="0" smtClean="0"/>
              <a:t>An </a:t>
            </a:r>
            <a:r>
              <a:rPr lang="en-US" sz="2000" u="sng" dirty="0" smtClean="0"/>
              <a:t>identifier</a:t>
            </a:r>
            <a:r>
              <a:rPr lang="en-US" sz="2000" dirty="0" smtClean="0"/>
              <a:t> that names the function.</a:t>
            </a:r>
          </a:p>
          <a:p>
            <a:pPr lvl="1"/>
            <a:r>
              <a:rPr lang="en-US" sz="2000" dirty="0" smtClean="0"/>
              <a:t>A pair of parentheses around a comma-separated list of zero or more identifiers. These identifiers are the </a:t>
            </a:r>
            <a:r>
              <a:rPr lang="en-US" sz="2000" u="sng" dirty="0" smtClean="0"/>
              <a:t>parameter names</a:t>
            </a:r>
            <a:r>
              <a:rPr lang="en-US" sz="2000" dirty="0" smtClean="0"/>
              <a:t> for the function.</a:t>
            </a:r>
          </a:p>
          <a:p>
            <a:pPr lvl="1"/>
            <a:r>
              <a:rPr lang="en-US" sz="2000" dirty="0" smtClean="0"/>
              <a:t>A pair of curly braces with zero or more JavaScript </a:t>
            </a:r>
            <a:r>
              <a:rPr lang="en-US" sz="2000" u="sng" dirty="0" smtClean="0"/>
              <a:t>statements</a:t>
            </a:r>
            <a:r>
              <a:rPr lang="en-US" sz="2000" dirty="0" smtClean="0"/>
              <a:t> inside.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609600" y="4191000"/>
            <a:ext cx="7924800" cy="184665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add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+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sum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add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20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sum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sum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add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"10"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20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sum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sum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add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"10"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"20"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sum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4419600"/>
            <a:ext cx="806450" cy="1314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Function Expressions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Function expressions</a:t>
            </a:r>
            <a:r>
              <a:rPr lang="en-US" sz="2400" dirty="0" smtClean="0"/>
              <a:t> look a lot like function declarations, but they appear </a:t>
            </a:r>
            <a:r>
              <a:rPr lang="en-US" sz="2400" u="sng" dirty="0" smtClean="0"/>
              <a:t>within the context of a larger expression</a:t>
            </a:r>
            <a:r>
              <a:rPr lang="en-US" sz="2400" dirty="0" smtClean="0"/>
              <a:t> or statement, and the name is optional.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609600" y="3200400"/>
            <a:ext cx="7924800" cy="24622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rgbClr val="6A9955"/>
                </a:solidFill>
                <a:latin typeface="Consolas"/>
              </a:rPr>
              <a:t>// Note that we assign it to a variable</a:t>
            </a:r>
            <a:endParaRPr lang="en-US" sz="22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2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subtract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22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(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22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- 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2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2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difference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subtract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difference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22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3733800"/>
            <a:ext cx="2511425" cy="1130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Function Expressions with Names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Function expressions can include names, which is useful for recursion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609600" y="2667000"/>
            <a:ext cx="7924800" cy="344709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f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fact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&lt;= 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* 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fact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- 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   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f5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f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f5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as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Unlike C++ and Java, functions are </a:t>
            </a:r>
            <a:r>
              <a:rPr lang="en-US" sz="2000" i="1" dirty="0" smtClean="0">
                <a:solidFill>
                  <a:srgbClr val="C00000"/>
                </a:solidFill>
              </a:rPr>
              <a:t>first-class citizens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That means we can </a:t>
            </a:r>
            <a:r>
              <a:rPr lang="en-US" sz="2000" i="1" dirty="0" smtClean="0">
                <a:solidFill>
                  <a:srgbClr val="C00000"/>
                </a:solidFill>
              </a:rPr>
              <a:t>assign functions to variables</a:t>
            </a:r>
            <a:r>
              <a:rPr lang="en-US" sz="2000" dirty="0" smtClean="0"/>
              <a:t>, </a:t>
            </a:r>
            <a:r>
              <a:rPr lang="en-US" sz="2000" i="1" dirty="0" smtClean="0">
                <a:solidFill>
                  <a:srgbClr val="C00000"/>
                </a:solidFill>
              </a:rPr>
              <a:t>send in functions as parameters</a:t>
            </a:r>
            <a:r>
              <a:rPr lang="en-US" sz="2000" dirty="0" smtClean="0"/>
              <a:t> to other functions, or </a:t>
            </a:r>
            <a:r>
              <a:rPr lang="en-US" sz="2000" i="1" dirty="0" smtClean="0">
                <a:solidFill>
                  <a:srgbClr val="C00000"/>
                </a:solidFill>
              </a:rPr>
              <a:t>return a function</a:t>
            </a:r>
            <a:r>
              <a:rPr lang="en-US" sz="2000" dirty="0" smtClean="0"/>
              <a:t> from another function.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609600" y="2895600"/>
            <a:ext cx="8001000" cy="335476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 define a function and store it in a variable called </a:t>
            </a:r>
            <a:r>
              <a:rPr lang="en-US" sz="1600" dirty="0" err="1" smtClean="0">
                <a:solidFill>
                  <a:srgbClr val="6A9955"/>
                </a:solidFill>
                <a:latin typeface="Consolas"/>
              </a:rPr>
              <a:t>sayHello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"Hello 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+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 execute the function in the </a:t>
            </a:r>
            <a:r>
              <a:rPr lang="en-US" sz="1600" dirty="0" err="1" smtClean="0">
                <a:solidFill>
                  <a:srgbClr val="6A9955"/>
                </a:solidFill>
                <a:latin typeface="Consolas"/>
              </a:rPr>
              <a:t>sayHello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 variable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"John"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repeat10times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 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&lt;=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 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++) 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action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i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repeat10times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3429000"/>
            <a:ext cx="1022350" cy="292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as Return Values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583353"/>
            <a:ext cx="8001000" cy="489364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makeMultiplier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multiplier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returnFunc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multiplier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};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returnFunc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multiplyBy3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makeMultiplier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typeof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multiplyBy3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multiplyBy3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result1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multiplyBy3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result1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doubleAll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makeMultiplier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typeof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doubleAll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doubleAll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result2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doubleAll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100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result2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16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2590800"/>
            <a:ext cx="2492375" cy="23399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What is the output for the following JavaScript code?</a:t>
            </a:r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609600" y="2362200"/>
            <a:ext cx="8001000" cy="347787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err="1" smtClean="0">
                <a:solidFill>
                  <a:srgbClr val="DCDCAA"/>
                </a:solidFill>
                <a:latin typeface="Consolas"/>
              </a:rPr>
              <a:t>makeMultiplier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multiplier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2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err="1" smtClean="0">
                <a:solidFill>
                  <a:srgbClr val="DCDCAA"/>
                </a:solidFill>
                <a:latin typeface="Consolas"/>
              </a:rPr>
              <a:t>returnFunc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2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sz="22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multiplier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   };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2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2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err="1" smtClean="0">
                <a:solidFill>
                  <a:srgbClr val="DCDCAA"/>
                </a:solidFill>
                <a:latin typeface="Consolas"/>
              </a:rPr>
              <a:t>returnFunc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2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2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operation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200" dirty="0" err="1" smtClean="0">
                <a:solidFill>
                  <a:srgbClr val="DCDCAA"/>
                </a:solidFill>
                <a:latin typeface="Consolas"/>
              </a:rPr>
              <a:t>makeMultiplier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operation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));</a:t>
            </a:r>
            <a:endParaRPr lang="en-US" sz="22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of </a:t>
            </a:r>
            <a:r>
              <a:rPr lang="en-US" dirty="0" err="1" smtClean="0">
                <a:latin typeface="Consolas" pitchFamily="49" charset="0"/>
              </a:rPr>
              <a:t>var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Scope</a:t>
            </a:r>
            <a:r>
              <a:rPr lang="en-US" sz="2200" dirty="0" smtClean="0"/>
              <a:t> means where these variables are available for use.</a:t>
            </a:r>
          </a:p>
          <a:p>
            <a:r>
              <a:rPr lang="en-US" sz="2200" dirty="0" err="1" smtClean="0">
                <a:latin typeface="Consolas" pitchFamily="49" charset="0"/>
              </a:rPr>
              <a:t>var</a:t>
            </a:r>
            <a:r>
              <a:rPr lang="en-US" sz="2200" dirty="0" smtClean="0"/>
              <a:t> declarations are </a:t>
            </a:r>
            <a:r>
              <a:rPr lang="en-US" sz="2200" i="1" dirty="0" smtClean="0">
                <a:solidFill>
                  <a:srgbClr val="C00000"/>
                </a:solidFill>
              </a:rPr>
              <a:t>globally scoped</a:t>
            </a:r>
            <a:r>
              <a:rPr lang="en-US" sz="2200" dirty="0" smtClean="0"/>
              <a:t> or </a:t>
            </a:r>
            <a:r>
              <a:rPr lang="en-US" sz="2200" i="1" dirty="0" smtClean="0">
                <a:solidFill>
                  <a:srgbClr val="C00000"/>
                </a:solidFill>
              </a:rPr>
              <a:t>function scoped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457200" y="2590800"/>
            <a:ext cx="8229600" cy="378565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hello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"hello"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varTest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condition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hello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condition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 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 same variable!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4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varTest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false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varTest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5200" y="5181600"/>
            <a:ext cx="4114800" cy="7694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b="1" dirty="0" err="1" smtClean="0">
                <a:latin typeface="Consolas" pitchFamily="49" charset="0"/>
              </a:rPr>
              <a:t>var</a:t>
            </a:r>
            <a:r>
              <a:rPr lang="en-US" sz="2200" dirty="0" smtClean="0"/>
              <a:t> variable can be updated and re-declared in its scope.</a:t>
            </a:r>
            <a:endParaRPr lang="en-US" sz="2200" dirty="0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1400" y="2895600"/>
            <a:ext cx="835025" cy="17748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of </a:t>
            </a:r>
            <a:r>
              <a:rPr lang="en-US" dirty="0" smtClean="0">
                <a:latin typeface="Consolas" pitchFamily="49" charset="0"/>
              </a:rPr>
              <a:t>let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block</a:t>
            </a:r>
            <a:r>
              <a:rPr lang="en-US" sz="2400" dirty="0" smtClean="0"/>
              <a:t> is a chunk of code bounded by {}.</a:t>
            </a:r>
          </a:p>
          <a:p>
            <a:r>
              <a:rPr lang="en-US" sz="2400" dirty="0" smtClean="0">
                <a:latin typeface="Consolas" pitchFamily="49" charset="0"/>
              </a:rPr>
              <a:t>let</a:t>
            </a:r>
            <a:r>
              <a:rPr lang="en-US" sz="2400" dirty="0" smtClean="0"/>
              <a:t> is </a:t>
            </a:r>
            <a:r>
              <a:rPr lang="en-US" sz="2400" i="1" dirty="0" smtClean="0">
                <a:solidFill>
                  <a:srgbClr val="C00000"/>
                </a:solidFill>
              </a:rPr>
              <a:t>block scoped</a:t>
            </a:r>
            <a:r>
              <a:rPr lang="en-US" sz="2200" dirty="0"/>
              <a:t>.</a:t>
            </a:r>
            <a:endParaRPr lang="en-US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457200" y="2590800"/>
            <a:ext cx="8229600" cy="378565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hello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"hello"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letTest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condition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hello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condition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 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 different variable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 let x = 4; error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letTest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false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letTest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3276600"/>
            <a:ext cx="765175" cy="17049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Rectangle 7"/>
          <p:cNvSpPr/>
          <p:nvPr/>
        </p:nvSpPr>
        <p:spPr>
          <a:xfrm>
            <a:off x="3352800" y="5334000"/>
            <a:ext cx="3992004" cy="7694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b="1" dirty="0" smtClean="0">
                <a:latin typeface="Consolas" pitchFamily="49" charset="0"/>
              </a:rPr>
              <a:t>let</a:t>
            </a:r>
            <a:r>
              <a:rPr lang="en-US" sz="2200" dirty="0" smtClean="0"/>
              <a:t> variable can be updated but not re-declared in its scope.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of </a:t>
            </a:r>
            <a:r>
              <a:rPr lang="en-US" dirty="0" smtClean="0">
                <a:latin typeface="Consolas" pitchFamily="49" charset="0"/>
              </a:rPr>
              <a:t>const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Consolas" pitchFamily="49" charset="0"/>
              </a:rPr>
              <a:t>const</a:t>
            </a:r>
            <a:r>
              <a:rPr lang="en-US" sz="2400" dirty="0" smtClean="0"/>
              <a:t> is </a:t>
            </a:r>
            <a:r>
              <a:rPr lang="en-US" sz="2400" i="1" dirty="0" smtClean="0">
                <a:solidFill>
                  <a:srgbClr val="C00000"/>
                </a:solidFill>
              </a:rPr>
              <a:t>block scoped</a:t>
            </a:r>
            <a:r>
              <a:rPr lang="en-US" sz="2200" dirty="0" smtClean="0"/>
              <a:t>.</a:t>
            </a:r>
            <a:endParaRPr lang="en-US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457200" y="2368927"/>
            <a:ext cx="8229600" cy="403187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hello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"hello"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constTest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condition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hello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condition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 {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 x = 3; error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 const x = 4; error</a:t>
            </a:r>
            <a:endParaRPr lang="en-US" sz="16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}    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x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D4D4D4"/>
                </a:solidFill>
                <a:latin typeface="Consolas"/>
              </a:rPr>
            </a:b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constTest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false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constTest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3276600"/>
            <a:ext cx="765175" cy="17049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 5"/>
          <p:cNvSpPr/>
          <p:nvPr/>
        </p:nvSpPr>
        <p:spPr>
          <a:xfrm>
            <a:off x="3429000" y="5174159"/>
            <a:ext cx="3458604" cy="7694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b="1" dirty="0" smtClean="0">
                <a:latin typeface="Consolas" pitchFamily="49" charset="0"/>
              </a:rPr>
              <a:t>const</a:t>
            </a:r>
            <a:r>
              <a:rPr lang="en-US" sz="2200" dirty="0" smtClean="0"/>
              <a:t> variable cannot be updated or re-declared.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are the outputs?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2577405"/>
            <a:ext cx="7924800" cy="304698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400" dirty="0" smtClean="0">
                <a:solidFill>
                  <a:srgbClr val="9CDCFE"/>
                </a:solidFill>
                <a:latin typeface="Consolas"/>
              </a:rPr>
              <a:t>scope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2400" dirty="0" smtClean="0">
                <a:solidFill>
                  <a:srgbClr val="CE9178"/>
                </a:solidFill>
                <a:latin typeface="Consolas"/>
              </a:rPr>
              <a:t>"global"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4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400" dirty="0" err="1" smtClean="0">
                <a:solidFill>
                  <a:srgbClr val="DCDCAA"/>
                </a:solidFill>
                <a:latin typeface="Consolas"/>
              </a:rPr>
              <a:t>testHoisting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() {</a:t>
            </a:r>
          </a:p>
          <a:p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24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400" dirty="0" smtClean="0">
                <a:solidFill>
                  <a:srgbClr val="9CDCFE"/>
                </a:solidFill>
                <a:latin typeface="Consolas"/>
              </a:rPr>
              <a:t>scope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24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400" dirty="0" smtClean="0">
                <a:solidFill>
                  <a:srgbClr val="9CDCFE"/>
                </a:solidFill>
                <a:latin typeface="Consolas"/>
              </a:rPr>
              <a:t>scope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2400" dirty="0" smtClean="0">
                <a:solidFill>
                  <a:srgbClr val="CE9178"/>
                </a:solidFill>
                <a:latin typeface="Consolas"/>
              </a:rPr>
              <a:t>"local"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24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400" dirty="0" smtClean="0">
                <a:solidFill>
                  <a:srgbClr val="9CDCFE"/>
                </a:solidFill>
                <a:latin typeface="Consolas"/>
              </a:rPr>
              <a:t>scope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4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400" dirty="0" err="1" smtClean="0">
                <a:solidFill>
                  <a:srgbClr val="DCDCAA"/>
                </a:solidFill>
                <a:latin typeface="Consolas"/>
              </a:rPr>
              <a:t>testHoisting</a:t>
            </a:r>
            <a:r>
              <a:rPr lang="en-US" sz="2400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sz="2400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09600" y="3657600"/>
            <a:ext cx="7924800" cy="138499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2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200" dirty="0" smtClean="0">
                <a:solidFill>
                  <a:srgbClr val="9CDCFE"/>
                </a:solidFill>
                <a:latin typeface="Consolas"/>
              </a:rPr>
              <a:t>scope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200" dirty="0" smtClean="0">
                <a:solidFill>
                  <a:srgbClr val="CE9178"/>
                </a:solidFill>
                <a:latin typeface="Consolas"/>
              </a:rPr>
              <a:t>"global"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200" dirty="0" err="1" smtClean="0">
                <a:solidFill>
                  <a:srgbClr val="DCDCAA"/>
                </a:solidFill>
                <a:latin typeface="Consolas"/>
              </a:rPr>
              <a:t>testHoisting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() {</a:t>
            </a:r>
          </a:p>
          <a:p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200" dirty="0" smtClean="0">
                <a:solidFill>
                  <a:srgbClr val="9CDCFE"/>
                </a:solidFill>
                <a:latin typeface="Consolas"/>
              </a:rPr>
              <a:t>scope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); </a:t>
            </a:r>
            <a:r>
              <a:rPr lang="en-US" sz="1200" dirty="0" smtClean="0">
                <a:solidFill>
                  <a:srgbClr val="6A9955"/>
                </a:solidFill>
                <a:latin typeface="Consolas"/>
              </a:rPr>
              <a:t>// Prints "undefined", not "global"</a:t>
            </a:r>
            <a:endParaRPr lang="en-US" sz="12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2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200" dirty="0" smtClean="0">
                <a:solidFill>
                  <a:srgbClr val="9CDCFE"/>
                </a:solidFill>
                <a:latin typeface="Consolas"/>
              </a:rPr>
              <a:t>scope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200" dirty="0" smtClean="0">
                <a:solidFill>
                  <a:srgbClr val="CE9178"/>
                </a:solidFill>
                <a:latin typeface="Consolas"/>
              </a:rPr>
              <a:t>"local"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; </a:t>
            </a:r>
            <a:r>
              <a:rPr lang="en-US" sz="1200" dirty="0" smtClean="0">
                <a:solidFill>
                  <a:srgbClr val="6A9955"/>
                </a:solidFill>
                <a:latin typeface="Consolas"/>
              </a:rPr>
              <a:t>// Variable initialized here, but defined everywhere</a:t>
            </a:r>
            <a:endParaRPr lang="en-US" sz="12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200" dirty="0" smtClean="0">
                <a:solidFill>
                  <a:srgbClr val="9CDCFE"/>
                </a:solidFill>
                <a:latin typeface="Consolas"/>
              </a:rPr>
              <a:t>scope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); </a:t>
            </a:r>
            <a:r>
              <a:rPr lang="en-US" sz="1200" dirty="0" smtClean="0">
                <a:solidFill>
                  <a:srgbClr val="6A9955"/>
                </a:solidFill>
                <a:latin typeface="Consolas"/>
              </a:rPr>
              <a:t>// Prints "local"</a:t>
            </a:r>
            <a:endParaRPr lang="en-US" sz="12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200" dirty="0" err="1" smtClean="0">
                <a:solidFill>
                  <a:srgbClr val="DCDCAA"/>
                </a:solidFill>
                <a:latin typeface="Consolas"/>
              </a:rPr>
              <a:t>testHoisting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sz="1200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Hoisting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JavaScript’s </a:t>
            </a:r>
            <a:r>
              <a:rPr lang="en-US" sz="1800" i="1" dirty="0" smtClean="0">
                <a:solidFill>
                  <a:srgbClr val="C00000"/>
                </a:solidFill>
              </a:rPr>
              <a:t>function scope</a:t>
            </a:r>
            <a:r>
              <a:rPr lang="en-US" sz="1800" dirty="0" smtClean="0"/>
              <a:t> means that all variables declared within a function are visible throughout the body of the function.</a:t>
            </a:r>
          </a:p>
          <a:p>
            <a:r>
              <a:rPr lang="en-US" sz="1800" dirty="0" smtClean="0"/>
              <a:t>Curiously, this means that variables are even visible </a:t>
            </a:r>
            <a:r>
              <a:rPr lang="en-US" sz="1800" i="1" dirty="0" smtClean="0">
                <a:solidFill>
                  <a:srgbClr val="C00000"/>
                </a:solidFill>
              </a:rPr>
              <a:t>before</a:t>
            </a:r>
            <a:r>
              <a:rPr lang="en-US" sz="1800" dirty="0" smtClean="0"/>
              <a:t> they are declared.</a:t>
            </a:r>
          </a:p>
          <a:p>
            <a:r>
              <a:rPr lang="en-US" sz="1800" dirty="0" smtClean="0"/>
              <a:t>This feature of JavaScript is informally known as hoisting: JavaScript code behaves as if </a:t>
            </a:r>
            <a:r>
              <a:rPr lang="en-US" sz="1800" i="1" dirty="0" smtClean="0">
                <a:solidFill>
                  <a:srgbClr val="C00000"/>
                </a:solidFill>
              </a:rPr>
              <a:t>all variable declarations in a function</a:t>
            </a:r>
            <a:r>
              <a:rPr lang="en-US" sz="1800" dirty="0" smtClean="0"/>
              <a:t> (but not any associated assignments) </a:t>
            </a:r>
            <a:r>
              <a:rPr lang="en-US" sz="1800" u="sng" dirty="0" smtClean="0"/>
              <a:t>are “hoisted” to the top of the function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609600" y="5168205"/>
            <a:ext cx="7924800" cy="138499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200" dirty="0" smtClean="0">
                <a:solidFill>
                  <a:srgbClr val="DCDCAA"/>
                </a:solidFill>
                <a:latin typeface="Consolas"/>
              </a:rPr>
              <a:t>testHoisting2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() {</a:t>
            </a:r>
          </a:p>
          <a:p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2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1200" dirty="0" smtClean="0">
                <a:solidFill>
                  <a:srgbClr val="9CDCFE"/>
                </a:solidFill>
                <a:latin typeface="Consolas"/>
              </a:rPr>
              <a:t>scope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; </a:t>
            </a:r>
            <a:r>
              <a:rPr lang="en-US" sz="1200" dirty="0" smtClean="0">
                <a:solidFill>
                  <a:srgbClr val="6A9955"/>
                </a:solidFill>
                <a:latin typeface="Consolas"/>
              </a:rPr>
              <a:t>// Local variable is declared at the top of the function</a:t>
            </a:r>
            <a:endParaRPr lang="en-US" sz="12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200" dirty="0" smtClean="0">
                <a:solidFill>
                  <a:srgbClr val="9CDCFE"/>
                </a:solidFill>
                <a:latin typeface="Consolas"/>
              </a:rPr>
              <a:t>scope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); </a:t>
            </a:r>
            <a:r>
              <a:rPr lang="en-US" sz="1200" dirty="0" smtClean="0">
                <a:solidFill>
                  <a:srgbClr val="6A9955"/>
                </a:solidFill>
                <a:latin typeface="Consolas"/>
              </a:rPr>
              <a:t>// It exists here, but still has "undefined" value</a:t>
            </a:r>
            <a:endParaRPr lang="en-US" sz="12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200" dirty="0" smtClean="0">
                <a:solidFill>
                  <a:srgbClr val="9CDCFE"/>
                </a:solidFill>
                <a:latin typeface="Consolas"/>
              </a:rPr>
              <a:t>scope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= </a:t>
            </a:r>
            <a:r>
              <a:rPr lang="en-US" sz="1200" dirty="0" smtClean="0">
                <a:solidFill>
                  <a:srgbClr val="CE9178"/>
                </a:solidFill>
                <a:latin typeface="Consolas"/>
              </a:rPr>
              <a:t>"local"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; </a:t>
            </a:r>
            <a:r>
              <a:rPr lang="en-US" sz="1200" dirty="0" smtClean="0">
                <a:solidFill>
                  <a:srgbClr val="6A9955"/>
                </a:solidFill>
                <a:latin typeface="Consolas"/>
              </a:rPr>
              <a:t>// Now we initialize it and give it a value</a:t>
            </a:r>
            <a:endParaRPr lang="en-US" sz="12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sz="1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200" dirty="0" smtClean="0">
                <a:solidFill>
                  <a:srgbClr val="9CDCFE"/>
                </a:solidFill>
                <a:latin typeface="Consolas"/>
              </a:rPr>
              <a:t>scope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); </a:t>
            </a:r>
            <a:r>
              <a:rPr lang="en-US" sz="1200" dirty="0" smtClean="0">
                <a:solidFill>
                  <a:srgbClr val="6A9955"/>
                </a:solidFill>
                <a:latin typeface="Consolas"/>
              </a:rPr>
              <a:t>// And here it has the value we expect</a:t>
            </a:r>
            <a:endParaRPr lang="en-US" sz="12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1200" dirty="0" smtClean="0">
                <a:solidFill>
                  <a:srgbClr val="DCDCAA"/>
                </a:solidFill>
                <a:latin typeface="Consolas"/>
              </a:rPr>
              <a:t>testHoisting2</a:t>
            </a:r>
            <a:r>
              <a:rPr lang="en-US" sz="1200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sz="1200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4800600" y="4648200"/>
            <a:ext cx="990600" cy="6096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Hoisting?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hlinkClick r:id="rId2"/>
              </a:rPr>
              <a:t>https://twitter.com/BrendanEich/status/522394590301933568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2322121"/>
            <a:ext cx="5164115" cy="3697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2133600"/>
            <a:ext cx="28956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 smtClean="0"/>
              <a:t>The JS code interpretation performed in two passes. During the first pass, the interpreter </a:t>
            </a:r>
            <a:r>
              <a:rPr lang="en-US" sz="2000" i="1" dirty="0" smtClean="0">
                <a:solidFill>
                  <a:srgbClr val="C00000"/>
                </a:solidFill>
              </a:rPr>
              <a:t>processes</a:t>
            </a:r>
            <a:r>
              <a:rPr lang="en-US" sz="2000" dirty="0" smtClean="0"/>
              <a:t> variable and function </a:t>
            </a:r>
            <a:r>
              <a:rPr lang="en-US" sz="2000" u="sng" dirty="0" smtClean="0"/>
              <a:t>declarations</a:t>
            </a:r>
            <a:r>
              <a:rPr lang="en-US" sz="2000" dirty="0" smtClean="0"/>
              <a:t>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 smtClean="0"/>
              <a:t>The second pass is the actual code execution step. The interpreter </a:t>
            </a:r>
            <a:r>
              <a:rPr lang="en-US" sz="2000" i="1" dirty="0" smtClean="0">
                <a:solidFill>
                  <a:srgbClr val="C00000"/>
                </a:solidFill>
              </a:rPr>
              <a:t>processes</a:t>
            </a:r>
            <a:r>
              <a:rPr lang="en-US" sz="2000" dirty="0" smtClean="0"/>
              <a:t> </a:t>
            </a:r>
            <a:r>
              <a:rPr lang="en-US" sz="2000" u="sng" dirty="0" smtClean="0"/>
              <a:t>function expressions</a:t>
            </a:r>
            <a:r>
              <a:rPr lang="en-US" sz="2000" dirty="0" smtClean="0"/>
              <a:t> and </a:t>
            </a:r>
            <a:r>
              <a:rPr lang="en-US" sz="2000" u="sng" dirty="0" smtClean="0"/>
              <a:t>undeclared variables</a:t>
            </a:r>
            <a:r>
              <a:rPr lang="en-US" sz="2000" dirty="0" smtClean="0"/>
              <a:t>.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Rest </a:t>
            </a:r>
            <a:r>
              <a:rPr lang="en-US" dirty="0" smtClean="0"/>
              <a:t>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b="1" dirty="0" smtClean="0"/>
              <a:t>rest parameter</a:t>
            </a:r>
            <a:r>
              <a:rPr lang="en-US" sz="2400" dirty="0" smtClean="0"/>
              <a:t> syntax allows a function to accept an indefinite number of arguments as an </a:t>
            </a:r>
            <a:r>
              <a:rPr lang="en-US" sz="2400" dirty="0" smtClean="0"/>
              <a:t>array.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57200" y="2590800"/>
            <a:ext cx="8229600" cy="397031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...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theArgs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total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arg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of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theArgs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total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+=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arg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total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Expected output: 6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sum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4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));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Expected output: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10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Literals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easiest way to create an object is to include an </a:t>
            </a:r>
            <a:r>
              <a:rPr lang="en-US" sz="2400" i="1" dirty="0" smtClean="0">
                <a:solidFill>
                  <a:srgbClr val="C00000"/>
                </a:solidFill>
              </a:rPr>
              <a:t>object literal</a:t>
            </a:r>
            <a:r>
              <a:rPr lang="en-US" sz="2400" dirty="0" smtClean="0"/>
              <a:t> in your JavaScript code. </a:t>
            </a:r>
          </a:p>
          <a:p>
            <a:r>
              <a:rPr lang="en-US" sz="2400" dirty="0" smtClean="0"/>
              <a:t>In its simplest form, an </a:t>
            </a:r>
            <a:r>
              <a:rPr lang="en-US" sz="2400" i="1" dirty="0" smtClean="0">
                <a:solidFill>
                  <a:srgbClr val="C00000"/>
                </a:solidFill>
              </a:rPr>
              <a:t>object literal</a:t>
            </a:r>
            <a:r>
              <a:rPr lang="en-US" sz="2400" dirty="0" smtClean="0"/>
              <a:t> is a </a:t>
            </a:r>
            <a:r>
              <a:rPr lang="en-US" sz="2400" u="sng" dirty="0" smtClean="0"/>
              <a:t>comma-separated list</a:t>
            </a:r>
            <a:r>
              <a:rPr lang="en-US" sz="2400" dirty="0" smtClean="0"/>
              <a:t> of colon separated </a:t>
            </a:r>
            <a:r>
              <a:rPr lang="en-US" sz="2400" b="1" dirty="0" err="1" smtClean="0">
                <a:latin typeface="Consolas" pitchFamily="49" charset="0"/>
              </a:rPr>
              <a:t>name:value</a:t>
            </a:r>
            <a:r>
              <a:rPr lang="en-US" sz="2400" dirty="0" smtClean="0"/>
              <a:t> pairs, enclosed within curly braces.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property name</a:t>
            </a:r>
            <a:r>
              <a:rPr lang="en-US" sz="2400" dirty="0" smtClean="0"/>
              <a:t> is a JavaScript </a:t>
            </a:r>
            <a:r>
              <a:rPr lang="en-US" sz="2400" u="sng" dirty="0" smtClean="0"/>
              <a:t>identifier</a:t>
            </a:r>
            <a:r>
              <a:rPr lang="en-US" sz="2400" dirty="0" smtClean="0"/>
              <a:t> or a string literal (the empty string is allowed).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property value</a:t>
            </a:r>
            <a:r>
              <a:rPr lang="en-US" sz="2400" dirty="0" smtClean="0"/>
              <a:t> is any JavaScript </a:t>
            </a:r>
            <a:r>
              <a:rPr lang="en-US" sz="2400" u="sng" dirty="0" smtClean="0"/>
              <a:t>expression</a:t>
            </a:r>
            <a:r>
              <a:rPr lang="en-US" sz="2400" dirty="0" smtClean="0"/>
              <a:t>; the value of the expression (it may be a primitive value or an object value) becomes the value of the property.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Literal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524000"/>
            <a:ext cx="8458200" cy="480131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empty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= {}; 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 An object with no properties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point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= {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x: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y: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}; 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 Two numeric properties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= {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x: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point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y: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point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+ 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}; 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 More complex values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book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= 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 These property names include spaces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"main title"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"JavaScript"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 and hyphens, so use string literals.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"sub-title"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"The Definitive Guide"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for: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"all audiences"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 for is reserved, but no quotes.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author: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{ 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 The value of this property is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firstname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"David"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 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 itself an object.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surname: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"Flanagan"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   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book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"main title"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book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book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author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firstname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4648200"/>
            <a:ext cx="1711325" cy="12731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Curly Brackets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452431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printName1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{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8C8C8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 Ngo"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printName2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{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 Ngo"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printName1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printName2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76800" y="3657600"/>
            <a:ext cx="301345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What are the outputs?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Properties to Object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2291477"/>
            <a:ext cx="8458200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{};</a:t>
            </a: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firstName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'Ngo'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    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add property via dot operator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lastName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'Bien'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add property via dot operator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"age"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 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41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  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add property via square brackets  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firstName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lastName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"age"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8600" y="3352800"/>
            <a:ext cx="688975" cy="130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Functions (Methods) to Object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524000"/>
            <a:ext cx="8458200" cy="480131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 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method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"Hello World!"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},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getOrganization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"HCMUS"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getFullName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() {  </a:t>
            </a:r>
            <a:r>
              <a:rPr lang="en-US" dirty="0" smtClean="0">
                <a:solidFill>
                  <a:srgbClr val="6A9955"/>
                </a:solidFill>
                <a:latin typeface="Consolas"/>
              </a:rPr>
              <a:t>// method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 Ngo"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sayHello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getOrganization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getFullName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2057400"/>
            <a:ext cx="1139825" cy="11017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Property Shorthand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variable value</a:t>
            </a:r>
            <a:r>
              <a:rPr lang="en-US" sz="2400" dirty="0" smtClean="0"/>
              <a:t> is </a:t>
            </a:r>
            <a:r>
              <a:rPr lang="en-US" sz="2400" u="sng" dirty="0" smtClean="0"/>
              <a:t>implicitly assigned to object property</a:t>
            </a:r>
            <a:r>
              <a:rPr lang="en-US" sz="2400" dirty="0" smtClean="0"/>
              <a:t> and there is no need to have a property specified while declaring an object.</a:t>
            </a:r>
          </a:p>
          <a:p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381000" y="3032879"/>
            <a:ext cx="8458200" cy="3139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author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"Ngo"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book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author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};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book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author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year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2021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publisher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"O'Reilly Media"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book2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publisher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year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author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};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book2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author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book2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year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book2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publisher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3810000"/>
            <a:ext cx="1441450" cy="14001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Template Literals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Template literal is a </a:t>
            </a:r>
            <a:r>
              <a:rPr lang="en-US" sz="2200" i="1" dirty="0" smtClean="0">
                <a:solidFill>
                  <a:srgbClr val="C00000"/>
                </a:solidFill>
              </a:rPr>
              <a:t>concatenation of variable</a:t>
            </a:r>
            <a:r>
              <a:rPr lang="en-US" sz="2200" dirty="0" smtClean="0"/>
              <a:t> in </a:t>
            </a:r>
            <a:r>
              <a:rPr lang="en-US" sz="2200" u="sng" dirty="0" smtClean="0"/>
              <a:t>string</a:t>
            </a:r>
            <a:r>
              <a:rPr lang="en-US" sz="2200" dirty="0" smtClean="0"/>
              <a:t> without using any operator, such as +.</a:t>
            </a:r>
          </a:p>
          <a:p>
            <a:r>
              <a:rPr lang="en-US" sz="2200" dirty="0" smtClean="0"/>
              <a:t>Template literals are </a:t>
            </a:r>
            <a:r>
              <a:rPr lang="en-US" sz="2200" i="1" dirty="0" smtClean="0">
                <a:solidFill>
                  <a:srgbClr val="C00000"/>
                </a:solidFill>
              </a:rPr>
              <a:t>enclosed</a:t>
            </a:r>
            <a:r>
              <a:rPr lang="en-US" sz="2200" dirty="0" smtClean="0"/>
              <a:t> by the </a:t>
            </a:r>
            <a:r>
              <a:rPr lang="en-US" sz="2200" b="1" dirty="0" smtClean="0"/>
              <a:t>back-tick (` `)</a:t>
            </a:r>
            <a:r>
              <a:rPr lang="en-US" sz="2200" dirty="0" smtClean="0"/>
              <a:t> (grave accent) instead of double or single quotes.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3386078"/>
            <a:ext cx="8458200" cy="28623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publisher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"O'Reilly Media"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edition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es6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ECMAScript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 2015 (also known as ES6 and 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ECMAScript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 6)"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book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publisher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`What's new in edition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${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edition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?`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] :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${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es6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 and other improvisation.`</a:t>
            </a:r>
            <a:endParaRPr lang="en-US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Whats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 new in edition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${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edition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?`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book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[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`What's new in edition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${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edition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?`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]);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4419600"/>
            <a:ext cx="2819400" cy="10772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 smtClean="0"/>
              <a:t>Computed property name: put an expression in brackets [], that will be computed and used as the property name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Symbol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Symbol value</a:t>
            </a:r>
            <a:r>
              <a:rPr lang="en-US" sz="2000" dirty="0" smtClean="0"/>
              <a:t> represents a </a:t>
            </a:r>
            <a:r>
              <a:rPr lang="en-US" sz="2000" u="sng" dirty="0" smtClean="0"/>
              <a:t>unique identifier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To obtain a Symbol value, you call the </a:t>
            </a:r>
            <a:r>
              <a:rPr lang="en-US" sz="2000" dirty="0" smtClean="0">
                <a:latin typeface="Consolas" pitchFamily="49" charset="0"/>
              </a:rPr>
              <a:t>Symbol()</a:t>
            </a:r>
            <a:r>
              <a:rPr lang="en-US" sz="2000" dirty="0" smtClean="0"/>
              <a:t> function.</a:t>
            </a:r>
          </a:p>
          <a:p>
            <a:r>
              <a:rPr lang="en-US" sz="2000" dirty="0" smtClean="0"/>
              <a:t>This function never returns the same value twice, even when called with the same argument.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533400" y="3200400"/>
            <a:ext cx="8001000" cy="3139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{};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Symbol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"Ngo Huy Bien"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{};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person2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Symbol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person2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 Huy Ngo"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"person1.id  == person2.id: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 ==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"person1.id: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toString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typeof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 person1.id: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typeof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typeof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 person1.name: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typeof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person1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3429000"/>
            <a:ext cx="2692400" cy="10826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Primitive Data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200" dirty="0" smtClean="0">
                <a:hlinkClick r:id="rId2"/>
              </a:rPr>
              <a:t>https://developer.mozilla.org/en-US/docs/Glossary/Primitive</a:t>
            </a:r>
            <a:endParaRPr lang="en-US" sz="2200" dirty="0" smtClean="0"/>
          </a:p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primitive</a:t>
            </a:r>
            <a:r>
              <a:rPr lang="en-US" sz="2200" dirty="0" smtClean="0"/>
              <a:t> (primitive value, primitive data type) is </a:t>
            </a:r>
            <a:r>
              <a:rPr lang="en-US" sz="2200" u="sng" dirty="0" smtClean="0"/>
              <a:t>data</a:t>
            </a:r>
            <a:r>
              <a:rPr lang="en-US" sz="2200" dirty="0" smtClean="0"/>
              <a:t> that is </a:t>
            </a:r>
            <a:r>
              <a:rPr lang="en-US" sz="2200" u="sng" dirty="0" smtClean="0"/>
              <a:t>not an object</a:t>
            </a:r>
            <a:r>
              <a:rPr lang="en-US" sz="2200" dirty="0" smtClean="0"/>
              <a:t> and has no methods.</a:t>
            </a:r>
          </a:p>
          <a:p>
            <a:r>
              <a:rPr lang="en-US" sz="2200" dirty="0" smtClean="0"/>
              <a:t>There are 7 primitive data types: </a:t>
            </a:r>
            <a:r>
              <a:rPr lang="en-US" sz="2200" dirty="0" smtClean="0">
                <a:latin typeface="Consolas" pitchFamily="49" charset="0"/>
              </a:rPr>
              <a:t>string, number, </a:t>
            </a:r>
            <a:r>
              <a:rPr lang="en-US" sz="2200" dirty="0" err="1" smtClean="0">
                <a:latin typeface="Consolas" pitchFamily="49" charset="0"/>
              </a:rPr>
              <a:t>bigint</a:t>
            </a:r>
            <a:r>
              <a:rPr lang="en-US" sz="2200" dirty="0" smtClean="0">
                <a:latin typeface="Consolas" pitchFamily="49" charset="0"/>
              </a:rPr>
              <a:t>, </a:t>
            </a:r>
            <a:r>
              <a:rPr lang="en-US" sz="2200" dirty="0" err="1" smtClean="0">
                <a:latin typeface="Consolas" pitchFamily="49" charset="0"/>
              </a:rPr>
              <a:t>boolean</a:t>
            </a:r>
            <a:r>
              <a:rPr lang="en-US" sz="2200" dirty="0" smtClean="0">
                <a:latin typeface="Consolas" pitchFamily="49" charset="0"/>
              </a:rPr>
              <a:t>, undefined, symbol, and null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All primitives are </a:t>
            </a:r>
            <a:r>
              <a:rPr lang="en-US" sz="2200" i="1" dirty="0" smtClean="0">
                <a:solidFill>
                  <a:srgbClr val="C00000"/>
                </a:solidFill>
              </a:rPr>
              <a:t>immutable</a:t>
            </a:r>
            <a:r>
              <a:rPr lang="en-US" sz="2200" dirty="0" smtClean="0"/>
              <a:t>, i.e., they </a:t>
            </a:r>
            <a:r>
              <a:rPr lang="en-US" sz="2200" u="sng" dirty="0" smtClean="0"/>
              <a:t>cannot be altered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It is important not to confuse a primitive itself with a </a:t>
            </a:r>
            <a:r>
              <a:rPr lang="en-US" sz="2200" i="1" dirty="0" smtClean="0">
                <a:solidFill>
                  <a:srgbClr val="C00000"/>
                </a:solidFill>
              </a:rPr>
              <a:t>variable</a:t>
            </a:r>
            <a:r>
              <a:rPr lang="en-US" sz="2200" dirty="0" smtClean="0"/>
              <a:t> assigned a </a:t>
            </a:r>
            <a:r>
              <a:rPr lang="en-US" sz="2200" u="sng" dirty="0" smtClean="0"/>
              <a:t>primitive value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variable</a:t>
            </a:r>
            <a:r>
              <a:rPr lang="en-US" sz="2200" dirty="0" smtClean="0"/>
              <a:t> may be reassigned a </a:t>
            </a:r>
            <a:r>
              <a:rPr lang="en-US" sz="2200" u="sng" dirty="0" smtClean="0"/>
              <a:t>new value</a:t>
            </a:r>
            <a:r>
              <a:rPr lang="en-US" sz="2200" dirty="0" smtClean="0"/>
              <a:t>, but the </a:t>
            </a:r>
            <a:r>
              <a:rPr lang="en-US" sz="2200" i="1" dirty="0" smtClean="0">
                <a:solidFill>
                  <a:srgbClr val="C00000"/>
                </a:solidFill>
              </a:rPr>
              <a:t>existing value</a:t>
            </a:r>
            <a:r>
              <a:rPr lang="en-US" sz="2200" dirty="0" smtClean="0"/>
              <a:t> can not be changed in the ways that objects, arrays, and functions can be altered.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5486400"/>
            <a:ext cx="8001000" cy="9233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"Ngo Huy Bien"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 Huy Ngo"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6A9955"/>
                </a:solidFill>
                <a:latin typeface="Consolas"/>
              </a:rPr>
              <a:t>// "Bien Huy Ngo" = "Ngo";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Primitive Wrapper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Except for </a:t>
            </a:r>
            <a:r>
              <a:rPr lang="en-US" sz="2400" dirty="0" smtClean="0">
                <a:latin typeface="Consolas" pitchFamily="49" charset="0"/>
              </a:rPr>
              <a:t>null</a:t>
            </a:r>
            <a:r>
              <a:rPr lang="en-US" sz="2400" dirty="0" smtClean="0"/>
              <a:t> and </a:t>
            </a:r>
            <a:r>
              <a:rPr lang="en-US" sz="2400" dirty="0" smtClean="0">
                <a:latin typeface="Consolas" pitchFamily="49" charset="0"/>
              </a:rPr>
              <a:t>undefined</a:t>
            </a:r>
            <a:r>
              <a:rPr lang="en-US" sz="2400" dirty="0" smtClean="0"/>
              <a:t>, all primitive values have </a:t>
            </a:r>
            <a:r>
              <a:rPr lang="en-US" sz="2400" i="1" dirty="0" smtClean="0">
                <a:solidFill>
                  <a:srgbClr val="C00000"/>
                </a:solidFill>
              </a:rPr>
              <a:t>object equivalents</a:t>
            </a:r>
            <a:r>
              <a:rPr lang="en-US" sz="2400" dirty="0" smtClean="0"/>
              <a:t> that wrap around the primitive values:</a:t>
            </a:r>
          </a:p>
          <a:p>
            <a:pPr lvl="1"/>
            <a:r>
              <a:rPr lang="en-US" sz="2000" dirty="0" smtClean="0"/>
              <a:t>String for the string primitive.</a:t>
            </a:r>
          </a:p>
          <a:p>
            <a:pPr lvl="1"/>
            <a:r>
              <a:rPr lang="en-US" sz="2000" dirty="0" smtClean="0"/>
              <a:t>Number for the number primitive.</a:t>
            </a:r>
          </a:p>
          <a:p>
            <a:pPr lvl="1"/>
            <a:r>
              <a:rPr lang="en-US" sz="2000" dirty="0" err="1" smtClean="0"/>
              <a:t>BigInt</a:t>
            </a:r>
            <a:r>
              <a:rPr lang="en-US" sz="2000" dirty="0" smtClean="0"/>
              <a:t> for the </a:t>
            </a:r>
            <a:r>
              <a:rPr lang="en-US" sz="2000" dirty="0" err="1" smtClean="0"/>
              <a:t>bigint</a:t>
            </a:r>
            <a:r>
              <a:rPr lang="en-US" sz="2000" dirty="0" smtClean="0"/>
              <a:t> primitive.</a:t>
            </a:r>
          </a:p>
          <a:p>
            <a:pPr lvl="1"/>
            <a:r>
              <a:rPr lang="en-US" sz="2000" dirty="0" smtClean="0"/>
              <a:t>Boolean for the </a:t>
            </a:r>
            <a:r>
              <a:rPr lang="en-US" sz="2000" dirty="0" err="1" smtClean="0"/>
              <a:t>boolean</a:t>
            </a:r>
            <a:r>
              <a:rPr lang="en-US" sz="2000" dirty="0" smtClean="0"/>
              <a:t> primitive.</a:t>
            </a:r>
          </a:p>
          <a:p>
            <a:pPr lvl="1"/>
            <a:r>
              <a:rPr lang="en-US" sz="2000" dirty="0" smtClean="0"/>
              <a:t>Symbol for the symbol primitive.</a:t>
            </a:r>
          </a:p>
          <a:p>
            <a:r>
              <a:rPr lang="en-US" sz="2400" dirty="0" smtClean="0"/>
              <a:t>The wrapper's </a:t>
            </a:r>
            <a:r>
              <a:rPr lang="en-US" sz="2400" dirty="0" err="1" smtClean="0">
                <a:latin typeface="Consolas" pitchFamily="49" charset="0"/>
              </a:rPr>
              <a:t>valueOf</a:t>
            </a:r>
            <a:r>
              <a:rPr lang="en-US" sz="2400" dirty="0" smtClean="0">
                <a:latin typeface="Consolas" pitchFamily="49" charset="0"/>
              </a:rPr>
              <a:t>()</a:t>
            </a:r>
            <a:r>
              <a:rPr lang="en-US" sz="2400" dirty="0" smtClean="0"/>
              <a:t> method returns the primitive value.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5068669"/>
            <a:ext cx="8001000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bigInteger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BigInt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B5CEA8"/>
                </a:solidFill>
                <a:latin typeface="Consolas"/>
              </a:rPr>
              <a:t>12345678901234567890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bigInteger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bigInteger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valueOf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470898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***** If statement (all false)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(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false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||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null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||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undefined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||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||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|| 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NaN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"This line won't ever execute"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"All false"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***** If statement (all true)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&amp;&amp;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"hello"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&amp;&amp;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&amp;&amp; -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&amp;&amp;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"false"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"All true"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"One of them is true."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2971800"/>
            <a:ext cx="301345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What are the outputs?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934200" y="3810000"/>
            <a:ext cx="1600200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Boolean can only have 2</a:t>
            </a:r>
          </a:p>
          <a:p>
            <a:r>
              <a:rPr lang="en-US" sz="2400" dirty="0" smtClean="0"/>
              <a:t>values: </a:t>
            </a:r>
            <a:r>
              <a:rPr lang="en-US" sz="2400" b="1" dirty="0" smtClean="0">
                <a:latin typeface="Consolas" pitchFamily="49" charset="0"/>
              </a:rPr>
              <a:t>true</a:t>
            </a:r>
            <a:r>
              <a:rPr lang="en-US" sz="2400" dirty="0" smtClean="0"/>
              <a:t> or </a:t>
            </a:r>
            <a:r>
              <a:rPr lang="en-US" sz="2400" b="1" dirty="0" smtClean="0">
                <a:latin typeface="Consolas" pitchFamily="49" charset="0"/>
              </a:rPr>
              <a:t>false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480131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firstName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"Bien"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fullName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firstName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 Ngo"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"Full Name: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fullName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coercion1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false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&amp;&amp;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fullName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"false &amp;&amp; string: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coercion1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"Type: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typeof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coercion1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coercion2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false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||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fullName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"false || string: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coercion2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"Type: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typeof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coercion2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coercion3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&amp;&amp;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fullName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"true &amp;&amp; string: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coercion3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"Type: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typeof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coercion3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coercion4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true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||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fullName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"true || string: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coercion4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"Type: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(</a:t>
            </a:r>
            <a:r>
              <a:rPr lang="en-US" dirty="0" err="1" smtClean="0">
                <a:solidFill>
                  <a:srgbClr val="569CD6"/>
                </a:solidFill>
                <a:latin typeface="Consolas"/>
              </a:rPr>
              <a:t>typeof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coercion4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1752600"/>
            <a:ext cx="301345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What are the outputs?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6477000" y="4267200"/>
            <a:ext cx="2057400" cy="19389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/>
              <a:t>String is sequence of characters used to represent text.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Handling Default Values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480131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orderChickenWith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sideDish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"Chicken with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sideDish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orderChickenWith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"noodles"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orderChickenWith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orderChickenWith2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sideDish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sideDish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==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undefined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sideDish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"whatever!"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"Chicken with 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sideDish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D4D4D4"/>
                </a:solidFill>
                <a:latin typeface="Consolas"/>
              </a:rPr>
            </a:br>
            <a:r>
              <a:rPr lang="en-US" dirty="0" smtClean="0">
                <a:solidFill>
                  <a:srgbClr val="DCDCAA"/>
                </a:solidFill>
                <a:latin typeface="Consolas"/>
              </a:rPr>
              <a:t>orderChickenWith2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"noodles"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DCDCAA"/>
                </a:solidFill>
                <a:latin typeface="Consolas"/>
              </a:rPr>
              <a:t>orderChickenWith2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b="0" dirty="0">
              <a:solidFill>
                <a:srgbClr val="D4D4D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Idiom for Handling Default Values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957387"/>
            <a:ext cx="8229600" cy="24622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orderChickenWith3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sideDish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sideDish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sideDish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|| 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"whatever!"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"Chicken with 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sideDish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2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orderChickenWith3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"noodles"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orderChickenWith3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();</a:t>
            </a:r>
            <a:endParaRPr lang="en-US" sz="2200" b="0" dirty="0">
              <a:solidFill>
                <a:srgbClr val="D4D4D4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75540" y="4876800"/>
            <a:ext cx="3605988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Why care about this idiom?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66195"/>
            <a:ext cx="8229600" cy="440120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6A9955"/>
                </a:solidFill>
                <a:latin typeface="Consolas"/>
              </a:rPr>
              <a:t>// for loop</a:t>
            </a:r>
            <a:endParaRPr lang="en-US" sz="2000" dirty="0" smtClean="0">
              <a:solidFill>
                <a:srgbClr val="D4D4D4"/>
              </a:solidFill>
              <a:latin typeface="Consolas"/>
            </a:endParaRPr>
          </a:p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sum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&lt;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++)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sum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sum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"Count: 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+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". Sum: 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sum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"Sum of 0 through 9 is: 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sum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( (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null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 || (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undefined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) || 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   || (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"Hello"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)) ||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&gt;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) {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 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"Hello"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1331" y="5638800"/>
            <a:ext cx="7590989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200" dirty="0" smtClean="0"/>
              <a:t>How many times will the word 'Hello' be printed to the console?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Copy by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 JavaScript, </a:t>
            </a:r>
            <a:r>
              <a:rPr lang="en-US" sz="2400" i="1" dirty="0" smtClean="0">
                <a:solidFill>
                  <a:srgbClr val="C00000"/>
                </a:solidFill>
              </a:rPr>
              <a:t>primitives</a:t>
            </a:r>
            <a:r>
              <a:rPr lang="en-US" sz="2400" dirty="0" smtClean="0"/>
              <a:t> are copied by value.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457200" y="2362200"/>
            <a:ext cx="8229600" cy="3139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2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"a: 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"b: 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2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"b has been set to 3."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"a: 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"b: 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22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2529721"/>
            <a:ext cx="2159000" cy="1549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Rectangle 6"/>
          <p:cNvSpPr/>
          <p:nvPr/>
        </p:nvSpPr>
        <p:spPr>
          <a:xfrm>
            <a:off x="5791200" y="5257800"/>
            <a:ext cx="1219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543800" y="5257800"/>
            <a:ext cx="1219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96000" y="4800600"/>
            <a:ext cx="685800" cy="3048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772400" y="4800600"/>
            <a:ext cx="685800" cy="3048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6781800" y="5486400"/>
            <a:ext cx="990600" cy="2286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91200" y="5943600"/>
            <a:ext cx="1219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543800" y="5943600"/>
            <a:ext cx="1219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Copy by Reference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Also called copy by </a:t>
            </a:r>
            <a:r>
              <a:rPr lang="en-US" sz="2400" i="1" dirty="0" smtClean="0">
                <a:solidFill>
                  <a:srgbClr val="C00000"/>
                </a:solidFill>
              </a:rPr>
              <a:t>address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 JavaScript, </a:t>
            </a:r>
            <a:r>
              <a:rPr lang="en-US" sz="2400" i="1" dirty="0" smtClean="0">
                <a:solidFill>
                  <a:srgbClr val="C00000"/>
                </a:solidFill>
              </a:rPr>
              <a:t>objects</a:t>
            </a:r>
            <a:r>
              <a:rPr lang="en-US" sz="2400" dirty="0" smtClean="0"/>
              <a:t> are copied by reference.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457200" y="2624078"/>
            <a:ext cx="8229600" cy="28623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{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x: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};</a:t>
            </a:r>
          </a:p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0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000" dirty="0" smtClean="0">
                <a:solidFill>
                  <a:srgbClr val="B5CEA8"/>
                </a:solidFill>
                <a:latin typeface="Consolas"/>
              </a:rPr>
              <a:t>3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000" dirty="0" err="1" smtClean="0">
                <a:solidFill>
                  <a:srgbClr val="CE9178"/>
                </a:solidFill>
                <a:latin typeface="Consolas"/>
              </a:rPr>
              <a:t>b.x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 has been set to 3."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a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0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b</a:t>
            </a:r>
            <a:r>
              <a:rPr lang="en-US" sz="20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9CDCFE"/>
                </a:solidFill>
                <a:latin typeface="Consolas"/>
              </a:rPr>
              <a:t>x</a:t>
            </a:r>
            <a:r>
              <a:rPr lang="en-US" sz="20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20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2882920"/>
            <a:ext cx="1990725" cy="15208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8"/>
          <p:cNvSpPr/>
          <p:nvPr/>
        </p:nvSpPr>
        <p:spPr>
          <a:xfrm>
            <a:off x="5029200" y="5715000"/>
            <a:ext cx="1219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334000" y="5257800"/>
            <a:ext cx="685800" cy="3048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791200" y="5029200"/>
            <a:ext cx="685800" cy="3048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086600" y="5715000"/>
            <a:ext cx="1219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010400" y="5257800"/>
            <a:ext cx="685800" cy="3048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467600" y="5029200"/>
            <a:ext cx="685800" cy="3048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Pass by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 JavaScript, </a:t>
            </a:r>
            <a:r>
              <a:rPr lang="en-US" sz="2400" i="1" dirty="0" smtClean="0">
                <a:solidFill>
                  <a:srgbClr val="C00000"/>
                </a:solidFill>
              </a:rPr>
              <a:t>primitives</a:t>
            </a:r>
            <a:r>
              <a:rPr lang="en-US" sz="2400" dirty="0" smtClean="0"/>
              <a:t> are passed by value.</a:t>
            </a:r>
          </a:p>
          <a:p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457200" y="2438400"/>
            <a:ext cx="8229600" cy="347787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err="1" smtClean="0">
                <a:solidFill>
                  <a:srgbClr val="DCDCAA"/>
                </a:solidFill>
                <a:latin typeface="Consolas"/>
              </a:rPr>
              <a:t>passByValue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param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200" dirty="0" err="1" smtClean="0">
                <a:solidFill>
                  <a:srgbClr val="CE9178"/>
                </a:solidFill>
                <a:latin typeface="Consolas"/>
              </a:rPr>
              <a:t>param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 value: 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param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param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5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2200" dirty="0" err="1" smtClean="0">
                <a:solidFill>
                  <a:srgbClr val="CE9178"/>
                </a:solidFill>
                <a:latin typeface="Consolas"/>
              </a:rPr>
              <a:t>param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 value: 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param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2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2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"count value: 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err="1" smtClean="0">
                <a:solidFill>
                  <a:srgbClr val="DCDCAA"/>
                </a:solidFill>
                <a:latin typeface="Consolas"/>
              </a:rPr>
              <a:t>passByValue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"count value: 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count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4267200"/>
            <a:ext cx="1482725" cy="1295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Pass by 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Also called passed by </a:t>
            </a:r>
            <a:r>
              <a:rPr lang="en-US" sz="2400" i="1" dirty="0" smtClean="0">
                <a:solidFill>
                  <a:srgbClr val="C00000"/>
                </a:solidFill>
              </a:rPr>
              <a:t>address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 JavaScript, </a:t>
            </a:r>
            <a:r>
              <a:rPr lang="en-US" sz="2400" i="1" dirty="0" smtClean="0">
                <a:solidFill>
                  <a:srgbClr val="C00000"/>
                </a:solidFill>
              </a:rPr>
              <a:t>objects</a:t>
            </a:r>
            <a:r>
              <a:rPr lang="en-US" sz="2400" dirty="0" smtClean="0"/>
              <a:t> are passed by reference.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8229600" cy="347787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err="1" smtClean="0">
                <a:solidFill>
                  <a:srgbClr val="DCDCAA"/>
                </a:solidFill>
                <a:latin typeface="Consolas"/>
              </a:rPr>
              <a:t>passByReference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"Person age: 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sz="22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sz="22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= 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21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   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smtClean="0">
                <a:solidFill>
                  <a:srgbClr val="CE9178"/>
                </a:solidFill>
                <a:latin typeface="Consolas"/>
              </a:rPr>
              <a:t>"Person age: "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+ 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person</a:t>
            </a:r>
            <a:r>
              <a:rPr lang="en-US" sz="22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/>
            </a:r>
            <a:br>
              <a:rPr lang="en-US" sz="2200" dirty="0" smtClean="0">
                <a:solidFill>
                  <a:srgbClr val="D4D4D4"/>
                </a:solidFill>
                <a:latin typeface="Consolas"/>
              </a:rPr>
            </a:br>
            <a:r>
              <a:rPr lang="en-US" sz="2200" dirty="0" err="1" smtClean="0">
                <a:solidFill>
                  <a:srgbClr val="569CD6"/>
                </a:solidFill>
                <a:latin typeface="Consolas"/>
              </a:rPr>
              <a:t>var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ngo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= { </a:t>
            </a:r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age: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 dirty="0" smtClean="0">
                <a:solidFill>
                  <a:srgbClr val="B5CEA8"/>
                </a:solidFill>
                <a:latin typeface="Consolas"/>
              </a:rPr>
              <a:t>20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 };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ngo</a:t>
            </a:r>
            <a:r>
              <a:rPr lang="en-US" sz="22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err="1" smtClean="0">
                <a:solidFill>
                  <a:srgbClr val="DCDCAA"/>
                </a:solidFill>
                <a:latin typeface="Consolas"/>
              </a:rPr>
              <a:t>passByReference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ngo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lang="en-US" sz="2200" dirty="0" smtClean="0">
                <a:solidFill>
                  <a:srgbClr val="9CDCFE"/>
                </a:solidFill>
                <a:latin typeface="Consolas"/>
              </a:rPr>
              <a:t>console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smtClean="0">
                <a:solidFill>
                  <a:srgbClr val="DCDCAA"/>
                </a:solidFill>
                <a:latin typeface="Consolas"/>
              </a:rPr>
              <a:t>log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ngo</a:t>
            </a:r>
            <a:r>
              <a:rPr lang="en-US" sz="22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 dirty="0" err="1" smtClean="0">
                <a:solidFill>
                  <a:srgbClr val="9CDCFE"/>
                </a:solidFill>
                <a:latin typeface="Consolas"/>
              </a:rPr>
              <a:t>age</a:t>
            </a:r>
            <a:r>
              <a:rPr lang="en-US" sz="2200" dirty="0" smtClean="0">
                <a:solidFill>
                  <a:srgbClr val="D4D4D4"/>
                </a:solidFill>
                <a:latin typeface="Consolas"/>
              </a:rPr>
              <a:t>);</a:t>
            </a:r>
            <a:endParaRPr lang="en-US" sz="2200" b="0" dirty="0">
              <a:solidFill>
                <a:srgbClr val="D4D4D4"/>
              </a:solidFill>
              <a:latin typeface="Consolas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4495800"/>
            <a:ext cx="1549400" cy="13017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dirty="0" smtClean="0">
                <a:hlinkClick r:id="rId2"/>
              </a:rPr>
              <a:t>https://developer.mozilla.org/en-US/docs/Learn/JavaScript</a:t>
            </a:r>
            <a:endParaRPr lang="en-US" sz="1900" dirty="0" smtClean="0"/>
          </a:p>
          <a:p>
            <a:r>
              <a:rPr lang="en-US" sz="1900" dirty="0" smtClean="0"/>
              <a:t>Jon </a:t>
            </a:r>
            <a:r>
              <a:rPr lang="en-US" sz="1900" dirty="0" err="1" smtClean="0"/>
              <a:t>Duckett</a:t>
            </a:r>
            <a:r>
              <a:rPr lang="en-US" sz="1900" dirty="0" smtClean="0"/>
              <a:t> (2014). JavaScript and </a:t>
            </a:r>
            <a:r>
              <a:rPr lang="en-US" sz="1900" dirty="0" err="1" smtClean="0"/>
              <a:t>JQuery</a:t>
            </a:r>
            <a:r>
              <a:rPr lang="en-US" sz="1900" dirty="0" smtClean="0"/>
              <a:t>. Interactive Front-End Web Development. John Wiley &amp; Sons: from Chapter 1 to Chapter 4.</a:t>
            </a:r>
          </a:p>
          <a:p>
            <a:r>
              <a:rPr lang="en-US" sz="1900" dirty="0" err="1" smtClean="0"/>
              <a:t>Marijn</a:t>
            </a:r>
            <a:r>
              <a:rPr lang="en-US" sz="1900" dirty="0" smtClean="0"/>
              <a:t> </a:t>
            </a:r>
            <a:r>
              <a:rPr lang="en-US" sz="1900" dirty="0" err="1" smtClean="0"/>
              <a:t>Haverbeke</a:t>
            </a:r>
            <a:r>
              <a:rPr lang="en-US" sz="1900" dirty="0" smtClean="0"/>
              <a:t> (2019). Eloquent JavaScript - A Modern Introduction to Programming. No Starch Press: from Chapter 1 to Chapter 5.</a:t>
            </a:r>
          </a:p>
          <a:p>
            <a:r>
              <a:rPr lang="en-US" sz="1900" dirty="0" smtClean="0"/>
              <a:t>Kyle Simpson (2020). You Don't Know JS Yet - Get Started. </a:t>
            </a:r>
            <a:r>
              <a:rPr lang="en-US" sz="1900" dirty="0" err="1" smtClean="0"/>
              <a:t>Leanpub</a:t>
            </a:r>
            <a:r>
              <a:rPr lang="en-US" sz="1900" dirty="0" smtClean="0"/>
              <a:t>.</a:t>
            </a:r>
          </a:p>
          <a:p>
            <a:r>
              <a:rPr lang="en-US" sz="1900" dirty="0" smtClean="0"/>
              <a:t>Kyle Simpson (2020). You Don't Know JS Yet - Scope &amp; Closures. </a:t>
            </a:r>
            <a:r>
              <a:rPr lang="en-US" sz="1900" dirty="0" err="1" smtClean="0"/>
              <a:t>Leanpub</a:t>
            </a:r>
            <a:r>
              <a:rPr lang="en-US" sz="1900" dirty="0" smtClean="0"/>
              <a:t>.</a:t>
            </a:r>
          </a:p>
          <a:p>
            <a:r>
              <a:rPr lang="en-US" sz="1900" dirty="0" smtClean="0"/>
              <a:t>Kyle Simpson (2015). You Don't Know JS - Types &amp; Grammar. O'Reilly Media.</a:t>
            </a:r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799" y="4495800"/>
            <a:ext cx="2925248" cy="19489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Thank 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6352</TotalTime>
  <Words>1667</Words>
  <Application>Microsoft Office PowerPoint</Application>
  <PresentationFormat>On-screen Show (4:3)</PresentationFormat>
  <Paragraphs>552</Paragraphs>
  <Slides>51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Introduction to JavaScript</vt:lpstr>
      <vt:lpstr>Objectives</vt:lpstr>
      <vt:lpstr>Contents</vt:lpstr>
      <vt:lpstr>References</vt:lpstr>
      <vt:lpstr>What is JavaScript? [1]</vt:lpstr>
      <vt:lpstr>Why Learn JavaScript?</vt:lpstr>
      <vt:lpstr>Numbers</vt:lpstr>
      <vt:lpstr>Chrome JavaScript Console</vt:lpstr>
      <vt:lpstr>Hello JavaScript</vt:lpstr>
      <vt:lpstr>Literals</vt:lpstr>
      <vt:lpstr>Literals Example</vt:lpstr>
      <vt:lpstr>Variables</vt:lpstr>
      <vt:lpstr>Undefined, null, NaN and Infinity</vt:lpstr>
      <vt:lpstr>"not defined"</vt:lpstr>
      <vt:lpstr>Comparisons</vt:lpstr>
      <vt:lpstr>Slide 16</vt:lpstr>
      <vt:lpstr>Function Declarations</vt:lpstr>
      <vt:lpstr>Function Expressions</vt:lpstr>
      <vt:lpstr>Function Expressions with Names</vt:lpstr>
      <vt:lpstr>Functions as Parameters</vt:lpstr>
      <vt:lpstr>Functions as Return Values</vt:lpstr>
      <vt:lpstr>Quiz</vt:lpstr>
      <vt:lpstr>Scope of var</vt:lpstr>
      <vt:lpstr>Scope of let</vt:lpstr>
      <vt:lpstr>Scope of const</vt:lpstr>
      <vt:lpstr>Quiz</vt:lpstr>
      <vt:lpstr>Hoisting</vt:lpstr>
      <vt:lpstr>Why Hoisting?</vt:lpstr>
      <vt:lpstr>Rest Parameters</vt:lpstr>
      <vt:lpstr>Slide 30</vt:lpstr>
      <vt:lpstr>Object Literals</vt:lpstr>
      <vt:lpstr>Object Literal Example</vt:lpstr>
      <vt:lpstr>Curly Brackets</vt:lpstr>
      <vt:lpstr>Add Properties to Object</vt:lpstr>
      <vt:lpstr>Add Functions (Methods) to Object</vt:lpstr>
      <vt:lpstr>Property Shorthand</vt:lpstr>
      <vt:lpstr>Template Literals</vt:lpstr>
      <vt:lpstr>Symbol</vt:lpstr>
      <vt:lpstr>Primitive Data Types</vt:lpstr>
      <vt:lpstr>Primitive Wrapper Objects</vt:lpstr>
      <vt:lpstr>Boolean</vt:lpstr>
      <vt:lpstr>String</vt:lpstr>
      <vt:lpstr>Handling Default Values</vt:lpstr>
      <vt:lpstr>Idiom for Handling Default Values</vt:lpstr>
      <vt:lpstr>for</vt:lpstr>
      <vt:lpstr>Copy by Value</vt:lpstr>
      <vt:lpstr>Copy by Reference </vt:lpstr>
      <vt:lpstr>Pass by Value</vt:lpstr>
      <vt:lpstr>Pass by Reference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Client</dc:title>
  <dc:creator>HuyBien</dc:creator>
  <cp:lastModifiedBy>Ngo Huy Bien</cp:lastModifiedBy>
  <cp:revision>2894</cp:revision>
  <dcterms:created xsi:type="dcterms:W3CDTF">2009-01-22T10:11:40Z</dcterms:created>
  <dcterms:modified xsi:type="dcterms:W3CDTF">2024-01-21T20:03:50Z</dcterms:modified>
</cp:coreProperties>
</file>