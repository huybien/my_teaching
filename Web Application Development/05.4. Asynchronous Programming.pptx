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62" r:id="rId2"/>
    <p:sldId id="372" r:id="rId3"/>
    <p:sldId id="373" r:id="rId4"/>
    <p:sldId id="285" r:id="rId5"/>
    <p:sldId id="494" r:id="rId6"/>
    <p:sldId id="493" r:id="rId7"/>
    <p:sldId id="495" r:id="rId8"/>
    <p:sldId id="496" r:id="rId9"/>
    <p:sldId id="497" r:id="rId10"/>
    <p:sldId id="491" r:id="rId11"/>
    <p:sldId id="498" r:id="rId12"/>
    <p:sldId id="508" r:id="rId13"/>
    <p:sldId id="500" r:id="rId14"/>
    <p:sldId id="436" r:id="rId15"/>
    <p:sldId id="501" r:id="rId16"/>
    <p:sldId id="509" r:id="rId17"/>
    <p:sldId id="504" r:id="rId18"/>
    <p:sldId id="523" r:id="rId19"/>
    <p:sldId id="514" r:id="rId20"/>
    <p:sldId id="517" r:id="rId21"/>
    <p:sldId id="516" r:id="rId22"/>
    <p:sldId id="522" r:id="rId23"/>
    <p:sldId id="437" r:id="rId24"/>
    <p:sldId id="438" r:id="rId25"/>
    <p:sldId id="439" r:id="rId26"/>
    <p:sldId id="521" r:id="rId27"/>
    <p:sldId id="506" r:id="rId28"/>
    <p:sldId id="440" r:id="rId29"/>
    <p:sldId id="511" r:id="rId30"/>
    <p:sldId id="512" r:id="rId31"/>
    <p:sldId id="513" r:id="rId32"/>
    <p:sldId id="510" r:id="rId33"/>
    <p:sldId id="502" r:id="rId34"/>
    <p:sldId id="441" r:id="rId35"/>
    <p:sldId id="442" r:id="rId36"/>
    <p:sldId id="443" r:id="rId37"/>
    <p:sldId id="444" r:id="rId38"/>
    <p:sldId id="524" r:id="rId39"/>
    <p:sldId id="520" r:id="rId40"/>
    <p:sldId id="519" r:id="rId41"/>
    <p:sldId id="490" r:id="rId42"/>
    <p:sldId id="371"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61" autoAdjust="0"/>
    <p:restoredTop sz="82917" autoAdjust="0"/>
  </p:normalViewPr>
  <p:slideViewPr>
    <p:cSldViewPr>
      <p:cViewPr>
        <p:scale>
          <a:sx n="50" d="100"/>
          <a:sy n="50" d="100"/>
        </p:scale>
        <p:origin x="-1612" y="-216"/>
      </p:cViewPr>
      <p:guideLst>
        <p:guide orient="horz" pos="2160"/>
        <p:guide pos="2880"/>
      </p:guideLst>
    </p:cSldViewPr>
  </p:slideViewPr>
  <p:outlineViewPr>
    <p:cViewPr>
      <p:scale>
        <a:sx n="33" d="100"/>
        <a:sy n="33" d="100"/>
      </p:scale>
      <p:origin x="50" y="13066"/>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F31185-9D31-472E-A4C1-E109FAA53E08}" type="datetimeFigureOut">
              <a:rPr lang="en-US" smtClean="0"/>
              <a:pPr/>
              <a:t>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4C63F8-74DE-4EBD-9E3B-8C76B927D45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BC163B-A334-4AF0-8F79-DA2B7EC4EC47}" type="datetimeFigureOut">
              <a:rPr lang="en-US" smtClean="0"/>
              <a:pPr/>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BC163B-A334-4AF0-8F79-DA2B7EC4EC47}" type="datetimeFigureOut">
              <a:rPr lang="en-US" smtClean="0"/>
              <a:pPr/>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BC163B-A334-4AF0-8F79-DA2B7EC4EC47}" type="datetimeFigureOut">
              <a:rPr lang="en-US" smtClean="0"/>
              <a:pPr/>
              <a:t>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BC163B-A334-4AF0-8F79-DA2B7EC4EC47}" type="datetimeFigureOut">
              <a:rPr lang="en-US" smtClean="0"/>
              <a:pPr/>
              <a:t>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C163B-A334-4AF0-8F79-DA2B7EC4EC47}" type="datetimeFigureOut">
              <a:rPr lang="en-US" smtClean="0"/>
              <a:pPr/>
              <a:t>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C163B-A334-4AF0-8F79-DA2B7EC4EC47}" type="datetimeFigureOut">
              <a:rPr lang="en-US" smtClean="0"/>
              <a:pPr/>
              <a:t>1/21/2024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3B51A9-7D3A-4012-9382-6DE3942971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codewala.net/2015/07/29/concurrency-vs-multi-threading-vs-asynchronous-programming-explaine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nodejs.org/api/worker_threads.html" TargetMode="External"/><Relationship Id="rId2" Type="http://schemas.openxmlformats.org/officeDocument/2006/relationships/hyperlink" Target="https://developer.mozilla.org/en-US/docs/Web/API/Work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simplilearn.com/tutorials/nodejs-tutorial/nodejs-worker-thread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freecodecamp.org/news/how-webworkers-work-in-javascript-with-example/"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nodejs.org/api/worker_threads.html" TargetMode="External"/><Relationship Id="rId2" Type="http://schemas.openxmlformats.org/officeDocument/2006/relationships/hyperlink" Target="https://developer.mozilla.org/en-US/docs/Web/API/Web_Workers_API/Using_web_workers" TargetMode="Externa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rmAutofit/>
          </a:bodyPr>
          <a:lstStyle/>
          <a:p>
            <a:r>
              <a:rPr lang="en-US" sz="6000" dirty="0" smtClean="0"/>
              <a:t>Asynchronous Programming</a:t>
            </a:r>
          </a:p>
        </p:txBody>
      </p:sp>
      <p:sp>
        <p:nvSpPr>
          <p:cNvPr id="3" name="Subtitle 2"/>
          <p:cNvSpPr>
            <a:spLocks noGrp="1"/>
          </p:cNvSpPr>
          <p:nvPr>
            <p:ph type="subTitle" idx="1"/>
          </p:nvPr>
        </p:nvSpPr>
        <p:spPr/>
        <p:txBody>
          <a:bodyPr rtlCol="0">
            <a:normAutofit fontScale="40000" lnSpcReduction="20000"/>
          </a:bodyPr>
          <a:lstStyle/>
          <a:p>
            <a:pPr>
              <a:defRPr/>
            </a:pPr>
            <a:r>
              <a:rPr lang="en-US" sz="5400" dirty="0" smtClean="0"/>
              <a:t>Lecturer: Ngo Huy Bien</a:t>
            </a:r>
          </a:p>
          <a:p>
            <a:pPr>
              <a:defRPr/>
            </a:pPr>
            <a:r>
              <a:rPr lang="en-US" sz="4400" dirty="0" smtClean="0"/>
              <a:t>Software Engineering Department</a:t>
            </a:r>
          </a:p>
          <a:p>
            <a:pPr>
              <a:defRPr/>
            </a:pPr>
            <a:r>
              <a:rPr lang="en-US" sz="4400" dirty="0" smtClean="0"/>
              <a:t>Faculty of Information Technology</a:t>
            </a:r>
          </a:p>
          <a:p>
            <a:pPr>
              <a:defRPr/>
            </a:pPr>
            <a:r>
              <a:rPr lang="en-US" sz="4400" dirty="0" smtClean="0"/>
              <a:t>VNUHCM - University of Science</a:t>
            </a:r>
          </a:p>
          <a:p>
            <a:pPr>
              <a:defRPr/>
            </a:pPr>
            <a:r>
              <a:rPr lang="en-US" sz="4400" dirty="0" smtClean="0"/>
              <a:t>Ho Chi Minh City, Vietnam</a:t>
            </a:r>
          </a:p>
          <a:p>
            <a:pPr>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r>
              <a:rPr lang="en-US" sz="2400" dirty="0" smtClean="0"/>
              <a:t>To </a:t>
            </a:r>
            <a:r>
              <a:rPr lang="en-US" sz="2400" i="1" dirty="0" smtClean="0">
                <a:solidFill>
                  <a:srgbClr val="C00000"/>
                </a:solidFill>
              </a:rPr>
              <a:t>create</a:t>
            </a:r>
            <a:r>
              <a:rPr lang="en-US" sz="2400" dirty="0" smtClean="0"/>
              <a:t> a program using JavaScript.</a:t>
            </a: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752600"/>
            <a:ext cx="5867400" cy="3992563"/>
          </a:xfrm>
        </p:spPr>
        <p:txBody>
          <a:bodyPr>
            <a:normAutofit/>
          </a:bodyPr>
          <a:lstStyle/>
          <a:p>
            <a:pPr marL="514350" indent="-514350">
              <a:buFont typeface="+mj-lt"/>
              <a:buAutoNum type="arabicPeriod"/>
            </a:pPr>
            <a:r>
              <a:rPr lang="en-US" sz="2400" dirty="0" smtClean="0"/>
              <a:t>David Flanagan (2020). JavaScript - The Definitive Guide. O'Reilly Media.</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Synchronous Programming Model (I)</a:t>
            </a:r>
            <a:endParaRPr lang="en-US" sz="4200" dirty="0"/>
          </a:p>
        </p:txBody>
      </p:sp>
      <p:sp>
        <p:nvSpPr>
          <p:cNvPr id="3" name="Content Placeholder 2"/>
          <p:cNvSpPr>
            <a:spLocks noGrp="1"/>
          </p:cNvSpPr>
          <p:nvPr>
            <p:ph idx="1"/>
          </p:nvPr>
        </p:nvSpPr>
        <p:spPr/>
        <p:txBody>
          <a:bodyPr>
            <a:normAutofit/>
          </a:bodyPr>
          <a:lstStyle/>
          <a:p>
            <a:r>
              <a:rPr lang="en-US" sz="2000" dirty="0" smtClean="0">
                <a:hlinkClick r:id="rId2"/>
              </a:rPr>
              <a:t>https://codewala.net/2015/07/29/concurrency-vs-multi-threading-vs-asynchronous-programming-explained/</a:t>
            </a:r>
            <a:endParaRPr lang="en-US" sz="2000" dirty="0" smtClean="0"/>
          </a:p>
          <a:p>
            <a:r>
              <a:rPr lang="en-US" sz="2000" dirty="0" smtClean="0"/>
              <a:t>In this programming model, </a:t>
            </a:r>
            <a:r>
              <a:rPr lang="en-US" sz="2000" i="1" dirty="0" smtClean="0">
                <a:solidFill>
                  <a:srgbClr val="C00000"/>
                </a:solidFill>
              </a:rPr>
              <a:t>a thread</a:t>
            </a:r>
            <a:r>
              <a:rPr lang="en-US" sz="2000" dirty="0" smtClean="0"/>
              <a:t> is assigned to </a:t>
            </a:r>
            <a:r>
              <a:rPr lang="en-US" sz="2000" u="sng" dirty="0" smtClean="0"/>
              <a:t>one task</a:t>
            </a:r>
            <a:r>
              <a:rPr lang="en-US" sz="2000" dirty="0" smtClean="0"/>
              <a:t> and starts working on it.</a:t>
            </a:r>
          </a:p>
          <a:p>
            <a:r>
              <a:rPr lang="en-US" sz="2000" dirty="0" smtClean="0"/>
              <a:t>Once the task </a:t>
            </a:r>
            <a:r>
              <a:rPr lang="en-US" sz="2000" i="1" dirty="0" smtClean="0">
                <a:solidFill>
                  <a:srgbClr val="C00000"/>
                </a:solidFill>
              </a:rPr>
              <a:t>completes</a:t>
            </a:r>
            <a:r>
              <a:rPr lang="en-US" sz="2000" dirty="0" smtClean="0"/>
              <a:t> then the thread is available for the </a:t>
            </a:r>
            <a:r>
              <a:rPr lang="en-US" sz="2000" u="sng" dirty="0" smtClean="0"/>
              <a:t>next task</a:t>
            </a:r>
            <a:r>
              <a:rPr lang="en-US" sz="2000" dirty="0" smtClean="0"/>
              <a:t>.</a:t>
            </a:r>
          </a:p>
          <a:p>
            <a:r>
              <a:rPr lang="en-US" sz="2000" dirty="0" smtClean="0"/>
              <a:t>In this model, the thread </a:t>
            </a:r>
            <a:r>
              <a:rPr lang="en-US" sz="2000" i="1" dirty="0" smtClean="0">
                <a:solidFill>
                  <a:srgbClr val="C00000"/>
                </a:solidFill>
              </a:rPr>
              <a:t>cannot leave</a:t>
            </a:r>
            <a:r>
              <a:rPr lang="en-US" sz="2000" dirty="0" smtClean="0"/>
              <a:t> the executing task in mid to take up another task.</a:t>
            </a:r>
          </a:p>
          <a:p>
            <a:r>
              <a:rPr lang="en-US" sz="2000" i="1" dirty="0" smtClean="0">
                <a:solidFill>
                  <a:srgbClr val="C00000"/>
                </a:solidFill>
              </a:rPr>
              <a:t>Synchronous Single Threaded</a:t>
            </a:r>
            <a:r>
              <a:rPr lang="en-US" sz="2000" dirty="0" smtClean="0"/>
              <a:t> Programming Model</a:t>
            </a:r>
          </a:p>
          <a:p>
            <a:pPr lvl="1"/>
            <a:r>
              <a:rPr lang="en-US" sz="2000" dirty="0" smtClean="0"/>
              <a:t>Tasks are assigned to the thread </a:t>
            </a:r>
            <a:r>
              <a:rPr lang="en-US" sz="2000" i="1" dirty="0" smtClean="0">
                <a:solidFill>
                  <a:srgbClr val="C00000"/>
                </a:solidFill>
              </a:rPr>
              <a:t>one by one</a:t>
            </a:r>
            <a:r>
              <a:rPr lang="en-US" sz="2000" dirty="0" smtClean="0"/>
              <a:t>.</a:t>
            </a:r>
          </a:p>
          <a:p>
            <a:pPr lvl="1"/>
            <a:endParaRPr lang="en-US" sz="2000" dirty="0" smtClean="0"/>
          </a:p>
          <a:p>
            <a:pPr lvl="1"/>
            <a:endParaRPr lang="en-US" sz="2000" dirty="0"/>
          </a:p>
        </p:txBody>
      </p:sp>
      <p:pic>
        <p:nvPicPr>
          <p:cNvPr id="5" name="Picture 2" descr="https://brijbhushan.files.wordpress.com/2015/07/singlethreaded.png"/>
          <p:cNvPicPr>
            <a:picLocks noChangeAspect="1" noChangeArrowheads="1"/>
          </p:cNvPicPr>
          <p:nvPr/>
        </p:nvPicPr>
        <p:blipFill>
          <a:blip r:embed="rId3" cstate="print"/>
          <a:srcRect/>
          <a:stretch>
            <a:fillRect/>
          </a:stretch>
        </p:blipFill>
        <p:spPr bwMode="auto">
          <a:xfrm>
            <a:off x="990600" y="5105400"/>
            <a:ext cx="7277100" cy="47625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Synchronous Programming Model (II)</a:t>
            </a:r>
            <a:endParaRPr lang="en-US" sz="4200" dirty="0"/>
          </a:p>
        </p:txBody>
      </p:sp>
      <p:sp>
        <p:nvSpPr>
          <p:cNvPr id="3" name="Content Placeholder 2"/>
          <p:cNvSpPr>
            <a:spLocks noGrp="1"/>
          </p:cNvSpPr>
          <p:nvPr>
            <p:ph idx="1"/>
          </p:nvPr>
        </p:nvSpPr>
        <p:spPr/>
        <p:txBody>
          <a:bodyPr>
            <a:normAutofit/>
          </a:bodyPr>
          <a:lstStyle/>
          <a:p>
            <a:r>
              <a:rPr lang="en-US" sz="2600" i="1" dirty="0" smtClean="0">
                <a:solidFill>
                  <a:srgbClr val="C00000"/>
                </a:solidFill>
              </a:rPr>
              <a:t>Synchronous Multi-Threaded</a:t>
            </a:r>
            <a:r>
              <a:rPr lang="en-US" sz="2600" dirty="0" smtClean="0"/>
              <a:t> Programming Model</a:t>
            </a:r>
          </a:p>
          <a:p>
            <a:pPr lvl="1"/>
            <a:r>
              <a:rPr lang="en-US" sz="2200" dirty="0" smtClean="0"/>
              <a:t>In this environment, we used to have </a:t>
            </a:r>
            <a:r>
              <a:rPr lang="en-US" sz="2200" i="1" dirty="0" smtClean="0">
                <a:solidFill>
                  <a:srgbClr val="C00000"/>
                </a:solidFill>
              </a:rPr>
              <a:t>multiple threads</a:t>
            </a:r>
            <a:r>
              <a:rPr lang="en-US" sz="2200" dirty="0" smtClean="0"/>
              <a:t> which can take up these tasks and start working on that.</a:t>
            </a:r>
          </a:p>
          <a:p>
            <a:pPr lvl="1"/>
            <a:r>
              <a:rPr lang="en-US" sz="2200" dirty="0" smtClean="0"/>
              <a:t>It means we have a </a:t>
            </a:r>
            <a:r>
              <a:rPr lang="en-US" sz="2200" i="1" dirty="0" smtClean="0">
                <a:solidFill>
                  <a:srgbClr val="C00000"/>
                </a:solidFill>
              </a:rPr>
              <a:t>pool of threads</a:t>
            </a:r>
            <a:r>
              <a:rPr lang="en-US" sz="2200" dirty="0" smtClean="0"/>
              <a:t> (new threads can also be created based on the requirement and available resources) and bunch of tasks.</a:t>
            </a:r>
            <a:endParaRPr lang="en-US" sz="2200" dirty="0"/>
          </a:p>
        </p:txBody>
      </p:sp>
      <p:pic>
        <p:nvPicPr>
          <p:cNvPr id="33794" name="Picture 2" descr="https://brijbhushan.files.wordpress.com/2015/07/multithreaded.png"/>
          <p:cNvPicPr>
            <a:picLocks noChangeAspect="1" noChangeArrowheads="1"/>
          </p:cNvPicPr>
          <p:nvPr/>
        </p:nvPicPr>
        <p:blipFill>
          <a:blip r:embed="rId2" cstate="print"/>
          <a:srcRect/>
          <a:stretch>
            <a:fillRect/>
          </a:stretch>
        </p:blipFill>
        <p:spPr bwMode="auto">
          <a:xfrm>
            <a:off x="2286000" y="4343400"/>
            <a:ext cx="4581525" cy="1247775"/>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Asynchronous Programming Model (I)</a:t>
            </a:r>
            <a:endParaRPr lang="en-US" sz="4200" dirty="0"/>
          </a:p>
        </p:txBody>
      </p:sp>
      <p:sp>
        <p:nvSpPr>
          <p:cNvPr id="3" name="Content Placeholder 2"/>
          <p:cNvSpPr>
            <a:spLocks noGrp="1"/>
          </p:cNvSpPr>
          <p:nvPr>
            <p:ph idx="1"/>
          </p:nvPr>
        </p:nvSpPr>
        <p:spPr/>
        <p:txBody>
          <a:bodyPr>
            <a:normAutofit/>
          </a:bodyPr>
          <a:lstStyle/>
          <a:p>
            <a:r>
              <a:rPr lang="en-US" sz="2400" dirty="0" smtClean="0"/>
              <a:t>In contrary to synchronous programming model, here </a:t>
            </a:r>
            <a:r>
              <a:rPr lang="en-US" sz="2400" i="1" dirty="0" smtClean="0">
                <a:solidFill>
                  <a:srgbClr val="C00000"/>
                </a:solidFill>
              </a:rPr>
              <a:t>a thread</a:t>
            </a:r>
            <a:r>
              <a:rPr lang="en-US" sz="2400" dirty="0" smtClean="0"/>
              <a:t> once start executing a task it can hold it in mid,</a:t>
            </a:r>
            <a:r>
              <a:rPr lang="en-US" sz="2400" u="sng" dirty="0" smtClean="0"/>
              <a:t> save the current state</a:t>
            </a:r>
            <a:r>
              <a:rPr lang="en-US" sz="2400" dirty="0" smtClean="0"/>
              <a:t> and </a:t>
            </a:r>
            <a:r>
              <a:rPr lang="en-US" sz="2400" u="sng" dirty="0" smtClean="0"/>
              <a:t>start executing another task</a:t>
            </a:r>
            <a:r>
              <a:rPr lang="en-US" sz="2400" dirty="0" smtClean="0"/>
              <a:t>.</a:t>
            </a:r>
          </a:p>
          <a:p>
            <a:r>
              <a:rPr lang="en-US" sz="2400" i="1" dirty="0" smtClean="0">
                <a:solidFill>
                  <a:srgbClr val="C00000"/>
                </a:solidFill>
              </a:rPr>
              <a:t>Asynchronous Single Threaded</a:t>
            </a:r>
            <a:r>
              <a:rPr lang="en-US" sz="2400" dirty="0" smtClean="0"/>
              <a:t> Programming Model</a:t>
            </a:r>
          </a:p>
          <a:p>
            <a:pPr lvl="1"/>
            <a:r>
              <a:rPr lang="en-US" sz="2000" dirty="0" smtClean="0"/>
              <a:t>A single thread is responsible to complete all the tasks and tasks are </a:t>
            </a:r>
            <a:r>
              <a:rPr lang="en-US" sz="2000" i="1" dirty="0" smtClean="0">
                <a:solidFill>
                  <a:srgbClr val="C00000"/>
                </a:solidFill>
              </a:rPr>
              <a:t>interleaved</a:t>
            </a:r>
            <a:r>
              <a:rPr lang="en-US" sz="2000" dirty="0" smtClean="0"/>
              <a:t> to each other.</a:t>
            </a:r>
            <a:endParaRPr lang="en-US" sz="2000" dirty="0"/>
          </a:p>
        </p:txBody>
      </p:sp>
      <p:pic>
        <p:nvPicPr>
          <p:cNvPr id="34818" name="Picture 2" descr="https://brijbhushan.files.wordpress.com/2015/07/async-single.png"/>
          <p:cNvPicPr>
            <a:picLocks noChangeAspect="1" noChangeArrowheads="1"/>
          </p:cNvPicPr>
          <p:nvPr/>
        </p:nvPicPr>
        <p:blipFill>
          <a:blip r:embed="rId2" cstate="print"/>
          <a:srcRect/>
          <a:stretch>
            <a:fillRect/>
          </a:stretch>
        </p:blipFill>
        <p:spPr bwMode="auto">
          <a:xfrm>
            <a:off x="990600" y="4495800"/>
            <a:ext cx="6981825" cy="466726"/>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Asynchronous Programming Model (II)</a:t>
            </a:r>
            <a:endParaRPr lang="en-US" sz="4200" dirty="0"/>
          </a:p>
        </p:txBody>
      </p:sp>
      <p:sp>
        <p:nvSpPr>
          <p:cNvPr id="3" name="Content Placeholder 2"/>
          <p:cNvSpPr>
            <a:spLocks noGrp="1"/>
          </p:cNvSpPr>
          <p:nvPr>
            <p:ph idx="1"/>
          </p:nvPr>
        </p:nvSpPr>
        <p:spPr/>
        <p:txBody>
          <a:bodyPr>
            <a:normAutofit/>
          </a:bodyPr>
          <a:lstStyle/>
          <a:p>
            <a:r>
              <a:rPr lang="en-US" sz="2600" i="1" dirty="0" smtClean="0">
                <a:solidFill>
                  <a:srgbClr val="C00000"/>
                </a:solidFill>
              </a:rPr>
              <a:t>Asynchronous Multi-Threaded</a:t>
            </a:r>
            <a:r>
              <a:rPr lang="en-US" sz="2600" dirty="0" smtClean="0"/>
              <a:t> Programming Model</a:t>
            </a:r>
          </a:p>
          <a:p>
            <a:pPr lvl="1"/>
            <a:r>
              <a:rPr lang="en-US" sz="2200" dirty="0" smtClean="0"/>
              <a:t>If our system is capable of having </a:t>
            </a:r>
            <a:r>
              <a:rPr lang="en-US" sz="2200" i="1" dirty="0" smtClean="0">
                <a:solidFill>
                  <a:srgbClr val="C00000"/>
                </a:solidFill>
              </a:rPr>
              <a:t>multiple threads</a:t>
            </a:r>
            <a:r>
              <a:rPr lang="en-US" sz="2200" dirty="0" smtClean="0"/>
              <a:t> then all the threads can work in asynchronous model as well</a:t>
            </a:r>
          </a:p>
        </p:txBody>
      </p:sp>
      <p:pic>
        <p:nvPicPr>
          <p:cNvPr id="36866" name="Picture 2" descr="https://brijbhushan.files.wordpress.com/2015/07/async-mutlithreaded.png"/>
          <p:cNvPicPr>
            <a:picLocks noChangeAspect="1" noChangeArrowheads="1"/>
          </p:cNvPicPr>
          <p:nvPr/>
        </p:nvPicPr>
        <p:blipFill>
          <a:blip r:embed="rId2" cstate="print"/>
          <a:srcRect/>
          <a:stretch>
            <a:fillRect/>
          </a:stretch>
        </p:blipFill>
        <p:spPr bwMode="auto">
          <a:xfrm>
            <a:off x="990600" y="3362324"/>
            <a:ext cx="6991350" cy="197167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Concurrency</a:t>
            </a:r>
            <a:endParaRPr lang="en-US" dirty="0"/>
          </a:p>
        </p:txBody>
      </p:sp>
      <p:sp>
        <p:nvSpPr>
          <p:cNvPr id="3" name="Content Placeholder 2"/>
          <p:cNvSpPr>
            <a:spLocks noGrp="1"/>
          </p:cNvSpPr>
          <p:nvPr>
            <p:ph idx="1"/>
          </p:nvPr>
        </p:nvSpPr>
        <p:spPr/>
        <p:txBody>
          <a:bodyPr>
            <a:normAutofit/>
          </a:bodyPr>
          <a:lstStyle/>
          <a:p>
            <a:r>
              <a:rPr lang="en-US" sz="2400" i="1" dirty="0" smtClean="0">
                <a:solidFill>
                  <a:srgbClr val="C00000"/>
                </a:solidFill>
              </a:rPr>
              <a:t>Concurrency</a:t>
            </a:r>
            <a:r>
              <a:rPr lang="en-US" sz="2400" dirty="0" smtClean="0"/>
              <a:t> means processing </a:t>
            </a:r>
            <a:r>
              <a:rPr lang="en-US" sz="2400" u="sng" dirty="0" smtClean="0"/>
              <a:t>multiple</a:t>
            </a:r>
            <a:r>
              <a:rPr lang="en-US" sz="2400" dirty="0" smtClean="0"/>
              <a:t> requests at </a:t>
            </a:r>
            <a:r>
              <a:rPr lang="en-US" sz="2400" u="sng" dirty="0" smtClean="0"/>
              <a:t>a time</a:t>
            </a:r>
            <a:r>
              <a:rPr lang="en-US" sz="2400" dirty="0" smtClean="0"/>
              <a:t>.</a:t>
            </a:r>
          </a:p>
          <a:p>
            <a:pPr lvl="1"/>
            <a:r>
              <a:rPr lang="en-US" sz="2000" i="1" dirty="0" smtClean="0">
                <a:solidFill>
                  <a:srgbClr val="C00000"/>
                </a:solidFill>
              </a:rPr>
              <a:t>Synchronous Multi-Threaded</a:t>
            </a:r>
            <a:r>
              <a:rPr lang="en-US" sz="2000" dirty="0" smtClean="0"/>
              <a:t> Programming Model</a:t>
            </a:r>
          </a:p>
          <a:p>
            <a:pPr lvl="1"/>
            <a:endParaRPr lang="en-US" sz="2000" dirty="0" smtClean="0"/>
          </a:p>
          <a:p>
            <a:pPr lvl="1"/>
            <a:endParaRPr lang="en-US" sz="2000" dirty="0" smtClean="0"/>
          </a:p>
          <a:p>
            <a:pPr lvl="1"/>
            <a:endParaRPr lang="en-US" sz="2000" dirty="0" smtClean="0"/>
          </a:p>
          <a:p>
            <a:pPr lvl="1"/>
            <a:endParaRPr lang="en-US" sz="2000" dirty="0" smtClean="0"/>
          </a:p>
          <a:p>
            <a:pPr lvl="1"/>
            <a:endParaRPr lang="en-US" sz="2000" dirty="0" smtClean="0"/>
          </a:p>
          <a:p>
            <a:pPr lvl="1"/>
            <a:r>
              <a:rPr lang="en-US" sz="2000" i="1" dirty="0" smtClean="0">
                <a:solidFill>
                  <a:srgbClr val="C00000"/>
                </a:solidFill>
              </a:rPr>
              <a:t>Asynchronous Single Threaded</a:t>
            </a:r>
            <a:r>
              <a:rPr lang="en-US" sz="2000" dirty="0" smtClean="0"/>
              <a:t> Programming Model</a:t>
            </a:r>
          </a:p>
          <a:p>
            <a:pPr lvl="1"/>
            <a:endParaRPr lang="en-US" sz="2000" dirty="0" smtClean="0"/>
          </a:p>
          <a:p>
            <a:pPr lvl="1"/>
            <a:endParaRPr lang="en-US" sz="2000" dirty="0" smtClean="0"/>
          </a:p>
          <a:p>
            <a:pPr lvl="1"/>
            <a:endParaRPr lang="en-US" sz="2000" dirty="0" smtClean="0"/>
          </a:p>
          <a:p>
            <a:pPr lvl="1"/>
            <a:r>
              <a:rPr lang="en-US" sz="2000" i="1" dirty="0" smtClean="0">
                <a:solidFill>
                  <a:srgbClr val="C00000"/>
                </a:solidFill>
              </a:rPr>
              <a:t>Asynchronous Multi-Threaded</a:t>
            </a:r>
            <a:r>
              <a:rPr lang="en-US" sz="2000" dirty="0" smtClean="0"/>
              <a:t> Programming Model</a:t>
            </a:r>
          </a:p>
          <a:p>
            <a:endParaRPr lang="en-US" sz="2400" dirty="0" smtClean="0"/>
          </a:p>
        </p:txBody>
      </p:sp>
      <p:pic>
        <p:nvPicPr>
          <p:cNvPr id="5" name="Picture 2" descr="https://brijbhushan.files.wordpress.com/2015/07/async-single.png"/>
          <p:cNvPicPr>
            <a:picLocks noChangeAspect="1" noChangeArrowheads="1"/>
          </p:cNvPicPr>
          <p:nvPr/>
        </p:nvPicPr>
        <p:blipFill>
          <a:blip r:embed="rId2" cstate="print"/>
          <a:srcRect/>
          <a:stretch>
            <a:fillRect/>
          </a:stretch>
        </p:blipFill>
        <p:spPr bwMode="auto">
          <a:xfrm>
            <a:off x="1066800" y="4876800"/>
            <a:ext cx="6981825" cy="466726"/>
          </a:xfrm>
          <a:prstGeom prst="rect">
            <a:avLst/>
          </a:prstGeom>
          <a:noFill/>
        </p:spPr>
      </p:pic>
      <p:pic>
        <p:nvPicPr>
          <p:cNvPr id="10" name="Picture 2" descr="https://brijbhushan.files.wordpress.com/2015/07/multithreaded.png"/>
          <p:cNvPicPr>
            <a:picLocks noChangeAspect="1" noChangeArrowheads="1"/>
          </p:cNvPicPr>
          <p:nvPr/>
        </p:nvPicPr>
        <p:blipFill>
          <a:blip r:embed="rId3" cstate="print"/>
          <a:srcRect/>
          <a:stretch>
            <a:fillRect/>
          </a:stretch>
        </p:blipFill>
        <p:spPr bwMode="auto">
          <a:xfrm>
            <a:off x="2209800" y="2638425"/>
            <a:ext cx="4581525" cy="1247775"/>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JavaScript and Multithreading</a:t>
            </a:r>
            <a:endParaRPr lang="en-US" dirty="0"/>
          </a:p>
        </p:txBody>
      </p:sp>
      <p:sp>
        <p:nvSpPr>
          <p:cNvPr id="3" name="Content Placeholder 2"/>
          <p:cNvSpPr>
            <a:spLocks noGrp="1"/>
          </p:cNvSpPr>
          <p:nvPr>
            <p:ph idx="1"/>
          </p:nvPr>
        </p:nvSpPr>
        <p:spPr/>
        <p:txBody>
          <a:bodyPr>
            <a:normAutofit/>
          </a:bodyPr>
          <a:lstStyle/>
          <a:p>
            <a:r>
              <a:rPr lang="en-US" sz="2400" dirty="0" smtClean="0"/>
              <a:t>JavaScript is a </a:t>
            </a:r>
            <a:r>
              <a:rPr lang="en-US" sz="2400" i="1" dirty="0" smtClean="0">
                <a:solidFill>
                  <a:srgbClr val="C00000"/>
                </a:solidFill>
              </a:rPr>
              <a:t>language</a:t>
            </a:r>
            <a:r>
              <a:rPr lang="en-US" sz="2400" dirty="0" smtClean="0"/>
              <a:t>.</a:t>
            </a:r>
          </a:p>
          <a:p>
            <a:r>
              <a:rPr lang="en-US" sz="2400" dirty="0" smtClean="0"/>
              <a:t>It is not JavaScript supporting multithreading or not.</a:t>
            </a:r>
          </a:p>
          <a:p>
            <a:r>
              <a:rPr lang="en-US" sz="2400" dirty="0" smtClean="0"/>
              <a:t>It is about </a:t>
            </a:r>
            <a:r>
              <a:rPr lang="en-US" sz="2400" i="1" dirty="0" smtClean="0">
                <a:solidFill>
                  <a:srgbClr val="C00000"/>
                </a:solidFill>
              </a:rPr>
              <a:t>interpreters</a:t>
            </a:r>
            <a:r>
              <a:rPr lang="en-US" sz="2400" dirty="0" smtClean="0"/>
              <a:t> providing such functionality.</a:t>
            </a:r>
          </a:p>
          <a:p>
            <a:r>
              <a:rPr lang="en-US" sz="2400" dirty="0" smtClean="0"/>
              <a:t>The environments in which JavaScript is running for example browsers and Node.js have some support for what can be called multithreading.</a:t>
            </a:r>
          </a:p>
          <a:p>
            <a:pPr lvl="1"/>
            <a:r>
              <a:rPr lang="en-US" sz="2000" dirty="0" smtClean="0">
                <a:hlinkClick r:id="rId2"/>
              </a:rPr>
              <a:t>https://developer.mozilla.org/en-US/docs/Web/API/Worker</a:t>
            </a:r>
            <a:endParaRPr lang="en-US" sz="2000" dirty="0" smtClean="0"/>
          </a:p>
          <a:p>
            <a:pPr lvl="1"/>
            <a:r>
              <a:rPr lang="en-US" sz="2000" dirty="0" smtClean="0">
                <a:hlinkClick r:id="rId3"/>
              </a:rPr>
              <a:t>https://nodejs.org/api/worker_threads.html</a:t>
            </a:r>
            <a:endParaRPr lang="en-US" sz="2000" dirty="0" smtClean="0"/>
          </a:p>
          <a:p>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Concurrency?</a:t>
            </a:r>
            <a:endParaRPr lang="en-US" dirty="0"/>
          </a:p>
        </p:txBody>
      </p:sp>
      <p:sp>
        <p:nvSpPr>
          <p:cNvPr id="3" name="Content Placeholder 2"/>
          <p:cNvSpPr>
            <a:spLocks noGrp="1"/>
          </p:cNvSpPr>
          <p:nvPr>
            <p:ph idx="1"/>
          </p:nvPr>
        </p:nvSpPr>
        <p:spPr/>
        <p:txBody>
          <a:bodyPr/>
          <a:lstStyle/>
          <a:p>
            <a:r>
              <a:rPr lang="en-US" dirty="0" smtClean="0"/>
              <a:t>Faster processing.</a:t>
            </a:r>
          </a:p>
          <a:p>
            <a:r>
              <a:rPr lang="en-US" dirty="0" smtClean="0"/>
              <a:t>Non-blocking calls.</a:t>
            </a:r>
            <a:endParaRPr lang="en-US" dirty="0"/>
          </a:p>
        </p:txBody>
      </p:sp>
      <p:pic>
        <p:nvPicPr>
          <p:cNvPr id="21506" name="Picture 2" descr="https://www.voicendata.com/wp-content/uploads/2016/08/By-Krishan-G.jpg"/>
          <p:cNvPicPr>
            <a:picLocks noChangeAspect="1" noChangeArrowheads="1"/>
          </p:cNvPicPr>
          <p:nvPr/>
        </p:nvPicPr>
        <p:blipFill>
          <a:blip r:embed="rId2" cstate="print"/>
          <a:srcRect/>
          <a:stretch>
            <a:fillRect/>
          </a:stretch>
        </p:blipFill>
        <p:spPr bwMode="auto">
          <a:xfrm>
            <a:off x="3048000" y="3581400"/>
            <a:ext cx="2976563" cy="19050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err="1" smtClean="0"/>
              <a:t>setTimeout</a:t>
            </a:r>
            <a:endParaRPr lang="en-US" sz="4200" dirty="0"/>
          </a:p>
        </p:txBody>
      </p:sp>
      <p:sp>
        <p:nvSpPr>
          <p:cNvPr id="3" name="Content Placeholder 2"/>
          <p:cNvSpPr>
            <a:spLocks noGrp="1"/>
          </p:cNvSpPr>
          <p:nvPr>
            <p:ph idx="1"/>
          </p:nvPr>
        </p:nvSpPr>
        <p:spPr/>
        <p:txBody>
          <a:bodyPr/>
          <a:lstStyle/>
          <a:p>
            <a:r>
              <a:rPr lang="en-US" sz="2400" dirty="0" smtClean="0"/>
              <a:t>What are the outputs?</a:t>
            </a:r>
            <a:endParaRPr lang="en-US" sz="2400" dirty="0"/>
          </a:p>
        </p:txBody>
      </p:sp>
      <p:sp>
        <p:nvSpPr>
          <p:cNvPr id="4" name="Content Placeholder 2"/>
          <p:cNvSpPr txBox="1">
            <a:spLocks/>
          </p:cNvSpPr>
          <p:nvPr/>
        </p:nvSpPr>
        <p:spPr bwMode="auto">
          <a:xfrm>
            <a:off x="457200" y="2209800"/>
            <a:ext cx="8229600" cy="4267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function</a:t>
            </a:r>
            <a:r>
              <a:rPr lang="en-US" sz="1600" dirty="0" smtClean="0">
                <a:solidFill>
                  <a:srgbClr val="D4D4D4"/>
                </a:solidFill>
                <a:latin typeface="Consolas"/>
              </a:rPr>
              <a:t> </a:t>
            </a:r>
            <a:r>
              <a:rPr lang="en-US" sz="1600" dirty="0" err="1" smtClean="0">
                <a:solidFill>
                  <a:srgbClr val="DCDCAA"/>
                </a:solidFill>
                <a:latin typeface="Consolas"/>
              </a:rPr>
              <a:t>checkForUpdates</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console</a:t>
            </a:r>
            <a:r>
              <a:rPr lang="en-US" sz="1600" dirty="0" smtClean="0">
                <a:solidFill>
                  <a:srgbClr val="D4D4D4"/>
                </a:solidFill>
                <a:latin typeface="Consolas"/>
              </a:rPr>
              <a:t>.</a:t>
            </a:r>
            <a:r>
              <a:rPr lang="en-US" sz="1600" dirty="0" smtClean="0">
                <a:solidFill>
                  <a:srgbClr val="DCDCAA"/>
                </a:solidFill>
                <a:latin typeface="Consolas"/>
              </a:rPr>
              <a:t>log</a:t>
            </a:r>
            <a:r>
              <a:rPr lang="en-US" sz="1600" dirty="0" smtClean="0">
                <a:solidFill>
                  <a:srgbClr val="D4D4D4"/>
                </a:solidFill>
                <a:latin typeface="Consolas"/>
              </a:rPr>
              <a:t>(</a:t>
            </a:r>
            <a:r>
              <a:rPr lang="en-US" sz="1600" dirty="0" smtClean="0">
                <a:solidFill>
                  <a:srgbClr val="CE9178"/>
                </a:solidFill>
                <a:latin typeface="Consolas"/>
              </a:rPr>
              <a:t>"Check for updates."</a:t>
            </a:r>
            <a:r>
              <a:rPr lang="en-US" sz="1600" dirty="0" smtClean="0">
                <a:solidFill>
                  <a:srgbClr val="D4D4D4"/>
                </a:solidFill>
                <a:latin typeface="Consolas"/>
              </a:rPr>
              <a:t>); </a:t>
            </a:r>
          </a:p>
          <a:p>
            <a:r>
              <a:rPr lang="en-US" sz="1600" dirty="0" smtClean="0">
                <a:solidFill>
                  <a:srgbClr val="D4D4D4"/>
                </a:solidFill>
                <a:latin typeface="Consolas"/>
              </a:rPr>
              <a:t>}</a:t>
            </a:r>
          </a:p>
          <a:p>
            <a:r>
              <a:rPr lang="en-US" sz="1600" dirty="0" smtClean="0">
                <a:solidFill>
                  <a:srgbClr val="569CD6"/>
                </a:solidFill>
                <a:latin typeface="Consolas"/>
              </a:rPr>
              <a:t>function</a:t>
            </a:r>
            <a:r>
              <a:rPr lang="en-US" sz="1600" dirty="0" smtClean="0">
                <a:solidFill>
                  <a:srgbClr val="D4D4D4"/>
                </a:solidFill>
                <a:latin typeface="Consolas"/>
              </a:rPr>
              <a:t> </a:t>
            </a:r>
            <a:r>
              <a:rPr lang="en-US" sz="1600" dirty="0" err="1" smtClean="0">
                <a:solidFill>
                  <a:srgbClr val="DCDCAA"/>
                </a:solidFill>
                <a:latin typeface="Consolas"/>
              </a:rPr>
              <a:t>checkForNetworkStatus</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console</a:t>
            </a:r>
            <a:r>
              <a:rPr lang="en-US" sz="1600" dirty="0" smtClean="0">
                <a:solidFill>
                  <a:srgbClr val="D4D4D4"/>
                </a:solidFill>
                <a:latin typeface="Consolas"/>
              </a:rPr>
              <a:t>.</a:t>
            </a:r>
            <a:r>
              <a:rPr lang="en-US" sz="1600" dirty="0" smtClean="0">
                <a:solidFill>
                  <a:srgbClr val="DCDCAA"/>
                </a:solidFill>
                <a:latin typeface="Consolas"/>
              </a:rPr>
              <a:t>log</a:t>
            </a:r>
            <a:r>
              <a:rPr lang="en-US" sz="1600" dirty="0" smtClean="0">
                <a:solidFill>
                  <a:srgbClr val="D4D4D4"/>
                </a:solidFill>
                <a:latin typeface="Consolas"/>
              </a:rPr>
              <a:t>(</a:t>
            </a:r>
            <a:r>
              <a:rPr lang="en-US" sz="1600" dirty="0" smtClean="0">
                <a:solidFill>
                  <a:srgbClr val="CE9178"/>
                </a:solidFill>
                <a:latin typeface="Consolas"/>
              </a:rPr>
              <a:t>"Check for network status."</a:t>
            </a:r>
            <a:r>
              <a:rPr lang="en-US" sz="1600" dirty="0" smtClean="0">
                <a:solidFill>
                  <a:srgbClr val="D4D4D4"/>
                </a:solidFill>
                <a:latin typeface="Consolas"/>
              </a:rPr>
              <a:t>); </a:t>
            </a:r>
          </a:p>
          <a:p>
            <a:r>
              <a:rPr lang="en-US" sz="1600" dirty="0" smtClean="0">
                <a:solidFill>
                  <a:srgbClr val="D4D4D4"/>
                </a:solidFill>
                <a:latin typeface="Consolas"/>
              </a:rPr>
              <a:t>}</a:t>
            </a:r>
          </a:p>
          <a:p>
            <a:r>
              <a:rPr lang="en-US" sz="1600" dirty="0" smtClean="0">
                <a:solidFill>
                  <a:srgbClr val="6A9955"/>
                </a:solidFill>
                <a:latin typeface="Consolas"/>
              </a:rPr>
              <a:t>// Take the call to </a:t>
            </a:r>
            <a:r>
              <a:rPr lang="en-US" sz="1600" dirty="0" err="1" smtClean="0">
                <a:solidFill>
                  <a:srgbClr val="6A9955"/>
                </a:solidFill>
                <a:latin typeface="Consolas"/>
              </a:rPr>
              <a:t>checkForUpdates</a:t>
            </a:r>
            <a:r>
              <a:rPr lang="en-US" sz="1600" dirty="0" smtClean="0">
                <a:solidFill>
                  <a:srgbClr val="6A9955"/>
                </a:solidFill>
                <a:latin typeface="Consolas"/>
              </a:rPr>
              <a:t> out of the normal flow </a:t>
            </a:r>
            <a:endParaRPr lang="en-US" sz="1600" dirty="0" smtClean="0">
              <a:solidFill>
                <a:srgbClr val="D4D4D4"/>
              </a:solidFill>
              <a:latin typeface="Consolas"/>
            </a:endParaRPr>
          </a:p>
          <a:p>
            <a:r>
              <a:rPr lang="en-US" sz="1600" dirty="0" smtClean="0">
                <a:solidFill>
                  <a:srgbClr val="6A9955"/>
                </a:solidFill>
                <a:latin typeface="Consolas"/>
              </a:rPr>
              <a:t>// and the engine will execute the function whenever it fits, delay 3 seconds before the execution. </a:t>
            </a:r>
            <a:endParaRPr lang="en-US" sz="1600" dirty="0" smtClean="0">
              <a:solidFill>
                <a:srgbClr val="D4D4D4"/>
              </a:solidFill>
              <a:latin typeface="Consolas"/>
            </a:endParaRPr>
          </a:p>
          <a:p>
            <a:r>
              <a:rPr lang="en-US" sz="1600" dirty="0" err="1" smtClean="0">
                <a:solidFill>
                  <a:srgbClr val="DCDCAA"/>
                </a:solidFill>
                <a:latin typeface="Consolas"/>
              </a:rPr>
              <a:t>setTimeout</a:t>
            </a:r>
            <a:r>
              <a:rPr lang="en-US" sz="1600" dirty="0" smtClean="0">
                <a:solidFill>
                  <a:srgbClr val="D4D4D4"/>
                </a:solidFill>
                <a:latin typeface="Consolas"/>
              </a:rPr>
              <a:t>(</a:t>
            </a:r>
            <a:r>
              <a:rPr lang="en-US" sz="1600" dirty="0" err="1" smtClean="0">
                <a:solidFill>
                  <a:srgbClr val="DCDCAA"/>
                </a:solidFill>
                <a:latin typeface="Consolas"/>
              </a:rPr>
              <a:t>checkForUpdates</a:t>
            </a:r>
            <a:r>
              <a:rPr lang="en-US" sz="1600" dirty="0" smtClean="0">
                <a:solidFill>
                  <a:srgbClr val="D4D4D4"/>
                </a:solidFill>
                <a:latin typeface="Consolas"/>
              </a:rPr>
              <a:t>, </a:t>
            </a:r>
            <a:r>
              <a:rPr lang="en-US" sz="1600" dirty="0" smtClean="0">
                <a:solidFill>
                  <a:srgbClr val="B5CEA8"/>
                </a:solidFill>
                <a:latin typeface="Consolas"/>
              </a:rPr>
              <a:t>3000</a:t>
            </a:r>
            <a:r>
              <a:rPr lang="en-US" sz="1600" dirty="0" smtClean="0">
                <a:solidFill>
                  <a:srgbClr val="D4D4D4"/>
                </a:solidFill>
                <a:latin typeface="Consolas"/>
              </a:rPr>
              <a:t>);</a:t>
            </a:r>
          </a:p>
          <a:p>
            <a:r>
              <a:rPr lang="en-US" sz="1600" dirty="0" smtClean="0">
                <a:solidFill>
                  <a:srgbClr val="6A9955"/>
                </a:solidFill>
                <a:latin typeface="Consolas"/>
              </a:rPr>
              <a:t>// Take the call to </a:t>
            </a:r>
            <a:r>
              <a:rPr lang="en-US" sz="1600" dirty="0" err="1" smtClean="0">
                <a:solidFill>
                  <a:srgbClr val="6A9955"/>
                </a:solidFill>
                <a:latin typeface="Consolas"/>
              </a:rPr>
              <a:t>checkForNetworkStatus</a:t>
            </a:r>
            <a:r>
              <a:rPr lang="en-US" sz="1600" dirty="0" smtClean="0">
                <a:solidFill>
                  <a:srgbClr val="6A9955"/>
                </a:solidFill>
                <a:latin typeface="Consolas"/>
              </a:rPr>
              <a:t> out of the normal flow </a:t>
            </a:r>
            <a:endParaRPr lang="en-US" sz="1600" dirty="0" smtClean="0">
              <a:solidFill>
                <a:srgbClr val="D4D4D4"/>
              </a:solidFill>
              <a:latin typeface="Consolas"/>
            </a:endParaRPr>
          </a:p>
          <a:p>
            <a:r>
              <a:rPr lang="en-US" sz="1600" dirty="0" smtClean="0">
                <a:solidFill>
                  <a:srgbClr val="6A9955"/>
                </a:solidFill>
                <a:latin typeface="Consolas"/>
              </a:rPr>
              <a:t>// and the engine will execute the function whenever it fits, as soon as possible. </a:t>
            </a:r>
            <a:endParaRPr lang="en-US" sz="1600" dirty="0" smtClean="0">
              <a:solidFill>
                <a:srgbClr val="D4D4D4"/>
              </a:solidFill>
              <a:latin typeface="Consolas"/>
            </a:endParaRPr>
          </a:p>
          <a:p>
            <a:r>
              <a:rPr lang="en-US" sz="1600" dirty="0" err="1" smtClean="0">
                <a:solidFill>
                  <a:srgbClr val="DCDCAA"/>
                </a:solidFill>
                <a:latin typeface="Consolas"/>
              </a:rPr>
              <a:t>setTimeout</a:t>
            </a:r>
            <a:r>
              <a:rPr lang="en-US" sz="1600" dirty="0" smtClean="0">
                <a:solidFill>
                  <a:srgbClr val="D4D4D4"/>
                </a:solidFill>
                <a:latin typeface="Consolas"/>
              </a:rPr>
              <a:t>(</a:t>
            </a:r>
            <a:r>
              <a:rPr lang="en-US" sz="1600" dirty="0" err="1" smtClean="0">
                <a:solidFill>
                  <a:srgbClr val="DCDCAA"/>
                </a:solidFill>
                <a:latin typeface="Consolas"/>
              </a:rPr>
              <a:t>checkForNetworkStatus</a:t>
            </a:r>
            <a:r>
              <a:rPr lang="en-US" sz="1600" dirty="0" smtClean="0">
                <a:solidFill>
                  <a:srgbClr val="D4D4D4"/>
                </a:solidFill>
                <a:latin typeface="Consolas"/>
              </a:rPr>
              <a:t>, </a:t>
            </a:r>
            <a:r>
              <a:rPr lang="en-US" sz="1600" dirty="0" smtClean="0">
                <a:solidFill>
                  <a:srgbClr val="B5CEA8"/>
                </a:solidFill>
                <a:latin typeface="Consolas"/>
              </a:rPr>
              <a:t>0</a:t>
            </a:r>
            <a:r>
              <a:rPr lang="en-US" sz="1600" dirty="0" smtClean="0">
                <a:solidFill>
                  <a:srgbClr val="D4D4D4"/>
                </a:solidFill>
                <a:latin typeface="Consolas"/>
              </a:rPr>
              <a:t>);</a:t>
            </a:r>
          </a:p>
          <a:p>
            <a:r>
              <a:rPr lang="en-US" sz="1600" dirty="0" smtClean="0">
                <a:solidFill>
                  <a:srgbClr val="9CDCFE"/>
                </a:solidFill>
                <a:latin typeface="Consolas"/>
              </a:rPr>
              <a:t>console</a:t>
            </a:r>
            <a:r>
              <a:rPr lang="en-US" sz="1600" dirty="0" smtClean="0">
                <a:solidFill>
                  <a:srgbClr val="D4D4D4"/>
                </a:solidFill>
                <a:latin typeface="Consolas"/>
              </a:rPr>
              <a:t>.</a:t>
            </a:r>
            <a:r>
              <a:rPr lang="en-US" sz="1600" dirty="0" smtClean="0">
                <a:solidFill>
                  <a:srgbClr val="DCDCAA"/>
                </a:solidFill>
                <a:latin typeface="Consolas"/>
              </a:rPr>
              <a:t>log</a:t>
            </a:r>
            <a:r>
              <a:rPr lang="en-US" sz="1600" dirty="0" smtClean="0">
                <a:solidFill>
                  <a:srgbClr val="D4D4D4"/>
                </a:solidFill>
                <a:latin typeface="Consolas"/>
              </a:rPr>
              <a:t>(</a:t>
            </a:r>
            <a:r>
              <a:rPr lang="en-US" sz="1600" dirty="0" smtClean="0">
                <a:solidFill>
                  <a:srgbClr val="CE9178"/>
                </a:solidFill>
                <a:latin typeface="Consolas"/>
              </a:rPr>
              <a:t>"1"</a:t>
            </a:r>
            <a:r>
              <a:rPr lang="en-US" sz="1600" dirty="0" smtClean="0">
                <a:solidFill>
                  <a:srgbClr val="D4D4D4"/>
                </a:solidFill>
                <a:latin typeface="Consolas"/>
              </a:rPr>
              <a:t>); </a:t>
            </a:r>
          </a:p>
          <a:p>
            <a:r>
              <a:rPr lang="en-US" sz="1600" dirty="0" smtClean="0">
                <a:solidFill>
                  <a:srgbClr val="9CDCFE"/>
                </a:solidFill>
                <a:latin typeface="Consolas"/>
              </a:rPr>
              <a:t>console</a:t>
            </a:r>
            <a:r>
              <a:rPr lang="en-US" sz="1600" dirty="0" smtClean="0">
                <a:solidFill>
                  <a:srgbClr val="D4D4D4"/>
                </a:solidFill>
                <a:latin typeface="Consolas"/>
              </a:rPr>
              <a:t>.</a:t>
            </a:r>
            <a:r>
              <a:rPr lang="en-US" sz="1600" dirty="0" smtClean="0">
                <a:solidFill>
                  <a:srgbClr val="DCDCAA"/>
                </a:solidFill>
                <a:latin typeface="Consolas"/>
              </a:rPr>
              <a:t>log</a:t>
            </a:r>
            <a:r>
              <a:rPr lang="en-US" sz="1600" dirty="0" smtClean="0">
                <a:solidFill>
                  <a:srgbClr val="D4D4D4"/>
                </a:solidFill>
                <a:latin typeface="Consolas"/>
              </a:rPr>
              <a:t>(</a:t>
            </a:r>
            <a:r>
              <a:rPr lang="en-US" sz="1600" dirty="0" smtClean="0">
                <a:solidFill>
                  <a:srgbClr val="CE9178"/>
                </a:solidFill>
                <a:latin typeface="Consolas"/>
              </a:rPr>
              <a:t>"2"</a:t>
            </a:r>
            <a:r>
              <a:rPr lang="en-US" sz="1600" dirty="0" smtClean="0">
                <a:solidFill>
                  <a:srgbClr val="D4D4D4"/>
                </a:solidFill>
                <a:latin typeface="Consolas"/>
              </a:rPr>
              <a:t>); </a:t>
            </a:r>
          </a:p>
          <a:p>
            <a:r>
              <a:rPr lang="en-US" sz="1600" dirty="0" smtClean="0">
                <a:solidFill>
                  <a:srgbClr val="9CDCFE"/>
                </a:solidFill>
                <a:latin typeface="Consolas"/>
              </a:rPr>
              <a:t>console</a:t>
            </a:r>
            <a:r>
              <a:rPr lang="en-US" sz="1600" dirty="0" smtClean="0">
                <a:solidFill>
                  <a:srgbClr val="D4D4D4"/>
                </a:solidFill>
                <a:latin typeface="Consolas"/>
              </a:rPr>
              <a:t>.</a:t>
            </a:r>
            <a:r>
              <a:rPr lang="en-US" sz="1600" dirty="0" smtClean="0">
                <a:solidFill>
                  <a:srgbClr val="DCDCAA"/>
                </a:solidFill>
                <a:latin typeface="Consolas"/>
              </a:rPr>
              <a:t>log</a:t>
            </a:r>
            <a:r>
              <a:rPr lang="en-US" sz="1600" dirty="0" smtClean="0">
                <a:solidFill>
                  <a:srgbClr val="D4D4D4"/>
                </a:solidFill>
                <a:latin typeface="Consolas"/>
              </a:rPr>
              <a:t>(</a:t>
            </a:r>
            <a:r>
              <a:rPr lang="en-US" sz="1600" dirty="0" smtClean="0">
                <a:solidFill>
                  <a:srgbClr val="CE9178"/>
                </a:solidFill>
                <a:latin typeface="Consolas"/>
              </a:rPr>
              <a:t>"3"</a:t>
            </a:r>
            <a:r>
              <a:rPr lang="en-US" sz="1600" dirty="0" smtClean="0">
                <a:solidFill>
                  <a:srgbClr val="D4D4D4"/>
                </a:solidFill>
                <a:latin typeface="Consolas"/>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Callbacks [1]</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2400" dirty="0" smtClean="0"/>
              <a:t>A </a:t>
            </a:r>
            <a:r>
              <a:rPr lang="en-US" sz="2400" i="1" dirty="0" smtClean="0">
                <a:solidFill>
                  <a:srgbClr val="C00000"/>
                </a:solidFill>
              </a:rPr>
              <a:t>callback</a:t>
            </a:r>
            <a:r>
              <a:rPr lang="en-US" sz="2400" dirty="0" smtClean="0"/>
              <a:t> is </a:t>
            </a:r>
            <a:r>
              <a:rPr lang="en-US" sz="2400" u="sng" dirty="0" smtClean="0"/>
              <a:t>a function</a:t>
            </a:r>
            <a:r>
              <a:rPr lang="en-US" sz="2400" dirty="0" smtClean="0"/>
              <a:t> that you write and then </a:t>
            </a:r>
            <a:r>
              <a:rPr lang="en-US" sz="2400" u="sng" dirty="0" smtClean="0"/>
              <a:t>pass to</a:t>
            </a:r>
            <a:r>
              <a:rPr lang="en-US" sz="2400" dirty="0" smtClean="0"/>
              <a:t> some other function.</a:t>
            </a:r>
          </a:p>
          <a:p>
            <a:r>
              <a:rPr lang="en-US" sz="2400" dirty="0" smtClean="0"/>
              <a:t>That other function then </a:t>
            </a:r>
            <a:r>
              <a:rPr lang="en-US" sz="2400" i="1" dirty="0" smtClean="0">
                <a:solidFill>
                  <a:srgbClr val="C00000"/>
                </a:solidFill>
              </a:rPr>
              <a:t>invokes (“calls back”) your function</a:t>
            </a:r>
            <a:r>
              <a:rPr lang="en-US" sz="2400" dirty="0" smtClean="0"/>
              <a:t> when some condition is met or some (asynchronous) event occurs.</a:t>
            </a:r>
          </a:p>
          <a:p>
            <a:r>
              <a:rPr lang="en-US" sz="2400" dirty="0" smtClean="0"/>
              <a:t>The </a:t>
            </a:r>
            <a:r>
              <a:rPr lang="en-US" sz="2400" i="1" dirty="0" smtClean="0">
                <a:solidFill>
                  <a:srgbClr val="C00000"/>
                </a:solidFill>
              </a:rPr>
              <a:t>invocation of the callback function</a:t>
            </a:r>
            <a:r>
              <a:rPr lang="en-US" sz="2400" dirty="0" smtClean="0"/>
              <a:t> you provide notifies you of the condition or event, and sometimes, the invocation will include function arguments that provide additional details.</a:t>
            </a:r>
          </a:p>
          <a:p>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Example Callback</a:t>
            </a:r>
            <a:endParaRPr lang="en-US" sz="4200" dirty="0"/>
          </a:p>
        </p:txBody>
      </p:sp>
      <p:sp>
        <p:nvSpPr>
          <p:cNvPr id="4" name="Content Placeholder 2"/>
          <p:cNvSpPr txBox="1">
            <a:spLocks/>
          </p:cNvSpPr>
          <p:nvPr/>
        </p:nvSpPr>
        <p:spPr bwMode="auto">
          <a:xfrm>
            <a:off x="457200" y="1371600"/>
            <a:ext cx="8229600" cy="5257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400" dirty="0" smtClean="0">
                <a:solidFill>
                  <a:srgbClr val="569CD6"/>
                </a:solidFill>
                <a:latin typeface="Consolas"/>
              </a:rPr>
              <a:t>const</a:t>
            </a:r>
            <a:r>
              <a:rPr lang="en-US" sz="1400" dirty="0" smtClean="0">
                <a:solidFill>
                  <a:srgbClr val="D4D4D4"/>
                </a:solidFill>
                <a:latin typeface="Consolas"/>
              </a:rPr>
              <a:t> </a:t>
            </a:r>
            <a:r>
              <a:rPr lang="en-US" sz="1400" dirty="0" smtClean="0">
                <a:solidFill>
                  <a:srgbClr val="DCDCAA"/>
                </a:solidFill>
                <a:latin typeface="Consolas"/>
              </a:rPr>
              <a:t>sum</a:t>
            </a:r>
            <a:r>
              <a:rPr lang="en-US" sz="1400" dirty="0" smtClean="0">
                <a:solidFill>
                  <a:srgbClr val="D4D4D4"/>
                </a:solidFill>
                <a:latin typeface="Consolas"/>
              </a:rPr>
              <a:t> = </a:t>
            </a:r>
            <a:r>
              <a:rPr lang="en-US" sz="1400" dirty="0" smtClean="0">
                <a:solidFill>
                  <a:srgbClr val="9CDCFE"/>
                </a:solidFill>
                <a:latin typeface="Consolas"/>
              </a:rPr>
              <a:t>n</a:t>
            </a:r>
            <a:r>
              <a:rPr lang="en-US" sz="1400" dirty="0" smtClean="0">
                <a:solidFill>
                  <a:srgbClr val="D4D4D4"/>
                </a:solidFill>
                <a:latin typeface="Consolas"/>
              </a:rPr>
              <a:t> </a:t>
            </a:r>
            <a:r>
              <a:rPr lang="en-US" sz="1400" dirty="0" smtClean="0">
                <a:solidFill>
                  <a:srgbClr val="569CD6"/>
                </a:solidFill>
                <a:latin typeface="Consolas"/>
              </a:rPr>
              <a:t>=&gt;</a:t>
            </a:r>
            <a:endParaRPr lang="en-US" sz="1400" dirty="0" smtClean="0">
              <a:solidFill>
                <a:srgbClr val="D4D4D4"/>
              </a:solidFill>
              <a:latin typeface="Consolas"/>
            </a:endParaRPr>
          </a:p>
          <a:p>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569CD6"/>
                </a:solidFill>
                <a:latin typeface="Consolas"/>
              </a:rPr>
              <a:t>let</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 </a:t>
            </a:r>
            <a:r>
              <a:rPr lang="en-US" sz="1400" dirty="0" smtClean="0">
                <a:solidFill>
                  <a:srgbClr val="B5CEA8"/>
                </a:solidFill>
                <a:latin typeface="Consolas"/>
              </a:rPr>
              <a:t>0</a:t>
            </a:r>
            <a:r>
              <a:rPr lang="en-US" sz="1400" dirty="0" smtClean="0">
                <a:solidFill>
                  <a:srgbClr val="D4D4D4"/>
                </a:solidFill>
                <a:latin typeface="Consolas"/>
              </a:rPr>
              <a:t>;</a:t>
            </a:r>
          </a:p>
          <a:p>
            <a:r>
              <a:rPr lang="en-US" sz="1400" dirty="0" smtClean="0">
                <a:solidFill>
                  <a:srgbClr val="D4D4D4"/>
                </a:solidFill>
                <a:latin typeface="Consolas"/>
              </a:rPr>
              <a:t>    </a:t>
            </a:r>
            <a:r>
              <a:rPr lang="en-US" sz="1400" dirty="0" smtClean="0">
                <a:solidFill>
                  <a:srgbClr val="C586C0"/>
                </a:solidFill>
                <a:latin typeface="Consolas"/>
              </a:rPr>
              <a:t>for</a:t>
            </a:r>
            <a:r>
              <a:rPr lang="en-US" sz="1400" dirty="0" smtClean="0">
                <a:solidFill>
                  <a:srgbClr val="D4D4D4"/>
                </a:solidFill>
                <a:latin typeface="Consolas"/>
              </a:rPr>
              <a:t> (</a:t>
            </a:r>
            <a:r>
              <a:rPr lang="en-US" sz="1400" dirty="0" smtClean="0">
                <a:solidFill>
                  <a:srgbClr val="569CD6"/>
                </a:solidFill>
                <a:latin typeface="Consolas"/>
              </a:rPr>
              <a:t>let</a:t>
            </a:r>
            <a:r>
              <a:rPr lang="en-US" sz="1400" dirty="0" smtClean="0">
                <a:solidFill>
                  <a:srgbClr val="D4D4D4"/>
                </a:solidFill>
                <a:latin typeface="Consolas"/>
              </a:rPr>
              <a:t> </a:t>
            </a:r>
            <a:r>
              <a:rPr lang="en-US" sz="1400" dirty="0" err="1" smtClean="0">
                <a:solidFill>
                  <a:srgbClr val="9CDCFE"/>
                </a:solidFill>
                <a:latin typeface="Consolas"/>
              </a:rPr>
              <a:t>i</a:t>
            </a:r>
            <a:r>
              <a:rPr lang="en-US" sz="1400" dirty="0" smtClean="0">
                <a:solidFill>
                  <a:srgbClr val="D4D4D4"/>
                </a:solidFill>
                <a:latin typeface="Consolas"/>
              </a:rPr>
              <a:t> = </a:t>
            </a:r>
            <a:r>
              <a:rPr lang="en-US" sz="1400" dirty="0" smtClean="0">
                <a:solidFill>
                  <a:srgbClr val="B5CEA8"/>
                </a:solidFill>
                <a:latin typeface="Consolas"/>
              </a:rPr>
              <a:t>1</a:t>
            </a:r>
            <a:r>
              <a:rPr lang="en-US" sz="1400" dirty="0" smtClean="0">
                <a:solidFill>
                  <a:srgbClr val="D4D4D4"/>
                </a:solidFill>
                <a:latin typeface="Consolas"/>
              </a:rPr>
              <a:t>; </a:t>
            </a:r>
            <a:r>
              <a:rPr lang="en-US" sz="1400" dirty="0" err="1" smtClean="0">
                <a:solidFill>
                  <a:srgbClr val="9CDCFE"/>
                </a:solidFill>
                <a:latin typeface="Consolas"/>
              </a:rPr>
              <a:t>i</a:t>
            </a:r>
            <a:r>
              <a:rPr lang="en-US" sz="1400" dirty="0" smtClean="0">
                <a:solidFill>
                  <a:srgbClr val="D4D4D4"/>
                </a:solidFill>
                <a:latin typeface="Consolas"/>
              </a:rPr>
              <a:t> &lt;= </a:t>
            </a:r>
            <a:r>
              <a:rPr lang="en-US" sz="1400" dirty="0" smtClean="0">
                <a:solidFill>
                  <a:srgbClr val="9CDCFE"/>
                </a:solidFill>
                <a:latin typeface="Consolas"/>
              </a:rPr>
              <a:t>n</a:t>
            </a:r>
            <a:r>
              <a:rPr lang="en-US" sz="1400" dirty="0" smtClean="0">
                <a:solidFill>
                  <a:srgbClr val="D4D4D4"/>
                </a:solidFill>
                <a:latin typeface="Consolas"/>
              </a:rPr>
              <a:t>; </a:t>
            </a:r>
            <a:r>
              <a:rPr lang="en-US" sz="1400" dirty="0" err="1" smtClean="0">
                <a:solidFill>
                  <a:srgbClr val="9CDCFE"/>
                </a:solidFill>
                <a:latin typeface="Consolas"/>
              </a:rPr>
              <a:t>i</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 </a:t>
            </a:r>
            <a:r>
              <a:rPr lang="en-US" sz="1400" dirty="0" err="1" smtClean="0">
                <a:solidFill>
                  <a:srgbClr val="9CDCFE"/>
                </a:solidFill>
                <a:latin typeface="Consolas"/>
              </a:rPr>
              <a:t>i</a:t>
            </a:r>
            <a:r>
              <a:rPr lang="en-US" sz="1400" dirty="0" smtClean="0">
                <a:solidFill>
                  <a:srgbClr val="D4D4D4"/>
                </a:solidFill>
                <a:latin typeface="Consolas"/>
              </a:rPr>
              <a:t>;</a:t>
            </a:r>
          </a:p>
          <a:p>
            <a:r>
              <a:rPr lang="en-US" sz="1400" dirty="0" smtClean="0">
                <a:solidFill>
                  <a:srgbClr val="D4D4D4"/>
                </a:solidFill>
                <a:latin typeface="Consolas"/>
              </a:rPr>
              <a:t>    }</a:t>
            </a:r>
          </a:p>
          <a:p>
            <a:r>
              <a:rPr lang="en-US" sz="1400" dirty="0" smtClean="0">
                <a:solidFill>
                  <a:srgbClr val="D4D4D4"/>
                </a:solidFill>
                <a:latin typeface="Consolas"/>
              </a:rPr>
              <a:t/>
            </a:r>
            <a:br>
              <a:rPr lang="en-US" sz="1400" dirty="0" smtClean="0">
                <a:solidFill>
                  <a:srgbClr val="D4D4D4"/>
                </a:solidFill>
                <a:latin typeface="Consolas"/>
              </a:rPr>
            </a:br>
            <a:r>
              <a:rPr lang="en-US" sz="1400" dirty="0" smtClean="0">
                <a:solidFill>
                  <a:srgbClr val="D4D4D4"/>
                </a:solidFill>
                <a:latin typeface="Consolas"/>
              </a:rPr>
              <a:t>    </a:t>
            </a:r>
            <a:r>
              <a:rPr lang="en-US" sz="1400" dirty="0" smtClean="0">
                <a:solidFill>
                  <a:srgbClr val="C586C0"/>
                </a:solidFill>
                <a:latin typeface="Consolas"/>
              </a:rPr>
              <a:t>return</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a:t>
            </a: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r>
              <a:rPr lang="en-US" sz="1400" dirty="0" smtClean="0">
                <a:solidFill>
                  <a:srgbClr val="569CD6"/>
                </a:solidFill>
                <a:latin typeface="Consolas"/>
              </a:rPr>
              <a:t>function</a:t>
            </a:r>
            <a:r>
              <a:rPr lang="en-US" sz="1400" dirty="0" smtClean="0">
                <a:solidFill>
                  <a:srgbClr val="D4D4D4"/>
                </a:solidFill>
                <a:latin typeface="Consolas"/>
              </a:rPr>
              <a:t> </a:t>
            </a:r>
            <a:r>
              <a:rPr lang="en-US" sz="1400" dirty="0" err="1" smtClean="0">
                <a:solidFill>
                  <a:srgbClr val="DCDCAA"/>
                </a:solidFill>
                <a:latin typeface="Consolas"/>
              </a:rPr>
              <a:t>startTask</a:t>
            </a:r>
            <a:r>
              <a:rPr lang="en-US" sz="1400" dirty="0" smtClean="0">
                <a:solidFill>
                  <a:srgbClr val="D4D4D4"/>
                </a:solidFill>
                <a:latin typeface="Consolas"/>
              </a:rPr>
              <a:t>(</a:t>
            </a:r>
            <a:r>
              <a:rPr lang="en-US" sz="1400" dirty="0" smtClean="0">
                <a:solidFill>
                  <a:srgbClr val="9CDCFE"/>
                </a:solidFill>
                <a:latin typeface="Consolas"/>
              </a:rPr>
              <a:t>number</a:t>
            </a:r>
            <a:r>
              <a:rPr lang="en-US" sz="1400" dirty="0" smtClean="0">
                <a:solidFill>
                  <a:srgbClr val="D4D4D4"/>
                </a:solidFill>
                <a:latin typeface="Consolas"/>
              </a:rPr>
              <a:t>, </a:t>
            </a:r>
            <a:r>
              <a:rPr lang="en-US" sz="1400" dirty="0" smtClean="0">
                <a:solidFill>
                  <a:srgbClr val="9CDCFE"/>
                </a:solidFill>
                <a:latin typeface="Consolas"/>
              </a:rPr>
              <a:t>callback</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569CD6"/>
                </a:solidFill>
                <a:latin typeface="Consolas"/>
              </a:rPr>
              <a:t>const</a:t>
            </a:r>
            <a:r>
              <a:rPr lang="en-US" sz="1400" dirty="0" smtClean="0">
                <a:solidFill>
                  <a:srgbClr val="D4D4D4"/>
                </a:solidFill>
                <a:latin typeface="Consolas"/>
              </a:rPr>
              <a:t> </a:t>
            </a:r>
            <a:r>
              <a:rPr lang="en-US" sz="1400" dirty="0" smtClean="0">
                <a:solidFill>
                  <a:srgbClr val="4FC1FF"/>
                </a:solidFill>
                <a:latin typeface="Consolas"/>
              </a:rPr>
              <a:t>total</a:t>
            </a:r>
            <a:r>
              <a:rPr lang="en-US" sz="1400" dirty="0" smtClean="0">
                <a:solidFill>
                  <a:srgbClr val="D4D4D4"/>
                </a:solidFill>
                <a:latin typeface="Consolas"/>
              </a:rPr>
              <a:t> = </a:t>
            </a:r>
            <a:r>
              <a:rPr lang="en-US" sz="1400" dirty="0" smtClean="0">
                <a:solidFill>
                  <a:srgbClr val="DCDCAA"/>
                </a:solidFill>
                <a:latin typeface="Consolas"/>
              </a:rPr>
              <a:t>sum</a:t>
            </a:r>
            <a:r>
              <a:rPr lang="en-US" sz="1400" dirty="0" smtClean="0">
                <a:solidFill>
                  <a:srgbClr val="D4D4D4"/>
                </a:solidFill>
                <a:latin typeface="Consolas"/>
              </a:rPr>
              <a:t>(</a:t>
            </a:r>
            <a:r>
              <a:rPr lang="en-US" sz="1400" dirty="0" smtClean="0">
                <a:solidFill>
                  <a:srgbClr val="9CDCFE"/>
                </a:solidFill>
                <a:latin typeface="Consolas"/>
              </a:rPr>
              <a:t>number</a:t>
            </a:r>
            <a:r>
              <a:rPr lang="en-US" sz="1400" dirty="0" smtClean="0">
                <a:solidFill>
                  <a:srgbClr val="D4D4D4"/>
                </a:solidFill>
                <a:latin typeface="Consolas"/>
              </a:rPr>
              <a:t>);</a:t>
            </a:r>
          </a:p>
          <a:p>
            <a:r>
              <a:rPr lang="en-US" sz="1400" dirty="0" smtClean="0">
                <a:solidFill>
                  <a:srgbClr val="D4D4D4"/>
                </a:solidFill>
                <a:latin typeface="Consolas"/>
              </a:rPr>
              <a:t>    </a:t>
            </a:r>
            <a:r>
              <a:rPr lang="en-US" sz="1400" dirty="0" smtClean="0">
                <a:solidFill>
                  <a:srgbClr val="DCDCAA"/>
                </a:solidFill>
                <a:latin typeface="Consolas"/>
              </a:rPr>
              <a:t>callback</a:t>
            </a:r>
            <a:r>
              <a:rPr lang="en-US" sz="1400" dirty="0" smtClean="0">
                <a:solidFill>
                  <a:srgbClr val="D4D4D4"/>
                </a:solidFill>
                <a:latin typeface="Consolas"/>
              </a:rPr>
              <a:t>(</a:t>
            </a:r>
            <a:r>
              <a:rPr lang="en-US" sz="1400" dirty="0" smtClean="0">
                <a:solidFill>
                  <a:srgbClr val="4FC1FF"/>
                </a:solidFill>
                <a:latin typeface="Consolas"/>
              </a:rPr>
              <a:t>total</a:t>
            </a:r>
            <a:r>
              <a:rPr lang="en-US" sz="1400" dirty="0" smtClean="0">
                <a:solidFill>
                  <a:srgbClr val="D4D4D4"/>
                </a:solidFill>
                <a:latin typeface="Consolas"/>
              </a:rPr>
              <a:t>);</a:t>
            </a: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r>
              <a:rPr lang="en-US" sz="1400" dirty="0" err="1" smtClean="0">
                <a:solidFill>
                  <a:srgbClr val="DCDCAA"/>
                </a:solidFill>
                <a:latin typeface="Consolas"/>
              </a:rPr>
              <a:t>startTask</a:t>
            </a:r>
            <a:r>
              <a:rPr lang="en-US" sz="1400" dirty="0" smtClean="0">
                <a:solidFill>
                  <a:srgbClr val="D4D4D4"/>
                </a:solidFill>
                <a:latin typeface="Consolas"/>
              </a:rPr>
              <a:t>(</a:t>
            </a:r>
            <a:r>
              <a:rPr lang="en-US" sz="1400" dirty="0" smtClean="0">
                <a:solidFill>
                  <a:srgbClr val="B5CEA8"/>
                </a:solidFill>
                <a:latin typeface="Consolas"/>
              </a:rPr>
              <a:t>1</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a:t>
            </a:r>
            <a:r>
              <a:rPr lang="en-US" sz="1400" dirty="0" smtClean="0">
                <a:solidFill>
                  <a:srgbClr val="569CD6"/>
                </a:solidFill>
                <a:latin typeface="Consolas"/>
              </a:rPr>
              <a:t>=&gt;</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console</a:t>
            </a:r>
            <a:r>
              <a:rPr lang="en-US" sz="1400" dirty="0" smtClean="0">
                <a:solidFill>
                  <a:srgbClr val="D4D4D4"/>
                </a:solidFill>
                <a:latin typeface="Consolas"/>
              </a:rPr>
              <a:t>.</a:t>
            </a:r>
            <a:r>
              <a:rPr lang="en-US" sz="1400" dirty="0" smtClean="0">
                <a:solidFill>
                  <a:srgbClr val="DCDCAA"/>
                </a:solidFill>
                <a:latin typeface="Consolas"/>
              </a:rPr>
              <a:t>log</a:t>
            </a:r>
            <a:r>
              <a:rPr lang="en-US" sz="1400" dirty="0" smtClean="0">
                <a:solidFill>
                  <a:srgbClr val="D4D4D4"/>
                </a:solidFill>
                <a:latin typeface="Consolas"/>
              </a:rPr>
              <a:t>(</a:t>
            </a:r>
            <a:r>
              <a:rPr lang="en-US" sz="1400" dirty="0" smtClean="0">
                <a:solidFill>
                  <a:srgbClr val="CE9178"/>
                </a:solidFill>
                <a:latin typeface="Consolas"/>
              </a:rPr>
              <a:t>"sum(1) ="</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a:t>
            </a:r>
          </a:p>
          <a:p>
            <a:r>
              <a:rPr lang="en-US" sz="1400" dirty="0" smtClean="0">
                <a:solidFill>
                  <a:srgbClr val="D4D4D4"/>
                </a:solidFill>
                <a:latin typeface="Consolas"/>
              </a:rPr>
              <a:t>    }</a:t>
            </a: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r>
              <a:rPr lang="en-US" sz="1400" dirty="0" err="1" smtClean="0">
                <a:solidFill>
                  <a:srgbClr val="DCDCAA"/>
                </a:solidFill>
                <a:latin typeface="Consolas"/>
              </a:rPr>
              <a:t>startTask</a:t>
            </a:r>
            <a:r>
              <a:rPr lang="en-US" sz="1400" dirty="0" smtClean="0">
                <a:solidFill>
                  <a:srgbClr val="D4D4D4"/>
                </a:solidFill>
                <a:latin typeface="Consolas"/>
              </a:rPr>
              <a:t>(</a:t>
            </a:r>
            <a:r>
              <a:rPr lang="en-US" sz="1400" dirty="0" smtClean="0">
                <a:solidFill>
                  <a:srgbClr val="B5CEA8"/>
                </a:solidFill>
                <a:latin typeface="Consolas"/>
              </a:rPr>
              <a:t>3</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a:t>
            </a:r>
            <a:r>
              <a:rPr lang="en-US" sz="1400" dirty="0" smtClean="0">
                <a:solidFill>
                  <a:srgbClr val="569CD6"/>
                </a:solidFill>
                <a:latin typeface="Consolas"/>
              </a:rPr>
              <a:t>=&gt;</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console</a:t>
            </a:r>
            <a:r>
              <a:rPr lang="en-US" sz="1400" dirty="0" smtClean="0">
                <a:solidFill>
                  <a:srgbClr val="D4D4D4"/>
                </a:solidFill>
                <a:latin typeface="Consolas"/>
              </a:rPr>
              <a:t>.</a:t>
            </a:r>
            <a:r>
              <a:rPr lang="en-US" sz="1400" dirty="0" smtClean="0">
                <a:solidFill>
                  <a:srgbClr val="DCDCAA"/>
                </a:solidFill>
                <a:latin typeface="Consolas"/>
              </a:rPr>
              <a:t>log</a:t>
            </a:r>
            <a:r>
              <a:rPr lang="en-US" sz="1400" dirty="0" smtClean="0">
                <a:solidFill>
                  <a:srgbClr val="D4D4D4"/>
                </a:solidFill>
                <a:latin typeface="Consolas"/>
              </a:rPr>
              <a:t>(</a:t>
            </a:r>
            <a:r>
              <a:rPr lang="en-US" sz="1400" dirty="0" smtClean="0">
                <a:solidFill>
                  <a:srgbClr val="CE9178"/>
                </a:solidFill>
                <a:latin typeface="Consolas"/>
              </a:rPr>
              <a:t>"sum(3) ="</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a:t>
            </a:r>
          </a:p>
          <a:p>
            <a:r>
              <a:rPr lang="en-US" sz="1400" dirty="0" smtClean="0">
                <a:solidFill>
                  <a:srgbClr val="D4D4D4"/>
                </a:solidFill>
                <a:latin typeface="Consolas"/>
              </a:rPr>
              <a:t>    }</a:t>
            </a:r>
          </a:p>
          <a:p>
            <a:r>
              <a:rPr lang="en-US" sz="1400" dirty="0" smtClean="0">
                <a:solidFill>
                  <a:srgbClr val="D4D4D4"/>
                </a:solidFill>
                <a:latin typeface="Consolas"/>
              </a:rPr>
              <a:t>);</a:t>
            </a:r>
            <a:endParaRPr lang="en-US" sz="1400" b="0" dirty="0">
              <a:solidFill>
                <a:srgbClr val="D4D4D4"/>
              </a:solidFill>
              <a:latin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Asynchronous Callback</a:t>
            </a:r>
            <a:endParaRPr lang="en-US" dirty="0"/>
          </a:p>
        </p:txBody>
      </p:sp>
      <p:sp>
        <p:nvSpPr>
          <p:cNvPr id="3" name="Content Placeholder 2"/>
          <p:cNvSpPr>
            <a:spLocks noGrp="1"/>
          </p:cNvSpPr>
          <p:nvPr>
            <p:ph idx="1"/>
          </p:nvPr>
        </p:nvSpPr>
        <p:spPr/>
        <p:txBody>
          <a:bodyPr>
            <a:normAutofit/>
          </a:bodyPr>
          <a:lstStyle/>
          <a:p>
            <a:r>
              <a:rPr lang="en-US" sz="2000" dirty="0" smtClean="0"/>
              <a:t>The </a:t>
            </a:r>
            <a:r>
              <a:rPr lang="en-US" sz="2000" i="1" dirty="0" smtClean="0">
                <a:solidFill>
                  <a:srgbClr val="C00000"/>
                </a:solidFill>
              </a:rPr>
              <a:t>callback function</a:t>
            </a:r>
            <a:r>
              <a:rPr lang="en-US" sz="2000" dirty="0" smtClean="0"/>
              <a:t> is supplied as an argument to a </a:t>
            </a:r>
            <a:r>
              <a:rPr lang="en-US" sz="2000" u="sng" dirty="0" smtClean="0"/>
              <a:t>higher-order function</a:t>
            </a:r>
            <a:r>
              <a:rPr lang="en-US" sz="2000" dirty="0" smtClean="0"/>
              <a:t> that invokes ("calls back") the callback function to perform an operation.</a:t>
            </a:r>
          </a:p>
          <a:p>
            <a:r>
              <a:rPr lang="en-US" sz="2000" dirty="0" smtClean="0"/>
              <a:t>The </a:t>
            </a:r>
            <a:r>
              <a:rPr lang="en-US" sz="2000" i="1" dirty="0" smtClean="0">
                <a:solidFill>
                  <a:srgbClr val="C00000"/>
                </a:solidFill>
              </a:rPr>
              <a:t>synchronous callback</a:t>
            </a:r>
            <a:r>
              <a:rPr lang="en-US" sz="2000" dirty="0" smtClean="0"/>
              <a:t> is executed </a:t>
            </a:r>
            <a:r>
              <a:rPr lang="en-US" sz="2000" u="sng" dirty="0" smtClean="0"/>
              <a:t>during</a:t>
            </a:r>
            <a:r>
              <a:rPr lang="en-US" sz="2000" dirty="0" smtClean="0"/>
              <a:t> the execution of the higher-order function that uses the callback.</a:t>
            </a:r>
          </a:p>
          <a:p>
            <a:r>
              <a:rPr lang="en-US" sz="2000" dirty="0" smtClean="0"/>
              <a:t>The </a:t>
            </a:r>
            <a:r>
              <a:rPr lang="en-US" sz="2000" i="1" dirty="0" smtClean="0">
                <a:solidFill>
                  <a:srgbClr val="C00000"/>
                </a:solidFill>
              </a:rPr>
              <a:t>asynchronous callback</a:t>
            </a:r>
            <a:r>
              <a:rPr lang="en-US" sz="2000" dirty="0" smtClean="0"/>
              <a:t> is executed </a:t>
            </a:r>
            <a:r>
              <a:rPr lang="en-US" sz="2000" u="sng" dirty="0" smtClean="0"/>
              <a:t>after</a:t>
            </a:r>
            <a:r>
              <a:rPr lang="en-US" sz="2000" dirty="0" smtClean="0"/>
              <a:t> the execution of the higher-order function.</a:t>
            </a:r>
            <a:endParaRPr lang="en-US" sz="2000" dirty="0"/>
          </a:p>
        </p:txBody>
      </p:sp>
      <p:sp>
        <p:nvSpPr>
          <p:cNvPr id="4" name="Content Placeholder 2"/>
          <p:cNvSpPr txBox="1">
            <a:spLocks/>
          </p:cNvSpPr>
          <p:nvPr/>
        </p:nvSpPr>
        <p:spPr bwMode="auto">
          <a:xfrm>
            <a:off x="457200" y="4267200"/>
            <a:ext cx="8229600" cy="2057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400" dirty="0" smtClean="0">
                <a:solidFill>
                  <a:srgbClr val="569CD6"/>
                </a:solidFill>
                <a:latin typeface="Consolas"/>
              </a:rPr>
              <a:t>function</a:t>
            </a:r>
            <a:r>
              <a:rPr lang="en-US" sz="1400" dirty="0" smtClean="0">
                <a:solidFill>
                  <a:srgbClr val="D4D4D4"/>
                </a:solidFill>
                <a:latin typeface="Consolas"/>
              </a:rPr>
              <a:t> </a:t>
            </a:r>
            <a:r>
              <a:rPr lang="en-US" sz="1400" dirty="0" err="1" smtClean="0">
                <a:solidFill>
                  <a:srgbClr val="DCDCAA"/>
                </a:solidFill>
                <a:latin typeface="Consolas"/>
              </a:rPr>
              <a:t>runHighOrderFunction</a:t>
            </a:r>
            <a:r>
              <a:rPr lang="en-US" sz="1400" dirty="0" smtClean="0">
                <a:solidFill>
                  <a:srgbClr val="D4D4D4"/>
                </a:solidFill>
                <a:latin typeface="Consolas"/>
              </a:rPr>
              <a:t>(</a:t>
            </a:r>
            <a:r>
              <a:rPr lang="en-US" sz="1400" dirty="0" smtClean="0">
                <a:solidFill>
                  <a:srgbClr val="9CDCFE"/>
                </a:solidFill>
                <a:latin typeface="Consolas"/>
              </a:rPr>
              <a:t>callback</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console</a:t>
            </a:r>
            <a:r>
              <a:rPr lang="en-US" sz="1400" dirty="0" smtClean="0">
                <a:solidFill>
                  <a:srgbClr val="D4D4D4"/>
                </a:solidFill>
                <a:latin typeface="Consolas"/>
              </a:rPr>
              <a:t>.</a:t>
            </a:r>
            <a:r>
              <a:rPr lang="en-US" sz="1400" dirty="0" smtClean="0">
                <a:solidFill>
                  <a:srgbClr val="DCDCAA"/>
                </a:solidFill>
                <a:latin typeface="Consolas"/>
              </a:rPr>
              <a:t>log</a:t>
            </a:r>
            <a:r>
              <a:rPr lang="en-US" sz="1400" dirty="0" smtClean="0">
                <a:solidFill>
                  <a:srgbClr val="D4D4D4"/>
                </a:solidFill>
                <a:latin typeface="Consolas"/>
              </a:rPr>
              <a:t>(</a:t>
            </a:r>
            <a:r>
              <a:rPr lang="en-US" sz="1400" dirty="0" smtClean="0">
                <a:solidFill>
                  <a:srgbClr val="CE9178"/>
                </a:solidFill>
                <a:latin typeface="Consolas"/>
              </a:rPr>
              <a:t>'High Order Function starts.'</a:t>
            </a:r>
            <a:r>
              <a:rPr lang="en-US" sz="1400" dirty="0" smtClean="0">
                <a:solidFill>
                  <a:srgbClr val="D4D4D4"/>
                </a:solidFill>
                <a:latin typeface="Consolas"/>
              </a:rPr>
              <a:t>);</a:t>
            </a:r>
            <a:br>
              <a:rPr lang="en-US" sz="1400" dirty="0" smtClean="0">
                <a:solidFill>
                  <a:srgbClr val="D4D4D4"/>
                </a:solidFill>
                <a:latin typeface="Consolas"/>
              </a:rPr>
            </a:br>
            <a:r>
              <a:rPr lang="en-US" sz="1400" dirty="0" smtClean="0">
                <a:solidFill>
                  <a:srgbClr val="D4D4D4"/>
                </a:solidFill>
                <a:latin typeface="Consolas"/>
              </a:rPr>
              <a:t>    </a:t>
            </a:r>
            <a:r>
              <a:rPr lang="en-US" sz="1400" dirty="0" err="1" smtClean="0">
                <a:solidFill>
                  <a:srgbClr val="DCDCAA"/>
                </a:solidFill>
                <a:latin typeface="Consolas"/>
              </a:rPr>
              <a:t>setTimeout</a:t>
            </a:r>
            <a:r>
              <a:rPr lang="en-US" sz="1400" dirty="0" smtClean="0">
                <a:solidFill>
                  <a:srgbClr val="D4D4D4"/>
                </a:solidFill>
                <a:latin typeface="Consolas"/>
              </a:rPr>
              <a:t>(</a:t>
            </a:r>
            <a:r>
              <a:rPr lang="en-US" sz="1400" dirty="0" smtClean="0">
                <a:solidFill>
                  <a:srgbClr val="9CDCFE"/>
                </a:solidFill>
                <a:latin typeface="Consolas"/>
              </a:rPr>
              <a:t>callback</a:t>
            </a:r>
            <a:r>
              <a:rPr lang="en-US" sz="1400" dirty="0" smtClean="0">
                <a:solidFill>
                  <a:srgbClr val="D4D4D4"/>
                </a:solidFill>
                <a:latin typeface="Consolas"/>
              </a:rPr>
              <a:t>, </a:t>
            </a:r>
            <a:r>
              <a:rPr lang="en-US" sz="1400" dirty="0" smtClean="0">
                <a:solidFill>
                  <a:srgbClr val="B5CEA8"/>
                </a:solidFill>
                <a:latin typeface="Consolas"/>
              </a:rPr>
              <a:t>2000</a:t>
            </a:r>
            <a:r>
              <a:rPr lang="en-US" sz="1400" dirty="0" smtClean="0">
                <a:solidFill>
                  <a:srgbClr val="D4D4D4"/>
                </a:solidFill>
                <a:latin typeface="Consolas"/>
              </a:rPr>
              <a:t>); </a:t>
            </a:r>
            <a:r>
              <a:rPr lang="en-US" sz="1400" dirty="0" smtClean="0">
                <a:solidFill>
                  <a:srgbClr val="6A9955"/>
                </a:solidFill>
                <a:latin typeface="Consolas"/>
              </a:rPr>
              <a:t>// run callback after 2 seconds.</a:t>
            </a:r>
            <a:endParaRPr lang="en-US" sz="1400" dirty="0" smtClean="0">
              <a:solidFill>
                <a:srgbClr val="D4D4D4"/>
              </a:solidFill>
              <a:latin typeface="Consolas"/>
            </a:endParaRPr>
          </a:p>
          <a:p>
            <a:r>
              <a:rPr lang="en-US" sz="1400" dirty="0" smtClean="0">
                <a:solidFill>
                  <a:srgbClr val="D4D4D4"/>
                </a:solidFill>
                <a:latin typeface="Consolas"/>
              </a:rPr>
              <a:t>    </a:t>
            </a:r>
            <a:r>
              <a:rPr lang="en-US" sz="1400" dirty="0" smtClean="0">
                <a:solidFill>
                  <a:srgbClr val="9CDCFE"/>
                </a:solidFill>
                <a:latin typeface="Consolas"/>
              </a:rPr>
              <a:t>console</a:t>
            </a:r>
            <a:r>
              <a:rPr lang="en-US" sz="1400" dirty="0" smtClean="0">
                <a:solidFill>
                  <a:srgbClr val="D4D4D4"/>
                </a:solidFill>
                <a:latin typeface="Consolas"/>
              </a:rPr>
              <a:t>.</a:t>
            </a:r>
            <a:r>
              <a:rPr lang="en-US" sz="1400" dirty="0" smtClean="0">
                <a:solidFill>
                  <a:srgbClr val="DCDCAA"/>
                </a:solidFill>
                <a:latin typeface="Consolas"/>
              </a:rPr>
              <a:t>log</a:t>
            </a:r>
            <a:r>
              <a:rPr lang="en-US" sz="1400" dirty="0" smtClean="0">
                <a:solidFill>
                  <a:srgbClr val="D4D4D4"/>
                </a:solidFill>
                <a:latin typeface="Consolas"/>
              </a:rPr>
              <a:t>(</a:t>
            </a:r>
            <a:r>
              <a:rPr lang="en-US" sz="1400" dirty="0" smtClean="0">
                <a:solidFill>
                  <a:srgbClr val="CE9178"/>
                </a:solidFill>
                <a:latin typeface="Consolas"/>
              </a:rPr>
              <a:t>'High Order Function completed.'</a:t>
            </a:r>
            <a:r>
              <a:rPr lang="en-US" sz="1400" dirty="0" smtClean="0">
                <a:solidFill>
                  <a:srgbClr val="D4D4D4"/>
                </a:solidFill>
                <a:latin typeface="Consolas"/>
              </a:rPr>
              <a:t>);</a:t>
            </a:r>
          </a:p>
          <a:p>
            <a:r>
              <a:rPr lang="en-US" sz="1400" dirty="0" smtClean="0">
                <a:solidFill>
                  <a:srgbClr val="D4D4D4"/>
                </a:solidFill>
                <a:latin typeface="Consolas"/>
              </a:rPr>
              <a:t>}</a:t>
            </a:r>
            <a:br>
              <a:rPr lang="en-US" sz="1400" dirty="0" smtClean="0">
                <a:solidFill>
                  <a:srgbClr val="D4D4D4"/>
                </a:solidFill>
                <a:latin typeface="Consolas"/>
              </a:rPr>
            </a:br>
            <a:r>
              <a:rPr lang="en-US" sz="1400" dirty="0" err="1" smtClean="0">
                <a:solidFill>
                  <a:srgbClr val="DCDCAA"/>
                </a:solidFill>
                <a:latin typeface="Consolas"/>
              </a:rPr>
              <a:t>runHighOrderFunction</a:t>
            </a:r>
            <a:r>
              <a:rPr lang="en-US" sz="1400" dirty="0" smtClean="0">
                <a:solidFill>
                  <a:srgbClr val="D4D4D4"/>
                </a:solidFill>
                <a:latin typeface="Consolas"/>
              </a:rPr>
              <a:t>(</a:t>
            </a:r>
            <a:r>
              <a:rPr lang="en-US" sz="1400" dirty="0" smtClean="0">
                <a:solidFill>
                  <a:srgbClr val="569CD6"/>
                </a:solidFill>
                <a:latin typeface="Consolas"/>
              </a:rPr>
              <a:t>function</a:t>
            </a:r>
            <a:r>
              <a:rPr lang="en-US" sz="1400" dirty="0" smtClean="0">
                <a:solidFill>
                  <a:srgbClr val="D4D4D4"/>
                </a:solidFill>
                <a:latin typeface="Consolas"/>
              </a:rPr>
              <a:t> </a:t>
            </a:r>
            <a:r>
              <a:rPr lang="en-US" sz="1400" dirty="0" smtClean="0">
                <a:solidFill>
                  <a:srgbClr val="DCDCAA"/>
                </a:solidFill>
                <a:latin typeface="Consolas"/>
              </a:rPr>
              <a:t>later</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console</a:t>
            </a:r>
            <a:r>
              <a:rPr lang="en-US" sz="1400" dirty="0" smtClean="0">
                <a:solidFill>
                  <a:srgbClr val="D4D4D4"/>
                </a:solidFill>
                <a:latin typeface="Consolas"/>
              </a:rPr>
              <a:t>.</a:t>
            </a:r>
            <a:r>
              <a:rPr lang="en-US" sz="1400" dirty="0" smtClean="0">
                <a:solidFill>
                  <a:srgbClr val="DCDCAA"/>
                </a:solidFill>
                <a:latin typeface="Consolas"/>
              </a:rPr>
              <a:t>log</a:t>
            </a:r>
            <a:r>
              <a:rPr lang="en-US" sz="1400" dirty="0" smtClean="0">
                <a:solidFill>
                  <a:srgbClr val="D4D4D4"/>
                </a:solidFill>
                <a:latin typeface="Consolas"/>
              </a:rPr>
              <a:t>(</a:t>
            </a:r>
            <a:r>
              <a:rPr lang="en-US" sz="1400" dirty="0" smtClean="0">
                <a:solidFill>
                  <a:srgbClr val="CE9178"/>
                </a:solidFill>
                <a:latin typeface="Consolas"/>
              </a:rPr>
              <a:t>'later() called'</a:t>
            </a:r>
            <a:r>
              <a:rPr lang="en-US" sz="1400" dirty="0" smtClean="0">
                <a:solidFill>
                  <a:srgbClr val="D4D4D4"/>
                </a:solidFill>
                <a:latin typeface="Consolas"/>
              </a:rPr>
              <a:t>);</a:t>
            </a:r>
          </a:p>
          <a:p>
            <a:r>
              <a:rPr lang="en-US" sz="1400" dirty="0" smtClean="0">
                <a:solidFill>
                  <a:srgbClr val="D4D4D4"/>
                </a:solidFill>
                <a:latin typeface="Consolas"/>
              </a:rPr>
              <a:t>  }</a:t>
            </a:r>
          </a:p>
          <a:p>
            <a:r>
              <a:rPr lang="en-US" sz="1400" dirty="0" smtClean="0">
                <a:solidFill>
                  <a:srgbClr val="D4D4D4"/>
                </a:solidFill>
                <a:latin typeface="Consolas"/>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Asynchronous Execution</a:t>
            </a:r>
            <a:endParaRPr lang="en-US" sz="4200" dirty="0"/>
          </a:p>
        </p:txBody>
      </p:sp>
      <p:sp>
        <p:nvSpPr>
          <p:cNvPr id="4" name="Content Placeholder 2"/>
          <p:cNvSpPr txBox="1">
            <a:spLocks/>
          </p:cNvSpPr>
          <p:nvPr/>
        </p:nvSpPr>
        <p:spPr bwMode="auto">
          <a:xfrm>
            <a:off x="457200" y="1371600"/>
            <a:ext cx="8229600" cy="5257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400" dirty="0" smtClean="0">
                <a:solidFill>
                  <a:srgbClr val="569CD6"/>
                </a:solidFill>
                <a:latin typeface="Consolas"/>
              </a:rPr>
              <a:t>const</a:t>
            </a:r>
            <a:r>
              <a:rPr lang="en-US" sz="1400" dirty="0" smtClean="0">
                <a:solidFill>
                  <a:srgbClr val="D4D4D4"/>
                </a:solidFill>
                <a:latin typeface="Consolas"/>
              </a:rPr>
              <a:t> </a:t>
            </a:r>
            <a:r>
              <a:rPr lang="en-US" sz="1400" dirty="0" smtClean="0">
                <a:solidFill>
                  <a:srgbClr val="DCDCAA"/>
                </a:solidFill>
                <a:latin typeface="Consolas"/>
              </a:rPr>
              <a:t>sum</a:t>
            </a:r>
            <a:r>
              <a:rPr lang="en-US" sz="1400" dirty="0" smtClean="0">
                <a:solidFill>
                  <a:srgbClr val="D4D4D4"/>
                </a:solidFill>
                <a:latin typeface="Consolas"/>
              </a:rPr>
              <a:t> = </a:t>
            </a:r>
            <a:r>
              <a:rPr lang="en-US" sz="1400" dirty="0" smtClean="0">
                <a:solidFill>
                  <a:srgbClr val="9CDCFE"/>
                </a:solidFill>
                <a:latin typeface="Consolas"/>
              </a:rPr>
              <a:t>n</a:t>
            </a:r>
            <a:r>
              <a:rPr lang="en-US" sz="1400" dirty="0" smtClean="0">
                <a:solidFill>
                  <a:srgbClr val="D4D4D4"/>
                </a:solidFill>
                <a:latin typeface="Consolas"/>
              </a:rPr>
              <a:t> </a:t>
            </a:r>
            <a:r>
              <a:rPr lang="en-US" sz="1400" dirty="0" smtClean="0">
                <a:solidFill>
                  <a:srgbClr val="569CD6"/>
                </a:solidFill>
                <a:latin typeface="Consolas"/>
              </a:rPr>
              <a:t>=&gt;</a:t>
            </a:r>
            <a:endParaRPr lang="en-US" sz="1400" dirty="0" smtClean="0">
              <a:solidFill>
                <a:srgbClr val="D4D4D4"/>
              </a:solidFill>
              <a:latin typeface="Consolas"/>
            </a:endParaRPr>
          </a:p>
          <a:p>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569CD6"/>
                </a:solidFill>
                <a:latin typeface="Consolas"/>
              </a:rPr>
              <a:t>let</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 </a:t>
            </a:r>
            <a:r>
              <a:rPr lang="en-US" sz="1400" dirty="0" smtClean="0">
                <a:solidFill>
                  <a:srgbClr val="B5CEA8"/>
                </a:solidFill>
                <a:latin typeface="Consolas"/>
              </a:rPr>
              <a:t>0</a:t>
            </a:r>
            <a:r>
              <a:rPr lang="en-US" sz="1400" dirty="0" smtClean="0">
                <a:solidFill>
                  <a:srgbClr val="D4D4D4"/>
                </a:solidFill>
                <a:latin typeface="Consolas"/>
              </a:rPr>
              <a:t>;</a:t>
            </a:r>
          </a:p>
          <a:p>
            <a:r>
              <a:rPr lang="en-US" sz="1400" dirty="0" smtClean="0">
                <a:solidFill>
                  <a:srgbClr val="D4D4D4"/>
                </a:solidFill>
                <a:latin typeface="Consolas"/>
              </a:rPr>
              <a:t>    </a:t>
            </a:r>
            <a:r>
              <a:rPr lang="en-US" sz="1400" dirty="0" smtClean="0">
                <a:solidFill>
                  <a:srgbClr val="C586C0"/>
                </a:solidFill>
                <a:latin typeface="Consolas"/>
              </a:rPr>
              <a:t>for</a:t>
            </a:r>
            <a:r>
              <a:rPr lang="en-US" sz="1400" dirty="0" smtClean="0">
                <a:solidFill>
                  <a:srgbClr val="D4D4D4"/>
                </a:solidFill>
                <a:latin typeface="Consolas"/>
              </a:rPr>
              <a:t> (</a:t>
            </a:r>
            <a:r>
              <a:rPr lang="en-US" sz="1400" dirty="0" smtClean="0">
                <a:solidFill>
                  <a:srgbClr val="569CD6"/>
                </a:solidFill>
                <a:latin typeface="Consolas"/>
              </a:rPr>
              <a:t>let</a:t>
            </a:r>
            <a:r>
              <a:rPr lang="en-US" sz="1400" dirty="0" smtClean="0">
                <a:solidFill>
                  <a:srgbClr val="D4D4D4"/>
                </a:solidFill>
                <a:latin typeface="Consolas"/>
              </a:rPr>
              <a:t> </a:t>
            </a:r>
            <a:r>
              <a:rPr lang="en-US" sz="1400" dirty="0" err="1" smtClean="0">
                <a:solidFill>
                  <a:srgbClr val="9CDCFE"/>
                </a:solidFill>
                <a:latin typeface="Consolas"/>
              </a:rPr>
              <a:t>i</a:t>
            </a:r>
            <a:r>
              <a:rPr lang="en-US" sz="1400" dirty="0" smtClean="0">
                <a:solidFill>
                  <a:srgbClr val="D4D4D4"/>
                </a:solidFill>
                <a:latin typeface="Consolas"/>
              </a:rPr>
              <a:t> = </a:t>
            </a:r>
            <a:r>
              <a:rPr lang="en-US" sz="1400" dirty="0" smtClean="0">
                <a:solidFill>
                  <a:srgbClr val="B5CEA8"/>
                </a:solidFill>
                <a:latin typeface="Consolas"/>
              </a:rPr>
              <a:t>1</a:t>
            </a:r>
            <a:r>
              <a:rPr lang="en-US" sz="1400" dirty="0" smtClean="0">
                <a:solidFill>
                  <a:srgbClr val="D4D4D4"/>
                </a:solidFill>
                <a:latin typeface="Consolas"/>
              </a:rPr>
              <a:t>; </a:t>
            </a:r>
            <a:r>
              <a:rPr lang="en-US" sz="1400" dirty="0" err="1" smtClean="0">
                <a:solidFill>
                  <a:srgbClr val="9CDCFE"/>
                </a:solidFill>
                <a:latin typeface="Consolas"/>
              </a:rPr>
              <a:t>i</a:t>
            </a:r>
            <a:r>
              <a:rPr lang="en-US" sz="1400" dirty="0" smtClean="0">
                <a:solidFill>
                  <a:srgbClr val="D4D4D4"/>
                </a:solidFill>
                <a:latin typeface="Consolas"/>
              </a:rPr>
              <a:t> &lt;= </a:t>
            </a:r>
            <a:r>
              <a:rPr lang="en-US" sz="1400" dirty="0" smtClean="0">
                <a:solidFill>
                  <a:srgbClr val="9CDCFE"/>
                </a:solidFill>
                <a:latin typeface="Consolas"/>
              </a:rPr>
              <a:t>n</a:t>
            </a:r>
            <a:r>
              <a:rPr lang="en-US" sz="1400" dirty="0" smtClean="0">
                <a:solidFill>
                  <a:srgbClr val="D4D4D4"/>
                </a:solidFill>
                <a:latin typeface="Consolas"/>
              </a:rPr>
              <a:t>; </a:t>
            </a:r>
            <a:r>
              <a:rPr lang="en-US" sz="1400" dirty="0" err="1" smtClean="0">
                <a:solidFill>
                  <a:srgbClr val="9CDCFE"/>
                </a:solidFill>
                <a:latin typeface="Consolas"/>
              </a:rPr>
              <a:t>i</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 </a:t>
            </a:r>
            <a:r>
              <a:rPr lang="en-US" sz="1400" dirty="0" err="1" smtClean="0">
                <a:solidFill>
                  <a:srgbClr val="9CDCFE"/>
                </a:solidFill>
                <a:latin typeface="Consolas"/>
              </a:rPr>
              <a:t>i</a:t>
            </a:r>
            <a:r>
              <a:rPr lang="en-US" sz="1400" dirty="0" smtClean="0">
                <a:solidFill>
                  <a:srgbClr val="D4D4D4"/>
                </a:solidFill>
                <a:latin typeface="Consolas"/>
              </a:rPr>
              <a:t>;</a:t>
            </a:r>
          </a:p>
          <a:p>
            <a:r>
              <a:rPr lang="en-US" sz="1400" dirty="0" smtClean="0">
                <a:solidFill>
                  <a:srgbClr val="D4D4D4"/>
                </a:solidFill>
                <a:latin typeface="Consolas"/>
              </a:rPr>
              <a:t>    }</a:t>
            </a:r>
            <a:br>
              <a:rPr lang="en-US" sz="1400" dirty="0" smtClean="0">
                <a:solidFill>
                  <a:srgbClr val="D4D4D4"/>
                </a:solidFill>
                <a:latin typeface="Consolas"/>
              </a:rPr>
            </a:br>
            <a:r>
              <a:rPr lang="en-US" sz="1400" dirty="0" smtClean="0">
                <a:solidFill>
                  <a:srgbClr val="D4D4D4"/>
                </a:solidFill>
                <a:latin typeface="Consolas"/>
              </a:rPr>
              <a:t>    </a:t>
            </a:r>
            <a:r>
              <a:rPr lang="en-US" sz="1400" dirty="0" smtClean="0">
                <a:solidFill>
                  <a:srgbClr val="C586C0"/>
                </a:solidFill>
                <a:latin typeface="Consolas"/>
              </a:rPr>
              <a:t>return</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a:t>
            </a: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r>
              <a:rPr lang="en-US" sz="1400" dirty="0" smtClean="0">
                <a:solidFill>
                  <a:srgbClr val="569CD6"/>
                </a:solidFill>
                <a:latin typeface="Consolas"/>
              </a:rPr>
              <a:t>function</a:t>
            </a:r>
            <a:r>
              <a:rPr lang="en-US" sz="1400" dirty="0" smtClean="0">
                <a:solidFill>
                  <a:srgbClr val="D4D4D4"/>
                </a:solidFill>
                <a:latin typeface="Consolas"/>
              </a:rPr>
              <a:t> </a:t>
            </a:r>
            <a:r>
              <a:rPr lang="en-US" sz="1400" dirty="0" err="1" smtClean="0">
                <a:solidFill>
                  <a:srgbClr val="DCDCAA"/>
                </a:solidFill>
                <a:latin typeface="Consolas"/>
              </a:rPr>
              <a:t>startTask</a:t>
            </a:r>
            <a:r>
              <a:rPr lang="en-US" sz="1400" dirty="0" smtClean="0">
                <a:solidFill>
                  <a:srgbClr val="D4D4D4"/>
                </a:solidFill>
                <a:latin typeface="Consolas"/>
              </a:rPr>
              <a:t>(</a:t>
            </a:r>
            <a:r>
              <a:rPr lang="en-US" sz="1400" dirty="0" smtClean="0">
                <a:solidFill>
                  <a:srgbClr val="9CDCFE"/>
                </a:solidFill>
                <a:latin typeface="Consolas"/>
              </a:rPr>
              <a:t>number</a:t>
            </a:r>
            <a:r>
              <a:rPr lang="en-US" sz="1400" dirty="0" smtClean="0">
                <a:solidFill>
                  <a:srgbClr val="D4D4D4"/>
                </a:solidFill>
                <a:latin typeface="Consolas"/>
              </a:rPr>
              <a:t>, </a:t>
            </a:r>
            <a:r>
              <a:rPr lang="en-US" sz="1400" dirty="0" smtClean="0">
                <a:solidFill>
                  <a:srgbClr val="9CDCFE"/>
                </a:solidFill>
                <a:latin typeface="Consolas"/>
              </a:rPr>
              <a:t>callback</a:t>
            </a:r>
            <a:r>
              <a:rPr lang="en-US" sz="1400" dirty="0" smtClean="0">
                <a:solidFill>
                  <a:srgbClr val="D4D4D4"/>
                </a:solidFill>
                <a:latin typeface="Consolas"/>
              </a:rPr>
              <a:t>, </a:t>
            </a:r>
            <a:r>
              <a:rPr lang="en-US" sz="1400" dirty="0" smtClean="0">
                <a:solidFill>
                  <a:srgbClr val="9CDCFE"/>
                </a:solidFill>
                <a:latin typeface="Consolas"/>
              </a:rPr>
              <a:t>delays</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err="1" smtClean="0">
                <a:solidFill>
                  <a:srgbClr val="DCDCAA"/>
                </a:solidFill>
                <a:latin typeface="Consolas"/>
              </a:rPr>
              <a:t>setTimeout</a:t>
            </a:r>
            <a:r>
              <a:rPr lang="en-US" sz="1400" dirty="0" smtClean="0">
                <a:solidFill>
                  <a:srgbClr val="D4D4D4"/>
                </a:solidFill>
                <a:latin typeface="Consolas"/>
              </a:rPr>
              <a:t>( () </a:t>
            </a:r>
            <a:r>
              <a:rPr lang="en-US" sz="1400" dirty="0" smtClean="0">
                <a:solidFill>
                  <a:srgbClr val="569CD6"/>
                </a:solidFill>
                <a:latin typeface="Consolas"/>
              </a:rPr>
              <a:t>=&gt;</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569CD6"/>
                </a:solidFill>
                <a:latin typeface="Consolas"/>
              </a:rPr>
              <a:t>const</a:t>
            </a:r>
            <a:r>
              <a:rPr lang="en-US" sz="1400" dirty="0" smtClean="0">
                <a:solidFill>
                  <a:srgbClr val="D4D4D4"/>
                </a:solidFill>
                <a:latin typeface="Consolas"/>
              </a:rPr>
              <a:t> </a:t>
            </a:r>
            <a:r>
              <a:rPr lang="en-US" sz="1400" dirty="0" smtClean="0">
                <a:solidFill>
                  <a:srgbClr val="4FC1FF"/>
                </a:solidFill>
                <a:latin typeface="Consolas"/>
              </a:rPr>
              <a:t>total</a:t>
            </a:r>
            <a:r>
              <a:rPr lang="en-US" sz="1400" dirty="0" smtClean="0">
                <a:solidFill>
                  <a:srgbClr val="D4D4D4"/>
                </a:solidFill>
                <a:latin typeface="Consolas"/>
              </a:rPr>
              <a:t> = </a:t>
            </a:r>
            <a:r>
              <a:rPr lang="en-US" sz="1400" dirty="0" smtClean="0">
                <a:solidFill>
                  <a:srgbClr val="DCDCAA"/>
                </a:solidFill>
                <a:latin typeface="Consolas"/>
              </a:rPr>
              <a:t>sum</a:t>
            </a:r>
            <a:r>
              <a:rPr lang="en-US" sz="1400" dirty="0" smtClean="0">
                <a:solidFill>
                  <a:srgbClr val="D4D4D4"/>
                </a:solidFill>
                <a:latin typeface="Consolas"/>
              </a:rPr>
              <a:t>(</a:t>
            </a:r>
            <a:r>
              <a:rPr lang="en-US" sz="1400" dirty="0" smtClean="0">
                <a:solidFill>
                  <a:srgbClr val="9CDCFE"/>
                </a:solidFill>
                <a:latin typeface="Consolas"/>
              </a:rPr>
              <a:t>number</a:t>
            </a:r>
            <a:r>
              <a:rPr lang="en-US" sz="1400" dirty="0" smtClean="0">
                <a:solidFill>
                  <a:srgbClr val="D4D4D4"/>
                </a:solidFill>
                <a:latin typeface="Consolas"/>
              </a:rPr>
              <a:t>);</a:t>
            </a:r>
          </a:p>
          <a:p>
            <a:r>
              <a:rPr lang="en-US" sz="1400" dirty="0" smtClean="0">
                <a:solidFill>
                  <a:srgbClr val="D4D4D4"/>
                </a:solidFill>
                <a:latin typeface="Consolas"/>
              </a:rPr>
              <a:t>        </a:t>
            </a:r>
            <a:r>
              <a:rPr lang="en-US" sz="1400" dirty="0" smtClean="0">
                <a:solidFill>
                  <a:srgbClr val="DCDCAA"/>
                </a:solidFill>
                <a:latin typeface="Consolas"/>
              </a:rPr>
              <a:t>callback</a:t>
            </a:r>
            <a:r>
              <a:rPr lang="en-US" sz="1400" dirty="0" smtClean="0">
                <a:solidFill>
                  <a:srgbClr val="D4D4D4"/>
                </a:solidFill>
                <a:latin typeface="Consolas"/>
              </a:rPr>
              <a:t>(</a:t>
            </a:r>
            <a:r>
              <a:rPr lang="en-US" sz="1400" dirty="0" smtClean="0">
                <a:solidFill>
                  <a:srgbClr val="4FC1FF"/>
                </a:solidFill>
                <a:latin typeface="Consolas"/>
              </a:rPr>
              <a:t>total</a:t>
            </a:r>
            <a:r>
              <a:rPr lang="en-US" sz="1400" dirty="0" smtClean="0">
                <a:solidFill>
                  <a:srgbClr val="D4D4D4"/>
                </a:solidFill>
                <a:latin typeface="Consolas"/>
              </a:rPr>
              <a:t>);</a:t>
            </a:r>
          </a:p>
          <a:p>
            <a:r>
              <a:rPr lang="en-US" sz="1400" dirty="0" smtClean="0">
                <a:solidFill>
                  <a:srgbClr val="D4D4D4"/>
                </a:solidFill>
                <a:latin typeface="Consolas"/>
              </a:rPr>
              <a:t>    }, </a:t>
            </a:r>
            <a:r>
              <a:rPr lang="en-US" sz="1400" dirty="0" smtClean="0">
                <a:solidFill>
                  <a:srgbClr val="9CDCFE"/>
                </a:solidFill>
                <a:latin typeface="Consolas"/>
              </a:rPr>
              <a:t>delays</a:t>
            </a:r>
            <a:r>
              <a:rPr lang="en-US" sz="1400" dirty="0" smtClean="0">
                <a:solidFill>
                  <a:srgbClr val="D4D4D4"/>
                </a:solidFill>
                <a:latin typeface="Consolas"/>
              </a:rPr>
              <a:t>);</a:t>
            </a: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r>
              <a:rPr lang="en-US" sz="1400" dirty="0" err="1" smtClean="0">
                <a:solidFill>
                  <a:srgbClr val="DCDCAA"/>
                </a:solidFill>
                <a:latin typeface="Consolas"/>
              </a:rPr>
              <a:t>startTask</a:t>
            </a:r>
            <a:r>
              <a:rPr lang="en-US" sz="1400" dirty="0" smtClean="0">
                <a:solidFill>
                  <a:srgbClr val="D4D4D4"/>
                </a:solidFill>
                <a:latin typeface="Consolas"/>
              </a:rPr>
              <a:t>(</a:t>
            </a:r>
            <a:r>
              <a:rPr lang="en-US" sz="1400" dirty="0" smtClean="0">
                <a:solidFill>
                  <a:srgbClr val="B5CEA8"/>
                </a:solidFill>
                <a:latin typeface="Consolas"/>
              </a:rPr>
              <a:t>1</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a:t>
            </a:r>
            <a:r>
              <a:rPr lang="en-US" sz="1400" dirty="0" smtClean="0">
                <a:solidFill>
                  <a:srgbClr val="569CD6"/>
                </a:solidFill>
                <a:latin typeface="Consolas"/>
              </a:rPr>
              <a:t>=&gt;</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console</a:t>
            </a:r>
            <a:r>
              <a:rPr lang="en-US" sz="1400" dirty="0" smtClean="0">
                <a:solidFill>
                  <a:srgbClr val="D4D4D4"/>
                </a:solidFill>
                <a:latin typeface="Consolas"/>
              </a:rPr>
              <a:t>.</a:t>
            </a:r>
            <a:r>
              <a:rPr lang="en-US" sz="1400" dirty="0" smtClean="0">
                <a:solidFill>
                  <a:srgbClr val="DCDCAA"/>
                </a:solidFill>
                <a:latin typeface="Consolas"/>
              </a:rPr>
              <a:t>log</a:t>
            </a:r>
            <a:r>
              <a:rPr lang="en-US" sz="1400" dirty="0" smtClean="0">
                <a:solidFill>
                  <a:srgbClr val="D4D4D4"/>
                </a:solidFill>
                <a:latin typeface="Consolas"/>
              </a:rPr>
              <a:t>(</a:t>
            </a:r>
            <a:r>
              <a:rPr lang="en-US" sz="1400" dirty="0" smtClean="0">
                <a:solidFill>
                  <a:srgbClr val="CE9178"/>
                </a:solidFill>
                <a:latin typeface="Consolas"/>
              </a:rPr>
              <a:t>"sum(1) ="</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a:t>
            </a:r>
          </a:p>
          <a:p>
            <a:r>
              <a:rPr lang="en-US" sz="1400" dirty="0" smtClean="0">
                <a:solidFill>
                  <a:srgbClr val="D4D4D4"/>
                </a:solidFill>
                <a:latin typeface="Consolas"/>
              </a:rPr>
              <a:t>    }, </a:t>
            </a:r>
            <a:r>
              <a:rPr lang="en-US" sz="1400" dirty="0" smtClean="0">
                <a:solidFill>
                  <a:srgbClr val="B5CEA8"/>
                </a:solidFill>
                <a:latin typeface="Consolas"/>
              </a:rPr>
              <a:t>500</a:t>
            </a:r>
            <a:endParaRPr lang="en-US" sz="1400" dirty="0" smtClean="0">
              <a:solidFill>
                <a:srgbClr val="D4D4D4"/>
              </a:solidFill>
              <a:latin typeface="Consolas"/>
            </a:endParaRPr>
          </a:p>
          <a:p>
            <a:r>
              <a:rPr lang="en-US" sz="1400" dirty="0" smtClean="0">
                <a:solidFill>
                  <a:srgbClr val="D4D4D4"/>
                </a:solidFill>
                <a:latin typeface="Consolas"/>
              </a:rPr>
              <a:t>);</a:t>
            </a:r>
            <a:br>
              <a:rPr lang="en-US" sz="1400" dirty="0" smtClean="0">
                <a:solidFill>
                  <a:srgbClr val="D4D4D4"/>
                </a:solidFill>
                <a:latin typeface="Consolas"/>
              </a:rPr>
            </a:br>
            <a:r>
              <a:rPr lang="en-US" sz="1400" dirty="0" err="1" smtClean="0">
                <a:solidFill>
                  <a:srgbClr val="DCDCAA"/>
                </a:solidFill>
                <a:latin typeface="Consolas"/>
              </a:rPr>
              <a:t>startTask</a:t>
            </a:r>
            <a:r>
              <a:rPr lang="en-US" sz="1400" dirty="0" smtClean="0">
                <a:solidFill>
                  <a:srgbClr val="D4D4D4"/>
                </a:solidFill>
                <a:latin typeface="Consolas"/>
              </a:rPr>
              <a:t>(</a:t>
            </a:r>
            <a:r>
              <a:rPr lang="en-US" sz="1400" dirty="0" smtClean="0">
                <a:solidFill>
                  <a:srgbClr val="B5CEA8"/>
                </a:solidFill>
                <a:latin typeface="Consolas"/>
              </a:rPr>
              <a:t>3</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a:t>
            </a:r>
            <a:r>
              <a:rPr lang="en-US" sz="1400" dirty="0" smtClean="0">
                <a:solidFill>
                  <a:srgbClr val="569CD6"/>
                </a:solidFill>
                <a:latin typeface="Consolas"/>
              </a:rPr>
              <a:t>=&gt;</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console</a:t>
            </a:r>
            <a:r>
              <a:rPr lang="en-US" sz="1400" dirty="0" smtClean="0">
                <a:solidFill>
                  <a:srgbClr val="D4D4D4"/>
                </a:solidFill>
                <a:latin typeface="Consolas"/>
              </a:rPr>
              <a:t>.</a:t>
            </a:r>
            <a:r>
              <a:rPr lang="en-US" sz="1400" dirty="0" smtClean="0">
                <a:solidFill>
                  <a:srgbClr val="DCDCAA"/>
                </a:solidFill>
                <a:latin typeface="Consolas"/>
              </a:rPr>
              <a:t>log</a:t>
            </a:r>
            <a:r>
              <a:rPr lang="en-US" sz="1400" dirty="0" smtClean="0">
                <a:solidFill>
                  <a:srgbClr val="D4D4D4"/>
                </a:solidFill>
                <a:latin typeface="Consolas"/>
              </a:rPr>
              <a:t>(</a:t>
            </a:r>
            <a:r>
              <a:rPr lang="en-US" sz="1400" dirty="0" smtClean="0">
                <a:solidFill>
                  <a:srgbClr val="CE9178"/>
                </a:solidFill>
                <a:latin typeface="Consolas"/>
              </a:rPr>
              <a:t>"sum(3) ="</a:t>
            </a:r>
            <a:r>
              <a:rPr lang="en-US" sz="1400" dirty="0" smtClean="0">
                <a:solidFill>
                  <a:srgbClr val="D4D4D4"/>
                </a:solidFill>
                <a:latin typeface="Consolas"/>
              </a:rPr>
              <a:t>, </a:t>
            </a:r>
            <a:r>
              <a:rPr lang="en-US" sz="1400" dirty="0" smtClean="0">
                <a:solidFill>
                  <a:srgbClr val="9CDCFE"/>
                </a:solidFill>
                <a:latin typeface="Consolas"/>
              </a:rPr>
              <a:t>total</a:t>
            </a:r>
            <a:r>
              <a:rPr lang="en-US" sz="1400" dirty="0" smtClean="0">
                <a:solidFill>
                  <a:srgbClr val="D4D4D4"/>
                </a:solidFill>
                <a:latin typeface="Consolas"/>
              </a:rPr>
              <a:t>);        </a:t>
            </a:r>
          </a:p>
          <a:p>
            <a:r>
              <a:rPr lang="en-US" sz="1400" dirty="0" smtClean="0">
                <a:solidFill>
                  <a:srgbClr val="D4D4D4"/>
                </a:solidFill>
                <a:latin typeface="Consolas"/>
              </a:rPr>
              <a:t>    }, </a:t>
            </a:r>
            <a:r>
              <a:rPr lang="en-US" sz="1400" dirty="0" smtClean="0">
                <a:solidFill>
                  <a:srgbClr val="B5CEA8"/>
                </a:solidFill>
                <a:latin typeface="Consolas"/>
              </a:rPr>
              <a:t>100</a:t>
            </a:r>
            <a:endParaRPr lang="en-US" sz="1400" dirty="0" smtClean="0">
              <a:solidFill>
                <a:srgbClr val="D4D4D4"/>
              </a:solidFill>
              <a:latin typeface="Consolas"/>
            </a:endParaRPr>
          </a:p>
          <a:p>
            <a:r>
              <a:rPr lang="en-US" sz="1400" dirty="0" smtClean="0">
                <a:solidFill>
                  <a:srgbClr val="D4D4D4"/>
                </a:solidFill>
                <a:latin typeface="Consolas"/>
              </a:rPr>
              <a:t>);</a:t>
            </a:r>
            <a:endParaRPr lang="en-US" sz="1400" b="0" dirty="0">
              <a:solidFill>
                <a:srgbClr val="D4D4D4"/>
              </a:solidFill>
              <a:latin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JavaScript Runtime</a:t>
            </a:r>
            <a:endParaRPr lang="en-US" dirty="0"/>
          </a:p>
        </p:txBody>
      </p:sp>
      <p:sp>
        <p:nvSpPr>
          <p:cNvPr id="50180" name="AutoShape 4" descr="https://cdn-images-1.medium.com/max/1600/1*ocCc8yEvUEeOtGU2LNQnpA.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0182" name="AutoShape 6" descr="https://cdn-images-1.medium.com/max/1600/1*ocCc8yEvUEeOtGU2LNQnpA.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0185" name="Picture 9" descr="https://cdn-images-1.medium.com/max/1600/1*ocCc8yEvUEeOtGU2LNQnpA.png"/>
          <p:cNvPicPr>
            <a:picLocks noChangeAspect="1" noChangeArrowheads="1"/>
          </p:cNvPicPr>
          <p:nvPr/>
        </p:nvPicPr>
        <p:blipFill>
          <a:blip r:embed="rId2" cstate="print"/>
          <a:srcRect/>
          <a:stretch>
            <a:fillRect/>
          </a:stretch>
        </p:blipFill>
        <p:spPr bwMode="auto">
          <a:xfrm>
            <a:off x="730250" y="2209800"/>
            <a:ext cx="7651750" cy="3214688"/>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Callback Queue</a:t>
            </a:r>
            <a:endParaRPr lang="en-US" dirty="0"/>
          </a:p>
        </p:txBody>
      </p:sp>
      <p:sp>
        <p:nvSpPr>
          <p:cNvPr id="50180" name="AutoShape 4" descr="https://cdn-images-1.medium.com/max/1600/1*ocCc8yEvUEeOtGU2LNQnpA.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0182" name="AutoShape 6" descr="https://cdn-images-1.medium.com/max/1600/1*ocCc8yEvUEeOtGU2LNQnpA.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5298" name="AutoShape 2" descr="https://cdn-images-1.medium.com/max/792/1*kZnTJxGdNibqHvSpQveKzw.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5300" name="Picture 4" descr="https://cdn-images-1.medium.com/max/792/1*kZnTJxGdNibqHvSpQveKzw.png"/>
          <p:cNvPicPr>
            <a:picLocks noChangeAspect="1" noChangeArrowheads="1"/>
          </p:cNvPicPr>
          <p:nvPr/>
        </p:nvPicPr>
        <p:blipFill>
          <a:blip r:embed="rId2" cstate="print"/>
          <a:srcRect/>
          <a:stretch>
            <a:fillRect/>
          </a:stretch>
        </p:blipFill>
        <p:spPr bwMode="auto">
          <a:xfrm>
            <a:off x="1600200" y="2133600"/>
            <a:ext cx="6286500" cy="3468688"/>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Loop</a:t>
            </a:r>
            <a:endParaRPr lang="en-US" dirty="0"/>
          </a:p>
        </p:txBody>
      </p:sp>
      <p:pic>
        <p:nvPicPr>
          <p:cNvPr id="50178" name="Picture 2" descr="https://aseemrb.me/images/weird-awesome-javascript/chrome.png"/>
          <p:cNvPicPr>
            <a:picLocks noChangeAspect="1" noChangeArrowheads="1"/>
          </p:cNvPicPr>
          <p:nvPr/>
        </p:nvPicPr>
        <p:blipFill>
          <a:blip r:embed="rId2" cstate="print"/>
          <a:srcRect/>
          <a:stretch>
            <a:fillRect/>
          </a:stretch>
        </p:blipFill>
        <p:spPr bwMode="auto">
          <a:xfrm>
            <a:off x="2209800" y="1600200"/>
            <a:ext cx="4895924" cy="4595765"/>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(Client-Side) Browser Events</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2000" u="sng" dirty="0" smtClean="0"/>
              <a:t>Client-side</a:t>
            </a:r>
            <a:r>
              <a:rPr lang="en-US" sz="2000" dirty="0" smtClean="0"/>
              <a:t> JavaScript programs are almost universally </a:t>
            </a:r>
            <a:r>
              <a:rPr lang="en-US" sz="2000" i="1" dirty="0" smtClean="0">
                <a:solidFill>
                  <a:srgbClr val="C00000"/>
                </a:solidFill>
              </a:rPr>
              <a:t>event driven</a:t>
            </a:r>
            <a:r>
              <a:rPr lang="en-US" sz="2000" dirty="0" smtClean="0"/>
              <a:t>. The web browser generates an event when the user presses a key on the keyboard, moves the mouse, clicks a mouse button, or touches a </a:t>
            </a:r>
            <a:r>
              <a:rPr lang="en-US" sz="2000" dirty="0" err="1" smtClean="0"/>
              <a:t>touchscreen</a:t>
            </a:r>
            <a:r>
              <a:rPr lang="en-US" sz="2000" dirty="0" smtClean="0"/>
              <a:t> device.</a:t>
            </a:r>
          </a:p>
          <a:p>
            <a:r>
              <a:rPr lang="en-US" sz="2000" dirty="0" smtClean="0"/>
              <a:t>Event-driven JavaScript programs </a:t>
            </a:r>
            <a:r>
              <a:rPr lang="en-US" sz="2000" i="1" dirty="0" smtClean="0">
                <a:solidFill>
                  <a:srgbClr val="C00000"/>
                </a:solidFill>
              </a:rPr>
              <a:t>register callback functions</a:t>
            </a:r>
            <a:r>
              <a:rPr lang="en-US" sz="2000" dirty="0" smtClean="0"/>
              <a:t> for specified types of events in specified contexts, and the web browser invokes those functions whenever the specified events occur.</a:t>
            </a:r>
          </a:p>
          <a:p>
            <a:r>
              <a:rPr lang="en-US" sz="2000" dirty="0" smtClean="0"/>
              <a:t>These callback functions are called event </a:t>
            </a:r>
            <a:r>
              <a:rPr lang="en-US" sz="2000" i="1" dirty="0" smtClean="0">
                <a:solidFill>
                  <a:srgbClr val="C00000"/>
                </a:solidFill>
              </a:rPr>
              <a:t>handlers</a:t>
            </a:r>
            <a:r>
              <a:rPr lang="en-US" sz="2000" dirty="0" smtClean="0"/>
              <a:t> or </a:t>
            </a:r>
            <a:r>
              <a:rPr lang="en-US" sz="2000" i="1" dirty="0" smtClean="0">
                <a:solidFill>
                  <a:srgbClr val="C00000"/>
                </a:solidFill>
              </a:rPr>
              <a:t>event listeners</a:t>
            </a:r>
            <a:r>
              <a:rPr lang="en-US" sz="2000" dirty="0" smtClean="0"/>
              <a:t>, and they are registered with </a:t>
            </a:r>
            <a:r>
              <a:rPr lang="en-US" sz="2000" b="1" dirty="0" err="1" smtClean="0">
                <a:latin typeface="Consolas" pitchFamily="49" charset="0"/>
              </a:rPr>
              <a:t>addEventListener</a:t>
            </a:r>
            <a:r>
              <a:rPr lang="en-US" sz="2000" b="1" dirty="0" smtClean="0">
                <a:latin typeface="Consolas" pitchFamily="49" charset="0"/>
              </a:rPr>
              <a:t>()</a:t>
            </a:r>
            <a:r>
              <a:rPr lang="en-US" sz="2000" dirty="0" smtClean="0"/>
              <a:t>:</a:t>
            </a:r>
            <a:endParaRPr lang="en-US" sz="2000" dirty="0"/>
          </a:p>
        </p:txBody>
      </p:sp>
      <p:sp>
        <p:nvSpPr>
          <p:cNvPr id="5" name="Rectangle 4"/>
          <p:cNvSpPr/>
          <p:nvPr/>
        </p:nvSpPr>
        <p:spPr>
          <a:xfrm>
            <a:off x="609600" y="4724400"/>
            <a:ext cx="7924800" cy="1815882"/>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i="1" dirty="0" smtClean="0">
                <a:solidFill>
                  <a:srgbClr val="35586C"/>
                </a:solidFill>
                <a:latin typeface="Consolas" pitchFamily="49" charset="0"/>
              </a:rPr>
              <a:t>// Ask the web browser to return an object representing the HTML</a:t>
            </a:r>
          </a:p>
          <a:p>
            <a:r>
              <a:rPr lang="en-US" sz="1600" i="1" dirty="0" smtClean="0">
                <a:solidFill>
                  <a:srgbClr val="35586C"/>
                </a:solidFill>
                <a:latin typeface="Consolas" pitchFamily="49" charset="0"/>
              </a:rPr>
              <a:t>// &lt;button&gt; element that matches this CSS selector</a:t>
            </a:r>
          </a:p>
          <a:p>
            <a:r>
              <a:rPr lang="en-US" sz="1600" dirty="0" smtClean="0">
                <a:solidFill>
                  <a:srgbClr val="00669A"/>
                </a:solidFill>
                <a:latin typeface="Consolas" pitchFamily="49" charset="0"/>
              </a:rPr>
              <a:t>let </a:t>
            </a:r>
            <a:r>
              <a:rPr lang="en-US" sz="1600" dirty="0" smtClean="0">
                <a:solidFill>
                  <a:srgbClr val="000089"/>
                </a:solidFill>
                <a:latin typeface="Consolas" pitchFamily="49" charset="0"/>
              </a:rPr>
              <a:t>okay </a:t>
            </a:r>
            <a:r>
              <a:rPr lang="en-US" sz="1600" dirty="0" smtClean="0">
                <a:solidFill>
                  <a:srgbClr val="555555"/>
                </a:solidFill>
                <a:latin typeface="Consolas" pitchFamily="49" charset="0"/>
              </a:rPr>
              <a:t>= </a:t>
            </a:r>
            <a:r>
              <a:rPr lang="en-US" sz="1600" dirty="0" err="1" smtClean="0">
                <a:solidFill>
                  <a:srgbClr val="336666"/>
                </a:solidFill>
                <a:latin typeface="Consolas" pitchFamily="49" charset="0"/>
              </a:rPr>
              <a:t>document</a:t>
            </a:r>
            <a:r>
              <a:rPr lang="en-US" sz="1600" dirty="0" err="1" smtClean="0">
                <a:solidFill>
                  <a:srgbClr val="000000"/>
                </a:solidFill>
                <a:latin typeface="Consolas" pitchFamily="49" charset="0"/>
              </a:rPr>
              <a:t>.</a:t>
            </a:r>
            <a:r>
              <a:rPr lang="en-US" sz="1600" dirty="0" err="1" smtClean="0">
                <a:solidFill>
                  <a:srgbClr val="000089"/>
                </a:solidFill>
                <a:latin typeface="Consolas" pitchFamily="49" charset="0"/>
              </a:rPr>
              <a:t>querySelector</a:t>
            </a:r>
            <a:r>
              <a:rPr lang="en-US" sz="1600" dirty="0" smtClean="0">
                <a:solidFill>
                  <a:srgbClr val="000000"/>
                </a:solidFill>
                <a:latin typeface="Consolas" pitchFamily="49" charset="0"/>
              </a:rPr>
              <a:t>(</a:t>
            </a:r>
            <a:r>
              <a:rPr lang="en-US" sz="1600" dirty="0" smtClean="0">
                <a:solidFill>
                  <a:srgbClr val="CD3300"/>
                </a:solidFill>
                <a:latin typeface="Consolas" pitchFamily="49" charset="0"/>
              </a:rPr>
              <a:t>'#</a:t>
            </a:r>
            <a:r>
              <a:rPr lang="en-US" sz="1600" dirty="0" err="1" smtClean="0">
                <a:solidFill>
                  <a:srgbClr val="CD3300"/>
                </a:solidFill>
                <a:latin typeface="Consolas" pitchFamily="49" charset="0"/>
              </a:rPr>
              <a:t>confirmUpdateDialog</a:t>
            </a:r>
            <a:r>
              <a:rPr lang="en-US" sz="1600" dirty="0" smtClean="0">
                <a:solidFill>
                  <a:srgbClr val="CD3300"/>
                </a:solidFill>
                <a:latin typeface="Consolas" pitchFamily="49" charset="0"/>
              </a:rPr>
              <a:t> </a:t>
            </a:r>
            <a:r>
              <a:rPr lang="en-US" sz="1600" dirty="0" err="1" smtClean="0">
                <a:solidFill>
                  <a:srgbClr val="CD3300"/>
                </a:solidFill>
                <a:latin typeface="Consolas" pitchFamily="49" charset="0"/>
              </a:rPr>
              <a:t>button.okay</a:t>
            </a:r>
            <a:r>
              <a:rPr lang="en-US" sz="1600" dirty="0" smtClean="0">
                <a:solidFill>
                  <a:srgbClr val="CD3300"/>
                </a:solidFill>
                <a:latin typeface="Consolas" pitchFamily="49" charset="0"/>
              </a:rPr>
              <a:t>'</a:t>
            </a:r>
            <a:r>
              <a:rPr lang="en-US" sz="1600" dirty="0" smtClean="0">
                <a:solidFill>
                  <a:srgbClr val="000000"/>
                </a:solidFill>
                <a:latin typeface="Consolas" pitchFamily="49" charset="0"/>
              </a:rPr>
              <a:t>);</a:t>
            </a:r>
          </a:p>
          <a:p>
            <a:r>
              <a:rPr lang="en-US" sz="1600" i="1" dirty="0" smtClean="0">
                <a:solidFill>
                  <a:srgbClr val="35586C"/>
                </a:solidFill>
                <a:latin typeface="Consolas" pitchFamily="49" charset="0"/>
              </a:rPr>
              <a:t>// Now register a callback function to be invoked when the user</a:t>
            </a:r>
          </a:p>
          <a:p>
            <a:r>
              <a:rPr lang="en-US" sz="1600" i="1" dirty="0" smtClean="0">
                <a:solidFill>
                  <a:srgbClr val="35586C"/>
                </a:solidFill>
                <a:latin typeface="Consolas" pitchFamily="49" charset="0"/>
              </a:rPr>
              <a:t>// clicks on that button.</a:t>
            </a:r>
          </a:p>
          <a:p>
            <a:r>
              <a:rPr lang="en-US" sz="1600" dirty="0" err="1" smtClean="0">
                <a:solidFill>
                  <a:srgbClr val="000089"/>
                </a:solidFill>
                <a:latin typeface="Consolas" pitchFamily="49" charset="0"/>
              </a:rPr>
              <a:t>okay</a:t>
            </a:r>
            <a:r>
              <a:rPr lang="en-US" sz="1600" dirty="0" err="1" smtClean="0">
                <a:solidFill>
                  <a:srgbClr val="000000"/>
                </a:solidFill>
                <a:latin typeface="Consolas" pitchFamily="49" charset="0"/>
              </a:rPr>
              <a:t>.</a:t>
            </a:r>
            <a:r>
              <a:rPr lang="en-US" sz="1600" dirty="0" err="1" smtClean="0">
                <a:solidFill>
                  <a:srgbClr val="000089"/>
                </a:solidFill>
                <a:latin typeface="Consolas" pitchFamily="49" charset="0"/>
              </a:rPr>
              <a:t>addEventListener</a:t>
            </a:r>
            <a:r>
              <a:rPr lang="en-US" sz="1600" dirty="0" smtClean="0">
                <a:solidFill>
                  <a:srgbClr val="000000"/>
                </a:solidFill>
                <a:latin typeface="Consolas" pitchFamily="49" charset="0"/>
              </a:rPr>
              <a:t>(</a:t>
            </a:r>
            <a:r>
              <a:rPr lang="en-US" sz="1600" dirty="0" smtClean="0">
                <a:solidFill>
                  <a:srgbClr val="CD3300"/>
                </a:solidFill>
                <a:latin typeface="Consolas" pitchFamily="49" charset="0"/>
              </a:rPr>
              <a:t>'click'</a:t>
            </a:r>
            <a:r>
              <a:rPr lang="en-US" sz="1600" dirty="0" smtClean="0">
                <a:solidFill>
                  <a:srgbClr val="000000"/>
                </a:solidFill>
                <a:latin typeface="Consolas" pitchFamily="49" charset="0"/>
              </a:rPr>
              <a:t>, </a:t>
            </a:r>
            <a:r>
              <a:rPr lang="en-US" sz="1600" dirty="0" err="1" smtClean="0">
                <a:solidFill>
                  <a:srgbClr val="000089"/>
                </a:solidFill>
                <a:latin typeface="Consolas" pitchFamily="49" charset="0"/>
              </a:rPr>
              <a:t>applyUpdate</a:t>
            </a:r>
            <a:r>
              <a:rPr lang="en-US" sz="1600" dirty="0" smtClean="0">
                <a:solidFill>
                  <a:srgbClr val="000000"/>
                </a:solidFill>
                <a:latin typeface="Consolas" pitchFamily="49" charset="0"/>
              </a:rPr>
              <a:t>);</a:t>
            </a:r>
            <a:endParaRPr lang="en-US" sz="1600" dirty="0" smtClean="0">
              <a:latin typeface="Consolas"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(Client-Side) Network Events</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2200" dirty="0" smtClean="0"/>
              <a:t>Another common source of </a:t>
            </a:r>
            <a:r>
              <a:rPr lang="en-US" sz="2200" i="1" dirty="0" smtClean="0">
                <a:solidFill>
                  <a:srgbClr val="C00000"/>
                </a:solidFill>
              </a:rPr>
              <a:t>asynchrony</a:t>
            </a:r>
            <a:r>
              <a:rPr lang="en-US" sz="2200" dirty="0" smtClean="0"/>
              <a:t> in JavaScript programming is network requests.</a:t>
            </a:r>
            <a:endParaRPr lang="en-US" sz="2200" dirty="0"/>
          </a:p>
        </p:txBody>
      </p:sp>
      <p:sp>
        <p:nvSpPr>
          <p:cNvPr id="5" name="Rectangle 4"/>
          <p:cNvSpPr/>
          <p:nvPr/>
        </p:nvSpPr>
        <p:spPr>
          <a:xfrm>
            <a:off x="609600" y="2571214"/>
            <a:ext cx="7924800" cy="3600986"/>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200" dirty="0" smtClean="0">
                <a:solidFill>
                  <a:srgbClr val="AB0D90"/>
                </a:solidFill>
                <a:latin typeface="Consolas"/>
              </a:rPr>
              <a:t>function</a:t>
            </a:r>
            <a:r>
              <a:rPr lang="en-US" sz="1200" dirty="0" smtClean="0">
                <a:solidFill>
                  <a:srgbClr val="222222"/>
                </a:solidFill>
                <a:latin typeface="Consolas"/>
              </a:rPr>
              <a:t> </a:t>
            </a:r>
            <a:r>
              <a:rPr lang="en-US" sz="1200" dirty="0" err="1" smtClean="0">
                <a:solidFill>
                  <a:srgbClr val="1A1AA8"/>
                </a:solidFill>
                <a:latin typeface="Consolas"/>
              </a:rPr>
              <a:t>versionCallback</a:t>
            </a:r>
            <a:r>
              <a:rPr lang="en-US" sz="1200" dirty="0" smtClean="0">
                <a:solidFill>
                  <a:srgbClr val="222222"/>
                </a:solidFill>
                <a:latin typeface="Consolas"/>
              </a:rPr>
              <a:t>(</a:t>
            </a:r>
            <a:r>
              <a:rPr lang="en-US" sz="1200" dirty="0" smtClean="0">
                <a:solidFill>
                  <a:srgbClr val="1A1AA8"/>
                </a:solidFill>
                <a:latin typeface="Consolas"/>
              </a:rPr>
              <a:t>error</a:t>
            </a:r>
            <a:r>
              <a:rPr lang="en-US" sz="1200" dirty="0" smtClean="0">
                <a:solidFill>
                  <a:srgbClr val="222222"/>
                </a:solidFill>
                <a:latin typeface="Consolas"/>
              </a:rPr>
              <a:t>, </a:t>
            </a:r>
            <a:r>
              <a:rPr lang="en-US" sz="1200" dirty="0" smtClean="0">
                <a:solidFill>
                  <a:srgbClr val="1A1AA8"/>
                </a:solidFill>
                <a:latin typeface="Consolas"/>
              </a:rPr>
              <a:t>version</a:t>
            </a:r>
            <a:r>
              <a:rPr lang="en-US" sz="1200" dirty="0" smtClean="0">
                <a:solidFill>
                  <a:srgbClr val="222222"/>
                </a:solidFill>
                <a:latin typeface="Consolas"/>
              </a:rPr>
              <a:t>) { console.log(</a:t>
            </a:r>
            <a:r>
              <a:rPr lang="en-US" sz="1200" dirty="0" smtClean="0">
                <a:solidFill>
                  <a:srgbClr val="1A1AA8"/>
                </a:solidFill>
                <a:latin typeface="Consolas"/>
              </a:rPr>
              <a:t>error</a:t>
            </a:r>
            <a:r>
              <a:rPr lang="en-US" sz="1200" dirty="0" smtClean="0">
                <a:solidFill>
                  <a:srgbClr val="222222"/>
                </a:solidFill>
                <a:latin typeface="Consolas"/>
              </a:rPr>
              <a:t>); } </a:t>
            </a:r>
          </a:p>
          <a:p>
            <a:r>
              <a:rPr lang="en-US" sz="1200" dirty="0" smtClean="0">
                <a:solidFill>
                  <a:srgbClr val="AB0D90"/>
                </a:solidFill>
                <a:latin typeface="Consolas"/>
              </a:rPr>
              <a:t>function</a:t>
            </a:r>
            <a:r>
              <a:rPr lang="en-US" sz="1200" dirty="0" smtClean="0">
                <a:solidFill>
                  <a:srgbClr val="222222"/>
                </a:solidFill>
                <a:latin typeface="Consolas"/>
              </a:rPr>
              <a:t> </a:t>
            </a:r>
            <a:r>
              <a:rPr lang="en-US" sz="1200" dirty="0" err="1" smtClean="0">
                <a:solidFill>
                  <a:srgbClr val="1A1AA8"/>
                </a:solidFill>
                <a:latin typeface="Consolas"/>
              </a:rPr>
              <a:t>getCurrentVersionNumber</a:t>
            </a:r>
            <a:r>
              <a:rPr lang="en-US" sz="1200" dirty="0" smtClean="0">
                <a:solidFill>
                  <a:srgbClr val="222222"/>
                </a:solidFill>
                <a:latin typeface="Consolas"/>
              </a:rPr>
              <a:t>(</a:t>
            </a:r>
            <a:r>
              <a:rPr lang="en-US" sz="1200" dirty="0" err="1" smtClean="0">
                <a:solidFill>
                  <a:srgbClr val="1A1AA8"/>
                </a:solidFill>
                <a:latin typeface="Consolas"/>
              </a:rPr>
              <a:t>versionCallback</a:t>
            </a:r>
            <a:r>
              <a:rPr lang="en-US" sz="1200" dirty="0" smtClean="0">
                <a:solidFill>
                  <a:srgbClr val="222222"/>
                </a:solidFill>
                <a:latin typeface="Consolas"/>
              </a:rPr>
              <a:t>) { </a:t>
            </a:r>
            <a:r>
              <a:rPr lang="en-US" sz="1200" i="1" dirty="0" smtClean="0">
                <a:solidFill>
                  <a:srgbClr val="007500"/>
                </a:solidFill>
                <a:latin typeface="Consolas"/>
              </a:rPr>
              <a:t>// Note callback argument</a:t>
            </a:r>
            <a:r>
              <a:rPr lang="en-US" sz="1200" dirty="0" smtClean="0">
                <a:solidFill>
                  <a:srgbClr val="222222"/>
                </a:solidFill>
                <a:latin typeface="Consolas"/>
              </a:rPr>
              <a:t> </a:t>
            </a:r>
            <a:r>
              <a:rPr lang="en-US" sz="1200" i="1" dirty="0" smtClean="0">
                <a:solidFill>
                  <a:srgbClr val="007500"/>
                </a:solidFill>
                <a:latin typeface="Consolas"/>
              </a:rPr>
              <a:t>// Make a scripted HTTP request to a backend version API</a:t>
            </a:r>
            <a:r>
              <a:rPr lang="en-US" sz="1200" dirty="0" smtClean="0">
                <a:solidFill>
                  <a:srgbClr val="222222"/>
                </a:solidFill>
                <a:latin typeface="Consolas"/>
              </a:rPr>
              <a:t> </a:t>
            </a:r>
          </a:p>
          <a:p>
            <a:pPr lvl="1"/>
            <a:r>
              <a:rPr lang="en-US" sz="1200" dirty="0" smtClean="0">
                <a:solidFill>
                  <a:srgbClr val="AB0D90"/>
                </a:solidFill>
                <a:latin typeface="Consolas"/>
              </a:rPr>
              <a:t>let</a:t>
            </a:r>
            <a:r>
              <a:rPr lang="en-US" sz="1200" dirty="0" smtClean="0">
                <a:solidFill>
                  <a:srgbClr val="222222"/>
                </a:solidFill>
                <a:latin typeface="Consolas"/>
              </a:rPr>
              <a:t> </a:t>
            </a:r>
            <a:r>
              <a:rPr lang="en-US" sz="1200" dirty="0" smtClean="0">
                <a:solidFill>
                  <a:srgbClr val="1A1AA8"/>
                </a:solidFill>
                <a:latin typeface="Consolas"/>
              </a:rPr>
              <a:t>request</a:t>
            </a:r>
            <a:r>
              <a:rPr lang="en-US" sz="1200" dirty="0" smtClean="0">
                <a:solidFill>
                  <a:srgbClr val="222222"/>
                </a:solidFill>
                <a:latin typeface="Consolas"/>
              </a:rPr>
              <a:t> </a:t>
            </a:r>
            <a:r>
              <a:rPr lang="en-US" sz="1200" dirty="0" smtClean="0">
                <a:solidFill>
                  <a:srgbClr val="994500"/>
                </a:solidFill>
                <a:latin typeface="Consolas"/>
              </a:rPr>
              <a:t>=</a:t>
            </a:r>
            <a:r>
              <a:rPr lang="en-US" sz="1200" dirty="0" smtClean="0">
                <a:solidFill>
                  <a:srgbClr val="222222"/>
                </a:solidFill>
                <a:latin typeface="Consolas"/>
              </a:rPr>
              <a:t> </a:t>
            </a:r>
            <a:r>
              <a:rPr lang="en-US" sz="1200" dirty="0" smtClean="0">
                <a:solidFill>
                  <a:srgbClr val="AB0D90"/>
                </a:solidFill>
                <a:latin typeface="Consolas"/>
              </a:rPr>
              <a:t>new</a:t>
            </a:r>
            <a:r>
              <a:rPr lang="en-US" sz="1200" dirty="0" smtClean="0">
                <a:solidFill>
                  <a:srgbClr val="222222"/>
                </a:solidFill>
                <a:latin typeface="Consolas"/>
              </a:rPr>
              <a:t> </a:t>
            </a:r>
            <a:r>
              <a:rPr lang="en-US" sz="1200" dirty="0" err="1" smtClean="0">
                <a:solidFill>
                  <a:srgbClr val="222222"/>
                </a:solidFill>
                <a:latin typeface="Consolas"/>
              </a:rPr>
              <a:t>XMLHttpRequest</a:t>
            </a:r>
            <a:r>
              <a:rPr lang="en-US" sz="1200" dirty="0" smtClean="0">
                <a:solidFill>
                  <a:srgbClr val="222222"/>
                </a:solidFill>
                <a:latin typeface="Consolas"/>
              </a:rPr>
              <a:t>(); </a:t>
            </a:r>
          </a:p>
          <a:p>
            <a:pPr lvl="1"/>
            <a:r>
              <a:rPr lang="en-US" sz="1200" dirty="0" err="1" smtClean="0">
                <a:solidFill>
                  <a:srgbClr val="1A1AA8"/>
                </a:solidFill>
                <a:latin typeface="Consolas"/>
              </a:rPr>
              <a:t>request</a:t>
            </a:r>
            <a:r>
              <a:rPr lang="en-US" sz="1200" dirty="0" err="1" smtClean="0">
                <a:solidFill>
                  <a:srgbClr val="222222"/>
                </a:solidFill>
                <a:latin typeface="Consolas"/>
              </a:rPr>
              <a:t>.open</a:t>
            </a:r>
            <a:r>
              <a:rPr lang="en-US" sz="1200" dirty="0" smtClean="0">
                <a:solidFill>
                  <a:srgbClr val="222222"/>
                </a:solidFill>
                <a:latin typeface="Consolas"/>
              </a:rPr>
              <a:t>(</a:t>
            </a:r>
            <a:r>
              <a:rPr lang="en-US" sz="1200" dirty="0" smtClean="0">
                <a:solidFill>
                  <a:srgbClr val="C51916"/>
                </a:solidFill>
                <a:latin typeface="Consolas"/>
              </a:rPr>
              <a:t>"GET"</a:t>
            </a:r>
            <a:r>
              <a:rPr lang="en-US" sz="1200" dirty="0" smtClean="0">
                <a:solidFill>
                  <a:srgbClr val="222222"/>
                </a:solidFill>
                <a:latin typeface="Consolas"/>
              </a:rPr>
              <a:t>, </a:t>
            </a:r>
            <a:r>
              <a:rPr lang="en-US" sz="1200" dirty="0" smtClean="0">
                <a:solidFill>
                  <a:srgbClr val="C51916"/>
                </a:solidFill>
                <a:latin typeface="Consolas"/>
              </a:rPr>
              <a:t>"http://www.example.com/api/version"</a:t>
            </a:r>
            <a:r>
              <a:rPr lang="en-US" sz="1200" dirty="0" smtClean="0">
                <a:solidFill>
                  <a:srgbClr val="222222"/>
                </a:solidFill>
                <a:latin typeface="Consolas"/>
              </a:rPr>
              <a:t>); </a:t>
            </a:r>
            <a:r>
              <a:rPr lang="en-US" sz="1200" dirty="0" err="1" smtClean="0">
                <a:solidFill>
                  <a:srgbClr val="1A1AA8"/>
                </a:solidFill>
                <a:latin typeface="Consolas"/>
              </a:rPr>
              <a:t>request</a:t>
            </a:r>
            <a:r>
              <a:rPr lang="en-US" sz="1200" dirty="0" err="1" smtClean="0">
                <a:solidFill>
                  <a:srgbClr val="222222"/>
                </a:solidFill>
                <a:latin typeface="Consolas"/>
              </a:rPr>
              <a:t>.send</a:t>
            </a:r>
            <a:r>
              <a:rPr lang="en-US" sz="1200" dirty="0" smtClean="0">
                <a:solidFill>
                  <a:srgbClr val="222222"/>
                </a:solidFill>
                <a:latin typeface="Consolas"/>
              </a:rPr>
              <a:t>(); </a:t>
            </a:r>
          </a:p>
          <a:p>
            <a:pPr lvl="1"/>
            <a:r>
              <a:rPr lang="en-US" sz="1200" i="1" dirty="0" smtClean="0">
                <a:solidFill>
                  <a:srgbClr val="007500"/>
                </a:solidFill>
                <a:latin typeface="Consolas"/>
              </a:rPr>
              <a:t>// Register a callback that will be invoked when the response arrives</a:t>
            </a:r>
            <a:r>
              <a:rPr lang="en-US" sz="1200" dirty="0" smtClean="0">
                <a:solidFill>
                  <a:srgbClr val="222222"/>
                </a:solidFill>
                <a:latin typeface="Consolas"/>
              </a:rPr>
              <a:t> </a:t>
            </a:r>
          </a:p>
          <a:p>
            <a:pPr lvl="1"/>
            <a:r>
              <a:rPr lang="en-US" sz="1200" dirty="0" err="1" smtClean="0">
                <a:solidFill>
                  <a:srgbClr val="1A1AA8"/>
                </a:solidFill>
                <a:latin typeface="Consolas"/>
              </a:rPr>
              <a:t>request</a:t>
            </a:r>
            <a:r>
              <a:rPr lang="en-US" sz="1200" dirty="0" err="1" smtClean="0">
                <a:solidFill>
                  <a:srgbClr val="222222"/>
                </a:solidFill>
                <a:latin typeface="Consolas"/>
              </a:rPr>
              <a:t>.onload</a:t>
            </a:r>
            <a:r>
              <a:rPr lang="en-US" sz="1200" dirty="0" smtClean="0">
                <a:solidFill>
                  <a:srgbClr val="222222"/>
                </a:solidFill>
                <a:latin typeface="Consolas"/>
              </a:rPr>
              <a:t> </a:t>
            </a:r>
            <a:r>
              <a:rPr lang="en-US" sz="1200" dirty="0" smtClean="0">
                <a:solidFill>
                  <a:srgbClr val="994500"/>
                </a:solidFill>
                <a:latin typeface="Consolas"/>
              </a:rPr>
              <a:t>=</a:t>
            </a:r>
            <a:r>
              <a:rPr lang="en-US" sz="1200" dirty="0" smtClean="0">
                <a:solidFill>
                  <a:srgbClr val="222222"/>
                </a:solidFill>
                <a:latin typeface="Consolas"/>
              </a:rPr>
              <a:t> </a:t>
            </a:r>
            <a:r>
              <a:rPr lang="en-US" sz="1200" dirty="0" smtClean="0">
                <a:solidFill>
                  <a:srgbClr val="AB0D90"/>
                </a:solidFill>
                <a:latin typeface="Consolas"/>
              </a:rPr>
              <a:t>function</a:t>
            </a:r>
            <a:r>
              <a:rPr lang="en-US" sz="1200" dirty="0" smtClean="0">
                <a:solidFill>
                  <a:srgbClr val="222222"/>
                </a:solidFill>
                <a:latin typeface="Consolas"/>
              </a:rPr>
              <a:t>() { </a:t>
            </a:r>
          </a:p>
          <a:p>
            <a:pPr lvl="2"/>
            <a:r>
              <a:rPr lang="en-US" sz="1200" dirty="0" smtClean="0">
                <a:solidFill>
                  <a:srgbClr val="AB0D90"/>
                </a:solidFill>
                <a:latin typeface="Consolas"/>
              </a:rPr>
              <a:t>if</a:t>
            </a:r>
            <a:r>
              <a:rPr lang="en-US" sz="1200" dirty="0" smtClean="0">
                <a:solidFill>
                  <a:srgbClr val="222222"/>
                </a:solidFill>
                <a:latin typeface="Consolas"/>
              </a:rPr>
              <a:t> (</a:t>
            </a:r>
            <a:r>
              <a:rPr lang="en-US" sz="1200" dirty="0" err="1" smtClean="0">
                <a:solidFill>
                  <a:srgbClr val="1A1AA8"/>
                </a:solidFill>
                <a:latin typeface="Consolas"/>
              </a:rPr>
              <a:t>request</a:t>
            </a:r>
            <a:r>
              <a:rPr lang="en-US" sz="1200" dirty="0" err="1" smtClean="0">
                <a:solidFill>
                  <a:srgbClr val="222222"/>
                </a:solidFill>
                <a:latin typeface="Consolas"/>
              </a:rPr>
              <a:t>.status</a:t>
            </a:r>
            <a:r>
              <a:rPr lang="en-US" sz="1200" dirty="0" smtClean="0">
                <a:solidFill>
                  <a:srgbClr val="222222"/>
                </a:solidFill>
                <a:latin typeface="Consolas"/>
              </a:rPr>
              <a:t> </a:t>
            </a:r>
            <a:r>
              <a:rPr lang="en-US" sz="1200" dirty="0" smtClean="0">
                <a:solidFill>
                  <a:srgbClr val="994500"/>
                </a:solidFill>
                <a:latin typeface="Consolas"/>
              </a:rPr>
              <a:t>===</a:t>
            </a:r>
            <a:r>
              <a:rPr lang="en-US" sz="1200" dirty="0" smtClean="0">
                <a:solidFill>
                  <a:srgbClr val="222222"/>
                </a:solidFill>
                <a:latin typeface="Consolas"/>
              </a:rPr>
              <a:t> </a:t>
            </a:r>
            <a:r>
              <a:rPr lang="en-US" sz="1200" dirty="0" smtClean="0">
                <a:solidFill>
                  <a:srgbClr val="1C00D1"/>
                </a:solidFill>
                <a:latin typeface="Consolas"/>
              </a:rPr>
              <a:t>200</a:t>
            </a:r>
            <a:r>
              <a:rPr lang="en-US" sz="1200" dirty="0" smtClean="0">
                <a:solidFill>
                  <a:srgbClr val="222222"/>
                </a:solidFill>
                <a:latin typeface="Consolas"/>
              </a:rPr>
              <a:t>) { </a:t>
            </a:r>
            <a:r>
              <a:rPr lang="en-US" sz="1200" i="1" dirty="0" smtClean="0">
                <a:solidFill>
                  <a:srgbClr val="007500"/>
                </a:solidFill>
                <a:latin typeface="Consolas"/>
              </a:rPr>
              <a:t>// If HTTP status is good, get version number and call callback.</a:t>
            </a:r>
            <a:r>
              <a:rPr lang="en-US" sz="1200" dirty="0" smtClean="0">
                <a:solidFill>
                  <a:srgbClr val="222222"/>
                </a:solidFill>
                <a:latin typeface="Consolas"/>
              </a:rPr>
              <a:t> </a:t>
            </a:r>
          </a:p>
          <a:p>
            <a:pPr lvl="3"/>
            <a:r>
              <a:rPr lang="en-US" sz="1200" dirty="0" smtClean="0">
                <a:solidFill>
                  <a:srgbClr val="AB0D90"/>
                </a:solidFill>
                <a:latin typeface="Consolas"/>
              </a:rPr>
              <a:t>let</a:t>
            </a:r>
            <a:r>
              <a:rPr lang="en-US" sz="1200" dirty="0" smtClean="0">
                <a:solidFill>
                  <a:srgbClr val="222222"/>
                </a:solidFill>
                <a:latin typeface="Consolas"/>
              </a:rPr>
              <a:t> </a:t>
            </a:r>
            <a:r>
              <a:rPr lang="en-US" sz="1200" dirty="0" err="1" smtClean="0">
                <a:solidFill>
                  <a:srgbClr val="1A1AA8"/>
                </a:solidFill>
                <a:latin typeface="Consolas"/>
              </a:rPr>
              <a:t>currentVersion</a:t>
            </a:r>
            <a:r>
              <a:rPr lang="en-US" sz="1200" dirty="0" smtClean="0">
                <a:solidFill>
                  <a:srgbClr val="222222"/>
                </a:solidFill>
                <a:latin typeface="Consolas"/>
              </a:rPr>
              <a:t> </a:t>
            </a:r>
            <a:r>
              <a:rPr lang="en-US" sz="1200" dirty="0" smtClean="0">
                <a:solidFill>
                  <a:srgbClr val="994500"/>
                </a:solidFill>
                <a:latin typeface="Consolas"/>
              </a:rPr>
              <a:t>=</a:t>
            </a:r>
            <a:r>
              <a:rPr lang="en-US" sz="1200" dirty="0" smtClean="0">
                <a:solidFill>
                  <a:srgbClr val="222222"/>
                </a:solidFill>
                <a:latin typeface="Consolas"/>
              </a:rPr>
              <a:t> </a:t>
            </a:r>
            <a:r>
              <a:rPr lang="en-US" sz="1200" dirty="0" err="1" smtClean="0">
                <a:solidFill>
                  <a:srgbClr val="222222"/>
                </a:solidFill>
                <a:latin typeface="Consolas"/>
              </a:rPr>
              <a:t>parseFloat</a:t>
            </a:r>
            <a:r>
              <a:rPr lang="en-US" sz="1200" dirty="0" smtClean="0">
                <a:solidFill>
                  <a:srgbClr val="222222"/>
                </a:solidFill>
                <a:latin typeface="Consolas"/>
              </a:rPr>
              <a:t>(</a:t>
            </a:r>
            <a:r>
              <a:rPr lang="en-US" sz="1200" dirty="0" err="1" smtClean="0">
                <a:solidFill>
                  <a:srgbClr val="1A1AA8"/>
                </a:solidFill>
                <a:latin typeface="Consolas"/>
              </a:rPr>
              <a:t>request</a:t>
            </a:r>
            <a:r>
              <a:rPr lang="en-US" sz="1200" dirty="0" err="1" smtClean="0">
                <a:solidFill>
                  <a:srgbClr val="222222"/>
                </a:solidFill>
                <a:latin typeface="Consolas"/>
              </a:rPr>
              <a:t>.responseText</a:t>
            </a:r>
            <a:r>
              <a:rPr lang="en-US" sz="1200" dirty="0" smtClean="0">
                <a:solidFill>
                  <a:srgbClr val="222222"/>
                </a:solidFill>
                <a:latin typeface="Consolas"/>
              </a:rPr>
              <a:t>); </a:t>
            </a:r>
          </a:p>
          <a:p>
            <a:pPr lvl="3"/>
            <a:r>
              <a:rPr lang="en-US" sz="1200" dirty="0" err="1" smtClean="0">
                <a:solidFill>
                  <a:srgbClr val="1A1AA8"/>
                </a:solidFill>
                <a:latin typeface="Consolas"/>
              </a:rPr>
              <a:t>versionCallback</a:t>
            </a:r>
            <a:r>
              <a:rPr lang="en-US" sz="1200" dirty="0" smtClean="0">
                <a:solidFill>
                  <a:srgbClr val="222222"/>
                </a:solidFill>
                <a:latin typeface="Consolas"/>
              </a:rPr>
              <a:t>(</a:t>
            </a:r>
            <a:r>
              <a:rPr lang="en-US" sz="1200" dirty="0" smtClean="0">
                <a:solidFill>
                  <a:srgbClr val="AB0D90"/>
                </a:solidFill>
                <a:latin typeface="Consolas"/>
              </a:rPr>
              <a:t>null</a:t>
            </a:r>
            <a:r>
              <a:rPr lang="en-US" sz="1200" dirty="0" smtClean="0">
                <a:solidFill>
                  <a:srgbClr val="222222"/>
                </a:solidFill>
                <a:latin typeface="Consolas"/>
              </a:rPr>
              <a:t>, </a:t>
            </a:r>
            <a:r>
              <a:rPr lang="en-US" sz="1200" dirty="0" err="1" smtClean="0">
                <a:solidFill>
                  <a:srgbClr val="1A1AA8"/>
                </a:solidFill>
                <a:latin typeface="Consolas"/>
              </a:rPr>
              <a:t>currentVersion</a:t>
            </a:r>
            <a:r>
              <a:rPr lang="en-US" sz="1200" dirty="0" smtClean="0">
                <a:solidFill>
                  <a:srgbClr val="222222"/>
                </a:solidFill>
                <a:latin typeface="Consolas"/>
              </a:rPr>
              <a:t>); } </a:t>
            </a:r>
          </a:p>
          <a:p>
            <a:pPr lvl="2"/>
            <a:r>
              <a:rPr lang="en-US" sz="1200" dirty="0" smtClean="0">
                <a:solidFill>
                  <a:srgbClr val="AB0D90"/>
                </a:solidFill>
                <a:latin typeface="Consolas"/>
              </a:rPr>
              <a:t>else</a:t>
            </a:r>
            <a:r>
              <a:rPr lang="en-US" sz="1200" dirty="0" smtClean="0">
                <a:solidFill>
                  <a:srgbClr val="222222"/>
                </a:solidFill>
                <a:latin typeface="Consolas"/>
              </a:rPr>
              <a:t> { </a:t>
            </a:r>
            <a:r>
              <a:rPr lang="en-US" sz="1200" i="1" dirty="0" smtClean="0">
                <a:solidFill>
                  <a:srgbClr val="007500"/>
                </a:solidFill>
                <a:latin typeface="Consolas"/>
              </a:rPr>
              <a:t>// Otherwise report an error to the callback</a:t>
            </a:r>
            <a:r>
              <a:rPr lang="en-US" sz="1200" dirty="0" smtClean="0">
                <a:solidFill>
                  <a:srgbClr val="222222"/>
                </a:solidFill>
                <a:latin typeface="Consolas"/>
              </a:rPr>
              <a:t> </a:t>
            </a:r>
          </a:p>
          <a:p>
            <a:pPr lvl="2"/>
            <a:r>
              <a:rPr lang="en-US" sz="1200" dirty="0" smtClean="0">
                <a:solidFill>
                  <a:srgbClr val="1A1AA8"/>
                </a:solidFill>
                <a:latin typeface="Consolas"/>
              </a:rPr>
              <a:t>	</a:t>
            </a:r>
            <a:r>
              <a:rPr lang="en-US" sz="1200" dirty="0" err="1" smtClean="0">
                <a:solidFill>
                  <a:srgbClr val="1A1AA8"/>
                </a:solidFill>
                <a:latin typeface="Consolas"/>
              </a:rPr>
              <a:t>versionCallback</a:t>
            </a:r>
            <a:r>
              <a:rPr lang="en-US" sz="1200" dirty="0" smtClean="0">
                <a:solidFill>
                  <a:srgbClr val="222222"/>
                </a:solidFill>
                <a:latin typeface="Consolas"/>
              </a:rPr>
              <a:t>(</a:t>
            </a:r>
            <a:r>
              <a:rPr lang="en-US" sz="1200" dirty="0" err="1" smtClean="0">
                <a:solidFill>
                  <a:srgbClr val="222222"/>
                </a:solidFill>
                <a:latin typeface="Consolas"/>
              </a:rPr>
              <a:t>response.statusText</a:t>
            </a:r>
            <a:r>
              <a:rPr lang="en-US" sz="1200" dirty="0" smtClean="0">
                <a:solidFill>
                  <a:srgbClr val="222222"/>
                </a:solidFill>
                <a:latin typeface="Consolas"/>
              </a:rPr>
              <a:t>, </a:t>
            </a:r>
            <a:r>
              <a:rPr lang="en-US" sz="1200" dirty="0" smtClean="0">
                <a:solidFill>
                  <a:srgbClr val="AB0D90"/>
                </a:solidFill>
                <a:latin typeface="Consolas"/>
              </a:rPr>
              <a:t>null</a:t>
            </a:r>
            <a:r>
              <a:rPr lang="en-US" sz="1200" dirty="0" smtClean="0">
                <a:solidFill>
                  <a:srgbClr val="222222"/>
                </a:solidFill>
                <a:latin typeface="Consolas"/>
              </a:rPr>
              <a:t>); </a:t>
            </a:r>
          </a:p>
          <a:p>
            <a:pPr lvl="2"/>
            <a:r>
              <a:rPr lang="en-US" sz="1200" dirty="0" smtClean="0">
                <a:solidFill>
                  <a:srgbClr val="222222"/>
                </a:solidFill>
                <a:latin typeface="Consolas"/>
              </a:rPr>
              <a:t>} </a:t>
            </a:r>
          </a:p>
          <a:p>
            <a:pPr lvl="1"/>
            <a:r>
              <a:rPr lang="en-US" sz="1200" dirty="0" smtClean="0">
                <a:solidFill>
                  <a:srgbClr val="222222"/>
                </a:solidFill>
                <a:latin typeface="Consolas"/>
              </a:rPr>
              <a:t>}; </a:t>
            </a:r>
          </a:p>
          <a:p>
            <a:pPr lvl="1"/>
            <a:r>
              <a:rPr lang="en-US" sz="1200" i="1" dirty="0" smtClean="0">
                <a:solidFill>
                  <a:srgbClr val="007500"/>
                </a:solidFill>
                <a:latin typeface="Consolas"/>
              </a:rPr>
              <a:t>// Register another callback that will be invoked for network errors</a:t>
            </a:r>
            <a:r>
              <a:rPr lang="en-US" sz="1200" dirty="0" smtClean="0">
                <a:solidFill>
                  <a:srgbClr val="222222"/>
                </a:solidFill>
                <a:latin typeface="Consolas"/>
              </a:rPr>
              <a:t> </a:t>
            </a:r>
            <a:r>
              <a:rPr lang="en-US" sz="1200" dirty="0" err="1" smtClean="0">
                <a:solidFill>
                  <a:srgbClr val="1A1AA8"/>
                </a:solidFill>
                <a:latin typeface="Consolas"/>
              </a:rPr>
              <a:t>request</a:t>
            </a:r>
            <a:r>
              <a:rPr lang="en-US" sz="1200" dirty="0" err="1" smtClean="0">
                <a:solidFill>
                  <a:srgbClr val="222222"/>
                </a:solidFill>
                <a:latin typeface="Consolas"/>
              </a:rPr>
              <a:t>.onerror</a:t>
            </a:r>
            <a:r>
              <a:rPr lang="en-US" sz="1200" dirty="0" smtClean="0">
                <a:solidFill>
                  <a:srgbClr val="222222"/>
                </a:solidFill>
                <a:latin typeface="Consolas"/>
              </a:rPr>
              <a:t> </a:t>
            </a:r>
            <a:r>
              <a:rPr lang="en-US" sz="1200" dirty="0" smtClean="0">
                <a:solidFill>
                  <a:srgbClr val="994500"/>
                </a:solidFill>
                <a:latin typeface="Consolas"/>
              </a:rPr>
              <a:t>=</a:t>
            </a:r>
            <a:r>
              <a:rPr lang="en-US" sz="1200" dirty="0" smtClean="0">
                <a:solidFill>
                  <a:srgbClr val="222222"/>
                </a:solidFill>
                <a:latin typeface="Consolas"/>
              </a:rPr>
              <a:t> </a:t>
            </a:r>
            <a:r>
              <a:rPr lang="en-US" sz="1200" dirty="0" err="1" smtClean="0">
                <a:solidFill>
                  <a:srgbClr val="1A1AA8"/>
                </a:solidFill>
                <a:latin typeface="Consolas"/>
              </a:rPr>
              <a:t>request</a:t>
            </a:r>
            <a:r>
              <a:rPr lang="en-US" sz="1200" dirty="0" err="1" smtClean="0">
                <a:solidFill>
                  <a:srgbClr val="222222"/>
                </a:solidFill>
                <a:latin typeface="Consolas"/>
              </a:rPr>
              <a:t>.ontimeout</a:t>
            </a:r>
            <a:r>
              <a:rPr lang="en-US" sz="1200" dirty="0" smtClean="0">
                <a:solidFill>
                  <a:srgbClr val="222222"/>
                </a:solidFill>
                <a:latin typeface="Consolas"/>
              </a:rPr>
              <a:t> </a:t>
            </a:r>
            <a:r>
              <a:rPr lang="en-US" sz="1200" dirty="0" smtClean="0">
                <a:solidFill>
                  <a:srgbClr val="994500"/>
                </a:solidFill>
                <a:latin typeface="Consolas"/>
              </a:rPr>
              <a:t>=</a:t>
            </a:r>
            <a:r>
              <a:rPr lang="en-US" sz="1200" dirty="0" smtClean="0">
                <a:solidFill>
                  <a:srgbClr val="222222"/>
                </a:solidFill>
                <a:latin typeface="Consolas"/>
              </a:rPr>
              <a:t> </a:t>
            </a:r>
            <a:r>
              <a:rPr lang="en-US" sz="1200" dirty="0" smtClean="0">
                <a:solidFill>
                  <a:srgbClr val="AB0D90"/>
                </a:solidFill>
                <a:latin typeface="Consolas"/>
              </a:rPr>
              <a:t>function</a:t>
            </a:r>
            <a:r>
              <a:rPr lang="en-US" sz="1200" dirty="0" smtClean="0">
                <a:solidFill>
                  <a:srgbClr val="222222"/>
                </a:solidFill>
                <a:latin typeface="Consolas"/>
              </a:rPr>
              <a:t>(</a:t>
            </a:r>
            <a:r>
              <a:rPr lang="en-US" sz="1200" dirty="0" smtClean="0">
                <a:solidFill>
                  <a:srgbClr val="1A1AA8"/>
                </a:solidFill>
                <a:latin typeface="Consolas"/>
              </a:rPr>
              <a:t>e</a:t>
            </a:r>
            <a:r>
              <a:rPr lang="en-US" sz="1200" dirty="0" smtClean="0">
                <a:solidFill>
                  <a:srgbClr val="222222"/>
                </a:solidFill>
                <a:latin typeface="Consolas"/>
              </a:rPr>
              <a:t>) { </a:t>
            </a:r>
            <a:r>
              <a:rPr lang="en-US" sz="1200" dirty="0" err="1" smtClean="0">
                <a:solidFill>
                  <a:srgbClr val="1A1AA8"/>
                </a:solidFill>
                <a:latin typeface="Consolas"/>
              </a:rPr>
              <a:t>versionCallback</a:t>
            </a:r>
            <a:r>
              <a:rPr lang="en-US" sz="1200" dirty="0" smtClean="0">
                <a:solidFill>
                  <a:srgbClr val="222222"/>
                </a:solidFill>
                <a:latin typeface="Consolas"/>
              </a:rPr>
              <a:t>(</a:t>
            </a:r>
            <a:r>
              <a:rPr lang="en-US" sz="1200" dirty="0" err="1" smtClean="0">
                <a:solidFill>
                  <a:srgbClr val="1A1AA8"/>
                </a:solidFill>
                <a:latin typeface="Consolas"/>
              </a:rPr>
              <a:t>e</a:t>
            </a:r>
            <a:r>
              <a:rPr lang="en-US" sz="1200" dirty="0" err="1" smtClean="0">
                <a:solidFill>
                  <a:srgbClr val="222222"/>
                </a:solidFill>
                <a:latin typeface="Consolas"/>
              </a:rPr>
              <a:t>.type</a:t>
            </a:r>
            <a:r>
              <a:rPr lang="en-US" sz="1200" dirty="0" smtClean="0">
                <a:solidFill>
                  <a:srgbClr val="222222"/>
                </a:solidFill>
                <a:latin typeface="Consolas"/>
              </a:rPr>
              <a:t>, </a:t>
            </a:r>
            <a:r>
              <a:rPr lang="en-US" sz="1200" dirty="0" smtClean="0">
                <a:solidFill>
                  <a:srgbClr val="AB0D90"/>
                </a:solidFill>
                <a:latin typeface="Consolas"/>
              </a:rPr>
              <a:t>null</a:t>
            </a:r>
            <a:r>
              <a:rPr lang="en-US" sz="1200" dirty="0" smtClean="0">
                <a:solidFill>
                  <a:srgbClr val="222222"/>
                </a:solidFill>
                <a:latin typeface="Consolas"/>
              </a:rPr>
              <a:t>); }; </a:t>
            </a:r>
          </a:p>
          <a:p>
            <a:r>
              <a:rPr lang="en-US" sz="1200" dirty="0" smtClean="0">
                <a:solidFill>
                  <a:srgbClr val="222222"/>
                </a:solidFill>
                <a:latin typeface="Consolas"/>
              </a:rPr>
              <a:t>} </a:t>
            </a:r>
          </a:p>
          <a:p>
            <a:r>
              <a:rPr lang="en-US" sz="1200" dirty="0" err="1" smtClean="0">
                <a:solidFill>
                  <a:srgbClr val="222222"/>
                </a:solidFill>
                <a:latin typeface="Consolas"/>
              </a:rPr>
              <a:t>getCurrentVersionNumber</a:t>
            </a:r>
            <a:r>
              <a:rPr lang="en-US" sz="1200" dirty="0" smtClean="0">
                <a:solidFill>
                  <a:srgbClr val="222222"/>
                </a:solidFill>
                <a:latin typeface="Consolas"/>
              </a:rPr>
              <a:t>(</a:t>
            </a:r>
            <a:r>
              <a:rPr lang="en-US" sz="1200" dirty="0" err="1" smtClean="0">
                <a:solidFill>
                  <a:srgbClr val="222222"/>
                </a:solidFill>
                <a:latin typeface="Consolas"/>
              </a:rPr>
              <a:t>versionCallback</a:t>
            </a:r>
            <a:r>
              <a:rPr lang="en-US" sz="1200" dirty="0" smtClean="0">
                <a:solidFill>
                  <a:srgbClr val="222222"/>
                </a:solidFill>
                <a:latin typeface="Consolas"/>
              </a:rPr>
              <a:t>);</a:t>
            </a:r>
            <a:endParaRPr lang="en-US" sz="1200" dirty="0" smtClean="0">
              <a:latin typeface="Consolas"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Server-Side Callbacks and Events</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2200" dirty="0" smtClean="0"/>
              <a:t>The </a:t>
            </a:r>
            <a:r>
              <a:rPr lang="en-US" sz="2200" i="1" dirty="0" smtClean="0">
                <a:solidFill>
                  <a:srgbClr val="C00000"/>
                </a:solidFill>
              </a:rPr>
              <a:t>Node.js server-side JavaScript</a:t>
            </a:r>
            <a:r>
              <a:rPr lang="en-US" sz="2200" dirty="0" smtClean="0"/>
              <a:t> environment is deeply asynchronous and </a:t>
            </a:r>
            <a:r>
              <a:rPr lang="en-US" sz="2200" u="sng" dirty="0" smtClean="0"/>
              <a:t>defines many APIs</a:t>
            </a:r>
            <a:r>
              <a:rPr lang="en-US" sz="2200" dirty="0" smtClean="0"/>
              <a:t> that use </a:t>
            </a:r>
            <a:r>
              <a:rPr lang="en-US" sz="2200" u="sng" dirty="0" smtClean="0"/>
              <a:t>callbacks</a:t>
            </a:r>
            <a:r>
              <a:rPr lang="en-US" sz="2200" dirty="0" smtClean="0"/>
              <a:t> and </a:t>
            </a:r>
            <a:r>
              <a:rPr lang="en-US" sz="2200" u="sng" dirty="0" smtClean="0"/>
              <a:t>events</a:t>
            </a:r>
            <a:r>
              <a:rPr lang="en-US" sz="2200" dirty="0" smtClean="0"/>
              <a:t>.</a:t>
            </a:r>
            <a:endParaRPr lang="en-US" sz="2200" dirty="0"/>
          </a:p>
        </p:txBody>
      </p:sp>
      <p:sp>
        <p:nvSpPr>
          <p:cNvPr id="5" name="Rectangle 4"/>
          <p:cNvSpPr/>
          <p:nvPr/>
        </p:nvSpPr>
        <p:spPr>
          <a:xfrm>
            <a:off x="609600" y="2820412"/>
            <a:ext cx="7924800" cy="3046988"/>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200" dirty="0" smtClean="0">
                <a:solidFill>
                  <a:srgbClr val="00669A"/>
                </a:solidFill>
                <a:latin typeface="Consolas" pitchFamily="49" charset="0"/>
              </a:rPr>
              <a:t>const </a:t>
            </a:r>
            <a:r>
              <a:rPr lang="en-US" sz="1200" dirty="0" err="1" smtClean="0">
                <a:solidFill>
                  <a:srgbClr val="000089"/>
                </a:solidFill>
                <a:latin typeface="Consolas" pitchFamily="49" charset="0"/>
              </a:rPr>
              <a:t>fs</a:t>
            </a:r>
            <a:r>
              <a:rPr lang="en-US" sz="1200" dirty="0" smtClean="0">
                <a:solidFill>
                  <a:srgbClr val="000089"/>
                </a:solidFill>
                <a:latin typeface="Consolas" pitchFamily="49" charset="0"/>
              </a:rPr>
              <a:t> </a:t>
            </a:r>
            <a:r>
              <a:rPr lang="en-US" sz="1200" dirty="0" smtClean="0">
                <a:solidFill>
                  <a:srgbClr val="555555"/>
                </a:solidFill>
                <a:latin typeface="Consolas" pitchFamily="49" charset="0"/>
              </a:rPr>
              <a:t>= </a:t>
            </a:r>
            <a:r>
              <a:rPr lang="en-US" sz="1200" dirty="0" smtClean="0">
                <a:solidFill>
                  <a:srgbClr val="000089"/>
                </a:solidFill>
                <a:latin typeface="Consolas" pitchFamily="49" charset="0"/>
              </a:rPr>
              <a:t>require</a:t>
            </a:r>
            <a:r>
              <a:rPr lang="en-US" sz="1200" dirty="0" smtClean="0">
                <a:solidFill>
                  <a:srgbClr val="000000"/>
                </a:solidFill>
                <a:latin typeface="Consolas" pitchFamily="49" charset="0"/>
              </a:rPr>
              <a:t>(</a:t>
            </a:r>
            <a:r>
              <a:rPr lang="en-US" sz="1200" dirty="0" smtClean="0">
                <a:solidFill>
                  <a:srgbClr val="CD3300"/>
                </a:solidFill>
                <a:latin typeface="Consolas" pitchFamily="49" charset="0"/>
              </a:rPr>
              <a:t>"</a:t>
            </a:r>
            <a:r>
              <a:rPr lang="en-US" sz="1200" dirty="0" err="1" smtClean="0">
                <a:solidFill>
                  <a:srgbClr val="CD3300"/>
                </a:solidFill>
                <a:latin typeface="Consolas" pitchFamily="49" charset="0"/>
              </a:rPr>
              <a:t>fs</a:t>
            </a:r>
            <a:r>
              <a:rPr lang="en-US" sz="1200" dirty="0" smtClean="0">
                <a:solidFill>
                  <a:srgbClr val="CD3300"/>
                </a:solidFill>
                <a:latin typeface="Consolas" pitchFamily="49" charset="0"/>
              </a:rPr>
              <a:t>"</a:t>
            </a:r>
            <a:r>
              <a:rPr lang="en-US" sz="1200" dirty="0" smtClean="0">
                <a:solidFill>
                  <a:srgbClr val="000000"/>
                </a:solidFill>
                <a:latin typeface="Consolas" pitchFamily="49" charset="0"/>
              </a:rPr>
              <a:t>); </a:t>
            </a:r>
            <a:r>
              <a:rPr lang="en-US" sz="1200" i="1" dirty="0" smtClean="0">
                <a:solidFill>
                  <a:srgbClr val="35586C"/>
                </a:solidFill>
                <a:latin typeface="Consolas" pitchFamily="49" charset="0"/>
              </a:rPr>
              <a:t>// The "</a:t>
            </a:r>
            <a:r>
              <a:rPr lang="en-US" sz="1200" i="1" dirty="0" err="1" smtClean="0">
                <a:solidFill>
                  <a:srgbClr val="35586C"/>
                </a:solidFill>
                <a:latin typeface="Consolas" pitchFamily="49" charset="0"/>
              </a:rPr>
              <a:t>fs</a:t>
            </a:r>
            <a:r>
              <a:rPr lang="en-US" sz="1200" i="1" dirty="0" smtClean="0">
                <a:solidFill>
                  <a:srgbClr val="35586C"/>
                </a:solidFill>
                <a:latin typeface="Consolas" pitchFamily="49" charset="0"/>
              </a:rPr>
              <a:t>" module has </a:t>
            </a:r>
            <a:r>
              <a:rPr lang="en-US" sz="1200" i="1" dirty="0" err="1" smtClean="0">
                <a:solidFill>
                  <a:srgbClr val="35586C"/>
                </a:solidFill>
                <a:latin typeface="Consolas" pitchFamily="49" charset="0"/>
              </a:rPr>
              <a:t>filesystem</a:t>
            </a:r>
            <a:r>
              <a:rPr lang="en-US" sz="1200" i="1" dirty="0" smtClean="0">
                <a:solidFill>
                  <a:srgbClr val="35586C"/>
                </a:solidFill>
                <a:latin typeface="Consolas" pitchFamily="49" charset="0"/>
              </a:rPr>
              <a:t>-related APIs</a:t>
            </a:r>
          </a:p>
          <a:p>
            <a:r>
              <a:rPr lang="en-US" sz="1200" dirty="0" smtClean="0">
                <a:solidFill>
                  <a:srgbClr val="00669A"/>
                </a:solidFill>
                <a:latin typeface="Consolas" pitchFamily="49" charset="0"/>
              </a:rPr>
              <a:t>let </a:t>
            </a:r>
            <a:r>
              <a:rPr lang="en-US" sz="1200" dirty="0" smtClean="0">
                <a:solidFill>
                  <a:srgbClr val="000089"/>
                </a:solidFill>
                <a:latin typeface="Consolas" pitchFamily="49" charset="0"/>
              </a:rPr>
              <a:t>options </a:t>
            </a:r>
            <a:r>
              <a:rPr lang="en-US" sz="1200" dirty="0" smtClean="0">
                <a:solidFill>
                  <a:srgbClr val="555555"/>
                </a:solidFill>
                <a:latin typeface="Consolas" pitchFamily="49" charset="0"/>
              </a:rPr>
              <a:t>= </a:t>
            </a:r>
            <a:r>
              <a:rPr lang="en-US" sz="1200" dirty="0" smtClean="0">
                <a:solidFill>
                  <a:srgbClr val="000000"/>
                </a:solidFill>
                <a:latin typeface="Consolas" pitchFamily="49" charset="0"/>
              </a:rPr>
              <a:t>{ </a:t>
            </a:r>
            <a:r>
              <a:rPr lang="en-US" sz="1200" i="1" dirty="0" smtClean="0">
                <a:solidFill>
                  <a:srgbClr val="35586C"/>
                </a:solidFill>
                <a:latin typeface="Consolas" pitchFamily="49" charset="0"/>
              </a:rPr>
              <a:t>// An object to hold options for our program</a:t>
            </a:r>
          </a:p>
          <a:p>
            <a:r>
              <a:rPr lang="en-US" sz="1200" i="1" dirty="0" smtClean="0">
                <a:solidFill>
                  <a:srgbClr val="35586C"/>
                </a:solidFill>
                <a:latin typeface="Consolas" pitchFamily="49" charset="0"/>
              </a:rPr>
              <a:t>// default options would go here</a:t>
            </a:r>
          </a:p>
          <a:p>
            <a:r>
              <a:rPr lang="en-US" sz="1200" dirty="0" smtClean="0">
                <a:solidFill>
                  <a:srgbClr val="000000"/>
                </a:solidFill>
                <a:latin typeface="Consolas" pitchFamily="49" charset="0"/>
              </a:rPr>
              <a:t>};</a:t>
            </a:r>
          </a:p>
          <a:p>
            <a:r>
              <a:rPr lang="en-US" sz="1200" i="1" dirty="0" smtClean="0">
                <a:solidFill>
                  <a:srgbClr val="35586C"/>
                </a:solidFill>
                <a:latin typeface="Consolas" pitchFamily="49" charset="0"/>
              </a:rPr>
              <a:t>// Read a configuration file, then call the callback function</a:t>
            </a:r>
          </a:p>
          <a:p>
            <a:r>
              <a:rPr lang="en-US" sz="1200" dirty="0" err="1" smtClean="0">
                <a:solidFill>
                  <a:srgbClr val="000089"/>
                </a:solidFill>
                <a:latin typeface="Consolas" pitchFamily="49" charset="0"/>
              </a:rPr>
              <a:t>fs</a:t>
            </a:r>
            <a:r>
              <a:rPr lang="en-US" sz="1200" dirty="0" err="1" smtClean="0">
                <a:solidFill>
                  <a:srgbClr val="000000"/>
                </a:solidFill>
                <a:latin typeface="Consolas" pitchFamily="49" charset="0"/>
              </a:rPr>
              <a:t>.</a:t>
            </a:r>
            <a:r>
              <a:rPr lang="en-US" sz="1200" dirty="0" err="1" smtClean="0">
                <a:solidFill>
                  <a:srgbClr val="000089"/>
                </a:solidFill>
                <a:latin typeface="Consolas" pitchFamily="49" charset="0"/>
              </a:rPr>
              <a:t>readFile</a:t>
            </a:r>
            <a:r>
              <a:rPr lang="en-US" sz="1200" dirty="0" smtClean="0">
                <a:solidFill>
                  <a:srgbClr val="000000"/>
                </a:solidFill>
                <a:latin typeface="Consolas" pitchFamily="49" charset="0"/>
              </a:rPr>
              <a:t>(</a:t>
            </a:r>
            <a:r>
              <a:rPr lang="en-US" sz="1200" dirty="0" smtClean="0">
                <a:solidFill>
                  <a:srgbClr val="CD3300"/>
                </a:solidFill>
                <a:latin typeface="Consolas" pitchFamily="49" charset="0"/>
              </a:rPr>
              <a:t>"</a:t>
            </a:r>
            <a:r>
              <a:rPr lang="en-US" sz="1200" dirty="0" err="1" smtClean="0">
                <a:solidFill>
                  <a:srgbClr val="CD3300"/>
                </a:solidFill>
                <a:latin typeface="Consolas" pitchFamily="49" charset="0"/>
              </a:rPr>
              <a:t>config.json</a:t>
            </a:r>
            <a:r>
              <a:rPr lang="en-US" sz="1200" dirty="0" smtClean="0">
                <a:solidFill>
                  <a:srgbClr val="CD3300"/>
                </a:solidFill>
                <a:latin typeface="Consolas" pitchFamily="49" charset="0"/>
              </a:rPr>
              <a:t>"</a:t>
            </a:r>
            <a:r>
              <a:rPr lang="en-US" sz="1200" dirty="0" smtClean="0">
                <a:solidFill>
                  <a:srgbClr val="000000"/>
                </a:solidFill>
                <a:latin typeface="Consolas" pitchFamily="49" charset="0"/>
              </a:rPr>
              <a:t>, </a:t>
            </a:r>
            <a:r>
              <a:rPr lang="en-US" sz="1200" dirty="0" smtClean="0">
                <a:solidFill>
                  <a:srgbClr val="CD3300"/>
                </a:solidFill>
                <a:latin typeface="Consolas" pitchFamily="49" charset="0"/>
              </a:rPr>
              <a:t>"utf-8"</a:t>
            </a:r>
            <a:r>
              <a:rPr lang="en-US" sz="1200" dirty="0" smtClean="0">
                <a:solidFill>
                  <a:srgbClr val="000000"/>
                </a:solidFill>
                <a:latin typeface="Consolas" pitchFamily="49" charset="0"/>
              </a:rPr>
              <a:t>, (</a:t>
            </a:r>
            <a:r>
              <a:rPr lang="en-US" sz="1200" dirty="0" smtClean="0">
                <a:solidFill>
                  <a:srgbClr val="000089"/>
                </a:solidFill>
                <a:latin typeface="Consolas" pitchFamily="49" charset="0"/>
              </a:rPr>
              <a:t>err</a:t>
            </a:r>
            <a:r>
              <a:rPr lang="en-US" sz="1200" dirty="0" smtClean="0">
                <a:solidFill>
                  <a:srgbClr val="000000"/>
                </a:solidFill>
                <a:latin typeface="Consolas" pitchFamily="49" charset="0"/>
              </a:rPr>
              <a:t>, </a:t>
            </a:r>
            <a:r>
              <a:rPr lang="en-US" sz="1200" dirty="0" smtClean="0">
                <a:solidFill>
                  <a:srgbClr val="000089"/>
                </a:solidFill>
                <a:latin typeface="Consolas" pitchFamily="49" charset="0"/>
              </a:rPr>
              <a:t>text</a:t>
            </a:r>
            <a:r>
              <a:rPr lang="en-US" sz="1200" dirty="0" smtClean="0">
                <a:solidFill>
                  <a:srgbClr val="000000"/>
                </a:solidFill>
                <a:latin typeface="Consolas" pitchFamily="49" charset="0"/>
              </a:rPr>
              <a:t>) </a:t>
            </a:r>
            <a:r>
              <a:rPr lang="en-US" sz="1200" dirty="0" smtClean="0">
                <a:solidFill>
                  <a:srgbClr val="555555"/>
                </a:solidFill>
                <a:latin typeface="Consolas" pitchFamily="49" charset="0"/>
              </a:rPr>
              <a:t>=&gt; </a:t>
            </a:r>
            <a:r>
              <a:rPr lang="en-US" sz="1200" dirty="0" smtClean="0">
                <a:solidFill>
                  <a:srgbClr val="000000"/>
                </a:solidFill>
                <a:latin typeface="Consolas" pitchFamily="49" charset="0"/>
              </a:rPr>
              <a:t>{</a:t>
            </a:r>
          </a:p>
          <a:p>
            <a:pPr lvl="1"/>
            <a:r>
              <a:rPr lang="en-US" sz="1200" dirty="0" smtClean="0">
                <a:solidFill>
                  <a:srgbClr val="00669A"/>
                </a:solidFill>
                <a:latin typeface="Consolas" pitchFamily="49" charset="0"/>
              </a:rPr>
              <a:t>if </a:t>
            </a:r>
            <a:r>
              <a:rPr lang="en-US" sz="1200" dirty="0" smtClean="0">
                <a:solidFill>
                  <a:srgbClr val="000000"/>
                </a:solidFill>
                <a:latin typeface="Consolas" pitchFamily="49" charset="0"/>
              </a:rPr>
              <a:t>(</a:t>
            </a:r>
            <a:r>
              <a:rPr lang="en-US" sz="1200" dirty="0" smtClean="0">
                <a:solidFill>
                  <a:srgbClr val="000089"/>
                </a:solidFill>
                <a:latin typeface="Consolas" pitchFamily="49" charset="0"/>
              </a:rPr>
              <a:t>err</a:t>
            </a:r>
            <a:r>
              <a:rPr lang="en-US" sz="1200" dirty="0" smtClean="0">
                <a:solidFill>
                  <a:srgbClr val="000000"/>
                </a:solidFill>
                <a:latin typeface="Consolas" pitchFamily="49" charset="0"/>
              </a:rPr>
              <a:t>) {</a:t>
            </a:r>
          </a:p>
          <a:p>
            <a:pPr lvl="1"/>
            <a:r>
              <a:rPr lang="en-US" sz="1200" i="1" dirty="0" smtClean="0">
                <a:solidFill>
                  <a:srgbClr val="35586C"/>
                </a:solidFill>
                <a:latin typeface="Consolas" pitchFamily="49" charset="0"/>
              </a:rPr>
              <a:t>	// If there was an error, display a warning, but continue</a:t>
            </a:r>
          </a:p>
          <a:p>
            <a:pPr lvl="1"/>
            <a:r>
              <a:rPr lang="en-US" sz="1200" dirty="0" smtClean="0">
                <a:solidFill>
                  <a:srgbClr val="000089"/>
                </a:solidFill>
                <a:latin typeface="Consolas" pitchFamily="49" charset="0"/>
              </a:rPr>
              <a:t>	</a:t>
            </a:r>
            <a:r>
              <a:rPr lang="en-US" sz="1200" dirty="0" err="1" smtClean="0">
                <a:solidFill>
                  <a:srgbClr val="000089"/>
                </a:solidFill>
                <a:latin typeface="Consolas" pitchFamily="49" charset="0"/>
              </a:rPr>
              <a:t>console</a:t>
            </a:r>
            <a:r>
              <a:rPr lang="en-US" sz="1200" dirty="0" err="1" smtClean="0">
                <a:solidFill>
                  <a:srgbClr val="000000"/>
                </a:solidFill>
                <a:latin typeface="Consolas" pitchFamily="49" charset="0"/>
              </a:rPr>
              <a:t>.</a:t>
            </a:r>
            <a:r>
              <a:rPr lang="en-US" sz="1200" dirty="0" err="1" smtClean="0">
                <a:solidFill>
                  <a:srgbClr val="000089"/>
                </a:solidFill>
                <a:latin typeface="Consolas" pitchFamily="49" charset="0"/>
              </a:rPr>
              <a:t>warn</a:t>
            </a:r>
            <a:r>
              <a:rPr lang="en-US" sz="1200" dirty="0" smtClean="0">
                <a:solidFill>
                  <a:srgbClr val="000000"/>
                </a:solidFill>
                <a:latin typeface="Consolas" pitchFamily="49" charset="0"/>
              </a:rPr>
              <a:t>(</a:t>
            </a:r>
            <a:r>
              <a:rPr lang="en-US" sz="1200" dirty="0" smtClean="0">
                <a:solidFill>
                  <a:srgbClr val="CD3300"/>
                </a:solidFill>
                <a:latin typeface="Consolas" pitchFamily="49" charset="0"/>
              </a:rPr>
              <a:t>"Could not read </a:t>
            </a:r>
            <a:r>
              <a:rPr lang="en-US" sz="1200" dirty="0" err="1" smtClean="0">
                <a:solidFill>
                  <a:srgbClr val="CD3300"/>
                </a:solidFill>
                <a:latin typeface="Consolas" pitchFamily="49" charset="0"/>
              </a:rPr>
              <a:t>config</a:t>
            </a:r>
            <a:r>
              <a:rPr lang="en-US" sz="1200" dirty="0" smtClean="0">
                <a:solidFill>
                  <a:srgbClr val="CD3300"/>
                </a:solidFill>
                <a:latin typeface="Consolas" pitchFamily="49" charset="0"/>
              </a:rPr>
              <a:t> file:"</a:t>
            </a:r>
            <a:r>
              <a:rPr lang="en-US" sz="1200" dirty="0" smtClean="0">
                <a:solidFill>
                  <a:srgbClr val="000000"/>
                </a:solidFill>
                <a:latin typeface="Consolas" pitchFamily="49" charset="0"/>
              </a:rPr>
              <a:t>, </a:t>
            </a:r>
            <a:r>
              <a:rPr lang="en-US" sz="1200" dirty="0" smtClean="0">
                <a:solidFill>
                  <a:srgbClr val="000089"/>
                </a:solidFill>
                <a:latin typeface="Consolas" pitchFamily="49" charset="0"/>
              </a:rPr>
              <a:t>err</a:t>
            </a:r>
            <a:r>
              <a:rPr lang="en-US" sz="1200" dirty="0" smtClean="0">
                <a:solidFill>
                  <a:srgbClr val="000000"/>
                </a:solidFill>
                <a:latin typeface="Consolas" pitchFamily="49" charset="0"/>
              </a:rPr>
              <a:t>);</a:t>
            </a:r>
          </a:p>
          <a:p>
            <a:pPr lvl="1"/>
            <a:r>
              <a:rPr lang="en-US" sz="1200" dirty="0" smtClean="0">
                <a:solidFill>
                  <a:srgbClr val="000000"/>
                </a:solidFill>
                <a:latin typeface="Consolas" pitchFamily="49" charset="0"/>
              </a:rPr>
              <a:t>} </a:t>
            </a:r>
            <a:r>
              <a:rPr lang="en-US" sz="1200" dirty="0" smtClean="0">
                <a:solidFill>
                  <a:srgbClr val="00669A"/>
                </a:solidFill>
                <a:latin typeface="Consolas" pitchFamily="49" charset="0"/>
              </a:rPr>
              <a:t>else </a:t>
            </a:r>
            <a:r>
              <a:rPr lang="en-US" sz="1200" dirty="0" smtClean="0">
                <a:solidFill>
                  <a:srgbClr val="000000"/>
                </a:solidFill>
                <a:latin typeface="Consolas" pitchFamily="49" charset="0"/>
              </a:rPr>
              <a:t>{</a:t>
            </a:r>
          </a:p>
          <a:p>
            <a:pPr lvl="2"/>
            <a:r>
              <a:rPr lang="en-US" sz="1200" i="1" dirty="0" smtClean="0">
                <a:solidFill>
                  <a:srgbClr val="35586C"/>
                </a:solidFill>
                <a:latin typeface="Consolas" pitchFamily="49" charset="0"/>
              </a:rPr>
              <a:t>// Otherwise, parse the file contents and assign to the options object</a:t>
            </a:r>
          </a:p>
          <a:p>
            <a:pPr lvl="2"/>
            <a:r>
              <a:rPr lang="en-US" sz="1200" dirty="0" err="1" smtClean="0">
                <a:solidFill>
                  <a:srgbClr val="336666"/>
                </a:solidFill>
                <a:latin typeface="Consolas" pitchFamily="49" charset="0"/>
              </a:rPr>
              <a:t>Object</a:t>
            </a:r>
            <a:r>
              <a:rPr lang="en-US" sz="1200" dirty="0" err="1" smtClean="0">
                <a:solidFill>
                  <a:srgbClr val="000000"/>
                </a:solidFill>
                <a:latin typeface="Consolas" pitchFamily="49" charset="0"/>
              </a:rPr>
              <a:t>.</a:t>
            </a:r>
            <a:r>
              <a:rPr lang="en-US" sz="1200" dirty="0" err="1" smtClean="0">
                <a:solidFill>
                  <a:srgbClr val="000089"/>
                </a:solidFill>
                <a:latin typeface="Consolas" pitchFamily="49" charset="0"/>
              </a:rPr>
              <a:t>assign</a:t>
            </a:r>
            <a:r>
              <a:rPr lang="en-US" sz="1200" dirty="0" smtClean="0">
                <a:solidFill>
                  <a:srgbClr val="000000"/>
                </a:solidFill>
                <a:latin typeface="Consolas" pitchFamily="49" charset="0"/>
              </a:rPr>
              <a:t>(</a:t>
            </a:r>
            <a:r>
              <a:rPr lang="en-US" sz="1200" dirty="0" smtClean="0">
                <a:solidFill>
                  <a:srgbClr val="000089"/>
                </a:solidFill>
                <a:latin typeface="Consolas" pitchFamily="49" charset="0"/>
              </a:rPr>
              <a:t>options</a:t>
            </a:r>
            <a:r>
              <a:rPr lang="en-US" sz="1200" dirty="0" smtClean="0">
                <a:solidFill>
                  <a:srgbClr val="000000"/>
                </a:solidFill>
                <a:latin typeface="Consolas" pitchFamily="49" charset="0"/>
              </a:rPr>
              <a:t>, </a:t>
            </a:r>
            <a:r>
              <a:rPr lang="en-US" sz="1200" dirty="0" err="1" smtClean="0">
                <a:solidFill>
                  <a:srgbClr val="000089"/>
                </a:solidFill>
                <a:latin typeface="Consolas" pitchFamily="49" charset="0"/>
              </a:rPr>
              <a:t>JSON</a:t>
            </a:r>
            <a:r>
              <a:rPr lang="en-US" sz="1200" dirty="0" err="1" smtClean="0">
                <a:solidFill>
                  <a:srgbClr val="000000"/>
                </a:solidFill>
                <a:latin typeface="Consolas" pitchFamily="49" charset="0"/>
              </a:rPr>
              <a:t>.</a:t>
            </a:r>
            <a:r>
              <a:rPr lang="en-US" sz="1200" dirty="0" err="1" smtClean="0">
                <a:solidFill>
                  <a:srgbClr val="000089"/>
                </a:solidFill>
                <a:latin typeface="Consolas" pitchFamily="49" charset="0"/>
              </a:rPr>
              <a:t>parse</a:t>
            </a:r>
            <a:r>
              <a:rPr lang="en-US" sz="1200" dirty="0" smtClean="0">
                <a:solidFill>
                  <a:srgbClr val="000000"/>
                </a:solidFill>
                <a:latin typeface="Consolas" pitchFamily="49" charset="0"/>
              </a:rPr>
              <a:t>(</a:t>
            </a:r>
            <a:r>
              <a:rPr lang="en-US" sz="1200" dirty="0" smtClean="0">
                <a:solidFill>
                  <a:srgbClr val="000089"/>
                </a:solidFill>
                <a:latin typeface="Consolas" pitchFamily="49" charset="0"/>
              </a:rPr>
              <a:t>text</a:t>
            </a:r>
            <a:r>
              <a:rPr lang="en-US" sz="1200" dirty="0" smtClean="0">
                <a:solidFill>
                  <a:srgbClr val="000000"/>
                </a:solidFill>
                <a:latin typeface="Consolas" pitchFamily="49" charset="0"/>
              </a:rPr>
              <a:t>));</a:t>
            </a:r>
          </a:p>
          <a:p>
            <a:pPr lvl="1"/>
            <a:r>
              <a:rPr lang="en-US" sz="1200" dirty="0" smtClean="0">
                <a:solidFill>
                  <a:srgbClr val="000000"/>
                </a:solidFill>
                <a:latin typeface="Consolas" pitchFamily="49" charset="0"/>
              </a:rPr>
              <a:t>}</a:t>
            </a:r>
          </a:p>
          <a:p>
            <a:pPr lvl="1"/>
            <a:r>
              <a:rPr lang="en-US" sz="1200" i="1" dirty="0" smtClean="0">
                <a:solidFill>
                  <a:srgbClr val="35586C"/>
                </a:solidFill>
                <a:latin typeface="Consolas" pitchFamily="49" charset="0"/>
              </a:rPr>
              <a:t>// In either case, we can now start running the program</a:t>
            </a:r>
          </a:p>
          <a:p>
            <a:pPr lvl="1"/>
            <a:r>
              <a:rPr lang="en-US" sz="1200" dirty="0" err="1" smtClean="0">
                <a:solidFill>
                  <a:srgbClr val="000089"/>
                </a:solidFill>
                <a:latin typeface="Consolas" pitchFamily="49" charset="0"/>
              </a:rPr>
              <a:t>startProgram</a:t>
            </a:r>
            <a:r>
              <a:rPr lang="en-US" sz="1200" dirty="0" smtClean="0">
                <a:solidFill>
                  <a:srgbClr val="000000"/>
                </a:solidFill>
                <a:latin typeface="Consolas" pitchFamily="49" charset="0"/>
              </a:rPr>
              <a:t>(</a:t>
            </a:r>
            <a:r>
              <a:rPr lang="en-US" sz="1200" dirty="0" smtClean="0">
                <a:solidFill>
                  <a:srgbClr val="000089"/>
                </a:solidFill>
                <a:latin typeface="Consolas" pitchFamily="49" charset="0"/>
              </a:rPr>
              <a:t>options</a:t>
            </a:r>
            <a:r>
              <a:rPr lang="en-US" sz="1200" dirty="0" smtClean="0">
                <a:solidFill>
                  <a:srgbClr val="000000"/>
                </a:solidFill>
                <a:latin typeface="Consolas" pitchFamily="49" charset="0"/>
              </a:rPr>
              <a:t>);</a:t>
            </a:r>
          </a:p>
          <a:p>
            <a:r>
              <a:rPr lang="en-US" sz="1200" dirty="0" smtClean="0">
                <a:solidFill>
                  <a:srgbClr val="000000"/>
                </a:solidFill>
                <a:latin typeface="Consolas" pitchFamily="49" charset="0"/>
              </a:rPr>
              <a:t>});</a:t>
            </a:r>
            <a:endParaRPr lang="en-US" sz="1200" dirty="0" smtClean="0">
              <a:latin typeface="Consolas"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Callback Problem</a:t>
            </a:r>
            <a:endParaRPr lang="en-US" dirty="0"/>
          </a:p>
        </p:txBody>
      </p:sp>
      <p:sp>
        <p:nvSpPr>
          <p:cNvPr id="3" name="Content Placeholder 2"/>
          <p:cNvSpPr>
            <a:spLocks noGrp="1"/>
          </p:cNvSpPr>
          <p:nvPr>
            <p:ph idx="1"/>
          </p:nvPr>
        </p:nvSpPr>
        <p:spPr/>
        <p:txBody>
          <a:bodyPr>
            <a:normAutofit/>
          </a:bodyPr>
          <a:lstStyle/>
          <a:p>
            <a:r>
              <a:rPr lang="en-US" sz="2400" dirty="0" smtClean="0"/>
              <a:t>One real problem with callback based asynchronous programming is that it is common to end up with callbacks inside callbacks inside callbacks, with lines of code so highly indented that it is difficult to read.</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Promises</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2000" dirty="0" smtClean="0"/>
              <a:t>A </a:t>
            </a:r>
            <a:r>
              <a:rPr lang="en-US" sz="2000" i="1" dirty="0" smtClean="0">
                <a:solidFill>
                  <a:srgbClr val="C00000"/>
                </a:solidFill>
                <a:latin typeface="Consolas" pitchFamily="49" charset="0"/>
              </a:rPr>
              <a:t>Promise</a:t>
            </a:r>
            <a:r>
              <a:rPr lang="en-US" sz="2000" dirty="0" smtClean="0"/>
              <a:t> is an </a:t>
            </a:r>
            <a:r>
              <a:rPr lang="en-US" sz="2000" u="sng" dirty="0" smtClean="0"/>
              <a:t>object</a:t>
            </a:r>
            <a:r>
              <a:rPr lang="en-US" sz="2000" dirty="0" smtClean="0"/>
              <a:t> that represents </a:t>
            </a:r>
            <a:r>
              <a:rPr lang="en-US" sz="2000" u="sng" dirty="0" smtClean="0"/>
              <a:t>the result of an asynchronous computation</a:t>
            </a:r>
            <a:r>
              <a:rPr lang="en-US" sz="2000" dirty="0" smtClean="0"/>
              <a:t>.</a:t>
            </a:r>
          </a:p>
          <a:p>
            <a:r>
              <a:rPr lang="en-US" sz="2000" dirty="0" smtClean="0"/>
              <a:t>That result may or may not be ready yet, and the Promise API is intentionally vague about this: there is no way to synchronously get the value of a Promise; you can only ask the Promise to call a callback function when the value is ready.</a:t>
            </a:r>
          </a:p>
        </p:txBody>
      </p:sp>
      <p:sp>
        <p:nvSpPr>
          <p:cNvPr id="9218" name="AutoShape 2" descr="Promise fulfilled stat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219" name="Picture 3"/>
          <p:cNvPicPr>
            <a:picLocks noChangeAspect="1" noChangeArrowheads="1"/>
          </p:cNvPicPr>
          <p:nvPr/>
        </p:nvPicPr>
        <p:blipFill>
          <a:blip r:embed="rId2" cstate="print"/>
          <a:srcRect/>
          <a:stretch>
            <a:fillRect/>
          </a:stretch>
        </p:blipFill>
        <p:spPr bwMode="auto">
          <a:xfrm>
            <a:off x="2286000" y="3810000"/>
            <a:ext cx="4602798" cy="1224598"/>
          </a:xfrm>
          <a:prstGeom prst="rect">
            <a:avLst/>
          </a:prstGeom>
          <a:noFill/>
          <a:ln w="9525">
            <a:noFill/>
            <a:miter lim="800000"/>
            <a:headEnd/>
            <a:tailEnd/>
          </a:ln>
          <a:effectLst/>
        </p:spPr>
      </p:pic>
      <p:pic>
        <p:nvPicPr>
          <p:cNvPr id="8" name="Picture 4"/>
          <p:cNvPicPr>
            <a:picLocks noChangeAspect="1" noChangeArrowheads="1"/>
          </p:cNvPicPr>
          <p:nvPr/>
        </p:nvPicPr>
        <p:blipFill>
          <a:blip r:embed="rId3" cstate="print"/>
          <a:srcRect/>
          <a:stretch>
            <a:fillRect/>
          </a:stretch>
        </p:blipFill>
        <p:spPr bwMode="auto">
          <a:xfrm>
            <a:off x="2286000" y="5066030"/>
            <a:ext cx="4609465" cy="118237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1. Create Sum Function</a:t>
            </a:r>
            <a:endParaRPr lang="en-US" sz="4200" dirty="0"/>
          </a:p>
        </p:txBody>
      </p:sp>
      <p:sp>
        <p:nvSpPr>
          <p:cNvPr id="4" name="Content Placeholder 2"/>
          <p:cNvSpPr txBox="1">
            <a:spLocks/>
          </p:cNvSpPr>
          <p:nvPr/>
        </p:nvSpPr>
        <p:spPr bwMode="auto">
          <a:xfrm>
            <a:off x="457200" y="1981200"/>
            <a:ext cx="8229600" cy="3048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smtClean="0">
                <a:solidFill>
                  <a:srgbClr val="569CD6"/>
                </a:solidFill>
                <a:latin typeface="Consolas"/>
              </a:rPr>
              <a:t>const</a:t>
            </a:r>
            <a:r>
              <a:rPr lang="en-US" sz="2000" dirty="0" smtClean="0">
                <a:solidFill>
                  <a:srgbClr val="D4D4D4"/>
                </a:solidFill>
                <a:latin typeface="Consolas"/>
              </a:rPr>
              <a:t> </a:t>
            </a:r>
            <a:r>
              <a:rPr lang="en-US" sz="2000" dirty="0" smtClean="0">
                <a:solidFill>
                  <a:srgbClr val="DCDCAA"/>
                </a:solidFill>
                <a:latin typeface="Consolas"/>
              </a:rPr>
              <a:t>sum</a:t>
            </a:r>
            <a:r>
              <a:rPr lang="en-US" sz="2000" dirty="0" smtClean="0">
                <a:solidFill>
                  <a:srgbClr val="D4D4D4"/>
                </a:solidFill>
                <a:latin typeface="Consolas"/>
              </a:rPr>
              <a:t> = </a:t>
            </a:r>
            <a:r>
              <a:rPr lang="en-US" sz="2000" dirty="0" smtClean="0">
                <a:solidFill>
                  <a:srgbClr val="9CDCFE"/>
                </a:solidFill>
                <a:latin typeface="Consolas"/>
              </a:rPr>
              <a:t>n</a:t>
            </a:r>
            <a:r>
              <a:rPr lang="en-US" sz="2000" dirty="0" smtClean="0">
                <a:solidFill>
                  <a:srgbClr val="D4D4D4"/>
                </a:solidFill>
                <a:latin typeface="Consolas"/>
              </a:rPr>
              <a:t> </a:t>
            </a:r>
            <a:r>
              <a:rPr lang="en-US" sz="2000" dirty="0" smtClean="0">
                <a:solidFill>
                  <a:srgbClr val="569CD6"/>
                </a:solidFill>
                <a:latin typeface="Consolas"/>
              </a:rPr>
              <a:t>=&gt;</a:t>
            </a:r>
            <a:endParaRPr lang="en-US" sz="2000" dirty="0" smtClean="0">
              <a:solidFill>
                <a:srgbClr val="D4D4D4"/>
              </a:solidFill>
              <a:latin typeface="Consolas"/>
            </a:endParaRPr>
          </a:p>
          <a:p>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569CD6"/>
                </a:solidFill>
                <a:latin typeface="Consolas"/>
              </a:rPr>
              <a:t>let</a:t>
            </a:r>
            <a:r>
              <a:rPr lang="en-US" sz="2000" dirty="0" smtClean="0">
                <a:solidFill>
                  <a:srgbClr val="D4D4D4"/>
                </a:solidFill>
                <a:latin typeface="Consolas"/>
              </a:rPr>
              <a:t> </a:t>
            </a:r>
            <a:r>
              <a:rPr lang="en-US" sz="2000" dirty="0" smtClean="0">
                <a:solidFill>
                  <a:srgbClr val="9CDCFE"/>
                </a:solidFill>
                <a:latin typeface="Consolas"/>
              </a:rPr>
              <a:t>total</a:t>
            </a:r>
            <a:r>
              <a:rPr lang="en-US" sz="2000" dirty="0" smtClean="0">
                <a:solidFill>
                  <a:srgbClr val="D4D4D4"/>
                </a:solidFill>
                <a:latin typeface="Consolas"/>
              </a:rPr>
              <a:t> = </a:t>
            </a:r>
            <a:r>
              <a:rPr lang="en-US" sz="2000" dirty="0" smtClean="0">
                <a:solidFill>
                  <a:srgbClr val="B5CEA8"/>
                </a:solidFill>
                <a:latin typeface="Consolas"/>
              </a:rPr>
              <a:t>0</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for</a:t>
            </a:r>
            <a:r>
              <a:rPr lang="en-US" sz="2000" dirty="0" smtClean="0">
                <a:solidFill>
                  <a:srgbClr val="D4D4D4"/>
                </a:solidFill>
                <a:latin typeface="Consolas"/>
              </a:rPr>
              <a:t> (</a:t>
            </a:r>
            <a:r>
              <a:rPr lang="en-US" sz="2000" dirty="0" smtClean="0">
                <a:solidFill>
                  <a:srgbClr val="569CD6"/>
                </a:solidFill>
                <a:latin typeface="Consolas"/>
              </a:rPr>
              <a:t>let</a:t>
            </a:r>
            <a:r>
              <a:rPr lang="en-US" sz="2000" dirty="0" smtClean="0">
                <a:solidFill>
                  <a:srgbClr val="D4D4D4"/>
                </a:solidFill>
                <a:latin typeface="Consolas"/>
              </a:rPr>
              <a:t> </a:t>
            </a:r>
            <a:r>
              <a:rPr lang="en-US" sz="2000" dirty="0" err="1" smtClean="0">
                <a:solidFill>
                  <a:srgbClr val="9CDCFE"/>
                </a:solidFill>
                <a:latin typeface="Consolas"/>
              </a:rPr>
              <a:t>i</a:t>
            </a:r>
            <a:r>
              <a:rPr lang="en-US" sz="2000" dirty="0" smtClean="0">
                <a:solidFill>
                  <a:srgbClr val="D4D4D4"/>
                </a:solidFill>
                <a:latin typeface="Consolas"/>
              </a:rPr>
              <a:t> = </a:t>
            </a:r>
            <a:r>
              <a:rPr lang="en-US" sz="2000" dirty="0" smtClean="0">
                <a:solidFill>
                  <a:srgbClr val="B5CEA8"/>
                </a:solidFill>
                <a:latin typeface="Consolas"/>
              </a:rPr>
              <a:t>1</a:t>
            </a:r>
            <a:r>
              <a:rPr lang="en-US" sz="2000" dirty="0" smtClean="0">
                <a:solidFill>
                  <a:srgbClr val="D4D4D4"/>
                </a:solidFill>
                <a:latin typeface="Consolas"/>
              </a:rPr>
              <a:t>; </a:t>
            </a:r>
            <a:r>
              <a:rPr lang="en-US" sz="2000" dirty="0" err="1" smtClean="0">
                <a:solidFill>
                  <a:srgbClr val="9CDCFE"/>
                </a:solidFill>
                <a:latin typeface="Consolas"/>
              </a:rPr>
              <a:t>i</a:t>
            </a:r>
            <a:r>
              <a:rPr lang="en-US" sz="2000" dirty="0" smtClean="0">
                <a:solidFill>
                  <a:srgbClr val="D4D4D4"/>
                </a:solidFill>
                <a:latin typeface="Consolas"/>
              </a:rPr>
              <a:t> &lt;= </a:t>
            </a:r>
            <a:r>
              <a:rPr lang="en-US" sz="2000" dirty="0" smtClean="0">
                <a:solidFill>
                  <a:srgbClr val="9CDCFE"/>
                </a:solidFill>
                <a:latin typeface="Consolas"/>
              </a:rPr>
              <a:t>n</a:t>
            </a:r>
            <a:r>
              <a:rPr lang="en-US" sz="2000" dirty="0" smtClean="0">
                <a:solidFill>
                  <a:srgbClr val="D4D4D4"/>
                </a:solidFill>
                <a:latin typeface="Consolas"/>
              </a:rPr>
              <a:t>; </a:t>
            </a:r>
            <a:r>
              <a:rPr lang="en-US" sz="2000" dirty="0" err="1" smtClean="0">
                <a:solidFill>
                  <a:srgbClr val="9CDCFE"/>
                </a:solidFill>
                <a:latin typeface="Consolas"/>
              </a:rPr>
              <a:t>i</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9CDCFE"/>
                </a:solidFill>
                <a:latin typeface="Consolas"/>
              </a:rPr>
              <a:t>total</a:t>
            </a:r>
            <a:r>
              <a:rPr lang="en-US" sz="2000" dirty="0" smtClean="0">
                <a:solidFill>
                  <a:srgbClr val="D4D4D4"/>
                </a:solidFill>
                <a:latin typeface="Consolas"/>
              </a:rPr>
              <a:t> += </a:t>
            </a:r>
            <a:r>
              <a:rPr lang="en-US" sz="2000" dirty="0" err="1" smtClean="0">
                <a:solidFill>
                  <a:srgbClr val="9CDCFE"/>
                </a:solidFill>
                <a:latin typeface="Consolas"/>
              </a:rPr>
              <a:t>i</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smtClean="0">
                <a:solidFill>
                  <a:srgbClr val="C586C0"/>
                </a:solidFill>
                <a:latin typeface="Consolas"/>
              </a:rPr>
              <a:t>return</a:t>
            </a:r>
            <a:r>
              <a:rPr lang="en-US" sz="2000" dirty="0" smtClean="0">
                <a:solidFill>
                  <a:srgbClr val="D4D4D4"/>
                </a:solidFill>
                <a:latin typeface="Consolas"/>
              </a:rPr>
              <a:t> </a:t>
            </a:r>
            <a:r>
              <a:rPr lang="en-US" sz="2000" dirty="0" smtClean="0">
                <a:solidFill>
                  <a:srgbClr val="9CDCFE"/>
                </a:solidFill>
                <a:latin typeface="Consolas"/>
              </a:rPr>
              <a:t>total</a:t>
            </a:r>
            <a:r>
              <a:rPr lang="en-US" sz="2000" dirty="0" smtClean="0">
                <a:solidFill>
                  <a:srgbClr val="D4D4D4"/>
                </a:solidFill>
                <a:latin typeface="Consolas"/>
              </a:rPr>
              <a:t>;</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2. Create and Return a Promise</a:t>
            </a:r>
            <a:endParaRPr lang="en-US" sz="4200" dirty="0"/>
          </a:p>
        </p:txBody>
      </p:sp>
      <p:sp>
        <p:nvSpPr>
          <p:cNvPr id="4" name="Content Placeholder 2"/>
          <p:cNvSpPr txBox="1">
            <a:spLocks/>
          </p:cNvSpPr>
          <p:nvPr/>
        </p:nvSpPr>
        <p:spPr bwMode="auto">
          <a:xfrm>
            <a:off x="457200" y="1981200"/>
            <a:ext cx="8229600" cy="4038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569CD6"/>
                </a:solidFill>
                <a:latin typeface="Consolas"/>
              </a:rPr>
              <a:t>function</a:t>
            </a:r>
            <a:r>
              <a:rPr lang="en-US" dirty="0" smtClean="0">
                <a:solidFill>
                  <a:srgbClr val="D4D4D4"/>
                </a:solidFill>
                <a:latin typeface="Consolas"/>
              </a:rPr>
              <a:t> </a:t>
            </a:r>
            <a:r>
              <a:rPr lang="en-US" dirty="0" err="1" smtClean="0">
                <a:solidFill>
                  <a:srgbClr val="DCDCAA"/>
                </a:solidFill>
                <a:latin typeface="Consolas"/>
              </a:rPr>
              <a:t>startTask</a:t>
            </a:r>
            <a:r>
              <a:rPr lang="en-US" dirty="0" smtClean="0">
                <a:solidFill>
                  <a:srgbClr val="D4D4D4"/>
                </a:solidFill>
                <a:latin typeface="Consolas"/>
              </a:rPr>
              <a:t>(</a:t>
            </a:r>
            <a:r>
              <a:rPr lang="en-US" dirty="0" smtClean="0">
                <a:solidFill>
                  <a:srgbClr val="9CDCFE"/>
                </a:solidFill>
                <a:latin typeface="Consolas"/>
              </a:rPr>
              <a:t>number</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return</a:t>
            </a:r>
            <a:r>
              <a:rPr lang="en-US" dirty="0" smtClean="0">
                <a:solidFill>
                  <a:srgbClr val="D4D4D4"/>
                </a:solidFill>
                <a:latin typeface="Consolas"/>
              </a:rPr>
              <a:t> </a:t>
            </a:r>
            <a:r>
              <a:rPr lang="en-US" dirty="0" smtClean="0">
                <a:solidFill>
                  <a:srgbClr val="569CD6"/>
                </a:solidFill>
                <a:latin typeface="Consolas"/>
              </a:rPr>
              <a:t>new</a:t>
            </a:r>
            <a:r>
              <a:rPr lang="en-US" dirty="0" smtClean="0">
                <a:solidFill>
                  <a:srgbClr val="D4D4D4"/>
                </a:solidFill>
                <a:latin typeface="Consolas"/>
              </a:rPr>
              <a:t> </a:t>
            </a:r>
            <a:r>
              <a:rPr lang="en-US" dirty="0" smtClean="0">
                <a:solidFill>
                  <a:srgbClr val="4EC9B0"/>
                </a:solidFill>
                <a:latin typeface="Consolas"/>
              </a:rPr>
              <a:t>Promise</a:t>
            </a:r>
            <a:r>
              <a:rPr lang="en-US" dirty="0" smtClean="0">
                <a:solidFill>
                  <a:srgbClr val="D4D4D4"/>
                </a:solidFill>
                <a:latin typeface="Consolas"/>
              </a:rPr>
              <a:t>((</a:t>
            </a:r>
            <a:r>
              <a:rPr lang="en-US" dirty="0" smtClean="0">
                <a:solidFill>
                  <a:srgbClr val="DCDCAA"/>
                </a:solidFill>
                <a:latin typeface="Consolas"/>
              </a:rPr>
              <a:t>resolve</a:t>
            </a:r>
            <a:r>
              <a:rPr lang="en-US" dirty="0" smtClean="0">
                <a:solidFill>
                  <a:srgbClr val="D4D4D4"/>
                </a:solidFill>
                <a:latin typeface="Consolas"/>
              </a:rPr>
              <a:t>, </a:t>
            </a:r>
            <a:r>
              <a:rPr lang="en-US" dirty="0" smtClean="0">
                <a:solidFill>
                  <a:srgbClr val="DCDCAA"/>
                </a:solidFill>
                <a:latin typeface="Consolas"/>
              </a:rPr>
              <a:t>reject</a:t>
            </a:r>
            <a:r>
              <a:rPr lang="en-US" dirty="0" smtClean="0">
                <a:solidFill>
                  <a:srgbClr val="D4D4D4"/>
                </a:solidFill>
                <a:latin typeface="Consolas"/>
              </a:rPr>
              <a:t>)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6A9955"/>
                </a:solidFill>
                <a:latin typeface="Consolas"/>
              </a:rPr>
              <a:t>// </a:t>
            </a:r>
            <a:r>
              <a:rPr lang="en-US" dirty="0" err="1" smtClean="0">
                <a:solidFill>
                  <a:srgbClr val="6A9955"/>
                </a:solidFill>
                <a:latin typeface="Consolas"/>
              </a:rPr>
              <a:t>async</a:t>
            </a:r>
            <a:r>
              <a:rPr lang="en-US" dirty="0" smtClean="0">
                <a:solidFill>
                  <a:srgbClr val="6A9955"/>
                </a:solidFill>
                <a:latin typeface="Consolas"/>
              </a:rPr>
              <a:t> operation</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DCDCAA"/>
                </a:solidFill>
                <a:latin typeface="Consolas"/>
              </a:rPr>
              <a:t>setTimeout</a:t>
            </a:r>
            <a:r>
              <a:rPr lang="en-US" dirty="0" smtClean="0">
                <a:solidFill>
                  <a:srgbClr val="D4D4D4"/>
                </a:solidFill>
                <a:latin typeface="Consolas"/>
              </a:rPr>
              <a:t>( ()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try</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569CD6"/>
                </a:solidFill>
                <a:latin typeface="Consolas"/>
              </a:rPr>
              <a:t>const</a:t>
            </a:r>
            <a:r>
              <a:rPr lang="en-US" dirty="0" smtClean="0">
                <a:solidFill>
                  <a:srgbClr val="D4D4D4"/>
                </a:solidFill>
                <a:latin typeface="Consolas"/>
              </a:rPr>
              <a:t> </a:t>
            </a:r>
            <a:r>
              <a:rPr lang="en-US" dirty="0" smtClean="0">
                <a:solidFill>
                  <a:srgbClr val="4FC1FF"/>
                </a:solidFill>
                <a:latin typeface="Consolas"/>
              </a:rPr>
              <a:t>total</a:t>
            </a:r>
            <a:r>
              <a:rPr lang="en-US" dirty="0" smtClean="0">
                <a:solidFill>
                  <a:srgbClr val="D4D4D4"/>
                </a:solidFill>
                <a:latin typeface="Consolas"/>
              </a:rPr>
              <a:t> = </a:t>
            </a:r>
            <a:r>
              <a:rPr lang="en-US" dirty="0" smtClean="0">
                <a:solidFill>
                  <a:srgbClr val="DCDCAA"/>
                </a:solidFill>
                <a:latin typeface="Consolas"/>
              </a:rPr>
              <a:t>sum</a:t>
            </a:r>
            <a:r>
              <a:rPr lang="en-US" dirty="0" smtClean="0">
                <a:solidFill>
                  <a:srgbClr val="D4D4D4"/>
                </a:solidFill>
                <a:latin typeface="Consolas"/>
              </a:rPr>
              <a:t>(</a:t>
            </a:r>
            <a:r>
              <a:rPr lang="en-US" dirty="0" smtClean="0">
                <a:solidFill>
                  <a:srgbClr val="9CDCFE"/>
                </a:solidFill>
                <a:latin typeface="Consolas"/>
              </a:rPr>
              <a:t>number</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DCDCAA"/>
                </a:solidFill>
                <a:latin typeface="Consolas"/>
              </a:rPr>
              <a:t>resolve</a:t>
            </a:r>
            <a:r>
              <a:rPr lang="en-US" dirty="0" smtClean="0">
                <a:solidFill>
                  <a:srgbClr val="D4D4D4"/>
                </a:solidFill>
                <a:latin typeface="Consolas"/>
              </a:rPr>
              <a:t>(</a:t>
            </a:r>
            <a:r>
              <a:rPr lang="en-US" dirty="0" smtClean="0">
                <a:solidFill>
                  <a:srgbClr val="4FC1FF"/>
                </a:solidFill>
                <a:latin typeface="Consolas"/>
              </a:rPr>
              <a:t>total</a:t>
            </a:r>
            <a:r>
              <a:rPr lang="en-US" dirty="0" smtClean="0">
                <a:solidFill>
                  <a:srgbClr val="D4D4D4"/>
                </a:solidFill>
                <a:latin typeface="Consolas"/>
              </a:rPr>
              <a:t>); </a:t>
            </a:r>
            <a:r>
              <a:rPr lang="en-US" dirty="0" smtClean="0">
                <a:solidFill>
                  <a:srgbClr val="6A9955"/>
                </a:solidFill>
                <a:latin typeface="Consolas"/>
              </a:rPr>
              <a:t>// </a:t>
            </a:r>
            <a:r>
              <a:rPr lang="en-US" dirty="0" err="1" smtClean="0">
                <a:solidFill>
                  <a:srgbClr val="6A9955"/>
                </a:solidFill>
                <a:latin typeface="Consolas"/>
              </a:rPr>
              <a:t>async</a:t>
            </a:r>
            <a:r>
              <a:rPr lang="en-US" dirty="0" smtClean="0">
                <a:solidFill>
                  <a:srgbClr val="6A9955"/>
                </a:solidFill>
                <a:latin typeface="Consolas"/>
              </a:rPr>
              <a:t> operation successful</a:t>
            </a:r>
            <a:endParaRPr lang="en-US" dirty="0" smtClean="0">
              <a:solidFill>
                <a:srgbClr val="D4D4D4"/>
              </a:solidFill>
              <a:latin typeface="Consolas"/>
            </a:endParaRPr>
          </a:p>
          <a:p>
            <a:r>
              <a:rPr lang="en-US" dirty="0" smtClean="0">
                <a:solidFill>
                  <a:srgbClr val="D4D4D4"/>
                </a:solidFill>
                <a:latin typeface="Consolas"/>
              </a:rPr>
              <a:t>            } </a:t>
            </a:r>
            <a:r>
              <a:rPr lang="en-US" dirty="0" smtClean="0">
                <a:solidFill>
                  <a:srgbClr val="C586C0"/>
                </a:solidFill>
                <a:latin typeface="Consolas"/>
              </a:rPr>
              <a:t>catch</a:t>
            </a:r>
            <a:r>
              <a:rPr lang="en-US" dirty="0" smtClean="0">
                <a:solidFill>
                  <a:srgbClr val="D4D4D4"/>
                </a:solidFill>
                <a:latin typeface="Consolas"/>
              </a:rPr>
              <a:t> (</a:t>
            </a:r>
            <a:r>
              <a:rPr lang="en-US" dirty="0" smtClean="0">
                <a:solidFill>
                  <a:srgbClr val="9CDCFE"/>
                </a:solidFill>
                <a:latin typeface="Consolas"/>
              </a:rPr>
              <a:t>e</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DCDCAA"/>
                </a:solidFill>
                <a:latin typeface="Consolas"/>
              </a:rPr>
              <a:t>reject</a:t>
            </a:r>
            <a:r>
              <a:rPr lang="en-US" dirty="0" smtClean="0">
                <a:solidFill>
                  <a:srgbClr val="D4D4D4"/>
                </a:solidFill>
                <a:latin typeface="Consolas"/>
              </a:rPr>
              <a:t>(</a:t>
            </a:r>
            <a:r>
              <a:rPr lang="en-US" dirty="0" smtClean="0">
                <a:solidFill>
                  <a:srgbClr val="9CDCFE"/>
                </a:solidFill>
                <a:latin typeface="Consolas"/>
              </a:rPr>
              <a:t>e</a:t>
            </a:r>
            <a:r>
              <a:rPr lang="en-US" dirty="0" smtClean="0">
                <a:solidFill>
                  <a:srgbClr val="D4D4D4"/>
                </a:solidFill>
                <a:latin typeface="Consolas"/>
              </a:rPr>
              <a:t>);  </a:t>
            </a:r>
            <a:r>
              <a:rPr lang="en-US" dirty="0" smtClean="0">
                <a:solidFill>
                  <a:srgbClr val="6A9955"/>
                </a:solidFill>
                <a:latin typeface="Consolas"/>
              </a:rPr>
              <a:t>// </a:t>
            </a:r>
            <a:r>
              <a:rPr lang="en-US" dirty="0" err="1" smtClean="0">
                <a:solidFill>
                  <a:srgbClr val="6A9955"/>
                </a:solidFill>
                <a:latin typeface="Consolas"/>
              </a:rPr>
              <a:t>async</a:t>
            </a:r>
            <a:r>
              <a:rPr lang="en-US" dirty="0" smtClean="0">
                <a:solidFill>
                  <a:srgbClr val="6A9955"/>
                </a:solidFill>
                <a:latin typeface="Consolas"/>
              </a:rPr>
              <a:t> operation error</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        }, </a:t>
            </a:r>
            <a:r>
              <a:rPr lang="en-US" dirty="0" smtClean="0">
                <a:solidFill>
                  <a:srgbClr val="B5CEA8"/>
                </a:solidFill>
                <a:latin typeface="Consolas"/>
              </a:rPr>
              <a:t>0</a:t>
            </a:r>
            <a:r>
              <a:rPr lang="en-US" dirty="0" smtClean="0">
                <a:solidFill>
                  <a:srgbClr val="D4D4D4"/>
                </a:solidFill>
                <a:latin typeface="Consolas"/>
              </a:rPr>
              <a:t>);        </a:t>
            </a:r>
          </a:p>
          <a:p>
            <a:r>
              <a:rPr lang="en-US" dirty="0" smtClean="0">
                <a:solidFill>
                  <a:srgbClr val="D4D4D4"/>
                </a:solidFill>
                <a:latin typeface="Consolas"/>
              </a:rPr>
              <a:t>      }</a:t>
            </a:r>
          </a:p>
          <a:p>
            <a:r>
              <a:rPr lang="en-US" dirty="0" smtClean="0">
                <a:solidFill>
                  <a:srgbClr val="D4D4D4"/>
                </a:solidFill>
                <a:latin typeface="Consolas"/>
              </a:rPr>
              <a:t>    );</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3. Use the Promise</a:t>
            </a:r>
            <a:endParaRPr lang="en-US" sz="4200" dirty="0"/>
          </a:p>
        </p:txBody>
      </p:sp>
      <p:sp>
        <p:nvSpPr>
          <p:cNvPr id="4" name="Content Placeholder 2"/>
          <p:cNvSpPr txBox="1">
            <a:spLocks/>
          </p:cNvSpPr>
          <p:nvPr/>
        </p:nvSpPr>
        <p:spPr bwMode="auto">
          <a:xfrm>
            <a:off x="457200" y="1676400"/>
            <a:ext cx="8229600" cy="4343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err="1" smtClean="0">
                <a:solidFill>
                  <a:srgbClr val="DCDCAA"/>
                </a:solidFill>
                <a:latin typeface="Consolas"/>
              </a:rPr>
              <a:t>startTask</a:t>
            </a:r>
            <a:r>
              <a:rPr lang="en-US" dirty="0" smtClean="0">
                <a:solidFill>
                  <a:srgbClr val="D4D4D4"/>
                </a:solidFill>
                <a:latin typeface="Consolas"/>
              </a:rPr>
              <a:t>(</a:t>
            </a:r>
            <a:r>
              <a:rPr lang="en-US" dirty="0" smtClean="0">
                <a:solidFill>
                  <a:srgbClr val="B5CEA8"/>
                </a:solidFill>
                <a:latin typeface="Consolas"/>
              </a:rPr>
              <a:t>1</a:t>
            </a:r>
            <a:r>
              <a:rPr lang="en-US" dirty="0" smtClean="0">
                <a:solidFill>
                  <a:srgbClr val="D4D4D4"/>
                </a:solidFill>
                <a:latin typeface="Consolas"/>
              </a:rPr>
              <a:t>).</a:t>
            </a:r>
            <a:r>
              <a:rPr lang="en-US" dirty="0" smtClean="0">
                <a:solidFill>
                  <a:srgbClr val="DCDCAA"/>
                </a:solidFill>
                <a:latin typeface="Consolas"/>
              </a:rPr>
              <a:t>then</a:t>
            </a:r>
            <a:r>
              <a:rPr lang="en-US" dirty="0" smtClean="0">
                <a:solidFill>
                  <a:srgbClr val="D4D4D4"/>
                </a:solidFill>
                <a:latin typeface="Consolas"/>
              </a:rPr>
              <a:t>( (</a:t>
            </a:r>
            <a:r>
              <a:rPr lang="en-US" dirty="0" err="1" smtClean="0">
                <a:solidFill>
                  <a:srgbClr val="9CDCFE"/>
                </a:solidFill>
                <a:latin typeface="Consolas"/>
              </a:rPr>
              <a:t>respone</a:t>
            </a:r>
            <a:r>
              <a:rPr lang="en-US" dirty="0" smtClean="0">
                <a:solidFill>
                  <a:srgbClr val="D4D4D4"/>
                </a:solidFill>
                <a:latin typeface="Consolas"/>
              </a:rPr>
              <a:t>)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console</a:t>
            </a:r>
            <a:r>
              <a:rPr lang="en-US" dirty="0" smtClean="0">
                <a:solidFill>
                  <a:srgbClr val="D4D4D4"/>
                </a:solidFill>
                <a:latin typeface="Consolas"/>
              </a:rPr>
              <a:t>.</a:t>
            </a:r>
            <a:r>
              <a:rPr lang="en-US" dirty="0" smtClean="0">
                <a:solidFill>
                  <a:srgbClr val="DCDCAA"/>
                </a:solidFill>
                <a:latin typeface="Consolas"/>
              </a:rPr>
              <a:t>log</a:t>
            </a:r>
            <a:r>
              <a:rPr lang="en-US" dirty="0" smtClean="0">
                <a:solidFill>
                  <a:srgbClr val="D4D4D4"/>
                </a:solidFill>
                <a:latin typeface="Consolas"/>
              </a:rPr>
              <a:t>(</a:t>
            </a:r>
            <a:r>
              <a:rPr lang="en-US" dirty="0" smtClean="0">
                <a:solidFill>
                  <a:srgbClr val="CE9178"/>
                </a:solidFill>
                <a:latin typeface="Consolas"/>
              </a:rPr>
              <a:t>"sum(1) ="</a:t>
            </a:r>
            <a:r>
              <a:rPr lang="en-US" dirty="0" smtClean="0">
                <a:solidFill>
                  <a:srgbClr val="D4D4D4"/>
                </a:solidFill>
                <a:latin typeface="Consolas"/>
              </a:rPr>
              <a:t>, </a:t>
            </a:r>
            <a:r>
              <a:rPr lang="en-US" dirty="0" err="1" smtClean="0">
                <a:solidFill>
                  <a:srgbClr val="9CDCFE"/>
                </a:solidFill>
                <a:latin typeface="Consolas"/>
              </a:rPr>
              <a:t>respone</a:t>
            </a:r>
            <a:r>
              <a:rPr lang="en-US" dirty="0" smtClean="0">
                <a:solidFill>
                  <a:srgbClr val="D4D4D4"/>
                </a:solidFill>
                <a:latin typeface="Consolas"/>
              </a:rPr>
              <a:t>);        </a:t>
            </a:r>
          </a:p>
          <a:p>
            <a:r>
              <a:rPr lang="en-US" dirty="0" smtClean="0">
                <a:solidFill>
                  <a:srgbClr val="D4D4D4"/>
                </a:solidFill>
                <a:latin typeface="Consolas"/>
              </a:rPr>
              <a:t>    }, </a:t>
            </a:r>
          </a:p>
          <a:p>
            <a:r>
              <a:rPr lang="en-US" dirty="0" smtClean="0">
                <a:solidFill>
                  <a:srgbClr val="D4D4D4"/>
                </a:solidFill>
                <a:latin typeface="Consolas"/>
              </a:rPr>
              <a:t>    (</a:t>
            </a:r>
            <a:r>
              <a:rPr lang="en-US" dirty="0" smtClean="0">
                <a:solidFill>
                  <a:srgbClr val="9CDCFE"/>
                </a:solidFill>
                <a:latin typeface="Consolas"/>
              </a:rPr>
              <a:t>error</a:t>
            </a:r>
            <a:r>
              <a:rPr lang="en-US" dirty="0" smtClean="0">
                <a:solidFill>
                  <a:srgbClr val="D4D4D4"/>
                </a:solidFill>
                <a:latin typeface="Consolas"/>
              </a:rPr>
              <a:t>)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console</a:t>
            </a:r>
            <a:r>
              <a:rPr lang="en-US" dirty="0" smtClean="0">
                <a:solidFill>
                  <a:srgbClr val="D4D4D4"/>
                </a:solidFill>
                <a:latin typeface="Consolas"/>
              </a:rPr>
              <a:t>.</a:t>
            </a:r>
            <a:r>
              <a:rPr lang="en-US" dirty="0" smtClean="0">
                <a:solidFill>
                  <a:srgbClr val="DCDCAA"/>
                </a:solidFill>
                <a:latin typeface="Consolas"/>
              </a:rPr>
              <a:t>log</a:t>
            </a:r>
            <a:r>
              <a:rPr lang="en-US" dirty="0" smtClean="0">
                <a:solidFill>
                  <a:srgbClr val="D4D4D4"/>
                </a:solidFill>
                <a:latin typeface="Consolas"/>
              </a:rPr>
              <a:t>(</a:t>
            </a:r>
            <a:r>
              <a:rPr lang="en-US" dirty="0" smtClean="0">
                <a:solidFill>
                  <a:srgbClr val="9CDCFE"/>
                </a:solidFill>
                <a:latin typeface="Consolas"/>
              </a:rPr>
              <a:t>error</a:t>
            </a:r>
            <a:r>
              <a:rPr lang="en-US" dirty="0" smtClean="0">
                <a:solidFill>
                  <a:srgbClr val="D4D4D4"/>
                </a:solidFill>
                <a:latin typeface="Consolas"/>
              </a:rPr>
              <a:t>);        </a:t>
            </a:r>
          </a:p>
          <a:p>
            <a:r>
              <a:rPr lang="en-US" dirty="0" smtClean="0">
                <a:solidFill>
                  <a:srgbClr val="D4D4D4"/>
                </a:solidFill>
                <a:latin typeface="Consolas"/>
              </a:rPr>
              <a:t>    }</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DCDCAA"/>
                </a:solidFill>
                <a:latin typeface="Consolas"/>
              </a:rPr>
              <a:t>startTask</a:t>
            </a:r>
            <a:r>
              <a:rPr lang="en-US" dirty="0" smtClean="0">
                <a:solidFill>
                  <a:srgbClr val="D4D4D4"/>
                </a:solidFill>
                <a:latin typeface="Consolas"/>
              </a:rPr>
              <a:t>(</a:t>
            </a:r>
            <a:r>
              <a:rPr lang="en-US" dirty="0" smtClean="0">
                <a:solidFill>
                  <a:srgbClr val="B5CEA8"/>
                </a:solidFill>
                <a:latin typeface="Consolas"/>
              </a:rPr>
              <a:t>3</a:t>
            </a:r>
            <a:r>
              <a:rPr lang="en-US" dirty="0" smtClean="0">
                <a:solidFill>
                  <a:srgbClr val="D4D4D4"/>
                </a:solidFill>
                <a:latin typeface="Consolas"/>
              </a:rPr>
              <a:t>).</a:t>
            </a:r>
            <a:r>
              <a:rPr lang="en-US" dirty="0" smtClean="0">
                <a:solidFill>
                  <a:srgbClr val="DCDCAA"/>
                </a:solidFill>
                <a:latin typeface="Consolas"/>
              </a:rPr>
              <a:t>then</a:t>
            </a:r>
            <a:r>
              <a:rPr lang="en-US" dirty="0" smtClean="0">
                <a:solidFill>
                  <a:srgbClr val="D4D4D4"/>
                </a:solidFill>
                <a:latin typeface="Consolas"/>
              </a:rPr>
              <a:t>( (</a:t>
            </a:r>
            <a:r>
              <a:rPr lang="en-US" dirty="0" err="1" smtClean="0">
                <a:solidFill>
                  <a:srgbClr val="9CDCFE"/>
                </a:solidFill>
                <a:latin typeface="Consolas"/>
              </a:rPr>
              <a:t>respone</a:t>
            </a:r>
            <a:r>
              <a:rPr lang="en-US" dirty="0" smtClean="0">
                <a:solidFill>
                  <a:srgbClr val="D4D4D4"/>
                </a:solidFill>
                <a:latin typeface="Consolas"/>
              </a:rPr>
              <a:t>)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console</a:t>
            </a:r>
            <a:r>
              <a:rPr lang="en-US" dirty="0" smtClean="0">
                <a:solidFill>
                  <a:srgbClr val="D4D4D4"/>
                </a:solidFill>
                <a:latin typeface="Consolas"/>
              </a:rPr>
              <a:t>.</a:t>
            </a:r>
            <a:r>
              <a:rPr lang="en-US" dirty="0" smtClean="0">
                <a:solidFill>
                  <a:srgbClr val="DCDCAA"/>
                </a:solidFill>
                <a:latin typeface="Consolas"/>
              </a:rPr>
              <a:t>log</a:t>
            </a:r>
            <a:r>
              <a:rPr lang="en-US" dirty="0" smtClean="0">
                <a:solidFill>
                  <a:srgbClr val="D4D4D4"/>
                </a:solidFill>
                <a:latin typeface="Consolas"/>
              </a:rPr>
              <a:t>(</a:t>
            </a:r>
            <a:r>
              <a:rPr lang="en-US" dirty="0" smtClean="0">
                <a:solidFill>
                  <a:srgbClr val="CE9178"/>
                </a:solidFill>
                <a:latin typeface="Consolas"/>
              </a:rPr>
              <a:t>"sum(3) ="</a:t>
            </a:r>
            <a:r>
              <a:rPr lang="en-US" dirty="0" smtClean="0">
                <a:solidFill>
                  <a:srgbClr val="D4D4D4"/>
                </a:solidFill>
                <a:latin typeface="Consolas"/>
              </a:rPr>
              <a:t>, </a:t>
            </a:r>
            <a:r>
              <a:rPr lang="en-US" dirty="0" err="1" smtClean="0">
                <a:solidFill>
                  <a:srgbClr val="9CDCFE"/>
                </a:solidFill>
                <a:latin typeface="Consolas"/>
              </a:rPr>
              <a:t>respone</a:t>
            </a:r>
            <a:r>
              <a:rPr lang="en-US" dirty="0" smtClean="0">
                <a:solidFill>
                  <a:srgbClr val="D4D4D4"/>
                </a:solidFill>
                <a:latin typeface="Consolas"/>
              </a:rPr>
              <a:t>);        </a:t>
            </a:r>
          </a:p>
          <a:p>
            <a:r>
              <a:rPr lang="en-US" dirty="0" smtClean="0">
                <a:solidFill>
                  <a:srgbClr val="D4D4D4"/>
                </a:solidFill>
                <a:latin typeface="Consolas"/>
              </a:rPr>
              <a:t>    }, </a:t>
            </a:r>
          </a:p>
          <a:p>
            <a:r>
              <a:rPr lang="en-US" dirty="0" smtClean="0">
                <a:solidFill>
                  <a:srgbClr val="D4D4D4"/>
                </a:solidFill>
                <a:latin typeface="Consolas"/>
              </a:rPr>
              <a:t>    (</a:t>
            </a:r>
            <a:r>
              <a:rPr lang="en-US" dirty="0" smtClean="0">
                <a:solidFill>
                  <a:srgbClr val="9CDCFE"/>
                </a:solidFill>
                <a:latin typeface="Consolas"/>
              </a:rPr>
              <a:t>error</a:t>
            </a:r>
            <a:r>
              <a:rPr lang="en-US" dirty="0" smtClean="0">
                <a:solidFill>
                  <a:srgbClr val="D4D4D4"/>
                </a:solidFill>
                <a:latin typeface="Consolas"/>
              </a:rPr>
              <a:t>) </a:t>
            </a:r>
            <a:r>
              <a:rPr lang="en-US" dirty="0" smtClean="0">
                <a:solidFill>
                  <a:srgbClr val="569CD6"/>
                </a:solidFill>
                <a:latin typeface="Consolas"/>
              </a:rPr>
              <a:t>=&gt;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console</a:t>
            </a:r>
            <a:r>
              <a:rPr lang="en-US" dirty="0" smtClean="0">
                <a:solidFill>
                  <a:srgbClr val="D4D4D4"/>
                </a:solidFill>
                <a:latin typeface="Consolas"/>
              </a:rPr>
              <a:t>.</a:t>
            </a:r>
            <a:r>
              <a:rPr lang="en-US" dirty="0" smtClean="0">
                <a:solidFill>
                  <a:srgbClr val="DCDCAA"/>
                </a:solidFill>
                <a:latin typeface="Consolas"/>
              </a:rPr>
              <a:t>log</a:t>
            </a:r>
            <a:r>
              <a:rPr lang="en-US" dirty="0" smtClean="0">
                <a:solidFill>
                  <a:srgbClr val="D4D4D4"/>
                </a:solidFill>
                <a:latin typeface="Consolas"/>
              </a:rPr>
              <a:t>(</a:t>
            </a:r>
            <a:r>
              <a:rPr lang="en-US" dirty="0" smtClean="0">
                <a:solidFill>
                  <a:srgbClr val="9CDCFE"/>
                </a:solidFill>
                <a:latin typeface="Consolas"/>
              </a:rPr>
              <a:t>error</a:t>
            </a:r>
            <a:r>
              <a:rPr lang="en-US" dirty="0" smtClean="0">
                <a:solidFill>
                  <a:srgbClr val="D4D4D4"/>
                </a:solidFill>
                <a:latin typeface="Consolas"/>
              </a:rPr>
              <a:t>);        </a:t>
            </a:r>
          </a:p>
          <a:p>
            <a:r>
              <a:rPr lang="en-US" dirty="0" smtClean="0">
                <a:solidFill>
                  <a:srgbClr val="D4D4D4"/>
                </a:solidFill>
                <a:latin typeface="Consolas"/>
              </a:rPr>
              <a:t>    }</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Fetching a URL Example</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2200" b="1" dirty="0" err="1" smtClean="0">
                <a:latin typeface="Consolas" pitchFamily="49" charset="0"/>
              </a:rPr>
              <a:t>getJSON</a:t>
            </a:r>
            <a:r>
              <a:rPr lang="en-US" sz="2200" b="1" dirty="0" smtClean="0">
                <a:latin typeface="Consolas" pitchFamily="49" charset="0"/>
              </a:rPr>
              <a:t>()</a:t>
            </a:r>
            <a:r>
              <a:rPr lang="en-US" sz="2200" dirty="0" smtClean="0"/>
              <a:t> starts an </a:t>
            </a:r>
            <a:r>
              <a:rPr lang="en-US" sz="2200" i="1" dirty="0" smtClean="0">
                <a:solidFill>
                  <a:srgbClr val="C00000"/>
                </a:solidFill>
              </a:rPr>
              <a:t>asynchronous</a:t>
            </a:r>
            <a:r>
              <a:rPr lang="en-US" sz="2200" dirty="0" smtClean="0"/>
              <a:t> HTTP request for the URL you specify and then, while that request is pending, it </a:t>
            </a:r>
            <a:r>
              <a:rPr lang="en-US" sz="2200" u="sng" dirty="0" smtClean="0"/>
              <a:t>returns a Promise object</a:t>
            </a:r>
            <a:r>
              <a:rPr lang="en-US" sz="2200" dirty="0" smtClean="0"/>
              <a:t>.</a:t>
            </a:r>
          </a:p>
          <a:p>
            <a:r>
              <a:rPr lang="en-US" sz="2200" dirty="0" smtClean="0"/>
              <a:t>The Promise object defines a </a:t>
            </a:r>
            <a:r>
              <a:rPr lang="en-US" sz="2200" b="1" dirty="0" smtClean="0">
                <a:latin typeface="Consolas" pitchFamily="49" charset="0"/>
              </a:rPr>
              <a:t>then()</a:t>
            </a:r>
            <a:r>
              <a:rPr lang="en-US" sz="2200" dirty="0" smtClean="0"/>
              <a:t> instance method.</a:t>
            </a:r>
          </a:p>
          <a:p>
            <a:r>
              <a:rPr lang="en-US" sz="2200" dirty="0" smtClean="0"/>
              <a:t>Instead of passing our callback function directly to </a:t>
            </a:r>
            <a:r>
              <a:rPr lang="en-US" sz="2200" b="1" dirty="0" err="1" smtClean="0">
                <a:latin typeface="Consolas" pitchFamily="49" charset="0"/>
              </a:rPr>
              <a:t>getJSON</a:t>
            </a:r>
            <a:r>
              <a:rPr lang="en-US" sz="2200" b="1" dirty="0" smtClean="0">
                <a:latin typeface="Consolas" pitchFamily="49" charset="0"/>
              </a:rPr>
              <a:t>()</a:t>
            </a:r>
            <a:r>
              <a:rPr lang="en-US" sz="2200" dirty="0" smtClean="0"/>
              <a:t>, we instead pass it to the </a:t>
            </a:r>
            <a:r>
              <a:rPr lang="en-US" sz="2200" b="1" dirty="0" smtClean="0">
                <a:latin typeface="Consolas" pitchFamily="49" charset="0"/>
              </a:rPr>
              <a:t>then()</a:t>
            </a:r>
            <a:r>
              <a:rPr lang="en-US" sz="2200" dirty="0" smtClean="0"/>
              <a:t> method.</a:t>
            </a:r>
            <a:endParaRPr lang="en-US" sz="2200" dirty="0"/>
          </a:p>
        </p:txBody>
      </p:sp>
      <p:sp>
        <p:nvSpPr>
          <p:cNvPr id="5" name="Rectangle 4"/>
          <p:cNvSpPr/>
          <p:nvPr/>
        </p:nvSpPr>
        <p:spPr>
          <a:xfrm>
            <a:off x="533400" y="4267200"/>
            <a:ext cx="8077200" cy="1323439"/>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i="1" dirty="0" smtClean="0">
                <a:solidFill>
                  <a:srgbClr val="35586C"/>
                </a:solidFill>
                <a:latin typeface="Consolas" pitchFamily="49" charset="0"/>
              </a:rPr>
              <a:t>// Suppose you have a function like this to display a user profile</a:t>
            </a:r>
          </a:p>
          <a:p>
            <a:r>
              <a:rPr lang="en-US" sz="1600" b="1" dirty="0" smtClean="0">
                <a:solidFill>
                  <a:srgbClr val="00669A"/>
                </a:solidFill>
                <a:latin typeface="Consolas" pitchFamily="49" charset="0"/>
              </a:rPr>
              <a:t>function </a:t>
            </a:r>
            <a:r>
              <a:rPr lang="en-US" sz="1600" b="1" dirty="0" err="1" smtClean="0">
                <a:solidFill>
                  <a:srgbClr val="000089"/>
                </a:solidFill>
                <a:latin typeface="Consolas" pitchFamily="49" charset="0"/>
              </a:rPr>
              <a:t>displayUserProfile</a:t>
            </a:r>
            <a:r>
              <a:rPr lang="en-US" sz="1600" b="1" dirty="0" smtClean="0">
                <a:solidFill>
                  <a:srgbClr val="000000"/>
                </a:solidFill>
                <a:latin typeface="Consolas" pitchFamily="49" charset="0"/>
              </a:rPr>
              <a:t>(</a:t>
            </a:r>
            <a:r>
              <a:rPr lang="en-US" sz="1600" b="1" dirty="0" smtClean="0">
                <a:solidFill>
                  <a:srgbClr val="000089"/>
                </a:solidFill>
                <a:latin typeface="Consolas" pitchFamily="49" charset="0"/>
              </a:rPr>
              <a:t>profile</a:t>
            </a:r>
            <a:r>
              <a:rPr lang="en-US" sz="1600" b="1" dirty="0" smtClean="0">
                <a:solidFill>
                  <a:srgbClr val="000000"/>
                </a:solidFill>
                <a:latin typeface="Consolas" pitchFamily="49" charset="0"/>
              </a:rPr>
              <a:t>) { </a:t>
            </a:r>
            <a:r>
              <a:rPr lang="en-US" sz="1600" b="1" i="1" dirty="0" smtClean="0">
                <a:solidFill>
                  <a:srgbClr val="35586C"/>
                </a:solidFill>
                <a:latin typeface="Consolas" pitchFamily="49" charset="0"/>
              </a:rPr>
              <a:t>/* implementation omitted */ </a:t>
            </a:r>
            <a:r>
              <a:rPr lang="en-US" sz="1600" b="1" i="1" dirty="0" smtClean="0">
                <a:solidFill>
                  <a:srgbClr val="000000"/>
                </a:solidFill>
                <a:latin typeface="Consolas" pitchFamily="49" charset="0"/>
              </a:rPr>
              <a:t>}</a:t>
            </a:r>
          </a:p>
          <a:p>
            <a:r>
              <a:rPr lang="en-US" sz="1600" i="1" dirty="0" smtClean="0">
                <a:solidFill>
                  <a:srgbClr val="35586C"/>
                </a:solidFill>
                <a:latin typeface="Consolas" pitchFamily="49" charset="0"/>
              </a:rPr>
              <a:t>// Here's how you might use that function with a Promise.</a:t>
            </a:r>
          </a:p>
          <a:p>
            <a:r>
              <a:rPr lang="en-US" sz="1600" i="1" dirty="0" smtClean="0">
                <a:solidFill>
                  <a:srgbClr val="35586C"/>
                </a:solidFill>
                <a:latin typeface="Consolas" pitchFamily="49" charset="0"/>
              </a:rPr>
              <a:t>// Notice how this line of code reads almost like an English sentence:</a:t>
            </a:r>
          </a:p>
          <a:p>
            <a:r>
              <a:rPr lang="en-US" sz="1600" dirty="0" err="1" smtClean="0">
                <a:solidFill>
                  <a:srgbClr val="000089"/>
                </a:solidFill>
                <a:latin typeface="Consolas" pitchFamily="49" charset="0"/>
              </a:rPr>
              <a:t>getJSON</a:t>
            </a:r>
            <a:r>
              <a:rPr lang="en-US" sz="1600" dirty="0" smtClean="0">
                <a:solidFill>
                  <a:srgbClr val="000000"/>
                </a:solidFill>
                <a:latin typeface="Consolas" pitchFamily="49" charset="0"/>
              </a:rPr>
              <a:t>(</a:t>
            </a:r>
            <a:r>
              <a:rPr lang="en-US" sz="1600" dirty="0" smtClean="0">
                <a:solidFill>
                  <a:srgbClr val="CD3300"/>
                </a:solidFill>
                <a:latin typeface="Consolas" pitchFamily="49" charset="0"/>
              </a:rPr>
              <a:t>"/</a:t>
            </a:r>
            <a:r>
              <a:rPr lang="en-US" sz="1600" dirty="0" err="1" smtClean="0">
                <a:solidFill>
                  <a:srgbClr val="CD3300"/>
                </a:solidFill>
                <a:latin typeface="Consolas" pitchFamily="49" charset="0"/>
              </a:rPr>
              <a:t>api</a:t>
            </a:r>
            <a:r>
              <a:rPr lang="en-US" sz="1600" dirty="0" smtClean="0">
                <a:solidFill>
                  <a:srgbClr val="CD3300"/>
                </a:solidFill>
                <a:latin typeface="Consolas" pitchFamily="49" charset="0"/>
              </a:rPr>
              <a:t>/user/profile"</a:t>
            </a:r>
            <a:r>
              <a:rPr lang="en-US" sz="1600" dirty="0" smtClean="0">
                <a:solidFill>
                  <a:srgbClr val="000000"/>
                </a:solidFill>
                <a:latin typeface="Consolas" pitchFamily="49" charset="0"/>
              </a:rPr>
              <a:t>).</a:t>
            </a:r>
            <a:r>
              <a:rPr lang="en-US" sz="1600" dirty="0" smtClean="0">
                <a:solidFill>
                  <a:srgbClr val="000089"/>
                </a:solidFill>
                <a:latin typeface="Consolas" pitchFamily="49" charset="0"/>
              </a:rPr>
              <a:t>then</a:t>
            </a:r>
            <a:r>
              <a:rPr lang="en-US" sz="1600" dirty="0" smtClean="0">
                <a:solidFill>
                  <a:srgbClr val="000000"/>
                </a:solidFill>
                <a:latin typeface="Consolas" pitchFamily="49" charset="0"/>
              </a:rPr>
              <a:t>(</a:t>
            </a:r>
            <a:r>
              <a:rPr lang="en-US" sz="1600" dirty="0" err="1" smtClean="0">
                <a:solidFill>
                  <a:srgbClr val="000089"/>
                </a:solidFill>
                <a:latin typeface="Consolas" pitchFamily="49" charset="0"/>
              </a:rPr>
              <a:t>displayUserProfile</a:t>
            </a:r>
            <a:r>
              <a:rPr lang="en-US" sz="1600" dirty="0" smtClean="0">
                <a:solidFill>
                  <a:srgbClr val="000000"/>
                </a:solidFill>
                <a:latin typeface="Consolas" pitchFamily="49" charset="0"/>
              </a:rPr>
              <a:t>);</a:t>
            </a:r>
            <a:endParaRPr lang="en-US" sz="1600" dirty="0" smtClean="0">
              <a:latin typeface="Consolas"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Fetching a URL Example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133600" y="1600200"/>
            <a:ext cx="4918710" cy="473202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The </a:t>
            </a:r>
            <a:r>
              <a:rPr lang="en-US" dirty="0" smtClean="0">
                <a:latin typeface="Consolas" pitchFamily="49" charset="0"/>
              </a:rPr>
              <a:t>await</a:t>
            </a:r>
            <a:r>
              <a:rPr lang="en-US" dirty="0" smtClean="0"/>
              <a:t> Keyword</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2200" dirty="0" smtClean="0"/>
              <a:t>The </a:t>
            </a:r>
            <a:r>
              <a:rPr lang="en-US" sz="2200" b="1" dirty="0" smtClean="0">
                <a:latin typeface="Consolas" pitchFamily="49" charset="0"/>
              </a:rPr>
              <a:t>await</a:t>
            </a:r>
            <a:r>
              <a:rPr lang="en-US" sz="2200" dirty="0" smtClean="0"/>
              <a:t> keyword </a:t>
            </a:r>
            <a:r>
              <a:rPr lang="en-US" sz="2200" i="1" dirty="0" smtClean="0">
                <a:solidFill>
                  <a:srgbClr val="C00000"/>
                </a:solidFill>
              </a:rPr>
              <a:t>takes a Promise</a:t>
            </a:r>
            <a:r>
              <a:rPr lang="en-US" sz="2200" dirty="0" smtClean="0"/>
              <a:t> and turns it back into </a:t>
            </a:r>
            <a:r>
              <a:rPr lang="en-US" sz="2200" u="sng" dirty="0" smtClean="0"/>
              <a:t>a return value</a:t>
            </a:r>
            <a:r>
              <a:rPr lang="en-US" sz="2200" dirty="0" smtClean="0"/>
              <a:t> or </a:t>
            </a:r>
            <a:r>
              <a:rPr lang="en-US" sz="2200" u="sng" dirty="0" smtClean="0"/>
              <a:t>a thrown exception</a:t>
            </a:r>
            <a:r>
              <a:rPr lang="en-US" sz="2200" dirty="0" smtClean="0"/>
              <a:t>.</a:t>
            </a:r>
          </a:p>
          <a:p>
            <a:r>
              <a:rPr lang="en-US" sz="2200" dirty="0" smtClean="0"/>
              <a:t>Given a Promise object p, the expression </a:t>
            </a:r>
            <a:r>
              <a:rPr lang="en-US" sz="2200" b="1" dirty="0" smtClean="0">
                <a:latin typeface="Consolas" pitchFamily="49" charset="0"/>
              </a:rPr>
              <a:t>await p</a:t>
            </a:r>
            <a:r>
              <a:rPr lang="en-US" sz="2200" dirty="0" smtClean="0"/>
              <a:t> waits until p settles.</a:t>
            </a:r>
          </a:p>
          <a:p>
            <a:r>
              <a:rPr lang="en-US" sz="2200" dirty="0" smtClean="0"/>
              <a:t>If p fulfills, then the value of </a:t>
            </a:r>
            <a:r>
              <a:rPr lang="en-US" sz="2200" b="1" dirty="0" smtClean="0">
                <a:latin typeface="Consolas" pitchFamily="49" charset="0"/>
              </a:rPr>
              <a:t>await p</a:t>
            </a:r>
            <a:r>
              <a:rPr lang="en-US" sz="2200" dirty="0" smtClean="0"/>
              <a:t> is the fulfillment value of p.</a:t>
            </a:r>
          </a:p>
          <a:p>
            <a:r>
              <a:rPr lang="en-US" sz="2200" dirty="0" smtClean="0"/>
              <a:t>On the other hand, if p is rejected, then the </a:t>
            </a:r>
            <a:r>
              <a:rPr lang="en-US" sz="2200" b="1" dirty="0" smtClean="0">
                <a:latin typeface="Consolas" pitchFamily="49" charset="0"/>
              </a:rPr>
              <a:t>await p</a:t>
            </a:r>
            <a:r>
              <a:rPr lang="en-US" sz="2200" dirty="0" smtClean="0"/>
              <a:t> expression throws the rejection value of p.</a:t>
            </a:r>
            <a:endParaRPr lang="en-US" sz="2200" dirty="0"/>
          </a:p>
        </p:txBody>
      </p:sp>
      <p:sp>
        <p:nvSpPr>
          <p:cNvPr id="5" name="Rectangle 4"/>
          <p:cNvSpPr/>
          <p:nvPr/>
        </p:nvSpPr>
        <p:spPr>
          <a:xfrm>
            <a:off x="533400" y="4596825"/>
            <a:ext cx="8077200" cy="707886"/>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000" dirty="0" smtClean="0">
                <a:solidFill>
                  <a:srgbClr val="00669A"/>
                </a:solidFill>
                <a:latin typeface="Consolas" pitchFamily="49" charset="0"/>
              </a:rPr>
              <a:t>let </a:t>
            </a:r>
            <a:r>
              <a:rPr lang="en-US" sz="2000" dirty="0" smtClean="0">
                <a:solidFill>
                  <a:srgbClr val="000089"/>
                </a:solidFill>
                <a:latin typeface="Consolas" pitchFamily="49" charset="0"/>
              </a:rPr>
              <a:t>response </a:t>
            </a:r>
            <a:r>
              <a:rPr lang="en-US" sz="2000" dirty="0" smtClean="0">
                <a:solidFill>
                  <a:srgbClr val="555555"/>
                </a:solidFill>
                <a:latin typeface="Consolas" pitchFamily="49" charset="0"/>
              </a:rPr>
              <a:t>= </a:t>
            </a:r>
            <a:r>
              <a:rPr lang="en-US" sz="2000" dirty="0" smtClean="0">
                <a:solidFill>
                  <a:srgbClr val="000089"/>
                </a:solidFill>
                <a:latin typeface="Consolas" pitchFamily="49" charset="0"/>
              </a:rPr>
              <a:t>await fetch</a:t>
            </a:r>
            <a:r>
              <a:rPr lang="en-US" sz="2000" dirty="0" smtClean="0">
                <a:solidFill>
                  <a:srgbClr val="000000"/>
                </a:solidFill>
                <a:latin typeface="Consolas" pitchFamily="49" charset="0"/>
              </a:rPr>
              <a:t>(</a:t>
            </a:r>
            <a:r>
              <a:rPr lang="en-US" sz="2000" dirty="0" smtClean="0">
                <a:solidFill>
                  <a:srgbClr val="CD3300"/>
                </a:solidFill>
                <a:latin typeface="Consolas" pitchFamily="49" charset="0"/>
              </a:rPr>
              <a:t>"/</a:t>
            </a:r>
            <a:r>
              <a:rPr lang="en-US" sz="2000" dirty="0" err="1" smtClean="0">
                <a:solidFill>
                  <a:srgbClr val="CD3300"/>
                </a:solidFill>
                <a:latin typeface="Consolas" pitchFamily="49" charset="0"/>
              </a:rPr>
              <a:t>api</a:t>
            </a:r>
            <a:r>
              <a:rPr lang="en-US" sz="2000" dirty="0" smtClean="0">
                <a:solidFill>
                  <a:srgbClr val="CD3300"/>
                </a:solidFill>
                <a:latin typeface="Consolas" pitchFamily="49" charset="0"/>
              </a:rPr>
              <a:t>/user/profile"</a:t>
            </a:r>
            <a:r>
              <a:rPr lang="en-US" sz="2000" dirty="0" smtClean="0">
                <a:solidFill>
                  <a:srgbClr val="000000"/>
                </a:solidFill>
                <a:latin typeface="Consolas" pitchFamily="49" charset="0"/>
              </a:rPr>
              <a:t>);</a:t>
            </a:r>
          </a:p>
          <a:p>
            <a:r>
              <a:rPr lang="en-US" sz="2000" dirty="0" smtClean="0">
                <a:solidFill>
                  <a:srgbClr val="00669A"/>
                </a:solidFill>
                <a:latin typeface="Consolas" pitchFamily="49" charset="0"/>
              </a:rPr>
              <a:t>let </a:t>
            </a:r>
            <a:r>
              <a:rPr lang="en-US" sz="2000" dirty="0" smtClean="0">
                <a:solidFill>
                  <a:srgbClr val="000089"/>
                </a:solidFill>
                <a:latin typeface="Consolas" pitchFamily="49" charset="0"/>
              </a:rPr>
              <a:t>profile </a:t>
            </a:r>
            <a:r>
              <a:rPr lang="en-US" sz="2000" dirty="0" smtClean="0">
                <a:solidFill>
                  <a:srgbClr val="555555"/>
                </a:solidFill>
                <a:latin typeface="Consolas" pitchFamily="49" charset="0"/>
              </a:rPr>
              <a:t>= </a:t>
            </a:r>
            <a:r>
              <a:rPr lang="en-US" sz="2000" dirty="0" smtClean="0">
                <a:solidFill>
                  <a:srgbClr val="000089"/>
                </a:solidFill>
                <a:latin typeface="Consolas" pitchFamily="49" charset="0"/>
              </a:rPr>
              <a:t>await </a:t>
            </a:r>
            <a:r>
              <a:rPr lang="en-US" sz="2000" dirty="0" err="1" smtClean="0">
                <a:solidFill>
                  <a:srgbClr val="000089"/>
                </a:solidFill>
                <a:latin typeface="Consolas" pitchFamily="49" charset="0"/>
              </a:rPr>
              <a:t>response</a:t>
            </a:r>
            <a:r>
              <a:rPr lang="en-US" sz="2000" dirty="0" err="1" smtClean="0">
                <a:solidFill>
                  <a:srgbClr val="000000"/>
                </a:solidFill>
                <a:latin typeface="Consolas" pitchFamily="49" charset="0"/>
              </a:rPr>
              <a:t>.</a:t>
            </a:r>
            <a:r>
              <a:rPr lang="en-US" sz="2000" dirty="0" err="1" smtClean="0">
                <a:solidFill>
                  <a:srgbClr val="000089"/>
                </a:solidFill>
                <a:latin typeface="Consolas" pitchFamily="49" charset="0"/>
              </a:rPr>
              <a:t>json</a:t>
            </a:r>
            <a:r>
              <a:rPr lang="en-US" sz="2000" dirty="0" smtClean="0">
                <a:solidFill>
                  <a:srgbClr val="000000"/>
                </a:solidFill>
                <a:latin typeface="Consolas" pitchFamily="49" charset="0"/>
              </a:rPr>
              <a:t>();</a:t>
            </a:r>
            <a:endParaRPr lang="en-US" sz="2000" dirty="0" smtClean="0">
              <a:latin typeface="Consolas"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err="1" smtClean="0">
                <a:latin typeface="Consolas" pitchFamily="49" charset="0"/>
              </a:rPr>
              <a:t>async</a:t>
            </a:r>
            <a:r>
              <a:rPr lang="en-US" dirty="0" smtClean="0"/>
              <a:t> Functions</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1800" dirty="0" smtClean="0"/>
              <a:t>Because any code that uses </a:t>
            </a:r>
            <a:r>
              <a:rPr lang="en-US" sz="1800" b="1" dirty="0" smtClean="0">
                <a:latin typeface="Consolas" pitchFamily="49" charset="0"/>
              </a:rPr>
              <a:t>await</a:t>
            </a:r>
            <a:r>
              <a:rPr lang="en-US" sz="1800" dirty="0" smtClean="0"/>
              <a:t> is </a:t>
            </a:r>
            <a:r>
              <a:rPr lang="en-US" sz="1800" i="1" dirty="0" smtClean="0">
                <a:solidFill>
                  <a:srgbClr val="C00000"/>
                </a:solidFill>
              </a:rPr>
              <a:t>asynchronous</a:t>
            </a:r>
            <a:r>
              <a:rPr lang="en-US" sz="1800" dirty="0" smtClean="0"/>
              <a:t>, there is one critical rule: you </a:t>
            </a:r>
            <a:r>
              <a:rPr lang="en-US" sz="1800" u="sng" dirty="0" smtClean="0"/>
              <a:t>can only use</a:t>
            </a:r>
            <a:r>
              <a:rPr lang="en-US" sz="1800" dirty="0" smtClean="0"/>
              <a:t> the </a:t>
            </a:r>
            <a:r>
              <a:rPr lang="en-US" sz="1800" b="1" dirty="0" smtClean="0">
                <a:latin typeface="Consolas" pitchFamily="49" charset="0"/>
              </a:rPr>
              <a:t>await</a:t>
            </a:r>
            <a:r>
              <a:rPr lang="en-US" sz="1800" dirty="0" smtClean="0"/>
              <a:t> keyword </a:t>
            </a:r>
            <a:r>
              <a:rPr lang="en-US" sz="1800" u="sng" dirty="0" smtClean="0"/>
              <a:t>within</a:t>
            </a:r>
            <a:r>
              <a:rPr lang="en-US" sz="1800" dirty="0" smtClean="0"/>
              <a:t> functions that have been declared with the </a:t>
            </a:r>
            <a:r>
              <a:rPr lang="en-US" sz="1800" b="1" dirty="0" err="1" smtClean="0">
                <a:latin typeface="Consolas" pitchFamily="49" charset="0"/>
              </a:rPr>
              <a:t>async</a:t>
            </a:r>
            <a:r>
              <a:rPr lang="en-US" sz="1800" dirty="0" smtClean="0"/>
              <a:t> keyword.</a:t>
            </a:r>
          </a:p>
          <a:p>
            <a:endParaRPr lang="en-US" sz="1800" dirty="0" smtClean="0"/>
          </a:p>
          <a:p>
            <a:endParaRPr lang="en-US" sz="1800" dirty="0" smtClean="0"/>
          </a:p>
          <a:p>
            <a:endParaRPr lang="en-US" sz="1800" dirty="0" smtClean="0"/>
          </a:p>
          <a:p>
            <a:endParaRPr lang="en-US" sz="1800" dirty="0" smtClean="0"/>
          </a:p>
          <a:p>
            <a:endParaRPr lang="en-US" sz="1800" dirty="0" smtClean="0"/>
          </a:p>
          <a:p>
            <a:r>
              <a:rPr lang="en-US" sz="1800" dirty="0" smtClean="0"/>
              <a:t>Declaring a function </a:t>
            </a:r>
            <a:r>
              <a:rPr lang="en-US" sz="1800" b="1" dirty="0" err="1" smtClean="0">
                <a:latin typeface="Consolas" pitchFamily="49" charset="0"/>
              </a:rPr>
              <a:t>async</a:t>
            </a:r>
            <a:r>
              <a:rPr lang="en-US" sz="1800" dirty="0" smtClean="0"/>
              <a:t> means that </a:t>
            </a:r>
            <a:r>
              <a:rPr lang="en-US" sz="1800" i="1" dirty="0" smtClean="0">
                <a:solidFill>
                  <a:srgbClr val="C00000"/>
                </a:solidFill>
              </a:rPr>
              <a:t>the return value</a:t>
            </a:r>
            <a:r>
              <a:rPr lang="en-US" sz="1800" dirty="0" smtClean="0"/>
              <a:t> of the function will be a Promise even if no Promise-related code appears in the body of the function.</a:t>
            </a:r>
          </a:p>
          <a:p>
            <a:r>
              <a:rPr lang="en-US" sz="1800" dirty="0" smtClean="0"/>
              <a:t>If an </a:t>
            </a:r>
            <a:r>
              <a:rPr lang="en-US" sz="1800" dirty="0" err="1" smtClean="0"/>
              <a:t>async</a:t>
            </a:r>
            <a:r>
              <a:rPr lang="en-US" sz="1800" dirty="0" smtClean="0"/>
              <a:t> function appears to return normally, then the Promise object that is the real return value of the function will resolve to that apparent return value.</a:t>
            </a:r>
          </a:p>
          <a:p>
            <a:r>
              <a:rPr lang="en-US" sz="1800" dirty="0" smtClean="0"/>
              <a:t>And if an </a:t>
            </a:r>
            <a:r>
              <a:rPr lang="en-US" sz="1800" dirty="0" err="1" smtClean="0"/>
              <a:t>async</a:t>
            </a:r>
            <a:r>
              <a:rPr lang="en-US" sz="1800" dirty="0" smtClean="0"/>
              <a:t> function appears to throw an exception, then the Promise object that it returns will be rejected with that exception.</a:t>
            </a:r>
            <a:endParaRPr lang="en-US" sz="1800" dirty="0"/>
          </a:p>
        </p:txBody>
      </p:sp>
      <p:sp>
        <p:nvSpPr>
          <p:cNvPr id="5" name="Rectangle 4"/>
          <p:cNvSpPr/>
          <p:nvPr/>
        </p:nvSpPr>
        <p:spPr>
          <a:xfrm>
            <a:off x="533400" y="2667000"/>
            <a:ext cx="8077200" cy="1323439"/>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dirty="0" err="1" smtClean="0">
                <a:solidFill>
                  <a:srgbClr val="000089"/>
                </a:solidFill>
                <a:latin typeface="Consolas" pitchFamily="49" charset="0"/>
              </a:rPr>
              <a:t>async</a:t>
            </a:r>
            <a:r>
              <a:rPr lang="en-US" sz="1600" dirty="0" smtClean="0">
                <a:solidFill>
                  <a:srgbClr val="000089"/>
                </a:solidFill>
                <a:latin typeface="Consolas" pitchFamily="49" charset="0"/>
              </a:rPr>
              <a:t> </a:t>
            </a:r>
            <a:r>
              <a:rPr lang="en-US" sz="1600" dirty="0" smtClean="0">
                <a:solidFill>
                  <a:srgbClr val="00669A"/>
                </a:solidFill>
                <a:latin typeface="Consolas" pitchFamily="49" charset="0"/>
              </a:rPr>
              <a:t>function </a:t>
            </a:r>
            <a:r>
              <a:rPr lang="en-US" sz="1600" dirty="0" err="1" smtClean="0">
                <a:solidFill>
                  <a:srgbClr val="000089"/>
                </a:solidFill>
                <a:latin typeface="Consolas" pitchFamily="49" charset="0"/>
              </a:rPr>
              <a:t>getHighScore</a:t>
            </a:r>
            <a:r>
              <a:rPr lang="en-US" sz="1600" dirty="0" smtClean="0">
                <a:solidFill>
                  <a:srgbClr val="000000"/>
                </a:solidFill>
                <a:latin typeface="Consolas" pitchFamily="49" charset="0"/>
              </a:rPr>
              <a:t>() {</a:t>
            </a:r>
          </a:p>
          <a:p>
            <a:pPr lvl="1"/>
            <a:r>
              <a:rPr lang="en-US" sz="1600" dirty="0" smtClean="0">
                <a:solidFill>
                  <a:srgbClr val="00669A"/>
                </a:solidFill>
                <a:latin typeface="Consolas" pitchFamily="49" charset="0"/>
              </a:rPr>
              <a:t>let </a:t>
            </a:r>
            <a:r>
              <a:rPr lang="en-US" sz="1600" dirty="0" smtClean="0">
                <a:solidFill>
                  <a:srgbClr val="000089"/>
                </a:solidFill>
                <a:latin typeface="Consolas" pitchFamily="49" charset="0"/>
              </a:rPr>
              <a:t>response </a:t>
            </a:r>
            <a:r>
              <a:rPr lang="en-US" sz="1600" dirty="0" smtClean="0">
                <a:solidFill>
                  <a:srgbClr val="555555"/>
                </a:solidFill>
                <a:latin typeface="Consolas" pitchFamily="49" charset="0"/>
              </a:rPr>
              <a:t>= </a:t>
            </a:r>
            <a:r>
              <a:rPr lang="en-US" sz="1600" dirty="0" smtClean="0">
                <a:solidFill>
                  <a:srgbClr val="000089"/>
                </a:solidFill>
                <a:latin typeface="Consolas" pitchFamily="49" charset="0"/>
              </a:rPr>
              <a:t>await fetch</a:t>
            </a:r>
            <a:r>
              <a:rPr lang="en-US" sz="1600" dirty="0" smtClean="0">
                <a:solidFill>
                  <a:srgbClr val="000000"/>
                </a:solidFill>
                <a:latin typeface="Consolas" pitchFamily="49" charset="0"/>
              </a:rPr>
              <a:t>(</a:t>
            </a:r>
            <a:r>
              <a:rPr lang="en-US" sz="1600" dirty="0" smtClean="0">
                <a:solidFill>
                  <a:srgbClr val="CD3300"/>
                </a:solidFill>
                <a:latin typeface="Consolas" pitchFamily="49" charset="0"/>
              </a:rPr>
              <a:t>"/</a:t>
            </a:r>
            <a:r>
              <a:rPr lang="en-US" sz="1600" dirty="0" err="1" smtClean="0">
                <a:solidFill>
                  <a:srgbClr val="CD3300"/>
                </a:solidFill>
                <a:latin typeface="Consolas" pitchFamily="49" charset="0"/>
              </a:rPr>
              <a:t>api</a:t>
            </a:r>
            <a:r>
              <a:rPr lang="en-US" sz="1600" dirty="0" smtClean="0">
                <a:solidFill>
                  <a:srgbClr val="CD3300"/>
                </a:solidFill>
                <a:latin typeface="Consolas" pitchFamily="49" charset="0"/>
              </a:rPr>
              <a:t>/user/profile"</a:t>
            </a:r>
            <a:r>
              <a:rPr lang="en-US" sz="1600" dirty="0" smtClean="0">
                <a:solidFill>
                  <a:srgbClr val="000000"/>
                </a:solidFill>
                <a:latin typeface="Consolas" pitchFamily="49" charset="0"/>
              </a:rPr>
              <a:t>);</a:t>
            </a:r>
          </a:p>
          <a:p>
            <a:pPr lvl="1"/>
            <a:r>
              <a:rPr lang="en-US" sz="1600" dirty="0" smtClean="0">
                <a:solidFill>
                  <a:srgbClr val="00669A"/>
                </a:solidFill>
                <a:latin typeface="Consolas" pitchFamily="49" charset="0"/>
              </a:rPr>
              <a:t>let </a:t>
            </a:r>
            <a:r>
              <a:rPr lang="en-US" sz="1600" dirty="0" smtClean="0">
                <a:solidFill>
                  <a:srgbClr val="000089"/>
                </a:solidFill>
                <a:latin typeface="Consolas" pitchFamily="49" charset="0"/>
              </a:rPr>
              <a:t>profile </a:t>
            </a:r>
            <a:r>
              <a:rPr lang="en-US" sz="1600" dirty="0" smtClean="0">
                <a:solidFill>
                  <a:srgbClr val="555555"/>
                </a:solidFill>
                <a:latin typeface="Consolas" pitchFamily="49" charset="0"/>
              </a:rPr>
              <a:t>= </a:t>
            </a:r>
            <a:r>
              <a:rPr lang="en-US" sz="1600" dirty="0" smtClean="0">
                <a:solidFill>
                  <a:srgbClr val="000089"/>
                </a:solidFill>
                <a:latin typeface="Consolas" pitchFamily="49" charset="0"/>
              </a:rPr>
              <a:t>await </a:t>
            </a:r>
            <a:r>
              <a:rPr lang="en-US" sz="1600" dirty="0" err="1" smtClean="0">
                <a:solidFill>
                  <a:srgbClr val="000089"/>
                </a:solidFill>
                <a:latin typeface="Consolas" pitchFamily="49" charset="0"/>
              </a:rPr>
              <a:t>response</a:t>
            </a:r>
            <a:r>
              <a:rPr lang="en-US" sz="1600" dirty="0" err="1" smtClean="0">
                <a:solidFill>
                  <a:srgbClr val="000000"/>
                </a:solidFill>
                <a:latin typeface="Consolas" pitchFamily="49" charset="0"/>
              </a:rPr>
              <a:t>.</a:t>
            </a:r>
            <a:r>
              <a:rPr lang="en-US" sz="1600" dirty="0" err="1" smtClean="0">
                <a:solidFill>
                  <a:srgbClr val="000089"/>
                </a:solidFill>
                <a:latin typeface="Consolas" pitchFamily="49" charset="0"/>
              </a:rPr>
              <a:t>json</a:t>
            </a:r>
            <a:r>
              <a:rPr lang="en-US" sz="1600" dirty="0" smtClean="0">
                <a:solidFill>
                  <a:srgbClr val="000000"/>
                </a:solidFill>
                <a:latin typeface="Consolas" pitchFamily="49" charset="0"/>
              </a:rPr>
              <a:t>();</a:t>
            </a:r>
          </a:p>
          <a:p>
            <a:pPr lvl="1"/>
            <a:r>
              <a:rPr lang="en-US" sz="1600" dirty="0" smtClean="0">
                <a:solidFill>
                  <a:srgbClr val="00669A"/>
                </a:solidFill>
                <a:latin typeface="Consolas" pitchFamily="49" charset="0"/>
              </a:rPr>
              <a:t>return </a:t>
            </a:r>
            <a:r>
              <a:rPr lang="en-US" sz="1600" dirty="0" err="1" smtClean="0">
                <a:solidFill>
                  <a:srgbClr val="000089"/>
                </a:solidFill>
                <a:latin typeface="Consolas" pitchFamily="49" charset="0"/>
              </a:rPr>
              <a:t>profile</a:t>
            </a:r>
            <a:r>
              <a:rPr lang="en-US" sz="1600" dirty="0" err="1" smtClean="0">
                <a:solidFill>
                  <a:srgbClr val="000000"/>
                </a:solidFill>
                <a:latin typeface="Consolas" pitchFamily="49" charset="0"/>
              </a:rPr>
              <a:t>.</a:t>
            </a:r>
            <a:r>
              <a:rPr lang="en-US" sz="1600" dirty="0" err="1" smtClean="0">
                <a:solidFill>
                  <a:srgbClr val="000089"/>
                </a:solidFill>
                <a:latin typeface="Consolas" pitchFamily="49" charset="0"/>
              </a:rPr>
              <a:t>highScore</a:t>
            </a:r>
            <a:r>
              <a:rPr lang="en-US" sz="1600" dirty="0" smtClean="0">
                <a:solidFill>
                  <a:srgbClr val="000000"/>
                </a:solidFill>
                <a:latin typeface="Consolas" pitchFamily="49" charset="0"/>
              </a:rPr>
              <a:t>;</a:t>
            </a:r>
          </a:p>
          <a:p>
            <a:r>
              <a:rPr lang="en-US" sz="1600" dirty="0" smtClean="0">
                <a:solidFill>
                  <a:srgbClr val="000000"/>
                </a:solidFill>
                <a:latin typeface="Consolas" pitchFamily="49" charset="0"/>
              </a:rPr>
              <a:t>}</a:t>
            </a:r>
            <a:endParaRPr lang="en-US" sz="1600" dirty="0" smtClean="0">
              <a:latin typeface="Consolas"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The </a:t>
            </a:r>
            <a:r>
              <a:rPr lang="en-US" dirty="0" smtClean="0">
                <a:latin typeface="Consolas" pitchFamily="49" charset="0"/>
              </a:rPr>
              <a:t>for/await</a:t>
            </a:r>
            <a:r>
              <a:rPr lang="en-US" dirty="0" smtClean="0"/>
              <a:t> Loop</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2000" dirty="0" smtClean="0"/>
              <a:t>Node 12 makes its readable streams </a:t>
            </a:r>
            <a:r>
              <a:rPr lang="en-US" sz="2000" i="1" dirty="0" smtClean="0">
                <a:solidFill>
                  <a:srgbClr val="C00000"/>
                </a:solidFill>
              </a:rPr>
              <a:t>asynchronously </a:t>
            </a:r>
            <a:r>
              <a:rPr lang="en-US" sz="2000" i="1" dirty="0" err="1" smtClean="0">
                <a:solidFill>
                  <a:srgbClr val="C00000"/>
                </a:solidFill>
              </a:rPr>
              <a:t>iterable</a:t>
            </a:r>
            <a:r>
              <a:rPr lang="en-US" sz="2000" dirty="0" smtClean="0"/>
              <a:t>.</a:t>
            </a:r>
          </a:p>
          <a:p>
            <a:r>
              <a:rPr lang="en-US" sz="2000" dirty="0" smtClean="0"/>
              <a:t>This means you can read successive chunks of data from a stream with a for/await loop like this one:</a:t>
            </a:r>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r>
              <a:rPr lang="en-US" sz="2000" dirty="0" smtClean="0"/>
              <a:t>Roughly speaking, the asynchronous </a:t>
            </a:r>
            <a:r>
              <a:rPr lang="en-US" sz="2000" dirty="0" err="1" smtClean="0"/>
              <a:t>iterator</a:t>
            </a:r>
            <a:r>
              <a:rPr lang="en-US" sz="2000" dirty="0" smtClean="0"/>
              <a:t> produces a Promise and the for/await loop waits for that Promise to fulfill, assigns the fulfillment value to the loop variable, and runs the body of the loop.</a:t>
            </a:r>
            <a:endParaRPr lang="en-US" sz="2000" dirty="0"/>
          </a:p>
        </p:txBody>
      </p:sp>
      <p:sp>
        <p:nvSpPr>
          <p:cNvPr id="5" name="Rectangle 4"/>
          <p:cNvSpPr/>
          <p:nvPr/>
        </p:nvSpPr>
        <p:spPr>
          <a:xfrm>
            <a:off x="533400" y="2943761"/>
            <a:ext cx="8077200" cy="1815882"/>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dirty="0" smtClean="0">
                <a:solidFill>
                  <a:srgbClr val="00669A"/>
                </a:solidFill>
                <a:latin typeface="Consolas" pitchFamily="49" charset="0"/>
              </a:rPr>
              <a:t>const </a:t>
            </a:r>
            <a:r>
              <a:rPr lang="en-US" sz="1600" dirty="0" err="1" smtClean="0">
                <a:solidFill>
                  <a:srgbClr val="000089"/>
                </a:solidFill>
                <a:latin typeface="Consolas" pitchFamily="49" charset="0"/>
              </a:rPr>
              <a:t>fs</a:t>
            </a:r>
            <a:r>
              <a:rPr lang="en-US" sz="1600" dirty="0" smtClean="0">
                <a:solidFill>
                  <a:srgbClr val="000089"/>
                </a:solidFill>
                <a:latin typeface="Consolas" pitchFamily="49" charset="0"/>
              </a:rPr>
              <a:t> </a:t>
            </a:r>
            <a:r>
              <a:rPr lang="en-US" sz="1600" dirty="0" smtClean="0">
                <a:solidFill>
                  <a:srgbClr val="555555"/>
                </a:solidFill>
                <a:latin typeface="Consolas" pitchFamily="49" charset="0"/>
              </a:rPr>
              <a:t>= </a:t>
            </a:r>
            <a:r>
              <a:rPr lang="en-US" sz="1600" dirty="0" smtClean="0">
                <a:solidFill>
                  <a:srgbClr val="000089"/>
                </a:solidFill>
                <a:latin typeface="Consolas" pitchFamily="49" charset="0"/>
              </a:rPr>
              <a:t>require</a:t>
            </a:r>
            <a:r>
              <a:rPr lang="en-US" sz="1600" dirty="0" smtClean="0">
                <a:solidFill>
                  <a:srgbClr val="000000"/>
                </a:solidFill>
                <a:latin typeface="Consolas" pitchFamily="49" charset="0"/>
              </a:rPr>
              <a:t>(</a:t>
            </a:r>
            <a:r>
              <a:rPr lang="en-US" sz="1600" dirty="0" smtClean="0">
                <a:solidFill>
                  <a:srgbClr val="CD3300"/>
                </a:solidFill>
                <a:latin typeface="Consolas" pitchFamily="49" charset="0"/>
              </a:rPr>
              <a:t>"</a:t>
            </a:r>
            <a:r>
              <a:rPr lang="en-US" sz="1600" dirty="0" err="1" smtClean="0">
                <a:solidFill>
                  <a:srgbClr val="CD3300"/>
                </a:solidFill>
                <a:latin typeface="Consolas" pitchFamily="49" charset="0"/>
              </a:rPr>
              <a:t>fs</a:t>
            </a:r>
            <a:r>
              <a:rPr lang="en-US" sz="1600" dirty="0" smtClean="0">
                <a:solidFill>
                  <a:srgbClr val="CD3300"/>
                </a:solidFill>
                <a:latin typeface="Consolas" pitchFamily="49" charset="0"/>
              </a:rPr>
              <a:t>"</a:t>
            </a:r>
            <a:r>
              <a:rPr lang="en-US" sz="1600" dirty="0" smtClean="0">
                <a:solidFill>
                  <a:srgbClr val="000000"/>
                </a:solidFill>
                <a:latin typeface="Consolas" pitchFamily="49" charset="0"/>
              </a:rPr>
              <a:t>);</a:t>
            </a:r>
          </a:p>
          <a:p>
            <a:r>
              <a:rPr lang="en-US" sz="1600" dirty="0" err="1" smtClean="0">
                <a:solidFill>
                  <a:srgbClr val="000089"/>
                </a:solidFill>
                <a:latin typeface="Consolas" pitchFamily="49" charset="0"/>
              </a:rPr>
              <a:t>async</a:t>
            </a:r>
            <a:r>
              <a:rPr lang="en-US" sz="1600" dirty="0" smtClean="0">
                <a:solidFill>
                  <a:srgbClr val="000089"/>
                </a:solidFill>
                <a:latin typeface="Consolas" pitchFamily="49" charset="0"/>
              </a:rPr>
              <a:t> </a:t>
            </a:r>
            <a:r>
              <a:rPr lang="en-US" sz="1600" dirty="0" smtClean="0">
                <a:solidFill>
                  <a:srgbClr val="00669A"/>
                </a:solidFill>
                <a:latin typeface="Consolas" pitchFamily="49" charset="0"/>
              </a:rPr>
              <a:t>function </a:t>
            </a:r>
            <a:r>
              <a:rPr lang="en-US" sz="1600" dirty="0" err="1" smtClean="0">
                <a:solidFill>
                  <a:srgbClr val="000089"/>
                </a:solidFill>
                <a:latin typeface="Consolas" pitchFamily="49" charset="0"/>
              </a:rPr>
              <a:t>parseFile</a:t>
            </a:r>
            <a:r>
              <a:rPr lang="en-US" sz="1600" dirty="0" smtClean="0">
                <a:solidFill>
                  <a:srgbClr val="000000"/>
                </a:solidFill>
                <a:latin typeface="Consolas" pitchFamily="49" charset="0"/>
              </a:rPr>
              <a:t>(</a:t>
            </a:r>
            <a:r>
              <a:rPr lang="en-US" sz="1600" dirty="0" smtClean="0">
                <a:solidFill>
                  <a:srgbClr val="000089"/>
                </a:solidFill>
                <a:latin typeface="Consolas" pitchFamily="49" charset="0"/>
              </a:rPr>
              <a:t>filename</a:t>
            </a:r>
            <a:r>
              <a:rPr lang="en-US" sz="1600" dirty="0" smtClean="0">
                <a:solidFill>
                  <a:srgbClr val="000000"/>
                </a:solidFill>
                <a:latin typeface="Consolas" pitchFamily="49" charset="0"/>
              </a:rPr>
              <a:t>) {</a:t>
            </a:r>
          </a:p>
          <a:p>
            <a:pPr lvl="1"/>
            <a:r>
              <a:rPr lang="en-US" sz="1600" dirty="0" smtClean="0">
                <a:solidFill>
                  <a:srgbClr val="00669A"/>
                </a:solidFill>
                <a:latin typeface="Consolas" pitchFamily="49" charset="0"/>
              </a:rPr>
              <a:t>let </a:t>
            </a:r>
            <a:r>
              <a:rPr lang="en-US" sz="1600" dirty="0" smtClean="0">
                <a:solidFill>
                  <a:srgbClr val="000089"/>
                </a:solidFill>
                <a:latin typeface="Consolas" pitchFamily="49" charset="0"/>
              </a:rPr>
              <a:t>stream </a:t>
            </a:r>
            <a:r>
              <a:rPr lang="en-US" sz="1600" dirty="0" smtClean="0">
                <a:solidFill>
                  <a:srgbClr val="555555"/>
                </a:solidFill>
                <a:latin typeface="Consolas" pitchFamily="49" charset="0"/>
              </a:rPr>
              <a:t>= </a:t>
            </a:r>
            <a:r>
              <a:rPr lang="en-US" sz="1600" dirty="0" err="1" smtClean="0">
                <a:solidFill>
                  <a:srgbClr val="000089"/>
                </a:solidFill>
                <a:latin typeface="Consolas" pitchFamily="49" charset="0"/>
              </a:rPr>
              <a:t>fs</a:t>
            </a:r>
            <a:r>
              <a:rPr lang="en-US" sz="1600" dirty="0" err="1" smtClean="0">
                <a:solidFill>
                  <a:srgbClr val="000000"/>
                </a:solidFill>
                <a:latin typeface="Consolas" pitchFamily="49" charset="0"/>
              </a:rPr>
              <a:t>.</a:t>
            </a:r>
            <a:r>
              <a:rPr lang="en-US" sz="1600" dirty="0" err="1" smtClean="0">
                <a:solidFill>
                  <a:srgbClr val="000089"/>
                </a:solidFill>
                <a:latin typeface="Consolas" pitchFamily="49" charset="0"/>
              </a:rPr>
              <a:t>createReadStream</a:t>
            </a:r>
            <a:r>
              <a:rPr lang="en-US" sz="1600" dirty="0" smtClean="0">
                <a:solidFill>
                  <a:srgbClr val="000000"/>
                </a:solidFill>
                <a:latin typeface="Consolas" pitchFamily="49" charset="0"/>
              </a:rPr>
              <a:t>(</a:t>
            </a:r>
            <a:r>
              <a:rPr lang="en-US" sz="1600" dirty="0" smtClean="0">
                <a:solidFill>
                  <a:srgbClr val="000089"/>
                </a:solidFill>
                <a:latin typeface="Consolas" pitchFamily="49" charset="0"/>
              </a:rPr>
              <a:t>filename</a:t>
            </a:r>
            <a:r>
              <a:rPr lang="en-US" sz="1600" dirty="0" smtClean="0">
                <a:solidFill>
                  <a:srgbClr val="000000"/>
                </a:solidFill>
                <a:latin typeface="Consolas" pitchFamily="49" charset="0"/>
              </a:rPr>
              <a:t>, { </a:t>
            </a:r>
            <a:r>
              <a:rPr lang="en-US" sz="1600" dirty="0" smtClean="0">
                <a:solidFill>
                  <a:srgbClr val="000089"/>
                </a:solidFill>
                <a:latin typeface="Consolas" pitchFamily="49" charset="0"/>
              </a:rPr>
              <a:t>encoding</a:t>
            </a:r>
            <a:r>
              <a:rPr lang="en-US" sz="1600" dirty="0" smtClean="0">
                <a:solidFill>
                  <a:srgbClr val="555555"/>
                </a:solidFill>
                <a:latin typeface="Consolas" pitchFamily="49" charset="0"/>
              </a:rPr>
              <a:t>: </a:t>
            </a:r>
            <a:r>
              <a:rPr lang="en-US" sz="1600" dirty="0" smtClean="0">
                <a:solidFill>
                  <a:srgbClr val="CD3300"/>
                </a:solidFill>
                <a:latin typeface="Consolas" pitchFamily="49" charset="0"/>
              </a:rPr>
              <a:t>"utf-8"</a:t>
            </a:r>
            <a:r>
              <a:rPr lang="en-US" sz="1600" dirty="0" smtClean="0">
                <a:solidFill>
                  <a:srgbClr val="000000"/>
                </a:solidFill>
                <a:latin typeface="Consolas" pitchFamily="49" charset="0"/>
              </a:rPr>
              <a:t>});</a:t>
            </a:r>
          </a:p>
          <a:p>
            <a:pPr lvl="1"/>
            <a:r>
              <a:rPr lang="en-US" sz="1600" dirty="0" smtClean="0">
                <a:solidFill>
                  <a:srgbClr val="00669A"/>
                </a:solidFill>
                <a:latin typeface="Consolas" pitchFamily="49" charset="0"/>
              </a:rPr>
              <a:t>for </a:t>
            </a:r>
            <a:r>
              <a:rPr lang="en-US" sz="1600" dirty="0" smtClean="0">
                <a:solidFill>
                  <a:srgbClr val="000089"/>
                </a:solidFill>
                <a:latin typeface="Consolas" pitchFamily="49" charset="0"/>
              </a:rPr>
              <a:t>await </a:t>
            </a:r>
            <a:r>
              <a:rPr lang="en-US" sz="1600" dirty="0" smtClean="0">
                <a:solidFill>
                  <a:srgbClr val="000000"/>
                </a:solidFill>
                <a:latin typeface="Consolas" pitchFamily="49" charset="0"/>
              </a:rPr>
              <a:t>(</a:t>
            </a:r>
            <a:r>
              <a:rPr lang="en-US" sz="1600" dirty="0" smtClean="0">
                <a:solidFill>
                  <a:srgbClr val="00669A"/>
                </a:solidFill>
                <a:latin typeface="Consolas" pitchFamily="49" charset="0"/>
              </a:rPr>
              <a:t>let </a:t>
            </a:r>
            <a:r>
              <a:rPr lang="en-US" sz="1600" dirty="0" smtClean="0">
                <a:solidFill>
                  <a:srgbClr val="000089"/>
                </a:solidFill>
                <a:latin typeface="Consolas" pitchFamily="49" charset="0"/>
              </a:rPr>
              <a:t>chunk </a:t>
            </a:r>
            <a:r>
              <a:rPr lang="en-US" sz="1600" dirty="0" smtClean="0">
                <a:solidFill>
                  <a:srgbClr val="00669A"/>
                </a:solidFill>
                <a:latin typeface="Consolas" pitchFamily="49" charset="0"/>
              </a:rPr>
              <a:t>of </a:t>
            </a:r>
            <a:r>
              <a:rPr lang="en-US" sz="1600" dirty="0" smtClean="0">
                <a:solidFill>
                  <a:srgbClr val="000089"/>
                </a:solidFill>
                <a:latin typeface="Consolas" pitchFamily="49" charset="0"/>
              </a:rPr>
              <a:t>stream</a:t>
            </a:r>
            <a:r>
              <a:rPr lang="en-US" sz="1600" dirty="0" smtClean="0">
                <a:solidFill>
                  <a:srgbClr val="000000"/>
                </a:solidFill>
                <a:latin typeface="Consolas" pitchFamily="49" charset="0"/>
              </a:rPr>
              <a:t>) {</a:t>
            </a:r>
          </a:p>
          <a:p>
            <a:pPr lvl="1"/>
            <a:r>
              <a:rPr lang="en-US" sz="1600" dirty="0" smtClean="0">
                <a:solidFill>
                  <a:srgbClr val="000089"/>
                </a:solidFill>
                <a:latin typeface="Consolas" pitchFamily="49" charset="0"/>
              </a:rPr>
              <a:t>	</a:t>
            </a:r>
            <a:r>
              <a:rPr lang="en-US" sz="1600" dirty="0" err="1" smtClean="0">
                <a:solidFill>
                  <a:srgbClr val="000089"/>
                </a:solidFill>
                <a:latin typeface="Consolas" pitchFamily="49" charset="0"/>
              </a:rPr>
              <a:t>parseChunk</a:t>
            </a:r>
            <a:r>
              <a:rPr lang="en-US" sz="1600" dirty="0" smtClean="0">
                <a:solidFill>
                  <a:srgbClr val="000000"/>
                </a:solidFill>
                <a:latin typeface="Consolas" pitchFamily="49" charset="0"/>
              </a:rPr>
              <a:t>(</a:t>
            </a:r>
            <a:r>
              <a:rPr lang="en-US" sz="1600" dirty="0" smtClean="0">
                <a:solidFill>
                  <a:srgbClr val="000089"/>
                </a:solidFill>
                <a:latin typeface="Consolas" pitchFamily="49" charset="0"/>
              </a:rPr>
              <a:t>chunk</a:t>
            </a:r>
            <a:r>
              <a:rPr lang="en-US" sz="1600" dirty="0" smtClean="0">
                <a:solidFill>
                  <a:srgbClr val="000000"/>
                </a:solidFill>
                <a:latin typeface="Consolas" pitchFamily="49" charset="0"/>
              </a:rPr>
              <a:t>); </a:t>
            </a:r>
            <a:r>
              <a:rPr lang="en-US" sz="1600" i="1" dirty="0" smtClean="0">
                <a:solidFill>
                  <a:srgbClr val="35586C"/>
                </a:solidFill>
                <a:latin typeface="Consolas" pitchFamily="49" charset="0"/>
              </a:rPr>
              <a:t>// Assume </a:t>
            </a:r>
            <a:r>
              <a:rPr lang="en-US" sz="1600" i="1" dirty="0" err="1" smtClean="0">
                <a:solidFill>
                  <a:srgbClr val="35586C"/>
                </a:solidFill>
                <a:latin typeface="Consolas" pitchFamily="49" charset="0"/>
              </a:rPr>
              <a:t>parseChunk</a:t>
            </a:r>
            <a:r>
              <a:rPr lang="en-US" sz="1600" i="1" dirty="0" smtClean="0">
                <a:solidFill>
                  <a:srgbClr val="35586C"/>
                </a:solidFill>
                <a:latin typeface="Consolas" pitchFamily="49" charset="0"/>
              </a:rPr>
              <a:t>() is defined elsewhere</a:t>
            </a:r>
          </a:p>
          <a:p>
            <a:pPr lvl="1"/>
            <a:r>
              <a:rPr lang="en-US" sz="1600" dirty="0" smtClean="0">
                <a:solidFill>
                  <a:srgbClr val="000000"/>
                </a:solidFill>
                <a:latin typeface="Consolas" pitchFamily="49" charset="0"/>
              </a:rPr>
              <a:t>}</a:t>
            </a:r>
          </a:p>
          <a:p>
            <a:r>
              <a:rPr lang="en-US" sz="1600" dirty="0" smtClean="0">
                <a:solidFill>
                  <a:srgbClr val="000000"/>
                </a:solidFill>
                <a:latin typeface="Consolas" pitchFamily="49" charset="0"/>
              </a:rPr>
              <a:t>}</a:t>
            </a:r>
            <a:endParaRPr lang="en-US" sz="1600" dirty="0" smtClean="0">
              <a:latin typeface="Consolas"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Asynchronous </a:t>
            </a:r>
            <a:r>
              <a:rPr lang="en-US" dirty="0" err="1" smtClean="0"/>
              <a:t>Iterators</a:t>
            </a:r>
            <a:endParaRPr lang="en-US" b="1" dirty="0">
              <a:latin typeface="Consolas" pitchFamily="49" charset="0"/>
            </a:endParaRPr>
          </a:p>
        </p:txBody>
      </p:sp>
      <p:sp>
        <p:nvSpPr>
          <p:cNvPr id="3" name="Content Placeholder 2"/>
          <p:cNvSpPr>
            <a:spLocks noGrp="1"/>
          </p:cNvSpPr>
          <p:nvPr>
            <p:ph idx="1"/>
          </p:nvPr>
        </p:nvSpPr>
        <p:spPr/>
        <p:txBody>
          <a:bodyPr>
            <a:noAutofit/>
          </a:bodyPr>
          <a:lstStyle/>
          <a:p>
            <a:r>
              <a:rPr lang="en-US" sz="1800" dirty="0" smtClean="0"/>
              <a:t>An </a:t>
            </a:r>
            <a:r>
              <a:rPr lang="en-US" sz="1800" dirty="0" err="1" smtClean="0"/>
              <a:t>iterable</a:t>
            </a:r>
            <a:r>
              <a:rPr lang="en-US" sz="1800" dirty="0" smtClean="0"/>
              <a:t> object is one that can be used with a for/of loop.</a:t>
            </a:r>
          </a:p>
          <a:p>
            <a:r>
              <a:rPr lang="en-US" sz="1800" dirty="0" smtClean="0"/>
              <a:t>It defines a method with the symbolic name </a:t>
            </a:r>
            <a:r>
              <a:rPr lang="en-US" sz="1800" dirty="0" err="1" smtClean="0"/>
              <a:t>Symbol.iterator</a:t>
            </a:r>
            <a:r>
              <a:rPr lang="en-US" sz="1800" dirty="0" smtClean="0"/>
              <a:t>. This method returns an </a:t>
            </a:r>
            <a:r>
              <a:rPr lang="en-US" sz="1800" dirty="0" err="1" smtClean="0"/>
              <a:t>iterator</a:t>
            </a:r>
            <a:r>
              <a:rPr lang="en-US" sz="1800" dirty="0" smtClean="0"/>
              <a:t> object.</a:t>
            </a:r>
          </a:p>
          <a:p>
            <a:r>
              <a:rPr lang="en-US" sz="1800" dirty="0" smtClean="0"/>
              <a:t>The </a:t>
            </a:r>
            <a:r>
              <a:rPr lang="en-US" sz="1800" dirty="0" err="1" smtClean="0"/>
              <a:t>iterator</a:t>
            </a:r>
            <a:r>
              <a:rPr lang="en-US" sz="1800" dirty="0" smtClean="0"/>
              <a:t> object has a next() method, which can be called repeatedly to obtain the values of the </a:t>
            </a:r>
            <a:r>
              <a:rPr lang="en-US" sz="1800" dirty="0" err="1" smtClean="0"/>
              <a:t>iterable</a:t>
            </a:r>
            <a:r>
              <a:rPr lang="en-US" sz="1800" dirty="0" smtClean="0"/>
              <a:t> object.</a:t>
            </a:r>
          </a:p>
          <a:p>
            <a:r>
              <a:rPr lang="en-US" sz="1800" dirty="0" smtClean="0"/>
              <a:t>The next() method of the </a:t>
            </a:r>
            <a:r>
              <a:rPr lang="en-US" sz="1800" dirty="0" err="1" smtClean="0"/>
              <a:t>iterator</a:t>
            </a:r>
            <a:r>
              <a:rPr lang="en-US" sz="1800" dirty="0" smtClean="0"/>
              <a:t> object returns iteration result objects. The iteration result object has a value property and/or a done property.</a:t>
            </a:r>
          </a:p>
          <a:p>
            <a:r>
              <a:rPr lang="en-US" sz="1800" dirty="0" smtClean="0"/>
              <a:t>Asynchronous </a:t>
            </a:r>
            <a:r>
              <a:rPr lang="en-US" sz="1800" dirty="0" err="1" smtClean="0"/>
              <a:t>iterators</a:t>
            </a:r>
            <a:r>
              <a:rPr lang="en-US" sz="1800" dirty="0" smtClean="0"/>
              <a:t> are quite similar to regular </a:t>
            </a:r>
            <a:r>
              <a:rPr lang="en-US" sz="1800" dirty="0" err="1" smtClean="0"/>
              <a:t>iterators</a:t>
            </a:r>
            <a:r>
              <a:rPr lang="en-US" sz="1800" dirty="0" smtClean="0"/>
              <a:t>, but there are two important differences.</a:t>
            </a:r>
          </a:p>
          <a:p>
            <a:r>
              <a:rPr lang="en-US" sz="1800" dirty="0" smtClean="0"/>
              <a:t>First, an asynchronously </a:t>
            </a:r>
            <a:r>
              <a:rPr lang="en-US" sz="1800" dirty="0" err="1" smtClean="0"/>
              <a:t>iterable</a:t>
            </a:r>
            <a:r>
              <a:rPr lang="en-US" sz="1800" dirty="0" smtClean="0"/>
              <a:t> object implements a method with the symbolic name </a:t>
            </a:r>
            <a:r>
              <a:rPr lang="en-US" sz="1800" dirty="0" err="1" smtClean="0"/>
              <a:t>Symbol.asyncIterator</a:t>
            </a:r>
            <a:r>
              <a:rPr lang="en-US" sz="1800" dirty="0" smtClean="0"/>
              <a:t> instead of </a:t>
            </a:r>
            <a:r>
              <a:rPr lang="en-US" sz="1800" dirty="0" err="1" smtClean="0"/>
              <a:t>Symbol.iterator</a:t>
            </a:r>
            <a:r>
              <a:rPr lang="en-US" sz="1800" dirty="0" smtClean="0"/>
              <a:t>.</a:t>
            </a:r>
          </a:p>
          <a:p>
            <a:r>
              <a:rPr lang="en-US" sz="1800" dirty="0" smtClean="0"/>
              <a:t>Second, the next() method of an asynchronous </a:t>
            </a:r>
            <a:r>
              <a:rPr lang="en-US" sz="1800" dirty="0" err="1" smtClean="0"/>
              <a:t>iterator</a:t>
            </a:r>
            <a:r>
              <a:rPr lang="en-US" sz="1800" dirty="0" smtClean="0"/>
              <a:t> returns a Promise that resolves to an </a:t>
            </a:r>
            <a:r>
              <a:rPr lang="en-US" sz="1800" dirty="0" err="1" smtClean="0"/>
              <a:t>iterator</a:t>
            </a:r>
            <a:r>
              <a:rPr lang="en-US" sz="1800" dirty="0" smtClean="0"/>
              <a:t> result object instead of returning an </a:t>
            </a:r>
            <a:r>
              <a:rPr lang="en-US" sz="1800" dirty="0" err="1" smtClean="0"/>
              <a:t>iterator</a:t>
            </a:r>
            <a:r>
              <a:rPr lang="en-US" sz="1800" dirty="0" smtClean="0"/>
              <a:t> result object directly.</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Nodejs</a:t>
            </a:r>
            <a:r>
              <a:rPr lang="en-US" dirty="0" smtClean="0"/>
              <a:t> Worker Threads</a:t>
            </a:r>
            <a:endParaRPr lang="en-US" dirty="0"/>
          </a:p>
        </p:txBody>
      </p:sp>
      <p:sp>
        <p:nvSpPr>
          <p:cNvPr id="3" name="Content Placeholder 2"/>
          <p:cNvSpPr>
            <a:spLocks noGrp="1"/>
          </p:cNvSpPr>
          <p:nvPr>
            <p:ph idx="1"/>
          </p:nvPr>
        </p:nvSpPr>
        <p:spPr/>
        <p:txBody>
          <a:bodyPr>
            <a:normAutofit/>
          </a:bodyPr>
          <a:lstStyle/>
          <a:p>
            <a:r>
              <a:rPr lang="en-US" sz="2400" dirty="0" smtClean="0">
                <a:hlinkClick r:id="rId2"/>
              </a:rPr>
              <a:t>https://www.simplilearn.com/tutorials/nodejs-tutorial/nodejs-worker-threads</a:t>
            </a:r>
            <a:endParaRPr lang="en-US" sz="2400" dirty="0" smtClean="0"/>
          </a:p>
          <a:p>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Workers</a:t>
            </a:r>
            <a:endParaRPr lang="en-US" dirty="0"/>
          </a:p>
        </p:txBody>
      </p:sp>
      <p:sp>
        <p:nvSpPr>
          <p:cNvPr id="3" name="Content Placeholder 2"/>
          <p:cNvSpPr>
            <a:spLocks noGrp="1"/>
          </p:cNvSpPr>
          <p:nvPr>
            <p:ph idx="1"/>
          </p:nvPr>
        </p:nvSpPr>
        <p:spPr/>
        <p:txBody>
          <a:bodyPr>
            <a:normAutofit/>
          </a:bodyPr>
          <a:lstStyle/>
          <a:p>
            <a:r>
              <a:rPr lang="en-US" sz="2400" dirty="0" smtClean="0">
                <a:hlinkClick r:id="rId2"/>
              </a:rPr>
              <a:t>https://www.freecodecamp.org/news/how-webworkers-work-in-javascript-with-example/</a:t>
            </a:r>
            <a:endParaRPr lang="en-US" sz="2400" dirty="0" smtClean="0"/>
          </a:p>
          <a:p>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r>
              <a:rPr lang="en-US" sz="2200" dirty="0" smtClean="0">
                <a:hlinkClick r:id="rId2"/>
              </a:rPr>
              <a:t>https://developer.mozilla.org/en-US/docs/Web/API/Web_Workers_API/Using_web_workers</a:t>
            </a:r>
            <a:endParaRPr lang="en-US" sz="2200" dirty="0" smtClean="0"/>
          </a:p>
          <a:p>
            <a:r>
              <a:rPr lang="en-US" sz="2200" dirty="0" smtClean="0">
                <a:hlinkClick r:id="rId3"/>
              </a:rPr>
              <a:t>https://nodejs.org/api/worker_threads.html</a:t>
            </a:r>
            <a:endParaRPr lang="en-US" sz="2200" dirty="0" smtClean="0"/>
          </a:p>
          <a:p>
            <a:endParaRPr lang="en-US" sz="2200" dirty="0" smtClean="0"/>
          </a:p>
        </p:txBody>
      </p:sp>
      <p:pic>
        <p:nvPicPr>
          <p:cNvPr id="4" name="Picture 2" descr="http://www.4aplus.com/wp-content/uploads/2014/02/shutterstock_74085415-1024x682.jpg"/>
          <p:cNvPicPr>
            <a:picLocks noChangeAspect="1" noChangeArrowheads="1"/>
          </p:cNvPicPr>
          <p:nvPr/>
        </p:nvPicPr>
        <p:blipFill>
          <a:blip r:embed="rId4" cstate="print"/>
          <a:srcRect/>
          <a:stretch>
            <a:fillRect/>
          </a:stretch>
        </p:blipFill>
        <p:spPr bwMode="auto">
          <a:xfrm>
            <a:off x="2971800" y="3886200"/>
            <a:ext cx="3251200" cy="216535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t>Thank You &amp; See 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6811</TotalTime>
  <Words>1646</Words>
  <Application>Microsoft Office PowerPoint</Application>
  <PresentationFormat>On-screen Show (4:3)</PresentationFormat>
  <Paragraphs>286</Paragraphs>
  <Slides>42</Slides>
  <Notes>1</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Asynchronous Programming</vt:lpstr>
      <vt:lpstr>Objectives</vt:lpstr>
      <vt:lpstr>Contents</vt:lpstr>
      <vt:lpstr>References</vt:lpstr>
      <vt:lpstr>Synchronous Programming Model (I)</vt:lpstr>
      <vt:lpstr>Synchronous Programming Model (II)</vt:lpstr>
      <vt:lpstr>Asynchronous Programming Model (I)</vt:lpstr>
      <vt:lpstr>Asynchronous Programming Model (II)</vt:lpstr>
      <vt:lpstr>Concurrency</vt:lpstr>
      <vt:lpstr>JavaScript and Multithreading</vt:lpstr>
      <vt:lpstr>Slide 11</vt:lpstr>
      <vt:lpstr>Why Concurrency?</vt:lpstr>
      <vt:lpstr>setTimeout</vt:lpstr>
      <vt:lpstr>Callbacks [1]</vt:lpstr>
      <vt:lpstr>Example Callback</vt:lpstr>
      <vt:lpstr>Asynchronous Callback</vt:lpstr>
      <vt:lpstr>Asynchronous Execution</vt:lpstr>
      <vt:lpstr>Slide 18</vt:lpstr>
      <vt:lpstr>JavaScript Runtime</vt:lpstr>
      <vt:lpstr>Callback Queue</vt:lpstr>
      <vt:lpstr>Event Loop</vt:lpstr>
      <vt:lpstr>Slide 22</vt:lpstr>
      <vt:lpstr>(Client-Side) Browser Events</vt:lpstr>
      <vt:lpstr>(Client-Side) Network Events</vt:lpstr>
      <vt:lpstr>Server-Side Callbacks and Events</vt:lpstr>
      <vt:lpstr>Slide 26</vt:lpstr>
      <vt:lpstr>Callback Problem</vt:lpstr>
      <vt:lpstr>Promises</vt:lpstr>
      <vt:lpstr>1. Create Sum Function</vt:lpstr>
      <vt:lpstr>2. Create and Return a Promise</vt:lpstr>
      <vt:lpstr>3. Use the Promise</vt:lpstr>
      <vt:lpstr>Fetching a URL Example</vt:lpstr>
      <vt:lpstr>Fetching a URL Example</vt:lpstr>
      <vt:lpstr>The await Keyword</vt:lpstr>
      <vt:lpstr>async Functions</vt:lpstr>
      <vt:lpstr>The for/await Loop</vt:lpstr>
      <vt:lpstr>Asynchronous Iterators</vt:lpstr>
      <vt:lpstr>Slide 38</vt:lpstr>
      <vt:lpstr>Nodejs Worker Threads</vt:lpstr>
      <vt:lpstr>Web Workers</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Client</dc:title>
  <dc:creator>HuyBien</dc:creator>
  <cp:lastModifiedBy>Ngo Huy Bien</cp:lastModifiedBy>
  <cp:revision>3312</cp:revision>
  <dcterms:created xsi:type="dcterms:W3CDTF">2009-01-22T10:11:40Z</dcterms:created>
  <dcterms:modified xsi:type="dcterms:W3CDTF">2024-01-20T17:45:13Z</dcterms:modified>
</cp:coreProperties>
</file>