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1"/>
  </p:notesMasterIdLst>
  <p:sldIdLst>
    <p:sldId id="499" r:id="rId2"/>
    <p:sldId id="500" r:id="rId3"/>
    <p:sldId id="501" r:id="rId4"/>
    <p:sldId id="502" r:id="rId5"/>
    <p:sldId id="481" r:id="rId6"/>
    <p:sldId id="480" r:id="rId7"/>
    <p:sldId id="482" r:id="rId8"/>
    <p:sldId id="483" r:id="rId9"/>
    <p:sldId id="484" r:id="rId10"/>
    <p:sldId id="485" r:id="rId11"/>
    <p:sldId id="486" r:id="rId12"/>
    <p:sldId id="487" r:id="rId13"/>
    <p:sldId id="488" r:id="rId14"/>
    <p:sldId id="489" r:id="rId15"/>
    <p:sldId id="490" r:id="rId16"/>
    <p:sldId id="491" r:id="rId17"/>
    <p:sldId id="492" r:id="rId18"/>
    <p:sldId id="493" r:id="rId19"/>
    <p:sldId id="343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8" autoAdjust="0"/>
    <p:restoredTop sz="94667" autoAdjust="0"/>
  </p:normalViewPr>
  <p:slideViewPr>
    <p:cSldViewPr>
      <p:cViewPr>
        <p:scale>
          <a:sx n="50" d="100"/>
          <a:sy n="50" d="100"/>
        </p:scale>
        <p:origin x="-158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Redux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r>
              <a:rPr lang="en-US" sz="2400" dirty="0" err="1" smtClean="0"/>
              <a:t>Kirupa</a:t>
            </a:r>
            <a:r>
              <a:rPr lang="en-US" sz="2400" dirty="0" smtClean="0"/>
              <a:t> </a:t>
            </a:r>
            <a:r>
              <a:rPr lang="en-US" sz="2400" dirty="0" err="1" smtClean="0"/>
              <a:t>Chinnathambi</a:t>
            </a:r>
            <a:r>
              <a:rPr lang="en-US" sz="2400" dirty="0" smtClean="0"/>
              <a:t> (2018). Learning React: A Hands-On Guide to Building Web Applications Using React and </a:t>
            </a:r>
            <a:r>
              <a:rPr lang="en-US" sz="2400" dirty="0" err="1" smtClean="0"/>
              <a:t>Redux</a:t>
            </a:r>
            <a:r>
              <a:rPr lang="en-US" sz="2400" dirty="0" smtClean="0"/>
              <a:t>. Addison-Wesley Professional.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When we write complex react app it become complex to manage state object when react app grows to multiple components.</a:t>
            </a:r>
            <a:endParaRPr lang="en-US" sz="2400" dirty="0"/>
          </a:p>
        </p:txBody>
      </p:sp>
      <p:pic>
        <p:nvPicPr>
          <p:cNvPr id="2050" name="Picture 2" descr="https://miro.medium.com/max/4806/1*0RTMM_pQEpO7kJ-ex80MEA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2781300"/>
            <a:ext cx="6103620" cy="3695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State Management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147822"/>
            <a:ext cx="2763012" cy="2325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2690622"/>
            <a:ext cx="2133600" cy="3168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2462022"/>
            <a:ext cx="2266950" cy="4091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533400" y="1516559"/>
            <a:ext cx="7848600" cy="769441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dirty="0" smtClean="0"/>
              <a:t>In the </a:t>
            </a:r>
            <a:r>
              <a:rPr lang="en-US" sz="2200" dirty="0" err="1" smtClean="0"/>
              <a:t>Redux</a:t>
            </a:r>
            <a:r>
              <a:rPr lang="en-US" sz="2200" dirty="0" smtClean="0"/>
              <a:t> world, we store </a:t>
            </a:r>
            <a:r>
              <a:rPr lang="en-US" sz="2200" u="sng" dirty="0" smtClean="0"/>
              <a:t>all our application state</a:t>
            </a:r>
            <a:r>
              <a:rPr lang="en-US" sz="2200" dirty="0" smtClean="0"/>
              <a:t> in a </a:t>
            </a:r>
            <a:r>
              <a:rPr lang="en-US" sz="2200" u="sng" dirty="0" smtClean="0"/>
              <a:t>single location</a:t>
            </a:r>
            <a:r>
              <a:rPr lang="en-US" sz="2200" dirty="0" smtClean="0"/>
              <a:t> that we'll just call the Store: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Redux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525963"/>
          </a:xfrm>
        </p:spPr>
        <p:txBody>
          <a:bodyPr/>
          <a:lstStyle/>
          <a:p>
            <a:r>
              <a:rPr lang="en-US" sz="2400" dirty="0" smtClean="0"/>
              <a:t>Your entire application's state is stored in a </a:t>
            </a:r>
            <a:r>
              <a:rPr lang="en-US" sz="2400" i="1" dirty="0" smtClean="0">
                <a:solidFill>
                  <a:srgbClr val="C00000"/>
                </a:solidFill>
              </a:rPr>
              <a:t>single location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Your state should be read-only and can be modified only through </a:t>
            </a:r>
            <a:r>
              <a:rPr lang="en-US" sz="2400" i="1" dirty="0" smtClean="0">
                <a:solidFill>
                  <a:srgbClr val="C00000"/>
                </a:solidFill>
              </a:rPr>
              <a:t>actions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You specify what the final state should be. To keep things simple, your state is </a:t>
            </a:r>
            <a:r>
              <a:rPr lang="en-US" sz="2400" i="1" dirty="0" smtClean="0">
                <a:solidFill>
                  <a:srgbClr val="C00000"/>
                </a:solidFill>
              </a:rPr>
              <a:t>never modified</a:t>
            </a:r>
            <a:r>
              <a:rPr lang="en-US" sz="2400" dirty="0" smtClean="0"/>
              <a:t> or mutated. You use a </a:t>
            </a:r>
            <a:r>
              <a:rPr lang="en-US" sz="2400" i="1" dirty="0" smtClean="0">
                <a:solidFill>
                  <a:srgbClr val="C00000"/>
                </a:solidFill>
              </a:rPr>
              <a:t>reducer</a:t>
            </a:r>
            <a:r>
              <a:rPr lang="en-US" sz="2400" dirty="0" smtClean="0"/>
              <a:t> to specify what the final result of your state should be.</a:t>
            </a:r>
            <a:endParaRPr lang="en-US" sz="2400" dirty="0"/>
          </a:p>
        </p:txBody>
      </p:sp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1736089"/>
            <a:ext cx="2892137" cy="3369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 (Command) Objects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533400" y="1818144"/>
            <a:ext cx="8153400" cy="427809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</a:rPr>
              <a:t>&lt;script type="</a:t>
            </a:r>
            <a:r>
              <a:rPr lang="en-US" sz="1600" b="1" dirty="0" smtClean="0">
                <a:latin typeface="Consolas" pitchFamily="49" charset="0"/>
              </a:rPr>
              <a:t>text/</a:t>
            </a:r>
            <a:r>
              <a:rPr lang="en-US" sz="1600" b="1" dirty="0" err="1" smtClean="0">
                <a:latin typeface="Consolas" pitchFamily="49" charset="0"/>
              </a:rPr>
              <a:t>javascript</a:t>
            </a:r>
            <a:r>
              <a:rPr lang="en-US" sz="1600" dirty="0" smtClean="0">
                <a:latin typeface="Consolas" pitchFamily="49" charset="0"/>
              </a:rPr>
              <a:t>"&gt;</a:t>
            </a:r>
          </a:p>
          <a:p>
            <a:r>
              <a:rPr lang="en-US" sz="1600" dirty="0" smtClean="0">
                <a:latin typeface="Consolas" pitchFamily="49" charset="0"/>
              </a:rPr>
              <a:t>        function </a:t>
            </a:r>
            <a:r>
              <a:rPr lang="en-US" sz="1600" dirty="0" err="1" smtClean="0">
                <a:latin typeface="Consolas" pitchFamily="49" charset="0"/>
              </a:rPr>
              <a:t>addColor</a:t>
            </a:r>
            <a:r>
              <a:rPr lang="en-US" sz="1600" dirty="0" smtClean="0">
                <a:latin typeface="Consolas" pitchFamily="49" charset="0"/>
              </a:rPr>
              <a:t>(value) {</a:t>
            </a:r>
          </a:p>
          <a:p>
            <a:r>
              <a:rPr lang="en-US" sz="1600" dirty="0" smtClean="0">
                <a:latin typeface="Consolas" pitchFamily="49" charset="0"/>
              </a:rPr>
              <a:t>            // Return the action object</a:t>
            </a:r>
          </a:p>
          <a:p>
            <a:r>
              <a:rPr lang="en-US" sz="1600" dirty="0" smtClean="0">
                <a:latin typeface="Consolas" pitchFamily="49" charset="0"/>
              </a:rPr>
              <a:t>            return {</a:t>
            </a:r>
          </a:p>
          <a:p>
            <a:r>
              <a:rPr lang="en-US" sz="1600" dirty="0" smtClean="0">
                <a:latin typeface="Consolas" pitchFamily="49" charset="0"/>
              </a:rPr>
              <a:t>                type: "ADD",</a:t>
            </a:r>
          </a:p>
          <a:p>
            <a:r>
              <a:rPr lang="en-US" sz="1600" dirty="0" smtClean="0">
                <a:latin typeface="Consolas" pitchFamily="49" charset="0"/>
              </a:rPr>
              <a:t>                color: value</a:t>
            </a:r>
          </a:p>
          <a:p>
            <a:r>
              <a:rPr lang="en-US" sz="1600" dirty="0" smtClean="0">
                <a:latin typeface="Consolas" pitchFamily="49" charset="0"/>
              </a:rPr>
              <a:t>            };</a:t>
            </a:r>
          </a:p>
          <a:p>
            <a:r>
              <a:rPr lang="en-US" sz="1600" dirty="0" smtClean="0">
                <a:latin typeface="Consolas" pitchFamily="49" charset="0"/>
              </a:rPr>
              <a:t>        }</a:t>
            </a:r>
          </a:p>
          <a:p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</a:rPr>
              <a:t>        function </a:t>
            </a:r>
            <a:r>
              <a:rPr lang="en-US" sz="1600" dirty="0" err="1" smtClean="0">
                <a:latin typeface="Consolas" pitchFamily="49" charset="0"/>
              </a:rPr>
              <a:t>removeColor</a:t>
            </a:r>
            <a:r>
              <a:rPr lang="en-US" sz="1600" dirty="0" smtClean="0">
                <a:latin typeface="Consolas" pitchFamily="49" charset="0"/>
              </a:rPr>
              <a:t>(value) {</a:t>
            </a:r>
          </a:p>
          <a:p>
            <a:r>
              <a:rPr lang="en-US" sz="1600" dirty="0" smtClean="0">
                <a:latin typeface="Consolas" pitchFamily="49" charset="0"/>
              </a:rPr>
              <a:t>            // Return the action object</a:t>
            </a:r>
          </a:p>
          <a:p>
            <a:r>
              <a:rPr lang="en-US" sz="1600" dirty="0" smtClean="0">
                <a:latin typeface="Consolas" pitchFamily="49" charset="0"/>
              </a:rPr>
              <a:t>            return {</a:t>
            </a:r>
          </a:p>
          <a:p>
            <a:r>
              <a:rPr lang="en-US" sz="1600" dirty="0" smtClean="0">
                <a:latin typeface="Consolas" pitchFamily="49" charset="0"/>
              </a:rPr>
              <a:t>                type: "REMOVE",</a:t>
            </a:r>
          </a:p>
          <a:p>
            <a:r>
              <a:rPr lang="en-US" sz="1600" dirty="0" smtClean="0">
                <a:latin typeface="Consolas" pitchFamily="49" charset="0"/>
              </a:rPr>
              <a:t>                color: value</a:t>
            </a:r>
          </a:p>
          <a:p>
            <a:r>
              <a:rPr lang="en-US" sz="1600" dirty="0" smtClean="0">
                <a:latin typeface="Consolas" pitchFamily="49" charset="0"/>
              </a:rPr>
              <a:t>            };</a:t>
            </a:r>
          </a:p>
          <a:p>
            <a:r>
              <a:rPr lang="en-US" sz="1600" dirty="0" smtClean="0">
                <a:latin typeface="Consolas" pitchFamily="49" charset="0"/>
              </a:rPr>
              <a:t>        }</a:t>
            </a:r>
          </a:p>
          <a:p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  <a:endParaRPr lang="en-US" sz="16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Reducer Object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533400" y="1818144"/>
            <a:ext cx="8153400" cy="440120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smtClean="0">
                <a:latin typeface="Consolas" pitchFamily="49" charset="0"/>
              </a:rPr>
              <a:t> /* Given the same arguments, it should calculate the next state and return it.</a:t>
            </a:r>
          </a:p>
          <a:p>
            <a:r>
              <a:rPr lang="en-US" sz="1400" dirty="0" smtClean="0">
                <a:latin typeface="Consolas" pitchFamily="49" charset="0"/>
              </a:rPr>
              <a:t>        No surprises. No side effects. No API calls. No mutations. Just a calculation. */</a:t>
            </a:r>
          </a:p>
          <a:p>
            <a:r>
              <a:rPr lang="en-US" sz="1400" dirty="0" smtClean="0">
                <a:latin typeface="Consolas" pitchFamily="49" charset="0"/>
              </a:rPr>
              <a:t>        function </a:t>
            </a:r>
            <a:r>
              <a:rPr lang="en-US" sz="1400" dirty="0" err="1" smtClean="0">
                <a:latin typeface="Consolas" pitchFamily="49" charset="0"/>
              </a:rPr>
              <a:t>favoriteColors</a:t>
            </a:r>
            <a:r>
              <a:rPr lang="en-US" sz="1400" dirty="0" smtClean="0">
                <a:latin typeface="Consolas" pitchFamily="49" charset="0"/>
              </a:rPr>
              <a:t>(state, action) {</a:t>
            </a:r>
          </a:p>
          <a:p>
            <a:r>
              <a:rPr lang="en-US" sz="1400" dirty="0" smtClean="0">
                <a:latin typeface="Consolas" pitchFamily="49" charset="0"/>
              </a:rPr>
              <a:t>            if (state === undefined) {</a:t>
            </a:r>
          </a:p>
          <a:p>
            <a:r>
              <a:rPr lang="en-US" sz="1400" dirty="0" smtClean="0">
                <a:latin typeface="Consolas" pitchFamily="49" charset="0"/>
              </a:rPr>
              <a:t>                state = [];</a:t>
            </a:r>
          </a:p>
          <a:p>
            <a:r>
              <a:rPr lang="en-US" sz="1400" dirty="0" smtClean="0">
                <a:latin typeface="Consolas" pitchFamily="49" charset="0"/>
              </a:rPr>
              <a:t>            }</a:t>
            </a:r>
          </a:p>
          <a:p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smtClean="0">
                <a:latin typeface="Consolas" pitchFamily="49" charset="0"/>
              </a:rPr>
              <a:t>            if (</a:t>
            </a:r>
            <a:r>
              <a:rPr lang="en-US" sz="1400" dirty="0" err="1" smtClean="0">
                <a:latin typeface="Consolas" pitchFamily="49" charset="0"/>
              </a:rPr>
              <a:t>action.type</a:t>
            </a:r>
            <a:r>
              <a:rPr lang="en-US" sz="1400" dirty="0" smtClean="0">
                <a:latin typeface="Consolas" pitchFamily="49" charset="0"/>
              </a:rPr>
              <a:t> === "ADD") {</a:t>
            </a:r>
          </a:p>
          <a:p>
            <a:r>
              <a:rPr lang="en-US" sz="1400" dirty="0" smtClean="0">
                <a:latin typeface="Consolas" pitchFamily="49" charset="0"/>
              </a:rPr>
              <a:t>                return </a:t>
            </a:r>
            <a:r>
              <a:rPr lang="en-US" sz="1400" dirty="0" err="1" smtClean="0">
                <a:latin typeface="Consolas" pitchFamily="49" charset="0"/>
              </a:rPr>
              <a:t>state.concat</a:t>
            </a:r>
            <a:r>
              <a:rPr lang="en-US" sz="1400" dirty="0" smtClean="0">
                <a:latin typeface="Consolas" pitchFamily="49" charset="0"/>
              </a:rPr>
              <a:t>(</a:t>
            </a:r>
            <a:r>
              <a:rPr lang="en-US" sz="1400" dirty="0" err="1" smtClean="0">
                <a:latin typeface="Consolas" pitchFamily="49" charset="0"/>
              </a:rPr>
              <a:t>action.color</a:t>
            </a:r>
            <a:r>
              <a:rPr lang="en-US" sz="1400" dirty="0" smtClean="0">
                <a:latin typeface="Consolas" pitchFamily="49" charset="0"/>
              </a:rPr>
              <a:t>);</a:t>
            </a:r>
          </a:p>
          <a:p>
            <a:r>
              <a:rPr lang="en-US" sz="1400" dirty="0" smtClean="0">
                <a:latin typeface="Consolas" pitchFamily="49" charset="0"/>
              </a:rPr>
              <a:t>            } else if (</a:t>
            </a:r>
            <a:r>
              <a:rPr lang="en-US" sz="1400" dirty="0" err="1" smtClean="0">
                <a:latin typeface="Consolas" pitchFamily="49" charset="0"/>
              </a:rPr>
              <a:t>action.type</a:t>
            </a:r>
            <a:r>
              <a:rPr lang="en-US" sz="1400" dirty="0" smtClean="0">
                <a:latin typeface="Consolas" pitchFamily="49" charset="0"/>
              </a:rPr>
              <a:t> === "REMOVE") {</a:t>
            </a:r>
          </a:p>
          <a:p>
            <a:r>
              <a:rPr lang="en-US" sz="1400" dirty="0" smtClean="0">
                <a:latin typeface="Consolas" pitchFamily="49" charset="0"/>
              </a:rPr>
              <a:t>                return </a:t>
            </a:r>
            <a:r>
              <a:rPr lang="en-US" sz="1400" dirty="0" err="1" smtClean="0">
                <a:latin typeface="Consolas" pitchFamily="49" charset="0"/>
              </a:rPr>
              <a:t>state.filter</a:t>
            </a:r>
            <a:r>
              <a:rPr lang="en-US" sz="1400" dirty="0" smtClean="0">
                <a:latin typeface="Consolas" pitchFamily="49" charset="0"/>
              </a:rPr>
              <a:t>(function (item) {</a:t>
            </a:r>
          </a:p>
          <a:p>
            <a:r>
              <a:rPr lang="en-US" sz="1400" dirty="0" smtClean="0">
                <a:latin typeface="Consolas" pitchFamily="49" charset="0"/>
              </a:rPr>
              <a:t>                    return item !== </a:t>
            </a:r>
            <a:r>
              <a:rPr lang="en-US" sz="1400" dirty="0" err="1" smtClean="0">
                <a:latin typeface="Consolas" pitchFamily="49" charset="0"/>
              </a:rPr>
              <a:t>action.color</a:t>
            </a:r>
            <a:r>
              <a:rPr lang="en-US" sz="1400" dirty="0" smtClean="0">
                <a:latin typeface="Consolas" pitchFamily="49" charset="0"/>
              </a:rPr>
              <a:t>;</a:t>
            </a:r>
          </a:p>
          <a:p>
            <a:r>
              <a:rPr lang="en-US" sz="1400" dirty="0" smtClean="0">
                <a:latin typeface="Consolas" pitchFamily="49" charset="0"/>
              </a:rPr>
              <a:t>                });</a:t>
            </a:r>
          </a:p>
          <a:p>
            <a:r>
              <a:rPr lang="en-US" sz="1400" dirty="0" smtClean="0">
                <a:latin typeface="Consolas" pitchFamily="49" charset="0"/>
              </a:rPr>
              <a:t>            } else {</a:t>
            </a:r>
          </a:p>
          <a:p>
            <a:r>
              <a:rPr lang="en-US" sz="1400" dirty="0" smtClean="0">
                <a:latin typeface="Consolas" pitchFamily="49" charset="0"/>
              </a:rPr>
              <a:t>                return state;</a:t>
            </a:r>
          </a:p>
          <a:p>
            <a:r>
              <a:rPr lang="en-US" sz="1400" dirty="0" smtClean="0">
                <a:latin typeface="Consolas" pitchFamily="49" charset="0"/>
              </a:rPr>
              <a:t>            }</a:t>
            </a:r>
          </a:p>
          <a:p>
            <a:r>
              <a:rPr lang="en-US" sz="1400" dirty="0" smtClean="0">
                <a:latin typeface="Consolas" pitchFamily="49" charset="0"/>
              </a:rPr>
              <a:t>        }</a:t>
            </a:r>
          </a:p>
          <a:p>
            <a:r>
              <a:rPr lang="en-US" sz="14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  <a:endParaRPr lang="en-US" sz="14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Reducer Object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533400" y="1676400"/>
            <a:ext cx="8153400" cy="280076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</a:rPr>
              <a:t> 	</a:t>
            </a:r>
            <a:r>
              <a:rPr lang="en-US" sz="1600" dirty="0" err="1" smtClean="0">
                <a:latin typeface="Consolas" pitchFamily="49" charset="0"/>
              </a:rPr>
              <a:t>var</a:t>
            </a:r>
            <a:r>
              <a:rPr lang="en-US" sz="1600" dirty="0" smtClean="0">
                <a:latin typeface="Consolas" pitchFamily="49" charset="0"/>
              </a:rPr>
              <a:t> store = </a:t>
            </a:r>
            <a:r>
              <a:rPr lang="en-US" sz="1600" dirty="0" err="1" smtClean="0">
                <a:latin typeface="Consolas" pitchFamily="49" charset="0"/>
              </a:rPr>
              <a:t>Redux.createStore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err="1" smtClean="0">
                <a:latin typeface="Consolas" pitchFamily="49" charset="0"/>
              </a:rPr>
              <a:t>favoriteColors</a:t>
            </a:r>
            <a:r>
              <a:rPr lang="en-US" sz="1600" dirty="0" smtClean="0">
                <a:latin typeface="Consolas" pitchFamily="49" charset="0"/>
              </a:rPr>
              <a:t>);</a:t>
            </a:r>
          </a:p>
          <a:p>
            <a:r>
              <a:rPr lang="en-US" sz="1600" dirty="0" smtClean="0">
                <a:latin typeface="Consolas" pitchFamily="49" charset="0"/>
              </a:rPr>
              <a:t>        </a:t>
            </a:r>
            <a:r>
              <a:rPr lang="en-US" sz="1600" dirty="0" err="1" smtClean="0">
                <a:latin typeface="Consolas" pitchFamily="49" charset="0"/>
              </a:rPr>
              <a:t>store.dispatch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err="1" smtClean="0">
                <a:latin typeface="Consolas" pitchFamily="49" charset="0"/>
              </a:rPr>
              <a:t>addColor</a:t>
            </a:r>
            <a:r>
              <a:rPr lang="en-US" sz="1600" dirty="0" smtClean="0">
                <a:latin typeface="Consolas" pitchFamily="49" charset="0"/>
              </a:rPr>
              <a:t>("blue"));</a:t>
            </a:r>
          </a:p>
          <a:p>
            <a:r>
              <a:rPr lang="en-US" sz="1600" dirty="0" smtClean="0">
                <a:latin typeface="Consolas" pitchFamily="49" charset="0"/>
              </a:rPr>
              <a:t>        </a:t>
            </a:r>
            <a:r>
              <a:rPr lang="en-US" sz="1600" dirty="0" err="1" smtClean="0">
                <a:latin typeface="Consolas" pitchFamily="49" charset="0"/>
              </a:rPr>
              <a:t>store.dispatch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err="1" smtClean="0">
                <a:latin typeface="Consolas" pitchFamily="49" charset="0"/>
              </a:rPr>
              <a:t>addColor</a:t>
            </a:r>
            <a:r>
              <a:rPr lang="en-US" sz="1600" dirty="0" smtClean="0">
                <a:latin typeface="Consolas" pitchFamily="49" charset="0"/>
              </a:rPr>
              <a:t>("yellow"));</a:t>
            </a:r>
          </a:p>
          <a:p>
            <a:r>
              <a:rPr lang="en-US" sz="1600" dirty="0" smtClean="0">
                <a:latin typeface="Consolas" pitchFamily="49" charset="0"/>
              </a:rPr>
              <a:t>        </a:t>
            </a:r>
            <a:r>
              <a:rPr lang="en-US" sz="1600" dirty="0" err="1" smtClean="0">
                <a:latin typeface="Consolas" pitchFamily="49" charset="0"/>
              </a:rPr>
              <a:t>store.dispatch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err="1" smtClean="0">
                <a:latin typeface="Consolas" pitchFamily="49" charset="0"/>
              </a:rPr>
              <a:t>addColor</a:t>
            </a:r>
            <a:r>
              <a:rPr lang="en-US" sz="1600" dirty="0" smtClean="0">
                <a:latin typeface="Consolas" pitchFamily="49" charset="0"/>
              </a:rPr>
              <a:t>("green"));</a:t>
            </a:r>
          </a:p>
          <a:p>
            <a:r>
              <a:rPr lang="en-US" sz="1600" dirty="0" smtClean="0">
                <a:latin typeface="Consolas" pitchFamily="49" charset="0"/>
              </a:rPr>
              <a:t>        </a:t>
            </a:r>
            <a:r>
              <a:rPr lang="en-US" sz="1600" dirty="0" err="1" smtClean="0">
                <a:latin typeface="Consolas" pitchFamily="49" charset="0"/>
              </a:rPr>
              <a:t>store.dispatch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err="1" smtClean="0">
                <a:latin typeface="Consolas" pitchFamily="49" charset="0"/>
              </a:rPr>
              <a:t>addColor</a:t>
            </a:r>
            <a:r>
              <a:rPr lang="en-US" sz="1600" dirty="0" smtClean="0">
                <a:latin typeface="Consolas" pitchFamily="49" charset="0"/>
              </a:rPr>
              <a:t>("red"));</a:t>
            </a:r>
          </a:p>
          <a:p>
            <a:r>
              <a:rPr lang="en-US" sz="1600" dirty="0" smtClean="0">
                <a:latin typeface="Consolas" pitchFamily="49" charset="0"/>
              </a:rPr>
              <a:t>        </a:t>
            </a:r>
            <a:r>
              <a:rPr lang="en-US" sz="1600" dirty="0" err="1" smtClean="0">
                <a:latin typeface="Consolas" pitchFamily="49" charset="0"/>
              </a:rPr>
              <a:t>store.dispatch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err="1" smtClean="0">
                <a:latin typeface="Consolas" pitchFamily="49" charset="0"/>
              </a:rPr>
              <a:t>addColor</a:t>
            </a:r>
            <a:r>
              <a:rPr lang="en-US" sz="1600" dirty="0" smtClean="0">
                <a:latin typeface="Consolas" pitchFamily="49" charset="0"/>
              </a:rPr>
              <a:t>("gray"));</a:t>
            </a:r>
          </a:p>
          <a:p>
            <a:r>
              <a:rPr lang="en-US" sz="1600" dirty="0" smtClean="0">
                <a:latin typeface="Consolas" pitchFamily="49" charset="0"/>
              </a:rPr>
              <a:t>        </a:t>
            </a:r>
            <a:r>
              <a:rPr lang="en-US" sz="1600" dirty="0" err="1" smtClean="0">
                <a:latin typeface="Consolas" pitchFamily="49" charset="0"/>
              </a:rPr>
              <a:t>store.dispatch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err="1" smtClean="0">
                <a:latin typeface="Consolas" pitchFamily="49" charset="0"/>
              </a:rPr>
              <a:t>addColor</a:t>
            </a:r>
            <a:r>
              <a:rPr lang="en-US" sz="1600" dirty="0" smtClean="0">
                <a:latin typeface="Consolas" pitchFamily="49" charset="0"/>
              </a:rPr>
              <a:t>("orange"));</a:t>
            </a:r>
          </a:p>
          <a:p>
            <a:r>
              <a:rPr lang="en-US" sz="1600" dirty="0" smtClean="0">
                <a:latin typeface="Consolas" pitchFamily="49" charset="0"/>
              </a:rPr>
              <a:t>        </a:t>
            </a:r>
            <a:r>
              <a:rPr lang="en-US" sz="1600" dirty="0" err="1" smtClean="0">
                <a:latin typeface="Consolas" pitchFamily="49" charset="0"/>
              </a:rPr>
              <a:t>store.dispatch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err="1" smtClean="0">
                <a:latin typeface="Consolas" pitchFamily="49" charset="0"/>
              </a:rPr>
              <a:t>removeColor</a:t>
            </a:r>
            <a:r>
              <a:rPr lang="en-US" sz="1600" dirty="0" smtClean="0">
                <a:latin typeface="Consolas" pitchFamily="49" charset="0"/>
              </a:rPr>
              <a:t>("gray"));</a:t>
            </a:r>
          </a:p>
          <a:p>
            <a:r>
              <a:rPr lang="en-US" sz="1600" dirty="0" smtClean="0">
                <a:latin typeface="Consolas" pitchFamily="49" charset="0"/>
              </a:rPr>
              <a:t>        console.log(</a:t>
            </a:r>
            <a:r>
              <a:rPr lang="en-US" sz="1600" dirty="0" err="1" smtClean="0">
                <a:latin typeface="Consolas" pitchFamily="49" charset="0"/>
              </a:rPr>
              <a:t>store.getState</a:t>
            </a:r>
            <a:r>
              <a:rPr lang="en-US" sz="1600" dirty="0" smtClean="0">
                <a:latin typeface="Consolas" pitchFamily="49" charset="0"/>
              </a:rPr>
              <a:t>());</a:t>
            </a:r>
          </a:p>
          <a:p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  <a:endParaRPr lang="en-US" sz="1600" dirty="0" smtClean="0">
              <a:latin typeface="Consolas" pitchFamily="49" charset="0"/>
            </a:endParaRPr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4724400"/>
            <a:ext cx="5605272" cy="1577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Changes Notification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533400" y="2086213"/>
            <a:ext cx="8153400" cy="332398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err="1" smtClean="0">
                <a:latin typeface="Consolas" pitchFamily="49" charset="0"/>
              </a:rPr>
              <a:t>var</a:t>
            </a:r>
            <a:r>
              <a:rPr lang="en-US" sz="1400" dirty="0" smtClean="0">
                <a:latin typeface="Consolas" pitchFamily="49" charset="0"/>
              </a:rPr>
              <a:t> store = </a:t>
            </a:r>
            <a:r>
              <a:rPr lang="en-US" sz="1400" dirty="0" err="1" smtClean="0">
                <a:latin typeface="Consolas" pitchFamily="49" charset="0"/>
              </a:rPr>
              <a:t>Redux.createStore</a:t>
            </a:r>
            <a:r>
              <a:rPr lang="en-US" sz="1400" dirty="0" smtClean="0">
                <a:latin typeface="Consolas" pitchFamily="49" charset="0"/>
              </a:rPr>
              <a:t>(</a:t>
            </a:r>
            <a:r>
              <a:rPr lang="en-US" sz="1400" dirty="0" err="1" smtClean="0">
                <a:latin typeface="Consolas" pitchFamily="49" charset="0"/>
              </a:rPr>
              <a:t>favoriteColors</a:t>
            </a:r>
            <a:r>
              <a:rPr lang="en-US" sz="1400" dirty="0" smtClean="0">
                <a:latin typeface="Consolas" pitchFamily="49" charset="0"/>
              </a:rPr>
              <a:t>);</a:t>
            </a:r>
          </a:p>
          <a:p>
            <a:r>
              <a:rPr lang="en-US" sz="1400" dirty="0" smtClean="0">
                <a:latin typeface="Consolas" pitchFamily="49" charset="0"/>
              </a:rPr>
              <a:t>        </a:t>
            </a:r>
            <a:r>
              <a:rPr lang="en-US" sz="1400" dirty="0" err="1" smtClean="0">
                <a:latin typeface="Consolas" pitchFamily="49" charset="0"/>
              </a:rPr>
              <a:t>store.subscribe</a:t>
            </a:r>
            <a:r>
              <a:rPr lang="en-US" sz="1400" dirty="0" smtClean="0">
                <a:latin typeface="Consolas" pitchFamily="49" charset="0"/>
              </a:rPr>
              <a:t>(render);</a:t>
            </a:r>
          </a:p>
          <a:p>
            <a:r>
              <a:rPr lang="en-US" sz="1400" dirty="0" smtClean="0">
                <a:latin typeface="Consolas" pitchFamily="49" charset="0"/>
              </a:rPr>
              <a:t>        </a:t>
            </a:r>
            <a:r>
              <a:rPr lang="en-US" sz="1400" dirty="0" err="1" smtClean="0">
                <a:latin typeface="Consolas" pitchFamily="49" charset="0"/>
              </a:rPr>
              <a:t>store.dispatch</a:t>
            </a:r>
            <a:r>
              <a:rPr lang="en-US" sz="1400" dirty="0" smtClean="0">
                <a:latin typeface="Consolas" pitchFamily="49" charset="0"/>
              </a:rPr>
              <a:t>(</a:t>
            </a:r>
            <a:r>
              <a:rPr lang="en-US" sz="1400" dirty="0" err="1" smtClean="0">
                <a:latin typeface="Consolas" pitchFamily="49" charset="0"/>
              </a:rPr>
              <a:t>addColor</a:t>
            </a:r>
            <a:r>
              <a:rPr lang="en-US" sz="1400" dirty="0" smtClean="0">
                <a:latin typeface="Consolas" pitchFamily="49" charset="0"/>
              </a:rPr>
              <a:t>("blue"));</a:t>
            </a:r>
          </a:p>
          <a:p>
            <a:r>
              <a:rPr lang="en-US" sz="1400" dirty="0" smtClean="0">
                <a:latin typeface="Consolas" pitchFamily="49" charset="0"/>
              </a:rPr>
              <a:t>        </a:t>
            </a:r>
            <a:r>
              <a:rPr lang="en-US" sz="1400" dirty="0" err="1" smtClean="0">
                <a:latin typeface="Consolas" pitchFamily="49" charset="0"/>
              </a:rPr>
              <a:t>store.dispatch</a:t>
            </a:r>
            <a:r>
              <a:rPr lang="en-US" sz="1400" dirty="0" smtClean="0">
                <a:latin typeface="Consolas" pitchFamily="49" charset="0"/>
              </a:rPr>
              <a:t>(</a:t>
            </a:r>
            <a:r>
              <a:rPr lang="en-US" sz="1400" dirty="0" err="1" smtClean="0">
                <a:latin typeface="Consolas" pitchFamily="49" charset="0"/>
              </a:rPr>
              <a:t>addColor</a:t>
            </a:r>
            <a:r>
              <a:rPr lang="en-US" sz="1400" dirty="0" smtClean="0">
                <a:latin typeface="Consolas" pitchFamily="49" charset="0"/>
              </a:rPr>
              <a:t>("yellow"));</a:t>
            </a:r>
          </a:p>
          <a:p>
            <a:r>
              <a:rPr lang="en-US" sz="1400" dirty="0" smtClean="0">
                <a:latin typeface="Consolas" pitchFamily="49" charset="0"/>
              </a:rPr>
              <a:t>        </a:t>
            </a:r>
            <a:r>
              <a:rPr lang="en-US" sz="1400" dirty="0" err="1" smtClean="0">
                <a:latin typeface="Consolas" pitchFamily="49" charset="0"/>
              </a:rPr>
              <a:t>store.dispatch</a:t>
            </a:r>
            <a:r>
              <a:rPr lang="en-US" sz="1400" dirty="0" smtClean="0">
                <a:latin typeface="Consolas" pitchFamily="49" charset="0"/>
              </a:rPr>
              <a:t>(</a:t>
            </a:r>
            <a:r>
              <a:rPr lang="en-US" sz="1400" dirty="0" err="1" smtClean="0">
                <a:latin typeface="Consolas" pitchFamily="49" charset="0"/>
              </a:rPr>
              <a:t>addColor</a:t>
            </a:r>
            <a:r>
              <a:rPr lang="en-US" sz="1400" dirty="0" smtClean="0">
                <a:latin typeface="Consolas" pitchFamily="49" charset="0"/>
              </a:rPr>
              <a:t>("green"));</a:t>
            </a:r>
          </a:p>
          <a:p>
            <a:r>
              <a:rPr lang="en-US" sz="1400" dirty="0" smtClean="0">
                <a:latin typeface="Consolas" pitchFamily="49" charset="0"/>
              </a:rPr>
              <a:t>        </a:t>
            </a:r>
            <a:r>
              <a:rPr lang="en-US" sz="1400" dirty="0" err="1" smtClean="0">
                <a:latin typeface="Consolas" pitchFamily="49" charset="0"/>
              </a:rPr>
              <a:t>store.dispatch</a:t>
            </a:r>
            <a:r>
              <a:rPr lang="en-US" sz="1400" dirty="0" smtClean="0">
                <a:latin typeface="Consolas" pitchFamily="49" charset="0"/>
              </a:rPr>
              <a:t>(</a:t>
            </a:r>
            <a:r>
              <a:rPr lang="en-US" sz="1400" dirty="0" err="1" smtClean="0">
                <a:latin typeface="Consolas" pitchFamily="49" charset="0"/>
              </a:rPr>
              <a:t>addColor</a:t>
            </a:r>
            <a:r>
              <a:rPr lang="en-US" sz="1400" dirty="0" smtClean="0">
                <a:latin typeface="Consolas" pitchFamily="49" charset="0"/>
              </a:rPr>
              <a:t>("red"));</a:t>
            </a:r>
          </a:p>
          <a:p>
            <a:r>
              <a:rPr lang="en-US" sz="1400" dirty="0" smtClean="0">
                <a:latin typeface="Consolas" pitchFamily="49" charset="0"/>
              </a:rPr>
              <a:t>        </a:t>
            </a:r>
            <a:r>
              <a:rPr lang="en-US" sz="1400" dirty="0" err="1" smtClean="0">
                <a:latin typeface="Consolas" pitchFamily="49" charset="0"/>
              </a:rPr>
              <a:t>store.dispatch</a:t>
            </a:r>
            <a:r>
              <a:rPr lang="en-US" sz="1400" dirty="0" smtClean="0">
                <a:latin typeface="Consolas" pitchFamily="49" charset="0"/>
              </a:rPr>
              <a:t>(</a:t>
            </a:r>
            <a:r>
              <a:rPr lang="en-US" sz="1400" dirty="0" err="1" smtClean="0">
                <a:latin typeface="Consolas" pitchFamily="49" charset="0"/>
              </a:rPr>
              <a:t>addColor</a:t>
            </a:r>
            <a:r>
              <a:rPr lang="en-US" sz="1400" dirty="0" smtClean="0">
                <a:latin typeface="Consolas" pitchFamily="49" charset="0"/>
              </a:rPr>
              <a:t>("gray"));</a:t>
            </a:r>
          </a:p>
          <a:p>
            <a:r>
              <a:rPr lang="en-US" sz="1400" dirty="0" smtClean="0">
                <a:latin typeface="Consolas" pitchFamily="49" charset="0"/>
              </a:rPr>
              <a:t>        </a:t>
            </a:r>
            <a:r>
              <a:rPr lang="en-US" sz="1400" dirty="0" err="1" smtClean="0">
                <a:latin typeface="Consolas" pitchFamily="49" charset="0"/>
              </a:rPr>
              <a:t>store.dispatch</a:t>
            </a:r>
            <a:r>
              <a:rPr lang="en-US" sz="1400" dirty="0" smtClean="0">
                <a:latin typeface="Consolas" pitchFamily="49" charset="0"/>
              </a:rPr>
              <a:t>(</a:t>
            </a:r>
            <a:r>
              <a:rPr lang="en-US" sz="1400" dirty="0" err="1" smtClean="0">
                <a:latin typeface="Consolas" pitchFamily="49" charset="0"/>
              </a:rPr>
              <a:t>addColor</a:t>
            </a:r>
            <a:r>
              <a:rPr lang="en-US" sz="1400" dirty="0" smtClean="0">
                <a:latin typeface="Consolas" pitchFamily="49" charset="0"/>
              </a:rPr>
              <a:t>("orange"));</a:t>
            </a:r>
          </a:p>
          <a:p>
            <a:r>
              <a:rPr lang="en-US" sz="1400" dirty="0" smtClean="0">
                <a:latin typeface="Consolas" pitchFamily="49" charset="0"/>
              </a:rPr>
              <a:t>        </a:t>
            </a:r>
            <a:r>
              <a:rPr lang="en-US" sz="1400" dirty="0" err="1" smtClean="0">
                <a:latin typeface="Consolas" pitchFamily="49" charset="0"/>
              </a:rPr>
              <a:t>store.dispatch</a:t>
            </a:r>
            <a:r>
              <a:rPr lang="en-US" sz="1400" dirty="0" smtClean="0">
                <a:latin typeface="Consolas" pitchFamily="49" charset="0"/>
              </a:rPr>
              <a:t>(</a:t>
            </a:r>
            <a:r>
              <a:rPr lang="en-US" sz="1400" dirty="0" err="1" smtClean="0">
                <a:latin typeface="Consolas" pitchFamily="49" charset="0"/>
              </a:rPr>
              <a:t>removeColor</a:t>
            </a:r>
            <a:r>
              <a:rPr lang="en-US" sz="1400" dirty="0" smtClean="0">
                <a:latin typeface="Consolas" pitchFamily="49" charset="0"/>
              </a:rPr>
              <a:t>("gray"));</a:t>
            </a:r>
          </a:p>
          <a:p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smtClean="0">
                <a:latin typeface="Consolas" pitchFamily="49" charset="0"/>
              </a:rPr>
              <a:t>        function render() {</a:t>
            </a:r>
          </a:p>
          <a:p>
            <a:r>
              <a:rPr lang="en-US" sz="1400" dirty="0" smtClean="0">
                <a:latin typeface="Consolas" pitchFamily="49" charset="0"/>
              </a:rPr>
              <a:t>            console.log(</a:t>
            </a:r>
            <a:r>
              <a:rPr lang="en-US" sz="1400" dirty="0" err="1" smtClean="0">
                <a:latin typeface="Consolas" pitchFamily="49" charset="0"/>
              </a:rPr>
              <a:t>store.getState</a:t>
            </a:r>
            <a:r>
              <a:rPr lang="en-US" sz="1400" dirty="0" smtClean="0">
                <a:latin typeface="Consolas" pitchFamily="49" charset="0"/>
              </a:rPr>
              <a:t>());</a:t>
            </a:r>
          </a:p>
          <a:p>
            <a:r>
              <a:rPr lang="en-US" sz="1400" dirty="0" smtClean="0">
                <a:latin typeface="Consolas" pitchFamily="49" charset="0"/>
              </a:rPr>
              <a:t>        }</a:t>
            </a:r>
          </a:p>
          <a:p>
            <a:r>
              <a:rPr lang="en-US" sz="14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  <a:endParaRPr lang="en-US" sz="1400" dirty="0" smtClean="0">
              <a:latin typeface="Consolas" pitchFamily="49" charset="0"/>
            </a:endParaRPr>
          </a:p>
        </p:txBody>
      </p:sp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3281065"/>
            <a:ext cx="3911600" cy="199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React State Management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33400" y="1516559"/>
            <a:ext cx="7848600" cy="120032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The components that initiate a state change and the ones that need to react to it are often not in the same parent/child/descendant arrangement (a.k.a. </a:t>
            </a:r>
            <a:r>
              <a:rPr lang="en-US" sz="2400" dirty="0" err="1" smtClean="0"/>
              <a:t>subtree</a:t>
            </a:r>
            <a:r>
              <a:rPr lang="en-US" sz="2400" dirty="0" smtClean="0"/>
              <a:t>).</a:t>
            </a:r>
            <a:endParaRPr lang="en-US" sz="2200" dirty="0"/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505200"/>
            <a:ext cx="2571750" cy="2183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93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3429000"/>
            <a:ext cx="2571750" cy="2350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933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70650" y="3276600"/>
            <a:ext cx="206375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</a:t>
            </a:r>
            <a:endParaRPr lang="en-US" dirty="0"/>
          </a:p>
        </p:txBody>
      </p:sp>
      <p:pic>
        <p:nvPicPr>
          <p:cNvPr id="1003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981200"/>
            <a:ext cx="2667000" cy="3563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03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1828800"/>
            <a:ext cx="2971800" cy="389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</a:t>
            </a:r>
            <a:r>
              <a:rPr lang="en-US" i="1" dirty="0" err="1" smtClean="0"/>
              <a:t>redux</a:t>
            </a:r>
            <a:r>
              <a:rPr lang="en-US" i="1" dirty="0" smtClean="0"/>
              <a:t>-counter</a:t>
            </a:r>
            <a:r>
              <a:rPr lang="en-US" dirty="0" smtClean="0"/>
              <a:t> app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2133600" y="1871008"/>
            <a:ext cx="5452134" cy="193899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i="1" dirty="0" smtClean="0">
                <a:latin typeface="Consolas" pitchFamily="49" charset="0"/>
              </a:rPr>
              <a:t>create-react-app </a:t>
            </a:r>
            <a:r>
              <a:rPr lang="en-US" sz="2400" i="1" dirty="0" err="1" smtClean="0">
                <a:latin typeface="Consolas" pitchFamily="49" charset="0"/>
              </a:rPr>
              <a:t>redux</a:t>
            </a:r>
            <a:r>
              <a:rPr lang="en-US" sz="2400" i="1" dirty="0" smtClean="0">
                <a:latin typeface="Consolas" pitchFamily="49" charset="0"/>
              </a:rPr>
              <a:t>-counter </a:t>
            </a:r>
          </a:p>
          <a:p>
            <a:r>
              <a:rPr lang="en-US" sz="2400" i="1" dirty="0" err="1" smtClean="0">
                <a:latin typeface="Consolas" pitchFamily="49" charset="0"/>
              </a:rPr>
              <a:t>cd</a:t>
            </a:r>
            <a:r>
              <a:rPr lang="en-US" sz="2400" i="1" dirty="0" smtClean="0">
                <a:latin typeface="Consolas" pitchFamily="49" charset="0"/>
              </a:rPr>
              <a:t> </a:t>
            </a:r>
            <a:r>
              <a:rPr lang="en-US" sz="2400" i="1" dirty="0" err="1" smtClean="0">
                <a:latin typeface="Consolas" pitchFamily="49" charset="0"/>
              </a:rPr>
              <a:t>redux</a:t>
            </a:r>
            <a:r>
              <a:rPr lang="en-US" sz="2400" i="1" dirty="0" smtClean="0">
                <a:latin typeface="Consolas" pitchFamily="49" charset="0"/>
              </a:rPr>
              <a:t>-counter</a:t>
            </a:r>
          </a:p>
          <a:p>
            <a:r>
              <a:rPr lang="en-US" sz="2400" b="1" i="1" dirty="0" err="1" smtClean="0">
                <a:latin typeface="Consolas" pitchFamily="49" charset="0"/>
              </a:rPr>
              <a:t>npm</a:t>
            </a:r>
            <a:r>
              <a:rPr lang="en-US" sz="2400" b="1" i="1" dirty="0" smtClean="0">
                <a:latin typeface="Consolas" pitchFamily="49" charset="0"/>
              </a:rPr>
              <a:t> install </a:t>
            </a:r>
            <a:r>
              <a:rPr lang="en-US" sz="2400" b="1" i="1" dirty="0" err="1" smtClean="0">
                <a:latin typeface="Consolas" pitchFamily="49" charset="0"/>
              </a:rPr>
              <a:t>redux</a:t>
            </a:r>
            <a:r>
              <a:rPr lang="en-US" sz="2400" b="1" i="1" dirty="0" smtClean="0">
                <a:latin typeface="Consolas" pitchFamily="49" charset="0"/>
              </a:rPr>
              <a:t> </a:t>
            </a:r>
          </a:p>
          <a:p>
            <a:r>
              <a:rPr lang="en-US" sz="2400" b="1" i="1" dirty="0" err="1" smtClean="0">
                <a:latin typeface="Consolas" pitchFamily="49" charset="0"/>
              </a:rPr>
              <a:t>npm</a:t>
            </a:r>
            <a:r>
              <a:rPr lang="en-US" sz="2400" b="1" i="1" dirty="0" smtClean="0">
                <a:latin typeface="Consolas" pitchFamily="49" charset="0"/>
              </a:rPr>
              <a:t> install react-</a:t>
            </a:r>
            <a:r>
              <a:rPr lang="en-US" sz="2400" b="1" i="1" dirty="0" err="1" smtClean="0">
                <a:latin typeface="Consolas" pitchFamily="49" charset="0"/>
              </a:rPr>
              <a:t>redux</a:t>
            </a:r>
            <a:endParaRPr lang="en-US" sz="2400" b="1" i="1" dirty="0" smtClean="0">
              <a:latin typeface="Consolas" pitchFamily="49" charset="0"/>
            </a:endParaRPr>
          </a:p>
          <a:p>
            <a:r>
              <a:rPr lang="en-US" sz="2400" i="1" dirty="0" err="1" smtClean="0">
                <a:latin typeface="Consolas" pitchFamily="49" charset="0"/>
              </a:rPr>
              <a:t>npm</a:t>
            </a:r>
            <a:r>
              <a:rPr lang="en-US" sz="2400" i="1" dirty="0" smtClean="0">
                <a:latin typeface="Consolas" pitchFamily="49" charset="0"/>
              </a:rPr>
              <a:t> start</a:t>
            </a:r>
            <a:endParaRPr lang="en-US" sz="2400" i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Counter.js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533400" y="1818144"/>
            <a:ext cx="8153400" cy="443198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</a:rPr>
              <a:t>// Counter.js</a:t>
            </a:r>
          </a:p>
          <a:p>
            <a:r>
              <a:rPr lang="en-US" sz="1600" dirty="0" smtClean="0">
                <a:latin typeface="Consolas" pitchFamily="49" charset="0"/>
              </a:rPr>
              <a:t>import React, { Component } from "react";</a:t>
            </a:r>
          </a:p>
          <a:p>
            <a:r>
              <a:rPr lang="en-US" sz="1600" dirty="0" smtClean="0">
                <a:latin typeface="Consolas" pitchFamily="49" charset="0"/>
              </a:rPr>
              <a:t>class Counter extends Component {</a:t>
            </a:r>
          </a:p>
          <a:p>
            <a:r>
              <a:rPr lang="en-US" sz="1600" dirty="0" smtClean="0">
                <a:latin typeface="Consolas" pitchFamily="49" charset="0"/>
              </a:rPr>
              <a:t>    render() {</a:t>
            </a:r>
          </a:p>
          <a:p>
            <a:r>
              <a:rPr lang="en-US" sz="1600" dirty="0" smtClean="0">
                <a:latin typeface="Consolas" pitchFamily="49" charset="0"/>
              </a:rPr>
              <a:t>        return (</a:t>
            </a:r>
          </a:p>
          <a:p>
            <a:r>
              <a:rPr lang="en-US" sz="1600" dirty="0" smtClean="0">
                <a:latin typeface="Consolas" pitchFamily="49" charset="0"/>
              </a:rPr>
              <a:t>            &lt;div </a:t>
            </a:r>
            <a:r>
              <a:rPr lang="en-US" sz="1600" dirty="0" err="1" smtClean="0">
                <a:latin typeface="Consolas" pitchFamily="49" charset="0"/>
              </a:rPr>
              <a:t>className</a:t>
            </a:r>
            <a:r>
              <a:rPr lang="en-US" sz="1600" dirty="0" smtClean="0">
                <a:latin typeface="Consolas" pitchFamily="49" charset="0"/>
              </a:rPr>
              <a:t>="container"&gt;</a:t>
            </a:r>
          </a:p>
          <a:p>
            <a:r>
              <a:rPr lang="en-US" sz="1600" dirty="0" smtClean="0">
                <a:latin typeface="Consolas" pitchFamily="49" charset="0"/>
              </a:rPr>
              <a:t>                &lt;button </a:t>
            </a:r>
            <a:r>
              <a:rPr lang="en-US" sz="1600" dirty="0" err="1" smtClean="0">
                <a:latin typeface="Consolas" pitchFamily="49" charset="0"/>
              </a:rPr>
              <a:t>className</a:t>
            </a:r>
            <a:r>
              <a:rPr lang="en-US" sz="1600" dirty="0" smtClean="0">
                <a:latin typeface="Consolas" pitchFamily="49" charset="0"/>
              </a:rPr>
              <a:t>="buttons"</a:t>
            </a:r>
          </a:p>
          <a:p>
            <a:r>
              <a:rPr lang="en-US" sz="1600" dirty="0" smtClean="0">
                <a:latin typeface="Consolas" pitchFamily="49" charset="0"/>
              </a:rPr>
              <a:t>                </a:t>
            </a:r>
            <a:r>
              <a:rPr lang="en-US" sz="1600" dirty="0" err="1" smtClean="0">
                <a:latin typeface="Consolas" pitchFamily="49" charset="0"/>
              </a:rPr>
              <a:t>onClick</a:t>
            </a:r>
            <a:r>
              <a:rPr lang="en-US" sz="1600" dirty="0" smtClean="0">
                <a:latin typeface="Consolas" pitchFamily="49" charset="0"/>
              </a:rPr>
              <a:t>={</a:t>
            </a:r>
            <a:r>
              <a:rPr lang="en-US" sz="1600" dirty="0" err="1" smtClean="0">
                <a:latin typeface="Consolas" pitchFamily="49" charset="0"/>
              </a:rPr>
              <a:t>this.props.decreaseCount</a:t>
            </a:r>
            <a:r>
              <a:rPr lang="en-US" sz="1600" dirty="0" smtClean="0">
                <a:latin typeface="Consolas" pitchFamily="49" charset="0"/>
              </a:rPr>
              <a:t>}&gt;-&lt;/button&gt;</a:t>
            </a:r>
          </a:p>
          <a:p>
            <a:r>
              <a:rPr lang="en-US" sz="1600" dirty="0" smtClean="0">
                <a:latin typeface="Consolas" pitchFamily="49" charset="0"/>
              </a:rPr>
              <a:t>                &lt;span&gt;{</a:t>
            </a:r>
            <a:r>
              <a:rPr lang="en-US" sz="1600" dirty="0" err="1" smtClean="0">
                <a:latin typeface="Consolas" pitchFamily="49" charset="0"/>
              </a:rPr>
              <a:t>this.props.countValue</a:t>
            </a:r>
            <a:r>
              <a:rPr lang="en-US" sz="1600" dirty="0" smtClean="0">
                <a:latin typeface="Consolas" pitchFamily="49" charset="0"/>
              </a:rPr>
              <a:t>}&lt;/span&gt;</a:t>
            </a:r>
          </a:p>
          <a:p>
            <a:r>
              <a:rPr lang="en-US" sz="1600" dirty="0" smtClean="0">
                <a:latin typeface="Consolas" pitchFamily="49" charset="0"/>
              </a:rPr>
              <a:t>                &lt;button </a:t>
            </a:r>
            <a:r>
              <a:rPr lang="en-US" sz="1600" dirty="0" err="1" smtClean="0">
                <a:latin typeface="Consolas" pitchFamily="49" charset="0"/>
              </a:rPr>
              <a:t>className</a:t>
            </a:r>
            <a:r>
              <a:rPr lang="en-US" sz="1600" dirty="0" smtClean="0">
                <a:latin typeface="Consolas" pitchFamily="49" charset="0"/>
              </a:rPr>
              <a:t>="buttons"</a:t>
            </a:r>
          </a:p>
          <a:p>
            <a:r>
              <a:rPr lang="en-US" sz="1600" dirty="0" smtClean="0">
                <a:latin typeface="Consolas" pitchFamily="49" charset="0"/>
              </a:rPr>
              <a:t>                </a:t>
            </a:r>
            <a:r>
              <a:rPr lang="en-US" sz="1600" dirty="0" err="1" smtClean="0">
                <a:latin typeface="Consolas" pitchFamily="49" charset="0"/>
              </a:rPr>
              <a:t>onClick</a:t>
            </a:r>
            <a:r>
              <a:rPr lang="en-US" sz="1600" dirty="0" smtClean="0">
                <a:latin typeface="Consolas" pitchFamily="49" charset="0"/>
              </a:rPr>
              <a:t>={</a:t>
            </a:r>
            <a:r>
              <a:rPr lang="en-US" sz="1600" dirty="0" err="1" smtClean="0">
                <a:latin typeface="Consolas" pitchFamily="49" charset="0"/>
              </a:rPr>
              <a:t>this.props.increaseCount</a:t>
            </a:r>
            <a:r>
              <a:rPr lang="en-US" sz="1600" dirty="0" smtClean="0">
                <a:latin typeface="Consolas" pitchFamily="49" charset="0"/>
              </a:rPr>
              <a:t>}&gt;+&lt;/button&gt;</a:t>
            </a:r>
          </a:p>
          <a:p>
            <a:r>
              <a:rPr lang="en-US" sz="1600" dirty="0" smtClean="0">
                <a:latin typeface="Consolas" pitchFamily="49" charset="0"/>
              </a:rPr>
              <a:t>            &lt;/div&gt;</a:t>
            </a:r>
          </a:p>
          <a:p>
            <a:r>
              <a:rPr lang="en-US" sz="1600" dirty="0" smtClean="0">
                <a:latin typeface="Consolas" pitchFamily="49" charset="0"/>
              </a:rPr>
              <a:t>        );</a:t>
            </a:r>
          </a:p>
          <a:p>
            <a:r>
              <a:rPr lang="en-US" sz="1600" dirty="0" smtClean="0">
                <a:latin typeface="Consolas" pitchFamily="49" charset="0"/>
              </a:rPr>
              <a:t>    }</a:t>
            </a:r>
          </a:p>
          <a:p>
            <a:r>
              <a:rPr lang="en-US" sz="1600" dirty="0" smtClean="0">
                <a:latin typeface="Consolas" pitchFamily="49" charset="0"/>
              </a:rPr>
              <a:t>}</a:t>
            </a:r>
          </a:p>
          <a:p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</a:rPr>
              <a:t>export default Counter;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381000"/>
            <a:ext cx="2228850" cy="2921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val 6"/>
          <p:cNvSpPr/>
          <p:nvPr/>
        </p:nvSpPr>
        <p:spPr>
          <a:xfrm>
            <a:off x="7620000" y="2971800"/>
            <a:ext cx="838200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counterReducer.js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533400" y="1818144"/>
            <a:ext cx="8153400" cy="443198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</a:rPr>
              <a:t>// counterReducer.js</a:t>
            </a:r>
          </a:p>
          <a:p>
            <a:r>
              <a:rPr lang="en-US" sz="1600" dirty="0" smtClean="0">
                <a:latin typeface="Consolas" pitchFamily="49" charset="0"/>
              </a:rPr>
              <a:t>function </a:t>
            </a:r>
            <a:r>
              <a:rPr lang="en-US" sz="1600" dirty="0" err="1" smtClean="0">
                <a:latin typeface="Consolas" pitchFamily="49" charset="0"/>
              </a:rPr>
              <a:t>counterReducer</a:t>
            </a:r>
            <a:r>
              <a:rPr lang="en-US" sz="1600" dirty="0" smtClean="0">
                <a:latin typeface="Consolas" pitchFamily="49" charset="0"/>
              </a:rPr>
              <a:t>(state, action) {</a:t>
            </a:r>
          </a:p>
          <a:p>
            <a:r>
              <a:rPr lang="en-US" sz="1600" dirty="0" smtClean="0">
                <a:latin typeface="Consolas" pitchFamily="49" charset="0"/>
              </a:rPr>
              <a:t>    if (state === undefined) {</a:t>
            </a:r>
          </a:p>
          <a:p>
            <a:r>
              <a:rPr lang="en-US" sz="1600" dirty="0" smtClean="0">
                <a:latin typeface="Consolas" pitchFamily="49" charset="0"/>
              </a:rPr>
              <a:t>        return { count: 0 };</a:t>
            </a:r>
          </a:p>
          <a:p>
            <a:r>
              <a:rPr lang="en-US" sz="1600" dirty="0" smtClean="0">
                <a:latin typeface="Consolas" pitchFamily="49" charset="0"/>
              </a:rPr>
              <a:t>    }</a:t>
            </a:r>
          </a:p>
          <a:p>
            <a:r>
              <a:rPr lang="en-US" sz="1600" dirty="0" smtClean="0">
                <a:latin typeface="Consolas" pitchFamily="49" charset="0"/>
              </a:rPr>
              <a:t>    </a:t>
            </a:r>
            <a:r>
              <a:rPr lang="en-US" sz="1600" dirty="0" err="1" smtClean="0">
                <a:latin typeface="Consolas" pitchFamily="49" charset="0"/>
              </a:rPr>
              <a:t>var</a:t>
            </a:r>
            <a:r>
              <a:rPr lang="en-US" sz="1600" dirty="0" smtClean="0">
                <a:latin typeface="Consolas" pitchFamily="49" charset="0"/>
              </a:rPr>
              <a:t> count = </a:t>
            </a:r>
            <a:r>
              <a:rPr lang="en-US" sz="1600" dirty="0" err="1" smtClean="0">
                <a:latin typeface="Consolas" pitchFamily="49" charset="0"/>
              </a:rPr>
              <a:t>state.count</a:t>
            </a:r>
            <a:r>
              <a:rPr lang="en-US" sz="1600" dirty="0" smtClean="0">
                <a:latin typeface="Consolas" pitchFamily="49" charset="0"/>
              </a:rPr>
              <a:t>;</a:t>
            </a:r>
          </a:p>
          <a:p>
            <a:r>
              <a:rPr lang="en-US" sz="1600" dirty="0" smtClean="0">
                <a:latin typeface="Consolas" pitchFamily="49" charset="0"/>
              </a:rPr>
              <a:t>    switch (</a:t>
            </a:r>
            <a:r>
              <a:rPr lang="en-US" sz="1600" dirty="0" err="1" smtClean="0">
                <a:latin typeface="Consolas" pitchFamily="49" charset="0"/>
              </a:rPr>
              <a:t>action.type</a:t>
            </a:r>
            <a:r>
              <a:rPr lang="en-US" sz="1600" dirty="0" smtClean="0">
                <a:latin typeface="Consolas" pitchFamily="49" charset="0"/>
              </a:rPr>
              <a:t>) {</a:t>
            </a:r>
          </a:p>
          <a:p>
            <a:r>
              <a:rPr lang="en-US" sz="1600" dirty="0" smtClean="0">
                <a:latin typeface="Consolas" pitchFamily="49" charset="0"/>
              </a:rPr>
              <a:t>        case "</a:t>
            </a:r>
            <a:r>
              <a:rPr lang="en-US" sz="1600" dirty="0" err="1" smtClean="0">
                <a:latin typeface="Consolas" pitchFamily="49" charset="0"/>
              </a:rPr>
              <a:t>increaseCount</a:t>
            </a:r>
            <a:r>
              <a:rPr lang="en-US" sz="1600" dirty="0" smtClean="0">
                <a:latin typeface="Consolas" pitchFamily="49" charset="0"/>
              </a:rPr>
              <a:t>":</a:t>
            </a:r>
          </a:p>
          <a:p>
            <a:r>
              <a:rPr lang="en-US" sz="1600" dirty="0" smtClean="0">
                <a:latin typeface="Consolas" pitchFamily="49" charset="0"/>
              </a:rPr>
              <a:t>            return { count: count + 1 };</a:t>
            </a:r>
          </a:p>
          <a:p>
            <a:r>
              <a:rPr lang="en-US" sz="1600" dirty="0" smtClean="0">
                <a:latin typeface="Consolas" pitchFamily="49" charset="0"/>
              </a:rPr>
              <a:t>        case "</a:t>
            </a:r>
            <a:r>
              <a:rPr lang="en-US" sz="1600" dirty="0" err="1" smtClean="0">
                <a:latin typeface="Consolas" pitchFamily="49" charset="0"/>
              </a:rPr>
              <a:t>decreaseCount</a:t>
            </a:r>
            <a:r>
              <a:rPr lang="en-US" sz="1600" dirty="0" smtClean="0">
                <a:latin typeface="Consolas" pitchFamily="49" charset="0"/>
              </a:rPr>
              <a:t>":</a:t>
            </a:r>
          </a:p>
          <a:p>
            <a:r>
              <a:rPr lang="en-US" sz="1600" dirty="0" smtClean="0">
                <a:latin typeface="Consolas" pitchFamily="49" charset="0"/>
              </a:rPr>
              <a:t>            return { count: count - 1 };</a:t>
            </a:r>
          </a:p>
          <a:p>
            <a:r>
              <a:rPr lang="en-US" sz="1600" dirty="0" smtClean="0">
                <a:latin typeface="Consolas" pitchFamily="49" charset="0"/>
              </a:rPr>
              <a:t>        default:</a:t>
            </a:r>
          </a:p>
          <a:p>
            <a:r>
              <a:rPr lang="en-US" sz="1600" dirty="0" smtClean="0">
                <a:latin typeface="Consolas" pitchFamily="49" charset="0"/>
              </a:rPr>
              <a:t>            return state;</a:t>
            </a:r>
          </a:p>
          <a:p>
            <a:r>
              <a:rPr lang="en-US" sz="1600" dirty="0" smtClean="0">
                <a:latin typeface="Consolas" pitchFamily="49" charset="0"/>
              </a:rPr>
              <a:t>    }</a:t>
            </a:r>
          </a:p>
          <a:p>
            <a:r>
              <a:rPr lang="en-US" sz="1600" dirty="0" smtClean="0">
                <a:latin typeface="Consolas" pitchFamily="49" charset="0"/>
              </a:rPr>
              <a:t>}</a:t>
            </a:r>
          </a:p>
          <a:p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</a:rPr>
              <a:t>export default </a:t>
            </a:r>
            <a:r>
              <a:rPr lang="en-US" sz="1600" dirty="0" err="1" smtClean="0">
                <a:latin typeface="Consolas" pitchFamily="49" charset="0"/>
              </a:rPr>
              <a:t>counterReducer</a:t>
            </a:r>
            <a:r>
              <a:rPr lang="en-US" sz="1600" dirty="0" smtClean="0">
                <a:latin typeface="Consolas" pitchFamily="49" charset="0"/>
              </a:rPr>
              <a:t>;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1981200"/>
            <a:ext cx="2971800" cy="389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5"/>
          <p:cNvSpPr/>
          <p:nvPr/>
        </p:nvSpPr>
        <p:spPr>
          <a:xfrm>
            <a:off x="5334000" y="5181600"/>
            <a:ext cx="1371600" cy="6858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App.js (</a:t>
            </a:r>
            <a:r>
              <a:rPr lang="en-US" dirty="0" err="1" smtClean="0"/>
              <a:t>Mapper</a:t>
            </a:r>
            <a:r>
              <a:rPr lang="en-US" dirty="0" smtClean="0"/>
              <a:t>)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533400" y="1447800"/>
            <a:ext cx="8153400" cy="50783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900" dirty="0" smtClean="0">
                <a:latin typeface="Consolas" pitchFamily="49" charset="0"/>
              </a:rPr>
              <a:t>import React from 'react';</a:t>
            </a:r>
          </a:p>
          <a:p>
            <a:r>
              <a:rPr lang="en-US" sz="900" dirty="0" smtClean="0">
                <a:latin typeface="Consolas" pitchFamily="49" charset="0"/>
              </a:rPr>
              <a:t>import logo from './logo.svg';</a:t>
            </a:r>
          </a:p>
          <a:p>
            <a:r>
              <a:rPr lang="en-US" sz="900" dirty="0" smtClean="0">
                <a:latin typeface="Consolas" pitchFamily="49" charset="0"/>
              </a:rPr>
              <a:t>import './App.css';</a:t>
            </a:r>
          </a:p>
          <a:p>
            <a:r>
              <a:rPr lang="en-US" sz="900" dirty="0" smtClean="0">
                <a:latin typeface="Consolas" pitchFamily="49" charset="0"/>
              </a:rPr>
              <a:t>import { connect } from "react-</a:t>
            </a:r>
            <a:r>
              <a:rPr lang="en-US" sz="900" dirty="0" err="1" smtClean="0">
                <a:latin typeface="Consolas" pitchFamily="49" charset="0"/>
              </a:rPr>
              <a:t>redux</a:t>
            </a:r>
            <a:r>
              <a:rPr lang="en-US" sz="900" dirty="0" smtClean="0">
                <a:latin typeface="Consolas" pitchFamily="49" charset="0"/>
              </a:rPr>
              <a:t>";</a:t>
            </a:r>
          </a:p>
          <a:p>
            <a:r>
              <a:rPr lang="en-US" sz="900" dirty="0" smtClean="0">
                <a:latin typeface="Consolas" pitchFamily="49" charset="0"/>
              </a:rPr>
              <a:t>import Counter from "./Counter";</a:t>
            </a:r>
          </a:p>
          <a:p>
            <a:endParaRPr lang="en-US" sz="900" dirty="0" smtClean="0">
              <a:latin typeface="Consolas" pitchFamily="49" charset="0"/>
            </a:endParaRPr>
          </a:p>
          <a:p>
            <a:r>
              <a:rPr lang="en-US" sz="900" dirty="0" smtClean="0">
                <a:latin typeface="Consolas" pitchFamily="49" charset="0"/>
              </a:rPr>
              <a:t>// Map </a:t>
            </a:r>
            <a:r>
              <a:rPr lang="en-US" sz="900" dirty="0" err="1" smtClean="0">
                <a:latin typeface="Consolas" pitchFamily="49" charset="0"/>
              </a:rPr>
              <a:t>Redux</a:t>
            </a:r>
            <a:r>
              <a:rPr lang="en-US" sz="900" dirty="0" smtClean="0">
                <a:latin typeface="Consolas" pitchFamily="49" charset="0"/>
              </a:rPr>
              <a:t> state to component props</a:t>
            </a:r>
          </a:p>
          <a:p>
            <a:r>
              <a:rPr lang="en-US" sz="900" dirty="0" smtClean="0">
                <a:latin typeface="Consolas" pitchFamily="49" charset="0"/>
              </a:rPr>
              <a:t>function </a:t>
            </a:r>
            <a:r>
              <a:rPr lang="en-US" sz="900" dirty="0" err="1" smtClean="0">
                <a:latin typeface="Consolas" pitchFamily="49" charset="0"/>
              </a:rPr>
              <a:t>mapStateToProps</a:t>
            </a:r>
            <a:r>
              <a:rPr lang="en-US" sz="900" dirty="0" smtClean="0">
                <a:latin typeface="Consolas" pitchFamily="49" charset="0"/>
              </a:rPr>
              <a:t>(state) {</a:t>
            </a:r>
          </a:p>
          <a:p>
            <a:r>
              <a:rPr lang="en-US" sz="900" dirty="0" smtClean="0">
                <a:latin typeface="Consolas" pitchFamily="49" charset="0"/>
              </a:rPr>
              <a:t>    return {</a:t>
            </a:r>
          </a:p>
          <a:p>
            <a:r>
              <a:rPr lang="en-US" sz="900" dirty="0" smtClean="0">
                <a:latin typeface="Consolas" pitchFamily="49" charset="0"/>
              </a:rPr>
              <a:t>        </a:t>
            </a:r>
            <a:r>
              <a:rPr lang="en-US" sz="900" dirty="0" err="1" smtClean="0">
                <a:latin typeface="Consolas" pitchFamily="49" charset="0"/>
              </a:rPr>
              <a:t>countValue</a:t>
            </a:r>
            <a:r>
              <a:rPr lang="en-US" sz="900" dirty="0" smtClean="0">
                <a:latin typeface="Consolas" pitchFamily="49" charset="0"/>
              </a:rPr>
              <a:t>: </a:t>
            </a:r>
            <a:r>
              <a:rPr lang="en-US" sz="900" dirty="0" err="1" smtClean="0">
                <a:latin typeface="Consolas" pitchFamily="49" charset="0"/>
              </a:rPr>
              <a:t>state.count</a:t>
            </a:r>
            <a:endParaRPr lang="en-US" sz="900" dirty="0" smtClean="0">
              <a:latin typeface="Consolas" pitchFamily="49" charset="0"/>
            </a:endParaRPr>
          </a:p>
          <a:p>
            <a:r>
              <a:rPr lang="en-US" sz="900" dirty="0" smtClean="0">
                <a:latin typeface="Consolas" pitchFamily="49" charset="0"/>
              </a:rPr>
              <a:t>    };</a:t>
            </a:r>
          </a:p>
          <a:p>
            <a:r>
              <a:rPr lang="en-US" sz="900" dirty="0" smtClean="0">
                <a:latin typeface="Consolas" pitchFamily="49" charset="0"/>
              </a:rPr>
              <a:t>}</a:t>
            </a:r>
          </a:p>
          <a:p>
            <a:endParaRPr lang="en-US" sz="900" dirty="0" smtClean="0">
              <a:latin typeface="Consolas" pitchFamily="49" charset="0"/>
            </a:endParaRPr>
          </a:p>
          <a:p>
            <a:r>
              <a:rPr lang="en-US" sz="900" dirty="0" smtClean="0">
                <a:latin typeface="Consolas" pitchFamily="49" charset="0"/>
              </a:rPr>
              <a:t>// Action</a:t>
            </a:r>
          </a:p>
          <a:p>
            <a:r>
              <a:rPr lang="en-US" sz="900" dirty="0" err="1" smtClean="0">
                <a:latin typeface="Consolas" pitchFamily="49" charset="0"/>
              </a:rPr>
              <a:t>var</a:t>
            </a:r>
            <a:r>
              <a:rPr lang="en-US" sz="900" dirty="0" smtClean="0">
                <a:latin typeface="Consolas" pitchFamily="49" charset="0"/>
              </a:rPr>
              <a:t> </a:t>
            </a:r>
            <a:r>
              <a:rPr lang="en-US" sz="900" dirty="0" err="1" smtClean="0">
                <a:latin typeface="Consolas" pitchFamily="49" charset="0"/>
              </a:rPr>
              <a:t>increaseAction</a:t>
            </a:r>
            <a:r>
              <a:rPr lang="en-US" sz="900" dirty="0" smtClean="0">
                <a:latin typeface="Consolas" pitchFamily="49" charset="0"/>
              </a:rPr>
              <a:t> = { type: "</a:t>
            </a:r>
            <a:r>
              <a:rPr lang="en-US" sz="900" dirty="0" err="1" smtClean="0">
                <a:latin typeface="Consolas" pitchFamily="49" charset="0"/>
              </a:rPr>
              <a:t>increaseCount</a:t>
            </a:r>
            <a:r>
              <a:rPr lang="en-US" sz="900" dirty="0" smtClean="0">
                <a:latin typeface="Consolas" pitchFamily="49" charset="0"/>
              </a:rPr>
              <a:t>" };</a:t>
            </a:r>
          </a:p>
          <a:p>
            <a:r>
              <a:rPr lang="en-US" sz="900" dirty="0" err="1" smtClean="0">
                <a:latin typeface="Consolas" pitchFamily="49" charset="0"/>
              </a:rPr>
              <a:t>var</a:t>
            </a:r>
            <a:r>
              <a:rPr lang="en-US" sz="900" dirty="0" smtClean="0">
                <a:latin typeface="Consolas" pitchFamily="49" charset="0"/>
              </a:rPr>
              <a:t> </a:t>
            </a:r>
            <a:r>
              <a:rPr lang="en-US" sz="900" dirty="0" err="1" smtClean="0">
                <a:latin typeface="Consolas" pitchFamily="49" charset="0"/>
              </a:rPr>
              <a:t>decreaseAction</a:t>
            </a:r>
            <a:r>
              <a:rPr lang="en-US" sz="900" dirty="0" smtClean="0">
                <a:latin typeface="Consolas" pitchFamily="49" charset="0"/>
              </a:rPr>
              <a:t> = { type: "</a:t>
            </a:r>
            <a:r>
              <a:rPr lang="en-US" sz="900" dirty="0" err="1" smtClean="0">
                <a:latin typeface="Consolas" pitchFamily="49" charset="0"/>
              </a:rPr>
              <a:t>decreaseCount</a:t>
            </a:r>
            <a:r>
              <a:rPr lang="en-US" sz="900" dirty="0" smtClean="0">
                <a:latin typeface="Consolas" pitchFamily="49" charset="0"/>
              </a:rPr>
              <a:t>" };</a:t>
            </a:r>
          </a:p>
          <a:p>
            <a:endParaRPr lang="en-US" sz="900" dirty="0" smtClean="0">
              <a:latin typeface="Consolas" pitchFamily="49" charset="0"/>
            </a:endParaRPr>
          </a:p>
          <a:p>
            <a:r>
              <a:rPr lang="en-US" sz="900" dirty="0" smtClean="0">
                <a:latin typeface="Consolas" pitchFamily="49" charset="0"/>
              </a:rPr>
              <a:t>// Map </a:t>
            </a:r>
            <a:r>
              <a:rPr lang="en-US" sz="900" dirty="0" err="1" smtClean="0">
                <a:latin typeface="Consolas" pitchFamily="49" charset="0"/>
              </a:rPr>
              <a:t>Redux</a:t>
            </a:r>
            <a:r>
              <a:rPr lang="en-US" sz="900" dirty="0" smtClean="0">
                <a:latin typeface="Consolas" pitchFamily="49" charset="0"/>
              </a:rPr>
              <a:t> actions to component props</a:t>
            </a:r>
          </a:p>
          <a:p>
            <a:r>
              <a:rPr lang="en-US" sz="900" dirty="0" smtClean="0">
                <a:latin typeface="Consolas" pitchFamily="49" charset="0"/>
              </a:rPr>
              <a:t>function </a:t>
            </a:r>
            <a:r>
              <a:rPr lang="en-US" sz="900" dirty="0" err="1" smtClean="0">
                <a:latin typeface="Consolas" pitchFamily="49" charset="0"/>
              </a:rPr>
              <a:t>mapDispatchToProps</a:t>
            </a:r>
            <a:r>
              <a:rPr lang="en-US" sz="900" dirty="0" smtClean="0">
                <a:latin typeface="Consolas" pitchFamily="49" charset="0"/>
              </a:rPr>
              <a:t>(dispatch) {</a:t>
            </a:r>
          </a:p>
          <a:p>
            <a:r>
              <a:rPr lang="en-US" sz="900" dirty="0" smtClean="0">
                <a:latin typeface="Consolas" pitchFamily="49" charset="0"/>
              </a:rPr>
              <a:t>    return {</a:t>
            </a:r>
          </a:p>
          <a:p>
            <a:r>
              <a:rPr lang="en-US" sz="900" dirty="0" smtClean="0">
                <a:latin typeface="Consolas" pitchFamily="49" charset="0"/>
              </a:rPr>
              <a:t>        </a:t>
            </a:r>
            <a:r>
              <a:rPr lang="en-US" sz="900" dirty="0" err="1" smtClean="0">
                <a:latin typeface="Consolas" pitchFamily="49" charset="0"/>
              </a:rPr>
              <a:t>increaseCount</a:t>
            </a:r>
            <a:r>
              <a:rPr lang="en-US" sz="900" dirty="0" smtClean="0">
                <a:latin typeface="Consolas" pitchFamily="49" charset="0"/>
              </a:rPr>
              <a:t>: function() {</a:t>
            </a:r>
          </a:p>
          <a:p>
            <a:r>
              <a:rPr lang="en-US" sz="900" dirty="0" smtClean="0">
                <a:latin typeface="Consolas" pitchFamily="49" charset="0"/>
              </a:rPr>
              <a:t>            return dispatch(</a:t>
            </a:r>
            <a:r>
              <a:rPr lang="en-US" sz="900" dirty="0" err="1" smtClean="0">
                <a:latin typeface="Consolas" pitchFamily="49" charset="0"/>
              </a:rPr>
              <a:t>increaseAction</a:t>
            </a:r>
            <a:r>
              <a:rPr lang="en-US" sz="900" dirty="0" smtClean="0">
                <a:latin typeface="Consolas" pitchFamily="49" charset="0"/>
              </a:rPr>
              <a:t>);</a:t>
            </a:r>
          </a:p>
          <a:p>
            <a:r>
              <a:rPr lang="en-US" sz="900" dirty="0" smtClean="0">
                <a:latin typeface="Consolas" pitchFamily="49" charset="0"/>
              </a:rPr>
              <a:t>        },</a:t>
            </a:r>
          </a:p>
          <a:p>
            <a:r>
              <a:rPr lang="en-US" sz="900" dirty="0" smtClean="0">
                <a:latin typeface="Consolas" pitchFamily="49" charset="0"/>
              </a:rPr>
              <a:t>        </a:t>
            </a:r>
            <a:r>
              <a:rPr lang="en-US" sz="900" dirty="0" err="1" smtClean="0">
                <a:latin typeface="Consolas" pitchFamily="49" charset="0"/>
              </a:rPr>
              <a:t>decreaseCount</a:t>
            </a:r>
            <a:r>
              <a:rPr lang="en-US" sz="900" dirty="0" smtClean="0">
                <a:latin typeface="Consolas" pitchFamily="49" charset="0"/>
              </a:rPr>
              <a:t>: function() {</a:t>
            </a:r>
          </a:p>
          <a:p>
            <a:r>
              <a:rPr lang="en-US" sz="900" dirty="0" smtClean="0">
                <a:latin typeface="Consolas" pitchFamily="49" charset="0"/>
              </a:rPr>
              <a:t>            return dispatch(</a:t>
            </a:r>
            <a:r>
              <a:rPr lang="en-US" sz="900" dirty="0" err="1" smtClean="0">
                <a:latin typeface="Consolas" pitchFamily="49" charset="0"/>
              </a:rPr>
              <a:t>decreaseAction</a:t>
            </a:r>
            <a:r>
              <a:rPr lang="en-US" sz="900" dirty="0" smtClean="0">
                <a:latin typeface="Consolas" pitchFamily="49" charset="0"/>
              </a:rPr>
              <a:t>);</a:t>
            </a:r>
          </a:p>
          <a:p>
            <a:r>
              <a:rPr lang="en-US" sz="900" dirty="0" smtClean="0">
                <a:latin typeface="Consolas" pitchFamily="49" charset="0"/>
              </a:rPr>
              <a:t>        }</a:t>
            </a:r>
          </a:p>
          <a:p>
            <a:r>
              <a:rPr lang="en-US" sz="900" dirty="0" smtClean="0">
                <a:latin typeface="Consolas" pitchFamily="49" charset="0"/>
              </a:rPr>
              <a:t>    };</a:t>
            </a:r>
          </a:p>
          <a:p>
            <a:r>
              <a:rPr lang="en-US" sz="900" dirty="0" smtClean="0">
                <a:latin typeface="Consolas" pitchFamily="49" charset="0"/>
              </a:rPr>
              <a:t>}</a:t>
            </a:r>
          </a:p>
          <a:p>
            <a:endParaRPr lang="en-US" sz="900" dirty="0" smtClean="0">
              <a:latin typeface="Consolas" pitchFamily="49" charset="0"/>
            </a:endParaRPr>
          </a:p>
          <a:p>
            <a:r>
              <a:rPr lang="en-US" sz="900" dirty="0" smtClean="0">
                <a:latin typeface="Consolas" pitchFamily="49" charset="0"/>
              </a:rPr>
              <a:t>// The HOC</a:t>
            </a:r>
          </a:p>
          <a:p>
            <a:r>
              <a:rPr lang="en-US" sz="900" dirty="0" err="1" smtClean="0">
                <a:latin typeface="Consolas" pitchFamily="49" charset="0"/>
              </a:rPr>
              <a:t>var</a:t>
            </a:r>
            <a:r>
              <a:rPr lang="en-US" sz="900" dirty="0" smtClean="0">
                <a:latin typeface="Consolas" pitchFamily="49" charset="0"/>
              </a:rPr>
              <a:t> App = connect(</a:t>
            </a:r>
          </a:p>
          <a:p>
            <a:r>
              <a:rPr lang="en-US" sz="900" dirty="0" smtClean="0">
                <a:latin typeface="Consolas" pitchFamily="49" charset="0"/>
              </a:rPr>
              <a:t>    </a:t>
            </a:r>
            <a:r>
              <a:rPr lang="en-US" sz="900" dirty="0" err="1" smtClean="0">
                <a:latin typeface="Consolas" pitchFamily="49" charset="0"/>
              </a:rPr>
              <a:t>mapStateToProps</a:t>
            </a:r>
            <a:r>
              <a:rPr lang="en-US" sz="900" dirty="0" smtClean="0">
                <a:latin typeface="Consolas" pitchFamily="49" charset="0"/>
              </a:rPr>
              <a:t>,</a:t>
            </a:r>
          </a:p>
          <a:p>
            <a:r>
              <a:rPr lang="en-US" sz="900" dirty="0" smtClean="0">
                <a:latin typeface="Consolas" pitchFamily="49" charset="0"/>
              </a:rPr>
              <a:t>    </a:t>
            </a:r>
            <a:r>
              <a:rPr lang="en-US" sz="900" dirty="0" err="1" smtClean="0">
                <a:latin typeface="Consolas" pitchFamily="49" charset="0"/>
              </a:rPr>
              <a:t>mapDispatchToProps</a:t>
            </a:r>
            <a:endParaRPr lang="en-US" sz="900" dirty="0" smtClean="0">
              <a:latin typeface="Consolas" pitchFamily="49" charset="0"/>
            </a:endParaRPr>
          </a:p>
          <a:p>
            <a:r>
              <a:rPr lang="en-US" sz="900" dirty="0" smtClean="0">
                <a:latin typeface="Consolas" pitchFamily="49" charset="0"/>
              </a:rPr>
              <a:t>)(Counter);</a:t>
            </a:r>
          </a:p>
          <a:p>
            <a:endParaRPr lang="en-US" sz="900" dirty="0" smtClean="0">
              <a:latin typeface="Consolas" pitchFamily="49" charset="0"/>
            </a:endParaRPr>
          </a:p>
          <a:p>
            <a:r>
              <a:rPr lang="en-US" sz="900" dirty="0" smtClean="0">
                <a:latin typeface="Consolas" pitchFamily="49" charset="0"/>
              </a:rPr>
              <a:t>export default App;</a:t>
            </a:r>
          </a:p>
        </p:txBody>
      </p:sp>
      <p:sp>
        <p:nvSpPr>
          <p:cNvPr id="5" name="Rectangle 4"/>
          <p:cNvSpPr/>
          <p:nvPr/>
        </p:nvSpPr>
        <p:spPr>
          <a:xfrm>
            <a:off x="2209800" y="5257800"/>
            <a:ext cx="6324600" cy="1169551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latin typeface="Consolas" pitchFamily="49" charset="0"/>
              </a:rPr>
              <a:t>&lt;Connect&gt;</a:t>
            </a:r>
          </a:p>
          <a:p>
            <a:r>
              <a:rPr lang="en-US" sz="1400" dirty="0" smtClean="0">
                <a:latin typeface="Consolas" pitchFamily="49" charset="0"/>
              </a:rPr>
              <a:t>&lt;Counter </a:t>
            </a:r>
            <a:r>
              <a:rPr lang="en-US" sz="1400" dirty="0" err="1" smtClean="0">
                <a:latin typeface="Consolas" pitchFamily="49" charset="0"/>
              </a:rPr>
              <a:t>increaseCount</a:t>
            </a:r>
            <a:r>
              <a:rPr lang="en-US" sz="1400" dirty="0" smtClean="0">
                <a:latin typeface="Consolas" pitchFamily="49" charset="0"/>
              </a:rPr>
              <a:t>={</a:t>
            </a:r>
            <a:r>
              <a:rPr lang="en-US" sz="1400" dirty="0" err="1" smtClean="0">
                <a:latin typeface="Consolas" pitchFamily="49" charset="0"/>
              </a:rPr>
              <a:t>increaseCount</a:t>
            </a:r>
            <a:r>
              <a:rPr lang="en-US" sz="1400" dirty="0" smtClean="0">
                <a:latin typeface="Consolas" pitchFamily="49" charset="0"/>
              </a:rPr>
              <a:t>}</a:t>
            </a:r>
          </a:p>
          <a:p>
            <a:r>
              <a:rPr lang="en-US" sz="1400" dirty="0" smtClean="0">
                <a:latin typeface="Consolas" pitchFamily="49" charset="0"/>
              </a:rPr>
              <a:t>	</a:t>
            </a:r>
            <a:r>
              <a:rPr lang="en-US" sz="1400" dirty="0" err="1" smtClean="0">
                <a:latin typeface="Consolas" pitchFamily="49" charset="0"/>
              </a:rPr>
              <a:t>decreaseCount</a:t>
            </a:r>
            <a:r>
              <a:rPr lang="en-US" sz="1400" dirty="0" smtClean="0">
                <a:latin typeface="Consolas" pitchFamily="49" charset="0"/>
              </a:rPr>
              <a:t>={</a:t>
            </a:r>
            <a:r>
              <a:rPr lang="en-US" sz="1400" dirty="0" err="1" smtClean="0">
                <a:latin typeface="Consolas" pitchFamily="49" charset="0"/>
              </a:rPr>
              <a:t>decreaseCount</a:t>
            </a:r>
            <a:r>
              <a:rPr lang="en-US" sz="1400" dirty="0" smtClean="0">
                <a:latin typeface="Consolas" pitchFamily="49" charset="0"/>
              </a:rPr>
              <a:t>}</a:t>
            </a:r>
          </a:p>
          <a:p>
            <a:r>
              <a:rPr lang="en-US" sz="1400" dirty="0" smtClean="0">
                <a:latin typeface="Consolas" pitchFamily="49" charset="0"/>
              </a:rPr>
              <a:t>	</a:t>
            </a:r>
            <a:r>
              <a:rPr lang="en-US" sz="1400" dirty="0" err="1" smtClean="0">
                <a:latin typeface="Consolas" pitchFamily="49" charset="0"/>
              </a:rPr>
              <a:t>countValue</a:t>
            </a:r>
            <a:r>
              <a:rPr lang="en-US" sz="1400" dirty="0" smtClean="0">
                <a:latin typeface="Consolas" pitchFamily="49" charset="0"/>
              </a:rPr>
              <a:t>={</a:t>
            </a:r>
            <a:r>
              <a:rPr lang="en-US" sz="1400" dirty="0" err="1" smtClean="0">
                <a:latin typeface="Consolas" pitchFamily="49" charset="0"/>
              </a:rPr>
              <a:t>countValue</a:t>
            </a:r>
            <a:r>
              <a:rPr lang="en-US" sz="1400" dirty="0" smtClean="0">
                <a:latin typeface="Consolas" pitchFamily="49" charset="0"/>
              </a:rPr>
              <a:t>}/&gt;</a:t>
            </a:r>
          </a:p>
          <a:p>
            <a:r>
              <a:rPr lang="en-US" sz="1400" dirty="0" smtClean="0">
                <a:latin typeface="Consolas" pitchFamily="49" charset="0"/>
              </a:rPr>
              <a:t>&lt;/Connect&gt;</a:t>
            </a:r>
            <a:endParaRPr lang="en-US" sz="1400" i="1" dirty="0">
              <a:latin typeface="Consolas" pitchFamily="49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1447800"/>
            <a:ext cx="2971800" cy="389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val 6"/>
          <p:cNvSpPr/>
          <p:nvPr/>
        </p:nvSpPr>
        <p:spPr>
          <a:xfrm>
            <a:off x="6553200" y="4419600"/>
            <a:ext cx="1371600" cy="6858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index.js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533400" y="1524000"/>
            <a:ext cx="8153400" cy="483209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latin typeface="Consolas" pitchFamily="49" charset="0"/>
              </a:rPr>
              <a:t>import React from 'react';</a:t>
            </a:r>
          </a:p>
          <a:p>
            <a:r>
              <a:rPr lang="en-US" sz="1400" dirty="0" smtClean="0">
                <a:latin typeface="Consolas" pitchFamily="49" charset="0"/>
              </a:rPr>
              <a:t>import </a:t>
            </a:r>
            <a:r>
              <a:rPr lang="en-US" sz="1400" dirty="0" err="1" smtClean="0">
                <a:latin typeface="Consolas" pitchFamily="49" charset="0"/>
              </a:rPr>
              <a:t>ReactDOM</a:t>
            </a:r>
            <a:r>
              <a:rPr lang="en-US" sz="1400" dirty="0" smtClean="0">
                <a:latin typeface="Consolas" pitchFamily="49" charset="0"/>
              </a:rPr>
              <a:t> from 'react-</a:t>
            </a:r>
            <a:r>
              <a:rPr lang="en-US" sz="1400" dirty="0" err="1" smtClean="0">
                <a:latin typeface="Consolas" pitchFamily="49" charset="0"/>
              </a:rPr>
              <a:t>dom</a:t>
            </a:r>
            <a:r>
              <a:rPr lang="en-US" sz="1400" dirty="0" smtClean="0">
                <a:latin typeface="Consolas" pitchFamily="49" charset="0"/>
              </a:rPr>
              <a:t>';</a:t>
            </a:r>
          </a:p>
          <a:p>
            <a:r>
              <a:rPr lang="en-US" sz="1400" dirty="0" smtClean="0">
                <a:latin typeface="Consolas" pitchFamily="49" charset="0"/>
              </a:rPr>
              <a:t>import './index.css';</a:t>
            </a:r>
          </a:p>
          <a:p>
            <a:r>
              <a:rPr lang="en-US" sz="1400" dirty="0" smtClean="0">
                <a:latin typeface="Consolas" pitchFamily="49" charset="0"/>
              </a:rPr>
              <a:t>import App from './App';</a:t>
            </a:r>
          </a:p>
          <a:p>
            <a:r>
              <a:rPr lang="en-US" sz="1400" dirty="0" smtClean="0">
                <a:latin typeface="Consolas" pitchFamily="49" charset="0"/>
              </a:rPr>
              <a:t>import * as </a:t>
            </a:r>
            <a:r>
              <a:rPr lang="en-US" sz="1400" dirty="0" err="1" smtClean="0">
                <a:latin typeface="Consolas" pitchFamily="49" charset="0"/>
              </a:rPr>
              <a:t>serviceWorker</a:t>
            </a:r>
            <a:r>
              <a:rPr lang="en-US" sz="1400" dirty="0" smtClean="0">
                <a:latin typeface="Consolas" pitchFamily="49" charset="0"/>
              </a:rPr>
              <a:t> from './</a:t>
            </a:r>
            <a:r>
              <a:rPr lang="en-US" sz="1400" dirty="0" err="1" smtClean="0">
                <a:latin typeface="Consolas" pitchFamily="49" charset="0"/>
              </a:rPr>
              <a:t>serviceWorker</a:t>
            </a:r>
            <a:r>
              <a:rPr lang="en-US" sz="1400" dirty="0" smtClean="0">
                <a:latin typeface="Consolas" pitchFamily="49" charset="0"/>
              </a:rPr>
              <a:t>';</a:t>
            </a:r>
          </a:p>
          <a:p>
            <a:r>
              <a:rPr lang="en-US" sz="1400" dirty="0" smtClean="0">
                <a:latin typeface="Consolas" pitchFamily="49" charset="0"/>
              </a:rPr>
              <a:t>import { </a:t>
            </a:r>
            <a:r>
              <a:rPr lang="en-US" sz="1400" dirty="0" err="1" smtClean="0">
                <a:latin typeface="Consolas" pitchFamily="49" charset="0"/>
              </a:rPr>
              <a:t>createStore</a:t>
            </a:r>
            <a:r>
              <a:rPr lang="en-US" sz="1400" dirty="0" smtClean="0">
                <a:latin typeface="Consolas" pitchFamily="49" charset="0"/>
              </a:rPr>
              <a:t> } from "</a:t>
            </a:r>
            <a:r>
              <a:rPr lang="en-US" sz="1400" dirty="0" err="1" smtClean="0">
                <a:latin typeface="Consolas" pitchFamily="49" charset="0"/>
              </a:rPr>
              <a:t>redux</a:t>
            </a:r>
            <a:r>
              <a:rPr lang="en-US" sz="1400" dirty="0" smtClean="0">
                <a:latin typeface="Consolas" pitchFamily="49" charset="0"/>
              </a:rPr>
              <a:t>";</a:t>
            </a:r>
          </a:p>
          <a:p>
            <a:r>
              <a:rPr lang="en-US" sz="1400" dirty="0" smtClean="0">
                <a:latin typeface="Consolas" pitchFamily="49" charset="0"/>
              </a:rPr>
              <a:t>import { Provider } from "react-</a:t>
            </a:r>
            <a:r>
              <a:rPr lang="en-US" sz="1400" dirty="0" err="1" smtClean="0">
                <a:latin typeface="Consolas" pitchFamily="49" charset="0"/>
              </a:rPr>
              <a:t>redux</a:t>
            </a:r>
            <a:r>
              <a:rPr lang="en-US" sz="1400" dirty="0" smtClean="0">
                <a:latin typeface="Consolas" pitchFamily="49" charset="0"/>
              </a:rPr>
              <a:t>";</a:t>
            </a:r>
          </a:p>
          <a:p>
            <a:r>
              <a:rPr lang="en-US" sz="1400" dirty="0" smtClean="0">
                <a:latin typeface="Consolas" pitchFamily="49" charset="0"/>
              </a:rPr>
              <a:t>import </a:t>
            </a:r>
            <a:r>
              <a:rPr lang="en-US" sz="1400" dirty="0" err="1" smtClean="0">
                <a:latin typeface="Consolas" pitchFamily="49" charset="0"/>
              </a:rPr>
              <a:t>counterReducer</a:t>
            </a:r>
            <a:r>
              <a:rPr lang="en-US" sz="1400" dirty="0" smtClean="0">
                <a:latin typeface="Consolas" pitchFamily="49" charset="0"/>
              </a:rPr>
              <a:t> from "./</a:t>
            </a:r>
            <a:r>
              <a:rPr lang="en-US" sz="1400" dirty="0" err="1" smtClean="0">
                <a:latin typeface="Consolas" pitchFamily="49" charset="0"/>
              </a:rPr>
              <a:t>counterReducer</a:t>
            </a:r>
            <a:r>
              <a:rPr lang="en-US" sz="1400" dirty="0" smtClean="0">
                <a:latin typeface="Consolas" pitchFamily="49" charset="0"/>
              </a:rPr>
              <a:t>";</a:t>
            </a:r>
          </a:p>
          <a:p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smtClean="0">
                <a:latin typeface="Consolas" pitchFamily="49" charset="0"/>
              </a:rPr>
              <a:t>// Store</a:t>
            </a:r>
          </a:p>
          <a:p>
            <a:r>
              <a:rPr lang="en-US" sz="1400" dirty="0" err="1" smtClean="0">
                <a:latin typeface="Consolas" pitchFamily="49" charset="0"/>
              </a:rPr>
              <a:t>var</a:t>
            </a:r>
            <a:r>
              <a:rPr lang="en-US" sz="1400" dirty="0" smtClean="0">
                <a:latin typeface="Consolas" pitchFamily="49" charset="0"/>
              </a:rPr>
              <a:t> store = </a:t>
            </a:r>
            <a:r>
              <a:rPr lang="en-US" sz="1400" dirty="0" err="1" smtClean="0">
                <a:latin typeface="Consolas" pitchFamily="49" charset="0"/>
              </a:rPr>
              <a:t>createStore</a:t>
            </a:r>
            <a:r>
              <a:rPr lang="en-US" sz="1400" dirty="0" smtClean="0">
                <a:latin typeface="Consolas" pitchFamily="49" charset="0"/>
              </a:rPr>
              <a:t>(</a:t>
            </a:r>
            <a:r>
              <a:rPr lang="en-US" sz="1400" dirty="0" err="1" smtClean="0">
                <a:latin typeface="Consolas" pitchFamily="49" charset="0"/>
              </a:rPr>
              <a:t>counterReducer</a:t>
            </a:r>
            <a:r>
              <a:rPr lang="en-US" sz="1400" dirty="0" smtClean="0">
                <a:latin typeface="Consolas" pitchFamily="49" charset="0"/>
              </a:rPr>
              <a:t>);</a:t>
            </a:r>
          </a:p>
          <a:p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err="1" smtClean="0">
                <a:latin typeface="Consolas" pitchFamily="49" charset="0"/>
              </a:rPr>
              <a:t>ReactDOM.render</a:t>
            </a:r>
            <a:r>
              <a:rPr lang="en-US" sz="1400" dirty="0" smtClean="0">
                <a:latin typeface="Consolas" pitchFamily="49" charset="0"/>
              </a:rPr>
              <a:t>(</a:t>
            </a:r>
          </a:p>
          <a:p>
            <a:r>
              <a:rPr lang="en-US" sz="1400" dirty="0" smtClean="0">
                <a:latin typeface="Consolas" pitchFamily="49" charset="0"/>
              </a:rPr>
              <a:t>    &lt;Provider store={store}&gt;</a:t>
            </a:r>
          </a:p>
          <a:p>
            <a:r>
              <a:rPr lang="en-US" sz="1400" dirty="0" smtClean="0">
                <a:latin typeface="Consolas" pitchFamily="49" charset="0"/>
              </a:rPr>
              <a:t>        &lt;App /&gt;</a:t>
            </a:r>
          </a:p>
          <a:p>
            <a:r>
              <a:rPr lang="en-US" sz="1400" dirty="0" smtClean="0">
                <a:latin typeface="Consolas" pitchFamily="49" charset="0"/>
              </a:rPr>
              <a:t>    &lt;/Provider&gt;, </a:t>
            </a:r>
          </a:p>
          <a:p>
            <a:r>
              <a:rPr lang="en-US" sz="1400" dirty="0" smtClean="0">
                <a:latin typeface="Consolas" pitchFamily="49" charset="0"/>
              </a:rPr>
              <a:t>    </a:t>
            </a:r>
            <a:r>
              <a:rPr lang="en-US" sz="1400" dirty="0" err="1" smtClean="0">
                <a:latin typeface="Consolas" pitchFamily="49" charset="0"/>
              </a:rPr>
              <a:t>document.getElementById</a:t>
            </a:r>
            <a:r>
              <a:rPr lang="en-US" sz="1400" dirty="0" smtClean="0">
                <a:latin typeface="Consolas" pitchFamily="49" charset="0"/>
              </a:rPr>
              <a:t>('root'));</a:t>
            </a:r>
          </a:p>
          <a:p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smtClean="0">
                <a:latin typeface="Consolas" pitchFamily="49" charset="0"/>
              </a:rPr>
              <a:t>// If you want your app to work offline and load faster, you can change</a:t>
            </a:r>
          </a:p>
          <a:p>
            <a:r>
              <a:rPr lang="en-US" sz="1400" dirty="0" smtClean="0">
                <a:latin typeface="Consolas" pitchFamily="49" charset="0"/>
              </a:rPr>
              <a:t>// unregister() to register() below. Note this comes with some pitfalls.</a:t>
            </a:r>
          </a:p>
          <a:p>
            <a:r>
              <a:rPr lang="en-US" sz="1400" dirty="0" smtClean="0">
                <a:latin typeface="Consolas" pitchFamily="49" charset="0"/>
              </a:rPr>
              <a:t>// Learn more about service workers: https://bit.ly/CRA-PWA</a:t>
            </a:r>
          </a:p>
          <a:p>
            <a:r>
              <a:rPr lang="en-US" sz="1400" dirty="0" err="1" smtClean="0">
                <a:latin typeface="Consolas" pitchFamily="49" charset="0"/>
              </a:rPr>
              <a:t>serviceWorker.unregister</a:t>
            </a:r>
            <a:r>
              <a:rPr lang="en-US" sz="1400" dirty="0" smtClean="0">
                <a:latin typeface="Consolas" pitchFamily="49" charset="0"/>
              </a:rPr>
              <a:t>();</a:t>
            </a:r>
          </a:p>
        </p:txBody>
      </p:sp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0300" y="4495800"/>
            <a:ext cx="2324100" cy="674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457200"/>
            <a:ext cx="2971800" cy="389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5"/>
          <p:cNvSpPr/>
          <p:nvPr/>
        </p:nvSpPr>
        <p:spPr>
          <a:xfrm>
            <a:off x="6781800" y="2438400"/>
            <a:ext cx="1752600" cy="6858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19703</TotalTime>
  <Words>891</Words>
  <Application>Microsoft Office PowerPoint</Application>
  <PresentationFormat>On-screen Show (4:3)</PresentationFormat>
  <Paragraphs>197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Redux</vt:lpstr>
      <vt:lpstr>Objectives</vt:lpstr>
      <vt:lpstr>Contents</vt:lpstr>
      <vt:lpstr>References</vt:lpstr>
      <vt:lpstr>Multiple Components</vt:lpstr>
      <vt:lpstr>Application State Management</vt:lpstr>
      <vt:lpstr>Redux</vt:lpstr>
      <vt:lpstr>Action (Command) Objects</vt:lpstr>
      <vt:lpstr>Reducer Object</vt:lpstr>
      <vt:lpstr>Reducer Object</vt:lpstr>
      <vt:lpstr>State Changes Notification</vt:lpstr>
      <vt:lpstr>React State Management</vt:lpstr>
      <vt:lpstr>Use Case</vt:lpstr>
      <vt:lpstr>Create redux-counter app</vt:lpstr>
      <vt:lpstr>Counter.js</vt:lpstr>
      <vt:lpstr>counterReducer.js</vt:lpstr>
      <vt:lpstr>App.js (Mapper)</vt:lpstr>
      <vt:lpstr>index.js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5527</cp:revision>
  <dcterms:created xsi:type="dcterms:W3CDTF">2007-10-06T08:25:13Z</dcterms:created>
  <dcterms:modified xsi:type="dcterms:W3CDTF">2024-01-26T19:35:27Z</dcterms:modified>
</cp:coreProperties>
</file>