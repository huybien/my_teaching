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1"/>
  </p:notesMasterIdLst>
  <p:sldIdLst>
    <p:sldId id="670" r:id="rId2"/>
    <p:sldId id="671" r:id="rId3"/>
    <p:sldId id="672" r:id="rId4"/>
    <p:sldId id="673" r:id="rId5"/>
    <p:sldId id="674" r:id="rId6"/>
    <p:sldId id="700" r:id="rId7"/>
    <p:sldId id="698" r:id="rId8"/>
    <p:sldId id="699" r:id="rId9"/>
    <p:sldId id="681" r:id="rId10"/>
    <p:sldId id="680" r:id="rId11"/>
    <p:sldId id="682" r:id="rId12"/>
    <p:sldId id="701" r:id="rId13"/>
    <p:sldId id="684" r:id="rId14"/>
    <p:sldId id="686" r:id="rId15"/>
    <p:sldId id="685" r:id="rId16"/>
    <p:sldId id="702" r:id="rId17"/>
    <p:sldId id="703" r:id="rId18"/>
    <p:sldId id="688" r:id="rId19"/>
    <p:sldId id="689" r:id="rId20"/>
    <p:sldId id="690" r:id="rId21"/>
    <p:sldId id="704" r:id="rId22"/>
    <p:sldId id="705" r:id="rId23"/>
    <p:sldId id="706" r:id="rId24"/>
    <p:sldId id="708" r:id="rId25"/>
    <p:sldId id="709" r:id="rId26"/>
    <p:sldId id="710" r:id="rId27"/>
    <p:sldId id="711" r:id="rId28"/>
    <p:sldId id="712" r:id="rId29"/>
    <p:sldId id="713" r:id="rId30"/>
    <p:sldId id="691" r:id="rId31"/>
    <p:sldId id="714" r:id="rId32"/>
    <p:sldId id="694" r:id="rId33"/>
    <p:sldId id="696" r:id="rId34"/>
    <p:sldId id="693" r:id="rId35"/>
    <p:sldId id="716" r:id="rId36"/>
    <p:sldId id="717" r:id="rId37"/>
    <p:sldId id="715" r:id="rId38"/>
    <p:sldId id="692" r:id="rId39"/>
    <p:sldId id="516" r:id="rId4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 autoAdjust="0"/>
    <p:restoredTop sz="94667" autoAdjust="0"/>
  </p:normalViewPr>
  <p:slideViewPr>
    <p:cSldViewPr>
      <p:cViewPr>
        <p:scale>
          <a:sx n="50" d="100"/>
          <a:sy n="50" d="100"/>
        </p:scale>
        <p:origin x="-153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martinfowler.com/articles/micro-frontends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ss-modules/css-modules" TargetMode="External"/><Relationship Id="rId2" Type="http://schemas.openxmlformats.org/officeDocument/2006/relationships/hyperlink" Target="https://sass-lang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mozilla.org/en-US/docs/Web/API/Web_components/Using_shadow_DOM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single-spa.js.org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utio/micro-frontend-demo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utio/micro-frontend-demo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rgs/micro-frontends-demo/repositories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Micro-Frontends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>
                <a:hlinkClick r:id="rId2"/>
              </a:rPr>
              <a:t>https://martinfowler.com/articles/micro-frontends.html</a:t>
            </a:r>
            <a:endParaRPr lang="en-US" sz="2400" dirty="0" smtClean="0"/>
          </a:p>
          <a:p>
            <a:pPr>
              <a:buFont typeface="+mj-lt"/>
              <a:buAutoNum type="arabicPeriod"/>
            </a:pPr>
            <a:r>
              <a:rPr lang="en-US" sz="2400" dirty="0" smtClean="0"/>
              <a:t>Michael </a:t>
            </a:r>
            <a:r>
              <a:rPr lang="en-US" sz="2400" dirty="0" err="1" smtClean="0"/>
              <a:t>Geers</a:t>
            </a:r>
            <a:r>
              <a:rPr lang="en-US" sz="2400" dirty="0" smtClean="0"/>
              <a:t> (2020). Micro Frontends in Action. Manning Publications.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Luca </a:t>
            </a:r>
            <a:r>
              <a:rPr lang="en-US" sz="2400" dirty="0" err="1" smtClean="0"/>
              <a:t>Mezzalira</a:t>
            </a:r>
            <a:r>
              <a:rPr lang="en-US" sz="2400" dirty="0" smtClean="0"/>
              <a:t> (2022). Building Micro-Frontends. O'Reilly Media.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Micro-Frontends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 architectural style where independently deliverable frontend applications are composed into a greater whole.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Monolithic Frontend [2]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2900" y="1981200"/>
            <a:ext cx="5918200" cy="356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Decomposition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711325"/>
            <a:ext cx="4924425" cy="438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Integration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4813" y="2035175"/>
            <a:ext cx="5794375" cy="383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Micro-Frontends?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Autonomous teams</a:t>
            </a:r>
          </a:p>
          <a:p>
            <a:r>
              <a:rPr lang="en-US" sz="2400" dirty="0" smtClean="0"/>
              <a:t>Incremental upgrades</a:t>
            </a:r>
          </a:p>
          <a:p>
            <a:r>
              <a:rPr lang="en-US" sz="2400" dirty="0" smtClean="0"/>
              <a:t>Simple, decoupled codebases</a:t>
            </a:r>
          </a:p>
          <a:p>
            <a:r>
              <a:rPr lang="en-US" sz="2400" dirty="0" smtClean="0"/>
              <a:t>Independent deployment</a:t>
            </a:r>
          </a:p>
        </p:txBody>
      </p:sp>
      <p:pic>
        <p:nvPicPr>
          <p:cNvPr id="1026" name="Picture 2" descr="https://martinfowler.com/articles/micro-frontends/deploymen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90650" y="3879850"/>
            <a:ext cx="6610350" cy="221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Decomposition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Generally there is a micro frontend for each page in the application, and there is a single </a:t>
            </a:r>
            <a:r>
              <a:rPr lang="en-US" sz="2800" b="1" dirty="0" smtClean="0"/>
              <a:t>container application.</a:t>
            </a:r>
            <a:endParaRPr lang="en-US" sz="2200" dirty="0"/>
          </a:p>
        </p:txBody>
      </p:sp>
      <p:pic>
        <p:nvPicPr>
          <p:cNvPr id="3074" name="Picture 2" descr="https://martinfowler.com/articles/micro-frontends/compositi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3505200"/>
            <a:ext cx="5403850" cy="2457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Integration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there is a single </a:t>
            </a:r>
            <a:r>
              <a:rPr lang="en-US" sz="2800" b="1" dirty="0" smtClean="0"/>
              <a:t>container application</a:t>
            </a:r>
            <a:r>
              <a:rPr lang="en-US" sz="2800" dirty="0" smtClean="0"/>
              <a:t>, which:</a:t>
            </a:r>
          </a:p>
          <a:p>
            <a:pPr lvl="1"/>
            <a:r>
              <a:rPr lang="en-US" sz="2200" dirty="0" smtClean="0"/>
              <a:t>renders common page elements such as headers and footers</a:t>
            </a:r>
          </a:p>
          <a:p>
            <a:pPr lvl="1"/>
            <a:r>
              <a:rPr lang="en-US" sz="2200" dirty="0" smtClean="0"/>
              <a:t>addresses cross-cutting concerns like authentication and navigation</a:t>
            </a:r>
          </a:p>
          <a:p>
            <a:pPr lvl="1"/>
            <a:r>
              <a:rPr lang="en-US" sz="2200" dirty="0" smtClean="0"/>
              <a:t>brings the various micro frontends together onto the page, and tells each micro frontend when and where to render itself</a:t>
            </a:r>
            <a:endParaRPr lang="en-US" sz="2200" dirty="0"/>
          </a:p>
        </p:txBody>
      </p:sp>
      <p:pic>
        <p:nvPicPr>
          <p:cNvPr id="5" name="Picture 2" descr="https://martinfowler.com/articles/micro-frontends/compositi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4343400"/>
            <a:ext cx="4052888" cy="18430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Server-side Composition [2]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0613" y="1695450"/>
            <a:ext cx="6962775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Server-side template integration [1]</a:t>
            </a:r>
            <a:endParaRPr lang="en-US" sz="4200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447800"/>
            <a:ext cx="4295775" cy="509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362200"/>
            <a:ext cx="2971800" cy="216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Run-time integration via </a:t>
            </a:r>
            <a:r>
              <a:rPr lang="en-US" dirty="0" err="1" smtClean="0"/>
              <a:t>iframes</a:t>
            </a:r>
            <a:endParaRPr 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1513" y="1857375"/>
            <a:ext cx="5260975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Run-time integration via JavaScript</a:t>
            </a:r>
            <a:endParaRPr 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5950" y="1612900"/>
            <a:ext cx="5372100" cy="478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Run-time integration via Web Components</a:t>
            </a:r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524000"/>
            <a:ext cx="5353050" cy="517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Wrapping micro frontends using Web Components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Team Checkout owns the complete checkout flow.</a:t>
            </a:r>
          </a:p>
          <a:p>
            <a:r>
              <a:rPr lang="en-US" sz="2000" dirty="0" smtClean="0"/>
              <a:t>Team Decide does not have to know about how the checkout works.</a:t>
            </a:r>
          </a:p>
          <a:p>
            <a:r>
              <a:rPr lang="en-US" sz="2000" dirty="0" smtClean="0"/>
              <a:t>But they need to integrate Team Checkout’s Buy-button fragment in the detail page to make it work.</a:t>
            </a:r>
          </a:p>
          <a:p>
            <a:r>
              <a:rPr lang="en-US" sz="2000" dirty="0" smtClean="0"/>
              <a:t>Team Checkout provides this button as a standalone micro frontend.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3581400"/>
            <a:ext cx="6346825" cy="279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Styling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CSS as a language is inherently global, inheriting, and cascading, traditionally with </a:t>
            </a:r>
            <a:r>
              <a:rPr lang="en-US" sz="2400" b="1" dirty="0" smtClean="0"/>
              <a:t>no</a:t>
            </a:r>
            <a:r>
              <a:rPr lang="en-US" sz="2400" dirty="0" smtClean="0"/>
              <a:t> module system, </a:t>
            </a:r>
            <a:r>
              <a:rPr lang="en-US" sz="2400" dirty="0" err="1" smtClean="0"/>
              <a:t>namespacing</a:t>
            </a:r>
            <a:r>
              <a:rPr lang="en-US" sz="2400" dirty="0" smtClean="0"/>
              <a:t> or encapsulation.</a:t>
            </a:r>
            <a:endParaRPr lang="en-US" sz="2400" dirty="0" smtClean="0">
              <a:hlinkClick r:id="rId2"/>
            </a:endParaRPr>
          </a:p>
          <a:p>
            <a:r>
              <a:rPr lang="en-US" sz="2400" dirty="0" smtClean="0">
                <a:hlinkClick r:id="rId2"/>
              </a:rPr>
              <a:t>https://sass-lang.com/</a:t>
            </a:r>
            <a:r>
              <a:rPr lang="en-US" sz="2400" dirty="0" smtClean="0"/>
              <a:t> (selector nesting can be used as a form of </a:t>
            </a:r>
            <a:r>
              <a:rPr lang="en-US" sz="2400" dirty="0" err="1" smtClean="0"/>
              <a:t>namespacing</a:t>
            </a:r>
            <a:r>
              <a:rPr lang="en-US" sz="2400" dirty="0" smtClean="0"/>
              <a:t>)</a:t>
            </a:r>
          </a:p>
          <a:p>
            <a:r>
              <a:rPr lang="en-US" sz="2400" dirty="0" smtClean="0">
                <a:hlinkClick r:id="rId3"/>
              </a:rPr>
              <a:t>https://github.com/css-modules/css-modules</a:t>
            </a:r>
            <a:r>
              <a:rPr lang="en-US" sz="2400" dirty="0" smtClean="0"/>
              <a:t> (styles are directly applied only in the places the developer intends)</a:t>
            </a:r>
          </a:p>
          <a:p>
            <a:r>
              <a:rPr lang="en-US" sz="2400" dirty="0" smtClean="0">
                <a:hlinkClick r:id="rId4"/>
              </a:rPr>
              <a:t>https://developer.mozilla.org/en-US/docs/Web/API/Web_components/Using_shadow_DOM</a:t>
            </a:r>
            <a:r>
              <a:rPr lang="en-US" sz="2400" dirty="0" smtClean="0"/>
              <a:t> (style isolation)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Shared component libraries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Let teams create their own components within their codebases as they need them, even if that causes some duplication initially.</a:t>
            </a:r>
          </a:p>
          <a:p>
            <a:r>
              <a:rPr lang="en-US" sz="2400" dirty="0" smtClean="0"/>
              <a:t>Allow the patterns to emerge naturally, and once the component's API has become obvious, you can harvest the duplicate code into a shared library and be confident that you have something proven.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Cross-application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Whatever approach we choose, we want our micro frontends to communicate by sending messages or events to each other, and avoid having any shared state.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Page-to-page Communication [2]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1150" y="2152650"/>
            <a:ext cx="5981700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Page and Fragment Communication</a:t>
            </a:r>
            <a:endParaRPr lang="en-US" sz="4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8300" y="2216150"/>
            <a:ext cx="5867400" cy="242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Approaches to Page Transitions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359025"/>
            <a:ext cx="7162800" cy="274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Unified Single Page App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Unified Single Page App approach introduces a central application container.</a:t>
            </a:r>
          </a:p>
          <a:p>
            <a:r>
              <a:rPr lang="en-US" sz="2400" dirty="0" smtClean="0"/>
              <a:t>It handles page transitions between the teams.</a:t>
            </a:r>
          </a:p>
          <a:p>
            <a:r>
              <a:rPr lang="en-US" sz="2400" dirty="0" smtClean="0"/>
              <a:t>Here all navigations are soft.</a:t>
            </a:r>
            <a:endParaRPr 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3863" y="3552825"/>
            <a:ext cx="57562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App Shell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00400" cy="4525963"/>
          </a:xfrm>
        </p:spPr>
        <p:txBody>
          <a:bodyPr/>
          <a:lstStyle/>
          <a:p>
            <a:r>
              <a:rPr lang="en-US" sz="2400" dirty="0" smtClean="0"/>
              <a:t>The app shell acts as a parent application for all micro frontends.</a:t>
            </a:r>
          </a:p>
          <a:p>
            <a:r>
              <a:rPr lang="en-US" sz="2400" dirty="0" smtClean="0"/>
              <a:t>All incoming requests arrive there.</a:t>
            </a:r>
          </a:p>
          <a:p>
            <a:r>
              <a:rPr lang="en-US" sz="2400" dirty="0" smtClean="0"/>
              <a:t>It selects the micro frontend the user wants to see and renders it in the </a:t>
            </a:r>
            <a:r>
              <a:rPr lang="en-US" sz="2400" b="1" dirty="0" smtClean="0"/>
              <a:t>&lt;body&gt;</a:t>
            </a:r>
            <a:r>
              <a:rPr lang="en-US" sz="2400" dirty="0" smtClean="0"/>
              <a:t> of the document.</a:t>
            </a:r>
            <a:endParaRPr 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1752600"/>
            <a:ext cx="495935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 shell with Two-level Routing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590800" cy="4525963"/>
          </a:xfrm>
        </p:spPr>
        <p:txBody>
          <a:bodyPr/>
          <a:lstStyle/>
          <a:p>
            <a:r>
              <a:rPr lang="en-US" sz="1800" dirty="0" smtClean="0"/>
              <a:t>The app shell looks at the first part of the URL to determine which team is responsible (top-level routing).</a:t>
            </a:r>
          </a:p>
          <a:p>
            <a:r>
              <a:rPr lang="en-US" sz="1800" dirty="0" smtClean="0"/>
              <a:t>The router of the matched team processes the complete URL to find the correct page inside its single-page application (second-level routing).</a:t>
            </a:r>
            <a:endParaRPr 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905000"/>
            <a:ext cx="5626100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Single-SPA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https://single-spa.js.org/</a:t>
            </a:r>
            <a:endParaRPr lang="en-US" sz="2400" dirty="0" smtClean="0"/>
          </a:p>
          <a:p>
            <a:r>
              <a:rPr lang="en-US" sz="2400" dirty="0" smtClean="0"/>
              <a:t>Single-spa acts as the application shell which routes between the applications.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9138" y="3016250"/>
            <a:ext cx="5165725" cy="292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Universal Composition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1752600"/>
            <a:ext cx="5743575" cy="424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2438400" cy="4525963"/>
          </a:xfrm>
        </p:spPr>
        <p:txBody>
          <a:bodyPr/>
          <a:lstStyle/>
          <a:p>
            <a:r>
              <a:rPr lang="en-US" sz="2200" dirty="0" smtClean="0"/>
              <a:t>The terms universal rendering, Isomorphic JavaScript, and server-side rendering (SSR) essentially refer to the same concept.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Universal 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Universal composition is the combination of a server- and a client-side composition technique.</a:t>
            </a:r>
          </a:p>
          <a:p>
            <a:r>
              <a:rPr lang="en-US" sz="2400" dirty="0" smtClean="0"/>
              <a:t>For the first request, a technique like SSI, ESI, or Podium assembles the markup of all micro frontends server-side. The complete HTML document gets sent to the browser (1).</a:t>
            </a:r>
          </a:p>
          <a:p>
            <a:r>
              <a:rPr lang="en-US" sz="2400" dirty="0" smtClean="0"/>
              <a:t>In the browser, each micro frontend hydrates itself and becomes interactive (2).</a:t>
            </a:r>
          </a:p>
          <a:p>
            <a:r>
              <a:rPr lang="en-US" sz="2400" dirty="0" smtClean="0"/>
              <a:t>From there on, all user interactions can happen fully client-side. The micro frontends update the markup directly in the browser (3).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Tradeoffs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Independently-built JavaScript bundles can cause duplication of common dependencies, increasing the number of bytes we have to send over the network to our end users.</a:t>
            </a:r>
          </a:p>
          <a:p>
            <a:r>
              <a:rPr lang="en-US" sz="2400" dirty="0" smtClean="0"/>
              <a:t>Micro frontends will inevitably lead to having more </a:t>
            </a:r>
            <a:r>
              <a:rPr lang="en-US" sz="2400" i="1" dirty="0" smtClean="0"/>
              <a:t>stuff</a:t>
            </a:r>
            <a:r>
              <a:rPr lang="en-US" sz="2400" dirty="0" smtClean="0"/>
              <a:t> to manage - more repositories, more tools, more build/deploy pipelines, more servers, more domains.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Micro Frontend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https://github.com/rautio/micro-frontend-demo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Isomorphic Applications</a:t>
            </a:r>
            <a:endParaRPr lang="en-US" dirty="0"/>
          </a:p>
        </p:txBody>
      </p:sp>
      <p:sp>
        <p:nvSpPr>
          <p:cNvPr id="1026" name="AutoShape 2" descr="https://miro.medium.com/v2/resize:fit:1400/format:webp/1*NIgLkRTHiaQbS_7GTBMRIg.jpeg"/>
          <p:cNvSpPr>
            <a:spLocks noChangeAspect="1" noChangeArrowheads="1"/>
          </p:cNvSpPr>
          <p:nvPr/>
        </p:nvSpPr>
        <p:spPr bwMode="auto">
          <a:xfrm>
            <a:off x="155575" y="-2590800"/>
            <a:ext cx="9058275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https://miro.medium.com/v2/resize:fit:1400/format:webp/1*NIgLkRTHiaQbS_7GTBMRIg.jpeg"/>
          <p:cNvSpPr>
            <a:spLocks noChangeAspect="1" noChangeArrowheads="1"/>
          </p:cNvSpPr>
          <p:nvPr/>
        </p:nvSpPr>
        <p:spPr bwMode="auto">
          <a:xfrm>
            <a:off x="155575" y="-2590800"/>
            <a:ext cx="9058275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752600"/>
            <a:ext cx="7025425" cy="4189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hlinkClick r:id="rId2"/>
              </a:rPr>
              <a:t>https://</a:t>
            </a:r>
            <a:r>
              <a:rPr lang="en-US" sz="2800" dirty="0" smtClean="0">
                <a:hlinkClick r:id="rId2"/>
              </a:rPr>
              <a:t>github.com/rautio/micro-frontend-demo</a:t>
            </a:r>
            <a:endParaRPr lang="en-US" sz="2800" dirty="0" smtClean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https://microfrontends.com/</a:t>
            </a:r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 smtClean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github.com/orgs/micro-frontends-demo/repositories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Luca </a:t>
            </a:r>
            <a:r>
              <a:rPr lang="en-US" sz="2200" dirty="0" err="1" smtClean="0"/>
              <a:t>Mezzalira</a:t>
            </a:r>
            <a:r>
              <a:rPr lang="en-US" sz="2200" dirty="0" smtClean="0"/>
              <a:t> (2022). Building Micro-Frontends. O'Reilly Media.</a:t>
            </a:r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3429000"/>
            <a:ext cx="3250276" cy="21654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20752</TotalTime>
  <Words>776</Words>
  <Application>Microsoft Office PowerPoint</Application>
  <PresentationFormat>On-screen Show (4:3)</PresentationFormat>
  <Paragraphs>89</Paragraphs>
  <Slides>39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Micro-Frontends</vt:lpstr>
      <vt:lpstr>Objectives</vt:lpstr>
      <vt:lpstr>Contents</vt:lpstr>
      <vt:lpstr>References</vt:lpstr>
      <vt:lpstr>Micro-Frontends [1]</vt:lpstr>
      <vt:lpstr>Monolithic Frontend [2]</vt:lpstr>
      <vt:lpstr>Decomposition</vt:lpstr>
      <vt:lpstr>Integration</vt:lpstr>
      <vt:lpstr>Why Micro-Frontends? [1]</vt:lpstr>
      <vt:lpstr>Decomposition approaches</vt:lpstr>
      <vt:lpstr>Integration approaches</vt:lpstr>
      <vt:lpstr>Server-side Composition [2]</vt:lpstr>
      <vt:lpstr>Server-side template integration [1]</vt:lpstr>
      <vt:lpstr>Run-time integration via iframes</vt:lpstr>
      <vt:lpstr>Run-time integration via JavaScript</vt:lpstr>
      <vt:lpstr>Run-time integration via Web Components</vt:lpstr>
      <vt:lpstr>Wrapping micro frontends using Web Components [2]</vt:lpstr>
      <vt:lpstr>Styling [1]</vt:lpstr>
      <vt:lpstr>Shared component libraries</vt:lpstr>
      <vt:lpstr>Cross-application communication</vt:lpstr>
      <vt:lpstr>Page-to-page Communication [2]</vt:lpstr>
      <vt:lpstr>Page and Fragment Communication</vt:lpstr>
      <vt:lpstr>Approaches to Page Transitions</vt:lpstr>
      <vt:lpstr>Unified Single Page App Approach</vt:lpstr>
      <vt:lpstr>The App Shell</vt:lpstr>
      <vt:lpstr>App shell with Two-level Routing</vt:lpstr>
      <vt:lpstr>Single-SPA</vt:lpstr>
      <vt:lpstr>Universal Composition</vt:lpstr>
      <vt:lpstr>Universal Composition</vt:lpstr>
      <vt:lpstr>Tradeoffs [3]</vt:lpstr>
      <vt:lpstr>Micro Frontend Demo</vt:lpstr>
      <vt:lpstr>Slide 32</vt:lpstr>
      <vt:lpstr>Isomorphic Applications</vt:lpstr>
      <vt:lpstr>Slide 34</vt:lpstr>
      <vt:lpstr>Demo 1</vt:lpstr>
      <vt:lpstr>Demo 2</vt:lpstr>
      <vt:lpstr>Slide 37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4916</cp:revision>
  <dcterms:created xsi:type="dcterms:W3CDTF">2007-10-06T08:25:13Z</dcterms:created>
  <dcterms:modified xsi:type="dcterms:W3CDTF">2026-07-15T17:52:02Z</dcterms:modified>
</cp:coreProperties>
</file>