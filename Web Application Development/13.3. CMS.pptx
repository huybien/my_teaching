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44"/>
  </p:notesMasterIdLst>
  <p:sldIdLst>
    <p:sldId id="371" r:id="rId2"/>
    <p:sldId id="392" r:id="rId3"/>
    <p:sldId id="393" r:id="rId4"/>
    <p:sldId id="394" r:id="rId5"/>
    <p:sldId id="374" r:id="rId6"/>
    <p:sldId id="375" r:id="rId7"/>
    <p:sldId id="376" r:id="rId8"/>
    <p:sldId id="377" r:id="rId9"/>
    <p:sldId id="378" r:id="rId10"/>
    <p:sldId id="379" r:id="rId11"/>
    <p:sldId id="345" r:id="rId12"/>
    <p:sldId id="346" r:id="rId13"/>
    <p:sldId id="347" r:id="rId14"/>
    <p:sldId id="348" r:id="rId15"/>
    <p:sldId id="349" r:id="rId16"/>
    <p:sldId id="350" r:id="rId17"/>
    <p:sldId id="351" r:id="rId18"/>
    <p:sldId id="352" r:id="rId19"/>
    <p:sldId id="353" r:id="rId20"/>
    <p:sldId id="354" r:id="rId21"/>
    <p:sldId id="355" r:id="rId22"/>
    <p:sldId id="359" r:id="rId23"/>
    <p:sldId id="356" r:id="rId24"/>
    <p:sldId id="358" r:id="rId25"/>
    <p:sldId id="360" r:id="rId26"/>
    <p:sldId id="361" r:id="rId27"/>
    <p:sldId id="362" r:id="rId28"/>
    <p:sldId id="363" r:id="rId29"/>
    <p:sldId id="365" r:id="rId30"/>
    <p:sldId id="366" r:id="rId31"/>
    <p:sldId id="367" r:id="rId32"/>
    <p:sldId id="368" r:id="rId33"/>
    <p:sldId id="381" r:id="rId34"/>
    <p:sldId id="383" r:id="rId35"/>
    <p:sldId id="384" r:id="rId36"/>
    <p:sldId id="385" r:id="rId37"/>
    <p:sldId id="386" r:id="rId38"/>
    <p:sldId id="387" r:id="rId39"/>
    <p:sldId id="388" r:id="rId40"/>
    <p:sldId id="389" r:id="rId41"/>
    <p:sldId id="390" r:id="rId42"/>
    <p:sldId id="391" r:id="rId4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35" autoAdjust="0"/>
    <p:restoredTop sz="94667" autoAdjust="0"/>
  </p:normalViewPr>
  <p:slideViewPr>
    <p:cSldViewPr>
      <p:cViewPr>
        <p:scale>
          <a:sx n="50" d="100"/>
          <a:sy n="50" d="100"/>
        </p:scale>
        <p:origin x="-1544"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72150E-24DE-4D23-AF8D-CF01896B0C83}" type="datetimeFigureOut">
              <a:rPr lang="en-US" smtClean="0"/>
              <a:pPr/>
              <a:t>3/2/2023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8E95B1-5ED0-4005-B293-784E4C93134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3/2/2023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3/2/2023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3/2/2023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3/2/2023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3/2/2023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3/2/2023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3/2/2023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3/2/2023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3/2/2023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3/2/2023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3/2/2023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3/2/2023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cloudcms.com/index.html"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www.cloudcms.com/quickstart.html"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Content Management System</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381000" y="1752600"/>
            <a:ext cx="5715000" cy="4038600"/>
          </a:xfrm>
        </p:spPr>
        <p:txBody>
          <a:bodyPr/>
          <a:lstStyle/>
          <a:p>
            <a:pPr>
              <a:buFont typeface="Wingdings" pitchFamily="2" charset="2"/>
              <a:buChar char="Ø"/>
            </a:pPr>
            <a:endParaRPr lang="en-US" sz="24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References</a:t>
            </a:r>
            <a:endParaRPr lang="en-US" dirty="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
        <p:nvSpPr>
          <p:cNvPr id="3" name="Content Placeholder 2"/>
          <p:cNvSpPr>
            <a:spLocks noGrp="1"/>
          </p:cNvSpPr>
          <p:nvPr>
            <p:ph idx="1"/>
          </p:nvPr>
        </p:nvSpPr>
        <p:spPr>
          <a:xfrm>
            <a:off x="457200" y="1600200"/>
            <a:ext cx="5638800" cy="4876800"/>
          </a:xfrm>
        </p:spPr>
        <p:txBody>
          <a:bodyPr/>
          <a:lstStyle/>
          <a:p>
            <a:pPr marL="457200" indent="-457200">
              <a:buFont typeface="+mj-lt"/>
              <a:buAutoNum type="arabicPeriod"/>
            </a:pPr>
            <a:r>
              <a:rPr lang="en-US" sz="2200" dirty="0" smtClean="0"/>
              <a:t>Andreas </a:t>
            </a:r>
            <a:r>
              <a:rPr lang="en-US" sz="2200" dirty="0" err="1" smtClean="0"/>
              <a:t>Ruping</a:t>
            </a:r>
            <a:r>
              <a:rPr lang="en-US" sz="2200" dirty="0" smtClean="0"/>
              <a:t> (2009). Where Code and Content Meet. Design Patterns for Web Content Management and Delivery, Personalization and User Participation.</a:t>
            </a:r>
          </a:p>
          <a:p>
            <a:pPr marL="457200" indent="-457200">
              <a:buFont typeface="+mj-lt"/>
              <a:buAutoNum type="arabicPeriod"/>
            </a:pPr>
            <a:endParaRPr lang="en-US" sz="22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676400" y="1600200"/>
            <a:ext cx="5852160" cy="48006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 Software Development</a:t>
            </a:r>
            <a:endParaRPr lang="en-US" dirty="0"/>
          </a:p>
        </p:txBody>
      </p:sp>
      <p:sp>
        <p:nvSpPr>
          <p:cNvPr id="3" name="Content Placeholder 2"/>
          <p:cNvSpPr>
            <a:spLocks noGrp="1"/>
          </p:cNvSpPr>
          <p:nvPr>
            <p:ph idx="1"/>
          </p:nvPr>
        </p:nvSpPr>
        <p:spPr/>
        <p:txBody>
          <a:bodyPr/>
          <a:lstStyle/>
          <a:p>
            <a:r>
              <a:rPr lang="en-US" sz="2400" dirty="0" smtClean="0"/>
              <a:t>Of course, you can (</a:t>
            </a:r>
            <a:r>
              <a:rPr lang="en-US" sz="2400" i="1" dirty="0" smtClean="0">
                <a:solidFill>
                  <a:srgbClr val="C00000"/>
                </a:solidFill>
              </a:rPr>
              <a:t>and should</a:t>
            </a:r>
            <a:r>
              <a:rPr lang="en-US" sz="2400" dirty="0" smtClean="0"/>
              <a:t>) use tools such as a content management system, a web server, web application frameworks, tag libraries, a search engine and perhaps others, and these tools provide much of the necessary standard functionality.</a:t>
            </a:r>
          </a:p>
          <a:p>
            <a:r>
              <a:rPr lang="en-US" sz="2400" dirty="0" smtClean="0"/>
              <a:t>But standard functionality isn’t all you need – it is likely that you will have to meet more </a:t>
            </a:r>
            <a:r>
              <a:rPr lang="en-US" sz="2400" i="1" dirty="0" smtClean="0">
                <a:solidFill>
                  <a:srgbClr val="C00000"/>
                </a:solidFill>
              </a:rPr>
              <a:t>specific requirements</a:t>
            </a:r>
            <a:r>
              <a:rPr lang="en-US" sz="2400" dirty="0" smtClean="0"/>
              <a:t>.</a:t>
            </a:r>
          </a:p>
          <a:p>
            <a:r>
              <a:rPr lang="en-US" sz="2400" dirty="0" smtClean="0"/>
              <a:t>Possible examples include a specifically designed content model, </a:t>
            </a:r>
            <a:r>
              <a:rPr lang="en-US" sz="2400" dirty="0" err="1" smtClean="0"/>
              <a:t>personalisation</a:t>
            </a:r>
            <a:r>
              <a:rPr lang="en-US" sz="2400" dirty="0" smtClean="0"/>
              <a:t> strategies, individual page layouts and support for different output media.</a:t>
            </a:r>
          </a:p>
          <a:p>
            <a:r>
              <a:rPr lang="en-US" sz="2400" dirty="0" smtClean="0"/>
              <a:t>To meet such requirements, custom software development becomes necessary.</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 Web Content</a:t>
            </a:r>
            <a:endParaRPr lang="en-US" dirty="0"/>
          </a:p>
        </p:txBody>
      </p:sp>
      <p:sp>
        <p:nvSpPr>
          <p:cNvPr id="3" name="Content Placeholder 2"/>
          <p:cNvSpPr>
            <a:spLocks noGrp="1"/>
          </p:cNvSpPr>
          <p:nvPr>
            <p:ph idx="1"/>
          </p:nvPr>
        </p:nvSpPr>
        <p:spPr/>
        <p:txBody>
          <a:bodyPr/>
          <a:lstStyle/>
          <a:p>
            <a:r>
              <a:rPr lang="en-US" sz="2400" dirty="0" smtClean="0"/>
              <a:t>An essential part of that custom software needs to handle the </a:t>
            </a:r>
            <a:r>
              <a:rPr lang="en-US" sz="2400" i="1" dirty="0" smtClean="0">
                <a:solidFill>
                  <a:srgbClr val="C00000"/>
                </a:solidFill>
              </a:rPr>
              <a:t>web content</a:t>
            </a:r>
            <a:r>
              <a:rPr lang="en-US" sz="2400" dirty="0" smtClean="0"/>
              <a:t> required by a site.</a:t>
            </a:r>
          </a:p>
          <a:p>
            <a:r>
              <a:rPr lang="en-US" sz="2400" dirty="0" smtClean="0"/>
              <a:t>Web content can cover all sorts of digital assets, including text, pictures, videos or other multimedia objects.</a:t>
            </a:r>
          </a:p>
          <a:p>
            <a:r>
              <a:rPr lang="en-US" sz="2400" dirty="0" smtClean="0"/>
              <a:t>To this end, there are two worlds that you need to balance.</a:t>
            </a:r>
          </a:p>
          <a:p>
            <a:r>
              <a:rPr lang="en-US" sz="2400" dirty="0" smtClean="0"/>
              <a:t>One is the world of content, with its </a:t>
            </a:r>
            <a:r>
              <a:rPr lang="en-US" sz="2400" i="1" dirty="0" smtClean="0">
                <a:solidFill>
                  <a:srgbClr val="C00000"/>
                </a:solidFill>
              </a:rPr>
              <a:t>underlying models</a:t>
            </a:r>
            <a:r>
              <a:rPr lang="en-US" sz="2400" dirty="0" smtClean="0"/>
              <a:t>, classifications and lifecycles.</a:t>
            </a:r>
          </a:p>
          <a:p>
            <a:r>
              <a:rPr lang="en-US" sz="2400" dirty="0" smtClean="0"/>
              <a:t>The other is the world of code, where the term ‘code’ is meant to </a:t>
            </a:r>
            <a:r>
              <a:rPr lang="en-US" sz="2400" dirty="0" err="1" smtClean="0"/>
              <a:t>summarise</a:t>
            </a:r>
            <a:r>
              <a:rPr lang="en-US" sz="2400" dirty="0" smtClean="0"/>
              <a:t> those software techniques and mechanisms necessary to </a:t>
            </a:r>
            <a:r>
              <a:rPr lang="en-US" sz="2400" i="1" dirty="0" smtClean="0">
                <a:solidFill>
                  <a:srgbClr val="C00000"/>
                </a:solidFill>
              </a:rPr>
              <a:t>represent content on the web</a:t>
            </a:r>
            <a:r>
              <a:rPr lang="en-US" sz="2400" dirty="0" smtClean="0"/>
              <a:t> and to implement </a:t>
            </a:r>
            <a:r>
              <a:rPr lang="en-US" sz="2400" i="1" dirty="0" smtClean="0">
                <a:solidFill>
                  <a:srgbClr val="C00000"/>
                </a:solidFill>
              </a:rPr>
              <a:t>user interaction</a:t>
            </a:r>
            <a:r>
              <a:rPr lang="en-US" sz="2400" dirty="0" smtClean="0"/>
              <a:t>.</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 And Code</a:t>
            </a:r>
            <a:endParaRPr lang="en-US" dirty="0"/>
          </a:p>
        </p:txBody>
      </p:sp>
      <p:sp>
        <p:nvSpPr>
          <p:cNvPr id="3" name="Content Placeholder 2"/>
          <p:cNvSpPr>
            <a:spLocks noGrp="1"/>
          </p:cNvSpPr>
          <p:nvPr>
            <p:ph idx="1"/>
          </p:nvPr>
        </p:nvSpPr>
        <p:spPr/>
        <p:txBody>
          <a:bodyPr/>
          <a:lstStyle/>
          <a:p>
            <a:r>
              <a:rPr lang="en-US" sz="2400" dirty="0" smtClean="0"/>
              <a:t>Starting at the point where code and content meet, it aims to </a:t>
            </a:r>
            <a:r>
              <a:rPr lang="en-US" sz="2400" i="1" dirty="0" smtClean="0">
                <a:solidFill>
                  <a:srgbClr val="C00000"/>
                </a:solidFill>
              </a:rPr>
              <a:t>explain how these two worlds go together</a:t>
            </a:r>
            <a:r>
              <a:rPr lang="en-US" sz="2400" dirty="0" smtClean="0"/>
              <a:t>, offering an approach that aligns the requirements from either perspective.</a:t>
            </a:r>
          </a:p>
          <a:p>
            <a:r>
              <a:rPr lang="en-US" sz="2400" dirty="0" smtClean="0"/>
              <a:t>Code and content are viewed as interlocking jigsaw pieces.</a:t>
            </a:r>
          </a:p>
          <a:p>
            <a:r>
              <a:rPr lang="en-US" sz="2400" dirty="0" smtClean="0"/>
              <a:t>Neither content nor code are going to be seen in isolation.</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2378075" y="4159250"/>
            <a:ext cx="4387850" cy="216535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CMS Patterns</a:t>
            </a:r>
            <a:endParaRPr lang="en-US" dirty="0"/>
          </a:p>
        </p:txBody>
      </p:sp>
      <p:sp>
        <p:nvSpPr>
          <p:cNvPr id="3" name="Content Placeholder 2"/>
          <p:cNvSpPr>
            <a:spLocks noGrp="1"/>
          </p:cNvSpPr>
          <p:nvPr>
            <p:ph idx="1"/>
          </p:nvPr>
        </p:nvSpPr>
        <p:spPr/>
        <p:txBody>
          <a:bodyPr/>
          <a:lstStyle/>
          <a:p>
            <a:r>
              <a:rPr lang="en-US" sz="2400" dirty="0" smtClean="0"/>
              <a:t>First, you’ll probably be using a content management system. There are many systems available on the market, so it is </a:t>
            </a:r>
            <a:r>
              <a:rPr lang="en-US" sz="2400" i="1" dirty="0" smtClean="0">
                <a:solidFill>
                  <a:srgbClr val="C00000"/>
                </a:solidFill>
              </a:rPr>
              <a:t>unlikely</a:t>
            </a:r>
            <a:r>
              <a:rPr lang="en-US" sz="2400" dirty="0" smtClean="0"/>
              <a:t> you will have to develop your own.</a:t>
            </a:r>
          </a:p>
          <a:p>
            <a:r>
              <a:rPr lang="en-US" sz="2400" dirty="0" smtClean="0"/>
              <a:t>Second, you will probably be using frameworks for web development, such as Struts, Java Server Faces, Ruby on Rails or something else.</a:t>
            </a:r>
          </a:p>
          <a:p>
            <a:r>
              <a:rPr lang="en-US" sz="2400" dirty="0" smtClean="0"/>
              <a:t>These tools can save you a lot of work, but you will have to </a:t>
            </a:r>
            <a:r>
              <a:rPr lang="en-US" sz="2400" i="1" dirty="0" smtClean="0">
                <a:solidFill>
                  <a:srgbClr val="C00000"/>
                </a:solidFill>
              </a:rPr>
              <a:t>integrate</a:t>
            </a:r>
            <a:r>
              <a:rPr lang="en-US" sz="2400" dirty="0" smtClean="0"/>
              <a:t> them, and there is no question that a non-trivial site with individual requirements will also require a good deal of custom software.</a:t>
            </a:r>
          </a:p>
          <a:p>
            <a:r>
              <a:rPr lang="en-US" sz="2400" dirty="0" smtClean="0"/>
              <a:t>This is where this book can help you.</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 Management and Content Delivery</a:t>
            </a:r>
            <a:endParaRPr lang="en-US" dirty="0"/>
          </a:p>
        </p:txBody>
      </p:sp>
      <p:sp>
        <p:nvSpPr>
          <p:cNvPr id="3" name="Content Placeholder 2"/>
          <p:cNvSpPr>
            <a:spLocks noGrp="1"/>
          </p:cNvSpPr>
          <p:nvPr>
            <p:ph idx="1"/>
          </p:nvPr>
        </p:nvSpPr>
        <p:spPr/>
        <p:txBody>
          <a:bodyPr/>
          <a:lstStyle/>
          <a:p>
            <a:r>
              <a:rPr lang="en-US" dirty="0" smtClean="0"/>
              <a:t>You plan to build a website using today’s technology. How can you accommodate both the users’ and the content editors’ needs?</a:t>
            </a:r>
          </a:p>
          <a:p>
            <a:pPr lvl="1"/>
            <a:r>
              <a:rPr lang="en-US" sz="2200" dirty="0" smtClean="0"/>
              <a:t>Provide software for two distinct purposes. On one hand, you need content management software that supports the content editors in their job. On the other, you need content delivery software that makes content available to the web and controls possible user interaction. You won’t have to develop the complete software yourself – a content management system typically provides some of the necessary functionality – but you must expect to develop a certain amount of custom software.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 Management and Content Delivery (cont.)</a:t>
            </a:r>
            <a:endParaRPr lang="en-US" dirty="0"/>
          </a:p>
        </p:txBody>
      </p:sp>
      <p:pic>
        <p:nvPicPr>
          <p:cNvPr id="6" name="Picture 3"/>
          <p:cNvPicPr>
            <a:picLocks noChangeAspect="1" noChangeArrowheads="1"/>
          </p:cNvPicPr>
          <p:nvPr/>
        </p:nvPicPr>
        <p:blipFill>
          <a:blip r:embed="rId2" cstate="print"/>
          <a:srcRect/>
          <a:stretch>
            <a:fillRect/>
          </a:stretch>
        </p:blipFill>
        <p:spPr bwMode="auto">
          <a:xfrm>
            <a:off x="1138238" y="1533525"/>
            <a:ext cx="6867525" cy="44862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Content Delivery plus Caching</a:t>
            </a:r>
            <a:endParaRPr lang="en-US" dirty="0"/>
          </a:p>
        </p:txBody>
      </p:sp>
      <p:sp>
        <p:nvSpPr>
          <p:cNvPr id="3" name="Content Placeholder 2"/>
          <p:cNvSpPr>
            <a:spLocks noGrp="1"/>
          </p:cNvSpPr>
          <p:nvPr>
            <p:ph idx="1"/>
          </p:nvPr>
        </p:nvSpPr>
        <p:spPr/>
        <p:txBody>
          <a:bodyPr/>
          <a:lstStyle/>
          <a:p>
            <a:r>
              <a:rPr lang="en-US" dirty="0" smtClean="0"/>
              <a:t>How can you ensure that the site is always up-to-date and reflects the latest changes made by the content editors? How can you lay the foundation for interaction and personalization?</a:t>
            </a:r>
          </a:p>
          <a:p>
            <a:pPr lvl="1"/>
            <a:r>
              <a:rPr lang="en-US" dirty="0" smtClean="0"/>
              <a:t>Combine dynamic content delivery with powerful caching strategies. Choose a content management system that generates web pages on request and offers caching mechanisms sufficient to meet your performance requirements.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Content Delivery plus Caching (cont.)</a:t>
            </a: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1057275" y="1571625"/>
            <a:ext cx="7029450" cy="521017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Sensible Client-Side Interaction</a:t>
            </a:r>
            <a:endParaRPr lang="en-US" dirty="0"/>
          </a:p>
        </p:txBody>
      </p:sp>
      <p:sp>
        <p:nvSpPr>
          <p:cNvPr id="3" name="Content Placeholder 2"/>
          <p:cNvSpPr>
            <a:spLocks noGrp="1"/>
          </p:cNvSpPr>
          <p:nvPr>
            <p:ph idx="1"/>
          </p:nvPr>
        </p:nvSpPr>
        <p:spPr/>
        <p:txBody>
          <a:bodyPr/>
          <a:lstStyle/>
          <a:p>
            <a:r>
              <a:rPr lang="en-US" dirty="0" smtClean="0"/>
              <a:t>How can you ensure that your site features the desired degree of interaction and user participation while maintaining reasonable system performance?</a:t>
            </a:r>
          </a:p>
          <a:p>
            <a:pPr lvl="1"/>
            <a:r>
              <a:rPr lang="en-US" sz="2400" dirty="0" smtClean="0"/>
              <a:t>Use Ajax-based client-side interaction, but use it with care. Retain the concept of a web page and apply server-side event handling for all navigation purposes, but also apply event handling inside the browser to adjust the way in which information elements are presented within a web page. Combine this with asynchronous server calls if the browser has to load data from the server.</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Sensible Client-Side Interaction (cont.)</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985838" y="1714500"/>
            <a:ext cx="7172325" cy="45339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Listener-Based Synchronization</a:t>
            </a:r>
            <a:endParaRPr lang="en-US" dirty="0"/>
          </a:p>
        </p:txBody>
      </p:sp>
      <p:sp>
        <p:nvSpPr>
          <p:cNvPr id="3" name="Content Placeholder 2"/>
          <p:cNvSpPr>
            <a:spLocks noGrp="1"/>
          </p:cNvSpPr>
          <p:nvPr>
            <p:ph idx="1"/>
          </p:nvPr>
        </p:nvSpPr>
        <p:spPr/>
        <p:txBody>
          <a:bodyPr/>
          <a:lstStyle/>
          <a:p>
            <a:r>
              <a:rPr lang="en-US" dirty="0" smtClean="0"/>
              <a:t>How can you avoid inconsistencies between content in the repository and content stored by other components?</a:t>
            </a:r>
          </a:p>
          <a:p>
            <a:pPr lvl="1"/>
            <a:r>
              <a:rPr lang="en-US" dirty="0" smtClean="0"/>
              <a:t>Establish repository listeners – asynchronous processes that react to specific workflow events and notify interested components of relevant changes made to content artifacts in the repository.</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Listener-Based Synchronization (cont.)</a:t>
            </a:r>
            <a:endParaRPr lang="en-US" dirty="0"/>
          </a:p>
        </p:txBody>
      </p:sp>
      <p:pic>
        <p:nvPicPr>
          <p:cNvPr id="4099" name="Picture 3"/>
          <p:cNvPicPr>
            <a:picLocks noChangeAspect="1" noChangeArrowheads="1"/>
          </p:cNvPicPr>
          <p:nvPr/>
        </p:nvPicPr>
        <p:blipFill>
          <a:blip r:embed="rId2" cstate="print"/>
          <a:srcRect/>
          <a:stretch>
            <a:fillRect/>
          </a:stretch>
        </p:blipFill>
        <p:spPr bwMode="auto">
          <a:xfrm>
            <a:off x="1938338" y="1628775"/>
            <a:ext cx="5267325" cy="4924425"/>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Layered Architecture for Content Delivery</a:t>
            </a:r>
            <a:endParaRPr lang="en-US" dirty="0"/>
          </a:p>
        </p:txBody>
      </p:sp>
      <p:sp>
        <p:nvSpPr>
          <p:cNvPr id="3" name="Content Placeholder 2"/>
          <p:cNvSpPr>
            <a:spLocks noGrp="1"/>
          </p:cNvSpPr>
          <p:nvPr>
            <p:ph idx="1"/>
          </p:nvPr>
        </p:nvSpPr>
        <p:spPr/>
        <p:txBody>
          <a:bodyPr/>
          <a:lstStyle/>
          <a:p>
            <a:r>
              <a:rPr lang="en-US" dirty="0" smtClean="0"/>
              <a:t>How can you prevent the server-side custom software for content delivery from becoming difficult or impossible to maintain? How can you avoid a server-side architecture that doesn’t scale properly?</a:t>
            </a:r>
          </a:p>
          <a:p>
            <a:pPr lvl="1"/>
            <a:r>
              <a:rPr lang="en-US" sz="2400" dirty="0" smtClean="0"/>
              <a:t>Define a server-side architecture that consists of three distinct layers. The bottom layer encapsulates all access to the content repository. The middle layer provides the domain logic. The top layer contains the templates that are used for page generation.</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Layered Architecture for Content Delivery (cont.)</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2357438" y="1581150"/>
            <a:ext cx="4429125" cy="50482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 Type Hierarchy</a:t>
            </a:r>
            <a:endParaRPr lang="en-US" dirty="0"/>
          </a:p>
        </p:txBody>
      </p:sp>
      <p:sp>
        <p:nvSpPr>
          <p:cNvPr id="3" name="Content Placeholder 2"/>
          <p:cNvSpPr>
            <a:spLocks noGrp="1"/>
          </p:cNvSpPr>
          <p:nvPr>
            <p:ph idx="1"/>
          </p:nvPr>
        </p:nvSpPr>
        <p:spPr/>
        <p:txBody>
          <a:bodyPr/>
          <a:lstStyle/>
          <a:p>
            <a:r>
              <a:rPr lang="en-US" dirty="0" smtClean="0"/>
              <a:t>How can you ensure that content editors can maintain artifacts that are meaningful to them in a way that is straightforward and avoids redundant information?</a:t>
            </a:r>
          </a:p>
          <a:p>
            <a:pPr lvl="1"/>
            <a:r>
              <a:rPr lang="en-US" sz="2400" dirty="0" smtClean="0"/>
              <a:t>Introduce a content model in which content types represent domain-motivated artifacts consisting of basic building blocks such as texts, pictures, multimedia objects and links. Apply object-oriented modeling techniques to express abstraction and association relationships between content types.</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 Type Hierarchy (cont.)</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rot="5400000">
            <a:off x="1833563" y="519112"/>
            <a:ext cx="5476875" cy="70485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Decoupling of Content and Navigation</a:t>
            </a:r>
            <a:endParaRPr lang="en-US" dirty="0"/>
          </a:p>
        </p:txBody>
      </p:sp>
      <p:sp>
        <p:nvSpPr>
          <p:cNvPr id="3" name="Content Placeholder 2"/>
          <p:cNvSpPr>
            <a:spLocks noGrp="1"/>
          </p:cNvSpPr>
          <p:nvPr>
            <p:ph idx="1"/>
          </p:nvPr>
        </p:nvSpPr>
        <p:spPr/>
        <p:txBody>
          <a:bodyPr/>
          <a:lstStyle/>
          <a:p>
            <a:r>
              <a:rPr lang="en-US" sz="2800" dirty="0" smtClean="0"/>
              <a:t>How can you ensure that content editors can organize both the content and the navigation hierarchy in a straightforward and flexible way? How can you support different content hierarchies for different sites, like an intranet and an extranet, or for different countries or distribution channels?</a:t>
            </a:r>
          </a:p>
          <a:p>
            <a:pPr lvl="1"/>
            <a:r>
              <a:rPr lang="en-US" sz="2400" dirty="0" smtClean="0"/>
              <a:t>Decouple the navigation hierarchy from the content. Introduce dedicated navigation nodes that span the navigation hierarchy. Allow the navigation nodes to be attributed with configuration information if the navigation hierarchy needs to vary across different contexts.</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Decoupling of Content and Navigation (cont.)</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214438" y="2324100"/>
            <a:ext cx="6715125" cy="35433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Content Linking</a:t>
            </a:r>
            <a:endParaRPr lang="en-US" dirty="0"/>
          </a:p>
        </p:txBody>
      </p:sp>
      <p:sp>
        <p:nvSpPr>
          <p:cNvPr id="3" name="Content Placeholder 2"/>
          <p:cNvSpPr>
            <a:spLocks noGrp="1"/>
          </p:cNvSpPr>
          <p:nvPr>
            <p:ph idx="1"/>
          </p:nvPr>
        </p:nvSpPr>
        <p:spPr/>
        <p:txBody>
          <a:bodyPr/>
          <a:lstStyle/>
          <a:p>
            <a:r>
              <a:rPr lang="en-US" dirty="0" smtClean="0"/>
              <a:t>How can frequently changing content be maintained without burdening the content editors with the tedious job of manually linking the new content into the navigation hierarchy?</a:t>
            </a:r>
          </a:p>
          <a:p>
            <a:pPr lvl="1"/>
            <a:r>
              <a:rPr lang="en-US" sz="2400" dirty="0" smtClean="0"/>
              <a:t>Establish dynamic lists that, instead of maintaining links to any content elements, specify criteria for potential list items, meaning that when a page featuring a dynamic list is generated, the repository is searched for content elements that match these criteria.</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Content Linking (cont.)</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314450" y="1600200"/>
            <a:ext cx="6515100" cy="485775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Taxonomy Based on Keywords and Categories</a:t>
            </a:r>
            <a:endParaRPr lang="en-US" dirty="0"/>
          </a:p>
        </p:txBody>
      </p:sp>
      <p:sp>
        <p:nvSpPr>
          <p:cNvPr id="3" name="Content Placeholder 2"/>
          <p:cNvSpPr>
            <a:spLocks noGrp="1"/>
          </p:cNvSpPr>
          <p:nvPr>
            <p:ph idx="1"/>
          </p:nvPr>
        </p:nvSpPr>
        <p:spPr/>
        <p:txBody>
          <a:bodyPr/>
          <a:lstStyle/>
          <a:p>
            <a:r>
              <a:rPr lang="en-US" dirty="0" smtClean="0"/>
              <a:t>How can you lay the foundations for an effective and powerful search function?</a:t>
            </a:r>
          </a:p>
          <a:p>
            <a:pPr lvl="1"/>
            <a:r>
              <a:rPr lang="en-US" dirty="0" smtClean="0"/>
              <a:t>Build a taxonomy that combines arbitrary keywords with well-defined content categories. Make sure that individual content elements can be attributed with lists of keywords. In addition, establish a set of possibly overlapping content categories to which individual content elements can be assigned.</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Taxonomy Based on Keywords and Categories (cont.)</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485775" y="1905000"/>
            <a:ext cx="8172450" cy="3943350"/>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Taxonomy Based on Keywords and Categories (cont.)</a:t>
            </a:r>
            <a:endParaRPr lang="en-US" dirty="0"/>
          </a:p>
        </p:txBody>
      </p:sp>
      <p:sp>
        <p:nvSpPr>
          <p:cNvPr id="3" name="Content Placeholder 2"/>
          <p:cNvSpPr>
            <a:spLocks noGrp="1"/>
          </p:cNvSpPr>
          <p:nvPr>
            <p:ph idx="1"/>
          </p:nvPr>
        </p:nvSpPr>
        <p:spPr/>
        <p:txBody>
          <a:bodyPr/>
          <a:lstStyle/>
          <a:p>
            <a:r>
              <a:rPr lang="en-US" dirty="0" smtClean="0"/>
              <a:t>Liabilities</a:t>
            </a:r>
          </a:p>
          <a:p>
            <a:pPr lvl="1"/>
            <a:r>
              <a:rPr lang="en-US" dirty="0" smtClean="0"/>
              <a:t>Because arbitrary keywords are possible, undesired mismatches between search terms and keywords can occur.</a:t>
            </a:r>
          </a:p>
          <a:p>
            <a:pPr lvl="1"/>
            <a:r>
              <a:rPr lang="en-US" dirty="0" smtClean="0"/>
              <a:t>The reorganization of categories can be expensive.</a:t>
            </a:r>
          </a:p>
          <a:p>
            <a:pPr lvl="1"/>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Workflow-Based Validation</a:t>
            </a:r>
            <a:endParaRPr lang="en-US" dirty="0"/>
          </a:p>
        </p:txBody>
      </p:sp>
      <p:sp>
        <p:nvSpPr>
          <p:cNvPr id="3" name="Content Placeholder 2"/>
          <p:cNvSpPr>
            <a:spLocks noGrp="1"/>
          </p:cNvSpPr>
          <p:nvPr>
            <p:ph idx="1"/>
          </p:nvPr>
        </p:nvSpPr>
        <p:spPr/>
        <p:txBody>
          <a:bodyPr/>
          <a:lstStyle/>
          <a:p>
            <a:r>
              <a:rPr lang="en-US" dirty="0" smtClean="0"/>
              <a:t>How can you avoid content elements with illegal or inconsistent attribute values?</a:t>
            </a:r>
          </a:p>
          <a:p>
            <a:pPr lvl="1"/>
            <a:r>
              <a:rPr lang="en-US" dirty="0" smtClean="0"/>
              <a:t>Apply </a:t>
            </a:r>
            <a:r>
              <a:rPr lang="en-US" dirty="0" err="1" smtClean="0"/>
              <a:t>validators</a:t>
            </a:r>
            <a:r>
              <a:rPr lang="en-US" dirty="0" smtClean="0"/>
              <a:t> that check content for plausibility. Integrate these </a:t>
            </a:r>
            <a:r>
              <a:rPr lang="en-US" dirty="0" err="1" smtClean="0"/>
              <a:t>validators</a:t>
            </a:r>
            <a:r>
              <a:rPr lang="en-US" dirty="0" smtClean="0"/>
              <a:t> into the content editors’ workflow in two ways: </a:t>
            </a:r>
            <a:r>
              <a:rPr lang="en-US" dirty="0" err="1" smtClean="0"/>
              <a:t>validators</a:t>
            </a:r>
            <a:r>
              <a:rPr lang="en-US" dirty="0" smtClean="0"/>
              <a:t> that reject illegal attribute values should be applied during the editing process, while </a:t>
            </a:r>
            <a:r>
              <a:rPr lang="en-US" dirty="0" err="1" smtClean="0"/>
              <a:t>validators</a:t>
            </a:r>
            <a:r>
              <a:rPr lang="en-US" dirty="0" smtClean="0"/>
              <a:t> that check for completeness and consistency should only be applied on publication.</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Workflow-Based Validation (cont.)</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657225" y="1400175"/>
            <a:ext cx="7829550" cy="5153025"/>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 Services</a:t>
            </a:r>
            <a:endParaRPr lang="en-US" dirty="0"/>
          </a:p>
        </p:txBody>
      </p:sp>
      <p:sp>
        <p:nvSpPr>
          <p:cNvPr id="3" name="Content Placeholder 2"/>
          <p:cNvSpPr>
            <a:spLocks noGrp="1"/>
          </p:cNvSpPr>
          <p:nvPr>
            <p:ph idx="1"/>
          </p:nvPr>
        </p:nvSpPr>
        <p:spPr/>
        <p:txBody>
          <a:bodyPr/>
          <a:lstStyle/>
          <a:p>
            <a:r>
              <a:rPr lang="en-US" dirty="0" smtClean="0"/>
              <a:t>How can you avoid domain logic being scattered all over your server-side components?</a:t>
            </a:r>
          </a:p>
          <a:p>
            <a:pPr lvl="1"/>
            <a:r>
              <a:rPr lang="en-US" sz="2400" dirty="0" smtClean="0"/>
              <a:t>Implement services that provide the content aggregates that the various pages of your site may require. This begins with single content elements from the repository, but also includes lists or compositions of content elements.</a:t>
            </a:r>
          </a:p>
          <a:p>
            <a:pPr lvl="1"/>
            <a:r>
              <a:rPr lang="en-US" sz="2400" dirty="0" smtClean="0"/>
              <a:t>If necessary, content services must apply personalization.</a:t>
            </a:r>
          </a:p>
          <a:p>
            <a:pPr lvl="1"/>
            <a:r>
              <a:rPr lang="en-US" sz="2400" dirty="0" smtClean="0"/>
              <a:t>Whatever the content services make available, it must be ready to be processed by the presentation logic.</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 CMS Features (I)</a:t>
            </a:r>
            <a:endParaRPr lang="en-US" dirty="0"/>
          </a:p>
        </p:txBody>
      </p:sp>
      <p:sp>
        <p:nvSpPr>
          <p:cNvPr id="3" name="Content Placeholder 2"/>
          <p:cNvSpPr>
            <a:spLocks noGrp="1"/>
          </p:cNvSpPr>
          <p:nvPr>
            <p:ph idx="1"/>
          </p:nvPr>
        </p:nvSpPr>
        <p:spPr/>
        <p:txBody>
          <a:bodyPr/>
          <a:lstStyle/>
          <a:p>
            <a:r>
              <a:rPr lang="en-US" sz="2400" dirty="0" smtClean="0"/>
              <a:t>Built-in security (with extensibility): users, roles, permissions, authentication.</a:t>
            </a:r>
          </a:p>
          <a:p>
            <a:r>
              <a:rPr lang="en-US" sz="2400" dirty="0" smtClean="0"/>
              <a:t>Content creation, content publishing, publishing workflow, timed publishing.</a:t>
            </a:r>
          </a:p>
          <a:p>
            <a:r>
              <a:rPr lang="en-US" sz="2400" dirty="0" smtClean="0"/>
              <a:t>Auditing.</a:t>
            </a:r>
          </a:p>
          <a:p>
            <a:r>
              <a:rPr lang="en-US" sz="2400" dirty="0" smtClean="0"/>
              <a:t>External applications integration (placeholders for custom sections/pages).</a:t>
            </a:r>
          </a:p>
          <a:p>
            <a:r>
              <a:rPr lang="en-US" sz="2400" dirty="0" smtClean="0"/>
              <a:t>Performance: The number of concurrent users the site can support with predefined network and hardware.</a:t>
            </a:r>
          </a:p>
          <a:p>
            <a:r>
              <a:rPr lang="en-US" sz="2400" dirty="0" smtClean="0"/>
              <a:t>SEO</a:t>
            </a:r>
          </a:p>
          <a:p>
            <a:r>
              <a:rPr lang="en-US" sz="2400" dirty="0" smtClean="0"/>
              <a:t>Scalability</a:t>
            </a:r>
          </a:p>
          <a:p>
            <a:endParaRPr lang="en-US" sz="2400" dirty="0" smtClean="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 CMS Features (II)</a:t>
            </a:r>
            <a:endParaRPr lang="en-US" dirty="0"/>
          </a:p>
        </p:txBody>
      </p:sp>
      <p:sp>
        <p:nvSpPr>
          <p:cNvPr id="3" name="Content Placeholder 2"/>
          <p:cNvSpPr>
            <a:spLocks noGrp="1"/>
          </p:cNvSpPr>
          <p:nvPr>
            <p:ph idx="1"/>
          </p:nvPr>
        </p:nvSpPr>
        <p:spPr/>
        <p:txBody>
          <a:bodyPr/>
          <a:lstStyle/>
          <a:p>
            <a:pPr marL="342900" lvl="1" indent="-342900">
              <a:buFont typeface="Arial" charset="0"/>
              <a:buChar char="•"/>
            </a:pPr>
            <a:r>
              <a:rPr lang="en-US" dirty="0" smtClean="0"/>
              <a:t>Content: Underlying models, classifications and lifecycles</a:t>
            </a:r>
          </a:p>
          <a:p>
            <a:r>
              <a:rPr lang="en-US" sz="2800" dirty="0" smtClean="0"/>
              <a:t>Custom content types</a:t>
            </a:r>
          </a:p>
          <a:p>
            <a:pPr lvl="1"/>
            <a:r>
              <a:rPr lang="en-US" sz="2400" dirty="0" smtClean="0">
                <a:solidFill>
                  <a:srgbClr val="C00000"/>
                </a:solidFill>
              </a:rPr>
              <a:t>Migrate data schema from one environment to another (</a:t>
            </a:r>
            <a:r>
              <a:rPr lang="en-US" sz="2400" dirty="0" err="1" smtClean="0">
                <a:solidFill>
                  <a:srgbClr val="C00000"/>
                </a:solidFill>
              </a:rPr>
              <a:t>e.g</a:t>
            </a:r>
            <a:r>
              <a:rPr lang="en-US" sz="2400" dirty="0" smtClean="0">
                <a:solidFill>
                  <a:srgbClr val="C00000"/>
                </a:solidFill>
              </a:rPr>
              <a:t> from development to test to production)</a:t>
            </a:r>
          </a:p>
          <a:p>
            <a:pPr lvl="2"/>
            <a:r>
              <a:rPr lang="en-US" sz="2000" dirty="0" smtClean="0">
                <a:solidFill>
                  <a:srgbClr val="C00000"/>
                </a:solidFill>
              </a:rPr>
              <a:t>Automated</a:t>
            </a:r>
          </a:p>
          <a:p>
            <a:pPr lvl="2"/>
            <a:r>
              <a:rPr lang="en-US" sz="2000" dirty="0" smtClean="0">
                <a:solidFill>
                  <a:srgbClr val="C00000"/>
                </a:solidFill>
              </a:rPr>
              <a:t>Transactional</a:t>
            </a:r>
          </a:p>
          <a:p>
            <a:pPr lvl="2"/>
            <a:r>
              <a:rPr lang="en-US" sz="2000" dirty="0" smtClean="0">
                <a:solidFill>
                  <a:srgbClr val="C00000"/>
                </a:solidFill>
              </a:rPr>
              <a:t>Rolling back</a:t>
            </a:r>
          </a:p>
          <a:p>
            <a:pPr marL="342900" lvl="1" indent="-342900">
              <a:buFont typeface="Arial" charset="0"/>
              <a:buChar char="•"/>
            </a:pPr>
            <a:r>
              <a:rPr lang="en-US" dirty="0" smtClean="0"/>
              <a:t>Content representation, user interaction, data integration</a:t>
            </a:r>
          </a:p>
          <a:p>
            <a:pPr lvl="1"/>
            <a:r>
              <a:rPr lang="en-US" sz="2400" dirty="0" smtClean="0">
                <a:solidFill>
                  <a:srgbClr val="C00000"/>
                </a:solidFill>
              </a:rPr>
              <a:t>Modular UI</a:t>
            </a:r>
            <a:endParaRPr lang="en-US" sz="2800" dirty="0" smtClean="0"/>
          </a:p>
          <a:p>
            <a:endParaRPr lang="en-US" sz="2800" dirty="0" smtClean="0"/>
          </a:p>
          <a:p>
            <a:endParaRPr 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Building a Corporate Website (I)</a:t>
            </a:r>
            <a:endParaRPr lang="en-US" dirty="0"/>
          </a:p>
        </p:txBody>
      </p:sp>
      <p:sp>
        <p:nvSpPr>
          <p:cNvPr id="3" name="Content Placeholder 2"/>
          <p:cNvSpPr>
            <a:spLocks noGrp="1"/>
          </p:cNvSpPr>
          <p:nvPr>
            <p:ph idx="1"/>
          </p:nvPr>
        </p:nvSpPr>
        <p:spPr/>
        <p:txBody>
          <a:bodyPr/>
          <a:lstStyle/>
          <a:p>
            <a:r>
              <a:rPr lang="en-US" sz="2600" dirty="0" smtClean="0"/>
              <a:t>Kicked off meeting</a:t>
            </a:r>
          </a:p>
          <a:p>
            <a:pPr lvl="1"/>
            <a:r>
              <a:rPr lang="en-US" sz="2200" dirty="0" smtClean="0"/>
              <a:t>Which audience(s) do we want the corporate site to serve?</a:t>
            </a:r>
          </a:p>
          <a:p>
            <a:pPr lvl="1"/>
            <a:r>
              <a:rPr lang="en-US" sz="2200" dirty="0" smtClean="0"/>
              <a:t>What is the relative importance of each audience?</a:t>
            </a:r>
          </a:p>
          <a:p>
            <a:pPr lvl="1"/>
            <a:r>
              <a:rPr lang="en-US" sz="2200" dirty="0" smtClean="0"/>
              <a:t>What do we want each audience to know?</a:t>
            </a:r>
          </a:p>
          <a:p>
            <a:pPr lvl="1"/>
            <a:r>
              <a:rPr lang="en-US" sz="2200" dirty="0" smtClean="0"/>
              <a:t>On the homepage, how should we answer the question: "What do we do?"</a:t>
            </a:r>
          </a:p>
          <a:p>
            <a:pPr lvl="1"/>
            <a:r>
              <a:rPr lang="en-US" sz="2200" dirty="0" smtClean="0"/>
              <a:t>What are the problems with our current corporate site?</a:t>
            </a:r>
          </a:p>
          <a:p>
            <a:endParaRPr lang="en-US" sz="2400" dirty="0"/>
          </a:p>
        </p:txBody>
      </p:sp>
      <p:pic>
        <p:nvPicPr>
          <p:cNvPr id="10242" name="Picture 2" descr="https://www.syntacticsinc.com/wp-content/uploads/2019/07/4380-1024x640.jpg"/>
          <p:cNvPicPr>
            <a:picLocks noChangeAspect="1" noChangeArrowheads="1"/>
          </p:cNvPicPr>
          <p:nvPr/>
        </p:nvPicPr>
        <p:blipFill>
          <a:blip r:embed="rId2" cstate="print"/>
          <a:srcRect/>
          <a:stretch>
            <a:fillRect/>
          </a:stretch>
        </p:blipFill>
        <p:spPr bwMode="auto">
          <a:xfrm>
            <a:off x="3352800" y="4724400"/>
            <a:ext cx="2438400" cy="152400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Building a Corporate Website (II)</a:t>
            </a:r>
            <a:endParaRPr lang="en-US" dirty="0"/>
          </a:p>
        </p:txBody>
      </p:sp>
      <p:sp>
        <p:nvSpPr>
          <p:cNvPr id="3" name="Content Placeholder 2"/>
          <p:cNvSpPr>
            <a:spLocks noGrp="1"/>
          </p:cNvSpPr>
          <p:nvPr>
            <p:ph idx="1"/>
          </p:nvPr>
        </p:nvSpPr>
        <p:spPr>
          <a:xfrm>
            <a:off x="457200" y="1600200"/>
            <a:ext cx="5638800" cy="4525963"/>
          </a:xfrm>
        </p:spPr>
        <p:txBody>
          <a:bodyPr/>
          <a:lstStyle/>
          <a:p>
            <a:r>
              <a:rPr lang="en-US" sz="2600" dirty="0" smtClean="0"/>
              <a:t>Design and Development</a:t>
            </a:r>
          </a:p>
          <a:p>
            <a:pPr lvl="1"/>
            <a:r>
              <a:rPr lang="en-US" sz="2200" dirty="0" smtClean="0"/>
              <a:t>Should we build a responsive framework or opt for a dedicated mobile site?</a:t>
            </a:r>
          </a:p>
          <a:p>
            <a:pPr lvl="1"/>
            <a:r>
              <a:rPr lang="en-US" sz="2200" dirty="0" smtClean="0"/>
              <a:t>Should we purchase a template or build the site ourselves?</a:t>
            </a:r>
          </a:p>
          <a:p>
            <a:pPr lvl="1"/>
            <a:r>
              <a:rPr lang="en-US" sz="2200" dirty="0" smtClean="0"/>
              <a:t>Which combination of front-end/back-end frameworks should we use?</a:t>
            </a:r>
            <a:endParaRPr lang="en-US" sz="2200" dirty="0"/>
          </a:p>
        </p:txBody>
      </p:sp>
      <p:pic>
        <p:nvPicPr>
          <p:cNvPr id="1026" name="Picture 2"/>
          <p:cNvPicPr>
            <a:picLocks noChangeAspect="1" noChangeArrowheads="1"/>
          </p:cNvPicPr>
          <p:nvPr/>
        </p:nvPicPr>
        <p:blipFill>
          <a:blip r:embed="rId2" cstate="print"/>
          <a:srcRect/>
          <a:stretch>
            <a:fillRect/>
          </a:stretch>
        </p:blipFill>
        <p:spPr bwMode="auto">
          <a:xfrm>
            <a:off x="6324600" y="1600200"/>
            <a:ext cx="2381250" cy="4181475"/>
          </a:xfrm>
          <a:prstGeom prst="rect">
            <a:avLst/>
          </a:prstGeom>
          <a:noFill/>
          <a:ln w="9525">
            <a:noFill/>
            <a:miter lim="800000"/>
            <a:headEnd/>
            <a:tailEnd/>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Cloud CMS</a:t>
            </a:r>
            <a:endParaRPr lang="en-US" dirty="0"/>
          </a:p>
        </p:txBody>
      </p:sp>
      <p:sp>
        <p:nvSpPr>
          <p:cNvPr id="3" name="Content Placeholder 2"/>
          <p:cNvSpPr>
            <a:spLocks noGrp="1"/>
          </p:cNvSpPr>
          <p:nvPr>
            <p:ph idx="1"/>
          </p:nvPr>
        </p:nvSpPr>
        <p:spPr/>
        <p:txBody>
          <a:bodyPr/>
          <a:lstStyle/>
          <a:p>
            <a:r>
              <a:rPr lang="en-US" sz="2400" dirty="0" smtClean="0">
                <a:hlinkClick r:id="rId2"/>
              </a:rPr>
              <a:t>https://</a:t>
            </a:r>
            <a:r>
              <a:rPr lang="en-US" sz="2400" dirty="0" smtClean="0">
                <a:hlinkClick r:id="rId2"/>
              </a:rPr>
              <a:t>www.cloudcms.com/index.html</a:t>
            </a:r>
            <a:endParaRPr lang="en-US" sz="2400" dirty="0" smtClean="0"/>
          </a:p>
          <a:p>
            <a:r>
              <a:rPr lang="en-US" sz="2400" dirty="0" smtClean="0"/>
              <a:t>Cloud CMS is a headless, API-first approach to content management, built around JSON and a high performance cloud architecture. It delivers enterprise features, including flexible content models and a full editorial environment, allowing your business users to create, manage and publish fresh content with ease.</a:t>
            </a:r>
          </a:p>
          <a:p>
            <a:r>
              <a:rPr lang="en-US" sz="2400" dirty="0" smtClean="0"/>
              <a:t>Cloud </a:t>
            </a:r>
            <a:r>
              <a:rPr lang="en-US" sz="2400" dirty="0" smtClean="0"/>
              <a:t>CMS is available as a hosted subscription or as </a:t>
            </a:r>
            <a:r>
              <a:rPr lang="en-US" sz="2400" dirty="0" err="1" smtClean="0"/>
              <a:t>Docker</a:t>
            </a:r>
            <a:r>
              <a:rPr lang="en-US" sz="2400" dirty="0" smtClean="0"/>
              <a:t> containers that you can run on-premise or host within your own private cloud. Cloud CMS runs on top of </a:t>
            </a:r>
            <a:r>
              <a:rPr lang="en-US" sz="2400" dirty="0" err="1" smtClean="0"/>
              <a:t>MongoDB</a:t>
            </a:r>
            <a:r>
              <a:rPr lang="en-US" sz="2400" dirty="0" smtClean="0"/>
              <a:t>, </a:t>
            </a:r>
            <a:r>
              <a:rPr lang="en-US" sz="2400" dirty="0" err="1" smtClean="0"/>
              <a:t>ElasticSearch</a:t>
            </a:r>
            <a:r>
              <a:rPr lang="en-US" sz="2400" dirty="0" smtClean="0"/>
              <a:t> and Amazon AWS. </a:t>
            </a:r>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 Started with Cloud CMS</a:t>
            </a:r>
            <a:endParaRPr lang="en-US" dirty="0"/>
          </a:p>
        </p:txBody>
      </p:sp>
      <p:sp>
        <p:nvSpPr>
          <p:cNvPr id="3" name="Content Placeholder 2"/>
          <p:cNvSpPr>
            <a:spLocks noGrp="1"/>
          </p:cNvSpPr>
          <p:nvPr>
            <p:ph idx="1"/>
          </p:nvPr>
        </p:nvSpPr>
        <p:spPr/>
        <p:txBody>
          <a:bodyPr/>
          <a:lstStyle/>
          <a:p>
            <a:r>
              <a:rPr lang="en-US" sz="2400" dirty="0" smtClean="0">
                <a:hlinkClick r:id="rId2"/>
              </a:rPr>
              <a:t>https://</a:t>
            </a:r>
            <a:r>
              <a:rPr lang="en-US" sz="2400" dirty="0" smtClean="0">
                <a:hlinkClick r:id="rId2"/>
              </a:rPr>
              <a:t>www.cloudcms.com/quickstart.html</a:t>
            </a:r>
            <a:endParaRPr lang="en-US" sz="2400" dirty="0" smtClean="0"/>
          </a:p>
          <a:p>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15450</TotalTime>
  <Words>1721</Words>
  <Application>Microsoft Office PowerPoint</Application>
  <PresentationFormat>On-screen Show (4:3)</PresentationFormat>
  <Paragraphs>118</Paragraphs>
  <Slides>42</Slides>
  <Notes>1</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Content Management System</vt:lpstr>
      <vt:lpstr>Objectives</vt:lpstr>
      <vt:lpstr>Contents</vt:lpstr>
      <vt:lpstr>References</vt:lpstr>
      <vt:lpstr>Case Study</vt:lpstr>
      <vt:lpstr>Custom Software Development</vt:lpstr>
      <vt:lpstr>Custom Web Content</vt:lpstr>
      <vt:lpstr>Content And Code</vt:lpstr>
      <vt:lpstr>Why CMS Patterns</vt:lpstr>
      <vt:lpstr>Slide 10</vt:lpstr>
      <vt:lpstr>Content Management and Content Delivery</vt:lpstr>
      <vt:lpstr>Content Management and Content Delivery (cont.)</vt:lpstr>
      <vt:lpstr>Dynamic Content Delivery plus Caching</vt:lpstr>
      <vt:lpstr>Dynamic Content Delivery plus Caching (cont.)</vt:lpstr>
      <vt:lpstr>Sensible Client-Side Interaction</vt:lpstr>
      <vt:lpstr>Sensible Client-Side Interaction (cont.)</vt:lpstr>
      <vt:lpstr>Listener-Based Synchronization</vt:lpstr>
      <vt:lpstr>Listener-Based Synchronization (cont.)</vt:lpstr>
      <vt:lpstr>Layered Architecture for Content Delivery</vt:lpstr>
      <vt:lpstr>Layered Architecture for Content Delivery (cont.)</vt:lpstr>
      <vt:lpstr>Content Type Hierarchy</vt:lpstr>
      <vt:lpstr>Content Type Hierarchy (cont.)</vt:lpstr>
      <vt:lpstr>Decoupling of Content and Navigation</vt:lpstr>
      <vt:lpstr>Decoupling of Content and Navigation (cont.)</vt:lpstr>
      <vt:lpstr>Dynamic Content Linking</vt:lpstr>
      <vt:lpstr>Dynamic Content Linking (cont.)</vt:lpstr>
      <vt:lpstr>Taxonomy Based on Keywords and Categories</vt:lpstr>
      <vt:lpstr>Taxonomy Based on Keywords and Categories (cont.)</vt:lpstr>
      <vt:lpstr>Taxonomy Based on Keywords and Categories (cont.)</vt:lpstr>
      <vt:lpstr>Workflow-Based Validation</vt:lpstr>
      <vt:lpstr>Workflow-Based Validation (cont.)</vt:lpstr>
      <vt:lpstr>Content Services</vt:lpstr>
      <vt:lpstr>Slide 33</vt:lpstr>
      <vt:lpstr>Motivation: CMS Features (I)</vt:lpstr>
      <vt:lpstr>Motivation: CMS Features (II)</vt:lpstr>
      <vt:lpstr>Slide 36</vt:lpstr>
      <vt:lpstr>Building a Corporate Website (I)</vt:lpstr>
      <vt:lpstr>Building a Corporate Website (II)</vt:lpstr>
      <vt:lpstr>Slide 39</vt:lpstr>
      <vt:lpstr>Cloud CMS</vt:lpstr>
      <vt:lpstr>Get Started with Cloud CMS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4306</cp:revision>
  <dcterms:created xsi:type="dcterms:W3CDTF">2007-10-06T08:25:13Z</dcterms:created>
  <dcterms:modified xsi:type="dcterms:W3CDTF">2023-03-02T14:47:31Z</dcterms:modified>
</cp:coreProperties>
</file>