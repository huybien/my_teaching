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sldIdLst>
    <p:sldId id="486" r:id="rId2"/>
    <p:sldId id="487" r:id="rId3"/>
    <p:sldId id="488" r:id="rId4"/>
    <p:sldId id="489" r:id="rId5"/>
    <p:sldId id="490" r:id="rId6"/>
    <p:sldId id="491" r:id="rId7"/>
    <p:sldId id="492" r:id="rId8"/>
    <p:sldId id="493" r:id="rId9"/>
    <p:sldId id="494" r:id="rId10"/>
    <p:sldId id="495" r:id="rId11"/>
    <p:sldId id="497" r:id="rId12"/>
    <p:sldId id="498" r:id="rId13"/>
    <p:sldId id="501" r:id="rId14"/>
    <p:sldId id="496" r:id="rId15"/>
    <p:sldId id="343"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6928"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78BF5F87-2049-40AA-8F46-716DC689E9FB}" type="datetimeFigureOut">
              <a:rPr lang="en-US"/>
              <a:pPr>
                <a:defRPr/>
              </a:pPr>
              <a:t>10/15/2025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37162A9-E817-4FA2-8116-DD6AC9B6A8B4}"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6CAA961E-6EE8-4039-A1A6-0EABAAE5E2EB}" type="datetimeFigureOut">
              <a:rPr lang="en-US"/>
              <a:pPr>
                <a:defRPr/>
              </a:pPr>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E35CB4-CF17-47D7-96AA-936BDDDE12B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E51540E-C53B-42C6-8099-BB6606CE1021}" type="datetimeFigureOut">
              <a:rPr lang="en-US"/>
              <a:pPr>
                <a:defRPr/>
              </a:pPr>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A26FCBC-189E-4F52-973B-BFB0750B295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13B92E-91CA-4FE6-965A-F01C7ACEF459}" type="datetimeFigureOut">
              <a:rPr lang="en-US"/>
              <a:pPr>
                <a:defRPr/>
              </a:pPr>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367505-FC9C-4829-A2C5-8D9539F50D1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52D384C-9A4E-461B-BB23-F93A3AAF3419}" type="datetimeFigureOut">
              <a:rPr lang="en-US"/>
              <a:pPr>
                <a:defRPr/>
              </a:pPr>
              <a:t>10/15/2025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A97F266-8102-4D7C-B0FA-72A1D71C4A9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AAC8FED-8EC6-4E03-8633-F9D63165028A}" type="datetimeFigureOut">
              <a:rPr lang="en-US"/>
              <a:pPr>
                <a:defRPr/>
              </a:pPr>
              <a:t>10/15/2025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9A0AA738-E070-4C7D-8215-A9E9186978F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B9109C7D-7857-432A-8DD8-5C43F7E3C7CF}" type="datetimeFigureOut">
              <a:rPr lang="en-US"/>
              <a:pPr>
                <a:defRPr/>
              </a:pPr>
              <a:t>10/15/2025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8DBA6BF-B89E-4B84-9284-BF0D7164328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94341F6-3120-4451-901B-8E96C2128DE4}" type="datetimeFigureOut">
              <a:rPr lang="en-US"/>
              <a:pPr>
                <a:defRPr/>
              </a:pPr>
              <a:t>10/15/2025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D516167-3E32-49C7-B449-23B33F33516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E52B12F5-6CA7-4A24-8F05-2D2ACC989520}" type="datetimeFigureOut">
              <a:rPr lang="en-US"/>
              <a:pPr>
                <a:defRPr/>
              </a:pPr>
              <a:t>10/15/2025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8A50DFC-223B-4C17-8EA5-A3BC2E2B700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4BCF139-0BFF-4962-91BE-1F1514D86238}" type="datetimeFigureOut">
              <a:rPr lang="en-US"/>
              <a:pPr>
                <a:defRPr/>
              </a:pPr>
              <a:t>10/15/2025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B27F731-B728-442B-8D29-57522735D89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5F3ECA0-F5DD-4989-8D08-A636380CF86F}" type="datetimeFigureOut">
              <a:rPr lang="en-US"/>
              <a:pPr>
                <a:defRPr/>
              </a:pPr>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EA18408-4541-4111-8F56-46B363D97B6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D533026-B6A9-4D4E-A2BD-3141F8B632E9}" type="datetimeFigureOut">
              <a:rPr lang="en-US"/>
              <a:pPr>
                <a:defRPr/>
              </a:pPr>
              <a:t>10/15/2025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798B7DE-CC25-4488-B0E3-2CD008C0959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3075"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DB71AD6-D82A-46BB-BB7B-8ABE21D04123}" type="datetimeFigureOut">
              <a:rPr lang="en-US"/>
              <a:pPr>
                <a:defRPr/>
              </a:pPr>
              <a:t>10/15/2025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0B29163-B4D0-4B08-BCE5-40FF1D4EF81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blog.logrocket.com/why-you-should-avoid-orms-with-examples-in-node-js-e0baab73fa5/"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brianc/node-postgres" TargetMode="External"/><Relationship Id="rId2" Type="http://schemas.openxmlformats.org/officeDocument/2006/relationships/hyperlink" Target="https://github.com/mysqljs/mysql" TargetMode="External"/><Relationship Id="rId1" Type="http://schemas.openxmlformats.org/officeDocument/2006/relationships/slideLayout" Target="../slideLayouts/slideLayout2.xml"/><Relationship Id="rId4" Type="http://schemas.openxmlformats.org/officeDocument/2006/relationships/hyperlink" Target="https://github.com/mapbox/node-sqlite3"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knex/knex"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bookshelf/bookshelf" TargetMode="External"/><Relationship Id="rId2" Type="http://schemas.openxmlformats.org/officeDocument/2006/relationships/hyperlink" Target="https://github.com/sequelize/sequelize" TargetMode="External"/><Relationship Id="rId1" Type="http://schemas.openxmlformats.org/officeDocument/2006/relationships/slideLayout" Target="../slideLayouts/slideLayout2.xml"/><Relationship Id="rId4" Type="http://schemas.openxmlformats.org/officeDocument/2006/relationships/hyperlink" Target="https://github.com/balderdashy/waterli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docs.logrocket.com/docs/q-a"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normAutofit/>
          </a:bodyPr>
          <a:lstStyle/>
          <a:p>
            <a:r>
              <a:rPr lang="en-US" sz="6000" dirty="0" smtClean="0"/>
              <a:t>Node.js ORMs</a:t>
            </a:r>
          </a:p>
        </p:txBody>
      </p:sp>
      <p:sp>
        <p:nvSpPr>
          <p:cNvPr id="3" name="Subtitle 2"/>
          <p:cNvSpPr>
            <a:spLocks noGrp="1"/>
          </p:cNvSpPr>
          <p:nvPr>
            <p:ph type="subTitle" idx="1"/>
          </p:nvPr>
        </p:nvSpPr>
        <p:spPr/>
        <p:txBody>
          <a:bodyPr rtlCol="0">
            <a:normAutofit fontScale="40000" lnSpcReduction="20000"/>
          </a:bodyPr>
          <a:lstStyle/>
          <a:p>
            <a:pPr>
              <a:defRPr/>
            </a:pPr>
            <a:r>
              <a:rPr lang="en-US" sz="5400" dirty="0" smtClean="0"/>
              <a:t>Lecturer: Ngo Huy Bien</a:t>
            </a:r>
          </a:p>
          <a:p>
            <a:pPr>
              <a:defRPr/>
            </a:pPr>
            <a:r>
              <a:rPr lang="en-US" sz="4400" dirty="0" smtClean="0"/>
              <a:t>Software Engineering Department</a:t>
            </a:r>
          </a:p>
          <a:p>
            <a:pPr>
              <a:defRPr/>
            </a:pPr>
            <a:r>
              <a:rPr lang="en-US" sz="4400" dirty="0" smtClean="0"/>
              <a:t>Faculty of Information Technology</a:t>
            </a:r>
          </a:p>
          <a:p>
            <a:pPr>
              <a:defRPr/>
            </a:pPr>
            <a:r>
              <a:rPr lang="en-US" sz="4400" dirty="0" smtClean="0"/>
              <a:t>VNUHCM - University of Science</a:t>
            </a:r>
          </a:p>
          <a:p>
            <a:pPr>
              <a:defRPr/>
            </a:pPr>
            <a:r>
              <a:rPr lang="en-US" sz="4400" dirty="0" smtClean="0"/>
              <a:t>Ho Chi Minh City, Vietnam</a:t>
            </a:r>
          </a:p>
          <a:p>
            <a:pPr>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752600"/>
            <a:ext cx="5867400" cy="3992563"/>
          </a:xfrm>
        </p:spPr>
        <p:txBody>
          <a:bodyPr>
            <a:normAutofit/>
          </a:bodyPr>
          <a:lstStyle/>
          <a:p>
            <a:pPr marL="457200" lvl="0" indent="-457200">
              <a:buFont typeface="+mj-lt"/>
              <a:buAutoNum type="arabicPeriod"/>
            </a:pPr>
            <a:endParaRPr lang="en-US" sz="24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ORM?</a:t>
            </a:r>
            <a:endParaRPr lang="en-US" dirty="0"/>
          </a:p>
        </p:txBody>
      </p:sp>
      <p:sp>
        <p:nvSpPr>
          <p:cNvPr id="3" name="Content Placeholder 2"/>
          <p:cNvSpPr>
            <a:spLocks noGrp="1"/>
          </p:cNvSpPr>
          <p:nvPr>
            <p:ph idx="1"/>
          </p:nvPr>
        </p:nvSpPr>
        <p:spPr/>
        <p:txBody>
          <a:bodyPr/>
          <a:lstStyle/>
          <a:p>
            <a:r>
              <a:rPr lang="en-US" sz="2400" dirty="0" smtClean="0">
                <a:hlinkClick r:id="rId2"/>
              </a:rPr>
              <a:t>https://blog.logrocket.com/why-you-should-avoid-orms-with-examples-in-node-js-e0baab73fa5/</a:t>
            </a:r>
            <a:endParaRPr lang="en-US" sz="2400" dirty="0" smtClean="0"/>
          </a:p>
          <a:p>
            <a:r>
              <a:rPr lang="en-US" sz="2400" dirty="0" smtClean="0"/>
              <a:t>Object-relational mapping is the process of mapping between objects and relational database systems.</a:t>
            </a:r>
          </a:p>
          <a:p>
            <a:r>
              <a:rPr lang="en-US" sz="2400" dirty="0" smtClean="0"/>
              <a:t>There are ORMs capable of communicating with </a:t>
            </a:r>
            <a:r>
              <a:rPr lang="en-US" sz="2400" dirty="0" err="1" smtClean="0"/>
              <a:t>NoSQL</a:t>
            </a:r>
            <a:r>
              <a:rPr lang="en-US" sz="2400" dirty="0" smtClean="0"/>
              <a:t> </a:t>
            </a:r>
            <a:r>
              <a:rPr lang="en-US" sz="2400" dirty="0" err="1" smtClean="0"/>
              <a:t>backends</a:t>
            </a:r>
            <a:r>
              <a:rPr lang="en-US" sz="2400" dirty="0" smtClean="0"/>
              <a:t>, such as the Mongoose ORM backed by </a:t>
            </a:r>
            <a:r>
              <a:rPr lang="en-US" sz="2400" dirty="0" err="1" smtClean="0"/>
              <a:t>MongoDB</a:t>
            </a:r>
            <a:endParaRPr lang="en-US" sz="2400"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Use ORM?</a:t>
            </a:r>
            <a:endParaRPr lang="en-US" dirty="0"/>
          </a:p>
        </p:txBody>
      </p:sp>
      <p:sp>
        <p:nvSpPr>
          <p:cNvPr id="3" name="Content Placeholder 2"/>
          <p:cNvSpPr>
            <a:spLocks noGrp="1"/>
          </p:cNvSpPr>
          <p:nvPr>
            <p:ph idx="1"/>
          </p:nvPr>
        </p:nvSpPr>
        <p:spPr/>
        <p:txBody>
          <a:bodyPr/>
          <a:lstStyle/>
          <a:p>
            <a:r>
              <a:rPr lang="en-US" sz="2400" dirty="0" smtClean="0"/>
              <a:t>Avoid redundant code</a:t>
            </a:r>
          </a:p>
          <a:p>
            <a:r>
              <a:rPr lang="en-US" sz="2400" dirty="0" smtClean="0"/>
              <a:t>Easily switch from one database to another</a:t>
            </a:r>
          </a:p>
          <a:p>
            <a:r>
              <a:rPr lang="en-US" sz="2400" dirty="0" smtClean="0"/>
              <a:t>Query for multiple tables (ORM converts the object-oriented query approach to SQL)</a:t>
            </a:r>
          </a:p>
          <a:p>
            <a:r>
              <a:rPr lang="en-US" sz="2400" dirty="0" smtClean="0"/>
              <a:t>Focus more on business logic and less on writing interfaces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Driver</a:t>
            </a:r>
            <a:endParaRPr lang="en-US" dirty="0"/>
          </a:p>
        </p:txBody>
      </p:sp>
      <p:sp>
        <p:nvSpPr>
          <p:cNvPr id="3" name="Content Placeholder 2"/>
          <p:cNvSpPr>
            <a:spLocks noGrp="1"/>
          </p:cNvSpPr>
          <p:nvPr>
            <p:ph idx="1"/>
          </p:nvPr>
        </p:nvSpPr>
        <p:spPr/>
        <p:txBody>
          <a:bodyPr/>
          <a:lstStyle/>
          <a:p>
            <a:r>
              <a:rPr lang="en-US" sz="2400" dirty="0" smtClean="0"/>
              <a:t>A database driver is going to handle connecting to a database (and sometimes connection pooling).</a:t>
            </a:r>
          </a:p>
          <a:p>
            <a:r>
              <a:rPr lang="en-US" sz="2400" dirty="0" smtClean="0"/>
              <a:t>At this level you’re going to be writing raw SQL strings and delivering them to a database, and receiving a response from the database.</a:t>
            </a:r>
            <a:endParaRPr lang="en-US" sz="2400" dirty="0" smtClean="0">
              <a:hlinkClick r:id="rId2"/>
            </a:endParaRPr>
          </a:p>
          <a:p>
            <a:r>
              <a:rPr lang="en-US" sz="2400" dirty="0" smtClean="0">
                <a:hlinkClick r:id="rId2"/>
              </a:rPr>
              <a:t>https://github.com/mysqljs/mysql</a:t>
            </a:r>
            <a:endParaRPr lang="en-US" sz="2400" dirty="0" smtClean="0"/>
          </a:p>
          <a:p>
            <a:r>
              <a:rPr lang="en-US" sz="2400" dirty="0" smtClean="0">
                <a:hlinkClick r:id="rId3"/>
              </a:rPr>
              <a:t>https://github.com/brianc/node-postgres</a:t>
            </a:r>
            <a:endParaRPr lang="en-US" sz="2400" dirty="0" smtClean="0"/>
          </a:p>
          <a:p>
            <a:r>
              <a:rPr lang="en-US" sz="2400" dirty="0" smtClean="0">
                <a:hlinkClick r:id="rId4"/>
              </a:rPr>
              <a:t>https://github.com/mapbox/node-sqlite3</a:t>
            </a:r>
            <a:endParaRPr lang="en-US" sz="2400" dirty="0" smtClean="0"/>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Builder (I)</a:t>
            </a:r>
            <a:endParaRPr lang="en-US" dirty="0"/>
          </a:p>
        </p:txBody>
      </p:sp>
      <p:sp>
        <p:nvSpPr>
          <p:cNvPr id="3" name="Content Placeholder 2"/>
          <p:cNvSpPr>
            <a:spLocks noGrp="1"/>
          </p:cNvSpPr>
          <p:nvPr>
            <p:ph idx="1"/>
          </p:nvPr>
        </p:nvSpPr>
        <p:spPr/>
        <p:txBody>
          <a:bodyPr/>
          <a:lstStyle/>
          <a:p>
            <a:r>
              <a:rPr lang="en-US" sz="2400" dirty="0" smtClean="0"/>
              <a:t>The most notable module which operates at this layer is </a:t>
            </a:r>
            <a:r>
              <a:rPr lang="en-US" sz="2400" dirty="0" err="1" smtClean="0"/>
              <a:t>Knex</a:t>
            </a:r>
            <a:r>
              <a:rPr lang="en-US" sz="2400" dirty="0" smtClean="0"/>
              <a:t>.</a:t>
            </a:r>
          </a:p>
          <a:p>
            <a:r>
              <a:rPr lang="en-US" sz="2400" dirty="0" smtClean="0"/>
              <a:t>This module is able to generate queries for a few different SQL dialects.</a:t>
            </a:r>
          </a:p>
          <a:p>
            <a:r>
              <a:rPr lang="en-US" sz="2400" dirty="0" smtClean="0"/>
              <a:t>This module depends on one of the aforementioned libraries — you’ll need to install the particular ones you plan on using with </a:t>
            </a:r>
            <a:r>
              <a:rPr lang="en-US" sz="2400" dirty="0" err="1" smtClean="0"/>
              <a:t>Knex</a:t>
            </a:r>
            <a:r>
              <a:rPr lang="en-US" sz="2400" dirty="0" smtClean="0"/>
              <a:t>.</a:t>
            </a:r>
            <a:endParaRPr lang="en-US" sz="2400" dirty="0" smtClean="0">
              <a:hlinkClick r:id="rId2"/>
            </a:endParaRPr>
          </a:p>
          <a:p>
            <a:r>
              <a:rPr lang="en-US" sz="2400" dirty="0" smtClean="0">
                <a:hlinkClick r:id="rId2"/>
              </a:rPr>
              <a:t>https://github.com/knex/knex</a:t>
            </a:r>
            <a:endParaRPr lang="en-US" sz="24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Query Builder (II)</a:t>
            </a:r>
            <a:endParaRPr lang="en-US" dirty="0"/>
          </a:p>
        </p:txBody>
      </p:sp>
      <p:sp>
        <p:nvSpPr>
          <p:cNvPr id="3" name="Content Placeholder 2"/>
          <p:cNvSpPr>
            <a:spLocks noGrp="1"/>
          </p:cNvSpPr>
          <p:nvPr>
            <p:ph idx="1"/>
          </p:nvPr>
        </p:nvSpPr>
        <p:spPr/>
        <p:txBody>
          <a:bodyPr/>
          <a:lstStyle/>
          <a:p>
            <a:r>
              <a:rPr lang="en-US" sz="2400" dirty="0" smtClean="0"/>
              <a:t>When creating a </a:t>
            </a:r>
            <a:r>
              <a:rPr lang="en-US" sz="2400" dirty="0" err="1" smtClean="0"/>
              <a:t>Knex</a:t>
            </a:r>
            <a:r>
              <a:rPr lang="en-US" sz="2400" dirty="0" smtClean="0"/>
              <a:t> instance you provide the connection details, along with the dialect you plan on using and are then able to start making queries.</a:t>
            </a:r>
          </a:p>
          <a:p>
            <a:r>
              <a:rPr lang="en-US" sz="2400" dirty="0" smtClean="0"/>
              <a:t>The queries you write will closely resemble the underlying SQL queries.</a:t>
            </a:r>
          </a:p>
          <a:p>
            <a:r>
              <a:rPr lang="en-US" sz="2400" dirty="0" smtClean="0"/>
              <a:t>One nicety is that you’re able to programmatically generate dynamic queries in a much more convenient way than if you were to concatenate strings together to form SQL (which often introduces security vulnerabilities).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ORM</a:t>
            </a:r>
            <a:endParaRPr lang="en-US" dirty="0"/>
          </a:p>
        </p:txBody>
      </p:sp>
      <p:sp>
        <p:nvSpPr>
          <p:cNvPr id="3" name="Content Placeholder 2"/>
          <p:cNvSpPr>
            <a:spLocks noGrp="1"/>
          </p:cNvSpPr>
          <p:nvPr>
            <p:ph idx="1"/>
          </p:nvPr>
        </p:nvSpPr>
        <p:spPr/>
        <p:txBody>
          <a:bodyPr/>
          <a:lstStyle/>
          <a:p>
            <a:r>
              <a:rPr lang="en-US" sz="2400" dirty="0" smtClean="0"/>
              <a:t>When working with ORMs we typically need to do a lot more configuration ahead of time.</a:t>
            </a:r>
          </a:p>
          <a:p>
            <a:r>
              <a:rPr lang="en-US" sz="2400" dirty="0" smtClean="0"/>
              <a:t>The point of an ORM, as the name implies, is to map a record in a relational database to an object (typically, but not always, a class instance) in our application.</a:t>
            </a:r>
          </a:p>
          <a:p>
            <a:r>
              <a:rPr lang="en-US" sz="2400" dirty="0" smtClean="0"/>
              <a:t>What this means is that we’re defining the structure of these objects, as well as their relationships, in our application code.</a:t>
            </a:r>
          </a:p>
          <a:p>
            <a:r>
              <a:rPr lang="en-US" sz="2400" dirty="0" smtClean="0">
                <a:hlinkClick r:id="rId2"/>
              </a:rPr>
              <a:t>https://github.com/sequelize/sequelize</a:t>
            </a:r>
            <a:endParaRPr lang="en-US" sz="2400" dirty="0" smtClean="0"/>
          </a:p>
          <a:p>
            <a:r>
              <a:rPr lang="en-US" sz="2400" dirty="0" smtClean="0">
                <a:hlinkClick r:id="rId3"/>
              </a:rPr>
              <a:t>https://github.com/bookshelf/bookshelf</a:t>
            </a:r>
            <a:endParaRPr lang="en-US" sz="2400" dirty="0" smtClean="0"/>
          </a:p>
          <a:p>
            <a:r>
              <a:rPr lang="en-US" sz="2400" smtClean="0">
                <a:hlinkClick r:id="rId4"/>
              </a:rPr>
              <a:t>https://github.com/balderdashy/waterline</a:t>
            </a:r>
            <a:endParaRPr lang="en-US" sz="2400" smtClean="0"/>
          </a:p>
          <a:p>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 ORM really Necessary? (I)</a:t>
            </a:r>
            <a:endParaRPr lang="en-US" dirty="0"/>
          </a:p>
        </p:txBody>
      </p:sp>
      <p:sp>
        <p:nvSpPr>
          <p:cNvPr id="3" name="Content Placeholder 2"/>
          <p:cNvSpPr>
            <a:spLocks noGrp="1"/>
          </p:cNvSpPr>
          <p:nvPr>
            <p:ph idx="1"/>
          </p:nvPr>
        </p:nvSpPr>
        <p:spPr/>
        <p:txBody>
          <a:bodyPr/>
          <a:lstStyle/>
          <a:p>
            <a:r>
              <a:rPr lang="en-US" sz="2400" dirty="0" smtClean="0"/>
              <a:t>The problem is that ORMs represent some of the most complex libraries you can get your hands on. The surface area of an ORM is very large and learning it inside and out is no easy task.</a:t>
            </a:r>
          </a:p>
          <a:p>
            <a:r>
              <a:rPr lang="en-US" sz="2400" dirty="0" smtClean="0"/>
              <a:t>Once you have learned a particular ORM this knowledge likely won’t transfer that well. This is true if you switch from one platform to another, such as JS/Node.js to C#/.NET. But perhaps even less obvious is that this is true if you switch from one ORM to another within the same platform, such as </a:t>
            </a:r>
            <a:r>
              <a:rPr lang="en-US" sz="2400" dirty="0" err="1" smtClean="0"/>
              <a:t>Sequelize</a:t>
            </a:r>
            <a:r>
              <a:rPr lang="en-US" sz="2400" dirty="0" smtClean="0"/>
              <a:t> to Bookshelf with Node.js.</a:t>
            </a:r>
          </a:p>
          <a:p>
            <a:r>
              <a:rPr lang="en-US" sz="2400" dirty="0" smtClean="0"/>
              <a:t>There are at least dozens of ORMs for Node.js alone, and at least hundreds of ORMs for all platforms.</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 ORM really Necessary? (II)</a:t>
            </a:r>
            <a:endParaRPr lang="en-US" dirty="0"/>
          </a:p>
        </p:txBody>
      </p:sp>
      <p:sp>
        <p:nvSpPr>
          <p:cNvPr id="3" name="Content Placeholder 2"/>
          <p:cNvSpPr>
            <a:spLocks noGrp="1"/>
          </p:cNvSpPr>
          <p:nvPr>
            <p:ph idx="1"/>
          </p:nvPr>
        </p:nvSpPr>
        <p:spPr/>
        <p:txBody>
          <a:bodyPr/>
          <a:lstStyle/>
          <a:p>
            <a:r>
              <a:rPr lang="en-US" sz="2400" dirty="0" smtClean="0"/>
              <a:t>Complex ORM calls can be inefficient.</a:t>
            </a:r>
          </a:p>
          <a:p>
            <a:r>
              <a:rPr lang="en-US" sz="2400" dirty="0" smtClean="0"/>
              <a:t>Not all queries can be represented as an ORM operation. </a:t>
            </a:r>
            <a:r>
              <a:rPr lang="en-US" sz="2400" smtClean="0"/>
              <a:t>When we need to generate these queries we have to fall back to generating the SQL query by hand.</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sz="2400" dirty="0" smtClean="0">
                <a:hlinkClick r:id="rId2"/>
              </a:rPr>
              <a:t>https://docs.logrocket.com/docs/q-a</a:t>
            </a:r>
            <a:endParaRPr lang="en-US" sz="2400" dirty="0" smtClean="0"/>
          </a:p>
          <a:p>
            <a:r>
              <a:rPr lang="en-US" sz="2400" dirty="0" err="1" smtClean="0"/>
              <a:t>LogRocket</a:t>
            </a:r>
            <a:r>
              <a:rPr lang="en-US" sz="2400" dirty="0" smtClean="0"/>
              <a:t> is a JavaScript SDK which works by intercepting actions in your website/app, such as network requests, touch actions, and </a:t>
            </a:r>
            <a:r>
              <a:rPr lang="en-US" sz="2400" dirty="0" err="1" smtClean="0"/>
              <a:t>Redux</a:t>
            </a:r>
            <a:r>
              <a:rPr lang="en-US" sz="2400" dirty="0" smtClean="0"/>
              <a:t> events, and sending them to a remote server.</a:t>
            </a:r>
          </a:p>
          <a:p>
            <a:r>
              <a:rPr lang="en-US" sz="2400" dirty="0" smtClean="0"/>
              <a:t>Each user session in your app is associated with a unique </a:t>
            </a:r>
            <a:r>
              <a:rPr lang="en-US" sz="2400" dirty="0" err="1" smtClean="0"/>
              <a:t>LogRocket</a:t>
            </a:r>
            <a:r>
              <a:rPr lang="en-US" sz="2400" dirty="0" smtClean="0"/>
              <a:t> identifier. These user sessions can be viewed later by navigating to an appropriate URL, which can be provided to developers via any of our integrations.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38915" name="Picture 4"/>
          <p:cNvPicPr>
            <a:picLocks noGrp="1" noChangeAspect="1" noChangeArrowheads="1"/>
          </p:cNvPicPr>
          <p:nvPr>
            <p:ph idx="1"/>
          </p:nvPr>
        </p:nvPicPr>
        <p:blipFill>
          <a:blip r:embed="rId2" cstate="print"/>
          <a:srcRect/>
          <a:stretch>
            <a:fillRect/>
          </a:stretch>
        </p:blipFill>
        <p:spPr>
          <a:xfrm>
            <a:off x="1166813" y="16002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8800</TotalTime>
  <Words>634</Words>
  <Application>Microsoft Office PowerPoint</Application>
  <PresentationFormat>On-screen Show (4:3)</PresentationFormat>
  <Paragraphs>53</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Node.js ORMs</vt:lpstr>
      <vt:lpstr>Objectives</vt:lpstr>
      <vt:lpstr>Contents</vt:lpstr>
      <vt:lpstr>References</vt:lpstr>
      <vt:lpstr>What is ORM?</vt:lpstr>
      <vt:lpstr>Why Use ORM?</vt:lpstr>
      <vt:lpstr>Database Driver</vt:lpstr>
      <vt:lpstr>Query Builder (I)</vt:lpstr>
      <vt:lpstr>Query Builder (II)</vt:lpstr>
      <vt:lpstr>ORM</vt:lpstr>
      <vt:lpstr>Is ORM really Necessary? (I)</vt:lpstr>
      <vt:lpstr>Is ORM really Necessary? (II)</vt:lpstr>
      <vt:lpstr>Slide 13</vt:lpstr>
      <vt:lpstr>Slide 14</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3829</cp:revision>
  <dcterms:created xsi:type="dcterms:W3CDTF">2007-10-06T08:25:13Z</dcterms:created>
  <dcterms:modified xsi:type="dcterms:W3CDTF">2025-10-15T16:52:59Z</dcterms:modified>
</cp:coreProperties>
</file>