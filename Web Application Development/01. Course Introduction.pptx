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2"/>
  </p:notesMasterIdLst>
  <p:sldIdLst>
    <p:sldId id="256" r:id="rId2"/>
    <p:sldId id="394" r:id="rId3"/>
    <p:sldId id="431" r:id="rId4"/>
    <p:sldId id="385" r:id="rId5"/>
    <p:sldId id="432" r:id="rId6"/>
    <p:sldId id="445" r:id="rId7"/>
    <p:sldId id="435" r:id="rId8"/>
    <p:sldId id="446" r:id="rId9"/>
    <p:sldId id="448" r:id="rId10"/>
    <p:sldId id="416" r:id="rId11"/>
    <p:sldId id="417" r:id="rId12"/>
    <p:sldId id="426" r:id="rId13"/>
    <p:sldId id="452" r:id="rId14"/>
    <p:sldId id="404" r:id="rId15"/>
    <p:sldId id="451" r:id="rId16"/>
    <p:sldId id="447" r:id="rId17"/>
    <p:sldId id="449" r:id="rId18"/>
    <p:sldId id="453" r:id="rId19"/>
    <p:sldId id="355" r:id="rId20"/>
    <p:sldId id="444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63" autoAdjust="0"/>
    <p:restoredTop sz="94667" autoAdjust="0"/>
  </p:normalViewPr>
  <p:slideViewPr>
    <p:cSldViewPr>
      <p:cViewPr>
        <p:scale>
          <a:sx n="50" d="100"/>
          <a:sy n="50" d="100"/>
        </p:scale>
        <p:origin x="-1544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10/8/2021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hbien@fit.hcmus.edu.v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nndkhoa@fit.hcmus.edu.vn" TargetMode="External"/><Relationship Id="rId2" Type="http://schemas.openxmlformats.org/officeDocument/2006/relationships/hyperlink" Target="https://bit.ly/3hLf8QJ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nhkhanh@fit.hcmus.edu.vn" TargetMode="External"/><Relationship Id="rId2" Type="http://schemas.openxmlformats.org/officeDocument/2006/relationships/hyperlink" Target="https://bit.ly/3AwukZ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smtClean="0"/>
              <a:t>Web Application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Department of Software Engineering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Natural Sciences,  VNU HCMC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6745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PhD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Department of Software Engineering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Faculty of Information Technology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University of Natural Sciences,  VNU HCMC</a:t>
            </a: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4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2400" i="1" strike="sngStrike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Phone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: 0988</a:t>
            </a:r>
            <a:r>
              <a:rPr lang="en-US" sz="2400" strike="sngStrike" dirty="0" smtClean="0">
                <a:latin typeface="Calibri" pitchFamily="34" charset="0"/>
                <a:cs typeface="Calibri" pitchFamily="34" charset="0"/>
              </a:rPr>
              <a:t>4x7y2z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strike="sngStrike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location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I82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hours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Monday &amp; Friday: 13:30 p.m. – 17:10 p.m.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decide whether to </a:t>
            </a:r>
            <a:r>
              <a:rPr lang="en-US" sz="2400" i="1" dirty="0" smtClean="0">
                <a:solidFill>
                  <a:srgbClr val="C00000"/>
                </a:solidFill>
              </a:rPr>
              <a:t>register</a:t>
            </a:r>
            <a:r>
              <a:rPr lang="en-US" sz="2400" dirty="0" smtClean="0"/>
              <a:t> for the course.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identify a </a:t>
            </a:r>
            <a:r>
              <a:rPr lang="en-US" sz="2400" i="1" dirty="0" smtClean="0">
                <a:solidFill>
                  <a:srgbClr val="C00000"/>
                </a:solidFill>
              </a:rPr>
              <a:t>group</a:t>
            </a:r>
            <a:r>
              <a:rPr lang="en-US" sz="2400" dirty="0" smtClean="0"/>
              <a:t> for implementing the course project.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estimate an </a:t>
            </a:r>
            <a:r>
              <a:rPr lang="en-US" sz="2400" i="1" dirty="0" smtClean="0">
                <a:solidFill>
                  <a:srgbClr val="C00000"/>
                </a:solidFill>
              </a:rPr>
              <a:t>expected grade</a:t>
            </a:r>
            <a:r>
              <a:rPr lang="en-US" sz="2400" dirty="0" smtClean="0"/>
              <a:t> for yourself.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target learners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learning outcomes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contents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assessment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Teaching and learning </a:t>
            </a:r>
            <a:r>
              <a:rPr lang="en-US" sz="2400" i="1" dirty="0" smtClean="0">
                <a:solidFill>
                  <a:srgbClr val="C00000"/>
                </a:solidFill>
              </a:rPr>
              <a:t>methods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References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policies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20482" name="Picture 2" descr="https://www.gannett-cdn.com/-mm-/9a10d18443197ab9a2a837953a60ea6375b5467c/c=4-0-1916-1080/local/-/media/2018/04/24/USATODAY/USATODAY/636602048654689388-Nudging.jpg?width=1912&amp;height=1080&amp;fit=crop&amp;format=pjpg&amp;auto=web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438400"/>
            <a:ext cx="6070600" cy="342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Developer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3074" name="Picture 2" descr="https://www.greenbiz.com/sites/default/files/styles/gbz_article_primary_breakpoints_kalapicture_screen-md_1x/public/images/articles/featured/salary-tharakorn_arunothai-stock.jpg?itok=rlRQhXey&amp;timestamp=14392367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19400"/>
            <a:ext cx="3841750" cy="2332990"/>
          </a:xfrm>
          <a:prstGeom prst="rect">
            <a:avLst/>
          </a:prstGeom>
          <a:noFill/>
        </p:spPr>
      </p:pic>
      <p:sp>
        <p:nvSpPr>
          <p:cNvPr id="11" name="Cloud 10"/>
          <p:cNvSpPr/>
          <p:nvPr/>
        </p:nvSpPr>
        <p:spPr>
          <a:xfrm>
            <a:off x="4648200" y="2209800"/>
            <a:ext cx="4038600" cy="3886200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smtClean="0"/>
              <a:t>Web developer salaries can range from $500 to $1400 USD per month.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Course is Not for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people who </a:t>
            </a:r>
            <a:r>
              <a:rPr lang="en-US" sz="2400" i="1" dirty="0" smtClean="0">
                <a:solidFill>
                  <a:srgbClr val="C00000"/>
                </a:solidFill>
              </a:rPr>
              <a:t>do not like</a:t>
            </a:r>
            <a:r>
              <a:rPr lang="en-US" sz="2400" dirty="0" smtClean="0"/>
              <a:t> programming.</a:t>
            </a:r>
          </a:p>
        </p:txBody>
      </p:sp>
      <p:pic>
        <p:nvPicPr>
          <p:cNvPr id="17410" name="Picture 2" descr="https://digitalready.co/sites/default/files/styles/1000x427/public/hate-coding-try-digital-marketing.png?itok=w3CiLp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667000"/>
            <a:ext cx="6350000" cy="271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Prerequisites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0" y="1601690"/>
            <a:ext cx="73914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Prerequisites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Introduction to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Programming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Introduction to Database Management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Systems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Prior-courses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Computer Networks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Introduction to Software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Engineering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Parallel 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Windows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Application Development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Mobile Application Development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Game Programming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Requirements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Required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knowledge and skills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read English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books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write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reports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The presentation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skill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8194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39624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675" y="51816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219200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62484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Explain web application architecture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Install HTTP services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Write a HTML web page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Write CSS for a web page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Write JavaScript code for a web page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Write a dynamic web application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Use tools, libraries and frameworks for creating, testing and deploying a web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4600" y="3657600"/>
            <a:ext cx="2667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</a:rPr>
              <a:t>8. Engineer 14,000 lines of code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a web application</a:t>
            </a:r>
            <a:r>
              <a:rPr lang="en-US" sz="2400" b="1" dirty="0" smtClean="0">
                <a:latin typeface="Calibri" pitchFamily="34" charset="0"/>
              </a:rPr>
              <a:t> with a </a:t>
            </a:r>
            <a:r>
              <a:rPr lang="en-US" sz="2400" b="1" i="1" dirty="0" smtClean="0">
                <a:solidFill>
                  <a:srgbClr val="C00000"/>
                </a:solidFill>
                <a:latin typeface="Calibri" pitchFamily="34" charset="0"/>
              </a:rPr>
              <a:t>team</a:t>
            </a:r>
            <a:r>
              <a:rPr lang="en-US" sz="2400" b="1" dirty="0" smtClean="0">
                <a:latin typeface="Calibri" pitchFamily="34" charset="0"/>
              </a:rPr>
              <a:t> of 3 people</a:t>
            </a:r>
            <a:r>
              <a:rPr lang="vi-VN" sz="2400" b="1" dirty="0" smtClean="0">
                <a:latin typeface="Calibri" pitchFamily="34" charset="0"/>
              </a:rPr>
              <a:t>.</a:t>
            </a:r>
            <a:endParaRPr lang="en-US" sz="2400" b="1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371600"/>
            <a:ext cx="2011680" cy="1712976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1600" b="1" dirty="0" smtClean="0"/>
              <a:t>Web Application Architecture, HTTP Services (Web Servers) and Clients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dirty="0" smtClean="0"/>
              <a:t>HTML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dirty="0" smtClean="0"/>
              <a:t>Web Design, CSS and Responsive Website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dirty="0" smtClean="0"/>
              <a:t>JavaScript and JSON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dirty="0" err="1" smtClean="0"/>
              <a:t>jQuery</a:t>
            </a:r>
            <a:r>
              <a:rPr lang="en-US" sz="1600" b="1" dirty="0" smtClean="0"/>
              <a:t>, Bootstrap and Font Awesome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i="1" dirty="0" smtClean="0"/>
              <a:t>Single Page Application (React, Angular, Vue.js)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i="1" dirty="0" smtClean="0"/>
              <a:t>Server side programming languages and frameworks: C# and .NET Core/PHP/Java and Java EE/</a:t>
            </a:r>
            <a:r>
              <a:rPr lang="en-US" sz="1600" b="1" i="1" dirty="0" smtClean="0"/>
              <a:t>JavaScript and Node.js</a:t>
            </a:r>
            <a:r>
              <a:rPr lang="en-US" sz="1600" i="1" dirty="0" smtClean="0"/>
              <a:t>/Python and </a:t>
            </a:r>
            <a:r>
              <a:rPr lang="en-US" sz="1600" i="1" dirty="0" err="1" smtClean="0"/>
              <a:t>Django</a:t>
            </a:r>
            <a:r>
              <a:rPr lang="en-US" sz="1600" i="1" dirty="0" smtClean="0"/>
              <a:t> and Flask/Ruby and Ruby on Rails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i="1" dirty="0" smtClean="0"/>
              <a:t>Web Database Application (MS SQL, Oracle, </a:t>
            </a:r>
            <a:r>
              <a:rPr lang="en-US" sz="1600" b="1" i="1" dirty="0" err="1" smtClean="0"/>
              <a:t>mySQL</a:t>
            </a:r>
            <a:r>
              <a:rPr lang="en-US" sz="1600" b="1" i="1" dirty="0" smtClean="0"/>
              <a:t>, </a:t>
            </a:r>
            <a:r>
              <a:rPr lang="en-US" sz="1600" b="1" i="1" dirty="0" err="1" smtClean="0"/>
              <a:t>PostgreSQL</a:t>
            </a:r>
            <a:r>
              <a:rPr lang="en-US" sz="1600" b="1" i="1" dirty="0" smtClean="0"/>
              <a:t>, </a:t>
            </a:r>
            <a:r>
              <a:rPr lang="en-US" sz="1600" b="1" i="1" dirty="0" err="1" smtClean="0"/>
              <a:t>MongoDB</a:t>
            </a:r>
            <a:r>
              <a:rPr lang="en-US" sz="1600" b="1" i="1" dirty="0" smtClean="0"/>
              <a:t>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i="1" dirty="0" smtClean="0"/>
              <a:t>Web API (Web Services)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i="1" dirty="0" smtClean="0"/>
              <a:t>Web Application Security</a:t>
            </a:r>
            <a:endParaRPr lang="en-US" sz="1600" i="1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1600" i="1" dirty="0" smtClean="0"/>
              <a:t>Web Application Testing, and Deployment (</a:t>
            </a:r>
            <a:r>
              <a:rPr lang="en-US" sz="1600" i="1" dirty="0" err="1" smtClean="0"/>
              <a:t>Docker</a:t>
            </a:r>
            <a:r>
              <a:rPr lang="en-US" sz="1600" i="1" dirty="0" smtClean="0"/>
              <a:t>, </a:t>
            </a:r>
            <a:r>
              <a:rPr lang="en-US" sz="1600" i="1" dirty="0" err="1" smtClean="0"/>
              <a:t>Kubernetes</a:t>
            </a:r>
            <a:r>
              <a:rPr lang="en-US" sz="1600" i="1" dirty="0" smtClean="0"/>
              <a:t>, </a:t>
            </a:r>
            <a:r>
              <a:rPr lang="en-US" sz="1600" i="1" dirty="0" err="1" smtClean="0"/>
              <a:t>Heroku</a:t>
            </a:r>
            <a:r>
              <a:rPr lang="en-US" sz="1600" i="1" dirty="0" smtClean="0"/>
              <a:t>, Firebase Hosting)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715000"/>
            <a:ext cx="6172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5105400"/>
            <a:ext cx="2321357" cy="1554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600" dirty="0" smtClean="0">
                <a:latin typeface="+mj-lt"/>
              </a:rPr>
              <a:t>The number of credits:	4</a:t>
            </a:r>
          </a:p>
          <a:p>
            <a:r>
              <a:rPr lang="en-US" sz="2600" dirty="0" smtClean="0"/>
              <a:t>Theoretical lessons</a:t>
            </a:r>
            <a:r>
              <a:rPr lang="en-US" sz="2600" dirty="0" smtClean="0">
                <a:latin typeface="+mj-lt"/>
              </a:rPr>
              <a:t>: 	45</a:t>
            </a:r>
          </a:p>
          <a:p>
            <a:r>
              <a:rPr lang="en-US" sz="2600" dirty="0" smtClean="0">
                <a:latin typeface="+mj-lt"/>
              </a:rPr>
              <a:t>Practical lessons:		30</a:t>
            </a:r>
          </a:p>
          <a:p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Self- learning lessons:</a:t>
            </a:r>
            <a:r>
              <a:rPr lang="en-US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120</a:t>
            </a:r>
            <a:endParaRPr lang="en-US" sz="2600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schedule: Refer to the course syllabus.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Class Monitors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Assessment (Monday)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The final grade is combined of: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Assignments (10%)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Mid-term individual project (30%)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Final project (60%)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i="1" dirty="0" smtClean="0">
                <a:latin typeface="Calibri" pitchFamily="34" charset="0"/>
                <a:cs typeface="Calibri" pitchFamily="34" charset="0"/>
              </a:rPr>
              <a:t>Detail: </a:t>
            </a:r>
            <a:r>
              <a:rPr lang="en-US" sz="2000" i="1" dirty="0" smtClean="0">
                <a:latin typeface="Calibri" pitchFamily="34" charset="0"/>
                <a:cs typeface="Calibri" pitchFamily="34" charset="0"/>
                <a:hlinkClick r:id="rId2"/>
              </a:rPr>
              <a:t>https://bit.ly/3hLf8QJ</a:t>
            </a:r>
            <a:endParaRPr lang="en-US" sz="2000" i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i="1" dirty="0" smtClean="0">
                <a:latin typeface="Calibri" pitchFamily="34" charset="0"/>
                <a:cs typeface="Calibri" pitchFamily="34" charset="0"/>
              </a:rPr>
              <a:t>Questions? </a:t>
            </a:r>
            <a:r>
              <a:rPr lang="en-US" sz="2000" i="1" dirty="0" smtClean="0">
                <a:latin typeface="Calibri" pitchFamily="34" charset="0"/>
                <a:cs typeface="Calibri" pitchFamily="34" charset="0"/>
                <a:hlinkClick r:id="rId3"/>
              </a:rPr>
              <a:t>nndkhoa@fit.hcmus.edu.vn</a:t>
            </a:r>
            <a:endParaRPr lang="en-US" sz="2000" i="1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Bonus points (up to 20%) for: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Students who actively and correctly answer questions in classroom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Students who successfully complete the quizzes.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assessment: Refer to the course syllabus.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Assessment (Friday)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The final grade is combined of: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Assignments (30%)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Mid-term individual project (30%)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Final project (40%)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i="1" dirty="0" smtClean="0">
                <a:latin typeface="Calibri" pitchFamily="34" charset="0"/>
                <a:cs typeface="Calibri" pitchFamily="34" charset="0"/>
              </a:rPr>
              <a:t>Detail: </a:t>
            </a:r>
            <a:r>
              <a:rPr lang="en-US" sz="2000" i="1" dirty="0" smtClean="0">
                <a:latin typeface="Calibri" pitchFamily="34" charset="0"/>
                <a:cs typeface="Calibri" pitchFamily="34" charset="0"/>
                <a:hlinkClick r:id="rId2"/>
              </a:rPr>
              <a:t>https://bit.ly/3AwukZg</a:t>
            </a:r>
            <a:endParaRPr lang="en-US" sz="2000" i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i="1" dirty="0" smtClean="0">
                <a:latin typeface="Calibri" pitchFamily="34" charset="0"/>
                <a:cs typeface="Calibri" pitchFamily="34" charset="0"/>
              </a:rPr>
              <a:t>Questions? </a:t>
            </a:r>
            <a:r>
              <a:rPr lang="en-US" sz="2000" i="1" dirty="0" smtClean="0">
                <a:latin typeface="Calibri" pitchFamily="34" charset="0"/>
                <a:cs typeface="Calibri" pitchFamily="34" charset="0"/>
                <a:hlinkClick r:id="rId3"/>
              </a:rPr>
              <a:t>nhkhanh@fit.hcmus.edu.vn</a:t>
            </a:r>
            <a:endParaRPr lang="en-US" sz="2000" i="1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Bonus points (up to 20%) for: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Students who actively and correctly answer questions in classroom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Students who successfully complete the quizzes.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assessment: Refer to the course syllabus.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for more than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30% of the course time</a:t>
            </a:r>
            <a:r>
              <a:rPr lang="en-US" sz="1900" dirty="0" smtClean="0">
                <a:latin typeface="+mj-lt"/>
              </a:rPr>
              <a:t> shall not be allowed to take the exams.</a:t>
            </a:r>
          </a:p>
          <a:p>
            <a:r>
              <a:rPr lang="en-US" sz="1900" dirty="0" smtClean="0">
                <a:latin typeface="+mj-lt"/>
              </a:rPr>
              <a:t>Students who are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 </a:t>
            </a:r>
            <a:r>
              <a:rPr lang="en-US" sz="1900" dirty="0" smtClean="0">
                <a:latin typeface="+mj-lt"/>
              </a:rPr>
              <a:t>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course project</a:t>
            </a:r>
            <a:r>
              <a:rPr lang="en-US" sz="1900" dirty="0" smtClean="0">
                <a:latin typeface="+mj-lt"/>
              </a:rPr>
              <a:t> or 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total score of the individual tests </a:t>
            </a:r>
            <a:r>
              <a:rPr lang="en-US" sz="1900" dirty="0" smtClean="0">
                <a:latin typeface="+mj-lt"/>
              </a:rPr>
              <a:t>shall not be allowed to take the exams.</a:t>
            </a:r>
          </a:p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during a test session will be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sz="1900" dirty="0" smtClean="0">
                <a:latin typeface="+mj-lt"/>
              </a:rPr>
              <a:t> for the test. The exception can only be applied to students who have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a hospital certificate of medical status</a:t>
            </a:r>
            <a:r>
              <a:rPr lang="en-US" sz="1900" dirty="0" smtClean="0">
                <a:latin typeface="+mj-lt"/>
              </a:rPr>
              <a:t>.</a:t>
            </a:r>
          </a:p>
          <a:p>
            <a:r>
              <a:rPr lang="en-US" sz="1900" dirty="0" smtClean="0">
                <a:latin typeface="+mj-lt"/>
              </a:rPr>
              <a:t>Students who does a classroom test or homework or project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for their friends</a:t>
            </a:r>
            <a:r>
              <a:rPr lang="en-US" sz="1900" dirty="0" smtClean="0">
                <a:latin typeface="+mj-lt"/>
              </a:rPr>
              <a:t> will be graded 0 for the course.</a:t>
            </a:r>
          </a:p>
          <a:p>
            <a:r>
              <a:rPr lang="en-US" sz="1900" dirty="0" smtClean="0">
                <a:latin typeface="+mj-lt"/>
              </a:rPr>
              <a:t>Students who do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plagiarism</a:t>
            </a:r>
            <a:r>
              <a:rPr lang="en-US" sz="1900" dirty="0" smtClean="0">
                <a:latin typeface="+mj-lt"/>
              </a:rPr>
              <a:t> for their exercises or projects will be graded 0 for the course. This also applies to cases in which the lecturers find out later when students will have already completed the course.</a:t>
            </a:r>
          </a:p>
          <a:p>
            <a:r>
              <a:rPr lang="en-US" sz="1900" dirty="0" smtClean="0">
                <a:latin typeface="+mj-lt"/>
              </a:rPr>
              <a:t>Students who have proof of their friends’ cheating or plagiarism but do not notify the lecturers will be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deducted 50%</a:t>
            </a:r>
            <a:r>
              <a:rPr lang="en-US" sz="1900" dirty="0" smtClean="0">
                <a:latin typeface="+mj-lt"/>
              </a:rPr>
              <a:t> of the total grade that they will have achieved.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Lectures &amp;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Lectures contain the </a:t>
            </a:r>
            <a:r>
              <a:rPr lang="en-US" sz="2400" i="1" dirty="0" smtClean="0">
                <a:solidFill>
                  <a:srgbClr val="C00000"/>
                </a:solidFill>
              </a:rPr>
              <a:t>core</a:t>
            </a:r>
            <a:r>
              <a:rPr lang="en-US" sz="2400" dirty="0" smtClean="0"/>
              <a:t> knowledge with </a:t>
            </a:r>
            <a:r>
              <a:rPr lang="en-US" sz="2400" i="1" dirty="0" smtClean="0">
                <a:solidFill>
                  <a:srgbClr val="C00000"/>
                </a:solidFill>
              </a:rPr>
              <a:t>specific</a:t>
            </a:r>
            <a:r>
              <a:rPr lang="en-US" sz="2400" dirty="0" smtClean="0"/>
              <a:t> examples.</a:t>
            </a:r>
          </a:p>
          <a:p>
            <a:r>
              <a:rPr lang="en-US" sz="2400" dirty="0" smtClean="0"/>
              <a:t>Slides present </a:t>
            </a:r>
            <a:r>
              <a:rPr lang="en-US" sz="2400" i="1" dirty="0" smtClean="0">
                <a:solidFill>
                  <a:srgbClr val="C00000"/>
                </a:solidFill>
              </a:rPr>
              <a:t>general</a:t>
            </a:r>
            <a:r>
              <a:rPr lang="en-US" sz="2400" dirty="0" smtClean="0"/>
              <a:t> knowledge and provide </a:t>
            </a:r>
            <a:r>
              <a:rPr lang="en-US" sz="2400" i="1" dirty="0" smtClean="0">
                <a:solidFill>
                  <a:srgbClr val="C00000"/>
                </a:solidFill>
              </a:rPr>
              <a:t>details</a:t>
            </a:r>
            <a:r>
              <a:rPr lang="en-US" sz="2400" dirty="0" smtClean="0"/>
              <a:t> to lectures.</a:t>
            </a:r>
          </a:p>
          <a:p>
            <a:r>
              <a:rPr lang="en-US" sz="2400" dirty="0" smtClean="0"/>
              <a:t>Lectures &amp; Slides are not necessarily </a:t>
            </a:r>
            <a:r>
              <a:rPr lang="en-US" sz="2400" i="1" dirty="0" smtClean="0">
                <a:solidFill>
                  <a:srgbClr val="C00000"/>
                </a:solidFill>
              </a:rPr>
              <a:t>the same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Writing summary for lectures as articles </a:t>
            </a:r>
            <a:r>
              <a:rPr lang="en-US" sz="2400" dirty="0" smtClean="0">
                <a:sym typeface="Wingdings" pitchFamily="2" charset="2"/>
              </a:rPr>
              <a:t> Bonus points.</a:t>
            </a:r>
          </a:p>
          <a:p>
            <a:r>
              <a:rPr lang="en-US" sz="2400" dirty="0" smtClean="0">
                <a:sym typeface="Wingdings" pitchFamily="2" charset="2"/>
              </a:rPr>
              <a:t>Lecture recordings  Privacy and intellectual properties.</a:t>
            </a:r>
            <a:endParaRPr lang="en-US" sz="2400" dirty="0" smtClean="0"/>
          </a:p>
        </p:txBody>
      </p:sp>
      <p:pic>
        <p:nvPicPr>
          <p:cNvPr id="1026" name="Picture 2" descr="https://images1.whatuni.com/commimg/myhotcourses/blog/post/myhc_694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495800"/>
            <a:ext cx="3264408" cy="1810512"/>
          </a:xfrm>
          <a:prstGeom prst="rect">
            <a:avLst/>
          </a:prstGeom>
          <a:noFill/>
        </p:spPr>
      </p:pic>
      <p:pic>
        <p:nvPicPr>
          <p:cNvPr id="1030" name="Picture 6" descr="Cách làm trò chơi Lucky Number trên PowerPoint 20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4495800"/>
            <a:ext cx="3086100" cy="1737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sz="2400" dirty="0" err="1" smtClean="0"/>
              <a:t>Semmy</a:t>
            </a:r>
            <a:r>
              <a:rPr lang="en-US" sz="2400" dirty="0" smtClean="0"/>
              <a:t> </a:t>
            </a:r>
            <a:r>
              <a:rPr lang="en-US" sz="2400" dirty="0" err="1" smtClean="0"/>
              <a:t>Purewal</a:t>
            </a:r>
            <a:r>
              <a:rPr lang="en-US" sz="2400" dirty="0" smtClean="0"/>
              <a:t> (2014). Learning Web App Development. O'Reilly Media.</a:t>
            </a:r>
          </a:p>
          <a:p>
            <a:r>
              <a:rPr lang="en-US" sz="2400" dirty="0" smtClean="0"/>
              <a:t>Jon </a:t>
            </a:r>
            <a:r>
              <a:rPr lang="en-US" sz="2400" dirty="0" err="1" smtClean="0"/>
              <a:t>Duckett</a:t>
            </a:r>
            <a:r>
              <a:rPr lang="en-US" sz="2400" dirty="0" smtClean="0"/>
              <a:t> (2011). HTML &amp; CSS - Design and Build Websites. John Wiley &amp; Sons.</a:t>
            </a:r>
          </a:p>
          <a:p>
            <a:r>
              <a:rPr lang="en-US" sz="2400" dirty="0" smtClean="0"/>
              <a:t>David Flanagan (2020). JavaScript - The Definitive Guide. O'Reilly Media.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600200"/>
            <a:ext cx="27146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219200" y="5029200"/>
            <a:ext cx="6705600" cy="1143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Specific materials for each course topics: Refer to the course syllabus.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11824</TotalTime>
  <Words>824</Words>
  <Application>Microsoft Office PowerPoint</Application>
  <PresentationFormat>On-screen Show (4:3)</PresentationFormat>
  <Paragraphs>126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Web Application Development</vt:lpstr>
      <vt:lpstr>Lecturer</vt:lpstr>
      <vt:lpstr>Objectives</vt:lpstr>
      <vt:lpstr>Contents</vt:lpstr>
      <vt:lpstr>I am a Student</vt:lpstr>
      <vt:lpstr>I am a Student</vt:lpstr>
      <vt:lpstr>I am a Developer</vt:lpstr>
      <vt:lpstr>This Course is Not for</vt:lpstr>
      <vt:lpstr>Course Prerequisites</vt:lpstr>
      <vt:lpstr>Course Learning Outcomes</vt:lpstr>
      <vt:lpstr>Course Contents</vt:lpstr>
      <vt:lpstr>Course Schedule</vt:lpstr>
      <vt:lpstr>Class Monitors</vt:lpstr>
      <vt:lpstr>Course Assessment (Monday)</vt:lpstr>
      <vt:lpstr>Course Assessment (Friday)</vt:lpstr>
      <vt:lpstr>Course Policies</vt:lpstr>
      <vt:lpstr>Lectures &amp; Slides</vt:lpstr>
      <vt:lpstr>References</vt:lpstr>
      <vt:lpstr>Questions and Answers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5464</cp:revision>
  <dcterms:created xsi:type="dcterms:W3CDTF">2007-10-06T08:25:13Z</dcterms:created>
  <dcterms:modified xsi:type="dcterms:W3CDTF">2021-10-08T10:55:59Z</dcterms:modified>
</cp:coreProperties>
</file>