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2" r:id="rId2"/>
    <p:sldId id="380" r:id="rId3"/>
    <p:sldId id="381" r:id="rId4"/>
    <p:sldId id="285" r:id="rId5"/>
    <p:sldId id="413" r:id="rId6"/>
    <p:sldId id="408" r:id="rId7"/>
    <p:sldId id="410" r:id="rId8"/>
    <p:sldId id="379" r:id="rId9"/>
    <p:sldId id="384" r:id="rId10"/>
    <p:sldId id="399" r:id="rId11"/>
    <p:sldId id="400" r:id="rId12"/>
    <p:sldId id="401" r:id="rId13"/>
    <p:sldId id="385" r:id="rId14"/>
    <p:sldId id="403" r:id="rId15"/>
    <p:sldId id="411" r:id="rId16"/>
    <p:sldId id="412" r:id="rId17"/>
    <p:sldId id="38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78" autoAdjust="0"/>
    <p:restoredTop sz="94660"/>
  </p:normalViewPr>
  <p:slideViewPr>
    <p:cSldViewPr>
      <p:cViewPr>
        <p:scale>
          <a:sx n="50" d="100"/>
          <a:sy n="50" d="100"/>
        </p:scale>
        <p:origin x="-1620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31185-9D31-472E-A4C1-E109FAA53E08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63F8-74DE-4EBD-9E3B-8C76B927D4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WAI/fundamentals/accessibility-intro/" TargetMode="External"/><Relationship Id="rId2" Type="http://schemas.openxmlformats.org/officeDocument/2006/relationships/hyperlink" Target="http://www.w3.org/WAI/gettingstarted/Overview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.org/WAI/ER/tools/" TargetMode="External"/><Relationship Id="rId4" Type="http://schemas.openxmlformats.org/officeDocument/2006/relationships/hyperlink" Target="https://www.w3.org/TR/WCAG20-TECHS/Overview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css-tricks.com/footable-a-jquery-plugin-for-responsive-data-table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smtClean="0"/>
              <a:t>Practical CSS </a:t>
            </a:r>
            <a:r>
              <a:rPr lang="en-US" sz="6000" dirty="0" smtClean="0"/>
              <a:t>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5867400" cy="39925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Accessibility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https://www.section508.gov/summary-section508-standards</a:t>
            </a:r>
          </a:p>
          <a:p>
            <a:r>
              <a:rPr lang="en-US" sz="2400" dirty="0" smtClean="0">
                <a:hlinkClick r:id="rId3"/>
              </a:rPr>
              <a:t>https://www.w3.org/WAI/fundamentals/accessibility-intro/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https://www.w3.org/TR/WCAG20-TECHS/Overview.html</a:t>
            </a:r>
            <a:endParaRPr lang="en-US" sz="2400" dirty="0" smtClean="0"/>
          </a:p>
          <a:p>
            <a:r>
              <a:rPr lang="en-US" sz="2400" smtClean="0">
                <a:hlinkClick r:id="rId5"/>
              </a:rPr>
              <a:t>https://www.w3.org/WAI/ER/tools/</a:t>
            </a:r>
            <a:endParaRPr lang="en-US" sz="240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 and Class Selector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04800" y="1600200"/>
            <a:ext cx="4191000" cy="246221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Consolas"/>
              </a:rPr>
              <a:t>id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="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fav_button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"&gt;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    Add to favorites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hr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/&gt;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="styled1"&gt;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    Add to favorites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hr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/&gt;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Consolas"/>
              </a:rPr>
              <a:t>id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="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fav_button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="styled1"&gt;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    Add to favorites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&gt;</a:t>
            </a:r>
            <a:endParaRPr lang="en-US" sz="1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24400" y="1581864"/>
            <a:ext cx="4267200" cy="489364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800000"/>
                </a:solidFill>
                <a:latin typeface="Consolas"/>
              </a:rPr>
              <a:t>#</a:t>
            </a:r>
            <a:r>
              <a:rPr lang="en-US" sz="1200" dirty="0" err="1" smtClean="0">
                <a:solidFill>
                  <a:srgbClr val="800000"/>
                </a:solidFill>
                <a:latin typeface="Consolas"/>
              </a:rPr>
              <a:t>fav_button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border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line-height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2.5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padding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20px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font-size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1rem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text-align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center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color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#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fff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text-shadow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1px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1px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1px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#000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border-radius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10px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800000"/>
                </a:solidFill>
                <a:latin typeface="Consolas"/>
              </a:rPr>
              <a:t>.styled1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background-color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rgba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(220,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1)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background-image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linear-gradient(to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top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left,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                             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rgba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(0,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.2),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                             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rgba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(0,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.2)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30%,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                             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rgba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(0,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0))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Consolas"/>
              </a:rPr>
              <a:t>box-shadow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inset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2px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2px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3px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rgba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(255,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255,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255,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.6)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       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inset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-2px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-2px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3px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rgba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(0,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0,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.6)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648200"/>
            <a:ext cx="1619250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Child </a:t>
            </a:r>
            <a:r>
              <a:rPr lang="en-US" dirty="0" err="1" smtClean="0"/>
              <a:t>Combinator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child </a:t>
            </a:r>
            <a:r>
              <a:rPr lang="en-US" sz="2400" dirty="0" err="1" smtClean="0"/>
              <a:t>combinator</a:t>
            </a:r>
            <a:r>
              <a:rPr lang="en-US" sz="2400" dirty="0" smtClean="0"/>
              <a:t> in CSS is the “greater than” symbol.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457200" y="2209800"/>
            <a:ext cx="4267200" cy="397031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div.header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-colors-light </a:t>
            </a:r>
            <a:r>
              <a:rPr lang="en-US" sz="1200" dirty="0" smtClean="0">
                <a:solidFill>
                  <a:srgbClr val="C00000"/>
                </a:solidFill>
                <a:latin typeface="Consolas"/>
              </a:rPr>
              <a:t>ul.nav-menu.styled.no-</a:t>
            </a:r>
            <a:r>
              <a:rPr lang="en-US" sz="1200" dirty="0" err="1" smtClean="0">
                <a:solidFill>
                  <a:srgbClr val="C00000"/>
                </a:solidFill>
                <a:latin typeface="Consolas"/>
              </a:rPr>
              <a:t>responsive.dl</a:t>
            </a:r>
            <a:r>
              <a:rPr lang="en-US" sz="1200" dirty="0" smtClean="0">
                <a:solidFill>
                  <a:srgbClr val="C00000"/>
                </a:solidFill>
                <a:latin typeface="Consolas"/>
              </a:rPr>
              <a:t>-menu &gt; </a:t>
            </a:r>
            <a:r>
              <a:rPr lang="en-US" sz="1200" dirty="0" err="1" smtClean="0">
                <a:solidFill>
                  <a:srgbClr val="C00000"/>
                </a:solidFill>
                <a:latin typeface="Consolas"/>
              </a:rPr>
              <a:t>li</a:t>
            </a:r>
            <a:r>
              <a:rPr lang="en-US" sz="1200" dirty="0" smtClean="0">
                <a:solidFill>
                  <a:srgbClr val="C00000"/>
                </a:solidFill>
                <a:latin typeface="Consolas"/>
              </a:rPr>
              <a:t> &gt; a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, 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div.header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-colors-light ul.nav-menu.styled.no-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responsive.dl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-menu &gt; 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li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&gt; a:active, 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div.header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-colors-light ul.nav-menu.styled.no-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responsive.dl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-menu &gt; 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li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&gt; a:visited 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 color: #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ffffff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!important;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}</a:t>
            </a:r>
          </a:p>
          <a:p>
            <a:endParaRPr lang="en-US" sz="1200" dirty="0" smtClean="0">
              <a:solidFill>
                <a:schemeClr val="tx1"/>
              </a:solidFill>
              <a:latin typeface="Consolas"/>
            </a:endParaRPr>
          </a:p>
          <a:p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ul.nav-menu.styled.no-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responsive.dl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-menu &gt; 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li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&gt; a:hover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 color: #B68A5B !important;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}</a:t>
            </a:r>
          </a:p>
          <a:p>
            <a:endParaRPr lang="en-US" sz="1200" dirty="0" smtClean="0">
              <a:solidFill>
                <a:schemeClr val="tx1"/>
              </a:solidFill>
              <a:latin typeface="Consolas"/>
            </a:endParaRPr>
          </a:p>
          <a:p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ul.sub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menu.styled.dl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-submenu-disabled &gt; 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li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&gt; a, 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ul.sub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menu.styled.dl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-submenu-disabled &gt; 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li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&gt; a:active, 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ul.sub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menu.styled.dl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-submenu-disabled &gt; </a:t>
            </a:r>
            <a:r>
              <a:rPr lang="en-US" sz="1200" dirty="0" err="1" smtClean="0">
                <a:solidFill>
                  <a:schemeClr val="tx1"/>
                </a:solidFill>
                <a:latin typeface="Consolas"/>
              </a:rPr>
              <a:t>li</a:t>
            </a:r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&gt; a:visited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  color: #000000 !important; 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/>
              </a:rPr>
              <a:t>}</a:t>
            </a:r>
            <a:endParaRPr lang="en-US" sz="12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2209800"/>
            <a:ext cx="3978275" cy="235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876800" y="5029200"/>
            <a:ext cx="396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Select link items of list items that are descendants of an un-ordered list.</a:t>
            </a:r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Inspect an Element CSS using Firefox</a:t>
            </a:r>
            <a:endParaRPr lang="en-US" sz="4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8163" y="1600200"/>
            <a:ext cx="55276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2850" y="3933825"/>
            <a:ext cx="671830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Inspect an Element CSS using Chrome</a:t>
            </a:r>
            <a:endParaRPr lang="en-US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24000"/>
            <a:ext cx="7013575" cy="303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4963" y="4797425"/>
            <a:ext cx="5934075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Modify the Element CSS based on the Inspection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175260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err="1" smtClean="0">
                <a:solidFill>
                  <a:srgbClr val="C00000"/>
                </a:solidFill>
                <a:latin typeface="Consolas" pitchFamily="49" charset="0"/>
              </a:rPr>
              <a:t>td</a:t>
            </a:r>
            <a:r>
              <a:rPr lang="en-US" sz="1800" dirty="0" err="1" smtClean="0">
                <a:latin typeface="Consolas" pitchFamily="49" charset="0"/>
              </a:rPr>
              <a:t>.eeSFL_FileName</a:t>
            </a:r>
            <a:endParaRPr lang="en-US" sz="1800" b="1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border: solid 1px red;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display: none;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}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Inspect &amp; Modify Complex Class (I)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915" y="1600200"/>
            <a:ext cx="8365085" cy="205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038600"/>
            <a:ext cx="8229600" cy="213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.tribe-common-l-</a:t>
            </a:r>
            <a:r>
              <a:rPr lang="en-US" dirty="0" err="1" smtClean="0">
                <a:latin typeface="Consolas" pitchFamily="49" charset="0"/>
              </a:rPr>
              <a:t>container.tribe</a:t>
            </a:r>
            <a:r>
              <a:rPr lang="en-US" dirty="0" smtClean="0">
                <a:latin typeface="Consolas" pitchFamily="49" charset="0"/>
              </a:rPr>
              <a:t>-events-l-container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  margin: 0px </a:t>
            </a:r>
            <a:r>
              <a:rPr lang="en-US" dirty="0" err="1" smtClean="0">
                <a:latin typeface="Consolas" pitchFamily="49" charset="0"/>
              </a:rPr>
              <a:t>0px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0px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0px</a:t>
            </a:r>
            <a:r>
              <a:rPr lang="en-US" dirty="0" smtClean="0">
                <a:latin typeface="Consolas" pitchFamily="49" charset="0"/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  background-color: #</a:t>
            </a:r>
            <a:r>
              <a:rPr lang="en-US" dirty="0" err="1" smtClean="0">
                <a:latin typeface="Consolas" pitchFamily="49" charset="0"/>
              </a:rPr>
              <a:t>ffffff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</a:rPr>
              <a:t>!important</a:t>
            </a:r>
            <a:r>
              <a:rPr lang="en-US" dirty="0" smtClean="0">
                <a:latin typeface="Consolas" pitchFamily="49" charset="0"/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  padding: 20px </a:t>
            </a:r>
            <a:r>
              <a:rPr lang="en-US" dirty="0" err="1" smtClean="0">
                <a:latin typeface="Consolas" pitchFamily="49" charset="0"/>
              </a:rPr>
              <a:t>20px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20px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20px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</a:rPr>
              <a:t>!important</a:t>
            </a:r>
            <a:r>
              <a:rPr lang="en-US" dirty="0" smtClean="0">
                <a:latin typeface="Consolas" pitchFamily="49" charset="0"/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Inspect &amp; Modify Complex Class (II)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419600"/>
            <a:ext cx="8229600" cy="152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</a:rPr>
              <a:t>header</a:t>
            </a:r>
            <a:r>
              <a:rPr lang="en-US" dirty="0" err="1" smtClean="0">
                <a:latin typeface="Consolas" pitchFamily="49" charset="0"/>
              </a:rPr>
              <a:t>.tribe</a:t>
            </a:r>
            <a:r>
              <a:rPr lang="en-US" dirty="0" smtClean="0">
                <a:latin typeface="Consolas" pitchFamily="49" charset="0"/>
              </a:rPr>
              <a:t>-events-</a:t>
            </a:r>
            <a:r>
              <a:rPr lang="en-US" dirty="0" err="1" smtClean="0">
                <a:latin typeface="Consolas" pitchFamily="49" charset="0"/>
              </a:rPr>
              <a:t>header.</a:t>
            </a:r>
            <a:r>
              <a:rPr lang="en-US" dirty="0" err="1" smtClean="0">
                <a:solidFill>
                  <a:schemeClr val="accent5"/>
                </a:solidFill>
                <a:latin typeface="Consolas" pitchFamily="49" charset="0"/>
              </a:rPr>
              <a:t>tribe</a:t>
            </a:r>
            <a:r>
              <a:rPr lang="en-US" dirty="0" smtClean="0">
                <a:solidFill>
                  <a:schemeClr val="accent5"/>
                </a:solidFill>
                <a:latin typeface="Consolas" pitchFamily="49" charset="0"/>
              </a:rPr>
              <a:t>-events-header--has-event-search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  margin: 0px </a:t>
            </a:r>
            <a:r>
              <a:rPr lang="en-US" dirty="0" err="1" smtClean="0">
                <a:latin typeface="Consolas" pitchFamily="49" charset="0"/>
              </a:rPr>
              <a:t>0px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0px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0px</a:t>
            </a:r>
            <a:r>
              <a:rPr lang="en-US" dirty="0" smtClean="0">
                <a:latin typeface="Consolas" pitchFamily="49" charset="0"/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}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542732"/>
            <a:ext cx="8016557" cy="2495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</a:rPr>
              <a:t>:first-of-type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err="1" smtClean="0">
                <a:latin typeface="Consolas" pitchFamily="49" charset="0"/>
              </a:rPr>
              <a:t>td.eeSFL_FileName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b="1" dirty="0" smtClean="0">
                <a:latin typeface="Consolas" pitchFamily="49" charset="0"/>
              </a:rPr>
              <a:t>p:first-of-type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border: solid 1px red;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display: none;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}</a:t>
            </a:r>
            <a:endParaRPr lang="en-US" sz="18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038600"/>
            <a:ext cx="8436994" cy="1437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Handle </a:t>
            </a:r>
            <a:r>
              <a:rPr lang="en-US" dirty="0" smtClean="0"/>
              <a:t>Long Words and URLs 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2999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.</a:t>
            </a:r>
            <a:r>
              <a:rPr lang="en-US" sz="1400" dirty="0" err="1" smtClean="0">
                <a:latin typeface="Consolas" pitchFamily="49" charset="0"/>
              </a:rPr>
              <a:t>dont</a:t>
            </a:r>
            <a:r>
              <a:rPr lang="en-US" sz="1400" dirty="0" smtClean="0">
                <a:latin typeface="Consolas" pitchFamily="49" charset="0"/>
              </a:rPr>
              <a:t>-break-out {</a:t>
            </a:r>
          </a:p>
          <a:p>
            <a:pPr>
              <a:buNone/>
            </a:pPr>
            <a:endParaRPr lang="en-US" sz="14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/* These are technically the same, but use both */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overflow-wrap: break-word;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word-wrap: break-word;</a:t>
            </a:r>
          </a:p>
          <a:p>
            <a:pPr>
              <a:buNone/>
            </a:pPr>
            <a:endParaRPr lang="en-US" sz="14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-ms-word-break: break-all;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/* This is the dangerous one in </a:t>
            </a:r>
            <a:r>
              <a:rPr lang="en-US" sz="1400" dirty="0" err="1" smtClean="0">
                <a:latin typeface="Consolas" pitchFamily="49" charset="0"/>
              </a:rPr>
              <a:t>WebKit</a:t>
            </a:r>
            <a:r>
              <a:rPr lang="en-US" sz="1400" dirty="0" smtClean="0">
                <a:latin typeface="Consolas" pitchFamily="49" charset="0"/>
              </a:rPr>
              <a:t>, as it breaks things wherever */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word-break: break-all;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/* Instead use this non-standard one: */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word-break: break-word;</a:t>
            </a:r>
          </a:p>
          <a:p>
            <a:pPr>
              <a:buNone/>
            </a:pPr>
            <a:endParaRPr lang="en-US" sz="14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/* Adds a hyphen where the word breaks, if supported (No Blink) */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-ms-hyphens: auto;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-</a:t>
            </a:r>
            <a:r>
              <a:rPr lang="en-US" sz="1400" dirty="0" err="1" smtClean="0">
                <a:latin typeface="Consolas" pitchFamily="49" charset="0"/>
              </a:rPr>
              <a:t>moz</a:t>
            </a:r>
            <a:r>
              <a:rPr lang="en-US" sz="1400" dirty="0" smtClean="0">
                <a:latin typeface="Consolas" pitchFamily="49" charset="0"/>
              </a:rPr>
              <a:t>-hyphens: auto;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-</a:t>
            </a:r>
            <a:r>
              <a:rPr lang="en-US" sz="1400" dirty="0" err="1" smtClean="0">
                <a:latin typeface="Consolas" pitchFamily="49" charset="0"/>
              </a:rPr>
              <a:t>webkit</a:t>
            </a:r>
            <a:r>
              <a:rPr lang="en-US" sz="1400" dirty="0" smtClean="0">
                <a:latin typeface="Consolas" pitchFamily="49" charset="0"/>
              </a:rPr>
              <a:t>-hyphens: auto;</a:t>
            </a: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  hyphens: auto;</a:t>
            </a:r>
          </a:p>
          <a:p>
            <a:pPr>
              <a:buNone/>
            </a:pPr>
            <a:endParaRPr lang="en-US" sz="14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400" dirty="0" smtClean="0">
                <a:latin typeface="Consolas" pitchFamily="49" charset="0"/>
              </a:rPr>
              <a:t>}</a:t>
            </a:r>
            <a:endParaRPr lang="en-US" sz="1400" dirty="0">
              <a:latin typeface="Consolas" pitchFamily="49" charset="0"/>
            </a:endParaRPr>
          </a:p>
        </p:txBody>
      </p:sp>
      <p:pic>
        <p:nvPicPr>
          <p:cNvPr id="1026" name="Picture 2" descr="https://css-tricks.com/wp-content/uploads/2012/01/fix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5257800"/>
            <a:ext cx="4737735" cy="1171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Responsive </a:t>
            </a:r>
            <a:r>
              <a:rPr lang="en-US" dirty="0" err="1" smtClean="0"/>
              <a:t>iframe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66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400" dirty="0" smtClean="0">
                <a:solidFill>
                  <a:srgbClr val="A52A2A"/>
                </a:solidFill>
                <a:latin typeface="Consolas" pitchFamily="49" charset="0"/>
              </a:rPr>
              <a:t>div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</a:rPr>
              <a:t> class</a:t>
            </a: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="container"&gt;</a:t>
            </a:r>
            <a:r>
              <a:rPr lang="en-US" sz="1400" dirty="0" smtClean="0">
                <a:latin typeface="Consolas" pitchFamily="49" charset="0"/>
              </a:rPr>
              <a:t> </a:t>
            </a:r>
            <a:br>
              <a:rPr lang="en-US" sz="1400" dirty="0" smtClean="0">
                <a:latin typeface="Consolas" pitchFamily="49" charset="0"/>
              </a:rPr>
            </a:br>
            <a:r>
              <a:rPr lang="en-US" sz="1400" dirty="0" smtClean="0">
                <a:latin typeface="Consolas" pitchFamily="49" charset="0"/>
              </a:rPr>
              <a:t>  </a:t>
            </a: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400" dirty="0" err="1" smtClean="0">
                <a:solidFill>
                  <a:srgbClr val="A52A2A"/>
                </a:solidFill>
                <a:latin typeface="Consolas" pitchFamily="49" charset="0"/>
              </a:rPr>
              <a:t>iframe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</a:rPr>
              <a:t> class</a:t>
            </a: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="responsive-</a:t>
            </a:r>
            <a:r>
              <a:rPr lang="en-US" sz="1400" dirty="0" err="1" smtClean="0">
                <a:solidFill>
                  <a:srgbClr val="0000CD"/>
                </a:solidFill>
                <a:latin typeface="Consolas" pitchFamily="49" charset="0"/>
              </a:rPr>
              <a:t>iframe</a:t>
            </a: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"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  <a:latin typeface="Consolas" pitchFamily="49" charset="0"/>
              </a:rPr>
              <a:t>src</a:t>
            </a: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="https://www.youtube.com/embed/u9Dg-g7t2l4"&gt;&lt;</a:t>
            </a:r>
            <a:r>
              <a:rPr lang="en-US" sz="1400" dirty="0" smtClean="0">
                <a:solidFill>
                  <a:srgbClr val="A52A2A"/>
                </a:solidFill>
                <a:latin typeface="Consolas" pitchFamily="49" charset="0"/>
              </a:rPr>
              <a:t>/iframe</a:t>
            </a: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&gt;</a:t>
            </a:r>
            <a:r>
              <a:rPr lang="en-US" sz="1400" dirty="0" smtClean="0">
                <a:latin typeface="Consolas" pitchFamily="49" charset="0"/>
              </a:rPr>
              <a:t/>
            </a:r>
            <a:br>
              <a:rPr lang="en-US" sz="1400" dirty="0" smtClean="0">
                <a:latin typeface="Consolas" pitchFamily="49" charset="0"/>
              </a:rPr>
            </a:b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400" dirty="0" smtClean="0">
                <a:solidFill>
                  <a:srgbClr val="A52A2A"/>
                </a:solidFill>
                <a:latin typeface="Consolas" pitchFamily="49" charset="0"/>
              </a:rPr>
              <a:t>/div</a:t>
            </a:r>
            <a:r>
              <a:rPr lang="en-US" sz="1400" dirty="0" smtClean="0">
                <a:solidFill>
                  <a:srgbClr val="0000CD"/>
                </a:solidFill>
                <a:latin typeface="Consolas" pitchFamily="49" charset="0"/>
              </a:rPr>
              <a:t>&gt;</a:t>
            </a:r>
            <a:endParaRPr lang="en-US" sz="1400" dirty="0" smtClean="0">
              <a:latin typeface="Consolas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2743200"/>
            <a:ext cx="8229600" cy="381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A52A2A"/>
                </a:solidFill>
              </a:rPr>
              <a:t>.container </a:t>
            </a:r>
            <a:r>
              <a:rPr lang="en-US" sz="1400" dirty="0" smtClean="0">
                <a:solidFill>
                  <a:srgbClr val="000000"/>
                </a:solidFill>
              </a:rPr>
              <a:t>{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 position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relative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 overflow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hidden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 width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100%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 padding-top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56.25%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008000"/>
                </a:solidFill>
              </a:rPr>
              <a:t>/* </a:t>
            </a:r>
            <a:r>
              <a:rPr lang="en-US" sz="1400" b="1" dirty="0" smtClean="0">
                <a:solidFill>
                  <a:srgbClr val="008000"/>
                </a:solidFill>
              </a:rPr>
              <a:t>16:9 Aspect Ratio (divide 9 by 16 = 0.5625)</a:t>
            </a:r>
            <a:r>
              <a:rPr lang="en-US" sz="1400" dirty="0" smtClean="0">
                <a:solidFill>
                  <a:srgbClr val="008000"/>
                </a:solidFill>
              </a:rPr>
              <a:t> */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000000"/>
                </a:solidFill>
              </a:rPr>
              <a:t>}</a:t>
            </a:r>
            <a:r>
              <a:rPr lang="en-US" sz="1400" dirty="0" smtClean="0">
                <a:solidFill>
                  <a:srgbClr val="A52A2A"/>
                </a:solidFill>
              </a:rPr>
              <a:t/>
            </a:r>
            <a:br>
              <a:rPr lang="en-US" sz="1400" dirty="0" smtClean="0">
                <a:solidFill>
                  <a:srgbClr val="A52A2A"/>
                </a:solidFill>
              </a:rPr>
            </a:br>
            <a:r>
              <a:rPr lang="en-US" sz="1400" dirty="0" smtClean="0">
                <a:solidFill>
                  <a:srgbClr val="A52A2A"/>
                </a:solidFill>
              </a:rPr>
              <a:t/>
            </a:r>
            <a:br>
              <a:rPr lang="en-US" sz="1400" dirty="0" smtClean="0">
                <a:solidFill>
                  <a:srgbClr val="A52A2A"/>
                </a:solidFill>
              </a:rPr>
            </a:br>
            <a:r>
              <a:rPr lang="en-US" sz="1400" dirty="0" smtClean="0">
                <a:solidFill>
                  <a:srgbClr val="008000"/>
                </a:solidFill>
              </a:rPr>
              <a:t>/* Then style the </a:t>
            </a:r>
            <a:r>
              <a:rPr lang="en-US" sz="1400" dirty="0" err="1" smtClean="0">
                <a:solidFill>
                  <a:srgbClr val="008000"/>
                </a:solidFill>
              </a:rPr>
              <a:t>iframe</a:t>
            </a:r>
            <a:r>
              <a:rPr lang="en-US" sz="1400" dirty="0" smtClean="0">
                <a:solidFill>
                  <a:srgbClr val="008000"/>
                </a:solidFill>
              </a:rPr>
              <a:t> to fit in the container div with full height and width */</a:t>
            </a:r>
            <a:r>
              <a:rPr lang="en-US" sz="1400" dirty="0" smtClean="0">
                <a:solidFill>
                  <a:srgbClr val="A52A2A"/>
                </a:solidFill>
              </a:rPr>
              <a:t/>
            </a:r>
            <a:br>
              <a:rPr lang="en-US" sz="1400" dirty="0" smtClean="0">
                <a:solidFill>
                  <a:srgbClr val="A52A2A"/>
                </a:solidFill>
              </a:rPr>
            </a:br>
            <a:r>
              <a:rPr lang="en-US" sz="1400" dirty="0" smtClean="0">
                <a:solidFill>
                  <a:srgbClr val="A52A2A"/>
                </a:solidFill>
              </a:rPr>
              <a:t>.responsive-</a:t>
            </a:r>
            <a:r>
              <a:rPr lang="en-US" sz="1400" dirty="0" err="1" smtClean="0">
                <a:solidFill>
                  <a:srgbClr val="A52A2A"/>
                </a:solidFill>
              </a:rPr>
              <a:t>iframe</a:t>
            </a:r>
            <a:r>
              <a:rPr lang="en-US" sz="1400" dirty="0" smtClean="0">
                <a:solidFill>
                  <a:srgbClr val="A52A2A"/>
                </a:solidFill>
              </a:rPr>
              <a:t> </a:t>
            </a:r>
            <a:r>
              <a:rPr lang="en-US" sz="1400" dirty="0" smtClean="0">
                <a:solidFill>
                  <a:srgbClr val="000000"/>
                </a:solidFill>
              </a:rPr>
              <a:t>{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 position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absolute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 top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0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 left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0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 bottom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0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 right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0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 width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100%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FF0000"/>
                </a:solidFill>
              </a:rPr>
              <a:t>  height</a:t>
            </a:r>
            <a:r>
              <a:rPr lang="en-US" sz="1400" dirty="0" smtClean="0">
                <a:solidFill>
                  <a:srgbClr val="000000"/>
                </a:solidFill>
              </a:rPr>
              <a:t>:</a:t>
            </a:r>
            <a:r>
              <a:rPr lang="en-US" sz="1400" dirty="0" smtClean="0">
                <a:solidFill>
                  <a:srgbClr val="0000CD"/>
                </a:solidFill>
              </a:rPr>
              <a:t> 100%</a:t>
            </a:r>
            <a:r>
              <a:rPr lang="en-US" sz="1400" dirty="0" smtClean="0">
                <a:solidFill>
                  <a:srgbClr val="000000"/>
                </a:solidFill>
              </a:rPr>
              <a:t>;</a:t>
            </a:r>
            <a:r>
              <a:rPr lang="en-US" sz="1400" dirty="0" smtClean="0">
                <a:solidFill>
                  <a:srgbClr val="FF0000"/>
                </a:solidFill>
              </a:rPr>
              <a:t/>
            </a:r>
            <a:br>
              <a:rPr lang="en-US" sz="1400" dirty="0" smtClean="0">
                <a:solidFill>
                  <a:srgbClr val="FF0000"/>
                </a:solidFill>
              </a:rPr>
            </a:br>
            <a:r>
              <a:rPr lang="en-US" sz="1400" dirty="0" smtClean="0">
                <a:solidFill>
                  <a:srgbClr val="000000"/>
                </a:solidFill>
              </a:rPr>
              <a:t>}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FooTable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hlinkClick r:id="rId2"/>
              </a:rPr>
              <a:t>https://css-tricks.com/footable-a-jquery-plugin-for-responsive-data-tables/</a:t>
            </a:r>
            <a:endParaRPr lang="en-US" sz="1800" dirty="0" smtClean="0"/>
          </a:p>
          <a:p>
            <a:endParaRPr lang="en-US" sz="1800" dirty="0"/>
          </a:p>
        </p:txBody>
      </p:sp>
      <p:pic>
        <p:nvPicPr>
          <p:cNvPr id="2050" name="Picture 2" descr="https://cdn.css-tricks.com/wp-content/uploads/2012/12/footable-screensho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286000"/>
            <a:ext cx="5736431" cy="38647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5408</TotalTime>
  <Words>583</Words>
  <Application>Microsoft Office PowerPoint</Application>
  <PresentationFormat>On-screen Show (4:3)</PresentationFormat>
  <Paragraphs>123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Practical CSS Use Cases</vt:lpstr>
      <vt:lpstr>Objectives</vt:lpstr>
      <vt:lpstr>Contents</vt:lpstr>
      <vt:lpstr>References</vt:lpstr>
      <vt:lpstr>Web Accessibility</vt:lpstr>
      <vt:lpstr>ID and Class Selector</vt:lpstr>
      <vt:lpstr>Child Combinator</vt:lpstr>
      <vt:lpstr>Inspect an Element CSS using Firefox</vt:lpstr>
      <vt:lpstr>Inspect an Element CSS using Chrome</vt:lpstr>
      <vt:lpstr>Modify the Element CSS based on the Inspection</vt:lpstr>
      <vt:lpstr>Inspect &amp; Modify Complex Class (I)</vt:lpstr>
      <vt:lpstr>Inspect &amp; Modify Complex Class (II)</vt:lpstr>
      <vt:lpstr>:first-of-type</vt:lpstr>
      <vt:lpstr>Handle Long Words and URLs </vt:lpstr>
      <vt:lpstr>Responsive iframe</vt:lpstr>
      <vt:lpstr>FooTable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2294</cp:revision>
  <dcterms:created xsi:type="dcterms:W3CDTF">2009-01-22T10:11:40Z</dcterms:created>
  <dcterms:modified xsi:type="dcterms:W3CDTF">2025-08-03T14:20:13Z</dcterms:modified>
</cp:coreProperties>
</file>