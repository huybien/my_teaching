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5"/>
  </p:notesMasterIdLst>
  <p:sldIdLst>
    <p:sldId id="256" r:id="rId2"/>
    <p:sldId id="367" r:id="rId3"/>
    <p:sldId id="368" r:id="rId4"/>
    <p:sldId id="371" r:id="rId5"/>
    <p:sldId id="372" r:id="rId6"/>
    <p:sldId id="373" r:id="rId7"/>
    <p:sldId id="374" r:id="rId8"/>
    <p:sldId id="375" r:id="rId9"/>
    <p:sldId id="377" r:id="rId10"/>
    <p:sldId id="378" r:id="rId11"/>
    <p:sldId id="369" r:id="rId12"/>
    <p:sldId id="379" r:id="rId13"/>
    <p:sldId id="380" r:id="rId14"/>
    <p:sldId id="381" r:id="rId15"/>
    <p:sldId id="382" r:id="rId16"/>
    <p:sldId id="383" r:id="rId17"/>
    <p:sldId id="384" r:id="rId18"/>
    <p:sldId id="385" r:id="rId19"/>
    <p:sldId id="386" r:id="rId20"/>
    <p:sldId id="387" r:id="rId21"/>
    <p:sldId id="388" r:id="rId22"/>
    <p:sldId id="389" r:id="rId23"/>
    <p:sldId id="391" r:id="rId24"/>
    <p:sldId id="390" r:id="rId25"/>
    <p:sldId id="394" r:id="rId26"/>
    <p:sldId id="395" r:id="rId27"/>
    <p:sldId id="396" r:id="rId28"/>
    <p:sldId id="392" r:id="rId29"/>
    <p:sldId id="397" r:id="rId30"/>
    <p:sldId id="398" r:id="rId31"/>
    <p:sldId id="402" r:id="rId32"/>
    <p:sldId id="403" r:id="rId33"/>
    <p:sldId id="399" r:id="rId34"/>
    <p:sldId id="404" r:id="rId35"/>
    <p:sldId id="405" r:id="rId36"/>
    <p:sldId id="407" r:id="rId37"/>
    <p:sldId id="406" r:id="rId38"/>
    <p:sldId id="408" r:id="rId39"/>
    <p:sldId id="409" r:id="rId40"/>
    <p:sldId id="410" r:id="rId41"/>
    <p:sldId id="412" r:id="rId42"/>
    <p:sldId id="413" r:id="rId43"/>
    <p:sldId id="411" r:id="rId4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54" autoAdjust="0"/>
    <p:restoredTop sz="94667" autoAdjust="0"/>
  </p:normalViewPr>
  <p:slideViewPr>
    <p:cSldViewPr>
      <p:cViewPr>
        <p:scale>
          <a:sx n="50" d="100"/>
          <a:sy n="50" d="100"/>
        </p:scale>
        <p:origin x="-169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78BF5F87-2049-40AA-8F46-716DC689E9FB}" type="datetimeFigureOut">
              <a:rPr lang="en-US"/>
              <a:pPr>
                <a:defRPr/>
              </a:pPr>
              <a:t>11/17/2022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37162A9-E817-4FA2-8116-DD6AC9B6A8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AA961E-6EE8-4039-A1A6-0EABAAE5E2EB}" type="datetimeFigureOut">
              <a:rPr lang="en-US"/>
              <a:pPr>
                <a:defRPr/>
              </a:pPr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E35CB4-CF17-47D7-96AA-936BDDDE12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1540E-C53B-42C6-8099-BB6606CE1021}" type="datetimeFigureOut">
              <a:rPr lang="en-US"/>
              <a:pPr>
                <a:defRPr/>
              </a:pPr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26FCBC-189E-4F52-973B-BFB0750B29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13B92E-91CA-4FE6-965A-F01C7ACEF459}" type="datetimeFigureOut">
              <a:rPr lang="en-US"/>
              <a:pPr>
                <a:defRPr/>
              </a:pPr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367505-FC9C-4829-A2C5-8D9539F50D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D384C-9A4E-461B-BB23-F93A3AAF3419}" type="datetimeFigureOut">
              <a:rPr lang="en-US"/>
              <a:pPr>
                <a:defRPr/>
              </a:pPr>
              <a:t>11/17/2022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97F266-8102-4D7C-B0FA-72A1D71C4A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AC8FED-8EC6-4E03-8633-F9D63165028A}" type="datetimeFigureOut">
              <a:rPr lang="en-US"/>
              <a:pPr>
                <a:defRPr/>
              </a:pPr>
              <a:t>11/17/2022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AA738-E070-4C7D-8215-A9E9186978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09C7D-7857-432A-8DD8-5C43F7E3C7CF}" type="datetimeFigureOut">
              <a:rPr lang="en-US"/>
              <a:pPr>
                <a:defRPr/>
              </a:pPr>
              <a:t>11/17/2022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DBA6BF-B89E-4B84-9284-BF0D716432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4341F6-3120-4451-901B-8E96C2128DE4}" type="datetimeFigureOut">
              <a:rPr lang="en-US"/>
              <a:pPr>
                <a:defRPr/>
              </a:pPr>
              <a:t>11/17/2022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516167-3E32-49C7-B449-23B33F3351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2B12F5-6CA7-4A24-8F05-2D2ACC989520}" type="datetimeFigureOut">
              <a:rPr lang="en-US"/>
              <a:pPr>
                <a:defRPr/>
              </a:pPr>
              <a:t>11/17/2022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50DFC-223B-4C17-8EA5-A3BC2E2B70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CF139-0BFF-4962-91BE-1F1514D86238}" type="datetimeFigureOut">
              <a:rPr lang="en-US"/>
              <a:pPr>
                <a:defRPr/>
              </a:pPr>
              <a:t>11/17/2022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27F731-B728-442B-8D29-57522735D8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F3ECA0-F5DD-4989-8D08-A636380CF86F}" type="datetimeFigureOut">
              <a:rPr lang="en-US"/>
              <a:pPr>
                <a:defRPr/>
              </a:pPr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A18408-4541-4111-8F56-46B363D97B6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33026-B6A9-4D4E-A2BD-3141F8B632E9}" type="datetimeFigureOut">
              <a:rPr lang="en-US"/>
              <a:pPr>
                <a:defRPr/>
              </a:pPr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98B7DE-CC25-4488-B0E3-2CD008C095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DB71AD6-D82A-46BB-BB7B-8ABE21D04123}" type="datetimeFigureOut">
              <a:rPr lang="en-US"/>
              <a:pPr>
                <a:defRPr/>
              </a:pPr>
              <a:t>11/17/2022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0B29163-B4D0-4B08-BCE5-40FF1D4EF8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maven.apache.org/download.cgi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radle.org/install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docs.spring.io/spring-boot/docs/current/reference/html/getting-started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start.spring.io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etbrains.com/idea/download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start.spring.io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maven.apache.org/plugins/index.html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tomcat.apache.org/maven-plugin.html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://localhost:8282/my-webapp/index.jsp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micronaut.io/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smtClean="0"/>
              <a:t>Java EE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7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smtClean="0">
                <a:hlinkClick r:id="rId2"/>
              </a:rPr>
              <a:t>nhbien@fit.hcmus.edu.vn</a:t>
            </a:r>
            <a:endParaRPr lang="en-US" sz="3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5334000" cy="3428999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create a </a:t>
            </a:r>
            <a:r>
              <a:rPr lang="en-US" sz="2400" dirty="0" err="1" smtClean="0"/>
              <a:t>WordPress</a:t>
            </a:r>
            <a:r>
              <a:rPr lang="en-US" sz="2400" dirty="0" smtClean="0"/>
              <a:t> theme</a:t>
            </a:r>
            <a:endParaRPr lang="en-US" sz="24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200" dirty="0" smtClean="0"/>
              <a:t>Mark Heckler (2021). Spring Boot - Up and Running - Building Cloud Native Java and </a:t>
            </a:r>
            <a:r>
              <a:rPr lang="en-US" sz="2200" dirty="0" err="1" smtClean="0"/>
              <a:t>Kotlin</a:t>
            </a:r>
            <a:r>
              <a:rPr lang="en-US" sz="2200" dirty="0" smtClean="0"/>
              <a:t> Applications. O'Reilly Media.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Add JAVA_HOME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38400" y="1752600"/>
            <a:ext cx="4485005" cy="41316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Verify JAVA_HOME Variable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echo %JAVA_HOME%</a:t>
            </a:r>
          </a:p>
          <a:p>
            <a:pPr>
              <a:buNone/>
            </a:pPr>
            <a:endParaRPr 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32063" y="2697163"/>
            <a:ext cx="4079875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Install Maven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https://maven.apache.org/download.cgi</a:t>
            </a:r>
            <a:endParaRPr lang="en-US" sz="2400" dirty="0" smtClean="0"/>
          </a:p>
          <a:p>
            <a:r>
              <a:rPr lang="en-US" sz="2400" dirty="0" smtClean="0"/>
              <a:t>Extract the zip file to </a:t>
            </a:r>
            <a:r>
              <a:rPr lang="en-US" sz="2400" b="1" dirty="0" smtClean="0"/>
              <a:t>C:\Program Files\apache-maven-3.8.5</a:t>
            </a:r>
          </a:p>
          <a:p>
            <a:r>
              <a:rPr lang="en-US" sz="2400" dirty="0" smtClean="0"/>
              <a:t>Add </a:t>
            </a:r>
            <a:r>
              <a:rPr lang="en-US" sz="2400" b="1" dirty="0" smtClean="0"/>
              <a:t>C:\Program Files\apache-maven-3.8.5\bin</a:t>
            </a:r>
            <a:r>
              <a:rPr lang="en-US" sz="2400" dirty="0" smtClean="0"/>
              <a:t> to SYSTEM PATH.</a:t>
            </a:r>
          </a:p>
          <a:p>
            <a:r>
              <a:rPr lang="en-US" sz="2400" b="1" dirty="0" err="1" smtClean="0">
                <a:latin typeface="Consolas" pitchFamily="49" charset="0"/>
              </a:rPr>
              <a:t>mvn</a:t>
            </a:r>
            <a:r>
              <a:rPr lang="en-US" sz="2400" b="1" dirty="0" smtClean="0">
                <a:latin typeface="Consolas" pitchFamily="49" charset="0"/>
              </a:rPr>
              <a:t> -v</a:t>
            </a:r>
          </a:p>
          <a:p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2038" y="3984625"/>
            <a:ext cx="7019925" cy="211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Install </a:t>
            </a:r>
            <a:r>
              <a:rPr lang="en-US" dirty="0" err="1" smtClean="0"/>
              <a:t>Gradle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https://gradle.org/install/</a:t>
            </a:r>
            <a:endParaRPr lang="en-US" sz="2400" dirty="0" smtClean="0"/>
          </a:p>
          <a:p>
            <a:r>
              <a:rPr lang="en-US" sz="2400" dirty="0" smtClean="0"/>
              <a:t>Extract the zip file to </a:t>
            </a:r>
            <a:r>
              <a:rPr lang="en-US" sz="2400" b="1" dirty="0" smtClean="0"/>
              <a:t>C:\Gradle\gradle-7.4.2</a:t>
            </a:r>
          </a:p>
          <a:p>
            <a:r>
              <a:rPr lang="en-US" sz="2400" dirty="0" smtClean="0"/>
              <a:t>Add </a:t>
            </a:r>
            <a:r>
              <a:rPr lang="en-US" sz="2400" b="1" dirty="0" smtClean="0"/>
              <a:t>C:\Gradle\gradle-7.4.2\bin</a:t>
            </a:r>
            <a:r>
              <a:rPr lang="en-US" sz="2400" dirty="0" smtClean="0"/>
              <a:t> to SYSTEM PATH.</a:t>
            </a:r>
          </a:p>
          <a:p>
            <a:r>
              <a:rPr lang="en-US" sz="2400" b="1" dirty="0" err="1" smtClean="0">
                <a:latin typeface="Consolas" pitchFamily="49" charset="0"/>
              </a:rPr>
              <a:t>gradle</a:t>
            </a:r>
            <a:r>
              <a:rPr lang="en-US" sz="2400" b="1" dirty="0" smtClean="0">
                <a:latin typeface="Consolas" pitchFamily="49" charset="0"/>
              </a:rPr>
              <a:t> -v</a:t>
            </a:r>
            <a:endParaRPr lang="en-US" sz="2400" b="1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Download Spring Boot CLI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https://docs.spring.io/spring-boot/docs/current/reference/html/getting-started.html#getting-started.installing.cli</a:t>
            </a:r>
            <a:endParaRPr lang="en-US" sz="2000" dirty="0" smtClean="0"/>
          </a:p>
          <a:p>
            <a:r>
              <a:rPr lang="en-US" sz="2000" dirty="0" smtClean="0"/>
              <a:t>The Spring Boot CLI (Command Line Interface) is a command line tool that you can use to quickly prototype with Spring.</a:t>
            </a:r>
          </a:p>
          <a:p>
            <a:r>
              <a:rPr lang="en-US" sz="2000" dirty="0" smtClean="0"/>
              <a:t>You do not need to use the CLI to work with Spring Boot, but it is a quick way to get a Spring application off the ground without an IDE.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3275" y="3832225"/>
            <a:ext cx="7537450" cy="249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Install Spring Boot CLI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Add </a:t>
            </a:r>
            <a:r>
              <a:rPr lang="en-US" sz="2400" b="1" dirty="0" smtClean="0"/>
              <a:t>C:\Program Files\spring-2.7.0\bin</a:t>
            </a:r>
            <a:r>
              <a:rPr lang="en-US" sz="2400" dirty="0" smtClean="0"/>
              <a:t> to SYSTEM PATH</a:t>
            </a:r>
          </a:p>
          <a:p>
            <a:r>
              <a:rPr lang="en-US" sz="2400" b="1" dirty="0" smtClean="0">
                <a:latin typeface="Consolas" pitchFamily="49" charset="0"/>
              </a:rPr>
              <a:t>spring --version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3048000"/>
            <a:ext cx="6096000" cy="197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page intentionally left blank.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 Spring Project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https://start.spring.io/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451" y="2362200"/>
            <a:ext cx="7262349" cy="3866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a Spring Project using CLI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mkdir</a:t>
            </a:r>
            <a:r>
              <a:rPr lang="en-US" sz="2200" dirty="0" smtClean="0">
                <a:latin typeface="Consolas" pitchFamily="49" charset="0"/>
              </a:rPr>
              <a:t> demo</a:t>
            </a:r>
          </a:p>
          <a:p>
            <a:r>
              <a:rPr lang="en-US" sz="2200" dirty="0" err="1" smtClean="0">
                <a:latin typeface="Consolas" pitchFamily="49" charset="0"/>
              </a:rPr>
              <a:t>cd</a:t>
            </a:r>
            <a:r>
              <a:rPr lang="en-US" sz="2200" dirty="0" smtClean="0">
                <a:latin typeface="Consolas" pitchFamily="49" charset="0"/>
              </a:rPr>
              <a:t> demo</a:t>
            </a:r>
          </a:p>
          <a:p>
            <a:r>
              <a:rPr lang="en-US" sz="2200" dirty="0" smtClean="0">
                <a:latin typeface="Consolas" pitchFamily="49" charset="0"/>
              </a:rPr>
              <a:t>spring init</a:t>
            </a:r>
          </a:p>
          <a:p>
            <a:r>
              <a:rPr lang="en-US" sz="2200" dirty="0" smtClean="0">
                <a:latin typeface="Consolas" pitchFamily="49" charset="0"/>
              </a:rPr>
              <a:t>spring init -a demo -l java --build maven demo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3505200"/>
            <a:ext cx="5843588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Install </a:t>
            </a:r>
            <a:r>
              <a:rPr lang="en-US" dirty="0" err="1" smtClean="0"/>
              <a:t>IntelliJ</a:t>
            </a:r>
            <a:r>
              <a:rPr lang="en-US" dirty="0" smtClean="0"/>
              <a:t> IDEA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https://www.jetbrains.com/idea/download</a:t>
            </a:r>
            <a:endParaRPr lang="en-US" sz="2400" dirty="0" smtClean="0"/>
          </a:p>
          <a:p>
            <a:r>
              <a:rPr lang="en-US" sz="2400" dirty="0" smtClean="0"/>
              <a:t>See </a:t>
            </a:r>
            <a:r>
              <a:rPr lang="en-US" sz="2400" b="1" dirty="0" smtClean="0"/>
              <a:t>10. Introduction To Java.pptx</a:t>
            </a:r>
            <a:r>
              <a:rPr lang="en-US" sz="2400" dirty="0" smtClean="0"/>
              <a:t> for detail.</a:t>
            </a:r>
          </a:p>
          <a:p>
            <a:endParaRPr lang="en-US" sz="24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Run the Demo Project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905000"/>
            <a:ext cx="6718300" cy="401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 Project with Spring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https://start.spring.io/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2201" y="2438400"/>
            <a:ext cx="7645999" cy="36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the Coffee Class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41425" y="2000250"/>
            <a:ext cx="6661150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3. Create the </a:t>
            </a:r>
            <a:r>
              <a:rPr lang="en-US" sz="3800" dirty="0" err="1" smtClean="0"/>
              <a:t>RestApiDemoController</a:t>
            </a:r>
            <a:r>
              <a:rPr lang="en-US" sz="3800" dirty="0" smtClean="0"/>
              <a:t> Class</a:t>
            </a:r>
            <a:endParaRPr lang="en-US" sz="3800" dirty="0"/>
          </a:p>
        </p:txBody>
      </p:sp>
      <p:sp>
        <p:nvSpPr>
          <p:cNvPr id="5" name="Rectangle 4"/>
          <p:cNvSpPr/>
          <p:nvPr/>
        </p:nvSpPr>
        <p:spPr>
          <a:xfrm>
            <a:off x="609600" y="2222480"/>
            <a:ext cx="8001000" cy="34163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BBB529"/>
                </a:solidFill>
                <a:latin typeface="Consolas" pitchFamily="49" charset="0"/>
              </a:rPr>
              <a:t>@</a:t>
            </a:r>
            <a:r>
              <a:rPr lang="en-US" dirty="0" err="1" smtClean="0">
                <a:solidFill>
                  <a:srgbClr val="BBB529"/>
                </a:solidFill>
                <a:latin typeface="Consolas" pitchFamily="49" charset="0"/>
              </a:rPr>
              <a:t>RestController</a:t>
            </a:r>
            <a:r>
              <a:rPr lang="en-US" dirty="0" smtClean="0">
                <a:solidFill>
                  <a:srgbClr val="BBB529"/>
                </a:solidFill>
                <a:latin typeface="Consolas" pitchFamily="49" charset="0"/>
              </a:rPr>
              <a:t/>
            </a:r>
            <a:br>
              <a:rPr lang="en-US" dirty="0" smtClean="0">
                <a:solidFill>
                  <a:srgbClr val="BBB529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CC7832"/>
                </a:solidFill>
                <a:latin typeface="Consolas" pitchFamily="49" charset="0"/>
              </a:rPr>
              <a:t>class </a:t>
            </a:r>
            <a:r>
              <a:rPr lang="en-US" dirty="0" err="1" smtClean="0">
                <a:solidFill>
                  <a:srgbClr val="A9B7C6"/>
                </a:solidFill>
                <a:latin typeface="Consolas" pitchFamily="49" charset="0"/>
              </a:rPr>
              <a:t>RestApiDemoController</a:t>
            </a:r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 {</a:t>
            </a:r>
            <a:br>
              <a:rPr lang="en-US" dirty="0" smtClean="0">
                <a:solidFill>
                  <a:srgbClr val="A9B7C6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	</a:t>
            </a:r>
            <a:r>
              <a:rPr lang="en-US" dirty="0" smtClean="0">
                <a:solidFill>
                  <a:srgbClr val="CC7832"/>
                </a:solidFill>
                <a:latin typeface="Consolas" pitchFamily="49" charset="0"/>
              </a:rPr>
              <a:t>private </a:t>
            </a:r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List&lt;Coffee&gt; </a:t>
            </a:r>
            <a:r>
              <a:rPr lang="en-US" dirty="0" smtClean="0">
                <a:solidFill>
                  <a:srgbClr val="9876AA"/>
                </a:solidFill>
                <a:latin typeface="Consolas" pitchFamily="49" charset="0"/>
              </a:rPr>
              <a:t>coffees </a:t>
            </a:r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= </a:t>
            </a:r>
            <a:r>
              <a:rPr lang="en-US" dirty="0" smtClean="0">
                <a:solidFill>
                  <a:srgbClr val="CC7832"/>
                </a:solidFill>
                <a:latin typeface="Consolas" pitchFamily="49" charset="0"/>
              </a:rPr>
              <a:t>new </a:t>
            </a:r>
            <a:r>
              <a:rPr lang="en-US" dirty="0" err="1" smtClean="0">
                <a:solidFill>
                  <a:srgbClr val="A9B7C6"/>
                </a:solidFill>
                <a:latin typeface="Consolas" pitchFamily="49" charset="0"/>
              </a:rPr>
              <a:t>ArrayList</a:t>
            </a:r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&lt;&gt;()</a:t>
            </a:r>
            <a:r>
              <a:rPr lang="en-US" dirty="0" smtClean="0">
                <a:solidFill>
                  <a:srgbClr val="CC7832"/>
                </a:solidFill>
                <a:latin typeface="Consolas" pitchFamily="49" charset="0"/>
              </a:rPr>
              <a:t>;</a:t>
            </a:r>
            <a:br>
              <a:rPr lang="en-US" dirty="0" smtClean="0">
                <a:solidFill>
                  <a:srgbClr val="CC7832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CC7832"/>
                </a:solidFill>
                <a:latin typeface="Consolas" pitchFamily="49" charset="0"/>
              </a:rPr>
              <a:t>	public </a:t>
            </a:r>
            <a:r>
              <a:rPr lang="en-US" dirty="0" err="1" smtClean="0">
                <a:solidFill>
                  <a:srgbClr val="FFC66D"/>
                </a:solidFill>
                <a:latin typeface="Consolas" pitchFamily="49" charset="0"/>
              </a:rPr>
              <a:t>RestApiDemoController</a:t>
            </a:r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() {</a:t>
            </a:r>
            <a:br>
              <a:rPr lang="en-US" dirty="0" smtClean="0">
                <a:solidFill>
                  <a:srgbClr val="A9B7C6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		</a:t>
            </a:r>
            <a:r>
              <a:rPr lang="en-US" dirty="0" err="1" smtClean="0">
                <a:solidFill>
                  <a:srgbClr val="9876AA"/>
                </a:solidFill>
                <a:latin typeface="Consolas" pitchFamily="49" charset="0"/>
              </a:rPr>
              <a:t>coffees</a:t>
            </a:r>
            <a:r>
              <a:rPr lang="en-US" dirty="0" err="1" smtClean="0">
                <a:solidFill>
                  <a:srgbClr val="A9B7C6"/>
                </a:solidFill>
                <a:latin typeface="Consolas" pitchFamily="49" charset="0"/>
              </a:rPr>
              <a:t>.addAll</a:t>
            </a:r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(</a:t>
            </a:r>
            <a:r>
              <a:rPr lang="en-US" dirty="0" err="1" smtClean="0">
                <a:solidFill>
                  <a:srgbClr val="A9B7C6"/>
                </a:solidFill>
                <a:latin typeface="Consolas" pitchFamily="49" charset="0"/>
              </a:rPr>
              <a:t>List.</a:t>
            </a:r>
            <a:r>
              <a:rPr lang="en-US" i="1" dirty="0" err="1" smtClean="0">
                <a:solidFill>
                  <a:srgbClr val="A9B7C6"/>
                </a:solidFill>
                <a:latin typeface="Consolas" pitchFamily="49" charset="0"/>
              </a:rPr>
              <a:t>of</a:t>
            </a: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(</a:t>
            </a:r>
            <a:b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</a:b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				</a:t>
            </a:r>
            <a:r>
              <a:rPr lang="en-US" i="1" dirty="0" smtClean="0">
                <a:solidFill>
                  <a:srgbClr val="CC7832"/>
                </a:solidFill>
                <a:latin typeface="Consolas" pitchFamily="49" charset="0"/>
              </a:rPr>
              <a:t>new </a:t>
            </a: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Coffee(</a:t>
            </a:r>
            <a:r>
              <a:rPr lang="en-US" i="1" dirty="0" smtClean="0">
                <a:solidFill>
                  <a:srgbClr val="6A8759"/>
                </a:solidFill>
                <a:latin typeface="Consolas" pitchFamily="49" charset="0"/>
              </a:rPr>
              <a:t>"Café </a:t>
            </a:r>
            <a:r>
              <a:rPr lang="en-US" i="1" dirty="0" err="1" smtClean="0">
                <a:solidFill>
                  <a:srgbClr val="6A8759"/>
                </a:solidFill>
                <a:latin typeface="Consolas" pitchFamily="49" charset="0"/>
              </a:rPr>
              <a:t>Cereza</a:t>
            </a:r>
            <a:r>
              <a:rPr lang="en-US" i="1" dirty="0" smtClean="0">
                <a:solidFill>
                  <a:srgbClr val="6A8759"/>
                </a:solidFill>
                <a:latin typeface="Consolas" pitchFamily="49" charset="0"/>
              </a:rPr>
              <a:t>"</a:t>
            </a: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)</a:t>
            </a:r>
            <a:r>
              <a:rPr lang="en-US" i="1" dirty="0" smtClean="0">
                <a:solidFill>
                  <a:srgbClr val="CC7832"/>
                </a:solidFill>
                <a:latin typeface="Consolas" pitchFamily="49" charset="0"/>
              </a:rPr>
              <a:t>,</a:t>
            </a:r>
            <a:br>
              <a:rPr lang="en-US" i="1" dirty="0" smtClean="0">
                <a:solidFill>
                  <a:srgbClr val="CC7832"/>
                </a:solidFill>
                <a:latin typeface="Consolas" pitchFamily="49" charset="0"/>
              </a:rPr>
            </a:br>
            <a:r>
              <a:rPr lang="en-US" i="1" dirty="0" smtClean="0">
                <a:solidFill>
                  <a:srgbClr val="CC7832"/>
                </a:solidFill>
                <a:latin typeface="Consolas" pitchFamily="49" charset="0"/>
              </a:rPr>
              <a:t>				new </a:t>
            </a: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Coffee(</a:t>
            </a:r>
            <a:r>
              <a:rPr lang="en-US" i="1" dirty="0" smtClean="0">
                <a:solidFill>
                  <a:srgbClr val="6A8759"/>
                </a:solidFill>
                <a:latin typeface="Consolas" pitchFamily="49" charset="0"/>
              </a:rPr>
              <a:t>"Café </a:t>
            </a:r>
            <a:r>
              <a:rPr lang="en-US" i="1" dirty="0" err="1" smtClean="0">
                <a:solidFill>
                  <a:srgbClr val="6A8759"/>
                </a:solidFill>
                <a:latin typeface="Consolas" pitchFamily="49" charset="0"/>
              </a:rPr>
              <a:t>Ganador</a:t>
            </a:r>
            <a:r>
              <a:rPr lang="en-US" i="1" dirty="0" smtClean="0">
                <a:solidFill>
                  <a:srgbClr val="6A8759"/>
                </a:solidFill>
                <a:latin typeface="Consolas" pitchFamily="49" charset="0"/>
              </a:rPr>
              <a:t>"</a:t>
            </a: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)</a:t>
            </a:r>
            <a:r>
              <a:rPr lang="en-US" i="1" dirty="0" smtClean="0">
                <a:solidFill>
                  <a:srgbClr val="CC7832"/>
                </a:solidFill>
                <a:latin typeface="Consolas" pitchFamily="49" charset="0"/>
              </a:rPr>
              <a:t>,</a:t>
            </a:r>
            <a:br>
              <a:rPr lang="en-US" i="1" dirty="0" smtClean="0">
                <a:solidFill>
                  <a:srgbClr val="CC7832"/>
                </a:solidFill>
                <a:latin typeface="Consolas" pitchFamily="49" charset="0"/>
              </a:rPr>
            </a:br>
            <a:r>
              <a:rPr lang="en-US" i="1" dirty="0" smtClean="0">
                <a:solidFill>
                  <a:srgbClr val="CC7832"/>
                </a:solidFill>
                <a:latin typeface="Consolas" pitchFamily="49" charset="0"/>
              </a:rPr>
              <a:t>				new </a:t>
            </a: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Coffee(</a:t>
            </a:r>
            <a:r>
              <a:rPr lang="en-US" i="1" dirty="0" smtClean="0">
                <a:solidFill>
                  <a:srgbClr val="6A8759"/>
                </a:solidFill>
                <a:latin typeface="Consolas" pitchFamily="49" charset="0"/>
              </a:rPr>
              <a:t>"Café </a:t>
            </a:r>
            <a:r>
              <a:rPr lang="en-US" i="1" dirty="0" err="1" smtClean="0">
                <a:solidFill>
                  <a:srgbClr val="6A8759"/>
                </a:solidFill>
                <a:latin typeface="Consolas" pitchFamily="49" charset="0"/>
              </a:rPr>
              <a:t>Lareño</a:t>
            </a:r>
            <a:r>
              <a:rPr lang="en-US" i="1" dirty="0" smtClean="0">
                <a:solidFill>
                  <a:srgbClr val="6A8759"/>
                </a:solidFill>
                <a:latin typeface="Consolas" pitchFamily="49" charset="0"/>
              </a:rPr>
              <a:t>"</a:t>
            </a: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)</a:t>
            </a:r>
            <a:r>
              <a:rPr lang="en-US" i="1" dirty="0" smtClean="0">
                <a:solidFill>
                  <a:srgbClr val="CC7832"/>
                </a:solidFill>
                <a:latin typeface="Consolas" pitchFamily="49" charset="0"/>
              </a:rPr>
              <a:t>,</a:t>
            </a:r>
            <a:br>
              <a:rPr lang="en-US" i="1" dirty="0" smtClean="0">
                <a:solidFill>
                  <a:srgbClr val="CC7832"/>
                </a:solidFill>
                <a:latin typeface="Consolas" pitchFamily="49" charset="0"/>
              </a:rPr>
            </a:br>
            <a:r>
              <a:rPr lang="en-US" i="1" dirty="0" smtClean="0">
                <a:solidFill>
                  <a:srgbClr val="CC7832"/>
                </a:solidFill>
                <a:latin typeface="Consolas" pitchFamily="49" charset="0"/>
              </a:rPr>
              <a:t>				new </a:t>
            </a: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Coffee(</a:t>
            </a:r>
            <a:r>
              <a:rPr lang="en-US" i="1" dirty="0" smtClean="0">
                <a:solidFill>
                  <a:srgbClr val="6A8759"/>
                </a:solidFill>
                <a:latin typeface="Consolas" pitchFamily="49" charset="0"/>
              </a:rPr>
              <a:t>"Café </a:t>
            </a:r>
            <a:r>
              <a:rPr lang="en-US" i="1" dirty="0" err="1" smtClean="0">
                <a:solidFill>
                  <a:srgbClr val="6A8759"/>
                </a:solidFill>
                <a:latin typeface="Consolas" pitchFamily="49" charset="0"/>
              </a:rPr>
              <a:t>Três</a:t>
            </a:r>
            <a:r>
              <a:rPr lang="en-US" i="1" dirty="0" smtClean="0">
                <a:solidFill>
                  <a:srgbClr val="6A8759"/>
                </a:solidFill>
                <a:latin typeface="Consolas" pitchFamily="49" charset="0"/>
              </a:rPr>
              <a:t> </a:t>
            </a:r>
            <a:r>
              <a:rPr lang="en-US" i="1" dirty="0" err="1" smtClean="0">
                <a:solidFill>
                  <a:srgbClr val="6A8759"/>
                </a:solidFill>
                <a:latin typeface="Consolas" pitchFamily="49" charset="0"/>
              </a:rPr>
              <a:t>Pontas</a:t>
            </a:r>
            <a:r>
              <a:rPr lang="en-US" i="1" dirty="0" smtClean="0">
                <a:solidFill>
                  <a:srgbClr val="6A8759"/>
                </a:solidFill>
                <a:latin typeface="Consolas" pitchFamily="49" charset="0"/>
              </a:rPr>
              <a:t>"</a:t>
            </a: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)</a:t>
            </a:r>
            <a:b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</a:b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		))</a:t>
            </a:r>
            <a:r>
              <a:rPr lang="en-US" i="1" dirty="0" smtClean="0">
                <a:solidFill>
                  <a:srgbClr val="CC7832"/>
                </a:solidFill>
                <a:latin typeface="Consolas" pitchFamily="49" charset="0"/>
              </a:rPr>
              <a:t>;</a:t>
            </a:r>
            <a:br>
              <a:rPr lang="en-US" i="1" dirty="0" smtClean="0">
                <a:solidFill>
                  <a:srgbClr val="CC7832"/>
                </a:solidFill>
                <a:latin typeface="Consolas" pitchFamily="49" charset="0"/>
              </a:rPr>
            </a:br>
            <a:r>
              <a:rPr lang="en-US" i="1" dirty="0" smtClean="0">
                <a:solidFill>
                  <a:srgbClr val="CC7832"/>
                </a:solidFill>
                <a:latin typeface="Consolas" pitchFamily="49" charset="0"/>
              </a:rPr>
              <a:t>	</a:t>
            </a: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}</a:t>
            </a:r>
            <a:b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</a:b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4. Add </a:t>
            </a:r>
            <a:r>
              <a:rPr lang="en-US" sz="4000" dirty="0" smtClean="0"/>
              <a:t>the @</a:t>
            </a:r>
            <a:r>
              <a:rPr lang="en-US" sz="4000" dirty="0" err="1" smtClean="0"/>
              <a:t>RequestMapping</a:t>
            </a:r>
            <a:r>
              <a:rPr lang="en-US" sz="4000" dirty="0" smtClean="0"/>
              <a:t> Annotation</a:t>
            </a:r>
            <a:endParaRPr lang="en-US" sz="3800" dirty="0"/>
          </a:p>
        </p:txBody>
      </p:sp>
      <p:sp>
        <p:nvSpPr>
          <p:cNvPr id="5" name="Rectangle 4"/>
          <p:cNvSpPr/>
          <p:nvPr/>
        </p:nvSpPr>
        <p:spPr>
          <a:xfrm>
            <a:off x="609600" y="2222480"/>
            <a:ext cx="8001000" cy="31393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C7832"/>
                </a:solidFill>
                <a:latin typeface="Consolas" pitchFamily="49" charset="0"/>
              </a:rPr>
              <a:t>class </a:t>
            </a:r>
            <a:r>
              <a:rPr lang="en-US" dirty="0" err="1" smtClean="0">
                <a:solidFill>
                  <a:srgbClr val="A9B7C6"/>
                </a:solidFill>
                <a:latin typeface="Consolas" pitchFamily="49" charset="0"/>
              </a:rPr>
              <a:t>RestApiDemoController</a:t>
            </a:r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 {</a:t>
            </a:r>
            <a:br>
              <a:rPr lang="en-US" dirty="0" smtClean="0">
                <a:solidFill>
                  <a:srgbClr val="A9B7C6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	</a:t>
            </a:r>
            <a:r>
              <a:rPr lang="en-US" dirty="0" smtClean="0">
                <a:solidFill>
                  <a:srgbClr val="CC7832"/>
                </a:solidFill>
                <a:latin typeface="Consolas" pitchFamily="49" charset="0"/>
              </a:rPr>
              <a:t>private </a:t>
            </a:r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List&lt;Coffee&gt; </a:t>
            </a:r>
            <a:r>
              <a:rPr lang="en-US" dirty="0" smtClean="0">
                <a:solidFill>
                  <a:srgbClr val="9876AA"/>
                </a:solidFill>
                <a:latin typeface="Consolas" pitchFamily="49" charset="0"/>
              </a:rPr>
              <a:t>coffees </a:t>
            </a:r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= </a:t>
            </a:r>
            <a:r>
              <a:rPr lang="en-US" dirty="0" smtClean="0">
                <a:solidFill>
                  <a:srgbClr val="CC7832"/>
                </a:solidFill>
                <a:latin typeface="Consolas" pitchFamily="49" charset="0"/>
              </a:rPr>
              <a:t>new </a:t>
            </a:r>
            <a:r>
              <a:rPr lang="en-US" dirty="0" err="1" smtClean="0">
                <a:solidFill>
                  <a:srgbClr val="A9B7C6"/>
                </a:solidFill>
                <a:latin typeface="Consolas" pitchFamily="49" charset="0"/>
              </a:rPr>
              <a:t>ArrayList</a:t>
            </a:r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&lt;&gt;()</a:t>
            </a:r>
            <a:r>
              <a:rPr lang="en-US" dirty="0" smtClean="0">
                <a:solidFill>
                  <a:srgbClr val="CC7832"/>
                </a:solidFill>
                <a:latin typeface="Consolas" pitchFamily="49" charset="0"/>
              </a:rPr>
              <a:t>;</a:t>
            </a:r>
            <a:br>
              <a:rPr lang="en-US" dirty="0" smtClean="0">
                <a:solidFill>
                  <a:srgbClr val="CC7832"/>
                </a:solidFill>
                <a:latin typeface="Consolas" pitchFamily="49" charset="0"/>
              </a:rPr>
            </a:br>
            <a:endParaRPr lang="en-US" dirty="0" smtClean="0">
              <a:solidFill>
                <a:srgbClr val="CC7832"/>
              </a:solidFill>
              <a:latin typeface="Consolas" pitchFamily="49" charset="0"/>
            </a:endParaRPr>
          </a:p>
          <a:p>
            <a:r>
              <a:rPr lang="en-US" dirty="0" smtClean="0">
                <a:solidFill>
                  <a:srgbClr val="CC7832"/>
                </a:solidFill>
                <a:latin typeface="Consolas" pitchFamily="49" charset="0"/>
              </a:rPr>
              <a:t>...</a:t>
            </a:r>
          </a:p>
          <a:p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/>
            </a:r>
            <a:b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</a:b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	</a:t>
            </a:r>
            <a:r>
              <a:rPr lang="en-US" i="1" dirty="0" smtClean="0">
                <a:solidFill>
                  <a:srgbClr val="BBB529"/>
                </a:solidFill>
                <a:latin typeface="Consolas" pitchFamily="49" charset="0"/>
              </a:rPr>
              <a:t>@</a:t>
            </a:r>
            <a:r>
              <a:rPr lang="en-US" i="1" dirty="0" err="1" smtClean="0">
                <a:solidFill>
                  <a:srgbClr val="BBB529"/>
                </a:solidFill>
                <a:latin typeface="Consolas" pitchFamily="49" charset="0"/>
              </a:rPr>
              <a:t>RequestMapping</a:t>
            </a: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(value = </a:t>
            </a:r>
            <a:r>
              <a:rPr lang="en-US" i="1" dirty="0" smtClean="0">
                <a:solidFill>
                  <a:srgbClr val="6A8759"/>
                </a:solidFill>
                <a:latin typeface="Consolas" pitchFamily="49" charset="0"/>
              </a:rPr>
              <a:t>"/coffees"</a:t>
            </a:r>
            <a:r>
              <a:rPr lang="en-US" i="1" dirty="0" smtClean="0">
                <a:solidFill>
                  <a:srgbClr val="CC7832"/>
                </a:solidFill>
                <a:latin typeface="Consolas" pitchFamily="49" charset="0"/>
              </a:rPr>
              <a:t>, </a:t>
            </a: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method = </a:t>
            </a:r>
            <a:r>
              <a:rPr lang="en-US" i="1" dirty="0" err="1" smtClean="0">
                <a:solidFill>
                  <a:srgbClr val="A9B7C6"/>
                </a:solidFill>
                <a:latin typeface="Consolas" pitchFamily="49" charset="0"/>
              </a:rPr>
              <a:t>RequestMethod.</a:t>
            </a:r>
            <a:r>
              <a:rPr lang="en-US" i="1" dirty="0" err="1" smtClean="0">
                <a:solidFill>
                  <a:srgbClr val="9876AA"/>
                </a:solidFill>
                <a:latin typeface="Consolas" pitchFamily="49" charset="0"/>
              </a:rPr>
              <a:t>GET</a:t>
            </a: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)</a:t>
            </a:r>
            <a:b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</a:b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	</a:t>
            </a:r>
            <a:r>
              <a:rPr lang="en-US" i="1" dirty="0" err="1" smtClean="0">
                <a:solidFill>
                  <a:srgbClr val="A9B7C6"/>
                </a:solidFill>
                <a:latin typeface="Consolas" pitchFamily="49" charset="0"/>
              </a:rPr>
              <a:t>Iterable</a:t>
            </a: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&lt;Coffee&gt; </a:t>
            </a:r>
            <a:r>
              <a:rPr lang="en-US" i="1" dirty="0" err="1" smtClean="0">
                <a:solidFill>
                  <a:srgbClr val="FFC66D"/>
                </a:solidFill>
                <a:latin typeface="Consolas" pitchFamily="49" charset="0"/>
              </a:rPr>
              <a:t>getCoffees</a:t>
            </a: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() {</a:t>
            </a:r>
            <a:b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</a:b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		</a:t>
            </a:r>
            <a:r>
              <a:rPr lang="en-US" i="1" dirty="0" smtClean="0">
                <a:solidFill>
                  <a:srgbClr val="CC7832"/>
                </a:solidFill>
                <a:latin typeface="Consolas" pitchFamily="49" charset="0"/>
              </a:rPr>
              <a:t>return </a:t>
            </a:r>
            <a:r>
              <a:rPr lang="en-US" i="1" dirty="0" smtClean="0">
                <a:solidFill>
                  <a:srgbClr val="9876AA"/>
                </a:solidFill>
                <a:latin typeface="Consolas" pitchFamily="49" charset="0"/>
              </a:rPr>
              <a:t>coffees</a:t>
            </a:r>
            <a:r>
              <a:rPr lang="en-US" i="1" dirty="0" smtClean="0">
                <a:solidFill>
                  <a:srgbClr val="CC7832"/>
                </a:solidFill>
                <a:latin typeface="Consolas" pitchFamily="49" charset="0"/>
              </a:rPr>
              <a:t>;</a:t>
            </a:r>
            <a:br>
              <a:rPr lang="en-US" i="1" dirty="0" smtClean="0">
                <a:solidFill>
                  <a:srgbClr val="CC7832"/>
                </a:solidFill>
                <a:latin typeface="Consolas" pitchFamily="49" charset="0"/>
              </a:rPr>
            </a:br>
            <a:r>
              <a:rPr lang="en-US" i="1" dirty="0" smtClean="0">
                <a:solidFill>
                  <a:srgbClr val="CC7832"/>
                </a:solidFill>
                <a:latin typeface="Consolas" pitchFamily="49" charset="0"/>
              </a:rPr>
              <a:t>	</a:t>
            </a: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}</a:t>
            </a:r>
            <a:b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</a:br>
            <a:r>
              <a:rPr lang="en-US" i="1" dirty="0" smtClean="0">
                <a:solidFill>
                  <a:srgbClr val="A9B7C6"/>
                </a:solidFill>
                <a:latin typeface="Consolas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5. Add the </a:t>
            </a:r>
            <a:r>
              <a:rPr lang="en-US" sz="3800" dirty="0" err="1" smtClean="0"/>
              <a:t>the</a:t>
            </a:r>
            <a:r>
              <a:rPr lang="en-US" sz="3800" dirty="0" smtClean="0"/>
              <a:t> Class-Level</a:t>
            </a:r>
            <a:br>
              <a:rPr lang="en-US" sz="3800" dirty="0" smtClean="0"/>
            </a:br>
            <a:r>
              <a:rPr lang="en-US" sz="3800" dirty="0" smtClean="0"/>
              <a:t>@</a:t>
            </a:r>
            <a:r>
              <a:rPr lang="en-US" sz="3800" dirty="0" err="1" smtClean="0"/>
              <a:t>RequestMapping</a:t>
            </a:r>
            <a:r>
              <a:rPr lang="en-US" sz="3800" dirty="0" smtClean="0"/>
              <a:t> Annotation</a:t>
            </a:r>
            <a:endParaRPr lang="en-US" sz="3800" dirty="0"/>
          </a:p>
        </p:txBody>
      </p:sp>
      <p:sp>
        <p:nvSpPr>
          <p:cNvPr id="5" name="Rectangle 4"/>
          <p:cNvSpPr/>
          <p:nvPr/>
        </p:nvSpPr>
        <p:spPr>
          <a:xfrm>
            <a:off x="609600" y="1676400"/>
            <a:ext cx="8001000" cy="477053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BBB529"/>
                </a:solidFill>
                <a:latin typeface="Consolas" pitchFamily="49" charset="0"/>
              </a:rPr>
              <a:t>@</a:t>
            </a:r>
            <a:r>
              <a:rPr lang="en-US" sz="1600" dirty="0" err="1" smtClean="0">
                <a:solidFill>
                  <a:srgbClr val="BBB529"/>
                </a:solidFill>
                <a:latin typeface="Consolas" pitchFamily="49" charset="0"/>
              </a:rPr>
              <a:t>RestController</a:t>
            </a:r>
            <a:r>
              <a:rPr lang="en-US" sz="1600" dirty="0" smtClean="0">
                <a:solidFill>
                  <a:srgbClr val="BBB529"/>
                </a:solidFill>
                <a:latin typeface="Consolas" pitchFamily="49" charset="0"/>
              </a:rPr>
              <a:t/>
            </a:r>
            <a:br>
              <a:rPr lang="en-US" sz="1600" dirty="0" smtClean="0">
                <a:solidFill>
                  <a:srgbClr val="BBB529"/>
                </a:solidFill>
                <a:latin typeface="Consolas" pitchFamily="49" charset="0"/>
              </a:rPr>
            </a:br>
            <a:r>
              <a:rPr lang="en-US" sz="1600" dirty="0" smtClean="0">
                <a:solidFill>
                  <a:srgbClr val="BBB529"/>
                </a:solidFill>
                <a:latin typeface="Consolas" pitchFamily="49" charset="0"/>
              </a:rPr>
              <a:t>@</a:t>
            </a:r>
            <a:r>
              <a:rPr lang="en-US" sz="1600" dirty="0" err="1" smtClean="0">
                <a:solidFill>
                  <a:srgbClr val="BBB529"/>
                </a:solidFill>
                <a:latin typeface="Consolas" pitchFamily="49" charset="0"/>
              </a:rPr>
              <a:t>RequestMapping</a:t>
            </a:r>
            <a:r>
              <a:rPr lang="en-US" sz="1600" dirty="0" smtClean="0">
                <a:latin typeface="Consolas" pitchFamily="49" charset="0"/>
              </a:rPr>
              <a:t>(</a:t>
            </a:r>
            <a:r>
              <a:rPr lang="en-US" sz="1600" dirty="0" smtClean="0">
                <a:solidFill>
                  <a:srgbClr val="6A8759"/>
                </a:solidFill>
                <a:latin typeface="Consolas" pitchFamily="49" charset="0"/>
              </a:rPr>
              <a:t>"/coffees"</a:t>
            </a:r>
            <a:r>
              <a:rPr lang="en-US" sz="1600" dirty="0" smtClean="0">
                <a:latin typeface="Consolas" pitchFamily="49" charset="0"/>
              </a:rPr>
              <a:t>)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solidFill>
                  <a:srgbClr val="CC7832"/>
                </a:solidFill>
                <a:latin typeface="Consolas" pitchFamily="49" charset="0"/>
              </a:rPr>
              <a:t>class </a:t>
            </a:r>
            <a:r>
              <a:rPr lang="en-US" sz="1600" dirty="0" err="1" smtClean="0">
                <a:latin typeface="Consolas" pitchFamily="49" charset="0"/>
              </a:rPr>
              <a:t>RestApiDemoController</a:t>
            </a:r>
            <a:r>
              <a:rPr lang="en-US" sz="1600" dirty="0" smtClean="0">
                <a:latin typeface="Consolas" pitchFamily="49" charset="0"/>
              </a:rPr>
              <a:t> {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   </a:t>
            </a:r>
            <a:r>
              <a:rPr lang="en-US" sz="1600" dirty="0" smtClean="0">
                <a:solidFill>
                  <a:srgbClr val="CC7832"/>
                </a:solidFill>
                <a:latin typeface="Consolas" pitchFamily="49" charset="0"/>
              </a:rPr>
              <a:t>private </a:t>
            </a:r>
            <a:r>
              <a:rPr lang="en-US" sz="1600" dirty="0" smtClean="0">
                <a:latin typeface="Consolas" pitchFamily="49" charset="0"/>
              </a:rPr>
              <a:t>List&lt;Coffee&gt; </a:t>
            </a:r>
            <a:r>
              <a:rPr lang="en-US" sz="1600" dirty="0" smtClean="0">
                <a:solidFill>
                  <a:srgbClr val="9876AA"/>
                </a:solidFill>
                <a:latin typeface="Consolas" pitchFamily="49" charset="0"/>
              </a:rPr>
              <a:t>coffees </a:t>
            </a:r>
            <a:r>
              <a:rPr lang="en-US" sz="1600" dirty="0" smtClean="0">
                <a:latin typeface="Consolas" pitchFamily="49" charset="0"/>
              </a:rPr>
              <a:t>= </a:t>
            </a:r>
            <a:r>
              <a:rPr lang="en-US" sz="1600" dirty="0" smtClean="0">
                <a:solidFill>
                  <a:srgbClr val="CC7832"/>
                </a:solidFill>
                <a:latin typeface="Consolas" pitchFamily="49" charset="0"/>
              </a:rPr>
              <a:t>new </a:t>
            </a:r>
            <a:r>
              <a:rPr lang="en-US" sz="1600" dirty="0" err="1" smtClean="0">
                <a:latin typeface="Consolas" pitchFamily="49" charset="0"/>
              </a:rPr>
              <a:t>ArrayList</a:t>
            </a:r>
            <a:r>
              <a:rPr lang="en-US" sz="1600" dirty="0" smtClean="0">
                <a:latin typeface="Consolas" pitchFamily="49" charset="0"/>
              </a:rPr>
              <a:t>&lt;&gt;()</a:t>
            </a:r>
            <a:r>
              <a:rPr lang="en-US" sz="1600" dirty="0" smtClean="0">
                <a:solidFill>
                  <a:srgbClr val="CC7832"/>
                </a:solidFill>
                <a:latin typeface="Consolas" pitchFamily="49" charset="0"/>
              </a:rPr>
              <a:t>;</a:t>
            </a:r>
          </a:p>
          <a:p>
            <a:r>
              <a:rPr lang="en-US" sz="1600" dirty="0" smtClean="0">
                <a:solidFill>
                  <a:srgbClr val="CC7832"/>
                </a:solidFill>
                <a:latin typeface="Consolas" pitchFamily="49" charset="0"/>
              </a:rPr>
              <a:t>...</a:t>
            </a:r>
          </a:p>
          <a:p>
            <a:r>
              <a:rPr lang="en-US" sz="1600" dirty="0" smtClean="0">
                <a:latin typeface="Consolas" pitchFamily="49" charset="0"/>
              </a:rPr>
              <a:t>   </a:t>
            </a:r>
            <a:r>
              <a:rPr lang="en-US" sz="1600" dirty="0" smtClean="0">
                <a:solidFill>
                  <a:srgbClr val="BBB529"/>
                </a:solidFill>
                <a:latin typeface="Consolas" pitchFamily="49" charset="0"/>
              </a:rPr>
              <a:t>@</a:t>
            </a:r>
            <a:r>
              <a:rPr lang="en-US" sz="1600" dirty="0" err="1" smtClean="0">
                <a:solidFill>
                  <a:srgbClr val="BBB529"/>
                </a:solidFill>
                <a:latin typeface="Consolas" pitchFamily="49" charset="0"/>
              </a:rPr>
              <a:t>GetMapping</a:t>
            </a:r>
            <a:r>
              <a:rPr lang="en-US" sz="1600" dirty="0" smtClean="0">
                <a:solidFill>
                  <a:srgbClr val="BBB529"/>
                </a:solidFill>
                <a:latin typeface="Consolas" pitchFamily="49" charset="0"/>
              </a:rPr>
              <a:t/>
            </a:r>
            <a:br>
              <a:rPr lang="en-US" sz="1600" dirty="0" smtClean="0">
                <a:solidFill>
                  <a:srgbClr val="BBB529"/>
                </a:solidFill>
                <a:latin typeface="Consolas" pitchFamily="49" charset="0"/>
              </a:rPr>
            </a:br>
            <a:r>
              <a:rPr lang="en-US" sz="1600" dirty="0" smtClean="0">
                <a:solidFill>
                  <a:srgbClr val="BBB529"/>
                </a:solidFill>
                <a:latin typeface="Consolas" pitchFamily="49" charset="0"/>
              </a:rPr>
              <a:t>   </a:t>
            </a:r>
            <a:r>
              <a:rPr lang="en-US" sz="1600" dirty="0" err="1" smtClean="0">
                <a:latin typeface="Consolas" pitchFamily="49" charset="0"/>
              </a:rPr>
              <a:t>Iterable</a:t>
            </a:r>
            <a:r>
              <a:rPr lang="en-US" sz="1600" dirty="0" smtClean="0">
                <a:latin typeface="Consolas" pitchFamily="49" charset="0"/>
              </a:rPr>
              <a:t>&lt;Coffee&gt; </a:t>
            </a:r>
            <a:r>
              <a:rPr lang="en-US" sz="1600" dirty="0" err="1" smtClean="0">
                <a:solidFill>
                  <a:srgbClr val="FFC66D"/>
                </a:solidFill>
                <a:latin typeface="Consolas" pitchFamily="49" charset="0"/>
              </a:rPr>
              <a:t>getCoffees</a:t>
            </a:r>
            <a:r>
              <a:rPr lang="en-US" sz="1600" dirty="0" smtClean="0">
                <a:latin typeface="Consolas" pitchFamily="49" charset="0"/>
              </a:rPr>
              <a:t>() {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      </a:t>
            </a:r>
            <a:r>
              <a:rPr lang="en-US" sz="1600" dirty="0" smtClean="0">
                <a:solidFill>
                  <a:srgbClr val="CC7832"/>
                </a:solidFill>
                <a:latin typeface="Consolas" pitchFamily="49" charset="0"/>
              </a:rPr>
              <a:t>return </a:t>
            </a:r>
            <a:r>
              <a:rPr lang="en-US" sz="1600" dirty="0" smtClean="0">
                <a:solidFill>
                  <a:srgbClr val="9876AA"/>
                </a:solidFill>
                <a:latin typeface="Consolas" pitchFamily="49" charset="0"/>
              </a:rPr>
              <a:t>coffees</a:t>
            </a:r>
            <a:r>
              <a:rPr lang="en-US" sz="1600" dirty="0" smtClean="0">
                <a:solidFill>
                  <a:srgbClr val="CC7832"/>
                </a:solidFill>
                <a:latin typeface="Consolas" pitchFamily="49" charset="0"/>
              </a:rPr>
              <a:t>;</a:t>
            </a:r>
            <a:br>
              <a:rPr lang="en-US" sz="1600" dirty="0" smtClean="0">
                <a:solidFill>
                  <a:srgbClr val="CC7832"/>
                </a:solidFill>
                <a:latin typeface="Consolas" pitchFamily="49" charset="0"/>
              </a:rPr>
            </a:br>
            <a:r>
              <a:rPr lang="en-US" sz="1600" dirty="0" smtClean="0">
                <a:solidFill>
                  <a:srgbClr val="CC7832"/>
                </a:solidFill>
                <a:latin typeface="Consolas" pitchFamily="49" charset="0"/>
              </a:rPr>
              <a:t>   </a:t>
            </a:r>
            <a:r>
              <a:rPr lang="en-US" sz="1600" dirty="0" smtClean="0">
                <a:latin typeface="Consolas" pitchFamily="49" charset="0"/>
              </a:rPr>
              <a:t>}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   </a:t>
            </a:r>
            <a:r>
              <a:rPr lang="en-US" sz="1600" dirty="0" smtClean="0">
                <a:solidFill>
                  <a:srgbClr val="BBB529"/>
                </a:solidFill>
                <a:latin typeface="Consolas" pitchFamily="49" charset="0"/>
              </a:rPr>
              <a:t>@</a:t>
            </a:r>
            <a:r>
              <a:rPr lang="en-US" sz="1600" dirty="0" err="1" smtClean="0">
                <a:solidFill>
                  <a:srgbClr val="BBB529"/>
                </a:solidFill>
                <a:latin typeface="Consolas" pitchFamily="49" charset="0"/>
              </a:rPr>
              <a:t>GetMapping</a:t>
            </a:r>
            <a:r>
              <a:rPr lang="en-US" sz="1600" dirty="0" smtClean="0">
                <a:latin typeface="Consolas" pitchFamily="49" charset="0"/>
              </a:rPr>
              <a:t>(</a:t>
            </a:r>
            <a:r>
              <a:rPr lang="en-US" sz="1600" dirty="0" smtClean="0">
                <a:solidFill>
                  <a:srgbClr val="6A8759"/>
                </a:solidFill>
                <a:latin typeface="Consolas" pitchFamily="49" charset="0"/>
              </a:rPr>
              <a:t>"/{id}"</a:t>
            </a:r>
            <a:r>
              <a:rPr lang="en-US" sz="1600" dirty="0" smtClean="0">
                <a:latin typeface="Consolas" pitchFamily="49" charset="0"/>
              </a:rPr>
              <a:t>)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   Optional&lt;Coffee&gt; </a:t>
            </a:r>
            <a:r>
              <a:rPr lang="en-US" sz="1600" dirty="0" err="1" smtClean="0">
                <a:solidFill>
                  <a:srgbClr val="FFC66D"/>
                </a:solidFill>
                <a:latin typeface="Consolas" pitchFamily="49" charset="0"/>
              </a:rPr>
              <a:t>getCoffeeById</a:t>
            </a:r>
            <a:r>
              <a:rPr lang="en-US" sz="1600" dirty="0" smtClean="0">
                <a:latin typeface="Consolas" pitchFamily="49" charset="0"/>
              </a:rPr>
              <a:t>(</a:t>
            </a:r>
            <a:r>
              <a:rPr lang="en-US" sz="1600" dirty="0" smtClean="0">
                <a:solidFill>
                  <a:srgbClr val="BBB529"/>
                </a:solidFill>
                <a:latin typeface="Consolas" pitchFamily="49" charset="0"/>
              </a:rPr>
              <a:t>@</a:t>
            </a:r>
            <a:r>
              <a:rPr lang="en-US" sz="1600" dirty="0" err="1" smtClean="0">
                <a:solidFill>
                  <a:srgbClr val="BBB529"/>
                </a:solidFill>
                <a:latin typeface="Consolas" pitchFamily="49" charset="0"/>
              </a:rPr>
              <a:t>PathVariable</a:t>
            </a:r>
            <a:r>
              <a:rPr lang="en-US" sz="1600" dirty="0" smtClean="0">
                <a:solidFill>
                  <a:srgbClr val="BBB529"/>
                </a:solidFill>
                <a:latin typeface="Consolas" pitchFamily="49" charset="0"/>
              </a:rPr>
              <a:t> </a:t>
            </a:r>
            <a:r>
              <a:rPr lang="en-US" sz="1600" dirty="0" smtClean="0">
                <a:latin typeface="Consolas" pitchFamily="49" charset="0"/>
              </a:rPr>
              <a:t>String id) {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      </a:t>
            </a:r>
            <a:r>
              <a:rPr lang="en-US" sz="1600" dirty="0" smtClean="0">
                <a:solidFill>
                  <a:srgbClr val="CC7832"/>
                </a:solidFill>
                <a:latin typeface="Consolas" pitchFamily="49" charset="0"/>
              </a:rPr>
              <a:t>for </a:t>
            </a:r>
            <a:r>
              <a:rPr lang="en-US" sz="1600" dirty="0" smtClean="0">
                <a:latin typeface="Consolas" pitchFamily="49" charset="0"/>
              </a:rPr>
              <a:t>(Coffee c: </a:t>
            </a:r>
            <a:r>
              <a:rPr lang="en-US" sz="1600" dirty="0" smtClean="0">
                <a:solidFill>
                  <a:srgbClr val="9876AA"/>
                </a:solidFill>
                <a:latin typeface="Consolas" pitchFamily="49" charset="0"/>
              </a:rPr>
              <a:t>coffees</a:t>
            </a:r>
            <a:r>
              <a:rPr lang="en-US" sz="1600" dirty="0" smtClean="0">
                <a:latin typeface="Consolas" pitchFamily="49" charset="0"/>
              </a:rPr>
              <a:t>) {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         </a:t>
            </a:r>
            <a:r>
              <a:rPr lang="en-US" sz="1600" dirty="0" smtClean="0">
                <a:solidFill>
                  <a:srgbClr val="CC7832"/>
                </a:solidFill>
                <a:latin typeface="Consolas" pitchFamily="49" charset="0"/>
              </a:rPr>
              <a:t>if </a:t>
            </a:r>
            <a:r>
              <a:rPr lang="en-US" sz="1600" dirty="0" smtClean="0">
                <a:latin typeface="Consolas" pitchFamily="49" charset="0"/>
              </a:rPr>
              <a:t>(</a:t>
            </a:r>
            <a:r>
              <a:rPr lang="en-US" sz="1600" dirty="0" err="1" smtClean="0">
                <a:latin typeface="Consolas" pitchFamily="49" charset="0"/>
              </a:rPr>
              <a:t>c.getId</a:t>
            </a:r>
            <a:r>
              <a:rPr lang="en-US" sz="1600" dirty="0" smtClean="0">
                <a:latin typeface="Consolas" pitchFamily="49" charset="0"/>
              </a:rPr>
              <a:t>().equals(id)) {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            </a:t>
            </a:r>
            <a:r>
              <a:rPr lang="en-US" sz="1600" dirty="0" smtClean="0">
                <a:solidFill>
                  <a:srgbClr val="CC7832"/>
                </a:solidFill>
                <a:latin typeface="Consolas" pitchFamily="49" charset="0"/>
              </a:rPr>
              <a:t>return </a:t>
            </a:r>
            <a:r>
              <a:rPr lang="en-US" sz="1600" dirty="0" err="1" smtClean="0">
                <a:latin typeface="Consolas" pitchFamily="49" charset="0"/>
              </a:rPr>
              <a:t>Optional.</a:t>
            </a:r>
            <a:r>
              <a:rPr lang="en-US" sz="1600" i="1" dirty="0" err="1" smtClean="0">
                <a:latin typeface="Consolas" pitchFamily="49" charset="0"/>
              </a:rPr>
              <a:t>of</a:t>
            </a:r>
            <a:r>
              <a:rPr lang="en-US" sz="1600" dirty="0" smtClean="0">
                <a:latin typeface="Consolas" pitchFamily="49" charset="0"/>
              </a:rPr>
              <a:t>(c)</a:t>
            </a:r>
            <a:r>
              <a:rPr lang="en-US" sz="1600" dirty="0" smtClean="0">
                <a:solidFill>
                  <a:srgbClr val="CC7832"/>
                </a:solidFill>
                <a:latin typeface="Consolas" pitchFamily="49" charset="0"/>
              </a:rPr>
              <a:t>;</a:t>
            </a:r>
            <a:br>
              <a:rPr lang="en-US" sz="1600" dirty="0" smtClean="0">
                <a:solidFill>
                  <a:srgbClr val="CC7832"/>
                </a:solidFill>
                <a:latin typeface="Consolas" pitchFamily="49" charset="0"/>
              </a:rPr>
            </a:br>
            <a:r>
              <a:rPr lang="en-US" sz="1600" dirty="0" smtClean="0">
                <a:solidFill>
                  <a:srgbClr val="CC7832"/>
                </a:solidFill>
                <a:latin typeface="Consolas" pitchFamily="49" charset="0"/>
              </a:rPr>
              <a:t>         </a:t>
            </a:r>
            <a:r>
              <a:rPr lang="en-US" sz="1600" dirty="0" smtClean="0">
                <a:latin typeface="Consolas" pitchFamily="49" charset="0"/>
              </a:rPr>
              <a:t>}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      }</a:t>
            </a:r>
            <a:br>
              <a:rPr lang="en-US" sz="1600" dirty="0" smtClean="0">
                <a:latin typeface="Consolas" pitchFamily="49" charset="0"/>
              </a:rPr>
            </a:br>
            <a:r>
              <a:rPr lang="en-US" sz="1600" dirty="0" smtClean="0">
                <a:latin typeface="Consolas" pitchFamily="49" charset="0"/>
              </a:rPr>
              <a:t>      </a:t>
            </a:r>
            <a:r>
              <a:rPr lang="en-US" sz="1600" dirty="0" smtClean="0">
                <a:solidFill>
                  <a:srgbClr val="CC7832"/>
                </a:solidFill>
                <a:latin typeface="Consolas" pitchFamily="49" charset="0"/>
              </a:rPr>
              <a:t>return </a:t>
            </a:r>
            <a:r>
              <a:rPr lang="en-US" sz="1600" dirty="0" err="1" smtClean="0">
                <a:latin typeface="Consolas" pitchFamily="49" charset="0"/>
              </a:rPr>
              <a:t>Optional.</a:t>
            </a:r>
            <a:r>
              <a:rPr lang="en-US" sz="1600" i="1" dirty="0" err="1" smtClean="0">
                <a:latin typeface="Consolas" pitchFamily="49" charset="0"/>
              </a:rPr>
              <a:t>empty</a:t>
            </a:r>
            <a:r>
              <a:rPr lang="en-US" sz="1600" dirty="0" smtClean="0">
                <a:latin typeface="Consolas" pitchFamily="49" charset="0"/>
              </a:rPr>
              <a:t>()</a:t>
            </a:r>
            <a:r>
              <a:rPr lang="en-US" sz="1600" dirty="0" smtClean="0">
                <a:solidFill>
                  <a:srgbClr val="CC7832"/>
                </a:solidFill>
                <a:latin typeface="Consolas" pitchFamily="49" charset="0"/>
              </a:rPr>
              <a:t>;</a:t>
            </a:r>
            <a:br>
              <a:rPr lang="en-US" sz="1600" dirty="0" smtClean="0">
                <a:solidFill>
                  <a:srgbClr val="CC7832"/>
                </a:solidFill>
                <a:latin typeface="Consolas" pitchFamily="49" charset="0"/>
              </a:rPr>
            </a:br>
            <a:r>
              <a:rPr lang="en-US" sz="1600" dirty="0" smtClean="0">
                <a:solidFill>
                  <a:srgbClr val="CC7832"/>
                </a:solidFill>
                <a:latin typeface="Consolas" pitchFamily="49" charset="0"/>
              </a:rPr>
              <a:t>   </a:t>
            </a:r>
            <a:r>
              <a:rPr lang="en-US" sz="1600" dirty="0" smtClean="0">
                <a:latin typeface="Consolas" pitchFamily="49" charset="0"/>
              </a:rPr>
              <a:t>}</a:t>
            </a:r>
          </a:p>
          <a:p>
            <a:r>
              <a:rPr lang="en-US" sz="1600" i="1" dirty="0" smtClean="0">
                <a:solidFill>
                  <a:srgbClr val="A9B7C6"/>
                </a:solidFill>
                <a:latin typeface="Consolas" pitchFamily="49" charset="0"/>
              </a:rPr>
              <a:t>...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Run the Application</a:t>
            </a:r>
            <a:endParaRPr lang="en-US" dirty="0"/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286000"/>
            <a:ext cx="7918767" cy="3507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Test the APIs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latin typeface="Consolas" pitchFamily="49" charset="0"/>
              </a:rPr>
              <a:t>curl http://localhost:8080/coffees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2743200"/>
            <a:ext cx="6500813" cy="2652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web application</a:t>
            </a:r>
            <a:r>
              <a:rPr lang="en-US" sz="2400" dirty="0" smtClean="0"/>
              <a:t> consists of a required </a:t>
            </a:r>
            <a:r>
              <a:rPr lang="en-US" sz="2400" u="sng" dirty="0" smtClean="0"/>
              <a:t>directory structure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Additional files and directories can be added to a web application, but the directory structure is the same for all web applications.</a:t>
            </a:r>
          </a:p>
          <a:p>
            <a:r>
              <a:rPr lang="en-US" sz="2400" dirty="0" smtClean="0"/>
              <a:t>The </a:t>
            </a:r>
            <a:r>
              <a:rPr lang="en-US" sz="2400" u="sng" dirty="0" smtClean="0"/>
              <a:t>web application structure</a:t>
            </a:r>
            <a:r>
              <a:rPr lang="en-US" sz="2400" dirty="0" smtClean="0"/>
              <a:t> is defined in </a:t>
            </a:r>
            <a:r>
              <a:rPr lang="en-US" sz="2400" i="1" dirty="0" smtClean="0">
                <a:solidFill>
                  <a:srgbClr val="C00000"/>
                </a:solidFill>
              </a:rPr>
              <a:t>the Java </a:t>
            </a:r>
            <a:r>
              <a:rPr lang="en-US" sz="2400" i="1" dirty="0" err="1" smtClean="0">
                <a:solidFill>
                  <a:srgbClr val="C00000"/>
                </a:solidFill>
              </a:rPr>
              <a:t>Servlet</a:t>
            </a:r>
            <a:r>
              <a:rPr lang="en-US" sz="2400" i="1" dirty="0" smtClean="0">
                <a:solidFill>
                  <a:srgbClr val="C00000"/>
                </a:solidFill>
              </a:rPr>
              <a:t> specification</a:t>
            </a:r>
            <a:r>
              <a:rPr lang="en-US" sz="2400" dirty="0" smtClean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Servlet</a:t>
            </a:r>
            <a:r>
              <a:rPr lang="en-US" dirty="0" smtClean="0"/>
              <a:t> Engine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Web applications are hosted in </a:t>
            </a:r>
            <a:r>
              <a:rPr lang="en-US" sz="2400" i="1" dirty="0" err="1" smtClean="0">
                <a:solidFill>
                  <a:srgbClr val="C00000"/>
                </a:solidFill>
              </a:rPr>
              <a:t>servlet</a:t>
            </a:r>
            <a:r>
              <a:rPr lang="en-US" sz="2400" i="1" dirty="0" smtClean="0">
                <a:solidFill>
                  <a:srgbClr val="C00000"/>
                </a:solidFill>
              </a:rPr>
              <a:t> engines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Each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engine will have a </a:t>
            </a:r>
            <a:r>
              <a:rPr lang="en-US" sz="2400" u="sng" dirty="0" smtClean="0"/>
              <a:t>special location</a:t>
            </a:r>
            <a:r>
              <a:rPr lang="en-US" sz="2400" dirty="0" smtClean="0"/>
              <a:t> for web applications.</a:t>
            </a:r>
          </a:p>
          <a:p>
            <a:r>
              <a:rPr lang="en-US" sz="2400" dirty="0" smtClean="0"/>
              <a:t>For the </a:t>
            </a:r>
            <a:r>
              <a:rPr lang="en-US" sz="2400" i="1" dirty="0" smtClean="0">
                <a:solidFill>
                  <a:srgbClr val="C00000"/>
                </a:solidFill>
              </a:rPr>
              <a:t>Tomcat </a:t>
            </a:r>
            <a:r>
              <a:rPr lang="en-US" sz="2400" i="1" dirty="0" err="1" smtClean="0">
                <a:solidFill>
                  <a:srgbClr val="C00000"/>
                </a:solidFill>
              </a:rPr>
              <a:t>servlet</a:t>
            </a:r>
            <a:r>
              <a:rPr lang="en-US" sz="2400" i="1" dirty="0" smtClean="0">
                <a:solidFill>
                  <a:srgbClr val="C00000"/>
                </a:solidFill>
              </a:rPr>
              <a:t> engine</a:t>
            </a:r>
            <a:r>
              <a:rPr lang="en-US" sz="2400" dirty="0" smtClean="0"/>
              <a:t>, web applications should be located in a directory named </a:t>
            </a:r>
            <a:r>
              <a:rPr lang="en-US" sz="2400" u="sng" dirty="0" err="1" smtClean="0"/>
              <a:t>webapps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Archive [JAR] 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Java Archive [JAR] files</a:t>
            </a:r>
            <a:r>
              <a:rPr lang="en-US" sz="2400" dirty="0" smtClean="0"/>
              <a:t> are actually </a:t>
            </a:r>
            <a:r>
              <a:rPr lang="en-US" sz="2400" u="sng" dirty="0" smtClean="0"/>
              <a:t>zip archives</a:t>
            </a:r>
            <a:r>
              <a:rPr lang="en-US" sz="2400" dirty="0" smtClean="0"/>
              <a:t> with the </a:t>
            </a:r>
            <a:r>
              <a:rPr lang="en-US" sz="2400" u="sng" dirty="0" smtClean="0"/>
              <a:t>extension .jar</a:t>
            </a:r>
            <a:r>
              <a:rPr lang="en-US" sz="2400" dirty="0" smtClean="0"/>
              <a:t> that can be </a:t>
            </a:r>
            <a:r>
              <a:rPr lang="en-US" sz="2400" u="sng" dirty="0" smtClean="0"/>
              <a:t>read by the Java Virtual Machine</a:t>
            </a:r>
            <a:r>
              <a:rPr lang="en-US" sz="2400" dirty="0" smtClean="0"/>
              <a:t> [JVM].</a:t>
            </a:r>
          </a:p>
          <a:p>
            <a:r>
              <a:rPr lang="en-US" sz="2400" dirty="0" smtClean="0"/>
              <a:t>Typically, a developer who wants to add a feature to the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engine will package </a:t>
            </a:r>
            <a:r>
              <a:rPr lang="en-US" sz="2400" i="1" dirty="0" smtClean="0">
                <a:solidFill>
                  <a:srgbClr val="C00000"/>
                </a:solidFill>
              </a:rPr>
              <a:t>all the necessary class files</a:t>
            </a:r>
            <a:r>
              <a:rPr lang="en-US" sz="2400" dirty="0" smtClean="0"/>
              <a:t> in a JAR.</a:t>
            </a:r>
          </a:p>
          <a:p>
            <a:r>
              <a:rPr lang="en-US" sz="2400" dirty="0" smtClean="0"/>
              <a:t>Creating applications that require multiple JAR files can be difficult, because of all </a:t>
            </a:r>
            <a:r>
              <a:rPr lang="en-US" sz="2400" i="1" dirty="0" smtClean="0">
                <a:solidFill>
                  <a:srgbClr val="C00000"/>
                </a:solidFill>
              </a:rPr>
              <a:t>the dependencies</a:t>
            </a:r>
            <a:r>
              <a:rPr lang="en-US" sz="2400" dirty="0" smtClean="0"/>
              <a:t> between JAR files.</a:t>
            </a:r>
          </a:p>
          <a:p>
            <a:r>
              <a:rPr lang="en-US" sz="2400" dirty="0" smtClean="0"/>
              <a:t>A JAR file might be required for </a:t>
            </a:r>
            <a:r>
              <a:rPr lang="en-US" sz="2400" i="1" dirty="0" smtClean="0">
                <a:solidFill>
                  <a:srgbClr val="C00000"/>
                </a:solidFill>
              </a:rPr>
              <a:t>compiling</a:t>
            </a:r>
            <a:r>
              <a:rPr lang="en-US" sz="2400" dirty="0" smtClean="0"/>
              <a:t>, while additional JAR files are needed at </a:t>
            </a:r>
            <a:r>
              <a:rPr lang="en-US" sz="2400" i="1" dirty="0" smtClean="0">
                <a:solidFill>
                  <a:srgbClr val="C00000"/>
                </a:solidFill>
              </a:rPr>
              <a:t>run time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Maven?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Maven</a:t>
            </a:r>
            <a:r>
              <a:rPr lang="en-US" sz="2400" dirty="0" smtClean="0"/>
              <a:t> is a tool that facilitates </a:t>
            </a:r>
            <a:r>
              <a:rPr lang="en-US" sz="2400" u="sng" dirty="0" smtClean="0"/>
              <a:t>adding JAR files to an application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Maven maintains </a:t>
            </a:r>
            <a:r>
              <a:rPr lang="en-US" sz="2400" i="1" dirty="0" smtClean="0">
                <a:solidFill>
                  <a:srgbClr val="C00000"/>
                </a:solidFill>
              </a:rPr>
              <a:t>a registry of JAR files</a:t>
            </a:r>
            <a:r>
              <a:rPr lang="en-US" sz="2400" dirty="0" smtClean="0"/>
              <a:t>, so it is easy to find a file.</a:t>
            </a:r>
          </a:p>
          <a:p>
            <a:r>
              <a:rPr lang="en-US" sz="2400" dirty="0" smtClean="0"/>
              <a:t>Maven records </a:t>
            </a:r>
            <a:r>
              <a:rPr lang="en-US" sz="2400" i="1" dirty="0" smtClean="0">
                <a:solidFill>
                  <a:srgbClr val="C00000"/>
                </a:solidFill>
              </a:rPr>
              <a:t>the dependencies</a:t>
            </a:r>
            <a:r>
              <a:rPr lang="en-US" sz="2400" dirty="0" smtClean="0"/>
              <a:t> of JAR files and adds all the related JAR files to the library.</a:t>
            </a:r>
          </a:p>
          <a:p>
            <a:r>
              <a:rPr lang="en-US" sz="2400" dirty="0" smtClean="0"/>
              <a:t>As time progresses, JAR files are </a:t>
            </a:r>
            <a:r>
              <a:rPr lang="en-US" sz="2400" i="1" dirty="0" smtClean="0">
                <a:solidFill>
                  <a:srgbClr val="C00000"/>
                </a:solidFill>
              </a:rPr>
              <a:t>updated</a:t>
            </a:r>
            <a:r>
              <a:rPr lang="en-US" sz="2400" dirty="0" smtClean="0"/>
              <a:t>. Maven makes it easy to upgrade the JAR files in an application.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Maven Web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Typically, a new </a:t>
            </a:r>
            <a:r>
              <a:rPr lang="en-US" sz="2400" u="sng" dirty="0" smtClean="0"/>
              <a:t>Maven project</a:t>
            </a:r>
            <a:r>
              <a:rPr lang="en-US" sz="2400" dirty="0" smtClean="0"/>
              <a:t> is created from an </a:t>
            </a:r>
            <a:r>
              <a:rPr lang="en-US" sz="2400" i="1" dirty="0" smtClean="0">
                <a:solidFill>
                  <a:srgbClr val="C00000"/>
                </a:solidFill>
              </a:rPr>
              <a:t>archetype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An archetype contains </a:t>
            </a:r>
            <a:r>
              <a:rPr lang="en-US" sz="2400" i="1" dirty="0" smtClean="0">
                <a:solidFill>
                  <a:srgbClr val="C00000"/>
                </a:solidFill>
              </a:rPr>
              <a:t>the base files</a:t>
            </a:r>
            <a:r>
              <a:rPr lang="en-US" sz="2400" dirty="0" smtClean="0"/>
              <a:t> for a standard application type.</a:t>
            </a:r>
          </a:p>
          <a:p>
            <a:r>
              <a:rPr lang="en-US" sz="2400" dirty="0" smtClean="0"/>
              <a:t>Maven can </a:t>
            </a:r>
            <a:r>
              <a:rPr lang="en-US" sz="2400" u="sng" dirty="0" smtClean="0"/>
              <a:t>run</a:t>
            </a:r>
            <a:r>
              <a:rPr lang="en-US" sz="2400" dirty="0" smtClean="0"/>
              <a:t> from the </a:t>
            </a:r>
            <a:r>
              <a:rPr lang="en-US" sz="2400" i="1" dirty="0" smtClean="0">
                <a:solidFill>
                  <a:srgbClr val="C00000"/>
                </a:solidFill>
              </a:rPr>
              <a:t>command line</a:t>
            </a:r>
            <a:r>
              <a:rPr lang="en-US" sz="2400" dirty="0" smtClean="0"/>
              <a:t> or from </a:t>
            </a:r>
            <a:r>
              <a:rPr lang="en-US" sz="2400" i="1" dirty="0" smtClean="0">
                <a:solidFill>
                  <a:srgbClr val="C00000"/>
                </a:solidFill>
              </a:rPr>
              <a:t>inside a popular IDE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Most IDEs have an option to create a Maven project.</a:t>
            </a:r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 Web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mvn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archetype:generate</a:t>
            </a:r>
            <a:r>
              <a:rPr lang="en-US" sz="2200" dirty="0" smtClean="0">
                <a:latin typeface="Consolas" pitchFamily="49" charset="0"/>
              </a:rPr>
              <a:t> -</a:t>
            </a:r>
            <a:r>
              <a:rPr lang="en-US" sz="2200" dirty="0" err="1" smtClean="0">
                <a:latin typeface="Consolas" pitchFamily="49" charset="0"/>
              </a:rPr>
              <a:t>DgroupId</a:t>
            </a:r>
            <a:r>
              <a:rPr lang="en-US" sz="2200" dirty="0" smtClean="0">
                <a:latin typeface="Consolas" pitchFamily="49" charset="0"/>
              </a:rPr>
              <a:t>=</a:t>
            </a:r>
            <a:r>
              <a:rPr lang="en-US" sz="2200" b="1" dirty="0" err="1" smtClean="0">
                <a:latin typeface="Consolas" pitchFamily="49" charset="0"/>
              </a:rPr>
              <a:t>org.my</a:t>
            </a:r>
            <a:r>
              <a:rPr lang="en-US" sz="2200" b="1" dirty="0" smtClean="0">
                <a:latin typeface="Consolas" pitchFamily="49" charset="0"/>
              </a:rPr>
              <a:t>-group</a:t>
            </a:r>
            <a:r>
              <a:rPr lang="en-US" sz="2200" dirty="0" smtClean="0">
                <a:latin typeface="Consolas" pitchFamily="49" charset="0"/>
              </a:rPr>
              <a:t> -</a:t>
            </a:r>
            <a:r>
              <a:rPr lang="en-US" sz="2200" dirty="0" err="1" smtClean="0">
                <a:latin typeface="Consolas" pitchFamily="49" charset="0"/>
              </a:rPr>
              <a:t>DartifactId</a:t>
            </a:r>
            <a:r>
              <a:rPr lang="en-US" sz="2200" dirty="0" smtClean="0">
                <a:latin typeface="Consolas" pitchFamily="49" charset="0"/>
              </a:rPr>
              <a:t>=</a:t>
            </a:r>
            <a:r>
              <a:rPr lang="en-US" sz="2200" b="1" dirty="0" smtClean="0">
                <a:latin typeface="Consolas" pitchFamily="49" charset="0"/>
              </a:rPr>
              <a:t>my-</a:t>
            </a:r>
            <a:r>
              <a:rPr lang="en-US" sz="2200" b="1" dirty="0" err="1" smtClean="0">
                <a:latin typeface="Consolas" pitchFamily="49" charset="0"/>
              </a:rPr>
              <a:t>webapp</a:t>
            </a:r>
            <a:r>
              <a:rPr lang="en-US" sz="2200" dirty="0" smtClean="0">
                <a:latin typeface="Consolas" pitchFamily="49" charset="0"/>
              </a:rPr>
              <a:t> -</a:t>
            </a:r>
            <a:r>
              <a:rPr lang="en-US" sz="2200" dirty="0" err="1" smtClean="0">
                <a:latin typeface="Consolas" pitchFamily="49" charset="0"/>
              </a:rPr>
              <a:t>DpackageName</a:t>
            </a:r>
            <a:r>
              <a:rPr lang="en-US" sz="2200" dirty="0" smtClean="0">
                <a:latin typeface="Consolas" pitchFamily="49" charset="0"/>
              </a:rPr>
              <a:t>=</a:t>
            </a:r>
            <a:r>
              <a:rPr lang="en-US" sz="2200" b="1" dirty="0" err="1" smtClean="0">
                <a:latin typeface="Consolas" pitchFamily="49" charset="0"/>
              </a:rPr>
              <a:t>com.my</a:t>
            </a:r>
            <a:r>
              <a:rPr lang="en-US" sz="2200" b="1" dirty="0" smtClean="0">
                <a:latin typeface="Consolas" pitchFamily="49" charset="0"/>
              </a:rPr>
              <a:t>-package</a:t>
            </a:r>
            <a:r>
              <a:rPr lang="en-US" sz="2200" dirty="0" smtClean="0">
                <a:latin typeface="Consolas" pitchFamily="49" charset="0"/>
              </a:rPr>
              <a:t> -</a:t>
            </a:r>
            <a:r>
              <a:rPr lang="en-US" sz="2200" dirty="0" err="1" smtClean="0">
                <a:latin typeface="Consolas" pitchFamily="49" charset="0"/>
              </a:rPr>
              <a:t>DarchetypeArtifactId</a:t>
            </a:r>
            <a:r>
              <a:rPr lang="en-US" sz="2200" dirty="0" smtClean="0">
                <a:latin typeface="Consolas" pitchFamily="49" charset="0"/>
              </a:rPr>
              <a:t>=</a:t>
            </a:r>
            <a:r>
              <a:rPr lang="en-US" sz="2200" i="1" dirty="0" smtClean="0">
                <a:latin typeface="Consolas" pitchFamily="49" charset="0"/>
              </a:rPr>
              <a:t>maven-archetype-</a:t>
            </a:r>
            <a:r>
              <a:rPr lang="en-US" sz="2200" i="1" dirty="0" err="1" smtClean="0">
                <a:latin typeface="Consolas" pitchFamily="49" charset="0"/>
              </a:rPr>
              <a:t>webapp</a:t>
            </a:r>
            <a:endParaRPr lang="en-US" sz="2200" i="1" dirty="0" smtClean="0">
              <a:latin typeface="Consolas" pitchFamily="49" charset="0"/>
            </a:endParaRPr>
          </a:p>
          <a:p>
            <a:r>
              <a:rPr lang="en-US" sz="2400" i="1" dirty="0" smtClean="0">
                <a:latin typeface="Consolas" pitchFamily="49" charset="0"/>
              </a:rPr>
              <a:t>maven-archetype-</a:t>
            </a:r>
            <a:r>
              <a:rPr lang="en-US" sz="2400" i="1" dirty="0" err="1" smtClean="0">
                <a:latin typeface="Consolas" pitchFamily="49" charset="0"/>
              </a:rPr>
              <a:t>webapp</a:t>
            </a:r>
            <a:r>
              <a:rPr lang="en-US" sz="2400" dirty="0" smtClean="0"/>
              <a:t>: the </a:t>
            </a:r>
            <a:r>
              <a:rPr lang="en-US" sz="2400" dirty="0" err="1" smtClean="0"/>
              <a:t>webapp</a:t>
            </a:r>
            <a:r>
              <a:rPr lang="en-US" sz="2400" dirty="0" smtClean="0"/>
              <a:t> archetype.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35847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3950" y="3559175"/>
            <a:ext cx="6896100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Open the Web Application</a:t>
            </a:r>
            <a:endParaRPr lang="en-US" dirty="0"/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913" y="2149475"/>
            <a:ext cx="6480175" cy="310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Add the war </a:t>
            </a:r>
            <a:r>
              <a:rPr lang="en-US" dirty="0" err="1" smtClean="0"/>
              <a:t>Plugin</a:t>
            </a:r>
            <a:r>
              <a:rPr lang="en-US" dirty="0" smtClean="0"/>
              <a:t> to pom.xml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https://maven.apache.org/plugins/index.html</a:t>
            </a:r>
            <a:endParaRPr lang="en-US" sz="2400" dirty="0" smtClean="0"/>
          </a:p>
        </p:txBody>
      </p:sp>
      <p:sp>
        <p:nvSpPr>
          <p:cNvPr id="4" name="Rectangle 3"/>
          <p:cNvSpPr/>
          <p:nvPr/>
        </p:nvSpPr>
        <p:spPr>
          <a:xfrm>
            <a:off x="609600" y="2679680"/>
            <a:ext cx="7924800" cy="34163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...</a:t>
            </a:r>
          </a:p>
          <a:p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 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&lt;build&gt;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    &lt;</a:t>
            </a:r>
            <a:r>
              <a:rPr lang="en-US" dirty="0" err="1" smtClean="0">
                <a:solidFill>
                  <a:srgbClr val="E8BF6A"/>
                </a:solidFill>
                <a:latin typeface="Consolas" pitchFamily="49" charset="0"/>
              </a:rPr>
              <a:t>finalName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&gt;</a:t>
            </a:r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my-</a:t>
            </a:r>
            <a:r>
              <a:rPr lang="en-US" dirty="0" err="1" smtClean="0">
                <a:solidFill>
                  <a:srgbClr val="A9B7C6"/>
                </a:solidFill>
                <a:latin typeface="Consolas" pitchFamily="49" charset="0"/>
              </a:rPr>
              <a:t>webapp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&lt;/</a:t>
            </a:r>
            <a:r>
              <a:rPr lang="en-US" dirty="0" err="1" smtClean="0">
                <a:solidFill>
                  <a:srgbClr val="E8BF6A"/>
                </a:solidFill>
                <a:latin typeface="Consolas" pitchFamily="49" charset="0"/>
              </a:rPr>
              <a:t>finalName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    &lt;</a:t>
            </a:r>
            <a:r>
              <a:rPr lang="en-US" dirty="0" err="1" smtClean="0">
                <a:solidFill>
                  <a:srgbClr val="E8BF6A"/>
                </a:solidFill>
                <a:latin typeface="Consolas" pitchFamily="49" charset="0"/>
              </a:rPr>
              <a:t>plugins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      &lt;</a:t>
            </a:r>
            <a:r>
              <a:rPr lang="en-US" dirty="0" err="1" smtClean="0">
                <a:solidFill>
                  <a:srgbClr val="E8BF6A"/>
                </a:solidFill>
                <a:latin typeface="Consolas" pitchFamily="49" charset="0"/>
              </a:rPr>
              <a:t>plugin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        &lt;</a:t>
            </a:r>
            <a:r>
              <a:rPr lang="en-US" dirty="0" err="1" smtClean="0">
                <a:solidFill>
                  <a:srgbClr val="E8BF6A"/>
                </a:solidFill>
                <a:latin typeface="Consolas" pitchFamily="49" charset="0"/>
              </a:rPr>
              <a:t>groupId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&gt;</a:t>
            </a:r>
            <a:r>
              <a:rPr lang="en-US" dirty="0" err="1" smtClean="0">
                <a:solidFill>
                  <a:srgbClr val="A9B7C6"/>
                </a:solidFill>
                <a:latin typeface="Consolas" pitchFamily="49" charset="0"/>
              </a:rPr>
              <a:t>org.apache.maven.plugins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&lt;/</a:t>
            </a:r>
            <a:r>
              <a:rPr lang="en-US" dirty="0" err="1" smtClean="0">
                <a:solidFill>
                  <a:srgbClr val="E8BF6A"/>
                </a:solidFill>
                <a:latin typeface="Consolas" pitchFamily="49" charset="0"/>
              </a:rPr>
              <a:t>groupId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        &lt;</a:t>
            </a:r>
            <a:r>
              <a:rPr lang="en-US" dirty="0" err="1" smtClean="0">
                <a:solidFill>
                  <a:srgbClr val="E8BF6A"/>
                </a:solidFill>
                <a:latin typeface="Consolas" pitchFamily="49" charset="0"/>
              </a:rPr>
              <a:t>artifactId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&gt;</a:t>
            </a:r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maven-war-</a:t>
            </a:r>
            <a:r>
              <a:rPr lang="en-US" dirty="0" err="1" smtClean="0">
                <a:solidFill>
                  <a:srgbClr val="A9B7C6"/>
                </a:solidFill>
                <a:latin typeface="Consolas" pitchFamily="49" charset="0"/>
              </a:rPr>
              <a:t>plugin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&lt;/</a:t>
            </a:r>
            <a:r>
              <a:rPr lang="en-US" dirty="0" err="1" smtClean="0">
                <a:solidFill>
                  <a:srgbClr val="E8BF6A"/>
                </a:solidFill>
                <a:latin typeface="Consolas" pitchFamily="49" charset="0"/>
              </a:rPr>
              <a:t>artifactId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        &lt;version&gt;</a:t>
            </a:r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3.3.2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&lt;/version&gt;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      &lt;/</a:t>
            </a:r>
            <a:r>
              <a:rPr lang="en-US" dirty="0" err="1" smtClean="0">
                <a:solidFill>
                  <a:srgbClr val="E8BF6A"/>
                </a:solidFill>
                <a:latin typeface="Consolas" pitchFamily="49" charset="0"/>
              </a:rPr>
              <a:t>plugin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    &lt;/</a:t>
            </a:r>
            <a:r>
              <a:rPr lang="en-US" dirty="0" err="1" smtClean="0">
                <a:solidFill>
                  <a:srgbClr val="E8BF6A"/>
                </a:solidFill>
                <a:latin typeface="Consolas" pitchFamily="49" charset="0"/>
              </a:rPr>
              <a:t>plugins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  &lt;/build&gt;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&lt;/project&gt;</a:t>
            </a:r>
            <a:endParaRPr lang="en-US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Install the war </a:t>
            </a:r>
            <a:r>
              <a:rPr lang="en-US" dirty="0" err="1" smtClean="0"/>
              <a:t>Plugin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cd</a:t>
            </a:r>
            <a:r>
              <a:rPr lang="en-US" sz="2400" dirty="0" smtClean="0">
                <a:latin typeface="Consolas" pitchFamily="49" charset="0"/>
              </a:rPr>
              <a:t> my-</a:t>
            </a:r>
            <a:r>
              <a:rPr lang="en-US" sz="2400" dirty="0" err="1" smtClean="0">
                <a:latin typeface="Consolas" pitchFamily="49" charset="0"/>
              </a:rPr>
              <a:t>webapp</a:t>
            </a:r>
            <a:endParaRPr lang="en-US" sz="2400" dirty="0" smtClean="0">
              <a:latin typeface="Consolas" pitchFamily="49" charset="0"/>
            </a:endParaRPr>
          </a:p>
          <a:p>
            <a:r>
              <a:rPr lang="en-US" sz="2400" dirty="0" err="1" smtClean="0">
                <a:latin typeface="Consolas" pitchFamily="49" charset="0"/>
              </a:rPr>
              <a:t>mvn</a:t>
            </a:r>
            <a:r>
              <a:rPr lang="en-US" sz="2400" dirty="0" smtClean="0">
                <a:latin typeface="Consolas" pitchFamily="49" charset="0"/>
              </a:rPr>
              <a:t> install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3950" y="3178175"/>
            <a:ext cx="6896100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Servlet</a:t>
            </a:r>
            <a:r>
              <a:rPr lang="en-US" dirty="0" smtClean="0"/>
              <a:t> Engine in Maven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err="1" smtClean="0">
                <a:solidFill>
                  <a:srgbClr val="C00000"/>
                </a:solidFill>
              </a:rPr>
              <a:t>servlet</a:t>
            </a:r>
            <a:r>
              <a:rPr lang="en-US" sz="2400" i="1" dirty="0" smtClean="0">
                <a:solidFill>
                  <a:srgbClr val="C00000"/>
                </a:solidFill>
              </a:rPr>
              <a:t> engine</a:t>
            </a:r>
            <a:r>
              <a:rPr lang="en-US" sz="2400" dirty="0" smtClean="0"/>
              <a:t> is needed in order to process dynamic content. A popular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engine is </a:t>
            </a:r>
            <a:r>
              <a:rPr lang="en-US" sz="2400" u="sng" dirty="0" smtClean="0"/>
              <a:t>Tomcat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Maven has a </a:t>
            </a:r>
            <a:r>
              <a:rPr lang="en-US" sz="2400" dirty="0" err="1" smtClean="0"/>
              <a:t>plugin</a:t>
            </a:r>
            <a:r>
              <a:rPr lang="en-US" sz="2400" dirty="0" smtClean="0"/>
              <a:t> for adding the Tomcat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engine to an application.</a:t>
            </a:r>
          </a:p>
          <a:p>
            <a:r>
              <a:rPr lang="en-US" sz="2400" dirty="0" smtClean="0"/>
              <a:t>By adding this </a:t>
            </a:r>
            <a:r>
              <a:rPr lang="en-US" sz="2400" dirty="0" err="1" smtClean="0"/>
              <a:t>plugin</a:t>
            </a:r>
            <a:r>
              <a:rPr lang="en-US" sz="2400" dirty="0" smtClean="0"/>
              <a:t> to </a:t>
            </a:r>
            <a:r>
              <a:rPr lang="en-US" sz="2400" i="1" dirty="0" smtClean="0">
                <a:solidFill>
                  <a:srgbClr val="C00000"/>
                </a:solidFill>
              </a:rPr>
              <a:t>the </a:t>
            </a:r>
            <a:r>
              <a:rPr lang="en-US" sz="2400" i="1" dirty="0" err="1" smtClean="0">
                <a:solidFill>
                  <a:srgbClr val="C00000"/>
                </a:solidFill>
              </a:rPr>
              <a:t>pom</a:t>
            </a:r>
            <a:r>
              <a:rPr lang="en-US" sz="2400" i="1" dirty="0" smtClean="0">
                <a:solidFill>
                  <a:srgbClr val="C00000"/>
                </a:solidFill>
              </a:rPr>
              <a:t> file</a:t>
            </a:r>
            <a:r>
              <a:rPr lang="en-US" sz="2400" dirty="0" smtClean="0"/>
              <a:t>, the application can start its own Tomcat engine and display dynamic content. The </a:t>
            </a:r>
            <a:r>
              <a:rPr lang="en-US" sz="2400" i="1" dirty="0" smtClean="0">
                <a:solidFill>
                  <a:srgbClr val="C00000"/>
                </a:solidFill>
              </a:rPr>
              <a:t>default port</a:t>
            </a:r>
            <a:r>
              <a:rPr lang="en-US" sz="2400" dirty="0" smtClean="0"/>
              <a:t> for Tomcat is 8080.</a:t>
            </a:r>
          </a:p>
          <a:p>
            <a:r>
              <a:rPr lang="en-US" sz="2400" dirty="0" smtClean="0"/>
              <a:t>The </a:t>
            </a:r>
            <a:r>
              <a:rPr lang="en-US" sz="2400" dirty="0" err="1" smtClean="0"/>
              <a:t>pom</a:t>
            </a:r>
            <a:r>
              <a:rPr lang="en-US" sz="2400" dirty="0" smtClean="0"/>
              <a:t> file is the configuration file for Maven. Using XML, it contains all the top-level dependencies requested for the application.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Add a </a:t>
            </a:r>
            <a:r>
              <a:rPr lang="en-US" dirty="0" err="1" smtClean="0"/>
              <a:t>Servlet</a:t>
            </a:r>
            <a:r>
              <a:rPr lang="en-US" dirty="0" smtClean="0"/>
              <a:t> Engine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https://tomcat.apache.org/maven-plugin.html</a:t>
            </a:r>
            <a:endParaRPr lang="en-US" sz="2400" dirty="0" smtClean="0"/>
          </a:p>
          <a:p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609600" y="2326481"/>
            <a:ext cx="7924800" cy="369331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...</a:t>
            </a:r>
          </a:p>
          <a:p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&lt;</a:t>
            </a:r>
            <a:r>
              <a:rPr lang="en-US" dirty="0" err="1" smtClean="0">
                <a:solidFill>
                  <a:srgbClr val="E8BF6A"/>
                </a:solidFill>
                <a:latin typeface="Consolas" pitchFamily="49" charset="0"/>
              </a:rPr>
              <a:t>plugins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      &lt;</a:t>
            </a:r>
            <a:r>
              <a:rPr lang="en-US" dirty="0" err="1" smtClean="0">
                <a:solidFill>
                  <a:srgbClr val="E8BF6A"/>
                </a:solidFill>
                <a:latin typeface="Consolas" pitchFamily="49" charset="0"/>
              </a:rPr>
              <a:t>plugin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        &lt;</a:t>
            </a:r>
            <a:r>
              <a:rPr lang="en-US" dirty="0" err="1" smtClean="0">
                <a:solidFill>
                  <a:srgbClr val="E8BF6A"/>
                </a:solidFill>
                <a:latin typeface="Consolas" pitchFamily="49" charset="0"/>
              </a:rPr>
              <a:t>groupId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&gt;</a:t>
            </a:r>
            <a:r>
              <a:rPr lang="en-US" dirty="0" err="1" smtClean="0">
                <a:solidFill>
                  <a:srgbClr val="A9B7C6"/>
                </a:solidFill>
                <a:latin typeface="Consolas" pitchFamily="49" charset="0"/>
              </a:rPr>
              <a:t>org.apache.tomcat.maven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&lt;/</a:t>
            </a:r>
            <a:r>
              <a:rPr lang="en-US" dirty="0" err="1" smtClean="0">
                <a:solidFill>
                  <a:srgbClr val="E8BF6A"/>
                </a:solidFill>
                <a:latin typeface="Consolas" pitchFamily="49" charset="0"/>
              </a:rPr>
              <a:t>groupId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        &lt;</a:t>
            </a:r>
            <a:r>
              <a:rPr lang="en-US" dirty="0" err="1" smtClean="0">
                <a:solidFill>
                  <a:srgbClr val="E8BF6A"/>
                </a:solidFill>
                <a:latin typeface="Consolas" pitchFamily="49" charset="0"/>
              </a:rPr>
              <a:t>artifactId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&gt;</a:t>
            </a:r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tomcat7-maven-plugin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&lt;/</a:t>
            </a:r>
            <a:r>
              <a:rPr lang="en-US" dirty="0" err="1" smtClean="0">
                <a:solidFill>
                  <a:srgbClr val="E8BF6A"/>
                </a:solidFill>
                <a:latin typeface="Consolas" pitchFamily="49" charset="0"/>
              </a:rPr>
              <a:t>artifactId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        &lt;version&gt;</a:t>
            </a:r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2.2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&lt;/version&gt;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        &lt;configuration&gt;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          &lt;port&gt;</a:t>
            </a:r>
            <a:r>
              <a:rPr lang="en-US" dirty="0" smtClean="0">
                <a:solidFill>
                  <a:srgbClr val="A9B7C6"/>
                </a:solidFill>
                <a:latin typeface="Consolas" pitchFamily="49" charset="0"/>
              </a:rPr>
              <a:t>8282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&lt;/port&gt;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        &lt;/configuration&gt;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      &lt;/</a:t>
            </a:r>
            <a:r>
              <a:rPr lang="en-US" dirty="0" err="1" smtClean="0">
                <a:solidFill>
                  <a:srgbClr val="E8BF6A"/>
                </a:solidFill>
                <a:latin typeface="Consolas" pitchFamily="49" charset="0"/>
              </a:rPr>
              <a:t>plugin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    &lt;/</a:t>
            </a:r>
            <a:r>
              <a:rPr lang="en-US" dirty="0" err="1" smtClean="0">
                <a:solidFill>
                  <a:srgbClr val="E8BF6A"/>
                </a:solidFill>
                <a:latin typeface="Consolas" pitchFamily="49" charset="0"/>
              </a:rPr>
              <a:t>plugins</a:t>
            </a: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  &lt;/build&gt;</a:t>
            </a:r>
            <a:br>
              <a:rPr lang="en-US" dirty="0" smtClean="0">
                <a:solidFill>
                  <a:srgbClr val="E8BF6A"/>
                </a:solidFill>
                <a:latin typeface="Consolas" pitchFamily="49" charset="0"/>
              </a:rPr>
            </a:br>
            <a:r>
              <a:rPr lang="en-US" dirty="0" smtClean="0">
                <a:solidFill>
                  <a:srgbClr val="E8BF6A"/>
                </a:solidFill>
                <a:latin typeface="Consolas" pitchFamily="49" charset="0"/>
              </a:rPr>
              <a:t>&lt;/project&gt;</a:t>
            </a:r>
            <a:endParaRPr lang="en-US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Run the  </a:t>
            </a:r>
            <a:r>
              <a:rPr lang="en-US" dirty="0" err="1" smtClean="0"/>
              <a:t>Servlet</a:t>
            </a:r>
            <a:r>
              <a:rPr lang="en-US" dirty="0" smtClean="0"/>
              <a:t> Engine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mvn</a:t>
            </a:r>
            <a:r>
              <a:rPr lang="en-US" sz="2200" dirty="0" smtClean="0">
                <a:latin typeface="Consolas" pitchFamily="49" charset="0"/>
              </a:rPr>
              <a:t> install</a:t>
            </a:r>
          </a:p>
          <a:p>
            <a:r>
              <a:rPr lang="en-US" sz="2200" dirty="0" err="1" smtClean="0">
                <a:latin typeface="Consolas" pitchFamily="49" charset="0"/>
              </a:rPr>
              <a:t>mvn</a:t>
            </a:r>
            <a:r>
              <a:rPr lang="en-US" sz="2200" dirty="0" smtClean="0">
                <a:latin typeface="Consolas" pitchFamily="49" charset="0"/>
              </a:rPr>
              <a:t> tomcat7:run</a:t>
            </a:r>
          </a:p>
          <a:p>
            <a:endParaRPr lang="en-US" sz="2200" dirty="0" smtClean="0">
              <a:latin typeface="Consolas" pitchFamily="49" charset="0"/>
            </a:endParaRPr>
          </a:p>
          <a:p>
            <a:endParaRPr lang="en-US" sz="2200" dirty="0" smtClean="0">
              <a:latin typeface="Consolas" pitchFamily="49" charset="0"/>
            </a:endParaRPr>
          </a:p>
          <a:p>
            <a:endParaRPr lang="en-US" sz="2200" dirty="0" smtClean="0">
              <a:latin typeface="Consolas" pitchFamily="49" charset="0"/>
            </a:endParaRPr>
          </a:p>
          <a:p>
            <a:endParaRPr lang="en-US" sz="2200" dirty="0" smtClean="0">
              <a:latin typeface="Consolas" pitchFamily="49" charset="0"/>
            </a:endParaRPr>
          </a:p>
          <a:p>
            <a:endParaRPr lang="en-US" sz="2200" dirty="0" smtClean="0">
              <a:latin typeface="Consolas" pitchFamily="49" charset="0"/>
            </a:endParaRPr>
          </a:p>
          <a:p>
            <a:endParaRPr lang="en-US" sz="2200" dirty="0" smtClean="0">
              <a:latin typeface="Consolas" pitchFamily="49" charset="0"/>
            </a:endParaRPr>
          </a:p>
          <a:p>
            <a:endParaRPr lang="en-US" sz="2200" dirty="0" smtClean="0">
              <a:latin typeface="Consolas" pitchFamily="49" charset="0"/>
            </a:endParaRPr>
          </a:p>
          <a:p>
            <a:endParaRPr lang="en-US" sz="2200" dirty="0" smtClean="0">
              <a:latin typeface="Consolas" pitchFamily="49" charset="0"/>
            </a:endParaRPr>
          </a:p>
          <a:p>
            <a:r>
              <a:rPr lang="en-US" sz="2200" dirty="0" smtClean="0">
                <a:latin typeface="Consolas" pitchFamily="49" charset="0"/>
              </a:rPr>
              <a:t>curl </a:t>
            </a:r>
            <a:r>
              <a:rPr lang="en-US" sz="2200" dirty="0" smtClean="0">
                <a:latin typeface="Consolas" pitchFamily="49" charset="0"/>
                <a:hlinkClick r:id="rId2"/>
              </a:rPr>
              <a:t>http://localhost:8282/my-webapp/index.jsp</a:t>
            </a:r>
            <a:endParaRPr lang="en-US" sz="2200" dirty="0" smtClean="0">
              <a:latin typeface="Consolas" pitchFamily="49" charset="0"/>
            </a:endParaRPr>
          </a:p>
          <a:p>
            <a:endParaRPr lang="en-US" sz="2200" dirty="0">
              <a:latin typeface="Consolas" pitchFamily="49" charset="0"/>
            </a:endParaRPr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23950" y="2819400"/>
            <a:ext cx="6896100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Server 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Java Server Page</a:t>
            </a:r>
            <a:r>
              <a:rPr lang="en-US" sz="2400" dirty="0" smtClean="0"/>
              <a:t> [JSP] contains HTML tags and plain text, just like a regular web page.</a:t>
            </a:r>
          </a:p>
          <a:p>
            <a:r>
              <a:rPr lang="en-US" sz="2400" dirty="0" smtClean="0"/>
              <a:t>In addition, a JSP can contain </a:t>
            </a:r>
            <a:r>
              <a:rPr lang="en-US" sz="2400" i="1" dirty="0" smtClean="0">
                <a:solidFill>
                  <a:srgbClr val="C00000"/>
                </a:solidFill>
              </a:rPr>
              <a:t>Java code</a:t>
            </a:r>
            <a:r>
              <a:rPr lang="en-US" sz="2400" dirty="0" smtClean="0"/>
              <a:t> that is executed when the page is displayed.</a:t>
            </a:r>
          </a:p>
          <a:p>
            <a:r>
              <a:rPr lang="en-US" sz="2400" dirty="0" smtClean="0"/>
              <a:t>Starting with the </a:t>
            </a:r>
            <a:r>
              <a:rPr lang="en-US" sz="2400" dirty="0" err="1" smtClean="0"/>
              <a:t>servlet</a:t>
            </a:r>
            <a:r>
              <a:rPr lang="en-US" sz="2400" dirty="0" smtClean="0"/>
              <a:t> specification 2.0, </a:t>
            </a:r>
            <a:r>
              <a:rPr lang="en-US" sz="2400" i="1" dirty="0" smtClean="0">
                <a:solidFill>
                  <a:srgbClr val="C00000"/>
                </a:solidFill>
              </a:rPr>
              <a:t>a language</a:t>
            </a:r>
            <a:r>
              <a:rPr lang="en-US" sz="2400" dirty="0" smtClean="0"/>
              <a:t> was added to JSPs that </a:t>
            </a:r>
            <a:r>
              <a:rPr lang="en-US" sz="2400" u="sng" dirty="0" smtClean="0"/>
              <a:t>simplifies</a:t>
            </a:r>
            <a:r>
              <a:rPr lang="en-US" sz="2400" dirty="0" smtClean="0"/>
              <a:t> access to objects that are available to a JSP.</a:t>
            </a:r>
          </a:p>
          <a:p>
            <a:r>
              <a:rPr lang="en-US" sz="2400" dirty="0" smtClean="0"/>
              <a:t>This language is known as the </a:t>
            </a:r>
            <a:r>
              <a:rPr lang="en-US" sz="2400" i="1" dirty="0" smtClean="0">
                <a:solidFill>
                  <a:srgbClr val="C00000"/>
                </a:solidFill>
              </a:rPr>
              <a:t>Expression Language</a:t>
            </a:r>
            <a:r>
              <a:rPr lang="en-US" sz="2400" dirty="0" smtClean="0"/>
              <a:t> [EL].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EL statements</a:t>
            </a:r>
            <a:r>
              <a:rPr lang="en-US" sz="2400" dirty="0" smtClean="0"/>
              <a:t> start with </a:t>
            </a:r>
            <a:r>
              <a:rPr lang="en-US" sz="2400" u="sng" dirty="0" smtClean="0"/>
              <a:t>a dollar sign</a:t>
            </a:r>
            <a:r>
              <a:rPr lang="en-US" sz="2400" dirty="0" smtClean="0"/>
              <a:t> and are </a:t>
            </a:r>
            <a:r>
              <a:rPr lang="en-US" sz="2400" u="sng" dirty="0" smtClean="0"/>
              <a:t>surrounded by curly braces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JSP and EL Demo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From JSPs </a:t>
            </a:r>
            <a:r>
              <a:rPr lang="en-US" dirty="0" smtClean="0">
                <a:sym typeface="Wingdings" pitchFamily="2" charset="2"/>
              </a:rPr>
              <a:t>to </a:t>
            </a:r>
            <a:r>
              <a:rPr lang="en-US" dirty="0" err="1" smtClean="0"/>
              <a:t>Servlets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JSPs look like HTML pages, but they can generate dynamic content.</a:t>
            </a:r>
          </a:p>
          <a:p>
            <a:r>
              <a:rPr lang="en-US" sz="2400" dirty="0" smtClean="0"/>
              <a:t>JSPs are abstractions: they are translated into Java programs known as </a:t>
            </a:r>
            <a:r>
              <a:rPr lang="en-US" sz="2400" i="1" dirty="0" err="1" smtClean="0">
                <a:solidFill>
                  <a:srgbClr val="C00000"/>
                </a:solidFill>
              </a:rPr>
              <a:t>servlets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program that </a:t>
            </a:r>
            <a:r>
              <a:rPr lang="en-US" sz="2400" u="sng" dirty="0" smtClean="0"/>
              <a:t>translates</a:t>
            </a:r>
            <a:r>
              <a:rPr lang="en-US" sz="2400" dirty="0" smtClean="0"/>
              <a:t> them into </a:t>
            </a:r>
            <a:r>
              <a:rPr lang="en-US" sz="2400" dirty="0" err="1" smtClean="0"/>
              <a:t>servlets</a:t>
            </a:r>
            <a:r>
              <a:rPr lang="en-US" sz="2400" dirty="0" smtClean="0"/>
              <a:t> is known as the </a:t>
            </a:r>
            <a:r>
              <a:rPr lang="en-US" sz="2400" i="1" dirty="0" err="1" smtClean="0">
                <a:solidFill>
                  <a:srgbClr val="C00000"/>
                </a:solidFill>
              </a:rPr>
              <a:t>servlet</a:t>
            </a:r>
            <a:r>
              <a:rPr lang="en-US" sz="2400" i="1" dirty="0" smtClean="0">
                <a:solidFill>
                  <a:srgbClr val="C00000"/>
                </a:solidFill>
              </a:rPr>
              <a:t> engine</a:t>
            </a:r>
            <a:r>
              <a:rPr lang="en-US" sz="2400" dirty="0" smtClean="0"/>
              <a:t>.</a:t>
            </a:r>
          </a:p>
          <a:p>
            <a:r>
              <a:rPr lang="en-US" sz="2400" dirty="0" err="1" smtClean="0"/>
              <a:t>Servlets</a:t>
            </a:r>
            <a:r>
              <a:rPr lang="en-US" sz="2400" dirty="0" smtClean="0"/>
              <a:t> only contain </a:t>
            </a:r>
            <a:r>
              <a:rPr lang="en-US" sz="2400" i="1" dirty="0" smtClean="0">
                <a:solidFill>
                  <a:srgbClr val="C00000"/>
                </a:solidFill>
              </a:rPr>
              <a:t>Java code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All the plain text from the JSP has been translated into </a:t>
            </a:r>
            <a:r>
              <a:rPr lang="en-US" sz="2400" i="1" dirty="0" smtClean="0">
                <a:solidFill>
                  <a:srgbClr val="C00000"/>
                </a:solidFill>
              </a:rPr>
              <a:t>write statements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EL statements have been translated into </a:t>
            </a:r>
            <a:r>
              <a:rPr lang="en-US" sz="2400" i="1" dirty="0" smtClean="0">
                <a:solidFill>
                  <a:srgbClr val="C00000"/>
                </a:solidFill>
              </a:rPr>
              <a:t>complicated Java expressions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Servlet</a:t>
            </a:r>
            <a:r>
              <a:rPr lang="en-US" dirty="0" smtClean="0"/>
              <a:t> Engine?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Web servers know how to deliver static content, but need separate programs to handle dynamic content.</a:t>
            </a:r>
          </a:p>
          <a:p>
            <a:r>
              <a:rPr lang="en-US" sz="2200" dirty="0" smtClean="0"/>
              <a:t>A </a:t>
            </a:r>
            <a:r>
              <a:rPr lang="en-US" sz="2200" i="1" dirty="0" err="1" smtClean="0">
                <a:solidFill>
                  <a:srgbClr val="C00000"/>
                </a:solidFill>
              </a:rPr>
              <a:t>servlet</a:t>
            </a:r>
            <a:r>
              <a:rPr lang="en-US" sz="2200" i="1" dirty="0" smtClean="0">
                <a:solidFill>
                  <a:srgbClr val="C00000"/>
                </a:solidFill>
              </a:rPr>
              <a:t> engine</a:t>
            </a:r>
            <a:r>
              <a:rPr lang="en-US" sz="2200" dirty="0" smtClean="0"/>
              <a:t> is </a:t>
            </a:r>
            <a:r>
              <a:rPr lang="en-US" sz="2200" u="sng" dirty="0" smtClean="0"/>
              <a:t>a program</a:t>
            </a:r>
            <a:r>
              <a:rPr lang="en-US" sz="2200" dirty="0" smtClean="0"/>
              <a:t> running on the server that knows how to </a:t>
            </a:r>
            <a:r>
              <a:rPr lang="en-US" sz="2200" u="sng" dirty="0" smtClean="0"/>
              <a:t>execute JSPs</a:t>
            </a:r>
            <a:r>
              <a:rPr lang="en-US" sz="2200" dirty="0" smtClean="0"/>
              <a:t> and </a:t>
            </a:r>
            <a:r>
              <a:rPr lang="en-US" sz="2200" u="sng" dirty="0" err="1" smtClean="0"/>
              <a:t>servlets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Some popular </a:t>
            </a:r>
            <a:r>
              <a:rPr lang="en-US" sz="2200" dirty="0" err="1" smtClean="0"/>
              <a:t>servlet</a:t>
            </a:r>
            <a:r>
              <a:rPr lang="en-US" sz="2200" dirty="0" smtClean="0"/>
              <a:t> engines are Tomcat, </a:t>
            </a:r>
            <a:r>
              <a:rPr lang="en-US" sz="2200" dirty="0" err="1" smtClean="0"/>
              <a:t>GlassFish</a:t>
            </a:r>
            <a:r>
              <a:rPr lang="en-US" sz="2200" dirty="0" smtClean="0"/>
              <a:t>, and </a:t>
            </a:r>
            <a:r>
              <a:rPr lang="en-US" sz="2200" dirty="0" err="1" smtClean="0"/>
              <a:t>JRun</a:t>
            </a:r>
            <a:r>
              <a:rPr lang="en-US" sz="2200" dirty="0" smtClean="0"/>
              <a:t>.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3500" y="3905250"/>
            <a:ext cx="6477000" cy="219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https://micronaut.io</a:t>
            </a:r>
            <a:r>
              <a:rPr lang="en-US" dirty="0" smtClean="0">
                <a:hlinkClick r:id="rId2"/>
              </a:rPr>
              <a:t>/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5590</TotalTime>
  <Words>1050</Words>
  <Application>Microsoft Office PowerPoint</Application>
  <PresentationFormat>On-screen Show (4:3)</PresentationFormat>
  <Paragraphs>140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Java EE Platform</vt:lpstr>
      <vt:lpstr>Objectives</vt:lpstr>
      <vt:lpstr>References</vt:lpstr>
      <vt:lpstr>1. Add JAVA_HOME Variable</vt:lpstr>
      <vt:lpstr>2. Verify JAVA_HOME Variable</vt:lpstr>
      <vt:lpstr>3. Install Maven</vt:lpstr>
      <vt:lpstr>4. Install Gradle</vt:lpstr>
      <vt:lpstr>4. Download Spring Boot CLI</vt:lpstr>
      <vt:lpstr>5. Install Spring Boot CLI</vt:lpstr>
      <vt:lpstr>Slide 10</vt:lpstr>
      <vt:lpstr>1. Create a Spring Project [1]</vt:lpstr>
      <vt:lpstr>2. Create a Spring Project using CLI</vt:lpstr>
      <vt:lpstr>3. Install IntelliJ IDEA</vt:lpstr>
      <vt:lpstr>4. Run the Demo Project</vt:lpstr>
      <vt:lpstr>Slide 15</vt:lpstr>
      <vt:lpstr>1. Create a Project with Spring Web</vt:lpstr>
      <vt:lpstr>2. Create the Coffee Class</vt:lpstr>
      <vt:lpstr>3. Create the RestApiDemoController Class</vt:lpstr>
      <vt:lpstr>4. Add the @RequestMapping Annotation</vt:lpstr>
      <vt:lpstr>5. Add the the Class-Level @RequestMapping Annotation</vt:lpstr>
      <vt:lpstr>6. Run the Application</vt:lpstr>
      <vt:lpstr>7. Test the APIs</vt:lpstr>
      <vt:lpstr>Slide 23</vt:lpstr>
      <vt:lpstr>Web Application</vt:lpstr>
      <vt:lpstr>Servlet Engine</vt:lpstr>
      <vt:lpstr>Java Archive [JAR] Files</vt:lpstr>
      <vt:lpstr>What is Maven?</vt:lpstr>
      <vt:lpstr>Maven Web Application</vt:lpstr>
      <vt:lpstr>1. Create a Web Application</vt:lpstr>
      <vt:lpstr>2. Open the Web Application</vt:lpstr>
      <vt:lpstr>3. Add the war Plugin to pom.xml</vt:lpstr>
      <vt:lpstr>4. Install the war Plugin</vt:lpstr>
      <vt:lpstr>Servlet Engine in Maven</vt:lpstr>
      <vt:lpstr>5. Add a Servlet Engine</vt:lpstr>
      <vt:lpstr>6. Run the  Servlet Engine</vt:lpstr>
      <vt:lpstr>Slide 36</vt:lpstr>
      <vt:lpstr>Java Server Page</vt:lpstr>
      <vt:lpstr>JSP and EL Demo</vt:lpstr>
      <vt:lpstr>From JSPs to Servlets</vt:lpstr>
      <vt:lpstr>What is Servlet Engine?</vt:lpstr>
      <vt:lpstr>Slide 41</vt:lpstr>
      <vt:lpstr>Slide 42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2853</cp:revision>
  <dcterms:created xsi:type="dcterms:W3CDTF">2007-10-06T08:25:13Z</dcterms:created>
  <dcterms:modified xsi:type="dcterms:W3CDTF">2022-11-16T17:24:37Z</dcterms:modified>
</cp:coreProperties>
</file>