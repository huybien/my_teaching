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2" r:id="rId2"/>
    <p:sldId id="380" r:id="rId3"/>
    <p:sldId id="381" r:id="rId4"/>
    <p:sldId id="285" r:id="rId5"/>
    <p:sldId id="398" r:id="rId6"/>
    <p:sldId id="401" r:id="rId7"/>
    <p:sldId id="402" r:id="rId8"/>
    <p:sldId id="403" r:id="rId9"/>
    <p:sldId id="406" r:id="rId10"/>
    <p:sldId id="409" r:id="rId11"/>
    <p:sldId id="404" r:id="rId12"/>
    <p:sldId id="405" r:id="rId13"/>
    <p:sldId id="407" r:id="rId14"/>
    <p:sldId id="396" r:id="rId15"/>
    <p:sldId id="408" r:id="rId16"/>
    <p:sldId id="411" r:id="rId17"/>
    <p:sldId id="412" r:id="rId18"/>
    <p:sldId id="413" r:id="rId19"/>
    <p:sldId id="399" r:id="rId20"/>
    <p:sldId id="40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78" autoAdjust="0"/>
    <p:restoredTop sz="94660"/>
  </p:normalViewPr>
  <p:slideViewPr>
    <p:cSldViewPr>
      <p:cViewPr>
        <p:scale>
          <a:sx n="50" d="100"/>
          <a:sy n="50" d="100"/>
        </p:scale>
        <p:origin x="-1620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31185-9D31-472E-A4C1-E109FAA53E08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C63F8-74DE-4EBD-9E3B-8C76B927D4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C163B-A334-4AF0-8F79-DA2B7EC4EC47}" type="datetimeFigureOut">
              <a:rPr lang="en-US" smtClean="0"/>
              <a:pPr/>
              <a:t>10/29/2021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etbootstrap.com/docs/5.1/getting-started/introduction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etbootstrap.com/docs/5.1/layout/grid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etbootstrap.com/docs/5.1/layout/container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etbootstrap.com/docs/5.1/layout/grid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etbootstrap.com/docs/5.1/content/reboot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fontawesome.com/download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ass-lang.com/install" TargetMode="External"/><Relationship Id="rId2" Type="http://schemas.openxmlformats.org/officeDocument/2006/relationships/hyperlink" Target="https://sass-lang.com/gui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etbootstrap.com/docs/5.1/customize/sass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awesome.com/v5.15/how-to-use/on-the-web/referencing-icons/basic-use" TargetMode="External"/><Relationship Id="rId2" Type="http://schemas.openxmlformats.org/officeDocument/2006/relationships/hyperlink" Target="https://getbootstrap.com/doc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Bootstrap and Font Awesome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a web page using Bootstrap.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add icons</a:t>
            </a:r>
            <a:r>
              <a:rPr lang="en-US" sz="2400" dirty="0" smtClean="0"/>
              <a:t> to a web page using Font Awesome.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Bootstrap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Grid System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Forms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Font Awesome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5867400" cy="39925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Bootstrap?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hlinkClick r:id="rId2"/>
              </a:rPr>
              <a:t>https://getbootstrap.com/</a:t>
            </a:r>
          </a:p>
          <a:p>
            <a:r>
              <a:rPr lang="en-US" sz="2200" dirty="0" smtClean="0"/>
              <a:t>The world’s most popular front-end open source toolkit, featuring Sass variables and </a:t>
            </a:r>
            <a:r>
              <a:rPr lang="en-US" sz="2200" dirty="0" err="1" smtClean="0"/>
              <a:t>mixins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responsive grid system</a:t>
            </a:r>
            <a:r>
              <a:rPr lang="en-US" sz="2200" dirty="0" smtClean="0"/>
              <a:t>, extensive prebuilt components, and powerful JavaScript </a:t>
            </a:r>
            <a:r>
              <a:rPr lang="en-US" sz="2200" dirty="0" err="1" smtClean="0"/>
              <a:t>plugins</a:t>
            </a:r>
            <a:r>
              <a:rPr lang="en-US" sz="2200" dirty="0" smtClean="0"/>
              <a:t>. </a:t>
            </a:r>
            <a:endParaRPr lang="en-US" sz="2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3505200"/>
            <a:ext cx="3365500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Bootstrap?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Quickly</a:t>
            </a:r>
            <a:r>
              <a:rPr lang="en-US" sz="2400" dirty="0" smtClean="0"/>
              <a:t> design and customize responsive mobile-first sites with Bootstrap, the world’s most popular front-end open source toolkit, featuring Sass variables and </a:t>
            </a:r>
            <a:r>
              <a:rPr lang="en-US" sz="2400" dirty="0" err="1" smtClean="0"/>
              <a:t>mixins</a:t>
            </a:r>
            <a:r>
              <a:rPr lang="en-US" sz="2400" dirty="0" smtClean="0"/>
              <a:t>, responsive grid system, extensive prebuilt components, and powerful JavaScript </a:t>
            </a:r>
            <a:r>
              <a:rPr lang="en-US" sz="2400" dirty="0" err="1" smtClean="0"/>
              <a:t>plugins</a:t>
            </a:r>
            <a:r>
              <a:rPr lang="en-US" sz="2400" dirty="0" smtClean="0"/>
              <a:t>. </a:t>
            </a:r>
            <a:endParaRPr lang="en-US" sz="2400" dirty="0"/>
          </a:p>
        </p:txBody>
      </p:sp>
      <p:pic>
        <p:nvPicPr>
          <p:cNvPr id="2052" name="Picture 4" descr="https://www.studytienganh.vn/upload/2017/12/4905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1" y="3937454"/>
            <a:ext cx="4052287" cy="20823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Hello Bootstrap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hlinkClick r:id="rId2"/>
              </a:rPr>
              <a:t>https://getbootstrap.com/docs/5.1/getting-started/introduction/</a:t>
            </a:r>
            <a:endParaRPr lang="en-US" sz="2200" dirty="0" smtClean="0"/>
          </a:p>
          <a:p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533400" y="2362200"/>
            <a:ext cx="8077200" cy="39703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&lt;!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doctype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html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html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lang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"en"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&lt;!-- Required meta tags --&gt;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meta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charset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"utf-8"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meta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"viewport"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content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"width=device-width, initial-scale=1"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&lt;!-- Bootstrap CSS --&gt;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link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href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"./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css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/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bootstrap.min.css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rel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stylesheet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Hello, Bootstrap!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Hello, Bootstrap!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&lt;!-- Optional JavaScript --&gt;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"./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/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bootstrap.bundle.min.js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html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4572000"/>
            <a:ext cx="2990850" cy="536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Grid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hlinkClick r:id="rId2"/>
              </a:rPr>
              <a:t>https://getbootstrap.com/docs/5.1/layout/grid/</a:t>
            </a:r>
            <a:endParaRPr lang="en-US" sz="2200" dirty="0" smtClean="0"/>
          </a:p>
          <a:p>
            <a:r>
              <a:rPr lang="en-US" sz="2200" dirty="0" smtClean="0"/>
              <a:t>Bootstrap’s </a:t>
            </a:r>
            <a:r>
              <a:rPr lang="en-US" sz="2200" i="1" dirty="0" smtClean="0">
                <a:solidFill>
                  <a:srgbClr val="C00000"/>
                </a:solidFill>
              </a:rPr>
              <a:t>grid system</a:t>
            </a:r>
            <a:r>
              <a:rPr lang="en-US" sz="2200" dirty="0" smtClean="0"/>
              <a:t> uses a series of </a:t>
            </a:r>
            <a:r>
              <a:rPr lang="en-US" sz="2200" u="sng" dirty="0" smtClean="0"/>
              <a:t>containers</a:t>
            </a:r>
            <a:r>
              <a:rPr lang="en-US" sz="2200" dirty="0" smtClean="0"/>
              <a:t>, </a:t>
            </a:r>
            <a:r>
              <a:rPr lang="en-US" sz="2200" u="sng" dirty="0" smtClean="0"/>
              <a:t>rows</a:t>
            </a:r>
            <a:r>
              <a:rPr lang="en-US" sz="2200" dirty="0" smtClean="0"/>
              <a:t>, and </a:t>
            </a:r>
            <a:r>
              <a:rPr lang="en-US" sz="2200" u="sng" dirty="0" smtClean="0"/>
              <a:t>columns</a:t>
            </a:r>
            <a:r>
              <a:rPr lang="en-US" sz="2200" dirty="0" smtClean="0"/>
              <a:t> to layout and align content.</a:t>
            </a:r>
          </a:p>
          <a:p>
            <a:r>
              <a:rPr lang="en-US" sz="2200" dirty="0" smtClean="0"/>
              <a:t>It’s built with </a:t>
            </a:r>
            <a:r>
              <a:rPr lang="en-US" sz="2200" dirty="0" err="1" smtClean="0"/>
              <a:t>flexbox</a:t>
            </a:r>
            <a:r>
              <a:rPr lang="en-US" sz="2200" dirty="0" smtClean="0"/>
              <a:t> and is fully responsive.</a:t>
            </a:r>
            <a:endParaRPr lang="en-US" sz="2200" dirty="0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3352800"/>
            <a:ext cx="5213994" cy="2932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Grid System: </a:t>
            </a:r>
            <a:r>
              <a:rPr lang="en-US" dirty="0" smtClean="0">
                <a:latin typeface="Consolas" pitchFamily="49" charset="0"/>
              </a:rPr>
              <a:t>container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grid-based layout needs to be inside </a:t>
            </a:r>
            <a:r>
              <a:rPr lang="en-US" sz="2400" b="1" dirty="0" smtClean="0">
                <a:latin typeface="Consolas" pitchFamily="49" charset="0"/>
              </a:rPr>
              <a:t>.container</a:t>
            </a:r>
            <a:r>
              <a:rPr lang="en-US" sz="2400" dirty="0" smtClean="0"/>
              <a:t> (or </a:t>
            </a:r>
            <a:r>
              <a:rPr lang="en-US" sz="2400" b="1" dirty="0" smtClean="0">
                <a:latin typeface="Consolas" pitchFamily="49" charset="0"/>
              </a:rPr>
              <a:t>.container-fluid</a:t>
            </a:r>
            <a:r>
              <a:rPr lang="en-US" sz="2400" dirty="0" smtClean="0"/>
              <a:t>).</a:t>
            </a:r>
            <a:endParaRPr lang="en-US" sz="22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819400"/>
            <a:ext cx="7058660" cy="3055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Containers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https://getbootstrap.com/docs/5.1/layout/containers/</a:t>
            </a:r>
            <a:endParaRPr lang="en-US" sz="2400" dirty="0" smtClean="0"/>
          </a:p>
          <a:p>
            <a:r>
              <a:rPr lang="en-US" sz="2400" dirty="0" smtClean="0"/>
              <a:t>Bootstrap comes with </a:t>
            </a:r>
            <a:r>
              <a:rPr lang="en-US" sz="2400" i="1" dirty="0" smtClean="0">
                <a:solidFill>
                  <a:srgbClr val="C00000"/>
                </a:solidFill>
              </a:rPr>
              <a:t>three different containers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.container</a:t>
            </a:r>
            <a:r>
              <a:rPr lang="en-US" sz="2000" dirty="0" smtClean="0"/>
              <a:t>, which sets a max-width at each responsive breakpoint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.container-fluid</a:t>
            </a:r>
            <a:r>
              <a:rPr lang="en-US" sz="2000" dirty="0" smtClean="0"/>
              <a:t>, which is width: 100% at all breakpoints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.container-{breakpoint}</a:t>
            </a:r>
            <a:r>
              <a:rPr lang="en-US" sz="2000" dirty="0" smtClean="0"/>
              <a:t>, which is width: 100% until the specified breakpoint</a:t>
            </a:r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4114800"/>
            <a:ext cx="5245100" cy="2271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Grid System: </a:t>
            </a:r>
            <a:r>
              <a:rPr lang="en-US" dirty="0" smtClean="0">
                <a:latin typeface="Consolas" pitchFamily="49" charset="0"/>
              </a:rPr>
              <a:t>row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All columns must be inside </a:t>
            </a:r>
            <a:r>
              <a:rPr lang="en-US" sz="2400" b="1" dirty="0" smtClean="0">
                <a:latin typeface="Consolas" pitchFamily="49" charset="0"/>
              </a:rPr>
              <a:t>.</a:t>
            </a:r>
            <a:r>
              <a:rPr lang="en-US" sz="2400" b="1" dirty="0" smtClean="0">
                <a:latin typeface="Consolas" pitchFamily="49" charset="0"/>
              </a:rPr>
              <a:t>row</a:t>
            </a:r>
            <a:r>
              <a:rPr lang="en-US" sz="2400" dirty="0" smtClean="0">
                <a:latin typeface="+mj-lt"/>
              </a:rPr>
              <a:t>.</a:t>
            </a:r>
            <a:endParaRPr lang="en-US" sz="2200" dirty="0">
              <a:latin typeface="+mj-lt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743200"/>
            <a:ext cx="7919501" cy="3033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Grid System: </a:t>
            </a:r>
            <a:r>
              <a:rPr lang="en-US" dirty="0" err="1" smtClean="0">
                <a:latin typeface="Consolas" pitchFamily="49" charset="0"/>
              </a:rPr>
              <a:t>col</a:t>
            </a:r>
            <a:r>
              <a:rPr lang="en-US" dirty="0" smtClean="0">
                <a:latin typeface="Consolas" pitchFamily="49" charset="0"/>
              </a:rPr>
              <a:t>-</a:t>
            </a:r>
            <a:endParaRPr lang="en-US" dirty="0">
              <a:latin typeface="Consolas" pitchFamily="49" charset="0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314450"/>
            <a:ext cx="6153793" cy="2356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2762250"/>
            <a:ext cx="5577693" cy="2089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181600" y="3752850"/>
            <a:ext cx="3505200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SIZE identifier identifies at which breakpoint specified column spans will be ignored and all elements </a:t>
            </a:r>
            <a:r>
              <a:rPr lang="en-US" dirty="0" err="1" smtClean="0"/>
              <a:t>willcollapse</a:t>
            </a:r>
            <a:r>
              <a:rPr lang="en-US" dirty="0" smtClean="0"/>
              <a:t> (i.e., stack).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5048250"/>
            <a:ext cx="7524750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Grid System: </a:t>
            </a:r>
            <a:r>
              <a:rPr lang="en-US" dirty="0" err="1" smtClean="0">
                <a:latin typeface="Consolas" pitchFamily="49" charset="0"/>
              </a:rPr>
              <a:t>col-xs</a:t>
            </a:r>
            <a:r>
              <a:rPr lang="en-US" dirty="0" smtClean="0">
                <a:latin typeface="Consolas" pitchFamily="49" charset="0"/>
              </a:rPr>
              <a:t>-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If no other rules apply, specifying </a:t>
            </a:r>
            <a:r>
              <a:rPr lang="en-US" sz="2200" b="1" dirty="0" err="1" smtClean="0">
                <a:latin typeface="Consolas" pitchFamily="49" charset="0"/>
              </a:rPr>
              <a:t>col-xs</a:t>
            </a:r>
            <a:r>
              <a:rPr lang="en-US" sz="2200" b="1" dirty="0" smtClean="0">
                <a:latin typeface="Consolas" pitchFamily="49" charset="0"/>
              </a:rPr>
              <a:t>-…</a:t>
            </a:r>
            <a:r>
              <a:rPr lang="en-US" sz="2200" dirty="0" smtClean="0"/>
              <a:t> will keep that layout no matter what the size of the screen.</a:t>
            </a:r>
          </a:p>
          <a:p>
            <a:r>
              <a:rPr lang="en-US" sz="2200" dirty="0" smtClean="0">
                <a:hlinkClick r:id="rId2"/>
              </a:rPr>
              <a:t>https://getbootstrap.com/docs/5.1/layout/grid/</a:t>
            </a:r>
            <a:endParaRPr lang="en-US" sz="2200" dirty="0" smtClean="0"/>
          </a:p>
          <a:p>
            <a:endParaRPr lang="en-US" sz="2200" dirty="0" smtClean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113" y="2905125"/>
            <a:ext cx="7597775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Bootstrap Grid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524000"/>
            <a:ext cx="8077200" cy="49552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"container-fluid"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"row"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"col-md-3 col-sm-6"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1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"col-md-3 col-sm-6"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2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"col-md-3 col-sm-6"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3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"col-md-3 col-sm-6"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4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"row"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"col-md-3 col-sm-6"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1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"col-md-3 col-sm-6"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2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"col-md-3 col-sm-6"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3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"col-md-3 col-sm-6"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4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"row"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"col-xs-6"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1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"col-xs-6"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2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"col-xs-6"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3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"col-xs-6"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Col 4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1752600"/>
            <a:ext cx="3102459" cy="721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2743200"/>
            <a:ext cx="3083116" cy="10574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4038600"/>
            <a:ext cx="2861310" cy="19697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Bootstrap Form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https://getbootstrap.com/docs/5.1/content/reboot/#forms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3400" y="2895600"/>
            <a:ext cx="8077200" cy="3416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"container"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"row"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"col-md-4 offset-md-4"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"login-form 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bg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-light mt-4 p-4"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form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method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"row g-3"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h4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Sign in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h4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"col-12"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label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Username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label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"text"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"username"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"form-control"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placeholder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"Username"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</a:p>
          <a:p>
            <a:r>
              <a:rPr lang="en-US" b="0" dirty="0" smtClean="0">
                <a:solidFill>
                  <a:srgbClr val="808080"/>
                </a:solidFill>
                <a:latin typeface="Consolas"/>
              </a:rPr>
              <a:t>...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2286000"/>
            <a:ext cx="2185035" cy="24079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Download Font Awesome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 smtClean="0">
                <a:hlinkClick r:id="rId2"/>
              </a:rPr>
              <a:t>https://fontawesome.com/download</a:t>
            </a:r>
            <a:endParaRPr lang="en-US" sz="2600" dirty="0" smtClean="0"/>
          </a:p>
          <a:p>
            <a:r>
              <a:rPr lang="en-US" sz="2400" dirty="0" smtClean="0"/>
              <a:t>Scroll </a:t>
            </a:r>
            <a:r>
              <a:rPr lang="en-US" sz="2400" dirty="0" smtClean="0"/>
              <a:t>down to th</a:t>
            </a:r>
            <a:r>
              <a:rPr lang="en-US" sz="2400" dirty="0" smtClean="0"/>
              <a:t>e </a:t>
            </a:r>
            <a:r>
              <a:rPr lang="en-US" sz="2400" b="1" dirty="0" smtClean="0"/>
              <a:t>Font Awesome 5</a:t>
            </a:r>
            <a:r>
              <a:rPr lang="en-US" sz="2400" dirty="0" smtClean="0"/>
              <a:t> section.</a:t>
            </a:r>
            <a:endParaRPr lang="en-US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2903074"/>
            <a:ext cx="6194528" cy="3040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Hello Font Awesome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447800"/>
            <a:ext cx="8077200" cy="50783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...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&lt;!-- 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FontAwesome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 CSS --&gt;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&lt;!-- load all styles --&gt;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link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href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"./fontawesome-free-5.15.4-web/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css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/all.css"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stylesheet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...</a:t>
            </a: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style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"float: left; width: 120px;"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&lt;!-- uses solid style --&gt;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fas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fa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-user"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i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Username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"text"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…</a:t>
            </a: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4648200"/>
            <a:ext cx="2914650" cy="1698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Sass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 smtClean="0">
                <a:hlinkClick r:id="rId2"/>
              </a:rPr>
              <a:t>https://sass-lang.com/documentation</a:t>
            </a:r>
            <a:endParaRPr lang="en-US" sz="2600" dirty="0" smtClean="0"/>
          </a:p>
          <a:p>
            <a:pPr lvl="1"/>
            <a:r>
              <a:rPr lang="en-US" sz="2100" i="1" dirty="0" smtClean="0">
                <a:solidFill>
                  <a:srgbClr val="C00000"/>
                </a:solidFill>
              </a:rPr>
              <a:t>Sass</a:t>
            </a:r>
            <a:r>
              <a:rPr lang="en-US" sz="2100" dirty="0" smtClean="0"/>
              <a:t> (Syntactically Awesome Style Sheets) is a </a:t>
            </a:r>
            <a:r>
              <a:rPr lang="en-US" sz="2100" dirty="0" err="1" smtClean="0"/>
              <a:t>stylesheet</a:t>
            </a:r>
            <a:r>
              <a:rPr lang="en-US" sz="2100" dirty="0" smtClean="0"/>
              <a:t> language that’s </a:t>
            </a:r>
            <a:r>
              <a:rPr lang="en-US" sz="2100" u="sng" dirty="0" smtClean="0"/>
              <a:t>compiled to CSS</a:t>
            </a:r>
            <a:r>
              <a:rPr lang="en-US" sz="2100" dirty="0" smtClean="0"/>
              <a:t>.</a:t>
            </a:r>
          </a:p>
          <a:p>
            <a:pPr lvl="1"/>
            <a:r>
              <a:rPr lang="en-US" sz="2100" dirty="0" smtClean="0"/>
              <a:t>It allows you to use </a:t>
            </a:r>
            <a:r>
              <a:rPr lang="en-US" sz="2100" i="1" dirty="0" smtClean="0">
                <a:solidFill>
                  <a:srgbClr val="C00000"/>
                </a:solidFill>
              </a:rPr>
              <a:t>variables</a:t>
            </a:r>
            <a:r>
              <a:rPr lang="en-US" sz="2100" dirty="0" smtClean="0"/>
              <a:t>, </a:t>
            </a:r>
            <a:r>
              <a:rPr lang="en-US" sz="2100" i="1" dirty="0" smtClean="0">
                <a:solidFill>
                  <a:srgbClr val="C00000"/>
                </a:solidFill>
              </a:rPr>
              <a:t>nested rules</a:t>
            </a:r>
            <a:r>
              <a:rPr lang="en-US" sz="2100" dirty="0" smtClean="0"/>
              <a:t>, </a:t>
            </a:r>
            <a:r>
              <a:rPr lang="en-US" sz="2100" i="1" dirty="0" err="1" smtClean="0">
                <a:solidFill>
                  <a:srgbClr val="C00000"/>
                </a:solidFill>
              </a:rPr>
              <a:t>mixins</a:t>
            </a:r>
            <a:r>
              <a:rPr lang="en-US" sz="2100" dirty="0" smtClean="0"/>
              <a:t>, </a:t>
            </a:r>
            <a:r>
              <a:rPr lang="en-US" sz="2100" i="1" dirty="0" smtClean="0">
                <a:solidFill>
                  <a:srgbClr val="C00000"/>
                </a:solidFill>
              </a:rPr>
              <a:t>functions</a:t>
            </a:r>
            <a:r>
              <a:rPr lang="en-US" sz="2100" dirty="0" smtClean="0"/>
              <a:t>, and more, all with a fully CSS-compatible syntax.</a:t>
            </a:r>
          </a:p>
          <a:p>
            <a:r>
              <a:rPr lang="en-US" sz="2600" dirty="0" smtClean="0">
                <a:hlinkClick r:id="rId3"/>
              </a:rPr>
              <a:t>https://sass-lang.com/install</a:t>
            </a:r>
            <a:endParaRPr lang="en-US" sz="2600" dirty="0" smtClean="0"/>
          </a:p>
          <a:p>
            <a:pPr lvl="1"/>
            <a:r>
              <a:rPr lang="en-US" sz="2100" dirty="0" smtClean="0"/>
              <a:t>When you install Sass on the command line, you'll be able to run </a:t>
            </a:r>
            <a:r>
              <a:rPr lang="en-US" sz="2100" i="1" dirty="0" smtClean="0">
                <a:solidFill>
                  <a:srgbClr val="C00000"/>
                </a:solidFill>
              </a:rPr>
              <a:t>the sass executable</a:t>
            </a:r>
            <a:r>
              <a:rPr lang="en-US" sz="2100" dirty="0" smtClean="0"/>
              <a:t> to </a:t>
            </a:r>
            <a:r>
              <a:rPr lang="en-US" sz="2100" u="sng" dirty="0" smtClean="0"/>
              <a:t>compile</a:t>
            </a:r>
            <a:r>
              <a:rPr lang="en-US" sz="2100" dirty="0" smtClean="0"/>
              <a:t> .sass and .</a:t>
            </a:r>
            <a:r>
              <a:rPr lang="en-US" sz="2100" dirty="0" err="1" smtClean="0"/>
              <a:t>scss</a:t>
            </a:r>
            <a:r>
              <a:rPr lang="en-US" sz="2100" dirty="0" smtClean="0"/>
              <a:t> files to .</a:t>
            </a:r>
            <a:r>
              <a:rPr lang="en-US" sz="2100" dirty="0" err="1" smtClean="0"/>
              <a:t>css</a:t>
            </a:r>
            <a:r>
              <a:rPr lang="en-US" sz="2100" dirty="0" smtClean="0"/>
              <a:t> files.</a:t>
            </a:r>
          </a:p>
          <a:p>
            <a:r>
              <a:rPr lang="en-US" sz="2600" dirty="0" smtClean="0">
                <a:hlinkClick r:id="rId4"/>
              </a:rPr>
              <a:t>https://getbootstrap.com/docs/5.1/customize/sass/</a:t>
            </a:r>
            <a:endParaRPr lang="en-US" sz="2600" dirty="0" smtClean="0"/>
          </a:p>
          <a:p>
            <a:pPr lvl="1"/>
            <a:r>
              <a:rPr lang="en-US" sz="2100" dirty="0" smtClean="0"/>
              <a:t>Learn how to theme, </a:t>
            </a:r>
            <a:r>
              <a:rPr lang="en-US" sz="2100" i="1" dirty="0" smtClean="0">
                <a:solidFill>
                  <a:srgbClr val="C00000"/>
                </a:solidFill>
              </a:rPr>
              <a:t>customize</a:t>
            </a:r>
            <a:r>
              <a:rPr lang="en-US" sz="2100" dirty="0" smtClean="0"/>
              <a:t>, and </a:t>
            </a:r>
            <a:r>
              <a:rPr lang="en-US" sz="2100" i="1" dirty="0" smtClean="0">
                <a:solidFill>
                  <a:srgbClr val="C00000"/>
                </a:solidFill>
              </a:rPr>
              <a:t>extend</a:t>
            </a:r>
            <a:r>
              <a:rPr lang="en-US" sz="2100" dirty="0" smtClean="0"/>
              <a:t> Bootstrap with Sass.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hlinkClick r:id="rId2"/>
              </a:rPr>
              <a:t>https://getbootstrap.com/docs</a:t>
            </a:r>
            <a:endParaRPr lang="en-US" sz="2200" dirty="0" smtClean="0"/>
          </a:p>
          <a:p>
            <a:r>
              <a:rPr lang="en-US" sz="2200" dirty="0" err="1" smtClean="0"/>
              <a:t>Panos</a:t>
            </a:r>
            <a:r>
              <a:rPr lang="en-US" sz="2200" dirty="0" smtClean="0"/>
              <a:t> </a:t>
            </a:r>
            <a:r>
              <a:rPr lang="en-US" sz="2200" dirty="0" err="1" smtClean="0"/>
              <a:t>Matsinopoulos</a:t>
            </a:r>
            <a:r>
              <a:rPr lang="en-US" sz="2200" dirty="0" smtClean="0"/>
              <a:t> (2020). Practical Bootstrap: Learn to Develop Responsively with One of the Most Popular CSS Frameworks. </a:t>
            </a:r>
            <a:r>
              <a:rPr lang="en-US" sz="2200" dirty="0" err="1" smtClean="0"/>
              <a:t>Apress</a:t>
            </a:r>
            <a:r>
              <a:rPr lang="en-US" sz="2200" dirty="0" smtClean="0"/>
              <a:t>.</a:t>
            </a:r>
          </a:p>
          <a:p>
            <a:r>
              <a:rPr lang="en-US" sz="2200" dirty="0" smtClean="0">
                <a:hlinkClick r:id="rId3"/>
              </a:rPr>
              <a:t>https://fontawesome.com/v5.15/how-to-use/on-the-web/referencing-icons/basic-use</a:t>
            </a:r>
            <a:endParaRPr lang="en-US" sz="2200" dirty="0" smtClean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1800" y="4159250"/>
            <a:ext cx="325120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Thank 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5512</TotalTime>
  <Words>445</Words>
  <Application>Microsoft Office PowerPoint</Application>
  <PresentationFormat>On-screen Show (4:3)</PresentationFormat>
  <Paragraphs>127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Bootstrap and Font Awesome</vt:lpstr>
      <vt:lpstr>Objectives</vt:lpstr>
      <vt:lpstr>Contents</vt:lpstr>
      <vt:lpstr>References</vt:lpstr>
      <vt:lpstr>What is Bootstrap?</vt:lpstr>
      <vt:lpstr>Why Use Bootstrap?</vt:lpstr>
      <vt:lpstr>Hello Bootstrap</vt:lpstr>
      <vt:lpstr>Grid System</vt:lpstr>
      <vt:lpstr>Grid System: container</vt:lpstr>
      <vt:lpstr>Containers</vt:lpstr>
      <vt:lpstr>Grid System: row</vt:lpstr>
      <vt:lpstr>Grid System: col-</vt:lpstr>
      <vt:lpstr>Grid System: col-xs-</vt:lpstr>
      <vt:lpstr>Bootstrap Grid Example</vt:lpstr>
      <vt:lpstr>Bootstrap Form Example</vt:lpstr>
      <vt:lpstr>Download Font Awesome</vt:lpstr>
      <vt:lpstr>Hello Font Awesome</vt:lpstr>
      <vt:lpstr>Introduction to Sass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Client</dc:title>
  <dc:creator>HuyBien</dc:creator>
  <cp:lastModifiedBy>Ngo Huy Bien</cp:lastModifiedBy>
  <cp:revision>2526</cp:revision>
  <dcterms:created xsi:type="dcterms:W3CDTF">2009-01-22T10:11:40Z</dcterms:created>
  <dcterms:modified xsi:type="dcterms:W3CDTF">2021-10-29T11:09:56Z</dcterms:modified>
</cp:coreProperties>
</file>