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479" r:id="rId2"/>
    <p:sldId id="480" r:id="rId3"/>
    <p:sldId id="481" r:id="rId4"/>
    <p:sldId id="465" r:id="rId5"/>
    <p:sldId id="466" r:id="rId6"/>
    <p:sldId id="467" r:id="rId7"/>
    <p:sldId id="468" r:id="rId8"/>
    <p:sldId id="469" r:id="rId9"/>
    <p:sldId id="476" r:id="rId10"/>
    <p:sldId id="478" r:id="rId11"/>
    <p:sldId id="477" r:id="rId12"/>
    <p:sldId id="470" r:id="rId13"/>
    <p:sldId id="471" r:id="rId14"/>
    <p:sldId id="472" r:id="rId15"/>
    <p:sldId id="473" r:id="rId16"/>
    <p:sldId id="474" r:id="rId17"/>
    <p:sldId id="475" r:id="rId18"/>
    <p:sldId id="464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0" autoAdjust="0"/>
    <p:restoredTop sz="94667" autoAdjust="0"/>
  </p:normalViewPr>
  <p:slideViewPr>
    <p:cSldViewPr>
      <p:cViewPr>
        <p:scale>
          <a:sx n="50" d="100"/>
          <a:sy n="50" d="100"/>
        </p:scale>
        <p:origin x="-162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8788B2-D072-42B4-8D8A-C0D124E6BC28}" type="datetimeFigureOut">
              <a:rPr lang="en-US"/>
              <a:pPr>
                <a:defRPr/>
              </a:pPr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1EEBA-33BA-44F0-95C6-D2B8EF867B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1952C-192D-4821-B649-2E0CA04C4511}" type="datetimeFigureOut">
              <a:rPr lang="en-US"/>
              <a:pPr>
                <a:defRPr/>
              </a:pPr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C2F6C-BE6D-436A-AADD-17766C5D8E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DC4DA-068B-4360-B747-02527662B78E}" type="datetimeFigureOut">
              <a:rPr lang="en-US"/>
              <a:pPr>
                <a:defRPr/>
              </a:pPr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FDCA7-CDFD-48D2-A0F9-6647A39A9D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40E06-657E-4D7E-A70A-198E1C22BE37}" type="datetimeFigureOut">
              <a:rPr lang="en-US"/>
              <a:pPr>
                <a:defRPr/>
              </a:pPr>
              <a:t>5/23/2022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9BAF20-3648-4F57-A332-98CF168B43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283A99-EB31-44C9-BDAA-12A752EDCECF}" type="datetimeFigureOut">
              <a:rPr lang="en-US"/>
              <a:pPr>
                <a:defRPr/>
              </a:pPr>
              <a:t>5/23/2022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EEE03-95E8-4EB0-9E91-229BBDD48C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112B8-7F14-4C2F-BC40-B9558BE4358B}" type="datetimeFigureOut">
              <a:rPr lang="en-US"/>
              <a:pPr>
                <a:defRPr/>
              </a:pPr>
              <a:t>5/23/2022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31928-B512-4B17-8B51-E81157E860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0651A-94B2-4F67-8F24-D862ACCA68FB}" type="datetimeFigureOut">
              <a:rPr lang="en-US"/>
              <a:pPr>
                <a:defRPr/>
              </a:pPr>
              <a:t>5/23/2022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58576-A286-49B4-8248-6595C5261B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1FEFD-D06C-4A16-BB5B-D232FD6C1673}" type="datetimeFigureOut">
              <a:rPr lang="en-US"/>
              <a:pPr>
                <a:defRPr/>
              </a:pPr>
              <a:t>5/23/2022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B2D05-4637-45E6-B13C-155A14DA3E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25E22-371E-4683-A2E7-070015375487}" type="datetimeFigureOut">
              <a:rPr lang="en-US"/>
              <a:pPr>
                <a:defRPr/>
              </a:pPr>
              <a:t>5/23/2022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AA722-D044-4732-B3C8-D406AA14C2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DC5F4-F7BB-411D-85E6-F9BF4FBB9066}" type="datetimeFigureOut">
              <a:rPr lang="en-US"/>
              <a:pPr>
                <a:defRPr/>
              </a:pPr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3D8A9-F91B-4AA4-9412-7D185025B9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ECF63F-29B2-4482-B6EF-B6342F965599}" type="datetimeFigureOut">
              <a:rPr lang="en-US"/>
              <a:pPr>
                <a:defRPr/>
              </a:pPr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52EFD-9818-4DF5-9596-7CB4E745B4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8FB8FE2-2943-450E-BB6C-3F2395506934}" type="datetimeFigureOut">
              <a:rPr lang="en-US"/>
              <a:pPr>
                <a:defRPr/>
              </a:pPr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2E3C7B-2ABA-41DA-9FF6-2517B36E50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SWS5/api/PDFParser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server/api/news/1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ASP.NET Web 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it-IT" sz="2400" dirty="0" smtClean="0"/>
              <a:t>Dino Esposito (2014). Programming Microsoft ASP.NET MVC. Microsoft Press.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Web API? </a:t>
            </a:r>
            <a:r>
              <a:rPr lang="en-US" smtClean="0"/>
              <a:t>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Web API is a well-designed framework for building both </a:t>
            </a:r>
            <a:r>
              <a:rPr lang="en-US" sz="2400" dirty="0" err="1" smtClean="0"/>
              <a:t>RESTful</a:t>
            </a:r>
            <a:r>
              <a:rPr lang="en-US" sz="2400" dirty="0" smtClean="0"/>
              <a:t> (Representational State Transfer) and remote procedure calls (RPC)–style HTTP services for .NET applications.</a:t>
            </a:r>
          </a:p>
          <a:p>
            <a:r>
              <a:rPr lang="en-US" sz="2400" dirty="0" smtClean="0"/>
              <a:t>Web API intersects various aspects of ASP.NET MVC such as routing, security, controllers, and extensibility and has specific areas not directly supported by plain ASP.NET MVC. 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WCF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WCF was initially conceived to support SOAP and WS-* over a wide variety of transportation layers including TCP, Message Queuing (MSMQ), named pipes, and last but not least, HTTP.</a:t>
            </a:r>
          </a:p>
          <a:p>
            <a:r>
              <a:rPr lang="en-US" sz="2200" dirty="0" smtClean="0"/>
              <a:t>Developers were mostly using it as a shortcut to </a:t>
            </a:r>
            <a:r>
              <a:rPr lang="en-US" sz="2200" i="1" dirty="0" smtClean="0">
                <a:solidFill>
                  <a:srgbClr val="C00000"/>
                </a:solidFill>
              </a:rPr>
              <a:t>HTTP endpoints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HTTP facilities on top of WCF didn’t eliminate the true roadblocks that developers were facing such as notorious WCF </a:t>
            </a:r>
            <a:r>
              <a:rPr lang="en-US" sz="2200" i="1" dirty="0" smtClean="0">
                <a:solidFill>
                  <a:srgbClr val="C00000"/>
                </a:solidFill>
              </a:rPr>
              <a:t>over-configuration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overuse of attributes</a:t>
            </a:r>
            <a:r>
              <a:rPr lang="en-US" sz="2200" dirty="0" smtClean="0"/>
              <a:t>, and its structure not being specifically </a:t>
            </a:r>
            <a:r>
              <a:rPr lang="en-US" sz="2200" i="1" dirty="0" smtClean="0">
                <a:solidFill>
                  <a:srgbClr val="C00000"/>
                </a:solidFill>
              </a:rPr>
              <a:t>designed for testability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The key change was separating </a:t>
            </a:r>
            <a:r>
              <a:rPr lang="en-US" sz="2200" dirty="0" err="1" smtClean="0"/>
              <a:t>multitransport</a:t>
            </a:r>
            <a:r>
              <a:rPr lang="en-US" sz="2200" dirty="0" smtClean="0"/>
              <a:t> services from plain HTTP services and removing all the heavy machinery of WCF to create a thin and HTTP-focused framework for HTTP services. This is Web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Web API means for Client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HTTP protocol seems to be as effective as SOAP but far </a:t>
            </a:r>
            <a:r>
              <a:rPr lang="en-US" sz="2400" i="1" dirty="0" smtClean="0">
                <a:solidFill>
                  <a:srgbClr val="C00000"/>
                </a:solidFill>
              </a:rPr>
              <a:t>simpler</a:t>
            </a:r>
            <a:r>
              <a:rPr lang="en-US" sz="2400" dirty="0" smtClean="0"/>
              <a:t> and subsequently </a:t>
            </a:r>
            <a:r>
              <a:rPr lang="en-US" sz="2400" i="1" dirty="0" smtClean="0">
                <a:solidFill>
                  <a:srgbClr val="C00000"/>
                </a:solidFill>
              </a:rPr>
              <a:t>faster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You can use </a:t>
            </a:r>
            <a:r>
              <a:rPr lang="en-US" sz="2400" i="1" dirty="0" smtClean="0">
                <a:solidFill>
                  <a:srgbClr val="C00000"/>
                </a:solidFill>
              </a:rPr>
              <a:t>HTTP verbs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headers</a:t>
            </a:r>
            <a:r>
              <a:rPr lang="en-US" sz="2400" dirty="0" smtClean="0"/>
              <a:t> to identify operations to perform on remote resources; you can use URL templates to express semantics if you prefer an approach that focuses more on actions.</a:t>
            </a:r>
          </a:p>
          <a:p>
            <a:r>
              <a:rPr lang="en-US" sz="2400" dirty="0" smtClean="0"/>
              <a:t>Either way, you use the </a:t>
            </a:r>
            <a:r>
              <a:rPr lang="en-US" sz="2400" i="1" dirty="0" smtClean="0">
                <a:solidFill>
                  <a:srgbClr val="C00000"/>
                </a:solidFill>
              </a:rPr>
              <a:t>body</a:t>
            </a:r>
            <a:r>
              <a:rPr lang="en-US" sz="2400" dirty="0" smtClean="0"/>
              <a:t> of messages to serialize any input value and receive content.</a:t>
            </a:r>
          </a:p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JSON format</a:t>
            </a:r>
            <a:r>
              <a:rPr lang="en-US" sz="2400" dirty="0" smtClean="0"/>
              <a:t> is ideal to serialize objects between clients and HTTP services.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Web API means for ASP.NET Web Forms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is not to say that in Web Forms you can’t expose HTTP endpoints to be called back from client pages; you can use HTTP handlers or WCF services with freely generated JavaScript proxy classes.</a:t>
            </a:r>
          </a:p>
          <a:p>
            <a:r>
              <a:rPr lang="en-US" sz="2400" dirty="0" smtClean="0"/>
              <a:t>In the end, it works, but coding that is more and more perceived as bothersome.</a:t>
            </a:r>
          </a:p>
          <a:p>
            <a:r>
              <a:rPr lang="en-US" sz="2400" dirty="0" smtClean="0"/>
              <a:t>Web API makes exposing an HTTP service from a Web Forms application as easy as it is to have a controller in ASP.NET MVC: just add a class and it works according to predefined routing rules. Don’t like the default routing rules? Adding your own rules is easy, too!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MVC Controllers vs. Web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Decoupling code from serialization of results </a:t>
            </a:r>
          </a:p>
          <a:p>
            <a:r>
              <a:rPr lang="en-US" sz="2400" b="1" dirty="0" smtClean="0"/>
              <a:t>Content negotiation</a:t>
            </a:r>
            <a:r>
              <a:rPr lang="en-US" sz="2400" dirty="0" smtClean="0"/>
              <a:t> A new family of components called formatters take care of the serialization of the data being returned to the requesting device.</a:t>
            </a:r>
          </a:p>
          <a:p>
            <a:r>
              <a:rPr lang="en-US" sz="2400" b="1" dirty="0" smtClean="0"/>
              <a:t>Hosting outside Internet Information Services (IIS)</a:t>
            </a:r>
          </a:p>
          <a:p>
            <a:r>
              <a:rPr lang="en-US" sz="2400" b="1" dirty="0" smtClean="0"/>
              <a:t>Building </a:t>
            </a:r>
            <a:r>
              <a:rPr lang="en-US" sz="2400" b="1" dirty="0" err="1" smtClean="0"/>
              <a:t>RESTful</a:t>
            </a:r>
            <a:r>
              <a:rPr lang="en-US" sz="2400" b="1" dirty="0" smtClean="0"/>
              <a:t> applications</a:t>
            </a:r>
            <a:endParaRPr lang="en-US" sz="2400" dirty="0" smtClean="0"/>
          </a:p>
          <a:p>
            <a:r>
              <a:rPr lang="en-US" sz="2400" dirty="0" smtClean="0"/>
              <a:t>Web API doesn’t really add much power to ASP.NET MVC development to be considered a must-have feature.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WebApi</a:t>
            </a:r>
            <a:r>
              <a:rPr lang="en-US" dirty="0" smtClean="0"/>
              <a:t> </a:t>
            </a:r>
            <a:r>
              <a:rPr lang="en-US" dirty="0" smtClean="0"/>
              <a:t>Packages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905000"/>
            <a:ext cx="7772400" cy="3954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Add Route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Consolas" pitchFamily="49" charset="0"/>
              </a:rPr>
              <a:t>In </a:t>
            </a:r>
            <a:r>
              <a:rPr lang="en-US" b="1" dirty="0" err="1" smtClean="0">
                <a:latin typeface="Consolas" pitchFamily="49" charset="0"/>
              </a:rPr>
              <a:t>Application_Start</a:t>
            </a:r>
            <a:endParaRPr lang="en-US" b="1" dirty="0">
              <a:latin typeface="Consolas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347079"/>
            <a:ext cx="8229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private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ConfigureWebAPI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{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dirty="0" err="1" smtClean="0">
                <a:solidFill>
                  <a:srgbClr val="2B91AF"/>
                </a:solidFill>
                <a:latin typeface="Consolas"/>
              </a:rPr>
              <a:t>RouteTable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.Routes.MapHttpRoute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      name: 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A31515"/>
                </a:solidFill>
                <a:latin typeface="Consolas"/>
              </a:rPr>
              <a:t>WebAPI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     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routeTemplate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dirty="0" err="1" smtClean="0">
                <a:solidFill>
                  <a:srgbClr val="A31515"/>
                </a:solidFill>
                <a:latin typeface="Consolas"/>
              </a:rPr>
              <a:t>api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/{</a:t>
            </a:r>
            <a:r>
              <a:rPr lang="en-US" b="1" dirty="0" smtClean="0">
                <a:solidFill>
                  <a:srgbClr val="A31515"/>
                </a:solidFill>
                <a:latin typeface="Consolas"/>
              </a:rPr>
              <a:t>controller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}/{id}"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,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      defaults: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new</a:t>
            </a:r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      {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          id = </a:t>
            </a:r>
            <a:r>
              <a:rPr lang="en-US" dirty="0" err="1" smtClean="0">
                <a:solidFill>
                  <a:srgbClr val="2B91AF"/>
                </a:solidFill>
                <a:latin typeface="Consolas"/>
              </a:rPr>
              <a:t>RouteParameter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.Optional</a:t>
            </a:r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      }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    );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}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</a:t>
            </a:r>
            <a:r>
              <a:rPr lang="en-US" dirty="0" err="1" smtClean="0"/>
              <a:t>Api</a:t>
            </a:r>
            <a:r>
              <a:rPr lang="en-US" dirty="0" smtClean="0"/>
              <a:t> 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0"/>
            <a:ext cx="8229600" cy="1554163"/>
          </a:xfrm>
        </p:spPr>
        <p:txBody>
          <a:bodyPr/>
          <a:lstStyle/>
          <a:p>
            <a:r>
              <a:rPr lang="en-US" sz="2400" dirty="0" smtClean="0">
                <a:hlinkClick r:id="rId2"/>
              </a:rPr>
              <a:t>http://localhost/SWS5/api/PDFParser/</a:t>
            </a:r>
            <a:endParaRPr lang="en-US" sz="2400" dirty="0" smtClean="0"/>
          </a:p>
          <a:p>
            <a:r>
              <a:rPr lang="en-US" sz="2400" dirty="0" smtClean="0"/>
              <a:t>curl -X GET -v http://localhost/SWS5/api/pdfparser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7162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 smtClean="0">
                <a:solidFill>
                  <a:srgbClr val="2B91AF"/>
                </a:solidFill>
                <a:latin typeface="Consolas"/>
              </a:rPr>
              <a:t>PDFParser</a:t>
            </a:r>
            <a:r>
              <a:rPr lang="en-US" dirty="0" err="1" smtClean="0">
                <a:solidFill>
                  <a:srgbClr val="2B91AF"/>
                </a:solidFill>
                <a:latin typeface="Consolas"/>
              </a:rPr>
              <a:t>Controller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dirty="0" err="1" smtClean="0">
                <a:solidFill>
                  <a:srgbClr val="2B91AF"/>
                </a:solidFill>
                <a:latin typeface="Consolas"/>
              </a:rPr>
              <a:t>ApiController</a:t>
            </a:r>
            <a:endParaRPr lang="en-US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{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[</a:t>
            </a:r>
            <a:r>
              <a:rPr lang="en-US" dirty="0" err="1" smtClean="0">
                <a:solidFill>
                  <a:srgbClr val="2B91AF"/>
                </a:solidFill>
                <a:latin typeface="Consolas"/>
              </a:rPr>
              <a:t>HttpGet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2B91AF"/>
                </a:solidFill>
                <a:latin typeface="Consolas"/>
              </a:rPr>
              <a:t>IHttpActionResult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Hello()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{            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dirty="0" err="1" smtClean="0">
                <a:solidFill>
                  <a:srgbClr val="0000FF"/>
                </a:solidFill>
                <a:latin typeface="Consolas"/>
              </a:rPr>
              <a:t>var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helloWorld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smtClean="0">
                <a:solidFill>
                  <a:srgbClr val="A31515"/>
                </a:solidFill>
                <a:latin typeface="Consolas"/>
              </a:rPr>
              <a:t>"Hello from PDF Parser!"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Json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{ hello = 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helloWorld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 });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        }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API </a:t>
            </a:r>
            <a:r>
              <a:rPr lang="en-US" dirty="0" smtClean="0"/>
              <a:t>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Web API module</a:t>
            </a:r>
            <a:r>
              <a:rPr lang="en-US" sz="2400" dirty="0" smtClean="0"/>
              <a:t> is a </a:t>
            </a:r>
            <a:r>
              <a:rPr lang="en-US" sz="2400" u="sng" dirty="0" smtClean="0"/>
              <a:t>collection of controller classes</a:t>
            </a:r>
            <a:r>
              <a:rPr lang="en-US" sz="2400" dirty="0" smtClean="0"/>
              <a:t> that inherit from </a:t>
            </a:r>
            <a:r>
              <a:rPr lang="en-US" sz="2400" u="sng" dirty="0" smtClean="0"/>
              <a:t>predefined</a:t>
            </a:r>
            <a:r>
              <a:rPr lang="en-US" sz="2400" dirty="0" smtClean="0"/>
              <a:t> </a:t>
            </a:r>
            <a:r>
              <a:rPr lang="en-US" sz="2400" b="1" i="1" dirty="0" err="1" smtClean="0">
                <a:latin typeface="Consolas" pitchFamily="49" charset="0"/>
              </a:rPr>
              <a:t>ApiController</a:t>
            </a:r>
            <a:r>
              <a:rPr lang="en-US" sz="2400" i="1" dirty="0" smtClean="0"/>
              <a:t>.</a:t>
            </a:r>
          </a:p>
          <a:p>
            <a:r>
              <a:rPr lang="en-US" sz="2400" dirty="0" smtClean="0"/>
              <a:t>A Web API module is </a:t>
            </a:r>
            <a:r>
              <a:rPr lang="en-US" sz="2400" i="1" dirty="0" smtClean="0">
                <a:solidFill>
                  <a:srgbClr val="C00000"/>
                </a:solidFill>
              </a:rPr>
              <a:t>a stand-alone HTTP-based service</a:t>
            </a:r>
            <a:r>
              <a:rPr lang="en-US" sz="2400" dirty="0" smtClean="0"/>
              <a:t> that can be hosted by a number of applications, with an ASP.NET MVC application being probably the most common type of host.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the resource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resource type is commonly defined as a plain data transfer object (DTO), ultimately a plain C# class.</a:t>
            </a:r>
          </a:p>
          <a:p>
            <a:pPr lvl="1">
              <a:buNone/>
            </a:pPr>
            <a:r>
              <a:rPr lang="en-US" sz="2400" dirty="0" smtClean="0">
                <a:latin typeface="Consolas" pitchFamily="49" charset="0"/>
              </a:rPr>
              <a:t>public class News</a:t>
            </a:r>
          </a:p>
          <a:p>
            <a:pPr lvl="1">
              <a:buNone/>
            </a:pPr>
            <a:r>
              <a:rPr lang="en-US" sz="2400" dirty="0" smtClean="0">
                <a:latin typeface="Consolas" pitchFamily="49" charset="0"/>
              </a:rPr>
              <a:t>{</a:t>
            </a:r>
          </a:p>
          <a:p>
            <a:pPr lvl="2">
              <a:buNone/>
            </a:pPr>
            <a:r>
              <a:rPr lang="en-US" dirty="0" smtClean="0">
                <a:latin typeface="Consolas" pitchFamily="49" charset="0"/>
              </a:rPr>
              <a:t>public String Title { get; set; }</a:t>
            </a:r>
          </a:p>
          <a:p>
            <a:pPr lvl="2">
              <a:buNone/>
            </a:pPr>
            <a:r>
              <a:rPr lang="en-US" dirty="0" smtClean="0">
                <a:latin typeface="Consolas" pitchFamily="49" charset="0"/>
              </a:rPr>
              <a:t>public String Content { get; set; }</a:t>
            </a:r>
          </a:p>
          <a:p>
            <a:pPr lvl="2">
              <a:buNone/>
            </a:pPr>
            <a:r>
              <a:rPr lang="en-US" dirty="0" smtClean="0">
                <a:latin typeface="Consolas" pitchFamily="49" charset="0"/>
              </a:rPr>
              <a:t>public </a:t>
            </a:r>
            <a:r>
              <a:rPr lang="en-US" dirty="0" err="1" smtClean="0">
                <a:latin typeface="Consolas" pitchFamily="49" charset="0"/>
              </a:rPr>
              <a:t>DateTime</a:t>
            </a:r>
            <a:r>
              <a:rPr lang="en-US" dirty="0" smtClean="0">
                <a:latin typeface="Consolas" pitchFamily="49" charset="0"/>
              </a:rPr>
              <a:t> Published { get; set; }</a:t>
            </a:r>
          </a:p>
          <a:p>
            <a:pPr lvl="1">
              <a:buNone/>
            </a:pPr>
            <a:r>
              <a:rPr lang="en-US" sz="2400" dirty="0" smtClean="0">
                <a:latin typeface="Consolas" pitchFamily="49" charset="0"/>
              </a:rPr>
              <a:t>}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Controller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dirty="0" smtClean="0">
                <a:latin typeface="Consolas" pitchFamily="49" charset="0"/>
              </a:rPr>
              <a:t>public class </a:t>
            </a:r>
            <a:r>
              <a:rPr lang="en-US" sz="1600" dirty="0" err="1" smtClean="0">
                <a:latin typeface="Consolas" pitchFamily="49" charset="0"/>
              </a:rPr>
              <a:t>NewsController</a:t>
            </a:r>
            <a:r>
              <a:rPr lang="en-US" sz="1600" dirty="0" smtClean="0">
                <a:latin typeface="Consolas" pitchFamily="49" charset="0"/>
              </a:rPr>
              <a:t> : </a:t>
            </a:r>
            <a:r>
              <a:rPr lang="en-US" sz="1600" dirty="0" err="1" smtClean="0">
                <a:latin typeface="Consolas" pitchFamily="49" charset="0"/>
              </a:rPr>
              <a:t>ApiController</a:t>
            </a:r>
            <a:endParaRPr lang="en-US" sz="1600" dirty="0" smtClean="0">
              <a:latin typeface="Consolas" pitchFamily="49" charset="0"/>
            </a:endParaRPr>
          </a:p>
          <a:p>
            <a:pPr>
              <a:buNone/>
            </a:pPr>
            <a:r>
              <a:rPr lang="en-US" sz="1600" dirty="0" smtClean="0">
                <a:latin typeface="Consolas" pitchFamily="49" charset="0"/>
              </a:rPr>
              <a:t>{</a:t>
            </a:r>
          </a:p>
          <a:p>
            <a:pPr lvl="1">
              <a:buNone/>
            </a:pPr>
            <a:r>
              <a:rPr lang="en-US" sz="1600" dirty="0" smtClean="0">
                <a:latin typeface="Consolas" pitchFamily="49" charset="0"/>
              </a:rPr>
              <a:t>public </a:t>
            </a:r>
            <a:r>
              <a:rPr lang="en-US" sz="1600" dirty="0" err="1" smtClean="0">
                <a:latin typeface="Consolas" pitchFamily="49" charset="0"/>
              </a:rPr>
              <a:t>IEnumerable</a:t>
            </a:r>
            <a:r>
              <a:rPr lang="en-US" sz="1600" dirty="0" smtClean="0">
                <a:latin typeface="Consolas" pitchFamily="49" charset="0"/>
              </a:rPr>
              <a:t>&lt;News&gt; </a:t>
            </a:r>
            <a:r>
              <a:rPr lang="en-US" sz="1600" dirty="0" err="1" smtClean="0">
                <a:latin typeface="Consolas" pitchFamily="49" charset="0"/>
              </a:rPr>
              <a:t>GetAll</a:t>
            </a:r>
            <a:r>
              <a:rPr lang="en-US" sz="1600" dirty="0" smtClean="0">
                <a:latin typeface="Consolas" pitchFamily="49" charset="0"/>
              </a:rPr>
              <a:t>()</a:t>
            </a:r>
          </a:p>
          <a:p>
            <a:pPr lvl="1">
              <a:buNone/>
            </a:pPr>
            <a:r>
              <a:rPr lang="en-US" sz="1600" dirty="0" smtClean="0">
                <a:latin typeface="Consolas" pitchFamily="49" charset="0"/>
              </a:rPr>
              <a:t>{</a:t>
            </a:r>
          </a:p>
          <a:p>
            <a:pPr lvl="2">
              <a:buNone/>
            </a:pPr>
            <a:r>
              <a:rPr lang="en-US" sz="1600" dirty="0" err="1" smtClean="0">
                <a:latin typeface="Consolas" pitchFamily="49" charset="0"/>
              </a:rPr>
              <a:t>var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url</a:t>
            </a:r>
            <a:r>
              <a:rPr lang="en-US" sz="1600" dirty="0" smtClean="0">
                <a:latin typeface="Consolas" pitchFamily="49" charset="0"/>
              </a:rPr>
              <a:t> = ...;</a:t>
            </a:r>
          </a:p>
          <a:p>
            <a:pPr lvl="2">
              <a:buNone/>
            </a:pPr>
            <a:r>
              <a:rPr lang="en-US" sz="1600" dirty="0" err="1" smtClean="0">
                <a:latin typeface="Consolas" pitchFamily="49" charset="0"/>
              </a:rPr>
              <a:t>var</a:t>
            </a:r>
            <a:r>
              <a:rPr lang="en-US" sz="1600" dirty="0" smtClean="0">
                <a:latin typeface="Consolas" pitchFamily="49" charset="0"/>
              </a:rPr>
              <a:t> client = new </a:t>
            </a:r>
            <a:r>
              <a:rPr lang="en-US" sz="1600" dirty="0" err="1" smtClean="0">
                <a:latin typeface="Consolas" pitchFamily="49" charset="0"/>
              </a:rPr>
              <a:t>WebClient</a:t>
            </a:r>
            <a:r>
              <a:rPr lang="en-US" sz="1600" dirty="0" smtClean="0">
                <a:latin typeface="Consolas" pitchFamily="49" charset="0"/>
              </a:rPr>
              <a:t>();</a:t>
            </a:r>
          </a:p>
          <a:p>
            <a:pPr lvl="2">
              <a:buNone/>
            </a:pPr>
            <a:r>
              <a:rPr lang="en-US" sz="1600" dirty="0" err="1" smtClean="0">
                <a:latin typeface="Consolas" pitchFamily="49" charset="0"/>
              </a:rPr>
              <a:t>var</a:t>
            </a:r>
            <a:r>
              <a:rPr lang="en-US" sz="1600" dirty="0" smtClean="0">
                <a:latin typeface="Consolas" pitchFamily="49" charset="0"/>
              </a:rPr>
              <a:t> </a:t>
            </a:r>
            <a:r>
              <a:rPr lang="en-US" sz="1600" dirty="0" err="1" smtClean="0">
                <a:latin typeface="Consolas" pitchFamily="49" charset="0"/>
              </a:rPr>
              <a:t>rss</a:t>
            </a:r>
            <a:r>
              <a:rPr lang="en-US" sz="1600" dirty="0" smtClean="0">
                <a:latin typeface="Consolas" pitchFamily="49" charset="0"/>
              </a:rPr>
              <a:t> = </a:t>
            </a:r>
            <a:r>
              <a:rPr lang="en-US" sz="1600" dirty="0" err="1" smtClean="0">
                <a:latin typeface="Consolas" pitchFamily="49" charset="0"/>
              </a:rPr>
              <a:t>client.DownloadString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url</a:t>
            </a:r>
            <a:r>
              <a:rPr lang="en-US" sz="1600" dirty="0" smtClean="0">
                <a:latin typeface="Consolas" pitchFamily="49" charset="0"/>
              </a:rPr>
              <a:t>);</a:t>
            </a:r>
          </a:p>
          <a:p>
            <a:pPr lvl="2">
              <a:buNone/>
            </a:pPr>
            <a:r>
              <a:rPr lang="en-US" sz="1600" dirty="0" err="1" smtClean="0">
                <a:latin typeface="Consolas" pitchFamily="49" charset="0"/>
              </a:rPr>
              <a:t>var</a:t>
            </a:r>
            <a:r>
              <a:rPr lang="en-US" sz="1600" dirty="0" smtClean="0">
                <a:latin typeface="Consolas" pitchFamily="49" charset="0"/>
              </a:rPr>
              <a:t> news = </a:t>
            </a:r>
            <a:r>
              <a:rPr lang="en-US" sz="1600" dirty="0" err="1" smtClean="0">
                <a:latin typeface="Consolas" pitchFamily="49" charset="0"/>
              </a:rPr>
              <a:t>ParseRssInternal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rss</a:t>
            </a:r>
            <a:r>
              <a:rPr lang="en-US" sz="1600" dirty="0" smtClean="0">
                <a:latin typeface="Consolas" pitchFamily="49" charset="0"/>
              </a:rPr>
              <a:t>);</a:t>
            </a:r>
          </a:p>
          <a:p>
            <a:pPr lvl="2">
              <a:buNone/>
            </a:pPr>
            <a:r>
              <a:rPr lang="en-US" sz="1600" dirty="0" smtClean="0">
                <a:latin typeface="Consolas" pitchFamily="49" charset="0"/>
              </a:rPr>
              <a:t>return news;</a:t>
            </a:r>
          </a:p>
          <a:p>
            <a:pPr lvl="1">
              <a:buNone/>
            </a:pPr>
            <a:r>
              <a:rPr lang="en-US" sz="1600" dirty="0" smtClean="0">
                <a:latin typeface="Consolas" pitchFamily="49" charset="0"/>
              </a:rPr>
              <a:t>}</a:t>
            </a:r>
          </a:p>
          <a:p>
            <a:pPr lvl="1">
              <a:buNone/>
            </a:pPr>
            <a:r>
              <a:rPr lang="en-US" sz="1600" dirty="0" smtClean="0">
                <a:latin typeface="Consolas" pitchFamily="49" charset="0"/>
              </a:rPr>
              <a:t>public News Get(</a:t>
            </a:r>
            <a:r>
              <a:rPr lang="en-US" sz="1600" dirty="0" err="1" smtClean="0">
                <a:latin typeface="Consolas" pitchFamily="49" charset="0"/>
              </a:rPr>
              <a:t>int</a:t>
            </a:r>
            <a:r>
              <a:rPr lang="en-US" sz="1600" dirty="0" smtClean="0">
                <a:latin typeface="Consolas" pitchFamily="49" charset="0"/>
              </a:rPr>
              <a:t> index)</a:t>
            </a:r>
          </a:p>
          <a:p>
            <a:pPr lvl="1">
              <a:buNone/>
            </a:pPr>
            <a:r>
              <a:rPr lang="en-US" sz="1600" dirty="0" smtClean="0">
                <a:latin typeface="Consolas" pitchFamily="49" charset="0"/>
              </a:rPr>
              <a:t>{</a:t>
            </a:r>
          </a:p>
          <a:p>
            <a:pPr lvl="2">
              <a:buNone/>
            </a:pPr>
            <a:r>
              <a:rPr lang="en-US" sz="1600" dirty="0" err="1" smtClean="0">
                <a:latin typeface="Consolas" pitchFamily="49" charset="0"/>
              </a:rPr>
              <a:t>var</a:t>
            </a:r>
            <a:r>
              <a:rPr lang="en-US" sz="1600" dirty="0" smtClean="0">
                <a:latin typeface="Consolas" pitchFamily="49" charset="0"/>
              </a:rPr>
              <a:t> all = </a:t>
            </a:r>
            <a:r>
              <a:rPr lang="en-US" sz="1600" dirty="0" err="1" smtClean="0">
                <a:latin typeface="Consolas" pitchFamily="49" charset="0"/>
              </a:rPr>
              <a:t>GetAll</a:t>
            </a:r>
            <a:r>
              <a:rPr lang="en-US" sz="1600" dirty="0" smtClean="0">
                <a:latin typeface="Consolas" pitchFamily="49" charset="0"/>
              </a:rPr>
              <a:t>();</a:t>
            </a:r>
          </a:p>
          <a:p>
            <a:pPr lvl="2">
              <a:buNone/>
            </a:pPr>
            <a:r>
              <a:rPr lang="en-US" sz="1600" dirty="0" smtClean="0">
                <a:latin typeface="Consolas" pitchFamily="49" charset="0"/>
              </a:rPr>
              <a:t>return all[index];</a:t>
            </a:r>
          </a:p>
          <a:p>
            <a:pPr lvl="1">
              <a:buNone/>
            </a:pPr>
            <a:r>
              <a:rPr lang="en-US" sz="1600" dirty="0" smtClean="0">
                <a:latin typeface="Consolas" pitchFamily="49" charset="0"/>
              </a:rPr>
              <a:t>}</a:t>
            </a:r>
          </a:p>
          <a:p>
            <a:pPr lvl="1">
              <a:buNone/>
            </a:pPr>
            <a:r>
              <a:rPr lang="en-US" sz="1600" dirty="0" smtClean="0">
                <a:latin typeface="Consolas" pitchFamily="49" charset="0"/>
              </a:rPr>
              <a:t>...</a:t>
            </a:r>
          </a:p>
          <a:p>
            <a:pPr>
              <a:buNone/>
            </a:pPr>
            <a:r>
              <a:rPr lang="en-US" sz="1600" dirty="0" smtClean="0">
                <a:latin typeface="Consolas" pitchFamily="49" charset="0"/>
              </a:rPr>
              <a:t>}</a:t>
            </a:r>
            <a:endParaRPr lang="en-US" sz="16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Route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When the Web API framework receives an HTTP request, it resolves it in terms of an action method to call on a controller class. </a:t>
            </a:r>
          </a:p>
          <a:p>
            <a:r>
              <a:rPr lang="en-US" sz="2400" dirty="0" smtClean="0"/>
              <a:t>To determine which action to invoke, the Web API framework, similar to classic ASP.NET MVC, uses a routing table.</a:t>
            </a:r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WebApiConfig</a:t>
            </a:r>
            <a:r>
              <a:rPr lang="en-US" sz="2400" dirty="0" smtClean="0"/>
              <a:t> class in the default project template contains the following default route:</a:t>
            </a:r>
          </a:p>
          <a:p>
            <a:pPr lvl="1">
              <a:buNone/>
            </a:pPr>
            <a:r>
              <a:rPr lang="en-US" sz="1400" dirty="0" smtClean="0">
                <a:latin typeface="Consolas" pitchFamily="49" charset="0"/>
              </a:rPr>
              <a:t>public static void Register(</a:t>
            </a:r>
            <a:r>
              <a:rPr lang="en-US" sz="1400" dirty="0" err="1" smtClean="0">
                <a:latin typeface="Consolas" pitchFamily="49" charset="0"/>
              </a:rPr>
              <a:t>HttpConfiguration</a:t>
            </a:r>
            <a:r>
              <a:rPr lang="en-US" sz="1400" dirty="0" smtClean="0">
                <a:latin typeface="Consolas" pitchFamily="49" charset="0"/>
              </a:rPr>
              <a:t> </a:t>
            </a:r>
            <a:r>
              <a:rPr lang="en-US" sz="1400" dirty="0" err="1" smtClean="0">
                <a:latin typeface="Consolas" pitchFamily="49" charset="0"/>
              </a:rPr>
              <a:t>config</a:t>
            </a:r>
            <a:r>
              <a:rPr lang="en-US" sz="1400" dirty="0" smtClean="0">
                <a:latin typeface="Consolas" pitchFamily="49" charset="0"/>
              </a:rPr>
              <a:t>)</a:t>
            </a:r>
          </a:p>
          <a:p>
            <a:pPr lvl="1">
              <a:buNone/>
            </a:pPr>
            <a:r>
              <a:rPr lang="en-US" sz="1400" dirty="0" smtClean="0">
                <a:latin typeface="Consolas" pitchFamily="49" charset="0"/>
              </a:rPr>
              <a:t>{</a:t>
            </a:r>
          </a:p>
          <a:p>
            <a:pPr lvl="2">
              <a:buNone/>
            </a:pPr>
            <a:r>
              <a:rPr lang="en-US" sz="1400" dirty="0" err="1" smtClean="0">
                <a:latin typeface="Consolas" pitchFamily="49" charset="0"/>
              </a:rPr>
              <a:t>config.Routes.MapHttpRoute</a:t>
            </a:r>
            <a:r>
              <a:rPr lang="en-US" sz="1400" dirty="0" smtClean="0">
                <a:latin typeface="Consolas" pitchFamily="49" charset="0"/>
              </a:rPr>
              <a:t>(</a:t>
            </a:r>
          </a:p>
          <a:p>
            <a:pPr lvl="3">
              <a:buNone/>
            </a:pPr>
            <a:r>
              <a:rPr lang="en-US" sz="1400" dirty="0" smtClean="0">
                <a:latin typeface="Consolas" pitchFamily="49" charset="0"/>
              </a:rPr>
              <a:t>name: "</a:t>
            </a:r>
            <a:r>
              <a:rPr lang="en-US" sz="1400" dirty="0" err="1" smtClean="0">
                <a:latin typeface="Consolas" pitchFamily="49" charset="0"/>
              </a:rPr>
              <a:t>DefaultApi</a:t>
            </a:r>
            <a:r>
              <a:rPr lang="en-US" sz="1400" dirty="0" smtClean="0">
                <a:latin typeface="Consolas" pitchFamily="49" charset="0"/>
              </a:rPr>
              <a:t>",</a:t>
            </a:r>
          </a:p>
          <a:p>
            <a:pPr lvl="3">
              <a:buNone/>
            </a:pPr>
            <a:r>
              <a:rPr lang="en-US" sz="1400" dirty="0" err="1" smtClean="0">
                <a:latin typeface="Consolas" pitchFamily="49" charset="0"/>
              </a:rPr>
              <a:t>routeTemplate</a:t>
            </a:r>
            <a:r>
              <a:rPr lang="en-US" sz="1400" dirty="0" smtClean="0">
                <a:latin typeface="Consolas" pitchFamily="49" charset="0"/>
              </a:rPr>
              <a:t>: "</a:t>
            </a:r>
            <a:r>
              <a:rPr lang="en-US" sz="1400" dirty="0" err="1" smtClean="0">
                <a:latin typeface="Consolas" pitchFamily="49" charset="0"/>
              </a:rPr>
              <a:t>api</a:t>
            </a:r>
            <a:r>
              <a:rPr lang="en-US" sz="1400" dirty="0" smtClean="0">
                <a:latin typeface="Consolas" pitchFamily="49" charset="0"/>
              </a:rPr>
              <a:t>/{controller}/{id}",</a:t>
            </a:r>
          </a:p>
          <a:p>
            <a:pPr lvl="3">
              <a:buNone/>
            </a:pPr>
            <a:r>
              <a:rPr lang="en-US" sz="1400" dirty="0" smtClean="0">
                <a:latin typeface="Consolas" pitchFamily="49" charset="0"/>
              </a:rPr>
              <a:t>defaults: new { id = </a:t>
            </a:r>
            <a:r>
              <a:rPr lang="en-US" sz="1400" dirty="0" err="1" smtClean="0">
                <a:latin typeface="Consolas" pitchFamily="49" charset="0"/>
              </a:rPr>
              <a:t>RouteParameter.Optional</a:t>
            </a:r>
            <a:r>
              <a:rPr lang="en-US" sz="1400" dirty="0" smtClean="0">
                <a:latin typeface="Consolas" pitchFamily="49" charset="0"/>
              </a:rPr>
              <a:t> }</a:t>
            </a:r>
          </a:p>
          <a:p>
            <a:pPr lvl="2">
              <a:buNone/>
            </a:pPr>
            <a:r>
              <a:rPr lang="en-US" sz="1400" dirty="0" smtClean="0">
                <a:latin typeface="Consolas" pitchFamily="49" charset="0"/>
              </a:rPr>
              <a:t>);</a:t>
            </a:r>
          </a:p>
          <a:p>
            <a:pPr lvl="1">
              <a:buNone/>
            </a:pPr>
            <a:r>
              <a:rPr lang="en-US" sz="1400" dirty="0" smtClean="0">
                <a:latin typeface="Consolas" pitchFamily="49" charset="0"/>
              </a:rPr>
              <a:t>}</a:t>
            </a:r>
            <a:endParaRPr lang="en-US" sz="1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Based on the aforementioned </a:t>
            </a:r>
            <a:r>
              <a:rPr lang="en-US" sz="2400" dirty="0" err="1" smtClean="0"/>
              <a:t>NewsController</a:t>
            </a:r>
            <a:r>
              <a:rPr lang="en-US" sz="2400" dirty="0" smtClean="0"/>
              <a:t> class, a valid URL might be:</a:t>
            </a:r>
          </a:p>
          <a:p>
            <a:r>
              <a:rPr lang="en-US" sz="2400" dirty="0" smtClean="0">
                <a:hlinkClick r:id="rId2"/>
              </a:rPr>
              <a:t>http://server/api/news/1</a:t>
            </a:r>
            <a:endParaRPr lang="en-US" sz="2400" dirty="0" smtClean="0"/>
          </a:p>
          <a:p>
            <a:r>
              <a:rPr lang="en-US" sz="2400" dirty="0" smtClean="0"/>
              <a:t>By default, the Web API framework uses the HTTP method to select the action, not the URL. This is just the aspect that gives a touch of </a:t>
            </a:r>
            <a:r>
              <a:rPr lang="en-US" sz="2400" dirty="0" err="1" smtClean="0"/>
              <a:t>RESTfulness</a:t>
            </a:r>
            <a:r>
              <a:rPr lang="en-US" sz="2400" dirty="0" smtClean="0"/>
              <a:t> to the entire framework.</a:t>
            </a:r>
          </a:p>
          <a:p>
            <a:r>
              <a:rPr lang="en-US" sz="2400" dirty="0" smtClean="0"/>
              <a:t>To find the method, the Web API framework looks for a match on the HTTP method of the request.</a:t>
            </a:r>
          </a:p>
          <a:p>
            <a:r>
              <a:rPr lang="en-US" sz="2400" dirty="0" smtClean="0"/>
              <a:t>With the default route, methods can have an optional trailing parameter named id. The </a:t>
            </a:r>
            <a:r>
              <a:rPr lang="en-US" sz="2400" dirty="0" err="1" smtClean="0"/>
              <a:t>GetAll</a:t>
            </a:r>
            <a:r>
              <a:rPr lang="en-US" sz="2400" dirty="0" smtClean="0"/>
              <a:t> method has no parameters and thus represents a good match.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Dealing with multiple matches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this happens, Web API throws an exception internally and the status code received by the caller is HTTP 500 with the JSON </a:t>
            </a:r>
            <a:r>
              <a:rPr lang="en-US" smtClean="0"/>
              <a:t>error message.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7336</TotalTime>
  <Words>1016</Words>
  <Application>Microsoft Office PowerPoint</Application>
  <PresentationFormat>On-screen Show (4:3)</PresentationFormat>
  <Paragraphs>108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ASP.NET Web API</vt:lpstr>
      <vt:lpstr>Objectives</vt:lpstr>
      <vt:lpstr>References</vt:lpstr>
      <vt:lpstr>What is Web API? [1]</vt:lpstr>
      <vt:lpstr>WCF Issues</vt:lpstr>
      <vt:lpstr>What Web API means for Client applications</vt:lpstr>
      <vt:lpstr>What Web API means for ASP.NET Web Forms applications</vt:lpstr>
      <vt:lpstr>MVC Controllers vs. Web API</vt:lpstr>
      <vt:lpstr>1. Install WebApi Packages</vt:lpstr>
      <vt:lpstr>2. Add Route</vt:lpstr>
      <vt:lpstr>3. Create Api Controller</vt:lpstr>
      <vt:lpstr>Web API Module</vt:lpstr>
      <vt:lpstr>Defining the resource type</vt:lpstr>
      <vt:lpstr>A Controller </vt:lpstr>
      <vt:lpstr>Default Route</vt:lpstr>
      <vt:lpstr>Action</vt:lpstr>
      <vt:lpstr>Dealing with multiple matches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2993</cp:revision>
  <dcterms:created xsi:type="dcterms:W3CDTF">2007-10-06T08:25:13Z</dcterms:created>
  <dcterms:modified xsi:type="dcterms:W3CDTF">2022-05-23T16:51:20Z</dcterms:modified>
</cp:coreProperties>
</file>