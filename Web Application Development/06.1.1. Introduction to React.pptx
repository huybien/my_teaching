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37"/>
  </p:notesMasterIdLst>
  <p:sldIdLst>
    <p:sldId id="499" r:id="rId2"/>
    <p:sldId id="500" r:id="rId3"/>
    <p:sldId id="501" r:id="rId4"/>
    <p:sldId id="502" r:id="rId5"/>
    <p:sldId id="514" r:id="rId6"/>
    <p:sldId id="515" r:id="rId7"/>
    <p:sldId id="516" r:id="rId8"/>
    <p:sldId id="344" r:id="rId9"/>
    <p:sldId id="345" r:id="rId10"/>
    <p:sldId id="374" r:id="rId11"/>
    <p:sldId id="375" r:id="rId12"/>
    <p:sldId id="377" r:id="rId13"/>
    <p:sldId id="378" r:id="rId14"/>
    <p:sldId id="379" r:id="rId15"/>
    <p:sldId id="380" r:id="rId16"/>
    <p:sldId id="381" r:id="rId17"/>
    <p:sldId id="533" r:id="rId18"/>
    <p:sldId id="527" r:id="rId19"/>
    <p:sldId id="528" r:id="rId20"/>
    <p:sldId id="529" r:id="rId21"/>
    <p:sldId id="530" r:id="rId22"/>
    <p:sldId id="524" r:id="rId23"/>
    <p:sldId id="523" r:id="rId24"/>
    <p:sldId id="526" r:id="rId25"/>
    <p:sldId id="525" r:id="rId26"/>
    <p:sldId id="505" r:id="rId27"/>
    <p:sldId id="506" r:id="rId28"/>
    <p:sldId id="507" r:id="rId29"/>
    <p:sldId id="508" r:id="rId30"/>
    <p:sldId id="509" r:id="rId31"/>
    <p:sldId id="510" r:id="rId32"/>
    <p:sldId id="511" r:id="rId33"/>
    <p:sldId id="512" r:id="rId34"/>
    <p:sldId id="513" r:id="rId35"/>
    <p:sldId id="343" r:id="rId3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19" autoAdjust="0"/>
    <p:restoredTop sz="94667" autoAdjust="0"/>
  </p:normalViewPr>
  <p:slideViewPr>
    <p:cSldViewPr>
      <p:cViewPr>
        <p:scale>
          <a:sx n="50" d="100"/>
          <a:sy n="50" d="100"/>
        </p:scale>
        <p:origin x="-156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72150E-24DE-4D23-AF8D-CF01896B0C83}" type="datetimeFigureOut">
              <a:rPr lang="en-US" smtClean="0"/>
              <a:pPr/>
              <a:t>1/28/2024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8E95B1-5ED0-4005-B293-784E4C93134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1/28/2024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1/28/2024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1/28/2024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1/28/2024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1/28/2024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1/28/2024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1/28/2024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code.visualstudio.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nodejs.org/en/"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Introduction to React</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381000" y="1752600"/>
            <a:ext cx="5715000" cy="4038600"/>
          </a:xfrm>
        </p:spPr>
        <p:txBody>
          <a:bodyPr/>
          <a:lstStyle/>
          <a:p>
            <a:pPr marL="514350" indent="-514350">
              <a:buFont typeface="Wingdings" pitchFamily="2" charset="2"/>
              <a:buChar char="Ø"/>
            </a:pP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638800" cy="4876800"/>
          </a:xfrm>
        </p:spPr>
        <p:txBody>
          <a:bodyPr/>
          <a:lstStyle/>
          <a:p>
            <a:r>
              <a:rPr lang="en-US" sz="2400" dirty="0" err="1" smtClean="0"/>
              <a:t>Kirupa</a:t>
            </a:r>
            <a:r>
              <a:rPr lang="en-US" sz="2400" dirty="0" smtClean="0"/>
              <a:t> </a:t>
            </a:r>
            <a:r>
              <a:rPr lang="en-US" sz="2400" dirty="0" err="1" smtClean="0"/>
              <a:t>Chinnathambi</a:t>
            </a:r>
            <a:r>
              <a:rPr lang="en-US" sz="2400" dirty="0" smtClean="0"/>
              <a:t> (2018). Learning React: A Hands-On Guide to Building Web Applications Using React and </a:t>
            </a:r>
            <a:r>
              <a:rPr lang="en-US" sz="2400" dirty="0" err="1" smtClean="0"/>
              <a:t>Redux</a:t>
            </a:r>
            <a:r>
              <a:rPr lang="en-US" sz="2400" dirty="0" smtClean="0"/>
              <a:t>. Addison-Wesley </a:t>
            </a:r>
            <a:r>
              <a:rPr lang="en-US" sz="2400" smtClean="0"/>
              <a:t>Professional</a:t>
            </a:r>
            <a:r>
              <a:rPr lang="en-US" sz="2400" smtClean="0"/>
              <a:t>.</a:t>
            </a:r>
            <a:endParaRPr lang="en-US" sz="2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Code Runner</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685800" y="2057400"/>
            <a:ext cx="7727884" cy="368105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Install Node.js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524000" y="2362200"/>
            <a:ext cx="6051550" cy="28067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Run JavaScript Code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349375" y="1692275"/>
            <a:ext cx="6445250" cy="447992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Multi-Page Design [1]</a:t>
            </a:r>
            <a:endParaRPr lang="en-US" dirty="0"/>
          </a:p>
        </p:txBody>
      </p:sp>
      <p:sp>
        <p:nvSpPr>
          <p:cNvPr id="3" name="Content Placeholder 2"/>
          <p:cNvSpPr>
            <a:spLocks noGrp="1"/>
          </p:cNvSpPr>
          <p:nvPr>
            <p:ph idx="1"/>
          </p:nvPr>
        </p:nvSpPr>
        <p:spPr>
          <a:xfrm>
            <a:off x="457200" y="1600200"/>
            <a:ext cx="4114800" cy="4525963"/>
          </a:xfrm>
        </p:spPr>
        <p:txBody>
          <a:bodyPr/>
          <a:lstStyle/>
          <a:p>
            <a:r>
              <a:rPr lang="en-US" sz="2000" dirty="0" smtClean="0"/>
              <a:t>For almost every action that changes what the browser displays, the web app will navigate you to a whole different page.</a:t>
            </a:r>
          </a:p>
          <a:p>
            <a:r>
              <a:rPr lang="en-US" sz="2000" dirty="0" smtClean="0"/>
              <a:t>This is a big deal beyond the less-than-stellar user experience that users will see as pages get torn down and redrawn.</a:t>
            </a:r>
          </a:p>
          <a:p>
            <a:r>
              <a:rPr lang="en-US" sz="2000" dirty="0" smtClean="0"/>
              <a:t>This has a big impact on how you </a:t>
            </a:r>
            <a:r>
              <a:rPr lang="en-US" sz="2000" i="1" dirty="0" smtClean="0">
                <a:solidFill>
                  <a:srgbClr val="C00000"/>
                </a:solidFill>
              </a:rPr>
              <a:t>maintain your app state</a:t>
            </a:r>
            <a:r>
              <a:rPr lang="en-US" sz="2000" dirty="0" smtClean="0"/>
              <a:t>.</a:t>
            </a:r>
          </a:p>
          <a:p>
            <a:r>
              <a:rPr lang="en-US" sz="2000" dirty="0" smtClean="0"/>
              <a:t>Outside of storing some user data via cookies and some server-side mechanism, </a:t>
            </a:r>
            <a:r>
              <a:rPr lang="en-US" sz="2000" u="sng" dirty="0" smtClean="0"/>
              <a:t>you simply don't need to care</a:t>
            </a:r>
            <a:r>
              <a:rPr lang="en-US" sz="2000" dirty="0" smtClean="0"/>
              <a:t>.</a:t>
            </a:r>
          </a:p>
        </p:txBody>
      </p:sp>
      <p:pic>
        <p:nvPicPr>
          <p:cNvPr id="1027" name="Picture 3"/>
          <p:cNvPicPr>
            <a:picLocks noChangeAspect="1" noChangeArrowheads="1"/>
          </p:cNvPicPr>
          <p:nvPr/>
        </p:nvPicPr>
        <p:blipFill>
          <a:blip r:embed="rId2" cstate="print"/>
          <a:srcRect/>
          <a:stretch>
            <a:fillRect/>
          </a:stretch>
        </p:blipFill>
        <p:spPr bwMode="auto">
          <a:xfrm>
            <a:off x="4572000" y="1447800"/>
            <a:ext cx="4267200" cy="4852416"/>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Single-Page App</a:t>
            </a:r>
            <a:endParaRPr lang="en-US" dirty="0"/>
          </a:p>
        </p:txBody>
      </p:sp>
      <p:sp>
        <p:nvSpPr>
          <p:cNvPr id="3" name="Content Placeholder 2"/>
          <p:cNvSpPr>
            <a:spLocks noGrp="1"/>
          </p:cNvSpPr>
          <p:nvPr>
            <p:ph idx="1"/>
          </p:nvPr>
        </p:nvSpPr>
        <p:spPr>
          <a:xfrm>
            <a:off x="457200" y="1600200"/>
            <a:ext cx="4038600" cy="4525963"/>
          </a:xfrm>
        </p:spPr>
        <p:txBody>
          <a:bodyPr/>
          <a:lstStyle/>
          <a:p>
            <a:r>
              <a:rPr lang="en-US" sz="2400" dirty="0" smtClean="0"/>
              <a:t>As users interact with our app, we replace the contents of the dotted red region with the data and HTML that matches what the user is trying to do.</a:t>
            </a:r>
          </a:p>
          <a:p>
            <a:r>
              <a:rPr lang="en-US" sz="2400" dirty="0" smtClean="0"/>
              <a:t>The end result is a much </a:t>
            </a:r>
            <a:r>
              <a:rPr lang="en-US" sz="2400" i="1" dirty="0" smtClean="0">
                <a:solidFill>
                  <a:srgbClr val="C00000"/>
                </a:solidFill>
              </a:rPr>
              <a:t>more fluid experience</a:t>
            </a:r>
            <a:r>
              <a:rPr lang="en-US" sz="2400" dirty="0" smtClean="0"/>
              <a:t>.</a:t>
            </a:r>
            <a:endParaRPr lang="en-US" sz="2200" dirty="0" smtClean="0"/>
          </a:p>
        </p:txBody>
      </p:sp>
      <p:pic>
        <p:nvPicPr>
          <p:cNvPr id="2050" name="Picture 2"/>
          <p:cNvPicPr>
            <a:picLocks noChangeAspect="1" noChangeArrowheads="1"/>
          </p:cNvPicPr>
          <p:nvPr/>
        </p:nvPicPr>
        <p:blipFill>
          <a:blip r:embed="rId2" cstate="print"/>
          <a:srcRect/>
          <a:stretch>
            <a:fillRect/>
          </a:stretch>
        </p:blipFill>
        <p:spPr bwMode="auto">
          <a:xfrm>
            <a:off x="4724400" y="1981200"/>
            <a:ext cx="3857625" cy="338328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and UI Synchronization</a:t>
            </a:r>
            <a:endParaRPr lang="en-US" dirty="0"/>
          </a:p>
        </p:txBody>
      </p:sp>
      <p:sp>
        <p:nvSpPr>
          <p:cNvPr id="3" name="Content Placeholder 2"/>
          <p:cNvSpPr>
            <a:spLocks noGrp="1"/>
          </p:cNvSpPr>
          <p:nvPr>
            <p:ph idx="1"/>
          </p:nvPr>
        </p:nvSpPr>
        <p:spPr/>
        <p:txBody>
          <a:bodyPr/>
          <a:lstStyle/>
          <a:p>
            <a:r>
              <a:rPr lang="en-US" sz="2400" dirty="0" smtClean="0"/>
              <a:t>In a </a:t>
            </a:r>
            <a:r>
              <a:rPr lang="en-US" sz="2400" i="1" dirty="0" smtClean="0">
                <a:solidFill>
                  <a:srgbClr val="C00000"/>
                </a:solidFill>
              </a:rPr>
              <a:t>single-page application</a:t>
            </a:r>
            <a:r>
              <a:rPr lang="en-US" sz="2400" dirty="0" smtClean="0"/>
              <a:t>, the bulk of your time will be spent </a:t>
            </a:r>
            <a:r>
              <a:rPr lang="en-US" sz="2400" u="sng" dirty="0" smtClean="0"/>
              <a:t>keeping your data in sync with your UI</a:t>
            </a:r>
            <a:r>
              <a:rPr lang="en-US" sz="2400" b="1" dirty="0" smtClean="0"/>
              <a:t>.</a:t>
            </a:r>
          </a:p>
          <a:p>
            <a:r>
              <a:rPr lang="en-US" sz="2400" dirty="0" smtClean="0"/>
              <a:t>For example, if a user loads new content, do we explicitly clear out the search field? Do we keep the active tab on a navigation element still visible? Which elements do we keep on the page, and which do we destroy?</a:t>
            </a:r>
          </a:p>
          <a:p>
            <a:r>
              <a:rPr lang="en-US" sz="2400" dirty="0" smtClean="0"/>
              <a:t>These are all problems </a:t>
            </a:r>
            <a:r>
              <a:rPr lang="en-US" sz="2400" u="sng" dirty="0" smtClean="0"/>
              <a:t>unique to single-page apps</a:t>
            </a:r>
            <a:r>
              <a:rPr lang="en-US" sz="2400" dirty="0" smtClean="0"/>
              <a:t>.</a:t>
            </a:r>
          </a:p>
          <a:p>
            <a:r>
              <a:rPr lang="en-US" sz="2400" dirty="0" smtClean="0"/>
              <a:t>When navigating between pages in the old model, we just assumed everything in our UI would be destroyed and just built back up again. This was never a problem.</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 Manipulation Speed</a:t>
            </a:r>
            <a:endParaRPr lang="en-US" dirty="0"/>
          </a:p>
        </p:txBody>
      </p:sp>
      <p:sp>
        <p:nvSpPr>
          <p:cNvPr id="3" name="Content Placeholder 2"/>
          <p:cNvSpPr>
            <a:spLocks noGrp="1"/>
          </p:cNvSpPr>
          <p:nvPr>
            <p:ph idx="1"/>
          </p:nvPr>
        </p:nvSpPr>
        <p:spPr>
          <a:xfrm>
            <a:off x="457200" y="1600200"/>
            <a:ext cx="4876800" cy="4525963"/>
          </a:xfrm>
        </p:spPr>
        <p:txBody>
          <a:bodyPr/>
          <a:lstStyle/>
          <a:p>
            <a:r>
              <a:rPr lang="en-US" sz="2400" dirty="0" smtClean="0"/>
              <a:t>One way to keep </a:t>
            </a:r>
            <a:r>
              <a:rPr lang="en-US" sz="2400" u="sng" dirty="0" smtClean="0"/>
              <a:t>data in sync with UI</a:t>
            </a:r>
            <a:r>
              <a:rPr lang="en-US" sz="2400" dirty="0" smtClean="0"/>
              <a:t> is to </a:t>
            </a:r>
            <a:r>
              <a:rPr lang="en-US" sz="2400" i="1" dirty="0" smtClean="0">
                <a:solidFill>
                  <a:srgbClr val="C00000"/>
                </a:solidFill>
              </a:rPr>
              <a:t>manipulate the DOM</a:t>
            </a:r>
            <a:r>
              <a:rPr lang="en-US" sz="2400" dirty="0" smtClean="0"/>
              <a:t>.</a:t>
            </a:r>
          </a:p>
          <a:p>
            <a:r>
              <a:rPr lang="en-US" sz="2400" dirty="0" smtClean="0"/>
              <a:t>Manipulating the DOM is </a:t>
            </a:r>
            <a:r>
              <a:rPr lang="en-US" sz="2400" u="sng" dirty="0" smtClean="0"/>
              <a:t>really </a:t>
            </a:r>
            <a:r>
              <a:rPr lang="en-US" sz="2400" u="sng" dirty="0" err="1" smtClean="0"/>
              <a:t>REALLY</a:t>
            </a:r>
            <a:r>
              <a:rPr lang="en-US" sz="2400" u="sng" dirty="0" smtClean="0"/>
              <a:t> slow</a:t>
            </a:r>
            <a:r>
              <a:rPr lang="en-US" sz="2400" b="1" dirty="0" smtClean="0"/>
              <a:t>.</a:t>
            </a:r>
          </a:p>
          <a:p>
            <a:r>
              <a:rPr lang="en-US" sz="2400" dirty="0" smtClean="0"/>
              <a:t>Manually querying elements, adding children, removing </a:t>
            </a:r>
            <a:r>
              <a:rPr lang="en-US" sz="2400" dirty="0" err="1" smtClean="0"/>
              <a:t>subtrees</a:t>
            </a:r>
            <a:r>
              <a:rPr lang="en-US" sz="2400" dirty="0" smtClean="0"/>
              <a:t>, and performing other DOM operations are some of the </a:t>
            </a:r>
            <a:r>
              <a:rPr lang="en-US" sz="2400" i="1" dirty="0" smtClean="0">
                <a:solidFill>
                  <a:srgbClr val="C00000"/>
                </a:solidFill>
              </a:rPr>
              <a:t>slowest things</a:t>
            </a:r>
            <a:r>
              <a:rPr lang="en-US" sz="2400" dirty="0" smtClean="0"/>
              <a:t> you can do in your browser.</a:t>
            </a: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5410200" y="2057400"/>
            <a:ext cx="3143250" cy="31718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with HTML Templates</a:t>
            </a:r>
            <a:endParaRPr lang="en-US" dirty="0"/>
          </a:p>
        </p:txBody>
      </p:sp>
      <p:sp>
        <p:nvSpPr>
          <p:cNvPr id="3" name="Content Placeholder 2"/>
          <p:cNvSpPr>
            <a:spLocks noGrp="1"/>
          </p:cNvSpPr>
          <p:nvPr>
            <p:ph idx="1"/>
          </p:nvPr>
        </p:nvSpPr>
        <p:spPr/>
        <p:txBody>
          <a:bodyPr/>
          <a:lstStyle/>
          <a:p>
            <a:r>
              <a:rPr lang="en-US" sz="2200" dirty="0" smtClean="0"/>
              <a:t>Navigation in a single-page app is nothing more than you </a:t>
            </a:r>
            <a:r>
              <a:rPr lang="en-US" sz="2200" i="1" dirty="0" smtClean="0">
                <a:solidFill>
                  <a:srgbClr val="C00000"/>
                </a:solidFill>
              </a:rPr>
              <a:t>dealing with fragments of HTML</a:t>
            </a:r>
            <a:r>
              <a:rPr lang="en-US" sz="2200" dirty="0" smtClean="0"/>
              <a:t> to represent whatever it is you wish to display.</a:t>
            </a:r>
          </a:p>
          <a:p>
            <a:r>
              <a:rPr lang="en-US" sz="2200" dirty="0" smtClean="0"/>
              <a:t>These fragments of HTML are often known as </a:t>
            </a:r>
            <a:r>
              <a:rPr lang="en-US" sz="2200" i="1" dirty="0" smtClean="0">
                <a:solidFill>
                  <a:srgbClr val="C00000"/>
                </a:solidFill>
              </a:rPr>
              <a:t>templates</a:t>
            </a:r>
            <a:r>
              <a:rPr lang="en-US" sz="2200" dirty="0" smtClean="0"/>
              <a:t>, and using JavaScript to </a:t>
            </a:r>
            <a:r>
              <a:rPr lang="en-US" sz="2200" u="sng" dirty="0" smtClean="0"/>
              <a:t>manipulate them</a:t>
            </a:r>
            <a:r>
              <a:rPr lang="en-US" sz="2200" dirty="0" smtClean="0"/>
              <a:t> and </a:t>
            </a:r>
            <a:r>
              <a:rPr lang="en-US" sz="2200" u="sng" dirty="0" smtClean="0"/>
              <a:t>fill them out with data</a:t>
            </a:r>
            <a:r>
              <a:rPr lang="en-US" sz="2200" dirty="0" smtClean="0"/>
              <a:t> gets </a:t>
            </a:r>
            <a:r>
              <a:rPr lang="en-US" sz="2200" u="sng" dirty="0" smtClean="0"/>
              <a:t>really complicated</a:t>
            </a:r>
            <a:r>
              <a:rPr lang="en-US" sz="2200" dirty="0" smtClean="0"/>
              <a:t> really quickly.</a:t>
            </a:r>
          </a:p>
          <a:p>
            <a:r>
              <a:rPr lang="en-US" sz="2200" dirty="0" smtClean="0"/>
              <a:t>For example, this is what using a template in Mustache looks like:</a:t>
            </a:r>
          </a:p>
        </p:txBody>
      </p:sp>
      <p:sp>
        <p:nvSpPr>
          <p:cNvPr id="4" name="Rectangle 3"/>
          <p:cNvSpPr/>
          <p:nvPr/>
        </p:nvSpPr>
        <p:spPr>
          <a:xfrm>
            <a:off x="533400" y="4495800"/>
            <a:ext cx="8153400" cy="160043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dirty="0" err="1" smtClean="0">
                <a:latin typeface="Consolas" pitchFamily="49" charset="0"/>
              </a:rPr>
              <a:t>var</a:t>
            </a:r>
            <a:r>
              <a:rPr lang="en-US" sz="1400" dirty="0" smtClean="0">
                <a:latin typeface="Consolas" pitchFamily="49" charset="0"/>
              </a:rPr>
              <a:t> view = {</a:t>
            </a:r>
          </a:p>
          <a:p>
            <a:pPr lvl="1"/>
            <a:r>
              <a:rPr lang="en-US" sz="1400" dirty="0" smtClean="0">
                <a:latin typeface="Consolas" pitchFamily="49" charset="0"/>
              </a:rPr>
              <a:t>title: "Joe",</a:t>
            </a:r>
          </a:p>
          <a:p>
            <a:pPr lvl="1"/>
            <a:r>
              <a:rPr lang="en-US" sz="1400" dirty="0" smtClean="0">
                <a:latin typeface="Consolas" pitchFamily="49" charset="0"/>
              </a:rPr>
              <a:t>calc: function () {</a:t>
            </a:r>
          </a:p>
          <a:p>
            <a:pPr lvl="2"/>
            <a:r>
              <a:rPr lang="en-US" sz="1400" dirty="0" smtClean="0">
                <a:latin typeface="Consolas" pitchFamily="49" charset="0"/>
              </a:rPr>
              <a:t>return 2 + 4;</a:t>
            </a:r>
          </a:p>
          <a:p>
            <a:pPr lvl="1"/>
            <a:r>
              <a:rPr lang="en-US" sz="1400" dirty="0" smtClean="0">
                <a:latin typeface="Consolas" pitchFamily="49" charset="0"/>
              </a:rPr>
              <a:t>}</a:t>
            </a:r>
          </a:p>
          <a:p>
            <a:r>
              <a:rPr lang="en-US" sz="1400" dirty="0" smtClean="0">
                <a:latin typeface="Consolas" pitchFamily="49" charset="0"/>
              </a:rPr>
              <a:t>};</a:t>
            </a:r>
          </a:p>
          <a:p>
            <a:r>
              <a:rPr lang="en-US" sz="1400" dirty="0" err="1" smtClean="0">
                <a:latin typeface="Consolas" pitchFamily="49" charset="0"/>
              </a:rPr>
              <a:t>var</a:t>
            </a:r>
            <a:r>
              <a:rPr lang="en-US" sz="1400" dirty="0" smtClean="0">
                <a:latin typeface="Consolas" pitchFamily="49" charset="0"/>
              </a:rPr>
              <a:t> output = </a:t>
            </a:r>
            <a:r>
              <a:rPr lang="en-US" sz="1400" dirty="0" err="1" smtClean="0">
                <a:latin typeface="Consolas" pitchFamily="49" charset="0"/>
              </a:rPr>
              <a:t>Mustache.</a:t>
            </a:r>
            <a:r>
              <a:rPr lang="en-US" sz="1400" b="1" dirty="0" err="1" smtClean="0">
                <a:latin typeface="Consolas" pitchFamily="49" charset="0"/>
              </a:rPr>
              <a:t>render</a:t>
            </a:r>
            <a:r>
              <a:rPr lang="en-US" sz="1400" b="1" dirty="0" smtClean="0">
                <a:latin typeface="Consolas" pitchFamily="49" charset="0"/>
              </a:rPr>
              <a:t>("{{title}} spends {{calc}}", view);</a:t>
            </a:r>
            <a:endParaRPr lang="en-US" sz="1400" dirty="0">
              <a:latin typeface="Consolas"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of Solutions: React</a:t>
            </a:r>
            <a:endParaRPr lang="en-US" dirty="0"/>
          </a:p>
        </p:txBody>
      </p:sp>
      <p:sp>
        <p:nvSpPr>
          <p:cNvPr id="3" name="Content Placeholder 2"/>
          <p:cNvSpPr>
            <a:spLocks noGrp="1"/>
          </p:cNvSpPr>
          <p:nvPr>
            <p:ph idx="1"/>
          </p:nvPr>
        </p:nvSpPr>
        <p:spPr/>
        <p:txBody>
          <a:bodyPr/>
          <a:lstStyle/>
          <a:p>
            <a:r>
              <a:rPr lang="en-US" sz="2400" dirty="0" smtClean="0"/>
              <a:t>Despite these shortcomings, single-page apps aren't going anywhere.</a:t>
            </a:r>
          </a:p>
          <a:p>
            <a:r>
              <a:rPr lang="en-US" sz="2400" dirty="0" smtClean="0"/>
              <a:t>They are a part of the present, and they </a:t>
            </a:r>
            <a:r>
              <a:rPr lang="en-US" sz="2400" i="1" dirty="0" smtClean="0">
                <a:solidFill>
                  <a:srgbClr val="C00000"/>
                </a:solidFill>
              </a:rPr>
              <a:t>will fully form the future</a:t>
            </a:r>
            <a:r>
              <a:rPr lang="en-US" sz="2400" dirty="0" smtClean="0"/>
              <a:t> of how web apps are built.</a:t>
            </a:r>
          </a:p>
          <a:p>
            <a:r>
              <a:rPr lang="en-US" sz="2400" dirty="0" smtClean="0"/>
              <a:t>That doesn't mean that we have to tolerate these </a:t>
            </a:r>
            <a:r>
              <a:rPr lang="en-US" sz="2400" i="1" dirty="0" smtClean="0">
                <a:solidFill>
                  <a:srgbClr val="C00000"/>
                </a:solidFill>
              </a:rPr>
              <a:t>shortcomings</a:t>
            </a:r>
            <a:r>
              <a:rPr lang="en-US" sz="2400" dirty="0" smtClean="0"/>
              <a:t>.</a:t>
            </a:r>
          </a:p>
          <a:p>
            <a:r>
              <a:rPr lang="en-US" sz="2400" dirty="0" smtClean="0"/>
              <a:t>To address this, meet React!</a:t>
            </a:r>
            <a:endParaRPr lang="en-US" sz="2400" dirty="0"/>
          </a:p>
        </p:txBody>
      </p:sp>
      <p:sp>
        <p:nvSpPr>
          <p:cNvPr id="96258" name="AutoShape 2" descr="data:image/png;base64,iVBORw0KGgoAAAANSUhEUgAAAPEAAADRCAMAAAAquaQNAAAAV1BMVEX///9h2vtU2PtT2Pv4/f9r3Pvk+P77/v9m2/vs+v6+7v3p+f7I8f3V9P6R5Px94PyI4vyt6v2c5vy47f3D8P3e9v6i6PzX9f7P8/5/4PyM4/yq6v3y+/9QWmeRAAARHUlEQVR4nOUd6ZqqOmwsu6KAisvo+z/nEReStCk0LTAz38mve89AbWj2rV9fwXBuvvPVC/L6VhbhKyIoylvdr/7dnCdd3As2p5VSKwRK5bsynmTtuNzl+uKr02aStX3hvqM76je2Cz+M7bdt7fsEO/eEQ8Rs6b2xVRNy0PdmxaH7gugwGQYyiCv7pp6HcfJl6eLEHi8sXU3DNkLYDO3pjfPeZ2fxfhjfJ/wAN2/Gd/WA6JYJ181udlbBX3NxlAuXbXU7W5WidcsB/qUwrRYch8RxXx3TuR/HZlg0EEhmxI6BHd2ZenKeUjwDRo3jqjxBq351+s+7WTHU4EK2pqrD+Z59Zfe0vFUc0ipJHRZNE+5VVd3K9Ln6+XAlD0Tb2fEEIHu6EnTikrMcHI65MQ9YqW9qvqUE53xirIY2h35XHc2/r83TUtWwpXQ3OVgla2Zp/NOu3BIMGd4Wb05uGQQuA0tejMejiifaM35Sqvp84QA/GlnRaCudSqObdUVDZEVVa3u2hGfVUuYmaCa1H3jsotO2uvJnkl31B5MhobSHpxfSUC06kOEnDzqt5pxq3uTaU2NHh560UsKksIcfZKQWgXutkSvDzDoLq3rMGzzCG0M0Nh3A7zmoh1I7P8PTMzxOB6sUiEJ5YSCEtMfYSXDENT3DiB7LniKsahdvC7Rj5GLahAIwp3Iz5tc6Uuhv+udgNDADheyjh0Ld769yfGNDhbZKPucY639w9TlAW9TjDwdDz0QCk0dzPPIXcRRUSAtcAyDrBSxNRFEC1aBR9jOEoQVRHCn6Ca2Us0IAlEkksfFaip5KkQR8gUS1Zv0HHLRdpwEQXDKD567x7FpjYVlItmfkBUQX2B9Sj5zKZfo/UgG061+d3wa59rsU+2onW0hHnaRLgei6Sl8VA9CTLGTXgWFnv8Aj4l72K7mqSH8A5eQRdCm5QFYk/3Rf2+XUUwZ6wcfAO5unbIkpDAMS9HNHBeL+lCKvhFero+zn8N1BPc2OMZyxX4pP84ZZj3kc7rCNuVNQ6OP6/VSsYey5CthBc+dWC5A9XnvN9GRG4kWVCOO5zcxNIMaVIbm81Evcvx7NnXIrwqi6ZmS1j8O34BmHiYw9Z4IMBkQtECxABT8VBfyUxeby8AZAgEZzy+osgJwutly4Pc5vg2I5fQzBYrHpQBxidSP/J7XfkCEjfFMO4EkI7eo7OdW1FhYRssjW00v3gV69SH0nrJdUl4IipyzUUUv6TuAfy+QNDu69pTOW3MKM/2FB/xiiDyI3nqScPxoYa2dZgOHUvzd/bQTQouS3iJgG1sMmp0hg9999gaz52oeDCqKIQUoRaSYJxII0EcR8PQGit4IsFz5LoomIxhKIXdjE/NHbjYefRqQW3WJpCjQHQD7r/LV74LU4myBHxMRKL43AOioay0d/ABkgC9SkQmjPcX8bTkwDQObO/cQgZ75EhRMoZEf1hIMeHKsmI39nAJTT/OoYx9ndfo2cISeOiSB3c5ZBVItj+x5wlBnx2EO0RKZxFNvNkoPHXTk/BGSZzBRjY5PFxNx0cKP8MrreIMtkYia1myzYy3BgZc+MrjdIigRImKct0rY9by+Xsjyu1+tjWV4u23PbpgXOLjto5duiohrnU8dEV3ykVcl2wI9Fo+1SvbpYqJ5rPSK6snt6OZy+q1xF7hXx5MtEKq++T4dLV1fN/QA8Ob9V3QGILr2aavPAtE6stfRSxLtlkvqBuWaXgDRcqEoRpRf7T1xsm11iFPZPA0/Ed4dtrxmAyOYP670AJGvnIhfl6ToTrjre19ulQxuCEvOHfF4AojJp6jyaHVmMdpTXDSgLe8X2tACBROfmpEnRhv9aqjckG9jOsrAMGxfrenwrC0G9nr1kr70lcrZFhkbygKqqrtf6u75eH//V/cOKt0Tclk5uMxYct6fcy6Y4rMvtw5QcsqTihwG6LdcHj9Ufwuw0i1reNIkTuo+DihSJ5ElyFzjstUoeKzkdu4qSZup415HtzjNwVcnudjxvSB+WLCGOZMTD9y3Ox9sucSF3paoJXeV0tAX6iStYg3fs78pCbzF+9RMsfVivT7zHNrGfhqVLo1VL+6Go2h9bgtcV/VX65Y828ojb474aYayo8qj/o5Ad8pEvm7SGUsT9PPLIG/pcZmIma0can1V+CFHScePAQAbVZih46VHijgN9psMfO3C095SK2D6hAn0Ik2xRzN2r3hvFAk3DGclE62moVeN1zgcLvkrlpy06R51uUcWXp2+Dol5GsQnQfJ5tT7kFa7WSf+oLz78Pmdw8BSKEfvRiG7Rfz7YNTNfaN4NSo1fAJ20sNqDKZSm4Qu83fCMHih78J42syyGadATMF1T4omDAx2/qTCN2s6P9jwga7rM91B025uARcgzYr/IPNOLEDWFJICCcy215g8E5m16wEwx0TYc6VDHtol6IgMkGqKSA5FkQvWtRzCM3V0NVTmy1Nl/lrBlE1khKYLEV0mCHjE1canowiboH1jJ0CXbujNcego9TcPAAyiJgayukYLLgjRhkfjAvxYx6Ga0huhsUrRKLnQgZTQjibhE1hpWkNBx3oBoKS07xyOx/8MunxidKrIYqaq7vfx6dwVD6KE4v5bG8pEO2EbcU+sj2wQqmFBrwL/S2jWFFjgYovP/l6CK20m4uzBuqxrobTC4fKoPlh77nQednexz/rDf9D6ejgfA+ShO9+215qaQWg7IT0Td67P0u/OAwy+jNc5GlwUg7YVWNeJtIutTaJ7CVIp8ZxacSfj+FIRNAgI8Zc6mmq/hT1kaMObQDV3QHsUWJAux5TzviM4RYtXccj77wuL2uDWTgSmpi+oSL7kZU1tmTe/Q+J5NMPdC/zspTvKPum9wMLhqCQjtmc0ekScWxlgytSVQH6yQOT23jPjB2G1My+MRpd7QpwyALYkq7VpIhS7PEZhJnUJMSTAa4U0bmdY1dFMc8OcnX68KuJX907Z1EZS0Vsi/ZKtqxMXWcvkHmdbQBInQeArIlx0jfspaKDgNiBbQCJ1dM41UD1hx0X58He6ErDiBKujRKDg/OHtqOIcwnCltOuEtC/hhl8h6OxYnagbmtc4elj2figOP+HfegZIO44Rn9AI5byGpJboxFwai+4/gR86FtZg6p0EXBoUA4ZMQuQqf2bpIdd8Ru0zU54WUesrT9FumQXgBge04a6v02NsRoVpYdTeAEQGG8arPYbRAzti8Kl4mDnrr3werK08oNONt0rz1j8wrsgAInH5ZF5y6PbGsEy9r4riNjObIu1Pgzw4CCjR/6gH/xKPrTwmLcCrEbUVv6TOkh+1TpoRX0DXnVztANcWLFmA9hA9ap0w7ZY4dgDLw/KRoj5xOMIxY5SySsncJizNoW+JC9omeoS/xlXQV2tmbYrGFFPRMPtmDMkixJonul0OD1FxFtwzDGCorXHJbWcgZjXlUgySpVTS+AH3gJ+sAzjuc+44AaizfA668zDuTj26J87JO8M/j4HiSrackiq44nldUejIxk9ftIYTkPfXxw0MfOGDvoY4+qA0Mf/0c218dPCrGrDVeftavdDpmN+erOk5zzGLs6xHcy6nADfCeOjU3fSZqk5Xwn7B8LFZ65ofn9Y2FxCTIXIED2i2MgzAUEMgXFx0BInEtUucvt/C/EuWhv+38Ry5wgXo3/k3kyOF49sv44wpqYSElOwlUB4JxEMXNOopg4J6HlnRzFF8k7IZk4Q95p55F3Wg/lnSbILaLQMmvIDN/5NZZb3EyeW5wif4x+YeL8sZLnj7VR8NyO9BqBcYNTrxFARzJxjYCao0bgV9eBvL7+1HUgP1PrE7nU+rwl4eS1PovVcyV9PddAQxqu5/p8lMnrubhLaX5DzV7PtX41e8PDhM17Mh3qMhVblxk2Ev/AkYtXXebo/ZumPP2J2lscvwyqvbXoAQL6bT3d5tXpj9ZXu91vyVwSt/KpoQ/oAMfcEVJDf3WlMzakLu+T8B/eid2OgD4JQXQj3vHtJXmvTZx6YXyLypEpM94Lk95yfrM7WcxuyxvBnQp9nvQP9TuhupMnWbcnW7+TxZIbgqO1p221v8RL9bTpuhT+lseXva2TT638mpFtfXwr0rdoMMtp6I8OgGNxhtp161v0twXsOMPyZm8q/qtcKWNVbOZIHHpTA/DtwDRiNEhaA2Uc75MrZdxXb2jTeLT/2GYiCmBbDzd2P9yf3fpMzhI3TUubvvHQPSIi7uf1bmR4g4rqaabAbEaujl895wjUTZm+iRAL25A5Am9Rn6VlU7vMEThNODBCNCuiICaMLK+DaXr9Y7MinlB4zwORNAL7zwOZZdxNe7P1dA9CPvPMl3kH3aT/11yfF/xns5uekHmQ9jyw1K3e/98MNjRn7/ADc/YOy8/ZM2cpTjQhcxhZpa6n8kdmKf7AvMyHZdP84LzMwZmo+zpZOdoNDphGq6Te//xMVPjE/MCP7N6Wzf76wNx37m2H6XXflC0/9xZVli4z99Z9tvGd3u/jOtt4PeZULz3bWDK/mpR/tGk3vLqbXn18zq8+PidYX7bnlMyvHr99BSJ/89919CWdUY4TWX91RrlsDj2uT7JmZ3H2055DA0Bz6Gc3qr/Edw3gkpo/eteA9PaKv3+fhPTOkIzcGWLyHblXNHfjy2XvDBHfC5MOnyGhAUe2XPRemNC7f3TCIFLrV979E3q/kya9yNdwvgdt0fudwu/wwqRBam1+6R1e/989bb/tLr75gwIT3LfYqxRyzeavvW9xkjs1d7Z/coUl79SEm2KFOTQivTr6ILWEv/je1Gnuxn0QyMEizZxgybtxYdPSiAudlkTqvX/z/cchd1yXfHm1j1KFYpPZg3swZkE6e+Xrj95jjuy7n7yrHjVRz31XfRGEMbnx+LOOT/1mHMBcQkDVWl7kVBkYe6kX8OBmx7gIxDjTa3WYGIEDLIhxGB8/IKZl+rnnKh4+qycgkeG313ZFwS8YGbwNdwjSTl9Mk6psyt0HkHaaWx+jxKLP6VwYWe3j06MZJrPH6CGw53E4a87qcu0LxQCkMn9oz9t3ekBj6eKTV54v6TuBfyzeJ2txPZcSW13Ngv4x5FKl0YcrQZj+j3TfEImZP5968KSnOzU9lNZ9Mjwf3wDgrbBiahfwzGRqavgh6FONxiXutiyjGwh+N2rrQrqLq2tN5xKRDTMvPJtPRADn5C66tGai/LXNghqcguBes6BywpkxV0bWLppRyccwjPU/uB4YyISQVkFXOEgpSqNo4g9T+e1K2Yiz5hdcpJrKhaxjLQig6V5NR6vaxTEAonYeDRIEiB/HH9Y7XY2BDIYd5mDKIf73wkAKqCt1jAjvepSHUSa6c6G+x1QzUuVLFEXQDOjwk0bskm1wN1v5R5gTPblMlSIemTBk41305jBV8zZLZlBCMmRXINZfpIDti/b42wcrGJePDrhIBjNHlX00AurGXqYsU2tM5LNPW6bleyhPtTWeVhX/PGH7CZBxA8yfzDScbG02O46pHV2Jda8ka5MLDuJqt2kAyxp1JToxLr+ZImOHzTEpGhV9l+RDpcRiWcLC/MCW8F10Xadx1rVpXW5st5+qXCpyNuzwA1XdLl1zWHZP11f6s0v1hTxBN5VeeFpq5x3GQL3gwEaFLIv7pKtCwHWwa8fB7s6+YbEMwFKaqd+bK765jPa2YzdM9zB3LsIA5v4SBl8PcWqMXuJXXqZ9j0AxOvVTeRZb3cZxzn8AYW7OE8V3Ncft2q+lr/PXn/LAy9YnRJz54A4PI2Zg7QUtDx2KHT9QZ7UPd2raPXvQSu0Wl1kENidtEomKVrupIqqX3Yrab4+fmnI6gi+0Tf0RYnl9O067o83xhlZvJvCH/wF+kbz3sjDBK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6260" name="AutoShape 4" descr="data:image/png;base64,iVBORw0KGgoAAAANSUhEUgAAAPEAAADRCAMAAAAquaQNAAAAV1BMVEX///9h2vtU2PtT2Pv4/f9r3Pvk+P77/v9m2/vs+v6+7v3p+f7I8f3V9P6R5Px94PyI4vyt6v2c5vy47f3D8P3e9v6i6PzX9f7P8/5/4PyM4/yq6v3y+/9QWmeRAAARHUlEQVR4nOUd6ZqqOmwsu6KAisvo+z/nEReStCk0LTAz38mve89AbWj2rV9fwXBuvvPVC/L6VhbhKyIoylvdr/7dnCdd3As2p5VSKwRK5bsynmTtuNzl+uKr02aStX3hvqM76je2Cz+M7bdt7fsEO/eEQ8Rs6b2xVRNy0PdmxaH7gugwGQYyiCv7pp6HcfJl6eLEHi8sXU3DNkLYDO3pjfPeZ2fxfhjfJ/wAN2/Gd/WA6JYJ181udlbBX3NxlAuXbXU7W5WidcsB/qUwrRYch8RxXx3TuR/HZlg0EEhmxI6BHd2ZenKeUjwDRo3jqjxBq351+s+7WTHU4EK2pqrD+Z59Zfe0vFUc0ipJHRZNE+5VVd3K9Ln6+XAlD0Tb2fEEIHu6EnTikrMcHI65MQ9YqW9qvqUE53xirIY2h35XHc2/r83TUtWwpXQ3OVgla2Zp/NOu3BIMGd4Wb05uGQQuA0tejMejiifaM35Sqvp84QA/GlnRaCudSqObdUVDZEVVa3u2hGfVUuYmaCa1H3jsotO2uvJnkl31B5MhobSHpxfSUC06kOEnDzqt5pxq3uTaU2NHh560UsKksIcfZKQWgXutkSvDzDoLq3rMGzzCG0M0Nh3A7zmoh1I7P8PTMzxOB6sUiEJ5YSCEtMfYSXDENT3DiB7LniKsahdvC7Rj5GLahAIwp3Iz5tc6Uuhv+udgNDADheyjh0Ld769yfGNDhbZKPucY639w9TlAW9TjDwdDz0QCk0dzPPIXcRRUSAtcAyDrBSxNRFEC1aBR9jOEoQVRHCn6Ca2Us0IAlEkksfFaip5KkQR8gUS1Zv0HHLRdpwEQXDKD567x7FpjYVlItmfkBUQX2B9Sj5zKZfo/UgG061+d3wa59rsU+2onW0hHnaRLgei6Sl8VA9CTLGTXgWFnv8Aj4l72K7mqSH8A5eQRdCm5QFYk/3Rf2+XUUwZ6wcfAO5unbIkpDAMS9HNHBeL+lCKvhFero+zn8N1BPc2OMZyxX4pP84ZZj3kc7rCNuVNQ6OP6/VSsYey5CthBc+dWC5A9XnvN9GRG4kWVCOO5zcxNIMaVIbm81Evcvx7NnXIrwqi6ZmS1j8O34BmHiYw9Z4IMBkQtECxABT8VBfyUxeby8AZAgEZzy+osgJwutly4Pc5vg2I5fQzBYrHpQBxidSP/J7XfkCEjfFMO4EkI7eo7OdW1FhYRssjW00v3gV69SH0nrJdUl4IipyzUUUv6TuAfy+QNDu69pTOW3MKM/2FB/xiiDyI3nqScPxoYa2dZgOHUvzd/bQTQouS3iJgG1sMmp0hg9999gaz52oeDCqKIQUoRaSYJxII0EcR8PQGit4IsFz5LoomIxhKIXdjE/NHbjYefRqQW3WJpCjQHQD7r/LV74LU4myBHxMRKL43AOioay0d/ABkgC9SkQmjPcX8bTkwDQObO/cQgZ75EhRMoZEf1hIMeHKsmI39nAJTT/OoYx9ndfo2cISeOiSB3c5ZBVItj+x5wlBnx2EO0RKZxFNvNkoPHXTk/BGSZzBRjY5PFxNx0cKP8MrreIMtkYia1myzYy3BgZc+MrjdIigRImKct0rY9by+Xsjyu1+tjWV4u23PbpgXOLjto5duiohrnU8dEV3ykVcl2wI9Fo+1SvbpYqJ5rPSK6snt6OZy+q1xF7hXx5MtEKq++T4dLV1fN/QA8Ob9V3QGILr2aavPAtE6stfRSxLtlkvqBuWaXgDRcqEoRpRf7T1xsm11iFPZPA0/Ed4dtrxmAyOYP670AJGvnIhfl6ToTrjre19ulQxuCEvOHfF4AojJp6jyaHVmMdpTXDSgLe8X2tACBROfmpEnRhv9aqjckG9jOsrAMGxfrenwrC0G9nr1kr70lcrZFhkbygKqqrtf6u75eH//V/cOKt0Tclk5uMxYct6fcy6Y4rMvtw5QcsqTihwG6LdcHj9Ufwuw0i1reNIkTuo+DihSJ5ElyFzjstUoeKzkdu4qSZup415HtzjNwVcnudjxvSB+WLCGOZMTD9y3Ox9sucSF3paoJXeV0tAX6iStYg3fs78pCbzF+9RMsfVivT7zHNrGfhqVLo1VL+6Go2h9bgtcV/VX65Y828ojb474aYayo8qj/o5Ad8pEvm7SGUsT9PPLIG/pcZmIma0can1V+CFHScePAQAbVZih46VHijgN9psMfO3C095SK2D6hAn0Ik2xRzN2r3hvFAk3DGclE62moVeN1zgcLvkrlpy06R51uUcWXp2+Dol5GsQnQfJ5tT7kFa7WSf+oLz78Pmdw8BSKEfvRiG7Rfz7YNTNfaN4NSo1fAJ20sNqDKZSm4Qu83fCMHih78J42syyGadATMF1T4omDAx2/qTCN2s6P9jwga7rM91B025uARcgzYr/IPNOLEDWFJICCcy215g8E5m16wEwx0TYc6VDHtol6IgMkGqKSA5FkQvWtRzCM3V0NVTmy1Nl/lrBlE1khKYLEV0mCHjE1canowiboH1jJ0CXbujNcego9TcPAAyiJgayukYLLgjRhkfjAvxYx6Ga0huhsUrRKLnQgZTQjibhE1hpWkNBx3oBoKS07xyOx/8MunxidKrIYqaq7vfx6dwVD6KE4v5bG8pEO2EbcU+sj2wQqmFBrwL/S2jWFFjgYovP/l6CK20m4uzBuqxrobTC4fKoPlh77nQednexz/rDf9D6ejgfA+ShO9+215qaQWg7IT0Td67P0u/OAwy+jNc5GlwUg7YVWNeJtIutTaJ7CVIp8ZxacSfj+FIRNAgI8Zc6mmq/hT1kaMObQDV3QHsUWJAux5TzviM4RYtXccj77wuL2uDWTgSmpi+oSL7kZU1tmTe/Q+J5NMPdC/zspTvKPum9wMLhqCQjtmc0ekScWxlgytSVQH6yQOT23jPjB2G1My+MRpd7QpwyALYkq7VpIhS7PEZhJnUJMSTAa4U0bmdY1dFMc8OcnX68KuJX907Z1EZS0Vsi/ZKtqxMXWcvkHmdbQBInQeArIlx0jfspaKDgNiBbQCJ1dM41UD1hx0X58He6ErDiBKujRKDg/OHtqOIcwnCltOuEtC/hhl8h6OxYnagbmtc4elj2figOP+HfegZIO44Rn9AI5byGpJboxFwai+4/gR86FtZg6p0EXBoUA4ZMQuQqf2bpIdd8Ru0zU54WUesrT9FumQXgBge04a6v02NsRoVpYdTeAEQGG8arPYbRAzti8Kl4mDnrr3werK08oNONt0rz1j8wrsgAInH5ZF5y6PbGsEy9r4riNjObIu1Pgzw4CCjR/6gH/xKPrTwmLcCrEbUVv6TOkh+1TpoRX0DXnVztANcWLFmA9hA9ap0w7ZY4dgDLw/KRoj5xOMIxY5SySsncJizNoW+JC9omeoS/xlXQV2tmbYrGFFPRMPtmDMkixJonul0OD1FxFtwzDGCorXHJbWcgZjXlUgySpVTS+AH3gJ+sAzjuc+44AaizfA668zDuTj26J87JO8M/j4HiSrackiq44nldUejIxk9ftIYTkPfXxw0MfOGDvoY4+qA0Mf/0c218dPCrGrDVeftavdDpmN+erOk5zzGLs6xHcy6nADfCeOjU3fSZqk5Xwn7B8LFZ65ofn9Y2FxCTIXIED2i2MgzAUEMgXFx0BInEtUucvt/C/EuWhv+38Ry5wgXo3/k3kyOF49sv44wpqYSElOwlUB4JxEMXNOopg4J6HlnRzFF8k7IZk4Q95p55F3Wg/lnSbILaLQMmvIDN/5NZZb3EyeW5wif4x+YeL8sZLnj7VR8NyO9BqBcYNTrxFARzJxjYCao0bgV9eBvL7+1HUgP1PrE7nU+rwl4eS1PovVcyV9PddAQxqu5/p8lMnrubhLaX5DzV7PtX41e8PDhM17Mh3qMhVblxk2Ev/AkYtXXebo/ZumPP2J2lscvwyqvbXoAQL6bT3d5tXpj9ZXu91vyVwSt/KpoQ/oAMfcEVJDf3WlMzakLu+T8B/eid2OgD4JQXQj3vHtJXmvTZx6YXyLypEpM94Lk95yfrM7WcxuyxvBnQp9nvQP9TuhupMnWbcnW7+TxZIbgqO1p221v8RL9bTpuhT+lseXva2TT638mpFtfXwr0rdoMMtp6I8OgGNxhtp161v0twXsOMPyZm8q/qtcKWNVbOZIHHpTA/DtwDRiNEhaA2Uc75MrZdxXb2jTeLT/2GYiCmBbDzd2P9yf3fpMzhI3TUubvvHQPSIi7uf1bmR4g4rqaabAbEaujl895wjUTZm+iRAL25A5Am9Rn6VlU7vMEThNODBCNCuiICaMLK+DaXr9Y7MinlB4zwORNAL7zwOZZdxNe7P1dA9CPvPMl3kH3aT/11yfF/xns5uekHmQ9jyw1K3e/98MNjRn7/ADc/YOy8/ZM2cpTjQhcxhZpa6n8kdmKf7AvMyHZdP84LzMwZmo+zpZOdoNDphGq6Te//xMVPjE/MCP7N6Wzf76wNx37m2H6XXflC0/9xZVli4z99Z9tvGd3u/jOtt4PeZULz3bWDK/mpR/tGk3vLqbXn18zq8+PidYX7bnlMyvHr99BSJ/89919CWdUY4TWX91RrlsDj2uT7JmZ3H2055DA0Bz6Gc3qr/Edw3gkpo/eteA9PaKv3+fhPTOkIzcGWLyHblXNHfjy2XvDBHfC5MOnyGhAUe2XPRemNC7f3TCIFLrV979E3q/kya9yNdwvgdt0fudwu/wwqRBam1+6R1e/989bb/tLr75gwIT3LfYqxRyzeavvW9xkjs1d7Z/coUl79SEm2KFOTQivTr6ILWEv/je1Gnuxn0QyMEizZxgybtxYdPSiAudlkTqvX/z/cchd1yXfHm1j1KFYpPZg3swZkE6e+Xrj95jjuy7n7yrHjVRz31XfRGEMbnx+LOOT/1mHMBcQkDVWl7kVBkYe6kX8OBmx7gIxDjTa3WYGIEDLIhxGB8/IKZl+rnnKh4+qycgkeG313ZFwS8YGbwNdwjSTl9Mk6psyt0HkHaaWx+jxKLP6VwYWe3j06MZJrPH6CGw53E4a87qcu0LxQCkMn9oz9t3ekBj6eKTV54v6TuBfyzeJ2txPZcSW13Ngv4x5FKl0YcrQZj+j3TfEImZP5968KSnOzU9lNZ9Mjwf3wDgrbBiahfwzGRqavgh6FONxiXutiyjGwh+N2rrQrqLq2tN5xKRDTMvPJtPRADn5C66tGai/LXNghqcguBes6BywpkxV0bWLppRyccwjPU/uB4YyISQVkFXOEgpSqNo4g9T+e1K2Yiz5hdcpJrKhaxjLQig6V5NR6vaxTEAonYeDRIEiB/HH9Y7XY2BDIYd5mDKIf73wkAKqCt1jAjvepSHUSa6c6G+x1QzUuVLFEXQDOjwk0bskm1wN1v5R5gTPblMlSIemTBk41305jBV8zZLZlBCMmRXINZfpIDti/b42wcrGJePDrhIBjNHlX00AurGXqYsU2tM5LNPW6bleyhPtTWeVhX/PGH7CZBxA8yfzDScbG02O46pHV2Jda8ka5MLDuJqt2kAyxp1JToxLr+ZImOHzTEpGhV9l+RDpcRiWcLC/MCW8F10Xadx1rVpXW5st5+qXCpyNuzwA1XdLl1zWHZP11f6s0v1hTxBN5VeeFpq5x3GQL3gwEaFLIv7pKtCwHWwa8fB7s6+YbEMwFKaqd+bK765jPa2YzdM9zB3LsIA5v4SBl8PcWqMXuJXXqZ9j0AxOvVTeRZb3cZxzn8AYW7OE8V3Ncft2q+lr/PXn/LAy9YnRJz54A4PI2Zg7QUtDx2KHT9QZ7UPd2raPXvQSu0Wl1kENidtEomKVrupIqqX3Yrab4+fmnI6gi+0Tf0RYnl9O067o83xhlZvJvCH/wF+kbz3sjDBK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6262" name="Picture 6"/>
          <p:cNvPicPr>
            <a:picLocks noChangeAspect="1" noChangeArrowheads="1"/>
          </p:cNvPicPr>
          <p:nvPr/>
        </p:nvPicPr>
        <p:blipFill>
          <a:blip r:embed="rId2" cstate="print"/>
          <a:srcRect/>
          <a:stretch>
            <a:fillRect/>
          </a:stretch>
        </p:blipFill>
        <p:spPr bwMode="auto">
          <a:xfrm>
            <a:off x="3962400" y="4724400"/>
            <a:ext cx="1529616" cy="13301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Automatic UI State Management</a:t>
            </a:r>
            <a:endParaRPr lang="en-US" dirty="0"/>
          </a:p>
        </p:txBody>
      </p:sp>
      <p:sp>
        <p:nvSpPr>
          <p:cNvPr id="3" name="Content Placeholder 2"/>
          <p:cNvSpPr>
            <a:spLocks noGrp="1"/>
          </p:cNvSpPr>
          <p:nvPr>
            <p:ph idx="1"/>
          </p:nvPr>
        </p:nvSpPr>
        <p:spPr/>
        <p:txBody>
          <a:bodyPr/>
          <a:lstStyle/>
          <a:p>
            <a:r>
              <a:rPr lang="en-US" sz="2400" dirty="0" smtClean="0"/>
              <a:t>With single-page apps, keeping track of your UI and maintaining state is hard—and very time-consuming.</a:t>
            </a:r>
          </a:p>
          <a:p>
            <a:r>
              <a:rPr lang="en-US" sz="2400" dirty="0" smtClean="0"/>
              <a:t>With React, you need to worry only about one thing: </a:t>
            </a:r>
            <a:r>
              <a:rPr lang="en-US" sz="2400" i="1" dirty="0" smtClean="0">
                <a:solidFill>
                  <a:srgbClr val="C00000"/>
                </a:solidFill>
              </a:rPr>
              <a:t>the final state</a:t>
            </a:r>
            <a:r>
              <a:rPr lang="en-US" sz="2400" dirty="0" smtClean="0"/>
              <a:t> your UI is in.</a:t>
            </a:r>
          </a:p>
          <a:p>
            <a:r>
              <a:rPr lang="en-US" sz="2400" dirty="0" smtClean="0"/>
              <a:t>It doesn't matter what state your UI started out in.</a:t>
            </a:r>
          </a:p>
          <a:p>
            <a:r>
              <a:rPr lang="en-US" sz="2400" dirty="0" smtClean="0"/>
              <a:t>It doesn't matter what series of steps your users may have taken to change the UI.</a:t>
            </a:r>
          </a:p>
          <a:p>
            <a:r>
              <a:rPr lang="en-US" sz="2400" dirty="0" smtClean="0"/>
              <a:t>All that matters is where your UI ended up.</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3048000" y="5181600"/>
            <a:ext cx="2571750" cy="120777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Lightning-Fast </a:t>
            </a:r>
            <a:r>
              <a:rPr lang="en-US" dirty="0" smtClean="0"/>
              <a:t>DOM Manipulation</a:t>
            </a:r>
            <a:endParaRPr lang="en-US" dirty="0"/>
          </a:p>
        </p:txBody>
      </p:sp>
      <p:sp>
        <p:nvSpPr>
          <p:cNvPr id="3" name="Content Placeholder 2"/>
          <p:cNvSpPr>
            <a:spLocks noGrp="1"/>
          </p:cNvSpPr>
          <p:nvPr>
            <p:ph idx="1"/>
          </p:nvPr>
        </p:nvSpPr>
        <p:spPr/>
        <p:txBody>
          <a:bodyPr/>
          <a:lstStyle/>
          <a:p>
            <a:r>
              <a:rPr lang="en-US" sz="2000" dirty="0" smtClean="0"/>
              <a:t>Because DOM modifications are really slow, you never modify the DOM directly using React.</a:t>
            </a:r>
          </a:p>
          <a:p>
            <a:r>
              <a:rPr lang="en-US" sz="2000" dirty="0" smtClean="0"/>
              <a:t>Instead, you modify an </a:t>
            </a:r>
            <a:r>
              <a:rPr lang="en-US" sz="2000" i="1" dirty="0" smtClean="0">
                <a:solidFill>
                  <a:srgbClr val="C00000"/>
                </a:solidFill>
              </a:rPr>
              <a:t>in-memory virtual DOM</a:t>
            </a:r>
            <a:r>
              <a:rPr lang="en-US" sz="2000" dirty="0" smtClean="0"/>
              <a:t> instead</a:t>
            </a:r>
            <a:r>
              <a:rPr lang="en-US" sz="2000" b="1" i="1" dirty="0" smtClean="0"/>
              <a:t>.</a:t>
            </a:r>
          </a:p>
          <a:p>
            <a:r>
              <a:rPr lang="en-US" sz="2000" dirty="0" smtClean="0"/>
              <a:t>React takes care of updating the real DOM when the time is right. It does so by comparing the changes between your virtual DOM and the real DOM, figuring out which changes actually matter, and making the least amount of DOM changes needed to keep everything up-to-date in a process called </a:t>
            </a:r>
            <a:r>
              <a:rPr lang="en-US" sz="2000" i="1" dirty="0" smtClean="0">
                <a:solidFill>
                  <a:srgbClr val="C00000"/>
                </a:solidFill>
              </a:rPr>
              <a:t>reconciliation</a:t>
            </a:r>
            <a:r>
              <a:rPr lang="en-US" sz="2000" b="1" dirty="0" smtClean="0"/>
              <a:t>.</a:t>
            </a:r>
            <a:endParaRPr lang="en-US" sz="2000" dirty="0"/>
          </a:p>
        </p:txBody>
      </p:sp>
      <p:pic>
        <p:nvPicPr>
          <p:cNvPr id="2051" name="Picture 3"/>
          <p:cNvPicPr>
            <a:picLocks noChangeAspect="1" noChangeArrowheads="1"/>
          </p:cNvPicPr>
          <p:nvPr/>
        </p:nvPicPr>
        <p:blipFill>
          <a:blip r:embed="rId2" cstate="print"/>
          <a:srcRect/>
          <a:stretch>
            <a:fillRect/>
          </a:stretch>
        </p:blipFill>
        <p:spPr bwMode="auto">
          <a:xfrm>
            <a:off x="3505200" y="4267200"/>
            <a:ext cx="2571750" cy="225552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APIs to Create Truly </a:t>
            </a:r>
            <a:r>
              <a:rPr lang="en-US" sz="4000" dirty="0" err="1" smtClean="0"/>
              <a:t>Composable</a:t>
            </a:r>
            <a:r>
              <a:rPr lang="en-US" sz="4000" dirty="0" smtClean="0"/>
              <a:t> UIs</a:t>
            </a:r>
            <a:endParaRPr lang="en-US" sz="4000" dirty="0"/>
          </a:p>
        </p:txBody>
      </p:sp>
      <p:sp>
        <p:nvSpPr>
          <p:cNvPr id="3" name="Content Placeholder 2"/>
          <p:cNvSpPr>
            <a:spLocks noGrp="1"/>
          </p:cNvSpPr>
          <p:nvPr>
            <p:ph idx="1"/>
          </p:nvPr>
        </p:nvSpPr>
        <p:spPr/>
        <p:txBody>
          <a:bodyPr/>
          <a:lstStyle/>
          <a:p>
            <a:r>
              <a:rPr lang="en-US" sz="2400" dirty="0" smtClean="0"/>
              <a:t>Instead of treating the visual elements in your app as one monolithic chunk, React encourages you to </a:t>
            </a:r>
            <a:r>
              <a:rPr lang="en-US" sz="2400" i="1" dirty="0" smtClean="0">
                <a:solidFill>
                  <a:srgbClr val="C00000"/>
                </a:solidFill>
              </a:rPr>
              <a:t>break</a:t>
            </a:r>
            <a:r>
              <a:rPr lang="en-US" sz="2400" dirty="0" smtClean="0"/>
              <a:t> your </a:t>
            </a:r>
            <a:r>
              <a:rPr lang="en-US" sz="2400" u="sng" dirty="0" smtClean="0"/>
              <a:t>visual elements</a:t>
            </a:r>
            <a:r>
              <a:rPr lang="en-US" sz="2400" dirty="0" smtClean="0"/>
              <a:t> into smaller and </a:t>
            </a:r>
            <a:r>
              <a:rPr lang="en-US" sz="2400" u="sng" dirty="0" smtClean="0"/>
              <a:t>smaller components</a:t>
            </a:r>
            <a:r>
              <a:rPr lang="en-US" sz="2400" dirty="0" smtClean="0"/>
              <a:t>.</a:t>
            </a:r>
          </a:p>
          <a:p>
            <a:r>
              <a:rPr lang="en-US" sz="2400" dirty="0" smtClean="0"/>
              <a:t>Just like everything else in programming, it is a good idea to have things be modular, compact, and self-contained.</a:t>
            </a:r>
          </a:p>
          <a:p>
            <a:r>
              <a:rPr lang="en-US" sz="2400" dirty="0" smtClean="0"/>
              <a:t>Many of React's core APIs make it easier to create </a:t>
            </a:r>
            <a:r>
              <a:rPr lang="en-US" sz="2400" i="1" dirty="0" smtClean="0">
                <a:solidFill>
                  <a:srgbClr val="C00000"/>
                </a:solidFill>
              </a:rPr>
              <a:t>smaller visual components</a:t>
            </a:r>
            <a:r>
              <a:rPr lang="en-US" sz="2400" dirty="0" smtClean="0"/>
              <a:t> that can later be </a:t>
            </a:r>
            <a:r>
              <a:rPr lang="en-US" sz="2400" u="sng" dirty="0" smtClean="0"/>
              <a:t>combined</a:t>
            </a:r>
            <a:r>
              <a:rPr lang="en-US" sz="2400" dirty="0" smtClean="0"/>
              <a:t> with other visual components to make larger and more complex visual components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JSX (JavaScript </a:t>
            </a:r>
            <a:r>
              <a:rPr lang="en-US" dirty="0" err="1" smtClean="0"/>
              <a:t>eXtension</a:t>
            </a:r>
            <a:r>
              <a:rPr lang="en-US" dirty="0" smtClean="0"/>
              <a:t>)</a:t>
            </a:r>
            <a:endParaRPr lang="en-US" dirty="0"/>
          </a:p>
        </p:txBody>
      </p:sp>
      <p:sp>
        <p:nvSpPr>
          <p:cNvPr id="3" name="Content Placeholder 2"/>
          <p:cNvSpPr>
            <a:spLocks noGrp="1"/>
          </p:cNvSpPr>
          <p:nvPr>
            <p:ph idx="1"/>
          </p:nvPr>
        </p:nvSpPr>
        <p:spPr/>
        <p:txBody>
          <a:bodyPr/>
          <a:lstStyle/>
          <a:p>
            <a:r>
              <a:rPr lang="en-US" sz="2000" dirty="0" smtClean="0"/>
              <a:t>It doesn't matter if your web app was written using React or some other library like Angular, Knockout, or </a:t>
            </a:r>
            <a:r>
              <a:rPr lang="en-US" sz="2000" dirty="0" err="1" smtClean="0"/>
              <a:t>jQuery</a:t>
            </a:r>
            <a:r>
              <a:rPr lang="en-US" sz="2000" dirty="0" smtClean="0"/>
              <a:t>.</a:t>
            </a:r>
          </a:p>
          <a:p>
            <a:r>
              <a:rPr lang="en-US" sz="2000" dirty="0" smtClean="0"/>
              <a:t>The </a:t>
            </a:r>
            <a:r>
              <a:rPr lang="en-US" sz="2000" i="1" dirty="0" smtClean="0">
                <a:solidFill>
                  <a:srgbClr val="C00000"/>
                </a:solidFill>
              </a:rPr>
              <a:t>end result</a:t>
            </a:r>
            <a:r>
              <a:rPr lang="en-US" sz="2000" dirty="0" smtClean="0"/>
              <a:t> has to be some </a:t>
            </a:r>
            <a:r>
              <a:rPr lang="en-US" sz="2000" u="sng" dirty="0" smtClean="0"/>
              <a:t>combination of HTML, CSS, and JavaScript</a:t>
            </a:r>
            <a:r>
              <a:rPr lang="en-US" sz="2000" dirty="0" smtClean="0"/>
              <a:t>.</a:t>
            </a:r>
          </a:p>
          <a:p>
            <a:r>
              <a:rPr lang="en-US" sz="2000" dirty="0" smtClean="0"/>
              <a:t>Otherwise, your browser really won't know what to do.</a:t>
            </a:r>
          </a:p>
          <a:p>
            <a:r>
              <a:rPr lang="en-US" sz="2000" dirty="0" smtClean="0"/>
              <a:t>Besides normal HTML, CSS, and JavaScript, the bulk of your React code will be written in something known as </a:t>
            </a:r>
            <a:r>
              <a:rPr lang="en-US" sz="2000" i="1" dirty="0" smtClean="0">
                <a:solidFill>
                  <a:srgbClr val="C00000"/>
                </a:solidFill>
              </a:rPr>
              <a:t>JSX (JavaScript </a:t>
            </a:r>
            <a:r>
              <a:rPr lang="en-US" sz="2000" i="1" dirty="0" err="1" smtClean="0">
                <a:solidFill>
                  <a:srgbClr val="C00000"/>
                </a:solidFill>
              </a:rPr>
              <a:t>eXtension</a:t>
            </a:r>
            <a:r>
              <a:rPr lang="en-US" sz="2000" i="1" dirty="0" smtClean="0">
                <a:solidFill>
                  <a:srgbClr val="C00000"/>
                </a:solidFill>
              </a:rPr>
              <a:t>)</a:t>
            </a:r>
            <a:r>
              <a:rPr lang="en-US" sz="2000" dirty="0" smtClean="0"/>
              <a:t>.</a:t>
            </a:r>
          </a:p>
          <a:p>
            <a:r>
              <a:rPr lang="en-US" sz="2000" dirty="0" smtClean="0"/>
              <a:t>JSX is </a:t>
            </a:r>
            <a:r>
              <a:rPr lang="en-US" sz="2000" u="sng" dirty="0" smtClean="0"/>
              <a:t>a language</a:t>
            </a:r>
            <a:r>
              <a:rPr lang="en-US" sz="2000" dirty="0" smtClean="0"/>
              <a:t> that allows you to easily mix JavaScript and HTML-like tags </a:t>
            </a:r>
            <a:r>
              <a:rPr lang="en-US" sz="2000" u="sng" dirty="0" smtClean="0"/>
              <a:t>to define user interface (UI) elements</a:t>
            </a:r>
            <a:r>
              <a:rPr lang="en-US" sz="2000" dirty="0" smtClean="0"/>
              <a:t> and </a:t>
            </a:r>
            <a:r>
              <a:rPr lang="en-US" sz="2000" u="sng" dirty="0" smtClean="0"/>
              <a:t>their functionality</a:t>
            </a:r>
            <a:r>
              <a:rPr lang="en-US" sz="2000" dirty="0" smtClean="0"/>
              <a:t>.</a:t>
            </a:r>
          </a:p>
          <a:p>
            <a:r>
              <a:rPr lang="en-US" sz="2000" dirty="0" smtClean="0"/>
              <a:t>To build a web app using React, we need a way to take our JSX and </a:t>
            </a:r>
            <a:r>
              <a:rPr lang="en-US" sz="2000" i="1" dirty="0" smtClean="0">
                <a:solidFill>
                  <a:srgbClr val="C00000"/>
                </a:solidFill>
              </a:rPr>
              <a:t>convert it into plain old JavaScript</a:t>
            </a:r>
            <a:r>
              <a:rPr lang="en-US" sz="2000" dirty="0" smtClean="0"/>
              <a:t> that your browser can understand.</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You Need</a:t>
            </a:r>
            <a:endParaRPr lang="en-US" dirty="0"/>
          </a:p>
        </p:txBody>
      </p:sp>
      <p:sp>
        <p:nvSpPr>
          <p:cNvPr id="3" name="Content Placeholder 2"/>
          <p:cNvSpPr>
            <a:spLocks noGrp="1"/>
          </p:cNvSpPr>
          <p:nvPr>
            <p:ph idx="1"/>
          </p:nvPr>
        </p:nvSpPr>
        <p:spPr/>
        <p:txBody>
          <a:bodyPr/>
          <a:lstStyle/>
          <a:p>
            <a:r>
              <a:rPr lang="en-US" sz="2400" dirty="0" smtClean="0"/>
              <a:t>Visual Studio Code. </a:t>
            </a:r>
            <a:r>
              <a:rPr lang="en-US" sz="2400" dirty="0" smtClean="0">
                <a:hlinkClick r:id="rId2"/>
              </a:rPr>
              <a:t>https://code.visualstudio.com/</a:t>
            </a:r>
            <a:endParaRPr lang="en-US" sz="2400" dirty="0" smtClean="0"/>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Hello World</a:t>
            </a:r>
            <a:endParaRPr lang="en-US" dirty="0"/>
          </a:p>
        </p:txBody>
      </p:sp>
      <p:sp>
        <p:nvSpPr>
          <p:cNvPr id="4" name="Rectangle 3"/>
          <p:cNvSpPr/>
          <p:nvPr/>
        </p:nvSpPr>
        <p:spPr>
          <a:xfrm>
            <a:off x="533400" y="1524000"/>
            <a:ext cx="8153400" cy="341632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200" dirty="0" smtClean="0">
                <a:latin typeface="Consolas" pitchFamily="49" charset="0"/>
              </a:rPr>
              <a:t>&lt;!DOCTYPE html&gt;</a:t>
            </a:r>
          </a:p>
          <a:p>
            <a:r>
              <a:rPr lang="en-US" sz="1200" dirty="0" smtClean="0">
                <a:latin typeface="Consolas" pitchFamily="49" charset="0"/>
              </a:rPr>
              <a:t>&lt;html&gt;</a:t>
            </a:r>
          </a:p>
          <a:p>
            <a:r>
              <a:rPr lang="en-US" sz="1200" dirty="0" smtClean="0">
                <a:latin typeface="Consolas" pitchFamily="49" charset="0"/>
              </a:rPr>
              <a:t>&lt;head&gt;</a:t>
            </a:r>
          </a:p>
          <a:p>
            <a:r>
              <a:rPr lang="en-US" sz="1200" dirty="0" smtClean="0">
                <a:latin typeface="Consolas" pitchFamily="49" charset="0"/>
              </a:rPr>
              <a:t>    &lt;title&gt;React! React! React!&lt;/title&gt;</a:t>
            </a:r>
          </a:p>
          <a:p>
            <a:r>
              <a:rPr lang="en-US" sz="1200" dirty="0" smtClean="0">
                <a:latin typeface="Consolas" pitchFamily="49" charset="0"/>
              </a:rPr>
              <a:t> &lt;title&gt;React! React! React!&lt;/title&gt;</a:t>
            </a:r>
          </a:p>
          <a:p>
            <a:r>
              <a:rPr lang="en-US" sz="1200" dirty="0" smtClean="0">
                <a:latin typeface="Consolas" pitchFamily="49" charset="0"/>
              </a:rPr>
              <a:t>    &lt;script </a:t>
            </a:r>
            <a:r>
              <a:rPr lang="en-US" sz="1200" dirty="0" err="1" smtClean="0">
                <a:latin typeface="Consolas" pitchFamily="49" charset="0"/>
              </a:rPr>
              <a:t>src</a:t>
            </a:r>
            <a:r>
              <a:rPr lang="en-US" sz="1200" dirty="0" smtClean="0">
                <a:latin typeface="Consolas" pitchFamily="49" charset="0"/>
              </a:rPr>
              <a:t>="https://unpkg.com/react@16/umd/react.development.js"&gt;&lt;/script&gt;</a:t>
            </a:r>
          </a:p>
          <a:p>
            <a:r>
              <a:rPr lang="en-US" sz="1200" dirty="0" smtClean="0">
                <a:latin typeface="Consolas" pitchFamily="49" charset="0"/>
              </a:rPr>
              <a:t>    &lt;script </a:t>
            </a:r>
            <a:r>
              <a:rPr lang="en-US" sz="1200" dirty="0" err="1" smtClean="0">
                <a:latin typeface="Consolas" pitchFamily="49" charset="0"/>
              </a:rPr>
              <a:t>src</a:t>
            </a:r>
            <a:r>
              <a:rPr lang="en-US" sz="1200" dirty="0" smtClean="0">
                <a:latin typeface="Consolas" pitchFamily="49" charset="0"/>
              </a:rPr>
              <a:t>="https://unpkg.com/react-dom@16/umd/react-dom.development.js"&gt;&lt;/script&gt;</a:t>
            </a:r>
          </a:p>
          <a:p>
            <a:r>
              <a:rPr lang="en-US" sz="1200" dirty="0" smtClean="0">
                <a:latin typeface="Consolas" pitchFamily="49" charset="0"/>
              </a:rPr>
              <a:t>    &lt;script </a:t>
            </a:r>
            <a:r>
              <a:rPr lang="en-US" sz="1200" dirty="0" err="1" smtClean="0">
                <a:latin typeface="Consolas" pitchFamily="49" charset="0"/>
              </a:rPr>
              <a:t>src</a:t>
            </a:r>
            <a:r>
              <a:rPr lang="en-US" sz="1200" dirty="0" smtClean="0">
                <a:latin typeface="Consolas" pitchFamily="49" charset="0"/>
              </a:rPr>
              <a:t>="https://unpkg.com/babel-standalone@6.15.0/babel.min.js"&gt;&lt;/script&gt;</a:t>
            </a:r>
          </a:p>
          <a:p>
            <a:r>
              <a:rPr lang="en-US" sz="1200" dirty="0" smtClean="0">
                <a:latin typeface="Consolas" pitchFamily="49" charset="0"/>
              </a:rPr>
              <a:t>&lt;/head&gt;</a:t>
            </a:r>
          </a:p>
          <a:p>
            <a:r>
              <a:rPr lang="en-US" sz="1200" dirty="0" smtClean="0">
                <a:latin typeface="Consolas" pitchFamily="49" charset="0"/>
              </a:rPr>
              <a:t>&lt;body&gt;</a:t>
            </a:r>
          </a:p>
          <a:p>
            <a:r>
              <a:rPr lang="en-US" sz="1200" dirty="0" smtClean="0">
                <a:latin typeface="Consolas" pitchFamily="49" charset="0"/>
              </a:rPr>
              <a:t>    &lt;script type="text/</a:t>
            </a:r>
            <a:r>
              <a:rPr lang="en-US" sz="1200" dirty="0" err="1" smtClean="0">
                <a:latin typeface="Consolas" pitchFamily="49" charset="0"/>
              </a:rPr>
              <a:t>babel</a:t>
            </a:r>
            <a:r>
              <a:rPr lang="en-US" sz="1200" dirty="0" smtClean="0">
                <a:latin typeface="Consolas" pitchFamily="49" charset="0"/>
              </a:rPr>
              <a:t>"&gt;</a:t>
            </a:r>
          </a:p>
          <a:p>
            <a:r>
              <a:rPr lang="en-US" sz="1200" smtClean="0">
                <a:latin typeface="Consolas" pitchFamily="49" charset="0"/>
              </a:rPr>
              <a:t>        </a:t>
            </a:r>
            <a:r>
              <a:rPr lang="en-US" sz="1200" b="1" smtClean="0">
                <a:latin typeface="Consolas" pitchFamily="49" charset="0"/>
              </a:rPr>
              <a:t>ReactDOM.render</a:t>
            </a:r>
            <a:r>
              <a:rPr lang="en-US" sz="1200" dirty="0" smtClean="0">
                <a:latin typeface="Consolas" pitchFamily="49" charset="0"/>
              </a:rPr>
              <a:t>(</a:t>
            </a:r>
          </a:p>
          <a:p>
            <a:r>
              <a:rPr lang="en-US" sz="1200" smtClean="0">
                <a:latin typeface="Consolas" pitchFamily="49" charset="0"/>
              </a:rPr>
              <a:t>        &lt;</a:t>
            </a:r>
            <a:r>
              <a:rPr lang="en-US" sz="1200" dirty="0" smtClean="0">
                <a:latin typeface="Consolas" pitchFamily="49" charset="0"/>
              </a:rPr>
              <a:t>h1&gt;Hello World!&lt;/h1&gt;,</a:t>
            </a:r>
          </a:p>
          <a:p>
            <a:r>
              <a:rPr lang="en-US" sz="1200" smtClean="0">
                <a:latin typeface="Consolas" pitchFamily="49" charset="0"/>
              </a:rPr>
              <a:t>        document.body</a:t>
            </a:r>
            <a:endParaRPr lang="en-US" sz="1200" dirty="0" smtClean="0">
              <a:latin typeface="Consolas" pitchFamily="49" charset="0"/>
            </a:endParaRPr>
          </a:p>
          <a:p>
            <a:r>
              <a:rPr lang="en-US" sz="1200" smtClean="0">
                <a:latin typeface="Consolas" pitchFamily="49" charset="0"/>
              </a:rPr>
              <a:t>        );</a:t>
            </a:r>
            <a:endParaRPr lang="en-US" sz="1200" dirty="0" smtClean="0">
              <a:latin typeface="Consolas" pitchFamily="49" charset="0"/>
            </a:endParaRPr>
          </a:p>
          <a:p>
            <a:r>
              <a:rPr lang="en-US" sz="1200" dirty="0" smtClean="0">
                <a:latin typeface="Consolas" pitchFamily="49" charset="0"/>
              </a:rPr>
              <a:t>    &lt;/script&gt;</a:t>
            </a:r>
          </a:p>
          <a:p>
            <a:r>
              <a:rPr lang="en-US" sz="1200" dirty="0" smtClean="0">
                <a:latin typeface="Consolas" pitchFamily="49" charset="0"/>
              </a:rPr>
              <a:t>&lt;/body&gt;</a:t>
            </a:r>
          </a:p>
          <a:p>
            <a:r>
              <a:rPr lang="en-US" sz="1200" dirty="0" smtClean="0">
                <a:latin typeface="Consolas" pitchFamily="49" charset="0"/>
              </a:rPr>
              <a:t>&lt;/html&gt;</a:t>
            </a:r>
            <a:endParaRPr lang="en-US" sz="1200" dirty="0">
              <a:latin typeface="Consolas" pitchFamily="49" charset="0"/>
            </a:endParaRPr>
          </a:p>
        </p:txBody>
      </p:sp>
      <p:pic>
        <p:nvPicPr>
          <p:cNvPr id="3074" name="Picture 2"/>
          <p:cNvPicPr>
            <a:picLocks noChangeAspect="1" noChangeArrowheads="1"/>
          </p:cNvPicPr>
          <p:nvPr/>
        </p:nvPicPr>
        <p:blipFill>
          <a:blip r:embed="rId2" cstate="print"/>
          <a:srcRect/>
          <a:stretch>
            <a:fillRect/>
          </a:stretch>
        </p:blipFill>
        <p:spPr bwMode="auto">
          <a:xfrm>
            <a:off x="4876800" y="5410200"/>
            <a:ext cx="3400425" cy="840105"/>
          </a:xfrm>
          <a:prstGeom prst="rect">
            <a:avLst/>
          </a:prstGeom>
          <a:noFill/>
          <a:ln w="9525">
            <a:noFill/>
            <a:miter lim="800000"/>
            <a:headEnd/>
            <a:tailEnd/>
          </a:ln>
        </p:spPr>
      </p:pic>
      <p:sp>
        <p:nvSpPr>
          <p:cNvPr id="6" name="Rectangle 5"/>
          <p:cNvSpPr/>
          <p:nvPr/>
        </p:nvSpPr>
        <p:spPr>
          <a:xfrm>
            <a:off x="3733800" y="3429000"/>
            <a:ext cx="5105400" cy="1015663"/>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sz="2000" dirty="0" smtClean="0">
                <a:latin typeface="Consolas" pitchFamily="49" charset="0"/>
              </a:rPr>
              <a:t>Use the Babel library to translate the JSX into JavaScript on the browser itself.</a:t>
            </a:r>
            <a:endParaRPr lang="en-US" sz="2000" dirty="0">
              <a:latin typeface="Consolas"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Use a DIV</a:t>
            </a:r>
            <a:endParaRPr lang="en-US" dirty="0"/>
          </a:p>
        </p:txBody>
      </p:sp>
      <p:sp>
        <p:nvSpPr>
          <p:cNvPr id="4" name="Rectangle 3"/>
          <p:cNvSpPr/>
          <p:nvPr/>
        </p:nvSpPr>
        <p:spPr>
          <a:xfrm>
            <a:off x="533400" y="1524000"/>
            <a:ext cx="8153400" cy="338554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&lt;body&gt;</a:t>
            </a:r>
          </a:p>
          <a:p>
            <a:r>
              <a:rPr lang="en-US" sz="1600" dirty="0" smtClean="0">
                <a:latin typeface="Consolas" pitchFamily="49" charset="0"/>
              </a:rPr>
              <a:t>    &lt;div id="container"&gt;&lt;/div&gt;</a:t>
            </a:r>
          </a:p>
          <a:p>
            <a:r>
              <a:rPr lang="en-US" sz="1600" dirty="0" smtClean="0">
                <a:latin typeface="Consolas" pitchFamily="49" charset="0"/>
              </a:rPr>
              <a:t>    &lt;script type="text/</a:t>
            </a:r>
            <a:r>
              <a:rPr lang="en-US" sz="1600" dirty="0" err="1" smtClean="0">
                <a:latin typeface="Consolas" pitchFamily="49" charset="0"/>
              </a:rPr>
              <a:t>babel</a:t>
            </a:r>
            <a:r>
              <a:rPr lang="en-US" sz="1600" dirty="0" smtClean="0">
                <a:latin typeface="Consolas" pitchFamily="49" charset="0"/>
              </a:rPr>
              <a:t>"&gt;</a:t>
            </a:r>
          </a:p>
          <a:p>
            <a:r>
              <a:rPr lang="en-US" sz="1600" smtClean="0">
                <a:latin typeface="Consolas" pitchFamily="49" charset="0"/>
              </a:rPr>
              <a:t>        var </a:t>
            </a:r>
            <a:r>
              <a:rPr lang="en-US" sz="1600" dirty="0" smtClean="0">
                <a:latin typeface="Consolas" pitchFamily="49" charset="0"/>
              </a:rPr>
              <a:t>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smtClean="0">
                <a:latin typeface="Consolas" pitchFamily="49" charset="0"/>
              </a:rPr>
              <a:t>        </a:t>
            </a:r>
            <a:r>
              <a:rPr lang="en-US" sz="1600" b="1" smtClean="0">
                <a:latin typeface="Consolas" pitchFamily="49" charset="0"/>
              </a:rPr>
              <a:t>ReactDOM.render</a:t>
            </a:r>
            <a:r>
              <a:rPr lang="en-US" sz="1600" smtClean="0">
                <a:latin typeface="Consolas" pitchFamily="49" charset="0"/>
              </a:rPr>
              <a:t>(</a:t>
            </a:r>
            <a:r>
              <a:rPr lang="en-US" sz="1600" b="1" smtClean="0">
                <a:latin typeface="Consolas" pitchFamily="49" charset="0"/>
              </a:rPr>
              <a:t>React.createElement</a:t>
            </a:r>
            <a:r>
              <a:rPr lang="en-US" sz="1600" dirty="0" smtClean="0">
                <a:latin typeface="Consolas" pitchFamily="49" charset="0"/>
              </a:rPr>
              <a:t>(</a:t>
            </a:r>
          </a:p>
          <a:p>
            <a:r>
              <a:rPr lang="en-US" sz="1600" smtClean="0">
                <a:latin typeface="Consolas" pitchFamily="49" charset="0"/>
              </a:rPr>
              <a:t>            </a:t>
            </a:r>
            <a:r>
              <a:rPr lang="en-US" sz="1600" dirty="0" smtClean="0">
                <a:latin typeface="Consolas" pitchFamily="49" charset="0"/>
              </a:rPr>
              <a:t>"h1",</a:t>
            </a:r>
          </a:p>
          <a:p>
            <a:r>
              <a:rPr lang="en-US" sz="1600" smtClean="0">
                <a:latin typeface="Consolas" pitchFamily="49" charset="0"/>
              </a:rPr>
              <a:t>            </a:t>
            </a:r>
            <a:r>
              <a:rPr lang="en-US" sz="1600" dirty="0" smtClean="0">
                <a:latin typeface="Consolas" pitchFamily="49" charset="0"/>
              </a:rPr>
              <a:t>null,</a:t>
            </a:r>
          </a:p>
          <a:p>
            <a:r>
              <a:rPr lang="en-US" sz="1600" smtClean="0">
                <a:latin typeface="Consolas" pitchFamily="49" charset="0"/>
              </a:rPr>
              <a:t>            </a:t>
            </a:r>
            <a:r>
              <a:rPr lang="en-US" sz="1600" dirty="0" smtClean="0">
                <a:latin typeface="Consolas" pitchFamily="49" charset="0"/>
              </a:rPr>
              <a:t>"Hello World!"</a:t>
            </a:r>
          </a:p>
          <a:p>
            <a:r>
              <a:rPr lang="en-US" sz="1600" smtClean="0">
                <a:latin typeface="Consolas" pitchFamily="49" charset="0"/>
              </a:rPr>
              <a:t>            </a:t>
            </a:r>
            <a:r>
              <a:rPr lang="en-US" sz="1600" dirty="0" smtClean="0">
                <a:latin typeface="Consolas" pitchFamily="49" charset="0"/>
              </a:rPr>
              <a:t>), </a:t>
            </a:r>
          </a:p>
          <a:p>
            <a:r>
              <a:rPr lang="en-US" sz="1600" smtClean="0">
                <a:latin typeface="Consolas" pitchFamily="49" charset="0"/>
              </a:rPr>
              <a:t>            </a:t>
            </a:r>
            <a:r>
              <a:rPr lang="en-US" sz="1600" dirty="0" smtClean="0">
                <a:latin typeface="Consolas" pitchFamily="49" charset="0"/>
              </a:rPr>
              <a:t>destination</a:t>
            </a:r>
          </a:p>
          <a:p>
            <a:r>
              <a:rPr lang="en-US" sz="1600" smtClean="0">
                <a:latin typeface="Consolas" pitchFamily="49" charset="0"/>
              </a:rPr>
              <a:t>        );</a:t>
            </a:r>
            <a:endParaRPr lang="en-US" sz="1600" dirty="0" smtClean="0">
              <a:latin typeface="Consolas" pitchFamily="49" charset="0"/>
            </a:endParaRPr>
          </a:p>
          <a:p>
            <a:r>
              <a:rPr lang="en-US" sz="1600" dirty="0" smtClean="0">
                <a:latin typeface="Consolas" pitchFamily="49" charset="0"/>
              </a:rPr>
              <a:t>    &lt;/script&gt;</a:t>
            </a:r>
          </a:p>
          <a:p>
            <a:r>
              <a:rPr lang="en-US" sz="1600" dirty="0" smtClean="0">
                <a:latin typeface="Consolas" pitchFamily="49" charset="0"/>
              </a:rPr>
              <a:t>&lt;/body&gt;</a:t>
            </a:r>
            <a:endParaRPr lang="en-US" sz="1600" dirty="0">
              <a:latin typeface="Consolas" pitchFamily="49" charset="0"/>
            </a:endParaRPr>
          </a:p>
        </p:txBody>
      </p:sp>
      <p:pic>
        <p:nvPicPr>
          <p:cNvPr id="4098" name="Picture 2"/>
          <p:cNvPicPr>
            <a:picLocks noChangeAspect="1" noChangeArrowheads="1"/>
          </p:cNvPicPr>
          <p:nvPr/>
        </p:nvPicPr>
        <p:blipFill>
          <a:blip r:embed="rId2" cstate="print"/>
          <a:srcRect/>
          <a:stretch>
            <a:fillRect/>
          </a:stretch>
        </p:blipFill>
        <p:spPr bwMode="auto">
          <a:xfrm>
            <a:off x="1066800" y="5099050"/>
            <a:ext cx="6902450" cy="130175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nsolas" pitchFamily="49" charset="0"/>
              </a:rPr>
              <a:t>ReactDOM.render</a:t>
            </a:r>
            <a:endParaRPr lang="en-US" dirty="0"/>
          </a:p>
        </p:txBody>
      </p:sp>
      <p:sp>
        <p:nvSpPr>
          <p:cNvPr id="5" name="Rectangle 4"/>
          <p:cNvSpPr/>
          <p:nvPr/>
        </p:nvSpPr>
        <p:spPr>
          <a:xfrm>
            <a:off x="533400" y="1717119"/>
            <a:ext cx="8153400" cy="424731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808080"/>
                </a:solidFill>
                <a:latin typeface="Consolas"/>
              </a:rPr>
              <a:t>&lt;</a:t>
            </a:r>
            <a:r>
              <a:rPr lang="en-US" dirty="0" smtClean="0">
                <a:solidFill>
                  <a:srgbClr val="569CD6"/>
                </a:solidFill>
                <a:latin typeface="Consolas"/>
              </a:rPr>
              <a:t>body</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CCCCCC"/>
                </a:solidFill>
                <a:latin typeface="Consolas"/>
              </a:rPr>
              <a:t>    </a:t>
            </a:r>
            <a:r>
              <a:rPr lang="en-US" dirty="0" smtClean="0">
                <a:solidFill>
                  <a:srgbClr val="808080"/>
                </a:solidFill>
                <a:latin typeface="Consolas"/>
              </a:rPr>
              <a:t>&lt;</a:t>
            </a:r>
            <a:r>
              <a:rPr lang="en-US" dirty="0" smtClean="0">
                <a:solidFill>
                  <a:srgbClr val="569CD6"/>
                </a:solidFill>
                <a:latin typeface="Consolas"/>
              </a:rPr>
              <a:t>div</a:t>
            </a:r>
            <a:r>
              <a:rPr lang="en-US" dirty="0" smtClean="0">
                <a:solidFill>
                  <a:srgbClr val="CCCCCC"/>
                </a:solidFill>
                <a:latin typeface="Consolas"/>
              </a:rPr>
              <a:t> </a:t>
            </a:r>
            <a:r>
              <a:rPr lang="en-US" dirty="0" smtClean="0">
                <a:solidFill>
                  <a:srgbClr val="9CDCFE"/>
                </a:solidFill>
                <a:latin typeface="Consolas"/>
              </a:rPr>
              <a:t>id</a:t>
            </a:r>
            <a:r>
              <a:rPr lang="en-US" dirty="0" smtClean="0">
                <a:solidFill>
                  <a:srgbClr val="CCCCCC"/>
                </a:solidFill>
                <a:latin typeface="Consolas"/>
              </a:rPr>
              <a:t>=</a:t>
            </a:r>
            <a:r>
              <a:rPr lang="en-US" dirty="0" smtClean="0">
                <a:solidFill>
                  <a:srgbClr val="CE9178"/>
                </a:solidFill>
                <a:latin typeface="Consolas"/>
              </a:rPr>
              <a:t>"container"</a:t>
            </a:r>
            <a:r>
              <a:rPr lang="en-US" dirty="0" smtClean="0">
                <a:solidFill>
                  <a:srgbClr val="808080"/>
                </a:solidFill>
                <a:latin typeface="Consolas"/>
              </a:rPr>
              <a:t>&gt;&lt;/</a:t>
            </a:r>
            <a:r>
              <a:rPr lang="en-US" dirty="0" smtClean="0">
                <a:solidFill>
                  <a:srgbClr val="569CD6"/>
                </a:solidFill>
                <a:latin typeface="Consolas"/>
              </a:rPr>
              <a:t>div</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CCCCCC"/>
                </a:solidFill>
                <a:latin typeface="Consolas"/>
              </a:rPr>
              <a:t>    </a:t>
            </a:r>
            <a:r>
              <a:rPr lang="en-US" dirty="0" smtClean="0">
                <a:solidFill>
                  <a:srgbClr val="808080"/>
                </a:solidFill>
                <a:latin typeface="Consolas"/>
              </a:rPr>
              <a:t>&lt;</a:t>
            </a:r>
            <a:r>
              <a:rPr lang="en-US" dirty="0" smtClean="0">
                <a:solidFill>
                  <a:srgbClr val="569CD6"/>
                </a:solidFill>
                <a:latin typeface="Consolas"/>
              </a:rPr>
              <a:t>script</a:t>
            </a:r>
            <a:r>
              <a:rPr lang="en-US" dirty="0" smtClean="0">
                <a:solidFill>
                  <a:srgbClr val="D4D4D4"/>
                </a:solidFill>
                <a:latin typeface="Consolas"/>
              </a:rPr>
              <a:t> </a:t>
            </a:r>
            <a:r>
              <a:rPr lang="en-US" dirty="0" smtClean="0">
                <a:solidFill>
                  <a:srgbClr val="9CDCFE"/>
                </a:solidFill>
                <a:latin typeface="Consolas"/>
              </a:rPr>
              <a:t>type</a:t>
            </a:r>
            <a:r>
              <a:rPr lang="en-US" dirty="0" smtClean="0">
                <a:solidFill>
                  <a:srgbClr val="D4D4D4"/>
                </a:solidFill>
                <a:latin typeface="Consolas"/>
              </a:rPr>
              <a:t>=</a:t>
            </a:r>
            <a:r>
              <a:rPr lang="en-US" dirty="0" smtClean="0">
                <a:solidFill>
                  <a:srgbClr val="CE9178"/>
                </a:solidFill>
                <a:latin typeface="Consolas"/>
              </a:rPr>
              <a:t>"text/</a:t>
            </a:r>
            <a:r>
              <a:rPr lang="en-US" dirty="0" err="1" smtClean="0">
                <a:solidFill>
                  <a:srgbClr val="CE9178"/>
                </a:solidFill>
                <a:latin typeface="Consolas"/>
              </a:rPr>
              <a:t>babel</a:t>
            </a:r>
            <a:r>
              <a:rPr lang="en-US" dirty="0" smtClean="0">
                <a:solidFill>
                  <a:srgbClr val="CE9178"/>
                </a:solidFill>
                <a:latin typeface="Consolas"/>
              </a:rPr>
              <a:t>"</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D4D4D4"/>
                </a:solidFill>
                <a:latin typeface="Consolas"/>
              </a:rPr>
              <a:t>        </a:t>
            </a:r>
            <a:r>
              <a:rPr lang="en-US" dirty="0" err="1" smtClean="0">
                <a:solidFill>
                  <a:srgbClr val="569CD6"/>
                </a:solidFill>
                <a:latin typeface="Consolas"/>
              </a:rPr>
              <a:t>var</a:t>
            </a:r>
            <a:r>
              <a:rPr lang="en-US" dirty="0" smtClean="0">
                <a:solidFill>
                  <a:srgbClr val="D4D4D4"/>
                </a:solidFill>
                <a:latin typeface="Consolas"/>
              </a:rPr>
              <a:t> </a:t>
            </a:r>
            <a:r>
              <a:rPr lang="en-US" dirty="0" smtClean="0">
                <a:solidFill>
                  <a:srgbClr val="9CDCFE"/>
                </a:solidFill>
                <a:latin typeface="Consolas"/>
              </a:rPr>
              <a:t>destination</a:t>
            </a:r>
            <a:r>
              <a:rPr lang="en-US" dirty="0" smtClean="0">
                <a:solidFill>
                  <a:srgbClr val="D4D4D4"/>
                </a:solidFill>
                <a:latin typeface="Consolas"/>
              </a:rPr>
              <a:t> = </a:t>
            </a:r>
            <a:r>
              <a:rPr lang="en-US" dirty="0" err="1" smtClean="0">
                <a:solidFill>
                  <a:srgbClr val="9CDCFE"/>
                </a:solidFill>
                <a:latin typeface="Consolas"/>
              </a:rPr>
              <a:t>document</a:t>
            </a:r>
            <a:r>
              <a:rPr lang="en-US" dirty="0" err="1" smtClean="0">
                <a:solidFill>
                  <a:srgbClr val="D4D4D4"/>
                </a:solidFill>
                <a:latin typeface="Consolas"/>
              </a:rPr>
              <a:t>.</a:t>
            </a:r>
            <a:r>
              <a:rPr lang="en-US" dirty="0" err="1" smtClean="0">
                <a:solidFill>
                  <a:srgbClr val="DCDCAA"/>
                </a:solidFill>
                <a:latin typeface="Consolas"/>
              </a:rPr>
              <a:t>querySelector</a:t>
            </a:r>
            <a:r>
              <a:rPr lang="en-US" dirty="0" smtClean="0">
                <a:solidFill>
                  <a:srgbClr val="D4D4D4"/>
                </a:solidFill>
                <a:latin typeface="Consolas"/>
              </a:rPr>
              <a:t>(</a:t>
            </a:r>
            <a:r>
              <a:rPr lang="en-US" dirty="0" smtClean="0">
                <a:solidFill>
                  <a:srgbClr val="CE9178"/>
                </a:solidFill>
                <a:latin typeface="Consolas"/>
              </a:rPr>
              <a:t>"#container"</a:t>
            </a:r>
            <a:r>
              <a:rPr lang="en-US" dirty="0" smtClean="0">
                <a:solidFill>
                  <a:srgbClr val="D4D4D4"/>
                </a:solidFill>
                <a:latin typeface="Consolas"/>
              </a:rPr>
              <a:t>);</a:t>
            </a:r>
            <a:endParaRPr lang="en-US" dirty="0" smtClean="0">
              <a:solidFill>
                <a:srgbClr val="CCCCCC"/>
              </a:solidFill>
              <a:latin typeface="Consolas"/>
            </a:endParaRPr>
          </a:p>
          <a:p>
            <a:r>
              <a:rPr lang="en-US" dirty="0" smtClean="0">
                <a:solidFill>
                  <a:srgbClr val="D4D4D4"/>
                </a:solidFill>
                <a:latin typeface="Consolas"/>
              </a:rPr>
              <a:t>        </a:t>
            </a:r>
            <a:r>
              <a:rPr lang="en-US" dirty="0" err="1" smtClean="0">
                <a:solidFill>
                  <a:srgbClr val="9CDCFE"/>
                </a:solidFill>
                <a:latin typeface="Consolas"/>
              </a:rPr>
              <a:t>ReactDOM</a:t>
            </a:r>
            <a:r>
              <a:rPr lang="en-US" dirty="0" err="1" smtClean="0">
                <a:solidFill>
                  <a:srgbClr val="D4D4D4"/>
                </a:solidFill>
                <a:latin typeface="Consolas"/>
              </a:rPr>
              <a:t>.</a:t>
            </a:r>
            <a:r>
              <a:rPr lang="en-US" dirty="0" err="1" smtClean="0">
                <a:solidFill>
                  <a:srgbClr val="DCDCAA"/>
                </a:solidFill>
                <a:latin typeface="Consolas"/>
              </a:rPr>
              <a:t>render</a:t>
            </a:r>
            <a:r>
              <a:rPr lang="en-US" dirty="0" smtClean="0">
                <a:solidFill>
                  <a:srgbClr val="D4D4D4"/>
                </a:solidFill>
                <a:latin typeface="Consolas"/>
              </a:rPr>
              <a:t>(</a:t>
            </a:r>
            <a:endParaRPr lang="en-US" dirty="0" smtClean="0">
              <a:solidFill>
                <a:srgbClr val="CCCCCC"/>
              </a:solidFill>
              <a:latin typeface="Consolas"/>
            </a:endParaRPr>
          </a:p>
          <a:p>
            <a:r>
              <a:rPr lang="en-US" dirty="0" smtClean="0">
                <a:solidFill>
                  <a:srgbClr val="D4D4D4"/>
                </a:solidFill>
                <a:latin typeface="Consolas"/>
              </a:rPr>
              <a:t>            </a:t>
            </a:r>
            <a:r>
              <a:rPr lang="en-US" dirty="0" smtClean="0">
                <a:solidFill>
                  <a:srgbClr val="808080"/>
                </a:solidFill>
                <a:latin typeface="Consolas"/>
              </a:rPr>
              <a:t>&lt;</a:t>
            </a:r>
            <a:r>
              <a:rPr lang="en-US" dirty="0" smtClean="0">
                <a:solidFill>
                  <a:srgbClr val="569CD6"/>
                </a:solidFill>
                <a:latin typeface="Consolas"/>
              </a:rPr>
              <a:t>div</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D4D4D4"/>
                </a:solidFill>
                <a:latin typeface="Consolas"/>
              </a:rPr>
              <a:t>                </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r>
              <a:rPr lang="en-US" dirty="0" smtClean="0">
                <a:solidFill>
                  <a:srgbClr val="D4D4D4"/>
                </a:solidFill>
                <a:latin typeface="Consolas"/>
              </a:rPr>
              <a:t>Batman</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D4D4D4"/>
                </a:solidFill>
                <a:latin typeface="Consolas"/>
              </a:rPr>
              <a:t>                </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r>
              <a:rPr lang="en-US" dirty="0" smtClean="0">
                <a:solidFill>
                  <a:srgbClr val="D4D4D4"/>
                </a:solidFill>
                <a:latin typeface="Consolas"/>
              </a:rPr>
              <a:t>Iron Man</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D4D4D4"/>
                </a:solidFill>
                <a:latin typeface="Consolas"/>
              </a:rPr>
              <a:t>                </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r>
              <a:rPr lang="en-US" dirty="0" smtClean="0">
                <a:solidFill>
                  <a:srgbClr val="D4D4D4"/>
                </a:solidFill>
                <a:latin typeface="Consolas"/>
              </a:rPr>
              <a:t>Nicolas Cage</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D4D4D4"/>
                </a:solidFill>
                <a:latin typeface="Consolas"/>
              </a:rPr>
              <a:t>                </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r>
              <a:rPr lang="en-US" dirty="0" smtClean="0">
                <a:solidFill>
                  <a:srgbClr val="D4D4D4"/>
                </a:solidFill>
                <a:latin typeface="Consolas"/>
              </a:rPr>
              <a:t>Mega Man</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D4D4D4"/>
                </a:solidFill>
                <a:latin typeface="Consolas"/>
              </a:rPr>
              <a:t>            </a:t>
            </a:r>
            <a:r>
              <a:rPr lang="en-US" dirty="0" smtClean="0">
                <a:solidFill>
                  <a:srgbClr val="808080"/>
                </a:solidFill>
                <a:latin typeface="Consolas"/>
              </a:rPr>
              <a:t>&lt;/</a:t>
            </a:r>
            <a:r>
              <a:rPr lang="en-US" dirty="0" smtClean="0">
                <a:solidFill>
                  <a:srgbClr val="569CD6"/>
                </a:solidFill>
                <a:latin typeface="Consolas"/>
              </a:rPr>
              <a:t>div</a:t>
            </a:r>
            <a:r>
              <a:rPr lang="en-US" dirty="0" smtClean="0">
                <a:solidFill>
                  <a:srgbClr val="808080"/>
                </a:solidFill>
                <a:latin typeface="Consolas"/>
              </a:rPr>
              <a:t>&gt;</a:t>
            </a:r>
            <a:r>
              <a:rPr lang="en-US" dirty="0" smtClean="0">
                <a:solidFill>
                  <a:srgbClr val="D4D4D4"/>
                </a:solidFill>
                <a:latin typeface="Consolas"/>
              </a:rPr>
              <a:t>,</a:t>
            </a:r>
            <a:endParaRPr lang="en-US" dirty="0" smtClean="0">
              <a:solidFill>
                <a:srgbClr val="CCCCCC"/>
              </a:solidFill>
              <a:latin typeface="Consolas"/>
            </a:endParaRPr>
          </a:p>
          <a:p>
            <a:r>
              <a:rPr lang="en-US" dirty="0" smtClean="0">
                <a:solidFill>
                  <a:srgbClr val="D4D4D4"/>
                </a:solidFill>
                <a:latin typeface="Consolas"/>
              </a:rPr>
              <a:t>            </a:t>
            </a:r>
            <a:r>
              <a:rPr lang="en-US" dirty="0" smtClean="0">
                <a:solidFill>
                  <a:srgbClr val="9CDCFE"/>
                </a:solidFill>
                <a:latin typeface="Consolas"/>
              </a:rPr>
              <a:t>destination</a:t>
            </a:r>
            <a:endParaRPr lang="en-US" dirty="0" smtClean="0">
              <a:solidFill>
                <a:srgbClr val="CCCCCC"/>
              </a:solidFill>
              <a:latin typeface="Consolas"/>
            </a:endParaRPr>
          </a:p>
          <a:p>
            <a:r>
              <a:rPr lang="en-US" dirty="0" smtClean="0">
                <a:solidFill>
                  <a:srgbClr val="D4D4D4"/>
                </a:solidFill>
                <a:latin typeface="Consolas"/>
              </a:rPr>
              <a:t>        );</a:t>
            </a:r>
            <a:endParaRPr lang="en-US" dirty="0" smtClean="0">
              <a:solidFill>
                <a:srgbClr val="CCCCCC"/>
              </a:solidFill>
              <a:latin typeface="Consolas"/>
            </a:endParaRPr>
          </a:p>
          <a:p>
            <a:r>
              <a:rPr lang="en-US" dirty="0" smtClean="0">
                <a:solidFill>
                  <a:srgbClr val="D4D4D4"/>
                </a:solidFill>
                <a:latin typeface="Consolas"/>
              </a:rPr>
              <a:t>    </a:t>
            </a:r>
            <a:r>
              <a:rPr lang="en-US" dirty="0" smtClean="0">
                <a:solidFill>
                  <a:srgbClr val="808080"/>
                </a:solidFill>
                <a:latin typeface="Consolas"/>
              </a:rPr>
              <a:t>&lt;/</a:t>
            </a:r>
            <a:r>
              <a:rPr lang="en-US" dirty="0" smtClean="0">
                <a:solidFill>
                  <a:srgbClr val="569CD6"/>
                </a:solidFill>
                <a:latin typeface="Consolas"/>
              </a:rPr>
              <a:t>script</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808080"/>
                </a:solidFill>
                <a:latin typeface="Consolas"/>
              </a:rPr>
              <a:t>&lt;/</a:t>
            </a:r>
            <a:r>
              <a:rPr lang="en-US" dirty="0" smtClean="0">
                <a:solidFill>
                  <a:srgbClr val="569CD6"/>
                </a:solidFill>
                <a:latin typeface="Consolas"/>
              </a:rPr>
              <a:t>body</a:t>
            </a:r>
            <a:r>
              <a:rPr lang="en-US" dirty="0" smtClean="0">
                <a:solidFill>
                  <a:srgbClr val="808080"/>
                </a:solidFill>
                <a:latin typeface="Consolas"/>
              </a:rPr>
              <a:t>&gt;</a:t>
            </a:r>
            <a:endParaRPr lang="en-US" b="0" dirty="0">
              <a:solidFill>
                <a:srgbClr val="CCCCCC"/>
              </a:solidFill>
              <a:latin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latin typeface="Consolas" pitchFamily="49" charset="0"/>
              </a:rPr>
              <a:t>React.createElement</a:t>
            </a:r>
            <a:endParaRPr lang="en-US" sz="4000" dirty="0"/>
          </a:p>
        </p:txBody>
      </p:sp>
      <p:sp>
        <p:nvSpPr>
          <p:cNvPr id="5" name="Rectangle 4"/>
          <p:cNvSpPr/>
          <p:nvPr/>
        </p:nvSpPr>
        <p:spPr>
          <a:xfrm>
            <a:off x="685800" y="1492508"/>
            <a:ext cx="7924800" cy="4832092"/>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400" dirty="0" smtClean="0">
                <a:solidFill>
                  <a:srgbClr val="808080"/>
                </a:solidFill>
                <a:latin typeface="Consolas"/>
              </a:rPr>
              <a:t>&lt;</a:t>
            </a:r>
            <a:r>
              <a:rPr lang="en-US" sz="1400" dirty="0" smtClean="0">
                <a:solidFill>
                  <a:srgbClr val="569CD6"/>
                </a:solidFill>
                <a:latin typeface="Consolas"/>
              </a:rPr>
              <a:t>body</a:t>
            </a:r>
            <a:r>
              <a:rPr lang="en-US" sz="1400" dirty="0" smtClean="0">
                <a:solidFill>
                  <a:srgbClr val="808080"/>
                </a:solidFill>
                <a:latin typeface="Consolas"/>
              </a:rPr>
              <a:t>&gt;</a:t>
            </a:r>
            <a:endParaRPr lang="en-US" sz="1400" dirty="0" smtClean="0">
              <a:solidFill>
                <a:srgbClr val="CCCCCC"/>
              </a:solidFill>
              <a:latin typeface="Consolas"/>
            </a:endParaRPr>
          </a:p>
          <a:p>
            <a:r>
              <a:rPr lang="en-US" sz="1400" dirty="0" smtClean="0">
                <a:solidFill>
                  <a:srgbClr val="CCCCCC"/>
                </a:solidFill>
                <a:latin typeface="Consolas"/>
              </a:rPr>
              <a:t>    </a:t>
            </a:r>
            <a:r>
              <a:rPr lang="en-US" sz="1400" dirty="0" smtClean="0">
                <a:solidFill>
                  <a:srgbClr val="808080"/>
                </a:solidFill>
                <a:latin typeface="Consolas"/>
              </a:rPr>
              <a:t>&lt;</a:t>
            </a:r>
            <a:r>
              <a:rPr lang="en-US" sz="1400" dirty="0" smtClean="0">
                <a:solidFill>
                  <a:srgbClr val="569CD6"/>
                </a:solidFill>
                <a:latin typeface="Consolas"/>
              </a:rPr>
              <a:t>div</a:t>
            </a:r>
            <a:r>
              <a:rPr lang="en-US" sz="1400" dirty="0" smtClean="0">
                <a:solidFill>
                  <a:srgbClr val="CCCCCC"/>
                </a:solidFill>
                <a:latin typeface="Consolas"/>
              </a:rPr>
              <a:t> </a:t>
            </a:r>
            <a:r>
              <a:rPr lang="en-US" sz="1400" dirty="0" smtClean="0">
                <a:solidFill>
                  <a:srgbClr val="9CDCFE"/>
                </a:solidFill>
                <a:latin typeface="Consolas"/>
              </a:rPr>
              <a:t>id</a:t>
            </a:r>
            <a:r>
              <a:rPr lang="en-US" sz="1400" dirty="0" smtClean="0">
                <a:solidFill>
                  <a:srgbClr val="CCCCCC"/>
                </a:solidFill>
                <a:latin typeface="Consolas"/>
              </a:rPr>
              <a:t>=</a:t>
            </a:r>
            <a:r>
              <a:rPr lang="en-US" sz="1400" dirty="0" smtClean="0">
                <a:solidFill>
                  <a:srgbClr val="CE9178"/>
                </a:solidFill>
                <a:latin typeface="Consolas"/>
              </a:rPr>
              <a:t>"container"</a:t>
            </a:r>
            <a:r>
              <a:rPr lang="en-US" sz="1400" dirty="0" smtClean="0">
                <a:solidFill>
                  <a:srgbClr val="808080"/>
                </a:solidFill>
                <a:latin typeface="Consolas"/>
              </a:rPr>
              <a:t>&gt;&lt;/</a:t>
            </a:r>
            <a:r>
              <a:rPr lang="en-US" sz="1400" dirty="0" smtClean="0">
                <a:solidFill>
                  <a:srgbClr val="569CD6"/>
                </a:solidFill>
                <a:latin typeface="Consolas"/>
              </a:rPr>
              <a:t>div</a:t>
            </a:r>
            <a:r>
              <a:rPr lang="en-US" sz="1400" dirty="0" smtClean="0">
                <a:solidFill>
                  <a:srgbClr val="808080"/>
                </a:solidFill>
                <a:latin typeface="Consolas"/>
              </a:rPr>
              <a:t>&gt;</a:t>
            </a:r>
            <a:endParaRPr lang="en-US" sz="1400" dirty="0" smtClean="0">
              <a:solidFill>
                <a:srgbClr val="CCCCCC"/>
              </a:solidFill>
              <a:latin typeface="Consolas"/>
            </a:endParaRPr>
          </a:p>
          <a:p>
            <a:r>
              <a:rPr lang="en-US" sz="1400" dirty="0" smtClean="0">
                <a:solidFill>
                  <a:srgbClr val="CCCCCC"/>
                </a:solidFill>
                <a:latin typeface="Consolas"/>
              </a:rPr>
              <a:t>    </a:t>
            </a:r>
            <a:r>
              <a:rPr lang="en-US" sz="1400" dirty="0" smtClean="0">
                <a:solidFill>
                  <a:srgbClr val="808080"/>
                </a:solidFill>
                <a:latin typeface="Consolas"/>
              </a:rPr>
              <a:t>&lt;</a:t>
            </a:r>
            <a:r>
              <a:rPr lang="en-US" sz="1400" dirty="0" smtClean="0">
                <a:solidFill>
                  <a:srgbClr val="569CD6"/>
                </a:solidFill>
                <a:latin typeface="Consolas"/>
              </a:rPr>
              <a:t>script</a:t>
            </a:r>
            <a:r>
              <a:rPr lang="en-US" sz="1400" dirty="0" smtClean="0">
                <a:solidFill>
                  <a:srgbClr val="D4D4D4"/>
                </a:solidFill>
                <a:latin typeface="Consolas"/>
              </a:rPr>
              <a:t> </a:t>
            </a:r>
            <a:r>
              <a:rPr lang="en-US" sz="1400" dirty="0" smtClean="0">
                <a:solidFill>
                  <a:srgbClr val="9CDCFE"/>
                </a:solidFill>
                <a:latin typeface="Consolas"/>
              </a:rPr>
              <a:t>type</a:t>
            </a:r>
            <a:r>
              <a:rPr lang="en-US" sz="1400" dirty="0" smtClean="0">
                <a:solidFill>
                  <a:srgbClr val="D4D4D4"/>
                </a:solidFill>
                <a:latin typeface="Consolas"/>
              </a:rPr>
              <a:t>=</a:t>
            </a:r>
            <a:r>
              <a:rPr lang="en-US" sz="1400" dirty="0" smtClean="0">
                <a:solidFill>
                  <a:srgbClr val="CE9178"/>
                </a:solidFill>
                <a:latin typeface="Consolas"/>
              </a:rPr>
              <a:t>"text/</a:t>
            </a:r>
            <a:r>
              <a:rPr lang="en-US" sz="1400" dirty="0" err="1" smtClean="0">
                <a:solidFill>
                  <a:srgbClr val="CE9178"/>
                </a:solidFill>
                <a:latin typeface="Consolas"/>
              </a:rPr>
              <a:t>babel</a:t>
            </a:r>
            <a:r>
              <a:rPr lang="en-US" sz="1400" dirty="0" smtClean="0">
                <a:solidFill>
                  <a:srgbClr val="CE9178"/>
                </a:solidFill>
                <a:latin typeface="Consolas"/>
              </a:rPr>
              <a:t>"</a:t>
            </a:r>
            <a:r>
              <a:rPr lang="en-US" sz="1400" dirty="0" smtClean="0">
                <a:solidFill>
                  <a:srgbClr val="808080"/>
                </a:solidFill>
                <a:latin typeface="Consolas"/>
              </a:rPr>
              <a:t>&gt;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err="1" smtClean="0">
                <a:solidFill>
                  <a:srgbClr val="569CD6"/>
                </a:solidFill>
                <a:latin typeface="Consolas"/>
              </a:rPr>
              <a:t>var</a:t>
            </a:r>
            <a:r>
              <a:rPr lang="en-US" sz="1400" dirty="0" smtClean="0">
                <a:solidFill>
                  <a:srgbClr val="D4D4D4"/>
                </a:solidFill>
                <a:latin typeface="Consolas"/>
              </a:rPr>
              <a:t> </a:t>
            </a:r>
            <a:r>
              <a:rPr lang="en-US" sz="1400" dirty="0" smtClean="0">
                <a:solidFill>
                  <a:srgbClr val="9CDCFE"/>
                </a:solidFill>
                <a:latin typeface="Consolas"/>
              </a:rPr>
              <a:t>destination</a:t>
            </a:r>
            <a:r>
              <a:rPr lang="en-US" sz="1400" dirty="0" smtClean="0">
                <a:solidFill>
                  <a:srgbClr val="D4D4D4"/>
                </a:solidFill>
                <a:latin typeface="Consolas"/>
              </a:rPr>
              <a:t> = </a:t>
            </a:r>
            <a:r>
              <a:rPr lang="en-US" sz="1400" dirty="0" err="1" smtClean="0">
                <a:solidFill>
                  <a:srgbClr val="9CDCFE"/>
                </a:solidFill>
                <a:latin typeface="Consolas"/>
              </a:rPr>
              <a:t>document</a:t>
            </a:r>
            <a:r>
              <a:rPr lang="en-US" sz="1400" dirty="0" err="1" smtClean="0">
                <a:solidFill>
                  <a:srgbClr val="D4D4D4"/>
                </a:solidFill>
                <a:latin typeface="Consolas"/>
              </a:rPr>
              <a:t>.</a:t>
            </a:r>
            <a:r>
              <a:rPr lang="en-US" sz="1400" dirty="0" err="1" smtClean="0">
                <a:solidFill>
                  <a:srgbClr val="DCDCAA"/>
                </a:solidFill>
                <a:latin typeface="Consolas"/>
              </a:rPr>
              <a:t>querySelector</a:t>
            </a:r>
            <a:r>
              <a:rPr lang="en-US" sz="1400" dirty="0" smtClean="0">
                <a:solidFill>
                  <a:srgbClr val="D4D4D4"/>
                </a:solidFill>
                <a:latin typeface="Consolas"/>
              </a:rPr>
              <a:t>(</a:t>
            </a:r>
            <a:r>
              <a:rPr lang="en-US" sz="1400" dirty="0" smtClean="0">
                <a:solidFill>
                  <a:srgbClr val="CE9178"/>
                </a:solidFill>
                <a:latin typeface="Consolas"/>
              </a:rPr>
              <a:t>"#container"</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err="1" smtClean="0">
                <a:solidFill>
                  <a:srgbClr val="9CDCFE"/>
                </a:solidFill>
                <a:latin typeface="Consolas"/>
              </a:rPr>
              <a:t>ReactDOM</a:t>
            </a:r>
            <a:r>
              <a:rPr lang="en-US" sz="1400" dirty="0" err="1" smtClean="0">
                <a:solidFill>
                  <a:srgbClr val="D4D4D4"/>
                </a:solidFill>
                <a:latin typeface="Consolas"/>
              </a:rPr>
              <a:t>.</a:t>
            </a:r>
            <a:r>
              <a:rPr lang="en-US" sz="1400" dirty="0" err="1" smtClean="0">
                <a:solidFill>
                  <a:srgbClr val="DCDCAA"/>
                </a:solidFill>
                <a:latin typeface="Consolas"/>
              </a:rPr>
              <a:t>render</a:t>
            </a:r>
            <a:r>
              <a:rPr lang="en-US" sz="1400" dirty="0" smtClean="0">
                <a:solidFill>
                  <a:srgbClr val="D4D4D4"/>
                </a:solidFill>
                <a:latin typeface="Consolas"/>
              </a:rPr>
              <a:t>(</a:t>
            </a:r>
            <a:r>
              <a:rPr lang="en-US" sz="1400" dirty="0" err="1" smtClean="0">
                <a:solidFill>
                  <a:srgbClr val="9CDCFE"/>
                </a:solidFill>
                <a:latin typeface="Consolas"/>
              </a:rPr>
              <a:t>React</a:t>
            </a:r>
            <a:r>
              <a:rPr lang="en-US" sz="1400" dirty="0" err="1" smtClean="0">
                <a:solidFill>
                  <a:srgbClr val="D4D4D4"/>
                </a:solidFill>
                <a:latin typeface="Consolas"/>
              </a:rPr>
              <a:t>.</a:t>
            </a:r>
            <a:r>
              <a:rPr lang="en-US" sz="1400" dirty="0" err="1" smtClean="0">
                <a:solidFill>
                  <a:srgbClr val="DCDCAA"/>
                </a:solidFill>
                <a:latin typeface="Consolas"/>
              </a:rPr>
              <a:t>createElement</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smtClean="0">
                <a:solidFill>
                  <a:srgbClr val="CE9178"/>
                </a:solidFill>
                <a:latin typeface="Consolas"/>
              </a:rPr>
              <a:t>"div"</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smtClean="0">
                <a:solidFill>
                  <a:srgbClr val="569CD6"/>
                </a:solidFill>
                <a:latin typeface="Consolas"/>
              </a:rPr>
              <a:t>null</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err="1" smtClean="0">
                <a:solidFill>
                  <a:srgbClr val="9CDCFE"/>
                </a:solidFill>
                <a:latin typeface="Consolas"/>
              </a:rPr>
              <a:t>React</a:t>
            </a:r>
            <a:r>
              <a:rPr lang="en-US" sz="1400" dirty="0" err="1" smtClean="0">
                <a:solidFill>
                  <a:srgbClr val="D4D4D4"/>
                </a:solidFill>
                <a:latin typeface="Consolas"/>
              </a:rPr>
              <a:t>.</a:t>
            </a:r>
            <a:r>
              <a:rPr lang="en-US" sz="1400" dirty="0" err="1" smtClean="0">
                <a:solidFill>
                  <a:srgbClr val="DCDCAA"/>
                </a:solidFill>
                <a:latin typeface="Consolas"/>
              </a:rPr>
              <a:t>createElement</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smtClean="0">
                <a:solidFill>
                  <a:srgbClr val="CE9178"/>
                </a:solidFill>
                <a:latin typeface="Consolas"/>
              </a:rPr>
              <a:t>"h1"</a:t>
            </a:r>
            <a:r>
              <a:rPr lang="en-US" sz="1400" dirty="0" smtClean="0">
                <a:solidFill>
                  <a:srgbClr val="D4D4D4"/>
                </a:solidFill>
                <a:latin typeface="Consolas"/>
              </a:rPr>
              <a:t>, </a:t>
            </a:r>
            <a:r>
              <a:rPr lang="en-US" sz="1400" dirty="0" smtClean="0">
                <a:solidFill>
                  <a:srgbClr val="569CD6"/>
                </a:solidFill>
                <a:latin typeface="Consolas"/>
              </a:rPr>
              <a:t>null</a:t>
            </a:r>
            <a:r>
              <a:rPr lang="en-US" sz="1400" dirty="0" smtClean="0">
                <a:solidFill>
                  <a:srgbClr val="D4D4D4"/>
                </a:solidFill>
                <a:latin typeface="Consolas"/>
              </a:rPr>
              <a:t>, </a:t>
            </a:r>
            <a:r>
              <a:rPr lang="en-US" sz="1400" dirty="0" smtClean="0">
                <a:solidFill>
                  <a:srgbClr val="CE9178"/>
                </a:solidFill>
                <a:latin typeface="Consolas"/>
              </a:rPr>
              <a:t>"Batman"</a:t>
            </a:r>
            <a:endParaRPr lang="en-US" sz="1400" dirty="0" smtClean="0">
              <a:solidFill>
                <a:srgbClr val="CCCCCC"/>
              </a:solidFill>
              <a:latin typeface="Consolas"/>
            </a:endParaRPr>
          </a:p>
          <a:p>
            <a:r>
              <a:rPr lang="en-US" sz="1400" dirty="0" smtClean="0">
                <a:solidFill>
                  <a:srgbClr val="D4D4D4"/>
                </a:solidFill>
                <a:latin typeface="Consolas"/>
              </a:rPr>
              <a:t>            ),</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err="1" smtClean="0">
                <a:solidFill>
                  <a:srgbClr val="9CDCFE"/>
                </a:solidFill>
                <a:latin typeface="Consolas"/>
              </a:rPr>
              <a:t>React</a:t>
            </a:r>
            <a:r>
              <a:rPr lang="en-US" sz="1400" dirty="0" err="1" smtClean="0">
                <a:solidFill>
                  <a:srgbClr val="D4D4D4"/>
                </a:solidFill>
                <a:latin typeface="Consolas"/>
              </a:rPr>
              <a:t>.</a:t>
            </a:r>
            <a:r>
              <a:rPr lang="en-US" sz="1400" dirty="0" err="1" smtClean="0">
                <a:solidFill>
                  <a:srgbClr val="DCDCAA"/>
                </a:solidFill>
                <a:latin typeface="Consolas"/>
              </a:rPr>
              <a:t>createElement</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smtClean="0">
                <a:solidFill>
                  <a:srgbClr val="CE9178"/>
                </a:solidFill>
                <a:latin typeface="Consolas"/>
              </a:rPr>
              <a:t>"h1"</a:t>
            </a:r>
            <a:r>
              <a:rPr lang="en-US" sz="1400" dirty="0" smtClean="0">
                <a:solidFill>
                  <a:srgbClr val="D4D4D4"/>
                </a:solidFill>
                <a:latin typeface="Consolas"/>
              </a:rPr>
              <a:t>, </a:t>
            </a:r>
            <a:r>
              <a:rPr lang="en-US" sz="1400" dirty="0" smtClean="0">
                <a:solidFill>
                  <a:srgbClr val="569CD6"/>
                </a:solidFill>
                <a:latin typeface="Consolas"/>
              </a:rPr>
              <a:t>null</a:t>
            </a:r>
            <a:r>
              <a:rPr lang="en-US" sz="1400" dirty="0" smtClean="0">
                <a:solidFill>
                  <a:srgbClr val="D4D4D4"/>
                </a:solidFill>
                <a:latin typeface="Consolas"/>
              </a:rPr>
              <a:t>, </a:t>
            </a:r>
            <a:r>
              <a:rPr lang="en-US" sz="1400" dirty="0" smtClean="0">
                <a:solidFill>
                  <a:srgbClr val="CE9178"/>
                </a:solidFill>
                <a:latin typeface="Consolas"/>
              </a:rPr>
              <a:t>"Iron Man"</a:t>
            </a:r>
            <a:endParaRPr lang="en-US" sz="1400" dirty="0" smtClean="0">
              <a:solidFill>
                <a:srgbClr val="CCCCCC"/>
              </a:solidFill>
              <a:latin typeface="Consolas"/>
            </a:endParaRPr>
          </a:p>
          <a:p>
            <a:r>
              <a:rPr lang="en-US" sz="1400" dirty="0" smtClean="0">
                <a:solidFill>
                  <a:srgbClr val="D4D4D4"/>
                </a:solidFill>
                <a:latin typeface="Consolas"/>
              </a:rPr>
              <a:t>            ),</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err="1" smtClean="0">
                <a:solidFill>
                  <a:srgbClr val="9CDCFE"/>
                </a:solidFill>
                <a:latin typeface="Consolas"/>
              </a:rPr>
              <a:t>React</a:t>
            </a:r>
            <a:r>
              <a:rPr lang="en-US" sz="1400" dirty="0" err="1" smtClean="0">
                <a:solidFill>
                  <a:srgbClr val="D4D4D4"/>
                </a:solidFill>
                <a:latin typeface="Consolas"/>
              </a:rPr>
              <a:t>.</a:t>
            </a:r>
            <a:r>
              <a:rPr lang="en-US" sz="1400" dirty="0" err="1" smtClean="0">
                <a:solidFill>
                  <a:srgbClr val="DCDCAA"/>
                </a:solidFill>
                <a:latin typeface="Consolas"/>
              </a:rPr>
              <a:t>createElement</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smtClean="0">
                <a:solidFill>
                  <a:srgbClr val="CE9178"/>
                </a:solidFill>
                <a:latin typeface="Consolas"/>
              </a:rPr>
              <a:t>"h1"</a:t>
            </a:r>
            <a:r>
              <a:rPr lang="en-US" sz="1400" dirty="0" smtClean="0">
                <a:solidFill>
                  <a:srgbClr val="D4D4D4"/>
                </a:solidFill>
                <a:latin typeface="Consolas"/>
              </a:rPr>
              <a:t>, </a:t>
            </a:r>
            <a:r>
              <a:rPr lang="en-US" sz="1400" dirty="0" smtClean="0">
                <a:solidFill>
                  <a:srgbClr val="569CD6"/>
                </a:solidFill>
                <a:latin typeface="Consolas"/>
              </a:rPr>
              <a:t>null</a:t>
            </a:r>
            <a:r>
              <a:rPr lang="en-US" sz="1400" dirty="0" smtClean="0">
                <a:solidFill>
                  <a:srgbClr val="D4D4D4"/>
                </a:solidFill>
                <a:latin typeface="Consolas"/>
              </a:rPr>
              <a:t>, </a:t>
            </a:r>
            <a:r>
              <a:rPr lang="en-US" sz="1400" dirty="0" smtClean="0">
                <a:solidFill>
                  <a:srgbClr val="CE9178"/>
                </a:solidFill>
                <a:latin typeface="Consolas"/>
              </a:rPr>
              <a:t>"Nicolas Cage"</a:t>
            </a:r>
            <a:endParaRPr lang="en-US" sz="1400" dirty="0" smtClean="0">
              <a:solidFill>
                <a:srgbClr val="CCCCCC"/>
              </a:solidFill>
              <a:latin typeface="Consolas"/>
            </a:endParaRPr>
          </a:p>
          <a:p>
            <a:r>
              <a:rPr lang="en-US" sz="1400" dirty="0" smtClean="0">
                <a:solidFill>
                  <a:srgbClr val="D4D4D4"/>
                </a:solidFill>
                <a:latin typeface="Consolas"/>
              </a:rPr>
              <a:t>            ),</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err="1" smtClean="0">
                <a:solidFill>
                  <a:srgbClr val="9CDCFE"/>
                </a:solidFill>
                <a:latin typeface="Consolas"/>
              </a:rPr>
              <a:t>React</a:t>
            </a:r>
            <a:r>
              <a:rPr lang="en-US" sz="1400" dirty="0" err="1" smtClean="0">
                <a:solidFill>
                  <a:srgbClr val="D4D4D4"/>
                </a:solidFill>
                <a:latin typeface="Consolas"/>
              </a:rPr>
              <a:t>.</a:t>
            </a:r>
            <a:r>
              <a:rPr lang="en-US" sz="1400" dirty="0" err="1" smtClean="0">
                <a:solidFill>
                  <a:srgbClr val="DCDCAA"/>
                </a:solidFill>
                <a:latin typeface="Consolas"/>
              </a:rPr>
              <a:t>createElement</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smtClean="0">
                <a:solidFill>
                  <a:srgbClr val="CE9178"/>
                </a:solidFill>
                <a:latin typeface="Consolas"/>
              </a:rPr>
              <a:t>"h1"</a:t>
            </a:r>
            <a:r>
              <a:rPr lang="en-US" sz="1400" dirty="0" smtClean="0">
                <a:solidFill>
                  <a:srgbClr val="D4D4D4"/>
                </a:solidFill>
                <a:latin typeface="Consolas"/>
              </a:rPr>
              <a:t>, </a:t>
            </a:r>
            <a:r>
              <a:rPr lang="en-US" sz="1400" dirty="0" smtClean="0">
                <a:solidFill>
                  <a:srgbClr val="569CD6"/>
                </a:solidFill>
                <a:latin typeface="Consolas"/>
              </a:rPr>
              <a:t>null</a:t>
            </a:r>
            <a:r>
              <a:rPr lang="en-US" sz="1400" dirty="0" smtClean="0">
                <a:solidFill>
                  <a:srgbClr val="D4D4D4"/>
                </a:solidFill>
                <a:latin typeface="Consolas"/>
              </a:rPr>
              <a:t>, </a:t>
            </a:r>
            <a:r>
              <a:rPr lang="en-US" sz="1400" dirty="0" smtClean="0">
                <a:solidFill>
                  <a:srgbClr val="CE9178"/>
                </a:solidFill>
                <a:latin typeface="Consolas"/>
              </a:rPr>
              <a:t>"Mega Man"</a:t>
            </a:r>
            <a:endParaRPr lang="en-US" sz="1400" dirty="0" smtClean="0">
              <a:solidFill>
                <a:srgbClr val="CCCCCC"/>
              </a:solidFill>
              <a:latin typeface="Consolas"/>
            </a:endParaRPr>
          </a:p>
          <a:p>
            <a:r>
              <a:rPr lang="en-US" sz="1400" dirty="0" smtClean="0">
                <a:solidFill>
                  <a:srgbClr val="D4D4D4"/>
                </a:solidFill>
                <a:latin typeface="Consolas"/>
              </a:rPr>
              <a:t>            )</a:t>
            </a:r>
            <a:endParaRPr lang="en-US" sz="1400" dirty="0" smtClean="0">
              <a:solidFill>
                <a:srgbClr val="CCCCCC"/>
              </a:solidFill>
              <a:latin typeface="Consolas"/>
            </a:endParaRPr>
          </a:p>
          <a:p>
            <a:r>
              <a:rPr lang="en-US" sz="1400" dirty="0" smtClean="0">
                <a:solidFill>
                  <a:srgbClr val="D4D4D4"/>
                </a:solidFill>
                <a:latin typeface="Consolas"/>
              </a:rPr>
              <a:t>        ), </a:t>
            </a:r>
            <a:r>
              <a:rPr lang="en-US" sz="1400" dirty="0" smtClean="0">
                <a:solidFill>
                  <a:srgbClr val="9CDCFE"/>
                </a:solidFill>
                <a:latin typeface="Consolas"/>
              </a:rPr>
              <a:t>destination</a:t>
            </a:r>
            <a:r>
              <a:rPr lang="en-US" sz="1400" dirty="0" smtClean="0">
                <a:solidFill>
                  <a:srgbClr val="D4D4D4"/>
                </a:solidFill>
                <a:latin typeface="Consolas"/>
              </a:rPr>
              <a:t>);</a:t>
            </a:r>
            <a:endParaRPr lang="en-US" sz="1400" dirty="0" smtClean="0">
              <a:solidFill>
                <a:srgbClr val="CCCCCC"/>
              </a:solidFill>
              <a:latin typeface="Consolas"/>
            </a:endParaRPr>
          </a:p>
          <a:p>
            <a:r>
              <a:rPr lang="en-US" sz="1400" dirty="0" smtClean="0">
                <a:solidFill>
                  <a:srgbClr val="D4D4D4"/>
                </a:solidFill>
                <a:latin typeface="Consolas"/>
              </a:rPr>
              <a:t>    </a:t>
            </a:r>
            <a:r>
              <a:rPr lang="en-US" sz="1400" dirty="0" smtClean="0">
                <a:solidFill>
                  <a:srgbClr val="808080"/>
                </a:solidFill>
                <a:latin typeface="Consolas"/>
              </a:rPr>
              <a:t>&lt;/</a:t>
            </a:r>
            <a:r>
              <a:rPr lang="en-US" sz="1400" dirty="0" smtClean="0">
                <a:solidFill>
                  <a:srgbClr val="569CD6"/>
                </a:solidFill>
                <a:latin typeface="Consolas"/>
              </a:rPr>
              <a:t>script</a:t>
            </a:r>
            <a:r>
              <a:rPr lang="en-US" sz="1400" dirty="0" smtClean="0">
                <a:solidFill>
                  <a:srgbClr val="808080"/>
                </a:solidFill>
                <a:latin typeface="Consolas"/>
              </a:rPr>
              <a:t>&gt;</a:t>
            </a:r>
            <a:endParaRPr lang="en-US" sz="1400" dirty="0" smtClean="0">
              <a:solidFill>
                <a:srgbClr val="CCCCCC"/>
              </a:solidFill>
              <a:latin typeface="Consolas"/>
            </a:endParaRPr>
          </a:p>
          <a:p>
            <a:r>
              <a:rPr lang="en-US" sz="1400" dirty="0" smtClean="0">
                <a:solidFill>
                  <a:srgbClr val="808080"/>
                </a:solidFill>
                <a:latin typeface="Consolas"/>
              </a:rPr>
              <a:t>&lt;/</a:t>
            </a:r>
            <a:r>
              <a:rPr lang="en-US" sz="1400" dirty="0" smtClean="0">
                <a:solidFill>
                  <a:srgbClr val="569CD6"/>
                </a:solidFill>
                <a:latin typeface="Consolas"/>
              </a:rPr>
              <a:t>body</a:t>
            </a:r>
            <a:r>
              <a:rPr lang="en-US" sz="1400" dirty="0" smtClean="0">
                <a:solidFill>
                  <a:srgbClr val="808080"/>
                </a:solidFill>
                <a:latin typeface="Consolas"/>
              </a:rPr>
              <a:t>&gt;</a:t>
            </a:r>
            <a:endParaRPr lang="en-US" sz="1400" b="0" dirty="0">
              <a:solidFill>
                <a:srgbClr val="CCCCCC"/>
              </a:solidFill>
              <a:latin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JSX &amp; External JavaScript </a:t>
            </a:r>
            <a:r>
              <a:rPr lang="en-US" dirty="0" smtClean="0"/>
              <a:t>Library</a:t>
            </a:r>
            <a:endParaRPr lang="en-US" dirty="0"/>
          </a:p>
        </p:txBody>
      </p:sp>
      <p:sp>
        <p:nvSpPr>
          <p:cNvPr id="3" name="Content Placeholder 2"/>
          <p:cNvSpPr>
            <a:spLocks noGrp="1"/>
          </p:cNvSpPr>
          <p:nvPr>
            <p:ph idx="1"/>
          </p:nvPr>
        </p:nvSpPr>
        <p:spPr/>
        <p:txBody>
          <a:bodyPr/>
          <a:lstStyle/>
          <a:p>
            <a:r>
              <a:rPr lang="en-US" sz="2400" dirty="0" smtClean="0"/>
              <a:t>Let your browser </a:t>
            </a:r>
            <a:r>
              <a:rPr lang="en-US" sz="2400" i="1" dirty="0" smtClean="0">
                <a:solidFill>
                  <a:srgbClr val="C00000"/>
                </a:solidFill>
              </a:rPr>
              <a:t>rely on a JavaScript library</a:t>
            </a:r>
            <a:r>
              <a:rPr lang="en-US" sz="2400" dirty="0" smtClean="0"/>
              <a:t> to </a:t>
            </a:r>
            <a:r>
              <a:rPr lang="en-US" sz="2400" u="sng" dirty="0" smtClean="0"/>
              <a:t>automatically convert JSX</a:t>
            </a:r>
            <a:r>
              <a:rPr lang="en-US" sz="2400" dirty="0" smtClean="0"/>
              <a:t> to something it understands.</a:t>
            </a:r>
          </a:p>
          <a:p>
            <a:r>
              <a:rPr lang="en-US" sz="2400" dirty="0" smtClean="0"/>
              <a:t>You specify your JSX directly just like you would any old piece of JavaScript, and your browser takes care of the rest.</a:t>
            </a:r>
          </a:p>
          <a:p>
            <a:r>
              <a:rPr lang="en-US" sz="2400" dirty="0" smtClean="0"/>
              <a:t>To use this solution, all you do is reference a script file.</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JSX &amp; </a:t>
            </a:r>
            <a:r>
              <a:rPr lang="en-US" dirty="0" smtClean="0"/>
              <a:t>Built-Tools</a:t>
            </a:r>
            <a:endParaRPr lang="en-US" dirty="0"/>
          </a:p>
        </p:txBody>
      </p:sp>
      <p:sp>
        <p:nvSpPr>
          <p:cNvPr id="3" name="Content Placeholder 2"/>
          <p:cNvSpPr>
            <a:spLocks noGrp="1"/>
          </p:cNvSpPr>
          <p:nvPr>
            <p:ph idx="1"/>
          </p:nvPr>
        </p:nvSpPr>
        <p:spPr/>
        <p:txBody>
          <a:bodyPr/>
          <a:lstStyle/>
          <a:p>
            <a:r>
              <a:rPr lang="en-US" sz="2400" dirty="0" smtClean="0"/>
              <a:t>Set up a </a:t>
            </a:r>
            <a:r>
              <a:rPr lang="en-US" sz="2400" i="1" dirty="0" smtClean="0">
                <a:solidFill>
                  <a:srgbClr val="C00000"/>
                </a:solidFill>
              </a:rPr>
              <a:t>development environment</a:t>
            </a:r>
            <a:r>
              <a:rPr lang="en-US" sz="2400" dirty="0" smtClean="0"/>
              <a:t> around Node and a handful of build-tools.</a:t>
            </a:r>
          </a:p>
          <a:p>
            <a:r>
              <a:rPr lang="en-US" sz="2400" dirty="0" smtClean="0"/>
              <a:t>In this environment, every time you perform a build, all of your JSX is </a:t>
            </a:r>
            <a:r>
              <a:rPr lang="en-US" sz="2400" i="1" dirty="0" smtClean="0">
                <a:solidFill>
                  <a:srgbClr val="C00000"/>
                </a:solidFill>
              </a:rPr>
              <a:t>automatically converted</a:t>
            </a:r>
            <a:r>
              <a:rPr lang="en-US" sz="2400" dirty="0" smtClean="0"/>
              <a:t> into JS and placed on disk for you to reference like any plain JavaScript file.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React Development Environment</a:t>
            </a:r>
            <a:endParaRPr lang="en-US" dirty="0"/>
          </a:p>
        </p:txBody>
      </p:sp>
      <p:pic>
        <p:nvPicPr>
          <p:cNvPr id="11266" name="Picture 2"/>
          <p:cNvPicPr>
            <a:picLocks noChangeAspect="1" noChangeArrowheads="1"/>
          </p:cNvPicPr>
          <p:nvPr/>
        </p:nvPicPr>
        <p:blipFill>
          <a:blip r:embed="rId2" cstate="print"/>
          <a:srcRect/>
          <a:stretch>
            <a:fillRect/>
          </a:stretch>
        </p:blipFill>
        <p:spPr bwMode="auto">
          <a:xfrm>
            <a:off x="762000" y="1600200"/>
            <a:ext cx="3086249" cy="4021476"/>
          </a:xfrm>
          <a:prstGeom prst="rect">
            <a:avLst/>
          </a:prstGeom>
          <a:noFill/>
          <a:ln w="9525">
            <a:no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4876800" y="1600200"/>
            <a:ext cx="3703320" cy="3971925"/>
          </a:xfrm>
          <a:prstGeom prst="rect">
            <a:avLst/>
          </a:prstGeom>
          <a:noFill/>
          <a:ln w="9525">
            <a:noFill/>
            <a:miter lim="800000"/>
            <a:headEnd/>
            <a:tailEnd/>
          </a:ln>
        </p:spPr>
      </p:pic>
      <p:sp>
        <p:nvSpPr>
          <p:cNvPr id="6" name="Rectangle 5"/>
          <p:cNvSpPr/>
          <p:nvPr/>
        </p:nvSpPr>
        <p:spPr>
          <a:xfrm>
            <a:off x="457200" y="5715000"/>
            <a:ext cx="3581400" cy="923330"/>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r>
              <a:rPr lang="en-US" dirty="0" smtClean="0"/>
              <a:t>Browser is responsible for turning your JSX into actual JavaScript.</a:t>
            </a:r>
          </a:p>
          <a:p>
            <a:pPr algn="ctr"/>
            <a:r>
              <a:rPr lang="en-US" dirty="0" smtClean="0"/>
              <a:t>The downside is performance.</a:t>
            </a:r>
            <a:endParaRPr lang="en-US" dirty="0"/>
          </a:p>
        </p:txBody>
      </p:sp>
      <p:sp>
        <p:nvSpPr>
          <p:cNvPr id="7" name="Rectangle 6"/>
          <p:cNvSpPr/>
          <p:nvPr/>
        </p:nvSpPr>
        <p:spPr>
          <a:xfrm>
            <a:off x="4648200" y="5791200"/>
            <a:ext cx="3886200" cy="646331"/>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r>
              <a:rPr lang="en-US" dirty="0" smtClean="0"/>
              <a:t>JSX to JS conversion is handled prior to the user loading the page.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a:t>
            </a:r>
            <a:r>
              <a:rPr lang="en-US" dirty="0" err="1" smtClean="0"/>
              <a:t>Nodejs</a:t>
            </a:r>
            <a:endParaRPr lang="en-US" dirty="0"/>
          </a:p>
        </p:txBody>
      </p:sp>
      <p:sp>
        <p:nvSpPr>
          <p:cNvPr id="3" name="Content Placeholder 2"/>
          <p:cNvSpPr>
            <a:spLocks noGrp="1"/>
          </p:cNvSpPr>
          <p:nvPr>
            <p:ph idx="1"/>
          </p:nvPr>
        </p:nvSpPr>
        <p:spPr/>
        <p:txBody>
          <a:bodyPr/>
          <a:lstStyle/>
          <a:p>
            <a:r>
              <a:rPr lang="en-US" sz="2400" dirty="0" smtClean="0">
                <a:hlinkClick r:id="rId2"/>
              </a:rPr>
              <a:t>https://nodejs.org/en/</a:t>
            </a:r>
            <a:endParaRPr lang="en-US" sz="2400" dirty="0" smtClean="0"/>
          </a:p>
          <a:p>
            <a:endParaRPr lang="en-US" sz="2400" dirty="0"/>
          </a:p>
        </p:txBody>
      </p:sp>
      <p:pic>
        <p:nvPicPr>
          <p:cNvPr id="1026" name="Picture 2"/>
          <p:cNvPicPr>
            <a:picLocks noChangeAspect="1" noChangeArrowheads="1"/>
          </p:cNvPicPr>
          <p:nvPr/>
        </p:nvPicPr>
        <p:blipFill>
          <a:blip r:embed="rId3" cstate="print"/>
          <a:srcRect/>
          <a:stretch>
            <a:fillRect/>
          </a:stretch>
        </p:blipFill>
        <p:spPr bwMode="auto">
          <a:xfrm>
            <a:off x="1752600" y="2590800"/>
            <a:ext cx="5543550" cy="31115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and Run React App</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npm</a:t>
            </a:r>
            <a:r>
              <a:rPr lang="en-US" sz="2400" dirty="0" smtClean="0">
                <a:latin typeface="Consolas" pitchFamily="49" charset="0"/>
              </a:rPr>
              <a:t> init react-app hello-react-app</a:t>
            </a:r>
          </a:p>
          <a:p>
            <a:r>
              <a:rPr lang="en-US" sz="2400" dirty="0" err="1" smtClean="0">
                <a:latin typeface="Consolas" pitchFamily="49" charset="0"/>
              </a:rPr>
              <a:t>cd</a:t>
            </a:r>
            <a:r>
              <a:rPr lang="en-US" sz="2400" dirty="0" smtClean="0">
                <a:latin typeface="Consolas" pitchFamily="49" charset="0"/>
              </a:rPr>
              <a:t> hello-react-app</a:t>
            </a:r>
          </a:p>
          <a:p>
            <a:r>
              <a:rPr lang="en-US" sz="2400" dirty="0" err="1" smtClean="0">
                <a:latin typeface="Consolas" pitchFamily="49" charset="0"/>
              </a:rPr>
              <a:t>npm</a:t>
            </a:r>
            <a:r>
              <a:rPr lang="en-US" sz="2400" dirty="0" smtClean="0">
                <a:latin typeface="Consolas" pitchFamily="49" charset="0"/>
              </a:rPr>
              <a:t> start</a:t>
            </a:r>
            <a:endParaRPr lang="en-US" sz="2400" dirty="0">
              <a:latin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938213" y="3371850"/>
            <a:ext cx="7267575" cy="219075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105400" y="2514600"/>
            <a:ext cx="3597275" cy="274637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Review Application Structure</a:t>
            </a:r>
            <a:endParaRPr lang="en-US" b="1" dirty="0"/>
          </a:p>
        </p:txBody>
      </p:sp>
      <p:pic>
        <p:nvPicPr>
          <p:cNvPr id="16386" name="Picture 2"/>
          <p:cNvPicPr>
            <a:picLocks noChangeAspect="1" noChangeArrowheads="1"/>
          </p:cNvPicPr>
          <p:nvPr/>
        </p:nvPicPr>
        <p:blipFill>
          <a:blip r:embed="rId2" cstate="print"/>
          <a:srcRect/>
          <a:stretch>
            <a:fillRect/>
          </a:stretch>
        </p:blipFill>
        <p:spPr bwMode="auto">
          <a:xfrm>
            <a:off x="914400" y="2590800"/>
            <a:ext cx="7524750" cy="239649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index.html</a:t>
            </a:r>
            <a:endParaRPr lang="en-US" b="1" dirty="0"/>
          </a:p>
        </p:txBody>
      </p:sp>
      <p:sp>
        <p:nvSpPr>
          <p:cNvPr id="4" name="Rectangle 3"/>
          <p:cNvSpPr/>
          <p:nvPr/>
        </p:nvSpPr>
        <p:spPr>
          <a:xfrm>
            <a:off x="533400" y="1371600"/>
            <a:ext cx="8153400" cy="483209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100" b="1" dirty="0" smtClean="0">
                <a:solidFill>
                  <a:srgbClr val="C00000"/>
                </a:solidFill>
                <a:latin typeface="Consolas" pitchFamily="49" charset="0"/>
              </a:rPr>
              <a:t>...</a:t>
            </a:r>
          </a:p>
          <a:p>
            <a:r>
              <a:rPr lang="en-US" sz="1100" dirty="0" smtClean="0">
                <a:latin typeface="Consolas" pitchFamily="49" charset="0"/>
              </a:rPr>
              <a:t>&lt;link </a:t>
            </a:r>
            <a:r>
              <a:rPr lang="en-US" sz="1100" dirty="0" err="1" smtClean="0">
                <a:latin typeface="Consolas" pitchFamily="49" charset="0"/>
              </a:rPr>
              <a:t>rel</a:t>
            </a:r>
            <a:r>
              <a:rPr lang="en-US" sz="1100" dirty="0" smtClean="0">
                <a:latin typeface="Consolas" pitchFamily="49" charset="0"/>
              </a:rPr>
              <a:t>="manifest" </a:t>
            </a:r>
            <a:r>
              <a:rPr lang="en-US" sz="1100" dirty="0" err="1" smtClean="0">
                <a:latin typeface="Consolas" pitchFamily="49" charset="0"/>
              </a:rPr>
              <a:t>href</a:t>
            </a:r>
            <a:r>
              <a:rPr lang="en-US" sz="1100" dirty="0" smtClean="0">
                <a:latin typeface="Consolas" pitchFamily="49" charset="0"/>
              </a:rPr>
              <a:t>="%PUBLIC_URL%/</a:t>
            </a:r>
            <a:r>
              <a:rPr lang="en-US" sz="1100" dirty="0" err="1" smtClean="0">
                <a:latin typeface="Consolas" pitchFamily="49" charset="0"/>
              </a:rPr>
              <a:t>manifest.json</a:t>
            </a:r>
            <a:r>
              <a:rPr lang="en-US" sz="1100" dirty="0" smtClean="0">
                <a:latin typeface="Consolas" pitchFamily="49" charset="0"/>
              </a:rPr>
              <a:t>" /&gt;</a:t>
            </a:r>
          </a:p>
          <a:p>
            <a:r>
              <a:rPr lang="en-US" sz="1100" dirty="0" smtClean="0">
                <a:latin typeface="Consolas" pitchFamily="49" charset="0"/>
              </a:rPr>
              <a:t>    &lt;!--</a:t>
            </a:r>
          </a:p>
          <a:p>
            <a:r>
              <a:rPr lang="en-US" sz="1100" dirty="0" smtClean="0">
                <a:latin typeface="Consolas" pitchFamily="49" charset="0"/>
              </a:rPr>
              <a:t>      Notice the use of %PUBLIC_URL% in the tags above.</a:t>
            </a:r>
          </a:p>
          <a:p>
            <a:r>
              <a:rPr lang="en-US" sz="1100" dirty="0" smtClean="0">
                <a:latin typeface="Consolas" pitchFamily="49" charset="0"/>
              </a:rPr>
              <a:t>      It will be replaced with the URL of the `public` folder during the build.</a:t>
            </a:r>
          </a:p>
          <a:p>
            <a:r>
              <a:rPr lang="en-US" sz="1100" dirty="0" smtClean="0">
                <a:latin typeface="Consolas" pitchFamily="49" charset="0"/>
              </a:rPr>
              <a:t>      Only files inside the `public` folder can be referenced from the HTML.</a:t>
            </a:r>
          </a:p>
          <a:p>
            <a:endParaRPr lang="en-US" sz="1100" dirty="0" smtClean="0">
              <a:latin typeface="Consolas" pitchFamily="49" charset="0"/>
            </a:endParaRPr>
          </a:p>
          <a:p>
            <a:r>
              <a:rPr lang="en-US" sz="1100" dirty="0" smtClean="0">
                <a:latin typeface="Consolas" pitchFamily="49" charset="0"/>
              </a:rPr>
              <a:t>      Unlike "/favicon.ico" or "favicon.ico", "%PUBLIC_URL%/favicon.ico" will</a:t>
            </a:r>
          </a:p>
          <a:p>
            <a:r>
              <a:rPr lang="en-US" sz="1100" dirty="0" smtClean="0">
                <a:latin typeface="Consolas" pitchFamily="49" charset="0"/>
              </a:rPr>
              <a:t>      work correctly both with client-side routing and a non-root public URL.</a:t>
            </a:r>
          </a:p>
          <a:p>
            <a:r>
              <a:rPr lang="en-US" sz="1100" dirty="0" smtClean="0">
                <a:latin typeface="Consolas" pitchFamily="49" charset="0"/>
              </a:rPr>
              <a:t>      Learn how to configure a non-root public URL by running `</a:t>
            </a:r>
            <a:r>
              <a:rPr lang="en-US" sz="1100" dirty="0" err="1" smtClean="0">
                <a:latin typeface="Consolas" pitchFamily="49" charset="0"/>
              </a:rPr>
              <a:t>npm</a:t>
            </a:r>
            <a:r>
              <a:rPr lang="en-US" sz="1100" dirty="0" smtClean="0">
                <a:latin typeface="Consolas" pitchFamily="49" charset="0"/>
              </a:rPr>
              <a:t> run build`.</a:t>
            </a:r>
          </a:p>
          <a:p>
            <a:r>
              <a:rPr lang="en-US" sz="1100" dirty="0" smtClean="0">
                <a:latin typeface="Consolas" pitchFamily="49" charset="0"/>
              </a:rPr>
              <a:t>    --&gt;</a:t>
            </a:r>
          </a:p>
          <a:p>
            <a:r>
              <a:rPr lang="en-US" sz="1100" dirty="0" smtClean="0">
                <a:latin typeface="Consolas" pitchFamily="49" charset="0"/>
              </a:rPr>
              <a:t>    &lt;title&gt;React App&lt;/title&gt;</a:t>
            </a:r>
          </a:p>
          <a:p>
            <a:r>
              <a:rPr lang="en-US" sz="1100" dirty="0" smtClean="0">
                <a:latin typeface="Consolas" pitchFamily="49" charset="0"/>
              </a:rPr>
              <a:t>  &lt;/head&gt;</a:t>
            </a:r>
          </a:p>
          <a:p>
            <a:r>
              <a:rPr lang="en-US" sz="1100" dirty="0" smtClean="0">
                <a:latin typeface="Consolas" pitchFamily="49" charset="0"/>
              </a:rPr>
              <a:t>  &lt;body&gt;</a:t>
            </a:r>
          </a:p>
          <a:p>
            <a:r>
              <a:rPr lang="en-US" sz="1100" dirty="0" smtClean="0">
                <a:latin typeface="Consolas" pitchFamily="49" charset="0"/>
              </a:rPr>
              <a:t>    &lt;</a:t>
            </a:r>
            <a:r>
              <a:rPr lang="en-US" sz="1100" dirty="0" err="1" smtClean="0">
                <a:latin typeface="Consolas" pitchFamily="49" charset="0"/>
              </a:rPr>
              <a:t>noscript</a:t>
            </a:r>
            <a:r>
              <a:rPr lang="en-US" sz="1100" dirty="0" smtClean="0">
                <a:latin typeface="Consolas" pitchFamily="49" charset="0"/>
              </a:rPr>
              <a:t>&gt;You need to enable JavaScript to run this app.&lt;/</a:t>
            </a:r>
            <a:r>
              <a:rPr lang="en-US" sz="1100" dirty="0" err="1" smtClean="0">
                <a:latin typeface="Consolas" pitchFamily="49" charset="0"/>
              </a:rPr>
              <a:t>noscript</a:t>
            </a:r>
            <a:r>
              <a:rPr lang="en-US" sz="1100" dirty="0" smtClean="0">
                <a:latin typeface="Consolas" pitchFamily="49" charset="0"/>
              </a:rPr>
              <a:t>&gt;</a:t>
            </a:r>
          </a:p>
          <a:p>
            <a:r>
              <a:rPr lang="en-US" sz="1100" dirty="0" smtClean="0">
                <a:latin typeface="Consolas" pitchFamily="49" charset="0"/>
              </a:rPr>
              <a:t>    &lt;div id="root"&gt;&lt;/div&gt;</a:t>
            </a:r>
          </a:p>
          <a:p>
            <a:r>
              <a:rPr lang="en-US" sz="1100" dirty="0" smtClean="0">
                <a:latin typeface="Consolas" pitchFamily="49" charset="0"/>
              </a:rPr>
              <a:t>    &lt;!--</a:t>
            </a:r>
          </a:p>
          <a:p>
            <a:r>
              <a:rPr lang="en-US" sz="1100" dirty="0" smtClean="0">
                <a:latin typeface="Consolas" pitchFamily="49" charset="0"/>
              </a:rPr>
              <a:t>      This HTML file is a template.</a:t>
            </a:r>
          </a:p>
          <a:p>
            <a:r>
              <a:rPr lang="en-US" sz="1100" dirty="0" smtClean="0">
                <a:latin typeface="Consolas" pitchFamily="49" charset="0"/>
              </a:rPr>
              <a:t>      If you open it directly in the browser, you will see an empty page.</a:t>
            </a:r>
          </a:p>
          <a:p>
            <a:endParaRPr lang="en-US" sz="1100" dirty="0" smtClean="0">
              <a:latin typeface="Consolas" pitchFamily="49" charset="0"/>
            </a:endParaRPr>
          </a:p>
          <a:p>
            <a:r>
              <a:rPr lang="en-US" sz="1100" dirty="0" smtClean="0">
                <a:latin typeface="Consolas" pitchFamily="49" charset="0"/>
              </a:rPr>
              <a:t>      You can add </a:t>
            </a:r>
            <a:r>
              <a:rPr lang="en-US" sz="1100" dirty="0" err="1" smtClean="0">
                <a:latin typeface="Consolas" pitchFamily="49" charset="0"/>
              </a:rPr>
              <a:t>webfonts</a:t>
            </a:r>
            <a:r>
              <a:rPr lang="en-US" sz="1100" dirty="0" smtClean="0">
                <a:latin typeface="Consolas" pitchFamily="49" charset="0"/>
              </a:rPr>
              <a:t>, meta tags, or analytics to this file.</a:t>
            </a:r>
          </a:p>
          <a:p>
            <a:r>
              <a:rPr lang="en-US" sz="1100" dirty="0" smtClean="0">
                <a:latin typeface="Consolas" pitchFamily="49" charset="0"/>
              </a:rPr>
              <a:t>      The build step will place the bundled scripts into the &lt;body&gt; tag.</a:t>
            </a:r>
          </a:p>
          <a:p>
            <a:endParaRPr lang="en-US" sz="1100" dirty="0" smtClean="0">
              <a:latin typeface="Consolas" pitchFamily="49" charset="0"/>
            </a:endParaRPr>
          </a:p>
          <a:p>
            <a:r>
              <a:rPr lang="en-US" sz="1100" dirty="0" smtClean="0">
                <a:latin typeface="Consolas" pitchFamily="49" charset="0"/>
              </a:rPr>
              <a:t>      To begin the development, run `</a:t>
            </a:r>
            <a:r>
              <a:rPr lang="en-US" sz="1100" dirty="0" err="1" smtClean="0">
                <a:latin typeface="Consolas" pitchFamily="49" charset="0"/>
              </a:rPr>
              <a:t>npm</a:t>
            </a:r>
            <a:r>
              <a:rPr lang="en-US" sz="1100" dirty="0" smtClean="0">
                <a:latin typeface="Consolas" pitchFamily="49" charset="0"/>
              </a:rPr>
              <a:t> start` or `yarn start`.</a:t>
            </a:r>
          </a:p>
          <a:p>
            <a:r>
              <a:rPr lang="en-US" sz="1100" dirty="0" smtClean="0">
                <a:latin typeface="Consolas" pitchFamily="49" charset="0"/>
              </a:rPr>
              <a:t>      To create a production bundle, use `</a:t>
            </a:r>
            <a:r>
              <a:rPr lang="en-US" sz="1100" dirty="0" err="1" smtClean="0">
                <a:latin typeface="Consolas" pitchFamily="49" charset="0"/>
              </a:rPr>
              <a:t>npm</a:t>
            </a:r>
            <a:r>
              <a:rPr lang="en-US" sz="1100" dirty="0" smtClean="0">
                <a:latin typeface="Consolas" pitchFamily="49" charset="0"/>
              </a:rPr>
              <a:t> run build` or `yarn build`.</a:t>
            </a:r>
          </a:p>
          <a:p>
            <a:r>
              <a:rPr lang="en-US" sz="1100" dirty="0" smtClean="0">
                <a:latin typeface="Consolas" pitchFamily="49" charset="0"/>
              </a:rPr>
              <a:t>    --&gt;</a:t>
            </a:r>
          </a:p>
          <a:p>
            <a:r>
              <a:rPr lang="en-US" sz="1100" dirty="0" smtClean="0">
                <a:latin typeface="Consolas" pitchFamily="49" charset="0"/>
              </a:rPr>
              <a:t>  &lt;/body&gt;</a:t>
            </a:r>
          </a:p>
          <a:p>
            <a:r>
              <a:rPr lang="en-US" sz="1100" dirty="0" smtClean="0">
                <a:latin typeface="Consolas" pitchFamily="49" charset="0"/>
              </a:rPr>
              <a:t>&lt;/html&gt;</a:t>
            </a:r>
            <a:endParaRPr lang="en-US" sz="1100" b="1" dirty="0" smtClean="0">
              <a:solidFill>
                <a:srgbClr val="C00000"/>
              </a:solidFill>
              <a:latin typeface="Consolas"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index.js</a:t>
            </a:r>
            <a:endParaRPr lang="en-US" b="1" dirty="0"/>
          </a:p>
        </p:txBody>
      </p:sp>
      <p:sp>
        <p:nvSpPr>
          <p:cNvPr id="4" name="Rectangle 3"/>
          <p:cNvSpPr/>
          <p:nvPr/>
        </p:nvSpPr>
        <p:spPr>
          <a:xfrm>
            <a:off x="533400" y="1659791"/>
            <a:ext cx="8153400" cy="329320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import React from 'react';</a:t>
            </a:r>
          </a:p>
          <a:p>
            <a:r>
              <a:rPr lang="en-US" sz="1600" dirty="0" smtClean="0">
                <a:latin typeface="Consolas" pitchFamily="49" charset="0"/>
              </a:rPr>
              <a:t>import </a:t>
            </a:r>
            <a:r>
              <a:rPr lang="en-US" sz="1600" dirty="0" err="1" smtClean="0">
                <a:latin typeface="Consolas" pitchFamily="49" charset="0"/>
              </a:rPr>
              <a:t>ReactDOM</a:t>
            </a:r>
            <a:r>
              <a:rPr lang="en-US" sz="1600" dirty="0" smtClean="0">
                <a:latin typeface="Consolas" pitchFamily="49" charset="0"/>
              </a:rPr>
              <a:t> from 'react-</a:t>
            </a:r>
            <a:r>
              <a:rPr lang="en-US" sz="1600" dirty="0" err="1" smtClean="0">
                <a:latin typeface="Consolas" pitchFamily="49" charset="0"/>
              </a:rPr>
              <a:t>dom</a:t>
            </a:r>
            <a:r>
              <a:rPr lang="en-US" sz="1600" dirty="0" smtClean="0">
                <a:latin typeface="Consolas" pitchFamily="49" charset="0"/>
              </a:rPr>
              <a:t>';</a:t>
            </a:r>
          </a:p>
          <a:p>
            <a:r>
              <a:rPr lang="en-US" sz="1600" dirty="0" smtClean="0">
                <a:latin typeface="Consolas" pitchFamily="49" charset="0"/>
              </a:rPr>
              <a:t>import './index.css';</a:t>
            </a:r>
          </a:p>
          <a:p>
            <a:r>
              <a:rPr lang="en-US" sz="1600" dirty="0" smtClean="0">
                <a:latin typeface="Consolas" pitchFamily="49" charset="0"/>
              </a:rPr>
              <a:t>import App from './App';</a:t>
            </a:r>
          </a:p>
          <a:p>
            <a:r>
              <a:rPr lang="en-US" sz="1600" dirty="0" smtClean="0">
                <a:latin typeface="Consolas" pitchFamily="49" charset="0"/>
              </a:rPr>
              <a:t>import * as </a:t>
            </a:r>
            <a:r>
              <a:rPr lang="en-US" sz="1600" dirty="0" err="1" smtClean="0">
                <a:latin typeface="Consolas" pitchFamily="49" charset="0"/>
              </a:rPr>
              <a:t>serviceWorker</a:t>
            </a:r>
            <a:r>
              <a:rPr lang="en-US" sz="1600" dirty="0" smtClean="0">
                <a:latin typeface="Consolas" pitchFamily="49" charset="0"/>
              </a:rPr>
              <a:t> from './</a:t>
            </a:r>
            <a:r>
              <a:rPr lang="en-US" sz="1600" dirty="0" err="1" smtClean="0">
                <a:latin typeface="Consolas" pitchFamily="49" charset="0"/>
              </a:rPr>
              <a:t>serviceWorker</a:t>
            </a:r>
            <a:r>
              <a:rPr lang="en-US" sz="1600" dirty="0" smtClean="0">
                <a:latin typeface="Consolas" pitchFamily="49" charset="0"/>
              </a:rPr>
              <a:t>';</a:t>
            </a:r>
          </a:p>
          <a:p>
            <a:endParaRPr lang="en-US" sz="1600" dirty="0" smtClean="0">
              <a:latin typeface="Consolas" pitchFamily="49" charset="0"/>
            </a:endParaRPr>
          </a:p>
          <a:p>
            <a:r>
              <a:rPr lang="en-US" sz="1600" dirty="0" err="1" smtClean="0">
                <a:latin typeface="Consolas" pitchFamily="49" charset="0"/>
              </a:rPr>
              <a:t>ReactDOM.render</a:t>
            </a:r>
            <a:r>
              <a:rPr lang="en-US" sz="1600" dirty="0" smtClean="0">
                <a:latin typeface="Consolas" pitchFamily="49" charset="0"/>
              </a:rPr>
              <a:t>(&lt;App /&gt;, </a:t>
            </a:r>
            <a:r>
              <a:rPr lang="en-US" sz="1600" dirty="0" err="1" smtClean="0">
                <a:latin typeface="Consolas" pitchFamily="49" charset="0"/>
              </a:rPr>
              <a:t>document.getElementById</a:t>
            </a:r>
            <a:r>
              <a:rPr lang="en-US" sz="1600" dirty="0" smtClean="0">
                <a:latin typeface="Consolas" pitchFamily="49" charset="0"/>
              </a:rPr>
              <a:t>('root'));</a:t>
            </a:r>
          </a:p>
          <a:p>
            <a:endParaRPr lang="en-US" sz="1600" dirty="0" smtClean="0">
              <a:latin typeface="Consolas" pitchFamily="49" charset="0"/>
            </a:endParaRPr>
          </a:p>
          <a:p>
            <a:r>
              <a:rPr lang="en-US" sz="1600" dirty="0" smtClean="0">
                <a:latin typeface="Consolas" pitchFamily="49" charset="0"/>
              </a:rPr>
              <a:t>// If you want your app to work offline and load faster, you can change</a:t>
            </a:r>
          </a:p>
          <a:p>
            <a:r>
              <a:rPr lang="en-US" sz="1600" dirty="0" smtClean="0">
                <a:latin typeface="Consolas" pitchFamily="49" charset="0"/>
              </a:rPr>
              <a:t>// unregister() to register() below. Note this comes with some pitfalls.</a:t>
            </a:r>
          </a:p>
          <a:p>
            <a:r>
              <a:rPr lang="en-US" sz="1600" dirty="0" smtClean="0">
                <a:latin typeface="Consolas" pitchFamily="49" charset="0"/>
              </a:rPr>
              <a:t>// Learn more about service workers: https://bit.ly/CRA-PWA</a:t>
            </a:r>
          </a:p>
          <a:p>
            <a:r>
              <a:rPr lang="en-US" sz="1600" dirty="0" err="1" smtClean="0">
                <a:latin typeface="Consolas" pitchFamily="49" charset="0"/>
              </a:rPr>
              <a:t>serviceWorker.unregister</a:t>
            </a:r>
            <a:r>
              <a:rPr lang="en-US" sz="1600" dirty="0" smtClean="0">
                <a:latin typeface="Consolas" pitchFamily="49" charset="0"/>
              </a:rPr>
              <a:t>();</a:t>
            </a:r>
            <a:endParaRPr lang="en-US" sz="1600" b="1" dirty="0" smtClean="0">
              <a:solidFill>
                <a:srgbClr val="C00000"/>
              </a:solidFill>
              <a:latin typeface="Consolas"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App.js</a:t>
            </a:r>
            <a:endParaRPr lang="en-US" b="1" dirty="0"/>
          </a:p>
        </p:txBody>
      </p:sp>
      <p:sp>
        <p:nvSpPr>
          <p:cNvPr id="4" name="Rectangle 3"/>
          <p:cNvSpPr/>
          <p:nvPr/>
        </p:nvSpPr>
        <p:spPr>
          <a:xfrm>
            <a:off x="533400" y="1659791"/>
            <a:ext cx="8153400" cy="489364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200" dirty="0" smtClean="0">
                <a:latin typeface="Consolas" pitchFamily="49" charset="0"/>
              </a:rPr>
              <a:t>import React from 'react';</a:t>
            </a:r>
          </a:p>
          <a:p>
            <a:r>
              <a:rPr lang="en-US" sz="1200" dirty="0" smtClean="0">
                <a:latin typeface="Consolas" pitchFamily="49" charset="0"/>
              </a:rPr>
              <a:t>import logo from './logo.svg';</a:t>
            </a:r>
          </a:p>
          <a:p>
            <a:r>
              <a:rPr lang="en-US" sz="1200" dirty="0" smtClean="0">
                <a:latin typeface="Consolas" pitchFamily="49" charset="0"/>
              </a:rPr>
              <a:t>import './App.css';</a:t>
            </a:r>
          </a:p>
          <a:p>
            <a:endParaRPr lang="en-US" sz="1200" dirty="0" smtClean="0">
              <a:latin typeface="Consolas" pitchFamily="49" charset="0"/>
            </a:endParaRPr>
          </a:p>
          <a:p>
            <a:r>
              <a:rPr lang="en-US" sz="1200" dirty="0" smtClean="0">
                <a:latin typeface="Consolas" pitchFamily="49" charset="0"/>
              </a:rPr>
              <a:t>function App() {</a:t>
            </a:r>
          </a:p>
          <a:p>
            <a:r>
              <a:rPr lang="en-US" sz="1200" dirty="0" smtClean="0">
                <a:latin typeface="Consolas" pitchFamily="49" charset="0"/>
              </a:rPr>
              <a:t>  return (</a:t>
            </a:r>
          </a:p>
          <a:p>
            <a:r>
              <a:rPr lang="en-US" sz="1200" dirty="0" smtClean="0">
                <a:latin typeface="Consolas" pitchFamily="49" charset="0"/>
              </a:rPr>
              <a:t>    &lt;div </a:t>
            </a:r>
            <a:r>
              <a:rPr lang="en-US" sz="1200" dirty="0" err="1" smtClean="0">
                <a:latin typeface="Consolas" pitchFamily="49" charset="0"/>
              </a:rPr>
              <a:t>className</a:t>
            </a:r>
            <a:r>
              <a:rPr lang="en-US" sz="1200" dirty="0" smtClean="0">
                <a:latin typeface="Consolas" pitchFamily="49" charset="0"/>
              </a:rPr>
              <a:t>="App"&gt;</a:t>
            </a:r>
          </a:p>
          <a:p>
            <a:r>
              <a:rPr lang="en-US" sz="1200" dirty="0" smtClean="0">
                <a:latin typeface="Consolas" pitchFamily="49" charset="0"/>
              </a:rPr>
              <a:t>      &lt;header </a:t>
            </a:r>
            <a:r>
              <a:rPr lang="en-US" sz="1200" dirty="0" err="1" smtClean="0">
                <a:latin typeface="Consolas" pitchFamily="49" charset="0"/>
              </a:rPr>
              <a:t>className</a:t>
            </a:r>
            <a:r>
              <a:rPr lang="en-US" sz="1200" dirty="0" smtClean="0">
                <a:latin typeface="Consolas" pitchFamily="49" charset="0"/>
              </a:rPr>
              <a:t>="App-header"&gt;</a:t>
            </a:r>
          </a:p>
          <a:p>
            <a:r>
              <a:rPr lang="en-US" sz="1200" smtClean="0">
                <a:latin typeface="Consolas" pitchFamily="49" charset="0"/>
              </a:rPr>
              <a:t>        &lt;</a:t>
            </a:r>
            <a:r>
              <a:rPr lang="en-US" sz="1200" dirty="0" err="1" smtClean="0">
                <a:latin typeface="Consolas" pitchFamily="49" charset="0"/>
              </a:rPr>
              <a:t>img</a:t>
            </a:r>
            <a:r>
              <a:rPr lang="en-US" sz="1200" dirty="0" smtClean="0">
                <a:latin typeface="Consolas" pitchFamily="49" charset="0"/>
              </a:rPr>
              <a:t> </a:t>
            </a:r>
            <a:r>
              <a:rPr lang="en-US" sz="1200" dirty="0" err="1" smtClean="0">
                <a:latin typeface="Consolas" pitchFamily="49" charset="0"/>
              </a:rPr>
              <a:t>src</a:t>
            </a:r>
            <a:r>
              <a:rPr lang="en-US" sz="1200" dirty="0" smtClean="0">
                <a:latin typeface="Consolas" pitchFamily="49" charset="0"/>
              </a:rPr>
              <a:t>={logo} </a:t>
            </a:r>
            <a:r>
              <a:rPr lang="en-US" sz="1200" dirty="0" err="1" smtClean="0">
                <a:latin typeface="Consolas" pitchFamily="49" charset="0"/>
              </a:rPr>
              <a:t>className</a:t>
            </a:r>
            <a:r>
              <a:rPr lang="en-US" sz="1200" dirty="0" smtClean="0">
                <a:latin typeface="Consolas" pitchFamily="49" charset="0"/>
              </a:rPr>
              <a:t>="App-logo" alt="logo" /&gt;</a:t>
            </a:r>
          </a:p>
          <a:p>
            <a:r>
              <a:rPr lang="en-US" sz="1200" smtClean="0">
                <a:latin typeface="Consolas" pitchFamily="49" charset="0"/>
              </a:rPr>
              <a:t>        &lt;</a:t>
            </a:r>
            <a:r>
              <a:rPr lang="en-US" sz="1200" dirty="0" smtClean="0">
                <a:latin typeface="Consolas" pitchFamily="49" charset="0"/>
              </a:rPr>
              <a:t>p&gt;</a:t>
            </a:r>
          </a:p>
          <a:p>
            <a:r>
              <a:rPr lang="en-US" sz="1200" smtClean="0">
                <a:latin typeface="Consolas" pitchFamily="49" charset="0"/>
              </a:rPr>
              <a:t>          </a:t>
            </a:r>
            <a:r>
              <a:rPr lang="en-US" sz="1200" dirty="0" smtClean="0">
                <a:latin typeface="Consolas" pitchFamily="49" charset="0"/>
              </a:rPr>
              <a:t>Edit &lt;code&gt;</a:t>
            </a:r>
            <a:r>
              <a:rPr lang="en-US" sz="1200" dirty="0" err="1" smtClean="0">
                <a:latin typeface="Consolas" pitchFamily="49" charset="0"/>
              </a:rPr>
              <a:t>src</a:t>
            </a:r>
            <a:r>
              <a:rPr lang="en-US" sz="1200" dirty="0" smtClean="0">
                <a:latin typeface="Consolas" pitchFamily="49" charset="0"/>
              </a:rPr>
              <a:t>/App.js&lt;/code&gt; and save to reload.</a:t>
            </a:r>
          </a:p>
          <a:p>
            <a:r>
              <a:rPr lang="en-US" sz="1200" smtClean="0">
                <a:latin typeface="Consolas" pitchFamily="49" charset="0"/>
              </a:rPr>
              <a:t>        &lt;/</a:t>
            </a:r>
            <a:r>
              <a:rPr lang="en-US" sz="1200" dirty="0" smtClean="0">
                <a:latin typeface="Consolas" pitchFamily="49" charset="0"/>
              </a:rPr>
              <a:t>p&gt;</a:t>
            </a:r>
          </a:p>
          <a:p>
            <a:r>
              <a:rPr lang="en-US" sz="1200" smtClean="0">
                <a:latin typeface="Consolas" pitchFamily="49" charset="0"/>
              </a:rPr>
              <a:t>        &lt;</a:t>
            </a:r>
            <a:r>
              <a:rPr lang="en-US" sz="1200" dirty="0" smtClean="0">
                <a:latin typeface="Consolas" pitchFamily="49" charset="0"/>
              </a:rPr>
              <a:t>a</a:t>
            </a:r>
          </a:p>
          <a:p>
            <a:r>
              <a:rPr lang="en-US" sz="1200" smtClean="0">
                <a:latin typeface="Consolas" pitchFamily="49" charset="0"/>
              </a:rPr>
              <a:t>          </a:t>
            </a:r>
            <a:r>
              <a:rPr lang="en-US" sz="1200" dirty="0" err="1" smtClean="0">
                <a:latin typeface="Consolas" pitchFamily="49" charset="0"/>
              </a:rPr>
              <a:t>className</a:t>
            </a:r>
            <a:r>
              <a:rPr lang="en-US" sz="1200" dirty="0" smtClean="0">
                <a:latin typeface="Consolas" pitchFamily="49" charset="0"/>
              </a:rPr>
              <a:t>="App-link"</a:t>
            </a:r>
          </a:p>
          <a:p>
            <a:r>
              <a:rPr lang="en-US" sz="1200" smtClean="0">
                <a:latin typeface="Consolas" pitchFamily="49" charset="0"/>
              </a:rPr>
              <a:t>          </a:t>
            </a:r>
            <a:r>
              <a:rPr lang="en-US" sz="1200" dirty="0" err="1" smtClean="0">
                <a:latin typeface="Consolas" pitchFamily="49" charset="0"/>
              </a:rPr>
              <a:t>href</a:t>
            </a:r>
            <a:r>
              <a:rPr lang="en-US" sz="1200" dirty="0" smtClean="0">
                <a:latin typeface="Consolas" pitchFamily="49" charset="0"/>
              </a:rPr>
              <a:t>="https://reactjs.org"</a:t>
            </a:r>
          </a:p>
          <a:p>
            <a:r>
              <a:rPr lang="en-US" sz="1200" smtClean="0">
                <a:latin typeface="Consolas" pitchFamily="49" charset="0"/>
              </a:rPr>
              <a:t>          </a:t>
            </a:r>
            <a:r>
              <a:rPr lang="en-US" sz="1200" dirty="0" smtClean="0">
                <a:latin typeface="Consolas" pitchFamily="49" charset="0"/>
              </a:rPr>
              <a:t>target="_blank"</a:t>
            </a:r>
          </a:p>
          <a:p>
            <a:r>
              <a:rPr lang="en-US" sz="1200" smtClean="0">
                <a:latin typeface="Consolas" pitchFamily="49" charset="0"/>
              </a:rPr>
              <a:t>          </a:t>
            </a:r>
            <a:r>
              <a:rPr lang="en-US" sz="1200" dirty="0" err="1" smtClean="0">
                <a:latin typeface="Consolas" pitchFamily="49" charset="0"/>
              </a:rPr>
              <a:t>rel</a:t>
            </a:r>
            <a:r>
              <a:rPr lang="en-US" sz="1200" dirty="0" smtClean="0">
                <a:latin typeface="Consolas" pitchFamily="49" charset="0"/>
              </a:rPr>
              <a:t>="</a:t>
            </a:r>
            <a:r>
              <a:rPr lang="en-US" sz="1200" dirty="0" err="1" smtClean="0">
                <a:latin typeface="Consolas" pitchFamily="49" charset="0"/>
              </a:rPr>
              <a:t>noopener</a:t>
            </a:r>
            <a:r>
              <a:rPr lang="en-US" sz="1200" dirty="0" smtClean="0">
                <a:latin typeface="Consolas" pitchFamily="49" charset="0"/>
              </a:rPr>
              <a:t> </a:t>
            </a:r>
            <a:r>
              <a:rPr lang="en-US" sz="1200" dirty="0" err="1" smtClean="0">
                <a:latin typeface="Consolas" pitchFamily="49" charset="0"/>
              </a:rPr>
              <a:t>noreferrer</a:t>
            </a:r>
            <a:r>
              <a:rPr lang="en-US" sz="1200" dirty="0" smtClean="0">
                <a:latin typeface="Consolas" pitchFamily="49" charset="0"/>
              </a:rPr>
              <a:t>"</a:t>
            </a:r>
          </a:p>
          <a:p>
            <a:r>
              <a:rPr lang="en-US" sz="1200" smtClean="0">
                <a:latin typeface="Consolas" pitchFamily="49" charset="0"/>
              </a:rPr>
              <a:t>        &gt;</a:t>
            </a:r>
            <a:endParaRPr lang="en-US" sz="1200" dirty="0" smtClean="0">
              <a:latin typeface="Consolas" pitchFamily="49" charset="0"/>
            </a:endParaRPr>
          </a:p>
          <a:p>
            <a:r>
              <a:rPr lang="en-US" sz="1200" smtClean="0">
                <a:latin typeface="Consolas" pitchFamily="49" charset="0"/>
              </a:rPr>
              <a:t>          </a:t>
            </a:r>
            <a:r>
              <a:rPr lang="en-US" sz="1200" dirty="0" smtClean="0">
                <a:latin typeface="Consolas" pitchFamily="49" charset="0"/>
              </a:rPr>
              <a:t>Learn React</a:t>
            </a:r>
          </a:p>
          <a:p>
            <a:r>
              <a:rPr lang="en-US" sz="1200" smtClean="0">
                <a:latin typeface="Consolas" pitchFamily="49" charset="0"/>
              </a:rPr>
              <a:t>        &lt;/</a:t>
            </a:r>
            <a:r>
              <a:rPr lang="en-US" sz="1200" dirty="0" smtClean="0">
                <a:latin typeface="Consolas" pitchFamily="49" charset="0"/>
              </a:rPr>
              <a:t>a&gt;</a:t>
            </a:r>
          </a:p>
          <a:p>
            <a:r>
              <a:rPr lang="en-US" sz="1200" dirty="0" smtClean="0">
                <a:latin typeface="Consolas" pitchFamily="49" charset="0"/>
              </a:rPr>
              <a:t>      &lt;/header&gt;</a:t>
            </a:r>
          </a:p>
          <a:p>
            <a:r>
              <a:rPr lang="en-US" sz="1200" dirty="0" smtClean="0">
                <a:latin typeface="Consolas" pitchFamily="49" charset="0"/>
              </a:rPr>
              <a:t>    &lt;/div&gt;</a:t>
            </a:r>
          </a:p>
          <a:p>
            <a:r>
              <a:rPr lang="en-US" sz="1200" dirty="0" smtClean="0">
                <a:latin typeface="Consolas" pitchFamily="49" charset="0"/>
              </a:rPr>
              <a:t>  );</a:t>
            </a:r>
          </a:p>
          <a:p>
            <a:r>
              <a:rPr lang="en-US" sz="1200" dirty="0" smtClean="0">
                <a:latin typeface="Consolas" pitchFamily="49" charset="0"/>
              </a:rPr>
              <a:t>}</a:t>
            </a:r>
          </a:p>
          <a:p>
            <a:endParaRPr lang="en-US" sz="1200" dirty="0" smtClean="0">
              <a:latin typeface="Consolas" pitchFamily="49" charset="0"/>
            </a:endParaRPr>
          </a:p>
          <a:p>
            <a:r>
              <a:rPr lang="en-US" sz="1200" dirty="0" smtClean="0">
                <a:latin typeface="Consolas" pitchFamily="49" charset="0"/>
              </a:rPr>
              <a:t>export default App;</a:t>
            </a:r>
            <a:endParaRPr lang="en-US" sz="1200" b="1" dirty="0" smtClean="0">
              <a:solidFill>
                <a:srgbClr val="C00000"/>
              </a:solidFill>
              <a:latin typeface="Consolas"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Hello World!</a:t>
            </a:r>
            <a:endParaRPr lang="en-US" b="1" dirty="0"/>
          </a:p>
        </p:txBody>
      </p:sp>
      <p:sp>
        <p:nvSpPr>
          <p:cNvPr id="4" name="Rectangle 3"/>
          <p:cNvSpPr/>
          <p:nvPr/>
        </p:nvSpPr>
        <p:spPr>
          <a:xfrm>
            <a:off x="533400" y="1447800"/>
            <a:ext cx="8153400" cy="295465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200" dirty="0" smtClean="0">
                <a:latin typeface="Consolas" pitchFamily="49" charset="0"/>
              </a:rPr>
              <a:t>/* HelloWorld.js */</a:t>
            </a:r>
          </a:p>
          <a:p>
            <a:r>
              <a:rPr lang="en-US" sz="1200" dirty="0" smtClean="0">
                <a:latin typeface="Consolas" pitchFamily="49" charset="0"/>
              </a:rPr>
              <a:t>import React, { Component } from 'react';</a:t>
            </a:r>
          </a:p>
          <a:p>
            <a:r>
              <a:rPr lang="en-US" sz="1200" dirty="0" smtClean="0">
                <a:latin typeface="Consolas" pitchFamily="49" charset="0"/>
              </a:rPr>
              <a:t>import './HelloWorld.css';</a:t>
            </a:r>
          </a:p>
          <a:p>
            <a:endParaRPr lang="en-US" sz="1200" dirty="0" smtClean="0">
              <a:latin typeface="Consolas" pitchFamily="49" charset="0"/>
            </a:endParaRPr>
          </a:p>
          <a:p>
            <a:r>
              <a:rPr lang="en-US" sz="1200" dirty="0" smtClean="0">
                <a:latin typeface="Consolas" pitchFamily="49" charset="0"/>
              </a:rPr>
              <a:t>class </a:t>
            </a:r>
            <a:r>
              <a:rPr lang="en-US" sz="1200" dirty="0" err="1" smtClean="0">
                <a:latin typeface="Consolas" pitchFamily="49" charset="0"/>
              </a:rPr>
              <a:t>HelloWorld</a:t>
            </a:r>
            <a:r>
              <a:rPr lang="en-US" sz="1200" dirty="0" smtClean="0">
                <a:latin typeface="Consolas" pitchFamily="49" charset="0"/>
              </a:rPr>
              <a:t> extends Component {</a:t>
            </a:r>
          </a:p>
          <a:p>
            <a:r>
              <a:rPr lang="en-US" sz="1200" dirty="0" smtClean="0">
                <a:latin typeface="Consolas" pitchFamily="49" charset="0"/>
              </a:rPr>
              <a:t>    render() {</a:t>
            </a:r>
          </a:p>
          <a:p>
            <a:r>
              <a:rPr lang="en-US" sz="1200" smtClean="0">
                <a:latin typeface="Consolas" pitchFamily="49" charset="0"/>
              </a:rPr>
              <a:t>        return </a:t>
            </a:r>
            <a:r>
              <a:rPr lang="en-US" sz="1200" dirty="0" smtClean="0">
                <a:latin typeface="Consolas" pitchFamily="49" charset="0"/>
              </a:rPr>
              <a:t>(</a:t>
            </a:r>
          </a:p>
          <a:p>
            <a:r>
              <a:rPr lang="en-US" sz="1200" smtClean="0">
                <a:latin typeface="Consolas" pitchFamily="49" charset="0"/>
              </a:rPr>
              <a:t>          </a:t>
            </a:r>
            <a:r>
              <a:rPr lang="en-US" sz="1200" dirty="0" smtClean="0">
                <a:latin typeface="Consolas" pitchFamily="49" charset="0"/>
              </a:rPr>
              <a:t>&lt;div </a:t>
            </a:r>
            <a:r>
              <a:rPr lang="en-US" sz="1200" dirty="0" err="1" smtClean="0">
                <a:latin typeface="Consolas" pitchFamily="49" charset="0"/>
              </a:rPr>
              <a:t>className</a:t>
            </a:r>
            <a:r>
              <a:rPr lang="en-US" sz="1200" dirty="0" smtClean="0">
                <a:latin typeface="Consolas" pitchFamily="49" charset="0"/>
              </a:rPr>
              <a:t>="</a:t>
            </a:r>
            <a:r>
              <a:rPr lang="en-US" sz="1200" dirty="0" err="1" smtClean="0">
                <a:latin typeface="Consolas" pitchFamily="49" charset="0"/>
              </a:rPr>
              <a:t>helloContainer</a:t>
            </a:r>
            <a:r>
              <a:rPr lang="en-US" sz="1200" dirty="0" smtClean="0">
                <a:latin typeface="Consolas" pitchFamily="49" charset="0"/>
              </a:rPr>
              <a:t>"&gt;</a:t>
            </a:r>
          </a:p>
          <a:p>
            <a:r>
              <a:rPr lang="en-US" sz="1200" smtClean="0">
                <a:latin typeface="Consolas" pitchFamily="49" charset="0"/>
              </a:rPr>
              <a:t>            </a:t>
            </a:r>
            <a:r>
              <a:rPr lang="en-US" sz="1200" dirty="0" smtClean="0">
                <a:latin typeface="Consolas" pitchFamily="49" charset="0"/>
              </a:rPr>
              <a:t>&lt;h1&gt;Hello, world!&lt;/h1&gt;</a:t>
            </a:r>
          </a:p>
          <a:p>
            <a:r>
              <a:rPr lang="en-US" sz="1200" smtClean="0">
                <a:latin typeface="Consolas" pitchFamily="49" charset="0"/>
              </a:rPr>
              <a:t>          </a:t>
            </a:r>
            <a:r>
              <a:rPr lang="en-US" sz="1200" dirty="0" smtClean="0">
                <a:latin typeface="Consolas" pitchFamily="49" charset="0"/>
              </a:rPr>
              <a:t>&lt;/div&gt;</a:t>
            </a:r>
          </a:p>
          <a:p>
            <a:r>
              <a:rPr lang="en-US" sz="1200" dirty="0" smtClean="0">
                <a:latin typeface="Consolas" pitchFamily="49" charset="0"/>
              </a:rPr>
              <a:t>      );</a:t>
            </a:r>
          </a:p>
          <a:p>
            <a:r>
              <a:rPr lang="en-US" sz="1200" dirty="0" smtClean="0">
                <a:latin typeface="Consolas" pitchFamily="49" charset="0"/>
              </a:rPr>
              <a:t>    }</a:t>
            </a:r>
          </a:p>
          <a:p>
            <a:r>
              <a:rPr lang="en-US" sz="1200" dirty="0" smtClean="0">
                <a:latin typeface="Consolas" pitchFamily="49" charset="0"/>
              </a:rPr>
              <a:t>}</a:t>
            </a:r>
          </a:p>
          <a:p>
            <a:r>
              <a:rPr lang="en-US" sz="1200" dirty="0" smtClean="0">
                <a:latin typeface="Consolas" pitchFamily="49" charset="0"/>
              </a:rPr>
              <a:t> </a:t>
            </a:r>
          </a:p>
          <a:p>
            <a:r>
              <a:rPr lang="en-US" sz="1200" dirty="0" smtClean="0">
                <a:latin typeface="Consolas" pitchFamily="49" charset="0"/>
              </a:rPr>
              <a:t>export default </a:t>
            </a:r>
            <a:r>
              <a:rPr lang="en-US" sz="1200" dirty="0" err="1" smtClean="0">
                <a:latin typeface="Consolas" pitchFamily="49" charset="0"/>
              </a:rPr>
              <a:t>HelloWorld</a:t>
            </a:r>
            <a:r>
              <a:rPr lang="en-US" sz="1200" dirty="0" smtClean="0">
                <a:latin typeface="Consolas" pitchFamily="49" charset="0"/>
              </a:rPr>
              <a:t>;</a:t>
            </a:r>
            <a:endParaRPr lang="en-US" sz="1200" b="1" dirty="0" smtClean="0">
              <a:solidFill>
                <a:srgbClr val="C00000"/>
              </a:solidFill>
              <a:latin typeface="Consolas" pitchFamily="49" charset="0"/>
            </a:endParaRPr>
          </a:p>
        </p:txBody>
      </p:sp>
      <p:sp>
        <p:nvSpPr>
          <p:cNvPr id="5" name="Rectangle 4"/>
          <p:cNvSpPr/>
          <p:nvPr/>
        </p:nvSpPr>
        <p:spPr>
          <a:xfrm>
            <a:off x="533400" y="4646474"/>
            <a:ext cx="8153400" cy="193899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200" dirty="0" smtClean="0">
                <a:latin typeface="Consolas" pitchFamily="49" charset="0"/>
              </a:rPr>
              <a:t>/* index.js */</a:t>
            </a:r>
          </a:p>
          <a:p>
            <a:r>
              <a:rPr lang="en-US" sz="1200" dirty="0" smtClean="0">
                <a:latin typeface="Consolas" pitchFamily="49" charset="0"/>
              </a:rPr>
              <a:t>import React from 'react';</a:t>
            </a:r>
          </a:p>
          <a:p>
            <a:r>
              <a:rPr lang="en-US" sz="1200" dirty="0" smtClean="0">
                <a:latin typeface="Consolas" pitchFamily="49" charset="0"/>
              </a:rPr>
              <a:t>import </a:t>
            </a:r>
            <a:r>
              <a:rPr lang="en-US" sz="1200" dirty="0" err="1" smtClean="0">
                <a:latin typeface="Consolas" pitchFamily="49" charset="0"/>
              </a:rPr>
              <a:t>ReactDOM</a:t>
            </a:r>
            <a:r>
              <a:rPr lang="en-US" sz="1200" dirty="0" smtClean="0">
                <a:latin typeface="Consolas" pitchFamily="49" charset="0"/>
              </a:rPr>
              <a:t> from 'react-</a:t>
            </a:r>
            <a:r>
              <a:rPr lang="en-US" sz="1200" dirty="0" err="1" smtClean="0">
                <a:latin typeface="Consolas" pitchFamily="49" charset="0"/>
              </a:rPr>
              <a:t>dom</a:t>
            </a:r>
            <a:r>
              <a:rPr lang="en-US" sz="1200" dirty="0" smtClean="0">
                <a:latin typeface="Consolas" pitchFamily="49" charset="0"/>
              </a:rPr>
              <a:t>';</a:t>
            </a:r>
          </a:p>
          <a:p>
            <a:r>
              <a:rPr lang="en-US" sz="1200" dirty="0" smtClean="0">
                <a:latin typeface="Consolas" pitchFamily="49" charset="0"/>
              </a:rPr>
              <a:t>import './index.css';</a:t>
            </a:r>
          </a:p>
          <a:p>
            <a:r>
              <a:rPr lang="en-US" sz="1200" dirty="0" smtClean="0">
                <a:latin typeface="Consolas" pitchFamily="49" charset="0"/>
              </a:rPr>
              <a:t>import App from './App';</a:t>
            </a:r>
          </a:p>
          <a:p>
            <a:r>
              <a:rPr lang="en-US" sz="1200" dirty="0" smtClean="0">
                <a:latin typeface="Consolas" pitchFamily="49" charset="0"/>
              </a:rPr>
              <a:t>import * as </a:t>
            </a:r>
            <a:r>
              <a:rPr lang="en-US" sz="1200" dirty="0" err="1" smtClean="0">
                <a:latin typeface="Consolas" pitchFamily="49" charset="0"/>
              </a:rPr>
              <a:t>serviceWorker</a:t>
            </a:r>
            <a:r>
              <a:rPr lang="en-US" sz="1200" dirty="0" smtClean="0">
                <a:latin typeface="Consolas" pitchFamily="49" charset="0"/>
              </a:rPr>
              <a:t> from './</a:t>
            </a:r>
            <a:r>
              <a:rPr lang="en-US" sz="1200" dirty="0" err="1" smtClean="0">
                <a:latin typeface="Consolas" pitchFamily="49" charset="0"/>
              </a:rPr>
              <a:t>serviceWorker</a:t>
            </a:r>
            <a:r>
              <a:rPr lang="en-US" sz="1200" dirty="0" smtClean="0">
                <a:latin typeface="Consolas" pitchFamily="49" charset="0"/>
              </a:rPr>
              <a:t>';</a:t>
            </a:r>
          </a:p>
          <a:p>
            <a:r>
              <a:rPr lang="en-US" sz="1200" dirty="0" smtClean="0">
                <a:latin typeface="Consolas" pitchFamily="49" charset="0"/>
              </a:rPr>
              <a:t>import </a:t>
            </a:r>
            <a:r>
              <a:rPr lang="en-US" sz="1200" dirty="0" err="1" smtClean="0">
                <a:latin typeface="Consolas" pitchFamily="49" charset="0"/>
              </a:rPr>
              <a:t>HelloWorld</a:t>
            </a:r>
            <a:r>
              <a:rPr lang="en-US" sz="1200" dirty="0" smtClean="0">
                <a:latin typeface="Consolas" pitchFamily="49" charset="0"/>
              </a:rPr>
              <a:t> from './</a:t>
            </a:r>
            <a:r>
              <a:rPr lang="en-US" sz="1200" dirty="0" err="1" smtClean="0">
                <a:latin typeface="Consolas" pitchFamily="49" charset="0"/>
              </a:rPr>
              <a:t>HelloWorld</a:t>
            </a:r>
            <a:r>
              <a:rPr lang="en-US" sz="1200" dirty="0" smtClean="0">
                <a:latin typeface="Consolas" pitchFamily="49" charset="0"/>
              </a:rPr>
              <a:t>';</a:t>
            </a:r>
          </a:p>
          <a:p>
            <a:endParaRPr lang="en-US" sz="1200" dirty="0" smtClean="0">
              <a:latin typeface="Consolas" pitchFamily="49" charset="0"/>
            </a:endParaRPr>
          </a:p>
          <a:p>
            <a:r>
              <a:rPr lang="en-US" sz="1200" dirty="0" err="1" smtClean="0">
                <a:latin typeface="Consolas" pitchFamily="49" charset="0"/>
              </a:rPr>
              <a:t>ReactDOM.render</a:t>
            </a:r>
            <a:r>
              <a:rPr lang="en-US" sz="1200" dirty="0" smtClean="0">
                <a:latin typeface="Consolas" pitchFamily="49" charset="0"/>
              </a:rPr>
              <a:t>(&lt;</a:t>
            </a:r>
            <a:r>
              <a:rPr lang="en-US" sz="1200" dirty="0" err="1" smtClean="0">
                <a:latin typeface="Consolas" pitchFamily="49" charset="0"/>
              </a:rPr>
              <a:t>HelloWorld</a:t>
            </a:r>
            <a:r>
              <a:rPr lang="en-US" sz="1200" dirty="0" smtClean="0">
                <a:latin typeface="Consolas" pitchFamily="49" charset="0"/>
              </a:rPr>
              <a:t> /&gt;, </a:t>
            </a:r>
            <a:r>
              <a:rPr lang="en-US" sz="1200" dirty="0" err="1" smtClean="0">
                <a:latin typeface="Consolas" pitchFamily="49" charset="0"/>
              </a:rPr>
              <a:t>document.getElementById</a:t>
            </a:r>
            <a:r>
              <a:rPr lang="en-US" sz="1200" dirty="0" smtClean="0">
                <a:latin typeface="Consolas" pitchFamily="49" charset="0"/>
              </a:rPr>
              <a:t>('root'));</a:t>
            </a:r>
            <a:endParaRPr lang="en-US" sz="1200" b="1" dirty="0" smtClean="0">
              <a:solidFill>
                <a:srgbClr val="C00000"/>
              </a:solidFill>
              <a:latin typeface="Consolas" pitchFamily="49" charset="0"/>
            </a:endParaRPr>
          </a:p>
          <a:p>
            <a:r>
              <a:rPr lang="en-US" sz="1200" b="1" dirty="0" smtClean="0">
                <a:solidFill>
                  <a:srgbClr val="C00000"/>
                </a:solidFill>
                <a:latin typeface="Consolas" pitchFamily="49" charset="0"/>
              </a:rPr>
              <a:t>...</a:t>
            </a:r>
          </a:p>
        </p:txBody>
      </p:sp>
      <p:pic>
        <p:nvPicPr>
          <p:cNvPr id="6" name="Picture 3"/>
          <p:cNvPicPr>
            <a:picLocks noChangeAspect="1" noChangeArrowheads="1"/>
          </p:cNvPicPr>
          <p:nvPr/>
        </p:nvPicPr>
        <p:blipFill>
          <a:blip r:embed="rId2" cstate="print"/>
          <a:srcRect/>
          <a:stretch>
            <a:fillRect/>
          </a:stretch>
        </p:blipFill>
        <p:spPr bwMode="auto">
          <a:xfrm>
            <a:off x="5257800" y="2895600"/>
            <a:ext cx="3228975" cy="108267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19485</TotalTime>
  <Words>1844</Words>
  <Application>Microsoft Office PowerPoint</Application>
  <PresentationFormat>On-screen Show (4:3)</PresentationFormat>
  <Paragraphs>258</Paragraphs>
  <Slides>35</Slides>
  <Notes>1</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Introduction to React</vt:lpstr>
      <vt:lpstr>Objectives</vt:lpstr>
      <vt:lpstr>Contents</vt:lpstr>
      <vt:lpstr>References</vt:lpstr>
      <vt:lpstr>1. Install Code Runner</vt:lpstr>
      <vt:lpstr>2. Install Node.js</vt:lpstr>
      <vt:lpstr>3. Run JavaScript Code</vt:lpstr>
      <vt:lpstr>Multi-Page Design [1]</vt:lpstr>
      <vt:lpstr>Single-Page App</vt:lpstr>
      <vt:lpstr>Data and UI Synchronization</vt:lpstr>
      <vt:lpstr>DOM Manipulation Speed</vt:lpstr>
      <vt:lpstr>Working with HTML Templates</vt:lpstr>
      <vt:lpstr>One of Solutions: React</vt:lpstr>
      <vt:lpstr>Automatic UI State Management</vt:lpstr>
      <vt:lpstr>Lightning-Fast DOM Manipulation</vt:lpstr>
      <vt:lpstr>APIs to Create Truly Composable UIs</vt:lpstr>
      <vt:lpstr>JSX (JavaScript eXtension)</vt:lpstr>
      <vt:lpstr>Slide 18</vt:lpstr>
      <vt:lpstr>What You Need</vt:lpstr>
      <vt:lpstr>1. Create Hello World</vt:lpstr>
      <vt:lpstr>2. Use a DIV</vt:lpstr>
      <vt:lpstr>ReactDOM.render</vt:lpstr>
      <vt:lpstr>React.createElement</vt:lpstr>
      <vt:lpstr>JSX &amp; External JavaScript Library</vt:lpstr>
      <vt:lpstr>JSX &amp; Built-Tools</vt:lpstr>
      <vt:lpstr>Slide 26</vt:lpstr>
      <vt:lpstr>React Development Environment</vt:lpstr>
      <vt:lpstr>1. Install Nodejs</vt:lpstr>
      <vt:lpstr>2. Create and Run React App</vt:lpstr>
      <vt:lpstr>3. Review Application Structure</vt:lpstr>
      <vt:lpstr>index.html</vt:lpstr>
      <vt:lpstr>index.js</vt:lpstr>
      <vt:lpstr>App.js</vt:lpstr>
      <vt:lpstr>Hello World!</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5450</cp:revision>
  <dcterms:created xsi:type="dcterms:W3CDTF">2007-10-06T08:25:13Z</dcterms:created>
  <dcterms:modified xsi:type="dcterms:W3CDTF">2024-01-27T20:16:15Z</dcterms:modified>
</cp:coreProperties>
</file>