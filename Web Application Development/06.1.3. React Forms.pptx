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0"/>
  </p:notesMasterIdLst>
  <p:sldIdLst>
    <p:sldId id="499" r:id="rId2"/>
    <p:sldId id="500" r:id="rId3"/>
    <p:sldId id="501" r:id="rId4"/>
    <p:sldId id="502" r:id="rId5"/>
    <p:sldId id="522" r:id="rId6"/>
    <p:sldId id="521" r:id="rId7"/>
    <p:sldId id="523" r:id="rId8"/>
    <p:sldId id="524" r:id="rId9"/>
    <p:sldId id="525" r:id="rId10"/>
    <p:sldId id="526" r:id="rId11"/>
    <p:sldId id="527" r:id="rId12"/>
    <p:sldId id="528" r:id="rId13"/>
    <p:sldId id="410" r:id="rId14"/>
    <p:sldId id="530" r:id="rId15"/>
    <p:sldId id="531" r:id="rId16"/>
    <p:sldId id="533" r:id="rId17"/>
    <p:sldId id="529" r:id="rId18"/>
    <p:sldId id="34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0" autoAdjust="0"/>
    <p:restoredTop sz="94667" autoAdjust="0"/>
  </p:normalViewPr>
  <p:slideViewPr>
    <p:cSldViewPr>
      <p:cViewPr>
        <p:scale>
          <a:sx n="50" d="100"/>
          <a:sy n="50" d="100"/>
        </p:scale>
        <p:origin x="-156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quense/yup" TargetMode="External"/><Relationship Id="rId2" Type="http://schemas.openxmlformats.org/officeDocument/2006/relationships/hyperlink" Target="https://formik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s://github.com/react-hook-form/react-hook-for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React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Uncontrolled Inputs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Uncontrolled inputs</a:t>
            </a:r>
            <a:r>
              <a:rPr lang="en-US" sz="2400" dirty="0" smtClean="0"/>
              <a:t> are like </a:t>
            </a:r>
            <a:r>
              <a:rPr lang="en-US" sz="2400" u="sng" dirty="0" smtClean="0"/>
              <a:t>standard HTML</a:t>
            </a:r>
            <a:r>
              <a:rPr lang="en-US" sz="2400" dirty="0" smtClean="0"/>
              <a:t> form inputs.</a:t>
            </a:r>
          </a:p>
          <a:p>
            <a:r>
              <a:rPr lang="en-US" sz="2400" dirty="0" smtClean="0"/>
              <a:t>They remember exactly what you typed, being the DOM itself that maintains that internal state.</a:t>
            </a:r>
          </a:p>
          <a:p>
            <a:r>
              <a:rPr lang="en-US" sz="2400" dirty="0" smtClean="0"/>
              <a:t>How can you then get their value? The answer is by using a React </a:t>
            </a:r>
            <a:r>
              <a:rPr lang="en-US" sz="2400" b="1" dirty="0" err="1" smtClean="0"/>
              <a:t>useRef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returned value from the </a:t>
            </a:r>
            <a:r>
              <a:rPr lang="en-US" sz="2400" b="1" dirty="0" err="1" smtClean="0"/>
              <a:t>useRef</a:t>
            </a:r>
            <a:r>
              <a:rPr lang="en-US" sz="2400" dirty="0" smtClean="0"/>
              <a:t> hook invocation is an object.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 smtClean="0"/>
              <a:t>other words, you must </a:t>
            </a:r>
            <a:r>
              <a:rPr lang="en-US" sz="2400" b="1" dirty="0" smtClean="0"/>
              <a:t>pull </a:t>
            </a:r>
            <a:r>
              <a:rPr lang="en-US" sz="2400" dirty="0" smtClean="0"/>
              <a:t>the value from the field when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Uncontrolled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init react-app 01-uncontrolled-input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01-uncontrolled-input</a:t>
            </a:r>
          </a:p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start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2861370"/>
            <a:ext cx="8458200" cy="35394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4EC9B0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</a:t>
            </a:r>
            <a:r>
              <a:rPr lang="en-US" dirty="0" err="1" smtClean="0"/>
              <a:t>useRef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76400"/>
            <a:ext cx="8458200" cy="443198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useRef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nameRef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useRef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nameRef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current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alert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onSubmit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nameRef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"submit"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"Send"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Controlled Inputs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Controlled inputs</a:t>
            </a:r>
            <a:r>
              <a:rPr lang="en-US" sz="2000" dirty="0" smtClean="0"/>
              <a:t> accept their current value as a </a:t>
            </a:r>
            <a:r>
              <a:rPr lang="en-US" sz="2000" b="1" dirty="0" smtClean="0"/>
              <a:t>prop</a:t>
            </a:r>
            <a:r>
              <a:rPr lang="en-US" sz="2000" dirty="0" smtClean="0"/>
              <a:t> and a </a:t>
            </a:r>
            <a:r>
              <a:rPr lang="en-US" sz="2000" b="1" dirty="0" smtClean="0"/>
              <a:t>callback</a:t>
            </a:r>
            <a:r>
              <a:rPr lang="en-US" sz="2000" dirty="0" smtClean="0"/>
              <a:t> to change that value.</a:t>
            </a:r>
          </a:p>
          <a:p>
            <a:r>
              <a:rPr lang="en-US" sz="2000" dirty="0" smtClean="0"/>
              <a:t>The </a:t>
            </a:r>
            <a:r>
              <a:rPr lang="en-US" sz="2000" b="1" dirty="0" smtClean="0"/>
              <a:t>value prop</a:t>
            </a:r>
            <a:r>
              <a:rPr lang="en-US" sz="2000" dirty="0" smtClean="0"/>
              <a:t> is used to hook the local state up and </a:t>
            </a:r>
            <a:r>
              <a:rPr lang="en-US" sz="2000" b="1" dirty="0" err="1" smtClean="0"/>
              <a:t>onChange</a:t>
            </a:r>
            <a:r>
              <a:rPr lang="en-US" sz="2000" b="1" dirty="0" smtClean="0"/>
              <a:t> prop</a:t>
            </a:r>
            <a:r>
              <a:rPr lang="en-US" sz="2000" dirty="0" smtClean="0"/>
              <a:t> is used to receive the changes and update the state accordingly.</a:t>
            </a:r>
          </a:p>
          <a:p>
            <a:r>
              <a:rPr lang="en-US" sz="2000" dirty="0" smtClean="0"/>
              <a:t>State delegation is performed via the </a:t>
            </a:r>
            <a:r>
              <a:rPr lang="en-US" sz="2000" b="1" dirty="0" smtClean="0"/>
              <a:t>value prop</a:t>
            </a:r>
            <a:r>
              <a:rPr lang="en-US" sz="2000" dirty="0" smtClean="0"/>
              <a:t>. A combination of </a:t>
            </a:r>
            <a:r>
              <a:rPr lang="en-US" sz="2000" b="1" dirty="0" smtClean="0"/>
              <a:t>local state</a:t>
            </a:r>
            <a:r>
              <a:rPr lang="en-US" sz="2000" dirty="0" smtClean="0"/>
              <a:t> and the </a:t>
            </a:r>
            <a:r>
              <a:rPr lang="en-US" sz="2000" b="1" dirty="0" smtClean="0"/>
              <a:t>value prop</a:t>
            </a:r>
            <a:r>
              <a:rPr lang="en-US" sz="2000" dirty="0" smtClean="0"/>
              <a:t> is needed to create a controlled component.</a:t>
            </a:r>
          </a:p>
          <a:p>
            <a:r>
              <a:rPr lang="en-US" sz="2000" dirty="0" smtClean="0"/>
              <a:t>This flow </a:t>
            </a:r>
            <a:r>
              <a:rPr lang="en-US" sz="2000" b="1" dirty="0" smtClean="0"/>
              <a:t>pushes </a:t>
            </a:r>
            <a:r>
              <a:rPr lang="en-US" sz="2000" dirty="0" smtClean="0"/>
              <a:t>the value changes to the form component.</a:t>
            </a:r>
          </a:p>
          <a:p>
            <a:r>
              <a:rPr lang="en-US" sz="2000" dirty="0" smtClean="0"/>
              <a:t>The Form component always has the input's current value without needing to ask for it explicitly.</a:t>
            </a:r>
          </a:p>
          <a:p>
            <a:r>
              <a:rPr lang="en-US" sz="2000" dirty="0" smtClean="0"/>
              <a:t>Forms can respond to input changes immediately, for example, by:</a:t>
            </a:r>
          </a:p>
          <a:p>
            <a:pPr lvl="1"/>
            <a:r>
              <a:rPr lang="en-US" sz="2000" dirty="0" smtClean="0"/>
              <a:t>Instant validation per field </a:t>
            </a:r>
          </a:p>
          <a:p>
            <a:pPr lvl="1"/>
            <a:r>
              <a:rPr lang="en-US" sz="2000" dirty="0" smtClean="0"/>
              <a:t>Disabling the submit button unless all fields have valid data </a:t>
            </a:r>
          </a:p>
          <a:p>
            <a:pPr lvl="1"/>
            <a:r>
              <a:rPr lang="en-US" sz="2000" dirty="0" smtClean="0"/>
              <a:t>Enforcing a specific input format, like phone or credit card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Controlled Input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477863"/>
            <a:ext cx="8458200" cy="501675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useState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setName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useState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handleChange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setName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target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preventDefault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alert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onSubmit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"text"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onChange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handleChange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"submit"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"Send"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React, an </a:t>
            </a:r>
            <a:r>
              <a:rPr lang="en-US" sz="2400" b="1" dirty="0" smtClean="0">
                <a:latin typeface="Consolas" pitchFamily="49" charset="0"/>
              </a:rPr>
              <a:t>&lt;input type="file" /&gt;</a:t>
            </a:r>
            <a:r>
              <a:rPr lang="en-US" sz="2400" dirty="0" smtClean="0"/>
              <a:t> is always an </a:t>
            </a:r>
            <a:r>
              <a:rPr lang="en-US" sz="2400" i="1" dirty="0" smtClean="0">
                <a:solidFill>
                  <a:srgbClr val="C00000"/>
                </a:solidFill>
              </a:rPr>
              <a:t>uncontrolled component</a:t>
            </a:r>
            <a:r>
              <a:rPr lang="en-US" sz="2400" dirty="0" smtClean="0"/>
              <a:t> because its value is read-only and can't be set programmatically. 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File Input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30263"/>
            <a:ext cx="8458200" cy="47705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useRef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uploadFiles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useRef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null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preventDefault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files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uploadFiles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current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files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alert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files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[</a:t>
            </a:r>
            <a:r>
              <a:rPr lang="en-US" sz="1600" dirty="0" smtClean="0">
                <a:solidFill>
                  <a:srgbClr val="B5CEA8"/>
                </a:solidFill>
                <a:latin typeface="Consolas"/>
              </a:rPr>
              <a:t>0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].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}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onSubmit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handleSubmit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ref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uploadFiles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"file"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"submit"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"Send"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form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Uncontrolled vs. Controlled Components</a:t>
            </a:r>
            <a:endParaRPr lang="en-US" sz="3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6805" y="1752600"/>
          <a:ext cx="8003795" cy="4295496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411761"/>
                <a:gridCol w="1796017"/>
                <a:gridCol w="1796017"/>
              </a:tblGrid>
              <a:tr h="323283">
                <a:tc>
                  <a:txBody>
                    <a:bodyPr/>
                    <a:lstStyle/>
                    <a:p>
                      <a:r>
                        <a:rPr lang="en-US" sz="2200" dirty="0"/>
                        <a:t>Feature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Uncontrolled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Controlled</a:t>
                      </a:r>
                    </a:p>
                  </a:txBody>
                  <a:tcPr marL="80821" marR="80821" marT="40410" marB="40410" anchor="ctr"/>
                </a:tc>
              </a:tr>
              <a:tr h="808208">
                <a:tc>
                  <a:txBody>
                    <a:bodyPr/>
                    <a:lstStyle/>
                    <a:p>
                      <a:r>
                        <a:rPr lang="en-US" sz="2200"/>
                        <a:t>One-time value retrieval (e.g. on submit)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  <a:tr h="565745">
                <a:tc>
                  <a:txBody>
                    <a:bodyPr/>
                    <a:lstStyle/>
                    <a:p>
                      <a:r>
                        <a:rPr lang="en-US" sz="2200"/>
                        <a:t>Validating on submit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  <a:tr h="565745">
                <a:tc>
                  <a:txBody>
                    <a:bodyPr/>
                    <a:lstStyle/>
                    <a:p>
                      <a:r>
                        <a:rPr lang="en-US" sz="2200" dirty="0"/>
                        <a:t>Instant field validation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  <a:tr h="808208">
                <a:tc>
                  <a:txBody>
                    <a:bodyPr/>
                    <a:lstStyle/>
                    <a:p>
                      <a:r>
                        <a:rPr lang="en-US" sz="2200" dirty="0"/>
                        <a:t>Conditionally disabling a submit button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  <a:tr h="565745">
                <a:tc>
                  <a:txBody>
                    <a:bodyPr/>
                    <a:lstStyle/>
                    <a:p>
                      <a:r>
                        <a:rPr lang="en-US" sz="2200"/>
                        <a:t>Enforcing a specific input format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  <a:tr h="565745">
                <a:tc>
                  <a:txBody>
                    <a:bodyPr/>
                    <a:lstStyle/>
                    <a:p>
                      <a:r>
                        <a:rPr lang="en-US" sz="2200"/>
                        <a:t>Several inputs for one piece of data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Yes</a:t>
                      </a:r>
                    </a:p>
                  </a:txBody>
                  <a:tcPr marL="80821" marR="80821" marT="40410" marB="4041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Elements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371600"/>
            <a:ext cx="8153400" cy="489364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200" dirty="0" smtClean="0">
                <a:latin typeface="Consolas" pitchFamily="49" charset="0"/>
              </a:rPr>
              <a:t> </a:t>
            </a:r>
            <a:r>
              <a:rPr lang="en-US" sz="1200" dirty="0" err="1" smtClean="0">
                <a:latin typeface="Consolas" pitchFamily="49" charset="0"/>
              </a:rPr>
              <a:t>setNewBgColor</a:t>
            </a:r>
            <a:r>
              <a:rPr lang="en-US" sz="1200" dirty="0" smtClean="0">
                <a:latin typeface="Consolas" pitchFamily="49" charset="0"/>
              </a:rPr>
              <a:t>(e){</a:t>
            </a:r>
          </a:p>
          <a:p>
            <a:r>
              <a:rPr lang="en-US" sz="1200" dirty="0" smtClean="0">
                <a:latin typeface="Consolas" pitchFamily="49" charset="0"/>
              </a:rPr>
              <a:t>                </a:t>
            </a:r>
            <a:r>
              <a:rPr lang="en-US" sz="1200" dirty="0" err="1" smtClean="0">
                <a:latin typeface="Consolas" pitchFamily="49" charset="0"/>
              </a:rPr>
              <a:t>this.setState</a:t>
            </a:r>
            <a:r>
              <a:rPr lang="en-US" sz="1200" dirty="0" smtClean="0">
                <a:latin typeface="Consolas" pitchFamily="49" charset="0"/>
              </a:rPr>
              <a:t>({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</a:t>
            </a:r>
            <a:r>
              <a:rPr lang="en-US" sz="1200" dirty="0" err="1" smtClean="0">
                <a:latin typeface="Consolas" pitchFamily="49" charset="0"/>
              </a:rPr>
              <a:t>bgColor</a:t>
            </a:r>
            <a:r>
              <a:rPr lang="en-US" sz="1200" dirty="0" smtClean="0">
                <a:latin typeface="Consolas" pitchFamily="49" charset="0"/>
              </a:rPr>
              <a:t>: </a:t>
            </a:r>
            <a:r>
              <a:rPr lang="en-US" sz="1200" dirty="0" err="1" smtClean="0">
                <a:latin typeface="Consolas" pitchFamily="49" charset="0"/>
              </a:rPr>
              <a:t>this.state.color</a:t>
            </a:r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    });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    </a:t>
            </a:r>
            <a:r>
              <a:rPr lang="en-US" sz="1200" dirty="0" err="1" smtClean="0">
                <a:latin typeface="Consolas" pitchFamily="49" charset="0"/>
              </a:rPr>
              <a:t>e.preventDefault</a:t>
            </a:r>
            <a:r>
              <a:rPr lang="en-US" sz="1200" dirty="0" smtClean="0">
                <a:latin typeface="Consolas" pitchFamily="49" charset="0"/>
              </a:rPr>
              <a:t>();</a:t>
            </a:r>
          </a:p>
          <a:p>
            <a:r>
              <a:rPr lang="en-US" sz="1200" dirty="0" smtClean="0">
                <a:latin typeface="Consolas" pitchFamily="49" charset="0"/>
              </a:rPr>
              <a:t>            }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render() {</a:t>
            </a:r>
          </a:p>
          <a:p>
            <a:r>
              <a:rPr lang="en-US" sz="1200" dirty="0" smtClean="0">
                <a:latin typeface="Consolas" pitchFamily="49" charset="0"/>
              </a:rPr>
              <a:t>                </a:t>
            </a:r>
            <a:r>
              <a:rPr lang="en-US" sz="1200" dirty="0" err="1" smtClean="0">
                <a:latin typeface="Consolas" pitchFamily="49" charset="0"/>
              </a:rPr>
              <a:t>var</a:t>
            </a:r>
            <a:r>
              <a:rPr lang="en-US" sz="1200" dirty="0" smtClean="0">
                <a:latin typeface="Consolas" pitchFamily="49" charset="0"/>
              </a:rPr>
              <a:t> </a:t>
            </a:r>
            <a:r>
              <a:rPr lang="en-US" sz="1200" dirty="0" err="1" smtClean="0">
                <a:latin typeface="Consolas" pitchFamily="49" charset="0"/>
              </a:rPr>
              <a:t>squareStyle</a:t>
            </a:r>
            <a:r>
              <a:rPr lang="en-US" sz="1200" dirty="0" smtClean="0">
                <a:latin typeface="Consolas" pitchFamily="49" charset="0"/>
              </a:rPr>
              <a:t> = {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</a:t>
            </a:r>
            <a:r>
              <a:rPr lang="en-US" sz="1200" dirty="0" err="1" smtClean="0">
                <a:latin typeface="Consolas" pitchFamily="49" charset="0"/>
              </a:rPr>
              <a:t>backgroundColor</a:t>
            </a:r>
            <a:r>
              <a:rPr lang="en-US" sz="1200" dirty="0" smtClean="0">
                <a:latin typeface="Consolas" pitchFamily="49" charset="0"/>
              </a:rPr>
              <a:t>: </a:t>
            </a:r>
            <a:r>
              <a:rPr lang="en-US" sz="1200" dirty="0" err="1" smtClean="0">
                <a:latin typeface="Consolas" pitchFamily="49" charset="0"/>
              </a:rPr>
              <a:t>this.state.bgColor</a:t>
            </a:r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        };</a:t>
            </a:r>
          </a:p>
          <a:p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    return (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&lt;div </a:t>
            </a:r>
            <a:r>
              <a:rPr lang="en-US" sz="1200" dirty="0" err="1" smtClean="0">
                <a:latin typeface="Consolas" pitchFamily="49" charset="0"/>
              </a:rPr>
              <a:t>className</a:t>
            </a:r>
            <a:r>
              <a:rPr lang="en-US" sz="1200" dirty="0" smtClean="0">
                <a:latin typeface="Consolas" pitchFamily="49" charset="0"/>
              </a:rPr>
              <a:t>="</a:t>
            </a:r>
            <a:r>
              <a:rPr lang="en-US" sz="1200" dirty="0" err="1" smtClean="0">
                <a:latin typeface="Consolas" pitchFamily="49" charset="0"/>
              </a:rPr>
              <a:t>colorArea</a:t>
            </a:r>
            <a:r>
              <a:rPr lang="en-US" sz="1200" dirty="0" smtClean="0">
                <a:latin typeface="Consolas" pitchFamily="49" charset="0"/>
              </a:rPr>
              <a:t>"&gt;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&lt;div style={</a:t>
            </a:r>
            <a:r>
              <a:rPr lang="en-US" sz="1200" dirty="0" err="1" smtClean="0">
                <a:latin typeface="Consolas" pitchFamily="49" charset="0"/>
              </a:rPr>
              <a:t>squareStyle</a:t>
            </a:r>
            <a:r>
              <a:rPr lang="en-US" sz="1200" dirty="0" smtClean="0">
                <a:latin typeface="Consolas" pitchFamily="49" charset="0"/>
              </a:rPr>
              <a:t>} </a:t>
            </a:r>
            <a:r>
              <a:rPr lang="en-US" sz="1200" dirty="0" err="1" smtClean="0">
                <a:latin typeface="Consolas" pitchFamily="49" charset="0"/>
              </a:rPr>
              <a:t>className</a:t>
            </a:r>
            <a:r>
              <a:rPr lang="en-US" sz="1200" dirty="0" smtClean="0">
                <a:latin typeface="Consolas" pitchFamily="49" charset="0"/>
              </a:rPr>
              <a:t>="</a:t>
            </a:r>
            <a:r>
              <a:rPr lang="en-US" sz="1200" dirty="0" err="1" smtClean="0">
                <a:latin typeface="Consolas" pitchFamily="49" charset="0"/>
              </a:rPr>
              <a:t>colorSquare</a:t>
            </a:r>
            <a:r>
              <a:rPr lang="en-US" sz="1200" dirty="0" smtClean="0">
                <a:latin typeface="Consolas" pitchFamily="49" charset="0"/>
              </a:rPr>
              <a:t>"&gt;&lt;/div&gt;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&lt;form </a:t>
            </a:r>
            <a:r>
              <a:rPr lang="en-US" sz="1200" dirty="0" err="1" smtClean="0">
                <a:latin typeface="Consolas" pitchFamily="49" charset="0"/>
              </a:rPr>
              <a:t>onSubmit</a:t>
            </a:r>
            <a:r>
              <a:rPr lang="en-US" sz="1200" dirty="0" smtClean="0">
                <a:latin typeface="Consolas" pitchFamily="49" charset="0"/>
              </a:rPr>
              <a:t>={</a:t>
            </a:r>
            <a:r>
              <a:rPr lang="en-US" sz="1200" dirty="0" err="1" smtClean="0">
                <a:latin typeface="Consolas" pitchFamily="49" charset="0"/>
              </a:rPr>
              <a:t>this.setNewBgColor</a:t>
            </a:r>
            <a:r>
              <a:rPr lang="en-US" sz="1200" dirty="0" smtClean="0">
                <a:latin typeface="Consolas" pitchFamily="49" charset="0"/>
              </a:rPr>
              <a:t>}&gt;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    &lt;input </a:t>
            </a:r>
            <a:r>
              <a:rPr lang="en-US" sz="1200" dirty="0" err="1" smtClean="0">
                <a:latin typeface="Consolas" pitchFamily="49" charset="0"/>
              </a:rPr>
              <a:t>onChange</a:t>
            </a:r>
            <a:r>
              <a:rPr lang="en-US" sz="1200" dirty="0" smtClean="0">
                <a:latin typeface="Consolas" pitchFamily="49" charset="0"/>
              </a:rPr>
              <a:t>={this.}</a:t>
            </a:r>
            <a:r>
              <a:rPr lang="en-US" sz="1200" dirty="0" err="1" smtClean="0">
                <a:latin typeface="Consolas" pitchFamily="49" charset="0"/>
              </a:rPr>
              <a:t>storeColorValue</a:t>
            </a:r>
            <a:endParaRPr lang="en-US" sz="1200" dirty="0" smtClean="0">
              <a:latin typeface="Consolas" pitchFamily="49" charset="0"/>
            </a:endParaRPr>
          </a:p>
          <a:p>
            <a:r>
              <a:rPr lang="en-US" sz="1200" dirty="0" smtClean="0">
                <a:latin typeface="Consolas" pitchFamily="49" charset="0"/>
              </a:rPr>
              <a:t>                                   placeholder="Enter a color value" /&gt;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    &lt;button type="submit"&gt;Go&lt;/button&gt;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    &lt;/form&gt;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    &lt;/div&gt;</a:t>
            </a:r>
          </a:p>
          <a:p>
            <a:r>
              <a:rPr lang="en-US" sz="1200" dirty="0" smtClean="0">
                <a:latin typeface="Consolas" pitchFamily="49" charset="0"/>
              </a:rPr>
              <a:t>                );</a:t>
            </a:r>
          </a:p>
          <a:p>
            <a:r>
              <a:rPr lang="en-US" sz="1200" dirty="0" smtClean="0">
                <a:latin typeface="Consolas" pitchFamily="49" charset="0"/>
              </a:rPr>
              <a:t>            }</a:t>
            </a:r>
          </a:p>
          <a:p>
            <a:r>
              <a:rPr lang="en-US" sz="12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447800"/>
            <a:ext cx="2312289" cy="272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Form Elements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50013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100" dirty="0" smtClean="0">
                <a:latin typeface="Consolas" pitchFamily="49" charset="0"/>
              </a:rPr>
              <a:t> </a:t>
            </a:r>
            <a:r>
              <a:rPr lang="en-US" sz="1100" dirty="0" err="1" smtClean="0">
                <a:latin typeface="Consolas" pitchFamily="49" charset="0"/>
              </a:rPr>
              <a:t>setNewBgColor</a:t>
            </a:r>
            <a:r>
              <a:rPr lang="en-US" sz="1100" dirty="0" smtClean="0">
                <a:latin typeface="Consolas" pitchFamily="49" charset="0"/>
              </a:rPr>
              <a:t>(e){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this.setState</a:t>
            </a:r>
            <a:r>
              <a:rPr lang="en-US" sz="1100" dirty="0" smtClean="0">
                <a:latin typeface="Consolas" pitchFamily="49" charset="0"/>
              </a:rPr>
              <a:t>({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</a:t>
            </a:r>
            <a:r>
              <a:rPr lang="en-US" sz="1100" dirty="0" err="1" smtClean="0">
                <a:latin typeface="Consolas" pitchFamily="49" charset="0"/>
              </a:rPr>
              <a:t>bgColor</a:t>
            </a:r>
            <a:r>
              <a:rPr lang="en-US" sz="1100" dirty="0" smtClean="0">
                <a:latin typeface="Consolas" pitchFamily="49" charset="0"/>
              </a:rPr>
              <a:t>: </a:t>
            </a:r>
            <a:r>
              <a:rPr lang="en-US" sz="1100" dirty="0" err="1" smtClean="0">
                <a:latin typeface="Consolas" pitchFamily="49" charset="0"/>
              </a:rPr>
              <a:t>this.state.color</a:t>
            </a:r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});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this._input.value</a:t>
            </a:r>
            <a:r>
              <a:rPr lang="en-US" sz="1100" dirty="0" smtClean="0">
                <a:latin typeface="Consolas" pitchFamily="49" charset="0"/>
              </a:rPr>
              <a:t> = "";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this._input.focus</a:t>
            </a:r>
            <a:r>
              <a:rPr lang="en-US" sz="1100" dirty="0" smtClean="0">
                <a:latin typeface="Consolas" pitchFamily="49" charset="0"/>
              </a:rPr>
              <a:t>();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render()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</a:t>
            </a:r>
            <a:r>
              <a:rPr lang="en-US" sz="1100" dirty="0" err="1" smtClean="0">
                <a:latin typeface="Consolas" pitchFamily="49" charset="0"/>
              </a:rPr>
              <a:t>squareStyle</a:t>
            </a:r>
            <a:r>
              <a:rPr lang="en-US" sz="1100" dirty="0" smtClean="0">
                <a:latin typeface="Consolas" pitchFamily="49" charset="0"/>
              </a:rPr>
              <a:t> =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</a:t>
            </a:r>
            <a:r>
              <a:rPr lang="en-US" sz="1100" dirty="0" err="1" smtClean="0">
                <a:latin typeface="Consolas" pitchFamily="49" charset="0"/>
              </a:rPr>
              <a:t>backgroundColor</a:t>
            </a:r>
            <a:r>
              <a:rPr lang="en-US" sz="1100" dirty="0" smtClean="0">
                <a:latin typeface="Consolas" pitchFamily="49" charset="0"/>
              </a:rPr>
              <a:t>: </a:t>
            </a:r>
            <a:r>
              <a:rPr lang="en-US" sz="1100" dirty="0" err="1" smtClean="0">
                <a:latin typeface="Consolas" pitchFamily="49" charset="0"/>
              </a:rPr>
              <a:t>this.state.bgColor</a:t>
            </a:r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    };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self = this;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return (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&lt;div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</a:t>
            </a:r>
            <a:r>
              <a:rPr lang="en-US" sz="1100" dirty="0" err="1" smtClean="0">
                <a:latin typeface="Consolas" pitchFamily="49" charset="0"/>
              </a:rPr>
              <a:t>colorArea</a:t>
            </a:r>
            <a:r>
              <a:rPr lang="en-US" sz="1100" dirty="0" smtClean="0">
                <a:latin typeface="Consolas" pitchFamily="49" charset="0"/>
              </a:rPr>
              <a:t>"&gt;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&lt;div style={</a:t>
            </a:r>
            <a:r>
              <a:rPr lang="en-US" sz="1100" dirty="0" err="1" smtClean="0">
                <a:latin typeface="Consolas" pitchFamily="49" charset="0"/>
              </a:rPr>
              <a:t>squareStyle</a:t>
            </a:r>
            <a:r>
              <a:rPr lang="en-US" sz="1100" dirty="0" smtClean="0">
                <a:latin typeface="Consolas" pitchFamily="49" charset="0"/>
              </a:rPr>
              <a:t>}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</a:t>
            </a:r>
            <a:r>
              <a:rPr lang="en-US" sz="1100" dirty="0" err="1" smtClean="0">
                <a:latin typeface="Consolas" pitchFamily="49" charset="0"/>
              </a:rPr>
              <a:t>colorSquare</a:t>
            </a:r>
            <a:r>
              <a:rPr lang="en-US" sz="1100" dirty="0" smtClean="0">
                <a:latin typeface="Consolas" pitchFamily="49" charset="0"/>
              </a:rPr>
              <a:t>"&gt;&lt;/div&gt;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&lt;form </a:t>
            </a:r>
            <a:r>
              <a:rPr lang="en-US" sz="1100" dirty="0" err="1" smtClean="0">
                <a:latin typeface="Consolas" pitchFamily="49" charset="0"/>
              </a:rPr>
              <a:t>onSubmit</a:t>
            </a:r>
            <a:r>
              <a:rPr lang="en-US" sz="1100" dirty="0" smtClean="0">
                <a:latin typeface="Consolas" pitchFamily="49" charset="0"/>
              </a:rPr>
              <a:t>={</a:t>
            </a:r>
            <a:r>
              <a:rPr lang="en-US" sz="1100" dirty="0" err="1" smtClean="0">
                <a:latin typeface="Consolas" pitchFamily="49" charset="0"/>
              </a:rPr>
              <a:t>this.setNewBgColor</a:t>
            </a:r>
            <a:r>
              <a:rPr lang="en-US" sz="1100" dirty="0" smtClean="0">
                <a:latin typeface="Consolas" pitchFamily="49" charset="0"/>
              </a:rPr>
              <a:t>}&gt;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&lt;input 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ref={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        function(el)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            </a:t>
            </a:r>
            <a:r>
              <a:rPr lang="en-US" sz="1100" dirty="0" err="1" smtClean="0">
                <a:latin typeface="Consolas" pitchFamily="49" charset="0"/>
              </a:rPr>
              <a:t>self._input</a:t>
            </a:r>
            <a:r>
              <a:rPr lang="en-US" sz="1100" dirty="0" smtClean="0">
                <a:latin typeface="Consolas" pitchFamily="49" charset="0"/>
              </a:rPr>
              <a:t> = el;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        }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   } 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</a:t>
            </a:r>
            <a:r>
              <a:rPr lang="en-US" sz="1100" dirty="0" err="1" smtClean="0">
                <a:latin typeface="Consolas" pitchFamily="49" charset="0"/>
              </a:rPr>
              <a:t>onChange</a:t>
            </a:r>
            <a:r>
              <a:rPr lang="en-US" sz="1100" dirty="0" smtClean="0">
                <a:latin typeface="Consolas" pitchFamily="49" charset="0"/>
              </a:rPr>
              <a:t>={</a:t>
            </a:r>
            <a:r>
              <a:rPr lang="en-US" sz="1100" dirty="0" err="1" smtClean="0">
                <a:latin typeface="Consolas" pitchFamily="49" charset="0"/>
              </a:rPr>
              <a:t>this.storeColorValue</a:t>
            </a:r>
            <a:r>
              <a:rPr lang="en-US" sz="1100" dirty="0" smtClean="0">
                <a:latin typeface="Consolas" pitchFamily="49" charset="0"/>
              </a:rPr>
              <a:t>}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placeholder="Enter a color value" /&gt;</a:t>
            </a: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524000"/>
            <a:ext cx="2144268" cy="265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0" y="4798874"/>
            <a:ext cx="2895600" cy="175432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To provide a bridge between JSX and the final HTML elements in the DOM, React provides us with something funnily known as refs (short for references).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https://formik.org/</a:t>
            </a:r>
            <a:endParaRPr lang="en-US" sz="2000" dirty="0" smtClean="0"/>
          </a:p>
          <a:p>
            <a:pPr lvl="1"/>
            <a:r>
              <a:rPr lang="en-US" sz="1600" dirty="0" smtClean="0"/>
              <a:t>The most popular open source form library for React. It saves you lots of time when building forms and offers a declarative, intuitive and adoptable paradigm.</a:t>
            </a:r>
          </a:p>
          <a:p>
            <a:r>
              <a:rPr lang="en-US" sz="2000" dirty="0" smtClean="0">
                <a:hlinkClick r:id="rId3"/>
              </a:rPr>
              <a:t>https://github.com/jquense/yup</a:t>
            </a:r>
            <a:endParaRPr lang="en-US" sz="2000" dirty="0" smtClean="0"/>
          </a:p>
          <a:p>
            <a:pPr lvl="1"/>
            <a:r>
              <a:rPr lang="en-US" sz="1600" dirty="0" smtClean="0"/>
              <a:t>An open-source library that integrates perfectly with </a:t>
            </a:r>
            <a:r>
              <a:rPr lang="en-US" sz="1600" dirty="0" err="1" smtClean="0"/>
              <a:t>Formik</a:t>
            </a:r>
            <a:r>
              <a:rPr lang="en-US" sz="1600" dirty="0" smtClean="0"/>
              <a:t>. It allows you to set all your form validation rules declaratively.</a:t>
            </a:r>
          </a:p>
          <a:p>
            <a:r>
              <a:rPr lang="en-US" sz="2000" dirty="0" smtClean="0">
                <a:hlinkClick r:id="rId4"/>
              </a:rPr>
              <a:t>https://github.com/react-hook-form/react-hook-form</a:t>
            </a:r>
            <a:endParaRPr lang="en-US" sz="2000" dirty="0" smtClean="0"/>
          </a:p>
          <a:p>
            <a:pPr lvl="1"/>
            <a:r>
              <a:rPr lang="en-US" sz="1600" dirty="0" smtClean="0"/>
              <a:t>Another popular library to easily manage your form state and validation rules.</a:t>
            </a:r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799" y="4495800"/>
            <a:ext cx="2925248" cy="19489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20045</TotalTime>
  <Words>693</Words>
  <Application>Microsoft Office PowerPoint</Application>
  <PresentationFormat>On-screen Show (4:3)</PresentationFormat>
  <Paragraphs>186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React Forms</vt:lpstr>
      <vt:lpstr>Objectives</vt:lpstr>
      <vt:lpstr>Contents</vt:lpstr>
      <vt:lpstr>References</vt:lpstr>
      <vt:lpstr>Uncontrolled Inputs</vt:lpstr>
      <vt:lpstr>1. Create Uncontrolled Input</vt:lpstr>
      <vt:lpstr>2. Add useRef</vt:lpstr>
      <vt:lpstr>Controlled Inputs</vt:lpstr>
      <vt:lpstr>3. Create Controlled Input</vt:lpstr>
      <vt:lpstr>File Input</vt:lpstr>
      <vt:lpstr>4. Create File Input</vt:lpstr>
      <vt:lpstr>Uncontrolled vs. Controlled Components</vt:lpstr>
      <vt:lpstr>Slide 13</vt:lpstr>
      <vt:lpstr>Form Elements</vt:lpstr>
      <vt:lpstr>Accessing Form Elements</vt:lpstr>
      <vt:lpstr>Slide 16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5564</cp:revision>
  <dcterms:created xsi:type="dcterms:W3CDTF">2007-10-06T08:25:13Z</dcterms:created>
  <dcterms:modified xsi:type="dcterms:W3CDTF">2024-01-26T19:11:28Z</dcterms:modified>
</cp:coreProperties>
</file>