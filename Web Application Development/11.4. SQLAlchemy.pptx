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15"/>
  </p:notesMasterIdLst>
  <p:sldIdLst>
    <p:sldId id="371" r:id="rId2"/>
    <p:sldId id="392" r:id="rId3"/>
    <p:sldId id="393" r:id="rId4"/>
    <p:sldId id="394" r:id="rId5"/>
    <p:sldId id="395" r:id="rId6"/>
    <p:sldId id="397" r:id="rId7"/>
    <p:sldId id="399" r:id="rId8"/>
    <p:sldId id="400" r:id="rId9"/>
    <p:sldId id="401" r:id="rId10"/>
    <p:sldId id="396" r:id="rId11"/>
    <p:sldId id="398" r:id="rId12"/>
    <p:sldId id="402" r:id="rId13"/>
    <p:sldId id="391" r:id="rId1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35" autoAdjust="0"/>
    <p:restoredTop sz="94667" autoAdjust="0"/>
  </p:normalViewPr>
  <p:slideViewPr>
    <p:cSldViewPr>
      <p:cViewPr>
        <p:scale>
          <a:sx n="50" d="100"/>
          <a:sy n="50" d="100"/>
        </p:scale>
        <p:origin x="-1544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3/9/2026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3/9/2026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3/9/2026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3/9/2026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3/9/2026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3/9/2026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qlalchemy.org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alembic.sqlalchemy.org/en/latest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err="1" smtClean="0"/>
              <a:t>SQLAlchemy</a:t>
            </a:r>
            <a:endParaRPr lang="en-US" sz="6000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752600"/>
            <a:ext cx="5715000" cy="40386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endParaRPr lang="en-US" sz="2400" i="1" dirty="0" smtClean="0">
              <a:solidFill>
                <a:srgbClr val="C00000"/>
              </a:solidFill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References</a:t>
            </a:r>
            <a:endParaRPr lang="en-US" dirty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638800" cy="48768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endParaRPr lang="en-US" sz="2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SQLAlchemy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https://www.sqlalchemy.org/</a:t>
            </a:r>
            <a:endParaRPr lang="en-US" sz="2400" dirty="0" smtClean="0"/>
          </a:p>
          <a:p>
            <a:r>
              <a:rPr lang="en-US" sz="2400" i="1" dirty="0" err="1" smtClean="0">
                <a:solidFill>
                  <a:srgbClr val="C00000"/>
                </a:solidFill>
              </a:rPr>
              <a:t>SQLAlchemy</a:t>
            </a:r>
            <a:r>
              <a:rPr lang="en-US" sz="2400" dirty="0" smtClean="0"/>
              <a:t> is the </a:t>
            </a:r>
            <a:r>
              <a:rPr lang="en-US" sz="2400" u="sng" dirty="0" smtClean="0"/>
              <a:t>Python SQL toolkit</a:t>
            </a:r>
            <a:r>
              <a:rPr lang="en-US" sz="2400" dirty="0" smtClean="0"/>
              <a:t> and </a:t>
            </a:r>
            <a:r>
              <a:rPr lang="en-US" sz="2400" u="sng" dirty="0" smtClean="0"/>
              <a:t>Object Relational </a:t>
            </a:r>
            <a:r>
              <a:rPr lang="en-US" sz="2400" u="sng" dirty="0" err="1" smtClean="0"/>
              <a:t>Mapper</a:t>
            </a:r>
            <a:r>
              <a:rPr lang="en-US" sz="2400" dirty="0" smtClean="0"/>
              <a:t> that gives application developers the full power and flexibility of SQL.</a:t>
            </a:r>
          </a:p>
          <a:p>
            <a:r>
              <a:rPr lang="en-US" sz="2400" dirty="0" smtClean="0"/>
              <a:t>It provides a full suite of well known enterprise-level persistence patterns, designed for efficient and high-performing database access, adapted into a simple and </a:t>
            </a:r>
            <a:r>
              <a:rPr lang="en-US" sz="2400" dirty="0" err="1" smtClean="0"/>
              <a:t>Pythonic</a:t>
            </a:r>
            <a:r>
              <a:rPr lang="en-US" sz="2400" dirty="0" smtClean="0"/>
              <a:t> domain language.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Components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 smtClean="0"/>
              <a:t>SQLAlchemy</a:t>
            </a:r>
            <a:r>
              <a:rPr lang="en-US" b="1" dirty="0" smtClean="0"/>
              <a:t> Core</a:t>
            </a:r>
          </a:p>
          <a:p>
            <a:pPr lvl="1"/>
            <a:r>
              <a:rPr lang="en-US" dirty="0" smtClean="0"/>
              <a:t>A low-level SQL toolkit that allows developers to build SQL queries programmatically</a:t>
            </a:r>
            <a:r>
              <a:rPr lang="en-US" dirty="0" smtClean="0"/>
              <a:t>.</a:t>
            </a:r>
          </a:p>
          <a:p>
            <a:r>
              <a:rPr lang="en-US" b="1" dirty="0" err="1" smtClean="0"/>
              <a:t>SQLAlchemy</a:t>
            </a:r>
            <a:r>
              <a:rPr lang="en-US" b="1" dirty="0" smtClean="0"/>
              <a:t> ORM</a:t>
            </a:r>
          </a:p>
          <a:p>
            <a:pPr lvl="1"/>
            <a:r>
              <a:rPr lang="en-US" dirty="0" smtClean="0"/>
              <a:t>The ORM maps database tables to Python classes and rows to objects</a:t>
            </a:r>
            <a:r>
              <a:rPr lang="en-US" dirty="0" smtClean="0"/>
              <a:t>.</a:t>
            </a:r>
            <a:endParaRPr lang="en-US" dirty="0" smtClean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Conceptual 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Python application</a:t>
            </a:r>
            <a:br>
              <a:rPr lang="en-US" dirty="0" smtClean="0"/>
            </a:br>
            <a:r>
              <a:rPr lang="en-US" dirty="0" smtClean="0"/>
              <a:t>		|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/>
              <a:t>SQLAlchemy</a:t>
            </a:r>
            <a:r>
              <a:rPr lang="en-US" dirty="0" smtClean="0"/>
              <a:t> ORM / Core</a:t>
            </a:r>
            <a:br>
              <a:rPr lang="en-US" dirty="0" smtClean="0"/>
            </a:br>
            <a:r>
              <a:rPr lang="en-US" dirty="0" smtClean="0"/>
              <a:t>		|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Database driver (DBAPI)</a:t>
            </a:r>
            <a:br>
              <a:rPr lang="en-US" dirty="0" smtClean="0"/>
            </a:br>
            <a:r>
              <a:rPr lang="en-US" dirty="0" smtClean="0"/>
              <a:t>		|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Relational database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Minimal </a:t>
            </a:r>
            <a:r>
              <a:rPr lang="en-US" dirty="0" smtClean="0"/>
              <a:t>Workflow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Create engine (database connection)</a:t>
            </a:r>
          </a:p>
          <a:p>
            <a:r>
              <a:rPr lang="en-US" dirty="0" smtClean="0"/>
              <a:t>Define models or tables</a:t>
            </a:r>
          </a:p>
          <a:p>
            <a:r>
              <a:rPr lang="en-US" dirty="0" smtClean="0"/>
              <a:t>Create session</a:t>
            </a:r>
          </a:p>
          <a:p>
            <a:r>
              <a:rPr lang="en-US" dirty="0" smtClean="0"/>
              <a:t>Query or modify objects</a:t>
            </a:r>
          </a:p>
          <a:p>
            <a:r>
              <a:rPr lang="en-US" dirty="0" smtClean="0"/>
              <a:t>Commit transactions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Alembic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https://alembic.sqlalchemy.org/en/latest/</a:t>
            </a:r>
            <a:endParaRPr lang="en-US" sz="2400" dirty="0" smtClean="0"/>
          </a:p>
          <a:p>
            <a:r>
              <a:rPr lang="en-US" sz="2400" i="1" dirty="0" smtClean="0">
                <a:solidFill>
                  <a:srgbClr val="C00000"/>
                </a:solidFill>
              </a:rPr>
              <a:t>Alembic</a:t>
            </a:r>
            <a:r>
              <a:rPr lang="en-US" sz="2400" dirty="0" smtClean="0"/>
              <a:t> is a </a:t>
            </a:r>
            <a:r>
              <a:rPr lang="en-US" sz="2400" u="sng" dirty="0" smtClean="0"/>
              <a:t>lightweight database migration tool</a:t>
            </a:r>
            <a:r>
              <a:rPr lang="en-US" sz="2400" dirty="0" smtClean="0"/>
              <a:t> for usage with the </a:t>
            </a:r>
            <a:r>
              <a:rPr lang="en-US" sz="2400" dirty="0" err="1" smtClean="0"/>
              <a:t>SQLAlchemy</a:t>
            </a:r>
            <a:r>
              <a:rPr lang="en-US" sz="2400" dirty="0" smtClean="0"/>
              <a:t> Database Toolkit for Python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Instead of manually altering database schemas, developers write versioned migration scripts that Alembic applies sequentially</a:t>
            </a:r>
            <a:r>
              <a:rPr lang="en-US" sz="2400" dirty="0" smtClean="0"/>
              <a:t>.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Components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 smtClean="0"/>
              <a:t>Migration scripts</a:t>
            </a:r>
          </a:p>
          <a:p>
            <a:pPr lvl="1"/>
            <a:r>
              <a:rPr lang="en-US" sz="2000" dirty="0" smtClean="0"/>
              <a:t>Each migration is a Python script that describes schema changes.</a:t>
            </a:r>
          </a:p>
          <a:p>
            <a:r>
              <a:rPr lang="en-US" sz="2400" b="1" dirty="0" smtClean="0"/>
              <a:t>Version table</a:t>
            </a:r>
          </a:p>
          <a:p>
            <a:pPr lvl="1"/>
            <a:r>
              <a:rPr lang="en-US" sz="2000" dirty="0" smtClean="0"/>
              <a:t>Alembic stores the current database schema version in a table (</a:t>
            </a:r>
            <a:r>
              <a:rPr lang="en-US" sz="2000" dirty="0" err="1" smtClean="0"/>
              <a:t>alembic_version</a:t>
            </a:r>
            <a:r>
              <a:rPr lang="en-US" sz="2000" dirty="0" smtClean="0"/>
              <a:t>).</a:t>
            </a:r>
          </a:p>
          <a:p>
            <a:r>
              <a:rPr lang="en-US" sz="2400" b="1" dirty="0" smtClean="0"/>
              <a:t>Migration environment</a:t>
            </a:r>
          </a:p>
          <a:p>
            <a:pPr lvl="1"/>
            <a:r>
              <a:rPr lang="en-US" sz="2000" dirty="0" smtClean="0"/>
              <a:t>When initialized, Alembic creates a project structure: </a:t>
            </a:r>
          </a:p>
          <a:p>
            <a:pPr lvl="1"/>
            <a:r>
              <a:rPr lang="en-US" sz="2000" dirty="0" smtClean="0"/>
              <a:t>alembic/</a:t>
            </a:r>
            <a:br>
              <a:rPr lang="en-US" sz="2000" dirty="0" smtClean="0"/>
            </a:br>
            <a:r>
              <a:rPr lang="en-US" sz="2000" dirty="0" smtClean="0"/>
              <a:t>	versions/</a:t>
            </a:r>
            <a:br>
              <a:rPr lang="en-US" sz="2000" dirty="0" smtClean="0"/>
            </a:br>
            <a:r>
              <a:rPr lang="en-US" sz="2000" dirty="0" smtClean="0"/>
              <a:t>	env.py</a:t>
            </a:r>
            <a:br>
              <a:rPr lang="en-US" sz="2000" dirty="0" smtClean="0"/>
            </a:br>
            <a:r>
              <a:rPr lang="en-US" sz="2000" dirty="0" smtClean="0"/>
              <a:t>	</a:t>
            </a:r>
            <a:r>
              <a:rPr lang="en-US" sz="2000" dirty="0" err="1" smtClean="0"/>
              <a:t>script.py.mako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>alembic.ini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Conceptual 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Application models (</a:t>
            </a:r>
            <a:r>
              <a:rPr lang="en-US" dirty="0" err="1" smtClean="0"/>
              <a:t>SQLAlchemy</a:t>
            </a:r>
            <a:r>
              <a:rPr lang="en-US" smtClean="0"/>
              <a:t>)</a:t>
            </a: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|</a:t>
            </a: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Alembic migration engine</a:t>
            </a: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|</a:t>
            </a: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Migration scripts (versioned)</a:t>
            </a: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		|</a:t>
            </a: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Relational database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</a:t>
            </a:r>
            <a:r>
              <a:rPr lang="en-US" smtClean="0"/>
              <a:t>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17606</TotalTime>
  <Words>234</Words>
  <Application>Microsoft Office PowerPoint</Application>
  <PresentationFormat>On-screen Show (4:3)</PresentationFormat>
  <Paragraphs>43</Paragraphs>
  <Slides>13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SQLAlchemy</vt:lpstr>
      <vt:lpstr>Objectives</vt:lpstr>
      <vt:lpstr>Contents</vt:lpstr>
      <vt:lpstr>References</vt:lpstr>
      <vt:lpstr>SQLAlchemy</vt:lpstr>
      <vt:lpstr>Components</vt:lpstr>
      <vt:lpstr>Conceptual Architecture</vt:lpstr>
      <vt:lpstr>Minimal Workflow</vt:lpstr>
      <vt:lpstr>Slide 9</vt:lpstr>
      <vt:lpstr>Alembic</vt:lpstr>
      <vt:lpstr>Components</vt:lpstr>
      <vt:lpstr>Conceptual Architecture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5220</cp:revision>
  <dcterms:created xsi:type="dcterms:W3CDTF">2007-10-06T08:25:13Z</dcterms:created>
  <dcterms:modified xsi:type="dcterms:W3CDTF">2026-03-08T19:11:01Z</dcterms:modified>
</cp:coreProperties>
</file>