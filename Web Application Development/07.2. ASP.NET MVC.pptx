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1"/>
  </p:notesMasterIdLst>
  <p:handoutMasterIdLst>
    <p:handoutMasterId r:id="rId82"/>
  </p:handoutMasterIdLst>
  <p:sldIdLst>
    <p:sldId id="256" r:id="rId2"/>
    <p:sldId id="431" r:id="rId3"/>
    <p:sldId id="423" r:id="rId4"/>
    <p:sldId id="517" r:id="rId5"/>
    <p:sldId id="504" r:id="rId6"/>
    <p:sldId id="505" r:id="rId7"/>
    <p:sldId id="506" r:id="rId8"/>
    <p:sldId id="507" r:id="rId9"/>
    <p:sldId id="509" r:id="rId10"/>
    <p:sldId id="508" r:id="rId11"/>
    <p:sldId id="490" r:id="rId12"/>
    <p:sldId id="510" r:id="rId13"/>
    <p:sldId id="511" r:id="rId14"/>
    <p:sldId id="516" r:id="rId15"/>
    <p:sldId id="489" r:id="rId16"/>
    <p:sldId id="502" r:id="rId17"/>
    <p:sldId id="503" r:id="rId18"/>
    <p:sldId id="512" r:id="rId19"/>
    <p:sldId id="513" r:id="rId20"/>
    <p:sldId id="566" r:id="rId21"/>
    <p:sldId id="567" r:id="rId22"/>
    <p:sldId id="568" r:id="rId23"/>
    <p:sldId id="518" r:id="rId24"/>
    <p:sldId id="529" r:id="rId25"/>
    <p:sldId id="530" r:id="rId26"/>
    <p:sldId id="531" r:id="rId27"/>
    <p:sldId id="532" r:id="rId28"/>
    <p:sldId id="533" r:id="rId29"/>
    <p:sldId id="534" r:id="rId30"/>
    <p:sldId id="543" r:id="rId31"/>
    <p:sldId id="544" r:id="rId32"/>
    <p:sldId id="545" r:id="rId33"/>
    <p:sldId id="547" r:id="rId34"/>
    <p:sldId id="548" r:id="rId35"/>
    <p:sldId id="549" r:id="rId36"/>
    <p:sldId id="550" r:id="rId37"/>
    <p:sldId id="551" r:id="rId38"/>
    <p:sldId id="537" r:id="rId39"/>
    <p:sldId id="553" r:id="rId40"/>
    <p:sldId id="552" r:id="rId41"/>
    <p:sldId id="555" r:id="rId42"/>
    <p:sldId id="556" r:id="rId43"/>
    <p:sldId id="557" r:id="rId44"/>
    <p:sldId id="569" r:id="rId45"/>
    <p:sldId id="570" r:id="rId46"/>
    <p:sldId id="571" r:id="rId47"/>
    <p:sldId id="572" r:id="rId48"/>
    <p:sldId id="573" r:id="rId49"/>
    <p:sldId id="574" r:id="rId50"/>
    <p:sldId id="575" r:id="rId51"/>
    <p:sldId id="576" r:id="rId52"/>
    <p:sldId id="577" r:id="rId53"/>
    <p:sldId id="578" r:id="rId54"/>
    <p:sldId id="580" r:id="rId55"/>
    <p:sldId id="579" r:id="rId56"/>
    <p:sldId id="581" r:id="rId57"/>
    <p:sldId id="554" r:id="rId58"/>
    <p:sldId id="535" r:id="rId59"/>
    <p:sldId id="536" r:id="rId60"/>
    <p:sldId id="559" r:id="rId61"/>
    <p:sldId id="540" r:id="rId62"/>
    <p:sldId id="528" r:id="rId63"/>
    <p:sldId id="520" r:id="rId64"/>
    <p:sldId id="521" r:id="rId65"/>
    <p:sldId id="522" r:id="rId66"/>
    <p:sldId id="523" r:id="rId67"/>
    <p:sldId id="524" r:id="rId68"/>
    <p:sldId id="525" r:id="rId69"/>
    <p:sldId id="526" r:id="rId70"/>
    <p:sldId id="527" r:id="rId71"/>
    <p:sldId id="558" r:id="rId72"/>
    <p:sldId id="560" r:id="rId73"/>
    <p:sldId id="561" r:id="rId74"/>
    <p:sldId id="562" r:id="rId75"/>
    <p:sldId id="564" r:id="rId76"/>
    <p:sldId id="565" r:id="rId77"/>
    <p:sldId id="541" r:id="rId78"/>
    <p:sldId id="542" r:id="rId79"/>
    <p:sldId id="343" r:id="rId8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9" autoAdjust="0"/>
    <p:restoredTop sz="94667" autoAdjust="0"/>
  </p:normalViewPr>
  <p:slideViewPr>
    <p:cSldViewPr>
      <p:cViewPr varScale="1">
        <p:scale>
          <a:sx n="67" d="100"/>
          <a:sy n="67" d="100"/>
        </p:scale>
        <p:origin x="-1044" y="-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1824C-3147-465A-BD7B-206B9A81F5C3}" type="doc">
      <dgm:prSet loTypeId="urn:microsoft.com/office/officeart/2005/8/layout/arrow3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471E6FB-DBB9-4FA9-B899-8B6FE2056BD9}">
      <dgm:prSet phldrT="[Text]" custT="1"/>
      <dgm:spPr/>
      <dgm:t>
        <a:bodyPr/>
        <a:lstStyle/>
        <a:p>
          <a:r>
            <a:rPr lang="en-US" sz="2400" dirty="0" smtClean="0"/>
            <a:t>Ad hoc Controller</a:t>
          </a:r>
          <a:endParaRPr lang="en-US" sz="2400" dirty="0"/>
        </a:p>
      </dgm:t>
    </dgm:pt>
    <dgm:pt modelId="{E9A6E65A-7800-4540-B839-DBAFA553A99A}" type="parTrans" cxnId="{EA2A6C19-10BC-47C2-9F91-8099F23C9023}">
      <dgm:prSet/>
      <dgm:spPr/>
      <dgm:t>
        <a:bodyPr/>
        <a:lstStyle/>
        <a:p>
          <a:endParaRPr lang="en-US"/>
        </a:p>
      </dgm:t>
    </dgm:pt>
    <dgm:pt modelId="{41DB451C-9153-43D4-91F4-A4D11FC83451}" type="sibTrans" cxnId="{EA2A6C19-10BC-47C2-9F91-8099F23C9023}">
      <dgm:prSet/>
      <dgm:spPr/>
      <dgm:t>
        <a:bodyPr/>
        <a:lstStyle/>
        <a:p>
          <a:endParaRPr lang="en-US"/>
        </a:p>
      </dgm:t>
    </dgm:pt>
    <dgm:pt modelId="{70BB4483-81D1-4932-B23E-CE469EDC1C68}">
      <dgm:prSet phldrT="[Text]" custT="1"/>
      <dgm:spPr/>
      <dgm:t>
        <a:bodyPr/>
        <a:lstStyle/>
        <a:p>
          <a:r>
            <a:rPr lang="en-US" sz="2400" dirty="0" smtClean="0"/>
            <a:t>View</a:t>
          </a:r>
          <a:endParaRPr lang="en-US" sz="2400" dirty="0"/>
        </a:p>
      </dgm:t>
    </dgm:pt>
    <dgm:pt modelId="{96EB9CA1-AC02-4AD8-9684-0539F10C88A7}" type="parTrans" cxnId="{CEE8EF4C-8447-4949-BDC8-ADAF0A95A141}">
      <dgm:prSet/>
      <dgm:spPr/>
      <dgm:t>
        <a:bodyPr/>
        <a:lstStyle/>
        <a:p>
          <a:endParaRPr lang="en-US"/>
        </a:p>
      </dgm:t>
    </dgm:pt>
    <dgm:pt modelId="{8A14D2CC-82D9-4C06-8C18-056A09355DEB}" type="sibTrans" cxnId="{CEE8EF4C-8447-4949-BDC8-ADAF0A95A141}">
      <dgm:prSet/>
      <dgm:spPr/>
      <dgm:t>
        <a:bodyPr/>
        <a:lstStyle/>
        <a:p>
          <a:endParaRPr lang="en-US"/>
        </a:p>
      </dgm:t>
    </dgm:pt>
    <dgm:pt modelId="{299E30EF-6337-49AF-91D0-5C779DCEDDF1}" type="pres">
      <dgm:prSet presAssocID="{4791824C-3147-465A-BD7B-206B9A81F5C3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B8BB9B-B069-4D38-80C4-D9C049D85B27}" type="pres">
      <dgm:prSet presAssocID="{4791824C-3147-465A-BD7B-206B9A81F5C3}" presName="divider" presStyleLbl="fgShp" presStyleIdx="0" presStyleCnt="1"/>
      <dgm:spPr/>
    </dgm:pt>
    <dgm:pt modelId="{0D9E5494-289E-4B5F-AA8C-05FBCBC1D41D}" type="pres">
      <dgm:prSet presAssocID="{D471E6FB-DBB9-4FA9-B899-8B6FE2056BD9}" presName="downArrow" presStyleLbl="node1" presStyleIdx="0" presStyleCnt="2"/>
      <dgm:spPr/>
    </dgm:pt>
    <dgm:pt modelId="{7DEE40C2-710D-40FA-8F90-C9A4156075F0}" type="pres">
      <dgm:prSet presAssocID="{D471E6FB-DBB9-4FA9-B899-8B6FE2056BD9}" presName="downArrow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AD01D1-D43C-4ADF-AB9F-B18282DD9E3D}" type="pres">
      <dgm:prSet presAssocID="{70BB4483-81D1-4932-B23E-CE469EDC1C68}" presName="upArrow" presStyleLbl="node1" presStyleIdx="1" presStyleCnt="2"/>
      <dgm:spPr/>
    </dgm:pt>
    <dgm:pt modelId="{6F452EA7-7A02-4EC5-9A10-07AF5A264153}" type="pres">
      <dgm:prSet presAssocID="{70BB4483-81D1-4932-B23E-CE469EDC1C68}" presName="upArrow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EE8EF4C-8447-4949-BDC8-ADAF0A95A141}" srcId="{4791824C-3147-465A-BD7B-206B9A81F5C3}" destId="{70BB4483-81D1-4932-B23E-CE469EDC1C68}" srcOrd="1" destOrd="0" parTransId="{96EB9CA1-AC02-4AD8-9684-0539F10C88A7}" sibTransId="{8A14D2CC-82D9-4C06-8C18-056A09355DEB}"/>
    <dgm:cxn modelId="{EA2A6C19-10BC-47C2-9F91-8099F23C9023}" srcId="{4791824C-3147-465A-BD7B-206B9A81F5C3}" destId="{D471E6FB-DBB9-4FA9-B899-8B6FE2056BD9}" srcOrd="0" destOrd="0" parTransId="{E9A6E65A-7800-4540-B839-DBAFA553A99A}" sibTransId="{41DB451C-9153-43D4-91F4-A4D11FC83451}"/>
    <dgm:cxn modelId="{A312C563-C5B5-49A0-A696-A8DB2A5D520C}" type="presOf" srcId="{D471E6FB-DBB9-4FA9-B899-8B6FE2056BD9}" destId="{7DEE40C2-710D-40FA-8F90-C9A4156075F0}" srcOrd="0" destOrd="0" presId="urn:microsoft.com/office/officeart/2005/8/layout/arrow3"/>
    <dgm:cxn modelId="{598CC4C5-5455-48E4-8ECE-CB360D161B60}" type="presOf" srcId="{4791824C-3147-465A-BD7B-206B9A81F5C3}" destId="{299E30EF-6337-49AF-91D0-5C779DCEDDF1}" srcOrd="0" destOrd="0" presId="urn:microsoft.com/office/officeart/2005/8/layout/arrow3"/>
    <dgm:cxn modelId="{5C0EB2B3-C929-4701-86E6-0A85370B404A}" type="presOf" srcId="{70BB4483-81D1-4932-B23E-CE469EDC1C68}" destId="{6F452EA7-7A02-4EC5-9A10-07AF5A264153}" srcOrd="0" destOrd="0" presId="urn:microsoft.com/office/officeart/2005/8/layout/arrow3"/>
    <dgm:cxn modelId="{C2B39824-DC67-4862-B685-5378AAAA2D1D}" type="presParOf" srcId="{299E30EF-6337-49AF-91D0-5C779DCEDDF1}" destId="{68B8BB9B-B069-4D38-80C4-D9C049D85B27}" srcOrd="0" destOrd="0" presId="urn:microsoft.com/office/officeart/2005/8/layout/arrow3"/>
    <dgm:cxn modelId="{1C9B3BEF-C534-4CC8-9560-530DF19A1285}" type="presParOf" srcId="{299E30EF-6337-49AF-91D0-5C779DCEDDF1}" destId="{0D9E5494-289E-4B5F-AA8C-05FBCBC1D41D}" srcOrd="1" destOrd="0" presId="urn:microsoft.com/office/officeart/2005/8/layout/arrow3"/>
    <dgm:cxn modelId="{3245062C-BF8F-4D32-9884-DED2EB17AFDD}" type="presParOf" srcId="{299E30EF-6337-49AF-91D0-5C779DCEDDF1}" destId="{7DEE40C2-710D-40FA-8F90-C9A4156075F0}" srcOrd="2" destOrd="0" presId="urn:microsoft.com/office/officeart/2005/8/layout/arrow3"/>
    <dgm:cxn modelId="{63E22D00-AC5C-421B-AFF7-C62B634CD551}" type="presParOf" srcId="{299E30EF-6337-49AF-91D0-5C779DCEDDF1}" destId="{94AD01D1-D43C-4ADF-AB9F-B18282DD9E3D}" srcOrd="3" destOrd="0" presId="urn:microsoft.com/office/officeart/2005/8/layout/arrow3"/>
    <dgm:cxn modelId="{7A5246C4-BDFB-411E-9525-3CEAA875B539}" type="presParOf" srcId="{299E30EF-6337-49AF-91D0-5C779DCEDDF1}" destId="{6F452EA7-7A02-4EC5-9A10-07AF5A264153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11/19/2021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B2289-D6D1-40EC-85F2-6A14DC834E89}" type="datetimeFigureOut">
              <a:rPr lang="en-US" smtClean="0"/>
              <a:pPr/>
              <a:t>11/19/2021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E3A5A-3803-4289-BB69-E335C0B45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://devproconnections.com/development/how-use-aspnet-mvc-render-action-helpers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library/ee307987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opcommerce.com/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ASP.NET MVC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</a:t>
            </a:r>
            <a:r>
              <a:rPr lang="en-US" sz="2400" i="1" dirty="0" smtClean="0">
                <a:solidFill>
                  <a:srgbClr val="C00000"/>
                </a:solidFill>
              </a:rPr>
              <a:t>ASP.NET MVC</a:t>
            </a:r>
            <a:r>
              <a:rPr lang="en-US" sz="2400" dirty="0" smtClean="0"/>
              <a:t> application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Adam Freeman. Pro ASP.NET MVC 5. 2013.</a:t>
            </a:r>
          </a:p>
          <a:p>
            <a:pPr marL="457200" lvl="0" indent="-457200">
              <a:buFont typeface="+mj-lt"/>
              <a:buAutoNum type="arabicPeriod"/>
            </a:pPr>
            <a:r>
              <a:rPr lang="it-IT" sz="2400" dirty="0" smtClean="0"/>
              <a:t>Dino Esposito (2014). Programming Microsoft ASP.NET MVC. Microsoft </a:t>
            </a:r>
            <a:r>
              <a:rPr lang="it-IT" sz="2400" dirty="0" smtClean="0"/>
              <a:t>Press.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Jon </a:t>
            </a:r>
            <a:r>
              <a:rPr lang="en-US" sz="2400" dirty="0" smtClean="0"/>
              <a:t>Galloway et al. Professional ASP.NET MVC 5. 2014.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Warming Up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943100"/>
            <a:ext cx="57912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Web Application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962150"/>
            <a:ext cx="76200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1371600"/>
            <a:ext cx="32099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Web Application Output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6413" y="2109788"/>
            <a:ext cx="559117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Structure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650" y="1676400"/>
            <a:ext cx="86487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Global.asax.cs</a:t>
            </a:r>
            <a:r>
              <a:rPr lang="en-US" dirty="0" smtClean="0"/>
              <a:t>: The Main Entry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524000"/>
            <a:ext cx="8382000" cy="323165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MvcApplication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: 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System.Web.HttpApplication</a:t>
            </a:r>
            <a:endParaRPr lang="en-US" sz="17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protected void 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Application_Start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AreaRegistration.RegisterAllAreas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sz="17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WebApiConfig.Register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GlobalConfiguration.Configuration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7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FilterConfig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.RegisterGlobalFilters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7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GlobalFilters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.Filters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7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RouteConfig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.RegisterRoutes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RouteTable.Routes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BundleConfig.RegisterBundles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7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BundleTable.Bundles</a:t>
            </a:r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7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410075"/>
            <a:ext cx="28575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App_Start</a:t>
            </a:r>
            <a:r>
              <a:rPr lang="en-US" dirty="0" smtClean="0"/>
              <a:t>/</a:t>
            </a:r>
            <a:r>
              <a:rPr lang="en-US" dirty="0" err="1" smtClean="0"/>
              <a:t>FilterConfig.cs</a:t>
            </a:r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381000" y="2304633"/>
            <a:ext cx="8382000" cy="280076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FilterConfig</a:t>
            </a:r>
            <a:endParaRPr lang="en-US" sz="2200" b="1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public static void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RegisterGlobalFilters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GlobalFilterCollection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filters)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filters.</a:t>
            </a:r>
            <a:r>
              <a:rPr lang="en-US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Add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(new </a:t>
            </a:r>
            <a:r>
              <a:rPr lang="en-US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HandleErrorAttribute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());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App_Start</a:t>
            </a:r>
            <a:r>
              <a:rPr lang="en-US" dirty="0" smtClean="0"/>
              <a:t>/</a:t>
            </a:r>
            <a:r>
              <a:rPr lang="en-US" dirty="0" err="1" smtClean="0"/>
              <a:t>RouteConfig.cs</a:t>
            </a:r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381000" y="1524000"/>
            <a:ext cx="8382000" cy="397031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RouteConfig</a:t>
            </a:r>
            <a:endParaRPr lang="en-US" b="1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public static void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RegisterRoutes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RouteCollection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routes)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routes.IgnoreRoute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("{resource}.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axd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/{*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pathInfo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}");</a:t>
            </a:r>
          </a:p>
          <a:p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routes.MapRoute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name: "Default",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url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: "{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}/{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}/{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id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}",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defaults: new { controller = "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Home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", action = "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Index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", id =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UrlParameter.Optional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}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);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5105400"/>
            <a:ext cx="1800225" cy="142875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Controller: Your Code Here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295400"/>
            <a:ext cx="518160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962400" y="4191000"/>
            <a:ext cx="4953000" cy="246221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namespace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HelloWorld.Controllers</a:t>
            </a:r>
            <a:endParaRPr lang="en-US" sz="14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public class </a:t>
            </a:r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HomeController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: </a:t>
            </a:r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// GET: </a:t>
            </a:r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/Home/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public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Index()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return View();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Web Application Output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1650" y="1781175"/>
            <a:ext cx="560070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View: Output Here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95800" y="1447800"/>
            <a:ext cx="4267200" cy="507831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@{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Layout = null;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&lt;html&gt;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&lt;head&gt;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&lt;meta name="viewport" content="width=device-width" /&gt;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&lt;title&gt;Index&lt;/title&gt;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&lt;/head&gt;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&lt;body&gt;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&lt;div&gt;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Hello World!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&lt;/div&gt;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" y="1447800"/>
            <a:ext cx="424815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5562600"/>
            <a:ext cx="38195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MVC Works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05199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Controllers</a:t>
            </a:r>
            <a:r>
              <a:rPr lang="en-US" sz="2400" dirty="0" smtClean="0"/>
              <a:t> are C# classes, usually derived from the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System.Web.Mvc.Controller</a:t>
            </a:r>
            <a:r>
              <a:rPr lang="en-US" sz="2400" i="1" dirty="0" smtClean="0">
                <a:solidFill>
                  <a:srgbClr val="C00000"/>
                </a:solidFill>
              </a:rPr>
              <a:t> class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</a:t>
            </a:r>
            <a:r>
              <a:rPr lang="en-US" sz="2400" i="1" dirty="0" smtClean="0">
                <a:solidFill>
                  <a:srgbClr val="C00000"/>
                </a:solidFill>
              </a:rPr>
              <a:t>public method</a:t>
            </a:r>
            <a:r>
              <a:rPr lang="en-US" sz="2400" dirty="0" smtClean="0"/>
              <a:t> in a class derived from Controller is an </a:t>
            </a:r>
            <a:r>
              <a:rPr lang="en-US" sz="2400" i="1" dirty="0" smtClean="0">
                <a:solidFill>
                  <a:srgbClr val="C00000"/>
                </a:solidFill>
              </a:rPr>
              <a:t>action method</a:t>
            </a:r>
            <a:r>
              <a:rPr lang="en-US" sz="2400" dirty="0" smtClean="0"/>
              <a:t>, which is associated with a configurable </a:t>
            </a:r>
            <a:r>
              <a:rPr lang="en-US" sz="2400" i="1" dirty="0" smtClean="0">
                <a:solidFill>
                  <a:srgbClr val="C00000"/>
                </a:solidFill>
              </a:rPr>
              <a:t>URL</a:t>
            </a:r>
            <a:r>
              <a:rPr lang="en-US" sz="2400" dirty="0" smtClean="0"/>
              <a:t> through the ASP.NET routing system.</a:t>
            </a:r>
          </a:p>
          <a:p>
            <a:r>
              <a:rPr lang="en-US" sz="2400" dirty="0" smtClean="0"/>
              <a:t>When a request is sent to the URL associated with an action method, the </a:t>
            </a:r>
            <a:r>
              <a:rPr lang="en-US" sz="2400" i="1" dirty="0" smtClean="0">
                <a:solidFill>
                  <a:srgbClr val="C00000"/>
                </a:solidFill>
              </a:rPr>
              <a:t>statements</a:t>
            </a:r>
            <a:r>
              <a:rPr lang="en-US" sz="2400" dirty="0" smtClean="0"/>
              <a:t> in the controller class are </a:t>
            </a:r>
            <a:r>
              <a:rPr lang="en-US" sz="2400" i="1" dirty="0" smtClean="0">
                <a:solidFill>
                  <a:srgbClr val="C00000"/>
                </a:solidFill>
              </a:rPr>
              <a:t>executed</a:t>
            </a:r>
            <a:r>
              <a:rPr lang="en-US" sz="2400" dirty="0" smtClean="0"/>
              <a:t> in order to perform some operation on the </a:t>
            </a:r>
            <a:r>
              <a:rPr lang="en-US" sz="2400" u="sng" dirty="0" smtClean="0"/>
              <a:t>domain model</a:t>
            </a:r>
            <a:r>
              <a:rPr lang="en-US" sz="2400" dirty="0" smtClean="0"/>
              <a:t> and then select a </a:t>
            </a:r>
            <a:r>
              <a:rPr lang="en-US" sz="2400" u="sng" dirty="0" smtClean="0"/>
              <a:t>view</a:t>
            </a:r>
            <a:r>
              <a:rPr lang="en-US" sz="2400" dirty="0" smtClean="0"/>
              <a:t> to display to the client.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3463" y="5257800"/>
            <a:ext cx="707707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Passing Data From Controller To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828800"/>
          </a:xfrm>
        </p:spPr>
        <p:txBody>
          <a:bodyPr/>
          <a:lstStyle/>
          <a:p>
            <a:r>
              <a:rPr lang="en-US" sz="2200" dirty="0" smtClean="0"/>
              <a:t>One way to pass data from the controller to the view is by using the </a:t>
            </a:r>
            <a:r>
              <a:rPr lang="en-US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</a:t>
            </a:r>
            <a:r>
              <a:rPr lang="en-US" sz="2200" i="1" dirty="0" smtClean="0">
                <a:solidFill>
                  <a:srgbClr val="C00000"/>
                </a:solidFill>
              </a:rPr>
              <a:t> object</a:t>
            </a:r>
            <a:r>
              <a:rPr lang="en-US" sz="2200" dirty="0" smtClean="0"/>
              <a:t>, which is a member of the Controller base class.</a:t>
            </a:r>
          </a:p>
          <a:p>
            <a:r>
              <a:rPr lang="en-US" sz="2200" dirty="0" err="1" smtClean="0"/>
              <a:t>ViewBag</a:t>
            </a:r>
            <a:r>
              <a:rPr lang="en-US" sz="2200" dirty="0" smtClean="0"/>
              <a:t> is a </a:t>
            </a:r>
            <a:r>
              <a:rPr lang="en-US" sz="2200" i="1" dirty="0" smtClean="0">
                <a:solidFill>
                  <a:srgbClr val="C00000"/>
                </a:solidFill>
              </a:rPr>
              <a:t>dynamic object</a:t>
            </a:r>
            <a:r>
              <a:rPr lang="en-US" sz="2200" dirty="0" smtClean="0"/>
              <a:t> to which you can assign arbitrary properties, making those values available in whatever view is subsequently rendered.</a:t>
            </a:r>
            <a:endParaRPr lang="en-US" sz="22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550" y="3429000"/>
            <a:ext cx="79629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0725" y="5181600"/>
            <a:ext cx="547687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Passing Data From View To Controller</a:t>
            </a:r>
            <a:endParaRPr lang="en-US" dirty="0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7288" y="3590925"/>
            <a:ext cx="682942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66825" y="1524000"/>
            <a:ext cx="66103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ASP.NET MVC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forms</a:t>
            </a:r>
          </a:p>
          <a:p>
            <a:r>
              <a:rPr lang="en-US" dirty="0" smtClean="0"/>
              <a:t>Similar to other established, non-Microsoft frameworks</a:t>
            </a:r>
          </a:p>
          <a:p>
            <a:r>
              <a:rPr lang="en-US" dirty="0" smtClean="0"/>
              <a:t>Adheres to the "stateless" nature of the web</a:t>
            </a:r>
          </a:p>
          <a:p>
            <a:r>
              <a:rPr lang="en-US" dirty="0" smtClean="0"/>
              <a:t>Test driven development</a:t>
            </a:r>
          </a:p>
          <a:p>
            <a:r>
              <a:rPr lang="en-US" dirty="0" smtClean="0"/>
              <a:t>Separation of concern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 of ASP.NET MVC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&amp; CSS skills must be resurrected</a:t>
            </a:r>
          </a:p>
          <a:p>
            <a:r>
              <a:rPr lang="en-US" dirty="0" smtClean="0"/>
              <a:t>Learning curve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the Requests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</a:t>
            </a:r>
            <a:r>
              <a:rPr lang="en-US" sz="2400" i="1" dirty="0" smtClean="0">
                <a:solidFill>
                  <a:srgbClr val="C00000"/>
                </a:solidFill>
              </a:rPr>
              <a:t>happens</a:t>
            </a:r>
            <a:r>
              <a:rPr lang="en-US" sz="2400" dirty="0" smtClean="0"/>
              <a:t> exactly when a request knocks at the Internet Information Services (IIS) gate? 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6363" y="2371725"/>
            <a:ext cx="6391275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Routes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route</a:t>
            </a:r>
            <a:r>
              <a:rPr lang="en-US" sz="2400" dirty="0" smtClean="0"/>
              <a:t> is a pattern-matching string that represents the absolute path of a URL—namely, the URL string without protocol, server, and port information.</a:t>
            </a:r>
          </a:p>
          <a:p>
            <a:pPr algn="ctr">
              <a:buNone/>
            </a:pP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/{resource}/{action}</a:t>
            </a:r>
          </a:p>
          <a:p>
            <a:pPr algn="ctr">
              <a:buNone/>
            </a:pP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/Customer/{action}</a:t>
            </a:r>
          </a:p>
          <a:p>
            <a:pPr algn="ctr">
              <a:buNone/>
            </a:pP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/home/test</a:t>
            </a:r>
          </a:p>
          <a:p>
            <a:pPr algn="ctr">
              <a:buNone/>
            </a:pPr>
            <a:endParaRPr lang="en-US" sz="24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400" dirty="0" smtClean="0"/>
              <a:t>Here’s the </a:t>
            </a:r>
            <a:r>
              <a:rPr lang="en-US" sz="2400" i="1" dirty="0" smtClean="0">
                <a:solidFill>
                  <a:srgbClr val="C00000"/>
                </a:solidFill>
              </a:rPr>
              <a:t>default route</a:t>
            </a:r>
            <a:r>
              <a:rPr lang="en-US" sz="2400" dirty="0" smtClean="0"/>
              <a:t> for an ASP.NET MVC application:</a:t>
            </a:r>
          </a:p>
          <a:p>
            <a:pPr algn="ctr">
              <a:buNone/>
            </a:pP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{controller}/{action}/{id}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Application Routes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sz="2400" dirty="0" smtClean="0"/>
              <a:t>Routes for an application are usually registered in the </a:t>
            </a:r>
            <a:r>
              <a:rPr lang="en-US" sz="2400" dirty="0" err="1" smtClean="0"/>
              <a:t>global.asax</a:t>
            </a:r>
            <a:r>
              <a:rPr lang="en-US" sz="2400" dirty="0" smtClean="0"/>
              <a:t> file, and they are processed at the application startup.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81000" y="2667000"/>
            <a:ext cx="8382000" cy="160043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MvcApplication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: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HttpApplication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protected void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Application_Start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(){</a:t>
            </a:r>
          </a:p>
          <a:p>
            <a:pPr lvl="2"/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RouteConfig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.RegisterRoutes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RouteTable.Routes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Other code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4419600"/>
            <a:ext cx="8382000" cy="22467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RouteConfig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static void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RegisterRoutes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RouteCollection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routes){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Other code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Listing routes</a:t>
            </a:r>
          </a:p>
          <a:p>
            <a:pPr lvl="2"/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routes.MapRoute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("Default","</a:t>
            </a:r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{controller}/{action}/{id}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",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new { controller = "Home“, action = "Index", id =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UrlParameter.Optional</a:t>
            </a:r>
            <a:endParaRPr lang="en-US" sz="14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});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Controllers and View Engine [2]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33713" y="1828800"/>
            <a:ext cx="307657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ASP.NET MVC, a </a:t>
            </a:r>
            <a:r>
              <a:rPr lang="en-US" i="1" dirty="0" smtClean="0">
                <a:solidFill>
                  <a:srgbClr val="C00000"/>
                </a:solidFill>
              </a:rPr>
              <a:t>view engine</a:t>
            </a:r>
            <a:r>
              <a:rPr lang="en-US" dirty="0" smtClean="0"/>
              <a:t> is merely a </a:t>
            </a:r>
            <a:r>
              <a:rPr lang="en-US" u="sng" dirty="0" smtClean="0"/>
              <a:t>class</a:t>
            </a:r>
            <a:r>
              <a:rPr lang="en-US" dirty="0" smtClean="0"/>
              <a:t> that implements a fixed interface—the 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IViewEngine</a:t>
            </a:r>
            <a:r>
              <a:rPr lang="en-US" dirty="0" smtClean="0"/>
              <a:t> interface.</a:t>
            </a:r>
          </a:p>
          <a:p>
            <a:r>
              <a:rPr lang="en-US" dirty="0" smtClean="0"/>
              <a:t>Each application can have one or more view engines.</a:t>
            </a:r>
          </a:p>
          <a:p>
            <a:r>
              <a:rPr lang="en-US" dirty="0" smtClean="0"/>
              <a:t>In ASP.NET MVC 5, each application comes by </a:t>
            </a:r>
            <a:r>
              <a:rPr lang="en-US" i="1" dirty="0" smtClean="0">
                <a:solidFill>
                  <a:srgbClr val="C00000"/>
                </a:solidFill>
              </a:rPr>
              <a:t>default</a:t>
            </a:r>
            <a:r>
              <a:rPr lang="en-US" dirty="0" smtClean="0"/>
              <a:t> with two view engines: Razor and ASPX.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ViewEngines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dirty="0" err="1" smtClean="0"/>
              <a:t>ViewEngines</a:t>
            </a:r>
            <a:r>
              <a:rPr lang="en-US" sz="2400" dirty="0" smtClean="0"/>
              <a:t> class is the system repository that tracks the currently installed engines.</a:t>
            </a:r>
          </a:p>
          <a:p>
            <a:r>
              <a:rPr lang="en-US" sz="2400" dirty="0" smtClean="0"/>
              <a:t>The class is simple and exposes only a static collection member named Engines.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3469481"/>
            <a:ext cx="8229600" cy="286232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static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class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ViewEngines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/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private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static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readonly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ViewEngineCollection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_engines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</a:t>
            </a:r>
          </a:p>
          <a:p>
            <a:pPr lvl="2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new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ViewEngineCollection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lvl="2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new </a:t>
            </a:r>
            <a:r>
              <a:rPr lang="fr-FR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WebFormViewEngine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(), new </a:t>
            </a:r>
            <a:r>
              <a:rPr lang="fr-FR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RazorViewEngine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};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static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ViewEngineCollection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Engines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get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 return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_engines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 }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Anatomy of a View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view engine is a class that implements the 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IViewEngine</a:t>
            </a:r>
            <a:r>
              <a:rPr lang="en-US" dirty="0" smtClean="0"/>
              <a:t> interface.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2843748"/>
            <a:ext cx="8229600" cy="378565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interface </a:t>
            </a:r>
            <a:r>
              <a:rPr lang="fr-FR" sz="20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IViewEngine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fr-FR" sz="20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ViewEngineResult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FindPartialView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</a:p>
          <a:p>
            <a:pPr lvl="2"/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ControllerContext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controllerContext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</a:t>
            </a:r>
          </a:p>
          <a:p>
            <a:pPr lvl="2"/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String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partialViewName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Boolean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useCache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/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ViewEngineResult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FindView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</a:p>
          <a:p>
            <a:pPr lvl="2"/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ControllerContext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controllerContext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</a:t>
            </a:r>
          </a:p>
          <a:p>
            <a:pPr lvl="2"/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String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viewName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 String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masterName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Boolean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useCache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/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ReleaseView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</a:p>
          <a:p>
            <a:pPr lvl="2"/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ControllerContext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controllerContext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</a:t>
            </a:r>
          </a:p>
          <a:p>
            <a:pPr lvl="2"/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IView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ViewEngineResult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Both </a:t>
            </a:r>
            <a:r>
              <a:rPr lang="en-US" sz="2000" dirty="0" err="1" smtClean="0"/>
              <a:t>FindPartialView</a:t>
            </a:r>
            <a:r>
              <a:rPr lang="en-US" sz="2000" dirty="0" smtClean="0"/>
              <a:t> and </a:t>
            </a:r>
            <a:r>
              <a:rPr lang="en-US" sz="2000" dirty="0" err="1" smtClean="0"/>
              <a:t>FindView</a:t>
            </a:r>
            <a:r>
              <a:rPr lang="en-US" sz="2000" dirty="0" smtClean="0"/>
              <a:t> return a 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ViewEngineResult</a:t>
            </a:r>
            <a:r>
              <a:rPr lang="en-US" sz="2000" dirty="0" smtClean="0"/>
              <a:t> object, which represents the results of locating a template for the view around the server directory tree and instantiating it.</a:t>
            </a:r>
          </a:p>
          <a:p>
            <a:r>
              <a:rPr lang="en-US" sz="2000" dirty="0" smtClean="0"/>
              <a:t>The </a:t>
            </a:r>
            <a:r>
              <a:rPr lang="en-US" sz="2000" dirty="0" err="1" smtClean="0"/>
              <a:t>ViewEngineResult</a:t>
            </a:r>
            <a:r>
              <a:rPr lang="en-US" sz="2000" dirty="0" smtClean="0"/>
              <a:t> type just aggregates </a:t>
            </a:r>
            <a:r>
              <a:rPr lang="en-US" sz="2000" i="1" dirty="0" smtClean="0">
                <a:solidFill>
                  <a:srgbClr val="C00000"/>
                </a:solidFill>
              </a:rPr>
              <a:t>three elements</a:t>
            </a:r>
            <a:r>
              <a:rPr lang="en-US" sz="2000" dirty="0" smtClean="0"/>
              <a:t>: the view object, the view engine object used to create it, and the list of locations searched to find the template of the view.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8229600" cy="286232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fr-FR" sz="20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ViewEngineResult</a:t>
            </a:r>
            <a:endParaRPr lang="fr-FR" sz="2000" b="1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/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Members</a:t>
            </a:r>
            <a:endParaRPr lang="fr-FR" sz="20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IEnumerable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&lt;String&gt;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SearchedLocations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get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private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set; }</a:t>
            </a:r>
          </a:p>
          <a:p>
            <a:pPr lvl="1"/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fr-FR" sz="20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IView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get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private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set; }</a:t>
            </a:r>
          </a:p>
          <a:p>
            <a:pPr lvl="1"/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IViewEngine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ViewEngine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get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private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set; }</a:t>
            </a:r>
          </a:p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calls the View Engine?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1113" y="1752600"/>
            <a:ext cx="65817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view object</a:t>
            </a:r>
            <a:r>
              <a:rPr lang="en-US" sz="2200" dirty="0" smtClean="0"/>
              <a:t> is an instance of a class that implements the </a:t>
            </a:r>
            <a:r>
              <a:rPr lang="en-US" sz="2200" i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IView</a:t>
            </a:r>
            <a:r>
              <a:rPr lang="en-US" sz="2200" dirty="0" smtClean="0"/>
              <a:t> interface.</a:t>
            </a:r>
          </a:p>
          <a:p>
            <a:r>
              <a:rPr lang="en-US" sz="2200" dirty="0" smtClean="0"/>
              <a:t>The only purpose of a view object is for writing some HTML response to a text writer.</a:t>
            </a:r>
          </a:p>
          <a:p>
            <a:r>
              <a:rPr lang="en-US" sz="2200" dirty="0" smtClean="0"/>
              <a:t>Each view is identified by name.</a:t>
            </a:r>
          </a:p>
          <a:p>
            <a:r>
              <a:rPr lang="en-US" sz="2200" dirty="0" smtClean="0"/>
              <a:t>The name of the view is also associated with some </a:t>
            </a:r>
            <a:r>
              <a:rPr lang="en-US" sz="2200" i="1" dirty="0" smtClean="0">
                <a:solidFill>
                  <a:srgbClr val="C00000"/>
                </a:solidFill>
              </a:rPr>
              <a:t>physical file</a:t>
            </a:r>
            <a:r>
              <a:rPr lang="en-US" sz="2200" dirty="0" smtClean="0"/>
              <a:t> that defines the HTML layout to render.</a:t>
            </a:r>
          </a:p>
          <a:p>
            <a:r>
              <a:rPr lang="en-US" sz="2200" dirty="0" smtClean="0"/>
              <a:t>Resolving the association between the view name and actual HTML layout is the responsibility of the view engine.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457200" y="5105400"/>
            <a:ext cx="82296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interface </a:t>
            </a:r>
            <a:r>
              <a:rPr lang="fr-FR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IView</a:t>
            </a:r>
            <a:endParaRPr lang="fr-FR" b="1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Render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ViewContext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viewContext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TextWriter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writer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Everything being displayed to the user results from a view and is described in terms of a </a:t>
            </a:r>
            <a:r>
              <a:rPr lang="en-US" sz="2400" i="1" dirty="0" smtClean="0">
                <a:solidFill>
                  <a:srgbClr val="C00000"/>
                </a:solidFill>
              </a:rPr>
              <a:t>template file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graphical layout is then </a:t>
            </a:r>
            <a:r>
              <a:rPr lang="en-US" sz="2400" u="sng" dirty="0" smtClean="0"/>
              <a:t>transformed into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HTML</a:t>
            </a:r>
            <a:r>
              <a:rPr lang="en-US" sz="2400" dirty="0" smtClean="0"/>
              <a:t> and styled via one or more cascading style sheet (CSS) files.</a:t>
            </a:r>
          </a:p>
          <a:p>
            <a:endParaRPr lang="en-US" sz="2400" dirty="0" smtClean="0"/>
          </a:p>
          <a:p>
            <a:r>
              <a:rPr lang="en-US" sz="2400" dirty="0" smtClean="0"/>
              <a:t>The way in which the template file is written, however, depends on the </a:t>
            </a:r>
            <a:r>
              <a:rPr lang="en-US" sz="2400" i="1" dirty="0" smtClean="0">
                <a:solidFill>
                  <a:srgbClr val="C00000"/>
                </a:solidFill>
              </a:rPr>
              <a:t>view engine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Each view engine has its own </a:t>
            </a:r>
            <a:r>
              <a:rPr lang="en-US" sz="2400" i="1" dirty="0" smtClean="0">
                <a:solidFill>
                  <a:srgbClr val="C00000"/>
                </a:solidFill>
              </a:rPr>
              <a:t>markup language</a:t>
            </a:r>
            <a:r>
              <a:rPr lang="en-US" sz="2400" dirty="0" smtClean="0"/>
              <a:t> to define the template, and its own set of rules to resolve a view name into a template file.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ASPX View Template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07831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&lt;%@ Page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Language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="C# »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MasterPageFile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="~/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Views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Shared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Site.Master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Inherits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System.Web.Mvc.ViewPage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%&gt;</a:t>
            </a:r>
          </a:p>
          <a:p>
            <a:endParaRPr lang="fr-FR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asp:Content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ID="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aboutTitle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ContentPlaceHolderID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TitleContent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runat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="server"&gt;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About the book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asp:Content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pPr lvl="1"/>
            <a:endParaRPr lang="fr-FR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asp:Content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ID="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aboutContent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ContentPlaceHolderID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MainContent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runat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="server"&gt;</a:t>
            </a:r>
          </a:p>
          <a:p>
            <a:pPr lvl="1"/>
            <a:endParaRPr lang="fr-FR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&lt;h2&gt;&lt;%: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ViewBag.Message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%&gt;&lt;/h2&gt;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&lt;p&gt;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Put content 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here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</a:t>
            </a:r>
          </a:p>
          <a:p>
            <a:pPr lvl="1"/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&lt;/p&gt;</a:t>
            </a:r>
          </a:p>
          <a:p>
            <a:pPr lvl="1"/>
            <a:endParaRPr lang="fr-FR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fr-FR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asp:Content</a:t>
            </a:r>
            <a:r>
              <a:rPr lang="fr-FR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Coresponding</a:t>
            </a:r>
            <a:r>
              <a:rPr lang="en-US" dirty="0" smtClean="0"/>
              <a:t> Controller Method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2134612"/>
            <a:ext cx="8229600" cy="304698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About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ViewBag.Message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"Thank you for choosing this book!";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By default, the </a:t>
            </a:r>
            <a:r>
              <a:rPr lang="en-US" sz="2400" u="sng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 name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is the same as the </a:t>
            </a:r>
            <a:r>
              <a:rPr lang="en-US" sz="2400" u="sng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 name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return 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Helpers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295400"/>
            <a:ext cx="8229600" cy="526297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&lt;% using (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Html.BeginForm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()) { %&gt;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&lt;div&gt;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fieldset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&lt;legend&gt;Account Information&lt;/legend&gt;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&lt;p&gt;</a:t>
            </a:r>
          </a:p>
          <a:p>
            <a:pPr lvl="3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&lt;label for="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userName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"&gt;User name:&lt;/label&gt;</a:t>
            </a:r>
          </a:p>
          <a:p>
            <a:pPr lvl="3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&lt;%=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Html.TextBox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userName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") %&gt;</a:t>
            </a:r>
          </a:p>
          <a:p>
            <a:pPr lvl="3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&lt;%=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Html.ValidationMessage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userName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") %&gt;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&lt;/p&gt;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&lt;p&gt;</a:t>
            </a:r>
          </a:p>
          <a:p>
            <a:pPr lvl="3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&lt;label for="password"&gt;Password:&lt;/label&gt;</a:t>
            </a:r>
          </a:p>
          <a:p>
            <a:pPr lvl="3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&lt;%=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Html.Password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("password") %&gt;</a:t>
            </a:r>
          </a:p>
          <a:p>
            <a:pPr lvl="3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&lt;%=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Html.ValidationMessage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("password") %&gt;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&lt;/p&gt;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&lt;p&gt;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&lt;input type="submit" value="Change Password" /&gt;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&lt;/p&gt;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fieldset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&lt;% } %&gt;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Partial 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use either the Partial or </a:t>
            </a:r>
            <a:r>
              <a:rPr lang="en-US" dirty="0" err="1" smtClean="0"/>
              <a:t>RenderPartial</a:t>
            </a:r>
            <a:r>
              <a:rPr lang="en-US" dirty="0" smtClean="0"/>
              <a:t> helper method to insert a partial view.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only difference between the two is that Partial returns a string, whereas </a:t>
            </a:r>
            <a:r>
              <a:rPr lang="en-US" dirty="0" err="1" smtClean="0"/>
              <a:t>RenderPartial</a:t>
            </a:r>
            <a:r>
              <a:rPr lang="en-US" dirty="0" smtClean="0"/>
              <a:t> writes to the output stream and returns void.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3048000"/>
            <a:ext cx="822960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Html.Partial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("login")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Html.RenderPartial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("login")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ASPX View Engine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ASPX markup was devised as a way to support </a:t>
            </a:r>
            <a:r>
              <a:rPr lang="en-US" i="1" dirty="0" smtClean="0">
                <a:solidFill>
                  <a:srgbClr val="C00000"/>
                </a:solidFill>
              </a:rPr>
              <a:t>server controls</a:t>
            </a:r>
            <a:r>
              <a:rPr lang="en-US" dirty="0" smtClean="0"/>
              <a:t>, and it has severe limitations when used mostly with code blocks.</a:t>
            </a:r>
          </a:p>
          <a:p>
            <a:endParaRPr lang="en-US" dirty="0" smtClean="0"/>
          </a:p>
          <a:p>
            <a:r>
              <a:rPr lang="en-US" dirty="0" smtClean="0"/>
              <a:t>Clearly, the major issue is lack of </a:t>
            </a:r>
            <a:r>
              <a:rPr lang="en-US" i="1" dirty="0" smtClean="0">
                <a:solidFill>
                  <a:srgbClr val="C00000"/>
                </a:solidFill>
              </a:rPr>
              <a:t>readability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Razor View Template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864816"/>
            <a:ext cx="8229600" cy="415498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lvl="1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lvl="2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&lt;title&gt;@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ViewBag.Title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&lt;/title&gt;</a:t>
            </a:r>
          </a:p>
          <a:p>
            <a:pPr lvl="2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&lt;link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="@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Url.Content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("~/Content/Site.css")"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rel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stylesheet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type="text/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css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/&gt;</a:t>
            </a:r>
          </a:p>
          <a:p>
            <a:pPr lvl="2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&lt;script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src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="@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Url.Content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("~/Scripts/jquery.js")" type="text/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javascript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"&gt;&lt;/script&gt;</a:t>
            </a:r>
          </a:p>
          <a:p>
            <a:pPr lvl="1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&lt;/head&gt;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Processing in ASP.NET MVC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79837"/>
            <a:ext cx="8229600" cy="2468563"/>
          </a:xfrm>
        </p:spPr>
        <p:txBody>
          <a:bodyPr/>
          <a:lstStyle/>
          <a:p>
            <a:r>
              <a:rPr lang="en-US" sz="1600" dirty="0" smtClean="0"/>
              <a:t>The input model provides the representation of the data being posted to the controller.</a:t>
            </a:r>
          </a:p>
          <a:p>
            <a:r>
              <a:rPr lang="en-US" sz="1600" dirty="0" smtClean="0"/>
              <a:t>The view model provides the representation of the data being worked on in the view.</a:t>
            </a:r>
          </a:p>
          <a:p>
            <a:r>
              <a:rPr lang="en-US" sz="1600" dirty="0" smtClean="0"/>
              <a:t>The domain model is the representation of the domain-specific entities operating in the middle tier.</a:t>
            </a:r>
          </a:p>
          <a:p>
            <a:r>
              <a:rPr lang="en-US" sz="1600" dirty="0" smtClean="0"/>
              <a:t>Note that the three models are not neatly separated.</a:t>
            </a:r>
          </a:p>
          <a:p>
            <a:r>
              <a:rPr lang="en-US" sz="1600" dirty="0" smtClean="0"/>
              <a:t>You might find overlap between the models.</a:t>
            </a:r>
          </a:p>
          <a:p>
            <a:r>
              <a:rPr lang="en-US" sz="1600" dirty="0" smtClean="0"/>
              <a:t>This means that classes in the domain model might be used in the view, and classes posted from the client might be used in the view.</a:t>
            </a:r>
          </a:p>
          <a:p>
            <a:r>
              <a:rPr lang="en-US" sz="1600" dirty="0" smtClean="0"/>
              <a:t>The final structure and diagram of classes is up to you.</a:t>
            </a: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1738" y="1609725"/>
            <a:ext cx="42005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Input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pass input data to a controller, you need to </a:t>
            </a:r>
            <a:r>
              <a:rPr lang="en-US" sz="2400" i="1" dirty="0" smtClean="0">
                <a:solidFill>
                  <a:srgbClr val="C00000"/>
                </a:solidFill>
              </a:rPr>
              <a:t>package data</a:t>
            </a:r>
            <a:r>
              <a:rPr lang="en-US" sz="2400" dirty="0" smtClean="0"/>
              <a:t> in some way.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input model</a:t>
            </a:r>
            <a:r>
              <a:rPr lang="en-US" sz="2400" dirty="0" smtClean="0"/>
              <a:t> refers to the model through which posted data is exposed to controllers and subsequently received by the application.</a:t>
            </a:r>
          </a:p>
          <a:p>
            <a:r>
              <a:rPr lang="en-US" sz="2400" dirty="0" smtClean="0"/>
              <a:t>The input model defines the </a:t>
            </a:r>
            <a:r>
              <a:rPr lang="en-US" sz="2400" i="1" dirty="0" smtClean="0">
                <a:solidFill>
                  <a:srgbClr val="C00000"/>
                </a:solidFill>
              </a:rPr>
              <a:t>DTOs</a:t>
            </a:r>
            <a:r>
              <a:rPr lang="en-US" sz="2400" dirty="0" smtClean="0"/>
              <a:t> the application uses to receive data from input forms.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495800"/>
            <a:ext cx="8229600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BindingController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: Controller{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// http://server/binding/repeat?text=Dino&amp;number=2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Repeat(String text, Int32 number){</a:t>
            </a:r>
          </a:p>
          <a:p>
            <a:pPr lvl="2"/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var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model = new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RepeatViewModel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{Number = number, Text = text};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return View(model);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the Model Object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71800"/>
            <a:ext cx="8229600" cy="3154363"/>
          </a:xfrm>
        </p:spPr>
        <p:txBody>
          <a:bodyPr/>
          <a:lstStyle/>
          <a:p>
            <a:r>
              <a:rPr lang="en-US" sz="2800" dirty="0" smtClean="0"/>
              <a:t>Razor statements start with the @ character.</a:t>
            </a:r>
          </a:p>
          <a:p>
            <a:r>
              <a:rPr lang="en-US" sz="2800" dirty="0" smtClean="0"/>
              <a:t>In this case, the @model statement declares the type of the model object that I will pass to the view from the action method.</a:t>
            </a:r>
          </a:p>
          <a:p>
            <a:r>
              <a:rPr lang="en-US" sz="2800" dirty="0" smtClean="0"/>
              <a:t>This allows me to refer to the methods, fields, and properties of the view model object through @Model.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@model 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Razor.Models.Product</a:t>
            </a:r>
            <a:endParaRPr lang="en-US" sz="24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Applying a Layout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329320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&lt;!DOCTYPE html&gt; //the _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BasicLayout.cshtml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File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&lt;meta name="viewport" content="width=device-width" /&gt;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&lt;title&gt;@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ViewBag.Title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&lt;/title&gt;&lt;/head&gt;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&lt;h1&gt;Product Information&lt;/h1&gt;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style="padding: 20px; border: solid medium black; font-size: 20pt"&gt;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RenderBody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</a:p>
          <a:p>
            <a:pPr lvl="2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&lt;h2&gt;Visit &lt;a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="http://apress.com"&gt;Apress&lt;/a&gt;&lt;/h2&gt;&lt;/body&gt;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07340"/>
            <a:ext cx="822960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@model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Razor.Models.Product</a:t>
            </a:r>
            <a:endParaRPr lang="en-US" sz="16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@{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ViewBag.Title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"Product Name";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Layout = "∼/Views/_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BasicLayout.cshtml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";}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Product Name: @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Model.Name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// The call to the @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RenderBody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method inserts the contents of the view specified by the action method into the layout markup.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463" y="2019300"/>
            <a:ext cx="555307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the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Using Razor (or the ASPX engine), you define the </a:t>
            </a:r>
            <a:r>
              <a:rPr lang="en-US" sz="2800" i="1" dirty="0" smtClean="0">
                <a:solidFill>
                  <a:srgbClr val="C00000"/>
                </a:solidFill>
              </a:rPr>
              <a:t>graphical layout</a:t>
            </a:r>
            <a:r>
              <a:rPr lang="en-US" sz="2800" dirty="0" smtClean="0"/>
              <a:t> of a view.</a:t>
            </a:r>
          </a:p>
          <a:p>
            <a:r>
              <a:rPr lang="en-US" sz="2800" dirty="0" smtClean="0"/>
              <a:t>Sometimes, the view is just made of </a:t>
            </a:r>
            <a:r>
              <a:rPr lang="en-US" sz="2800" i="1" dirty="0" smtClean="0">
                <a:solidFill>
                  <a:srgbClr val="C00000"/>
                </a:solidFill>
              </a:rPr>
              <a:t>static content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More often, though, the view must incorporate </a:t>
            </a:r>
            <a:r>
              <a:rPr lang="en-US" sz="2800" i="1" dirty="0" smtClean="0">
                <a:solidFill>
                  <a:srgbClr val="C00000"/>
                </a:solidFill>
              </a:rPr>
              <a:t>real data</a:t>
            </a:r>
            <a:r>
              <a:rPr lang="en-US" sz="2800" dirty="0" smtClean="0"/>
              <a:t> resulting from some operation against the middle tier of the system or loaded from the application cache or session state.</a:t>
            </a:r>
          </a:p>
          <a:p>
            <a:r>
              <a:rPr lang="en-US" sz="2800" dirty="0" smtClean="0"/>
              <a:t>How would you make this data </a:t>
            </a:r>
            <a:r>
              <a:rPr lang="en-US" sz="2800" i="1" dirty="0" smtClean="0">
                <a:solidFill>
                  <a:srgbClr val="C00000"/>
                </a:solidFill>
              </a:rPr>
              <a:t>available</a:t>
            </a:r>
            <a:r>
              <a:rPr lang="en-US" sz="2800" dirty="0" smtClean="0"/>
              <a:t> to the view?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ViewData</a:t>
            </a:r>
            <a:r>
              <a:rPr lang="en-US" dirty="0" smtClean="0"/>
              <a:t>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Exposed directly by the Controller class, the </a:t>
            </a:r>
            <a:r>
              <a:rPr lang="en-US" sz="2400" dirty="0" err="1" smtClean="0"/>
              <a:t>ViewData</a:t>
            </a:r>
            <a:r>
              <a:rPr lang="en-US" sz="2400" dirty="0" smtClean="0"/>
              <a:t> property is a </a:t>
            </a:r>
            <a:r>
              <a:rPr lang="en-US" sz="2400" i="1" dirty="0" smtClean="0">
                <a:solidFill>
                  <a:srgbClr val="C00000"/>
                </a:solidFill>
              </a:rPr>
              <a:t>name-value dictionary object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Keep in mind that you are </a:t>
            </a:r>
            <a:r>
              <a:rPr lang="en-US" sz="2400" i="1" dirty="0" smtClean="0">
                <a:solidFill>
                  <a:srgbClr val="C00000"/>
                </a:solidFill>
              </a:rPr>
              <a:t>not limited</a:t>
            </a:r>
            <a:r>
              <a:rPr lang="en-US" sz="2400" dirty="0" smtClean="0"/>
              <a:t> to storing strings in the </a:t>
            </a:r>
            <a:r>
              <a:rPr lang="en-US" sz="2400" dirty="0" err="1" smtClean="0"/>
              <a:t>ViewData</a:t>
            </a:r>
            <a:r>
              <a:rPr lang="en-US" sz="2400" dirty="0" smtClean="0"/>
              <a:t> dictionary.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81000" y="2590800"/>
            <a:ext cx="8382000" cy="163121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Index()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ViewData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["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PageTitle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"] = "Programming ASP.NET MVC";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return View();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4343400"/>
            <a:ext cx="8382000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&lt;head&gt;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&lt;title&gt; @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ViewData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["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PageTitle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"] &lt;/title&gt;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&lt;/head&gt;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ViewBag</a:t>
            </a:r>
            <a:r>
              <a:rPr lang="en-US" dirty="0" smtClean="0"/>
              <a:t>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1600200"/>
          </a:xfrm>
        </p:spPr>
        <p:txBody>
          <a:bodyPr/>
          <a:lstStyle/>
          <a:p>
            <a:r>
              <a:rPr lang="en-US" sz="2200" dirty="0" smtClean="0"/>
              <a:t>Also defined on the Controller class, the </a:t>
            </a:r>
            <a:r>
              <a:rPr lang="en-US" sz="2200" dirty="0" err="1" smtClean="0"/>
              <a:t>ViewBag</a:t>
            </a:r>
            <a:r>
              <a:rPr lang="en-US" sz="2200" dirty="0" smtClean="0"/>
              <a:t> property offers an even more flexible facility to pass data to the view.</a:t>
            </a:r>
          </a:p>
          <a:p>
            <a:r>
              <a:rPr lang="en-US" sz="2200" dirty="0" smtClean="0"/>
              <a:t>The property is defined as a </a:t>
            </a:r>
            <a:r>
              <a:rPr lang="en-US" sz="2200" i="1" dirty="0" smtClean="0">
                <a:solidFill>
                  <a:srgbClr val="C00000"/>
                </a:solidFill>
              </a:rPr>
              <a:t>dynamic type</a:t>
            </a:r>
            <a:r>
              <a:rPr lang="en-US" sz="2200" dirty="0" smtClean="0"/>
              <a:t>, as illustrated here:</a:t>
            </a:r>
          </a:p>
          <a:p>
            <a:pPr algn="ctr">
              <a:buNone/>
            </a:pP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public dynamic </a:t>
            </a:r>
            <a:r>
              <a:rPr lang="en-US" sz="2200" dirty="0" err="1" smtClean="0">
                <a:latin typeface="Consolas" pitchFamily="49" charset="0"/>
                <a:cs typeface="Consolas" pitchFamily="49" charset="0"/>
              </a:rPr>
              <a:t>ViewBag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{ get; }</a:t>
            </a:r>
            <a:endParaRPr lang="en-US" sz="2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3178076"/>
            <a:ext cx="8382000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Index() {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Using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ViewData</a:t>
            </a:r>
            <a:endParaRPr lang="en-US" sz="16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ViewData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["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PageTitle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"] = "Programming ASP.NET MVC";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Using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</a:t>
            </a:r>
            <a:endParaRPr lang="en-US" sz="16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ViewBag.PageTitle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"Programming ASP.NET MVC";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//The compiler doesn’t care whether a property named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PageTitle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really exists on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return View();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5646003"/>
            <a:ext cx="838200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&lt;head&gt;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&lt;title&gt; @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ViewBag.PageTitle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&lt;/title&gt;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&lt;/head&gt;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Strongly Typed View Models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36455"/>
            <a:ext cx="8382000" cy="313932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Index()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Pack data for the view using a view-specific container object.</a:t>
            </a:r>
          </a:p>
          <a:p>
            <a:pPr lvl="1"/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var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model = new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LatestOrderViewModel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Populate the model.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Trigger the view.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return View(model);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4999672"/>
            <a:ext cx="8382000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LatestOrderViewModel</a:t>
            </a:r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DateTime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OrderDate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String Status { get; set; }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View Model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1447800"/>
          </a:xfrm>
        </p:spPr>
        <p:txBody>
          <a:bodyPr/>
          <a:lstStyle/>
          <a:p>
            <a:r>
              <a:rPr lang="en-US" sz="2200" dirty="0" smtClean="0"/>
              <a:t>When you use a view model object, you must declare the view model type in the view template so that the actual view object can be created of type </a:t>
            </a:r>
            <a:r>
              <a:rPr lang="en-US" sz="2200" dirty="0" err="1" smtClean="0"/>
              <a:t>ViewPage</a:t>
            </a:r>
            <a:r>
              <a:rPr lang="en-US" sz="2200" dirty="0" smtClean="0"/>
              <a:t>&lt;T&gt; in the ASPX view engine and of type </a:t>
            </a:r>
            <a:r>
              <a:rPr lang="en-US" sz="2200" dirty="0" err="1" smtClean="0"/>
              <a:t>WebViewPage</a:t>
            </a:r>
            <a:r>
              <a:rPr lang="en-US" sz="2200" dirty="0" smtClean="0"/>
              <a:t>&lt;T&gt; if Razor is used.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381000" y="4114800"/>
            <a:ext cx="8382000" cy="206210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@model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LatestOrderViewModel</a:t>
            </a:r>
            <a:endParaRPr lang="en-US" sz="16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&lt;h2&gt;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Latest order placed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&lt;span class="highlight"&gt;@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Model.OrderDate.ToString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dddd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dd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MMM yyyy")&lt;/span&gt;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/&gt;</a:t>
            </a:r>
          </a:p>
          <a:p>
            <a:pPr lvl="1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Status is: &lt;span class="highlight"&gt;@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Model.Status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&lt;/span&gt;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&lt;/h2&gt;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3276600"/>
            <a:ext cx="8382000" cy="58477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&lt;%@ Page Language="C#"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MasterPageFile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="~/Views/Shared/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Site.Master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Inherits="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System.Web.Mvc.ViewPage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LatestOrderViewModel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&gt;" %&gt;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Passing a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533400"/>
          </a:xfrm>
        </p:spPr>
        <p:txBody>
          <a:bodyPr/>
          <a:lstStyle/>
          <a:p>
            <a:r>
              <a:rPr lang="en-US" sz="2200" dirty="0" smtClean="0"/>
              <a:t>Suppose that you need to pass a list of orders to the view.</a:t>
            </a:r>
          </a:p>
          <a:p>
            <a:endParaRPr lang="en-US" sz="2200" dirty="0" smtClean="0"/>
          </a:p>
          <a:p>
            <a:endParaRPr lang="en-US" sz="2200" dirty="0" smtClean="0"/>
          </a:p>
          <a:p>
            <a:r>
              <a:rPr lang="en-US" sz="2200" dirty="0" smtClean="0"/>
              <a:t>Functionally speaking, the approach is sound. But is it extensible? In my experience, you always end up stuffing a variety of heterogeneous data in a view.</a:t>
            </a:r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r>
              <a:rPr lang="en-US" sz="2200" dirty="0" smtClean="0"/>
              <a:t>A view-model class ultimately models the </a:t>
            </a:r>
            <a:r>
              <a:rPr lang="en-US" sz="2200" u="sng" dirty="0" smtClean="0"/>
              <a:t>view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not</a:t>
            </a:r>
            <a:r>
              <a:rPr lang="en-US" sz="2200" dirty="0" smtClean="0"/>
              <a:t> the </a:t>
            </a:r>
            <a:r>
              <a:rPr lang="en-US" sz="2200" u="sng" dirty="0" smtClean="0"/>
              <a:t>data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381000" y="4114800"/>
            <a:ext cx="8382000" cy="33855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@model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YourViewModel</a:t>
            </a:r>
            <a:endParaRPr lang="en-US" sz="16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2286000"/>
            <a:ext cx="8382000" cy="33855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@model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IList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PendingOrder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4724400"/>
            <a:ext cx="8382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YourViewModel</a:t>
            </a:r>
            <a:endParaRPr lang="en-US" sz="16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public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IList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PendingOrder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PendingOrders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{get; set;}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Annotations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Data annotations</a:t>
            </a:r>
            <a:r>
              <a:rPr lang="en-US" sz="2200" dirty="0" smtClean="0"/>
              <a:t> are attributes you can find in the </a:t>
            </a:r>
            <a:r>
              <a:rPr lang="en-US" sz="2200" i="1" dirty="0" err="1" smtClean="0">
                <a:solidFill>
                  <a:srgbClr val="C00000"/>
                </a:solidFill>
                <a:latin typeface="Consolas" pitchFamily="49" charset="0"/>
              </a:rPr>
              <a:t>System.ComponentModel.DataAnnotations</a:t>
            </a:r>
            <a:r>
              <a:rPr lang="en-US" sz="2200" dirty="0" smtClean="0"/>
              <a:t> namespace (although one attribute is defined outside this namespace, as you will see).</a:t>
            </a:r>
          </a:p>
          <a:p>
            <a:r>
              <a:rPr lang="en-US" sz="2200" dirty="0" smtClean="0"/>
              <a:t>These attributes provide </a:t>
            </a:r>
            <a:r>
              <a:rPr lang="en-US" sz="2200" i="1" dirty="0" smtClean="0">
                <a:solidFill>
                  <a:srgbClr val="C00000"/>
                </a:solidFill>
              </a:rPr>
              <a:t>server-side validation</a:t>
            </a:r>
            <a:r>
              <a:rPr lang="en-US" sz="2200" dirty="0" smtClean="0"/>
              <a:t>, and the framework also supports </a:t>
            </a:r>
            <a:r>
              <a:rPr lang="en-US" sz="2200" i="1" dirty="0" smtClean="0">
                <a:solidFill>
                  <a:srgbClr val="C00000"/>
                </a:solidFill>
              </a:rPr>
              <a:t>client-side validation</a:t>
            </a:r>
            <a:r>
              <a:rPr lang="en-US" sz="2200" dirty="0" smtClean="0"/>
              <a:t> when you use one of the attributes on a model property.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381000" y="4239161"/>
            <a:ext cx="838200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[Required]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string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FirstName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 get; set; }</a:t>
            </a:r>
          </a:p>
          <a:p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[Required]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string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LastName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 get; set; 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5791200"/>
            <a:ext cx="3470275" cy="53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4365625"/>
            <a:ext cx="8382000" cy="58477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RegularExpression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(@"[A-Za-z0-9._%+-]+@[A-Za-z0-9.-]+\.[A-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Za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-z]{2,4}")]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string Email { get; set; 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22600" y="5454650"/>
            <a:ext cx="3098800" cy="86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81000" y="1676400"/>
            <a:ext cx="838200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[Required]</a:t>
            </a:r>
          </a:p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StringLength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(160)]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string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LastName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 get; set; }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788" y="2919413"/>
            <a:ext cx="568642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and Model Binding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By default, the ASP.NET MVC framework executes validation logic during </a:t>
            </a:r>
            <a:r>
              <a:rPr lang="en-US" sz="2400" i="1" dirty="0" smtClean="0">
                <a:solidFill>
                  <a:srgbClr val="C00000"/>
                </a:solidFill>
              </a:rPr>
              <a:t>model binding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model binder runs </a:t>
            </a:r>
            <a:r>
              <a:rPr lang="en-US" sz="2400" i="1" dirty="0" smtClean="0">
                <a:solidFill>
                  <a:srgbClr val="C00000"/>
                </a:solidFill>
              </a:rPr>
              <a:t>implicitly</a:t>
            </a:r>
            <a:r>
              <a:rPr lang="en-US" sz="2400" dirty="0" smtClean="0"/>
              <a:t> when you have parameters to an action method.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81000" y="3459540"/>
            <a:ext cx="83820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HttpPost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Create(Album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album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the album parameter was created via model binding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...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and Model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primary side effect of model binding is </a:t>
            </a:r>
            <a:r>
              <a:rPr lang="en-US" sz="2200" i="1" dirty="0" smtClean="0">
                <a:solidFill>
                  <a:srgbClr val="C00000"/>
                </a:solidFill>
              </a:rPr>
              <a:t>model state</a:t>
            </a:r>
            <a:r>
              <a:rPr lang="en-US" sz="2200" dirty="0" smtClean="0"/>
              <a:t> (accessible in a </a:t>
            </a:r>
            <a:r>
              <a:rPr lang="en-US" sz="2200" u="sng" dirty="0" smtClean="0"/>
              <a:t>Controller-derived</a:t>
            </a:r>
            <a:r>
              <a:rPr lang="en-US" sz="2200" dirty="0" smtClean="0"/>
              <a:t> object using the </a:t>
            </a:r>
            <a:r>
              <a:rPr lang="en-US" sz="2200" dirty="0" err="1" smtClean="0">
                <a:latin typeface="Consolas" pitchFamily="49" charset="0"/>
              </a:rPr>
              <a:t>ModelState</a:t>
            </a:r>
            <a:r>
              <a:rPr lang="en-US" sz="2200" dirty="0" smtClean="0"/>
              <a:t> property).</a:t>
            </a:r>
          </a:p>
          <a:p>
            <a:r>
              <a:rPr lang="en-US" sz="2200" dirty="0" smtClean="0"/>
              <a:t>Not only does model state contain </a:t>
            </a:r>
            <a:r>
              <a:rPr lang="en-US" sz="2200" i="1" dirty="0" smtClean="0">
                <a:solidFill>
                  <a:srgbClr val="C00000"/>
                </a:solidFill>
              </a:rPr>
              <a:t>all the values</a:t>
            </a:r>
            <a:r>
              <a:rPr lang="en-US" sz="2200" dirty="0" smtClean="0"/>
              <a:t> a user attempted to put into model properties, but model state also contains </a:t>
            </a:r>
            <a:r>
              <a:rPr lang="en-US" sz="2200" i="1" dirty="0" smtClean="0">
                <a:solidFill>
                  <a:srgbClr val="C00000"/>
                </a:solidFill>
              </a:rPr>
              <a:t>all the errors</a:t>
            </a:r>
            <a:r>
              <a:rPr lang="en-US" sz="2200" dirty="0" smtClean="0"/>
              <a:t> associated with each property (and any errors associated with the model object itself).</a:t>
            </a:r>
          </a:p>
          <a:p>
            <a:r>
              <a:rPr lang="en-US" sz="2200" dirty="0" smtClean="0"/>
              <a:t>If any errors exist in model state, </a:t>
            </a:r>
            <a:r>
              <a:rPr lang="en-US" sz="2200" dirty="0" err="1" smtClean="0">
                <a:latin typeface="Consolas" pitchFamily="49" charset="0"/>
              </a:rPr>
              <a:t>ModelState.IsValid</a:t>
            </a:r>
            <a:r>
              <a:rPr lang="en-US" sz="2200" dirty="0" smtClean="0"/>
              <a:t> returns false.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381000" y="4722674"/>
            <a:ext cx="8382000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HttpPost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CreateOrder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(Order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newOrder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if (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ModelState.IsValid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 Helpers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URL helpers build URLs and return the URLs as strings.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Content helper is particularly helpful because it can convert a </a:t>
            </a:r>
            <a:r>
              <a:rPr lang="en-US" sz="2400" i="1" dirty="0" smtClean="0">
                <a:solidFill>
                  <a:srgbClr val="C00000"/>
                </a:solidFill>
              </a:rPr>
              <a:t>relative</a:t>
            </a:r>
            <a:r>
              <a:rPr lang="en-US" sz="2400" dirty="0" smtClean="0"/>
              <a:t> application path to an </a:t>
            </a:r>
            <a:r>
              <a:rPr lang="en-US" sz="2400" i="1" dirty="0" smtClean="0">
                <a:solidFill>
                  <a:srgbClr val="C00000"/>
                </a:solidFill>
              </a:rPr>
              <a:t>absolute</a:t>
            </a:r>
            <a:r>
              <a:rPr lang="en-US" sz="2400" dirty="0" smtClean="0"/>
              <a:t> application path.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81000" y="2362200"/>
            <a:ext cx="83820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&lt;span&gt;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Url.Action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("Browse", "Store", new { genre = "Jazz" }, null)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// Output: /Store/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Browse?genre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=Jazz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&lt;/span&gt;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5029200"/>
            <a:ext cx="83820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&lt;script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src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="@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Url.Content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("~/Scripts/jquery-1.10.2.min.js")"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type="text/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javascript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"&gt;&lt;/script&gt;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In ASP.NET, </a:t>
            </a:r>
            <a:r>
              <a:rPr lang="en-US" sz="2000" i="1" dirty="0" smtClean="0">
                <a:solidFill>
                  <a:srgbClr val="C00000"/>
                </a:solidFill>
              </a:rPr>
              <a:t>built-in caching capabilities</a:t>
            </a:r>
            <a:r>
              <a:rPr lang="en-US" sz="2000" dirty="0" smtClean="0"/>
              <a:t> come through the Cache object.</a:t>
            </a:r>
          </a:p>
          <a:p>
            <a:r>
              <a:rPr lang="en-US" sz="2000" dirty="0" smtClean="0"/>
              <a:t>The Cache object is created on a </a:t>
            </a:r>
            <a:r>
              <a:rPr lang="en-US" sz="2000" i="1" dirty="0" smtClean="0">
                <a:solidFill>
                  <a:srgbClr val="C00000"/>
                </a:solidFill>
              </a:rPr>
              <a:t>per-</a:t>
            </a:r>
            <a:r>
              <a:rPr lang="en-US" sz="2000" i="1" dirty="0" err="1" smtClean="0">
                <a:solidFill>
                  <a:srgbClr val="C00000"/>
                </a:solidFill>
              </a:rPr>
              <a:t>AppDomain</a:t>
            </a:r>
            <a:r>
              <a:rPr lang="en-US" sz="2000" i="1" dirty="0" smtClean="0">
                <a:solidFill>
                  <a:srgbClr val="C00000"/>
                </a:solidFill>
              </a:rPr>
              <a:t> basis</a:t>
            </a:r>
            <a:r>
              <a:rPr lang="en-US" sz="2000" dirty="0" smtClean="0"/>
              <a:t>, and it remains valid while that </a:t>
            </a:r>
            <a:r>
              <a:rPr lang="en-US" sz="2000" dirty="0" err="1" smtClean="0"/>
              <a:t>AppDomain</a:t>
            </a:r>
            <a:r>
              <a:rPr lang="en-US" sz="2000" dirty="0" smtClean="0"/>
              <a:t> is up and running.</a:t>
            </a:r>
          </a:p>
          <a:p>
            <a:r>
              <a:rPr lang="en-US" sz="2000" dirty="0" smtClean="0"/>
              <a:t>The object is unique in its capability to automatically scavenge the memory and get rid of unused items.</a:t>
            </a:r>
          </a:p>
          <a:p>
            <a:r>
              <a:rPr lang="en-US" sz="2000" dirty="0" smtClean="0"/>
              <a:t>You can prioritize and associate cached items with various types of dependencies, such as disk files, other cached items, and database tables.</a:t>
            </a:r>
          </a:p>
          <a:p>
            <a:r>
              <a:rPr lang="en-US" sz="2000" dirty="0" smtClean="0"/>
              <a:t>When any of these items change, the cached item is automatically invalidated and removed.</a:t>
            </a:r>
          </a:p>
          <a:p>
            <a:r>
              <a:rPr lang="en-US" sz="2000" dirty="0" smtClean="0"/>
              <a:t>Aside from that, the Cache object provides the same familiar, dictionary-based programming interface as Session.</a:t>
            </a:r>
          </a:p>
          <a:p>
            <a:r>
              <a:rPr lang="en-US" sz="2000" dirty="0" smtClean="0"/>
              <a:t>Unlike Session, however, the Cache object does not store data on a per-user basis.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the Cache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should be </a:t>
            </a:r>
            <a:r>
              <a:rPr lang="en-US" sz="2400" i="1" dirty="0" smtClean="0">
                <a:solidFill>
                  <a:srgbClr val="C00000"/>
                </a:solidFill>
              </a:rPr>
              <a:t>accessing</a:t>
            </a:r>
            <a:r>
              <a:rPr lang="en-US" sz="2400" dirty="0" smtClean="0"/>
              <a:t> the Cache object preferably from a </a:t>
            </a:r>
            <a:r>
              <a:rPr lang="en-US" sz="2400" u="sng" dirty="0" smtClean="0"/>
              <a:t>controller class</a:t>
            </a:r>
            <a:r>
              <a:rPr lang="en-US" sz="2400" dirty="0" smtClean="0"/>
              <a:t> or from </a:t>
            </a:r>
            <a:r>
              <a:rPr lang="en-US" sz="2400" u="sng" dirty="0" smtClean="0"/>
              <a:t>infrastructure classes</a:t>
            </a:r>
            <a:r>
              <a:rPr lang="en-US" sz="2400" dirty="0" smtClean="0"/>
              <a:t> such as </a:t>
            </a:r>
            <a:r>
              <a:rPr lang="en-US" sz="2400" dirty="0" err="1" smtClean="0"/>
              <a:t>global.asax</a:t>
            </a:r>
            <a:r>
              <a:rPr lang="en-US" sz="2400" dirty="0" smtClean="0"/>
              <a:t>, as shown here: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2905542"/>
            <a:ext cx="8229600" cy="212365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protected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Application_Start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var data = </a:t>
            </a:r>
            <a:r>
              <a:rPr lang="fr-FR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LoadFromSomeRepository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lvl="1"/>
            <a:r>
              <a:rPr lang="fr-FR" sz="22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Cache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fr-FR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CacheEntries.CustomerRecords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] = data;</a:t>
            </a:r>
          </a:p>
          <a:p>
            <a:pPr lvl="1"/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2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5181600"/>
            <a:ext cx="8229600" cy="144655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var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customerRecords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new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CustomerRecords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var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data = </a:t>
            </a:r>
            <a:r>
              <a:rPr lang="en-US" sz="22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Cache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CacheEntries.CustomerRecords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];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if (null != data)</a:t>
            </a:r>
          </a:p>
          <a:p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customerRecords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(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CustomerRecords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 data;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MVC, output caching allows you to store the output of controller actions and return these cached results instead of actually executing the controller actions on subsequent calls.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Caching the Method Response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743200"/>
          </a:xfrm>
        </p:spPr>
        <p:txBody>
          <a:bodyPr/>
          <a:lstStyle/>
          <a:p>
            <a:r>
              <a:rPr lang="en-US" sz="2400" dirty="0" smtClean="0"/>
              <a:t>The Duration parameter indicates how long (in seconds) the method’s response should stay cached in memory.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VaryByParam</a:t>
            </a:r>
            <a:r>
              <a:rPr lang="en-US" sz="2400" dirty="0" smtClean="0"/>
              <a:t> attribute indicates how many distinct versions of the response you should cache, one for each distinct value of the specified property.</a:t>
            </a:r>
          </a:p>
          <a:p>
            <a:r>
              <a:rPr lang="en-US" sz="2400" dirty="0" smtClean="0"/>
              <a:t>If you use None, you’re informing the system that you don’t want multiple versions of the same method’s response.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178510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fr-FR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OutputCache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fr-FR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Duration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=10, </a:t>
            </a:r>
            <a:r>
              <a:rPr lang="fr-FR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VaryByParam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="None")]</a:t>
            </a:r>
          </a:p>
          <a:p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fr-FR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Index()</a:t>
            </a:r>
          </a:p>
          <a:p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...</a:t>
            </a:r>
          </a:p>
          <a:p>
            <a:r>
              <a:rPr lang="fr-FR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2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Controller/View Mechanics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 smtClean="0">
                <a:hlinkClick r:id="rId2"/>
              </a:rPr>
              <a:t>http://devproconnections.com/development/how-use-aspnet-mvc-render-action-helpers</a:t>
            </a:r>
            <a:endParaRPr lang="en-US" sz="2300" dirty="0" smtClean="0"/>
          </a:p>
          <a:p>
            <a:r>
              <a:rPr lang="en-US" sz="2300" dirty="0" smtClean="0"/>
              <a:t>In ASP.NET MVC, the controller is the component that deals with the request details.</a:t>
            </a:r>
          </a:p>
          <a:p>
            <a:r>
              <a:rPr lang="en-US" sz="2300" dirty="0" smtClean="0"/>
              <a:t>The controller reads the information from the request and decides the action to take.</a:t>
            </a:r>
          </a:p>
          <a:p>
            <a:r>
              <a:rPr lang="en-US" sz="2300" dirty="0" smtClean="0"/>
              <a:t>The action produces data for the view.</a:t>
            </a:r>
          </a:p>
          <a:p>
            <a:r>
              <a:rPr lang="en-US" sz="2300" dirty="0" smtClean="0"/>
              <a:t>Next, the controller selects the next view to render and passes data to incorporate.</a:t>
            </a:r>
          </a:p>
          <a:p>
            <a:r>
              <a:rPr lang="en-US" sz="2300" dirty="0" smtClean="0"/>
              <a:t>The basic mechanics work very well as long as the view is a thin and humble object-no processing logic, just </a:t>
            </a:r>
            <a:r>
              <a:rPr lang="en-US" sz="2300" i="1" dirty="0" smtClean="0">
                <a:solidFill>
                  <a:srgbClr val="C00000"/>
                </a:solidFill>
              </a:rPr>
              <a:t>plain rendering</a:t>
            </a:r>
            <a:r>
              <a:rPr lang="en-US" sz="2300" dirty="0" smtClean="0"/>
              <a:t> and </a:t>
            </a:r>
            <a:r>
              <a:rPr lang="en-US" sz="2300" i="1" dirty="0" smtClean="0">
                <a:solidFill>
                  <a:srgbClr val="C00000"/>
                </a:solidFill>
              </a:rPr>
              <a:t>binding logic</a:t>
            </a:r>
            <a:r>
              <a:rPr lang="en-US" sz="2300" dirty="0" smtClean="0"/>
              <a:t>.</a:t>
            </a:r>
            <a:endParaRPr lang="en-US" sz="2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But what if adjusting the data for the </a:t>
            </a:r>
            <a:r>
              <a:rPr lang="en-US" sz="2400" i="1" dirty="0" smtClean="0">
                <a:solidFill>
                  <a:srgbClr val="C00000"/>
                </a:solidFill>
              </a:rPr>
              <a:t>view</a:t>
            </a:r>
            <a:r>
              <a:rPr lang="en-US" sz="2400" dirty="0" smtClean="0"/>
              <a:t> requires </a:t>
            </a:r>
            <a:r>
              <a:rPr lang="en-US" sz="2400" i="1" dirty="0" smtClean="0">
                <a:solidFill>
                  <a:srgbClr val="C00000"/>
                </a:solidFill>
              </a:rPr>
              <a:t>some work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What kind of work?</a:t>
            </a:r>
          </a:p>
          <a:p>
            <a:r>
              <a:rPr lang="en-US" sz="2400" dirty="0" smtClean="0"/>
              <a:t>Things like retrieving data from the cache or some database, filtering view data such as images or links per user or scenario, and loading preferences from cookies or persistent storage.</a:t>
            </a:r>
          </a:p>
          <a:p>
            <a:r>
              <a:rPr lang="en-US" sz="2400" dirty="0" smtClean="0"/>
              <a:t>What does this code </a:t>
            </a:r>
            <a:r>
              <a:rPr lang="en-US" sz="2400" i="1" dirty="0" smtClean="0">
                <a:solidFill>
                  <a:srgbClr val="C00000"/>
                </a:solidFill>
              </a:rPr>
              <a:t>belong to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One option is to move this code in the controller layer so that the view always receives </a:t>
            </a:r>
            <a:r>
              <a:rPr lang="en-US" sz="2400" i="1" dirty="0" smtClean="0">
                <a:solidFill>
                  <a:srgbClr val="C00000"/>
                </a:solidFill>
              </a:rPr>
              <a:t>ready-to-display</a:t>
            </a:r>
            <a:r>
              <a:rPr lang="en-US" sz="2400" dirty="0" smtClean="0"/>
              <a:t> data.</a:t>
            </a:r>
          </a:p>
          <a:p>
            <a:r>
              <a:rPr lang="en-US" sz="2400" dirty="0" smtClean="0"/>
              <a:t>You can use </a:t>
            </a:r>
            <a:r>
              <a:rPr lang="en-US" sz="2400" i="1" dirty="0" smtClean="0">
                <a:solidFill>
                  <a:srgbClr val="C00000"/>
                </a:solidFill>
              </a:rPr>
              <a:t>action filters</a:t>
            </a:r>
            <a:r>
              <a:rPr lang="en-US" sz="2400" dirty="0" smtClean="0"/>
              <a:t> to take any required code out of controller classes.</a:t>
            </a:r>
            <a:endParaRPr 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Helper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Another option is adding </a:t>
            </a:r>
            <a:r>
              <a:rPr lang="en-US" sz="2400" i="1" dirty="0" smtClean="0">
                <a:solidFill>
                  <a:srgbClr val="C00000"/>
                </a:solidFill>
              </a:rPr>
              <a:t>ad hoc methods</a:t>
            </a:r>
            <a:r>
              <a:rPr lang="en-US" sz="2400" dirty="0" smtClean="0"/>
              <a:t> to existing controllers or, better yet, </a:t>
            </a:r>
            <a:r>
              <a:rPr lang="en-US" sz="2400" i="1" dirty="0" smtClean="0">
                <a:solidFill>
                  <a:srgbClr val="C00000"/>
                </a:solidFill>
              </a:rPr>
              <a:t>ad hoc controllers </a:t>
            </a:r>
            <a:r>
              <a:rPr lang="en-US" sz="2400" dirty="0" smtClean="0"/>
              <a:t>whose only purpose in life is serving data to the views.</a:t>
            </a:r>
          </a:p>
          <a:p>
            <a:r>
              <a:rPr lang="en-US" sz="2400" dirty="0" smtClean="0"/>
              <a:t>These controllers (or methods) are never exposed as public URLs but are exclusively </a:t>
            </a:r>
            <a:r>
              <a:rPr lang="en-US" sz="2400" i="1" dirty="0" smtClean="0">
                <a:solidFill>
                  <a:srgbClr val="C00000"/>
                </a:solidFill>
              </a:rPr>
              <a:t>invoked by the view</a:t>
            </a:r>
            <a:r>
              <a:rPr lang="en-US" sz="2400" dirty="0" smtClean="0"/>
              <a:t> in an internal child procedure.</a:t>
            </a:r>
            <a:endParaRPr lang="en-US" sz="2400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057400" y="4267200"/>
          <a:ext cx="5410200" cy="218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 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Render actions</a:t>
            </a:r>
            <a:r>
              <a:rPr lang="en-US" sz="2200" dirty="0" smtClean="0"/>
              <a:t> are special </a:t>
            </a:r>
            <a:r>
              <a:rPr lang="en-US" sz="2200" u="sng" dirty="0" smtClean="0"/>
              <a:t>controller methods</a:t>
            </a:r>
            <a:r>
              <a:rPr lang="en-US" sz="2200" dirty="0" smtClean="0"/>
              <a:t> defined only to be called back from the view.</a:t>
            </a:r>
          </a:p>
          <a:p>
            <a:r>
              <a:rPr lang="en-US" sz="2200" dirty="0" smtClean="0"/>
              <a:t>Typically, the view calls render actions to incorporate external markup.</a:t>
            </a:r>
          </a:p>
          <a:p>
            <a:r>
              <a:rPr lang="en-US" sz="2200" dirty="0" smtClean="0"/>
              <a:t>This is markup that results from the application of processing logic-logic that you don't want to stay in the view.</a:t>
            </a:r>
          </a:p>
          <a:p>
            <a:r>
              <a:rPr lang="en-US" sz="2200" dirty="0" smtClean="0"/>
              <a:t>A render action is a </a:t>
            </a:r>
            <a:r>
              <a:rPr lang="en-US" sz="2200" i="1" dirty="0" smtClean="0">
                <a:solidFill>
                  <a:srgbClr val="C00000"/>
                </a:solidFill>
              </a:rPr>
              <a:t>public method</a:t>
            </a:r>
            <a:r>
              <a:rPr lang="en-US" sz="2200" dirty="0" smtClean="0"/>
              <a:t> on the controller class.</a:t>
            </a:r>
          </a:p>
          <a:p>
            <a:r>
              <a:rPr lang="en-US" sz="2200" dirty="0" smtClean="0"/>
              <a:t>You can define a render action method to return </a:t>
            </a:r>
            <a:r>
              <a:rPr lang="en-US" sz="2200" i="1" dirty="0" smtClean="0">
                <a:solidFill>
                  <a:srgbClr val="C00000"/>
                </a:solidFill>
              </a:rPr>
              <a:t>any data</a:t>
            </a:r>
            <a:r>
              <a:rPr lang="en-US" sz="2200" dirty="0" smtClean="0"/>
              <a:t>, but you can only safely use it if it returns an HTML markup string.</a:t>
            </a:r>
          </a:p>
          <a:p>
            <a:r>
              <a:rPr lang="en-US" sz="2200" dirty="0" smtClean="0"/>
              <a:t>In addition, a render action can be decorated with the </a:t>
            </a:r>
            <a:r>
              <a:rPr lang="en-US" sz="22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ChildActionOnly</a:t>
            </a:r>
            <a:r>
              <a:rPr lang="en-US" sz="2200" dirty="0" smtClean="0"/>
              <a:t> attribute, which has the effect of hiding the method to public callers.</a:t>
            </a:r>
            <a:endParaRPr lang="en-US" sz="2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2362200"/>
          </a:xfrm>
        </p:spPr>
        <p:txBody>
          <a:bodyPr/>
          <a:lstStyle/>
          <a:p>
            <a:r>
              <a:rPr lang="en-US" sz="1800" dirty="0" smtClean="0"/>
              <a:t>Suppose you have a </a:t>
            </a:r>
            <a:r>
              <a:rPr lang="en-US" sz="1800" i="1" dirty="0" smtClean="0">
                <a:solidFill>
                  <a:srgbClr val="C00000"/>
                </a:solidFill>
              </a:rPr>
              <a:t>global menu</a:t>
            </a:r>
            <a:r>
              <a:rPr lang="en-US" sz="1800" dirty="0" smtClean="0"/>
              <a:t> to render in a number of views.</a:t>
            </a:r>
          </a:p>
          <a:p>
            <a:r>
              <a:rPr lang="en-US" sz="1800" dirty="0" smtClean="0"/>
              <a:t>Each view may have a number of ways to interact with the user, and the user may take a number of actions in relation to your application.</a:t>
            </a:r>
          </a:p>
          <a:p>
            <a:r>
              <a:rPr lang="en-US" sz="1800" dirty="0" smtClean="0"/>
              <a:t>Whatever the interaction and subsequent output, the menu has to be rendered.</a:t>
            </a:r>
          </a:p>
          <a:p>
            <a:r>
              <a:rPr lang="en-US" sz="1800" dirty="0" smtClean="0"/>
              <a:t>This means that the controller method that, say, uploads a news item must be informed about the details of the menu and where the items are to be retrieved.</a:t>
            </a:r>
          </a:p>
          <a:p>
            <a:r>
              <a:rPr lang="en-US" sz="1800" dirty="0" smtClean="0"/>
              <a:t>It's clearly too much of a responsibility for a </a:t>
            </a:r>
            <a:r>
              <a:rPr lang="en-US" sz="18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NewsController</a:t>
            </a:r>
            <a:r>
              <a:rPr lang="en-US" sz="1800" dirty="0" smtClean="0"/>
              <a:t> class, isn't it?</a:t>
            </a:r>
            <a:endParaRPr lang="en-US" sz="1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7913" y="4267200"/>
            <a:ext cx="44481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Menu Render Action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447800"/>
            <a:ext cx="8229600" cy="526297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MenuController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: Controller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[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ChildActionOnly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public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List()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var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model = new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MenuViewModel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model.MenuItems.Add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(new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MenuItem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{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"index",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"Home",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LinkText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"Home"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});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model.MenuItems.Add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(new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MenuItem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{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"about",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ControllerName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"Home",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LinkText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"About us"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                    });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return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PartialView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("_Menu", model);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Invoking Menu Render Action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2133600"/>
            <a:ext cx="82296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div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id="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menucontainer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Html.Action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list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", "menu")</a:t>
            </a:r>
          </a:p>
          <a:p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div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  <a:endParaRPr lang="en-US" sz="24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5248870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The method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Html.Action</a:t>
            </a:r>
            <a:r>
              <a:rPr lang="en-US" sz="2400" dirty="0" smtClean="0">
                <a:latin typeface="+mj-lt"/>
              </a:rPr>
              <a:t> returns the markup as a string, whereas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RenderAction</a:t>
            </a:r>
            <a:r>
              <a:rPr lang="en-US" sz="2400" dirty="0" smtClean="0">
                <a:latin typeface="+mj-lt"/>
              </a:rPr>
              <a:t> writes directly to the output stream.</a:t>
            </a:r>
            <a:endParaRPr lang="en-US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3676471"/>
            <a:ext cx="82296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div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id="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menucontainer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@ { 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Html.RenderAction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list</a:t>
            </a:r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", "menu"); }</a:t>
            </a:r>
          </a:p>
          <a:p>
            <a:r>
              <a:rPr lang="fr-FR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fr-FR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div</a:t>
            </a:r>
            <a:endParaRPr lang="en-US" sz="24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Passing Data to a Render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Restricting Access to Action Methods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How would you mark an ASP.NET MVC URL (for example, a controller method) to require authentication?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2514600"/>
            <a:ext cx="8229600" cy="163121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fr-FR" sz="20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Authorize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fr-FR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fr-FR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Index</a:t>
            </a:r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fr-FR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4461808"/>
            <a:ext cx="82296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Authorize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class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HomeController</a:t>
            </a:r>
            <a:endParaRPr lang="en-US" sz="20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Index() { … }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Handling Authorization for Action Methods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a user is </a:t>
            </a:r>
            <a:r>
              <a:rPr lang="en-US" sz="2400" i="1" dirty="0" smtClean="0">
                <a:solidFill>
                  <a:srgbClr val="C00000"/>
                </a:solidFill>
              </a:rPr>
              <a:t>not authenticated</a:t>
            </a:r>
            <a:r>
              <a:rPr lang="en-US" sz="2400" dirty="0" smtClean="0"/>
              <a:t> or doesn’t have the </a:t>
            </a:r>
            <a:r>
              <a:rPr lang="en-US" sz="2400" i="1" dirty="0" smtClean="0">
                <a:solidFill>
                  <a:srgbClr val="C00000"/>
                </a:solidFill>
              </a:rPr>
              <a:t>required user name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role</a:t>
            </a:r>
            <a:r>
              <a:rPr lang="en-US" sz="2400" dirty="0" smtClean="0"/>
              <a:t>, the attribute prevents access to the method and the user is redirected to the logon URL.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Weakness</a:t>
            </a:r>
            <a:r>
              <a:rPr lang="en-US" sz="2400" dirty="0" smtClean="0"/>
              <a:t>:  The attribute doesn’t ultimately distinguish between users who are not logged on and those who are but who do not have the rights to invoke a given action method.</a:t>
            </a:r>
          </a:p>
          <a:p>
            <a:r>
              <a:rPr lang="en-US" sz="2400" dirty="0" smtClean="0"/>
              <a:t>In both cases, in fact, the attempt to call the action method redirects the user to the logon page.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3102114"/>
            <a:ext cx="8229600" cy="70788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Authorize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Roles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="admin", 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Users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DinoE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FrancescoE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")]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Index() { ... 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Extending the Built-in Authorize Attribute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8229600" cy="504753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AuthorizedOnlyAttribute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: </a:t>
            </a:r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System.Web.Mvc.AuthorizeAttribute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AuthorizedOnlyAttribute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(){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 = "error";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Master =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String.Empty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String View { get; set; }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String Master { get; set; }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override void </a:t>
            </a:r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OnAuthorization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AuthorizationContext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filterContext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){</a:t>
            </a:r>
          </a:p>
          <a:p>
            <a:pPr lvl="2"/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base.OnAuthorization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filterContext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2"/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CheckIfUserIsAuthenticated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filterContext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private void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CheckIfUserIsAuthenticated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AuthorizationContext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filterContext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){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If Result is null, we're OK: the user is authenticated and authorized.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if (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filterContext.Result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== null) return;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If here, you're getting an HTTP 401 status code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if (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filterContext.HttpContext.User.Identity.IsAuthenticated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){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if (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String.IsNullOrEmpty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(View)) return;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var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result = new </a:t>
            </a:r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ViewResult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ViewName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View,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MasterName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Master };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filterContext.Result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result;</a:t>
            </a:r>
          </a:p>
          <a:p>
            <a:pPr lvl="2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Using Extended Authorize Attribute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457200" y="2556808"/>
            <a:ext cx="82296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AuthorizedOnly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(Roles="admin", Users="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DinoE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")]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ActionResult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Index()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...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MVC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http://msdn.microsoft.com/library/ee307987</a:t>
            </a:r>
            <a:endParaRPr lang="en-US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nopCommerce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http://www.nopcommerce.com/</a:t>
            </a:r>
            <a:endParaRPr lang="en-US" dirty="0" smtClean="0"/>
          </a:p>
          <a:p>
            <a:r>
              <a:rPr lang="en-US" dirty="0" err="1" smtClean="0"/>
              <a:t>nopCommerce</a:t>
            </a:r>
            <a:r>
              <a:rPr lang="en-US" dirty="0" smtClean="0"/>
              <a:t> is an open source ecommerce software that contains both a catalog frontend and an administration tool backend.</a:t>
            </a:r>
          </a:p>
          <a:p>
            <a:r>
              <a:rPr lang="en-US" dirty="0" err="1" smtClean="0"/>
              <a:t>nopCommerce</a:t>
            </a:r>
            <a:r>
              <a:rPr lang="en-US" dirty="0" smtClean="0"/>
              <a:t> is a fully customizable shopping cart.</a:t>
            </a:r>
          </a:p>
          <a:p>
            <a:r>
              <a:rPr lang="en-US" dirty="0" err="1" smtClean="0"/>
              <a:t>nopCommerce</a:t>
            </a:r>
            <a:r>
              <a:rPr lang="en-US" dirty="0" smtClean="0"/>
              <a:t> is an open source ecommerce solution that is ASP.NET (MVC) based with a MS SQL 2008 (or higher) backend database.</a:t>
            </a:r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for 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11426</TotalTime>
  <Words>3900</Words>
  <Application>Microsoft Office PowerPoint</Application>
  <PresentationFormat>On-screen Show (4:3)</PresentationFormat>
  <Paragraphs>578</Paragraphs>
  <Slides>79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0" baseType="lpstr">
      <vt:lpstr>Office Theme</vt:lpstr>
      <vt:lpstr>ASP.NET MVC</vt:lpstr>
      <vt:lpstr>Objectives</vt:lpstr>
      <vt:lpstr>References</vt:lpstr>
      <vt:lpstr>Warming Up</vt:lpstr>
      <vt:lpstr>Creating a Web Application</vt:lpstr>
      <vt:lpstr>A Web Application Output</vt:lpstr>
      <vt:lpstr>Physical Structure</vt:lpstr>
      <vt:lpstr>Global.asax.cs: The Main Entry</vt:lpstr>
      <vt:lpstr>App_Start/FilterConfig.cs</vt:lpstr>
      <vt:lpstr>App_Start/RouteConfig.cs</vt:lpstr>
      <vt:lpstr>Controller: Your Code Here</vt:lpstr>
      <vt:lpstr>A Web Application Output</vt:lpstr>
      <vt:lpstr>View: Output Here</vt:lpstr>
      <vt:lpstr>Slide 14</vt:lpstr>
      <vt:lpstr>How MVC Works [1]</vt:lpstr>
      <vt:lpstr>Passing Data From Controller To View</vt:lpstr>
      <vt:lpstr>Passing Data From View To Controller</vt:lpstr>
      <vt:lpstr>Advantages of ASP.NET MVC</vt:lpstr>
      <vt:lpstr>Disadvantages of ASP.NET MVC</vt:lpstr>
      <vt:lpstr>Routing the Requests [2]</vt:lpstr>
      <vt:lpstr>Application Routes</vt:lpstr>
      <vt:lpstr>Defining Application Routes</vt:lpstr>
      <vt:lpstr>Slide 23</vt:lpstr>
      <vt:lpstr>Controllers and View Engine [2]</vt:lpstr>
      <vt:lpstr>View Engine</vt:lpstr>
      <vt:lpstr>ViewEngines Class</vt:lpstr>
      <vt:lpstr>Anatomy of a View Engine</vt:lpstr>
      <vt:lpstr>ViewEngineResult Class</vt:lpstr>
      <vt:lpstr>Who calls the View Engine?</vt:lpstr>
      <vt:lpstr>View Object</vt:lpstr>
      <vt:lpstr>View Template</vt:lpstr>
      <vt:lpstr>ASPX View Template</vt:lpstr>
      <vt:lpstr>Coresponding Controller Method</vt:lpstr>
      <vt:lpstr>HTML Helpers</vt:lpstr>
      <vt:lpstr>Partial Views</vt:lpstr>
      <vt:lpstr>ASPX View Engine Problem</vt:lpstr>
      <vt:lpstr>Razor View Template</vt:lpstr>
      <vt:lpstr>Slide 38</vt:lpstr>
      <vt:lpstr>Input Processing in ASP.NET MVC</vt:lpstr>
      <vt:lpstr>The Input Model</vt:lpstr>
      <vt:lpstr>Working with the Model Object [1]</vt:lpstr>
      <vt:lpstr>Applying a Layout</vt:lpstr>
      <vt:lpstr>Result</vt:lpstr>
      <vt:lpstr>Slide 44</vt:lpstr>
      <vt:lpstr>Modeling the View</vt:lpstr>
      <vt:lpstr>The ViewData Dictionary</vt:lpstr>
      <vt:lpstr>The ViewBag Dictionary</vt:lpstr>
      <vt:lpstr>Strongly Typed View Models</vt:lpstr>
      <vt:lpstr>Using View Model Object</vt:lpstr>
      <vt:lpstr>Passing a List</vt:lpstr>
      <vt:lpstr>Slide 51</vt:lpstr>
      <vt:lpstr>Validation Annotations [3]</vt:lpstr>
      <vt:lpstr>Example</vt:lpstr>
      <vt:lpstr>Validation and Model Binding</vt:lpstr>
      <vt:lpstr>Validation and Model State</vt:lpstr>
      <vt:lpstr>URL Helpers</vt:lpstr>
      <vt:lpstr>Slide 57</vt:lpstr>
      <vt:lpstr>Cache Object</vt:lpstr>
      <vt:lpstr>Using the Cache Object</vt:lpstr>
      <vt:lpstr>Slide 60</vt:lpstr>
      <vt:lpstr>Caching the Method Response</vt:lpstr>
      <vt:lpstr>Slide 62</vt:lpstr>
      <vt:lpstr>Controller/View Mechanics</vt:lpstr>
      <vt:lpstr>Complex View</vt:lpstr>
      <vt:lpstr>View Helper</vt:lpstr>
      <vt:lpstr>Render Actions</vt:lpstr>
      <vt:lpstr>Example</vt:lpstr>
      <vt:lpstr>Menu Render Action</vt:lpstr>
      <vt:lpstr>Invoking Menu Render Action</vt:lpstr>
      <vt:lpstr>Passing Data to a Render Method</vt:lpstr>
      <vt:lpstr>Slide 71</vt:lpstr>
      <vt:lpstr>Restricting Access to Action Methods</vt:lpstr>
      <vt:lpstr>Handling Authorization for Action Methods</vt:lpstr>
      <vt:lpstr>Extending the Built-in Authorize Attribute</vt:lpstr>
      <vt:lpstr>Using Extended Authorize Attribute</vt:lpstr>
      <vt:lpstr>Slide 76</vt:lpstr>
      <vt:lpstr>ASP.NET MVC Areas</vt:lpstr>
      <vt:lpstr>nopCommerce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3765</cp:revision>
  <dcterms:created xsi:type="dcterms:W3CDTF">2007-10-06T08:25:13Z</dcterms:created>
  <dcterms:modified xsi:type="dcterms:W3CDTF">2021-11-18T19:39:40Z</dcterms:modified>
</cp:coreProperties>
</file>