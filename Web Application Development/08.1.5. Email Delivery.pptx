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6"/>
  </p:notesMasterIdLst>
  <p:sldIdLst>
    <p:sldId id="256" r:id="rId2"/>
    <p:sldId id="562" r:id="rId3"/>
    <p:sldId id="563" r:id="rId4"/>
    <p:sldId id="564" r:id="rId5"/>
    <p:sldId id="571" r:id="rId6"/>
    <p:sldId id="573" r:id="rId7"/>
    <p:sldId id="574" r:id="rId8"/>
    <p:sldId id="575" r:id="rId9"/>
    <p:sldId id="572" r:id="rId10"/>
    <p:sldId id="569" r:id="rId11"/>
    <p:sldId id="570" r:id="rId12"/>
    <p:sldId id="567" r:id="rId13"/>
    <p:sldId id="566" r:id="rId14"/>
    <p:sldId id="576" r:id="rId15"/>
    <p:sldId id="556" r:id="rId16"/>
    <p:sldId id="530" r:id="rId17"/>
    <p:sldId id="545" r:id="rId18"/>
    <p:sldId id="546" r:id="rId19"/>
    <p:sldId id="549" r:id="rId20"/>
    <p:sldId id="551" r:id="rId21"/>
    <p:sldId id="565" r:id="rId22"/>
    <p:sldId id="552" r:id="rId23"/>
    <p:sldId id="554" r:id="rId24"/>
    <p:sldId id="343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54" autoAdjust="0"/>
    <p:restoredTop sz="94667" autoAdjust="0"/>
  </p:normalViewPr>
  <p:slideViewPr>
    <p:cSldViewPr>
      <p:cViewPr>
        <p:scale>
          <a:sx n="50" d="100"/>
          <a:sy n="50" d="100"/>
        </p:scale>
        <p:origin x="-1524" y="-4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7162A9-E817-4FA2-8116-DD6AC9B6A8B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smtp2go.com/pricin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signup.sendgrid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app.sendgrid.com/settings/sender_auth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app.sendgrid.com/settings/api_key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ordpress.org/plugins/post-smtp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office365/servicedescriptions/exchange-online-service-description/exchange-online-limits" TargetMode="External"/><Relationship Id="rId2" Type="http://schemas.openxmlformats.org/officeDocument/2006/relationships/hyperlink" Target="https://sendgrid.com/pricing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.rackspace.com/how-to/set-up-dns-records-for-cloud-office-email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support.rackspace.com/how-to/rackspace-email-and-hosted-exchange-settings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namecheap.com/support/knowledgebase/article.aspx/1179/2175/general-private-email-configuration-for-mail-clients-and-mobile-device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ordpress.org/plugins/email-users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Email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</a:t>
            </a:r>
            <a:r>
              <a:rPr lang="en-US" dirty="0" smtClean="0"/>
              <a:t>SMTP2GO </a:t>
            </a:r>
            <a:r>
              <a:rPr lang="en-US" dirty="0" smtClean="0"/>
              <a:t>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https://www.smtp2go.com/pricing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514600"/>
            <a:ext cx="5453412" cy="3647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Sender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63" y="2241550"/>
            <a:ext cx="7762875" cy="370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API Key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981200"/>
            <a:ext cx="70485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4. Install and Configure WP Mail SMTP</a:t>
            </a:r>
            <a:endParaRPr lang="en-US" sz="4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981200"/>
            <a:ext cx="6903720" cy="3865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</a:t>
            </a:r>
            <a:r>
              <a:rPr lang="en-US" dirty="0" err="1" smtClean="0"/>
              <a:t>SendGrid</a:t>
            </a:r>
            <a:r>
              <a:rPr lang="en-US" dirty="0" smtClean="0"/>
              <a:t>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https://signup.sendgrid.com/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7375" y="2346325"/>
            <a:ext cx="5429250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Authenticate Your Domain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https://app.sendgrid.com/settings/sender_auth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5" y="2464117"/>
            <a:ext cx="8143875" cy="3631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5867400" y="4267200"/>
            <a:ext cx="1676400" cy="9906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and Copy API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sz="2400" dirty="0" smtClean="0">
                <a:hlinkClick r:id="rId2"/>
              </a:rPr>
              <a:t>https://app.sendgrid.com/settings/api_keys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5663" y="2600325"/>
            <a:ext cx="743267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4. </a:t>
            </a:r>
            <a:r>
              <a:rPr lang="en-US" sz="4000" dirty="0" smtClean="0"/>
              <a:t>Install and Configure WP </a:t>
            </a:r>
            <a:r>
              <a:rPr lang="en-US" sz="4000" dirty="0" smtClean="0"/>
              <a:t>Mail </a:t>
            </a:r>
            <a:r>
              <a:rPr lang="en-US" sz="4000" dirty="0" smtClean="0"/>
              <a:t>SMTP</a:t>
            </a:r>
            <a:endParaRPr lang="en-US" sz="4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286000"/>
            <a:ext cx="6672834" cy="312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 SMTP </a:t>
            </a:r>
            <a:r>
              <a:rPr lang="en-US" dirty="0" err="1" smtClean="0"/>
              <a:t>Plugin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https://wordpress.org/plugins/post-smtp/</a:t>
            </a:r>
            <a:endParaRPr lang="en-US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400" y="2603500"/>
            <a:ext cx="8331200" cy="334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Email Delivery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SendGrid</a:t>
            </a:r>
            <a:r>
              <a:rPr lang="en-US" sz="2400" dirty="0" smtClean="0"/>
              <a:t> offers “Send 100 emails/day free forever”.</a:t>
            </a:r>
          </a:p>
          <a:p>
            <a:r>
              <a:rPr lang="en-US" sz="2400" dirty="0" smtClean="0"/>
              <a:t>If we need more than 100 emails per day then we may either</a:t>
            </a:r>
          </a:p>
          <a:p>
            <a:pPr lvl="1"/>
            <a:r>
              <a:rPr lang="en-US" sz="2000" dirty="0" smtClean="0"/>
              <a:t>Purchase the service ( </a:t>
            </a:r>
            <a:r>
              <a:rPr lang="en-US" sz="2000" u="sng" dirty="0" smtClean="0">
                <a:hlinkClick r:id="rId2"/>
              </a:rPr>
              <a:t>https://sendgrid.com/pricing/</a:t>
            </a:r>
            <a:r>
              <a:rPr lang="en-US" sz="2000" dirty="0" smtClean="0"/>
              <a:t> ) or  </a:t>
            </a:r>
          </a:p>
          <a:p>
            <a:pPr lvl="1"/>
            <a:r>
              <a:rPr lang="en-US" sz="2000" dirty="0" smtClean="0"/>
              <a:t>Use an O365 account for delivery (MS is very strict in using an account for delivery. It is up to 1000 recipients per account. </a:t>
            </a:r>
            <a:r>
              <a:rPr lang="en-US" sz="2000" u="sng" dirty="0" smtClean="0">
                <a:hlinkClick r:id="rId3"/>
              </a:rPr>
              <a:t>https://docs.microsoft.com/en-us/office365/servicedescriptions/exchange-online-service-description/exchange-online-limits</a:t>
            </a:r>
            <a:r>
              <a:rPr lang="en-US" sz="2000" dirty="0" smtClean="0"/>
              <a:t> ) or</a:t>
            </a:r>
          </a:p>
          <a:p>
            <a:pPr lvl="1"/>
            <a:r>
              <a:rPr lang="en-US" sz="2000" dirty="0" smtClean="0"/>
              <a:t>Setup a private SMTP service and configure SPF, DMARC, DKIM (this takes implementation effort).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Settings for Office 365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Setup SPF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v=spf1 </a:t>
            </a:r>
            <a:r>
              <a:rPr lang="en-US" sz="2000" b="1" dirty="0" err="1" smtClean="0">
                <a:latin typeface="Consolas" pitchFamily="49" charset="0"/>
              </a:rPr>
              <a:t>include:_spf.emfwd.name-services.com</a:t>
            </a:r>
            <a:r>
              <a:rPr lang="en-US" sz="2000" b="1" dirty="0" smtClean="0">
                <a:latin typeface="Consolas" pitchFamily="49" charset="0"/>
              </a:rPr>
              <a:t> </a:t>
            </a:r>
            <a:r>
              <a:rPr lang="en-US" sz="2000" b="1" dirty="0" err="1" smtClean="0">
                <a:latin typeface="Consolas" pitchFamily="49" charset="0"/>
              </a:rPr>
              <a:t>mx</a:t>
            </a:r>
            <a:r>
              <a:rPr lang="en-US" sz="2000" b="1" dirty="0" smtClean="0">
                <a:latin typeface="Consolas" pitchFamily="49" charset="0"/>
              </a:rPr>
              <a:t> ip4:44.229.132.200 ip4:54.68.159.91 ?all</a:t>
            </a:r>
          </a:p>
          <a:p>
            <a:r>
              <a:rPr lang="en-US" sz="2400" dirty="0" smtClean="0">
                <a:latin typeface="+mj-lt"/>
              </a:rPr>
              <a:t>Enable </a:t>
            </a:r>
            <a:r>
              <a:rPr lang="en-US" sz="2400" b="1" dirty="0" smtClean="0">
                <a:latin typeface="+mj-lt"/>
              </a:rPr>
              <a:t>Authenticated SMTP</a:t>
            </a:r>
            <a:r>
              <a:rPr lang="en-US" sz="2400" dirty="0" smtClean="0">
                <a:latin typeface="+mj-lt"/>
              </a:rPr>
              <a:t> in Office </a:t>
            </a:r>
            <a:r>
              <a:rPr lang="en-US" sz="2400" smtClean="0">
                <a:latin typeface="+mj-lt"/>
              </a:rPr>
              <a:t>365 Admin Console.</a:t>
            </a:r>
            <a:endParaRPr lang="en-US" sz="2400" dirty="0">
              <a:latin typeface="+mj-lt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276600"/>
            <a:ext cx="4069080" cy="3089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Settings for Office 365 (II)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0425" y="1597025"/>
            <a:ext cx="7423150" cy="427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Settings for </a:t>
            </a:r>
            <a:r>
              <a:rPr lang="en-US" dirty="0" err="1" smtClean="0"/>
              <a:t>Rackspace</a:t>
            </a:r>
            <a:r>
              <a:rPr lang="en-US" dirty="0" smtClean="0"/>
              <a:t>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Configure DNS to send and receive email</a:t>
            </a:r>
          </a:p>
          <a:p>
            <a:pPr lvl="1"/>
            <a:r>
              <a:rPr lang="en-US" sz="1600" dirty="0" smtClean="0">
                <a:hlinkClick r:id="rId2"/>
              </a:rPr>
              <a:t>https://support.rackspace.com/how-to/set-up-dns-records-for-cloud-office-email/</a:t>
            </a:r>
            <a:endParaRPr lang="en-US" sz="16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Setup SPF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v=spf1 </a:t>
            </a:r>
            <a:r>
              <a:rPr lang="en-US" sz="2000" b="1" dirty="0" err="1" smtClean="0">
                <a:latin typeface="Consolas" pitchFamily="49" charset="0"/>
              </a:rPr>
              <a:t>include:emailsrvr.com</a:t>
            </a:r>
            <a:r>
              <a:rPr lang="en-US" sz="2000" b="1" dirty="0" smtClean="0">
                <a:latin typeface="Consolas" pitchFamily="49" charset="0"/>
              </a:rPr>
              <a:t> </a:t>
            </a:r>
            <a:r>
              <a:rPr lang="en-US" sz="2000" b="1" dirty="0" err="1" smtClean="0">
                <a:latin typeface="Consolas" pitchFamily="49" charset="0"/>
              </a:rPr>
              <a:t>mx</a:t>
            </a:r>
            <a:r>
              <a:rPr lang="en-US" sz="2000" b="1" dirty="0" smtClean="0">
                <a:latin typeface="Consolas" pitchFamily="49" charset="0"/>
              </a:rPr>
              <a:t> ip4:44.229.132.200 ip4:54.68.159.91 ?all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514600"/>
          <a:ext cx="7391401" cy="226465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789000"/>
                <a:gridCol w="1352621"/>
                <a:gridCol w="2780431"/>
                <a:gridCol w="789000"/>
                <a:gridCol w="1680349"/>
              </a:tblGrid>
              <a:tr h="2572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Type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Hostname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Destination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Priority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TTL</a:t>
                      </a:r>
                    </a:p>
                  </a:txBody>
                  <a:tcPr marL="68881" marR="68881" marT="34441" marB="34441" anchor="ctr"/>
                </a:tc>
              </a:tr>
              <a:tr h="47783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MX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@ or left blank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mx1.emailsrvr.com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10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3600 seconds or lowest allowed</a:t>
                      </a:r>
                    </a:p>
                  </a:txBody>
                  <a:tcPr marL="68881" marR="68881" marT="34441" marB="34441" anchor="ctr"/>
                </a:tc>
              </a:tr>
              <a:tr h="47783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MX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@ or left blank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mx2.emailsrvr.com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20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3600 seconds or lowest allowed</a:t>
                      </a:r>
                    </a:p>
                  </a:txBody>
                  <a:tcPr marL="68881" marR="68881" marT="34441" marB="34441" anchor="ctr"/>
                </a:tc>
              </a:tr>
              <a:tr h="47783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TXT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@ or left blank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v=spf1 </a:t>
                      </a:r>
                      <a:r>
                        <a:rPr lang="en-US" sz="1400" dirty="0" err="1"/>
                        <a:t>include:emailsrvr.com</a:t>
                      </a:r>
                      <a:r>
                        <a:rPr lang="en-US" sz="1400" dirty="0"/>
                        <a:t> ~all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NA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3600 seconds or lowest allowed</a:t>
                      </a:r>
                    </a:p>
                  </a:txBody>
                  <a:tcPr marL="68881" marR="68881" marT="34441" marB="34441" anchor="ctr"/>
                </a:tc>
              </a:tr>
              <a:tr h="47783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CNAME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autodiscover</a:t>
                      </a:r>
                      <a:endParaRPr lang="en-US" sz="1400" dirty="0"/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autodiscover.emailsrvr.com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NA</a:t>
                      </a:r>
                    </a:p>
                  </a:txBody>
                  <a:tcPr marL="68881" marR="68881" marT="34441" marB="344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3600 seconds or lowest allowed</a:t>
                      </a:r>
                    </a:p>
                  </a:txBody>
                  <a:tcPr marL="68881" marR="68881" marT="34441" marB="34441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Settings for </a:t>
            </a:r>
            <a:r>
              <a:rPr lang="en-US" dirty="0" err="1" smtClean="0"/>
              <a:t>Rackspace</a:t>
            </a:r>
            <a:r>
              <a:rPr lang="en-US" dirty="0" smtClean="0"/>
              <a:t>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>
                <a:hlinkClick r:id="rId2"/>
              </a:rPr>
              <a:t>https://support.rackspace.com/how-to/rackspace-email-and-hosted-exchange-settings/</a:t>
            </a:r>
            <a:endParaRPr lang="en-US" sz="16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6890" y="2288857"/>
            <a:ext cx="5680710" cy="3883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Settings for Private 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>
                <a:hlinkClick r:id="rId2"/>
              </a:rPr>
              <a:t>https://www.namecheap.com/support/knowledgebase/article.aspx/1179/2175/general-private-email-configuration-for-mail-clients-and-mobile-devices/</a:t>
            </a:r>
            <a:endParaRPr lang="en-US" sz="1600" dirty="0" smtClean="0"/>
          </a:p>
          <a:p>
            <a:endParaRPr lang="en-US" sz="16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2362200"/>
            <a:ext cx="6329363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Email Users </a:t>
            </a:r>
            <a:r>
              <a:rPr lang="en-US" dirty="0" err="1" smtClean="0"/>
              <a:t>Plugin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https://wordpress.org/plugins/email-users/</a:t>
            </a:r>
            <a:endParaRPr lang="en-US" sz="2400" dirty="0" smtClean="0"/>
          </a:p>
          <a:p>
            <a:r>
              <a:rPr lang="en-US" sz="2400" dirty="0" smtClean="0"/>
              <a:t>Login as Administrator ( admin / ********** ).</a:t>
            </a:r>
          </a:p>
          <a:p>
            <a:r>
              <a:rPr lang="en-US" sz="2400" dirty="0" smtClean="0"/>
              <a:t>Point mouse to the </a:t>
            </a:r>
            <a:r>
              <a:rPr lang="en-US" sz="2400" b="1" dirty="0" smtClean="0"/>
              <a:t>Email Users</a:t>
            </a:r>
            <a:r>
              <a:rPr lang="en-US" sz="2400" dirty="0" smtClean="0"/>
              <a:t> link on the left menu, click on the </a:t>
            </a:r>
            <a:r>
              <a:rPr lang="en-US" sz="2400" b="1" dirty="0" smtClean="0"/>
              <a:t>Send to Group(s)</a:t>
            </a:r>
            <a:r>
              <a:rPr lang="en-US" sz="2400" dirty="0" smtClean="0"/>
              <a:t> link.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3505200"/>
            <a:ext cx="418465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Email Users </a:t>
            </a:r>
            <a:r>
              <a:rPr lang="en-US" dirty="0" err="1" smtClean="0"/>
              <a:t>Plugin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438400" cy="4525963"/>
          </a:xfrm>
        </p:spPr>
        <p:txBody>
          <a:bodyPr/>
          <a:lstStyle/>
          <a:p>
            <a:r>
              <a:rPr lang="en-US" sz="2400" dirty="0" smtClean="0"/>
              <a:t>Select one or some groups as recipients.</a:t>
            </a:r>
          </a:p>
          <a:p>
            <a:r>
              <a:rPr lang="en-US" sz="2400" dirty="0" smtClean="0"/>
              <a:t>Compose an email and click the </a:t>
            </a:r>
            <a:r>
              <a:rPr lang="en-US" sz="2400" b="1" dirty="0" smtClean="0"/>
              <a:t>Send Email</a:t>
            </a:r>
            <a:r>
              <a:rPr lang="en-US" sz="2400" dirty="0" smtClean="0"/>
              <a:t> button.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752600"/>
            <a:ext cx="5562600" cy="458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10594</TotalTime>
  <Words>329</Words>
  <Application>Microsoft Office PowerPoint</Application>
  <PresentationFormat>On-screen Show (4:3)</PresentationFormat>
  <Paragraphs>85</Paragraphs>
  <Slides>24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Email Delivery</vt:lpstr>
      <vt:lpstr>Objectives</vt:lpstr>
      <vt:lpstr>Contents</vt:lpstr>
      <vt:lpstr>References</vt:lpstr>
      <vt:lpstr>1. Create a SMTP2GO Account</vt:lpstr>
      <vt:lpstr>2. Verify Sender</vt:lpstr>
      <vt:lpstr>3. Create API Key</vt:lpstr>
      <vt:lpstr>4. Install and Configure WP Mail SMTP</vt:lpstr>
      <vt:lpstr>Slide 9</vt:lpstr>
      <vt:lpstr>1. Create a SendGrid Account</vt:lpstr>
      <vt:lpstr>2. Authenticate Your Domain</vt:lpstr>
      <vt:lpstr>3. Create and Copy API Key</vt:lpstr>
      <vt:lpstr>4. Install and Configure WP Mail SMTP</vt:lpstr>
      <vt:lpstr>Slide 14</vt:lpstr>
      <vt:lpstr>Post SMTP Plugin</vt:lpstr>
      <vt:lpstr>Email Delivery</vt:lpstr>
      <vt:lpstr>Settings for Office 365 (I)</vt:lpstr>
      <vt:lpstr>Settings for Office 365 (II)</vt:lpstr>
      <vt:lpstr>Settings for Rackspace (I)</vt:lpstr>
      <vt:lpstr>Settings for Rackspace (II)</vt:lpstr>
      <vt:lpstr>Settings for Private Mail</vt:lpstr>
      <vt:lpstr>Email Users Plugin</vt:lpstr>
      <vt:lpstr>Email Users Plugin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4240</cp:revision>
  <dcterms:created xsi:type="dcterms:W3CDTF">2007-10-06T08:25:13Z</dcterms:created>
  <dcterms:modified xsi:type="dcterms:W3CDTF">2025-08-08T19:51:24Z</dcterms:modified>
</cp:coreProperties>
</file>