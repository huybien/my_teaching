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1"/>
  </p:notesMasterIdLst>
  <p:sldIdLst>
    <p:sldId id="472" r:id="rId2"/>
    <p:sldId id="473" r:id="rId3"/>
    <p:sldId id="474" r:id="rId4"/>
    <p:sldId id="475" r:id="rId5"/>
    <p:sldId id="494" r:id="rId6"/>
    <p:sldId id="495" r:id="rId7"/>
    <p:sldId id="496" r:id="rId8"/>
    <p:sldId id="497" r:id="rId9"/>
    <p:sldId id="437" r:id="rId10"/>
    <p:sldId id="438" r:id="rId11"/>
    <p:sldId id="498" r:id="rId12"/>
    <p:sldId id="439" r:id="rId13"/>
    <p:sldId id="440" r:id="rId14"/>
    <p:sldId id="416" r:id="rId15"/>
    <p:sldId id="499" r:id="rId16"/>
    <p:sldId id="417" r:id="rId17"/>
    <p:sldId id="466" r:id="rId18"/>
    <p:sldId id="451" r:id="rId19"/>
    <p:sldId id="459" r:id="rId20"/>
    <p:sldId id="452" r:id="rId21"/>
    <p:sldId id="460" r:id="rId22"/>
    <p:sldId id="453" r:id="rId23"/>
    <p:sldId id="454" r:id="rId24"/>
    <p:sldId id="455" r:id="rId25"/>
    <p:sldId id="424" r:id="rId26"/>
    <p:sldId id="450" r:id="rId27"/>
    <p:sldId id="456" r:id="rId28"/>
    <p:sldId id="457" r:id="rId29"/>
    <p:sldId id="458" r:id="rId30"/>
    <p:sldId id="465" r:id="rId31"/>
    <p:sldId id="468" r:id="rId32"/>
    <p:sldId id="467" r:id="rId33"/>
    <p:sldId id="447" r:id="rId34"/>
    <p:sldId id="448" r:id="rId35"/>
    <p:sldId id="441" r:id="rId36"/>
    <p:sldId id="443" r:id="rId37"/>
    <p:sldId id="463" r:id="rId38"/>
    <p:sldId id="470" r:id="rId39"/>
    <p:sldId id="469" r:id="rId40"/>
    <p:sldId id="484" r:id="rId41"/>
    <p:sldId id="471" r:id="rId42"/>
    <p:sldId id="477" r:id="rId43"/>
    <p:sldId id="482" r:id="rId44"/>
    <p:sldId id="478" r:id="rId45"/>
    <p:sldId id="479" r:id="rId46"/>
    <p:sldId id="481" r:id="rId47"/>
    <p:sldId id="483" r:id="rId48"/>
    <p:sldId id="485" r:id="rId49"/>
    <p:sldId id="476" r:id="rId50"/>
    <p:sldId id="480" r:id="rId51"/>
    <p:sldId id="486" r:id="rId52"/>
    <p:sldId id="487" r:id="rId53"/>
    <p:sldId id="488" r:id="rId54"/>
    <p:sldId id="490" r:id="rId55"/>
    <p:sldId id="492" r:id="rId56"/>
    <p:sldId id="491" r:id="rId57"/>
    <p:sldId id="493" r:id="rId58"/>
    <p:sldId id="489" r:id="rId59"/>
    <p:sldId id="464"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0" autoAdjust="0"/>
    <p:restoredTop sz="94667" autoAdjust="0"/>
  </p:normalViewPr>
  <p:slideViewPr>
    <p:cSldViewPr>
      <p:cViewPr>
        <p:scale>
          <a:sx n="50" d="100"/>
          <a:sy n="50" d="100"/>
        </p:scale>
        <p:origin x="-162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08A4DC-CD1A-406A-ABAD-2DA45F421319}" type="datetimeFigureOut">
              <a:rPr lang="en-US" smtClean="0"/>
              <a:pPr/>
              <a:t>4/4/2024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2014A3-B5D0-4E16-B7A6-7314E9F6C1D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908788B2-D072-42B4-8D8A-C0D124E6BC28}"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171EEBA-33BA-44F0-95C6-D2B8EF867B7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F01952C-192D-4821-B649-2E0CA04C4511}"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18C2F6C-BE6D-436A-AADD-17766C5D8E5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91DC4DA-068B-4360-B747-02527662B78E}"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CFDCA7-CDFD-48D2-A0F9-6647A39A9DB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A3840E06-657E-4D7E-A70A-198E1C22BE37}" type="datetimeFigureOut">
              <a:rPr lang="en-US"/>
              <a:pPr>
                <a:defRPr/>
              </a:pPr>
              <a:t>4/4/2024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09BAF20-3648-4F57-A332-98CF168B43F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04283A99-EB31-44C9-BDAA-12A752EDCECF}" type="datetimeFigureOut">
              <a:rPr lang="en-US"/>
              <a:pPr>
                <a:defRPr/>
              </a:pPr>
              <a:t>4/4/2024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40EEE03-95E8-4EB0-9E91-229BBDD48C1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B7112B8-7F14-4C2F-BC40-B9558BE4358B}" type="datetimeFigureOut">
              <a:rPr lang="en-US"/>
              <a:pPr>
                <a:defRPr/>
              </a:pPr>
              <a:t>4/4/2024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8031928-B512-4B17-8B51-E81157E8601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2D0651A-94B2-4F67-8F24-D862ACCA68FB}" type="datetimeFigureOut">
              <a:rPr lang="en-US"/>
              <a:pPr>
                <a:defRPr/>
              </a:pPr>
              <a:t>4/4/2024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DA58576-A286-49B4-8248-6595C5261B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171FEFD-D06C-4A16-BB5B-D232FD6C1673}" type="datetimeFigureOut">
              <a:rPr lang="en-US"/>
              <a:pPr>
                <a:defRPr/>
              </a:pPr>
              <a:t>4/4/2024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BDB2D05-4637-45E6-B13C-155A14DA3E1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7725E22-371E-4683-A2E7-070015375487}" type="datetimeFigureOut">
              <a:rPr lang="en-US"/>
              <a:pPr>
                <a:defRPr/>
              </a:pPr>
              <a:t>4/4/2024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29AA722-D044-4732-B3C8-D406AA14C26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29DC5F4-F7BB-411D-85E6-F9BF4FBB9066}"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9D3D8A9-F91B-4AA4-9412-7D185025B9C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BECF63F-29B2-4482-B6EF-B6342F965599}" type="datetimeFigureOut">
              <a:rPr lang="en-US"/>
              <a:pPr>
                <a:defRPr/>
              </a:pPr>
              <a:t>4/4/2024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3352EFD-9818-4DF5-9596-7CB4E745B42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C8FB8FE2-2943-450E-BB6C-3F2395506934}" type="datetimeFigureOut">
              <a:rPr lang="en-US"/>
              <a:pPr>
                <a:defRPr/>
              </a:pPr>
              <a:t>4/4/2024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42E3C7B-2ABA-41DA-9FF6-2517B36E50E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localhost/myservice.svc"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msdn.microsoft.com/en-us/library/ms730255(v=vs.100).aspx?f=255&amp;MSPPError=-2147217396"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docs.microsoft.com/en-us/dotnet/framework/wcf/feature-details/wcf-web-http-programming-model-overview"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docs.microsoft.com/en-us/dotnet/api/system.servicemodel.web.webinvokeattribute.uritemplate?view=netframework-4.8"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binding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basichttpbinding"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wshttpbinding"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webhttpbinding"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behavior-of-servicebehavior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behavior-of-endpointbehavior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docs.microsoft.com/en-us/dotnet/framework/configure-apps/file-schema/wcf/webhtt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docs.microsoft.com/en-us/dotnet/framework/wcf/feature-details/how-to-host-a-wcf-service-in-iis?redirectedfrom=MSDN"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docs.microsoft.com/en-us/previous-versions/dotnet/articles/ee354381(v=msdn.10)"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docs.microsoft.com/en-us/dotnet/framework/wcf/feature-details/using-data-contracts"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docs.microsoft.com/en-us/dotnet/framework/wcf/feature-details/how-to-create-a-basic-data-contract-for-a-class-or-structure"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docs.microsoft.com/en-us/dotnet/framework/wcf/feature-details/how-to-serialize-and-deserialize-json-data"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docs.microsoft.com/en-us/dotnet/framework/wcf/feature-details/data-member-order"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docs.microsoft.com/en-us/dotnet/api/system.servicemodel.web.webfaultexception-1?view=netframework-4.8"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5400" dirty="0" smtClean="0"/>
              <a:t>Windows Communication Foundation</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3428999"/>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lvl="0" indent="-457200">
              <a:buFont typeface="+mj-lt"/>
              <a:buAutoNum type="arabicPeriod"/>
            </a:pPr>
            <a:r>
              <a:rPr lang="en-US" sz="2400" dirty="0" smtClean="0"/>
              <a:t>John Sharp (2010). Windows Communication Foundation 4 Step by Step. Microsoft Press.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Early Days of Personal Computer Applications</a:t>
            </a:r>
            <a:endParaRPr lang="en-US" dirty="0"/>
          </a:p>
        </p:txBody>
      </p:sp>
      <p:sp>
        <p:nvSpPr>
          <p:cNvPr id="3" name="Content Placeholder 2"/>
          <p:cNvSpPr>
            <a:spLocks noGrp="1"/>
          </p:cNvSpPr>
          <p:nvPr>
            <p:ph idx="1"/>
          </p:nvPr>
        </p:nvSpPr>
        <p:spPr/>
        <p:txBody>
          <a:bodyPr/>
          <a:lstStyle/>
          <a:p>
            <a:r>
              <a:rPr lang="en-US" sz="2400" dirty="0" smtClean="0"/>
              <a:t>Applications are all located on </a:t>
            </a:r>
            <a:r>
              <a:rPr lang="en-US" sz="2400" i="1" dirty="0" smtClean="0">
                <a:solidFill>
                  <a:srgbClr val="C00000"/>
                </a:solidFill>
              </a:rPr>
              <a:t>the same computer</a:t>
            </a:r>
            <a:r>
              <a:rPr lang="en-US" sz="2400" dirty="0" smtClean="0"/>
              <a:t>, and the data and file formats they used are proprietary to the application suite.</a:t>
            </a:r>
          </a:p>
          <a:p>
            <a:r>
              <a:rPr lang="en-US" sz="2400" i="1" dirty="0" smtClean="0">
                <a:solidFill>
                  <a:srgbClr val="C00000"/>
                </a:solidFill>
              </a:rPr>
              <a:t>Multi-user databases</a:t>
            </a:r>
            <a:r>
              <a:rPr lang="en-US" sz="2400" dirty="0" smtClean="0"/>
              <a:t> had been available and ran predominantly on </a:t>
            </a:r>
            <a:r>
              <a:rPr lang="en-US" sz="2400" u="sng" dirty="0" smtClean="0"/>
              <a:t>mainframe computers</a:t>
            </a:r>
            <a:r>
              <a:rPr lang="en-US" sz="2400" dirty="0" smtClean="0"/>
              <a:t> to enable multiple users to share the business data.</a:t>
            </a:r>
          </a:p>
          <a:p>
            <a:r>
              <a:rPr lang="en-US" sz="2400" i="1" dirty="0" smtClean="0">
                <a:solidFill>
                  <a:srgbClr val="C00000"/>
                </a:solidFill>
              </a:rPr>
              <a:t>Networking solutions</a:t>
            </a:r>
            <a:r>
              <a:rPr lang="en-US" sz="2400" dirty="0" smtClean="0"/>
              <a:t> and </a:t>
            </a:r>
            <a:r>
              <a:rPr lang="en-US" sz="2400" i="1" dirty="0" smtClean="0">
                <a:solidFill>
                  <a:srgbClr val="C00000"/>
                </a:solidFill>
              </a:rPr>
              <a:t>network operating systems (NOS) </a:t>
            </a:r>
            <a:r>
              <a:rPr lang="en-US" sz="2400" dirty="0" smtClean="0"/>
              <a:t>appeared for the PC platform, enabling departments in an organization to </a:t>
            </a:r>
            <a:r>
              <a:rPr lang="en-US" sz="2400" u="sng" dirty="0" smtClean="0"/>
              <a:t>connect their PCs</a:t>
            </a:r>
            <a:r>
              <a:rPr lang="en-US" sz="2400" dirty="0" smtClean="0"/>
              <a:t> together and share resources (printers and disks).</a:t>
            </a:r>
          </a:p>
          <a:p>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Inter-Process Communications Technologies</a:t>
            </a:r>
            <a:endParaRPr lang="en-US" sz="4000" dirty="0"/>
          </a:p>
        </p:txBody>
      </p:sp>
      <p:sp>
        <p:nvSpPr>
          <p:cNvPr id="3" name="Content Placeholder 2"/>
          <p:cNvSpPr>
            <a:spLocks noGrp="1"/>
          </p:cNvSpPr>
          <p:nvPr>
            <p:ph idx="1"/>
          </p:nvPr>
        </p:nvSpPr>
        <p:spPr/>
        <p:txBody>
          <a:bodyPr/>
          <a:lstStyle/>
          <a:p>
            <a:r>
              <a:rPr lang="en-US" sz="2400" dirty="0" smtClean="0"/>
              <a:t>Applications needed to be able to </a:t>
            </a:r>
            <a:r>
              <a:rPr lang="en-US" sz="2400" i="1" dirty="0" smtClean="0">
                <a:solidFill>
                  <a:srgbClr val="C00000"/>
                </a:solidFill>
              </a:rPr>
              <a:t>send and receive data</a:t>
            </a:r>
            <a:r>
              <a:rPr lang="en-US" sz="2400" dirty="0" smtClean="0"/>
              <a:t> and coordinate their actions with other applications running at the same time on other computers.</a:t>
            </a:r>
          </a:p>
          <a:p>
            <a:r>
              <a:rPr lang="en-US" sz="2400" i="1" dirty="0" smtClean="0">
                <a:solidFill>
                  <a:srgbClr val="C00000"/>
                </a:solidFill>
              </a:rPr>
              <a:t>Named pipes</a:t>
            </a:r>
            <a:r>
              <a:rPr lang="en-US" sz="2400" dirty="0" smtClean="0"/>
              <a:t> and </a:t>
            </a:r>
            <a:r>
              <a:rPr lang="en-US" sz="2400" i="1" dirty="0" smtClean="0">
                <a:solidFill>
                  <a:srgbClr val="C00000"/>
                </a:solidFill>
              </a:rPr>
              <a:t>sockets are</a:t>
            </a:r>
            <a:r>
              <a:rPr lang="en-US" sz="2400" dirty="0" smtClean="0"/>
              <a:t> low-level inter-process communications mechanisms. Using them required a good understanding of how networks function.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 Object Model (COM)</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Component Object Model (COM)</a:t>
            </a:r>
            <a:r>
              <a:rPr lang="en-US" sz="2400" dirty="0" smtClean="0"/>
              <a:t> is the technology for communicating between applications and components running on the Windows platform.</a:t>
            </a:r>
          </a:p>
          <a:p>
            <a:r>
              <a:rPr lang="en-US" sz="2400" dirty="0" smtClean="0"/>
              <a:t>Developers use COM to create </a:t>
            </a:r>
            <a:r>
              <a:rPr lang="en-US" sz="2400" i="1" dirty="0" smtClean="0">
                <a:solidFill>
                  <a:srgbClr val="C00000"/>
                </a:solidFill>
              </a:rPr>
              <a:t>reusable software components</a:t>
            </a:r>
            <a:r>
              <a:rPr lang="en-US" sz="2400" dirty="0" smtClean="0"/>
              <a:t>, link components together to build applications.</a:t>
            </a:r>
          </a:p>
          <a:p>
            <a:r>
              <a:rPr lang="en-US" sz="2400" dirty="0" smtClean="0"/>
              <a:t>COM was designed to enable </a:t>
            </a:r>
            <a:r>
              <a:rPr lang="en-US" sz="2400" i="1" dirty="0" smtClean="0">
                <a:solidFill>
                  <a:srgbClr val="C00000"/>
                </a:solidFill>
              </a:rPr>
              <a:t>communications</a:t>
            </a:r>
            <a:r>
              <a:rPr lang="en-US" sz="2400" dirty="0" smtClean="0"/>
              <a:t> between components and applications running on </a:t>
            </a:r>
            <a:r>
              <a:rPr lang="en-US" sz="2400" u="sng" dirty="0" smtClean="0"/>
              <a:t>the same computer</a:t>
            </a:r>
            <a:r>
              <a:rPr lang="en-US" sz="2400" dirty="0" smtClean="0"/>
              <a: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COM (DCOM)</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Distributed COM (DCOM)</a:t>
            </a:r>
            <a:r>
              <a:rPr lang="en-US" sz="2400" dirty="0" smtClean="0"/>
              <a:t> is the technology which allows applications to access components running on other computers </a:t>
            </a:r>
            <a:r>
              <a:rPr lang="en-US" sz="2400" u="sng" dirty="0" smtClean="0"/>
              <a:t>over a network</a:t>
            </a:r>
            <a:r>
              <a:rPr lang="en-US" sz="2400" dirty="0" smtClean="0"/>
              <a:t>.</a:t>
            </a:r>
          </a:p>
          <a:p>
            <a:r>
              <a:rPr lang="en-US" sz="2400" i="1" dirty="0" smtClean="0">
                <a:solidFill>
                  <a:srgbClr val="C00000"/>
                </a:solidFill>
              </a:rPr>
              <a:t>COM+</a:t>
            </a:r>
            <a:r>
              <a:rPr lang="en-US" sz="2400" dirty="0" smtClean="0"/>
              <a:t> is the technology which </a:t>
            </a:r>
            <a:r>
              <a:rPr lang="en-US" sz="2400" u="sng" dirty="0" smtClean="0"/>
              <a:t>incorporates</a:t>
            </a:r>
            <a:r>
              <a:rPr lang="en-US" sz="2400" dirty="0" smtClean="0"/>
              <a:t> features such as integration with Microsoft Transaction Server, automatic resource management into DCOM so applications could group operations on components together into transactions.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Services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Enterprise Services</a:t>
            </a:r>
            <a:r>
              <a:rPr lang="en-US" sz="2400" dirty="0" smtClean="0"/>
              <a:t> is COM+ </a:t>
            </a:r>
            <a:r>
              <a:rPr lang="en-US" sz="2400" u="sng" dirty="0" smtClean="0"/>
              <a:t>runtime environment</a:t>
            </a:r>
            <a:r>
              <a:rPr lang="en-US" sz="2400" dirty="0" smtClean="0"/>
              <a:t> in .NET Framework.</a:t>
            </a:r>
          </a:p>
          <a:p>
            <a:r>
              <a:rPr lang="en-US" sz="2400" i="1" dirty="0" smtClean="0">
                <a:solidFill>
                  <a:srgbClr val="C00000"/>
                </a:solidFill>
              </a:rPr>
              <a:t>Transaction integration</a:t>
            </a:r>
            <a:r>
              <a:rPr lang="en-US" sz="2400" dirty="0" smtClean="0"/>
              <a:t> across multiple parties technology performing related work in a distributed environment.</a:t>
            </a:r>
          </a:p>
          <a:p>
            <a:r>
              <a:rPr lang="en-US" sz="2400" dirty="0" smtClean="0"/>
              <a:t>It allows throttling access to limited, shared resources, pooling of object instances to optimize access to expensive-to-initialize resources, features a publish/subscribe mechanism for events, has a rich security model, and sits on top of a proven, platform-integrated, secure, and fast transport.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a:t>
            </a:r>
            <a:r>
              <a:rPr lang="en-US" dirty="0" err="1" smtClean="0"/>
              <a:t>Remoting</a:t>
            </a:r>
            <a:endParaRPr lang="en-US" dirty="0" smtClean="0"/>
          </a:p>
        </p:txBody>
      </p:sp>
      <p:sp>
        <p:nvSpPr>
          <p:cNvPr id="3" name="Content Placeholder 2"/>
          <p:cNvSpPr>
            <a:spLocks noGrp="1"/>
          </p:cNvSpPr>
          <p:nvPr>
            <p:ph idx="1"/>
          </p:nvPr>
        </p:nvSpPr>
        <p:spPr/>
        <p:txBody>
          <a:bodyPr/>
          <a:lstStyle/>
          <a:p>
            <a:r>
              <a:rPr lang="en-US" sz="2400" i="1" dirty="0" smtClean="0">
                <a:solidFill>
                  <a:srgbClr val="C00000"/>
                </a:solidFill>
              </a:rPr>
              <a:t>Common Language Runtime (CLR)</a:t>
            </a:r>
            <a:r>
              <a:rPr lang="en-US" sz="2400" dirty="0" smtClean="0"/>
              <a:t> integrated mechanism for communicating with objects across application domain boundaries, provides flexible extensibility model, which lets developers rip and replace transports, proxy mechanisms and the way communication channels behave.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Microsoft Message Queue (MSMQ)</a:t>
            </a:r>
          </a:p>
        </p:txBody>
      </p:sp>
      <p:sp>
        <p:nvSpPr>
          <p:cNvPr id="3" name="Content Placeholder 2"/>
          <p:cNvSpPr>
            <a:spLocks noGrp="1"/>
          </p:cNvSpPr>
          <p:nvPr>
            <p:ph idx="1"/>
          </p:nvPr>
        </p:nvSpPr>
        <p:spPr/>
        <p:txBody>
          <a:bodyPr/>
          <a:lstStyle/>
          <a:p>
            <a:r>
              <a:rPr lang="en-US" sz="2400" dirty="0" smtClean="0"/>
              <a:t>Scalable, durable and volatile, queued </a:t>
            </a:r>
            <a:r>
              <a:rPr lang="en-US" sz="2400" i="1" dirty="0" smtClean="0">
                <a:solidFill>
                  <a:srgbClr val="C00000"/>
                </a:solidFill>
              </a:rPr>
              <a:t>messaging technology </a:t>
            </a:r>
            <a:r>
              <a:rPr lang="en-US" sz="2400" dirty="0" smtClean="0"/>
              <a:t>that takes care of getting data reliably from one place to the next.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Past Technology Problems</a:t>
            </a:r>
            <a:endParaRPr lang="en-US" dirty="0"/>
          </a:p>
        </p:txBody>
      </p:sp>
      <p:sp>
        <p:nvSpPr>
          <p:cNvPr id="3" name="Content Placeholder 2"/>
          <p:cNvSpPr>
            <a:spLocks noGrp="1"/>
          </p:cNvSpPr>
          <p:nvPr>
            <p:ph idx="1"/>
          </p:nvPr>
        </p:nvSpPr>
        <p:spPr/>
        <p:txBody>
          <a:bodyPr/>
          <a:lstStyle/>
          <a:p>
            <a:r>
              <a:rPr lang="en-US" sz="2400" dirty="0" smtClean="0"/>
              <a:t>Technologies such as COM, DCOM, COM+, Enterprise Services, and .NET Framework </a:t>
            </a:r>
            <a:r>
              <a:rPr lang="en-US" sz="2400" dirty="0" err="1" smtClean="0"/>
              <a:t>Remoting</a:t>
            </a:r>
            <a:r>
              <a:rPr lang="en-US" sz="2400" dirty="0" smtClean="0"/>
              <a:t> only work when applications and components are running within </a:t>
            </a:r>
            <a:r>
              <a:rPr lang="en-US" sz="2400" i="1" dirty="0" smtClean="0">
                <a:solidFill>
                  <a:srgbClr val="C00000"/>
                </a:solidFill>
              </a:rPr>
              <a:t>the same local area network</a:t>
            </a:r>
            <a:r>
              <a:rPr lang="en-US" sz="2400" dirty="0" smtClean="0"/>
              <a:t> inside an organization.</a:t>
            </a:r>
          </a:p>
          <a:p>
            <a:r>
              <a:rPr lang="en-US" sz="2400" dirty="0" smtClean="0"/>
              <a:t>They are also </a:t>
            </a:r>
            <a:r>
              <a:rPr lang="en-US" sz="2400" i="1" dirty="0" smtClean="0">
                <a:solidFill>
                  <a:srgbClr val="C00000"/>
                </a:solidFill>
              </a:rPr>
              <a:t>specific to the Microsoft Windows family</a:t>
            </a:r>
            <a:r>
              <a:rPr lang="en-US" sz="2400" dirty="0" smtClean="0"/>
              <a:t> of operating systems.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ASMX and WSE</a:t>
            </a:r>
            <a:endParaRPr lang="en-US" dirty="0"/>
          </a:p>
        </p:txBody>
      </p:sp>
      <p:sp>
        <p:nvSpPr>
          <p:cNvPr id="3" name="Content Placeholder 2"/>
          <p:cNvSpPr>
            <a:spLocks noGrp="1"/>
          </p:cNvSpPr>
          <p:nvPr>
            <p:ph idx="1"/>
          </p:nvPr>
        </p:nvSpPr>
        <p:spPr/>
        <p:txBody>
          <a:bodyPr/>
          <a:lstStyle/>
          <a:p>
            <a:r>
              <a:rPr lang="en-US" dirty="0" smtClean="0"/>
              <a:t>ASP.NET Web Services (ASMX) and Web Service Enhancements (WSE) extensions</a:t>
            </a:r>
          </a:p>
          <a:p>
            <a:pPr lvl="1"/>
            <a:r>
              <a:rPr lang="en-US" sz="2200" i="1" dirty="0" smtClean="0">
                <a:solidFill>
                  <a:srgbClr val="C00000"/>
                </a:solidFill>
              </a:rPr>
              <a:t>Cross-platform interoperability and integration</a:t>
            </a:r>
            <a:r>
              <a:rPr lang="en-US" sz="2200" dirty="0" smtClean="0"/>
              <a:t>, relatively easy service evolution and versioning strategies through loose coupling technology.</a:t>
            </a:r>
          </a:p>
          <a:p>
            <a:pPr lvl="1"/>
            <a:r>
              <a:rPr lang="en-US" sz="2200" i="1" dirty="0" smtClean="0"/>
              <a:t>A </a:t>
            </a:r>
            <a:r>
              <a:rPr lang="en-US" sz="2200" i="1" dirty="0" smtClean="0">
                <a:solidFill>
                  <a:srgbClr val="C00000"/>
                </a:solidFill>
              </a:rPr>
              <a:t>Web service</a:t>
            </a:r>
            <a:r>
              <a:rPr lang="en-US" sz="2200" dirty="0" smtClean="0"/>
              <a:t> is an </a:t>
            </a:r>
            <a:r>
              <a:rPr lang="en-US" sz="2200" u="sng" dirty="0" smtClean="0"/>
              <a:t>application</a:t>
            </a:r>
            <a:r>
              <a:rPr lang="en-US" sz="2200" dirty="0" smtClean="0"/>
              <a:t> or </a:t>
            </a:r>
            <a:r>
              <a:rPr lang="en-US" sz="2200" u="sng" dirty="0" smtClean="0"/>
              <a:t>component</a:t>
            </a:r>
            <a:r>
              <a:rPr lang="en-US" sz="2200" dirty="0" smtClean="0"/>
              <a:t> that executes on the computer hosting the service.</a:t>
            </a:r>
          </a:p>
          <a:p>
            <a:pPr lvl="1"/>
            <a:r>
              <a:rPr lang="en-US" sz="2200" dirty="0" smtClean="0"/>
              <a:t>A </a:t>
            </a:r>
            <a:r>
              <a:rPr lang="en-US" sz="2200" i="1" dirty="0" smtClean="0">
                <a:solidFill>
                  <a:srgbClr val="C00000"/>
                </a:solidFill>
              </a:rPr>
              <a:t>Web service</a:t>
            </a:r>
            <a:r>
              <a:rPr lang="en-US" sz="2200" dirty="0" smtClean="0"/>
              <a:t> can </a:t>
            </a:r>
            <a:r>
              <a:rPr lang="en-US" sz="2200" u="sng" dirty="0" smtClean="0"/>
              <a:t>receive requests</a:t>
            </a:r>
            <a:r>
              <a:rPr lang="en-US" sz="2200" dirty="0" smtClean="0"/>
              <a:t> from applications running on the other computers, perform operations, and send a response back to the applications.</a:t>
            </a:r>
          </a:p>
          <a:p>
            <a:pPr lvl="1"/>
            <a:r>
              <a:rPr lang="en-US" sz="2200" dirty="0" smtClean="0"/>
              <a:t>A </a:t>
            </a:r>
            <a:r>
              <a:rPr lang="en-US" sz="2200" i="1" dirty="0" smtClean="0">
                <a:solidFill>
                  <a:srgbClr val="C00000"/>
                </a:solidFill>
              </a:rPr>
              <a:t>Web service</a:t>
            </a:r>
            <a:r>
              <a:rPr lang="en-US" sz="2200" dirty="0" smtClean="0"/>
              <a:t> can also </a:t>
            </a:r>
            <a:r>
              <a:rPr lang="en-US" sz="2200" u="sng" dirty="0" smtClean="0"/>
              <a:t>invoke operations</a:t>
            </a:r>
            <a:r>
              <a:rPr lang="en-US" sz="2200" dirty="0" smtClean="0"/>
              <a:t> in other Web services, hosted elsewhere </a:t>
            </a:r>
            <a:r>
              <a:rPr lang="en-US" sz="2200" u="sng" dirty="0" smtClean="0"/>
              <a:t>on the Internet</a:t>
            </a:r>
            <a:r>
              <a:rPr lang="en-US" sz="2200" dirty="0" smtClean="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Technologies Problems</a:t>
            </a:r>
            <a:endParaRPr lang="en-US" dirty="0"/>
          </a:p>
        </p:txBody>
      </p:sp>
      <p:sp>
        <p:nvSpPr>
          <p:cNvPr id="3" name="Content Placeholder 2"/>
          <p:cNvSpPr>
            <a:spLocks noGrp="1"/>
          </p:cNvSpPr>
          <p:nvPr>
            <p:ph idx="1"/>
          </p:nvPr>
        </p:nvSpPr>
        <p:spPr/>
        <p:txBody>
          <a:bodyPr/>
          <a:lstStyle/>
          <a:p>
            <a:r>
              <a:rPr lang="en-US" sz="2400" dirty="0" smtClean="0"/>
              <a:t>You often have to make an exclusive, explicit choice for one fundamental technology.</a:t>
            </a:r>
          </a:p>
          <a:p>
            <a:r>
              <a:rPr lang="en-US" sz="2400" dirty="0" smtClean="0"/>
              <a:t>If you need any of the features of Enterprise Services and decide to use it, your implementation strategy will be very different from when you use ASMX.</a:t>
            </a:r>
          </a:p>
          <a:p>
            <a:r>
              <a:rPr lang="en-US" sz="2400" dirty="0" smtClean="0"/>
              <a:t>If you need rock-solid reliable messaging decide to send messages via MSMQ instead of risking to send them via plain HTTP, your code will look vastly different from invoking methods on a method-oriented proxy.</a:t>
            </a:r>
          </a:p>
          <a:p>
            <a:pPr marL="342900" lvl="1" indent="-342900">
              <a:buFont typeface="Arial" charset="0"/>
              <a:buChar char="•"/>
            </a:pPr>
            <a:r>
              <a:rPr lang="en-US" sz="2400" dirty="0" smtClean="0"/>
              <a:t>ASMX provides the way for interoperability but it does not provide or guarantee end-to-end security or reliable communication. ASMX works with HTTP (IIS) only.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What is Windows Communication Foundation?</a:t>
            </a:r>
            <a:endParaRPr lang="en-US" sz="3800" dirty="0"/>
          </a:p>
        </p:txBody>
      </p:sp>
      <p:sp>
        <p:nvSpPr>
          <p:cNvPr id="3" name="Content Placeholder 2"/>
          <p:cNvSpPr>
            <a:spLocks noGrp="1"/>
          </p:cNvSpPr>
          <p:nvPr>
            <p:ph idx="1"/>
          </p:nvPr>
        </p:nvSpPr>
        <p:spPr/>
        <p:txBody>
          <a:bodyPr/>
          <a:lstStyle/>
          <a:p>
            <a:r>
              <a:rPr lang="en-US" sz="2400" i="1" dirty="0" smtClean="0">
                <a:solidFill>
                  <a:srgbClr val="C00000"/>
                </a:solidFill>
              </a:rPr>
              <a:t>Distributed service</a:t>
            </a:r>
            <a:r>
              <a:rPr lang="en-US" sz="2400" dirty="0" smtClean="0"/>
              <a:t> is a way of providing a resource over a computer network that allows for more than one machine to deliver a service, through the use of standard protocols and conventions.</a:t>
            </a:r>
          </a:p>
          <a:p>
            <a:r>
              <a:rPr lang="en-US" sz="2400" i="1" dirty="0" smtClean="0">
                <a:solidFill>
                  <a:srgbClr val="C00000"/>
                </a:solidFill>
              </a:rPr>
              <a:t>WCF</a:t>
            </a:r>
            <a:r>
              <a:rPr lang="en-US" sz="2400" dirty="0" smtClean="0"/>
              <a:t> is Microsoft's next-generation </a:t>
            </a:r>
            <a:r>
              <a:rPr lang="en-US" sz="2400" u="sng" dirty="0" smtClean="0"/>
              <a:t>programming platform and runtime system</a:t>
            </a:r>
            <a:r>
              <a:rPr lang="en-US" sz="2400" dirty="0" smtClean="0"/>
              <a:t> for building, configuring and deploying network-distributed services.</a:t>
            </a:r>
          </a:p>
          <a:p>
            <a:r>
              <a:rPr lang="en-US" sz="2400" dirty="0" smtClean="0"/>
              <a:t>WCF is a single technology platform that takes </a:t>
            </a:r>
            <a:r>
              <a:rPr lang="en-US" sz="2400" i="1" dirty="0" smtClean="0">
                <a:solidFill>
                  <a:srgbClr val="C00000"/>
                </a:solidFill>
              </a:rPr>
              <a:t>all the capabilities</a:t>
            </a:r>
            <a:r>
              <a:rPr lang="en-US" sz="2400" dirty="0" smtClean="0"/>
              <a:t> of the existing technologies while not relying upon any of them</a:t>
            </a:r>
            <a:r>
              <a:rPr lang="en-US" sz="2400" dirty="0" smtClean="0"/>
              <a:t>.</a:t>
            </a:r>
          </a:p>
          <a:p>
            <a:r>
              <a:rPr lang="en-US" sz="2400" b="1" dirty="0" smtClean="0">
                <a:solidFill>
                  <a:srgbClr val="C00000"/>
                </a:solidFill>
              </a:rPr>
              <a:t>WCF is .NET SOAP APIs.</a:t>
            </a:r>
            <a:endParaRPr lang="en-US" sz="2400" b="1" dirty="0" smtClean="0">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WCF?</a:t>
            </a:r>
            <a:endParaRPr lang="en-US" dirty="0"/>
          </a:p>
        </p:txBody>
      </p:sp>
      <p:sp>
        <p:nvSpPr>
          <p:cNvPr id="3" name="Content Placeholder 2"/>
          <p:cNvSpPr>
            <a:spLocks noGrp="1"/>
          </p:cNvSpPr>
          <p:nvPr>
            <p:ph idx="1"/>
          </p:nvPr>
        </p:nvSpPr>
        <p:spPr/>
        <p:txBody>
          <a:bodyPr/>
          <a:lstStyle/>
          <a:p>
            <a:r>
              <a:rPr lang="en-US" sz="2400" dirty="0" smtClean="0"/>
              <a:t>Making developers </a:t>
            </a:r>
            <a:r>
              <a:rPr lang="en-US" sz="2400" i="1" dirty="0" smtClean="0">
                <a:solidFill>
                  <a:srgbClr val="C00000"/>
                </a:solidFill>
              </a:rPr>
              <a:t>more productive</a:t>
            </a:r>
            <a:r>
              <a:rPr lang="en-US" sz="2400" dirty="0" smtClean="0"/>
              <a:t>, because they will only have to master a single programming model that unifies the feature wealth of ASMX, WSE, Enterprise Services, MSMQ, and </a:t>
            </a:r>
            <a:r>
              <a:rPr lang="en-US" sz="2400" dirty="0" err="1" smtClean="0"/>
              <a:t>Remoting</a:t>
            </a:r>
            <a:r>
              <a:rPr lang="en-US" sz="2400" dirty="0" smtClean="0"/>
              <a:t>.</a:t>
            </a:r>
          </a:p>
          <a:p>
            <a:r>
              <a:rPr lang="en-US" sz="2400" i="1" dirty="0" smtClean="0">
                <a:solidFill>
                  <a:srgbClr val="C00000"/>
                </a:solidFill>
              </a:rPr>
              <a:t>Protocols support</a:t>
            </a:r>
            <a:r>
              <a:rPr lang="en-US" sz="2400" dirty="0" smtClean="0"/>
              <a:t>: HTTP, TCP, UDP, Named pipes, MSMQ, Custom.</a:t>
            </a:r>
          </a:p>
          <a:p>
            <a:pPr marL="342900" lvl="1" indent="-342900">
              <a:buFont typeface="Arial" charset="0"/>
              <a:buChar char="•"/>
            </a:pPr>
            <a:r>
              <a:rPr lang="en-US" sz="2400" dirty="0" smtClean="0"/>
              <a:t>A WCF component can be </a:t>
            </a:r>
            <a:r>
              <a:rPr lang="en-US" sz="2400" i="1" dirty="0" smtClean="0">
                <a:solidFill>
                  <a:srgbClr val="C00000"/>
                </a:solidFill>
              </a:rPr>
              <a:t>hosted</a:t>
            </a:r>
            <a:r>
              <a:rPr lang="en-US" sz="2400" dirty="0" smtClean="0"/>
              <a:t> in any kind of environment in .NET, such as a console application, Windows application, or IIS.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WCF Service</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WCF service</a:t>
            </a:r>
            <a:r>
              <a:rPr lang="en-US" sz="2400" dirty="0" smtClean="0"/>
              <a:t> is just an </a:t>
            </a:r>
            <a:r>
              <a:rPr lang="en-US" sz="2400" u="sng" dirty="0" smtClean="0"/>
              <a:t>object</a:t>
            </a:r>
            <a:r>
              <a:rPr lang="en-US" sz="2400" dirty="0" smtClean="0"/>
              <a:t> that exposes </a:t>
            </a:r>
            <a:r>
              <a:rPr lang="en-US" sz="2400" u="sng" dirty="0" smtClean="0"/>
              <a:t>a set of operations</a:t>
            </a:r>
            <a:r>
              <a:rPr lang="en-US" sz="2400" dirty="0" smtClean="0"/>
              <a:t> that client applications can invoke.</a:t>
            </a:r>
          </a:p>
          <a:p>
            <a:r>
              <a:rPr lang="en-US" sz="2400" dirty="0" smtClean="0"/>
              <a:t>When you </a:t>
            </a:r>
            <a:r>
              <a:rPr lang="en-US" sz="2400" i="1" dirty="0" smtClean="0">
                <a:solidFill>
                  <a:srgbClr val="C00000"/>
                </a:solidFill>
              </a:rPr>
              <a:t>build a service</a:t>
            </a:r>
            <a:r>
              <a:rPr lang="en-US" sz="2400" dirty="0" smtClean="0"/>
              <a:t>, you </a:t>
            </a:r>
            <a:r>
              <a:rPr lang="en-US" sz="2400" u="sng" dirty="0" smtClean="0"/>
              <a:t>describe the operations</a:t>
            </a:r>
            <a:r>
              <a:rPr lang="en-US" sz="2400" dirty="0" smtClean="0"/>
              <a:t> for a service by using a service contract, and then </a:t>
            </a:r>
            <a:r>
              <a:rPr lang="en-US" sz="2400" u="sng" dirty="0" smtClean="0"/>
              <a:t>create a class</a:t>
            </a:r>
            <a:r>
              <a:rPr lang="en-US" sz="2400" dirty="0" smtClean="0"/>
              <a:t> that implements that contract.</a:t>
            </a:r>
          </a:p>
          <a:p>
            <a:r>
              <a:rPr lang="en-US" sz="2400" dirty="0" smtClean="0"/>
              <a:t>To </a:t>
            </a:r>
            <a:r>
              <a:rPr lang="en-US" sz="2400" i="1" dirty="0" smtClean="0">
                <a:solidFill>
                  <a:srgbClr val="C00000"/>
                </a:solidFill>
              </a:rPr>
              <a:t>execute the service</a:t>
            </a:r>
            <a:r>
              <a:rPr lang="en-US" sz="2400" dirty="0" smtClean="0"/>
              <a:t>, you must </a:t>
            </a:r>
            <a:r>
              <a:rPr lang="en-US" sz="2400" u="sng" dirty="0" smtClean="0"/>
              <a:t>provide a runtime environment</a:t>
            </a:r>
            <a:r>
              <a:rPr lang="en-US" sz="2400" dirty="0" smtClean="0"/>
              <a:t> for the service object and then make it available to client applications.</a:t>
            </a:r>
          </a:p>
          <a:p>
            <a:r>
              <a:rPr lang="en-US" sz="2400" dirty="0" smtClean="0"/>
              <a:t>The runtime environment for an object implementing a service is provided by a host application. IIS can provide such a runtime environment.</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Contracts</a:t>
            </a:r>
            <a:endParaRPr lang="en-US" dirty="0"/>
          </a:p>
        </p:txBody>
      </p:sp>
      <p:sp>
        <p:nvSpPr>
          <p:cNvPr id="3" name="Content Placeholder 2"/>
          <p:cNvSpPr>
            <a:spLocks noGrp="1"/>
          </p:cNvSpPr>
          <p:nvPr>
            <p:ph idx="1"/>
          </p:nvPr>
        </p:nvSpPr>
        <p:spPr/>
        <p:txBody>
          <a:bodyPr/>
          <a:lstStyle/>
          <a:p>
            <a:r>
              <a:rPr lang="en-US" sz="2200" dirty="0" smtClean="0"/>
              <a:t>When you define a service, you </a:t>
            </a:r>
            <a:r>
              <a:rPr lang="en-US" sz="2200" i="1" dirty="0" smtClean="0">
                <a:solidFill>
                  <a:srgbClr val="C00000"/>
                </a:solidFill>
              </a:rPr>
              <a:t>specify the operations</a:t>
            </a:r>
            <a:r>
              <a:rPr lang="en-US" sz="2200" dirty="0" smtClean="0"/>
              <a:t> that it supports by defining a service contract.</a:t>
            </a:r>
          </a:p>
          <a:p>
            <a:r>
              <a:rPr lang="en-US" sz="2200" dirty="0" smtClean="0"/>
              <a:t>The service contract describes each </a:t>
            </a:r>
            <a:r>
              <a:rPr lang="en-US" sz="2200" i="1" dirty="0" smtClean="0">
                <a:solidFill>
                  <a:srgbClr val="C00000"/>
                </a:solidFill>
              </a:rPr>
              <a:t>operation</a:t>
            </a:r>
            <a:r>
              <a:rPr lang="en-US" sz="2200" dirty="0" smtClean="0"/>
              <a:t>, together with its </a:t>
            </a:r>
            <a:r>
              <a:rPr lang="en-US" sz="2200" i="1" dirty="0" smtClean="0">
                <a:solidFill>
                  <a:srgbClr val="C00000"/>
                </a:solidFill>
              </a:rPr>
              <a:t>parameters</a:t>
            </a:r>
            <a:r>
              <a:rPr lang="en-US" sz="2200" dirty="0" smtClean="0"/>
              <a:t>, and any </a:t>
            </a:r>
            <a:r>
              <a:rPr lang="en-US" sz="2200" i="1" dirty="0" smtClean="0">
                <a:solidFill>
                  <a:srgbClr val="C00000"/>
                </a:solidFill>
              </a:rPr>
              <a:t>return types</a:t>
            </a:r>
            <a:r>
              <a:rPr lang="en-US" sz="2200" dirty="0" smtClean="0"/>
              <a:t>.</a:t>
            </a:r>
          </a:p>
          <a:p>
            <a:r>
              <a:rPr lang="en-US" sz="2200" dirty="0" smtClean="0"/>
              <a:t>A WCF service can </a:t>
            </a:r>
            <a:r>
              <a:rPr lang="en-US" sz="2200" i="1" dirty="0" smtClean="0">
                <a:solidFill>
                  <a:srgbClr val="C00000"/>
                </a:solidFill>
              </a:rPr>
              <a:t>publish</a:t>
            </a:r>
            <a:r>
              <a:rPr lang="en-US" sz="2200" dirty="0" smtClean="0"/>
              <a:t> its service contract definition, and a developer can use this information to build client applications that communicate with the service.</a:t>
            </a:r>
          </a:p>
          <a:p>
            <a:r>
              <a:rPr lang="en-US" sz="2200" dirty="0" smtClean="0"/>
              <a:t>A developer can </a:t>
            </a:r>
            <a:r>
              <a:rPr lang="en-US" sz="2200" i="1" dirty="0" smtClean="0">
                <a:solidFill>
                  <a:srgbClr val="C00000"/>
                </a:solidFill>
              </a:rPr>
              <a:t>generate a proxy class</a:t>
            </a:r>
            <a:r>
              <a:rPr lang="en-US" sz="2200" dirty="0" smtClean="0"/>
              <a:t> for the client application from the Web Services Description Language (WSDL) description of the service by using the Add Service Reference Wizard in Visual Studio or by using the </a:t>
            </a:r>
            <a:r>
              <a:rPr lang="en-US" sz="2200" dirty="0" err="1" smtClean="0"/>
              <a:t>svcutil</a:t>
            </a:r>
            <a:r>
              <a:rPr lang="en-US" sz="2200" dirty="0" smtClean="0"/>
              <a:t> utility from the command line, and then communicate with the service through this proxy.</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Service Contracts</a:t>
            </a:r>
            <a:endParaRPr lang="en-US" dirty="0"/>
          </a:p>
        </p:txBody>
      </p:sp>
      <p:sp>
        <p:nvSpPr>
          <p:cNvPr id="4" name="Rectangle 3"/>
          <p:cNvSpPr/>
          <p:nvPr/>
        </p:nvSpPr>
        <p:spPr>
          <a:xfrm>
            <a:off x="533400" y="1447800"/>
            <a:ext cx="8077200" cy="3477875"/>
          </a:xfrm>
          <a:prstGeom prst="rect">
            <a:avLst/>
          </a:prstGeom>
        </p:spPr>
        <p:txBody>
          <a:bodyPr wrap="square">
            <a:spAutoFit/>
          </a:bodyPr>
          <a:lstStyle/>
          <a:p>
            <a:r>
              <a:rPr lang="en-US" sz="2200" dirty="0" smtClean="0">
                <a:latin typeface="Consolas" pitchFamily="49" charset="0"/>
              </a:rPr>
              <a:t>using </a:t>
            </a:r>
            <a:r>
              <a:rPr lang="en-US" sz="2200" dirty="0" err="1" smtClean="0">
                <a:latin typeface="Consolas" pitchFamily="49" charset="0"/>
              </a:rPr>
              <a:t>System.ServiceModel</a:t>
            </a:r>
            <a:r>
              <a:rPr lang="en-US" sz="2200" dirty="0" smtClean="0">
                <a:latin typeface="Consolas" pitchFamily="49" charset="0"/>
              </a:rPr>
              <a:t>;</a:t>
            </a:r>
          </a:p>
          <a:p>
            <a:endParaRPr lang="en-US" sz="2200" i="1" dirty="0" smtClean="0">
              <a:latin typeface="Consolas" pitchFamily="49" charset="0"/>
            </a:endParaRPr>
          </a:p>
          <a:p>
            <a:r>
              <a:rPr lang="en-US" sz="2200" dirty="0" smtClean="0">
                <a:solidFill>
                  <a:srgbClr val="C00000"/>
                </a:solidFill>
                <a:latin typeface="Consolas" pitchFamily="49" charset="0"/>
              </a:rPr>
              <a:t>[</a:t>
            </a:r>
            <a:r>
              <a:rPr lang="en-US" sz="2200" dirty="0" err="1" smtClean="0">
                <a:solidFill>
                  <a:srgbClr val="C00000"/>
                </a:solidFill>
                <a:latin typeface="Consolas" pitchFamily="49" charset="0"/>
              </a:rPr>
              <a:t>ServiceContract</a:t>
            </a:r>
            <a:r>
              <a:rPr lang="en-US" sz="2200" dirty="0" smtClean="0">
                <a:solidFill>
                  <a:srgbClr val="C00000"/>
                </a:solidFill>
                <a:latin typeface="Consolas" pitchFamily="49" charset="0"/>
              </a:rPr>
              <a:t>]</a:t>
            </a:r>
          </a:p>
          <a:p>
            <a:r>
              <a:rPr lang="en-US" sz="2200" dirty="0" smtClean="0">
                <a:latin typeface="Consolas" pitchFamily="49" charset="0"/>
              </a:rPr>
              <a:t>public interface </a:t>
            </a:r>
            <a:r>
              <a:rPr lang="en-US" sz="2200" dirty="0" err="1" smtClean="0">
                <a:latin typeface="Consolas" pitchFamily="49" charset="0"/>
              </a:rPr>
              <a:t>ICalculate</a:t>
            </a:r>
            <a:endParaRPr lang="en-US" sz="2200" dirty="0" smtClean="0">
              <a:latin typeface="Consolas" pitchFamily="49" charset="0"/>
            </a:endParaRPr>
          </a:p>
          <a:p>
            <a:r>
              <a:rPr lang="en-US" sz="2200" dirty="0" smtClean="0">
                <a:latin typeface="Consolas" pitchFamily="49" charset="0"/>
              </a:rPr>
              <a:t>{</a:t>
            </a:r>
          </a:p>
          <a:p>
            <a:r>
              <a:rPr lang="en-US" sz="2200" dirty="0" smtClean="0">
                <a:latin typeface="Consolas" pitchFamily="49" charset="0"/>
              </a:rPr>
              <a:t>   </a:t>
            </a:r>
            <a:r>
              <a:rPr lang="en-US" sz="2200" dirty="0" smtClean="0">
                <a:solidFill>
                  <a:srgbClr val="C00000"/>
                </a:solidFill>
                <a:latin typeface="Consolas" pitchFamily="49" charset="0"/>
              </a:rPr>
              <a:t>[</a:t>
            </a:r>
            <a:r>
              <a:rPr lang="en-US" sz="2200" dirty="0" err="1" smtClean="0">
                <a:solidFill>
                  <a:srgbClr val="C00000"/>
                </a:solidFill>
                <a:latin typeface="Consolas" pitchFamily="49" charset="0"/>
              </a:rPr>
              <a:t>OperationContract</a:t>
            </a:r>
            <a:r>
              <a:rPr lang="en-US" sz="2200" dirty="0" smtClean="0">
                <a:solidFill>
                  <a:srgbClr val="C00000"/>
                </a:solidFill>
                <a:latin typeface="Consolas" pitchFamily="49" charset="0"/>
              </a:rPr>
              <a:t>]</a:t>
            </a:r>
          </a:p>
          <a:p>
            <a:r>
              <a:rPr lang="en-US" sz="2200" dirty="0" smtClean="0">
                <a:latin typeface="Consolas" pitchFamily="49" charset="0"/>
              </a:rPr>
              <a:t>   double Add(double a, double b);</a:t>
            </a:r>
          </a:p>
          <a:p>
            <a:r>
              <a:rPr lang="en-US" sz="2200" dirty="0" smtClean="0">
                <a:latin typeface="Consolas" pitchFamily="49" charset="0"/>
              </a:rPr>
              <a:t>   </a:t>
            </a:r>
            <a:r>
              <a:rPr lang="en-US" sz="2200" dirty="0" smtClean="0">
                <a:solidFill>
                  <a:srgbClr val="C00000"/>
                </a:solidFill>
                <a:latin typeface="Consolas" pitchFamily="49" charset="0"/>
              </a:rPr>
              <a:t>[</a:t>
            </a:r>
            <a:r>
              <a:rPr lang="en-US" sz="2200" dirty="0" err="1" smtClean="0">
                <a:solidFill>
                  <a:srgbClr val="C00000"/>
                </a:solidFill>
                <a:latin typeface="Consolas" pitchFamily="49" charset="0"/>
              </a:rPr>
              <a:t>OperationContract</a:t>
            </a:r>
            <a:r>
              <a:rPr lang="en-US" sz="2200" dirty="0" smtClean="0">
                <a:solidFill>
                  <a:srgbClr val="C00000"/>
                </a:solidFill>
                <a:latin typeface="Consolas" pitchFamily="49" charset="0"/>
              </a:rPr>
              <a:t>]</a:t>
            </a:r>
          </a:p>
          <a:p>
            <a:r>
              <a:rPr lang="en-US" sz="2200" dirty="0" smtClean="0">
                <a:latin typeface="Consolas" pitchFamily="49" charset="0"/>
              </a:rPr>
              <a:t>   double Subtract(double a, double b);</a:t>
            </a:r>
          </a:p>
          <a:p>
            <a:r>
              <a:rPr lang="en-US" sz="2200" dirty="0" smtClean="0">
                <a:latin typeface="Consolas" pitchFamily="49" charset="0"/>
              </a:rPr>
              <a:t>}</a:t>
            </a:r>
            <a:endParaRPr lang="en-US" sz="2200" dirty="0">
              <a:latin typeface="Consolas" pitchFamily="49" charset="0"/>
            </a:endParaRPr>
          </a:p>
        </p:txBody>
      </p:sp>
      <p:sp>
        <p:nvSpPr>
          <p:cNvPr id="5" name="Rectangle 4"/>
          <p:cNvSpPr/>
          <p:nvPr/>
        </p:nvSpPr>
        <p:spPr>
          <a:xfrm>
            <a:off x="1066800" y="5029200"/>
            <a:ext cx="7620000" cy="1200329"/>
          </a:xfrm>
          <a:prstGeom prst="rect">
            <a:avLst/>
          </a:prstGeom>
          <a:solidFill>
            <a:schemeClr val="accent3"/>
          </a:solidFill>
        </p:spPr>
        <p:txBody>
          <a:bodyPr wrap="square">
            <a:spAutoFit/>
          </a:bodyPr>
          <a:lstStyle/>
          <a:p>
            <a:pPr marL="457200" indent="-457200">
              <a:buFont typeface="Arial" pitchFamily="34" charset="0"/>
              <a:buChar char="•"/>
            </a:pPr>
            <a:r>
              <a:rPr lang="en-US" sz="2400" i="1" dirty="0" smtClean="0">
                <a:solidFill>
                  <a:schemeClr val="bg1"/>
                </a:solidFill>
                <a:latin typeface="+mj-lt"/>
              </a:rPr>
              <a:t>The </a:t>
            </a:r>
            <a:r>
              <a:rPr lang="en-US" sz="2400" i="1" dirty="0" err="1" smtClean="0">
                <a:solidFill>
                  <a:schemeClr val="bg1"/>
                </a:solidFill>
                <a:latin typeface="+mj-lt"/>
              </a:rPr>
              <a:t>ServiceContract</a:t>
            </a:r>
            <a:r>
              <a:rPr lang="en-US" sz="2400" i="1" dirty="0" smtClean="0">
                <a:solidFill>
                  <a:schemeClr val="bg1"/>
                </a:solidFill>
                <a:latin typeface="+mj-lt"/>
              </a:rPr>
              <a:t> defines the interface which will have the members which are available to outside.</a:t>
            </a:r>
          </a:p>
          <a:p>
            <a:pPr marL="457200" indent="-457200">
              <a:buFont typeface="Arial" pitchFamily="34" charset="0"/>
              <a:buChar char="•"/>
            </a:pPr>
            <a:r>
              <a:rPr lang="en-US" sz="2400" i="1" dirty="0" smtClean="0">
                <a:solidFill>
                  <a:schemeClr val="bg1"/>
                </a:solidFill>
                <a:latin typeface="+mj-lt"/>
              </a:rPr>
              <a:t>The </a:t>
            </a:r>
            <a:r>
              <a:rPr lang="en-US" sz="2400" i="1" dirty="0" err="1" smtClean="0">
                <a:solidFill>
                  <a:schemeClr val="bg1"/>
                </a:solidFill>
                <a:latin typeface="+mj-lt"/>
              </a:rPr>
              <a:t>OperationContract</a:t>
            </a:r>
            <a:r>
              <a:rPr lang="en-US" sz="2400" i="1" dirty="0" smtClean="0">
                <a:solidFill>
                  <a:schemeClr val="bg1"/>
                </a:solidFill>
                <a:latin typeface="+mj-lt"/>
              </a:rPr>
              <a:t> identifies the exposed members.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Contracts</a:t>
            </a:r>
            <a:endParaRPr lang="en-US" dirty="0"/>
          </a:p>
        </p:txBody>
      </p:sp>
      <p:sp>
        <p:nvSpPr>
          <p:cNvPr id="3" name="Content Placeholder 2"/>
          <p:cNvSpPr>
            <a:spLocks noGrp="1"/>
          </p:cNvSpPr>
          <p:nvPr>
            <p:ph idx="1"/>
          </p:nvPr>
        </p:nvSpPr>
        <p:spPr/>
        <p:txBody>
          <a:bodyPr/>
          <a:lstStyle/>
          <a:p>
            <a:r>
              <a:rPr lang="en-US" sz="2000" dirty="0" smtClean="0"/>
              <a:t>The operations in a service contract can take parameters and return values. Client applications must </a:t>
            </a:r>
            <a:r>
              <a:rPr lang="en-US" sz="2000" i="1" dirty="0" smtClean="0">
                <a:solidFill>
                  <a:srgbClr val="C00000"/>
                </a:solidFill>
              </a:rPr>
              <a:t>provide data</a:t>
            </a:r>
            <a:r>
              <a:rPr lang="en-US" sz="2000" dirty="0" smtClean="0"/>
              <a:t> formatted in a manner that </a:t>
            </a:r>
            <a:r>
              <a:rPr lang="en-US" sz="2000" u="sng" dirty="0" smtClean="0"/>
              <a:t>the service expects</a:t>
            </a:r>
            <a:r>
              <a:rPr lang="en-US" sz="2000" dirty="0" smtClean="0"/>
              <a:t>.</a:t>
            </a:r>
          </a:p>
          <a:p>
            <a:r>
              <a:rPr lang="en-US" sz="2000" dirty="0" smtClean="0"/>
              <a:t>Many of the </a:t>
            </a:r>
            <a:r>
              <a:rPr lang="en-US" sz="2000" i="1" dirty="0" smtClean="0">
                <a:solidFill>
                  <a:srgbClr val="C00000"/>
                </a:solidFill>
              </a:rPr>
              <a:t>primitive types</a:t>
            </a:r>
            <a:r>
              <a:rPr lang="en-US" sz="2000" dirty="0" smtClean="0"/>
              <a:t> in the .NET Framework have pre-defined formats, but more </a:t>
            </a:r>
            <a:r>
              <a:rPr lang="en-US" sz="2000" i="1" dirty="0" smtClean="0">
                <a:solidFill>
                  <a:srgbClr val="C00000"/>
                </a:solidFill>
              </a:rPr>
              <a:t>complex data types, such as classes, structures, and enumerations</a:t>
            </a:r>
            <a:r>
              <a:rPr lang="en-US" sz="2000" dirty="0" smtClean="0"/>
              <a:t> require the service to specify how client applications should package this information in messages that it sends to the service and the format for any information sent by the service back to client applications.</a:t>
            </a:r>
          </a:p>
          <a:p>
            <a:r>
              <a:rPr lang="en-US" sz="2000" dirty="0" smtClean="0"/>
              <a:t>You encapsulate complex data types in </a:t>
            </a:r>
            <a:r>
              <a:rPr lang="en-US" sz="2000" i="1" dirty="0" smtClean="0">
                <a:solidFill>
                  <a:srgbClr val="C00000"/>
                </a:solidFill>
              </a:rPr>
              <a:t>data contracts.</a:t>
            </a:r>
            <a:r>
              <a:rPr lang="en-US" sz="2000" dirty="0" smtClean="0"/>
              <a:t> Each complex data type used by a service should have a corresponding data contract. </a:t>
            </a:r>
          </a:p>
          <a:p>
            <a:r>
              <a:rPr lang="en-US" sz="2000" dirty="0" smtClean="0"/>
              <a:t>The service </a:t>
            </a:r>
            <a:r>
              <a:rPr lang="en-US" sz="2000" i="1" dirty="0" smtClean="0">
                <a:solidFill>
                  <a:srgbClr val="C00000"/>
                </a:solidFill>
              </a:rPr>
              <a:t>publishes</a:t>
            </a:r>
            <a:r>
              <a:rPr lang="en-US" sz="2000" dirty="0" smtClean="0"/>
              <a:t> this information together with the service contract, and the definitions of each complex type are included in the proxy code generated by the </a:t>
            </a:r>
            <a:r>
              <a:rPr lang="en-US" sz="2000" dirty="0" err="1" smtClean="0"/>
              <a:t>svcutil</a:t>
            </a:r>
            <a:r>
              <a:rPr lang="en-US" sz="2000" dirty="0" smtClean="0"/>
              <a:t> utility or the Add Service Reference Wizard in Visual Studio.</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Defining Data Contracts</a:t>
            </a:r>
            <a:endParaRPr lang="en-US" dirty="0"/>
          </a:p>
        </p:txBody>
      </p:sp>
      <p:sp>
        <p:nvSpPr>
          <p:cNvPr id="3" name="Content Placeholder 2"/>
          <p:cNvSpPr>
            <a:spLocks noGrp="1"/>
          </p:cNvSpPr>
          <p:nvPr>
            <p:ph idx="1"/>
          </p:nvPr>
        </p:nvSpPr>
        <p:spPr/>
        <p:txBody>
          <a:bodyPr/>
          <a:lstStyle/>
          <a:p>
            <a:r>
              <a:rPr lang="en-US" dirty="0" smtClean="0"/>
              <a:t>You want to use complex types as arguments</a:t>
            </a:r>
            <a:endParaRPr lang="en-US" dirty="0"/>
          </a:p>
        </p:txBody>
      </p:sp>
      <p:sp>
        <p:nvSpPr>
          <p:cNvPr id="4" name="Rectangle 3"/>
          <p:cNvSpPr/>
          <p:nvPr/>
        </p:nvSpPr>
        <p:spPr>
          <a:xfrm>
            <a:off x="533400" y="2133600"/>
            <a:ext cx="8458200" cy="4401205"/>
          </a:xfrm>
          <a:prstGeom prst="rect">
            <a:avLst/>
          </a:prstGeom>
        </p:spPr>
        <p:txBody>
          <a:bodyPr wrap="square">
            <a:spAutoFit/>
          </a:bodyPr>
          <a:lstStyle/>
          <a:p>
            <a:r>
              <a:rPr lang="en-US" sz="2000" b="1" dirty="0" smtClean="0">
                <a:solidFill>
                  <a:srgbClr val="C00000"/>
                </a:solidFill>
                <a:latin typeface="Consolas" pitchFamily="49" charset="0"/>
              </a:rPr>
              <a:t>[</a:t>
            </a:r>
            <a:r>
              <a:rPr lang="en-US" sz="2000" b="1" dirty="0" err="1" smtClean="0">
                <a:solidFill>
                  <a:srgbClr val="C00000"/>
                </a:solidFill>
                <a:latin typeface="Consolas" pitchFamily="49" charset="0"/>
              </a:rPr>
              <a:t>DataContract</a:t>
            </a:r>
            <a:r>
              <a:rPr lang="en-US" sz="2000" b="1" dirty="0" smtClean="0">
                <a:solidFill>
                  <a:srgbClr val="C00000"/>
                </a:solidFill>
                <a:latin typeface="Consolas" pitchFamily="49" charset="0"/>
              </a:rPr>
              <a:t>]</a:t>
            </a:r>
          </a:p>
          <a:p>
            <a:r>
              <a:rPr lang="en-US" sz="2000" dirty="0" smtClean="0">
                <a:latin typeface="Consolas" pitchFamily="49" charset="0"/>
              </a:rPr>
              <a:t>public class Person</a:t>
            </a:r>
          </a:p>
          <a:p>
            <a:r>
              <a:rPr lang="en-US" sz="2000" dirty="0" smtClean="0">
                <a:latin typeface="Consolas" pitchFamily="49" charset="0"/>
              </a:rPr>
              <a:t>{</a:t>
            </a:r>
          </a:p>
          <a:p>
            <a:r>
              <a:rPr lang="en-US" sz="2000" dirty="0" smtClean="0">
                <a:latin typeface="Consolas" pitchFamily="49" charset="0"/>
              </a:rPr>
              <a:t>   </a:t>
            </a:r>
            <a:r>
              <a:rPr lang="en-US" sz="2000" b="1" dirty="0" smtClean="0">
                <a:solidFill>
                  <a:srgbClr val="C00000"/>
                </a:solidFill>
                <a:latin typeface="Consolas" pitchFamily="49" charset="0"/>
              </a:rPr>
              <a:t>[</a:t>
            </a:r>
            <a:r>
              <a:rPr lang="en-US" sz="2000" b="1" dirty="0" err="1" smtClean="0">
                <a:solidFill>
                  <a:srgbClr val="C00000"/>
                </a:solidFill>
                <a:latin typeface="Consolas" pitchFamily="49" charset="0"/>
              </a:rPr>
              <a:t>DataMember</a:t>
            </a:r>
            <a:r>
              <a:rPr lang="en-US" sz="2000" b="1" dirty="0" smtClean="0">
                <a:solidFill>
                  <a:srgbClr val="C00000"/>
                </a:solidFill>
                <a:latin typeface="Consolas" pitchFamily="49" charset="0"/>
              </a:rPr>
              <a:t>]</a:t>
            </a:r>
          </a:p>
          <a:p>
            <a:r>
              <a:rPr lang="en-US" sz="2000" dirty="0" smtClean="0">
                <a:latin typeface="Consolas" pitchFamily="49" charset="0"/>
              </a:rPr>
              <a:t>   public </a:t>
            </a:r>
            <a:r>
              <a:rPr lang="en-US" sz="2000" dirty="0" err="1" smtClean="0">
                <a:latin typeface="Consolas" pitchFamily="49" charset="0"/>
              </a:rPr>
              <a:t>int</a:t>
            </a:r>
            <a:r>
              <a:rPr lang="en-US" sz="2000" dirty="0" smtClean="0">
                <a:latin typeface="Consolas" pitchFamily="49" charset="0"/>
              </a:rPr>
              <a:t> Id;</a:t>
            </a:r>
          </a:p>
          <a:p>
            <a:r>
              <a:rPr lang="en-US" sz="2000" dirty="0" smtClean="0">
                <a:latin typeface="Consolas" pitchFamily="49" charset="0"/>
              </a:rPr>
              <a:t>   [</a:t>
            </a:r>
            <a:r>
              <a:rPr lang="en-US" sz="2000" dirty="0" err="1" smtClean="0">
                <a:latin typeface="Consolas" pitchFamily="49" charset="0"/>
              </a:rPr>
              <a:t>DataMember</a:t>
            </a:r>
            <a:r>
              <a:rPr lang="en-US" sz="2000" dirty="0" smtClean="0">
                <a:latin typeface="Consolas" pitchFamily="49" charset="0"/>
              </a:rPr>
              <a:t>]</a:t>
            </a:r>
          </a:p>
          <a:p>
            <a:r>
              <a:rPr lang="en-US" sz="2000" dirty="0" smtClean="0">
                <a:latin typeface="Consolas" pitchFamily="49" charset="0"/>
              </a:rPr>
              <a:t>   public string </a:t>
            </a:r>
            <a:r>
              <a:rPr lang="en-US" sz="2000" dirty="0" err="1" smtClean="0">
                <a:latin typeface="Consolas" pitchFamily="49" charset="0"/>
              </a:rPr>
              <a:t>FirstName</a:t>
            </a:r>
            <a:r>
              <a:rPr lang="en-US" sz="2000" dirty="0" smtClean="0">
                <a:latin typeface="Consolas" pitchFamily="49" charset="0"/>
              </a:rPr>
              <a:t>;</a:t>
            </a:r>
          </a:p>
          <a:p>
            <a:r>
              <a:rPr lang="en-US" sz="2000" dirty="0" smtClean="0">
                <a:latin typeface="Consolas" pitchFamily="49" charset="0"/>
              </a:rPr>
              <a:t>   [</a:t>
            </a:r>
            <a:r>
              <a:rPr lang="en-US" sz="2000" dirty="0" err="1" smtClean="0">
                <a:latin typeface="Consolas" pitchFamily="49" charset="0"/>
              </a:rPr>
              <a:t>DataMember</a:t>
            </a:r>
            <a:r>
              <a:rPr lang="en-US" sz="2000" dirty="0" smtClean="0">
                <a:latin typeface="Consolas" pitchFamily="49" charset="0"/>
              </a:rPr>
              <a:t>]</a:t>
            </a:r>
          </a:p>
          <a:p>
            <a:r>
              <a:rPr lang="en-US" sz="2000" dirty="0" smtClean="0">
                <a:latin typeface="Consolas" pitchFamily="49" charset="0"/>
              </a:rPr>
              <a:t>   public string </a:t>
            </a:r>
            <a:r>
              <a:rPr lang="en-US" sz="2000" dirty="0" err="1" smtClean="0">
                <a:latin typeface="Consolas" pitchFamily="49" charset="0"/>
              </a:rPr>
              <a:t>LastName</a:t>
            </a:r>
            <a:r>
              <a:rPr lang="en-US" sz="2000" dirty="0" smtClean="0">
                <a:latin typeface="Consolas" pitchFamily="49" charset="0"/>
              </a:rPr>
              <a:t>;</a:t>
            </a:r>
          </a:p>
          <a:p>
            <a:r>
              <a:rPr lang="en-US" sz="2000" dirty="0" smtClean="0">
                <a:latin typeface="Consolas" pitchFamily="49" charset="0"/>
              </a:rPr>
              <a:t>   [</a:t>
            </a:r>
            <a:r>
              <a:rPr lang="en-US" sz="2000" dirty="0" err="1" smtClean="0">
                <a:latin typeface="Consolas" pitchFamily="49" charset="0"/>
              </a:rPr>
              <a:t>DataMember</a:t>
            </a:r>
            <a:r>
              <a:rPr lang="en-US" sz="2000" dirty="0" smtClean="0">
                <a:latin typeface="Consolas" pitchFamily="49" charset="0"/>
              </a:rPr>
              <a:t>(</a:t>
            </a:r>
            <a:r>
              <a:rPr lang="en-US" sz="2000" dirty="0" err="1" smtClean="0">
                <a:latin typeface="Consolas" pitchFamily="49" charset="0"/>
              </a:rPr>
              <a:t>IsOptional</a:t>
            </a:r>
            <a:r>
              <a:rPr lang="en-US" sz="2000" dirty="0" smtClean="0">
                <a:latin typeface="Consolas" pitchFamily="49" charset="0"/>
              </a:rPr>
              <a:t> = true, </a:t>
            </a:r>
            <a:r>
              <a:rPr lang="en-US" sz="2000" dirty="0" err="1" smtClean="0">
                <a:latin typeface="Consolas" pitchFamily="49" charset="0"/>
              </a:rPr>
              <a:t>VersionAdded</a:t>
            </a:r>
            <a:r>
              <a:rPr lang="en-US" sz="2000" dirty="0" smtClean="0">
                <a:latin typeface="Consolas" pitchFamily="49" charset="0"/>
              </a:rPr>
              <a:t> = 2)]</a:t>
            </a:r>
          </a:p>
          <a:p>
            <a:r>
              <a:rPr lang="en-US" sz="2000" dirty="0" smtClean="0">
                <a:latin typeface="Consolas" pitchFamily="49" charset="0"/>
              </a:rPr>
              <a:t>   public string </a:t>
            </a:r>
            <a:r>
              <a:rPr lang="en-US" sz="2000" dirty="0" err="1" smtClean="0">
                <a:latin typeface="Consolas" pitchFamily="49" charset="0"/>
              </a:rPr>
              <a:t>MiddleName</a:t>
            </a:r>
            <a:r>
              <a:rPr lang="en-US" sz="2000" dirty="0" smtClean="0">
                <a:latin typeface="Consolas" pitchFamily="49" charset="0"/>
              </a:rPr>
              <a:t>;</a:t>
            </a:r>
          </a:p>
          <a:p>
            <a:r>
              <a:rPr lang="en-US" sz="2000" dirty="0" smtClean="0">
                <a:latin typeface="Consolas" pitchFamily="49" charset="0"/>
              </a:rPr>
              <a:t>   [</a:t>
            </a:r>
            <a:r>
              <a:rPr lang="en-US" sz="2000" dirty="0" err="1" smtClean="0">
                <a:latin typeface="Consolas" pitchFamily="49" charset="0"/>
              </a:rPr>
              <a:t>DataMember</a:t>
            </a:r>
            <a:r>
              <a:rPr lang="en-US" sz="2000" dirty="0" smtClean="0">
                <a:latin typeface="Consolas" pitchFamily="49" charset="0"/>
              </a:rPr>
              <a:t>(</a:t>
            </a:r>
            <a:r>
              <a:rPr lang="en-US" sz="2000" dirty="0" err="1" smtClean="0">
                <a:latin typeface="Consolas" pitchFamily="49" charset="0"/>
              </a:rPr>
              <a:t>MustUnderstand</a:t>
            </a:r>
            <a:r>
              <a:rPr lang="en-US" sz="2000" dirty="0" smtClean="0">
                <a:latin typeface="Consolas" pitchFamily="49" charset="0"/>
              </a:rPr>
              <a:t> = true, </a:t>
            </a:r>
            <a:r>
              <a:rPr lang="en-US" sz="2000" dirty="0" err="1" smtClean="0">
                <a:latin typeface="Consolas" pitchFamily="49" charset="0"/>
              </a:rPr>
              <a:t>VersionAdded</a:t>
            </a:r>
            <a:r>
              <a:rPr lang="en-US" sz="2000" dirty="0" smtClean="0">
                <a:latin typeface="Consolas" pitchFamily="49" charset="0"/>
              </a:rPr>
              <a:t> = 3)]</a:t>
            </a:r>
          </a:p>
          <a:p>
            <a:r>
              <a:rPr lang="en-US" sz="2000" dirty="0" smtClean="0">
                <a:latin typeface="Consolas" pitchFamily="49" charset="0"/>
              </a:rPr>
              <a:t>   public </a:t>
            </a:r>
            <a:r>
              <a:rPr lang="en-US" sz="2000" dirty="0" err="1" smtClean="0">
                <a:latin typeface="Consolas" pitchFamily="49" charset="0"/>
              </a:rPr>
              <a:t>DateTime</a:t>
            </a:r>
            <a:r>
              <a:rPr lang="en-US" sz="2000" dirty="0" smtClean="0">
                <a:latin typeface="Consolas" pitchFamily="49" charset="0"/>
              </a:rPr>
              <a:t> </a:t>
            </a:r>
            <a:r>
              <a:rPr lang="en-US" sz="2000" dirty="0" err="1" smtClean="0">
                <a:latin typeface="Consolas" pitchFamily="49" charset="0"/>
              </a:rPr>
              <a:t>DateOfBirth</a:t>
            </a:r>
            <a:r>
              <a:rPr lang="en-US" sz="2000" dirty="0" smtClean="0">
                <a:latin typeface="Consolas" pitchFamily="49" charset="0"/>
              </a:rPr>
              <a:t>;</a:t>
            </a:r>
          </a:p>
          <a:p>
            <a:r>
              <a:rPr lang="en-US" sz="2000" dirty="0" smtClean="0">
                <a:latin typeface="Consolas" pitchFamily="49" charset="0"/>
              </a:rPr>
              <a:t>}</a:t>
            </a:r>
            <a:endParaRPr lang="en-US" sz="2000" dirty="0">
              <a:latin typeface="Consolas" pitchFamily="49" charset="0"/>
            </a:endParaRPr>
          </a:p>
        </p:txBody>
      </p:sp>
      <p:sp>
        <p:nvSpPr>
          <p:cNvPr id="5" name="Rectangle 4"/>
          <p:cNvSpPr/>
          <p:nvPr/>
        </p:nvSpPr>
        <p:spPr>
          <a:xfrm>
            <a:off x="3733800" y="2286000"/>
            <a:ext cx="5105400" cy="1200329"/>
          </a:xfrm>
          <a:prstGeom prst="rect">
            <a:avLst/>
          </a:prstGeom>
          <a:solidFill>
            <a:schemeClr val="accent3"/>
          </a:solidFill>
        </p:spPr>
        <p:txBody>
          <a:bodyPr wrap="square">
            <a:spAutoFit/>
          </a:bodyPr>
          <a:lstStyle/>
          <a:p>
            <a:r>
              <a:rPr lang="en-US" sz="2400" i="1" dirty="0" err="1" smtClean="0">
                <a:solidFill>
                  <a:schemeClr val="bg1"/>
                </a:solidFill>
                <a:latin typeface="+mj-lt"/>
              </a:rPr>
              <a:t>DataContract</a:t>
            </a:r>
            <a:r>
              <a:rPr lang="en-US" sz="2400" i="1" dirty="0" smtClean="0">
                <a:solidFill>
                  <a:schemeClr val="bg1"/>
                </a:solidFill>
                <a:latin typeface="+mj-lt"/>
              </a:rPr>
              <a:t> will send the whole object at a time while </a:t>
            </a:r>
            <a:r>
              <a:rPr lang="en-US" sz="2400" i="1" dirty="0" err="1" smtClean="0">
                <a:solidFill>
                  <a:schemeClr val="bg1"/>
                </a:solidFill>
                <a:latin typeface="+mj-lt"/>
              </a:rPr>
              <a:t>MessageContract</a:t>
            </a:r>
            <a:r>
              <a:rPr lang="en-US" sz="2400" i="1" dirty="0" smtClean="0">
                <a:solidFill>
                  <a:schemeClr val="bg1"/>
                </a:solidFill>
                <a:latin typeface="+mj-lt"/>
              </a:rPr>
              <a:t> sends them into small Messages.</a:t>
            </a:r>
            <a:endParaRPr lang="en-US" sz="2400" i="1" dirty="0">
              <a:solidFill>
                <a:schemeClr val="bg1"/>
              </a:solidFill>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Services</a:t>
            </a:r>
            <a:endParaRPr lang="en-US" dirty="0"/>
          </a:p>
        </p:txBody>
      </p:sp>
      <p:sp>
        <p:nvSpPr>
          <p:cNvPr id="4" name="Rectangle 3"/>
          <p:cNvSpPr/>
          <p:nvPr/>
        </p:nvSpPr>
        <p:spPr>
          <a:xfrm>
            <a:off x="457200" y="2550616"/>
            <a:ext cx="8229600" cy="3816429"/>
          </a:xfrm>
          <a:prstGeom prst="rect">
            <a:avLst/>
          </a:prstGeom>
        </p:spPr>
        <p:txBody>
          <a:bodyPr wrap="square">
            <a:spAutoFit/>
          </a:bodyPr>
          <a:lstStyle/>
          <a:p>
            <a:r>
              <a:rPr lang="en-US" sz="2200" b="1" dirty="0" smtClean="0">
                <a:solidFill>
                  <a:srgbClr val="C00000"/>
                </a:solidFill>
                <a:latin typeface="Consolas" pitchFamily="49" charset="0"/>
              </a:rPr>
              <a:t>[</a:t>
            </a:r>
            <a:r>
              <a:rPr lang="en-US" sz="2200" b="1" dirty="0" err="1" smtClean="0">
                <a:solidFill>
                  <a:srgbClr val="C00000"/>
                </a:solidFill>
                <a:latin typeface="Consolas" pitchFamily="49" charset="0"/>
              </a:rPr>
              <a:t>ServiceBehavior</a:t>
            </a:r>
            <a:r>
              <a:rPr lang="en-US" sz="2200" b="1" dirty="0" smtClean="0">
                <a:solidFill>
                  <a:srgbClr val="C00000"/>
                </a:solidFill>
                <a:latin typeface="Consolas" pitchFamily="49" charset="0"/>
              </a:rPr>
              <a:t>(</a:t>
            </a:r>
            <a:r>
              <a:rPr lang="en-US" sz="2200" b="1" dirty="0" err="1" smtClean="0">
                <a:solidFill>
                  <a:srgbClr val="C00000"/>
                </a:solidFill>
                <a:latin typeface="Consolas" pitchFamily="49" charset="0"/>
              </a:rPr>
              <a:t>ValidateMustUnderstand</a:t>
            </a:r>
            <a:r>
              <a:rPr lang="en-US" sz="2200" b="1" dirty="0" smtClean="0">
                <a:solidFill>
                  <a:srgbClr val="C00000"/>
                </a:solidFill>
                <a:latin typeface="Consolas" pitchFamily="49" charset="0"/>
              </a:rPr>
              <a:t> = true)]</a:t>
            </a:r>
          </a:p>
          <a:p>
            <a:r>
              <a:rPr lang="en-US" sz="2200" dirty="0" smtClean="0">
                <a:latin typeface="Consolas" pitchFamily="49" charset="0"/>
              </a:rPr>
              <a:t>public class Calculate : </a:t>
            </a:r>
            <a:r>
              <a:rPr lang="en-US" sz="2200" dirty="0" err="1" smtClean="0">
                <a:latin typeface="Consolas" pitchFamily="49" charset="0"/>
              </a:rPr>
              <a:t>ICalculate</a:t>
            </a:r>
            <a:endParaRPr lang="en-US" sz="2200" dirty="0" smtClean="0">
              <a:latin typeface="Consolas" pitchFamily="49" charset="0"/>
            </a:endParaRPr>
          </a:p>
          <a:p>
            <a:r>
              <a:rPr lang="en-US" sz="2200" dirty="0" smtClean="0">
                <a:latin typeface="Consolas" pitchFamily="49" charset="0"/>
              </a:rPr>
              <a:t>{</a:t>
            </a:r>
          </a:p>
          <a:p>
            <a:r>
              <a:rPr lang="en-US" sz="2200" dirty="0" smtClean="0">
                <a:latin typeface="Consolas" pitchFamily="49" charset="0"/>
              </a:rPr>
              <a:t>   [</a:t>
            </a:r>
            <a:r>
              <a:rPr lang="en-US" sz="2200" dirty="0" err="1" smtClean="0">
                <a:latin typeface="Consolas" pitchFamily="49" charset="0"/>
              </a:rPr>
              <a:t>OperationBehavior</a:t>
            </a:r>
            <a:r>
              <a:rPr lang="en-US" sz="2200" dirty="0" smtClean="0">
                <a:latin typeface="Consolas" pitchFamily="49" charset="0"/>
              </a:rPr>
              <a:t>(</a:t>
            </a:r>
          </a:p>
          <a:p>
            <a:r>
              <a:rPr lang="en-US" sz="2200" dirty="0" smtClean="0">
                <a:latin typeface="Consolas" pitchFamily="49" charset="0"/>
              </a:rPr>
              <a:t>	</a:t>
            </a:r>
            <a:r>
              <a:rPr lang="en-US" sz="2200" dirty="0" err="1" smtClean="0">
                <a:latin typeface="Consolas" pitchFamily="49" charset="0"/>
              </a:rPr>
              <a:t>AutoEnlistTransaction</a:t>
            </a:r>
            <a:r>
              <a:rPr lang="en-US" sz="2200" dirty="0" smtClean="0">
                <a:latin typeface="Consolas" pitchFamily="49" charset="0"/>
              </a:rPr>
              <a:t> = true,</a:t>
            </a:r>
          </a:p>
          <a:p>
            <a:r>
              <a:rPr lang="en-US" sz="2200" dirty="0" smtClean="0">
                <a:latin typeface="Consolas" pitchFamily="49" charset="0"/>
              </a:rPr>
              <a:t>	</a:t>
            </a:r>
            <a:r>
              <a:rPr lang="en-US" sz="2200" dirty="0" err="1" smtClean="0">
                <a:latin typeface="Consolas" pitchFamily="49" charset="0"/>
              </a:rPr>
              <a:t>AutoCompleteTransaction</a:t>
            </a:r>
            <a:r>
              <a:rPr lang="en-US" sz="2200" dirty="0" smtClean="0">
                <a:latin typeface="Consolas" pitchFamily="49" charset="0"/>
              </a:rPr>
              <a:t>  = true,</a:t>
            </a:r>
          </a:p>
          <a:p>
            <a:r>
              <a:rPr lang="en-US" sz="2200" dirty="0" smtClean="0">
                <a:latin typeface="Consolas" pitchFamily="49" charset="0"/>
              </a:rPr>
              <a:t>	</a:t>
            </a:r>
            <a:r>
              <a:rPr lang="en-US" sz="2200" dirty="0" err="1" smtClean="0">
                <a:latin typeface="Consolas" pitchFamily="49" charset="0"/>
              </a:rPr>
              <a:t>ReleaseInstance</a:t>
            </a:r>
            <a:r>
              <a:rPr lang="en-US" sz="2200" dirty="0" smtClean="0">
                <a:latin typeface="Consolas" pitchFamily="49" charset="0"/>
              </a:rPr>
              <a:t>=</a:t>
            </a:r>
            <a:r>
              <a:rPr lang="en-US" sz="2200" dirty="0" err="1" smtClean="0">
                <a:latin typeface="Consolas" pitchFamily="49" charset="0"/>
              </a:rPr>
              <a:t>ReleaseInstanceMode.BeforeAndAfterCall</a:t>
            </a:r>
            <a:r>
              <a:rPr lang="en-US" sz="2200" dirty="0" smtClean="0">
                <a:latin typeface="Consolas" pitchFamily="49" charset="0"/>
              </a:rPr>
              <a:t>)]</a:t>
            </a:r>
          </a:p>
          <a:p>
            <a:r>
              <a:rPr lang="en-US" sz="2200" dirty="0" smtClean="0">
                <a:latin typeface="Consolas" pitchFamily="49" charset="0"/>
              </a:rPr>
              <a:t>   public double Subtract(double a, double b)</a:t>
            </a:r>
          </a:p>
          <a:p>
            <a:r>
              <a:rPr lang="en-US" sz="2200" dirty="0" smtClean="0">
                <a:latin typeface="Consolas" pitchFamily="49" charset="0"/>
              </a:rPr>
              <a:t>   { return a - b; }</a:t>
            </a:r>
          </a:p>
          <a:p>
            <a:r>
              <a:rPr lang="en-US" sz="2200" dirty="0" smtClean="0">
                <a:latin typeface="Consolas" pitchFamily="49" charset="0"/>
              </a:rPr>
              <a:t>}</a:t>
            </a:r>
            <a:endParaRPr lang="en-US" sz="2200" dirty="0">
              <a:latin typeface="Consolas" pitchFamily="49" charset="0"/>
            </a:endParaRPr>
          </a:p>
        </p:txBody>
      </p:sp>
      <p:sp>
        <p:nvSpPr>
          <p:cNvPr id="5" name="Rectangle 4"/>
          <p:cNvSpPr/>
          <p:nvPr/>
        </p:nvSpPr>
        <p:spPr>
          <a:xfrm>
            <a:off x="304800" y="1295400"/>
            <a:ext cx="8382000" cy="1107996"/>
          </a:xfrm>
          <a:prstGeom prst="rect">
            <a:avLst/>
          </a:prstGeom>
        </p:spPr>
        <p:txBody>
          <a:bodyPr wrap="square">
            <a:spAutoFit/>
          </a:bodyPr>
          <a:lstStyle/>
          <a:p>
            <a:pPr algn="just">
              <a:buNone/>
            </a:pPr>
            <a:r>
              <a:rPr lang="en-US" sz="2200" dirty="0" smtClean="0">
                <a:latin typeface="+mj-lt"/>
              </a:rPr>
              <a:t>To implement a service you implement predefined service contract interfaces on an ordinary class using the programming language of your choice.</a:t>
            </a:r>
            <a:endParaRPr lang="en-US" sz="2200" dirty="0">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Endpoints</a:t>
            </a:r>
            <a:endParaRPr lang="en-US" dirty="0"/>
          </a:p>
        </p:txBody>
      </p:sp>
      <p:sp>
        <p:nvSpPr>
          <p:cNvPr id="3" name="Content Placeholder 2"/>
          <p:cNvSpPr>
            <a:spLocks noGrp="1"/>
          </p:cNvSpPr>
          <p:nvPr>
            <p:ph idx="1"/>
          </p:nvPr>
        </p:nvSpPr>
        <p:spPr/>
        <p:txBody>
          <a:bodyPr/>
          <a:lstStyle/>
          <a:p>
            <a:r>
              <a:rPr lang="en-US" sz="2400" dirty="0" smtClean="0"/>
              <a:t>A host application makes a service </a:t>
            </a:r>
            <a:r>
              <a:rPr lang="en-US" sz="2400" i="1" dirty="0" smtClean="0">
                <a:solidFill>
                  <a:srgbClr val="C00000"/>
                </a:solidFill>
              </a:rPr>
              <a:t>available to client applications</a:t>
            </a:r>
            <a:r>
              <a:rPr lang="en-US" sz="2400" dirty="0" smtClean="0"/>
              <a:t> by providing one or more </a:t>
            </a:r>
            <a:r>
              <a:rPr lang="en-US" sz="2400" u="sng" dirty="0" smtClean="0"/>
              <a:t>endpoints</a:t>
            </a:r>
            <a:r>
              <a:rPr lang="en-US" sz="2400" dirty="0" smtClean="0"/>
              <a:t> to which clients can </a:t>
            </a:r>
            <a:r>
              <a:rPr lang="en-US" sz="2400" u="sng" dirty="0" smtClean="0"/>
              <a:t>send requests</a:t>
            </a:r>
            <a:r>
              <a:rPr lang="en-US" sz="2400" dirty="0" smtClean="0"/>
              <a:t>.</a:t>
            </a:r>
          </a:p>
          <a:p>
            <a:r>
              <a:rPr lang="en-US" sz="2400" dirty="0" smtClean="0"/>
              <a:t>An endpoint contains </a:t>
            </a:r>
            <a:r>
              <a:rPr lang="en-US" sz="2400" i="1" dirty="0" smtClean="0">
                <a:solidFill>
                  <a:srgbClr val="C00000"/>
                </a:solidFill>
              </a:rPr>
              <a:t>three</a:t>
            </a:r>
            <a:r>
              <a:rPr lang="en-US" sz="2400" dirty="0" smtClean="0"/>
              <a:t> pieces of information:</a:t>
            </a:r>
          </a:p>
          <a:p>
            <a:pPr lvl="1"/>
            <a:r>
              <a:rPr lang="en-US" sz="1800" i="1" dirty="0" smtClean="0">
                <a:solidFill>
                  <a:srgbClr val="C00000"/>
                </a:solidFill>
              </a:rPr>
              <a:t>The address</a:t>
            </a:r>
            <a:r>
              <a:rPr lang="en-US" sz="1800" dirty="0" smtClean="0"/>
              <a:t> of the service. The Endpoint's Address is a network address where the Endpoint resides.</a:t>
            </a:r>
          </a:p>
          <a:p>
            <a:pPr lvl="1"/>
            <a:r>
              <a:rPr lang="en-US" sz="1800" i="1" dirty="0" smtClean="0">
                <a:solidFill>
                  <a:srgbClr val="C00000"/>
                </a:solidFill>
              </a:rPr>
              <a:t>The binding supported</a:t>
            </a:r>
            <a:r>
              <a:rPr lang="en-US" sz="1800" dirty="0" smtClean="0"/>
              <a:t> by the service. The Endpoint's Binding specifies how the Endpoint communicates with the world including things like transport protocol (e.g., TCP, HTTP), encoding (e.g., text, binary), and security requirements (e.g., SSL, SOAP message security).</a:t>
            </a:r>
          </a:p>
          <a:p>
            <a:pPr lvl="1"/>
            <a:r>
              <a:rPr lang="en-US" sz="1800" i="1" dirty="0" smtClean="0">
                <a:solidFill>
                  <a:srgbClr val="C00000"/>
                </a:solidFill>
              </a:rPr>
              <a:t>The contract implemented </a:t>
            </a:r>
            <a:r>
              <a:rPr lang="en-US" sz="1800" dirty="0" smtClean="0"/>
              <a:t>by the service. The Endpoint's Contract specifies what the Endpoint communicates and is essentially a collection of messages organized in operations that have basic Message Exchange Patterns (MEPs) such as one-way, duplex, and request/reply.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Configuring Service</a:t>
            </a:r>
            <a:endParaRPr lang="en-US" dirty="0"/>
          </a:p>
        </p:txBody>
      </p:sp>
      <p:sp>
        <p:nvSpPr>
          <p:cNvPr id="3" name="Content Placeholder 2"/>
          <p:cNvSpPr>
            <a:spLocks noGrp="1"/>
          </p:cNvSpPr>
          <p:nvPr>
            <p:ph idx="1"/>
          </p:nvPr>
        </p:nvSpPr>
        <p:spPr>
          <a:xfrm>
            <a:off x="457200" y="1600201"/>
            <a:ext cx="8229600" cy="2057400"/>
          </a:xfrm>
        </p:spPr>
        <p:txBody>
          <a:bodyPr/>
          <a:lstStyle/>
          <a:p>
            <a:r>
              <a:rPr lang="en-US" sz="2000" i="1" dirty="0" smtClean="0">
                <a:solidFill>
                  <a:srgbClr val="C00000"/>
                </a:solidFill>
              </a:rPr>
              <a:t>Create myservice.svc file</a:t>
            </a:r>
          </a:p>
          <a:p>
            <a:pPr lvl="1">
              <a:buNone/>
            </a:pPr>
            <a:r>
              <a:rPr lang="en-US" sz="1800" dirty="0" smtClean="0">
                <a:latin typeface="Courier" pitchFamily="49" charset="0"/>
              </a:rPr>
              <a:t>&lt;%@ </a:t>
            </a:r>
            <a:r>
              <a:rPr lang="en-US" sz="1800" dirty="0" err="1" smtClean="0">
                <a:latin typeface="Courier" pitchFamily="49" charset="0"/>
              </a:rPr>
              <a:t>ServiceHost</a:t>
            </a:r>
            <a:r>
              <a:rPr lang="en-US" sz="1800" dirty="0" smtClean="0">
                <a:latin typeface="Courier" pitchFamily="49" charset="0"/>
              </a:rPr>
              <a:t> Language="C#" Debug="true" Service= "</a:t>
            </a:r>
            <a:r>
              <a:rPr lang="en-US" sz="1800" dirty="0" err="1" smtClean="0">
                <a:latin typeface="Courier" pitchFamily="49" charset="0"/>
              </a:rPr>
              <a:t>Library.Caclcuate</a:t>
            </a:r>
            <a:r>
              <a:rPr lang="en-US" sz="1800" dirty="0" smtClean="0">
                <a:latin typeface="Courier" pitchFamily="49" charset="0"/>
              </a:rPr>
              <a:t>" %&gt;</a:t>
            </a:r>
          </a:p>
          <a:p>
            <a:r>
              <a:rPr lang="en-US" sz="2000" i="1" dirty="0" smtClean="0">
                <a:solidFill>
                  <a:srgbClr val="C00000"/>
                </a:solidFill>
              </a:rPr>
              <a:t>Place the myservice.svc file at your Web server's root directory, you have an address </a:t>
            </a:r>
            <a:r>
              <a:rPr lang="en-US" sz="2000" i="1" dirty="0" smtClean="0">
                <a:solidFill>
                  <a:srgbClr val="C00000"/>
                </a:solidFill>
                <a:hlinkClick r:id="rId2"/>
              </a:rPr>
              <a:t>http://localhost/myservice.svc</a:t>
            </a:r>
            <a:r>
              <a:rPr lang="en-US" sz="2000" i="1" dirty="0" smtClean="0">
                <a:solidFill>
                  <a:srgbClr val="C00000"/>
                </a:solidFill>
              </a:rPr>
              <a:t>.</a:t>
            </a:r>
          </a:p>
          <a:p>
            <a:r>
              <a:rPr lang="en-US" sz="2000" dirty="0" smtClean="0"/>
              <a:t>Create configuration file</a:t>
            </a:r>
          </a:p>
        </p:txBody>
      </p:sp>
      <p:sp>
        <p:nvSpPr>
          <p:cNvPr id="4" name="Rectangle 3"/>
          <p:cNvSpPr/>
          <p:nvPr/>
        </p:nvSpPr>
        <p:spPr>
          <a:xfrm>
            <a:off x="457200" y="3810000"/>
            <a:ext cx="8229600" cy="2677656"/>
          </a:xfrm>
          <a:prstGeom prst="rect">
            <a:avLst/>
          </a:prstGeom>
          <a:solidFill>
            <a:schemeClr val="bg1">
              <a:lumMod val="95000"/>
            </a:schemeClr>
          </a:solidFill>
          <a:ln w="12700">
            <a:solidFill>
              <a:schemeClr val="tx1"/>
            </a:solidFill>
          </a:ln>
        </p:spPr>
        <p:txBody>
          <a:bodyPr wrap="square">
            <a:spAutoFit/>
          </a:bodyPr>
          <a:lstStyle/>
          <a:p>
            <a:r>
              <a:rPr lang="en-US" sz="1400" dirty="0" smtClean="0">
                <a:solidFill>
                  <a:srgbClr val="C00000"/>
                </a:solidFill>
                <a:latin typeface="Courier" pitchFamily="49" charset="0"/>
                <a:cs typeface="Arial" pitchFamily="34" charset="0"/>
              </a:rPr>
              <a:t>&lt;?xml version="1.0" encoding="utf-8" ?&gt;</a:t>
            </a:r>
          </a:p>
          <a:p>
            <a:r>
              <a:rPr lang="en-US" sz="1400" dirty="0" smtClean="0">
                <a:solidFill>
                  <a:srgbClr val="C00000"/>
                </a:solidFill>
                <a:latin typeface="Courier" pitchFamily="49" charset="0"/>
                <a:cs typeface="Arial" pitchFamily="34" charset="0"/>
              </a:rPr>
              <a:t>&lt;configuration </a:t>
            </a:r>
            <a:r>
              <a:rPr lang="en-US" sz="1400" dirty="0" err="1" smtClean="0">
                <a:solidFill>
                  <a:srgbClr val="C00000"/>
                </a:solidFill>
                <a:latin typeface="Courier" pitchFamily="49" charset="0"/>
                <a:cs typeface="Arial" pitchFamily="34" charset="0"/>
              </a:rPr>
              <a:t>xmlns</a:t>
            </a:r>
            <a:r>
              <a:rPr lang="en-US" sz="1400" dirty="0" smtClean="0">
                <a:solidFill>
                  <a:srgbClr val="C00000"/>
                </a:solidFill>
                <a:latin typeface="Courier" pitchFamily="49" charset="0"/>
                <a:cs typeface="Arial" pitchFamily="34" charset="0"/>
              </a:rPr>
              <a:t>="http://schemas.microsoft.com/.NetConfiguration/v2.0"&gt;</a:t>
            </a:r>
          </a:p>
          <a:p>
            <a:r>
              <a:rPr lang="en-US" sz="1400" dirty="0" smtClean="0">
                <a:solidFill>
                  <a:srgbClr val="C00000"/>
                </a:solidFill>
                <a:latin typeface="Courier" pitchFamily="49" charset="0"/>
                <a:cs typeface="Arial" pitchFamily="34" charset="0"/>
              </a:rPr>
              <a:t>   &lt;</a:t>
            </a:r>
            <a:r>
              <a:rPr lang="en-US" sz="1400" dirty="0" err="1" smtClean="0">
                <a:solidFill>
                  <a:srgbClr val="C00000"/>
                </a:solidFill>
                <a:latin typeface="Courier" pitchFamily="49" charset="0"/>
                <a:cs typeface="Arial" pitchFamily="34" charset="0"/>
              </a:rPr>
              <a:t>system.serviceModel</a:t>
            </a:r>
            <a:r>
              <a:rPr lang="en-US" sz="1400" dirty="0" smtClean="0">
                <a:solidFill>
                  <a:srgbClr val="C00000"/>
                </a:solidFill>
                <a:latin typeface="Courier" pitchFamily="49" charset="0"/>
                <a:cs typeface="Arial" pitchFamily="34" charset="0"/>
              </a:rPr>
              <a:t>&gt;</a:t>
            </a:r>
          </a:p>
          <a:p>
            <a:r>
              <a:rPr lang="en-US" sz="1400" dirty="0" smtClean="0">
                <a:solidFill>
                  <a:srgbClr val="C00000"/>
                </a:solidFill>
                <a:latin typeface="Courier" pitchFamily="49" charset="0"/>
                <a:cs typeface="Arial" pitchFamily="34" charset="0"/>
              </a:rPr>
              <a:t>      &lt;services&gt;</a:t>
            </a:r>
          </a:p>
          <a:p>
            <a:r>
              <a:rPr lang="en-US" sz="1400" dirty="0" smtClean="0">
                <a:solidFill>
                  <a:srgbClr val="C00000"/>
                </a:solidFill>
                <a:latin typeface="Courier" pitchFamily="49" charset="0"/>
                <a:cs typeface="Arial" pitchFamily="34" charset="0"/>
              </a:rPr>
              <a:t>         &lt;service </a:t>
            </a:r>
            <a:r>
              <a:rPr lang="en-US" sz="1400" dirty="0" err="1" smtClean="0">
                <a:solidFill>
                  <a:srgbClr val="C00000"/>
                </a:solidFill>
                <a:latin typeface="Courier" pitchFamily="49" charset="0"/>
                <a:cs typeface="Arial" pitchFamily="34" charset="0"/>
              </a:rPr>
              <a:t>serviceType</a:t>
            </a:r>
            <a:r>
              <a:rPr lang="en-US" sz="1400" dirty="0" smtClean="0">
                <a:solidFill>
                  <a:srgbClr val="C00000"/>
                </a:solidFill>
                <a:latin typeface="Courier" pitchFamily="49" charset="0"/>
                <a:cs typeface="Arial" pitchFamily="34" charset="0"/>
              </a:rPr>
              <a:t>="</a:t>
            </a:r>
            <a:r>
              <a:rPr lang="en-US" sz="1400" dirty="0" err="1" smtClean="0">
                <a:solidFill>
                  <a:srgbClr val="C00000"/>
                </a:solidFill>
                <a:latin typeface="Courier" pitchFamily="49" charset="0"/>
                <a:cs typeface="Arial" pitchFamily="34" charset="0"/>
              </a:rPr>
              <a:t>Library.Calculate</a:t>
            </a:r>
            <a:r>
              <a:rPr lang="en-US" sz="1400" dirty="0" smtClean="0">
                <a:solidFill>
                  <a:srgbClr val="C00000"/>
                </a:solidFill>
                <a:latin typeface="Courier" pitchFamily="49" charset="0"/>
                <a:cs typeface="Arial" pitchFamily="34" charset="0"/>
              </a:rPr>
              <a:t>"&gt;</a:t>
            </a:r>
          </a:p>
          <a:p>
            <a:r>
              <a:rPr lang="en-US" sz="1400" dirty="0" smtClean="0">
                <a:solidFill>
                  <a:srgbClr val="C00000"/>
                </a:solidFill>
                <a:latin typeface="Courier" pitchFamily="49" charset="0"/>
                <a:cs typeface="Arial" pitchFamily="34" charset="0"/>
              </a:rPr>
              <a:t>            &lt;endpoint address="</a:t>
            </a:r>
            <a:r>
              <a:rPr lang="en-US" sz="1400" dirty="0" smtClean="0">
                <a:solidFill>
                  <a:srgbClr val="C00000"/>
                </a:solidFill>
                <a:latin typeface="Courier" pitchFamily="49" charset="0"/>
              </a:rPr>
              <a:t>http://localhost/myservice.svc</a:t>
            </a:r>
            <a:r>
              <a:rPr lang="en-US" sz="1400" dirty="0" smtClean="0">
                <a:solidFill>
                  <a:srgbClr val="C00000"/>
                </a:solidFill>
                <a:latin typeface="Courier" pitchFamily="49" charset="0"/>
                <a:cs typeface="Arial" pitchFamily="34" charset="0"/>
              </a:rPr>
              <a:t>" </a:t>
            </a:r>
          </a:p>
          <a:p>
            <a:r>
              <a:rPr lang="en-US" sz="1400" dirty="0" smtClean="0">
                <a:solidFill>
                  <a:srgbClr val="C00000"/>
                </a:solidFill>
                <a:latin typeface="Courier" pitchFamily="49" charset="0"/>
                <a:cs typeface="Arial" pitchFamily="34" charset="0"/>
              </a:rPr>
              <a:t>                     </a:t>
            </a:r>
            <a:r>
              <a:rPr lang="en-US" sz="1400" dirty="0" err="1" smtClean="0">
                <a:solidFill>
                  <a:srgbClr val="C00000"/>
                </a:solidFill>
                <a:latin typeface="Courier" pitchFamily="49" charset="0"/>
                <a:cs typeface="Arial" pitchFamily="34" charset="0"/>
              </a:rPr>
              <a:t>bindingSectionName</a:t>
            </a:r>
            <a:r>
              <a:rPr lang="en-US" sz="1400" dirty="0" smtClean="0">
                <a:solidFill>
                  <a:srgbClr val="C00000"/>
                </a:solidFill>
                <a:latin typeface="Courier" pitchFamily="49" charset="0"/>
                <a:cs typeface="Arial" pitchFamily="34" charset="0"/>
              </a:rPr>
              <a:t>="</a:t>
            </a:r>
            <a:r>
              <a:rPr lang="en-US" sz="1400" dirty="0" err="1" smtClean="0">
                <a:solidFill>
                  <a:srgbClr val="C00000"/>
                </a:solidFill>
                <a:latin typeface="Courier" pitchFamily="49" charset="0"/>
                <a:cs typeface="Arial" pitchFamily="34" charset="0"/>
              </a:rPr>
              <a:t>basicProfileBinding</a:t>
            </a:r>
            <a:r>
              <a:rPr lang="en-US" sz="1400" dirty="0" smtClean="0">
                <a:solidFill>
                  <a:srgbClr val="C00000"/>
                </a:solidFill>
                <a:latin typeface="Courier" pitchFamily="49" charset="0"/>
                <a:cs typeface="Arial" pitchFamily="34" charset="0"/>
              </a:rPr>
              <a:t>" </a:t>
            </a:r>
          </a:p>
          <a:p>
            <a:r>
              <a:rPr lang="en-US" sz="1400" dirty="0" smtClean="0">
                <a:solidFill>
                  <a:srgbClr val="C00000"/>
                </a:solidFill>
                <a:latin typeface="Courier" pitchFamily="49" charset="0"/>
                <a:cs typeface="Arial" pitchFamily="34" charset="0"/>
              </a:rPr>
              <a:t>                     </a:t>
            </a:r>
            <a:r>
              <a:rPr lang="en-US" sz="1400" dirty="0" err="1" smtClean="0">
                <a:solidFill>
                  <a:srgbClr val="C00000"/>
                </a:solidFill>
                <a:latin typeface="Courier" pitchFamily="49" charset="0"/>
                <a:cs typeface="Arial" pitchFamily="34" charset="0"/>
              </a:rPr>
              <a:t>contractType</a:t>
            </a:r>
            <a:r>
              <a:rPr lang="en-US" sz="1400" dirty="0" smtClean="0">
                <a:solidFill>
                  <a:srgbClr val="C00000"/>
                </a:solidFill>
                <a:latin typeface="Courier" pitchFamily="49" charset="0"/>
                <a:cs typeface="Arial" pitchFamily="34" charset="0"/>
              </a:rPr>
              <a:t>="</a:t>
            </a:r>
            <a:r>
              <a:rPr lang="en-US" sz="1400" dirty="0" err="1" smtClean="0">
                <a:solidFill>
                  <a:srgbClr val="C00000"/>
                </a:solidFill>
                <a:latin typeface="Courier" pitchFamily="49" charset="0"/>
                <a:cs typeface="Arial" pitchFamily="34" charset="0"/>
              </a:rPr>
              <a:t>Library.IPeople</a:t>
            </a:r>
            <a:r>
              <a:rPr lang="en-US" sz="1400" dirty="0" smtClean="0">
                <a:solidFill>
                  <a:srgbClr val="C00000"/>
                </a:solidFill>
                <a:latin typeface="Courier" pitchFamily="49" charset="0"/>
                <a:cs typeface="Arial" pitchFamily="34" charset="0"/>
              </a:rPr>
              <a:t>" /&gt;</a:t>
            </a:r>
          </a:p>
          <a:p>
            <a:r>
              <a:rPr lang="en-US" sz="1400" dirty="0" smtClean="0">
                <a:solidFill>
                  <a:srgbClr val="C00000"/>
                </a:solidFill>
                <a:latin typeface="Courier" pitchFamily="49" charset="0"/>
                <a:cs typeface="Arial" pitchFamily="34" charset="0"/>
              </a:rPr>
              <a:t>         &lt;/service&gt;</a:t>
            </a:r>
          </a:p>
          <a:p>
            <a:r>
              <a:rPr lang="en-US" sz="1400" dirty="0" smtClean="0">
                <a:solidFill>
                  <a:srgbClr val="C00000"/>
                </a:solidFill>
                <a:latin typeface="Courier" pitchFamily="49" charset="0"/>
                <a:cs typeface="Arial" pitchFamily="34" charset="0"/>
              </a:rPr>
              <a:t>      &lt;/services&gt;</a:t>
            </a:r>
          </a:p>
          <a:p>
            <a:r>
              <a:rPr lang="en-US" sz="1400" dirty="0" smtClean="0">
                <a:solidFill>
                  <a:srgbClr val="C00000"/>
                </a:solidFill>
                <a:latin typeface="Courier" pitchFamily="49" charset="0"/>
                <a:cs typeface="Arial" pitchFamily="34" charset="0"/>
              </a:rPr>
              <a:t>   &lt;/</a:t>
            </a:r>
            <a:r>
              <a:rPr lang="en-US" sz="1400" dirty="0" err="1" smtClean="0">
                <a:solidFill>
                  <a:srgbClr val="C00000"/>
                </a:solidFill>
                <a:latin typeface="Courier" pitchFamily="49" charset="0"/>
                <a:cs typeface="Arial" pitchFamily="34" charset="0"/>
              </a:rPr>
              <a:t>system.serviceModel</a:t>
            </a:r>
            <a:r>
              <a:rPr lang="en-US" sz="1400" dirty="0" smtClean="0">
                <a:solidFill>
                  <a:srgbClr val="C00000"/>
                </a:solidFill>
                <a:latin typeface="Courier" pitchFamily="49" charset="0"/>
                <a:cs typeface="Arial" pitchFamily="34" charset="0"/>
              </a:rPr>
              <a:t>&gt;</a:t>
            </a:r>
          </a:p>
          <a:p>
            <a:r>
              <a:rPr lang="en-US" sz="1400" dirty="0" smtClean="0">
                <a:solidFill>
                  <a:srgbClr val="C00000"/>
                </a:solidFill>
                <a:latin typeface="Courier" pitchFamily="49" charset="0"/>
                <a:cs typeface="Arial" pitchFamily="34" charset="0"/>
              </a:rPr>
              <a:t>&lt;/configuration&gt;</a:t>
            </a:r>
            <a:endParaRPr lang="en-US" sz="1400" dirty="0">
              <a:solidFill>
                <a:srgbClr val="C00000"/>
              </a:solidFill>
              <a:latin typeface="Courier" pitchFamily="49"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a WCF Client</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Client</a:t>
            </a:r>
            <a:r>
              <a:rPr lang="en-US" sz="2400" dirty="0" smtClean="0"/>
              <a:t> is a program that exchanges messages with one or more Endpoints.</a:t>
            </a:r>
          </a:p>
          <a:p>
            <a:r>
              <a:rPr lang="en-US" sz="2400" dirty="0" smtClean="0"/>
              <a:t>A Client may also </a:t>
            </a:r>
            <a:r>
              <a:rPr lang="en-US" sz="2400" i="1" dirty="0" smtClean="0">
                <a:solidFill>
                  <a:srgbClr val="C00000"/>
                </a:solidFill>
              </a:rPr>
              <a:t>expose an Endpoint</a:t>
            </a:r>
            <a:r>
              <a:rPr lang="en-US" sz="2400" dirty="0" smtClean="0"/>
              <a:t> to receive Messages from a Service in a duplex message exchange pattern.</a:t>
            </a:r>
          </a:p>
          <a:p>
            <a:r>
              <a:rPr lang="en-US" sz="2400" dirty="0" smtClean="0"/>
              <a:t>Generate proxy class</a:t>
            </a:r>
          </a:p>
          <a:p>
            <a:endParaRPr lang="en-US" sz="2400" dirty="0" smtClean="0"/>
          </a:p>
          <a:p>
            <a:endParaRPr lang="en-US" sz="2400" dirty="0" smtClean="0"/>
          </a:p>
          <a:p>
            <a:r>
              <a:rPr lang="en-US" sz="2400" dirty="0" smtClean="0"/>
              <a:t>Use the proxy class</a:t>
            </a:r>
          </a:p>
        </p:txBody>
      </p:sp>
      <p:sp>
        <p:nvSpPr>
          <p:cNvPr id="4" name="Rectangle 3"/>
          <p:cNvSpPr/>
          <p:nvPr/>
        </p:nvSpPr>
        <p:spPr>
          <a:xfrm>
            <a:off x="609600" y="3657600"/>
            <a:ext cx="7848600" cy="646331"/>
          </a:xfrm>
          <a:prstGeom prst="rect">
            <a:avLst/>
          </a:prstGeom>
          <a:solidFill>
            <a:schemeClr val="accent3"/>
          </a:solidFill>
        </p:spPr>
        <p:txBody>
          <a:bodyPr wrap="square">
            <a:spAutoFit/>
          </a:bodyPr>
          <a:lstStyle/>
          <a:p>
            <a:r>
              <a:rPr lang="en-US" dirty="0" smtClean="0">
                <a:solidFill>
                  <a:schemeClr val="bg1"/>
                </a:solidFill>
                <a:latin typeface="Courier" pitchFamily="49" charset="0"/>
              </a:rPr>
              <a:t>Svcutil.exe /</a:t>
            </a:r>
            <a:r>
              <a:rPr lang="en-US" dirty="0" err="1" smtClean="0">
                <a:solidFill>
                  <a:schemeClr val="bg1"/>
                </a:solidFill>
                <a:latin typeface="Courier" pitchFamily="49" charset="0"/>
              </a:rPr>
              <a:t>config:myclient.exe.config</a:t>
            </a:r>
            <a:r>
              <a:rPr lang="en-US" dirty="0" smtClean="0">
                <a:solidFill>
                  <a:schemeClr val="bg1"/>
                </a:solidFill>
                <a:latin typeface="Courier" pitchFamily="49" charset="0"/>
              </a:rPr>
              <a:t> /</a:t>
            </a:r>
            <a:r>
              <a:rPr lang="en-US" dirty="0" err="1" smtClean="0">
                <a:solidFill>
                  <a:schemeClr val="bg1"/>
                </a:solidFill>
                <a:latin typeface="Courier" pitchFamily="49" charset="0"/>
              </a:rPr>
              <a:t>out:myclient.cs</a:t>
            </a:r>
            <a:r>
              <a:rPr lang="en-US" dirty="0" smtClean="0">
                <a:solidFill>
                  <a:schemeClr val="bg1"/>
                </a:solidFill>
                <a:latin typeface="Courier" pitchFamily="49" charset="0"/>
              </a:rPr>
              <a:t> http://localhost/myservice.svc?wsdl </a:t>
            </a:r>
            <a:endParaRPr lang="en-US" dirty="0">
              <a:solidFill>
                <a:schemeClr val="bg1"/>
              </a:solidFill>
              <a:latin typeface="Courier" pitchFamily="49" charset="0"/>
            </a:endParaRPr>
          </a:p>
        </p:txBody>
      </p:sp>
      <p:sp>
        <p:nvSpPr>
          <p:cNvPr id="5" name="Rectangle 4"/>
          <p:cNvSpPr/>
          <p:nvPr/>
        </p:nvSpPr>
        <p:spPr>
          <a:xfrm>
            <a:off x="838200" y="5029200"/>
            <a:ext cx="7620000" cy="1200329"/>
          </a:xfrm>
          <a:prstGeom prst="rect">
            <a:avLst/>
          </a:prstGeom>
        </p:spPr>
        <p:txBody>
          <a:bodyPr wrap="square">
            <a:spAutoFit/>
          </a:bodyPr>
          <a:lstStyle/>
          <a:p>
            <a:r>
              <a:rPr lang="en-US" dirty="0" smtClean="0">
                <a:latin typeface="Courier" pitchFamily="49" charset="0"/>
              </a:rPr>
              <a:t>static void Main(string[] </a:t>
            </a:r>
            <a:r>
              <a:rPr lang="en-US" dirty="0" err="1" smtClean="0">
                <a:latin typeface="Courier" pitchFamily="49" charset="0"/>
              </a:rPr>
              <a:t>args</a:t>
            </a:r>
            <a:r>
              <a:rPr lang="en-US" dirty="0" smtClean="0">
                <a:latin typeface="Courier" pitchFamily="49" charset="0"/>
              </a:rPr>
              <a:t>)</a:t>
            </a:r>
          </a:p>
          <a:p>
            <a:r>
              <a:rPr lang="en-US" dirty="0" smtClean="0">
                <a:latin typeface="Courier" pitchFamily="49" charset="0"/>
              </a:rPr>
              <a:t>{</a:t>
            </a:r>
          </a:p>
          <a:p>
            <a:r>
              <a:rPr lang="en-US" dirty="0" smtClean="0">
                <a:latin typeface="Courier" pitchFamily="49" charset="0"/>
              </a:rPr>
              <a:t>	</a:t>
            </a:r>
            <a:r>
              <a:rPr lang="en-US" dirty="0" err="1" smtClean="0">
                <a:latin typeface="Courier" pitchFamily="49" charset="0"/>
              </a:rPr>
              <a:t>CalculateClient</a:t>
            </a:r>
            <a:r>
              <a:rPr lang="en-US" dirty="0" smtClean="0">
                <a:latin typeface="Courier" pitchFamily="49" charset="0"/>
              </a:rPr>
              <a:t> proxy = new </a:t>
            </a:r>
            <a:r>
              <a:rPr lang="en-US" dirty="0" err="1" smtClean="0">
                <a:latin typeface="Courier" pitchFamily="49" charset="0"/>
              </a:rPr>
              <a:t>CalculateClient</a:t>
            </a:r>
            <a:r>
              <a:rPr lang="en-US" dirty="0" smtClean="0">
                <a:latin typeface="Courier" pitchFamily="49" charset="0"/>
              </a:rPr>
              <a:t>();</a:t>
            </a:r>
          </a:p>
          <a:p>
            <a:r>
              <a:rPr lang="en-US" dirty="0" smtClean="0">
                <a:latin typeface="Courier" pitchFamily="49" charset="0"/>
              </a:rPr>
              <a:t>}</a:t>
            </a:r>
            <a:endParaRPr lang="en-US" dirty="0">
              <a:latin typeface="Courier"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a Client Request</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When you start a service running</a:t>
            </a:r>
            <a:r>
              <a:rPr lang="en-US" sz="2400" dirty="0" smtClean="0"/>
              <a:t>, the WCF runtime uses the endpoint information specified as part of the service configuration and creates a listener object for each address specified for the service.</a:t>
            </a:r>
          </a:p>
          <a:p>
            <a:r>
              <a:rPr lang="en-US" sz="2400" i="1" dirty="0" smtClean="0">
                <a:solidFill>
                  <a:srgbClr val="C00000"/>
                </a:solidFill>
              </a:rPr>
              <a:t>When an incoming request is received</a:t>
            </a:r>
            <a:r>
              <a:rPr lang="en-US" sz="2400" dirty="0" smtClean="0"/>
              <a:t>, the WCF runtime constructs a channel stack by using the binding information specified for the address and routes the incoming data from the client through the stack.</a:t>
            </a:r>
          </a:p>
          <a:p>
            <a:r>
              <a:rPr lang="en-US" sz="2400" i="1" dirty="0" smtClean="0">
                <a:solidFill>
                  <a:srgbClr val="C00000"/>
                </a:solidFill>
              </a:rPr>
              <a:t>If a message successfully traverses all the channels</a:t>
            </a:r>
            <a:r>
              <a:rPr lang="en-US" sz="2400" dirty="0" smtClean="0"/>
              <a:t> in the channel stack, the transformed request is passed to an instance of the service for processing.</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Windows Process Activation Service</a:t>
            </a:r>
            <a:endParaRPr lang="en-US" sz="4200"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Windows Process Activation Service (WAS)</a:t>
            </a:r>
            <a:r>
              <a:rPr lang="en-US" sz="2400" dirty="0" smtClean="0"/>
              <a:t> extends the functionality of IIS by removing the dependency on the HTTP protocol.</a:t>
            </a:r>
          </a:p>
          <a:p>
            <a:r>
              <a:rPr lang="en-US" sz="2400" dirty="0" smtClean="0"/>
              <a:t>Using WAS, you can host services that make use of </a:t>
            </a:r>
            <a:r>
              <a:rPr lang="en-US" sz="2400" i="1" dirty="0" smtClean="0">
                <a:solidFill>
                  <a:srgbClr val="C00000"/>
                </a:solidFill>
              </a:rPr>
              <a:t>other protocols</a:t>
            </a:r>
            <a:r>
              <a:rPr lang="en-US" sz="2400" dirty="0" smtClean="0"/>
              <a:t>, such as TCP, named pipes, and Microsoft Message Queues.</a:t>
            </a:r>
          </a:p>
          <a:p>
            <a:r>
              <a:rPr lang="en-US" sz="2400" dirty="0" smtClean="0"/>
              <a:t>WAS can listen for requests and activate a service that is waiting on an address that is based on any of these protocols.</a:t>
            </a:r>
          </a:p>
          <a:p>
            <a:r>
              <a:rPr lang="en-US" sz="2400" i="1" dirty="0" smtClean="0">
                <a:solidFill>
                  <a:srgbClr val="C00000"/>
                </a:solidFill>
              </a:rPr>
              <a:t>Under Programs and Features</a:t>
            </a:r>
            <a:r>
              <a:rPr lang="en-US" sz="2400" dirty="0" smtClean="0"/>
              <a:t>, click Turn Windows Features On And Off. In the Windows Features dialog box, select Windows Process Activation Service and its sub-features.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Windows Server </a:t>
            </a:r>
            <a:r>
              <a:rPr lang="en-US" dirty="0" err="1" smtClean="0"/>
              <a:t>AppFabric</a:t>
            </a:r>
            <a:endParaRPr lang="en-US" dirty="0"/>
          </a:p>
        </p:txBody>
      </p:sp>
      <p:sp>
        <p:nvSpPr>
          <p:cNvPr id="3" name="Content Placeholder 2"/>
          <p:cNvSpPr>
            <a:spLocks noGrp="1"/>
          </p:cNvSpPr>
          <p:nvPr>
            <p:ph idx="1"/>
          </p:nvPr>
        </p:nvSpPr>
        <p:spPr/>
        <p:txBody>
          <a:bodyPr/>
          <a:lstStyle/>
          <a:p>
            <a:r>
              <a:rPr lang="en-US" sz="2400" i="1" dirty="0" err="1" smtClean="0">
                <a:solidFill>
                  <a:srgbClr val="C00000"/>
                </a:solidFill>
              </a:rPr>
              <a:t>AppFabric</a:t>
            </a:r>
            <a:r>
              <a:rPr lang="en-US" sz="2400" i="1" dirty="0" smtClean="0">
                <a:solidFill>
                  <a:srgbClr val="C00000"/>
                </a:solidFill>
              </a:rPr>
              <a:t> Hosting Services</a:t>
            </a:r>
            <a:r>
              <a:rPr lang="en-US" sz="2400" dirty="0" smtClean="0"/>
              <a:t> provides a </a:t>
            </a:r>
            <a:r>
              <a:rPr lang="en-US" sz="2400" u="sng" dirty="0" smtClean="0"/>
              <a:t>scalable</a:t>
            </a:r>
            <a:r>
              <a:rPr lang="en-US" sz="2400" dirty="0" smtClean="0"/>
              <a:t> and </a:t>
            </a:r>
            <a:r>
              <a:rPr lang="en-US" sz="2400" u="sng" dirty="0" smtClean="0"/>
              <a:t>configurable environment</a:t>
            </a:r>
            <a:r>
              <a:rPr lang="en-US" sz="2400" dirty="0" smtClean="0"/>
              <a:t> for hosting WCF services.</a:t>
            </a:r>
          </a:p>
          <a:p>
            <a:r>
              <a:rPr lang="en-US" sz="2400" dirty="0" err="1" smtClean="0"/>
              <a:t>AppFabric</a:t>
            </a:r>
            <a:r>
              <a:rPr lang="en-US" sz="2400" dirty="0" smtClean="0"/>
              <a:t> Hosting Services can run on </a:t>
            </a:r>
            <a:r>
              <a:rPr lang="en-US" sz="2400" i="1" dirty="0" smtClean="0">
                <a:solidFill>
                  <a:srgbClr val="C00000"/>
                </a:solidFill>
              </a:rPr>
              <a:t>a set of load-balanced computers</a:t>
            </a:r>
            <a:r>
              <a:rPr lang="en-US" sz="2400" dirty="0" smtClean="0"/>
              <a:t>.</a:t>
            </a:r>
          </a:p>
          <a:p>
            <a:r>
              <a:rPr lang="en-US" sz="2400" dirty="0" err="1" smtClean="0"/>
              <a:t>AppFabric</a:t>
            </a:r>
            <a:r>
              <a:rPr lang="en-US" sz="2400" dirty="0" smtClean="0"/>
              <a:t> Hosting Services builds on the persistence services provided by Workflow Foundation to enable an administrator to specify that an instance of a service should be removed from memory and its state retained in a database if the service is inactive for any length of time.</a:t>
            </a:r>
          </a:p>
          <a:p>
            <a:r>
              <a:rPr lang="en-US" sz="2400" dirty="0" smtClean="0"/>
              <a:t>If a message is later received for this instance, </a:t>
            </a:r>
            <a:r>
              <a:rPr lang="en-US" sz="2400" dirty="0" err="1" smtClean="0"/>
              <a:t>AppFabric</a:t>
            </a:r>
            <a:r>
              <a:rPr lang="en-US" sz="2400" dirty="0" smtClean="0"/>
              <a:t> Hosting Services can resurrect it from the database and continue the instance running.</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Message Contracts</a:t>
            </a:r>
            <a:endParaRPr lang="en-US" dirty="0"/>
          </a:p>
        </p:txBody>
      </p:sp>
      <p:sp>
        <p:nvSpPr>
          <p:cNvPr id="3" name="Content Placeholder 2"/>
          <p:cNvSpPr>
            <a:spLocks noGrp="1"/>
          </p:cNvSpPr>
          <p:nvPr>
            <p:ph idx="1"/>
          </p:nvPr>
        </p:nvSpPr>
        <p:spPr/>
        <p:txBody>
          <a:bodyPr/>
          <a:lstStyle/>
          <a:p>
            <a:r>
              <a:rPr lang="en-US" sz="2200" dirty="0" smtClean="0">
                <a:hlinkClick r:id="rId2"/>
              </a:rPr>
              <a:t>https://msdn.microsoft.com/en-us/library/ms730255%28v=vs.100%29.aspx?f=255&amp;MSPPError=-2147217396</a:t>
            </a:r>
            <a:endParaRPr lang="en-US" sz="2200" dirty="0" smtClean="0"/>
          </a:p>
          <a:p>
            <a:endParaRPr lang="en-US" sz="2200" dirty="0"/>
          </a:p>
        </p:txBody>
      </p:sp>
      <p:sp>
        <p:nvSpPr>
          <p:cNvPr id="4" name="Rectangle 3"/>
          <p:cNvSpPr/>
          <p:nvPr/>
        </p:nvSpPr>
        <p:spPr>
          <a:xfrm>
            <a:off x="457200" y="3200400"/>
            <a:ext cx="8229600" cy="2800767"/>
          </a:xfrm>
          <a:prstGeom prst="rect">
            <a:avLst/>
          </a:prstGeom>
          <a:solidFill>
            <a:schemeClr val="bg1">
              <a:lumMod val="95000"/>
            </a:schemeClr>
          </a:solidFill>
          <a:ln w="12700">
            <a:solidFill>
              <a:schemeClr val="tx1"/>
            </a:solidFill>
          </a:ln>
        </p:spPr>
        <p:txBody>
          <a:bodyPr wrap="square">
            <a:spAutoFit/>
          </a:bodyPr>
          <a:lstStyle/>
          <a:p>
            <a:r>
              <a:rPr lang="en-US" sz="2200" dirty="0" smtClean="0">
                <a:solidFill>
                  <a:srgbClr val="C00000"/>
                </a:solidFill>
                <a:latin typeface="Courier New" pitchFamily="49" charset="0"/>
                <a:cs typeface="Courier New" pitchFamily="49" charset="0"/>
              </a:rPr>
              <a:t>[</a:t>
            </a:r>
            <a:r>
              <a:rPr lang="en-US" sz="2200" dirty="0" err="1" smtClean="0">
                <a:solidFill>
                  <a:srgbClr val="C00000"/>
                </a:solidFill>
                <a:latin typeface="Courier New" pitchFamily="49" charset="0"/>
                <a:cs typeface="Courier New" pitchFamily="49" charset="0"/>
              </a:rPr>
              <a:t>OperationContract</a:t>
            </a:r>
            <a:r>
              <a:rPr lang="en-US" sz="2200" dirty="0" smtClean="0">
                <a:solidFill>
                  <a:srgbClr val="C00000"/>
                </a:solidFill>
                <a:latin typeface="Courier New" pitchFamily="49" charset="0"/>
                <a:cs typeface="Courier New" pitchFamily="49" charset="0"/>
              </a:rPr>
              <a:t>]</a:t>
            </a:r>
          </a:p>
          <a:p>
            <a:r>
              <a:rPr lang="en-US" sz="2200" b="1" dirty="0" err="1" smtClean="0">
                <a:solidFill>
                  <a:srgbClr val="C00000"/>
                </a:solidFill>
                <a:latin typeface="Courier New" pitchFamily="49" charset="0"/>
                <a:cs typeface="Courier New" pitchFamily="49" charset="0"/>
              </a:rPr>
              <a:t>bool</a:t>
            </a:r>
            <a:r>
              <a:rPr lang="en-US" sz="2200" dirty="0" smtClean="0">
                <a:solidFill>
                  <a:srgbClr val="C00000"/>
                </a:solidFill>
                <a:latin typeface="Courier New" pitchFamily="49" charset="0"/>
                <a:cs typeface="Courier New" pitchFamily="49" charset="0"/>
              </a:rPr>
              <a:t> Validate(</a:t>
            </a:r>
            <a:r>
              <a:rPr lang="en-US" sz="2200" dirty="0" err="1" smtClean="0">
                <a:solidFill>
                  <a:srgbClr val="C00000"/>
                </a:solidFill>
                <a:latin typeface="Courier New" pitchFamily="49" charset="0"/>
                <a:cs typeface="Courier New" pitchFamily="49" charset="0"/>
              </a:rPr>
              <a:t>BankingTransaction</a:t>
            </a:r>
            <a:r>
              <a:rPr lang="en-US" sz="2200" dirty="0" smtClean="0">
                <a:solidFill>
                  <a:srgbClr val="C00000"/>
                </a:solidFill>
                <a:latin typeface="Courier New" pitchFamily="49" charset="0"/>
                <a:cs typeface="Courier New" pitchFamily="49" charset="0"/>
              </a:rPr>
              <a:t> </a:t>
            </a:r>
            <a:r>
              <a:rPr lang="en-US" sz="2200" dirty="0" err="1" smtClean="0">
                <a:solidFill>
                  <a:srgbClr val="C00000"/>
                </a:solidFill>
                <a:latin typeface="Courier New" pitchFamily="49" charset="0"/>
                <a:cs typeface="Courier New" pitchFamily="49" charset="0"/>
              </a:rPr>
              <a:t>bt</a:t>
            </a:r>
            <a:r>
              <a:rPr lang="en-US" sz="2200" dirty="0" smtClean="0">
                <a:solidFill>
                  <a:srgbClr val="C00000"/>
                </a:solidFill>
                <a:latin typeface="Courier New" pitchFamily="49" charset="0"/>
                <a:cs typeface="Courier New" pitchFamily="49" charset="0"/>
              </a:rPr>
              <a:t>);</a:t>
            </a:r>
          </a:p>
          <a:p>
            <a:r>
              <a:rPr lang="en-US" sz="2200" dirty="0" smtClean="0">
                <a:solidFill>
                  <a:srgbClr val="C00000"/>
                </a:solidFill>
                <a:latin typeface="Courier New" pitchFamily="49" charset="0"/>
                <a:cs typeface="Courier New" pitchFamily="49" charset="0"/>
              </a:rPr>
              <a:t>// Invalid, the return type is not a message contract.</a:t>
            </a:r>
          </a:p>
          <a:p>
            <a:r>
              <a:rPr lang="en-US" sz="2200" dirty="0" smtClean="0">
                <a:solidFill>
                  <a:srgbClr val="C00000"/>
                </a:solidFill>
                <a:latin typeface="Courier New" pitchFamily="49" charset="0"/>
                <a:cs typeface="Courier New" pitchFamily="49" charset="0"/>
              </a:rPr>
              <a:t>[</a:t>
            </a:r>
            <a:r>
              <a:rPr lang="en-US" sz="2200" dirty="0" err="1" smtClean="0">
                <a:solidFill>
                  <a:srgbClr val="C00000"/>
                </a:solidFill>
                <a:latin typeface="Courier New" pitchFamily="49" charset="0"/>
                <a:cs typeface="Courier New" pitchFamily="49" charset="0"/>
              </a:rPr>
              <a:t>OperationContract</a:t>
            </a:r>
            <a:r>
              <a:rPr lang="en-US" sz="2200" dirty="0" smtClean="0">
                <a:solidFill>
                  <a:srgbClr val="C00000"/>
                </a:solidFill>
                <a:latin typeface="Courier New" pitchFamily="49" charset="0"/>
                <a:cs typeface="Courier New" pitchFamily="49" charset="0"/>
              </a:rPr>
              <a:t>]</a:t>
            </a:r>
          </a:p>
          <a:p>
            <a:r>
              <a:rPr lang="en-US" sz="2200" dirty="0" smtClean="0">
                <a:solidFill>
                  <a:srgbClr val="C00000"/>
                </a:solidFill>
                <a:latin typeface="Courier New" pitchFamily="49" charset="0"/>
                <a:cs typeface="Courier New" pitchFamily="49" charset="0"/>
              </a:rPr>
              <a:t>void Reconcile(</a:t>
            </a:r>
            <a:r>
              <a:rPr lang="en-US" sz="2200" dirty="0" err="1" smtClean="0">
                <a:solidFill>
                  <a:srgbClr val="C00000"/>
                </a:solidFill>
                <a:latin typeface="Courier New" pitchFamily="49" charset="0"/>
                <a:cs typeface="Courier New" pitchFamily="49" charset="0"/>
              </a:rPr>
              <a:t>BankingTransaction</a:t>
            </a:r>
            <a:r>
              <a:rPr lang="en-US" sz="2200" dirty="0" smtClean="0">
                <a:solidFill>
                  <a:srgbClr val="C00000"/>
                </a:solidFill>
                <a:latin typeface="Courier New" pitchFamily="49" charset="0"/>
                <a:cs typeface="Courier New" pitchFamily="49" charset="0"/>
              </a:rPr>
              <a:t> </a:t>
            </a:r>
            <a:r>
              <a:rPr lang="en-US" sz="2200" b="1" dirty="0" smtClean="0">
                <a:solidFill>
                  <a:srgbClr val="C00000"/>
                </a:solidFill>
                <a:latin typeface="Courier New" pitchFamily="49" charset="0"/>
                <a:cs typeface="Courier New" pitchFamily="49" charset="0"/>
              </a:rPr>
              <a:t>bt1</a:t>
            </a:r>
            <a:r>
              <a:rPr lang="en-US" sz="2200" dirty="0" smtClean="0">
                <a:solidFill>
                  <a:srgbClr val="C00000"/>
                </a:solidFill>
                <a:latin typeface="Courier New" pitchFamily="49" charset="0"/>
                <a:cs typeface="Courier New" pitchFamily="49" charset="0"/>
              </a:rPr>
              <a:t>, </a:t>
            </a:r>
            <a:r>
              <a:rPr lang="en-US" sz="2200" dirty="0" err="1" smtClean="0">
                <a:solidFill>
                  <a:srgbClr val="C00000"/>
                </a:solidFill>
                <a:latin typeface="Courier New" pitchFamily="49" charset="0"/>
                <a:cs typeface="Courier New" pitchFamily="49" charset="0"/>
              </a:rPr>
              <a:t>BankingTransaction</a:t>
            </a:r>
            <a:r>
              <a:rPr lang="en-US" sz="2200" dirty="0" smtClean="0">
                <a:solidFill>
                  <a:srgbClr val="C00000"/>
                </a:solidFill>
                <a:latin typeface="Courier New" pitchFamily="49" charset="0"/>
                <a:cs typeface="Courier New" pitchFamily="49" charset="0"/>
              </a:rPr>
              <a:t> </a:t>
            </a:r>
            <a:r>
              <a:rPr lang="en-US" sz="2200" b="1" dirty="0" smtClean="0">
                <a:solidFill>
                  <a:srgbClr val="C00000"/>
                </a:solidFill>
                <a:latin typeface="Courier New" pitchFamily="49" charset="0"/>
                <a:cs typeface="Courier New" pitchFamily="49" charset="0"/>
              </a:rPr>
              <a:t>bt2</a:t>
            </a:r>
            <a:r>
              <a:rPr lang="en-US" sz="2200" dirty="0" smtClean="0">
                <a:solidFill>
                  <a:srgbClr val="C00000"/>
                </a:solidFill>
                <a:latin typeface="Courier New" pitchFamily="49" charset="0"/>
                <a:cs typeface="Courier New" pitchFamily="49" charset="0"/>
              </a:rPr>
              <a:t>);</a:t>
            </a:r>
          </a:p>
          <a:p>
            <a:r>
              <a:rPr lang="en-US" sz="2200" dirty="0" smtClean="0">
                <a:solidFill>
                  <a:srgbClr val="C00000"/>
                </a:solidFill>
                <a:latin typeface="Courier New" pitchFamily="49" charset="0"/>
                <a:cs typeface="Courier New" pitchFamily="49" charset="0"/>
              </a:rPr>
              <a:t>// Invalid, there is more than one parameter.</a:t>
            </a:r>
            <a:endParaRPr lang="en-US" sz="2200" dirty="0">
              <a:solidFill>
                <a:srgbClr val="C00000"/>
              </a:solidFill>
              <a:latin typeface="Courier New" pitchFamily="49" charset="0"/>
              <a:cs typeface="Courier New"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SOAP Faults</a:t>
            </a:r>
            <a:endParaRPr lang="en-US" dirty="0"/>
          </a:p>
        </p:txBody>
      </p:sp>
      <p:sp>
        <p:nvSpPr>
          <p:cNvPr id="3" name="Content Placeholder 2"/>
          <p:cNvSpPr>
            <a:spLocks noGrp="1"/>
          </p:cNvSpPr>
          <p:nvPr>
            <p:ph idx="1"/>
          </p:nvPr>
        </p:nvSpPr>
        <p:spPr/>
        <p:txBody>
          <a:bodyPr/>
          <a:lstStyle/>
          <a:p>
            <a:r>
              <a:rPr lang="en-US" sz="2400" dirty="0" smtClean="0"/>
              <a:t>Part of the SOAP specification describes </a:t>
            </a:r>
            <a:r>
              <a:rPr lang="en-US" sz="2400" i="1" dirty="0" smtClean="0">
                <a:solidFill>
                  <a:srgbClr val="C00000"/>
                </a:solidFill>
              </a:rPr>
              <a:t>how to format and send errors in SOAP messages</a:t>
            </a:r>
            <a:r>
              <a:rPr lang="en-US" sz="2400" dirty="0" smtClean="0"/>
              <a:t> by using SOAP faults.</a:t>
            </a:r>
          </a:p>
          <a:p>
            <a:r>
              <a:rPr lang="en-US" sz="2400" dirty="0" smtClean="0"/>
              <a:t>The SOAP specification includes a schema for formatting SOAP faults as XML text and encapsulating them in a SOAP message.</a:t>
            </a:r>
          </a:p>
          <a:p>
            <a:endParaRPr lang="en-US" sz="2400" dirty="0" smtClean="0"/>
          </a:p>
          <a:p>
            <a:r>
              <a:rPr lang="en-US" sz="2400" i="1" dirty="0" smtClean="0">
                <a:solidFill>
                  <a:srgbClr val="C00000"/>
                </a:solidFill>
              </a:rPr>
              <a:t>A SOAP fault must specify an error code and a text description of the fault (called the “reason”)</a:t>
            </a:r>
            <a:r>
              <a:rPr lang="en-US" sz="2400" dirty="0" smtClean="0"/>
              <a:t>, and it can include other optional pieces of information. Interoperable services built using the WCF should convert .NET Framework exceptions into SOAP faults and follow the SOAP specification for reporting these faults to client applications.</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Throwing and Catching a SOAP Fault</a:t>
            </a:r>
            <a:endParaRPr lang="en-US" sz="4200" dirty="0"/>
          </a:p>
        </p:txBody>
      </p:sp>
      <p:sp>
        <p:nvSpPr>
          <p:cNvPr id="4" name="Rectangle 3"/>
          <p:cNvSpPr/>
          <p:nvPr/>
        </p:nvSpPr>
        <p:spPr>
          <a:xfrm>
            <a:off x="152400" y="3124200"/>
            <a:ext cx="5105400" cy="3416320"/>
          </a:xfrm>
          <a:prstGeom prst="rect">
            <a:avLst/>
          </a:prstGeom>
        </p:spPr>
        <p:txBody>
          <a:bodyPr wrap="square">
            <a:spAutoFit/>
          </a:bodyPr>
          <a:lstStyle/>
          <a:p>
            <a:r>
              <a:rPr lang="en-US" dirty="0" smtClean="0">
                <a:solidFill>
                  <a:srgbClr val="C00000"/>
                </a:solidFill>
                <a:latin typeface="Courier" pitchFamily="49" charset="0"/>
              </a:rPr>
              <a:t>try</a:t>
            </a:r>
          </a:p>
          <a:p>
            <a:r>
              <a:rPr lang="en-US" dirty="0" smtClean="0">
                <a:solidFill>
                  <a:srgbClr val="C00000"/>
                </a:solidFill>
                <a:latin typeface="Courier" pitchFamily="49" charset="0"/>
              </a:rPr>
              <a:t>{</a:t>
            </a:r>
          </a:p>
          <a:p>
            <a:r>
              <a:rPr lang="en-US" dirty="0" smtClean="0">
                <a:solidFill>
                  <a:srgbClr val="C00000"/>
                </a:solidFill>
                <a:latin typeface="Courier" pitchFamily="49" charset="0"/>
              </a:rPr>
              <a:t>	...</a:t>
            </a:r>
          </a:p>
          <a:p>
            <a:r>
              <a:rPr lang="en-US" dirty="0" smtClean="0">
                <a:solidFill>
                  <a:srgbClr val="C00000"/>
                </a:solidFill>
                <a:latin typeface="Courier" pitchFamily="49" charset="0"/>
              </a:rPr>
              <a:t>}</a:t>
            </a:r>
          </a:p>
          <a:p>
            <a:r>
              <a:rPr lang="en-US" dirty="0" smtClean="0">
                <a:solidFill>
                  <a:srgbClr val="C00000"/>
                </a:solidFill>
                <a:latin typeface="Courier" pitchFamily="49" charset="0"/>
              </a:rPr>
              <a:t>catch (Exception e)</a:t>
            </a:r>
          </a:p>
          <a:p>
            <a:r>
              <a:rPr lang="en-US" dirty="0" smtClean="0">
                <a:solidFill>
                  <a:srgbClr val="C00000"/>
                </a:solidFill>
                <a:latin typeface="Courier" pitchFamily="49" charset="0"/>
              </a:rPr>
              <a:t>{</a:t>
            </a:r>
          </a:p>
          <a:p>
            <a:r>
              <a:rPr lang="en-US" dirty="0" smtClean="0">
                <a:solidFill>
                  <a:srgbClr val="C00000"/>
                </a:solidFill>
                <a:latin typeface="Courier" pitchFamily="49" charset="0"/>
              </a:rPr>
              <a:t>	throw new </a:t>
            </a:r>
            <a:r>
              <a:rPr lang="en-US" dirty="0" err="1" smtClean="0">
                <a:solidFill>
                  <a:srgbClr val="C00000"/>
                </a:solidFill>
                <a:latin typeface="Courier" pitchFamily="49" charset="0"/>
              </a:rPr>
              <a:t>FaultException</a:t>
            </a:r>
            <a:r>
              <a:rPr lang="en-US" dirty="0" smtClean="0">
                <a:solidFill>
                  <a:srgbClr val="C00000"/>
                </a:solidFill>
                <a:latin typeface="Courier" pitchFamily="49" charset="0"/>
              </a:rPr>
              <a:t>(</a:t>
            </a:r>
          </a:p>
          <a:p>
            <a:r>
              <a:rPr lang="en-US" dirty="0" smtClean="0">
                <a:solidFill>
                  <a:srgbClr val="C00000"/>
                </a:solidFill>
                <a:latin typeface="Courier" pitchFamily="49" charset="0"/>
              </a:rPr>
              <a:t>	"Exception accessing database: " +</a:t>
            </a:r>
          </a:p>
          <a:p>
            <a:r>
              <a:rPr lang="en-US" dirty="0" smtClean="0">
                <a:solidFill>
                  <a:srgbClr val="C00000"/>
                </a:solidFill>
                <a:latin typeface="Courier" pitchFamily="49" charset="0"/>
              </a:rPr>
              <a:t>	</a:t>
            </a:r>
            <a:r>
              <a:rPr lang="en-US" dirty="0" err="1" smtClean="0">
                <a:solidFill>
                  <a:srgbClr val="C00000"/>
                </a:solidFill>
                <a:latin typeface="Courier" pitchFamily="49" charset="0"/>
              </a:rPr>
              <a:t>e.InnerException.Message</a:t>
            </a:r>
            <a:r>
              <a:rPr lang="en-US" dirty="0" smtClean="0">
                <a:solidFill>
                  <a:srgbClr val="C00000"/>
                </a:solidFill>
                <a:latin typeface="Courier" pitchFamily="49" charset="0"/>
              </a:rPr>
              <a:t>, new </a:t>
            </a:r>
            <a:r>
              <a:rPr lang="en-US" dirty="0" err="1" smtClean="0">
                <a:solidFill>
                  <a:srgbClr val="C00000"/>
                </a:solidFill>
                <a:latin typeface="Courier" pitchFamily="49" charset="0"/>
              </a:rPr>
              <a:t>FaultCode</a:t>
            </a:r>
            <a:r>
              <a:rPr lang="en-US" dirty="0" smtClean="0">
                <a:solidFill>
                  <a:srgbClr val="C00000"/>
                </a:solidFill>
                <a:latin typeface="Courier" pitchFamily="49" charset="0"/>
              </a:rPr>
              <a:t>("Connect to database"));</a:t>
            </a:r>
          </a:p>
          <a:p>
            <a:r>
              <a:rPr lang="en-US" dirty="0" smtClean="0">
                <a:solidFill>
                  <a:srgbClr val="C00000"/>
                </a:solidFill>
                <a:latin typeface="Courier" pitchFamily="49" charset="0"/>
              </a:rPr>
              <a:t>}</a:t>
            </a:r>
            <a:endParaRPr lang="en-US" dirty="0">
              <a:solidFill>
                <a:srgbClr val="C00000"/>
              </a:solidFill>
              <a:latin typeface="Courier" pitchFamily="49" charset="0"/>
            </a:endParaRPr>
          </a:p>
        </p:txBody>
      </p:sp>
      <p:sp>
        <p:nvSpPr>
          <p:cNvPr id="5" name="Rectangle 4"/>
          <p:cNvSpPr/>
          <p:nvPr/>
        </p:nvSpPr>
        <p:spPr>
          <a:xfrm>
            <a:off x="5334000" y="3124200"/>
            <a:ext cx="3581400" cy="2862322"/>
          </a:xfrm>
          <a:prstGeom prst="rect">
            <a:avLst/>
          </a:prstGeom>
        </p:spPr>
        <p:txBody>
          <a:bodyPr wrap="square">
            <a:spAutoFit/>
          </a:bodyPr>
          <a:lstStyle/>
          <a:p>
            <a:r>
              <a:rPr lang="en-US" dirty="0" smtClean="0">
                <a:solidFill>
                  <a:srgbClr val="C00000"/>
                </a:solidFill>
                <a:latin typeface="Courier" pitchFamily="49" charset="0"/>
              </a:rPr>
              <a:t>try</a:t>
            </a:r>
          </a:p>
          <a:p>
            <a:r>
              <a:rPr lang="en-US" dirty="0" smtClean="0">
                <a:solidFill>
                  <a:srgbClr val="C00000"/>
                </a:solidFill>
                <a:latin typeface="Courier" pitchFamily="49" charset="0"/>
              </a:rPr>
              <a:t>{</a:t>
            </a:r>
          </a:p>
          <a:p>
            <a:r>
              <a:rPr lang="en-US" dirty="0" smtClean="0">
                <a:solidFill>
                  <a:srgbClr val="C00000"/>
                </a:solidFill>
                <a:latin typeface="Courier" pitchFamily="49" charset="0"/>
              </a:rPr>
              <a:t>	...</a:t>
            </a:r>
          </a:p>
          <a:p>
            <a:r>
              <a:rPr lang="en-US" dirty="0" smtClean="0">
                <a:solidFill>
                  <a:srgbClr val="C00000"/>
                </a:solidFill>
                <a:latin typeface="Courier" pitchFamily="49" charset="0"/>
              </a:rPr>
              <a:t>}</a:t>
            </a:r>
          </a:p>
          <a:p>
            <a:r>
              <a:rPr lang="en-US" dirty="0" smtClean="0">
                <a:solidFill>
                  <a:srgbClr val="C00000"/>
                </a:solidFill>
                <a:latin typeface="Courier" pitchFamily="49" charset="0"/>
              </a:rPr>
              <a:t>catch (</a:t>
            </a:r>
            <a:r>
              <a:rPr lang="en-US" dirty="0" err="1" smtClean="0">
                <a:solidFill>
                  <a:srgbClr val="C00000"/>
                </a:solidFill>
                <a:latin typeface="Courier" pitchFamily="49" charset="0"/>
              </a:rPr>
              <a:t>FaultException</a:t>
            </a:r>
            <a:r>
              <a:rPr lang="en-US" dirty="0" smtClean="0">
                <a:solidFill>
                  <a:srgbClr val="C00000"/>
                </a:solidFill>
                <a:latin typeface="Courier" pitchFamily="49" charset="0"/>
              </a:rPr>
              <a:t> e)</a:t>
            </a:r>
          </a:p>
          <a:p>
            <a:r>
              <a:rPr lang="en-US" dirty="0" smtClean="0">
                <a:solidFill>
                  <a:srgbClr val="C00000"/>
                </a:solidFill>
                <a:latin typeface="Courier" pitchFamily="49" charset="0"/>
              </a:rPr>
              <a:t>{</a:t>
            </a:r>
          </a:p>
          <a:p>
            <a:r>
              <a:rPr lang="en-US" dirty="0" smtClean="0">
                <a:solidFill>
                  <a:srgbClr val="C00000"/>
                </a:solidFill>
                <a:latin typeface="Courier" pitchFamily="49" charset="0"/>
              </a:rPr>
              <a:t>	</a:t>
            </a:r>
            <a:r>
              <a:rPr lang="en-US" dirty="0" err="1" smtClean="0">
                <a:solidFill>
                  <a:srgbClr val="C00000"/>
                </a:solidFill>
                <a:latin typeface="Courier" pitchFamily="49" charset="0"/>
              </a:rPr>
              <a:t>Console.WriteLine</a:t>
            </a:r>
            <a:r>
              <a:rPr lang="en-US" dirty="0" smtClean="0">
                <a:solidFill>
                  <a:srgbClr val="C00000"/>
                </a:solidFill>
                <a:latin typeface="Courier" pitchFamily="49" charset="0"/>
              </a:rPr>
              <a:t>("{0}: {1}", </a:t>
            </a:r>
            <a:r>
              <a:rPr lang="en-US" dirty="0" err="1" smtClean="0">
                <a:solidFill>
                  <a:srgbClr val="C00000"/>
                </a:solidFill>
                <a:latin typeface="Courier" pitchFamily="49" charset="0"/>
              </a:rPr>
              <a:t>e.Code.Name</a:t>
            </a:r>
            <a:r>
              <a:rPr lang="en-US" dirty="0" smtClean="0">
                <a:solidFill>
                  <a:srgbClr val="C00000"/>
                </a:solidFill>
                <a:latin typeface="Courier" pitchFamily="49" charset="0"/>
              </a:rPr>
              <a:t>, </a:t>
            </a:r>
            <a:r>
              <a:rPr lang="en-US" dirty="0" err="1" smtClean="0">
                <a:solidFill>
                  <a:srgbClr val="C00000"/>
                </a:solidFill>
                <a:latin typeface="Courier" pitchFamily="49" charset="0"/>
              </a:rPr>
              <a:t>e.Reason</a:t>
            </a:r>
            <a:r>
              <a:rPr lang="en-US" dirty="0" smtClean="0">
                <a:solidFill>
                  <a:srgbClr val="C00000"/>
                </a:solidFill>
                <a:latin typeface="Courier" pitchFamily="49" charset="0"/>
              </a:rPr>
              <a:t>);</a:t>
            </a:r>
          </a:p>
          <a:p>
            <a:r>
              <a:rPr lang="en-US" dirty="0" smtClean="0">
                <a:solidFill>
                  <a:srgbClr val="C00000"/>
                </a:solidFill>
                <a:latin typeface="Courier" pitchFamily="49" charset="0"/>
              </a:rPr>
              <a:t>}</a:t>
            </a:r>
            <a:endParaRPr lang="en-US" dirty="0">
              <a:solidFill>
                <a:srgbClr val="C00000"/>
              </a:solidFill>
              <a:latin typeface="Courier" pitchFamily="49" charset="0"/>
            </a:endParaRPr>
          </a:p>
        </p:txBody>
      </p:sp>
      <p:sp>
        <p:nvSpPr>
          <p:cNvPr id="6" name="Rectangle 5"/>
          <p:cNvSpPr/>
          <p:nvPr/>
        </p:nvSpPr>
        <p:spPr>
          <a:xfrm>
            <a:off x="228600" y="1676400"/>
            <a:ext cx="8534400" cy="1323439"/>
          </a:xfrm>
          <a:prstGeom prst="rect">
            <a:avLst/>
          </a:prstGeom>
        </p:spPr>
        <p:txBody>
          <a:bodyPr wrap="square">
            <a:spAutoFit/>
          </a:bodyPr>
          <a:lstStyle/>
          <a:p>
            <a:pPr marL="457200" indent="-457200">
              <a:buFont typeface="Arial" pitchFamily="34" charset="0"/>
              <a:buChar char="•"/>
            </a:pPr>
            <a:r>
              <a:rPr lang="en-US" sz="2000" dirty="0" smtClean="0">
                <a:latin typeface="+mj-lt"/>
              </a:rPr>
              <a:t>The WCF library provides the </a:t>
            </a:r>
            <a:r>
              <a:rPr lang="en-US" sz="2000" dirty="0" err="1" smtClean="0">
                <a:latin typeface="+mj-lt"/>
              </a:rPr>
              <a:t>FaultException</a:t>
            </a:r>
            <a:r>
              <a:rPr lang="en-US" sz="2000" dirty="0" smtClean="0">
                <a:latin typeface="+mj-lt"/>
              </a:rPr>
              <a:t> class in the </a:t>
            </a:r>
            <a:r>
              <a:rPr lang="en-US" sz="2000" dirty="0" err="1" smtClean="0">
                <a:latin typeface="+mj-lt"/>
              </a:rPr>
              <a:t>System.ServiceModel</a:t>
            </a:r>
            <a:r>
              <a:rPr lang="en-US" sz="2000" dirty="0" smtClean="0">
                <a:latin typeface="+mj-lt"/>
              </a:rPr>
              <a:t> namespace.</a:t>
            </a:r>
          </a:p>
          <a:p>
            <a:pPr marL="457200" indent="-457200">
              <a:buFont typeface="Arial" pitchFamily="34" charset="0"/>
              <a:buChar char="•"/>
            </a:pPr>
            <a:r>
              <a:rPr lang="en-US" sz="2000" dirty="0" smtClean="0">
                <a:latin typeface="+mj-lt"/>
              </a:rPr>
              <a:t>If a WCF service throws a </a:t>
            </a:r>
            <a:r>
              <a:rPr lang="en-US" sz="2000" dirty="0" err="1" smtClean="0">
                <a:latin typeface="+mj-lt"/>
              </a:rPr>
              <a:t>FaultException</a:t>
            </a:r>
            <a:r>
              <a:rPr lang="en-US" sz="2000" dirty="0" smtClean="0">
                <a:latin typeface="+mj-lt"/>
              </a:rPr>
              <a:t> object, the WCF runtime generates a SOAP fault message that is sent back to the client application.</a:t>
            </a:r>
            <a:endParaRPr lang="en-US" sz="2000" dirty="0">
              <a:latin typeface="+mj-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WCF Service Security</a:t>
            </a:r>
            <a:endParaRPr lang="en-US" dirty="0"/>
          </a:p>
        </p:txBody>
      </p:sp>
      <p:sp>
        <p:nvSpPr>
          <p:cNvPr id="3" name="Content Placeholder 2"/>
          <p:cNvSpPr>
            <a:spLocks noGrp="1"/>
          </p:cNvSpPr>
          <p:nvPr>
            <p:ph idx="1"/>
          </p:nvPr>
        </p:nvSpPr>
        <p:spPr/>
        <p:txBody>
          <a:bodyPr/>
          <a:lstStyle/>
          <a:p>
            <a:r>
              <a:rPr lang="en-US" sz="2200" dirty="0" smtClean="0"/>
              <a:t>Authentication—proof of identity</a:t>
            </a:r>
          </a:p>
          <a:p>
            <a:r>
              <a:rPr lang="en-US" sz="2200" dirty="0" smtClean="0"/>
              <a:t>Authorization—access to resources based on identity.</a:t>
            </a:r>
          </a:p>
          <a:p>
            <a:r>
              <a:rPr lang="en-US" sz="2200" dirty="0" smtClean="0"/>
              <a:t>Maintaining confidentiality of communications between a client application and a service.</a:t>
            </a:r>
          </a:p>
          <a:p>
            <a:pPr lvl="1"/>
            <a:r>
              <a:rPr lang="en-US" sz="1600" dirty="0" smtClean="0"/>
              <a:t>Typically, you achieve confidentiality by encrypting messages.</a:t>
            </a:r>
          </a:p>
          <a:p>
            <a:r>
              <a:rPr lang="en-US" sz="2200" dirty="0" smtClean="0"/>
              <a:t>Preventing tampering or corruption of messages.</a:t>
            </a:r>
          </a:p>
          <a:p>
            <a:pPr lvl="1"/>
            <a:r>
              <a:rPr lang="en-US" sz="1600" dirty="0" smtClean="0"/>
              <a:t>You can use techniques such as message hashing to generate a digital signature for the message, which a service can use to help detect corrupt or modified messages.</a:t>
            </a:r>
          </a:p>
          <a:p>
            <a:r>
              <a:rPr lang="en-US" sz="2200" dirty="0" smtClean="0"/>
              <a:t>Ensuring verifiable delivery of messages.</a:t>
            </a:r>
          </a:p>
          <a:p>
            <a:pPr lvl="1"/>
            <a:r>
              <a:rPr lang="en-US" sz="1600" dirty="0" smtClean="0"/>
              <a:t>Using a reliable message protocol can help to ensure that messages are either delivered to the destination within a reasonable time or that the sender will be alerted if they are not.</a:t>
            </a:r>
          </a:p>
          <a:p>
            <a:r>
              <a:rPr lang="en-US" sz="2200" dirty="0" smtClean="0"/>
              <a:t>Preventing impersonation of services.</a:t>
            </a:r>
          </a:p>
          <a:p>
            <a:pPr lvl="1"/>
            <a:r>
              <a:rPr lang="en-US" sz="1600" dirty="0" smtClean="0"/>
              <a:t>It's important for a client application to authenticate the service and verify that it is genuine as it is for a service to authenticate the user running the client application.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Streaming Message Transfer</a:t>
            </a:r>
            <a:endParaRPr lang="en-US" dirty="0"/>
          </a:p>
        </p:txBody>
      </p:sp>
      <p:sp>
        <p:nvSpPr>
          <p:cNvPr id="3" name="Content Placeholder 2"/>
          <p:cNvSpPr>
            <a:spLocks noGrp="1"/>
          </p:cNvSpPr>
          <p:nvPr>
            <p:ph idx="1"/>
          </p:nvPr>
        </p:nvSpPr>
        <p:spPr/>
        <p:txBody>
          <a:bodyPr/>
          <a:lstStyle/>
          <a:p>
            <a:r>
              <a:rPr lang="en-US" sz="2400" dirty="0" smtClean="0"/>
              <a:t>Windows Communication Foundation (WCF) transports support two modes for transferring messages: </a:t>
            </a:r>
          </a:p>
          <a:p>
            <a:pPr lvl="1"/>
            <a:r>
              <a:rPr lang="en-US" sz="1600" dirty="0" smtClean="0"/>
              <a:t>Buffered transfers hold the entire message in a memory buffer until the transfer is complete. A buffered message must be completely delivered before a receiver can read it.</a:t>
            </a:r>
          </a:p>
          <a:p>
            <a:pPr lvl="1"/>
            <a:r>
              <a:rPr lang="en-US" sz="1600" dirty="0" smtClean="0"/>
              <a:t>Streamed transfers expose the message as a stream. The receiver starts processing the message before it is completely delivered.</a:t>
            </a:r>
          </a:p>
          <a:p>
            <a:r>
              <a:rPr lang="en-US" sz="2400" dirty="0" smtClean="0"/>
              <a:t>Restrictions on Streamed Transfers</a:t>
            </a:r>
          </a:p>
          <a:p>
            <a:pPr lvl="1"/>
            <a:r>
              <a:rPr lang="en-US" sz="1600" dirty="0" smtClean="0"/>
              <a:t>Operations that occur across a streamed transport can have a contract with at most one input or output parameter. That parameter corresponds to the entire body of the message and must be a Message, a derived type of Stream, or an </a:t>
            </a:r>
            <a:r>
              <a:rPr lang="en-US" sz="1600" dirty="0" err="1" smtClean="0"/>
              <a:t>IXmlSerializable</a:t>
            </a:r>
            <a:r>
              <a:rPr lang="en-US" sz="1600" dirty="0" smtClean="0"/>
              <a:t> implementation. Having a return value for an operation is equivalent to having an output parameter.</a:t>
            </a:r>
          </a:p>
          <a:p>
            <a:pPr lvl="1"/>
            <a:r>
              <a:rPr lang="en-US" sz="1600" dirty="0" smtClean="0"/>
              <a:t>To secure a streamed transport, use transport-level security only or use transport-level security plus authentication-only message security. SOAP headers are always buffered, even when the transfer mode is set to streamed.</a:t>
            </a:r>
          </a:p>
          <a:p>
            <a:endParaRPr lang="en-US" dirty="0" smtClean="0"/>
          </a:p>
          <a:p>
            <a:pPr lvl="1"/>
            <a:endParaRPr lang="en-US" sz="2200"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Error</a:t>
            </a:r>
            <a:endParaRPr lang="en-US" dirty="0"/>
          </a:p>
        </p:txBody>
      </p:sp>
      <p:sp>
        <p:nvSpPr>
          <p:cNvPr id="3" name="Content Placeholder 2"/>
          <p:cNvSpPr>
            <a:spLocks noGrp="1"/>
          </p:cNvSpPr>
          <p:nvPr>
            <p:ph idx="1"/>
          </p:nvPr>
        </p:nvSpPr>
        <p:spPr/>
        <p:txBody>
          <a:bodyPr/>
          <a:lstStyle/>
          <a:p>
            <a:r>
              <a:rPr lang="en-US" sz="2800" dirty="0" smtClean="0">
                <a:solidFill>
                  <a:srgbClr val="C00000"/>
                </a:solidFill>
              </a:rPr>
              <a:t>An error occurred while receiving the HTTP response to http://…….svc. This could be due to the service endpoint binding not using the HTTP protocol. This could also be due to an HTTP request context being aborted by the server (possibly due to the service shutting down). See server logs for more details.</a:t>
            </a:r>
          </a:p>
          <a:p>
            <a:r>
              <a:rPr lang="en-US" sz="4400" b="1" dirty="0" smtClean="0"/>
              <a:t>Solution: Return type must be </a:t>
            </a:r>
            <a:r>
              <a:rPr lang="en-US" sz="4400" b="1" dirty="0" err="1" smtClean="0"/>
              <a:t>Serializable</a:t>
            </a:r>
            <a:endParaRPr lang="en-US" sz="4400" b="1"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WCF WEB HTTP programming model</a:t>
            </a:r>
            <a:endParaRPr lang="en-US" sz="4200" dirty="0"/>
          </a:p>
        </p:txBody>
      </p:sp>
      <p:sp>
        <p:nvSpPr>
          <p:cNvPr id="3" name="Content Placeholder 2"/>
          <p:cNvSpPr>
            <a:spLocks noGrp="1"/>
          </p:cNvSpPr>
          <p:nvPr>
            <p:ph idx="1"/>
          </p:nvPr>
        </p:nvSpPr>
        <p:spPr/>
        <p:txBody>
          <a:bodyPr/>
          <a:lstStyle/>
          <a:p>
            <a:r>
              <a:rPr lang="en-US" sz="2200" dirty="0" smtClean="0">
                <a:hlinkClick r:id="rId2"/>
              </a:rPr>
              <a:t>https://docs.microsoft.com/en-us/dotnet/framework/wcf/feature-details/wcf-web-http-programming-model-overview</a:t>
            </a:r>
            <a:endParaRPr lang="en-US" sz="2200" dirty="0" smtClean="0"/>
          </a:p>
          <a:p>
            <a:r>
              <a:rPr lang="en-US" sz="2200" dirty="0" smtClean="0"/>
              <a:t>The WCF WEB HTTP programming model extends the reach of WCF to cover Web-style scenarios that include WEB HTTP services, AJAX and JSON services, and Syndication (ATOM/RSS) feeds.</a:t>
            </a:r>
          </a:p>
          <a:p>
            <a:r>
              <a:rPr lang="en-US" sz="2200" dirty="0" smtClean="0"/>
              <a:t>There are no extra restrictions on the types of data that can be returned from a WEB HTTP service. Any </a:t>
            </a:r>
            <a:r>
              <a:rPr lang="en-US" sz="2200" dirty="0" err="1" smtClean="0"/>
              <a:t>serializable</a:t>
            </a:r>
            <a:r>
              <a:rPr lang="en-US" sz="2200" dirty="0" smtClean="0"/>
              <a:t> type can be returned from an WEB HTTP service operation.</a:t>
            </a:r>
          </a:p>
          <a:p>
            <a:r>
              <a:rPr lang="en-US" sz="2200" dirty="0" smtClean="0"/>
              <a:t>Because WEB HTTP service operations can be invoke by a web browser there is a limitation on what data types can be specified in a URL.</a:t>
            </a:r>
            <a:endParaRPr lang="en-US" sz="2200" dirty="0">
              <a:latin typeface="Consolas"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Elements</a:t>
            </a:r>
            <a:endParaRPr lang="en-US" dirty="0"/>
          </a:p>
        </p:txBody>
      </p:sp>
      <p:sp>
        <p:nvSpPr>
          <p:cNvPr id="3" name="Content Placeholder 2"/>
          <p:cNvSpPr>
            <a:spLocks noGrp="1"/>
          </p:cNvSpPr>
          <p:nvPr>
            <p:ph idx="1"/>
          </p:nvPr>
        </p:nvSpPr>
        <p:spPr/>
        <p:txBody>
          <a:bodyPr/>
          <a:lstStyle/>
          <a:p>
            <a:r>
              <a:rPr lang="en-US" dirty="0" smtClean="0"/>
              <a:t>Service</a:t>
            </a:r>
          </a:p>
          <a:p>
            <a:pPr lvl="1"/>
            <a:r>
              <a:rPr lang="en-US" dirty="0" smtClean="0"/>
              <a:t>URI</a:t>
            </a:r>
          </a:p>
          <a:p>
            <a:pPr lvl="1"/>
            <a:r>
              <a:rPr lang="en-US" dirty="0" smtClean="0"/>
              <a:t>Endpoint</a:t>
            </a:r>
          </a:p>
          <a:p>
            <a:pPr lvl="2"/>
            <a:r>
              <a:rPr lang="en-US" dirty="0" smtClean="0"/>
              <a:t>Binding</a:t>
            </a:r>
          </a:p>
          <a:p>
            <a:pPr lvl="2"/>
            <a:r>
              <a:rPr lang="en-US" dirty="0" smtClean="0"/>
              <a:t>Behavior (may be shared between endpoints)</a:t>
            </a:r>
          </a:p>
          <a:p>
            <a:pPr lvl="1"/>
            <a:r>
              <a:rPr lang="en-US" dirty="0" smtClean="0"/>
              <a:t>Behavior (may be shared between services)</a:t>
            </a:r>
          </a:p>
          <a:p>
            <a:pPr lvl="1"/>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URI Templates</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https://docs.microsoft.com/en-us/dotnet/api/system.servicemodel.web.webinvokeattribute.uritemplate?view=netframework-4.8</a:t>
            </a:r>
            <a:endParaRPr lang="en-US" sz="2400" dirty="0" smtClean="0"/>
          </a:p>
          <a:p>
            <a:r>
              <a:rPr lang="en-US" sz="2400" dirty="0" smtClean="0"/>
              <a:t>URI templates are used to determine which requests get dispatched to which service operations. URI templates allow you to map a URI or a set of URIs to a service operation.</a:t>
            </a:r>
          </a:p>
          <a:p>
            <a:endParaRPr lang="en-US" sz="2400" dirty="0" smtClean="0"/>
          </a:p>
          <a:p>
            <a:pPr lvl="1">
              <a:buNone/>
            </a:pPr>
            <a:r>
              <a:rPr lang="en-US" sz="2400" dirty="0" smtClean="0">
                <a:latin typeface="Consolas" pitchFamily="49" charset="0"/>
              </a:rPr>
              <a:t>[</a:t>
            </a:r>
            <a:r>
              <a:rPr lang="en-US" sz="2400" dirty="0" err="1" smtClean="0">
                <a:latin typeface="Consolas" pitchFamily="49" charset="0"/>
              </a:rPr>
              <a:t>OperationContract</a:t>
            </a:r>
            <a:r>
              <a:rPr lang="en-US" sz="2400" dirty="0" smtClean="0">
                <a:latin typeface="Consolas" pitchFamily="49" charset="0"/>
              </a:rPr>
              <a:t>]</a:t>
            </a:r>
          </a:p>
          <a:p>
            <a:pPr lvl="1">
              <a:buNone/>
            </a:pPr>
            <a:r>
              <a:rPr lang="en-US" sz="2400" dirty="0" smtClean="0">
                <a:latin typeface="Consolas" pitchFamily="49" charset="0"/>
              </a:rPr>
              <a:t>[</a:t>
            </a:r>
            <a:r>
              <a:rPr lang="en-US" sz="2400" dirty="0" err="1" smtClean="0">
                <a:latin typeface="Consolas" pitchFamily="49" charset="0"/>
              </a:rPr>
              <a:t>WebInvoke</a:t>
            </a:r>
            <a:r>
              <a:rPr lang="en-US" sz="2400" dirty="0" smtClean="0">
                <a:latin typeface="Consolas" pitchFamily="49" charset="0"/>
              </a:rPr>
              <a:t>(</a:t>
            </a:r>
            <a:r>
              <a:rPr lang="en-US" sz="2400" dirty="0" err="1" smtClean="0">
                <a:latin typeface="Consolas" pitchFamily="49" charset="0"/>
              </a:rPr>
              <a:t>UriTemplate</a:t>
            </a:r>
            <a:r>
              <a:rPr lang="en-US" sz="2400" dirty="0" smtClean="0">
                <a:latin typeface="Consolas" pitchFamily="49" charset="0"/>
              </a:rPr>
              <a:t> = "</a:t>
            </a:r>
            <a:r>
              <a:rPr lang="en-US" sz="2400" dirty="0" err="1" smtClean="0">
                <a:latin typeface="Consolas" pitchFamily="49" charset="0"/>
              </a:rPr>
              <a:t>Sub?x</a:t>
            </a:r>
            <a:r>
              <a:rPr lang="en-US" sz="2400" dirty="0" smtClean="0">
                <a:latin typeface="Consolas" pitchFamily="49" charset="0"/>
              </a:rPr>
              <a:t>={x}&amp;y={y}")] </a:t>
            </a:r>
          </a:p>
          <a:p>
            <a:pPr lvl="1">
              <a:buNone/>
            </a:pPr>
            <a:r>
              <a:rPr lang="en-US" sz="2400" dirty="0" smtClean="0">
                <a:latin typeface="Consolas" pitchFamily="49" charset="0"/>
              </a:rPr>
              <a:t>long Subtract(long x, long y);</a:t>
            </a:r>
            <a:endParaRPr lang="en-US" sz="2400" dirty="0">
              <a:latin typeface="Consolas"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Bindings</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https://docs.microsoft.com/en-us/dotnet/framework/configure-apps/file-schema/wcf/bindings</a:t>
            </a:r>
            <a:endParaRPr lang="en-US" sz="2400" dirty="0" smtClean="0"/>
          </a:p>
          <a:p>
            <a:r>
              <a:rPr lang="en-US" sz="2400" dirty="0" smtClean="0"/>
              <a:t>You can use the bindings element to configure a collection of standard and custom bindings for Windows Communication Foundation (WCF).</a:t>
            </a:r>
          </a:p>
          <a:p>
            <a:r>
              <a:rPr lang="en-US" sz="2400" dirty="0" smtClean="0"/>
              <a:t>System-provided bindings hide the complexity of the WCF messaging stack. Applications using system-provided bindings do not require full control over the stack.</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basicHttpBinding</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https://docs.microsoft.com/en-us/dotnet/framework/configure-apps/file-schema/wcf/basichttpbinding</a:t>
            </a:r>
            <a:endParaRPr lang="en-US" sz="2400" dirty="0" smtClean="0"/>
          </a:p>
          <a:p>
            <a:r>
              <a:rPr lang="en-US" sz="2400" dirty="0" smtClean="0"/>
              <a:t>Represents a binding that a Windows Communication Foundation (WCF) service can use to configure and expose endpoints that are able to communicate with </a:t>
            </a:r>
            <a:r>
              <a:rPr lang="en-US" sz="2400" i="1" dirty="0" smtClean="0">
                <a:solidFill>
                  <a:srgbClr val="C00000"/>
                </a:solidFill>
              </a:rPr>
              <a:t>ASMX-based Web services</a:t>
            </a:r>
            <a:r>
              <a:rPr lang="en-US" sz="2400" dirty="0" smtClean="0"/>
              <a:t> and clients and other services that conform to the WS-I Basic Profile 1.1.</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wsHttpBinding</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https://docs.microsoft.com/en-us/dotnet/framework/configure-apps/file-schema/wcf/wshttpbinding</a:t>
            </a:r>
            <a:endParaRPr lang="en-US" sz="2400" dirty="0" smtClean="0"/>
          </a:p>
          <a:p>
            <a:r>
              <a:rPr lang="en-US" sz="2400" dirty="0" smtClean="0"/>
              <a:t>Defines a secure, reliable, interoperable binding suitable for non-duplex service contracts. The binding implements the following specifications: </a:t>
            </a:r>
            <a:r>
              <a:rPr lang="en-US" sz="2400" i="1" dirty="0" smtClean="0">
                <a:solidFill>
                  <a:srgbClr val="C00000"/>
                </a:solidFill>
              </a:rPr>
              <a:t>WS-Reliable Messaging</a:t>
            </a:r>
            <a:r>
              <a:rPr lang="en-US" sz="2400" dirty="0" smtClean="0"/>
              <a:t> for reliability, and </a:t>
            </a:r>
            <a:r>
              <a:rPr lang="en-US" sz="2400" i="1" dirty="0" smtClean="0">
                <a:solidFill>
                  <a:srgbClr val="C00000"/>
                </a:solidFill>
              </a:rPr>
              <a:t>WS-Security</a:t>
            </a:r>
            <a:r>
              <a:rPr lang="en-US" sz="2400" dirty="0" smtClean="0"/>
              <a:t> for message security and authentication. The transport is HTTP, and message encoding is Text/XML encoding.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webHttpBinding</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https://docs.microsoft.com/en-us/dotnet/framework/configure-apps/file-schema/wcf/webhttpbinding</a:t>
            </a:r>
            <a:endParaRPr lang="en-US" sz="2400" dirty="0" smtClean="0"/>
          </a:p>
          <a:p>
            <a:r>
              <a:rPr lang="en-US" sz="2400" dirty="0" smtClean="0"/>
              <a:t>Defines a binding element that is used to configure endpoints for Windows Communication Foundation (WCF) Web services that respond to </a:t>
            </a:r>
            <a:r>
              <a:rPr lang="en-US" sz="2400" i="1" dirty="0" smtClean="0">
                <a:solidFill>
                  <a:srgbClr val="C00000"/>
                </a:solidFill>
              </a:rPr>
              <a:t>HTTP requests</a:t>
            </a:r>
            <a:r>
              <a:rPr lang="en-US" sz="2400" dirty="0" smtClean="0"/>
              <a:t> instead of SOAP messages.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&lt;behavior&gt; of &lt;</a:t>
            </a:r>
            <a:r>
              <a:rPr lang="en-US" dirty="0" err="1" smtClean="0"/>
              <a:t>serviceBehaviors</a:t>
            </a:r>
            <a:r>
              <a:rPr lang="en-US" dirty="0" smtClean="0"/>
              <a:t>&gt;</a:t>
            </a:r>
            <a:endParaRPr lang="en-US" dirty="0"/>
          </a:p>
        </p:txBody>
      </p:sp>
      <p:sp>
        <p:nvSpPr>
          <p:cNvPr id="3" name="Content Placeholder 2"/>
          <p:cNvSpPr>
            <a:spLocks noGrp="1"/>
          </p:cNvSpPr>
          <p:nvPr>
            <p:ph idx="1"/>
          </p:nvPr>
        </p:nvSpPr>
        <p:spPr/>
        <p:txBody>
          <a:bodyPr/>
          <a:lstStyle/>
          <a:p>
            <a:r>
              <a:rPr lang="en-US" sz="2200" dirty="0" smtClean="0">
                <a:hlinkClick r:id="rId2"/>
              </a:rPr>
              <a:t>https://docs.microsoft.com/en-us/dotnet/framework/configure-apps/file-schema/wcf/behavior-of-servicebehaviors</a:t>
            </a:r>
            <a:endParaRPr lang="en-US" sz="2200" dirty="0" smtClean="0"/>
          </a:p>
          <a:p>
            <a:r>
              <a:rPr lang="en-US" sz="2400" dirty="0" smtClean="0"/>
              <a:t>The behavior element contains a collection of settings for the behavior of a service.</a:t>
            </a:r>
          </a:p>
          <a:p>
            <a:r>
              <a:rPr lang="en-US" sz="2400" dirty="0" smtClean="0"/>
              <a:t>This allows endpoints to share common behavior configurations without redefining the settings.</a:t>
            </a:r>
            <a:endParaRPr 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&lt;behavior&gt; of &lt;</a:t>
            </a:r>
            <a:r>
              <a:rPr lang="en-US" sz="4200" dirty="0" err="1" smtClean="0"/>
              <a:t>endpointBehaviors</a:t>
            </a:r>
            <a:r>
              <a:rPr lang="en-US" sz="4200" dirty="0" smtClean="0"/>
              <a:t>&gt;</a:t>
            </a:r>
            <a:endParaRPr lang="en-US" sz="4200" dirty="0"/>
          </a:p>
        </p:txBody>
      </p:sp>
      <p:sp>
        <p:nvSpPr>
          <p:cNvPr id="3" name="Content Placeholder 2"/>
          <p:cNvSpPr>
            <a:spLocks noGrp="1"/>
          </p:cNvSpPr>
          <p:nvPr>
            <p:ph idx="1"/>
          </p:nvPr>
        </p:nvSpPr>
        <p:spPr/>
        <p:txBody>
          <a:bodyPr/>
          <a:lstStyle/>
          <a:p>
            <a:r>
              <a:rPr lang="en-US" sz="2200" dirty="0" smtClean="0">
                <a:hlinkClick r:id="rId2"/>
              </a:rPr>
              <a:t>https://docs.microsoft.com/en-us/dotnet/framework/configure-apps/file-schema/wcf/behavior-of-endpointbehaviors</a:t>
            </a:r>
            <a:endParaRPr lang="en-US" sz="2200" dirty="0" smtClean="0"/>
          </a:p>
          <a:p>
            <a:r>
              <a:rPr lang="en-US" sz="2400" dirty="0" smtClean="0"/>
              <a:t>The behavior element contains a collection of settings for the behavior of an endpoint.</a:t>
            </a:r>
          </a:p>
          <a:p>
            <a:endParaRPr lang="en-US" sz="2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t>webHttp</a:t>
            </a:r>
            <a:endParaRPr lang="en-US" sz="4000" dirty="0"/>
          </a:p>
        </p:txBody>
      </p:sp>
      <p:sp>
        <p:nvSpPr>
          <p:cNvPr id="3" name="Content Placeholder 2"/>
          <p:cNvSpPr>
            <a:spLocks noGrp="1"/>
          </p:cNvSpPr>
          <p:nvPr>
            <p:ph idx="1"/>
          </p:nvPr>
        </p:nvSpPr>
        <p:spPr/>
        <p:txBody>
          <a:bodyPr/>
          <a:lstStyle/>
          <a:p>
            <a:r>
              <a:rPr lang="en-US" sz="2200" dirty="0" smtClean="0">
                <a:hlinkClick r:id="rId2"/>
              </a:rPr>
              <a:t>https://docs.microsoft.com/en-us/dotnet/framework/configure-apps/file-schema/wcf/webhttp</a:t>
            </a:r>
            <a:endParaRPr lang="en-US" sz="2200" dirty="0" smtClean="0"/>
          </a:p>
          <a:p>
            <a:r>
              <a:rPr lang="en-US" sz="2200" dirty="0" smtClean="0"/>
              <a:t>This element specifies the </a:t>
            </a:r>
            <a:r>
              <a:rPr lang="en-US" sz="2200" dirty="0" err="1" smtClean="0"/>
              <a:t>WebHttpBehavior</a:t>
            </a:r>
            <a:r>
              <a:rPr lang="en-US" sz="2200" dirty="0" smtClean="0"/>
              <a:t> on an endpoint through configuration.</a:t>
            </a:r>
            <a:endParaRPr lang="en-US" sz="2200" smtClean="0"/>
          </a:p>
          <a:p>
            <a:r>
              <a:rPr lang="en-US" sz="2200" smtClean="0"/>
              <a:t>This </a:t>
            </a:r>
            <a:r>
              <a:rPr lang="en-US" sz="2200" dirty="0" smtClean="0"/>
              <a:t>behavior, when used in conjunction with the &lt;</a:t>
            </a:r>
            <a:r>
              <a:rPr lang="en-US" sz="2200" dirty="0" err="1" smtClean="0"/>
              <a:t>webHttpBinding</a:t>
            </a:r>
            <a:r>
              <a:rPr lang="en-US" sz="2200" dirty="0" smtClean="0"/>
              <a:t>&gt; standard binding, enables the Web programming model for a Windows Communication Foundation (WCF) service.</a:t>
            </a:r>
            <a:endParaRPr lang="en-US" sz="2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Host a WCF Service in IIS</a:t>
            </a:r>
            <a:endParaRPr lang="en-US" dirty="0"/>
          </a:p>
        </p:txBody>
      </p:sp>
      <p:sp>
        <p:nvSpPr>
          <p:cNvPr id="3" name="Content Placeholder 2"/>
          <p:cNvSpPr>
            <a:spLocks noGrp="1"/>
          </p:cNvSpPr>
          <p:nvPr>
            <p:ph idx="1"/>
          </p:nvPr>
        </p:nvSpPr>
        <p:spPr/>
        <p:txBody>
          <a:bodyPr/>
          <a:lstStyle/>
          <a:p>
            <a:r>
              <a:rPr lang="en-US" sz="2200" dirty="0" smtClean="0">
                <a:hlinkClick r:id="rId2"/>
              </a:rPr>
              <a:t>https://docs.microsoft.com/en-us/dotnet/framework/wcf/feature-details/how-to-host-a-wcf-service-in-iis?redirectedfrom=MSDN</a:t>
            </a:r>
            <a:endParaRPr lang="en-US" sz="2200" dirty="0" smtClean="0"/>
          </a:p>
          <a:p>
            <a:r>
              <a:rPr lang="en-US" sz="2200" dirty="0" smtClean="0"/>
              <a:t>Create a new file named "</a:t>
            </a:r>
            <a:r>
              <a:rPr lang="en-US" sz="2200" b="1" dirty="0" smtClean="0">
                <a:latin typeface="Consolas" pitchFamily="49" charset="0"/>
              </a:rPr>
              <a:t>Service.svc</a:t>
            </a:r>
            <a:r>
              <a:rPr lang="en-US" sz="2200" dirty="0" smtClean="0"/>
              <a:t>" in the application directory. Edit this file by adding the following </a:t>
            </a:r>
            <a:r>
              <a:rPr lang="en-US" sz="2200" b="1" dirty="0" smtClean="0">
                <a:latin typeface="Consolas" pitchFamily="49" charset="0"/>
              </a:rPr>
              <a:t>@</a:t>
            </a:r>
            <a:r>
              <a:rPr lang="en-US" sz="2200" b="1" dirty="0" err="1" smtClean="0">
                <a:latin typeface="Consolas" pitchFamily="49" charset="0"/>
              </a:rPr>
              <a:t>ServiceHost</a:t>
            </a:r>
            <a:r>
              <a:rPr lang="en-US" sz="2200" dirty="0" smtClean="0"/>
              <a:t> element.</a:t>
            </a:r>
          </a:p>
          <a:p>
            <a:r>
              <a:rPr lang="en-US" sz="2200" dirty="0" smtClean="0">
                <a:latin typeface="Consolas" pitchFamily="49" charset="0"/>
              </a:rPr>
              <a:t>&lt;%@</a:t>
            </a:r>
            <a:r>
              <a:rPr lang="en-US" sz="2200" dirty="0" err="1" smtClean="0">
                <a:latin typeface="Consolas" pitchFamily="49" charset="0"/>
              </a:rPr>
              <a:t>ServiceHost</a:t>
            </a:r>
            <a:r>
              <a:rPr lang="en-US" sz="2200" dirty="0" smtClean="0">
                <a:latin typeface="Consolas" pitchFamily="49" charset="0"/>
              </a:rPr>
              <a:t> language=c# Debug="true" Service="</a:t>
            </a:r>
            <a:r>
              <a:rPr lang="en-US" sz="2200" dirty="0" err="1" smtClean="0">
                <a:latin typeface="Consolas" pitchFamily="49" charset="0"/>
              </a:rPr>
              <a:t>com.CompanyName.CalculatorService</a:t>
            </a:r>
            <a:r>
              <a:rPr lang="en-US" sz="2200" dirty="0" smtClean="0">
                <a:latin typeface="Consolas" pitchFamily="49" charset="0"/>
              </a:rPr>
              <a:t>"%&gt;</a:t>
            </a:r>
          </a:p>
          <a:p>
            <a:r>
              <a:rPr lang="en-US" sz="2200" dirty="0" smtClean="0"/>
              <a:t>At runtime, the WCF infrastructure uses the </a:t>
            </a:r>
            <a:r>
              <a:rPr lang="en-US" sz="2200" b="1" dirty="0" smtClean="0">
                <a:latin typeface="Consolas" pitchFamily="49" charset="0"/>
              </a:rPr>
              <a:t>&lt;</a:t>
            </a:r>
            <a:r>
              <a:rPr lang="en-US" sz="2200" b="1" dirty="0" err="1" smtClean="0">
                <a:latin typeface="Consolas" pitchFamily="49" charset="0"/>
              </a:rPr>
              <a:t>system.serviceModel</a:t>
            </a:r>
            <a:r>
              <a:rPr lang="en-US" sz="2200" b="1" dirty="0" smtClean="0">
                <a:latin typeface="Consolas" pitchFamily="49" charset="0"/>
              </a:rPr>
              <a:t>&gt;</a:t>
            </a:r>
            <a:r>
              <a:rPr lang="en-US" sz="2200" dirty="0" smtClean="0"/>
              <a:t> information in </a:t>
            </a:r>
            <a:r>
              <a:rPr lang="en-US" sz="2200" b="1" dirty="0" err="1" smtClean="0">
                <a:latin typeface="Consolas" pitchFamily="49" charset="0"/>
              </a:rPr>
              <a:t>web.config</a:t>
            </a:r>
            <a:r>
              <a:rPr lang="en-US" sz="2200" dirty="0" smtClean="0"/>
              <a:t> to construct an endpoint that client applications can communicate with.</a:t>
            </a:r>
          </a:p>
          <a:p>
            <a:r>
              <a:rPr lang="en-US" sz="2200" dirty="0" smtClean="0"/>
              <a:t>Test the service: http://localhost/Service.svc</a:t>
            </a:r>
            <a:endParaRPr lang="en-US" sz="2200" dirty="0">
              <a:latin typeface="Consolas"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File-Less Activation</a:t>
            </a:r>
            <a:endParaRPr lang="en-US" dirty="0"/>
          </a:p>
        </p:txBody>
      </p:sp>
      <p:sp>
        <p:nvSpPr>
          <p:cNvPr id="3" name="Content Placeholder 2"/>
          <p:cNvSpPr>
            <a:spLocks noGrp="1"/>
          </p:cNvSpPr>
          <p:nvPr>
            <p:ph idx="1"/>
          </p:nvPr>
        </p:nvSpPr>
        <p:spPr/>
        <p:txBody>
          <a:bodyPr/>
          <a:lstStyle/>
          <a:p>
            <a:r>
              <a:rPr lang="en-US" sz="1800" dirty="0" smtClean="0">
                <a:hlinkClick r:id="rId2"/>
              </a:rPr>
              <a:t>https://docs.microsoft.com/en-us/previous-versions/dotnet/articles/ee354381(v=msdn.10)</a:t>
            </a:r>
            <a:endParaRPr lang="en-US" sz="1800" dirty="0" smtClean="0"/>
          </a:p>
          <a:p>
            <a:r>
              <a:rPr lang="en-US" sz="1800" dirty="0" smtClean="0"/>
              <a:t>In WCF 4, you can define virtual service activation endpoints that map to your service types in </a:t>
            </a:r>
            <a:r>
              <a:rPr lang="en-US" sz="1800" dirty="0" err="1" smtClean="0"/>
              <a:t>Web.config</a:t>
            </a:r>
            <a:r>
              <a:rPr lang="en-US" sz="1800" dirty="0" smtClean="0"/>
              <a:t>. This makes it possible to activate WCF services without having to maintain physical .svc files (a.k.a. “file-less activation”).</a:t>
            </a:r>
          </a:p>
          <a:p>
            <a:endParaRPr lang="en-US" sz="1800" dirty="0" smtClean="0"/>
          </a:p>
          <a:p>
            <a:pPr>
              <a:buNone/>
            </a:pPr>
            <a:r>
              <a:rPr lang="en-US" sz="1800" b="1" dirty="0" smtClean="0">
                <a:latin typeface="Consolas" pitchFamily="49" charset="0"/>
              </a:rPr>
              <a:t>  &lt;</a:t>
            </a:r>
            <a:r>
              <a:rPr lang="en-US" sz="1800" b="1" dirty="0" err="1" smtClean="0">
                <a:latin typeface="Consolas" pitchFamily="49" charset="0"/>
              </a:rPr>
              <a:t>system.serviceModel</a:t>
            </a:r>
            <a:r>
              <a:rPr lang="en-US" sz="1800" b="1" dirty="0" smtClean="0">
                <a:latin typeface="Consolas" pitchFamily="49" charset="0"/>
              </a:rPr>
              <a:t>&gt;</a:t>
            </a:r>
          </a:p>
          <a:p>
            <a:pPr>
              <a:buNone/>
            </a:pPr>
            <a:r>
              <a:rPr lang="en-US" sz="1800" b="1" dirty="0" smtClean="0">
                <a:latin typeface="Consolas" pitchFamily="49" charset="0"/>
              </a:rPr>
              <a:t>    &lt;</a:t>
            </a:r>
            <a:r>
              <a:rPr lang="en-US" sz="1800" b="1" dirty="0" err="1" smtClean="0">
                <a:latin typeface="Consolas" pitchFamily="49" charset="0"/>
              </a:rPr>
              <a:t>serviceHostingEnvironment</a:t>
            </a:r>
            <a:r>
              <a:rPr lang="en-US" sz="1800" b="1" dirty="0" smtClean="0">
                <a:latin typeface="Consolas" pitchFamily="49" charset="0"/>
              </a:rPr>
              <a:t>&gt;</a:t>
            </a:r>
          </a:p>
          <a:p>
            <a:pPr>
              <a:buNone/>
            </a:pPr>
            <a:r>
              <a:rPr lang="en-US" sz="1800" b="1" dirty="0" smtClean="0">
                <a:latin typeface="Consolas" pitchFamily="49" charset="0"/>
              </a:rPr>
              <a:t>      &lt;</a:t>
            </a:r>
            <a:r>
              <a:rPr lang="en-US" sz="1800" b="1" dirty="0" err="1" smtClean="0">
                <a:latin typeface="Consolas" pitchFamily="49" charset="0"/>
              </a:rPr>
              <a:t>serviceActivations</a:t>
            </a:r>
            <a:r>
              <a:rPr lang="en-US" sz="1800" b="1" dirty="0" smtClean="0">
                <a:latin typeface="Consolas" pitchFamily="49" charset="0"/>
              </a:rPr>
              <a:t>&gt;</a:t>
            </a:r>
          </a:p>
          <a:p>
            <a:pPr>
              <a:buNone/>
            </a:pPr>
            <a:r>
              <a:rPr lang="en-US" sz="1800" b="1" dirty="0" smtClean="0">
                <a:latin typeface="Consolas" pitchFamily="49" charset="0"/>
              </a:rPr>
              <a:t>        &lt;add </a:t>
            </a:r>
            <a:r>
              <a:rPr lang="en-US" sz="1800" b="1" dirty="0" err="1" smtClean="0">
                <a:latin typeface="Consolas" pitchFamily="49" charset="0"/>
              </a:rPr>
              <a:t>relativeAddress</a:t>
            </a:r>
            <a:r>
              <a:rPr lang="en-US" sz="1800" b="1" dirty="0" smtClean="0">
                <a:latin typeface="Consolas" pitchFamily="49" charset="0"/>
              </a:rPr>
              <a:t>="Greeting.svc" service="</a:t>
            </a:r>
            <a:r>
              <a:rPr lang="en-US" sz="1800" b="1" dirty="0" err="1" smtClean="0">
                <a:latin typeface="Consolas" pitchFamily="49" charset="0"/>
              </a:rPr>
              <a:t>GreetingService</a:t>
            </a:r>
            <a:r>
              <a:rPr lang="en-US" sz="1800" b="1" dirty="0" smtClean="0">
                <a:latin typeface="Consolas" pitchFamily="49" charset="0"/>
              </a:rPr>
              <a:t>"/&gt;</a:t>
            </a:r>
          </a:p>
          <a:p>
            <a:pPr>
              <a:buNone/>
            </a:pPr>
            <a:r>
              <a:rPr lang="en-US" sz="1800" b="1" dirty="0" smtClean="0">
                <a:latin typeface="Consolas" pitchFamily="49" charset="0"/>
              </a:rPr>
              <a:t>      &lt;/</a:t>
            </a:r>
            <a:r>
              <a:rPr lang="en-US" sz="1800" b="1" dirty="0" err="1" smtClean="0">
                <a:latin typeface="Consolas" pitchFamily="49" charset="0"/>
              </a:rPr>
              <a:t>serviceActivations</a:t>
            </a:r>
            <a:r>
              <a:rPr lang="en-US" sz="1800" b="1" dirty="0" smtClean="0">
                <a:latin typeface="Consolas" pitchFamily="49" charset="0"/>
              </a:rPr>
              <a:t>&gt;</a:t>
            </a:r>
          </a:p>
          <a:p>
            <a:pPr>
              <a:buNone/>
            </a:pPr>
            <a:r>
              <a:rPr lang="en-US" sz="1800" b="1" dirty="0" smtClean="0">
                <a:latin typeface="Consolas" pitchFamily="49" charset="0"/>
              </a:rPr>
              <a:t>    &lt;/</a:t>
            </a:r>
            <a:r>
              <a:rPr lang="en-US" sz="1800" b="1" dirty="0" err="1" smtClean="0">
                <a:latin typeface="Consolas" pitchFamily="49" charset="0"/>
              </a:rPr>
              <a:t>serviceHostingEnvironment</a:t>
            </a:r>
            <a:r>
              <a:rPr lang="en-US" sz="1800" b="1" dirty="0" smtClean="0">
                <a:latin typeface="Consolas" pitchFamily="49" charset="0"/>
              </a:rPr>
              <a:t>&gt;</a:t>
            </a:r>
          </a:p>
          <a:p>
            <a:pPr>
              <a:buNone/>
            </a:pPr>
            <a:r>
              <a:rPr lang="en-US" sz="1800" b="1" dirty="0" smtClean="0">
                <a:latin typeface="Consolas" pitchFamily="49" charset="0"/>
              </a:rPr>
              <a:t>  &lt;/</a:t>
            </a:r>
            <a:r>
              <a:rPr lang="en-US" sz="1800" b="1" dirty="0" err="1" smtClean="0">
                <a:latin typeface="Consolas" pitchFamily="49" charset="0"/>
              </a:rPr>
              <a:t>system.serviceModel</a:t>
            </a:r>
            <a:r>
              <a:rPr lang="en-US" sz="1800" b="1" dirty="0" smtClean="0">
                <a:latin typeface="Consolas" pitchFamily="49" charset="0"/>
              </a:rPr>
              <a:t>&gt;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JSON and </a:t>
            </a:r>
            <a:r>
              <a:rPr lang="en-US" sz="4000" dirty="0" err="1" smtClean="0"/>
              <a:t>WebMessageBodyStyle.Bare</a:t>
            </a:r>
            <a:endParaRPr lang="en-US" sz="4000" dirty="0"/>
          </a:p>
        </p:txBody>
      </p:sp>
      <p:sp>
        <p:nvSpPr>
          <p:cNvPr id="3" name="Content Placeholder 2"/>
          <p:cNvSpPr>
            <a:spLocks noGrp="1"/>
          </p:cNvSpPr>
          <p:nvPr>
            <p:ph idx="1"/>
          </p:nvPr>
        </p:nvSpPr>
        <p:spPr/>
        <p:txBody>
          <a:bodyPr/>
          <a:lstStyle/>
          <a:p>
            <a:r>
              <a:rPr lang="en-US" sz="2400" dirty="0" smtClean="0"/>
              <a:t>Request:</a:t>
            </a:r>
          </a:p>
          <a:p>
            <a:pPr>
              <a:buNone/>
            </a:pPr>
            <a:r>
              <a:rPr lang="en-US" sz="2400" i="1" dirty="0" smtClean="0">
                <a:latin typeface="Consolas" pitchFamily="49" charset="0"/>
              </a:rPr>
              <a:t>	{</a:t>
            </a:r>
          </a:p>
          <a:p>
            <a:pPr>
              <a:buNone/>
            </a:pPr>
            <a:r>
              <a:rPr lang="en-US" sz="2400" i="1" dirty="0" smtClean="0">
                <a:latin typeface="Consolas" pitchFamily="49" charset="0"/>
              </a:rPr>
              <a:t>		"Name1":"value1",</a:t>
            </a:r>
          </a:p>
          <a:p>
            <a:pPr>
              <a:buNone/>
            </a:pPr>
            <a:r>
              <a:rPr lang="en-US" sz="2400" i="1" dirty="0" smtClean="0">
                <a:latin typeface="Consolas" pitchFamily="49" charset="0"/>
              </a:rPr>
              <a:t>		"Name2":"value2"</a:t>
            </a:r>
          </a:p>
          <a:p>
            <a:pPr>
              <a:buNone/>
            </a:pPr>
            <a:r>
              <a:rPr lang="en-US" sz="2400" i="1" dirty="0" smtClean="0">
                <a:latin typeface="Consolas" pitchFamily="49" charset="0"/>
              </a:rPr>
              <a:t>	}</a:t>
            </a:r>
          </a:p>
          <a:p>
            <a:r>
              <a:rPr lang="en-US" sz="2400" dirty="0" smtClean="0"/>
              <a:t>Response:</a:t>
            </a:r>
          </a:p>
          <a:p>
            <a:pPr>
              <a:buNone/>
            </a:pPr>
            <a:r>
              <a:rPr lang="en-US" sz="2400" i="1" dirty="0" smtClean="0"/>
              <a:t>	</a:t>
            </a:r>
            <a:r>
              <a:rPr lang="en-US" sz="2400" i="1" dirty="0" smtClean="0">
                <a:latin typeface="Consolas" pitchFamily="49" charset="0"/>
              </a:rPr>
              <a:t>{</a:t>
            </a:r>
          </a:p>
          <a:p>
            <a:pPr>
              <a:buNone/>
            </a:pPr>
            <a:r>
              <a:rPr lang="en-US" sz="2400" i="1" dirty="0" smtClean="0">
                <a:latin typeface="Consolas" pitchFamily="49" charset="0"/>
              </a:rPr>
              <a:t>		"Name1":"value1",</a:t>
            </a:r>
          </a:p>
          <a:p>
            <a:pPr>
              <a:buNone/>
            </a:pPr>
            <a:r>
              <a:rPr lang="en-US" sz="2400" i="1" dirty="0" smtClean="0">
                <a:latin typeface="Consolas" pitchFamily="49" charset="0"/>
              </a:rPr>
              <a:t>		"Name2":"value2"</a:t>
            </a:r>
          </a:p>
          <a:p>
            <a:pPr>
              <a:buNone/>
            </a:pPr>
            <a:r>
              <a:rPr lang="en-US" sz="2400" i="1" dirty="0" smtClean="0">
                <a:latin typeface="Consolas" pitchFamily="49" charset="0"/>
              </a:rPr>
              <a:t>	}</a:t>
            </a:r>
            <a:endParaRPr lang="en-US" sz="2400" i="1" dirty="0">
              <a:latin typeface="Consolas"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JSON and </a:t>
            </a:r>
            <a:r>
              <a:rPr lang="en-US" sz="3600" dirty="0" err="1" smtClean="0"/>
              <a:t>WebMessageBodyStyle.Wrapped</a:t>
            </a:r>
            <a:endParaRPr lang="en-US" sz="3600" dirty="0"/>
          </a:p>
        </p:txBody>
      </p:sp>
      <p:sp>
        <p:nvSpPr>
          <p:cNvPr id="3" name="Content Placeholder 2"/>
          <p:cNvSpPr>
            <a:spLocks noGrp="1"/>
          </p:cNvSpPr>
          <p:nvPr>
            <p:ph idx="1"/>
          </p:nvPr>
        </p:nvSpPr>
        <p:spPr/>
        <p:txBody>
          <a:bodyPr/>
          <a:lstStyle/>
          <a:p>
            <a:r>
              <a:rPr lang="en-US" sz="2400" dirty="0" smtClean="0"/>
              <a:t>Request:</a:t>
            </a:r>
          </a:p>
          <a:p>
            <a:pPr>
              <a:buNone/>
            </a:pPr>
            <a:r>
              <a:rPr lang="en-US" sz="2400" i="1" dirty="0" smtClean="0">
                <a:latin typeface="Consolas" pitchFamily="49" charset="0"/>
              </a:rPr>
              <a:t>	</a:t>
            </a:r>
            <a:r>
              <a:rPr lang="en-US" sz="2400" i="1" dirty="0" smtClean="0"/>
              <a:t> {"</a:t>
            </a:r>
            <a:r>
              <a:rPr lang="en-US" sz="2400" b="1" i="1" dirty="0" err="1" smtClean="0"/>
              <a:t>DataClassName</a:t>
            </a:r>
            <a:r>
              <a:rPr lang="en-US" sz="2400" i="1" dirty="0" smtClean="0"/>
              <a:t>": </a:t>
            </a:r>
            <a:r>
              <a:rPr lang="en-US" sz="2400" i="1" dirty="0" smtClean="0">
                <a:latin typeface="Consolas" pitchFamily="49" charset="0"/>
              </a:rPr>
              <a:t>{</a:t>
            </a:r>
          </a:p>
          <a:p>
            <a:pPr>
              <a:buNone/>
            </a:pPr>
            <a:r>
              <a:rPr lang="en-US" sz="2400" i="1" dirty="0" smtClean="0">
                <a:latin typeface="Consolas" pitchFamily="49" charset="0"/>
              </a:rPr>
              <a:t>		"Name1":"value1",</a:t>
            </a:r>
          </a:p>
          <a:p>
            <a:pPr>
              <a:buNone/>
            </a:pPr>
            <a:r>
              <a:rPr lang="en-US" sz="2400" i="1" dirty="0" smtClean="0">
                <a:latin typeface="Consolas" pitchFamily="49" charset="0"/>
              </a:rPr>
              <a:t>		"Name2":"value2"</a:t>
            </a:r>
          </a:p>
          <a:p>
            <a:pPr>
              <a:buNone/>
            </a:pPr>
            <a:r>
              <a:rPr lang="en-US" sz="2400" i="1" dirty="0" smtClean="0">
                <a:latin typeface="Consolas" pitchFamily="49" charset="0"/>
              </a:rPr>
              <a:t>	}}</a:t>
            </a:r>
          </a:p>
          <a:p>
            <a:r>
              <a:rPr lang="en-US" sz="2400" dirty="0" smtClean="0"/>
              <a:t>Response:</a:t>
            </a:r>
          </a:p>
          <a:p>
            <a:pPr>
              <a:buNone/>
            </a:pPr>
            <a:r>
              <a:rPr lang="en-US" sz="2400" i="1" dirty="0" smtClean="0"/>
              <a:t>	 {"</a:t>
            </a:r>
            <a:r>
              <a:rPr lang="en-US" sz="2400" b="1" i="1" dirty="0" err="1" smtClean="0"/>
              <a:t>MethodName</a:t>
            </a:r>
            <a:r>
              <a:rPr lang="en-US" sz="2400" i="1" dirty="0" err="1" smtClean="0"/>
              <a:t>Result</a:t>
            </a:r>
            <a:r>
              <a:rPr lang="en-US" sz="2400" i="1" dirty="0" smtClean="0"/>
              <a:t>": </a:t>
            </a:r>
            <a:r>
              <a:rPr lang="en-US" sz="2400" i="1" dirty="0" smtClean="0">
                <a:latin typeface="Consolas" pitchFamily="49" charset="0"/>
              </a:rPr>
              <a:t>{</a:t>
            </a:r>
          </a:p>
          <a:p>
            <a:pPr>
              <a:buNone/>
            </a:pPr>
            <a:r>
              <a:rPr lang="en-US" sz="2400" i="1" dirty="0" smtClean="0">
                <a:latin typeface="Consolas" pitchFamily="49" charset="0"/>
              </a:rPr>
              <a:t>		"Name1":"ResultName1:value1",</a:t>
            </a:r>
          </a:p>
          <a:p>
            <a:pPr>
              <a:buNone/>
            </a:pPr>
            <a:r>
              <a:rPr lang="en-US" sz="2400" i="1" dirty="0" smtClean="0">
                <a:latin typeface="Consolas" pitchFamily="49" charset="0"/>
              </a:rPr>
              <a:t>		"Name2":"ResultName2:value2"</a:t>
            </a:r>
          </a:p>
          <a:p>
            <a:pPr>
              <a:buNone/>
            </a:pPr>
            <a:r>
              <a:rPr lang="en-US" sz="2400" i="1" dirty="0" smtClean="0">
                <a:latin typeface="Consolas" pitchFamily="49" charset="0"/>
              </a:rPr>
              <a:t>	}}</a:t>
            </a:r>
            <a:endParaRPr lang="en-US" sz="2400" i="1" dirty="0">
              <a:latin typeface="Consolas" pitchFamily="49"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Contract</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https://docs.microsoft.com/en-us/dotnet/framework/wcf/feature-details/using-data-contracts</a:t>
            </a:r>
            <a:endParaRPr lang="en-US" sz="2400" dirty="0" smtClean="0"/>
          </a:p>
          <a:p>
            <a:r>
              <a:rPr lang="en-US" sz="2400" dirty="0" smtClean="0"/>
              <a:t>A </a:t>
            </a:r>
            <a:r>
              <a:rPr lang="en-US" sz="2400" i="1" dirty="0" smtClean="0"/>
              <a:t>data contract</a:t>
            </a:r>
            <a:r>
              <a:rPr lang="en-US" sz="2400" dirty="0" smtClean="0"/>
              <a:t> is a formal agreement between a service and a client that abstractly describes the data to be exchanged. That is, to communicate, the client and the service do not have to share the same types, only the same data contracts. A data contract precisely defines, for each parameter or return type, what data is serialized (turned into XML) to be exchanged.</a:t>
            </a:r>
            <a:endParaRPr lang="en-US" sz="2400" dirty="0">
              <a:latin typeface="+mj-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Data Contract for a Class</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https://docs.microsoft.com/en-us/dotnet/framework/wcf/feature-details/how-to-create-a-basic-data-contract-for-a-class-or-structure</a:t>
            </a:r>
          </a:p>
          <a:p>
            <a:pPr lvl="1">
              <a:buNone/>
            </a:pPr>
            <a:r>
              <a:rPr lang="en-US" sz="2000" dirty="0" smtClean="0">
                <a:latin typeface="Consolas" pitchFamily="49" charset="0"/>
              </a:rPr>
              <a:t>using System; </a:t>
            </a:r>
          </a:p>
          <a:p>
            <a:pPr lvl="1">
              <a:buNone/>
            </a:pPr>
            <a:r>
              <a:rPr lang="en-US" sz="2000" dirty="0" smtClean="0">
                <a:latin typeface="Consolas" pitchFamily="49" charset="0"/>
              </a:rPr>
              <a:t>using </a:t>
            </a:r>
            <a:r>
              <a:rPr lang="en-US" sz="2000" dirty="0" err="1" smtClean="0">
                <a:latin typeface="Consolas" pitchFamily="49" charset="0"/>
              </a:rPr>
              <a:t>System.Runtime.Serialization</a:t>
            </a:r>
            <a:r>
              <a:rPr lang="en-US" sz="2000" dirty="0" smtClean="0">
                <a:latin typeface="Consolas" pitchFamily="49" charset="0"/>
              </a:rPr>
              <a:t>; </a:t>
            </a:r>
          </a:p>
          <a:p>
            <a:pPr lvl="1">
              <a:buNone/>
            </a:pPr>
            <a:r>
              <a:rPr lang="en-US" sz="2000" dirty="0" smtClean="0">
                <a:latin typeface="Consolas" pitchFamily="49" charset="0"/>
              </a:rPr>
              <a:t>[</a:t>
            </a:r>
            <a:r>
              <a:rPr lang="en-US" sz="2000" dirty="0" err="1" smtClean="0">
                <a:latin typeface="Consolas" pitchFamily="49" charset="0"/>
              </a:rPr>
              <a:t>DataContract</a:t>
            </a:r>
            <a:r>
              <a:rPr lang="en-US" sz="2000" dirty="0" smtClean="0">
                <a:latin typeface="Consolas" pitchFamily="49" charset="0"/>
              </a:rPr>
              <a:t>] </a:t>
            </a:r>
          </a:p>
          <a:p>
            <a:pPr lvl="1">
              <a:buNone/>
            </a:pPr>
            <a:r>
              <a:rPr lang="en-US" sz="2000" dirty="0" smtClean="0">
                <a:latin typeface="Consolas" pitchFamily="49" charset="0"/>
              </a:rPr>
              <a:t>public class Person </a:t>
            </a:r>
          </a:p>
          <a:p>
            <a:pPr lvl="1">
              <a:buNone/>
            </a:pPr>
            <a:r>
              <a:rPr lang="en-US" sz="2000" dirty="0" smtClean="0">
                <a:latin typeface="Consolas" pitchFamily="49" charset="0"/>
              </a:rPr>
              <a:t>{ </a:t>
            </a:r>
          </a:p>
          <a:p>
            <a:pPr lvl="1">
              <a:buNone/>
            </a:pPr>
            <a:r>
              <a:rPr lang="en-US" sz="2000" dirty="0" smtClean="0">
                <a:latin typeface="Consolas" pitchFamily="49" charset="0"/>
              </a:rPr>
              <a:t>// This member is serialized. </a:t>
            </a:r>
          </a:p>
          <a:p>
            <a:pPr lvl="1">
              <a:buNone/>
            </a:pPr>
            <a:r>
              <a:rPr lang="en-US" sz="2000" dirty="0" smtClean="0">
                <a:latin typeface="Consolas" pitchFamily="49" charset="0"/>
              </a:rPr>
              <a:t>[</a:t>
            </a:r>
            <a:r>
              <a:rPr lang="en-US" sz="2000" dirty="0" err="1" smtClean="0">
                <a:latin typeface="Consolas" pitchFamily="49" charset="0"/>
              </a:rPr>
              <a:t>DataMember</a:t>
            </a:r>
            <a:r>
              <a:rPr lang="en-US" sz="2000" dirty="0" smtClean="0">
                <a:latin typeface="Consolas" pitchFamily="49" charset="0"/>
              </a:rPr>
              <a:t>] </a:t>
            </a:r>
          </a:p>
          <a:p>
            <a:pPr lvl="1">
              <a:buNone/>
            </a:pPr>
            <a:r>
              <a:rPr lang="en-US" sz="2000" dirty="0" smtClean="0">
                <a:latin typeface="Consolas" pitchFamily="49" charset="0"/>
              </a:rPr>
              <a:t>internal string </a:t>
            </a:r>
            <a:r>
              <a:rPr lang="en-US" sz="2000" dirty="0" err="1" smtClean="0">
                <a:latin typeface="Consolas" pitchFamily="49" charset="0"/>
              </a:rPr>
              <a:t>FullName</a:t>
            </a:r>
            <a:r>
              <a:rPr lang="en-US" sz="2000" dirty="0" smtClean="0">
                <a:latin typeface="Consolas" pitchFamily="49" charset="0"/>
              </a:rPr>
              <a:t>;</a:t>
            </a:r>
          </a:p>
          <a:p>
            <a:pPr lvl="1">
              <a:buNone/>
            </a:pPr>
            <a:r>
              <a:rPr lang="en-US" sz="2000" dirty="0" smtClean="0">
                <a:latin typeface="Consolas" pitchFamily="49" charset="0"/>
              </a:rPr>
              <a:t>...</a:t>
            </a:r>
            <a:endParaRPr lang="en-US" sz="2000" dirty="0">
              <a:latin typeface="Consolas"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Serialize and </a:t>
            </a:r>
            <a:r>
              <a:rPr lang="en-US" dirty="0" err="1" smtClean="0"/>
              <a:t>Deserialize</a:t>
            </a:r>
            <a:r>
              <a:rPr lang="en-US" dirty="0" smtClean="0"/>
              <a:t> JSON</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https://docs.microsoft.com/en-us/dotnet/framework/wcf/feature-details/how-to-serialize-and-deserialize-json-data</a:t>
            </a:r>
            <a:endParaRPr lang="en-US" sz="2400" dirty="0" smtClean="0"/>
          </a:p>
          <a:p>
            <a:endParaRPr lang="en-US" sz="2400" dirty="0" smtClean="0"/>
          </a:p>
          <a:p>
            <a:pPr lvl="1">
              <a:buNone/>
            </a:pPr>
            <a:r>
              <a:rPr lang="en-US" sz="1600" dirty="0" err="1" smtClean="0">
                <a:latin typeface="Consolas" pitchFamily="49" charset="0"/>
              </a:rPr>
              <a:t>var</a:t>
            </a:r>
            <a:r>
              <a:rPr lang="en-US" sz="1600" dirty="0" smtClean="0">
                <a:latin typeface="Consolas" pitchFamily="49" charset="0"/>
              </a:rPr>
              <a:t> p = new Person();</a:t>
            </a:r>
          </a:p>
          <a:p>
            <a:pPr lvl="1">
              <a:buNone/>
            </a:pPr>
            <a:r>
              <a:rPr lang="en-US" sz="1600" dirty="0" smtClean="0">
                <a:latin typeface="Consolas" pitchFamily="49" charset="0"/>
              </a:rPr>
              <a:t>p.name = "John";</a:t>
            </a:r>
          </a:p>
          <a:p>
            <a:pPr lvl="1">
              <a:buNone/>
            </a:pPr>
            <a:r>
              <a:rPr lang="en-US" sz="1600" dirty="0" err="1" smtClean="0">
                <a:latin typeface="Consolas" pitchFamily="49" charset="0"/>
              </a:rPr>
              <a:t>p.age</a:t>
            </a:r>
            <a:r>
              <a:rPr lang="en-US" sz="1600" dirty="0" smtClean="0">
                <a:latin typeface="Consolas" pitchFamily="49" charset="0"/>
              </a:rPr>
              <a:t> = 42;</a:t>
            </a:r>
          </a:p>
          <a:p>
            <a:pPr lvl="1">
              <a:buNone/>
            </a:pPr>
            <a:r>
              <a:rPr lang="en-US" sz="1600" dirty="0" err="1" smtClean="0">
                <a:latin typeface="Consolas" pitchFamily="49" charset="0"/>
              </a:rPr>
              <a:t>var</a:t>
            </a:r>
            <a:r>
              <a:rPr lang="en-US" sz="1600" dirty="0" smtClean="0">
                <a:latin typeface="Consolas" pitchFamily="49" charset="0"/>
              </a:rPr>
              <a:t> stream1 = new </a:t>
            </a:r>
            <a:r>
              <a:rPr lang="en-US" sz="1600" dirty="0" err="1" smtClean="0">
                <a:latin typeface="Consolas" pitchFamily="49" charset="0"/>
              </a:rPr>
              <a:t>MemoryStream</a:t>
            </a:r>
            <a:r>
              <a:rPr lang="en-US" sz="1600" dirty="0" smtClean="0">
                <a:latin typeface="Consolas" pitchFamily="49" charset="0"/>
              </a:rPr>
              <a:t>();</a:t>
            </a:r>
          </a:p>
          <a:p>
            <a:pPr lvl="1">
              <a:buNone/>
            </a:pPr>
            <a:r>
              <a:rPr lang="en-US" sz="1600" dirty="0" err="1" smtClean="0">
                <a:latin typeface="Consolas" pitchFamily="49" charset="0"/>
              </a:rPr>
              <a:t>var</a:t>
            </a:r>
            <a:r>
              <a:rPr lang="en-US" sz="1600" dirty="0" smtClean="0">
                <a:latin typeface="Consolas" pitchFamily="49" charset="0"/>
              </a:rPr>
              <a:t> ser = new </a:t>
            </a:r>
            <a:r>
              <a:rPr lang="en-US" sz="1600" dirty="0" err="1" smtClean="0">
                <a:latin typeface="Consolas" pitchFamily="49" charset="0"/>
              </a:rPr>
              <a:t>DataContractJsonSerializer</a:t>
            </a:r>
            <a:r>
              <a:rPr lang="en-US" sz="1600" dirty="0" smtClean="0">
                <a:latin typeface="Consolas" pitchFamily="49" charset="0"/>
              </a:rPr>
              <a:t>(</a:t>
            </a:r>
            <a:r>
              <a:rPr lang="en-US" sz="1600" dirty="0" err="1" smtClean="0">
                <a:latin typeface="Consolas" pitchFamily="49" charset="0"/>
              </a:rPr>
              <a:t>typeof</a:t>
            </a:r>
            <a:r>
              <a:rPr lang="en-US" sz="1600" dirty="0" smtClean="0">
                <a:latin typeface="Consolas" pitchFamily="49" charset="0"/>
              </a:rPr>
              <a:t>(Person));</a:t>
            </a:r>
          </a:p>
          <a:p>
            <a:pPr lvl="1">
              <a:buNone/>
            </a:pPr>
            <a:r>
              <a:rPr lang="en-US" sz="1600" dirty="0" err="1" smtClean="0">
                <a:latin typeface="Consolas" pitchFamily="49" charset="0"/>
              </a:rPr>
              <a:t>ser.WriteObject</a:t>
            </a:r>
            <a:r>
              <a:rPr lang="en-US" sz="1600" dirty="0" smtClean="0">
                <a:latin typeface="Consolas" pitchFamily="49" charset="0"/>
              </a:rPr>
              <a:t>(stream1, p);</a:t>
            </a:r>
          </a:p>
          <a:p>
            <a:pPr lvl="1">
              <a:buNone/>
            </a:pPr>
            <a:r>
              <a:rPr lang="en-US" sz="1600" dirty="0" smtClean="0">
                <a:latin typeface="Consolas" pitchFamily="49" charset="0"/>
              </a:rPr>
              <a:t>stream1.Position = 0;</a:t>
            </a:r>
          </a:p>
          <a:p>
            <a:pPr lvl="1">
              <a:buNone/>
            </a:pPr>
            <a:r>
              <a:rPr lang="en-US" sz="1600" dirty="0" err="1" smtClean="0">
                <a:latin typeface="Consolas" pitchFamily="49" charset="0"/>
              </a:rPr>
              <a:t>var</a:t>
            </a:r>
            <a:r>
              <a:rPr lang="en-US" sz="1600" dirty="0" smtClean="0">
                <a:latin typeface="Consolas" pitchFamily="49" charset="0"/>
              </a:rPr>
              <a:t> </a:t>
            </a:r>
            <a:r>
              <a:rPr lang="en-US" sz="1600" dirty="0" err="1" smtClean="0">
                <a:latin typeface="Consolas" pitchFamily="49" charset="0"/>
              </a:rPr>
              <a:t>sr</a:t>
            </a:r>
            <a:r>
              <a:rPr lang="en-US" sz="1600" dirty="0" smtClean="0">
                <a:latin typeface="Consolas" pitchFamily="49" charset="0"/>
              </a:rPr>
              <a:t> = new </a:t>
            </a:r>
            <a:r>
              <a:rPr lang="en-US" sz="1600" dirty="0" err="1" smtClean="0">
                <a:latin typeface="Consolas" pitchFamily="49" charset="0"/>
              </a:rPr>
              <a:t>StreamReader</a:t>
            </a:r>
            <a:r>
              <a:rPr lang="en-US" sz="1600" dirty="0" smtClean="0">
                <a:latin typeface="Consolas" pitchFamily="49" charset="0"/>
              </a:rPr>
              <a:t>(stream1);</a:t>
            </a:r>
          </a:p>
          <a:p>
            <a:pPr lvl="1">
              <a:buNone/>
            </a:pPr>
            <a:r>
              <a:rPr lang="en-US" sz="1600" dirty="0" err="1" smtClean="0">
                <a:latin typeface="Consolas" pitchFamily="49" charset="0"/>
              </a:rPr>
              <a:t>Console.Write</a:t>
            </a:r>
            <a:r>
              <a:rPr lang="en-US" sz="1600" dirty="0" smtClean="0">
                <a:latin typeface="Consolas" pitchFamily="49" charset="0"/>
              </a:rPr>
              <a:t>("JSON form of Person object: ");</a:t>
            </a:r>
          </a:p>
          <a:p>
            <a:pPr lvl="1">
              <a:buNone/>
            </a:pPr>
            <a:r>
              <a:rPr lang="en-US" sz="1600" dirty="0" err="1" smtClean="0">
                <a:latin typeface="Consolas" pitchFamily="49" charset="0"/>
              </a:rPr>
              <a:t>Console.WriteLine</a:t>
            </a:r>
            <a:r>
              <a:rPr lang="en-US" sz="1600" dirty="0" smtClean="0">
                <a:latin typeface="Consolas" pitchFamily="49" charset="0"/>
              </a:rPr>
              <a:t>(</a:t>
            </a:r>
            <a:r>
              <a:rPr lang="en-US" sz="1600" dirty="0" err="1" smtClean="0">
                <a:latin typeface="Consolas" pitchFamily="49" charset="0"/>
              </a:rPr>
              <a:t>sr.ReadToEnd</a:t>
            </a:r>
            <a:r>
              <a:rPr lang="en-US" sz="1600" dirty="0" smtClean="0">
                <a:latin typeface="Consolas" pitchFamily="49" charset="0"/>
              </a:rPr>
              <a:t>());</a:t>
            </a:r>
            <a:endParaRPr lang="en-US" sz="1600" dirty="0">
              <a:latin typeface="Consolas"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Member Order</a:t>
            </a:r>
            <a:endParaRPr lang="en-US" dirty="0"/>
          </a:p>
        </p:txBody>
      </p:sp>
      <p:sp>
        <p:nvSpPr>
          <p:cNvPr id="3" name="Content Placeholder 2"/>
          <p:cNvSpPr>
            <a:spLocks noGrp="1"/>
          </p:cNvSpPr>
          <p:nvPr>
            <p:ph idx="1"/>
          </p:nvPr>
        </p:nvSpPr>
        <p:spPr/>
        <p:txBody>
          <a:bodyPr/>
          <a:lstStyle/>
          <a:p>
            <a:r>
              <a:rPr lang="en-US" sz="2000" dirty="0" smtClean="0">
                <a:hlinkClick r:id="rId2"/>
              </a:rPr>
              <a:t>https://docs.microsoft.com/en-us/dotnet/framework/wcf/feature-details/data-member-order</a:t>
            </a:r>
            <a:endParaRPr lang="en-US" sz="2000" dirty="0" smtClean="0"/>
          </a:p>
          <a:p>
            <a:pPr lvl="1">
              <a:buNone/>
            </a:pPr>
            <a:r>
              <a:rPr lang="en-US" sz="1800" dirty="0" smtClean="0">
                <a:latin typeface="Consolas" pitchFamily="49" charset="0"/>
              </a:rPr>
              <a:t>[</a:t>
            </a:r>
            <a:r>
              <a:rPr lang="en-US" sz="1800" dirty="0" err="1" smtClean="0">
                <a:latin typeface="Consolas" pitchFamily="49" charset="0"/>
              </a:rPr>
              <a:t>DataContract</a:t>
            </a:r>
            <a:r>
              <a:rPr lang="en-US" sz="1800" dirty="0" smtClean="0">
                <a:latin typeface="Consolas" pitchFamily="49" charset="0"/>
              </a:rPr>
              <a:t>]</a:t>
            </a:r>
          </a:p>
          <a:p>
            <a:pPr lvl="1">
              <a:buNone/>
            </a:pPr>
            <a:r>
              <a:rPr lang="en-US" sz="1800" dirty="0" smtClean="0">
                <a:latin typeface="Consolas" pitchFamily="49" charset="0"/>
              </a:rPr>
              <a:t>public class </a:t>
            </a:r>
            <a:r>
              <a:rPr lang="en-US" sz="1800" dirty="0" err="1" smtClean="0">
                <a:latin typeface="Consolas" pitchFamily="49" charset="0"/>
              </a:rPr>
              <a:t>BaseType</a:t>
            </a:r>
            <a:endParaRPr lang="en-US" sz="1800" dirty="0" smtClean="0">
              <a:latin typeface="Consolas" pitchFamily="49" charset="0"/>
            </a:endParaRPr>
          </a:p>
          <a:p>
            <a:pPr lvl="1">
              <a:buNone/>
            </a:pPr>
            <a:r>
              <a:rPr lang="en-US" sz="1800" dirty="0" smtClean="0">
                <a:latin typeface="Consolas" pitchFamily="49" charset="0"/>
              </a:rPr>
              <a:t>{</a:t>
            </a:r>
          </a:p>
          <a:p>
            <a:pPr lvl="1">
              <a:buNone/>
            </a:pPr>
            <a:r>
              <a:rPr lang="en-US" sz="1800" dirty="0" smtClean="0">
                <a:latin typeface="Consolas" pitchFamily="49" charset="0"/>
              </a:rPr>
              <a:t>    [</a:t>
            </a:r>
            <a:r>
              <a:rPr lang="en-US" sz="1800" dirty="0" err="1" smtClean="0">
                <a:latin typeface="Consolas" pitchFamily="49" charset="0"/>
              </a:rPr>
              <a:t>DataMember</a:t>
            </a:r>
            <a:r>
              <a:rPr lang="en-US" sz="1800" dirty="0" smtClean="0">
                <a:latin typeface="Consolas" pitchFamily="49" charset="0"/>
              </a:rPr>
              <a:t>]</a:t>
            </a:r>
          </a:p>
          <a:p>
            <a:pPr lvl="1">
              <a:buNone/>
            </a:pPr>
            <a:r>
              <a:rPr lang="en-US" sz="1800" dirty="0" smtClean="0">
                <a:latin typeface="Consolas" pitchFamily="49" charset="0"/>
              </a:rPr>
              <a:t>    public string zebra;</a:t>
            </a:r>
          </a:p>
          <a:p>
            <a:pPr lvl="1">
              <a:buNone/>
            </a:pPr>
            <a:r>
              <a:rPr lang="en-US" sz="1800" dirty="0" smtClean="0">
                <a:latin typeface="Consolas" pitchFamily="49" charset="0"/>
              </a:rPr>
              <a:t>}</a:t>
            </a:r>
          </a:p>
          <a:p>
            <a:pPr lvl="1">
              <a:buNone/>
            </a:pPr>
            <a:r>
              <a:rPr lang="en-US" sz="1800" dirty="0" smtClean="0">
                <a:latin typeface="Consolas" pitchFamily="49" charset="0"/>
              </a:rPr>
              <a:t>[</a:t>
            </a:r>
            <a:r>
              <a:rPr lang="en-US" sz="1800" dirty="0" err="1" smtClean="0">
                <a:latin typeface="Consolas" pitchFamily="49" charset="0"/>
              </a:rPr>
              <a:t>DataContract</a:t>
            </a:r>
            <a:r>
              <a:rPr lang="en-US" sz="1800" dirty="0" smtClean="0">
                <a:latin typeface="Consolas" pitchFamily="49" charset="0"/>
              </a:rPr>
              <a:t>]</a:t>
            </a:r>
          </a:p>
          <a:p>
            <a:pPr lvl="1">
              <a:buNone/>
            </a:pPr>
            <a:r>
              <a:rPr lang="en-US" sz="1800" dirty="0" smtClean="0">
                <a:latin typeface="Consolas" pitchFamily="49" charset="0"/>
              </a:rPr>
              <a:t>public class </a:t>
            </a:r>
            <a:r>
              <a:rPr lang="en-US" sz="1800" dirty="0" err="1" smtClean="0">
                <a:latin typeface="Consolas" pitchFamily="49" charset="0"/>
              </a:rPr>
              <a:t>DerivedType</a:t>
            </a:r>
            <a:r>
              <a:rPr lang="en-US" sz="1800" dirty="0" smtClean="0">
                <a:latin typeface="Consolas" pitchFamily="49" charset="0"/>
              </a:rPr>
              <a:t> : </a:t>
            </a:r>
            <a:r>
              <a:rPr lang="en-US" sz="1800" dirty="0" err="1" smtClean="0">
                <a:latin typeface="Consolas" pitchFamily="49" charset="0"/>
              </a:rPr>
              <a:t>BaseType</a:t>
            </a:r>
            <a:endParaRPr lang="en-US" sz="1800" dirty="0" smtClean="0">
              <a:latin typeface="Consolas" pitchFamily="49" charset="0"/>
            </a:endParaRPr>
          </a:p>
          <a:p>
            <a:pPr lvl="1">
              <a:buNone/>
            </a:pPr>
            <a:r>
              <a:rPr lang="en-US" sz="1800" dirty="0" smtClean="0">
                <a:latin typeface="Consolas" pitchFamily="49" charset="0"/>
              </a:rPr>
              <a:t>{</a:t>
            </a:r>
          </a:p>
          <a:p>
            <a:pPr lvl="1">
              <a:buNone/>
            </a:pPr>
            <a:r>
              <a:rPr lang="en-US" sz="1800" dirty="0" smtClean="0">
                <a:latin typeface="Consolas" pitchFamily="49" charset="0"/>
              </a:rPr>
              <a:t>    [</a:t>
            </a:r>
            <a:r>
              <a:rPr lang="en-US" sz="1800" dirty="0" err="1" smtClean="0">
                <a:latin typeface="Consolas" pitchFamily="49" charset="0"/>
              </a:rPr>
              <a:t>DataMember</a:t>
            </a:r>
            <a:r>
              <a:rPr lang="en-US" sz="1800" dirty="0" smtClean="0">
                <a:latin typeface="Consolas" pitchFamily="49" charset="0"/>
              </a:rPr>
              <a:t>(Order = 0)]</a:t>
            </a:r>
          </a:p>
          <a:p>
            <a:pPr lvl="1">
              <a:buNone/>
            </a:pPr>
            <a:r>
              <a:rPr lang="en-US" sz="1800" dirty="0" smtClean="0">
                <a:latin typeface="Consolas" pitchFamily="49" charset="0"/>
              </a:rPr>
              <a:t>    public string bird;</a:t>
            </a:r>
          </a:p>
          <a:p>
            <a:pPr lvl="1">
              <a:buNone/>
            </a:pPr>
            <a:r>
              <a:rPr lang="en-US" sz="1800" dirty="0" smtClean="0">
                <a:latin typeface="Consolas" pitchFamily="49" charset="0"/>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Return JSON String</a:t>
            </a:r>
            <a:endParaRPr lang="en-US" dirty="0"/>
          </a:p>
        </p:txBody>
      </p:sp>
      <p:sp>
        <p:nvSpPr>
          <p:cNvPr id="3" name="Content Placeholder 2"/>
          <p:cNvSpPr>
            <a:spLocks noGrp="1"/>
          </p:cNvSpPr>
          <p:nvPr>
            <p:ph idx="1"/>
          </p:nvPr>
        </p:nvSpPr>
        <p:spPr/>
        <p:txBody>
          <a:bodyPr/>
          <a:lstStyle/>
          <a:p>
            <a:pPr>
              <a:buNone/>
            </a:pPr>
            <a:r>
              <a:rPr lang="en-US" sz="2000" dirty="0" smtClean="0"/>
              <a:t> [</a:t>
            </a:r>
            <a:r>
              <a:rPr lang="en-US" sz="2000" dirty="0" err="1" smtClean="0"/>
              <a:t>ServiceContract</a:t>
            </a:r>
            <a:r>
              <a:rPr lang="en-US" sz="2000" dirty="0" smtClean="0"/>
              <a:t>]</a:t>
            </a:r>
          </a:p>
          <a:p>
            <a:pPr>
              <a:buNone/>
            </a:pPr>
            <a:r>
              <a:rPr lang="en-US" sz="2000" dirty="0" smtClean="0"/>
              <a:t>    public class Service</a:t>
            </a:r>
          </a:p>
          <a:p>
            <a:pPr>
              <a:buNone/>
            </a:pPr>
            <a:r>
              <a:rPr lang="en-US" sz="2000" dirty="0" smtClean="0"/>
              <a:t>    {</a:t>
            </a:r>
          </a:p>
          <a:p>
            <a:pPr>
              <a:buNone/>
            </a:pPr>
            <a:r>
              <a:rPr lang="en-US" sz="2000" dirty="0" smtClean="0"/>
              <a:t>        [</a:t>
            </a:r>
            <a:r>
              <a:rPr lang="en-US" sz="2000" dirty="0" err="1" smtClean="0"/>
              <a:t>OperationContract</a:t>
            </a:r>
            <a:r>
              <a:rPr lang="en-US" sz="2000" dirty="0" smtClean="0"/>
              <a:t>]</a:t>
            </a:r>
          </a:p>
          <a:p>
            <a:pPr>
              <a:buNone/>
            </a:pPr>
            <a:r>
              <a:rPr lang="en-US" sz="2000" dirty="0" smtClean="0"/>
              <a:t>        [</a:t>
            </a:r>
            <a:r>
              <a:rPr lang="en-US" sz="2000" dirty="0" err="1" smtClean="0"/>
              <a:t>WebGet</a:t>
            </a:r>
            <a:r>
              <a:rPr lang="en-US" sz="2000" dirty="0" smtClean="0"/>
              <a:t>(</a:t>
            </a:r>
            <a:r>
              <a:rPr lang="en-US" sz="2000" dirty="0" err="1" smtClean="0"/>
              <a:t>RequestFormat</a:t>
            </a:r>
            <a:r>
              <a:rPr lang="en-US" sz="2000" dirty="0" smtClean="0"/>
              <a:t> = </a:t>
            </a:r>
            <a:r>
              <a:rPr lang="en-US" sz="2000" dirty="0" err="1" smtClean="0"/>
              <a:t>WebMessageFormat.Json</a:t>
            </a:r>
            <a:r>
              <a:rPr lang="en-US" sz="2000" dirty="0" smtClean="0"/>
              <a:t>, </a:t>
            </a:r>
            <a:r>
              <a:rPr lang="en-US" sz="2000" dirty="0" err="1" smtClean="0"/>
              <a:t>ResponseFormat</a:t>
            </a:r>
            <a:r>
              <a:rPr lang="en-US" sz="2000" dirty="0" smtClean="0"/>
              <a:t> = </a:t>
            </a:r>
            <a:r>
              <a:rPr lang="en-US" sz="2000" b="1" dirty="0" err="1" smtClean="0"/>
              <a:t>WebMessageFormat.Json</a:t>
            </a:r>
            <a:r>
              <a:rPr lang="en-US" sz="2000" dirty="0" smtClean="0"/>
              <a:t>)]</a:t>
            </a:r>
          </a:p>
          <a:p>
            <a:pPr>
              <a:buNone/>
            </a:pPr>
            <a:r>
              <a:rPr lang="en-US" sz="2000" dirty="0" smtClean="0"/>
              <a:t>        public </a:t>
            </a:r>
            <a:r>
              <a:rPr lang="en-US" sz="2000" b="1" dirty="0" smtClean="0"/>
              <a:t>Stream</a:t>
            </a:r>
            <a:r>
              <a:rPr lang="en-US" sz="2000" dirty="0" smtClean="0"/>
              <a:t> </a:t>
            </a:r>
            <a:r>
              <a:rPr lang="en-US" sz="2000" dirty="0" err="1" smtClean="0"/>
              <a:t>DoWork</a:t>
            </a:r>
            <a:r>
              <a:rPr lang="en-US" sz="2000" dirty="0" smtClean="0"/>
              <a:t>()</a:t>
            </a:r>
          </a:p>
          <a:p>
            <a:pPr>
              <a:buNone/>
            </a:pPr>
            <a:r>
              <a:rPr lang="en-US" sz="2000" dirty="0" smtClean="0"/>
              <a:t>        {</a:t>
            </a:r>
          </a:p>
          <a:p>
            <a:pPr>
              <a:buNone/>
            </a:pPr>
            <a:r>
              <a:rPr lang="en-US" sz="2000" dirty="0" smtClean="0"/>
              <a:t>            string </a:t>
            </a:r>
            <a:r>
              <a:rPr lang="en-US" sz="2000" dirty="0" err="1" smtClean="0"/>
              <a:t>json</a:t>
            </a:r>
            <a:r>
              <a:rPr lang="en-US" sz="2000" dirty="0" smtClean="0"/>
              <a:t> = "{\"name\":\"John Doe\",\"age\":33,\"married\":true}";</a:t>
            </a:r>
          </a:p>
          <a:p>
            <a:pPr>
              <a:buNone/>
            </a:pPr>
            <a:r>
              <a:rPr lang="en-US" sz="2000" dirty="0" smtClean="0"/>
              <a:t>            </a:t>
            </a:r>
            <a:r>
              <a:rPr lang="en-US" sz="2000" dirty="0" err="1" smtClean="0"/>
              <a:t>WebOperationContext.Current.OutgoingResponse.ContentType</a:t>
            </a:r>
            <a:r>
              <a:rPr lang="en-US" sz="2000" dirty="0" smtClean="0"/>
              <a:t> = "application/</a:t>
            </a:r>
            <a:r>
              <a:rPr lang="en-US" sz="2000" dirty="0" err="1" smtClean="0"/>
              <a:t>json</a:t>
            </a:r>
            <a:r>
              <a:rPr lang="en-US" sz="2000" dirty="0" smtClean="0"/>
              <a:t>; </a:t>
            </a:r>
            <a:r>
              <a:rPr lang="en-US" sz="2000" dirty="0" err="1" smtClean="0"/>
              <a:t>charset</a:t>
            </a:r>
            <a:r>
              <a:rPr lang="en-US" sz="2000" dirty="0" smtClean="0"/>
              <a:t>=utf-8";</a:t>
            </a:r>
          </a:p>
          <a:p>
            <a:pPr>
              <a:buNone/>
            </a:pPr>
            <a:r>
              <a:rPr lang="en-US" sz="2000" dirty="0" smtClean="0"/>
              <a:t>            return new </a:t>
            </a:r>
            <a:r>
              <a:rPr lang="en-US" sz="2000" dirty="0" err="1" smtClean="0"/>
              <a:t>MemoryStream</a:t>
            </a:r>
            <a:r>
              <a:rPr lang="en-US" sz="2000" dirty="0" smtClean="0"/>
              <a:t>(Encoding.UTF8.GetBytes(</a:t>
            </a:r>
            <a:r>
              <a:rPr lang="en-US" sz="2000" dirty="0" err="1" smtClean="0"/>
              <a:t>json</a:t>
            </a:r>
            <a:r>
              <a:rPr lang="en-US" sz="2000" dirty="0" smtClean="0"/>
              <a:t>));</a:t>
            </a:r>
          </a:p>
          <a:p>
            <a:pPr>
              <a:buNone/>
            </a:pPr>
            <a:r>
              <a:rPr lang="en-US" sz="2000" dirty="0" smtClean="0"/>
              <a:t>        }</a:t>
            </a:r>
            <a:endParaRPr lang="en-US" sz="2000" dirty="0" smtClean="0">
              <a:latin typeface="Consolas"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WebFaultException</a:t>
            </a:r>
            <a:endParaRPr lang="en-US" dirty="0"/>
          </a:p>
        </p:txBody>
      </p:sp>
      <p:sp>
        <p:nvSpPr>
          <p:cNvPr id="3" name="Content Placeholder 2"/>
          <p:cNvSpPr>
            <a:spLocks noGrp="1"/>
          </p:cNvSpPr>
          <p:nvPr>
            <p:ph idx="1"/>
          </p:nvPr>
        </p:nvSpPr>
        <p:spPr/>
        <p:txBody>
          <a:bodyPr/>
          <a:lstStyle/>
          <a:p>
            <a:r>
              <a:rPr lang="en-US" sz="2400" dirty="0" smtClean="0">
                <a:hlinkClick r:id="rId2"/>
              </a:rPr>
              <a:t>https://docs.microsoft.com/en-us/dotnet/api/system.servicemodel.web.webfaultexception-1?view=netframework-4.8</a:t>
            </a:r>
            <a:endParaRPr lang="en-US" sz="2400" dirty="0" smtClean="0"/>
          </a:p>
          <a:p>
            <a:r>
              <a:rPr lang="en-US" sz="2400" dirty="0" smtClean="0">
                <a:latin typeface="+mj-lt"/>
              </a:rPr>
              <a:t>The </a:t>
            </a:r>
            <a:r>
              <a:rPr lang="en-US" sz="2400" dirty="0" err="1" smtClean="0">
                <a:latin typeface="+mj-lt"/>
              </a:rPr>
              <a:t>serializable</a:t>
            </a:r>
            <a:r>
              <a:rPr lang="en-US" sz="2400" dirty="0" smtClean="0">
                <a:latin typeface="+mj-lt"/>
              </a:rPr>
              <a:t> error detail type.</a:t>
            </a:r>
          </a:p>
          <a:p>
            <a:r>
              <a:rPr lang="en-US" sz="2400" dirty="0" smtClean="0">
                <a:latin typeface="+mj-lt"/>
              </a:rPr>
              <a:t>When using a WCF REST endpoint (</a:t>
            </a:r>
            <a:r>
              <a:rPr lang="en-US" sz="2400" dirty="0" err="1" smtClean="0">
                <a:latin typeface="+mj-lt"/>
              </a:rPr>
              <a:t>WebHttpBinding</a:t>
            </a:r>
            <a:r>
              <a:rPr lang="en-US" sz="2400" dirty="0" smtClean="0">
                <a:latin typeface="+mj-lt"/>
              </a:rPr>
              <a:t> and </a:t>
            </a:r>
            <a:r>
              <a:rPr lang="en-US" sz="2400" dirty="0" err="1" smtClean="0">
                <a:latin typeface="+mj-lt"/>
              </a:rPr>
              <a:t>WebHttpBehavior</a:t>
            </a:r>
            <a:r>
              <a:rPr lang="en-US" sz="2400" dirty="0" smtClean="0">
                <a:latin typeface="+mj-lt"/>
              </a:rPr>
              <a:t> or </a:t>
            </a:r>
            <a:r>
              <a:rPr lang="en-US" sz="2400" dirty="0" err="1" smtClean="0">
                <a:latin typeface="+mj-lt"/>
              </a:rPr>
              <a:t>WebScriptEnablingBehavior</a:t>
            </a:r>
            <a:r>
              <a:rPr lang="en-US" sz="2400" dirty="0" smtClean="0">
                <a:latin typeface="+mj-lt"/>
              </a:rPr>
              <a:t>) the HTTP status code on the response is set accordingly.</a:t>
            </a:r>
          </a:p>
          <a:p>
            <a:r>
              <a:rPr lang="en-US" sz="2400" dirty="0" err="1" smtClean="0">
                <a:latin typeface="+mj-lt"/>
              </a:rPr>
              <a:t>WebFaultException</a:t>
            </a:r>
            <a:r>
              <a:rPr lang="en-US" sz="2400" dirty="0" smtClean="0">
                <a:latin typeface="+mj-lt"/>
              </a:rPr>
              <a:t> can be used with non-REST endpoints and behaves like a regular </a:t>
            </a:r>
            <a:r>
              <a:rPr lang="en-US" sz="2400" dirty="0" err="1" smtClean="0">
                <a:latin typeface="+mj-lt"/>
              </a:rPr>
              <a:t>FaultException</a:t>
            </a:r>
            <a:r>
              <a:rPr lang="en-US" sz="2400" dirty="0" smtClean="0">
                <a:latin typeface="+mj-lt"/>
              </a:rPr>
              <a:t>.</a:t>
            </a:r>
            <a:endParaRPr lang="en-US" sz="2400" dirty="0">
              <a:latin typeface="+mj-l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8254</TotalTime>
  <Words>3580</Words>
  <Application>Microsoft Office PowerPoint</Application>
  <PresentationFormat>On-screen Show (4:3)</PresentationFormat>
  <Paragraphs>359</Paragraphs>
  <Slides>59</Slides>
  <Notes>1</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Windows Communication Foundation</vt:lpstr>
      <vt:lpstr>Objectives</vt:lpstr>
      <vt:lpstr>Contents</vt:lpstr>
      <vt:lpstr>References</vt:lpstr>
      <vt:lpstr>The Early Days of Personal Computer Applications</vt:lpstr>
      <vt:lpstr>Inter-Process Communications Technologies</vt:lpstr>
      <vt:lpstr>Component Object Model (COM)</vt:lpstr>
      <vt:lpstr>Distributed COM (DCOM)</vt:lpstr>
      <vt:lpstr>Enterprise Services</vt:lpstr>
      <vt:lpstr>.NET Remoting</vt:lpstr>
      <vt:lpstr>Microsoft Message Queue (MSMQ)</vt:lpstr>
      <vt:lpstr>Past Technology Problems</vt:lpstr>
      <vt:lpstr>ASMX and WSE</vt:lpstr>
      <vt:lpstr>Current Technologies Problems</vt:lpstr>
      <vt:lpstr>What is Windows Communication Foundation?</vt:lpstr>
      <vt:lpstr>Why WCF?</vt:lpstr>
      <vt:lpstr>Slide 17</vt:lpstr>
      <vt:lpstr>WCF Service</vt:lpstr>
      <vt:lpstr>Service Contracts</vt:lpstr>
      <vt:lpstr>Defining Service Contracts</vt:lpstr>
      <vt:lpstr>Data Contracts</vt:lpstr>
      <vt:lpstr>Defining Data Contracts</vt:lpstr>
      <vt:lpstr>Implement Services</vt:lpstr>
      <vt:lpstr>Service Endpoints</vt:lpstr>
      <vt:lpstr>Configuring Service</vt:lpstr>
      <vt:lpstr>Build a WCF Client</vt:lpstr>
      <vt:lpstr>Processing a Client Request</vt:lpstr>
      <vt:lpstr>Windows Process Activation Service</vt:lpstr>
      <vt:lpstr>Windows Server AppFabric</vt:lpstr>
      <vt:lpstr>Slide 30</vt:lpstr>
      <vt:lpstr>Using Message Contracts</vt:lpstr>
      <vt:lpstr>Slide 32</vt:lpstr>
      <vt:lpstr>SOAP Faults</vt:lpstr>
      <vt:lpstr>Throwing and Catching a SOAP Fault</vt:lpstr>
      <vt:lpstr>WCF Service Security</vt:lpstr>
      <vt:lpstr>Streaming Message Transfer</vt:lpstr>
      <vt:lpstr>Common Error</vt:lpstr>
      <vt:lpstr>Slide 38</vt:lpstr>
      <vt:lpstr>WCF WEB HTTP programming model</vt:lpstr>
      <vt:lpstr>Service Elements</vt:lpstr>
      <vt:lpstr>URI Templates</vt:lpstr>
      <vt:lpstr>Bindings</vt:lpstr>
      <vt:lpstr>basicHttpBinding</vt:lpstr>
      <vt:lpstr>wsHttpBinding</vt:lpstr>
      <vt:lpstr>webHttpBinding</vt:lpstr>
      <vt:lpstr>&lt;behavior&gt; of &lt;serviceBehaviors&gt;</vt:lpstr>
      <vt:lpstr>&lt;behavior&gt; of &lt;endpointBehaviors&gt;</vt:lpstr>
      <vt:lpstr>webHttp</vt:lpstr>
      <vt:lpstr>Host a WCF Service in IIS</vt:lpstr>
      <vt:lpstr>File-Less Activation</vt:lpstr>
      <vt:lpstr>JSON and WebMessageBodyStyle.Bare</vt:lpstr>
      <vt:lpstr>JSON and WebMessageBodyStyle.Wrapped</vt:lpstr>
      <vt:lpstr>Data Contract</vt:lpstr>
      <vt:lpstr>Create Data Contract for a Class</vt:lpstr>
      <vt:lpstr>Serialize and Deserialize JSON</vt:lpstr>
      <vt:lpstr>Data Member Order</vt:lpstr>
      <vt:lpstr>Return JSON String</vt:lpstr>
      <vt:lpstr>WebFaultException</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3217</cp:revision>
  <dcterms:created xsi:type="dcterms:W3CDTF">2007-10-06T08:25:13Z</dcterms:created>
  <dcterms:modified xsi:type="dcterms:W3CDTF">2024-04-03T17:38:08Z</dcterms:modified>
</cp:coreProperties>
</file>