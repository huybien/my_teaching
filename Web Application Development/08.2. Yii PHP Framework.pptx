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9"/>
  </p:notesMasterIdLst>
  <p:sldIdLst>
    <p:sldId id="256" r:id="rId2"/>
    <p:sldId id="367" r:id="rId3"/>
    <p:sldId id="368" r:id="rId4"/>
    <p:sldId id="369" r:id="rId5"/>
    <p:sldId id="370" r:id="rId6"/>
    <p:sldId id="415" r:id="rId7"/>
    <p:sldId id="373" r:id="rId8"/>
    <p:sldId id="374" r:id="rId9"/>
    <p:sldId id="375" r:id="rId10"/>
    <p:sldId id="376" r:id="rId11"/>
    <p:sldId id="377" r:id="rId12"/>
    <p:sldId id="425" r:id="rId13"/>
    <p:sldId id="378" r:id="rId14"/>
    <p:sldId id="379" r:id="rId15"/>
    <p:sldId id="380" r:id="rId16"/>
    <p:sldId id="381" r:id="rId17"/>
    <p:sldId id="382" r:id="rId18"/>
    <p:sldId id="383" r:id="rId19"/>
    <p:sldId id="419" r:id="rId20"/>
    <p:sldId id="416" r:id="rId21"/>
    <p:sldId id="384" r:id="rId22"/>
    <p:sldId id="385" r:id="rId23"/>
    <p:sldId id="417" r:id="rId24"/>
    <p:sldId id="418" r:id="rId25"/>
    <p:sldId id="402" r:id="rId26"/>
    <p:sldId id="386" r:id="rId27"/>
    <p:sldId id="403" r:id="rId28"/>
    <p:sldId id="388" r:id="rId29"/>
    <p:sldId id="420" r:id="rId30"/>
    <p:sldId id="387" r:id="rId31"/>
    <p:sldId id="389" r:id="rId32"/>
    <p:sldId id="391" r:id="rId33"/>
    <p:sldId id="392" r:id="rId34"/>
    <p:sldId id="394" r:id="rId35"/>
    <p:sldId id="398" r:id="rId36"/>
    <p:sldId id="400" r:id="rId37"/>
    <p:sldId id="401" r:id="rId38"/>
    <p:sldId id="399" r:id="rId39"/>
    <p:sldId id="393" r:id="rId40"/>
    <p:sldId id="395" r:id="rId41"/>
    <p:sldId id="396" r:id="rId42"/>
    <p:sldId id="397" r:id="rId43"/>
    <p:sldId id="404" r:id="rId44"/>
    <p:sldId id="405" r:id="rId45"/>
    <p:sldId id="406" r:id="rId46"/>
    <p:sldId id="407" r:id="rId47"/>
    <p:sldId id="408" r:id="rId48"/>
    <p:sldId id="411" r:id="rId49"/>
    <p:sldId id="409" r:id="rId50"/>
    <p:sldId id="422" r:id="rId51"/>
    <p:sldId id="412" r:id="rId52"/>
    <p:sldId id="413" r:id="rId53"/>
    <p:sldId id="414" r:id="rId54"/>
    <p:sldId id="424" r:id="rId55"/>
    <p:sldId id="423" r:id="rId56"/>
    <p:sldId id="426" r:id="rId57"/>
    <p:sldId id="343" r:id="rId5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4667" autoAdjust="0"/>
  </p:normalViewPr>
  <p:slideViewPr>
    <p:cSldViewPr>
      <p:cViewPr>
        <p:scale>
          <a:sx n="70" d="100"/>
          <a:sy n="70" d="100"/>
        </p:scale>
        <p:origin x="-1332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10/25/2015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iiframework.com/download/" TargetMode="External"/><Relationship Id="rId2" Type="http://schemas.openxmlformats.org/officeDocument/2006/relationships/hyperlink" Target="https://www.apachefriends.org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yii/requirements/index.php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://easyiicms.com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Yii</a:t>
            </a:r>
            <a:r>
              <a:rPr lang="en-US" sz="6000" smtClean="0"/>
              <a:t> PHP Framework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200" dirty="0" smtClean="0"/>
              <a:t>Web Application Development with </a:t>
            </a:r>
            <a:r>
              <a:rPr lang="en-US" sz="2200" dirty="0" err="1" smtClean="0"/>
              <a:t>Yii</a:t>
            </a:r>
            <a:r>
              <a:rPr lang="en-US" sz="2200" dirty="0" smtClean="0"/>
              <a:t> and PHP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 err="1" smtClean="0"/>
              <a:t>Qiang</a:t>
            </a:r>
            <a:r>
              <a:rPr lang="en-US" sz="2200" dirty="0" smtClean="0"/>
              <a:t> </a:t>
            </a:r>
            <a:r>
              <a:rPr lang="en-US" sz="2200" dirty="0" err="1" smtClean="0"/>
              <a:t>Xue</a:t>
            </a:r>
            <a:r>
              <a:rPr lang="en-US" sz="2200" dirty="0" smtClean="0"/>
              <a:t> et al. The Definitive Guide to </a:t>
            </a:r>
            <a:r>
              <a:rPr lang="en-US" sz="2200" dirty="0" err="1" smtClean="0"/>
              <a:t>Yii</a:t>
            </a:r>
            <a:r>
              <a:rPr lang="en-US" sz="2200" dirty="0" smtClean="0"/>
              <a:t> 2.0. 2014.</a:t>
            </a:r>
            <a:endParaRPr lang="en-US" sz="22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Yii</a:t>
            </a:r>
            <a:r>
              <a:rPr lang="en-US" dirty="0" smtClean="0"/>
              <a:t>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name </a:t>
            </a:r>
            <a:r>
              <a:rPr lang="en-US" sz="2400" dirty="0" err="1" smtClean="0"/>
              <a:t>Yii</a:t>
            </a:r>
            <a:r>
              <a:rPr lang="en-US" sz="2400" dirty="0" smtClean="0"/>
              <a:t> is an acronym for Yes, it is, and is pronounced as Yee or (</a:t>
            </a:r>
            <a:r>
              <a:rPr lang="en-US" sz="2400" dirty="0" err="1" smtClean="0"/>
              <a:t>ji</a:t>
            </a:r>
            <a:r>
              <a:rPr lang="en-US" sz="2400" dirty="0" smtClean="0"/>
              <a:t>:).</a:t>
            </a:r>
          </a:p>
          <a:p>
            <a:r>
              <a:rPr lang="en-US" sz="2400" dirty="0" err="1" smtClean="0"/>
              <a:t>Yii</a:t>
            </a:r>
            <a:r>
              <a:rPr lang="en-US" sz="2400" dirty="0" smtClean="0"/>
              <a:t> is a high-performance, component-based, web application framework written in PHP5.</a:t>
            </a:r>
          </a:p>
          <a:p>
            <a:r>
              <a:rPr lang="en-US" sz="2400" dirty="0" err="1" smtClean="0"/>
              <a:t>Yii</a:t>
            </a:r>
            <a:r>
              <a:rPr lang="en-US" sz="2400" dirty="0" smtClean="0"/>
              <a:t> is packed with features to help you meet those high demands placed on today's web applications.</a:t>
            </a:r>
          </a:p>
          <a:p>
            <a:pPr lvl="1"/>
            <a:r>
              <a:rPr lang="en-US" sz="1800" dirty="0" smtClean="0"/>
              <a:t>AJAX-enabled widgets,</a:t>
            </a:r>
          </a:p>
          <a:p>
            <a:pPr lvl="1"/>
            <a:r>
              <a:rPr lang="en-US" sz="1800" dirty="0" err="1" smtClean="0"/>
              <a:t>RESTful</a:t>
            </a:r>
            <a:r>
              <a:rPr lang="en-US" sz="1800" dirty="0" smtClean="0"/>
              <a:t> and SOAP Web services integration,</a:t>
            </a:r>
          </a:p>
          <a:p>
            <a:pPr lvl="1"/>
            <a:r>
              <a:rPr lang="en-US" sz="1800" dirty="0" smtClean="0"/>
              <a:t>enforcement of an MVC architecture, </a:t>
            </a:r>
          </a:p>
          <a:p>
            <a:pPr lvl="1"/>
            <a:r>
              <a:rPr lang="en-US" sz="1800" dirty="0" smtClean="0"/>
              <a:t>DAO and relational </a:t>
            </a:r>
            <a:r>
              <a:rPr lang="en-US" sz="1800" dirty="0" err="1" smtClean="0"/>
              <a:t>ActiveRecord</a:t>
            </a:r>
            <a:r>
              <a:rPr lang="en-US" sz="1800" dirty="0" smtClean="0"/>
              <a:t> database layer,</a:t>
            </a:r>
          </a:p>
          <a:p>
            <a:pPr lvl="1"/>
            <a:r>
              <a:rPr lang="en-US" sz="1800" dirty="0" smtClean="0"/>
              <a:t>sophisticated caching,</a:t>
            </a:r>
          </a:p>
          <a:p>
            <a:pPr lvl="1"/>
            <a:r>
              <a:rPr lang="en-US" sz="1800" dirty="0" smtClean="0"/>
              <a:t>hierarchical role-based access control,</a:t>
            </a:r>
          </a:p>
          <a:p>
            <a:pPr lvl="1"/>
            <a:r>
              <a:rPr lang="en-US" sz="1800" dirty="0" err="1" smtClean="0"/>
              <a:t>theming</a:t>
            </a:r>
            <a:r>
              <a:rPr lang="en-US" sz="1800" dirty="0" smtClean="0"/>
              <a:t>, internationalization (I18N), and localization (L10N)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Yii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Easy</a:t>
            </a:r>
          </a:p>
          <a:p>
            <a:pPr lvl="1"/>
            <a:r>
              <a:rPr lang="en-US" sz="2000" dirty="0" smtClean="0"/>
              <a:t>You only need to know PHP and object-oriented programming.</a:t>
            </a:r>
          </a:p>
          <a:p>
            <a:r>
              <a:rPr lang="en-US" sz="2400" dirty="0" smtClean="0"/>
              <a:t>Efficient</a:t>
            </a:r>
          </a:p>
          <a:p>
            <a:pPr lvl="1"/>
            <a:r>
              <a:rPr lang="en-US" sz="2000" dirty="0" smtClean="0"/>
              <a:t>You can get your application up and running with little or no manual configuration.</a:t>
            </a:r>
          </a:p>
          <a:p>
            <a:pPr lvl="1"/>
            <a:r>
              <a:rPr lang="en-US" sz="2000" dirty="0" smtClean="0"/>
              <a:t>All </a:t>
            </a:r>
            <a:r>
              <a:rPr lang="en-US" sz="2000" dirty="0" err="1" smtClean="0"/>
              <a:t>Yii</a:t>
            </a:r>
            <a:r>
              <a:rPr lang="en-US" sz="2000" dirty="0" smtClean="0"/>
              <a:t> applications are built using the Model-View-Controller (MVC) architecture.</a:t>
            </a:r>
          </a:p>
          <a:p>
            <a:pPr lvl="2"/>
            <a:r>
              <a:rPr lang="en-US" sz="1600" dirty="0" smtClean="0"/>
              <a:t>This minimizes duplication and helps promote code reuse and ease of maintainability.</a:t>
            </a:r>
          </a:p>
          <a:p>
            <a:pPr lvl="1"/>
            <a:r>
              <a:rPr lang="en-US" sz="2000" dirty="0" smtClean="0"/>
              <a:t>It is remarkably fast and performance optimized. (?)</a:t>
            </a:r>
          </a:p>
          <a:p>
            <a:r>
              <a:rPr lang="en-US" sz="2400" dirty="0" smtClean="0"/>
              <a:t>Extensible</a:t>
            </a:r>
          </a:p>
          <a:p>
            <a:pPr lvl="1"/>
            <a:r>
              <a:rPr lang="en-US" sz="2000" dirty="0" smtClean="0"/>
              <a:t>A primary activity when developing a </a:t>
            </a:r>
            <a:r>
              <a:rPr lang="en-US" sz="2000" dirty="0" err="1" smtClean="0"/>
              <a:t>Yii</a:t>
            </a:r>
            <a:r>
              <a:rPr lang="en-US" sz="2000" dirty="0" smtClean="0"/>
              <a:t> application is extending the core framework classes.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Static Structure of </a:t>
            </a:r>
            <a:r>
              <a:rPr lang="en-US" sz="4000" dirty="0" err="1" smtClean="0"/>
              <a:t>Yii</a:t>
            </a:r>
            <a:r>
              <a:rPr lang="en-US" sz="4000" dirty="0" smtClean="0"/>
              <a:t> Application [2]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525963"/>
          </a:xfrm>
        </p:spPr>
        <p:txBody>
          <a:bodyPr/>
          <a:lstStyle/>
          <a:p>
            <a:r>
              <a:rPr lang="en-US" sz="1900" dirty="0" err="1" smtClean="0"/>
              <a:t>Yii</a:t>
            </a:r>
            <a:r>
              <a:rPr lang="en-US" sz="1900" dirty="0" smtClean="0"/>
              <a:t> implements the </a:t>
            </a:r>
            <a:r>
              <a:rPr lang="en-US" sz="1900" i="1" dirty="0" smtClean="0">
                <a:solidFill>
                  <a:srgbClr val="C00000"/>
                </a:solidFill>
              </a:rPr>
              <a:t>model-view-controller</a:t>
            </a:r>
            <a:r>
              <a:rPr lang="en-US" sz="1900" dirty="0" smtClean="0"/>
              <a:t> (MVC) design pattern.</a:t>
            </a:r>
          </a:p>
          <a:p>
            <a:r>
              <a:rPr lang="en-US" sz="1900" dirty="0" smtClean="0"/>
              <a:t>In MVC, the model represents the </a:t>
            </a:r>
            <a:r>
              <a:rPr lang="en-US" sz="1900" i="1" dirty="0" smtClean="0">
                <a:solidFill>
                  <a:srgbClr val="C00000"/>
                </a:solidFill>
              </a:rPr>
              <a:t>information</a:t>
            </a:r>
            <a:r>
              <a:rPr lang="en-US" sz="1900" dirty="0" smtClean="0"/>
              <a:t> (the data) and the </a:t>
            </a:r>
            <a:r>
              <a:rPr lang="en-US" sz="1900" i="1" dirty="0" smtClean="0">
                <a:solidFill>
                  <a:srgbClr val="C00000"/>
                </a:solidFill>
              </a:rPr>
              <a:t>business rules</a:t>
            </a:r>
            <a:r>
              <a:rPr lang="en-US" sz="1900" dirty="0" smtClean="0"/>
              <a:t>; the view contains elements of the</a:t>
            </a:r>
            <a:r>
              <a:rPr lang="en-US" sz="1900" i="1" dirty="0" smtClean="0"/>
              <a:t> </a:t>
            </a:r>
            <a:r>
              <a:rPr lang="en-US" sz="1900" i="1" dirty="0" smtClean="0">
                <a:solidFill>
                  <a:srgbClr val="C00000"/>
                </a:solidFill>
              </a:rPr>
              <a:t>user interface </a:t>
            </a:r>
            <a:r>
              <a:rPr lang="en-US" sz="1900" dirty="0" smtClean="0"/>
              <a:t>such as text, form inputs; and the controller manages the </a:t>
            </a:r>
            <a:r>
              <a:rPr lang="en-US" sz="1900" i="1" dirty="0" smtClean="0">
                <a:solidFill>
                  <a:srgbClr val="C00000"/>
                </a:solidFill>
              </a:rPr>
              <a:t>communication</a:t>
            </a:r>
            <a:r>
              <a:rPr lang="en-US" sz="1900" dirty="0" smtClean="0"/>
              <a:t> between the model and the view.</a:t>
            </a:r>
          </a:p>
          <a:p>
            <a:r>
              <a:rPr lang="en-US" sz="1900" dirty="0" err="1" smtClean="0"/>
              <a:t>Yii</a:t>
            </a:r>
            <a:r>
              <a:rPr lang="en-US" sz="1900" dirty="0" smtClean="0"/>
              <a:t> also introduces a </a:t>
            </a:r>
            <a:r>
              <a:rPr lang="en-US" sz="1900" i="1" dirty="0" smtClean="0">
                <a:solidFill>
                  <a:srgbClr val="C00000"/>
                </a:solidFill>
              </a:rPr>
              <a:t>front-controller,</a:t>
            </a:r>
            <a:r>
              <a:rPr lang="en-US" sz="1900" dirty="0" smtClean="0"/>
              <a:t> called Application, which encapsulates the execution context for the processing of a request.</a:t>
            </a:r>
          </a:p>
          <a:p>
            <a:r>
              <a:rPr lang="en-US" sz="1900" dirty="0" smtClean="0"/>
              <a:t>Application collects some information about a user request and then </a:t>
            </a:r>
            <a:r>
              <a:rPr lang="en-US" sz="1900" i="1" dirty="0" smtClean="0">
                <a:solidFill>
                  <a:srgbClr val="C00000"/>
                </a:solidFill>
              </a:rPr>
              <a:t>dispatches</a:t>
            </a:r>
            <a:r>
              <a:rPr lang="en-US" sz="1900" dirty="0" smtClean="0"/>
              <a:t> it to an appropriate controller for further handling.</a:t>
            </a:r>
            <a:endParaRPr lang="en-US" sz="1900" dirty="0"/>
          </a:p>
        </p:txBody>
      </p:sp>
      <p:pic>
        <p:nvPicPr>
          <p:cNvPr id="1026" name="Picture 2" descr="http://www.yiiframework.com/tutorial/image?type=guide&amp;version=1.1&amp;lang=en&amp;file=struc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438400"/>
            <a:ext cx="3810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/>
              <a:t>Yii</a:t>
            </a:r>
            <a:r>
              <a:rPr lang="en-US" sz="2000" dirty="0" smtClean="0"/>
              <a:t> implements </a:t>
            </a:r>
            <a:r>
              <a:rPr lang="en-US" sz="2000" i="1" dirty="0" smtClean="0">
                <a:solidFill>
                  <a:srgbClr val="C00000"/>
                </a:solidFill>
              </a:rPr>
              <a:t>two kinds of models</a:t>
            </a:r>
            <a:r>
              <a:rPr lang="en-US" sz="2000" dirty="0" smtClean="0"/>
              <a:t>, namely </a:t>
            </a:r>
          </a:p>
          <a:p>
            <a:pPr lvl="1"/>
            <a:r>
              <a:rPr lang="en-US" sz="1800" dirty="0" smtClean="0"/>
              <a:t>the form model (a </a:t>
            </a:r>
            <a:r>
              <a:rPr lang="en-US" sz="1800" dirty="0" err="1" smtClean="0"/>
              <a:t>CFormModel</a:t>
            </a:r>
            <a:r>
              <a:rPr lang="en-US" sz="1800" dirty="0" smtClean="0"/>
              <a:t> class) and </a:t>
            </a:r>
          </a:p>
          <a:p>
            <a:pPr lvl="1"/>
            <a:r>
              <a:rPr lang="en-US" sz="1800" dirty="0" smtClean="0"/>
              <a:t>active record (a </a:t>
            </a:r>
            <a:r>
              <a:rPr lang="en-US" sz="1800" dirty="0" err="1" smtClean="0"/>
              <a:t>CActiveRecord</a:t>
            </a:r>
            <a:r>
              <a:rPr lang="en-US" sz="1800" dirty="0" smtClean="0"/>
              <a:t> class).</a:t>
            </a:r>
          </a:p>
          <a:p>
            <a:r>
              <a:rPr lang="en-US" sz="2000" dirty="0" smtClean="0"/>
              <a:t>They both extend from the same base class </a:t>
            </a:r>
            <a:r>
              <a:rPr lang="en-US" sz="2000" dirty="0" err="1" smtClean="0"/>
              <a:t>CModel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class </a:t>
            </a:r>
            <a:r>
              <a:rPr lang="en-US" sz="2000" i="1" dirty="0" err="1" smtClean="0">
                <a:solidFill>
                  <a:srgbClr val="C00000"/>
                </a:solidFill>
              </a:rPr>
              <a:t>CFormModel</a:t>
            </a:r>
            <a:r>
              <a:rPr lang="en-US" sz="2000" dirty="0" smtClean="0"/>
              <a:t> represents a data model that collects </a:t>
            </a:r>
            <a:r>
              <a:rPr lang="en-US" sz="2000" i="1" dirty="0" smtClean="0">
                <a:solidFill>
                  <a:srgbClr val="C00000"/>
                </a:solidFill>
              </a:rPr>
              <a:t>HTML form inputs</a:t>
            </a:r>
            <a:r>
              <a:rPr lang="en-US" sz="2000" dirty="0" smtClean="0"/>
              <a:t>.</a:t>
            </a:r>
          </a:p>
          <a:p>
            <a:pPr lvl="1"/>
            <a:r>
              <a:rPr lang="en-US" sz="1800" dirty="0" smtClean="0"/>
              <a:t>It encapsulates all the logic for form field validation, and any other business logic that may need to be applied to the form field data.</a:t>
            </a:r>
          </a:p>
          <a:p>
            <a:pPr lvl="1"/>
            <a:r>
              <a:rPr lang="en-US" sz="1800" dirty="0" smtClean="0"/>
              <a:t>It can then store this data in memory or, with the help of an active record model, store data in a database.</a:t>
            </a:r>
          </a:p>
          <a:p>
            <a:r>
              <a:rPr lang="en-US" sz="2000" dirty="0" smtClean="0"/>
              <a:t>Each AR object in </a:t>
            </a:r>
            <a:r>
              <a:rPr lang="en-US" sz="2000" dirty="0" err="1" smtClean="0"/>
              <a:t>Yii</a:t>
            </a:r>
            <a:r>
              <a:rPr lang="en-US" sz="2000" dirty="0" smtClean="0"/>
              <a:t> is an instance of </a:t>
            </a:r>
            <a:r>
              <a:rPr lang="en-US" sz="2000" i="1" dirty="0" err="1" smtClean="0">
                <a:solidFill>
                  <a:srgbClr val="C00000"/>
                </a:solidFill>
              </a:rPr>
              <a:t>CActiveRecord</a:t>
            </a:r>
            <a:r>
              <a:rPr lang="en-US" sz="2000" dirty="0" smtClean="0"/>
              <a:t> or its child class, which wraps </a:t>
            </a:r>
            <a:r>
              <a:rPr lang="en-US" sz="2000" i="1" dirty="0" smtClean="0">
                <a:solidFill>
                  <a:srgbClr val="C00000"/>
                </a:solidFill>
              </a:rPr>
              <a:t>a single row in a database table or view</a:t>
            </a:r>
            <a:r>
              <a:rPr lang="en-US" sz="2000" dirty="0" smtClean="0"/>
              <a:t>, that</a:t>
            </a:r>
          </a:p>
          <a:p>
            <a:pPr lvl="1"/>
            <a:r>
              <a:rPr lang="en-US" sz="1800" dirty="0" smtClean="0"/>
              <a:t>encapsulates all the logic and details around database access, and</a:t>
            </a:r>
          </a:p>
          <a:p>
            <a:pPr lvl="1"/>
            <a:r>
              <a:rPr lang="en-US" sz="1800" dirty="0" smtClean="0"/>
              <a:t>houses much of the business logic that is required to be applied to that data.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Typically the </a:t>
            </a:r>
            <a:r>
              <a:rPr lang="en-US" sz="2400" i="1" dirty="0" smtClean="0">
                <a:solidFill>
                  <a:srgbClr val="C00000"/>
                </a:solidFill>
              </a:rPr>
              <a:t>view</a:t>
            </a:r>
            <a:r>
              <a:rPr lang="en-US" sz="2400" dirty="0" smtClean="0"/>
              <a:t> is responsible for rendering the user interface, often based on the data in the model.</a:t>
            </a:r>
          </a:p>
          <a:p>
            <a:r>
              <a:rPr lang="en-US" sz="2400" dirty="0" smtClean="0"/>
              <a:t>A view in </a:t>
            </a:r>
            <a:r>
              <a:rPr lang="en-US" sz="2400" dirty="0" err="1" smtClean="0"/>
              <a:t>Yii</a:t>
            </a:r>
            <a:r>
              <a:rPr lang="en-US" sz="2400" dirty="0" smtClean="0"/>
              <a:t> is </a:t>
            </a:r>
            <a:r>
              <a:rPr lang="en-US" sz="2400" i="1" dirty="0" smtClean="0">
                <a:solidFill>
                  <a:srgbClr val="C00000"/>
                </a:solidFill>
              </a:rPr>
              <a:t>a PHP script</a:t>
            </a:r>
            <a:r>
              <a:rPr lang="en-US" sz="2400" dirty="0" smtClean="0"/>
              <a:t> that contains user interface-related elements, often built using HTML, but can also contain PHP statements.</a:t>
            </a:r>
          </a:p>
          <a:p>
            <a:r>
              <a:rPr lang="en-US" sz="2400" dirty="0" smtClean="0"/>
              <a:t>Usually, any PHP statements within the view are </a:t>
            </a:r>
            <a:r>
              <a:rPr lang="en-US" sz="2400" i="1" dirty="0" smtClean="0">
                <a:solidFill>
                  <a:srgbClr val="C00000"/>
                </a:solidFill>
              </a:rPr>
              <a:t>very simple</a:t>
            </a:r>
            <a:r>
              <a:rPr lang="en-US" sz="2400" dirty="0" smtClean="0"/>
              <a:t>, conditional or looping statements, or refer to other </a:t>
            </a:r>
            <a:r>
              <a:rPr lang="en-US" sz="2400" dirty="0" err="1" smtClean="0"/>
              <a:t>Yii</a:t>
            </a:r>
            <a:r>
              <a:rPr lang="en-US" sz="2400" dirty="0" smtClean="0"/>
              <a:t> UI-related elements such as HTML helper class methods or prebuilt widgets.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controller</a:t>
            </a:r>
            <a:r>
              <a:rPr lang="en-US" sz="2400" dirty="0" smtClean="0"/>
              <a:t> is our main director of a routed request, and is responsible for taking user input, interacting with the model, and instructing the view to update and display appropriately.</a:t>
            </a:r>
          </a:p>
          <a:p>
            <a:r>
              <a:rPr lang="en-US" sz="2400" dirty="0" smtClean="0"/>
              <a:t>A controller in </a:t>
            </a:r>
            <a:r>
              <a:rPr lang="en-US" sz="2400" dirty="0" err="1" smtClean="0"/>
              <a:t>Yii</a:t>
            </a:r>
            <a:r>
              <a:rPr lang="en-US" sz="2400" dirty="0" smtClean="0"/>
              <a:t> is an instance of </a:t>
            </a:r>
            <a:r>
              <a:rPr lang="en-US" sz="2400" i="1" dirty="0" err="1" smtClean="0">
                <a:solidFill>
                  <a:srgbClr val="C00000"/>
                </a:solidFill>
              </a:rPr>
              <a:t>CController</a:t>
            </a:r>
            <a:r>
              <a:rPr lang="en-US" sz="2400" dirty="0" smtClean="0"/>
              <a:t> or a child class thereof.</a:t>
            </a:r>
          </a:p>
          <a:p>
            <a:r>
              <a:rPr lang="en-US" sz="2400" dirty="0" smtClean="0"/>
              <a:t>When a controller runs, it performs the </a:t>
            </a:r>
            <a:r>
              <a:rPr lang="en-US" sz="2400" i="1" dirty="0" smtClean="0">
                <a:solidFill>
                  <a:srgbClr val="C00000"/>
                </a:solidFill>
              </a:rPr>
              <a:t>requested action</a:t>
            </a:r>
            <a:r>
              <a:rPr lang="en-US" sz="2400" dirty="0" smtClean="0"/>
              <a:t>, which then interacts with the necessary models, and renders an appropriate view.</a:t>
            </a:r>
          </a:p>
          <a:p>
            <a:r>
              <a:rPr lang="en-US" sz="2400" dirty="0" smtClean="0"/>
              <a:t>An action, in its simplest form, is a controller </a:t>
            </a:r>
            <a:r>
              <a:rPr lang="en-US" sz="2400" i="1" dirty="0" smtClean="0">
                <a:solidFill>
                  <a:srgbClr val="C00000"/>
                </a:solidFill>
              </a:rPr>
              <a:t>class method</a:t>
            </a:r>
            <a:r>
              <a:rPr lang="en-US" sz="2400" dirty="0" smtClean="0"/>
              <a:t> whose name starts with the word action.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</a:t>
            </a:r>
            <a:r>
              <a:rPr lang="en-US" dirty="0" err="1" smtClean="0"/>
              <a:t>Yii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XAMPP Apache + </a:t>
            </a:r>
            <a:r>
              <a:rPr lang="en-US" dirty="0" err="1" smtClean="0"/>
              <a:t>MySQL</a:t>
            </a:r>
            <a:r>
              <a:rPr lang="en-US" dirty="0" smtClean="0"/>
              <a:t> + PHP + Perl</a:t>
            </a:r>
            <a:endParaRPr lang="en-US" dirty="0" smtClean="0">
              <a:hlinkClick r:id="rId2"/>
            </a:endParaRPr>
          </a:p>
          <a:p>
            <a:pPr lvl="1"/>
            <a:r>
              <a:rPr lang="en-US" dirty="0" smtClean="0">
                <a:hlinkClick r:id="rId2"/>
              </a:rPr>
              <a:t>https://www.apachefriends.org/index.html</a:t>
            </a:r>
            <a:endParaRPr lang="en-US" dirty="0" smtClean="0"/>
          </a:p>
          <a:p>
            <a:r>
              <a:rPr lang="en-US" dirty="0" err="1" smtClean="0"/>
              <a:t>Yii</a:t>
            </a:r>
            <a:endParaRPr lang="en-US" dirty="0" smtClean="0"/>
          </a:p>
          <a:p>
            <a:pPr lvl="1"/>
            <a:r>
              <a:rPr lang="en-US" dirty="0" smtClean="0">
                <a:hlinkClick r:id="rId3"/>
              </a:rPr>
              <a:t>http://www.yiiframework.com/download/</a:t>
            </a:r>
            <a:endParaRPr lang="en-US" dirty="0" smtClean="0"/>
          </a:p>
          <a:p>
            <a:endParaRPr lang="en-US" dirty="0" smtClean="0">
              <a:hlinkClick r:id="rId4"/>
            </a:endParaRPr>
          </a:p>
          <a:p>
            <a:r>
              <a:rPr lang="en-US" dirty="0" smtClean="0">
                <a:hlinkClick r:id="rId4"/>
              </a:rPr>
              <a:t>http://localhost/yii/requirements/index.php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</a:t>
            </a:r>
            <a:r>
              <a:rPr lang="en-US" dirty="0" smtClean="0"/>
              <a:t>Structure [2]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9163" y="1466850"/>
            <a:ext cx="730567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Structure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550" y="1743075"/>
            <a:ext cx="796290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New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./framework/</a:t>
            </a:r>
            <a:r>
              <a:rPr lang="en-US" dirty="0" err="1" smtClean="0"/>
              <a:t>yiic</a:t>
            </a:r>
            <a:r>
              <a:rPr lang="en-US" dirty="0" smtClean="0"/>
              <a:t> </a:t>
            </a:r>
            <a:r>
              <a:rPr lang="en-US" dirty="0" err="1" smtClean="0"/>
              <a:t>webapp</a:t>
            </a:r>
            <a:r>
              <a:rPr lang="en-US" dirty="0" smtClean="0"/>
              <a:t> </a:t>
            </a:r>
            <a:r>
              <a:rPr lang="en-US" dirty="0" err="1" smtClean="0"/>
              <a:t>helloworld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i="1" dirty="0" err="1" smtClean="0">
                <a:solidFill>
                  <a:srgbClr val="C00000"/>
                </a:solidFill>
              </a:rPr>
              <a:t>yiic</a:t>
            </a:r>
            <a:r>
              <a:rPr lang="en-US" i="1" dirty="0" smtClean="0">
                <a:solidFill>
                  <a:srgbClr val="C00000"/>
                </a:solidFill>
              </a:rPr>
              <a:t> </a:t>
            </a:r>
            <a:r>
              <a:rPr lang="en-US" i="1" dirty="0" err="1" smtClean="0">
                <a:solidFill>
                  <a:srgbClr val="C00000"/>
                </a:solidFill>
              </a:rPr>
              <a:t>webapp</a:t>
            </a:r>
            <a:r>
              <a:rPr lang="en-US" dirty="0" smtClean="0"/>
              <a:t> command is used to create a brand new </a:t>
            </a:r>
            <a:r>
              <a:rPr lang="en-US" dirty="0" err="1" smtClean="0"/>
              <a:t>Yii</a:t>
            </a:r>
            <a:r>
              <a:rPr lang="en-US" dirty="0" smtClean="0"/>
              <a:t> web application.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Application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400800" cy="4525963"/>
          </a:xfrm>
        </p:spPr>
        <p:txBody>
          <a:bodyPr/>
          <a:lstStyle/>
          <a:p>
            <a:r>
              <a:rPr lang="en-US" sz="2400" dirty="0" smtClean="0"/>
              <a:t>index.php: Web application </a:t>
            </a:r>
            <a:r>
              <a:rPr lang="en-US" sz="2400" i="1" dirty="0" smtClean="0">
                <a:solidFill>
                  <a:srgbClr val="C00000"/>
                </a:solidFill>
              </a:rPr>
              <a:t>entry script file</a:t>
            </a:r>
          </a:p>
          <a:p>
            <a:r>
              <a:rPr lang="en-US" sz="2400" dirty="0" smtClean="0"/>
              <a:t>index-test.php: Entry script file for loading a </a:t>
            </a:r>
            <a:r>
              <a:rPr lang="en-US" sz="2400" i="1" dirty="0" smtClean="0">
                <a:solidFill>
                  <a:srgbClr val="C00000"/>
                </a:solidFill>
              </a:rPr>
              <a:t>test configuration</a:t>
            </a:r>
          </a:p>
          <a:p>
            <a:r>
              <a:rPr lang="en-US" sz="2400" dirty="0" smtClean="0"/>
              <a:t>assets/: Contains published </a:t>
            </a:r>
            <a:r>
              <a:rPr lang="en-US" sz="2400" i="1" dirty="0" smtClean="0">
                <a:solidFill>
                  <a:srgbClr val="C00000"/>
                </a:solidFill>
              </a:rPr>
              <a:t>resource files</a:t>
            </a:r>
          </a:p>
          <a:p>
            <a:r>
              <a:rPr lang="en-US" sz="2400" dirty="0" err="1" smtClean="0"/>
              <a:t>css</a:t>
            </a:r>
            <a:r>
              <a:rPr lang="en-US" sz="2400" dirty="0" smtClean="0"/>
              <a:t>/: Contains </a:t>
            </a:r>
            <a:r>
              <a:rPr lang="en-US" sz="2400" i="1" dirty="0" smtClean="0">
                <a:solidFill>
                  <a:srgbClr val="C00000"/>
                </a:solidFill>
              </a:rPr>
              <a:t>CSS files</a:t>
            </a:r>
          </a:p>
          <a:p>
            <a:r>
              <a:rPr lang="en-US" sz="2400" dirty="0" smtClean="0"/>
              <a:t>images/: Contains </a:t>
            </a:r>
            <a:r>
              <a:rPr lang="en-US" sz="2400" i="1" dirty="0" smtClean="0">
                <a:solidFill>
                  <a:srgbClr val="C00000"/>
                </a:solidFill>
              </a:rPr>
              <a:t>image files</a:t>
            </a:r>
          </a:p>
          <a:p>
            <a:r>
              <a:rPr lang="en-US" sz="2400" dirty="0" smtClean="0"/>
              <a:t>themes/: Contains </a:t>
            </a:r>
            <a:r>
              <a:rPr lang="en-US" sz="2400" i="1" dirty="0" smtClean="0">
                <a:solidFill>
                  <a:srgbClr val="C00000"/>
                </a:solidFill>
              </a:rPr>
              <a:t>application themes</a:t>
            </a:r>
          </a:p>
          <a:p>
            <a:r>
              <a:rPr lang="en-US" sz="2400" dirty="0" smtClean="0"/>
              <a:t>protected/: Contains protected (non-public) </a:t>
            </a:r>
            <a:r>
              <a:rPr lang="en-US" sz="2400" i="1" dirty="0" smtClean="0">
                <a:solidFill>
                  <a:srgbClr val="C00000"/>
                </a:solidFill>
              </a:rPr>
              <a:t>application files</a:t>
            </a:r>
            <a:endParaRPr lang="en-US" sz="2400" i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2514600"/>
            <a:ext cx="14859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(Optionally) Modifying index.php</a:t>
            </a:r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838200" y="1981200"/>
            <a:ext cx="7620000" cy="3785652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require_once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($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yii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);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$app =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Yii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::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createWebApplication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($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config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);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/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onsolas" pitchFamily="49" charset="0"/>
                <a:cs typeface="Consolas" pitchFamily="49" charset="0"/>
              </a:rPr>
              <a:t>// we need to set this to UTC, regardless of default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Consolas" pitchFamily="49" charset="0"/>
                <a:cs typeface="Consolas" pitchFamily="49" charset="0"/>
              </a:rPr>
              <a:t>timezone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onsolas" pitchFamily="49" charset="0"/>
                <a:cs typeface="Consolas" pitchFamily="49" charset="0"/>
              </a:rPr>
              <a:t>// which is only for display. UTC is what timestamps etc. are using.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/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Yii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::app()-&gt;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setTimeZone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("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onsolas" pitchFamily="49" charset="0"/>
                <a:cs typeface="Consolas" pitchFamily="49" charset="0"/>
              </a:rPr>
              <a:t>UTC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");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/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$app-&gt;run();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Configuring </a:t>
            </a:r>
            <a:r>
              <a:rPr lang="en-US" dirty="0" err="1" smtClean="0"/>
              <a:t>Gii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protected/</a:t>
            </a:r>
            <a:r>
              <a:rPr lang="en-US" sz="2400" dirty="0" err="1" smtClean="0"/>
              <a:t>config</a:t>
            </a:r>
            <a:r>
              <a:rPr lang="en-US" sz="2400" dirty="0" smtClean="0"/>
              <a:t>/main.php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http://localhost/helloworld/index.php?r=gii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2133600"/>
            <a:ext cx="7620000" cy="3785652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'modules'=&gt;array(</a:t>
            </a:r>
          </a:p>
          <a:p>
            <a:pPr lvl="0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uncomment the following to enable the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Gii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tool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/*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gii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'=&gt;array(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'class'=&gt;'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system.gii.GiiModule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',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'password'=&gt;'</a:t>
            </a:r>
            <a:r>
              <a:rPr lang="en-US" sz="2000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Enter Your Password Here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',</a:t>
            </a:r>
          </a:p>
          <a:p>
            <a:pPr lvl="0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If removed,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Gii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defaults to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localhost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only.</a:t>
            </a:r>
          </a:p>
          <a:p>
            <a:pPr lvl="0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Edit carefully to taste.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ipFilters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'=&gt;array('127.0.0.1','::1'),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),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*/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),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the Controller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5350" y="1581150"/>
            <a:ext cx="73533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Modifying the View</a:t>
            </a:r>
            <a:endParaRPr 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0525" y="1952625"/>
            <a:ext cx="8362950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Typical Workflow (1 - 3)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en-US" sz="2200" dirty="0" smtClean="0"/>
              <a:t>A user makes a request with the URL http://www.example.com/index.php?r=post/show&amp;id=1 and the Web server handles the request by executing the bootstrap script index.php.</a:t>
            </a:r>
          </a:p>
          <a:p>
            <a:r>
              <a:rPr lang="en-US" sz="2200" dirty="0" smtClean="0"/>
              <a:t>The bootstrap script creates an Application instance and runs it.</a:t>
            </a:r>
          </a:p>
          <a:p>
            <a:r>
              <a:rPr lang="en-US" sz="2200" dirty="0" smtClean="0"/>
              <a:t>The Application obtains detailed user request information from an application component named request.</a:t>
            </a:r>
            <a:endParaRPr lang="en-US" sz="2200" dirty="0"/>
          </a:p>
        </p:txBody>
      </p:sp>
      <p:pic>
        <p:nvPicPr>
          <p:cNvPr id="62466" name="Picture 2" descr="http://www.yiiframework.com/tutorial/image?type=guide&amp;version=1.1&amp;lang=en&amp;file=flo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6300" y="1600199"/>
            <a:ext cx="4000500" cy="4953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index.php and yii.php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1409343"/>
            <a:ext cx="7620000" cy="255454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php</a:t>
            </a: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change the following paths if necessary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$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yii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=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dirname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(__FILE__).'/../framework/yii.php';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$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config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=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dirname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(__FILE__).'/protected/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config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/main.php';</a:t>
            </a:r>
          </a:p>
          <a:p>
            <a:pPr lvl="0"/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$app =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Yii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::</a:t>
            </a:r>
            <a:r>
              <a:rPr lang="en-US" sz="2000" b="1" dirty="0" err="1" smtClean="0">
                <a:latin typeface="Consolas" pitchFamily="49" charset="0"/>
                <a:cs typeface="Consolas" pitchFamily="49" charset="0"/>
              </a:rPr>
              <a:t>createWebApplication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($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config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$app-&gt;</a:t>
            </a:r>
            <a:r>
              <a:rPr lang="en-US" sz="2000" b="1" dirty="0" smtClean="0">
                <a:latin typeface="Consolas" pitchFamily="49" charset="0"/>
                <a:cs typeface="Consolas" pitchFamily="49" charset="0"/>
              </a:rPr>
              <a:t>run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();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4385608"/>
            <a:ext cx="7620000" cy="1938992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require(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dirname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(__FILE__).'/YiiBase.php');</a:t>
            </a:r>
          </a:p>
          <a:p>
            <a:pPr lvl="0"/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Yii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is a helper class serving common framework functionalities.</a:t>
            </a:r>
          </a:p>
          <a:p>
            <a:pPr lvl="0"/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sz="2000" b="1" dirty="0" err="1" smtClean="0">
                <a:latin typeface="Consolas" pitchFamily="49" charset="0"/>
                <a:cs typeface="Consolas" pitchFamily="49" charset="0"/>
              </a:rPr>
              <a:t>Yii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sz="2000" b="1" dirty="0" err="1" smtClean="0">
                <a:latin typeface="Consolas" pitchFamily="49" charset="0"/>
                <a:cs typeface="Consolas" pitchFamily="49" charset="0"/>
              </a:rPr>
              <a:t>YiiBase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{}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YiiBase.php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894597"/>
            <a:ext cx="7620000" cy="3554819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5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sz="15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YiiBase</a:t>
            </a:r>
            <a:r>
              <a:rPr lang="en-US" sz="15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is a helper class serving common framework functionalities.</a:t>
            </a:r>
          </a:p>
          <a:p>
            <a:pPr lvl="0"/>
            <a:endParaRPr lang="en-US" sz="1500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sz="1500" b="1" dirty="0" err="1" smtClean="0">
                <a:latin typeface="Consolas" pitchFamily="49" charset="0"/>
                <a:cs typeface="Consolas" pitchFamily="49" charset="0"/>
              </a:rPr>
              <a:t>YiiBase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0"/>
            <a:endParaRPr lang="en-US" sz="1500" dirty="0" smtClean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public static function </a:t>
            </a:r>
            <a:r>
              <a:rPr lang="en-US" sz="1500" b="1" dirty="0" err="1" smtClean="0">
                <a:latin typeface="Consolas" pitchFamily="49" charset="0"/>
                <a:cs typeface="Consolas" pitchFamily="49" charset="0"/>
              </a:rPr>
              <a:t>createWebApplication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($</a:t>
            </a:r>
            <a:r>
              <a:rPr lang="en-US" sz="1500" dirty="0" err="1" smtClean="0">
                <a:latin typeface="Consolas" pitchFamily="49" charset="0"/>
                <a:cs typeface="Consolas" pitchFamily="49" charset="0"/>
              </a:rPr>
              <a:t>config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=null)</a:t>
            </a: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	return self::</a:t>
            </a:r>
            <a:r>
              <a:rPr lang="en-US" sz="1500" b="1" dirty="0" err="1" smtClean="0">
                <a:latin typeface="Consolas" pitchFamily="49" charset="0"/>
                <a:cs typeface="Consolas" pitchFamily="49" charset="0"/>
              </a:rPr>
              <a:t>createApplication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(‘</a:t>
            </a:r>
            <a:r>
              <a:rPr lang="en-US" sz="1500" dirty="0" err="1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CWebApplication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’, $</a:t>
            </a:r>
            <a:r>
              <a:rPr lang="en-US" sz="1500" dirty="0" err="1" smtClean="0">
                <a:latin typeface="Consolas" pitchFamily="49" charset="0"/>
                <a:cs typeface="Consolas" pitchFamily="49" charset="0"/>
              </a:rPr>
              <a:t>config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);	</a:t>
            </a: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endParaRPr lang="en-US" sz="1500" dirty="0" smtClean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public static function </a:t>
            </a:r>
            <a:r>
              <a:rPr lang="en-US" sz="1500" b="1" dirty="0" err="1" smtClean="0">
                <a:latin typeface="Consolas" pitchFamily="49" charset="0"/>
                <a:cs typeface="Consolas" pitchFamily="49" charset="0"/>
              </a:rPr>
              <a:t>createApplication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($class, $</a:t>
            </a:r>
            <a:r>
              <a:rPr lang="en-US" sz="1500" dirty="0" err="1" smtClean="0">
                <a:latin typeface="Consolas" pitchFamily="49" charset="0"/>
                <a:cs typeface="Consolas" pitchFamily="49" charset="0"/>
              </a:rPr>
              <a:t>config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=null)</a:t>
            </a: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{		</a:t>
            </a: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	return new $class($</a:t>
            </a:r>
            <a:r>
              <a:rPr lang="en-US" sz="1500" dirty="0" err="1" smtClean="0">
                <a:latin typeface="Consolas" pitchFamily="49" charset="0"/>
                <a:cs typeface="Consolas" pitchFamily="49" charset="0"/>
              </a:rPr>
              <a:t>config</a:t>
            </a:r>
            <a:r>
              <a:rPr lang="en-US" sz="1500" dirty="0" smtClean="0">
                <a:latin typeface="Consolas" pitchFamily="49" charset="0"/>
                <a:cs typeface="Consolas" pitchFamily="49" charset="0"/>
              </a:rPr>
              <a:t>);	</a:t>
            </a: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endParaRPr lang="en-US" sz="1500" dirty="0" smtClean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sz="1500" dirty="0" smtClean="0">
                <a:latin typeface="Consolas" pitchFamily="49" charset="0"/>
                <a:cs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Typical Workflow (4)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en-US" sz="2400" dirty="0" smtClean="0"/>
              <a:t>The application determines the requested </a:t>
            </a:r>
            <a:r>
              <a:rPr lang="en-US" sz="2400" i="1" dirty="0" smtClean="0">
                <a:solidFill>
                  <a:srgbClr val="C00000"/>
                </a:solidFill>
              </a:rPr>
              <a:t>controller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action</a:t>
            </a:r>
            <a:r>
              <a:rPr lang="en-US" sz="2400" dirty="0" smtClean="0"/>
              <a:t> with the help of an application component named </a:t>
            </a:r>
            <a:r>
              <a:rPr lang="en-US" sz="2400" b="1" dirty="0" err="1" smtClean="0"/>
              <a:t>urlManager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this example, the controller is post, which refers to the </a:t>
            </a:r>
            <a:r>
              <a:rPr lang="en-US" sz="2400" b="1" dirty="0" err="1" smtClean="0"/>
              <a:t>PostController</a:t>
            </a:r>
            <a:r>
              <a:rPr lang="en-US" sz="2400" dirty="0" smtClean="0"/>
              <a:t> class; and the action is </a:t>
            </a:r>
            <a:r>
              <a:rPr lang="en-US" sz="2400" b="1" dirty="0" smtClean="0"/>
              <a:t>show</a:t>
            </a:r>
            <a:r>
              <a:rPr lang="en-US" sz="2400" dirty="0" smtClean="0"/>
              <a:t>, whose actual meaning is determined by the controller.</a:t>
            </a:r>
            <a:endParaRPr lang="en-US" sz="2400" dirty="0"/>
          </a:p>
        </p:txBody>
      </p:sp>
      <p:pic>
        <p:nvPicPr>
          <p:cNvPr id="62466" name="Picture 2" descr="http://www.yiiframework.com/tutorial/image?type=guide&amp;version=1.1&amp;lang=en&amp;file=flo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6300" y="1600199"/>
            <a:ext cx="4000500" cy="4953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Typical Workflow (5)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200" dirty="0" smtClean="0"/>
              <a:t>The application </a:t>
            </a:r>
            <a:r>
              <a:rPr lang="en-US" sz="2200" i="1" dirty="0" smtClean="0">
                <a:solidFill>
                  <a:srgbClr val="C00000"/>
                </a:solidFill>
              </a:rPr>
              <a:t>creates</a:t>
            </a:r>
            <a:r>
              <a:rPr lang="en-US" sz="2200" dirty="0" smtClean="0"/>
              <a:t> an instance of the requested controller to further handle the user request.</a:t>
            </a:r>
          </a:p>
          <a:p>
            <a:r>
              <a:rPr lang="en-US" sz="2200" dirty="0" smtClean="0"/>
              <a:t>The controller determines that the </a:t>
            </a:r>
            <a:r>
              <a:rPr lang="en-US" sz="2200" i="1" dirty="0" smtClean="0">
                <a:solidFill>
                  <a:srgbClr val="C00000"/>
                </a:solidFill>
              </a:rPr>
              <a:t>action</a:t>
            </a:r>
            <a:r>
              <a:rPr lang="en-US" sz="2200" dirty="0" smtClean="0"/>
              <a:t> show refers to a </a:t>
            </a:r>
            <a:r>
              <a:rPr lang="en-US" sz="2200" u="sng" dirty="0" smtClean="0"/>
              <a:t>method</a:t>
            </a:r>
            <a:r>
              <a:rPr lang="en-US" sz="2200" dirty="0" smtClean="0"/>
              <a:t> named </a:t>
            </a:r>
            <a:r>
              <a:rPr lang="en-US" sz="2200" b="1" dirty="0" err="1" smtClean="0"/>
              <a:t>actionShow</a:t>
            </a:r>
            <a:r>
              <a:rPr lang="en-US" sz="2200" dirty="0" smtClean="0"/>
              <a:t> in the controller </a:t>
            </a:r>
            <a:r>
              <a:rPr lang="en-US" sz="2200" u="sng" dirty="0" smtClean="0"/>
              <a:t>class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It then </a:t>
            </a:r>
            <a:r>
              <a:rPr lang="en-US" sz="2200" i="1" dirty="0" smtClean="0">
                <a:solidFill>
                  <a:srgbClr val="C00000"/>
                </a:solidFill>
              </a:rPr>
              <a:t>creates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executes</a:t>
            </a:r>
            <a:r>
              <a:rPr lang="en-US" sz="2200" dirty="0" smtClean="0"/>
              <a:t> filters (e.g. access control, benchmarking) associated with this action.</a:t>
            </a:r>
          </a:p>
          <a:p>
            <a:r>
              <a:rPr lang="en-US" sz="2200" dirty="0" smtClean="0"/>
              <a:t>The action is </a:t>
            </a:r>
            <a:r>
              <a:rPr lang="en-US" sz="2200" i="1" dirty="0" smtClean="0">
                <a:solidFill>
                  <a:srgbClr val="C00000"/>
                </a:solidFill>
              </a:rPr>
              <a:t>executed</a:t>
            </a:r>
            <a:r>
              <a:rPr lang="en-US" sz="2200" dirty="0" smtClean="0"/>
              <a:t> if it is allowed by the filters.</a:t>
            </a:r>
            <a:endParaRPr lang="en-US" sz="2200" dirty="0"/>
          </a:p>
        </p:txBody>
      </p:sp>
      <p:pic>
        <p:nvPicPr>
          <p:cNvPr id="62466" name="Picture 2" descr="http://www.yiiframework.com/tutorial/image?type=guide&amp;version=1.1&amp;lang=en&amp;file=flo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600199"/>
            <a:ext cx="4000500" cy="4953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CWebApplication.php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890385"/>
            <a:ext cx="7620000" cy="4278094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CWebApplication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CApplication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by providing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functionalities specific to Web requests.</a:t>
            </a:r>
          </a:p>
          <a:p>
            <a:pPr lvl="0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CWebApplication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CApplication</a:t>
            </a:r>
            <a:endParaRPr lang="en-US" sz="1600" b="1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// It first resolves the request into controller and action, 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// and then creates the controller to perform the action.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public function 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processRequest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   $route=$this-&gt;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getUrlManager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()-&gt;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parseUrl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                                 $this-&gt;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getRequest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());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	$ca=$this-&gt;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createController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($route);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list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($controller, $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actionID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)=$ca; 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	$controller-&gt;</a:t>
            </a:r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init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	$controller-&gt;</a:t>
            </a:r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run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($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actionID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	...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0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CApplication.php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782663"/>
            <a:ext cx="7620000" cy="4493538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An application serves as the global context // that the user request is being processed.</a:t>
            </a:r>
          </a:p>
          <a:p>
            <a:pPr lvl="0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It manages a set of application components</a:t>
            </a:r>
          </a:p>
          <a:p>
            <a:pPr lvl="0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that provide specific functionalities to the</a:t>
            </a:r>
          </a:p>
          <a:p>
            <a:pPr lvl="0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whole application.</a:t>
            </a:r>
          </a:p>
          <a:p>
            <a:pPr lvl="0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abstract class </a:t>
            </a:r>
            <a:r>
              <a:rPr lang="en-US" sz="2200" b="1" dirty="0" err="1" smtClean="0">
                <a:latin typeface="Consolas" pitchFamily="49" charset="0"/>
                <a:cs typeface="Consolas" pitchFamily="49" charset="0"/>
              </a:rPr>
              <a:t>CApplication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sz="2200" b="1" u="sng" dirty="0" err="1" smtClean="0">
                <a:latin typeface="Consolas" pitchFamily="49" charset="0"/>
                <a:cs typeface="Consolas" pitchFamily="49" charset="0"/>
              </a:rPr>
              <a:t>CModule</a:t>
            </a:r>
            <a:endParaRPr lang="en-US" sz="2200" b="1" u="sng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0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200" b="1" dirty="0" smtClean="0">
                <a:latin typeface="Consolas" pitchFamily="49" charset="0"/>
                <a:cs typeface="Consolas" pitchFamily="49" charset="0"/>
              </a:rPr>
              <a:t>abstract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public function </a:t>
            </a:r>
            <a:r>
              <a:rPr lang="en-US" sz="2200" b="1" dirty="0" err="1" smtClean="0">
                <a:latin typeface="Consolas" pitchFamily="49" charset="0"/>
                <a:cs typeface="Consolas" pitchFamily="49" charset="0"/>
              </a:rPr>
              <a:t>processRequest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 lvl="0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    public function </a:t>
            </a:r>
            <a:r>
              <a:rPr lang="en-US" sz="2200" b="1" dirty="0" smtClean="0">
                <a:latin typeface="Consolas" pitchFamily="49" charset="0"/>
                <a:cs typeface="Consolas" pitchFamily="49" charset="0"/>
              </a:rPr>
              <a:t>run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()</a:t>
            </a:r>
          </a:p>
          <a:p>
            <a:pPr lvl="0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    { </a:t>
            </a:r>
          </a:p>
          <a:p>
            <a:pPr lvl="0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         $this-&gt;</a:t>
            </a:r>
            <a:r>
              <a:rPr lang="en-US" sz="2200" b="1" dirty="0" err="1" smtClean="0">
                <a:latin typeface="Consolas" pitchFamily="49" charset="0"/>
                <a:cs typeface="Consolas" pitchFamily="49" charset="0"/>
              </a:rPr>
              <a:t>processRequest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 lvl="0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    } </a:t>
            </a:r>
          </a:p>
          <a:p>
            <a:pPr lvl="0"/>
            <a:r>
              <a:rPr lang="en-US" sz="2200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createController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890385"/>
            <a:ext cx="7620000" cy="4278094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CWebApplication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CApplication</a:t>
            </a:r>
            <a:endParaRPr lang="en-US" sz="1600" b="1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The route should contain the controller ID 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and the action ID.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It may also contain additional GET variables.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* If the first segment is found in controller map 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the corresponding controller configuration will be used 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to create the controller;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* If the first segment is found to be a module ID,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the corresponding module will be used 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to create the controller;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* Otherwise, it will search under the controller path </a:t>
            </a:r>
          </a:p>
          <a:p>
            <a:pPr lvl="0"/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// to create the corresponding controller.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public function 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createController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($route, $owner=null)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0"/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CController.php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2044273"/>
            <a:ext cx="7620000" cy="3970318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CController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manages a set of actions which deal with the // corresponding user requests.</a:t>
            </a:r>
          </a:p>
          <a:p>
            <a:pPr lvl="0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Through the actions,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CController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coordinates the data</a:t>
            </a:r>
          </a:p>
          <a:p>
            <a:pPr lvl="0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flow between models and views.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CController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b="1" u="sng" dirty="0" err="1" smtClean="0">
                <a:latin typeface="Consolas" pitchFamily="49" charset="0"/>
                <a:cs typeface="Consolas" pitchFamily="49" charset="0"/>
              </a:rPr>
              <a:t>CBaseController</a:t>
            </a:r>
            <a:endParaRPr lang="en-US" b="1" u="sng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public function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run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($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actionID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) ()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...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// Use reflection to invoke an action method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$action-&gt;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runWithParams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($this-&gt;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getActionParams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())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...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Typical Workflow (6 - 11)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200" dirty="0" smtClean="0"/>
              <a:t>The action reads a Post </a:t>
            </a:r>
            <a:r>
              <a:rPr lang="en-US" sz="2200" i="1" dirty="0" smtClean="0">
                <a:solidFill>
                  <a:srgbClr val="C00000"/>
                </a:solidFill>
              </a:rPr>
              <a:t>model</a:t>
            </a:r>
            <a:r>
              <a:rPr lang="en-US" sz="2200" dirty="0" smtClean="0"/>
              <a:t> whose ID is 1 from the database.</a:t>
            </a:r>
          </a:p>
          <a:p>
            <a:r>
              <a:rPr lang="en-US" sz="2200" dirty="0" smtClean="0"/>
              <a:t>The action renders a </a:t>
            </a:r>
            <a:r>
              <a:rPr lang="en-US" sz="2200" i="1" dirty="0" smtClean="0">
                <a:solidFill>
                  <a:srgbClr val="C00000"/>
                </a:solidFill>
              </a:rPr>
              <a:t>view</a:t>
            </a:r>
            <a:r>
              <a:rPr lang="en-US" sz="2200" dirty="0" smtClean="0"/>
              <a:t> named show with the Post model.</a:t>
            </a:r>
          </a:p>
          <a:p>
            <a:r>
              <a:rPr lang="en-US" sz="2200" dirty="0" smtClean="0"/>
              <a:t>The view reads and displays the </a:t>
            </a:r>
            <a:r>
              <a:rPr lang="en-US" sz="2200" i="1" dirty="0" smtClean="0">
                <a:solidFill>
                  <a:srgbClr val="C00000"/>
                </a:solidFill>
              </a:rPr>
              <a:t>attributes</a:t>
            </a:r>
            <a:r>
              <a:rPr lang="en-US" sz="2200" dirty="0" smtClean="0"/>
              <a:t> of the Post model.</a:t>
            </a:r>
          </a:p>
          <a:p>
            <a:r>
              <a:rPr lang="en-US" sz="2200" dirty="0" smtClean="0"/>
              <a:t>The view executes some </a:t>
            </a:r>
            <a:r>
              <a:rPr lang="en-US" sz="2200" i="1" dirty="0" smtClean="0">
                <a:solidFill>
                  <a:srgbClr val="C00000"/>
                </a:solidFill>
              </a:rPr>
              <a:t>widgets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view rendering result is embedded in a </a:t>
            </a:r>
            <a:r>
              <a:rPr lang="en-US" sz="2200" i="1" dirty="0" smtClean="0">
                <a:solidFill>
                  <a:srgbClr val="C00000"/>
                </a:solidFill>
              </a:rPr>
              <a:t>layout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action completes the view rendering and </a:t>
            </a:r>
            <a:r>
              <a:rPr lang="en-US" sz="2200" i="1" dirty="0" smtClean="0">
                <a:solidFill>
                  <a:srgbClr val="C00000"/>
                </a:solidFill>
              </a:rPr>
              <a:t>displays</a:t>
            </a:r>
            <a:r>
              <a:rPr lang="en-US" sz="2200" dirty="0" smtClean="0"/>
              <a:t> the result to the user.</a:t>
            </a:r>
            <a:endParaRPr lang="en-US" sz="2200" dirty="0"/>
          </a:p>
        </p:txBody>
      </p:sp>
      <p:pic>
        <p:nvPicPr>
          <p:cNvPr id="62466" name="Picture 2" descr="http://www.yiiframework.com/tutorial/image?type=guide&amp;version=1.1&amp;lang=en&amp;file=flo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600199"/>
            <a:ext cx="4000500" cy="4953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HomeController.php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2044272"/>
            <a:ext cx="7620000" cy="3970318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Controller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CController</a:t>
            </a:r>
            <a:endParaRPr lang="en-US" b="1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	 public $layout='</a:t>
            </a:r>
            <a:r>
              <a:rPr lang="en-US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//layouts/column1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';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0"/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HomeController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Controller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public function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actionIndex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...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$this-&gt;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render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('</a:t>
            </a:r>
            <a:r>
              <a:rPr lang="en-US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index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');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...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CController.php: render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628776"/>
            <a:ext cx="7620000" cy="4801314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This method first calls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renderPartial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to render the view (called content view).</a:t>
            </a:r>
          </a:p>
          <a:p>
            <a:pPr lvl="0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It then renders the layout view which may embed the content view at appropriate place.</a:t>
            </a:r>
          </a:p>
          <a:p>
            <a:pPr lvl="0"/>
            <a:endParaRPr lang="en-US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CController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b="1" u="sng" dirty="0" err="1" smtClean="0">
                <a:latin typeface="Consolas" pitchFamily="49" charset="0"/>
                <a:cs typeface="Consolas" pitchFamily="49" charset="0"/>
              </a:rPr>
              <a:t>CBaseController</a:t>
            </a:r>
            <a:endParaRPr lang="en-US" b="1" u="sng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public function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render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($view, $data=null,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		  $return=</a:t>
            </a:r>
            <a:r>
              <a:rPr lang="en-US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false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)	()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$output=$this-&gt;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renderPartial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($view, $data, true);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$output=$this-&gt;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renderFile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($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layoutFile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,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		array('</a:t>
            </a:r>
            <a:r>
              <a:rPr lang="en-US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content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'=&gt;$output), </a:t>
            </a:r>
            <a:r>
              <a:rPr lang="en-US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true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$output=$this-&gt;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processOutput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($output);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return $output;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//layouts/column1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2459774"/>
            <a:ext cx="7620000" cy="3139321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/* @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var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$this Controller */ ?&gt;</a:t>
            </a:r>
          </a:p>
          <a:p>
            <a:pPr lvl="0"/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$this-&gt;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beginContent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('</a:t>
            </a:r>
            <a:r>
              <a:rPr lang="en-US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//layouts/main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'); ?&gt;</a:t>
            </a:r>
          </a:p>
          <a:p>
            <a:pPr lvl="0"/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&lt;div id="content"&gt;	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	&lt;?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echo $content; ?&gt;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&lt;/div&gt;</a:t>
            </a:r>
          </a:p>
          <a:p>
            <a:pPr lvl="0"/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&lt;!-- content --&gt;</a:t>
            </a:r>
          </a:p>
          <a:p>
            <a:pPr lvl="0"/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$this-&gt;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endContent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(); ?&gt;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//layouts/main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628778"/>
            <a:ext cx="7620000" cy="4801314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/* @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var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$this Controller */ ?&gt;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&lt;!DOCTYPE html PUBLIC "-//W3C//DTD XHTML 1.0 Transitional//EN" "http://www.w3.org/TR/xhtml1/DTD/xhtml1-transitional.dtd"&gt;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&lt;html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xmlns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="http://www.w3.org/1999/xhtml"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xml:lang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="en"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lang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="en"&gt;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...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&lt;div class="container" id="page"&gt;	</a:t>
            </a:r>
          </a:p>
          <a:p>
            <a:pPr lvl="2"/>
            <a:r>
              <a:rPr lang="en-US" dirty="0" smtClean="0">
                <a:latin typeface="Consolas" pitchFamily="49" charset="0"/>
                <a:cs typeface="Consolas" pitchFamily="49" charset="0"/>
              </a:rPr>
              <a:t>&lt;div id="header"&gt;&lt;div id="logo"&gt;</a:t>
            </a:r>
          </a:p>
          <a:p>
            <a:pPr lvl="2"/>
            <a:r>
              <a:rPr lang="en-US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echo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CHtml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::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encode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Yii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::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app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()-&gt;name); ?&gt;</a:t>
            </a:r>
          </a:p>
          <a:p>
            <a:pPr lvl="2"/>
            <a:r>
              <a:rPr lang="en-US" dirty="0" smtClean="0">
                <a:latin typeface="Consolas" pitchFamily="49" charset="0"/>
                <a:cs typeface="Consolas" pitchFamily="49" charset="0"/>
              </a:rPr>
              <a:t>&lt;/div&gt;&lt;/div&gt;</a:t>
            </a:r>
          </a:p>
          <a:p>
            <a:pPr lvl="2"/>
            <a:r>
              <a:rPr lang="en-US" dirty="0" smtClean="0">
                <a:latin typeface="Consolas" pitchFamily="49" charset="0"/>
                <a:cs typeface="Consolas" pitchFamily="49" charset="0"/>
              </a:rPr>
              <a:t>&lt;!-- header --&gt;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echo $content; ?&gt;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dirty="0" err="1" smtClean="0"/>
              <a:t>Yii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widget</a:t>
            </a:r>
            <a:r>
              <a:rPr lang="en-US" sz="2400" dirty="0" smtClean="0"/>
              <a:t> is an instance of the </a:t>
            </a:r>
            <a:r>
              <a:rPr lang="en-US" sz="2400" dirty="0" err="1" smtClean="0"/>
              <a:t>CWidget</a:t>
            </a:r>
            <a:r>
              <a:rPr lang="en-US" sz="2400" dirty="0" smtClean="0"/>
              <a:t> class (or a child class thereof), and is a </a:t>
            </a:r>
            <a:r>
              <a:rPr lang="en-US" sz="2400" i="1" dirty="0" smtClean="0">
                <a:solidFill>
                  <a:srgbClr val="C00000"/>
                </a:solidFill>
              </a:rPr>
              <a:t>presentational component</a:t>
            </a:r>
            <a:r>
              <a:rPr lang="en-US" sz="2400" dirty="0" smtClean="0"/>
              <a:t> typically embedded in a view file to display </a:t>
            </a:r>
            <a:r>
              <a:rPr lang="en-US" sz="2400" u="sng" dirty="0" smtClean="0"/>
              <a:t>self-contained</a:t>
            </a:r>
            <a:r>
              <a:rPr lang="en-US" sz="2400" dirty="0" smtClean="0"/>
              <a:t>, </a:t>
            </a:r>
            <a:r>
              <a:rPr lang="en-US" sz="2400" u="sng" dirty="0" smtClean="0"/>
              <a:t>reusable</a:t>
            </a:r>
            <a:r>
              <a:rPr lang="en-US" sz="2400" dirty="0" smtClean="0"/>
              <a:t> </a:t>
            </a:r>
            <a:r>
              <a:rPr lang="en-US" sz="2400" u="sng" dirty="0" smtClean="0"/>
              <a:t>user interface features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We'll add our new widget to the </a:t>
            </a:r>
            <a:r>
              <a:rPr lang="en-US" sz="2400" i="1" dirty="0" smtClean="0">
                <a:solidFill>
                  <a:srgbClr val="C00000"/>
                </a:solidFill>
              </a:rPr>
              <a:t>protected/components/</a:t>
            </a:r>
            <a:r>
              <a:rPr lang="en-US" sz="2400" dirty="0" smtClean="0"/>
              <a:t> directory, as the contents of this directory are already specified in the main configuration file to be auto-loaded within the application.</a:t>
            </a:r>
          </a:p>
          <a:p>
            <a:r>
              <a:rPr lang="en-US" sz="2400" dirty="0" smtClean="0"/>
              <a:t>View files for widgets, by convention, are placed in a </a:t>
            </a:r>
            <a:r>
              <a:rPr lang="en-US" sz="2400" i="1" dirty="0" smtClean="0">
                <a:solidFill>
                  <a:srgbClr val="C00000"/>
                </a:solidFill>
              </a:rPr>
              <a:t>protected/components/views/</a:t>
            </a:r>
            <a:r>
              <a:rPr lang="en-US" sz="2400" dirty="0" smtClean="0"/>
              <a:t> directory within the same directory where the widget resides and are named the same as the widget, except starting with a lowercase letter.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Widget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1905774"/>
            <a:ext cx="7620000" cy="4247317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protected/components/TestWidget.php</a:t>
            </a:r>
          </a:p>
          <a:p>
            <a:pPr lvl="0"/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php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TestWidget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extends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CWidget</a:t>
            </a:r>
            <a:endParaRPr lang="en-US" b="1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    public function init() {}</a:t>
            </a:r>
          </a:p>
          <a:p>
            <a:pPr lvl="0"/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    public function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getData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 { return "I AM A WIDGET"; }</a:t>
            </a:r>
          </a:p>
          <a:p>
            <a:pPr lvl="0"/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    public function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run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    {</a:t>
            </a:r>
          </a:p>
          <a:p>
            <a:pPr lvl="0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// this method is called by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CController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::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endWidget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	$this-&gt;render('</a:t>
            </a:r>
            <a:r>
              <a:rPr lang="en-US" dirty="0" err="1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TestWidget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');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    }</a:t>
            </a:r>
          </a:p>
          <a:p>
            <a:pPr lvl="0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Widget View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1784866"/>
            <a:ext cx="7620000" cy="15696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protected/components/views/TestWidget.php</a:t>
            </a:r>
          </a:p>
          <a:p>
            <a:pPr lvl="0"/>
            <a:endParaRPr lang="en-US" sz="2400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2400" dirty="0" smtClean="0">
                <a:latin typeface="Consolas" pitchFamily="49" charset="0"/>
                <a:cs typeface="Consolas" pitchFamily="49" charset="0"/>
              </a:rPr>
              <a:t>This is a data from the test widget.&lt;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br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/&gt;</a:t>
            </a:r>
          </a:p>
          <a:p>
            <a:pPr lvl="0"/>
            <a:r>
              <a:rPr lang="en-US" sz="2400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echo $this-&gt;</a:t>
            </a:r>
            <a:r>
              <a:rPr lang="en-US" sz="2400" b="1" dirty="0" err="1" smtClean="0">
                <a:latin typeface="Consolas" pitchFamily="49" charset="0"/>
                <a:cs typeface="Consolas" pitchFamily="49" charset="0"/>
              </a:rPr>
              <a:t>getData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() ?&gt;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38200" y="4233208"/>
            <a:ext cx="7620000" cy="1938992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protected/views/site/index.php (widget container)</a:t>
            </a:r>
          </a:p>
          <a:p>
            <a:pPr lvl="0"/>
            <a:endParaRPr lang="en-US" sz="2400" dirty="0" smtClean="0">
              <a:latin typeface="Consolas" pitchFamily="49" charset="0"/>
              <a:cs typeface="Consolas" pitchFamily="49" charset="0"/>
            </a:endParaRPr>
          </a:p>
          <a:p>
            <a:pPr lvl="0"/>
            <a:r>
              <a:rPr lang="en-US" sz="2400" dirty="0" smtClean="0">
                <a:latin typeface="Consolas" pitchFamily="49" charset="0"/>
                <a:cs typeface="Consolas" pitchFamily="49" charset="0"/>
              </a:rPr>
              <a:t>&lt;h1&gt;Calling a widget&lt;/h1&gt;</a:t>
            </a:r>
          </a:p>
          <a:p>
            <a:pPr lvl="0"/>
            <a:r>
              <a:rPr lang="en-US" sz="2400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$this-&gt;</a:t>
            </a:r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widget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('</a:t>
            </a:r>
            <a:r>
              <a:rPr lang="en-US" sz="2400" dirty="0" err="1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TestWidget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'); ?&gt;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module</a:t>
            </a:r>
            <a:r>
              <a:rPr lang="en-US" sz="2400" dirty="0" smtClean="0"/>
              <a:t> in </a:t>
            </a:r>
            <a:r>
              <a:rPr lang="en-US" sz="2400" dirty="0" err="1" smtClean="0"/>
              <a:t>Yii</a:t>
            </a:r>
            <a:r>
              <a:rPr lang="en-US" sz="2400" dirty="0" smtClean="0"/>
              <a:t> is very much like an entire </a:t>
            </a:r>
            <a:r>
              <a:rPr lang="en-US" sz="2400" i="1" dirty="0" smtClean="0">
                <a:solidFill>
                  <a:srgbClr val="C00000"/>
                </a:solidFill>
              </a:rPr>
              <a:t>mini-application</a:t>
            </a:r>
            <a:r>
              <a:rPr lang="en-US" sz="2400" dirty="0" smtClean="0"/>
              <a:t> contained within a larger application.</a:t>
            </a:r>
          </a:p>
          <a:p>
            <a:r>
              <a:rPr lang="en-US" sz="2400" dirty="0" smtClean="0"/>
              <a:t>It has a very similar structure, containing </a:t>
            </a:r>
            <a:r>
              <a:rPr lang="en-US" sz="2400" i="1" dirty="0" smtClean="0">
                <a:solidFill>
                  <a:srgbClr val="C00000"/>
                </a:solidFill>
              </a:rPr>
              <a:t>models, views, controllers</a:t>
            </a:r>
            <a:r>
              <a:rPr lang="en-US" sz="2400" dirty="0" smtClean="0"/>
              <a:t>, and other supporting components.</a:t>
            </a:r>
          </a:p>
          <a:p>
            <a:r>
              <a:rPr lang="en-US" sz="2400" dirty="0" smtClean="0"/>
              <a:t>However, modules </a:t>
            </a:r>
            <a:r>
              <a:rPr lang="en-US" sz="2400" i="1" dirty="0" smtClean="0">
                <a:solidFill>
                  <a:srgbClr val="C00000"/>
                </a:solidFill>
              </a:rPr>
              <a:t>cannot be deployed</a:t>
            </a:r>
            <a:r>
              <a:rPr lang="en-US" sz="2400" dirty="0" smtClean="0"/>
              <a:t> themselves as </a:t>
            </a:r>
            <a:r>
              <a:rPr lang="en-US" sz="2400" i="1" dirty="0" smtClean="0">
                <a:solidFill>
                  <a:srgbClr val="C00000"/>
                </a:solidFill>
              </a:rPr>
              <a:t>standalone applications</a:t>
            </a:r>
            <a:r>
              <a:rPr lang="en-US" sz="2400" dirty="0" smtClean="0"/>
              <a:t>; they must reside within an application.</a:t>
            </a:r>
          </a:p>
          <a:p>
            <a:r>
              <a:rPr lang="en-US" sz="2400" dirty="0" smtClean="0"/>
              <a:t>Large applications can often be segmented into discrete application features that could be </a:t>
            </a:r>
            <a:r>
              <a:rPr lang="en-US" sz="2400" i="1" dirty="0" smtClean="0">
                <a:solidFill>
                  <a:srgbClr val="C00000"/>
                </a:solidFill>
              </a:rPr>
              <a:t>built separately</a:t>
            </a:r>
            <a:r>
              <a:rPr lang="en-US" sz="2400" dirty="0" smtClean="0"/>
              <a:t> using modules.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Module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88" y="1781175"/>
            <a:ext cx="7286625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Configuring a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protected/</a:t>
            </a:r>
            <a:r>
              <a:rPr lang="en-US" sz="2400" dirty="0" err="1" smtClean="0"/>
              <a:t>config</a:t>
            </a:r>
            <a:r>
              <a:rPr lang="en-US" sz="2400" dirty="0" smtClean="0"/>
              <a:t>/main.php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2287488"/>
            <a:ext cx="7620000" cy="347787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'modules'=&gt;array(</a:t>
            </a:r>
          </a:p>
          <a:p>
            <a:pPr lvl="0"/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gii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'=&gt;array(</a:t>
            </a:r>
          </a:p>
          <a:p>
            <a:pPr lvl="1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'class'=&gt;'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system.gii.GiiModule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',</a:t>
            </a:r>
          </a:p>
          <a:p>
            <a:pPr lvl="1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'password'=&gt;'</a:t>
            </a:r>
            <a:r>
              <a:rPr lang="en-US" sz="2000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Enter Your Password Here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',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If removed,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Gii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defaults to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localhost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only.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Edit carefully to taste.</a:t>
            </a:r>
          </a:p>
          <a:p>
            <a:pPr lvl="1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ipFilters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'=&gt;array('127.0.0.1','::1'),</a:t>
            </a:r>
          </a:p>
          <a:p>
            <a:pPr lvl="1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),</a:t>
            </a: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'</a:t>
            </a:r>
            <a:r>
              <a:rPr lang="en-US" sz="2000" b="1" dirty="0" err="1" smtClean="0">
                <a:latin typeface="Consolas" pitchFamily="49" charset="0"/>
                <a:cs typeface="Consolas" pitchFamily="49" charset="0"/>
              </a:rPr>
              <a:t>testmodule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',</a:t>
            </a:r>
          </a:p>
          <a:p>
            <a:pPr lvl="0"/>
            <a:r>
              <a:rPr lang="en-US" sz="2000" dirty="0" smtClean="0">
                <a:latin typeface="Consolas" pitchFamily="49" charset="0"/>
                <a:cs typeface="Consolas" pitchFamily="49" charset="0"/>
              </a:rPr>
              <a:t>),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Output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463" y="2495550"/>
            <a:ext cx="860107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/>
              <a:t>http://localhost/helloworld/index.php?r=testmodule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Layouts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layout</a:t>
            </a:r>
            <a:r>
              <a:rPr lang="en-US" sz="2400" dirty="0" smtClean="0"/>
              <a:t> in </a:t>
            </a:r>
            <a:r>
              <a:rPr lang="en-US" sz="2400" dirty="0" err="1" smtClean="0"/>
              <a:t>Yii</a:t>
            </a:r>
            <a:r>
              <a:rPr lang="en-US" sz="2400" dirty="0" smtClean="0"/>
              <a:t> is a special view file used to decorate other view files.</a:t>
            </a:r>
          </a:p>
          <a:p>
            <a:endParaRPr lang="en-US" sz="2400" dirty="0" smtClean="0"/>
          </a:p>
          <a:p>
            <a:r>
              <a:rPr lang="en-US" sz="2400" dirty="0" smtClean="0"/>
              <a:t>Layouts typically contain markup or other user interface components that are </a:t>
            </a:r>
            <a:r>
              <a:rPr lang="en-US" sz="2400" i="1" dirty="0" smtClean="0">
                <a:solidFill>
                  <a:srgbClr val="C00000"/>
                </a:solidFill>
              </a:rPr>
              <a:t>common across</a:t>
            </a:r>
            <a:r>
              <a:rPr lang="en-US" sz="2400" dirty="0" smtClean="0"/>
              <a:t> multiple view files.</a:t>
            </a:r>
          </a:p>
          <a:p>
            <a:endParaRPr lang="en-US" sz="2400" dirty="0" smtClean="0"/>
          </a:p>
          <a:p>
            <a:r>
              <a:rPr lang="en-US" sz="2400" dirty="0" smtClean="0"/>
              <a:t>When using a layout to render a view file, </a:t>
            </a:r>
            <a:r>
              <a:rPr lang="en-US" sz="2400" dirty="0" err="1" smtClean="0"/>
              <a:t>Yii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embeds</a:t>
            </a:r>
            <a:r>
              <a:rPr lang="en-US" sz="2400" dirty="0" smtClean="0"/>
              <a:t> the view file into the layout.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Specifying a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There are two main places where a layout can </a:t>
            </a:r>
            <a:r>
              <a:rPr lang="en-US" sz="2400" i="1" dirty="0" smtClean="0">
                <a:solidFill>
                  <a:srgbClr val="C00000"/>
                </a:solidFill>
              </a:rPr>
              <a:t>be specified</a:t>
            </a:r>
            <a:r>
              <a:rPr lang="en-US" sz="2400" dirty="0" smtClean="0"/>
              <a:t>.</a:t>
            </a:r>
          </a:p>
          <a:p>
            <a:pPr lvl="1"/>
            <a:r>
              <a:rPr lang="en-US" sz="1800" dirty="0" smtClean="0"/>
              <a:t>One is the property called $layout of the </a:t>
            </a:r>
            <a:r>
              <a:rPr lang="en-US" sz="1800" dirty="0" err="1" smtClean="0"/>
              <a:t>CWebApplication</a:t>
            </a:r>
            <a:r>
              <a:rPr lang="en-US" sz="1800" dirty="0" smtClean="0"/>
              <a:t> itself. This defaults to protected/views/layouts/main.php. As is the case with all application settings, this can be overridden in the main configuration file protected/</a:t>
            </a:r>
            <a:r>
              <a:rPr lang="en-US" sz="1800" dirty="0" err="1" smtClean="0"/>
              <a:t>config</a:t>
            </a:r>
            <a:r>
              <a:rPr lang="en-US" sz="1800" dirty="0" smtClean="0"/>
              <a:t>/main.php.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r>
              <a:rPr lang="en-US" sz="1800" dirty="0" smtClean="0"/>
              <a:t>The other place to specify the layout is by setting the $layout property of the controller class. Using the </a:t>
            </a:r>
            <a:r>
              <a:rPr lang="en-US" sz="1800" dirty="0" err="1" smtClean="0"/>
              <a:t>yiic</a:t>
            </a:r>
            <a:r>
              <a:rPr lang="en-US" sz="1800" dirty="0" smtClean="0"/>
              <a:t> tool to create our initial application automatically created a controller base class </a:t>
            </a:r>
            <a:r>
              <a:rPr lang="en-US" sz="1800" dirty="0" err="1" smtClean="0"/>
              <a:t>Webroot</a:t>
            </a:r>
            <a:r>
              <a:rPr lang="en-US" sz="1800" dirty="0" smtClean="0"/>
              <a:t>/protected/components/Controller.php, from which all of our other controller classes extend. Opening up this file reveals that the $layout property has been set to column1.</a:t>
            </a:r>
          </a:p>
          <a:p>
            <a:pPr lvl="1"/>
            <a:endParaRPr lang="en-US" sz="20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3276600"/>
            <a:ext cx="7620000" cy="861774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return array(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'layout'=&gt;'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newlayout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',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Applying and Using a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use of a layout file</a:t>
            </a:r>
            <a:r>
              <a:rPr lang="en-US" sz="2400" dirty="0" smtClean="0"/>
              <a:t> is implicit in the call to the </a:t>
            </a:r>
            <a:r>
              <a:rPr lang="en-US" sz="2400" dirty="0" err="1" smtClean="0"/>
              <a:t>CController</a:t>
            </a:r>
            <a:r>
              <a:rPr lang="en-US" sz="2400" dirty="0" smtClean="0"/>
              <a:t>::render() method.</a:t>
            </a:r>
          </a:p>
          <a:p>
            <a:r>
              <a:rPr lang="en-US" sz="2400" dirty="0" smtClean="0"/>
              <a:t>That is, when you make the call to the render() method to render a view file, </a:t>
            </a:r>
            <a:r>
              <a:rPr lang="en-US" sz="2400" dirty="0" err="1" smtClean="0"/>
              <a:t>Yii</a:t>
            </a:r>
            <a:r>
              <a:rPr lang="en-US" sz="2400" dirty="0" smtClean="0"/>
              <a:t> will </a:t>
            </a:r>
            <a:r>
              <a:rPr lang="en-US" sz="2400" i="1" dirty="0" smtClean="0">
                <a:solidFill>
                  <a:srgbClr val="C00000"/>
                </a:solidFill>
              </a:rPr>
              <a:t>embed</a:t>
            </a:r>
            <a:r>
              <a:rPr lang="en-US" sz="2400" dirty="0" smtClean="0"/>
              <a:t> the contents of the view file into the layout file specified in either the controller class or the one specified at the application level.</a:t>
            </a:r>
          </a:p>
          <a:p>
            <a:r>
              <a:rPr lang="en-US" sz="2400" dirty="0" smtClean="0"/>
              <a:t>When the render() method is called, what happens behind the scenes is that a call is first sent to </a:t>
            </a:r>
            <a:r>
              <a:rPr lang="en-US" sz="2400" dirty="0" err="1" smtClean="0"/>
              <a:t>renderPartial</a:t>
            </a:r>
            <a:r>
              <a:rPr lang="en-US" sz="2400" dirty="0" smtClean="0"/>
              <a:t>() on the </a:t>
            </a:r>
            <a:r>
              <a:rPr lang="en-US" sz="2400" i="1" dirty="0" smtClean="0">
                <a:solidFill>
                  <a:srgbClr val="C00000"/>
                </a:solidFill>
              </a:rPr>
              <a:t>specified view file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output of this </a:t>
            </a:r>
            <a:r>
              <a:rPr lang="en-US" sz="2400" i="1" dirty="0" smtClean="0">
                <a:solidFill>
                  <a:srgbClr val="C00000"/>
                </a:solidFill>
              </a:rPr>
              <a:t>is stored in a variable</a:t>
            </a:r>
            <a:r>
              <a:rPr lang="en-US" sz="2400" dirty="0" smtClean="0"/>
              <a:t> called $content, which is then made available to the layout file.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Applying a New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Create a new file called newlayout.php and place it in the default directory for layout files, called /protected/views/layouts/.</a:t>
            </a:r>
          </a:p>
          <a:p>
            <a:r>
              <a:rPr lang="en-US" sz="2400" dirty="0" smtClean="0"/>
              <a:t>Open up SiteController.php and override the layout property set in the base class by explicitly adding it to this class, as such: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4067889"/>
            <a:ext cx="7620000" cy="1107996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 smtClean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sz="2200" dirty="0" err="1" smtClean="0">
                <a:latin typeface="Consolas" pitchFamily="49" charset="0"/>
                <a:cs typeface="Consolas" pitchFamily="49" charset="0"/>
              </a:rPr>
              <a:t>SiteController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 extends Controller</a:t>
            </a:r>
          </a:p>
          <a:p>
            <a:r>
              <a:rPr lang="en-US" sz="22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dirty="0" smtClean="0">
                <a:latin typeface="Consolas" pitchFamily="49" charset="0"/>
                <a:cs typeface="Consolas" pitchFamily="49" charset="0"/>
              </a:rPr>
              <a:t>public $layout='</a:t>
            </a:r>
            <a:r>
              <a:rPr lang="en-US" sz="2200" dirty="0" err="1" smtClean="0">
                <a:latin typeface="Consolas" pitchFamily="49" charset="0"/>
                <a:cs typeface="Consolas" pitchFamily="49" charset="0"/>
              </a:rPr>
              <a:t>newlayout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';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Nesting the Layouts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/>
          <a:lstStyle/>
          <a:p>
            <a:r>
              <a:rPr lang="en-US" sz="2000" dirty="0" smtClean="0"/>
              <a:t>Not only can normal view files be decorated by layout files, but </a:t>
            </a:r>
            <a:r>
              <a:rPr lang="en-US" sz="2000" i="1" dirty="0" smtClean="0">
                <a:solidFill>
                  <a:srgbClr val="C00000"/>
                </a:solidFill>
              </a:rPr>
              <a:t>layout files</a:t>
            </a:r>
            <a:r>
              <a:rPr lang="en-US" sz="2000" dirty="0" smtClean="0"/>
              <a:t> themselves can be decorated by other layout files forming a hierarchy of nested layout files.</a:t>
            </a:r>
          </a:p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column1.php</a:t>
            </a:r>
            <a:r>
              <a:rPr lang="en-US" sz="2000" dirty="0" smtClean="0"/>
              <a:t> layout file </a:t>
            </a:r>
            <a:r>
              <a:rPr lang="en-US" sz="2000" i="1" dirty="0" smtClean="0">
                <a:solidFill>
                  <a:srgbClr val="C00000"/>
                </a:solidFill>
              </a:rPr>
              <a:t>is itself decorated</a:t>
            </a:r>
            <a:r>
              <a:rPr lang="en-US" sz="2000" dirty="0" smtClean="0"/>
              <a:t> by the main.php layout file.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view being specified</a:t>
            </a:r>
            <a:r>
              <a:rPr lang="en-US" sz="2000" dirty="0" smtClean="0"/>
              <a:t> here is our main layout page '//layouts/main'.</a:t>
            </a:r>
          </a:p>
          <a:p>
            <a:r>
              <a:rPr lang="en-US" sz="2000" dirty="0" smtClean="0"/>
              <a:t>Whatever content is </a:t>
            </a:r>
            <a:r>
              <a:rPr lang="en-US" sz="2000" i="1" dirty="0" smtClean="0">
                <a:solidFill>
                  <a:srgbClr val="C00000"/>
                </a:solidFill>
              </a:rPr>
              <a:t>between</a:t>
            </a:r>
            <a:r>
              <a:rPr lang="en-US" sz="2000" dirty="0" smtClean="0"/>
              <a:t> the calls </a:t>
            </a:r>
            <a:r>
              <a:rPr lang="en-US" sz="2000" dirty="0" err="1" smtClean="0"/>
              <a:t>beginContent</a:t>
            </a:r>
            <a:r>
              <a:rPr lang="en-US" sz="2000" dirty="0" smtClean="0"/>
              <a:t>() and </a:t>
            </a:r>
            <a:r>
              <a:rPr lang="en-US" sz="2000" dirty="0" err="1" smtClean="0"/>
              <a:t>endContent</a:t>
            </a:r>
            <a:r>
              <a:rPr lang="en-US" sz="2000" dirty="0" smtClean="0"/>
              <a:t>() will be decorated with the view specified in the call </a:t>
            </a:r>
            <a:r>
              <a:rPr lang="en-US" sz="2000" dirty="0" err="1" smtClean="0"/>
              <a:t>beginContent</a:t>
            </a:r>
            <a:r>
              <a:rPr lang="en-US" sz="2000" dirty="0" smtClean="0"/>
              <a:t>().</a:t>
            </a:r>
            <a:endParaRPr lang="en-US" sz="20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3248561"/>
            <a:ext cx="7620000" cy="1323439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$this-&gt;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beginContent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('//layouts/main'); ?&gt;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&lt;div id="content"&gt;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echo $content; ?&gt;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&lt;/div&gt;&lt;!-- content --&gt;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&lt;?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php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$this-&gt;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endContent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(); ?&gt;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a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/>
          <a:lstStyle/>
          <a:p>
            <a:r>
              <a:rPr lang="en-US" sz="2000" dirty="0" smtClean="0"/>
              <a:t>Render all of the content in the specific view file /protected/views/site/login.php, and make that content available via the variable $content to the </a:t>
            </a:r>
            <a:r>
              <a:rPr lang="en-US" sz="2000" i="1" dirty="0" smtClean="0">
                <a:solidFill>
                  <a:srgbClr val="C00000"/>
                </a:solidFill>
              </a:rPr>
              <a:t>layout file specified</a:t>
            </a:r>
            <a:r>
              <a:rPr lang="en-US" sz="2000" dirty="0" smtClean="0"/>
              <a:t> in the controller, which in this case is column1.php.</a:t>
            </a:r>
          </a:p>
          <a:p>
            <a:r>
              <a:rPr lang="en-US" sz="2000" dirty="0" smtClean="0"/>
              <a:t>Since column1.php is itself being decorated by the layout main.php, the content between the </a:t>
            </a:r>
            <a:r>
              <a:rPr lang="en-US" sz="2000" dirty="0" err="1" smtClean="0"/>
              <a:t>beginContent</a:t>
            </a:r>
            <a:r>
              <a:rPr lang="en-US" sz="2000" dirty="0" smtClean="0"/>
              <a:t>() and </a:t>
            </a:r>
            <a:r>
              <a:rPr lang="en-US" sz="2000" dirty="0" err="1" smtClean="0"/>
              <a:t>endContent</a:t>
            </a:r>
            <a:r>
              <a:rPr lang="en-US" sz="2000" dirty="0" smtClean="0"/>
              <a:t>() calls is again rendered and </a:t>
            </a:r>
            <a:r>
              <a:rPr lang="en-US" sz="2000" i="1" dirty="0" smtClean="0">
                <a:solidFill>
                  <a:srgbClr val="C00000"/>
                </a:solidFill>
              </a:rPr>
              <a:t>made available to the main.php</a:t>
            </a:r>
            <a:r>
              <a:rPr lang="en-US" sz="2000" dirty="0" smtClean="0"/>
              <a:t> file, again via the $content variable.</a:t>
            </a:r>
          </a:p>
          <a:p>
            <a:r>
              <a:rPr lang="en-US" sz="2000" dirty="0" smtClean="0"/>
              <a:t>The layout file </a:t>
            </a:r>
            <a:r>
              <a:rPr lang="en-US" sz="2000" i="1" dirty="0" smtClean="0">
                <a:solidFill>
                  <a:srgbClr val="C00000"/>
                </a:solidFill>
              </a:rPr>
              <a:t>main.php is rendered</a:t>
            </a:r>
            <a:r>
              <a:rPr lang="en-US" sz="2000" dirty="0" smtClean="0"/>
              <a:t> and returned back to the user, incorporating both the content from the specific view file for the login page as well as the "nested" layout file column1.php.</a:t>
            </a:r>
            <a:endParaRPr lang="en-US" sz="20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396425"/>
            <a:ext cx="7620000" cy="830997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//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SiteController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::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actionLogin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 method</a:t>
            </a:r>
          </a:p>
          <a:p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$this-&gt;render('login');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Themes in </a:t>
            </a:r>
            <a:r>
              <a:rPr lang="en-US" dirty="0" err="1" smtClean="0"/>
              <a:t>Yii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00" i="1" dirty="0" err="1" smtClean="0">
                <a:solidFill>
                  <a:srgbClr val="C00000"/>
                </a:solidFill>
              </a:rPr>
              <a:t>Theming</a:t>
            </a:r>
            <a:r>
              <a:rPr lang="en-US" sz="2100" dirty="0" smtClean="0"/>
              <a:t> is a systematic way of customizing the outlook of pages in a Web application. By applying a new theme, the overall appearance of a Web application can be changed instantly and dramatically.</a:t>
            </a:r>
          </a:p>
          <a:p>
            <a:r>
              <a:rPr lang="en-US" sz="2100" dirty="0" smtClean="0"/>
              <a:t>In </a:t>
            </a:r>
            <a:r>
              <a:rPr lang="en-US" sz="2100" dirty="0" err="1" smtClean="0"/>
              <a:t>Yii</a:t>
            </a:r>
            <a:r>
              <a:rPr lang="en-US" sz="2100" dirty="0" smtClean="0"/>
              <a:t>, each </a:t>
            </a:r>
            <a:r>
              <a:rPr lang="en-US" sz="2100" i="1" dirty="0" smtClean="0">
                <a:solidFill>
                  <a:srgbClr val="C00000"/>
                </a:solidFill>
              </a:rPr>
              <a:t>theme</a:t>
            </a:r>
            <a:r>
              <a:rPr lang="en-US" sz="2100" dirty="0" smtClean="0"/>
              <a:t> is represented as a directory consisting of view files, layout files, and relevant resource files, such as images, CSS files, and JavaScript files.</a:t>
            </a:r>
          </a:p>
          <a:p>
            <a:r>
              <a:rPr lang="en-US" sz="2100" i="1" dirty="0" smtClean="0">
                <a:solidFill>
                  <a:srgbClr val="C00000"/>
                </a:solidFill>
              </a:rPr>
              <a:t>The name</a:t>
            </a:r>
            <a:r>
              <a:rPr lang="en-US" sz="2100" dirty="0" smtClean="0"/>
              <a:t> of a theme is the same as its directory name.</a:t>
            </a:r>
          </a:p>
          <a:p>
            <a:r>
              <a:rPr lang="en-US" sz="2100" dirty="0" smtClean="0"/>
              <a:t>By default, all themes </a:t>
            </a:r>
            <a:r>
              <a:rPr lang="en-US" sz="2100" i="1" dirty="0" smtClean="0">
                <a:solidFill>
                  <a:srgbClr val="C00000"/>
                </a:solidFill>
              </a:rPr>
              <a:t>reside</a:t>
            </a:r>
            <a:r>
              <a:rPr lang="en-US" sz="2100" dirty="0" smtClean="0"/>
              <a:t> under the same directory </a:t>
            </a:r>
            <a:r>
              <a:rPr lang="en-US" sz="2100" dirty="0" err="1" smtClean="0"/>
              <a:t>WebRoot</a:t>
            </a:r>
            <a:r>
              <a:rPr lang="en-US" sz="2100" dirty="0" smtClean="0"/>
              <a:t>/themes.</a:t>
            </a:r>
          </a:p>
          <a:p>
            <a:r>
              <a:rPr lang="en-US" sz="2100" i="1" dirty="0" smtClean="0">
                <a:solidFill>
                  <a:srgbClr val="C00000"/>
                </a:solidFill>
              </a:rPr>
              <a:t>Contents</a:t>
            </a:r>
            <a:r>
              <a:rPr lang="en-US" sz="2100" dirty="0" smtClean="0"/>
              <a:t> under a theme directory should be organized in the same way as those under the application base path.</a:t>
            </a:r>
          </a:p>
          <a:p>
            <a:r>
              <a:rPr lang="en-US" sz="2100" dirty="0" smtClean="0"/>
              <a:t>So all the </a:t>
            </a:r>
            <a:r>
              <a:rPr lang="en-US" sz="2100" i="1" dirty="0" smtClean="0">
                <a:solidFill>
                  <a:srgbClr val="C00000"/>
                </a:solidFill>
              </a:rPr>
              <a:t>view files</a:t>
            </a:r>
            <a:r>
              <a:rPr lang="en-US" sz="2100" dirty="0" smtClean="0"/>
              <a:t> are located under a views/ directory, </a:t>
            </a:r>
            <a:r>
              <a:rPr lang="en-US" sz="2100" i="1" dirty="0" smtClean="0">
                <a:solidFill>
                  <a:srgbClr val="C00000"/>
                </a:solidFill>
              </a:rPr>
              <a:t>layout view files</a:t>
            </a:r>
            <a:r>
              <a:rPr lang="en-US" sz="2100" dirty="0" smtClean="0"/>
              <a:t> under views/layouts/, and </a:t>
            </a:r>
            <a:r>
              <a:rPr lang="en-US" sz="2100" i="1" dirty="0" smtClean="0">
                <a:solidFill>
                  <a:srgbClr val="C00000"/>
                </a:solidFill>
              </a:rPr>
              <a:t>system view files</a:t>
            </a:r>
            <a:r>
              <a:rPr lang="en-US" sz="2100" dirty="0" smtClean="0"/>
              <a:t> under views/system/.</a:t>
            </a:r>
            <a:endParaRPr lang="en-US" sz="2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a Theme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activate</a:t>
            </a:r>
            <a:r>
              <a:rPr lang="en-US" sz="2400" dirty="0" smtClean="0"/>
              <a:t> a theme, set the theme property of the Web application to be the name of the desired theme.</a:t>
            </a:r>
          </a:p>
          <a:p>
            <a:r>
              <a:rPr lang="en-US" sz="2400" dirty="0" smtClean="0"/>
              <a:t>This can be done either in the </a:t>
            </a:r>
            <a:r>
              <a:rPr lang="en-US" sz="2400" i="1" dirty="0" smtClean="0">
                <a:solidFill>
                  <a:srgbClr val="C00000"/>
                </a:solidFill>
              </a:rPr>
              <a:t>application configuration</a:t>
            </a:r>
            <a:r>
              <a:rPr lang="en-US" sz="2400" dirty="0" smtClean="0"/>
              <a:t> or during runtime in </a:t>
            </a:r>
            <a:r>
              <a:rPr lang="en-US" sz="2400" i="1" dirty="0" smtClean="0">
                <a:solidFill>
                  <a:srgbClr val="C00000"/>
                </a:solidFill>
              </a:rPr>
              <a:t>controller actions</a:t>
            </a:r>
            <a:r>
              <a:rPr lang="en-US" sz="2400" dirty="0" smtClean="0"/>
              <a:t>. </a:t>
            </a:r>
            <a:endParaRPr lang="en-US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4110335"/>
            <a:ext cx="7620000" cy="46166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Yii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::app()-&gt;theme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Theme [1]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need to name our new theme and </a:t>
            </a:r>
            <a:r>
              <a:rPr lang="en-US" sz="2400" i="1" dirty="0" smtClean="0">
                <a:solidFill>
                  <a:srgbClr val="C00000"/>
                </a:solidFill>
              </a:rPr>
              <a:t>create a directory</a:t>
            </a:r>
            <a:r>
              <a:rPr lang="en-US" sz="2400" dirty="0" smtClean="0"/>
              <a:t> under the </a:t>
            </a:r>
            <a:r>
              <a:rPr lang="en-US" sz="2400" dirty="0" err="1" smtClean="0"/>
              <a:t>Webroot</a:t>
            </a:r>
            <a:r>
              <a:rPr lang="en-US" sz="2400" dirty="0" smtClean="0"/>
              <a:t>/themes directory with this </a:t>
            </a:r>
            <a:r>
              <a:rPr lang="en-US" sz="2400" u="sng" dirty="0" smtClean="0"/>
              <a:t>same</a:t>
            </a:r>
            <a:r>
              <a:rPr lang="en-US" sz="2400" dirty="0" smtClean="0"/>
              <a:t> name.</a:t>
            </a:r>
          </a:p>
          <a:p>
            <a:r>
              <a:rPr lang="en-US" sz="2400" dirty="0" smtClean="0"/>
              <a:t>Then under this newly created directory, </a:t>
            </a:r>
            <a:r>
              <a:rPr lang="en-US" sz="2400" i="1" dirty="0" smtClean="0">
                <a:solidFill>
                  <a:srgbClr val="C00000"/>
                </a:solidFill>
              </a:rPr>
              <a:t>create two other</a:t>
            </a:r>
            <a:r>
              <a:rPr lang="en-US" sz="2400" dirty="0" smtClean="0"/>
              <a:t> new directories called </a:t>
            </a:r>
            <a:r>
              <a:rPr lang="en-US" sz="2400" dirty="0" err="1" smtClean="0"/>
              <a:t>css</a:t>
            </a:r>
            <a:r>
              <a:rPr lang="en-US" sz="2400" dirty="0" smtClean="0"/>
              <a:t>/ and views/.</a:t>
            </a:r>
          </a:p>
          <a:p>
            <a:r>
              <a:rPr lang="en-US" sz="2400" dirty="0" smtClean="0"/>
              <a:t>Remember that the directory structure needs to </a:t>
            </a:r>
            <a:r>
              <a:rPr lang="en-US" sz="2400" i="1" dirty="0" smtClean="0">
                <a:solidFill>
                  <a:srgbClr val="C00000"/>
                </a:solidFill>
              </a:rPr>
              <a:t>mirror</a:t>
            </a:r>
            <a:r>
              <a:rPr lang="en-US" sz="2400" dirty="0" smtClean="0"/>
              <a:t> that in the default </a:t>
            </a:r>
            <a:r>
              <a:rPr lang="en-US" sz="2400" dirty="0" err="1" smtClean="0"/>
              <a:t>Webroot</a:t>
            </a:r>
            <a:r>
              <a:rPr lang="en-US" sz="2400" dirty="0" smtClean="0"/>
              <a:t>/protected/views/ directory</a:t>
            </a:r>
          </a:p>
          <a:p>
            <a:pPr lvl="1"/>
            <a:r>
              <a:rPr lang="en-US" sz="2000" dirty="0" smtClean="0"/>
              <a:t>For example, if we want to replace the </a:t>
            </a:r>
            <a:r>
              <a:rPr lang="en-US" sz="2000" i="1" dirty="0" smtClean="0">
                <a:solidFill>
                  <a:srgbClr val="C00000"/>
                </a:solidFill>
              </a:rPr>
              <a:t>create</a:t>
            </a:r>
            <a:r>
              <a:rPr lang="en-US" sz="2000" dirty="0" smtClean="0"/>
              <a:t> view of </a:t>
            </a:r>
            <a:r>
              <a:rPr lang="en-US" sz="2000" i="1" dirty="0" err="1" smtClean="0">
                <a:solidFill>
                  <a:srgbClr val="C00000"/>
                </a:solidFill>
              </a:rPr>
              <a:t>PostController</a:t>
            </a:r>
            <a:r>
              <a:rPr lang="en-US" sz="2000" dirty="0" smtClean="0"/>
              <a:t> with a view in the </a:t>
            </a:r>
            <a:r>
              <a:rPr lang="en-US" sz="2000" i="1" dirty="0" smtClean="0">
                <a:solidFill>
                  <a:srgbClr val="C00000"/>
                </a:solidFill>
              </a:rPr>
              <a:t>classic</a:t>
            </a:r>
            <a:r>
              <a:rPr lang="en-US" sz="2000" dirty="0" smtClean="0"/>
              <a:t> theme, we should save the new view file as </a:t>
            </a:r>
            <a:r>
              <a:rPr lang="en-US" sz="2000" dirty="0" err="1" smtClean="0"/>
              <a:t>WebRoot</a:t>
            </a:r>
            <a:r>
              <a:rPr lang="en-US" sz="2000" dirty="0" smtClean="0"/>
              <a:t>/themes/classic/views/post/create.php.</a:t>
            </a:r>
          </a:p>
          <a:p>
            <a:pPr lvl="1"/>
            <a:r>
              <a:rPr lang="en-US" sz="2000" dirty="0" smtClean="0"/>
              <a:t>When we call </a:t>
            </a:r>
            <a:r>
              <a:rPr lang="en-US" sz="2000" u="sng" dirty="0" smtClean="0"/>
              <a:t>render</a:t>
            </a:r>
            <a:r>
              <a:rPr lang="en-US" sz="2000" dirty="0" smtClean="0"/>
              <a:t> or </a:t>
            </a:r>
            <a:r>
              <a:rPr lang="en-US" sz="2000" u="sng" dirty="0" err="1" smtClean="0"/>
              <a:t>renderPartial</a:t>
            </a:r>
            <a:r>
              <a:rPr lang="en-US" sz="2000" dirty="0" smtClean="0"/>
              <a:t> to display a view, the corresponding view file as well as the layout file will be looked for in the currently </a:t>
            </a:r>
            <a:r>
              <a:rPr lang="en-US" sz="2000" i="1" dirty="0" smtClean="0">
                <a:solidFill>
                  <a:srgbClr val="C00000"/>
                </a:solidFill>
              </a:rPr>
              <a:t>active theme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Directory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900" dirty="0" err="1" smtClean="0"/>
              <a:t>WebRoot</a:t>
            </a:r>
            <a:r>
              <a:rPr lang="en-US" sz="900" dirty="0" smtClean="0"/>
              <a:t>/</a:t>
            </a:r>
          </a:p>
          <a:p>
            <a:pPr>
              <a:buNone/>
            </a:pPr>
            <a:r>
              <a:rPr lang="en-US" sz="900" dirty="0" smtClean="0"/>
              <a:t>    assets</a:t>
            </a:r>
          </a:p>
          <a:p>
            <a:pPr>
              <a:buNone/>
            </a:pPr>
            <a:r>
              <a:rPr lang="en-US" sz="900" dirty="0" smtClean="0"/>
              <a:t>    protected/</a:t>
            </a:r>
          </a:p>
          <a:p>
            <a:pPr>
              <a:buNone/>
            </a:pPr>
            <a:r>
              <a:rPr lang="en-US" sz="900" dirty="0" smtClean="0"/>
              <a:t>        .</a:t>
            </a:r>
            <a:r>
              <a:rPr lang="en-US" sz="900" dirty="0" err="1" smtClean="0"/>
              <a:t>htaccess</a:t>
            </a: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        components/</a:t>
            </a:r>
          </a:p>
          <a:p>
            <a:pPr>
              <a:buNone/>
            </a:pPr>
            <a:r>
              <a:rPr lang="en-US" sz="900" dirty="0" smtClean="0"/>
              <a:t>        controllers/</a:t>
            </a:r>
          </a:p>
          <a:p>
            <a:pPr>
              <a:buNone/>
            </a:pPr>
            <a:r>
              <a:rPr lang="en-US" sz="900" dirty="0" smtClean="0"/>
              <a:t>        models/</a:t>
            </a:r>
          </a:p>
          <a:p>
            <a:pPr>
              <a:buNone/>
            </a:pPr>
            <a:r>
              <a:rPr lang="en-US" sz="900" dirty="0" smtClean="0"/>
              <a:t>        views/</a:t>
            </a:r>
          </a:p>
          <a:p>
            <a:pPr>
              <a:buNone/>
            </a:pPr>
            <a:r>
              <a:rPr lang="en-US" sz="900" dirty="0" smtClean="0"/>
              <a:t>            layouts/</a:t>
            </a:r>
          </a:p>
          <a:p>
            <a:pPr>
              <a:buNone/>
            </a:pPr>
            <a:r>
              <a:rPr lang="en-US" sz="900" dirty="0" smtClean="0"/>
              <a:t>                main.php</a:t>
            </a:r>
          </a:p>
          <a:p>
            <a:pPr>
              <a:buNone/>
            </a:pPr>
            <a:r>
              <a:rPr lang="en-US" sz="900" dirty="0" smtClean="0"/>
              <a:t>            site/</a:t>
            </a:r>
          </a:p>
          <a:p>
            <a:pPr>
              <a:buNone/>
            </a:pPr>
            <a:r>
              <a:rPr lang="en-US" sz="900" dirty="0" smtClean="0"/>
              <a:t>                index.php</a:t>
            </a:r>
          </a:p>
          <a:p>
            <a:pPr>
              <a:buNone/>
            </a:pPr>
            <a:r>
              <a:rPr lang="en-US" sz="900" dirty="0" smtClean="0"/>
              <a:t>    themes/</a:t>
            </a:r>
          </a:p>
          <a:p>
            <a:pPr>
              <a:buNone/>
            </a:pPr>
            <a:r>
              <a:rPr lang="en-US" sz="900" dirty="0" smtClean="0"/>
              <a:t>        basic/</a:t>
            </a:r>
          </a:p>
          <a:p>
            <a:pPr>
              <a:buNone/>
            </a:pPr>
            <a:r>
              <a:rPr lang="en-US" sz="900" dirty="0" smtClean="0"/>
              <a:t>            views/</a:t>
            </a:r>
          </a:p>
          <a:p>
            <a:pPr>
              <a:buNone/>
            </a:pPr>
            <a:r>
              <a:rPr lang="en-US" sz="900" dirty="0" smtClean="0"/>
              <a:t>                .</a:t>
            </a:r>
            <a:r>
              <a:rPr lang="en-US" sz="900" dirty="0" err="1" smtClean="0"/>
              <a:t>htaccess</a:t>
            </a: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                layouts/</a:t>
            </a:r>
          </a:p>
          <a:p>
            <a:pPr>
              <a:buNone/>
            </a:pPr>
            <a:r>
              <a:rPr lang="en-US" sz="900" dirty="0" smtClean="0"/>
              <a:t>                    main.php</a:t>
            </a:r>
          </a:p>
          <a:p>
            <a:pPr>
              <a:buNone/>
            </a:pPr>
            <a:r>
              <a:rPr lang="en-US" sz="900" dirty="0" smtClean="0"/>
              <a:t>                site/</a:t>
            </a:r>
          </a:p>
          <a:p>
            <a:pPr>
              <a:buNone/>
            </a:pPr>
            <a:r>
              <a:rPr lang="en-US" sz="900" dirty="0" smtClean="0"/>
              <a:t>                    index.php</a:t>
            </a:r>
          </a:p>
          <a:p>
            <a:pPr>
              <a:buNone/>
            </a:pPr>
            <a:r>
              <a:rPr lang="en-US" sz="900" dirty="0" smtClean="0"/>
              <a:t>        fancy/</a:t>
            </a:r>
          </a:p>
          <a:p>
            <a:pPr>
              <a:buNone/>
            </a:pPr>
            <a:r>
              <a:rPr lang="en-US" sz="900" dirty="0" smtClean="0"/>
              <a:t>            views/</a:t>
            </a:r>
          </a:p>
          <a:p>
            <a:pPr>
              <a:buNone/>
            </a:pPr>
            <a:r>
              <a:rPr lang="en-US" sz="900" dirty="0" smtClean="0"/>
              <a:t>                .</a:t>
            </a:r>
            <a:r>
              <a:rPr lang="en-US" sz="900" dirty="0" err="1" smtClean="0"/>
              <a:t>htaccess</a:t>
            </a: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                layouts/</a:t>
            </a:r>
          </a:p>
          <a:p>
            <a:pPr>
              <a:buNone/>
            </a:pPr>
            <a:r>
              <a:rPr lang="en-US" sz="900" dirty="0" smtClean="0"/>
              <a:t>                    main.php</a:t>
            </a:r>
          </a:p>
          <a:p>
            <a:pPr>
              <a:buNone/>
            </a:pPr>
            <a:r>
              <a:rPr lang="en-US" sz="900" dirty="0" smtClean="0"/>
              <a:t>                site/</a:t>
            </a:r>
          </a:p>
          <a:p>
            <a:pPr>
              <a:buNone/>
            </a:pPr>
            <a:r>
              <a:rPr lang="en-US" sz="900" dirty="0" smtClean="0"/>
              <a:t>                    index.php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Configuring the Application to Use a Theme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r>
              <a:rPr lang="en-US" sz="2400" dirty="0" smtClean="0"/>
              <a:t>Simply </a:t>
            </a:r>
            <a:r>
              <a:rPr lang="en-US" sz="2400" i="1" dirty="0" smtClean="0">
                <a:solidFill>
                  <a:srgbClr val="C00000"/>
                </a:solidFill>
              </a:rPr>
              <a:t>add</a:t>
            </a:r>
            <a:r>
              <a:rPr lang="en-US" sz="2400" dirty="0" smtClean="0"/>
              <a:t> the following name=&gt;value pair to the returned array in the /protected/</a:t>
            </a:r>
            <a:r>
              <a:rPr lang="en-US" sz="2400" dirty="0" err="1" smtClean="0"/>
              <a:t>config</a:t>
            </a:r>
            <a:r>
              <a:rPr lang="en-US" sz="2400" dirty="0" smtClean="0"/>
              <a:t>/main.php file: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application will </a:t>
            </a:r>
            <a:r>
              <a:rPr lang="en-US" sz="2400" i="1" dirty="0" smtClean="0">
                <a:solidFill>
                  <a:srgbClr val="C00000"/>
                </a:solidFill>
              </a:rPr>
              <a:t>first</a:t>
            </a:r>
            <a:r>
              <a:rPr lang="en-US" sz="2400" dirty="0" smtClean="0"/>
              <a:t> look for view files in this new theme and use them if they exist, otherwise it will pull them from the </a:t>
            </a:r>
            <a:r>
              <a:rPr lang="en-US" sz="2400" i="1" dirty="0" smtClean="0">
                <a:solidFill>
                  <a:srgbClr val="C00000"/>
                </a:solidFill>
              </a:rPr>
              <a:t>default</a:t>
            </a:r>
            <a:r>
              <a:rPr lang="en-US" sz="2400" dirty="0" smtClean="0"/>
              <a:t> location.</a:t>
            </a:r>
            <a:endParaRPr lang="en-US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3181291"/>
            <a:ext cx="7620000" cy="46166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latin typeface="Consolas" pitchFamily="49" charset="0"/>
                <a:cs typeface="Consolas" pitchFamily="49" charset="0"/>
              </a:rPr>
              <a:t>'theme'=&gt;'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newtheme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',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http://easyiicms.com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for Your Time</a:t>
            </a:r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8617</TotalTime>
  <Words>3046</Words>
  <Application>Microsoft Office PowerPoint</Application>
  <PresentationFormat>On-screen Show (4:3)</PresentationFormat>
  <Paragraphs>436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Yii PHP Framework</vt:lpstr>
      <vt:lpstr>Objectives</vt:lpstr>
      <vt:lpstr>References</vt:lpstr>
      <vt:lpstr>What is Yii [1]</vt:lpstr>
      <vt:lpstr>Why Yii?</vt:lpstr>
      <vt:lpstr>Static Structure of Yii Application [2]</vt:lpstr>
      <vt:lpstr>Model [1]</vt:lpstr>
      <vt:lpstr>View</vt:lpstr>
      <vt:lpstr>Controller</vt:lpstr>
      <vt:lpstr>Installing Yii</vt:lpstr>
      <vt:lpstr>Physical Structure [2]</vt:lpstr>
      <vt:lpstr>Application Structure</vt:lpstr>
      <vt:lpstr>Creating a New Application</vt:lpstr>
      <vt:lpstr>New Application Structure</vt:lpstr>
      <vt:lpstr>(Optionally) Modifying index.php</vt:lpstr>
      <vt:lpstr>Configuring Gii</vt:lpstr>
      <vt:lpstr>Creating the Controller</vt:lpstr>
      <vt:lpstr>Modifying the View</vt:lpstr>
      <vt:lpstr>Slide 19</vt:lpstr>
      <vt:lpstr>A Typical Workflow (1 - 3) [2]</vt:lpstr>
      <vt:lpstr>index.php and yii.php</vt:lpstr>
      <vt:lpstr>YiiBase.php</vt:lpstr>
      <vt:lpstr>A Typical Workflow (4) [2]</vt:lpstr>
      <vt:lpstr>A Typical Workflow (5) [2]</vt:lpstr>
      <vt:lpstr>CWebApplication.php</vt:lpstr>
      <vt:lpstr>CApplication.php</vt:lpstr>
      <vt:lpstr>createController method</vt:lpstr>
      <vt:lpstr>CController.php</vt:lpstr>
      <vt:lpstr>A Typical Workflow (6 - 11) [2]</vt:lpstr>
      <vt:lpstr>HomeController.php</vt:lpstr>
      <vt:lpstr>CController.php: render</vt:lpstr>
      <vt:lpstr>//layouts/column1</vt:lpstr>
      <vt:lpstr>//layouts/main</vt:lpstr>
      <vt:lpstr>Slide 34</vt:lpstr>
      <vt:lpstr>Widget</vt:lpstr>
      <vt:lpstr>Creating a Widget</vt:lpstr>
      <vt:lpstr>Creating a Widget View</vt:lpstr>
      <vt:lpstr>Slide 38</vt:lpstr>
      <vt:lpstr>Modules</vt:lpstr>
      <vt:lpstr>Creating a Module</vt:lpstr>
      <vt:lpstr>Configuring a Module</vt:lpstr>
      <vt:lpstr>Module Output</vt:lpstr>
      <vt:lpstr>Slide 43</vt:lpstr>
      <vt:lpstr>Layouts</vt:lpstr>
      <vt:lpstr>Specifying a Layout</vt:lpstr>
      <vt:lpstr>Applying and Using a Layout</vt:lpstr>
      <vt:lpstr>Applying a New Layout</vt:lpstr>
      <vt:lpstr>Nesting the Layouts</vt:lpstr>
      <vt:lpstr>Rendering a View</vt:lpstr>
      <vt:lpstr>Slide 50</vt:lpstr>
      <vt:lpstr>Building Themes in Yii</vt:lpstr>
      <vt:lpstr>Using a Theme</vt:lpstr>
      <vt:lpstr>Creating a Theme [1] [2]</vt:lpstr>
      <vt:lpstr>Example of Directory Organization</vt:lpstr>
      <vt:lpstr>Configuring the Application to Use a Theme</vt:lpstr>
      <vt:lpstr>CMS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HuyBien</cp:lastModifiedBy>
  <cp:revision>2959</cp:revision>
  <dcterms:created xsi:type="dcterms:W3CDTF">2007-10-06T08:25:13Z</dcterms:created>
  <dcterms:modified xsi:type="dcterms:W3CDTF">2015-10-25T17:54:54Z</dcterms:modified>
</cp:coreProperties>
</file>