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82"/>
  </p:notesMasterIdLst>
  <p:sldIdLst>
    <p:sldId id="453" r:id="rId2"/>
    <p:sldId id="454" r:id="rId3"/>
    <p:sldId id="455" r:id="rId4"/>
    <p:sldId id="456" r:id="rId5"/>
    <p:sldId id="410" r:id="rId6"/>
    <p:sldId id="411" r:id="rId7"/>
    <p:sldId id="467" r:id="rId8"/>
    <p:sldId id="417" r:id="rId9"/>
    <p:sldId id="412" r:id="rId10"/>
    <p:sldId id="469" r:id="rId11"/>
    <p:sldId id="471" r:id="rId12"/>
    <p:sldId id="473" r:id="rId13"/>
    <p:sldId id="474" r:id="rId14"/>
    <p:sldId id="475" r:id="rId15"/>
    <p:sldId id="476" r:id="rId16"/>
    <p:sldId id="477" r:id="rId17"/>
    <p:sldId id="479" r:id="rId18"/>
    <p:sldId id="478" r:id="rId19"/>
    <p:sldId id="480" r:id="rId20"/>
    <p:sldId id="496" r:id="rId21"/>
    <p:sldId id="481" r:id="rId22"/>
    <p:sldId id="482" r:id="rId23"/>
    <p:sldId id="497" r:id="rId24"/>
    <p:sldId id="435" r:id="rId25"/>
    <p:sldId id="498" r:id="rId26"/>
    <p:sldId id="499" r:id="rId27"/>
    <p:sldId id="500" r:id="rId28"/>
    <p:sldId id="438" r:id="rId29"/>
    <p:sldId id="436" r:id="rId30"/>
    <p:sldId id="437" r:id="rId31"/>
    <p:sldId id="504" r:id="rId32"/>
    <p:sldId id="439" r:id="rId33"/>
    <p:sldId id="440" r:id="rId34"/>
    <p:sldId id="441" r:id="rId35"/>
    <p:sldId id="387" r:id="rId36"/>
    <p:sldId id="451" r:id="rId37"/>
    <p:sldId id="452" r:id="rId38"/>
    <p:sldId id="443" r:id="rId39"/>
    <p:sldId id="444" r:id="rId40"/>
    <p:sldId id="446" r:id="rId41"/>
    <p:sldId id="442" r:id="rId42"/>
    <p:sldId id="375" r:id="rId43"/>
    <p:sldId id="466" r:id="rId44"/>
    <p:sldId id="373" r:id="rId45"/>
    <p:sldId id="371" r:id="rId46"/>
    <p:sldId id="372" r:id="rId47"/>
    <p:sldId id="376" r:id="rId48"/>
    <p:sldId id="374" r:id="rId49"/>
    <p:sldId id="377" r:id="rId50"/>
    <p:sldId id="384" r:id="rId51"/>
    <p:sldId id="378" r:id="rId52"/>
    <p:sldId id="379" r:id="rId53"/>
    <p:sldId id="381" r:id="rId54"/>
    <p:sldId id="489" r:id="rId55"/>
    <p:sldId id="491" r:id="rId56"/>
    <p:sldId id="492" r:id="rId57"/>
    <p:sldId id="493" r:id="rId58"/>
    <p:sldId id="494" r:id="rId59"/>
    <p:sldId id="495" r:id="rId60"/>
    <p:sldId id="389" r:id="rId61"/>
    <p:sldId id="390" r:id="rId62"/>
    <p:sldId id="391" r:id="rId63"/>
    <p:sldId id="392" r:id="rId64"/>
    <p:sldId id="393" r:id="rId65"/>
    <p:sldId id="461" r:id="rId66"/>
    <p:sldId id="462" r:id="rId67"/>
    <p:sldId id="464" r:id="rId68"/>
    <p:sldId id="463" r:id="rId69"/>
    <p:sldId id="502" r:id="rId70"/>
    <p:sldId id="450" r:id="rId71"/>
    <p:sldId id="501" r:id="rId72"/>
    <p:sldId id="457" r:id="rId73"/>
    <p:sldId id="458" r:id="rId74"/>
    <p:sldId id="459" r:id="rId75"/>
    <p:sldId id="465" r:id="rId76"/>
    <p:sldId id="486" r:id="rId77"/>
    <p:sldId id="488" r:id="rId78"/>
    <p:sldId id="487" r:id="rId79"/>
    <p:sldId id="503" r:id="rId80"/>
    <p:sldId id="343" r:id="rId8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24" autoAdjust="0"/>
    <p:restoredTop sz="94667" autoAdjust="0"/>
  </p:normalViewPr>
  <p:slideViewPr>
    <p:cSldViewPr>
      <p:cViewPr>
        <p:scale>
          <a:sx n="50" d="100"/>
          <a:sy n="50" d="100"/>
        </p:scale>
        <p:origin x="-1534"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78BF5F87-2049-40AA-8F46-716DC689E9FB}" type="datetimeFigureOut">
              <a:rPr lang="en-US"/>
              <a:pPr>
                <a:defRPr/>
              </a:pPr>
              <a:t>3/27/2025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C37162A9-E817-4FA2-8116-DD6AC9B6A8B4}"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CAA961E-6EE8-4039-A1A6-0EABAAE5E2EB}" type="datetimeFigureOut">
              <a:rPr lang="en-US"/>
              <a:pPr>
                <a:defRPr/>
              </a:pPr>
              <a:t>3/27/2025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BE35CB4-CF17-47D7-96AA-936BDDDE12B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E51540E-C53B-42C6-8099-BB6606CE1021}" type="datetimeFigureOut">
              <a:rPr lang="en-US"/>
              <a:pPr>
                <a:defRPr/>
              </a:pPr>
              <a:t>3/27/2025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A26FCBC-189E-4F52-973B-BFB0750B295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13B92E-91CA-4FE6-965A-F01C7ACEF459}" type="datetimeFigureOut">
              <a:rPr lang="en-US"/>
              <a:pPr>
                <a:defRPr/>
              </a:pPr>
              <a:t>3/27/2025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367505-FC9C-4829-A2C5-8D9539F50D1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52D384C-9A4E-461B-BB23-F93A3AAF3419}" type="datetimeFigureOut">
              <a:rPr lang="en-US"/>
              <a:pPr>
                <a:defRPr/>
              </a:pPr>
              <a:t>3/27/2025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A97F266-8102-4D7C-B0FA-72A1D71C4A9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AAC8FED-8EC6-4E03-8633-F9D63165028A}" type="datetimeFigureOut">
              <a:rPr lang="en-US"/>
              <a:pPr>
                <a:defRPr/>
              </a:pPr>
              <a:t>3/27/2025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9A0AA738-E070-4C7D-8215-A9E9186978F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B9109C7D-7857-432A-8DD8-5C43F7E3C7CF}" type="datetimeFigureOut">
              <a:rPr lang="en-US"/>
              <a:pPr>
                <a:defRPr/>
              </a:pPr>
              <a:t>3/27/2025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8DBA6BF-B89E-4B84-9284-BF0D7164328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94341F6-3120-4451-901B-8E96C2128DE4}" type="datetimeFigureOut">
              <a:rPr lang="en-US"/>
              <a:pPr>
                <a:defRPr/>
              </a:pPr>
              <a:t>3/27/2025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D516167-3E32-49C7-B449-23B33F33516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E52B12F5-6CA7-4A24-8F05-2D2ACC989520}" type="datetimeFigureOut">
              <a:rPr lang="en-US"/>
              <a:pPr>
                <a:defRPr/>
              </a:pPr>
              <a:t>3/27/2025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8A50DFC-223B-4C17-8EA5-A3BC2E2B700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4BCF139-0BFF-4962-91BE-1F1514D86238}" type="datetimeFigureOut">
              <a:rPr lang="en-US"/>
              <a:pPr>
                <a:defRPr/>
              </a:pPr>
              <a:t>3/27/2025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B27F731-B728-442B-8D29-57522735D89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5F3ECA0-F5DD-4989-8D08-A636380CF86F}" type="datetimeFigureOut">
              <a:rPr lang="en-US"/>
              <a:pPr>
                <a:defRPr/>
              </a:pPr>
              <a:t>3/27/2025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EA18408-4541-4111-8F56-46B363D97B61}"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D533026-B6A9-4D4E-A2BD-3141F8B632E9}" type="datetimeFigureOut">
              <a:rPr lang="en-US"/>
              <a:pPr>
                <a:defRPr/>
              </a:pPr>
              <a:t>3/27/2025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798B7DE-CC25-4488-B0E3-2CD008C0959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DB71AD6-D82A-46BB-BB7B-8ABE21D04123}" type="datetimeFigureOut">
              <a:rPr lang="en-US"/>
              <a:pPr>
                <a:defRPr/>
              </a:pPr>
              <a:t>3/27/2025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0B29163-B4D0-4B08-BCE5-40FF1D4EF81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code.tutsplus.com/series/using-wordpress-for-web-application-development--wp-34105"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eveloper.wordpress.org/themes/basics/template-hierarchy/" TargetMode="External"/><Relationship Id="rId2" Type="http://schemas.openxmlformats.org/officeDocument/2006/relationships/hyperlink" Target="https://developer.wordpress.org/themes/basics/template-files/" TargetMode="External"/><Relationship Id="rId1" Type="http://schemas.openxmlformats.org/officeDocument/2006/relationships/slideLayout" Target="../slideLayouts/slideLayout2.xml"/><Relationship Id="rId4" Type="http://schemas.openxmlformats.org/officeDocument/2006/relationships/hyperlink" Target="https://developer.wordpress.org/themes/template-files-section/page-template-file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example.com/wp-admin/edit.php?post_type=page"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codex.wordpress.org/Database_Description"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developer.wordpress.org/themes/template-files-section/attachment-template-file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developer.wordpress.org/plugins/cron/"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ordpress.org/plugins/wp-crontro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developer.wordpress.org/themes/advanced-topics/child-themes/"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codex.wordpress.org/Plugin_API/Action_Reference"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developer.wordpress.org/reference/functions/add_action/"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s://developer.wordpress.org/reference/functions/get_post_meta/"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developer.wordpress.org/reference/functions/attachment_url_to_postid/"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normAutofit/>
          </a:bodyPr>
          <a:lstStyle/>
          <a:p>
            <a:r>
              <a:rPr lang="en-US" sz="6000" smtClean="0"/>
              <a:t>The Core</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a:defRPr/>
            </a:pPr>
            <a:r>
              <a:rPr lang="en-US" sz="5400" dirty="0" smtClean="0"/>
              <a:t>Lecturer: Ngo Huy Bien</a:t>
            </a:r>
          </a:p>
          <a:p>
            <a:pPr>
              <a:defRPr/>
            </a:pPr>
            <a:r>
              <a:rPr lang="en-US" sz="4400" dirty="0" smtClean="0"/>
              <a:t>Software Engineering Department</a:t>
            </a:r>
          </a:p>
          <a:p>
            <a:pPr>
              <a:defRPr/>
            </a:pPr>
            <a:r>
              <a:rPr lang="en-US" sz="4400" dirty="0" smtClean="0"/>
              <a:t>Faculty of Information Technology</a:t>
            </a:r>
          </a:p>
          <a:p>
            <a:pPr>
              <a:defRPr/>
            </a:pPr>
            <a:r>
              <a:rPr lang="en-US" sz="4400" dirty="0" smtClean="0"/>
              <a:t>VNUHCM - University of Science</a:t>
            </a:r>
          </a:p>
          <a:p>
            <a:pPr>
              <a:defRPr/>
            </a:pPr>
            <a:r>
              <a:rPr lang="en-US" sz="4400" dirty="0" smtClean="0"/>
              <a:t>Ho Chi Minh City, Vietnam</a:t>
            </a:r>
          </a:p>
          <a:p>
            <a:pPr>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a:buFont typeface="Wingdings" pitchFamily="2" charset="2"/>
              <a:buChar char="Ø"/>
            </a:pPr>
            <a:r>
              <a:rPr lang="en-US" sz="2400" dirty="0" smtClean="0"/>
              <a:t>To create a </a:t>
            </a:r>
            <a:r>
              <a:rPr lang="en-US" sz="2400" dirty="0" err="1" smtClean="0"/>
              <a:t>WordPress</a:t>
            </a:r>
            <a:r>
              <a:rPr lang="en-US" sz="2400" dirty="0" smtClean="0"/>
              <a:t> theme.</a:t>
            </a:r>
          </a:p>
          <a:p>
            <a:pPr>
              <a:buFont typeface="Wingdings" pitchFamily="2" charset="2"/>
              <a:buChar char="Ø"/>
            </a:pPr>
            <a:r>
              <a:rPr lang="en-US" sz="2400" dirty="0" smtClean="0"/>
              <a:t>To create custom code for a </a:t>
            </a:r>
            <a:r>
              <a:rPr lang="en-US" sz="2400" dirty="0" err="1" smtClean="0"/>
              <a:t>WordPress</a:t>
            </a:r>
            <a:r>
              <a:rPr lang="en-US" sz="2400" dirty="0" smtClean="0"/>
              <a:t> instance.</a:t>
            </a: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752600"/>
            <a:ext cx="5715000" cy="3992563"/>
          </a:xfrm>
        </p:spPr>
        <p:txBody>
          <a:bodyPr/>
          <a:lstStyle/>
          <a:p>
            <a:pPr marL="457200" indent="-457200">
              <a:buFont typeface="+mj-lt"/>
              <a:buAutoNum type="arabicPeriod"/>
            </a:pPr>
            <a:r>
              <a:rPr lang="en-US" sz="2200" dirty="0" smtClean="0"/>
              <a:t>Brad Williams, David </a:t>
            </a:r>
            <a:r>
              <a:rPr lang="en-US" sz="2200" dirty="0" err="1" smtClean="0"/>
              <a:t>Damstra</a:t>
            </a:r>
            <a:r>
              <a:rPr lang="en-US" sz="2200" dirty="0" smtClean="0"/>
              <a:t>, Hal Stern (2015). Professional </a:t>
            </a:r>
            <a:r>
              <a:rPr lang="en-US" sz="2200" dirty="0" err="1" smtClean="0"/>
              <a:t>WordPress</a:t>
            </a:r>
            <a:r>
              <a:rPr lang="en-US" sz="2200" dirty="0" smtClean="0"/>
              <a:t> - Design and Development. </a:t>
            </a:r>
            <a:r>
              <a:rPr lang="en-US" sz="2200" dirty="0" err="1" smtClean="0"/>
              <a:t>Wrox</a:t>
            </a:r>
            <a:r>
              <a:rPr lang="en-US" sz="2200" dirty="0" smtClean="0"/>
              <a:t>.</a:t>
            </a:r>
          </a:p>
          <a:p>
            <a:pPr marL="457200" indent="-457200">
              <a:buFont typeface="+mj-lt"/>
              <a:buAutoNum type="arabicPeriod"/>
            </a:pPr>
            <a:r>
              <a:rPr lang="en-US" sz="2200" dirty="0" smtClean="0"/>
              <a:t>Adam </a:t>
            </a:r>
            <a:r>
              <a:rPr lang="en-US" sz="2200" dirty="0" err="1" smtClean="0"/>
              <a:t>Onishi</a:t>
            </a:r>
            <a:r>
              <a:rPr lang="en-US" sz="2200" dirty="0" smtClean="0"/>
              <a:t> (2013). Pro </a:t>
            </a:r>
            <a:r>
              <a:rPr lang="en-US" sz="2200" dirty="0" err="1" smtClean="0"/>
              <a:t>WordPress</a:t>
            </a:r>
            <a:r>
              <a:rPr lang="en-US" sz="2200" dirty="0" smtClean="0"/>
              <a:t> Theme Development. </a:t>
            </a:r>
            <a:r>
              <a:rPr lang="en-US" sz="2200" dirty="0" err="1" smtClean="0"/>
              <a:t>Apress</a:t>
            </a:r>
            <a:r>
              <a:rPr lang="en-US" sz="2200" dirty="0" smtClean="0"/>
              <a:t>.</a:t>
            </a:r>
          </a:p>
          <a:p>
            <a:pPr marL="457200" indent="-457200">
              <a:buFont typeface="+mj-lt"/>
              <a:buAutoNum type="arabicPeriod"/>
            </a:pPr>
            <a:r>
              <a:rPr lang="en-US" sz="2200" dirty="0" smtClean="0">
                <a:hlinkClick r:id="rId3"/>
              </a:rPr>
              <a:t>http://code.tutsplus.com/series/using-wordpress-for-web-application-development--wp-34105</a:t>
            </a:r>
            <a:endParaRPr lang="en-US" sz="22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a:t>
            </a:r>
            <a:r>
              <a:rPr lang="en-US" dirty="0" smtClean="0"/>
              <a:t>in the Core? [1]</a:t>
            </a:r>
            <a:endParaRPr lang="en-US" dirty="0"/>
          </a:p>
        </p:txBody>
      </p:sp>
      <p:sp>
        <p:nvSpPr>
          <p:cNvPr id="3" name="Content Placeholder 2"/>
          <p:cNvSpPr>
            <a:spLocks noGrp="1"/>
          </p:cNvSpPr>
          <p:nvPr>
            <p:ph idx="1"/>
          </p:nvPr>
        </p:nvSpPr>
        <p:spPr/>
        <p:txBody>
          <a:bodyPr/>
          <a:lstStyle/>
          <a:p>
            <a:r>
              <a:rPr lang="en-US" sz="1800" dirty="0" smtClean="0"/>
              <a:t>The </a:t>
            </a:r>
            <a:r>
              <a:rPr lang="en-US" sz="1800" dirty="0" err="1" smtClean="0"/>
              <a:t>WordPress</a:t>
            </a:r>
            <a:r>
              <a:rPr lang="en-US" sz="1800" dirty="0" smtClean="0"/>
              <a:t> core files are primarily PHP files, but also contain CSS, JavaScript, HTML, and image files. These files control everything about </a:t>
            </a:r>
            <a:r>
              <a:rPr lang="en-US" sz="1800" dirty="0" err="1" smtClean="0"/>
              <a:t>WordPress</a:t>
            </a:r>
            <a:r>
              <a:rPr lang="en-US" sz="1800" dirty="0" smtClean="0"/>
              <a:t> including how content pages are generated to display, loading the configured theme and </a:t>
            </a:r>
            <a:r>
              <a:rPr lang="en-US" sz="1800" dirty="0" err="1" smtClean="0"/>
              <a:t>plugins</a:t>
            </a:r>
            <a:r>
              <a:rPr lang="en-US" sz="1800" dirty="0" smtClean="0"/>
              <a:t>, loading all options and settings, and much more.</a:t>
            </a:r>
          </a:p>
          <a:p>
            <a:r>
              <a:rPr lang="en-US" sz="1800" dirty="0" smtClean="0"/>
              <a:t>In short, the core contains several major function types:</a:t>
            </a:r>
          </a:p>
          <a:p>
            <a:pPr lvl="1"/>
            <a:r>
              <a:rPr lang="en-US" sz="1800" b="1" dirty="0" smtClean="0"/>
              <a:t>Posts, pages, and custom content</a:t>
            </a:r>
            <a:r>
              <a:rPr lang="en-US" sz="1800" dirty="0" smtClean="0"/>
              <a:t> —Creating, storing, retrieving, and interacting with the majority of your content in </a:t>
            </a:r>
            <a:r>
              <a:rPr lang="en-US" sz="1800" dirty="0" err="1" smtClean="0"/>
              <a:t>WordPress</a:t>
            </a:r>
            <a:r>
              <a:rPr lang="en-US" sz="1800" dirty="0" smtClean="0"/>
              <a:t>.</a:t>
            </a:r>
          </a:p>
          <a:p>
            <a:pPr lvl="1"/>
            <a:r>
              <a:rPr lang="en-US" sz="1800" b="1" dirty="0" smtClean="0"/>
              <a:t>Post types, taxonomies, and metadata</a:t>
            </a:r>
            <a:r>
              <a:rPr lang="en-US" sz="1800" dirty="0" smtClean="0"/>
              <a:t> —Everything from custom post types, tags, and categories to user‐created taxonomies.</a:t>
            </a:r>
          </a:p>
          <a:p>
            <a:pPr lvl="1"/>
            <a:r>
              <a:rPr lang="en-US" sz="1800" b="1" dirty="0" smtClean="0"/>
              <a:t>Themes —</a:t>
            </a:r>
            <a:r>
              <a:rPr lang="en-US" sz="1800" dirty="0" smtClean="0"/>
              <a:t>Supporting functions for </a:t>
            </a:r>
            <a:r>
              <a:rPr lang="en-US" sz="1800" dirty="0" err="1" smtClean="0"/>
              <a:t>WordPress</a:t>
            </a:r>
            <a:r>
              <a:rPr lang="en-US" sz="1800" dirty="0" smtClean="0"/>
              <a:t> themes.</a:t>
            </a:r>
          </a:p>
          <a:p>
            <a:pPr lvl="1"/>
            <a:r>
              <a:rPr lang="en-US" sz="1800" b="1" dirty="0" smtClean="0"/>
              <a:t>Actions, filters, and </a:t>
            </a:r>
            <a:r>
              <a:rPr lang="en-US" sz="1800" b="1" dirty="0" err="1" smtClean="0"/>
              <a:t>plugins</a:t>
            </a:r>
            <a:r>
              <a:rPr lang="en-US" sz="1800" b="1" dirty="0" smtClean="0"/>
              <a:t> —</a:t>
            </a:r>
            <a:r>
              <a:rPr lang="en-US" sz="1800" dirty="0" smtClean="0"/>
              <a:t>Framework for extending </a:t>
            </a:r>
            <a:r>
              <a:rPr lang="en-US" sz="1800" dirty="0" err="1" smtClean="0"/>
              <a:t>WordPress</a:t>
            </a:r>
            <a:r>
              <a:rPr lang="en-US" sz="1800" dirty="0" smtClean="0"/>
              <a:t> through </a:t>
            </a:r>
            <a:r>
              <a:rPr lang="en-US" sz="1800" dirty="0" err="1" smtClean="0"/>
              <a:t>plugins</a:t>
            </a:r>
            <a:r>
              <a:rPr lang="en-US" sz="1800" dirty="0" smtClean="0"/>
              <a:t>.</a:t>
            </a:r>
          </a:p>
          <a:p>
            <a:pPr lvl="1"/>
            <a:r>
              <a:rPr lang="en-US" sz="1800" b="1" dirty="0" smtClean="0"/>
              <a:t>Users and authors —</a:t>
            </a:r>
            <a:r>
              <a:rPr lang="en-US" sz="1800" dirty="0" smtClean="0"/>
              <a:t>Creating and managing access control to your site, and key to the security and enterprise use topics.</a:t>
            </a:r>
          </a:p>
          <a:p>
            <a:pPr lvl="1"/>
            <a:r>
              <a:rPr lang="en-US" sz="1800" b="1" dirty="0" smtClean="0"/>
              <a:t>Feeds, formatting, and comments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Exploring the Core</a:t>
            </a:r>
            <a:endParaRPr lang="en-US" dirty="0"/>
          </a:p>
        </p:txBody>
      </p:sp>
      <p:sp>
        <p:nvSpPr>
          <p:cNvPr id="3" name="Content Placeholder 2"/>
          <p:cNvSpPr>
            <a:spLocks noGrp="1"/>
          </p:cNvSpPr>
          <p:nvPr>
            <p:ph idx="1"/>
          </p:nvPr>
        </p:nvSpPr>
        <p:spPr/>
        <p:txBody>
          <a:bodyPr/>
          <a:lstStyle/>
          <a:p>
            <a:r>
              <a:rPr lang="en-US" sz="1600" dirty="0" smtClean="0"/>
              <a:t>The </a:t>
            </a:r>
            <a:r>
              <a:rPr lang="en-US" sz="1600" dirty="0" err="1" smtClean="0"/>
              <a:t>WordPress</a:t>
            </a:r>
            <a:r>
              <a:rPr lang="en-US" sz="1600" dirty="0" smtClean="0"/>
              <a:t> core has certain </a:t>
            </a:r>
            <a:r>
              <a:rPr lang="en-US" sz="1600" i="1" dirty="0" smtClean="0">
                <a:solidFill>
                  <a:srgbClr val="C00000"/>
                </a:solidFill>
              </a:rPr>
              <a:t>files</a:t>
            </a:r>
            <a:r>
              <a:rPr lang="en-US" sz="1600" dirty="0" smtClean="0"/>
              <a:t> that contain many of the more </a:t>
            </a:r>
            <a:r>
              <a:rPr lang="en-US" sz="1600" u="sng" dirty="0" smtClean="0"/>
              <a:t>popular </a:t>
            </a:r>
            <a:r>
              <a:rPr lang="en-US" sz="1600" u="sng" dirty="0" err="1" smtClean="0"/>
              <a:t>WordPress</a:t>
            </a:r>
            <a:r>
              <a:rPr lang="en-US" sz="1600" u="sng" dirty="0" smtClean="0"/>
              <a:t> functions</a:t>
            </a:r>
            <a:r>
              <a:rPr lang="en-US" sz="1600" dirty="0" smtClean="0"/>
              <a:t>.</a:t>
            </a:r>
          </a:p>
          <a:p>
            <a:r>
              <a:rPr lang="en-US" sz="1600" dirty="0" smtClean="0"/>
              <a:t>These functions are used for all </a:t>
            </a:r>
            <a:r>
              <a:rPr lang="en-US" sz="1600" dirty="0" err="1" smtClean="0"/>
              <a:t>WordPress</a:t>
            </a:r>
            <a:r>
              <a:rPr lang="en-US" sz="1600" dirty="0" smtClean="0"/>
              <a:t> APIs and can be used in any custom </a:t>
            </a:r>
            <a:r>
              <a:rPr lang="en-US" sz="1600" dirty="0" err="1" smtClean="0"/>
              <a:t>plugin</a:t>
            </a:r>
            <a:r>
              <a:rPr lang="en-US" sz="1600" dirty="0" smtClean="0"/>
              <a:t> or theme.</a:t>
            </a:r>
          </a:p>
          <a:p>
            <a:r>
              <a:rPr lang="en-US" sz="1600" dirty="0" smtClean="0"/>
              <a:t>All of the files listed in the section that follows are located in the /</a:t>
            </a:r>
            <a:r>
              <a:rPr lang="en-US" sz="1600" dirty="0" err="1" smtClean="0"/>
              <a:t>wp</a:t>
            </a:r>
            <a:r>
              <a:rPr lang="en-US" sz="1600" dirty="0" smtClean="0"/>
              <a:t>‐includes directory of </a:t>
            </a:r>
            <a:r>
              <a:rPr lang="en-US" sz="1600" dirty="0" err="1" smtClean="0"/>
              <a:t>WordPress</a:t>
            </a:r>
            <a:r>
              <a:rPr lang="en-US" sz="1600" dirty="0" smtClean="0"/>
              <a:t>.</a:t>
            </a:r>
          </a:p>
          <a:p>
            <a:pPr lvl="1"/>
            <a:r>
              <a:rPr lang="en-US" sz="1600" dirty="0" smtClean="0"/>
              <a:t>The </a:t>
            </a:r>
            <a:r>
              <a:rPr lang="en-US" sz="1600" b="1" dirty="0" smtClean="0"/>
              <a:t>functions.php</a:t>
            </a:r>
            <a:r>
              <a:rPr lang="en-US" sz="1600" dirty="0" smtClean="0"/>
              <a:t> file contains the main </a:t>
            </a:r>
            <a:r>
              <a:rPr lang="en-US" sz="1600" dirty="0" err="1" smtClean="0"/>
              <a:t>WordPress</a:t>
            </a:r>
            <a:r>
              <a:rPr lang="en-US" sz="1600" dirty="0" smtClean="0"/>
              <a:t> API functions. These functions are used to easily interact with </a:t>
            </a:r>
            <a:r>
              <a:rPr lang="en-US" sz="1600" dirty="0" err="1" smtClean="0"/>
              <a:t>WordPress</a:t>
            </a:r>
            <a:r>
              <a:rPr lang="en-US" sz="1600" dirty="0" smtClean="0"/>
              <a:t> using a standardized method. </a:t>
            </a:r>
            <a:r>
              <a:rPr lang="en-US" sz="1600" dirty="0" err="1" smtClean="0"/>
              <a:t>Plugins</a:t>
            </a:r>
            <a:r>
              <a:rPr lang="en-US" sz="1600" dirty="0" smtClean="0"/>
              <a:t>, themes, and the </a:t>
            </a:r>
            <a:r>
              <a:rPr lang="en-US" sz="1600" dirty="0" err="1" smtClean="0"/>
              <a:t>WordPress</a:t>
            </a:r>
            <a:r>
              <a:rPr lang="en-US" sz="1600" dirty="0" smtClean="0"/>
              <a:t> core all use these functions</a:t>
            </a:r>
          </a:p>
          <a:p>
            <a:pPr lvl="1"/>
            <a:r>
              <a:rPr lang="en-US" sz="1600" dirty="0" smtClean="0"/>
              <a:t>The </a:t>
            </a:r>
            <a:r>
              <a:rPr lang="en-US" sz="1600" b="1" dirty="0" smtClean="0"/>
              <a:t>option.php</a:t>
            </a:r>
            <a:r>
              <a:rPr lang="en-US" sz="1600" dirty="0" smtClean="0"/>
              <a:t> file contains the main </a:t>
            </a:r>
            <a:r>
              <a:rPr lang="en-US" sz="1600" dirty="0" err="1" smtClean="0"/>
              <a:t>WordPress</a:t>
            </a:r>
            <a:r>
              <a:rPr lang="en-US" sz="1600" dirty="0" smtClean="0"/>
              <a:t> Options API functions.</a:t>
            </a:r>
          </a:p>
          <a:p>
            <a:pPr lvl="1"/>
            <a:r>
              <a:rPr lang="en-US" sz="1600" dirty="0" smtClean="0"/>
              <a:t>The </a:t>
            </a:r>
            <a:r>
              <a:rPr lang="en-US" sz="1600" b="1" dirty="0" smtClean="0"/>
              <a:t>formatting.php</a:t>
            </a:r>
            <a:r>
              <a:rPr lang="en-US" sz="1600" dirty="0" smtClean="0"/>
              <a:t> file contains the </a:t>
            </a:r>
            <a:r>
              <a:rPr lang="en-US" sz="1600" dirty="0" err="1" smtClean="0"/>
              <a:t>WordPress</a:t>
            </a:r>
            <a:r>
              <a:rPr lang="en-US" sz="1600" dirty="0" smtClean="0"/>
              <a:t> API formatting functions.</a:t>
            </a:r>
          </a:p>
          <a:p>
            <a:pPr lvl="1"/>
            <a:r>
              <a:rPr lang="en-US" sz="1600" dirty="0" smtClean="0"/>
              <a:t>The </a:t>
            </a:r>
            <a:r>
              <a:rPr lang="en-US" sz="1600" b="1" dirty="0" smtClean="0"/>
              <a:t>pluggable.php</a:t>
            </a:r>
            <a:r>
              <a:rPr lang="en-US" sz="1600" dirty="0" smtClean="0"/>
              <a:t> functions </a:t>
            </a:r>
            <a:r>
              <a:rPr lang="en-US" sz="1600" dirty="0" err="1" smtClean="0"/>
              <a:t>fi</a:t>
            </a:r>
            <a:r>
              <a:rPr lang="en-US" sz="1600" dirty="0" smtClean="0"/>
              <a:t> le lets you override certain core functions of </a:t>
            </a:r>
            <a:r>
              <a:rPr lang="en-US" sz="1600" dirty="0" err="1" smtClean="0"/>
              <a:t>WordPress</a:t>
            </a:r>
            <a:r>
              <a:rPr lang="en-US" sz="1600" dirty="0" smtClean="0"/>
              <a:t>.</a:t>
            </a:r>
          </a:p>
          <a:p>
            <a:pPr lvl="1"/>
            <a:r>
              <a:rPr lang="en-US" sz="1600" dirty="0" smtClean="0"/>
              <a:t>The </a:t>
            </a:r>
            <a:r>
              <a:rPr lang="en-US" sz="1600" b="1" dirty="0" smtClean="0"/>
              <a:t>plugin.php</a:t>
            </a:r>
            <a:r>
              <a:rPr lang="en-US" sz="1600" dirty="0" smtClean="0"/>
              <a:t> file contains the </a:t>
            </a:r>
            <a:r>
              <a:rPr lang="en-US" sz="1600" dirty="0" err="1" smtClean="0"/>
              <a:t>WordPress</a:t>
            </a:r>
            <a:r>
              <a:rPr lang="en-US" sz="1600" dirty="0" smtClean="0"/>
              <a:t> </a:t>
            </a:r>
            <a:r>
              <a:rPr lang="en-US" sz="1600" dirty="0" err="1" smtClean="0"/>
              <a:t>Plugin</a:t>
            </a:r>
            <a:r>
              <a:rPr lang="en-US" sz="1600" dirty="0" smtClean="0"/>
              <a:t> API functions.</a:t>
            </a:r>
          </a:p>
          <a:p>
            <a:pPr lvl="1"/>
            <a:r>
              <a:rPr lang="en-US" sz="1600" dirty="0" smtClean="0"/>
              <a:t>The </a:t>
            </a:r>
            <a:r>
              <a:rPr lang="en-US" sz="1600" b="1" dirty="0" smtClean="0"/>
              <a:t>user.php</a:t>
            </a:r>
            <a:r>
              <a:rPr lang="en-US" sz="1600" dirty="0" smtClean="0"/>
              <a:t> file contains the </a:t>
            </a:r>
            <a:r>
              <a:rPr lang="en-US" sz="1600" dirty="0" err="1" smtClean="0"/>
              <a:t>WordPress</a:t>
            </a:r>
            <a:r>
              <a:rPr lang="en-US" sz="1600" dirty="0" smtClean="0"/>
              <a:t> User API functions.</a:t>
            </a:r>
          </a:p>
          <a:p>
            <a:pPr lvl="1"/>
            <a:r>
              <a:rPr lang="en-US" sz="1600" dirty="0" smtClean="0"/>
              <a:t>The </a:t>
            </a:r>
            <a:r>
              <a:rPr lang="en-US" sz="1600" b="1" dirty="0" smtClean="0"/>
              <a:t>post.php</a:t>
            </a:r>
            <a:r>
              <a:rPr lang="en-US" sz="1600" dirty="0" smtClean="0"/>
              <a:t> file contains the functions used in the post process of </a:t>
            </a:r>
            <a:r>
              <a:rPr lang="en-US" sz="1600" dirty="0" err="1" smtClean="0"/>
              <a:t>WordPress</a:t>
            </a:r>
            <a:r>
              <a:rPr lang="en-US" sz="1600" dirty="0" smtClean="0"/>
              <a:t>.</a:t>
            </a:r>
          </a:p>
          <a:p>
            <a:pPr lvl="1"/>
            <a:r>
              <a:rPr lang="en-US" sz="1600" dirty="0" smtClean="0"/>
              <a:t>The </a:t>
            </a:r>
            <a:r>
              <a:rPr lang="en-US" sz="1600" b="1" dirty="0" smtClean="0"/>
              <a:t>taxonomy.php</a:t>
            </a:r>
            <a:r>
              <a:rPr lang="en-US" sz="1600" dirty="0" smtClean="0"/>
              <a:t> file contains the functions used by the </a:t>
            </a:r>
            <a:r>
              <a:rPr lang="en-US" sz="1600" dirty="0" err="1" smtClean="0"/>
              <a:t>WordPress</a:t>
            </a:r>
            <a:r>
              <a:rPr lang="en-US" sz="1600" dirty="0" smtClean="0"/>
              <a:t> Taxonomy API.</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Loop</a:t>
            </a:r>
            <a:endParaRPr lang="en-US" dirty="0"/>
          </a:p>
        </p:txBody>
      </p:sp>
      <p:sp>
        <p:nvSpPr>
          <p:cNvPr id="3" name="Content Placeholder 2"/>
          <p:cNvSpPr>
            <a:spLocks noGrp="1"/>
          </p:cNvSpPr>
          <p:nvPr>
            <p:ph idx="1"/>
          </p:nvPr>
        </p:nvSpPr>
        <p:spPr/>
        <p:txBody>
          <a:bodyPr/>
          <a:lstStyle/>
          <a:p>
            <a:r>
              <a:rPr lang="en-US" sz="2400" dirty="0" smtClean="0"/>
              <a:t>The Loop refers to how </a:t>
            </a:r>
            <a:r>
              <a:rPr lang="en-US" sz="2400" dirty="0" err="1" smtClean="0"/>
              <a:t>WordPress</a:t>
            </a:r>
            <a:r>
              <a:rPr lang="en-US" sz="2400" dirty="0" smtClean="0"/>
              <a:t> </a:t>
            </a:r>
            <a:r>
              <a:rPr lang="en-US" sz="2400" i="1" dirty="0" smtClean="0">
                <a:solidFill>
                  <a:srgbClr val="C00000"/>
                </a:solidFill>
              </a:rPr>
              <a:t>determines</a:t>
            </a:r>
            <a:r>
              <a:rPr lang="en-US" sz="2400" dirty="0" smtClean="0"/>
              <a:t> what content (posts, pages, or custom content) to display on a page you are visiting.</a:t>
            </a:r>
          </a:p>
          <a:p>
            <a:r>
              <a:rPr lang="en-US" sz="2400" dirty="0" smtClean="0"/>
              <a:t>The Loop can display a single piece of content or a group of posts and pages that are selected and then displayed by looping through the content; thus, </a:t>
            </a:r>
            <a:r>
              <a:rPr lang="en-US" sz="2400" dirty="0" smtClean="0"/>
              <a:t>it's </a:t>
            </a:r>
            <a:r>
              <a:rPr lang="en-US" sz="2400" dirty="0" smtClean="0"/>
              <a:t>called the Loop.</a:t>
            </a:r>
          </a:p>
          <a:p>
            <a:r>
              <a:rPr lang="en-US" sz="2400" dirty="0" smtClean="0"/>
              <a:t>To </a:t>
            </a:r>
            <a:r>
              <a:rPr lang="en-US" sz="2400" i="1" dirty="0" smtClean="0">
                <a:solidFill>
                  <a:srgbClr val="C00000"/>
                </a:solidFill>
              </a:rPr>
              <a:t>understand the Loop</a:t>
            </a:r>
            <a:r>
              <a:rPr lang="en-US" sz="2400" dirty="0" smtClean="0"/>
              <a:t>, it helps to break down </a:t>
            </a:r>
            <a:r>
              <a:rPr lang="en-US" sz="2400" u="sng" dirty="0" smtClean="0"/>
              <a:t>the steps</a:t>
            </a:r>
            <a:r>
              <a:rPr lang="en-US" sz="2400" dirty="0" smtClean="0"/>
              <a:t> </a:t>
            </a:r>
            <a:r>
              <a:rPr lang="en-US" sz="2400" dirty="0" err="1" smtClean="0"/>
              <a:t>WordPress</a:t>
            </a:r>
            <a:r>
              <a:rPr lang="en-US" sz="2400" dirty="0" smtClean="0"/>
              <a:t> takes to generate a </a:t>
            </a:r>
            <a:r>
              <a:rPr lang="en-US" sz="2400" dirty="0" smtClean="0"/>
              <a:t>page's </a:t>
            </a:r>
            <a:r>
              <a:rPr lang="en-US" sz="2400" dirty="0" smtClean="0"/>
              <a:t>content.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URL to index.php</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URL</a:t>
            </a:r>
            <a:r>
              <a:rPr lang="en-US" sz="2400" dirty="0" smtClean="0"/>
              <a:t> is matched against existing files and directories in the </a:t>
            </a:r>
            <a:r>
              <a:rPr lang="en-US" sz="2400" dirty="0" err="1" smtClean="0"/>
              <a:t>WordPress</a:t>
            </a:r>
            <a:r>
              <a:rPr lang="en-US" sz="2400" dirty="0" smtClean="0"/>
              <a:t> installation.</a:t>
            </a:r>
          </a:p>
          <a:p>
            <a:r>
              <a:rPr lang="en-US" sz="2400" dirty="0" smtClean="0"/>
              <a:t>If the file is there, it is loaded by the web server.</a:t>
            </a:r>
          </a:p>
          <a:p>
            <a:r>
              <a:rPr lang="en-US" sz="2400" dirty="0" err="1" smtClean="0"/>
              <a:t>WordPress</a:t>
            </a:r>
            <a:r>
              <a:rPr lang="en-US" sz="2400" dirty="0" smtClean="0"/>
              <a:t> </a:t>
            </a:r>
            <a:r>
              <a:rPr lang="en-US" sz="2400" dirty="0" smtClean="0"/>
              <a:t>doesn't </a:t>
            </a:r>
            <a:r>
              <a:rPr lang="en-US" sz="2400" dirty="0" smtClean="0"/>
              <a:t>actually get involved in this decision; </a:t>
            </a:r>
            <a:r>
              <a:rPr lang="en-US" sz="2400" dirty="0" smtClean="0"/>
              <a:t>it's </a:t>
            </a:r>
            <a:r>
              <a:rPr lang="en-US" sz="2400" dirty="0" smtClean="0"/>
              <a:t>up to your </a:t>
            </a:r>
            <a:r>
              <a:rPr lang="en-US" sz="2400" i="1" dirty="0" smtClean="0">
                <a:solidFill>
                  <a:srgbClr val="C00000"/>
                </a:solidFill>
              </a:rPr>
              <a:t>web server</a:t>
            </a:r>
            <a:r>
              <a:rPr lang="en-US" sz="2400" dirty="0" smtClean="0"/>
              <a:t> and the </a:t>
            </a:r>
            <a:r>
              <a:rPr lang="en-US" sz="2400" i="1" dirty="0" smtClean="0">
                <a:solidFill>
                  <a:srgbClr val="C00000"/>
                </a:solidFill>
                <a:latin typeface="Consolas" pitchFamily="49" charset="0"/>
              </a:rPr>
              <a:t>.</a:t>
            </a:r>
            <a:r>
              <a:rPr lang="en-US" sz="2400" i="1" dirty="0" err="1" smtClean="0">
                <a:solidFill>
                  <a:srgbClr val="C00000"/>
                </a:solidFill>
                <a:latin typeface="Consolas" pitchFamily="49" charset="0"/>
              </a:rPr>
              <a:t>htaccess</a:t>
            </a:r>
            <a:r>
              <a:rPr lang="en-US" sz="2400" dirty="0" smtClean="0"/>
              <a:t> file created by </a:t>
            </a:r>
            <a:r>
              <a:rPr lang="en-US" sz="2400" dirty="0" err="1" smtClean="0"/>
              <a:t>WordPress</a:t>
            </a:r>
            <a:r>
              <a:rPr lang="en-US" sz="2400" dirty="0" smtClean="0"/>
              <a:t> to decide if the URL is something handled by the web server or to be turned into a </a:t>
            </a:r>
            <a:r>
              <a:rPr lang="en-US" sz="2400" dirty="0" err="1" smtClean="0"/>
              <a:t>WordPress</a:t>
            </a:r>
            <a:r>
              <a:rPr lang="en-US" sz="2400" dirty="0" smtClean="0"/>
              <a:t> content query.</a:t>
            </a:r>
          </a:p>
          <a:p>
            <a:r>
              <a:rPr lang="en-US" sz="2400" dirty="0" smtClean="0"/>
              <a:t>The web server starts by loading the </a:t>
            </a:r>
            <a:r>
              <a:rPr lang="en-US" sz="2400" dirty="0" err="1" smtClean="0"/>
              <a:t>WordPress</a:t>
            </a:r>
            <a:r>
              <a:rPr lang="en-US" sz="2400" dirty="0" smtClean="0"/>
              <a:t> core through </a:t>
            </a:r>
            <a:r>
              <a:rPr lang="en-US" sz="2400" i="1" dirty="0" smtClean="0">
                <a:solidFill>
                  <a:srgbClr val="C00000"/>
                </a:solidFill>
                <a:latin typeface="Consolas" pitchFamily="49" charset="0"/>
              </a:rPr>
              <a:t>index.php</a:t>
            </a:r>
            <a:r>
              <a:rPr lang="en-US" sz="2400" dirty="0" smtClean="0"/>
              <a:t> to begin the setup for the Loop.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index.php</a:t>
            </a:r>
            <a:endParaRPr lang="en-US" dirty="0"/>
          </a:p>
        </p:txBody>
      </p:sp>
      <p:sp>
        <p:nvSpPr>
          <p:cNvPr id="4" name="Rectangle 3"/>
          <p:cNvSpPr/>
          <p:nvPr/>
        </p:nvSpPr>
        <p:spPr>
          <a:xfrm>
            <a:off x="457200" y="1800285"/>
            <a:ext cx="8229600" cy="452431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&lt;?</a:t>
            </a:r>
            <a:r>
              <a:rPr lang="en-US" sz="1600" dirty="0" err="1" smtClean="0">
                <a:solidFill>
                  <a:srgbClr val="569CD6"/>
                </a:solidFill>
                <a:latin typeface="Consolas"/>
              </a:rPr>
              <a:t>php</a:t>
            </a:r>
            <a:endParaRPr lang="en-US" sz="1600" dirty="0" smtClean="0">
              <a:solidFill>
                <a:srgbClr val="D4D4D4"/>
              </a:solidFill>
              <a:latin typeface="Consolas"/>
            </a:endParaRPr>
          </a:p>
          <a:p>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 Front to the </a:t>
            </a:r>
            <a:r>
              <a:rPr lang="en-US" sz="1600" dirty="0" err="1" smtClean="0">
                <a:solidFill>
                  <a:srgbClr val="6A9955"/>
                </a:solidFill>
                <a:latin typeface="Consolas"/>
              </a:rPr>
              <a:t>WordPress</a:t>
            </a:r>
            <a:r>
              <a:rPr lang="en-US" sz="1600" dirty="0" smtClean="0">
                <a:solidFill>
                  <a:srgbClr val="6A9955"/>
                </a:solidFill>
                <a:latin typeface="Consolas"/>
              </a:rPr>
              <a:t> application. This file </a:t>
            </a:r>
            <a:r>
              <a:rPr lang="en-US" sz="1600" dirty="0" smtClean="0">
                <a:solidFill>
                  <a:srgbClr val="6A9955"/>
                </a:solidFill>
                <a:latin typeface="Consolas"/>
              </a:rPr>
              <a:t>doesn't </a:t>
            </a:r>
            <a:r>
              <a:rPr lang="en-US" sz="1600" dirty="0" smtClean="0">
                <a:solidFill>
                  <a:srgbClr val="6A9955"/>
                </a:solidFill>
                <a:latin typeface="Consolas"/>
              </a:rPr>
              <a:t>do anything, but loads</a:t>
            </a:r>
            <a:endParaRPr lang="en-US" sz="1600" dirty="0" smtClean="0">
              <a:solidFill>
                <a:srgbClr val="D4D4D4"/>
              </a:solidFill>
              <a:latin typeface="Consolas"/>
            </a:endParaRPr>
          </a:p>
          <a:p>
            <a:r>
              <a:rPr lang="en-US" sz="1600" dirty="0" smtClean="0">
                <a:solidFill>
                  <a:srgbClr val="6A9955"/>
                </a:solidFill>
                <a:latin typeface="Consolas"/>
              </a:rPr>
              <a:t> * wp-blog-header.php which does and tells </a:t>
            </a:r>
            <a:r>
              <a:rPr lang="en-US" sz="1600" dirty="0" err="1" smtClean="0">
                <a:solidFill>
                  <a:srgbClr val="6A9955"/>
                </a:solidFill>
                <a:latin typeface="Consolas"/>
              </a:rPr>
              <a:t>WordPress</a:t>
            </a:r>
            <a:r>
              <a:rPr lang="en-US" sz="1600" dirty="0" smtClean="0">
                <a:solidFill>
                  <a:srgbClr val="6A9955"/>
                </a:solidFill>
                <a:latin typeface="Consolas"/>
              </a:rPr>
              <a:t> to load the theme.</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@package</a:t>
            </a:r>
            <a:r>
              <a:rPr lang="en-US" sz="1600" dirty="0" smtClean="0">
                <a:solidFill>
                  <a:srgbClr val="6A9955"/>
                </a:solidFill>
                <a:latin typeface="Consolas"/>
              </a:rPr>
              <a:t> </a:t>
            </a:r>
            <a:r>
              <a:rPr lang="en-US" sz="1600" dirty="0" err="1" smtClean="0">
                <a:solidFill>
                  <a:srgbClr val="6A9955"/>
                </a:solidFill>
                <a:latin typeface="Consolas"/>
              </a:rPr>
              <a:t>WordPress</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 Tells </a:t>
            </a:r>
            <a:r>
              <a:rPr lang="en-US" sz="1600" dirty="0" err="1" smtClean="0">
                <a:solidFill>
                  <a:srgbClr val="6A9955"/>
                </a:solidFill>
                <a:latin typeface="Consolas"/>
              </a:rPr>
              <a:t>WordPress</a:t>
            </a:r>
            <a:r>
              <a:rPr lang="en-US" sz="1600" dirty="0" smtClean="0">
                <a:solidFill>
                  <a:srgbClr val="6A9955"/>
                </a:solidFill>
                <a:latin typeface="Consolas"/>
              </a:rPr>
              <a:t> to load the </a:t>
            </a:r>
            <a:r>
              <a:rPr lang="en-US" sz="1600" dirty="0" err="1" smtClean="0">
                <a:solidFill>
                  <a:srgbClr val="6A9955"/>
                </a:solidFill>
                <a:latin typeface="Consolas"/>
              </a:rPr>
              <a:t>WordPress</a:t>
            </a:r>
            <a:r>
              <a:rPr lang="en-US" sz="1600" dirty="0" smtClean="0">
                <a:solidFill>
                  <a:srgbClr val="6A9955"/>
                </a:solidFill>
                <a:latin typeface="Consolas"/>
              </a:rPr>
              <a:t> theme and output it.</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a:t>
            </a:r>
            <a:r>
              <a:rPr lang="en-US" sz="1600" dirty="0" err="1" smtClean="0">
                <a:solidFill>
                  <a:srgbClr val="569CD6"/>
                </a:solidFill>
                <a:latin typeface="Consolas"/>
              </a:rPr>
              <a:t>var</a:t>
            </a:r>
            <a:r>
              <a:rPr lang="en-US" sz="1600" dirty="0" smtClean="0">
                <a:solidFill>
                  <a:srgbClr val="6A9955"/>
                </a:solidFill>
                <a:latin typeface="Consolas"/>
              </a:rPr>
              <a:t> </a:t>
            </a:r>
            <a:r>
              <a:rPr lang="en-US" sz="1600" dirty="0" err="1" smtClean="0">
                <a:solidFill>
                  <a:srgbClr val="569CD6"/>
                </a:solidFill>
                <a:latin typeface="Consolas"/>
              </a:rPr>
              <a:t>bool</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DCDCAA"/>
                </a:solidFill>
                <a:latin typeface="Consolas"/>
              </a:rPr>
              <a:t>define</a:t>
            </a:r>
            <a:r>
              <a:rPr lang="en-US" sz="1600" dirty="0" smtClean="0">
                <a:solidFill>
                  <a:srgbClr val="D4D4D4"/>
                </a:solidFill>
                <a:latin typeface="Consolas"/>
              </a:rPr>
              <a:t>( </a:t>
            </a:r>
            <a:r>
              <a:rPr lang="en-US" sz="1600" dirty="0" smtClean="0">
                <a:solidFill>
                  <a:srgbClr val="CE9178"/>
                </a:solidFill>
                <a:latin typeface="Consolas"/>
              </a:rPr>
              <a:t>'WP_USE_THEMES'</a:t>
            </a:r>
            <a:r>
              <a:rPr lang="en-US" sz="1600" dirty="0" smtClean="0">
                <a:solidFill>
                  <a:srgbClr val="D4D4D4"/>
                </a:solidFill>
                <a:latin typeface="Consolas"/>
              </a:rPr>
              <a:t>, </a:t>
            </a:r>
            <a:r>
              <a:rPr lang="en-US" sz="1600" dirty="0" smtClean="0">
                <a:solidFill>
                  <a:srgbClr val="569CD6"/>
                </a:solidFill>
                <a:latin typeface="Consolas"/>
              </a:rPr>
              <a:t>true</a:t>
            </a:r>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6A9955"/>
                </a:solidFill>
                <a:latin typeface="Consolas"/>
              </a:rPr>
              <a:t>/** Loads the </a:t>
            </a:r>
            <a:r>
              <a:rPr lang="en-US" sz="1600" dirty="0" err="1" smtClean="0">
                <a:solidFill>
                  <a:srgbClr val="6A9955"/>
                </a:solidFill>
                <a:latin typeface="Consolas"/>
              </a:rPr>
              <a:t>WordPress</a:t>
            </a:r>
            <a:r>
              <a:rPr lang="en-US" sz="1600" dirty="0" smtClean="0">
                <a:solidFill>
                  <a:srgbClr val="6A9955"/>
                </a:solidFill>
                <a:latin typeface="Consolas"/>
              </a:rPr>
              <a:t> Environment and Template */</a:t>
            </a:r>
            <a:endParaRPr lang="en-US" sz="1600" dirty="0" smtClean="0">
              <a:solidFill>
                <a:srgbClr val="D4D4D4"/>
              </a:solidFill>
              <a:latin typeface="Consolas"/>
            </a:endParaRPr>
          </a:p>
          <a:p>
            <a:r>
              <a:rPr lang="en-US" sz="1600" dirty="0" smtClean="0">
                <a:solidFill>
                  <a:srgbClr val="C586C0"/>
                </a:solidFill>
                <a:latin typeface="Consolas"/>
              </a:rPr>
              <a:t>require</a:t>
            </a:r>
            <a:r>
              <a:rPr lang="en-US" sz="1600" dirty="0" smtClean="0">
                <a:solidFill>
                  <a:srgbClr val="D4D4D4"/>
                </a:solidFill>
                <a:latin typeface="Consolas"/>
              </a:rPr>
              <a:t> </a:t>
            </a:r>
            <a:r>
              <a:rPr lang="en-US" sz="1600" dirty="0" smtClean="0">
                <a:solidFill>
                  <a:srgbClr val="569CD6"/>
                </a:solidFill>
                <a:latin typeface="Consolas"/>
              </a:rPr>
              <a:t>__DIR__</a:t>
            </a:r>
            <a:r>
              <a:rPr lang="en-US" sz="1600" dirty="0" smtClean="0">
                <a:solidFill>
                  <a:srgbClr val="D4D4D4"/>
                </a:solidFill>
                <a:latin typeface="Consolas"/>
              </a:rPr>
              <a:t> . </a:t>
            </a:r>
            <a:r>
              <a:rPr lang="en-US" sz="1600" dirty="0" smtClean="0">
                <a:solidFill>
                  <a:srgbClr val="CE9178"/>
                </a:solidFill>
                <a:latin typeface="Consolas"/>
              </a:rPr>
              <a:t>'/wp-blog-header.php'</a:t>
            </a:r>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wp-blog-header.php</a:t>
            </a:r>
            <a:endParaRPr lang="en-US" dirty="0"/>
          </a:p>
        </p:txBody>
      </p:sp>
      <p:sp>
        <p:nvSpPr>
          <p:cNvPr id="4" name="Rectangle 3"/>
          <p:cNvSpPr/>
          <p:nvPr/>
        </p:nvSpPr>
        <p:spPr>
          <a:xfrm>
            <a:off x="457200" y="1676400"/>
            <a:ext cx="8229600" cy="4770537"/>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&lt;?</a:t>
            </a:r>
            <a:r>
              <a:rPr lang="en-US" sz="1600" dirty="0" err="1" smtClean="0">
                <a:solidFill>
                  <a:srgbClr val="569CD6"/>
                </a:solidFill>
                <a:latin typeface="Consolas"/>
              </a:rPr>
              <a:t>php</a:t>
            </a:r>
            <a:endParaRPr lang="en-US" sz="1600" dirty="0" smtClean="0">
              <a:solidFill>
                <a:srgbClr val="D4D4D4"/>
              </a:solidFill>
              <a:latin typeface="Consolas"/>
            </a:endParaRPr>
          </a:p>
          <a:p>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 Loads the </a:t>
            </a:r>
            <a:r>
              <a:rPr lang="en-US" sz="1600" dirty="0" err="1" smtClean="0">
                <a:solidFill>
                  <a:srgbClr val="6A9955"/>
                </a:solidFill>
                <a:latin typeface="Consolas"/>
              </a:rPr>
              <a:t>WordPress</a:t>
            </a:r>
            <a:r>
              <a:rPr lang="en-US" sz="1600" dirty="0" smtClean="0">
                <a:solidFill>
                  <a:srgbClr val="6A9955"/>
                </a:solidFill>
                <a:latin typeface="Consolas"/>
              </a:rPr>
              <a:t> environment and template.</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@package</a:t>
            </a:r>
            <a:r>
              <a:rPr lang="en-US" sz="1600" dirty="0" smtClean="0">
                <a:solidFill>
                  <a:srgbClr val="6A9955"/>
                </a:solidFill>
                <a:latin typeface="Consolas"/>
              </a:rPr>
              <a:t> </a:t>
            </a:r>
            <a:r>
              <a:rPr lang="en-US" sz="1600" dirty="0" err="1" smtClean="0">
                <a:solidFill>
                  <a:srgbClr val="6A9955"/>
                </a:solidFill>
                <a:latin typeface="Consolas"/>
              </a:rPr>
              <a:t>WordPress</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C586C0"/>
                </a:solidFill>
                <a:latin typeface="Consolas"/>
              </a:rPr>
              <a:t>if</a:t>
            </a:r>
            <a:r>
              <a:rPr lang="en-US" sz="1600" dirty="0" smtClean="0">
                <a:solidFill>
                  <a:srgbClr val="D4D4D4"/>
                </a:solidFill>
                <a:latin typeface="Consolas"/>
              </a:rPr>
              <a:t> ( ! </a:t>
            </a:r>
            <a:r>
              <a:rPr lang="en-US" sz="1600" dirty="0" err="1" smtClean="0">
                <a:solidFill>
                  <a:srgbClr val="DCDCAA"/>
                </a:solidFill>
                <a:latin typeface="Consolas"/>
              </a:rPr>
              <a:t>isset</a:t>
            </a: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wp_did_header</a:t>
            </a:r>
            <a:r>
              <a:rPr lang="en-US" sz="1600" dirty="0" smtClean="0">
                <a:solidFill>
                  <a:srgbClr val="D4D4D4"/>
                </a:solidFill>
                <a:latin typeface="Consolas"/>
              </a:rPr>
              <a:t> ) )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wp_did_header</a:t>
            </a:r>
            <a:r>
              <a:rPr lang="en-US" sz="1600" dirty="0" smtClean="0">
                <a:solidFill>
                  <a:srgbClr val="D4D4D4"/>
                </a:solidFill>
                <a:latin typeface="Consolas"/>
              </a:rPr>
              <a:t> = </a:t>
            </a:r>
            <a:r>
              <a:rPr lang="en-US" sz="1600" dirty="0" smtClean="0">
                <a:solidFill>
                  <a:srgbClr val="569CD6"/>
                </a:solidFill>
                <a:latin typeface="Consolas"/>
              </a:rPr>
              <a:t>true</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6A9955"/>
                </a:solidFill>
                <a:latin typeface="Consolas"/>
              </a:rPr>
              <a:t>// Load the </a:t>
            </a:r>
            <a:r>
              <a:rPr lang="en-US" sz="1600" dirty="0" err="1" smtClean="0">
                <a:solidFill>
                  <a:srgbClr val="6A9955"/>
                </a:solidFill>
                <a:latin typeface="Consolas"/>
              </a:rPr>
              <a:t>WordPress</a:t>
            </a:r>
            <a:r>
              <a:rPr lang="en-US" sz="1600" dirty="0" smtClean="0">
                <a:solidFill>
                  <a:srgbClr val="6A9955"/>
                </a:solidFill>
                <a:latin typeface="Consolas"/>
              </a:rPr>
              <a:t> library.</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C586C0"/>
                </a:solidFill>
                <a:latin typeface="Consolas"/>
              </a:rPr>
              <a:t>require_once</a:t>
            </a:r>
            <a:r>
              <a:rPr lang="en-US" sz="1600" dirty="0" smtClean="0">
                <a:solidFill>
                  <a:srgbClr val="D4D4D4"/>
                </a:solidFill>
                <a:latin typeface="Consolas"/>
              </a:rPr>
              <a:t> </a:t>
            </a:r>
            <a:r>
              <a:rPr lang="en-US" sz="1600" dirty="0" smtClean="0">
                <a:solidFill>
                  <a:srgbClr val="569CD6"/>
                </a:solidFill>
                <a:latin typeface="Consolas"/>
              </a:rPr>
              <a:t>__DIR__</a:t>
            </a:r>
            <a:r>
              <a:rPr lang="en-US" sz="1600" dirty="0" smtClean="0">
                <a:solidFill>
                  <a:srgbClr val="D4D4D4"/>
                </a:solidFill>
                <a:latin typeface="Consolas"/>
              </a:rPr>
              <a:t> . </a:t>
            </a:r>
            <a:r>
              <a:rPr lang="en-US" sz="1600" dirty="0" smtClean="0">
                <a:solidFill>
                  <a:srgbClr val="CE9178"/>
                </a:solidFill>
                <a:latin typeface="Consolas"/>
              </a:rPr>
              <a:t>'/wp-load.php'</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6A9955"/>
                </a:solidFill>
                <a:latin typeface="Consolas"/>
              </a:rPr>
              <a:t>// Set up the </a:t>
            </a:r>
            <a:r>
              <a:rPr lang="en-US" sz="1600" dirty="0" err="1" smtClean="0">
                <a:solidFill>
                  <a:srgbClr val="6A9955"/>
                </a:solidFill>
                <a:latin typeface="Consolas"/>
              </a:rPr>
              <a:t>WordPress</a:t>
            </a:r>
            <a:r>
              <a:rPr lang="en-US" sz="1600" dirty="0" smtClean="0">
                <a:solidFill>
                  <a:srgbClr val="6A9955"/>
                </a:solidFill>
                <a:latin typeface="Consolas"/>
              </a:rPr>
              <a:t> query.</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CDCAA"/>
                </a:solidFill>
                <a:latin typeface="Consolas"/>
              </a:rPr>
              <a:t>wp</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6A9955"/>
                </a:solidFill>
                <a:latin typeface="Consolas"/>
              </a:rPr>
              <a:t>// Load the theme template.</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C586C0"/>
                </a:solidFill>
                <a:latin typeface="Consolas"/>
              </a:rPr>
              <a:t>require_once</a:t>
            </a:r>
            <a:r>
              <a:rPr lang="en-US" sz="1600" dirty="0" smtClean="0">
                <a:solidFill>
                  <a:srgbClr val="D4D4D4"/>
                </a:solidFill>
                <a:latin typeface="Consolas"/>
              </a:rPr>
              <a:t> ABSPATH . WPINC . </a:t>
            </a:r>
            <a:r>
              <a:rPr lang="en-US" sz="1600" dirty="0" smtClean="0">
                <a:solidFill>
                  <a:srgbClr val="CE9178"/>
                </a:solidFill>
                <a:latin typeface="Consolas"/>
              </a:rPr>
              <a:t>'/template-loader.php'</a:t>
            </a:r>
            <a:r>
              <a:rPr lang="en-US" sz="1600" dirty="0" smtClean="0">
                <a:solidFill>
                  <a:srgbClr val="D4D4D4"/>
                </a:solidFill>
                <a:latin typeface="Consolas"/>
              </a:rPr>
              <a:t>;</a:t>
            </a:r>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wp-load.php</a:t>
            </a:r>
            <a:endParaRPr lang="en-US" dirty="0"/>
          </a:p>
        </p:txBody>
      </p:sp>
      <p:sp>
        <p:nvSpPr>
          <p:cNvPr id="4" name="Rectangle 3"/>
          <p:cNvSpPr/>
          <p:nvPr/>
        </p:nvSpPr>
        <p:spPr>
          <a:xfrm>
            <a:off x="457200" y="1676400"/>
            <a:ext cx="8229600" cy="4616648"/>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 If wp-config.php exists in the </a:t>
            </a:r>
            <a:r>
              <a:rPr lang="en-US" sz="1600" dirty="0" err="1" smtClean="0">
                <a:solidFill>
                  <a:srgbClr val="6A9955"/>
                </a:solidFill>
                <a:latin typeface="Consolas"/>
              </a:rPr>
              <a:t>WordPress</a:t>
            </a:r>
            <a:r>
              <a:rPr lang="en-US" sz="1600" dirty="0" smtClean="0">
                <a:solidFill>
                  <a:srgbClr val="6A9955"/>
                </a:solidFill>
                <a:latin typeface="Consolas"/>
              </a:rPr>
              <a:t> root, or if it exists in the root and wp-settings.php</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6A9955"/>
                </a:solidFill>
                <a:latin typeface="Consolas"/>
              </a:rPr>
              <a:t>doesn't</a:t>
            </a:r>
            <a:r>
              <a:rPr lang="en-US" sz="1600" dirty="0" smtClean="0">
                <a:solidFill>
                  <a:srgbClr val="6A9955"/>
                </a:solidFill>
                <a:latin typeface="Consolas"/>
              </a:rPr>
              <a:t>, load wp-config.php. The secondary check for wp-settings.php has the added benefit</a:t>
            </a:r>
            <a:endParaRPr lang="en-US" sz="1600" dirty="0" smtClean="0">
              <a:solidFill>
                <a:srgbClr val="D4D4D4"/>
              </a:solidFill>
              <a:latin typeface="Consolas"/>
            </a:endParaRPr>
          </a:p>
          <a:p>
            <a:r>
              <a:rPr lang="en-US" sz="1600" dirty="0" smtClean="0">
                <a:solidFill>
                  <a:srgbClr val="6A9955"/>
                </a:solidFill>
                <a:latin typeface="Consolas"/>
              </a:rPr>
              <a:t> * of avoiding cases where the current directory is a nested installation, e.g. / is </a:t>
            </a:r>
            <a:r>
              <a:rPr lang="en-US" sz="1600" dirty="0" err="1" smtClean="0">
                <a:solidFill>
                  <a:srgbClr val="6A9955"/>
                </a:solidFill>
                <a:latin typeface="Consolas"/>
              </a:rPr>
              <a:t>WordPress</a:t>
            </a:r>
            <a:r>
              <a:rPr lang="en-US" sz="1600" dirty="0" smtClean="0">
                <a:solidFill>
                  <a:srgbClr val="6A9955"/>
                </a:solidFill>
                <a:latin typeface="Consolas"/>
              </a:rPr>
              <a:t>(a)</a:t>
            </a:r>
            <a:endParaRPr lang="en-US" sz="1600" dirty="0" smtClean="0">
              <a:solidFill>
                <a:srgbClr val="D4D4D4"/>
              </a:solidFill>
              <a:latin typeface="Consolas"/>
            </a:endParaRPr>
          </a:p>
          <a:p>
            <a:r>
              <a:rPr lang="en-US" sz="1600" dirty="0" smtClean="0">
                <a:solidFill>
                  <a:srgbClr val="6A9955"/>
                </a:solidFill>
                <a:latin typeface="Consolas"/>
              </a:rPr>
              <a:t> * and /blog/ is </a:t>
            </a:r>
            <a:r>
              <a:rPr lang="en-US" sz="1600" dirty="0" err="1" smtClean="0">
                <a:solidFill>
                  <a:srgbClr val="6A9955"/>
                </a:solidFill>
                <a:latin typeface="Consolas"/>
              </a:rPr>
              <a:t>WordPress</a:t>
            </a:r>
            <a:r>
              <a:rPr lang="en-US" sz="1600" dirty="0" smtClean="0">
                <a:solidFill>
                  <a:srgbClr val="6A9955"/>
                </a:solidFill>
                <a:latin typeface="Consolas"/>
              </a:rPr>
              <a:t>(b).</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If neither set of conditions is true, initiate loading the setup process.</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C586C0"/>
                </a:solidFill>
                <a:latin typeface="Consolas"/>
              </a:rPr>
              <a:t>if</a:t>
            </a:r>
            <a:r>
              <a:rPr lang="en-US" sz="1600" dirty="0" smtClean="0">
                <a:solidFill>
                  <a:srgbClr val="D4D4D4"/>
                </a:solidFill>
                <a:latin typeface="Consolas"/>
              </a:rPr>
              <a:t> ( </a:t>
            </a:r>
            <a:r>
              <a:rPr lang="en-US" sz="1600" dirty="0" err="1" smtClean="0">
                <a:solidFill>
                  <a:srgbClr val="DCDCAA"/>
                </a:solidFill>
                <a:latin typeface="Consolas"/>
              </a:rPr>
              <a:t>file_exists</a:t>
            </a:r>
            <a:r>
              <a:rPr lang="en-US" sz="1600" dirty="0" smtClean="0">
                <a:solidFill>
                  <a:srgbClr val="D4D4D4"/>
                </a:solidFill>
                <a:latin typeface="Consolas"/>
              </a:rPr>
              <a:t>( ABSPATH . </a:t>
            </a:r>
            <a:r>
              <a:rPr lang="en-US" sz="1600" dirty="0" smtClean="0">
                <a:solidFill>
                  <a:srgbClr val="CE9178"/>
                </a:solidFill>
                <a:latin typeface="Consolas"/>
              </a:rPr>
              <a:t>'wp-config.php'</a:t>
            </a:r>
            <a:r>
              <a:rPr lang="en-US" sz="1600" dirty="0" smtClean="0">
                <a:solidFill>
                  <a:srgbClr val="D4D4D4"/>
                </a:solidFill>
                <a:latin typeface="Consolas"/>
              </a:rPr>
              <a:t> </a:t>
            </a:r>
            <a:r>
              <a:rPr lang="en-US" sz="1600" dirty="0" smtClean="0">
                <a:solidFill>
                  <a:srgbClr val="D4D4D4"/>
                </a:solidFill>
                <a:latin typeface="Consolas"/>
              </a:rPr>
              <a:t>) )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6A9955"/>
                </a:solidFill>
                <a:latin typeface="Consolas"/>
              </a:rPr>
              <a:t>/** The </a:t>
            </a:r>
            <a:r>
              <a:rPr lang="en-US" sz="1600" dirty="0" err="1" smtClean="0">
                <a:solidFill>
                  <a:srgbClr val="6A9955"/>
                </a:solidFill>
                <a:latin typeface="Consolas"/>
              </a:rPr>
              <a:t>config</a:t>
            </a:r>
            <a:r>
              <a:rPr lang="en-US" sz="1600" dirty="0" smtClean="0">
                <a:solidFill>
                  <a:srgbClr val="6A9955"/>
                </a:solidFill>
                <a:latin typeface="Consolas"/>
              </a:rPr>
              <a:t> file resides in ABSPATH */</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C586C0"/>
                </a:solidFill>
                <a:latin typeface="Consolas"/>
              </a:rPr>
              <a:t>require_once</a:t>
            </a:r>
            <a:r>
              <a:rPr lang="en-US" sz="1600" dirty="0" smtClean="0">
                <a:solidFill>
                  <a:srgbClr val="D4D4D4"/>
                </a:solidFill>
                <a:latin typeface="Consolas"/>
              </a:rPr>
              <a:t> ABSPATH . </a:t>
            </a:r>
            <a:r>
              <a:rPr lang="en-US" sz="1600" dirty="0" smtClean="0">
                <a:solidFill>
                  <a:srgbClr val="CE9178"/>
                </a:solidFill>
                <a:latin typeface="Consolas"/>
              </a:rPr>
              <a:t>'wp-config.php'</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wp-config.php</a:t>
            </a:r>
            <a:endParaRPr lang="en-US" dirty="0"/>
          </a:p>
        </p:txBody>
      </p:sp>
      <p:sp>
        <p:nvSpPr>
          <p:cNvPr id="4" name="Rectangle 3"/>
          <p:cNvSpPr/>
          <p:nvPr/>
        </p:nvSpPr>
        <p:spPr>
          <a:xfrm>
            <a:off x="457200" y="2509897"/>
            <a:ext cx="8229600" cy="2062103"/>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6A9955"/>
                </a:solidFill>
                <a:latin typeface="Consolas"/>
              </a:rPr>
              <a:t>...</a:t>
            </a:r>
          </a:p>
          <a:p>
            <a:r>
              <a:rPr lang="en-US" sz="1600" dirty="0" smtClean="0">
                <a:solidFill>
                  <a:srgbClr val="6A9955"/>
                </a:solidFill>
                <a:latin typeface="Consolas"/>
              </a:rPr>
              <a:t>/** Absolute path to the </a:t>
            </a:r>
            <a:r>
              <a:rPr lang="en-US" sz="1600" dirty="0" err="1" smtClean="0">
                <a:solidFill>
                  <a:srgbClr val="6A9955"/>
                </a:solidFill>
                <a:latin typeface="Consolas"/>
              </a:rPr>
              <a:t>WordPress</a:t>
            </a:r>
            <a:r>
              <a:rPr lang="en-US" sz="1600" dirty="0" smtClean="0">
                <a:solidFill>
                  <a:srgbClr val="6A9955"/>
                </a:solidFill>
                <a:latin typeface="Consolas"/>
              </a:rPr>
              <a:t> directory. */</a:t>
            </a:r>
            <a:endParaRPr lang="en-US" sz="1600" dirty="0" smtClean="0">
              <a:solidFill>
                <a:srgbClr val="D4D4D4"/>
              </a:solidFill>
              <a:latin typeface="Consolas"/>
            </a:endParaRPr>
          </a:p>
          <a:p>
            <a:r>
              <a:rPr lang="en-US" sz="1600" dirty="0" smtClean="0">
                <a:solidFill>
                  <a:srgbClr val="C586C0"/>
                </a:solidFill>
                <a:latin typeface="Consolas"/>
              </a:rPr>
              <a:t>if</a:t>
            </a:r>
            <a:r>
              <a:rPr lang="en-US" sz="1600" dirty="0" smtClean="0">
                <a:solidFill>
                  <a:srgbClr val="D4D4D4"/>
                </a:solidFill>
                <a:latin typeface="Consolas"/>
              </a:rPr>
              <a:t> ( ! </a:t>
            </a:r>
            <a:r>
              <a:rPr lang="en-US" sz="1600" dirty="0" smtClean="0">
                <a:solidFill>
                  <a:srgbClr val="DCDCAA"/>
                </a:solidFill>
                <a:latin typeface="Consolas"/>
              </a:rPr>
              <a:t>defined</a:t>
            </a:r>
            <a:r>
              <a:rPr lang="en-US" sz="1600" dirty="0" smtClean="0">
                <a:solidFill>
                  <a:srgbClr val="D4D4D4"/>
                </a:solidFill>
                <a:latin typeface="Consolas"/>
              </a:rPr>
              <a:t>( </a:t>
            </a:r>
            <a:r>
              <a:rPr lang="en-US" sz="1600" dirty="0" smtClean="0">
                <a:solidFill>
                  <a:srgbClr val="CE9178"/>
                </a:solidFill>
                <a:latin typeface="Consolas"/>
              </a:rPr>
              <a:t>'ABSPATH'</a:t>
            </a:r>
            <a:r>
              <a:rPr lang="en-US" sz="1600" dirty="0" smtClean="0">
                <a:solidFill>
                  <a:srgbClr val="D4D4D4"/>
                </a:solidFill>
                <a:latin typeface="Consolas"/>
              </a:rPr>
              <a:t> </a:t>
            </a:r>
            <a:r>
              <a:rPr lang="en-US" sz="1600" dirty="0" smtClean="0">
                <a:solidFill>
                  <a:srgbClr val="D4D4D4"/>
                </a:solidFill>
                <a:latin typeface="Consolas"/>
              </a:rPr>
              <a:t>) ) {</a:t>
            </a:r>
          </a:p>
          <a:p>
            <a:r>
              <a:rPr lang="en-US" sz="1600" dirty="0" smtClean="0">
                <a:solidFill>
                  <a:srgbClr val="D4D4D4"/>
                </a:solidFill>
                <a:latin typeface="Consolas"/>
              </a:rPr>
              <a:t>    </a:t>
            </a:r>
            <a:r>
              <a:rPr lang="en-US" sz="1600" dirty="0" smtClean="0">
                <a:solidFill>
                  <a:srgbClr val="DCDCAA"/>
                </a:solidFill>
                <a:latin typeface="Consolas"/>
              </a:rPr>
              <a:t>define</a:t>
            </a:r>
            <a:r>
              <a:rPr lang="en-US" sz="1600" dirty="0" smtClean="0">
                <a:solidFill>
                  <a:srgbClr val="D4D4D4"/>
                </a:solidFill>
                <a:latin typeface="Consolas"/>
              </a:rPr>
              <a:t>( </a:t>
            </a:r>
            <a:r>
              <a:rPr lang="en-US" sz="1600" dirty="0" smtClean="0">
                <a:solidFill>
                  <a:srgbClr val="CE9178"/>
                </a:solidFill>
                <a:latin typeface="Consolas"/>
              </a:rPr>
              <a:t>'ABSPATH'</a:t>
            </a:r>
            <a:r>
              <a:rPr lang="en-US" sz="1600" dirty="0" smtClean="0">
                <a:solidFill>
                  <a:srgbClr val="D4D4D4"/>
                </a:solidFill>
                <a:latin typeface="Consolas"/>
              </a:rPr>
              <a:t>, </a:t>
            </a:r>
            <a:r>
              <a:rPr lang="en-US" sz="1600" dirty="0" smtClean="0">
                <a:solidFill>
                  <a:srgbClr val="569CD6"/>
                </a:solidFill>
                <a:latin typeface="Consolas"/>
              </a:rPr>
              <a:t>__DIR__</a:t>
            </a:r>
            <a:r>
              <a:rPr lang="en-US" sz="1600" dirty="0" smtClean="0">
                <a:solidFill>
                  <a:srgbClr val="D4D4D4"/>
                </a:solidFill>
                <a:latin typeface="Consolas"/>
              </a:rPr>
              <a:t> . </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a:t>
            </a: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6A9955"/>
                </a:solidFill>
                <a:latin typeface="Consolas"/>
              </a:rPr>
              <a:t>/** Sets up </a:t>
            </a:r>
            <a:r>
              <a:rPr lang="en-US" sz="1600" dirty="0" err="1" smtClean="0">
                <a:solidFill>
                  <a:srgbClr val="6A9955"/>
                </a:solidFill>
                <a:latin typeface="Consolas"/>
              </a:rPr>
              <a:t>WordPress</a:t>
            </a:r>
            <a:r>
              <a:rPr lang="en-US" sz="1600" dirty="0" smtClean="0">
                <a:solidFill>
                  <a:srgbClr val="6A9955"/>
                </a:solidFill>
                <a:latin typeface="Consolas"/>
              </a:rPr>
              <a:t> </a:t>
            </a:r>
            <a:r>
              <a:rPr lang="en-US" sz="1600" dirty="0" err="1" smtClean="0">
                <a:solidFill>
                  <a:srgbClr val="6A9955"/>
                </a:solidFill>
                <a:latin typeface="Consolas"/>
              </a:rPr>
              <a:t>vars</a:t>
            </a:r>
            <a:r>
              <a:rPr lang="en-US" sz="1600" dirty="0" smtClean="0">
                <a:solidFill>
                  <a:srgbClr val="6A9955"/>
                </a:solidFill>
                <a:latin typeface="Consolas"/>
              </a:rPr>
              <a:t> and included files. */</a:t>
            </a:r>
            <a:endParaRPr lang="en-US" sz="1600" dirty="0" smtClean="0">
              <a:solidFill>
                <a:srgbClr val="D4D4D4"/>
              </a:solidFill>
              <a:latin typeface="Consolas"/>
            </a:endParaRPr>
          </a:p>
          <a:p>
            <a:r>
              <a:rPr lang="en-US" sz="1600" dirty="0" err="1" smtClean="0">
                <a:solidFill>
                  <a:srgbClr val="C586C0"/>
                </a:solidFill>
                <a:latin typeface="Consolas"/>
              </a:rPr>
              <a:t>require_once</a:t>
            </a:r>
            <a:r>
              <a:rPr lang="en-US" sz="1600" dirty="0" smtClean="0">
                <a:solidFill>
                  <a:srgbClr val="D4D4D4"/>
                </a:solidFill>
                <a:latin typeface="Consolas"/>
              </a:rPr>
              <a:t> ABSPATH . </a:t>
            </a:r>
            <a:r>
              <a:rPr lang="en-US" sz="1600" dirty="0" smtClean="0">
                <a:solidFill>
                  <a:srgbClr val="CE9178"/>
                </a:solidFill>
                <a:latin typeface="Consolas"/>
              </a:rPr>
              <a:t>'wp-settings.php'</a:t>
            </a:r>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wp-settings.php</a:t>
            </a:r>
            <a:endParaRPr lang="en-US" dirty="0"/>
          </a:p>
        </p:txBody>
      </p:sp>
      <p:sp>
        <p:nvSpPr>
          <p:cNvPr id="4" name="Rectangle 3"/>
          <p:cNvSpPr/>
          <p:nvPr/>
        </p:nvSpPr>
        <p:spPr>
          <a:xfrm>
            <a:off x="457200" y="1398687"/>
            <a:ext cx="8229600" cy="5078313"/>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 Version information for the current </a:t>
            </a:r>
            <a:r>
              <a:rPr lang="en-US" sz="1600" dirty="0" err="1" smtClean="0">
                <a:solidFill>
                  <a:srgbClr val="6A9955"/>
                </a:solidFill>
                <a:latin typeface="Consolas"/>
              </a:rPr>
              <a:t>WordPress</a:t>
            </a:r>
            <a:r>
              <a:rPr lang="en-US" sz="1600" dirty="0" smtClean="0">
                <a:solidFill>
                  <a:srgbClr val="6A9955"/>
                </a:solidFill>
                <a:latin typeface="Consolas"/>
              </a:rPr>
              <a:t> release.</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These </a:t>
            </a:r>
            <a:r>
              <a:rPr lang="en-US" sz="1600" dirty="0" smtClean="0">
                <a:solidFill>
                  <a:srgbClr val="6A9955"/>
                </a:solidFill>
                <a:latin typeface="Consolas"/>
              </a:rPr>
              <a:t>can't </a:t>
            </a:r>
            <a:r>
              <a:rPr lang="en-US" sz="1600" dirty="0" smtClean="0">
                <a:solidFill>
                  <a:srgbClr val="6A9955"/>
                </a:solidFill>
                <a:latin typeface="Consolas"/>
              </a:rPr>
              <a:t>be directly globalized in version.php. When updating,</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6A9955"/>
                </a:solidFill>
                <a:latin typeface="Consolas"/>
              </a:rPr>
              <a:t>we're </a:t>
            </a:r>
            <a:r>
              <a:rPr lang="en-US" sz="1600" dirty="0" smtClean="0">
                <a:solidFill>
                  <a:srgbClr val="6A9955"/>
                </a:solidFill>
                <a:latin typeface="Consolas"/>
              </a:rPr>
              <a:t>including version.php from another installation and </a:t>
            </a:r>
            <a:r>
              <a:rPr lang="en-US" sz="1600" dirty="0" smtClean="0">
                <a:solidFill>
                  <a:srgbClr val="6A9955"/>
                </a:solidFill>
                <a:latin typeface="Consolas"/>
              </a:rPr>
              <a:t>don't </a:t>
            </a:r>
            <a:r>
              <a:rPr lang="en-US" sz="1600" dirty="0" smtClean="0">
                <a:solidFill>
                  <a:srgbClr val="6A9955"/>
                </a:solidFill>
                <a:latin typeface="Consolas"/>
              </a:rPr>
              <a:t>want</a:t>
            </a:r>
            <a:endParaRPr lang="en-US" sz="1600" dirty="0" smtClean="0">
              <a:solidFill>
                <a:srgbClr val="D4D4D4"/>
              </a:solidFill>
              <a:latin typeface="Consolas"/>
            </a:endParaRPr>
          </a:p>
          <a:p>
            <a:r>
              <a:rPr lang="en-US" sz="1600" dirty="0" smtClean="0">
                <a:solidFill>
                  <a:srgbClr val="6A9955"/>
                </a:solidFill>
                <a:latin typeface="Consolas"/>
              </a:rPr>
              <a:t> * these values to be overridden if already set.</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@global</a:t>
            </a:r>
            <a:r>
              <a:rPr lang="en-US" sz="1600" dirty="0" smtClean="0">
                <a:solidFill>
                  <a:srgbClr val="6A9955"/>
                </a:solidFill>
                <a:latin typeface="Consolas"/>
              </a:rPr>
              <a:t> </a:t>
            </a:r>
            <a:r>
              <a:rPr lang="en-US" sz="1600" dirty="0" smtClean="0">
                <a:solidFill>
                  <a:srgbClr val="569CD6"/>
                </a:solidFill>
                <a:latin typeface="Consolas"/>
              </a:rPr>
              <a:t>string</a:t>
            </a:r>
            <a:r>
              <a:rPr lang="en-US" sz="1600" dirty="0" smtClean="0">
                <a:solidFill>
                  <a:srgbClr val="6A9955"/>
                </a:solidFill>
                <a:latin typeface="Consolas"/>
              </a:rPr>
              <a:t> $</a:t>
            </a:r>
            <a:r>
              <a:rPr lang="en-US" sz="1600" dirty="0" err="1" smtClean="0">
                <a:solidFill>
                  <a:srgbClr val="6A9955"/>
                </a:solidFill>
                <a:latin typeface="Consolas"/>
              </a:rPr>
              <a:t>wp_version</a:t>
            </a:r>
            <a:r>
              <a:rPr lang="en-US" sz="1600" dirty="0" smtClean="0">
                <a:solidFill>
                  <a:srgbClr val="6A9955"/>
                </a:solidFill>
                <a:latin typeface="Consolas"/>
              </a:rPr>
              <a:t>             The </a:t>
            </a:r>
            <a:r>
              <a:rPr lang="en-US" sz="1600" dirty="0" err="1" smtClean="0">
                <a:solidFill>
                  <a:srgbClr val="6A9955"/>
                </a:solidFill>
                <a:latin typeface="Consolas"/>
              </a:rPr>
              <a:t>WordPress</a:t>
            </a:r>
            <a:r>
              <a:rPr lang="en-US" sz="1600" dirty="0" smtClean="0">
                <a:solidFill>
                  <a:srgbClr val="6A9955"/>
                </a:solidFill>
                <a:latin typeface="Consolas"/>
              </a:rPr>
              <a:t> version string.</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@global</a:t>
            </a:r>
            <a:r>
              <a:rPr lang="en-US" sz="1600" dirty="0" smtClean="0">
                <a:solidFill>
                  <a:srgbClr val="6A9955"/>
                </a:solidFill>
                <a:latin typeface="Consolas"/>
              </a:rPr>
              <a:t> </a:t>
            </a:r>
            <a:r>
              <a:rPr lang="en-US" sz="1600" dirty="0" err="1" smtClean="0">
                <a:solidFill>
                  <a:srgbClr val="569CD6"/>
                </a:solidFill>
                <a:latin typeface="Consolas"/>
              </a:rPr>
              <a:t>int</a:t>
            </a:r>
            <a:r>
              <a:rPr lang="en-US" sz="1600" dirty="0" smtClean="0">
                <a:solidFill>
                  <a:srgbClr val="6A9955"/>
                </a:solidFill>
                <a:latin typeface="Consolas"/>
              </a:rPr>
              <a:t>    $</a:t>
            </a:r>
            <a:r>
              <a:rPr lang="en-US" sz="1600" dirty="0" err="1" smtClean="0">
                <a:solidFill>
                  <a:srgbClr val="6A9955"/>
                </a:solidFill>
                <a:latin typeface="Consolas"/>
              </a:rPr>
              <a:t>wp_db_version</a:t>
            </a:r>
            <a:r>
              <a:rPr lang="en-US" sz="1600" dirty="0" smtClean="0">
                <a:solidFill>
                  <a:srgbClr val="6A9955"/>
                </a:solidFill>
                <a:latin typeface="Consolas"/>
              </a:rPr>
              <a:t>          </a:t>
            </a:r>
            <a:r>
              <a:rPr lang="en-US" sz="1600" dirty="0" err="1" smtClean="0">
                <a:solidFill>
                  <a:srgbClr val="6A9955"/>
                </a:solidFill>
                <a:latin typeface="Consolas"/>
              </a:rPr>
              <a:t>WordPress</a:t>
            </a:r>
            <a:r>
              <a:rPr lang="en-US" sz="1600" dirty="0" smtClean="0">
                <a:solidFill>
                  <a:srgbClr val="6A9955"/>
                </a:solidFill>
                <a:latin typeface="Consolas"/>
              </a:rPr>
              <a:t> database version.</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@global</a:t>
            </a:r>
            <a:r>
              <a:rPr lang="en-US" sz="1600" dirty="0" smtClean="0">
                <a:solidFill>
                  <a:srgbClr val="6A9955"/>
                </a:solidFill>
                <a:latin typeface="Consolas"/>
              </a:rPr>
              <a:t> </a:t>
            </a:r>
            <a:r>
              <a:rPr lang="en-US" sz="1600" dirty="0" smtClean="0">
                <a:solidFill>
                  <a:srgbClr val="569CD6"/>
                </a:solidFill>
                <a:latin typeface="Consolas"/>
              </a:rPr>
              <a:t>string</a:t>
            </a:r>
            <a:r>
              <a:rPr lang="en-US" sz="1600" dirty="0" smtClean="0">
                <a:solidFill>
                  <a:srgbClr val="6A9955"/>
                </a:solidFill>
                <a:latin typeface="Consolas"/>
              </a:rPr>
              <a:t> $</a:t>
            </a:r>
            <a:r>
              <a:rPr lang="en-US" sz="1600" dirty="0" err="1" smtClean="0">
                <a:solidFill>
                  <a:srgbClr val="6A9955"/>
                </a:solidFill>
                <a:latin typeface="Consolas"/>
              </a:rPr>
              <a:t>tinymce_version</a:t>
            </a:r>
            <a:r>
              <a:rPr lang="en-US" sz="1600" dirty="0" smtClean="0">
                <a:solidFill>
                  <a:srgbClr val="6A9955"/>
                </a:solidFill>
                <a:latin typeface="Consolas"/>
              </a:rPr>
              <a:t>        </a:t>
            </a:r>
            <a:r>
              <a:rPr lang="en-US" sz="1600" dirty="0" err="1" smtClean="0">
                <a:solidFill>
                  <a:srgbClr val="6A9955"/>
                </a:solidFill>
                <a:latin typeface="Consolas"/>
              </a:rPr>
              <a:t>TinyMCE</a:t>
            </a:r>
            <a:r>
              <a:rPr lang="en-US" sz="1600" dirty="0" smtClean="0">
                <a:solidFill>
                  <a:srgbClr val="6A9955"/>
                </a:solidFill>
                <a:latin typeface="Consolas"/>
              </a:rPr>
              <a:t> version.</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@global</a:t>
            </a:r>
            <a:r>
              <a:rPr lang="en-US" sz="1600" dirty="0" smtClean="0">
                <a:solidFill>
                  <a:srgbClr val="6A9955"/>
                </a:solidFill>
                <a:latin typeface="Consolas"/>
              </a:rPr>
              <a:t> </a:t>
            </a:r>
            <a:r>
              <a:rPr lang="en-US" sz="1600" dirty="0" smtClean="0">
                <a:solidFill>
                  <a:srgbClr val="569CD6"/>
                </a:solidFill>
                <a:latin typeface="Consolas"/>
              </a:rPr>
              <a:t>string</a:t>
            </a:r>
            <a:r>
              <a:rPr lang="en-US" sz="1600" dirty="0" smtClean="0">
                <a:solidFill>
                  <a:srgbClr val="6A9955"/>
                </a:solidFill>
                <a:latin typeface="Consolas"/>
              </a:rPr>
              <a:t> $</a:t>
            </a:r>
            <a:r>
              <a:rPr lang="en-US" sz="1600" dirty="0" err="1" smtClean="0">
                <a:solidFill>
                  <a:srgbClr val="6A9955"/>
                </a:solidFill>
                <a:latin typeface="Consolas"/>
              </a:rPr>
              <a:t>required_php_version</a:t>
            </a:r>
            <a:r>
              <a:rPr lang="en-US" sz="1600" dirty="0" smtClean="0">
                <a:solidFill>
                  <a:srgbClr val="6A9955"/>
                </a:solidFill>
                <a:latin typeface="Consolas"/>
              </a:rPr>
              <a:t>   The required PHP version string.</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@global</a:t>
            </a:r>
            <a:r>
              <a:rPr lang="en-US" sz="1600" dirty="0" smtClean="0">
                <a:solidFill>
                  <a:srgbClr val="6A9955"/>
                </a:solidFill>
                <a:latin typeface="Consolas"/>
              </a:rPr>
              <a:t> </a:t>
            </a:r>
            <a:r>
              <a:rPr lang="en-US" sz="1600" dirty="0" smtClean="0">
                <a:solidFill>
                  <a:srgbClr val="569CD6"/>
                </a:solidFill>
                <a:latin typeface="Consolas"/>
              </a:rPr>
              <a:t>string</a:t>
            </a:r>
            <a:r>
              <a:rPr lang="en-US" sz="1600" dirty="0" smtClean="0">
                <a:solidFill>
                  <a:srgbClr val="6A9955"/>
                </a:solidFill>
                <a:latin typeface="Consolas"/>
              </a:rPr>
              <a:t> $</a:t>
            </a:r>
            <a:r>
              <a:rPr lang="en-US" sz="1600" dirty="0" err="1" smtClean="0">
                <a:solidFill>
                  <a:srgbClr val="6A9955"/>
                </a:solidFill>
                <a:latin typeface="Consolas"/>
              </a:rPr>
              <a:t>required_mysql_version</a:t>
            </a:r>
            <a:r>
              <a:rPr lang="en-US" sz="1600" dirty="0" smtClean="0">
                <a:solidFill>
                  <a:srgbClr val="6A9955"/>
                </a:solidFill>
                <a:latin typeface="Consolas"/>
              </a:rPr>
              <a:t> The required </a:t>
            </a:r>
            <a:r>
              <a:rPr lang="en-US" sz="1600" dirty="0" err="1" smtClean="0">
                <a:solidFill>
                  <a:srgbClr val="6A9955"/>
                </a:solidFill>
                <a:latin typeface="Consolas"/>
              </a:rPr>
              <a:t>MySQL</a:t>
            </a:r>
            <a:r>
              <a:rPr lang="en-US" sz="1600" dirty="0" smtClean="0">
                <a:solidFill>
                  <a:srgbClr val="6A9955"/>
                </a:solidFill>
                <a:latin typeface="Consolas"/>
              </a:rPr>
              <a:t> version string.</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@global</a:t>
            </a:r>
            <a:r>
              <a:rPr lang="en-US" sz="1600" dirty="0" smtClean="0">
                <a:solidFill>
                  <a:srgbClr val="6A9955"/>
                </a:solidFill>
                <a:latin typeface="Consolas"/>
              </a:rPr>
              <a:t> </a:t>
            </a:r>
            <a:r>
              <a:rPr lang="en-US" sz="1600" dirty="0" smtClean="0">
                <a:solidFill>
                  <a:srgbClr val="569CD6"/>
                </a:solidFill>
                <a:latin typeface="Consolas"/>
              </a:rPr>
              <a:t>string</a:t>
            </a:r>
            <a:r>
              <a:rPr lang="en-US" sz="1600" dirty="0" smtClean="0">
                <a:solidFill>
                  <a:srgbClr val="6A9955"/>
                </a:solidFill>
                <a:latin typeface="Consolas"/>
              </a:rPr>
              <a:t> $</a:t>
            </a:r>
            <a:r>
              <a:rPr lang="en-US" sz="1600" dirty="0" err="1" smtClean="0">
                <a:solidFill>
                  <a:srgbClr val="6A9955"/>
                </a:solidFill>
                <a:latin typeface="Consolas"/>
              </a:rPr>
              <a:t>wp_local_package</a:t>
            </a:r>
            <a:r>
              <a:rPr lang="en-US" sz="1600" dirty="0" smtClean="0">
                <a:solidFill>
                  <a:srgbClr val="6A9955"/>
                </a:solidFill>
                <a:latin typeface="Consolas"/>
              </a:rPr>
              <a:t>       Locale code of the package.</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569CD6"/>
                </a:solidFill>
                <a:latin typeface="Consolas"/>
              </a:rPr>
              <a:t>global</a:t>
            </a: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wp_version</a:t>
            </a: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wp_db_version</a:t>
            </a: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tinymce_version</a:t>
            </a: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required_php_version</a:t>
            </a: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required_mysql_version</a:t>
            </a: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wp_local_package</a:t>
            </a:r>
            <a:r>
              <a:rPr lang="en-US" sz="1600" dirty="0" smtClean="0">
                <a:solidFill>
                  <a:srgbClr val="D4D4D4"/>
                </a:solidFill>
                <a:latin typeface="Consolas"/>
              </a:rPr>
              <a:t>;</a:t>
            </a:r>
          </a:p>
          <a:p>
            <a:r>
              <a:rPr lang="en-US" sz="1600" dirty="0" smtClean="0">
                <a:solidFill>
                  <a:srgbClr val="C586C0"/>
                </a:solidFill>
                <a:latin typeface="Consolas"/>
              </a:rPr>
              <a:t>require</a:t>
            </a:r>
            <a:r>
              <a:rPr lang="en-US" sz="1600" dirty="0" smtClean="0">
                <a:solidFill>
                  <a:srgbClr val="D4D4D4"/>
                </a:solidFill>
                <a:latin typeface="Consolas"/>
              </a:rPr>
              <a:t> ABSPATH . WPINC . </a:t>
            </a:r>
            <a:r>
              <a:rPr lang="en-US" sz="1600" dirty="0" smtClean="0">
                <a:solidFill>
                  <a:srgbClr val="CE9178"/>
                </a:solidFill>
                <a:latin typeface="Consolas"/>
              </a:rPr>
              <a:t>'/version.php'</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C586C0"/>
                </a:solidFill>
                <a:latin typeface="Consolas"/>
              </a:rPr>
              <a:t>require</a:t>
            </a:r>
            <a:r>
              <a:rPr lang="en-US" sz="1600" dirty="0" smtClean="0">
                <a:solidFill>
                  <a:srgbClr val="D4D4D4"/>
                </a:solidFill>
                <a:latin typeface="Consolas"/>
              </a:rPr>
              <a:t> ABSPATH . WPINC . </a:t>
            </a:r>
            <a:r>
              <a:rPr lang="en-US" sz="1600" dirty="0" smtClean="0">
                <a:solidFill>
                  <a:srgbClr val="CE9178"/>
                </a:solidFill>
                <a:latin typeface="Consolas"/>
              </a:rPr>
              <a:t>'/load.php'</a:t>
            </a:r>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load.php</a:t>
            </a:r>
            <a:endParaRPr lang="en-US" dirty="0"/>
          </a:p>
        </p:txBody>
      </p:sp>
      <p:sp>
        <p:nvSpPr>
          <p:cNvPr id="4" name="Rectangle 3"/>
          <p:cNvSpPr/>
          <p:nvPr/>
        </p:nvSpPr>
        <p:spPr>
          <a:xfrm>
            <a:off x="457200" y="1398687"/>
            <a:ext cx="8229600" cy="4770537"/>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&lt;?</a:t>
            </a:r>
            <a:r>
              <a:rPr lang="en-US" sz="1600" dirty="0" err="1" smtClean="0">
                <a:solidFill>
                  <a:srgbClr val="569CD6"/>
                </a:solidFill>
                <a:latin typeface="Consolas"/>
              </a:rPr>
              <a:t>php</a:t>
            </a:r>
            <a:endParaRPr lang="en-US" sz="1600" dirty="0" smtClean="0">
              <a:solidFill>
                <a:srgbClr val="D4D4D4"/>
              </a:solidFill>
              <a:latin typeface="Consolas"/>
            </a:endParaRPr>
          </a:p>
          <a:p>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 These functions are needed to load </a:t>
            </a:r>
            <a:r>
              <a:rPr lang="en-US" sz="1600" dirty="0" err="1" smtClean="0">
                <a:solidFill>
                  <a:srgbClr val="6A9955"/>
                </a:solidFill>
                <a:latin typeface="Consolas"/>
              </a:rPr>
              <a:t>WordPress</a:t>
            </a:r>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 Return the HTTP protocol sent by the server.</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@return</a:t>
            </a:r>
            <a:r>
              <a:rPr lang="en-US" sz="1600" dirty="0" smtClean="0">
                <a:solidFill>
                  <a:srgbClr val="6A9955"/>
                </a:solidFill>
                <a:latin typeface="Consolas"/>
              </a:rPr>
              <a:t> </a:t>
            </a:r>
            <a:r>
              <a:rPr lang="en-US" sz="1600" dirty="0" smtClean="0">
                <a:solidFill>
                  <a:srgbClr val="569CD6"/>
                </a:solidFill>
                <a:latin typeface="Consolas"/>
              </a:rPr>
              <a:t>string</a:t>
            </a:r>
            <a:r>
              <a:rPr lang="en-US" sz="1600" dirty="0" smtClean="0">
                <a:solidFill>
                  <a:srgbClr val="6A9955"/>
                </a:solidFill>
                <a:latin typeface="Consolas"/>
              </a:rPr>
              <a:t> The HTTP protocol. Default: HTTP/1.0.</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569CD6"/>
                </a:solidFill>
                <a:latin typeface="Consolas"/>
              </a:rPr>
              <a:t>function</a:t>
            </a:r>
            <a:r>
              <a:rPr lang="en-US" sz="1600" dirty="0" smtClean="0">
                <a:solidFill>
                  <a:srgbClr val="D4D4D4"/>
                </a:solidFill>
                <a:latin typeface="Consolas"/>
              </a:rPr>
              <a:t> </a:t>
            </a:r>
            <a:r>
              <a:rPr lang="en-US" sz="1600" dirty="0" err="1" smtClean="0">
                <a:solidFill>
                  <a:srgbClr val="DCDCAA"/>
                </a:solidFill>
                <a:latin typeface="Consolas"/>
              </a:rPr>
              <a:t>wp_get_server_protocol</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$protocol</a:t>
            </a:r>
            <a:r>
              <a:rPr lang="en-US" sz="1600" dirty="0" smtClean="0">
                <a:solidFill>
                  <a:srgbClr val="D4D4D4"/>
                </a:solidFill>
                <a:latin typeface="Consolas"/>
              </a:rPr>
              <a:t> = </a:t>
            </a:r>
            <a:r>
              <a:rPr lang="en-US" sz="1600" dirty="0" err="1" smtClean="0">
                <a:solidFill>
                  <a:srgbClr val="DCDCAA"/>
                </a:solidFill>
                <a:latin typeface="Consolas"/>
              </a:rPr>
              <a:t>isset</a:t>
            </a:r>
            <a:r>
              <a:rPr lang="en-US" sz="1600" dirty="0" smtClean="0">
                <a:solidFill>
                  <a:srgbClr val="D4D4D4"/>
                </a:solidFill>
                <a:latin typeface="Consolas"/>
              </a:rPr>
              <a:t>( </a:t>
            </a:r>
            <a:r>
              <a:rPr lang="en-US" sz="1600" dirty="0" smtClean="0">
                <a:solidFill>
                  <a:srgbClr val="9CDCFE"/>
                </a:solidFill>
                <a:latin typeface="Consolas"/>
              </a:rPr>
              <a:t>$_SERVER</a:t>
            </a:r>
            <a:r>
              <a:rPr lang="en-US" sz="1600" dirty="0" smtClean="0">
                <a:solidFill>
                  <a:srgbClr val="D4D4D4"/>
                </a:solidFill>
                <a:latin typeface="Consolas"/>
              </a:rPr>
              <a:t>[</a:t>
            </a:r>
            <a:r>
              <a:rPr lang="en-US" sz="1600" dirty="0" smtClean="0">
                <a:solidFill>
                  <a:srgbClr val="CE9178"/>
                </a:solidFill>
                <a:latin typeface="Consolas"/>
              </a:rPr>
              <a:t>'SERVER_PROTOCOL'</a:t>
            </a:r>
            <a:r>
              <a:rPr lang="en-US" sz="1600" dirty="0" smtClean="0">
                <a:solidFill>
                  <a:srgbClr val="D4D4D4"/>
                </a:solidFill>
                <a:latin typeface="Consolas"/>
              </a:rPr>
              <a:t>] </a:t>
            </a:r>
            <a:r>
              <a:rPr lang="en-US" sz="1600" dirty="0" smtClean="0">
                <a:solidFill>
                  <a:srgbClr val="D4D4D4"/>
                </a:solidFill>
                <a:latin typeface="Consolas"/>
              </a:rPr>
              <a:t>) ? </a:t>
            </a:r>
            <a:r>
              <a:rPr lang="en-US" sz="1600" dirty="0" smtClean="0">
                <a:solidFill>
                  <a:srgbClr val="9CDCFE"/>
                </a:solidFill>
                <a:latin typeface="Consolas"/>
              </a:rPr>
              <a:t>$_SERVER</a:t>
            </a:r>
            <a:r>
              <a:rPr lang="en-US" sz="1600" dirty="0" smtClean="0">
                <a:solidFill>
                  <a:srgbClr val="D4D4D4"/>
                </a:solidFill>
                <a:latin typeface="Consolas"/>
              </a:rPr>
              <a:t>[</a:t>
            </a:r>
            <a:r>
              <a:rPr lang="en-US" sz="1600" dirty="0" smtClean="0">
                <a:solidFill>
                  <a:srgbClr val="CE9178"/>
                </a:solidFill>
                <a:latin typeface="Consolas"/>
              </a:rPr>
              <a:t>'SERVER_PROTOCOL'</a:t>
            </a:r>
            <a:r>
              <a:rPr lang="en-US" sz="1600" dirty="0" smtClean="0">
                <a:solidFill>
                  <a:srgbClr val="D4D4D4"/>
                </a:solidFill>
                <a:latin typeface="Consolas"/>
              </a:rPr>
              <a:t>] </a:t>
            </a:r>
            <a:r>
              <a:rPr lang="en-US" sz="1600" dirty="0" smtClean="0">
                <a:solidFill>
                  <a:srgbClr val="D4D4D4"/>
                </a:solidFill>
                <a:latin typeface="Consolas"/>
              </a:rPr>
              <a:t>: </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586C0"/>
                </a:solidFill>
                <a:latin typeface="Consolas"/>
              </a:rPr>
              <a:t>if</a:t>
            </a:r>
            <a:r>
              <a:rPr lang="en-US" sz="1600" dirty="0" smtClean="0">
                <a:solidFill>
                  <a:srgbClr val="D4D4D4"/>
                </a:solidFill>
                <a:latin typeface="Consolas"/>
              </a:rPr>
              <a:t> ( ! </a:t>
            </a:r>
            <a:r>
              <a:rPr lang="en-US" sz="1600" dirty="0" err="1" smtClean="0">
                <a:solidFill>
                  <a:srgbClr val="DCDCAA"/>
                </a:solidFill>
                <a:latin typeface="Consolas"/>
              </a:rPr>
              <a:t>in_array</a:t>
            </a:r>
            <a:r>
              <a:rPr lang="en-US" sz="1600" dirty="0" smtClean="0">
                <a:solidFill>
                  <a:srgbClr val="D4D4D4"/>
                </a:solidFill>
                <a:latin typeface="Consolas"/>
              </a:rPr>
              <a:t>( </a:t>
            </a:r>
            <a:r>
              <a:rPr lang="en-US" sz="1600" dirty="0" smtClean="0">
                <a:solidFill>
                  <a:srgbClr val="9CDCFE"/>
                </a:solidFill>
                <a:latin typeface="Consolas"/>
              </a:rPr>
              <a:t>$protocol</a:t>
            </a:r>
            <a:r>
              <a:rPr lang="en-US" sz="1600" dirty="0" smtClean="0">
                <a:solidFill>
                  <a:srgbClr val="D4D4D4"/>
                </a:solidFill>
                <a:latin typeface="Consolas"/>
              </a:rPr>
              <a:t>, </a:t>
            </a:r>
            <a:r>
              <a:rPr lang="en-US" sz="1600" dirty="0" smtClean="0">
                <a:solidFill>
                  <a:srgbClr val="DCDCAA"/>
                </a:solidFill>
                <a:latin typeface="Consolas"/>
              </a:rPr>
              <a:t>array</a:t>
            </a:r>
            <a:r>
              <a:rPr lang="en-US" sz="1600" dirty="0" smtClean="0">
                <a:solidFill>
                  <a:srgbClr val="D4D4D4"/>
                </a:solidFill>
                <a:latin typeface="Consolas"/>
              </a:rPr>
              <a:t>( </a:t>
            </a:r>
            <a:r>
              <a:rPr lang="en-US" sz="1600" dirty="0" smtClean="0">
                <a:solidFill>
                  <a:srgbClr val="CE9178"/>
                </a:solidFill>
                <a:latin typeface="Consolas"/>
              </a:rPr>
              <a:t>'HTTP/1.1'</a:t>
            </a:r>
            <a:r>
              <a:rPr lang="en-US" sz="1600" dirty="0" smtClean="0">
                <a:solidFill>
                  <a:srgbClr val="D4D4D4"/>
                </a:solidFill>
                <a:latin typeface="Consolas"/>
              </a:rPr>
              <a:t>, </a:t>
            </a:r>
            <a:r>
              <a:rPr lang="en-US" sz="1600" dirty="0" smtClean="0">
                <a:solidFill>
                  <a:srgbClr val="CE9178"/>
                </a:solidFill>
                <a:latin typeface="Consolas"/>
              </a:rPr>
              <a:t>'HTTP/2'</a:t>
            </a:r>
            <a:r>
              <a:rPr lang="en-US" sz="1600" dirty="0" smtClean="0">
                <a:solidFill>
                  <a:srgbClr val="D4D4D4"/>
                </a:solidFill>
                <a:latin typeface="Consolas"/>
              </a:rPr>
              <a:t>, </a:t>
            </a:r>
            <a:r>
              <a:rPr lang="en-US" sz="1600" dirty="0" smtClean="0">
                <a:solidFill>
                  <a:srgbClr val="CE9178"/>
                </a:solidFill>
                <a:latin typeface="Consolas"/>
              </a:rPr>
              <a:t>'HTTP/2.0'</a:t>
            </a:r>
            <a:r>
              <a:rPr lang="en-US" sz="1600" dirty="0" smtClean="0">
                <a:solidFill>
                  <a:srgbClr val="D4D4D4"/>
                </a:solidFill>
                <a:latin typeface="Consolas"/>
              </a:rPr>
              <a:t>, </a:t>
            </a:r>
            <a:r>
              <a:rPr lang="en-US" sz="1600" dirty="0" smtClean="0">
                <a:solidFill>
                  <a:srgbClr val="CE9178"/>
                </a:solidFill>
                <a:latin typeface="Consolas"/>
              </a:rPr>
              <a:t>'HTTP/3'</a:t>
            </a:r>
            <a:r>
              <a:rPr lang="en-US" sz="1600" dirty="0" smtClean="0">
                <a:solidFill>
                  <a:srgbClr val="D4D4D4"/>
                </a:solidFill>
                <a:latin typeface="Consolas"/>
              </a:rPr>
              <a:t> </a:t>
            </a:r>
            <a:r>
              <a:rPr lang="en-US" sz="1600" dirty="0" smtClean="0">
                <a:solidFill>
                  <a:srgbClr val="D4D4D4"/>
                </a:solidFill>
                <a:latin typeface="Consolas"/>
              </a:rPr>
              <a:t>), </a:t>
            </a:r>
            <a:r>
              <a:rPr lang="en-US" sz="1600" dirty="0" smtClean="0">
                <a:solidFill>
                  <a:srgbClr val="569CD6"/>
                </a:solidFill>
                <a:latin typeface="Consolas"/>
              </a:rPr>
              <a:t>true</a:t>
            </a:r>
            <a:r>
              <a:rPr lang="en-US" sz="1600" dirty="0" smtClean="0">
                <a:solidFill>
                  <a:srgbClr val="D4D4D4"/>
                </a:solidFill>
                <a:latin typeface="Consolas"/>
              </a:rPr>
              <a:t> ) ) {</a:t>
            </a:r>
          </a:p>
          <a:p>
            <a:r>
              <a:rPr lang="en-US" sz="1600" dirty="0" smtClean="0">
                <a:solidFill>
                  <a:srgbClr val="D4D4D4"/>
                </a:solidFill>
                <a:latin typeface="Consolas"/>
              </a:rPr>
              <a:t>        </a:t>
            </a:r>
            <a:r>
              <a:rPr lang="en-US" sz="1600" dirty="0" smtClean="0">
                <a:solidFill>
                  <a:srgbClr val="9CDCFE"/>
                </a:solidFill>
                <a:latin typeface="Consolas"/>
              </a:rPr>
              <a:t>$protocol</a:t>
            </a:r>
            <a:r>
              <a:rPr lang="en-US" sz="1600" dirty="0" smtClean="0">
                <a:solidFill>
                  <a:srgbClr val="D4D4D4"/>
                </a:solidFill>
                <a:latin typeface="Consolas"/>
              </a:rPr>
              <a:t> = </a:t>
            </a:r>
            <a:r>
              <a:rPr lang="en-US" sz="1600" dirty="0" smtClean="0">
                <a:solidFill>
                  <a:srgbClr val="CE9178"/>
                </a:solidFill>
                <a:latin typeface="Consolas"/>
              </a:rPr>
              <a:t>'HTTP/1.0'</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r>
              <a:rPr lang="en-US" sz="1600" dirty="0" smtClean="0">
                <a:solidFill>
                  <a:srgbClr val="9CDCFE"/>
                </a:solidFill>
                <a:latin typeface="Consolas"/>
              </a:rPr>
              <a:t>$protocol</a:t>
            </a:r>
            <a:r>
              <a:rPr lang="en-US" sz="1600" dirty="0" smtClean="0">
                <a:solidFill>
                  <a:srgbClr val="D4D4D4"/>
                </a:solidFill>
                <a:latin typeface="Consolas"/>
              </a:rPr>
              <a:t>;</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wp-blog-header.php</a:t>
            </a:r>
            <a:endParaRPr lang="en-US" dirty="0"/>
          </a:p>
        </p:txBody>
      </p:sp>
      <p:sp>
        <p:nvSpPr>
          <p:cNvPr id="4" name="Rectangle 3"/>
          <p:cNvSpPr/>
          <p:nvPr/>
        </p:nvSpPr>
        <p:spPr>
          <a:xfrm>
            <a:off x="457200" y="1676400"/>
            <a:ext cx="8229600" cy="4770537"/>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&lt;?</a:t>
            </a:r>
            <a:r>
              <a:rPr lang="en-US" sz="1600" dirty="0" err="1" smtClean="0">
                <a:solidFill>
                  <a:srgbClr val="569CD6"/>
                </a:solidFill>
                <a:latin typeface="Consolas"/>
              </a:rPr>
              <a:t>php</a:t>
            </a:r>
            <a:endParaRPr lang="en-US" sz="1600" dirty="0" smtClean="0">
              <a:solidFill>
                <a:srgbClr val="D4D4D4"/>
              </a:solidFill>
              <a:latin typeface="Consolas"/>
            </a:endParaRPr>
          </a:p>
          <a:p>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 Loads the </a:t>
            </a:r>
            <a:r>
              <a:rPr lang="en-US" sz="1600" dirty="0" err="1" smtClean="0">
                <a:solidFill>
                  <a:srgbClr val="6A9955"/>
                </a:solidFill>
                <a:latin typeface="Consolas"/>
              </a:rPr>
              <a:t>WordPress</a:t>
            </a:r>
            <a:r>
              <a:rPr lang="en-US" sz="1600" dirty="0" smtClean="0">
                <a:solidFill>
                  <a:srgbClr val="6A9955"/>
                </a:solidFill>
                <a:latin typeface="Consolas"/>
              </a:rPr>
              <a:t> environment and template.</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@package</a:t>
            </a:r>
            <a:r>
              <a:rPr lang="en-US" sz="1600" dirty="0" smtClean="0">
                <a:solidFill>
                  <a:srgbClr val="6A9955"/>
                </a:solidFill>
                <a:latin typeface="Consolas"/>
              </a:rPr>
              <a:t> </a:t>
            </a:r>
            <a:r>
              <a:rPr lang="en-US" sz="1600" dirty="0" err="1" smtClean="0">
                <a:solidFill>
                  <a:srgbClr val="6A9955"/>
                </a:solidFill>
                <a:latin typeface="Consolas"/>
              </a:rPr>
              <a:t>WordPress</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C586C0"/>
                </a:solidFill>
                <a:latin typeface="Consolas"/>
              </a:rPr>
              <a:t>if</a:t>
            </a:r>
            <a:r>
              <a:rPr lang="en-US" sz="1600" dirty="0" smtClean="0">
                <a:solidFill>
                  <a:srgbClr val="D4D4D4"/>
                </a:solidFill>
                <a:latin typeface="Consolas"/>
              </a:rPr>
              <a:t> ( ! </a:t>
            </a:r>
            <a:r>
              <a:rPr lang="en-US" sz="1600" dirty="0" err="1" smtClean="0">
                <a:solidFill>
                  <a:srgbClr val="DCDCAA"/>
                </a:solidFill>
                <a:latin typeface="Consolas"/>
              </a:rPr>
              <a:t>isset</a:t>
            </a: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wp_did_header</a:t>
            </a:r>
            <a:r>
              <a:rPr lang="en-US" sz="1600" dirty="0" smtClean="0">
                <a:solidFill>
                  <a:srgbClr val="D4D4D4"/>
                </a:solidFill>
                <a:latin typeface="Consolas"/>
              </a:rPr>
              <a:t> ) )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wp_did_header</a:t>
            </a:r>
            <a:r>
              <a:rPr lang="en-US" sz="1600" dirty="0" smtClean="0">
                <a:solidFill>
                  <a:srgbClr val="D4D4D4"/>
                </a:solidFill>
                <a:latin typeface="Consolas"/>
              </a:rPr>
              <a:t> = </a:t>
            </a:r>
            <a:r>
              <a:rPr lang="en-US" sz="1600" dirty="0" smtClean="0">
                <a:solidFill>
                  <a:srgbClr val="569CD6"/>
                </a:solidFill>
                <a:latin typeface="Consolas"/>
              </a:rPr>
              <a:t>true</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6A9955"/>
                </a:solidFill>
                <a:latin typeface="Consolas"/>
              </a:rPr>
              <a:t>// Load the </a:t>
            </a:r>
            <a:r>
              <a:rPr lang="en-US" sz="1600" dirty="0" err="1" smtClean="0">
                <a:solidFill>
                  <a:srgbClr val="6A9955"/>
                </a:solidFill>
                <a:latin typeface="Consolas"/>
              </a:rPr>
              <a:t>WordPress</a:t>
            </a:r>
            <a:r>
              <a:rPr lang="en-US" sz="1600" dirty="0" smtClean="0">
                <a:solidFill>
                  <a:srgbClr val="6A9955"/>
                </a:solidFill>
                <a:latin typeface="Consolas"/>
              </a:rPr>
              <a:t> library.</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C586C0"/>
                </a:solidFill>
                <a:latin typeface="Consolas"/>
              </a:rPr>
              <a:t>require_once</a:t>
            </a:r>
            <a:r>
              <a:rPr lang="en-US" sz="1600" dirty="0" smtClean="0">
                <a:solidFill>
                  <a:srgbClr val="D4D4D4"/>
                </a:solidFill>
                <a:latin typeface="Consolas"/>
              </a:rPr>
              <a:t> </a:t>
            </a:r>
            <a:r>
              <a:rPr lang="en-US" sz="1600" dirty="0" smtClean="0">
                <a:solidFill>
                  <a:srgbClr val="569CD6"/>
                </a:solidFill>
                <a:latin typeface="Consolas"/>
              </a:rPr>
              <a:t>__DIR__</a:t>
            </a:r>
            <a:r>
              <a:rPr lang="en-US" sz="1600" dirty="0" smtClean="0">
                <a:solidFill>
                  <a:srgbClr val="D4D4D4"/>
                </a:solidFill>
                <a:latin typeface="Consolas"/>
              </a:rPr>
              <a:t> . </a:t>
            </a:r>
            <a:r>
              <a:rPr lang="en-US" sz="1600" dirty="0" smtClean="0">
                <a:solidFill>
                  <a:srgbClr val="CE9178"/>
                </a:solidFill>
                <a:latin typeface="Consolas"/>
              </a:rPr>
              <a:t>'/wp-load.php'</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6A9955"/>
                </a:solidFill>
                <a:latin typeface="Consolas"/>
              </a:rPr>
              <a:t>// Set up the </a:t>
            </a:r>
            <a:r>
              <a:rPr lang="en-US" sz="1600" dirty="0" err="1" smtClean="0">
                <a:solidFill>
                  <a:srgbClr val="6A9955"/>
                </a:solidFill>
                <a:latin typeface="Consolas"/>
              </a:rPr>
              <a:t>WordPress</a:t>
            </a:r>
            <a:r>
              <a:rPr lang="en-US" sz="1600" dirty="0" smtClean="0">
                <a:solidFill>
                  <a:srgbClr val="6A9955"/>
                </a:solidFill>
                <a:latin typeface="Consolas"/>
              </a:rPr>
              <a:t> query.</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CDCAA"/>
                </a:solidFill>
                <a:latin typeface="Consolas"/>
              </a:rPr>
              <a:t>wp</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6A9955"/>
                </a:solidFill>
                <a:latin typeface="Consolas"/>
              </a:rPr>
              <a:t>// Load the theme template.</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C586C0"/>
                </a:solidFill>
                <a:latin typeface="Consolas"/>
              </a:rPr>
              <a:t>require_once</a:t>
            </a:r>
            <a:r>
              <a:rPr lang="en-US" sz="1600" dirty="0" smtClean="0">
                <a:solidFill>
                  <a:srgbClr val="D4D4D4"/>
                </a:solidFill>
                <a:latin typeface="Consolas"/>
              </a:rPr>
              <a:t> ABSPATH . WPINC . </a:t>
            </a:r>
            <a:r>
              <a:rPr lang="en-US" sz="1600" dirty="0" smtClean="0">
                <a:solidFill>
                  <a:srgbClr val="CE9178"/>
                </a:solidFill>
                <a:latin typeface="Consolas"/>
              </a:rPr>
              <a:t>'/template-loader.php'</a:t>
            </a:r>
            <a:r>
              <a:rPr lang="en-US" sz="1600" dirty="0" smtClean="0">
                <a:solidFill>
                  <a:srgbClr val="D4D4D4"/>
                </a:solidFill>
                <a:latin typeface="Consolas"/>
              </a:rPr>
              <a:t>;</a:t>
            </a:r>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a:t>
            </a:r>
          </a:p>
        </p:txBody>
      </p:sp>
      <p:sp>
        <p:nvSpPr>
          <p:cNvPr id="5" name="Down Arrow 4"/>
          <p:cNvSpPr/>
          <p:nvPr/>
        </p:nvSpPr>
        <p:spPr>
          <a:xfrm>
            <a:off x="228600" y="4038600"/>
            <a:ext cx="1905000" cy="1066800"/>
          </a:xfrm>
          <a:prstGeom prst="downArrow">
            <a:avLst/>
          </a:prstGeom>
          <a:solidFill>
            <a:schemeClr val="lt1">
              <a:alpha val="7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Down Arrow 5"/>
          <p:cNvSpPr/>
          <p:nvPr/>
        </p:nvSpPr>
        <p:spPr>
          <a:xfrm>
            <a:off x="4572000" y="4800600"/>
            <a:ext cx="1905000" cy="1066800"/>
          </a:xfrm>
          <a:prstGeom prst="downArrow">
            <a:avLst/>
          </a:prstGeom>
          <a:solidFill>
            <a:schemeClr val="lt1">
              <a:alpha val="7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Template Terminology</a:t>
            </a:r>
            <a:endParaRPr lang="en-US" dirty="0"/>
          </a:p>
        </p:txBody>
      </p:sp>
      <p:sp>
        <p:nvSpPr>
          <p:cNvPr id="3" name="Content Placeholder 2"/>
          <p:cNvSpPr>
            <a:spLocks noGrp="1"/>
          </p:cNvSpPr>
          <p:nvPr>
            <p:ph idx="1"/>
          </p:nvPr>
        </p:nvSpPr>
        <p:spPr/>
        <p:txBody>
          <a:bodyPr/>
          <a:lstStyle/>
          <a:p>
            <a:r>
              <a:rPr lang="en-US" sz="2200" dirty="0" smtClean="0">
                <a:hlinkClick r:id="rId2"/>
              </a:rPr>
              <a:t>https://developer.wordpress.org/themes/basics/template-files/</a:t>
            </a:r>
            <a:endParaRPr lang="en-US" sz="2200" dirty="0" smtClean="0"/>
          </a:p>
          <a:p>
            <a:r>
              <a:rPr lang="en-US" sz="2600" dirty="0" smtClean="0"/>
              <a:t>The term “template” is used in different ways when working with </a:t>
            </a:r>
            <a:r>
              <a:rPr lang="en-US" sz="2600" dirty="0" err="1" smtClean="0"/>
              <a:t>WordPress</a:t>
            </a:r>
            <a:r>
              <a:rPr lang="en-US" sz="2600" dirty="0" smtClean="0"/>
              <a:t> themes:</a:t>
            </a:r>
          </a:p>
          <a:p>
            <a:pPr lvl="1"/>
            <a:r>
              <a:rPr lang="en-US" sz="2200" i="1" dirty="0" smtClean="0">
                <a:solidFill>
                  <a:srgbClr val="C00000"/>
                </a:solidFill>
              </a:rPr>
              <a:t>Templates files</a:t>
            </a:r>
            <a:r>
              <a:rPr lang="en-US" sz="2200" dirty="0" smtClean="0"/>
              <a:t> exist within a theme and express how your site is displayed.</a:t>
            </a:r>
          </a:p>
          <a:p>
            <a:pPr lvl="1"/>
            <a:r>
              <a:rPr lang="en-US" sz="2200" i="1" dirty="0" smtClean="0">
                <a:solidFill>
                  <a:srgbClr val="C00000"/>
                </a:solidFill>
              </a:rPr>
              <a:t>Template Hierarchy</a:t>
            </a:r>
            <a:r>
              <a:rPr lang="en-US" sz="2200" dirty="0" smtClean="0"/>
              <a:t> is the logic </a:t>
            </a:r>
            <a:r>
              <a:rPr lang="en-US" sz="2200" dirty="0" err="1" smtClean="0"/>
              <a:t>WordPress</a:t>
            </a:r>
            <a:r>
              <a:rPr lang="en-US" sz="2200" dirty="0" smtClean="0"/>
              <a:t> uses to decide which theme template file(s) to use, depending on the content being requested.</a:t>
            </a:r>
          </a:p>
          <a:p>
            <a:pPr lvl="2"/>
            <a:r>
              <a:rPr lang="en-US" sz="1800" dirty="0" smtClean="0">
                <a:hlinkClick r:id="rId3"/>
              </a:rPr>
              <a:t>https://developer.wordpress.org/themes/basics/template-hierarchy/</a:t>
            </a:r>
            <a:endParaRPr lang="en-US" sz="1800" dirty="0" smtClean="0"/>
          </a:p>
          <a:p>
            <a:pPr lvl="1"/>
            <a:r>
              <a:rPr lang="en-US" sz="2200" i="1" dirty="0" smtClean="0">
                <a:solidFill>
                  <a:srgbClr val="C00000"/>
                </a:solidFill>
              </a:rPr>
              <a:t>Page Templates</a:t>
            </a:r>
            <a:r>
              <a:rPr lang="en-US" sz="2200" dirty="0" smtClean="0"/>
              <a:t> are those that apply to pages, posts, and custom post types to change their look and feel.</a:t>
            </a:r>
          </a:p>
          <a:p>
            <a:pPr lvl="2"/>
            <a:r>
              <a:rPr lang="en-US" sz="1800" dirty="0" smtClean="0">
                <a:hlinkClick r:id="rId4"/>
              </a:rPr>
              <a:t>https://developer.wordpress.org/themes/template-files-section/page-template-files/</a:t>
            </a:r>
            <a:endParaRPr lang="en-US" sz="18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template-loader.php</a:t>
            </a:r>
            <a:endParaRPr lang="en-US" dirty="0"/>
          </a:p>
        </p:txBody>
      </p:sp>
      <p:sp>
        <p:nvSpPr>
          <p:cNvPr id="4" name="Rectangle 3"/>
          <p:cNvSpPr/>
          <p:nvPr/>
        </p:nvSpPr>
        <p:spPr>
          <a:xfrm>
            <a:off x="457200" y="1371600"/>
            <a:ext cx="8229600" cy="5262979"/>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C586C0"/>
                </a:solidFill>
                <a:latin typeface="Consolas"/>
              </a:rPr>
              <a:t>if</a:t>
            </a:r>
            <a:r>
              <a:rPr lang="en-US" sz="1600" dirty="0" smtClean="0">
                <a:solidFill>
                  <a:srgbClr val="D4D4D4"/>
                </a:solidFill>
                <a:latin typeface="Consolas"/>
              </a:rPr>
              <a:t> ( </a:t>
            </a:r>
            <a:r>
              <a:rPr lang="en-US" sz="1600" dirty="0" err="1" smtClean="0">
                <a:solidFill>
                  <a:srgbClr val="DCDCAA"/>
                </a:solidFill>
                <a:latin typeface="Consolas"/>
              </a:rPr>
              <a:t>wp_using_themes</a:t>
            </a:r>
            <a:r>
              <a:rPr lang="en-US" sz="1600" dirty="0" smtClean="0">
                <a:solidFill>
                  <a:srgbClr val="D4D4D4"/>
                </a:solidFill>
                <a:latin typeface="Consolas"/>
              </a:rPr>
              <a:t>() )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tag_templates</a:t>
            </a:r>
            <a:r>
              <a:rPr lang="en-US" sz="1600" dirty="0" smtClean="0">
                <a:solidFill>
                  <a:srgbClr val="D4D4D4"/>
                </a:solidFill>
                <a:latin typeface="Consolas"/>
              </a:rPr>
              <a:t> = </a:t>
            </a:r>
            <a:r>
              <a:rPr lang="en-US" sz="1600" dirty="0" smtClean="0">
                <a:solidFill>
                  <a:srgbClr val="DCDCAA"/>
                </a:solidFill>
                <a:latin typeface="Consolas"/>
              </a:rPr>
              <a:t>array</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is_embed</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get_embed_template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'is_404'</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'get_404_template'</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is_search</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get_search_template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is_front_page</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get_front_page_template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is_home</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get_home_template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is_privacy_policy</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get_privacy_policy_template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is_post_type_archive</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=&gt; </a:t>
            </a:r>
            <a:r>
              <a:rPr lang="en-US" sz="1600" dirty="0" smtClean="0">
                <a:solidFill>
                  <a:srgbClr val="CE9178"/>
                </a:solidFill>
                <a:latin typeface="Consolas"/>
              </a:rPr>
              <a:t>'</a:t>
            </a:r>
            <a:r>
              <a:rPr lang="en-US" sz="1600" dirty="0" err="1" smtClean="0">
                <a:solidFill>
                  <a:srgbClr val="CE9178"/>
                </a:solidFill>
                <a:latin typeface="Consolas"/>
              </a:rPr>
              <a:t>get_post_type_archive_template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is_tax</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get_taxonomy_template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is_attachment</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get_attachment_template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is_single</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get_single_template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is_page</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get_page_template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is_singular</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get_singular_template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is_category</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get_category_template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is_tag</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get_tag_template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is_author</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get_author_template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is_date</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get_date_template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is_archive</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D4D4D4"/>
                </a:solidFill>
                <a:latin typeface="Consolas"/>
              </a:rPr>
              <a:t>          =&gt; </a:t>
            </a:r>
            <a:r>
              <a:rPr lang="en-US" sz="1600" dirty="0" smtClean="0">
                <a:solidFill>
                  <a:srgbClr val="CE9178"/>
                </a:solidFill>
                <a:latin typeface="Consolas"/>
              </a:rPr>
              <a:t>'</a:t>
            </a:r>
            <a:r>
              <a:rPr lang="en-US" sz="1600" dirty="0" err="1" smtClean="0">
                <a:solidFill>
                  <a:srgbClr val="CE9178"/>
                </a:solidFill>
                <a:latin typeface="Consolas"/>
              </a:rPr>
              <a:t>get_archive_template</a:t>
            </a:r>
            <a:r>
              <a:rPr lang="en-US" sz="1600" dirty="0" smtClean="0">
                <a:solidFill>
                  <a:srgbClr val="CE9178"/>
                </a:solidFill>
                <a:latin typeface="Consolas"/>
              </a:rPr>
              <a:t>'</a:t>
            </a:r>
            <a:r>
              <a:rPr lang="en-US" sz="1600" dirty="0" smtClean="0">
                <a:solidFill>
                  <a:srgbClr val="D4D4D4"/>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template.php</a:t>
            </a:r>
            <a:endParaRPr lang="en-US" dirty="0"/>
          </a:p>
        </p:txBody>
      </p:sp>
      <p:sp>
        <p:nvSpPr>
          <p:cNvPr id="4" name="Rectangle 3"/>
          <p:cNvSpPr/>
          <p:nvPr/>
        </p:nvSpPr>
        <p:spPr>
          <a:xfrm>
            <a:off x="457200" y="1537930"/>
            <a:ext cx="8229600" cy="4862870"/>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 Retrieve path of front page template in current or parent template.</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The template hierarchy and template path are filterable via the {</a:t>
            </a:r>
            <a:r>
              <a:rPr lang="en-US" sz="1600" dirty="0" smtClean="0">
                <a:solidFill>
                  <a:srgbClr val="569CD6"/>
                </a:solidFill>
                <a:latin typeface="Consolas"/>
              </a:rPr>
              <a:t>@see</a:t>
            </a:r>
            <a:r>
              <a:rPr lang="en-US" sz="1600" dirty="0" smtClean="0">
                <a:solidFill>
                  <a:srgbClr val="6A9955"/>
                </a:solidFill>
                <a:latin typeface="Consolas"/>
              </a:rPr>
              <a:t> </a:t>
            </a:r>
            <a:r>
              <a:rPr lang="en-US" sz="1600" dirty="0" smtClean="0">
                <a:solidFill>
                  <a:srgbClr val="6A9955"/>
                </a:solidFill>
                <a:latin typeface="Consolas"/>
              </a:rPr>
              <a:t>'$</a:t>
            </a:r>
            <a:r>
              <a:rPr lang="en-US" sz="1600" dirty="0" err="1" smtClean="0">
                <a:solidFill>
                  <a:srgbClr val="6A9955"/>
                </a:solidFill>
                <a:latin typeface="Consolas"/>
              </a:rPr>
              <a:t>type_template_hierarchy</a:t>
            </a:r>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 and {</a:t>
            </a:r>
            <a:r>
              <a:rPr lang="en-US" sz="1600" dirty="0" smtClean="0">
                <a:solidFill>
                  <a:srgbClr val="569CD6"/>
                </a:solidFill>
                <a:latin typeface="Consolas"/>
              </a:rPr>
              <a:t>@see</a:t>
            </a:r>
            <a:r>
              <a:rPr lang="en-US" sz="1600" dirty="0" smtClean="0">
                <a:solidFill>
                  <a:srgbClr val="6A9955"/>
                </a:solidFill>
                <a:latin typeface="Consolas"/>
              </a:rPr>
              <a:t> </a:t>
            </a:r>
            <a:r>
              <a:rPr lang="en-US" sz="1600" dirty="0" smtClean="0">
                <a:solidFill>
                  <a:srgbClr val="6A9955"/>
                </a:solidFill>
                <a:latin typeface="Consolas"/>
              </a:rPr>
              <a:t>'$</a:t>
            </a:r>
            <a:r>
              <a:rPr lang="en-US" sz="1600" dirty="0" err="1" smtClean="0">
                <a:solidFill>
                  <a:srgbClr val="6A9955"/>
                </a:solidFill>
                <a:latin typeface="Consolas"/>
              </a:rPr>
              <a:t>type_template</a:t>
            </a:r>
            <a:r>
              <a:rPr lang="en-US" sz="1600" dirty="0" smtClean="0">
                <a:solidFill>
                  <a:srgbClr val="6A9955"/>
                </a:solidFill>
                <a:latin typeface="Consolas"/>
              </a:rPr>
              <a:t>'} </a:t>
            </a:r>
            <a:r>
              <a:rPr lang="en-US" sz="1600" dirty="0" smtClean="0">
                <a:solidFill>
                  <a:srgbClr val="6A9955"/>
                </a:solidFill>
                <a:latin typeface="Consolas"/>
              </a:rPr>
              <a:t>dynamic hooks, where `$type` is </a:t>
            </a:r>
            <a:r>
              <a:rPr lang="en-US" sz="1600" dirty="0" smtClean="0">
                <a:solidFill>
                  <a:srgbClr val="6A9955"/>
                </a:solidFill>
                <a:latin typeface="Consolas"/>
              </a:rPr>
              <a:t>'</a:t>
            </a:r>
            <a:r>
              <a:rPr lang="en-US" sz="1600" dirty="0" err="1" smtClean="0">
                <a:solidFill>
                  <a:srgbClr val="6A9955"/>
                </a:solidFill>
                <a:latin typeface="Consolas"/>
              </a:rPr>
              <a:t>frontpage</a:t>
            </a:r>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@since</a:t>
            </a:r>
            <a:r>
              <a:rPr lang="en-US" sz="1600" dirty="0" smtClean="0">
                <a:solidFill>
                  <a:srgbClr val="6A9955"/>
                </a:solidFill>
                <a:latin typeface="Consolas"/>
              </a:rPr>
              <a:t> 3.0.0</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@see</a:t>
            </a:r>
            <a:r>
              <a:rPr lang="en-US" sz="1600" dirty="0" smtClean="0">
                <a:solidFill>
                  <a:srgbClr val="6A9955"/>
                </a:solidFill>
                <a:latin typeface="Consolas"/>
              </a:rPr>
              <a:t> </a:t>
            </a:r>
            <a:r>
              <a:rPr lang="en-US" sz="1600" dirty="0" err="1" smtClean="0">
                <a:solidFill>
                  <a:srgbClr val="6A9955"/>
                </a:solidFill>
                <a:latin typeface="Consolas"/>
              </a:rPr>
              <a:t>get_query_template</a:t>
            </a:r>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6A9955"/>
                </a:solidFill>
                <a:latin typeface="Consolas"/>
              </a:rPr>
              <a:t> * </a:t>
            </a:r>
            <a:r>
              <a:rPr lang="en-US" sz="1600" dirty="0" smtClean="0">
                <a:solidFill>
                  <a:srgbClr val="569CD6"/>
                </a:solidFill>
                <a:latin typeface="Consolas"/>
              </a:rPr>
              <a:t>@return</a:t>
            </a:r>
            <a:r>
              <a:rPr lang="en-US" sz="1600" dirty="0" smtClean="0">
                <a:solidFill>
                  <a:srgbClr val="6A9955"/>
                </a:solidFill>
                <a:latin typeface="Consolas"/>
              </a:rPr>
              <a:t> </a:t>
            </a:r>
            <a:r>
              <a:rPr lang="en-US" sz="1600" dirty="0" smtClean="0">
                <a:solidFill>
                  <a:srgbClr val="569CD6"/>
                </a:solidFill>
                <a:latin typeface="Consolas"/>
              </a:rPr>
              <a:t>string</a:t>
            </a:r>
            <a:r>
              <a:rPr lang="en-US" sz="1600" dirty="0" smtClean="0">
                <a:solidFill>
                  <a:srgbClr val="6A9955"/>
                </a:solidFill>
                <a:latin typeface="Consolas"/>
              </a:rPr>
              <a:t> Full path to front page template file.</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569CD6"/>
                </a:solidFill>
                <a:latin typeface="Consolas"/>
              </a:rPr>
              <a:t>function</a:t>
            </a:r>
            <a:r>
              <a:rPr lang="en-US" sz="1600" dirty="0" smtClean="0">
                <a:solidFill>
                  <a:srgbClr val="D4D4D4"/>
                </a:solidFill>
                <a:latin typeface="Consolas"/>
              </a:rPr>
              <a:t> </a:t>
            </a:r>
            <a:r>
              <a:rPr lang="en-US" sz="1600" dirty="0" err="1" smtClean="0">
                <a:solidFill>
                  <a:srgbClr val="DCDCAA"/>
                </a:solidFill>
                <a:latin typeface="Consolas"/>
              </a:rPr>
              <a:t>get_front_page_template</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$templates</a:t>
            </a:r>
            <a:r>
              <a:rPr lang="en-US" sz="1600" dirty="0" smtClean="0">
                <a:solidFill>
                  <a:srgbClr val="D4D4D4"/>
                </a:solidFill>
                <a:latin typeface="Consolas"/>
              </a:rPr>
              <a:t> = </a:t>
            </a:r>
            <a:r>
              <a:rPr lang="en-US" sz="1600" dirty="0" smtClean="0">
                <a:solidFill>
                  <a:srgbClr val="DCDCAA"/>
                </a:solidFill>
                <a:latin typeface="Consolas"/>
              </a:rPr>
              <a:t>array</a:t>
            </a:r>
            <a:r>
              <a:rPr lang="en-US" sz="1600" dirty="0" smtClean="0">
                <a:solidFill>
                  <a:srgbClr val="D4D4D4"/>
                </a:solidFill>
                <a:latin typeface="Consolas"/>
              </a:rPr>
              <a:t>( </a:t>
            </a:r>
            <a:r>
              <a:rPr lang="en-US" sz="1600" dirty="0" smtClean="0">
                <a:solidFill>
                  <a:srgbClr val="CE9178"/>
                </a:solidFill>
                <a:latin typeface="Consolas"/>
              </a:rPr>
              <a:t>'front-page.php'</a:t>
            </a:r>
            <a:r>
              <a:rPr lang="en-US" sz="1600" dirty="0" smtClean="0">
                <a:solidFill>
                  <a:srgbClr val="D4D4D4"/>
                </a:solidFill>
                <a:latin typeface="Consolas"/>
              </a:rPr>
              <a:t> </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r>
              <a:rPr lang="en-US" sz="1600" dirty="0" err="1" smtClean="0">
                <a:solidFill>
                  <a:srgbClr val="DCDCAA"/>
                </a:solidFill>
                <a:latin typeface="Consolas"/>
              </a:rPr>
              <a:t>get_query_template</a:t>
            </a:r>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frontpage</a:t>
            </a:r>
            <a:r>
              <a:rPr lang="en-US" sz="1600" dirty="0" smtClean="0">
                <a:solidFill>
                  <a:srgbClr val="CE9178"/>
                </a:solidFill>
                <a:latin typeface="Consolas"/>
              </a:rPr>
              <a:t>'</a:t>
            </a:r>
            <a:r>
              <a:rPr lang="en-US" sz="1600" dirty="0" smtClean="0">
                <a:solidFill>
                  <a:srgbClr val="D4D4D4"/>
                </a:solidFill>
                <a:latin typeface="Consolas"/>
              </a:rPr>
              <a:t>, </a:t>
            </a:r>
            <a:r>
              <a:rPr lang="en-US" sz="1600" dirty="0" smtClean="0">
                <a:solidFill>
                  <a:srgbClr val="9CDCFE"/>
                </a:solidFill>
                <a:latin typeface="Consolas"/>
              </a:rPr>
              <a:t>$templates</a:t>
            </a:r>
            <a:r>
              <a:rPr lang="en-US" sz="1600" dirty="0" smtClean="0">
                <a:solidFill>
                  <a:srgbClr val="D4D4D4"/>
                </a:solidFill>
                <a:latin typeface="Consolas"/>
              </a:rPr>
              <a:t> );</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Page Template</a:t>
            </a:r>
            <a:endParaRPr lang="en-US" dirty="0"/>
          </a:p>
        </p:txBody>
      </p:sp>
      <p:sp>
        <p:nvSpPr>
          <p:cNvPr id="3" name="Content Placeholder 2"/>
          <p:cNvSpPr>
            <a:spLocks noGrp="1"/>
          </p:cNvSpPr>
          <p:nvPr>
            <p:ph idx="1"/>
          </p:nvPr>
        </p:nvSpPr>
        <p:spPr/>
        <p:txBody>
          <a:bodyPr/>
          <a:lstStyle/>
          <a:p>
            <a:r>
              <a:rPr lang="en-US" sz="2400" dirty="0" smtClean="0"/>
              <a:t>Go to the child theme folder.</a:t>
            </a:r>
          </a:p>
          <a:p>
            <a:r>
              <a:rPr lang="en-US" sz="2400" dirty="0" smtClean="0"/>
              <a:t>Create site-visitation-upload.php file.</a:t>
            </a:r>
          </a:p>
          <a:p>
            <a:endParaRPr lang="en-US" sz="2400" dirty="0"/>
          </a:p>
        </p:txBody>
      </p:sp>
      <p:sp>
        <p:nvSpPr>
          <p:cNvPr id="4" name="Rectangle 3"/>
          <p:cNvSpPr/>
          <p:nvPr/>
        </p:nvSpPr>
        <p:spPr>
          <a:xfrm>
            <a:off x="457200" y="2802791"/>
            <a:ext cx="8229600" cy="3293209"/>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&lt;?</a:t>
            </a:r>
            <a:r>
              <a:rPr lang="en-US" sz="1600" dirty="0" err="1" smtClean="0">
                <a:solidFill>
                  <a:srgbClr val="569CD6"/>
                </a:solidFill>
                <a:latin typeface="Consolas"/>
              </a:rPr>
              <a:t>php</a:t>
            </a:r>
            <a:endParaRPr lang="en-US" sz="1600" dirty="0" smtClean="0">
              <a:solidFill>
                <a:srgbClr val="D4D4D4"/>
              </a:solidFill>
              <a:latin typeface="Consolas"/>
            </a:endParaRPr>
          </a:p>
          <a:p>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6A9955"/>
                </a:solidFill>
                <a:latin typeface="Consolas"/>
              </a:rPr>
              <a:t> Template Name: Site Visitation Upload</a:t>
            </a:r>
            <a:endParaRPr lang="en-US" sz="1600" dirty="0" smtClean="0">
              <a:solidFill>
                <a:srgbClr val="D4D4D4"/>
              </a:solidFill>
              <a:latin typeface="Consolas"/>
            </a:endParaRPr>
          </a:p>
          <a:p>
            <a:r>
              <a:rPr lang="en-US" sz="1600" dirty="0" smtClean="0">
                <a:solidFill>
                  <a:srgbClr val="6A9955"/>
                </a:solidFill>
                <a:latin typeface="Consolas"/>
              </a:rPr>
              <a:t> */</a:t>
            </a:r>
            <a:endParaRPr lang="en-US" sz="1600" dirty="0" smtClean="0">
              <a:solidFill>
                <a:srgbClr val="D4D4D4"/>
              </a:solidFill>
              <a:latin typeface="Consolas"/>
            </a:endParaRPr>
          </a:p>
          <a:p>
            <a:r>
              <a:rPr lang="en-US" sz="1600" dirty="0" smtClean="0">
                <a:solidFill>
                  <a:srgbClr val="569CD6"/>
                </a:solidFill>
                <a:latin typeface="Consolas"/>
              </a:rPr>
              <a:t>?&gt;</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&lt;?</a:t>
            </a:r>
            <a:r>
              <a:rPr lang="en-US" sz="1600" dirty="0" err="1" smtClean="0">
                <a:solidFill>
                  <a:srgbClr val="569CD6"/>
                </a:solidFill>
                <a:latin typeface="Consolas"/>
              </a:rPr>
              <a:t>php</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$TEMPLATE_DIRECTORY_URI</a:t>
            </a:r>
            <a:r>
              <a:rPr lang="en-US" sz="1600" dirty="0" smtClean="0">
                <a:solidFill>
                  <a:srgbClr val="D4D4D4"/>
                </a:solidFill>
                <a:latin typeface="Consolas"/>
              </a:rPr>
              <a:t> = </a:t>
            </a:r>
            <a:r>
              <a:rPr lang="en-US" sz="1600" dirty="0" err="1" smtClean="0">
                <a:solidFill>
                  <a:srgbClr val="DCDCAA"/>
                </a:solidFill>
                <a:latin typeface="Consolas"/>
              </a:rPr>
              <a:t>get_stylesheet_directory_uri</a:t>
            </a:r>
            <a:r>
              <a:rPr lang="en-US" sz="1600" dirty="0" smtClean="0">
                <a:solidFill>
                  <a:srgbClr val="D4D4D4"/>
                </a:solidFill>
                <a:latin typeface="Consolas"/>
              </a:rPr>
              <a:t>();</a:t>
            </a:r>
          </a:p>
          <a:p>
            <a:r>
              <a:rPr lang="en-US" sz="1600" dirty="0" smtClean="0">
                <a:solidFill>
                  <a:srgbClr val="569CD6"/>
                </a:solidFill>
                <a:latin typeface="Consolas"/>
              </a:rPr>
              <a:t>?&gt;</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&lt;!DOCTYPE html&gt;</a:t>
            </a:r>
          </a:p>
          <a:p>
            <a:r>
              <a:rPr lang="en-US" sz="1600" dirty="0" smtClean="0">
                <a:solidFill>
                  <a:srgbClr val="D4D4D4"/>
                </a:solidFill>
                <a:latin typeface="Consolas"/>
              </a:rPr>
              <a:t>&lt;html&gt;</a:t>
            </a:r>
          </a:p>
          <a:p>
            <a:r>
              <a:rPr lang="en-US" sz="1600" dirty="0" smtClean="0">
                <a:solidFill>
                  <a:srgbClr val="D4D4D4"/>
                </a:solidFill>
                <a:latin typeface="Consolas"/>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Use the Page Template</a:t>
            </a:r>
            <a:endParaRPr lang="en-US" dirty="0"/>
          </a:p>
        </p:txBody>
      </p:sp>
      <p:sp>
        <p:nvSpPr>
          <p:cNvPr id="3" name="Content Placeholder 2"/>
          <p:cNvSpPr>
            <a:spLocks noGrp="1"/>
          </p:cNvSpPr>
          <p:nvPr>
            <p:ph idx="1"/>
          </p:nvPr>
        </p:nvSpPr>
        <p:spPr/>
        <p:txBody>
          <a:bodyPr/>
          <a:lstStyle/>
          <a:p>
            <a:r>
              <a:rPr lang="en-US" sz="2200" dirty="0" smtClean="0"/>
              <a:t>Go to </a:t>
            </a:r>
            <a:r>
              <a:rPr lang="en-US" sz="2200" dirty="0" err="1" smtClean="0"/>
              <a:t>WordPress</a:t>
            </a:r>
            <a:r>
              <a:rPr lang="en-US" sz="2200" dirty="0" smtClean="0"/>
              <a:t> pages.</a:t>
            </a:r>
          </a:p>
          <a:p>
            <a:pPr lvl="1"/>
            <a:r>
              <a:rPr lang="en-US" sz="1800" dirty="0" smtClean="0">
                <a:hlinkClick r:id="rId2"/>
              </a:rPr>
              <a:t>https://example.com/wp-admin/edit.php?post_type=page</a:t>
            </a:r>
            <a:endParaRPr lang="en-US" sz="1800" dirty="0" smtClean="0"/>
          </a:p>
          <a:p>
            <a:r>
              <a:rPr lang="en-US" sz="2200" dirty="0" smtClean="0"/>
              <a:t>Create a new page.</a:t>
            </a:r>
          </a:p>
          <a:p>
            <a:r>
              <a:rPr lang="en-US" sz="2200" dirty="0" smtClean="0"/>
              <a:t>Set the page template attribute value to the Site Visitation.</a:t>
            </a:r>
          </a:p>
        </p:txBody>
      </p:sp>
      <p:pic>
        <p:nvPicPr>
          <p:cNvPr id="1027" name="Picture 3"/>
          <p:cNvPicPr>
            <a:picLocks noChangeAspect="1" noChangeArrowheads="1"/>
          </p:cNvPicPr>
          <p:nvPr/>
        </p:nvPicPr>
        <p:blipFill>
          <a:blip r:embed="rId3" cstate="print"/>
          <a:srcRect/>
          <a:stretch>
            <a:fillRect/>
          </a:stretch>
        </p:blipFill>
        <p:spPr bwMode="auto">
          <a:xfrm>
            <a:off x="1295400" y="3291544"/>
            <a:ext cx="6549498" cy="3261656"/>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Diagram: Users, Posts</a:t>
            </a:r>
            <a:endParaRPr lang="en-US" dirty="0"/>
          </a:p>
        </p:txBody>
      </p:sp>
      <p:sp>
        <p:nvSpPr>
          <p:cNvPr id="3" name="Content Placeholder 2"/>
          <p:cNvSpPr>
            <a:spLocks noGrp="1"/>
          </p:cNvSpPr>
          <p:nvPr>
            <p:ph idx="1"/>
          </p:nvPr>
        </p:nvSpPr>
        <p:spPr/>
        <p:txBody>
          <a:bodyPr/>
          <a:lstStyle/>
          <a:p>
            <a:r>
              <a:rPr lang="en-US" sz="2400" dirty="0" smtClean="0">
                <a:hlinkClick r:id="rId2"/>
              </a:rPr>
              <a:t>https://codex.wordpress.org/Database_Description</a:t>
            </a:r>
            <a:endParaRPr lang="en-US" sz="2400" dirty="0" smtClean="0"/>
          </a:p>
          <a:p>
            <a:endParaRPr lang="en-US" sz="2400" dirty="0"/>
          </a:p>
        </p:txBody>
      </p:sp>
      <p:sp>
        <p:nvSpPr>
          <p:cNvPr id="52226" name="AutoShape 2" descr="https://codex.wordpress.org/images/thumb/2/25/WP4.4.2-ERD.png/500px-WP4.4.2-ERD.png"/>
          <p:cNvSpPr>
            <a:spLocks noChangeAspect="1" noChangeArrowheads="1"/>
          </p:cNvSpPr>
          <p:nvPr/>
        </p:nvSpPr>
        <p:spPr bwMode="auto">
          <a:xfrm>
            <a:off x="155575" y="-3222625"/>
            <a:ext cx="4762500" cy="6715125"/>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2228" name="Picture 4"/>
          <p:cNvPicPr>
            <a:picLocks noChangeAspect="1" noChangeArrowheads="1"/>
          </p:cNvPicPr>
          <p:nvPr/>
        </p:nvPicPr>
        <p:blipFill>
          <a:blip r:embed="rId3" cstate="print"/>
          <a:srcRect/>
          <a:stretch>
            <a:fillRect/>
          </a:stretch>
        </p:blipFill>
        <p:spPr bwMode="auto">
          <a:xfrm>
            <a:off x="2368550" y="2438400"/>
            <a:ext cx="4413250" cy="37147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Database Diagram: Posts, Post Meta</a:t>
            </a:r>
            <a:endParaRPr lang="en-US" sz="4200" dirty="0"/>
          </a:p>
        </p:txBody>
      </p:sp>
      <p:sp>
        <p:nvSpPr>
          <p:cNvPr id="52226" name="AutoShape 2" descr="https://codex.wordpress.org/images/thumb/2/25/WP4.4.2-ERD.png/500px-WP4.4.2-ERD.png"/>
          <p:cNvSpPr>
            <a:spLocks noChangeAspect="1" noChangeArrowheads="1"/>
          </p:cNvSpPr>
          <p:nvPr/>
        </p:nvSpPr>
        <p:spPr bwMode="auto">
          <a:xfrm>
            <a:off x="155575" y="-3222625"/>
            <a:ext cx="4762500" cy="6715125"/>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90116" name="Picture 4"/>
          <p:cNvPicPr>
            <a:picLocks noChangeAspect="1" noChangeArrowheads="1"/>
          </p:cNvPicPr>
          <p:nvPr/>
        </p:nvPicPr>
        <p:blipFill>
          <a:blip r:embed="rId2" cstate="print"/>
          <a:srcRect/>
          <a:stretch>
            <a:fillRect/>
          </a:stretch>
        </p:blipFill>
        <p:spPr bwMode="auto">
          <a:xfrm>
            <a:off x="3124200" y="1676400"/>
            <a:ext cx="3219450" cy="448945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Database Diagram: Posts, Attachments</a:t>
            </a:r>
            <a:endParaRPr lang="en-US" sz="4000" dirty="0"/>
          </a:p>
        </p:txBody>
      </p:sp>
      <p:sp>
        <p:nvSpPr>
          <p:cNvPr id="3" name="Content Placeholder 2"/>
          <p:cNvSpPr>
            <a:spLocks noGrp="1"/>
          </p:cNvSpPr>
          <p:nvPr>
            <p:ph idx="1"/>
          </p:nvPr>
        </p:nvSpPr>
        <p:spPr/>
        <p:txBody>
          <a:bodyPr/>
          <a:lstStyle/>
          <a:p>
            <a:r>
              <a:rPr lang="en-US" sz="2200" dirty="0" smtClean="0">
                <a:hlinkClick r:id="rId2"/>
              </a:rPr>
              <a:t>https://developer.wordpress.org/themes/template-files-section/attachment-template-files/</a:t>
            </a:r>
            <a:endParaRPr lang="en-US" sz="2200" dirty="0" smtClean="0"/>
          </a:p>
          <a:p>
            <a:r>
              <a:rPr lang="en-US" sz="2200" i="1" dirty="0" smtClean="0">
                <a:solidFill>
                  <a:srgbClr val="C00000"/>
                </a:solidFill>
              </a:rPr>
              <a:t>Attachments</a:t>
            </a:r>
            <a:r>
              <a:rPr lang="en-US" sz="2200" dirty="0" smtClean="0"/>
              <a:t> are a </a:t>
            </a:r>
            <a:r>
              <a:rPr lang="en-US" sz="2200" u="sng" dirty="0" smtClean="0"/>
              <a:t>special post type</a:t>
            </a:r>
            <a:r>
              <a:rPr lang="en-US" sz="2200" dirty="0" smtClean="0"/>
              <a:t> that holds information about a file uploaded through the </a:t>
            </a:r>
            <a:r>
              <a:rPr lang="en-US" sz="2200" dirty="0" err="1" smtClean="0"/>
              <a:t>WordPress</a:t>
            </a:r>
            <a:r>
              <a:rPr lang="en-US" sz="2200" dirty="0" smtClean="0"/>
              <a:t> media upload system, such as its description and name.</a:t>
            </a:r>
          </a:p>
          <a:p>
            <a:r>
              <a:rPr lang="en-US" sz="2200" dirty="0" smtClean="0"/>
              <a:t>For </a:t>
            </a:r>
            <a:r>
              <a:rPr lang="en-US" sz="2200" i="1" dirty="0" smtClean="0">
                <a:solidFill>
                  <a:srgbClr val="C00000"/>
                </a:solidFill>
              </a:rPr>
              <a:t>images</a:t>
            </a:r>
            <a:r>
              <a:rPr lang="en-US" sz="2200" dirty="0" smtClean="0"/>
              <a:t>, as an example, the attachment post type links to metadata information, about the size of the images, the thumbnails generated, the location of the image files, the HTML alt text, and even information obtained from EXIF data embedded in the images.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Database Diagram: Attachments</a:t>
            </a:r>
            <a:endParaRPr lang="en-US" sz="4000" dirty="0"/>
          </a:p>
        </p:txBody>
      </p:sp>
      <p:sp>
        <p:nvSpPr>
          <p:cNvPr id="3" name="Content Placeholder 2"/>
          <p:cNvSpPr>
            <a:spLocks noGrp="1"/>
          </p:cNvSpPr>
          <p:nvPr>
            <p:ph idx="1"/>
          </p:nvPr>
        </p:nvSpPr>
        <p:spPr/>
        <p:txBody>
          <a:bodyPr/>
          <a:lstStyle/>
          <a:p>
            <a:r>
              <a:rPr lang="en-US" sz="2200" dirty="0" smtClean="0"/>
              <a:t>The post that an attachment is related to is determined by the </a:t>
            </a:r>
            <a:r>
              <a:rPr lang="en-US" sz="2200" b="1" dirty="0" err="1" smtClean="0"/>
              <a:t>post_parent</a:t>
            </a:r>
            <a:r>
              <a:rPr lang="en-US" sz="2200" dirty="0" smtClean="0"/>
              <a:t> column on the </a:t>
            </a:r>
            <a:r>
              <a:rPr lang="en-US" sz="2200" b="1" dirty="0" err="1" smtClean="0"/>
              <a:t>wp_posts</a:t>
            </a:r>
            <a:r>
              <a:rPr lang="en-US" sz="2200" dirty="0" smtClean="0"/>
              <a:t> table.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Plug-in Folder</a:t>
            </a:r>
            <a:endParaRPr lang="en-US" dirty="0"/>
          </a:p>
        </p:txBody>
      </p:sp>
      <p:sp>
        <p:nvSpPr>
          <p:cNvPr id="3" name="Content Placeholder 2"/>
          <p:cNvSpPr>
            <a:spLocks noGrp="1"/>
          </p:cNvSpPr>
          <p:nvPr>
            <p:ph idx="1"/>
          </p:nvPr>
        </p:nvSpPr>
        <p:spPr/>
        <p:txBody>
          <a:bodyPr/>
          <a:lstStyle/>
          <a:p>
            <a:r>
              <a:rPr lang="en-US" sz="2400" dirty="0" smtClean="0"/>
              <a:t>It is best to review structure of an existing plug-in.</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2057400" y="2743200"/>
            <a:ext cx="5158740" cy="294894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index.php</a:t>
            </a:r>
            <a:endParaRPr lang="en-US" dirty="0"/>
          </a:p>
        </p:txBody>
      </p:sp>
      <p:sp>
        <p:nvSpPr>
          <p:cNvPr id="3" name="Content Placeholder 2"/>
          <p:cNvSpPr>
            <a:spLocks noGrp="1"/>
          </p:cNvSpPr>
          <p:nvPr>
            <p:ph idx="1"/>
          </p:nvPr>
        </p:nvSpPr>
        <p:spPr/>
        <p:txBody>
          <a:bodyPr/>
          <a:lstStyle/>
          <a:p>
            <a:r>
              <a:rPr lang="en-US" sz="2400" dirty="0" smtClean="0"/>
              <a:t>This file can be empty.</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2736850" y="3352800"/>
            <a:ext cx="3206750" cy="904875"/>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Create </a:t>
            </a:r>
            <a:r>
              <a:rPr lang="en-US" dirty="0" smtClean="0"/>
              <a:t>uninstall.php</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1828800" y="2514600"/>
            <a:ext cx="4956175" cy="292735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Create </a:t>
            </a:r>
            <a:r>
              <a:rPr lang="en-US" dirty="0" smtClean="0"/>
              <a:t>hello-world-plugin.php</a:t>
            </a:r>
            <a:endParaRPr lang="en-US" dirty="0"/>
          </a:p>
        </p:txBody>
      </p:sp>
      <p:sp>
        <p:nvSpPr>
          <p:cNvPr id="3" name="Content Placeholder 2"/>
          <p:cNvSpPr>
            <a:spLocks noGrp="1"/>
          </p:cNvSpPr>
          <p:nvPr>
            <p:ph idx="1"/>
          </p:nvPr>
        </p:nvSpPr>
        <p:spPr/>
        <p:txBody>
          <a:bodyPr/>
          <a:lstStyle/>
          <a:p>
            <a:r>
              <a:rPr lang="en-US" sz="2400" dirty="0" smtClean="0"/>
              <a:t>It can be any </a:t>
            </a:r>
            <a:r>
              <a:rPr lang="en-US" sz="2400" dirty="0" err="1" smtClean="0"/>
              <a:t>php</a:t>
            </a:r>
            <a:r>
              <a:rPr lang="en-US" sz="2400" dirty="0" smtClean="0"/>
              <a:t> file as long as its name is unique.</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1887538" y="2533650"/>
            <a:ext cx="5368925" cy="348615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register_activation_hook</a:t>
            </a:r>
            <a:endParaRPr lang="en-US" dirty="0"/>
          </a:p>
        </p:txBody>
      </p:sp>
      <p:sp>
        <p:nvSpPr>
          <p:cNvPr id="3" name="Content Placeholder 2"/>
          <p:cNvSpPr>
            <a:spLocks noGrp="1"/>
          </p:cNvSpPr>
          <p:nvPr>
            <p:ph idx="1"/>
          </p:nvPr>
        </p:nvSpPr>
        <p:spPr/>
        <p:txBody>
          <a:bodyPr/>
          <a:lstStyle/>
          <a:p>
            <a:r>
              <a:rPr lang="en-US" dirty="0" smtClean="0"/>
              <a:t>Hook called when a </a:t>
            </a:r>
            <a:r>
              <a:rPr lang="en-US" dirty="0" err="1" smtClean="0"/>
              <a:t>plugin</a:t>
            </a:r>
            <a:r>
              <a:rPr lang="en-US" dirty="0" smtClean="0"/>
              <a:t> is activated.</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Activate and Deactivate the Plug-in</a:t>
            </a:r>
            <a:endParaRPr lang="en-US" dirty="0"/>
          </a:p>
        </p:txBody>
      </p:sp>
      <p:sp>
        <p:nvSpPr>
          <p:cNvPr id="3" name="Content Placeholder 2"/>
          <p:cNvSpPr>
            <a:spLocks noGrp="1"/>
          </p:cNvSpPr>
          <p:nvPr>
            <p:ph idx="1"/>
          </p:nvPr>
        </p:nvSpPr>
        <p:spPr/>
        <p:txBody>
          <a:bodyPr/>
          <a:lstStyle/>
          <a:p>
            <a:r>
              <a:rPr lang="en-US" dirty="0" smtClean="0"/>
              <a:t>Activating and then deactivating the Plug-in to test the new created plug-in.</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WP-</a:t>
            </a:r>
            <a:r>
              <a:rPr lang="en-US" dirty="0" err="1" smtClean="0"/>
              <a:t>Cron</a:t>
            </a:r>
            <a:endParaRPr lang="en-US" dirty="0"/>
          </a:p>
        </p:txBody>
      </p:sp>
      <p:sp>
        <p:nvSpPr>
          <p:cNvPr id="3" name="Content Placeholder 2"/>
          <p:cNvSpPr>
            <a:spLocks noGrp="1"/>
          </p:cNvSpPr>
          <p:nvPr>
            <p:ph idx="1"/>
          </p:nvPr>
        </p:nvSpPr>
        <p:spPr/>
        <p:txBody>
          <a:bodyPr/>
          <a:lstStyle/>
          <a:p>
            <a:r>
              <a:rPr lang="en-US" sz="2200" dirty="0" smtClean="0">
                <a:hlinkClick r:id="rId2"/>
              </a:rPr>
              <a:t>https://developer.wordpress.org/plugins/cron/</a:t>
            </a:r>
            <a:endParaRPr lang="en-US" sz="2200" dirty="0" smtClean="0"/>
          </a:p>
          <a:p>
            <a:r>
              <a:rPr lang="en-US" sz="2200" dirty="0" smtClean="0"/>
              <a:t>WP-</a:t>
            </a:r>
            <a:r>
              <a:rPr lang="en-US" sz="2200" dirty="0" err="1" smtClean="0"/>
              <a:t>Cron</a:t>
            </a:r>
            <a:r>
              <a:rPr lang="en-US" sz="2200" dirty="0" smtClean="0"/>
              <a:t> is how </a:t>
            </a:r>
            <a:r>
              <a:rPr lang="en-US" sz="2200" dirty="0" err="1" smtClean="0"/>
              <a:t>WordPress</a:t>
            </a:r>
            <a:r>
              <a:rPr lang="en-US" sz="2200" dirty="0" smtClean="0"/>
              <a:t> handles scheduling time-based tasks in </a:t>
            </a:r>
            <a:r>
              <a:rPr lang="en-US" sz="2200" dirty="0" err="1" smtClean="0"/>
              <a:t>WordPress</a:t>
            </a:r>
            <a:r>
              <a:rPr lang="en-US" sz="2200" dirty="0" smtClean="0"/>
              <a:t>.</a:t>
            </a:r>
          </a:p>
          <a:p>
            <a:r>
              <a:rPr lang="en-US" sz="2200" dirty="0" smtClean="0"/>
              <a:t>Several </a:t>
            </a:r>
            <a:r>
              <a:rPr lang="en-US" sz="2200" dirty="0" err="1" smtClean="0"/>
              <a:t>WordPress</a:t>
            </a:r>
            <a:r>
              <a:rPr lang="en-US" sz="2200" dirty="0" smtClean="0"/>
              <a:t> core features, such as checking for updates and publishing scheduled post, utilize WP-</a:t>
            </a:r>
            <a:r>
              <a:rPr lang="en-US" sz="2200" dirty="0" err="1" smtClean="0"/>
              <a:t>Cron</a:t>
            </a:r>
            <a:r>
              <a:rPr lang="en-US" sz="2200" dirty="0" smtClean="0"/>
              <a:t>.</a:t>
            </a:r>
          </a:p>
          <a:p>
            <a:r>
              <a:rPr lang="en-US" sz="2200" dirty="0" smtClean="0"/>
              <a:t>The “</a:t>
            </a:r>
            <a:r>
              <a:rPr lang="en-US" sz="2200" dirty="0" err="1" smtClean="0"/>
              <a:t>Cron</a:t>
            </a:r>
            <a:r>
              <a:rPr lang="en-US" sz="2200" dirty="0" smtClean="0"/>
              <a:t>” part of the name comes from the </a:t>
            </a:r>
            <a:r>
              <a:rPr lang="en-US" sz="2200" dirty="0" err="1" smtClean="0"/>
              <a:t>cron</a:t>
            </a:r>
            <a:r>
              <a:rPr lang="en-US" sz="2200" dirty="0" smtClean="0"/>
              <a:t> time-based task scheduling system that is available on UNIX systems.</a:t>
            </a:r>
          </a:p>
          <a:p>
            <a:r>
              <a:rPr lang="en-US" sz="2200" dirty="0" smtClean="0"/>
              <a:t>WP-</a:t>
            </a:r>
            <a:r>
              <a:rPr lang="en-US" sz="2200" dirty="0" err="1" smtClean="0"/>
              <a:t>Cron</a:t>
            </a:r>
            <a:r>
              <a:rPr lang="en-US" sz="2200" dirty="0" smtClean="0"/>
              <a:t> works by checking, on every page load, a list of scheduled tasks to see what needs to be run. Any tasks due to run will be called during that page load.</a:t>
            </a:r>
          </a:p>
          <a:p>
            <a:r>
              <a:rPr lang="en-US" sz="2200" dirty="0" smtClean="0">
                <a:solidFill>
                  <a:srgbClr val="C00000"/>
                </a:solidFill>
              </a:rPr>
              <a:t>WP-</a:t>
            </a:r>
            <a:r>
              <a:rPr lang="en-US" sz="2200" dirty="0" err="1" smtClean="0">
                <a:solidFill>
                  <a:srgbClr val="C00000"/>
                </a:solidFill>
              </a:rPr>
              <a:t>Cron</a:t>
            </a:r>
            <a:r>
              <a:rPr lang="en-US" sz="2200" dirty="0" smtClean="0">
                <a:solidFill>
                  <a:srgbClr val="C00000"/>
                </a:solidFill>
              </a:rPr>
              <a:t> does not run constantly as the system </a:t>
            </a:r>
            <a:r>
              <a:rPr lang="en-US" sz="2200" dirty="0" err="1" smtClean="0">
                <a:solidFill>
                  <a:srgbClr val="C00000"/>
                </a:solidFill>
              </a:rPr>
              <a:t>cron</a:t>
            </a:r>
            <a:r>
              <a:rPr lang="en-US" sz="2200" dirty="0" smtClean="0">
                <a:solidFill>
                  <a:srgbClr val="C00000"/>
                </a:solidFill>
              </a:rPr>
              <a:t> does; it is only triggered on page load.</a:t>
            </a:r>
            <a:endParaRPr lang="en-US" sz="2200" dirty="0">
              <a:solidFill>
                <a:srgbClr val="C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Use WP-</a:t>
            </a:r>
            <a:r>
              <a:rPr lang="en-US" dirty="0" err="1" smtClean="0"/>
              <a:t>Cron</a:t>
            </a:r>
            <a:endParaRPr lang="en-US" dirty="0"/>
          </a:p>
        </p:txBody>
      </p:sp>
      <p:sp>
        <p:nvSpPr>
          <p:cNvPr id="3" name="Content Placeholder 2"/>
          <p:cNvSpPr>
            <a:spLocks noGrp="1"/>
          </p:cNvSpPr>
          <p:nvPr>
            <p:ph idx="1"/>
          </p:nvPr>
        </p:nvSpPr>
        <p:spPr/>
        <p:txBody>
          <a:bodyPr/>
          <a:lstStyle/>
          <a:p>
            <a:r>
              <a:rPr lang="en-US" sz="2200" dirty="0" err="1" smtClean="0"/>
              <a:t>WordPress</a:t>
            </a:r>
            <a:r>
              <a:rPr lang="en-US" sz="2200" dirty="0" smtClean="0"/>
              <a:t> core and many </a:t>
            </a:r>
            <a:r>
              <a:rPr lang="en-US" sz="2200" dirty="0" err="1" smtClean="0"/>
              <a:t>plugins</a:t>
            </a:r>
            <a:r>
              <a:rPr lang="en-US" sz="2200" dirty="0" smtClean="0"/>
              <a:t> need a scheduling system to perform time-based tasks.</a:t>
            </a:r>
          </a:p>
          <a:p>
            <a:r>
              <a:rPr lang="en-US" sz="2200" dirty="0" smtClean="0"/>
              <a:t>However, many hosting services are shared and do not provide access to the system scheduler.</a:t>
            </a:r>
          </a:p>
          <a:p>
            <a:r>
              <a:rPr lang="en-US" sz="2200" dirty="0" smtClean="0"/>
              <a:t>Using the </a:t>
            </a:r>
            <a:r>
              <a:rPr lang="en-US" sz="2200" dirty="0" err="1" smtClean="0"/>
              <a:t>WordPress</a:t>
            </a:r>
            <a:r>
              <a:rPr lang="en-US" sz="2200" dirty="0" smtClean="0"/>
              <a:t> API is a simpler method for setting scheduled tasks than going outside of </a:t>
            </a:r>
            <a:r>
              <a:rPr lang="en-US" sz="2200" dirty="0" err="1" smtClean="0"/>
              <a:t>WordPress</a:t>
            </a:r>
            <a:r>
              <a:rPr lang="en-US" sz="2200" dirty="0" smtClean="0"/>
              <a:t> to the system scheduler.</a:t>
            </a:r>
          </a:p>
          <a:p>
            <a:r>
              <a:rPr lang="en-US" sz="2200" dirty="0" smtClean="0"/>
              <a:t>With the system scheduler, if the time passes and the task did not run, it will not be re-attempted. With WP-</a:t>
            </a:r>
            <a:r>
              <a:rPr lang="en-US" sz="2200" dirty="0" err="1" smtClean="0"/>
              <a:t>Cron</a:t>
            </a:r>
            <a:r>
              <a:rPr lang="en-US" sz="2200" dirty="0" smtClean="0"/>
              <a:t>, all scheduled tasks are put into a queue and will run at the next opportunity (meaning the next page load). So while you </a:t>
            </a:r>
            <a:r>
              <a:rPr lang="en-US" sz="2200" dirty="0" smtClean="0"/>
              <a:t>can't </a:t>
            </a:r>
            <a:r>
              <a:rPr lang="en-US" sz="2200" dirty="0" smtClean="0"/>
              <a:t>be 100% sure </a:t>
            </a:r>
            <a:r>
              <a:rPr lang="en-US" sz="2200" i="1" dirty="0" smtClean="0"/>
              <a:t>when</a:t>
            </a:r>
            <a:r>
              <a:rPr lang="en-US" sz="2200" dirty="0" smtClean="0"/>
              <a:t> your task will run, you can be 100% sure that it will run </a:t>
            </a:r>
            <a:r>
              <a:rPr lang="en-US" sz="2200" i="1" dirty="0" smtClean="0"/>
              <a:t>eventually</a:t>
            </a:r>
            <a:r>
              <a:rPr lang="en-US" sz="2200" dirty="0" smtClean="0"/>
              <a:t>.</a:t>
            </a:r>
            <a:endParaRPr lang="en-US" sz="2200"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WP </a:t>
            </a:r>
            <a:r>
              <a:rPr lang="en-US" dirty="0" err="1" smtClean="0"/>
              <a:t>Crontrol</a:t>
            </a:r>
            <a:r>
              <a:rPr lang="en-US" dirty="0" smtClean="0"/>
              <a:t> Plug-in</a:t>
            </a:r>
            <a:endParaRPr lang="en-US" dirty="0"/>
          </a:p>
        </p:txBody>
      </p:sp>
      <p:sp>
        <p:nvSpPr>
          <p:cNvPr id="3" name="Content Placeholder 2"/>
          <p:cNvSpPr>
            <a:spLocks noGrp="1"/>
          </p:cNvSpPr>
          <p:nvPr>
            <p:ph idx="1"/>
          </p:nvPr>
        </p:nvSpPr>
        <p:spPr/>
        <p:txBody>
          <a:bodyPr/>
          <a:lstStyle/>
          <a:p>
            <a:r>
              <a:rPr lang="en-US" sz="2400" dirty="0" smtClean="0">
                <a:hlinkClick r:id="rId2"/>
              </a:rPr>
              <a:t>https://wordpress.org/plugins/wp-crontrol/</a:t>
            </a:r>
            <a:endParaRPr lang="en-US" sz="2400" dirty="0" smtClean="0"/>
          </a:p>
          <a:p>
            <a:endParaRPr lang="en-US" sz="2400" dirty="0"/>
          </a:p>
        </p:txBody>
      </p:sp>
      <p:pic>
        <p:nvPicPr>
          <p:cNvPr id="1027" name="Picture 3"/>
          <p:cNvPicPr>
            <a:picLocks noChangeAspect="1" noChangeArrowheads="1"/>
          </p:cNvPicPr>
          <p:nvPr/>
        </p:nvPicPr>
        <p:blipFill>
          <a:blip r:embed="rId3" cstate="print"/>
          <a:srcRect/>
          <a:stretch>
            <a:fillRect/>
          </a:stretch>
        </p:blipFill>
        <p:spPr bwMode="auto">
          <a:xfrm>
            <a:off x="910590" y="2306002"/>
            <a:ext cx="7623810" cy="3637598"/>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a </a:t>
            </a:r>
            <a:r>
              <a:rPr lang="en-US" dirty="0" err="1" smtClean="0"/>
              <a:t>Cron</a:t>
            </a:r>
            <a:r>
              <a:rPr lang="en-US" dirty="0" smtClean="0"/>
              <a:t> Job in a Plug-in</a:t>
            </a:r>
            <a:endParaRPr lang="en-US" dirty="0"/>
          </a:p>
        </p:txBody>
      </p:sp>
      <p:sp>
        <p:nvSpPr>
          <p:cNvPr id="3" name="Content Placeholder 2"/>
          <p:cNvSpPr>
            <a:spLocks noGrp="1"/>
          </p:cNvSpPr>
          <p:nvPr>
            <p:ph idx="1"/>
          </p:nvPr>
        </p:nvSpPr>
        <p:spPr/>
        <p:style>
          <a:lnRef idx="1">
            <a:schemeClr val="dk1"/>
          </a:lnRef>
          <a:fillRef idx="2">
            <a:schemeClr val="dk1"/>
          </a:fillRef>
          <a:effectRef idx="1">
            <a:schemeClr val="dk1"/>
          </a:effectRef>
          <a:fontRef idx="minor">
            <a:schemeClr val="dk1"/>
          </a:fontRef>
        </p:style>
        <p:txBody>
          <a:bodyPr/>
          <a:lstStyle/>
          <a:p>
            <a:pPr>
              <a:buNone/>
            </a:pPr>
            <a:r>
              <a:rPr lang="en-US" sz="1200" dirty="0" smtClean="0">
                <a:latin typeface="Consolas" pitchFamily="49" charset="0"/>
              </a:rPr>
              <a:t>public function __construct( $file = </a:t>
            </a:r>
            <a:r>
              <a:rPr lang="en-US" sz="1200" dirty="0" smtClean="0">
                <a:latin typeface="Consolas" pitchFamily="49" charset="0"/>
              </a:rPr>
              <a:t>'', </a:t>
            </a:r>
            <a:r>
              <a:rPr lang="en-US" sz="1200" dirty="0" smtClean="0">
                <a:latin typeface="Consolas" pitchFamily="49" charset="0"/>
              </a:rPr>
              <a:t>$version = </a:t>
            </a:r>
            <a:r>
              <a:rPr lang="en-US" sz="1200" dirty="0" smtClean="0">
                <a:latin typeface="Consolas" pitchFamily="49" charset="0"/>
              </a:rPr>
              <a:t>'1.0.0' </a:t>
            </a:r>
            <a:r>
              <a:rPr lang="en-US" sz="1200" dirty="0" smtClean="0">
                <a:latin typeface="Consolas" pitchFamily="49" charset="0"/>
              </a:rPr>
              <a:t>) {</a:t>
            </a:r>
          </a:p>
          <a:p>
            <a:pPr>
              <a:buNone/>
            </a:pPr>
            <a:r>
              <a:rPr lang="en-US" sz="1200" dirty="0" smtClean="0">
                <a:latin typeface="Consolas" pitchFamily="49" charset="0"/>
              </a:rPr>
              <a:t>	//* Load </a:t>
            </a:r>
            <a:r>
              <a:rPr lang="en-US" sz="1200" dirty="0" err="1" smtClean="0">
                <a:latin typeface="Consolas" pitchFamily="49" charset="0"/>
              </a:rPr>
              <a:t>plugin</a:t>
            </a:r>
            <a:r>
              <a:rPr lang="en-US" sz="1200" dirty="0" smtClean="0">
                <a:latin typeface="Consolas" pitchFamily="49" charset="0"/>
              </a:rPr>
              <a:t> environment variables</a:t>
            </a:r>
          </a:p>
          <a:p>
            <a:pPr>
              <a:buNone/>
            </a:pPr>
            <a:r>
              <a:rPr lang="en-US" sz="1200" dirty="0" smtClean="0">
                <a:latin typeface="Consolas" pitchFamily="49" charset="0"/>
              </a:rPr>
              <a:t>	$this-&gt;file = $file;</a:t>
            </a:r>
          </a:p>
          <a:p>
            <a:pPr>
              <a:buNone/>
            </a:pPr>
            <a:r>
              <a:rPr lang="en-US" sz="1200" dirty="0" smtClean="0">
                <a:latin typeface="Consolas" pitchFamily="49" charset="0"/>
              </a:rPr>
              <a:t>	</a:t>
            </a:r>
            <a:r>
              <a:rPr lang="en-US" sz="1200" b="1" dirty="0" err="1" smtClean="0">
                <a:latin typeface="Consolas" pitchFamily="49" charset="0"/>
              </a:rPr>
              <a:t>register_activation_hook</a:t>
            </a:r>
            <a:r>
              <a:rPr lang="en-US" sz="1200" b="1" dirty="0" smtClean="0">
                <a:latin typeface="Consolas" pitchFamily="49" charset="0"/>
              </a:rPr>
              <a:t>( $this-&gt;file, array( $this, </a:t>
            </a:r>
            <a:r>
              <a:rPr lang="en-US" sz="1200" b="1" dirty="0" smtClean="0">
                <a:latin typeface="Consolas" pitchFamily="49" charset="0"/>
              </a:rPr>
              <a:t>'</a:t>
            </a:r>
            <a:r>
              <a:rPr lang="en-US" sz="1200" b="1" dirty="0" err="1" smtClean="0">
                <a:latin typeface="Consolas" pitchFamily="49" charset="0"/>
              </a:rPr>
              <a:t>rjcolorado_cron_schedule</a:t>
            </a:r>
            <a:r>
              <a:rPr lang="en-US" sz="1200" b="1" dirty="0" smtClean="0">
                <a:latin typeface="Consolas" pitchFamily="49" charset="0"/>
              </a:rPr>
              <a:t>') </a:t>
            </a:r>
            <a:r>
              <a:rPr lang="en-US" sz="1200" b="1" dirty="0" smtClean="0">
                <a:latin typeface="Consolas" pitchFamily="49" charset="0"/>
              </a:rPr>
              <a:t>);</a:t>
            </a:r>
          </a:p>
          <a:p>
            <a:pPr>
              <a:buNone/>
            </a:pPr>
            <a:r>
              <a:rPr lang="en-US" sz="1200" b="1" dirty="0" smtClean="0">
                <a:latin typeface="Consolas" pitchFamily="49" charset="0"/>
              </a:rPr>
              <a:t>	</a:t>
            </a:r>
            <a:r>
              <a:rPr lang="en-US" sz="1200" b="1" dirty="0" err="1" smtClean="0">
                <a:latin typeface="Consolas" pitchFamily="49" charset="0"/>
              </a:rPr>
              <a:t>add_action</a:t>
            </a:r>
            <a:r>
              <a:rPr lang="en-US" sz="1200" b="1" dirty="0" smtClean="0">
                <a:latin typeface="Consolas" pitchFamily="49" charset="0"/>
              </a:rPr>
              <a:t>( </a:t>
            </a:r>
            <a:r>
              <a:rPr lang="en-US" sz="1200" b="1" dirty="0" smtClean="0">
                <a:latin typeface="Consolas" pitchFamily="49" charset="0"/>
              </a:rPr>
              <a:t>'</a:t>
            </a:r>
            <a:r>
              <a:rPr lang="en-US" sz="1200" b="1" dirty="0" err="1" smtClean="0">
                <a:latin typeface="Consolas" pitchFamily="49" charset="0"/>
              </a:rPr>
              <a:t>rjcolorado_cron_hook</a:t>
            </a:r>
            <a:r>
              <a:rPr lang="en-US" sz="1200" b="1" dirty="0" smtClean="0">
                <a:latin typeface="Consolas" pitchFamily="49" charset="0"/>
              </a:rPr>
              <a:t>', </a:t>
            </a:r>
            <a:r>
              <a:rPr lang="en-US" sz="1200" b="1" dirty="0" smtClean="0">
                <a:latin typeface="Consolas" pitchFamily="49" charset="0"/>
              </a:rPr>
              <a:t>array( $this, </a:t>
            </a:r>
            <a:r>
              <a:rPr lang="en-US" sz="1200" b="1" dirty="0" smtClean="0">
                <a:latin typeface="Consolas" pitchFamily="49" charset="0"/>
              </a:rPr>
              <a:t>'</a:t>
            </a:r>
            <a:r>
              <a:rPr lang="en-US" sz="1200" b="1" dirty="0" err="1" smtClean="0">
                <a:latin typeface="Consolas" pitchFamily="49" charset="0"/>
              </a:rPr>
              <a:t>rjcolorado_cron_profile_email_reminder</a:t>
            </a:r>
            <a:r>
              <a:rPr lang="en-US" sz="1200" b="1" dirty="0" smtClean="0">
                <a:latin typeface="Consolas" pitchFamily="49" charset="0"/>
              </a:rPr>
              <a:t>'), </a:t>
            </a:r>
            <a:r>
              <a:rPr lang="en-US" sz="1200" b="1" dirty="0" smtClean="0">
                <a:latin typeface="Consolas" pitchFamily="49" charset="0"/>
              </a:rPr>
              <a:t>10 );</a:t>
            </a:r>
          </a:p>
          <a:p>
            <a:pPr>
              <a:buNone/>
            </a:pPr>
            <a:r>
              <a:rPr lang="en-US" sz="1200" dirty="0" smtClean="0">
                <a:latin typeface="Consolas" pitchFamily="49" charset="0"/>
              </a:rPr>
              <a:t>…</a:t>
            </a:r>
          </a:p>
          <a:p>
            <a:pPr>
              <a:buNone/>
            </a:pPr>
            <a:r>
              <a:rPr lang="en-US" sz="1200" dirty="0" smtClean="0">
                <a:latin typeface="Consolas" pitchFamily="49" charset="0"/>
              </a:rPr>
              <a:t>}</a:t>
            </a:r>
          </a:p>
          <a:p>
            <a:pPr>
              <a:buNone/>
            </a:pPr>
            <a:endParaRPr lang="en-US" sz="1200" dirty="0" smtClean="0">
              <a:latin typeface="Consolas" pitchFamily="49" charset="0"/>
            </a:endParaRPr>
          </a:p>
          <a:p>
            <a:pPr>
              <a:buNone/>
            </a:pPr>
            <a:r>
              <a:rPr lang="en-US" sz="1200" dirty="0" smtClean="0">
                <a:latin typeface="Consolas" pitchFamily="49" charset="0"/>
              </a:rPr>
              <a:t>public function </a:t>
            </a:r>
            <a:r>
              <a:rPr lang="en-US" sz="1200" dirty="0" err="1" smtClean="0">
                <a:latin typeface="Consolas" pitchFamily="49" charset="0"/>
              </a:rPr>
              <a:t>rjcolorado_cron_schedule</a:t>
            </a:r>
            <a:r>
              <a:rPr lang="en-US" sz="1200" dirty="0" smtClean="0">
                <a:latin typeface="Consolas" pitchFamily="49" charset="0"/>
              </a:rPr>
              <a:t>() {</a:t>
            </a:r>
          </a:p>
          <a:p>
            <a:pPr>
              <a:buNone/>
            </a:pPr>
            <a:r>
              <a:rPr lang="en-US" sz="1200" dirty="0" smtClean="0">
                <a:latin typeface="Consolas" pitchFamily="49" charset="0"/>
              </a:rPr>
              <a:t>	//verify event has not been scheduled</a:t>
            </a:r>
          </a:p>
          <a:p>
            <a:pPr>
              <a:buNone/>
            </a:pPr>
            <a:r>
              <a:rPr lang="en-US" sz="1200" dirty="0" smtClean="0">
                <a:latin typeface="Consolas" pitchFamily="49" charset="0"/>
              </a:rPr>
              <a:t>	if ( ! </a:t>
            </a:r>
            <a:r>
              <a:rPr lang="en-US" sz="1200" dirty="0" err="1" smtClean="0">
                <a:latin typeface="Consolas" pitchFamily="49" charset="0"/>
              </a:rPr>
              <a:t>wp_next_scheduled</a:t>
            </a:r>
            <a:r>
              <a:rPr lang="en-US" sz="1200" dirty="0" smtClean="0">
                <a:latin typeface="Consolas" pitchFamily="49" charset="0"/>
              </a:rPr>
              <a:t>( </a:t>
            </a:r>
            <a:r>
              <a:rPr lang="en-US" sz="1200" dirty="0" smtClean="0">
                <a:latin typeface="Consolas" pitchFamily="49" charset="0"/>
              </a:rPr>
              <a:t>'</a:t>
            </a:r>
            <a:r>
              <a:rPr lang="en-US" sz="1200" b="1" dirty="0" err="1" smtClean="0">
                <a:latin typeface="Consolas" pitchFamily="49" charset="0"/>
              </a:rPr>
              <a:t>rjcolorado_cron_hook</a:t>
            </a:r>
            <a:r>
              <a:rPr lang="en-US" sz="1200" dirty="0" smtClean="0">
                <a:latin typeface="Consolas" pitchFamily="49" charset="0"/>
              </a:rPr>
              <a:t>' </a:t>
            </a:r>
            <a:r>
              <a:rPr lang="en-US" sz="1200" dirty="0" smtClean="0">
                <a:latin typeface="Consolas" pitchFamily="49" charset="0"/>
              </a:rPr>
              <a:t>) ) {</a:t>
            </a:r>
          </a:p>
          <a:p>
            <a:pPr>
              <a:buNone/>
            </a:pPr>
            <a:r>
              <a:rPr lang="en-US" sz="1200" dirty="0" smtClean="0">
                <a:latin typeface="Consolas" pitchFamily="49" charset="0"/>
              </a:rPr>
              <a:t>		//schedule the event to run hourly</a:t>
            </a:r>
          </a:p>
          <a:p>
            <a:pPr>
              <a:buNone/>
            </a:pPr>
            <a:r>
              <a:rPr lang="en-US" sz="1200" dirty="0" smtClean="0">
                <a:latin typeface="Consolas" pitchFamily="49" charset="0"/>
              </a:rPr>
              <a:t>		</a:t>
            </a:r>
            <a:r>
              <a:rPr lang="en-US" sz="1200" dirty="0" err="1" smtClean="0">
                <a:latin typeface="Consolas" pitchFamily="49" charset="0"/>
              </a:rPr>
              <a:t>wp_schedule_event</a:t>
            </a:r>
            <a:r>
              <a:rPr lang="en-US" sz="1200" dirty="0" smtClean="0">
                <a:latin typeface="Consolas" pitchFamily="49" charset="0"/>
              </a:rPr>
              <a:t>( time(), </a:t>
            </a:r>
            <a:r>
              <a:rPr lang="en-US" sz="1200" dirty="0" smtClean="0">
                <a:latin typeface="Consolas" pitchFamily="49" charset="0"/>
              </a:rPr>
              <a:t>'hourly', '</a:t>
            </a:r>
            <a:r>
              <a:rPr lang="en-US" sz="1200" b="1" dirty="0" err="1" smtClean="0">
                <a:latin typeface="Consolas" pitchFamily="49" charset="0"/>
              </a:rPr>
              <a:t>rjcolorado_cron_hook</a:t>
            </a:r>
            <a:r>
              <a:rPr lang="en-US" sz="1200" dirty="0" smtClean="0">
                <a:latin typeface="Consolas" pitchFamily="49" charset="0"/>
              </a:rPr>
              <a:t>' </a:t>
            </a:r>
            <a:r>
              <a:rPr lang="en-US" sz="1200" dirty="0" smtClean="0">
                <a:latin typeface="Consolas" pitchFamily="49" charset="0"/>
              </a:rPr>
              <a:t>);</a:t>
            </a:r>
          </a:p>
          <a:p>
            <a:pPr>
              <a:buNone/>
            </a:pPr>
            <a:r>
              <a:rPr lang="en-US" sz="1200" dirty="0" smtClean="0">
                <a:latin typeface="Consolas" pitchFamily="49" charset="0"/>
              </a:rPr>
              <a:t>	}</a:t>
            </a:r>
          </a:p>
          <a:p>
            <a:pPr>
              <a:buNone/>
            </a:pPr>
            <a:r>
              <a:rPr lang="en-US" sz="1200" dirty="0" smtClean="0">
                <a:latin typeface="Consolas" pitchFamily="49" charset="0"/>
              </a:rPr>
              <a:t>}</a:t>
            </a:r>
          </a:p>
          <a:p>
            <a:pPr>
              <a:buNone/>
            </a:pPr>
            <a:r>
              <a:rPr lang="en-US" sz="1200" dirty="0" smtClean="0">
                <a:latin typeface="Consolas" pitchFamily="49" charset="0"/>
              </a:rPr>
              <a:t>public function </a:t>
            </a:r>
            <a:r>
              <a:rPr lang="en-US" sz="1200" b="1" dirty="0" err="1" smtClean="0">
                <a:latin typeface="Consolas" pitchFamily="49" charset="0"/>
              </a:rPr>
              <a:t>rjcolorado_cron_profile_email_reminder</a:t>
            </a:r>
            <a:r>
              <a:rPr lang="en-US" sz="1200" dirty="0" smtClean="0">
                <a:latin typeface="Consolas" pitchFamily="49" charset="0"/>
              </a:rPr>
              <a:t>() {</a:t>
            </a:r>
          </a:p>
          <a:p>
            <a:pPr>
              <a:buNone/>
            </a:pPr>
            <a:r>
              <a:rPr lang="en-US" sz="1200" dirty="0" smtClean="0">
                <a:latin typeface="Consolas" pitchFamily="49" charset="0"/>
              </a:rPr>
              <a:t>	//send scheduled email</a:t>
            </a:r>
          </a:p>
          <a:p>
            <a:pPr>
              <a:buNone/>
            </a:pPr>
            <a:r>
              <a:rPr lang="en-US" sz="1200" dirty="0" smtClean="0">
                <a:latin typeface="Consolas" pitchFamily="49" charset="0"/>
              </a:rPr>
              <a:t>	</a:t>
            </a:r>
            <a:r>
              <a:rPr lang="en-US" sz="1200" dirty="0" err="1" smtClean="0">
                <a:latin typeface="Consolas" pitchFamily="49" charset="0"/>
              </a:rPr>
              <a:t>wp_mail</a:t>
            </a:r>
            <a:r>
              <a:rPr lang="en-US" sz="1200" dirty="0" smtClean="0">
                <a:latin typeface="Consolas" pitchFamily="49" charset="0"/>
              </a:rPr>
              <a:t>( </a:t>
            </a:r>
            <a:r>
              <a:rPr lang="en-US" sz="1200" dirty="0" smtClean="0">
                <a:latin typeface="Consolas" pitchFamily="49" charset="0"/>
              </a:rPr>
              <a:t>'nhuybien@desabran.com', 'Profile Reminder', 'Please </a:t>
            </a:r>
            <a:r>
              <a:rPr lang="en-US" sz="1200" dirty="0" smtClean="0">
                <a:latin typeface="Consolas" pitchFamily="49" charset="0"/>
              </a:rPr>
              <a:t>update your </a:t>
            </a:r>
            <a:r>
              <a:rPr lang="en-US" sz="1200" dirty="0" smtClean="0">
                <a:latin typeface="Consolas" pitchFamily="49" charset="0"/>
              </a:rPr>
              <a:t>profile' </a:t>
            </a:r>
            <a:r>
              <a:rPr lang="en-US" sz="1200" dirty="0" smtClean="0">
                <a:latin typeface="Consolas" pitchFamily="49" charset="0"/>
              </a:rPr>
              <a:t>);</a:t>
            </a:r>
          </a:p>
          <a:p>
            <a:pPr>
              <a:buNone/>
            </a:pPr>
            <a:r>
              <a:rPr lang="en-US" sz="1200" dirty="0" smtClean="0">
                <a:latin typeface="Consolas" pitchFamily="49" charset="0"/>
              </a:rPr>
              <a:t>}</a:t>
            </a:r>
            <a:endParaRPr lang="en-US" sz="1200" dirty="0">
              <a:latin typeface="Consolas" pitchFamily="49"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Run a Test</a:t>
            </a:r>
            <a:endParaRPr lang="en-US" dirty="0"/>
          </a:p>
        </p:txBody>
      </p:sp>
      <p:sp>
        <p:nvSpPr>
          <p:cNvPr id="3" name="Content Placeholder 2"/>
          <p:cNvSpPr>
            <a:spLocks noGrp="1"/>
          </p:cNvSpPr>
          <p:nvPr>
            <p:ph idx="1"/>
          </p:nvPr>
        </p:nvSpPr>
        <p:spPr/>
        <p:style>
          <a:lnRef idx="1">
            <a:schemeClr val="dk1"/>
          </a:lnRef>
          <a:fillRef idx="2">
            <a:schemeClr val="dk1"/>
          </a:fillRef>
          <a:effectRef idx="1">
            <a:schemeClr val="dk1"/>
          </a:effectRef>
          <a:fontRef idx="minor">
            <a:schemeClr val="dk1"/>
          </a:fontRef>
        </p:style>
        <p:txBody>
          <a:bodyPr/>
          <a:lstStyle/>
          <a:p>
            <a:pPr>
              <a:buNone/>
            </a:pPr>
            <a:r>
              <a:rPr lang="en-US" sz="1400" dirty="0" smtClean="0">
                <a:latin typeface="Consolas" pitchFamily="49" charset="0"/>
              </a:rPr>
              <a:t>&lt;?</a:t>
            </a:r>
            <a:r>
              <a:rPr lang="en-US" sz="1400" dirty="0" err="1" smtClean="0">
                <a:latin typeface="Consolas" pitchFamily="49" charset="0"/>
              </a:rPr>
              <a:t>php</a:t>
            </a:r>
            <a:endParaRPr lang="en-US" sz="1400" dirty="0" smtClean="0">
              <a:latin typeface="Consolas" pitchFamily="49" charset="0"/>
            </a:endParaRPr>
          </a:p>
          <a:p>
            <a:pPr>
              <a:buNone/>
            </a:pPr>
            <a:endParaRPr lang="en-US" sz="1400" dirty="0" smtClean="0">
              <a:latin typeface="Consolas" pitchFamily="49" charset="0"/>
            </a:endParaRPr>
          </a:p>
          <a:p>
            <a:pPr>
              <a:buNone/>
            </a:pPr>
            <a:r>
              <a:rPr lang="en-US" sz="1400" dirty="0" smtClean="0">
                <a:latin typeface="Consolas" pitchFamily="49" charset="0"/>
              </a:rPr>
              <a:t>	</a:t>
            </a:r>
            <a:r>
              <a:rPr lang="en-US" sz="1400" dirty="0" err="1" smtClean="0">
                <a:latin typeface="Consolas" pitchFamily="49" charset="0"/>
              </a:rPr>
              <a:t>require_once</a:t>
            </a:r>
            <a:r>
              <a:rPr lang="en-US" sz="1400" dirty="0" smtClean="0">
                <a:latin typeface="Consolas" pitchFamily="49" charset="0"/>
              </a:rPr>
              <a:t>("wp-load.php");</a:t>
            </a:r>
          </a:p>
          <a:p>
            <a:pPr>
              <a:buNone/>
            </a:pPr>
            <a:r>
              <a:rPr lang="en-US" sz="1400" dirty="0" smtClean="0">
                <a:latin typeface="Consolas" pitchFamily="49" charset="0"/>
              </a:rPr>
              <a:t>	define</a:t>
            </a:r>
            <a:r>
              <a:rPr lang="en-US" sz="1400" dirty="0" smtClean="0">
                <a:latin typeface="Consolas" pitchFamily="49" charset="0"/>
              </a:rPr>
              <a:t>('WP_USE_THEMES', </a:t>
            </a:r>
            <a:r>
              <a:rPr lang="en-US" sz="1400" dirty="0" smtClean="0">
                <a:latin typeface="Consolas" pitchFamily="49" charset="0"/>
              </a:rPr>
              <a:t>false);</a:t>
            </a:r>
          </a:p>
          <a:p>
            <a:pPr>
              <a:buNone/>
            </a:pPr>
            <a:r>
              <a:rPr lang="en-US" sz="1400" dirty="0" smtClean="0">
                <a:latin typeface="Consolas" pitchFamily="49" charset="0"/>
              </a:rPr>
              <a:t>	</a:t>
            </a:r>
            <a:r>
              <a:rPr lang="en-US" sz="1400" dirty="0" err="1" smtClean="0">
                <a:latin typeface="Consolas" pitchFamily="49" charset="0"/>
              </a:rPr>
              <a:t>require_once</a:t>
            </a:r>
            <a:r>
              <a:rPr lang="en-US" sz="1400" dirty="0" smtClean="0">
                <a:latin typeface="Consolas" pitchFamily="49" charset="0"/>
              </a:rPr>
              <a:t>( </a:t>
            </a:r>
            <a:r>
              <a:rPr lang="en-US" sz="1400" dirty="0" smtClean="0">
                <a:latin typeface="Consolas" pitchFamily="49" charset="0"/>
              </a:rPr>
              <a:t>'</a:t>
            </a:r>
            <a:r>
              <a:rPr lang="en-US" sz="1400" dirty="0" err="1" smtClean="0">
                <a:latin typeface="Consolas" pitchFamily="49" charset="0"/>
              </a:rPr>
              <a:t>wp</a:t>
            </a:r>
            <a:r>
              <a:rPr lang="en-US" sz="1400" dirty="0" smtClean="0">
                <a:latin typeface="Consolas" pitchFamily="49" charset="0"/>
              </a:rPr>
              <a:t>-content/</a:t>
            </a:r>
            <a:r>
              <a:rPr lang="en-US" sz="1400" dirty="0" err="1" smtClean="0">
                <a:latin typeface="Consolas" pitchFamily="49" charset="0"/>
              </a:rPr>
              <a:t>plugins</a:t>
            </a:r>
            <a:r>
              <a:rPr lang="en-US" sz="1400" dirty="0" smtClean="0">
                <a:latin typeface="Consolas" pitchFamily="49" charset="0"/>
              </a:rPr>
              <a:t>/</a:t>
            </a:r>
            <a:r>
              <a:rPr lang="en-US" sz="1400" dirty="0" err="1" smtClean="0">
                <a:latin typeface="Consolas" pitchFamily="49" charset="0"/>
              </a:rPr>
              <a:t>rjcolorado</a:t>
            </a:r>
            <a:r>
              <a:rPr lang="en-US" sz="1400" dirty="0" smtClean="0">
                <a:latin typeface="Consolas" pitchFamily="49" charset="0"/>
              </a:rPr>
              <a:t>/includes/rjcolorado.php' </a:t>
            </a:r>
            <a:r>
              <a:rPr lang="en-US" sz="1400" dirty="0" smtClean="0">
                <a:latin typeface="Consolas" pitchFamily="49" charset="0"/>
              </a:rPr>
              <a:t>);</a:t>
            </a:r>
          </a:p>
          <a:p>
            <a:pPr>
              <a:buNone/>
            </a:pPr>
            <a:endParaRPr lang="en-US" sz="1400" dirty="0" smtClean="0">
              <a:latin typeface="Consolas" pitchFamily="49" charset="0"/>
            </a:endParaRPr>
          </a:p>
          <a:p>
            <a:pPr>
              <a:buNone/>
            </a:pPr>
            <a:r>
              <a:rPr lang="en-US" sz="1400" dirty="0" smtClean="0">
                <a:latin typeface="Consolas" pitchFamily="49" charset="0"/>
              </a:rPr>
              <a:t>	$instance = </a:t>
            </a:r>
            <a:r>
              <a:rPr lang="en-US" sz="1400" dirty="0" err="1" smtClean="0">
                <a:latin typeface="Consolas" pitchFamily="49" charset="0"/>
              </a:rPr>
              <a:t>RJColorado</a:t>
            </a:r>
            <a:r>
              <a:rPr lang="en-US" sz="1400" dirty="0" smtClean="0">
                <a:latin typeface="Consolas" pitchFamily="49" charset="0"/>
              </a:rPr>
              <a:t>::instance( __FILE__, </a:t>
            </a:r>
            <a:r>
              <a:rPr lang="en-US" sz="1400" dirty="0" smtClean="0">
                <a:latin typeface="Consolas" pitchFamily="49" charset="0"/>
              </a:rPr>
              <a:t>'1.0.0.0' </a:t>
            </a:r>
            <a:r>
              <a:rPr lang="en-US" sz="1400" dirty="0" smtClean="0">
                <a:latin typeface="Consolas" pitchFamily="49" charset="0"/>
              </a:rPr>
              <a:t>);</a:t>
            </a:r>
          </a:p>
          <a:p>
            <a:pPr>
              <a:buNone/>
            </a:pPr>
            <a:endParaRPr lang="en-US" sz="1400" dirty="0" smtClean="0">
              <a:latin typeface="Consolas" pitchFamily="49" charset="0"/>
            </a:endParaRPr>
          </a:p>
          <a:p>
            <a:pPr>
              <a:buNone/>
            </a:pPr>
            <a:r>
              <a:rPr lang="en-US" sz="1400" dirty="0" smtClean="0">
                <a:latin typeface="Consolas" pitchFamily="49" charset="0"/>
              </a:rPr>
              <a:t>	// $users = $instance-&gt;</a:t>
            </a:r>
            <a:r>
              <a:rPr lang="en-US" sz="1400" dirty="0" err="1" smtClean="0">
                <a:latin typeface="Consolas" pitchFamily="49" charset="0"/>
              </a:rPr>
              <a:t>get_users_by_role</a:t>
            </a:r>
            <a:r>
              <a:rPr lang="en-US" sz="1400" dirty="0" smtClean="0">
                <a:latin typeface="Consolas" pitchFamily="49" charset="0"/>
              </a:rPr>
              <a:t>( </a:t>
            </a:r>
            <a:r>
              <a:rPr lang="en-US" sz="1400" dirty="0" smtClean="0">
                <a:latin typeface="Consolas" pitchFamily="49" charset="0"/>
              </a:rPr>
              <a:t>'</a:t>
            </a:r>
            <a:r>
              <a:rPr lang="en-US" sz="1400" dirty="0" err="1" smtClean="0">
                <a:latin typeface="Consolas" pitchFamily="49" charset="0"/>
              </a:rPr>
              <a:t>um_practitioner</a:t>
            </a:r>
            <a:r>
              <a:rPr lang="en-US" sz="1400" dirty="0" smtClean="0">
                <a:latin typeface="Consolas" pitchFamily="49" charset="0"/>
              </a:rPr>
              <a:t>' </a:t>
            </a:r>
            <a:r>
              <a:rPr lang="en-US" sz="1400" dirty="0" smtClean="0">
                <a:latin typeface="Consolas" pitchFamily="49" charset="0"/>
              </a:rPr>
              <a:t>,  </a:t>
            </a:r>
            <a:r>
              <a:rPr lang="en-US" sz="1400" dirty="0" smtClean="0">
                <a:latin typeface="Consolas" pitchFamily="49" charset="0"/>
              </a:rPr>
              <a:t>'</a:t>
            </a:r>
            <a:r>
              <a:rPr lang="en-US" sz="1400" dirty="0" err="1" smtClean="0">
                <a:latin typeface="Consolas" pitchFamily="49" charset="0"/>
              </a:rPr>
              <a:t>display_name</a:t>
            </a:r>
            <a:r>
              <a:rPr lang="en-US" sz="1400" dirty="0" smtClean="0">
                <a:latin typeface="Consolas" pitchFamily="49" charset="0"/>
              </a:rPr>
              <a:t>' </a:t>
            </a:r>
            <a:r>
              <a:rPr lang="en-US" sz="1400" dirty="0" smtClean="0">
                <a:latin typeface="Consolas" pitchFamily="49" charset="0"/>
              </a:rPr>
              <a:t>, </a:t>
            </a:r>
            <a:r>
              <a:rPr lang="en-US" sz="1400" dirty="0" smtClean="0">
                <a:latin typeface="Consolas" pitchFamily="49" charset="0"/>
              </a:rPr>
              <a:t>'ASC');</a:t>
            </a:r>
            <a:endParaRPr lang="en-US" sz="1400" dirty="0" smtClean="0">
              <a:latin typeface="Consolas" pitchFamily="49" charset="0"/>
            </a:endParaRPr>
          </a:p>
          <a:p>
            <a:pPr>
              <a:buNone/>
            </a:pPr>
            <a:endParaRPr lang="en-US" sz="1400" dirty="0" smtClean="0">
              <a:latin typeface="Consolas" pitchFamily="49" charset="0"/>
            </a:endParaRPr>
          </a:p>
          <a:p>
            <a:pPr>
              <a:buNone/>
            </a:pPr>
            <a:r>
              <a:rPr lang="en-US" sz="1400" dirty="0" smtClean="0">
                <a:latin typeface="Consolas" pitchFamily="49" charset="0"/>
              </a:rPr>
              <a:t>	// $</a:t>
            </a:r>
            <a:r>
              <a:rPr lang="en-US" sz="1400" dirty="0" err="1" smtClean="0">
                <a:latin typeface="Consolas" pitchFamily="49" charset="0"/>
              </a:rPr>
              <a:t>userlist</a:t>
            </a:r>
            <a:r>
              <a:rPr lang="en-US" sz="1400" dirty="0" smtClean="0">
                <a:latin typeface="Consolas" pitchFamily="49" charset="0"/>
              </a:rPr>
              <a:t> = $instance-&gt;</a:t>
            </a:r>
            <a:r>
              <a:rPr lang="en-US" sz="1400" dirty="0" err="1" smtClean="0">
                <a:latin typeface="Consolas" pitchFamily="49" charset="0"/>
              </a:rPr>
              <a:t>test_get_users_by_role</a:t>
            </a:r>
            <a:r>
              <a:rPr lang="en-US" sz="1400" dirty="0" smtClean="0">
                <a:latin typeface="Consolas" pitchFamily="49" charset="0"/>
              </a:rPr>
              <a:t>();</a:t>
            </a:r>
          </a:p>
          <a:p>
            <a:pPr>
              <a:buNone/>
            </a:pPr>
            <a:r>
              <a:rPr lang="en-US" sz="1400" dirty="0" smtClean="0">
                <a:latin typeface="Consolas" pitchFamily="49" charset="0"/>
              </a:rPr>
              <a:t>	// echo $</a:t>
            </a:r>
            <a:r>
              <a:rPr lang="en-US" sz="1400" dirty="0" err="1" smtClean="0">
                <a:latin typeface="Consolas" pitchFamily="49" charset="0"/>
              </a:rPr>
              <a:t>userlist</a:t>
            </a:r>
            <a:r>
              <a:rPr lang="en-US" sz="1400" dirty="0" smtClean="0">
                <a:latin typeface="Consolas" pitchFamily="49" charset="0"/>
              </a:rPr>
              <a:t>;</a:t>
            </a:r>
          </a:p>
          <a:p>
            <a:pPr>
              <a:buNone/>
            </a:pPr>
            <a:r>
              <a:rPr lang="en-US" sz="1400" dirty="0" smtClean="0">
                <a:latin typeface="Consolas" pitchFamily="49" charset="0"/>
              </a:rPr>
              <a:t>    $instance-&gt;</a:t>
            </a:r>
            <a:r>
              <a:rPr lang="en-US" sz="1400" dirty="0" err="1" smtClean="0">
                <a:latin typeface="Consolas" pitchFamily="49" charset="0"/>
              </a:rPr>
              <a:t>rjcolorado_cron_profile_email_reminder</a:t>
            </a:r>
            <a:r>
              <a:rPr lang="en-US" sz="1400" dirty="0" smtClean="0">
                <a:latin typeface="Consolas" pitchFamily="49" charset="0"/>
              </a:rPr>
              <a:t>();</a:t>
            </a:r>
          </a:p>
          <a:p>
            <a:pPr>
              <a:buNone/>
            </a:pPr>
            <a:r>
              <a:rPr lang="en-US" sz="1400" dirty="0" smtClean="0">
                <a:latin typeface="Consolas" pitchFamily="49" charset="0"/>
              </a:rPr>
              <a:t>    echo "Email sent successfully."</a:t>
            </a:r>
          </a:p>
          <a:p>
            <a:pPr>
              <a:buNone/>
            </a:pPr>
            <a:r>
              <a:rPr lang="en-US" sz="1400" dirty="0" smtClean="0">
                <a:latin typeface="Consolas" pitchFamily="49" charset="0"/>
              </a:rPr>
              <a:t>?&gt;</a:t>
            </a:r>
            <a:endParaRPr lang="en-US" sz="1400" dirty="0">
              <a:latin typeface="Consolas"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Theme Folder Structure [2]</a:t>
            </a:r>
            <a:endParaRPr lang="en-US" dirty="0"/>
          </a:p>
        </p:txBody>
      </p:sp>
      <p:sp>
        <p:nvSpPr>
          <p:cNvPr id="3" name="Content Placeholder 2"/>
          <p:cNvSpPr>
            <a:spLocks noGrp="1"/>
          </p:cNvSpPr>
          <p:nvPr>
            <p:ph idx="1"/>
          </p:nvPr>
        </p:nvSpPr>
        <p:spPr/>
        <p:txBody>
          <a:bodyPr/>
          <a:lstStyle/>
          <a:p>
            <a:r>
              <a:rPr lang="en-US" sz="2400" dirty="0" smtClean="0"/>
              <a:t>Themes reside in the </a:t>
            </a:r>
            <a:r>
              <a:rPr lang="en-US" sz="2400" dirty="0" err="1" smtClean="0"/>
              <a:t>wp</a:t>
            </a:r>
            <a:r>
              <a:rPr lang="en-US" sz="2400" dirty="0" smtClean="0"/>
              <a:t>-content/themes/ directory.</a:t>
            </a:r>
          </a:p>
          <a:p>
            <a:r>
              <a:rPr lang="en-US" sz="2400" dirty="0" smtClean="0"/>
              <a:t>/: The root theme directory is where all main template files and the style.css file are stored.</a:t>
            </a:r>
          </a:p>
          <a:p>
            <a:r>
              <a:rPr lang="en-US" sz="2400" dirty="0" smtClean="0"/>
              <a:t>/images/: The main folder for all images used in the theme.</a:t>
            </a:r>
          </a:p>
          <a:p>
            <a:r>
              <a:rPr lang="en-US" sz="2400" dirty="0" smtClean="0"/>
              <a:t>/</a:t>
            </a:r>
            <a:r>
              <a:rPr lang="en-US" sz="2400" dirty="0" err="1" smtClean="0"/>
              <a:t>js</a:t>
            </a:r>
            <a:r>
              <a:rPr lang="en-US" sz="2400" dirty="0" smtClean="0"/>
              <a:t>/: All JavaScript files should be stored in their own folder.</a:t>
            </a:r>
          </a:p>
          <a:p>
            <a:r>
              <a:rPr lang="en-US" sz="2400" dirty="0" smtClean="0"/>
              <a:t>/languages/: If your theme is multilingual, all languages files should be stored in a languages directory</a:t>
            </a:r>
          </a:p>
          <a:p>
            <a:r>
              <a:rPr lang="en-US" sz="2400" dirty="0" smtClean="0"/>
              <a:t>/</a:t>
            </a:r>
            <a:r>
              <a:rPr lang="en-US" sz="2400" dirty="0" err="1" smtClean="0"/>
              <a:t>css</a:t>
            </a:r>
            <a:r>
              <a:rPr lang="en-US" sz="2400" dirty="0" smtClean="0"/>
              <a:t>/: Any additional CSS files should be stored in and loaded from a </a:t>
            </a:r>
            <a:r>
              <a:rPr lang="en-US" sz="2400" dirty="0" err="1" smtClean="0"/>
              <a:t>css</a:t>
            </a:r>
            <a:r>
              <a:rPr lang="en-US" sz="2400" dirty="0" smtClean="0"/>
              <a:t>/ directory.</a:t>
            </a:r>
          </a:p>
          <a:p>
            <a:r>
              <a:rPr lang="en-US" sz="2400" dirty="0" smtClean="0"/>
              <a:t>/inc/: Can be used for additional PHP files that may be needed for functionality in the theme.</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A Typical </a:t>
            </a:r>
            <a:r>
              <a:rPr lang="en-US" sz="4000" dirty="0" err="1" smtClean="0"/>
              <a:t>WordPress</a:t>
            </a:r>
            <a:r>
              <a:rPr lang="en-US" sz="4000" dirty="0" smtClean="0"/>
              <a:t> Theme Anatomy</a:t>
            </a:r>
            <a:endParaRPr lang="en-US" sz="4000" dirty="0"/>
          </a:p>
        </p:txBody>
      </p:sp>
      <p:sp>
        <p:nvSpPr>
          <p:cNvPr id="3" name="Content Placeholder 2"/>
          <p:cNvSpPr>
            <a:spLocks noGrp="1"/>
          </p:cNvSpPr>
          <p:nvPr>
            <p:ph idx="1"/>
          </p:nvPr>
        </p:nvSpPr>
        <p:spPr/>
        <p:txBody>
          <a:bodyPr/>
          <a:lstStyle/>
          <a:p>
            <a:pPr marL="514350" indent="-514350">
              <a:buFont typeface="Arial" pitchFamily="34" charset="0"/>
              <a:buChar char="•"/>
            </a:pPr>
            <a:r>
              <a:rPr lang="en-US" sz="2800" dirty="0" smtClean="0"/>
              <a:t>Every theme created must have at least these two files</a:t>
            </a:r>
          </a:p>
          <a:p>
            <a:pPr marL="971550" lvl="1" indent="-514350">
              <a:buFont typeface="Arial" pitchFamily="34" charset="0"/>
              <a:buChar char="•"/>
            </a:pPr>
            <a:r>
              <a:rPr lang="en-US" sz="2400" dirty="0" smtClean="0"/>
              <a:t>index.php</a:t>
            </a:r>
          </a:p>
          <a:p>
            <a:pPr marL="971550" lvl="1" indent="-514350">
              <a:buFont typeface="Arial" pitchFamily="34" charset="0"/>
              <a:buChar char="•"/>
            </a:pPr>
            <a:r>
              <a:rPr lang="en-US" sz="2400" dirty="0" smtClean="0"/>
              <a:t>style.css</a:t>
            </a:r>
          </a:p>
          <a:p>
            <a:pPr marL="514350" indent="-514350">
              <a:buFont typeface="Arial" pitchFamily="34" charset="0"/>
              <a:buChar char="•"/>
            </a:pPr>
            <a:r>
              <a:rPr lang="en-US" sz="2800" dirty="0" err="1" smtClean="0"/>
              <a:t>WordPress</a:t>
            </a:r>
            <a:r>
              <a:rPr lang="en-US" sz="2800" dirty="0" smtClean="0"/>
              <a:t> uses the index.php file as the default file for rendering a web site.</a:t>
            </a:r>
          </a:p>
          <a:p>
            <a:pPr marL="514350" indent="-514350">
              <a:buFont typeface="Arial" pitchFamily="34" charset="0"/>
              <a:buChar char="•"/>
            </a:pPr>
            <a:r>
              <a:rPr lang="en-US" sz="2800" dirty="0" smtClean="0"/>
              <a:t>The most important feature of the style.css file is that it holds all the metadata for your theme, which is displayed in the theme manager.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index.php File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709738" y="1819275"/>
            <a:ext cx="5724525" cy="4581525"/>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header.php</a:t>
            </a:r>
            <a:endParaRPr lang="en-US" dirty="0"/>
          </a:p>
        </p:txBody>
      </p:sp>
      <p:sp>
        <p:nvSpPr>
          <p:cNvPr id="4" name="Rectangle 3"/>
          <p:cNvSpPr/>
          <p:nvPr/>
        </p:nvSpPr>
        <p:spPr>
          <a:xfrm>
            <a:off x="381000" y="1447800"/>
            <a:ext cx="5410200" cy="501675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600" dirty="0" smtClean="0">
                <a:latin typeface="Consolas" pitchFamily="49" charset="0"/>
                <a:cs typeface="Consolas" pitchFamily="49" charset="0"/>
              </a:rPr>
              <a:t>&lt;?</a:t>
            </a:r>
            <a:r>
              <a:rPr lang="en-US" sz="1600" dirty="0" err="1" smtClean="0">
                <a:latin typeface="Consolas" pitchFamily="49" charset="0"/>
                <a:cs typeface="Consolas" pitchFamily="49" charset="0"/>
              </a:rPr>
              <a:t>php</a:t>
            </a:r>
            <a:endParaRPr lang="en-US" sz="1600" dirty="0" smtClean="0">
              <a:latin typeface="Consolas" pitchFamily="49" charset="0"/>
              <a:cs typeface="Consolas" pitchFamily="49" charset="0"/>
            </a:endParaRPr>
          </a:p>
          <a:p>
            <a:r>
              <a:rPr lang="en-US" sz="1600" dirty="0" smtClean="0">
                <a:latin typeface="Consolas" pitchFamily="49" charset="0"/>
                <a:cs typeface="Consolas" pitchFamily="49" charset="0"/>
              </a:rPr>
              <a:t>/* The Header for our theme. */</a:t>
            </a:r>
          </a:p>
          <a:p>
            <a:r>
              <a:rPr lang="en-US" sz="1600" dirty="0" smtClean="0">
                <a:latin typeface="Consolas" pitchFamily="49" charset="0"/>
                <a:cs typeface="Consolas" pitchFamily="49" charset="0"/>
              </a:rPr>
              <a:t>?&gt;&lt;!DOCTYPE html&gt;</a:t>
            </a:r>
          </a:p>
          <a:p>
            <a:r>
              <a:rPr lang="en-US" sz="1600" dirty="0" smtClean="0">
                <a:latin typeface="Consolas" pitchFamily="49" charset="0"/>
                <a:cs typeface="Consolas" pitchFamily="49" charset="0"/>
              </a:rPr>
              <a:t>&lt;html &lt;?</a:t>
            </a:r>
            <a:r>
              <a:rPr lang="en-US" sz="1600" dirty="0" err="1" smtClean="0">
                <a:latin typeface="Consolas" pitchFamily="49" charset="0"/>
                <a:cs typeface="Consolas" pitchFamily="49" charset="0"/>
              </a:rPr>
              <a:t>php</a:t>
            </a:r>
            <a:r>
              <a:rPr lang="en-US" sz="1600" dirty="0" smtClean="0">
                <a:latin typeface="Consolas" pitchFamily="49" charset="0"/>
                <a:cs typeface="Consolas" pitchFamily="49" charset="0"/>
              </a:rPr>
              <a:t> </a:t>
            </a:r>
            <a:r>
              <a:rPr lang="en-US" sz="1600" dirty="0" err="1" smtClean="0">
                <a:latin typeface="Consolas" pitchFamily="49" charset="0"/>
                <a:cs typeface="Consolas" pitchFamily="49" charset="0"/>
              </a:rPr>
              <a:t>language_attributes</a:t>
            </a:r>
            <a:r>
              <a:rPr lang="en-US" sz="1600" dirty="0" smtClean="0">
                <a:latin typeface="Consolas" pitchFamily="49" charset="0"/>
                <a:cs typeface="Consolas" pitchFamily="49" charset="0"/>
              </a:rPr>
              <a:t>(); ?&gt;&gt;</a:t>
            </a:r>
          </a:p>
          <a:p>
            <a:r>
              <a:rPr lang="en-US" sz="1600" dirty="0" smtClean="0">
                <a:latin typeface="Consolas" pitchFamily="49" charset="0"/>
                <a:cs typeface="Consolas" pitchFamily="49" charset="0"/>
              </a:rPr>
              <a:t>&lt;head&gt;</a:t>
            </a:r>
          </a:p>
          <a:p>
            <a:r>
              <a:rPr lang="en-US" sz="1600" dirty="0" smtClean="0">
                <a:latin typeface="Consolas" pitchFamily="49" charset="0"/>
                <a:cs typeface="Consolas" pitchFamily="49" charset="0"/>
              </a:rPr>
              <a:t>&lt;meta </a:t>
            </a:r>
            <a:r>
              <a:rPr lang="en-US" sz="1600" dirty="0" err="1" smtClean="0">
                <a:latin typeface="Consolas" pitchFamily="49" charset="0"/>
                <a:cs typeface="Consolas" pitchFamily="49" charset="0"/>
              </a:rPr>
              <a:t>charset</a:t>
            </a:r>
            <a:r>
              <a:rPr lang="en-US" sz="1600" dirty="0" smtClean="0">
                <a:latin typeface="Consolas" pitchFamily="49" charset="0"/>
                <a:cs typeface="Consolas" pitchFamily="49" charset="0"/>
              </a:rPr>
              <a:t>="&lt;?</a:t>
            </a:r>
            <a:r>
              <a:rPr lang="en-US" sz="1600" dirty="0" err="1" smtClean="0">
                <a:latin typeface="Consolas" pitchFamily="49" charset="0"/>
                <a:cs typeface="Consolas" pitchFamily="49" charset="0"/>
              </a:rPr>
              <a:t>php</a:t>
            </a:r>
            <a:r>
              <a:rPr lang="en-US" sz="1600" dirty="0" smtClean="0">
                <a:latin typeface="Consolas" pitchFamily="49" charset="0"/>
                <a:cs typeface="Consolas" pitchFamily="49" charset="0"/>
              </a:rPr>
              <a:t> </a:t>
            </a:r>
            <a:r>
              <a:rPr lang="en-US" sz="1600" dirty="0" err="1" smtClean="0">
                <a:latin typeface="Consolas" pitchFamily="49" charset="0"/>
                <a:cs typeface="Consolas" pitchFamily="49" charset="0"/>
              </a:rPr>
              <a:t>bloginfo</a:t>
            </a:r>
            <a:r>
              <a:rPr lang="en-US" sz="1600" dirty="0" smtClean="0">
                <a:latin typeface="Consolas" pitchFamily="49" charset="0"/>
                <a:cs typeface="Consolas" pitchFamily="49" charset="0"/>
              </a:rPr>
              <a:t>( </a:t>
            </a:r>
            <a:r>
              <a:rPr lang="en-US" sz="1600" dirty="0" smtClean="0">
                <a:latin typeface="Consolas" pitchFamily="49" charset="0"/>
                <a:cs typeface="Consolas" pitchFamily="49" charset="0"/>
              </a:rPr>
              <a:t>'</a:t>
            </a:r>
            <a:r>
              <a:rPr lang="en-US" sz="1600" dirty="0" err="1" smtClean="0">
                <a:latin typeface="Consolas" pitchFamily="49" charset="0"/>
                <a:cs typeface="Consolas" pitchFamily="49" charset="0"/>
              </a:rPr>
              <a:t>charset</a:t>
            </a:r>
            <a:r>
              <a:rPr lang="en-US" sz="1600" dirty="0" smtClean="0">
                <a:latin typeface="Consolas" pitchFamily="49" charset="0"/>
                <a:cs typeface="Consolas" pitchFamily="49" charset="0"/>
              </a:rPr>
              <a:t>' </a:t>
            </a:r>
            <a:r>
              <a:rPr lang="en-US" sz="1600" dirty="0" smtClean="0">
                <a:latin typeface="Consolas" pitchFamily="49" charset="0"/>
                <a:cs typeface="Consolas" pitchFamily="49" charset="0"/>
              </a:rPr>
              <a:t>); ?&gt;" /&gt;</a:t>
            </a:r>
          </a:p>
          <a:p>
            <a:r>
              <a:rPr lang="en-US" sz="1600" dirty="0" smtClean="0">
                <a:latin typeface="Consolas" pitchFamily="49" charset="0"/>
                <a:cs typeface="Consolas" pitchFamily="49" charset="0"/>
              </a:rPr>
              <a:t>&lt;meta name="viewport" content="width=device-width" /&gt;</a:t>
            </a:r>
          </a:p>
          <a:p>
            <a:r>
              <a:rPr lang="en-US" sz="1600" dirty="0" smtClean="0">
                <a:latin typeface="Consolas" pitchFamily="49" charset="0"/>
                <a:cs typeface="Consolas" pitchFamily="49" charset="0"/>
              </a:rPr>
              <a:t>&lt;title&gt;&lt;?</a:t>
            </a:r>
            <a:r>
              <a:rPr lang="en-US" sz="1600" dirty="0" err="1" smtClean="0">
                <a:latin typeface="Consolas" pitchFamily="49" charset="0"/>
                <a:cs typeface="Consolas" pitchFamily="49" charset="0"/>
              </a:rPr>
              <a:t>php</a:t>
            </a:r>
            <a:r>
              <a:rPr lang="en-US" sz="1600" dirty="0" smtClean="0">
                <a:latin typeface="Consolas" pitchFamily="49" charset="0"/>
                <a:cs typeface="Consolas" pitchFamily="49" charset="0"/>
              </a:rPr>
              <a:t> </a:t>
            </a:r>
            <a:r>
              <a:rPr lang="en-US" sz="1600" dirty="0" err="1" smtClean="0">
                <a:latin typeface="Consolas" pitchFamily="49" charset="0"/>
                <a:cs typeface="Consolas" pitchFamily="49" charset="0"/>
              </a:rPr>
              <a:t>wp_title</a:t>
            </a:r>
            <a:r>
              <a:rPr lang="en-US" sz="1600" dirty="0" smtClean="0">
                <a:latin typeface="Consolas" pitchFamily="49" charset="0"/>
                <a:cs typeface="Consolas" pitchFamily="49" charset="0"/>
              </a:rPr>
              <a:t>( </a:t>
            </a:r>
            <a:r>
              <a:rPr lang="en-US" sz="1600" dirty="0" smtClean="0">
                <a:latin typeface="Consolas" pitchFamily="49" charset="0"/>
                <a:cs typeface="Consolas" pitchFamily="49" charset="0"/>
              </a:rPr>
              <a:t>'|', </a:t>
            </a:r>
            <a:r>
              <a:rPr lang="en-US" sz="1600" dirty="0" smtClean="0">
                <a:latin typeface="Consolas" pitchFamily="49" charset="0"/>
                <a:cs typeface="Consolas" pitchFamily="49" charset="0"/>
              </a:rPr>
              <a:t>true, </a:t>
            </a:r>
            <a:r>
              <a:rPr lang="en-US" sz="1600" dirty="0" smtClean="0">
                <a:latin typeface="Consolas" pitchFamily="49" charset="0"/>
                <a:cs typeface="Consolas" pitchFamily="49" charset="0"/>
              </a:rPr>
              <a:t>'right' </a:t>
            </a:r>
            <a:r>
              <a:rPr lang="en-US" sz="1600" dirty="0" smtClean="0">
                <a:latin typeface="Consolas" pitchFamily="49" charset="0"/>
                <a:cs typeface="Consolas" pitchFamily="49" charset="0"/>
              </a:rPr>
              <a:t>); ?&gt;&lt;/title&gt;</a:t>
            </a:r>
          </a:p>
          <a:p>
            <a:r>
              <a:rPr lang="en-US" sz="1600" dirty="0" smtClean="0">
                <a:latin typeface="Consolas" pitchFamily="49" charset="0"/>
                <a:cs typeface="Consolas" pitchFamily="49" charset="0"/>
              </a:rPr>
              <a:t>&lt;!-- HTML5 SHIV for IE --&gt;&lt;!-- If using </a:t>
            </a:r>
            <a:r>
              <a:rPr lang="en-US" sz="1600" dirty="0" err="1" smtClean="0">
                <a:latin typeface="Consolas" pitchFamily="49" charset="0"/>
                <a:cs typeface="Consolas" pitchFamily="49" charset="0"/>
              </a:rPr>
              <a:t>Modernizr</a:t>
            </a:r>
            <a:r>
              <a:rPr lang="en-US" sz="1600" dirty="0" smtClean="0">
                <a:latin typeface="Consolas" pitchFamily="49" charset="0"/>
                <a:cs typeface="Consolas" pitchFamily="49" charset="0"/>
              </a:rPr>
              <a:t> you can remove this script! --&gt;</a:t>
            </a:r>
          </a:p>
          <a:p>
            <a:r>
              <a:rPr lang="en-US" sz="1600" dirty="0" smtClean="0">
                <a:latin typeface="Consolas" pitchFamily="49" charset="0"/>
                <a:cs typeface="Consolas" pitchFamily="49" charset="0"/>
              </a:rPr>
              <a:t>&lt;!--[if </a:t>
            </a:r>
            <a:r>
              <a:rPr lang="en-US" sz="1600" dirty="0" err="1" smtClean="0">
                <a:latin typeface="Consolas" pitchFamily="49" charset="0"/>
                <a:cs typeface="Consolas" pitchFamily="49" charset="0"/>
              </a:rPr>
              <a:t>lt</a:t>
            </a:r>
            <a:r>
              <a:rPr lang="en-US" sz="1600" dirty="0" smtClean="0">
                <a:latin typeface="Consolas" pitchFamily="49" charset="0"/>
                <a:cs typeface="Consolas" pitchFamily="49" charset="0"/>
              </a:rPr>
              <a:t> IE 9]&gt;</a:t>
            </a:r>
          </a:p>
          <a:p>
            <a:r>
              <a:rPr lang="en-US" sz="1600" dirty="0" smtClean="0">
                <a:latin typeface="Consolas" pitchFamily="49" charset="0"/>
                <a:cs typeface="Consolas" pitchFamily="49" charset="0"/>
              </a:rPr>
              <a:t>&lt;script </a:t>
            </a:r>
            <a:r>
              <a:rPr lang="en-US" sz="1600" dirty="0" err="1" smtClean="0">
                <a:latin typeface="Consolas" pitchFamily="49" charset="0"/>
                <a:cs typeface="Consolas" pitchFamily="49" charset="0"/>
              </a:rPr>
              <a:t>src</a:t>
            </a:r>
            <a:r>
              <a:rPr lang="en-US" sz="1600" dirty="0" smtClean="0">
                <a:latin typeface="Consolas" pitchFamily="49" charset="0"/>
                <a:cs typeface="Consolas" pitchFamily="49" charset="0"/>
              </a:rPr>
              <a:t>="//html5shiv.googlecode.com/</a:t>
            </a:r>
            <a:r>
              <a:rPr lang="en-US" sz="1600" dirty="0" err="1" smtClean="0">
                <a:latin typeface="Consolas" pitchFamily="49" charset="0"/>
                <a:cs typeface="Consolas" pitchFamily="49" charset="0"/>
              </a:rPr>
              <a:t>svn</a:t>
            </a:r>
            <a:r>
              <a:rPr lang="en-US" sz="1600" dirty="0" smtClean="0">
                <a:latin typeface="Consolas" pitchFamily="49" charset="0"/>
                <a:cs typeface="Consolas" pitchFamily="49" charset="0"/>
              </a:rPr>
              <a:t>/trunk/html5.js"&gt;&lt;/script&gt;</a:t>
            </a:r>
          </a:p>
          <a:p>
            <a:r>
              <a:rPr lang="en-US" sz="1600" dirty="0" smtClean="0">
                <a:latin typeface="Consolas" pitchFamily="49" charset="0"/>
                <a:cs typeface="Consolas" pitchFamily="49" charset="0"/>
              </a:rPr>
              <a:t>&lt;![</a:t>
            </a:r>
            <a:r>
              <a:rPr lang="en-US" sz="1600" dirty="0" err="1" smtClean="0">
                <a:latin typeface="Consolas" pitchFamily="49" charset="0"/>
                <a:cs typeface="Consolas" pitchFamily="49" charset="0"/>
              </a:rPr>
              <a:t>endif</a:t>
            </a:r>
            <a:r>
              <a:rPr lang="en-US" sz="1600" dirty="0" smtClean="0">
                <a:latin typeface="Consolas" pitchFamily="49" charset="0"/>
                <a:cs typeface="Consolas" pitchFamily="49" charset="0"/>
              </a:rPr>
              <a:t>]--&gt;</a:t>
            </a:r>
          </a:p>
          <a:p>
            <a:r>
              <a:rPr lang="en-US" sz="1600" dirty="0" smtClean="0">
                <a:latin typeface="Consolas" pitchFamily="49" charset="0"/>
                <a:cs typeface="Consolas" pitchFamily="49" charset="0"/>
              </a:rPr>
              <a:t>&lt;?</a:t>
            </a:r>
            <a:r>
              <a:rPr lang="en-US" sz="1600" dirty="0" err="1" smtClean="0">
                <a:latin typeface="Consolas" pitchFamily="49" charset="0"/>
                <a:cs typeface="Consolas" pitchFamily="49" charset="0"/>
              </a:rPr>
              <a:t>php</a:t>
            </a:r>
            <a:r>
              <a:rPr lang="en-US" sz="1600" dirty="0" smtClean="0">
                <a:latin typeface="Consolas" pitchFamily="49" charset="0"/>
                <a:cs typeface="Consolas" pitchFamily="49" charset="0"/>
              </a:rPr>
              <a:t> </a:t>
            </a:r>
            <a:r>
              <a:rPr lang="en-US" sz="1600" b="1" dirty="0" err="1" smtClean="0">
                <a:latin typeface="Consolas" pitchFamily="49" charset="0"/>
                <a:cs typeface="Consolas" pitchFamily="49" charset="0"/>
              </a:rPr>
              <a:t>wp_head</a:t>
            </a:r>
            <a:r>
              <a:rPr lang="en-US" sz="1600" b="1" dirty="0" smtClean="0">
                <a:latin typeface="Consolas" pitchFamily="49" charset="0"/>
                <a:cs typeface="Consolas" pitchFamily="49" charset="0"/>
              </a:rPr>
              <a:t>();</a:t>
            </a:r>
            <a:r>
              <a:rPr lang="en-US" sz="1600" dirty="0" smtClean="0">
                <a:latin typeface="Consolas" pitchFamily="49" charset="0"/>
                <a:cs typeface="Consolas" pitchFamily="49" charset="0"/>
              </a:rPr>
              <a:t> ?&gt;</a:t>
            </a:r>
          </a:p>
          <a:p>
            <a:r>
              <a:rPr lang="en-US" sz="1600" dirty="0" smtClean="0">
                <a:latin typeface="Consolas" pitchFamily="49" charset="0"/>
                <a:cs typeface="Consolas" pitchFamily="49" charset="0"/>
              </a:rPr>
              <a:t>&lt;/head&gt;</a:t>
            </a:r>
            <a:endParaRPr lang="en-US" sz="1600" dirty="0">
              <a:latin typeface="Consolas" pitchFamily="49" charset="0"/>
              <a:cs typeface="Consolas" pitchFamily="49" charset="0"/>
            </a:endParaRPr>
          </a:p>
        </p:txBody>
      </p:sp>
      <p:sp>
        <p:nvSpPr>
          <p:cNvPr id="5" name="Rectangle 4"/>
          <p:cNvSpPr/>
          <p:nvPr/>
        </p:nvSpPr>
        <p:spPr>
          <a:xfrm>
            <a:off x="5943600" y="1371600"/>
            <a:ext cx="2971800" cy="3693319"/>
          </a:xfrm>
          <a:prstGeom prst="rect">
            <a:avLst/>
          </a:prstGeom>
        </p:spPr>
        <p:txBody>
          <a:bodyPr wrap="square">
            <a:spAutoFit/>
          </a:bodyPr>
          <a:lstStyle/>
          <a:p>
            <a:r>
              <a:rPr lang="en-US" dirty="0" smtClean="0">
                <a:latin typeface="+mj-lt"/>
              </a:rPr>
              <a:t>HTML generated from the preceding </a:t>
            </a:r>
            <a:r>
              <a:rPr lang="en-US" b="1" dirty="0" err="1" smtClean="0">
                <a:latin typeface="+mj-lt"/>
              </a:rPr>
              <a:t>wp_head</a:t>
            </a:r>
            <a:r>
              <a:rPr lang="en-US" b="1" dirty="0" smtClean="0">
                <a:latin typeface="+mj-lt"/>
              </a:rPr>
              <a:t>()</a:t>
            </a:r>
            <a:r>
              <a:rPr lang="en-US" dirty="0" smtClean="0">
                <a:latin typeface="+mj-lt"/>
              </a:rPr>
              <a:t> function call:</a:t>
            </a:r>
          </a:p>
          <a:p>
            <a:r>
              <a:rPr lang="en-US" dirty="0" smtClean="0">
                <a:latin typeface="+mj-lt"/>
              </a:rPr>
              <a:t>&lt;meta name</a:t>
            </a:r>
            <a:r>
              <a:rPr lang="en-US" dirty="0" smtClean="0">
                <a:latin typeface="+mj-lt"/>
              </a:rPr>
              <a:t>='robots' </a:t>
            </a:r>
            <a:r>
              <a:rPr lang="en-US" dirty="0" smtClean="0">
                <a:latin typeface="+mj-lt"/>
              </a:rPr>
              <a:t>content</a:t>
            </a:r>
            <a:r>
              <a:rPr lang="en-US" dirty="0" smtClean="0">
                <a:latin typeface="+mj-lt"/>
              </a:rPr>
              <a:t>='</a:t>
            </a:r>
            <a:r>
              <a:rPr lang="en-US" dirty="0" err="1" smtClean="0">
                <a:latin typeface="+mj-lt"/>
              </a:rPr>
              <a:t>noindex,nofollow</a:t>
            </a:r>
            <a:r>
              <a:rPr lang="en-US" dirty="0" smtClean="0">
                <a:latin typeface="+mj-lt"/>
              </a:rPr>
              <a:t>' </a:t>
            </a:r>
            <a:r>
              <a:rPr lang="en-US" dirty="0" smtClean="0">
                <a:latin typeface="+mj-lt"/>
              </a:rPr>
              <a:t>/&gt;</a:t>
            </a:r>
          </a:p>
          <a:p>
            <a:r>
              <a:rPr lang="en-US" dirty="0" smtClean="0">
                <a:latin typeface="+mj-lt"/>
              </a:rPr>
              <a:t>&lt;link </a:t>
            </a:r>
            <a:r>
              <a:rPr lang="en-US" dirty="0" err="1" smtClean="0">
                <a:latin typeface="+mj-lt"/>
              </a:rPr>
              <a:t>rel</a:t>
            </a:r>
            <a:r>
              <a:rPr lang="en-US" dirty="0" smtClean="0">
                <a:latin typeface="+mj-lt"/>
              </a:rPr>
              <a:t>='</a:t>
            </a:r>
            <a:r>
              <a:rPr lang="en-US" dirty="0" err="1" smtClean="0">
                <a:latin typeface="+mj-lt"/>
              </a:rPr>
              <a:t>stylesheet</a:t>
            </a:r>
            <a:r>
              <a:rPr lang="en-US" dirty="0" smtClean="0">
                <a:latin typeface="+mj-lt"/>
              </a:rPr>
              <a:t>' </a:t>
            </a:r>
            <a:r>
              <a:rPr lang="en-US" dirty="0" smtClean="0">
                <a:latin typeface="+mj-lt"/>
              </a:rPr>
              <a:t>id</a:t>
            </a:r>
            <a:r>
              <a:rPr lang="en-US" dirty="0" smtClean="0">
                <a:latin typeface="+mj-lt"/>
              </a:rPr>
              <a:t>='</a:t>
            </a:r>
            <a:r>
              <a:rPr lang="en-US" dirty="0" err="1" smtClean="0">
                <a:latin typeface="+mj-lt"/>
              </a:rPr>
              <a:t>twelvedevs</a:t>
            </a:r>
            <a:r>
              <a:rPr lang="en-US" dirty="0" smtClean="0">
                <a:latin typeface="+mj-lt"/>
              </a:rPr>
              <a:t>-style-</a:t>
            </a:r>
            <a:r>
              <a:rPr lang="en-US" dirty="0" err="1" smtClean="0">
                <a:latin typeface="+mj-lt"/>
              </a:rPr>
              <a:t>css</a:t>
            </a:r>
            <a:r>
              <a:rPr lang="en-US" dirty="0" smtClean="0">
                <a:latin typeface="+mj-lt"/>
              </a:rPr>
              <a:t>' </a:t>
            </a:r>
            <a:r>
              <a:rPr lang="en-US" dirty="0" err="1" smtClean="0">
                <a:latin typeface="+mj-lt"/>
              </a:rPr>
              <a:t>href</a:t>
            </a:r>
            <a:r>
              <a:rPr lang="en-US" dirty="0" smtClean="0">
                <a:latin typeface="+mj-lt"/>
              </a:rPr>
              <a:t>='http</a:t>
            </a:r>
            <a:r>
              <a:rPr lang="en-US" dirty="0" smtClean="0">
                <a:latin typeface="+mj-lt"/>
              </a:rPr>
              <a:t>://12devs.dev/wordpress/wp-content/</a:t>
            </a:r>
          </a:p>
          <a:p>
            <a:r>
              <a:rPr lang="en-US" dirty="0" smtClean="0">
                <a:latin typeface="+mj-lt"/>
              </a:rPr>
              <a:t>themes/12devs/</a:t>
            </a:r>
            <a:r>
              <a:rPr lang="en-US" dirty="0" err="1" smtClean="0">
                <a:latin typeface="+mj-lt"/>
              </a:rPr>
              <a:t>style.css?ver</a:t>
            </a:r>
            <a:r>
              <a:rPr lang="en-US" dirty="0" smtClean="0">
                <a:latin typeface="+mj-lt"/>
              </a:rPr>
              <a:t>=3.5.1' </a:t>
            </a:r>
            <a:r>
              <a:rPr lang="en-US" dirty="0" smtClean="0">
                <a:latin typeface="+mj-lt"/>
              </a:rPr>
              <a:t>type</a:t>
            </a:r>
            <a:r>
              <a:rPr lang="en-US" dirty="0" smtClean="0">
                <a:latin typeface="+mj-lt"/>
              </a:rPr>
              <a:t>='text/</a:t>
            </a:r>
            <a:r>
              <a:rPr lang="en-US" dirty="0" err="1" smtClean="0">
                <a:latin typeface="+mj-lt"/>
              </a:rPr>
              <a:t>css</a:t>
            </a:r>
            <a:r>
              <a:rPr lang="en-US" dirty="0" smtClean="0">
                <a:latin typeface="+mj-lt"/>
              </a:rPr>
              <a:t>' </a:t>
            </a:r>
            <a:r>
              <a:rPr lang="en-US" dirty="0" smtClean="0">
                <a:latin typeface="+mj-lt"/>
              </a:rPr>
              <a:t>media</a:t>
            </a:r>
            <a:r>
              <a:rPr lang="en-US" dirty="0" smtClean="0">
                <a:latin typeface="+mj-lt"/>
              </a:rPr>
              <a:t>='all' </a:t>
            </a:r>
            <a:r>
              <a:rPr lang="en-US" dirty="0" smtClean="0">
                <a:latin typeface="+mj-lt"/>
              </a:rPr>
              <a:t>/&gt;</a:t>
            </a:r>
            <a:endParaRPr lang="en-US" dirty="0">
              <a:latin typeface="+mj-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Including Basic Template Files to index.php</a:t>
            </a:r>
            <a:endParaRPr lang="en-US" dirty="0"/>
          </a:p>
        </p:txBody>
      </p:sp>
      <p:sp>
        <p:nvSpPr>
          <p:cNvPr id="4" name="Rectangle 3"/>
          <p:cNvSpPr/>
          <p:nvPr/>
        </p:nvSpPr>
        <p:spPr>
          <a:xfrm>
            <a:off x="5257800" y="1981200"/>
            <a:ext cx="3505200" cy="397031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dirty="0" smtClean="0">
                <a:latin typeface="Consolas" pitchFamily="49" charset="0"/>
                <a:cs typeface="Consolas" pitchFamily="49" charset="0"/>
              </a:rPr>
              <a:t>&lt;?</a:t>
            </a:r>
            <a:r>
              <a:rPr lang="en-US" dirty="0" err="1" smtClean="0">
                <a:latin typeface="Consolas" pitchFamily="49" charset="0"/>
                <a:cs typeface="Consolas" pitchFamily="49" charset="0"/>
              </a:rPr>
              <a:t>php</a:t>
            </a:r>
            <a:r>
              <a:rPr lang="en-US" dirty="0" smtClean="0">
                <a:latin typeface="Consolas" pitchFamily="49" charset="0"/>
                <a:cs typeface="Consolas" pitchFamily="49" charset="0"/>
              </a:rPr>
              <a:t> </a:t>
            </a:r>
            <a:r>
              <a:rPr lang="en-US" dirty="0" err="1" smtClean="0">
                <a:latin typeface="Consolas" pitchFamily="49" charset="0"/>
                <a:cs typeface="Consolas" pitchFamily="49" charset="0"/>
              </a:rPr>
              <a:t>get_header</a:t>
            </a:r>
            <a:r>
              <a:rPr lang="en-US" dirty="0" smtClean="0">
                <a:latin typeface="Consolas" pitchFamily="49" charset="0"/>
                <a:cs typeface="Consolas" pitchFamily="49" charset="0"/>
              </a:rPr>
              <a:t>(); ?&gt;</a:t>
            </a:r>
          </a:p>
          <a:p>
            <a:r>
              <a:rPr lang="en-US" dirty="0" smtClean="0">
                <a:latin typeface="Consolas" pitchFamily="49" charset="0"/>
                <a:cs typeface="Consolas" pitchFamily="49" charset="0"/>
              </a:rPr>
              <a:t>&lt;div class="container"&gt;</a:t>
            </a:r>
          </a:p>
          <a:p>
            <a:r>
              <a:rPr lang="en-US" dirty="0" smtClean="0">
                <a:latin typeface="Consolas" pitchFamily="49" charset="0"/>
                <a:cs typeface="Consolas" pitchFamily="49" charset="0"/>
              </a:rPr>
              <a:t>&lt;div class="search"&gt;</a:t>
            </a:r>
          </a:p>
          <a:p>
            <a:r>
              <a:rPr lang="en-US" dirty="0" smtClean="0">
                <a:latin typeface="Consolas" pitchFamily="49" charset="0"/>
                <a:cs typeface="Consolas" pitchFamily="49" charset="0"/>
              </a:rPr>
              <a:t>&lt;?</a:t>
            </a:r>
            <a:r>
              <a:rPr lang="en-US" dirty="0" err="1" smtClean="0">
                <a:latin typeface="Consolas" pitchFamily="49" charset="0"/>
                <a:cs typeface="Consolas" pitchFamily="49" charset="0"/>
              </a:rPr>
              <a:t>php</a:t>
            </a:r>
            <a:r>
              <a:rPr lang="en-US" dirty="0" smtClean="0">
                <a:latin typeface="Consolas" pitchFamily="49" charset="0"/>
                <a:cs typeface="Consolas" pitchFamily="49" charset="0"/>
              </a:rPr>
              <a:t> </a:t>
            </a:r>
            <a:r>
              <a:rPr lang="en-US" dirty="0" err="1" smtClean="0">
                <a:latin typeface="Consolas" pitchFamily="49" charset="0"/>
                <a:cs typeface="Consolas" pitchFamily="49" charset="0"/>
              </a:rPr>
              <a:t>get_search_form</a:t>
            </a:r>
            <a:r>
              <a:rPr lang="en-US" dirty="0" smtClean="0">
                <a:latin typeface="Consolas" pitchFamily="49" charset="0"/>
                <a:cs typeface="Consolas" pitchFamily="49" charset="0"/>
              </a:rPr>
              <a:t>(); ?&gt;</a:t>
            </a:r>
          </a:p>
          <a:p>
            <a:r>
              <a:rPr lang="en-US" dirty="0" smtClean="0">
                <a:latin typeface="Consolas" pitchFamily="49" charset="0"/>
                <a:cs typeface="Consolas" pitchFamily="49" charset="0"/>
              </a:rPr>
              <a:t>&lt;/div&gt;</a:t>
            </a:r>
          </a:p>
          <a:p>
            <a:r>
              <a:rPr lang="en-US" dirty="0" smtClean="0">
                <a:latin typeface="Consolas" pitchFamily="49" charset="0"/>
                <a:cs typeface="Consolas" pitchFamily="49" charset="0"/>
              </a:rPr>
              <a:t>&lt;div class="main"&gt;</a:t>
            </a:r>
          </a:p>
          <a:p>
            <a:r>
              <a:rPr lang="en-US" dirty="0" smtClean="0">
                <a:latin typeface="Consolas" pitchFamily="49" charset="0"/>
                <a:cs typeface="Consolas" pitchFamily="49" charset="0"/>
              </a:rPr>
              <a:t>&lt;?</a:t>
            </a:r>
            <a:r>
              <a:rPr lang="en-US" dirty="0" err="1" smtClean="0">
                <a:latin typeface="Consolas" pitchFamily="49" charset="0"/>
                <a:cs typeface="Consolas" pitchFamily="49" charset="0"/>
              </a:rPr>
              <a:t>php</a:t>
            </a:r>
            <a:r>
              <a:rPr lang="en-US" dirty="0" smtClean="0">
                <a:latin typeface="Consolas" pitchFamily="49" charset="0"/>
                <a:cs typeface="Consolas" pitchFamily="49" charset="0"/>
              </a:rPr>
              <a:t> // do stuff ?&gt;</a:t>
            </a:r>
          </a:p>
          <a:p>
            <a:r>
              <a:rPr lang="en-US" dirty="0" smtClean="0">
                <a:latin typeface="Consolas" pitchFamily="49" charset="0"/>
                <a:cs typeface="Consolas" pitchFamily="49" charset="0"/>
              </a:rPr>
              <a:t>&lt;?</a:t>
            </a:r>
            <a:r>
              <a:rPr lang="en-US" dirty="0" err="1" smtClean="0">
                <a:latin typeface="Consolas" pitchFamily="49" charset="0"/>
                <a:cs typeface="Consolas" pitchFamily="49" charset="0"/>
              </a:rPr>
              <a:t>php</a:t>
            </a:r>
            <a:r>
              <a:rPr lang="en-US" dirty="0" smtClean="0">
                <a:latin typeface="Consolas" pitchFamily="49" charset="0"/>
                <a:cs typeface="Consolas" pitchFamily="49" charset="0"/>
              </a:rPr>
              <a:t> </a:t>
            </a:r>
            <a:r>
              <a:rPr lang="en-US" dirty="0" err="1" smtClean="0">
                <a:latin typeface="Consolas" pitchFamily="49" charset="0"/>
                <a:cs typeface="Consolas" pitchFamily="49" charset="0"/>
              </a:rPr>
              <a:t>comments_template</a:t>
            </a:r>
            <a:r>
              <a:rPr lang="en-US" dirty="0" smtClean="0">
                <a:latin typeface="Consolas" pitchFamily="49" charset="0"/>
                <a:cs typeface="Consolas" pitchFamily="49" charset="0"/>
              </a:rPr>
              <a:t>(); ?&gt;</a:t>
            </a:r>
          </a:p>
          <a:p>
            <a:r>
              <a:rPr lang="en-US" dirty="0" smtClean="0">
                <a:latin typeface="Consolas" pitchFamily="49" charset="0"/>
                <a:cs typeface="Consolas" pitchFamily="49" charset="0"/>
              </a:rPr>
              <a:t>&lt;/div&gt;</a:t>
            </a:r>
          </a:p>
          <a:p>
            <a:r>
              <a:rPr lang="en-US" dirty="0" smtClean="0">
                <a:latin typeface="Consolas" pitchFamily="49" charset="0"/>
                <a:cs typeface="Consolas" pitchFamily="49" charset="0"/>
              </a:rPr>
              <a:t>&lt;?</a:t>
            </a:r>
            <a:r>
              <a:rPr lang="en-US" dirty="0" err="1" smtClean="0">
                <a:latin typeface="Consolas" pitchFamily="49" charset="0"/>
                <a:cs typeface="Consolas" pitchFamily="49" charset="0"/>
              </a:rPr>
              <a:t>php</a:t>
            </a:r>
            <a:r>
              <a:rPr lang="en-US" dirty="0" smtClean="0">
                <a:latin typeface="Consolas" pitchFamily="49" charset="0"/>
                <a:cs typeface="Consolas" pitchFamily="49" charset="0"/>
              </a:rPr>
              <a:t> </a:t>
            </a:r>
            <a:r>
              <a:rPr lang="en-US" dirty="0" err="1" smtClean="0">
                <a:latin typeface="Consolas" pitchFamily="49" charset="0"/>
                <a:cs typeface="Consolas" pitchFamily="49" charset="0"/>
              </a:rPr>
              <a:t>get_sidebar</a:t>
            </a:r>
            <a:r>
              <a:rPr lang="en-US" dirty="0" smtClean="0">
                <a:latin typeface="Consolas" pitchFamily="49" charset="0"/>
                <a:cs typeface="Consolas" pitchFamily="49" charset="0"/>
              </a:rPr>
              <a:t>(); ?&gt;</a:t>
            </a:r>
          </a:p>
          <a:p>
            <a:r>
              <a:rPr lang="en-US" dirty="0" smtClean="0">
                <a:latin typeface="Consolas" pitchFamily="49" charset="0"/>
                <a:cs typeface="Consolas" pitchFamily="49" charset="0"/>
              </a:rPr>
              <a:t>&lt;/div&gt;</a:t>
            </a:r>
          </a:p>
          <a:p>
            <a:r>
              <a:rPr lang="en-US" dirty="0" smtClean="0">
                <a:latin typeface="Consolas" pitchFamily="49" charset="0"/>
                <a:cs typeface="Consolas" pitchFamily="49" charset="0"/>
              </a:rPr>
              <a:t>&lt;?</a:t>
            </a:r>
            <a:r>
              <a:rPr lang="en-US" dirty="0" err="1" smtClean="0">
                <a:latin typeface="Consolas" pitchFamily="49" charset="0"/>
                <a:cs typeface="Consolas" pitchFamily="49" charset="0"/>
              </a:rPr>
              <a:t>php</a:t>
            </a:r>
            <a:r>
              <a:rPr lang="en-US" dirty="0" smtClean="0">
                <a:latin typeface="Consolas" pitchFamily="49" charset="0"/>
                <a:cs typeface="Consolas" pitchFamily="49" charset="0"/>
              </a:rPr>
              <a:t> </a:t>
            </a:r>
            <a:r>
              <a:rPr lang="en-US" dirty="0" err="1" smtClean="0">
                <a:latin typeface="Consolas" pitchFamily="49" charset="0"/>
                <a:cs typeface="Consolas" pitchFamily="49" charset="0"/>
              </a:rPr>
              <a:t>get_footer</a:t>
            </a:r>
            <a:r>
              <a:rPr lang="en-US" dirty="0" smtClean="0">
                <a:latin typeface="Consolas" pitchFamily="49" charset="0"/>
                <a:cs typeface="Consolas" pitchFamily="49" charset="0"/>
              </a:rPr>
              <a:t>(); ?&gt;</a:t>
            </a:r>
            <a:endParaRPr lang="en-US" dirty="0">
              <a:latin typeface="Consolas" pitchFamily="49" charset="0"/>
              <a:cs typeface="Consolas" pitchFamily="49" charset="0"/>
            </a:endParaRPr>
          </a:p>
        </p:txBody>
      </p:sp>
      <p:sp>
        <p:nvSpPr>
          <p:cNvPr id="5" name="Rectangle 4"/>
          <p:cNvSpPr/>
          <p:nvPr/>
        </p:nvSpPr>
        <p:spPr>
          <a:xfrm>
            <a:off x="381000" y="1905000"/>
            <a:ext cx="4572000" cy="3693319"/>
          </a:xfrm>
          <a:prstGeom prst="rect">
            <a:avLst/>
          </a:prstGeom>
        </p:spPr>
        <p:txBody>
          <a:bodyPr>
            <a:spAutoFit/>
          </a:bodyPr>
          <a:lstStyle/>
          <a:p>
            <a:r>
              <a:rPr lang="en-US" dirty="0" smtClean="0"/>
              <a:t>You need to actually include them in your main template files.</a:t>
            </a:r>
          </a:p>
          <a:p>
            <a:r>
              <a:rPr lang="en-US" dirty="0" smtClean="0"/>
              <a:t>Each of the previous files could be included with a regular PHP include() call, but </a:t>
            </a:r>
            <a:r>
              <a:rPr lang="en-US" dirty="0" err="1" smtClean="0"/>
              <a:t>WordPress</a:t>
            </a:r>
            <a:r>
              <a:rPr lang="en-US" dirty="0" smtClean="0"/>
              <a:t> goes one</a:t>
            </a:r>
          </a:p>
          <a:p>
            <a:r>
              <a:rPr lang="en-US" dirty="0" smtClean="0"/>
              <a:t>better and furnishes some template functions to use specifically for each of the base files:</a:t>
            </a:r>
          </a:p>
          <a:p>
            <a:pPr marL="342900" indent="-342900">
              <a:buFont typeface="Arial" pitchFamily="34" charset="0"/>
              <a:buChar char="•"/>
            </a:pPr>
            <a:r>
              <a:rPr lang="en-US" dirty="0" err="1" smtClean="0"/>
              <a:t>get_header</a:t>
            </a:r>
            <a:r>
              <a:rPr lang="en-US" dirty="0" smtClean="0"/>
              <a:t>()</a:t>
            </a:r>
          </a:p>
          <a:p>
            <a:pPr marL="342900" indent="-342900">
              <a:buFont typeface="Arial" pitchFamily="34" charset="0"/>
              <a:buChar char="•"/>
            </a:pPr>
            <a:r>
              <a:rPr lang="en-US" dirty="0" err="1" smtClean="0"/>
              <a:t>get_footer</a:t>
            </a:r>
            <a:r>
              <a:rPr lang="en-US" dirty="0" smtClean="0"/>
              <a:t>()</a:t>
            </a:r>
          </a:p>
          <a:p>
            <a:pPr marL="342900" indent="-342900">
              <a:buFont typeface="Arial" pitchFamily="34" charset="0"/>
              <a:buChar char="•"/>
            </a:pPr>
            <a:r>
              <a:rPr lang="en-US" dirty="0" err="1" smtClean="0"/>
              <a:t>get_sidebar</a:t>
            </a:r>
            <a:r>
              <a:rPr lang="en-US" dirty="0" smtClean="0"/>
              <a:t>()</a:t>
            </a:r>
          </a:p>
          <a:p>
            <a:pPr marL="342900" indent="-342900">
              <a:buFont typeface="Arial" pitchFamily="34" charset="0"/>
              <a:buChar char="•"/>
            </a:pPr>
            <a:r>
              <a:rPr lang="en-US" dirty="0" err="1" smtClean="0"/>
              <a:t>get_search_form</a:t>
            </a:r>
            <a:r>
              <a:rPr lang="en-US" dirty="0" smtClean="0"/>
              <a:t>()</a:t>
            </a:r>
          </a:p>
          <a:p>
            <a:pPr marL="342900" indent="-342900">
              <a:buFont typeface="Arial" pitchFamily="34" charset="0"/>
              <a:buChar char="•"/>
            </a:pPr>
            <a:r>
              <a:rPr lang="en-US" dirty="0" err="1" smtClean="0"/>
              <a:t>comments_template</a:t>
            </a:r>
            <a:r>
              <a:rPr lang="en-US" dirty="0" smtClean="0"/>
              <a:t>()</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File</a:t>
            </a:r>
            <a:endParaRPr lang="en-US" dirty="0"/>
          </a:p>
        </p:txBody>
      </p:sp>
      <p:sp>
        <p:nvSpPr>
          <p:cNvPr id="4" name="Rectangle 3"/>
          <p:cNvSpPr/>
          <p:nvPr/>
        </p:nvSpPr>
        <p:spPr>
          <a:xfrm>
            <a:off x="304800" y="1676400"/>
            <a:ext cx="4572000" cy="4247317"/>
          </a:xfrm>
          <a:prstGeom prst="rect">
            <a:avLst/>
          </a:prstGeom>
        </p:spPr>
        <p:txBody>
          <a:bodyPr>
            <a:spAutoFit/>
          </a:bodyPr>
          <a:lstStyle/>
          <a:p>
            <a:r>
              <a:rPr lang="en-US" dirty="0" smtClean="0"/>
              <a:t>The functions file of a </a:t>
            </a:r>
            <a:r>
              <a:rPr lang="en-US" dirty="0" err="1" smtClean="0"/>
              <a:t>WordPress</a:t>
            </a:r>
            <a:r>
              <a:rPr lang="en-US" dirty="0" smtClean="0"/>
              <a:t> theme (functions.php in the root of your theme) acts as your own little</a:t>
            </a:r>
          </a:p>
          <a:p>
            <a:r>
              <a:rPr lang="en-US" dirty="0" err="1" smtClean="0"/>
              <a:t>plugin</a:t>
            </a:r>
            <a:r>
              <a:rPr lang="en-US" dirty="0" smtClean="0"/>
              <a:t>. It gets loaded automatically by </a:t>
            </a:r>
            <a:r>
              <a:rPr lang="en-US" dirty="0" err="1" smtClean="0"/>
              <a:t>WordPress</a:t>
            </a:r>
            <a:r>
              <a:rPr lang="en-US" dirty="0" smtClean="0"/>
              <a:t> when a page is initialized in both the front end and admin of your</a:t>
            </a:r>
          </a:p>
          <a:p>
            <a:r>
              <a:rPr lang="en-US" dirty="0" smtClean="0"/>
              <a:t>site. It can be used for a variety of functions:</a:t>
            </a:r>
          </a:p>
          <a:p>
            <a:pPr marL="342900" indent="-342900">
              <a:buFont typeface="Arial" pitchFamily="34" charset="0"/>
              <a:buChar char="•"/>
            </a:pPr>
            <a:r>
              <a:rPr lang="en-US" dirty="0" smtClean="0"/>
              <a:t>To set up </a:t>
            </a:r>
            <a:r>
              <a:rPr lang="en-US" dirty="0" err="1" smtClean="0"/>
              <a:t>WordPress</a:t>
            </a:r>
            <a:r>
              <a:rPr lang="en-US" dirty="0" smtClean="0"/>
              <a:t> functionality such as post-thumbnails or custom post types</a:t>
            </a:r>
          </a:p>
          <a:p>
            <a:pPr marL="342900" indent="-342900">
              <a:buFont typeface="Arial" pitchFamily="34" charset="0"/>
              <a:buChar char="•"/>
            </a:pPr>
            <a:r>
              <a:rPr lang="en-US" dirty="0" smtClean="0"/>
              <a:t>To define functions that can be used throughout your theme templates</a:t>
            </a:r>
          </a:p>
          <a:p>
            <a:pPr marL="342900" indent="-342900">
              <a:buFont typeface="Arial" pitchFamily="34" charset="0"/>
              <a:buChar char="•"/>
            </a:pPr>
            <a:r>
              <a:rPr lang="en-US" dirty="0" smtClean="0"/>
              <a:t>To change the </a:t>
            </a:r>
            <a:r>
              <a:rPr lang="en-US" dirty="0" err="1" smtClean="0"/>
              <a:t>WordPress</a:t>
            </a:r>
            <a:r>
              <a:rPr lang="en-US" dirty="0" smtClean="0"/>
              <a:t> admin or add in options pages</a:t>
            </a:r>
            <a:endParaRPr lang="en-US" dirty="0"/>
          </a:p>
        </p:txBody>
      </p:sp>
      <p:sp>
        <p:nvSpPr>
          <p:cNvPr id="5" name="Rectangle 4"/>
          <p:cNvSpPr/>
          <p:nvPr/>
        </p:nvSpPr>
        <p:spPr>
          <a:xfrm>
            <a:off x="5257800" y="1905000"/>
            <a:ext cx="3581400" cy="313932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dirty="0" smtClean="0">
                <a:latin typeface="Consolas" pitchFamily="49" charset="0"/>
                <a:cs typeface="Consolas" pitchFamily="49" charset="0"/>
              </a:rPr>
              <a:t>&lt;?</a:t>
            </a:r>
            <a:r>
              <a:rPr lang="en-US" dirty="0" err="1" smtClean="0">
                <a:latin typeface="Consolas" pitchFamily="49" charset="0"/>
                <a:cs typeface="Consolas" pitchFamily="49" charset="0"/>
              </a:rPr>
              <a:t>php</a:t>
            </a:r>
            <a:endParaRPr lang="en-US" dirty="0" smtClean="0">
              <a:latin typeface="Consolas" pitchFamily="49" charset="0"/>
              <a:cs typeface="Consolas" pitchFamily="49" charset="0"/>
            </a:endParaRPr>
          </a:p>
          <a:p>
            <a:r>
              <a:rPr lang="en-US" dirty="0" smtClean="0">
                <a:latin typeface="Consolas" pitchFamily="49" charset="0"/>
                <a:cs typeface="Consolas" pitchFamily="49" charset="0"/>
              </a:rPr>
              <a:t>/**</a:t>
            </a:r>
          </a:p>
          <a:p>
            <a:r>
              <a:rPr lang="en-US" dirty="0" smtClean="0">
                <a:latin typeface="Consolas" pitchFamily="49" charset="0"/>
                <a:cs typeface="Consolas" pitchFamily="49" charset="0"/>
              </a:rPr>
              <a:t>* Pro </a:t>
            </a:r>
            <a:r>
              <a:rPr lang="en-US" dirty="0" err="1" smtClean="0">
                <a:latin typeface="Consolas" pitchFamily="49" charset="0"/>
                <a:cs typeface="Consolas" pitchFamily="49" charset="0"/>
              </a:rPr>
              <a:t>WordPress</a:t>
            </a:r>
            <a:r>
              <a:rPr lang="en-US" dirty="0" smtClean="0">
                <a:latin typeface="Consolas" pitchFamily="49" charset="0"/>
                <a:cs typeface="Consolas" pitchFamily="49" charset="0"/>
              </a:rPr>
              <a:t> functions and definitions</a:t>
            </a:r>
          </a:p>
          <a:p>
            <a:r>
              <a:rPr lang="en-US" dirty="0" smtClean="0">
                <a:latin typeface="Consolas" pitchFamily="49" charset="0"/>
                <a:cs typeface="Consolas" pitchFamily="49" charset="0"/>
              </a:rPr>
              <a:t>*</a:t>
            </a:r>
          </a:p>
          <a:p>
            <a:r>
              <a:rPr lang="en-US" dirty="0" smtClean="0">
                <a:latin typeface="Consolas" pitchFamily="49" charset="0"/>
                <a:cs typeface="Consolas" pitchFamily="49" charset="0"/>
              </a:rPr>
              <a:t>* @package </a:t>
            </a:r>
            <a:r>
              <a:rPr lang="en-US" dirty="0" err="1" smtClean="0">
                <a:latin typeface="Consolas" pitchFamily="49" charset="0"/>
                <a:cs typeface="Consolas" pitchFamily="49" charset="0"/>
              </a:rPr>
              <a:t>prowordpress</a:t>
            </a:r>
            <a:endParaRPr lang="en-US" dirty="0" smtClean="0">
              <a:latin typeface="Consolas" pitchFamily="49" charset="0"/>
              <a:cs typeface="Consolas" pitchFamily="49" charset="0"/>
            </a:endParaRPr>
          </a:p>
          <a:p>
            <a:r>
              <a:rPr lang="en-US" dirty="0" smtClean="0">
                <a:latin typeface="Consolas" pitchFamily="49" charset="0"/>
                <a:cs typeface="Consolas" pitchFamily="49" charset="0"/>
              </a:rPr>
              <a:t>*/</a:t>
            </a:r>
          </a:p>
          <a:p>
            <a:r>
              <a:rPr lang="en-US" dirty="0" err="1" smtClean="0">
                <a:latin typeface="Consolas" pitchFamily="49" charset="0"/>
                <a:cs typeface="Consolas" pitchFamily="49" charset="0"/>
              </a:rPr>
              <a:t>add_theme_support</a:t>
            </a:r>
            <a:r>
              <a:rPr lang="en-US" dirty="0" smtClean="0">
                <a:latin typeface="Consolas" pitchFamily="49" charset="0"/>
                <a:cs typeface="Consolas" pitchFamily="49" charset="0"/>
              </a:rPr>
              <a:t>( </a:t>
            </a:r>
            <a:r>
              <a:rPr lang="en-US" dirty="0" smtClean="0">
                <a:latin typeface="Consolas" pitchFamily="49" charset="0"/>
                <a:cs typeface="Consolas" pitchFamily="49" charset="0"/>
              </a:rPr>
              <a:t>'automatic-feed-links' </a:t>
            </a:r>
            <a:r>
              <a:rPr lang="en-US" dirty="0" smtClean="0">
                <a:latin typeface="Consolas" pitchFamily="49" charset="0"/>
                <a:cs typeface="Consolas" pitchFamily="49" charset="0"/>
              </a:rPr>
              <a:t>);</a:t>
            </a:r>
          </a:p>
          <a:p>
            <a:r>
              <a:rPr lang="en-US" dirty="0" err="1" smtClean="0">
                <a:latin typeface="Consolas" pitchFamily="49" charset="0"/>
                <a:cs typeface="Consolas" pitchFamily="49" charset="0"/>
              </a:rPr>
              <a:t>add_theme_support</a:t>
            </a:r>
            <a:r>
              <a:rPr lang="en-US" dirty="0" smtClean="0">
                <a:latin typeface="Consolas" pitchFamily="49" charset="0"/>
                <a:cs typeface="Consolas" pitchFamily="49" charset="0"/>
              </a:rPr>
              <a:t>( </a:t>
            </a:r>
            <a:r>
              <a:rPr lang="en-US" dirty="0" smtClean="0">
                <a:latin typeface="Consolas" pitchFamily="49" charset="0"/>
                <a:cs typeface="Consolas" pitchFamily="49" charset="0"/>
              </a:rPr>
              <a:t>'post-thumbnails' </a:t>
            </a:r>
            <a:r>
              <a:rPr lang="en-US" dirty="0" smtClean="0">
                <a:latin typeface="Consolas" pitchFamily="49" charset="0"/>
                <a:cs typeface="Consolas" pitchFamily="49" charset="0"/>
              </a:rPr>
              <a:t>);</a:t>
            </a:r>
            <a:endParaRPr lang="en-US" dirty="0">
              <a:latin typeface="Consolas" pitchFamily="49" charset="0"/>
              <a:cs typeface="Consolas" pitchFamily="49"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Template Hierarchy</a:t>
            </a:r>
            <a:endParaRPr lang="en-US" dirty="0"/>
          </a:p>
        </p:txBody>
      </p:sp>
      <p:sp>
        <p:nvSpPr>
          <p:cNvPr id="4" name="Rectangle 3"/>
          <p:cNvSpPr/>
          <p:nvPr/>
        </p:nvSpPr>
        <p:spPr>
          <a:xfrm>
            <a:off x="533400" y="1828800"/>
            <a:ext cx="2895600" cy="3416320"/>
          </a:xfrm>
          <a:prstGeom prst="rect">
            <a:avLst/>
          </a:prstGeom>
        </p:spPr>
        <p:txBody>
          <a:bodyPr wrap="square">
            <a:spAutoFit/>
          </a:bodyPr>
          <a:lstStyle/>
          <a:p>
            <a:pPr marL="342900" indent="-342900">
              <a:buFont typeface="Arial" pitchFamily="34" charset="0"/>
              <a:buChar char="•"/>
            </a:pPr>
            <a:r>
              <a:rPr lang="en-US" dirty="0" smtClean="0"/>
              <a:t>page.php</a:t>
            </a:r>
          </a:p>
          <a:p>
            <a:pPr marL="342900" indent="-342900">
              <a:buFont typeface="Arial" pitchFamily="34" charset="0"/>
              <a:buChar char="•"/>
            </a:pPr>
            <a:r>
              <a:rPr lang="en-US" dirty="0" smtClean="0"/>
              <a:t>single.php</a:t>
            </a:r>
          </a:p>
          <a:p>
            <a:pPr marL="800100" lvl="1" indent="-342900">
              <a:buFont typeface="Arial" pitchFamily="34" charset="0"/>
              <a:buChar char="•"/>
            </a:pPr>
            <a:r>
              <a:rPr lang="en-US" dirty="0" smtClean="0"/>
              <a:t>attachment.php</a:t>
            </a:r>
          </a:p>
          <a:p>
            <a:pPr marL="1257300" lvl="2" indent="-342900">
              <a:buFont typeface="Arial" pitchFamily="34" charset="0"/>
              <a:buChar char="•"/>
            </a:pPr>
            <a:r>
              <a:rPr lang="en-US" dirty="0" smtClean="0"/>
              <a:t>image.php</a:t>
            </a:r>
          </a:p>
          <a:p>
            <a:pPr marL="1257300" lvl="2" indent="-342900">
              <a:buFont typeface="Arial" pitchFamily="34" charset="0"/>
              <a:buChar char="•"/>
            </a:pPr>
            <a:r>
              <a:rPr lang="en-US" dirty="0" smtClean="0"/>
              <a:t>video.php</a:t>
            </a:r>
          </a:p>
          <a:p>
            <a:pPr marL="1257300" lvl="2" indent="-342900">
              <a:buFont typeface="Arial" pitchFamily="34" charset="0"/>
              <a:buChar char="•"/>
            </a:pPr>
            <a:r>
              <a:rPr lang="en-US" dirty="0" smtClean="0"/>
              <a:t>text.php</a:t>
            </a:r>
          </a:p>
          <a:p>
            <a:pPr marL="800100" lvl="1" indent="-342900">
              <a:buFont typeface="Arial" pitchFamily="34" charset="0"/>
              <a:buChar char="•"/>
            </a:pPr>
            <a:r>
              <a:rPr lang="en-US" dirty="0" smtClean="0"/>
              <a:t>archive.php</a:t>
            </a:r>
          </a:p>
          <a:p>
            <a:pPr marL="1257300" lvl="2" indent="-342900">
              <a:buFont typeface="Arial" pitchFamily="34" charset="0"/>
              <a:buChar char="•"/>
            </a:pPr>
            <a:r>
              <a:rPr lang="en-US" dirty="0" smtClean="0"/>
              <a:t>taxonomy.php</a:t>
            </a:r>
          </a:p>
          <a:p>
            <a:pPr marL="1257300" lvl="2" indent="-342900">
              <a:buFont typeface="Arial" pitchFamily="34" charset="0"/>
              <a:buChar char="•"/>
            </a:pPr>
            <a:r>
              <a:rPr lang="en-US" dirty="0" smtClean="0"/>
              <a:t>category.php</a:t>
            </a:r>
          </a:p>
          <a:p>
            <a:pPr marL="1257300" lvl="2" indent="-342900">
              <a:buFont typeface="Arial" pitchFamily="34" charset="0"/>
              <a:buChar char="•"/>
            </a:pPr>
            <a:r>
              <a:rPr lang="en-US" dirty="0" smtClean="0"/>
              <a:t>date.php</a:t>
            </a:r>
          </a:p>
          <a:p>
            <a:pPr marL="1257300" lvl="2" indent="-342900">
              <a:buFont typeface="Arial" pitchFamily="34" charset="0"/>
              <a:buChar char="•"/>
            </a:pPr>
            <a:r>
              <a:rPr lang="en-US" dirty="0" smtClean="0"/>
              <a:t>tag.php</a:t>
            </a:r>
          </a:p>
          <a:p>
            <a:pPr marL="1257300" lvl="2" indent="-342900">
              <a:buFont typeface="Arial" pitchFamily="34" charset="0"/>
              <a:buChar char="•"/>
            </a:pPr>
            <a:r>
              <a:rPr lang="en-US" dirty="0" smtClean="0"/>
              <a:t>author.php</a:t>
            </a:r>
            <a:endParaRPr lang="en-US" dirty="0"/>
          </a:p>
        </p:txBody>
      </p:sp>
      <p:sp>
        <p:nvSpPr>
          <p:cNvPr id="5" name="Rectangle 4"/>
          <p:cNvSpPr/>
          <p:nvPr/>
        </p:nvSpPr>
        <p:spPr>
          <a:xfrm>
            <a:off x="3962400" y="1752600"/>
            <a:ext cx="4764234" cy="3970318"/>
          </a:xfrm>
          <a:prstGeom prst="rect">
            <a:avLst/>
          </a:prstGeom>
        </p:spPr>
        <p:txBody>
          <a:bodyPr wrap="square">
            <a:spAutoFit/>
          </a:bodyPr>
          <a:lstStyle/>
          <a:p>
            <a:r>
              <a:rPr lang="en-US" dirty="0" smtClean="0"/>
              <a:t>page.php template is used to generate and display the pages in your </a:t>
            </a:r>
            <a:r>
              <a:rPr lang="en-US" dirty="0" err="1" smtClean="0"/>
              <a:t>WordPress</a:t>
            </a:r>
            <a:r>
              <a:rPr lang="en-US" dirty="0" smtClean="0"/>
              <a:t> site. If you need to create a custom template for a specific page, you can do it easily by using the </a:t>
            </a:r>
            <a:r>
              <a:rPr lang="en-US" dirty="0" smtClean="0"/>
              <a:t>page's </a:t>
            </a:r>
            <a:r>
              <a:rPr lang="en-US" dirty="0" smtClean="0"/>
              <a:t>slug, which is usually a lowercase, hyphenated version of the page title.</a:t>
            </a:r>
          </a:p>
          <a:p>
            <a:endParaRPr lang="en-US" dirty="0" smtClean="0"/>
          </a:p>
          <a:p>
            <a:r>
              <a:rPr lang="en-US" dirty="0" smtClean="0"/>
              <a:t>The single.php template is used to display all individual posts.</a:t>
            </a:r>
          </a:p>
          <a:p>
            <a:endParaRPr lang="en-US" dirty="0" smtClean="0"/>
          </a:p>
          <a:p>
            <a:r>
              <a:rPr lang="en-US" dirty="0" smtClean="0"/>
              <a:t>The attachment.php file is used to display any attachments that can be directly linked to from the </a:t>
            </a:r>
            <a:r>
              <a:rPr lang="en-US" dirty="0" err="1" smtClean="0"/>
              <a:t>WordPress</a:t>
            </a:r>
            <a:r>
              <a:rPr lang="en-US" dirty="0" smtClean="0"/>
              <a:t> front end.</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Building Your Theme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485900" y="2095500"/>
            <a:ext cx="6172200" cy="266700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Template Tags</a:t>
            </a:r>
            <a:endParaRPr lang="en-US" dirty="0"/>
          </a:p>
        </p:txBody>
      </p:sp>
      <p:sp>
        <p:nvSpPr>
          <p:cNvPr id="4" name="Rectangle 3"/>
          <p:cNvSpPr/>
          <p:nvPr/>
        </p:nvSpPr>
        <p:spPr>
          <a:xfrm>
            <a:off x="228600" y="1447800"/>
            <a:ext cx="4572000" cy="4893647"/>
          </a:xfrm>
          <a:prstGeom prst="rect">
            <a:avLst/>
          </a:prstGeom>
        </p:spPr>
        <p:txBody>
          <a:bodyPr>
            <a:spAutoFit/>
          </a:bodyPr>
          <a:lstStyle/>
          <a:p>
            <a:pPr marL="342900" indent="-342900">
              <a:buFont typeface="Arial" pitchFamily="34" charset="0"/>
              <a:buChar char="•"/>
            </a:pPr>
            <a:r>
              <a:rPr lang="en-US" sz="2400" dirty="0" smtClean="0">
                <a:latin typeface="+mj-lt"/>
              </a:rPr>
              <a:t>The </a:t>
            </a:r>
            <a:r>
              <a:rPr lang="en-US" sz="2400" dirty="0" err="1" smtClean="0">
                <a:latin typeface="+mj-lt"/>
              </a:rPr>
              <a:t>WordPress</a:t>
            </a:r>
            <a:r>
              <a:rPr lang="en-US" sz="2400" dirty="0" smtClean="0">
                <a:latin typeface="+mj-lt"/>
              </a:rPr>
              <a:t> template tags are a simple way to access all the content you store in </a:t>
            </a:r>
            <a:r>
              <a:rPr lang="en-US" sz="2400" dirty="0" err="1" smtClean="0">
                <a:latin typeface="+mj-lt"/>
              </a:rPr>
              <a:t>WordPress</a:t>
            </a:r>
            <a:r>
              <a:rPr lang="en-US" sz="2400" dirty="0" smtClean="0">
                <a:latin typeface="+mj-lt"/>
              </a:rPr>
              <a:t> and get it into your themes.</a:t>
            </a:r>
          </a:p>
          <a:p>
            <a:pPr marL="342900" indent="-342900">
              <a:buFont typeface="Arial" pitchFamily="34" charset="0"/>
              <a:buChar char="•"/>
            </a:pPr>
            <a:r>
              <a:rPr lang="en-US" sz="2400" dirty="0" smtClean="0">
                <a:latin typeface="+mj-lt"/>
              </a:rPr>
              <a:t>Again the template tags; although they have the name “tags,” they are still just functions.</a:t>
            </a:r>
          </a:p>
          <a:p>
            <a:pPr marL="342900" indent="-342900">
              <a:buFont typeface="Arial" pitchFamily="34" charset="0"/>
              <a:buChar char="•"/>
            </a:pPr>
            <a:r>
              <a:rPr lang="en-US" sz="2400" dirty="0" smtClean="0">
                <a:latin typeface="+mj-lt"/>
              </a:rPr>
              <a:t>They are built into the </a:t>
            </a:r>
            <a:r>
              <a:rPr lang="en-US" sz="2400" dirty="0" err="1" smtClean="0">
                <a:latin typeface="+mj-lt"/>
              </a:rPr>
              <a:t>WordPress</a:t>
            </a:r>
            <a:r>
              <a:rPr lang="en-US" sz="2400" dirty="0" smtClean="0">
                <a:latin typeface="+mj-lt"/>
              </a:rPr>
              <a:t> core and process, and return or output the content stored in the database.</a:t>
            </a:r>
            <a:endParaRPr lang="en-US" sz="2400" dirty="0">
              <a:latin typeface="+mj-lt"/>
            </a:endParaRPr>
          </a:p>
        </p:txBody>
      </p:sp>
      <p:sp>
        <p:nvSpPr>
          <p:cNvPr id="5" name="Rectangle 4"/>
          <p:cNvSpPr/>
          <p:nvPr/>
        </p:nvSpPr>
        <p:spPr>
          <a:xfrm>
            <a:off x="4876800" y="1911727"/>
            <a:ext cx="3962400" cy="4031873"/>
          </a:xfrm>
          <a:prstGeom prst="rect">
            <a:avLst/>
          </a:prstGeom>
          <a:solidFill>
            <a:schemeClr val="bg2"/>
          </a:solid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600" dirty="0" smtClean="0">
                <a:latin typeface="Consolas" pitchFamily="49" charset="0"/>
                <a:cs typeface="Consolas" pitchFamily="49" charset="0"/>
              </a:rPr>
              <a:t>&lt;</a:t>
            </a:r>
            <a:r>
              <a:rPr lang="en-US" sz="1600" dirty="0" err="1" smtClean="0">
                <a:latin typeface="Consolas" pitchFamily="49" charset="0"/>
                <a:cs typeface="Consolas" pitchFamily="49" charset="0"/>
              </a:rPr>
              <a:t>img</a:t>
            </a:r>
            <a:r>
              <a:rPr lang="en-US" sz="1600" dirty="0" smtClean="0">
                <a:latin typeface="Consolas" pitchFamily="49" charset="0"/>
                <a:cs typeface="Consolas" pitchFamily="49" charset="0"/>
              </a:rPr>
              <a:t> </a:t>
            </a:r>
            <a:r>
              <a:rPr lang="en-US" sz="1600" dirty="0" err="1" smtClean="0">
                <a:latin typeface="Consolas" pitchFamily="49" charset="0"/>
                <a:cs typeface="Consolas" pitchFamily="49" charset="0"/>
              </a:rPr>
              <a:t>src</a:t>
            </a:r>
            <a:r>
              <a:rPr lang="en-US" sz="1600" dirty="0" smtClean="0">
                <a:latin typeface="Consolas" pitchFamily="49" charset="0"/>
                <a:cs typeface="Consolas" pitchFamily="49" charset="0"/>
              </a:rPr>
              <a:t>="&lt;?</a:t>
            </a:r>
            <a:r>
              <a:rPr lang="en-US" sz="1600" dirty="0" err="1" smtClean="0">
                <a:latin typeface="Consolas" pitchFamily="49" charset="0"/>
                <a:cs typeface="Consolas" pitchFamily="49" charset="0"/>
              </a:rPr>
              <a:t>php</a:t>
            </a:r>
            <a:r>
              <a:rPr lang="en-US" sz="1600" dirty="0" smtClean="0">
                <a:latin typeface="Consolas" pitchFamily="49" charset="0"/>
                <a:cs typeface="Consolas" pitchFamily="49" charset="0"/>
              </a:rPr>
              <a:t> </a:t>
            </a:r>
            <a:r>
              <a:rPr lang="en-US" sz="1600" b="1" dirty="0" err="1" smtClean="0">
                <a:latin typeface="Consolas" pitchFamily="49" charset="0"/>
                <a:cs typeface="Consolas" pitchFamily="49" charset="0"/>
              </a:rPr>
              <a:t>bloginfo</a:t>
            </a:r>
            <a:r>
              <a:rPr lang="en-US" sz="1600" dirty="0" smtClean="0">
                <a:latin typeface="Consolas" pitchFamily="49" charset="0"/>
                <a:cs typeface="Consolas" pitchFamily="49" charset="0"/>
              </a:rPr>
              <a:t>('</a:t>
            </a:r>
            <a:r>
              <a:rPr lang="en-US" sz="1600" dirty="0" err="1" smtClean="0">
                <a:latin typeface="Consolas" pitchFamily="49" charset="0"/>
                <a:cs typeface="Consolas" pitchFamily="49" charset="0"/>
              </a:rPr>
              <a:t>template_directory</a:t>
            </a:r>
            <a:r>
              <a:rPr lang="en-US" sz="1600" dirty="0" smtClean="0">
                <a:latin typeface="Consolas" pitchFamily="49" charset="0"/>
                <a:cs typeface="Consolas" pitchFamily="49" charset="0"/>
              </a:rPr>
              <a:t>'); </a:t>
            </a:r>
            <a:r>
              <a:rPr lang="en-US" sz="1600" dirty="0" smtClean="0">
                <a:latin typeface="Consolas" pitchFamily="49" charset="0"/>
                <a:cs typeface="Consolas" pitchFamily="49" charset="0"/>
              </a:rPr>
              <a:t>?&gt;/images/logo.png" alt="Site logo" /&gt;</a:t>
            </a:r>
          </a:p>
          <a:p>
            <a:endParaRPr lang="en-US" sz="1600" dirty="0" smtClean="0">
              <a:latin typeface="Consolas" pitchFamily="49" charset="0"/>
              <a:cs typeface="Consolas" pitchFamily="49" charset="0"/>
            </a:endParaRPr>
          </a:p>
          <a:p>
            <a:r>
              <a:rPr lang="en-US" sz="1600" dirty="0" smtClean="0">
                <a:latin typeface="Consolas" pitchFamily="49" charset="0"/>
                <a:cs typeface="Consolas" pitchFamily="49" charset="0"/>
              </a:rPr>
              <a:t>&lt;h2&gt;&lt;a </a:t>
            </a:r>
            <a:r>
              <a:rPr lang="en-US" sz="1600" dirty="0" err="1" smtClean="0">
                <a:latin typeface="Consolas" pitchFamily="49" charset="0"/>
                <a:cs typeface="Consolas" pitchFamily="49" charset="0"/>
              </a:rPr>
              <a:t>href</a:t>
            </a:r>
            <a:r>
              <a:rPr lang="en-US" sz="1600" dirty="0" smtClean="0">
                <a:latin typeface="Consolas" pitchFamily="49" charset="0"/>
                <a:cs typeface="Consolas" pitchFamily="49" charset="0"/>
              </a:rPr>
              <a:t>="&lt;?</a:t>
            </a:r>
            <a:r>
              <a:rPr lang="en-US" sz="1600" dirty="0" err="1" smtClean="0">
                <a:latin typeface="Consolas" pitchFamily="49" charset="0"/>
                <a:cs typeface="Consolas" pitchFamily="49" charset="0"/>
              </a:rPr>
              <a:t>php</a:t>
            </a:r>
            <a:r>
              <a:rPr lang="en-US" sz="1600" dirty="0" smtClean="0">
                <a:latin typeface="Consolas" pitchFamily="49" charset="0"/>
                <a:cs typeface="Consolas" pitchFamily="49" charset="0"/>
              </a:rPr>
              <a:t> </a:t>
            </a:r>
            <a:r>
              <a:rPr lang="en-US" sz="1600" b="1" dirty="0" err="1" smtClean="0">
                <a:latin typeface="Consolas" pitchFamily="49" charset="0"/>
                <a:cs typeface="Consolas" pitchFamily="49" charset="0"/>
              </a:rPr>
              <a:t>the_permalink</a:t>
            </a:r>
            <a:r>
              <a:rPr lang="en-US" sz="1600" dirty="0" smtClean="0">
                <a:latin typeface="Consolas" pitchFamily="49" charset="0"/>
                <a:cs typeface="Consolas" pitchFamily="49" charset="0"/>
              </a:rPr>
              <a:t>(); ?&gt;" title="&lt;?</a:t>
            </a:r>
            <a:r>
              <a:rPr lang="en-US" sz="1600" dirty="0" err="1" smtClean="0">
                <a:latin typeface="Consolas" pitchFamily="49" charset="0"/>
                <a:cs typeface="Consolas" pitchFamily="49" charset="0"/>
              </a:rPr>
              <a:t>php</a:t>
            </a:r>
            <a:r>
              <a:rPr lang="en-US" sz="1600" dirty="0" smtClean="0">
                <a:latin typeface="Consolas" pitchFamily="49" charset="0"/>
                <a:cs typeface="Consolas" pitchFamily="49" charset="0"/>
              </a:rPr>
              <a:t> </a:t>
            </a:r>
            <a:r>
              <a:rPr lang="en-US" sz="1600" b="1" dirty="0" err="1" smtClean="0">
                <a:latin typeface="Consolas" pitchFamily="49" charset="0"/>
                <a:cs typeface="Consolas" pitchFamily="49" charset="0"/>
              </a:rPr>
              <a:t>the_title_attribute</a:t>
            </a:r>
            <a:r>
              <a:rPr lang="en-US" sz="1600" dirty="0" smtClean="0">
                <a:latin typeface="Consolas" pitchFamily="49" charset="0"/>
                <a:cs typeface="Consolas" pitchFamily="49" charset="0"/>
              </a:rPr>
              <a:t>(); ?&gt;"&gt;&lt;?</a:t>
            </a:r>
            <a:r>
              <a:rPr lang="en-US" sz="1600" dirty="0" err="1" smtClean="0">
                <a:latin typeface="Consolas" pitchFamily="49" charset="0"/>
                <a:cs typeface="Consolas" pitchFamily="49" charset="0"/>
              </a:rPr>
              <a:t>php</a:t>
            </a:r>
            <a:r>
              <a:rPr lang="en-US" sz="1600" dirty="0" smtClean="0">
                <a:latin typeface="Consolas" pitchFamily="49" charset="0"/>
                <a:cs typeface="Consolas" pitchFamily="49" charset="0"/>
              </a:rPr>
              <a:t> </a:t>
            </a:r>
            <a:r>
              <a:rPr lang="en-US" sz="1600" b="1" dirty="0" err="1" smtClean="0">
                <a:latin typeface="Consolas" pitchFamily="49" charset="0"/>
                <a:cs typeface="Consolas" pitchFamily="49" charset="0"/>
              </a:rPr>
              <a:t>the_title</a:t>
            </a:r>
            <a:r>
              <a:rPr lang="en-US" sz="1600" dirty="0" smtClean="0">
                <a:latin typeface="Consolas" pitchFamily="49" charset="0"/>
                <a:cs typeface="Consolas" pitchFamily="49" charset="0"/>
              </a:rPr>
              <a:t>(); ?&gt;&lt;/a&gt;&lt;/h2&gt;</a:t>
            </a:r>
          </a:p>
          <a:p>
            <a:endParaRPr lang="en-US" sz="1600" dirty="0" smtClean="0">
              <a:latin typeface="Consolas" pitchFamily="49" charset="0"/>
              <a:cs typeface="Consolas" pitchFamily="49" charset="0"/>
            </a:endParaRPr>
          </a:p>
          <a:p>
            <a:r>
              <a:rPr lang="en-US" sz="1600" dirty="0" smtClean="0">
                <a:latin typeface="Consolas" pitchFamily="49" charset="0"/>
                <a:cs typeface="Consolas" pitchFamily="49" charset="0"/>
              </a:rPr>
              <a:t>&lt;?</a:t>
            </a:r>
            <a:r>
              <a:rPr lang="en-US" sz="1600" dirty="0" err="1" smtClean="0">
                <a:latin typeface="Consolas" pitchFamily="49" charset="0"/>
                <a:cs typeface="Consolas" pitchFamily="49" charset="0"/>
              </a:rPr>
              <a:t>php</a:t>
            </a:r>
            <a:r>
              <a:rPr lang="en-US" sz="1600" dirty="0" smtClean="0">
                <a:latin typeface="Consolas" pitchFamily="49" charset="0"/>
                <a:cs typeface="Consolas" pitchFamily="49" charset="0"/>
              </a:rPr>
              <a:t> $</a:t>
            </a:r>
            <a:r>
              <a:rPr lang="en-US" sz="1600" dirty="0" err="1" smtClean="0">
                <a:latin typeface="Consolas" pitchFamily="49" charset="0"/>
                <a:cs typeface="Consolas" pitchFamily="49" charset="0"/>
              </a:rPr>
              <a:t>args</a:t>
            </a:r>
            <a:r>
              <a:rPr lang="en-US" sz="1600" dirty="0" smtClean="0">
                <a:latin typeface="Consolas" pitchFamily="49" charset="0"/>
                <a:cs typeface="Consolas" pitchFamily="49" charset="0"/>
              </a:rPr>
              <a:t> = array(</a:t>
            </a:r>
          </a:p>
          <a:p>
            <a:r>
              <a:rPr lang="en-US" sz="1600" dirty="0" smtClean="0">
                <a:latin typeface="Consolas" pitchFamily="49" charset="0"/>
                <a:cs typeface="Consolas" pitchFamily="49" charset="0"/>
              </a:rPr>
              <a:t>'style' </a:t>
            </a:r>
            <a:r>
              <a:rPr lang="en-US" sz="1600" dirty="0" smtClean="0">
                <a:latin typeface="Consolas" pitchFamily="49" charset="0"/>
                <a:cs typeface="Consolas" pitchFamily="49" charset="0"/>
              </a:rPr>
              <a:t>=&gt; </a:t>
            </a:r>
            <a:r>
              <a:rPr lang="en-US" sz="1600" dirty="0" smtClean="0">
                <a:latin typeface="Consolas" pitchFamily="49" charset="0"/>
                <a:cs typeface="Consolas" pitchFamily="49" charset="0"/>
              </a:rPr>
              <a:t>'</a:t>
            </a:r>
            <a:r>
              <a:rPr lang="en-US" sz="1600" dirty="0" err="1" smtClean="0">
                <a:latin typeface="Consolas" pitchFamily="49" charset="0"/>
                <a:cs typeface="Consolas" pitchFamily="49" charset="0"/>
              </a:rPr>
              <a:t>ul</a:t>
            </a:r>
            <a:r>
              <a:rPr lang="en-US" sz="1600" dirty="0" smtClean="0">
                <a:latin typeface="Consolas" pitchFamily="49" charset="0"/>
                <a:cs typeface="Consolas" pitchFamily="49" charset="0"/>
              </a:rPr>
              <a:t>',</a:t>
            </a:r>
            <a:endParaRPr lang="en-US" sz="1600" dirty="0" smtClean="0">
              <a:latin typeface="Consolas" pitchFamily="49" charset="0"/>
              <a:cs typeface="Consolas" pitchFamily="49" charset="0"/>
            </a:endParaRPr>
          </a:p>
          <a:p>
            <a:r>
              <a:rPr lang="en-US" sz="1600" dirty="0" smtClean="0">
                <a:latin typeface="Consolas" pitchFamily="49" charset="0"/>
                <a:cs typeface="Consolas" pitchFamily="49" charset="0"/>
              </a:rPr>
              <a:t>'</a:t>
            </a:r>
            <a:r>
              <a:rPr lang="en-US" sz="1600" dirty="0" err="1" smtClean="0">
                <a:latin typeface="Consolas" pitchFamily="49" charset="0"/>
                <a:cs typeface="Consolas" pitchFamily="49" charset="0"/>
              </a:rPr>
              <a:t>per_page</a:t>
            </a:r>
            <a:r>
              <a:rPr lang="en-US" sz="1600" dirty="0" smtClean="0">
                <a:latin typeface="Consolas" pitchFamily="49" charset="0"/>
                <a:cs typeface="Consolas" pitchFamily="49" charset="0"/>
              </a:rPr>
              <a:t>' </a:t>
            </a:r>
            <a:r>
              <a:rPr lang="en-US" sz="1600" dirty="0" smtClean="0">
                <a:latin typeface="Consolas" pitchFamily="49" charset="0"/>
                <a:cs typeface="Consolas" pitchFamily="49" charset="0"/>
              </a:rPr>
              <a:t>=&gt; 10,</a:t>
            </a:r>
          </a:p>
          <a:p>
            <a:r>
              <a:rPr lang="en-US" sz="1600" dirty="0" smtClean="0">
                <a:latin typeface="Consolas" pitchFamily="49" charset="0"/>
                <a:cs typeface="Consolas" pitchFamily="49" charset="0"/>
              </a:rPr>
              <a:t>'</a:t>
            </a:r>
            <a:r>
              <a:rPr lang="en-US" sz="1600" dirty="0" err="1" smtClean="0">
                <a:latin typeface="Consolas" pitchFamily="49" charset="0"/>
                <a:cs typeface="Consolas" pitchFamily="49" charset="0"/>
              </a:rPr>
              <a:t>avatar_size</a:t>
            </a:r>
            <a:r>
              <a:rPr lang="en-US" sz="1600" dirty="0" smtClean="0">
                <a:latin typeface="Consolas" pitchFamily="49" charset="0"/>
                <a:cs typeface="Consolas" pitchFamily="49" charset="0"/>
              </a:rPr>
              <a:t>' </a:t>
            </a:r>
            <a:r>
              <a:rPr lang="en-US" sz="1600" dirty="0" smtClean="0">
                <a:latin typeface="Consolas" pitchFamily="49" charset="0"/>
                <a:cs typeface="Consolas" pitchFamily="49" charset="0"/>
              </a:rPr>
              <a:t>=&gt; 50,</a:t>
            </a:r>
          </a:p>
          <a:p>
            <a:r>
              <a:rPr lang="en-US" sz="1600" dirty="0" smtClean="0">
                <a:latin typeface="Consolas" pitchFamily="49" charset="0"/>
                <a:cs typeface="Consolas" pitchFamily="49" charset="0"/>
              </a:rPr>
              <a:t>);</a:t>
            </a:r>
          </a:p>
          <a:p>
            <a:r>
              <a:rPr lang="en-US" sz="1600" b="1" dirty="0" err="1" smtClean="0">
                <a:latin typeface="Consolas" pitchFamily="49" charset="0"/>
                <a:cs typeface="Consolas" pitchFamily="49" charset="0"/>
              </a:rPr>
              <a:t>wp_list_comments</a:t>
            </a:r>
            <a:r>
              <a:rPr lang="en-US" sz="1600" dirty="0" smtClean="0">
                <a:latin typeface="Consolas" pitchFamily="49" charset="0"/>
                <a:cs typeface="Consolas" pitchFamily="49" charset="0"/>
              </a:rPr>
              <a:t>($</a:t>
            </a:r>
            <a:r>
              <a:rPr lang="en-US" sz="1600" dirty="0" err="1" smtClean="0">
                <a:latin typeface="Consolas" pitchFamily="49" charset="0"/>
                <a:cs typeface="Consolas" pitchFamily="49" charset="0"/>
              </a:rPr>
              <a:t>args</a:t>
            </a:r>
            <a:r>
              <a:rPr lang="en-US" sz="1600" dirty="0" smtClean="0">
                <a:latin typeface="Consolas" pitchFamily="49" charset="0"/>
                <a:cs typeface="Consolas" pitchFamily="49" charset="0"/>
              </a:rPr>
              <a:t>); ?&gt;</a:t>
            </a:r>
            <a:endParaRPr lang="en-US" sz="1600" dirty="0">
              <a:latin typeface="Consolas" pitchFamily="49" charset="0"/>
              <a:cs typeface="Consolas"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Constructing the Page</a:t>
            </a:r>
            <a:endParaRPr lang="en-US" dirty="0"/>
          </a:p>
        </p:txBody>
      </p:sp>
      <p:sp>
        <p:nvSpPr>
          <p:cNvPr id="4" name="Rectangle 3"/>
          <p:cNvSpPr/>
          <p:nvPr/>
        </p:nvSpPr>
        <p:spPr>
          <a:xfrm>
            <a:off x="228600" y="2286000"/>
            <a:ext cx="2133600" cy="2031325"/>
          </a:xfrm>
          <a:prstGeom prst="rect">
            <a:avLst/>
          </a:prstGeom>
        </p:spPr>
        <p:txBody>
          <a:bodyPr wrap="square">
            <a:spAutoFit/>
          </a:bodyPr>
          <a:lstStyle/>
          <a:p>
            <a:r>
              <a:rPr lang="en-US" dirty="0" smtClean="0"/>
              <a:t>It all begins with one file, though; every request made to a </a:t>
            </a:r>
            <a:r>
              <a:rPr lang="en-US" dirty="0" err="1" smtClean="0"/>
              <a:t>WordPress</a:t>
            </a:r>
            <a:r>
              <a:rPr lang="en-US" dirty="0" smtClean="0"/>
              <a:t> web site goes through the index.php file.</a:t>
            </a:r>
            <a:endParaRPr lang="en-US" dirty="0"/>
          </a:p>
        </p:txBody>
      </p:sp>
      <p:sp>
        <p:nvSpPr>
          <p:cNvPr id="5" name="Rectangle 4"/>
          <p:cNvSpPr/>
          <p:nvPr/>
        </p:nvSpPr>
        <p:spPr>
          <a:xfrm>
            <a:off x="2286000" y="1371600"/>
            <a:ext cx="6705600" cy="5078313"/>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dirty="0" smtClean="0">
                <a:latin typeface="Consolas" pitchFamily="49" charset="0"/>
                <a:cs typeface="Consolas" pitchFamily="49" charset="0"/>
              </a:rPr>
              <a:t>&lt;?</a:t>
            </a:r>
            <a:r>
              <a:rPr lang="en-US" dirty="0" err="1" smtClean="0">
                <a:latin typeface="Consolas" pitchFamily="49" charset="0"/>
                <a:cs typeface="Consolas" pitchFamily="49" charset="0"/>
              </a:rPr>
              <a:t>php</a:t>
            </a:r>
            <a:endParaRPr lang="en-US" dirty="0" smtClean="0">
              <a:latin typeface="Consolas" pitchFamily="49" charset="0"/>
              <a:cs typeface="Consolas" pitchFamily="49" charset="0"/>
            </a:endParaRPr>
          </a:p>
          <a:p>
            <a:r>
              <a:rPr lang="en-US" dirty="0" smtClean="0">
                <a:latin typeface="Consolas" pitchFamily="49" charset="0"/>
                <a:cs typeface="Consolas" pitchFamily="49" charset="0"/>
              </a:rPr>
              <a:t>/**</a:t>
            </a:r>
          </a:p>
          <a:p>
            <a:r>
              <a:rPr lang="en-US" dirty="0" smtClean="0">
                <a:latin typeface="Consolas" pitchFamily="49" charset="0"/>
                <a:cs typeface="Consolas" pitchFamily="49" charset="0"/>
              </a:rPr>
              <a:t>* Front to the </a:t>
            </a:r>
            <a:r>
              <a:rPr lang="en-US" dirty="0" err="1" smtClean="0">
                <a:latin typeface="Consolas" pitchFamily="49" charset="0"/>
                <a:cs typeface="Consolas" pitchFamily="49" charset="0"/>
              </a:rPr>
              <a:t>WordPress</a:t>
            </a:r>
            <a:r>
              <a:rPr lang="en-US" dirty="0" smtClean="0">
                <a:latin typeface="Consolas" pitchFamily="49" charset="0"/>
                <a:cs typeface="Consolas" pitchFamily="49" charset="0"/>
              </a:rPr>
              <a:t> application. This file </a:t>
            </a:r>
            <a:r>
              <a:rPr lang="en-US" dirty="0" smtClean="0">
                <a:latin typeface="Consolas" pitchFamily="49" charset="0"/>
                <a:cs typeface="Consolas" pitchFamily="49" charset="0"/>
              </a:rPr>
              <a:t>doesn't </a:t>
            </a:r>
            <a:r>
              <a:rPr lang="en-US" dirty="0" smtClean="0">
                <a:latin typeface="Consolas" pitchFamily="49" charset="0"/>
                <a:cs typeface="Consolas" pitchFamily="49" charset="0"/>
              </a:rPr>
              <a:t>do anything, but loads</a:t>
            </a:r>
          </a:p>
          <a:p>
            <a:r>
              <a:rPr lang="en-US" dirty="0" smtClean="0">
                <a:latin typeface="Consolas" pitchFamily="49" charset="0"/>
                <a:cs typeface="Consolas" pitchFamily="49" charset="0"/>
              </a:rPr>
              <a:t>* wp-blog-header.php which does and tells </a:t>
            </a:r>
            <a:r>
              <a:rPr lang="en-US" dirty="0" err="1" smtClean="0">
                <a:latin typeface="Consolas" pitchFamily="49" charset="0"/>
                <a:cs typeface="Consolas" pitchFamily="49" charset="0"/>
              </a:rPr>
              <a:t>WordPress</a:t>
            </a:r>
            <a:r>
              <a:rPr lang="en-US" dirty="0" smtClean="0">
                <a:latin typeface="Consolas" pitchFamily="49" charset="0"/>
                <a:cs typeface="Consolas" pitchFamily="49" charset="0"/>
              </a:rPr>
              <a:t> to load the theme.</a:t>
            </a:r>
          </a:p>
          <a:p>
            <a:r>
              <a:rPr lang="en-US" dirty="0" smtClean="0">
                <a:latin typeface="Consolas" pitchFamily="49" charset="0"/>
                <a:cs typeface="Consolas" pitchFamily="49" charset="0"/>
              </a:rPr>
              <a:t>*</a:t>
            </a:r>
          </a:p>
          <a:p>
            <a:r>
              <a:rPr lang="en-US" dirty="0" smtClean="0">
                <a:latin typeface="Consolas" pitchFamily="49" charset="0"/>
                <a:cs typeface="Consolas" pitchFamily="49" charset="0"/>
              </a:rPr>
              <a:t>* @package </a:t>
            </a:r>
            <a:r>
              <a:rPr lang="en-US" dirty="0" err="1" smtClean="0">
                <a:latin typeface="Consolas" pitchFamily="49" charset="0"/>
                <a:cs typeface="Consolas" pitchFamily="49" charset="0"/>
              </a:rPr>
              <a:t>WordPress</a:t>
            </a:r>
            <a:endParaRPr lang="en-US" dirty="0" smtClean="0">
              <a:latin typeface="Consolas" pitchFamily="49" charset="0"/>
              <a:cs typeface="Consolas" pitchFamily="49" charset="0"/>
            </a:endParaRPr>
          </a:p>
          <a:p>
            <a:r>
              <a:rPr lang="en-US" dirty="0" smtClean="0">
                <a:latin typeface="Consolas" pitchFamily="49" charset="0"/>
                <a:cs typeface="Consolas" pitchFamily="49" charset="0"/>
              </a:rPr>
              <a:t>*/</a:t>
            </a:r>
          </a:p>
          <a:p>
            <a:r>
              <a:rPr lang="en-US" dirty="0" smtClean="0">
                <a:latin typeface="Consolas" pitchFamily="49" charset="0"/>
                <a:cs typeface="Consolas" pitchFamily="49" charset="0"/>
              </a:rPr>
              <a:t>/**</a:t>
            </a:r>
          </a:p>
          <a:p>
            <a:r>
              <a:rPr lang="en-US" dirty="0" smtClean="0">
                <a:latin typeface="Consolas" pitchFamily="49" charset="0"/>
                <a:cs typeface="Consolas" pitchFamily="49" charset="0"/>
              </a:rPr>
              <a:t>* Tells </a:t>
            </a:r>
            <a:r>
              <a:rPr lang="en-US" dirty="0" err="1" smtClean="0">
                <a:latin typeface="Consolas" pitchFamily="49" charset="0"/>
                <a:cs typeface="Consolas" pitchFamily="49" charset="0"/>
              </a:rPr>
              <a:t>WordPress</a:t>
            </a:r>
            <a:r>
              <a:rPr lang="en-US" dirty="0" smtClean="0">
                <a:latin typeface="Consolas" pitchFamily="49" charset="0"/>
                <a:cs typeface="Consolas" pitchFamily="49" charset="0"/>
              </a:rPr>
              <a:t> to load the </a:t>
            </a:r>
            <a:r>
              <a:rPr lang="en-US" dirty="0" err="1" smtClean="0">
                <a:latin typeface="Consolas" pitchFamily="49" charset="0"/>
                <a:cs typeface="Consolas" pitchFamily="49" charset="0"/>
              </a:rPr>
              <a:t>WordPress</a:t>
            </a:r>
            <a:r>
              <a:rPr lang="en-US" dirty="0" smtClean="0">
                <a:latin typeface="Consolas" pitchFamily="49" charset="0"/>
                <a:cs typeface="Consolas" pitchFamily="49" charset="0"/>
              </a:rPr>
              <a:t> theme and output it.</a:t>
            </a:r>
          </a:p>
          <a:p>
            <a:r>
              <a:rPr lang="en-US" dirty="0" smtClean="0">
                <a:latin typeface="Consolas" pitchFamily="49" charset="0"/>
                <a:cs typeface="Consolas" pitchFamily="49" charset="0"/>
              </a:rPr>
              <a:t>*</a:t>
            </a:r>
          </a:p>
          <a:p>
            <a:r>
              <a:rPr lang="en-US" dirty="0" smtClean="0">
                <a:latin typeface="Consolas" pitchFamily="49" charset="0"/>
                <a:cs typeface="Consolas" pitchFamily="49" charset="0"/>
              </a:rPr>
              <a:t>* @</a:t>
            </a:r>
            <a:r>
              <a:rPr lang="en-US" dirty="0" err="1" smtClean="0">
                <a:latin typeface="Consolas" pitchFamily="49" charset="0"/>
                <a:cs typeface="Consolas" pitchFamily="49" charset="0"/>
              </a:rPr>
              <a:t>var</a:t>
            </a:r>
            <a:r>
              <a:rPr lang="en-US" dirty="0" smtClean="0">
                <a:latin typeface="Consolas" pitchFamily="49" charset="0"/>
                <a:cs typeface="Consolas" pitchFamily="49" charset="0"/>
              </a:rPr>
              <a:t> </a:t>
            </a:r>
            <a:r>
              <a:rPr lang="en-US" dirty="0" err="1" smtClean="0">
                <a:latin typeface="Consolas" pitchFamily="49" charset="0"/>
                <a:cs typeface="Consolas" pitchFamily="49" charset="0"/>
              </a:rPr>
              <a:t>bool</a:t>
            </a:r>
            <a:endParaRPr lang="en-US" dirty="0" smtClean="0">
              <a:latin typeface="Consolas" pitchFamily="49" charset="0"/>
              <a:cs typeface="Consolas" pitchFamily="49" charset="0"/>
            </a:endParaRPr>
          </a:p>
          <a:p>
            <a:r>
              <a:rPr lang="en-US" dirty="0" smtClean="0">
                <a:latin typeface="Consolas" pitchFamily="49" charset="0"/>
                <a:cs typeface="Consolas" pitchFamily="49" charset="0"/>
              </a:rPr>
              <a:t>*/</a:t>
            </a:r>
          </a:p>
          <a:p>
            <a:r>
              <a:rPr lang="en-US" dirty="0" smtClean="0">
                <a:latin typeface="Consolas" pitchFamily="49" charset="0"/>
                <a:cs typeface="Consolas" pitchFamily="49" charset="0"/>
              </a:rPr>
              <a:t>define</a:t>
            </a:r>
            <a:r>
              <a:rPr lang="en-US" dirty="0" smtClean="0">
                <a:latin typeface="Consolas" pitchFamily="49" charset="0"/>
                <a:cs typeface="Consolas" pitchFamily="49" charset="0"/>
              </a:rPr>
              <a:t>('WP_USE_THEMES', </a:t>
            </a:r>
            <a:r>
              <a:rPr lang="en-US" dirty="0" smtClean="0">
                <a:latin typeface="Consolas" pitchFamily="49" charset="0"/>
                <a:cs typeface="Consolas" pitchFamily="49" charset="0"/>
              </a:rPr>
              <a:t>true);</a:t>
            </a:r>
          </a:p>
          <a:p>
            <a:r>
              <a:rPr lang="en-US" dirty="0" smtClean="0">
                <a:latin typeface="Consolas" pitchFamily="49" charset="0"/>
                <a:cs typeface="Consolas" pitchFamily="49" charset="0"/>
              </a:rPr>
              <a:t>/** Loads the </a:t>
            </a:r>
            <a:r>
              <a:rPr lang="en-US" dirty="0" err="1" smtClean="0">
                <a:latin typeface="Consolas" pitchFamily="49" charset="0"/>
                <a:cs typeface="Consolas" pitchFamily="49" charset="0"/>
              </a:rPr>
              <a:t>WordPress</a:t>
            </a:r>
            <a:r>
              <a:rPr lang="en-US" dirty="0" smtClean="0">
                <a:latin typeface="Consolas" pitchFamily="49" charset="0"/>
                <a:cs typeface="Consolas" pitchFamily="49" charset="0"/>
              </a:rPr>
              <a:t> Environment and Template */</a:t>
            </a:r>
          </a:p>
          <a:p>
            <a:r>
              <a:rPr lang="en-US" dirty="0" smtClean="0">
                <a:latin typeface="Consolas" pitchFamily="49" charset="0"/>
                <a:cs typeface="Consolas" pitchFamily="49" charset="0"/>
              </a:rPr>
              <a:t>require</a:t>
            </a:r>
            <a:r>
              <a:rPr lang="en-US" dirty="0" smtClean="0">
                <a:latin typeface="Consolas" pitchFamily="49" charset="0"/>
                <a:cs typeface="Consolas" pitchFamily="49" charset="0"/>
              </a:rPr>
              <a:t>('./wp-blog-header.php');</a:t>
            </a:r>
            <a:endParaRPr lang="en-US" dirty="0">
              <a:latin typeface="Consolas" pitchFamily="49" charset="0"/>
              <a:cs typeface="Consolas" pitchFamily="49"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wp-blog-header.php</a:t>
            </a:r>
            <a:endParaRPr lang="en-US" dirty="0"/>
          </a:p>
        </p:txBody>
      </p:sp>
      <p:sp>
        <p:nvSpPr>
          <p:cNvPr id="4" name="Rectangle 3"/>
          <p:cNvSpPr/>
          <p:nvPr/>
        </p:nvSpPr>
        <p:spPr>
          <a:xfrm>
            <a:off x="228600" y="1752600"/>
            <a:ext cx="4572000" cy="4247317"/>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r>
              <a:rPr lang="en-US" dirty="0" smtClean="0">
                <a:latin typeface="Consolas" pitchFamily="49" charset="0"/>
                <a:cs typeface="Consolas" pitchFamily="49" charset="0"/>
              </a:rPr>
              <a:t>&lt;?</a:t>
            </a:r>
            <a:r>
              <a:rPr lang="en-US" dirty="0" err="1" smtClean="0">
                <a:latin typeface="Consolas" pitchFamily="49" charset="0"/>
                <a:cs typeface="Consolas" pitchFamily="49" charset="0"/>
              </a:rPr>
              <a:t>php</a:t>
            </a:r>
            <a:endParaRPr lang="en-US" dirty="0" smtClean="0">
              <a:latin typeface="Consolas" pitchFamily="49" charset="0"/>
              <a:cs typeface="Consolas" pitchFamily="49" charset="0"/>
            </a:endParaRPr>
          </a:p>
          <a:p>
            <a:r>
              <a:rPr lang="en-US" dirty="0" smtClean="0">
                <a:latin typeface="Consolas" pitchFamily="49" charset="0"/>
                <a:cs typeface="Consolas" pitchFamily="49" charset="0"/>
              </a:rPr>
              <a:t>/**</a:t>
            </a:r>
          </a:p>
          <a:p>
            <a:r>
              <a:rPr lang="en-US" dirty="0" smtClean="0">
                <a:latin typeface="Consolas" pitchFamily="49" charset="0"/>
                <a:cs typeface="Consolas" pitchFamily="49" charset="0"/>
              </a:rPr>
              <a:t>* Loads the </a:t>
            </a:r>
            <a:r>
              <a:rPr lang="en-US" dirty="0" err="1" smtClean="0">
                <a:latin typeface="Consolas" pitchFamily="49" charset="0"/>
                <a:cs typeface="Consolas" pitchFamily="49" charset="0"/>
              </a:rPr>
              <a:t>WordPress</a:t>
            </a:r>
            <a:r>
              <a:rPr lang="en-US" dirty="0" smtClean="0">
                <a:latin typeface="Consolas" pitchFamily="49" charset="0"/>
                <a:cs typeface="Consolas" pitchFamily="49" charset="0"/>
              </a:rPr>
              <a:t> environment and template.</a:t>
            </a:r>
          </a:p>
          <a:p>
            <a:r>
              <a:rPr lang="en-US" dirty="0" smtClean="0">
                <a:latin typeface="Consolas" pitchFamily="49" charset="0"/>
                <a:cs typeface="Consolas" pitchFamily="49" charset="0"/>
              </a:rPr>
              <a:t>*</a:t>
            </a:r>
          </a:p>
          <a:p>
            <a:r>
              <a:rPr lang="en-US" dirty="0" smtClean="0">
                <a:latin typeface="Consolas" pitchFamily="49" charset="0"/>
                <a:cs typeface="Consolas" pitchFamily="49" charset="0"/>
              </a:rPr>
              <a:t>* @package </a:t>
            </a:r>
            <a:r>
              <a:rPr lang="en-US" dirty="0" err="1" smtClean="0">
                <a:latin typeface="Consolas" pitchFamily="49" charset="0"/>
                <a:cs typeface="Consolas" pitchFamily="49" charset="0"/>
              </a:rPr>
              <a:t>WordPress</a:t>
            </a:r>
            <a:endParaRPr lang="en-US" dirty="0" smtClean="0">
              <a:latin typeface="Consolas" pitchFamily="49" charset="0"/>
              <a:cs typeface="Consolas" pitchFamily="49" charset="0"/>
            </a:endParaRPr>
          </a:p>
          <a:p>
            <a:r>
              <a:rPr lang="en-US" dirty="0" smtClean="0">
                <a:latin typeface="Consolas" pitchFamily="49" charset="0"/>
                <a:cs typeface="Consolas" pitchFamily="49" charset="0"/>
              </a:rPr>
              <a:t>*/</a:t>
            </a:r>
          </a:p>
          <a:p>
            <a:r>
              <a:rPr lang="en-US" dirty="0" smtClean="0">
                <a:latin typeface="Consolas" pitchFamily="49" charset="0"/>
                <a:cs typeface="Consolas" pitchFamily="49" charset="0"/>
              </a:rPr>
              <a:t>if ( !</a:t>
            </a:r>
            <a:r>
              <a:rPr lang="en-US" dirty="0" err="1" smtClean="0">
                <a:latin typeface="Consolas" pitchFamily="49" charset="0"/>
                <a:cs typeface="Consolas" pitchFamily="49" charset="0"/>
              </a:rPr>
              <a:t>isset</a:t>
            </a:r>
            <a:r>
              <a:rPr lang="en-US" dirty="0" smtClean="0">
                <a:latin typeface="Consolas" pitchFamily="49" charset="0"/>
                <a:cs typeface="Consolas" pitchFamily="49" charset="0"/>
              </a:rPr>
              <a:t>($</a:t>
            </a:r>
            <a:r>
              <a:rPr lang="en-US" dirty="0" err="1" smtClean="0">
                <a:latin typeface="Consolas" pitchFamily="49" charset="0"/>
                <a:cs typeface="Consolas" pitchFamily="49" charset="0"/>
              </a:rPr>
              <a:t>wp_did_header</a:t>
            </a:r>
            <a:r>
              <a:rPr lang="en-US" dirty="0" smtClean="0">
                <a:latin typeface="Consolas" pitchFamily="49" charset="0"/>
                <a:cs typeface="Consolas" pitchFamily="49" charset="0"/>
              </a:rPr>
              <a:t>) ) {</a:t>
            </a:r>
          </a:p>
          <a:p>
            <a:r>
              <a:rPr lang="en-US" dirty="0" smtClean="0">
                <a:latin typeface="Consolas" pitchFamily="49" charset="0"/>
                <a:cs typeface="Consolas" pitchFamily="49" charset="0"/>
              </a:rPr>
              <a:t>$</a:t>
            </a:r>
            <a:r>
              <a:rPr lang="en-US" dirty="0" err="1" smtClean="0">
                <a:latin typeface="Consolas" pitchFamily="49" charset="0"/>
                <a:cs typeface="Consolas" pitchFamily="49" charset="0"/>
              </a:rPr>
              <a:t>wp_did_header</a:t>
            </a:r>
            <a:r>
              <a:rPr lang="en-US" dirty="0" smtClean="0">
                <a:latin typeface="Consolas" pitchFamily="49" charset="0"/>
                <a:cs typeface="Consolas" pitchFamily="49" charset="0"/>
              </a:rPr>
              <a:t> = true;</a:t>
            </a:r>
          </a:p>
          <a:p>
            <a:r>
              <a:rPr lang="en-US" dirty="0" err="1" smtClean="0">
                <a:latin typeface="Consolas" pitchFamily="49" charset="0"/>
                <a:cs typeface="Consolas" pitchFamily="49" charset="0"/>
              </a:rPr>
              <a:t>require_once</a:t>
            </a:r>
            <a:r>
              <a:rPr lang="en-US" dirty="0" smtClean="0">
                <a:latin typeface="Consolas" pitchFamily="49" charset="0"/>
                <a:cs typeface="Consolas" pitchFamily="49" charset="0"/>
              </a:rPr>
              <a:t>( </a:t>
            </a:r>
            <a:r>
              <a:rPr lang="en-US" dirty="0" err="1" smtClean="0">
                <a:latin typeface="Consolas" pitchFamily="49" charset="0"/>
                <a:cs typeface="Consolas" pitchFamily="49" charset="0"/>
              </a:rPr>
              <a:t>dirname</a:t>
            </a:r>
            <a:r>
              <a:rPr lang="en-US" dirty="0" smtClean="0">
                <a:latin typeface="Consolas" pitchFamily="49" charset="0"/>
                <a:cs typeface="Consolas" pitchFamily="49" charset="0"/>
              </a:rPr>
              <a:t>(__FILE__) . </a:t>
            </a:r>
            <a:r>
              <a:rPr lang="en-US" dirty="0" smtClean="0">
                <a:latin typeface="Consolas" pitchFamily="49" charset="0"/>
                <a:cs typeface="Consolas" pitchFamily="49" charset="0"/>
              </a:rPr>
              <a:t>'/wp-load.php' </a:t>
            </a:r>
            <a:r>
              <a:rPr lang="en-US" dirty="0" smtClean="0">
                <a:latin typeface="Consolas" pitchFamily="49" charset="0"/>
                <a:cs typeface="Consolas" pitchFamily="49" charset="0"/>
              </a:rPr>
              <a:t>);</a:t>
            </a:r>
          </a:p>
          <a:p>
            <a:r>
              <a:rPr lang="en-US" dirty="0" err="1" smtClean="0">
                <a:latin typeface="Consolas" pitchFamily="49" charset="0"/>
                <a:cs typeface="Consolas" pitchFamily="49" charset="0"/>
              </a:rPr>
              <a:t>wp</a:t>
            </a:r>
            <a:r>
              <a:rPr lang="en-US" dirty="0" smtClean="0">
                <a:latin typeface="Consolas" pitchFamily="49" charset="0"/>
                <a:cs typeface="Consolas" pitchFamily="49" charset="0"/>
              </a:rPr>
              <a:t>();</a:t>
            </a:r>
          </a:p>
          <a:p>
            <a:r>
              <a:rPr lang="en-US" dirty="0" err="1" smtClean="0">
                <a:latin typeface="Consolas" pitchFamily="49" charset="0"/>
                <a:cs typeface="Consolas" pitchFamily="49" charset="0"/>
              </a:rPr>
              <a:t>require_once</a:t>
            </a:r>
            <a:r>
              <a:rPr lang="en-US" dirty="0" smtClean="0">
                <a:latin typeface="Consolas" pitchFamily="49" charset="0"/>
                <a:cs typeface="Consolas" pitchFamily="49" charset="0"/>
              </a:rPr>
              <a:t>( ABSPATH . WPINC . </a:t>
            </a:r>
            <a:r>
              <a:rPr lang="en-US" dirty="0" smtClean="0">
                <a:latin typeface="Consolas" pitchFamily="49" charset="0"/>
                <a:cs typeface="Consolas" pitchFamily="49" charset="0"/>
              </a:rPr>
              <a:t>'/template-loader.php' </a:t>
            </a:r>
            <a:r>
              <a:rPr lang="en-US" dirty="0" smtClean="0">
                <a:latin typeface="Consolas" pitchFamily="49" charset="0"/>
                <a:cs typeface="Consolas" pitchFamily="49" charset="0"/>
              </a:rPr>
              <a:t>);</a:t>
            </a:r>
          </a:p>
          <a:p>
            <a:r>
              <a:rPr lang="en-US" dirty="0" smtClean="0">
                <a:latin typeface="Consolas" pitchFamily="49" charset="0"/>
                <a:cs typeface="Consolas" pitchFamily="49" charset="0"/>
              </a:rPr>
              <a:t>}</a:t>
            </a:r>
            <a:endParaRPr lang="en-US" dirty="0">
              <a:latin typeface="Consolas" pitchFamily="49" charset="0"/>
              <a:cs typeface="Consolas" pitchFamily="49" charset="0"/>
            </a:endParaRPr>
          </a:p>
        </p:txBody>
      </p:sp>
      <p:sp>
        <p:nvSpPr>
          <p:cNvPr id="5" name="Rectangle 4"/>
          <p:cNvSpPr/>
          <p:nvPr/>
        </p:nvSpPr>
        <p:spPr>
          <a:xfrm>
            <a:off x="5029200" y="1751886"/>
            <a:ext cx="3657600" cy="4801314"/>
          </a:xfrm>
          <a:prstGeom prst="rect">
            <a:avLst/>
          </a:prstGeom>
        </p:spPr>
        <p:txBody>
          <a:bodyPr wrap="square">
            <a:spAutoFit/>
          </a:bodyPr>
          <a:lstStyle/>
          <a:p>
            <a:r>
              <a:rPr lang="en-US" dirty="0" smtClean="0"/>
              <a:t>The </a:t>
            </a:r>
            <a:r>
              <a:rPr lang="en-US" dirty="0" err="1" smtClean="0"/>
              <a:t>wp</a:t>
            </a:r>
            <a:r>
              <a:rPr lang="en-US" dirty="0" smtClean="0"/>
              <a:t>-load file sets up the database connection and a whole load of other things (such as the settings for the theme)</a:t>
            </a:r>
          </a:p>
          <a:p>
            <a:r>
              <a:rPr lang="en-US" dirty="0" smtClean="0"/>
              <a:t>and includes most of the other files that are necessary for </a:t>
            </a:r>
            <a:r>
              <a:rPr lang="en-US" dirty="0" err="1" smtClean="0"/>
              <a:t>WordPress</a:t>
            </a:r>
            <a:r>
              <a:rPr lang="en-US" dirty="0" smtClean="0"/>
              <a:t> to work.</a:t>
            </a:r>
          </a:p>
          <a:p>
            <a:r>
              <a:rPr lang="en-US" dirty="0" smtClean="0"/>
              <a:t>After </a:t>
            </a:r>
            <a:r>
              <a:rPr lang="en-US" dirty="0" err="1" smtClean="0"/>
              <a:t>wp</a:t>
            </a:r>
            <a:r>
              <a:rPr lang="en-US" dirty="0" smtClean="0"/>
              <a:t>-load has done its work, the </a:t>
            </a:r>
            <a:r>
              <a:rPr lang="en-US" dirty="0" err="1" smtClean="0"/>
              <a:t>wp</a:t>
            </a:r>
            <a:r>
              <a:rPr lang="en-US" dirty="0" smtClean="0"/>
              <a:t>() function is called,</a:t>
            </a:r>
          </a:p>
          <a:p>
            <a:r>
              <a:rPr lang="en-US" dirty="0" smtClean="0"/>
              <a:t>which sets up the main query by adding the current query parameters to the main </a:t>
            </a:r>
            <a:r>
              <a:rPr lang="en-US" dirty="0" err="1" smtClean="0"/>
              <a:t>WP_Query</a:t>
            </a:r>
            <a:r>
              <a:rPr lang="en-US" dirty="0" smtClean="0"/>
              <a:t> instance in use.</a:t>
            </a:r>
          </a:p>
          <a:p>
            <a:r>
              <a:rPr lang="en-US" dirty="0" smtClean="0"/>
              <a:t>At the heart of </a:t>
            </a:r>
            <a:r>
              <a:rPr lang="en-US" dirty="0" err="1" smtClean="0"/>
              <a:t>WordPress</a:t>
            </a:r>
            <a:r>
              <a:rPr lang="en-US" dirty="0" smtClean="0"/>
              <a:t> is the query, or more accurately, </a:t>
            </a:r>
            <a:r>
              <a:rPr lang="en-US" dirty="0" err="1" smtClean="0"/>
              <a:t>WP_Query</a:t>
            </a:r>
            <a:r>
              <a:rPr lang="en-US" dirty="0" smtClean="0"/>
              <a:t> – the PHP class that handles a lot of things for you.</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template-loader.php</a:t>
            </a:r>
            <a:endParaRPr lang="en-US" dirty="0"/>
          </a:p>
        </p:txBody>
      </p:sp>
      <p:sp>
        <p:nvSpPr>
          <p:cNvPr id="4" name="Rectangle 3"/>
          <p:cNvSpPr/>
          <p:nvPr/>
        </p:nvSpPr>
        <p:spPr>
          <a:xfrm>
            <a:off x="228600" y="1524000"/>
            <a:ext cx="4876800" cy="501675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000" dirty="0" smtClean="0">
                <a:latin typeface="Consolas" pitchFamily="49" charset="0"/>
                <a:cs typeface="Consolas" pitchFamily="49" charset="0"/>
              </a:rPr>
              <a:t>/**</a:t>
            </a:r>
          </a:p>
          <a:p>
            <a:r>
              <a:rPr lang="en-US" sz="1000" dirty="0" smtClean="0">
                <a:latin typeface="Consolas" pitchFamily="49" charset="0"/>
                <a:cs typeface="Consolas" pitchFamily="49" charset="0"/>
              </a:rPr>
              <a:t>* Retrieve path of page template in current or parent template.</a:t>
            </a:r>
          </a:p>
          <a:p>
            <a:r>
              <a:rPr lang="en-US" sz="1000" dirty="0" smtClean="0">
                <a:latin typeface="Consolas" pitchFamily="49" charset="0"/>
                <a:cs typeface="Consolas" pitchFamily="49" charset="0"/>
              </a:rPr>
              <a:t>*</a:t>
            </a:r>
          </a:p>
          <a:p>
            <a:r>
              <a:rPr lang="en-US" sz="1000" dirty="0" smtClean="0">
                <a:latin typeface="Consolas" pitchFamily="49" charset="0"/>
                <a:cs typeface="Consolas" pitchFamily="49" charset="0"/>
              </a:rPr>
              <a:t>* Will first look for the specifically assigned page template</a:t>
            </a:r>
          </a:p>
          <a:p>
            <a:r>
              <a:rPr lang="en-US" sz="1000" dirty="0" smtClean="0">
                <a:latin typeface="Consolas" pitchFamily="49" charset="0"/>
                <a:cs typeface="Consolas" pitchFamily="49" charset="0"/>
              </a:rPr>
              <a:t>* The will search for </a:t>
            </a:r>
            <a:r>
              <a:rPr lang="en-US" sz="1000" dirty="0" smtClean="0">
                <a:latin typeface="Consolas" pitchFamily="49" charset="0"/>
                <a:cs typeface="Consolas" pitchFamily="49" charset="0"/>
              </a:rPr>
              <a:t>'page-</a:t>
            </a:r>
            <a:r>
              <a:rPr lang="en-US" sz="1000" dirty="0" smtClean="0">
                <a:latin typeface="Consolas" pitchFamily="49" charset="0"/>
                <a:cs typeface="Consolas" pitchFamily="49" charset="0"/>
              </a:rPr>
              <a:t>{slug}.</a:t>
            </a:r>
            <a:r>
              <a:rPr lang="en-US" sz="1000" dirty="0" err="1" smtClean="0">
                <a:latin typeface="Consolas" pitchFamily="49" charset="0"/>
                <a:cs typeface="Consolas" pitchFamily="49" charset="0"/>
              </a:rPr>
              <a:t>php</a:t>
            </a:r>
            <a:r>
              <a:rPr lang="en-US" sz="1000" dirty="0" smtClean="0">
                <a:latin typeface="Consolas" pitchFamily="49" charset="0"/>
                <a:cs typeface="Consolas" pitchFamily="49" charset="0"/>
              </a:rPr>
              <a:t>' </a:t>
            </a:r>
            <a:r>
              <a:rPr lang="en-US" sz="1000" dirty="0" smtClean="0">
                <a:latin typeface="Consolas" pitchFamily="49" charset="0"/>
                <a:cs typeface="Consolas" pitchFamily="49" charset="0"/>
              </a:rPr>
              <a:t>followed by </a:t>
            </a:r>
            <a:r>
              <a:rPr lang="en-US" sz="1000" dirty="0" smtClean="0">
                <a:latin typeface="Consolas" pitchFamily="49" charset="0"/>
                <a:cs typeface="Consolas" pitchFamily="49" charset="0"/>
              </a:rPr>
              <a:t>'page-id.php'</a:t>
            </a:r>
            <a:endParaRPr lang="en-US" sz="1000" dirty="0" smtClean="0">
              <a:latin typeface="Consolas" pitchFamily="49" charset="0"/>
              <a:cs typeface="Consolas" pitchFamily="49" charset="0"/>
            </a:endParaRPr>
          </a:p>
          <a:p>
            <a:r>
              <a:rPr lang="en-US" sz="1000" dirty="0" smtClean="0">
                <a:latin typeface="Consolas" pitchFamily="49" charset="0"/>
                <a:cs typeface="Consolas" pitchFamily="49" charset="0"/>
              </a:rPr>
              <a:t>* and finally </a:t>
            </a:r>
            <a:r>
              <a:rPr lang="en-US" sz="1000" dirty="0" smtClean="0">
                <a:latin typeface="Consolas" pitchFamily="49" charset="0"/>
                <a:cs typeface="Consolas" pitchFamily="49" charset="0"/>
              </a:rPr>
              <a:t>'page.php'</a:t>
            </a:r>
            <a:endParaRPr lang="en-US" sz="1000" dirty="0" smtClean="0">
              <a:latin typeface="Consolas" pitchFamily="49" charset="0"/>
              <a:cs typeface="Consolas" pitchFamily="49" charset="0"/>
            </a:endParaRPr>
          </a:p>
          <a:p>
            <a:r>
              <a:rPr lang="en-US" sz="1000" dirty="0" smtClean="0">
                <a:latin typeface="Consolas" pitchFamily="49" charset="0"/>
                <a:cs typeface="Consolas" pitchFamily="49" charset="0"/>
              </a:rPr>
              <a:t>*</a:t>
            </a:r>
          </a:p>
          <a:p>
            <a:r>
              <a:rPr lang="en-US" sz="1000" dirty="0" smtClean="0">
                <a:latin typeface="Consolas" pitchFamily="49" charset="0"/>
                <a:cs typeface="Consolas" pitchFamily="49" charset="0"/>
              </a:rPr>
              <a:t>* @since 1.5.0</a:t>
            </a:r>
          </a:p>
          <a:p>
            <a:r>
              <a:rPr lang="en-US" sz="1000" dirty="0" smtClean="0">
                <a:latin typeface="Consolas" pitchFamily="49" charset="0"/>
                <a:cs typeface="Consolas" pitchFamily="49" charset="0"/>
              </a:rPr>
              <a:t>*</a:t>
            </a:r>
          </a:p>
          <a:p>
            <a:r>
              <a:rPr lang="en-US" sz="1000" dirty="0" smtClean="0">
                <a:latin typeface="Consolas" pitchFamily="49" charset="0"/>
                <a:cs typeface="Consolas" pitchFamily="49" charset="0"/>
              </a:rPr>
              <a:t>* @return string</a:t>
            </a:r>
          </a:p>
          <a:p>
            <a:r>
              <a:rPr lang="en-US" sz="1000" dirty="0" smtClean="0">
                <a:latin typeface="Consolas" pitchFamily="49" charset="0"/>
                <a:cs typeface="Consolas" pitchFamily="49" charset="0"/>
              </a:rPr>
              <a:t>*/</a:t>
            </a:r>
          </a:p>
          <a:p>
            <a:r>
              <a:rPr lang="en-US" sz="1000" dirty="0" smtClean="0">
                <a:latin typeface="Consolas" pitchFamily="49" charset="0"/>
                <a:cs typeface="Consolas" pitchFamily="49" charset="0"/>
              </a:rPr>
              <a:t>function </a:t>
            </a:r>
            <a:r>
              <a:rPr lang="en-US" sz="1000" dirty="0" err="1" smtClean="0">
                <a:latin typeface="Consolas" pitchFamily="49" charset="0"/>
                <a:cs typeface="Consolas" pitchFamily="49" charset="0"/>
              </a:rPr>
              <a:t>get_page_template</a:t>
            </a:r>
            <a:r>
              <a:rPr lang="en-US" sz="1000" dirty="0" smtClean="0">
                <a:latin typeface="Consolas" pitchFamily="49" charset="0"/>
                <a:cs typeface="Consolas" pitchFamily="49" charset="0"/>
              </a:rPr>
              <a:t>() {</a:t>
            </a:r>
          </a:p>
          <a:p>
            <a:r>
              <a:rPr lang="en-US" sz="1000" dirty="0" smtClean="0">
                <a:latin typeface="Consolas" pitchFamily="49" charset="0"/>
                <a:cs typeface="Consolas" pitchFamily="49" charset="0"/>
              </a:rPr>
              <a:t>$id = </a:t>
            </a:r>
            <a:r>
              <a:rPr lang="en-US" sz="1000" dirty="0" err="1" smtClean="0">
                <a:latin typeface="Consolas" pitchFamily="49" charset="0"/>
                <a:cs typeface="Consolas" pitchFamily="49" charset="0"/>
              </a:rPr>
              <a:t>get_queried_object_id</a:t>
            </a:r>
            <a:r>
              <a:rPr lang="en-US" sz="1000" dirty="0" smtClean="0">
                <a:latin typeface="Consolas" pitchFamily="49" charset="0"/>
                <a:cs typeface="Consolas" pitchFamily="49" charset="0"/>
              </a:rPr>
              <a:t>();</a:t>
            </a:r>
          </a:p>
          <a:p>
            <a:r>
              <a:rPr lang="en-US" sz="1000" dirty="0" smtClean="0">
                <a:latin typeface="Consolas" pitchFamily="49" charset="0"/>
                <a:cs typeface="Consolas" pitchFamily="49" charset="0"/>
              </a:rPr>
              <a:t>$template = </a:t>
            </a:r>
            <a:r>
              <a:rPr lang="en-US" sz="1000" dirty="0" err="1" smtClean="0">
                <a:latin typeface="Consolas" pitchFamily="49" charset="0"/>
                <a:cs typeface="Consolas" pitchFamily="49" charset="0"/>
              </a:rPr>
              <a:t>get_page_template_slug</a:t>
            </a:r>
            <a:r>
              <a:rPr lang="en-US" sz="1000" dirty="0" smtClean="0">
                <a:latin typeface="Consolas" pitchFamily="49" charset="0"/>
                <a:cs typeface="Consolas" pitchFamily="49" charset="0"/>
              </a:rPr>
              <a:t>();</a:t>
            </a:r>
          </a:p>
          <a:p>
            <a:r>
              <a:rPr lang="en-US" sz="1000" dirty="0" smtClean="0">
                <a:latin typeface="Consolas" pitchFamily="49" charset="0"/>
                <a:cs typeface="Consolas" pitchFamily="49" charset="0"/>
              </a:rPr>
              <a:t>$</a:t>
            </a:r>
            <a:r>
              <a:rPr lang="en-US" sz="1000" dirty="0" err="1" smtClean="0">
                <a:latin typeface="Consolas" pitchFamily="49" charset="0"/>
                <a:cs typeface="Consolas" pitchFamily="49" charset="0"/>
              </a:rPr>
              <a:t>pagename</a:t>
            </a:r>
            <a:r>
              <a:rPr lang="en-US" sz="1000" dirty="0" smtClean="0">
                <a:latin typeface="Consolas" pitchFamily="49" charset="0"/>
                <a:cs typeface="Consolas" pitchFamily="49" charset="0"/>
              </a:rPr>
              <a:t> = </a:t>
            </a:r>
            <a:r>
              <a:rPr lang="en-US" sz="1000" dirty="0" err="1" smtClean="0">
                <a:latin typeface="Consolas" pitchFamily="49" charset="0"/>
                <a:cs typeface="Consolas" pitchFamily="49" charset="0"/>
              </a:rPr>
              <a:t>get_query_var</a:t>
            </a:r>
            <a:r>
              <a:rPr lang="en-US" sz="1000" dirty="0" smtClean="0">
                <a:latin typeface="Consolas" pitchFamily="49" charset="0"/>
                <a:cs typeface="Consolas" pitchFamily="49" charset="0"/>
              </a:rPr>
              <a:t>('</a:t>
            </a:r>
            <a:r>
              <a:rPr lang="en-US" sz="1000" dirty="0" err="1" smtClean="0">
                <a:latin typeface="Consolas" pitchFamily="49" charset="0"/>
                <a:cs typeface="Consolas" pitchFamily="49" charset="0"/>
              </a:rPr>
              <a:t>pagename</a:t>
            </a:r>
            <a:r>
              <a:rPr lang="en-US" sz="1000" dirty="0" smtClean="0">
                <a:latin typeface="Consolas" pitchFamily="49" charset="0"/>
                <a:cs typeface="Consolas" pitchFamily="49" charset="0"/>
              </a:rPr>
              <a:t>');</a:t>
            </a:r>
            <a:endParaRPr lang="en-US" sz="1000" dirty="0" smtClean="0">
              <a:latin typeface="Consolas" pitchFamily="49" charset="0"/>
              <a:cs typeface="Consolas" pitchFamily="49" charset="0"/>
            </a:endParaRPr>
          </a:p>
          <a:p>
            <a:r>
              <a:rPr lang="en-US" sz="1000" dirty="0" smtClean="0">
                <a:latin typeface="Consolas" pitchFamily="49" charset="0"/>
                <a:cs typeface="Consolas" pitchFamily="49" charset="0"/>
              </a:rPr>
              <a:t>if ( ! $</a:t>
            </a:r>
            <a:r>
              <a:rPr lang="en-US" sz="1000" dirty="0" err="1" smtClean="0">
                <a:latin typeface="Consolas" pitchFamily="49" charset="0"/>
                <a:cs typeface="Consolas" pitchFamily="49" charset="0"/>
              </a:rPr>
              <a:t>pagename</a:t>
            </a:r>
            <a:r>
              <a:rPr lang="en-US" sz="1000" dirty="0" smtClean="0">
                <a:latin typeface="Consolas" pitchFamily="49" charset="0"/>
                <a:cs typeface="Consolas" pitchFamily="49" charset="0"/>
              </a:rPr>
              <a:t> &amp;&amp; $id ) {</a:t>
            </a:r>
          </a:p>
          <a:p>
            <a:r>
              <a:rPr lang="en-US" sz="1000" dirty="0" smtClean="0">
                <a:latin typeface="Consolas" pitchFamily="49" charset="0"/>
                <a:cs typeface="Consolas" pitchFamily="49" charset="0"/>
              </a:rPr>
              <a:t>// If a static page is set as the front page, $</a:t>
            </a:r>
            <a:r>
              <a:rPr lang="en-US" sz="1000" dirty="0" err="1" smtClean="0">
                <a:latin typeface="Consolas" pitchFamily="49" charset="0"/>
                <a:cs typeface="Consolas" pitchFamily="49" charset="0"/>
              </a:rPr>
              <a:t>pagename</a:t>
            </a:r>
            <a:r>
              <a:rPr lang="en-US" sz="1000" dirty="0" smtClean="0">
                <a:latin typeface="Consolas" pitchFamily="49" charset="0"/>
                <a:cs typeface="Consolas" pitchFamily="49" charset="0"/>
              </a:rPr>
              <a:t> will not be set. Retrieve it</a:t>
            </a:r>
          </a:p>
          <a:p>
            <a:r>
              <a:rPr lang="en-US" sz="1000" dirty="0" smtClean="0">
                <a:latin typeface="Consolas" pitchFamily="49" charset="0"/>
                <a:cs typeface="Consolas" pitchFamily="49" charset="0"/>
              </a:rPr>
              <a:t>from the queried object</a:t>
            </a:r>
          </a:p>
          <a:p>
            <a:r>
              <a:rPr lang="en-US" sz="1000" dirty="0" smtClean="0">
                <a:latin typeface="Consolas" pitchFamily="49" charset="0"/>
                <a:cs typeface="Consolas" pitchFamily="49" charset="0"/>
              </a:rPr>
              <a:t>$post = </a:t>
            </a:r>
            <a:r>
              <a:rPr lang="en-US" sz="1000" dirty="0" err="1" smtClean="0">
                <a:latin typeface="Consolas" pitchFamily="49" charset="0"/>
                <a:cs typeface="Consolas" pitchFamily="49" charset="0"/>
              </a:rPr>
              <a:t>get_queried_object</a:t>
            </a:r>
            <a:r>
              <a:rPr lang="en-US" sz="1000" dirty="0" smtClean="0">
                <a:latin typeface="Consolas" pitchFamily="49" charset="0"/>
                <a:cs typeface="Consolas" pitchFamily="49" charset="0"/>
              </a:rPr>
              <a:t>();</a:t>
            </a:r>
          </a:p>
          <a:p>
            <a:r>
              <a:rPr lang="en-US" sz="1000" dirty="0" smtClean="0">
                <a:latin typeface="Consolas" pitchFamily="49" charset="0"/>
                <a:cs typeface="Consolas" pitchFamily="49" charset="0"/>
              </a:rPr>
              <a:t>$</a:t>
            </a:r>
            <a:r>
              <a:rPr lang="en-US" sz="1000" dirty="0" err="1" smtClean="0">
                <a:latin typeface="Consolas" pitchFamily="49" charset="0"/>
                <a:cs typeface="Consolas" pitchFamily="49" charset="0"/>
              </a:rPr>
              <a:t>pagename</a:t>
            </a:r>
            <a:r>
              <a:rPr lang="en-US" sz="1000" dirty="0" smtClean="0">
                <a:latin typeface="Consolas" pitchFamily="49" charset="0"/>
                <a:cs typeface="Consolas" pitchFamily="49" charset="0"/>
              </a:rPr>
              <a:t> = $post-&gt;</a:t>
            </a:r>
            <a:r>
              <a:rPr lang="en-US" sz="1000" dirty="0" err="1" smtClean="0">
                <a:latin typeface="Consolas" pitchFamily="49" charset="0"/>
                <a:cs typeface="Consolas" pitchFamily="49" charset="0"/>
              </a:rPr>
              <a:t>post_name</a:t>
            </a:r>
            <a:r>
              <a:rPr lang="en-US" sz="1000" dirty="0" smtClean="0">
                <a:latin typeface="Consolas" pitchFamily="49" charset="0"/>
                <a:cs typeface="Consolas" pitchFamily="49" charset="0"/>
              </a:rPr>
              <a:t>;</a:t>
            </a:r>
          </a:p>
          <a:p>
            <a:r>
              <a:rPr lang="en-US" sz="1000" dirty="0" smtClean="0">
                <a:latin typeface="Consolas" pitchFamily="49" charset="0"/>
                <a:cs typeface="Consolas" pitchFamily="49" charset="0"/>
              </a:rPr>
              <a:t>}</a:t>
            </a:r>
          </a:p>
          <a:p>
            <a:r>
              <a:rPr lang="en-US" sz="1000" dirty="0" smtClean="0">
                <a:latin typeface="Consolas" pitchFamily="49" charset="0"/>
                <a:cs typeface="Consolas" pitchFamily="49" charset="0"/>
              </a:rPr>
              <a:t>$templates = array();</a:t>
            </a:r>
          </a:p>
          <a:p>
            <a:r>
              <a:rPr lang="en-US" sz="1000" dirty="0" smtClean="0">
                <a:latin typeface="Consolas" pitchFamily="49" charset="0"/>
                <a:cs typeface="Consolas" pitchFamily="49" charset="0"/>
              </a:rPr>
              <a:t>if ( $template &amp;&amp; 0 === </a:t>
            </a:r>
            <a:r>
              <a:rPr lang="en-US" sz="1000" dirty="0" err="1" smtClean="0">
                <a:latin typeface="Consolas" pitchFamily="49" charset="0"/>
                <a:cs typeface="Consolas" pitchFamily="49" charset="0"/>
              </a:rPr>
              <a:t>validate_file</a:t>
            </a:r>
            <a:r>
              <a:rPr lang="en-US" sz="1000" dirty="0" smtClean="0">
                <a:latin typeface="Consolas" pitchFamily="49" charset="0"/>
                <a:cs typeface="Consolas" pitchFamily="49" charset="0"/>
              </a:rPr>
              <a:t>( $template ) )</a:t>
            </a:r>
          </a:p>
          <a:p>
            <a:r>
              <a:rPr lang="en-US" sz="1000" dirty="0" smtClean="0">
                <a:latin typeface="Consolas" pitchFamily="49" charset="0"/>
                <a:cs typeface="Consolas" pitchFamily="49" charset="0"/>
              </a:rPr>
              <a:t>$templates[] = $template;</a:t>
            </a:r>
          </a:p>
          <a:p>
            <a:r>
              <a:rPr lang="en-US" sz="1000" dirty="0" smtClean="0">
                <a:latin typeface="Consolas" pitchFamily="49" charset="0"/>
                <a:cs typeface="Consolas" pitchFamily="49" charset="0"/>
              </a:rPr>
              <a:t>if ( $</a:t>
            </a:r>
            <a:r>
              <a:rPr lang="en-US" sz="1000" dirty="0" err="1" smtClean="0">
                <a:latin typeface="Consolas" pitchFamily="49" charset="0"/>
                <a:cs typeface="Consolas" pitchFamily="49" charset="0"/>
              </a:rPr>
              <a:t>pagename</a:t>
            </a:r>
            <a:r>
              <a:rPr lang="en-US" sz="1000" dirty="0" smtClean="0">
                <a:latin typeface="Consolas" pitchFamily="49" charset="0"/>
                <a:cs typeface="Consolas" pitchFamily="49" charset="0"/>
              </a:rPr>
              <a:t> )</a:t>
            </a:r>
          </a:p>
          <a:p>
            <a:r>
              <a:rPr lang="en-US" sz="1000" dirty="0" smtClean="0">
                <a:latin typeface="Consolas" pitchFamily="49" charset="0"/>
                <a:cs typeface="Consolas" pitchFamily="49" charset="0"/>
              </a:rPr>
              <a:t>$templates[] = "page-$pagename.php";</a:t>
            </a:r>
          </a:p>
          <a:p>
            <a:r>
              <a:rPr lang="en-US" sz="1000" dirty="0" smtClean="0">
                <a:latin typeface="Consolas" pitchFamily="49" charset="0"/>
                <a:cs typeface="Consolas" pitchFamily="49" charset="0"/>
              </a:rPr>
              <a:t>if ( $id )</a:t>
            </a:r>
          </a:p>
          <a:p>
            <a:r>
              <a:rPr lang="en-US" sz="1000" dirty="0" smtClean="0">
                <a:latin typeface="Consolas" pitchFamily="49" charset="0"/>
                <a:cs typeface="Consolas" pitchFamily="49" charset="0"/>
              </a:rPr>
              <a:t>$templates[] = "page-$id.php";</a:t>
            </a:r>
          </a:p>
          <a:p>
            <a:r>
              <a:rPr lang="en-US" sz="1000" dirty="0" smtClean="0">
                <a:latin typeface="Consolas" pitchFamily="49" charset="0"/>
                <a:cs typeface="Consolas" pitchFamily="49" charset="0"/>
              </a:rPr>
              <a:t>$templates[] = </a:t>
            </a:r>
            <a:r>
              <a:rPr lang="en-US" sz="1000" dirty="0" smtClean="0">
                <a:latin typeface="Consolas" pitchFamily="49" charset="0"/>
                <a:cs typeface="Consolas" pitchFamily="49" charset="0"/>
              </a:rPr>
              <a:t>'page.php';</a:t>
            </a:r>
            <a:endParaRPr lang="en-US" sz="1000" dirty="0" smtClean="0">
              <a:latin typeface="Consolas" pitchFamily="49" charset="0"/>
              <a:cs typeface="Consolas" pitchFamily="49" charset="0"/>
            </a:endParaRPr>
          </a:p>
          <a:p>
            <a:r>
              <a:rPr lang="en-US" sz="1000" dirty="0" smtClean="0">
                <a:latin typeface="Consolas" pitchFamily="49" charset="0"/>
                <a:cs typeface="Consolas" pitchFamily="49" charset="0"/>
              </a:rPr>
              <a:t>return </a:t>
            </a:r>
            <a:r>
              <a:rPr lang="en-US" sz="1000" dirty="0" err="1" smtClean="0">
                <a:latin typeface="Consolas" pitchFamily="49" charset="0"/>
                <a:cs typeface="Consolas" pitchFamily="49" charset="0"/>
              </a:rPr>
              <a:t>get_query_template</a:t>
            </a:r>
            <a:r>
              <a:rPr lang="en-US" sz="1000" dirty="0" smtClean="0">
                <a:latin typeface="Consolas" pitchFamily="49" charset="0"/>
                <a:cs typeface="Consolas" pitchFamily="49" charset="0"/>
              </a:rPr>
              <a:t>( </a:t>
            </a:r>
            <a:r>
              <a:rPr lang="en-US" sz="1000" dirty="0" smtClean="0">
                <a:latin typeface="Consolas" pitchFamily="49" charset="0"/>
                <a:cs typeface="Consolas" pitchFamily="49" charset="0"/>
              </a:rPr>
              <a:t>'page', </a:t>
            </a:r>
            <a:r>
              <a:rPr lang="en-US" sz="1000" dirty="0" smtClean="0">
                <a:latin typeface="Consolas" pitchFamily="49" charset="0"/>
                <a:cs typeface="Consolas" pitchFamily="49" charset="0"/>
              </a:rPr>
              <a:t>$templates );</a:t>
            </a:r>
          </a:p>
          <a:p>
            <a:r>
              <a:rPr lang="en-US" sz="1000" dirty="0" smtClean="0">
                <a:latin typeface="Consolas" pitchFamily="49" charset="0"/>
                <a:cs typeface="Consolas" pitchFamily="49" charset="0"/>
              </a:rPr>
              <a:t>}</a:t>
            </a:r>
            <a:endParaRPr lang="en-US" sz="1000" dirty="0">
              <a:latin typeface="Consolas" pitchFamily="49" charset="0"/>
              <a:cs typeface="Consolas" pitchFamily="49" charset="0"/>
            </a:endParaRPr>
          </a:p>
        </p:txBody>
      </p:sp>
      <p:sp>
        <p:nvSpPr>
          <p:cNvPr id="5" name="Rectangle 4"/>
          <p:cNvSpPr/>
          <p:nvPr/>
        </p:nvSpPr>
        <p:spPr>
          <a:xfrm>
            <a:off x="5257800" y="1523286"/>
            <a:ext cx="3657600" cy="4801314"/>
          </a:xfrm>
          <a:prstGeom prst="rect">
            <a:avLst/>
          </a:prstGeom>
        </p:spPr>
        <p:txBody>
          <a:bodyPr wrap="square">
            <a:spAutoFit/>
          </a:bodyPr>
          <a:lstStyle/>
          <a:p>
            <a:r>
              <a:rPr lang="en-US" dirty="0" smtClean="0"/>
              <a:t>The </a:t>
            </a:r>
            <a:r>
              <a:rPr lang="en-US" dirty="0" err="1" smtClean="0"/>
              <a:t>wp</a:t>
            </a:r>
            <a:r>
              <a:rPr lang="en-US" dirty="0" smtClean="0"/>
              <a:t>-load file sets up the database connection and a whole load of other things (such as the settings for the theme)</a:t>
            </a:r>
          </a:p>
          <a:p>
            <a:r>
              <a:rPr lang="en-US" dirty="0" smtClean="0"/>
              <a:t>and includes most of the other files that are necessary for </a:t>
            </a:r>
            <a:r>
              <a:rPr lang="en-US" dirty="0" err="1" smtClean="0"/>
              <a:t>WordPress</a:t>
            </a:r>
            <a:r>
              <a:rPr lang="en-US" dirty="0" smtClean="0"/>
              <a:t> to work.</a:t>
            </a:r>
          </a:p>
          <a:p>
            <a:r>
              <a:rPr lang="en-US" dirty="0" smtClean="0"/>
              <a:t>After </a:t>
            </a:r>
            <a:r>
              <a:rPr lang="en-US" dirty="0" err="1" smtClean="0"/>
              <a:t>wp</a:t>
            </a:r>
            <a:r>
              <a:rPr lang="en-US" dirty="0" smtClean="0"/>
              <a:t>-load has done its work, the </a:t>
            </a:r>
            <a:r>
              <a:rPr lang="en-US" dirty="0" err="1" smtClean="0"/>
              <a:t>wp</a:t>
            </a:r>
            <a:r>
              <a:rPr lang="en-US" dirty="0" smtClean="0"/>
              <a:t>() function is called,</a:t>
            </a:r>
          </a:p>
          <a:p>
            <a:r>
              <a:rPr lang="en-US" dirty="0" smtClean="0"/>
              <a:t>which sets up the main query by adding the current query parameters to the main </a:t>
            </a:r>
            <a:r>
              <a:rPr lang="en-US" dirty="0" err="1" smtClean="0"/>
              <a:t>WP_Query</a:t>
            </a:r>
            <a:r>
              <a:rPr lang="en-US" dirty="0" smtClean="0"/>
              <a:t> instance in use.</a:t>
            </a:r>
          </a:p>
          <a:p>
            <a:r>
              <a:rPr lang="en-US" dirty="0" smtClean="0"/>
              <a:t>At the heart of </a:t>
            </a:r>
            <a:r>
              <a:rPr lang="en-US" dirty="0" err="1" smtClean="0"/>
              <a:t>WordPress</a:t>
            </a:r>
            <a:r>
              <a:rPr lang="en-US" dirty="0" smtClean="0"/>
              <a:t> is the query, or more accurately, </a:t>
            </a:r>
            <a:r>
              <a:rPr lang="en-US" dirty="0" err="1" smtClean="0"/>
              <a:t>WP_Query</a:t>
            </a:r>
            <a:r>
              <a:rPr lang="en-US" dirty="0" smtClean="0"/>
              <a:t> – the PHP class that handles a lot of things for you.</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Why Create a Child Theme?</a:t>
            </a:r>
            <a:endParaRPr lang="en-US" dirty="0"/>
          </a:p>
        </p:txBody>
      </p:sp>
      <p:sp>
        <p:nvSpPr>
          <p:cNvPr id="3" name="Content Placeholder 2"/>
          <p:cNvSpPr>
            <a:spLocks noGrp="1"/>
          </p:cNvSpPr>
          <p:nvPr>
            <p:ph idx="1"/>
          </p:nvPr>
        </p:nvSpPr>
        <p:spPr/>
        <p:txBody>
          <a:bodyPr/>
          <a:lstStyle/>
          <a:p>
            <a:r>
              <a:rPr lang="en-US" dirty="0" smtClean="0"/>
              <a:t>Keeping your modifications in a separate folder from your theme.</a:t>
            </a:r>
          </a:p>
          <a:p>
            <a:r>
              <a:rPr lang="en-US" dirty="0" smtClean="0"/>
              <a:t>Updating the parent theme without losing your customizations.</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a Child Theme Folder</a:t>
            </a:r>
            <a:endParaRPr lang="en-US" dirty="0"/>
          </a:p>
        </p:txBody>
      </p:sp>
      <p:sp>
        <p:nvSpPr>
          <p:cNvPr id="3" name="Content Placeholder 2"/>
          <p:cNvSpPr>
            <a:spLocks noGrp="1"/>
          </p:cNvSpPr>
          <p:nvPr>
            <p:ph idx="1"/>
          </p:nvPr>
        </p:nvSpPr>
        <p:spPr/>
        <p:txBody>
          <a:bodyPr/>
          <a:lstStyle/>
          <a:p>
            <a:r>
              <a:rPr lang="en-US" dirty="0" smtClean="0"/>
              <a:t>Example: </a:t>
            </a:r>
            <a:r>
              <a:rPr lang="en-US" dirty="0" err="1" smtClean="0"/>
              <a:t>Divi</a:t>
            </a:r>
            <a:r>
              <a:rPr lang="en-US" dirty="0" smtClean="0"/>
              <a:t>-Child</a:t>
            </a:r>
          </a:p>
          <a:p>
            <a:r>
              <a:rPr lang="en-US" dirty="0" smtClean="0"/>
              <a:t>Copy the child theme folder to the </a:t>
            </a:r>
            <a:r>
              <a:rPr lang="en-US" dirty="0" err="1" smtClean="0"/>
              <a:t>wp</a:t>
            </a:r>
            <a:r>
              <a:rPr lang="en-US" dirty="0" smtClean="0"/>
              <a:t>-content/themes/ folder.</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Create style.css</a:t>
            </a:r>
            <a:endParaRPr lang="en-US" dirty="0"/>
          </a:p>
        </p:txBody>
      </p:sp>
      <p:sp>
        <p:nvSpPr>
          <p:cNvPr id="3" name="Content Placeholder 2"/>
          <p:cNvSpPr>
            <a:spLocks noGrp="1"/>
          </p:cNvSpPr>
          <p:nvPr>
            <p:ph idx="1"/>
          </p:nvPr>
        </p:nvSpPr>
        <p:spPr>
          <a:xfrm>
            <a:off x="457200" y="1646237"/>
            <a:ext cx="8229600" cy="4525963"/>
          </a:xfrm>
        </p:spPr>
        <p:style>
          <a:lnRef idx="3">
            <a:schemeClr val="lt1"/>
          </a:lnRef>
          <a:fillRef idx="1">
            <a:schemeClr val="dk1"/>
          </a:fillRef>
          <a:effectRef idx="1">
            <a:schemeClr val="dk1"/>
          </a:effectRef>
          <a:fontRef idx="minor">
            <a:schemeClr val="lt1"/>
          </a:fontRef>
        </p:style>
        <p:txBody>
          <a:bodyPr/>
          <a:lstStyle/>
          <a:p>
            <a:pPr>
              <a:buNone/>
            </a:pPr>
            <a:r>
              <a:rPr lang="en-US" sz="2000" dirty="0" smtClean="0">
                <a:solidFill>
                  <a:srgbClr val="6A9955"/>
                </a:solidFill>
                <a:latin typeface="Consolas"/>
              </a:rPr>
              <a:t>/*</a:t>
            </a:r>
            <a:endParaRPr lang="en-US" sz="2000" dirty="0" smtClean="0">
              <a:solidFill>
                <a:srgbClr val="D4D4D4"/>
              </a:solidFill>
              <a:latin typeface="Consolas"/>
            </a:endParaRPr>
          </a:p>
          <a:p>
            <a:pPr>
              <a:buNone/>
            </a:pPr>
            <a:r>
              <a:rPr lang="en-US" sz="2000" dirty="0" smtClean="0">
                <a:solidFill>
                  <a:srgbClr val="FF0000"/>
                </a:solidFill>
                <a:latin typeface="Consolas"/>
              </a:rPr>
              <a:t>Theme Name: </a:t>
            </a:r>
            <a:r>
              <a:rPr lang="en-US" sz="2000" dirty="0" err="1" smtClean="0">
                <a:solidFill>
                  <a:srgbClr val="FF0000"/>
                </a:solidFill>
                <a:latin typeface="Consolas"/>
              </a:rPr>
              <a:t>Divi</a:t>
            </a:r>
            <a:r>
              <a:rPr lang="en-US" sz="2000" dirty="0" smtClean="0">
                <a:solidFill>
                  <a:srgbClr val="FF0000"/>
                </a:solidFill>
                <a:latin typeface="Consolas"/>
              </a:rPr>
              <a:t> Child</a:t>
            </a:r>
          </a:p>
          <a:p>
            <a:pPr>
              <a:buNone/>
            </a:pPr>
            <a:r>
              <a:rPr lang="en-US" sz="2000" dirty="0" smtClean="0">
                <a:solidFill>
                  <a:srgbClr val="6A9955"/>
                </a:solidFill>
                <a:latin typeface="Consolas"/>
              </a:rPr>
              <a:t>Theme URI: https://example.com/divi-child/</a:t>
            </a:r>
            <a:endParaRPr lang="en-US" sz="2000" dirty="0" smtClean="0">
              <a:solidFill>
                <a:srgbClr val="D4D4D4"/>
              </a:solidFill>
              <a:latin typeface="Consolas"/>
            </a:endParaRPr>
          </a:p>
          <a:p>
            <a:pPr>
              <a:buNone/>
            </a:pPr>
            <a:r>
              <a:rPr lang="en-US" sz="2000" dirty="0" smtClean="0">
                <a:solidFill>
                  <a:srgbClr val="6A9955"/>
                </a:solidFill>
                <a:latin typeface="Consolas"/>
              </a:rPr>
              <a:t>Description: </a:t>
            </a:r>
            <a:r>
              <a:rPr lang="en-US" sz="2000" dirty="0" err="1" smtClean="0">
                <a:solidFill>
                  <a:srgbClr val="6A9955"/>
                </a:solidFill>
                <a:latin typeface="Consolas"/>
              </a:rPr>
              <a:t>Divi</a:t>
            </a:r>
            <a:r>
              <a:rPr lang="en-US" sz="2000" dirty="0" smtClean="0">
                <a:solidFill>
                  <a:srgbClr val="6A9955"/>
                </a:solidFill>
                <a:latin typeface="Consolas"/>
              </a:rPr>
              <a:t> Child Theme</a:t>
            </a:r>
            <a:endParaRPr lang="en-US" sz="2000" dirty="0" smtClean="0">
              <a:solidFill>
                <a:srgbClr val="D4D4D4"/>
              </a:solidFill>
              <a:latin typeface="Consolas"/>
            </a:endParaRPr>
          </a:p>
          <a:p>
            <a:pPr>
              <a:buNone/>
            </a:pPr>
            <a:r>
              <a:rPr lang="en-US" sz="2000" dirty="0" smtClean="0">
                <a:solidFill>
                  <a:srgbClr val="6A9955"/>
                </a:solidFill>
                <a:latin typeface="Consolas"/>
              </a:rPr>
              <a:t>Author: Ngo Huy Bien</a:t>
            </a:r>
            <a:endParaRPr lang="en-US" sz="2000" dirty="0" smtClean="0">
              <a:solidFill>
                <a:srgbClr val="D4D4D4"/>
              </a:solidFill>
              <a:latin typeface="Consolas"/>
            </a:endParaRPr>
          </a:p>
          <a:p>
            <a:pPr>
              <a:buNone/>
            </a:pPr>
            <a:r>
              <a:rPr lang="en-US" sz="2000" dirty="0" smtClean="0">
                <a:solidFill>
                  <a:srgbClr val="6A9955"/>
                </a:solidFill>
                <a:latin typeface="Consolas"/>
              </a:rPr>
              <a:t>Author URI: https://example.com</a:t>
            </a:r>
            <a:endParaRPr lang="en-US" sz="2000" dirty="0" smtClean="0">
              <a:solidFill>
                <a:srgbClr val="D4D4D4"/>
              </a:solidFill>
              <a:latin typeface="Consolas"/>
            </a:endParaRPr>
          </a:p>
          <a:p>
            <a:pPr>
              <a:buNone/>
            </a:pPr>
            <a:r>
              <a:rPr lang="en-US" sz="2000" dirty="0" smtClean="0">
                <a:solidFill>
                  <a:srgbClr val="FF0000"/>
                </a:solidFill>
                <a:latin typeface="Consolas"/>
              </a:rPr>
              <a:t>Template: </a:t>
            </a:r>
            <a:r>
              <a:rPr lang="en-US" sz="2000" dirty="0" err="1" smtClean="0">
                <a:solidFill>
                  <a:srgbClr val="FF0000"/>
                </a:solidFill>
                <a:latin typeface="Consolas"/>
              </a:rPr>
              <a:t>Divi</a:t>
            </a:r>
            <a:endParaRPr lang="en-US" sz="2000" dirty="0" smtClean="0">
              <a:solidFill>
                <a:srgbClr val="FF0000"/>
              </a:solidFill>
              <a:latin typeface="Consolas"/>
            </a:endParaRPr>
          </a:p>
          <a:p>
            <a:pPr>
              <a:buNone/>
            </a:pPr>
            <a:r>
              <a:rPr lang="en-US" sz="2000" dirty="0" smtClean="0">
                <a:solidFill>
                  <a:srgbClr val="6A9955"/>
                </a:solidFill>
                <a:latin typeface="Consolas"/>
              </a:rPr>
              <a:t>Version: 1.0.0</a:t>
            </a:r>
            <a:endParaRPr lang="en-US" sz="2000" dirty="0" smtClean="0">
              <a:solidFill>
                <a:srgbClr val="D4D4D4"/>
              </a:solidFill>
              <a:latin typeface="Consolas"/>
            </a:endParaRPr>
          </a:p>
          <a:p>
            <a:pPr>
              <a:buNone/>
            </a:pPr>
            <a:r>
              <a:rPr lang="en-US" sz="2000" dirty="0" smtClean="0">
                <a:solidFill>
                  <a:srgbClr val="6A9955"/>
                </a:solidFill>
                <a:latin typeface="Consolas"/>
              </a:rPr>
              <a:t>License: GNU General Public License v2 or later</a:t>
            </a:r>
            <a:endParaRPr lang="en-US" sz="2000" dirty="0" smtClean="0">
              <a:solidFill>
                <a:srgbClr val="D4D4D4"/>
              </a:solidFill>
              <a:latin typeface="Consolas"/>
            </a:endParaRPr>
          </a:p>
          <a:p>
            <a:pPr>
              <a:buNone/>
            </a:pPr>
            <a:r>
              <a:rPr lang="en-US" sz="2000" dirty="0" smtClean="0">
                <a:solidFill>
                  <a:srgbClr val="6A9955"/>
                </a:solidFill>
                <a:latin typeface="Consolas"/>
              </a:rPr>
              <a:t>License URI: http://www.gnu.org/licenses/gpl-2.0.html</a:t>
            </a:r>
            <a:endParaRPr lang="en-US" sz="2000" dirty="0" smtClean="0">
              <a:solidFill>
                <a:srgbClr val="D4D4D4"/>
              </a:solidFill>
              <a:latin typeface="Consolas"/>
            </a:endParaRPr>
          </a:p>
          <a:p>
            <a:pPr>
              <a:buNone/>
            </a:pPr>
            <a:r>
              <a:rPr lang="en-US" sz="2000" dirty="0" smtClean="0">
                <a:solidFill>
                  <a:srgbClr val="6A9955"/>
                </a:solidFill>
                <a:latin typeface="Consolas"/>
              </a:rPr>
              <a:t>*/</a:t>
            </a:r>
            <a:endParaRPr lang="en-US" sz="2000" b="0" dirty="0">
              <a:solidFill>
                <a:srgbClr val="D4D4D4"/>
              </a:solidFill>
              <a:latin typeface="Consola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Create functions.php</a:t>
            </a:r>
            <a:endParaRPr lang="en-US" dirty="0"/>
          </a:p>
        </p:txBody>
      </p:sp>
      <p:sp>
        <p:nvSpPr>
          <p:cNvPr id="3" name="Content Placeholder 2"/>
          <p:cNvSpPr>
            <a:spLocks noGrp="1"/>
          </p:cNvSpPr>
          <p:nvPr>
            <p:ph idx="1"/>
          </p:nvPr>
        </p:nvSpPr>
        <p:spPr/>
        <p:txBody>
          <a:bodyPr/>
          <a:lstStyle/>
          <a:p>
            <a:r>
              <a:rPr lang="en-US" sz="2400" dirty="0" smtClean="0"/>
              <a:t>To </a:t>
            </a:r>
            <a:r>
              <a:rPr lang="en-US" sz="2400" dirty="0" err="1" smtClean="0"/>
              <a:t>enqueue</a:t>
            </a:r>
            <a:r>
              <a:rPr lang="en-US" sz="2400" dirty="0" smtClean="0"/>
              <a:t> the parent and child </a:t>
            </a:r>
            <a:r>
              <a:rPr lang="en-US" sz="2400" dirty="0" smtClean="0"/>
              <a:t>themes' </a:t>
            </a:r>
            <a:r>
              <a:rPr lang="en-US" sz="2400" dirty="0" err="1" smtClean="0"/>
              <a:t>stylesheets</a:t>
            </a:r>
            <a:r>
              <a:rPr lang="en-US" sz="2400" dirty="0" smtClean="0"/>
              <a:t>.</a:t>
            </a:r>
          </a:p>
          <a:p>
            <a:endParaRPr lang="en-US" sz="2400" dirty="0"/>
          </a:p>
        </p:txBody>
      </p:sp>
      <p:sp>
        <p:nvSpPr>
          <p:cNvPr id="4" name="Content Placeholder 2"/>
          <p:cNvSpPr txBox="1">
            <a:spLocks/>
          </p:cNvSpPr>
          <p:nvPr/>
        </p:nvSpPr>
        <p:spPr bwMode="auto">
          <a:xfrm>
            <a:off x="609600" y="2286000"/>
            <a:ext cx="8229600" cy="3992563"/>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smtClean="0">
                <a:solidFill>
                  <a:srgbClr val="569CD6"/>
                </a:solidFill>
                <a:latin typeface="Consolas"/>
              </a:rPr>
              <a:t>&lt;?</a:t>
            </a:r>
            <a:r>
              <a:rPr lang="en-US" sz="2000" dirty="0" err="1" smtClean="0">
                <a:solidFill>
                  <a:srgbClr val="569CD6"/>
                </a:solidFill>
                <a:latin typeface="Consolas"/>
              </a:rPr>
              <a:t>php</a:t>
            </a:r>
            <a:endParaRPr lang="en-US" sz="2000" dirty="0" smtClean="0">
              <a:solidFill>
                <a:srgbClr val="D4D4D4"/>
              </a:solidFill>
              <a:latin typeface="Consolas"/>
            </a:endParaRP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569CD6"/>
                </a:solidFill>
                <a:latin typeface="Consolas"/>
              </a:rPr>
              <a:t>function</a:t>
            </a:r>
            <a:r>
              <a:rPr lang="en-US" sz="2000" dirty="0" smtClean="0">
                <a:solidFill>
                  <a:srgbClr val="D4D4D4"/>
                </a:solidFill>
                <a:latin typeface="Consolas"/>
              </a:rPr>
              <a:t> </a:t>
            </a:r>
            <a:r>
              <a:rPr lang="en-US" sz="2000" dirty="0" err="1" smtClean="0">
                <a:solidFill>
                  <a:srgbClr val="DCDCAA"/>
                </a:solidFill>
                <a:latin typeface="Consolas"/>
              </a:rPr>
              <a:t>enqueue_parent_styles</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CDCAA"/>
                </a:solidFill>
                <a:latin typeface="Consolas"/>
              </a:rPr>
              <a:t>wp_enqueue_style</a:t>
            </a:r>
            <a:r>
              <a:rPr lang="en-US" sz="2000" dirty="0" smtClean="0">
                <a:solidFill>
                  <a:srgbClr val="D4D4D4"/>
                </a:solidFill>
                <a:latin typeface="Consolas"/>
              </a:rPr>
              <a:t>( </a:t>
            </a:r>
            <a:r>
              <a:rPr lang="en-US" sz="2000" dirty="0" smtClean="0">
                <a:solidFill>
                  <a:srgbClr val="CE9178"/>
                </a:solidFill>
                <a:latin typeface="Consolas"/>
              </a:rPr>
              <a:t>'parent-style'</a:t>
            </a:r>
            <a:r>
              <a:rPr lang="en-US" sz="2000" dirty="0" smtClean="0">
                <a:solidFill>
                  <a:srgbClr val="D4D4D4"/>
                </a:solidFill>
                <a:latin typeface="Consolas"/>
              </a:rPr>
              <a:t>, </a:t>
            </a:r>
            <a:r>
              <a:rPr lang="en-US" sz="2000" dirty="0" err="1" smtClean="0">
                <a:solidFill>
                  <a:srgbClr val="DCDCAA"/>
                </a:solidFill>
                <a:latin typeface="Consolas"/>
              </a:rPr>
              <a:t>get_template_directory_uri</a:t>
            </a:r>
            <a:r>
              <a:rPr lang="en-US" sz="2000" dirty="0" smtClean="0">
                <a:solidFill>
                  <a:srgbClr val="D4D4D4"/>
                </a:solidFill>
                <a:latin typeface="Consolas"/>
              </a:rPr>
              <a:t>() . </a:t>
            </a:r>
            <a:r>
              <a:rPr lang="en-US" sz="2000" dirty="0" smtClean="0">
                <a:solidFill>
                  <a:srgbClr val="CE9178"/>
                </a:solidFill>
                <a:latin typeface="Consolas"/>
              </a:rPr>
              <a:t>'/style.css'</a:t>
            </a:r>
            <a:r>
              <a:rPr lang="en-US" sz="2000" dirty="0" smtClean="0">
                <a:solidFill>
                  <a:srgbClr val="D4D4D4"/>
                </a:solidFill>
                <a:latin typeface="Consolas"/>
              </a:rPr>
              <a:t> </a:t>
            </a:r>
            <a:r>
              <a:rPr lang="en-US" sz="2000" dirty="0" smtClean="0">
                <a:solidFill>
                  <a:srgbClr val="D4D4D4"/>
                </a:solidFill>
                <a:latin typeface="Consolas"/>
              </a:rPr>
              <a:t>);</a:t>
            </a:r>
          </a:p>
          <a:p>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r>
              <a:rPr lang="en-US" sz="2000" dirty="0" err="1" smtClean="0">
                <a:solidFill>
                  <a:srgbClr val="DCDCAA"/>
                </a:solidFill>
                <a:latin typeface="Consolas"/>
              </a:rPr>
              <a:t>add_action</a:t>
            </a:r>
            <a:r>
              <a:rPr lang="en-US" sz="2000" dirty="0" smtClean="0">
                <a:solidFill>
                  <a:srgbClr val="D4D4D4"/>
                </a:solidFill>
                <a:latin typeface="Consolas"/>
              </a:rPr>
              <a:t>( </a:t>
            </a:r>
            <a:r>
              <a:rPr lang="en-US" sz="2000" dirty="0" smtClean="0">
                <a:solidFill>
                  <a:srgbClr val="CE9178"/>
                </a:solidFill>
                <a:latin typeface="Consolas"/>
              </a:rPr>
              <a:t>'</a:t>
            </a:r>
            <a:r>
              <a:rPr lang="en-US" sz="2000" dirty="0" err="1" smtClean="0">
                <a:solidFill>
                  <a:srgbClr val="CE9178"/>
                </a:solidFill>
                <a:latin typeface="Consolas"/>
              </a:rPr>
              <a:t>wp_enqueue_scripts</a:t>
            </a:r>
            <a:r>
              <a:rPr lang="en-US" sz="2000" dirty="0" smtClean="0">
                <a:solidFill>
                  <a:srgbClr val="CE9178"/>
                </a:solidFill>
                <a:latin typeface="Consolas"/>
              </a:rPr>
              <a:t>'</a:t>
            </a:r>
            <a:r>
              <a:rPr lang="en-US" sz="2000" dirty="0" smtClean="0">
                <a:solidFill>
                  <a:srgbClr val="D4D4D4"/>
                </a:solidFill>
                <a:latin typeface="Consolas"/>
              </a:rPr>
              <a:t>, </a:t>
            </a:r>
            <a:r>
              <a:rPr lang="en-US" sz="2000" dirty="0" smtClean="0">
                <a:solidFill>
                  <a:srgbClr val="CE9178"/>
                </a:solidFill>
                <a:latin typeface="Consolas"/>
              </a:rPr>
              <a:t>'</a:t>
            </a:r>
            <a:r>
              <a:rPr lang="en-US" sz="2000" dirty="0" err="1" smtClean="0">
                <a:solidFill>
                  <a:srgbClr val="CE9178"/>
                </a:solidFill>
                <a:latin typeface="Consolas"/>
              </a:rPr>
              <a:t>enqueue_parent_styles</a:t>
            </a:r>
            <a:r>
              <a:rPr lang="en-US" sz="2000" dirty="0" smtClean="0">
                <a:solidFill>
                  <a:srgbClr val="CE9178"/>
                </a:solidFill>
                <a:latin typeface="Consolas"/>
              </a:rPr>
              <a:t>'</a:t>
            </a:r>
            <a:r>
              <a:rPr lang="en-US" sz="2000" dirty="0" smtClean="0">
                <a:solidFill>
                  <a:srgbClr val="D4D4D4"/>
                </a:solidFill>
                <a:latin typeface="Consolas"/>
              </a:rPr>
              <a:t> </a:t>
            </a:r>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r>
              <a:rPr lang="en-US" sz="2000" dirty="0" err="1" smtClean="0">
                <a:solidFill>
                  <a:srgbClr val="DCDCAA"/>
                </a:solidFill>
                <a:latin typeface="Consolas"/>
              </a:rPr>
              <a:t>add_filter</a:t>
            </a:r>
            <a:r>
              <a:rPr lang="en-US" sz="2000" dirty="0" smtClean="0">
                <a:solidFill>
                  <a:srgbClr val="D4D4D4"/>
                </a:solidFill>
                <a:latin typeface="Consolas"/>
              </a:rPr>
              <a:t>( </a:t>
            </a:r>
            <a:r>
              <a:rPr lang="en-US" sz="2000" dirty="0" smtClean="0">
                <a:solidFill>
                  <a:srgbClr val="CE9178"/>
                </a:solidFill>
                <a:latin typeface="Consolas"/>
              </a:rPr>
              <a:t>'</a:t>
            </a:r>
            <a:r>
              <a:rPr lang="en-US" sz="2000" dirty="0" err="1" smtClean="0">
                <a:solidFill>
                  <a:srgbClr val="CE9178"/>
                </a:solidFill>
                <a:latin typeface="Consolas"/>
              </a:rPr>
              <a:t>auto_update_plugin</a:t>
            </a:r>
            <a:r>
              <a:rPr lang="en-US" sz="2000" dirty="0" smtClean="0">
                <a:solidFill>
                  <a:srgbClr val="CE9178"/>
                </a:solidFill>
                <a:latin typeface="Consolas"/>
              </a:rPr>
              <a:t>'</a:t>
            </a:r>
            <a:r>
              <a:rPr lang="en-US" sz="2000" dirty="0" smtClean="0">
                <a:solidFill>
                  <a:srgbClr val="D4D4D4"/>
                </a:solidFill>
                <a:latin typeface="Consolas"/>
              </a:rPr>
              <a:t>, </a:t>
            </a:r>
            <a:r>
              <a:rPr lang="en-US" sz="2000" dirty="0" smtClean="0">
                <a:solidFill>
                  <a:srgbClr val="CE9178"/>
                </a:solidFill>
                <a:latin typeface="Consolas"/>
              </a:rPr>
              <a:t>'__</a:t>
            </a:r>
            <a:r>
              <a:rPr lang="en-US" sz="2000" dirty="0" err="1" smtClean="0">
                <a:solidFill>
                  <a:srgbClr val="CE9178"/>
                </a:solidFill>
                <a:latin typeface="Consolas"/>
              </a:rPr>
              <a:t>return_true</a:t>
            </a:r>
            <a:r>
              <a:rPr lang="en-US" sz="2000" dirty="0" smtClean="0">
                <a:solidFill>
                  <a:srgbClr val="CE9178"/>
                </a:solidFill>
                <a:latin typeface="Consolas"/>
              </a:rPr>
              <a:t>'</a:t>
            </a:r>
            <a:r>
              <a:rPr lang="en-US" sz="2000" dirty="0" smtClean="0">
                <a:solidFill>
                  <a:srgbClr val="D4D4D4"/>
                </a:solidFill>
                <a:latin typeface="Consolas"/>
              </a:rPr>
              <a:t> </a:t>
            </a:r>
            <a:r>
              <a:rPr lang="en-US" sz="2000" dirty="0" smtClean="0">
                <a:solidFill>
                  <a:srgbClr val="D4D4D4"/>
                </a:solidFill>
                <a:latin typeface="Consolas"/>
              </a:rPr>
              <a:t>);</a:t>
            </a:r>
          </a:p>
          <a:p>
            <a:r>
              <a:rPr lang="en-US" sz="2000" dirty="0" err="1" smtClean="0">
                <a:solidFill>
                  <a:srgbClr val="DCDCAA"/>
                </a:solidFill>
                <a:latin typeface="Consolas"/>
              </a:rPr>
              <a:t>add_filter</a:t>
            </a:r>
            <a:r>
              <a:rPr lang="en-US" sz="2000" dirty="0" smtClean="0">
                <a:solidFill>
                  <a:srgbClr val="D4D4D4"/>
                </a:solidFill>
                <a:latin typeface="Consolas"/>
              </a:rPr>
              <a:t>( </a:t>
            </a:r>
            <a:r>
              <a:rPr lang="en-US" sz="2000" dirty="0" smtClean="0">
                <a:solidFill>
                  <a:srgbClr val="CE9178"/>
                </a:solidFill>
                <a:latin typeface="Consolas"/>
              </a:rPr>
              <a:t>'</a:t>
            </a:r>
            <a:r>
              <a:rPr lang="en-US" sz="2000" dirty="0" err="1" smtClean="0">
                <a:solidFill>
                  <a:srgbClr val="CE9178"/>
                </a:solidFill>
                <a:latin typeface="Consolas"/>
              </a:rPr>
              <a:t>auto_update_theme</a:t>
            </a:r>
            <a:r>
              <a:rPr lang="en-US" sz="2000" dirty="0" smtClean="0">
                <a:solidFill>
                  <a:srgbClr val="CE9178"/>
                </a:solidFill>
                <a:latin typeface="Consolas"/>
              </a:rPr>
              <a:t>'</a:t>
            </a:r>
            <a:r>
              <a:rPr lang="en-US" sz="2000" dirty="0" smtClean="0">
                <a:solidFill>
                  <a:srgbClr val="D4D4D4"/>
                </a:solidFill>
                <a:latin typeface="Consolas"/>
              </a:rPr>
              <a:t>, </a:t>
            </a:r>
            <a:r>
              <a:rPr lang="en-US" sz="2000" dirty="0" smtClean="0">
                <a:solidFill>
                  <a:srgbClr val="CE9178"/>
                </a:solidFill>
                <a:latin typeface="Consolas"/>
              </a:rPr>
              <a:t>'__</a:t>
            </a:r>
            <a:r>
              <a:rPr lang="en-US" sz="2000" dirty="0" err="1" smtClean="0">
                <a:solidFill>
                  <a:srgbClr val="CE9178"/>
                </a:solidFill>
                <a:latin typeface="Consolas"/>
              </a:rPr>
              <a:t>return_true</a:t>
            </a:r>
            <a:r>
              <a:rPr lang="en-US" sz="2000" dirty="0" smtClean="0">
                <a:solidFill>
                  <a:srgbClr val="CE9178"/>
                </a:solidFill>
                <a:latin typeface="Consolas"/>
              </a:rPr>
              <a:t>'</a:t>
            </a:r>
            <a:r>
              <a:rPr lang="en-US" sz="2000" dirty="0" smtClean="0">
                <a:solidFill>
                  <a:srgbClr val="D4D4D4"/>
                </a:solidFill>
                <a:latin typeface="Consolas"/>
              </a:rPr>
              <a:t> </a:t>
            </a:r>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endParaRPr lang="en-US" sz="2000" b="0" dirty="0">
              <a:solidFill>
                <a:srgbClr val="D4D4D4"/>
              </a:solidFill>
              <a:latin typeface="Consola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Create screenshot.png</a:t>
            </a:r>
            <a:endParaRPr lang="en-US" dirty="0"/>
          </a:p>
        </p:txBody>
      </p:sp>
      <p:sp>
        <p:nvSpPr>
          <p:cNvPr id="3" name="Content Placeholder 2"/>
          <p:cNvSpPr>
            <a:spLocks noGrp="1"/>
          </p:cNvSpPr>
          <p:nvPr>
            <p:ph idx="1"/>
          </p:nvPr>
        </p:nvSpPr>
        <p:spPr/>
        <p:txBody>
          <a:bodyPr/>
          <a:lstStyle/>
          <a:p>
            <a:r>
              <a:rPr lang="en-US" sz="2400" dirty="0" smtClean="0"/>
              <a:t>This step is optional.</a:t>
            </a:r>
          </a:p>
          <a:p>
            <a:r>
              <a:rPr lang="en-US" sz="2400" dirty="0" smtClean="0"/>
              <a:t>More information: </a:t>
            </a:r>
            <a:r>
              <a:rPr lang="en-US" sz="2400" dirty="0" smtClean="0">
                <a:hlinkClick r:id="rId2"/>
              </a:rPr>
              <a:t>https://developer.wordpress.org/themes/advanced-topics/child-themes/</a:t>
            </a:r>
            <a:endParaRPr lang="en-US" sz="2400" dirty="0" smtClean="0"/>
          </a:p>
          <a:p>
            <a:endParaRPr 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Writing Web Applications [3]</a:t>
            </a:r>
            <a:endParaRPr lang="en-US" dirty="0"/>
          </a:p>
        </p:txBody>
      </p:sp>
      <p:sp>
        <p:nvSpPr>
          <p:cNvPr id="3" name="Content Placeholder 2"/>
          <p:cNvSpPr>
            <a:spLocks noGrp="1"/>
          </p:cNvSpPr>
          <p:nvPr>
            <p:ph idx="1"/>
          </p:nvPr>
        </p:nvSpPr>
        <p:spPr/>
        <p:txBody>
          <a:bodyPr/>
          <a:lstStyle/>
          <a:p>
            <a:r>
              <a:rPr lang="en-US" sz="2400" dirty="0" err="1" smtClean="0"/>
              <a:t>WordPress</a:t>
            </a:r>
            <a:r>
              <a:rPr lang="en-US" sz="2400" dirty="0" smtClean="0"/>
              <a:t> ships with</a:t>
            </a:r>
          </a:p>
          <a:p>
            <a:pPr lvl="1"/>
            <a:r>
              <a:rPr lang="en-US" sz="2000" dirty="0" smtClean="0"/>
              <a:t>A </a:t>
            </a:r>
            <a:r>
              <a:rPr lang="en-US" sz="2000" i="1" dirty="0" smtClean="0">
                <a:solidFill>
                  <a:srgbClr val="C00000"/>
                </a:solidFill>
              </a:rPr>
              <a:t>database</a:t>
            </a:r>
            <a:r>
              <a:rPr lang="en-US" sz="2000" dirty="0" smtClean="0"/>
              <a:t> with a </a:t>
            </a:r>
            <a:r>
              <a:rPr lang="en-US" sz="2000" u="sng" dirty="0" smtClean="0"/>
              <a:t>flexible data schema</a:t>
            </a:r>
          </a:p>
          <a:p>
            <a:pPr lvl="1"/>
            <a:r>
              <a:rPr lang="en-US" sz="2000" dirty="0" smtClean="0"/>
              <a:t>A </a:t>
            </a:r>
            <a:r>
              <a:rPr lang="en-US" sz="2000" i="1" dirty="0" smtClean="0">
                <a:solidFill>
                  <a:srgbClr val="C00000"/>
                </a:solidFill>
              </a:rPr>
              <a:t>core application layer</a:t>
            </a:r>
            <a:r>
              <a:rPr lang="en-US" sz="2000" dirty="0" smtClean="0"/>
              <a:t> with </a:t>
            </a:r>
            <a:r>
              <a:rPr lang="en-US" sz="2000" u="sng" dirty="0" smtClean="0"/>
              <a:t>numerous hooks</a:t>
            </a:r>
            <a:r>
              <a:rPr lang="en-US" sz="2000" dirty="0" smtClean="0"/>
              <a:t> of which we can take advantage</a:t>
            </a:r>
          </a:p>
          <a:p>
            <a:pPr lvl="1"/>
            <a:r>
              <a:rPr lang="en-US" sz="2000" dirty="0" smtClean="0"/>
              <a:t>The ability to handle client-side, server-side, user-facing, and administrator-facing tasks</a:t>
            </a:r>
          </a:p>
          <a:p>
            <a:r>
              <a:rPr lang="en-US" sz="2400" dirty="0" smtClean="0"/>
              <a:t>It's </a:t>
            </a:r>
            <a:r>
              <a:rPr lang="en-US" sz="2400" dirty="0" smtClean="0"/>
              <a:t>an </a:t>
            </a:r>
            <a:r>
              <a:rPr lang="en-US" sz="2400" i="1" dirty="0" smtClean="0">
                <a:solidFill>
                  <a:srgbClr val="C00000"/>
                </a:solidFill>
              </a:rPr>
              <a:t>application unto itself</a:t>
            </a:r>
            <a:r>
              <a:rPr lang="en-US" sz="2400" dirty="0" smtClean="0"/>
              <a:t> that </a:t>
            </a:r>
            <a:r>
              <a:rPr lang="en-US" sz="2400" u="sng" dirty="0" smtClean="0"/>
              <a:t>can be extended</a:t>
            </a:r>
            <a:r>
              <a:rPr lang="en-US" sz="2400" dirty="0" smtClean="0"/>
              <a:t> into further applications.</a:t>
            </a:r>
          </a:p>
          <a:p>
            <a:r>
              <a:rPr lang="en-US" sz="2400" dirty="0" smtClean="0"/>
              <a:t>Things such as Rails, </a:t>
            </a:r>
            <a:r>
              <a:rPr lang="en-US" sz="2400" dirty="0" err="1" smtClean="0"/>
              <a:t>Laravel</a:t>
            </a:r>
            <a:r>
              <a:rPr lang="en-US" sz="2400" dirty="0" smtClean="0"/>
              <a:t>, </a:t>
            </a:r>
            <a:r>
              <a:rPr lang="en-US" sz="2400" dirty="0" err="1" smtClean="0"/>
              <a:t>CakePHP</a:t>
            </a:r>
            <a:r>
              <a:rPr lang="en-US" sz="2400" dirty="0" smtClean="0"/>
              <a:t>, </a:t>
            </a:r>
            <a:r>
              <a:rPr lang="en-US" sz="2400" dirty="0" err="1" smtClean="0"/>
              <a:t>Zend</a:t>
            </a:r>
            <a:r>
              <a:rPr lang="en-US" sz="2400" dirty="0" smtClean="0"/>
              <a:t>, and </a:t>
            </a:r>
            <a:r>
              <a:rPr lang="en-US" sz="2400" dirty="0" err="1" smtClean="0"/>
              <a:t>CodeIgnitor</a:t>
            </a:r>
            <a:r>
              <a:rPr lang="en-US" sz="2400" dirty="0" smtClean="0"/>
              <a:t> </a:t>
            </a:r>
            <a:r>
              <a:rPr lang="en-US" sz="2400" i="1" dirty="0" smtClean="0">
                <a:solidFill>
                  <a:srgbClr val="C00000"/>
                </a:solidFill>
              </a:rPr>
              <a:t>can't </a:t>
            </a:r>
            <a:r>
              <a:rPr lang="en-US" sz="2400" i="1" dirty="0" smtClean="0">
                <a:solidFill>
                  <a:srgbClr val="C00000"/>
                </a:solidFill>
              </a:rPr>
              <a:t>actually do anything</a:t>
            </a:r>
            <a:r>
              <a:rPr lang="en-US" sz="2400" dirty="0" smtClean="0"/>
              <a:t> until you give them </a:t>
            </a:r>
            <a:r>
              <a:rPr lang="en-US" sz="2400" u="sng" dirty="0" smtClean="0"/>
              <a:t>enough code</a:t>
            </a:r>
            <a:r>
              <a:rPr lang="en-US" sz="2400" dirty="0" smtClean="0"/>
              <a:t> to do so.</a:t>
            </a:r>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Components of </a:t>
            </a:r>
            <a:r>
              <a:rPr lang="en-US" dirty="0" err="1" smtClean="0"/>
              <a:t>WordPress</a:t>
            </a:r>
            <a:endParaRPr lang="en-US" dirty="0"/>
          </a:p>
        </p:txBody>
      </p:sp>
      <p:sp>
        <p:nvSpPr>
          <p:cNvPr id="3" name="Content Placeholder 2"/>
          <p:cNvSpPr>
            <a:spLocks noGrp="1"/>
          </p:cNvSpPr>
          <p:nvPr>
            <p:ph idx="1"/>
          </p:nvPr>
        </p:nvSpPr>
        <p:spPr/>
        <p:txBody>
          <a:bodyPr/>
          <a:lstStyle/>
          <a:p>
            <a:r>
              <a:rPr lang="en-US" sz="2200" dirty="0" smtClean="0"/>
              <a:t>The </a:t>
            </a:r>
            <a:r>
              <a:rPr lang="en-US" sz="2200" i="1" dirty="0" smtClean="0">
                <a:solidFill>
                  <a:srgbClr val="C00000"/>
                </a:solidFill>
              </a:rPr>
              <a:t>Database Layer</a:t>
            </a:r>
            <a:r>
              <a:rPr lang="en-US" sz="2200" dirty="0" smtClean="0"/>
              <a:t> is a </a:t>
            </a:r>
            <a:r>
              <a:rPr lang="en-US" sz="2200" dirty="0" err="1" smtClean="0"/>
              <a:t>MySQL</a:t>
            </a:r>
            <a:r>
              <a:rPr lang="en-US" sz="2200" dirty="0" smtClean="0"/>
              <a:t> database.</a:t>
            </a:r>
          </a:p>
          <a:p>
            <a:r>
              <a:rPr lang="en-US" sz="2200" dirty="0" smtClean="0"/>
              <a:t>The </a:t>
            </a:r>
            <a:r>
              <a:rPr lang="en-US" sz="2200" i="1" dirty="0" smtClean="0">
                <a:solidFill>
                  <a:srgbClr val="C00000"/>
                </a:solidFill>
              </a:rPr>
              <a:t>Application Layer</a:t>
            </a:r>
            <a:r>
              <a:rPr lang="en-US" sz="2200" dirty="0" smtClean="0"/>
              <a:t> - which some would consider </a:t>
            </a:r>
            <a:r>
              <a:rPr lang="en-US" sz="2200" dirty="0" err="1" smtClean="0"/>
              <a:t>WordPress</a:t>
            </a:r>
            <a:r>
              <a:rPr lang="en-US" sz="2200" dirty="0" smtClean="0"/>
              <a:t> itself - is written in PHP and handles a lot of the core operations for reading and writing to the data store all the while </a:t>
            </a:r>
            <a:r>
              <a:rPr lang="en-US" sz="2200" i="1" dirty="0" smtClean="0">
                <a:solidFill>
                  <a:srgbClr val="C00000"/>
                </a:solidFill>
              </a:rPr>
              <a:t>providing APIs</a:t>
            </a:r>
            <a:r>
              <a:rPr lang="en-US" sz="2200" dirty="0" smtClean="0"/>
              <a:t> for developers to take further advantage of it.</a:t>
            </a:r>
          </a:p>
          <a:p>
            <a:r>
              <a:rPr lang="en-US" sz="2200" dirty="0" smtClean="0"/>
              <a:t>The </a:t>
            </a:r>
            <a:r>
              <a:rPr lang="en-US" sz="2200" i="1" dirty="0" smtClean="0">
                <a:solidFill>
                  <a:srgbClr val="C00000"/>
                </a:solidFill>
              </a:rPr>
              <a:t>Presentation Layer</a:t>
            </a:r>
            <a:r>
              <a:rPr lang="en-US" sz="2200" dirty="0" smtClean="0"/>
              <a:t> uses basic CSS (at least for now), HTML (with some themes now using HTML5), </a:t>
            </a:r>
            <a:r>
              <a:rPr lang="en-US" sz="2200" dirty="0" err="1" smtClean="0"/>
              <a:t>jQuery</a:t>
            </a:r>
            <a:r>
              <a:rPr lang="en-US" sz="2200" dirty="0" smtClean="0"/>
              <a:t>, and with parts of the dashboard using Backbone.js.</a:t>
            </a:r>
          </a:p>
          <a:p>
            <a:r>
              <a:rPr lang="en-US" sz="2200" dirty="0" err="1" smtClean="0"/>
              <a:t>WordPress</a:t>
            </a:r>
            <a:r>
              <a:rPr lang="en-US" sz="2200" dirty="0" smtClean="0"/>
              <a:t> provides </a:t>
            </a:r>
            <a:r>
              <a:rPr lang="en-US" sz="2200" i="1" dirty="0" smtClean="0">
                <a:solidFill>
                  <a:srgbClr val="C00000"/>
                </a:solidFill>
              </a:rPr>
              <a:t>hooks</a:t>
            </a:r>
            <a:r>
              <a:rPr lang="en-US" sz="2200" dirty="0" smtClean="0"/>
              <a:t> which are literally </a:t>
            </a:r>
            <a:r>
              <a:rPr lang="en-US" sz="2200" u="sng" dirty="0" smtClean="0"/>
              <a:t>points in execution</a:t>
            </a:r>
            <a:r>
              <a:rPr lang="en-US" sz="2200" dirty="0" smtClean="0"/>
              <a:t> in which we can introduce our own functionality such that </a:t>
            </a:r>
            <a:r>
              <a:rPr lang="en-US" sz="2200" dirty="0" err="1" smtClean="0"/>
              <a:t>WordPress</a:t>
            </a:r>
            <a:r>
              <a:rPr lang="en-US" sz="2200" dirty="0" smtClean="0"/>
              <a:t> recognizes that "when </a:t>
            </a:r>
            <a:r>
              <a:rPr lang="en-US" sz="2200" u="sng" dirty="0" smtClean="0"/>
              <a:t>this event happens</a:t>
            </a:r>
            <a:r>
              <a:rPr lang="en-US" sz="2200" dirty="0" smtClean="0"/>
              <a:t>, I need to </a:t>
            </a:r>
            <a:r>
              <a:rPr lang="en-US" sz="2200" u="sng" dirty="0" smtClean="0"/>
              <a:t>fire these functions</a:t>
            </a:r>
            <a:r>
              <a:rPr lang="en-US" sz="2200" dirty="0" smtClean="0"/>
              <a:t>" where these functions are defined as whatever </a:t>
            </a:r>
            <a:r>
              <a:rPr lang="en-US" sz="2200" dirty="0" smtClean="0"/>
              <a:t>we've </a:t>
            </a:r>
            <a:r>
              <a:rPr lang="en-US" sz="2200" dirty="0" smtClean="0"/>
              <a:t>provided.</a:t>
            </a:r>
            <a:endParaRPr lang="en-US" sz="2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Understanding Events</a:t>
            </a:r>
            <a:endParaRPr lang="en-US" dirty="0"/>
          </a:p>
        </p:txBody>
      </p:sp>
      <p:sp>
        <p:nvSpPr>
          <p:cNvPr id="3" name="Content Placeholder 2"/>
          <p:cNvSpPr>
            <a:spLocks noGrp="1"/>
          </p:cNvSpPr>
          <p:nvPr>
            <p:ph idx="1"/>
          </p:nvPr>
        </p:nvSpPr>
        <p:spPr/>
        <p:txBody>
          <a:bodyPr/>
          <a:lstStyle/>
          <a:p>
            <a:r>
              <a:rPr lang="en-US" sz="2400" dirty="0" smtClean="0"/>
              <a:t>In the context of a </a:t>
            </a:r>
            <a:r>
              <a:rPr lang="en-US" sz="2400" i="1" dirty="0" smtClean="0">
                <a:solidFill>
                  <a:srgbClr val="C00000"/>
                </a:solidFill>
              </a:rPr>
              <a:t>single page load</a:t>
            </a:r>
            <a:r>
              <a:rPr lang="en-US" sz="2400" dirty="0" smtClean="0"/>
              <a:t>, there are a number of things that occur:</a:t>
            </a:r>
          </a:p>
          <a:p>
            <a:pPr lvl="1"/>
            <a:r>
              <a:rPr lang="en-US" sz="2000" dirty="0" smtClean="0"/>
              <a:t>JavaScript and </a:t>
            </a:r>
            <a:r>
              <a:rPr lang="en-US" sz="2000" dirty="0" err="1" smtClean="0"/>
              <a:t>stylesheets</a:t>
            </a:r>
            <a:r>
              <a:rPr lang="en-US" sz="2000" dirty="0" smtClean="0"/>
              <a:t> are </a:t>
            </a:r>
            <a:r>
              <a:rPr lang="en-US" sz="2000" dirty="0" smtClean="0"/>
              <a:t>retrieved.</a:t>
            </a:r>
            <a:endParaRPr lang="en-US" sz="2000" dirty="0" smtClean="0"/>
          </a:p>
          <a:p>
            <a:pPr lvl="1"/>
            <a:r>
              <a:rPr lang="en-US" sz="2000" dirty="0" smtClean="0"/>
              <a:t>Queries are run against the database to retrieve </a:t>
            </a:r>
            <a:r>
              <a:rPr lang="en-US" sz="2000" dirty="0" smtClean="0"/>
              <a:t>data.</a:t>
            </a:r>
            <a:endParaRPr lang="en-US" sz="2000" dirty="0" smtClean="0"/>
          </a:p>
          <a:p>
            <a:pPr lvl="1"/>
            <a:r>
              <a:rPr lang="en-US" sz="2000" dirty="0" smtClean="0"/>
              <a:t>The information from the database is rendered within the context of the </a:t>
            </a:r>
            <a:r>
              <a:rPr lang="en-US" sz="2000" dirty="0" smtClean="0"/>
              <a:t>markup.</a:t>
            </a:r>
            <a:endParaRPr lang="en-US" sz="2000" dirty="0" smtClean="0"/>
          </a:p>
          <a:p>
            <a:pPr lvl="1"/>
            <a:r>
              <a:rPr lang="en-US" sz="2000" dirty="0" smtClean="0"/>
              <a:t>The page is presented to the </a:t>
            </a:r>
            <a:r>
              <a:rPr lang="en-US" sz="2000" dirty="0" smtClean="0"/>
              <a:t>user.</a:t>
            </a:r>
            <a:endParaRPr lang="en-US" sz="2000" dirty="0" smtClean="0"/>
          </a:p>
          <a:p>
            <a:pPr lvl="1"/>
            <a:r>
              <a:rPr lang="en-US" sz="2000" dirty="0" smtClean="0"/>
              <a:t>...and so </a:t>
            </a:r>
            <a:r>
              <a:rPr lang="en-US" sz="2000" dirty="0" smtClean="0"/>
              <a:t>on.</a:t>
            </a:r>
            <a:endParaRPr lang="en-US" sz="2000" dirty="0" smtClean="0"/>
          </a:p>
          <a:p>
            <a:r>
              <a:rPr lang="en-US" sz="2400" dirty="0" smtClean="0"/>
              <a:t>All of these can be considered </a:t>
            </a:r>
            <a:r>
              <a:rPr lang="en-US" sz="2400" i="1" dirty="0" smtClean="0">
                <a:solidFill>
                  <a:srgbClr val="C00000"/>
                </a:solidFill>
              </a:rPr>
              <a:t>events</a:t>
            </a:r>
            <a:r>
              <a:rPr lang="en-US" sz="2400" dirty="0" smtClean="0"/>
              <a:t>, but each of these is made up of their own set of smaller events</a:t>
            </a:r>
            <a:r>
              <a:rPr lang="en-US" sz="2400" dirty="0" smtClean="0"/>
              <a:t>.</a:t>
            </a:r>
            <a:r>
              <a:rPr lang="en-US" sz="2400" dirty="0" smtClean="0">
                <a:hlinkClick r:id="rId2"/>
              </a:rPr>
              <a:t> </a:t>
            </a:r>
            <a:endParaRPr lang="en-US" sz="2400" dirty="0" smtClean="0">
              <a:hlinkClick r:id="rId2"/>
            </a:endParaRPr>
          </a:p>
          <a:p>
            <a:r>
              <a:rPr lang="en-US" sz="2400" dirty="0" smtClean="0">
                <a:hlinkClick r:id="rId2"/>
              </a:rPr>
              <a:t>http</a:t>
            </a:r>
            <a:r>
              <a:rPr lang="en-US" sz="2400" dirty="0" smtClean="0">
                <a:hlinkClick r:id="rId2"/>
              </a:rPr>
              <a:t>://</a:t>
            </a:r>
            <a:r>
              <a:rPr lang="en-US" sz="2400" dirty="0" smtClean="0">
                <a:hlinkClick r:id="rId2"/>
              </a:rPr>
              <a:t>codex.wordpress.org/Plugin_API/Action_Reference#Actions_Run_During_a_Typical_Request</a:t>
            </a:r>
            <a:endParaRPr lang="en-US" sz="2400" dirty="0" smtClean="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Hooks: </a:t>
            </a:r>
            <a:r>
              <a:rPr lang="en-US" dirty="0" smtClean="0"/>
              <a:t>Actions</a:t>
            </a:r>
            <a:endParaRPr lang="en-US" dirty="0"/>
          </a:p>
        </p:txBody>
      </p:sp>
      <p:sp>
        <p:nvSpPr>
          <p:cNvPr id="3" name="Content Placeholder 2"/>
          <p:cNvSpPr>
            <a:spLocks noGrp="1"/>
          </p:cNvSpPr>
          <p:nvPr>
            <p:ph idx="1"/>
          </p:nvPr>
        </p:nvSpPr>
        <p:spPr/>
        <p:txBody>
          <a:bodyPr/>
          <a:lstStyle/>
          <a:p>
            <a:r>
              <a:rPr lang="en-US" sz="2200" dirty="0" smtClean="0"/>
              <a:t>In the world of event-driven programming, </a:t>
            </a:r>
            <a:r>
              <a:rPr lang="en-US" sz="2200" i="1" dirty="0" smtClean="0">
                <a:solidFill>
                  <a:srgbClr val="C00000"/>
                </a:solidFill>
              </a:rPr>
              <a:t>events</a:t>
            </a:r>
            <a:r>
              <a:rPr lang="en-US" sz="2200" dirty="0" smtClean="0"/>
              <a:t> are usually exposed in such a way that they allow us to </a:t>
            </a:r>
            <a:r>
              <a:rPr lang="en-US" sz="2200" u="sng" dirty="0" smtClean="0"/>
              <a:t>hook</a:t>
            </a:r>
            <a:r>
              <a:rPr lang="en-US" sz="2200" dirty="0" smtClean="0"/>
              <a:t> into them and manipulate information before </a:t>
            </a:r>
            <a:r>
              <a:rPr lang="en-US" sz="2200" dirty="0" smtClean="0"/>
              <a:t>it's </a:t>
            </a:r>
            <a:r>
              <a:rPr lang="en-US" sz="2200" dirty="0" smtClean="0"/>
              <a:t>rendered to the client.</a:t>
            </a:r>
          </a:p>
          <a:p>
            <a:r>
              <a:rPr lang="en-US" sz="2200" dirty="0" smtClean="0"/>
              <a:t>In </a:t>
            </a:r>
            <a:r>
              <a:rPr lang="en-US" sz="2200" dirty="0" err="1" smtClean="0"/>
              <a:t>WordPress</a:t>
            </a:r>
            <a:r>
              <a:rPr lang="en-US" sz="2200" dirty="0" smtClean="0"/>
              <a:t>, </a:t>
            </a:r>
            <a:r>
              <a:rPr lang="en-US" sz="2200" i="1" dirty="0" smtClean="0">
                <a:solidFill>
                  <a:srgbClr val="C00000"/>
                </a:solidFill>
              </a:rPr>
              <a:t>hooks</a:t>
            </a:r>
            <a:r>
              <a:rPr lang="en-US" sz="2200" dirty="0" smtClean="0"/>
              <a:t> come in two varieties: Actions and Filters.</a:t>
            </a:r>
          </a:p>
          <a:p>
            <a:r>
              <a:rPr lang="en-US" sz="2200" i="1" dirty="0" smtClean="0">
                <a:solidFill>
                  <a:srgbClr val="C00000"/>
                </a:solidFill>
              </a:rPr>
              <a:t>Actions</a:t>
            </a:r>
            <a:r>
              <a:rPr lang="en-US" sz="2200" dirty="0" smtClean="0"/>
              <a:t> are a type of hook that signify that </a:t>
            </a:r>
            <a:r>
              <a:rPr lang="en-US" sz="2200" u="sng" dirty="0" smtClean="0"/>
              <a:t>something has happened</a:t>
            </a:r>
            <a:r>
              <a:rPr lang="en-US" sz="2200" dirty="0" smtClean="0"/>
              <a:t>, and when that something occurs, we have the ability to register our own functionality such that we can inject our own code (or even prevent certain things from happening).</a:t>
            </a:r>
          </a:p>
          <a:p>
            <a:r>
              <a:rPr lang="en-US" sz="2200" i="1" dirty="0" smtClean="0">
                <a:solidFill>
                  <a:srgbClr val="C00000"/>
                </a:solidFill>
              </a:rPr>
              <a:t>Actions</a:t>
            </a:r>
            <a:r>
              <a:rPr lang="en-US" sz="2200" dirty="0" smtClean="0"/>
              <a:t> are </a:t>
            </a:r>
            <a:r>
              <a:rPr lang="en-US" sz="2200" u="sng" dirty="0" smtClean="0"/>
              <a:t>functions that are fired</a:t>
            </a:r>
            <a:r>
              <a:rPr lang="en-US" sz="2200" dirty="0" smtClean="0"/>
              <a:t> as a result of an event that </a:t>
            </a:r>
            <a:r>
              <a:rPr lang="en-US" sz="2200" i="1" dirty="0" smtClean="0">
                <a:solidFill>
                  <a:srgbClr val="C00000"/>
                </a:solidFill>
              </a:rPr>
              <a:t>has occurred</a:t>
            </a:r>
            <a:r>
              <a:rPr lang="en-US" sz="2200" dirty="0" smtClean="0"/>
              <a:t> during the execution of </a:t>
            </a:r>
            <a:r>
              <a:rPr lang="en-US" sz="2200" dirty="0" err="1" smtClean="0"/>
              <a:t>WordPress</a:t>
            </a:r>
            <a:r>
              <a:rPr lang="en-US" sz="2200" dirty="0" smtClean="0"/>
              <a:t>.</a:t>
            </a:r>
            <a:endParaRPr lang="en-US" sz="2200" dirty="0" smtClean="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Consolas" pitchFamily="49" charset="0"/>
              </a:rPr>
              <a:t>add_action</a:t>
            </a:r>
            <a:endParaRPr lang="en-US" dirty="0"/>
          </a:p>
        </p:txBody>
      </p:sp>
      <p:sp>
        <p:nvSpPr>
          <p:cNvPr id="3" name="Content Placeholder 2"/>
          <p:cNvSpPr>
            <a:spLocks noGrp="1"/>
          </p:cNvSpPr>
          <p:nvPr>
            <p:ph idx="1"/>
          </p:nvPr>
        </p:nvSpPr>
        <p:spPr/>
        <p:txBody>
          <a:bodyPr/>
          <a:lstStyle/>
          <a:p>
            <a:r>
              <a:rPr lang="en-US" sz="2000" dirty="0" smtClean="0">
                <a:hlinkClick r:id="rId2"/>
              </a:rPr>
              <a:t>https://developer.wordpress.org/reference/functions/add_action/</a:t>
            </a:r>
            <a:endParaRPr lang="en-US" sz="2000" dirty="0" smtClean="0"/>
          </a:p>
          <a:p>
            <a:r>
              <a:rPr lang="en-US" sz="2000" dirty="0" smtClean="0"/>
              <a:t>Hooks a function on to a specific action.</a:t>
            </a:r>
          </a:p>
          <a:p>
            <a:pPr>
              <a:buNone/>
            </a:pPr>
            <a:r>
              <a:rPr lang="en-US" sz="1600" b="1" dirty="0" smtClean="0">
                <a:latin typeface="Consolas" pitchFamily="49" charset="0"/>
              </a:rPr>
              <a:t>	</a:t>
            </a:r>
            <a:r>
              <a:rPr lang="en-US" sz="1600" b="1" dirty="0" err="1" smtClean="0">
                <a:solidFill>
                  <a:srgbClr val="C00000"/>
                </a:solidFill>
                <a:latin typeface="Consolas" pitchFamily="49" charset="0"/>
              </a:rPr>
              <a:t>add_action</a:t>
            </a:r>
            <a:r>
              <a:rPr lang="en-US" sz="1600" b="1" dirty="0" smtClean="0">
                <a:solidFill>
                  <a:srgbClr val="C00000"/>
                </a:solidFill>
                <a:latin typeface="Consolas" pitchFamily="49" charset="0"/>
              </a:rPr>
              <a:t>( $hook, $</a:t>
            </a:r>
            <a:r>
              <a:rPr lang="en-US" sz="1600" b="1" dirty="0" err="1" smtClean="0">
                <a:solidFill>
                  <a:srgbClr val="C00000"/>
                </a:solidFill>
                <a:latin typeface="Consolas" pitchFamily="49" charset="0"/>
              </a:rPr>
              <a:t>function_to_add</a:t>
            </a:r>
            <a:r>
              <a:rPr lang="en-US" sz="1600" b="1" dirty="0" smtClean="0">
                <a:solidFill>
                  <a:srgbClr val="C00000"/>
                </a:solidFill>
                <a:latin typeface="Consolas" pitchFamily="49" charset="0"/>
              </a:rPr>
              <a:t>, $priority, $</a:t>
            </a:r>
            <a:r>
              <a:rPr lang="en-US" sz="1600" b="1" dirty="0" err="1" smtClean="0">
                <a:solidFill>
                  <a:srgbClr val="C00000"/>
                </a:solidFill>
                <a:latin typeface="Consolas" pitchFamily="49" charset="0"/>
              </a:rPr>
              <a:t>accepted_args</a:t>
            </a:r>
            <a:r>
              <a:rPr lang="en-US" sz="1600" b="1" dirty="0" smtClean="0">
                <a:solidFill>
                  <a:srgbClr val="C00000"/>
                </a:solidFill>
                <a:latin typeface="Consolas" pitchFamily="49" charset="0"/>
              </a:rPr>
              <a:t> );</a:t>
            </a:r>
          </a:p>
          <a:p>
            <a:r>
              <a:rPr lang="en-US" sz="2000" dirty="0" smtClean="0"/>
              <a:t>To find out the number and name of arguments for an action, simply search the code base for the matching </a:t>
            </a:r>
            <a:r>
              <a:rPr lang="en-US" sz="2000" dirty="0" err="1" smtClean="0">
                <a:latin typeface="Consolas" pitchFamily="49" charset="0"/>
              </a:rPr>
              <a:t>do_action</a:t>
            </a:r>
            <a:r>
              <a:rPr lang="en-US" sz="2000" dirty="0" smtClean="0">
                <a:latin typeface="Consolas" pitchFamily="49" charset="0"/>
              </a:rPr>
              <a:t>()</a:t>
            </a:r>
            <a:r>
              <a:rPr lang="en-US" sz="2000" dirty="0" smtClean="0"/>
              <a:t> call.</a:t>
            </a:r>
          </a:p>
          <a:p>
            <a:r>
              <a:rPr lang="en-US" sz="2000" dirty="0" smtClean="0"/>
              <a:t>For example, if you are hooking into </a:t>
            </a:r>
            <a:r>
              <a:rPr lang="en-US" sz="2000" dirty="0" smtClean="0"/>
              <a:t>'</a:t>
            </a:r>
            <a:r>
              <a:rPr lang="en-US" sz="2000" dirty="0" err="1" smtClean="0"/>
              <a:t>save_post</a:t>
            </a:r>
            <a:r>
              <a:rPr lang="en-US" sz="2000" dirty="0" smtClean="0"/>
              <a:t>', </a:t>
            </a:r>
            <a:r>
              <a:rPr lang="en-US" sz="2000" dirty="0" smtClean="0"/>
              <a:t>you would find it in post.php:</a:t>
            </a:r>
          </a:p>
          <a:p>
            <a:pPr>
              <a:buNone/>
            </a:pPr>
            <a:r>
              <a:rPr lang="en-US" sz="1800" dirty="0" smtClean="0">
                <a:latin typeface="Consolas" pitchFamily="49" charset="0"/>
              </a:rPr>
              <a:t>	</a:t>
            </a:r>
            <a:r>
              <a:rPr lang="en-US" sz="1800" dirty="0" err="1" smtClean="0">
                <a:solidFill>
                  <a:srgbClr val="C00000"/>
                </a:solidFill>
                <a:latin typeface="Consolas" pitchFamily="49" charset="0"/>
              </a:rPr>
              <a:t>do_action</a:t>
            </a:r>
            <a:r>
              <a:rPr lang="en-US" sz="1800" dirty="0" smtClean="0">
                <a:solidFill>
                  <a:srgbClr val="C00000"/>
                </a:solidFill>
                <a:latin typeface="Consolas" pitchFamily="49" charset="0"/>
              </a:rPr>
              <a:t>( </a:t>
            </a:r>
            <a:r>
              <a:rPr lang="en-US" sz="1800" dirty="0" smtClean="0">
                <a:solidFill>
                  <a:srgbClr val="C00000"/>
                </a:solidFill>
                <a:latin typeface="Consolas" pitchFamily="49" charset="0"/>
              </a:rPr>
              <a:t>'</a:t>
            </a:r>
            <a:r>
              <a:rPr lang="en-US" sz="1800" dirty="0" err="1" smtClean="0">
                <a:solidFill>
                  <a:srgbClr val="C00000"/>
                </a:solidFill>
                <a:latin typeface="Consolas" pitchFamily="49" charset="0"/>
              </a:rPr>
              <a:t>save_post</a:t>
            </a:r>
            <a:r>
              <a:rPr lang="en-US" sz="1800" dirty="0" smtClean="0">
                <a:solidFill>
                  <a:srgbClr val="C00000"/>
                </a:solidFill>
                <a:latin typeface="Consolas" pitchFamily="49" charset="0"/>
              </a:rPr>
              <a:t>', </a:t>
            </a:r>
            <a:r>
              <a:rPr lang="en-US" sz="1800" dirty="0" smtClean="0">
                <a:solidFill>
                  <a:srgbClr val="C00000"/>
                </a:solidFill>
                <a:latin typeface="Consolas" pitchFamily="49" charset="0"/>
              </a:rPr>
              <a:t>$</a:t>
            </a:r>
            <a:r>
              <a:rPr lang="en-US" sz="1800" dirty="0" err="1" smtClean="0">
                <a:solidFill>
                  <a:srgbClr val="C00000"/>
                </a:solidFill>
                <a:latin typeface="Consolas" pitchFamily="49" charset="0"/>
              </a:rPr>
              <a:t>post_ID</a:t>
            </a:r>
            <a:r>
              <a:rPr lang="en-US" sz="1800" dirty="0" smtClean="0">
                <a:solidFill>
                  <a:srgbClr val="C00000"/>
                </a:solidFill>
                <a:latin typeface="Consolas" pitchFamily="49" charset="0"/>
              </a:rPr>
              <a:t>, $post, $update );</a:t>
            </a:r>
          </a:p>
          <a:p>
            <a:r>
              <a:rPr lang="en-US" sz="2000" dirty="0" smtClean="0"/>
              <a:t>Your </a:t>
            </a:r>
            <a:r>
              <a:rPr lang="en-US" sz="2000" dirty="0" err="1" smtClean="0"/>
              <a:t>add_action</a:t>
            </a:r>
            <a:r>
              <a:rPr lang="en-US" sz="2000" dirty="0" smtClean="0"/>
              <a:t> call would look like:</a:t>
            </a:r>
          </a:p>
          <a:p>
            <a:pPr>
              <a:buNone/>
            </a:pPr>
            <a:r>
              <a:rPr lang="en-US" sz="1800" b="1" dirty="0" smtClean="0">
                <a:latin typeface="Consolas" pitchFamily="49" charset="0"/>
              </a:rPr>
              <a:t>	</a:t>
            </a:r>
            <a:r>
              <a:rPr lang="en-US" sz="1800" b="1" dirty="0" err="1" smtClean="0">
                <a:solidFill>
                  <a:srgbClr val="C00000"/>
                </a:solidFill>
                <a:latin typeface="Consolas" pitchFamily="49" charset="0"/>
              </a:rPr>
              <a:t>add_action</a:t>
            </a:r>
            <a:r>
              <a:rPr lang="en-US" sz="1800" b="1" dirty="0" smtClean="0">
                <a:solidFill>
                  <a:srgbClr val="C00000"/>
                </a:solidFill>
                <a:latin typeface="Consolas" pitchFamily="49" charset="0"/>
              </a:rPr>
              <a:t>( </a:t>
            </a:r>
            <a:r>
              <a:rPr lang="en-US" sz="1800" b="1" dirty="0" smtClean="0">
                <a:solidFill>
                  <a:srgbClr val="C00000"/>
                </a:solidFill>
                <a:latin typeface="Consolas" pitchFamily="49" charset="0"/>
              </a:rPr>
              <a:t>'</a:t>
            </a:r>
            <a:r>
              <a:rPr lang="en-US" sz="1800" b="1" dirty="0" err="1" smtClean="0">
                <a:solidFill>
                  <a:srgbClr val="C00000"/>
                </a:solidFill>
                <a:latin typeface="Consolas" pitchFamily="49" charset="0"/>
              </a:rPr>
              <a:t>save_post</a:t>
            </a:r>
            <a:r>
              <a:rPr lang="en-US" sz="1800" b="1" dirty="0" smtClean="0">
                <a:solidFill>
                  <a:srgbClr val="C00000"/>
                </a:solidFill>
                <a:latin typeface="Consolas" pitchFamily="49" charset="0"/>
              </a:rPr>
              <a:t>', '</a:t>
            </a:r>
            <a:r>
              <a:rPr lang="en-US" sz="1800" b="1" dirty="0" err="1" smtClean="0">
                <a:solidFill>
                  <a:srgbClr val="C00000"/>
                </a:solidFill>
                <a:latin typeface="Consolas" pitchFamily="49" charset="0"/>
              </a:rPr>
              <a:t>wpdocs_my_save_post</a:t>
            </a:r>
            <a:r>
              <a:rPr lang="en-US" sz="1800" b="1" dirty="0" smtClean="0">
                <a:solidFill>
                  <a:srgbClr val="C00000"/>
                </a:solidFill>
                <a:latin typeface="Consolas" pitchFamily="49" charset="0"/>
              </a:rPr>
              <a:t>', </a:t>
            </a:r>
            <a:r>
              <a:rPr lang="en-US" sz="1800" b="1" dirty="0" smtClean="0">
                <a:solidFill>
                  <a:srgbClr val="C00000"/>
                </a:solidFill>
                <a:latin typeface="Consolas" pitchFamily="49" charset="0"/>
              </a:rPr>
              <a:t>10, 3 );</a:t>
            </a:r>
          </a:p>
          <a:p>
            <a:r>
              <a:rPr lang="en-US" sz="2000" dirty="0" smtClean="0"/>
              <a:t>And your function would be:</a:t>
            </a:r>
          </a:p>
          <a:p>
            <a:pPr>
              <a:buNone/>
            </a:pPr>
            <a:r>
              <a:rPr lang="en-US" sz="1800" dirty="0" smtClean="0">
                <a:solidFill>
                  <a:srgbClr val="C00000"/>
                </a:solidFill>
                <a:latin typeface="Consolas" pitchFamily="49" charset="0"/>
              </a:rPr>
              <a:t>	function </a:t>
            </a:r>
            <a:r>
              <a:rPr lang="en-US" sz="1800" dirty="0" err="1" smtClean="0">
                <a:solidFill>
                  <a:srgbClr val="C00000"/>
                </a:solidFill>
                <a:latin typeface="Consolas" pitchFamily="49" charset="0"/>
              </a:rPr>
              <a:t>wpdocs_my_save_post</a:t>
            </a:r>
            <a:r>
              <a:rPr lang="en-US" sz="1800" dirty="0" smtClean="0">
                <a:solidFill>
                  <a:srgbClr val="C00000"/>
                </a:solidFill>
                <a:latin typeface="Consolas" pitchFamily="49" charset="0"/>
              </a:rPr>
              <a:t>( $</a:t>
            </a:r>
            <a:r>
              <a:rPr lang="en-US" sz="1800" dirty="0" err="1" smtClean="0">
                <a:solidFill>
                  <a:srgbClr val="C00000"/>
                </a:solidFill>
                <a:latin typeface="Consolas" pitchFamily="49" charset="0"/>
              </a:rPr>
              <a:t>post_ID</a:t>
            </a:r>
            <a:r>
              <a:rPr lang="en-US" sz="1800" dirty="0" smtClean="0">
                <a:solidFill>
                  <a:srgbClr val="C00000"/>
                </a:solidFill>
                <a:latin typeface="Consolas" pitchFamily="49" charset="0"/>
              </a:rPr>
              <a:t>, $post, $update ) {</a:t>
            </a:r>
          </a:p>
          <a:p>
            <a:pPr>
              <a:buNone/>
            </a:pPr>
            <a:r>
              <a:rPr lang="en-US" sz="1800" dirty="0" smtClean="0">
                <a:solidFill>
                  <a:srgbClr val="C00000"/>
                </a:solidFill>
                <a:latin typeface="Consolas" pitchFamily="49" charset="0"/>
              </a:rPr>
              <a:t>   	// do stuff here</a:t>
            </a:r>
          </a:p>
          <a:p>
            <a:pPr>
              <a:buNone/>
            </a:pPr>
            <a:r>
              <a:rPr lang="en-US" sz="1800" dirty="0" smtClean="0">
                <a:solidFill>
                  <a:srgbClr val="C00000"/>
                </a:solidFill>
                <a:latin typeface="Consolas" pitchFamily="49" charset="0"/>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Execution Order</a:t>
            </a:r>
            <a:endParaRPr lang="en-US" dirty="0"/>
          </a:p>
        </p:txBody>
      </p:sp>
      <p:sp>
        <p:nvSpPr>
          <p:cNvPr id="3" name="Content Placeholder 2"/>
          <p:cNvSpPr>
            <a:spLocks noGrp="1"/>
          </p:cNvSpPr>
          <p:nvPr>
            <p:ph idx="1"/>
          </p:nvPr>
        </p:nvSpPr>
        <p:spPr/>
        <p:txBody>
          <a:bodyPr/>
          <a:lstStyle/>
          <a:p>
            <a:r>
              <a:rPr lang="en-US" sz="1600" b="1" dirty="0" err="1" smtClean="0">
                <a:solidFill>
                  <a:srgbClr val="C00000"/>
                </a:solidFill>
                <a:latin typeface="Consolas" pitchFamily="49" charset="0"/>
              </a:rPr>
              <a:t>add_action</a:t>
            </a:r>
            <a:r>
              <a:rPr lang="en-US" sz="1600" b="1" dirty="0" smtClean="0">
                <a:solidFill>
                  <a:srgbClr val="C00000"/>
                </a:solidFill>
                <a:latin typeface="Consolas" pitchFamily="49" charset="0"/>
              </a:rPr>
              <a:t>( $hook, $</a:t>
            </a:r>
            <a:r>
              <a:rPr lang="en-US" sz="1600" b="1" dirty="0" err="1" smtClean="0">
                <a:solidFill>
                  <a:srgbClr val="C00000"/>
                </a:solidFill>
                <a:latin typeface="Consolas" pitchFamily="49" charset="0"/>
              </a:rPr>
              <a:t>function_to_add</a:t>
            </a:r>
            <a:r>
              <a:rPr lang="en-US" sz="1600" b="1" dirty="0" smtClean="0">
                <a:solidFill>
                  <a:srgbClr val="C00000"/>
                </a:solidFill>
                <a:latin typeface="Consolas" pitchFamily="49" charset="0"/>
              </a:rPr>
              <a:t>, $priority, $</a:t>
            </a:r>
            <a:r>
              <a:rPr lang="en-US" sz="1600" b="1" dirty="0" err="1" smtClean="0">
                <a:solidFill>
                  <a:srgbClr val="C00000"/>
                </a:solidFill>
                <a:latin typeface="Consolas" pitchFamily="49" charset="0"/>
              </a:rPr>
              <a:t>accepted_args</a:t>
            </a:r>
            <a:r>
              <a:rPr lang="en-US" sz="1600" b="1" dirty="0" smtClean="0">
                <a:solidFill>
                  <a:srgbClr val="C00000"/>
                </a:solidFill>
                <a:latin typeface="Consolas" pitchFamily="49" charset="0"/>
              </a:rPr>
              <a:t> );</a:t>
            </a:r>
          </a:p>
          <a:p>
            <a:r>
              <a:rPr lang="en-US" sz="2400" b="1" dirty="0" smtClean="0"/>
              <a:t>$priority</a:t>
            </a:r>
          </a:p>
          <a:p>
            <a:pPr lvl="1"/>
            <a:r>
              <a:rPr lang="en-US" sz="2400" dirty="0" smtClean="0"/>
              <a:t>(</a:t>
            </a:r>
            <a:r>
              <a:rPr lang="en-US" sz="2400" dirty="0" err="1" smtClean="0"/>
              <a:t>int</a:t>
            </a:r>
            <a:r>
              <a:rPr lang="en-US" sz="2400" dirty="0" smtClean="0"/>
              <a:t>) (Optional) Used to specify the order in which the functions associated with a particular action are executed.</a:t>
            </a:r>
          </a:p>
          <a:p>
            <a:pPr lvl="1"/>
            <a:r>
              <a:rPr lang="en-US" sz="2400" dirty="0" smtClean="0"/>
              <a:t>Lower numbers correspond with earlier execution, and functions with the same priority are executed in the order in which they were added to the action.</a:t>
            </a:r>
          </a:p>
          <a:p>
            <a:pPr lvl="1"/>
            <a:r>
              <a:rPr lang="en-US" sz="2400" dirty="0" smtClean="0"/>
              <a:t>Default value: 10</a:t>
            </a:r>
          </a:p>
          <a:p>
            <a:pPr lvl="1"/>
            <a:endParaRPr lang="en-US" sz="2000" b="1" dirty="0" smtClean="0">
              <a:solidFill>
                <a:srgbClr val="C00000"/>
              </a:solidFill>
              <a:latin typeface="Consolas"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sz="2000" dirty="0" smtClean="0"/>
              <a:t>To email some friends whenever an entry is posted on your blog:</a:t>
            </a:r>
            <a:endParaRPr lang="en-US" sz="2000" dirty="0"/>
          </a:p>
        </p:txBody>
      </p:sp>
      <p:sp>
        <p:nvSpPr>
          <p:cNvPr id="4" name="Rectangle 3"/>
          <p:cNvSpPr/>
          <p:nvPr/>
        </p:nvSpPr>
        <p:spPr>
          <a:xfrm>
            <a:off x="685800" y="2362200"/>
            <a:ext cx="7848600" cy="378565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latin typeface="Consolas" pitchFamily="49" charset="0"/>
              </a:rPr>
              <a:t>/**</a:t>
            </a:r>
          </a:p>
          <a:p>
            <a:r>
              <a:rPr lang="en-US" sz="1600" dirty="0" smtClean="0">
                <a:latin typeface="Consolas" pitchFamily="49" charset="0"/>
              </a:rPr>
              <a:t> * Send email to my friends.</a:t>
            </a:r>
          </a:p>
          <a:p>
            <a:r>
              <a:rPr lang="en-US" sz="1600" dirty="0" smtClean="0">
                <a:latin typeface="Consolas" pitchFamily="49" charset="0"/>
              </a:rPr>
              <a:t> *</a:t>
            </a:r>
          </a:p>
          <a:p>
            <a:r>
              <a:rPr lang="en-US" sz="1600" dirty="0" smtClean="0">
                <a:latin typeface="Consolas" pitchFamily="49" charset="0"/>
              </a:rPr>
              <a:t> * @</a:t>
            </a:r>
            <a:r>
              <a:rPr lang="en-US" sz="1600" dirty="0" err="1" smtClean="0">
                <a:latin typeface="Consolas" pitchFamily="49" charset="0"/>
              </a:rPr>
              <a:t>param</a:t>
            </a:r>
            <a:r>
              <a:rPr lang="en-US" sz="1600" dirty="0" smtClean="0">
                <a:latin typeface="Consolas" pitchFamily="49" charset="0"/>
              </a:rPr>
              <a:t> </a:t>
            </a:r>
            <a:r>
              <a:rPr lang="en-US" sz="1600" dirty="0" err="1" smtClean="0">
                <a:latin typeface="Consolas" pitchFamily="49" charset="0"/>
              </a:rPr>
              <a:t>int</a:t>
            </a:r>
            <a:r>
              <a:rPr lang="en-US" sz="1600" dirty="0" smtClean="0">
                <a:latin typeface="Consolas" pitchFamily="49" charset="0"/>
              </a:rPr>
              <a:t> $</a:t>
            </a:r>
            <a:r>
              <a:rPr lang="en-US" sz="1600" dirty="0" err="1" smtClean="0">
                <a:latin typeface="Consolas" pitchFamily="49" charset="0"/>
              </a:rPr>
              <a:t>post_id</a:t>
            </a:r>
            <a:r>
              <a:rPr lang="en-US" sz="1600" dirty="0" smtClean="0">
                <a:latin typeface="Consolas" pitchFamily="49" charset="0"/>
              </a:rPr>
              <a:t> Post ID.</a:t>
            </a:r>
          </a:p>
          <a:p>
            <a:r>
              <a:rPr lang="en-US" sz="1600" dirty="0" smtClean="0">
                <a:latin typeface="Consolas" pitchFamily="49" charset="0"/>
              </a:rPr>
              <a:t> * @return </a:t>
            </a:r>
            <a:r>
              <a:rPr lang="en-US" sz="1600" dirty="0" err="1" smtClean="0">
                <a:latin typeface="Consolas" pitchFamily="49" charset="0"/>
              </a:rPr>
              <a:t>int</a:t>
            </a:r>
            <a:r>
              <a:rPr lang="en-US" sz="1600" dirty="0" smtClean="0">
                <a:latin typeface="Consolas" pitchFamily="49" charset="0"/>
              </a:rPr>
              <a:t> Post ID.</a:t>
            </a:r>
          </a:p>
          <a:p>
            <a:r>
              <a:rPr lang="en-US" sz="1600" dirty="0" smtClean="0">
                <a:latin typeface="Consolas" pitchFamily="49" charset="0"/>
              </a:rPr>
              <a:t> */</a:t>
            </a:r>
          </a:p>
          <a:p>
            <a:r>
              <a:rPr lang="en-US" sz="1600" dirty="0" smtClean="0">
                <a:latin typeface="Consolas" pitchFamily="49" charset="0"/>
              </a:rPr>
              <a:t>function </a:t>
            </a:r>
            <a:r>
              <a:rPr lang="en-US" sz="1600" dirty="0" err="1" smtClean="0">
                <a:latin typeface="Consolas" pitchFamily="49" charset="0"/>
              </a:rPr>
              <a:t>wpdocs_email_friends</a:t>
            </a:r>
            <a:r>
              <a:rPr lang="en-US" sz="1600" dirty="0" smtClean="0">
                <a:latin typeface="Consolas" pitchFamily="49" charset="0"/>
              </a:rPr>
              <a:t>( $</a:t>
            </a:r>
            <a:r>
              <a:rPr lang="en-US" sz="1600" dirty="0" err="1" smtClean="0">
                <a:latin typeface="Consolas" pitchFamily="49" charset="0"/>
              </a:rPr>
              <a:t>post_id</a:t>
            </a:r>
            <a:r>
              <a:rPr lang="en-US" sz="1600" dirty="0" smtClean="0">
                <a:latin typeface="Consolas" pitchFamily="49" charset="0"/>
              </a:rPr>
              <a:t> ) {</a:t>
            </a:r>
          </a:p>
          <a:p>
            <a:r>
              <a:rPr lang="en-US" sz="1600" dirty="0" smtClean="0">
                <a:latin typeface="Consolas" pitchFamily="49" charset="0"/>
              </a:rPr>
              <a:t>    $friends = </a:t>
            </a:r>
            <a:r>
              <a:rPr lang="en-US" sz="1600" dirty="0" smtClean="0">
                <a:latin typeface="Consolas" pitchFamily="49" charset="0"/>
              </a:rPr>
              <a:t>'bob@example.org</a:t>
            </a:r>
            <a:r>
              <a:rPr lang="en-US" sz="1600" dirty="0" smtClean="0">
                <a:latin typeface="Consolas" pitchFamily="49" charset="0"/>
              </a:rPr>
              <a:t>, </a:t>
            </a:r>
            <a:r>
              <a:rPr lang="en-US" sz="1600" dirty="0" smtClean="0">
                <a:latin typeface="Consolas" pitchFamily="49" charset="0"/>
              </a:rPr>
              <a:t>susie@example.org';</a:t>
            </a:r>
            <a:endParaRPr lang="en-US" sz="1600" dirty="0" smtClean="0">
              <a:latin typeface="Consolas" pitchFamily="49" charset="0"/>
            </a:endParaRPr>
          </a:p>
          <a:p>
            <a:r>
              <a:rPr lang="en-US" sz="1600" dirty="0" smtClean="0">
                <a:latin typeface="Consolas" pitchFamily="49" charset="0"/>
              </a:rPr>
              <a:t>    </a:t>
            </a:r>
            <a:r>
              <a:rPr lang="en-US" sz="1600" dirty="0" err="1" smtClean="0">
                <a:latin typeface="Consolas" pitchFamily="49" charset="0"/>
              </a:rPr>
              <a:t>wp_mail</a:t>
            </a:r>
            <a:r>
              <a:rPr lang="en-US" sz="1600" dirty="0" smtClean="0">
                <a:latin typeface="Consolas" pitchFamily="49" charset="0"/>
              </a:rPr>
              <a:t>( $friends, "</a:t>
            </a:r>
            <a:r>
              <a:rPr lang="en-US" sz="1600" dirty="0" smtClean="0">
                <a:latin typeface="Consolas" pitchFamily="49" charset="0"/>
              </a:rPr>
              <a:t>sally's </a:t>
            </a:r>
            <a:r>
              <a:rPr lang="en-US" sz="1600" dirty="0" smtClean="0">
                <a:latin typeface="Consolas" pitchFamily="49" charset="0"/>
              </a:rPr>
              <a:t>blog updated", </a:t>
            </a:r>
            <a:r>
              <a:rPr lang="en-US" sz="1600" dirty="0" smtClean="0">
                <a:latin typeface="Consolas" pitchFamily="49" charset="0"/>
              </a:rPr>
              <a:t>'I </a:t>
            </a:r>
            <a:r>
              <a:rPr lang="en-US" sz="1600" dirty="0" smtClean="0">
                <a:latin typeface="Consolas" pitchFamily="49" charset="0"/>
              </a:rPr>
              <a:t>just put something on my blog: http://</a:t>
            </a:r>
            <a:r>
              <a:rPr lang="en-US" sz="1600" dirty="0" smtClean="0">
                <a:latin typeface="Consolas" pitchFamily="49" charset="0"/>
              </a:rPr>
              <a:t>blog.example.com' </a:t>
            </a:r>
            <a:r>
              <a:rPr lang="en-US" sz="1600" dirty="0" smtClean="0">
                <a:latin typeface="Consolas" pitchFamily="49" charset="0"/>
              </a:rPr>
              <a:t>);</a:t>
            </a:r>
          </a:p>
          <a:p>
            <a:r>
              <a:rPr lang="en-US" sz="1600" dirty="0" smtClean="0">
                <a:latin typeface="Consolas" pitchFamily="49" charset="0"/>
              </a:rPr>
              <a:t> </a:t>
            </a:r>
          </a:p>
          <a:p>
            <a:r>
              <a:rPr lang="en-US" sz="1600" dirty="0" smtClean="0">
                <a:latin typeface="Consolas" pitchFamily="49" charset="0"/>
              </a:rPr>
              <a:t>    return $</a:t>
            </a:r>
            <a:r>
              <a:rPr lang="en-US" sz="1600" dirty="0" err="1" smtClean="0">
                <a:latin typeface="Consolas" pitchFamily="49" charset="0"/>
              </a:rPr>
              <a:t>post_id</a:t>
            </a:r>
            <a:r>
              <a:rPr lang="en-US" sz="1600" dirty="0" smtClean="0">
                <a:latin typeface="Consolas" pitchFamily="49" charset="0"/>
              </a:rPr>
              <a:t>;</a:t>
            </a:r>
          </a:p>
          <a:p>
            <a:r>
              <a:rPr lang="en-US" sz="1600" dirty="0" smtClean="0">
                <a:latin typeface="Consolas" pitchFamily="49" charset="0"/>
              </a:rPr>
              <a:t>}</a:t>
            </a:r>
          </a:p>
          <a:p>
            <a:endParaRPr lang="en-US" sz="1600" dirty="0" smtClean="0">
              <a:latin typeface="Consolas" pitchFamily="49" charset="0"/>
            </a:endParaRPr>
          </a:p>
          <a:p>
            <a:r>
              <a:rPr lang="en-US" sz="1600" dirty="0" err="1" smtClean="0">
                <a:latin typeface="Consolas" pitchFamily="49" charset="0"/>
              </a:rPr>
              <a:t>add_action</a:t>
            </a:r>
            <a:r>
              <a:rPr lang="en-US" sz="1600" dirty="0" smtClean="0">
                <a:latin typeface="Consolas" pitchFamily="49" charset="0"/>
              </a:rPr>
              <a:t>( </a:t>
            </a:r>
            <a:r>
              <a:rPr lang="en-US" sz="1600" dirty="0" smtClean="0">
                <a:latin typeface="Consolas" pitchFamily="49" charset="0"/>
              </a:rPr>
              <a:t>'</a:t>
            </a:r>
            <a:r>
              <a:rPr lang="en-US" sz="1600" b="1" i="1" dirty="0" err="1" smtClean="0">
                <a:latin typeface="Consolas" pitchFamily="49" charset="0"/>
              </a:rPr>
              <a:t>publish_post</a:t>
            </a:r>
            <a:r>
              <a:rPr lang="en-US" sz="1600" dirty="0" smtClean="0">
                <a:latin typeface="Consolas" pitchFamily="49" charset="0"/>
              </a:rPr>
              <a:t>', '</a:t>
            </a:r>
            <a:r>
              <a:rPr lang="en-US" sz="1600" dirty="0" err="1" smtClean="0">
                <a:latin typeface="Consolas" pitchFamily="49" charset="0"/>
              </a:rPr>
              <a:t>wpdocs_email_friends</a:t>
            </a:r>
            <a:r>
              <a:rPr lang="en-US" sz="1600" dirty="0" smtClean="0">
                <a:latin typeface="Consolas" pitchFamily="49" charset="0"/>
              </a:rPr>
              <a:t>' </a:t>
            </a:r>
            <a:r>
              <a:rPr lang="en-US" sz="1600" dirty="0" smtClean="0">
                <a:latin typeface="Consolas" pitchFamily="49" charset="0"/>
              </a:rPr>
              <a:t>);</a:t>
            </a:r>
            <a:endParaRPr lang="en-US" sz="1600" dirty="0">
              <a:latin typeface="Consolas" pitchFamily="49"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Actions </a:t>
            </a:r>
            <a:r>
              <a:rPr lang="en-US" dirty="0" smtClean="0"/>
              <a:t>with a Class</a:t>
            </a:r>
            <a:endParaRPr lang="en-US" dirty="0"/>
          </a:p>
        </p:txBody>
      </p:sp>
      <p:sp>
        <p:nvSpPr>
          <p:cNvPr id="3" name="Content Placeholder 2"/>
          <p:cNvSpPr>
            <a:spLocks noGrp="1"/>
          </p:cNvSpPr>
          <p:nvPr>
            <p:ph idx="1"/>
          </p:nvPr>
        </p:nvSpPr>
        <p:spPr/>
        <p:txBody>
          <a:bodyPr/>
          <a:lstStyle/>
          <a:p>
            <a:r>
              <a:rPr lang="en-US" sz="2000" dirty="0" smtClean="0"/>
              <a:t>To use </a:t>
            </a:r>
            <a:r>
              <a:rPr lang="en-US" sz="2000" b="1" dirty="0" err="1" smtClean="0">
                <a:latin typeface="Consolas" pitchFamily="49" charset="0"/>
              </a:rPr>
              <a:t>add_action</a:t>
            </a:r>
            <a:r>
              <a:rPr lang="en-US" sz="2000" b="1" dirty="0" smtClean="0">
                <a:latin typeface="Consolas" pitchFamily="49" charset="0"/>
              </a:rPr>
              <a:t>()</a:t>
            </a:r>
            <a:r>
              <a:rPr lang="en-US" sz="2000" dirty="0" smtClean="0"/>
              <a:t> when your </a:t>
            </a:r>
            <a:r>
              <a:rPr lang="en-US" sz="2000" dirty="0" err="1" smtClean="0"/>
              <a:t>plugin</a:t>
            </a:r>
            <a:r>
              <a:rPr lang="en-US" sz="2000" dirty="0" smtClean="0"/>
              <a:t> or theme is built using classes, you need to use the array callable </a:t>
            </a:r>
            <a:r>
              <a:rPr lang="en-US" sz="2000" dirty="0" smtClean="0"/>
              <a:t>syntax.</a:t>
            </a:r>
          </a:p>
          <a:p>
            <a:r>
              <a:rPr lang="en-US" sz="2000" dirty="0" smtClean="0"/>
              <a:t>You </a:t>
            </a:r>
            <a:r>
              <a:rPr lang="en-US" sz="2000" dirty="0" smtClean="0"/>
              <a:t>would pass the function to </a:t>
            </a:r>
            <a:r>
              <a:rPr lang="en-US" sz="2000" b="1" dirty="0" err="1" smtClean="0">
                <a:latin typeface="Consolas" pitchFamily="49" charset="0"/>
              </a:rPr>
              <a:t>add_action</a:t>
            </a:r>
            <a:r>
              <a:rPr lang="en-US" sz="2000" b="1" dirty="0" smtClean="0">
                <a:latin typeface="Consolas" pitchFamily="49" charset="0"/>
              </a:rPr>
              <a:t>()</a:t>
            </a:r>
            <a:r>
              <a:rPr lang="en-US" sz="2000" dirty="0" smtClean="0"/>
              <a:t> as an array, with $this as the first element, then the name of the class method, like so:</a:t>
            </a:r>
            <a:endParaRPr lang="en-US" sz="2000" dirty="0"/>
          </a:p>
        </p:txBody>
      </p:sp>
      <p:sp>
        <p:nvSpPr>
          <p:cNvPr id="4" name="Rectangle 3"/>
          <p:cNvSpPr/>
          <p:nvPr/>
        </p:nvSpPr>
        <p:spPr>
          <a:xfrm>
            <a:off x="685800" y="3139857"/>
            <a:ext cx="7848600" cy="3108543"/>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400" dirty="0" smtClean="0">
                <a:latin typeface="Consolas" pitchFamily="49" charset="0"/>
              </a:rPr>
              <a:t>class </a:t>
            </a:r>
            <a:r>
              <a:rPr lang="en-US" sz="1400" dirty="0" err="1" smtClean="0">
                <a:latin typeface="Consolas" pitchFamily="49" charset="0"/>
              </a:rPr>
              <a:t>WP_Docs_Class</a:t>
            </a:r>
            <a:r>
              <a:rPr lang="en-US" sz="1400" dirty="0" smtClean="0">
                <a:latin typeface="Consolas" pitchFamily="49" charset="0"/>
              </a:rPr>
              <a:t> {</a:t>
            </a:r>
          </a:p>
          <a:p>
            <a:r>
              <a:rPr lang="en-US" sz="1400" dirty="0" smtClean="0">
                <a:latin typeface="Consolas" pitchFamily="49" charset="0"/>
              </a:rPr>
              <a:t>    public function __construct() {</a:t>
            </a:r>
          </a:p>
          <a:p>
            <a:r>
              <a:rPr lang="en-US" sz="1400" dirty="0" smtClean="0">
                <a:latin typeface="Consolas" pitchFamily="49" charset="0"/>
              </a:rPr>
              <a:t>        </a:t>
            </a:r>
            <a:r>
              <a:rPr lang="en-US" sz="1400" dirty="0" err="1" smtClean="0">
                <a:latin typeface="Consolas" pitchFamily="49" charset="0"/>
              </a:rPr>
              <a:t>add_action</a:t>
            </a:r>
            <a:r>
              <a:rPr lang="en-US" sz="1400" dirty="0" smtClean="0">
                <a:latin typeface="Consolas" pitchFamily="49" charset="0"/>
              </a:rPr>
              <a:t>( </a:t>
            </a:r>
            <a:r>
              <a:rPr lang="en-US" sz="1400" dirty="0" smtClean="0">
                <a:latin typeface="Consolas" pitchFamily="49" charset="0"/>
              </a:rPr>
              <a:t>'</a:t>
            </a:r>
            <a:r>
              <a:rPr lang="en-US" sz="1400" dirty="0" err="1" smtClean="0">
                <a:latin typeface="Consolas" pitchFamily="49" charset="0"/>
              </a:rPr>
              <a:t>save_post</a:t>
            </a:r>
            <a:r>
              <a:rPr lang="en-US" sz="1400" dirty="0" smtClean="0">
                <a:latin typeface="Consolas" pitchFamily="49" charset="0"/>
              </a:rPr>
              <a:t>', </a:t>
            </a:r>
            <a:r>
              <a:rPr lang="en-US" sz="1400" b="1" i="1" dirty="0" smtClean="0">
                <a:latin typeface="Consolas" pitchFamily="49" charset="0"/>
              </a:rPr>
              <a:t>array</a:t>
            </a:r>
            <a:r>
              <a:rPr lang="en-US" sz="1400" dirty="0" smtClean="0">
                <a:latin typeface="Consolas" pitchFamily="49" charset="0"/>
              </a:rPr>
              <a:t>( $</a:t>
            </a:r>
            <a:r>
              <a:rPr lang="en-US" sz="1400" b="1" i="1" dirty="0" smtClean="0">
                <a:latin typeface="Consolas" pitchFamily="49" charset="0"/>
              </a:rPr>
              <a:t>this</a:t>
            </a:r>
            <a:r>
              <a:rPr lang="en-US" sz="1400" dirty="0" smtClean="0">
                <a:latin typeface="Consolas" pitchFamily="49" charset="0"/>
              </a:rPr>
              <a:t>, </a:t>
            </a:r>
            <a:r>
              <a:rPr lang="en-US" sz="1400" dirty="0" smtClean="0">
                <a:latin typeface="Consolas" pitchFamily="49" charset="0"/>
              </a:rPr>
              <a:t>'</a:t>
            </a:r>
            <a:r>
              <a:rPr lang="en-US" sz="1400" dirty="0" err="1" smtClean="0">
                <a:latin typeface="Consolas" pitchFamily="49" charset="0"/>
              </a:rPr>
              <a:t>wpdocs_save_posts</a:t>
            </a:r>
            <a:r>
              <a:rPr lang="en-US" sz="1400" dirty="0" smtClean="0">
                <a:latin typeface="Consolas" pitchFamily="49" charset="0"/>
              </a:rPr>
              <a:t>' </a:t>
            </a:r>
            <a:r>
              <a:rPr lang="en-US" sz="1400" dirty="0" smtClean="0">
                <a:latin typeface="Consolas" pitchFamily="49" charset="0"/>
              </a:rPr>
              <a:t>) );</a:t>
            </a:r>
          </a:p>
          <a:p>
            <a:r>
              <a:rPr lang="en-US" sz="1400" dirty="0" smtClean="0">
                <a:latin typeface="Consolas" pitchFamily="49" charset="0"/>
              </a:rPr>
              <a:t>    }</a:t>
            </a:r>
          </a:p>
          <a:p>
            <a:r>
              <a:rPr lang="en-US" sz="1400" dirty="0" smtClean="0">
                <a:latin typeface="Consolas" pitchFamily="49" charset="0"/>
              </a:rPr>
              <a:t> </a:t>
            </a:r>
          </a:p>
          <a:p>
            <a:r>
              <a:rPr lang="en-US" sz="1400" dirty="0" smtClean="0">
                <a:latin typeface="Consolas" pitchFamily="49" charset="0"/>
              </a:rPr>
              <a:t>    /**</a:t>
            </a:r>
          </a:p>
          <a:p>
            <a:r>
              <a:rPr lang="en-US" sz="1400" dirty="0" smtClean="0">
                <a:latin typeface="Consolas" pitchFamily="49" charset="0"/>
              </a:rPr>
              <a:t>     * Handle saving post data.</a:t>
            </a:r>
          </a:p>
          <a:p>
            <a:r>
              <a:rPr lang="en-US" sz="1400" dirty="0" smtClean="0">
                <a:latin typeface="Consolas" pitchFamily="49" charset="0"/>
              </a:rPr>
              <a:t>     */</a:t>
            </a:r>
          </a:p>
          <a:p>
            <a:r>
              <a:rPr lang="en-US" sz="1400" dirty="0" smtClean="0">
                <a:latin typeface="Consolas" pitchFamily="49" charset="0"/>
              </a:rPr>
              <a:t>    public function </a:t>
            </a:r>
            <a:r>
              <a:rPr lang="en-US" sz="1400" dirty="0" err="1" smtClean="0">
                <a:latin typeface="Consolas" pitchFamily="49" charset="0"/>
              </a:rPr>
              <a:t>wpdocs_save_posts</a:t>
            </a:r>
            <a:r>
              <a:rPr lang="en-US" sz="1400" dirty="0" smtClean="0">
                <a:latin typeface="Consolas" pitchFamily="49" charset="0"/>
              </a:rPr>
              <a:t>() {</a:t>
            </a:r>
          </a:p>
          <a:p>
            <a:r>
              <a:rPr lang="en-US" sz="1400" dirty="0" smtClean="0">
                <a:latin typeface="Consolas" pitchFamily="49" charset="0"/>
              </a:rPr>
              <a:t>        // do stuff here...</a:t>
            </a:r>
          </a:p>
          <a:p>
            <a:r>
              <a:rPr lang="en-US" sz="1400" dirty="0" smtClean="0">
                <a:latin typeface="Consolas" pitchFamily="49" charset="0"/>
              </a:rPr>
              <a:t>    }</a:t>
            </a:r>
          </a:p>
          <a:p>
            <a:r>
              <a:rPr lang="en-US" sz="1400" dirty="0" smtClean="0">
                <a:latin typeface="Consolas" pitchFamily="49" charset="0"/>
              </a:rPr>
              <a:t>}</a:t>
            </a:r>
          </a:p>
          <a:p>
            <a:r>
              <a:rPr lang="en-US" sz="1400" dirty="0" smtClean="0">
                <a:latin typeface="Consolas" pitchFamily="49" charset="0"/>
              </a:rPr>
              <a:t> </a:t>
            </a:r>
          </a:p>
          <a:p>
            <a:r>
              <a:rPr lang="en-US" sz="1400" dirty="0" smtClean="0">
                <a:latin typeface="Consolas" pitchFamily="49" charset="0"/>
              </a:rPr>
              <a:t>$</a:t>
            </a:r>
            <a:r>
              <a:rPr lang="en-US" sz="1400" dirty="0" err="1" smtClean="0">
                <a:latin typeface="Consolas" pitchFamily="49" charset="0"/>
              </a:rPr>
              <a:t>wpdocsclass</a:t>
            </a:r>
            <a:r>
              <a:rPr lang="en-US" sz="1400" dirty="0" smtClean="0">
                <a:latin typeface="Consolas" pitchFamily="49" charset="0"/>
              </a:rPr>
              <a:t> = new </a:t>
            </a:r>
            <a:r>
              <a:rPr lang="en-US" sz="1400" dirty="0" err="1" smtClean="0">
                <a:latin typeface="Consolas" pitchFamily="49" charset="0"/>
              </a:rPr>
              <a:t>WP_Docs_Class</a:t>
            </a:r>
            <a:r>
              <a:rPr lang="en-US" sz="1400" dirty="0" smtClean="0">
                <a:latin typeface="Consolas" pitchFamily="49" charset="0"/>
              </a:rPr>
              <a:t>();</a:t>
            </a:r>
            <a:endParaRPr lang="en-US" sz="1400" dirty="0">
              <a:latin typeface="Consolas" pitchFamily="49"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Consolas" pitchFamily="49" charset="0"/>
              </a:rPr>
              <a:t>wp_enqueue_scripts</a:t>
            </a:r>
            <a:endParaRPr lang="en-US" dirty="0"/>
          </a:p>
        </p:txBody>
      </p:sp>
      <p:sp>
        <p:nvSpPr>
          <p:cNvPr id="3" name="Content Placeholder 2"/>
          <p:cNvSpPr>
            <a:spLocks noGrp="1"/>
          </p:cNvSpPr>
          <p:nvPr>
            <p:ph idx="1"/>
          </p:nvPr>
        </p:nvSpPr>
        <p:spPr/>
        <p:txBody>
          <a:bodyPr/>
          <a:lstStyle/>
          <a:p>
            <a:r>
              <a:rPr lang="en-US" sz="2200" dirty="0" smtClean="0"/>
              <a:t>This fires during the page loading sequence and allows you to tell </a:t>
            </a:r>
            <a:r>
              <a:rPr lang="en-US" sz="2200" dirty="0" err="1" smtClean="0"/>
              <a:t>WordPress</a:t>
            </a:r>
            <a:r>
              <a:rPr lang="en-US" sz="2200" dirty="0" smtClean="0"/>
              <a:t> what source files it should include as well as </a:t>
            </a:r>
            <a:r>
              <a:rPr lang="en-US" sz="2200" i="1" dirty="0" smtClean="0">
                <a:solidFill>
                  <a:srgbClr val="C00000"/>
                </a:solidFill>
              </a:rPr>
              <a:t>where</a:t>
            </a:r>
            <a:r>
              <a:rPr lang="en-US" sz="2200" dirty="0" smtClean="0"/>
              <a:t> it should include it (as in, in the header or the footer).</a:t>
            </a:r>
          </a:p>
          <a:p>
            <a:endParaRPr lang="en-US" sz="2200" dirty="0"/>
          </a:p>
        </p:txBody>
      </p:sp>
      <p:sp>
        <p:nvSpPr>
          <p:cNvPr id="4" name="Rectangle 3"/>
          <p:cNvSpPr/>
          <p:nvPr/>
        </p:nvSpPr>
        <p:spPr>
          <a:xfrm>
            <a:off x="685800" y="2895600"/>
            <a:ext cx="7848600" cy="347787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2000" dirty="0" smtClean="0">
                <a:latin typeface="Consolas" pitchFamily="49" charset="0"/>
                <a:cs typeface="Consolas" pitchFamily="49" charset="0"/>
              </a:rPr>
              <a:t>// somewhere in my </a:t>
            </a:r>
            <a:r>
              <a:rPr lang="en-US" sz="2000" dirty="0" smtClean="0">
                <a:latin typeface="Consolas" pitchFamily="49" charset="0"/>
                <a:cs typeface="Consolas" pitchFamily="49" charset="0"/>
              </a:rPr>
              <a:t>theme's </a:t>
            </a:r>
            <a:r>
              <a:rPr lang="en-US" sz="2000" dirty="0" smtClean="0">
                <a:latin typeface="Consolas" pitchFamily="49" charset="0"/>
                <a:cs typeface="Consolas" pitchFamily="49" charset="0"/>
              </a:rPr>
              <a:t>functions.php</a:t>
            </a:r>
          </a:p>
          <a:p>
            <a:r>
              <a:rPr lang="en-US" sz="2000" dirty="0" smtClean="0">
                <a:latin typeface="Consolas" pitchFamily="49" charset="0"/>
                <a:cs typeface="Consolas" pitchFamily="49" charset="0"/>
              </a:rPr>
              <a:t>function </a:t>
            </a:r>
            <a:r>
              <a:rPr lang="en-US" sz="2000" dirty="0" err="1" smtClean="0">
                <a:latin typeface="Consolas" pitchFamily="49" charset="0"/>
                <a:cs typeface="Consolas" pitchFamily="49" charset="0"/>
              </a:rPr>
              <a:t>example_add_theme_scripts</a:t>
            </a:r>
            <a:r>
              <a:rPr lang="en-US" sz="2000" dirty="0" smtClean="0">
                <a:latin typeface="Consolas" pitchFamily="49" charset="0"/>
                <a:cs typeface="Consolas" pitchFamily="49" charset="0"/>
              </a:rPr>
              <a:t>() {</a:t>
            </a:r>
          </a:p>
          <a:p>
            <a:r>
              <a:rPr lang="en-US" sz="2000" dirty="0" smtClean="0">
                <a:latin typeface="Consolas" pitchFamily="49" charset="0"/>
                <a:cs typeface="Consolas" pitchFamily="49" charset="0"/>
              </a:rPr>
              <a:t>    </a:t>
            </a:r>
            <a:r>
              <a:rPr lang="en-US" sz="2000" dirty="0" err="1" smtClean="0">
                <a:latin typeface="Consolas" pitchFamily="49" charset="0"/>
                <a:cs typeface="Consolas" pitchFamily="49" charset="0"/>
              </a:rPr>
              <a:t>wp_enqueue_script</a:t>
            </a:r>
            <a:r>
              <a:rPr lang="en-US" sz="2000" dirty="0" smtClean="0">
                <a:latin typeface="Consolas" pitchFamily="49" charset="0"/>
                <a:cs typeface="Consolas" pitchFamily="49" charset="0"/>
              </a:rPr>
              <a:t>( </a:t>
            </a:r>
            <a:r>
              <a:rPr lang="en-US" sz="2000" dirty="0" smtClean="0">
                <a:latin typeface="Consolas" pitchFamily="49" charset="0"/>
                <a:cs typeface="Consolas" pitchFamily="49" charset="0"/>
              </a:rPr>
              <a:t>'re-example-script', </a:t>
            </a:r>
            <a:r>
              <a:rPr lang="en-US" sz="2000" dirty="0" smtClean="0">
                <a:latin typeface="Consolas" pitchFamily="49" charset="0"/>
                <a:cs typeface="Consolas" pitchFamily="49" charset="0"/>
              </a:rPr>
              <a:t>	</a:t>
            </a:r>
            <a:r>
              <a:rPr lang="en-US" sz="2000" dirty="0" err="1" smtClean="0">
                <a:latin typeface="Consolas" pitchFamily="49" charset="0"/>
                <a:cs typeface="Consolas" pitchFamily="49" charset="0"/>
              </a:rPr>
              <a:t>get_stylesheet_directory_uri</a:t>
            </a:r>
            <a:r>
              <a:rPr lang="en-US" sz="2000" dirty="0" smtClean="0">
                <a:latin typeface="Consolas" pitchFamily="49" charset="0"/>
                <a:cs typeface="Consolas" pitchFamily="49" charset="0"/>
              </a:rPr>
              <a:t>() . </a:t>
            </a:r>
            <a:r>
              <a:rPr lang="en-US" sz="2000" dirty="0" smtClean="0">
                <a:latin typeface="Consolas" pitchFamily="49" charset="0"/>
                <a:cs typeface="Consolas" pitchFamily="49" charset="0"/>
              </a:rPr>
              <a:t>'/</a:t>
            </a:r>
            <a:r>
              <a:rPr lang="en-US" sz="2000" dirty="0" err="1" smtClean="0">
                <a:latin typeface="Consolas" pitchFamily="49" charset="0"/>
                <a:cs typeface="Consolas" pitchFamily="49" charset="0"/>
              </a:rPr>
              <a:t>js</a:t>
            </a:r>
            <a:r>
              <a:rPr lang="en-US" sz="2000" dirty="0" smtClean="0">
                <a:latin typeface="Consolas" pitchFamily="49" charset="0"/>
                <a:cs typeface="Consolas" pitchFamily="49" charset="0"/>
              </a:rPr>
              <a:t>/example.js',</a:t>
            </a:r>
            <a:endParaRPr lang="en-US" sz="2000" dirty="0" smtClean="0">
              <a:latin typeface="Consolas" pitchFamily="49" charset="0"/>
              <a:cs typeface="Consolas" pitchFamily="49" charset="0"/>
            </a:endParaRPr>
          </a:p>
          <a:p>
            <a:r>
              <a:rPr lang="en-US" sz="2000" dirty="0" smtClean="0">
                <a:latin typeface="Consolas" pitchFamily="49" charset="0"/>
                <a:cs typeface="Consolas" pitchFamily="49" charset="0"/>
              </a:rPr>
              <a:t>	array( </a:t>
            </a:r>
            <a:r>
              <a:rPr lang="en-US" sz="2000" dirty="0" smtClean="0">
                <a:latin typeface="Consolas" pitchFamily="49" charset="0"/>
                <a:cs typeface="Consolas" pitchFamily="49" charset="0"/>
              </a:rPr>
              <a:t>'</a:t>
            </a:r>
            <a:r>
              <a:rPr lang="en-US" sz="2000" dirty="0" err="1" smtClean="0">
                <a:latin typeface="Consolas" pitchFamily="49" charset="0"/>
                <a:cs typeface="Consolas" pitchFamily="49" charset="0"/>
              </a:rPr>
              <a:t>jquery</a:t>
            </a:r>
            <a:r>
              <a:rPr lang="en-US" sz="2000" dirty="0" smtClean="0">
                <a:latin typeface="Consolas" pitchFamily="49" charset="0"/>
                <a:cs typeface="Consolas" pitchFamily="49" charset="0"/>
              </a:rPr>
              <a:t>' </a:t>
            </a:r>
            <a:r>
              <a:rPr lang="en-US" sz="2000" dirty="0" smtClean="0">
                <a:latin typeface="Consolas" pitchFamily="49" charset="0"/>
                <a:cs typeface="Consolas" pitchFamily="49" charset="0"/>
              </a:rPr>
              <a:t>),</a:t>
            </a:r>
          </a:p>
          <a:p>
            <a:r>
              <a:rPr lang="en-US" sz="2000" dirty="0" smtClean="0">
                <a:latin typeface="Consolas" pitchFamily="49" charset="0"/>
                <a:cs typeface="Consolas" pitchFamily="49" charset="0"/>
              </a:rPr>
              <a:t>	 </a:t>
            </a:r>
            <a:r>
              <a:rPr lang="en-US" sz="2000" dirty="0" smtClean="0">
                <a:latin typeface="Consolas" pitchFamily="49" charset="0"/>
                <a:cs typeface="Consolas" pitchFamily="49" charset="0"/>
              </a:rPr>
              <a:t>'1.0.0', </a:t>
            </a:r>
            <a:r>
              <a:rPr lang="en-US" sz="2000" dirty="0" smtClean="0">
                <a:latin typeface="Consolas" pitchFamily="49" charset="0"/>
                <a:cs typeface="Consolas" pitchFamily="49" charset="0"/>
              </a:rPr>
              <a:t>FALSE );</a:t>
            </a:r>
          </a:p>
          <a:p>
            <a:r>
              <a:rPr lang="en-US" sz="2000" dirty="0" smtClean="0">
                <a:latin typeface="Consolas" pitchFamily="49" charset="0"/>
                <a:cs typeface="Consolas" pitchFamily="49" charset="0"/>
              </a:rPr>
              <a:t>}</a:t>
            </a:r>
          </a:p>
          <a:p>
            <a:endParaRPr lang="en-US" sz="2000" dirty="0" smtClean="0">
              <a:latin typeface="Consolas" pitchFamily="49" charset="0"/>
              <a:cs typeface="Consolas" pitchFamily="49" charset="0"/>
            </a:endParaRPr>
          </a:p>
          <a:p>
            <a:r>
              <a:rPr lang="en-US" sz="2000" dirty="0" err="1" smtClean="0">
                <a:latin typeface="Consolas" pitchFamily="49" charset="0"/>
                <a:cs typeface="Consolas" pitchFamily="49" charset="0"/>
              </a:rPr>
              <a:t>add_action</a:t>
            </a:r>
            <a:r>
              <a:rPr lang="en-US" sz="2000" dirty="0" smtClean="0">
                <a:latin typeface="Consolas" pitchFamily="49" charset="0"/>
                <a:cs typeface="Consolas" pitchFamily="49" charset="0"/>
              </a:rPr>
              <a:t>( </a:t>
            </a:r>
            <a:r>
              <a:rPr lang="en-US" sz="2000" dirty="0" smtClean="0">
                <a:latin typeface="Consolas" pitchFamily="49" charset="0"/>
                <a:cs typeface="Consolas" pitchFamily="49" charset="0"/>
              </a:rPr>
              <a:t>'</a:t>
            </a:r>
            <a:r>
              <a:rPr lang="en-US" sz="2000" b="1" i="1" dirty="0" err="1" smtClean="0">
                <a:latin typeface="Consolas" pitchFamily="49" charset="0"/>
                <a:cs typeface="Consolas" pitchFamily="49" charset="0"/>
              </a:rPr>
              <a:t>wp_enqueue_scripts</a:t>
            </a:r>
            <a:r>
              <a:rPr lang="en-US" sz="2000" dirty="0" smtClean="0">
                <a:latin typeface="Consolas" pitchFamily="49" charset="0"/>
                <a:cs typeface="Consolas" pitchFamily="49" charset="0"/>
              </a:rPr>
              <a:t>', '</a:t>
            </a:r>
            <a:r>
              <a:rPr lang="en-US" sz="2000" dirty="0" err="1" smtClean="0">
                <a:latin typeface="Consolas" pitchFamily="49" charset="0"/>
                <a:cs typeface="Consolas" pitchFamily="49" charset="0"/>
              </a:rPr>
              <a:t>re_add_theme_scripts</a:t>
            </a:r>
            <a:r>
              <a:rPr lang="en-US" sz="2000" dirty="0" smtClean="0">
                <a:latin typeface="Consolas" pitchFamily="49" charset="0"/>
                <a:cs typeface="Consolas" pitchFamily="49" charset="0"/>
              </a:rPr>
              <a:t>' </a:t>
            </a:r>
            <a:r>
              <a:rPr lang="en-US" sz="2000" dirty="0" smtClean="0">
                <a:latin typeface="Consolas" pitchFamily="49" charset="0"/>
                <a:cs typeface="Consolas" pitchFamily="49" charset="0"/>
              </a:rPr>
              <a:t>);</a:t>
            </a:r>
            <a:endParaRPr lang="en-US" sz="2000" dirty="0">
              <a:latin typeface="Consolas" pitchFamily="49" charset="0"/>
              <a:cs typeface="Consolas" pitchFamily="49"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(in a Theme Child)</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714500" y="1600200"/>
            <a:ext cx="5524500" cy="2606675"/>
          </a:xfrm>
          <a:prstGeom prst="rect">
            <a:avLst/>
          </a:prstGeom>
          <a:noFill/>
          <a:ln w="9525">
            <a:noFill/>
            <a:miter lim="800000"/>
            <a:headEnd/>
            <a:tailEnd/>
          </a:ln>
        </p:spPr>
      </p:pic>
      <p:sp>
        <p:nvSpPr>
          <p:cNvPr id="7" name="Rectangle 6"/>
          <p:cNvSpPr/>
          <p:nvPr/>
        </p:nvSpPr>
        <p:spPr>
          <a:xfrm>
            <a:off x="685800" y="4495800"/>
            <a:ext cx="7848600" cy="193899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200" dirty="0" smtClean="0">
                <a:latin typeface="Consolas" pitchFamily="49" charset="0"/>
                <a:cs typeface="Consolas" pitchFamily="49" charset="0"/>
              </a:rPr>
              <a:t>function </a:t>
            </a:r>
            <a:r>
              <a:rPr lang="en-US" sz="1200" dirty="0" err="1" smtClean="0">
                <a:latin typeface="Consolas" pitchFamily="49" charset="0"/>
                <a:cs typeface="Consolas" pitchFamily="49" charset="0"/>
              </a:rPr>
              <a:t>copg_load_scripts</a:t>
            </a:r>
            <a:r>
              <a:rPr lang="en-US" sz="1200" dirty="0" smtClean="0">
                <a:latin typeface="Consolas" pitchFamily="49" charset="0"/>
                <a:cs typeface="Consolas" pitchFamily="49" charset="0"/>
              </a:rPr>
              <a:t>($hook) {</a:t>
            </a:r>
          </a:p>
          <a:p>
            <a:r>
              <a:rPr lang="en-US" sz="1200" dirty="0" smtClean="0">
                <a:latin typeface="Consolas" pitchFamily="49" charset="0"/>
                <a:cs typeface="Consolas" pitchFamily="49" charset="0"/>
              </a:rPr>
              <a:t>	/**</a:t>
            </a:r>
          </a:p>
          <a:p>
            <a:r>
              <a:rPr lang="en-US" sz="1200" dirty="0" smtClean="0">
                <a:latin typeface="Consolas" pitchFamily="49" charset="0"/>
                <a:cs typeface="Consolas" pitchFamily="49" charset="0"/>
              </a:rPr>
              <a:t>	 * Never worry about cache again!</a:t>
            </a:r>
          </a:p>
          <a:p>
            <a:r>
              <a:rPr lang="en-US" sz="1200" dirty="0" smtClean="0">
                <a:latin typeface="Consolas" pitchFamily="49" charset="0"/>
                <a:cs typeface="Consolas" pitchFamily="49" charset="0"/>
              </a:rPr>
              <a:t>	 */</a:t>
            </a:r>
          </a:p>
          <a:p>
            <a:r>
              <a:rPr lang="en-US" sz="1200" dirty="0" smtClean="0">
                <a:latin typeface="Consolas" pitchFamily="49" charset="0"/>
                <a:cs typeface="Consolas" pitchFamily="49" charset="0"/>
              </a:rPr>
              <a:t>    // $</a:t>
            </a:r>
            <a:r>
              <a:rPr lang="en-US" sz="1200" dirty="0" err="1" smtClean="0">
                <a:latin typeface="Consolas" pitchFamily="49" charset="0"/>
                <a:cs typeface="Consolas" pitchFamily="49" charset="0"/>
              </a:rPr>
              <a:t>my_js_ver</a:t>
            </a:r>
            <a:r>
              <a:rPr lang="en-US" sz="1200" dirty="0" smtClean="0">
                <a:latin typeface="Consolas" pitchFamily="49" charset="0"/>
                <a:cs typeface="Consolas" pitchFamily="49" charset="0"/>
              </a:rPr>
              <a:t>  = date("</a:t>
            </a:r>
            <a:r>
              <a:rPr lang="en-US" sz="1200" dirty="0" err="1" smtClean="0">
                <a:latin typeface="Consolas" pitchFamily="49" charset="0"/>
                <a:cs typeface="Consolas" pitchFamily="49" charset="0"/>
              </a:rPr>
              <a:t>ymd-Gis</a:t>
            </a:r>
            <a:r>
              <a:rPr lang="en-US" sz="1200" dirty="0" smtClean="0">
                <a:latin typeface="Consolas" pitchFamily="49" charset="0"/>
                <a:cs typeface="Consolas" pitchFamily="49" charset="0"/>
              </a:rPr>
              <a:t>", </a:t>
            </a:r>
            <a:r>
              <a:rPr lang="en-US" sz="1200" dirty="0" err="1" smtClean="0">
                <a:latin typeface="Consolas" pitchFamily="49" charset="0"/>
                <a:cs typeface="Consolas" pitchFamily="49" charset="0"/>
              </a:rPr>
              <a:t>filemtime</a:t>
            </a:r>
            <a:r>
              <a:rPr lang="en-US" sz="1200" dirty="0" smtClean="0">
                <a:latin typeface="Consolas" pitchFamily="49" charset="0"/>
                <a:cs typeface="Consolas" pitchFamily="49" charset="0"/>
              </a:rPr>
              <a:t>( </a:t>
            </a:r>
            <a:r>
              <a:rPr lang="en-US" sz="1200" dirty="0" smtClean="0">
                <a:latin typeface="Consolas" pitchFamily="49" charset="0"/>
                <a:cs typeface="Consolas" pitchFamily="49" charset="0"/>
              </a:rPr>
              <a:t>'</a:t>
            </a:r>
            <a:r>
              <a:rPr lang="en-US" sz="1200" dirty="0" err="1" smtClean="0">
                <a:latin typeface="Consolas" pitchFamily="49" charset="0"/>
                <a:cs typeface="Consolas" pitchFamily="49" charset="0"/>
              </a:rPr>
              <a:t>js</a:t>
            </a:r>
            <a:r>
              <a:rPr lang="en-US" sz="1200" dirty="0" smtClean="0">
                <a:latin typeface="Consolas" pitchFamily="49" charset="0"/>
                <a:cs typeface="Consolas" pitchFamily="49" charset="0"/>
              </a:rPr>
              <a:t>/</a:t>
            </a:r>
            <a:r>
              <a:rPr lang="en-US" sz="1200" dirty="0" err="1" smtClean="0">
                <a:latin typeface="Consolas" pitchFamily="49" charset="0"/>
                <a:cs typeface="Consolas" pitchFamily="49" charset="0"/>
              </a:rPr>
              <a:t>jquery.maskedinput.js</a:t>
            </a:r>
            <a:r>
              <a:rPr lang="en-US" sz="1200" dirty="0" smtClean="0">
                <a:latin typeface="Consolas" pitchFamily="49" charset="0"/>
                <a:cs typeface="Consolas" pitchFamily="49" charset="0"/>
              </a:rPr>
              <a:t>' </a:t>
            </a:r>
            <a:r>
              <a:rPr lang="en-US" sz="1200" dirty="0" smtClean="0">
                <a:latin typeface="Consolas" pitchFamily="49" charset="0"/>
                <a:cs typeface="Consolas" pitchFamily="49" charset="0"/>
              </a:rPr>
              <a:t>));     </a:t>
            </a:r>
          </a:p>
          <a:p>
            <a:r>
              <a:rPr lang="en-US" sz="1200" dirty="0" smtClean="0">
                <a:latin typeface="Consolas" pitchFamily="49" charset="0"/>
                <a:cs typeface="Consolas" pitchFamily="49" charset="0"/>
              </a:rPr>
              <a:t>    </a:t>
            </a:r>
            <a:r>
              <a:rPr lang="en-US" sz="1200" dirty="0" err="1" smtClean="0">
                <a:latin typeface="Consolas" pitchFamily="49" charset="0"/>
                <a:cs typeface="Consolas" pitchFamily="49" charset="0"/>
              </a:rPr>
              <a:t>wp_enqueue_script</a:t>
            </a:r>
            <a:r>
              <a:rPr lang="en-US" sz="1200" dirty="0" smtClean="0">
                <a:latin typeface="Consolas" pitchFamily="49" charset="0"/>
                <a:cs typeface="Consolas" pitchFamily="49" charset="0"/>
              </a:rPr>
              <a:t>( </a:t>
            </a:r>
            <a:r>
              <a:rPr lang="en-US" sz="1200" dirty="0" smtClean="0">
                <a:latin typeface="Consolas" pitchFamily="49" charset="0"/>
                <a:cs typeface="Consolas" pitchFamily="49" charset="0"/>
              </a:rPr>
              <a:t>'</a:t>
            </a:r>
            <a:r>
              <a:rPr lang="en-US" sz="1200" dirty="0" err="1" smtClean="0">
                <a:latin typeface="Consolas" pitchFamily="49" charset="0"/>
                <a:cs typeface="Consolas" pitchFamily="49" charset="0"/>
              </a:rPr>
              <a:t>jquery.maskedinput.js</a:t>
            </a:r>
            <a:r>
              <a:rPr lang="en-US" sz="1200" dirty="0" smtClean="0">
                <a:latin typeface="Consolas" pitchFamily="49" charset="0"/>
                <a:cs typeface="Consolas" pitchFamily="49" charset="0"/>
              </a:rPr>
              <a:t>', </a:t>
            </a:r>
            <a:r>
              <a:rPr lang="en-US" sz="1200" dirty="0" err="1" smtClean="0">
                <a:latin typeface="Consolas" pitchFamily="49" charset="0"/>
                <a:cs typeface="Consolas" pitchFamily="49" charset="0"/>
              </a:rPr>
              <a:t>get_stylesheet_directory_uri</a:t>
            </a:r>
            <a:r>
              <a:rPr lang="en-US" sz="1200" dirty="0" smtClean="0">
                <a:latin typeface="Consolas" pitchFamily="49" charset="0"/>
                <a:cs typeface="Consolas" pitchFamily="49" charset="0"/>
              </a:rPr>
              <a:t>() .  </a:t>
            </a:r>
            <a:r>
              <a:rPr lang="en-US" sz="1200" dirty="0" smtClean="0">
                <a:latin typeface="Consolas" pitchFamily="49" charset="0"/>
                <a:cs typeface="Consolas" pitchFamily="49" charset="0"/>
              </a:rPr>
              <a:t>'/</a:t>
            </a:r>
            <a:r>
              <a:rPr lang="en-US" sz="1200" dirty="0" err="1" smtClean="0">
                <a:latin typeface="Consolas" pitchFamily="49" charset="0"/>
                <a:cs typeface="Consolas" pitchFamily="49" charset="0"/>
              </a:rPr>
              <a:t>js</a:t>
            </a:r>
            <a:r>
              <a:rPr lang="en-US" sz="1200" dirty="0" smtClean="0">
                <a:latin typeface="Consolas" pitchFamily="49" charset="0"/>
                <a:cs typeface="Consolas" pitchFamily="49" charset="0"/>
              </a:rPr>
              <a:t>/</a:t>
            </a:r>
            <a:r>
              <a:rPr lang="en-US" sz="1200" dirty="0" err="1" smtClean="0">
                <a:latin typeface="Consolas" pitchFamily="49" charset="0"/>
                <a:cs typeface="Consolas" pitchFamily="49" charset="0"/>
              </a:rPr>
              <a:t>jquery.maskedinput.js</a:t>
            </a:r>
            <a:r>
              <a:rPr lang="en-US" sz="1200" dirty="0" smtClean="0">
                <a:latin typeface="Consolas" pitchFamily="49" charset="0"/>
                <a:cs typeface="Consolas" pitchFamily="49" charset="0"/>
              </a:rPr>
              <a:t>', </a:t>
            </a:r>
            <a:r>
              <a:rPr lang="en-US" sz="1200" dirty="0" smtClean="0">
                <a:latin typeface="Consolas" pitchFamily="49" charset="0"/>
                <a:cs typeface="Consolas" pitchFamily="49" charset="0"/>
              </a:rPr>
              <a:t>array</a:t>
            </a:r>
            <a:r>
              <a:rPr lang="en-US" sz="1200" dirty="0" smtClean="0">
                <a:latin typeface="Consolas" pitchFamily="49" charset="0"/>
                <a:cs typeface="Consolas" pitchFamily="49" charset="0"/>
              </a:rPr>
              <a:t>('</a:t>
            </a:r>
            <a:r>
              <a:rPr lang="en-US" sz="1200" dirty="0" err="1" smtClean="0">
                <a:latin typeface="Consolas" pitchFamily="49" charset="0"/>
                <a:cs typeface="Consolas" pitchFamily="49" charset="0"/>
              </a:rPr>
              <a:t>jquery</a:t>
            </a:r>
            <a:r>
              <a:rPr lang="en-US" sz="1200" dirty="0" smtClean="0">
                <a:latin typeface="Consolas" pitchFamily="49" charset="0"/>
                <a:cs typeface="Consolas" pitchFamily="49" charset="0"/>
              </a:rPr>
              <a:t>')); </a:t>
            </a:r>
            <a:endParaRPr lang="en-US" sz="1200" dirty="0" smtClean="0">
              <a:latin typeface="Consolas" pitchFamily="49" charset="0"/>
              <a:cs typeface="Consolas" pitchFamily="49" charset="0"/>
            </a:endParaRPr>
          </a:p>
          <a:p>
            <a:r>
              <a:rPr lang="en-US" sz="1200" dirty="0" smtClean="0">
                <a:latin typeface="Consolas" pitchFamily="49" charset="0"/>
                <a:cs typeface="Consolas" pitchFamily="49" charset="0"/>
              </a:rPr>
              <a:t>}</a:t>
            </a:r>
          </a:p>
          <a:p>
            <a:endParaRPr lang="en-US" sz="1200" dirty="0" smtClean="0">
              <a:latin typeface="Consolas" pitchFamily="49" charset="0"/>
              <a:cs typeface="Consolas" pitchFamily="49" charset="0"/>
            </a:endParaRPr>
          </a:p>
          <a:p>
            <a:r>
              <a:rPr lang="en-US" sz="1200" dirty="0" err="1" smtClean="0">
                <a:latin typeface="Consolas" pitchFamily="49" charset="0"/>
                <a:cs typeface="Consolas" pitchFamily="49" charset="0"/>
              </a:rPr>
              <a:t>add_action</a:t>
            </a:r>
            <a:r>
              <a:rPr lang="en-US" sz="1200" dirty="0" smtClean="0">
                <a:latin typeface="Consolas" pitchFamily="49" charset="0"/>
                <a:cs typeface="Consolas" pitchFamily="49" charset="0"/>
              </a:rPr>
              <a:t>('</a:t>
            </a:r>
            <a:r>
              <a:rPr lang="en-US" sz="1200" dirty="0" err="1" smtClean="0">
                <a:latin typeface="Consolas" pitchFamily="49" charset="0"/>
                <a:cs typeface="Consolas" pitchFamily="49" charset="0"/>
              </a:rPr>
              <a:t>wp_enqueue_scripts</a:t>
            </a:r>
            <a:r>
              <a:rPr lang="en-US" sz="1200" dirty="0" smtClean="0">
                <a:latin typeface="Consolas" pitchFamily="49" charset="0"/>
                <a:cs typeface="Consolas" pitchFamily="49" charset="0"/>
              </a:rPr>
              <a:t>', '</a:t>
            </a:r>
            <a:r>
              <a:rPr lang="en-US" sz="1200" dirty="0" err="1" smtClean="0">
                <a:latin typeface="Consolas" pitchFamily="49" charset="0"/>
                <a:cs typeface="Consolas" pitchFamily="49" charset="0"/>
              </a:rPr>
              <a:t>copg_load_scripts</a:t>
            </a:r>
            <a:r>
              <a:rPr lang="en-US" sz="1200" dirty="0" smtClean="0">
                <a:latin typeface="Consolas" pitchFamily="49" charset="0"/>
                <a:cs typeface="Consolas" pitchFamily="49" charset="0"/>
              </a:rPr>
              <a:t>');</a:t>
            </a:r>
            <a:endParaRPr lang="en-US" sz="1200" dirty="0">
              <a:latin typeface="Consolas" pitchFamily="49" charset="0"/>
              <a:cs typeface="Consolas" pitchFamily="49"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Hooks: </a:t>
            </a:r>
            <a:r>
              <a:rPr lang="en-US" dirty="0" smtClean="0"/>
              <a:t>Filters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Filters</a:t>
            </a:r>
            <a:r>
              <a:rPr lang="en-US" sz="2400" dirty="0" smtClean="0"/>
              <a:t>, on the other hand, a type of hook that allow us to </a:t>
            </a:r>
            <a:r>
              <a:rPr lang="en-US" sz="2400" u="sng" dirty="0" smtClean="0"/>
              <a:t>receive a certain piece of data</a:t>
            </a:r>
            <a:r>
              <a:rPr lang="en-US" sz="2400" dirty="0" smtClean="0"/>
              <a:t>, </a:t>
            </a:r>
            <a:r>
              <a:rPr lang="en-US" sz="2400" u="sng" dirty="0" smtClean="0"/>
              <a:t>manipulate it</a:t>
            </a:r>
            <a:r>
              <a:rPr lang="en-US" sz="2400" dirty="0" smtClean="0"/>
              <a:t>, and then return it back to </a:t>
            </a:r>
            <a:r>
              <a:rPr lang="en-US" sz="2400" dirty="0" err="1" smtClean="0"/>
              <a:t>WordPress</a:t>
            </a:r>
            <a:r>
              <a:rPr lang="en-US" sz="2400" dirty="0" smtClean="0"/>
              <a:t> </a:t>
            </a:r>
            <a:r>
              <a:rPr lang="en-US" sz="2400" u="sng" dirty="0" smtClean="0"/>
              <a:t>before rendering it</a:t>
            </a:r>
            <a:r>
              <a:rPr lang="en-US" sz="2400" dirty="0" smtClean="0"/>
              <a:t> to the </a:t>
            </a:r>
            <a:r>
              <a:rPr lang="en-US" sz="2400" dirty="0" smtClean="0"/>
              <a:t>browser.</a:t>
            </a:r>
          </a:p>
          <a:p>
            <a:r>
              <a:rPr lang="en-US" sz="2400" i="1" dirty="0" smtClean="0">
                <a:solidFill>
                  <a:srgbClr val="C00000"/>
                </a:solidFill>
              </a:rPr>
              <a:t>Filters</a:t>
            </a:r>
            <a:r>
              <a:rPr lang="en-US" sz="2400" dirty="0" smtClean="0"/>
              <a:t> </a:t>
            </a:r>
            <a:r>
              <a:rPr lang="en-US" sz="2400" dirty="0" smtClean="0"/>
              <a:t>are </a:t>
            </a:r>
            <a:r>
              <a:rPr lang="en-US" sz="2400" u="sng" dirty="0" smtClean="0"/>
              <a:t>functions</a:t>
            </a:r>
            <a:r>
              <a:rPr lang="en-US" sz="2400" dirty="0" smtClean="0"/>
              <a:t> that </a:t>
            </a:r>
            <a:r>
              <a:rPr lang="en-US" sz="2400" dirty="0" err="1" smtClean="0"/>
              <a:t>WordPress</a:t>
            </a:r>
            <a:r>
              <a:rPr lang="en-US" sz="2400" dirty="0" smtClean="0"/>
              <a:t> passes data through during certain points of the page </a:t>
            </a:r>
            <a:r>
              <a:rPr lang="en-US" sz="2400" dirty="0" smtClean="0"/>
              <a:t>lifecycle.</a:t>
            </a:r>
          </a:p>
          <a:p>
            <a:r>
              <a:rPr lang="en-US" sz="2400" dirty="0" smtClean="0"/>
              <a:t>They </a:t>
            </a:r>
            <a:r>
              <a:rPr lang="en-US" sz="2400" dirty="0" smtClean="0"/>
              <a:t>are primarily responsible for </a:t>
            </a:r>
            <a:r>
              <a:rPr lang="en-US" sz="2400" u="sng" dirty="0" smtClean="0"/>
              <a:t>intercepting</a:t>
            </a:r>
            <a:r>
              <a:rPr lang="en-US" sz="2400" dirty="0" smtClean="0"/>
              <a:t>, </a:t>
            </a:r>
            <a:r>
              <a:rPr lang="en-US" sz="2400" u="sng" dirty="0" smtClean="0"/>
              <a:t>managing</a:t>
            </a:r>
            <a:r>
              <a:rPr lang="en-US" sz="2400" dirty="0" smtClean="0"/>
              <a:t>, and </a:t>
            </a:r>
            <a:r>
              <a:rPr lang="en-US" sz="2400" u="sng" dirty="0" smtClean="0"/>
              <a:t>returning data</a:t>
            </a:r>
            <a:r>
              <a:rPr lang="en-US" sz="2400" dirty="0" smtClean="0"/>
              <a:t> </a:t>
            </a:r>
            <a:r>
              <a:rPr lang="en-US" sz="2400" i="1" dirty="0" smtClean="0">
                <a:solidFill>
                  <a:srgbClr val="C00000"/>
                </a:solidFill>
              </a:rPr>
              <a:t>before</a:t>
            </a:r>
            <a:r>
              <a:rPr lang="en-US" sz="2400" dirty="0" smtClean="0"/>
              <a:t> rendering it to the browser or saving data from the browser to the database.</a:t>
            </a:r>
            <a:endParaRPr 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Consolas" pitchFamily="49" charset="0"/>
              </a:rPr>
              <a:t>the_content</a:t>
            </a:r>
            <a:r>
              <a:rPr lang="en-US" dirty="0" smtClean="0">
                <a:latin typeface="Consolas" pitchFamily="49" charset="0"/>
              </a:rPr>
              <a:t> Filter</a:t>
            </a:r>
            <a:endParaRPr lang="en-US" dirty="0">
              <a:latin typeface="Consolas" pitchFamily="49" charset="0"/>
            </a:endParaRPr>
          </a:p>
        </p:txBody>
      </p:sp>
      <p:sp>
        <p:nvSpPr>
          <p:cNvPr id="3" name="Content Placeholder 2"/>
          <p:cNvSpPr>
            <a:spLocks noGrp="1"/>
          </p:cNvSpPr>
          <p:nvPr>
            <p:ph idx="1"/>
          </p:nvPr>
        </p:nvSpPr>
        <p:spPr/>
        <p:txBody>
          <a:bodyPr/>
          <a:lstStyle/>
          <a:p>
            <a:r>
              <a:rPr lang="en-US" sz="2400" b="1" dirty="0" err="1" smtClean="0">
                <a:latin typeface="Consolas" pitchFamily="49" charset="0"/>
              </a:rPr>
              <a:t>the_content</a:t>
            </a:r>
            <a:r>
              <a:rPr lang="en-US" sz="2400" dirty="0" smtClean="0"/>
              <a:t> filter passes the actual content of the post to the hooked </a:t>
            </a:r>
            <a:r>
              <a:rPr lang="en-US" sz="2400" dirty="0" smtClean="0"/>
              <a:t>function. From </a:t>
            </a:r>
            <a:r>
              <a:rPr lang="en-US" sz="2400" dirty="0" smtClean="0"/>
              <a:t>there, </a:t>
            </a:r>
            <a:r>
              <a:rPr lang="en-US" sz="2400" dirty="0" smtClean="0"/>
              <a:t>we're </a:t>
            </a:r>
            <a:r>
              <a:rPr lang="en-US" sz="2400" dirty="0" smtClean="0"/>
              <a:t>free to manipulate the data in any way that we see fit.</a:t>
            </a:r>
          </a:p>
          <a:p>
            <a:endParaRPr lang="en-US" sz="2400" dirty="0"/>
          </a:p>
        </p:txBody>
      </p:sp>
      <p:sp>
        <p:nvSpPr>
          <p:cNvPr id="4" name="Rectangle 3"/>
          <p:cNvSpPr/>
          <p:nvPr/>
        </p:nvSpPr>
        <p:spPr>
          <a:xfrm>
            <a:off x="685800" y="3124200"/>
            <a:ext cx="7848600" cy="286232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dirty="0" smtClean="0">
                <a:latin typeface="Consolas" pitchFamily="49" charset="0"/>
              </a:rPr>
              <a:t>function </a:t>
            </a:r>
            <a:r>
              <a:rPr lang="en-US" dirty="0" err="1" smtClean="0">
                <a:latin typeface="Consolas" pitchFamily="49" charset="0"/>
              </a:rPr>
              <a:t>append_post_content</a:t>
            </a:r>
            <a:r>
              <a:rPr lang="en-US" dirty="0" smtClean="0">
                <a:latin typeface="Consolas" pitchFamily="49" charset="0"/>
              </a:rPr>
              <a:t>( $content ) {</a:t>
            </a:r>
          </a:p>
          <a:p>
            <a:r>
              <a:rPr lang="en-US" dirty="0" smtClean="0">
                <a:latin typeface="Consolas" pitchFamily="49" charset="0"/>
              </a:rPr>
              <a:t>	$html = </a:t>
            </a:r>
            <a:r>
              <a:rPr lang="en-US" dirty="0" smtClean="0">
                <a:latin typeface="Consolas" pitchFamily="49" charset="0"/>
              </a:rPr>
              <a:t>'&lt;</a:t>
            </a:r>
            <a:r>
              <a:rPr lang="en-US" dirty="0" smtClean="0">
                <a:latin typeface="Consolas" pitchFamily="49" charset="0"/>
              </a:rPr>
              <a:t>div class="post-suffix</a:t>
            </a:r>
            <a:r>
              <a:rPr lang="en-US" dirty="0" smtClean="0">
                <a:latin typeface="Consolas" pitchFamily="49" charset="0"/>
              </a:rPr>
              <a:t>"&gt;';</a:t>
            </a:r>
            <a:endParaRPr lang="en-US" dirty="0" smtClean="0">
              <a:latin typeface="Consolas" pitchFamily="49" charset="0"/>
            </a:endParaRPr>
          </a:p>
          <a:p>
            <a:r>
              <a:rPr lang="en-US" dirty="0" smtClean="0">
                <a:latin typeface="Consolas" pitchFamily="49" charset="0"/>
              </a:rPr>
              <a:t>	$html .= </a:t>
            </a:r>
            <a:r>
              <a:rPr lang="en-US" dirty="0" smtClean="0">
                <a:latin typeface="Consolas" pitchFamily="49" charset="0"/>
              </a:rPr>
              <a:t>'This </a:t>
            </a:r>
            <a:r>
              <a:rPr lang="en-US" dirty="0" smtClean="0">
                <a:latin typeface="Consolas" pitchFamily="49" charset="0"/>
              </a:rPr>
              <a:t>content will appear at the end of a post</a:t>
            </a:r>
            <a:r>
              <a:rPr lang="en-US" dirty="0" smtClean="0">
                <a:latin typeface="Consolas" pitchFamily="49" charset="0"/>
              </a:rPr>
              <a:t>.';</a:t>
            </a:r>
            <a:endParaRPr lang="en-US" dirty="0" smtClean="0">
              <a:latin typeface="Consolas" pitchFamily="49" charset="0"/>
            </a:endParaRPr>
          </a:p>
          <a:p>
            <a:r>
              <a:rPr lang="en-US" dirty="0" smtClean="0">
                <a:latin typeface="Consolas" pitchFamily="49" charset="0"/>
              </a:rPr>
              <a:t>	$html .= </a:t>
            </a:r>
            <a:r>
              <a:rPr lang="en-US" dirty="0" smtClean="0">
                <a:latin typeface="Consolas" pitchFamily="49" charset="0"/>
              </a:rPr>
              <a:t>'&lt;/</a:t>
            </a:r>
            <a:r>
              <a:rPr lang="en-US" dirty="0" smtClean="0">
                <a:latin typeface="Consolas" pitchFamily="49" charset="0"/>
              </a:rPr>
              <a:t>div</a:t>
            </a:r>
            <a:r>
              <a:rPr lang="en-US" dirty="0" smtClean="0">
                <a:latin typeface="Consolas" pitchFamily="49" charset="0"/>
              </a:rPr>
              <a:t>&gt;';</a:t>
            </a:r>
            <a:endParaRPr lang="en-US" dirty="0" smtClean="0">
              <a:latin typeface="Consolas" pitchFamily="49" charset="0"/>
            </a:endParaRPr>
          </a:p>
          <a:p>
            <a:r>
              <a:rPr lang="en-US" dirty="0" smtClean="0">
                <a:latin typeface="Consolas" pitchFamily="49" charset="0"/>
              </a:rPr>
              <a:t>	$content .= $html;</a:t>
            </a:r>
          </a:p>
          <a:p>
            <a:r>
              <a:rPr lang="en-US" dirty="0" smtClean="0">
                <a:latin typeface="Consolas" pitchFamily="49" charset="0"/>
              </a:rPr>
              <a:t>	return $content;</a:t>
            </a:r>
          </a:p>
          <a:p>
            <a:r>
              <a:rPr lang="en-US" dirty="0" smtClean="0">
                <a:latin typeface="Consolas" pitchFamily="49" charset="0"/>
              </a:rPr>
              <a:t>}</a:t>
            </a:r>
          </a:p>
          <a:p>
            <a:endParaRPr lang="en-US" dirty="0" smtClean="0">
              <a:latin typeface="Consolas" pitchFamily="49" charset="0"/>
            </a:endParaRPr>
          </a:p>
          <a:p>
            <a:r>
              <a:rPr lang="en-US" b="1" dirty="0" err="1" smtClean="0">
                <a:solidFill>
                  <a:srgbClr val="C00000"/>
                </a:solidFill>
                <a:latin typeface="Consolas" pitchFamily="49" charset="0"/>
              </a:rPr>
              <a:t>add_filter</a:t>
            </a:r>
            <a:r>
              <a:rPr lang="en-US" dirty="0" smtClean="0">
                <a:latin typeface="Consolas" pitchFamily="49" charset="0"/>
              </a:rPr>
              <a:t>( </a:t>
            </a:r>
            <a:r>
              <a:rPr lang="en-US" dirty="0" smtClean="0">
                <a:latin typeface="Consolas" pitchFamily="49" charset="0"/>
              </a:rPr>
              <a:t>'</a:t>
            </a:r>
            <a:r>
              <a:rPr lang="en-US" dirty="0" err="1" smtClean="0">
                <a:latin typeface="Consolas" pitchFamily="49" charset="0"/>
              </a:rPr>
              <a:t>the_content</a:t>
            </a:r>
            <a:r>
              <a:rPr lang="en-US" dirty="0" smtClean="0">
                <a:latin typeface="Consolas" pitchFamily="49" charset="0"/>
              </a:rPr>
              <a:t>', '</a:t>
            </a:r>
            <a:r>
              <a:rPr lang="en-US" dirty="0" err="1" smtClean="0">
                <a:latin typeface="Consolas" pitchFamily="49" charset="0"/>
              </a:rPr>
              <a:t>append_post_content</a:t>
            </a:r>
            <a:r>
              <a:rPr lang="en-US" dirty="0" smtClean="0">
                <a:latin typeface="Consolas" pitchFamily="49" charset="0"/>
              </a:rPr>
              <a:t>', </a:t>
            </a:r>
            <a:r>
              <a:rPr lang="en-US" dirty="0" smtClean="0">
                <a:latin typeface="Consolas" pitchFamily="49" charset="0"/>
              </a:rPr>
              <a:t>1 );</a:t>
            </a:r>
            <a:endParaRPr lang="en-US" dirty="0">
              <a:latin typeface="Consolas" pitchFamily="49"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Show Post Type</a:t>
            </a:r>
            <a:endParaRPr lang="en-US" dirty="0"/>
          </a:p>
        </p:txBody>
      </p:sp>
      <p:sp>
        <p:nvSpPr>
          <p:cNvPr id="4" name="Rectangle 3"/>
          <p:cNvSpPr/>
          <p:nvPr/>
        </p:nvSpPr>
        <p:spPr>
          <a:xfrm>
            <a:off x="685800" y="1828800"/>
            <a:ext cx="7848600" cy="3970318"/>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dirty="0" smtClean="0">
                <a:latin typeface="Consolas" pitchFamily="49" charset="0"/>
              </a:rPr>
              <a:t>function </a:t>
            </a:r>
            <a:r>
              <a:rPr lang="en-US" dirty="0" err="1" smtClean="0">
                <a:latin typeface="Consolas" pitchFamily="49" charset="0"/>
              </a:rPr>
              <a:t>append_post_content</a:t>
            </a:r>
            <a:r>
              <a:rPr lang="en-US" dirty="0" smtClean="0">
                <a:latin typeface="Consolas" pitchFamily="49" charset="0"/>
              </a:rPr>
              <a:t>( $content ) {</a:t>
            </a:r>
          </a:p>
          <a:p>
            <a:r>
              <a:rPr lang="en-US" dirty="0" smtClean="0">
                <a:latin typeface="Consolas" pitchFamily="49" charset="0"/>
              </a:rPr>
              <a:t>	global $post;</a:t>
            </a:r>
          </a:p>
          <a:p>
            <a:r>
              <a:rPr lang="en-US" dirty="0" smtClean="0">
                <a:latin typeface="Consolas" pitchFamily="49" charset="0"/>
              </a:rPr>
              <a:t>	$html = </a:t>
            </a:r>
            <a:r>
              <a:rPr lang="en-US" dirty="0" smtClean="0">
                <a:latin typeface="Consolas" pitchFamily="49" charset="0"/>
              </a:rPr>
              <a:t>'&lt;</a:t>
            </a:r>
            <a:r>
              <a:rPr lang="en-US" dirty="0" smtClean="0">
                <a:latin typeface="Consolas" pitchFamily="49" charset="0"/>
              </a:rPr>
              <a:t>div class="post-suffix</a:t>
            </a:r>
            <a:r>
              <a:rPr lang="en-US" dirty="0" smtClean="0">
                <a:latin typeface="Consolas" pitchFamily="49" charset="0"/>
              </a:rPr>
              <a:t>"&gt;';</a:t>
            </a:r>
            <a:endParaRPr lang="en-US" dirty="0" smtClean="0">
              <a:latin typeface="Consolas" pitchFamily="49" charset="0"/>
            </a:endParaRPr>
          </a:p>
          <a:p>
            <a:r>
              <a:rPr lang="en-US" dirty="0" smtClean="0">
                <a:latin typeface="Consolas" pitchFamily="49" charset="0"/>
              </a:rPr>
              <a:t>	$html .= </a:t>
            </a:r>
            <a:r>
              <a:rPr lang="en-US" dirty="0" smtClean="0">
                <a:latin typeface="Consolas" pitchFamily="49" charset="0"/>
              </a:rPr>
              <a:t>'This </a:t>
            </a:r>
            <a:r>
              <a:rPr lang="en-US" dirty="0" smtClean="0">
                <a:latin typeface="Consolas" pitchFamily="49" charset="0"/>
              </a:rPr>
              <a:t>content will appear at the end of a page post. </a:t>
            </a:r>
            <a:r>
              <a:rPr lang="en-US" dirty="0" err="1" smtClean="0">
                <a:latin typeface="Consolas" pitchFamily="49" charset="0"/>
              </a:rPr>
              <a:t>post_type</a:t>
            </a:r>
            <a:r>
              <a:rPr lang="en-US" dirty="0" smtClean="0">
                <a:latin typeface="Consolas" pitchFamily="49" charset="0"/>
              </a:rPr>
              <a:t>: &lt;strong</a:t>
            </a:r>
            <a:r>
              <a:rPr lang="en-US" dirty="0" smtClean="0">
                <a:latin typeface="Consolas" pitchFamily="49" charset="0"/>
              </a:rPr>
              <a:t>&gt;';</a:t>
            </a:r>
            <a:endParaRPr lang="en-US" dirty="0" smtClean="0">
              <a:latin typeface="Consolas" pitchFamily="49" charset="0"/>
            </a:endParaRPr>
          </a:p>
          <a:p>
            <a:r>
              <a:rPr lang="en-US" dirty="0" smtClean="0">
                <a:latin typeface="Consolas" pitchFamily="49" charset="0"/>
              </a:rPr>
              <a:t>	</a:t>
            </a:r>
            <a:r>
              <a:rPr lang="en-US" b="1" dirty="0" smtClean="0">
                <a:solidFill>
                  <a:srgbClr val="C00000"/>
                </a:solidFill>
                <a:latin typeface="Consolas" pitchFamily="49" charset="0"/>
              </a:rPr>
              <a:t>$html .= $post-&gt;</a:t>
            </a:r>
            <a:r>
              <a:rPr lang="en-US" b="1" dirty="0" err="1" smtClean="0">
                <a:solidFill>
                  <a:srgbClr val="C00000"/>
                </a:solidFill>
                <a:latin typeface="Consolas" pitchFamily="49" charset="0"/>
              </a:rPr>
              <a:t>post_type</a:t>
            </a:r>
            <a:r>
              <a:rPr lang="en-US" b="1" dirty="0" smtClean="0">
                <a:solidFill>
                  <a:srgbClr val="C00000"/>
                </a:solidFill>
                <a:latin typeface="Consolas" pitchFamily="49" charset="0"/>
              </a:rPr>
              <a:t>;</a:t>
            </a:r>
          </a:p>
          <a:p>
            <a:r>
              <a:rPr lang="en-US" dirty="0" smtClean="0">
                <a:latin typeface="Consolas" pitchFamily="49" charset="0"/>
              </a:rPr>
              <a:t>	$html .= </a:t>
            </a:r>
            <a:r>
              <a:rPr lang="en-US" dirty="0" smtClean="0">
                <a:latin typeface="Consolas" pitchFamily="49" charset="0"/>
              </a:rPr>
              <a:t>'&lt;/</a:t>
            </a:r>
            <a:r>
              <a:rPr lang="en-US" dirty="0" smtClean="0">
                <a:latin typeface="Consolas" pitchFamily="49" charset="0"/>
              </a:rPr>
              <a:t>strong</a:t>
            </a:r>
            <a:r>
              <a:rPr lang="en-US" dirty="0" smtClean="0">
                <a:latin typeface="Consolas" pitchFamily="49" charset="0"/>
              </a:rPr>
              <a:t>&gt;.';</a:t>
            </a:r>
            <a:endParaRPr lang="en-US" dirty="0" smtClean="0">
              <a:latin typeface="Consolas" pitchFamily="49" charset="0"/>
            </a:endParaRPr>
          </a:p>
          <a:p>
            <a:r>
              <a:rPr lang="en-US" dirty="0" smtClean="0">
                <a:latin typeface="Consolas" pitchFamily="49" charset="0"/>
              </a:rPr>
              <a:t>	$html .= </a:t>
            </a:r>
            <a:r>
              <a:rPr lang="en-US" dirty="0" smtClean="0">
                <a:latin typeface="Consolas" pitchFamily="49" charset="0"/>
              </a:rPr>
              <a:t>'&lt;/</a:t>
            </a:r>
            <a:r>
              <a:rPr lang="en-US" dirty="0" smtClean="0">
                <a:latin typeface="Consolas" pitchFamily="49" charset="0"/>
              </a:rPr>
              <a:t>div</a:t>
            </a:r>
            <a:r>
              <a:rPr lang="en-US" dirty="0" smtClean="0">
                <a:latin typeface="Consolas" pitchFamily="49" charset="0"/>
              </a:rPr>
              <a:t>&gt;';</a:t>
            </a:r>
            <a:endParaRPr lang="en-US" dirty="0" smtClean="0">
              <a:latin typeface="Consolas" pitchFamily="49" charset="0"/>
            </a:endParaRPr>
          </a:p>
          <a:p>
            <a:r>
              <a:rPr lang="en-US" dirty="0" smtClean="0">
                <a:latin typeface="Consolas" pitchFamily="49" charset="0"/>
              </a:rPr>
              <a:t>	$content .= $html;</a:t>
            </a:r>
          </a:p>
          <a:p>
            <a:r>
              <a:rPr lang="en-US" dirty="0" smtClean="0">
                <a:latin typeface="Consolas" pitchFamily="49" charset="0"/>
              </a:rPr>
              <a:t>	</a:t>
            </a:r>
          </a:p>
          <a:p>
            <a:r>
              <a:rPr lang="en-US" dirty="0" smtClean="0">
                <a:latin typeface="Consolas" pitchFamily="49" charset="0"/>
              </a:rPr>
              <a:t>	return $content;</a:t>
            </a:r>
          </a:p>
          <a:p>
            <a:r>
              <a:rPr lang="en-US" dirty="0" smtClean="0">
                <a:latin typeface="Consolas" pitchFamily="49" charset="0"/>
              </a:rPr>
              <a:t>}</a:t>
            </a:r>
          </a:p>
          <a:p>
            <a:endParaRPr lang="en-US" dirty="0" smtClean="0">
              <a:latin typeface="Consolas" pitchFamily="49" charset="0"/>
            </a:endParaRPr>
          </a:p>
          <a:p>
            <a:r>
              <a:rPr lang="en-US" dirty="0" err="1" smtClean="0">
                <a:latin typeface="Consolas" pitchFamily="49" charset="0"/>
              </a:rPr>
              <a:t>add_filter</a:t>
            </a:r>
            <a:r>
              <a:rPr lang="en-US" dirty="0" smtClean="0">
                <a:latin typeface="Consolas" pitchFamily="49" charset="0"/>
              </a:rPr>
              <a:t>( </a:t>
            </a:r>
            <a:r>
              <a:rPr lang="en-US" dirty="0" smtClean="0">
                <a:latin typeface="Consolas" pitchFamily="49" charset="0"/>
              </a:rPr>
              <a:t>'</a:t>
            </a:r>
            <a:r>
              <a:rPr lang="en-US" dirty="0" err="1" smtClean="0">
                <a:latin typeface="Consolas" pitchFamily="49" charset="0"/>
              </a:rPr>
              <a:t>the_content</a:t>
            </a:r>
            <a:r>
              <a:rPr lang="en-US" dirty="0" smtClean="0">
                <a:latin typeface="Consolas" pitchFamily="49" charset="0"/>
              </a:rPr>
              <a:t>', '</a:t>
            </a:r>
            <a:r>
              <a:rPr lang="en-US" dirty="0" err="1" smtClean="0">
                <a:latin typeface="Consolas" pitchFamily="49" charset="0"/>
              </a:rPr>
              <a:t>append_post_content</a:t>
            </a:r>
            <a:r>
              <a:rPr lang="en-US" dirty="0" smtClean="0">
                <a:latin typeface="Consolas" pitchFamily="49" charset="0"/>
              </a:rPr>
              <a:t>', </a:t>
            </a:r>
            <a:r>
              <a:rPr lang="en-US" dirty="0" smtClean="0">
                <a:latin typeface="Consolas" pitchFamily="49" charset="0"/>
              </a:rPr>
              <a:t>1 );</a:t>
            </a:r>
            <a:endParaRPr lang="en-US" dirty="0">
              <a:latin typeface="Consolas" pitchFamily="49"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 Post Types</a:t>
            </a:r>
            <a:endParaRPr lang="en-US" dirty="0">
              <a:latin typeface="Consolas" pitchFamily="49" charset="0"/>
            </a:endParaRPr>
          </a:p>
        </p:txBody>
      </p:sp>
      <p:sp>
        <p:nvSpPr>
          <p:cNvPr id="4" name="Rectangle 3"/>
          <p:cNvSpPr/>
          <p:nvPr/>
        </p:nvSpPr>
        <p:spPr>
          <a:xfrm>
            <a:off x="685800" y="1676400"/>
            <a:ext cx="7848600" cy="433965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200" dirty="0" smtClean="0">
                <a:latin typeface="Consolas" pitchFamily="49" charset="0"/>
              </a:rPr>
              <a:t>function </a:t>
            </a:r>
            <a:r>
              <a:rPr lang="en-US" sz="1200" dirty="0" err="1" smtClean="0">
                <a:latin typeface="Consolas" pitchFamily="49" charset="0"/>
              </a:rPr>
              <a:t>append_post_content</a:t>
            </a:r>
            <a:r>
              <a:rPr lang="en-US" sz="1200" dirty="0" smtClean="0">
                <a:latin typeface="Consolas" pitchFamily="49" charset="0"/>
              </a:rPr>
              <a:t>( $content ) {</a:t>
            </a:r>
          </a:p>
          <a:p>
            <a:r>
              <a:rPr lang="en-US" sz="1200" dirty="0" smtClean="0">
                <a:latin typeface="Consolas" pitchFamily="49" charset="0"/>
              </a:rPr>
              <a:t>	global $post;</a:t>
            </a:r>
          </a:p>
          <a:p>
            <a:r>
              <a:rPr lang="en-US" sz="1200" dirty="0" smtClean="0">
                <a:latin typeface="Consolas" pitchFamily="49" charset="0"/>
              </a:rPr>
              <a:t>    if( </a:t>
            </a:r>
            <a:r>
              <a:rPr lang="en-US" sz="1200" dirty="0" smtClean="0">
                <a:latin typeface="Consolas" pitchFamily="49" charset="0"/>
              </a:rPr>
              <a:t>'</a:t>
            </a:r>
            <a:r>
              <a:rPr lang="en-US" sz="1200" dirty="0" err="1" smtClean="0">
                <a:latin typeface="Consolas" pitchFamily="49" charset="0"/>
              </a:rPr>
              <a:t>thegem_team_person</a:t>
            </a:r>
            <a:r>
              <a:rPr lang="en-US" sz="1200" dirty="0" smtClean="0">
                <a:latin typeface="Consolas" pitchFamily="49" charset="0"/>
              </a:rPr>
              <a:t>' </a:t>
            </a:r>
            <a:r>
              <a:rPr lang="en-US" sz="1200" dirty="0" smtClean="0">
                <a:latin typeface="Consolas" pitchFamily="49" charset="0"/>
              </a:rPr>
              <a:t>== $post-&gt;</a:t>
            </a:r>
            <a:r>
              <a:rPr lang="en-US" sz="1200" dirty="0" err="1" smtClean="0">
                <a:latin typeface="Consolas" pitchFamily="49" charset="0"/>
              </a:rPr>
              <a:t>post_type</a:t>
            </a:r>
            <a:r>
              <a:rPr lang="en-US" sz="1200" dirty="0" smtClean="0">
                <a:latin typeface="Consolas" pitchFamily="49" charset="0"/>
              </a:rPr>
              <a:t> ) {</a:t>
            </a:r>
          </a:p>
          <a:p>
            <a:r>
              <a:rPr lang="en-US" sz="1200" dirty="0" smtClean="0">
                <a:latin typeface="Consolas" pitchFamily="49" charset="0"/>
              </a:rPr>
              <a:t>		$</a:t>
            </a:r>
            <a:r>
              <a:rPr lang="en-US" sz="1200" dirty="0" err="1" smtClean="0">
                <a:latin typeface="Consolas" pitchFamily="49" charset="0"/>
              </a:rPr>
              <a:t>args</a:t>
            </a:r>
            <a:r>
              <a:rPr lang="en-US" sz="1200" dirty="0" smtClean="0">
                <a:latin typeface="Consolas" pitchFamily="49" charset="0"/>
              </a:rPr>
              <a:t> = array(</a:t>
            </a:r>
          </a:p>
          <a:p>
            <a:r>
              <a:rPr lang="en-US" sz="1200" dirty="0" smtClean="0">
                <a:latin typeface="Consolas" pitchFamily="49" charset="0"/>
              </a:rPr>
              <a:t>		   // </a:t>
            </a:r>
            <a:r>
              <a:rPr lang="en-US" sz="1200" dirty="0" smtClean="0">
                <a:latin typeface="Consolas" pitchFamily="49" charset="0"/>
              </a:rPr>
              <a:t>'public'   </a:t>
            </a:r>
            <a:r>
              <a:rPr lang="en-US" sz="1200" dirty="0" smtClean="0">
                <a:latin typeface="Consolas" pitchFamily="49" charset="0"/>
              </a:rPr>
              <a:t>=&gt; true,</a:t>
            </a:r>
          </a:p>
          <a:p>
            <a:r>
              <a:rPr lang="en-US" sz="1200" dirty="0" smtClean="0">
                <a:latin typeface="Consolas" pitchFamily="49" charset="0"/>
              </a:rPr>
              <a:t>		   </a:t>
            </a:r>
            <a:r>
              <a:rPr lang="en-US" sz="1200" dirty="0" smtClean="0">
                <a:latin typeface="Consolas" pitchFamily="49" charset="0"/>
              </a:rPr>
              <a:t>'_</a:t>
            </a:r>
            <a:r>
              <a:rPr lang="en-US" sz="1200" dirty="0" err="1" smtClean="0">
                <a:latin typeface="Consolas" pitchFamily="49" charset="0"/>
              </a:rPr>
              <a:t>builtin</a:t>
            </a:r>
            <a:r>
              <a:rPr lang="en-US" sz="1200" dirty="0" smtClean="0">
                <a:latin typeface="Consolas" pitchFamily="49" charset="0"/>
              </a:rPr>
              <a:t>' </a:t>
            </a:r>
            <a:r>
              <a:rPr lang="en-US" sz="1200" dirty="0" smtClean="0">
                <a:latin typeface="Consolas" pitchFamily="49" charset="0"/>
              </a:rPr>
              <a:t>=&gt; false,</a:t>
            </a:r>
          </a:p>
          <a:p>
            <a:r>
              <a:rPr lang="en-US" sz="1200" dirty="0" smtClean="0">
                <a:latin typeface="Consolas" pitchFamily="49" charset="0"/>
              </a:rPr>
              <a:t>		);</a:t>
            </a:r>
          </a:p>
          <a:p>
            <a:r>
              <a:rPr lang="en-US" sz="1200" dirty="0" smtClean="0">
                <a:latin typeface="Consolas" pitchFamily="49" charset="0"/>
              </a:rPr>
              <a:t>		</a:t>
            </a:r>
          </a:p>
          <a:p>
            <a:r>
              <a:rPr lang="en-US" sz="1200" dirty="0" smtClean="0">
                <a:latin typeface="Consolas" pitchFamily="49" charset="0"/>
              </a:rPr>
              <a:t>		$output = </a:t>
            </a:r>
            <a:r>
              <a:rPr lang="en-US" sz="1200" dirty="0" smtClean="0">
                <a:latin typeface="Consolas" pitchFamily="49" charset="0"/>
              </a:rPr>
              <a:t>'names'; </a:t>
            </a:r>
            <a:r>
              <a:rPr lang="en-US" sz="1200" dirty="0" smtClean="0">
                <a:latin typeface="Consolas" pitchFamily="49" charset="0"/>
              </a:rPr>
              <a:t>// names or objects, note names is the default</a:t>
            </a:r>
          </a:p>
          <a:p>
            <a:r>
              <a:rPr lang="en-US" sz="1200" dirty="0" smtClean="0">
                <a:latin typeface="Consolas" pitchFamily="49" charset="0"/>
              </a:rPr>
              <a:t>		$operator = </a:t>
            </a:r>
            <a:r>
              <a:rPr lang="en-US" sz="1200" dirty="0" smtClean="0">
                <a:latin typeface="Consolas" pitchFamily="49" charset="0"/>
              </a:rPr>
              <a:t>'and'; </a:t>
            </a:r>
            <a:r>
              <a:rPr lang="en-US" sz="1200" dirty="0" smtClean="0">
                <a:latin typeface="Consolas" pitchFamily="49" charset="0"/>
              </a:rPr>
              <a:t>// </a:t>
            </a:r>
            <a:r>
              <a:rPr lang="en-US" sz="1200" dirty="0" smtClean="0">
                <a:latin typeface="Consolas" pitchFamily="49" charset="0"/>
              </a:rPr>
              <a:t>'and' </a:t>
            </a:r>
            <a:r>
              <a:rPr lang="en-US" sz="1200" dirty="0" smtClean="0">
                <a:latin typeface="Consolas" pitchFamily="49" charset="0"/>
              </a:rPr>
              <a:t>or </a:t>
            </a:r>
            <a:r>
              <a:rPr lang="en-US" sz="1200" dirty="0" smtClean="0">
                <a:latin typeface="Consolas" pitchFamily="49" charset="0"/>
              </a:rPr>
              <a:t>'or'</a:t>
            </a:r>
            <a:endParaRPr lang="en-US" sz="1200" dirty="0" smtClean="0">
              <a:latin typeface="Consolas" pitchFamily="49" charset="0"/>
            </a:endParaRPr>
          </a:p>
          <a:p>
            <a:r>
              <a:rPr lang="en-US" sz="1200" dirty="0" smtClean="0">
                <a:latin typeface="Consolas" pitchFamily="49" charset="0"/>
              </a:rPr>
              <a:t>		</a:t>
            </a:r>
            <a:r>
              <a:rPr lang="en-US" sz="1200" b="1" dirty="0" smtClean="0">
                <a:solidFill>
                  <a:srgbClr val="C00000"/>
                </a:solidFill>
                <a:latin typeface="Consolas" pitchFamily="49" charset="0"/>
              </a:rPr>
              <a:t>$</a:t>
            </a:r>
            <a:r>
              <a:rPr lang="en-US" sz="1200" b="1" dirty="0" err="1" smtClean="0">
                <a:solidFill>
                  <a:srgbClr val="C00000"/>
                </a:solidFill>
                <a:latin typeface="Consolas" pitchFamily="49" charset="0"/>
              </a:rPr>
              <a:t>post_types</a:t>
            </a:r>
            <a:r>
              <a:rPr lang="en-US" sz="1200" b="1" dirty="0" smtClean="0">
                <a:solidFill>
                  <a:srgbClr val="C00000"/>
                </a:solidFill>
                <a:latin typeface="Consolas" pitchFamily="49" charset="0"/>
              </a:rPr>
              <a:t> = </a:t>
            </a:r>
            <a:r>
              <a:rPr lang="en-US" sz="1200" b="1" dirty="0" err="1" smtClean="0">
                <a:solidFill>
                  <a:srgbClr val="C00000"/>
                </a:solidFill>
                <a:latin typeface="Consolas" pitchFamily="49" charset="0"/>
              </a:rPr>
              <a:t>get_post_types</a:t>
            </a:r>
            <a:r>
              <a:rPr lang="en-US" sz="1200" b="1" dirty="0" smtClean="0">
                <a:solidFill>
                  <a:srgbClr val="C00000"/>
                </a:solidFill>
                <a:latin typeface="Consolas" pitchFamily="49" charset="0"/>
              </a:rPr>
              <a:t>( $</a:t>
            </a:r>
            <a:r>
              <a:rPr lang="en-US" sz="1200" b="1" dirty="0" err="1" smtClean="0">
                <a:solidFill>
                  <a:srgbClr val="C00000"/>
                </a:solidFill>
                <a:latin typeface="Consolas" pitchFamily="49" charset="0"/>
              </a:rPr>
              <a:t>args</a:t>
            </a:r>
            <a:r>
              <a:rPr lang="en-US" sz="1200" b="1" dirty="0" smtClean="0">
                <a:solidFill>
                  <a:srgbClr val="C00000"/>
                </a:solidFill>
                <a:latin typeface="Consolas" pitchFamily="49" charset="0"/>
              </a:rPr>
              <a:t>, $output, $operator );</a:t>
            </a:r>
          </a:p>
          <a:p>
            <a:r>
              <a:rPr lang="en-US" sz="1200" dirty="0" smtClean="0">
                <a:latin typeface="Consolas" pitchFamily="49" charset="0"/>
              </a:rPr>
              <a:t>		</a:t>
            </a:r>
          </a:p>
          <a:p>
            <a:r>
              <a:rPr lang="en-US" sz="1200" dirty="0" smtClean="0">
                <a:latin typeface="Consolas" pitchFamily="49" charset="0"/>
              </a:rPr>
              <a:t>		$html = </a:t>
            </a:r>
            <a:r>
              <a:rPr lang="en-US" sz="1200" dirty="0" smtClean="0">
                <a:latin typeface="Consolas" pitchFamily="49" charset="0"/>
              </a:rPr>
              <a:t>'&lt;</a:t>
            </a:r>
            <a:r>
              <a:rPr lang="en-US" sz="1200" dirty="0" smtClean="0">
                <a:latin typeface="Consolas" pitchFamily="49" charset="0"/>
              </a:rPr>
              <a:t>div class="post-suffix</a:t>
            </a:r>
            <a:r>
              <a:rPr lang="en-US" sz="1200" dirty="0" smtClean="0">
                <a:latin typeface="Consolas" pitchFamily="49" charset="0"/>
              </a:rPr>
              <a:t>"&gt;';</a:t>
            </a:r>
            <a:endParaRPr lang="en-US" sz="1200" dirty="0" smtClean="0">
              <a:latin typeface="Consolas" pitchFamily="49" charset="0"/>
            </a:endParaRPr>
          </a:p>
          <a:p>
            <a:r>
              <a:rPr lang="en-US" sz="1200" dirty="0" smtClean="0">
                <a:latin typeface="Consolas" pitchFamily="49" charset="0"/>
              </a:rPr>
              <a:t>		</a:t>
            </a:r>
            <a:r>
              <a:rPr lang="en-US" sz="1200" dirty="0" err="1" smtClean="0">
                <a:latin typeface="Consolas" pitchFamily="49" charset="0"/>
              </a:rPr>
              <a:t>foreach</a:t>
            </a:r>
            <a:r>
              <a:rPr lang="en-US" sz="1200" dirty="0" smtClean="0">
                <a:latin typeface="Consolas" pitchFamily="49" charset="0"/>
              </a:rPr>
              <a:t> ( $</a:t>
            </a:r>
            <a:r>
              <a:rPr lang="en-US" sz="1200" dirty="0" err="1" smtClean="0">
                <a:latin typeface="Consolas" pitchFamily="49" charset="0"/>
              </a:rPr>
              <a:t>post_types</a:t>
            </a:r>
            <a:r>
              <a:rPr lang="en-US" sz="1200" dirty="0" smtClean="0">
                <a:latin typeface="Consolas" pitchFamily="49" charset="0"/>
              </a:rPr>
              <a:t>  as $</a:t>
            </a:r>
            <a:r>
              <a:rPr lang="en-US" sz="1200" dirty="0" err="1" smtClean="0">
                <a:latin typeface="Consolas" pitchFamily="49" charset="0"/>
              </a:rPr>
              <a:t>post_type</a:t>
            </a:r>
            <a:r>
              <a:rPr lang="en-US" sz="1200" dirty="0" smtClean="0">
                <a:latin typeface="Consolas" pitchFamily="49" charset="0"/>
              </a:rPr>
              <a:t> ) {</a:t>
            </a:r>
          </a:p>
          <a:p>
            <a:r>
              <a:rPr lang="en-US" sz="1200" dirty="0" smtClean="0">
                <a:latin typeface="Consolas" pitchFamily="49" charset="0"/>
              </a:rPr>
              <a:t>			$html .= </a:t>
            </a:r>
            <a:r>
              <a:rPr lang="en-US" sz="1200" dirty="0" smtClean="0">
                <a:latin typeface="Consolas" pitchFamily="49" charset="0"/>
              </a:rPr>
              <a:t>'&lt;</a:t>
            </a:r>
            <a:r>
              <a:rPr lang="en-US" sz="1200" dirty="0" smtClean="0">
                <a:latin typeface="Consolas" pitchFamily="49" charset="0"/>
              </a:rPr>
              <a:t>p</a:t>
            </a:r>
            <a:r>
              <a:rPr lang="en-US" sz="1200" dirty="0" smtClean="0">
                <a:latin typeface="Consolas" pitchFamily="49" charset="0"/>
              </a:rPr>
              <a:t>&gt;' </a:t>
            </a:r>
            <a:r>
              <a:rPr lang="en-US" sz="1200" dirty="0" smtClean="0">
                <a:latin typeface="Consolas" pitchFamily="49" charset="0"/>
              </a:rPr>
              <a:t>. $</a:t>
            </a:r>
            <a:r>
              <a:rPr lang="en-US" sz="1200" dirty="0" err="1" smtClean="0">
                <a:latin typeface="Consolas" pitchFamily="49" charset="0"/>
              </a:rPr>
              <a:t>post_type</a:t>
            </a:r>
            <a:r>
              <a:rPr lang="en-US" sz="1200" dirty="0" smtClean="0">
                <a:latin typeface="Consolas" pitchFamily="49" charset="0"/>
              </a:rPr>
              <a:t> . </a:t>
            </a:r>
            <a:r>
              <a:rPr lang="en-US" sz="1200" dirty="0" smtClean="0">
                <a:latin typeface="Consolas" pitchFamily="49" charset="0"/>
              </a:rPr>
              <a:t>'&lt;/</a:t>
            </a:r>
            <a:r>
              <a:rPr lang="en-US" sz="1200" dirty="0" smtClean="0">
                <a:latin typeface="Consolas" pitchFamily="49" charset="0"/>
              </a:rPr>
              <a:t>p</a:t>
            </a:r>
            <a:r>
              <a:rPr lang="en-US" sz="1200" dirty="0" smtClean="0">
                <a:latin typeface="Consolas" pitchFamily="49" charset="0"/>
              </a:rPr>
              <a:t>&gt;';</a:t>
            </a:r>
            <a:endParaRPr lang="en-US" sz="1200" dirty="0" smtClean="0">
              <a:latin typeface="Consolas" pitchFamily="49" charset="0"/>
            </a:endParaRPr>
          </a:p>
          <a:p>
            <a:r>
              <a:rPr lang="en-US" sz="1200" dirty="0" smtClean="0">
                <a:latin typeface="Consolas" pitchFamily="49" charset="0"/>
              </a:rPr>
              <a:t>		}</a:t>
            </a:r>
          </a:p>
          <a:p>
            <a:r>
              <a:rPr lang="en-US" sz="1200" dirty="0" smtClean="0">
                <a:latin typeface="Consolas" pitchFamily="49" charset="0"/>
              </a:rPr>
              <a:t>		</a:t>
            </a:r>
          </a:p>
          <a:p>
            <a:r>
              <a:rPr lang="en-US" sz="1200" dirty="0" smtClean="0">
                <a:latin typeface="Consolas" pitchFamily="49" charset="0"/>
              </a:rPr>
              <a:t>		$html .= </a:t>
            </a:r>
            <a:r>
              <a:rPr lang="en-US" sz="1200" dirty="0" smtClean="0">
                <a:latin typeface="Consolas" pitchFamily="49" charset="0"/>
              </a:rPr>
              <a:t>'&lt;/</a:t>
            </a:r>
            <a:r>
              <a:rPr lang="en-US" sz="1200" dirty="0" smtClean="0">
                <a:latin typeface="Consolas" pitchFamily="49" charset="0"/>
              </a:rPr>
              <a:t>div</a:t>
            </a:r>
            <a:r>
              <a:rPr lang="en-US" sz="1200" dirty="0" smtClean="0">
                <a:latin typeface="Consolas" pitchFamily="49" charset="0"/>
              </a:rPr>
              <a:t>&gt;';</a:t>
            </a:r>
            <a:endParaRPr lang="en-US" sz="1200" dirty="0" smtClean="0">
              <a:latin typeface="Consolas" pitchFamily="49" charset="0"/>
            </a:endParaRPr>
          </a:p>
          <a:p>
            <a:r>
              <a:rPr lang="en-US" sz="1200" dirty="0" smtClean="0">
                <a:latin typeface="Consolas" pitchFamily="49" charset="0"/>
              </a:rPr>
              <a:t>		$content .= $html;</a:t>
            </a:r>
          </a:p>
          <a:p>
            <a:r>
              <a:rPr lang="en-US" sz="1200" dirty="0" smtClean="0">
                <a:latin typeface="Consolas" pitchFamily="49" charset="0"/>
              </a:rPr>
              <a:t>    }</a:t>
            </a:r>
          </a:p>
          <a:p>
            <a:r>
              <a:rPr lang="en-US" sz="1200" dirty="0" smtClean="0">
                <a:latin typeface="Consolas" pitchFamily="49" charset="0"/>
              </a:rPr>
              <a:t>	</a:t>
            </a:r>
          </a:p>
          <a:p>
            <a:r>
              <a:rPr lang="en-US" sz="1200" dirty="0" smtClean="0">
                <a:latin typeface="Consolas" pitchFamily="49" charset="0"/>
              </a:rPr>
              <a:t>	return $content;</a:t>
            </a:r>
          </a:p>
          <a:p>
            <a:r>
              <a:rPr lang="en-US" sz="1200" dirty="0" smtClean="0">
                <a:latin typeface="Consolas" pitchFamily="49" charset="0"/>
              </a:rPr>
              <a:t>}</a:t>
            </a:r>
            <a:endParaRPr lang="en-US" sz="1200" dirty="0">
              <a:latin typeface="Consolas" pitchFamily="49"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get_post_meta</a:t>
            </a:r>
            <a:endParaRPr lang="en-US" dirty="0"/>
          </a:p>
        </p:txBody>
      </p:sp>
      <p:sp>
        <p:nvSpPr>
          <p:cNvPr id="3" name="Content Placeholder 2"/>
          <p:cNvSpPr>
            <a:spLocks noGrp="1"/>
          </p:cNvSpPr>
          <p:nvPr>
            <p:ph idx="1"/>
          </p:nvPr>
        </p:nvSpPr>
        <p:spPr/>
        <p:txBody>
          <a:bodyPr/>
          <a:lstStyle/>
          <a:p>
            <a:r>
              <a:rPr lang="en-US" sz="2000" dirty="0" smtClean="0">
                <a:hlinkClick r:id="rId2"/>
              </a:rPr>
              <a:t>https://developer.wordpress.org/reference/functions/get_post_meta/</a:t>
            </a:r>
            <a:endParaRPr lang="en-US" sz="2000" dirty="0" smtClean="0"/>
          </a:p>
          <a:p>
            <a:r>
              <a:rPr lang="en-US" sz="2000" b="1" dirty="0" err="1" smtClean="0"/>
              <a:t>get_post_meta</a:t>
            </a:r>
            <a:r>
              <a:rPr lang="en-US" sz="2000" b="1" dirty="0" smtClean="0"/>
              <a:t>( </a:t>
            </a:r>
            <a:r>
              <a:rPr lang="en-US" sz="2000" b="1" dirty="0" err="1" smtClean="0"/>
              <a:t>int</a:t>
            </a:r>
            <a:r>
              <a:rPr lang="en-US" sz="2000" b="1" dirty="0" smtClean="0"/>
              <a:t> $</a:t>
            </a:r>
            <a:r>
              <a:rPr lang="en-US" sz="2000" b="1" dirty="0" err="1" smtClean="0"/>
              <a:t>post_id</a:t>
            </a:r>
            <a:r>
              <a:rPr lang="en-US" sz="2000" b="1" dirty="0" smtClean="0"/>
              <a:t>, string $key = </a:t>
            </a:r>
            <a:r>
              <a:rPr lang="en-US" sz="2000" b="1" dirty="0" smtClean="0"/>
              <a:t>'', </a:t>
            </a:r>
            <a:r>
              <a:rPr lang="en-US" sz="2000" b="1" dirty="0" err="1" smtClean="0"/>
              <a:t>bool</a:t>
            </a:r>
            <a:r>
              <a:rPr lang="en-US" sz="2000" b="1" dirty="0" smtClean="0"/>
              <a:t> $single = false ): mixed</a:t>
            </a:r>
          </a:p>
          <a:p>
            <a:r>
              <a:rPr lang="en-US" sz="2000" dirty="0" smtClean="0"/>
              <a:t>Retrieves a post meta field for the given post ID.</a:t>
            </a:r>
          </a:p>
          <a:p>
            <a:endParaRPr lang="en-US" sz="2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attachment_url_to_postid</a:t>
            </a:r>
            <a:endParaRPr lang="en-US" dirty="0"/>
          </a:p>
        </p:txBody>
      </p:sp>
      <p:sp>
        <p:nvSpPr>
          <p:cNvPr id="3" name="Content Placeholder 2"/>
          <p:cNvSpPr>
            <a:spLocks noGrp="1"/>
          </p:cNvSpPr>
          <p:nvPr>
            <p:ph idx="1"/>
          </p:nvPr>
        </p:nvSpPr>
        <p:spPr/>
        <p:txBody>
          <a:bodyPr/>
          <a:lstStyle/>
          <a:p>
            <a:r>
              <a:rPr lang="en-US" sz="1800" dirty="0" smtClean="0">
                <a:hlinkClick r:id="rId2"/>
              </a:rPr>
              <a:t>https://developer.wordpress.org/reference/functions/attachment_url_to_postid/</a:t>
            </a:r>
            <a:endParaRPr lang="en-US" sz="1800" dirty="0" smtClean="0"/>
          </a:p>
          <a:p>
            <a:r>
              <a:rPr lang="en-US" sz="1800" b="1" dirty="0" err="1" smtClean="0"/>
              <a:t>attachment_url_to_postid</a:t>
            </a:r>
            <a:r>
              <a:rPr lang="en-US" sz="1800" b="1" dirty="0" smtClean="0"/>
              <a:t>( string $</a:t>
            </a:r>
            <a:r>
              <a:rPr lang="en-US" sz="1800" b="1" dirty="0" err="1" smtClean="0"/>
              <a:t>url</a:t>
            </a:r>
            <a:r>
              <a:rPr lang="en-US" sz="1800" b="1" dirty="0" smtClean="0"/>
              <a:t> ): </a:t>
            </a:r>
            <a:r>
              <a:rPr lang="en-US" sz="1800" b="1" dirty="0" err="1" smtClean="0"/>
              <a:t>int</a:t>
            </a:r>
            <a:endParaRPr lang="en-US" sz="1800" b="1" dirty="0" smtClean="0"/>
          </a:p>
          <a:p>
            <a:r>
              <a:rPr lang="en-US" sz="1800" dirty="0" smtClean="0"/>
              <a:t>Tries to convert an attachment URL into a post ID.</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rgbClr val="C00000"/>
                </a:solidFill>
              </a:rPr>
              <a:t>attachment_url_to_postid</a:t>
            </a:r>
            <a:r>
              <a:rPr lang="en-US" dirty="0" smtClean="0">
                <a:solidFill>
                  <a:srgbClr val="C00000"/>
                </a:solidFill>
              </a:rPr>
              <a:t> Issue</a:t>
            </a:r>
            <a:endParaRPr lang="en-US" dirty="0">
              <a:solidFill>
                <a:srgbClr val="C00000"/>
              </a:solidFill>
            </a:endParaRPr>
          </a:p>
        </p:txBody>
      </p:sp>
      <p:sp>
        <p:nvSpPr>
          <p:cNvPr id="3" name="Content Placeholder 2"/>
          <p:cNvSpPr>
            <a:spLocks noGrp="1"/>
          </p:cNvSpPr>
          <p:nvPr>
            <p:ph idx="1"/>
          </p:nvPr>
        </p:nvSpPr>
        <p:spPr/>
        <p:txBody>
          <a:bodyPr/>
          <a:lstStyle/>
          <a:p>
            <a:r>
              <a:rPr lang="en-US" sz="1800" dirty="0" smtClean="0">
                <a:solidFill>
                  <a:srgbClr val="C00000"/>
                </a:solidFill>
              </a:rPr>
              <a:t>I recently needed a way to get the ID of a </a:t>
            </a:r>
            <a:r>
              <a:rPr lang="en-US" sz="1800" dirty="0" err="1" smtClean="0">
                <a:solidFill>
                  <a:srgbClr val="C00000"/>
                </a:solidFill>
              </a:rPr>
              <a:t>WordPress</a:t>
            </a:r>
            <a:r>
              <a:rPr lang="en-US" sz="1800" dirty="0" smtClean="0">
                <a:solidFill>
                  <a:srgbClr val="C00000"/>
                </a:solidFill>
              </a:rPr>
              <a:t> image attachment, but I only had the image URL to work with. The problem was complicated by the fact that the image URL could be a thumbnail of the original image attachment, i.e. one of the auto-generated post thumbnail image sizes.</a:t>
            </a:r>
          </a:p>
          <a:p>
            <a:r>
              <a:rPr lang="en-US" sz="1800" b="1" dirty="0" smtClean="0"/>
              <a:t>Solution</a:t>
            </a:r>
            <a:r>
              <a:rPr lang="en-US" sz="1800" dirty="0" smtClean="0"/>
              <a:t>:</a:t>
            </a:r>
          </a:p>
          <a:p>
            <a:endParaRPr lang="en-US" sz="1800" dirty="0" smtClean="0"/>
          </a:p>
          <a:p>
            <a:endParaRPr lang="en-US" sz="1800" dirty="0"/>
          </a:p>
        </p:txBody>
      </p:sp>
      <p:sp>
        <p:nvSpPr>
          <p:cNvPr id="4" name="Rectangle 3"/>
          <p:cNvSpPr/>
          <p:nvPr/>
        </p:nvSpPr>
        <p:spPr>
          <a:xfrm>
            <a:off x="685800" y="3200400"/>
            <a:ext cx="7848600" cy="3046988"/>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solidFill>
                  <a:schemeClr val="tx1"/>
                </a:solidFill>
                <a:latin typeface="Consolas" pitchFamily="49" charset="0"/>
              </a:rPr>
              <a:t>// Gets attachment ID from attachment URL</a:t>
            </a:r>
          </a:p>
          <a:p>
            <a:r>
              <a:rPr lang="en-US" sz="1600" dirty="0" smtClean="0">
                <a:solidFill>
                  <a:schemeClr val="tx1"/>
                </a:solidFill>
                <a:latin typeface="Consolas" pitchFamily="49" charset="0"/>
              </a:rPr>
              <a:t>function </a:t>
            </a:r>
            <a:r>
              <a:rPr lang="en-US" sz="1600" dirty="0" err="1" smtClean="0">
                <a:solidFill>
                  <a:schemeClr val="tx1"/>
                </a:solidFill>
                <a:latin typeface="Consolas" pitchFamily="49" charset="0"/>
              </a:rPr>
              <a:t>copg_get_attachment_id</a:t>
            </a:r>
            <a:r>
              <a:rPr lang="en-US" sz="1600" dirty="0" smtClean="0">
                <a:solidFill>
                  <a:schemeClr val="tx1"/>
                </a:solidFill>
                <a:latin typeface="Consolas" pitchFamily="49" charset="0"/>
              </a:rPr>
              <a:t>( $</a:t>
            </a:r>
            <a:r>
              <a:rPr lang="en-US" sz="1600" dirty="0" err="1" smtClean="0">
                <a:solidFill>
                  <a:schemeClr val="tx1"/>
                </a:solidFill>
                <a:latin typeface="Consolas" pitchFamily="49" charset="0"/>
              </a:rPr>
              <a:t>attachment_url</a:t>
            </a:r>
            <a:r>
              <a:rPr lang="en-US" sz="1600" dirty="0" smtClean="0">
                <a:solidFill>
                  <a:schemeClr val="tx1"/>
                </a:solidFill>
                <a:latin typeface="Consolas" pitchFamily="49" charset="0"/>
              </a:rPr>
              <a:t> ) {</a:t>
            </a:r>
          </a:p>
          <a:p>
            <a:r>
              <a:rPr lang="en-US" sz="1600" dirty="0" smtClean="0">
                <a:solidFill>
                  <a:schemeClr val="tx1"/>
                </a:solidFill>
                <a:latin typeface="Consolas" pitchFamily="49" charset="0"/>
              </a:rPr>
              <a:t>	  global $</a:t>
            </a:r>
            <a:r>
              <a:rPr lang="en-US" sz="1600" dirty="0" err="1" smtClean="0">
                <a:solidFill>
                  <a:schemeClr val="tx1"/>
                </a:solidFill>
                <a:latin typeface="Consolas" pitchFamily="49" charset="0"/>
              </a:rPr>
              <a:t>wpdb</a:t>
            </a:r>
            <a:r>
              <a:rPr lang="en-US" sz="1600" dirty="0" smtClean="0">
                <a:solidFill>
                  <a:schemeClr val="tx1"/>
                </a:solidFill>
                <a:latin typeface="Consolas" pitchFamily="49" charset="0"/>
              </a:rPr>
              <a:t>;</a:t>
            </a:r>
          </a:p>
          <a:p>
            <a:r>
              <a:rPr lang="en-US" sz="1600" dirty="0" smtClean="0">
                <a:solidFill>
                  <a:schemeClr val="tx1"/>
                </a:solidFill>
                <a:latin typeface="Consolas" pitchFamily="49" charset="0"/>
              </a:rPr>
              <a:t>      $</a:t>
            </a:r>
            <a:r>
              <a:rPr lang="en-US" sz="1600" dirty="0" err="1" smtClean="0">
                <a:solidFill>
                  <a:schemeClr val="tx1"/>
                </a:solidFill>
                <a:latin typeface="Consolas" pitchFamily="49" charset="0"/>
              </a:rPr>
              <a:t>attachment_post</a:t>
            </a:r>
            <a:r>
              <a:rPr lang="en-US" sz="1600" dirty="0" smtClean="0">
                <a:solidFill>
                  <a:schemeClr val="tx1"/>
                </a:solidFill>
                <a:latin typeface="Consolas" pitchFamily="49" charset="0"/>
              </a:rPr>
              <a:t> = $</a:t>
            </a:r>
            <a:r>
              <a:rPr lang="en-US" sz="1600" dirty="0" err="1" smtClean="0">
                <a:solidFill>
                  <a:schemeClr val="tx1"/>
                </a:solidFill>
                <a:latin typeface="Consolas" pitchFamily="49" charset="0"/>
              </a:rPr>
              <a:t>wpdb</a:t>
            </a:r>
            <a:r>
              <a:rPr lang="en-US" sz="1600" dirty="0" smtClean="0">
                <a:solidFill>
                  <a:schemeClr val="tx1"/>
                </a:solidFill>
                <a:latin typeface="Consolas" pitchFamily="49" charset="0"/>
              </a:rPr>
              <a:t>-&gt;</a:t>
            </a:r>
            <a:r>
              <a:rPr lang="en-US" sz="1600" dirty="0" err="1" smtClean="0">
                <a:solidFill>
                  <a:schemeClr val="tx1"/>
                </a:solidFill>
                <a:latin typeface="Consolas" pitchFamily="49" charset="0"/>
              </a:rPr>
              <a:t>get_col</a:t>
            </a:r>
            <a:r>
              <a:rPr lang="en-US" sz="1600" dirty="0" smtClean="0">
                <a:solidFill>
                  <a:schemeClr val="tx1"/>
                </a:solidFill>
                <a:latin typeface="Consolas" pitchFamily="49" charset="0"/>
              </a:rPr>
              <a:t>($</a:t>
            </a:r>
            <a:r>
              <a:rPr lang="en-US" sz="1600" dirty="0" err="1" smtClean="0">
                <a:solidFill>
                  <a:schemeClr val="tx1"/>
                </a:solidFill>
                <a:latin typeface="Consolas" pitchFamily="49" charset="0"/>
              </a:rPr>
              <a:t>wpdb</a:t>
            </a:r>
            <a:r>
              <a:rPr lang="en-US" sz="1600" dirty="0" smtClean="0">
                <a:solidFill>
                  <a:schemeClr val="tx1"/>
                </a:solidFill>
                <a:latin typeface="Consolas" pitchFamily="49" charset="0"/>
              </a:rPr>
              <a:t>-&gt;prepare("SELECT ID FROM $</a:t>
            </a:r>
            <a:r>
              <a:rPr lang="en-US" sz="1600" dirty="0" err="1" smtClean="0">
                <a:solidFill>
                  <a:schemeClr val="tx1"/>
                </a:solidFill>
                <a:latin typeface="Consolas" pitchFamily="49" charset="0"/>
              </a:rPr>
              <a:t>wpdb</a:t>
            </a:r>
            <a:r>
              <a:rPr lang="en-US" sz="1600" dirty="0" smtClean="0">
                <a:solidFill>
                  <a:schemeClr val="tx1"/>
                </a:solidFill>
                <a:latin typeface="Consolas" pitchFamily="49" charset="0"/>
              </a:rPr>
              <a:t>-&gt;posts WHERE </a:t>
            </a:r>
            <a:r>
              <a:rPr lang="en-US" sz="1600" dirty="0" err="1" smtClean="0">
                <a:solidFill>
                  <a:schemeClr val="tx1"/>
                </a:solidFill>
                <a:latin typeface="Consolas" pitchFamily="49" charset="0"/>
              </a:rPr>
              <a:t>guid</a:t>
            </a:r>
            <a:r>
              <a:rPr lang="en-US" sz="1600" dirty="0" smtClean="0">
                <a:solidFill>
                  <a:schemeClr val="tx1"/>
                </a:solidFill>
                <a:latin typeface="Consolas" pitchFamily="49" charset="0"/>
              </a:rPr>
              <a:t>='%s';", </a:t>
            </a:r>
            <a:r>
              <a:rPr lang="en-US" sz="1600" dirty="0" smtClean="0">
                <a:solidFill>
                  <a:schemeClr val="tx1"/>
                </a:solidFill>
                <a:latin typeface="Consolas" pitchFamily="49" charset="0"/>
              </a:rPr>
              <a:t>$</a:t>
            </a:r>
            <a:r>
              <a:rPr lang="en-US" sz="1600" dirty="0" err="1" smtClean="0">
                <a:solidFill>
                  <a:schemeClr val="tx1"/>
                </a:solidFill>
                <a:latin typeface="Consolas" pitchFamily="49" charset="0"/>
              </a:rPr>
              <a:t>attachment_url</a:t>
            </a:r>
            <a:r>
              <a:rPr lang="en-US" sz="1600" dirty="0" smtClean="0">
                <a:solidFill>
                  <a:schemeClr val="tx1"/>
                </a:solidFill>
                <a:latin typeface="Consolas" pitchFamily="49" charset="0"/>
              </a:rPr>
              <a:t> ));</a:t>
            </a:r>
          </a:p>
          <a:p>
            <a:r>
              <a:rPr lang="en-US" sz="1600" dirty="0" smtClean="0">
                <a:solidFill>
                  <a:schemeClr val="tx1"/>
                </a:solidFill>
                <a:latin typeface="Consolas" pitchFamily="49" charset="0"/>
              </a:rPr>
              <a:t>      if ( count( $</a:t>
            </a:r>
            <a:r>
              <a:rPr lang="en-US" sz="1600" dirty="0" err="1" smtClean="0">
                <a:solidFill>
                  <a:schemeClr val="tx1"/>
                </a:solidFill>
                <a:latin typeface="Consolas" pitchFamily="49" charset="0"/>
              </a:rPr>
              <a:t>attachment_post</a:t>
            </a:r>
            <a:r>
              <a:rPr lang="en-US" sz="1600" dirty="0" smtClean="0">
                <a:solidFill>
                  <a:schemeClr val="tx1"/>
                </a:solidFill>
                <a:latin typeface="Consolas" pitchFamily="49" charset="0"/>
              </a:rPr>
              <a:t> ) &gt; 0 ) {      </a:t>
            </a:r>
          </a:p>
          <a:p>
            <a:r>
              <a:rPr lang="en-US" sz="1600" dirty="0" smtClean="0">
                <a:solidFill>
                  <a:schemeClr val="tx1"/>
                </a:solidFill>
                <a:latin typeface="Consolas" pitchFamily="49" charset="0"/>
              </a:rPr>
              <a:t>           return $</a:t>
            </a:r>
            <a:r>
              <a:rPr lang="en-US" sz="1600" dirty="0" err="1" smtClean="0">
                <a:solidFill>
                  <a:schemeClr val="tx1"/>
                </a:solidFill>
                <a:latin typeface="Consolas" pitchFamily="49" charset="0"/>
              </a:rPr>
              <a:t>attachment_post</a:t>
            </a:r>
            <a:r>
              <a:rPr lang="en-US" sz="1600" dirty="0" smtClean="0">
                <a:solidFill>
                  <a:schemeClr val="tx1"/>
                </a:solidFill>
                <a:latin typeface="Consolas" pitchFamily="49" charset="0"/>
              </a:rPr>
              <a:t>[0];</a:t>
            </a:r>
          </a:p>
          <a:p>
            <a:r>
              <a:rPr lang="en-US" sz="1600" dirty="0" smtClean="0">
                <a:solidFill>
                  <a:schemeClr val="tx1"/>
                </a:solidFill>
                <a:latin typeface="Consolas" pitchFamily="49" charset="0"/>
              </a:rPr>
              <a:t>      }</a:t>
            </a:r>
          </a:p>
          <a:p>
            <a:r>
              <a:rPr lang="en-US" sz="1600" dirty="0" smtClean="0">
                <a:solidFill>
                  <a:schemeClr val="tx1"/>
                </a:solidFill>
                <a:latin typeface="Consolas" pitchFamily="49" charset="0"/>
              </a:rPr>
              <a:t>      else {</a:t>
            </a:r>
          </a:p>
          <a:p>
            <a:r>
              <a:rPr lang="en-US" sz="1600" dirty="0" smtClean="0">
                <a:solidFill>
                  <a:schemeClr val="tx1"/>
                </a:solidFill>
                <a:latin typeface="Consolas" pitchFamily="49" charset="0"/>
              </a:rPr>
              <a:t>           return 0;</a:t>
            </a:r>
          </a:p>
          <a:p>
            <a:r>
              <a:rPr lang="en-US" sz="1600" dirty="0" smtClean="0">
                <a:solidFill>
                  <a:schemeClr val="tx1"/>
                </a:solidFill>
                <a:latin typeface="Consolas" pitchFamily="49" charset="0"/>
              </a:rPr>
              <a:t>      }</a:t>
            </a:r>
          </a:p>
          <a:p>
            <a:r>
              <a:rPr lang="en-US" sz="1600" dirty="0" smtClean="0">
                <a:solidFill>
                  <a:schemeClr val="tx1"/>
                </a:solidFill>
                <a:latin typeface="Consolas" pitchFamily="49" charset="0"/>
              </a:rPr>
              <a:t>}</a:t>
            </a:r>
            <a:endParaRPr lang="en-US" sz="1600" dirty="0">
              <a:solidFill>
                <a:schemeClr val="tx1"/>
              </a:solidFill>
              <a:latin typeface="Consolas" pitchFamily="49"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dirty="0" smtClean="0"/>
              <a:t>Thank You &amp; See You Again</a:t>
            </a:r>
          </a:p>
        </p:txBody>
      </p:sp>
      <p:pic>
        <p:nvPicPr>
          <p:cNvPr id="38915" name="Picture 4"/>
          <p:cNvPicPr>
            <a:picLocks noGrp="1" noChangeAspect="1" noChangeArrowheads="1"/>
          </p:cNvPicPr>
          <p:nvPr>
            <p:ph idx="1"/>
          </p:nvPr>
        </p:nvPicPr>
        <p:blipFill>
          <a:blip r:embed="rId2" cstate="print"/>
          <a:srcRect/>
          <a:stretch>
            <a:fillRect/>
          </a:stretch>
        </p:blipFill>
        <p:spPr>
          <a:xfrm>
            <a:off x="1166813" y="16002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13044</TotalTime>
  <Words>3441</Words>
  <Application>Microsoft Office PowerPoint</Application>
  <PresentationFormat>On-screen Show (4:3)</PresentationFormat>
  <Paragraphs>661</Paragraphs>
  <Slides>80</Slides>
  <Notes>1</Notes>
  <HiddenSlides>0</HiddenSlides>
  <MMClips>0</MMClips>
  <ScaleCrop>false</ScaleCrop>
  <HeadingPairs>
    <vt:vector size="4" baseType="variant">
      <vt:variant>
        <vt:lpstr>Theme</vt:lpstr>
      </vt:variant>
      <vt:variant>
        <vt:i4>1</vt:i4>
      </vt:variant>
      <vt:variant>
        <vt:lpstr>Slide Titles</vt:lpstr>
      </vt:variant>
      <vt:variant>
        <vt:i4>80</vt:i4>
      </vt:variant>
    </vt:vector>
  </HeadingPairs>
  <TitlesOfParts>
    <vt:vector size="81" baseType="lpstr">
      <vt:lpstr>Office Theme</vt:lpstr>
      <vt:lpstr>The Core</vt:lpstr>
      <vt:lpstr>Objectives</vt:lpstr>
      <vt:lpstr>Contents</vt:lpstr>
      <vt:lpstr>References</vt:lpstr>
      <vt:lpstr>What's in the Core? [1]</vt:lpstr>
      <vt:lpstr>Exploring the Core</vt:lpstr>
      <vt:lpstr>Slide 7</vt:lpstr>
      <vt:lpstr>The Loop</vt:lpstr>
      <vt:lpstr>From URL to index.php</vt:lpstr>
      <vt:lpstr>index.php</vt:lpstr>
      <vt:lpstr>wp-blog-header.php</vt:lpstr>
      <vt:lpstr>wp-load.php</vt:lpstr>
      <vt:lpstr>wp-config.php</vt:lpstr>
      <vt:lpstr>wp-settings.php</vt:lpstr>
      <vt:lpstr>load.php</vt:lpstr>
      <vt:lpstr>wp-blog-header.php</vt:lpstr>
      <vt:lpstr>Template Terminology</vt:lpstr>
      <vt:lpstr>template-loader.php</vt:lpstr>
      <vt:lpstr>template.php</vt:lpstr>
      <vt:lpstr>Slide 20</vt:lpstr>
      <vt:lpstr>1. Create a Page Template</vt:lpstr>
      <vt:lpstr>2. Use the Page Template</vt:lpstr>
      <vt:lpstr>Slide 23</vt:lpstr>
      <vt:lpstr>Database Diagram: Users, Posts</vt:lpstr>
      <vt:lpstr>Database Diagram: Posts, Post Meta</vt:lpstr>
      <vt:lpstr>Database Diagram: Posts, Attachments</vt:lpstr>
      <vt:lpstr>Database Diagram: Attachments</vt:lpstr>
      <vt:lpstr>Slide 28</vt:lpstr>
      <vt:lpstr>1. Create Plug-in Folder</vt:lpstr>
      <vt:lpstr>2. Create index.php</vt:lpstr>
      <vt:lpstr>3. Create uninstall.php</vt:lpstr>
      <vt:lpstr>4. Create hello-world-plugin.php</vt:lpstr>
      <vt:lpstr>register_activation_hook</vt:lpstr>
      <vt:lpstr>Activate and Deactivate the Plug-in</vt:lpstr>
      <vt:lpstr>Slide 35</vt:lpstr>
      <vt:lpstr>What is WP-Cron</vt:lpstr>
      <vt:lpstr>Why Use WP-Cron</vt:lpstr>
      <vt:lpstr>WP Crontrol Plug-in</vt:lpstr>
      <vt:lpstr>Create a Cron Job in a Plug-in</vt:lpstr>
      <vt:lpstr>Run a Test</vt:lpstr>
      <vt:lpstr>Slide 41</vt:lpstr>
      <vt:lpstr>Theme Folder Structure [2]</vt:lpstr>
      <vt:lpstr>A Typical WordPress Theme Anatomy</vt:lpstr>
      <vt:lpstr>The index.php File</vt:lpstr>
      <vt:lpstr>header.php</vt:lpstr>
      <vt:lpstr>Including Basic Template Files to index.php</vt:lpstr>
      <vt:lpstr>Functions File</vt:lpstr>
      <vt:lpstr>Template Hierarchy</vt:lpstr>
      <vt:lpstr>Building Your Theme</vt:lpstr>
      <vt:lpstr>Template Tags</vt:lpstr>
      <vt:lpstr>Constructing the Page</vt:lpstr>
      <vt:lpstr>wp-blog-header.php</vt:lpstr>
      <vt:lpstr>template-loader.php</vt:lpstr>
      <vt:lpstr>Slide 54</vt:lpstr>
      <vt:lpstr>1. Why Create a Child Theme?</vt:lpstr>
      <vt:lpstr>2. Create a Child Theme Folder</vt:lpstr>
      <vt:lpstr>3. Create style.css</vt:lpstr>
      <vt:lpstr>4. Create functions.php</vt:lpstr>
      <vt:lpstr>5. Create screenshot.png</vt:lpstr>
      <vt:lpstr>Slide 60</vt:lpstr>
      <vt:lpstr>Writing Web Applications [3]</vt:lpstr>
      <vt:lpstr>The Components of WordPress</vt:lpstr>
      <vt:lpstr>Understanding Events</vt:lpstr>
      <vt:lpstr>Hooks: Actions</vt:lpstr>
      <vt:lpstr>add_action</vt:lpstr>
      <vt:lpstr>Execution Order</vt:lpstr>
      <vt:lpstr>Example</vt:lpstr>
      <vt:lpstr>Use Actions with a Class</vt:lpstr>
      <vt:lpstr>wp_enqueue_scripts</vt:lpstr>
      <vt:lpstr>Example (in a Theme Child)</vt:lpstr>
      <vt:lpstr>Hooks: Filters</vt:lpstr>
      <vt:lpstr>the_content Filter</vt:lpstr>
      <vt:lpstr>Show Post Type</vt:lpstr>
      <vt:lpstr>List Post Types</vt:lpstr>
      <vt:lpstr>Slide 75</vt:lpstr>
      <vt:lpstr>get_post_meta</vt:lpstr>
      <vt:lpstr>attachment_url_to_postid</vt:lpstr>
      <vt:lpstr>attachment_url_to_postid Issue</vt:lpstr>
      <vt:lpstr>Slide 79</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4643</cp:revision>
  <dcterms:created xsi:type="dcterms:W3CDTF">2007-10-06T08:25:13Z</dcterms:created>
  <dcterms:modified xsi:type="dcterms:W3CDTF">2025-03-27T14:44:15Z</dcterms:modified>
</cp:coreProperties>
</file>