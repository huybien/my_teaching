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08" r:id="rId1"/>
  </p:sldMasterIdLst>
  <p:notesMasterIdLst>
    <p:notesMasterId r:id="rId10"/>
  </p:notesMasterIdLst>
  <p:sldIdLst>
    <p:sldId id="371" r:id="rId2"/>
    <p:sldId id="392" r:id="rId3"/>
    <p:sldId id="393" r:id="rId4"/>
    <p:sldId id="394" r:id="rId5"/>
    <p:sldId id="395" r:id="rId6"/>
    <p:sldId id="396" r:id="rId7"/>
    <p:sldId id="397" r:id="rId8"/>
    <p:sldId id="391" r:id="rId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35" autoAdjust="0"/>
    <p:restoredTop sz="94667" autoAdjust="0"/>
  </p:normalViewPr>
  <p:slideViewPr>
    <p:cSldViewPr>
      <p:cViewPr>
        <p:scale>
          <a:sx n="50" d="100"/>
          <a:sy n="50" d="100"/>
        </p:scale>
        <p:origin x="-1544"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972150E-24DE-4D23-AF8D-CF01896B0C83}" type="datetimeFigureOut">
              <a:rPr lang="en-US" smtClean="0"/>
              <a:pPr/>
              <a:t>6/20/2025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8E95B1-5ED0-4005-B293-784E4C93134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6/20/2025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6/20/2025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6/20/2025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6/20/2025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6/20/2025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6/20/2025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6/20/2025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6/20/2025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6/20/2025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6/20/2025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6/20/2025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6/20/2025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vsupalov.com/what-is-gunicorn/"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medium.com/@serdarilarslan/what-is-gunicorn-5e674fff131b"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err="1" smtClean="0"/>
              <a:t>Gunicorn</a:t>
            </a:r>
            <a:endParaRPr lang="en-US" sz="6000" dirty="0" smtClean="0"/>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381000" y="1752600"/>
            <a:ext cx="5715000" cy="4038600"/>
          </a:xfrm>
        </p:spPr>
        <p:txBody>
          <a:bodyPr/>
          <a:lstStyle/>
          <a:p>
            <a:pPr>
              <a:buFont typeface="Wingdings" pitchFamily="2" charset="2"/>
              <a:buChar char="Ø"/>
            </a:pPr>
            <a:endParaRPr lang="en-US" sz="2400" i="1" dirty="0" smtClean="0">
              <a:solidFill>
                <a:srgbClr val="C00000"/>
              </a:solidFill>
            </a:endParaRPr>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References</a:t>
            </a:r>
            <a:endParaRPr lang="en-US" dirty="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
        <p:nvSpPr>
          <p:cNvPr id="3" name="Content Placeholder 2"/>
          <p:cNvSpPr>
            <a:spLocks noGrp="1"/>
          </p:cNvSpPr>
          <p:nvPr>
            <p:ph idx="1"/>
          </p:nvPr>
        </p:nvSpPr>
        <p:spPr>
          <a:xfrm>
            <a:off x="457200" y="1600200"/>
            <a:ext cx="5638800" cy="4876800"/>
          </a:xfrm>
        </p:spPr>
        <p:txBody>
          <a:bodyPr/>
          <a:lstStyle/>
          <a:p>
            <a:pPr marL="457200" indent="-457200">
              <a:buFont typeface="+mj-lt"/>
              <a:buAutoNum type="arabicPeriod"/>
            </a:pPr>
            <a:endParaRPr lang="en-US" sz="22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Gunicorn</a:t>
            </a:r>
            <a:endParaRPr lang="en-US" dirty="0"/>
          </a:p>
        </p:txBody>
      </p:sp>
      <p:sp>
        <p:nvSpPr>
          <p:cNvPr id="3" name="Content Placeholder 2"/>
          <p:cNvSpPr>
            <a:spLocks noGrp="1"/>
          </p:cNvSpPr>
          <p:nvPr>
            <p:ph idx="1"/>
          </p:nvPr>
        </p:nvSpPr>
        <p:spPr/>
        <p:txBody>
          <a:bodyPr/>
          <a:lstStyle/>
          <a:p>
            <a:r>
              <a:rPr lang="en-US" sz="2000" dirty="0" smtClean="0">
                <a:hlinkClick r:id="rId2"/>
              </a:rPr>
              <a:t>https://vsupalov.com/what-is-gunicorn/</a:t>
            </a:r>
            <a:endParaRPr lang="en-US" sz="2000" dirty="0" smtClean="0"/>
          </a:p>
          <a:p>
            <a:r>
              <a:rPr lang="en-US" sz="2000" dirty="0" smtClean="0"/>
              <a:t>Three common building blocks when deploying a </a:t>
            </a:r>
            <a:r>
              <a:rPr lang="en-US" sz="2000" i="1" dirty="0" smtClean="0">
                <a:solidFill>
                  <a:srgbClr val="C00000"/>
                </a:solidFill>
              </a:rPr>
              <a:t>Python web application</a:t>
            </a:r>
            <a:r>
              <a:rPr lang="en-US" sz="2000" dirty="0" smtClean="0"/>
              <a:t> to production are:</a:t>
            </a:r>
          </a:p>
          <a:p>
            <a:pPr lvl="1"/>
            <a:r>
              <a:rPr lang="en-US" sz="2000" dirty="0" smtClean="0"/>
              <a:t>A </a:t>
            </a:r>
            <a:r>
              <a:rPr lang="en-US" sz="2000" i="1" dirty="0" smtClean="0">
                <a:solidFill>
                  <a:srgbClr val="C00000"/>
                </a:solidFill>
              </a:rPr>
              <a:t>web server</a:t>
            </a:r>
            <a:r>
              <a:rPr lang="en-US" sz="2000" dirty="0" smtClean="0"/>
              <a:t> (like </a:t>
            </a:r>
            <a:r>
              <a:rPr lang="en-US" sz="2000" dirty="0" err="1" smtClean="0"/>
              <a:t>nginx</a:t>
            </a:r>
            <a:r>
              <a:rPr lang="en-US" sz="2000" dirty="0" smtClean="0"/>
              <a:t>)</a:t>
            </a:r>
          </a:p>
          <a:p>
            <a:pPr lvl="1"/>
            <a:r>
              <a:rPr lang="en-US" sz="2000" dirty="0" smtClean="0"/>
              <a:t>A WSGI </a:t>
            </a:r>
            <a:r>
              <a:rPr lang="en-US" sz="2000" i="1" dirty="0" smtClean="0">
                <a:solidFill>
                  <a:srgbClr val="C00000"/>
                </a:solidFill>
              </a:rPr>
              <a:t>application server</a:t>
            </a:r>
            <a:r>
              <a:rPr lang="en-US" sz="2000" dirty="0" smtClean="0"/>
              <a:t> (like </a:t>
            </a:r>
            <a:r>
              <a:rPr lang="en-US" sz="2000" dirty="0" err="1" smtClean="0"/>
              <a:t>Gunicorn</a:t>
            </a:r>
            <a:r>
              <a:rPr lang="en-US" sz="2000" dirty="0" smtClean="0"/>
              <a:t>)</a:t>
            </a:r>
          </a:p>
          <a:p>
            <a:pPr lvl="1"/>
            <a:r>
              <a:rPr lang="en-US" sz="2000" dirty="0" smtClean="0"/>
              <a:t>Your </a:t>
            </a:r>
            <a:r>
              <a:rPr lang="en-US" sz="2000" i="1" dirty="0" smtClean="0">
                <a:solidFill>
                  <a:srgbClr val="C00000"/>
                </a:solidFill>
              </a:rPr>
              <a:t>actual application</a:t>
            </a:r>
            <a:r>
              <a:rPr lang="en-US" sz="2000" dirty="0" smtClean="0"/>
              <a:t> (written using a developer-friendly framework like </a:t>
            </a:r>
            <a:r>
              <a:rPr lang="en-US" sz="2000" dirty="0" err="1" smtClean="0"/>
              <a:t>Django</a:t>
            </a:r>
            <a:r>
              <a:rPr lang="en-US" sz="2000" dirty="0" smtClean="0"/>
              <a:t>).</a:t>
            </a:r>
          </a:p>
          <a:p>
            <a:r>
              <a:rPr lang="en-US" sz="2000" dirty="0" smtClean="0"/>
              <a:t>The </a:t>
            </a:r>
            <a:r>
              <a:rPr lang="en-US" sz="2000" i="1" dirty="0" smtClean="0">
                <a:solidFill>
                  <a:srgbClr val="C00000"/>
                </a:solidFill>
              </a:rPr>
              <a:t>web server</a:t>
            </a:r>
            <a:r>
              <a:rPr lang="en-US" sz="2000" dirty="0" smtClean="0"/>
              <a:t> accepts requests, takes care of general domain logic and takes care of handling https connections.</a:t>
            </a:r>
          </a:p>
          <a:p>
            <a:r>
              <a:rPr lang="en-US" sz="2000" dirty="0" smtClean="0"/>
              <a:t>Only requests which are meant to arrive at the application are passed on toward the </a:t>
            </a:r>
            <a:r>
              <a:rPr lang="en-US" sz="2000" i="1" dirty="0" smtClean="0">
                <a:solidFill>
                  <a:srgbClr val="C00000"/>
                </a:solidFill>
              </a:rPr>
              <a:t>application server</a:t>
            </a:r>
            <a:r>
              <a:rPr lang="en-US" sz="2000" dirty="0" smtClean="0"/>
              <a:t> and the application itself.</a:t>
            </a:r>
          </a:p>
          <a:p>
            <a:r>
              <a:rPr lang="en-US" sz="2000" dirty="0" smtClean="0"/>
              <a:t>The </a:t>
            </a:r>
            <a:r>
              <a:rPr lang="en-US" sz="2000" i="1" dirty="0" smtClean="0">
                <a:solidFill>
                  <a:srgbClr val="C00000"/>
                </a:solidFill>
              </a:rPr>
              <a:t>application code</a:t>
            </a:r>
            <a:r>
              <a:rPr lang="en-US" sz="2000" dirty="0" smtClean="0"/>
              <a:t> does not care about anything except being able to process single requests.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Gunicorn</a:t>
            </a:r>
            <a:r>
              <a:rPr lang="en-US" smtClean="0"/>
              <a:t> Architecture</a:t>
            </a:r>
            <a:endParaRPr lang="en-US" dirty="0"/>
          </a:p>
        </p:txBody>
      </p:sp>
      <p:sp>
        <p:nvSpPr>
          <p:cNvPr id="3" name="Content Placeholder 2"/>
          <p:cNvSpPr>
            <a:spLocks noGrp="1"/>
          </p:cNvSpPr>
          <p:nvPr>
            <p:ph idx="1"/>
          </p:nvPr>
        </p:nvSpPr>
        <p:spPr/>
        <p:txBody>
          <a:bodyPr/>
          <a:lstStyle/>
          <a:p>
            <a:r>
              <a:rPr lang="en-US" sz="2000" dirty="0" smtClean="0">
                <a:hlinkClick r:id="rId2"/>
              </a:rPr>
              <a:t>https://medium.com/@serdarilarslan/what-is-gunicorn-5e674fff131b</a:t>
            </a:r>
            <a:endParaRPr lang="en-US" sz="2000" dirty="0" smtClean="0"/>
          </a:p>
          <a:p>
            <a:r>
              <a:rPr lang="en-US" sz="2000" dirty="0" err="1" smtClean="0"/>
              <a:t>Gunicorn</a:t>
            </a:r>
            <a:r>
              <a:rPr lang="en-US" sz="2000" dirty="0" smtClean="0"/>
              <a:t> is a WSGI compliant web server for Python Applications that receive requests sent to the Web Server from a Client and forwards them onto the Python applications or Web Frameworks (such as Flask or </a:t>
            </a:r>
            <a:r>
              <a:rPr lang="en-US" sz="2000" dirty="0" err="1" smtClean="0"/>
              <a:t>Django</a:t>
            </a:r>
            <a:r>
              <a:rPr lang="en-US" sz="2000" dirty="0" smtClean="0"/>
              <a:t>) in order to run the appropriate application code for the request.</a:t>
            </a:r>
          </a:p>
          <a:p>
            <a:r>
              <a:rPr lang="en-US" sz="2000" dirty="0" err="1" smtClean="0"/>
              <a:t>Gunicorn</a:t>
            </a:r>
            <a:r>
              <a:rPr lang="en-US" sz="2000" dirty="0" smtClean="0"/>
              <a:t> is one implementation of a WSGI server for Python applications.</a:t>
            </a:r>
          </a:p>
        </p:txBody>
      </p:sp>
      <p:pic>
        <p:nvPicPr>
          <p:cNvPr id="1026" name="Picture 2" descr="https://miro.medium.com/v2/resize:fit:1400/1*i_9gtKakG2QjgwXdFDdwRA.jpeg"/>
          <p:cNvPicPr>
            <a:picLocks noChangeAspect="1" noChangeArrowheads="1"/>
          </p:cNvPicPr>
          <p:nvPr/>
        </p:nvPicPr>
        <p:blipFill>
          <a:blip r:embed="rId3" cstate="print"/>
          <a:srcRect/>
          <a:stretch>
            <a:fillRect/>
          </a:stretch>
        </p:blipFill>
        <p:spPr bwMode="auto">
          <a:xfrm>
            <a:off x="1143000" y="4114800"/>
            <a:ext cx="6667500" cy="1847851"/>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Gunicorn</a:t>
            </a:r>
            <a:r>
              <a:rPr lang="en-US" dirty="0" smtClean="0"/>
              <a:t> is a WSGI server</a:t>
            </a:r>
            <a:endParaRPr lang="en-US" dirty="0"/>
          </a:p>
        </p:txBody>
      </p:sp>
      <p:sp>
        <p:nvSpPr>
          <p:cNvPr id="3" name="Content Placeholder 2"/>
          <p:cNvSpPr>
            <a:spLocks noGrp="1"/>
          </p:cNvSpPr>
          <p:nvPr>
            <p:ph idx="1"/>
          </p:nvPr>
        </p:nvSpPr>
        <p:spPr/>
        <p:txBody>
          <a:bodyPr/>
          <a:lstStyle/>
          <a:p>
            <a:r>
              <a:rPr lang="en-US" sz="2000" dirty="0" err="1" smtClean="0"/>
              <a:t>Gunicorn</a:t>
            </a:r>
            <a:r>
              <a:rPr lang="en-US" sz="2000" dirty="0" smtClean="0"/>
              <a:t> is built so many different web servers can interact with it.</a:t>
            </a:r>
          </a:p>
          <a:p>
            <a:r>
              <a:rPr lang="en-US" sz="2000" dirty="0" smtClean="0"/>
              <a:t>It also does not really care what you used to build your web application - as long as it can be interacted with using the WSGI interface.</a:t>
            </a:r>
          </a:p>
          <a:p>
            <a:r>
              <a:rPr lang="en-US" sz="2000" dirty="0" smtClean="0"/>
              <a:t>As described in PEP3333, the Python </a:t>
            </a:r>
            <a:r>
              <a:rPr lang="en-US" sz="2000" i="1" dirty="0" smtClean="0">
                <a:solidFill>
                  <a:srgbClr val="C00000"/>
                </a:solidFill>
              </a:rPr>
              <a:t>Web Server Gateway Interface</a:t>
            </a:r>
            <a:r>
              <a:rPr lang="en-US" sz="2000" dirty="0" smtClean="0"/>
              <a:t> (WSGI) is a way to make sure that web servers and python web applications can talk to each other. To be more precise: </a:t>
            </a:r>
            <a:r>
              <a:rPr lang="en-US" sz="2000" i="1" dirty="0" smtClean="0"/>
              <a:t>The server side invokes a callable object that is provided by the application side.</a:t>
            </a:r>
          </a:p>
          <a:p>
            <a:r>
              <a:rPr lang="en-US" sz="2000" dirty="0" smtClean="0"/>
              <a:t>So somewhere inside your application (usually a wsgi.py file) an object is defined which can be invoked by </a:t>
            </a:r>
            <a:r>
              <a:rPr lang="en-US" sz="2000" dirty="0" err="1" smtClean="0"/>
              <a:t>Gunicorn</a:t>
            </a:r>
            <a:r>
              <a:rPr lang="en-US" sz="2000" dirty="0" smtClean="0"/>
              <a:t>. This object is used to pass request data to your application, and to receive response data.</a:t>
            </a:r>
          </a:p>
          <a:p>
            <a:r>
              <a:rPr lang="en-US" sz="2000" dirty="0" err="1" smtClean="0"/>
              <a:t>Gunicorns</a:t>
            </a:r>
            <a:r>
              <a:rPr lang="en-US" sz="2000" dirty="0" smtClean="0"/>
              <a:t> takes care of running multiple instances of your web application, making sure they are healthy and restart them as needed, distributing incoming requests across those instances and communicate with the web server.</a:t>
            </a:r>
            <a:endParaRPr lang="en-US" sz="2000" i="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a:t>
            </a:r>
            <a:r>
              <a:rPr lang="en-US" smtClean="0"/>
              <a:t>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17593</TotalTime>
  <Words>383</Words>
  <Application>Microsoft Office PowerPoint</Application>
  <PresentationFormat>On-screen Show (4:3)</PresentationFormat>
  <Paragraphs>31</Paragraphs>
  <Slides>8</Slides>
  <Notes>1</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Gunicorn</vt:lpstr>
      <vt:lpstr>Objectives</vt:lpstr>
      <vt:lpstr>Contents</vt:lpstr>
      <vt:lpstr>References</vt:lpstr>
      <vt:lpstr>Gunicorn</vt:lpstr>
      <vt:lpstr>Gunicorn Architecture</vt:lpstr>
      <vt:lpstr>Gunicorn is a WSGI server</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5166</cp:revision>
  <dcterms:created xsi:type="dcterms:W3CDTF">2007-10-06T08:25:13Z</dcterms:created>
  <dcterms:modified xsi:type="dcterms:W3CDTF">2025-06-19T17:42:49Z</dcterms:modified>
</cp:coreProperties>
</file>