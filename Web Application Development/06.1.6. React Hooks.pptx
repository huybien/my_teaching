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22"/>
  </p:notesMasterIdLst>
  <p:sldIdLst>
    <p:sldId id="499" r:id="rId2"/>
    <p:sldId id="500" r:id="rId3"/>
    <p:sldId id="501" r:id="rId4"/>
    <p:sldId id="502" r:id="rId5"/>
    <p:sldId id="504" r:id="rId6"/>
    <p:sldId id="505" r:id="rId7"/>
    <p:sldId id="506" r:id="rId8"/>
    <p:sldId id="519" r:id="rId9"/>
    <p:sldId id="523" r:id="rId10"/>
    <p:sldId id="521" r:id="rId11"/>
    <p:sldId id="522" r:id="rId12"/>
    <p:sldId id="524" r:id="rId13"/>
    <p:sldId id="525" r:id="rId14"/>
    <p:sldId id="526" r:id="rId15"/>
    <p:sldId id="529" r:id="rId16"/>
    <p:sldId id="527" r:id="rId17"/>
    <p:sldId id="531" r:id="rId18"/>
    <p:sldId id="532" r:id="rId19"/>
    <p:sldId id="533" r:id="rId20"/>
    <p:sldId id="343" r:id="rId2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8" autoAdjust="0"/>
    <p:restoredTop sz="94667" autoAdjust="0"/>
  </p:normalViewPr>
  <p:slideViewPr>
    <p:cSldViewPr>
      <p:cViewPr>
        <p:scale>
          <a:sx n="50" d="100"/>
          <a:sy n="50" d="100"/>
        </p:scale>
        <p:origin x="-1584"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72150E-24DE-4D23-AF8D-CF01896B0C83}" type="datetimeFigureOut">
              <a:rPr lang="en-US" smtClean="0"/>
              <a:pPr/>
              <a:t>1/27/2024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8E95B1-5ED0-4005-B293-784E4C93134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1/27/2024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1/27/2024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1/27/2024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1/27/2024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1/27/2024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1/27/2024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1/27/2024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1/27/2024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1/27/2024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1/27/2024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1/27/2024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1/27/2024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react.dev/reference/react/useReducer"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react.dev/warnings/invalid-hook-call-warni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Hooks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381000" y="1752600"/>
            <a:ext cx="5715000" cy="4038600"/>
          </a:xfrm>
        </p:spPr>
        <p:txBody>
          <a:bodyPr/>
          <a:lstStyle/>
          <a:p>
            <a:pPr marL="514350" indent="-514350">
              <a:buFont typeface="Wingdings" pitchFamily="2" charset="2"/>
              <a:buChar char="Ø"/>
            </a:pP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600200"/>
            <a:ext cx="5638800" cy="4876800"/>
          </a:xfrm>
        </p:spPr>
        <p:txBody>
          <a:bodyPr/>
          <a:lstStyle/>
          <a:p>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React </a:t>
            </a:r>
            <a:r>
              <a:rPr lang="en-US" dirty="0" err="1" smtClean="0"/>
              <a:t>useEffect</a:t>
            </a:r>
            <a:r>
              <a:rPr lang="en-US" dirty="0" smtClean="0"/>
              <a:t> Hook</a:t>
            </a:r>
            <a:endParaRPr lang="en-US" dirty="0"/>
          </a:p>
        </p:txBody>
      </p:sp>
      <p:sp>
        <p:nvSpPr>
          <p:cNvPr id="3" name="Content Placeholder 2"/>
          <p:cNvSpPr>
            <a:spLocks noGrp="1"/>
          </p:cNvSpPr>
          <p:nvPr>
            <p:ph idx="1"/>
          </p:nvPr>
        </p:nvSpPr>
        <p:spPr/>
        <p:txBody>
          <a:bodyPr/>
          <a:lstStyle/>
          <a:p>
            <a:r>
              <a:rPr lang="en-US" sz="2200" dirty="0" smtClean="0"/>
              <a:t>Why is it called </a:t>
            </a:r>
            <a:r>
              <a:rPr lang="en-US" sz="2200" dirty="0" err="1" smtClean="0"/>
              <a:t>useEffect</a:t>
            </a:r>
            <a:r>
              <a:rPr lang="en-US" sz="2200" dirty="0" smtClean="0"/>
              <a:t>?</a:t>
            </a:r>
          </a:p>
          <a:p>
            <a:r>
              <a:rPr lang="en-US" sz="2200" dirty="0" smtClean="0"/>
              <a:t>The word effect refers to a functional programming term called a </a:t>
            </a:r>
            <a:r>
              <a:rPr lang="en-US" sz="2200" b="1" dirty="0" smtClean="0"/>
              <a:t>"</a:t>
            </a:r>
            <a:r>
              <a:rPr lang="en-US" sz="2200" i="1" dirty="0" smtClean="0">
                <a:solidFill>
                  <a:srgbClr val="C00000"/>
                </a:solidFill>
              </a:rPr>
              <a:t>side effect</a:t>
            </a:r>
            <a:r>
              <a:rPr lang="en-US" sz="2200" b="1" dirty="0" smtClean="0"/>
              <a:t>"</a:t>
            </a:r>
            <a:r>
              <a:rPr lang="en-US" sz="2200" dirty="0" smtClean="0"/>
              <a:t>.</a:t>
            </a:r>
          </a:p>
          <a:p>
            <a:r>
              <a:rPr lang="en-US" sz="2200" dirty="0" smtClean="0"/>
              <a:t>Most React components are pure functions, meaning they receive an input and produce a predictable output of JSX.</a:t>
            </a:r>
          </a:p>
          <a:p>
            <a:r>
              <a:rPr lang="en-US" sz="2200" dirty="0" smtClean="0"/>
              <a:t>The input to a JavaScript function is arguments.</a:t>
            </a:r>
          </a:p>
          <a:p>
            <a:r>
              <a:rPr lang="en-US" sz="2200" dirty="0" smtClean="0"/>
              <a:t>The input to a React component is </a:t>
            </a:r>
            <a:r>
              <a:rPr lang="en-US" sz="2200" i="1" dirty="0" smtClean="0">
                <a:solidFill>
                  <a:srgbClr val="C00000"/>
                </a:solidFill>
              </a:rPr>
              <a:t>Props</a:t>
            </a:r>
            <a:r>
              <a:rPr lang="en-US" sz="2200" dirty="0" smtClean="0"/>
              <a:t>.</a:t>
            </a:r>
          </a:p>
          <a:p>
            <a:r>
              <a:rPr lang="en-US" sz="2400" dirty="0" smtClean="0"/>
              <a:t>Pure functions have the great benefit of being </a:t>
            </a:r>
            <a:r>
              <a:rPr lang="en-US" sz="2400" i="1" dirty="0" smtClean="0">
                <a:solidFill>
                  <a:srgbClr val="C00000"/>
                </a:solidFill>
              </a:rPr>
              <a:t>predictable, reliable, and easy to test</a:t>
            </a:r>
            <a:r>
              <a:rPr lang="en-US" sz="2400" dirty="0" smtClean="0"/>
              <a:t>.</a:t>
            </a:r>
          </a:p>
          <a:p>
            <a:r>
              <a:rPr lang="en-US" sz="2400" dirty="0" smtClean="0"/>
              <a:t>We perform a side effect when we need to reach outside of our React components to do something. Performing a side effect, however, will not give us a predictable result.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t>
            </a:r>
            <a:r>
              <a:rPr lang="en-US" dirty="0" err="1" smtClean="0"/>
              <a:t>useEffect</a:t>
            </a:r>
            <a:r>
              <a:rPr lang="en-US" dirty="0" smtClean="0"/>
              <a:t> Exists?</a:t>
            </a:r>
            <a:endParaRPr lang="en-US" dirty="0"/>
          </a:p>
        </p:txBody>
      </p:sp>
      <p:sp>
        <p:nvSpPr>
          <p:cNvPr id="3" name="Content Placeholder 2"/>
          <p:cNvSpPr>
            <a:spLocks noGrp="1"/>
          </p:cNvSpPr>
          <p:nvPr>
            <p:ph idx="1"/>
          </p:nvPr>
        </p:nvSpPr>
        <p:spPr/>
        <p:txBody>
          <a:bodyPr/>
          <a:lstStyle/>
          <a:p>
            <a:r>
              <a:rPr lang="en-US" sz="2400" dirty="0" smtClean="0"/>
              <a:t>Think about if we were to request data (like blog posts) from a server that has failed and instead of our post data, gives us a 500 status code response.</a:t>
            </a:r>
          </a:p>
          <a:p>
            <a:r>
              <a:rPr lang="en-US" sz="2400" dirty="0" smtClean="0"/>
              <a:t>Common side effects include:</a:t>
            </a:r>
          </a:p>
          <a:p>
            <a:pPr lvl="1"/>
            <a:r>
              <a:rPr lang="en-US" sz="2000" dirty="0" smtClean="0"/>
              <a:t>Making a request to an API for data from a backend server</a:t>
            </a:r>
          </a:p>
          <a:p>
            <a:pPr lvl="1"/>
            <a:r>
              <a:rPr lang="en-US" sz="2000" dirty="0" smtClean="0"/>
              <a:t>To interact with browser APIs (that is, to use </a:t>
            </a:r>
            <a:r>
              <a:rPr lang="en-US" sz="2000" b="1" dirty="0" smtClean="0">
                <a:latin typeface="Consolas" pitchFamily="49" charset="0"/>
              </a:rPr>
              <a:t>document</a:t>
            </a:r>
            <a:r>
              <a:rPr lang="en-US" sz="2000" dirty="0" smtClean="0"/>
              <a:t> or </a:t>
            </a:r>
            <a:r>
              <a:rPr lang="en-US" sz="2000" b="1" dirty="0" smtClean="0">
                <a:latin typeface="Consolas" pitchFamily="49" charset="0"/>
              </a:rPr>
              <a:t>window</a:t>
            </a:r>
            <a:r>
              <a:rPr lang="en-US" sz="2000" dirty="0" smtClean="0"/>
              <a:t> directly)</a:t>
            </a:r>
          </a:p>
          <a:p>
            <a:pPr lvl="1"/>
            <a:r>
              <a:rPr lang="en-US" sz="2000" dirty="0" smtClean="0"/>
              <a:t>Using unpredictable timing functions like </a:t>
            </a:r>
            <a:r>
              <a:rPr lang="en-US" sz="2000" b="1" dirty="0" err="1" smtClean="0">
                <a:latin typeface="Consolas" pitchFamily="49" charset="0"/>
              </a:rPr>
              <a:t>setTimeout</a:t>
            </a:r>
            <a:r>
              <a:rPr lang="en-US" sz="2000" dirty="0" smtClean="0"/>
              <a:t> or </a:t>
            </a:r>
            <a:r>
              <a:rPr lang="en-US" sz="2000" b="1" dirty="0" err="1" smtClean="0">
                <a:latin typeface="Consolas" pitchFamily="49" charset="0"/>
              </a:rPr>
              <a:t>setInterval</a:t>
            </a:r>
            <a:endParaRPr lang="en-US" sz="2000" b="1" dirty="0" smtClean="0">
              <a:latin typeface="Consolas" pitchFamily="49" charset="0"/>
            </a:endParaRPr>
          </a:p>
          <a:p>
            <a:r>
              <a:rPr lang="en-US" sz="2400" dirty="0" smtClean="0"/>
              <a:t>This is why </a:t>
            </a:r>
            <a:r>
              <a:rPr lang="en-US" sz="2400" dirty="0" err="1" smtClean="0"/>
              <a:t>useEffect</a:t>
            </a:r>
            <a:r>
              <a:rPr lang="en-US" sz="2400" dirty="0" smtClean="0"/>
              <a:t> exists: to provide a way to handle performing these side effects in what are otherwise pure React components.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the Title</a:t>
            </a:r>
            <a:endParaRPr lang="en-US" dirty="0"/>
          </a:p>
        </p:txBody>
      </p:sp>
      <p:sp>
        <p:nvSpPr>
          <p:cNvPr id="3" name="Content Placeholder 2"/>
          <p:cNvSpPr>
            <a:spLocks noGrp="1"/>
          </p:cNvSpPr>
          <p:nvPr>
            <p:ph idx="1"/>
          </p:nvPr>
        </p:nvSpPr>
        <p:spPr>
          <a:xfrm>
            <a:off x="457200" y="3581400"/>
            <a:ext cx="8229600" cy="2544763"/>
          </a:xfrm>
        </p:spPr>
        <p:txBody>
          <a:bodyPr/>
          <a:lstStyle/>
          <a:p>
            <a:r>
              <a:rPr lang="en-US" sz="2400" dirty="0" smtClean="0"/>
              <a:t>If we perform a side effect directly in our component body, it gets in the way of our </a:t>
            </a:r>
            <a:r>
              <a:rPr lang="en-US" sz="2400" i="1" dirty="0" smtClean="0">
                <a:solidFill>
                  <a:srgbClr val="C00000"/>
                </a:solidFill>
              </a:rPr>
              <a:t>React component's rendering</a:t>
            </a:r>
            <a:r>
              <a:rPr lang="en-US" sz="2400" dirty="0" smtClean="0"/>
              <a:t>.</a:t>
            </a:r>
          </a:p>
          <a:p>
            <a:r>
              <a:rPr lang="en-US" sz="2400" dirty="0" smtClean="0"/>
              <a:t>Side effects should be separated from the rendering process.</a:t>
            </a:r>
          </a:p>
          <a:p>
            <a:r>
              <a:rPr lang="en-US" sz="2400" b="1" dirty="0" err="1" smtClean="0">
                <a:latin typeface="Consolas" pitchFamily="49" charset="0"/>
              </a:rPr>
              <a:t>useEffect</a:t>
            </a:r>
            <a:r>
              <a:rPr lang="en-US" sz="2400" dirty="0" smtClean="0"/>
              <a:t> is a tool that lets us interact with the outside world but not affect the rendering or </a:t>
            </a:r>
            <a:r>
              <a:rPr lang="en-US" sz="2400" i="1" dirty="0" smtClean="0">
                <a:solidFill>
                  <a:srgbClr val="C00000"/>
                </a:solidFill>
              </a:rPr>
              <a:t>performance</a:t>
            </a:r>
            <a:r>
              <a:rPr lang="en-US" sz="2400" dirty="0" smtClean="0"/>
              <a:t> of the component that it's in.</a:t>
            </a:r>
            <a:endParaRPr lang="en-US" sz="2400" dirty="0"/>
          </a:p>
        </p:txBody>
      </p:sp>
      <p:sp>
        <p:nvSpPr>
          <p:cNvPr id="4" name="Rectangle 3"/>
          <p:cNvSpPr/>
          <p:nvPr/>
        </p:nvSpPr>
        <p:spPr>
          <a:xfrm>
            <a:off x="533400" y="1706940"/>
            <a:ext cx="8305800" cy="175432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dirty="0" smtClean="0">
                <a:solidFill>
                  <a:srgbClr val="000000"/>
                </a:solidFill>
                <a:latin typeface="Consolas"/>
              </a:rPr>
              <a:t>function User({ name }) {</a:t>
            </a:r>
          </a:p>
          <a:p>
            <a:r>
              <a:rPr lang="en-US" dirty="0" smtClean="0">
                <a:solidFill>
                  <a:srgbClr val="000000"/>
                </a:solidFill>
                <a:latin typeface="Consolas"/>
              </a:rPr>
              <a:t>  </a:t>
            </a:r>
            <a:r>
              <a:rPr lang="en-US" dirty="0" err="1" smtClean="0">
                <a:solidFill>
                  <a:srgbClr val="000000"/>
                </a:solidFill>
                <a:latin typeface="Consolas"/>
              </a:rPr>
              <a:t>document.title</a:t>
            </a:r>
            <a:r>
              <a:rPr lang="en-US" dirty="0" smtClean="0">
                <a:solidFill>
                  <a:srgbClr val="000000"/>
                </a:solidFill>
                <a:latin typeface="Consolas"/>
              </a:rPr>
              <a:t> = name; </a:t>
            </a:r>
          </a:p>
          <a:p>
            <a:r>
              <a:rPr lang="en-US" dirty="0" smtClean="0">
                <a:solidFill>
                  <a:srgbClr val="000000"/>
                </a:solidFill>
                <a:latin typeface="Consolas"/>
              </a:rPr>
              <a:t>  </a:t>
            </a:r>
            <a:r>
              <a:rPr lang="en-US" dirty="0" smtClean="0">
                <a:solidFill>
                  <a:srgbClr val="C00000"/>
                </a:solidFill>
                <a:latin typeface="Consolas"/>
              </a:rPr>
              <a:t>// This is a side effect. Don't do this in the component body!</a:t>
            </a:r>
          </a:p>
          <a:p>
            <a:r>
              <a:rPr lang="en-US" dirty="0" smtClean="0">
                <a:solidFill>
                  <a:srgbClr val="000000"/>
                </a:solidFill>
                <a:latin typeface="Consolas"/>
              </a:rPr>
              <a:t>    </a:t>
            </a:r>
          </a:p>
          <a:p>
            <a:r>
              <a:rPr lang="en-US" dirty="0" smtClean="0">
                <a:solidFill>
                  <a:srgbClr val="000000"/>
                </a:solidFill>
                <a:latin typeface="Consolas"/>
              </a:rPr>
              <a:t>  return &lt;h1&gt;{name}&lt;/h1&gt;;   </a:t>
            </a:r>
          </a:p>
          <a:p>
            <a:r>
              <a:rPr lang="en-US" dirty="0" smtClean="0">
                <a:solidFill>
                  <a:srgbClr val="000000"/>
                </a:solidFill>
                <a:latin typeface="Consolas"/>
              </a:rPr>
              <a:t>}</a:t>
            </a:r>
            <a:endParaRPr lang="en-US" dirty="0">
              <a:latin typeface="Consolas"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Use </a:t>
            </a:r>
            <a:r>
              <a:rPr lang="en-US" dirty="0" err="1" smtClean="0"/>
              <a:t>useEffect</a:t>
            </a:r>
            <a:endParaRPr lang="en-US" dirty="0"/>
          </a:p>
        </p:txBody>
      </p:sp>
      <p:sp>
        <p:nvSpPr>
          <p:cNvPr id="3" name="Content Placeholder 2"/>
          <p:cNvSpPr>
            <a:spLocks noGrp="1"/>
          </p:cNvSpPr>
          <p:nvPr>
            <p:ph idx="1"/>
          </p:nvPr>
        </p:nvSpPr>
        <p:spPr>
          <a:xfrm>
            <a:off x="457200" y="4419600"/>
            <a:ext cx="8229600" cy="1706563"/>
          </a:xfrm>
        </p:spPr>
        <p:txBody>
          <a:bodyPr/>
          <a:lstStyle/>
          <a:p>
            <a:r>
              <a:rPr lang="en-US" sz="2200" dirty="0" smtClean="0"/>
              <a:t>The function passed to </a:t>
            </a:r>
            <a:r>
              <a:rPr lang="en-US" sz="2200" b="1" dirty="0" err="1" smtClean="0">
                <a:latin typeface="Consolas" pitchFamily="49" charset="0"/>
              </a:rPr>
              <a:t>useEffect</a:t>
            </a:r>
            <a:r>
              <a:rPr lang="en-US" sz="2200" dirty="0" smtClean="0"/>
              <a:t> is a callback function. This will be called after the component renders.</a:t>
            </a:r>
          </a:p>
          <a:p>
            <a:r>
              <a:rPr lang="en-US" sz="2200" dirty="0" smtClean="0"/>
              <a:t>The second argument is an array, called the dependencies array. This array should include all of the values that our side effect relies upon.</a:t>
            </a:r>
            <a:endParaRPr lang="en-US" sz="2200" dirty="0"/>
          </a:p>
        </p:txBody>
      </p:sp>
      <p:sp>
        <p:nvSpPr>
          <p:cNvPr id="4" name="Rectangle 3"/>
          <p:cNvSpPr/>
          <p:nvPr/>
        </p:nvSpPr>
        <p:spPr>
          <a:xfrm>
            <a:off x="533400" y="1706940"/>
            <a:ext cx="8305800" cy="4801314"/>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C586C0"/>
                </a:solidFill>
                <a:latin typeface="Consolas"/>
              </a:rPr>
              <a:t>import</a:t>
            </a:r>
            <a:r>
              <a:rPr lang="en-US" dirty="0" smtClean="0">
                <a:solidFill>
                  <a:srgbClr val="CCCCCC"/>
                </a:solidFill>
                <a:latin typeface="Consolas"/>
              </a:rPr>
              <a:t> { </a:t>
            </a:r>
            <a:r>
              <a:rPr lang="en-US" dirty="0" err="1" smtClean="0">
                <a:solidFill>
                  <a:srgbClr val="9CDCFE"/>
                </a:solidFill>
                <a:latin typeface="Consolas"/>
              </a:rPr>
              <a:t>useEffect</a:t>
            </a:r>
            <a:r>
              <a:rPr lang="en-US" dirty="0" smtClean="0">
                <a:solidFill>
                  <a:srgbClr val="CCCCCC"/>
                </a:solidFill>
                <a:latin typeface="Consolas"/>
              </a:rPr>
              <a:t> } </a:t>
            </a:r>
            <a:r>
              <a:rPr lang="en-US" dirty="0" smtClean="0">
                <a:solidFill>
                  <a:srgbClr val="C586C0"/>
                </a:solidFill>
                <a:latin typeface="Consolas"/>
              </a:rPr>
              <a:t>from</a:t>
            </a:r>
            <a:r>
              <a:rPr lang="en-US" dirty="0" smtClean="0">
                <a:solidFill>
                  <a:srgbClr val="CCCCCC"/>
                </a:solidFill>
                <a:latin typeface="Consolas"/>
              </a:rPr>
              <a:t> </a:t>
            </a:r>
            <a:r>
              <a:rPr lang="en-US" dirty="0" smtClean="0">
                <a:solidFill>
                  <a:srgbClr val="CE9178"/>
                </a:solidFill>
                <a:latin typeface="Consolas"/>
              </a:rPr>
              <a:t>'react'</a:t>
            </a:r>
            <a:r>
              <a:rPr lang="en-US" dirty="0" smtClean="0">
                <a:solidFill>
                  <a:srgbClr val="CCCCCC"/>
                </a:solidFill>
                <a:latin typeface="Consolas"/>
              </a:rPr>
              <a:t>;</a:t>
            </a:r>
          </a:p>
          <a:p>
            <a:r>
              <a:rPr lang="en-US" dirty="0" smtClean="0">
                <a:solidFill>
                  <a:srgbClr val="CCCCCC"/>
                </a:solidFill>
                <a:latin typeface="Consolas"/>
              </a:rPr>
              <a:t/>
            </a:r>
            <a:br>
              <a:rPr lang="en-US" dirty="0" smtClean="0">
                <a:solidFill>
                  <a:srgbClr val="CCCCCC"/>
                </a:solidFill>
                <a:latin typeface="Consolas"/>
              </a:rPr>
            </a:br>
            <a:r>
              <a:rPr lang="en-US" dirty="0" smtClean="0">
                <a:solidFill>
                  <a:srgbClr val="569CD6"/>
                </a:solidFill>
                <a:latin typeface="Consolas"/>
              </a:rPr>
              <a:t>function</a:t>
            </a:r>
            <a:r>
              <a:rPr lang="en-US" dirty="0" smtClean="0">
                <a:solidFill>
                  <a:srgbClr val="CCCCCC"/>
                </a:solidFill>
                <a:latin typeface="Consolas"/>
              </a:rPr>
              <a:t> </a:t>
            </a:r>
            <a:r>
              <a:rPr lang="en-US" dirty="0" smtClean="0">
                <a:solidFill>
                  <a:srgbClr val="DCDCAA"/>
                </a:solidFill>
                <a:latin typeface="Consolas"/>
              </a:rPr>
              <a:t>User</a:t>
            </a:r>
            <a:r>
              <a:rPr lang="en-US" dirty="0" smtClean="0">
                <a:solidFill>
                  <a:srgbClr val="CCCCCC"/>
                </a:solidFill>
                <a:latin typeface="Consolas"/>
              </a:rPr>
              <a:t>({ </a:t>
            </a:r>
            <a:r>
              <a:rPr lang="en-US" dirty="0" smtClean="0">
                <a:solidFill>
                  <a:srgbClr val="9CDCFE"/>
                </a:solidFill>
                <a:latin typeface="Consolas"/>
              </a:rPr>
              <a:t>name</a:t>
            </a:r>
            <a:r>
              <a:rPr lang="en-US" dirty="0" smtClean="0">
                <a:solidFill>
                  <a:srgbClr val="CCCCCC"/>
                </a:solidFill>
                <a:latin typeface="Consolas"/>
              </a:rPr>
              <a:t> }) {</a:t>
            </a:r>
          </a:p>
          <a:p>
            <a:r>
              <a:rPr lang="en-US" dirty="0" smtClean="0">
                <a:solidFill>
                  <a:srgbClr val="CCCCCC"/>
                </a:solidFill>
                <a:latin typeface="Consolas"/>
              </a:rPr>
              <a:t>  </a:t>
            </a:r>
            <a:r>
              <a:rPr lang="en-US" dirty="0" err="1" smtClean="0">
                <a:solidFill>
                  <a:srgbClr val="DCDCAA"/>
                </a:solidFill>
                <a:latin typeface="Consolas"/>
              </a:rPr>
              <a:t>useEffect</a:t>
            </a:r>
            <a:r>
              <a:rPr lang="en-US" dirty="0" smtClean="0">
                <a:solidFill>
                  <a:srgbClr val="CCCCCC"/>
                </a:solidFill>
                <a:latin typeface="Consolas"/>
              </a:rPr>
              <a:t>(() </a:t>
            </a:r>
            <a:r>
              <a:rPr lang="en-US" dirty="0" smtClean="0">
                <a:solidFill>
                  <a:srgbClr val="569CD6"/>
                </a:solidFill>
                <a:latin typeface="Consolas"/>
              </a:rPr>
              <a:t>=&gt;</a:t>
            </a:r>
            <a:r>
              <a:rPr lang="en-US" dirty="0" smtClean="0">
                <a:solidFill>
                  <a:srgbClr val="CCCCCC"/>
                </a:solidFill>
                <a:latin typeface="Consolas"/>
              </a:rPr>
              <a:t> {</a:t>
            </a:r>
          </a:p>
          <a:p>
            <a:r>
              <a:rPr lang="en-US" dirty="0" smtClean="0">
                <a:solidFill>
                  <a:srgbClr val="CCCCCC"/>
                </a:solidFill>
                <a:latin typeface="Consolas"/>
              </a:rPr>
              <a:t>    </a:t>
            </a:r>
            <a:r>
              <a:rPr lang="en-US" dirty="0" err="1" smtClean="0">
                <a:solidFill>
                  <a:srgbClr val="9CDCFE"/>
                </a:solidFill>
                <a:latin typeface="Consolas"/>
              </a:rPr>
              <a:t>document</a:t>
            </a:r>
            <a:r>
              <a:rPr lang="en-US" dirty="0" err="1" smtClean="0">
                <a:solidFill>
                  <a:srgbClr val="CCCCCC"/>
                </a:solidFill>
                <a:latin typeface="Consolas"/>
              </a:rPr>
              <a:t>.</a:t>
            </a:r>
            <a:r>
              <a:rPr lang="en-US" dirty="0" err="1" smtClean="0">
                <a:solidFill>
                  <a:srgbClr val="9CDCFE"/>
                </a:solidFill>
                <a:latin typeface="Consolas"/>
              </a:rPr>
              <a:t>title</a:t>
            </a:r>
            <a:r>
              <a:rPr lang="en-US" dirty="0" smtClean="0">
                <a:solidFill>
                  <a:srgbClr val="CCCCCC"/>
                </a:solidFill>
                <a:latin typeface="Consolas"/>
              </a:rPr>
              <a:t> </a:t>
            </a:r>
            <a:r>
              <a:rPr lang="en-US" dirty="0" smtClean="0">
                <a:solidFill>
                  <a:srgbClr val="D4D4D4"/>
                </a:solidFill>
                <a:latin typeface="Consolas"/>
              </a:rPr>
              <a:t>=</a:t>
            </a:r>
            <a:r>
              <a:rPr lang="en-US" dirty="0" smtClean="0">
                <a:solidFill>
                  <a:srgbClr val="CCCCCC"/>
                </a:solidFill>
                <a:latin typeface="Consolas"/>
              </a:rPr>
              <a:t> </a:t>
            </a:r>
            <a:r>
              <a:rPr lang="en-US" dirty="0" smtClean="0">
                <a:solidFill>
                  <a:srgbClr val="9CDCFE"/>
                </a:solidFill>
                <a:latin typeface="Consolas"/>
              </a:rPr>
              <a:t>name</a:t>
            </a:r>
            <a:r>
              <a:rPr lang="en-US" dirty="0" smtClean="0">
                <a:solidFill>
                  <a:srgbClr val="CCCCCC"/>
                </a:solidFill>
                <a:latin typeface="Consolas"/>
              </a:rPr>
              <a:t>;</a:t>
            </a:r>
          </a:p>
          <a:p>
            <a:r>
              <a:rPr lang="en-US" dirty="0" smtClean="0">
                <a:solidFill>
                  <a:srgbClr val="CCCCCC"/>
                </a:solidFill>
                <a:latin typeface="Consolas"/>
              </a:rPr>
              <a:t>  }, [</a:t>
            </a:r>
            <a:r>
              <a:rPr lang="en-US" dirty="0" smtClean="0">
                <a:solidFill>
                  <a:srgbClr val="9CDCFE"/>
                </a:solidFill>
                <a:latin typeface="Consolas"/>
              </a:rPr>
              <a:t>name</a:t>
            </a:r>
            <a:r>
              <a:rPr lang="en-US" dirty="0" smtClean="0">
                <a:solidFill>
                  <a:srgbClr val="CCCCCC"/>
                </a:solidFill>
                <a:latin typeface="Consolas"/>
              </a:rPr>
              <a:t>]);</a:t>
            </a:r>
          </a:p>
          <a:p>
            <a:r>
              <a:rPr lang="en-US" dirty="0" smtClean="0">
                <a:solidFill>
                  <a:srgbClr val="CCCCCC"/>
                </a:solidFill>
                <a:latin typeface="Consolas"/>
              </a:rPr>
              <a:t/>
            </a:r>
            <a:br>
              <a:rPr lang="en-US" dirty="0" smtClean="0">
                <a:solidFill>
                  <a:srgbClr val="CCCCCC"/>
                </a:solidFill>
                <a:latin typeface="Consolas"/>
              </a:rPr>
            </a:br>
            <a:r>
              <a:rPr lang="en-US" dirty="0" smtClean="0">
                <a:solidFill>
                  <a:srgbClr val="CCCCCC"/>
                </a:solidFill>
                <a:latin typeface="Consolas"/>
              </a:rPr>
              <a:t>  </a:t>
            </a:r>
            <a:r>
              <a:rPr lang="en-US" dirty="0" smtClean="0">
                <a:solidFill>
                  <a:srgbClr val="C586C0"/>
                </a:solidFill>
                <a:latin typeface="Consolas"/>
              </a:rPr>
              <a:t>return</a:t>
            </a:r>
            <a:r>
              <a:rPr lang="en-US" dirty="0" smtClean="0">
                <a:solidFill>
                  <a:srgbClr val="CCCCCC"/>
                </a:solidFill>
                <a:latin typeface="Consolas"/>
              </a:rPr>
              <a:t> </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r>
              <a:rPr lang="en-US" dirty="0" smtClean="0">
                <a:solidFill>
                  <a:srgbClr val="569CD6"/>
                </a:solidFill>
                <a:latin typeface="Consolas"/>
              </a:rPr>
              <a:t>{</a:t>
            </a:r>
            <a:r>
              <a:rPr lang="en-US" dirty="0" smtClean="0">
                <a:solidFill>
                  <a:srgbClr val="9CDCFE"/>
                </a:solidFill>
                <a:latin typeface="Consolas"/>
              </a:rPr>
              <a:t>name</a:t>
            </a:r>
            <a:r>
              <a:rPr lang="en-US" dirty="0" smtClean="0">
                <a:solidFill>
                  <a:srgbClr val="569CD6"/>
                </a:solidFill>
                <a:latin typeface="Consolas"/>
              </a:rPr>
              <a:t>}</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r>
              <a:rPr lang="en-US" dirty="0" smtClean="0">
                <a:solidFill>
                  <a:srgbClr val="CCCCCC"/>
                </a:solidFill>
                <a:latin typeface="Consolas"/>
              </a:rPr>
              <a:t>;</a:t>
            </a:r>
          </a:p>
          <a:p>
            <a:r>
              <a:rPr lang="en-US" dirty="0" smtClean="0">
                <a:solidFill>
                  <a:srgbClr val="CCCCCC"/>
                </a:solidFill>
                <a:latin typeface="Consolas"/>
              </a:rPr>
              <a:t>}</a:t>
            </a:r>
          </a:p>
          <a:p>
            <a:r>
              <a:rPr lang="en-US" dirty="0" smtClean="0">
                <a:solidFill>
                  <a:srgbClr val="CCCCCC"/>
                </a:solidFill>
                <a:latin typeface="Consolas"/>
              </a:rPr>
              <a:t/>
            </a:r>
            <a:br>
              <a:rPr lang="en-US" dirty="0" smtClean="0">
                <a:solidFill>
                  <a:srgbClr val="CCCCCC"/>
                </a:solidFill>
                <a:latin typeface="Consolas"/>
              </a:rPr>
            </a:br>
            <a:r>
              <a:rPr lang="en-US" dirty="0" smtClean="0">
                <a:solidFill>
                  <a:srgbClr val="569CD6"/>
                </a:solidFill>
                <a:latin typeface="Consolas"/>
              </a:rPr>
              <a:t>function</a:t>
            </a:r>
            <a:r>
              <a:rPr lang="en-US" dirty="0" smtClean="0">
                <a:solidFill>
                  <a:srgbClr val="CCCCCC"/>
                </a:solidFill>
                <a:latin typeface="Consolas"/>
              </a:rPr>
              <a:t> </a:t>
            </a:r>
            <a:r>
              <a:rPr lang="en-US" dirty="0" smtClean="0">
                <a:solidFill>
                  <a:srgbClr val="DCDCAA"/>
                </a:solidFill>
                <a:latin typeface="Consolas"/>
              </a:rPr>
              <a:t>App</a:t>
            </a:r>
            <a:r>
              <a:rPr lang="en-US" dirty="0" smtClean="0">
                <a:solidFill>
                  <a:srgbClr val="CCCCCC"/>
                </a:solidFill>
                <a:latin typeface="Consolas"/>
              </a:rPr>
              <a:t>() {</a:t>
            </a:r>
          </a:p>
          <a:p>
            <a:r>
              <a:rPr lang="en-US" dirty="0" smtClean="0">
                <a:solidFill>
                  <a:srgbClr val="CCCCCC"/>
                </a:solidFill>
                <a:latin typeface="Consolas"/>
              </a:rPr>
              <a:t>  </a:t>
            </a:r>
            <a:r>
              <a:rPr lang="en-US" dirty="0" smtClean="0">
                <a:solidFill>
                  <a:srgbClr val="C586C0"/>
                </a:solidFill>
                <a:latin typeface="Consolas"/>
              </a:rPr>
              <a:t>return</a:t>
            </a:r>
            <a:r>
              <a:rPr lang="en-US" dirty="0" smtClean="0">
                <a:solidFill>
                  <a:srgbClr val="CCCCCC"/>
                </a:solidFill>
                <a:latin typeface="Consolas"/>
              </a:rPr>
              <a:t> (</a:t>
            </a:r>
          </a:p>
          <a:p>
            <a:r>
              <a:rPr lang="en-US" dirty="0" smtClean="0">
                <a:solidFill>
                  <a:srgbClr val="CCCCCC"/>
                </a:solidFill>
                <a:latin typeface="Consolas"/>
              </a:rPr>
              <a:t>    </a:t>
            </a:r>
            <a:r>
              <a:rPr lang="en-US" dirty="0" smtClean="0">
                <a:solidFill>
                  <a:srgbClr val="808080"/>
                </a:solidFill>
                <a:latin typeface="Consolas"/>
              </a:rPr>
              <a:t>&lt;</a:t>
            </a:r>
            <a:r>
              <a:rPr lang="en-US" dirty="0" smtClean="0">
                <a:solidFill>
                  <a:srgbClr val="4EC9B0"/>
                </a:solidFill>
                <a:latin typeface="Consolas"/>
              </a:rPr>
              <a:t>User</a:t>
            </a:r>
            <a:r>
              <a:rPr lang="en-US" dirty="0" smtClean="0">
                <a:solidFill>
                  <a:srgbClr val="CCCCCC"/>
                </a:solidFill>
                <a:latin typeface="Consolas"/>
              </a:rPr>
              <a:t> </a:t>
            </a:r>
            <a:r>
              <a:rPr lang="en-US" dirty="0" smtClean="0">
                <a:solidFill>
                  <a:srgbClr val="9CDCFE"/>
                </a:solidFill>
                <a:latin typeface="Consolas"/>
              </a:rPr>
              <a:t>name</a:t>
            </a:r>
            <a:r>
              <a:rPr lang="en-US" dirty="0" smtClean="0">
                <a:solidFill>
                  <a:srgbClr val="D4D4D4"/>
                </a:solidFill>
                <a:latin typeface="Consolas"/>
              </a:rPr>
              <a:t>=</a:t>
            </a:r>
            <a:r>
              <a:rPr lang="en-US" dirty="0" smtClean="0">
                <a:solidFill>
                  <a:srgbClr val="CE9178"/>
                </a:solidFill>
                <a:latin typeface="Consolas"/>
              </a:rPr>
              <a:t>"Bien"</a:t>
            </a:r>
            <a:r>
              <a:rPr lang="en-US" dirty="0" smtClean="0">
                <a:solidFill>
                  <a:srgbClr val="808080"/>
                </a:solidFill>
                <a:latin typeface="Consolas"/>
              </a:rPr>
              <a:t>&gt;&lt;/</a:t>
            </a:r>
            <a:r>
              <a:rPr lang="en-US" dirty="0" smtClean="0">
                <a:solidFill>
                  <a:srgbClr val="4EC9B0"/>
                </a:solidFill>
                <a:latin typeface="Consolas"/>
              </a:rPr>
              <a:t>User</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CCCCCC"/>
                </a:solidFill>
                <a:latin typeface="Consolas"/>
              </a:rPr>
              <a:t>  );</a:t>
            </a:r>
          </a:p>
          <a:p>
            <a:r>
              <a:rPr lang="en-US" dirty="0" smtClean="0">
                <a:solidFill>
                  <a:srgbClr val="CCCCCC"/>
                </a:solidFill>
                <a:latin typeface="Consolas"/>
              </a:rPr>
              <a:t>}</a:t>
            </a:r>
          </a:p>
          <a:p>
            <a:r>
              <a:rPr lang="en-US" dirty="0" smtClean="0">
                <a:solidFill>
                  <a:srgbClr val="CCCCCC"/>
                </a:solidFill>
                <a:latin typeface="Consolas"/>
              </a:rPr>
              <a:t/>
            </a:r>
            <a:br>
              <a:rPr lang="en-US" dirty="0" smtClean="0">
                <a:solidFill>
                  <a:srgbClr val="CCCCCC"/>
                </a:solidFill>
                <a:latin typeface="Consolas"/>
              </a:rPr>
            </a:br>
            <a:r>
              <a:rPr lang="en-US" dirty="0" smtClean="0">
                <a:solidFill>
                  <a:srgbClr val="C586C0"/>
                </a:solidFill>
                <a:latin typeface="Consolas"/>
              </a:rPr>
              <a:t>export</a:t>
            </a:r>
            <a:r>
              <a:rPr lang="en-US" dirty="0" smtClean="0">
                <a:solidFill>
                  <a:srgbClr val="CCCCCC"/>
                </a:solidFill>
                <a:latin typeface="Consolas"/>
              </a:rPr>
              <a:t> </a:t>
            </a:r>
            <a:r>
              <a:rPr lang="en-US" dirty="0" smtClean="0">
                <a:solidFill>
                  <a:srgbClr val="C586C0"/>
                </a:solidFill>
                <a:latin typeface="Consolas"/>
              </a:rPr>
              <a:t>default</a:t>
            </a:r>
            <a:r>
              <a:rPr lang="en-US" dirty="0" smtClean="0">
                <a:solidFill>
                  <a:srgbClr val="CCCCCC"/>
                </a:solidFill>
                <a:latin typeface="Consolas"/>
              </a:rPr>
              <a:t> </a:t>
            </a:r>
            <a:r>
              <a:rPr lang="en-US" dirty="0" smtClean="0">
                <a:solidFill>
                  <a:srgbClr val="DCDCAA"/>
                </a:solidFill>
                <a:latin typeface="Consolas"/>
              </a:rPr>
              <a:t>App</a:t>
            </a:r>
            <a:r>
              <a:rPr lang="en-US" dirty="0" smtClean="0">
                <a:solidFill>
                  <a:srgbClr val="CCCCCC"/>
                </a:solidFill>
                <a:latin typeface="Consolas"/>
              </a:rPr>
              <a:t>;</a:t>
            </a:r>
            <a:endParaRPr lang="en-US" b="0" dirty="0">
              <a:solidFill>
                <a:srgbClr val="CCCCCC"/>
              </a:solidFill>
              <a:latin typeface="Consolas"/>
            </a:endParaRPr>
          </a:p>
        </p:txBody>
      </p:sp>
      <p:sp>
        <p:nvSpPr>
          <p:cNvPr id="5" name="Rectangle 4"/>
          <p:cNvSpPr/>
          <p:nvPr/>
        </p:nvSpPr>
        <p:spPr>
          <a:xfrm>
            <a:off x="5334000" y="1981200"/>
            <a:ext cx="3048000" cy="415498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mj-lt"/>
              <a:buAutoNum type="arabicPeriod"/>
            </a:pPr>
            <a:r>
              <a:rPr lang="en-US" sz="2200" dirty="0" smtClean="0"/>
              <a:t>The function passed to </a:t>
            </a:r>
            <a:r>
              <a:rPr lang="en-US" sz="2200" b="1" dirty="0" err="1" smtClean="0">
                <a:latin typeface="Consolas" pitchFamily="49" charset="0"/>
              </a:rPr>
              <a:t>useEffect</a:t>
            </a:r>
            <a:r>
              <a:rPr lang="en-US" sz="2200" dirty="0" smtClean="0"/>
              <a:t> is a callback function. This will be called after the component renders.</a:t>
            </a:r>
          </a:p>
          <a:p>
            <a:pPr marL="342900" indent="-342900">
              <a:buFont typeface="+mj-lt"/>
              <a:buAutoNum type="arabicPeriod"/>
            </a:pPr>
            <a:r>
              <a:rPr lang="en-US" sz="2200" dirty="0" smtClean="0"/>
              <a:t>The second argument is an array, called the </a:t>
            </a:r>
            <a:r>
              <a:rPr lang="en-US" sz="2200" i="1" dirty="0" smtClean="0">
                <a:solidFill>
                  <a:srgbClr val="C00000"/>
                </a:solidFill>
              </a:rPr>
              <a:t>dependencies array</a:t>
            </a:r>
            <a:r>
              <a:rPr lang="en-US" sz="2200" dirty="0" smtClean="0"/>
              <a:t>. This array should include all of the values that our side effect relies upon.</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Fetch Function</a:t>
            </a:r>
            <a:endParaRPr lang="en-US" dirty="0"/>
          </a:p>
        </p:txBody>
      </p:sp>
      <p:sp>
        <p:nvSpPr>
          <p:cNvPr id="3" name="Content Placeholder 2"/>
          <p:cNvSpPr>
            <a:spLocks noGrp="1"/>
          </p:cNvSpPr>
          <p:nvPr>
            <p:ph idx="1"/>
          </p:nvPr>
        </p:nvSpPr>
        <p:spPr/>
        <p:txBody>
          <a:bodyPr/>
          <a:lstStyle/>
          <a:p>
            <a:r>
              <a:rPr lang="en-US" sz="2400" dirty="0" smtClean="0"/>
              <a:t>When JavaScript uses the fetch function it is delegating duties to an external API so that it can continue its process.</a:t>
            </a:r>
          </a:p>
          <a:p>
            <a:r>
              <a:rPr lang="en-US" sz="2400" dirty="0" smtClean="0"/>
              <a:t>This is known as asynchronous JavaScript.</a:t>
            </a:r>
          </a:p>
          <a:p>
            <a:r>
              <a:rPr lang="en-US" sz="2400" dirty="0" smtClean="0"/>
              <a:t>The fetch function utilizes external APIs to perform tasks that would be cumbersome for JavaScript to fulfill alone.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Use fetch</a:t>
            </a:r>
            <a:endParaRPr lang="en-US" dirty="0"/>
          </a:p>
        </p:txBody>
      </p:sp>
      <p:sp>
        <p:nvSpPr>
          <p:cNvPr id="4" name="Rectangle 3"/>
          <p:cNvSpPr/>
          <p:nvPr/>
        </p:nvSpPr>
        <p:spPr>
          <a:xfrm>
            <a:off x="533400" y="1290221"/>
            <a:ext cx="8305800" cy="5262979"/>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C586C0"/>
                </a:solidFill>
                <a:latin typeface="Consolas"/>
              </a:rPr>
              <a:t>import</a:t>
            </a:r>
            <a:r>
              <a:rPr lang="en-US" sz="1600" dirty="0" smtClean="0">
                <a:solidFill>
                  <a:srgbClr val="CCCCCC"/>
                </a:solidFill>
                <a:latin typeface="Consolas"/>
              </a:rPr>
              <a:t> { </a:t>
            </a:r>
            <a:r>
              <a:rPr lang="en-US" sz="1600" dirty="0" err="1" smtClean="0">
                <a:solidFill>
                  <a:srgbClr val="9CDCFE"/>
                </a:solidFill>
                <a:latin typeface="Consolas"/>
              </a:rPr>
              <a:t>useState</a:t>
            </a:r>
            <a:r>
              <a:rPr lang="en-US" sz="1600" dirty="0" smtClean="0">
                <a:solidFill>
                  <a:srgbClr val="CCCCCC"/>
                </a:solidFill>
                <a:latin typeface="Consolas"/>
              </a:rPr>
              <a:t>, </a:t>
            </a:r>
            <a:r>
              <a:rPr lang="en-US" sz="1600" dirty="0" err="1" smtClean="0">
                <a:solidFill>
                  <a:srgbClr val="9CDCFE"/>
                </a:solidFill>
                <a:latin typeface="Consolas"/>
              </a:rPr>
              <a:t>useEffect</a:t>
            </a:r>
            <a:r>
              <a:rPr lang="en-US" sz="1600" dirty="0" smtClean="0">
                <a:solidFill>
                  <a:srgbClr val="CCCCCC"/>
                </a:solidFill>
                <a:latin typeface="Consolas"/>
              </a:rPr>
              <a:t> } </a:t>
            </a:r>
            <a:r>
              <a:rPr lang="en-US" sz="1600" dirty="0" smtClean="0">
                <a:solidFill>
                  <a:srgbClr val="C586C0"/>
                </a:solidFill>
                <a:latin typeface="Consolas"/>
              </a:rPr>
              <a:t>from</a:t>
            </a:r>
            <a:r>
              <a:rPr lang="en-US" sz="1600" dirty="0" smtClean="0">
                <a:solidFill>
                  <a:srgbClr val="CCCCCC"/>
                </a:solidFill>
                <a:latin typeface="Consolas"/>
              </a:rPr>
              <a:t> </a:t>
            </a:r>
            <a:r>
              <a:rPr lang="en-US" sz="1600" dirty="0" smtClean="0">
                <a:solidFill>
                  <a:srgbClr val="CE9178"/>
                </a:solidFill>
                <a:latin typeface="Consolas"/>
              </a:rPr>
              <a:t>"react"</a:t>
            </a:r>
            <a:r>
              <a:rPr lang="en-US" sz="1600" dirty="0" smtClean="0">
                <a:solidFill>
                  <a:srgbClr val="CCCCCC"/>
                </a:solidFill>
                <a:latin typeface="Consolas"/>
              </a:rPr>
              <a:t>;</a:t>
            </a:r>
          </a:p>
          <a:p>
            <a:r>
              <a:rPr lang="en-US" sz="1600" dirty="0" smtClean="0">
                <a:solidFill>
                  <a:srgbClr val="C586C0"/>
                </a:solidFill>
                <a:latin typeface="Consolas"/>
              </a:rPr>
              <a:t>export</a:t>
            </a:r>
            <a:r>
              <a:rPr lang="en-US" sz="1600" dirty="0" smtClean="0">
                <a:solidFill>
                  <a:srgbClr val="CCCCCC"/>
                </a:solidFill>
                <a:latin typeface="Consolas"/>
              </a:rPr>
              <a:t> </a:t>
            </a:r>
            <a:r>
              <a:rPr lang="en-US" sz="1600" dirty="0" smtClean="0">
                <a:solidFill>
                  <a:srgbClr val="C586C0"/>
                </a:solidFill>
                <a:latin typeface="Consolas"/>
              </a:rPr>
              <a:t>default</a:t>
            </a:r>
            <a:r>
              <a:rPr lang="en-US" sz="1600" dirty="0" smtClean="0">
                <a:solidFill>
                  <a:srgbClr val="CCCCCC"/>
                </a:solidFill>
                <a:latin typeface="Consolas"/>
              </a:rPr>
              <a:t> </a:t>
            </a:r>
            <a:r>
              <a:rPr lang="en-US" sz="1600" dirty="0" smtClean="0">
                <a:solidFill>
                  <a:srgbClr val="569CD6"/>
                </a:solidFill>
                <a:latin typeface="Consolas"/>
              </a:rPr>
              <a:t>function</a:t>
            </a:r>
            <a:r>
              <a:rPr lang="en-US" sz="1600" dirty="0" smtClean="0">
                <a:solidFill>
                  <a:srgbClr val="CCCCCC"/>
                </a:solidFill>
                <a:latin typeface="Consolas"/>
              </a:rPr>
              <a:t> </a:t>
            </a:r>
            <a:r>
              <a:rPr lang="en-US" sz="1600" dirty="0" smtClean="0">
                <a:solidFill>
                  <a:srgbClr val="DCDCAA"/>
                </a:solidFill>
                <a:latin typeface="Consolas"/>
              </a:rPr>
              <a:t>App</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569CD6"/>
                </a:solidFill>
                <a:latin typeface="Consolas"/>
              </a:rPr>
              <a:t>const</a:t>
            </a:r>
            <a:r>
              <a:rPr lang="en-US" sz="1600" dirty="0" smtClean="0">
                <a:solidFill>
                  <a:srgbClr val="CCCCCC"/>
                </a:solidFill>
                <a:latin typeface="Consolas"/>
              </a:rPr>
              <a:t> [</a:t>
            </a:r>
            <a:r>
              <a:rPr lang="en-US" sz="1600" dirty="0" err="1" smtClean="0">
                <a:solidFill>
                  <a:srgbClr val="4FC1FF"/>
                </a:solidFill>
                <a:latin typeface="Consolas"/>
              </a:rPr>
              <a:t>btcData</a:t>
            </a:r>
            <a:r>
              <a:rPr lang="en-US" sz="1600" dirty="0" smtClean="0">
                <a:solidFill>
                  <a:srgbClr val="CCCCCC"/>
                </a:solidFill>
                <a:latin typeface="Consolas"/>
              </a:rPr>
              <a:t>, </a:t>
            </a:r>
            <a:r>
              <a:rPr lang="en-US" sz="1600" dirty="0" err="1" smtClean="0">
                <a:solidFill>
                  <a:srgbClr val="DCDCAA"/>
                </a:solidFill>
                <a:latin typeface="Consolas"/>
              </a:rPr>
              <a:t>setBtcData</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a:t>
            </a:r>
            <a:r>
              <a:rPr lang="en-US" sz="1600" dirty="0" err="1" smtClean="0">
                <a:solidFill>
                  <a:srgbClr val="DCDCAA"/>
                </a:solidFill>
                <a:latin typeface="Consolas"/>
              </a:rPr>
              <a:t>useState</a:t>
            </a:r>
            <a:r>
              <a:rPr lang="en-US" sz="1600" dirty="0" smtClean="0">
                <a:solidFill>
                  <a:srgbClr val="CCCCCC"/>
                </a:solidFill>
                <a:latin typeface="Consolas"/>
              </a:rPr>
              <a:t>({});</a:t>
            </a:r>
          </a:p>
          <a:p>
            <a:r>
              <a:rPr lang="en-US" sz="1600" dirty="0" smtClean="0">
                <a:solidFill>
                  <a:srgbClr val="CCCCCC"/>
                </a:solidFill>
                <a:latin typeface="Consolas"/>
              </a:rPr>
              <a:t>  </a:t>
            </a:r>
            <a:r>
              <a:rPr lang="en-US" sz="1600" dirty="0" smtClean="0">
                <a:solidFill>
                  <a:srgbClr val="569CD6"/>
                </a:solidFill>
                <a:latin typeface="Consolas"/>
              </a:rPr>
              <a:t>const</a:t>
            </a:r>
            <a:r>
              <a:rPr lang="en-US" sz="1600" dirty="0" smtClean="0">
                <a:solidFill>
                  <a:srgbClr val="CCCCCC"/>
                </a:solidFill>
                <a:latin typeface="Consolas"/>
              </a:rPr>
              <a:t> </a:t>
            </a:r>
            <a:r>
              <a:rPr lang="en-US" sz="1600" dirty="0" err="1" smtClean="0">
                <a:solidFill>
                  <a:srgbClr val="DCDCAA"/>
                </a:solidFill>
                <a:latin typeface="Consolas"/>
              </a:rPr>
              <a:t>fetchData</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 </a:t>
            </a:r>
            <a:r>
              <a:rPr lang="en-US" sz="1600" dirty="0" smtClean="0">
                <a:solidFill>
                  <a:srgbClr val="569CD6"/>
                </a:solidFill>
                <a:latin typeface="Consolas"/>
              </a:rPr>
              <a:t>=&gt;</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DCDCAA"/>
                </a:solidFill>
                <a:latin typeface="Consolas"/>
              </a:rPr>
              <a:t>fetch</a:t>
            </a:r>
            <a:r>
              <a:rPr lang="en-US" sz="1600" dirty="0" smtClean="0">
                <a:solidFill>
                  <a:srgbClr val="CCCCCC"/>
                </a:solidFill>
                <a:latin typeface="Consolas"/>
              </a:rPr>
              <a:t>(</a:t>
            </a:r>
            <a:r>
              <a:rPr lang="en-US" sz="1600" dirty="0" smtClean="0">
                <a:solidFill>
                  <a:srgbClr val="CE9178"/>
                </a:solidFill>
                <a:latin typeface="Consolas"/>
              </a:rPr>
              <a:t>`https://api.coindesk.com/v1/bpi/currentprice.json`</a:t>
            </a:r>
            <a:r>
              <a:rPr lang="en-US" sz="1600" dirty="0" smtClean="0">
                <a:solidFill>
                  <a:srgbClr val="CCCCCC"/>
                </a:solidFill>
                <a:latin typeface="Consolas"/>
              </a:rPr>
              <a:t>)</a:t>
            </a:r>
          </a:p>
          <a:p>
            <a:r>
              <a:rPr lang="en-US" sz="1600" dirty="0" smtClean="0">
                <a:solidFill>
                  <a:srgbClr val="CCCCCC"/>
                </a:solidFill>
                <a:latin typeface="Consolas"/>
              </a:rPr>
              <a:t>      .</a:t>
            </a:r>
            <a:r>
              <a:rPr lang="en-US" sz="1600" dirty="0" smtClean="0">
                <a:solidFill>
                  <a:srgbClr val="DCDCAA"/>
                </a:solidFill>
                <a:latin typeface="Consolas"/>
              </a:rPr>
              <a:t>then</a:t>
            </a:r>
            <a:r>
              <a:rPr lang="en-US" sz="1600" dirty="0" smtClean="0">
                <a:solidFill>
                  <a:srgbClr val="CCCCCC"/>
                </a:solidFill>
                <a:latin typeface="Consolas"/>
              </a:rPr>
              <a:t>((</a:t>
            </a:r>
            <a:r>
              <a:rPr lang="en-US" sz="1600" dirty="0" smtClean="0">
                <a:solidFill>
                  <a:srgbClr val="9CDCFE"/>
                </a:solidFill>
                <a:latin typeface="Consolas"/>
              </a:rPr>
              <a:t>response</a:t>
            </a:r>
            <a:r>
              <a:rPr lang="en-US" sz="1600" dirty="0" smtClean="0">
                <a:solidFill>
                  <a:srgbClr val="CCCCCC"/>
                </a:solidFill>
                <a:latin typeface="Consolas"/>
              </a:rPr>
              <a:t>) </a:t>
            </a:r>
            <a:r>
              <a:rPr lang="en-US" sz="1600" dirty="0" smtClean="0">
                <a:solidFill>
                  <a:srgbClr val="569CD6"/>
                </a:solidFill>
                <a:latin typeface="Consolas"/>
              </a:rPr>
              <a:t>=&gt;</a:t>
            </a:r>
            <a:r>
              <a:rPr lang="en-US" sz="1600" dirty="0" smtClean="0">
                <a:solidFill>
                  <a:srgbClr val="CCCCCC"/>
                </a:solidFill>
                <a:latin typeface="Consolas"/>
              </a:rPr>
              <a:t> </a:t>
            </a:r>
            <a:r>
              <a:rPr lang="en-US" sz="1600" dirty="0" err="1" smtClean="0">
                <a:solidFill>
                  <a:srgbClr val="9CDCFE"/>
                </a:solidFill>
                <a:latin typeface="Consolas"/>
              </a:rPr>
              <a:t>response</a:t>
            </a:r>
            <a:r>
              <a:rPr lang="en-US" sz="1600" dirty="0" err="1" smtClean="0">
                <a:solidFill>
                  <a:srgbClr val="CCCCCC"/>
                </a:solidFill>
                <a:latin typeface="Consolas"/>
              </a:rPr>
              <a:t>.</a:t>
            </a:r>
            <a:r>
              <a:rPr lang="en-US" sz="1600" dirty="0" err="1" smtClean="0">
                <a:solidFill>
                  <a:srgbClr val="DCDCAA"/>
                </a:solidFill>
                <a:latin typeface="Consolas"/>
              </a:rPr>
              <a:t>json</a:t>
            </a:r>
            <a:r>
              <a:rPr lang="en-US" sz="1600" dirty="0" smtClean="0">
                <a:solidFill>
                  <a:srgbClr val="CCCCCC"/>
                </a:solidFill>
                <a:latin typeface="Consolas"/>
              </a:rPr>
              <a:t>())</a:t>
            </a:r>
          </a:p>
          <a:p>
            <a:r>
              <a:rPr lang="en-US" sz="1600" dirty="0" smtClean="0">
                <a:solidFill>
                  <a:srgbClr val="CCCCCC"/>
                </a:solidFill>
                <a:latin typeface="Consolas"/>
              </a:rPr>
              <a:t>      .</a:t>
            </a:r>
            <a:r>
              <a:rPr lang="en-US" sz="1600" dirty="0" smtClean="0">
                <a:solidFill>
                  <a:srgbClr val="DCDCAA"/>
                </a:solidFill>
                <a:latin typeface="Consolas"/>
              </a:rPr>
              <a:t>then</a:t>
            </a:r>
            <a:r>
              <a:rPr lang="en-US" sz="1600" dirty="0" smtClean="0">
                <a:solidFill>
                  <a:srgbClr val="CCCCCC"/>
                </a:solidFill>
                <a:latin typeface="Consolas"/>
              </a:rPr>
              <a:t>((</a:t>
            </a:r>
            <a:r>
              <a:rPr lang="en-US" sz="1600" dirty="0" err="1" smtClean="0">
                <a:solidFill>
                  <a:srgbClr val="9CDCFE"/>
                </a:solidFill>
                <a:latin typeface="Consolas"/>
              </a:rPr>
              <a:t>jsonData</a:t>
            </a:r>
            <a:r>
              <a:rPr lang="en-US" sz="1600" dirty="0" smtClean="0">
                <a:solidFill>
                  <a:srgbClr val="CCCCCC"/>
                </a:solidFill>
                <a:latin typeface="Consolas"/>
              </a:rPr>
              <a:t>) </a:t>
            </a:r>
            <a:r>
              <a:rPr lang="en-US" sz="1600" dirty="0" smtClean="0">
                <a:solidFill>
                  <a:srgbClr val="569CD6"/>
                </a:solidFill>
                <a:latin typeface="Consolas"/>
              </a:rPr>
              <a:t>=&gt;</a:t>
            </a:r>
            <a:r>
              <a:rPr lang="en-US" sz="1600" dirty="0" smtClean="0">
                <a:solidFill>
                  <a:srgbClr val="CCCCCC"/>
                </a:solidFill>
                <a:latin typeface="Consolas"/>
              </a:rPr>
              <a:t> </a:t>
            </a:r>
            <a:r>
              <a:rPr lang="en-US" sz="1600" dirty="0" err="1" smtClean="0">
                <a:solidFill>
                  <a:srgbClr val="DCDCAA"/>
                </a:solidFill>
                <a:latin typeface="Consolas"/>
              </a:rPr>
              <a:t>setBtcData</a:t>
            </a:r>
            <a:r>
              <a:rPr lang="en-US" sz="1600" dirty="0" smtClean="0">
                <a:solidFill>
                  <a:srgbClr val="CCCCCC"/>
                </a:solidFill>
                <a:latin typeface="Consolas"/>
              </a:rPr>
              <a:t>(</a:t>
            </a:r>
            <a:r>
              <a:rPr lang="en-US" sz="1600" dirty="0" err="1" smtClean="0">
                <a:solidFill>
                  <a:srgbClr val="9CDCFE"/>
                </a:solidFill>
                <a:latin typeface="Consolas"/>
              </a:rPr>
              <a:t>jsonData</a:t>
            </a:r>
            <a:r>
              <a:rPr lang="en-US" sz="1600" dirty="0" err="1" smtClean="0">
                <a:solidFill>
                  <a:srgbClr val="CCCCCC"/>
                </a:solidFill>
                <a:latin typeface="Consolas"/>
              </a:rPr>
              <a:t>.</a:t>
            </a:r>
            <a:r>
              <a:rPr lang="en-US" sz="1600" dirty="0" err="1" smtClean="0">
                <a:solidFill>
                  <a:srgbClr val="9CDCFE"/>
                </a:solidFill>
                <a:latin typeface="Consolas"/>
              </a:rPr>
              <a:t>bpi</a:t>
            </a:r>
            <a:r>
              <a:rPr lang="en-US" sz="1600" dirty="0" err="1" smtClean="0">
                <a:solidFill>
                  <a:srgbClr val="CCCCCC"/>
                </a:solidFill>
                <a:latin typeface="Consolas"/>
              </a:rPr>
              <a:t>.</a:t>
            </a:r>
            <a:r>
              <a:rPr lang="en-US" sz="1600" dirty="0" err="1" smtClean="0">
                <a:solidFill>
                  <a:srgbClr val="4FC1FF"/>
                </a:solidFill>
                <a:latin typeface="Consolas"/>
              </a:rPr>
              <a:t>USD</a:t>
            </a:r>
            <a:r>
              <a:rPr lang="en-US" sz="1600" dirty="0" smtClean="0">
                <a:solidFill>
                  <a:srgbClr val="CCCCCC"/>
                </a:solidFill>
                <a:latin typeface="Consolas"/>
              </a:rPr>
              <a:t>))</a:t>
            </a:r>
          </a:p>
          <a:p>
            <a:r>
              <a:rPr lang="en-US" sz="1600" dirty="0" smtClean="0">
                <a:solidFill>
                  <a:srgbClr val="CCCCCC"/>
                </a:solidFill>
                <a:latin typeface="Consolas"/>
              </a:rPr>
              <a:t>      .</a:t>
            </a:r>
            <a:r>
              <a:rPr lang="en-US" sz="1600" dirty="0" smtClean="0">
                <a:solidFill>
                  <a:srgbClr val="DCDCAA"/>
                </a:solidFill>
                <a:latin typeface="Consolas"/>
              </a:rPr>
              <a:t>catch</a:t>
            </a:r>
            <a:r>
              <a:rPr lang="en-US" sz="1600" dirty="0" smtClean="0">
                <a:solidFill>
                  <a:srgbClr val="CCCCCC"/>
                </a:solidFill>
                <a:latin typeface="Consolas"/>
              </a:rPr>
              <a:t>((</a:t>
            </a:r>
            <a:r>
              <a:rPr lang="en-US" sz="1600" dirty="0" smtClean="0">
                <a:solidFill>
                  <a:srgbClr val="9CDCFE"/>
                </a:solidFill>
                <a:latin typeface="Consolas"/>
              </a:rPr>
              <a:t>error</a:t>
            </a:r>
            <a:r>
              <a:rPr lang="en-US" sz="1600" dirty="0" smtClean="0">
                <a:solidFill>
                  <a:srgbClr val="CCCCCC"/>
                </a:solidFill>
                <a:latin typeface="Consolas"/>
              </a:rPr>
              <a:t>) </a:t>
            </a:r>
            <a:r>
              <a:rPr lang="en-US" sz="1600" dirty="0" smtClean="0">
                <a:solidFill>
                  <a:srgbClr val="569CD6"/>
                </a:solidFill>
                <a:latin typeface="Consolas"/>
              </a:rPr>
              <a:t>=&gt;</a:t>
            </a:r>
            <a:r>
              <a:rPr lang="en-US" sz="1600" dirty="0" smtClean="0">
                <a:solidFill>
                  <a:srgbClr val="CCCCCC"/>
                </a:solidFill>
                <a:latin typeface="Consolas"/>
              </a:rPr>
              <a:t> </a:t>
            </a:r>
            <a:r>
              <a:rPr lang="en-US" sz="1600" dirty="0" smtClean="0">
                <a:solidFill>
                  <a:srgbClr val="9CDCFE"/>
                </a:solidFill>
                <a:latin typeface="Consolas"/>
              </a:rPr>
              <a:t>console</a:t>
            </a:r>
            <a:r>
              <a:rPr lang="en-US" sz="1600" dirty="0" smtClean="0">
                <a:solidFill>
                  <a:srgbClr val="CCCCCC"/>
                </a:solidFill>
                <a:latin typeface="Consolas"/>
              </a:rPr>
              <a:t>.</a:t>
            </a:r>
            <a:r>
              <a:rPr lang="en-US" sz="1600" dirty="0" smtClean="0">
                <a:solidFill>
                  <a:srgbClr val="DCDCAA"/>
                </a:solidFill>
                <a:latin typeface="Consolas"/>
              </a:rPr>
              <a:t>log</a:t>
            </a:r>
            <a:r>
              <a:rPr lang="en-US" sz="1600" dirty="0" smtClean="0">
                <a:solidFill>
                  <a:srgbClr val="CCCCCC"/>
                </a:solidFill>
                <a:latin typeface="Consolas"/>
              </a:rPr>
              <a:t>(</a:t>
            </a:r>
            <a:r>
              <a:rPr lang="en-US" sz="1600" dirty="0" smtClean="0">
                <a:solidFill>
                  <a:srgbClr val="9CDCFE"/>
                </a:solidFill>
                <a:latin typeface="Consolas"/>
              </a:rPr>
              <a:t>error</a:t>
            </a:r>
            <a:r>
              <a:rPr lang="en-US" sz="1600" dirty="0" smtClean="0">
                <a:solidFill>
                  <a:srgbClr val="CCCCCC"/>
                </a:solidFill>
                <a:latin typeface="Consolas"/>
              </a:rPr>
              <a:t>));</a:t>
            </a:r>
          </a:p>
          <a:p>
            <a:r>
              <a:rPr lang="en-US" sz="1600" dirty="0" smtClean="0">
                <a:solidFill>
                  <a:srgbClr val="CCCCCC"/>
                </a:solidFill>
                <a:latin typeface="Consolas"/>
              </a:rPr>
              <a:t>  };</a:t>
            </a:r>
            <a:br>
              <a:rPr lang="en-US" sz="1600" dirty="0" smtClean="0">
                <a:solidFill>
                  <a:srgbClr val="CCCCCC"/>
                </a:solidFill>
                <a:latin typeface="Consolas"/>
              </a:rPr>
            </a:br>
            <a:r>
              <a:rPr lang="en-US" sz="1600" dirty="0" smtClean="0">
                <a:solidFill>
                  <a:srgbClr val="CCCCCC"/>
                </a:solidFill>
                <a:latin typeface="Consolas"/>
              </a:rPr>
              <a:t>  </a:t>
            </a:r>
            <a:r>
              <a:rPr lang="en-US" sz="1600" dirty="0" err="1" smtClean="0">
                <a:solidFill>
                  <a:srgbClr val="DCDCAA"/>
                </a:solidFill>
                <a:latin typeface="Consolas"/>
              </a:rPr>
              <a:t>useEffect</a:t>
            </a:r>
            <a:r>
              <a:rPr lang="en-US" sz="1600" dirty="0" smtClean="0">
                <a:solidFill>
                  <a:srgbClr val="CCCCCC"/>
                </a:solidFill>
                <a:latin typeface="Consolas"/>
              </a:rPr>
              <a:t>(() </a:t>
            </a:r>
            <a:r>
              <a:rPr lang="en-US" sz="1600" dirty="0" smtClean="0">
                <a:solidFill>
                  <a:srgbClr val="569CD6"/>
                </a:solidFill>
                <a:latin typeface="Consolas"/>
              </a:rPr>
              <a:t>=&gt;</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err="1" smtClean="0">
                <a:solidFill>
                  <a:srgbClr val="DCDCAA"/>
                </a:solidFill>
                <a:latin typeface="Consolas"/>
              </a:rPr>
              <a:t>fetchData</a:t>
            </a:r>
            <a:r>
              <a:rPr lang="en-US" sz="1600" dirty="0" smtClean="0">
                <a:solidFill>
                  <a:srgbClr val="CCCCCC"/>
                </a:solidFill>
                <a:latin typeface="Consolas"/>
              </a:rPr>
              <a:t>();</a:t>
            </a:r>
          </a:p>
          <a:p>
            <a:r>
              <a:rPr lang="en-US" sz="1600" dirty="0" smtClean="0">
                <a:solidFill>
                  <a:srgbClr val="CCCCCC"/>
                </a:solidFill>
                <a:latin typeface="Consolas"/>
              </a:rPr>
              <a:t>  }, []);</a:t>
            </a:r>
            <a:br>
              <a:rPr lang="en-US" sz="1600" dirty="0" smtClean="0">
                <a:solidFill>
                  <a:srgbClr val="CCCCCC"/>
                </a:solidFill>
                <a:latin typeface="Consolas"/>
              </a:rPr>
            </a:br>
            <a:r>
              <a:rPr lang="en-US" sz="1600" dirty="0" smtClean="0">
                <a:solidFill>
                  <a:srgbClr val="CCCCCC"/>
                </a:solidFill>
                <a:latin typeface="Consolas"/>
              </a:rPr>
              <a:t>  </a:t>
            </a:r>
            <a:r>
              <a:rPr lang="en-US" sz="1600" dirty="0" smtClean="0">
                <a:solidFill>
                  <a:srgbClr val="C586C0"/>
                </a:solidFill>
                <a:latin typeface="Consolas"/>
              </a:rPr>
              <a:t>return</a:t>
            </a:r>
            <a:r>
              <a:rPr lang="en-US" sz="1600" dirty="0" smtClean="0">
                <a:solidFill>
                  <a:srgbClr val="CCCCCC"/>
                </a:solidFill>
                <a:latin typeface="Consolas"/>
              </a:rPr>
              <a:t> </a:t>
            </a:r>
            <a:r>
              <a:rPr lang="en-US" sz="1600" dirty="0" err="1" smtClean="0">
                <a:solidFill>
                  <a:srgbClr val="4EC9B0"/>
                </a:solidFill>
                <a:latin typeface="Consolas"/>
              </a:rPr>
              <a:t>Object</a:t>
            </a:r>
            <a:r>
              <a:rPr lang="en-US" sz="1600" dirty="0" err="1" smtClean="0">
                <a:solidFill>
                  <a:srgbClr val="CCCCCC"/>
                </a:solidFill>
                <a:latin typeface="Consolas"/>
              </a:rPr>
              <a:t>.</a:t>
            </a:r>
            <a:r>
              <a:rPr lang="en-US" sz="1600" dirty="0" err="1" smtClean="0">
                <a:solidFill>
                  <a:srgbClr val="DCDCAA"/>
                </a:solidFill>
                <a:latin typeface="Consolas"/>
              </a:rPr>
              <a:t>keys</a:t>
            </a:r>
            <a:r>
              <a:rPr lang="en-US" sz="1600" dirty="0" smtClean="0">
                <a:solidFill>
                  <a:srgbClr val="CCCCCC"/>
                </a:solidFill>
                <a:latin typeface="Consolas"/>
              </a:rPr>
              <a:t>(</a:t>
            </a:r>
            <a:r>
              <a:rPr lang="en-US" sz="1600" dirty="0" err="1" smtClean="0">
                <a:solidFill>
                  <a:srgbClr val="4FC1FF"/>
                </a:solidFill>
                <a:latin typeface="Consolas"/>
              </a:rPr>
              <a:t>btcData</a:t>
            </a:r>
            <a:r>
              <a:rPr lang="en-US" sz="1600" dirty="0" smtClean="0">
                <a:solidFill>
                  <a:srgbClr val="CCCCCC"/>
                </a:solidFill>
                <a:latin typeface="Consolas"/>
              </a:rPr>
              <a:t>).</a:t>
            </a:r>
            <a:r>
              <a:rPr lang="en-US" sz="1600" dirty="0" smtClean="0">
                <a:solidFill>
                  <a:srgbClr val="9CDCFE"/>
                </a:solidFill>
                <a:latin typeface="Consolas"/>
              </a:rPr>
              <a:t>length</a:t>
            </a:r>
            <a:r>
              <a:rPr lang="en-US" sz="1600" dirty="0" smtClean="0">
                <a:solidFill>
                  <a:srgbClr val="CCCCCC"/>
                </a:solidFill>
                <a:latin typeface="Consolas"/>
              </a:rPr>
              <a:t> </a:t>
            </a:r>
            <a:r>
              <a:rPr lang="en-US" sz="1600" dirty="0" smtClean="0">
                <a:solidFill>
                  <a:srgbClr val="D4D4D4"/>
                </a:solidFill>
                <a:latin typeface="Consolas"/>
              </a:rPr>
              <a:t>&gt;</a:t>
            </a:r>
            <a:r>
              <a:rPr lang="en-US" sz="1600" dirty="0" smtClean="0">
                <a:solidFill>
                  <a:srgbClr val="CCCCCC"/>
                </a:solidFill>
                <a:latin typeface="Consolas"/>
              </a:rPr>
              <a:t> </a:t>
            </a:r>
            <a:r>
              <a:rPr lang="en-US" sz="1600" dirty="0" smtClean="0">
                <a:solidFill>
                  <a:srgbClr val="B5CEA8"/>
                </a:solidFill>
                <a:latin typeface="Consolas"/>
              </a:rPr>
              <a:t>0</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808080"/>
                </a:solidFill>
                <a:latin typeface="Consolas"/>
              </a:rPr>
              <a:t>&lt;&gt;</a:t>
            </a:r>
            <a:endParaRPr lang="en-US" sz="1600" dirty="0" smtClean="0">
              <a:solidFill>
                <a:srgbClr val="CCCCCC"/>
              </a:solidFill>
              <a:latin typeface="Consolas"/>
            </a:endParaRP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r>
              <a:rPr lang="en-US" sz="1600" dirty="0" smtClean="0">
                <a:solidFill>
                  <a:srgbClr val="CCCCCC"/>
                </a:solidFill>
                <a:latin typeface="Consolas"/>
              </a:rPr>
              <a:t>Current BTC/USD data</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p</a:t>
            </a:r>
            <a:r>
              <a:rPr lang="en-US" sz="1600" dirty="0" smtClean="0">
                <a:solidFill>
                  <a:srgbClr val="808080"/>
                </a:solidFill>
                <a:latin typeface="Consolas"/>
              </a:rPr>
              <a:t>&gt;</a:t>
            </a:r>
            <a:r>
              <a:rPr lang="en-US" sz="1600" dirty="0" smtClean="0">
                <a:solidFill>
                  <a:srgbClr val="CCCCCC"/>
                </a:solidFill>
                <a:latin typeface="Consolas"/>
              </a:rPr>
              <a:t>Rate Float: </a:t>
            </a:r>
            <a:r>
              <a:rPr lang="en-US" sz="1600" dirty="0" smtClean="0">
                <a:solidFill>
                  <a:srgbClr val="569CD6"/>
                </a:solidFill>
                <a:latin typeface="Consolas"/>
              </a:rPr>
              <a:t>{</a:t>
            </a:r>
            <a:r>
              <a:rPr lang="en-US" sz="1600" dirty="0" err="1" smtClean="0">
                <a:solidFill>
                  <a:srgbClr val="4FC1FF"/>
                </a:solidFill>
                <a:latin typeface="Consolas"/>
              </a:rPr>
              <a:t>btcData</a:t>
            </a:r>
            <a:r>
              <a:rPr lang="en-US" sz="1600" dirty="0" err="1" smtClean="0">
                <a:solidFill>
                  <a:srgbClr val="D4D4D4"/>
                </a:solidFill>
                <a:latin typeface="Consolas"/>
              </a:rPr>
              <a:t>.</a:t>
            </a:r>
            <a:r>
              <a:rPr lang="en-US" sz="1600" dirty="0" err="1" smtClean="0">
                <a:solidFill>
                  <a:srgbClr val="9CDCFE"/>
                </a:solidFill>
                <a:latin typeface="Consolas"/>
              </a:rPr>
              <a:t>rate_float</a:t>
            </a:r>
            <a:r>
              <a:rPr lang="en-US" sz="1600" dirty="0" smtClean="0">
                <a:solidFill>
                  <a:srgbClr val="569CD6"/>
                </a:solidFill>
                <a:latin typeface="Consolas"/>
              </a:rPr>
              <a:t>}</a:t>
            </a:r>
            <a:r>
              <a:rPr lang="en-US" sz="1600" dirty="0" smtClean="0">
                <a:solidFill>
                  <a:srgbClr val="808080"/>
                </a:solidFill>
                <a:latin typeface="Consolas"/>
              </a:rPr>
              <a:t>&lt;/</a:t>
            </a:r>
            <a:r>
              <a:rPr lang="en-US" sz="1600" dirty="0" smtClean="0">
                <a:solidFill>
                  <a:srgbClr val="569CD6"/>
                </a:solidFill>
                <a:latin typeface="Consolas"/>
              </a:rPr>
              <a:t>p</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CCCCCC"/>
                </a:solidFill>
                <a:latin typeface="Consolas"/>
              </a:rPr>
              <a:t>    </a:t>
            </a:r>
            <a:r>
              <a:rPr lang="en-US" sz="1600" dirty="0" smtClean="0">
                <a:solidFill>
                  <a:srgbClr val="808080"/>
                </a:solidFill>
                <a:latin typeface="Consolas"/>
              </a:rPr>
              <a:t>&lt;/&gt;</a:t>
            </a:r>
            <a:endParaRPr lang="en-US" sz="1600" dirty="0" smtClean="0">
              <a:solidFill>
                <a:srgbClr val="CCCCCC"/>
              </a:solidFill>
              <a:latin typeface="Consolas"/>
            </a:endParaRPr>
          </a:p>
          <a:p>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 </a:t>
            </a: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r>
              <a:rPr lang="en-US" sz="1600" dirty="0" smtClean="0">
                <a:solidFill>
                  <a:srgbClr val="CCCCCC"/>
                </a:solidFill>
                <a:latin typeface="Consolas"/>
              </a:rPr>
              <a:t>Data pending...</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r>
              <a:rPr lang="en-US" sz="1600" dirty="0" smtClean="0">
                <a:solidFill>
                  <a:srgbClr val="CCCCCC"/>
                </a:solidFill>
                <a:latin typeface="Consolas"/>
              </a:rPr>
              <a:t> </a:t>
            </a:r>
          </a:p>
          <a:p>
            <a:r>
              <a:rPr lang="en-US" sz="1600" dirty="0" smtClean="0">
                <a:solidFill>
                  <a:srgbClr val="CCCCCC"/>
                </a:solidFill>
                <a:latin typeface="Consolas"/>
              </a:rPr>
              <a:t>  );</a:t>
            </a:r>
          </a:p>
          <a:p>
            <a:r>
              <a:rPr lang="en-US" sz="1600" dirty="0" smtClean="0">
                <a:solidFill>
                  <a:srgbClr val="CCCCCC"/>
                </a:solidFill>
                <a:latin typeface="Consolas"/>
              </a:rPr>
              <a:t>} </a:t>
            </a:r>
            <a:endParaRPr lang="en-US" sz="1600" b="0" dirty="0">
              <a:solidFill>
                <a:srgbClr val="CCCCCC"/>
              </a:solidFill>
              <a:latin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useReducer</a:t>
            </a:r>
            <a:endParaRPr lang="en-US" dirty="0"/>
          </a:p>
        </p:txBody>
      </p:sp>
      <p:sp>
        <p:nvSpPr>
          <p:cNvPr id="3" name="Content Placeholder 2"/>
          <p:cNvSpPr>
            <a:spLocks noGrp="1"/>
          </p:cNvSpPr>
          <p:nvPr>
            <p:ph idx="1"/>
          </p:nvPr>
        </p:nvSpPr>
        <p:spPr/>
        <p:txBody>
          <a:bodyPr/>
          <a:lstStyle/>
          <a:p>
            <a:r>
              <a:rPr lang="en-US" sz="2000" dirty="0" smtClean="0">
                <a:hlinkClick r:id="rId2"/>
              </a:rPr>
              <a:t>https://react.dev/reference/react/useReducer</a:t>
            </a:r>
            <a:endParaRPr lang="en-US" sz="2000" dirty="0" smtClean="0"/>
          </a:p>
          <a:p>
            <a:r>
              <a:rPr lang="en-US" sz="2000" dirty="0" smtClean="0"/>
              <a:t>The </a:t>
            </a:r>
            <a:r>
              <a:rPr lang="en-US" sz="2000" b="1" i="1" dirty="0" err="1" smtClean="0"/>
              <a:t>useState</a:t>
            </a:r>
            <a:r>
              <a:rPr lang="en-US" sz="2000" dirty="0" smtClean="0"/>
              <a:t> hook is best used on less complex data.</a:t>
            </a:r>
          </a:p>
          <a:p>
            <a:r>
              <a:rPr lang="en-US" sz="2000" dirty="0" smtClean="0"/>
              <a:t>The </a:t>
            </a:r>
            <a:r>
              <a:rPr lang="en-US" sz="2000" b="1" i="1" dirty="0" err="1" smtClean="0"/>
              <a:t>useReducer</a:t>
            </a:r>
            <a:r>
              <a:rPr lang="en-US" sz="2000" dirty="0" smtClean="0"/>
              <a:t> hook is best used on more complex data, specifically, arrays or objects.</a:t>
            </a:r>
          </a:p>
          <a:p>
            <a:r>
              <a:rPr lang="en-US" sz="2000" dirty="0" smtClean="0"/>
              <a:t>The </a:t>
            </a:r>
            <a:r>
              <a:rPr lang="en-US" sz="2000" i="1" dirty="0" smtClean="0">
                <a:solidFill>
                  <a:srgbClr val="C00000"/>
                </a:solidFill>
              </a:rPr>
              <a:t>reducer function</a:t>
            </a:r>
            <a:r>
              <a:rPr lang="en-US" sz="2000" dirty="0" smtClean="0"/>
              <a:t> that specifies how the state gets updated. It must be pure, should take the state and action as arguments, and should return the next state. State and action can be of any types.</a:t>
            </a:r>
            <a:endParaRPr lang="en-US" sz="2000" dirty="0"/>
          </a:p>
        </p:txBody>
      </p:sp>
      <p:sp>
        <p:nvSpPr>
          <p:cNvPr id="4" name="Rectangle 3"/>
          <p:cNvSpPr/>
          <p:nvPr/>
        </p:nvSpPr>
        <p:spPr>
          <a:xfrm>
            <a:off x="533400" y="4186297"/>
            <a:ext cx="8305800" cy="2123658"/>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C586C0"/>
                </a:solidFill>
                <a:latin typeface="Consolas"/>
              </a:rPr>
              <a:t>import</a:t>
            </a:r>
            <a:r>
              <a:rPr lang="en-US" sz="1600" dirty="0" smtClean="0">
                <a:solidFill>
                  <a:srgbClr val="CCCCCC"/>
                </a:solidFill>
                <a:latin typeface="Consolas"/>
              </a:rPr>
              <a:t> { </a:t>
            </a:r>
            <a:r>
              <a:rPr lang="en-US" sz="1600" dirty="0" err="1" smtClean="0">
                <a:solidFill>
                  <a:srgbClr val="9CDCFE"/>
                </a:solidFill>
                <a:latin typeface="Consolas"/>
              </a:rPr>
              <a:t>useReducer</a:t>
            </a:r>
            <a:r>
              <a:rPr lang="en-US" sz="1600" dirty="0" smtClean="0">
                <a:solidFill>
                  <a:srgbClr val="CCCCCC"/>
                </a:solidFill>
                <a:latin typeface="Consolas"/>
              </a:rPr>
              <a:t> } </a:t>
            </a:r>
            <a:r>
              <a:rPr lang="en-US" sz="1600" dirty="0" smtClean="0">
                <a:solidFill>
                  <a:srgbClr val="C586C0"/>
                </a:solidFill>
                <a:latin typeface="Consolas"/>
              </a:rPr>
              <a:t>from</a:t>
            </a:r>
            <a:r>
              <a:rPr lang="en-US" sz="1600" dirty="0" smtClean="0">
                <a:solidFill>
                  <a:srgbClr val="CCCCCC"/>
                </a:solidFill>
                <a:latin typeface="Consolas"/>
              </a:rPr>
              <a:t> </a:t>
            </a:r>
            <a:r>
              <a:rPr lang="en-US" sz="1600" dirty="0" smtClean="0">
                <a:solidFill>
                  <a:srgbClr val="CE9178"/>
                </a:solidFill>
                <a:latin typeface="Consolas"/>
              </a:rPr>
              <a:t>'react'</a:t>
            </a:r>
            <a:r>
              <a:rPr lang="en-US" sz="1600" dirty="0" smtClean="0">
                <a:solidFill>
                  <a:srgbClr val="CCCCCC"/>
                </a:solidFill>
                <a:latin typeface="Consolas"/>
              </a:rPr>
              <a:t>;</a:t>
            </a:r>
          </a:p>
          <a:p>
            <a:r>
              <a:rPr lang="en-US" sz="1600" dirty="0" smtClean="0">
                <a:solidFill>
                  <a:srgbClr val="569CD6"/>
                </a:solidFill>
                <a:latin typeface="Consolas"/>
              </a:rPr>
              <a:t>function</a:t>
            </a:r>
            <a:r>
              <a:rPr lang="en-US" sz="1600" dirty="0" smtClean="0">
                <a:solidFill>
                  <a:srgbClr val="CCCCCC"/>
                </a:solidFill>
                <a:latin typeface="Consolas"/>
              </a:rPr>
              <a:t> </a:t>
            </a:r>
            <a:r>
              <a:rPr lang="en-US" sz="1600" dirty="0" smtClean="0">
                <a:solidFill>
                  <a:srgbClr val="DCDCAA"/>
                </a:solidFill>
                <a:latin typeface="Consolas"/>
              </a:rPr>
              <a:t>reducer</a:t>
            </a:r>
            <a:r>
              <a:rPr lang="en-US" sz="1600" dirty="0" smtClean="0">
                <a:solidFill>
                  <a:srgbClr val="CCCCCC"/>
                </a:solidFill>
                <a:latin typeface="Consolas"/>
              </a:rPr>
              <a:t>(</a:t>
            </a:r>
            <a:r>
              <a:rPr lang="en-US" sz="1600" dirty="0" smtClean="0">
                <a:solidFill>
                  <a:srgbClr val="9CDCFE"/>
                </a:solidFill>
                <a:latin typeface="Consolas"/>
              </a:rPr>
              <a:t>state</a:t>
            </a:r>
            <a:r>
              <a:rPr lang="en-US" sz="1600" dirty="0" smtClean="0">
                <a:solidFill>
                  <a:srgbClr val="CCCCCC"/>
                </a:solidFill>
                <a:latin typeface="Consolas"/>
              </a:rPr>
              <a:t>, </a:t>
            </a:r>
            <a:r>
              <a:rPr lang="en-US" sz="1600" dirty="0" smtClean="0">
                <a:solidFill>
                  <a:srgbClr val="9CDCFE"/>
                </a:solidFill>
                <a:latin typeface="Consolas"/>
              </a:rPr>
              <a:t>action</a:t>
            </a:r>
            <a:r>
              <a:rPr lang="en-US" sz="1600" dirty="0" smtClean="0">
                <a:solidFill>
                  <a:srgbClr val="CCCCCC"/>
                </a:solidFill>
                <a:latin typeface="Consolas"/>
              </a:rPr>
              <a:t>) {</a:t>
            </a:r>
          </a:p>
          <a:p>
            <a:r>
              <a:rPr lang="en-US" sz="1600" dirty="0" smtClean="0">
                <a:solidFill>
                  <a:srgbClr val="CCCCCC"/>
                </a:solidFill>
                <a:latin typeface="Consolas"/>
              </a:rPr>
              <a:t>}</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569CD6"/>
                </a:solidFill>
                <a:latin typeface="Consolas"/>
              </a:rPr>
              <a:t>const</a:t>
            </a:r>
            <a:r>
              <a:rPr lang="en-US" sz="1600" dirty="0" smtClean="0">
                <a:solidFill>
                  <a:srgbClr val="CCCCCC"/>
                </a:solidFill>
                <a:latin typeface="Consolas"/>
              </a:rPr>
              <a:t> </a:t>
            </a:r>
            <a:r>
              <a:rPr lang="en-US" sz="1600" dirty="0" err="1" smtClean="0">
                <a:solidFill>
                  <a:srgbClr val="4FC1FF"/>
                </a:solidFill>
                <a:latin typeface="Consolas"/>
              </a:rPr>
              <a:t>initialState</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 </a:t>
            </a:r>
            <a:r>
              <a:rPr lang="en-US" sz="1600" dirty="0" smtClean="0">
                <a:solidFill>
                  <a:srgbClr val="9CDCFE"/>
                </a:solidFill>
                <a:latin typeface="Consolas"/>
              </a:rPr>
              <a:t>name:</a:t>
            </a:r>
            <a:r>
              <a:rPr lang="en-US" sz="1600" dirty="0" smtClean="0">
                <a:solidFill>
                  <a:srgbClr val="CCCCCC"/>
                </a:solidFill>
                <a:latin typeface="Consolas"/>
              </a:rPr>
              <a:t> </a:t>
            </a:r>
            <a:r>
              <a:rPr lang="en-US" sz="1600" dirty="0" smtClean="0">
                <a:solidFill>
                  <a:srgbClr val="CE9178"/>
                </a:solidFill>
                <a:latin typeface="Consolas"/>
              </a:rPr>
              <a:t>'Bien'</a:t>
            </a:r>
            <a:r>
              <a:rPr lang="en-US" sz="1600" dirty="0" smtClean="0">
                <a:solidFill>
                  <a:srgbClr val="CCCCCC"/>
                </a:solidFill>
                <a:latin typeface="Consolas"/>
              </a:rPr>
              <a:t>, </a:t>
            </a:r>
            <a:r>
              <a:rPr lang="en-US" sz="1600" dirty="0" smtClean="0">
                <a:solidFill>
                  <a:srgbClr val="9CDCFE"/>
                </a:solidFill>
                <a:latin typeface="Consolas"/>
              </a:rPr>
              <a:t>age:</a:t>
            </a:r>
            <a:r>
              <a:rPr lang="en-US" sz="1600" dirty="0" smtClean="0">
                <a:solidFill>
                  <a:srgbClr val="CCCCCC"/>
                </a:solidFill>
                <a:latin typeface="Consolas"/>
              </a:rPr>
              <a:t> </a:t>
            </a:r>
            <a:r>
              <a:rPr lang="en-US" sz="1600" dirty="0" smtClean="0">
                <a:solidFill>
                  <a:srgbClr val="B5CEA8"/>
                </a:solidFill>
                <a:latin typeface="Consolas"/>
              </a:rPr>
              <a:t>44</a:t>
            </a:r>
            <a:r>
              <a:rPr lang="en-US" sz="1600" dirty="0" smtClean="0">
                <a:solidFill>
                  <a:srgbClr val="CCCCCC"/>
                </a:solidFill>
                <a:latin typeface="Consolas"/>
              </a:rPr>
              <a:t> };</a:t>
            </a:r>
          </a:p>
          <a:p>
            <a:r>
              <a:rPr lang="en-US" sz="1600" dirty="0" smtClean="0">
                <a:solidFill>
                  <a:srgbClr val="569CD6"/>
                </a:solidFill>
                <a:latin typeface="Consolas"/>
              </a:rPr>
              <a:t>function</a:t>
            </a:r>
            <a:r>
              <a:rPr lang="en-US" sz="1600" dirty="0" smtClean="0">
                <a:solidFill>
                  <a:srgbClr val="CCCCCC"/>
                </a:solidFill>
                <a:latin typeface="Consolas"/>
              </a:rPr>
              <a:t> </a:t>
            </a:r>
            <a:r>
              <a:rPr lang="en-US" sz="1600" dirty="0" smtClean="0">
                <a:solidFill>
                  <a:srgbClr val="DCDCAA"/>
                </a:solidFill>
                <a:latin typeface="Consolas"/>
              </a:rPr>
              <a:t>Form</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569CD6"/>
                </a:solidFill>
                <a:latin typeface="Consolas"/>
              </a:rPr>
              <a:t>const</a:t>
            </a:r>
            <a:r>
              <a:rPr lang="en-US" sz="1600" dirty="0" smtClean="0">
                <a:solidFill>
                  <a:srgbClr val="CCCCCC"/>
                </a:solidFill>
                <a:latin typeface="Consolas"/>
              </a:rPr>
              <a:t> [</a:t>
            </a:r>
            <a:r>
              <a:rPr lang="en-US" sz="1600" dirty="0" smtClean="0">
                <a:solidFill>
                  <a:srgbClr val="4FC1FF"/>
                </a:solidFill>
                <a:latin typeface="Consolas"/>
              </a:rPr>
              <a:t>state</a:t>
            </a:r>
            <a:r>
              <a:rPr lang="en-US" sz="1600" dirty="0" smtClean="0">
                <a:solidFill>
                  <a:srgbClr val="CCCCCC"/>
                </a:solidFill>
                <a:latin typeface="Consolas"/>
              </a:rPr>
              <a:t>, </a:t>
            </a:r>
            <a:r>
              <a:rPr lang="en-US" sz="1600" dirty="0" smtClean="0">
                <a:solidFill>
                  <a:srgbClr val="DCDCAA"/>
                </a:solidFill>
                <a:latin typeface="Consolas"/>
              </a:rPr>
              <a:t>action</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a:t>
            </a:r>
            <a:r>
              <a:rPr lang="en-US" sz="1600" dirty="0" err="1" smtClean="0">
                <a:solidFill>
                  <a:srgbClr val="DCDCAA"/>
                </a:solidFill>
                <a:latin typeface="Consolas"/>
              </a:rPr>
              <a:t>useReducer</a:t>
            </a:r>
            <a:r>
              <a:rPr lang="en-US" sz="1600" dirty="0" smtClean="0">
                <a:solidFill>
                  <a:srgbClr val="CCCCCC"/>
                </a:solidFill>
                <a:latin typeface="Consolas"/>
              </a:rPr>
              <a:t>(</a:t>
            </a:r>
            <a:r>
              <a:rPr lang="en-US" sz="1600" dirty="0" smtClean="0">
                <a:solidFill>
                  <a:srgbClr val="DCDCAA"/>
                </a:solidFill>
                <a:latin typeface="Consolas"/>
              </a:rPr>
              <a:t>reducer</a:t>
            </a:r>
            <a:r>
              <a:rPr lang="en-US" sz="1600" dirty="0" smtClean="0">
                <a:solidFill>
                  <a:srgbClr val="CCCCCC"/>
                </a:solidFill>
                <a:latin typeface="Consolas"/>
              </a:rPr>
              <a:t>, </a:t>
            </a:r>
            <a:r>
              <a:rPr lang="en-US" sz="1600" dirty="0" err="1" smtClean="0">
                <a:solidFill>
                  <a:srgbClr val="4FC1FF"/>
                </a:solidFill>
                <a:latin typeface="Consolas"/>
              </a:rPr>
              <a:t>initialState</a:t>
            </a:r>
            <a:r>
              <a:rPr lang="en-US" sz="1600" dirty="0" smtClean="0">
                <a:solidFill>
                  <a:srgbClr val="CCCCCC"/>
                </a:solidFill>
                <a:latin typeface="Consolas"/>
              </a:rPr>
              <a:t>);</a:t>
            </a:r>
          </a:p>
          <a:p>
            <a:r>
              <a:rPr lang="en-US" sz="1600" dirty="0" smtClean="0">
                <a:solidFill>
                  <a:srgbClr val="CCCCCC"/>
                </a:solidFill>
                <a:latin typeface="Consolas"/>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Rules of Hooks</a:t>
            </a:r>
            <a:endParaRPr lang="en-US" dirty="0"/>
          </a:p>
        </p:txBody>
      </p:sp>
      <p:sp>
        <p:nvSpPr>
          <p:cNvPr id="3" name="Content Placeholder 2"/>
          <p:cNvSpPr>
            <a:spLocks noGrp="1"/>
          </p:cNvSpPr>
          <p:nvPr>
            <p:ph idx="1"/>
          </p:nvPr>
        </p:nvSpPr>
        <p:spPr/>
        <p:txBody>
          <a:bodyPr/>
          <a:lstStyle/>
          <a:p>
            <a:r>
              <a:rPr lang="en-US" sz="2400" dirty="0" smtClean="0">
                <a:hlinkClick r:id="rId2"/>
              </a:rPr>
              <a:t>https://react.dev/warnings/invalid-hook-call-warning</a:t>
            </a:r>
            <a:endParaRPr lang="en-US" sz="2400" dirty="0" smtClean="0"/>
          </a:p>
          <a:p>
            <a:r>
              <a:rPr lang="en-US" sz="2400" dirty="0" smtClean="0"/>
              <a:t>Do not call Hooks inside conditions or loops.</a:t>
            </a:r>
          </a:p>
          <a:p>
            <a:r>
              <a:rPr lang="en-US" sz="2400" dirty="0" smtClean="0"/>
              <a:t>Do not call Hooks after a conditional return statement.</a:t>
            </a:r>
          </a:p>
          <a:p>
            <a:r>
              <a:rPr lang="en-US" sz="2400" dirty="0" smtClean="0"/>
              <a:t>Do not call Hooks in event handlers.</a:t>
            </a:r>
          </a:p>
          <a:p>
            <a:r>
              <a:rPr lang="en-US" sz="2400" dirty="0" smtClean="0"/>
              <a:t>Do not call Hooks in class components.</a:t>
            </a:r>
          </a:p>
          <a:p>
            <a:r>
              <a:rPr lang="en-US" sz="2400" dirty="0" smtClean="0"/>
              <a:t>Do not call Hooks inside functions passed to </a:t>
            </a:r>
            <a:r>
              <a:rPr lang="en-US" sz="2400" dirty="0" err="1" smtClean="0"/>
              <a:t>useMemo</a:t>
            </a:r>
            <a:r>
              <a:rPr lang="en-US" sz="2400" dirty="0" smtClean="0"/>
              <a:t>, </a:t>
            </a:r>
            <a:r>
              <a:rPr lang="en-US" sz="2400" dirty="0" err="1" smtClean="0"/>
              <a:t>useReducer</a:t>
            </a:r>
            <a:r>
              <a:rPr lang="en-US" sz="2400" dirty="0" smtClean="0"/>
              <a:t>, or </a:t>
            </a:r>
            <a:r>
              <a:rPr lang="en-US" sz="2400" dirty="0" err="1" smtClean="0"/>
              <a:t>useEffect</a:t>
            </a:r>
            <a:r>
              <a:rPr lang="en-US" sz="2400" dirty="0" smtClean="0"/>
              <a:t>.</a:t>
            </a:r>
          </a:p>
          <a:p>
            <a:r>
              <a:rPr lang="en-US" sz="2400" dirty="0" smtClean="0"/>
              <a:t>Always use Hooks at the top level of your React function, before any early returns.</a:t>
            </a:r>
          </a:p>
          <a:p>
            <a:r>
              <a:rPr lang="en-US" sz="2400" dirty="0" smtClean="0"/>
              <a:t>Why?</a:t>
            </a:r>
          </a:p>
          <a:p>
            <a:pPr lvl="1"/>
            <a:r>
              <a:rPr lang="en-US" sz="2000" dirty="0" smtClean="0"/>
              <a:t>Component Re-rendering may have issues if the rules are violated.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Hooks</a:t>
            </a:r>
            <a:endParaRPr lang="en-US" dirty="0"/>
          </a:p>
        </p:txBody>
      </p:sp>
      <p:sp>
        <p:nvSpPr>
          <p:cNvPr id="3" name="Content Placeholder 2"/>
          <p:cNvSpPr>
            <a:spLocks noGrp="1"/>
          </p:cNvSpPr>
          <p:nvPr>
            <p:ph idx="1"/>
          </p:nvPr>
        </p:nvSpPr>
        <p:spPr/>
        <p:txBody>
          <a:bodyPr/>
          <a:lstStyle/>
          <a:p>
            <a:r>
              <a:rPr lang="en-US" sz="2400" dirty="0" smtClean="0"/>
              <a:t>A </a:t>
            </a:r>
            <a:r>
              <a:rPr lang="en-US" sz="2400" dirty="0" smtClean="0"/>
              <a:t>custom </a:t>
            </a:r>
            <a:r>
              <a:rPr lang="en-US" sz="2400" dirty="0" smtClean="0"/>
              <a:t>hook is just a wrapper for built-in hooks.</a:t>
            </a:r>
          </a:p>
          <a:p>
            <a:r>
              <a:rPr lang="en-US" sz="2400" dirty="0" smtClean="0"/>
              <a:t>You </a:t>
            </a:r>
            <a:r>
              <a:rPr lang="en-US" sz="2400" dirty="0" smtClean="0"/>
              <a:t>code a custom hook when you want to avoid duplication</a:t>
            </a:r>
            <a:r>
              <a:rPr lang="en-US" sz="2400" dirty="0" smtClean="0"/>
              <a:t>.</a:t>
            </a:r>
          </a:p>
          <a:p>
            <a:r>
              <a:rPr lang="en-US" sz="2400" dirty="0" smtClean="0"/>
              <a:t>The custom hook should use at least </a:t>
            </a:r>
            <a:r>
              <a:rPr lang="en-US" sz="2400" i="1" dirty="0" smtClean="0">
                <a:solidFill>
                  <a:srgbClr val="C00000"/>
                </a:solidFill>
              </a:rPr>
              <a:t>one built-in React </a:t>
            </a:r>
            <a:r>
              <a:rPr lang="en-US" sz="2400" i="1" dirty="0" smtClean="0">
                <a:solidFill>
                  <a:srgbClr val="C00000"/>
                </a:solidFill>
              </a:rPr>
              <a:t>hook</a:t>
            </a:r>
            <a:r>
              <a:rPr lang="en-US" sz="2400" dirty="0" smtClean="0"/>
              <a:t>.</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Custom </a:t>
            </a:r>
            <a:r>
              <a:rPr lang="en-US" dirty="0" smtClean="0"/>
              <a:t>Hook 1</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useDocumentTitle.js</a:t>
            </a:r>
            <a:endParaRPr lang="en-US" sz="2400" dirty="0">
              <a:latin typeface="Consolas" pitchFamily="49" charset="0"/>
            </a:endParaRPr>
          </a:p>
        </p:txBody>
      </p:sp>
      <p:sp>
        <p:nvSpPr>
          <p:cNvPr id="4" name="Rectangle 3"/>
          <p:cNvSpPr/>
          <p:nvPr/>
        </p:nvSpPr>
        <p:spPr>
          <a:xfrm>
            <a:off x="533400" y="2492276"/>
            <a:ext cx="8305800" cy="2308324"/>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C586C0"/>
                </a:solidFill>
                <a:latin typeface="Consolas"/>
              </a:rPr>
              <a:t>import</a:t>
            </a:r>
            <a:r>
              <a:rPr lang="en-US" sz="1600" dirty="0" smtClean="0">
                <a:solidFill>
                  <a:srgbClr val="CCCCCC"/>
                </a:solidFill>
                <a:latin typeface="Consolas"/>
              </a:rPr>
              <a:t> { </a:t>
            </a:r>
            <a:r>
              <a:rPr lang="en-US" sz="1600" dirty="0" err="1" smtClean="0">
                <a:solidFill>
                  <a:srgbClr val="9CDCFE"/>
                </a:solidFill>
                <a:latin typeface="Consolas"/>
              </a:rPr>
              <a:t>useEffect</a:t>
            </a:r>
            <a:r>
              <a:rPr lang="en-US" sz="1600" dirty="0" smtClean="0">
                <a:solidFill>
                  <a:srgbClr val="CCCCCC"/>
                </a:solidFill>
                <a:latin typeface="Consolas"/>
              </a:rPr>
              <a:t> } </a:t>
            </a:r>
            <a:r>
              <a:rPr lang="en-US" sz="1600" dirty="0" smtClean="0">
                <a:solidFill>
                  <a:srgbClr val="C586C0"/>
                </a:solidFill>
                <a:latin typeface="Consolas"/>
              </a:rPr>
              <a:t>from</a:t>
            </a:r>
            <a:r>
              <a:rPr lang="en-US" sz="1600" dirty="0" smtClean="0">
                <a:solidFill>
                  <a:srgbClr val="CCCCCC"/>
                </a:solidFill>
                <a:latin typeface="Consolas"/>
              </a:rPr>
              <a:t> </a:t>
            </a:r>
            <a:r>
              <a:rPr lang="en-US" sz="1600" dirty="0" smtClean="0">
                <a:solidFill>
                  <a:srgbClr val="CE9178"/>
                </a:solidFill>
                <a:latin typeface="Consolas"/>
              </a:rPr>
              <a:t>"react"</a:t>
            </a:r>
            <a:r>
              <a:rPr lang="en-US" sz="1600" dirty="0" smtClean="0">
                <a:solidFill>
                  <a:srgbClr val="CCCCCC"/>
                </a:solidFill>
                <a:latin typeface="Consolas"/>
              </a:rPr>
              <a:t>;</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569CD6"/>
                </a:solidFill>
                <a:latin typeface="Consolas"/>
              </a:rPr>
              <a:t>function</a:t>
            </a:r>
            <a:r>
              <a:rPr lang="en-US" sz="1600" dirty="0" smtClean="0">
                <a:solidFill>
                  <a:srgbClr val="CCCCCC"/>
                </a:solidFill>
                <a:latin typeface="Consolas"/>
              </a:rPr>
              <a:t> </a:t>
            </a:r>
            <a:r>
              <a:rPr lang="en-US" sz="1600" dirty="0" err="1" smtClean="0">
                <a:solidFill>
                  <a:srgbClr val="DCDCAA"/>
                </a:solidFill>
                <a:latin typeface="Consolas"/>
              </a:rPr>
              <a:t>useDocumentTitle</a:t>
            </a:r>
            <a:r>
              <a:rPr lang="en-US" sz="1600" dirty="0" smtClean="0">
                <a:solidFill>
                  <a:srgbClr val="CCCCCC"/>
                </a:solidFill>
                <a:latin typeface="Consolas"/>
              </a:rPr>
              <a:t>(</a:t>
            </a:r>
            <a:r>
              <a:rPr lang="en-US" sz="1600" dirty="0" err="1" smtClean="0">
                <a:solidFill>
                  <a:srgbClr val="9CDCFE"/>
                </a:solidFill>
                <a:latin typeface="Consolas"/>
              </a:rPr>
              <a:t>newTitle</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err="1" smtClean="0">
                <a:solidFill>
                  <a:srgbClr val="DCDCAA"/>
                </a:solidFill>
                <a:latin typeface="Consolas"/>
              </a:rPr>
              <a:t>useEffect</a:t>
            </a:r>
            <a:r>
              <a:rPr lang="en-US" sz="1600" dirty="0" smtClean="0">
                <a:solidFill>
                  <a:srgbClr val="CCCCCC"/>
                </a:solidFill>
                <a:latin typeface="Consolas"/>
              </a:rPr>
              <a:t>(() </a:t>
            </a:r>
            <a:r>
              <a:rPr lang="en-US" sz="1600" dirty="0" smtClean="0">
                <a:solidFill>
                  <a:srgbClr val="569CD6"/>
                </a:solidFill>
                <a:latin typeface="Consolas"/>
              </a:rPr>
              <a:t>=&gt;</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err="1" smtClean="0">
                <a:solidFill>
                  <a:srgbClr val="9CDCFE"/>
                </a:solidFill>
                <a:latin typeface="Consolas"/>
              </a:rPr>
              <a:t>document</a:t>
            </a:r>
            <a:r>
              <a:rPr lang="en-US" sz="1600" dirty="0" err="1" smtClean="0">
                <a:solidFill>
                  <a:srgbClr val="CCCCCC"/>
                </a:solidFill>
                <a:latin typeface="Consolas"/>
              </a:rPr>
              <a:t>.</a:t>
            </a:r>
            <a:r>
              <a:rPr lang="en-US" sz="1600" dirty="0" err="1" smtClean="0">
                <a:solidFill>
                  <a:srgbClr val="9CDCFE"/>
                </a:solidFill>
                <a:latin typeface="Consolas"/>
              </a:rPr>
              <a:t>title</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a:t>
            </a:r>
            <a:r>
              <a:rPr lang="en-US" sz="1600" dirty="0" err="1" smtClean="0">
                <a:solidFill>
                  <a:srgbClr val="9CDCFE"/>
                </a:solidFill>
                <a:latin typeface="Consolas"/>
              </a:rPr>
              <a:t>newTitle</a:t>
            </a:r>
            <a:r>
              <a:rPr lang="en-US" sz="1600" dirty="0" smtClean="0">
                <a:solidFill>
                  <a:srgbClr val="CCCCCC"/>
                </a:solidFill>
                <a:latin typeface="Consolas"/>
              </a:rPr>
              <a:t>;</a:t>
            </a:r>
          </a:p>
          <a:p>
            <a:r>
              <a:rPr lang="en-US" sz="1600" dirty="0" smtClean="0">
                <a:solidFill>
                  <a:srgbClr val="CCCCCC"/>
                </a:solidFill>
                <a:latin typeface="Consolas"/>
              </a:rPr>
              <a:t>  }, [</a:t>
            </a:r>
            <a:r>
              <a:rPr lang="en-US" sz="1600" dirty="0" err="1" smtClean="0">
                <a:solidFill>
                  <a:srgbClr val="9CDCFE"/>
                </a:solidFill>
                <a:latin typeface="Consolas"/>
              </a:rPr>
              <a:t>newTitle</a:t>
            </a:r>
            <a:r>
              <a:rPr lang="en-US" sz="1600" dirty="0" smtClean="0">
                <a:solidFill>
                  <a:srgbClr val="CCCCCC"/>
                </a:solidFill>
                <a:latin typeface="Consolas"/>
              </a:rPr>
              <a:t>]);</a:t>
            </a:r>
          </a:p>
          <a:p>
            <a:r>
              <a:rPr lang="en-US" sz="1600" dirty="0" smtClean="0">
                <a:solidFill>
                  <a:srgbClr val="CCCCCC"/>
                </a:solidFill>
                <a:latin typeface="Consolas"/>
              </a:rPr>
              <a:t>}</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C586C0"/>
                </a:solidFill>
                <a:latin typeface="Consolas"/>
              </a:rPr>
              <a:t>export</a:t>
            </a:r>
            <a:r>
              <a:rPr lang="en-US" sz="1600" dirty="0" smtClean="0">
                <a:solidFill>
                  <a:srgbClr val="CCCCCC"/>
                </a:solidFill>
                <a:latin typeface="Consolas"/>
              </a:rPr>
              <a:t> </a:t>
            </a:r>
            <a:r>
              <a:rPr lang="en-US" sz="1600" dirty="0" smtClean="0">
                <a:solidFill>
                  <a:srgbClr val="C586C0"/>
                </a:solidFill>
                <a:latin typeface="Consolas"/>
              </a:rPr>
              <a:t>default</a:t>
            </a:r>
            <a:r>
              <a:rPr lang="en-US" sz="1600" dirty="0" smtClean="0">
                <a:solidFill>
                  <a:srgbClr val="CCCCCC"/>
                </a:solidFill>
                <a:latin typeface="Consolas"/>
              </a:rPr>
              <a:t> </a:t>
            </a:r>
            <a:r>
              <a:rPr lang="en-US" sz="1600" dirty="0" err="1" smtClean="0">
                <a:solidFill>
                  <a:srgbClr val="DCDCAA"/>
                </a:solidFill>
                <a:latin typeface="Consolas"/>
              </a:rPr>
              <a:t>useDocumentTitle</a:t>
            </a:r>
            <a:r>
              <a:rPr lang="en-US" sz="1600" dirty="0" smtClean="0">
                <a:solidFill>
                  <a:srgbClr val="CCCCCC"/>
                </a:solidFill>
                <a:latin typeface="Consolas"/>
              </a:rPr>
              <a:t>;</a:t>
            </a:r>
            <a:endParaRPr lang="en-US" sz="1600" b="0" dirty="0">
              <a:solidFill>
                <a:srgbClr val="CCCCCC"/>
              </a:solidFill>
              <a:latin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a:t>
            </a:r>
            <a:r>
              <a:rPr lang="en-US" dirty="0" smtClean="0"/>
              <a:t>Create Custom </a:t>
            </a:r>
            <a:r>
              <a:rPr lang="en-US" dirty="0" smtClean="0"/>
              <a:t>Hook 2</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useCounter.js</a:t>
            </a:r>
            <a:endParaRPr lang="en-US" sz="2400" dirty="0">
              <a:latin typeface="Consolas" pitchFamily="49" charset="0"/>
            </a:endParaRPr>
          </a:p>
        </p:txBody>
      </p:sp>
      <p:sp>
        <p:nvSpPr>
          <p:cNvPr id="4" name="Rectangle 3"/>
          <p:cNvSpPr/>
          <p:nvPr/>
        </p:nvSpPr>
        <p:spPr>
          <a:xfrm>
            <a:off x="533400" y="2492276"/>
            <a:ext cx="8305800" cy="3293209"/>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C586C0"/>
                </a:solidFill>
                <a:latin typeface="Consolas"/>
              </a:rPr>
              <a:t>import</a:t>
            </a:r>
            <a:r>
              <a:rPr lang="en-US" sz="1600" dirty="0" smtClean="0">
                <a:solidFill>
                  <a:srgbClr val="CCCCCC"/>
                </a:solidFill>
                <a:latin typeface="Consolas"/>
              </a:rPr>
              <a:t> { </a:t>
            </a:r>
            <a:r>
              <a:rPr lang="en-US" sz="1600" dirty="0" err="1" smtClean="0">
                <a:solidFill>
                  <a:srgbClr val="9CDCFE"/>
                </a:solidFill>
                <a:latin typeface="Consolas"/>
              </a:rPr>
              <a:t>useState</a:t>
            </a:r>
            <a:r>
              <a:rPr lang="en-US" sz="1600" dirty="0" smtClean="0">
                <a:solidFill>
                  <a:srgbClr val="CCCCCC"/>
                </a:solidFill>
                <a:latin typeface="Consolas"/>
              </a:rPr>
              <a:t> } </a:t>
            </a:r>
            <a:r>
              <a:rPr lang="en-US" sz="1600" dirty="0" smtClean="0">
                <a:solidFill>
                  <a:srgbClr val="C586C0"/>
                </a:solidFill>
                <a:latin typeface="Consolas"/>
              </a:rPr>
              <a:t>from</a:t>
            </a:r>
            <a:r>
              <a:rPr lang="en-US" sz="1600" dirty="0" smtClean="0">
                <a:solidFill>
                  <a:srgbClr val="CCCCCC"/>
                </a:solidFill>
                <a:latin typeface="Consolas"/>
              </a:rPr>
              <a:t> </a:t>
            </a:r>
            <a:r>
              <a:rPr lang="en-US" sz="1600" dirty="0" smtClean="0">
                <a:solidFill>
                  <a:srgbClr val="CE9178"/>
                </a:solidFill>
                <a:latin typeface="Consolas"/>
              </a:rPr>
              <a:t>"react"</a:t>
            </a:r>
            <a:r>
              <a:rPr lang="en-US" sz="1600" dirty="0" smtClean="0">
                <a:solidFill>
                  <a:srgbClr val="CCCCCC"/>
                </a:solidFill>
                <a:latin typeface="Consolas"/>
              </a:rPr>
              <a:t>;</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569CD6"/>
                </a:solidFill>
                <a:latin typeface="Consolas"/>
              </a:rPr>
              <a:t>function</a:t>
            </a:r>
            <a:r>
              <a:rPr lang="en-US" sz="1600" dirty="0" smtClean="0">
                <a:solidFill>
                  <a:srgbClr val="CCCCCC"/>
                </a:solidFill>
                <a:latin typeface="Consolas"/>
              </a:rPr>
              <a:t> </a:t>
            </a:r>
            <a:r>
              <a:rPr lang="en-US" sz="1600" dirty="0" err="1" smtClean="0">
                <a:solidFill>
                  <a:srgbClr val="DCDCAA"/>
                </a:solidFill>
                <a:latin typeface="Consolas"/>
              </a:rPr>
              <a:t>useCounter</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569CD6"/>
                </a:solidFill>
                <a:latin typeface="Consolas"/>
              </a:rPr>
              <a:t>const</a:t>
            </a:r>
            <a:r>
              <a:rPr lang="en-US" sz="1600" dirty="0" smtClean="0">
                <a:solidFill>
                  <a:srgbClr val="CCCCCC"/>
                </a:solidFill>
                <a:latin typeface="Consolas"/>
              </a:rPr>
              <a:t> [</a:t>
            </a:r>
            <a:r>
              <a:rPr lang="en-US" sz="1600" dirty="0" smtClean="0">
                <a:solidFill>
                  <a:srgbClr val="4FC1FF"/>
                </a:solidFill>
                <a:latin typeface="Consolas"/>
              </a:rPr>
              <a:t>count</a:t>
            </a:r>
            <a:r>
              <a:rPr lang="en-US" sz="1600" dirty="0" smtClean="0">
                <a:solidFill>
                  <a:srgbClr val="CCCCCC"/>
                </a:solidFill>
                <a:latin typeface="Consolas"/>
              </a:rPr>
              <a:t>, </a:t>
            </a:r>
            <a:r>
              <a:rPr lang="en-US" sz="1600" dirty="0" err="1" smtClean="0">
                <a:solidFill>
                  <a:srgbClr val="DCDCAA"/>
                </a:solidFill>
                <a:latin typeface="Consolas"/>
              </a:rPr>
              <a:t>setCount</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a:t>
            </a:r>
            <a:r>
              <a:rPr lang="en-US" sz="1600" dirty="0" err="1" smtClean="0">
                <a:solidFill>
                  <a:srgbClr val="DCDCAA"/>
                </a:solidFill>
                <a:latin typeface="Consolas"/>
              </a:rPr>
              <a:t>useState</a:t>
            </a:r>
            <a:r>
              <a:rPr lang="en-US" sz="1600" dirty="0" smtClean="0">
                <a:solidFill>
                  <a:srgbClr val="CCCCCC"/>
                </a:solidFill>
                <a:latin typeface="Consolas"/>
              </a:rPr>
              <a:t>(</a:t>
            </a:r>
            <a:r>
              <a:rPr lang="en-US" sz="1600" dirty="0" smtClean="0">
                <a:solidFill>
                  <a:srgbClr val="B5CEA8"/>
                </a:solidFill>
                <a:latin typeface="Consolas"/>
              </a:rPr>
              <a:t>0</a:t>
            </a:r>
            <a:r>
              <a:rPr lang="en-US" sz="1600" dirty="0" smtClean="0">
                <a:solidFill>
                  <a:srgbClr val="CCCCCC"/>
                </a:solidFill>
                <a:latin typeface="Consolas"/>
              </a:rPr>
              <a:t>);</a:t>
            </a:r>
          </a:p>
          <a:p>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569CD6"/>
                </a:solidFill>
                <a:latin typeface="Consolas"/>
              </a:rPr>
              <a:t>function</a:t>
            </a:r>
            <a:r>
              <a:rPr lang="en-US" sz="1600" dirty="0" smtClean="0">
                <a:solidFill>
                  <a:srgbClr val="CCCCCC"/>
                </a:solidFill>
                <a:latin typeface="Consolas"/>
              </a:rPr>
              <a:t> </a:t>
            </a:r>
            <a:r>
              <a:rPr lang="en-US" sz="1600" dirty="0" smtClean="0">
                <a:solidFill>
                  <a:srgbClr val="DCDCAA"/>
                </a:solidFill>
                <a:latin typeface="Consolas"/>
              </a:rPr>
              <a:t>increment</a:t>
            </a:r>
            <a:r>
              <a:rPr lang="en-US" sz="1600" dirty="0" smtClean="0">
                <a:solidFill>
                  <a:srgbClr val="CCCCCC"/>
                </a:solidFill>
                <a:latin typeface="Consolas"/>
              </a:rPr>
              <a:t>() { </a:t>
            </a:r>
          </a:p>
          <a:p>
            <a:r>
              <a:rPr lang="en-US" sz="1600" dirty="0" smtClean="0">
                <a:solidFill>
                  <a:srgbClr val="CCCCCC"/>
                </a:solidFill>
                <a:latin typeface="Consolas"/>
              </a:rPr>
              <a:t>      </a:t>
            </a:r>
            <a:r>
              <a:rPr lang="en-US" sz="1600" dirty="0" err="1" smtClean="0">
                <a:solidFill>
                  <a:srgbClr val="DCDCAA"/>
                </a:solidFill>
                <a:latin typeface="Consolas"/>
              </a:rPr>
              <a:t>setCount</a:t>
            </a:r>
            <a:r>
              <a:rPr lang="en-US" sz="1600" dirty="0" smtClean="0">
                <a:solidFill>
                  <a:srgbClr val="CCCCCC"/>
                </a:solidFill>
                <a:latin typeface="Consolas"/>
              </a:rPr>
              <a:t>(</a:t>
            </a:r>
            <a:r>
              <a:rPr lang="en-US" sz="1600" dirty="0" err="1" smtClean="0">
                <a:solidFill>
                  <a:srgbClr val="9CDCFE"/>
                </a:solidFill>
                <a:latin typeface="Consolas"/>
              </a:rPr>
              <a:t>prevCount</a:t>
            </a:r>
            <a:r>
              <a:rPr lang="en-US" sz="1600" dirty="0" smtClean="0">
                <a:solidFill>
                  <a:srgbClr val="CCCCCC"/>
                </a:solidFill>
                <a:latin typeface="Consolas"/>
              </a:rPr>
              <a:t> </a:t>
            </a:r>
            <a:r>
              <a:rPr lang="en-US" sz="1600" dirty="0" smtClean="0">
                <a:solidFill>
                  <a:srgbClr val="569CD6"/>
                </a:solidFill>
                <a:latin typeface="Consolas"/>
              </a:rPr>
              <a:t>=&gt;</a:t>
            </a:r>
            <a:r>
              <a:rPr lang="en-US" sz="1600" dirty="0" smtClean="0">
                <a:solidFill>
                  <a:srgbClr val="CCCCCC"/>
                </a:solidFill>
                <a:latin typeface="Consolas"/>
              </a:rPr>
              <a:t> </a:t>
            </a:r>
            <a:r>
              <a:rPr lang="en-US" sz="1600" dirty="0" err="1" smtClean="0">
                <a:solidFill>
                  <a:srgbClr val="9CDCFE"/>
                </a:solidFill>
                <a:latin typeface="Consolas"/>
              </a:rPr>
              <a:t>prevCount</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a:t>
            </a:r>
            <a:r>
              <a:rPr lang="en-US" sz="1600" dirty="0" smtClean="0">
                <a:solidFill>
                  <a:srgbClr val="B5CEA8"/>
                </a:solidFill>
                <a:latin typeface="Consolas"/>
              </a:rPr>
              <a:t>1</a:t>
            </a:r>
            <a:r>
              <a:rPr lang="en-US" sz="1600" dirty="0" smtClean="0">
                <a:solidFill>
                  <a:srgbClr val="CCCCCC"/>
                </a:solidFill>
                <a:latin typeface="Consolas"/>
              </a:rPr>
              <a:t>) </a:t>
            </a:r>
          </a:p>
          <a:p>
            <a:r>
              <a:rPr lang="en-US" sz="1600" dirty="0" smtClean="0">
                <a:solidFill>
                  <a:srgbClr val="CCCCCC"/>
                </a:solidFill>
                <a:latin typeface="Consolas"/>
              </a:rPr>
              <a:t>    }</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CCCCCC"/>
                </a:solidFill>
                <a:latin typeface="Consolas"/>
              </a:rPr>
              <a:t>    </a:t>
            </a:r>
            <a:r>
              <a:rPr lang="en-US" sz="1600" dirty="0" smtClean="0">
                <a:solidFill>
                  <a:srgbClr val="C586C0"/>
                </a:solidFill>
                <a:latin typeface="Consolas"/>
              </a:rPr>
              <a:t>return</a:t>
            </a:r>
            <a:r>
              <a:rPr lang="en-US" sz="1600" dirty="0" smtClean="0">
                <a:solidFill>
                  <a:srgbClr val="CCCCCC"/>
                </a:solidFill>
                <a:latin typeface="Consolas"/>
              </a:rPr>
              <a:t> [</a:t>
            </a:r>
            <a:r>
              <a:rPr lang="en-US" sz="1600" dirty="0" smtClean="0">
                <a:solidFill>
                  <a:srgbClr val="4FC1FF"/>
                </a:solidFill>
                <a:latin typeface="Consolas"/>
              </a:rPr>
              <a:t>count</a:t>
            </a:r>
            <a:r>
              <a:rPr lang="en-US" sz="1600" dirty="0" smtClean="0">
                <a:solidFill>
                  <a:srgbClr val="CCCCCC"/>
                </a:solidFill>
                <a:latin typeface="Consolas"/>
              </a:rPr>
              <a:t>, </a:t>
            </a:r>
            <a:r>
              <a:rPr lang="en-US" sz="1600" dirty="0" smtClean="0">
                <a:solidFill>
                  <a:srgbClr val="DCDCAA"/>
                </a:solidFill>
                <a:latin typeface="Consolas"/>
              </a:rPr>
              <a:t>increment</a:t>
            </a:r>
            <a:r>
              <a:rPr lang="en-US" sz="1600" dirty="0" smtClean="0">
                <a:solidFill>
                  <a:srgbClr val="CCCCCC"/>
                </a:solidFill>
                <a:latin typeface="Consolas"/>
              </a:rPr>
              <a:t>];</a:t>
            </a:r>
          </a:p>
          <a:p>
            <a:r>
              <a:rPr lang="en-US" sz="1600" dirty="0" smtClean="0">
                <a:solidFill>
                  <a:srgbClr val="CCCCCC"/>
                </a:solidFill>
                <a:latin typeface="Consolas"/>
              </a:rPr>
              <a:t>}</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C586C0"/>
                </a:solidFill>
                <a:latin typeface="Consolas"/>
              </a:rPr>
              <a:t>export</a:t>
            </a:r>
            <a:r>
              <a:rPr lang="en-US" sz="1600" dirty="0" smtClean="0">
                <a:solidFill>
                  <a:srgbClr val="CCCCCC"/>
                </a:solidFill>
                <a:latin typeface="Consolas"/>
              </a:rPr>
              <a:t> </a:t>
            </a:r>
            <a:r>
              <a:rPr lang="en-US" sz="1600" dirty="0" smtClean="0">
                <a:solidFill>
                  <a:srgbClr val="C586C0"/>
                </a:solidFill>
                <a:latin typeface="Consolas"/>
              </a:rPr>
              <a:t>default</a:t>
            </a:r>
            <a:r>
              <a:rPr lang="en-US" sz="1600" dirty="0" smtClean="0">
                <a:solidFill>
                  <a:srgbClr val="CCCCCC"/>
                </a:solidFill>
                <a:latin typeface="Consolas"/>
              </a:rPr>
              <a:t> </a:t>
            </a:r>
            <a:r>
              <a:rPr lang="en-US" sz="1600" dirty="0" err="1" smtClean="0">
                <a:solidFill>
                  <a:srgbClr val="DCDCAA"/>
                </a:solidFill>
                <a:latin typeface="Consolas"/>
              </a:rPr>
              <a:t>useCounter</a:t>
            </a:r>
            <a:r>
              <a:rPr lang="en-US" sz="1600" dirty="0" smtClean="0">
                <a:solidFill>
                  <a:srgbClr val="CCCCCC"/>
                </a:solidFill>
                <a:latin typeface="Consolas"/>
              </a:rPr>
              <a:t>;</a:t>
            </a:r>
            <a:endParaRPr lang="en-US" sz="1600" dirty="0">
              <a:solidFill>
                <a:srgbClr val="CCCCCC"/>
              </a:solidFill>
              <a:latin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a:t>
            </a:r>
            <a:r>
              <a:rPr lang="en-US" dirty="0" smtClean="0"/>
              <a:t>Create Custom </a:t>
            </a:r>
            <a:r>
              <a:rPr lang="en-US" dirty="0" smtClean="0"/>
              <a:t>Hooks</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App.js</a:t>
            </a:r>
            <a:endParaRPr lang="en-US" sz="2400" dirty="0">
              <a:latin typeface="Consolas" pitchFamily="49" charset="0"/>
            </a:endParaRPr>
          </a:p>
        </p:txBody>
      </p:sp>
      <p:sp>
        <p:nvSpPr>
          <p:cNvPr id="4" name="Rectangle 3"/>
          <p:cNvSpPr/>
          <p:nvPr/>
        </p:nvSpPr>
        <p:spPr>
          <a:xfrm>
            <a:off x="533400" y="2362200"/>
            <a:ext cx="8305800" cy="4031873"/>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C586C0"/>
                </a:solidFill>
                <a:latin typeface="Consolas"/>
              </a:rPr>
              <a:t>import</a:t>
            </a:r>
            <a:r>
              <a:rPr lang="en-US" sz="1600" dirty="0" smtClean="0">
                <a:solidFill>
                  <a:srgbClr val="CCCCCC"/>
                </a:solidFill>
                <a:latin typeface="Consolas"/>
              </a:rPr>
              <a:t> </a:t>
            </a:r>
            <a:r>
              <a:rPr lang="en-US" sz="1600" dirty="0" err="1" smtClean="0">
                <a:solidFill>
                  <a:srgbClr val="9CDCFE"/>
                </a:solidFill>
                <a:latin typeface="Consolas"/>
              </a:rPr>
              <a:t>useCounter</a:t>
            </a:r>
            <a:r>
              <a:rPr lang="en-US" sz="1600" dirty="0" smtClean="0">
                <a:solidFill>
                  <a:srgbClr val="CCCCCC"/>
                </a:solidFill>
                <a:latin typeface="Consolas"/>
              </a:rPr>
              <a:t> </a:t>
            </a:r>
            <a:r>
              <a:rPr lang="en-US" sz="1600" dirty="0" smtClean="0">
                <a:solidFill>
                  <a:srgbClr val="C586C0"/>
                </a:solidFill>
                <a:latin typeface="Consolas"/>
              </a:rPr>
              <a:t>from</a:t>
            </a:r>
            <a:r>
              <a:rPr lang="en-US" sz="1600" dirty="0" smtClean="0">
                <a:solidFill>
                  <a:srgbClr val="CCCCCC"/>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useCounter</a:t>
            </a:r>
            <a:r>
              <a:rPr lang="en-US" sz="1600" dirty="0" smtClean="0">
                <a:solidFill>
                  <a:srgbClr val="CE9178"/>
                </a:solidFill>
                <a:latin typeface="Consolas"/>
              </a:rPr>
              <a:t>"</a:t>
            </a:r>
            <a:r>
              <a:rPr lang="en-US" sz="1600" dirty="0" smtClean="0">
                <a:solidFill>
                  <a:srgbClr val="CCCCCC"/>
                </a:solidFill>
                <a:latin typeface="Consolas"/>
              </a:rPr>
              <a:t>;</a:t>
            </a:r>
          </a:p>
          <a:p>
            <a:r>
              <a:rPr lang="en-US" sz="1600" dirty="0" smtClean="0">
                <a:solidFill>
                  <a:srgbClr val="C586C0"/>
                </a:solidFill>
                <a:latin typeface="Consolas"/>
              </a:rPr>
              <a:t>import</a:t>
            </a:r>
            <a:r>
              <a:rPr lang="en-US" sz="1600" dirty="0" smtClean="0">
                <a:solidFill>
                  <a:srgbClr val="CCCCCC"/>
                </a:solidFill>
                <a:latin typeface="Consolas"/>
              </a:rPr>
              <a:t> </a:t>
            </a:r>
            <a:r>
              <a:rPr lang="en-US" sz="1600" dirty="0" err="1" smtClean="0">
                <a:solidFill>
                  <a:srgbClr val="9CDCFE"/>
                </a:solidFill>
                <a:latin typeface="Consolas"/>
              </a:rPr>
              <a:t>useDocumentTitle</a:t>
            </a:r>
            <a:r>
              <a:rPr lang="en-US" sz="1600" dirty="0" smtClean="0">
                <a:solidFill>
                  <a:srgbClr val="CCCCCC"/>
                </a:solidFill>
                <a:latin typeface="Consolas"/>
              </a:rPr>
              <a:t> </a:t>
            </a:r>
            <a:r>
              <a:rPr lang="en-US" sz="1600" dirty="0" smtClean="0">
                <a:solidFill>
                  <a:srgbClr val="C586C0"/>
                </a:solidFill>
                <a:latin typeface="Consolas"/>
              </a:rPr>
              <a:t>from</a:t>
            </a:r>
            <a:r>
              <a:rPr lang="en-US" sz="1600" dirty="0" smtClean="0">
                <a:solidFill>
                  <a:srgbClr val="CCCCCC"/>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useDocumentTitle</a:t>
            </a:r>
            <a:r>
              <a:rPr lang="en-US" sz="1600" dirty="0" smtClean="0">
                <a:solidFill>
                  <a:srgbClr val="CE9178"/>
                </a:solidFill>
                <a:latin typeface="Consolas"/>
              </a:rPr>
              <a:t>"</a:t>
            </a:r>
            <a:r>
              <a:rPr lang="en-US" sz="1600" dirty="0" smtClean="0">
                <a:solidFill>
                  <a:srgbClr val="CCCCCC"/>
                </a:solidFill>
                <a:latin typeface="Consolas"/>
              </a:rPr>
              <a:t>;</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569CD6"/>
                </a:solidFill>
                <a:latin typeface="Consolas"/>
              </a:rPr>
              <a:t>function</a:t>
            </a:r>
            <a:r>
              <a:rPr lang="en-US" sz="1600" dirty="0" smtClean="0">
                <a:solidFill>
                  <a:srgbClr val="CCCCCC"/>
                </a:solidFill>
                <a:latin typeface="Consolas"/>
              </a:rPr>
              <a:t> </a:t>
            </a:r>
            <a:r>
              <a:rPr lang="en-US" sz="1600" dirty="0" smtClean="0">
                <a:solidFill>
                  <a:srgbClr val="DCDCAA"/>
                </a:solidFill>
                <a:latin typeface="Consolas"/>
              </a:rPr>
              <a:t>App</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569CD6"/>
                </a:solidFill>
                <a:latin typeface="Consolas"/>
              </a:rPr>
              <a:t>const</a:t>
            </a:r>
            <a:r>
              <a:rPr lang="en-US" sz="1600" dirty="0" smtClean="0">
                <a:solidFill>
                  <a:srgbClr val="CCCCCC"/>
                </a:solidFill>
                <a:latin typeface="Consolas"/>
              </a:rPr>
              <a:t> [</a:t>
            </a:r>
            <a:r>
              <a:rPr lang="en-US" sz="1600" dirty="0" smtClean="0">
                <a:solidFill>
                  <a:srgbClr val="4FC1FF"/>
                </a:solidFill>
                <a:latin typeface="Consolas"/>
              </a:rPr>
              <a:t>count</a:t>
            </a:r>
            <a:r>
              <a:rPr lang="en-US" sz="1600" dirty="0" smtClean="0">
                <a:solidFill>
                  <a:srgbClr val="CCCCCC"/>
                </a:solidFill>
                <a:latin typeface="Consolas"/>
              </a:rPr>
              <a:t>, </a:t>
            </a:r>
            <a:r>
              <a:rPr lang="en-US" sz="1600" dirty="0" smtClean="0">
                <a:solidFill>
                  <a:srgbClr val="4FC1FF"/>
                </a:solidFill>
                <a:latin typeface="Consolas"/>
              </a:rPr>
              <a:t>increment</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a:t>
            </a:r>
            <a:r>
              <a:rPr lang="en-US" sz="1600" dirty="0" err="1" smtClean="0">
                <a:solidFill>
                  <a:srgbClr val="DCDCAA"/>
                </a:solidFill>
                <a:latin typeface="Consolas"/>
              </a:rPr>
              <a:t>useCounter</a:t>
            </a:r>
            <a:r>
              <a:rPr lang="en-US" sz="1600" dirty="0" smtClean="0">
                <a:solidFill>
                  <a:srgbClr val="CCCCCC"/>
                </a:solidFill>
                <a:latin typeface="Consolas"/>
              </a:rPr>
              <a:t>();</a:t>
            </a:r>
          </a:p>
          <a:p>
            <a:r>
              <a:rPr lang="en-US" sz="1600" dirty="0" smtClean="0">
                <a:solidFill>
                  <a:srgbClr val="CCCCCC"/>
                </a:solidFill>
                <a:latin typeface="Consolas"/>
              </a:rPr>
              <a:t>  </a:t>
            </a:r>
            <a:r>
              <a:rPr lang="en-US" sz="1600" dirty="0" err="1" smtClean="0">
                <a:solidFill>
                  <a:srgbClr val="DCDCAA"/>
                </a:solidFill>
                <a:latin typeface="Consolas"/>
              </a:rPr>
              <a:t>useDocumentTitle</a:t>
            </a:r>
            <a:r>
              <a:rPr lang="en-US" sz="1600" dirty="0" smtClean="0">
                <a:solidFill>
                  <a:srgbClr val="CCCCCC"/>
                </a:solidFill>
                <a:latin typeface="Consolas"/>
              </a:rPr>
              <a:t>(</a:t>
            </a:r>
            <a:r>
              <a:rPr lang="en-US" sz="1600" dirty="0" smtClean="0">
                <a:solidFill>
                  <a:srgbClr val="4FC1FF"/>
                </a:solidFill>
                <a:latin typeface="Consolas"/>
              </a:rPr>
              <a:t>count</a:t>
            </a:r>
            <a:r>
              <a:rPr lang="en-US" sz="1600" dirty="0" smtClean="0">
                <a:solidFill>
                  <a:srgbClr val="CCCCCC"/>
                </a:solidFill>
                <a:latin typeface="Consolas"/>
              </a:rPr>
              <a:t>);</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CCCCCC"/>
                </a:solidFill>
                <a:latin typeface="Consolas"/>
              </a:rPr>
              <a:t>  </a:t>
            </a:r>
            <a:r>
              <a:rPr lang="en-US" sz="1600" dirty="0" smtClean="0">
                <a:solidFill>
                  <a:srgbClr val="C586C0"/>
                </a:solidFill>
                <a:latin typeface="Consolas"/>
              </a:rPr>
              <a:t>return</a:t>
            </a:r>
            <a:r>
              <a:rPr lang="en-US" sz="1600" dirty="0" smtClean="0">
                <a:solidFill>
                  <a:srgbClr val="CCCCCC"/>
                </a:solidFill>
                <a:latin typeface="Consolas"/>
              </a:rPr>
              <a:t> ( </a:t>
            </a: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div</a:t>
            </a:r>
            <a:r>
              <a:rPr lang="en-US" sz="1600" dirty="0" smtClean="0">
                <a:solidFill>
                  <a:srgbClr val="808080"/>
                </a:solidFill>
                <a:latin typeface="Consolas"/>
              </a:rPr>
              <a:t>&gt;</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r>
              <a:rPr lang="en-US" sz="1600" dirty="0" smtClean="0">
                <a:solidFill>
                  <a:srgbClr val="CCCCCC"/>
                </a:solidFill>
                <a:latin typeface="Consolas"/>
              </a:rPr>
              <a:t>Count: </a:t>
            </a:r>
            <a:r>
              <a:rPr lang="en-US" sz="1600" dirty="0" smtClean="0">
                <a:solidFill>
                  <a:srgbClr val="569CD6"/>
                </a:solidFill>
                <a:latin typeface="Consolas"/>
              </a:rPr>
              <a:t>{</a:t>
            </a:r>
            <a:r>
              <a:rPr lang="en-US" sz="1600" dirty="0" smtClean="0">
                <a:solidFill>
                  <a:srgbClr val="4FC1FF"/>
                </a:solidFill>
                <a:latin typeface="Consolas"/>
              </a:rPr>
              <a:t>count</a:t>
            </a:r>
            <a:r>
              <a:rPr lang="en-US" sz="1600" dirty="0" smtClean="0">
                <a:solidFill>
                  <a:srgbClr val="569CD6"/>
                </a:solidFill>
                <a:latin typeface="Consolas"/>
              </a:rPr>
              <a:t>}</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button</a:t>
            </a:r>
            <a:r>
              <a:rPr lang="en-US" sz="1600" dirty="0" smtClean="0">
                <a:solidFill>
                  <a:srgbClr val="CCCCCC"/>
                </a:solidFill>
                <a:latin typeface="Consolas"/>
              </a:rPr>
              <a:t> </a:t>
            </a:r>
            <a:r>
              <a:rPr lang="en-US" sz="1600" dirty="0" err="1" smtClean="0">
                <a:solidFill>
                  <a:srgbClr val="9CDCFE"/>
                </a:solidFill>
                <a:latin typeface="Consolas"/>
              </a:rPr>
              <a:t>onClick</a:t>
            </a:r>
            <a:r>
              <a:rPr lang="en-US" sz="1600" dirty="0" smtClean="0">
                <a:solidFill>
                  <a:srgbClr val="D4D4D4"/>
                </a:solidFill>
                <a:latin typeface="Consolas"/>
              </a:rPr>
              <a:t>=</a:t>
            </a:r>
            <a:r>
              <a:rPr lang="en-US" sz="1600" dirty="0" smtClean="0">
                <a:solidFill>
                  <a:srgbClr val="569CD6"/>
                </a:solidFill>
                <a:latin typeface="Consolas"/>
              </a:rPr>
              <a:t>{</a:t>
            </a:r>
            <a:r>
              <a:rPr lang="en-US" sz="1600" dirty="0" smtClean="0">
                <a:solidFill>
                  <a:srgbClr val="4FC1FF"/>
                </a:solidFill>
                <a:latin typeface="Consolas"/>
              </a:rPr>
              <a:t>increment</a:t>
            </a:r>
            <a:r>
              <a:rPr lang="en-US" sz="1600" dirty="0" smtClean="0">
                <a:solidFill>
                  <a:srgbClr val="569CD6"/>
                </a:solidFill>
                <a:latin typeface="Consolas"/>
              </a:rPr>
              <a:t>}</a:t>
            </a:r>
            <a:r>
              <a:rPr lang="en-US" sz="1600" dirty="0" smtClean="0">
                <a:solidFill>
                  <a:srgbClr val="808080"/>
                </a:solidFill>
                <a:latin typeface="Consolas"/>
              </a:rPr>
              <a:t>&gt;</a:t>
            </a:r>
            <a:r>
              <a:rPr lang="en-US" sz="1600" dirty="0" smtClean="0">
                <a:solidFill>
                  <a:srgbClr val="CCCCCC"/>
                </a:solidFill>
                <a:latin typeface="Consolas"/>
              </a:rPr>
              <a:t>Plus 1</a:t>
            </a:r>
            <a:r>
              <a:rPr lang="en-US" sz="1600" dirty="0" smtClean="0">
                <a:solidFill>
                  <a:srgbClr val="808080"/>
                </a:solidFill>
                <a:latin typeface="Consolas"/>
              </a:rPr>
              <a:t>&lt;/</a:t>
            </a:r>
            <a:r>
              <a:rPr lang="en-US" sz="1600" dirty="0" smtClean="0">
                <a:solidFill>
                  <a:srgbClr val="569CD6"/>
                </a:solidFill>
                <a:latin typeface="Consolas"/>
              </a:rPr>
              <a:t>button</a:t>
            </a:r>
            <a:r>
              <a:rPr lang="en-US" sz="1600" dirty="0" smtClean="0">
                <a:solidFill>
                  <a:srgbClr val="808080"/>
                </a:solidFill>
                <a:latin typeface="Consolas"/>
              </a:rPr>
              <a:t>&gt;</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div</a:t>
            </a:r>
            <a:r>
              <a:rPr lang="en-US" sz="1600" dirty="0" smtClean="0">
                <a:solidFill>
                  <a:srgbClr val="808080"/>
                </a:solidFill>
                <a:latin typeface="Consolas"/>
              </a:rPr>
              <a:t>&gt;</a:t>
            </a:r>
            <a:r>
              <a:rPr lang="en-US" sz="1600" dirty="0" smtClean="0">
                <a:solidFill>
                  <a:srgbClr val="CCCCCC"/>
                </a:solidFill>
                <a:latin typeface="Consolas"/>
              </a:rPr>
              <a:t> </a:t>
            </a:r>
          </a:p>
          <a:p>
            <a:r>
              <a:rPr lang="en-US" sz="1600" dirty="0" smtClean="0">
                <a:solidFill>
                  <a:srgbClr val="CCCCCC"/>
                </a:solidFill>
                <a:latin typeface="Consolas"/>
              </a:rPr>
              <a:t>  ); </a:t>
            </a:r>
          </a:p>
          <a:p>
            <a:r>
              <a:rPr lang="en-US" sz="1600" dirty="0" smtClean="0">
                <a:solidFill>
                  <a:srgbClr val="CCCCCC"/>
                </a:solidFill>
                <a:latin typeface="Consolas"/>
              </a:rPr>
              <a:t>}</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C586C0"/>
                </a:solidFill>
                <a:latin typeface="Consolas"/>
              </a:rPr>
              <a:t>export</a:t>
            </a:r>
            <a:r>
              <a:rPr lang="en-US" sz="1600" dirty="0" smtClean="0">
                <a:solidFill>
                  <a:srgbClr val="CCCCCC"/>
                </a:solidFill>
                <a:latin typeface="Consolas"/>
              </a:rPr>
              <a:t> </a:t>
            </a:r>
            <a:r>
              <a:rPr lang="en-US" sz="1600" dirty="0" smtClean="0">
                <a:solidFill>
                  <a:srgbClr val="C586C0"/>
                </a:solidFill>
                <a:latin typeface="Consolas"/>
              </a:rPr>
              <a:t>default</a:t>
            </a:r>
            <a:r>
              <a:rPr lang="en-US" sz="1600" dirty="0" smtClean="0">
                <a:solidFill>
                  <a:srgbClr val="CCCCCC"/>
                </a:solidFill>
                <a:latin typeface="Consolas"/>
              </a:rPr>
              <a:t> </a:t>
            </a:r>
            <a:r>
              <a:rPr lang="en-US" sz="1600" dirty="0" smtClean="0">
                <a:solidFill>
                  <a:srgbClr val="DCDCAA"/>
                </a:solidFill>
                <a:latin typeface="Consolas"/>
              </a:rPr>
              <a:t>App</a:t>
            </a:r>
            <a:r>
              <a:rPr lang="en-US" sz="1600" dirty="0" smtClean="0">
                <a:solidFill>
                  <a:srgbClr val="CCCCCC"/>
                </a:solidFill>
                <a:latin typeface="Consolas"/>
              </a:rPr>
              <a:t>;</a:t>
            </a:r>
            <a:endParaRPr lang="en-US" sz="1600" dirty="0" smtClean="0">
              <a:solidFill>
                <a:srgbClr val="CCCCCC"/>
              </a:solidFill>
              <a:latin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19809</TotalTime>
  <Words>783</Words>
  <Application>Microsoft Office PowerPoint</Application>
  <PresentationFormat>On-screen Show (4:3)</PresentationFormat>
  <Paragraphs>141</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Hooks</vt:lpstr>
      <vt:lpstr>Objectives</vt:lpstr>
      <vt:lpstr>Contents</vt:lpstr>
      <vt:lpstr>References</vt:lpstr>
      <vt:lpstr>The React useEffect Hook</vt:lpstr>
      <vt:lpstr>Why useEffect Exists?</vt:lpstr>
      <vt:lpstr>Change the Title</vt:lpstr>
      <vt:lpstr>1. Use useEffect</vt:lpstr>
      <vt:lpstr>Slide 9</vt:lpstr>
      <vt:lpstr>Fetch Function</vt:lpstr>
      <vt:lpstr>2. Use fetch</vt:lpstr>
      <vt:lpstr>Slide 12</vt:lpstr>
      <vt:lpstr>useReducer</vt:lpstr>
      <vt:lpstr>Slide 14</vt:lpstr>
      <vt:lpstr>Rules of Hooks</vt:lpstr>
      <vt:lpstr>Custom Hooks</vt:lpstr>
      <vt:lpstr>3. Create Custom Hook 1</vt:lpstr>
      <vt:lpstr>4. Create Custom Hook 2</vt:lpstr>
      <vt:lpstr>5. Create Custom Hooks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5589</cp:revision>
  <dcterms:created xsi:type="dcterms:W3CDTF">2007-10-06T08:25:13Z</dcterms:created>
  <dcterms:modified xsi:type="dcterms:W3CDTF">2024-01-26T20:17:14Z</dcterms:modified>
</cp:coreProperties>
</file>