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8"/>
  </p:notesMasterIdLst>
  <p:sldIdLst>
    <p:sldId id="486" r:id="rId2"/>
    <p:sldId id="487" r:id="rId3"/>
    <p:sldId id="488" r:id="rId4"/>
    <p:sldId id="489" r:id="rId5"/>
    <p:sldId id="517" r:id="rId6"/>
    <p:sldId id="519" r:id="rId7"/>
    <p:sldId id="520" r:id="rId8"/>
    <p:sldId id="518" r:id="rId9"/>
    <p:sldId id="516" r:id="rId10"/>
    <p:sldId id="506" r:id="rId11"/>
    <p:sldId id="507" r:id="rId12"/>
    <p:sldId id="508" r:id="rId13"/>
    <p:sldId id="509" r:id="rId14"/>
    <p:sldId id="510" r:id="rId15"/>
    <p:sldId id="511" r:id="rId16"/>
    <p:sldId id="505" r:id="rId17"/>
    <p:sldId id="490" r:id="rId18"/>
    <p:sldId id="501" r:id="rId19"/>
    <p:sldId id="502" r:id="rId20"/>
    <p:sldId id="504" r:id="rId21"/>
    <p:sldId id="503" r:id="rId22"/>
    <p:sldId id="512" r:id="rId23"/>
    <p:sldId id="513" r:id="rId24"/>
    <p:sldId id="514" r:id="rId25"/>
    <p:sldId id="515" r:id="rId26"/>
    <p:sldId id="343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28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nitech/pm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m2.io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m2.keymetrics.io/docs/usage/application-declaration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Node.js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smtClean="0"/>
              <a:t>PM2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Serving Static Files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server.js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209800"/>
            <a:ext cx="7848600" cy="13542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express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require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"express"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app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express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E4E4E4"/>
                </a:solidFill>
                <a:latin typeface="Consolas"/>
              </a:rPr>
            </a:br>
            <a:r>
              <a:rPr lang="en-US" sz="1600" i="1" dirty="0" smtClean="0">
                <a:solidFill>
                  <a:srgbClr val="E4E4E4"/>
                </a:solidFill>
                <a:latin typeface="Consolas"/>
              </a:rPr>
              <a:t>// Serve all static files from the current directory</a:t>
            </a:r>
            <a:endParaRPr lang="en-US" sz="1600" dirty="0" smtClean="0">
              <a:solidFill>
                <a:srgbClr val="E4E4E4"/>
              </a:solidFill>
              <a:latin typeface="Consolas"/>
            </a:endParaRPr>
          </a:p>
          <a:p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app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EFB080"/>
                </a:solidFill>
                <a:latin typeface="Consolas"/>
              </a:rPr>
              <a:t>use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EBC88D"/>
                </a:solidFill>
                <a:latin typeface="Consolas"/>
              </a:rPr>
              <a:t>express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EBC88D"/>
                </a:solidFill>
                <a:latin typeface="Consolas"/>
              </a:rPr>
              <a:t>static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"./"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));</a:t>
            </a:r>
            <a:endParaRPr lang="en-US" sz="1600" b="0" dirty="0">
              <a:solidFill>
                <a:srgbClr val="E4E4E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Serving Static Files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server.js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209800"/>
            <a:ext cx="7848600" cy="329320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i="1" dirty="0" smtClean="0">
                <a:solidFill>
                  <a:srgbClr val="E4E4E4"/>
                </a:solidFill>
                <a:latin typeface="Consolas"/>
              </a:rPr>
              <a:t>// Function to get the network IP address</a:t>
            </a:r>
            <a:endParaRPr lang="en-US" sz="1600" dirty="0" smtClean="0">
              <a:solidFill>
                <a:srgbClr val="E4E4E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b="1" dirty="0" err="1" smtClean="0">
                <a:solidFill>
                  <a:srgbClr val="EFB080"/>
                </a:solidFill>
                <a:latin typeface="Consolas"/>
              </a:rPr>
              <a:t>getNetworkIP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()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networkInterfaces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require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E394DC"/>
                </a:solidFill>
                <a:latin typeface="Consolas"/>
              </a:rPr>
              <a:t>os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).</a:t>
            </a:r>
            <a:r>
              <a:rPr lang="en-US" sz="1600" dirty="0" err="1" smtClean="0">
                <a:solidFill>
                  <a:srgbClr val="EBC88D"/>
                </a:solidFill>
                <a:latin typeface="Consolas"/>
              </a:rPr>
              <a:t>networkInterfaces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();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interfaceName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in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networkInterfaces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interfaces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networkInterfaces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interfaceName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]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for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iface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of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interfaces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(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iface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AAA0FA"/>
                </a:solidFill>
                <a:latin typeface="Consolas"/>
              </a:rPr>
              <a:t>family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===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'IPv4'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&amp;&amp;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!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iface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AAA0FA"/>
                </a:solidFill>
                <a:latin typeface="Consolas"/>
              </a:rPr>
              <a:t>internal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iface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AAA0FA"/>
                </a:solidFill>
                <a:latin typeface="Consolas"/>
              </a:rPr>
              <a:t>address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  }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}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"your-network-</a:t>
            </a:r>
            <a:r>
              <a:rPr lang="en-US" sz="1600" dirty="0" err="1" smtClean="0">
                <a:solidFill>
                  <a:srgbClr val="E394DC"/>
                </a:solidFill>
                <a:latin typeface="Consolas"/>
              </a:rPr>
              <a:t>ip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};</a:t>
            </a:r>
            <a:endParaRPr lang="en-US" sz="1600" b="0" dirty="0">
              <a:solidFill>
                <a:srgbClr val="E4E4E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Serving Static Files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nano</a:t>
            </a:r>
            <a:r>
              <a:rPr lang="en-US" sz="2200" dirty="0" smtClean="0">
                <a:latin typeface="Consolas" pitchFamily="49" charset="0"/>
              </a:rPr>
              <a:t> server.js</a:t>
            </a:r>
            <a:endParaRPr lang="en-US" sz="2200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2209800"/>
            <a:ext cx="7848600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i="1" dirty="0" smtClean="0">
                <a:solidFill>
                  <a:srgbClr val="E4E4E4"/>
                </a:solidFill>
                <a:latin typeface="Consolas"/>
              </a:rPr>
              <a:t>// Listen on all interfaces (0.0.0.0) instead of </a:t>
            </a:r>
            <a:r>
              <a:rPr lang="en-US" sz="1600" i="1" dirty="0" err="1" smtClean="0">
                <a:solidFill>
                  <a:srgbClr val="E4E4E4"/>
                </a:solidFill>
                <a:latin typeface="Consolas"/>
              </a:rPr>
              <a:t>localhost</a:t>
            </a:r>
            <a:endParaRPr lang="en-US" sz="1600" dirty="0" smtClean="0">
              <a:solidFill>
                <a:srgbClr val="E4E4E4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PORT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3001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HOST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"0.0.0.0"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E4E4E4"/>
                </a:solidFill>
                <a:latin typeface="Consolas"/>
              </a:rPr>
            </a:b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app</a:t>
            </a:r>
            <a:r>
              <a:rPr lang="en-US" sz="1600" dirty="0" err="1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EFB080"/>
                </a:solidFill>
                <a:latin typeface="Consolas"/>
              </a:rPr>
              <a:t>listen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PORT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HOST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, () 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EFB080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`Server running at:`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EFB080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`- Local:   http://localhost: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${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PORT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`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console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.</a:t>
            </a:r>
            <a:r>
              <a:rPr lang="en-US" sz="1600" dirty="0" smtClean="0">
                <a:solidFill>
                  <a:srgbClr val="EFB080"/>
                </a:solidFill>
                <a:latin typeface="Consolas"/>
              </a:rPr>
              <a:t>log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`- Network: http://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${</a:t>
            </a:r>
            <a:r>
              <a:rPr lang="en-US" sz="1600" dirty="0" smtClean="0">
                <a:solidFill>
                  <a:srgbClr val="EBC88D"/>
                </a:solidFill>
                <a:latin typeface="Consolas"/>
              </a:rPr>
              <a:t>getNetworkIP</a:t>
            </a:r>
            <a:r>
              <a:rPr lang="en-US" sz="1600" dirty="0" smtClean="0">
                <a:solidFill>
                  <a:srgbClr val="D6D6DD"/>
                </a:solidFill>
                <a:latin typeface="Consolas"/>
              </a:rPr>
              <a:t>()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${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PORT</a:t>
            </a:r>
            <a:r>
              <a:rPr lang="en-US" sz="1600" dirty="0" smtClean="0">
                <a:solidFill>
                  <a:srgbClr val="82D2CE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E394DC"/>
                </a:solidFill>
                <a:latin typeface="Consolas"/>
              </a:rPr>
              <a:t>`</a:t>
            </a:r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E4E4E4"/>
                </a:solidFill>
                <a:latin typeface="Consolas"/>
              </a:rPr>
              <a:t>});</a:t>
            </a:r>
            <a:endParaRPr lang="en-US" sz="1600" b="0" dirty="0">
              <a:solidFill>
                <a:srgbClr val="E4E4E4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Serving Static Files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init -y</a:t>
            </a:r>
          </a:p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install express</a:t>
            </a:r>
          </a:p>
          <a:p>
            <a:r>
              <a:rPr lang="en-US" sz="2200" dirty="0" smtClean="0">
                <a:latin typeface="Consolas" pitchFamily="49" charset="0"/>
              </a:rPr>
              <a:t>node server.js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NODE_ENV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NODE_ENV is a </a:t>
            </a:r>
            <a:r>
              <a:rPr lang="en-US" sz="2800" b="1" dirty="0" smtClean="0"/>
              <a:t>built-in environment variable</a:t>
            </a:r>
            <a:r>
              <a:rPr lang="en-US" sz="2800" dirty="0" smtClean="0"/>
              <a:t> conventionally used to specify the </a:t>
            </a:r>
            <a:r>
              <a:rPr lang="en-US" sz="2800" b="1" dirty="0" smtClean="0"/>
              <a:t>execution mode</a:t>
            </a:r>
            <a:r>
              <a:rPr lang="en-US" sz="2800" dirty="0" smtClean="0"/>
              <a:t> of a Node.js application.</a:t>
            </a:r>
          </a:p>
          <a:p>
            <a:r>
              <a:rPr lang="en-US" sz="2800" b="1" dirty="0" smtClean="0"/>
              <a:t>Common values</a:t>
            </a:r>
          </a:p>
          <a:p>
            <a:pPr lvl="1"/>
            <a:r>
              <a:rPr lang="en-US" sz="2400" dirty="0" smtClean="0"/>
              <a:t>development — for local development</a:t>
            </a:r>
          </a:p>
          <a:p>
            <a:pPr lvl="1"/>
            <a:r>
              <a:rPr lang="en-US" sz="2400" dirty="0" smtClean="0"/>
              <a:t>production — for deployed apps</a:t>
            </a:r>
          </a:p>
          <a:p>
            <a:pPr lvl="1"/>
            <a:r>
              <a:rPr lang="en-US" sz="2400" dirty="0" smtClean="0"/>
              <a:t>test — for automated testing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NODE_ENV?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Code and tools can check </a:t>
            </a:r>
            <a:r>
              <a:rPr lang="en-US" sz="2800" b="1" dirty="0" err="1" smtClean="0"/>
              <a:t>process.env.NODE_ENV</a:t>
            </a:r>
            <a:r>
              <a:rPr lang="en-US" sz="2800" dirty="0" smtClean="0"/>
              <a:t> to:</a:t>
            </a:r>
          </a:p>
          <a:p>
            <a:pPr lvl="1"/>
            <a:r>
              <a:rPr lang="en-US" sz="2400" dirty="0" smtClean="0"/>
              <a:t>Enable or disable debugging (if (</a:t>
            </a:r>
            <a:r>
              <a:rPr lang="en-US" sz="2400" dirty="0" err="1" smtClean="0"/>
              <a:t>process.env.NODE_ENV</a:t>
            </a:r>
            <a:r>
              <a:rPr lang="en-US" sz="2400" dirty="0" smtClean="0"/>
              <a:t> === 'development'))</a:t>
            </a:r>
          </a:p>
          <a:p>
            <a:pPr lvl="1"/>
            <a:r>
              <a:rPr lang="en-US" sz="2400" dirty="0" smtClean="0"/>
              <a:t>Optimize performance (e.g., React minifies in production)</a:t>
            </a:r>
          </a:p>
          <a:p>
            <a:pPr lvl="1"/>
            <a:r>
              <a:rPr lang="en-US" sz="2400" dirty="0" smtClean="0"/>
              <a:t>Choose configuration sets (database, logging, etc.)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Set NODE_ENV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NODE_ENV is typically </a:t>
            </a:r>
            <a:r>
              <a:rPr lang="en-US" sz="2800" b="1" dirty="0" smtClean="0"/>
              <a:t>set in your shell (command line or terminal)</a:t>
            </a:r>
            <a:r>
              <a:rPr lang="en-US" sz="2800" dirty="0" smtClean="0"/>
              <a:t> before running your Node.js application.</a:t>
            </a:r>
          </a:p>
          <a:p>
            <a:r>
              <a:rPr lang="en-US" sz="2800" dirty="0" smtClean="0"/>
              <a:t>On </a:t>
            </a:r>
            <a:r>
              <a:rPr lang="en-US" sz="2800" dirty="0" err="1" smtClean="0"/>
              <a:t>Ubuntu</a:t>
            </a:r>
            <a:r>
              <a:rPr lang="en-US" sz="2800" dirty="0" smtClean="0"/>
              <a:t>:</a:t>
            </a:r>
          </a:p>
          <a:p>
            <a:pPr lvl="1"/>
            <a:r>
              <a:rPr lang="en-US" sz="2400" b="1" dirty="0" smtClean="0">
                <a:latin typeface="Consolas" pitchFamily="49" charset="0"/>
              </a:rPr>
              <a:t>export NODE_ENV=production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node app.js</a:t>
            </a:r>
          </a:p>
          <a:p>
            <a:r>
              <a:rPr lang="en-US" sz="2800" dirty="0" smtClean="0"/>
              <a:t>On Windows:</a:t>
            </a:r>
          </a:p>
          <a:p>
            <a:pPr lvl="1"/>
            <a:r>
              <a:rPr lang="en-US" sz="2400" b="1" dirty="0" smtClean="0">
                <a:latin typeface="Consolas" pitchFamily="49" charset="0"/>
              </a:rPr>
              <a:t>set NODE_ENV=production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node app.js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r>
              <a:rPr lang="en-US" dirty="0" err="1" smtClean="0"/>
              <a:t>env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.</a:t>
            </a:r>
            <a:r>
              <a:rPr lang="en-US" sz="2800" dirty="0" err="1" smtClean="0"/>
              <a:t>env</a:t>
            </a:r>
            <a:r>
              <a:rPr lang="en-US" sz="2800" dirty="0" smtClean="0"/>
              <a:t> file is a </a:t>
            </a:r>
            <a:r>
              <a:rPr lang="en-US" sz="2800" b="1" dirty="0" smtClean="0"/>
              <a:t>user-created configuration file</a:t>
            </a:r>
            <a:r>
              <a:rPr lang="en-US" sz="2800" dirty="0" smtClean="0"/>
              <a:t> (not native to Node) that stores key-value pairs like: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NODE_ENV=development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DB_HOST=</a:t>
            </a:r>
            <a:r>
              <a:rPr lang="en-US" sz="2400" dirty="0" err="1" smtClean="0">
                <a:latin typeface="Consolas" pitchFamily="49" charset="0"/>
              </a:rPr>
              <a:t>localhost</a:t>
            </a:r>
            <a:endParaRPr lang="en-US" sz="2400" dirty="0" smtClean="0">
              <a:latin typeface="Consolas" pitchFamily="49" charset="0"/>
            </a:endParaRPr>
          </a:p>
          <a:p>
            <a:pPr lvl="1"/>
            <a:r>
              <a:rPr lang="en-US" sz="2400" dirty="0" smtClean="0">
                <a:latin typeface="Consolas" pitchFamily="49" charset="0"/>
              </a:rPr>
              <a:t>DB_PASS=secret</a:t>
            </a:r>
          </a:p>
          <a:p>
            <a:r>
              <a:rPr lang="en-US" sz="2800" dirty="0" smtClean="0"/>
              <a:t>The .</a:t>
            </a:r>
            <a:r>
              <a:rPr lang="en-US" sz="2800" dirty="0" err="1" smtClean="0"/>
              <a:t>env</a:t>
            </a:r>
            <a:r>
              <a:rPr lang="en-US" sz="2800" dirty="0" smtClean="0"/>
              <a:t> file is </a:t>
            </a:r>
            <a:r>
              <a:rPr lang="en-US" sz="2800" b="1" dirty="0" smtClean="0"/>
              <a:t>for convenience and local configuration</a:t>
            </a:r>
            <a:r>
              <a:rPr lang="en-US" sz="2800" dirty="0" smtClean="0"/>
              <a:t>, not part of Node.js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Load .</a:t>
            </a:r>
            <a:r>
              <a:rPr lang="en-US" dirty="0" err="1" smtClean="0"/>
              <a:t>env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It becomes accessible in your app only when you use a package such as </a:t>
            </a:r>
            <a:r>
              <a:rPr lang="en-US" sz="2800" b="1" dirty="0" err="1" smtClean="0"/>
              <a:t>dotenv</a:t>
            </a:r>
            <a:r>
              <a:rPr lang="en-US" sz="2800" dirty="0" smtClean="0"/>
              <a:t>:</a:t>
            </a:r>
          </a:p>
          <a:p>
            <a:pPr lvl="1"/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</a:t>
            </a:r>
            <a:r>
              <a:rPr lang="en-US" sz="2400" dirty="0" err="1" smtClean="0">
                <a:latin typeface="Consolas" pitchFamily="49" charset="0"/>
              </a:rPr>
              <a:t>dotenv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800" dirty="0" smtClean="0"/>
              <a:t>And in your code: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require('</a:t>
            </a:r>
            <a:r>
              <a:rPr lang="en-US" sz="2400" dirty="0" err="1" smtClean="0">
                <a:latin typeface="Consolas" pitchFamily="49" charset="0"/>
              </a:rPr>
              <a:t>dotenv</a:t>
            </a:r>
            <a:r>
              <a:rPr lang="en-US" sz="2400" dirty="0" smtClean="0">
                <a:latin typeface="Consolas" pitchFamily="49" charset="0"/>
              </a:rPr>
              <a:t>').</a:t>
            </a:r>
            <a:r>
              <a:rPr lang="en-US" sz="2400" dirty="0" err="1" smtClean="0">
                <a:latin typeface="Consolas" pitchFamily="49" charset="0"/>
              </a:rPr>
              <a:t>config</a:t>
            </a:r>
            <a:r>
              <a:rPr lang="en-US" sz="2400" dirty="0" smtClean="0">
                <a:latin typeface="Consolas" pitchFamily="49" charset="0"/>
              </a:rPr>
              <a:t>();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console.log(</a:t>
            </a:r>
            <a:r>
              <a:rPr lang="en-US" sz="2400" dirty="0" err="1" smtClean="0">
                <a:latin typeface="Consolas" pitchFamily="49" charset="0"/>
              </a:rPr>
              <a:t>process.env.DB_HOST</a:t>
            </a:r>
            <a:r>
              <a:rPr lang="en-US" sz="2400" dirty="0" smtClean="0">
                <a:latin typeface="Consolas" pitchFamily="49" charset="0"/>
              </a:rPr>
              <a:t>);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console.log(</a:t>
            </a:r>
            <a:r>
              <a:rPr lang="en-US" sz="2400" dirty="0" err="1" smtClean="0">
                <a:latin typeface="Consolas" pitchFamily="49" charset="0"/>
              </a:rPr>
              <a:t>process.env.NODE_ENV</a:t>
            </a:r>
            <a:r>
              <a:rPr lang="en-US" sz="2400" dirty="0" smtClean="0">
                <a:latin typeface="Consolas" pitchFamily="49" charset="0"/>
              </a:rPr>
              <a:t>);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NODE_ENV and .</a:t>
            </a:r>
            <a:r>
              <a:rPr lang="en-US" dirty="0" err="1" smtClean="0"/>
              <a:t>env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NODE_ENV can </a:t>
            </a:r>
            <a:r>
              <a:rPr lang="en-US" sz="2800" b="1" dirty="0" smtClean="0"/>
              <a:t>also</a:t>
            </a:r>
            <a:r>
              <a:rPr lang="en-US" sz="2800" dirty="0" smtClean="0"/>
              <a:t> be defined inside your .</a:t>
            </a:r>
            <a:r>
              <a:rPr lang="en-US" sz="2800" dirty="0" err="1" smtClean="0"/>
              <a:t>env</a:t>
            </a:r>
            <a:r>
              <a:rPr lang="en-US" sz="2800" dirty="0" smtClean="0"/>
              <a:t> file.</a:t>
            </a:r>
          </a:p>
          <a:p>
            <a:r>
              <a:rPr lang="en-US" sz="2800" dirty="0" smtClean="0"/>
              <a:t>However, </a:t>
            </a:r>
            <a:r>
              <a:rPr lang="en-US" sz="2800" b="1" dirty="0" smtClean="0"/>
              <a:t>environment variables set in the shell override</a:t>
            </a:r>
            <a:r>
              <a:rPr lang="en-US" sz="2800" dirty="0" smtClean="0"/>
              <a:t> values in .</a:t>
            </a:r>
            <a:r>
              <a:rPr lang="en-US" sz="2800" dirty="0" err="1" smtClean="0"/>
              <a:t>env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PM2?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https://github.com/Unitech/pm2</a:t>
            </a:r>
            <a:endParaRPr lang="en-US" sz="2400" dirty="0" smtClean="0"/>
          </a:p>
          <a:p>
            <a:r>
              <a:rPr lang="en-US" sz="2400" dirty="0" smtClean="0"/>
              <a:t>PM2 is a production process manager for Node.js/Bun applications with a built-in load balancer. It allows you to keep applications alive forever, to reload them without downtime and to facilitate common system admin tasks.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PM2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install pm2 -g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Manage Node.js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#  Check scripts in </a:t>
            </a:r>
            <a:r>
              <a:rPr lang="en-US" sz="2400" b="1" dirty="0" err="1" smtClean="0">
                <a:latin typeface="Consolas" pitchFamily="49" charset="0"/>
              </a:rPr>
              <a:t>package.json</a:t>
            </a:r>
            <a:r>
              <a:rPr lang="en-US" sz="2400" b="1" dirty="0" smtClean="0">
                <a:latin typeface="Consolas" pitchFamily="49" charset="0"/>
              </a:rPr>
              <a:t>.</a:t>
            </a:r>
          </a:p>
          <a:p>
            <a:r>
              <a:rPr lang="en-US" sz="2400" dirty="0" smtClean="0">
                <a:latin typeface="Consolas" pitchFamily="49" charset="0"/>
              </a:rPr>
              <a:t>pm2 start </a:t>
            </a:r>
            <a:r>
              <a:rPr lang="en-US" sz="2400" dirty="0" err="1" smtClean="0">
                <a:latin typeface="Consolas" pitchFamily="49" charset="0"/>
              </a:rPr>
              <a:t>src</a:t>
            </a:r>
            <a:r>
              <a:rPr lang="en-US" sz="2400" dirty="0" smtClean="0">
                <a:latin typeface="Consolas" pitchFamily="49" charset="0"/>
              </a:rPr>
              <a:t>/index.js --name "my-app"</a:t>
            </a:r>
          </a:p>
          <a:p>
            <a:r>
              <a:rPr lang="en-US" sz="2400" dirty="0" smtClean="0">
                <a:latin typeface="Consolas" pitchFamily="49" charset="0"/>
              </a:rPr>
              <a:t>pm2 list</a:t>
            </a:r>
          </a:p>
          <a:p>
            <a:r>
              <a:rPr lang="en-US" sz="2400" dirty="0" smtClean="0">
                <a:latin typeface="Consolas" pitchFamily="49" charset="0"/>
              </a:rPr>
              <a:t>pm2 stop my-app</a:t>
            </a:r>
          </a:p>
          <a:p>
            <a:r>
              <a:rPr lang="en-US" sz="2400" dirty="0" smtClean="0">
                <a:latin typeface="Consolas" pitchFamily="49" charset="0"/>
              </a:rPr>
              <a:t>pm2 delete my-app</a:t>
            </a:r>
          </a:p>
          <a:p>
            <a:r>
              <a:rPr lang="en-US" sz="2400" dirty="0" smtClean="0">
                <a:latin typeface="Consolas" pitchFamily="49" charset="0"/>
              </a:rPr>
              <a:t>pm2 stop all</a:t>
            </a:r>
          </a:p>
          <a:p>
            <a:r>
              <a:rPr lang="en-US" sz="2400" dirty="0" smtClean="0">
                <a:latin typeface="Consolas" pitchFamily="49" charset="0"/>
              </a:rPr>
              <a:t>pm2 delete 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Connect with pm2.io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https://pm2.io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pm2 link yx41oxzzf5xmrmy oomun0wu0onk2ni</a:t>
            </a:r>
          </a:p>
          <a:p>
            <a:r>
              <a:rPr lang="en-US" sz="2400" dirty="0" smtClean="0">
                <a:latin typeface="Consolas" pitchFamily="49" charset="0"/>
              </a:rPr>
              <a:t>pm2 start </a:t>
            </a:r>
            <a:r>
              <a:rPr lang="en-US" sz="2400" dirty="0" err="1" smtClean="0">
                <a:latin typeface="Consolas" pitchFamily="49" charset="0"/>
              </a:rPr>
              <a:t>src</a:t>
            </a:r>
            <a:r>
              <a:rPr lang="en-US" sz="2400" dirty="0" smtClean="0">
                <a:latin typeface="Consolas" pitchFamily="49" charset="0"/>
              </a:rPr>
              <a:t>/index.js --name "my-app"</a:t>
            </a:r>
          </a:p>
          <a:p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Auto-start on server reboot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pm2 show my-app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pm2 startup</a:t>
            </a:r>
          </a:p>
          <a:p>
            <a:pPr lvl="1"/>
            <a:r>
              <a:rPr lang="en-US" sz="2000" i="1" dirty="0" err="1" smtClean="0">
                <a:latin typeface="Consolas" pitchFamily="49" charset="0"/>
              </a:rPr>
              <a:t>sudo</a:t>
            </a:r>
            <a:r>
              <a:rPr lang="en-US" sz="2000" i="1" dirty="0" smtClean="0">
                <a:latin typeface="Consolas" pitchFamily="49" charset="0"/>
              </a:rPr>
              <a:t> </a:t>
            </a:r>
            <a:r>
              <a:rPr lang="en-US" sz="2000" i="1" dirty="0" err="1" smtClean="0">
                <a:latin typeface="Consolas" pitchFamily="49" charset="0"/>
              </a:rPr>
              <a:t>env</a:t>
            </a:r>
            <a:r>
              <a:rPr lang="en-US" sz="2000" i="1" dirty="0" smtClean="0">
                <a:latin typeface="Consolas" pitchFamily="49" charset="0"/>
              </a:rPr>
              <a:t> PATH=$PATH:/</a:t>
            </a:r>
            <a:r>
              <a:rPr lang="en-US" sz="2000" i="1" dirty="0" err="1" smtClean="0">
                <a:latin typeface="Consolas" pitchFamily="49" charset="0"/>
              </a:rPr>
              <a:t>usr</a:t>
            </a:r>
            <a:r>
              <a:rPr lang="en-US" sz="2000" i="1" dirty="0" smtClean="0">
                <a:latin typeface="Consolas" pitchFamily="49" charset="0"/>
              </a:rPr>
              <a:t>/bin /</a:t>
            </a:r>
            <a:r>
              <a:rPr lang="en-US" sz="2000" i="1" dirty="0" err="1" smtClean="0">
                <a:latin typeface="Consolas" pitchFamily="49" charset="0"/>
              </a:rPr>
              <a:t>usr</a:t>
            </a:r>
            <a:r>
              <a:rPr lang="en-US" sz="2000" i="1" dirty="0" smtClean="0">
                <a:latin typeface="Consolas" pitchFamily="49" charset="0"/>
              </a:rPr>
              <a:t>/lib/</a:t>
            </a:r>
            <a:r>
              <a:rPr lang="en-US" sz="2000" i="1" dirty="0" err="1" smtClean="0">
                <a:latin typeface="Consolas" pitchFamily="49" charset="0"/>
              </a:rPr>
              <a:t>node_modules</a:t>
            </a:r>
            <a:r>
              <a:rPr lang="en-US" sz="2000" i="1" dirty="0" smtClean="0">
                <a:latin typeface="Consolas" pitchFamily="49" charset="0"/>
              </a:rPr>
              <a:t>/pm2/bin/pm2 startup </a:t>
            </a:r>
            <a:r>
              <a:rPr lang="en-US" sz="2000" i="1" dirty="0" err="1" smtClean="0">
                <a:latin typeface="Consolas" pitchFamily="49" charset="0"/>
              </a:rPr>
              <a:t>systemd</a:t>
            </a:r>
            <a:r>
              <a:rPr lang="en-US" sz="2000" i="1" dirty="0" smtClean="0">
                <a:latin typeface="Consolas" pitchFamily="49" charset="0"/>
              </a:rPr>
              <a:t> -u </a:t>
            </a:r>
            <a:r>
              <a:rPr lang="en-US" sz="2000" i="1" dirty="0" err="1" smtClean="0">
                <a:latin typeface="Consolas" pitchFamily="49" charset="0"/>
              </a:rPr>
              <a:t>ubuntu</a:t>
            </a:r>
            <a:r>
              <a:rPr lang="en-US" sz="2000" i="1" dirty="0" smtClean="0">
                <a:latin typeface="Consolas" pitchFamily="49" charset="0"/>
              </a:rPr>
              <a:t> --hp /home/</a:t>
            </a:r>
            <a:r>
              <a:rPr lang="en-US" sz="2000" i="1" dirty="0" err="1" smtClean="0">
                <a:latin typeface="Consolas" pitchFamily="49" charset="0"/>
              </a:rPr>
              <a:t>ubuntu</a:t>
            </a:r>
            <a:endParaRPr lang="en-US" sz="2000" i="1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pm2 save</a:t>
            </a:r>
          </a:p>
          <a:p>
            <a:r>
              <a:rPr lang="en-US" sz="2400" dirty="0" smtClean="0">
                <a:latin typeface="Consolas" pitchFamily="49" charset="0"/>
              </a:rPr>
              <a:t># pm2 </a:t>
            </a:r>
            <a:r>
              <a:rPr lang="en-US" sz="2400" dirty="0" err="1" smtClean="0">
                <a:latin typeface="Consolas" pitchFamily="49" charset="0"/>
              </a:rPr>
              <a:t>unstartup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systemd</a:t>
            </a:r>
            <a:endParaRPr lang="en-US" sz="24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PM2 Configuration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https://pm2.keymetrics.io/docs/usage/application-declaration/</a:t>
            </a:r>
            <a:endParaRPr lang="en-US" sz="2200" dirty="0" smtClean="0"/>
          </a:p>
          <a:p>
            <a:r>
              <a:rPr lang="en-US" sz="2400" dirty="0" smtClean="0">
                <a:latin typeface="Consolas" pitchFamily="49" charset="0"/>
              </a:rPr>
              <a:t>pm2 init simple</a:t>
            </a:r>
          </a:p>
          <a:p>
            <a:r>
              <a:rPr lang="en-US" sz="2400" dirty="0" err="1" smtClean="0">
                <a:latin typeface="Consolas" pitchFamily="49" charset="0"/>
              </a:rPr>
              <a:t>nano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ecosystem.config.js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3515142"/>
            <a:ext cx="7315200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200" dirty="0" err="1" smtClean="0">
                <a:latin typeface="Consolas" pitchFamily="49" charset="0"/>
              </a:rPr>
              <a:t>module.exports</a:t>
            </a:r>
            <a:r>
              <a:rPr lang="en-US" sz="2200" dirty="0" smtClean="0">
                <a:latin typeface="Consolas" pitchFamily="49" charset="0"/>
              </a:rPr>
              <a:t> = {</a:t>
            </a:r>
          </a:p>
          <a:p>
            <a:r>
              <a:rPr lang="en-US" sz="2200" dirty="0" smtClean="0">
                <a:latin typeface="Consolas" pitchFamily="49" charset="0"/>
              </a:rPr>
              <a:t>  apps: [{    </a:t>
            </a:r>
          </a:p>
          <a:p>
            <a:r>
              <a:rPr lang="en-US" sz="2200" dirty="0" smtClean="0">
                <a:latin typeface="Consolas" pitchFamily="49" charset="0"/>
              </a:rPr>
              <a:t>      name: "inventory-</a:t>
            </a:r>
            <a:r>
              <a:rPr lang="en-US" sz="2200" dirty="0" err="1" smtClean="0">
                <a:latin typeface="Consolas" pitchFamily="49" charset="0"/>
              </a:rPr>
              <a:t>api</a:t>
            </a:r>
            <a:r>
              <a:rPr lang="en-US" sz="2200" dirty="0" smtClean="0">
                <a:latin typeface="Consolas" pitchFamily="49" charset="0"/>
              </a:rPr>
              <a:t>",</a:t>
            </a:r>
          </a:p>
          <a:p>
            <a:r>
              <a:rPr lang="en-US" sz="2200" dirty="0" smtClean="0">
                <a:latin typeface="Consolas" pitchFamily="49" charset="0"/>
              </a:rPr>
              <a:t>      script: "./inventory/</a:t>
            </a:r>
            <a:r>
              <a:rPr lang="en-US" sz="2200" dirty="0" err="1" smtClean="0">
                <a:latin typeface="Consolas" pitchFamily="49" charset="0"/>
              </a:rPr>
              <a:t>src</a:t>
            </a:r>
            <a:r>
              <a:rPr lang="en-US" sz="2200" dirty="0" smtClean="0">
                <a:latin typeface="Consolas" pitchFamily="49" charset="0"/>
              </a:rPr>
              <a:t>/index.js",    </a:t>
            </a:r>
          </a:p>
          <a:p>
            <a:r>
              <a:rPr lang="en-US" sz="2200" dirty="0" smtClean="0">
                <a:latin typeface="Consolas" pitchFamily="49" charset="0"/>
              </a:rPr>
              <a:t>  }]</a:t>
            </a:r>
          </a:p>
          <a:p>
            <a:r>
              <a:rPr lang="en-US" sz="2200" dirty="0" smtClean="0">
                <a:latin typeface="Consolas" pitchFamily="49" charset="0"/>
              </a:rPr>
              <a:t>};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the Configuration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pm2 start </a:t>
            </a:r>
            <a:r>
              <a:rPr lang="en-US" sz="2400" dirty="0" err="1" smtClean="0">
                <a:latin typeface="Consolas" pitchFamily="49" charset="0"/>
              </a:rPr>
              <a:t>ecosystem.config.js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pm2 stop </a:t>
            </a:r>
            <a:r>
              <a:rPr lang="en-US" sz="2400" dirty="0" err="1" smtClean="0">
                <a:latin typeface="Consolas" pitchFamily="49" charset="0"/>
              </a:rPr>
              <a:t>ecosystem.config.js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smtClean="0">
                <a:latin typeface="Consolas" pitchFamily="49" charset="0"/>
              </a:rPr>
              <a:t>pm2 delete </a:t>
            </a:r>
            <a:r>
              <a:rPr lang="en-US" sz="2400" dirty="0" err="1" smtClean="0">
                <a:latin typeface="Consolas" pitchFamily="49" charset="0"/>
              </a:rPr>
              <a:t>ecosystem.config.js</a:t>
            </a:r>
            <a:endParaRPr lang="en-US" sz="22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Switch Environments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 err="1" smtClean="0">
                <a:latin typeface="Consolas" pitchFamily="49" charset="0"/>
              </a:rPr>
              <a:t>module.exports</a:t>
            </a:r>
            <a:r>
              <a:rPr lang="en-US" sz="1800" dirty="0" smtClean="0">
                <a:latin typeface="Consolas" pitchFamily="49" charset="0"/>
              </a:rPr>
              <a:t> = 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apps : [{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name   : "app1",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script : "./app.js",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env_production</a:t>
            </a:r>
            <a:r>
              <a:rPr lang="en-US" sz="1800" dirty="0" smtClean="0">
                <a:latin typeface="Consolas" pitchFamily="49" charset="0"/>
              </a:rPr>
              <a:t>: 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   NODE_ENV: "production"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},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</a:t>
            </a:r>
            <a:r>
              <a:rPr lang="en-US" sz="1800" b="1" dirty="0" err="1" smtClean="0">
                <a:latin typeface="Consolas" pitchFamily="49" charset="0"/>
              </a:rPr>
              <a:t>env_development</a:t>
            </a:r>
            <a:r>
              <a:rPr lang="en-US" sz="1800" dirty="0" smtClean="0">
                <a:latin typeface="Consolas" pitchFamily="49" charset="0"/>
              </a:rPr>
              <a:t>: {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   NODE_ENV: "development"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  }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  }]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}</a:t>
            </a:r>
          </a:p>
          <a:p>
            <a:pPr>
              <a:buNone/>
            </a:pPr>
            <a:endParaRPr lang="en-US" sz="18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pm2 start </a:t>
            </a:r>
            <a:r>
              <a:rPr lang="en-US" sz="1800" b="1" dirty="0" err="1" smtClean="0">
                <a:latin typeface="Consolas" pitchFamily="49" charset="0"/>
              </a:rPr>
              <a:t>ecosystem.config.js</a:t>
            </a:r>
            <a:r>
              <a:rPr lang="en-US" sz="1800" b="1" dirty="0" smtClean="0">
                <a:latin typeface="Consolas" pitchFamily="49" charset="0"/>
              </a:rPr>
              <a:t> --</a:t>
            </a:r>
            <a:r>
              <a:rPr lang="en-US" sz="1800" b="1" dirty="0" err="1" smtClean="0">
                <a:latin typeface="Consolas" pitchFamily="49" charset="0"/>
              </a:rPr>
              <a:t>env</a:t>
            </a:r>
            <a:r>
              <a:rPr lang="en-US" sz="1800" b="1" dirty="0" smtClean="0">
                <a:latin typeface="Consolas" pitchFamily="49" charset="0"/>
              </a:rPr>
              <a:t> development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9076</TotalTime>
  <Words>604</Words>
  <Application>Microsoft Office PowerPoint</Application>
  <PresentationFormat>On-screen Show (4:3)</PresentationFormat>
  <Paragraphs>135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Node.js Deployment</vt:lpstr>
      <vt:lpstr>Objectives</vt:lpstr>
      <vt:lpstr>Contents</vt:lpstr>
      <vt:lpstr>References</vt:lpstr>
      <vt:lpstr>Serving Static Files (I)</vt:lpstr>
      <vt:lpstr>Serving Static Files (II)</vt:lpstr>
      <vt:lpstr>Serving Static Files (III)</vt:lpstr>
      <vt:lpstr>Serving Static Files (IV)</vt:lpstr>
      <vt:lpstr>Slide 9</vt:lpstr>
      <vt:lpstr>NODE_ENV</vt:lpstr>
      <vt:lpstr>Why NODE_ENV?</vt:lpstr>
      <vt:lpstr>How to Set NODE_ENV</vt:lpstr>
      <vt:lpstr>.env File</vt:lpstr>
      <vt:lpstr>How to Load .env File</vt:lpstr>
      <vt:lpstr>NODE_ENV and .env File</vt:lpstr>
      <vt:lpstr>Slide 16</vt:lpstr>
      <vt:lpstr>What is PM2?</vt:lpstr>
      <vt:lpstr>1. Install PM2</vt:lpstr>
      <vt:lpstr>2. Manage Node.js app</vt:lpstr>
      <vt:lpstr>3. Connect with pm2.io</vt:lpstr>
      <vt:lpstr>4. Auto-start on server reboot</vt:lpstr>
      <vt:lpstr>Slide 22</vt:lpstr>
      <vt:lpstr>1. Create a PM2 Configuration File</vt:lpstr>
      <vt:lpstr>2. Use the Configuration File</vt:lpstr>
      <vt:lpstr>3. Switch Environments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4020</cp:revision>
  <dcterms:created xsi:type="dcterms:W3CDTF">2007-10-06T08:25:13Z</dcterms:created>
  <dcterms:modified xsi:type="dcterms:W3CDTF">2025-10-22T14:23:14Z</dcterms:modified>
</cp:coreProperties>
</file>