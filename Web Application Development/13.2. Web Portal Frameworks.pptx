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handoutMasterIdLst>
    <p:handoutMasterId r:id="rId25"/>
  </p:handoutMasterIdLst>
  <p:sldIdLst>
    <p:sldId id="507" r:id="rId2"/>
    <p:sldId id="508" r:id="rId3"/>
    <p:sldId id="509" r:id="rId4"/>
    <p:sldId id="510" r:id="rId5"/>
    <p:sldId id="490" r:id="rId6"/>
    <p:sldId id="491" r:id="rId7"/>
    <p:sldId id="492" r:id="rId8"/>
    <p:sldId id="493" r:id="rId9"/>
    <p:sldId id="494" r:id="rId10"/>
    <p:sldId id="495" r:id="rId11"/>
    <p:sldId id="496" r:id="rId12"/>
    <p:sldId id="497" r:id="rId13"/>
    <p:sldId id="498" r:id="rId14"/>
    <p:sldId id="499" r:id="rId15"/>
    <p:sldId id="500" r:id="rId16"/>
    <p:sldId id="501" r:id="rId17"/>
    <p:sldId id="502" r:id="rId18"/>
    <p:sldId id="503" r:id="rId19"/>
    <p:sldId id="504" r:id="rId20"/>
    <p:sldId id="505" r:id="rId21"/>
    <p:sldId id="506" r:id="rId22"/>
    <p:sldId id="343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029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B2289-D6D1-40EC-85F2-6A14DC834E8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E3A5A-3803-4289-BB69-E335C0B45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Web Portal Frameworks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general </a:t>
            </a:r>
            <a:r>
              <a:rPr lang="en-US" sz="2400" i="1" dirty="0" smtClean="0">
                <a:solidFill>
                  <a:srgbClr val="C00000"/>
                </a:solidFill>
              </a:rPr>
              <a:t>web portal framework</a:t>
            </a:r>
            <a:r>
              <a:rPr lang="en-US" sz="2400" dirty="0" smtClean="0"/>
              <a:t> </a:t>
            </a:r>
            <a:r>
              <a:rPr lang="en-US" sz="2400" dirty="0" smtClean="0"/>
              <a:t>architecture.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Ulf </a:t>
            </a:r>
            <a:r>
              <a:rPr lang="en-US" sz="2400" dirty="0" err="1" smtClean="0"/>
              <a:t>Pettersson</a:t>
            </a:r>
            <a:r>
              <a:rPr lang="en-US" sz="2400" dirty="0" smtClean="0"/>
              <a:t> and Stan </a:t>
            </a:r>
            <a:r>
              <a:rPr lang="en-US" sz="2400" dirty="0" err="1" smtClean="0"/>
              <a:t>Jarzabek</a:t>
            </a:r>
            <a:r>
              <a:rPr lang="en-US" sz="2400" dirty="0" smtClean="0"/>
              <a:t> (2005). Industrial Experience with Building a Web Portal Product Line using a Lightweight, Reactive Approach.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Damith</a:t>
            </a:r>
            <a:r>
              <a:rPr lang="en-US" sz="2400" dirty="0" smtClean="0"/>
              <a:t> C. </a:t>
            </a:r>
            <a:r>
              <a:rPr lang="en-US" sz="2400" dirty="0" err="1" smtClean="0"/>
              <a:t>Rajapakse</a:t>
            </a:r>
            <a:r>
              <a:rPr lang="en-US" sz="2400" dirty="0" smtClean="0"/>
              <a:t> and Stan </a:t>
            </a:r>
            <a:r>
              <a:rPr lang="en-US" sz="2400" dirty="0" err="1" smtClean="0"/>
              <a:t>Jarzabek</a:t>
            </a:r>
            <a:r>
              <a:rPr lang="en-US" sz="2400" dirty="0" smtClean="0"/>
              <a:t> (2007). Using Server Pages to Unify Clones in Web Applications: A Trade-off Analysis. ICSE.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Web App Features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2895600"/>
            <a:ext cx="36766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524000"/>
            <a:ext cx="467677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3267075"/>
            <a:ext cx="44481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ular Callout 11"/>
          <p:cNvSpPr/>
          <p:nvPr/>
        </p:nvSpPr>
        <p:spPr>
          <a:xfrm>
            <a:off x="5562600" y="1447800"/>
            <a:ext cx="2590800" cy="838200"/>
          </a:xfrm>
          <a:prstGeom prst="wedgeRectCallout">
            <a:avLst>
              <a:gd name="adj1" fmla="val 10998"/>
              <a:gd name="adj2" fmla="val 10993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NEW MODULES</a:t>
            </a:r>
          </a:p>
          <a:p>
            <a:pPr algn="ctr"/>
            <a:r>
              <a:rPr lang="en-US" sz="2400" dirty="0" smtClean="0"/>
              <a:t>(REQUIREMENTS)</a:t>
            </a:r>
            <a:endParaRPr lang="en-US" sz="2400" dirty="0"/>
          </a:p>
        </p:txBody>
      </p:sp>
      <p:sp>
        <p:nvSpPr>
          <p:cNvPr id="13" name="Oval 12"/>
          <p:cNvSpPr/>
          <p:nvPr/>
        </p:nvSpPr>
        <p:spPr>
          <a:xfrm>
            <a:off x="5181600" y="3200400"/>
            <a:ext cx="2895600" cy="32766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28600" y="3124200"/>
            <a:ext cx="4724400" cy="3429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81000" y="1600200"/>
            <a:ext cx="1600200" cy="1524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 Model Example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619250"/>
            <a:ext cx="6248400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Meta-Model around Base Entity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2057400"/>
            <a:ext cx="3505200" cy="3810000"/>
          </a:xfrm>
        </p:spPr>
        <p:txBody>
          <a:bodyPr/>
          <a:lstStyle/>
          <a:p>
            <a:r>
              <a:rPr lang="en-US" sz="2400" dirty="0" smtClean="0"/>
              <a:t>For </a:t>
            </a:r>
            <a:r>
              <a:rPr lang="en-US" sz="2400" i="1" dirty="0" smtClean="0">
                <a:solidFill>
                  <a:srgbClr val="C00000"/>
                </a:solidFill>
              </a:rPr>
              <a:t>each entity</a:t>
            </a:r>
            <a:r>
              <a:rPr lang="en-US" sz="2400" dirty="0" smtClean="0"/>
              <a:t> (such as News, Task or User) we needed features to: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Create</a:t>
            </a:r>
            <a:r>
              <a:rPr lang="en-US" sz="2000" dirty="0" smtClean="0"/>
              <a:t> an entity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Edit</a:t>
            </a:r>
            <a:r>
              <a:rPr lang="en-US" sz="2000" dirty="0" smtClean="0"/>
              <a:t>/update an entity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Delete</a:t>
            </a:r>
            <a:r>
              <a:rPr lang="en-US" sz="2000" dirty="0" smtClean="0"/>
              <a:t> an entity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Display</a:t>
            </a:r>
            <a:r>
              <a:rPr lang="en-US" sz="2000" dirty="0" smtClean="0"/>
              <a:t> an entity</a:t>
            </a:r>
          </a:p>
          <a:p>
            <a:pPr lvl="1"/>
            <a:r>
              <a:rPr lang="en-US" sz="2000" dirty="0" smtClean="0"/>
              <a:t>Display an </a:t>
            </a:r>
            <a:r>
              <a:rPr lang="en-US" sz="2000" i="1" dirty="0" smtClean="0">
                <a:solidFill>
                  <a:srgbClr val="C00000"/>
                </a:solidFill>
              </a:rPr>
              <a:t>entity listing</a:t>
            </a:r>
          </a:p>
          <a:p>
            <a:pPr lvl="1"/>
            <a:r>
              <a:rPr lang="en-US" sz="2000" dirty="0" smtClean="0"/>
              <a:t>Capture and display an </a:t>
            </a:r>
            <a:r>
              <a:rPr lang="en-US" sz="2000" i="1" dirty="0" smtClean="0">
                <a:solidFill>
                  <a:srgbClr val="C00000"/>
                </a:solidFill>
              </a:rPr>
              <a:t>entity history</a:t>
            </a:r>
            <a:endParaRPr lang="en-US" sz="2000" i="1" dirty="0">
              <a:solidFill>
                <a:srgbClr val="C00000"/>
              </a:solidFill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2133600"/>
            <a:ext cx="483870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Web Page Composed by Views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3050" y="1752600"/>
            <a:ext cx="60579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Portal Foundation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3581400"/>
          </a:xfrm>
        </p:spPr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Portal Foundation</a:t>
            </a:r>
            <a:r>
              <a:rPr lang="en-US" sz="2400" dirty="0" smtClean="0"/>
              <a:t> aimed to </a:t>
            </a:r>
            <a:r>
              <a:rPr lang="en-US" sz="2400" u="sng" dirty="0" smtClean="0"/>
              <a:t>simplify the implementation of Entity Modules</a:t>
            </a:r>
            <a:r>
              <a:rPr lang="en-US" sz="2400" dirty="0" smtClean="0"/>
              <a:t> by providing:</a:t>
            </a:r>
          </a:p>
          <a:p>
            <a:pPr lvl="1"/>
            <a:r>
              <a:rPr lang="en-US" sz="2000" dirty="0" smtClean="0"/>
              <a:t>Session and Access Control.</a:t>
            </a:r>
          </a:p>
          <a:p>
            <a:pPr lvl="1"/>
            <a:r>
              <a:rPr lang="en-US" sz="2000" dirty="0" smtClean="0"/>
              <a:t>Page formatting.</a:t>
            </a:r>
          </a:p>
          <a:p>
            <a:pPr lvl="1"/>
            <a:r>
              <a:rPr lang="en-US" sz="2000" dirty="0" smtClean="0"/>
              <a:t>Site Configuration.</a:t>
            </a:r>
          </a:p>
          <a:p>
            <a:pPr lvl="1"/>
            <a:r>
              <a:rPr lang="en-US" sz="2000" dirty="0" smtClean="0"/>
              <a:t>Database persistency, indexing and search.</a:t>
            </a:r>
          </a:p>
          <a:p>
            <a:pPr lvl="1"/>
            <a:r>
              <a:rPr lang="en-US" sz="2000" dirty="0" smtClean="0"/>
              <a:t>Support for Base Entity meta-model patterns such as:</a:t>
            </a:r>
          </a:p>
          <a:p>
            <a:pPr lvl="2"/>
            <a:r>
              <a:rPr lang="en-US" sz="1600" dirty="0" smtClean="0"/>
              <a:t>Entity visualization and persistency.</a:t>
            </a:r>
          </a:p>
          <a:p>
            <a:pPr lvl="2"/>
            <a:r>
              <a:rPr lang="en-US" sz="1600" dirty="0" smtClean="0"/>
              <a:t>Entity indexing (to support generic search feature).</a:t>
            </a:r>
          </a:p>
          <a:p>
            <a:pPr lvl="2"/>
            <a:r>
              <a:rPr lang="en-US" sz="1600" dirty="0" smtClean="0"/>
              <a:t>Entity history capturing (to support on-line history archive).</a:t>
            </a:r>
            <a:endParaRPr lang="en-US" sz="16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371600"/>
            <a:ext cx="467677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4114800" y="1295400"/>
            <a:ext cx="1600200" cy="1524000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Pros. and Cons.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Ease of Entity Module </a:t>
            </a:r>
            <a:r>
              <a:rPr lang="en-US" sz="2400" i="1" dirty="0" smtClean="0">
                <a:solidFill>
                  <a:srgbClr val="C00000"/>
                </a:solidFill>
              </a:rPr>
              <a:t>creation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modification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The number of </a:t>
            </a:r>
            <a:r>
              <a:rPr lang="en-US" sz="2400" i="1" dirty="0" smtClean="0">
                <a:solidFill>
                  <a:srgbClr val="C00000"/>
                </a:solidFill>
              </a:rPr>
              <a:t>clones</a:t>
            </a:r>
            <a:r>
              <a:rPr lang="en-US" sz="2400" dirty="0" smtClean="0"/>
              <a:t> existing in the Entity Modules.</a:t>
            </a:r>
          </a:p>
          <a:p>
            <a:r>
              <a:rPr lang="en-US" sz="2400" dirty="0" smtClean="0"/>
              <a:t>Complexity risk arising from the needs to handle too many and too </a:t>
            </a:r>
            <a:r>
              <a:rPr lang="en-US" sz="2400" i="1" dirty="0" smtClean="0">
                <a:solidFill>
                  <a:srgbClr val="C00000"/>
                </a:solidFill>
              </a:rPr>
              <a:t>complex variants</a:t>
            </a:r>
            <a:r>
              <a:rPr lang="en-US" sz="2400" dirty="0" smtClean="0"/>
              <a:t> of common functionality.</a:t>
            </a:r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product line</a:t>
            </a:r>
            <a:r>
              <a:rPr lang="en-US" sz="2400" dirty="0" smtClean="0"/>
              <a:t> (a single code base) problem</a:t>
            </a:r>
          </a:p>
          <a:p>
            <a:pPr lvl="1"/>
            <a:r>
              <a:rPr lang="en-US" sz="2000" dirty="0" smtClean="0"/>
              <a:t>Some of the required feature enhancements were </a:t>
            </a:r>
            <a:r>
              <a:rPr lang="en-US" sz="2000" i="1" dirty="0" smtClean="0">
                <a:solidFill>
                  <a:srgbClr val="C00000"/>
                </a:solidFill>
              </a:rPr>
              <a:t>only applicable (and wanted) in one or a few portals</a:t>
            </a:r>
            <a:r>
              <a:rPr lang="en-US" sz="2000" dirty="0" smtClean="0"/>
              <a:t> and not in the whole portal family.</a:t>
            </a:r>
          </a:p>
          <a:p>
            <a:pPr lvl="1"/>
            <a:r>
              <a:rPr lang="en-US" sz="2000" dirty="0" smtClean="0"/>
              <a:t>Even though some entity modules were required in multiple portals, there were </a:t>
            </a:r>
            <a:r>
              <a:rPr lang="en-US" sz="2000" i="1" dirty="0" smtClean="0">
                <a:solidFill>
                  <a:srgbClr val="C00000"/>
                </a:solidFill>
              </a:rPr>
              <a:t>specific variations</a:t>
            </a:r>
            <a:r>
              <a:rPr lang="en-US" sz="2000" dirty="0" smtClean="0"/>
              <a:t> that applied to each individual portal resulting in difficulties to maintain a single code base.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Simple </a:t>
            </a:r>
            <a:r>
              <a:rPr lang="en-US" dirty="0" smtClean="0"/>
              <a:t>Web Application [2]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63" y="1295400"/>
            <a:ext cx="47148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8850" y="4191000"/>
            <a:ext cx="46863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5874603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We implemented one module and used it to implement other modules by simply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cloning</a:t>
            </a:r>
            <a:r>
              <a:rPr lang="en-US" sz="2400" dirty="0" smtClean="0">
                <a:latin typeface="+mj-lt"/>
              </a:rPr>
              <a:t> it.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Meta-model of a Module</a:t>
            </a:r>
            <a:endParaRPr lang="en-US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775" y="1666875"/>
            <a:ext cx="6648450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a Module: </a:t>
            </a:r>
            <a:r>
              <a:rPr lang="en-US" i="1" dirty="0" smtClean="0">
                <a:solidFill>
                  <a:srgbClr val="C00000"/>
                </a:solidFill>
              </a:rPr>
              <a:t>Front Controller and Page Controller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00350"/>
            <a:ext cx="61055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ular Callout 8"/>
          <p:cNvSpPr/>
          <p:nvPr/>
        </p:nvSpPr>
        <p:spPr>
          <a:xfrm>
            <a:off x="4572000" y="1600200"/>
            <a:ext cx="4495800" cy="1371600"/>
          </a:xfrm>
          <a:prstGeom prst="wedgeRectCallout">
            <a:avLst>
              <a:gd name="adj1" fmla="val -59472"/>
              <a:gd name="adj2" fmla="val 5314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i="1" dirty="0" err="1" smtClean="0">
                <a:solidFill>
                  <a:srgbClr val="C00000"/>
                </a:solidFill>
              </a:rPr>
              <a:t>FrontController</a:t>
            </a:r>
            <a:r>
              <a:rPr lang="en-US" sz="2200" i="1" dirty="0" smtClean="0">
                <a:solidFill>
                  <a:srgbClr val="C00000"/>
                </a:solidFill>
              </a:rPr>
              <a:t>. </a:t>
            </a:r>
            <a:r>
              <a:rPr lang="en-US" sz="2200" dirty="0" smtClean="0"/>
              <a:t>Similar preprocessing sequences were repeated for each page request (e.g., session validation, parameter decoding).</a:t>
            </a:r>
            <a:endParaRPr lang="en-US" sz="2200" dirty="0"/>
          </a:p>
        </p:txBody>
      </p:sp>
      <p:sp>
        <p:nvSpPr>
          <p:cNvPr id="8" name="Rectangular Callout 7"/>
          <p:cNvSpPr/>
          <p:nvPr/>
        </p:nvSpPr>
        <p:spPr>
          <a:xfrm>
            <a:off x="6629400" y="4876800"/>
            <a:ext cx="2438400" cy="1371600"/>
          </a:xfrm>
          <a:prstGeom prst="wedgeRectCallout">
            <a:avLst>
              <a:gd name="adj1" fmla="val -153692"/>
              <a:gd name="adj2" fmla="val -1582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i="1" dirty="0" err="1" smtClean="0">
                <a:solidFill>
                  <a:srgbClr val="C00000"/>
                </a:solidFill>
              </a:rPr>
              <a:t>ActionController</a:t>
            </a:r>
            <a:r>
              <a:rPr lang="en-US" sz="2200" dirty="0" smtClean="0"/>
              <a:t>.  Control the complexity of controllers.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a Module: </a:t>
            </a:r>
            <a:r>
              <a:rPr lang="en-US" i="1" dirty="0" smtClean="0">
                <a:solidFill>
                  <a:srgbClr val="C00000"/>
                </a:solidFill>
              </a:rPr>
              <a:t>Template View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00350"/>
            <a:ext cx="61055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ular Callout 8"/>
          <p:cNvSpPr/>
          <p:nvPr/>
        </p:nvSpPr>
        <p:spPr>
          <a:xfrm>
            <a:off x="4800600" y="1676400"/>
            <a:ext cx="4191000" cy="1371600"/>
          </a:xfrm>
          <a:prstGeom prst="wedgeRectCallout">
            <a:avLst>
              <a:gd name="adj1" fmla="val -50061"/>
              <a:gd name="adj2" fmla="val 14509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i="1" dirty="0" err="1" smtClean="0">
                <a:solidFill>
                  <a:srgbClr val="C00000"/>
                </a:solidFill>
              </a:rPr>
              <a:t>ActionView</a:t>
            </a:r>
            <a:r>
              <a:rPr lang="en-US" sz="2200" i="1" dirty="0" smtClean="0">
                <a:solidFill>
                  <a:srgbClr val="C00000"/>
                </a:solidFill>
              </a:rPr>
              <a:t>.</a:t>
            </a:r>
            <a:r>
              <a:rPr lang="en-US" sz="2200" dirty="0" smtClean="0"/>
              <a:t> Some views exhibited much similarity among them.</a:t>
            </a:r>
          </a:p>
          <a:p>
            <a:r>
              <a:rPr lang="en-US" sz="2200" dirty="0" smtClean="0"/>
              <a:t>We put the similar parts of views in to a template.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a Module: </a:t>
            </a:r>
            <a:r>
              <a:rPr lang="en-US" i="1" dirty="0" smtClean="0">
                <a:solidFill>
                  <a:srgbClr val="C00000"/>
                </a:solidFill>
              </a:rPr>
              <a:t>View Helper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00350"/>
            <a:ext cx="61055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ular Callout 8"/>
          <p:cNvSpPr/>
          <p:nvPr/>
        </p:nvSpPr>
        <p:spPr>
          <a:xfrm>
            <a:off x="4800600" y="1676400"/>
            <a:ext cx="4191000" cy="1371600"/>
          </a:xfrm>
          <a:prstGeom prst="wedgeRectCallout">
            <a:avLst>
              <a:gd name="adj1" fmla="val -21848"/>
              <a:gd name="adj2" fmla="val 11865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i="1" dirty="0" err="1" smtClean="0">
                <a:solidFill>
                  <a:srgbClr val="C00000"/>
                </a:solidFill>
              </a:rPr>
              <a:t>ActionViewHelper</a:t>
            </a:r>
            <a:r>
              <a:rPr lang="en-US" sz="2200" dirty="0" smtClean="0"/>
              <a:t>. Data retrieval code was cloned in multiple views.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a Module: </a:t>
            </a:r>
            <a:r>
              <a:rPr lang="en-US" i="1" dirty="0" smtClean="0">
                <a:solidFill>
                  <a:srgbClr val="C00000"/>
                </a:solidFill>
              </a:rPr>
              <a:t>Composite View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00350"/>
            <a:ext cx="61055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ular Callout 8"/>
          <p:cNvSpPr/>
          <p:nvPr/>
        </p:nvSpPr>
        <p:spPr>
          <a:xfrm>
            <a:off x="4800600" y="1676400"/>
            <a:ext cx="4191000" cy="1371600"/>
          </a:xfrm>
          <a:prstGeom prst="wedgeRectCallout">
            <a:avLst>
              <a:gd name="adj1" fmla="val -21848"/>
              <a:gd name="adj2" fmla="val 11865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 smtClean="0"/>
              <a:t>Some fragments of UI recurred in multiple places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a Module: </a:t>
            </a:r>
            <a:r>
              <a:rPr lang="en-US" i="1" dirty="0" smtClean="0">
                <a:solidFill>
                  <a:srgbClr val="C00000"/>
                </a:solidFill>
              </a:rPr>
              <a:t>Table Module and Table Data Gateway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800350"/>
            <a:ext cx="61055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ular Callout 8"/>
          <p:cNvSpPr/>
          <p:nvPr/>
        </p:nvSpPr>
        <p:spPr>
          <a:xfrm>
            <a:off x="4495800" y="1676400"/>
            <a:ext cx="4495800" cy="1371600"/>
          </a:xfrm>
          <a:prstGeom prst="wedgeRectCallout">
            <a:avLst>
              <a:gd name="adj1" fmla="val -64356"/>
              <a:gd name="adj2" fmla="val 27498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i="1" dirty="0" err="1" smtClean="0">
                <a:solidFill>
                  <a:srgbClr val="C00000"/>
                </a:solidFill>
              </a:rPr>
              <a:t>TableModule</a:t>
            </a:r>
            <a:r>
              <a:rPr lang="en-US" sz="2200" i="1" dirty="0" smtClean="0">
                <a:solidFill>
                  <a:srgbClr val="C00000"/>
                </a:solidFill>
              </a:rPr>
              <a:t> and </a:t>
            </a:r>
            <a:r>
              <a:rPr lang="en-US" sz="2200" i="1" dirty="0" err="1" smtClean="0">
                <a:solidFill>
                  <a:srgbClr val="C00000"/>
                </a:solidFill>
              </a:rPr>
              <a:t>TableDataGateway</a:t>
            </a:r>
            <a:r>
              <a:rPr lang="en-US" sz="2200" dirty="0" smtClean="0"/>
              <a:t>. Each module has minimal domain logic and is represented in the database as a single table.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/>
          <a:lstStyle/>
          <a:p>
            <a:r>
              <a:rPr lang="en-US" sz="2200" dirty="0" smtClean="0"/>
              <a:t>We pulled the six Front Controllers out of the modules and unified clones among them by </a:t>
            </a:r>
            <a:r>
              <a:rPr lang="en-US" sz="2200" i="1" dirty="0" smtClean="0">
                <a:solidFill>
                  <a:srgbClr val="C00000"/>
                </a:solidFill>
              </a:rPr>
              <a:t>creating two layers of Controllers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top layer consisted of </a:t>
            </a:r>
            <a:r>
              <a:rPr lang="en-US" sz="2200" i="1" dirty="0" smtClean="0">
                <a:solidFill>
                  <a:srgbClr val="C00000"/>
                </a:solidFill>
              </a:rPr>
              <a:t>a common Front Controller</a:t>
            </a:r>
            <a:r>
              <a:rPr lang="en-US" sz="2200" dirty="0" smtClean="0"/>
              <a:t> that unified common control tasks.</a:t>
            </a:r>
          </a:p>
          <a:p>
            <a:r>
              <a:rPr lang="en-US" sz="2200" dirty="0" smtClean="0"/>
              <a:t>The second layer consisted of </a:t>
            </a:r>
            <a:r>
              <a:rPr lang="en-US" sz="2200" i="1" dirty="0" smtClean="0">
                <a:solidFill>
                  <a:srgbClr val="C00000"/>
                </a:solidFill>
              </a:rPr>
              <a:t>six module-specific controllers</a:t>
            </a:r>
            <a:r>
              <a:rPr lang="en-US" sz="2200" dirty="0" smtClean="0"/>
              <a:t> (e.g., </a:t>
            </a:r>
            <a:r>
              <a:rPr lang="en-US" sz="2200" dirty="0" err="1" smtClean="0"/>
              <a:t>StaffFrontController</a:t>
            </a:r>
            <a:r>
              <a:rPr lang="en-US" sz="2200" dirty="0" smtClean="0"/>
              <a:t>, </a:t>
            </a:r>
            <a:r>
              <a:rPr lang="en-US" sz="2200" dirty="0" err="1" smtClean="0"/>
              <a:t>ProjectFrontController</a:t>
            </a:r>
            <a:r>
              <a:rPr lang="en-US" sz="2200" dirty="0" smtClean="0"/>
              <a:t>, …).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6013" y="4267200"/>
            <a:ext cx="437197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Web Application Framework Criteria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Reusability</a:t>
            </a:r>
          </a:p>
          <a:p>
            <a:pPr lvl="1"/>
            <a:r>
              <a:rPr lang="en-US" dirty="0" smtClean="0"/>
              <a:t>Authentication, authorization, modules</a:t>
            </a:r>
          </a:p>
          <a:p>
            <a:r>
              <a:rPr lang="en-US" dirty="0" smtClean="0"/>
              <a:t>Extensibility</a:t>
            </a:r>
          </a:p>
          <a:p>
            <a:pPr lvl="1"/>
            <a:r>
              <a:rPr lang="en-US" dirty="0" smtClean="0"/>
              <a:t>Source lines of code</a:t>
            </a:r>
          </a:p>
          <a:p>
            <a:r>
              <a:rPr lang="en-US" dirty="0" smtClean="0"/>
              <a:t>Scalability</a:t>
            </a:r>
          </a:p>
          <a:p>
            <a:pPr lvl="1"/>
            <a:r>
              <a:rPr lang="en-US" dirty="0" smtClean="0"/>
              <a:t>Number of serving users</a:t>
            </a:r>
          </a:p>
          <a:p>
            <a:r>
              <a:rPr lang="en-US" dirty="0" smtClean="0"/>
              <a:t>Performance</a:t>
            </a:r>
          </a:p>
          <a:p>
            <a:pPr lvl="1"/>
            <a:r>
              <a:rPr lang="en-US" smtClean="0"/>
              <a:t>Response time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11060</TotalTime>
  <Words>569</Words>
  <Application>Microsoft Office PowerPoint</Application>
  <PresentationFormat>On-screen Show (4:3)</PresentationFormat>
  <Paragraphs>75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Web Portal Frameworks</vt:lpstr>
      <vt:lpstr>Objectives</vt:lpstr>
      <vt:lpstr>Contents</vt:lpstr>
      <vt:lpstr>References</vt:lpstr>
      <vt:lpstr>Typical Web App Features [1]</vt:lpstr>
      <vt:lpstr>Entity Model Example</vt:lpstr>
      <vt:lpstr>Meta-Model around Base Entity</vt:lpstr>
      <vt:lpstr>A Web Page Composed by Views</vt:lpstr>
      <vt:lpstr>Portal Foundation</vt:lpstr>
      <vt:lpstr>Pros. and Cons.</vt:lpstr>
      <vt:lpstr>Slide 11</vt:lpstr>
      <vt:lpstr>Simple Web Application [2]</vt:lpstr>
      <vt:lpstr>Meta-model of a Module</vt:lpstr>
      <vt:lpstr>Design of a Module: Front Controller and Page Controller</vt:lpstr>
      <vt:lpstr>Design of a Module: Template View</vt:lpstr>
      <vt:lpstr>Design of a Module: View Helper</vt:lpstr>
      <vt:lpstr>Design of a Module: Composite View</vt:lpstr>
      <vt:lpstr>Design of a Module: Table Module and Table Data Gateway</vt:lpstr>
      <vt:lpstr>Generic Module</vt:lpstr>
      <vt:lpstr>Slide 20</vt:lpstr>
      <vt:lpstr>Web Application Framework Criteria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3335</cp:revision>
  <dcterms:created xsi:type="dcterms:W3CDTF">2007-10-06T08:25:13Z</dcterms:created>
  <dcterms:modified xsi:type="dcterms:W3CDTF">2025-04-25T11:44:43Z</dcterms:modified>
</cp:coreProperties>
</file>