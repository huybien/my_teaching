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9"/>
  </p:notesMasterIdLst>
  <p:handoutMasterIdLst>
    <p:handoutMasterId r:id="rId60"/>
  </p:handoutMasterIdLst>
  <p:sldIdLst>
    <p:sldId id="508" r:id="rId2"/>
    <p:sldId id="509" r:id="rId3"/>
    <p:sldId id="510" r:id="rId4"/>
    <p:sldId id="511" r:id="rId5"/>
    <p:sldId id="513" r:id="rId6"/>
    <p:sldId id="514" r:id="rId7"/>
    <p:sldId id="515" r:id="rId8"/>
    <p:sldId id="516" r:id="rId9"/>
    <p:sldId id="518" r:id="rId10"/>
    <p:sldId id="517" r:id="rId11"/>
    <p:sldId id="519" r:id="rId12"/>
    <p:sldId id="520" r:id="rId13"/>
    <p:sldId id="528" r:id="rId14"/>
    <p:sldId id="538" r:id="rId15"/>
    <p:sldId id="537" r:id="rId16"/>
    <p:sldId id="539" r:id="rId17"/>
    <p:sldId id="529" r:id="rId18"/>
    <p:sldId id="531" r:id="rId19"/>
    <p:sldId id="534" r:id="rId20"/>
    <p:sldId id="527" r:id="rId21"/>
    <p:sldId id="526" r:id="rId22"/>
    <p:sldId id="533" r:id="rId23"/>
    <p:sldId id="536" r:id="rId24"/>
    <p:sldId id="535" r:id="rId25"/>
    <p:sldId id="552" r:id="rId26"/>
    <p:sldId id="553" r:id="rId27"/>
    <p:sldId id="554" r:id="rId28"/>
    <p:sldId id="555" r:id="rId29"/>
    <p:sldId id="557" r:id="rId30"/>
    <p:sldId id="540" r:id="rId31"/>
    <p:sldId id="541" r:id="rId32"/>
    <p:sldId id="543" r:id="rId33"/>
    <p:sldId id="542" r:id="rId34"/>
    <p:sldId id="565" r:id="rId35"/>
    <p:sldId id="558" r:id="rId36"/>
    <p:sldId id="562" r:id="rId37"/>
    <p:sldId id="559" r:id="rId38"/>
    <p:sldId id="575" r:id="rId39"/>
    <p:sldId id="566" r:id="rId40"/>
    <p:sldId id="567" r:id="rId41"/>
    <p:sldId id="572" r:id="rId42"/>
    <p:sldId id="551" r:id="rId43"/>
    <p:sldId id="544" r:id="rId44"/>
    <p:sldId id="545" r:id="rId45"/>
    <p:sldId id="573" r:id="rId46"/>
    <p:sldId id="574" r:id="rId47"/>
    <p:sldId id="546" r:id="rId48"/>
    <p:sldId id="547" r:id="rId49"/>
    <p:sldId id="548" r:id="rId50"/>
    <p:sldId id="549" r:id="rId51"/>
    <p:sldId id="550" r:id="rId52"/>
    <p:sldId id="571" r:id="rId53"/>
    <p:sldId id="568" r:id="rId54"/>
    <p:sldId id="569" r:id="rId55"/>
    <p:sldId id="570" r:id="rId56"/>
    <p:sldId id="525" r:id="rId57"/>
    <p:sldId id="343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029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0540A-F6E6-4195-9860-4EE39CABFE7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06245-CAB1-4BEB-9F86-F0CF197222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06245-CAB1-4BEB-9F86-F0CF1972228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06245-CAB1-4BEB-9F86-F0CF19722281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Document_Object_Mode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eveloper.mozilla.org/en-US/docs/Web/API/Documen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/API/Docum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/API/Docum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eloper.mozilla.org/en-US/docs/Web/API/Document/DOMContentLoaded_even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PointerEvent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eveloper.mozilla.org/en-US/docs/Web/API/Element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/API/Elem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/API/Elem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eveloper.mozilla.org/en-US/docs/Web/API/Node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/API/Nod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/API/Nod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eveloper.mozilla.org/en-US/docs/Web/API/EventTarge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/API/EventTarge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API/XMLHttpRequest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eveloper.mozilla.org/en-US/docs/Web/HTTP/COR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iis.net/downloads/microsoft/iis-cors-module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iis.net/iisteam/getting-started-with-the-iis-cors-module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son.org/json-en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se64encode.org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hyperlink" Target="https://developer.mozilla.org/en-US/docs/Web/API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DOM and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implement</a:t>
            </a:r>
            <a:r>
              <a:rPr lang="en-US" sz="2400" dirty="0" smtClean="0"/>
              <a:t> UI interactions.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retrieve</a:t>
            </a:r>
            <a:r>
              <a:rPr lang="en-US" sz="2400" dirty="0" smtClean="0"/>
              <a:t> data from servers.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process</a:t>
            </a:r>
            <a:r>
              <a:rPr lang="en-US" sz="2400" dirty="0" smtClean="0"/>
              <a:t> JSON data.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send</a:t>
            </a:r>
            <a:r>
              <a:rPr lang="en-US" sz="2400" dirty="0" smtClean="0"/>
              <a:t> JSON data to a server.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Window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Document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Element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Event Handling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Document Object Model (DOM)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XMLHttpRequest</a:t>
            </a:r>
            <a:r>
              <a:rPr lang="en-US" sz="2400" dirty="0" smtClean="0"/>
              <a:t> Objects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JavaScript Object Notation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Jon </a:t>
            </a:r>
            <a:r>
              <a:rPr lang="en-US" sz="2400" dirty="0" err="1" smtClean="0"/>
              <a:t>Duckett</a:t>
            </a:r>
            <a:r>
              <a:rPr lang="en-US" sz="2400" dirty="0" smtClean="0"/>
              <a:t> (2014). JavaScript and </a:t>
            </a:r>
            <a:r>
              <a:rPr lang="en-US" sz="2400" dirty="0" err="1" smtClean="0"/>
              <a:t>Jquery</a:t>
            </a:r>
            <a:r>
              <a:rPr lang="en-US" sz="2400" dirty="0" smtClean="0"/>
              <a:t>: Interactive Front-End Web Development. John Wiley &amp; Sons.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4419600"/>
            <a:ext cx="6096000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window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window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instanceof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Window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Window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Window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60960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&lt;!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doctype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Hello Window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6800" y="1600200"/>
            <a:ext cx="145103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Consolas" pitchFamily="49" charset="0"/>
              </a:rPr>
              <a:t>index.html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5802868"/>
            <a:ext cx="170431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err="1" smtClean="0">
                <a:latin typeface="Consolas" pitchFamily="49" charset="0"/>
              </a:rPr>
              <a:t>js</a:t>
            </a:r>
            <a:r>
              <a:rPr lang="en-US" b="1" dirty="0" smtClean="0">
                <a:latin typeface="Consolas" pitchFamily="49" charset="0"/>
              </a:rPr>
              <a:t>/script.js</a:t>
            </a:r>
            <a:endParaRPr lang="en-US" b="1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514600"/>
            <a:ext cx="2571750" cy="2546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4667071"/>
            <a:ext cx="6096000" cy="14773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window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instanceof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Document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Document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prototype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Document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95271"/>
            <a:ext cx="60960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&lt;!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doctype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Hello Document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Hi document.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676400"/>
            <a:ext cx="2746375" cy="4546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4019729"/>
            <a:ext cx="8305800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myTitle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textContent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 HTML. Hello JavaScript."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"&lt;h3&gt;Hello Ngo. Hello Bien.&lt;/h3&gt;"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getElementById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524000"/>
            <a:ext cx="8305800" cy="230832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/script.js"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defer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5486400"/>
            <a:ext cx="43307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4019729"/>
            <a:ext cx="8305800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myTitle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textContent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 HTML. Hello JavaScript."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"&lt;h3&gt;Hello Ngo. Hello Bien.&lt;/h3&gt;"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querySelector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524000"/>
            <a:ext cx="8305800" cy="230832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/script.js"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defer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5486400"/>
            <a:ext cx="43307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3810000"/>
            <a:ext cx="8305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btnSayHello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btnSayHello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btnSayHello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"click"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"&lt;h3&gt;Hello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".&lt;/h3&gt;"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addEventListener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8305800" cy="17543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my name.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 /&gt;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btnSayHello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Hello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317625"/>
            <a:ext cx="2632075" cy="1196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4343400"/>
            <a:ext cx="8305800" cy="17543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"&lt;h3&gt;Hello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".&lt;/h3&gt;"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onclick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2438400"/>
            <a:ext cx="8305800" cy="17543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my name.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 /&gt;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onclick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();"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Hello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676400"/>
            <a:ext cx="2632075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3657600"/>
            <a:ext cx="83058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btnSayHello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btnSayHello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btnSayHello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"click"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this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style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"background-color: #FF0000;"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"&lt;h3&gt;Hello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".&lt;/h3&gt;"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addEventListener</a:t>
            </a:r>
            <a:r>
              <a:rPr lang="en-US" dirty="0" smtClean="0"/>
              <a:t> and </a:t>
            </a:r>
            <a:r>
              <a:rPr lang="en-US" dirty="0" smtClean="0">
                <a:latin typeface="Consolas" pitchFamily="49" charset="0"/>
              </a:rPr>
              <a:t>this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676400"/>
            <a:ext cx="8305800" cy="17543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my name.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 /&gt;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btnSayHello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Hello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371600"/>
            <a:ext cx="24574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3962400"/>
            <a:ext cx="83058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caller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this.style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 = "background-color: #FF0000;";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console.log(this);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caller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style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"background-color: #FF0000;"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getElementById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"&lt;h3&gt;Hello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txtName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".&lt;/h3&gt;"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onclick</a:t>
            </a:r>
            <a:r>
              <a:rPr lang="en-US" dirty="0" smtClean="0"/>
              <a:t> and </a:t>
            </a:r>
            <a:r>
              <a:rPr lang="en-US" dirty="0" smtClean="0">
                <a:latin typeface="Consolas" pitchFamily="49" charset="0"/>
              </a:rPr>
              <a:t>this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2057400"/>
            <a:ext cx="8305800" cy="17543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myTitle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my name.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txtName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 /&gt;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onclick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(this);"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Say Hello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371600"/>
            <a:ext cx="24574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Object Model (DOM)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When the browser loads a web page, it creates a </a:t>
            </a:r>
            <a:r>
              <a:rPr lang="en-US" sz="1800" i="1" dirty="0" smtClean="0">
                <a:solidFill>
                  <a:srgbClr val="C00000"/>
                </a:solidFill>
              </a:rPr>
              <a:t>model</a:t>
            </a:r>
            <a:r>
              <a:rPr lang="en-US" sz="1800" dirty="0" smtClean="0"/>
              <a:t> of the page in </a:t>
            </a:r>
            <a:r>
              <a:rPr lang="en-US" sz="1800" u="sng" dirty="0" smtClean="0"/>
              <a:t>memory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The DOM specifies the way in which the browser should structure this model using a </a:t>
            </a:r>
            <a:r>
              <a:rPr lang="en-US" sz="1800" i="1" dirty="0" smtClean="0">
                <a:solidFill>
                  <a:srgbClr val="C00000"/>
                </a:solidFill>
              </a:rPr>
              <a:t>DOM tree</a:t>
            </a:r>
            <a:r>
              <a:rPr lang="en-US" sz="1800" b="1" dirty="0" smtClean="0"/>
              <a:t>.</a:t>
            </a:r>
          </a:p>
          <a:p>
            <a:r>
              <a:rPr lang="en-US" sz="1800" dirty="0" smtClean="0"/>
              <a:t>The DOM is called an </a:t>
            </a:r>
            <a:r>
              <a:rPr lang="en-US" sz="1800" i="1" dirty="0" smtClean="0">
                <a:solidFill>
                  <a:srgbClr val="C00000"/>
                </a:solidFill>
              </a:rPr>
              <a:t>object model</a:t>
            </a:r>
            <a:r>
              <a:rPr lang="en-US" sz="1800" dirty="0" smtClean="0"/>
              <a:t> because the model (the DOM tree) is </a:t>
            </a:r>
            <a:r>
              <a:rPr lang="en-US" sz="1800" u="sng" dirty="0" smtClean="0"/>
              <a:t>made of objects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The DOM also defines </a:t>
            </a:r>
            <a:r>
              <a:rPr lang="en-US" sz="1800" i="1" dirty="0" smtClean="0">
                <a:solidFill>
                  <a:srgbClr val="C00000"/>
                </a:solidFill>
              </a:rPr>
              <a:t>methods</a:t>
            </a:r>
            <a:r>
              <a:rPr lang="en-US" sz="1800" dirty="0" smtClean="0"/>
              <a:t> and </a:t>
            </a:r>
            <a:r>
              <a:rPr lang="en-US" sz="1800" i="1" dirty="0" smtClean="0">
                <a:solidFill>
                  <a:srgbClr val="C00000"/>
                </a:solidFill>
              </a:rPr>
              <a:t>properties</a:t>
            </a:r>
            <a:r>
              <a:rPr lang="en-US" sz="1800" dirty="0" smtClean="0"/>
              <a:t> to access and update each object in this model, which in turn updates what the user sees in the browser.</a:t>
            </a:r>
          </a:p>
        </p:txBody>
      </p:sp>
      <p:pic>
        <p:nvPicPr>
          <p:cNvPr id="7" name="Picture 2" descr="https://cdn.pngsumo.com/filedom-modelsvg-wikimedia-commons-document-object-model-png-742_76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962400"/>
            <a:ext cx="2355850" cy="2438400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4069715"/>
            <a:ext cx="4938395" cy="210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DOM, Browsers and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Document Object Model (DOM) specifies how </a:t>
            </a:r>
            <a:r>
              <a:rPr lang="en-US" sz="2400" i="1" dirty="0" smtClean="0">
                <a:solidFill>
                  <a:srgbClr val="C00000"/>
                </a:solidFill>
              </a:rPr>
              <a:t>browsers</a:t>
            </a:r>
            <a:r>
              <a:rPr lang="en-US" sz="2400" dirty="0" smtClean="0"/>
              <a:t> should create a </a:t>
            </a:r>
            <a:r>
              <a:rPr lang="en-US" sz="2400" u="sng" dirty="0" smtClean="0"/>
              <a:t>model of an HTML page</a:t>
            </a:r>
            <a:r>
              <a:rPr lang="en-US" sz="2400" dirty="0" smtClean="0"/>
              <a:t> and how </a:t>
            </a:r>
            <a:r>
              <a:rPr lang="en-US" sz="2400" i="1" dirty="0" smtClean="0">
                <a:solidFill>
                  <a:srgbClr val="C00000"/>
                </a:solidFill>
              </a:rPr>
              <a:t>JavaScript</a:t>
            </a:r>
            <a:r>
              <a:rPr lang="en-US" sz="2400" dirty="0" smtClean="0"/>
              <a:t> can </a:t>
            </a:r>
            <a:r>
              <a:rPr lang="en-US" sz="2400" u="sng" dirty="0" smtClean="0"/>
              <a:t>access</a:t>
            </a:r>
            <a:r>
              <a:rPr lang="en-US" sz="2400" dirty="0" smtClean="0"/>
              <a:t> and </a:t>
            </a:r>
            <a:r>
              <a:rPr lang="en-US" sz="2400" u="sng" dirty="0" smtClean="0"/>
              <a:t>update</a:t>
            </a:r>
            <a:r>
              <a:rPr lang="en-US" sz="2400" dirty="0" smtClean="0"/>
              <a:t> the contents of a web page while it is in the browser window.</a:t>
            </a:r>
          </a:p>
          <a:p>
            <a:r>
              <a:rPr lang="en-US" sz="2400" dirty="0" smtClean="0"/>
              <a:t>The DOM is </a:t>
            </a:r>
            <a:r>
              <a:rPr lang="en-US" sz="2400" i="1" dirty="0" smtClean="0">
                <a:solidFill>
                  <a:srgbClr val="C00000"/>
                </a:solidFill>
              </a:rPr>
              <a:t>neither</a:t>
            </a:r>
            <a:r>
              <a:rPr lang="en-US" sz="2400" dirty="0" smtClean="0"/>
              <a:t> part of HTML, nor part of JavaScript; it is a </a:t>
            </a:r>
            <a:r>
              <a:rPr lang="en-US" sz="2400" u="sng" dirty="0" smtClean="0"/>
              <a:t>separate set of rules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is </a:t>
            </a:r>
            <a:r>
              <a:rPr lang="en-US" sz="2400" i="1" dirty="0" smtClean="0">
                <a:solidFill>
                  <a:srgbClr val="C00000"/>
                </a:solidFill>
              </a:rPr>
              <a:t>implemented</a:t>
            </a:r>
            <a:r>
              <a:rPr lang="en-US" sz="2400" dirty="0" smtClean="0"/>
              <a:t> by all major browser makers.</a:t>
            </a:r>
          </a:p>
        </p:txBody>
      </p:sp>
      <p:pic>
        <p:nvPicPr>
          <p:cNvPr id="3074" name="Picture 2" descr="https://images.anandtech.com/doci/16078/Browsers_678x45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4800600"/>
            <a:ext cx="2260598" cy="14803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Object Model (DOM)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3"/>
              </a:rPr>
              <a:t>https://developer.mozilla.org/en-US/docs/Web/API/Document_Object_Model</a:t>
            </a:r>
            <a:endParaRPr lang="en-US" sz="1800" dirty="0" smtClean="0"/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Document Object Model</a:t>
            </a:r>
            <a:r>
              <a:rPr lang="en-US" sz="2200" dirty="0" smtClean="0"/>
              <a:t> (DOM) represents a </a:t>
            </a:r>
            <a:r>
              <a:rPr lang="en-US" sz="2200" u="sng" dirty="0" smtClean="0"/>
              <a:t>document</a:t>
            </a:r>
            <a:r>
              <a:rPr lang="en-US" sz="2200" dirty="0" smtClean="0"/>
              <a:t> with a logical </a:t>
            </a:r>
            <a:r>
              <a:rPr lang="en-US" sz="2200" u="sng" dirty="0" smtClean="0"/>
              <a:t>tree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DOM </a:t>
            </a:r>
            <a:r>
              <a:rPr lang="en-US" sz="2200" i="1" dirty="0" smtClean="0">
                <a:solidFill>
                  <a:srgbClr val="C00000"/>
                </a:solidFill>
              </a:rPr>
              <a:t>methods</a:t>
            </a:r>
            <a:r>
              <a:rPr lang="en-US" sz="2200" dirty="0" smtClean="0"/>
              <a:t> allow </a:t>
            </a:r>
            <a:r>
              <a:rPr lang="en-US" sz="2200" u="sng" dirty="0" smtClean="0"/>
              <a:t>programmatic access</a:t>
            </a:r>
            <a:r>
              <a:rPr lang="en-US" sz="2200" dirty="0" smtClean="0"/>
              <a:t> to the tree. With them, you can change the document's structure, style, or content.</a:t>
            </a:r>
            <a:endParaRPr lang="en-US" sz="2200" dirty="0"/>
          </a:p>
        </p:txBody>
      </p:sp>
      <p:pic>
        <p:nvPicPr>
          <p:cNvPr id="6" name="Picture 2" descr="https://cdn.pngsumo.com/filedom-modelsvg-wikimedia-commons-document-object-model-png-742_76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3886200"/>
            <a:ext cx="2355850" cy="243840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81400" y="3993515"/>
            <a:ext cx="4938395" cy="210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https://developer.mozilla.org/en-US/docs/Web/API/Document</a:t>
            </a:r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Document</a:t>
            </a:r>
            <a:r>
              <a:rPr lang="en-US" sz="2200" dirty="0" smtClean="0"/>
              <a:t> interface represents any </a:t>
            </a:r>
            <a:r>
              <a:rPr lang="en-US" sz="2200" u="sng" dirty="0" smtClean="0"/>
              <a:t>web page</a:t>
            </a:r>
            <a:r>
              <a:rPr lang="en-US" sz="2200" dirty="0" smtClean="0"/>
              <a:t> loaded in the browser and serves as an entry point into the web page's content, which is the DOM tree.</a:t>
            </a:r>
          </a:p>
          <a:p>
            <a:endParaRPr lang="en-US" sz="2200" dirty="0"/>
          </a:p>
        </p:txBody>
      </p:sp>
      <p:pic>
        <p:nvPicPr>
          <p:cNvPr id="9" name="Picture 2" descr="https://cdn.pngsumo.com/filedom-modelsvg-wikimedia-commons-document-object-model-png-742_76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9750" y="3962400"/>
            <a:ext cx="2355850" cy="2438400"/>
          </a:xfrm>
          <a:prstGeom prst="rect">
            <a:avLst/>
          </a:prstGeom>
          <a:noFill/>
        </p:spPr>
      </p:pic>
      <p:sp>
        <p:nvSpPr>
          <p:cNvPr id="10" name="Down Arrow 9"/>
          <p:cNvSpPr/>
          <p:nvPr/>
        </p:nvSpPr>
        <p:spPr>
          <a:xfrm>
            <a:off x="3816350" y="2895600"/>
            <a:ext cx="1752600" cy="1066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https://developer.mozilla.org/en-US/docs/Web/API/Document#properties</a:t>
            </a:r>
            <a:endParaRPr lang="en-US" sz="2000" dirty="0" smtClean="0"/>
          </a:p>
          <a:p>
            <a:endParaRPr lang="en-US" sz="2000" dirty="0" smtClean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3352800"/>
            <a:ext cx="1790700" cy="1590675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9325" y="2346325"/>
            <a:ext cx="4613275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https://developer.mozilla.org/en-US/docs/Web/API/Document#events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0" y="3200400"/>
            <a:ext cx="1790700" cy="1590675"/>
          </a:xfrm>
          <a:prstGeom prst="rect">
            <a:avLst/>
          </a:prstGeom>
          <a:noFill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4075" y="2590800"/>
            <a:ext cx="4708525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DOMContentLoaded</a:t>
            </a:r>
            <a:r>
              <a:rPr lang="en-US" dirty="0" smtClean="0"/>
              <a:t>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https://developer.mozilla.org/en-US/docs/Web/API/Document/DOMContentLoaded_event</a:t>
            </a:r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b="1" dirty="0" err="1" smtClean="0">
                <a:latin typeface="Consolas" pitchFamily="49" charset="0"/>
              </a:rPr>
              <a:t>DOMContentLoaded</a:t>
            </a:r>
            <a:r>
              <a:rPr lang="en-US" sz="2200" dirty="0" smtClean="0"/>
              <a:t> event fires when the initial HTML document has been completely loaded and parsed, without waiting for </a:t>
            </a:r>
            <a:r>
              <a:rPr lang="en-US" sz="2200" dirty="0" err="1" smtClean="0"/>
              <a:t>stylesheets</a:t>
            </a:r>
            <a:r>
              <a:rPr lang="en-US" sz="2200" dirty="0" smtClean="0"/>
              <a:t>, images, and </a:t>
            </a:r>
            <a:r>
              <a:rPr lang="en-US" sz="2200" dirty="0" err="1" smtClean="0"/>
              <a:t>subframes</a:t>
            </a:r>
            <a:r>
              <a:rPr lang="en-US" sz="2200" dirty="0" smtClean="0"/>
              <a:t> to finish loading.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533400" y="3733800"/>
            <a:ext cx="8077200" cy="14773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DOMContentLoaded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window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alert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"DOM fully loaded and parsed."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  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3638" y="4924425"/>
            <a:ext cx="42767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2895600"/>
            <a:ext cx="8305800" cy="34163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DOMContentLoaded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"body"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"click"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event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event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event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shiftKey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"x: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event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clientX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"y: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event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clientY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'event' Argument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3350" y="2197100"/>
            <a:ext cx="2432050" cy="207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200" dirty="0" smtClean="0">
                <a:hlinkClick r:id="rId3"/>
              </a:rPr>
              <a:t>https://developer.mozilla.org/en-US/docs/Web/API/PointerEvent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https://developer.mozilla.org/en-US/docs/Web/API/Element</a:t>
            </a:r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Element</a:t>
            </a:r>
            <a:r>
              <a:rPr lang="en-US" sz="2400" dirty="0" smtClean="0"/>
              <a:t> is the most general </a:t>
            </a:r>
            <a:r>
              <a:rPr lang="en-US" sz="2400" u="sng" dirty="0" smtClean="0"/>
              <a:t>base class</a:t>
            </a:r>
            <a:r>
              <a:rPr lang="en-US" sz="2400" dirty="0" smtClean="0"/>
              <a:t> from which all element objects (i.e. objects that represent elements) in a Document inherit.</a:t>
            </a:r>
            <a:endParaRPr lang="en-US" sz="2400" dirty="0"/>
          </a:p>
        </p:txBody>
      </p:sp>
      <p:pic>
        <p:nvPicPr>
          <p:cNvPr id="5" name="Picture 2" descr="https://cdn.pngsumo.com/filedom-modelsvg-wikimedia-commons-document-object-model-png-742_76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3950" y="3657600"/>
            <a:ext cx="2355850" cy="2438400"/>
          </a:xfrm>
          <a:prstGeom prst="rect">
            <a:avLst/>
          </a:prstGeom>
          <a:noFill/>
        </p:spPr>
      </p:pic>
      <p:sp>
        <p:nvSpPr>
          <p:cNvPr id="6" name="Down Arrow 5"/>
          <p:cNvSpPr/>
          <p:nvPr/>
        </p:nvSpPr>
        <p:spPr>
          <a:xfrm>
            <a:off x="3892550" y="3124200"/>
            <a:ext cx="1752600" cy="1066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 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https://developer.mozilla.org/en-US/docs/Web/API/Element#properties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3429000"/>
            <a:ext cx="1790700" cy="1590675"/>
          </a:xfrm>
          <a:prstGeom prst="rect">
            <a:avLst/>
          </a:prstGeom>
          <a:noFill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667000"/>
            <a:ext cx="4108450" cy="285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https://developer.mozilla.org/en-US/docs/Web/API/Element#events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8900" y="3200400"/>
            <a:ext cx="1790700" cy="1590675"/>
          </a:xfrm>
          <a:prstGeom prst="rect">
            <a:avLst/>
          </a:prstGeom>
          <a:noFill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8525" y="2644775"/>
            <a:ext cx="4968875" cy="314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https://developer.mozilla.org/en-US/docs/Web/API/Node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DOM Node</a:t>
            </a:r>
            <a:r>
              <a:rPr lang="en-US" sz="2400" dirty="0" smtClean="0"/>
              <a:t> interface is an abstract </a:t>
            </a:r>
            <a:r>
              <a:rPr lang="en-US" sz="2400" u="sng" dirty="0" smtClean="0"/>
              <a:t>base class</a:t>
            </a:r>
            <a:r>
              <a:rPr lang="en-US" sz="2400" dirty="0" smtClean="0"/>
              <a:t> upon which many other DOM API objects are based, thus letting those object types to be </a:t>
            </a:r>
            <a:r>
              <a:rPr lang="en-US" sz="2400" u="sng" dirty="0" smtClean="0"/>
              <a:t>used similarly</a:t>
            </a:r>
            <a:r>
              <a:rPr lang="en-US" sz="2400" dirty="0" smtClean="0"/>
              <a:t> and often </a:t>
            </a:r>
            <a:r>
              <a:rPr lang="en-US" sz="2400" u="sng" dirty="0" smtClean="0"/>
              <a:t>interchangeably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" name="Picture 2" descr="https://cdn.pngsumo.com/filedom-modelsvg-wikimedia-commons-document-object-model-png-742_76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3950" y="3657600"/>
            <a:ext cx="2355850" cy="2438400"/>
          </a:xfrm>
          <a:prstGeom prst="rect">
            <a:avLst/>
          </a:prstGeom>
          <a:noFill/>
        </p:spPr>
      </p:pic>
      <p:sp>
        <p:nvSpPr>
          <p:cNvPr id="7" name="Left Arrow 6"/>
          <p:cNvSpPr/>
          <p:nvPr/>
        </p:nvSpPr>
        <p:spPr>
          <a:xfrm>
            <a:off x="4191000" y="3352800"/>
            <a:ext cx="914400" cy="838200"/>
          </a:xfrm>
          <a:prstGeom prst="left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>
            <a:off x="5334000" y="4191000"/>
            <a:ext cx="914400" cy="838200"/>
          </a:xfrm>
          <a:prstGeom prst="left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https://developer.mozilla.org/en-US/docs/Web/API/Node#properties</a:t>
            </a:r>
            <a:endParaRPr lang="en-US" sz="2000" dirty="0" smtClean="0"/>
          </a:p>
          <a:p>
            <a:endParaRPr lang="en-US" sz="2000" dirty="0" smtClean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3429000"/>
            <a:ext cx="1790700" cy="1590675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6300" y="2514600"/>
            <a:ext cx="4762500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https://developer.mozilla.org/en-US/docs/Web/API/Node#methods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0" y="3200400"/>
            <a:ext cx="1790700" cy="1590675"/>
          </a:xfrm>
          <a:prstGeom prst="rect">
            <a:avLst/>
          </a:prstGeom>
          <a:noFill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9000" y="2438400"/>
            <a:ext cx="4368800" cy="351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EventTarget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https://developer.mozilla.org/en-US/docs/Web/API/EventTarget</a:t>
            </a:r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b="1" dirty="0" err="1" smtClean="0">
                <a:latin typeface="Consolas" pitchFamily="49" charset="0"/>
              </a:rPr>
              <a:t>EventTarget</a:t>
            </a:r>
            <a:r>
              <a:rPr lang="en-US" sz="2200" dirty="0" smtClean="0"/>
              <a:t> interface is implemented by </a:t>
            </a:r>
            <a:r>
              <a:rPr lang="en-US" sz="2200" u="sng" dirty="0" smtClean="0"/>
              <a:t>objects</a:t>
            </a:r>
            <a:r>
              <a:rPr lang="en-US" sz="2200" dirty="0" smtClean="0"/>
              <a:t> that can </a:t>
            </a:r>
            <a:r>
              <a:rPr lang="en-US" sz="2200" u="sng" dirty="0" smtClean="0"/>
              <a:t>receive events</a:t>
            </a:r>
            <a:r>
              <a:rPr lang="en-US" sz="2200" dirty="0" smtClean="0"/>
              <a:t> and may have listeners for them.</a:t>
            </a:r>
          </a:p>
          <a:p>
            <a:r>
              <a:rPr lang="en-US" sz="2200" dirty="0" smtClean="0"/>
              <a:t>Element, and its children, as well as Document and Window, are the most common event targets.</a:t>
            </a:r>
            <a:endParaRPr lang="en-US" sz="2200" dirty="0"/>
          </a:p>
        </p:txBody>
      </p:sp>
      <p:pic>
        <p:nvPicPr>
          <p:cNvPr id="5" name="Picture 2" descr="https://cdn.pngsumo.com/filedom-modelsvg-wikimedia-commons-document-object-model-png-742_76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3950" y="3810000"/>
            <a:ext cx="2355850" cy="2438400"/>
          </a:xfrm>
          <a:prstGeom prst="rect">
            <a:avLst/>
          </a:prstGeom>
          <a:noFill/>
        </p:spPr>
      </p:pic>
      <p:sp>
        <p:nvSpPr>
          <p:cNvPr id="7" name="Left Arrow 6"/>
          <p:cNvSpPr/>
          <p:nvPr/>
        </p:nvSpPr>
        <p:spPr>
          <a:xfrm>
            <a:off x="4191000" y="3505200"/>
            <a:ext cx="914400" cy="838200"/>
          </a:xfrm>
          <a:prstGeom prst="left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>
            <a:off x="5334000" y="4343400"/>
            <a:ext cx="914400" cy="838200"/>
          </a:xfrm>
          <a:prstGeom prst="left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EventTarget</a:t>
            </a:r>
            <a:r>
              <a:rPr lang="en-US" dirty="0" smtClean="0"/>
              <a:t>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https://developer.mozilla.org/en-US/docs/Web/API/EventTarget#methods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200400"/>
            <a:ext cx="1790700" cy="1590675"/>
          </a:xfrm>
          <a:prstGeom prst="rect">
            <a:avLst/>
          </a:prstGeom>
          <a:noFill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638425"/>
            <a:ext cx="410845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XMLHttpRequest</a:t>
            </a:r>
            <a:r>
              <a:rPr lang="en-US" dirty="0" smtClean="0"/>
              <a:t>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https://developer.mozilla.org/en-US/docs/Web/API/XMLHttpRequest</a:t>
            </a:r>
            <a:endParaRPr lang="en-US" sz="2000" dirty="0" smtClean="0"/>
          </a:p>
          <a:p>
            <a:r>
              <a:rPr lang="en-US" sz="2000" b="1" dirty="0" err="1" smtClean="0">
                <a:latin typeface="Consolas" pitchFamily="49" charset="0"/>
              </a:rPr>
              <a:t>XMLHttpRequest</a:t>
            </a:r>
            <a:r>
              <a:rPr lang="en-US" sz="2000" dirty="0" smtClean="0"/>
              <a:t> (XHR) objects are used to </a:t>
            </a:r>
            <a:r>
              <a:rPr lang="en-US" sz="2000" u="sng" dirty="0" smtClean="0"/>
              <a:t>interact with servers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You can </a:t>
            </a:r>
            <a:r>
              <a:rPr lang="en-US" sz="2000" i="1" dirty="0" smtClean="0">
                <a:solidFill>
                  <a:srgbClr val="C00000"/>
                </a:solidFill>
              </a:rPr>
              <a:t>retrieve data</a:t>
            </a:r>
            <a:r>
              <a:rPr lang="en-US" sz="2000" dirty="0" smtClean="0"/>
              <a:t> from a URL without having to do a full page refresh.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9600" y="3090208"/>
            <a:ext cx="7924800" cy="193899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myButton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Retrieve server content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sz="20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</a:t>
            </a:r>
            <a:r>
              <a:rPr lang="en-US" dirty="0" err="1" smtClean="0">
                <a:latin typeface="Consolas" pitchFamily="49" charset="0"/>
              </a:rPr>
              <a:t>XMLHttpRequest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752600"/>
            <a:ext cx="8229600" cy="452431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DOMContentLoaded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handleDOMContentLoaded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handleDOMContentLoaded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myButton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myButton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myButton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"click"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url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"https://webappdevteacher.github.io/index.htm"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const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url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 = "https://example.com/index.html";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method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"GET"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XMLHttpRequest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open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method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url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async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 = true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https://developer.mozilla.org/en-US/docs/Web/API/XMLHttpRequest/open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Send </a:t>
            </a:r>
            <a:r>
              <a:rPr lang="en-US" dirty="0" err="1" smtClean="0">
                <a:latin typeface="Consolas" pitchFamily="49" charset="0"/>
              </a:rPr>
              <a:t>XMLHttpRequest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8229600" cy="50783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onreadystatechange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XMLHttpRequest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DONE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readyState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||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&gt;=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400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responseText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    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};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send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const content =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request.responseText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document.querySelector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("#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")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 .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 = content;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4025" y="5502275"/>
            <a:ext cx="3000375" cy="898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638800" y="3810000"/>
            <a:ext cx="289560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Asynchronous call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No '</a:t>
            </a:r>
            <a:r>
              <a:rPr lang="en-US" b="1" dirty="0" smtClean="0">
                <a:latin typeface="Consolas" pitchFamily="49" charset="0"/>
              </a:rPr>
              <a:t>Access-Control-Allow-Origin</a:t>
            </a:r>
            <a:r>
              <a:rPr lang="en-US" dirty="0" smtClean="0"/>
              <a:t>' header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No 'Access-Control-Allow-Origin'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this?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8" y="2844800"/>
            <a:ext cx="7972425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7010400" y="2895600"/>
            <a:ext cx="10668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What is Cross-Origin Resource Sharing?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https://developer.mozilla.org/en-US/docs/Web/HTTP/CORS</a:t>
            </a:r>
            <a:endParaRPr lang="en-US" sz="2000" dirty="0" smtClean="0"/>
          </a:p>
          <a:p>
            <a:r>
              <a:rPr lang="en-US" sz="2000" i="1" dirty="0" smtClean="0">
                <a:solidFill>
                  <a:srgbClr val="C00000"/>
                </a:solidFill>
              </a:rPr>
              <a:t>Cross-Origin Resource Sharing (CORS)</a:t>
            </a:r>
            <a:r>
              <a:rPr lang="en-US" sz="2000" dirty="0" smtClean="0"/>
              <a:t> is an </a:t>
            </a:r>
            <a:r>
              <a:rPr lang="en-US" sz="2000" u="sng" dirty="0" smtClean="0"/>
              <a:t>HTTP-header based mechanism</a:t>
            </a:r>
            <a:r>
              <a:rPr lang="en-US" sz="2000" dirty="0" smtClean="0"/>
              <a:t> that allows a server to indicate any origins (domain, scheme, or port) other than its own from which a browser should </a:t>
            </a:r>
            <a:r>
              <a:rPr lang="en-US" sz="2000" u="sng" dirty="0" smtClean="0"/>
              <a:t>permit loading resources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pic>
        <p:nvPicPr>
          <p:cNvPr id="1026" name="Picture 2" descr="https://developer.mozilla.org/en-US/docs/Web/HTTP/CORS/cors_princip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29087" y="3276600"/>
            <a:ext cx="4405313" cy="3062288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85800" y="3429000"/>
            <a:ext cx="3200400" cy="2554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An example of a cross-origin request: the front-end JavaScript code served from </a:t>
            </a:r>
            <a:r>
              <a:rPr lang="en-US" sz="2000" b="1" dirty="0" smtClean="0">
                <a:latin typeface="Consolas" pitchFamily="49" charset="0"/>
              </a:rPr>
              <a:t>https://domain-a.com</a:t>
            </a:r>
            <a:r>
              <a:rPr lang="en-US" sz="2000" dirty="0" smtClean="0"/>
              <a:t> uses </a:t>
            </a:r>
            <a:r>
              <a:rPr lang="en-US" sz="2000" b="1" dirty="0" err="1" smtClean="0">
                <a:latin typeface="Consolas" pitchFamily="49" charset="0"/>
              </a:rPr>
              <a:t>XMLHttpRequest</a:t>
            </a:r>
            <a:r>
              <a:rPr lang="en-US" sz="2000" dirty="0" smtClean="0"/>
              <a:t> to make a request for </a:t>
            </a:r>
            <a:r>
              <a:rPr lang="en-US" sz="2000" b="1" dirty="0" smtClean="0">
                <a:latin typeface="Consolas" pitchFamily="49" charset="0"/>
              </a:rPr>
              <a:t>https://domain-b.com/data.json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CORS and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If CORS is </a:t>
            </a:r>
            <a:r>
              <a:rPr lang="en-US" sz="2000" i="1" dirty="0" smtClean="0">
                <a:solidFill>
                  <a:srgbClr val="C00000"/>
                </a:solidFill>
              </a:rPr>
              <a:t>enabled</a:t>
            </a:r>
            <a:r>
              <a:rPr lang="en-US" sz="2000" dirty="0" smtClean="0"/>
              <a:t> then any site can make a request to your site on behalf of their visitors and process its response.</a:t>
            </a:r>
          </a:p>
          <a:p>
            <a:r>
              <a:rPr lang="en-US" sz="2000" dirty="0" smtClean="0"/>
              <a:t>If you have something implemented like an </a:t>
            </a:r>
            <a:r>
              <a:rPr lang="en-US" sz="2000" i="1" dirty="0" smtClean="0">
                <a:solidFill>
                  <a:srgbClr val="C00000"/>
                </a:solidFill>
              </a:rPr>
              <a:t>authentication or authorization</a:t>
            </a:r>
            <a:r>
              <a:rPr lang="en-US" sz="2000" dirty="0" smtClean="0"/>
              <a:t> scheme that is based on something that is </a:t>
            </a:r>
            <a:r>
              <a:rPr lang="en-US" sz="2000" u="sng" dirty="0" smtClean="0"/>
              <a:t>automatically provided by the browser</a:t>
            </a:r>
            <a:r>
              <a:rPr lang="en-US" sz="2000" dirty="0" smtClean="0"/>
              <a:t> (cookies, cookie-based sessions, HTTP basic auth, and TLS client certificates), the requests triggered by the third party sites will use them too.</a:t>
            </a:r>
            <a:endParaRPr lang="en-US" sz="2000" dirty="0"/>
          </a:p>
        </p:txBody>
      </p:sp>
      <p:pic>
        <p:nvPicPr>
          <p:cNvPr id="7" name="Picture 2" descr="https://uploads-ssl.webflow.com/60f4ba9be544e260f8371662/6147bdf79f28b40a7e12ef20_Single-Origin-Policy-restricting-XHR-requests-to-denied-origi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657600"/>
            <a:ext cx="7620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CORS Behavior of Browsers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For </a:t>
            </a:r>
            <a:r>
              <a:rPr lang="en-US" sz="2000" i="1" dirty="0" smtClean="0">
                <a:solidFill>
                  <a:srgbClr val="C00000"/>
                </a:solidFill>
              </a:rPr>
              <a:t>security reasons</a:t>
            </a:r>
            <a:r>
              <a:rPr lang="en-US" sz="2000" dirty="0" smtClean="0"/>
              <a:t>, browsers </a:t>
            </a:r>
            <a:r>
              <a:rPr lang="en-US" sz="2000" u="sng" dirty="0" smtClean="0"/>
              <a:t>restrict</a:t>
            </a:r>
            <a:r>
              <a:rPr lang="en-US" sz="2000" dirty="0" smtClean="0"/>
              <a:t> cross-origin HTTP requests initiated from scripts.</a:t>
            </a:r>
          </a:p>
          <a:p>
            <a:r>
              <a:rPr lang="en-US" sz="2000" dirty="0" smtClean="0"/>
              <a:t>For example, </a:t>
            </a:r>
            <a:r>
              <a:rPr lang="en-US" sz="2000" dirty="0" err="1" smtClean="0">
                <a:latin typeface="Consolas" pitchFamily="49" charset="0"/>
              </a:rPr>
              <a:t>XMLHttpRequest</a:t>
            </a:r>
            <a:r>
              <a:rPr lang="en-US" sz="2000" dirty="0" smtClean="0"/>
              <a:t> follows the </a:t>
            </a:r>
            <a:r>
              <a:rPr lang="en-US" sz="2000" i="1" dirty="0" smtClean="0">
                <a:solidFill>
                  <a:srgbClr val="C00000"/>
                </a:solidFill>
              </a:rPr>
              <a:t>same-origin</a:t>
            </a:r>
            <a:r>
              <a:rPr lang="en-US" sz="2000" dirty="0" smtClean="0"/>
              <a:t> policy.</a:t>
            </a:r>
          </a:p>
          <a:p>
            <a:r>
              <a:rPr lang="en-US" sz="2000" dirty="0" smtClean="0"/>
              <a:t>This means that a web application using </a:t>
            </a:r>
            <a:r>
              <a:rPr lang="en-US" sz="2000" dirty="0" err="1" smtClean="0">
                <a:latin typeface="Consolas" pitchFamily="49" charset="0"/>
              </a:rPr>
              <a:t>XMLHttpRequest</a:t>
            </a:r>
            <a:r>
              <a:rPr lang="en-US" sz="2000" dirty="0" smtClean="0"/>
              <a:t> can </a:t>
            </a:r>
            <a:r>
              <a:rPr lang="en-US" sz="2000" u="sng" dirty="0" smtClean="0"/>
              <a:t>only</a:t>
            </a:r>
            <a:r>
              <a:rPr lang="en-US" sz="2000" dirty="0" smtClean="0"/>
              <a:t> request resources from the same origin the application was loaded from </a:t>
            </a:r>
            <a:r>
              <a:rPr lang="en-US" sz="2000" i="1" dirty="0" smtClean="0">
                <a:solidFill>
                  <a:srgbClr val="C00000"/>
                </a:solidFill>
              </a:rPr>
              <a:t>unless</a:t>
            </a:r>
            <a:r>
              <a:rPr lang="en-US" sz="2000" dirty="0" smtClean="0"/>
              <a:t> </a:t>
            </a:r>
            <a:r>
              <a:rPr lang="en-US" sz="2000" u="sng" dirty="0" smtClean="0"/>
              <a:t>the response</a:t>
            </a:r>
            <a:r>
              <a:rPr lang="en-US" sz="2000" dirty="0" smtClean="0"/>
              <a:t> from other origins includes the right </a:t>
            </a:r>
            <a:r>
              <a:rPr lang="en-US" sz="2000" u="sng" dirty="0" smtClean="0"/>
              <a:t>CORS headers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937000"/>
            <a:ext cx="3619500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CORS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CORS information (like the Origin header) is </a:t>
            </a:r>
            <a:r>
              <a:rPr lang="en-US" sz="2400" b="1" dirty="0" smtClean="0"/>
              <a:t>sent by </a:t>
            </a:r>
            <a:r>
              <a:rPr lang="en-US" sz="2400" b="1" dirty="0" smtClean="0"/>
              <a:t>browsers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These are automatically added by browsers when JavaScript running on a web page makes a </a:t>
            </a:r>
            <a:r>
              <a:rPr lang="en-US" sz="2400" b="1" dirty="0" smtClean="0"/>
              <a:t>cross-origin</a:t>
            </a:r>
            <a:r>
              <a:rPr lang="en-US" sz="2400" dirty="0" smtClean="0"/>
              <a:t> </a:t>
            </a:r>
            <a:r>
              <a:rPr lang="en-US" sz="2400" dirty="0" smtClean="0"/>
              <a:t>request.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2237408"/>
          <a:ext cx="8077200" cy="3096592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290482"/>
                <a:gridCol w="2610584"/>
                <a:gridCol w="3176134"/>
              </a:tblGrid>
              <a:tr h="193489">
                <a:tc>
                  <a:txBody>
                    <a:bodyPr/>
                    <a:lstStyle/>
                    <a:p>
                      <a:r>
                        <a:rPr lang="en-US" sz="2000" dirty="0"/>
                        <a:t>Header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Sent by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Purpose</a:t>
                      </a:r>
                    </a:p>
                  </a:txBody>
                  <a:tcPr marL="88348" marR="88348" marT="44174" marB="44174" anchor="ctr"/>
                </a:tc>
              </a:tr>
              <a:tr h="493506">
                <a:tc>
                  <a:txBody>
                    <a:bodyPr/>
                    <a:lstStyle/>
                    <a:p>
                      <a:r>
                        <a:rPr lang="en-US" sz="2000"/>
                        <a:t>Origin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Browser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Identifies where the request originated (scheme, host, port).</a:t>
                      </a:r>
                    </a:p>
                  </a:txBody>
                  <a:tcPr marL="88348" marR="88348" marT="44174" marB="44174" anchor="ctr"/>
                </a:tc>
              </a:tr>
              <a:tr h="493506">
                <a:tc>
                  <a:txBody>
                    <a:bodyPr/>
                    <a:lstStyle/>
                    <a:p>
                      <a:r>
                        <a:rPr lang="en-US" sz="2000" dirty="0"/>
                        <a:t>Access-Control-Request-Method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Browser (preflight)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Says which HTTP method (e.g., POST, DELETE) will be used in the actual request.</a:t>
                      </a:r>
                    </a:p>
                  </a:txBody>
                  <a:tcPr marL="88348" marR="88348" marT="44174" marB="44174" anchor="ctr"/>
                </a:tc>
              </a:tr>
              <a:tr h="343498">
                <a:tc>
                  <a:txBody>
                    <a:bodyPr/>
                    <a:lstStyle/>
                    <a:p>
                      <a:r>
                        <a:rPr lang="en-US" sz="2000"/>
                        <a:t>Access-Control-Request-Headers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Browser (preflight)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Says which custom headers the browser wants to send.</a:t>
                      </a:r>
                    </a:p>
                  </a:txBody>
                  <a:tcPr marL="88348" marR="88348" marT="44174" marB="44174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smtClean="0"/>
              <a:t>IIS CORS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https://www.iis.net/downloads/microsoft/iis-cors-module</a:t>
            </a:r>
            <a:endParaRPr lang="en-US" sz="2200" dirty="0" smtClean="0"/>
          </a:p>
          <a:p>
            <a:r>
              <a:rPr lang="en-US" sz="2200" dirty="0" smtClean="0"/>
              <a:t>The Microsoft IIS CORS Module is an extension that enables web sites to support the CORS (Cross-Origin Resource Sharing) protocol.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3200400"/>
            <a:ext cx="60483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Up Arrow 6"/>
          <p:cNvSpPr/>
          <p:nvPr/>
        </p:nvSpPr>
        <p:spPr>
          <a:xfrm>
            <a:off x="6477000" y="4876800"/>
            <a:ext cx="990600" cy="68580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Enable </a:t>
            </a:r>
            <a:r>
              <a:rPr lang="en-US" dirty="0" smtClean="0"/>
              <a:t>CORS in IIS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https://blogs.iis.net/iisteam/getting-started-with-the-iis-cors-module</a:t>
            </a:r>
            <a:endParaRPr lang="en-US" sz="2000" dirty="0" smtClean="0"/>
          </a:p>
          <a:p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838200" y="2438400"/>
            <a:ext cx="73914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system.webServer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httpProtocol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customHeaders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add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"Access-Control-Allow-Headers"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"Origin, X-Requested-With, Content-Type, Accept"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customHeaders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httpProtocol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cors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enabled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"true"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add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origin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"*"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cors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system.webServer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it Safe to Enable CORS?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</a:rPr>
              <a:t>Access-Control-Allow-Origin</a:t>
            </a:r>
            <a:r>
              <a:rPr lang="en-US" sz="2200" dirty="0" smtClean="0"/>
              <a:t> is just a </a:t>
            </a:r>
            <a:r>
              <a:rPr lang="en-US" sz="2200" u="sng" dirty="0" smtClean="0"/>
              <a:t>HTTP header</a:t>
            </a:r>
            <a:r>
              <a:rPr lang="en-US" sz="2200" dirty="0" smtClean="0"/>
              <a:t> sent from the server to the browser.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regular browsers</a:t>
            </a:r>
            <a:r>
              <a:rPr lang="en-US" sz="2200" dirty="0" smtClean="0"/>
              <a:t> (Chrome, Edge, Firefox, Safari and Opera) by default </a:t>
            </a:r>
            <a:r>
              <a:rPr lang="en-US" sz="2200" u="sng" dirty="0" smtClean="0"/>
              <a:t>honor the header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But an application like Postman simply ignores it.</a:t>
            </a:r>
          </a:p>
          <a:p>
            <a:r>
              <a:rPr lang="en-US" sz="2200" dirty="0" smtClean="0"/>
              <a:t>The server end </a:t>
            </a:r>
            <a:r>
              <a:rPr lang="en-US" sz="2200" i="1" dirty="0" smtClean="0">
                <a:solidFill>
                  <a:srgbClr val="C00000"/>
                </a:solidFill>
              </a:rPr>
              <a:t>doesn't check</a:t>
            </a:r>
            <a:r>
              <a:rPr lang="en-US" sz="2200" dirty="0" smtClean="0"/>
              <a:t> what the "origin" is of the request when it returns the response.</a:t>
            </a:r>
          </a:p>
          <a:p>
            <a:r>
              <a:rPr lang="en-US" sz="2200" dirty="0" smtClean="0"/>
              <a:t>So if anyone wants to attack you, they can easily bypass the Access-Control-Allow-Origin by </a:t>
            </a:r>
            <a:r>
              <a:rPr lang="en-US" sz="2200" i="1" dirty="0" smtClean="0">
                <a:solidFill>
                  <a:srgbClr val="C00000"/>
                </a:solidFill>
              </a:rPr>
              <a:t>using a specific application</a:t>
            </a:r>
            <a:r>
              <a:rPr lang="en-US" sz="2200" dirty="0" smtClean="0"/>
              <a:t> and just ignoring the </a:t>
            </a:r>
            <a:r>
              <a:rPr lang="en-US" sz="2200" dirty="0" smtClean="0">
                <a:latin typeface="Consolas" pitchFamily="49" charset="0"/>
              </a:rPr>
              <a:t>Access-Control-Allow-Origin</a:t>
            </a:r>
            <a:r>
              <a:rPr lang="en-US" sz="2200" dirty="0" smtClean="0"/>
              <a:t> header.</a:t>
            </a:r>
            <a:endParaRPr lang="en-US" sz="2200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2971800"/>
            <a:ext cx="1935480" cy="134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Object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https://www.json.org/json-en.html</a:t>
            </a:r>
            <a:endParaRPr lang="en-US" sz="2200" dirty="0" smtClean="0"/>
          </a:p>
          <a:p>
            <a:r>
              <a:rPr lang="en-US" sz="2200" b="1" dirty="0" smtClean="0"/>
              <a:t>JSON</a:t>
            </a:r>
            <a:r>
              <a:rPr lang="en-US" sz="2200" dirty="0" smtClean="0"/>
              <a:t> (</a:t>
            </a:r>
            <a:r>
              <a:rPr lang="en-US" sz="2200" i="1" dirty="0" smtClean="0">
                <a:solidFill>
                  <a:srgbClr val="C00000"/>
                </a:solidFill>
              </a:rPr>
              <a:t>JavaScript Object Notation</a:t>
            </a:r>
            <a:r>
              <a:rPr lang="en-US" sz="2200" dirty="0" smtClean="0"/>
              <a:t>) is a lightweight data-interchange </a:t>
            </a:r>
            <a:r>
              <a:rPr lang="en-US" sz="2200" u="sng" dirty="0" smtClean="0"/>
              <a:t>format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It is easy </a:t>
            </a:r>
            <a:r>
              <a:rPr lang="en-US" sz="2200" i="1" dirty="0" smtClean="0">
                <a:solidFill>
                  <a:srgbClr val="C00000"/>
                </a:solidFill>
              </a:rPr>
              <a:t>for humans</a:t>
            </a:r>
            <a:r>
              <a:rPr lang="en-US" sz="2200" dirty="0" smtClean="0"/>
              <a:t> to read and write.</a:t>
            </a:r>
          </a:p>
          <a:p>
            <a:r>
              <a:rPr lang="en-US" sz="2200" dirty="0" smtClean="0"/>
              <a:t>It is easy </a:t>
            </a:r>
            <a:r>
              <a:rPr lang="en-US" sz="2200" i="1" dirty="0" smtClean="0">
                <a:solidFill>
                  <a:srgbClr val="C00000"/>
                </a:solidFill>
              </a:rPr>
              <a:t>for machines</a:t>
            </a:r>
            <a:r>
              <a:rPr lang="en-US" sz="2200" dirty="0" smtClean="0"/>
              <a:t> to parse and generate.</a:t>
            </a:r>
          </a:p>
          <a:p>
            <a:r>
              <a:rPr lang="en-US" sz="2200" dirty="0" smtClean="0"/>
              <a:t>JSON is a </a:t>
            </a:r>
            <a:r>
              <a:rPr lang="en-US" sz="2200" i="1" dirty="0" smtClean="0">
                <a:solidFill>
                  <a:srgbClr val="C00000"/>
                </a:solidFill>
              </a:rPr>
              <a:t>text format</a:t>
            </a:r>
            <a:r>
              <a:rPr lang="en-US" sz="2200" dirty="0" smtClean="0"/>
              <a:t> that is </a:t>
            </a:r>
            <a:r>
              <a:rPr lang="en-US" sz="2200" u="sng" dirty="0" smtClean="0"/>
              <a:t>completely language independent</a:t>
            </a:r>
            <a:r>
              <a:rPr lang="en-US" sz="2200" dirty="0" smtClean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43162"/>
            <a:ext cx="8229600" cy="160043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Subset of JavaScript object literal syntax... except that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Property names must be in double quotes.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String values must be in double quotes.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Syntax for everything else is exactly like for object literal.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 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'{"name": "John", "age": 30, "single": false}'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JSON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8229600" cy="50783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`{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"name": "John",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"age": 30,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"single": false,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"hobbies": [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{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    "name": "marathon",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    "start year": 2018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},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{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    "name": "ping-pong",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    "start year": 2006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}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]    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}`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World JSON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8229600" cy="452431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`{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CompanyKey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QiZMUinoJnhCVhE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"From": "test1@domain.com",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"To": "test2@domain.com",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"Subject": "Test Subject", 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"Message": "Test Message",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"Attachments" : [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{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FileName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"ABC.txt",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MimeType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"text/plain",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FileContent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"123" },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    {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FileName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"DEF.pdf",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MimeType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"application/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pdf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", 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FileContent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": "456" }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    ]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/>
              </a:rPr>
              <a:t>    }`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Encode to Base64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https://www.base64encode.org/</a:t>
            </a:r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Base64 encoding schemes</a:t>
            </a:r>
            <a:r>
              <a:rPr lang="en-US" sz="2400" dirty="0" smtClean="0"/>
              <a:t> are commonly used when there is a need to </a:t>
            </a:r>
            <a:r>
              <a:rPr lang="en-US" sz="2400" u="sng" dirty="0" smtClean="0"/>
              <a:t>encode binary data</a:t>
            </a:r>
            <a:r>
              <a:rPr lang="en-US" sz="2400" dirty="0" smtClean="0"/>
              <a:t>, especially when that data needs to be stored and transferred over media that are designed to deal with </a:t>
            </a:r>
            <a:r>
              <a:rPr lang="en-US" sz="2400" u="sng" dirty="0" smtClean="0"/>
              <a:t>text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encoding helps to ensure that the data remains intact without modification during transport.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https://example.com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sym typeface="Wingdings" pitchFamily="2" charset="2"/>
              </a:rPr>
              <a:t> </a:t>
            </a:r>
            <a:r>
              <a:rPr lang="en-US" sz="2000" b="1" dirty="0" smtClean="0">
                <a:latin typeface="Consolas" pitchFamily="49" charset="0"/>
                <a:sym typeface="Wingdings" pitchFamily="2" charset="2"/>
              </a:rPr>
              <a:t>aHR0cHM6Ly9leGFtcGxlLmNvbQ==</a:t>
            </a:r>
            <a:endParaRPr lang="en-US" sz="2000" b="1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Restoring </a:t>
            </a:r>
            <a:r>
              <a:rPr lang="en-US" dirty="0" smtClean="0"/>
              <a:t>JavaScript Objects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004179"/>
            <a:ext cx="8229600" cy="39703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restoreObject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JSON is NOT a JavaScript Object Literal.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JSON is just a string.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We need to covert JSON into a JS object.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=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`{"name": "John", "age": 30, "single": false}`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This function uses the JSON data interchange format.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john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parse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"Name: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john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"Age: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john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"Single: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john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single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restoreObject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4533900"/>
            <a:ext cx="1470025" cy="1104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Serializing </a:t>
            </a:r>
            <a:r>
              <a:rPr lang="en-US" dirty="0" smtClean="0"/>
              <a:t>JavaScript Objects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Object </a:t>
            </a:r>
            <a:r>
              <a:rPr lang="en-US" sz="2400" i="1" dirty="0" smtClean="0">
                <a:solidFill>
                  <a:srgbClr val="C00000"/>
                </a:solidFill>
              </a:rPr>
              <a:t>serialization</a:t>
            </a:r>
            <a:r>
              <a:rPr lang="en-US" sz="2400" dirty="0" smtClean="0"/>
              <a:t> is the process of converting an object’s state to a string from which it can later be restored.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743200"/>
            <a:ext cx="80010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serializeObject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john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"name"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"John"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"age"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"single"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"Type of john: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john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stringify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john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"Type of 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jsonText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serializeObject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4800600"/>
            <a:ext cx="3067050" cy="1092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</a:t>
            </a:r>
            <a:r>
              <a:rPr lang="en-US" dirty="0" smtClean="0"/>
              <a:t>a GET Request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926372"/>
            <a:ext cx="8229600" cy="375487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DOMContentLoaded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handleDOMContentLoaded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handleDOMContentLoaded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myButton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myButton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myButton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"click"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url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"https://webappdevteacher.github.io/data.json"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4FC1FF"/>
                </a:solidFill>
                <a:latin typeface="Consolas"/>
              </a:rPr>
              <a:t>method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"GET"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4EC9B0"/>
                </a:solidFill>
                <a:latin typeface="Consolas"/>
              </a:rPr>
              <a:t>XMLHttpRequest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open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4FC1FF"/>
                </a:solidFill>
                <a:latin typeface="Consolas"/>
              </a:rPr>
              <a:t>method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url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Handle </a:t>
            </a:r>
            <a:r>
              <a:rPr lang="en-US" dirty="0" smtClean="0"/>
              <a:t>Response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2070080"/>
            <a:ext cx="8229600" cy="34163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onreadystatechange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XMLHttpRequest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DONE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readyState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||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&gt;=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400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responseText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donuts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JSON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parse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prepareHTML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donuts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).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Send </a:t>
            </a:r>
            <a:r>
              <a:rPr lang="en-US" sz="4000" dirty="0" smtClean="0"/>
              <a:t>the Request and Process Data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457200" y="1460242"/>
            <a:ext cx="8229600" cy="501675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prepareHTML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donuts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"&lt;table&gt;&lt;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tr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th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&gt;Name&lt;/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th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&gt;&lt;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th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&gt;Batters&lt;/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th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&gt;&lt;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th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&gt;Topping&lt;/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th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tr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donuts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length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++)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tr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"&lt;td&gt;"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donuts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"&lt;/td&gt;"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"&lt;td&gt;"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donuts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batters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length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"&lt;/td&gt;"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"&lt;td&gt;"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donuts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].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topping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length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"&lt;/td&gt;"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tr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+=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"&lt;/table&gt;"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html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};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send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4664075"/>
            <a:ext cx="2355850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</a:t>
            </a:r>
            <a:r>
              <a:rPr lang="en-US" dirty="0" smtClean="0"/>
              <a:t>a POST Request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44012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DOMContentLoaded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handleDOMContentLoaded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handleDOMContentLoaded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myButton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myButton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myButton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addEventListener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"click"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url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"http://example.com/SendMessage"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4FC1FF"/>
                </a:solidFill>
                <a:latin typeface="Consolas"/>
              </a:rPr>
              <a:t>method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"POST"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err="1" smtClean="0">
                <a:solidFill>
                  <a:srgbClr val="4EC9B0"/>
                </a:solidFill>
                <a:latin typeface="Consolas"/>
              </a:rPr>
              <a:t>XMLHttpRequest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open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4FC1FF"/>
                </a:solidFill>
                <a:latin typeface="Consolas"/>
              </a:rPr>
              <a:t>method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url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setRequestHeader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"Content-Type"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"application/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json;charset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=UTF-8"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Handle </a:t>
            </a:r>
            <a:r>
              <a:rPr lang="en-US" dirty="0" smtClean="0"/>
              <a:t>Response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2070080"/>
            <a:ext cx="82296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onreadystatechange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XMLHttpRequest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DONE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readyState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||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(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&gt;=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status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400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responseText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querySelector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"#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myContent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    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innerHTML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content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};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Send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2090678"/>
            <a:ext cx="82296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CompanyKey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"XQAlnfp1RLXXQiZMUinoJnhCVhE"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"From"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"test1@domain.com"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"To"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"test2@domain.com"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"Subject"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"Test Subject"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"Message"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"Test Message"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000" dirty="0" err="1" smtClean="0">
                <a:solidFill>
                  <a:srgbClr val="4FC1FF"/>
                </a:solidFill>
                <a:latin typeface="Consolas"/>
              </a:rPr>
              <a:t>request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send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JSON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DCDCAA"/>
                </a:solidFill>
                <a:latin typeface="Consolas"/>
              </a:rPr>
              <a:t>stringify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https://developer.mozilla.org/en-US/docs/Web/API</a:t>
            </a:r>
            <a:endParaRPr lang="en-US" sz="2200" dirty="0" smtClean="0"/>
          </a:p>
          <a:p>
            <a:r>
              <a:rPr lang="en-US" sz="2200" dirty="0" smtClean="0"/>
              <a:t>Jon </a:t>
            </a:r>
            <a:r>
              <a:rPr lang="en-US" sz="2200" dirty="0" err="1" smtClean="0"/>
              <a:t>Duckett</a:t>
            </a:r>
            <a:r>
              <a:rPr lang="en-US" sz="2200" dirty="0" smtClean="0"/>
              <a:t> (2014). JavaScript and </a:t>
            </a:r>
            <a:r>
              <a:rPr lang="en-US" sz="2200" dirty="0" err="1" smtClean="0"/>
              <a:t>JQuery</a:t>
            </a:r>
            <a:r>
              <a:rPr lang="en-US" sz="2200" dirty="0" smtClean="0"/>
              <a:t>: Interactive Front-End Web Development. John Wiley &amp; Sons: Chapter 5 and Chapter 6.</a:t>
            </a:r>
          </a:p>
          <a:p>
            <a:endParaRPr lang="en-US" sz="22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42900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10528</TotalTime>
  <Words>1456</Words>
  <Application>Microsoft Office PowerPoint</Application>
  <PresentationFormat>On-screen Show (4:3)</PresentationFormat>
  <Paragraphs>465</Paragraphs>
  <Slides>57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DOM and Events</vt:lpstr>
      <vt:lpstr>Objectives</vt:lpstr>
      <vt:lpstr>Contents</vt:lpstr>
      <vt:lpstr>References</vt:lpstr>
      <vt:lpstr>Hello Window</vt:lpstr>
      <vt:lpstr>Hello Document</vt:lpstr>
      <vt:lpstr>getElementById</vt:lpstr>
      <vt:lpstr>querySelector</vt:lpstr>
      <vt:lpstr>addEventListener</vt:lpstr>
      <vt:lpstr>onclick</vt:lpstr>
      <vt:lpstr>addEventListener and this</vt:lpstr>
      <vt:lpstr>onclick and this</vt:lpstr>
      <vt:lpstr>Slide 13</vt:lpstr>
      <vt:lpstr>Document Object Model (DOM) [1]</vt:lpstr>
      <vt:lpstr>DOM, Browsers and JavaScript</vt:lpstr>
      <vt:lpstr>Document Object Model (DOM)</vt:lpstr>
      <vt:lpstr>DOM Document</vt:lpstr>
      <vt:lpstr>Document Properties and Methods</vt:lpstr>
      <vt:lpstr>Document Events</vt:lpstr>
      <vt:lpstr>DOMContentLoaded Event</vt:lpstr>
      <vt:lpstr>The 'event' Argument</vt:lpstr>
      <vt:lpstr>DOM Element</vt:lpstr>
      <vt:lpstr>Element Properties and Methods</vt:lpstr>
      <vt:lpstr>Element Events</vt:lpstr>
      <vt:lpstr>DOM Node</vt:lpstr>
      <vt:lpstr>Node Properties</vt:lpstr>
      <vt:lpstr>Node Methods</vt:lpstr>
      <vt:lpstr>EventTarget</vt:lpstr>
      <vt:lpstr>EventTarget Methods</vt:lpstr>
      <vt:lpstr>Slide 30</vt:lpstr>
      <vt:lpstr>XMLHttpRequest Objects</vt:lpstr>
      <vt:lpstr>1. Prepare XMLHttpRequest</vt:lpstr>
      <vt:lpstr>2. Send XMLHttpRequest</vt:lpstr>
      <vt:lpstr>No 'Access-Control-Allow-Origin'</vt:lpstr>
      <vt:lpstr>What is Cross-Origin Resource Sharing?</vt:lpstr>
      <vt:lpstr>CORS and Security</vt:lpstr>
      <vt:lpstr>Default CORS Behavior of Browsers</vt:lpstr>
      <vt:lpstr>CORS information</vt:lpstr>
      <vt:lpstr>1. Install IIS CORS Module</vt:lpstr>
      <vt:lpstr>2. Enable CORS in IIS</vt:lpstr>
      <vt:lpstr>Is it Safe to Enable CORS?</vt:lpstr>
      <vt:lpstr>Slide 42</vt:lpstr>
      <vt:lpstr>JavaScript Object Notation</vt:lpstr>
      <vt:lpstr>Another JSON Example</vt:lpstr>
      <vt:lpstr>Real World JSON Example</vt:lpstr>
      <vt:lpstr>Encode to Base64 Format</vt:lpstr>
      <vt:lpstr>Restoring JavaScript Objects</vt:lpstr>
      <vt:lpstr>Serializing JavaScript Objects</vt:lpstr>
      <vt:lpstr>1. Prepare a GET Request</vt:lpstr>
      <vt:lpstr>2. Handle Response</vt:lpstr>
      <vt:lpstr>3. Send the Request and Process Data</vt:lpstr>
      <vt:lpstr>Slide 52</vt:lpstr>
      <vt:lpstr>1. Prepare a POST Request</vt:lpstr>
      <vt:lpstr>2. Handle Response</vt:lpstr>
      <vt:lpstr>3. Send Data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3849</cp:revision>
  <dcterms:created xsi:type="dcterms:W3CDTF">2007-10-06T08:25:13Z</dcterms:created>
  <dcterms:modified xsi:type="dcterms:W3CDTF">2025-10-22T14:29:44Z</dcterms:modified>
</cp:coreProperties>
</file>