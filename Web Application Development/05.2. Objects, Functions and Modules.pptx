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62" r:id="rId2"/>
    <p:sldId id="372" r:id="rId3"/>
    <p:sldId id="373" r:id="rId4"/>
    <p:sldId id="285" r:id="rId5"/>
    <p:sldId id="525" r:id="rId6"/>
    <p:sldId id="527" r:id="rId7"/>
    <p:sldId id="497" r:id="rId8"/>
    <p:sldId id="499" r:id="rId9"/>
    <p:sldId id="512" r:id="rId10"/>
    <p:sldId id="531" r:id="rId11"/>
    <p:sldId id="528" r:id="rId12"/>
    <p:sldId id="529" r:id="rId13"/>
    <p:sldId id="532" r:id="rId14"/>
    <p:sldId id="390" r:id="rId15"/>
    <p:sldId id="513" r:id="rId16"/>
    <p:sldId id="432" r:id="rId17"/>
    <p:sldId id="533" r:id="rId18"/>
    <p:sldId id="364" r:id="rId19"/>
    <p:sldId id="365" r:id="rId20"/>
    <p:sldId id="534" r:id="rId21"/>
    <p:sldId id="538" r:id="rId22"/>
    <p:sldId id="539" r:id="rId23"/>
    <p:sldId id="540" r:id="rId24"/>
    <p:sldId id="541" r:id="rId25"/>
    <p:sldId id="359" r:id="rId26"/>
    <p:sldId id="361" r:id="rId27"/>
    <p:sldId id="362" r:id="rId28"/>
    <p:sldId id="551" r:id="rId29"/>
    <p:sldId id="504" r:id="rId30"/>
    <p:sldId id="562" r:id="rId31"/>
    <p:sldId id="558" r:id="rId32"/>
    <p:sldId id="553" r:id="rId33"/>
    <p:sldId id="563" r:id="rId34"/>
    <p:sldId id="564" r:id="rId35"/>
    <p:sldId id="506" r:id="rId36"/>
    <p:sldId id="507" r:id="rId37"/>
    <p:sldId id="565" r:id="rId38"/>
    <p:sldId id="566" r:id="rId39"/>
    <p:sldId id="567" r:id="rId40"/>
    <p:sldId id="554" r:id="rId41"/>
    <p:sldId id="508" r:id="rId42"/>
    <p:sldId id="555" r:id="rId43"/>
    <p:sldId id="591" r:id="rId44"/>
    <p:sldId id="592" r:id="rId45"/>
    <p:sldId id="593" r:id="rId46"/>
    <p:sldId id="594" r:id="rId47"/>
    <p:sldId id="595" r:id="rId48"/>
    <p:sldId id="596" r:id="rId49"/>
    <p:sldId id="601" r:id="rId50"/>
    <p:sldId id="597" r:id="rId51"/>
    <p:sldId id="602" r:id="rId52"/>
    <p:sldId id="603" r:id="rId53"/>
    <p:sldId id="550" r:id="rId54"/>
    <p:sldId id="544" r:id="rId55"/>
    <p:sldId id="570" r:id="rId56"/>
    <p:sldId id="571" r:id="rId57"/>
    <p:sldId id="572" r:id="rId58"/>
    <p:sldId id="573" r:id="rId59"/>
    <p:sldId id="574" r:id="rId60"/>
    <p:sldId id="575" r:id="rId61"/>
    <p:sldId id="576" r:id="rId62"/>
    <p:sldId id="578" r:id="rId63"/>
    <p:sldId id="580" r:id="rId64"/>
    <p:sldId id="579" r:id="rId65"/>
    <p:sldId id="585" r:id="rId66"/>
    <p:sldId id="586" r:id="rId67"/>
    <p:sldId id="587" r:id="rId68"/>
    <p:sldId id="569" r:id="rId69"/>
    <p:sldId id="589" r:id="rId70"/>
    <p:sldId id="590" r:id="rId71"/>
    <p:sldId id="588" r:id="rId72"/>
    <p:sldId id="599" r:id="rId73"/>
    <p:sldId id="581" r:id="rId74"/>
    <p:sldId id="545" r:id="rId75"/>
    <p:sldId id="600" r:id="rId76"/>
    <p:sldId id="546" r:id="rId77"/>
    <p:sldId id="547" r:id="rId78"/>
    <p:sldId id="556" r:id="rId79"/>
    <p:sldId id="548" r:id="rId80"/>
    <p:sldId id="549" r:id="rId81"/>
    <p:sldId id="490" r:id="rId82"/>
    <p:sldId id="371" r:id="rId8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1" autoAdjust="0"/>
    <p:restoredTop sz="82917" autoAdjust="0"/>
  </p:normalViewPr>
  <p:slideViewPr>
    <p:cSldViewPr>
      <p:cViewPr>
        <p:scale>
          <a:sx n="50" d="100"/>
          <a:sy n="50" d="100"/>
        </p:scale>
        <p:origin x="-161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0" y="1306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31185-9D31-472E-A4C1-E109FAA53E08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63F8-74DE-4EBD-9E3B-8C76B927D4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avascripttutorial.net/javascript-execution-context/" TargetMode="Externa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developer.mozilla.org/en-US/docs/Web/JavaScript/Guide/Functions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dmitripavlutin.com/simple-explanation-of-javascript-closures/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hyperlink" Target="https://www.javascripttutorial.net/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Objects, Functions and Modules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 program using JavaScript.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Object Creation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Inheritance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Arrow Functions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Arrays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David Flanagan (2020). JavaScript - The Definitive Guide. O'Reilly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latin typeface="Consolas" pitchFamily="49" charset="0"/>
              </a:rPr>
              <a:t>this</a:t>
            </a:r>
            <a:r>
              <a:rPr lang="en-US" dirty="0" smtClean="0"/>
              <a:t> Keyword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524000"/>
            <a:ext cx="84582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lastName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whoAmI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method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},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getFullName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method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   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whoAmI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676400"/>
            <a:ext cx="3609975" cy="1771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Objects with </a:t>
            </a:r>
            <a:r>
              <a:rPr lang="en-US" b="1" dirty="0" smtClean="0">
                <a:latin typeface="Consolas" pitchFamily="49" charset="0"/>
              </a:rPr>
              <a:t>new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>
                <a:latin typeface="Consolas" pitchFamily="49" charset="0"/>
              </a:rPr>
              <a:t>new</a:t>
            </a:r>
            <a:r>
              <a:rPr lang="en-US" sz="2400" dirty="0" smtClean="0"/>
              <a:t> operator </a:t>
            </a:r>
            <a:r>
              <a:rPr lang="en-US" sz="2400" u="sng" dirty="0" smtClean="0"/>
              <a:t>creates</a:t>
            </a:r>
            <a:r>
              <a:rPr lang="en-US" sz="2400" dirty="0" smtClean="0"/>
              <a:t> and </a:t>
            </a:r>
            <a:r>
              <a:rPr lang="en-US" sz="2400" u="sng" dirty="0" smtClean="0"/>
              <a:t>initializes</a:t>
            </a:r>
            <a:r>
              <a:rPr lang="en-US" sz="2400" dirty="0" smtClean="0"/>
              <a:t> a new object.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>
                <a:latin typeface="Consolas" pitchFamily="49" charset="0"/>
              </a:rPr>
              <a:t>new</a:t>
            </a:r>
            <a:r>
              <a:rPr lang="en-US" sz="2400" dirty="0" smtClean="0"/>
              <a:t> keyword must be followed by a </a:t>
            </a:r>
            <a:r>
              <a:rPr lang="en-US" sz="2400" u="sng" dirty="0" smtClean="0"/>
              <a:t>function invocation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u="sng" dirty="0" smtClean="0"/>
              <a:t>function used in this way</a:t>
            </a:r>
            <a:r>
              <a:rPr lang="en-US" sz="2400" dirty="0" smtClean="0"/>
              <a:t> is called a </a:t>
            </a:r>
            <a:r>
              <a:rPr lang="en-US" sz="2400" i="1" dirty="0" smtClean="0">
                <a:solidFill>
                  <a:srgbClr val="C00000"/>
                </a:solidFill>
              </a:rPr>
              <a:t>constructor</a:t>
            </a:r>
            <a:r>
              <a:rPr lang="en-US" sz="2400" dirty="0" smtClean="0"/>
              <a:t> and serves to initialize a newly created object.</a:t>
            </a:r>
          </a:p>
          <a:p>
            <a:r>
              <a:rPr lang="en-US" sz="2400" dirty="0" smtClean="0"/>
              <a:t>JavaScript includes constructors for its </a:t>
            </a:r>
            <a:r>
              <a:rPr lang="en-US" sz="2400" i="1" dirty="0" smtClean="0">
                <a:solidFill>
                  <a:srgbClr val="C00000"/>
                </a:solidFill>
              </a:rPr>
              <a:t>built-in types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3400" y="4268450"/>
            <a:ext cx="8001000" cy="144655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6A9955"/>
                </a:solidFill>
                <a:latin typeface="Consolas"/>
              </a:rPr>
              <a:t>// Create an empty object: same as {}.</a:t>
            </a:r>
            <a:endParaRPr lang="en-US" sz="2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object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(); </a:t>
            </a:r>
          </a:p>
          <a:p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object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object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Examples of Creating Objects with </a:t>
            </a:r>
            <a:r>
              <a:rPr lang="en-US" sz="4000" b="1" dirty="0" smtClean="0">
                <a:latin typeface="Consolas" pitchFamily="49" charset="0"/>
              </a:rPr>
              <a:t>new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381000" y="1524000"/>
            <a:ext cx="84582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Create an empty object: same as {}.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 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Create an empty array: same as [].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 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7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array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Create a Date object representing the current time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date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toString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Create a Map object for key/value mapping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"Name"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"Name"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3048000"/>
            <a:ext cx="3724275" cy="1095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Consolas" pitchFamily="49" charset="0"/>
              </a:rPr>
              <a:t>new</a:t>
            </a:r>
            <a:r>
              <a:rPr lang="en-US" dirty="0" smtClean="0"/>
              <a:t> vs. Object Literals </a:t>
            </a:r>
            <a:r>
              <a:rPr lang="en-US" b="1" dirty="0" smtClean="0">
                <a:latin typeface="Consolas" pitchFamily="49" charset="0"/>
              </a:rPr>
              <a:t>{}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524000"/>
            <a:ext cx="84582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 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"Bien1"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person1."Organization Name" = "HCMUS";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 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"Bien2"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"Organization Name"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"HCMUS"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"Organization Name"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"Bien3"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"Organization Name"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"HCMUS"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"Organization Name"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124200"/>
            <a:ext cx="1152525" cy="1577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Declare an Object using </a:t>
            </a:r>
            <a:r>
              <a:rPr lang="en-US" b="1" i="1" dirty="0" smtClean="0">
                <a:latin typeface="Consolas" pitchFamily="49" charset="0"/>
              </a:rPr>
              <a:t>function</a:t>
            </a:r>
            <a:endParaRPr lang="en-US" b="1" i="1" dirty="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820882"/>
            <a:ext cx="8458200" cy="39703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greet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'Hi! I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\'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m 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'.'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'Bien'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'Sarah'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greet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greet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4106882"/>
            <a:ext cx="1257300" cy="1333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(Initialization without </a:t>
            </a:r>
            <a:r>
              <a:rPr lang="en-US" b="1" dirty="0" smtClean="0">
                <a:latin typeface="Consolas" pitchFamily="49" charset="0"/>
              </a:rPr>
              <a:t>new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What are the outputs?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2347079"/>
            <a:ext cx="8458200" cy="378565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greet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'Hi! I</a:t>
            </a:r>
            <a:r>
              <a:rPr lang="en-US" sz="2000" dirty="0" smtClean="0">
                <a:solidFill>
                  <a:srgbClr val="D7BA7D"/>
                </a:solidFill>
                <a:latin typeface="Consolas"/>
              </a:rPr>
              <a:t>\'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m '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'.'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};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'Bien'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greet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console.log(person);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4648200" y="4267200"/>
            <a:ext cx="990600" cy="15240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Constructors</a:t>
            </a:r>
            <a:endParaRPr lang="en-US" b="1" i="1" dirty="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447800"/>
            <a:ext cx="84582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Function constructors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myOtherCircle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myOtherCircle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myOtherCircle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3657600"/>
            <a:ext cx="2867025" cy="235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5410200" y="5257800"/>
            <a:ext cx="609600" cy="9144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latin typeface="Consolas" pitchFamily="49" charset="0"/>
              </a:rPr>
              <a:t>prototype</a:t>
            </a:r>
            <a:r>
              <a:rPr lang="en-US" dirty="0" smtClean="0"/>
              <a:t> Object</a:t>
            </a:r>
            <a:endParaRPr lang="en-US" b="1" i="1" dirty="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447800"/>
            <a:ext cx="8458200" cy="39703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myOtherCircle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myOtherCircle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myOtherCircle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429000"/>
            <a:ext cx="2686050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5638800" y="5334000"/>
            <a:ext cx="609600" cy="9144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2928878"/>
            <a:ext cx="84582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Dog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bark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likes barking! Bark!"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"Max"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"Buddy"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max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bark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1600200"/>
            <a:ext cx="3962400" cy="1981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 smtClean="0"/>
              <a:t>What are the outputs?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Max likes barking! Bark!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Buddy likes barking! Bark!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It will produce an error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likes barking! Bark!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Create Objects with </a:t>
            </a:r>
            <a:r>
              <a:rPr lang="en-US" sz="3800" b="1" dirty="0" err="1" smtClean="0">
                <a:latin typeface="Consolas" pitchFamily="49" charset="0"/>
              </a:rPr>
              <a:t>Object.create</a:t>
            </a:r>
            <a:r>
              <a:rPr lang="en-US" sz="3800" b="1" dirty="0" smtClean="0">
                <a:latin typeface="Consolas" pitchFamily="49" charset="0"/>
              </a:rPr>
              <a:t>()</a:t>
            </a:r>
            <a:endParaRPr lang="en-US" sz="3800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Almost every JavaScript object has a </a:t>
            </a:r>
            <a:r>
              <a:rPr lang="en-US" sz="2200" i="1" dirty="0" smtClean="0">
                <a:solidFill>
                  <a:srgbClr val="C00000"/>
                </a:solidFill>
              </a:rPr>
              <a:t>second JavaScript object</a:t>
            </a:r>
            <a:r>
              <a:rPr lang="en-US" sz="2200" dirty="0" smtClean="0"/>
              <a:t> associated with it.</a:t>
            </a:r>
          </a:p>
          <a:p>
            <a:r>
              <a:rPr lang="en-US" sz="2200" dirty="0" smtClean="0"/>
              <a:t>This second object is known as a </a:t>
            </a:r>
            <a:r>
              <a:rPr lang="en-US" sz="2200" i="1" dirty="0" smtClean="0">
                <a:solidFill>
                  <a:srgbClr val="C00000"/>
                </a:solidFill>
              </a:rPr>
              <a:t>prototype</a:t>
            </a:r>
            <a:r>
              <a:rPr lang="en-US" sz="2200" dirty="0" smtClean="0"/>
              <a:t>, and the first object </a:t>
            </a:r>
            <a:r>
              <a:rPr lang="en-US" sz="2200" u="sng" dirty="0" smtClean="0"/>
              <a:t>inherits properties</a:t>
            </a:r>
            <a:r>
              <a:rPr lang="en-US" sz="2200" dirty="0" smtClean="0"/>
              <a:t> from the prototype.</a:t>
            </a:r>
          </a:p>
          <a:p>
            <a:r>
              <a:rPr lang="en-US" sz="2200" b="1" dirty="0" err="1" smtClean="0">
                <a:latin typeface="Consolas" pitchFamily="49" charset="0"/>
              </a:rPr>
              <a:t>Object.prototype</a:t>
            </a:r>
            <a:r>
              <a:rPr lang="en-US" sz="2200" dirty="0" smtClean="0"/>
              <a:t> is one of the rare objects that has no prototype: it does not inherit any properties.</a:t>
            </a:r>
          </a:p>
          <a:p>
            <a:r>
              <a:rPr lang="en-US" sz="2200" b="1" dirty="0" err="1" smtClean="0">
                <a:latin typeface="Consolas" pitchFamily="49" charset="0"/>
              </a:rPr>
              <a:t>Object.create</a:t>
            </a:r>
            <a:r>
              <a:rPr lang="en-US" sz="2200" b="1" dirty="0" smtClean="0">
                <a:latin typeface="Consolas" pitchFamily="49" charset="0"/>
              </a:rPr>
              <a:t>()</a:t>
            </a:r>
            <a:r>
              <a:rPr lang="en-US" sz="2200" dirty="0" smtClean="0"/>
              <a:t> creates a new object, using its first argument as the prototype of that object.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609600" y="4771072"/>
            <a:ext cx="7924800" cy="14773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point1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};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point2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point1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point2 inherits properties x and y.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point2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point2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Extend an Object with </a:t>
            </a:r>
            <a:r>
              <a:rPr lang="en-US" sz="3600" b="1" dirty="0" err="1" smtClean="0">
                <a:latin typeface="Consolas" pitchFamily="49" charset="0"/>
              </a:rPr>
              <a:t>Object.assign</a:t>
            </a:r>
            <a:r>
              <a:rPr lang="en-US" sz="3600" b="1" dirty="0" smtClean="0">
                <a:latin typeface="Consolas" pitchFamily="49" charset="0"/>
              </a:rPr>
              <a:t>()</a:t>
            </a:r>
            <a:endParaRPr lang="en-US" sz="3600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common operation in JavaScript programs is needing to </a:t>
            </a:r>
            <a:r>
              <a:rPr lang="en-US" sz="2400" i="1" dirty="0" smtClean="0">
                <a:solidFill>
                  <a:srgbClr val="C00000"/>
                </a:solidFill>
              </a:rPr>
              <a:t>copy the properties</a:t>
            </a:r>
            <a:r>
              <a:rPr lang="en-US" sz="2400" dirty="0" smtClean="0"/>
              <a:t> of one object to another object.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609600" y="2895600"/>
            <a:ext cx="79248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target1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source1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z: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keys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source1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target1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source1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target1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target2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source2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z: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assign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target2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source2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target2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3657600"/>
            <a:ext cx="21494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Inheritance: Reuse Functions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924800" cy="452431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circumference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area: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circumference: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circumference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524000"/>
            <a:ext cx="45720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dirty="0" smtClean="0"/>
              <a:t>How can we create an object in JavaScript that </a:t>
            </a:r>
            <a:r>
              <a:rPr lang="en-US" i="1" dirty="0" smtClean="0">
                <a:solidFill>
                  <a:srgbClr val="C00000"/>
                </a:solidFill>
              </a:rPr>
              <a:t>inherits</a:t>
            </a:r>
            <a:r>
              <a:rPr lang="en-US" dirty="0" smtClean="0"/>
              <a:t> from another object?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1" y="3657601"/>
            <a:ext cx="22002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Inheritance: Use an Object as Prototype</a:t>
            </a:r>
            <a:endParaRPr lang="en-US" sz="3800" dirty="0"/>
          </a:p>
        </p:txBody>
      </p:sp>
      <p:sp>
        <p:nvSpPr>
          <p:cNvPr id="6" name="Rectangle 5"/>
          <p:cNvSpPr/>
          <p:nvPr/>
        </p:nvSpPr>
        <p:spPr>
          <a:xfrm>
            <a:off x="609600" y="2590800"/>
            <a:ext cx="7924800" cy="36933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circumference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1" y="3657601"/>
            <a:ext cx="22002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09600" y="1524000"/>
            <a:ext cx="7848600" cy="76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Take an object, create its clone using </a:t>
            </a:r>
            <a:r>
              <a:rPr lang="en-US" sz="2200" b="1" i="1" dirty="0" err="1" smtClean="0">
                <a:solidFill>
                  <a:srgbClr val="C00000"/>
                </a:solidFill>
                <a:latin typeface="Consolas" pitchFamily="49" charset="0"/>
              </a:rPr>
              <a:t>Object.create</a:t>
            </a:r>
            <a:r>
              <a:rPr lang="en-US" sz="2200" b="1" i="1" dirty="0" smtClean="0">
                <a:solidFill>
                  <a:srgbClr val="C00000"/>
                </a:solidFill>
                <a:latin typeface="Consolas" pitchFamily="49" charset="0"/>
              </a:rPr>
              <a:t>(prototype)</a:t>
            </a:r>
            <a:r>
              <a:rPr lang="en-US" sz="2200" dirty="0" smtClean="0"/>
              <a:t>, change whatever you need to.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Prototypal Pattern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99486"/>
            <a:ext cx="79248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},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},   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circumference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24600" y="1828800"/>
            <a:ext cx="2057400" cy="24622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The </a:t>
            </a:r>
            <a:r>
              <a:rPr lang="en-US" sz="2200" b="1" i="1" dirty="0" smtClean="0">
                <a:latin typeface="Consolas" pitchFamily="49" charset="0"/>
              </a:rPr>
              <a:t>create</a:t>
            </a:r>
            <a:r>
              <a:rPr lang="en-US" sz="2200" dirty="0" smtClean="0"/>
              <a:t> function creates a clone of </a:t>
            </a:r>
            <a:r>
              <a:rPr lang="en-US" sz="2200" b="1" i="1" dirty="0" smtClean="0">
                <a:latin typeface="Consolas" pitchFamily="49" charset="0"/>
              </a:rPr>
              <a:t>circle</a:t>
            </a:r>
            <a:r>
              <a:rPr lang="en-US" sz="2200" dirty="0" smtClean="0"/>
              <a:t>, assigns a new </a:t>
            </a:r>
            <a:r>
              <a:rPr lang="en-US" sz="2200" b="1" i="1" dirty="0" smtClean="0">
                <a:latin typeface="Consolas" pitchFamily="49" charset="0"/>
              </a:rPr>
              <a:t>radius</a:t>
            </a:r>
            <a:r>
              <a:rPr lang="en-US" sz="2200" dirty="0" smtClean="0"/>
              <a:t> to it and then returns it.</a:t>
            </a:r>
            <a:endParaRPr lang="en-US" sz="22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5181600"/>
            <a:ext cx="22002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Constructor Pattern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99486"/>
            <a:ext cx="7924800" cy="424731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circumference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        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24600" y="1828800"/>
            <a:ext cx="2057400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/>
              <a:t>The </a:t>
            </a:r>
            <a:r>
              <a:rPr lang="en-US" sz="1600" i="1" dirty="0" smtClean="0">
                <a:solidFill>
                  <a:srgbClr val="C00000"/>
                </a:solidFill>
              </a:rPr>
              <a:t>constructor pattern</a:t>
            </a:r>
            <a:r>
              <a:rPr lang="en-US" sz="1600" dirty="0" smtClean="0"/>
              <a:t> in JavaScript is the </a:t>
            </a:r>
            <a:r>
              <a:rPr lang="en-US" sz="1600" u="sng" dirty="0" smtClean="0"/>
              <a:t>prototypal pattern inverted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Instead of creating an object you create a </a:t>
            </a:r>
            <a:r>
              <a:rPr lang="en-US" sz="1600" i="1" dirty="0" smtClean="0">
                <a:solidFill>
                  <a:srgbClr val="C00000"/>
                </a:solidFill>
              </a:rPr>
              <a:t>constructor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The </a:t>
            </a:r>
            <a:r>
              <a:rPr lang="en-US" sz="1600" i="1" dirty="0" smtClean="0">
                <a:solidFill>
                  <a:srgbClr val="C00000"/>
                </a:solidFill>
              </a:rPr>
              <a:t>new</a:t>
            </a:r>
            <a:r>
              <a:rPr lang="en-US" sz="1600" dirty="0" smtClean="0"/>
              <a:t> keyword binds the </a:t>
            </a:r>
            <a:r>
              <a:rPr lang="en-US" sz="1600" i="1" dirty="0" smtClean="0">
                <a:solidFill>
                  <a:srgbClr val="C00000"/>
                </a:solidFill>
              </a:rPr>
              <a:t>this</a:t>
            </a:r>
            <a:r>
              <a:rPr lang="en-US" sz="1600" dirty="0" smtClean="0"/>
              <a:t> pointer inside the constructor to a clone of the </a:t>
            </a:r>
            <a:r>
              <a:rPr lang="en-US" sz="1600" i="1" dirty="0" smtClean="0">
                <a:solidFill>
                  <a:srgbClr val="C00000"/>
                </a:solidFill>
              </a:rPr>
              <a:t>prototype</a:t>
            </a:r>
            <a:r>
              <a:rPr lang="en-US" sz="1600" dirty="0" smtClean="0"/>
              <a:t> of the constructor.</a:t>
            </a:r>
            <a:endParaRPr lang="en-US" sz="16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5257800"/>
            <a:ext cx="22002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1447800" y="2362200"/>
            <a:ext cx="6096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Inheritance: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valueOf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99486"/>
            <a:ext cx="7924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interests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'Bob'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'Smith'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'male'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valueOf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9950" y="4537075"/>
            <a:ext cx="4864100" cy="163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latin typeface="Consolas" pitchFamily="49" charset="0"/>
              </a:rPr>
              <a:t>prototype</a:t>
            </a:r>
            <a:r>
              <a:rPr lang="en-US" dirty="0" smtClean="0"/>
              <a:t> Property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99486"/>
            <a:ext cx="7924800" cy="34163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'Bob'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'Smith'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'male'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prototype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5" name="Picture 4" descr="https://mdn.mozillademos.org/files/13891/MDN-Graphics-person-person-object-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5181600"/>
            <a:ext cx="2667000" cy="571500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4267200"/>
            <a:ext cx="3803650" cy="194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own Arrow 7"/>
          <p:cNvSpPr/>
          <p:nvPr/>
        </p:nvSpPr>
        <p:spPr>
          <a:xfrm>
            <a:off x="4876800" y="4038600"/>
            <a:ext cx="762000" cy="4572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3400" y="5943600"/>
            <a:ext cx="431124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dirty="0" smtClean="0"/>
              <a:t>Only constructor functions have prototypes.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Modify Prototype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99486"/>
            <a:ext cx="79248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farewell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 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 has left the building. Bye for now!'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'Bob'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'Smith'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farewell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'male'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introduce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dirty="0" smtClean="0">
                <a:solidFill>
                  <a:srgbClr val="D7BA7D"/>
                </a:solidFill>
                <a:latin typeface="Consolas"/>
              </a:rPr>
              <a:t>\'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s gender is 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gender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introduce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8" name="Down Arrow 7"/>
          <p:cNvSpPr/>
          <p:nvPr/>
        </p:nvSpPr>
        <p:spPr>
          <a:xfrm rot="3843070">
            <a:off x="3648867" y="4405018"/>
            <a:ext cx="762000" cy="4572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Definition Pattern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1524000"/>
            <a:ext cx="7924800" cy="470898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Constructor with property definitions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EC9B0"/>
                </a:solidFill>
                <a:latin typeface="Consolas"/>
              </a:rPr>
              <a:t>Test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property definitions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First method definition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4EC9B0"/>
                </a:solidFill>
                <a:latin typeface="Consolas"/>
              </a:rPr>
              <a:t>Test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 { ... };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Second method definition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4EC9B0"/>
                </a:solidFill>
                <a:latin typeface="Consolas"/>
              </a:rPr>
              <a:t>Test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 { ... };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etc.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24600" y="1371600"/>
            <a:ext cx="2590800" cy="50167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This makes the code easier to read, as the constructor only contains the property definitions, and the methods are split off into separate blocks.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Prototype enables defining methods for all instances of the object, so it is only stored in the memory once.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Prototypal Inheritance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1599486"/>
            <a:ext cx="7924800" cy="477053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};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'Hi! I</a:t>
            </a:r>
            <a:r>
              <a:rPr lang="en-US" sz="1600" dirty="0" smtClean="0">
                <a:solidFill>
                  <a:srgbClr val="D7BA7D"/>
                </a:solidFill>
                <a:latin typeface="Consolas"/>
              </a:rPr>
              <a:t>\'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m 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'.'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Teacher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subject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call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first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subject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subject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Teacher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Object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create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Teacher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constructor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Teacher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Teacher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'Hello. My name is 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last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', and I teach 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subject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'.'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teacher1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Teacher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'Bien'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'Ngo'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41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'web app development'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teacher1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Inheritance?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If you find yourself starting to create a number of objects that have </a:t>
            </a:r>
            <a:r>
              <a:rPr lang="en-US" sz="2400" i="1" dirty="0" smtClean="0">
                <a:solidFill>
                  <a:srgbClr val="C00000"/>
                </a:solidFill>
              </a:rPr>
              <a:t>similar features</a:t>
            </a:r>
            <a:r>
              <a:rPr lang="en-US" sz="2400" dirty="0" smtClean="0"/>
              <a:t>, then creating a generic object type to contain all the shared functionality and inheriting those features in more specialized object types can be convenient and useful.</a:t>
            </a:r>
            <a:endParaRPr lang="en-US" sz="2400" dirty="0"/>
          </a:p>
        </p:txBody>
      </p:sp>
      <p:pic>
        <p:nvPicPr>
          <p:cNvPr id="4" name="Picture 2" descr="https://www.studytienganh.vn/upload/2017/12/4905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038600"/>
            <a:ext cx="3241829" cy="1665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vs. Prototypal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Prototypal inheritance is </a:t>
            </a:r>
            <a:r>
              <a:rPr lang="en-US" sz="2600" i="1" dirty="0" smtClean="0">
                <a:solidFill>
                  <a:srgbClr val="C00000"/>
                </a:solidFill>
              </a:rPr>
              <a:t>simple</a:t>
            </a:r>
            <a:r>
              <a:rPr lang="en-US" sz="2600" dirty="0" smtClean="0"/>
              <a:t>. Why?</a:t>
            </a:r>
          </a:p>
          <a:p>
            <a:r>
              <a:rPr lang="en-US" sz="2600" dirty="0" smtClean="0"/>
              <a:t>Prototypal inheritance is </a:t>
            </a:r>
            <a:r>
              <a:rPr lang="en-US" sz="2600" i="1" dirty="0" smtClean="0">
                <a:solidFill>
                  <a:srgbClr val="C00000"/>
                </a:solidFill>
              </a:rPr>
              <a:t>dynamic</a:t>
            </a:r>
            <a:r>
              <a:rPr lang="en-US" sz="2600" dirty="0" smtClean="0"/>
              <a:t>.</a:t>
            </a:r>
          </a:p>
          <a:p>
            <a:pPr lvl="1"/>
            <a:r>
              <a:rPr lang="en-US" sz="2400" dirty="0" smtClean="0"/>
              <a:t>You can add new properties to prototypes </a:t>
            </a:r>
            <a:r>
              <a:rPr lang="en-US" sz="2400" i="1" dirty="0" smtClean="0">
                <a:solidFill>
                  <a:srgbClr val="C00000"/>
                </a:solidFill>
              </a:rPr>
              <a:t>after</a:t>
            </a:r>
            <a:r>
              <a:rPr lang="en-US" sz="2400" dirty="0" smtClean="0"/>
              <a:t> they are created.</a:t>
            </a:r>
          </a:p>
          <a:p>
            <a:pPr lvl="1"/>
            <a:r>
              <a:rPr lang="en-US" sz="2400" dirty="0" smtClean="0"/>
              <a:t>This is not possible in classical inheritance because once a class is created you can't modify it </a:t>
            </a:r>
            <a:r>
              <a:rPr lang="en-US" sz="2400" u="sng" dirty="0" smtClean="0"/>
              <a:t>at runtime</a:t>
            </a:r>
            <a:r>
              <a:rPr lang="en-US" sz="2400" dirty="0" smtClean="0"/>
              <a:t>.</a:t>
            </a:r>
          </a:p>
          <a:p>
            <a:r>
              <a:rPr lang="en-US" sz="2600" dirty="0" smtClean="0"/>
              <a:t>Class inheritance supports </a:t>
            </a:r>
            <a:r>
              <a:rPr lang="en-US" sz="2600" i="1" dirty="0" smtClean="0">
                <a:solidFill>
                  <a:srgbClr val="C00000"/>
                </a:solidFill>
              </a:rPr>
              <a:t>static analysis</a:t>
            </a:r>
            <a:r>
              <a:rPr lang="en-US" sz="2600" dirty="0" smtClean="0"/>
              <a:t>.</a:t>
            </a:r>
            <a:endParaRPr lang="en-US" sz="2600" dirty="0"/>
          </a:p>
        </p:txBody>
      </p:sp>
      <p:pic>
        <p:nvPicPr>
          <p:cNvPr id="30722" name="Picture 2" descr="https://blacksmithint.com/wp-content/uploads/2018/10/Product-Samp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4876800"/>
            <a:ext cx="2857500" cy="1428750"/>
          </a:xfrm>
          <a:prstGeom prst="rect">
            <a:avLst/>
          </a:prstGeom>
          <a:noFill/>
        </p:spPr>
      </p:pic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2250" y="4956175"/>
            <a:ext cx="285115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Objects?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Ultimately, objects are just another form of code reuse, like functions or loops, with their own specific roles and advantages.</a:t>
            </a:r>
          </a:p>
          <a:p>
            <a:r>
              <a:rPr lang="en-US" sz="2200" dirty="0" smtClean="0"/>
              <a:t>If you find yourself creating a bunch of related variables and functions and want to </a:t>
            </a:r>
            <a:r>
              <a:rPr lang="en-US" sz="2200" i="1" dirty="0" smtClean="0">
                <a:solidFill>
                  <a:srgbClr val="C00000"/>
                </a:solidFill>
              </a:rPr>
              <a:t>track them all together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package them neatly</a:t>
            </a:r>
            <a:r>
              <a:rPr lang="en-US" sz="2200" dirty="0" smtClean="0"/>
              <a:t>, an object is a good idea.</a:t>
            </a:r>
          </a:p>
          <a:p>
            <a:r>
              <a:rPr lang="en-US" sz="2200" dirty="0" smtClean="0"/>
              <a:t>Objects are also very useful when you want to </a:t>
            </a:r>
            <a:r>
              <a:rPr lang="en-US" sz="2200" i="1" dirty="0" smtClean="0">
                <a:solidFill>
                  <a:srgbClr val="C00000"/>
                </a:solidFill>
              </a:rPr>
              <a:t>pass a collection of data</a:t>
            </a:r>
            <a:r>
              <a:rPr lang="en-US" sz="2200" dirty="0" smtClean="0"/>
              <a:t> from one place to another.</a:t>
            </a:r>
            <a:endParaRPr lang="en-US" sz="2200" dirty="0"/>
          </a:p>
        </p:txBody>
      </p:sp>
      <p:pic>
        <p:nvPicPr>
          <p:cNvPr id="1026" name="Picture 2" descr="https://www.studytienganh.vn/upload/2017/12/4905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495800"/>
            <a:ext cx="3241829" cy="1665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Object is a </a:t>
            </a:r>
            <a:r>
              <a:rPr lang="en-US" sz="2600" i="1" dirty="0" smtClean="0">
                <a:solidFill>
                  <a:srgbClr val="C00000"/>
                </a:solidFill>
              </a:rPr>
              <a:t>function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An </a:t>
            </a:r>
            <a:r>
              <a:rPr lang="en-US" sz="2600" i="1" dirty="0" smtClean="0">
                <a:solidFill>
                  <a:srgbClr val="C00000"/>
                </a:solidFill>
              </a:rPr>
              <a:t>object instance</a:t>
            </a:r>
            <a:r>
              <a:rPr lang="en-US" sz="2600" dirty="0" smtClean="0"/>
              <a:t> can </a:t>
            </a:r>
            <a:r>
              <a:rPr lang="en-US" sz="2600" u="sng" dirty="0" smtClean="0"/>
              <a:t>be created</a:t>
            </a:r>
            <a:r>
              <a:rPr lang="en-US" sz="2600" dirty="0" smtClean="0"/>
              <a:t> by</a:t>
            </a:r>
          </a:p>
          <a:p>
            <a:pPr lvl="1"/>
            <a:r>
              <a:rPr lang="en-US" sz="2400" dirty="0" smtClean="0"/>
              <a:t>declaring an object literal</a:t>
            </a:r>
          </a:p>
          <a:p>
            <a:pPr lvl="2"/>
            <a:r>
              <a:rPr lang="en-US" dirty="0" err="1" smtClean="0">
                <a:latin typeface="Consolas" pitchFamily="49" charset="0"/>
              </a:rPr>
              <a:t>var</a:t>
            </a:r>
            <a:r>
              <a:rPr lang="en-US" dirty="0" smtClean="0">
                <a:latin typeface="Consolas" pitchFamily="49" charset="0"/>
              </a:rPr>
              <a:t> person = {};</a:t>
            </a:r>
          </a:p>
          <a:p>
            <a:pPr lvl="1"/>
            <a:r>
              <a:rPr lang="en-US" sz="2400" dirty="0" smtClean="0"/>
              <a:t>using the </a:t>
            </a:r>
            <a:r>
              <a:rPr lang="en-US" sz="2400" b="1" i="1" dirty="0" smtClean="0">
                <a:latin typeface="Consolas" pitchFamily="49" charset="0"/>
              </a:rPr>
              <a:t>Object()</a:t>
            </a:r>
            <a:r>
              <a:rPr lang="en-US" sz="2400" dirty="0" smtClean="0"/>
              <a:t> constructors</a:t>
            </a:r>
          </a:p>
          <a:p>
            <a:pPr lvl="2"/>
            <a:r>
              <a:rPr lang="en-US" dirty="0" err="1" smtClean="0">
                <a:latin typeface="Consolas" pitchFamily="49" charset="0"/>
              </a:rPr>
              <a:t>var</a:t>
            </a:r>
            <a:r>
              <a:rPr lang="en-US" dirty="0" smtClean="0">
                <a:latin typeface="Consolas" pitchFamily="49" charset="0"/>
              </a:rPr>
              <a:t> person1 = new Object();</a:t>
            </a:r>
          </a:p>
          <a:p>
            <a:pPr lvl="2"/>
            <a:r>
              <a:rPr lang="en-US" dirty="0" err="1" smtClean="0">
                <a:latin typeface="Consolas" pitchFamily="49" charset="0"/>
              </a:rPr>
              <a:t>var</a:t>
            </a:r>
            <a:r>
              <a:rPr lang="en-US" dirty="0" smtClean="0">
                <a:latin typeface="Consolas" pitchFamily="49" charset="0"/>
              </a:rPr>
              <a:t> person2 = </a:t>
            </a:r>
            <a:r>
              <a:rPr lang="en-US" dirty="0" err="1" smtClean="0">
                <a:latin typeface="Consolas" pitchFamily="49" charset="0"/>
              </a:rPr>
              <a:t>Object.create</a:t>
            </a:r>
            <a:r>
              <a:rPr lang="en-US" dirty="0" smtClean="0">
                <a:latin typeface="Consolas" pitchFamily="49" charset="0"/>
              </a:rPr>
              <a:t>(person1);</a:t>
            </a:r>
          </a:p>
          <a:p>
            <a:pPr lvl="2"/>
            <a:endParaRPr lang="en-US" dirty="0"/>
          </a:p>
        </p:txBody>
      </p:sp>
      <p:pic>
        <p:nvPicPr>
          <p:cNvPr id="28674" name="Picture 2" descr="https://i.pinimg.com/originals/c4/ba/9b/c4ba9b68eee4298451136d0718a26ec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066800"/>
            <a:ext cx="2031729" cy="20151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Strict Mode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7924800" cy="44012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testNonStrictMode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`</a:t>
            </a:r>
            <a:r>
              <a:rPr lang="en-US" sz="2000" dirty="0" err="1" smtClean="0">
                <a:solidFill>
                  <a:srgbClr val="6A9955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` missing, it's OK.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testNonStrictMode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testStrictMode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"use strict"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turn on strict mode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`</a:t>
            </a:r>
            <a:r>
              <a:rPr lang="en-US" sz="2000" dirty="0" err="1" smtClean="0">
                <a:solidFill>
                  <a:srgbClr val="6A9955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` missing, </a:t>
            </a:r>
            <a:r>
              <a:rPr lang="en-US" sz="2000" dirty="0" err="1" smtClean="0">
                <a:solidFill>
                  <a:srgbClr val="6A9955"/>
                </a:solidFill>
                <a:latin typeface="Consolas"/>
              </a:rPr>
              <a:t>ReferenceError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testStrictMode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1447800"/>
            <a:ext cx="2438400" cy="255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“strict mode”  tightens the rule for certain behaviors.</a:t>
            </a:r>
          </a:p>
          <a:p>
            <a:r>
              <a:rPr lang="en-US" sz="2000" dirty="0" smtClean="0"/>
              <a:t>These restrictions keep the code to a safer and more appropriate set of guidelines.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Context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600200"/>
            <a:ext cx="79248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timesTen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timesTen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23554" name="Picture 2" descr="https://www.javascripttutorial.net/wp-content/uploads/2019/12/javascript-execution-context-global-execution-context-in-creation-phas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95600"/>
            <a:ext cx="2819400" cy="3019425"/>
          </a:xfrm>
          <a:prstGeom prst="rect">
            <a:avLst/>
          </a:prstGeom>
          <a:noFill/>
        </p:spPr>
      </p:pic>
      <p:pic>
        <p:nvPicPr>
          <p:cNvPr id="23556" name="Picture 4" descr="https://www.javascripttutorial.net/wp-content/uploads/2019/12/javascript-execution-context-global-execution-context-in-execution-phas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895600"/>
            <a:ext cx="2819400" cy="3019425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6248400" y="1676400"/>
            <a:ext cx="26670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Assigns values to variables and executes the function calls.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52800" y="1752600"/>
            <a:ext cx="26670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Setup a memory for storing variables and function references.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5800" y="6019800"/>
            <a:ext cx="822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+mj-lt"/>
                <a:hlinkClick r:id="rId5"/>
              </a:rPr>
              <a:t>https://www.javascripttutorial.net/javascript-execution-context/</a:t>
            </a:r>
            <a:r>
              <a:rPr lang="en-US" sz="2000" dirty="0" smtClean="0">
                <a:latin typeface="+mj-lt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Execution Context: Creation Phase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600200"/>
            <a:ext cx="79248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timesTen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timesTen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2800" y="1752600"/>
            <a:ext cx="2667000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For every </a:t>
            </a:r>
            <a:r>
              <a:rPr lang="en-US" i="1" dirty="0" smtClean="0">
                <a:solidFill>
                  <a:srgbClr val="C00000"/>
                </a:solidFill>
              </a:rPr>
              <a:t>function call</a:t>
            </a:r>
            <a:r>
              <a:rPr lang="en-US" dirty="0" smtClean="0"/>
              <a:t>, the JavaScript engine creates a new Function Execution Context.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Instead of creating the global object, it creates the </a:t>
            </a:r>
            <a:r>
              <a:rPr lang="en-US" i="1" dirty="0" smtClean="0">
                <a:solidFill>
                  <a:srgbClr val="C00000"/>
                </a:solidFill>
              </a:rPr>
              <a:t>arguments object</a:t>
            </a:r>
            <a:r>
              <a:rPr lang="en-US" dirty="0" smtClean="0"/>
              <a:t> that contains a reference to all the parameters passed into the function.</a:t>
            </a:r>
            <a:endParaRPr lang="en-US" dirty="0"/>
          </a:p>
        </p:txBody>
      </p:sp>
      <p:pic>
        <p:nvPicPr>
          <p:cNvPr id="72706" name="Picture 2" descr="https://www.javascripttutorial.net/wp-content/uploads/2019/12/javascript-execution-context-function-execution-context-in-creation-phas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524000"/>
            <a:ext cx="2457450" cy="4276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Execution Context: Execution Phase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709678"/>
            <a:ext cx="79248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timesTen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timesTen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74754" name="Picture 2" descr="https://www.javascripttutorial.net/wp-content/uploads/2019/12/javascript-execution-context-function-execution-context-in-execution-phas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752600"/>
            <a:ext cx="2466975" cy="4267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Arrow Functions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 smtClean="0"/>
              <a:t>The general form of an </a:t>
            </a:r>
            <a:r>
              <a:rPr lang="en-US" sz="2600" i="1" dirty="0" smtClean="0">
                <a:solidFill>
                  <a:srgbClr val="C00000"/>
                </a:solidFill>
              </a:rPr>
              <a:t>arrow function</a:t>
            </a:r>
            <a:r>
              <a:rPr lang="en-US" sz="2600" dirty="0" smtClean="0"/>
              <a:t> is </a:t>
            </a:r>
          </a:p>
          <a:p>
            <a:pPr lvl="1"/>
            <a:r>
              <a:rPr lang="en-US" sz="2200" dirty="0" smtClean="0"/>
              <a:t>a comma-separated list of </a:t>
            </a:r>
            <a:r>
              <a:rPr lang="en-US" sz="2200" u="sng" dirty="0" smtClean="0"/>
              <a:t>parameters</a:t>
            </a:r>
            <a:r>
              <a:rPr lang="en-US" sz="2200" dirty="0" smtClean="0"/>
              <a:t> in parentheses, </a:t>
            </a:r>
          </a:p>
          <a:p>
            <a:pPr lvl="1"/>
            <a:r>
              <a:rPr lang="en-US" sz="2200" dirty="0" smtClean="0"/>
              <a:t>followed by the =&gt; </a:t>
            </a:r>
            <a:r>
              <a:rPr lang="en-US" sz="2200" u="sng" dirty="0" smtClean="0"/>
              <a:t>arrow</a:t>
            </a:r>
            <a:r>
              <a:rPr lang="en-US" sz="2200" dirty="0" smtClean="0"/>
              <a:t>, </a:t>
            </a:r>
          </a:p>
          <a:p>
            <a:pPr lvl="1"/>
            <a:r>
              <a:rPr lang="en-US" sz="2200" dirty="0" smtClean="0"/>
              <a:t>followed by the </a:t>
            </a:r>
            <a:r>
              <a:rPr lang="en-US" sz="2200" u="sng" dirty="0" smtClean="0"/>
              <a:t>function body</a:t>
            </a:r>
            <a:r>
              <a:rPr lang="en-US" sz="2200" dirty="0" smtClean="0"/>
              <a:t> in curly braces:</a:t>
            </a:r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609600" y="3784937"/>
            <a:ext cx="7924800" cy="101566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};</a:t>
            </a: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Arrow Function Examples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2057400"/>
            <a:ext cx="7924800" cy="34778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without any parameters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foo1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()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}      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foo1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with single parameter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foo2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}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foo2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with multiple parameter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 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}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Literals and </a:t>
            </a:r>
            <a:r>
              <a:rPr lang="en-US" dirty="0" smtClean="0">
                <a:latin typeface="Consolas" pitchFamily="49" charset="0"/>
              </a:rPr>
              <a:t>this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447800"/>
            <a:ext cx="7924800" cy="50783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increaseRadius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increaseRadius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8200" y="6019800"/>
            <a:ext cx="206127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What is the output?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Method to Fix the Issue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447800"/>
            <a:ext cx="79248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increaseRadius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increaseRadius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0" y="2362200"/>
            <a:ext cx="156433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Why it works?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Arrow Function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447800"/>
            <a:ext cx="7924800" cy="50783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radius: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increaseRadius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()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increaseRadius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Math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radius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circle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getArea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0" y="3048000"/>
            <a:ext cx="156433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Why it works?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00" dirty="0" smtClean="0"/>
              <a:t>Arrow Functions vs. Other Functions</a:t>
            </a:r>
            <a:endParaRPr lang="en-US" sz="4200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Arrow functions differ from functions defined in other ways in one critical way: they </a:t>
            </a:r>
            <a:r>
              <a:rPr lang="en-US" sz="2400" u="sng" dirty="0" smtClean="0"/>
              <a:t>inherit</a:t>
            </a:r>
            <a:r>
              <a:rPr lang="en-US" sz="2400" dirty="0" smtClean="0"/>
              <a:t> the value of </a:t>
            </a:r>
            <a:r>
              <a:rPr lang="en-US" sz="2400" i="1" dirty="0" smtClean="0">
                <a:solidFill>
                  <a:srgbClr val="C00000"/>
                </a:solidFill>
              </a:rPr>
              <a:t>the </a:t>
            </a:r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this</a:t>
            </a:r>
            <a:r>
              <a:rPr lang="en-US" sz="2400" i="1" dirty="0" smtClean="0">
                <a:solidFill>
                  <a:srgbClr val="C00000"/>
                </a:solidFill>
              </a:rPr>
              <a:t> keyword</a:t>
            </a:r>
            <a:r>
              <a:rPr lang="en-US" sz="2400" dirty="0" smtClean="0"/>
              <a:t> from the environment in which they are defined rather than defining their own invocation context as functions defined in other ways do.</a:t>
            </a:r>
          </a:p>
          <a:p>
            <a:r>
              <a:rPr lang="en-US" sz="2400" dirty="0" smtClean="0"/>
              <a:t>Arrow functions also differ from other functions in that they </a:t>
            </a:r>
            <a:r>
              <a:rPr lang="en-US" sz="2400" i="1" dirty="0" smtClean="0">
                <a:solidFill>
                  <a:srgbClr val="C00000"/>
                </a:solidFill>
              </a:rPr>
              <a:t>do not have a prototype</a:t>
            </a:r>
            <a:r>
              <a:rPr lang="en-US" sz="2400" dirty="0" smtClean="0"/>
              <a:t> property, which means that they cannot be used as constructor functions for new classes.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4953000"/>
            <a:ext cx="2768271" cy="132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https://fireship.io/courses/javascript/img/function-declara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4876800"/>
            <a:ext cx="3683810" cy="14247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Arrow Functions?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hlinkClick r:id="rId2"/>
              </a:rPr>
              <a:t>https://developer.mozilla.org/en-US/docs/Web/JavaScript/Guide/Functions</a:t>
            </a:r>
            <a:endParaRPr lang="en-US" sz="1800" dirty="0" smtClean="0"/>
          </a:p>
          <a:p>
            <a:r>
              <a:rPr lang="en-US" sz="1800" dirty="0" smtClean="0"/>
              <a:t>Until arrow functions, every new function defined its own </a:t>
            </a:r>
            <a:r>
              <a:rPr lang="en-US" sz="1800" i="1" dirty="0" smtClean="0">
                <a:solidFill>
                  <a:srgbClr val="C00000"/>
                </a:solidFill>
                <a:latin typeface="Consolas" pitchFamily="49" charset="0"/>
              </a:rPr>
              <a:t>this</a:t>
            </a:r>
            <a:r>
              <a:rPr lang="en-US" sz="1800" dirty="0" smtClean="0"/>
              <a:t> value (a new object in the case of a constructor, undefined in strict mode function calls, the base object if the function is called as an "object method", etc.).</a:t>
            </a:r>
          </a:p>
          <a:p>
            <a:r>
              <a:rPr lang="en-US" sz="1800" dirty="0" smtClean="0"/>
              <a:t>This proved to be less than ideal with an object-oriented style of programming.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609600" y="3353812"/>
            <a:ext cx="7924800" cy="31085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The Person() constructor defines `this` as an instance of itself.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setInterval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growUp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In non-strict mode, the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growUp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() function defines `this` 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as the global object (because it's where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growup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() is executed.), 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which is different from the `this` defined by the Person() constructor. 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++;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},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1000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257800"/>
            <a:ext cx="143827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Arrow Functions? (II)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7924800" cy="415498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The Person() constructor defines `this` 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as an instance of itself.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setInterval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Arrow function inherits the value of the this keyword 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from the environment in which it is defined.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++;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600" dirty="0" err="1" smtClean="0">
                <a:solidFill>
                  <a:srgbClr val="6A9955"/>
                </a:solidFill>
                <a:latin typeface="Consolas"/>
              </a:rPr>
              <a:t>window.document.body.style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 = "background-color: red;";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},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1000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Person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86600" y="4876800"/>
            <a:ext cx="1133475" cy="1136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600200"/>
            <a:ext cx="83820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namaste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hola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salut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"aloha"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primes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7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17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19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29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primes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greetings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4038600"/>
            <a:ext cx="1149350" cy="2397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 and Types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600200"/>
            <a:ext cx="8382000" cy="36933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course: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"Web Application Development"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course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4495800"/>
            <a:ext cx="2216150" cy="1530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 and Objects and Loop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600200"/>
            <a:ext cx="8382000" cy="477053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myObj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name: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course: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"Web Application Development"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organization: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"HCMUS"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myObj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":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myObj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[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"Joe"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"Mary"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prop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++)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index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447800"/>
            <a:ext cx="2705100" cy="361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Functions: </a:t>
            </a:r>
            <a:r>
              <a:rPr lang="en-US" dirty="0" err="1" smtClean="0"/>
              <a:t>forEach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3081278"/>
            <a:ext cx="83820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[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"Joe"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the </a:t>
            </a:r>
            <a:r>
              <a:rPr lang="en-US" sz="1600" dirty="0" err="1" smtClean="0">
                <a:solidFill>
                  <a:srgbClr val="6A9955"/>
                </a:solidFill>
                <a:latin typeface="Consolas"/>
              </a:rPr>
              <a:t>forEach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 loop takes a function as an argument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and calls it for each element of the array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forEach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element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element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Function expressions can also be used as arguments to other functions: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([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sort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-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 }));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([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sort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-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 }));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1527175"/>
            <a:ext cx="2228850" cy="3273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Functions: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/>
              <a:t>map()</a:t>
            </a:r>
            <a:r>
              <a:rPr lang="en-US" sz="2400" dirty="0" smtClean="0"/>
              <a:t> method of </a:t>
            </a:r>
            <a:r>
              <a:rPr lang="en-US" sz="2400" b="1" dirty="0" smtClean="0"/>
              <a:t>Array</a:t>
            </a:r>
            <a:r>
              <a:rPr lang="en-US" sz="2400" dirty="0" smtClean="0"/>
              <a:t> instances creates a new array populated with the results of </a:t>
            </a:r>
            <a:r>
              <a:rPr lang="en-US" sz="2400" i="1" dirty="0" smtClean="0">
                <a:solidFill>
                  <a:srgbClr val="C00000"/>
                </a:solidFill>
              </a:rPr>
              <a:t>calling a provided function</a:t>
            </a:r>
            <a:r>
              <a:rPr lang="en-US" sz="2400" dirty="0" smtClean="0"/>
              <a:t> </a:t>
            </a:r>
            <a:r>
              <a:rPr lang="en-US" sz="2400" u="sng" dirty="0" smtClean="0"/>
              <a:t>on every element</a:t>
            </a:r>
            <a:r>
              <a:rPr lang="en-US" sz="2400" dirty="0" smtClean="0"/>
              <a:t> in the calling array.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3081278"/>
            <a:ext cx="8229600" cy="203132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9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16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6A9955"/>
                </a:solidFill>
                <a:latin typeface="Consolas"/>
              </a:rPr>
              <a:t>// Pass a function to map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myMap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myArray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*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myMap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Array [2, 8, 18, 32]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114800"/>
            <a:ext cx="255270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Functions: </a:t>
            </a:r>
            <a:r>
              <a:rPr lang="en-US" dirty="0" smtClean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/>
              <a:t>filter()</a:t>
            </a:r>
            <a:r>
              <a:rPr lang="en-US" sz="2400" dirty="0" smtClean="0"/>
              <a:t> method of </a:t>
            </a:r>
            <a:r>
              <a:rPr lang="en-US" sz="2400" b="1" dirty="0" smtClean="0"/>
              <a:t>Array</a:t>
            </a:r>
            <a:r>
              <a:rPr lang="en-US" sz="2400" dirty="0" smtClean="0"/>
              <a:t> instances creates a shallow copy of a portion of a given array, </a:t>
            </a:r>
            <a:r>
              <a:rPr lang="en-US" sz="2400" i="1" dirty="0" smtClean="0">
                <a:solidFill>
                  <a:srgbClr val="C00000"/>
                </a:solidFill>
              </a:rPr>
              <a:t>filtered down</a:t>
            </a:r>
            <a:r>
              <a:rPr lang="en-US" sz="2400" dirty="0" smtClean="0"/>
              <a:t> to just the elements from the given array that </a:t>
            </a:r>
            <a:r>
              <a:rPr lang="en-US" sz="2400" u="sng" dirty="0" smtClean="0"/>
              <a:t>pass the test</a:t>
            </a:r>
            <a:r>
              <a:rPr lang="en-US" sz="2400" dirty="0" smtClean="0"/>
              <a:t> implemented by the provided function.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3378875"/>
            <a:ext cx="8229600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"Joe"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"Matt"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result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names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filter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length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result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[ 'Ngo', 'Joe' ]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4495800"/>
            <a:ext cx="26098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Destructuring</a:t>
            </a:r>
            <a:r>
              <a:rPr lang="en-US" dirty="0" smtClean="0"/>
              <a:t>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i="1" dirty="0" err="1" smtClean="0">
                <a:solidFill>
                  <a:srgbClr val="C00000"/>
                </a:solidFill>
              </a:rPr>
              <a:t>destructuring</a:t>
            </a:r>
            <a:r>
              <a:rPr lang="en-US" sz="2400" i="1" dirty="0" smtClean="0">
                <a:solidFill>
                  <a:srgbClr val="C00000"/>
                </a:solidFill>
              </a:rPr>
              <a:t> assignment syntax</a:t>
            </a:r>
            <a:r>
              <a:rPr lang="en-US" sz="2400" dirty="0" smtClean="0"/>
              <a:t> is a JavaScript expression that makes it possible to </a:t>
            </a:r>
            <a:r>
              <a:rPr lang="en-US" sz="2400" u="sng" dirty="0" smtClean="0"/>
              <a:t>unpack values from arrays</a:t>
            </a:r>
            <a:r>
              <a:rPr lang="en-US" sz="2400" dirty="0" smtClean="0"/>
              <a:t>, or properties from objects, </a:t>
            </a:r>
            <a:r>
              <a:rPr lang="en-US" sz="2400" u="sng" dirty="0" smtClean="0"/>
              <a:t>into distinct variables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3081278"/>
            <a:ext cx="82296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10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20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...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Array [30, 40, 50]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3276600"/>
            <a:ext cx="2559050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Spread </a:t>
            </a:r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The </a:t>
            </a:r>
            <a:r>
              <a:rPr lang="en-US" sz="2200" b="1" dirty="0" smtClean="0"/>
              <a:t>spread (...)</a:t>
            </a:r>
            <a:r>
              <a:rPr lang="en-US" sz="2200" dirty="0" smtClean="0"/>
              <a:t> syntax allows an </a:t>
            </a:r>
            <a:r>
              <a:rPr lang="en-US" sz="2200" dirty="0" err="1" smtClean="0"/>
              <a:t>iterable</a:t>
            </a:r>
            <a:r>
              <a:rPr lang="en-US" sz="2200" dirty="0" smtClean="0"/>
              <a:t>, such as an array or string, to be expanded in places where zero or more arguments (for function calls) or elements (for array literals) are </a:t>
            </a:r>
            <a:r>
              <a:rPr lang="en-US" sz="2200" dirty="0" smtClean="0"/>
              <a:t>expected.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82296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z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z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numbers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...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numbers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6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Spread </a:t>
            </a:r>
            <a:r>
              <a:rPr lang="en-US" dirty="0" smtClean="0"/>
              <a:t>Syntax in Object Literal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 </a:t>
            </a:r>
            <a:r>
              <a:rPr lang="en-US" sz="2000" dirty="0" smtClean="0"/>
              <a:t>an object literal, the spread syntax enumerates the properties of an object and </a:t>
            </a:r>
            <a:r>
              <a:rPr lang="en-US" sz="2000" i="1" dirty="0" smtClean="0">
                <a:solidFill>
                  <a:srgbClr val="C00000"/>
                </a:solidFill>
              </a:rPr>
              <a:t>adds</a:t>
            </a:r>
            <a:r>
              <a:rPr lang="en-US" sz="2000" dirty="0" smtClean="0"/>
              <a:t> the key-value pairs  to </a:t>
            </a:r>
            <a:r>
              <a:rPr lang="en-US" sz="2000" dirty="0" smtClean="0"/>
              <a:t>(or </a:t>
            </a:r>
            <a:r>
              <a:rPr lang="en-US" sz="2000" i="1" dirty="0" smtClean="0">
                <a:solidFill>
                  <a:srgbClr val="C00000"/>
                </a:solidFill>
              </a:rPr>
              <a:t>merges</a:t>
            </a:r>
            <a:r>
              <a:rPr lang="en-US" sz="2000" dirty="0" smtClean="0"/>
              <a:t> </a:t>
            </a:r>
            <a:r>
              <a:rPr lang="en-US" sz="2000" dirty="0" smtClean="0"/>
              <a:t>the key-value </a:t>
            </a:r>
            <a:r>
              <a:rPr lang="en-US" sz="2000" dirty="0" smtClean="0"/>
              <a:t>pairs by order with) </a:t>
            </a:r>
            <a:r>
              <a:rPr lang="en-US" sz="2000" dirty="0" smtClean="0"/>
              <a:t>the object being created.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57200" y="2861370"/>
            <a:ext cx="8229600" cy="35394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bien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'Ngo Bien'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occupation: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'Software Developer'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age: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44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website: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'https://example.com'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bien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bill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   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...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bien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   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'Bill Gates'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   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website: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'https://microsoft.com'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bill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3048000"/>
            <a:ext cx="2657475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goal of </a:t>
            </a:r>
            <a:r>
              <a:rPr lang="en-US" sz="2400" i="1" dirty="0" smtClean="0">
                <a:solidFill>
                  <a:srgbClr val="C00000"/>
                </a:solidFill>
              </a:rPr>
              <a:t>modular programming</a:t>
            </a:r>
            <a:r>
              <a:rPr lang="en-US" sz="2400" dirty="0" smtClean="0"/>
              <a:t> is to allow </a:t>
            </a:r>
            <a:r>
              <a:rPr lang="en-US" sz="2400" u="sng" dirty="0" smtClean="0"/>
              <a:t>large</a:t>
            </a:r>
            <a:r>
              <a:rPr lang="en-US" sz="2400" dirty="0" smtClean="0"/>
              <a:t> programs to be </a:t>
            </a:r>
            <a:r>
              <a:rPr lang="en-US" sz="2400" u="sng" dirty="0" smtClean="0"/>
              <a:t>assembled</a:t>
            </a:r>
            <a:r>
              <a:rPr lang="en-US" sz="2400" dirty="0" smtClean="0"/>
              <a:t> using modules of code.</a:t>
            </a:r>
          </a:p>
          <a:p>
            <a:r>
              <a:rPr lang="en-US" sz="2400" dirty="0" smtClean="0"/>
              <a:t>As a practical matter, </a:t>
            </a:r>
            <a:r>
              <a:rPr lang="en-US" sz="2400" i="1" dirty="0" smtClean="0">
                <a:solidFill>
                  <a:srgbClr val="C00000"/>
                </a:solidFill>
              </a:rPr>
              <a:t>modularity</a:t>
            </a:r>
            <a:r>
              <a:rPr lang="en-US" sz="2400" dirty="0" smtClean="0"/>
              <a:t> is mostly about </a:t>
            </a:r>
            <a:r>
              <a:rPr lang="en-US" sz="2400" u="sng" dirty="0" smtClean="0"/>
              <a:t>encapsulating</a:t>
            </a:r>
            <a:r>
              <a:rPr lang="en-US" sz="2400" dirty="0" smtClean="0"/>
              <a:t> or </a:t>
            </a:r>
            <a:r>
              <a:rPr lang="en-US" sz="2400" u="sng" dirty="0" smtClean="0"/>
              <a:t>hiding private implementation details</a:t>
            </a:r>
            <a:r>
              <a:rPr lang="en-US" sz="2400" dirty="0" smtClean="0"/>
              <a:t> and keeping the global namespace tidy so that modules cannot accidentally modify the variables, functions, and classes defined by other modules.</a:t>
            </a:r>
          </a:p>
        </p:txBody>
      </p:sp>
      <p:pic>
        <p:nvPicPr>
          <p:cNvPr id="20482" name="Picture 2" descr="https://encrypted-tbn0.gstatic.com/images?q=tbn:ANd9GcRIgSddHF81ju3HanA6FDFKQEHWHk85pyBYb9qjCpYLcYIsKzCp8PcadYk4XutCBoH0pnI&amp;usqp=CA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4572000"/>
            <a:ext cx="1785938" cy="17859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 Variables (I)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371600"/>
            <a:ext cx="7924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"Hi"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4038600"/>
            <a:ext cx="7924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from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66221" y="16002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script1.js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53200" y="42672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script2.js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 Variables (II)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771471"/>
            <a:ext cx="79248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510677"/>
            <a:ext cx="7924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Global Variables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/script1.js"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/script2.js"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/app.js"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39000" y="1950184"/>
            <a:ext cx="111761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app.js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53200" y="3836313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index.html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4648200"/>
            <a:ext cx="1470025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 smtClean="0"/>
              <a:t>Bundle of Variables and Methods (I)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609600" y="1447800"/>
            <a:ext cx="79248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"Hi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4038600"/>
            <a:ext cx="79248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from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66221" y="16764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script1.js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53200" y="42672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script2.js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 smtClean="0"/>
              <a:t>Bundle of Variables and Methods (II)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609600" y="1771471"/>
            <a:ext cx="79248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510677"/>
            <a:ext cx="7924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Bundle of Variables and Methods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/script1.js"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/script2.js"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/app.js"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39000" y="1950184"/>
            <a:ext cx="111761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app.js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42421" y="33528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index.html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5029200"/>
            <a:ext cx="14986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Private Variables (I)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447800"/>
            <a:ext cx="7924800" cy="25545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"Hi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+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4038600"/>
            <a:ext cx="7924800" cy="25545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 from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66221" y="16764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script1.js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53200" y="42672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script2.js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Private Variables (II)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771471"/>
            <a:ext cx="79248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JaneGreeter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510677"/>
            <a:ext cx="7924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Bundle of Variables and Methods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/script1.js"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/script2.js"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/app.js"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39000" y="1950184"/>
            <a:ext cx="111761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app.js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42421" y="33528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index.html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5029200"/>
            <a:ext cx="14986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Immediately Invoked Function Expression (IIFE)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2286000"/>
            <a:ext cx="81534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 Ngo."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})();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})(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"Web Application Development"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2514600"/>
            <a:ext cx="27051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981200" y="5410200"/>
            <a:ext cx="4981685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Avoid polluting the global namespace.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Another IIFE Example (I)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64017"/>
            <a:ext cx="7924800" cy="443198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"Hi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+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NgoGreeter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})(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66221" y="1892617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script1.js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Another IIFE Example (II)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7924800" cy="415498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getGreeting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 from 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JaneGreeter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})(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"Jane"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53200" y="19050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script2.js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Another IIFE Example (III)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771471"/>
            <a:ext cx="8153400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ngoGreeter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janeGreeter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 ngoGreeter2 = new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NgoGreeter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("Ngo2");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3510677"/>
            <a:ext cx="81534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Immediately Invoked Function Expression (IIFE)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/script1.js"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/script2.js"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/app.js"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62800" y="1950184"/>
            <a:ext cx="111761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app.js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66221" y="3352800"/>
            <a:ext cx="17395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index.html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5029200"/>
            <a:ext cx="14986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Revisit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hlinkClick r:id="rId2"/>
              </a:rPr>
              <a:t>https://dmitripavlutin.com/simple-explanation-of-javascript-closures/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scope</a:t>
            </a:r>
            <a:r>
              <a:rPr lang="en-US" sz="2200" dirty="0" smtClean="0"/>
              <a:t> is a space policy that rules the </a:t>
            </a:r>
            <a:r>
              <a:rPr lang="en-US" sz="2200" u="sng" dirty="0" smtClean="0"/>
              <a:t>accessibility of variables</a:t>
            </a:r>
            <a:r>
              <a:rPr lang="en-US" sz="2200" dirty="0" smtClean="0"/>
              <a:t>.</a:t>
            </a:r>
          </a:p>
          <a:p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533400" y="2971800"/>
            <a:ext cx="81534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foo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The function scope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logs 0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foo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Uncaught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ReferenceError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: count is not defined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Scopes Nesting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Scopes can be nested.</a:t>
            </a:r>
          </a:p>
          <a:p>
            <a:r>
              <a:rPr lang="en-US" sz="2000" dirty="0" smtClean="0"/>
              <a:t>The variables of the outer scope are accessible inside the inner scope.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533400" y="2590800"/>
            <a:ext cx="8153400" cy="36933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outerFunc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the outer scope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outerVar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'I am outside!'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innerFunc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the inner scope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outerVar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=&gt; logs "I am outside!"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innerFunc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outerFunc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Lexical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JavaScript implements a scoping mechanism named </a:t>
            </a:r>
            <a:r>
              <a:rPr lang="en-US" sz="2400" i="1" dirty="0" smtClean="0">
                <a:solidFill>
                  <a:srgbClr val="C00000"/>
                </a:solidFill>
              </a:rPr>
              <a:t>lexical scoping</a:t>
            </a:r>
            <a:r>
              <a:rPr lang="en-US" sz="2400" dirty="0" smtClean="0"/>
              <a:t> (or </a:t>
            </a:r>
            <a:r>
              <a:rPr lang="en-US" sz="2400" i="1" dirty="0" smtClean="0">
                <a:solidFill>
                  <a:srgbClr val="C00000"/>
                </a:solidFill>
              </a:rPr>
              <a:t>static scoping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Lexical scoping means that the accessibility of variables is determined by the </a:t>
            </a:r>
            <a:r>
              <a:rPr lang="en-US" sz="2400" i="1" dirty="0" smtClean="0">
                <a:solidFill>
                  <a:srgbClr val="C00000"/>
                </a:solidFill>
              </a:rPr>
              <a:t>position</a:t>
            </a:r>
            <a:r>
              <a:rPr lang="en-US" sz="2400" dirty="0" smtClean="0"/>
              <a:t> of the variables inside the nested scopes.</a:t>
            </a:r>
          </a:p>
          <a:p>
            <a:r>
              <a:rPr lang="en-US" sz="2400" dirty="0" smtClean="0"/>
              <a:t>It's called lexical (or static) because </a:t>
            </a:r>
            <a:r>
              <a:rPr lang="en-US" sz="2400" i="1" dirty="0" smtClean="0">
                <a:solidFill>
                  <a:srgbClr val="C00000"/>
                </a:solidFill>
              </a:rPr>
              <a:t>the engine</a:t>
            </a:r>
            <a:r>
              <a:rPr lang="en-US" sz="2400" dirty="0" smtClean="0"/>
              <a:t> determines (at </a:t>
            </a:r>
            <a:r>
              <a:rPr lang="en-US" sz="2400" dirty="0" err="1" smtClean="0"/>
              <a:t>lexing</a:t>
            </a:r>
            <a:r>
              <a:rPr lang="en-US" sz="2400" dirty="0" smtClean="0"/>
              <a:t> time) the nesting of scopes just by looking at the JavaScript source code, without executing it (lexical analysis).</a:t>
            </a:r>
          </a:p>
          <a:p>
            <a:r>
              <a:rPr lang="en-US" sz="2400" i="1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lexical scope</a:t>
            </a:r>
            <a:r>
              <a:rPr lang="en-US" sz="2400" dirty="0" smtClean="0"/>
              <a:t> consists of outer scopes determined statically.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Closure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524000"/>
            <a:ext cx="8153400" cy="424731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outerFunc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outerVar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'I am outside!'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innerFunc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outerVar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=&gt; logs "I am outside!"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innerFunc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exec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myInnerFunc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outerFunc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myInnerFunc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CDCAA"/>
                </a:solidFill>
                <a:latin typeface="Consolas"/>
              </a:rPr>
              <a:t>exec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2800" y="3124200"/>
            <a:ext cx="56388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 smtClean="0">
                <a:latin typeface="Consolas" pitchFamily="49" charset="0"/>
              </a:rPr>
              <a:t>outerFunc</a:t>
            </a:r>
            <a:r>
              <a:rPr lang="en-US" b="1" dirty="0" smtClean="0">
                <a:latin typeface="Consolas" pitchFamily="49" charset="0"/>
              </a:rPr>
              <a:t>()</a:t>
            </a:r>
            <a:r>
              <a:rPr lang="en-US" dirty="0" smtClean="0"/>
              <a:t> is executed.</a:t>
            </a:r>
          </a:p>
          <a:p>
            <a:r>
              <a:rPr lang="en-US" dirty="0" smtClean="0"/>
              <a:t>The </a:t>
            </a:r>
            <a:r>
              <a:rPr lang="en-US" b="1" dirty="0" err="1" smtClean="0">
                <a:latin typeface="Consolas" pitchFamily="49" charset="0"/>
              </a:rPr>
              <a:t>outerVar</a:t>
            </a:r>
            <a:r>
              <a:rPr lang="en-US" dirty="0" smtClean="0"/>
              <a:t> should have been removed from memory.</a:t>
            </a:r>
          </a:p>
          <a:p>
            <a:r>
              <a:rPr lang="en-US" dirty="0" smtClean="0"/>
              <a:t>However </a:t>
            </a:r>
            <a:r>
              <a:rPr lang="en-US" b="1" dirty="0" err="1" smtClean="0">
                <a:latin typeface="Consolas" pitchFamily="49" charset="0"/>
              </a:rPr>
              <a:t>innerFunc</a:t>
            </a:r>
            <a:r>
              <a:rPr lang="en-US" b="1" dirty="0" smtClean="0">
                <a:latin typeface="Consolas" pitchFamily="49" charset="0"/>
              </a:rPr>
              <a:t>()</a:t>
            </a:r>
            <a:r>
              <a:rPr lang="en-US" dirty="0" smtClean="0"/>
              <a:t> execution can still access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4724400"/>
            <a:ext cx="56388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closure</a:t>
            </a:r>
            <a:r>
              <a:rPr lang="en-US" dirty="0" smtClean="0">
                <a:latin typeface="+mj-lt"/>
              </a:rPr>
              <a:t> is a function that remembers the variables from the place where it is defined, regardless of where it is executed later.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934670"/>
            <a:ext cx="73152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The </a:t>
            </a:r>
            <a:r>
              <a:rPr lang="en-US" i="1" dirty="0" smtClean="0">
                <a:solidFill>
                  <a:srgbClr val="C00000"/>
                </a:solidFill>
              </a:rPr>
              <a:t>closure</a:t>
            </a:r>
            <a:r>
              <a:rPr lang="en-US" dirty="0" smtClean="0"/>
              <a:t> is a function that accesses its lexical scope even executed outside of its lexical scope.</a:t>
            </a: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Understand the Closure?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730276"/>
            <a:ext cx="81534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})();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4724400"/>
            <a:ext cx="80772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It makes it possible for a function to have "private" variables.</a:t>
            </a:r>
            <a:endParaRPr lang="en-US"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Closure Usage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993880"/>
            <a:ext cx="8153400" cy="34163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createElement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"button"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myButton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"Count"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body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appendChild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createElement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"span"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body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appendChild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countClicked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myButton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'click'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handleClick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countClicked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++;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myText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`You clicked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countClicked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times`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JavaScript, a </a:t>
            </a:r>
            <a:r>
              <a:rPr lang="en-US" sz="2400" i="1" dirty="0" smtClean="0">
                <a:solidFill>
                  <a:srgbClr val="C00000"/>
                </a:solidFill>
              </a:rPr>
              <a:t>module</a:t>
            </a:r>
            <a:r>
              <a:rPr lang="en-US" sz="2400" dirty="0" smtClean="0"/>
              <a:t> is simply a </a:t>
            </a:r>
            <a:r>
              <a:rPr lang="en-US" sz="2400" u="sng" dirty="0" smtClean="0"/>
              <a:t>file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purpose of a module</a:t>
            </a:r>
            <a:r>
              <a:rPr lang="en-US" sz="2400" dirty="0" smtClean="0"/>
              <a:t> is to have more modular code, where you can work with </a:t>
            </a:r>
            <a:r>
              <a:rPr lang="en-US" sz="2400" u="sng" dirty="0" smtClean="0"/>
              <a:t>smaller files</a:t>
            </a:r>
            <a:r>
              <a:rPr lang="en-US" sz="2400" dirty="0" smtClean="0"/>
              <a:t>, and import and export them so that the apps you build are more customizable and have more </a:t>
            </a:r>
            <a:r>
              <a:rPr lang="en-US" sz="2400" dirty="0" err="1" smtClean="0"/>
              <a:t>composable</a:t>
            </a:r>
            <a:r>
              <a:rPr lang="en-US" sz="2400" dirty="0" smtClean="0"/>
              <a:t> parts.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ES6  and Node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ES6 defines modules using </a:t>
            </a:r>
            <a:r>
              <a:rPr lang="en-US" sz="2400" b="1" dirty="0" smtClean="0">
                <a:latin typeface="Consolas" pitchFamily="49" charset="0"/>
              </a:rPr>
              <a:t>import</a:t>
            </a:r>
            <a:r>
              <a:rPr lang="en-US" sz="2400" dirty="0" smtClean="0"/>
              <a:t> and </a:t>
            </a:r>
            <a:r>
              <a:rPr lang="en-US" sz="2400" b="1" dirty="0" smtClean="0">
                <a:latin typeface="Consolas" pitchFamily="49" charset="0"/>
              </a:rPr>
              <a:t>export</a:t>
            </a:r>
            <a:r>
              <a:rPr lang="en-US" sz="2400" dirty="0" smtClean="0"/>
              <a:t> keywords.</a:t>
            </a:r>
          </a:p>
          <a:p>
            <a:r>
              <a:rPr lang="en-US" sz="2400" b="1" dirty="0" smtClean="0">
                <a:latin typeface="Consolas" pitchFamily="49" charset="0"/>
              </a:rPr>
              <a:t>require()</a:t>
            </a:r>
            <a:r>
              <a:rPr lang="en-US" sz="2400" dirty="0" smtClean="0"/>
              <a:t>-based modules are a fundamental part of the </a:t>
            </a:r>
            <a:r>
              <a:rPr lang="en-US" sz="2400" dirty="0" smtClean="0">
                <a:latin typeface="Consolas" pitchFamily="49" charset="0"/>
              </a:rPr>
              <a:t>Node</a:t>
            </a:r>
            <a:r>
              <a:rPr lang="en-US" sz="2400" dirty="0" smtClean="0"/>
              <a:t> programming environment but were never adopted as an official part of the JavaScript language.</a:t>
            </a:r>
            <a:endParaRPr lang="en-US" sz="2400" dirty="0"/>
          </a:p>
        </p:txBody>
      </p:sp>
      <p:pic>
        <p:nvPicPr>
          <p:cNvPr id="12290" name="Picture 2" descr="https://www.wisdomgeek.com/wp-content/uploads/2018/06/es6-modules-nodej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810000"/>
            <a:ext cx="3771900" cy="1543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ES6 Module </a:t>
            </a:r>
            <a:r>
              <a:rPr lang="en-US" dirty="0" smtClean="0">
                <a:latin typeface="Consolas" pitchFamily="49" charset="0"/>
              </a:rPr>
              <a:t>(user.js)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24000"/>
            <a:ext cx="8229600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constructor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email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password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email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email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password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password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}   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authenticate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 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`Email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user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email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 has been authenticated.`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updatePassword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`Your new password is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user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password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.`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User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{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authenticate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updatePassword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Exports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Every module can have two different types of export, </a:t>
            </a:r>
            <a:r>
              <a:rPr lang="en-US" sz="2200" b="1" dirty="0" smtClean="0"/>
              <a:t>named export</a:t>
            </a:r>
            <a:r>
              <a:rPr lang="en-US" sz="2200" dirty="0" smtClean="0"/>
              <a:t> and </a:t>
            </a:r>
            <a:r>
              <a:rPr lang="en-US" sz="2200" b="1" dirty="0" smtClean="0"/>
              <a:t>default export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You can have </a:t>
            </a:r>
            <a:r>
              <a:rPr lang="en-US" sz="2200" b="1" dirty="0" smtClean="0"/>
              <a:t>one default export</a:t>
            </a:r>
            <a:r>
              <a:rPr lang="en-US" sz="2200" dirty="0" smtClean="0"/>
              <a:t> per JavaScript module.</a:t>
            </a:r>
          </a:p>
          <a:p>
            <a:r>
              <a:rPr lang="en-US" sz="2200" b="1" dirty="0" smtClean="0"/>
              <a:t>Named exports</a:t>
            </a:r>
            <a:r>
              <a:rPr lang="en-US" sz="2200" dirty="0" smtClean="0"/>
              <a:t> are a way to export only certain parts of a given JavaScript file.</a:t>
            </a:r>
          </a:p>
          <a:p>
            <a:r>
              <a:rPr lang="en-US" sz="2200" dirty="0" smtClean="0"/>
              <a:t>If a file is a module or specifically holds a class then a default export makes sense. Usually, we can look at the file path/name and know exactly what the default export is going to be.</a:t>
            </a:r>
          </a:p>
          <a:p>
            <a:r>
              <a:rPr lang="en-US" sz="2200" dirty="0" smtClean="0"/>
              <a:t>If the file is a collection of things, then we probably won't have a default export, just a bunch of named exports.</a:t>
            </a:r>
          </a:p>
          <a:p>
            <a:r>
              <a:rPr lang="en-US" sz="2200" dirty="0" smtClean="0"/>
              <a:t>If we have to wonder which thing should be the default export in a file, then probably there shouldn't be a default export.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ES6 Module Client </a:t>
            </a:r>
            <a:r>
              <a:rPr lang="en-US" dirty="0" smtClean="0">
                <a:latin typeface="Consolas" pitchFamily="49" charset="0"/>
              </a:rPr>
              <a:t>(main.js)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8229600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Importing a module that was exported as default.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"./user.js"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6A9955"/>
                </a:solidFill>
                <a:latin typeface="Consolas"/>
              </a:rPr>
              <a:t>// Importing named exports.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authenticate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updatePassword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"./user.js"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"bien@domain.com"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"password1"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CDCAA"/>
                </a:solidFill>
                <a:latin typeface="Consolas"/>
              </a:rPr>
              <a:t>authenticate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user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password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"password2"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updatePassword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user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ES6 Module Client </a:t>
            </a:r>
            <a:r>
              <a:rPr lang="en-US" dirty="0" smtClean="0">
                <a:latin typeface="Consolas" pitchFamily="49" charset="0"/>
              </a:rPr>
              <a:t>(index.html)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82296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&lt;!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doctype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JavaScript Modules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"module"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"./main.js"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3886200"/>
            <a:ext cx="5422900" cy="2171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ight Arrow 5"/>
          <p:cNvSpPr/>
          <p:nvPr/>
        </p:nvSpPr>
        <p:spPr>
          <a:xfrm>
            <a:off x="2971800" y="3886200"/>
            <a:ext cx="914400" cy="1219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Run</a:t>
            </a:r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Node.js Module </a:t>
            </a:r>
            <a:r>
              <a:rPr lang="en-US" sz="3800" dirty="0" smtClean="0">
                <a:latin typeface="Consolas" pitchFamily="49" charset="0"/>
              </a:rPr>
              <a:t>(postgresqlDB.js)</a:t>
            </a:r>
            <a:endParaRPr lang="en-US" sz="3800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876485"/>
            <a:ext cx="8229600" cy="43858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900" dirty="0" smtClean="0">
                <a:solidFill>
                  <a:srgbClr val="6A9955"/>
                </a:solidFill>
                <a:latin typeface="Consolas"/>
              </a:rPr>
              <a:t>// http://vitaly-t.github.io/pg-promise/Database.html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900" dirty="0" smtClean="0">
                <a:solidFill>
                  <a:srgbClr val="D4D4D4"/>
                </a:solidFill>
                <a:latin typeface="Consolas"/>
              </a:rPr>
            </a:br>
            <a:r>
              <a:rPr lang="en-US" sz="900" dirty="0" smtClean="0">
                <a:solidFill>
                  <a:srgbClr val="6A9955"/>
                </a:solidFill>
                <a:latin typeface="Consolas"/>
              </a:rPr>
              <a:t>// Loading and initializing the library: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err="1" smtClean="0">
                <a:solidFill>
                  <a:srgbClr val="4FC1FF"/>
                </a:solidFill>
                <a:latin typeface="Consolas"/>
              </a:rPr>
              <a:t>pgp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900" dirty="0" smtClean="0">
                <a:solidFill>
                  <a:srgbClr val="DCDCAA"/>
                </a:solidFill>
                <a:latin typeface="Consolas"/>
              </a:rPr>
              <a:t>require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900" dirty="0" smtClean="0">
                <a:solidFill>
                  <a:srgbClr val="CE9178"/>
                </a:solidFill>
                <a:latin typeface="Consolas"/>
              </a:rPr>
              <a:t>'pg-promise'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)({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900" dirty="0" smtClean="0">
                <a:solidFill>
                  <a:srgbClr val="6A9955"/>
                </a:solidFill>
                <a:latin typeface="Consolas"/>
              </a:rPr>
              <a:t>// Initialization Options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});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900" dirty="0" smtClean="0">
                <a:solidFill>
                  <a:srgbClr val="D4D4D4"/>
                </a:solidFill>
                <a:latin typeface="Consolas"/>
              </a:rPr>
            </a:br>
            <a:r>
              <a:rPr lang="en-US" sz="900" dirty="0" smtClean="0">
                <a:solidFill>
                  <a:srgbClr val="6A9955"/>
                </a:solidFill>
                <a:latin typeface="Consolas"/>
              </a:rPr>
              <a:t>// Preparing the connection details: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config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9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process</a:t>
            </a:r>
            <a:r>
              <a:rPr lang="en-US" sz="9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env</a:t>
            </a:r>
            <a:r>
              <a:rPr lang="en-US" sz="9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900" dirty="0" err="1" smtClean="0">
                <a:solidFill>
                  <a:srgbClr val="4FC1FF"/>
                </a:solidFill>
                <a:latin typeface="Consolas"/>
              </a:rPr>
              <a:t>DATABASE_URL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config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= {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connectionString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process</a:t>
            </a:r>
            <a:r>
              <a:rPr lang="en-US" sz="9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env</a:t>
            </a:r>
            <a:r>
              <a:rPr lang="en-US" sz="9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900" dirty="0" err="1" smtClean="0">
                <a:solidFill>
                  <a:srgbClr val="4FC1FF"/>
                </a:solidFill>
                <a:latin typeface="Consolas"/>
              </a:rPr>
              <a:t>DATABASE_URL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max: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smtClean="0">
                <a:solidFill>
                  <a:srgbClr val="B5CEA8"/>
                </a:solidFill>
                <a:latin typeface="Consolas"/>
              </a:rPr>
              <a:t>30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ssl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rejectUnauthorized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smtClean="0">
                <a:solidFill>
                  <a:srgbClr val="569CD6"/>
                </a:solidFill>
                <a:latin typeface="Consolas"/>
              </a:rPr>
              <a:t>false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};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900" dirty="0" smtClean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config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= {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connectionString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smtClean="0">
                <a:solidFill>
                  <a:srgbClr val="CE9178"/>
                </a:solidFill>
                <a:latin typeface="Consolas"/>
              </a:rPr>
              <a:t>'postgres://user:password@192.168.1.19:5432/database'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max: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smtClean="0">
                <a:solidFill>
                  <a:srgbClr val="B5CEA8"/>
                </a:solidFill>
                <a:latin typeface="Consolas"/>
              </a:rPr>
              <a:t>30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ssl</a:t>
            </a:r>
            <a:r>
              <a:rPr lang="en-US" sz="9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smtClean="0">
                <a:solidFill>
                  <a:srgbClr val="569CD6"/>
                </a:solidFill>
                <a:latin typeface="Consolas"/>
              </a:rPr>
              <a:t>false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};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900" dirty="0" smtClean="0">
                <a:solidFill>
                  <a:srgbClr val="D4D4D4"/>
                </a:solidFill>
                <a:latin typeface="Consolas"/>
              </a:rPr>
            </a:br>
            <a:r>
              <a:rPr lang="en-US" sz="900" dirty="0" smtClean="0">
                <a:solidFill>
                  <a:srgbClr val="6A9955"/>
                </a:solidFill>
                <a:latin typeface="Consolas"/>
              </a:rPr>
              <a:t>// Creating a new database instance from the connection details: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900" dirty="0" smtClean="0">
                <a:solidFill>
                  <a:srgbClr val="4FC1FF"/>
                </a:solidFill>
                <a:latin typeface="Consolas"/>
              </a:rPr>
              <a:t>database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900" dirty="0" err="1" smtClean="0">
                <a:solidFill>
                  <a:srgbClr val="DCDCAA"/>
                </a:solidFill>
                <a:latin typeface="Consolas"/>
              </a:rPr>
              <a:t>pgp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900" dirty="0" err="1" smtClean="0">
                <a:solidFill>
                  <a:srgbClr val="9CDCFE"/>
                </a:solidFill>
                <a:latin typeface="Consolas"/>
              </a:rPr>
              <a:t>config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900" dirty="0" smtClean="0">
                <a:solidFill>
                  <a:srgbClr val="D4D4D4"/>
                </a:solidFill>
                <a:latin typeface="Consolas"/>
              </a:rPr>
            </a:br>
            <a:r>
              <a:rPr lang="en-US" sz="900" dirty="0" smtClean="0">
                <a:solidFill>
                  <a:srgbClr val="6A9955"/>
                </a:solidFill>
                <a:latin typeface="Consolas"/>
              </a:rPr>
              <a:t>// Exporting the database object for shared use:</a:t>
            </a:r>
            <a:endParaRPr lang="en-US" sz="9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900" dirty="0" err="1" smtClean="0">
                <a:solidFill>
                  <a:srgbClr val="4FC1FF"/>
                </a:solidFill>
                <a:latin typeface="Consolas"/>
              </a:rPr>
              <a:t>module</a:t>
            </a:r>
            <a:r>
              <a:rPr lang="en-US" sz="9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900" dirty="0" err="1" smtClean="0">
                <a:solidFill>
                  <a:srgbClr val="4FC1FF"/>
                </a:solidFill>
                <a:latin typeface="Consolas"/>
              </a:rPr>
              <a:t>exports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900" dirty="0" smtClean="0">
                <a:solidFill>
                  <a:srgbClr val="4FC1FF"/>
                </a:solidFill>
                <a:latin typeface="Consolas"/>
              </a:rPr>
              <a:t>database</a:t>
            </a:r>
            <a:r>
              <a:rPr lang="en-US" sz="900" dirty="0" smtClean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</a:rPr>
              <a:t>Node.js Module Client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133600"/>
            <a:ext cx="82296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database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require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'./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postgresqlDB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b="0" dirty="0" smtClean="0">
                <a:solidFill>
                  <a:srgbClr val="D4D4D4"/>
                </a:solidFill>
                <a:latin typeface="Consolas"/>
              </a:rPr>
              <a:t>...</a:t>
            </a:r>
          </a:p>
          <a:p>
            <a:endParaRPr lang="en-US" b="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getCategories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req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database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any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'select * from categories ORDER BY id ASC'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    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then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data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        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categories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[];</a:t>
            </a:r>
          </a:p>
          <a:p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...</a:t>
            </a:r>
          </a:p>
          <a:p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hlinkClick r:id="rId2"/>
              </a:rPr>
              <a:t>https://www.javascripttutorial.net/</a:t>
            </a:r>
            <a:endParaRPr lang="en-US" sz="2000" dirty="0" smtClean="0"/>
          </a:p>
          <a:p>
            <a:r>
              <a:rPr lang="en-US" sz="2000" dirty="0" smtClean="0"/>
              <a:t>Kyle Simpson (2014). You Don't Know JS - this &amp; Object Prototypes. O'Reilly Media.</a:t>
            </a:r>
          </a:p>
          <a:p>
            <a:r>
              <a:rPr lang="en-US" sz="2000" dirty="0" err="1" smtClean="0"/>
              <a:t>Addy</a:t>
            </a:r>
            <a:r>
              <a:rPr lang="en-US" sz="2000" dirty="0" smtClean="0"/>
              <a:t> </a:t>
            </a:r>
            <a:r>
              <a:rPr lang="en-US" sz="2000" dirty="0" err="1" smtClean="0"/>
              <a:t>Osmani</a:t>
            </a:r>
            <a:r>
              <a:rPr lang="en-US" sz="2000" dirty="0" smtClean="0"/>
              <a:t> (2012). Learning JavaScript Design Patterns. O'Reilly Media.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65760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7296</TotalTime>
  <Words>2572</Words>
  <Application>Microsoft Office PowerPoint</Application>
  <PresentationFormat>On-screen Show (4:3)</PresentationFormat>
  <Paragraphs>864</Paragraphs>
  <Slides>82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3" baseType="lpstr">
      <vt:lpstr>Office Theme</vt:lpstr>
      <vt:lpstr>Objects, Functions and Modules</vt:lpstr>
      <vt:lpstr>Objectives</vt:lpstr>
      <vt:lpstr>Contents</vt:lpstr>
      <vt:lpstr>References</vt:lpstr>
      <vt:lpstr>The this Keyword</vt:lpstr>
      <vt:lpstr>Create Objects with new</vt:lpstr>
      <vt:lpstr>Examples of Creating Objects with new</vt:lpstr>
      <vt:lpstr>new vs. Object Literals {}</vt:lpstr>
      <vt:lpstr>Declare an Object using function</vt:lpstr>
      <vt:lpstr>Quiz (Initialization without new)</vt:lpstr>
      <vt:lpstr>Function Constructors</vt:lpstr>
      <vt:lpstr>The prototype Object</vt:lpstr>
      <vt:lpstr>Quiz</vt:lpstr>
      <vt:lpstr>Slide 14</vt:lpstr>
      <vt:lpstr>Create Objects with Object.create()</vt:lpstr>
      <vt:lpstr>Extend an Object with Object.assign()</vt:lpstr>
      <vt:lpstr>Inheritance: Reuse Functions</vt:lpstr>
      <vt:lpstr>Inheritance: Use an Object as Prototype</vt:lpstr>
      <vt:lpstr>The Prototypal Pattern</vt:lpstr>
      <vt:lpstr>The Constructor Pattern</vt:lpstr>
      <vt:lpstr>JavaScript Inheritance: valueOf</vt:lpstr>
      <vt:lpstr>The prototype Property</vt:lpstr>
      <vt:lpstr>Modify Prototype</vt:lpstr>
      <vt:lpstr>Object Definition Pattern</vt:lpstr>
      <vt:lpstr>Prototypal Inheritance</vt:lpstr>
      <vt:lpstr>Why Use Inheritance?</vt:lpstr>
      <vt:lpstr>Class vs. Prototypal Inheritance</vt:lpstr>
      <vt:lpstr>Why Use Objects?</vt:lpstr>
      <vt:lpstr>Notes</vt:lpstr>
      <vt:lpstr>Slide 30</vt:lpstr>
      <vt:lpstr>Strict Mode</vt:lpstr>
      <vt:lpstr>Execution Context</vt:lpstr>
      <vt:lpstr>Function Execution Context: Creation Phase</vt:lpstr>
      <vt:lpstr>Function Execution Context: Execution Phase</vt:lpstr>
      <vt:lpstr>Arrow Functions</vt:lpstr>
      <vt:lpstr>Arrow Function Examples</vt:lpstr>
      <vt:lpstr>Object Literals and this</vt:lpstr>
      <vt:lpstr>A Method to Fix the Issue</vt:lpstr>
      <vt:lpstr>Use Arrow Function</vt:lpstr>
      <vt:lpstr>Arrow Functions vs. Other Functions</vt:lpstr>
      <vt:lpstr>Why Arrow Functions? (I)</vt:lpstr>
      <vt:lpstr>Why Arrow Functions? (II)</vt:lpstr>
      <vt:lpstr>Slide 43</vt:lpstr>
      <vt:lpstr>Arrays</vt:lpstr>
      <vt:lpstr>Arrays and Types</vt:lpstr>
      <vt:lpstr>Arrays and Objects and Loop</vt:lpstr>
      <vt:lpstr>Array Functions: forEach</vt:lpstr>
      <vt:lpstr>Array Functions: map</vt:lpstr>
      <vt:lpstr>Array Functions: filter</vt:lpstr>
      <vt:lpstr>Destructuring Assignment</vt:lpstr>
      <vt:lpstr>Spread Syntax</vt:lpstr>
      <vt:lpstr>Spread Syntax in Object Literal</vt:lpstr>
      <vt:lpstr>Slide 53</vt:lpstr>
      <vt:lpstr>Modules</vt:lpstr>
      <vt:lpstr>Global Variables (I)</vt:lpstr>
      <vt:lpstr>Global Variables (II)</vt:lpstr>
      <vt:lpstr>Bundle of Variables and Methods (I)</vt:lpstr>
      <vt:lpstr>Bundle of Variables and Methods (II)</vt:lpstr>
      <vt:lpstr>Private Variables (I)</vt:lpstr>
      <vt:lpstr>Private Variables (II)</vt:lpstr>
      <vt:lpstr>Immediately Invoked Function Expression (IIFE)</vt:lpstr>
      <vt:lpstr>Another IIFE Example (I)</vt:lpstr>
      <vt:lpstr>Another IIFE Example (II)</vt:lpstr>
      <vt:lpstr>Another IIFE Example (III)</vt:lpstr>
      <vt:lpstr>Revisit Scope</vt:lpstr>
      <vt:lpstr>Scopes Nesting</vt:lpstr>
      <vt:lpstr>The Lexical Scope</vt:lpstr>
      <vt:lpstr>The Closure</vt:lpstr>
      <vt:lpstr>Why Understand the Closure?</vt:lpstr>
      <vt:lpstr>The Closure Usage Example</vt:lpstr>
      <vt:lpstr>Slide 71</vt:lpstr>
      <vt:lpstr>Modules</vt:lpstr>
      <vt:lpstr>ES6  and Node Modules</vt:lpstr>
      <vt:lpstr>ES6 Module (user.js)</vt:lpstr>
      <vt:lpstr>Module Exports</vt:lpstr>
      <vt:lpstr>ES6 Module Client (main.js)</vt:lpstr>
      <vt:lpstr>ES6 Module Client (index.html)</vt:lpstr>
      <vt:lpstr>Slide 78</vt:lpstr>
      <vt:lpstr>Node.js Module (postgresqlDB.js)</vt:lpstr>
      <vt:lpstr>Node.js Module Client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3554</cp:revision>
  <dcterms:created xsi:type="dcterms:W3CDTF">2009-01-22T10:11:40Z</dcterms:created>
  <dcterms:modified xsi:type="dcterms:W3CDTF">2024-01-21T20:40:16Z</dcterms:modified>
</cp:coreProperties>
</file>