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6"/>
  </p:notesMasterIdLst>
  <p:sldIdLst>
    <p:sldId id="499" r:id="rId2"/>
    <p:sldId id="500" r:id="rId3"/>
    <p:sldId id="501" r:id="rId4"/>
    <p:sldId id="502" r:id="rId5"/>
    <p:sldId id="519" r:id="rId6"/>
    <p:sldId id="520" r:id="rId7"/>
    <p:sldId id="521" r:id="rId8"/>
    <p:sldId id="524" r:id="rId9"/>
    <p:sldId id="525" r:id="rId10"/>
    <p:sldId id="523" r:id="rId11"/>
    <p:sldId id="450" r:id="rId12"/>
    <p:sldId id="451" r:id="rId13"/>
    <p:sldId id="456" r:id="rId14"/>
    <p:sldId id="457" r:id="rId15"/>
    <p:sldId id="458" r:id="rId16"/>
    <p:sldId id="461" r:id="rId17"/>
    <p:sldId id="462" r:id="rId18"/>
    <p:sldId id="463" r:id="rId19"/>
    <p:sldId id="503" r:id="rId20"/>
    <p:sldId id="504" r:id="rId21"/>
    <p:sldId id="505" r:id="rId22"/>
    <p:sldId id="508" r:id="rId23"/>
    <p:sldId id="509" r:id="rId24"/>
    <p:sldId id="507" r:id="rId25"/>
    <p:sldId id="510" r:id="rId26"/>
    <p:sldId id="511" r:id="rId27"/>
    <p:sldId id="512" r:id="rId28"/>
    <p:sldId id="513" r:id="rId29"/>
    <p:sldId id="514" r:id="rId30"/>
    <p:sldId id="515" r:id="rId31"/>
    <p:sldId id="516" r:id="rId32"/>
    <p:sldId id="517" r:id="rId33"/>
    <p:sldId id="518" r:id="rId34"/>
    <p:sldId id="343" r:id="rId3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744" autoAdjust="0"/>
    <p:restoredTop sz="94667" autoAdjust="0"/>
  </p:normalViewPr>
  <p:slideViewPr>
    <p:cSldViewPr>
      <p:cViewPr>
        <p:scale>
          <a:sx n="50" d="100"/>
          <a:sy n="50" d="100"/>
        </p:scale>
        <p:origin x="-1582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4/16/2026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app.example.com/index.html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/Users/bien/index.html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smtClean="0"/>
              <a:t>Production</a:t>
            </a:r>
            <a:endParaRPr lang="en-US" sz="6000" dirty="0" smtClean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752600"/>
            <a:ext cx="5715000" cy="4038600"/>
          </a:xfrm>
        </p:spPr>
        <p:txBody>
          <a:bodyPr/>
          <a:lstStyle/>
          <a:p>
            <a:pPr marL="514350" indent="-514350">
              <a:buFont typeface="Wingdings" pitchFamily="2" charset="2"/>
              <a:buChar char="Ø"/>
            </a:pPr>
            <a:endParaRPr lang="en-US" sz="2400" i="1" dirty="0" smtClean="0">
              <a:solidFill>
                <a:srgbClr val="C00000"/>
              </a:solidFill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References</a:t>
            </a:r>
            <a:endParaRPr lang="en-US" dirty="0"/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0" y="1676400"/>
            <a:ext cx="2724150" cy="4133850"/>
          </a:xfrm>
          <a:prstGeom prst="rect">
            <a:avLst/>
          </a:prstGeom>
          <a:noFill/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638800" cy="4876800"/>
          </a:xfrm>
        </p:spPr>
        <p:txBody>
          <a:bodyPr/>
          <a:lstStyle/>
          <a:p>
            <a:r>
              <a:rPr lang="en-US" sz="2400" dirty="0" err="1" smtClean="0"/>
              <a:t>Kirupa</a:t>
            </a:r>
            <a:r>
              <a:rPr lang="en-US" sz="2400" dirty="0" smtClean="0"/>
              <a:t> </a:t>
            </a:r>
            <a:r>
              <a:rPr lang="en-US" sz="2400" dirty="0" err="1" smtClean="0"/>
              <a:t>Chinnathambi</a:t>
            </a:r>
            <a:r>
              <a:rPr lang="en-US" sz="2400" dirty="0" smtClean="0"/>
              <a:t> (2018). Learning React: A Hands-On Guide to Building Web Applications Using React and </a:t>
            </a:r>
            <a:r>
              <a:rPr lang="en-US" sz="2400" dirty="0" err="1" smtClean="0"/>
              <a:t>Redux</a:t>
            </a:r>
            <a:r>
              <a:rPr lang="en-US" sz="2400" dirty="0" smtClean="0"/>
              <a:t>. Addison-Wesley Professional.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Node.js Web App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Add Environment Variables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my-react-app/ </a:t>
            </a:r>
            <a:br>
              <a:rPr lang="en-US" sz="2400" dirty="0" smtClean="0"/>
            </a:br>
            <a:r>
              <a:rPr lang="en-US" sz="2400" dirty="0" smtClean="0"/>
              <a:t>|-node-modules/</a:t>
            </a:r>
            <a:br>
              <a:rPr lang="en-US" sz="2400" dirty="0" smtClean="0"/>
            </a:br>
            <a:r>
              <a:rPr lang="en-US" sz="2400" dirty="0" smtClean="0"/>
              <a:t>|-</a:t>
            </a:r>
            <a:r>
              <a:rPr lang="en-US" sz="2400" dirty="0" err="1" smtClean="0"/>
              <a:t>src</a:t>
            </a:r>
            <a:r>
              <a:rPr lang="en-US" sz="2400" dirty="0" smtClean="0"/>
              <a:t>/</a:t>
            </a:r>
            <a:br>
              <a:rPr lang="en-US" sz="2400" dirty="0" smtClean="0"/>
            </a:br>
            <a:r>
              <a:rPr lang="en-US" sz="2400" dirty="0" smtClean="0"/>
              <a:t>|-public/</a:t>
            </a:r>
            <a:br>
              <a:rPr lang="en-US" sz="2400" dirty="0" smtClean="0"/>
            </a:br>
            <a:r>
              <a:rPr lang="en-US" sz="2400" b="1" dirty="0" smtClean="0"/>
              <a:t>|-.</a:t>
            </a:r>
            <a:r>
              <a:rPr lang="en-US" sz="2400" b="1" dirty="0" err="1" smtClean="0"/>
              <a:t>env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dirty="0" smtClean="0"/>
              <a:t>|-.</a:t>
            </a:r>
            <a:r>
              <a:rPr lang="en-US" sz="2400" dirty="0" err="1" smtClean="0"/>
              <a:t>gitignore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|-</a:t>
            </a:r>
            <a:r>
              <a:rPr lang="en-US" sz="2400" dirty="0" err="1" smtClean="0"/>
              <a:t>package.json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|-</a:t>
            </a:r>
            <a:r>
              <a:rPr lang="en-US" sz="2400" dirty="0" err="1" smtClean="0"/>
              <a:t>package.lock.json</a:t>
            </a:r>
            <a:r>
              <a:rPr lang="en-US" sz="2400" dirty="0" smtClean="0"/>
              <a:t>.</a:t>
            </a:r>
            <a:br>
              <a:rPr lang="en-US" sz="2400" dirty="0" smtClean="0"/>
            </a:br>
            <a:r>
              <a:rPr lang="en-US" sz="2400" dirty="0" smtClean="0"/>
              <a:t>|-</a:t>
            </a:r>
            <a:r>
              <a:rPr lang="en-US" sz="2400" dirty="0" err="1" smtClean="0"/>
              <a:t>README.md</a:t>
            </a:r>
            <a:endParaRPr lang="en-US" sz="2400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3429000" y="4243626"/>
            <a:ext cx="5257800" cy="10156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#.</a:t>
            </a:r>
            <a:r>
              <a:rPr kumimoji="0" lang="en-US" sz="20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env</a:t>
            </a:r>
            <a:endParaRPr kumimoji="0" lang="en-US" sz="20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Arial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REACT_APP_CLIENT_ID=</a:t>
            </a: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jfjffffaddfe</a:t>
            </a: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/>
            </a:r>
            <a:b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</a:br>
            <a:r>
              <a:rPr kumimoji="0" lang="en-US" sz="200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REACT_APP_KEY=</a:t>
            </a:r>
            <a:r>
              <a:rPr kumimoji="0" lang="en-US" sz="200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Consolas" pitchFamily="49" charset="0"/>
                <a:cs typeface="Arial" pitchFamily="34" charset="0"/>
              </a:rPr>
              <a:t>aaddddawrfffvvv</a:t>
            </a: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Arial" pitchFamily="34" charset="0"/>
            </a:endParaRPr>
          </a:p>
        </p:txBody>
      </p:sp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52600" y="5310426"/>
            <a:ext cx="6934200" cy="1015663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2000" b="1" dirty="0" smtClean="0">
                <a:latin typeface="Consolas" pitchFamily="49" charset="0"/>
              </a:rPr>
              <a:t>#code</a:t>
            </a:r>
          </a:p>
          <a:p>
            <a:pPr lvl="0"/>
            <a:r>
              <a:rPr lang="en-US" sz="2000" dirty="0" smtClean="0">
                <a:latin typeface="Consolas" pitchFamily="49" charset="0"/>
              </a:rPr>
              <a:t>console.log(</a:t>
            </a:r>
            <a:r>
              <a:rPr lang="en-US" sz="2000" dirty="0" err="1" smtClean="0">
                <a:latin typeface="Consolas" pitchFamily="49" charset="0"/>
              </a:rPr>
              <a:t>process.env.REACT_APP_CLIENT_ID</a:t>
            </a:r>
            <a:r>
              <a:rPr lang="en-US" sz="2000" dirty="0" smtClean="0">
                <a:latin typeface="Consolas" pitchFamily="49" charset="0"/>
              </a:rPr>
              <a:t>); console.log(</a:t>
            </a:r>
            <a:r>
              <a:rPr lang="en-US" sz="2000" dirty="0" err="1" smtClean="0">
                <a:latin typeface="Consolas" pitchFamily="49" charset="0"/>
              </a:rPr>
              <a:t>process.env.REACT_APP_KEY</a:t>
            </a:r>
            <a:r>
              <a:rPr lang="en-US" sz="2000" dirty="0" smtClean="0">
                <a:latin typeface="Consolas" pitchFamily="49" charset="0"/>
              </a:rPr>
              <a:t>);</a:t>
            </a: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Arial" pitchFamily="34" charset="0"/>
            </a:endParaRPr>
          </a:p>
        </p:txBody>
      </p:sp>
      <p:sp>
        <p:nvSpPr>
          <p:cNvPr id="6" name="Rectangle 1"/>
          <p:cNvSpPr>
            <a:spLocks noChangeArrowheads="1"/>
          </p:cNvSpPr>
          <p:nvPr/>
        </p:nvSpPr>
        <p:spPr bwMode="auto">
          <a:xfrm>
            <a:off x="3429000" y="1328678"/>
            <a:ext cx="5257800" cy="2862322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20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#</a:t>
            </a:r>
            <a:r>
              <a:rPr lang="en-US" sz="2000" b="1" dirty="0" err="1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package.json</a:t>
            </a:r>
            <a:endParaRPr lang="en-US" sz="2000" b="1" dirty="0" smtClean="0">
              <a:solidFill>
                <a:schemeClr val="tx1"/>
              </a:solidFill>
              <a:latin typeface="Consolas" pitchFamily="49" charset="0"/>
              <a:cs typeface="Arial" pitchFamily="34" charset="0"/>
            </a:endParaRPr>
          </a:p>
          <a:p>
            <a:pPr lvl="0"/>
            <a:r>
              <a:rPr lang="en-US" sz="2000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 "dependencies": {</a:t>
            </a:r>
          </a:p>
          <a:p>
            <a:pPr lvl="0"/>
            <a:r>
              <a:rPr lang="en-US" sz="2000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    ...</a:t>
            </a:r>
          </a:p>
          <a:p>
            <a:pPr lvl="0"/>
            <a:r>
              <a:rPr lang="en-US" sz="2000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    "react": "^16.13.1",</a:t>
            </a:r>
          </a:p>
          <a:p>
            <a:pPr lvl="0"/>
            <a:r>
              <a:rPr lang="en-US" sz="2000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    "react-</a:t>
            </a:r>
            <a:r>
              <a:rPr lang="en-US" sz="2000" dirty="0" err="1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dom</a:t>
            </a:r>
            <a:r>
              <a:rPr lang="en-US" sz="2000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": "^16.13.1",</a:t>
            </a:r>
          </a:p>
          <a:p>
            <a:pPr lvl="0"/>
            <a:r>
              <a:rPr lang="en-US" sz="2000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    "react-scripts": "^3.4.3",</a:t>
            </a:r>
          </a:p>
          <a:p>
            <a:pPr lvl="0"/>
            <a:r>
              <a:rPr lang="en-US" sz="2000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    ...</a:t>
            </a:r>
          </a:p>
          <a:p>
            <a:pPr lvl="0"/>
            <a:r>
              <a:rPr lang="en-US" sz="2000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    "</a:t>
            </a:r>
            <a:r>
              <a:rPr lang="en-US" sz="2000" dirty="0" err="1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dotenv</a:t>
            </a:r>
            <a:r>
              <a:rPr lang="en-US" sz="2000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": "^8.2.0"</a:t>
            </a:r>
          </a:p>
          <a:p>
            <a:pPr lvl="0"/>
            <a:r>
              <a:rPr lang="en-US" sz="2000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  },</a:t>
            </a:r>
            <a:endParaRPr kumimoji="0" lang="en-US" sz="200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.</a:t>
            </a:r>
            <a:r>
              <a:rPr lang="en-US" dirty="0" err="1" smtClean="0"/>
              <a:t>gitignore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my-react-app/ </a:t>
            </a:r>
            <a:br>
              <a:rPr lang="en-US" sz="2400" dirty="0" smtClean="0"/>
            </a:br>
            <a:r>
              <a:rPr lang="en-US" sz="2400" dirty="0" smtClean="0"/>
              <a:t>|-node-modules/</a:t>
            </a:r>
            <a:br>
              <a:rPr lang="en-US" sz="2400" dirty="0" smtClean="0"/>
            </a:br>
            <a:r>
              <a:rPr lang="en-US" sz="2400" dirty="0" smtClean="0"/>
              <a:t>|-</a:t>
            </a:r>
            <a:r>
              <a:rPr lang="en-US" sz="2400" dirty="0" err="1" smtClean="0"/>
              <a:t>src</a:t>
            </a:r>
            <a:r>
              <a:rPr lang="en-US" sz="2400" dirty="0" smtClean="0"/>
              <a:t>/</a:t>
            </a:r>
            <a:br>
              <a:rPr lang="en-US" sz="2400" dirty="0" smtClean="0"/>
            </a:br>
            <a:r>
              <a:rPr lang="en-US" sz="2400" dirty="0" smtClean="0"/>
              <a:t>|-public/</a:t>
            </a:r>
            <a:br>
              <a:rPr lang="en-US" sz="2400" dirty="0" smtClean="0"/>
            </a:br>
            <a:r>
              <a:rPr lang="en-US" sz="2400" b="1" dirty="0" smtClean="0"/>
              <a:t>|-.</a:t>
            </a:r>
            <a:r>
              <a:rPr lang="en-US" sz="2400" b="1" dirty="0" err="1" smtClean="0"/>
              <a:t>env</a:t>
            </a:r>
            <a:r>
              <a:rPr lang="en-US" sz="2400" b="1" dirty="0" smtClean="0"/>
              <a:t/>
            </a:r>
            <a:br>
              <a:rPr lang="en-US" sz="2400" b="1" dirty="0" smtClean="0"/>
            </a:br>
            <a:r>
              <a:rPr lang="en-US" sz="2400" dirty="0" smtClean="0"/>
              <a:t>|-.</a:t>
            </a:r>
            <a:r>
              <a:rPr lang="en-US" sz="2400" dirty="0" err="1" smtClean="0"/>
              <a:t>gitignore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|-</a:t>
            </a:r>
            <a:r>
              <a:rPr lang="en-US" sz="2400" dirty="0" err="1" smtClean="0"/>
              <a:t>package.json</a:t>
            </a: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en-US" sz="2400" dirty="0" smtClean="0"/>
              <a:t>|-</a:t>
            </a:r>
            <a:r>
              <a:rPr lang="en-US" sz="2400" dirty="0" err="1" smtClean="0"/>
              <a:t>package.lock.json</a:t>
            </a:r>
            <a:r>
              <a:rPr lang="en-US" sz="2400" dirty="0" smtClean="0"/>
              <a:t>.</a:t>
            </a:r>
            <a:br>
              <a:rPr lang="en-US" sz="2400" dirty="0" smtClean="0"/>
            </a:br>
            <a:r>
              <a:rPr lang="en-US" sz="2400" dirty="0" smtClean="0"/>
              <a:t>|-</a:t>
            </a:r>
            <a:r>
              <a:rPr lang="en-US" sz="2400" dirty="0" err="1" smtClean="0"/>
              <a:t>README.md</a:t>
            </a:r>
            <a:endParaRPr lang="en-US" sz="2400" dirty="0"/>
          </a:p>
        </p:txBody>
      </p:sp>
      <p:sp>
        <p:nvSpPr>
          <p:cNvPr id="1025" name="Rectangle 1"/>
          <p:cNvSpPr>
            <a:spLocks noChangeArrowheads="1"/>
          </p:cNvSpPr>
          <p:nvPr/>
        </p:nvSpPr>
        <p:spPr bwMode="auto">
          <a:xfrm>
            <a:off x="3657600" y="1647855"/>
            <a:ext cx="5257800" cy="4616648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# dependencies </a:t>
            </a:r>
          </a:p>
          <a:p>
            <a:pPr lvl="0"/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/</a:t>
            </a:r>
            <a:r>
              <a:rPr lang="en-US" sz="1400" b="1" dirty="0" err="1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node_modules</a:t>
            </a:r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 </a:t>
            </a:r>
          </a:p>
          <a:p>
            <a:pPr lvl="0"/>
            <a:endParaRPr lang="en-US" sz="1400" b="1" dirty="0" smtClean="0">
              <a:solidFill>
                <a:schemeClr val="tx1"/>
              </a:solidFill>
              <a:latin typeface="Consolas" pitchFamily="49" charset="0"/>
              <a:cs typeface="Arial" pitchFamily="34" charset="0"/>
            </a:endParaRPr>
          </a:p>
          <a:p>
            <a:pPr lvl="0"/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# testing </a:t>
            </a:r>
          </a:p>
          <a:p>
            <a:pPr lvl="0"/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/coverage </a:t>
            </a:r>
          </a:p>
          <a:p>
            <a:pPr lvl="0"/>
            <a:endParaRPr lang="en-US" sz="1400" b="1" dirty="0" smtClean="0">
              <a:solidFill>
                <a:schemeClr val="tx1"/>
              </a:solidFill>
              <a:latin typeface="Consolas" pitchFamily="49" charset="0"/>
              <a:cs typeface="Arial" pitchFamily="34" charset="0"/>
            </a:endParaRPr>
          </a:p>
          <a:p>
            <a:pPr lvl="0"/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# production </a:t>
            </a:r>
          </a:p>
          <a:p>
            <a:pPr lvl="0"/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/build </a:t>
            </a:r>
          </a:p>
          <a:p>
            <a:pPr lvl="0"/>
            <a:endParaRPr lang="en-US" sz="1400" b="1" dirty="0" smtClean="0">
              <a:solidFill>
                <a:schemeClr val="tx1"/>
              </a:solidFill>
              <a:latin typeface="Consolas" pitchFamily="49" charset="0"/>
              <a:cs typeface="Arial" pitchFamily="34" charset="0"/>
            </a:endParaRPr>
          </a:p>
          <a:p>
            <a:pPr lvl="0"/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# misc </a:t>
            </a:r>
          </a:p>
          <a:p>
            <a:pPr lvl="0"/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.</a:t>
            </a:r>
            <a:r>
              <a:rPr lang="en-US" sz="1400" b="1" dirty="0" err="1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DS_Store</a:t>
            </a:r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 </a:t>
            </a:r>
          </a:p>
          <a:p>
            <a:pPr lvl="0"/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.</a:t>
            </a:r>
            <a:r>
              <a:rPr lang="en-US" sz="1400" b="1" dirty="0" err="1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env</a:t>
            </a:r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    </a:t>
            </a:r>
          </a:p>
          <a:p>
            <a:pPr lvl="0"/>
            <a:endParaRPr lang="en-US" sz="1400" b="1" dirty="0" smtClean="0">
              <a:solidFill>
                <a:schemeClr val="tx1"/>
              </a:solidFill>
              <a:latin typeface="Consolas" pitchFamily="49" charset="0"/>
              <a:cs typeface="Arial" pitchFamily="34" charset="0"/>
            </a:endParaRPr>
          </a:p>
          <a:p>
            <a:pPr lvl="0"/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#&lt;--------Put the custom </a:t>
            </a:r>
            <a:r>
              <a:rPr lang="en-US" sz="1400" b="1" dirty="0" err="1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env</a:t>
            </a:r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 files here </a:t>
            </a:r>
          </a:p>
          <a:p>
            <a:pPr lvl="0"/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.</a:t>
            </a:r>
            <a:r>
              <a:rPr lang="en-US" sz="1400" b="1" dirty="0" err="1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env.local</a:t>
            </a:r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 </a:t>
            </a:r>
          </a:p>
          <a:p>
            <a:pPr lvl="0"/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.</a:t>
            </a:r>
            <a:r>
              <a:rPr lang="en-US" sz="1400" b="1" dirty="0" err="1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env.development.local</a:t>
            </a:r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 </a:t>
            </a:r>
          </a:p>
          <a:p>
            <a:pPr lvl="0"/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.</a:t>
            </a:r>
            <a:r>
              <a:rPr lang="en-US" sz="1400" b="1" dirty="0" err="1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env.test.local</a:t>
            </a:r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 </a:t>
            </a:r>
          </a:p>
          <a:p>
            <a:pPr lvl="0"/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.</a:t>
            </a:r>
            <a:r>
              <a:rPr lang="en-US" sz="1400" b="1" dirty="0" err="1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env.production.local</a:t>
            </a:r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 </a:t>
            </a:r>
          </a:p>
          <a:p>
            <a:pPr lvl="0"/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npm-debug.log* </a:t>
            </a:r>
          </a:p>
          <a:p>
            <a:pPr lvl="0"/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yarn-debug.log* </a:t>
            </a:r>
          </a:p>
          <a:p>
            <a:pPr lvl="0"/>
            <a:r>
              <a:rPr lang="en-US" sz="1400" b="1" dirty="0" smtClean="0">
                <a:solidFill>
                  <a:schemeClr val="tx1"/>
                </a:solidFill>
                <a:latin typeface="Consolas" pitchFamily="49" charset="0"/>
                <a:cs typeface="Arial" pitchFamily="34" charset="0"/>
              </a:rPr>
              <a:t>yarn-error.log*</a:t>
            </a:r>
            <a:endParaRPr kumimoji="0" lang="en-US" sz="1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Consolas" pitchFamily="49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Configure CORS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In an SPA, the browser </a:t>
            </a:r>
            <a:r>
              <a:rPr lang="en-US" sz="2400" b="1" dirty="0" smtClean="0"/>
              <a:t>loads one initial HTML document</a:t>
            </a:r>
            <a:r>
              <a:rPr lang="en-US" sz="2400" dirty="0" smtClean="0"/>
              <a:t> — for example: </a:t>
            </a:r>
            <a:r>
              <a:rPr lang="en-US" sz="2400" dirty="0" smtClean="0">
                <a:hlinkClick r:id="rId2"/>
              </a:rPr>
              <a:t>https://app.example.com/index.html</a:t>
            </a:r>
            <a:endParaRPr lang="en-US" sz="2400" dirty="0" smtClean="0"/>
          </a:p>
          <a:p>
            <a:r>
              <a:rPr lang="en-US" sz="2400" dirty="0" smtClean="0"/>
              <a:t>That document’s origin is (https, app.example.com, 443).</a:t>
            </a:r>
          </a:p>
          <a:p>
            <a:r>
              <a:rPr lang="en-US" sz="2400" dirty="0" smtClean="0"/>
              <a:t>Even though the SPA dynamically changes routes and content, the browser keeps the same origin context. </a:t>
            </a:r>
          </a:p>
          <a:p>
            <a:r>
              <a:rPr lang="en-US" sz="2400" dirty="0" smtClean="0"/>
              <a:t>Even though the SPA seems to “stay in memory,” the browser still considers it a </a:t>
            </a:r>
            <a:r>
              <a:rPr lang="en-US" sz="2400" b="1" dirty="0" smtClean="0"/>
              <a:t>web document</a:t>
            </a:r>
            <a:r>
              <a:rPr lang="en-US" sz="2400" dirty="0" smtClean="0"/>
              <a:t> loaded from its original URL.</a:t>
            </a:r>
          </a:p>
          <a:p>
            <a:r>
              <a:rPr lang="en-US" sz="2400" dirty="0" smtClean="0"/>
              <a:t>For an SPA, the JavaScript’s origin is the same as the origin of the single HTML page that was initially loaded. 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Special case: "local" files (file://)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/>
              <a:t>If you open an SPA directly from your file system, e.g.:</a:t>
            </a:r>
            <a:br>
              <a:rPr lang="en-US" sz="2400" dirty="0" smtClean="0"/>
            </a:br>
            <a:r>
              <a:rPr lang="en-US" sz="2400" dirty="0" smtClean="0">
                <a:hlinkClick r:id="rId2" action="ppaction://hlinkfile"/>
              </a:rPr>
              <a:t>file:///Users/bien/index.html</a:t>
            </a:r>
            <a:r>
              <a:rPr lang="en-US" sz="2400" dirty="0" smtClean="0"/>
              <a:t> </a:t>
            </a:r>
          </a:p>
          <a:p>
            <a:r>
              <a:rPr lang="en-US" sz="2400" dirty="0" smtClean="0"/>
              <a:t>then its </a:t>
            </a:r>
            <a:r>
              <a:rPr lang="en-US" sz="2400" b="1" dirty="0" smtClean="0"/>
              <a:t>origin is "opaque"</a:t>
            </a:r>
            <a:r>
              <a:rPr lang="en-US" sz="2400" dirty="0" smtClean="0"/>
              <a:t>.</a:t>
            </a:r>
          </a:p>
          <a:p>
            <a:r>
              <a:rPr lang="en-US" sz="2400" dirty="0" smtClean="0"/>
              <a:t>Origin used by JS is </a:t>
            </a:r>
            <a:r>
              <a:rPr lang="en-US" sz="2400" b="1" dirty="0" smtClean="0"/>
              <a:t>Opaque origin</a:t>
            </a:r>
          </a:p>
          <a:p>
            <a:r>
              <a:rPr lang="en-US" sz="2400" dirty="0" smtClean="0"/>
              <a:t>Origin header value is </a:t>
            </a:r>
            <a:r>
              <a:rPr lang="en-US" sz="2400" b="1" dirty="0" smtClean="0"/>
              <a:t>Origin: null</a:t>
            </a:r>
          </a:p>
          <a:p>
            <a:r>
              <a:rPr lang="en-US" sz="2400" dirty="0" smtClean="0"/>
              <a:t>It has no host component and cannot access any network resources via CORS, unless those servers explicitly allow requests from null origin.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</a:t>
            </a:r>
            <a:r>
              <a:rPr lang="en-US" dirty="0" err="1" smtClean="0"/>
              <a:t>XMLHttpRequest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1371600"/>
            <a:ext cx="8153400" cy="5001369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1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  <a:p>
            <a:r>
              <a:rPr lang="en-US" sz="1100" dirty="0" smtClean="0">
                <a:latin typeface="Consolas" pitchFamily="49" charset="0"/>
              </a:rPr>
              <a:t>        </a:t>
            </a:r>
            <a:r>
              <a:rPr lang="en-US" sz="1100" dirty="0" err="1" smtClean="0">
                <a:latin typeface="Consolas" pitchFamily="49" charset="0"/>
              </a:rPr>
              <a:t>var</a:t>
            </a:r>
            <a:r>
              <a:rPr lang="en-US" sz="1100" dirty="0" smtClean="0">
                <a:latin typeface="Consolas" pitchFamily="49" charset="0"/>
              </a:rPr>
              <a:t> </a:t>
            </a:r>
            <a:r>
              <a:rPr lang="en-US" sz="1100" dirty="0" err="1" smtClean="0">
                <a:latin typeface="Consolas" pitchFamily="49" charset="0"/>
              </a:rPr>
              <a:t>xhr</a:t>
            </a:r>
            <a:r>
              <a:rPr lang="en-US" sz="1100" dirty="0" smtClean="0">
                <a:latin typeface="Consolas" pitchFamily="49" charset="0"/>
              </a:rPr>
              <a:t>;</a:t>
            </a:r>
          </a:p>
          <a:p>
            <a:r>
              <a:rPr lang="en-US" sz="1100" dirty="0" smtClean="0">
                <a:latin typeface="Consolas" pitchFamily="49" charset="0"/>
              </a:rPr>
              <a:t>        class </a:t>
            </a:r>
            <a:r>
              <a:rPr lang="en-US" sz="1100" dirty="0" err="1" smtClean="0">
                <a:latin typeface="Consolas" pitchFamily="49" charset="0"/>
              </a:rPr>
              <a:t>IPAddressContainer</a:t>
            </a:r>
            <a:r>
              <a:rPr lang="en-US" sz="1100" dirty="0" smtClean="0">
                <a:latin typeface="Consolas" pitchFamily="49" charset="0"/>
              </a:rPr>
              <a:t> extends </a:t>
            </a:r>
            <a:r>
              <a:rPr lang="en-US" sz="1100" dirty="0" err="1" smtClean="0">
                <a:latin typeface="Consolas" pitchFamily="49" charset="0"/>
              </a:rPr>
              <a:t>React.Component</a:t>
            </a:r>
            <a:r>
              <a:rPr lang="en-US" sz="1100" dirty="0" smtClean="0">
                <a:latin typeface="Consolas" pitchFamily="49" charset="0"/>
              </a:rPr>
              <a:t> {           </a:t>
            </a:r>
          </a:p>
          <a:p>
            <a:r>
              <a:rPr lang="en-US" sz="1100" dirty="0" smtClean="0">
                <a:latin typeface="Consolas" pitchFamily="49" charset="0"/>
              </a:rPr>
              <a:t>            constructor(props) 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super(props);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</a:t>
            </a:r>
            <a:r>
              <a:rPr lang="en-US" sz="1100" dirty="0" err="1" smtClean="0">
                <a:latin typeface="Consolas" pitchFamily="49" charset="0"/>
              </a:rPr>
              <a:t>this.state</a:t>
            </a:r>
            <a:r>
              <a:rPr lang="en-US" sz="1100" dirty="0" smtClean="0">
                <a:latin typeface="Consolas" pitchFamily="49" charset="0"/>
              </a:rPr>
              <a:t> = 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</a:t>
            </a:r>
            <a:r>
              <a:rPr lang="en-US" sz="1100" dirty="0" err="1" smtClean="0">
                <a:latin typeface="Consolas" pitchFamily="49" charset="0"/>
              </a:rPr>
              <a:t>ip_address</a:t>
            </a:r>
            <a:r>
              <a:rPr lang="en-US" sz="1100" dirty="0" smtClean="0">
                <a:latin typeface="Consolas" pitchFamily="49" charset="0"/>
              </a:rPr>
              <a:t>: "..."</a:t>
            </a:r>
          </a:p>
          <a:p>
            <a:r>
              <a:rPr lang="en-US" sz="1100" dirty="0" smtClean="0">
                <a:latin typeface="Consolas" pitchFamily="49" charset="0"/>
              </a:rPr>
              <a:t>                };</a:t>
            </a:r>
          </a:p>
          <a:p>
            <a:endParaRPr lang="en-US" sz="1100" dirty="0" smtClean="0">
              <a:latin typeface="Consolas" pitchFamily="49" charset="0"/>
            </a:endParaRPr>
          </a:p>
          <a:p>
            <a:r>
              <a:rPr lang="en-US" sz="1100" dirty="0" smtClean="0">
                <a:latin typeface="Consolas" pitchFamily="49" charset="0"/>
              </a:rPr>
              <a:t>                </a:t>
            </a:r>
            <a:r>
              <a:rPr lang="en-US" sz="1100" dirty="0" err="1" smtClean="0">
                <a:latin typeface="Consolas" pitchFamily="49" charset="0"/>
              </a:rPr>
              <a:t>this.processRequest</a:t>
            </a:r>
            <a:r>
              <a:rPr lang="en-US" sz="1100" dirty="0" smtClean="0">
                <a:latin typeface="Consolas" pitchFamily="49" charset="0"/>
              </a:rPr>
              <a:t> = </a:t>
            </a:r>
            <a:r>
              <a:rPr lang="en-US" sz="1100" dirty="0" err="1" smtClean="0">
                <a:latin typeface="Consolas" pitchFamily="49" charset="0"/>
              </a:rPr>
              <a:t>this.processRequest.bind</a:t>
            </a:r>
            <a:r>
              <a:rPr lang="en-US" sz="1100" dirty="0" smtClean="0">
                <a:latin typeface="Consolas" pitchFamily="49" charset="0"/>
              </a:rPr>
              <a:t>(this);</a:t>
            </a:r>
          </a:p>
          <a:p>
            <a:r>
              <a:rPr lang="en-US" sz="1100" dirty="0" smtClean="0">
                <a:latin typeface="Consolas" pitchFamily="49" charset="0"/>
              </a:rPr>
              <a:t>            }</a:t>
            </a:r>
          </a:p>
          <a:p>
            <a:endParaRPr lang="en-US" sz="1100" dirty="0" smtClean="0">
              <a:latin typeface="Consolas" pitchFamily="49" charset="0"/>
            </a:endParaRPr>
          </a:p>
          <a:p>
            <a:r>
              <a:rPr lang="en-US" sz="1100" dirty="0" smtClean="0">
                <a:latin typeface="Consolas" pitchFamily="49" charset="0"/>
              </a:rPr>
              <a:t>            </a:t>
            </a:r>
            <a:r>
              <a:rPr lang="en-US" sz="1100" dirty="0" err="1" smtClean="0">
                <a:latin typeface="Consolas" pitchFamily="49" charset="0"/>
              </a:rPr>
              <a:t>componentDidMount</a:t>
            </a:r>
            <a:r>
              <a:rPr lang="en-US" sz="1100" dirty="0" smtClean="0">
                <a:latin typeface="Consolas" pitchFamily="49" charset="0"/>
              </a:rPr>
              <a:t>() 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</a:t>
            </a:r>
            <a:r>
              <a:rPr lang="en-US" sz="1100" dirty="0" err="1" smtClean="0">
                <a:latin typeface="Consolas" pitchFamily="49" charset="0"/>
              </a:rPr>
              <a:t>xhr</a:t>
            </a:r>
            <a:r>
              <a:rPr lang="en-US" sz="1100" dirty="0" smtClean="0">
                <a:latin typeface="Consolas" pitchFamily="49" charset="0"/>
              </a:rPr>
              <a:t> = new </a:t>
            </a:r>
            <a:r>
              <a:rPr lang="en-US" sz="1100" b="1" dirty="0" err="1" smtClean="0">
                <a:solidFill>
                  <a:srgbClr val="C00000"/>
                </a:solidFill>
                <a:latin typeface="Consolas" pitchFamily="49" charset="0"/>
              </a:rPr>
              <a:t>XMLHttpRequest</a:t>
            </a:r>
            <a:r>
              <a:rPr lang="en-US" sz="1100" dirty="0" smtClean="0">
                <a:latin typeface="Consolas" pitchFamily="49" charset="0"/>
              </a:rPr>
              <a:t>();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</a:t>
            </a:r>
            <a:r>
              <a:rPr lang="en-US" sz="1100" dirty="0" err="1" smtClean="0">
                <a:latin typeface="Consolas" pitchFamily="49" charset="0"/>
              </a:rPr>
              <a:t>xhr.open</a:t>
            </a:r>
            <a:r>
              <a:rPr lang="en-US" sz="1100" dirty="0" smtClean="0">
                <a:latin typeface="Consolas" pitchFamily="49" charset="0"/>
              </a:rPr>
              <a:t>("GET", "https://ipinfo.io/json", true);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</a:t>
            </a:r>
            <a:r>
              <a:rPr lang="en-US" sz="1100" dirty="0" err="1" smtClean="0">
                <a:latin typeface="Consolas" pitchFamily="49" charset="0"/>
              </a:rPr>
              <a:t>xhr.onreadystatechange</a:t>
            </a:r>
            <a:r>
              <a:rPr lang="en-US" sz="1100" dirty="0" smtClean="0">
                <a:latin typeface="Consolas" pitchFamily="49" charset="0"/>
              </a:rPr>
              <a:t> = </a:t>
            </a:r>
            <a:r>
              <a:rPr lang="en-US" sz="1100" dirty="0" err="1" smtClean="0">
                <a:latin typeface="Consolas" pitchFamily="49" charset="0"/>
              </a:rPr>
              <a:t>this.processRequest</a:t>
            </a:r>
            <a:r>
              <a:rPr lang="en-US" sz="1100" dirty="0" smtClean="0">
                <a:latin typeface="Consolas" pitchFamily="49" charset="0"/>
              </a:rPr>
              <a:t>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// </a:t>
            </a:r>
            <a:r>
              <a:rPr lang="en-US" sz="1100" dirty="0" err="1" smtClean="0">
                <a:latin typeface="Consolas" pitchFamily="49" charset="0"/>
              </a:rPr>
              <a:t>xhr.addEventListener</a:t>
            </a:r>
            <a:r>
              <a:rPr lang="en-US" sz="1100" dirty="0" smtClean="0">
                <a:latin typeface="Consolas" pitchFamily="49" charset="0"/>
              </a:rPr>
              <a:t>("</a:t>
            </a:r>
            <a:r>
              <a:rPr lang="en-US" sz="1100" dirty="0" err="1" smtClean="0">
                <a:latin typeface="Consolas" pitchFamily="49" charset="0"/>
              </a:rPr>
              <a:t>readystatechange</a:t>
            </a:r>
            <a:r>
              <a:rPr lang="en-US" sz="1100" dirty="0" smtClean="0">
                <a:latin typeface="Consolas" pitchFamily="49" charset="0"/>
              </a:rPr>
              <a:t>", </a:t>
            </a:r>
            <a:r>
              <a:rPr lang="en-US" sz="1100" dirty="0" err="1" smtClean="0">
                <a:latin typeface="Consolas" pitchFamily="49" charset="0"/>
              </a:rPr>
              <a:t>this.processRequest</a:t>
            </a:r>
            <a:r>
              <a:rPr lang="en-US" sz="1100" dirty="0" smtClean="0">
                <a:latin typeface="Consolas" pitchFamily="49" charset="0"/>
              </a:rPr>
              <a:t>, false);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</a:t>
            </a:r>
            <a:r>
              <a:rPr lang="en-US" sz="1100" dirty="0" err="1" smtClean="0">
                <a:latin typeface="Consolas" pitchFamily="49" charset="0"/>
              </a:rPr>
              <a:t>xhr.send</a:t>
            </a:r>
            <a:r>
              <a:rPr lang="en-US" sz="1100" dirty="0" smtClean="0">
                <a:latin typeface="Consolas" pitchFamily="49" charset="0"/>
              </a:rPr>
              <a:t>();</a:t>
            </a:r>
          </a:p>
          <a:p>
            <a:r>
              <a:rPr lang="en-US" sz="1100" dirty="0" smtClean="0">
                <a:latin typeface="Consolas" pitchFamily="49" charset="0"/>
              </a:rPr>
              <a:t>            }</a:t>
            </a:r>
          </a:p>
          <a:p>
            <a:endParaRPr lang="en-US" sz="1100" dirty="0" smtClean="0">
              <a:latin typeface="Consolas" pitchFamily="49" charset="0"/>
            </a:endParaRPr>
          </a:p>
          <a:p>
            <a:r>
              <a:rPr lang="en-US" sz="1100" dirty="0" smtClean="0">
                <a:latin typeface="Consolas" pitchFamily="49" charset="0"/>
              </a:rPr>
              <a:t>            </a:t>
            </a:r>
            <a:r>
              <a:rPr lang="en-US" sz="1100" dirty="0" err="1" smtClean="0">
                <a:latin typeface="Consolas" pitchFamily="49" charset="0"/>
              </a:rPr>
              <a:t>processRequest</a:t>
            </a:r>
            <a:r>
              <a:rPr lang="en-US" sz="1100" dirty="0" smtClean="0">
                <a:latin typeface="Consolas" pitchFamily="49" charset="0"/>
              </a:rPr>
              <a:t> = function() 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if (</a:t>
            </a:r>
            <a:r>
              <a:rPr lang="en-US" sz="1100" dirty="0" err="1" smtClean="0">
                <a:latin typeface="Consolas" pitchFamily="49" charset="0"/>
              </a:rPr>
              <a:t>xhr.readyState</a:t>
            </a:r>
            <a:r>
              <a:rPr lang="en-US" sz="1100" dirty="0" smtClean="0">
                <a:latin typeface="Consolas" pitchFamily="49" charset="0"/>
              </a:rPr>
              <a:t> === 4 &amp;&amp; </a:t>
            </a:r>
            <a:r>
              <a:rPr lang="en-US" sz="1100" dirty="0" err="1" smtClean="0">
                <a:latin typeface="Consolas" pitchFamily="49" charset="0"/>
              </a:rPr>
              <a:t>xhr.status</a:t>
            </a:r>
            <a:r>
              <a:rPr lang="en-US" sz="1100" dirty="0" smtClean="0">
                <a:latin typeface="Consolas" pitchFamily="49" charset="0"/>
              </a:rPr>
              <a:t> === 200) 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</a:t>
            </a:r>
            <a:r>
              <a:rPr lang="en-US" sz="1100" dirty="0" err="1" smtClean="0">
                <a:latin typeface="Consolas" pitchFamily="49" charset="0"/>
              </a:rPr>
              <a:t>var</a:t>
            </a:r>
            <a:r>
              <a:rPr lang="en-US" sz="1100" dirty="0" smtClean="0">
                <a:latin typeface="Consolas" pitchFamily="49" charset="0"/>
              </a:rPr>
              <a:t> response = </a:t>
            </a:r>
            <a:r>
              <a:rPr lang="en-US" sz="1100" dirty="0" err="1" smtClean="0">
                <a:latin typeface="Consolas" pitchFamily="49" charset="0"/>
              </a:rPr>
              <a:t>JSON.parse</a:t>
            </a:r>
            <a:r>
              <a:rPr lang="en-US" sz="1100" dirty="0" smtClean="0">
                <a:latin typeface="Consolas" pitchFamily="49" charset="0"/>
              </a:rPr>
              <a:t>(</a:t>
            </a:r>
            <a:r>
              <a:rPr lang="en-US" sz="1100" dirty="0" err="1" smtClean="0">
                <a:latin typeface="Consolas" pitchFamily="49" charset="0"/>
              </a:rPr>
              <a:t>xhr.responseText</a:t>
            </a:r>
            <a:r>
              <a:rPr lang="en-US" sz="1100" dirty="0" smtClean="0">
                <a:latin typeface="Consolas" pitchFamily="49" charset="0"/>
              </a:rPr>
              <a:t>);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</a:t>
            </a:r>
            <a:r>
              <a:rPr lang="en-US" sz="1100" dirty="0" err="1" smtClean="0">
                <a:latin typeface="Consolas" pitchFamily="49" charset="0"/>
              </a:rPr>
              <a:t>this.setState</a:t>
            </a:r>
            <a:r>
              <a:rPr lang="en-US" sz="1100" dirty="0" smtClean="0">
                <a:latin typeface="Consolas" pitchFamily="49" charset="0"/>
              </a:rPr>
              <a:t>({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</a:t>
            </a:r>
            <a:r>
              <a:rPr lang="en-US" sz="1100" dirty="0" err="1" smtClean="0">
                <a:latin typeface="Consolas" pitchFamily="49" charset="0"/>
              </a:rPr>
              <a:t>ip_address</a:t>
            </a:r>
            <a:r>
              <a:rPr lang="en-US" sz="1100" dirty="0" smtClean="0">
                <a:latin typeface="Consolas" pitchFamily="49" charset="0"/>
              </a:rPr>
              <a:t>: </a:t>
            </a:r>
            <a:r>
              <a:rPr lang="en-US" sz="1100" dirty="0" err="1" smtClean="0">
                <a:latin typeface="Consolas" pitchFamily="49" charset="0"/>
              </a:rPr>
              <a:t>response.ip</a:t>
            </a:r>
            <a:endParaRPr lang="en-US" sz="1100" dirty="0" smtClean="0">
              <a:latin typeface="Consolas" pitchFamily="49" charset="0"/>
            </a:endParaRPr>
          </a:p>
          <a:p>
            <a:r>
              <a:rPr lang="en-US" sz="1100" dirty="0" smtClean="0">
                <a:latin typeface="Consolas" pitchFamily="49" charset="0"/>
              </a:rPr>
              <a:t>                    });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}</a:t>
            </a:r>
          </a:p>
          <a:p>
            <a:r>
              <a:rPr lang="en-US" sz="1100" dirty="0" smtClean="0">
                <a:latin typeface="Consolas" pitchFamily="49" charset="0"/>
              </a:rPr>
              <a:t>            };</a:t>
            </a:r>
          </a:p>
          <a:p>
            <a:r>
              <a:rPr lang="en-US" sz="11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1828800"/>
            <a:ext cx="3733800" cy="841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Presentational vs. Container Components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In our React apps, we have been primarily dealing with two types of components:</a:t>
            </a:r>
          </a:p>
          <a:p>
            <a:pPr lvl="1"/>
            <a:r>
              <a:rPr lang="en-US" sz="2400" dirty="0" smtClean="0"/>
              <a:t>Components that deal with how things look. These are better known as </a:t>
            </a:r>
            <a:r>
              <a:rPr lang="en-US" sz="2400" i="1" dirty="0" smtClean="0">
                <a:solidFill>
                  <a:srgbClr val="C00000"/>
                </a:solidFill>
              </a:rPr>
              <a:t>presentational</a:t>
            </a:r>
            <a:r>
              <a:rPr lang="en-US" sz="2400" dirty="0" smtClean="0"/>
              <a:t> components.</a:t>
            </a:r>
          </a:p>
          <a:p>
            <a:pPr lvl="1"/>
            <a:r>
              <a:rPr lang="en-US" sz="2400" dirty="0" smtClean="0"/>
              <a:t>Components that perform some under-the-covers processing. Examples of this processing include routing, increasing a counter, fetching data via a HTTP request, and so on. You will see these components referred to as </a:t>
            </a:r>
            <a:r>
              <a:rPr lang="en-US" sz="2400" i="1" dirty="0" smtClean="0">
                <a:solidFill>
                  <a:srgbClr val="C00000"/>
                </a:solidFill>
              </a:rPr>
              <a:t>container</a:t>
            </a:r>
            <a:r>
              <a:rPr lang="en-US" sz="2400" dirty="0" smtClean="0"/>
              <a:t> components.</a:t>
            </a:r>
            <a:endParaRPr lang="en-US" sz="2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Create </a:t>
            </a:r>
            <a:r>
              <a:rPr lang="en-US" dirty="0" err="1" smtClean="0"/>
              <a:t>ToDo</a:t>
            </a:r>
            <a:r>
              <a:rPr lang="en-US" dirty="0" smtClean="0"/>
              <a:t> List App Sketch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1371600"/>
            <a:ext cx="8153400" cy="4832092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1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  <a:p>
            <a:r>
              <a:rPr lang="en-US" sz="1100" dirty="0" smtClean="0">
                <a:latin typeface="Consolas" pitchFamily="49" charset="0"/>
              </a:rPr>
              <a:t>class </a:t>
            </a:r>
            <a:r>
              <a:rPr lang="en-US" sz="1100" dirty="0" err="1" smtClean="0">
                <a:latin typeface="Consolas" pitchFamily="49" charset="0"/>
              </a:rPr>
              <a:t>TodoList</a:t>
            </a:r>
            <a:r>
              <a:rPr lang="en-US" sz="1100" dirty="0" smtClean="0">
                <a:latin typeface="Consolas" pitchFamily="49" charset="0"/>
              </a:rPr>
              <a:t> extends </a:t>
            </a:r>
            <a:r>
              <a:rPr lang="en-US" sz="1100" dirty="0" err="1" smtClean="0">
                <a:latin typeface="Consolas" pitchFamily="49" charset="0"/>
              </a:rPr>
              <a:t>React.Component</a:t>
            </a:r>
            <a:r>
              <a:rPr lang="en-US" sz="1100" dirty="0" smtClean="0">
                <a:latin typeface="Consolas" pitchFamily="49" charset="0"/>
              </a:rPr>
              <a:t>{</a:t>
            </a:r>
          </a:p>
          <a:p>
            <a:r>
              <a:rPr lang="en-US" sz="1100" dirty="0" smtClean="0">
                <a:latin typeface="Consolas" pitchFamily="49" charset="0"/>
              </a:rPr>
              <a:t>            constructor(props) 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super(props);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</a:t>
            </a:r>
            <a:r>
              <a:rPr lang="en-US" sz="1100" dirty="0" err="1" smtClean="0">
                <a:latin typeface="Consolas" pitchFamily="49" charset="0"/>
              </a:rPr>
              <a:t>this.state</a:t>
            </a:r>
            <a:r>
              <a:rPr lang="en-US" sz="1100" dirty="0" smtClean="0">
                <a:latin typeface="Consolas" pitchFamily="49" charset="0"/>
              </a:rPr>
              <a:t> = 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items: []</a:t>
            </a:r>
          </a:p>
          <a:p>
            <a:r>
              <a:rPr lang="en-US" sz="1100" dirty="0" smtClean="0">
                <a:latin typeface="Consolas" pitchFamily="49" charset="0"/>
              </a:rPr>
              <a:t>                };</a:t>
            </a:r>
          </a:p>
          <a:p>
            <a:endParaRPr lang="en-US" sz="1100" dirty="0" smtClean="0">
              <a:latin typeface="Consolas" pitchFamily="49" charset="0"/>
            </a:endParaRPr>
          </a:p>
          <a:p>
            <a:r>
              <a:rPr lang="en-US" sz="1100" dirty="0" smtClean="0">
                <a:latin typeface="Consolas" pitchFamily="49" charset="0"/>
              </a:rPr>
              <a:t>                </a:t>
            </a:r>
            <a:r>
              <a:rPr lang="en-US" sz="1100" dirty="0" err="1" smtClean="0">
                <a:latin typeface="Consolas" pitchFamily="49" charset="0"/>
              </a:rPr>
              <a:t>this.addItem</a:t>
            </a:r>
            <a:r>
              <a:rPr lang="en-US" sz="1100" dirty="0" smtClean="0">
                <a:latin typeface="Consolas" pitchFamily="49" charset="0"/>
              </a:rPr>
              <a:t> = </a:t>
            </a:r>
            <a:r>
              <a:rPr lang="en-US" sz="1100" dirty="0" err="1" smtClean="0">
                <a:latin typeface="Consolas" pitchFamily="49" charset="0"/>
              </a:rPr>
              <a:t>this.addItem.bind</a:t>
            </a:r>
            <a:r>
              <a:rPr lang="en-US" sz="1100" dirty="0" smtClean="0">
                <a:latin typeface="Consolas" pitchFamily="49" charset="0"/>
              </a:rPr>
              <a:t>(this);</a:t>
            </a:r>
          </a:p>
          <a:p>
            <a:r>
              <a:rPr lang="en-US" sz="1100" dirty="0" smtClean="0">
                <a:latin typeface="Consolas" pitchFamily="49" charset="0"/>
              </a:rPr>
              <a:t>            }</a:t>
            </a:r>
          </a:p>
          <a:p>
            <a:r>
              <a:rPr lang="en-US" sz="1100" dirty="0" smtClean="0">
                <a:latin typeface="Consolas" pitchFamily="49" charset="0"/>
              </a:rPr>
              <a:t>            </a:t>
            </a:r>
            <a:r>
              <a:rPr lang="en-US" sz="1100" dirty="0" err="1" smtClean="0">
                <a:latin typeface="Consolas" pitchFamily="49" charset="0"/>
              </a:rPr>
              <a:t>addItem</a:t>
            </a:r>
            <a:r>
              <a:rPr lang="en-US" sz="1100" dirty="0" smtClean="0">
                <a:latin typeface="Consolas" pitchFamily="49" charset="0"/>
              </a:rPr>
              <a:t>(e) {</a:t>
            </a:r>
          </a:p>
          <a:p>
            <a:r>
              <a:rPr lang="en-US" sz="1100" dirty="0" smtClean="0">
                <a:latin typeface="Consolas" pitchFamily="49" charset="0"/>
              </a:rPr>
              <a:t>            }</a:t>
            </a:r>
          </a:p>
          <a:p>
            <a:endParaRPr lang="en-US" sz="1100" dirty="0" smtClean="0">
              <a:latin typeface="Consolas" pitchFamily="49" charset="0"/>
            </a:endParaRPr>
          </a:p>
          <a:p>
            <a:r>
              <a:rPr lang="en-US" sz="1100" dirty="0" smtClean="0">
                <a:latin typeface="Consolas" pitchFamily="49" charset="0"/>
              </a:rPr>
              <a:t>            render() 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return (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&lt;div </a:t>
            </a:r>
            <a:r>
              <a:rPr lang="en-US" sz="1100" dirty="0" err="1" smtClean="0">
                <a:latin typeface="Consolas" pitchFamily="49" charset="0"/>
              </a:rPr>
              <a:t>className</a:t>
            </a:r>
            <a:r>
              <a:rPr lang="en-US" sz="1100" dirty="0" smtClean="0">
                <a:latin typeface="Consolas" pitchFamily="49" charset="0"/>
              </a:rPr>
              <a:t>="</a:t>
            </a:r>
            <a:r>
              <a:rPr lang="en-US" sz="1100" dirty="0" err="1" smtClean="0">
                <a:latin typeface="Consolas" pitchFamily="49" charset="0"/>
              </a:rPr>
              <a:t>todoListMain</a:t>
            </a:r>
            <a:r>
              <a:rPr lang="en-US" sz="1100" dirty="0" smtClean="0">
                <a:latin typeface="Consolas" pitchFamily="49" charset="0"/>
              </a:rPr>
              <a:t>"&gt;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&lt;div </a:t>
            </a:r>
            <a:r>
              <a:rPr lang="en-US" sz="1100" dirty="0" err="1" smtClean="0">
                <a:latin typeface="Consolas" pitchFamily="49" charset="0"/>
              </a:rPr>
              <a:t>className</a:t>
            </a:r>
            <a:r>
              <a:rPr lang="en-US" sz="1100" dirty="0" smtClean="0">
                <a:latin typeface="Consolas" pitchFamily="49" charset="0"/>
              </a:rPr>
              <a:t>="header"&gt;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    &lt;form </a:t>
            </a:r>
            <a:r>
              <a:rPr lang="en-US" sz="1100" dirty="0" err="1" smtClean="0">
                <a:latin typeface="Consolas" pitchFamily="49" charset="0"/>
              </a:rPr>
              <a:t>onSubmit</a:t>
            </a:r>
            <a:r>
              <a:rPr lang="en-US" sz="1100" dirty="0" smtClean="0">
                <a:latin typeface="Consolas" pitchFamily="49" charset="0"/>
              </a:rPr>
              <a:t>={</a:t>
            </a:r>
            <a:r>
              <a:rPr lang="en-US" sz="1100" dirty="0" err="1" smtClean="0">
                <a:latin typeface="Consolas" pitchFamily="49" charset="0"/>
              </a:rPr>
              <a:t>this.addItem</a:t>
            </a:r>
            <a:r>
              <a:rPr lang="en-US" sz="1100" dirty="0" smtClean="0">
                <a:latin typeface="Consolas" pitchFamily="49" charset="0"/>
              </a:rPr>
              <a:t>}&gt;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        &lt;input ref={(a) =&gt; </a:t>
            </a:r>
            <a:r>
              <a:rPr lang="en-US" sz="1100" dirty="0" err="1" smtClean="0">
                <a:latin typeface="Consolas" pitchFamily="49" charset="0"/>
              </a:rPr>
              <a:t>this._inputElement</a:t>
            </a:r>
            <a:r>
              <a:rPr lang="en-US" sz="1100" dirty="0" smtClean="0">
                <a:latin typeface="Consolas" pitchFamily="49" charset="0"/>
              </a:rPr>
              <a:t> = a}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            placeholder="enter task" /&gt;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        &lt;button type="submit"&gt;add&lt;/button&gt;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    &lt;/form&gt;</a:t>
            </a:r>
          </a:p>
          <a:p>
            <a:r>
              <a:rPr lang="en-US" sz="11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  <a:p>
            <a:endParaRPr lang="en-US" sz="1100" dirty="0" smtClean="0">
              <a:latin typeface="Consolas" pitchFamily="49" charset="0"/>
            </a:endParaRPr>
          </a:p>
          <a:p>
            <a:r>
              <a:rPr lang="en-US" sz="1100" dirty="0" smtClean="0">
                <a:latin typeface="Consolas" pitchFamily="49" charset="0"/>
              </a:rPr>
              <a:t>        </a:t>
            </a:r>
            <a:r>
              <a:rPr lang="en-US" sz="1100" dirty="0" err="1" smtClean="0">
                <a:latin typeface="Consolas" pitchFamily="49" charset="0"/>
              </a:rPr>
              <a:t>var</a:t>
            </a:r>
            <a:r>
              <a:rPr lang="en-US" sz="1100" dirty="0" smtClean="0">
                <a:latin typeface="Consolas" pitchFamily="49" charset="0"/>
              </a:rPr>
              <a:t> destination = </a:t>
            </a:r>
            <a:r>
              <a:rPr lang="en-US" sz="1100" dirty="0" err="1" smtClean="0">
                <a:latin typeface="Consolas" pitchFamily="49" charset="0"/>
              </a:rPr>
              <a:t>document.querySelector</a:t>
            </a:r>
            <a:r>
              <a:rPr lang="en-US" sz="1100" dirty="0" smtClean="0">
                <a:latin typeface="Consolas" pitchFamily="49" charset="0"/>
              </a:rPr>
              <a:t>("#container");</a:t>
            </a:r>
          </a:p>
          <a:p>
            <a:r>
              <a:rPr lang="en-US" sz="1100" dirty="0" smtClean="0">
                <a:latin typeface="Consolas" pitchFamily="49" charset="0"/>
              </a:rPr>
              <a:t>        </a:t>
            </a:r>
            <a:r>
              <a:rPr lang="en-US" sz="1100" dirty="0" err="1" smtClean="0">
                <a:latin typeface="Consolas" pitchFamily="49" charset="0"/>
              </a:rPr>
              <a:t>ReactDOM.render</a:t>
            </a:r>
            <a:r>
              <a:rPr lang="en-US" sz="1100" dirty="0" smtClean="0">
                <a:latin typeface="Consolas" pitchFamily="49" charset="0"/>
              </a:rPr>
              <a:t>(</a:t>
            </a:r>
          </a:p>
          <a:p>
            <a:r>
              <a:rPr lang="en-US" sz="1100" dirty="0" smtClean="0">
                <a:latin typeface="Consolas" pitchFamily="49" charset="0"/>
              </a:rPr>
              <a:t>            &lt;</a:t>
            </a:r>
            <a:r>
              <a:rPr lang="en-US" sz="1100" dirty="0" err="1" smtClean="0">
                <a:latin typeface="Consolas" pitchFamily="49" charset="0"/>
              </a:rPr>
              <a:t>TodoList</a:t>
            </a:r>
            <a:r>
              <a:rPr lang="en-US" sz="1100" dirty="0" smtClean="0">
                <a:latin typeface="Consolas" pitchFamily="49" charset="0"/>
              </a:rPr>
              <a:t> /&gt;,</a:t>
            </a:r>
          </a:p>
          <a:p>
            <a:r>
              <a:rPr lang="en-US" sz="11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29200" y="1752600"/>
            <a:ext cx="3717925" cy="2130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Create Task Array (Model)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1371600"/>
            <a:ext cx="8153400" cy="51706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1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  <a:p>
            <a:r>
              <a:rPr lang="en-US" sz="1100" dirty="0" smtClean="0">
                <a:latin typeface="Consolas" pitchFamily="49" charset="0"/>
              </a:rPr>
              <a:t> </a:t>
            </a:r>
            <a:r>
              <a:rPr lang="en-US" sz="1100" dirty="0" err="1" smtClean="0">
                <a:latin typeface="Consolas" pitchFamily="49" charset="0"/>
              </a:rPr>
              <a:t>addItem</a:t>
            </a:r>
            <a:r>
              <a:rPr lang="en-US" sz="1100" dirty="0" smtClean="0">
                <a:latin typeface="Consolas" pitchFamily="49" charset="0"/>
              </a:rPr>
              <a:t>(e) 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</a:t>
            </a:r>
            <a:r>
              <a:rPr lang="en-US" sz="1100" dirty="0" err="1" smtClean="0">
                <a:latin typeface="Consolas" pitchFamily="49" charset="0"/>
              </a:rPr>
              <a:t>var</a:t>
            </a:r>
            <a:r>
              <a:rPr lang="en-US" sz="1100" dirty="0" smtClean="0">
                <a:latin typeface="Consolas" pitchFamily="49" charset="0"/>
              </a:rPr>
              <a:t> </a:t>
            </a:r>
            <a:r>
              <a:rPr lang="en-US" sz="1100" dirty="0" err="1" smtClean="0">
                <a:latin typeface="Consolas" pitchFamily="49" charset="0"/>
              </a:rPr>
              <a:t>itemArray</a:t>
            </a:r>
            <a:r>
              <a:rPr lang="en-US" sz="1100" dirty="0" smtClean="0">
                <a:latin typeface="Consolas" pitchFamily="49" charset="0"/>
              </a:rPr>
              <a:t> = </a:t>
            </a:r>
            <a:r>
              <a:rPr lang="en-US" sz="1100" dirty="0" err="1" smtClean="0">
                <a:latin typeface="Consolas" pitchFamily="49" charset="0"/>
              </a:rPr>
              <a:t>this.state.items</a:t>
            </a:r>
            <a:r>
              <a:rPr lang="en-US" sz="1100" dirty="0" smtClean="0">
                <a:latin typeface="Consolas" pitchFamily="49" charset="0"/>
              </a:rPr>
              <a:t>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</a:t>
            </a:r>
            <a:r>
              <a:rPr lang="en-US" sz="1100" dirty="0" err="1" smtClean="0">
                <a:latin typeface="Consolas" pitchFamily="49" charset="0"/>
              </a:rPr>
              <a:t>itemArray.push</a:t>
            </a:r>
            <a:r>
              <a:rPr lang="en-US" sz="1100" dirty="0" smtClean="0">
                <a:latin typeface="Consolas" pitchFamily="49" charset="0"/>
              </a:rPr>
              <a:t>(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text: </a:t>
            </a:r>
            <a:r>
              <a:rPr lang="en-US" sz="1100" dirty="0" err="1" smtClean="0">
                <a:latin typeface="Consolas" pitchFamily="49" charset="0"/>
              </a:rPr>
              <a:t>this._inputElement.value</a:t>
            </a:r>
            <a:r>
              <a:rPr lang="en-US" sz="1100" dirty="0" smtClean="0">
                <a:latin typeface="Consolas" pitchFamily="49" charset="0"/>
              </a:rPr>
              <a:t>,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key: </a:t>
            </a:r>
            <a:r>
              <a:rPr lang="en-US" sz="1100" dirty="0" err="1" smtClean="0">
                <a:latin typeface="Consolas" pitchFamily="49" charset="0"/>
              </a:rPr>
              <a:t>Date.now</a:t>
            </a:r>
            <a:r>
              <a:rPr lang="en-US" sz="1100" dirty="0" smtClean="0">
                <a:latin typeface="Consolas" pitchFamily="49" charset="0"/>
              </a:rPr>
              <a:t>()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}</a:t>
            </a:r>
          </a:p>
          <a:p>
            <a:r>
              <a:rPr lang="en-US" sz="1100" dirty="0" smtClean="0">
                <a:latin typeface="Consolas" pitchFamily="49" charset="0"/>
              </a:rPr>
              <a:t>                );</a:t>
            </a:r>
          </a:p>
          <a:p>
            <a:endParaRPr lang="en-US" sz="1100" dirty="0" smtClean="0">
              <a:latin typeface="Consolas" pitchFamily="49" charset="0"/>
            </a:endParaRPr>
          </a:p>
          <a:p>
            <a:r>
              <a:rPr lang="en-US" sz="1100" dirty="0" smtClean="0">
                <a:latin typeface="Consolas" pitchFamily="49" charset="0"/>
              </a:rPr>
              <a:t>                </a:t>
            </a:r>
            <a:r>
              <a:rPr lang="en-US" sz="1100" dirty="0" err="1" smtClean="0">
                <a:latin typeface="Consolas" pitchFamily="49" charset="0"/>
              </a:rPr>
              <a:t>this.setState</a:t>
            </a:r>
            <a:r>
              <a:rPr lang="en-US" sz="1100" dirty="0" smtClean="0">
                <a:latin typeface="Consolas" pitchFamily="49" charset="0"/>
              </a:rPr>
              <a:t>({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items: </a:t>
            </a:r>
            <a:r>
              <a:rPr lang="en-US" sz="1100" dirty="0" err="1" smtClean="0">
                <a:latin typeface="Consolas" pitchFamily="49" charset="0"/>
              </a:rPr>
              <a:t>itemArray</a:t>
            </a:r>
            <a:endParaRPr lang="en-US" sz="1100" dirty="0" smtClean="0">
              <a:latin typeface="Consolas" pitchFamily="49" charset="0"/>
            </a:endParaRPr>
          </a:p>
          <a:p>
            <a:r>
              <a:rPr lang="en-US" sz="1100" dirty="0" smtClean="0">
                <a:latin typeface="Consolas" pitchFamily="49" charset="0"/>
              </a:rPr>
              <a:t>                });</a:t>
            </a:r>
          </a:p>
          <a:p>
            <a:endParaRPr lang="en-US" sz="1100" dirty="0" smtClean="0">
              <a:latin typeface="Consolas" pitchFamily="49" charset="0"/>
            </a:endParaRPr>
          </a:p>
          <a:p>
            <a:r>
              <a:rPr lang="en-US" sz="1100" dirty="0" smtClean="0">
                <a:latin typeface="Consolas" pitchFamily="49" charset="0"/>
              </a:rPr>
              <a:t>                </a:t>
            </a:r>
            <a:r>
              <a:rPr lang="en-US" sz="1100" dirty="0" err="1" smtClean="0">
                <a:latin typeface="Consolas" pitchFamily="49" charset="0"/>
              </a:rPr>
              <a:t>this._inputElement.value</a:t>
            </a:r>
            <a:r>
              <a:rPr lang="en-US" sz="1100" dirty="0" smtClean="0">
                <a:latin typeface="Consolas" pitchFamily="49" charset="0"/>
              </a:rPr>
              <a:t> = "";</a:t>
            </a:r>
          </a:p>
          <a:p>
            <a:endParaRPr lang="en-US" sz="1100" dirty="0" smtClean="0">
              <a:latin typeface="Consolas" pitchFamily="49" charset="0"/>
            </a:endParaRPr>
          </a:p>
          <a:p>
            <a:r>
              <a:rPr lang="en-US" sz="1100" dirty="0" smtClean="0">
                <a:latin typeface="Consolas" pitchFamily="49" charset="0"/>
              </a:rPr>
              <a:t>                </a:t>
            </a:r>
            <a:r>
              <a:rPr lang="en-US" sz="1100" dirty="0" err="1" smtClean="0">
                <a:latin typeface="Consolas" pitchFamily="49" charset="0"/>
              </a:rPr>
              <a:t>e.preventDefault</a:t>
            </a:r>
            <a:r>
              <a:rPr lang="en-US" sz="1100" dirty="0" smtClean="0">
                <a:latin typeface="Consolas" pitchFamily="49" charset="0"/>
              </a:rPr>
              <a:t>(); </a:t>
            </a:r>
          </a:p>
          <a:p>
            <a:r>
              <a:rPr lang="en-US" sz="1100" dirty="0" smtClean="0">
                <a:latin typeface="Consolas" pitchFamily="49" charset="0"/>
              </a:rPr>
              <a:t>                {/* Stop the </a:t>
            </a:r>
            <a:r>
              <a:rPr lang="en-US" sz="1100" dirty="0" err="1" smtClean="0">
                <a:latin typeface="Consolas" pitchFamily="49" charset="0"/>
              </a:rPr>
              <a:t>onSubmit</a:t>
            </a:r>
            <a:r>
              <a:rPr lang="en-US" sz="1100" dirty="0" smtClean="0">
                <a:latin typeface="Consolas" pitchFamily="49" charset="0"/>
              </a:rPr>
              <a:t> event from performing </a:t>
            </a:r>
          </a:p>
          <a:p>
            <a:r>
              <a:rPr lang="en-US" sz="1100" dirty="0" smtClean="0">
                <a:latin typeface="Consolas" pitchFamily="49" charset="0"/>
              </a:rPr>
              <a:t>                the default behavior (POST action). */}</a:t>
            </a:r>
          </a:p>
          <a:p>
            <a:r>
              <a:rPr lang="en-US" sz="1100" dirty="0" smtClean="0">
                <a:latin typeface="Consolas" pitchFamily="49" charset="0"/>
              </a:rPr>
              <a:t>            }</a:t>
            </a:r>
          </a:p>
          <a:p>
            <a:endParaRPr lang="en-US" sz="1100" dirty="0" smtClean="0">
              <a:latin typeface="Consolas" pitchFamily="49" charset="0"/>
            </a:endParaRPr>
          </a:p>
          <a:p>
            <a:r>
              <a:rPr lang="en-US" sz="1100" dirty="0" smtClean="0">
                <a:latin typeface="Consolas" pitchFamily="49" charset="0"/>
              </a:rPr>
              <a:t>            render() {</a:t>
            </a:r>
          </a:p>
          <a:p>
            <a:r>
              <a:rPr lang="en-US" sz="1100" dirty="0" smtClean="0">
                <a:latin typeface="Consolas" pitchFamily="49" charset="0"/>
              </a:rPr>
              <a:t>                return (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&lt;div </a:t>
            </a:r>
            <a:r>
              <a:rPr lang="en-US" sz="1100" dirty="0" err="1" smtClean="0">
                <a:latin typeface="Consolas" pitchFamily="49" charset="0"/>
              </a:rPr>
              <a:t>className</a:t>
            </a:r>
            <a:r>
              <a:rPr lang="en-US" sz="1100" dirty="0" smtClean="0">
                <a:latin typeface="Consolas" pitchFamily="49" charset="0"/>
              </a:rPr>
              <a:t>="</a:t>
            </a:r>
            <a:r>
              <a:rPr lang="en-US" sz="1100" dirty="0" err="1" smtClean="0">
                <a:latin typeface="Consolas" pitchFamily="49" charset="0"/>
              </a:rPr>
              <a:t>todoListMain</a:t>
            </a:r>
            <a:r>
              <a:rPr lang="en-US" sz="1100" dirty="0" smtClean="0">
                <a:latin typeface="Consolas" pitchFamily="49" charset="0"/>
              </a:rPr>
              <a:t>"&gt;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&lt;div </a:t>
            </a:r>
            <a:r>
              <a:rPr lang="en-US" sz="1100" dirty="0" err="1" smtClean="0">
                <a:latin typeface="Consolas" pitchFamily="49" charset="0"/>
              </a:rPr>
              <a:t>className</a:t>
            </a:r>
            <a:r>
              <a:rPr lang="en-US" sz="1100" dirty="0" smtClean="0">
                <a:latin typeface="Consolas" pitchFamily="49" charset="0"/>
              </a:rPr>
              <a:t>="header"&gt;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    &lt;form </a:t>
            </a:r>
            <a:r>
              <a:rPr lang="en-US" sz="1100" dirty="0" err="1" smtClean="0">
                <a:latin typeface="Consolas" pitchFamily="49" charset="0"/>
              </a:rPr>
              <a:t>onSubmit</a:t>
            </a:r>
            <a:r>
              <a:rPr lang="en-US" sz="1100" dirty="0" smtClean="0">
                <a:latin typeface="Consolas" pitchFamily="49" charset="0"/>
              </a:rPr>
              <a:t>={</a:t>
            </a:r>
            <a:r>
              <a:rPr lang="en-US" sz="1100" dirty="0" err="1" smtClean="0">
                <a:latin typeface="Consolas" pitchFamily="49" charset="0"/>
              </a:rPr>
              <a:t>this.addItem</a:t>
            </a:r>
            <a:r>
              <a:rPr lang="en-US" sz="1100" dirty="0" smtClean="0">
                <a:latin typeface="Consolas" pitchFamily="49" charset="0"/>
              </a:rPr>
              <a:t>}&gt;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        &lt;input ref={(a) =&gt; </a:t>
            </a:r>
            <a:r>
              <a:rPr lang="en-US" sz="1100" dirty="0" err="1" smtClean="0">
                <a:latin typeface="Consolas" pitchFamily="49" charset="0"/>
              </a:rPr>
              <a:t>this._inputElement</a:t>
            </a:r>
            <a:r>
              <a:rPr lang="en-US" sz="1100" dirty="0" smtClean="0">
                <a:latin typeface="Consolas" pitchFamily="49" charset="0"/>
              </a:rPr>
              <a:t> = a}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            placeholder="enter task" /&gt;</a:t>
            </a:r>
          </a:p>
          <a:p>
            <a:r>
              <a:rPr lang="en-US" sz="1100" dirty="0" smtClean="0">
                <a:latin typeface="Consolas" pitchFamily="49" charset="0"/>
              </a:rPr>
              <a:t>                                &lt;button type="submit"&gt;add&lt;/button&gt;</a:t>
            </a:r>
          </a:p>
          <a:p>
            <a:r>
              <a:rPr lang="en-US" sz="11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81600" y="1600200"/>
            <a:ext cx="3131820" cy="25660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Create UI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1371600"/>
            <a:ext cx="8153400" cy="532453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0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  <a:p>
            <a:r>
              <a:rPr lang="en-US" sz="1000" dirty="0" smtClean="0">
                <a:latin typeface="Consolas" pitchFamily="49" charset="0"/>
              </a:rPr>
              <a:t> class </a:t>
            </a:r>
            <a:r>
              <a:rPr lang="en-US" sz="1000" dirty="0" err="1" smtClean="0">
                <a:latin typeface="Consolas" pitchFamily="49" charset="0"/>
              </a:rPr>
              <a:t>TodoItems</a:t>
            </a:r>
            <a:r>
              <a:rPr lang="en-US" sz="1000" dirty="0" smtClean="0">
                <a:latin typeface="Consolas" pitchFamily="49" charset="0"/>
              </a:rPr>
              <a:t> extends </a:t>
            </a:r>
            <a:r>
              <a:rPr lang="en-US" sz="1000" dirty="0" err="1" smtClean="0">
                <a:latin typeface="Consolas" pitchFamily="49" charset="0"/>
              </a:rPr>
              <a:t>React.Component</a:t>
            </a:r>
            <a:r>
              <a:rPr lang="en-US" sz="1000" dirty="0" smtClean="0">
                <a:latin typeface="Consolas" pitchFamily="49" charset="0"/>
              </a:rPr>
              <a:t>{</a:t>
            </a:r>
          </a:p>
          <a:p>
            <a:r>
              <a:rPr lang="en-US" sz="1000" dirty="0" smtClean="0">
                <a:latin typeface="Consolas" pitchFamily="49" charset="0"/>
              </a:rPr>
              <a:t>            constructor(props) {</a:t>
            </a:r>
          </a:p>
          <a:p>
            <a:r>
              <a:rPr lang="en-US" sz="1000" dirty="0" smtClean="0">
                <a:latin typeface="Consolas" pitchFamily="49" charset="0"/>
              </a:rPr>
              <a:t>                super(props);</a:t>
            </a:r>
          </a:p>
          <a:p>
            <a:r>
              <a:rPr lang="en-US" sz="1000" dirty="0" smtClean="0">
                <a:latin typeface="Consolas" pitchFamily="49" charset="0"/>
              </a:rPr>
              <a:t>                </a:t>
            </a:r>
            <a:r>
              <a:rPr lang="en-US" sz="1000" dirty="0" err="1" smtClean="0">
                <a:latin typeface="Consolas" pitchFamily="49" charset="0"/>
              </a:rPr>
              <a:t>this.createTasks</a:t>
            </a:r>
            <a:r>
              <a:rPr lang="en-US" sz="1000" dirty="0" smtClean="0">
                <a:latin typeface="Consolas" pitchFamily="49" charset="0"/>
              </a:rPr>
              <a:t> = </a:t>
            </a:r>
            <a:r>
              <a:rPr lang="en-US" sz="1000" dirty="0" err="1" smtClean="0">
                <a:latin typeface="Consolas" pitchFamily="49" charset="0"/>
              </a:rPr>
              <a:t>this.createTasks.bind</a:t>
            </a:r>
            <a:r>
              <a:rPr lang="en-US" sz="1000" dirty="0" smtClean="0">
                <a:latin typeface="Consolas" pitchFamily="49" charset="0"/>
              </a:rPr>
              <a:t>(this);</a:t>
            </a:r>
          </a:p>
          <a:p>
            <a:r>
              <a:rPr lang="en-US" sz="1000" dirty="0" smtClean="0">
                <a:latin typeface="Consolas" pitchFamily="49" charset="0"/>
              </a:rPr>
              <a:t>            }</a:t>
            </a:r>
          </a:p>
          <a:p>
            <a:endParaRPr lang="en-US" sz="1000" dirty="0" smtClean="0">
              <a:latin typeface="Consolas" pitchFamily="49" charset="0"/>
            </a:endParaRPr>
          </a:p>
          <a:p>
            <a:r>
              <a:rPr lang="en-US" sz="1000" dirty="0" smtClean="0">
                <a:latin typeface="Consolas" pitchFamily="49" charset="0"/>
              </a:rPr>
              <a:t>            </a:t>
            </a:r>
            <a:r>
              <a:rPr lang="en-US" sz="1000" dirty="0" err="1" smtClean="0">
                <a:latin typeface="Consolas" pitchFamily="49" charset="0"/>
              </a:rPr>
              <a:t>createTasks</a:t>
            </a:r>
            <a:r>
              <a:rPr lang="en-US" sz="1000" dirty="0" smtClean="0">
                <a:latin typeface="Consolas" pitchFamily="49" charset="0"/>
              </a:rPr>
              <a:t>(item) {</a:t>
            </a:r>
          </a:p>
          <a:p>
            <a:r>
              <a:rPr lang="en-US" sz="1000" dirty="0" smtClean="0">
                <a:latin typeface="Consolas" pitchFamily="49" charset="0"/>
              </a:rPr>
              <a:t>                return &lt;</a:t>
            </a:r>
            <a:r>
              <a:rPr lang="en-US" sz="1000" dirty="0" err="1" smtClean="0">
                <a:latin typeface="Consolas" pitchFamily="49" charset="0"/>
              </a:rPr>
              <a:t>li</a:t>
            </a:r>
            <a:r>
              <a:rPr lang="en-US" sz="1000" dirty="0" smtClean="0">
                <a:latin typeface="Consolas" pitchFamily="49" charset="0"/>
              </a:rPr>
              <a:t> key={</a:t>
            </a:r>
            <a:r>
              <a:rPr lang="en-US" sz="1000" dirty="0" err="1" smtClean="0">
                <a:latin typeface="Consolas" pitchFamily="49" charset="0"/>
              </a:rPr>
              <a:t>item.key</a:t>
            </a:r>
            <a:r>
              <a:rPr lang="en-US" sz="1000" dirty="0" smtClean="0">
                <a:latin typeface="Consolas" pitchFamily="49" charset="0"/>
              </a:rPr>
              <a:t>}&gt;{</a:t>
            </a:r>
            <a:r>
              <a:rPr lang="en-US" sz="1000" dirty="0" err="1" smtClean="0">
                <a:latin typeface="Consolas" pitchFamily="49" charset="0"/>
              </a:rPr>
              <a:t>item.text</a:t>
            </a:r>
            <a:r>
              <a:rPr lang="en-US" sz="1000" dirty="0" smtClean="0">
                <a:latin typeface="Consolas" pitchFamily="49" charset="0"/>
              </a:rPr>
              <a:t>}&lt;/</a:t>
            </a:r>
            <a:r>
              <a:rPr lang="en-US" sz="1000" dirty="0" err="1" smtClean="0">
                <a:latin typeface="Consolas" pitchFamily="49" charset="0"/>
              </a:rPr>
              <a:t>li</a:t>
            </a:r>
            <a:r>
              <a:rPr lang="en-US" sz="1000" dirty="0" smtClean="0">
                <a:latin typeface="Consolas" pitchFamily="49" charset="0"/>
              </a:rPr>
              <a:t>&gt;</a:t>
            </a:r>
          </a:p>
          <a:p>
            <a:r>
              <a:rPr lang="en-US" sz="1000" dirty="0" smtClean="0">
                <a:latin typeface="Consolas" pitchFamily="49" charset="0"/>
              </a:rPr>
              <a:t>            }</a:t>
            </a:r>
          </a:p>
          <a:p>
            <a:endParaRPr lang="en-US" sz="1000" dirty="0" smtClean="0">
              <a:latin typeface="Consolas" pitchFamily="49" charset="0"/>
            </a:endParaRPr>
          </a:p>
          <a:p>
            <a:r>
              <a:rPr lang="en-US" sz="1000" dirty="0" smtClean="0">
                <a:latin typeface="Consolas" pitchFamily="49" charset="0"/>
              </a:rPr>
              <a:t>            render() {</a:t>
            </a:r>
          </a:p>
          <a:p>
            <a:r>
              <a:rPr lang="en-US" sz="1000" dirty="0" smtClean="0">
                <a:latin typeface="Consolas" pitchFamily="49" charset="0"/>
              </a:rPr>
              <a:t>                </a:t>
            </a:r>
            <a:r>
              <a:rPr lang="en-US" sz="1000" dirty="0" err="1" smtClean="0">
                <a:latin typeface="Consolas" pitchFamily="49" charset="0"/>
              </a:rPr>
              <a:t>var</a:t>
            </a:r>
            <a:r>
              <a:rPr lang="en-US" sz="1000" dirty="0" smtClean="0">
                <a:latin typeface="Consolas" pitchFamily="49" charset="0"/>
              </a:rPr>
              <a:t> </a:t>
            </a:r>
            <a:r>
              <a:rPr lang="en-US" sz="1000" dirty="0" err="1" smtClean="0">
                <a:latin typeface="Consolas" pitchFamily="49" charset="0"/>
              </a:rPr>
              <a:t>todoEntries</a:t>
            </a:r>
            <a:r>
              <a:rPr lang="en-US" sz="1000" dirty="0" smtClean="0">
                <a:latin typeface="Consolas" pitchFamily="49" charset="0"/>
              </a:rPr>
              <a:t> = </a:t>
            </a:r>
            <a:r>
              <a:rPr lang="en-US" sz="1000" dirty="0" err="1" smtClean="0">
                <a:latin typeface="Consolas" pitchFamily="49" charset="0"/>
              </a:rPr>
              <a:t>this.props.entries</a:t>
            </a:r>
            <a:r>
              <a:rPr lang="en-US" sz="1000" dirty="0" smtClean="0">
                <a:latin typeface="Consolas" pitchFamily="49" charset="0"/>
              </a:rPr>
              <a:t>;</a:t>
            </a:r>
          </a:p>
          <a:p>
            <a:r>
              <a:rPr lang="en-US" sz="1000" dirty="0" smtClean="0">
                <a:latin typeface="Consolas" pitchFamily="49" charset="0"/>
              </a:rPr>
              <a:t>                </a:t>
            </a:r>
            <a:r>
              <a:rPr lang="en-US" sz="1000" dirty="0" err="1" smtClean="0">
                <a:latin typeface="Consolas" pitchFamily="49" charset="0"/>
              </a:rPr>
              <a:t>var</a:t>
            </a:r>
            <a:r>
              <a:rPr lang="en-US" sz="1000" dirty="0" smtClean="0">
                <a:latin typeface="Consolas" pitchFamily="49" charset="0"/>
              </a:rPr>
              <a:t> </a:t>
            </a:r>
            <a:r>
              <a:rPr lang="en-US" sz="1000" dirty="0" err="1" smtClean="0">
                <a:latin typeface="Consolas" pitchFamily="49" charset="0"/>
              </a:rPr>
              <a:t>listItems</a:t>
            </a:r>
            <a:r>
              <a:rPr lang="en-US" sz="1000" dirty="0" smtClean="0">
                <a:latin typeface="Consolas" pitchFamily="49" charset="0"/>
              </a:rPr>
              <a:t> = todoEntries.map(</a:t>
            </a:r>
            <a:r>
              <a:rPr lang="en-US" sz="1000" dirty="0" err="1" smtClean="0">
                <a:latin typeface="Consolas" pitchFamily="49" charset="0"/>
              </a:rPr>
              <a:t>this.createTasks</a:t>
            </a:r>
            <a:r>
              <a:rPr lang="en-US" sz="1000" dirty="0" smtClean="0">
                <a:latin typeface="Consolas" pitchFamily="49" charset="0"/>
              </a:rPr>
              <a:t>);</a:t>
            </a:r>
          </a:p>
          <a:p>
            <a:r>
              <a:rPr lang="en-US" sz="1000" dirty="0" smtClean="0">
                <a:latin typeface="Consolas" pitchFamily="49" charset="0"/>
              </a:rPr>
              <a:t>                {/* Using the map function to iterate every item 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inside </a:t>
            </a:r>
            <a:r>
              <a:rPr lang="en-US" sz="1000" dirty="0" err="1" smtClean="0">
                <a:latin typeface="Consolas" pitchFamily="49" charset="0"/>
              </a:rPr>
              <a:t>todoEntries</a:t>
            </a:r>
            <a:r>
              <a:rPr lang="en-US" sz="1000" dirty="0" smtClean="0">
                <a:latin typeface="Consolas" pitchFamily="49" charset="0"/>
              </a:rPr>
              <a:t> and call the </a:t>
            </a:r>
            <a:r>
              <a:rPr lang="en-US" sz="1000" dirty="0" err="1" smtClean="0">
                <a:latin typeface="Consolas" pitchFamily="49" charset="0"/>
              </a:rPr>
              <a:t>createTasks</a:t>
            </a:r>
            <a:r>
              <a:rPr lang="en-US" sz="1000" dirty="0" smtClean="0">
                <a:latin typeface="Consolas" pitchFamily="49" charset="0"/>
              </a:rPr>
              <a:t> function 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to create a list element for each entry */}</a:t>
            </a:r>
          </a:p>
          <a:p>
            <a:endParaRPr lang="en-US" sz="1000" dirty="0" smtClean="0">
              <a:latin typeface="Consolas" pitchFamily="49" charset="0"/>
            </a:endParaRPr>
          </a:p>
          <a:p>
            <a:r>
              <a:rPr lang="en-US" sz="1000" dirty="0" smtClean="0">
                <a:latin typeface="Consolas" pitchFamily="49" charset="0"/>
              </a:rPr>
              <a:t>                return (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&lt;</a:t>
            </a:r>
            <a:r>
              <a:rPr lang="en-US" sz="1000" dirty="0" err="1" smtClean="0">
                <a:latin typeface="Consolas" pitchFamily="49" charset="0"/>
              </a:rPr>
              <a:t>ul</a:t>
            </a:r>
            <a:r>
              <a:rPr lang="en-US" sz="1000" dirty="0" smtClean="0">
                <a:latin typeface="Consolas" pitchFamily="49" charset="0"/>
              </a:rPr>
              <a:t> </a:t>
            </a:r>
            <a:r>
              <a:rPr lang="en-US" sz="1000" dirty="0" err="1" smtClean="0">
                <a:latin typeface="Consolas" pitchFamily="49" charset="0"/>
              </a:rPr>
              <a:t>className</a:t>
            </a:r>
            <a:r>
              <a:rPr lang="en-US" sz="1000" dirty="0" smtClean="0">
                <a:latin typeface="Consolas" pitchFamily="49" charset="0"/>
              </a:rPr>
              <a:t>="</a:t>
            </a:r>
            <a:r>
              <a:rPr lang="en-US" sz="1000" dirty="0" err="1" smtClean="0">
                <a:latin typeface="Consolas" pitchFamily="49" charset="0"/>
              </a:rPr>
              <a:t>theList</a:t>
            </a:r>
            <a:r>
              <a:rPr lang="en-US" sz="1000" dirty="0" smtClean="0">
                <a:latin typeface="Consolas" pitchFamily="49" charset="0"/>
              </a:rPr>
              <a:t>"&gt;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    {</a:t>
            </a:r>
            <a:r>
              <a:rPr lang="en-US" sz="1000" dirty="0" err="1" smtClean="0">
                <a:latin typeface="Consolas" pitchFamily="49" charset="0"/>
              </a:rPr>
              <a:t>listItems</a:t>
            </a:r>
            <a:r>
              <a:rPr lang="en-US" sz="1000" dirty="0" smtClean="0">
                <a:latin typeface="Consolas" pitchFamily="49" charset="0"/>
              </a:rPr>
              <a:t>}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&lt;/</a:t>
            </a:r>
            <a:r>
              <a:rPr lang="en-US" sz="1000" dirty="0" err="1" smtClean="0">
                <a:latin typeface="Consolas" pitchFamily="49" charset="0"/>
              </a:rPr>
              <a:t>ul</a:t>
            </a:r>
            <a:r>
              <a:rPr lang="en-US" sz="1000" dirty="0" smtClean="0">
                <a:latin typeface="Consolas" pitchFamily="49" charset="0"/>
              </a:rPr>
              <a:t>&gt;</a:t>
            </a:r>
          </a:p>
          <a:p>
            <a:r>
              <a:rPr lang="en-US" sz="1000" dirty="0" smtClean="0">
                <a:latin typeface="Consolas" pitchFamily="49" charset="0"/>
              </a:rPr>
              <a:t>                );</a:t>
            </a:r>
          </a:p>
          <a:p>
            <a:r>
              <a:rPr lang="en-US" sz="1000" dirty="0" smtClean="0">
                <a:latin typeface="Consolas" pitchFamily="49" charset="0"/>
              </a:rPr>
              <a:t>            }</a:t>
            </a:r>
          </a:p>
          <a:p>
            <a:r>
              <a:rPr lang="en-US" sz="1000" dirty="0" smtClean="0">
                <a:latin typeface="Consolas" pitchFamily="49" charset="0"/>
              </a:rPr>
              <a:t>        }</a:t>
            </a:r>
          </a:p>
          <a:p>
            <a:r>
              <a:rPr lang="en-US" sz="10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  <a:p>
            <a:r>
              <a:rPr lang="en-US" sz="1000" dirty="0" smtClean="0">
                <a:latin typeface="Consolas" pitchFamily="49" charset="0"/>
              </a:rPr>
              <a:t>		   &lt;form </a:t>
            </a:r>
            <a:r>
              <a:rPr lang="en-US" sz="1000" dirty="0" err="1" smtClean="0">
                <a:latin typeface="Consolas" pitchFamily="49" charset="0"/>
              </a:rPr>
              <a:t>onSubmit</a:t>
            </a:r>
            <a:r>
              <a:rPr lang="en-US" sz="1000" dirty="0" smtClean="0">
                <a:latin typeface="Consolas" pitchFamily="49" charset="0"/>
              </a:rPr>
              <a:t>={</a:t>
            </a:r>
            <a:r>
              <a:rPr lang="en-US" sz="1000" dirty="0" err="1" smtClean="0">
                <a:latin typeface="Consolas" pitchFamily="49" charset="0"/>
              </a:rPr>
              <a:t>this.addItem</a:t>
            </a:r>
            <a:r>
              <a:rPr lang="en-US" sz="1000" dirty="0" smtClean="0">
                <a:latin typeface="Consolas" pitchFamily="49" charset="0"/>
              </a:rPr>
              <a:t>}&gt;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            &lt;input ref={(a) =&gt; </a:t>
            </a:r>
            <a:r>
              <a:rPr lang="en-US" sz="1000" dirty="0" err="1" smtClean="0">
                <a:latin typeface="Consolas" pitchFamily="49" charset="0"/>
              </a:rPr>
              <a:t>this._inputElement</a:t>
            </a:r>
            <a:r>
              <a:rPr lang="en-US" sz="1000" dirty="0" smtClean="0">
                <a:latin typeface="Consolas" pitchFamily="49" charset="0"/>
              </a:rPr>
              <a:t> = a}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                placeholder="enter task" /&gt;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            &lt;button type="submit"&gt;add&lt;/button&gt;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        &lt;/form&gt;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    &lt;/div&gt;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    &lt;</a:t>
            </a:r>
            <a:r>
              <a:rPr lang="en-US" sz="1000" dirty="0" err="1" smtClean="0">
                <a:latin typeface="Consolas" pitchFamily="49" charset="0"/>
              </a:rPr>
              <a:t>TodoItems</a:t>
            </a:r>
            <a:r>
              <a:rPr lang="en-US" sz="1000" dirty="0" smtClean="0">
                <a:latin typeface="Consolas" pitchFamily="49" charset="0"/>
              </a:rPr>
              <a:t> entries={</a:t>
            </a:r>
            <a:r>
              <a:rPr lang="en-US" sz="1000" dirty="0" err="1" smtClean="0">
                <a:latin typeface="Consolas" pitchFamily="49" charset="0"/>
              </a:rPr>
              <a:t>this.state.items</a:t>
            </a:r>
            <a:r>
              <a:rPr lang="en-US" sz="1000" dirty="0" smtClean="0">
                <a:latin typeface="Consolas" pitchFamily="49" charset="0"/>
              </a:rPr>
              <a:t>} /&gt;</a:t>
            </a:r>
          </a:p>
          <a:p>
            <a:r>
              <a:rPr lang="en-US" sz="10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983605" y="1295401"/>
            <a:ext cx="2931795" cy="24037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Implement Deletion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1371600"/>
            <a:ext cx="8153400" cy="51706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0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  <a:p>
            <a:r>
              <a:rPr lang="en-US" sz="1000" dirty="0" smtClean="0">
                <a:latin typeface="Consolas" pitchFamily="49" charset="0"/>
              </a:rPr>
              <a:t>class </a:t>
            </a:r>
            <a:r>
              <a:rPr lang="en-US" sz="1000" dirty="0" err="1" smtClean="0">
                <a:latin typeface="Consolas" pitchFamily="49" charset="0"/>
              </a:rPr>
              <a:t>TodoItems</a:t>
            </a:r>
            <a:r>
              <a:rPr lang="en-US" sz="1000" dirty="0" smtClean="0">
                <a:latin typeface="Consolas" pitchFamily="49" charset="0"/>
              </a:rPr>
              <a:t> extends </a:t>
            </a:r>
            <a:r>
              <a:rPr lang="en-US" sz="1000" dirty="0" err="1" smtClean="0">
                <a:latin typeface="Consolas" pitchFamily="49" charset="0"/>
              </a:rPr>
              <a:t>React.Component</a:t>
            </a:r>
            <a:r>
              <a:rPr lang="en-US" sz="1000" dirty="0" smtClean="0">
                <a:latin typeface="Consolas" pitchFamily="49" charset="0"/>
              </a:rPr>
              <a:t>{</a:t>
            </a:r>
          </a:p>
          <a:p>
            <a:r>
              <a:rPr lang="en-US" sz="10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  <a:p>
            <a:endParaRPr lang="en-US" sz="1000" dirty="0" smtClean="0">
              <a:latin typeface="Consolas" pitchFamily="49" charset="0"/>
            </a:endParaRPr>
          </a:p>
          <a:p>
            <a:r>
              <a:rPr lang="nb-NO" sz="1000" dirty="0" smtClean="0">
                <a:latin typeface="Consolas" pitchFamily="49" charset="0"/>
              </a:rPr>
              <a:t>            /* Define the delete event handler.</a:t>
            </a:r>
          </a:p>
          <a:p>
            <a:r>
              <a:rPr lang="en-US" sz="1000" dirty="0" smtClean="0">
                <a:latin typeface="Consolas" pitchFamily="49" charset="0"/>
              </a:rPr>
              <a:t>            Our delete function doesn't actually do any deleting.</a:t>
            </a:r>
          </a:p>
          <a:p>
            <a:r>
              <a:rPr lang="en-US" sz="1000" dirty="0" smtClean="0">
                <a:latin typeface="Consolas" pitchFamily="49" charset="0"/>
              </a:rPr>
              <a:t>            It just calls another delete function passed into this component via props. */</a:t>
            </a:r>
          </a:p>
          <a:p>
            <a:r>
              <a:rPr lang="en-US" sz="1000" dirty="0" smtClean="0">
                <a:latin typeface="Consolas" pitchFamily="49" charset="0"/>
              </a:rPr>
              <a:t>            delete(key) {</a:t>
            </a:r>
          </a:p>
          <a:p>
            <a:r>
              <a:rPr lang="en-US" sz="1000" dirty="0" smtClean="0">
                <a:latin typeface="Consolas" pitchFamily="49" charset="0"/>
              </a:rPr>
              <a:t>                </a:t>
            </a:r>
            <a:r>
              <a:rPr lang="en-US" sz="1000" dirty="0" err="1" smtClean="0">
                <a:latin typeface="Consolas" pitchFamily="49" charset="0"/>
              </a:rPr>
              <a:t>this.props.delete</a:t>
            </a:r>
            <a:r>
              <a:rPr lang="en-US" sz="1000" dirty="0" smtClean="0">
                <a:latin typeface="Consolas" pitchFamily="49" charset="0"/>
              </a:rPr>
              <a:t>(key);</a:t>
            </a:r>
          </a:p>
          <a:p>
            <a:r>
              <a:rPr lang="en-US" sz="1000" dirty="0" smtClean="0">
                <a:latin typeface="Consolas" pitchFamily="49" charset="0"/>
              </a:rPr>
              <a:t>            }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</a:t>
            </a:r>
          </a:p>
          <a:p>
            <a:endParaRPr lang="en-US" sz="1000" dirty="0" smtClean="0">
              <a:latin typeface="Consolas" pitchFamily="49" charset="0"/>
            </a:endParaRPr>
          </a:p>
          <a:p>
            <a:r>
              <a:rPr lang="en-US" sz="1000" dirty="0" smtClean="0">
                <a:latin typeface="Consolas" pitchFamily="49" charset="0"/>
              </a:rPr>
              <a:t>            </a:t>
            </a:r>
            <a:r>
              <a:rPr lang="en-US" sz="1000" dirty="0" err="1" smtClean="0">
                <a:latin typeface="Consolas" pitchFamily="49" charset="0"/>
              </a:rPr>
              <a:t>createTasks</a:t>
            </a:r>
            <a:r>
              <a:rPr lang="en-US" sz="1000" dirty="0" smtClean="0">
                <a:latin typeface="Consolas" pitchFamily="49" charset="0"/>
              </a:rPr>
              <a:t>(item) {</a:t>
            </a:r>
          </a:p>
          <a:p>
            <a:r>
              <a:rPr lang="en-US" sz="1000" dirty="0" smtClean="0">
                <a:latin typeface="Consolas" pitchFamily="49" charset="0"/>
              </a:rPr>
              <a:t>                return &lt;</a:t>
            </a:r>
            <a:r>
              <a:rPr lang="en-US" sz="1000" dirty="0" err="1" smtClean="0">
                <a:latin typeface="Consolas" pitchFamily="49" charset="0"/>
              </a:rPr>
              <a:t>li</a:t>
            </a:r>
            <a:r>
              <a:rPr lang="en-US" sz="1000" dirty="0" smtClean="0">
                <a:latin typeface="Consolas" pitchFamily="49" charset="0"/>
              </a:rPr>
              <a:t> </a:t>
            </a:r>
            <a:r>
              <a:rPr lang="en-US" sz="1000" dirty="0" err="1" smtClean="0">
                <a:latin typeface="Consolas" pitchFamily="49" charset="0"/>
              </a:rPr>
              <a:t>onClick</a:t>
            </a:r>
            <a:r>
              <a:rPr lang="en-US" sz="1000" dirty="0" smtClean="0">
                <a:latin typeface="Consolas" pitchFamily="49" charset="0"/>
              </a:rPr>
              <a:t>={() =&gt; </a:t>
            </a:r>
            <a:r>
              <a:rPr lang="en-US" sz="1000" dirty="0" err="1" smtClean="0">
                <a:latin typeface="Consolas" pitchFamily="49" charset="0"/>
              </a:rPr>
              <a:t>this.delete</a:t>
            </a:r>
            <a:r>
              <a:rPr lang="en-US" sz="1000" dirty="0" smtClean="0">
                <a:latin typeface="Consolas" pitchFamily="49" charset="0"/>
              </a:rPr>
              <a:t>(</a:t>
            </a:r>
            <a:r>
              <a:rPr lang="en-US" sz="1000" dirty="0" err="1" smtClean="0">
                <a:latin typeface="Consolas" pitchFamily="49" charset="0"/>
              </a:rPr>
              <a:t>item.key</a:t>
            </a:r>
            <a:r>
              <a:rPr lang="en-US" sz="1000" dirty="0" smtClean="0">
                <a:latin typeface="Consolas" pitchFamily="49" charset="0"/>
              </a:rPr>
              <a:t>)}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        key={</a:t>
            </a:r>
            <a:r>
              <a:rPr lang="en-US" sz="1000" dirty="0" err="1" smtClean="0">
                <a:latin typeface="Consolas" pitchFamily="49" charset="0"/>
              </a:rPr>
              <a:t>item.key</a:t>
            </a:r>
            <a:r>
              <a:rPr lang="en-US" sz="1000" dirty="0" smtClean="0">
                <a:latin typeface="Consolas" pitchFamily="49" charset="0"/>
              </a:rPr>
              <a:t>}&gt;{</a:t>
            </a:r>
            <a:r>
              <a:rPr lang="en-US" sz="1000" dirty="0" err="1" smtClean="0">
                <a:latin typeface="Consolas" pitchFamily="49" charset="0"/>
              </a:rPr>
              <a:t>item.text</a:t>
            </a:r>
            <a:r>
              <a:rPr lang="en-US" sz="1000" dirty="0" smtClean="0">
                <a:latin typeface="Consolas" pitchFamily="49" charset="0"/>
              </a:rPr>
              <a:t>}&lt;/</a:t>
            </a:r>
            <a:r>
              <a:rPr lang="en-US" sz="1000" dirty="0" err="1" smtClean="0">
                <a:latin typeface="Consolas" pitchFamily="49" charset="0"/>
              </a:rPr>
              <a:t>li</a:t>
            </a:r>
            <a:r>
              <a:rPr lang="en-US" sz="1000" dirty="0" smtClean="0">
                <a:latin typeface="Consolas" pitchFamily="49" charset="0"/>
              </a:rPr>
              <a:t>&gt;</a:t>
            </a:r>
          </a:p>
          <a:p>
            <a:r>
              <a:rPr lang="en-US" sz="1000" dirty="0" smtClean="0">
                <a:latin typeface="Consolas" pitchFamily="49" charset="0"/>
              </a:rPr>
              <a:t>            }</a:t>
            </a:r>
          </a:p>
          <a:p>
            <a:r>
              <a:rPr lang="en-US" sz="10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  <a:p>
            <a:r>
              <a:rPr lang="en-US" sz="1000" dirty="0" smtClean="0">
                <a:latin typeface="Consolas" pitchFamily="49" charset="0"/>
              </a:rPr>
              <a:t>            </a:t>
            </a:r>
            <a:r>
              <a:rPr lang="en-US" sz="1000" dirty="0" err="1" smtClean="0">
                <a:latin typeface="Consolas" pitchFamily="49" charset="0"/>
              </a:rPr>
              <a:t>deleteItem</a:t>
            </a:r>
            <a:r>
              <a:rPr lang="en-US" sz="1000" dirty="0" smtClean="0">
                <a:latin typeface="Consolas" pitchFamily="49" charset="0"/>
              </a:rPr>
              <a:t>(key) {</a:t>
            </a:r>
          </a:p>
          <a:p>
            <a:r>
              <a:rPr lang="en-US" sz="1000" dirty="0" smtClean="0">
                <a:latin typeface="Consolas" pitchFamily="49" charset="0"/>
              </a:rPr>
              <a:t>                </a:t>
            </a:r>
            <a:r>
              <a:rPr lang="en-US" sz="1000" dirty="0" err="1" smtClean="0">
                <a:latin typeface="Consolas" pitchFamily="49" charset="0"/>
              </a:rPr>
              <a:t>var</a:t>
            </a:r>
            <a:r>
              <a:rPr lang="en-US" sz="1000" dirty="0" smtClean="0">
                <a:latin typeface="Consolas" pitchFamily="49" charset="0"/>
              </a:rPr>
              <a:t> </a:t>
            </a:r>
            <a:r>
              <a:rPr lang="en-US" sz="1000" dirty="0" err="1" smtClean="0">
                <a:latin typeface="Consolas" pitchFamily="49" charset="0"/>
              </a:rPr>
              <a:t>filteredItems</a:t>
            </a:r>
            <a:r>
              <a:rPr lang="en-US" sz="1000" dirty="0" smtClean="0">
                <a:latin typeface="Consolas" pitchFamily="49" charset="0"/>
              </a:rPr>
              <a:t> = </a:t>
            </a:r>
            <a:r>
              <a:rPr lang="en-US" sz="1000" dirty="0" err="1" smtClean="0">
                <a:latin typeface="Consolas" pitchFamily="49" charset="0"/>
              </a:rPr>
              <a:t>this.state.items.filter</a:t>
            </a:r>
            <a:r>
              <a:rPr lang="en-US" sz="1000" dirty="0" smtClean="0">
                <a:latin typeface="Consolas" pitchFamily="49" charset="0"/>
              </a:rPr>
              <a:t>(function(item) {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return (</a:t>
            </a:r>
            <a:r>
              <a:rPr lang="en-US" sz="1000" dirty="0" err="1" smtClean="0">
                <a:latin typeface="Consolas" pitchFamily="49" charset="0"/>
              </a:rPr>
              <a:t>item.key</a:t>
            </a:r>
            <a:r>
              <a:rPr lang="en-US" sz="1000" dirty="0" smtClean="0">
                <a:latin typeface="Consolas" pitchFamily="49" charset="0"/>
              </a:rPr>
              <a:t> !== key);</a:t>
            </a:r>
          </a:p>
          <a:p>
            <a:r>
              <a:rPr lang="en-US" sz="1000" dirty="0" smtClean="0">
                <a:latin typeface="Consolas" pitchFamily="49" charset="0"/>
              </a:rPr>
              <a:t>                });</a:t>
            </a:r>
          </a:p>
          <a:p>
            <a:endParaRPr lang="en-US" sz="1000" dirty="0" smtClean="0">
              <a:latin typeface="Consolas" pitchFamily="49" charset="0"/>
            </a:endParaRPr>
          </a:p>
          <a:p>
            <a:r>
              <a:rPr lang="en-US" sz="1000" dirty="0" smtClean="0">
                <a:latin typeface="Consolas" pitchFamily="49" charset="0"/>
              </a:rPr>
              <a:t>                </a:t>
            </a:r>
            <a:r>
              <a:rPr lang="en-US" sz="1000" dirty="0" err="1" smtClean="0">
                <a:latin typeface="Consolas" pitchFamily="49" charset="0"/>
              </a:rPr>
              <a:t>this.setState</a:t>
            </a:r>
            <a:r>
              <a:rPr lang="en-US" sz="1000" dirty="0" smtClean="0">
                <a:latin typeface="Consolas" pitchFamily="49" charset="0"/>
              </a:rPr>
              <a:t>({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items: </a:t>
            </a:r>
            <a:r>
              <a:rPr lang="en-US" sz="1000" dirty="0" err="1" smtClean="0">
                <a:latin typeface="Consolas" pitchFamily="49" charset="0"/>
              </a:rPr>
              <a:t>filteredItems</a:t>
            </a:r>
            <a:endParaRPr lang="en-US" sz="1000" dirty="0" smtClean="0">
              <a:latin typeface="Consolas" pitchFamily="49" charset="0"/>
            </a:endParaRPr>
          </a:p>
          <a:p>
            <a:r>
              <a:rPr lang="en-US" sz="1000" dirty="0" smtClean="0">
                <a:latin typeface="Consolas" pitchFamily="49" charset="0"/>
              </a:rPr>
              <a:t>                });</a:t>
            </a:r>
          </a:p>
          <a:p>
            <a:r>
              <a:rPr lang="en-US" sz="1000" dirty="0" smtClean="0">
                <a:latin typeface="Consolas" pitchFamily="49" charset="0"/>
              </a:rPr>
              <a:t>            }</a:t>
            </a:r>
          </a:p>
          <a:p>
            <a:r>
              <a:rPr lang="en-US" sz="10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    &lt;</a:t>
            </a:r>
            <a:r>
              <a:rPr lang="en-US" sz="1000" dirty="0" err="1" smtClean="0">
                <a:latin typeface="Consolas" pitchFamily="49" charset="0"/>
              </a:rPr>
              <a:t>TodoItems</a:t>
            </a:r>
            <a:r>
              <a:rPr lang="en-US" sz="1000" dirty="0" smtClean="0">
                <a:latin typeface="Consolas" pitchFamily="49" charset="0"/>
              </a:rPr>
              <a:t> entries={</a:t>
            </a:r>
            <a:r>
              <a:rPr lang="en-US" sz="1000" dirty="0" err="1" smtClean="0">
                <a:latin typeface="Consolas" pitchFamily="49" charset="0"/>
              </a:rPr>
              <a:t>this.state.items</a:t>
            </a:r>
            <a:r>
              <a:rPr lang="en-US" sz="1000" dirty="0" smtClean="0">
                <a:latin typeface="Consolas" pitchFamily="49" charset="0"/>
              </a:rPr>
              <a:t>}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               delete={</a:t>
            </a:r>
            <a:r>
              <a:rPr lang="en-US" sz="1000" dirty="0" err="1" smtClean="0">
                <a:latin typeface="Consolas" pitchFamily="49" charset="0"/>
              </a:rPr>
              <a:t>this.deleteItem</a:t>
            </a:r>
            <a:r>
              <a:rPr lang="en-US" sz="1000" dirty="0" smtClean="0">
                <a:latin typeface="Consolas" pitchFamily="49" charset="0"/>
              </a:rPr>
              <a:t>} /&gt;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&lt;/div&gt;</a:t>
            </a:r>
          </a:p>
          <a:p>
            <a:r>
              <a:rPr lang="en-US" sz="1000" dirty="0" smtClean="0">
                <a:latin typeface="Consolas" pitchFamily="49" charset="0"/>
              </a:rPr>
              <a:t>                );</a:t>
            </a:r>
          </a:p>
          <a:p>
            <a:r>
              <a:rPr lang="en-US" sz="1000" dirty="0" smtClean="0">
                <a:latin typeface="Consolas" pitchFamily="49" charset="0"/>
              </a:rPr>
              <a:t>            }</a:t>
            </a:r>
          </a:p>
          <a:p>
            <a:r>
              <a:rPr lang="en-US" sz="10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2895600"/>
            <a:ext cx="2651125" cy="3105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Use Flip Move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04800" y="1415296"/>
            <a:ext cx="8153400" cy="1785104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0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  <a:p>
            <a:r>
              <a:rPr lang="en-US" sz="1000" dirty="0" smtClean="0">
                <a:latin typeface="Consolas" pitchFamily="49" charset="0"/>
              </a:rPr>
              <a:t> &lt;script </a:t>
            </a:r>
            <a:r>
              <a:rPr lang="en-US" sz="1000" dirty="0" err="1" smtClean="0">
                <a:latin typeface="Consolas" pitchFamily="49" charset="0"/>
              </a:rPr>
              <a:t>src</a:t>
            </a:r>
            <a:r>
              <a:rPr lang="en-US" sz="1000" dirty="0" smtClean="0">
                <a:latin typeface="Consolas" pitchFamily="49" charset="0"/>
              </a:rPr>
              <a:t>="https://cdnjs.cloudflare.com/ajax/libs/react-flip-move/3.0.3/react-flip-move.min.js"&gt;&lt;/script&gt;</a:t>
            </a:r>
          </a:p>
          <a:p>
            <a:r>
              <a:rPr lang="en-US" sz="10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  <a:p>
            <a:r>
              <a:rPr lang="en-US" sz="1000" dirty="0" smtClean="0">
                <a:latin typeface="Consolas" pitchFamily="49" charset="0"/>
              </a:rPr>
              <a:t> return (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&lt;</a:t>
            </a:r>
            <a:r>
              <a:rPr lang="en-US" sz="1000" dirty="0" err="1" smtClean="0">
                <a:latin typeface="Consolas" pitchFamily="49" charset="0"/>
              </a:rPr>
              <a:t>ul</a:t>
            </a:r>
            <a:r>
              <a:rPr lang="en-US" sz="1000" dirty="0" smtClean="0">
                <a:latin typeface="Consolas" pitchFamily="49" charset="0"/>
              </a:rPr>
              <a:t> </a:t>
            </a:r>
            <a:r>
              <a:rPr lang="en-US" sz="1000" dirty="0" err="1" smtClean="0">
                <a:latin typeface="Consolas" pitchFamily="49" charset="0"/>
              </a:rPr>
              <a:t>className</a:t>
            </a:r>
            <a:r>
              <a:rPr lang="en-US" sz="1000" dirty="0" smtClean="0">
                <a:latin typeface="Consolas" pitchFamily="49" charset="0"/>
              </a:rPr>
              <a:t>="</a:t>
            </a:r>
            <a:r>
              <a:rPr lang="en-US" sz="1000" dirty="0" err="1" smtClean="0">
                <a:latin typeface="Consolas" pitchFamily="49" charset="0"/>
              </a:rPr>
              <a:t>theList</a:t>
            </a:r>
            <a:r>
              <a:rPr lang="en-US" sz="1000" dirty="0" smtClean="0">
                <a:latin typeface="Consolas" pitchFamily="49" charset="0"/>
              </a:rPr>
              <a:t>"&gt;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    &lt;</a:t>
            </a:r>
            <a:r>
              <a:rPr lang="en-US" sz="1000" dirty="0" err="1" smtClean="0">
                <a:latin typeface="Consolas" pitchFamily="49" charset="0"/>
              </a:rPr>
              <a:t>FlipMove</a:t>
            </a:r>
            <a:r>
              <a:rPr lang="en-US" sz="1000" dirty="0" smtClean="0">
                <a:latin typeface="Consolas" pitchFamily="49" charset="0"/>
              </a:rPr>
              <a:t> duration={250} easing="ease-out"&gt;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        {</a:t>
            </a:r>
            <a:r>
              <a:rPr lang="en-US" sz="1000" dirty="0" err="1" smtClean="0">
                <a:latin typeface="Consolas" pitchFamily="49" charset="0"/>
              </a:rPr>
              <a:t>listItems</a:t>
            </a:r>
            <a:r>
              <a:rPr lang="en-US" sz="1000" dirty="0" smtClean="0">
                <a:latin typeface="Consolas" pitchFamily="49" charset="0"/>
              </a:rPr>
              <a:t>}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    &lt;/</a:t>
            </a:r>
            <a:r>
              <a:rPr lang="en-US" sz="1000" dirty="0" err="1" smtClean="0">
                <a:latin typeface="Consolas" pitchFamily="49" charset="0"/>
              </a:rPr>
              <a:t>FlipMove</a:t>
            </a:r>
            <a:r>
              <a:rPr lang="en-US" sz="1000" dirty="0" smtClean="0">
                <a:latin typeface="Consolas" pitchFamily="49" charset="0"/>
              </a:rPr>
              <a:t>&gt;</a:t>
            </a:r>
          </a:p>
          <a:p>
            <a:r>
              <a:rPr lang="en-US" sz="1000" dirty="0" smtClean="0">
                <a:latin typeface="Consolas" pitchFamily="49" charset="0"/>
              </a:rPr>
              <a:t>                    &lt;/</a:t>
            </a:r>
            <a:r>
              <a:rPr lang="en-US" sz="1000" dirty="0" err="1" smtClean="0">
                <a:latin typeface="Consolas" pitchFamily="49" charset="0"/>
              </a:rPr>
              <a:t>ul</a:t>
            </a:r>
            <a:r>
              <a:rPr lang="en-US" sz="1000" dirty="0" smtClean="0">
                <a:latin typeface="Consolas" pitchFamily="49" charset="0"/>
              </a:rPr>
              <a:t>&gt;</a:t>
            </a:r>
          </a:p>
          <a:p>
            <a:r>
              <a:rPr lang="en-US" sz="1000" dirty="0" smtClean="0">
                <a:latin typeface="Consolas" pitchFamily="49" charset="0"/>
              </a:rPr>
              <a:t>                );</a:t>
            </a:r>
          </a:p>
          <a:p>
            <a:r>
              <a:rPr lang="en-US" sz="1000" b="1" dirty="0" smtClean="0">
                <a:solidFill>
                  <a:srgbClr val="C00000"/>
                </a:solidFill>
                <a:latin typeface="Consolas" pitchFamily="49" charset="0"/>
              </a:rPr>
              <a:t>...</a:t>
            </a: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14600" y="3886200"/>
            <a:ext cx="3463290" cy="2125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Creating a Sliding Menu in React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Avoiding Unnecessary Renders in React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dirty="0" smtClean="0"/>
              <a:t>Rendering Components Dynamically</a:t>
            </a:r>
            <a:endParaRPr lang="en-US" sz="4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By utilizing JSX and </a:t>
            </a:r>
            <a:r>
              <a:rPr lang="en-US" dirty="0" err="1" smtClean="0"/>
              <a:t>React.createElement</a:t>
            </a:r>
            <a:r>
              <a:rPr lang="en-US" dirty="0" smtClean="0"/>
              <a:t>, we can render content with specific components and layouts by only using their name.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Create </a:t>
            </a:r>
            <a:r>
              <a:rPr lang="en-US" dirty="0" err="1" smtClean="0"/>
              <a:t>Foo</a:t>
            </a:r>
            <a:r>
              <a:rPr lang="en-US" dirty="0" smtClean="0"/>
              <a:t> Component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2118479"/>
            <a:ext cx="8153400" cy="31393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React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"react"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Foo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props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(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/&gt;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Hi I'm a </a:t>
            </a:r>
            <a:r>
              <a:rPr lang="en-US" dirty="0" err="1" smtClean="0">
                <a:solidFill>
                  <a:srgbClr val="CCCCCC"/>
                </a:solidFill>
                <a:latin typeface="Consolas"/>
              </a:rPr>
              <a:t>Foo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component with the headline: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h2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props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componentBlock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headline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h2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C586C0"/>
                </a:solidFill>
                <a:latin typeface="Consolas"/>
              </a:rPr>
              <a:t>export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default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Foo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Create Bar Component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2118479"/>
            <a:ext cx="8153400" cy="31393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React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"react"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Bar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props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(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/&gt;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Hi I'm a Bar component with the headline: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h2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props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componentBlock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headline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h2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);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C586C0"/>
                </a:solidFill>
                <a:latin typeface="Consolas"/>
              </a:rPr>
              <a:t>export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default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Bar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Prepare Configuration Data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707952"/>
            <a:ext cx="8153400" cy="467820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4FC1FF"/>
                </a:solidFill>
                <a:latin typeface="Consolas"/>
              </a:rPr>
              <a:t>data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content: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body: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[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  {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_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uid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"BUY6Drn9e1"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type: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foo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headline: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Foo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 headline"</a:t>
            </a:r>
            <a:endParaRPr lang="en-US" sz="14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  },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  {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_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uid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gJZoSLkfZV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type: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foo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headline: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"Another </a:t>
            </a:r>
            <a:r>
              <a:rPr lang="en-US" sz="1400" dirty="0" err="1" smtClean="0">
                <a:solidFill>
                  <a:srgbClr val="CE9178"/>
                </a:solidFill>
                <a:latin typeface="Consolas"/>
              </a:rPr>
              <a:t>Foo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 headline"</a:t>
            </a:r>
            <a:endParaRPr lang="en-US" sz="14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  },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  {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_</a:t>
            </a:r>
            <a:r>
              <a:rPr lang="en-US" sz="1400" dirty="0" err="1" smtClean="0">
                <a:solidFill>
                  <a:srgbClr val="9CDCFE"/>
                </a:solidFill>
                <a:latin typeface="Consolas"/>
              </a:rPr>
              <a:t>uid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"X1JAfdsZxy"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type: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"bar"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400" dirty="0" smtClean="0">
                <a:solidFill>
                  <a:srgbClr val="9CDCFE"/>
                </a:solidFill>
                <a:latin typeface="Consolas"/>
              </a:rPr>
              <a:t>headline:</a:t>
            </a:r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400" dirty="0" smtClean="0">
                <a:solidFill>
                  <a:srgbClr val="CE9178"/>
                </a:solidFill>
                <a:latin typeface="Consolas"/>
              </a:rPr>
              <a:t>"Bar headline"</a:t>
            </a:r>
            <a:endParaRPr lang="en-US" sz="14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  }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  ]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  }</a:t>
            </a:r>
          </a:p>
          <a:p>
            <a:r>
              <a:rPr lang="en-US" sz="1400" dirty="0" smtClean="0">
                <a:solidFill>
                  <a:srgbClr val="CCCCCC"/>
                </a:solidFill>
                <a:latin typeface="Consolas"/>
              </a:rPr>
              <a:t>};</a:t>
            </a:r>
            <a:endParaRPr lang="en-US" sz="1400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Render Component Type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2215277"/>
            <a:ext cx="8153400" cy="203132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App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(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className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"App"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data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content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body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map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component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component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}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Create Component Render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752600"/>
            <a:ext cx="8153400" cy="4524315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React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"react"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Foo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"./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Foo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Bar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"./Bar"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</a:t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Components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foo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Foo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bar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CDCAA"/>
                </a:solidFill>
                <a:latin typeface="Consolas"/>
              </a:rPr>
              <a:t>Bar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};</a:t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ComponentRenderer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(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component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 </a:t>
            </a:r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6A9955"/>
                </a:solidFill>
                <a:latin typeface="Consolas"/>
              </a:rPr>
              <a:t>// component does exist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if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(</a:t>
            </a:r>
            <a:r>
              <a:rPr lang="en-US" sz="1600" dirty="0" err="1" smtClean="0">
                <a:solidFill>
                  <a:srgbClr val="569CD6"/>
                </a:solidFill>
                <a:latin typeface="Consolas"/>
              </a:rPr>
              <a:t>typeof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Components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component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]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!==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"undefined"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)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4EC9B0"/>
                </a:solidFill>
                <a:latin typeface="Consolas"/>
              </a:rPr>
              <a:t>React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createElement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Components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[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component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type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],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key: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component</a:t>
            </a:r>
            <a:r>
              <a:rPr lang="en-US" sz="1600" dirty="0" err="1" smtClean="0">
                <a:solidFill>
                  <a:srgbClr val="CCCCCC"/>
                </a:solidFill>
                <a:latin typeface="Consolas"/>
              </a:rPr>
              <a:t>.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_uid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    </a:t>
            </a:r>
            <a:r>
              <a:rPr lang="en-US" sz="1600" dirty="0" err="1" smtClean="0">
                <a:solidFill>
                  <a:srgbClr val="9CDCFE"/>
                </a:solidFill>
                <a:latin typeface="Consolas"/>
              </a:rPr>
              <a:t>componentBlock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component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});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}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...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}</a:t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export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default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err="1" smtClean="0">
                <a:solidFill>
                  <a:srgbClr val="DCDCAA"/>
                </a:solidFill>
                <a:latin typeface="Consolas"/>
              </a:rPr>
              <a:t>ComponentRenderer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</a:t>
            </a:r>
            <a:endParaRPr lang="en-US" sz="1600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Render Components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2215277"/>
            <a:ext cx="8153400" cy="230832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App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(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className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"App"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dirty="0" err="1" smtClean="0">
                <a:solidFill>
                  <a:srgbClr val="4FC1FF"/>
                </a:solidFill>
                <a:latin typeface="Consolas"/>
              </a:rPr>
              <a:t>data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content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body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map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component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err="1" smtClean="0">
                <a:solidFill>
                  <a:srgbClr val="DCDCAA"/>
                </a:solidFill>
                <a:latin typeface="Consolas"/>
              </a:rPr>
              <a:t>ComponentRenderer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component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))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}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Prepare Data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524000"/>
            <a:ext cx="8153400" cy="477053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600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Data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[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id: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"1"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Davido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country: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"Nigeria"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genre: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"Afro-Pop"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albums: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"2"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},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...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{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id: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"4"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name: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</a:t>
            </a:r>
            <a:r>
              <a:rPr lang="en-US" sz="1600" dirty="0" err="1" smtClean="0">
                <a:solidFill>
                  <a:srgbClr val="CE9178"/>
                </a:solidFill>
                <a:latin typeface="Consolas"/>
              </a:rPr>
              <a:t>Sauti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 Sol"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country: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"Kenya"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genre: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"Soul"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,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sz="1600" dirty="0" smtClean="0">
                <a:solidFill>
                  <a:srgbClr val="9CDCFE"/>
                </a:solidFill>
                <a:latin typeface="Consolas"/>
              </a:rPr>
              <a:t>albums: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E9178"/>
                </a:solidFill>
                <a:latin typeface="Consolas"/>
              </a:rPr>
              <a:t>"3"</a:t>
            </a:r>
            <a:endParaRPr lang="en-US" sz="1600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    }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];</a:t>
            </a:r>
          </a:p>
          <a:p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sz="1600" dirty="0" smtClean="0">
                <a:solidFill>
                  <a:srgbClr val="CCCCCC"/>
                </a:solidFill>
                <a:latin typeface="Consolas"/>
              </a:rPr>
            </a:b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export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C586C0"/>
                </a:solidFill>
                <a:latin typeface="Consolas"/>
              </a:rPr>
              <a:t>default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sz="1600" dirty="0" smtClean="0">
                <a:solidFill>
                  <a:srgbClr val="4FC1FF"/>
                </a:solidFill>
                <a:latin typeface="Consolas"/>
              </a:rPr>
              <a:t>Data</a:t>
            </a:r>
            <a:r>
              <a:rPr lang="en-US" sz="1600" dirty="0" smtClean="0">
                <a:solidFill>
                  <a:srgbClr val="CCCCCC"/>
                </a:solidFill>
                <a:latin typeface="Consolas"/>
              </a:rPr>
              <a:t>;</a:t>
            </a:r>
            <a:endParaRPr lang="en-US" sz="1600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Render Data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600200"/>
            <a:ext cx="8153400" cy="480131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data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"./Data"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C586C0"/>
                </a:solidFill>
                <a:latin typeface="Consolas"/>
              </a:rPr>
              <a:t>export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default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Artists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(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MTV Base Headline Artists 2019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   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data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map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artist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(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key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artist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id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h2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artist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name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h2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p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genre: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artist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genre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p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p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Albums released: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artist</a:t>
            </a:r>
            <a:r>
              <a:rPr lang="en-US" dirty="0" err="1" smtClean="0">
                <a:solidFill>
                  <a:srgbClr val="D4D4D4"/>
                </a:solidFill>
                <a:latin typeface="Consolas"/>
              </a:rPr>
              <a:t>.</a:t>
            </a:r>
            <a:r>
              <a:rPr lang="en-US" dirty="0" err="1" smtClean="0">
                <a:solidFill>
                  <a:srgbClr val="9CDCFE"/>
                </a:solidFill>
                <a:latin typeface="Consolas"/>
              </a:rPr>
              <a:t>albums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p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hr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/&gt;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D4D4D4"/>
                </a:solidFill>
                <a:latin typeface="Consolas"/>
              </a:rPr>
              <a:t>            ))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);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}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Import Component Statically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2118479"/>
            <a:ext cx="8153400" cy="3139321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Artists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"./Artists"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App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(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Artists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/&gt;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);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C586C0"/>
                </a:solidFill>
                <a:latin typeface="Consolas"/>
              </a:rPr>
              <a:t>export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default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App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Import Component Dynamically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533400" y="1897082"/>
            <a:ext cx="8153400" cy="39703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C586C0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React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{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lazy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,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Suspense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}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from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"react"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</a:p>
          <a:p>
            <a:r>
              <a:rPr lang="en-US" dirty="0" smtClean="0">
                <a:solidFill>
                  <a:srgbClr val="569CD6"/>
                </a:solidFill>
                <a:latin typeface="Consolas"/>
              </a:rPr>
              <a:t>const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4FC1FF"/>
                </a:solidFill>
                <a:latin typeface="Consolas"/>
              </a:rPr>
              <a:t>Artists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lazy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(()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=&gt;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import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CE9178"/>
                </a:solidFill>
                <a:latin typeface="Consolas"/>
              </a:rPr>
              <a:t>"./Artists"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))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569CD6"/>
                </a:solidFill>
                <a:latin typeface="Consolas"/>
              </a:rPr>
              <a:t>function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App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() {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return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(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Suspense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9CDCFE"/>
                </a:solidFill>
                <a:latin typeface="Consolas"/>
              </a:rPr>
              <a:t>fallback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=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{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D4D4D4"/>
                </a:solidFill>
                <a:latin typeface="Consolas"/>
              </a:rPr>
              <a:t>Still Loading...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h1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}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Artists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/&gt;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4EC9B0"/>
                </a:solidFill>
                <a:latin typeface="Consolas"/>
              </a:rPr>
              <a:t>Suspense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  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&lt;/</a:t>
            </a:r>
            <a:r>
              <a:rPr lang="en-US" dirty="0" smtClean="0">
                <a:solidFill>
                  <a:srgbClr val="569CD6"/>
                </a:solidFill>
                <a:latin typeface="Consolas"/>
              </a:rPr>
              <a:t>div</a:t>
            </a:r>
            <a:r>
              <a:rPr lang="en-US" dirty="0" smtClean="0">
                <a:solidFill>
                  <a:srgbClr val="808080"/>
                </a:solidFill>
                <a:latin typeface="Consolas"/>
              </a:rPr>
              <a:t>&gt;</a:t>
            </a:r>
            <a:endParaRPr lang="en-US" dirty="0" smtClean="0">
              <a:solidFill>
                <a:srgbClr val="CCCCCC"/>
              </a:solidFill>
              <a:latin typeface="Consolas"/>
            </a:endParaRP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  );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>}</a:t>
            </a:r>
          </a:p>
          <a:p>
            <a:r>
              <a:rPr lang="en-US" dirty="0" smtClean="0">
                <a:solidFill>
                  <a:srgbClr val="CCCCCC"/>
                </a:solidFill>
                <a:latin typeface="Consolas"/>
              </a:rPr>
              <a:t/>
            </a:r>
            <a:br>
              <a:rPr lang="en-US" dirty="0" smtClean="0">
                <a:solidFill>
                  <a:srgbClr val="CCCCCC"/>
                </a:solidFill>
                <a:latin typeface="Consolas"/>
              </a:rPr>
            </a:br>
            <a:r>
              <a:rPr lang="en-US" dirty="0" smtClean="0">
                <a:solidFill>
                  <a:srgbClr val="C586C0"/>
                </a:solidFill>
                <a:latin typeface="Consolas"/>
              </a:rPr>
              <a:t>export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C586C0"/>
                </a:solidFill>
                <a:latin typeface="Consolas"/>
              </a:rPr>
              <a:t>default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 </a:t>
            </a:r>
            <a:r>
              <a:rPr lang="en-US" dirty="0" smtClean="0">
                <a:solidFill>
                  <a:srgbClr val="DCDCAA"/>
                </a:solidFill>
                <a:latin typeface="Consolas"/>
              </a:rPr>
              <a:t>App</a:t>
            </a:r>
            <a:r>
              <a:rPr lang="en-US" dirty="0" smtClean="0">
                <a:solidFill>
                  <a:srgbClr val="CCCCCC"/>
                </a:solidFill>
                <a:latin typeface="Consolas"/>
              </a:rPr>
              <a:t>;</a:t>
            </a:r>
            <a:endParaRPr lang="en-US" b="0" dirty="0">
              <a:solidFill>
                <a:srgbClr val="CCCCCC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Test Component Import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07720" y="2418080"/>
            <a:ext cx="7574280" cy="2382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</a:t>
            </a:r>
            <a:r>
              <a:rPr lang="en-US" smtClean="0"/>
              <a:t>You Again</a:t>
            </a:r>
            <a:endParaRPr lang="en-US" dirty="0" smtClean="0"/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20013</TotalTime>
  <Words>1211</Words>
  <Application>Microsoft Office PowerPoint</Application>
  <PresentationFormat>On-screen Show (4:3)</PresentationFormat>
  <Paragraphs>377</Paragraphs>
  <Slides>34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5" baseType="lpstr">
      <vt:lpstr>Office Theme</vt:lpstr>
      <vt:lpstr>Production</vt:lpstr>
      <vt:lpstr>Objectives</vt:lpstr>
      <vt:lpstr>Contents</vt:lpstr>
      <vt:lpstr>References</vt:lpstr>
      <vt:lpstr>1. Create Node.js Web App</vt:lpstr>
      <vt:lpstr>2. Add Environment Variables</vt:lpstr>
      <vt:lpstr>3. Create .gitignore</vt:lpstr>
      <vt:lpstr>4. Configure CORS</vt:lpstr>
      <vt:lpstr>Special case: "local" files (file://)</vt:lpstr>
      <vt:lpstr>Slide 10</vt:lpstr>
      <vt:lpstr>Using XMLHttpRequest</vt:lpstr>
      <vt:lpstr>Presentational vs. Container Components</vt:lpstr>
      <vt:lpstr>3. Create ToDo List App Sketch</vt:lpstr>
      <vt:lpstr>4. Create Task Array (Model)</vt:lpstr>
      <vt:lpstr>5. Create UI</vt:lpstr>
      <vt:lpstr>6. Implement Deletion</vt:lpstr>
      <vt:lpstr>7. Use Flip Move</vt:lpstr>
      <vt:lpstr>Creating a Sliding Menu in React</vt:lpstr>
      <vt:lpstr>Avoiding Unnecessary Renders in React</vt:lpstr>
      <vt:lpstr>Slide 20</vt:lpstr>
      <vt:lpstr>Rendering Components Dynamically</vt:lpstr>
      <vt:lpstr>1. Create Foo Component</vt:lpstr>
      <vt:lpstr>2. Create Bar Component</vt:lpstr>
      <vt:lpstr>3. Prepare Configuration Data</vt:lpstr>
      <vt:lpstr>4. Render Component Type</vt:lpstr>
      <vt:lpstr>5. Create Component Render</vt:lpstr>
      <vt:lpstr>6. Render Components</vt:lpstr>
      <vt:lpstr>Slide 28</vt:lpstr>
      <vt:lpstr>1. Prepare Data</vt:lpstr>
      <vt:lpstr>2. Render Data</vt:lpstr>
      <vt:lpstr>3. Import Component Statically</vt:lpstr>
      <vt:lpstr>4. Import Component Dynamically</vt:lpstr>
      <vt:lpstr>5. Test Component Import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5673</cp:revision>
  <dcterms:created xsi:type="dcterms:W3CDTF">2007-10-06T08:25:13Z</dcterms:created>
  <dcterms:modified xsi:type="dcterms:W3CDTF">2026-04-16T13:01:23Z</dcterms:modified>
</cp:coreProperties>
</file>