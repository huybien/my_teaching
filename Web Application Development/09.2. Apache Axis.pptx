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708" r:id="rId1"/>
  </p:sldMasterIdLst>
  <p:notesMasterIdLst>
    <p:notesMasterId r:id="rId13"/>
  </p:notesMasterIdLst>
  <p:sldIdLst>
    <p:sldId id="600" r:id="rId2"/>
    <p:sldId id="601" r:id="rId3"/>
    <p:sldId id="603" r:id="rId4"/>
    <p:sldId id="602" r:id="rId5"/>
    <p:sldId id="604" r:id="rId6"/>
    <p:sldId id="544" r:id="rId7"/>
    <p:sldId id="545" r:id="rId8"/>
    <p:sldId id="546" r:id="rId9"/>
    <p:sldId id="547" r:id="rId10"/>
    <p:sldId id="548" r:id="rId11"/>
    <p:sldId id="495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09" autoAdjust="0"/>
    <p:restoredTop sz="94667" autoAdjust="0"/>
  </p:normalViewPr>
  <p:slideViewPr>
    <p:cSldViewPr>
      <p:cViewPr>
        <p:scale>
          <a:sx n="50" d="100"/>
          <a:sy n="50" d="100"/>
        </p:scale>
        <p:origin x="-1542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1904DB-4A6B-4FD1-8300-AC48B6BD18CB}" type="datetimeFigureOut">
              <a:rPr lang="en-US" smtClean="0"/>
              <a:pPr/>
              <a:t>4/4/2024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51A86C-6354-47C6-821A-4100A8F28FB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4/4/2024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4/4/2024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4/4/2024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4/4/2024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4/4/2024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4/4/2024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xis.apache.org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tomcat.apache.org/" TargetMode="External"/><Relationship Id="rId2" Type="http://schemas.openxmlformats.org/officeDocument/2006/relationships/hyperlink" Target="http://www.oracle.com/technetwork/java/javase/downloads/index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fiddler2.com/fiddler2/" TargetMode="External"/><Relationship Id="rId5" Type="http://schemas.openxmlformats.org/officeDocument/2006/relationships/hyperlink" Target="http://ws.apache.org/wsif/" TargetMode="External"/><Relationship Id="rId4" Type="http://schemas.openxmlformats.org/officeDocument/2006/relationships/hyperlink" Target="http://ws.apache.org/axis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>
            <a:normAutofit/>
          </a:bodyPr>
          <a:lstStyle/>
          <a:p>
            <a:r>
              <a:rPr lang="en-US" sz="6000" dirty="0" smtClean="0"/>
              <a:t>Apache Axis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>
              <a:defRPr/>
            </a:pPr>
            <a:r>
              <a:rPr lang="en-US" sz="5400" dirty="0" smtClean="0"/>
              <a:t>Lecturer: Ngo Huy Bien</a:t>
            </a:r>
          </a:p>
          <a:p>
            <a:pPr>
              <a:defRPr/>
            </a:pPr>
            <a:r>
              <a:rPr lang="en-US" sz="4400" dirty="0" smtClean="0"/>
              <a:t>Software Engineering Department</a:t>
            </a:r>
          </a:p>
          <a:p>
            <a:pPr>
              <a:defRPr/>
            </a:pPr>
            <a:r>
              <a:rPr lang="en-US" sz="4400" dirty="0" smtClean="0"/>
              <a:t>Faculty of Information Technology</a:t>
            </a:r>
          </a:p>
          <a:p>
            <a:pPr>
              <a:defRPr/>
            </a:pPr>
            <a:r>
              <a:rPr lang="en-US" sz="4400" dirty="0" smtClean="0"/>
              <a:t>VNUHCM - University of Science</a:t>
            </a:r>
          </a:p>
          <a:p>
            <a:pPr>
              <a:defRPr/>
            </a:pPr>
            <a:r>
              <a:rPr lang="en-US" sz="4400" dirty="0" smtClean="0"/>
              <a:t>Ho Chi Minh City, Vietnam</a:t>
            </a:r>
          </a:p>
          <a:p>
            <a:pPr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34289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334000" cy="4525963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200" dirty="0" err="1" smtClean="0"/>
              <a:t>Ramarao</a:t>
            </a:r>
            <a:r>
              <a:rPr lang="en-US" sz="2200" dirty="0" smtClean="0"/>
              <a:t> </a:t>
            </a:r>
            <a:r>
              <a:rPr lang="en-US" sz="2200" dirty="0" err="1" smtClean="0"/>
              <a:t>Kanneganti</a:t>
            </a:r>
            <a:r>
              <a:rPr lang="en-US" sz="2200" dirty="0" smtClean="0"/>
              <a:t> and Prasad </a:t>
            </a:r>
            <a:r>
              <a:rPr lang="en-US" sz="2200" dirty="0" err="1" smtClean="0"/>
              <a:t>Chodavarapu</a:t>
            </a:r>
            <a:r>
              <a:rPr lang="en-US" sz="2200" dirty="0" smtClean="0"/>
              <a:t> (2008). SOA Security. Manning Publications Co.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Apache Axis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https://axis.apache.org</a:t>
            </a:r>
            <a:r>
              <a:rPr lang="en-US" sz="2400" dirty="0" smtClean="0">
                <a:hlinkClick r:id="rId2"/>
              </a:rPr>
              <a:t>/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 smtClean="0"/>
              <a:t>well known </a:t>
            </a:r>
            <a:r>
              <a:rPr lang="en-US" sz="2400" i="1" dirty="0" smtClean="0">
                <a:solidFill>
                  <a:srgbClr val="C00000"/>
                </a:solidFill>
              </a:rPr>
              <a:t>Apache Axis</a:t>
            </a:r>
            <a:r>
              <a:rPr lang="en-US" sz="2400" dirty="0" smtClean="0"/>
              <a:t>, and the </a:t>
            </a:r>
            <a:r>
              <a:rPr lang="en-US" sz="2400" dirty="0" err="1" smtClean="0"/>
              <a:t>the</a:t>
            </a:r>
            <a:r>
              <a:rPr lang="en-US" sz="2400" dirty="0" smtClean="0"/>
              <a:t> second generation of it, the </a:t>
            </a:r>
            <a:r>
              <a:rPr lang="en-US" sz="2400" i="1" dirty="0" smtClean="0">
                <a:solidFill>
                  <a:srgbClr val="C00000"/>
                </a:solidFill>
              </a:rPr>
              <a:t>Apache Axis2</a:t>
            </a:r>
            <a:r>
              <a:rPr lang="en-US" sz="2400" dirty="0" smtClean="0"/>
              <a:t>, are two </a:t>
            </a:r>
            <a:r>
              <a:rPr lang="en-US" sz="2400" u="sng" dirty="0" smtClean="0"/>
              <a:t>Web Service containers</a:t>
            </a:r>
            <a:r>
              <a:rPr lang="en-US" sz="2400" dirty="0" smtClean="0"/>
              <a:t> that helps users to </a:t>
            </a:r>
            <a:r>
              <a:rPr lang="en-US" sz="2400" u="sng" dirty="0" smtClean="0"/>
              <a:t>create</a:t>
            </a:r>
            <a:r>
              <a:rPr lang="en-US" sz="2400" dirty="0" smtClean="0"/>
              <a:t>, </a:t>
            </a:r>
            <a:r>
              <a:rPr lang="en-US" sz="2400" u="sng" dirty="0" smtClean="0"/>
              <a:t>deploy</a:t>
            </a:r>
            <a:r>
              <a:rPr lang="en-US" sz="2400" dirty="0" smtClean="0"/>
              <a:t>, and </a:t>
            </a:r>
            <a:r>
              <a:rPr lang="en-US" sz="2400" u="sng" dirty="0" smtClean="0"/>
              <a:t>run Web Services</a:t>
            </a:r>
            <a:r>
              <a:rPr lang="en-US" sz="2400" dirty="0" smtClean="0"/>
              <a:t>. </a:t>
            </a:r>
          </a:p>
          <a:p>
            <a:r>
              <a:rPr lang="en-US" sz="2400" dirty="0" smtClean="0"/>
              <a:t>Axis2 is </a:t>
            </a:r>
            <a:r>
              <a:rPr lang="en-US" sz="2400" dirty="0" err="1" smtClean="0"/>
              <a:t>avaialble</a:t>
            </a:r>
            <a:r>
              <a:rPr lang="en-US" sz="2400" dirty="0" smtClean="0"/>
              <a:t> in both Java as well as </a:t>
            </a:r>
            <a:r>
              <a:rPr lang="en-US" sz="2400" dirty="0" smtClean="0"/>
              <a:t>C.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Tools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Java SE Development Kit</a:t>
            </a:r>
          </a:p>
          <a:p>
            <a:pPr lvl="1"/>
            <a:r>
              <a:rPr lang="en-US" sz="1800" dirty="0" smtClean="0">
                <a:hlinkClick r:id="rId2"/>
              </a:rPr>
              <a:t>http://www.oracle.com/technetwork/java/javase/downloads/index.html</a:t>
            </a:r>
            <a:endParaRPr lang="en-US" sz="1800" dirty="0" smtClean="0"/>
          </a:p>
          <a:p>
            <a:r>
              <a:rPr lang="en-US" sz="2400" dirty="0" smtClean="0"/>
              <a:t>Apache Tomcat</a:t>
            </a:r>
          </a:p>
          <a:p>
            <a:pPr lvl="1"/>
            <a:r>
              <a:rPr lang="en-US" sz="1800" dirty="0" smtClean="0">
                <a:hlinkClick r:id="rId3"/>
              </a:rPr>
              <a:t>http://tomcat.apache.org/</a:t>
            </a:r>
            <a:endParaRPr lang="en-US" sz="1800" dirty="0" smtClean="0"/>
          </a:p>
          <a:p>
            <a:r>
              <a:rPr lang="en-US" sz="2400" dirty="0" smtClean="0"/>
              <a:t>Apache Axis</a:t>
            </a:r>
          </a:p>
          <a:p>
            <a:pPr lvl="1"/>
            <a:r>
              <a:rPr lang="en-US" sz="1800" dirty="0" smtClean="0">
                <a:hlinkClick r:id="rId4"/>
              </a:rPr>
              <a:t>http://ws.apache.org/axis/</a:t>
            </a:r>
            <a:endParaRPr lang="en-US" sz="1800" dirty="0" smtClean="0"/>
          </a:p>
          <a:p>
            <a:r>
              <a:rPr lang="en-US" sz="2400" dirty="0" smtClean="0"/>
              <a:t>Web Services Invocation Framework</a:t>
            </a:r>
          </a:p>
          <a:p>
            <a:pPr lvl="1"/>
            <a:r>
              <a:rPr lang="en-US" sz="1800" dirty="0" smtClean="0">
                <a:hlinkClick r:id="rId5"/>
              </a:rPr>
              <a:t>http://ws.apache.org/wsif/</a:t>
            </a:r>
            <a:endParaRPr lang="en-US" sz="1800" dirty="0" smtClean="0"/>
          </a:p>
          <a:p>
            <a:pPr lvl="1"/>
            <a:r>
              <a:rPr lang="en-US" sz="1800" dirty="0" smtClean="0">
                <a:hlinkClick r:id="rId6"/>
              </a:rPr>
              <a:t>http://www.fiddler2.com/fiddler2/</a:t>
            </a:r>
            <a:endParaRPr lang="en-US" sz="1800" dirty="0" smtClean="0"/>
          </a:p>
          <a:p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Creating </a:t>
            </a:r>
            <a:r>
              <a:rPr lang="en-US" dirty="0" smtClean="0"/>
              <a:t>a Web </a:t>
            </a:r>
            <a:r>
              <a:rPr lang="en-US" dirty="0" smtClean="0"/>
              <a:t>Service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Defining the </a:t>
            </a:r>
            <a:r>
              <a:rPr lang="en-US" sz="2400" i="1" dirty="0" smtClean="0">
                <a:solidFill>
                  <a:srgbClr val="C00000"/>
                </a:solidFill>
              </a:rPr>
              <a:t>service interface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Converting the interface to </a:t>
            </a:r>
            <a:r>
              <a:rPr lang="en-US" sz="2400" i="1" dirty="0" smtClean="0">
                <a:solidFill>
                  <a:srgbClr val="C00000"/>
                </a:solidFill>
              </a:rPr>
              <a:t>WSDL</a:t>
            </a:r>
            <a:r>
              <a:rPr lang="en-US" sz="2400" dirty="0" smtClean="0"/>
              <a:t>: The Ant script available in the examples archive provides a java2wsdl target.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Implementing</a:t>
            </a:r>
            <a:r>
              <a:rPr lang="en-US" sz="2400" dirty="0" smtClean="0"/>
              <a:t> the service: Axis provides a WSDL2Java tool to assist in implementing the service and testing it.</a:t>
            </a:r>
          </a:p>
          <a:p>
            <a:r>
              <a:rPr lang="en-US" sz="2400" dirty="0" smtClean="0"/>
              <a:t>Deploying the service: Run the command </a:t>
            </a:r>
            <a:r>
              <a:rPr lang="en-US" sz="2400" i="1" dirty="0" smtClean="0">
                <a:solidFill>
                  <a:srgbClr val="C00000"/>
                </a:solidFill>
              </a:rPr>
              <a:t>ant deploy</a:t>
            </a:r>
            <a:r>
              <a:rPr lang="en-US" sz="2400" dirty="0" smtClean="0"/>
              <a:t>. The Ant script packages the classes needed as a jar file that is then copied to the </a:t>
            </a:r>
            <a:r>
              <a:rPr lang="en-US" sz="2400" dirty="0" err="1" smtClean="0"/>
              <a:t>webapps</a:t>
            </a:r>
            <a:r>
              <a:rPr lang="en-US" sz="2400" dirty="0" smtClean="0"/>
              <a:t>/axis/WEB-INF/lib/ folder of Tomcat.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914400" y="2133600"/>
            <a:ext cx="7620000" cy="1200329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interface Brokerage extends 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java.rmi.Remote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{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public float 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getQuote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(String symbol)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 throws 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java.rmi.RemoteException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3. Invoke Service using</a:t>
            </a:r>
            <a:r>
              <a:rPr lang="en-US" sz="3800" dirty="0" smtClean="0"/>
              <a:t> </a:t>
            </a:r>
            <a:r>
              <a:rPr lang="en-US" sz="3800" dirty="0" smtClean="0"/>
              <a:t>Pre-generated </a:t>
            </a:r>
            <a:r>
              <a:rPr lang="en-US" sz="3800" dirty="0" smtClean="0"/>
              <a:t>Stubs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2514600"/>
          </a:xfrm>
        </p:spPr>
        <p:txBody>
          <a:bodyPr/>
          <a:lstStyle/>
          <a:p>
            <a:r>
              <a:rPr lang="en-US" sz="2400" dirty="0" smtClean="0"/>
              <a:t>In this mechanism, the client application developers have </a:t>
            </a:r>
            <a:r>
              <a:rPr lang="en-US" sz="2400" i="1" dirty="0" smtClean="0">
                <a:solidFill>
                  <a:srgbClr val="C00000"/>
                </a:solidFill>
              </a:rPr>
              <a:t>access to WSDL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Tools such as </a:t>
            </a:r>
            <a:r>
              <a:rPr lang="en-US" sz="2400" i="1" dirty="0" smtClean="0">
                <a:solidFill>
                  <a:srgbClr val="C00000"/>
                </a:solidFill>
              </a:rPr>
              <a:t>WSDL2Java</a:t>
            </a:r>
            <a:r>
              <a:rPr lang="en-US" sz="2400" dirty="0" smtClean="0"/>
              <a:t> generate a class that implements all the service interface methods to simply forward each method call to the real service implementation using SOAP RPC.</a:t>
            </a:r>
          </a:p>
          <a:p>
            <a:r>
              <a:rPr lang="en-US" sz="2400" dirty="0" smtClean="0"/>
              <a:t>Such generated classes are known as </a:t>
            </a:r>
            <a:r>
              <a:rPr lang="en-US" sz="2400" i="1" dirty="0" smtClean="0">
                <a:solidFill>
                  <a:srgbClr val="C00000"/>
                </a:solidFill>
              </a:rPr>
              <a:t>client stubs</a:t>
            </a:r>
            <a:r>
              <a:rPr lang="en-US" sz="2400" dirty="0" smtClean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362271"/>
            <a:ext cx="7620000" cy="400110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float quote = 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stub.getQuote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();</a:t>
            </a:r>
            <a:endParaRPr lang="en-US" sz="2000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4. Invoke Service using </a:t>
            </a:r>
            <a:r>
              <a:rPr lang="en-US" sz="4000" dirty="0" smtClean="0"/>
              <a:t>Dynamic Proxy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667000"/>
          </a:xfrm>
        </p:spPr>
        <p:txBody>
          <a:bodyPr/>
          <a:lstStyle/>
          <a:p>
            <a:r>
              <a:rPr lang="en-US" sz="2200" dirty="0" smtClean="0"/>
              <a:t>The client application developers have only access to the </a:t>
            </a:r>
            <a:r>
              <a:rPr lang="en-US" sz="2200" i="1" dirty="0" smtClean="0">
                <a:solidFill>
                  <a:srgbClr val="C00000"/>
                </a:solidFill>
              </a:rPr>
              <a:t>server-side interface</a:t>
            </a:r>
            <a:r>
              <a:rPr lang="en-US" sz="2200" dirty="0" smtClean="0"/>
              <a:t> when developing.</a:t>
            </a:r>
          </a:p>
          <a:p>
            <a:r>
              <a:rPr lang="en-US" sz="2200" dirty="0" smtClean="0"/>
              <a:t>WSDL is only available </a:t>
            </a:r>
            <a:r>
              <a:rPr lang="en-US" sz="2200" i="1" dirty="0" smtClean="0">
                <a:solidFill>
                  <a:srgbClr val="C00000"/>
                </a:solidFill>
              </a:rPr>
              <a:t>at runtime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The toolkits need to generate </a:t>
            </a:r>
            <a:r>
              <a:rPr lang="en-US" sz="2200" i="1" dirty="0" smtClean="0">
                <a:solidFill>
                  <a:srgbClr val="C00000"/>
                </a:solidFill>
              </a:rPr>
              <a:t>at runtime</a:t>
            </a:r>
            <a:r>
              <a:rPr lang="en-US" sz="2200" dirty="0" smtClean="0"/>
              <a:t> an object that implements a given service interface.</a:t>
            </a:r>
          </a:p>
          <a:p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generated object</a:t>
            </a:r>
            <a:r>
              <a:rPr lang="en-US" sz="2200" dirty="0" smtClean="0"/>
              <a:t> should of course forward each method call to the real service implementation using SOAP RPC.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85988" y="4419600"/>
            <a:ext cx="4772025" cy="221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5. Invoke Service using </a:t>
            </a:r>
            <a:r>
              <a:rPr lang="en-US" sz="3800" dirty="0" smtClean="0"/>
              <a:t>Dynamic Invocation Interface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1"/>
            <a:ext cx="8229600" cy="1981199"/>
          </a:xfrm>
        </p:spPr>
        <p:txBody>
          <a:bodyPr/>
          <a:lstStyle/>
          <a:p>
            <a:r>
              <a:rPr lang="en-US" sz="2400" dirty="0" smtClean="0"/>
              <a:t>An application </a:t>
            </a:r>
            <a:r>
              <a:rPr lang="en-US" sz="2400" i="1" dirty="0" smtClean="0">
                <a:solidFill>
                  <a:srgbClr val="C00000"/>
                </a:solidFill>
              </a:rPr>
              <a:t>does not know</a:t>
            </a:r>
            <a:r>
              <a:rPr lang="en-US" sz="2400" dirty="0" smtClean="0"/>
              <a:t> the interface or WSDL at design time.</a:t>
            </a:r>
          </a:p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Call object</a:t>
            </a:r>
            <a:r>
              <a:rPr lang="en-US" sz="2400" dirty="0" smtClean="0"/>
              <a:t> can be used to fill in the in and in/out parameters and retrieve the out and in/out parameters after invocation.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0638" y="4095750"/>
            <a:ext cx="6562725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18191</TotalTime>
  <Words>400</Words>
  <Application>Microsoft Office PowerPoint</Application>
  <PresentationFormat>On-screen Show (4:3)</PresentationFormat>
  <Paragraphs>52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Apache Axis</vt:lpstr>
      <vt:lpstr>Objectives</vt:lpstr>
      <vt:lpstr>Contents</vt:lpstr>
      <vt:lpstr>References</vt:lpstr>
      <vt:lpstr>Apache Axis</vt:lpstr>
      <vt:lpstr>1. Install Tools [1]</vt:lpstr>
      <vt:lpstr>2. Creating a Web Service</vt:lpstr>
      <vt:lpstr>3. Invoke Service using Pre-generated Stubs</vt:lpstr>
      <vt:lpstr>4. Invoke Service using Dynamic Proxy</vt:lpstr>
      <vt:lpstr>5. Invoke Service using Dynamic Invocation Interface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4897</cp:revision>
  <dcterms:created xsi:type="dcterms:W3CDTF">2007-10-06T08:25:13Z</dcterms:created>
  <dcterms:modified xsi:type="dcterms:W3CDTF">2024-04-03T17:44:37Z</dcterms:modified>
</cp:coreProperties>
</file>