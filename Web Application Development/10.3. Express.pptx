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4"/>
  </p:notesMasterIdLst>
  <p:sldIdLst>
    <p:sldId id="256" r:id="rId2"/>
    <p:sldId id="367" r:id="rId3"/>
    <p:sldId id="488" r:id="rId4"/>
    <p:sldId id="368" r:id="rId5"/>
    <p:sldId id="467" r:id="rId6"/>
    <p:sldId id="474" r:id="rId7"/>
    <p:sldId id="475" r:id="rId8"/>
    <p:sldId id="476" r:id="rId9"/>
    <p:sldId id="477" r:id="rId10"/>
    <p:sldId id="478" r:id="rId11"/>
    <p:sldId id="479" r:id="rId12"/>
    <p:sldId id="402" r:id="rId13"/>
    <p:sldId id="480" r:id="rId14"/>
    <p:sldId id="481" r:id="rId15"/>
    <p:sldId id="483" r:id="rId16"/>
    <p:sldId id="484" r:id="rId17"/>
    <p:sldId id="486" r:id="rId18"/>
    <p:sldId id="487" r:id="rId19"/>
    <p:sldId id="482" r:id="rId20"/>
    <p:sldId id="397" r:id="rId21"/>
    <p:sldId id="399" r:id="rId22"/>
    <p:sldId id="400" r:id="rId23"/>
    <p:sldId id="403" r:id="rId24"/>
    <p:sldId id="404" r:id="rId25"/>
    <p:sldId id="405" r:id="rId26"/>
    <p:sldId id="407" r:id="rId27"/>
    <p:sldId id="406" r:id="rId28"/>
    <p:sldId id="409" r:id="rId29"/>
    <p:sldId id="414" r:id="rId30"/>
    <p:sldId id="413" r:id="rId31"/>
    <p:sldId id="415" r:id="rId32"/>
    <p:sldId id="416" r:id="rId33"/>
    <p:sldId id="417" r:id="rId34"/>
    <p:sldId id="394" r:id="rId35"/>
    <p:sldId id="418" r:id="rId36"/>
    <p:sldId id="419" r:id="rId37"/>
    <p:sldId id="421" r:id="rId38"/>
    <p:sldId id="422" r:id="rId39"/>
    <p:sldId id="423" r:id="rId40"/>
    <p:sldId id="489" r:id="rId41"/>
    <p:sldId id="490" r:id="rId42"/>
    <p:sldId id="343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6928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577A47-988C-4820-9673-F746234A6788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6223414D-0F8C-4590-9ED5-6073763F789D}">
      <dgm:prSet phldrT="[Text]"/>
      <dgm:spPr/>
      <dgm:t>
        <a:bodyPr/>
        <a:lstStyle/>
        <a:p>
          <a:r>
            <a:rPr lang="en-US" dirty="0" smtClean="0"/>
            <a:t>Request</a:t>
          </a:r>
          <a:endParaRPr lang="en-US" dirty="0"/>
        </a:p>
      </dgm:t>
    </dgm:pt>
    <dgm:pt modelId="{AD14388D-1572-4119-AC25-A8B91F72735A}" type="parTrans" cxnId="{070F4ACC-0046-4998-BB47-DCA90B25430A}">
      <dgm:prSet/>
      <dgm:spPr/>
      <dgm:t>
        <a:bodyPr/>
        <a:lstStyle/>
        <a:p>
          <a:endParaRPr lang="en-US"/>
        </a:p>
      </dgm:t>
    </dgm:pt>
    <dgm:pt modelId="{965FF167-9E42-407C-AF14-A6B490A315F8}" type="sibTrans" cxnId="{070F4ACC-0046-4998-BB47-DCA90B25430A}">
      <dgm:prSet/>
      <dgm:spPr/>
      <dgm:t>
        <a:bodyPr/>
        <a:lstStyle/>
        <a:p>
          <a:endParaRPr lang="en-US"/>
        </a:p>
      </dgm:t>
    </dgm:pt>
    <dgm:pt modelId="{E92F343D-8F44-432E-84F9-4BB8665CEDE5}">
      <dgm:prSet phldrT="[Text]"/>
      <dgm:spPr/>
      <dgm:t>
        <a:bodyPr/>
        <a:lstStyle/>
        <a:p>
          <a:r>
            <a:rPr lang="en-US" dirty="0" smtClean="0"/>
            <a:t>Middleware 1</a:t>
          </a:r>
          <a:endParaRPr lang="en-US" dirty="0"/>
        </a:p>
      </dgm:t>
    </dgm:pt>
    <dgm:pt modelId="{D138C5D1-2B83-4231-BF16-32B9EDB3D7F9}" type="parTrans" cxnId="{77ED1218-6441-4D87-B10A-A5F0CA2CD46F}">
      <dgm:prSet/>
      <dgm:spPr/>
      <dgm:t>
        <a:bodyPr/>
        <a:lstStyle/>
        <a:p>
          <a:endParaRPr lang="en-US"/>
        </a:p>
      </dgm:t>
    </dgm:pt>
    <dgm:pt modelId="{8A6A38D8-1D2E-4C62-9784-618B0E78EA40}" type="sibTrans" cxnId="{77ED1218-6441-4D87-B10A-A5F0CA2CD46F}">
      <dgm:prSet/>
      <dgm:spPr/>
      <dgm:t>
        <a:bodyPr/>
        <a:lstStyle/>
        <a:p>
          <a:endParaRPr lang="en-US"/>
        </a:p>
      </dgm:t>
    </dgm:pt>
    <dgm:pt modelId="{D641E0C7-6842-474B-8F41-57CFA9F36B58}">
      <dgm:prSet phldrT="[Text]"/>
      <dgm:spPr/>
      <dgm:t>
        <a:bodyPr/>
        <a:lstStyle/>
        <a:p>
          <a:r>
            <a:rPr lang="en-US" dirty="0" smtClean="0"/>
            <a:t>Middleware 2</a:t>
          </a:r>
          <a:endParaRPr lang="en-US" dirty="0"/>
        </a:p>
      </dgm:t>
    </dgm:pt>
    <dgm:pt modelId="{5EAD63C8-37C0-4FCD-AF86-121C312603D5}" type="parTrans" cxnId="{D9747C1C-4AD9-4FF8-A813-F6151BD2AFB5}">
      <dgm:prSet/>
      <dgm:spPr/>
      <dgm:t>
        <a:bodyPr/>
        <a:lstStyle/>
        <a:p>
          <a:endParaRPr lang="en-US"/>
        </a:p>
      </dgm:t>
    </dgm:pt>
    <dgm:pt modelId="{F8F2443B-D7C9-415D-A0DB-82D7F6BB720F}" type="sibTrans" cxnId="{D9747C1C-4AD9-4FF8-A813-F6151BD2AFB5}">
      <dgm:prSet/>
      <dgm:spPr/>
      <dgm:t>
        <a:bodyPr/>
        <a:lstStyle/>
        <a:p>
          <a:endParaRPr lang="en-US"/>
        </a:p>
      </dgm:t>
    </dgm:pt>
    <dgm:pt modelId="{13260D9B-4DFC-40DE-B2C6-D4C4DA2406A8}">
      <dgm:prSet phldrT="[Text]"/>
      <dgm:spPr/>
      <dgm:t>
        <a:bodyPr/>
        <a:lstStyle/>
        <a:p>
          <a:r>
            <a:rPr lang="en-US" dirty="0" smtClean="0"/>
            <a:t>...</a:t>
          </a:r>
          <a:endParaRPr lang="en-US" dirty="0"/>
        </a:p>
      </dgm:t>
    </dgm:pt>
    <dgm:pt modelId="{30DBD424-D547-481B-A581-A2674DB55BA8}" type="parTrans" cxnId="{B569D38C-3E20-4F74-B513-8DBF6ABE5BA1}">
      <dgm:prSet/>
      <dgm:spPr/>
      <dgm:t>
        <a:bodyPr/>
        <a:lstStyle/>
        <a:p>
          <a:endParaRPr lang="en-US"/>
        </a:p>
      </dgm:t>
    </dgm:pt>
    <dgm:pt modelId="{49FAB32D-86CB-4CF4-9AF7-9EDCC9BF7360}" type="sibTrans" cxnId="{B569D38C-3E20-4F74-B513-8DBF6ABE5BA1}">
      <dgm:prSet/>
      <dgm:spPr/>
      <dgm:t>
        <a:bodyPr/>
        <a:lstStyle/>
        <a:p>
          <a:endParaRPr lang="en-US"/>
        </a:p>
      </dgm:t>
    </dgm:pt>
    <dgm:pt modelId="{2C3BFA3C-FACF-40E2-A2A8-0E66B879F182}">
      <dgm:prSet phldrT="[Text]"/>
      <dgm:spPr/>
      <dgm:t>
        <a:bodyPr/>
        <a:lstStyle/>
        <a:p>
          <a:r>
            <a:rPr lang="en-US" dirty="0" smtClean="0"/>
            <a:t>Request handler</a:t>
          </a:r>
          <a:endParaRPr lang="en-US" dirty="0"/>
        </a:p>
      </dgm:t>
    </dgm:pt>
    <dgm:pt modelId="{B5A421BA-B299-4A91-86DC-AD40182E2D4C}" type="parTrans" cxnId="{1F9B9485-7E54-464A-8854-F2925C23A501}">
      <dgm:prSet/>
      <dgm:spPr/>
      <dgm:t>
        <a:bodyPr/>
        <a:lstStyle/>
        <a:p>
          <a:endParaRPr lang="en-US"/>
        </a:p>
      </dgm:t>
    </dgm:pt>
    <dgm:pt modelId="{70F8023D-4C6D-453C-A4D1-3817E49BA7EB}" type="sibTrans" cxnId="{1F9B9485-7E54-464A-8854-F2925C23A501}">
      <dgm:prSet/>
      <dgm:spPr/>
      <dgm:t>
        <a:bodyPr/>
        <a:lstStyle/>
        <a:p>
          <a:endParaRPr lang="en-US"/>
        </a:p>
      </dgm:t>
    </dgm:pt>
    <dgm:pt modelId="{1BF7C0EF-EF45-4324-B9EE-7BCF21E26EDE}">
      <dgm:prSet phldrT="[Text]"/>
      <dgm:spPr/>
      <dgm:t>
        <a:bodyPr/>
        <a:lstStyle/>
        <a:p>
          <a:r>
            <a:rPr lang="en-US" dirty="0" smtClean="0"/>
            <a:t>Middleware N</a:t>
          </a:r>
          <a:endParaRPr lang="en-US" dirty="0"/>
        </a:p>
      </dgm:t>
    </dgm:pt>
    <dgm:pt modelId="{6FF83CB6-289C-4BCC-BE73-2940E76084C9}" type="parTrans" cxnId="{2933537B-562F-4EFA-AA26-BCBA45354148}">
      <dgm:prSet/>
      <dgm:spPr/>
      <dgm:t>
        <a:bodyPr/>
        <a:lstStyle/>
        <a:p>
          <a:endParaRPr lang="en-US"/>
        </a:p>
      </dgm:t>
    </dgm:pt>
    <dgm:pt modelId="{918D82C2-A72D-4BDD-81AF-CAC3F2304127}" type="sibTrans" cxnId="{2933537B-562F-4EFA-AA26-BCBA45354148}">
      <dgm:prSet/>
      <dgm:spPr/>
      <dgm:t>
        <a:bodyPr/>
        <a:lstStyle/>
        <a:p>
          <a:endParaRPr lang="en-US"/>
        </a:p>
      </dgm:t>
    </dgm:pt>
    <dgm:pt modelId="{945EFC60-03E5-4388-A331-3FE89A96D1A8}" type="pres">
      <dgm:prSet presAssocID="{2C577A47-988C-4820-9673-F746234A6788}" presName="Name0" presStyleCnt="0">
        <dgm:presLayoutVars>
          <dgm:dir/>
          <dgm:resizeHandles val="exact"/>
        </dgm:presLayoutVars>
      </dgm:prSet>
      <dgm:spPr/>
    </dgm:pt>
    <dgm:pt modelId="{F53B9F6D-3CEC-4E5F-84B9-F81B601F517B}" type="pres">
      <dgm:prSet presAssocID="{6223414D-0F8C-4590-9ED5-6073763F789D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B499D0-8B97-4594-AC75-319533B7A493}" type="pres">
      <dgm:prSet presAssocID="{965FF167-9E42-407C-AF14-A6B490A315F8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B295B63-A298-49DD-84B2-AE67193C8DB0}" type="pres">
      <dgm:prSet presAssocID="{965FF167-9E42-407C-AF14-A6B490A315F8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DC15B647-6C21-4260-A74D-48522566EC84}" type="pres">
      <dgm:prSet presAssocID="{E92F343D-8F44-432E-84F9-4BB8665CEDE5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33F5D2-98EB-4B6F-8A4D-099473145085}" type="pres">
      <dgm:prSet presAssocID="{8A6A38D8-1D2E-4C62-9784-618B0E78EA40}" presName="sibTrans" presStyleLbl="sibTrans2D1" presStyleIdx="1" presStyleCnt="5"/>
      <dgm:spPr/>
      <dgm:t>
        <a:bodyPr/>
        <a:lstStyle/>
        <a:p>
          <a:endParaRPr lang="en-US"/>
        </a:p>
      </dgm:t>
    </dgm:pt>
    <dgm:pt modelId="{345DBD6D-F4DA-4F33-9F54-958F3E880BCC}" type="pres">
      <dgm:prSet presAssocID="{8A6A38D8-1D2E-4C62-9784-618B0E78EA40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587096A8-FAB5-4FDB-A2B6-D1D945DC28BF}" type="pres">
      <dgm:prSet presAssocID="{D641E0C7-6842-474B-8F41-57CFA9F36B58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C435D-3BBA-4B0A-AF10-A672BB61FF97}" type="pres">
      <dgm:prSet presAssocID="{F8F2443B-D7C9-415D-A0DB-82D7F6BB720F}" presName="sibTrans" presStyleLbl="sibTrans2D1" presStyleIdx="2" presStyleCnt="5"/>
      <dgm:spPr/>
      <dgm:t>
        <a:bodyPr/>
        <a:lstStyle/>
        <a:p>
          <a:endParaRPr lang="en-US"/>
        </a:p>
      </dgm:t>
    </dgm:pt>
    <dgm:pt modelId="{73C0E1CB-F405-48CE-A868-8E369183D744}" type="pres">
      <dgm:prSet presAssocID="{F8F2443B-D7C9-415D-A0DB-82D7F6BB720F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AB8BF5FA-274C-491F-8FAA-4EE337CD37C8}" type="pres">
      <dgm:prSet presAssocID="{13260D9B-4DFC-40DE-B2C6-D4C4DA2406A8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12411B-DE87-4EA6-86B5-3DA2F0DEE099}" type="pres">
      <dgm:prSet presAssocID="{49FAB32D-86CB-4CF4-9AF7-9EDCC9BF7360}" presName="sibTrans" presStyleLbl="sibTrans2D1" presStyleIdx="3" presStyleCnt="5"/>
      <dgm:spPr/>
      <dgm:t>
        <a:bodyPr/>
        <a:lstStyle/>
        <a:p>
          <a:endParaRPr lang="en-US"/>
        </a:p>
      </dgm:t>
    </dgm:pt>
    <dgm:pt modelId="{569DF474-BB3E-4760-98F6-2DAAB3ABC56F}" type="pres">
      <dgm:prSet presAssocID="{49FAB32D-86CB-4CF4-9AF7-9EDCC9BF7360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5104268C-A0C0-48C3-84C9-5E73DDC09A42}" type="pres">
      <dgm:prSet presAssocID="{1BF7C0EF-EF45-4324-B9EE-7BCF21E26EDE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4AF72D-7C14-4288-BE84-7953880F00DF}" type="pres">
      <dgm:prSet presAssocID="{918D82C2-A72D-4BDD-81AF-CAC3F2304127}" presName="sibTrans" presStyleLbl="sibTrans2D1" presStyleIdx="4" presStyleCnt="5"/>
      <dgm:spPr/>
      <dgm:t>
        <a:bodyPr/>
        <a:lstStyle/>
        <a:p>
          <a:endParaRPr lang="en-US"/>
        </a:p>
      </dgm:t>
    </dgm:pt>
    <dgm:pt modelId="{660C802F-2AC7-418D-8260-F7B5C47693E7}" type="pres">
      <dgm:prSet presAssocID="{918D82C2-A72D-4BDD-81AF-CAC3F2304127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41B10E8C-B5BF-4C1B-B411-6E2C63FE9B38}" type="pres">
      <dgm:prSet presAssocID="{2C3BFA3C-FACF-40E2-A2A8-0E66B879F182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C09F509-AA14-476E-A89F-9768C66848DC}" type="presOf" srcId="{D641E0C7-6842-474B-8F41-57CFA9F36B58}" destId="{587096A8-FAB5-4FDB-A2B6-D1D945DC28BF}" srcOrd="0" destOrd="0" presId="urn:microsoft.com/office/officeart/2005/8/layout/process1"/>
    <dgm:cxn modelId="{C612909C-8FB3-435F-9C78-F9085959AE83}" type="presOf" srcId="{965FF167-9E42-407C-AF14-A6B490A315F8}" destId="{48B499D0-8B97-4594-AC75-319533B7A493}" srcOrd="0" destOrd="0" presId="urn:microsoft.com/office/officeart/2005/8/layout/process1"/>
    <dgm:cxn modelId="{DDEC8F3A-BEE8-48F4-B56C-CCB3CE59DB43}" type="presOf" srcId="{918D82C2-A72D-4BDD-81AF-CAC3F2304127}" destId="{660C802F-2AC7-418D-8260-F7B5C47693E7}" srcOrd="1" destOrd="0" presId="urn:microsoft.com/office/officeart/2005/8/layout/process1"/>
    <dgm:cxn modelId="{E7E1B557-B38A-4476-87F3-9B8918006CCB}" type="presOf" srcId="{E92F343D-8F44-432E-84F9-4BB8665CEDE5}" destId="{DC15B647-6C21-4260-A74D-48522566EC84}" srcOrd="0" destOrd="0" presId="urn:microsoft.com/office/officeart/2005/8/layout/process1"/>
    <dgm:cxn modelId="{EEF7CD25-660C-4ECD-8A9C-E95BEAFB40E3}" type="presOf" srcId="{2C577A47-988C-4820-9673-F746234A6788}" destId="{945EFC60-03E5-4388-A331-3FE89A96D1A8}" srcOrd="0" destOrd="0" presId="urn:microsoft.com/office/officeart/2005/8/layout/process1"/>
    <dgm:cxn modelId="{63B27128-AB0E-43FC-9C9D-2B0D7CA78554}" type="presOf" srcId="{13260D9B-4DFC-40DE-B2C6-D4C4DA2406A8}" destId="{AB8BF5FA-274C-491F-8FAA-4EE337CD37C8}" srcOrd="0" destOrd="0" presId="urn:microsoft.com/office/officeart/2005/8/layout/process1"/>
    <dgm:cxn modelId="{070F4ACC-0046-4998-BB47-DCA90B25430A}" srcId="{2C577A47-988C-4820-9673-F746234A6788}" destId="{6223414D-0F8C-4590-9ED5-6073763F789D}" srcOrd="0" destOrd="0" parTransId="{AD14388D-1572-4119-AC25-A8B91F72735A}" sibTransId="{965FF167-9E42-407C-AF14-A6B490A315F8}"/>
    <dgm:cxn modelId="{194A6AAE-B51D-46E8-AE40-F53F46354C64}" type="presOf" srcId="{965FF167-9E42-407C-AF14-A6B490A315F8}" destId="{0B295B63-A298-49DD-84B2-AE67193C8DB0}" srcOrd="1" destOrd="0" presId="urn:microsoft.com/office/officeart/2005/8/layout/process1"/>
    <dgm:cxn modelId="{77ED1218-6441-4D87-B10A-A5F0CA2CD46F}" srcId="{2C577A47-988C-4820-9673-F746234A6788}" destId="{E92F343D-8F44-432E-84F9-4BB8665CEDE5}" srcOrd="1" destOrd="0" parTransId="{D138C5D1-2B83-4231-BF16-32B9EDB3D7F9}" sibTransId="{8A6A38D8-1D2E-4C62-9784-618B0E78EA40}"/>
    <dgm:cxn modelId="{1F9B9485-7E54-464A-8854-F2925C23A501}" srcId="{2C577A47-988C-4820-9673-F746234A6788}" destId="{2C3BFA3C-FACF-40E2-A2A8-0E66B879F182}" srcOrd="5" destOrd="0" parTransId="{B5A421BA-B299-4A91-86DC-AD40182E2D4C}" sibTransId="{70F8023D-4C6D-453C-A4D1-3817E49BA7EB}"/>
    <dgm:cxn modelId="{38FECCDC-6E4D-49A3-832F-AB3066EF63C5}" type="presOf" srcId="{F8F2443B-D7C9-415D-A0DB-82D7F6BB720F}" destId="{73C0E1CB-F405-48CE-A868-8E369183D744}" srcOrd="1" destOrd="0" presId="urn:microsoft.com/office/officeart/2005/8/layout/process1"/>
    <dgm:cxn modelId="{DFC2F60D-3A66-446B-A4A4-9E062B0D93AA}" type="presOf" srcId="{8A6A38D8-1D2E-4C62-9784-618B0E78EA40}" destId="{345DBD6D-F4DA-4F33-9F54-958F3E880BCC}" srcOrd="1" destOrd="0" presId="urn:microsoft.com/office/officeart/2005/8/layout/process1"/>
    <dgm:cxn modelId="{D9747C1C-4AD9-4FF8-A813-F6151BD2AFB5}" srcId="{2C577A47-988C-4820-9673-F746234A6788}" destId="{D641E0C7-6842-474B-8F41-57CFA9F36B58}" srcOrd="2" destOrd="0" parTransId="{5EAD63C8-37C0-4FCD-AF86-121C312603D5}" sibTransId="{F8F2443B-D7C9-415D-A0DB-82D7F6BB720F}"/>
    <dgm:cxn modelId="{AED7B556-C80B-44D8-967B-D52B05A56CC3}" type="presOf" srcId="{918D82C2-A72D-4BDD-81AF-CAC3F2304127}" destId="{E44AF72D-7C14-4288-BE84-7953880F00DF}" srcOrd="0" destOrd="0" presId="urn:microsoft.com/office/officeart/2005/8/layout/process1"/>
    <dgm:cxn modelId="{B569D38C-3E20-4F74-B513-8DBF6ABE5BA1}" srcId="{2C577A47-988C-4820-9673-F746234A6788}" destId="{13260D9B-4DFC-40DE-B2C6-D4C4DA2406A8}" srcOrd="3" destOrd="0" parTransId="{30DBD424-D547-481B-A581-A2674DB55BA8}" sibTransId="{49FAB32D-86CB-4CF4-9AF7-9EDCC9BF7360}"/>
    <dgm:cxn modelId="{2933537B-562F-4EFA-AA26-BCBA45354148}" srcId="{2C577A47-988C-4820-9673-F746234A6788}" destId="{1BF7C0EF-EF45-4324-B9EE-7BCF21E26EDE}" srcOrd="4" destOrd="0" parTransId="{6FF83CB6-289C-4BCC-BE73-2940E76084C9}" sibTransId="{918D82C2-A72D-4BDD-81AF-CAC3F2304127}"/>
    <dgm:cxn modelId="{AB382C18-6D50-490E-A71D-EB60371DBA82}" type="presOf" srcId="{F8F2443B-D7C9-415D-A0DB-82D7F6BB720F}" destId="{361C435D-3BBA-4B0A-AF10-A672BB61FF97}" srcOrd="0" destOrd="0" presId="urn:microsoft.com/office/officeart/2005/8/layout/process1"/>
    <dgm:cxn modelId="{D76656A7-07EA-4665-B9C9-7A3169326350}" type="presOf" srcId="{6223414D-0F8C-4590-9ED5-6073763F789D}" destId="{F53B9F6D-3CEC-4E5F-84B9-F81B601F517B}" srcOrd="0" destOrd="0" presId="urn:microsoft.com/office/officeart/2005/8/layout/process1"/>
    <dgm:cxn modelId="{87FBF12D-6864-4001-9F78-DC33039EB655}" type="presOf" srcId="{8A6A38D8-1D2E-4C62-9784-618B0E78EA40}" destId="{0C33F5D2-98EB-4B6F-8A4D-099473145085}" srcOrd="0" destOrd="0" presId="urn:microsoft.com/office/officeart/2005/8/layout/process1"/>
    <dgm:cxn modelId="{C124D921-C796-4301-A191-D68CFBB1DAE2}" type="presOf" srcId="{1BF7C0EF-EF45-4324-B9EE-7BCF21E26EDE}" destId="{5104268C-A0C0-48C3-84C9-5E73DDC09A42}" srcOrd="0" destOrd="0" presId="urn:microsoft.com/office/officeart/2005/8/layout/process1"/>
    <dgm:cxn modelId="{E1C5943E-E506-4485-A106-CA8F359DCAAD}" type="presOf" srcId="{49FAB32D-86CB-4CF4-9AF7-9EDCC9BF7360}" destId="{6F12411B-DE87-4EA6-86B5-3DA2F0DEE099}" srcOrd="0" destOrd="0" presId="urn:microsoft.com/office/officeart/2005/8/layout/process1"/>
    <dgm:cxn modelId="{E62648A1-7F24-452D-968B-EF26CA68A3AD}" type="presOf" srcId="{49FAB32D-86CB-4CF4-9AF7-9EDCC9BF7360}" destId="{569DF474-BB3E-4760-98F6-2DAAB3ABC56F}" srcOrd="1" destOrd="0" presId="urn:microsoft.com/office/officeart/2005/8/layout/process1"/>
    <dgm:cxn modelId="{87D67CCF-C65C-4456-9D21-647256052156}" type="presOf" srcId="{2C3BFA3C-FACF-40E2-A2A8-0E66B879F182}" destId="{41B10E8C-B5BF-4C1B-B411-6E2C63FE9B38}" srcOrd="0" destOrd="0" presId="urn:microsoft.com/office/officeart/2005/8/layout/process1"/>
    <dgm:cxn modelId="{50C257B3-1112-45DE-95E5-8C0265651AF6}" type="presParOf" srcId="{945EFC60-03E5-4388-A331-3FE89A96D1A8}" destId="{F53B9F6D-3CEC-4E5F-84B9-F81B601F517B}" srcOrd="0" destOrd="0" presId="urn:microsoft.com/office/officeart/2005/8/layout/process1"/>
    <dgm:cxn modelId="{09944A98-2A91-4793-BFCE-7F5261049E5A}" type="presParOf" srcId="{945EFC60-03E5-4388-A331-3FE89A96D1A8}" destId="{48B499D0-8B97-4594-AC75-319533B7A493}" srcOrd="1" destOrd="0" presId="urn:microsoft.com/office/officeart/2005/8/layout/process1"/>
    <dgm:cxn modelId="{29B3D741-5613-4689-9B77-BAE59558F350}" type="presParOf" srcId="{48B499D0-8B97-4594-AC75-319533B7A493}" destId="{0B295B63-A298-49DD-84B2-AE67193C8DB0}" srcOrd="0" destOrd="0" presId="urn:microsoft.com/office/officeart/2005/8/layout/process1"/>
    <dgm:cxn modelId="{D4A00A71-93C3-4B7B-B1DE-5690E9D3C9CD}" type="presParOf" srcId="{945EFC60-03E5-4388-A331-3FE89A96D1A8}" destId="{DC15B647-6C21-4260-A74D-48522566EC84}" srcOrd="2" destOrd="0" presId="urn:microsoft.com/office/officeart/2005/8/layout/process1"/>
    <dgm:cxn modelId="{EDBED457-2453-43FE-ABEF-398B14FBF6D3}" type="presParOf" srcId="{945EFC60-03E5-4388-A331-3FE89A96D1A8}" destId="{0C33F5D2-98EB-4B6F-8A4D-099473145085}" srcOrd="3" destOrd="0" presId="urn:microsoft.com/office/officeart/2005/8/layout/process1"/>
    <dgm:cxn modelId="{AA919682-3147-494E-A1D5-BCF8826979DE}" type="presParOf" srcId="{0C33F5D2-98EB-4B6F-8A4D-099473145085}" destId="{345DBD6D-F4DA-4F33-9F54-958F3E880BCC}" srcOrd="0" destOrd="0" presId="urn:microsoft.com/office/officeart/2005/8/layout/process1"/>
    <dgm:cxn modelId="{61DA4926-172E-403D-A3B7-DB3C139BAE65}" type="presParOf" srcId="{945EFC60-03E5-4388-A331-3FE89A96D1A8}" destId="{587096A8-FAB5-4FDB-A2B6-D1D945DC28BF}" srcOrd="4" destOrd="0" presId="urn:microsoft.com/office/officeart/2005/8/layout/process1"/>
    <dgm:cxn modelId="{4A4C9327-1EF4-4AA6-B3EE-DA38BE5E39F1}" type="presParOf" srcId="{945EFC60-03E5-4388-A331-3FE89A96D1A8}" destId="{361C435D-3BBA-4B0A-AF10-A672BB61FF97}" srcOrd="5" destOrd="0" presId="urn:microsoft.com/office/officeart/2005/8/layout/process1"/>
    <dgm:cxn modelId="{94D19BFE-3F6C-4792-85A2-D1D466872E3F}" type="presParOf" srcId="{361C435D-3BBA-4B0A-AF10-A672BB61FF97}" destId="{73C0E1CB-F405-48CE-A868-8E369183D744}" srcOrd="0" destOrd="0" presId="urn:microsoft.com/office/officeart/2005/8/layout/process1"/>
    <dgm:cxn modelId="{02398E80-BED3-4898-B500-69C3B453EFD9}" type="presParOf" srcId="{945EFC60-03E5-4388-A331-3FE89A96D1A8}" destId="{AB8BF5FA-274C-491F-8FAA-4EE337CD37C8}" srcOrd="6" destOrd="0" presId="urn:microsoft.com/office/officeart/2005/8/layout/process1"/>
    <dgm:cxn modelId="{5CB45850-3A7B-4A88-8F68-D02F20A4B08B}" type="presParOf" srcId="{945EFC60-03E5-4388-A331-3FE89A96D1A8}" destId="{6F12411B-DE87-4EA6-86B5-3DA2F0DEE099}" srcOrd="7" destOrd="0" presId="urn:microsoft.com/office/officeart/2005/8/layout/process1"/>
    <dgm:cxn modelId="{18D6BCDD-8E23-4C48-BEB3-A0D31795389A}" type="presParOf" srcId="{6F12411B-DE87-4EA6-86B5-3DA2F0DEE099}" destId="{569DF474-BB3E-4760-98F6-2DAAB3ABC56F}" srcOrd="0" destOrd="0" presId="urn:microsoft.com/office/officeart/2005/8/layout/process1"/>
    <dgm:cxn modelId="{2BC75DD3-0C81-4A5D-835D-5F2C01ED8A0F}" type="presParOf" srcId="{945EFC60-03E5-4388-A331-3FE89A96D1A8}" destId="{5104268C-A0C0-48C3-84C9-5E73DDC09A42}" srcOrd="8" destOrd="0" presId="urn:microsoft.com/office/officeart/2005/8/layout/process1"/>
    <dgm:cxn modelId="{46B0D512-279E-4DCA-9163-FA5F7FB7B0FE}" type="presParOf" srcId="{945EFC60-03E5-4388-A331-3FE89A96D1A8}" destId="{E44AF72D-7C14-4288-BE84-7953880F00DF}" srcOrd="9" destOrd="0" presId="urn:microsoft.com/office/officeart/2005/8/layout/process1"/>
    <dgm:cxn modelId="{DEEDDA00-000B-41A8-B723-D6069FF166A0}" type="presParOf" srcId="{E44AF72D-7C14-4288-BE84-7953880F00DF}" destId="{660C802F-2AC7-418D-8260-F7B5C47693E7}" srcOrd="0" destOrd="0" presId="urn:microsoft.com/office/officeart/2005/8/layout/process1"/>
    <dgm:cxn modelId="{FF65A337-8778-4BA9-A39D-62F6D427F55D}" type="presParOf" srcId="{945EFC60-03E5-4388-A331-3FE89A96D1A8}" destId="{41B10E8C-B5BF-4C1B-B411-6E2C63FE9B3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Express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web application using Express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Jonathan Wexler (2019). Get Programming with Node.js. Manning Publications.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Bruno Joseph </a:t>
            </a:r>
            <a:r>
              <a:rPr lang="en-US" sz="2400" dirty="0" err="1" smtClean="0"/>
              <a:t>D'mello</a:t>
            </a:r>
            <a:r>
              <a:rPr lang="en-US" sz="2400" dirty="0" smtClean="0"/>
              <a:t> et al. (2017). Web Development with </a:t>
            </a:r>
            <a:r>
              <a:rPr lang="en-US" sz="2400" dirty="0" err="1" smtClean="0"/>
              <a:t>MongoDB</a:t>
            </a:r>
            <a:r>
              <a:rPr lang="en-US" sz="2400" dirty="0" smtClean="0"/>
              <a:t> and Node.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Express?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Express</a:t>
            </a:r>
            <a:r>
              <a:rPr lang="en-US" sz="2400" dirty="0" smtClean="0"/>
              <a:t> increases development speed and provides </a:t>
            </a:r>
            <a:r>
              <a:rPr lang="en-US" sz="2400" u="sng" dirty="0" smtClean="0"/>
              <a:t>a stable structure</a:t>
            </a:r>
            <a:r>
              <a:rPr lang="en-US" sz="2400" dirty="0" smtClean="0"/>
              <a:t> on which to build applications.</a:t>
            </a:r>
          </a:p>
          <a:p>
            <a:r>
              <a:rPr lang="en-US" sz="2400" dirty="0" smtClean="0"/>
              <a:t>Ultimately, a framework is intended to help you overcome some common development challenges in building a web application from scratch.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web framework</a:t>
            </a:r>
            <a:r>
              <a:rPr lang="en-US" sz="2400" dirty="0" smtClean="0"/>
              <a:t> is designed to offer some of the </a:t>
            </a:r>
            <a:r>
              <a:rPr lang="en-US" sz="2400" u="sng" dirty="0" smtClean="0"/>
              <a:t>common tools</a:t>
            </a:r>
            <a:r>
              <a:rPr lang="en-US" sz="2400" dirty="0" smtClean="0"/>
              <a:t> used in web development.</a:t>
            </a:r>
          </a:p>
          <a:p>
            <a:r>
              <a:rPr lang="en-US" sz="2400" dirty="0" smtClean="0"/>
              <a:t>Express provides </a:t>
            </a:r>
            <a:r>
              <a:rPr lang="en-US" sz="2400" u="sng" dirty="0" smtClean="0"/>
              <a:t>methods</a:t>
            </a:r>
            <a:r>
              <a:rPr lang="en-US" sz="2400" dirty="0" smtClean="0"/>
              <a:t> and </a:t>
            </a:r>
            <a:r>
              <a:rPr lang="en-US" sz="2400" u="sng" dirty="0" smtClean="0"/>
              <a:t>modules</a:t>
            </a:r>
            <a:r>
              <a:rPr lang="en-US" sz="2400" dirty="0" smtClean="0"/>
              <a:t> to assist with</a:t>
            </a:r>
          </a:p>
          <a:p>
            <a:pPr lvl="1"/>
            <a:r>
              <a:rPr lang="en-US" sz="2000" dirty="0" smtClean="0"/>
              <a:t>handling requests, </a:t>
            </a:r>
          </a:p>
          <a:p>
            <a:pPr lvl="1"/>
            <a:r>
              <a:rPr lang="en-US" sz="2000" dirty="0" smtClean="0"/>
              <a:t>serving static and dynamic content, </a:t>
            </a:r>
          </a:p>
          <a:p>
            <a:pPr lvl="1"/>
            <a:r>
              <a:rPr lang="en-US" sz="2000" dirty="0" smtClean="0"/>
              <a:t>connecting databases, and </a:t>
            </a:r>
          </a:p>
          <a:p>
            <a:pPr lvl="1"/>
            <a:r>
              <a:rPr lang="en-US" sz="2000" dirty="0" smtClean="0"/>
              <a:t>keeping track of user activity, for example.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an Express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init</a:t>
            </a: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express –save</a:t>
            </a:r>
          </a:p>
          <a:p>
            <a:r>
              <a:rPr lang="en-US" sz="2400" dirty="0" smtClean="0">
                <a:latin typeface="Consolas" pitchFamily="49" charset="0"/>
              </a:rPr>
              <a:t>node index.js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233678"/>
            <a:ext cx="77724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port = 3000,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express = require(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"express"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app = express();</a:t>
            </a:r>
          </a:p>
          <a:p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app.get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"/"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, 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req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, res) =&gt; {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res.send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"Hello World!"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})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.listen(port, () =&gt; {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`The Express server has started and is listening on port number: 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});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895600" cy="116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Build Routes with Express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Express is a type of </a:t>
            </a:r>
            <a:r>
              <a:rPr lang="en-US" sz="2400" i="1" dirty="0" smtClean="0">
                <a:solidFill>
                  <a:srgbClr val="C00000"/>
                </a:solidFill>
              </a:rPr>
              <a:t>middleware</a:t>
            </a:r>
            <a:r>
              <a:rPr lang="en-US" sz="2400" dirty="0" smtClean="0"/>
              <a:t> because it adds </a:t>
            </a:r>
            <a:r>
              <a:rPr lang="en-US" sz="2400" u="sng" dirty="0" smtClean="0"/>
              <a:t>a layer</a:t>
            </a:r>
            <a:r>
              <a:rPr lang="en-US" sz="2400" dirty="0" smtClean="0"/>
              <a:t> between a request being received and that request being processed.</a:t>
            </a:r>
            <a:endParaRPr lang="en-US" sz="2400" b="1" dirty="0" smtClean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276600"/>
            <a:ext cx="77724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port = 3000,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express = require(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"express"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app = express();</a:t>
            </a:r>
          </a:p>
          <a:p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app.get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"/items/:vegetable"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, 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req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, res) =&gt; {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veg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req.params.vegetable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res.send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`This is the page for 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${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veg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});</a:t>
            </a:r>
          </a:p>
          <a:p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app.listen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(port, () =&gt; {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`Server running on port: 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});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2590800"/>
            <a:ext cx="3745230" cy="834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Middleware Functions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05000"/>
            <a:ext cx="6926580" cy="3798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Middleware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Middleware: A filter that every request to your server passes through.</a:t>
            </a:r>
          </a:p>
          <a:p>
            <a:r>
              <a:rPr lang="en-US" sz="2400" dirty="0" smtClean="0"/>
              <a:t>Every request passes through each filter and each filter can perform a specific task against the request before it passes through to the next filter.</a:t>
            </a:r>
          </a:p>
          <a:p>
            <a:r>
              <a:rPr lang="en-US" sz="2400" dirty="0" smtClean="0"/>
              <a:t>These filters are used for tasks such as cookie parsing, form-field handling, session handling, authentication, and error handling and logging. </a:t>
            </a:r>
            <a:endParaRPr lang="en-US" sz="2400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914400" y="4876800"/>
          <a:ext cx="7467600" cy="121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Handle POST Request Data [1]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1524000"/>
            <a:ext cx="7772400" cy="3108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Tell your Express application to parse URL-encoded data.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app.use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express.urlencoded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    extended: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false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})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app.use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express.json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Create a new post route for the home page.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app.post(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"/"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(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res) =&gt; 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Log the POST request’s body.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req.body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req.query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res.send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"POST Successful!"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4495800"/>
            <a:ext cx="68580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Express MVC File Structure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6588" y="1654175"/>
            <a:ext cx="5330825" cy="421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Folder Structure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1583353"/>
            <a:ext cx="7543800" cy="4893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/(project root)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---/helpers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---/controllers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---/public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------/</a:t>
            </a:r>
            <a:r>
              <a:rPr lang="en-US" sz="26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------/</a:t>
            </a:r>
            <a:r>
              <a:rPr lang="en-US" sz="26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------/</a:t>
            </a:r>
            <a:r>
              <a:rPr lang="en-US" sz="26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js</a:t>
            </a:r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------/upload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---/server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---/views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------/layouts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------/partials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MVC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470660"/>
            <a:ext cx="6743700" cy="4853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5. Handle Requests using Controller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762000" y="2414587"/>
            <a:ext cx="7772400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Create a function to handle route-specific requests.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exports.sendReqParam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res) =&gt; 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veg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req.params.vegetable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res.send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`This is the page for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${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veg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62387"/>
            <a:ext cx="777240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homeController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= require(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"./controllers/</a:t>
            </a:r>
            <a:r>
              <a:rPr lang="en-US" sz="1400" dirty="0" err="1" smtClean="0">
                <a:solidFill>
                  <a:srgbClr val="A31515"/>
                </a:solidFill>
                <a:latin typeface="Consolas"/>
              </a:rPr>
              <a:t>homeController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port = 3000,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express = require(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"express"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app = express();</a:t>
            </a:r>
          </a:p>
          <a:p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Handle GET requests to "/items/:vegetable".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app.get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"/items/:vegetable"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homeController.sendReqParam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app.listen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(port, () =&gt; 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`Server running on port: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});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524000"/>
            <a:ext cx="3745230" cy="834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Templating</a:t>
            </a:r>
            <a:r>
              <a:rPr lang="en-US" dirty="0" smtClean="0"/>
              <a:t> Engine?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Templating</a:t>
            </a:r>
            <a:r>
              <a:rPr lang="en-US" sz="2400" dirty="0" smtClean="0"/>
              <a:t> allows you to code your views with the ability to insert </a:t>
            </a:r>
            <a:r>
              <a:rPr lang="en-US" sz="2400" u="sng" dirty="0" smtClean="0"/>
              <a:t>dynamic data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</a:t>
            </a:r>
            <a:r>
              <a:rPr lang="en-US" sz="2400" i="1" dirty="0" err="1" smtClean="0">
                <a:solidFill>
                  <a:srgbClr val="C00000"/>
                </a:solidFill>
              </a:rPr>
              <a:t>templating</a:t>
            </a:r>
            <a:r>
              <a:rPr lang="en-US" sz="2400" i="1" dirty="0" smtClean="0">
                <a:solidFill>
                  <a:srgbClr val="C00000"/>
                </a:solidFill>
              </a:rPr>
              <a:t> engine</a:t>
            </a:r>
            <a:r>
              <a:rPr lang="en-US" sz="2400" dirty="0" smtClean="0"/>
              <a:t> is what Express uses to </a:t>
            </a:r>
            <a:r>
              <a:rPr lang="en-US" sz="2400" u="sng" dirty="0" smtClean="0"/>
              <a:t>process your views</a:t>
            </a:r>
            <a:r>
              <a:rPr lang="en-US" sz="2400" dirty="0" smtClean="0"/>
              <a:t> and convert them to browser-readable HTML pages.</a:t>
            </a:r>
          </a:p>
          <a:p>
            <a:r>
              <a:rPr lang="en-US" sz="2400" dirty="0" smtClean="0"/>
              <a:t>Any non-HTML lines are converted to HTML, with values rendered where embedded variables once were.</a:t>
            </a:r>
          </a:p>
          <a:p>
            <a:r>
              <a:rPr lang="en-US" sz="2400" dirty="0" smtClean="0"/>
              <a:t>There are many </a:t>
            </a:r>
            <a:r>
              <a:rPr lang="en-US" sz="2400" dirty="0" err="1" smtClean="0"/>
              <a:t>templating</a:t>
            </a:r>
            <a:r>
              <a:rPr lang="en-US" sz="2400" dirty="0" smtClean="0"/>
              <a:t> languages like EJS, but this book assumes that you have moderate experience with HTML, and EJS proves to be the most effective and simplest </a:t>
            </a:r>
            <a:r>
              <a:rPr lang="en-US" sz="2400" dirty="0" err="1" smtClean="0"/>
              <a:t>templating</a:t>
            </a:r>
            <a:r>
              <a:rPr lang="en-US" sz="2400" dirty="0" smtClean="0"/>
              <a:t> language to learn.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Converting EJS to HTML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90700"/>
            <a:ext cx="80391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</a:t>
            </a:r>
            <a:r>
              <a:rPr lang="en-US" sz="2400" dirty="0" err="1" smtClean="0">
                <a:latin typeface="Consolas" pitchFamily="49" charset="0"/>
              </a:rPr>
              <a:t>ejs</a:t>
            </a:r>
            <a:r>
              <a:rPr lang="en-US" sz="2400" dirty="0" smtClean="0">
                <a:latin typeface="Consolas" pitchFamily="49" charset="0"/>
              </a:rPr>
              <a:t> --save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Configure express to Use EJS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2514600"/>
            <a:ext cx="7772400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homeController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= require(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"./controllers/</a:t>
            </a:r>
            <a:r>
              <a:rPr lang="en-US" sz="1400" dirty="0" err="1" smtClean="0">
                <a:solidFill>
                  <a:srgbClr val="A31515"/>
                </a:solidFill>
                <a:latin typeface="Consolas"/>
              </a:rPr>
              <a:t>homeController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port = 3000,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express = require(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"express"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),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app = express();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app.set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"view engine"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A31515"/>
                </a:solidFill>
                <a:latin typeface="Consolas"/>
              </a:rPr>
              <a:t>ejs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app.get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"/name"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homeController.respondWithName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app.get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"/name/:</a:t>
            </a:r>
            <a:r>
              <a:rPr lang="en-US" sz="1400" dirty="0" err="1" smtClean="0">
                <a:solidFill>
                  <a:srgbClr val="A31515"/>
                </a:solidFill>
                <a:latin typeface="Consolas"/>
              </a:rPr>
              <a:t>myName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homeController.respondWithName2);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app.listen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(port, () =&gt; 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console.log(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`Server running on port: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${port}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`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Generate Views using EJS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4572000"/>
            <a:ext cx="77724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&lt;% let name = "Jon"; %&gt;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&lt;h1&gt; Hello &lt;%= name %&gt; &lt;/h1&gt;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334000"/>
            <a:ext cx="777240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&lt;h1&gt; Hello &lt;%= name %&gt; &lt;/h1&gt;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752600"/>
            <a:ext cx="7772400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Respond with a custom EJS view.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exports.respondWithName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res) =&gt; 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res.render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"index"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exports.respondWithName2 = (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res) =&gt; {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Assign a local variable to a request parameter.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paramsName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req.params.myName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Pass a local parameter to a  rendered view.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res.render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smtClean="0">
                <a:solidFill>
                  <a:srgbClr val="A31515"/>
                </a:solidFill>
                <a:latin typeface="Consolas"/>
              </a:rPr>
              <a:t>"index2"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, { name: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paramsName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});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5334000"/>
            <a:ext cx="359664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4038600"/>
            <a:ext cx="3288030" cy="88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Application's Entry Point (</a:t>
            </a:r>
            <a:r>
              <a:rPr lang="en-US" sz="4000" i="1" dirty="0" smtClean="0">
                <a:solidFill>
                  <a:srgbClr val="C00000"/>
                </a:solidFill>
              </a:rPr>
              <a:t>server.js</a:t>
            </a:r>
            <a:r>
              <a:rPr lang="en-US" sz="4000" dirty="0" smtClean="0"/>
              <a:t>) [2]</a:t>
            </a:r>
            <a:endParaRPr lang="en-US" sz="4000" i="1" dirty="0">
              <a:solidFill>
                <a:srgbClr val="C00000"/>
              </a:solidFill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1788616"/>
            <a:ext cx="7543800" cy="44935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const express = require('express');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// </a:t>
            </a:r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config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require('./server/configure');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let app = express();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// app = </a:t>
            </a:r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config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(app); </a:t>
            </a:r>
          </a:p>
          <a:p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app.set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('port', </a:t>
            </a:r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process.env.PORT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|| 3300); </a:t>
            </a:r>
          </a:p>
          <a:p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app.set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('Views', '${__</a:t>
            </a:r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dirname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}/Views'); </a:t>
            </a:r>
          </a:p>
          <a:p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('/', (</a:t>
            </a:r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=&gt; {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</a:t>
            </a:r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res.send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('Hello World!');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});</a:t>
            </a:r>
          </a:p>
          <a:p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app.listen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2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('port'), () =&gt; {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console.log(`Server up: http://localhost:${app.get('port')}`);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server</a:t>
            </a:r>
            <a:r>
              <a:rPr lang="en-US" dirty="0" smtClean="0"/>
              <a:t>/configure.js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447800"/>
            <a:ext cx="7848600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const path = require('path'),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//routes = require('./routes'),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exphbs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require('express-handlebars'), //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templating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(view) engine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express = require('express'),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bodyParser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require('body-parser'),  //form fields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cookieParser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require('cookie-parser'),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morgan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morgan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'),  // logging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methodOverride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require('method-override'), // REST support for older browsers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errorHandler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errorhandler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');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module.exports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(app) =&gt; {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morgan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('dev'));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bodyParser.urlencoded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({'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extended':true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}));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bodyParser.json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());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methodOverride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());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cookieParser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('some-secret-value-here'));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2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// routes(app);//moving the routes to routes folder.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('/public/',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express.static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path.join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(__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dirname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'../public'))); // serving static content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if ('development' ===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env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')) {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errorHandler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());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 </a:t>
            </a:r>
          </a:p>
          <a:p>
            <a:endParaRPr lang="en-US" sz="1200" dirty="0" smtClean="0">
              <a:solidFill>
                <a:schemeClr val="tx1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return app;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Activate The Configure Module</a:t>
            </a:r>
            <a:endParaRPr lang="en-US" i="1" dirty="0">
              <a:solidFill>
                <a:srgbClr val="C00000"/>
              </a:solidFill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38200" y="1752600"/>
            <a:ext cx="7543800" cy="16927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const express = require('express'); </a:t>
            </a:r>
          </a:p>
          <a:p>
            <a:r>
              <a:rPr lang="en-US" sz="2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config</a:t>
            </a:r>
            <a:r>
              <a:rPr lang="en-US" sz="2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require('./server/configure');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let app = express(); </a:t>
            </a:r>
          </a:p>
          <a:p>
            <a:r>
              <a:rPr lang="en-US" sz="2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 = </a:t>
            </a:r>
            <a:r>
              <a:rPr lang="en-US" sz="2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config</a:t>
            </a:r>
            <a:r>
              <a:rPr lang="en-US" sz="2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(app);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4271010"/>
            <a:ext cx="4343400" cy="1748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server</a:t>
            </a:r>
            <a:r>
              <a:rPr lang="en-US" dirty="0" smtClean="0"/>
              <a:t>/routes.js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820882"/>
            <a:ext cx="7848600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const express = require('express'),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router =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express.Router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(),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home = require('../controllers/home'),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image = require('../controllers/image');</a:t>
            </a:r>
          </a:p>
          <a:p>
            <a:endParaRPr lang="en-US" dirty="0" smtClean="0">
              <a:solidFill>
                <a:schemeClr val="tx1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module.exports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(app)=&gt;{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router.get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('/',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home.index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router.get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('/images/: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image_id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',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image.index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router.post('/images',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image.create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router.post('/images/: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image_id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/like',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image.like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router.post('/images/: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image_id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/comment',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image.comment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(router);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controllers</a:t>
            </a:r>
            <a:r>
              <a:rPr lang="en-US" dirty="0" smtClean="0"/>
              <a:t>/home.js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820882"/>
            <a:ext cx="78486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module.exports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index(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res.send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('The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home:index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controller');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controllers</a:t>
            </a:r>
            <a:r>
              <a:rPr lang="en-US" dirty="0" smtClean="0"/>
              <a:t>/image.js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467683"/>
            <a:ext cx="78486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module.exports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index(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res.send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(`The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image:index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controller ${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req.params.image_id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}`);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},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create(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res.send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('The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image:create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POST controller');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},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like (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res.send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('The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image:like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POST controller');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},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comment(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res.send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('The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image:comment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POST controller');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5486400"/>
            <a:ext cx="325755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5486400"/>
            <a:ext cx="294132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server</a:t>
            </a:r>
            <a:r>
              <a:rPr lang="en-US" dirty="0" smtClean="0"/>
              <a:t>/configure.js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973282"/>
            <a:ext cx="8229600" cy="43088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// ATTENTION: CASE-SENSITIVE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...   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if ('development' ===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env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')) {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errorHandler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());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 </a:t>
            </a:r>
          </a:p>
          <a:p>
            <a:endParaRPr lang="en-US" dirty="0" smtClean="0">
              <a:solidFill>
                <a:schemeClr val="tx1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app.engine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('handlebars',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exphbs.create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({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defaultLayout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'main',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layoutsDir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`${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(‘views')}/layouts`,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partialsDir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[`${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(‘views')}/partials`]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}).engine);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app.set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(‘view engine', 'handlebars');</a:t>
            </a:r>
          </a:p>
          <a:p>
            <a:endParaRPr lang="en-US" dirty="0" smtClean="0">
              <a:solidFill>
                <a:schemeClr val="tx1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return app; 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views</a:t>
            </a:r>
            <a:r>
              <a:rPr lang="en-US" dirty="0" smtClean="0"/>
              <a:t>/</a:t>
            </a:r>
            <a:r>
              <a:rPr lang="en-US" dirty="0" err="1" smtClean="0"/>
              <a:t>index.handlebars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7848600" cy="4616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&lt;div class="panel 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panel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-primary"&gt;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&lt;div class="panel-heading"&gt;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&lt;h3 class="panel-title"&gt;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Upload an Image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&lt;/h3&gt;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&lt;/div&gt;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&lt;form method="post" action="/images" 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enctype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="multipart/form-data"&gt;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&lt;div class="panel-body form-horizontal"&gt;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...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&lt;div class="panel-body"&gt;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400" i="1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{{#each images}}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&lt;div class="col-md-4 text-center" style="padding-bottom: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1em;"&gt;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&lt;a 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href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="/images/{{ 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uniqueId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}}"&gt;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&lt;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img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src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="/public/upload/{{filename}}" alt="{{title}}"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     style="width: 175px; height: 175px;" class="</a:t>
            </a:r>
            <a:r>
              <a:rPr lang="en-US" sz="14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img</a:t>
            </a:r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-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thumbnail"&gt;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&lt;/a&gt;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&lt;/div&gt;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400" i="1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{{/each}}</a:t>
            </a:r>
          </a:p>
          <a:p>
            <a:r>
              <a:rPr lang="en-US" sz="14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&lt;/div&gt;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b="1" i="1" dirty="0" smtClean="0">
                <a:solidFill>
                  <a:srgbClr val="C00000"/>
                </a:solidFill>
                <a:latin typeface="Consolas" pitchFamily="49" charset="0"/>
              </a:rPr>
              <a:t>views/layouts</a:t>
            </a:r>
            <a:r>
              <a:rPr lang="en-US" sz="4200" dirty="0" smtClean="0"/>
              <a:t>/</a:t>
            </a:r>
            <a:r>
              <a:rPr lang="en-US" sz="4200" dirty="0" err="1" smtClean="0"/>
              <a:t>main.handlebars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7848600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&lt;div class="container"&gt;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&lt;div class="row"&gt;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    &lt;div class="col-sm-8"&gt;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        </a:t>
            </a:r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{{{ body }}}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    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    &lt;div class="col-sm-4"&gt;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{{&gt; stats this }}</a:t>
            </a:r>
          </a:p>
          <a:p>
            <a:endParaRPr lang="en-US" sz="2000" dirty="0" smtClean="0">
              <a:solidFill>
                <a:schemeClr val="tx1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{{&gt; popular this }}</a:t>
            </a:r>
          </a:p>
          <a:p>
            <a:endParaRPr lang="en-US" sz="2000" dirty="0" smtClean="0">
              <a:solidFill>
                <a:schemeClr val="tx1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{{&gt; comments this }}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    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&lt;/div&gt;</a:t>
            </a:r>
          </a:p>
          <a:p>
            <a:r>
              <a:rPr lang="en-US" sz="20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&lt;/div&gt;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b="1" i="1" dirty="0" smtClean="0">
                <a:solidFill>
                  <a:srgbClr val="C00000"/>
                </a:solidFill>
                <a:latin typeface="Consolas" pitchFamily="49" charset="0"/>
              </a:rPr>
              <a:t>views/partials</a:t>
            </a:r>
            <a:r>
              <a:rPr lang="en-US" sz="4200" dirty="0" smtClean="0"/>
              <a:t>/</a:t>
            </a:r>
            <a:r>
              <a:rPr lang="en-US" sz="4200" dirty="0" err="1" smtClean="0"/>
              <a:t>stats.handlebars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609600" y="1676400"/>
            <a:ext cx="7848600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&lt;div class="row"&gt;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&lt;div class="col-md-2 text-left"&gt;Images:&lt;/div&gt;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&lt;div class="col-md-10 text-right"&gt;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{{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sidebar.stats.images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}}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&lt;div class="row"&gt;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&lt;div class="col-md-2 text-left"&gt;Comments:&lt;/div&gt;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&lt;div class="col-md-10 text-right"&gt;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{{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sidebar.stats.comments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}}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&lt;div class="row"&gt;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&lt;div class="col-md-2 text-left"&gt;Views:&lt;/div&gt;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&lt;div class="col-md-10 text-right"&gt;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{{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sidebar.stats.views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}}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&lt;/div&gt;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&lt;/div&gt;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 a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38400"/>
          </a:xfrm>
        </p:spPr>
        <p:txBody>
          <a:bodyPr/>
          <a:lstStyle/>
          <a:p>
            <a:r>
              <a:rPr lang="en-US" sz="2400" dirty="0" smtClean="0"/>
              <a:t>We are calling </a:t>
            </a:r>
            <a:r>
              <a:rPr lang="en-US" sz="2400" dirty="0" err="1" smtClean="0"/>
              <a:t>res.render</a:t>
            </a:r>
            <a:r>
              <a:rPr lang="en-US" sz="2400" dirty="0" smtClean="0"/>
              <a:t> and passing in the name of the template file we want to render as the only parameter (for now).</a:t>
            </a:r>
          </a:p>
          <a:p>
            <a:r>
              <a:rPr lang="en-US" sz="2400" dirty="0" smtClean="0"/>
              <a:t>Using the defaults that were defined in our configure module, the index file will be loaded from our views folder.</a:t>
            </a:r>
          </a:p>
          <a:p>
            <a:r>
              <a:rPr lang="en-US" sz="2400" b="1" i="1" dirty="0" smtClean="0">
                <a:solidFill>
                  <a:srgbClr val="C00000"/>
                </a:solidFill>
                <a:latin typeface="Consolas" pitchFamily="49" charset="0"/>
              </a:rPr>
              <a:t>controllers</a:t>
            </a:r>
            <a:r>
              <a:rPr lang="en-US" sz="2400" dirty="0" smtClean="0"/>
              <a:t>/home.js</a:t>
            </a:r>
            <a:endParaRPr lang="en-US" sz="2400" b="1" i="1" dirty="0" smtClean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4313872"/>
            <a:ext cx="78486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module.exports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index(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res.render</a:t>
            </a:r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('index');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</a:t>
            </a:r>
          </a:p>
          <a:p>
            <a:r>
              <a:rPr lang="en-US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Start the Server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8486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$ </a:t>
            </a:r>
            <a:r>
              <a:rPr lang="en-US" sz="28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npm</a:t>
            </a:r>
            <a:r>
              <a:rPr lang="en-US" sz="28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start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4775" y="2514600"/>
            <a:ext cx="6394450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Helpers (server/configure.js)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// ATTENTION: CASE-SENSITIVE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...    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errorHandler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= require('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errorhandler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'),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moment = require('moment');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...    </a:t>
            </a:r>
          </a:p>
          <a:p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app.engine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('handlebars',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exphbs.create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({ 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defaultLayout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: 'main', 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layoutsDir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: `${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('views')}/layouts`, 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partialsDir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: [`${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app.get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('views')}/partials`],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    helpers: { 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timeago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(timestamp)=&gt; { 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return moment(timestamp).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startOf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('minute').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fromNow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(); 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} 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}).engine);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app.set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('view engine', 'handlebars');</a:t>
            </a:r>
          </a:p>
          <a:p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return app; 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200" y="2373868"/>
            <a:ext cx="360387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$ </a:t>
            </a:r>
            <a:r>
              <a:rPr lang="en-US" dirty="0" err="1" smtClean="0">
                <a:latin typeface="Consolas" pitchFamily="49" charset="0"/>
              </a:rPr>
              <a:t>npm</a:t>
            </a:r>
            <a:r>
              <a:rPr lang="en-US" dirty="0" smtClean="0">
                <a:latin typeface="Consolas" pitchFamily="49" charset="0"/>
              </a:rPr>
              <a:t> install moment --save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views/</a:t>
            </a:r>
            <a:r>
              <a:rPr lang="en-US" dirty="0" err="1" smtClean="0"/>
              <a:t>image.handlebars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4450" y="1958975"/>
            <a:ext cx="6515100" cy="294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controller</a:t>
            </a:r>
            <a:r>
              <a:rPr lang="en-US" sz="2400" dirty="0" smtClean="0"/>
              <a:t> can be defined as an entity that will be responsible for manipulating models and initiating the View render process with the data received from the corresponding models.</a:t>
            </a:r>
          </a:p>
          <a:p>
            <a:r>
              <a:rPr lang="en-US" sz="2400" dirty="0" smtClean="0"/>
              <a:t>The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express</a:t>
            </a:r>
            <a:r>
              <a:rPr lang="en-US" sz="2400" dirty="0" smtClean="0"/>
              <a:t> router instance is used to tie </a:t>
            </a:r>
            <a:r>
              <a:rPr lang="en-US" sz="2400" i="1" dirty="0" smtClean="0">
                <a:solidFill>
                  <a:srgbClr val="C00000"/>
                </a:solidFill>
              </a:rPr>
              <a:t>functions</a:t>
            </a:r>
            <a:r>
              <a:rPr lang="en-US" sz="2400" dirty="0" smtClean="0"/>
              <a:t> to a corresponding </a:t>
            </a:r>
            <a:r>
              <a:rPr lang="en-US" sz="2400" i="1" dirty="0" smtClean="0">
                <a:solidFill>
                  <a:srgbClr val="C00000"/>
                </a:solidFill>
              </a:rPr>
              <a:t>route</a:t>
            </a:r>
            <a:r>
              <a:rPr lang="en-US" sz="2400" dirty="0" smtClean="0"/>
              <a:t>. These </a:t>
            </a:r>
            <a:r>
              <a:rPr lang="en-US" sz="2400" i="1" dirty="0" smtClean="0">
                <a:solidFill>
                  <a:srgbClr val="C00000"/>
                </a:solidFill>
              </a:rPr>
              <a:t>functions</a:t>
            </a:r>
            <a:r>
              <a:rPr lang="en-US" sz="2400" dirty="0" smtClean="0"/>
              <a:t> are inside </a:t>
            </a:r>
            <a:r>
              <a:rPr lang="en-US" sz="2400" i="1" dirty="0" smtClean="0">
                <a:solidFill>
                  <a:srgbClr val="C00000"/>
                </a:solidFill>
              </a:rPr>
              <a:t>controllers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every route that we create in our router, the following two parameters are necessary:</a:t>
            </a:r>
          </a:p>
          <a:p>
            <a:pPr lvl="1"/>
            <a:r>
              <a:rPr lang="en-US" sz="2200" dirty="0" smtClean="0"/>
              <a:t>the string for the route itself, which is 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/images/:</a:t>
            </a:r>
            <a:r>
              <a:rPr lang="en-US" sz="2200" b="1" dirty="0" err="1" smtClean="0">
                <a:latin typeface="Courier New" pitchFamily="49" charset="0"/>
                <a:cs typeface="Courier New" pitchFamily="49" charset="0"/>
              </a:rPr>
              <a:t>image_id</a:t>
            </a:r>
            <a:endParaRPr lang="en-US" sz="2200" b="1" dirty="0" smtClean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200" dirty="0" smtClean="0"/>
              <a:t>a controller function that will be executed when that route is accessed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dirty="0" smtClean="0"/>
              <a:t>The term </a:t>
            </a:r>
            <a:r>
              <a:rPr lang="en-US" sz="2500" i="1" dirty="0" smtClean="0">
                <a:solidFill>
                  <a:srgbClr val="C00000"/>
                </a:solidFill>
              </a:rPr>
              <a:t>View model</a:t>
            </a:r>
            <a:r>
              <a:rPr lang="en-US" sz="2500" dirty="0" smtClean="0"/>
              <a:t> is used here to refer to the data form of the model, which will be tied to the template while rendering the HTML via any </a:t>
            </a:r>
            <a:r>
              <a:rPr lang="en-US" sz="2500" dirty="0" err="1" smtClean="0"/>
              <a:t>templating</a:t>
            </a:r>
            <a:r>
              <a:rPr lang="en-US" sz="2500" dirty="0" smtClean="0"/>
              <a:t> framework.</a:t>
            </a:r>
          </a:p>
          <a:p>
            <a:r>
              <a:rPr lang="en-US" sz="2500" dirty="0" smtClean="0"/>
              <a:t>A View model is typically just a single JavaScript </a:t>
            </a:r>
            <a:r>
              <a:rPr lang="en-US" sz="2500" i="1" dirty="0" smtClean="0">
                <a:solidFill>
                  <a:srgbClr val="C00000"/>
                </a:solidFill>
              </a:rPr>
              <a:t>object</a:t>
            </a:r>
            <a:r>
              <a:rPr lang="en-US" sz="2500" dirty="0" smtClean="0"/>
              <a:t> that can be passed to the template.</a:t>
            </a:r>
          </a:p>
          <a:p>
            <a:r>
              <a:rPr lang="en-US" sz="2500" dirty="0" smtClean="0"/>
              <a:t>The View model for a page will typically contain all of the data necessary to render the </a:t>
            </a:r>
            <a:r>
              <a:rPr lang="en-US" sz="2500" i="1" dirty="0" smtClean="0">
                <a:solidFill>
                  <a:srgbClr val="C00000"/>
                </a:solidFill>
              </a:rPr>
              <a:t>content-specific portions</a:t>
            </a:r>
            <a:r>
              <a:rPr lang="en-US" sz="2500" dirty="0" smtClean="0"/>
              <a:t> of that page.</a:t>
            </a:r>
          </a:p>
          <a:p>
            <a:r>
              <a:rPr lang="en-US" sz="2500" dirty="0" smtClean="0"/>
              <a:t>It is the task of the </a:t>
            </a:r>
            <a:r>
              <a:rPr lang="en-US" sz="2500" i="1" dirty="0" err="1" smtClean="0">
                <a:solidFill>
                  <a:srgbClr val="C00000"/>
                </a:solidFill>
              </a:rPr>
              <a:t>templating</a:t>
            </a:r>
            <a:r>
              <a:rPr lang="en-US" sz="2500" i="1" dirty="0" smtClean="0">
                <a:solidFill>
                  <a:srgbClr val="C00000"/>
                </a:solidFill>
              </a:rPr>
              <a:t> engine</a:t>
            </a:r>
            <a:r>
              <a:rPr lang="en-US" sz="2500" dirty="0" smtClean="0"/>
              <a:t> to produce the corresponding HTML by processing the templates with the associated models.</a:t>
            </a:r>
            <a:endParaRPr lang="en-US" sz="2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controllers</a:t>
            </a:r>
            <a:r>
              <a:rPr lang="en-US" dirty="0" smtClean="0"/>
              <a:t>/home.js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820882"/>
            <a:ext cx="7848600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module.exports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index(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const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ViewModel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images: [{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uniqueId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1,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title: 'Sample Image 1',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description: '',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filename: 'sample1.jpg',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Views: 0,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likes: 0,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timestamp: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Date.now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}, {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uniqueId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2,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title: 'Sample Image 2',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description: '',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filename: 'sample2.jpg',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Views: 0,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likes: 0,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timestamp: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Date.now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},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...</a:t>
            </a:r>
          </a:p>
          <a:p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res.render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('index', </a:t>
            </a:r>
            <a:r>
              <a:rPr lang="en-US" sz="12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ViewModel</a:t>
            </a:r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514600"/>
            <a:ext cx="3746754" cy="2884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  <a:latin typeface="Consolas" pitchFamily="49" charset="0"/>
              </a:rPr>
              <a:t>controllers</a:t>
            </a:r>
            <a:r>
              <a:rPr lang="en-US" dirty="0" smtClean="0"/>
              <a:t>/image.js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820882"/>
            <a:ext cx="7848600" cy="45550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module.exports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{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index: (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=&gt; {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const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ViewModel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{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image: {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uniqueId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1,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title: 'Sample Image 1',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description: 'This is a sample.',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filename: 'sample1.jpg',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Views: 0,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likes: 0,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timestamp: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Date.now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},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comments: [{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image_id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1,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email: 'test@testing.com',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name: 'Test Tester',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gravatar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'http://lorempixel.com/75/75/animals/1',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comment: 'This is a test comment...',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    timestamp: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Date.now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()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    },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...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};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res.render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('image',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ViewModel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},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...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comment(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req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, res) {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   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res.send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('The </a:t>
            </a:r>
            <a:r>
              <a:rPr lang="en-US" sz="10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image:comment</a:t>
            </a:r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POST controller');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}</a:t>
            </a:r>
          </a:p>
          <a:p>
            <a:r>
              <a:rPr lang="en-US" sz="10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447800"/>
            <a:ext cx="2933700" cy="2592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File Uploads (</a:t>
            </a:r>
            <a:r>
              <a:rPr lang="en-US" b="1" i="1" dirty="0" err="1" smtClean="0">
                <a:solidFill>
                  <a:srgbClr val="C00000"/>
                </a:solidFill>
                <a:latin typeface="Consolas" pitchFamily="49" charset="0"/>
              </a:rPr>
              <a:t>multer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78486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$ </a:t>
            </a:r>
            <a:r>
              <a:rPr lang="en-US" sz="28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npm</a:t>
            </a:r>
            <a:r>
              <a:rPr lang="en-US" sz="28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install </a:t>
            </a:r>
            <a:r>
              <a:rPr lang="en-US" sz="28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multer</a:t>
            </a:r>
            <a:r>
              <a:rPr lang="en-US" sz="28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--save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514600"/>
            <a:ext cx="7848600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//server/routes.js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...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image = require('../controllers/image'),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multer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= require('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multer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'); // file uploads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...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router.post('/images/: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image_id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/comment',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image.comment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app.use</a:t>
            </a:r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(router);</a:t>
            </a:r>
          </a:p>
          <a:p>
            <a:endParaRPr lang="en-US" sz="1600" dirty="0" smtClean="0">
              <a:solidFill>
                <a:srgbClr val="C00000"/>
              </a:solidFill>
              <a:latin typeface="Consolas" pitchFamily="49" charset="0"/>
              <a:cs typeface="Courier New" pitchFamily="49" charset="0"/>
            </a:endParaRP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const upload =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multer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({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dest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: 'public/upload/temp' }); // file uploads configuration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    app.post('/images',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upload.single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('file'), </a:t>
            </a:r>
            <a:r>
              <a:rPr lang="en-US" sz="1600" dirty="0" err="1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image.create</a:t>
            </a:r>
            <a:r>
              <a:rPr lang="en-US" sz="1600" dirty="0" smtClean="0">
                <a:solidFill>
                  <a:schemeClr val="tx1"/>
                </a:solidFill>
                <a:latin typeface="Consolas" pitchFamily="49" charset="0"/>
                <a:cs typeface="Courier New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C00000"/>
                </a:solidFill>
                <a:latin typeface="Consolas" pitchFamily="49" charset="0"/>
                <a:cs typeface="Courier New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NestJs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i</a:t>
            </a:r>
            <a:r>
              <a:rPr lang="en-US" sz="2400" dirty="0" smtClean="0">
                <a:latin typeface="Consolas" pitchFamily="49" charset="0"/>
              </a:rPr>
              <a:t> -g @</a:t>
            </a:r>
            <a:r>
              <a:rPr lang="en-US" sz="2400" dirty="0" err="1" smtClean="0">
                <a:latin typeface="Consolas" pitchFamily="49" charset="0"/>
              </a:rPr>
              <a:t>nestjs</a:t>
            </a:r>
            <a:r>
              <a:rPr lang="en-US" sz="2400" dirty="0" smtClean="0">
                <a:latin typeface="Consolas" pitchFamily="49" charset="0"/>
              </a:rPr>
              <a:t>/</a:t>
            </a:r>
            <a:r>
              <a:rPr lang="en-US" sz="2400" dirty="0" err="1" smtClean="0">
                <a:latin typeface="Consolas" pitchFamily="49" charset="0"/>
              </a:rPr>
              <a:t>cli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" y="2838450"/>
            <a:ext cx="79438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8514</TotalTime>
  <Words>2410</Words>
  <Application>Microsoft Office PowerPoint</Application>
  <PresentationFormat>On-screen Show (4:3)</PresentationFormat>
  <Paragraphs>407</Paragraphs>
  <Slides>42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Express</vt:lpstr>
      <vt:lpstr>Objectives</vt:lpstr>
      <vt:lpstr>Contents</vt:lpstr>
      <vt:lpstr>References</vt:lpstr>
      <vt:lpstr>What is Express? [1]</vt:lpstr>
      <vt:lpstr>1. Create an Express Application</vt:lpstr>
      <vt:lpstr>2. Build Routes with Express</vt:lpstr>
      <vt:lpstr>Middleware Functions</vt:lpstr>
      <vt:lpstr>Middleware [2]</vt:lpstr>
      <vt:lpstr>3. Handle POST Request Data [1]</vt:lpstr>
      <vt:lpstr>Express MVC File Structure</vt:lpstr>
      <vt:lpstr>4. Create Folder Structure</vt:lpstr>
      <vt:lpstr>How to Use MVC</vt:lpstr>
      <vt:lpstr>5. Handle Requests using Controller</vt:lpstr>
      <vt:lpstr>What is Templating Engine?</vt:lpstr>
      <vt:lpstr>Converting EJS to HTML</vt:lpstr>
      <vt:lpstr>6. Configure express to Use EJS</vt:lpstr>
      <vt:lpstr>7. Generate Views using EJS</vt:lpstr>
      <vt:lpstr>Slide 19</vt:lpstr>
      <vt:lpstr>Application's Entry Point (server.js) [2]</vt:lpstr>
      <vt:lpstr>server/configure.js</vt:lpstr>
      <vt:lpstr>Activate The Configure Module</vt:lpstr>
      <vt:lpstr>server/routes.js</vt:lpstr>
      <vt:lpstr>controllers/home.js</vt:lpstr>
      <vt:lpstr>controllers/image.js</vt:lpstr>
      <vt:lpstr>server/configure.js</vt:lpstr>
      <vt:lpstr>views/index.handlebars</vt:lpstr>
      <vt:lpstr>views/layouts/main.handlebars</vt:lpstr>
      <vt:lpstr>views/partials/stats.handlebars</vt:lpstr>
      <vt:lpstr>Render a View</vt:lpstr>
      <vt:lpstr>Start the Server</vt:lpstr>
      <vt:lpstr>Helpers (server/configure.js)</vt:lpstr>
      <vt:lpstr>views/image.handlebars</vt:lpstr>
      <vt:lpstr>Slide 34</vt:lpstr>
      <vt:lpstr>Controllers</vt:lpstr>
      <vt:lpstr>View Models</vt:lpstr>
      <vt:lpstr>controllers/home.js</vt:lpstr>
      <vt:lpstr>controllers/image.js</vt:lpstr>
      <vt:lpstr>Add File Uploads (multer)</vt:lpstr>
      <vt:lpstr>Slide 40</vt:lpstr>
      <vt:lpstr>1. Install NestJs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3597</cp:revision>
  <dcterms:created xsi:type="dcterms:W3CDTF">2007-10-06T08:25:13Z</dcterms:created>
  <dcterms:modified xsi:type="dcterms:W3CDTF">2025-08-04T11:37:22Z</dcterms:modified>
</cp:coreProperties>
</file>