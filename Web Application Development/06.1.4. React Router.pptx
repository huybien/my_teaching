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08" r:id="rId1"/>
  </p:sldMasterIdLst>
  <p:notesMasterIdLst>
    <p:notesMasterId r:id="rId15"/>
  </p:notesMasterIdLst>
  <p:sldIdLst>
    <p:sldId id="499" r:id="rId2"/>
    <p:sldId id="500" r:id="rId3"/>
    <p:sldId id="501" r:id="rId4"/>
    <p:sldId id="502" r:id="rId5"/>
    <p:sldId id="465" r:id="rId6"/>
    <p:sldId id="474" r:id="rId7"/>
    <p:sldId id="475" r:id="rId8"/>
    <p:sldId id="476" r:id="rId9"/>
    <p:sldId id="477" r:id="rId10"/>
    <p:sldId id="467" r:id="rId11"/>
    <p:sldId id="469" r:id="rId12"/>
    <p:sldId id="478" r:id="rId13"/>
    <p:sldId id="343" r:id="rId1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319" autoAdjust="0"/>
    <p:restoredTop sz="94667" autoAdjust="0"/>
  </p:normalViewPr>
  <p:slideViewPr>
    <p:cSldViewPr>
      <p:cViewPr>
        <p:scale>
          <a:sx n="50" d="100"/>
          <a:sy n="50" d="100"/>
        </p:scale>
        <p:origin x="-1560" y="-4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2150E-24DE-4D23-AF8D-CF01896B0C83}" type="datetimeFigureOut">
              <a:rPr lang="en-US" smtClean="0"/>
              <a:pPr/>
              <a:t>1/21/2024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8E95B1-5ED0-4005-B293-784E4C93134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670EC-EF90-4A84-9798-83F1F2DBB460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1/21/2024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1/21/2024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1/21/2024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1/21/2024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1/21/2024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1/21/2024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1/21/2024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1/21/2024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1/21/2024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1/21/2024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1/21/2024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1/21/2024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reacttraining.com/react-router/web/api/NavLink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/>
          <a:lstStyle/>
          <a:p>
            <a:pPr eaLnBrk="1" hangingPunct="1"/>
            <a:r>
              <a:rPr lang="en-US" sz="6000" smtClean="0"/>
              <a:t>React Router</a:t>
            </a:r>
            <a:endParaRPr lang="en-US" sz="6000" dirty="0" smtClean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752600"/>
            <a:ext cx="5715000" cy="4038600"/>
          </a:xfrm>
        </p:spPr>
        <p:txBody>
          <a:bodyPr/>
          <a:lstStyle/>
          <a:p>
            <a:pPr marL="514350" indent="-514350">
              <a:buFont typeface="Wingdings" pitchFamily="2" charset="2"/>
              <a:buChar char="Ø"/>
            </a:pPr>
            <a:endParaRPr lang="en-US" sz="2400" i="1" dirty="0" smtClean="0">
              <a:solidFill>
                <a:srgbClr val="C00000"/>
              </a:solidFill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9800" y="18288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References</a:t>
            </a:r>
            <a:endParaRPr lang="en-US" dirty="0"/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0" y="1676400"/>
            <a:ext cx="2724150" cy="413385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638800" cy="4876800"/>
          </a:xfrm>
        </p:spPr>
        <p:txBody>
          <a:bodyPr/>
          <a:lstStyle/>
          <a:p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SPA Navigation Requirements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/>
              <a:t>When users navigate your app, they expect that:</a:t>
            </a:r>
          </a:p>
          <a:p>
            <a:pPr lvl="1"/>
            <a:r>
              <a:rPr lang="en-US" sz="2200" dirty="0" smtClean="0"/>
              <a:t>The URL displayed in the address bar always reflects the thing that they are viewing.</a:t>
            </a:r>
          </a:p>
          <a:p>
            <a:pPr lvl="1"/>
            <a:r>
              <a:rPr lang="en-US" sz="2200" dirty="0" smtClean="0"/>
              <a:t>They can use the browser's back and forward buttons—successfully.</a:t>
            </a:r>
          </a:p>
          <a:p>
            <a:pPr lvl="1"/>
            <a:r>
              <a:rPr lang="en-US" sz="2200" dirty="0" smtClean="0"/>
              <a:t>They can navigate to a particular view (aka deep link) directly using the appropriate URL.</a:t>
            </a:r>
          </a:p>
          <a:p>
            <a:r>
              <a:rPr lang="en-US" sz="2200" dirty="0" smtClean="0"/>
              <a:t>With multi-page apps, these three things come for free.</a:t>
            </a:r>
          </a:p>
          <a:p>
            <a:r>
              <a:rPr lang="en-US" sz="2200" dirty="0" smtClean="0"/>
              <a:t>With single-page apps, to deal with all of this, you have a bucket full of techniques commonly known as </a:t>
            </a:r>
            <a:r>
              <a:rPr lang="en-US" sz="2200" b="1" dirty="0" smtClean="0"/>
              <a:t>routing.</a:t>
            </a:r>
          </a:p>
          <a:p>
            <a:r>
              <a:rPr lang="en-US" sz="2200" dirty="0" smtClean="0"/>
              <a:t>Routing is where you try to map URLs to destinations that aren't physical pages, such as the individual views in your single-page app.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Create app</a:t>
            </a:r>
            <a:endParaRPr lang="en-US" b="1" dirty="0"/>
          </a:p>
        </p:txBody>
      </p:sp>
      <p:sp>
        <p:nvSpPr>
          <p:cNvPr id="4" name="Rectangle 3"/>
          <p:cNvSpPr/>
          <p:nvPr/>
        </p:nvSpPr>
        <p:spPr>
          <a:xfrm>
            <a:off x="2133600" y="1619071"/>
            <a:ext cx="5112297" cy="156966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400" i="1" dirty="0" smtClean="0">
                <a:latin typeface="Consolas" pitchFamily="49" charset="0"/>
              </a:rPr>
              <a:t>create-react-app react-router</a:t>
            </a:r>
          </a:p>
          <a:p>
            <a:r>
              <a:rPr lang="en-US" sz="2400" i="1" dirty="0" err="1" smtClean="0">
                <a:latin typeface="Consolas" pitchFamily="49" charset="0"/>
              </a:rPr>
              <a:t>cd</a:t>
            </a:r>
            <a:r>
              <a:rPr lang="en-US" sz="2400" i="1" dirty="0" smtClean="0">
                <a:latin typeface="Consolas" pitchFamily="49" charset="0"/>
              </a:rPr>
              <a:t> react-router</a:t>
            </a:r>
          </a:p>
          <a:p>
            <a:r>
              <a:rPr lang="en-US" sz="2400" b="1" i="1" dirty="0" err="1" smtClean="0">
                <a:latin typeface="Consolas" pitchFamily="49" charset="0"/>
              </a:rPr>
              <a:t>npm</a:t>
            </a:r>
            <a:r>
              <a:rPr lang="en-US" sz="2400" b="1" i="1" dirty="0" smtClean="0">
                <a:latin typeface="Consolas" pitchFamily="49" charset="0"/>
              </a:rPr>
              <a:t> </a:t>
            </a:r>
            <a:r>
              <a:rPr lang="en-US" sz="2400" b="1" i="1" dirty="0" err="1" smtClean="0">
                <a:latin typeface="Consolas" pitchFamily="49" charset="0"/>
              </a:rPr>
              <a:t>i</a:t>
            </a:r>
            <a:r>
              <a:rPr lang="en-US" sz="2400" b="1" i="1" dirty="0" smtClean="0">
                <a:latin typeface="Consolas" pitchFamily="49" charset="0"/>
              </a:rPr>
              <a:t> react-router-</a:t>
            </a:r>
            <a:r>
              <a:rPr lang="en-US" sz="2400" b="1" i="1" dirty="0" err="1" smtClean="0">
                <a:latin typeface="Consolas" pitchFamily="49" charset="0"/>
              </a:rPr>
              <a:t>dom</a:t>
            </a:r>
            <a:r>
              <a:rPr lang="en-US" sz="2400" b="1" i="1" dirty="0" smtClean="0">
                <a:latin typeface="Consolas" pitchFamily="49" charset="0"/>
              </a:rPr>
              <a:t> --save</a:t>
            </a:r>
          </a:p>
          <a:p>
            <a:r>
              <a:rPr lang="en-US" sz="2400" i="1" dirty="0" err="1" smtClean="0">
                <a:latin typeface="Consolas" pitchFamily="49" charset="0"/>
              </a:rPr>
              <a:t>npm</a:t>
            </a:r>
            <a:r>
              <a:rPr lang="en-US" sz="2400" i="1" dirty="0" smtClean="0">
                <a:latin typeface="Consolas" pitchFamily="49" charset="0"/>
              </a:rPr>
              <a:t> start</a:t>
            </a:r>
            <a:endParaRPr lang="en-US" sz="2400" i="1" dirty="0">
              <a:latin typeface="Consolas" pitchFamily="49" charset="0"/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81063" y="3352800"/>
            <a:ext cx="7381875" cy="212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index.html</a:t>
            </a:r>
            <a:endParaRPr lang="en-US" b="1" dirty="0"/>
          </a:p>
        </p:txBody>
      </p:sp>
      <p:sp>
        <p:nvSpPr>
          <p:cNvPr id="4" name="Rectangle 3"/>
          <p:cNvSpPr/>
          <p:nvPr/>
        </p:nvSpPr>
        <p:spPr>
          <a:xfrm>
            <a:off x="533400" y="1818144"/>
            <a:ext cx="8153400" cy="2677656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400" dirty="0" smtClean="0">
                <a:latin typeface="Consolas" pitchFamily="49" charset="0"/>
              </a:rPr>
              <a:t>&lt;!DOCTYPE html&gt;</a:t>
            </a:r>
          </a:p>
          <a:p>
            <a:r>
              <a:rPr lang="en-US" sz="1400" dirty="0" smtClean="0">
                <a:latin typeface="Consolas" pitchFamily="49" charset="0"/>
              </a:rPr>
              <a:t>&lt;html&gt;</a:t>
            </a:r>
          </a:p>
          <a:p>
            <a:r>
              <a:rPr lang="en-US" sz="1400" dirty="0" smtClean="0">
                <a:latin typeface="Consolas" pitchFamily="49" charset="0"/>
              </a:rPr>
              <a:t>&lt;head&gt;</a:t>
            </a:r>
          </a:p>
          <a:p>
            <a:r>
              <a:rPr lang="en-US" sz="1400" dirty="0" smtClean="0">
                <a:latin typeface="Consolas" pitchFamily="49" charset="0"/>
              </a:rPr>
              <a:t>    &lt;meta </a:t>
            </a:r>
            <a:r>
              <a:rPr lang="en-US" sz="1400" dirty="0" err="1" smtClean="0">
                <a:latin typeface="Consolas" pitchFamily="49" charset="0"/>
              </a:rPr>
              <a:t>charset</a:t>
            </a:r>
            <a:r>
              <a:rPr lang="en-US" sz="1400" dirty="0" smtClean="0">
                <a:latin typeface="Consolas" pitchFamily="49" charset="0"/>
              </a:rPr>
              <a:t>="utf-8"&gt;</a:t>
            </a:r>
          </a:p>
          <a:p>
            <a:r>
              <a:rPr lang="en-US" sz="1400" dirty="0" smtClean="0">
                <a:latin typeface="Consolas" pitchFamily="49" charset="0"/>
              </a:rPr>
              <a:t>    &lt;meta name="viewport"</a:t>
            </a:r>
          </a:p>
          <a:p>
            <a:r>
              <a:rPr lang="en-US" sz="1400" dirty="0" smtClean="0">
                <a:latin typeface="Consolas" pitchFamily="49" charset="0"/>
              </a:rPr>
              <a:t>          content="width=device-width, initial-scale=1, shrink-to-fit=no"&gt;</a:t>
            </a:r>
          </a:p>
          <a:p>
            <a:r>
              <a:rPr lang="en-US" sz="1400" dirty="0" smtClean="0">
                <a:latin typeface="Consolas" pitchFamily="49" charset="0"/>
              </a:rPr>
              <a:t>    &lt;title&gt;React Router Example&lt;/title&gt;</a:t>
            </a:r>
          </a:p>
          <a:p>
            <a:r>
              <a:rPr lang="en-US" sz="1400" dirty="0" smtClean="0">
                <a:latin typeface="Consolas" pitchFamily="49" charset="0"/>
              </a:rPr>
              <a:t>&lt;/head&gt;</a:t>
            </a:r>
          </a:p>
          <a:p>
            <a:r>
              <a:rPr lang="en-US" sz="1400" dirty="0" smtClean="0">
                <a:latin typeface="Consolas" pitchFamily="49" charset="0"/>
              </a:rPr>
              <a:t>&lt;body&gt;</a:t>
            </a:r>
          </a:p>
          <a:p>
            <a:r>
              <a:rPr lang="en-US" sz="1400" dirty="0" smtClean="0">
                <a:latin typeface="Consolas" pitchFamily="49" charset="0"/>
              </a:rPr>
              <a:t>    &lt;div id="root"&gt;&lt;/div&gt;</a:t>
            </a:r>
          </a:p>
          <a:p>
            <a:r>
              <a:rPr lang="en-US" sz="1400" dirty="0" smtClean="0">
                <a:latin typeface="Consolas" pitchFamily="49" charset="0"/>
              </a:rPr>
              <a:t>&lt;/body&gt;</a:t>
            </a:r>
          </a:p>
          <a:p>
            <a:r>
              <a:rPr lang="en-US" sz="1400" dirty="0" smtClean="0">
                <a:latin typeface="Consolas" pitchFamily="49" charset="0"/>
              </a:rPr>
              <a:t>&lt;/html&gt;</a:t>
            </a:r>
            <a:endParaRPr lang="en-US" sz="1400" b="1" dirty="0" smtClean="0">
              <a:solidFill>
                <a:srgbClr val="C00000"/>
              </a:solidFill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Main.js</a:t>
            </a:r>
            <a:endParaRPr lang="en-US" b="1" dirty="0"/>
          </a:p>
        </p:txBody>
      </p:sp>
      <p:sp>
        <p:nvSpPr>
          <p:cNvPr id="4" name="Rectangle 3"/>
          <p:cNvSpPr/>
          <p:nvPr/>
        </p:nvSpPr>
        <p:spPr>
          <a:xfrm>
            <a:off x="533400" y="1818144"/>
            <a:ext cx="8153400" cy="4031873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400" dirty="0" smtClean="0">
                <a:latin typeface="Consolas" pitchFamily="49" charset="0"/>
              </a:rPr>
              <a:t>import React, { Component } from "react";</a:t>
            </a:r>
          </a:p>
          <a:p>
            <a:r>
              <a:rPr lang="en-US" sz="1400" dirty="0" smtClean="0">
                <a:latin typeface="Consolas" pitchFamily="49" charset="0"/>
              </a:rPr>
              <a:t>class Main extends Component {</a:t>
            </a:r>
          </a:p>
          <a:p>
            <a:r>
              <a:rPr lang="en-US" sz="1400" dirty="0" smtClean="0">
                <a:latin typeface="Consolas" pitchFamily="49" charset="0"/>
              </a:rPr>
              <a:t>    render() {</a:t>
            </a:r>
          </a:p>
          <a:p>
            <a:r>
              <a:rPr lang="en-US" sz="1400" dirty="0" smtClean="0">
                <a:latin typeface="Consolas" pitchFamily="49" charset="0"/>
              </a:rPr>
              <a:t>        return (</a:t>
            </a:r>
          </a:p>
          <a:p>
            <a:r>
              <a:rPr lang="en-US" sz="1400" dirty="0" smtClean="0">
                <a:latin typeface="Consolas" pitchFamily="49" charset="0"/>
              </a:rPr>
              <a:t>            &lt;div&gt;</a:t>
            </a:r>
          </a:p>
          <a:p>
            <a:r>
              <a:rPr lang="en-US" sz="1400" dirty="0" smtClean="0">
                <a:latin typeface="Consolas" pitchFamily="49" charset="0"/>
              </a:rPr>
              <a:t>                &lt;h1&gt;Simple SPA&lt;/h1&gt;</a:t>
            </a:r>
          </a:p>
          <a:p>
            <a:r>
              <a:rPr lang="en-US" sz="1400" dirty="0" smtClean="0">
                <a:latin typeface="Consolas" pitchFamily="49" charset="0"/>
              </a:rPr>
              <a:t>                &lt;</a:t>
            </a:r>
            <a:r>
              <a:rPr lang="en-US" sz="1400" dirty="0" err="1" smtClean="0">
                <a:latin typeface="Consolas" pitchFamily="49" charset="0"/>
              </a:rPr>
              <a:t>ul</a:t>
            </a:r>
            <a:r>
              <a:rPr lang="en-US" sz="1400" dirty="0" smtClean="0">
                <a:latin typeface="Consolas" pitchFamily="49" charset="0"/>
              </a:rPr>
              <a:t> </a:t>
            </a:r>
            <a:r>
              <a:rPr lang="en-US" sz="1400" dirty="0" err="1" smtClean="0">
                <a:latin typeface="Consolas" pitchFamily="49" charset="0"/>
              </a:rPr>
              <a:t>className</a:t>
            </a:r>
            <a:r>
              <a:rPr lang="en-US" sz="1400" dirty="0" smtClean="0">
                <a:latin typeface="Consolas" pitchFamily="49" charset="0"/>
              </a:rPr>
              <a:t>="header"&gt;</a:t>
            </a:r>
          </a:p>
          <a:p>
            <a:r>
              <a:rPr lang="it-IT" sz="1400" dirty="0" smtClean="0">
                <a:latin typeface="Consolas" pitchFamily="49" charset="0"/>
              </a:rPr>
              <a:t>                    &lt;li&gt;&lt;a href="/"&gt;Home&lt;/a&gt;&lt;/li&gt;</a:t>
            </a:r>
          </a:p>
          <a:p>
            <a:r>
              <a:rPr lang="it-IT" sz="1400" dirty="0" smtClean="0">
                <a:latin typeface="Consolas" pitchFamily="49" charset="0"/>
              </a:rPr>
              <a:t>                    &lt;li&gt;&lt;a href="/stuff"&gt;Stuff&lt;/a&gt;&lt;/li&gt;</a:t>
            </a:r>
          </a:p>
          <a:p>
            <a:r>
              <a:rPr lang="en-US" sz="1400" dirty="0" smtClean="0">
                <a:latin typeface="Consolas" pitchFamily="49" charset="0"/>
              </a:rPr>
              <a:t>                    &lt;</a:t>
            </a:r>
            <a:r>
              <a:rPr lang="en-US" sz="1400" dirty="0" err="1" smtClean="0">
                <a:latin typeface="Consolas" pitchFamily="49" charset="0"/>
              </a:rPr>
              <a:t>li</a:t>
            </a:r>
            <a:r>
              <a:rPr lang="en-US" sz="1400" dirty="0" smtClean="0">
                <a:latin typeface="Consolas" pitchFamily="49" charset="0"/>
              </a:rPr>
              <a:t>&gt;&lt;a </a:t>
            </a:r>
            <a:r>
              <a:rPr lang="en-US" sz="1400" dirty="0" err="1" smtClean="0">
                <a:latin typeface="Consolas" pitchFamily="49" charset="0"/>
              </a:rPr>
              <a:t>href</a:t>
            </a:r>
            <a:r>
              <a:rPr lang="en-US" sz="1400" dirty="0" smtClean="0">
                <a:latin typeface="Consolas" pitchFamily="49" charset="0"/>
              </a:rPr>
              <a:t>="/contact"&gt;Contact&lt;/a&gt;&lt;/</a:t>
            </a:r>
            <a:r>
              <a:rPr lang="en-US" sz="1400" dirty="0" err="1" smtClean="0">
                <a:latin typeface="Consolas" pitchFamily="49" charset="0"/>
              </a:rPr>
              <a:t>li</a:t>
            </a:r>
            <a:r>
              <a:rPr lang="en-US" sz="1400" dirty="0" smtClean="0">
                <a:latin typeface="Consolas" pitchFamily="49" charset="0"/>
              </a:rPr>
              <a:t>&gt;</a:t>
            </a:r>
          </a:p>
          <a:p>
            <a:r>
              <a:rPr lang="en-US" sz="1400" dirty="0" smtClean="0">
                <a:latin typeface="Consolas" pitchFamily="49" charset="0"/>
              </a:rPr>
              <a:t>                &lt;/</a:t>
            </a:r>
            <a:r>
              <a:rPr lang="en-US" sz="1400" dirty="0" err="1" smtClean="0">
                <a:latin typeface="Consolas" pitchFamily="49" charset="0"/>
              </a:rPr>
              <a:t>ul</a:t>
            </a:r>
            <a:r>
              <a:rPr lang="en-US" sz="1400" dirty="0" smtClean="0">
                <a:latin typeface="Consolas" pitchFamily="49" charset="0"/>
              </a:rPr>
              <a:t>&gt;</a:t>
            </a:r>
          </a:p>
          <a:p>
            <a:r>
              <a:rPr lang="en-US" sz="1400" dirty="0" smtClean="0">
                <a:latin typeface="Consolas" pitchFamily="49" charset="0"/>
              </a:rPr>
              <a:t>                &lt;div </a:t>
            </a:r>
            <a:r>
              <a:rPr lang="en-US" sz="1400" dirty="0" err="1" smtClean="0">
                <a:latin typeface="Consolas" pitchFamily="49" charset="0"/>
              </a:rPr>
              <a:t>className</a:t>
            </a:r>
            <a:r>
              <a:rPr lang="en-US" sz="1400" dirty="0" smtClean="0">
                <a:latin typeface="Consolas" pitchFamily="49" charset="0"/>
              </a:rPr>
              <a:t>="content"&gt;</a:t>
            </a:r>
          </a:p>
          <a:p>
            <a:r>
              <a:rPr lang="en-US" sz="1400" dirty="0" smtClean="0">
                <a:latin typeface="Consolas" pitchFamily="49" charset="0"/>
              </a:rPr>
              <a:t>                &lt;/div&gt;</a:t>
            </a:r>
          </a:p>
          <a:p>
            <a:r>
              <a:rPr lang="en-US" sz="1400" dirty="0" smtClean="0">
                <a:latin typeface="Consolas" pitchFamily="49" charset="0"/>
              </a:rPr>
              <a:t>            &lt;/div&gt;</a:t>
            </a:r>
          </a:p>
          <a:p>
            <a:r>
              <a:rPr lang="en-US" sz="1400" dirty="0" smtClean="0">
                <a:latin typeface="Consolas" pitchFamily="49" charset="0"/>
              </a:rPr>
              <a:t>        );</a:t>
            </a:r>
          </a:p>
          <a:p>
            <a:r>
              <a:rPr lang="en-US" sz="1400" dirty="0" smtClean="0">
                <a:latin typeface="Consolas" pitchFamily="49" charset="0"/>
              </a:rPr>
              <a:t>    }</a:t>
            </a:r>
          </a:p>
          <a:p>
            <a:r>
              <a:rPr lang="en-US" sz="1400" dirty="0" smtClean="0">
                <a:latin typeface="Consolas" pitchFamily="49" charset="0"/>
              </a:rPr>
              <a:t>}</a:t>
            </a:r>
          </a:p>
          <a:p>
            <a:r>
              <a:rPr lang="en-US" sz="1400" dirty="0" smtClean="0">
                <a:latin typeface="Consolas" pitchFamily="49" charset="0"/>
              </a:rPr>
              <a:t>export default Main;</a:t>
            </a:r>
            <a:endParaRPr lang="en-US" sz="1400" b="1" dirty="0" smtClean="0">
              <a:solidFill>
                <a:srgbClr val="C00000"/>
              </a:solidFill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index.js</a:t>
            </a:r>
            <a:endParaRPr lang="en-US" b="1" dirty="0"/>
          </a:p>
        </p:txBody>
      </p:sp>
      <p:sp>
        <p:nvSpPr>
          <p:cNvPr id="4" name="Rectangle 3"/>
          <p:cNvSpPr/>
          <p:nvPr/>
        </p:nvSpPr>
        <p:spPr>
          <a:xfrm>
            <a:off x="533400" y="1818144"/>
            <a:ext cx="8153400" cy="2677656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400" dirty="0" smtClean="0">
                <a:latin typeface="Consolas" pitchFamily="49" charset="0"/>
              </a:rPr>
              <a:t>import React from 'react';</a:t>
            </a:r>
          </a:p>
          <a:p>
            <a:r>
              <a:rPr lang="en-US" sz="1400" dirty="0" smtClean="0">
                <a:latin typeface="Consolas" pitchFamily="49" charset="0"/>
              </a:rPr>
              <a:t>import </a:t>
            </a:r>
            <a:r>
              <a:rPr lang="en-US" sz="1400" dirty="0" err="1" smtClean="0">
                <a:latin typeface="Consolas" pitchFamily="49" charset="0"/>
              </a:rPr>
              <a:t>ReactDOM</a:t>
            </a:r>
            <a:r>
              <a:rPr lang="en-US" sz="1400" dirty="0" smtClean="0">
                <a:latin typeface="Consolas" pitchFamily="49" charset="0"/>
              </a:rPr>
              <a:t> from 'react-</a:t>
            </a:r>
            <a:r>
              <a:rPr lang="en-US" sz="1400" dirty="0" err="1" smtClean="0">
                <a:latin typeface="Consolas" pitchFamily="49" charset="0"/>
              </a:rPr>
              <a:t>dom</a:t>
            </a:r>
            <a:r>
              <a:rPr lang="en-US" sz="1400" dirty="0" smtClean="0">
                <a:latin typeface="Consolas" pitchFamily="49" charset="0"/>
              </a:rPr>
              <a:t>';</a:t>
            </a:r>
          </a:p>
          <a:p>
            <a:r>
              <a:rPr lang="en-US" sz="1400" dirty="0" smtClean="0">
                <a:latin typeface="Consolas" pitchFamily="49" charset="0"/>
              </a:rPr>
              <a:t>import './index.css';</a:t>
            </a:r>
          </a:p>
          <a:p>
            <a:r>
              <a:rPr lang="en-US" sz="1400" dirty="0" smtClean="0">
                <a:latin typeface="Consolas" pitchFamily="49" charset="0"/>
              </a:rPr>
              <a:t>import Main from './Main';</a:t>
            </a:r>
          </a:p>
          <a:p>
            <a:r>
              <a:rPr lang="en-US" sz="1400" dirty="0" smtClean="0">
                <a:latin typeface="Consolas" pitchFamily="49" charset="0"/>
              </a:rPr>
              <a:t>import * as </a:t>
            </a:r>
            <a:r>
              <a:rPr lang="en-US" sz="1400" dirty="0" err="1" smtClean="0">
                <a:latin typeface="Consolas" pitchFamily="49" charset="0"/>
              </a:rPr>
              <a:t>serviceWorker</a:t>
            </a:r>
            <a:r>
              <a:rPr lang="en-US" sz="1400" dirty="0" smtClean="0">
                <a:latin typeface="Consolas" pitchFamily="49" charset="0"/>
              </a:rPr>
              <a:t> from './</a:t>
            </a:r>
            <a:r>
              <a:rPr lang="en-US" sz="1400" dirty="0" err="1" smtClean="0">
                <a:latin typeface="Consolas" pitchFamily="49" charset="0"/>
              </a:rPr>
              <a:t>serviceWorker</a:t>
            </a:r>
            <a:r>
              <a:rPr lang="en-US" sz="1400" dirty="0" smtClean="0">
                <a:latin typeface="Consolas" pitchFamily="49" charset="0"/>
              </a:rPr>
              <a:t>';</a:t>
            </a:r>
          </a:p>
          <a:p>
            <a:endParaRPr lang="en-US" sz="1400" dirty="0" smtClean="0">
              <a:latin typeface="Consolas" pitchFamily="49" charset="0"/>
            </a:endParaRPr>
          </a:p>
          <a:p>
            <a:r>
              <a:rPr lang="en-US" sz="1400" dirty="0" err="1" smtClean="0">
                <a:latin typeface="Consolas" pitchFamily="49" charset="0"/>
              </a:rPr>
              <a:t>ReactDOM.render</a:t>
            </a:r>
            <a:r>
              <a:rPr lang="en-US" sz="1400" dirty="0" smtClean="0">
                <a:latin typeface="Consolas" pitchFamily="49" charset="0"/>
              </a:rPr>
              <a:t>(&lt;Main /&gt;, </a:t>
            </a:r>
            <a:r>
              <a:rPr lang="en-US" sz="1400" dirty="0" err="1" smtClean="0">
                <a:latin typeface="Consolas" pitchFamily="49" charset="0"/>
              </a:rPr>
              <a:t>document.getElementById</a:t>
            </a:r>
            <a:r>
              <a:rPr lang="en-US" sz="1400" dirty="0" smtClean="0">
                <a:latin typeface="Consolas" pitchFamily="49" charset="0"/>
              </a:rPr>
              <a:t>('root'));</a:t>
            </a:r>
          </a:p>
          <a:p>
            <a:endParaRPr lang="en-US" sz="1400" dirty="0" smtClean="0">
              <a:latin typeface="Consolas" pitchFamily="49" charset="0"/>
            </a:endParaRPr>
          </a:p>
          <a:p>
            <a:r>
              <a:rPr lang="en-US" sz="1400" dirty="0" smtClean="0">
                <a:latin typeface="Consolas" pitchFamily="49" charset="0"/>
              </a:rPr>
              <a:t>// If you want your app to work offline and load faster, you can change</a:t>
            </a:r>
          </a:p>
          <a:p>
            <a:r>
              <a:rPr lang="en-US" sz="1400" dirty="0" smtClean="0">
                <a:latin typeface="Consolas" pitchFamily="49" charset="0"/>
              </a:rPr>
              <a:t>// unregister() to register() below. Note this comes with some pitfalls.</a:t>
            </a:r>
          </a:p>
          <a:p>
            <a:r>
              <a:rPr lang="en-US" sz="1400" dirty="0" smtClean="0">
                <a:latin typeface="Consolas" pitchFamily="49" charset="0"/>
              </a:rPr>
              <a:t>// Learn more about service workers: https://bit.ly/CRA-PWA</a:t>
            </a:r>
          </a:p>
          <a:p>
            <a:r>
              <a:rPr lang="en-US" sz="1400" dirty="0" err="1" smtClean="0">
                <a:latin typeface="Consolas" pitchFamily="49" charset="0"/>
              </a:rPr>
              <a:t>serviceWorker.unregister</a:t>
            </a:r>
            <a:r>
              <a:rPr lang="en-US" sz="1400" dirty="0" smtClean="0">
                <a:latin typeface="Consolas" pitchFamily="49" charset="0"/>
              </a:rPr>
              <a:t>();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05200" y="4648200"/>
            <a:ext cx="2175510" cy="14897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Using React Router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533400" y="1295400"/>
            <a:ext cx="8153400" cy="4939814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900" dirty="0" smtClean="0">
                <a:latin typeface="Consolas" pitchFamily="49" charset="0"/>
              </a:rPr>
              <a:t>/* Main.js */</a:t>
            </a:r>
          </a:p>
          <a:p>
            <a:r>
              <a:rPr lang="en-US" sz="900" dirty="0" smtClean="0">
                <a:latin typeface="Consolas" pitchFamily="49" charset="0"/>
              </a:rPr>
              <a:t>import React, { Component } from "react";</a:t>
            </a:r>
          </a:p>
          <a:p>
            <a:r>
              <a:rPr lang="en-US" sz="900" dirty="0" smtClean="0">
                <a:latin typeface="Consolas" pitchFamily="49" charset="0"/>
              </a:rPr>
              <a:t>/* Import Route, </a:t>
            </a:r>
            <a:r>
              <a:rPr lang="en-US" sz="900" dirty="0" err="1" smtClean="0">
                <a:latin typeface="Consolas" pitchFamily="49" charset="0"/>
              </a:rPr>
              <a:t>NavLink</a:t>
            </a:r>
            <a:r>
              <a:rPr lang="en-US" sz="900" dirty="0" smtClean="0">
                <a:latin typeface="Consolas" pitchFamily="49" charset="0"/>
              </a:rPr>
              <a:t>, and </a:t>
            </a:r>
            <a:r>
              <a:rPr lang="en-US" sz="900" dirty="0" err="1" smtClean="0">
                <a:latin typeface="Consolas" pitchFamily="49" charset="0"/>
              </a:rPr>
              <a:t>HashRouter</a:t>
            </a:r>
            <a:r>
              <a:rPr lang="en-US" sz="900" dirty="0" smtClean="0">
                <a:latin typeface="Consolas" pitchFamily="49" charset="0"/>
              </a:rPr>
              <a:t> from the react-router-</a:t>
            </a:r>
            <a:r>
              <a:rPr lang="en-US" sz="900" dirty="0" err="1" smtClean="0">
                <a:latin typeface="Consolas" pitchFamily="49" charset="0"/>
              </a:rPr>
              <a:t>dom</a:t>
            </a:r>
            <a:r>
              <a:rPr lang="en-US" sz="900" dirty="0" smtClean="0">
                <a:latin typeface="Consolas" pitchFamily="49" charset="0"/>
              </a:rPr>
              <a:t> NPM package */</a:t>
            </a:r>
          </a:p>
          <a:p>
            <a:r>
              <a:rPr lang="en-US" sz="900" dirty="0" smtClean="0">
                <a:latin typeface="Consolas" pitchFamily="49" charset="0"/>
              </a:rPr>
              <a:t>import {</a:t>
            </a:r>
          </a:p>
          <a:p>
            <a:r>
              <a:rPr lang="en-US" sz="900" dirty="0" smtClean="0">
                <a:latin typeface="Consolas" pitchFamily="49" charset="0"/>
              </a:rPr>
              <a:t>    Route,</a:t>
            </a:r>
          </a:p>
          <a:p>
            <a:r>
              <a:rPr lang="en-US" sz="900" dirty="0" smtClean="0">
                <a:latin typeface="Consolas" pitchFamily="49" charset="0"/>
              </a:rPr>
              <a:t>    </a:t>
            </a:r>
            <a:r>
              <a:rPr lang="en-US" sz="900" dirty="0" err="1" smtClean="0">
                <a:latin typeface="Consolas" pitchFamily="49" charset="0"/>
              </a:rPr>
              <a:t>NavLink</a:t>
            </a:r>
            <a:r>
              <a:rPr lang="en-US" sz="900" dirty="0" smtClean="0">
                <a:latin typeface="Consolas" pitchFamily="49" charset="0"/>
              </a:rPr>
              <a:t>,</a:t>
            </a:r>
          </a:p>
          <a:p>
            <a:r>
              <a:rPr lang="en-US" sz="900" dirty="0" smtClean="0">
                <a:latin typeface="Consolas" pitchFamily="49" charset="0"/>
              </a:rPr>
              <a:t>    </a:t>
            </a:r>
            <a:r>
              <a:rPr lang="en-US" sz="900" dirty="0" err="1" smtClean="0">
                <a:latin typeface="Consolas" pitchFamily="49" charset="0"/>
              </a:rPr>
              <a:t>HashRouter</a:t>
            </a:r>
            <a:endParaRPr lang="en-US" sz="900" dirty="0" smtClean="0">
              <a:latin typeface="Consolas" pitchFamily="49" charset="0"/>
            </a:endParaRPr>
          </a:p>
          <a:p>
            <a:r>
              <a:rPr lang="en-US" sz="900" dirty="0" smtClean="0">
                <a:latin typeface="Consolas" pitchFamily="49" charset="0"/>
              </a:rPr>
              <a:t>} from "react-router-</a:t>
            </a:r>
            <a:r>
              <a:rPr lang="en-US" sz="900" dirty="0" err="1" smtClean="0">
                <a:latin typeface="Consolas" pitchFamily="49" charset="0"/>
              </a:rPr>
              <a:t>dom</a:t>
            </a:r>
            <a:r>
              <a:rPr lang="en-US" sz="900" dirty="0" smtClean="0">
                <a:latin typeface="Consolas" pitchFamily="49" charset="0"/>
              </a:rPr>
              <a:t>";</a:t>
            </a:r>
          </a:p>
          <a:p>
            <a:r>
              <a:rPr lang="en-US" sz="900" dirty="0" smtClean="0">
                <a:latin typeface="Consolas" pitchFamily="49" charset="0"/>
              </a:rPr>
              <a:t>import Home from "./Home";</a:t>
            </a:r>
          </a:p>
          <a:p>
            <a:r>
              <a:rPr lang="en-US" sz="900" dirty="0" smtClean="0">
                <a:latin typeface="Consolas" pitchFamily="49" charset="0"/>
              </a:rPr>
              <a:t>import Stuff from "./Stuff";</a:t>
            </a:r>
          </a:p>
          <a:p>
            <a:r>
              <a:rPr lang="en-US" sz="900" dirty="0" smtClean="0">
                <a:latin typeface="Consolas" pitchFamily="49" charset="0"/>
              </a:rPr>
              <a:t>import Contact from "./Contact";</a:t>
            </a:r>
          </a:p>
          <a:p>
            <a:endParaRPr lang="en-US" sz="900" dirty="0" smtClean="0">
              <a:latin typeface="Consolas" pitchFamily="49" charset="0"/>
            </a:endParaRPr>
          </a:p>
          <a:p>
            <a:r>
              <a:rPr lang="en-US" sz="900" dirty="0" smtClean="0">
                <a:latin typeface="Consolas" pitchFamily="49" charset="0"/>
              </a:rPr>
              <a:t>class Main extends Component {</a:t>
            </a:r>
          </a:p>
          <a:p>
            <a:r>
              <a:rPr lang="en-US" sz="900" dirty="0" smtClean="0">
                <a:latin typeface="Consolas" pitchFamily="49" charset="0"/>
              </a:rPr>
              <a:t>    render() {</a:t>
            </a:r>
          </a:p>
          <a:p>
            <a:r>
              <a:rPr lang="en-US" sz="900" dirty="0" smtClean="0">
                <a:latin typeface="Consolas" pitchFamily="49" charset="0"/>
              </a:rPr>
              <a:t>        return (</a:t>
            </a:r>
          </a:p>
          <a:p>
            <a:r>
              <a:rPr lang="en-US" sz="900" dirty="0" smtClean="0">
                <a:latin typeface="Consolas" pitchFamily="49" charset="0"/>
              </a:rPr>
              <a:t>            &lt;</a:t>
            </a:r>
            <a:r>
              <a:rPr lang="en-US" sz="900" dirty="0" err="1" smtClean="0">
                <a:latin typeface="Consolas" pitchFamily="49" charset="0"/>
              </a:rPr>
              <a:t>HashRouter</a:t>
            </a:r>
            <a:r>
              <a:rPr lang="en-US" sz="900" dirty="0" smtClean="0">
                <a:latin typeface="Consolas" pitchFamily="49" charset="0"/>
              </a:rPr>
              <a:t>&gt;</a:t>
            </a:r>
          </a:p>
          <a:p>
            <a:r>
              <a:rPr lang="en-US" sz="900" dirty="0" smtClean="0">
                <a:latin typeface="Consolas" pitchFamily="49" charset="0"/>
              </a:rPr>
              <a:t>                &lt;div&gt;</a:t>
            </a:r>
          </a:p>
          <a:p>
            <a:r>
              <a:rPr lang="en-US" sz="900" dirty="0" smtClean="0">
                <a:latin typeface="Consolas" pitchFamily="49" charset="0"/>
              </a:rPr>
              <a:t>                    &lt;h1&gt;Simple SPA&lt;/h1&gt;</a:t>
            </a:r>
          </a:p>
          <a:p>
            <a:r>
              <a:rPr lang="en-US" sz="900" dirty="0" smtClean="0">
                <a:latin typeface="Consolas" pitchFamily="49" charset="0"/>
              </a:rPr>
              <a:t>                    &lt;</a:t>
            </a:r>
            <a:r>
              <a:rPr lang="en-US" sz="900" dirty="0" err="1" smtClean="0">
                <a:latin typeface="Consolas" pitchFamily="49" charset="0"/>
              </a:rPr>
              <a:t>ul</a:t>
            </a:r>
            <a:r>
              <a:rPr lang="en-US" sz="900" dirty="0" smtClean="0">
                <a:latin typeface="Consolas" pitchFamily="49" charset="0"/>
              </a:rPr>
              <a:t> </a:t>
            </a:r>
            <a:r>
              <a:rPr lang="en-US" sz="900" dirty="0" err="1" smtClean="0">
                <a:latin typeface="Consolas" pitchFamily="49" charset="0"/>
              </a:rPr>
              <a:t>className</a:t>
            </a:r>
            <a:r>
              <a:rPr lang="en-US" sz="900" dirty="0" smtClean="0">
                <a:latin typeface="Consolas" pitchFamily="49" charset="0"/>
              </a:rPr>
              <a:t>="header"&gt;</a:t>
            </a:r>
          </a:p>
          <a:p>
            <a:r>
              <a:rPr lang="en-US" sz="900" dirty="0" smtClean="0">
                <a:latin typeface="Consolas" pitchFamily="49" charset="0"/>
              </a:rPr>
              <a:t>                        &lt;</a:t>
            </a:r>
            <a:r>
              <a:rPr lang="en-US" sz="900" dirty="0" err="1" smtClean="0">
                <a:latin typeface="Consolas" pitchFamily="49" charset="0"/>
              </a:rPr>
              <a:t>li</a:t>
            </a:r>
            <a:r>
              <a:rPr lang="en-US" sz="900" dirty="0" smtClean="0">
                <a:latin typeface="Consolas" pitchFamily="49" charset="0"/>
              </a:rPr>
              <a:t>&gt;&lt;</a:t>
            </a:r>
            <a:r>
              <a:rPr lang="en-US" sz="900" dirty="0" err="1" smtClean="0">
                <a:latin typeface="Consolas" pitchFamily="49" charset="0"/>
              </a:rPr>
              <a:t>NavLink</a:t>
            </a:r>
            <a:r>
              <a:rPr lang="en-US" sz="900" dirty="0" smtClean="0">
                <a:latin typeface="Consolas" pitchFamily="49" charset="0"/>
              </a:rPr>
              <a:t> to="/"&gt;Home&lt;/</a:t>
            </a:r>
            <a:r>
              <a:rPr lang="en-US" sz="900" dirty="0" err="1" smtClean="0">
                <a:latin typeface="Consolas" pitchFamily="49" charset="0"/>
              </a:rPr>
              <a:t>NavLink</a:t>
            </a:r>
            <a:r>
              <a:rPr lang="en-US" sz="900" dirty="0" smtClean="0">
                <a:latin typeface="Consolas" pitchFamily="49" charset="0"/>
              </a:rPr>
              <a:t>&gt;&lt;/</a:t>
            </a:r>
            <a:r>
              <a:rPr lang="en-US" sz="900" dirty="0" err="1" smtClean="0">
                <a:latin typeface="Consolas" pitchFamily="49" charset="0"/>
              </a:rPr>
              <a:t>li</a:t>
            </a:r>
            <a:r>
              <a:rPr lang="en-US" sz="900" dirty="0" smtClean="0">
                <a:latin typeface="Consolas" pitchFamily="49" charset="0"/>
              </a:rPr>
              <a:t>&gt;</a:t>
            </a:r>
          </a:p>
          <a:p>
            <a:r>
              <a:rPr lang="en-US" sz="900" dirty="0" smtClean="0">
                <a:latin typeface="Consolas" pitchFamily="49" charset="0"/>
              </a:rPr>
              <a:t>                        &lt;</a:t>
            </a:r>
            <a:r>
              <a:rPr lang="en-US" sz="900" dirty="0" err="1" smtClean="0">
                <a:latin typeface="Consolas" pitchFamily="49" charset="0"/>
              </a:rPr>
              <a:t>li</a:t>
            </a:r>
            <a:r>
              <a:rPr lang="en-US" sz="900" dirty="0" smtClean="0">
                <a:latin typeface="Consolas" pitchFamily="49" charset="0"/>
              </a:rPr>
              <a:t>&gt;&lt;</a:t>
            </a:r>
            <a:r>
              <a:rPr lang="en-US" sz="900" dirty="0" err="1" smtClean="0">
                <a:latin typeface="Consolas" pitchFamily="49" charset="0"/>
              </a:rPr>
              <a:t>NavLink</a:t>
            </a:r>
            <a:r>
              <a:rPr lang="en-US" sz="900" dirty="0" smtClean="0">
                <a:latin typeface="Consolas" pitchFamily="49" charset="0"/>
              </a:rPr>
              <a:t> to="/stuff"&gt;Stuff&lt;/</a:t>
            </a:r>
            <a:r>
              <a:rPr lang="en-US" sz="900" dirty="0" err="1" smtClean="0">
                <a:latin typeface="Consolas" pitchFamily="49" charset="0"/>
              </a:rPr>
              <a:t>NavLink</a:t>
            </a:r>
            <a:r>
              <a:rPr lang="en-US" sz="900" dirty="0" smtClean="0">
                <a:latin typeface="Consolas" pitchFamily="49" charset="0"/>
              </a:rPr>
              <a:t>&gt;&lt;/</a:t>
            </a:r>
            <a:r>
              <a:rPr lang="en-US" sz="900" dirty="0" err="1" smtClean="0">
                <a:latin typeface="Consolas" pitchFamily="49" charset="0"/>
              </a:rPr>
              <a:t>li</a:t>
            </a:r>
            <a:r>
              <a:rPr lang="en-US" sz="900" dirty="0" smtClean="0">
                <a:latin typeface="Consolas" pitchFamily="49" charset="0"/>
              </a:rPr>
              <a:t>&gt;</a:t>
            </a:r>
          </a:p>
          <a:p>
            <a:r>
              <a:rPr lang="en-US" sz="900" dirty="0" smtClean="0">
                <a:latin typeface="Consolas" pitchFamily="49" charset="0"/>
              </a:rPr>
              <a:t>                        &lt;</a:t>
            </a:r>
            <a:r>
              <a:rPr lang="en-US" sz="900" dirty="0" err="1" smtClean="0">
                <a:latin typeface="Consolas" pitchFamily="49" charset="0"/>
              </a:rPr>
              <a:t>li</a:t>
            </a:r>
            <a:r>
              <a:rPr lang="en-US" sz="900" dirty="0" smtClean="0">
                <a:latin typeface="Consolas" pitchFamily="49" charset="0"/>
              </a:rPr>
              <a:t>&gt;&lt;</a:t>
            </a:r>
            <a:r>
              <a:rPr lang="en-US" sz="900" dirty="0" err="1" smtClean="0">
                <a:latin typeface="Consolas" pitchFamily="49" charset="0"/>
              </a:rPr>
              <a:t>NavLink</a:t>
            </a:r>
            <a:r>
              <a:rPr lang="en-US" sz="900" dirty="0" smtClean="0">
                <a:latin typeface="Consolas" pitchFamily="49" charset="0"/>
              </a:rPr>
              <a:t> to="/contact"&gt;Contact&lt;/</a:t>
            </a:r>
            <a:r>
              <a:rPr lang="en-US" sz="900" dirty="0" err="1" smtClean="0">
                <a:latin typeface="Consolas" pitchFamily="49" charset="0"/>
              </a:rPr>
              <a:t>NavLink</a:t>
            </a:r>
            <a:r>
              <a:rPr lang="en-US" sz="900" dirty="0" smtClean="0">
                <a:latin typeface="Consolas" pitchFamily="49" charset="0"/>
              </a:rPr>
              <a:t>&gt;&lt;/</a:t>
            </a:r>
            <a:r>
              <a:rPr lang="en-US" sz="900" dirty="0" err="1" smtClean="0">
                <a:latin typeface="Consolas" pitchFamily="49" charset="0"/>
              </a:rPr>
              <a:t>li</a:t>
            </a:r>
            <a:r>
              <a:rPr lang="en-US" sz="900" dirty="0" smtClean="0">
                <a:latin typeface="Consolas" pitchFamily="49" charset="0"/>
              </a:rPr>
              <a:t>&gt;</a:t>
            </a:r>
          </a:p>
          <a:p>
            <a:r>
              <a:rPr lang="en-US" sz="900" dirty="0" smtClean="0">
                <a:latin typeface="Consolas" pitchFamily="49" charset="0"/>
              </a:rPr>
              <a:t>                    &lt;/</a:t>
            </a:r>
            <a:r>
              <a:rPr lang="en-US" sz="900" dirty="0" err="1" smtClean="0">
                <a:latin typeface="Consolas" pitchFamily="49" charset="0"/>
              </a:rPr>
              <a:t>ul</a:t>
            </a:r>
            <a:r>
              <a:rPr lang="en-US" sz="900" dirty="0" smtClean="0">
                <a:latin typeface="Consolas" pitchFamily="49" charset="0"/>
              </a:rPr>
              <a:t>&gt;</a:t>
            </a:r>
          </a:p>
          <a:p>
            <a:r>
              <a:rPr lang="en-US" sz="900" dirty="0" smtClean="0">
                <a:latin typeface="Consolas" pitchFamily="49" charset="0"/>
              </a:rPr>
              <a:t>                    &lt;div </a:t>
            </a:r>
            <a:r>
              <a:rPr lang="en-US" sz="900" dirty="0" err="1" smtClean="0">
                <a:latin typeface="Consolas" pitchFamily="49" charset="0"/>
              </a:rPr>
              <a:t>className</a:t>
            </a:r>
            <a:r>
              <a:rPr lang="en-US" sz="900" dirty="0" smtClean="0">
                <a:latin typeface="Consolas" pitchFamily="49" charset="0"/>
              </a:rPr>
              <a:t>="content"&gt;</a:t>
            </a:r>
          </a:p>
          <a:p>
            <a:r>
              <a:rPr lang="en-US" sz="900" dirty="0" smtClean="0">
                <a:latin typeface="Consolas" pitchFamily="49" charset="0"/>
              </a:rPr>
              <a:t>                        &lt;Route exact path="/" component={Home}/&gt;</a:t>
            </a:r>
          </a:p>
          <a:p>
            <a:r>
              <a:rPr lang="en-US" sz="900" dirty="0" smtClean="0">
                <a:latin typeface="Consolas" pitchFamily="49" charset="0"/>
              </a:rPr>
              <a:t>                        &lt;Route path="/stuff" component={Stuff}/&gt;</a:t>
            </a:r>
          </a:p>
          <a:p>
            <a:r>
              <a:rPr lang="en-US" sz="900" dirty="0" smtClean="0">
                <a:latin typeface="Consolas" pitchFamily="49" charset="0"/>
              </a:rPr>
              <a:t>                        &lt;Route path="/contact" component={Contact}/&gt;</a:t>
            </a:r>
          </a:p>
          <a:p>
            <a:r>
              <a:rPr lang="en-US" sz="900" dirty="0" smtClean="0">
                <a:latin typeface="Consolas" pitchFamily="49" charset="0"/>
              </a:rPr>
              <a:t>                    &lt;/div&gt;</a:t>
            </a:r>
          </a:p>
          <a:p>
            <a:r>
              <a:rPr lang="en-US" sz="900" dirty="0" smtClean="0">
                <a:latin typeface="Consolas" pitchFamily="49" charset="0"/>
              </a:rPr>
              <a:t>                &lt;/div&gt;</a:t>
            </a:r>
          </a:p>
          <a:p>
            <a:r>
              <a:rPr lang="en-US" sz="900" dirty="0" smtClean="0">
                <a:latin typeface="Consolas" pitchFamily="49" charset="0"/>
              </a:rPr>
              <a:t>            &lt;/</a:t>
            </a:r>
            <a:r>
              <a:rPr lang="en-US" sz="900" dirty="0" err="1" smtClean="0">
                <a:latin typeface="Consolas" pitchFamily="49" charset="0"/>
              </a:rPr>
              <a:t>HashRouter</a:t>
            </a:r>
            <a:r>
              <a:rPr lang="en-US" sz="900" dirty="0" smtClean="0">
                <a:latin typeface="Consolas" pitchFamily="49" charset="0"/>
              </a:rPr>
              <a:t>&gt;</a:t>
            </a:r>
          </a:p>
          <a:p>
            <a:r>
              <a:rPr lang="en-US" sz="900" dirty="0" smtClean="0">
                <a:latin typeface="Consolas" pitchFamily="49" charset="0"/>
              </a:rPr>
              <a:t>        );</a:t>
            </a:r>
          </a:p>
          <a:p>
            <a:r>
              <a:rPr lang="en-US" sz="900" dirty="0" smtClean="0">
                <a:latin typeface="Consolas" pitchFamily="49" charset="0"/>
              </a:rPr>
              <a:t>    }</a:t>
            </a:r>
          </a:p>
          <a:p>
            <a:r>
              <a:rPr lang="en-US" sz="900" dirty="0" smtClean="0">
                <a:latin typeface="Consolas" pitchFamily="49" charset="0"/>
              </a:rPr>
              <a:t>}</a:t>
            </a:r>
          </a:p>
          <a:p>
            <a:endParaRPr lang="en-US" sz="900" dirty="0" smtClean="0">
              <a:latin typeface="Consolas" pitchFamily="49" charset="0"/>
            </a:endParaRPr>
          </a:p>
          <a:p>
            <a:r>
              <a:rPr lang="en-US" sz="900" dirty="0" smtClean="0">
                <a:latin typeface="Consolas" pitchFamily="49" charset="0"/>
              </a:rPr>
              <a:t>export default Main;</a:t>
            </a: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9800" y="2438400"/>
            <a:ext cx="2225675" cy="245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Route Matching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191000"/>
            <a:ext cx="8229600" cy="1935163"/>
          </a:xfrm>
        </p:spPr>
        <p:txBody>
          <a:bodyPr/>
          <a:lstStyle/>
          <a:p>
            <a:r>
              <a:rPr lang="en-US" sz="2200" i="1" dirty="0" smtClean="0">
                <a:solidFill>
                  <a:srgbClr val="C00000"/>
                </a:solidFill>
              </a:rPr>
              <a:t>Route matching</a:t>
            </a:r>
            <a:r>
              <a:rPr lang="en-US" sz="2200" dirty="0" smtClean="0"/>
              <a:t>: For each route that matches, the component that you specified to display will appear.</a:t>
            </a:r>
          </a:p>
          <a:p>
            <a:r>
              <a:rPr lang="en-US" sz="2200" dirty="0" smtClean="0"/>
              <a:t>When you are navigating to a page like </a:t>
            </a:r>
            <a:r>
              <a:rPr lang="en-US" sz="2200" b="1" dirty="0" smtClean="0"/>
              <a:t>/stuff</a:t>
            </a:r>
            <a:r>
              <a:rPr lang="en-US" sz="2200" dirty="0" smtClean="0"/>
              <a:t>, the </a:t>
            </a:r>
            <a:r>
              <a:rPr lang="en-US" sz="2200" b="1" dirty="0" smtClean="0"/>
              <a:t>App</a:t>
            </a:r>
            <a:r>
              <a:rPr lang="en-US" sz="2200" dirty="0" smtClean="0"/>
              <a:t> component will display because the </a:t>
            </a:r>
            <a:r>
              <a:rPr lang="en-US" sz="2200" b="1" dirty="0" smtClean="0"/>
              <a:t>/</a:t>
            </a:r>
            <a:r>
              <a:rPr lang="en-US" sz="2200" dirty="0" smtClean="0"/>
              <a:t> exists in the URL. The </a:t>
            </a:r>
            <a:r>
              <a:rPr lang="en-US" sz="2200" b="1" dirty="0" smtClean="0"/>
              <a:t>Stuff</a:t>
            </a:r>
            <a:r>
              <a:rPr lang="en-US" sz="2200" dirty="0" smtClean="0"/>
              <a:t> component then displays because the path for </a:t>
            </a:r>
            <a:r>
              <a:rPr lang="en-US" sz="2200" b="1" dirty="0" smtClean="0"/>
              <a:t>stuff</a:t>
            </a:r>
            <a:r>
              <a:rPr lang="en-US" sz="2200" dirty="0" smtClean="0"/>
              <a:t> is in the URL as well.</a:t>
            </a:r>
            <a:endParaRPr lang="en-US" sz="2200" dirty="0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09800" y="1524000"/>
            <a:ext cx="4476750" cy="2505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Active Link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https://reacttraining.com/react-router/web/api/NavLink</a:t>
            </a:r>
            <a:endParaRPr lang="en-US" sz="2400" dirty="0" smtClean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438400" y="2743200"/>
            <a:ext cx="4075176" cy="22776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</a:t>
            </a:r>
            <a:r>
              <a:rPr lang="en-US" smtClean="0"/>
              <a:t>You Again</a:t>
            </a:r>
            <a:endParaRPr lang="en-US" dirty="0" smtClean="0"/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19438</TotalTime>
  <Words>691</Words>
  <Application>Microsoft Office PowerPoint</Application>
  <PresentationFormat>On-screen Show (4:3)</PresentationFormat>
  <Paragraphs>111</Paragraphs>
  <Slides>13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React Router</vt:lpstr>
      <vt:lpstr>Objectives</vt:lpstr>
      <vt:lpstr>Contents</vt:lpstr>
      <vt:lpstr>References</vt:lpstr>
      <vt:lpstr>SPA Navigation Requirements</vt:lpstr>
      <vt:lpstr>Create app</vt:lpstr>
      <vt:lpstr>index.html</vt:lpstr>
      <vt:lpstr>Main.js</vt:lpstr>
      <vt:lpstr>index.js</vt:lpstr>
      <vt:lpstr>Using React Router</vt:lpstr>
      <vt:lpstr>Route Matching</vt:lpstr>
      <vt:lpstr>Active Link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5357</cp:revision>
  <dcterms:created xsi:type="dcterms:W3CDTF">2007-10-06T08:25:13Z</dcterms:created>
  <dcterms:modified xsi:type="dcterms:W3CDTF">2024-01-20T18:54:40Z</dcterms:modified>
</cp:coreProperties>
</file>