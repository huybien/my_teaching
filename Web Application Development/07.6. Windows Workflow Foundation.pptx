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416" r:id="rId3"/>
    <p:sldId id="413" r:id="rId4"/>
    <p:sldId id="412" r:id="rId5"/>
    <p:sldId id="414" r:id="rId6"/>
    <p:sldId id="415" r:id="rId7"/>
    <p:sldId id="411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0" autoAdjust="0"/>
    <p:restoredTop sz="94667" autoAdjust="0"/>
  </p:normalViewPr>
  <p:slideViewPr>
    <p:cSldViewPr>
      <p:cViewPr>
        <p:scale>
          <a:sx n="70" d="100"/>
          <a:sy n="70" d="100"/>
        </p:scale>
        <p:origin x="-126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8788B2-D072-42B4-8D8A-C0D124E6BC28}" type="datetimeFigureOut">
              <a:rPr lang="en-US"/>
              <a:pPr>
                <a:defRPr/>
              </a:pPr>
              <a:t>12/25/2013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1EEBA-33BA-44F0-95C6-D2B8EF867B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1952C-192D-4821-B649-2E0CA04C4511}" type="datetimeFigureOut">
              <a:rPr lang="en-US"/>
              <a:pPr>
                <a:defRPr/>
              </a:pPr>
              <a:t>12/25/2013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C2F6C-BE6D-436A-AADD-17766C5D8E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1DC4DA-068B-4360-B747-02527662B78E}" type="datetimeFigureOut">
              <a:rPr lang="en-US"/>
              <a:pPr>
                <a:defRPr/>
              </a:pPr>
              <a:t>12/25/2013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FDCA7-CDFD-48D2-A0F9-6647A39A9D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40E06-657E-4D7E-A70A-198E1C22BE37}" type="datetimeFigureOut">
              <a:rPr lang="en-US"/>
              <a:pPr>
                <a:defRPr/>
              </a:pPr>
              <a:t>12/25/2013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9BAF20-3648-4F57-A332-98CF168B43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283A99-EB31-44C9-BDAA-12A752EDCECF}" type="datetimeFigureOut">
              <a:rPr lang="en-US"/>
              <a:pPr>
                <a:defRPr/>
              </a:pPr>
              <a:t>12/25/2013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EEE03-95E8-4EB0-9E91-229BBDD48C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112B8-7F14-4C2F-BC40-B9558BE4358B}" type="datetimeFigureOut">
              <a:rPr lang="en-US"/>
              <a:pPr>
                <a:defRPr/>
              </a:pPr>
              <a:t>12/25/2013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31928-B512-4B17-8B51-E81157E860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0651A-94B2-4F67-8F24-D862ACCA68FB}" type="datetimeFigureOut">
              <a:rPr lang="en-US"/>
              <a:pPr>
                <a:defRPr/>
              </a:pPr>
              <a:t>12/25/2013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A58576-A286-49B4-8248-6595C5261B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1FEFD-D06C-4A16-BB5B-D232FD6C1673}" type="datetimeFigureOut">
              <a:rPr lang="en-US"/>
              <a:pPr>
                <a:defRPr/>
              </a:pPr>
              <a:t>12/25/2013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DB2D05-4637-45E6-B13C-155A14DA3E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25E22-371E-4683-A2E7-070015375487}" type="datetimeFigureOut">
              <a:rPr lang="en-US"/>
              <a:pPr>
                <a:defRPr/>
              </a:pPr>
              <a:t>12/25/2013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9AA722-D044-4732-B3C8-D406AA14C2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DC5F4-F7BB-411D-85E6-F9BF4FBB9066}" type="datetimeFigureOut">
              <a:rPr lang="en-US"/>
              <a:pPr>
                <a:defRPr/>
              </a:pPr>
              <a:t>12/25/2013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3D8A9-F91B-4AA4-9412-7D185025B9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ECF63F-29B2-4482-B6EF-B6342F965599}" type="datetimeFigureOut">
              <a:rPr lang="en-US"/>
              <a:pPr>
                <a:defRPr/>
              </a:pPr>
              <a:t>12/25/2013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52EFD-9818-4DF5-9596-7CB4E745B4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8FB8FE2-2943-450E-BB6C-3F2395506934}" type="datetimeFigureOut">
              <a:rPr lang="en-US"/>
              <a:pPr>
                <a:defRPr/>
              </a:pPr>
              <a:t>12/25/2013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42E3C7B-2ABA-41DA-9FF6-2517B36E50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odeproject.com/Articles/18162/Jump-start-Windows-Workflow-Founda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5400" dirty="0" smtClean="0"/>
              <a:t>Windows Workflow Foundation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7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hlinkClick r:id="rId2"/>
              </a:rPr>
              <a:t>nhbien@fit.hcmus.edu.vn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5410200" cy="51816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Dharma </a:t>
            </a:r>
            <a:r>
              <a:rPr lang="en-US" sz="2400" dirty="0" err="1" smtClean="0"/>
              <a:t>Shukla</a:t>
            </a:r>
            <a:r>
              <a:rPr lang="en-US" sz="2400" dirty="0" smtClean="0"/>
              <a:t> and Bob Schmidt. Essential Windows Workflow Foundation. Addison Wesley Professional. 2006.</a:t>
            </a: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Reactive </a:t>
            </a:r>
            <a:r>
              <a:rPr lang="en-US" dirty="0" smtClean="0"/>
              <a:t>Program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A reactive program</a:t>
            </a:r>
            <a:r>
              <a:rPr lang="en-US" sz="2400" dirty="0" smtClean="0"/>
              <a:t> is a program that is responsive to, or indeed dependent upon, stimulus from an external entity during the course of its execution.</a:t>
            </a:r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228600" y="2889171"/>
            <a:ext cx="861060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static void Main()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{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// Print the key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string key = </a:t>
            </a:r>
            <a:r>
              <a:rPr lang="en-US" sz="22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DateTime.Now.Millisecond.ToString</a:t>
            </a: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2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("here is your key: " + key);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string s = </a:t>
            </a:r>
            <a:r>
              <a:rPr lang="en-US" sz="22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// Print the greeting if the key is provided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if (</a:t>
            </a:r>
            <a:r>
              <a:rPr lang="en-US" sz="22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key.Equals</a:t>
            </a: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(s))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22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("hello, world");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}</a:t>
            </a:r>
            <a:endParaRPr lang="en-US" sz="2200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91000" y="3124200"/>
            <a:ext cx="42672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How to rewrite this program using web service?</a:t>
            </a:r>
            <a:endParaRPr lang="en-US" sz="2400" i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Workflow?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Workflow: Series of steps, decisions and rules needed to complete a specific task.</a:t>
            </a:r>
          </a:p>
          <a:p>
            <a:r>
              <a:rPr lang="en-US" sz="2400" dirty="0" smtClean="0"/>
              <a:t>Activities: Tasks/steps that define the workflow, these are basic building blocks of workflow.</a:t>
            </a:r>
          </a:p>
          <a:p>
            <a:r>
              <a:rPr lang="en-US" sz="2400" dirty="0" smtClean="0"/>
              <a:t>There can be two major types of workflows:</a:t>
            </a:r>
          </a:p>
          <a:p>
            <a:pPr lvl="1"/>
            <a:r>
              <a:rPr lang="en-US" sz="2000" dirty="0" smtClean="0"/>
              <a:t>Sequential: a series of activities are called in order.</a:t>
            </a:r>
          </a:p>
          <a:p>
            <a:pPr lvl="1"/>
            <a:r>
              <a:rPr lang="en-US" sz="2000" dirty="0" smtClean="0"/>
              <a:t>State machine: activities are called on the basis of the “state” of different parameters.</a:t>
            </a:r>
          </a:p>
          <a:p>
            <a:r>
              <a:rPr lang="en-US" sz="2400" dirty="0" smtClean="0"/>
              <a:t>Windows Workflow Foundation is a technology for defining, executing and managing workflows.</a:t>
            </a:r>
          </a:p>
          <a:p>
            <a:r>
              <a:rPr lang="en-US" sz="2400" dirty="0" smtClean="0"/>
              <a:t>Workflow Foundation consists of runtime, workflow library, services and a programming model.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WF?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/>
              <a:t>Console.ReadLine</a:t>
            </a:r>
            <a:r>
              <a:rPr lang="en-US" sz="2200" dirty="0" smtClean="0"/>
              <a:t> blocks the caller's thread of execution. As written, </a:t>
            </a:r>
            <a:r>
              <a:rPr lang="en-US" sz="2200" b="1" dirty="0" smtClean="0">
                <a:solidFill>
                  <a:srgbClr val="FF0000"/>
                </a:solidFill>
              </a:rPr>
              <a:t>the program might spend days stuck waiting for input</a:t>
            </a:r>
            <a:r>
              <a:rPr lang="en-US" sz="2200" dirty="0" smtClean="0"/>
              <a:t>. If many programs like this one were run simultaneously, and all were awaiting input, the system would grind to a halt. Dedicating threads in this way is not an option for real-world programs, especially those deployed in multiuser environments.</a:t>
            </a:r>
          </a:p>
          <a:p>
            <a:r>
              <a:rPr lang="en-US" sz="2200" dirty="0" smtClean="0"/>
              <a:t>Real-world processes take a long time days, weeks, or even months. It is wishful thinking to assume that the </a:t>
            </a:r>
            <a:r>
              <a:rPr lang="en-US" sz="2200" b="1" dirty="0" smtClean="0">
                <a:solidFill>
                  <a:srgbClr val="FF0000"/>
                </a:solidFill>
              </a:rPr>
              <a:t>operating system process</a:t>
            </a:r>
            <a:r>
              <a:rPr lang="en-US" sz="2200" dirty="0" smtClean="0"/>
              <a:t> (or CLR application domain) </a:t>
            </a:r>
            <a:r>
              <a:rPr lang="en-US" sz="2200" b="1" dirty="0" smtClean="0">
                <a:solidFill>
                  <a:srgbClr val="FF0000"/>
                </a:solidFill>
              </a:rPr>
              <a:t>in which the program begins execution will survive for the required duration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A way to write reactive programs that does not sacrifice, and in fact enriches, the </a:t>
            </a:r>
            <a:r>
              <a:rPr lang="en-US" sz="2200" b="1" dirty="0" smtClean="0">
                <a:solidFill>
                  <a:schemeClr val="tx2"/>
                </a:solidFill>
              </a:rPr>
              <a:t>natural imperative style of control flow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A way to run reactive programs in a </a:t>
            </a:r>
            <a:r>
              <a:rPr lang="en-US" sz="2200" b="1" dirty="0" smtClean="0">
                <a:solidFill>
                  <a:schemeClr val="tx2"/>
                </a:solidFill>
              </a:rPr>
              <a:t>scalable and robust</a:t>
            </a:r>
            <a:r>
              <a:rPr lang="en-US" sz="2200" dirty="0" smtClean="0"/>
              <a:t> manner.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Deconstructing WF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Thread and Process Agility</a:t>
            </a:r>
          </a:p>
          <a:p>
            <a:pPr lvl="1"/>
            <a:r>
              <a:rPr lang="en-US" sz="2200" dirty="0" smtClean="0"/>
              <a:t>A general-purpose runtime environment for </a:t>
            </a:r>
            <a:r>
              <a:rPr lang="en-US" sz="2200" b="1" dirty="0" err="1" smtClean="0">
                <a:solidFill>
                  <a:schemeClr val="tx2"/>
                </a:solidFill>
              </a:rPr>
              <a:t>resumable</a:t>
            </a:r>
            <a:r>
              <a:rPr lang="en-US" sz="2200" b="1" dirty="0" smtClean="0">
                <a:solidFill>
                  <a:schemeClr val="tx2"/>
                </a:solidFill>
              </a:rPr>
              <a:t> programs</a:t>
            </a:r>
            <a:r>
              <a:rPr lang="en-US" sz="2200" dirty="0" smtClean="0"/>
              <a:t>.</a:t>
            </a:r>
          </a:p>
          <a:p>
            <a:r>
              <a:rPr lang="en-US" sz="2600" dirty="0" smtClean="0"/>
              <a:t>Composition</a:t>
            </a:r>
          </a:p>
          <a:p>
            <a:pPr lvl="1"/>
            <a:r>
              <a:rPr lang="en-US" sz="2200" dirty="0" smtClean="0"/>
              <a:t>Decompose program into a set of smaller building blocks, and standardize the notion of a </a:t>
            </a:r>
            <a:r>
              <a:rPr lang="en-US" sz="2200" dirty="0" err="1" smtClean="0"/>
              <a:t>resumable</a:t>
            </a:r>
            <a:r>
              <a:rPr lang="en-US" sz="2200" dirty="0" smtClean="0"/>
              <a:t> program as a </a:t>
            </a:r>
            <a:r>
              <a:rPr lang="en-US" sz="2200" b="1" dirty="0" smtClean="0">
                <a:solidFill>
                  <a:schemeClr val="tx2"/>
                </a:solidFill>
              </a:rPr>
              <a:t>composition of these </a:t>
            </a:r>
            <a:r>
              <a:rPr lang="en-US" sz="2200" b="1" dirty="0" err="1" smtClean="0">
                <a:solidFill>
                  <a:schemeClr val="tx2"/>
                </a:solidFill>
              </a:rPr>
              <a:t>resumable</a:t>
            </a:r>
            <a:r>
              <a:rPr lang="en-US" sz="2200" b="1" dirty="0" smtClean="0">
                <a:solidFill>
                  <a:schemeClr val="tx2"/>
                </a:solidFill>
              </a:rPr>
              <a:t> program statements</a:t>
            </a:r>
            <a:r>
              <a:rPr lang="en-US" sz="2200" dirty="0" smtClean="0"/>
              <a:t>. </a:t>
            </a:r>
          </a:p>
          <a:p>
            <a:r>
              <a:rPr lang="en-US" sz="2600" dirty="0" smtClean="0"/>
              <a:t>Control Flow</a:t>
            </a:r>
          </a:p>
          <a:p>
            <a:r>
              <a:rPr lang="en-US" sz="2600" dirty="0" smtClean="0"/>
              <a:t>Declarative Programs</a:t>
            </a:r>
          </a:p>
          <a:p>
            <a:pPr lvl="1"/>
            <a:r>
              <a:rPr lang="en-US" sz="2200" b="1" dirty="0" smtClean="0">
                <a:solidFill>
                  <a:schemeClr val="tx2"/>
                </a:solidFill>
              </a:rPr>
              <a:t>Declare program using formats</a:t>
            </a:r>
            <a:r>
              <a:rPr lang="en-US" sz="2200" dirty="0" smtClean="0"/>
              <a:t>, including data in a database table, a domain-specific language, XAML, and also a graphical notation.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http://www.codeproject.com/Articles/18162/Jump-start-Windows-Workflow-Foundation</a:t>
            </a:r>
            <a:endParaRPr lang="en-US" sz="2200" dirty="0" smtClean="0"/>
          </a:p>
          <a:p>
            <a:endParaRPr lang="en-US" sz="2200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5802</TotalTime>
  <Words>465</Words>
  <Application>Microsoft Office PowerPoint</Application>
  <PresentationFormat>On-screen Show (4:3)</PresentationFormat>
  <Paragraphs>44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Windows Workflow Foundation</vt:lpstr>
      <vt:lpstr>References</vt:lpstr>
      <vt:lpstr>Reactive Program [1]</vt:lpstr>
      <vt:lpstr>What is Workflow?</vt:lpstr>
      <vt:lpstr>Why WF?</vt:lpstr>
      <vt:lpstr>Deconstructing WF</vt:lpstr>
      <vt:lpstr>References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HuyBien</cp:lastModifiedBy>
  <cp:revision>2593</cp:revision>
  <dcterms:created xsi:type="dcterms:W3CDTF">2007-10-06T08:25:13Z</dcterms:created>
  <dcterms:modified xsi:type="dcterms:W3CDTF">2013-12-25T18:00:00Z</dcterms:modified>
</cp:coreProperties>
</file>