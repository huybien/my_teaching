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7"/>
  </p:notesMasterIdLst>
  <p:sldIdLst>
    <p:sldId id="256" r:id="rId2"/>
    <p:sldId id="499" r:id="rId3"/>
    <p:sldId id="500" r:id="rId4"/>
    <p:sldId id="501" r:id="rId5"/>
    <p:sldId id="442" r:id="rId6"/>
    <p:sldId id="443" r:id="rId7"/>
    <p:sldId id="481" r:id="rId8"/>
    <p:sldId id="445" r:id="rId9"/>
    <p:sldId id="444" r:id="rId10"/>
    <p:sldId id="447" r:id="rId11"/>
    <p:sldId id="446" r:id="rId12"/>
    <p:sldId id="502" r:id="rId13"/>
    <p:sldId id="533" r:id="rId14"/>
    <p:sldId id="534" r:id="rId15"/>
    <p:sldId id="449" r:id="rId16"/>
    <p:sldId id="450" r:id="rId17"/>
    <p:sldId id="451" r:id="rId18"/>
    <p:sldId id="452" r:id="rId19"/>
    <p:sldId id="482" r:id="rId20"/>
    <p:sldId id="456" r:id="rId21"/>
    <p:sldId id="491" r:id="rId22"/>
    <p:sldId id="495" r:id="rId23"/>
    <p:sldId id="503" r:id="rId24"/>
    <p:sldId id="520" r:id="rId25"/>
    <p:sldId id="457" r:id="rId26"/>
    <p:sldId id="458" r:id="rId27"/>
    <p:sldId id="459" r:id="rId28"/>
    <p:sldId id="460" r:id="rId29"/>
    <p:sldId id="522" r:id="rId30"/>
    <p:sldId id="462" r:id="rId31"/>
    <p:sldId id="484" r:id="rId32"/>
    <p:sldId id="530" r:id="rId33"/>
    <p:sldId id="532" r:id="rId34"/>
    <p:sldId id="531" r:id="rId35"/>
    <p:sldId id="527" r:id="rId36"/>
    <p:sldId id="528" r:id="rId37"/>
    <p:sldId id="529" r:id="rId38"/>
    <p:sldId id="525" r:id="rId39"/>
    <p:sldId id="526" r:id="rId40"/>
    <p:sldId id="524" r:id="rId41"/>
    <p:sldId id="485" r:id="rId42"/>
    <p:sldId id="486" r:id="rId43"/>
    <p:sldId id="487" r:id="rId44"/>
    <p:sldId id="488" r:id="rId45"/>
    <p:sldId id="521" r:id="rId46"/>
    <p:sldId id="489" r:id="rId47"/>
    <p:sldId id="497" r:id="rId48"/>
    <p:sldId id="478" r:id="rId49"/>
    <p:sldId id="454" r:id="rId50"/>
    <p:sldId id="465" r:id="rId51"/>
    <p:sldId id="466" r:id="rId52"/>
    <p:sldId id="467" r:id="rId53"/>
    <p:sldId id="468" r:id="rId54"/>
    <p:sldId id="469" r:id="rId55"/>
    <p:sldId id="470" r:id="rId56"/>
    <p:sldId id="473" r:id="rId57"/>
    <p:sldId id="474" r:id="rId58"/>
    <p:sldId id="471" r:id="rId59"/>
    <p:sldId id="480" r:id="rId60"/>
    <p:sldId id="535" r:id="rId61"/>
    <p:sldId id="536" r:id="rId62"/>
    <p:sldId id="537" r:id="rId63"/>
    <p:sldId id="538" r:id="rId64"/>
    <p:sldId id="539" r:id="rId65"/>
    <p:sldId id="343" r:id="rId6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6928"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8BF5F87-2049-40AA-8F46-716DC689E9FB}" type="datetimeFigureOut">
              <a:rPr lang="en-US"/>
              <a:pPr>
                <a:defRPr/>
              </a:pPr>
              <a:t>6/17/2025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37162A9-E817-4FA2-8116-DD6AC9B6A8B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CAA961E-6EE8-4039-A1A6-0EABAAE5E2EB}" type="datetimeFigureOut">
              <a:rPr lang="en-US"/>
              <a:pPr>
                <a:defRPr/>
              </a:pPr>
              <a:t>6/17/2025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E35CB4-CF17-47D7-96AA-936BDDDE12B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E51540E-C53B-42C6-8099-BB6606CE1021}" type="datetimeFigureOut">
              <a:rPr lang="en-US"/>
              <a:pPr>
                <a:defRPr/>
              </a:pPr>
              <a:t>6/17/2025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26FCBC-189E-4F52-973B-BFB0750B295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13B92E-91CA-4FE6-965A-F01C7ACEF459}" type="datetimeFigureOut">
              <a:rPr lang="en-US"/>
              <a:pPr>
                <a:defRPr/>
              </a:pPr>
              <a:t>6/17/2025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367505-FC9C-4829-A2C5-8D9539F50D1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52D384C-9A4E-461B-BB23-F93A3AAF3419}" type="datetimeFigureOut">
              <a:rPr lang="en-US"/>
              <a:pPr>
                <a:defRPr/>
              </a:pPr>
              <a:t>6/17/2025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97F266-8102-4D7C-B0FA-72A1D71C4A9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AAC8FED-8EC6-4E03-8633-F9D63165028A}" type="datetimeFigureOut">
              <a:rPr lang="en-US"/>
              <a:pPr>
                <a:defRPr/>
              </a:pPr>
              <a:t>6/17/2025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A0AA738-E070-4C7D-8215-A9E9186978F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9109C7D-7857-432A-8DD8-5C43F7E3C7CF}" type="datetimeFigureOut">
              <a:rPr lang="en-US"/>
              <a:pPr>
                <a:defRPr/>
              </a:pPr>
              <a:t>6/17/2025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8DBA6BF-B89E-4B84-9284-BF0D7164328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94341F6-3120-4451-901B-8E96C2128DE4}" type="datetimeFigureOut">
              <a:rPr lang="en-US"/>
              <a:pPr>
                <a:defRPr/>
              </a:pPr>
              <a:t>6/17/2025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D516167-3E32-49C7-B449-23B33F33516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52B12F5-6CA7-4A24-8F05-2D2ACC989520}" type="datetimeFigureOut">
              <a:rPr lang="en-US"/>
              <a:pPr>
                <a:defRPr/>
              </a:pPr>
              <a:t>6/17/2025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8A50DFC-223B-4C17-8EA5-A3BC2E2B700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4BCF139-0BFF-4962-91BE-1F1514D86238}" type="datetimeFigureOut">
              <a:rPr lang="en-US"/>
              <a:pPr>
                <a:defRPr/>
              </a:pPr>
              <a:t>6/17/2025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B27F731-B728-442B-8D29-57522735D89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5F3ECA0-F5DD-4989-8D08-A636380CF86F}" type="datetimeFigureOut">
              <a:rPr lang="en-US"/>
              <a:pPr>
                <a:defRPr/>
              </a:pPr>
              <a:t>6/17/2025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EA18408-4541-4111-8F56-46B363D97B6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D533026-B6A9-4D4E-A2BD-3141F8B632E9}" type="datetimeFigureOut">
              <a:rPr lang="en-US"/>
              <a:pPr>
                <a:defRPr/>
              </a:pPr>
              <a:t>6/17/2025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798B7DE-CC25-4488-B0E3-2CD008C0959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DB71AD6-D82A-46BB-BB7B-8ABE21D04123}" type="datetimeFigureOut">
              <a:rPr lang="en-US"/>
              <a:pPr>
                <a:defRPr/>
              </a:pPr>
              <a:t>6/17/2025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0B29163-B4D0-4B08-BCE5-40FF1D4EF81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hackernoon.com/node-js-tc-39-and-modules-a1118aecf95e"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npm.github.io/how-npm-works-docs/index.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npmjs.com/package/nodemo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github.com/npm/npm/blob/2e3776bf5676bc24fec6239a3420f377fe98acde/doc/files/package.json.m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npmjs.com/package/@hapi/cryptile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ww.npmjs.com/search?q=youtube-info"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macpro:3000/api/categorie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www.cs.ucsb.edu/~rich/class/cs170/notes/IntroThreads/"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vite.dev/guide/why.html"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vite.dev/guide/"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p:txBody>
          <a:bodyPr/>
          <a:lstStyle/>
          <a:p>
            <a:pPr eaLnBrk="1" hangingPunct="1"/>
            <a:r>
              <a:rPr lang="en-US" sz="6000" dirty="0" smtClean="0"/>
              <a:t>Node.js Web App</a:t>
            </a:r>
          </a:p>
        </p:txBody>
      </p:sp>
      <p:sp>
        <p:nvSpPr>
          <p:cNvPr id="3" name="Subtitle 2"/>
          <p:cNvSpPr>
            <a:spLocks noGrp="1"/>
          </p:cNvSpPr>
          <p:nvPr>
            <p:ph type="subTitle" idx="1"/>
          </p:nvPr>
        </p:nvSpPr>
        <p:spPr/>
        <p:txBody>
          <a:bodyPr rtlCol="0">
            <a:normAutofit fontScale="47500" lnSpcReduction="20000"/>
          </a:bodyPr>
          <a:lstStyle/>
          <a:p>
            <a:pPr eaLnBrk="1" fontAlgn="auto" hangingPunct="1">
              <a:spcAft>
                <a:spcPts val="0"/>
              </a:spcAft>
              <a:defRPr/>
            </a:pPr>
            <a:r>
              <a:rPr lang="en-US" sz="4400" dirty="0" smtClean="0"/>
              <a:t>Lecturer: Ngo Huy Bien</a:t>
            </a:r>
          </a:p>
          <a:p>
            <a:pPr eaLnBrk="1" fontAlgn="auto" hangingPunct="1">
              <a:spcAft>
                <a:spcPts val="0"/>
              </a:spcAft>
              <a:defRPr/>
            </a:pPr>
            <a:r>
              <a:rPr lang="en-US" sz="3600" dirty="0" smtClean="0"/>
              <a:t>Software Engineering Department</a:t>
            </a:r>
          </a:p>
          <a:p>
            <a:pPr eaLnBrk="1" fontAlgn="auto" hangingPunct="1">
              <a:spcAft>
                <a:spcPts val="0"/>
              </a:spcAft>
              <a:defRPr/>
            </a:pPr>
            <a:r>
              <a:rPr lang="en-US" sz="3600" dirty="0" smtClean="0"/>
              <a:t>Faculty of Information Technology</a:t>
            </a:r>
          </a:p>
          <a:p>
            <a:pPr eaLnBrk="1" fontAlgn="auto" hangingPunct="1">
              <a:spcAft>
                <a:spcPts val="0"/>
              </a:spcAft>
              <a:defRPr/>
            </a:pPr>
            <a:r>
              <a:rPr lang="en-US" sz="3600" dirty="0" smtClean="0"/>
              <a:t>University of Science</a:t>
            </a:r>
          </a:p>
          <a:p>
            <a:pPr eaLnBrk="1" fontAlgn="auto" hangingPunct="1">
              <a:spcAft>
                <a:spcPts val="0"/>
              </a:spcAft>
              <a:defRPr/>
            </a:pPr>
            <a:r>
              <a:rPr lang="en-US" sz="3600" dirty="0" smtClean="0"/>
              <a:t>Ho Chi Minh City, Vietnam</a:t>
            </a:r>
          </a:p>
          <a:p>
            <a:pPr eaLnBrk="1" fontAlgn="auto" hangingPunct="1">
              <a:spcAft>
                <a:spcPts val="0"/>
              </a:spcAft>
              <a:defRPr/>
            </a:pPr>
            <a:r>
              <a:rPr lang="en-US" sz="3600" dirty="0" smtClean="0">
                <a:hlinkClick r:id="rId2"/>
              </a:rPr>
              <a:t>nhbien@fit.hcmus.edu.vn</a:t>
            </a:r>
            <a:endParaRPr lang="en-US" sz="3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a:buFont typeface="Wingdings" pitchFamily="2" charset="2"/>
              <a:buChar char="Ø"/>
            </a:pPr>
            <a:r>
              <a:rPr lang="en-US" sz="2400" dirty="0" smtClean="0"/>
              <a:t>To create a </a:t>
            </a:r>
            <a:r>
              <a:rPr lang="en-US" sz="2400" i="1" dirty="0" smtClean="0">
                <a:solidFill>
                  <a:srgbClr val="C00000"/>
                </a:solidFill>
              </a:rPr>
              <a:t>web application</a:t>
            </a:r>
            <a:r>
              <a:rPr lang="en-US" sz="2400" dirty="0" smtClean="0"/>
              <a:t> using </a:t>
            </a:r>
            <a:r>
              <a:rPr lang="en-US" sz="2400" dirty="0" smtClean="0">
                <a:latin typeface="Consolas" pitchFamily="49" charset="0"/>
              </a:rPr>
              <a:t>Node.js</a:t>
            </a:r>
            <a:r>
              <a:rPr lang="en-US" sz="2400" dirty="0" smtClean="0"/>
              <a:t>.</a:t>
            </a:r>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lvl="0" indent="-457200">
              <a:buFont typeface="+mj-lt"/>
              <a:buAutoNum type="arabicPeriod"/>
            </a:pPr>
            <a:r>
              <a:rPr lang="en-US" sz="2400" dirty="0" smtClean="0"/>
              <a:t>Jonathan Wexler (2019). Get Programming with Node.js. Manning Publications.</a:t>
            </a:r>
          </a:p>
          <a:p>
            <a:pPr marL="457200" indent="-457200">
              <a:buFont typeface="+mj-lt"/>
              <a:buAutoNum type="arabicPeriod"/>
            </a:pPr>
            <a:r>
              <a:rPr lang="en-US" sz="2400" dirty="0" smtClean="0"/>
              <a:t>Bruno Joseph </a:t>
            </a:r>
            <a:r>
              <a:rPr lang="en-US" sz="2400" dirty="0" err="1" smtClean="0"/>
              <a:t>D'mello</a:t>
            </a:r>
            <a:r>
              <a:rPr lang="en-US" sz="2400" dirty="0" smtClean="0"/>
              <a:t> et al. (2017). Web Development with </a:t>
            </a:r>
            <a:r>
              <a:rPr lang="en-US" sz="2400" dirty="0" err="1" smtClean="0"/>
              <a:t>MongoDB</a:t>
            </a:r>
            <a:r>
              <a:rPr lang="en-US" sz="2400" dirty="0" smtClean="0"/>
              <a:t> and Node. </a:t>
            </a:r>
            <a:r>
              <a:rPr lang="en-US" sz="2400" dirty="0" err="1" smtClean="0"/>
              <a:t>Packt</a:t>
            </a:r>
            <a:r>
              <a:rPr lang="en-US" sz="2400" dirty="0" smtClean="0"/>
              <a:t> Publishing.</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Open Node.js REPL</a:t>
            </a:r>
            <a:endParaRPr lang="en-US" dirty="0"/>
          </a:p>
        </p:txBody>
      </p:sp>
      <p:sp>
        <p:nvSpPr>
          <p:cNvPr id="3" name="Content Placeholder 2"/>
          <p:cNvSpPr>
            <a:spLocks noGrp="1"/>
          </p:cNvSpPr>
          <p:nvPr>
            <p:ph idx="1"/>
          </p:nvPr>
        </p:nvSpPr>
        <p:spPr>
          <a:xfrm>
            <a:off x="457200" y="1600200"/>
            <a:ext cx="3657600" cy="4525963"/>
          </a:xfrm>
        </p:spPr>
        <p:txBody>
          <a:bodyPr/>
          <a:lstStyle/>
          <a:p>
            <a:r>
              <a:rPr lang="en-US" sz="2400" dirty="0" smtClean="0"/>
              <a:t>The </a:t>
            </a:r>
            <a:r>
              <a:rPr lang="en-US" sz="2400" i="1" dirty="0" smtClean="0">
                <a:solidFill>
                  <a:srgbClr val="C00000"/>
                </a:solidFill>
              </a:rPr>
              <a:t>interactive Node.js shell</a:t>
            </a:r>
            <a:r>
              <a:rPr lang="en-US" sz="2400" dirty="0" smtClean="0"/>
              <a:t> is the Node.js version of Read-Evaluate-Print Loop (REPL).</a:t>
            </a:r>
          </a:p>
          <a:p>
            <a:r>
              <a:rPr lang="en-US" sz="2400" dirty="0" smtClean="0"/>
              <a:t>This shell is a space in which you can write pure JavaScript and evaluate your code in the terminal window in real time.</a:t>
            </a:r>
          </a:p>
          <a:p>
            <a:r>
              <a:rPr lang="en-US" sz="2400" dirty="0" smtClean="0">
                <a:latin typeface="+mj-lt"/>
              </a:rPr>
              <a:t>Type: </a:t>
            </a:r>
            <a:r>
              <a:rPr lang="en-US" sz="2400" b="1" dirty="0" smtClean="0">
                <a:latin typeface="Consolas" pitchFamily="49" charset="0"/>
              </a:rPr>
              <a:t>node</a:t>
            </a:r>
            <a:r>
              <a:rPr lang="en-US" sz="2400" dirty="0" smtClean="0">
                <a:latin typeface="+mj-lt"/>
              </a:rPr>
              <a:t> to open the interactive Node.js shell.</a:t>
            </a:r>
          </a:p>
        </p:txBody>
      </p:sp>
      <p:pic>
        <p:nvPicPr>
          <p:cNvPr id="3074" name="Picture 2"/>
          <p:cNvPicPr>
            <a:picLocks noChangeAspect="1" noChangeArrowheads="1"/>
          </p:cNvPicPr>
          <p:nvPr/>
        </p:nvPicPr>
        <p:blipFill>
          <a:blip r:embed="rId2" cstate="print"/>
          <a:srcRect/>
          <a:stretch>
            <a:fillRect/>
          </a:stretch>
        </p:blipFill>
        <p:spPr bwMode="auto">
          <a:xfrm>
            <a:off x="4293870" y="1737360"/>
            <a:ext cx="4469130" cy="428244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and Run Hello World</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node hello.js</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438400" y="2743200"/>
            <a:ext cx="3943350" cy="120015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2133600" y="4572000"/>
            <a:ext cx="4735830" cy="13525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Node.js Module [1]</a:t>
            </a:r>
            <a:endParaRPr lang="en-US" dirty="0"/>
          </a:p>
        </p:txBody>
      </p:sp>
      <p:sp>
        <p:nvSpPr>
          <p:cNvPr id="3" name="Content Placeholder 2"/>
          <p:cNvSpPr>
            <a:spLocks noGrp="1"/>
          </p:cNvSpPr>
          <p:nvPr>
            <p:ph idx="1"/>
          </p:nvPr>
        </p:nvSpPr>
        <p:spPr/>
        <p:txBody>
          <a:bodyPr/>
          <a:lstStyle/>
          <a:p>
            <a:r>
              <a:rPr lang="en-US" sz="2200" dirty="0" smtClean="0"/>
              <a:t>A </a:t>
            </a:r>
            <a:r>
              <a:rPr lang="en-US" sz="2200" i="1" dirty="0" smtClean="0">
                <a:solidFill>
                  <a:srgbClr val="C00000"/>
                </a:solidFill>
              </a:rPr>
              <a:t>Node.js application</a:t>
            </a:r>
            <a:r>
              <a:rPr lang="en-US" sz="2200" dirty="0" smtClean="0"/>
              <a:t> is made up of many </a:t>
            </a:r>
            <a:r>
              <a:rPr lang="en-US" sz="2200" u="sng" dirty="0" smtClean="0"/>
              <a:t>JavaScript files</a:t>
            </a:r>
            <a:r>
              <a:rPr lang="en-US" sz="2200" dirty="0" smtClean="0"/>
              <a:t>.</a:t>
            </a:r>
          </a:p>
          <a:p>
            <a:r>
              <a:rPr lang="en-US" sz="2200" dirty="0" smtClean="0"/>
              <a:t>For your application to stay organized and efficient, these files need to have access to one another’s contents when necessary.</a:t>
            </a:r>
          </a:p>
          <a:p>
            <a:r>
              <a:rPr lang="en-US" sz="2200" dirty="0" smtClean="0"/>
              <a:t>Each JavaScript file or folder containing a code library is called a </a:t>
            </a:r>
            <a:r>
              <a:rPr lang="en-US" sz="2200" i="1" dirty="0" smtClean="0">
                <a:solidFill>
                  <a:srgbClr val="C00000"/>
                </a:solidFill>
              </a:rPr>
              <a:t>module</a:t>
            </a:r>
            <a:r>
              <a:rPr lang="en-US" sz="2200" i="1" dirty="0" smtClean="0"/>
              <a:t>.</a:t>
            </a:r>
          </a:p>
          <a:p>
            <a:r>
              <a:rPr lang="en-US" sz="2200" dirty="0" smtClean="0"/>
              <a:t>The </a:t>
            </a:r>
            <a:r>
              <a:rPr lang="en-US" sz="2200" b="1" dirty="0" smtClean="0">
                <a:latin typeface="Consolas" pitchFamily="49" charset="0"/>
              </a:rPr>
              <a:t>exports</a:t>
            </a:r>
            <a:r>
              <a:rPr lang="en-US" sz="2200" dirty="0" smtClean="0"/>
              <a:t> object is a property of the </a:t>
            </a:r>
            <a:r>
              <a:rPr lang="en-US" sz="2200" b="1" dirty="0" smtClean="0">
                <a:latin typeface="Consolas" pitchFamily="49" charset="0"/>
              </a:rPr>
              <a:t>module</a:t>
            </a:r>
            <a:r>
              <a:rPr lang="en-US" sz="2200" dirty="0" smtClean="0"/>
              <a:t> object.</a:t>
            </a:r>
          </a:p>
          <a:p>
            <a:r>
              <a:rPr lang="en-US" sz="2200" b="1" dirty="0" smtClean="0">
                <a:latin typeface="Consolas" pitchFamily="49" charset="0"/>
              </a:rPr>
              <a:t>module</a:t>
            </a:r>
            <a:r>
              <a:rPr lang="en-US" sz="2200" dirty="0" smtClean="0"/>
              <a:t> is both the </a:t>
            </a:r>
            <a:r>
              <a:rPr lang="en-US" sz="2200" u="sng" dirty="0" smtClean="0"/>
              <a:t>name of the code files</a:t>
            </a:r>
            <a:r>
              <a:rPr lang="en-US" sz="2200" dirty="0" smtClean="0"/>
              <a:t> in Node.js and one of its global objects.</a:t>
            </a:r>
          </a:p>
          <a:p>
            <a:r>
              <a:rPr lang="en-US" sz="2200" b="1" dirty="0" smtClean="0">
                <a:latin typeface="Consolas" pitchFamily="49" charset="0"/>
              </a:rPr>
              <a:t>exports</a:t>
            </a:r>
            <a:r>
              <a:rPr lang="en-US" sz="2200" dirty="0" smtClean="0"/>
              <a:t> is shorthand for </a:t>
            </a:r>
            <a:r>
              <a:rPr lang="en-US" sz="2200" b="1" dirty="0" err="1" smtClean="0">
                <a:latin typeface="Consolas" pitchFamily="49" charset="0"/>
              </a:rPr>
              <a:t>module.exports</a:t>
            </a:r>
            <a:r>
              <a:rPr lang="en-US" sz="2200" dirty="0" smtClean="0"/>
              <a:t>.</a:t>
            </a:r>
            <a:endParaRPr lang="en-US" sz="2200" i="1" dirty="0" smtClean="0"/>
          </a:p>
        </p:txBody>
      </p:sp>
      <p:pic>
        <p:nvPicPr>
          <p:cNvPr id="3074" name="Picture 2"/>
          <p:cNvPicPr>
            <a:picLocks noChangeAspect="1" noChangeArrowheads="1"/>
          </p:cNvPicPr>
          <p:nvPr/>
        </p:nvPicPr>
        <p:blipFill>
          <a:blip r:embed="rId2" cstate="print"/>
          <a:srcRect/>
          <a:stretch>
            <a:fillRect/>
          </a:stretch>
        </p:blipFill>
        <p:spPr bwMode="auto">
          <a:xfrm>
            <a:off x="914400" y="5257800"/>
            <a:ext cx="7128510" cy="91821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Call a Node.js Module</a:t>
            </a:r>
            <a:endParaRPr lang="en-US" dirty="0"/>
          </a:p>
        </p:txBody>
      </p:sp>
      <p:sp>
        <p:nvSpPr>
          <p:cNvPr id="3" name="Content Placeholder 2"/>
          <p:cNvSpPr>
            <a:spLocks noGrp="1"/>
          </p:cNvSpPr>
          <p:nvPr>
            <p:ph idx="1"/>
          </p:nvPr>
        </p:nvSpPr>
        <p:spPr/>
        <p:txBody>
          <a:bodyPr/>
          <a:lstStyle/>
          <a:p>
            <a:r>
              <a:rPr lang="en-US" sz="2400" b="1" dirty="0" smtClean="0">
                <a:latin typeface="Consolas" pitchFamily="49" charset="0"/>
              </a:rPr>
              <a:t>require</a:t>
            </a:r>
            <a:r>
              <a:rPr lang="en-US" sz="2400" dirty="0" smtClean="0"/>
              <a:t> is another Node.js global object used to locally introduce methods and objects from other modules.</a:t>
            </a:r>
            <a:endParaRPr lang="en-US" sz="2400" dirty="0"/>
          </a:p>
        </p:txBody>
      </p:sp>
      <p:pic>
        <p:nvPicPr>
          <p:cNvPr id="2051" name="Picture 3"/>
          <p:cNvPicPr>
            <a:picLocks noChangeAspect="1" noChangeArrowheads="1"/>
          </p:cNvPicPr>
          <p:nvPr/>
        </p:nvPicPr>
        <p:blipFill>
          <a:blip r:embed="rId2" cstate="print"/>
          <a:srcRect/>
          <a:stretch>
            <a:fillRect/>
          </a:stretch>
        </p:blipFill>
        <p:spPr bwMode="auto">
          <a:xfrm>
            <a:off x="1600200" y="2819400"/>
            <a:ext cx="5878830" cy="88011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1828800" y="4191000"/>
            <a:ext cx="5570220" cy="17335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CommonJS</a:t>
            </a:r>
            <a:endParaRPr lang="en-US" dirty="0">
              <a:latin typeface="Consolas" pitchFamily="49" charset="0"/>
            </a:endParaRPr>
          </a:p>
        </p:txBody>
      </p:sp>
      <p:sp>
        <p:nvSpPr>
          <p:cNvPr id="3" name="Content Placeholder 2"/>
          <p:cNvSpPr>
            <a:spLocks noGrp="1"/>
          </p:cNvSpPr>
          <p:nvPr>
            <p:ph idx="1"/>
          </p:nvPr>
        </p:nvSpPr>
        <p:spPr/>
        <p:txBody>
          <a:bodyPr/>
          <a:lstStyle/>
          <a:p>
            <a:r>
              <a:rPr lang="en-US" sz="2400" dirty="0" smtClean="0"/>
              <a:t>Node.js uses </a:t>
            </a:r>
            <a:r>
              <a:rPr lang="en-US" sz="2400" dirty="0" err="1" smtClean="0">
                <a:latin typeface="Consolas" pitchFamily="49" charset="0"/>
              </a:rPr>
              <a:t>CommonJS</a:t>
            </a:r>
            <a:r>
              <a:rPr lang="en-US" sz="2400" dirty="0" smtClean="0"/>
              <a:t>, a </a:t>
            </a:r>
            <a:r>
              <a:rPr lang="en-US" sz="2400" i="1" dirty="0" smtClean="0">
                <a:solidFill>
                  <a:srgbClr val="C00000"/>
                </a:solidFill>
              </a:rPr>
              <a:t>tool</a:t>
            </a:r>
            <a:r>
              <a:rPr lang="en-US" sz="2400" dirty="0" smtClean="0"/>
              <a:t> that helps JavaScript run outside a browser by helping </a:t>
            </a:r>
            <a:r>
              <a:rPr lang="en-US" sz="2400" u="sng" dirty="0" smtClean="0"/>
              <a:t>define how modules are used</a:t>
            </a:r>
            <a:r>
              <a:rPr lang="en-US" sz="2400" dirty="0" smtClean="0"/>
              <a:t>.</a:t>
            </a:r>
          </a:p>
          <a:p>
            <a:r>
              <a:rPr lang="en-US" sz="2400" dirty="0" smtClean="0"/>
              <a:t>For module loading, </a:t>
            </a:r>
            <a:r>
              <a:rPr lang="en-US" sz="2400" dirty="0" err="1" smtClean="0">
                <a:latin typeface="Consolas" pitchFamily="49" charset="0"/>
              </a:rPr>
              <a:t>CommonJS</a:t>
            </a:r>
            <a:r>
              <a:rPr lang="en-US" sz="2400" dirty="0" smtClean="0"/>
              <a:t> specifies the </a:t>
            </a:r>
            <a:r>
              <a:rPr lang="en-US" sz="2400" dirty="0" smtClean="0">
                <a:latin typeface="Consolas" pitchFamily="49" charset="0"/>
              </a:rPr>
              <a:t>require</a:t>
            </a:r>
            <a:r>
              <a:rPr lang="en-US" sz="2400" dirty="0" smtClean="0"/>
              <a:t> function.</a:t>
            </a:r>
          </a:p>
          <a:p>
            <a:r>
              <a:rPr lang="en-US" sz="2400" dirty="0" smtClean="0"/>
              <a:t>For exporting modules, </a:t>
            </a:r>
            <a:r>
              <a:rPr lang="en-US" sz="2400" dirty="0" err="1" smtClean="0">
                <a:latin typeface="Consolas" pitchFamily="49" charset="0"/>
              </a:rPr>
              <a:t>CommonJS</a:t>
            </a:r>
            <a:r>
              <a:rPr lang="en-US" sz="2400" dirty="0" smtClean="0"/>
              <a:t> provides the </a:t>
            </a:r>
            <a:r>
              <a:rPr lang="en-US" sz="2400" dirty="0" smtClean="0">
                <a:latin typeface="Consolas" pitchFamily="49" charset="0"/>
              </a:rPr>
              <a:t>exports</a:t>
            </a:r>
            <a:r>
              <a:rPr lang="en-US" sz="2400" dirty="0" smtClean="0"/>
              <a:t> object for each module.</a:t>
            </a:r>
          </a:p>
          <a:p>
            <a:r>
              <a:rPr lang="en-US" sz="2400" dirty="0" smtClean="0"/>
              <a:t>Much of the </a:t>
            </a:r>
            <a:r>
              <a:rPr lang="en-US" sz="2400" i="1" dirty="0" smtClean="0">
                <a:solidFill>
                  <a:srgbClr val="C00000"/>
                </a:solidFill>
              </a:rPr>
              <a:t>syntax and structure</a:t>
            </a:r>
            <a:r>
              <a:rPr lang="en-US" sz="2400" dirty="0" smtClean="0"/>
              <a:t> you use results from </a:t>
            </a:r>
            <a:r>
              <a:rPr lang="en-US" sz="2400" dirty="0" err="1" smtClean="0">
                <a:latin typeface="Consolas" pitchFamily="49" charset="0"/>
              </a:rPr>
              <a:t>CommonJS</a:t>
            </a:r>
            <a:r>
              <a:rPr lang="en-US" sz="2400" dirty="0" smtClean="0"/>
              <a:t> </a:t>
            </a:r>
            <a:r>
              <a:rPr lang="en-US" sz="2400" u="sng" dirty="0" smtClean="0"/>
              <a:t>module designs</a:t>
            </a:r>
            <a:r>
              <a:rPr lang="en-US" sz="2400" dirty="0" smtClean="0"/>
              <a:t>.</a:t>
            </a:r>
          </a:p>
          <a:p>
            <a:endParaRPr lang="en-US" sz="2400" dirty="0" smtClean="0"/>
          </a:p>
          <a:p>
            <a:r>
              <a:rPr lang="en-US" sz="2400" dirty="0" smtClean="0"/>
              <a:t>How does </a:t>
            </a:r>
            <a:r>
              <a:rPr lang="en-US" sz="2400" dirty="0" err="1" smtClean="0">
                <a:latin typeface="Consolas" pitchFamily="49" charset="0"/>
              </a:rPr>
              <a:t>CommonJS</a:t>
            </a:r>
            <a:r>
              <a:rPr lang="en-US" sz="2400" dirty="0" smtClean="0"/>
              <a:t> work?</a:t>
            </a:r>
            <a:endParaRPr lang="en-US" sz="2400" dirty="0"/>
          </a:p>
        </p:txBody>
      </p:sp>
      <p:pic>
        <p:nvPicPr>
          <p:cNvPr id="4098" name="Picture 2" descr="Image result for &quot;advanced&quot;"/>
          <p:cNvPicPr>
            <a:picLocks noChangeAspect="1" noChangeArrowheads="1"/>
          </p:cNvPicPr>
          <p:nvPr/>
        </p:nvPicPr>
        <p:blipFill>
          <a:blip r:embed="rId2" cstate="print"/>
          <a:srcRect/>
          <a:stretch>
            <a:fillRect/>
          </a:stretch>
        </p:blipFill>
        <p:spPr bwMode="auto">
          <a:xfrm>
            <a:off x="6324600" y="4648200"/>
            <a:ext cx="1828800" cy="18288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Module?</a:t>
            </a:r>
            <a:endParaRPr lang="en-US" dirty="0"/>
          </a:p>
        </p:txBody>
      </p:sp>
      <p:sp>
        <p:nvSpPr>
          <p:cNvPr id="3" name="Content Placeholder 2"/>
          <p:cNvSpPr>
            <a:spLocks noGrp="1"/>
          </p:cNvSpPr>
          <p:nvPr>
            <p:ph idx="1"/>
          </p:nvPr>
        </p:nvSpPr>
        <p:spPr/>
        <p:txBody>
          <a:bodyPr/>
          <a:lstStyle/>
          <a:p>
            <a:r>
              <a:rPr lang="en-US" sz="2200" dirty="0" smtClean="0">
                <a:hlinkClick r:id="rId2"/>
              </a:rPr>
              <a:t>https://hackernoon.com/node-js-tc-39-and-modules-a1118aecf95e</a:t>
            </a:r>
            <a:endParaRPr lang="en-US" sz="2200" dirty="0" smtClean="0"/>
          </a:p>
          <a:p>
            <a:endParaRPr lang="en-US" sz="2200" dirty="0"/>
          </a:p>
        </p:txBody>
      </p:sp>
      <p:pic>
        <p:nvPicPr>
          <p:cNvPr id="4100" name="Picture 4" descr="https://hackernoon.com/hn-images/1*W9dyBkQ7nRT_YiaZupFhaw.png"/>
          <p:cNvPicPr>
            <a:picLocks noChangeAspect="1" noChangeArrowheads="1"/>
          </p:cNvPicPr>
          <p:nvPr/>
        </p:nvPicPr>
        <p:blipFill>
          <a:blip r:embed="rId3" cstate="print"/>
          <a:srcRect/>
          <a:stretch>
            <a:fillRect/>
          </a:stretch>
        </p:blipFill>
        <p:spPr bwMode="auto">
          <a:xfrm>
            <a:off x="762000" y="2514600"/>
            <a:ext cx="6286500" cy="1981201"/>
          </a:xfrm>
          <a:prstGeom prst="rect">
            <a:avLst/>
          </a:prstGeom>
          <a:noFill/>
        </p:spPr>
      </p:pic>
      <p:pic>
        <p:nvPicPr>
          <p:cNvPr id="4102" name="Picture 6" descr="https://hackernoon.com/hn-images/1*Rn5xTqjKdPZuG7VnqMzN1w.png"/>
          <p:cNvPicPr>
            <a:picLocks noChangeAspect="1" noChangeArrowheads="1"/>
          </p:cNvPicPr>
          <p:nvPr/>
        </p:nvPicPr>
        <p:blipFill>
          <a:blip r:embed="rId4" cstate="print"/>
          <a:srcRect/>
          <a:stretch>
            <a:fillRect/>
          </a:stretch>
        </p:blipFill>
        <p:spPr bwMode="auto">
          <a:xfrm>
            <a:off x="1066800" y="4876800"/>
            <a:ext cx="6896100" cy="1495426"/>
          </a:xfrm>
          <a:prstGeom prst="rect">
            <a:avLst/>
          </a:prstGeom>
          <a:noFill/>
        </p:spPr>
      </p:pic>
      <p:pic>
        <p:nvPicPr>
          <p:cNvPr id="7" name="Picture 2" descr="Image result for &quot;advanced&quot;"/>
          <p:cNvPicPr>
            <a:picLocks noChangeAspect="1" noChangeArrowheads="1"/>
          </p:cNvPicPr>
          <p:nvPr/>
        </p:nvPicPr>
        <p:blipFill>
          <a:blip r:embed="rId5" cstate="print"/>
          <a:srcRect/>
          <a:stretch>
            <a:fillRect/>
          </a:stretch>
        </p:blipFill>
        <p:spPr bwMode="auto">
          <a:xfrm>
            <a:off x="6934200" y="2438400"/>
            <a:ext cx="1828800" cy="18288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latin typeface="Consolas" pitchFamily="49" charset="0"/>
              </a:rPr>
              <a:t>npm</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With your installation of Node.js, you also got </a:t>
            </a:r>
            <a:r>
              <a:rPr lang="en-US" sz="2400" dirty="0" err="1" smtClean="0">
                <a:latin typeface="Consolas" pitchFamily="49" charset="0"/>
              </a:rPr>
              <a:t>npm</a:t>
            </a:r>
            <a:r>
              <a:rPr lang="en-US" sz="2400" dirty="0" smtClean="0"/>
              <a:t>, a </a:t>
            </a:r>
            <a:r>
              <a:rPr lang="en-US" sz="2400" i="1" dirty="0" smtClean="0">
                <a:solidFill>
                  <a:srgbClr val="C00000"/>
                </a:solidFill>
              </a:rPr>
              <a:t>package manager</a:t>
            </a:r>
            <a:r>
              <a:rPr lang="en-US" sz="2400" dirty="0" smtClean="0"/>
              <a:t> for Node.js.</a:t>
            </a:r>
          </a:p>
          <a:p>
            <a:r>
              <a:rPr lang="en-US" sz="2400" dirty="0" err="1" smtClean="0">
                <a:latin typeface="Consolas" pitchFamily="49" charset="0"/>
              </a:rPr>
              <a:t>npm</a:t>
            </a:r>
            <a:r>
              <a:rPr lang="en-US" sz="2400" dirty="0" smtClean="0"/>
              <a:t> is responsible for </a:t>
            </a:r>
            <a:r>
              <a:rPr lang="en-US" sz="2400" i="1" dirty="0" smtClean="0">
                <a:solidFill>
                  <a:srgbClr val="C00000"/>
                </a:solidFill>
              </a:rPr>
              <a:t>managing the external packages</a:t>
            </a:r>
            <a:r>
              <a:rPr lang="en-US" sz="2400" dirty="0" smtClean="0"/>
              <a:t> (modules that others built and made available online) in your application.</a:t>
            </a:r>
          </a:p>
          <a:p>
            <a:r>
              <a:rPr lang="en-US" sz="2400" dirty="0" smtClean="0"/>
              <a:t>Throughout application development, you use </a:t>
            </a:r>
            <a:r>
              <a:rPr lang="en-US" sz="2400" dirty="0" err="1" smtClean="0">
                <a:latin typeface="Consolas" pitchFamily="49" charset="0"/>
              </a:rPr>
              <a:t>npm</a:t>
            </a:r>
            <a:r>
              <a:rPr lang="en-US" sz="2400" dirty="0" smtClean="0"/>
              <a:t> to install, remove, and modify these packages.</a:t>
            </a:r>
          </a:p>
          <a:p>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npm</a:t>
            </a:r>
            <a:r>
              <a:rPr lang="en-US" dirty="0" smtClean="0"/>
              <a:t> Works</a:t>
            </a:r>
            <a:endParaRPr lang="en-US" dirty="0"/>
          </a:p>
        </p:txBody>
      </p:sp>
      <p:sp>
        <p:nvSpPr>
          <p:cNvPr id="3" name="Content Placeholder 2"/>
          <p:cNvSpPr>
            <a:spLocks noGrp="1"/>
          </p:cNvSpPr>
          <p:nvPr>
            <p:ph idx="1"/>
          </p:nvPr>
        </p:nvSpPr>
        <p:spPr/>
        <p:txBody>
          <a:bodyPr/>
          <a:lstStyle/>
          <a:p>
            <a:r>
              <a:rPr lang="en-US" sz="2400" dirty="0" smtClean="0">
                <a:hlinkClick r:id="rId2"/>
              </a:rPr>
              <a:t>https://npm.github.io/how-npm-works-docs/index.html</a:t>
            </a:r>
            <a:endParaRPr lang="en-US" sz="2400" dirty="0" smtClean="0"/>
          </a:p>
          <a:p>
            <a:endParaRPr lang="en-US" sz="2400" dirty="0"/>
          </a:p>
        </p:txBody>
      </p:sp>
      <p:pic>
        <p:nvPicPr>
          <p:cNvPr id="1026" name="Picture 2" descr="nested dep"/>
          <p:cNvPicPr>
            <a:picLocks noChangeAspect="1" noChangeArrowheads="1"/>
          </p:cNvPicPr>
          <p:nvPr/>
        </p:nvPicPr>
        <p:blipFill>
          <a:blip r:embed="rId3" cstate="print"/>
          <a:srcRect/>
          <a:stretch>
            <a:fillRect/>
          </a:stretch>
        </p:blipFill>
        <p:spPr bwMode="auto">
          <a:xfrm>
            <a:off x="1460500" y="2743200"/>
            <a:ext cx="5930900" cy="32004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Initialize a Node.js Application</a:t>
            </a:r>
            <a:endParaRPr lang="en-US" dirty="0">
              <a:latin typeface="Consolas" pitchFamily="49" charset="0"/>
            </a:endParaRPr>
          </a:p>
        </p:txBody>
      </p:sp>
      <p:sp>
        <p:nvSpPr>
          <p:cNvPr id="3" name="Content Placeholder 2"/>
          <p:cNvSpPr>
            <a:spLocks noGrp="1"/>
          </p:cNvSpPr>
          <p:nvPr>
            <p:ph idx="1"/>
          </p:nvPr>
        </p:nvSpPr>
        <p:spPr/>
        <p:txBody>
          <a:bodyPr/>
          <a:lstStyle/>
          <a:p>
            <a:r>
              <a:rPr lang="en-US" sz="2200" dirty="0" err="1" smtClean="0">
                <a:latin typeface="Consolas" pitchFamily="49" charset="0"/>
              </a:rPr>
              <a:t>npm</a:t>
            </a:r>
            <a:r>
              <a:rPr lang="en-US" sz="2200" dirty="0" smtClean="0">
                <a:latin typeface="Consolas" pitchFamily="49" charset="0"/>
              </a:rPr>
              <a:t> init</a:t>
            </a:r>
            <a:endParaRPr lang="en-US" sz="2200" dirty="0">
              <a:latin typeface="Consolas" pitchFamily="49" charset="0"/>
            </a:endParaRPr>
          </a:p>
        </p:txBody>
      </p:sp>
      <p:pic>
        <p:nvPicPr>
          <p:cNvPr id="91140" name="Picture 4"/>
          <p:cNvPicPr>
            <a:picLocks noChangeAspect="1" noChangeArrowheads="1"/>
          </p:cNvPicPr>
          <p:nvPr/>
        </p:nvPicPr>
        <p:blipFill>
          <a:blip r:embed="rId2" cstate="print"/>
          <a:srcRect/>
          <a:stretch>
            <a:fillRect/>
          </a:stretch>
        </p:blipFill>
        <p:spPr bwMode="auto">
          <a:xfrm>
            <a:off x="1981200" y="3200400"/>
            <a:ext cx="5654675" cy="20224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Modify </a:t>
            </a:r>
            <a:r>
              <a:rPr lang="en-US" dirty="0" err="1" smtClean="0"/>
              <a:t>package.json</a:t>
            </a:r>
            <a:endParaRPr lang="en-US" dirty="0">
              <a:latin typeface="Consolas" pitchFamily="49" charset="0"/>
            </a:endParaRPr>
          </a:p>
        </p:txBody>
      </p:sp>
      <p:sp>
        <p:nvSpPr>
          <p:cNvPr id="6" name="Rectangle 5"/>
          <p:cNvSpPr/>
          <p:nvPr/>
        </p:nvSpPr>
        <p:spPr>
          <a:xfrm>
            <a:off x="838200" y="2194679"/>
            <a:ext cx="7772400" cy="3139321"/>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"name"</a:t>
            </a:r>
            <a:r>
              <a:rPr lang="en-US" dirty="0" smtClean="0">
                <a:solidFill>
                  <a:srgbClr val="000000"/>
                </a:solidFill>
                <a:latin typeface="Consolas"/>
              </a:rPr>
              <a:t>: </a:t>
            </a:r>
            <a:r>
              <a:rPr lang="en-US" dirty="0" smtClean="0">
                <a:solidFill>
                  <a:srgbClr val="A31515"/>
                </a:solidFill>
                <a:latin typeface="Consolas"/>
              </a:rPr>
              <a:t>"</a:t>
            </a:r>
            <a:r>
              <a:rPr lang="en-US" dirty="0" err="1" smtClean="0">
                <a:solidFill>
                  <a:srgbClr val="A31515"/>
                </a:solidFill>
                <a:latin typeface="Consolas"/>
              </a:rPr>
              <a:t>npm</a:t>
            </a:r>
            <a:r>
              <a:rPr lang="en-US" dirty="0" smtClean="0">
                <a:solidFill>
                  <a:srgbClr val="A31515"/>
                </a:solidFill>
                <a:latin typeface="Consolas"/>
              </a:rPr>
              <a:t>-hello-world"</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"version"</a:t>
            </a:r>
            <a:r>
              <a:rPr lang="en-US" dirty="0" smtClean="0">
                <a:solidFill>
                  <a:srgbClr val="000000"/>
                </a:solidFill>
                <a:latin typeface="Consolas"/>
              </a:rPr>
              <a:t>: </a:t>
            </a:r>
            <a:r>
              <a:rPr lang="en-US" dirty="0" smtClean="0">
                <a:solidFill>
                  <a:srgbClr val="A31515"/>
                </a:solidFill>
                <a:latin typeface="Consolas"/>
              </a:rPr>
              <a:t>"1.0.0"</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"description"</a:t>
            </a:r>
            <a:r>
              <a:rPr lang="en-US" dirty="0" smtClean="0">
                <a:solidFill>
                  <a:srgbClr val="000000"/>
                </a:solidFill>
                <a:latin typeface="Consolas"/>
              </a:rPr>
              <a:t>: </a:t>
            </a:r>
            <a:r>
              <a:rPr lang="en-US" dirty="0" smtClean="0">
                <a:solidFill>
                  <a:srgbClr val="A31515"/>
                </a:solidFill>
                <a:latin typeface="Consolas"/>
              </a:rPr>
              <a:t>"A first Node.js app generated by </a:t>
            </a:r>
            <a:r>
              <a:rPr lang="en-US" dirty="0" err="1" smtClean="0">
                <a:solidFill>
                  <a:srgbClr val="A31515"/>
                </a:solidFill>
                <a:latin typeface="Consolas"/>
              </a:rPr>
              <a:t>npm</a:t>
            </a:r>
            <a:r>
              <a:rPr lang="en-US" dirty="0" smtClean="0">
                <a:solidFill>
                  <a:srgbClr val="A31515"/>
                </a:solidFill>
                <a:latin typeface="Consolas"/>
              </a:rPr>
              <a:t>"</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"main"</a:t>
            </a:r>
            <a:r>
              <a:rPr lang="en-US" dirty="0" smtClean="0">
                <a:solidFill>
                  <a:srgbClr val="000000"/>
                </a:solidFill>
                <a:latin typeface="Consolas"/>
              </a:rPr>
              <a:t>: </a:t>
            </a:r>
            <a:r>
              <a:rPr lang="en-US" dirty="0" smtClean="0">
                <a:solidFill>
                  <a:srgbClr val="A31515"/>
                </a:solidFill>
                <a:latin typeface="Consolas"/>
              </a:rPr>
              <a:t>"index.js"</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"scripts"</a:t>
            </a:r>
            <a:r>
              <a:rPr lang="en-US" dirty="0" smtClean="0">
                <a:solidFill>
                  <a:srgbClr val="000000"/>
                </a:solidFill>
                <a:latin typeface="Consolas"/>
              </a:rPr>
              <a:t>: {</a:t>
            </a:r>
          </a:p>
          <a:p>
            <a:r>
              <a:rPr lang="en-US" dirty="0" smtClean="0">
                <a:solidFill>
                  <a:srgbClr val="000000"/>
                </a:solidFill>
                <a:latin typeface="Consolas"/>
              </a:rPr>
              <a:t>    </a:t>
            </a:r>
            <a:r>
              <a:rPr lang="en-US" dirty="0" smtClean="0">
                <a:solidFill>
                  <a:srgbClr val="2E75B6"/>
                </a:solidFill>
                <a:latin typeface="Consolas"/>
              </a:rPr>
              <a:t>"test"</a:t>
            </a:r>
            <a:r>
              <a:rPr lang="en-US" dirty="0" smtClean="0">
                <a:solidFill>
                  <a:srgbClr val="000000"/>
                </a:solidFill>
                <a:latin typeface="Consolas"/>
              </a:rPr>
              <a:t>: </a:t>
            </a:r>
            <a:r>
              <a:rPr lang="en-US" dirty="0" smtClean="0">
                <a:solidFill>
                  <a:srgbClr val="A31515"/>
                </a:solidFill>
                <a:latin typeface="Consolas"/>
              </a:rPr>
              <a:t>"echo \"Error: no test specified\" &amp;&amp; exit 1"</a:t>
            </a:r>
            <a:endParaRPr lang="en-US" dirty="0" smtClean="0">
              <a:solidFill>
                <a:srgbClr val="000000"/>
              </a:solidFill>
              <a:latin typeface="Consolas"/>
            </a:endParaRPr>
          </a:p>
          <a:p>
            <a:r>
              <a:rPr lang="en-US" dirty="0" smtClean="0">
                <a:solidFill>
                  <a:srgbClr val="000000"/>
                </a:solidFill>
                <a:latin typeface="Consolas"/>
              </a:rPr>
              <a:t>  },</a:t>
            </a:r>
          </a:p>
          <a:p>
            <a:r>
              <a:rPr lang="en-US" dirty="0" smtClean="0">
                <a:solidFill>
                  <a:srgbClr val="000000"/>
                </a:solidFill>
                <a:latin typeface="Consolas"/>
              </a:rPr>
              <a:t>  </a:t>
            </a:r>
            <a:r>
              <a:rPr lang="en-US" dirty="0" smtClean="0">
                <a:solidFill>
                  <a:srgbClr val="2E75B6"/>
                </a:solidFill>
                <a:latin typeface="Consolas"/>
              </a:rPr>
              <a:t>"author"</a:t>
            </a:r>
            <a:r>
              <a:rPr lang="en-US" dirty="0" smtClean="0">
                <a:solidFill>
                  <a:srgbClr val="000000"/>
                </a:solidFill>
                <a:latin typeface="Consolas"/>
              </a:rPr>
              <a:t>: </a:t>
            </a:r>
            <a:r>
              <a:rPr lang="en-US" dirty="0" smtClean="0">
                <a:solidFill>
                  <a:srgbClr val="A31515"/>
                </a:solidFill>
                <a:latin typeface="Consolas"/>
              </a:rPr>
              <a:t>"Ngo Huy Bien"</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"license"</a:t>
            </a:r>
            <a:r>
              <a:rPr lang="en-US" dirty="0" smtClean="0">
                <a:solidFill>
                  <a:srgbClr val="000000"/>
                </a:solidFill>
                <a:latin typeface="Consolas"/>
              </a:rPr>
              <a:t>: </a:t>
            </a:r>
            <a:r>
              <a:rPr lang="en-US" dirty="0" smtClean="0">
                <a:solidFill>
                  <a:srgbClr val="A31515"/>
                </a:solidFill>
                <a:latin typeface="Consolas"/>
              </a:rPr>
              <a:t>"ISC"</a:t>
            </a:r>
            <a:endParaRPr lang="en-US" dirty="0" smtClean="0">
              <a:solidFill>
                <a:srgbClr val="000000"/>
              </a:solidFill>
              <a:latin typeface="Consolas"/>
            </a:endParaRPr>
          </a:p>
          <a:p>
            <a:r>
              <a:rPr lang="en-US" dirty="0" smtClean="0">
                <a:solidFill>
                  <a:srgbClr val="000000"/>
                </a:solidFill>
                <a:latin typeface="Consola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Install a Module</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install cities --save</a:t>
            </a:r>
            <a:endParaRPr lang="en-US" sz="2400" dirty="0">
              <a:latin typeface="Consolas" pitchFamily="49" charset="0"/>
            </a:endParaRPr>
          </a:p>
        </p:txBody>
      </p:sp>
      <p:sp>
        <p:nvSpPr>
          <p:cNvPr id="4" name="Rectangle 3"/>
          <p:cNvSpPr/>
          <p:nvPr/>
        </p:nvSpPr>
        <p:spPr>
          <a:xfrm>
            <a:off x="838200" y="2194679"/>
            <a:ext cx="7772400" cy="3970318"/>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"name"</a:t>
            </a:r>
            <a:r>
              <a:rPr lang="en-US" dirty="0" smtClean="0">
                <a:solidFill>
                  <a:srgbClr val="000000"/>
                </a:solidFill>
                <a:latin typeface="Consolas"/>
              </a:rPr>
              <a:t>: </a:t>
            </a:r>
            <a:r>
              <a:rPr lang="en-US" dirty="0" smtClean="0">
                <a:solidFill>
                  <a:srgbClr val="A31515"/>
                </a:solidFill>
                <a:latin typeface="Consolas"/>
              </a:rPr>
              <a:t>"</a:t>
            </a:r>
            <a:r>
              <a:rPr lang="en-US" dirty="0" err="1" smtClean="0">
                <a:solidFill>
                  <a:srgbClr val="A31515"/>
                </a:solidFill>
                <a:latin typeface="Consolas"/>
              </a:rPr>
              <a:t>npm</a:t>
            </a:r>
            <a:r>
              <a:rPr lang="en-US" dirty="0" smtClean="0">
                <a:solidFill>
                  <a:srgbClr val="A31515"/>
                </a:solidFill>
                <a:latin typeface="Consolas"/>
              </a:rPr>
              <a:t>-hello-world"</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"version"</a:t>
            </a:r>
            <a:r>
              <a:rPr lang="en-US" dirty="0" smtClean="0">
                <a:solidFill>
                  <a:srgbClr val="000000"/>
                </a:solidFill>
                <a:latin typeface="Consolas"/>
              </a:rPr>
              <a:t>: </a:t>
            </a:r>
            <a:r>
              <a:rPr lang="en-US" dirty="0" smtClean="0">
                <a:solidFill>
                  <a:srgbClr val="A31515"/>
                </a:solidFill>
                <a:latin typeface="Consolas"/>
              </a:rPr>
              <a:t>"1.0.0"</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"description"</a:t>
            </a:r>
            <a:r>
              <a:rPr lang="en-US" dirty="0" smtClean="0">
                <a:solidFill>
                  <a:srgbClr val="000000"/>
                </a:solidFill>
                <a:latin typeface="Consolas"/>
              </a:rPr>
              <a:t>: </a:t>
            </a:r>
            <a:r>
              <a:rPr lang="en-US" dirty="0" smtClean="0">
                <a:solidFill>
                  <a:srgbClr val="A31515"/>
                </a:solidFill>
                <a:latin typeface="Consolas"/>
              </a:rPr>
              <a:t>"A first Node.js app generated by </a:t>
            </a:r>
            <a:r>
              <a:rPr lang="en-US" dirty="0" err="1" smtClean="0">
                <a:solidFill>
                  <a:srgbClr val="A31515"/>
                </a:solidFill>
                <a:latin typeface="Consolas"/>
              </a:rPr>
              <a:t>npm</a:t>
            </a:r>
            <a:r>
              <a:rPr lang="en-US" dirty="0" smtClean="0">
                <a:solidFill>
                  <a:srgbClr val="A31515"/>
                </a:solidFill>
                <a:latin typeface="Consolas"/>
              </a:rPr>
              <a:t>"</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"main"</a:t>
            </a:r>
            <a:r>
              <a:rPr lang="en-US" dirty="0" smtClean="0">
                <a:solidFill>
                  <a:srgbClr val="000000"/>
                </a:solidFill>
                <a:latin typeface="Consolas"/>
              </a:rPr>
              <a:t>: </a:t>
            </a:r>
            <a:r>
              <a:rPr lang="en-US" dirty="0" smtClean="0">
                <a:solidFill>
                  <a:srgbClr val="A31515"/>
                </a:solidFill>
                <a:latin typeface="Consolas"/>
              </a:rPr>
              <a:t>"index.js"</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"scripts"</a:t>
            </a:r>
            <a:r>
              <a:rPr lang="en-US" dirty="0" smtClean="0">
                <a:solidFill>
                  <a:srgbClr val="000000"/>
                </a:solidFill>
                <a:latin typeface="Consolas"/>
              </a:rPr>
              <a:t>: {</a:t>
            </a:r>
          </a:p>
          <a:p>
            <a:r>
              <a:rPr lang="en-US" dirty="0" smtClean="0">
                <a:solidFill>
                  <a:srgbClr val="000000"/>
                </a:solidFill>
                <a:latin typeface="Consolas"/>
              </a:rPr>
              <a:t>    </a:t>
            </a:r>
            <a:r>
              <a:rPr lang="en-US" dirty="0" smtClean="0">
                <a:solidFill>
                  <a:srgbClr val="2E75B6"/>
                </a:solidFill>
                <a:latin typeface="Consolas"/>
              </a:rPr>
              <a:t>"test"</a:t>
            </a:r>
            <a:r>
              <a:rPr lang="en-US" dirty="0" smtClean="0">
                <a:solidFill>
                  <a:srgbClr val="000000"/>
                </a:solidFill>
                <a:latin typeface="Consolas"/>
              </a:rPr>
              <a:t>: </a:t>
            </a:r>
            <a:r>
              <a:rPr lang="en-US" dirty="0" smtClean="0">
                <a:solidFill>
                  <a:srgbClr val="A31515"/>
                </a:solidFill>
                <a:latin typeface="Consolas"/>
              </a:rPr>
              <a:t>"echo \"Error: no test specified\" &amp;&amp; exit 1"</a:t>
            </a:r>
            <a:endParaRPr lang="en-US" dirty="0" smtClean="0">
              <a:solidFill>
                <a:srgbClr val="000000"/>
              </a:solidFill>
              <a:latin typeface="Consolas"/>
            </a:endParaRPr>
          </a:p>
          <a:p>
            <a:r>
              <a:rPr lang="en-US" dirty="0" smtClean="0">
                <a:solidFill>
                  <a:srgbClr val="000000"/>
                </a:solidFill>
                <a:latin typeface="Consolas"/>
              </a:rPr>
              <a:t>  },</a:t>
            </a:r>
          </a:p>
          <a:p>
            <a:r>
              <a:rPr lang="en-US" dirty="0" smtClean="0">
                <a:solidFill>
                  <a:srgbClr val="000000"/>
                </a:solidFill>
                <a:latin typeface="Consolas"/>
              </a:rPr>
              <a:t>  </a:t>
            </a:r>
            <a:r>
              <a:rPr lang="en-US" dirty="0" smtClean="0">
                <a:solidFill>
                  <a:srgbClr val="2E75B6"/>
                </a:solidFill>
                <a:latin typeface="Consolas"/>
              </a:rPr>
              <a:t>"author"</a:t>
            </a:r>
            <a:r>
              <a:rPr lang="en-US" dirty="0" smtClean="0">
                <a:solidFill>
                  <a:srgbClr val="000000"/>
                </a:solidFill>
                <a:latin typeface="Consolas"/>
              </a:rPr>
              <a:t>: </a:t>
            </a:r>
            <a:r>
              <a:rPr lang="en-US" dirty="0" smtClean="0">
                <a:solidFill>
                  <a:srgbClr val="A31515"/>
                </a:solidFill>
                <a:latin typeface="Consolas"/>
              </a:rPr>
              <a:t>"Ngo Huy Bien"</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"license"</a:t>
            </a:r>
            <a:r>
              <a:rPr lang="en-US" dirty="0" smtClean="0">
                <a:solidFill>
                  <a:srgbClr val="000000"/>
                </a:solidFill>
                <a:latin typeface="Consolas"/>
              </a:rPr>
              <a:t>: </a:t>
            </a:r>
            <a:r>
              <a:rPr lang="en-US" dirty="0" smtClean="0">
                <a:solidFill>
                  <a:srgbClr val="A31515"/>
                </a:solidFill>
                <a:latin typeface="Consolas"/>
              </a:rPr>
              <a:t>"ISC"</a:t>
            </a:r>
            <a:r>
              <a:rPr lang="en-US" dirty="0" smtClean="0">
                <a:solidFill>
                  <a:srgbClr val="000000"/>
                </a:solidFill>
                <a:latin typeface="Consolas"/>
              </a:rPr>
              <a:t>,</a:t>
            </a:r>
          </a:p>
          <a:p>
            <a:r>
              <a:rPr lang="en-US" dirty="0" smtClean="0">
                <a:solidFill>
                  <a:srgbClr val="000000"/>
                </a:solidFill>
                <a:latin typeface="Consolas"/>
              </a:rPr>
              <a:t>  </a:t>
            </a:r>
            <a:r>
              <a:rPr lang="en-US" dirty="0" smtClean="0">
                <a:solidFill>
                  <a:srgbClr val="2E75B6"/>
                </a:solidFill>
                <a:latin typeface="Consolas"/>
              </a:rPr>
              <a:t>"dependencies"</a:t>
            </a:r>
            <a:r>
              <a:rPr lang="en-US" dirty="0" smtClean="0">
                <a:solidFill>
                  <a:srgbClr val="000000"/>
                </a:solidFill>
                <a:latin typeface="Consolas"/>
              </a:rPr>
              <a:t>: {</a:t>
            </a:r>
          </a:p>
          <a:p>
            <a:r>
              <a:rPr lang="en-US" dirty="0" smtClean="0">
                <a:solidFill>
                  <a:srgbClr val="000000"/>
                </a:solidFill>
                <a:latin typeface="Consolas"/>
              </a:rPr>
              <a:t>    </a:t>
            </a:r>
            <a:r>
              <a:rPr lang="en-US" dirty="0" smtClean="0">
                <a:solidFill>
                  <a:srgbClr val="2E75B6"/>
                </a:solidFill>
                <a:latin typeface="Consolas"/>
              </a:rPr>
              <a:t>"cities"</a:t>
            </a:r>
            <a:r>
              <a:rPr lang="en-US" dirty="0" smtClean="0">
                <a:solidFill>
                  <a:srgbClr val="000000"/>
                </a:solidFill>
                <a:latin typeface="Consolas"/>
              </a:rPr>
              <a:t>: </a:t>
            </a:r>
            <a:r>
              <a:rPr lang="en-US" dirty="0" smtClean="0">
                <a:solidFill>
                  <a:srgbClr val="A31515"/>
                </a:solidFill>
                <a:latin typeface="Consolas"/>
              </a:rPr>
              <a:t>"^2.0.0"</a:t>
            </a:r>
            <a:endParaRPr lang="en-US" dirty="0" smtClean="0">
              <a:solidFill>
                <a:srgbClr val="000000"/>
              </a:solidFill>
              <a:latin typeface="Consolas"/>
            </a:endParaRPr>
          </a:p>
          <a:p>
            <a:r>
              <a:rPr lang="en-US" dirty="0" smtClean="0">
                <a:solidFill>
                  <a:srgbClr val="000000"/>
                </a:solidFill>
                <a:latin typeface="Consolas"/>
              </a:rPr>
              <a:t>  }</a:t>
            </a:r>
          </a:p>
          <a:p>
            <a:r>
              <a:rPr lang="en-US" dirty="0" smtClean="0">
                <a:solidFill>
                  <a:srgbClr val="000000"/>
                </a:solidFill>
                <a:latin typeface="Consolas"/>
              </a:rPr>
              <a:t>}</a:t>
            </a:r>
          </a:p>
        </p:txBody>
      </p:sp>
      <p:sp>
        <p:nvSpPr>
          <p:cNvPr id="5" name="Rectangle 4"/>
          <p:cNvSpPr/>
          <p:nvPr/>
        </p:nvSpPr>
        <p:spPr>
          <a:xfrm>
            <a:off x="990600" y="4953000"/>
            <a:ext cx="2971800" cy="914400"/>
          </a:xfrm>
          <a:prstGeom prst="rect">
            <a:avLst/>
          </a:prstGeom>
          <a:solidFill>
            <a:schemeClr val="accent6">
              <a:alpha val="3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92162" name="Picture 2"/>
          <p:cNvPicPr>
            <a:picLocks noChangeAspect="1" noChangeArrowheads="1"/>
          </p:cNvPicPr>
          <p:nvPr/>
        </p:nvPicPr>
        <p:blipFill>
          <a:blip r:embed="rId2" cstate="print"/>
          <a:srcRect/>
          <a:stretch>
            <a:fillRect/>
          </a:stretch>
        </p:blipFill>
        <p:spPr bwMode="auto">
          <a:xfrm>
            <a:off x="5105400" y="4724400"/>
            <a:ext cx="2804160" cy="12001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Run the Application (index.js)</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node index.js</a:t>
            </a:r>
            <a:endParaRPr lang="en-US" sz="2400" dirty="0">
              <a:latin typeface="Consolas" pitchFamily="49" charset="0"/>
            </a:endParaRPr>
          </a:p>
        </p:txBody>
      </p:sp>
      <p:sp>
        <p:nvSpPr>
          <p:cNvPr id="4" name="Rectangle 3"/>
          <p:cNvSpPr/>
          <p:nvPr/>
        </p:nvSpPr>
        <p:spPr>
          <a:xfrm>
            <a:off x="838200" y="2353270"/>
            <a:ext cx="7772400" cy="923330"/>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solidFill>
                  <a:srgbClr val="0000FF"/>
                </a:solidFill>
                <a:latin typeface="Consolas"/>
              </a:rPr>
              <a:t>const</a:t>
            </a:r>
            <a:r>
              <a:rPr lang="en-US" dirty="0" smtClean="0">
                <a:solidFill>
                  <a:srgbClr val="000000"/>
                </a:solidFill>
                <a:latin typeface="Consolas"/>
              </a:rPr>
              <a:t> cities = require(</a:t>
            </a:r>
            <a:r>
              <a:rPr lang="en-US" dirty="0" smtClean="0">
                <a:solidFill>
                  <a:srgbClr val="A31515"/>
                </a:solidFill>
                <a:latin typeface="Consolas"/>
              </a:rPr>
              <a:t>"cities"</a:t>
            </a:r>
            <a:r>
              <a:rPr lang="en-US" dirty="0" smtClean="0">
                <a:solidFill>
                  <a:srgbClr val="000000"/>
                </a:solidFill>
                <a:latin typeface="Consolas"/>
              </a:rPr>
              <a:t>);</a:t>
            </a:r>
          </a:p>
          <a:p>
            <a:r>
              <a:rPr lang="en-US" dirty="0" err="1" smtClean="0">
                <a:solidFill>
                  <a:srgbClr val="0000FF"/>
                </a:solidFill>
                <a:latin typeface="Consolas"/>
              </a:rPr>
              <a:t>var</a:t>
            </a:r>
            <a:r>
              <a:rPr lang="en-US" dirty="0" smtClean="0">
                <a:solidFill>
                  <a:srgbClr val="000000"/>
                </a:solidFill>
                <a:latin typeface="Consolas"/>
              </a:rPr>
              <a:t> </a:t>
            </a:r>
            <a:r>
              <a:rPr lang="en-US" dirty="0" err="1" smtClean="0">
                <a:solidFill>
                  <a:srgbClr val="000000"/>
                </a:solidFill>
                <a:latin typeface="Consolas"/>
              </a:rPr>
              <a:t>myCity</a:t>
            </a:r>
            <a:r>
              <a:rPr lang="en-US" dirty="0" smtClean="0">
                <a:solidFill>
                  <a:srgbClr val="000000"/>
                </a:solidFill>
                <a:latin typeface="Consolas"/>
              </a:rPr>
              <a:t> = </a:t>
            </a:r>
            <a:r>
              <a:rPr lang="en-US" dirty="0" err="1" smtClean="0">
                <a:solidFill>
                  <a:srgbClr val="000000"/>
                </a:solidFill>
                <a:latin typeface="Consolas"/>
              </a:rPr>
              <a:t>cities.zip_lookup</a:t>
            </a:r>
            <a:r>
              <a:rPr lang="en-US" dirty="0" smtClean="0">
                <a:solidFill>
                  <a:srgbClr val="000000"/>
                </a:solidFill>
                <a:latin typeface="Consolas"/>
              </a:rPr>
              <a:t>(</a:t>
            </a:r>
            <a:r>
              <a:rPr lang="en-US" dirty="0" smtClean="0">
                <a:solidFill>
                  <a:srgbClr val="A31515"/>
                </a:solidFill>
                <a:latin typeface="Consolas"/>
              </a:rPr>
              <a:t>"10016"</a:t>
            </a:r>
            <a:r>
              <a:rPr lang="en-US" dirty="0" smtClean="0">
                <a:solidFill>
                  <a:srgbClr val="000000"/>
                </a:solidFill>
                <a:latin typeface="Consolas"/>
              </a:rPr>
              <a:t>);</a:t>
            </a:r>
          </a:p>
          <a:p>
            <a:r>
              <a:rPr lang="en-US" dirty="0" smtClean="0">
                <a:solidFill>
                  <a:srgbClr val="000000"/>
                </a:solidFill>
                <a:latin typeface="Consolas"/>
              </a:rPr>
              <a:t>console.log(</a:t>
            </a:r>
            <a:r>
              <a:rPr lang="en-US" dirty="0" err="1" smtClean="0">
                <a:solidFill>
                  <a:srgbClr val="000000"/>
                </a:solidFill>
                <a:latin typeface="Consolas"/>
              </a:rPr>
              <a:t>myCity</a:t>
            </a:r>
            <a:r>
              <a:rPr lang="en-US" dirty="0" smtClean="0">
                <a:solidFill>
                  <a:srgbClr val="000000"/>
                </a:solidFill>
                <a:latin typeface="Consolas"/>
              </a:rPr>
              <a:t>);</a:t>
            </a:r>
          </a:p>
        </p:txBody>
      </p:sp>
      <p:pic>
        <p:nvPicPr>
          <p:cNvPr id="93186" name="Picture 2"/>
          <p:cNvPicPr>
            <a:picLocks noChangeAspect="1" noChangeArrowheads="1"/>
          </p:cNvPicPr>
          <p:nvPr/>
        </p:nvPicPr>
        <p:blipFill>
          <a:blip r:embed="rId2" cstate="print"/>
          <a:srcRect/>
          <a:stretch>
            <a:fillRect/>
          </a:stretch>
        </p:blipFill>
        <p:spPr bwMode="auto">
          <a:xfrm>
            <a:off x="1524000" y="3810000"/>
            <a:ext cx="6153150" cy="18732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Web Application</a:t>
            </a:r>
            <a:endParaRPr lang="en-US" dirty="0"/>
          </a:p>
        </p:txBody>
      </p:sp>
      <p:sp>
        <p:nvSpPr>
          <p:cNvPr id="3" name="Content Placeholder 2"/>
          <p:cNvSpPr>
            <a:spLocks noGrp="1"/>
          </p:cNvSpPr>
          <p:nvPr>
            <p:ph idx="1"/>
          </p:nvPr>
        </p:nvSpPr>
        <p:spPr/>
        <p:txBody>
          <a:bodyPr/>
          <a:lstStyle/>
          <a:p>
            <a:r>
              <a:rPr lang="en-US" sz="2000" dirty="0" err="1" smtClean="0">
                <a:latin typeface="Consolas" pitchFamily="49" charset="0"/>
              </a:rPr>
              <a:t>npm</a:t>
            </a:r>
            <a:r>
              <a:rPr lang="en-US" sz="2000" dirty="0" smtClean="0">
                <a:latin typeface="Consolas" pitchFamily="49" charset="0"/>
              </a:rPr>
              <a:t> init -y</a:t>
            </a:r>
          </a:p>
          <a:p>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nano</a:t>
            </a:r>
            <a:r>
              <a:rPr lang="en-US" sz="2000" dirty="0" smtClean="0">
                <a:latin typeface="Consolas" pitchFamily="49" charset="0"/>
              </a:rPr>
              <a:t> index.js</a:t>
            </a:r>
          </a:p>
        </p:txBody>
      </p:sp>
      <p:sp>
        <p:nvSpPr>
          <p:cNvPr id="4" name="Rectangle 3"/>
          <p:cNvSpPr/>
          <p:nvPr/>
        </p:nvSpPr>
        <p:spPr>
          <a:xfrm>
            <a:off x="685800" y="2700278"/>
            <a:ext cx="7772400" cy="2862322"/>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200" dirty="0" smtClean="0">
                <a:solidFill>
                  <a:srgbClr val="0000FF"/>
                </a:solidFill>
                <a:latin typeface="Consolas"/>
              </a:rPr>
              <a:t>const</a:t>
            </a:r>
            <a:r>
              <a:rPr lang="en-US" sz="1200" dirty="0" smtClean="0">
                <a:solidFill>
                  <a:srgbClr val="000000"/>
                </a:solidFill>
                <a:latin typeface="Consolas"/>
              </a:rPr>
              <a:t> port = 3000,</a:t>
            </a:r>
          </a:p>
          <a:p>
            <a:r>
              <a:rPr lang="en-US" sz="1200" dirty="0" smtClean="0">
                <a:solidFill>
                  <a:srgbClr val="000000"/>
                </a:solidFill>
                <a:latin typeface="Consolas"/>
              </a:rPr>
              <a:t>http = require(</a:t>
            </a:r>
            <a:r>
              <a:rPr lang="en-US" sz="1200" dirty="0" smtClean="0">
                <a:solidFill>
                  <a:srgbClr val="A31515"/>
                </a:solidFill>
                <a:latin typeface="Consolas"/>
              </a:rPr>
              <a:t>"http"</a:t>
            </a:r>
            <a:r>
              <a:rPr lang="en-US" sz="1200" dirty="0" smtClean="0">
                <a:solidFill>
                  <a:srgbClr val="000000"/>
                </a:solidFill>
                <a:latin typeface="Consolas"/>
              </a:rPr>
              <a:t>),</a:t>
            </a:r>
          </a:p>
          <a:p>
            <a:r>
              <a:rPr lang="en-US" sz="1200" dirty="0" err="1" smtClean="0">
                <a:solidFill>
                  <a:srgbClr val="000000"/>
                </a:solidFill>
                <a:latin typeface="Consolas"/>
              </a:rPr>
              <a:t>httpStatus</a:t>
            </a:r>
            <a:r>
              <a:rPr lang="en-US" sz="1200" dirty="0" smtClean="0">
                <a:solidFill>
                  <a:srgbClr val="000000"/>
                </a:solidFill>
                <a:latin typeface="Consolas"/>
              </a:rPr>
              <a:t> = require(</a:t>
            </a:r>
            <a:r>
              <a:rPr lang="en-US" sz="1200" dirty="0" smtClean="0">
                <a:solidFill>
                  <a:srgbClr val="A31515"/>
                </a:solidFill>
                <a:latin typeface="Consolas"/>
              </a:rPr>
              <a:t>"http-status-codes"</a:t>
            </a:r>
            <a:r>
              <a:rPr lang="en-US" sz="1200" dirty="0" smtClean="0">
                <a:solidFill>
                  <a:srgbClr val="000000"/>
                </a:solidFill>
                <a:latin typeface="Consolas"/>
              </a:rPr>
              <a:t>),</a:t>
            </a:r>
          </a:p>
          <a:p>
            <a:r>
              <a:rPr lang="en-US" sz="1200" dirty="0" smtClean="0">
                <a:solidFill>
                  <a:srgbClr val="000000"/>
                </a:solidFill>
                <a:latin typeface="Consolas"/>
              </a:rPr>
              <a:t>app = </a:t>
            </a:r>
            <a:r>
              <a:rPr lang="en-US" sz="1200" dirty="0" err="1" smtClean="0">
                <a:solidFill>
                  <a:srgbClr val="000000"/>
                </a:solidFill>
                <a:latin typeface="Consolas"/>
              </a:rPr>
              <a:t>http.createServer</a:t>
            </a:r>
            <a:r>
              <a:rPr lang="en-US" sz="1200" dirty="0" smtClean="0">
                <a:solidFill>
                  <a:srgbClr val="000000"/>
                </a:solidFill>
                <a:latin typeface="Consolas"/>
              </a:rPr>
              <a:t>((request, response) =&gt; {</a:t>
            </a:r>
          </a:p>
          <a:p>
            <a:r>
              <a:rPr lang="en-US" sz="1200" dirty="0" smtClean="0">
                <a:solidFill>
                  <a:srgbClr val="000000"/>
                </a:solidFill>
                <a:latin typeface="Consolas"/>
              </a:rPr>
              <a:t>    console.log(</a:t>
            </a:r>
            <a:r>
              <a:rPr lang="en-US" sz="1200" dirty="0" smtClean="0">
                <a:solidFill>
                  <a:srgbClr val="A31515"/>
                </a:solidFill>
                <a:latin typeface="Consolas"/>
              </a:rPr>
              <a:t>"Received an incoming request!"</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err="1" smtClean="0">
                <a:solidFill>
                  <a:srgbClr val="000000"/>
                </a:solidFill>
                <a:latin typeface="Consolas"/>
              </a:rPr>
              <a:t>response.writeHead</a:t>
            </a:r>
            <a:r>
              <a:rPr lang="en-US" sz="1200" dirty="0" smtClean="0">
                <a:solidFill>
                  <a:srgbClr val="000000"/>
                </a:solidFill>
                <a:latin typeface="Consolas"/>
              </a:rPr>
              <a:t>(</a:t>
            </a:r>
            <a:r>
              <a:rPr lang="en-US" sz="1200" dirty="0" err="1" smtClean="0">
                <a:solidFill>
                  <a:srgbClr val="000000"/>
                </a:solidFill>
                <a:latin typeface="Consolas"/>
              </a:rPr>
              <a:t>httpStatus.OK</a:t>
            </a:r>
            <a:r>
              <a:rPr lang="en-US" sz="1200" dirty="0" smtClean="0">
                <a:solidFill>
                  <a:srgbClr val="000000"/>
                </a:solidFill>
                <a:latin typeface="Consolas"/>
              </a:rPr>
              <a:t>, {</a:t>
            </a:r>
          </a:p>
          <a:p>
            <a:r>
              <a:rPr lang="en-US" sz="1200" dirty="0" smtClean="0">
                <a:solidFill>
                  <a:srgbClr val="000000"/>
                </a:solidFill>
                <a:latin typeface="Consolas"/>
              </a:rPr>
              <a:t>        </a:t>
            </a:r>
            <a:r>
              <a:rPr lang="en-US" sz="1200" dirty="0" smtClean="0">
                <a:solidFill>
                  <a:srgbClr val="A31515"/>
                </a:solidFill>
                <a:latin typeface="Consolas"/>
              </a:rPr>
              <a:t>"Content-Type"</a:t>
            </a:r>
            <a:r>
              <a:rPr lang="en-US" sz="1200" dirty="0" smtClean="0">
                <a:solidFill>
                  <a:srgbClr val="000000"/>
                </a:solidFill>
                <a:latin typeface="Consolas"/>
              </a:rPr>
              <a:t>: </a:t>
            </a:r>
            <a:r>
              <a:rPr lang="en-US" sz="1200" dirty="0" smtClean="0">
                <a:solidFill>
                  <a:srgbClr val="A31515"/>
                </a:solidFill>
                <a:latin typeface="Consolas"/>
              </a:rPr>
              <a:t>"text/html"</a:t>
            </a:r>
            <a:endParaRPr lang="en-US" sz="1200" dirty="0" smtClean="0">
              <a:solidFill>
                <a:srgbClr val="000000"/>
              </a:solidFill>
              <a:latin typeface="Consolas"/>
            </a:endParaRPr>
          </a:p>
          <a:p>
            <a:r>
              <a:rPr lang="en-US" sz="1200" dirty="0" smtClean="0">
                <a:solidFill>
                  <a:srgbClr val="000000"/>
                </a:solidFill>
                <a:latin typeface="Consolas"/>
              </a:rPr>
              <a:t>    });</a:t>
            </a:r>
          </a:p>
          <a:p>
            <a:r>
              <a:rPr lang="en-US" sz="1200" dirty="0" smtClean="0">
                <a:solidFill>
                  <a:srgbClr val="000000"/>
                </a:solidFill>
                <a:latin typeface="Consolas"/>
              </a:rPr>
              <a:t>    </a:t>
            </a:r>
            <a:r>
              <a:rPr lang="en-US" sz="1200" dirty="0" smtClean="0">
                <a:solidFill>
                  <a:srgbClr val="0000FF"/>
                </a:solidFill>
                <a:latin typeface="Consolas"/>
              </a:rPr>
              <a:t>let</a:t>
            </a:r>
            <a:r>
              <a:rPr lang="en-US" sz="1200" dirty="0" smtClean="0">
                <a:solidFill>
                  <a:srgbClr val="000000"/>
                </a:solidFill>
                <a:latin typeface="Consolas"/>
              </a:rPr>
              <a:t> </a:t>
            </a:r>
            <a:r>
              <a:rPr lang="en-US" sz="1200" dirty="0" err="1" smtClean="0">
                <a:solidFill>
                  <a:srgbClr val="000000"/>
                </a:solidFill>
                <a:latin typeface="Consolas"/>
              </a:rPr>
              <a:t>responseMessage</a:t>
            </a:r>
            <a:r>
              <a:rPr lang="en-US" sz="1200" dirty="0" smtClean="0">
                <a:solidFill>
                  <a:srgbClr val="000000"/>
                </a:solidFill>
                <a:latin typeface="Consolas"/>
              </a:rPr>
              <a:t> = </a:t>
            </a:r>
            <a:r>
              <a:rPr lang="en-US" sz="1200" dirty="0" smtClean="0">
                <a:solidFill>
                  <a:srgbClr val="A31515"/>
                </a:solidFill>
                <a:latin typeface="Consolas"/>
              </a:rPr>
              <a:t>"&lt;h1&gt;Hello World!&lt;/h1&gt;"</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err="1" smtClean="0">
                <a:solidFill>
                  <a:srgbClr val="000000"/>
                </a:solidFill>
                <a:latin typeface="Consolas"/>
              </a:rPr>
              <a:t>response.write</a:t>
            </a:r>
            <a:r>
              <a:rPr lang="en-US" sz="1200" dirty="0" smtClean="0">
                <a:solidFill>
                  <a:srgbClr val="000000"/>
                </a:solidFill>
                <a:latin typeface="Consolas"/>
              </a:rPr>
              <a:t>(</a:t>
            </a:r>
            <a:r>
              <a:rPr lang="en-US" sz="1200" dirty="0" err="1" smtClean="0">
                <a:solidFill>
                  <a:srgbClr val="000000"/>
                </a:solidFill>
                <a:latin typeface="Consolas"/>
              </a:rPr>
              <a:t>responseMessage</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err="1" smtClean="0">
                <a:solidFill>
                  <a:srgbClr val="000000"/>
                </a:solidFill>
                <a:latin typeface="Consolas"/>
              </a:rPr>
              <a:t>response.end</a:t>
            </a:r>
            <a:r>
              <a:rPr lang="en-US" sz="1200" dirty="0" smtClean="0">
                <a:solidFill>
                  <a:srgbClr val="000000"/>
                </a:solidFill>
                <a:latin typeface="Consolas"/>
              </a:rPr>
              <a:t>();</a:t>
            </a:r>
          </a:p>
          <a:p>
            <a:r>
              <a:rPr lang="en-US" sz="1200" dirty="0" smtClean="0">
                <a:solidFill>
                  <a:srgbClr val="000000"/>
                </a:solidFill>
                <a:latin typeface="Consolas"/>
              </a:rPr>
              <a:t>    console.log(</a:t>
            </a:r>
            <a:r>
              <a:rPr lang="en-US" sz="1200" dirty="0" smtClean="0">
                <a:solidFill>
                  <a:srgbClr val="A31515"/>
                </a:solidFill>
                <a:latin typeface="Consolas"/>
              </a:rPr>
              <a:t>`Sent a response : </a:t>
            </a:r>
            <a:r>
              <a:rPr lang="en-US" sz="1200" dirty="0" smtClean="0">
                <a:solidFill>
                  <a:srgbClr val="000000"/>
                </a:solidFill>
                <a:latin typeface="Consolas"/>
              </a:rPr>
              <a:t>${</a:t>
            </a:r>
            <a:r>
              <a:rPr lang="en-US" sz="1200" dirty="0" err="1" smtClean="0">
                <a:solidFill>
                  <a:srgbClr val="000000"/>
                </a:solidFill>
                <a:latin typeface="Consolas"/>
              </a:rPr>
              <a:t>responseMessage</a:t>
            </a:r>
            <a:r>
              <a:rPr lang="en-US" sz="1200" dirty="0" smtClean="0">
                <a:solidFill>
                  <a:srgbClr val="000000"/>
                </a:solidFill>
                <a:latin typeface="Consolas"/>
              </a:rPr>
              <a:t>}</a:t>
            </a:r>
            <a:r>
              <a:rPr lang="en-US" sz="1200" dirty="0" smtClean="0">
                <a:solidFill>
                  <a:srgbClr val="A31515"/>
                </a:solidFill>
                <a:latin typeface="Consolas"/>
              </a:rPr>
              <a:t>`</a:t>
            </a:r>
            <a:r>
              <a:rPr lang="en-US" sz="1200" dirty="0" smtClean="0">
                <a:solidFill>
                  <a:srgbClr val="000000"/>
                </a:solidFill>
                <a:latin typeface="Consolas"/>
              </a:rPr>
              <a:t>);</a:t>
            </a:r>
          </a:p>
          <a:p>
            <a:r>
              <a:rPr lang="en-US" sz="1200" dirty="0" smtClean="0">
                <a:solidFill>
                  <a:srgbClr val="000000"/>
                </a:solidFill>
                <a:latin typeface="Consolas"/>
              </a:rPr>
              <a:t>});</a:t>
            </a:r>
          </a:p>
          <a:p>
            <a:r>
              <a:rPr lang="en-US" sz="1200" dirty="0" err="1" smtClean="0">
                <a:solidFill>
                  <a:srgbClr val="000000"/>
                </a:solidFill>
                <a:latin typeface="Consolas"/>
              </a:rPr>
              <a:t>app.listen</a:t>
            </a:r>
            <a:r>
              <a:rPr lang="en-US" sz="1200" dirty="0" smtClean="0">
                <a:solidFill>
                  <a:srgbClr val="000000"/>
                </a:solidFill>
                <a:latin typeface="Consolas"/>
              </a:rPr>
              <a:t>(port);</a:t>
            </a:r>
          </a:p>
          <a:p>
            <a:r>
              <a:rPr lang="en-US" sz="1200" dirty="0" smtClean="0">
                <a:solidFill>
                  <a:srgbClr val="000000"/>
                </a:solidFill>
                <a:latin typeface="Consolas"/>
              </a:rPr>
              <a:t>console.log(</a:t>
            </a:r>
            <a:r>
              <a:rPr lang="en-US" sz="1200" dirty="0" smtClean="0">
                <a:solidFill>
                  <a:srgbClr val="A31515"/>
                </a:solidFill>
                <a:latin typeface="Consolas"/>
              </a:rPr>
              <a:t>`The server has started and is listening on port number: </a:t>
            </a:r>
            <a:r>
              <a:rPr lang="en-US" sz="1200" dirty="0" smtClean="0">
                <a:solidFill>
                  <a:srgbClr val="000000"/>
                </a:solidFill>
                <a:latin typeface="Consolas"/>
              </a:rPr>
              <a:t>${port}</a:t>
            </a:r>
            <a:r>
              <a:rPr lang="en-US" sz="1200" dirty="0" smtClean="0">
                <a:solidFill>
                  <a:srgbClr val="A31515"/>
                </a:solidFill>
                <a:latin typeface="Consolas"/>
              </a:rPr>
              <a:t>`</a:t>
            </a:r>
            <a:r>
              <a:rPr lang="en-US" sz="1200" dirty="0" smtClean="0">
                <a:solidFill>
                  <a:srgbClr val="000000"/>
                </a:solidFill>
                <a:latin typeface="Consolas"/>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Run a Web Application</a:t>
            </a:r>
            <a:endParaRPr lang="en-US" dirty="0"/>
          </a:p>
        </p:txBody>
      </p:sp>
      <p:sp>
        <p:nvSpPr>
          <p:cNvPr id="3" name="Content Placeholder 2"/>
          <p:cNvSpPr>
            <a:spLocks noGrp="1"/>
          </p:cNvSpPr>
          <p:nvPr>
            <p:ph idx="1"/>
          </p:nvPr>
        </p:nvSpPr>
        <p:spPr/>
        <p:txBody>
          <a:bodyPr/>
          <a:lstStyle/>
          <a:p>
            <a:r>
              <a:rPr lang="en-US" sz="2000" dirty="0" err="1" smtClean="0">
                <a:latin typeface="Consolas" pitchFamily="49" charset="0"/>
              </a:rPr>
              <a:t>npm</a:t>
            </a:r>
            <a:r>
              <a:rPr lang="en-US" sz="2000" dirty="0" smtClean="0">
                <a:latin typeface="Consolas" pitchFamily="49" charset="0"/>
              </a:rPr>
              <a:t> install http-status-codes --save</a:t>
            </a:r>
          </a:p>
          <a:p>
            <a:r>
              <a:rPr lang="en-US" sz="2000" dirty="0" smtClean="0">
                <a:latin typeface="Consolas" pitchFamily="49" charset="0"/>
              </a:rPr>
              <a:t>node index.js</a:t>
            </a:r>
            <a:endParaRPr lang="en-US" sz="2000" dirty="0">
              <a:latin typeface="Consolas" pitchFamily="49" charset="0"/>
            </a:endParaRPr>
          </a:p>
        </p:txBody>
      </p:sp>
      <p:pic>
        <p:nvPicPr>
          <p:cNvPr id="94211" name="Picture 3"/>
          <p:cNvPicPr>
            <a:picLocks noChangeAspect="1" noChangeArrowheads="1"/>
          </p:cNvPicPr>
          <p:nvPr/>
        </p:nvPicPr>
        <p:blipFill>
          <a:blip r:embed="rId2" cstate="print"/>
          <a:srcRect/>
          <a:stretch>
            <a:fillRect/>
          </a:stretch>
        </p:blipFill>
        <p:spPr bwMode="auto">
          <a:xfrm>
            <a:off x="2286000" y="3505200"/>
            <a:ext cx="3158490" cy="92583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Add </a:t>
            </a:r>
            <a:r>
              <a:rPr lang="en-US" dirty="0" err="1" smtClean="0">
                <a:latin typeface="Consolas" pitchFamily="49" charset="0"/>
              </a:rPr>
              <a:t>npm</a:t>
            </a:r>
            <a:r>
              <a:rPr lang="en-US" dirty="0" smtClean="0">
                <a:latin typeface="Consolas" pitchFamily="49" charset="0"/>
              </a:rPr>
              <a:t> start</a:t>
            </a:r>
            <a:endParaRPr lang="en-US" dirty="0">
              <a:latin typeface="Consolas" pitchFamily="49" charset="0"/>
            </a:endParaRPr>
          </a:p>
        </p:txBody>
      </p:sp>
      <p:sp>
        <p:nvSpPr>
          <p:cNvPr id="3" name="Content Placeholder 2"/>
          <p:cNvSpPr>
            <a:spLocks noGrp="1"/>
          </p:cNvSpPr>
          <p:nvPr>
            <p:ph idx="1"/>
          </p:nvPr>
        </p:nvSpPr>
        <p:spPr/>
        <p:txBody>
          <a:bodyPr/>
          <a:lstStyle/>
          <a:p>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nano</a:t>
            </a:r>
            <a:r>
              <a:rPr lang="en-US" sz="2000" dirty="0" smtClean="0">
                <a:latin typeface="Consolas" pitchFamily="49" charset="0"/>
              </a:rPr>
              <a:t> </a:t>
            </a:r>
            <a:r>
              <a:rPr lang="en-US" sz="2000" dirty="0" err="1" smtClean="0">
                <a:latin typeface="Consolas" pitchFamily="49" charset="0"/>
              </a:rPr>
              <a:t>package.json</a:t>
            </a:r>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endParaRPr lang="en-US" sz="2000" dirty="0" smtClean="0">
              <a:latin typeface="Consolas" pitchFamily="49" charset="0"/>
            </a:endParaRPr>
          </a:p>
          <a:p>
            <a:r>
              <a:rPr lang="en-US" sz="2000" dirty="0" err="1" smtClean="0">
                <a:latin typeface="Consolas" pitchFamily="49" charset="0"/>
              </a:rPr>
              <a:t>npm</a:t>
            </a:r>
            <a:r>
              <a:rPr lang="en-US" sz="2000" dirty="0" smtClean="0">
                <a:latin typeface="Consolas" pitchFamily="49" charset="0"/>
              </a:rPr>
              <a:t> start</a:t>
            </a:r>
            <a:endParaRPr lang="en-US" sz="2000" dirty="0">
              <a:latin typeface="Consolas" pitchFamily="49" charset="0"/>
            </a:endParaRPr>
          </a:p>
        </p:txBody>
      </p:sp>
      <p:sp>
        <p:nvSpPr>
          <p:cNvPr id="7" name="Rectangle 6"/>
          <p:cNvSpPr/>
          <p:nvPr/>
        </p:nvSpPr>
        <p:spPr>
          <a:xfrm>
            <a:off x="914400" y="2133600"/>
            <a:ext cx="7315200" cy="329320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smtClean="0">
                <a:latin typeface="Consolas" pitchFamily="49" charset="0"/>
              </a:rPr>
              <a:t>{</a:t>
            </a:r>
          </a:p>
          <a:p>
            <a:r>
              <a:rPr lang="en-US" sz="1600" dirty="0" smtClean="0">
                <a:latin typeface="Consolas" pitchFamily="49" charset="0"/>
              </a:rPr>
              <a:t>  "name": "</a:t>
            </a:r>
            <a:r>
              <a:rPr lang="en-US" sz="1600" dirty="0" err="1" smtClean="0">
                <a:latin typeface="Consolas" pitchFamily="49" charset="0"/>
              </a:rPr>
              <a:t>hello_world</a:t>
            </a:r>
            <a:r>
              <a:rPr lang="en-US" sz="1600" dirty="0" smtClean="0">
                <a:latin typeface="Consolas" pitchFamily="49" charset="0"/>
              </a:rPr>
              <a:t>",</a:t>
            </a:r>
          </a:p>
          <a:p>
            <a:r>
              <a:rPr lang="en-US" sz="1600" dirty="0" smtClean="0">
                <a:latin typeface="Consolas" pitchFamily="49" charset="0"/>
              </a:rPr>
              <a:t>  ...</a:t>
            </a:r>
          </a:p>
          <a:p>
            <a:r>
              <a:rPr lang="en-US" sz="1600" dirty="0" smtClean="0">
                <a:latin typeface="Consolas" pitchFamily="49" charset="0"/>
              </a:rPr>
              <a:t>  "main": "index.js",</a:t>
            </a:r>
          </a:p>
          <a:p>
            <a:r>
              <a:rPr lang="en-US" sz="1600" dirty="0" smtClean="0">
                <a:latin typeface="Consolas" pitchFamily="49" charset="0"/>
              </a:rPr>
              <a:t>  "scripts": {</a:t>
            </a:r>
          </a:p>
          <a:p>
            <a:r>
              <a:rPr lang="en-US" sz="1600" b="1" dirty="0" smtClean="0">
                <a:solidFill>
                  <a:srgbClr val="C00000"/>
                </a:solidFill>
                <a:latin typeface="Consolas" pitchFamily="49" charset="0"/>
              </a:rPr>
              <a:t>    "start": "node index.js",</a:t>
            </a:r>
          </a:p>
          <a:p>
            <a:r>
              <a:rPr lang="en-US" sz="1600" dirty="0" smtClean="0">
                <a:latin typeface="Consolas" pitchFamily="49" charset="0"/>
              </a:rPr>
              <a:t>    "test": "echo \"Error: no test specified\" &amp;&amp; exit 1"</a:t>
            </a:r>
          </a:p>
          <a:p>
            <a:r>
              <a:rPr lang="en-US" sz="1600" dirty="0" smtClean="0">
                <a:latin typeface="Consolas" pitchFamily="49" charset="0"/>
              </a:rPr>
              <a:t>  },</a:t>
            </a:r>
          </a:p>
          <a:p>
            <a:r>
              <a:rPr lang="en-US" sz="1600" dirty="0" smtClean="0">
                <a:latin typeface="Consolas" pitchFamily="49" charset="0"/>
              </a:rPr>
              <a:t>  ...</a:t>
            </a:r>
          </a:p>
          <a:p>
            <a:r>
              <a:rPr lang="en-US" sz="1600" dirty="0" smtClean="0">
                <a:latin typeface="Consolas" pitchFamily="49" charset="0"/>
              </a:rPr>
              <a:t>  "dependencies": {</a:t>
            </a:r>
          </a:p>
          <a:p>
            <a:r>
              <a:rPr lang="en-US" sz="1600" dirty="0" smtClean="0">
                <a:latin typeface="Consolas" pitchFamily="49" charset="0"/>
              </a:rPr>
              <a:t>    "http-status-codes": "^2.1.4"</a:t>
            </a:r>
          </a:p>
          <a:p>
            <a:r>
              <a:rPr lang="en-US" sz="1600" dirty="0" smtClean="0">
                <a:latin typeface="Consolas" pitchFamily="49" charset="0"/>
              </a:rPr>
              <a:t>  }</a:t>
            </a:r>
          </a:p>
          <a:p>
            <a:r>
              <a:rPr lang="en-US" sz="1600" dirty="0" smtClean="0">
                <a:latin typeface="Consolas" pitchFamily="49" charset="0"/>
              </a:rPr>
              <a:t>}</a:t>
            </a:r>
            <a:endParaRPr lang="en-US" sz="1600" dirty="0">
              <a:latin typeface="Consolas"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Install </a:t>
            </a:r>
            <a:r>
              <a:rPr lang="en-US" dirty="0" err="1" smtClean="0"/>
              <a:t>nodemon</a:t>
            </a:r>
            <a:r>
              <a:rPr lang="en-US" dirty="0" smtClean="0"/>
              <a:t> Module</a:t>
            </a:r>
            <a:endParaRPr lang="en-US" dirty="0"/>
          </a:p>
        </p:txBody>
      </p:sp>
      <p:sp>
        <p:nvSpPr>
          <p:cNvPr id="3" name="Content Placeholder 2"/>
          <p:cNvSpPr>
            <a:spLocks noGrp="1"/>
          </p:cNvSpPr>
          <p:nvPr>
            <p:ph idx="1"/>
          </p:nvPr>
        </p:nvSpPr>
        <p:spPr/>
        <p:txBody>
          <a:bodyPr/>
          <a:lstStyle/>
          <a:p>
            <a:r>
              <a:rPr lang="en-US" sz="2400" dirty="0" smtClean="0">
                <a:hlinkClick r:id="rId2"/>
              </a:rPr>
              <a:t>https://www.npmjs.com/package/nodemon</a:t>
            </a:r>
            <a:endParaRPr lang="en-US" sz="2400" dirty="0" smtClean="0"/>
          </a:p>
          <a:p>
            <a:r>
              <a:rPr lang="en-US" sz="2400" dirty="0" err="1" smtClean="0"/>
              <a:t>nodemon</a:t>
            </a:r>
            <a:r>
              <a:rPr lang="en-US" sz="2400" dirty="0" smtClean="0"/>
              <a:t> is a tool that helps develop Node.js based applications by </a:t>
            </a:r>
            <a:r>
              <a:rPr lang="en-US" sz="2400" i="1" dirty="0" smtClean="0">
                <a:solidFill>
                  <a:srgbClr val="C00000"/>
                </a:solidFill>
              </a:rPr>
              <a:t>automatically restarting the node application</a:t>
            </a:r>
            <a:r>
              <a:rPr lang="en-US" sz="2400" dirty="0" smtClean="0"/>
              <a:t> when file changes in the directory are detected.</a:t>
            </a:r>
          </a:p>
          <a:p>
            <a:r>
              <a:rPr lang="en-US" sz="2400" b="1" dirty="0" err="1" smtClean="0">
                <a:latin typeface="Consolas" pitchFamily="49" charset="0"/>
              </a:rPr>
              <a:t>npm</a:t>
            </a:r>
            <a:r>
              <a:rPr lang="en-US" sz="2400" b="1" dirty="0" smtClean="0">
                <a:latin typeface="Consolas" pitchFamily="49" charset="0"/>
              </a:rPr>
              <a:t> install -g </a:t>
            </a:r>
            <a:r>
              <a:rPr lang="en-US" sz="2400" b="1" dirty="0" err="1" smtClean="0">
                <a:latin typeface="Consolas" pitchFamily="49" charset="0"/>
              </a:rPr>
              <a:t>nodemon</a:t>
            </a:r>
            <a:endParaRPr lang="en-US" sz="2400" b="1" dirty="0" smtClean="0">
              <a:latin typeface="Consolas" pitchFamily="49" charset="0"/>
            </a:endParaRPr>
          </a:p>
          <a:p>
            <a:r>
              <a:rPr lang="en-US" sz="2400" b="1" dirty="0" err="1" smtClean="0">
                <a:latin typeface="Consolas" pitchFamily="49" charset="0"/>
              </a:rPr>
              <a:t>nodemon</a:t>
            </a:r>
            <a:r>
              <a:rPr lang="en-US" sz="2400" b="1" dirty="0" smtClean="0">
                <a:latin typeface="Consolas" pitchFamily="49" charset="0"/>
              </a:rPr>
              <a:t> index</a:t>
            </a:r>
            <a:endParaRPr lang="en-US" sz="2400" b="1" dirty="0">
              <a:latin typeface="Consolas" pitchFamily="49" charset="0"/>
            </a:endParaRPr>
          </a:p>
        </p:txBody>
      </p:sp>
      <p:pic>
        <p:nvPicPr>
          <p:cNvPr id="1027" name="Picture 3"/>
          <p:cNvPicPr>
            <a:picLocks noChangeAspect="1" noChangeArrowheads="1"/>
          </p:cNvPicPr>
          <p:nvPr/>
        </p:nvPicPr>
        <p:blipFill>
          <a:blip r:embed="rId3" cstate="print"/>
          <a:srcRect/>
          <a:stretch>
            <a:fillRect/>
          </a:stretch>
        </p:blipFill>
        <p:spPr bwMode="auto">
          <a:xfrm>
            <a:off x="1238250" y="4391025"/>
            <a:ext cx="6667500" cy="14763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Retrieve Request Data</a:t>
            </a:r>
            <a:endParaRPr lang="en-US" dirty="0"/>
          </a:p>
        </p:txBody>
      </p:sp>
      <p:sp>
        <p:nvSpPr>
          <p:cNvPr id="3" name="Content Placeholder 2"/>
          <p:cNvSpPr>
            <a:spLocks noGrp="1"/>
          </p:cNvSpPr>
          <p:nvPr>
            <p:ph idx="1"/>
          </p:nvPr>
        </p:nvSpPr>
        <p:spPr/>
        <p:txBody>
          <a:bodyPr/>
          <a:lstStyle/>
          <a:p>
            <a:r>
              <a:rPr lang="en-US" sz="2000" dirty="0" smtClean="0">
                <a:latin typeface="Consolas" pitchFamily="49" charset="0"/>
              </a:rPr>
              <a:t>curl --data "username=</a:t>
            </a:r>
            <a:r>
              <a:rPr lang="en-US" sz="2000" dirty="0" err="1" smtClean="0">
                <a:latin typeface="Consolas" pitchFamily="49" charset="0"/>
              </a:rPr>
              <a:t>Jon&amp;password</a:t>
            </a:r>
            <a:r>
              <a:rPr lang="en-US" sz="2000" dirty="0" smtClean="0">
                <a:latin typeface="Consolas" pitchFamily="49" charset="0"/>
              </a:rPr>
              <a:t>=secret“ http://localhost:3000</a:t>
            </a:r>
          </a:p>
          <a:p>
            <a:r>
              <a:rPr lang="en-US" sz="2000" b="1" i="1" dirty="0" smtClean="0">
                <a:solidFill>
                  <a:srgbClr val="C00000"/>
                </a:solidFill>
                <a:latin typeface="Consolas" pitchFamily="49" charset="0"/>
              </a:rPr>
              <a:t>See the “05 analyzing-request-data” folder for detail.</a:t>
            </a:r>
            <a:endParaRPr lang="en-US" sz="2000" b="1" i="1" dirty="0">
              <a:solidFill>
                <a:srgbClr val="C00000"/>
              </a:solidFill>
              <a:latin typeface="Consolas" pitchFamily="49" charset="0"/>
            </a:endParaRPr>
          </a:p>
        </p:txBody>
      </p:sp>
      <p:pic>
        <p:nvPicPr>
          <p:cNvPr id="95235" name="Picture 3"/>
          <p:cNvPicPr>
            <a:picLocks noChangeAspect="1" noChangeArrowheads="1"/>
          </p:cNvPicPr>
          <p:nvPr/>
        </p:nvPicPr>
        <p:blipFill>
          <a:blip r:embed="rId2" cstate="print"/>
          <a:srcRect/>
          <a:stretch>
            <a:fillRect/>
          </a:stretch>
        </p:blipFill>
        <p:spPr bwMode="auto">
          <a:xfrm>
            <a:off x="609600" y="2971800"/>
            <a:ext cx="8065770" cy="35623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Add Routes</a:t>
            </a:r>
            <a:endParaRPr lang="en-US" dirty="0"/>
          </a:p>
        </p:txBody>
      </p:sp>
      <p:sp>
        <p:nvSpPr>
          <p:cNvPr id="3" name="Content Placeholder 2"/>
          <p:cNvSpPr>
            <a:spLocks noGrp="1"/>
          </p:cNvSpPr>
          <p:nvPr>
            <p:ph idx="1"/>
          </p:nvPr>
        </p:nvSpPr>
        <p:spPr/>
        <p:txBody>
          <a:bodyPr/>
          <a:lstStyle/>
          <a:p>
            <a:r>
              <a:rPr lang="en-US" sz="2400" b="1" i="1" dirty="0" smtClean="0">
                <a:solidFill>
                  <a:srgbClr val="C00000"/>
                </a:solidFill>
                <a:latin typeface="Consolas" pitchFamily="49" charset="0"/>
              </a:rPr>
              <a:t>See the “06 adding-routes” folder for detail.</a:t>
            </a:r>
            <a:endParaRPr lang="en-US" sz="2400" b="1" i="1" dirty="0">
              <a:solidFill>
                <a:srgbClr val="C00000"/>
              </a:solidFill>
              <a:latin typeface="Consolas" pitchFamily="49" charset="0"/>
            </a:endParaRPr>
          </a:p>
        </p:txBody>
      </p:sp>
      <p:sp>
        <p:nvSpPr>
          <p:cNvPr id="6" name="Rectangle 5"/>
          <p:cNvSpPr/>
          <p:nvPr/>
        </p:nvSpPr>
        <p:spPr>
          <a:xfrm>
            <a:off x="533400" y="2286000"/>
            <a:ext cx="7772400" cy="3970318"/>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200" dirty="0" smtClean="0">
                <a:solidFill>
                  <a:srgbClr val="0000FF"/>
                </a:solidFill>
                <a:latin typeface="Consolas"/>
              </a:rPr>
              <a:t>const</a:t>
            </a:r>
            <a:r>
              <a:rPr lang="en-US" sz="1200" dirty="0" smtClean="0">
                <a:solidFill>
                  <a:srgbClr val="000000"/>
                </a:solidFill>
                <a:latin typeface="Consolas"/>
              </a:rPr>
              <a:t> </a:t>
            </a:r>
            <a:r>
              <a:rPr lang="en-US" sz="1200" dirty="0" err="1" smtClean="0">
                <a:solidFill>
                  <a:srgbClr val="000000"/>
                </a:solidFill>
                <a:latin typeface="Consolas"/>
              </a:rPr>
              <a:t>routeResponseMap</a:t>
            </a:r>
            <a:r>
              <a:rPr lang="en-US" sz="1200" dirty="0" smtClean="0">
                <a:solidFill>
                  <a:srgbClr val="000000"/>
                </a:solidFill>
                <a:latin typeface="Consolas"/>
              </a:rPr>
              <a:t> = {</a:t>
            </a:r>
          </a:p>
          <a:p>
            <a:r>
              <a:rPr lang="en-US" sz="1200" dirty="0" smtClean="0">
                <a:solidFill>
                  <a:srgbClr val="000000"/>
                </a:solidFill>
                <a:latin typeface="Consolas"/>
              </a:rPr>
              <a:t>    </a:t>
            </a:r>
            <a:r>
              <a:rPr lang="en-US" sz="1200" dirty="0" smtClean="0">
                <a:solidFill>
                  <a:srgbClr val="A31515"/>
                </a:solidFill>
                <a:latin typeface="Consolas"/>
              </a:rPr>
              <a:t>"/info"</a:t>
            </a:r>
            <a:r>
              <a:rPr lang="en-US" sz="1200" dirty="0" smtClean="0">
                <a:solidFill>
                  <a:srgbClr val="000000"/>
                </a:solidFill>
                <a:latin typeface="Consolas"/>
              </a:rPr>
              <a:t>: </a:t>
            </a:r>
            <a:r>
              <a:rPr lang="en-US" sz="1200" dirty="0" smtClean="0">
                <a:solidFill>
                  <a:srgbClr val="A31515"/>
                </a:solidFill>
                <a:latin typeface="Consolas"/>
              </a:rPr>
              <a:t>"&lt;h1&gt;Info Page&lt;/h1&gt;"</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smtClean="0">
                <a:solidFill>
                  <a:srgbClr val="A31515"/>
                </a:solidFill>
                <a:latin typeface="Consolas"/>
              </a:rPr>
              <a:t>"/contact"</a:t>
            </a:r>
            <a:r>
              <a:rPr lang="en-US" sz="1200" dirty="0" smtClean="0">
                <a:solidFill>
                  <a:srgbClr val="000000"/>
                </a:solidFill>
                <a:latin typeface="Consolas"/>
              </a:rPr>
              <a:t>: </a:t>
            </a:r>
            <a:r>
              <a:rPr lang="en-US" sz="1200" dirty="0" smtClean="0">
                <a:solidFill>
                  <a:srgbClr val="A31515"/>
                </a:solidFill>
                <a:latin typeface="Consolas"/>
              </a:rPr>
              <a:t>"&lt;h1&gt;Contact Us&lt;/h1&gt;"</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smtClean="0">
                <a:solidFill>
                  <a:srgbClr val="A31515"/>
                </a:solidFill>
                <a:latin typeface="Consolas"/>
              </a:rPr>
              <a:t>"/about"</a:t>
            </a:r>
            <a:r>
              <a:rPr lang="en-US" sz="1200" dirty="0" smtClean="0">
                <a:solidFill>
                  <a:srgbClr val="000000"/>
                </a:solidFill>
                <a:latin typeface="Consolas"/>
              </a:rPr>
              <a:t>: </a:t>
            </a:r>
            <a:r>
              <a:rPr lang="en-US" sz="1200" dirty="0" smtClean="0">
                <a:solidFill>
                  <a:srgbClr val="A31515"/>
                </a:solidFill>
                <a:latin typeface="Consolas"/>
              </a:rPr>
              <a:t>"&lt;h1&gt;Learn More About Us.&lt;/h1&gt;"</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smtClean="0">
                <a:solidFill>
                  <a:srgbClr val="A31515"/>
                </a:solidFill>
                <a:latin typeface="Consolas"/>
              </a:rPr>
              <a:t>"/hello"</a:t>
            </a:r>
            <a:r>
              <a:rPr lang="en-US" sz="1200" dirty="0" smtClean="0">
                <a:solidFill>
                  <a:srgbClr val="000000"/>
                </a:solidFill>
                <a:latin typeface="Consolas"/>
              </a:rPr>
              <a:t>: </a:t>
            </a:r>
            <a:r>
              <a:rPr lang="en-US" sz="1200" dirty="0" smtClean="0">
                <a:solidFill>
                  <a:srgbClr val="A31515"/>
                </a:solidFill>
                <a:latin typeface="Consolas"/>
              </a:rPr>
              <a:t>"&lt;h1&gt;Say hello by emailing us here&lt;/h1&gt;"</a:t>
            </a:r>
            <a:r>
              <a:rPr lang="en-US" sz="1200" dirty="0" smtClean="0">
                <a:solidFill>
                  <a:srgbClr val="000000"/>
                </a:solidFill>
                <a:latin typeface="Consolas"/>
              </a:rPr>
              <a:t>,</a:t>
            </a:r>
          </a:p>
          <a:p>
            <a:r>
              <a:rPr lang="en-US" sz="1200" dirty="0" smtClean="0">
                <a:solidFill>
                  <a:srgbClr val="000000"/>
                </a:solidFill>
                <a:latin typeface="Consolas"/>
              </a:rPr>
              <a:t>    </a:t>
            </a:r>
            <a:r>
              <a:rPr lang="en-US" sz="1200" dirty="0" smtClean="0">
                <a:solidFill>
                  <a:srgbClr val="A31515"/>
                </a:solidFill>
                <a:latin typeface="Consolas"/>
              </a:rPr>
              <a:t>"/error"</a:t>
            </a:r>
            <a:r>
              <a:rPr lang="en-US" sz="1200" dirty="0" smtClean="0">
                <a:solidFill>
                  <a:srgbClr val="000000"/>
                </a:solidFill>
                <a:latin typeface="Consolas"/>
              </a:rPr>
              <a:t>: </a:t>
            </a:r>
            <a:r>
              <a:rPr lang="en-US" sz="1200" dirty="0" smtClean="0">
                <a:solidFill>
                  <a:srgbClr val="A31515"/>
                </a:solidFill>
                <a:latin typeface="Consolas"/>
              </a:rPr>
              <a:t>"&lt;h1&gt;Sorry the page you are looking for is not here.&lt;/h1&gt;"</a:t>
            </a:r>
            <a:endParaRPr lang="en-US" sz="1200" dirty="0" smtClean="0">
              <a:solidFill>
                <a:srgbClr val="000000"/>
              </a:solidFill>
              <a:latin typeface="Consolas"/>
            </a:endParaRPr>
          </a:p>
          <a:p>
            <a:r>
              <a:rPr lang="en-US" sz="1200" dirty="0" smtClean="0">
                <a:solidFill>
                  <a:srgbClr val="000000"/>
                </a:solidFill>
                <a:latin typeface="Consolas"/>
              </a:rPr>
              <a:t>};</a:t>
            </a:r>
          </a:p>
          <a:p>
            <a:endParaRPr lang="en-US" sz="1200" dirty="0" smtClean="0">
              <a:solidFill>
                <a:srgbClr val="000000"/>
              </a:solidFill>
              <a:latin typeface="Consolas"/>
            </a:endParaRPr>
          </a:p>
          <a:p>
            <a:r>
              <a:rPr lang="en-US" sz="1200" dirty="0" smtClean="0">
                <a:solidFill>
                  <a:srgbClr val="0000FF"/>
                </a:solidFill>
                <a:latin typeface="Consolas"/>
              </a:rPr>
              <a:t>const</a:t>
            </a:r>
            <a:r>
              <a:rPr lang="en-US" sz="1200" dirty="0" smtClean="0">
                <a:solidFill>
                  <a:srgbClr val="000000"/>
                </a:solidFill>
                <a:latin typeface="Consolas"/>
              </a:rPr>
              <a:t> port = 3000,</a:t>
            </a:r>
          </a:p>
          <a:p>
            <a:r>
              <a:rPr lang="en-US" sz="1200" dirty="0" smtClean="0">
                <a:solidFill>
                  <a:srgbClr val="000000"/>
                </a:solidFill>
                <a:latin typeface="Consolas"/>
              </a:rPr>
              <a:t>http = require(</a:t>
            </a:r>
            <a:r>
              <a:rPr lang="en-US" sz="1200" dirty="0" smtClean="0">
                <a:solidFill>
                  <a:srgbClr val="A31515"/>
                </a:solidFill>
                <a:latin typeface="Consolas"/>
              </a:rPr>
              <a:t>"http"</a:t>
            </a:r>
            <a:r>
              <a:rPr lang="en-US" sz="1200" dirty="0" smtClean="0">
                <a:solidFill>
                  <a:srgbClr val="000000"/>
                </a:solidFill>
                <a:latin typeface="Consolas"/>
              </a:rPr>
              <a:t>),</a:t>
            </a:r>
          </a:p>
          <a:p>
            <a:r>
              <a:rPr lang="en-US" sz="1200" dirty="0" err="1" smtClean="0">
                <a:solidFill>
                  <a:srgbClr val="000000"/>
                </a:solidFill>
                <a:latin typeface="Consolas"/>
              </a:rPr>
              <a:t>httpStatus</a:t>
            </a:r>
            <a:r>
              <a:rPr lang="en-US" sz="1200" dirty="0" smtClean="0">
                <a:solidFill>
                  <a:srgbClr val="000000"/>
                </a:solidFill>
                <a:latin typeface="Consolas"/>
              </a:rPr>
              <a:t> = require(</a:t>
            </a:r>
            <a:r>
              <a:rPr lang="en-US" sz="1200" dirty="0" smtClean="0">
                <a:solidFill>
                  <a:srgbClr val="A31515"/>
                </a:solidFill>
                <a:latin typeface="Consolas"/>
              </a:rPr>
              <a:t>"http-status-codes"</a:t>
            </a:r>
            <a:r>
              <a:rPr lang="en-US" sz="1200" dirty="0" smtClean="0">
                <a:solidFill>
                  <a:srgbClr val="000000"/>
                </a:solidFill>
                <a:latin typeface="Consolas"/>
              </a:rPr>
              <a:t>),</a:t>
            </a:r>
          </a:p>
          <a:p>
            <a:r>
              <a:rPr lang="en-US" sz="1200" dirty="0" smtClean="0">
                <a:solidFill>
                  <a:srgbClr val="000000"/>
                </a:solidFill>
                <a:latin typeface="Consolas"/>
              </a:rPr>
              <a:t>app = </a:t>
            </a:r>
            <a:r>
              <a:rPr lang="en-US" sz="1200" dirty="0" err="1" smtClean="0">
                <a:solidFill>
                  <a:srgbClr val="000000"/>
                </a:solidFill>
                <a:latin typeface="Consolas"/>
              </a:rPr>
              <a:t>http.createServer</a:t>
            </a:r>
            <a:r>
              <a:rPr lang="en-US" sz="1200" dirty="0" smtClean="0">
                <a:solidFill>
                  <a:srgbClr val="000000"/>
                </a:solidFill>
                <a:latin typeface="Consolas"/>
              </a:rPr>
              <a:t>((</a:t>
            </a:r>
            <a:r>
              <a:rPr lang="en-US" sz="1200" dirty="0" err="1" smtClean="0">
                <a:solidFill>
                  <a:srgbClr val="000000"/>
                </a:solidFill>
                <a:latin typeface="Consolas"/>
              </a:rPr>
              <a:t>req</a:t>
            </a:r>
            <a:r>
              <a:rPr lang="en-US" sz="1200" dirty="0" smtClean="0">
                <a:solidFill>
                  <a:srgbClr val="000000"/>
                </a:solidFill>
                <a:latin typeface="Consolas"/>
              </a:rPr>
              <a:t>, res) =&gt; {</a:t>
            </a:r>
          </a:p>
          <a:p>
            <a:r>
              <a:rPr lang="en-US" sz="1200" dirty="0" smtClean="0">
                <a:solidFill>
                  <a:srgbClr val="000000"/>
                </a:solidFill>
                <a:latin typeface="Consolas"/>
              </a:rPr>
              <a:t>    </a:t>
            </a:r>
            <a:r>
              <a:rPr lang="en-US" sz="1200" dirty="0" err="1" smtClean="0">
                <a:solidFill>
                  <a:srgbClr val="000000"/>
                </a:solidFill>
                <a:latin typeface="Consolas"/>
              </a:rPr>
              <a:t>res.writeHead</a:t>
            </a:r>
            <a:r>
              <a:rPr lang="en-US" sz="1200" dirty="0" smtClean="0">
                <a:solidFill>
                  <a:srgbClr val="000000"/>
                </a:solidFill>
                <a:latin typeface="Consolas"/>
              </a:rPr>
              <a:t>(200, {</a:t>
            </a:r>
          </a:p>
          <a:p>
            <a:r>
              <a:rPr lang="en-US" sz="1200" dirty="0" smtClean="0">
                <a:solidFill>
                  <a:srgbClr val="000000"/>
                </a:solidFill>
                <a:latin typeface="Consolas"/>
              </a:rPr>
              <a:t>        </a:t>
            </a:r>
            <a:r>
              <a:rPr lang="en-US" sz="1200" dirty="0" smtClean="0">
                <a:solidFill>
                  <a:srgbClr val="A31515"/>
                </a:solidFill>
                <a:latin typeface="Consolas"/>
              </a:rPr>
              <a:t>"Content-Type"</a:t>
            </a:r>
            <a:r>
              <a:rPr lang="en-US" sz="1200" dirty="0" smtClean="0">
                <a:solidFill>
                  <a:srgbClr val="000000"/>
                </a:solidFill>
                <a:latin typeface="Consolas"/>
              </a:rPr>
              <a:t>: </a:t>
            </a:r>
            <a:r>
              <a:rPr lang="en-US" sz="1200" dirty="0" smtClean="0">
                <a:solidFill>
                  <a:srgbClr val="A31515"/>
                </a:solidFill>
                <a:latin typeface="Consolas"/>
              </a:rPr>
              <a:t>"text/html"</a:t>
            </a:r>
            <a:endParaRPr lang="en-US" sz="1200" dirty="0" smtClean="0">
              <a:solidFill>
                <a:srgbClr val="000000"/>
              </a:solidFill>
              <a:latin typeface="Consolas"/>
            </a:endParaRPr>
          </a:p>
          <a:p>
            <a:r>
              <a:rPr lang="en-US" sz="1200" dirty="0" smtClean="0">
                <a:solidFill>
                  <a:srgbClr val="000000"/>
                </a:solidFill>
                <a:latin typeface="Consolas"/>
              </a:rPr>
              <a:t>    });</a:t>
            </a:r>
          </a:p>
          <a:p>
            <a:r>
              <a:rPr lang="en-US" sz="1200" dirty="0" smtClean="0">
                <a:solidFill>
                  <a:srgbClr val="000000"/>
                </a:solidFill>
                <a:latin typeface="Consolas"/>
              </a:rPr>
              <a:t>    </a:t>
            </a:r>
            <a:r>
              <a:rPr lang="en-US" sz="1200" dirty="0" smtClean="0">
                <a:solidFill>
                  <a:srgbClr val="0000FF"/>
                </a:solidFill>
                <a:latin typeface="Consolas"/>
              </a:rPr>
              <a:t>if</a:t>
            </a:r>
            <a:r>
              <a:rPr lang="en-US" sz="1200" dirty="0" smtClean="0">
                <a:solidFill>
                  <a:srgbClr val="000000"/>
                </a:solidFill>
                <a:latin typeface="Consolas"/>
              </a:rPr>
              <a:t> (</a:t>
            </a:r>
            <a:r>
              <a:rPr lang="en-US" sz="1200" dirty="0" err="1" smtClean="0">
                <a:solidFill>
                  <a:srgbClr val="000000"/>
                </a:solidFill>
                <a:latin typeface="Consolas"/>
              </a:rPr>
              <a:t>routeResponseMap</a:t>
            </a:r>
            <a:r>
              <a:rPr lang="en-US" sz="1200" dirty="0" smtClean="0">
                <a:solidFill>
                  <a:srgbClr val="000000"/>
                </a:solidFill>
                <a:latin typeface="Consolas"/>
              </a:rPr>
              <a:t>[req.url]) {</a:t>
            </a:r>
          </a:p>
          <a:p>
            <a:r>
              <a:rPr lang="en-US" sz="1200" dirty="0" smtClean="0">
                <a:solidFill>
                  <a:srgbClr val="000000"/>
                </a:solidFill>
                <a:latin typeface="Consolas"/>
              </a:rPr>
              <a:t>        </a:t>
            </a:r>
            <a:r>
              <a:rPr lang="en-US" sz="1200" dirty="0" err="1" smtClean="0">
                <a:solidFill>
                  <a:srgbClr val="000000"/>
                </a:solidFill>
                <a:latin typeface="Consolas"/>
              </a:rPr>
              <a:t>res.end</a:t>
            </a:r>
            <a:r>
              <a:rPr lang="en-US" sz="1200" dirty="0" smtClean="0">
                <a:solidFill>
                  <a:srgbClr val="000000"/>
                </a:solidFill>
                <a:latin typeface="Consolas"/>
              </a:rPr>
              <a:t>(</a:t>
            </a:r>
            <a:r>
              <a:rPr lang="en-US" sz="1200" dirty="0" err="1" smtClean="0">
                <a:solidFill>
                  <a:srgbClr val="000000"/>
                </a:solidFill>
                <a:latin typeface="Consolas"/>
              </a:rPr>
              <a:t>routeResponseMap</a:t>
            </a:r>
            <a:r>
              <a:rPr lang="en-US" sz="1200" dirty="0" smtClean="0">
                <a:solidFill>
                  <a:srgbClr val="000000"/>
                </a:solidFill>
                <a:latin typeface="Consolas"/>
              </a:rPr>
              <a:t>[req.url]);</a:t>
            </a:r>
          </a:p>
          <a:p>
            <a:r>
              <a:rPr lang="en-US" sz="1200" dirty="0" smtClean="0">
                <a:solidFill>
                  <a:srgbClr val="000000"/>
                </a:solidFill>
                <a:latin typeface="Consolas"/>
              </a:rPr>
              <a:t>    } </a:t>
            </a:r>
            <a:r>
              <a:rPr lang="en-US" sz="1200" dirty="0" smtClean="0">
                <a:solidFill>
                  <a:srgbClr val="0000FF"/>
                </a:solidFill>
                <a:latin typeface="Consolas"/>
              </a:rPr>
              <a:t>else</a:t>
            </a:r>
            <a:r>
              <a:rPr lang="en-US" sz="1200" dirty="0" smtClean="0">
                <a:solidFill>
                  <a:srgbClr val="000000"/>
                </a:solidFill>
                <a:latin typeface="Consolas"/>
              </a:rPr>
              <a:t> {</a:t>
            </a:r>
          </a:p>
          <a:p>
            <a:r>
              <a:rPr lang="en-US" sz="1200" dirty="0" smtClean="0">
                <a:solidFill>
                  <a:srgbClr val="000000"/>
                </a:solidFill>
                <a:latin typeface="Consolas"/>
              </a:rPr>
              <a:t>    </a:t>
            </a:r>
            <a:r>
              <a:rPr lang="en-US" sz="1200" dirty="0" err="1" smtClean="0">
                <a:solidFill>
                  <a:srgbClr val="000000"/>
                </a:solidFill>
                <a:latin typeface="Consolas"/>
              </a:rPr>
              <a:t>res.end</a:t>
            </a:r>
            <a:r>
              <a:rPr lang="en-US" sz="1200" dirty="0" smtClean="0">
                <a:solidFill>
                  <a:srgbClr val="000000"/>
                </a:solidFill>
                <a:latin typeface="Consolas"/>
              </a:rPr>
              <a:t>(</a:t>
            </a:r>
            <a:r>
              <a:rPr lang="en-US" sz="1200" dirty="0" smtClean="0">
                <a:solidFill>
                  <a:srgbClr val="A31515"/>
                </a:solidFill>
                <a:latin typeface="Consolas"/>
              </a:rPr>
              <a:t>"&lt;h1&gt;Welcome!&lt;/h1&gt;"</a:t>
            </a:r>
            <a:r>
              <a:rPr lang="en-US" sz="1200" dirty="0" smtClean="0">
                <a:solidFill>
                  <a:srgbClr val="000000"/>
                </a:solidFill>
                <a:latin typeface="Consolas"/>
              </a:rPr>
              <a:t>);</a:t>
            </a:r>
          </a:p>
          <a:p>
            <a:r>
              <a:rPr lang="en-US" sz="1200" dirty="0" smtClean="0">
                <a:solidFill>
                  <a:srgbClr val="000000"/>
                </a:solidFill>
                <a:latin typeface="Consolas"/>
              </a:rPr>
              <a:t>}</a:t>
            </a:r>
          </a:p>
          <a:p>
            <a:r>
              <a:rPr lang="en-US" sz="1200" dirty="0" smtClean="0">
                <a:solidFill>
                  <a:srgbClr val="000000"/>
                </a:solidFill>
                <a:latin typeface="Consolas"/>
              </a:rPr>
              <a:t>});</a:t>
            </a:r>
          </a:p>
        </p:txBody>
      </p:sp>
      <p:pic>
        <p:nvPicPr>
          <p:cNvPr id="96258" name="Picture 2"/>
          <p:cNvPicPr>
            <a:picLocks noChangeAspect="1" noChangeArrowheads="1"/>
          </p:cNvPicPr>
          <p:nvPr/>
        </p:nvPicPr>
        <p:blipFill>
          <a:blip r:embed="rId2" cstate="print"/>
          <a:srcRect/>
          <a:stretch>
            <a:fillRect/>
          </a:stretch>
        </p:blipFill>
        <p:spPr bwMode="auto">
          <a:xfrm>
            <a:off x="5181600" y="4343400"/>
            <a:ext cx="3474720" cy="101727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Serve Static Files</a:t>
            </a:r>
            <a:endParaRPr lang="en-US" dirty="0"/>
          </a:p>
        </p:txBody>
      </p:sp>
      <p:sp>
        <p:nvSpPr>
          <p:cNvPr id="3" name="Content Placeholder 2"/>
          <p:cNvSpPr>
            <a:spLocks noGrp="1"/>
          </p:cNvSpPr>
          <p:nvPr>
            <p:ph idx="1"/>
          </p:nvPr>
        </p:nvSpPr>
        <p:spPr/>
        <p:txBody>
          <a:bodyPr/>
          <a:lstStyle/>
          <a:p>
            <a:r>
              <a:rPr lang="en-US" sz="2000" dirty="0" err="1" smtClean="0">
                <a:latin typeface="Consolas" pitchFamily="49" charset="0"/>
              </a:rPr>
              <a:t>npm</a:t>
            </a:r>
            <a:r>
              <a:rPr lang="en-US" sz="2000" dirty="0" smtClean="0">
                <a:latin typeface="Consolas" pitchFamily="49" charset="0"/>
              </a:rPr>
              <a:t> install </a:t>
            </a:r>
            <a:r>
              <a:rPr lang="en-US" sz="2000" dirty="0" err="1" smtClean="0">
                <a:latin typeface="Consolas" pitchFamily="49" charset="0"/>
              </a:rPr>
              <a:t>fs</a:t>
            </a:r>
            <a:r>
              <a:rPr lang="en-US" sz="2000" dirty="0" smtClean="0">
                <a:latin typeface="Consolas" pitchFamily="49" charset="0"/>
              </a:rPr>
              <a:t> –save</a:t>
            </a:r>
          </a:p>
          <a:p>
            <a:r>
              <a:rPr lang="en-US" sz="2000" b="1" i="1" dirty="0" smtClean="0">
                <a:solidFill>
                  <a:srgbClr val="C00000"/>
                </a:solidFill>
                <a:latin typeface="Consolas" pitchFamily="49" charset="0"/>
              </a:rPr>
              <a:t>See the “07 serving-static-files” folder for detail.</a:t>
            </a:r>
          </a:p>
          <a:p>
            <a:endParaRPr lang="en-US" sz="2000" dirty="0" smtClean="0">
              <a:latin typeface="Consolas" pitchFamily="49" charset="0"/>
            </a:endParaRPr>
          </a:p>
        </p:txBody>
      </p:sp>
      <p:sp>
        <p:nvSpPr>
          <p:cNvPr id="6" name="Rectangle 5"/>
          <p:cNvSpPr/>
          <p:nvPr/>
        </p:nvSpPr>
        <p:spPr>
          <a:xfrm>
            <a:off x="533400" y="2755880"/>
            <a:ext cx="7772400" cy="3416320"/>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800" dirty="0" smtClean="0">
                <a:solidFill>
                  <a:srgbClr val="0000FF"/>
                </a:solidFill>
                <a:latin typeface="Consolas"/>
              </a:rPr>
              <a:t>const</a:t>
            </a:r>
            <a:r>
              <a:rPr lang="en-US" sz="800" dirty="0" smtClean="0">
                <a:solidFill>
                  <a:srgbClr val="000000"/>
                </a:solidFill>
                <a:latin typeface="Consolas"/>
              </a:rPr>
              <a:t> </a:t>
            </a:r>
            <a:r>
              <a:rPr lang="en-US" sz="800" dirty="0" err="1" smtClean="0">
                <a:solidFill>
                  <a:srgbClr val="000000"/>
                </a:solidFill>
                <a:latin typeface="Consolas"/>
              </a:rPr>
              <a:t>routeMap</a:t>
            </a:r>
            <a:r>
              <a:rPr lang="en-US" sz="800" dirty="0" smtClean="0">
                <a:solidFill>
                  <a:srgbClr val="000000"/>
                </a:solidFill>
                <a:latin typeface="Consolas"/>
              </a:rPr>
              <a:t> = {</a:t>
            </a:r>
          </a:p>
          <a:p>
            <a:r>
              <a:rPr lang="en-US" sz="800" dirty="0" smtClean="0">
                <a:solidFill>
                  <a:srgbClr val="000000"/>
                </a:solidFill>
                <a:latin typeface="Consolas"/>
              </a:rPr>
              <a:t>    </a:t>
            </a:r>
            <a:r>
              <a:rPr lang="en-US" sz="800" dirty="0" smtClean="0">
                <a:solidFill>
                  <a:srgbClr val="A31515"/>
                </a:solidFill>
                <a:latin typeface="Consolas"/>
              </a:rPr>
              <a:t>"/"</a:t>
            </a:r>
            <a:r>
              <a:rPr lang="en-US" sz="800" dirty="0" smtClean="0">
                <a:solidFill>
                  <a:srgbClr val="000000"/>
                </a:solidFill>
                <a:latin typeface="Consolas"/>
              </a:rPr>
              <a:t>: </a:t>
            </a:r>
            <a:r>
              <a:rPr lang="en-US" sz="800" dirty="0" smtClean="0">
                <a:solidFill>
                  <a:srgbClr val="A31515"/>
                </a:solidFill>
                <a:latin typeface="Consolas"/>
              </a:rPr>
              <a:t>"views/index.html"</a:t>
            </a:r>
            <a:endParaRPr lang="en-US" sz="800" dirty="0" smtClean="0">
              <a:solidFill>
                <a:srgbClr val="000000"/>
              </a:solidFill>
              <a:latin typeface="Consolas"/>
            </a:endParaRPr>
          </a:p>
          <a:p>
            <a:r>
              <a:rPr lang="en-US" sz="800" dirty="0" smtClean="0">
                <a:solidFill>
                  <a:srgbClr val="000000"/>
                </a:solidFill>
                <a:latin typeface="Consolas"/>
              </a:rPr>
              <a:t>};</a:t>
            </a:r>
          </a:p>
          <a:p>
            <a:r>
              <a:rPr lang="en-US" sz="800" dirty="0" smtClean="0">
                <a:solidFill>
                  <a:srgbClr val="000000"/>
                </a:solidFill>
                <a:latin typeface="Consolas"/>
              </a:rPr>
              <a:t>http</a:t>
            </a:r>
          </a:p>
          <a:p>
            <a:r>
              <a:rPr lang="en-US" sz="800" dirty="0" smtClean="0">
                <a:solidFill>
                  <a:srgbClr val="000000"/>
                </a:solidFill>
                <a:latin typeface="Consolas"/>
              </a:rPr>
              <a:t>.</a:t>
            </a:r>
            <a:r>
              <a:rPr lang="en-US" sz="800" dirty="0" err="1" smtClean="0">
                <a:solidFill>
                  <a:srgbClr val="000000"/>
                </a:solidFill>
                <a:latin typeface="Consolas"/>
              </a:rPr>
              <a:t>createServer</a:t>
            </a:r>
            <a:r>
              <a:rPr lang="en-US" sz="800" dirty="0" smtClean="0">
                <a:solidFill>
                  <a:srgbClr val="000000"/>
                </a:solidFill>
                <a:latin typeface="Consolas"/>
              </a:rPr>
              <a:t>((</a:t>
            </a:r>
            <a:r>
              <a:rPr lang="en-US" sz="800" dirty="0" err="1" smtClean="0">
                <a:solidFill>
                  <a:srgbClr val="000000"/>
                </a:solidFill>
                <a:latin typeface="Consolas"/>
              </a:rPr>
              <a:t>req</a:t>
            </a:r>
            <a:r>
              <a:rPr lang="en-US" sz="800" dirty="0" smtClean="0">
                <a:solidFill>
                  <a:srgbClr val="000000"/>
                </a:solidFill>
                <a:latin typeface="Consolas"/>
              </a:rPr>
              <a:t>, res) =&gt; {</a:t>
            </a:r>
          </a:p>
          <a:p>
            <a:r>
              <a:rPr lang="en-US" sz="800" dirty="0" smtClean="0">
                <a:solidFill>
                  <a:srgbClr val="000000"/>
                </a:solidFill>
                <a:latin typeface="Consolas"/>
              </a:rPr>
              <a:t>    </a:t>
            </a:r>
            <a:r>
              <a:rPr lang="en-US" sz="800" dirty="0" err="1" smtClean="0">
                <a:solidFill>
                  <a:srgbClr val="000000"/>
                </a:solidFill>
                <a:latin typeface="Consolas"/>
              </a:rPr>
              <a:t>res.writeHead</a:t>
            </a:r>
            <a:r>
              <a:rPr lang="en-US" sz="800" dirty="0" smtClean="0">
                <a:solidFill>
                  <a:srgbClr val="000000"/>
                </a:solidFill>
                <a:latin typeface="Consolas"/>
              </a:rPr>
              <a:t>(</a:t>
            </a:r>
            <a:r>
              <a:rPr lang="en-US" sz="800" dirty="0" err="1" smtClean="0">
                <a:solidFill>
                  <a:srgbClr val="000000"/>
                </a:solidFill>
                <a:latin typeface="Consolas"/>
              </a:rPr>
              <a:t>httpStatus.OK</a:t>
            </a:r>
            <a:r>
              <a:rPr lang="en-US" sz="800" dirty="0" smtClean="0">
                <a:solidFill>
                  <a:srgbClr val="000000"/>
                </a:solidFill>
                <a:latin typeface="Consolas"/>
              </a:rPr>
              <a:t>, {</a:t>
            </a:r>
          </a:p>
          <a:p>
            <a:r>
              <a:rPr lang="en-US" sz="800" dirty="0" smtClean="0">
                <a:solidFill>
                  <a:srgbClr val="000000"/>
                </a:solidFill>
                <a:latin typeface="Consolas"/>
              </a:rPr>
              <a:t>        </a:t>
            </a:r>
            <a:r>
              <a:rPr lang="en-US" sz="800" dirty="0" smtClean="0">
                <a:solidFill>
                  <a:srgbClr val="A31515"/>
                </a:solidFill>
                <a:latin typeface="Consolas"/>
              </a:rPr>
              <a:t>"Content-Type"</a:t>
            </a:r>
            <a:r>
              <a:rPr lang="en-US" sz="800" dirty="0" smtClean="0">
                <a:solidFill>
                  <a:srgbClr val="000000"/>
                </a:solidFill>
                <a:latin typeface="Consolas"/>
              </a:rPr>
              <a:t>: </a:t>
            </a:r>
            <a:r>
              <a:rPr lang="en-US" sz="800" dirty="0" smtClean="0">
                <a:solidFill>
                  <a:srgbClr val="A31515"/>
                </a:solidFill>
                <a:latin typeface="Consolas"/>
              </a:rPr>
              <a:t>"text/html"</a:t>
            </a:r>
            <a:endParaRPr lang="en-US" sz="800" dirty="0" smtClean="0">
              <a:solidFill>
                <a:srgbClr val="000000"/>
              </a:solidFill>
              <a:latin typeface="Consolas"/>
            </a:endParaRPr>
          </a:p>
          <a:p>
            <a:r>
              <a:rPr lang="en-US" sz="800" dirty="0" smtClean="0">
                <a:solidFill>
                  <a:srgbClr val="000000"/>
                </a:solidFill>
                <a:latin typeface="Consolas"/>
              </a:rPr>
              <a:t>    });</a:t>
            </a:r>
          </a:p>
          <a:p>
            <a:r>
              <a:rPr lang="en-US" sz="800" dirty="0" smtClean="0">
                <a:solidFill>
                  <a:srgbClr val="000000"/>
                </a:solidFill>
                <a:latin typeface="Consolas"/>
              </a:rPr>
              <a:t>    </a:t>
            </a:r>
            <a:r>
              <a:rPr lang="en-US" sz="800" dirty="0" smtClean="0">
                <a:solidFill>
                  <a:srgbClr val="0000FF"/>
                </a:solidFill>
                <a:latin typeface="Consolas"/>
              </a:rPr>
              <a:t>if</a:t>
            </a:r>
            <a:r>
              <a:rPr lang="en-US" sz="800" dirty="0" smtClean="0">
                <a:solidFill>
                  <a:srgbClr val="000000"/>
                </a:solidFill>
                <a:latin typeface="Consolas"/>
              </a:rPr>
              <a:t> (</a:t>
            </a:r>
            <a:r>
              <a:rPr lang="en-US" sz="800" dirty="0" err="1" smtClean="0">
                <a:solidFill>
                  <a:srgbClr val="000000"/>
                </a:solidFill>
                <a:latin typeface="Consolas"/>
              </a:rPr>
              <a:t>routeMap</a:t>
            </a:r>
            <a:r>
              <a:rPr lang="en-US" sz="800" dirty="0" smtClean="0">
                <a:solidFill>
                  <a:srgbClr val="000000"/>
                </a:solidFill>
                <a:latin typeface="Consolas"/>
              </a:rPr>
              <a:t>[req.url]) {</a:t>
            </a:r>
          </a:p>
          <a:p>
            <a:r>
              <a:rPr lang="en-US" sz="800" dirty="0" smtClean="0">
                <a:solidFill>
                  <a:srgbClr val="000000"/>
                </a:solidFill>
                <a:latin typeface="Consolas"/>
              </a:rPr>
              <a:t>        </a:t>
            </a:r>
            <a:r>
              <a:rPr lang="en-US" sz="800" dirty="0" err="1" smtClean="0">
                <a:solidFill>
                  <a:srgbClr val="000000"/>
                </a:solidFill>
                <a:latin typeface="Consolas"/>
              </a:rPr>
              <a:t>fs.readFile</a:t>
            </a:r>
            <a:r>
              <a:rPr lang="en-US" sz="800" dirty="0" smtClean="0">
                <a:solidFill>
                  <a:srgbClr val="000000"/>
                </a:solidFill>
                <a:latin typeface="Consolas"/>
              </a:rPr>
              <a:t>(</a:t>
            </a:r>
            <a:r>
              <a:rPr lang="en-US" sz="800" dirty="0" err="1" smtClean="0">
                <a:solidFill>
                  <a:srgbClr val="000000"/>
                </a:solidFill>
                <a:latin typeface="Consolas"/>
              </a:rPr>
              <a:t>routeMap</a:t>
            </a:r>
            <a:r>
              <a:rPr lang="en-US" sz="800" dirty="0" smtClean="0">
                <a:solidFill>
                  <a:srgbClr val="000000"/>
                </a:solidFill>
                <a:latin typeface="Consolas"/>
              </a:rPr>
              <a:t>[req.url], (error, data) =&gt; {</a:t>
            </a:r>
          </a:p>
          <a:p>
            <a:r>
              <a:rPr lang="en-US" sz="800" dirty="0" smtClean="0">
                <a:solidFill>
                  <a:srgbClr val="000000"/>
                </a:solidFill>
                <a:latin typeface="Consolas"/>
              </a:rPr>
              <a:t>            </a:t>
            </a:r>
            <a:r>
              <a:rPr lang="en-US" sz="800" dirty="0" smtClean="0">
                <a:solidFill>
                  <a:srgbClr val="0000FF"/>
                </a:solidFill>
                <a:latin typeface="Consolas"/>
              </a:rPr>
              <a:t>if</a:t>
            </a:r>
            <a:r>
              <a:rPr lang="en-US" sz="800" dirty="0" smtClean="0">
                <a:solidFill>
                  <a:srgbClr val="000000"/>
                </a:solidFill>
                <a:latin typeface="Consolas"/>
              </a:rPr>
              <a:t> (error) {</a:t>
            </a:r>
          </a:p>
          <a:p>
            <a:r>
              <a:rPr lang="en-US" sz="800" dirty="0" smtClean="0">
                <a:solidFill>
                  <a:srgbClr val="000000"/>
                </a:solidFill>
                <a:latin typeface="Consolas"/>
              </a:rPr>
              <a:t>                </a:t>
            </a:r>
            <a:r>
              <a:rPr lang="en-US" sz="800" dirty="0" err="1" smtClean="0">
                <a:solidFill>
                  <a:srgbClr val="000000"/>
                </a:solidFill>
                <a:latin typeface="Consolas"/>
              </a:rPr>
              <a:t>res.writeHead</a:t>
            </a:r>
            <a:r>
              <a:rPr lang="en-US" sz="800" dirty="0" smtClean="0">
                <a:solidFill>
                  <a:srgbClr val="000000"/>
                </a:solidFill>
                <a:latin typeface="Consolas"/>
              </a:rPr>
              <a:t>(</a:t>
            </a:r>
            <a:r>
              <a:rPr lang="en-US" sz="800" dirty="0" err="1" smtClean="0">
                <a:solidFill>
                  <a:srgbClr val="000000"/>
                </a:solidFill>
                <a:latin typeface="Consolas"/>
              </a:rPr>
              <a:t>httpStatus.NOT_FOUND</a:t>
            </a:r>
            <a:r>
              <a:rPr lang="en-US" sz="800" dirty="0" smtClean="0">
                <a:solidFill>
                  <a:srgbClr val="000000"/>
                </a:solidFill>
                <a:latin typeface="Consolas"/>
              </a:rPr>
              <a:t>);</a:t>
            </a:r>
          </a:p>
          <a:p>
            <a:r>
              <a:rPr lang="en-US" sz="800" dirty="0" smtClean="0">
                <a:solidFill>
                  <a:srgbClr val="000000"/>
                </a:solidFill>
                <a:latin typeface="Consolas"/>
              </a:rPr>
              <a:t>                </a:t>
            </a:r>
            <a:r>
              <a:rPr lang="en-US" sz="800" dirty="0" err="1" smtClean="0">
                <a:solidFill>
                  <a:srgbClr val="000000"/>
                </a:solidFill>
                <a:latin typeface="Consolas"/>
              </a:rPr>
              <a:t>res.write</a:t>
            </a:r>
            <a:r>
              <a:rPr lang="en-US" sz="800" dirty="0" smtClean="0">
                <a:solidFill>
                  <a:srgbClr val="000000"/>
                </a:solidFill>
                <a:latin typeface="Consolas"/>
              </a:rPr>
              <a:t>(</a:t>
            </a:r>
            <a:r>
              <a:rPr lang="en-US" sz="800" dirty="0" smtClean="0">
                <a:solidFill>
                  <a:srgbClr val="A31515"/>
                </a:solidFill>
                <a:latin typeface="Consolas"/>
              </a:rPr>
              <a:t>"&lt;h1&gt;FILE NOT FOUND&lt;/h1&gt;"</a:t>
            </a:r>
            <a:r>
              <a:rPr lang="en-US" sz="800" dirty="0" smtClean="0">
                <a:solidFill>
                  <a:srgbClr val="000000"/>
                </a:solidFill>
                <a:latin typeface="Consolas"/>
              </a:rPr>
              <a:t>);</a:t>
            </a:r>
          </a:p>
          <a:p>
            <a:r>
              <a:rPr lang="en-US" sz="800" dirty="0" smtClean="0">
                <a:solidFill>
                  <a:srgbClr val="000000"/>
                </a:solidFill>
                <a:latin typeface="Consolas"/>
              </a:rPr>
              <a:t>            } </a:t>
            </a:r>
            <a:r>
              <a:rPr lang="en-US" sz="800" dirty="0" smtClean="0">
                <a:solidFill>
                  <a:srgbClr val="0000FF"/>
                </a:solidFill>
                <a:latin typeface="Consolas"/>
              </a:rPr>
              <a:t>else</a:t>
            </a:r>
            <a:r>
              <a:rPr lang="en-US" sz="800" dirty="0" smtClean="0">
                <a:solidFill>
                  <a:srgbClr val="000000"/>
                </a:solidFill>
                <a:latin typeface="Consolas"/>
              </a:rPr>
              <a:t> {</a:t>
            </a:r>
          </a:p>
          <a:p>
            <a:r>
              <a:rPr lang="en-US" sz="800" dirty="0" smtClean="0">
                <a:solidFill>
                  <a:srgbClr val="000000"/>
                </a:solidFill>
                <a:latin typeface="Consolas"/>
              </a:rPr>
              <a:t>                </a:t>
            </a:r>
            <a:r>
              <a:rPr lang="en-US" sz="800" dirty="0" err="1" smtClean="0">
                <a:solidFill>
                  <a:srgbClr val="000000"/>
                </a:solidFill>
                <a:latin typeface="Consolas"/>
              </a:rPr>
              <a:t>res.writeHead</a:t>
            </a:r>
            <a:r>
              <a:rPr lang="en-US" sz="800" dirty="0" smtClean="0">
                <a:solidFill>
                  <a:srgbClr val="000000"/>
                </a:solidFill>
                <a:latin typeface="Consolas"/>
              </a:rPr>
              <a:t>(</a:t>
            </a:r>
            <a:r>
              <a:rPr lang="en-US" sz="800" dirty="0" err="1" smtClean="0">
                <a:solidFill>
                  <a:srgbClr val="000000"/>
                </a:solidFill>
                <a:latin typeface="Consolas"/>
              </a:rPr>
              <a:t>httpStatus.OK</a:t>
            </a:r>
            <a:r>
              <a:rPr lang="en-US" sz="800" dirty="0" smtClean="0">
                <a:solidFill>
                  <a:srgbClr val="000000"/>
                </a:solidFill>
                <a:latin typeface="Consolas"/>
              </a:rPr>
              <a:t>, {</a:t>
            </a:r>
          </a:p>
          <a:p>
            <a:r>
              <a:rPr lang="en-US" sz="800" dirty="0" smtClean="0">
                <a:solidFill>
                  <a:srgbClr val="000000"/>
                </a:solidFill>
                <a:latin typeface="Consolas"/>
              </a:rPr>
              <a:t>                    </a:t>
            </a:r>
            <a:r>
              <a:rPr lang="en-US" sz="800" dirty="0" smtClean="0">
                <a:solidFill>
                  <a:srgbClr val="A31515"/>
                </a:solidFill>
                <a:latin typeface="Consolas"/>
              </a:rPr>
              <a:t>"Content-Type"</a:t>
            </a:r>
            <a:r>
              <a:rPr lang="en-US" sz="800" dirty="0" smtClean="0">
                <a:solidFill>
                  <a:srgbClr val="000000"/>
                </a:solidFill>
                <a:latin typeface="Consolas"/>
              </a:rPr>
              <a:t>: </a:t>
            </a:r>
            <a:r>
              <a:rPr lang="en-US" sz="800" dirty="0" smtClean="0">
                <a:solidFill>
                  <a:srgbClr val="A31515"/>
                </a:solidFill>
                <a:latin typeface="Consolas"/>
              </a:rPr>
              <a:t>"text/html"</a:t>
            </a:r>
            <a:endParaRPr lang="en-US" sz="800" dirty="0" smtClean="0">
              <a:solidFill>
                <a:srgbClr val="000000"/>
              </a:solidFill>
              <a:latin typeface="Consolas"/>
            </a:endParaRPr>
          </a:p>
          <a:p>
            <a:r>
              <a:rPr lang="en-US" sz="800" dirty="0" smtClean="0">
                <a:solidFill>
                  <a:srgbClr val="000000"/>
                </a:solidFill>
                <a:latin typeface="Consolas"/>
              </a:rPr>
              <a:t>                });</a:t>
            </a:r>
          </a:p>
          <a:p>
            <a:r>
              <a:rPr lang="en-US" sz="800" dirty="0" smtClean="0">
                <a:solidFill>
                  <a:srgbClr val="000000"/>
                </a:solidFill>
                <a:latin typeface="Consolas"/>
              </a:rPr>
              <a:t>                </a:t>
            </a:r>
            <a:r>
              <a:rPr lang="en-US" sz="800" dirty="0" err="1" smtClean="0">
                <a:solidFill>
                  <a:srgbClr val="000000"/>
                </a:solidFill>
                <a:latin typeface="Consolas"/>
              </a:rPr>
              <a:t>res.write</a:t>
            </a:r>
            <a:r>
              <a:rPr lang="en-US" sz="800" dirty="0" smtClean="0">
                <a:solidFill>
                  <a:srgbClr val="000000"/>
                </a:solidFill>
                <a:latin typeface="Consolas"/>
              </a:rPr>
              <a:t>(data);</a:t>
            </a:r>
          </a:p>
          <a:p>
            <a:r>
              <a:rPr lang="en-US" sz="800" dirty="0" smtClean="0">
                <a:solidFill>
                  <a:srgbClr val="000000"/>
                </a:solidFill>
                <a:latin typeface="Consolas"/>
              </a:rPr>
              <a:t>            }</a:t>
            </a:r>
          </a:p>
          <a:p>
            <a:endParaRPr lang="en-US" sz="800" dirty="0" smtClean="0">
              <a:solidFill>
                <a:srgbClr val="000000"/>
              </a:solidFill>
              <a:latin typeface="Consolas"/>
            </a:endParaRPr>
          </a:p>
          <a:p>
            <a:r>
              <a:rPr lang="en-US" sz="800" dirty="0" smtClean="0">
                <a:solidFill>
                  <a:srgbClr val="000000"/>
                </a:solidFill>
                <a:latin typeface="Consolas"/>
              </a:rPr>
              <a:t>            </a:t>
            </a:r>
            <a:r>
              <a:rPr lang="en-US" sz="800" dirty="0" err="1" smtClean="0">
                <a:solidFill>
                  <a:srgbClr val="000000"/>
                </a:solidFill>
                <a:latin typeface="Consolas"/>
              </a:rPr>
              <a:t>res.end</a:t>
            </a:r>
            <a:r>
              <a:rPr lang="en-US" sz="800" dirty="0" smtClean="0">
                <a:solidFill>
                  <a:srgbClr val="000000"/>
                </a:solidFill>
                <a:latin typeface="Consolas"/>
              </a:rPr>
              <a:t>();</a:t>
            </a:r>
          </a:p>
          <a:p>
            <a:r>
              <a:rPr lang="en-US" sz="800" dirty="0" smtClean="0">
                <a:solidFill>
                  <a:srgbClr val="000000"/>
                </a:solidFill>
                <a:latin typeface="Consolas"/>
              </a:rPr>
              <a:t>        });</a:t>
            </a:r>
          </a:p>
          <a:p>
            <a:r>
              <a:rPr lang="en-US" sz="800" dirty="0" smtClean="0">
                <a:solidFill>
                  <a:srgbClr val="000000"/>
                </a:solidFill>
                <a:latin typeface="Consolas"/>
              </a:rPr>
              <a:t>    } </a:t>
            </a:r>
            <a:r>
              <a:rPr lang="en-US" sz="800" dirty="0" smtClean="0">
                <a:solidFill>
                  <a:srgbClr val="0000FF"/>
                </a:solidFill>
                <a:latin typeface="Consolas"/>
              </a:rPr>
              <a:t>else</a:t>
            </a:r>
            <a:r>
              <a:rPr lang="en-US" sz="800" dirty="0" smtClean="0">
                <a:solidFill>
                  <a:srgbClr val="000000"/>
                </a:solidFill>
                <a:latin typeface="Consolas"/>
              </a:rPr>
              <a:t> {</a:t>
            </a:r>
          </a:p>
          <a:p>
            <a:r>
              <a:rPr lang="en-US" sz="800" dirty="0" smtClean="0">
                <a:solidFill>
                  <a:srgbClr val="000000"/>
                </a:solidFill>
                <a:latin typeface="Consolas"/>
              </a:rPr>
              <a:t>    </a:t>
            </a:r>
            <a:r>
              <a:rPr lang="en-US" sz="800" dirty="0" err="1" smtClean="0">
                <a:solidFill>
                  <a:srgbClr val="000000"/>
                </a:solidFill>
                <a:latin typeface="Consolas"/>
              </a:rPr>
              <a:t>res.end</a:t>
            </a:r>
            <a:r>
              <a:rPr lang="en-US" sz="800" dirty="0" smtClean="0">
                <a:solidFill>
                  <a:srgbClr val="000000"/>
                </a:solidFill>
                <a:latin typeface="Consolas"/>
              </a:rPr>
              <a:t>(</a:t>
            </a:r>
            <a:r>
              <a:rPr lang="en-US" sz="800" dirty="0" smtClean="0">
                <a:solidFill>
                  <a:srgbClr val="A31515"/>
                </a:solidFill>
                <a:latin typeface="Consolas"/>
              </a:rPr>
              <a:t>"&lt;h1&gt;Sorry, not found.&lt;/h1&gt;"</a:t>
            </a:r>
            <a:r>
              <a:rPr lang="en-US" sz="800" dirty="0" smtClean="0">
                <a:solidFill>
                  <a:srgbClr val="000000"/>
                </a:solidFill>
                <a:latin typeface="Consolas"/>
              </a:rPr>
              <a:t>);</a:t>
            </a:r>
          </a:p>
          <a:p>
            <a:r>
              <a:rPr lang="en-US" sz="800" dirty="0" smtClean="0">
                <a:solidFill>
                  <a:srgbClr val="000000"/>
                </a:solidFill>
                <a:latin typeface="Consolas"/>
              </a:rPr>
              <a:t>}</a:t>
            </a:r>
          </a:p>
          <a:p>
            <a:r>
              <a:rPr lang="en-US" sz="800" dirty="0" smtClean="0">
                <a:solidFill>
                  <a:srgbClr val="000000"/>
                </a:solidFill>
                <a:latin typeface="Consolas"/>
              </a:rPr>
              <a:t>})</a:t>
            </a:r>
          </a:p>
          <a:p>
            <a:r>
              <a:rPr lang="en-US" sz="800" dirty="0" smtClean="0">
                <a:solidFill>
                  <a:srgbClr val="000000"/>
                </a:solidFill>
                <a:latin typeface="Consolas"/>
              </a:rPr>
              <a:t>.listen(port);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Serve Assets</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npm</a:t>
            </a:r>
            <a:r>
              <a:rPr lang="en-US" sz="2200" dirty="0" smtClean="0">
                <a:latin typeface="Consolas" pitchFamily="49" charset="0"/>
              </a:rPr>
              <a:t> install </a:t>
            </a:r>
            <a:r>
              <a:rPr lang="en-US" sz="2200" dirty="0" err="1" smtClean="0">
                <a:latin typeface="Consolas" pitchFamily="49" charset="0"/>
              </a:rPr>
              <a:t>fs</a:t>
            </a:r>
            <a:r>
              <a:rPr lang="en-US" sz="2200" dirty="0" smtClean="0">
                <a:latin typeface="Consolas" pitchFamily="49" charset="0"/>
              </a:rPr>
              <a:t> –save</a:t>
            </a:r>
          </a:p>
          <a:p>
            <a:r>
              <a:rPr lang="en-US" sz="2200" b="1" i="1" dirty="0" smtClean="0">
                <a:solidFill>
                  <a:srgbClr val="C00000"/>
                </a:solidFill>
                <a:latin typeface="Consolas" pitchFamily="49" charset="0"/>
              </a:rPr>
              <a:t>See the “08 serving-assets” folder for detail.</a:t>
            </a:r>
          </a:p>
          <a:p>
            <a:endParaRPr lang="en-US" sz="2200" dirty="0" smtClean="0">
              <a:latin typeface="Consolas" pitchFamily="49" charset="0"/>
            </a:endParaRPr>
          </a:p>
        </p:txBody>
      </p:sp>
      <p:sp>
        <p:nvSpPr>
          <p:cNvPr id="6" name="Rectangle 5"/>
          <p:cNvSpPr/>
          <p:nvPr/>
        </p:nvSpPr>
        <p:spPr>
          <a:xfrm>
            <a:off x="533400" y="2755880"/>
            <a:ext cx="7772400" cy="3600986"/>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600" dirty="0" smtClean="0">
                <a:solidFill>
                  <a:srgbClr val="000000"/>
                </a:solidFill>
                <a:latin typeface="Consolas"/>
              </a:rPr>
              <a:t>http</a:t>
            </a:r>
          </a:p>
          <a:p>
            <a:r>
              <a:rPr lang="en-US" sz="600" dirty="0" smtClean="0">
                <a:solidFill>
                  <a:srgbClr val="000000"/>
                </a:solidFill>
                <a:latin typeface="Consolas"/>
              </a:rPr>
              <a:t>.</a:t>
            </a:r>
            <a:r>
              <a:rPr lang="en-US" sz="600" dirty="0" err="1" smtClean="0">
                <a:solidFill>
                  <a:srgbClr val="000000"/>
                </a:solidFill>
                <a:latin typeface="Consolas"/>
              </a:rPr>
              <a:t>createServer</a:t>
            </a:r>
            <a:r>
              <a:rPr lang="en-US" sz="600" dirty="0" smtClean="0">
                <a:solidFill>
                  <a:srgbClr val="000000"/>
                </a:solidFill>
                <a:latin typeface="Consolas"/>
              </a:rPr>
              <a:t>((</a:t>
            </a:r>
            <a:r>
              <a:rPr lang="en-US" sz="600" dirty="0" err="1" smtClean="0">
                <a:solidFill>
                  <a:srgbClr val="000000"/>
                </a:solidFill>
                <a:latin typeface="Consolas"/>
              </a:rPr>
              <a:t>req</a:t>
            </a:r>
            <a:r>
              <a:rPr lang="en-US" sz="600" dirty="0" smtClean="0">
                <a:solidFill>
                  <a:srgbClr val="000000"/>
                </a:solidFill>
                <a:latin typeface="Consolas"/>
              </a:rPr>
              <a:t>, res) =&gt; {</a:t>
            </a:r>
          </a:p>
          <a:p>
            <a:r>
              <a:rPr lang="en-US" sz="600" dirty="0" smtClean="0">
                <a:solidFill>
                  <a:srgbClr val="000000"/>
                </a:solidFill>
                <a:latin typeface="Consolas"/>
              </a:rPr>
              <a:t>    </a:t>
            </a:r>
            <a:r>
              <a:rPr lang="en-US" sz="600" dirty="0" smtClean="0">
                <a:solidFill>
                  <a:srgbClr val="0000FF"/>
                </a:solidFill>
                <a:latin typeface="Consolas"/>
              </a:rPr>
              <a:t>let</a:t>
            </a:r>
            <a:r>
              <a:rPr lang="en-US" sz="600" dirty="0" smtClean="0">
                <a:solidFill>
                  <a:srgbClr val="000000"/>
                </a:solidFill>
                <a:latin typeface="Consolas"/>
              </a:rPr>
              <a:t> </a:t>
            </a:r>
            <a:r>
              <a:rPr lang="en-US" sz="600" dirty="0" err="1" smtClean="0">
                <a:solidFill>
                  <a:srgbClr val="000000"/>
                </a:solidFill>
                <a:latin typeface="Consolas"/>
              </a:rPr>
              <a:t>url</a:t>
            </a:r>
            <a:r>
              <a:rPr lang="en-US" sz="600" dirty="0" smtClean="0">
                <a:solidFill>
                  <a:srgbClr val="000000"/>
                </a:solidFill>
                <a:latin typeface="Consolas"/>
              </a:rPr>
              <a:t> = req.url;</a:t>
            </a:r>
          </a:p>
          <a:p>
            <a:r>
              <a:rPr lang="en-US" sz="600" dirty="0" smtClean="0">
                <a:solidFill>
                  <a:srgbClr val="000000"/>
                </a:solidFill>
                <a:latin typeface="Consolas"/>
              </a:rPr>
              <a:t>    </a:t>
            </a:r>
            <a:r>
              <a:rPr lang="en-US" sz="600" dirty="0" smtClean="0">
                <a:solidFill>
                  <a:srgbClr val="0000FF"/>
                </a:solidFill>
                <a:latin typeface="Consolas"/>
              </a:rPr>
              <a:t>if</a:t>
            </a:r>
            <a:r>
              <a:rPr lang="en-US" sz="600" dirty="0" smtClean="0">
                <a:solidFill>
                  <a:srgbClr val="000000"/>
                </a:solidFill>
                <a:latin typeface="Consolas"/>
              </a:rPr>
              <a:t> (</a:t>
            </a:r>
            <a:r>
              <a:rPr lang="en-US" sz="600" dirty="0" err="1" smtClean="0">
                <a:solidFill>
                  <a:srgbClr val="000000"/>
                </a:solidFill>
                <a:latin typeface="Consolas"/>
              </a:rPr>
              <a:t>url.indexOf</a:t>
            </a:r>
            <a:r>
              <a:rPr lang="en-US" sz="600" dirty="0" smtClean="0">
                <a:solidFill>
                  <a:srgbClr val="000000"/>
                </a:solidFill>
                <a:latin typeface="Consolas"/>
              </a:rPr>
              <a:t>(</a:t>
            </a:r>
            <a:r>
              <a:rPr lang="en-US" sz="600" dirty="0" smtClean="0">
                <a:solidFill>
                  <a:srgbClr val="A31515"/>
                </a:solidFill>
                <a:latin typeface="Consolas"/>
              </a:rPr>
              <a:t>".html"</a:t>
            </a:r>
            <a:r>
              <a:rPr lang="en-US" sz="600" dirty="0" smtClean="0">
                <a:solidFill>
                  <a:srgbClr val="000000"/>
                </a:solidFill>
                <a:latin typeface="Consolas"/>
              </a:rPr>
              <a:t>) !== -1) {</a:t>
            </a:r>
          </a:p>
          <a:p>
            <a:r>
              <a:rPr lang="en-US" sz="600" dirty="0" smtClean="0">
                <a:solidFill>
                  <a:srgbClr val="000000"/>
                </a:solidFill>
                <a:latin typeface="Consolas"/>
              </a:rPr>
              <a:t>        </a:t>
            </a:r>
            <a:r>
              <a:rPr lang="en-US" sz="600" dirty="0" err="1" smtClean="0">
                <a:solidFill>
                  <a:srgbClr val="000000"/>
                </a:solidFill>
                <a:latin typeface="Consolas"/>
              </a:rPr>
              <a:t>res.writeHead</a:t>
            </a:r>
            <a:r>
              <a:rPr lang="en-US" sz="600" dirty="0" smtClean="0">
                <a:solidFill>
                  <a:srgbClr val="000000"/>
                </a:solidFill>
                <a:latin typeface="Consolas"/>
              </a:rPr>
              <a:t>(</a:t>
            </a:r>
            <a:r>
              <a:rPr lang="en-US" sz="600" dirty="0" err="1" smtClean="0">
                <a:solidFill>
                  <a:srgbClr val="000000"/>
                </a:solidFill>
                <a:latin typeface="Consolas"/>
              </a:rPr>
              <a:t>httpStatus.OK</a:t>
            </a:r>
            <a:r>
              <a:rPr lang="en-US" sz="600" dirty="0" smtClean="0">
                <a:solidFill>
                  <a:srgbClr val="000000"/>
                </a:solidFill>
                <a:latin typeface="Consolas"/>
              </a:rPr>
              <a:t>, {</a:t>
            </a:r>
          </a:p>
          <a:p>
            <a:r>
              <a:rPr lang="en-US" sz="600" dirty="0" smtClean="0">
                <a:solidFill>
                  <a:srgbClr val="000000"/>
                </a:solidFill>
                <a:latin typeface="Consolas"/>
              </a:rPr>
              <a:t>            </a:t>
            </a:r>
            <a:r>
              <a:rPr lang="en-US" sz="600" dirty="0" smtClean="0">
                <a:solidFill>
                  <a:srgbClr val="A31515"/>
                </a:solidFill>
                <a:latin typeface="Consolas"/>
              </a:rPr>
              <a:t>"Content-Type"</a:t>
            </a:r>
            <a:r>
              <a:rPr lang="en-US" sz="600" dirty="0" smtClean="0">
                <a:solidFill>
                  <a:srgbClr val="000000"/>
                </a:solidFill>
                <a:latin typeface="Consolas"/>
              </a:rPr>
              <a:t>: </a:t>
            </a:r>
            <a:r>
              <a:rPr lang="en-US" sz="600" dirty="0" smtClean="0">
                <a:solidFill>
                  <a:srgbClr val="A31515"/>
                </a:solidFill>
                <a:latin typeface="Consolas"/>
              </a:rPr>
              <a:t>"text/html"</a:t>
            </a:r>
            <a:endParaRPr lang="en-US" sz="600" dirty="0" smtClean="0">
              <a:solidFill>
                <a:srgbClr val="000000"/>
              </a:solidFill>
              <a:latin typeface="Consolas"/>
            </a:endParaRPr>
          </a:p>
          <a:p>
            <a:r>
              <a:rPr lang="en-US" sz="600" dirty="0" smtClean="0">
                <a:solidFill>
                  <a:srgbClr val="000000"/>
                </a:solidFill>
                <a:latin typeface="Consolas"/>
              </a:rPr>
              <a:t>        });</a:t>
            </a:r>
          </a:p>
          <a:p>
            <a:r>
              <a:rPr lang="en-US" sz="600" dirty="0" smtClean="0">
                <a:solidFill>
                  <a:srgbClr val="000000"/>
                </a:solidFill>
                <a:latin typeface="Consolas"/>
              </a:rPr>
              <a:t>        </a:t>
            </a:r>
            <a:r>
              <a:rPr lang="en-US" sz="600" dirty="0" err="1" smtClean="0">
                <a:solidFill>
                  <a:srgbClr val="000000"/>
                </a:solidFill>
                <a:latin typeface="Consolas"/>
              </a:rPr>
              <a:t>customReadFile</a:t>
            </a:r>
            <a:r>
              <a:rPr lang="en-US" sz="600" dirty="0" smtClean="0">
                <a:solidFill>
                  <a:srgbClr val="000000"/>
                </a:solidFill>
                <a:latin typeface="Consolas"/>
              </a:rPr>
              <a:t>(</a:t>
            </a:r>
            <a:r>
              <a:rPr lang="en-US" sz="600" dirty="0" smtClean="0">
                <a:solidFill>
                  <a:srgbClr val="A31515"/>
                </a:solidFill>
                <a:latin typeface="Consolas"/>
              </a:rPr>
              <a:t>`./views</a:t>
            </a:r>
            <a:r>
              <a:rPr lang="en-US" sz="600" dirty="0" smtClean="0">
                <a:solidFill>
                  <a:srgbClr val="000000"/>
                </a:solidFill>
                <a:latin typeface="Consolas"/>
              </a:rPr>
              <a:t>${</a:t>
            </a:r>
            <a:r>
              <a:rPr lang="en-US" sz="600" dirty="0" err="1" smtClean="0">
                <a:solidFill>
                  <a:srgbClr val="000000"/>
                </a:solidFill>
                <a:latin typeface="Consolas"/>
              </a:rPr>
              <a:t>url</a:t>
            </a:r>
            <a:r>
              <a:rPr lang="en-US" sz="600" dirty="0" smtClean="0">
                <a:solidFill>
                  <a:srgbClr val="000000"/>
                </a:solidFill>
                <a:latin typeface="Consolas"/>
              </a:rPr>
              <a:t>}</a:t>
            </a:r>
            <a:r>
              <a:rPr lang="en-US" sz="600" dirty="0" smtClean="0">
                <a:solidFill>
                  <a:srgbClr val="A31515"/>
                </a:solidFill>
                <a:latin typeface="Consolas"/>
              </a:rPr>
              <a:t>`</a:t>
            </a:r>
            <a:r>
              <a:rPr lang="en-US" sz="600" dirty="0" smtClean="0">
                <a:solidFill>
                  <a:srgbClr val="000000"/>
                </a:solidFill>
                <a:latin typeface="Consolas"/>
              </a:rPr>
              <a:t>, res);</a:t>
            </a:r>
          </a:p>
          <a:p>
            <a:endParaRPr lang="en-US" sz="600" dirty="0" smtClean="0">
              <a:solidFill>
                <a:srgbClr val="000000"/>
              </a:solidFill>
              <a:latin typeface="Consolas"/>
            </a:endParaRPr>
          </a:p>
          <a:p>
            <a:r>
              <a:rPr lang="en-US" sz="600" dirty="0" smtClean="0">
                <a:solidFill>
                  <a:srgbClr val="000000"/>
                </a:solidFill>
                <a:latin typeface="Consolas"/>
              </a:rPr>
              <a:t>    } </a:t>
            </a:r>
            <a:r>
              <a:rPr lang="en-US" sz="600" dirty="0" smtClean="0">
                <a:solidFill>
                  <a:srgbClr val="0000FF"/>
                </a:solidFill>
                <a:latin typeface="Consolas"/>
              </a:rPr>
              <a:t>else</a:t>
            </a:r>
            <a:r>
              <a:rPr lang="en-US" sz="600" dirty="0" smtClean="0">
                <a:solidFill>
                  <a:srgbClr val="000000"/>
                </a:solidFill>
                <a:latin typeface="Consolas"/>
              </a:rPr>
              <a:t> </a:t>
            </a:r>
            <a:r>
              <a:rPr lang="en-US" sz="600" dirty="0" smtClean="0">
                <a:solidFill>
                  <a:srgbClr val="0000FF"/>
                </a:solidFill>
                <a:latin typeface="Consolas"/>
              </a:rPr>
              <a:t>if</a:t>
            </a:r>
            <a:r>
              <a:rPr lang="en-US" sz="600" dirty="0" smtClean="0">
                <a:solidFill>
                  <a:srgbClr val="000000"/>
                </a:solidFill>
                <a:latin typeface="Consolas"/>
              </a:rPr>
              <a:t> (</a:t>
            </a:r>
            <a:r>
              <a:rPr lang="en-US" sz="600" dirty="0" err="1" smtClean="0">
                <a:solidFill>
                  <a:srgbClr val="000000"/>
                </a:solidFill>
                <a:latin typeface="Consolas"/>
              </a:rPr>
              <a:t>url.indexOf</a:t>
            </a:r>
            <a:r>
              <a:rPr lang="en-US" sz="600" dirty="0" smtClean="0">
                <a:solidFill>
                  <a:srgbClr val="000000"/>
                </a:solidFill>
                <a:latin typeface="Consolas"/>
              </a:rPr>
              <a:t>(</a:t>
            </a:r>
            <a:r>
              <a:rPr lang="en-US" sz="600" dirty="0" smtClean="0">
                <a:solidFill>
                  <a:srgbClr val="A31515"/>
                </a:solidFill>
                <a:latin typeface="Consolas"/>
              </a:rPr>
              <a:t>".</a:t>
            </a:r>
            <a:r>
              <a:rPr lang="en-US" sz="600" dirty="0" err="1" smtClean="0">
                <a:solidFill>
                  <a:srgbClr val="A31515"/>
                </a:solidFill>
                <a:latin typeface="Consolas"/>
              </a:rPr>
              <a:t>js</a:t>
            </a:r>
            <a:r>
              <a:rPr lang="en-US" sz="600" dirty="0" smtClean="0">
                <a:solidFill>
                  <a:srgbClr val="A31515"/>
                </a:solidFill>
                <a:latin typeface="Consolas"/>
              </a:rPr>
              <a:t>"</a:t>
            </a:r>
            <a:r>
              <a:rPr lang="en-US" sz="600" dirty="0" smtClean="0">
                <a:solidFill>
                  <a:srgbClr val="000000"/>
                </a:solidFill>
                <a:latin typeface="Consolas"/>
              </a:rPr>
              <a:t>) !== -1) {</a:t>
            </a:r>
          </a:p>
          <a:p>
            <a:r>
              <a:rPr lang="en-US" sz="600" dirty="0" smtClean="0">
                <a:solidFill>
                  <a:srgbClr val="000000"/>
                </a:solidFill>
                <a:latin typeface="Consolas"/>
              </a:rPr>
              <a:t>        </a:t>
            </a:r>
            <a:r>
              <a:rPr lang="en-US" sz="600" dirty="0" err="1" smtClean="0">
                <a:solidFill>
                  <a:srgbClr val="000000"/>
                </a:solidFill>
                <a:latin typeface="Consolas"/>
              </a:rPr>
              <a:t>res.writeHead</a:t>
            </a:r>
            <a:r>
              <a:rPr lang="en-US" sz="600" dirty="0" smtClean="0">
                <a:solidFill>
                  <a:srgbClr val="000000"/>
                </a:solidFill>
                <a:latin typeface="Consolas"/>
              </a:rPr>
              <a:t>(</a:t>
            </a:r>
            <a:r>
              <a:rPr lang="en-US" sz="600" dirty="0" err="1" smtClean="0">
                <a:solidFill>
                  <a:srgbClr val="000000"/>
                </a:solidFill>
                <a:latin typeface="Consolas"/>
              </a:rPr>
              <a:t>httpStatus.OK</a:t>
            </a:r>
            <a:r>
              <a:rPr lang="en-US" sz="600" dirty="0" smtClean="0">
                <a:solidFill>
                  <a:srgbClr val="000000"/>
                </a:solidFill>
                <a:latin typeface="Consolas"/>
              </a:rPr>
              <a:t>, {</a:t>
            </a:r>
          </a:p>
          <a:p>
            <a:r>
              <a:rPr lang="en-US" sz="600" dirty="0" smtClean="0">
                <a:solidFill>
                  <a:srgbClr val="000000"/>
                </a:solidFill>
                <a:latin typeface="Consolas"/>
              </a:rPr>
              <a:t>            </a:t>
            </a:r>
            <a:r>
              <a:rPr lang="en-US" sz="600" dirty="0" smtClean="0">
                <a:solidFill>
                  <a:srgbClr val="A31515"/>
                </a:solidFill>
                <a:latin typeface="Consolas"/>
              </a:rPr>
              <a:t>"Content-Type"</a:t>
            </a:r>
            <a:r>
              <a:rPr lang="en-US" sz="600" dirty="0" smtClean="0">
                <a:solidFill>
                  <a:srgbClr val="000000"/>
                </a:solidFill>
                <a:latin typeface="Consolas"/>
              </a:rPr>
              <a:t>: </a:t>
            </a:r>
            <a:r>
              <a:rPr lang="en-US" sz="600" dirty="0" smtClean="0">
                <a:solidFill>
                  <a:srgbClr val="A31515"/>
                </a:solidFill>
                <a:latin typeface="Consolas"/>
              </a:rPr>
              <a:t>"text/</a:t>
            </a:r>
            <a:r>
              <a:rPr lang="en-US" sz="600" dirty="0" err="1" smtClean="0">
                <a:solidFill>
                  <a:srgbClr val="A31515"/>
                </a:solidFill>
                <a:latin typeface="Consolas"/>
              </a:rPr>
              <a:t>javascript</a:t>
            </a:r>
            <a:r>
              <a:rPr lang="en-US" sz="600" dirty="0" smtClean="0">
                <a:solidFill>
                  <a:srgbClr val="A31515"/>
                </a:solidFill>
                <a:latin typeface="Consolas"/>
              </a:rPr>
              <a:t>"</a:t>
            </a:r>
            <a:endParaRPr lang="en-US" sz="600" dirty="0" smtClean="0">
              <a:solidFill>
                <a:srgbClr val="000000"/>
              </a:solidFill>
              <a:latin typeface="Consolas"/>
            </a:endParaRPr>
          </a:p>
          <a:p>
            <a:r>
              <a:rPr lang="en-US" sz="600" dirty="0" smtClean="0">
                <a:solidFill>
                  <a:srgbClr val="000000"/>
                </a:solidFill>
                <a:latin typeface="Consolas"/>
              </a:rPr>
              <a:t>        });</a:t>
            </a:r>
          </a:p>
          <a:p>
            <a:r>
              <a:rPr lang="en-US" sz="600" dirty="0" smtClean="0">
                <a:solidFill>
                  <a:srgbClr val="000000"/>
                </a:solidFill>
                <a:latin typeface="Consolas"/>
              </a:rPr>
              <a:t>        </a:t>
            </a:r>
            <a:r>
              <a:rPr lang="en-US" sz="600" dirty="0" err="1" smtClean="0">
                <a:solidFill>
                  <a:srgbClr val="000000"/>
                </a:solidFill>
                <a:latin typeface="Consolas"/>
              </a:rPr>
              <a:t>customReadFile</a:t>
            </a:r>
            <a:r>
              <a:rPr lang="en-US" sz="600" dirty="0" smtClean="0">
                <a:solidFill>
                  <a:srgbClr val="000000"/>
                </a:solidFill>
                <a:latin typeface="Consolas"/>
              </a:rPr>
              <a:t>(</a:t>
            </a:r>
            <a:r>
              <a:rPr lang="en-US" sz="600" dirty="0" smtClean="0">
                <a:solidFill>
                  <a:srgbClr val="A31515"/>
                </a:solidFill>
                <a:latin typeface="Consolas"/>
              </a:rPr>
              <a:t>`./public/</a:t>
            </a:r>
            <a:r>
              <a:rPr lang="en-US" sz="600" dirty="0" err="1" smtClean="0">
                <a:solidFill>
                  <a:srgbClr val="A31515"/>
                </a:solidFill>
                <a:latin typeface="Consolas"/>
              </a:rPr>
              <a:t>js</a:t>
            </a:r>
            <a:r>
              <a:rPr lang="en-US" sz="600" dirty="0" smtClean="0">
                <a:solidFill>
                  <a:srgbClr val="000000"/>
                </a:solidFill>
                <a:latin typeface="Consolas"/>
              </a:rPr>
              <a:t>${</a:t>
            </a:r>
            <a:r>
              <a:rPr lang="en-US" sz="600" dirty="0" err="1" smtClean="0">
                <a:solidFill>
                  <a:srgbClr val="000000"/>
                </a:solidFill>
                <a:latin typeface="Consolas"/>
              </a:rPr>
              <a:t>url</a:t>
            </a:r>
            <a:r>
              <a:rPr lang="en-US" sz="600" dirty="0" smtClean="0">
                <a:solidFill>
                  <a:srgbClr val="000000"/>
                </a:solidFill>
                <a:latin typeface="Consolas"/>
              </a:rPr>
              <a:t>}</a:t>
            </a:r>
            <a:r>
              <a:rPr lang="en-US" sz="600" dirty="0" smtClean="0">
                <a:solidFill>
                  <a:srgbClr val="A31515"/>
                </a:solidFill>
                <a:latin typeface="Consolas"/>
              </a:rPr>
              <a:t>`</a:t>
            </a:r>
            <a:r>
              <a:rPr lang="en-US" sz="600" dirty="0" smtClean="0">
                <a:solidFill>
                  <a:srgbClr val="000000"/>
                </a:solidFill>
                <a:latin typeface="Consolas"/>
              </a:rPr>
              <a:t>, res);</a:t>
            </a:r>
          </a:p>
          <a:p>
            <a:endParaRPr lang="en-US" sz="600" dirty="0" smtClean="0">
              <a:solidFill>
                <a:srgbClr val="000000"/>
              </a:solidFill>
              <a:latin typeface="Consolas"/>
            </a:endParaRPr>
          </a:p>
          <a:p>
            <a:r>
              <a:rPr lang="en-US" sz="600" dirty="0" smtClean="0">
                <a:solidFill>
                  <a:srgbClr val="000000"/>
                </a:solidFill>
                <a:latin typeface="Consolas"/>
              </a:rPr>
              <a:t>    } </a:t>
            </a:r>
            <a:r>
              <a:rPr lang="en-US" sz="600" dirty="0" smtClean="0">
                <a:solidFill>
                  <a:srgbClr val="0000FF"/>
                </a:solidFill>
                <a:latin typeface="Consolas"/>
              </a:rPr>
              <a:t>else</a:t>
            </a:r>
            <a:r>
              <a:rPr lang="en-US" sz="600" dirty="0" smtClean="0">
                <a:solidFill>
                  <a:srgbClr val="000000"/>
                </a:solidFill>
                <a:latin typeface="Consolas"/>
              </a:rPr>
              <a:t> </a:t>
            </a:r>
            <a:r>
              <a:rPr lang="en-US" sz="600" dirty="0" smtClean="0">
                <a:solidFill>
                  <a:srgbClr val="0000FF"/>
                </a:solidFill>
                <a:latin typeface="Consolas"/>
              </a:rPr>
              <a:t>if</a:t>
            </a:r>
            <a:r>
              <a:rPr lang="en-US" sz="600" dirty="0" smtClean="0">
                <a:solidFill>
                  <a:srgbClr val="000000"/>
                </a:solidFill>
                <a:latin typeface="Consolas"/>
              </a:rPr>
              <a:t> (</a:t>
            </a:r>
            <a:r>
              <a:rPr lang="en-US" sz="600" dirty="0" err="1" smtClean="0">
                <a:solidFill>
                  <a:srgbClr val="000000"/>
                </a:solidFill>
                <a:latin typeface="Consolas"/>
              </a:rPr>
              <a:t>url.indexOf</a:t>
            </a:r>
            <a:r>
              <a:rPr lang="en-US" sz="600" dirty="0" smtClean="0">
                <a:solidFill>
                  <a:srgbClr val="000000"/>
                </a:solidFill>
                <a:latin typeface="Consolas"/>
              </a:rPr>
              <a:t>(</a:t>
            </a:r>
            <a:r>
              <a:rPr lang="en-US" sz="600" dirty="0" smtClean="0">
                <a:solidFill>
                  <a:srgbClr val="A31515"/>
                </a:solidFill>
                <a:latin typeface="Consolas"/>
              </a:rPr>
              <a:t>".</a:t>
            </a:r>
            <a:r>
              <a:rPr lang="en-US" sz="600" dirty="0" err="1" smtClean="0">
                <a:solidFill>
                  <a:srgbClr val="A31515"/>
                </a:solidFill>
                <a:latin typeface="Consolas"/>
              </a:rPr>
              <a:t>css</a:t>
            </a:r>
            <a:r>
              <a:rPr lang="en-US" sz="600" dirty="0" smtClean="0">
                <a:solidFill>
                  <a:srgbClr val="A31515"/>
                </a:solidFill>
                <a:latin typeface="Consolas"/>
              </a:rPr>
              <a:t>"</a:t>
            </a:r>
            <a:r>
              <a:rPr lang="en-US" sz="600" dirty="0" smtClean="0">
                <a:solidFill>
                  <a:srgbClr val="000000"/>
                </a:solidFill>
                <a:latin typeface="Consolas"/>
              </a:rPr>
              <a:t>) !== -1) {</a:t>
            </a:r>
          </a:p>
          <a:p>
            <a:r>
              <a:rPr lang="en-US" sz="600" dirty="0" smtClean="0">
                <a:solidFill>
                  <a:srgbClr val="000000"/>
                </a:solidFill>
                <a:latin typeface="Consolas"/>
              </a:rPr>
              <a:t>        </a:t>
            </a:r>
            <a:r>
              <a:rPr lang="en-US" sz="600" dirty="0" err="1" smtClean="0">
                <a:solidFill>
                  <a:srgbClr val="000000"/>
                </a:solidFill>
                <a:latin typeface="Consolas"/>
              </a:rPr>
              <a:t>res.writeHead</a:t>
            </a:r>
            <a:r>
              <a:rPr lang="en-US" sz="600" dirty="0" smtClean="0">
                <a:solidFill>
                  <a:srgbClr val="000000"/>
                </a:solidFill>
                <a:latin typeface="Consolas"/>
              </a:rPr>
              <a:t>(</a:t>
            </a:r>
            <a:r>
              <a:rPr lang="en-US" sz="600" dirty="0" err="1" smtClean="0">
                <a:solidFill>
                  <a:srgbClr val="000000"/>
                </a:solidFill>
                <a:latin typeface="Consolas"/>
              </a:rPr>
              <a:t>httpStatus.OK</a:t>
            </a:r>
            <a:r>
              <a:rPr lang="en-US" sz="600" dirty="0" smtClean="0">
                <a:solidFill>
                  <a:srgbClr val="000000"/>
                </a:solidFill>
                <a:latin typeface="Consolas"/>
              </a:rPr>
              <a:t>, {</a:t>
            </a:r>
          </a:p>
          <a:p>
            <a:r>
              <a:rPr lang="en-US" sz="600" dirty="0" smtClean="0">
                <a:solidFill>
                  <a:srgbClr val="000000"/>
                </a:solidFill>
                <a:latin typeface="Consolas"/>
              </a:rPr>
              <a:t>            </a:t>
            </a:r>
            <a:r>
              <a:rPr lang="en-US" sz="600" dirty="0" smtClean="0">
                <a:solidFill>
                  <a:srgbClr val="A31515"/>
                </a:solidFill>
                <a:latin typeface="Consolas"/>
              </a:rPr>
              <a:t>"Content-Type"</a:t>
            </a:r>
            <a:r>
              <a:rPr lang="en-US" sz="600" dirty="0" smtClean="0">
                <a:solidFill>
                  <a:srgbClr val="000000"/>
                </a:solidFill>
                <a:latin typeface="Consolas"/>
              </a:rPr>
              <a:t>: </a:t>
            </a:r>
            <a:r>
              <a:rPr lang="en-US" sz="600" dirty="0" smtClean="0">
                <a:solidFill>
                  <a:srgbClr val="A31515"/>
                </a:solidFill>
                <a:latin typeface="Consolas"/>
              </a:rPr>
              <a:t>"text/</a:t>
            </a:r>
            <a:r>
              <a:rPr lang="en-US" sz="600" dirty="0" err="1" smtClean="0">
                <a:solidFill>
                  <a:srgbClr val="A31515"/>
                </a:solidFill>
                <a:latin typeface="Consolas"/>
              </a:rPr>
              <a:t>css</a:t>
            </a:r>
            <a:r>
              <a:rPr lang="en-US" sz="600" dirty="0" smtClean="0">
                <a:solidFill>
                  <a:srgbClr val="A31515"/>
                </a:solidFill>
                <a:latin typeface="Consolas"/>
              </a:rPr>
              <a:t>"</a:t>
            </a:r>
            <a:endParaRPr lang="en-US" sz="600" dirty="0" smtClean="0">
              <a:solidFill>
                <a:srgbClr val="000000"/>
              </a:solidFill>
              <a:latin typeface="Consolas"/>
            </a:endParaRPr>
          </a:p>
          <a:p>
            <a:r>
              <a:rPr lang="en-US" sz="600" dirty="0" smtClean="0">
                <a:solidFill>
                  <a:srgbClr val="000000"/>
                </a:solidFill>
                <a:latin typeface="Consolas"/>
              </a:rPr>
              <a:t>        });</a:t>
            </a:r>
          </a:p>
          <a:p>
            <a:r>
              <a:rPr lang="en-US" sz="600" dirty="0" smtClean="0">
                <a:solidFill>
                  <a:srgbClr val="000000"/>
                </a:solidFill>
                <a:latin typeface="Consolas"/>
              </a:rPr>
              <a:t>        </a:t>
            </a:r>
            <a:r>
              <a:rPr lang="en-US" sz="600" dirty="0" err="1" smtClean="0">
                <a:solidFill>
                  <a:srgbClr val="000000"/>
                </a:solidFill>
                <a:latin typeface="Consolas"/>
              </a:rPr>
              <a:t>customReadFile</a:t>
            </a:r>
            <a:r>
              <a:rPr lang="en-US" sz="600" dirty="0" smtClean="0">
                <a:solidFill>
                  <a:srgbClr val="000000"/>
                </a:solidFill>
                <a:latin typeface="Consolas"/>
              </a:rPr>
              <a:t>(</a:t>
            </a:r>
            <a:r>
              <a:rPr lang="en-US" sz="600" dirty="0" smtClean="0">
                <a:solidFill>
                  <a:srgbClr val="A31515"/>
                </a:solidFill>
                <a:latin typeface="Consolas"/>
              </a:rPr>
              <a:t>`./public/</a:t>
            </a:r>
            <a:r>
              <a:rPr lang="en-US" sz="600" dirty="0" err="1" smtClean="0">
                <a:solidFill>
                  <a:srgbClr val="A31515"/>
                </a:solidFill>
                <a:latin typeface="Consolas"/>
              </a:rPr>
              <a:t>css</a:t>
            </a:r>
            <a:r>
              <a:rPr lang="en-US" sz="600" dirty="0" smtClean="0">
                <a:solidFill>
                  <a:srgbClr val="000000"/>
                </a:solidFill>
                <a:latin typeface="Consolas"/>
              </a:rPr>
              <a:t>${</a:t>
            </a:r>
            <a:r>
              <a:rPr lang="en-US" sz="600" dirty="0" err="1" smtClean="0">
                <a:solidFill>
                  <a:srgbClr val="000000"/>
                </a:solidFill>
                <a:latin typeface="Consolas"/>
              </a:rPr>
              <a:t>url</a:t>
            </a:r>
            <a:r>
              <a:rPr lang="en-US" sz="600" dirty="0" smtClean="0">
                <a:solidFill>
                  <a:srgbClr val="000000"/>
                </a:solidFill>
                <a:latin typeface="Consolas"/>
              </a:rPr>
              <a:t>}</a:t>
            </a:r>
            <a:r>
              <a:rPr lang="en-US" sz="600" dirty="0" smtClean="0">
                <a:solidFill>
                  <a:srgbClr val="A31515"/>
                </a:solidFill>
                <a:latin typeface="Consolas"/>
              </a:rPr>
              <a:t>`</a:t>
            </a:r>
            <a:r>
              <a:rPr lang="en-US" sz="600" dirty="0" smtClean="0">
                <a:solidFill>
                  <a:srgbClr val="000000"/>
                </a:solidFill>
                <a:latin typeface="Consolas"/>
              </a:rPr>
              <a:t>, res);</a:t>
            </a:r>
          </a:p>
          <a:p>
            <a:endParaRPr lang="en-US" sz="600" dirty="0" smtClean="0">
              <a:solidFill>
                <a:srgbClr val="000000"/>
              </a:solidFill>
              <a:latin typeface="Consolas"/>
            </a:endParaRPr>
          </a:p>
          <a:p>
            <a:r>
              <a:rPr lang="en-US" sz="600" dirty="0" smtClean="0">
                <a:solidFill>
                  <a:srgbClr val="000000"/>
                </a:solidFill>
                <a:latin typeface="Consolas"/>
              </a:rPr>
              <a:t>    } </a:t>
            </a:r>
            <a:r>
              <a:rPr lang="en-US" sz="600" dirty="0" smtClean="0">
                <a:solidFill>
                  <a:srgbClr val="0000FF"/>
                </a:solidFill>
                <a:latin typeface="Consolas"/>
              </a:rPr>
              <a:t>else</a:t>
            </a:r>
            <a:r>
              <a:rPr lang="en-US" sz="600" dirty="0" smtClean="0">
                <a:solidFill>
                  <a:srgbClr val="000000"/>
                </a:solidFill>
                <a:latin typeface="Consolas"/>
              </a:rPr>
              <a:t> </a:t>
            </a:r>
            <a:r>
              <a:rPr lang="en-US" sz="600" dirty="0" smtClean="0">
                <a:solidFill>
                  <a:srgbClr val="0000FF"/>
                </a:solidFill>
                <a:latin typeface="Consolas"/>
              </a:rPr>
              <a:t>if</a:t>
            </a:r>
            <a:r>
              <a:rPr lang="en-US" sz="600" dirty="0" smtClean="0">
                <a:solidFill>
                  <a:srgbClr val="000000"/>
                </a:solidFill>
                <a:latin typeface="Consolas"/>
              </a:rPr>
              <a:t> (</a:t>
            </a:r>
            <a:r>
              <a:rPr lang="en-US" sz="600" dirty="0" err="1" smtClean="0">
                <a:solidFill>
                  <a:srgbClr val="000000"/>
                </a:solidFill>
                <a:latin typeface="Consolas"/>
              </a:rPr>
              <a:t>url.indexOf</a:t>
            </a:r>
            <a:r>
              <a:rPr lang="en-US" sz="600" dirty="0" smtClean="0">
                <a:solidFill>
                  <a:srgbClr val="000000"/>
                </a:solidFill>
                <a:latin typeface="Consolas"/>
              </a:rPr>
              <a:t>(</a:t>
            </a:r>
            <a:r>
              <a:rPr lang="en-US" sz="600" dirty="0" smtClean="0">
                <a:solidFill>
                  <a:srgbClr val="A31515"/>
                </a:solidFill>
                <a:latin typeface="Consolas"/>
              </a:rPr>
              <a:t>".</a:t>
            </a:r>
            <a:r>
              <a:rPr lang="en-US" sz="600" dirty="0" err="1" smtClean="0">
                <a:solidFill>
                  <a:srgbClr val="A31515"/>
                </a:solidFill>
                <a:latin typeface="Consolas"/>
              </a:rPr>
              <a:t>png</a:t>
            </a:r>
            <a:r>
              <a:rPr lang="en-US" sz="600" dirty="0" smtClean="0">
                <a:solidFill>
                  <a:srgbClr val="A31515"/>
                </a:solidFill>
                <a:latin typeface="Consolas"/>
              </a:rPr>
              <a:t>"</a:t>
            </a:r>
            <a:r>
              <a:rPr lang="en-US" sz="600" dirty="0" smtClean="0">
                <a:solidFill>
                  <a:srgbClr val="000000"/>
                </a:solidFill>
                <a:latin typeface="Consolas"/>
              </a:rPr>
              <a:t>) !== -1) {</a:t>
            </a:r>
          </a:p>
          <a:p>
            <a:r>
              <a:rPr lang="en-US" sz="600" dirty="0" smtClean="0">
                <a:solidFill>
                  <a:srgbClr val="000000"/>
                </a:solidFill>
                <a:latin typeface="Consolas"/>
              </a:rPr>
              <a:t>        </a:t>
            </a:r>
            <a:r>
              <a:rPr lang="en-US" sz="600" dirty="0" err="1" smtClean="0">
                <a:solidFill>
                  <a:srgbClr val="000000"/>
                </a:solidFill>
                <a:latin typeface="Consolas"/>
              </a:rPr>
              <a:t>res.writeHead</a:t>
            </a:r>
            <a:r>
              <a:rPr lang="en-US" sz="600" dirty="0" smtClean="0">
                <a:solidFill>
                  <a:srgbClr val="000000"/>
                </a:solidFill>
                <a:latin typeface="Consolas"/>
              </a:rPr>
              <a:t>(</a:t>
            </a:r>
            <a:r>
              <a:rPr lang="en-US" sz="600" dirty="0" err="1" smtClean="0">
                <a:solidFill>
                  <a:srgbClr val="000000"/>
                </a:solidFill>
                <a:latin typeface="Consolas"/>
              </a:rPr>
              <a:t>httpStatus.OK</a:t>
            </a:r>
            <a:r>
              <a:rPr lang="en-US" sz="600" dirty="0" smtClean="0">
                <a:solidFill>
                  <a:srgbClr val="000000"/>
                </a:solidFill>
                <a:latin typeface="Consolas"/>
              </a:rPr>
              <a:t>, {</a:t>
            </a:r>
          </a:p>
          <a:p>
            <a:r>
              <a:rPr lang="en-US" sz="600" dirty="0" smtClean="0">
                <a:solidFill>
                  <a:srgbClr val="000000"/>
                </a:solidFill>
                <a:latin typeface="Consolas"/>
              </a:rPr>
              <a:t>            </a:t>
            </a:r>
            <a:r>
              <a:rPr lang="en-US" sz="600" dirty="0" smtClean="0">
                <a:solidFill>
                  <a:srgbClr val="A31515"/>
                </a:solidFill>
                <a:latin typeface="Consolas"/>
              </a:rPr>
              <a:t>"Content-Type"</a:t>
            </a:r>
            <a:r>
              <a:rPr lang="en-US" sz="600" dirty="0" smtClean="0">
                <a:solidFill>
                  <a:srgbClr val="000000"/>
                </a:solidFill>
                <a:latin typeface="Consolas"/>
              </a:rPr>
              <a:t>: </a:t>
            </a:r>
            <a:r>
              <a:rPr lang="en-US" sz="600" dirty="0" smtClean="0">
                <a:solidFill>
                  <a:srgbClr val="A31515"/>
                </a:solidFill>
                <a:latin typeface="Consolas"/>
              </a:rPr>
              <a:t>"image/</a:t>
            </a:r>
            <a:r>
              <a:rPr lang="en-US" sz="600" dirty="0" err="1" smtClean="0">
                <a:solidFill>
                  <a:srgbClr val="A31515"/>
                </a:solidFill>
                <a:latin typeface="Consolas"/>
              </a:rPr>
              <a:t>png</a:t>
            </a:r>
            <a:r>
              <a:rPr lang="en-US" sz="600" dirty="0" smtClean="0">
                <a:solidFill>
                  <a:srgbClr val="A31515"/>
                </a:solidFill>
                <a:latin typeface="Consolas"/>
              </a:rPr>
              <a:t>"</a:t>
            </a:r>
            <a:endParaRPr lang="en-US" sz="600" dirty="0" smtClean="0">
              <a:solidFill>
                <a:srgbClr val="000000"/>
              </a:solidFill>
              <a:latin typeface="Consolas"/>
            </a:endParaRPr>
          </a:p>
          <a:p>
            <a:r>
              <a:rPr lang="en-US" sz="600" dirty="0" smtClean="0">
                <a:solidFill>
                  <a:srgbClr val="000000"/>
                </a:solidFill>
                <a:latin typeface="Consolas"/>
              </a:rPr>
              <a:t>        });</a:t>
            </a:r>
          </a:p>
          <a:p>
            <a:r>
              <a:rPr lang="en-US" sz="600" dirty="0" smtClean="0">
                <a:solidFill>
                  <a:srgbClr val="000000"/>
                </a:solidFill>
                <a:latin typeface="Consolas"/>
              </a:rPr>
              <a:t>        </a:t>
            </a:r>
            <a:r>
              <a:rPr lang="en-US" sz="600" dirty="0" err="1" smtClean="0">
                <a:solidFill>
                  <a:srgbClr val="000000"/>
                </a:solidFill>
                <a:latin typeface="Consolas"/>
              </a:rPr>
              <a:t>customReadFile</a:t>
            </a:r>
            <a:r>
              <a:rPr lang="en-US" sz="600" dirty="0" smtClean="0">
                <a:solidFill>
                  <a:srgbClr val="000000"/>
                </a:solidFill>
                <a:latin typeface="Consolas"/>
              </a:rPr>
              <a:t>(</a:t>
            </a:r>
            <a:r>
              <a:rPr lang="en-US" sz="600" dirty="0" smtClean="0">
                <a:solidFill>
                  <a:srgbClr val="A31515"/>
                </a:solidFill>
                <a:latin typeface="Consolas"/>
              </a:rPr>
              <a:t>`./public/images</a:t>
            </a:r>
            <a:r>
              <a:rPr lang="en-US" sz="600" dirty="0" smtClean="0">
                <a:solidFill>
                  <a:srgbClr val="000000"/>
                </a:solidFill>
                <a:latin typeface="Consolas"/>
              </a:rPr>
              <a:t>${</a:t>
            </a:r>
            <a:r>
              <a:rPr lang="en-US" sz="600" dirty="0" err="1" smtClean="0">
                <a:solidFill>
                  <a:srgbClr val="000000"/>
                </a:solidFill>
                <a:latin typeface="Consolas"/>
              </a:rPr>
              <a:t>url</a:t>
            </a:r>
            <a:r>
              <a:rPr lang="en-US" sz="600" dirty="0" smtClean="0">
                <a:solidFill>
                  <a:srgbClr val="000000"/>
                </a:solidFill>
                <a:latin typeface="Consolas"/>
              </a:rPr>
              <a:t>}</a:t>
            </a:r>
            <a:r>
              <a:rPr lang="en-US" sz="600" dirty="0" smtClean="0">
                <a:solidFill>
                  <a:srgbClr val="A31515"/>
                </a:solidFill>
                <a:latin typeface="Consolas"/>
              </a:rPr>
              <a:t>`</a:t>
            </a:r>
            <a:r>
              <a:rPr lang="en-US" sz="600" dirty="0" smtClean="0">
                <a:solidFill>
                  <a:srgbClr val="000000"/>
                </a:solidFill>
                <a:latin typeface="Consolas"/>
              </a:rPr>
              <a:t>, res);</a:t>
            </a:r>
          </a:p>
          <a:p>
            <a:endParaRPr lang="en-US" sz="600" dirty="0" smtClean="0">
              <a:solidFill>
                <a:srgbClr val="000000"/>
              </a:solidFill>
              <a:latin typeface="Consolas"/>
            </a:endParaRPr>
          </a:p>
          <a:p>
            <a:r>
              <a:rPr lang="en-US" sz="600" dirty="0" smtClean="0">
                <a:solidFill>
                  <a:srgbClr val="000000"/>
                </a:solidFill>
                <a:latin typeface="Consolas"/>
              </a:rPr>
              <a:t>    } </a:t>
            </a:r>
            <a:r>
              <a:rPr lang="en-US" sz="600" dirty="0" smtClean="0">
                <a:solidFill>
                  <a:srgbClr val="0000FF"/>
                </a:solidFill>
                <a:latin typeface="Consolas"/>
              </a:rPr>
              <a:t>else</a:t>
            </a:r>
            <a:r>
              <a:rPr lang="en-US" sz="600" dirty="0" smtClean="0">
                <a:solidFill>
                  <a:srgbClr val="000000"/>
                </a:solidFill>
                <a:latin typeface="Consolas"/>
              </a:rPr>
              <a:t> </a:t>
            </a:r>
            <a:r>
              <a:rPr lang="en-US" sz="600" dirty="0" smtClean="0">
                <a:solidFill>
                  <a:srgbClr val="0000FF"/>
                </a:solidFill>
                <a:latin typeface="Consolas"/>
              </a:rPr>
              <a:t>if</a:t>
            </a:r>
            <a:r>
              <a:rPr lang="en-US" sz="600" dirty="0" smtClean="0">
                <a:solidFill>
                  <a:srgbClr val="000000"/>
                </a:solidFill>
                <a:latin typeface="Consolas"/>
              </a:rPr>
              <a:t> (</a:t>
            </a:r>
            <a:r>
              <a:rPr lang="en-US" sz="600" dirty="0" err="1" smtClean="0">
                <a:solidFill>
                  <a:srgbClr val="000000"/>
                </a:solidFill>
                <a:latin typeface="Consolas"/>
              </a:rPr>
              <a:t>url.indexOf</a:t>
            </a:r>
            <a:r>
              <a:rPr lang="en-US" sz="600" dirty="0" smtClean="0">
                <a:solidFill>
                  <a:srgbClr val="000000"/>
                </a:solidFill>
                <a:latin typeface="Consolas"/>
              </a:rPr>
              <a:t>(</a:t>
            </a:r>
            <a:r>
              <a:rPr lang="en-US" sz="600" dirty="0" smtClean="0">
                <a:solidFill>
                  <a:srgbClr val="A31515"/>
                </a:solidFill>
                <a:latin typeface="Consolas"/>
              </a:rPr>
              <a:t>".jpg"</a:t>
            </a:r>
            <a:r>
              <a:rPr lang="en-US" sz="600" dirty="0" smtClean="0">
                <a:solidFill>
                  <a:srgbClr val="000000"/>
                </a:solidFill>
                <a:latin typeface="Consolas"/>
              </a:rPr>
              <a:t>) !== -1) {</a:t>
            </a:r>
          </a:p>
          <a:p>
            <a:r>
              <a:rPr lang="en-US" sz="600" dirty="0" smtClean="0">
                <a:solidFill>
                  <a:srgbClr val="000000"/>
                </a:solidFill>
                <a:latin typeface="Consolas"/>
              </a:rPr>
              <a:t>        </a:t>
            </a:r>
            <a:r>
              <a:rPr lang="en-US" sz="600" dirty="0" err="1" smtClean="0">
                <a:solidFill>
                  <a:srgbClr val="000000"/>
                </a:solidFill>
                <a:latin typeface="Consolas"/>
              </a:rPr>
              <a:t>res.writeHead</a:t>
            </a:r>
            <a:r>
              <a:rPr lang="en-US" sz="600" dirty="0" smtClean="0">
                <a:solidFill>
                  <a:srgbClr val="000000"/>
                </a:solidFill>
                <a:latin typeface="Consolas"/>
              </a:rPr>
              <a:t>(</a:t>
            </a:r>
            <a:r>
              <a:rPr lang="en-US" sz="600" dirty="0" err="1" smtClean="0">
                <a:solidFill>
                  <a:srgbClr val="000000"/>
                </a:solidFill>
                <a:latin typeface="Consolas"/>
              </a:rPr>
              <a:t>httpStatus.OK</a:t>
            </a:r>
            <a:r>
              <a:rPr lang="en-US" sz="600" dirty="0" smtClean="0">
                <a:solidFill>
                  <a:srgbClr val="000000"/>
                </a:solidFill>
                <a:latin typeface="Consolas"/>
              </a:rPr>
              <a:t>, {</a:t>
            </a:r>
          </a:p>
          <a:p>
            <a:r>
              <a:rPr lang="en-US" sz="600" dirty="0" smtClean="0">
                <a:solidFill>
                  <a:srgbClr val="000000"/>
                </a:solidFill>
                <a:latin typeface="Consolas"/>
              </a:rPr>
              <a:t>            </a:t>
            </a:r>
            <a:r>
              <a:rPr lang="en-US" sz="600" dirty="0" smtClean="0">
                <a:solidFill>
                  <a:srgbClr val="A31515"/>
                </a:solidFill>
                <a:latin typeface="Consolas"/>
              </a:rPr>
              <a:t>"Content-Type"</a:t>
            </a:r>
            <a:r>
              <a:rPr lang="en-US" sz="600" dirty="0" smtClean="0">
                <a:solidFill>
                  <a:srgbClr val="000000"/>
                </a:solidFill>
                <a:latin typeface="Consolas"/>
              </a:rPr>
              <a:t>: </a:t>
            </a:r>
            <a:r>
              <a:rPr lang="en-US" sz="600" dirty="0" smtClean="0">
                <a:solidFill>
                  <a:srgbClr val="A31515"/>
                </a:solidFill>
                <a:latin typeface="Consolas"/>
              </a:rPr>
              <a:t>"image/jpg"</a:t>
            </a:r>
            <a:endParaRPr lang="en-US" sz="600" dirty="0" smtClean="0">
              <a:solidFill>
                <a:srgbClr val="000000"/>
              </a:solidFill>
              <a:latin typeface="Consolas"/>
            </a:endParaRPr>
          </a:p>
          <a:p>
            <a:r>
              <a:rPr lang="en-US" sz="600" dirty="0" smtClean="0">
                <a:solidFill>
                  <a:srgbClr val="000000"/>
                </a:solidFill>
                <a:latin typeface="Consolas"/>
              </a:rPr>
              <a:t>        });</a:t>
            </a:r>
          </a:p>
          <a:p>
            <a:r>
              <a:rPr lang="en-US" sz="600" dirty="0" smtClean="0">
                <a:solidFill>
                  <a:srgbClr val="000000"/>
                </a:solidFill>
                <a:latin typeface="Consolas"/>
              </a:rPr>
              <a:t>        </a:t>
            </a:r>
            <a:r>
              <a:rPr lang="en-US" sz="600" dirty="0" err="1" smtClean="0">
                <a:solidFill>
                  <a:srgbClr val="000000"/>
                </a:solidFill>
                <a:latin typeface="Consolas"/>
              </a:rPr>
              <a:t>customReadFile</a:t>
            </a:r>
            <a:r>
              <a:rPr lang="en-US" sz="600" dirty="0" smtClean="0">
                <a:solidFill>
                  <a:srgbClr val="000000"/>
                </a:solidFill>
                <a:latin typeface="Consolas"/>
              </a:rPr>
              <a:t>(</a:t>
            </a:r>
            <a:r>
              <a:rPr lang="en-US" sz="600" dirty="0" smtClean="0">
                <a:solidFill>
                  <a:srgbClr val="A31515"/>
                </a:solidFill>
                <a:latin typeface="Consolas"/>
              </a:rPr>
              <a:t>`./public/images</a:t>
            </a:r>
            <a:r>
              <a:rPr lang="en-US" sz="600" dirty="0" smtClean="0">
                <a:solidFill>
                  <a:srgbClr val="000000"/>
                </a:solidFill>
                <a:latin typeface="Consolas"/>
              </a:rPr>
              <a:t>${</a:t>
            </a:r>
            <a:r>
              <a:rPr lang="en-US" sz="600" dirty="0" err="1" smtClean="0">
                <a:solidFill>
                  <a:srgbClr val="000000"/>
                </a:solidFill>
                <a:latin typeface="Consolas"/>
              </a:rPr>
              <a:t>url</a:t>
            </a:r>
            <a:r>
              <a:rPr lang="en-US" sz="600" dirty="0" smtClean="0">
                <a:solidFill>
                  <a:srgbClr val="000000"/>
                </a:solidFill>
                <a:latin typeface="Consolas"/>
              </a:rPr>
              <a:t>}</a:t>
            </a:r>
            <a:r>
              <a:rPr lang="en-US" sz="600" dirty="0" smtClean="0">
                <a:solidFill>
                  <a:srgbClr val="A31515"/>
                </a:solidFill>
                <a:latin typeface="Consolas"/>
              </a:rPr>
              <a:t>`</a:t>
            </a:r>
            <a:r>
              <a:rPr lang="en-US" sz="600" dirty="0" smtClean="0">
                <a:solidFill>
                  <a:srgbClr val="000000"/>
                </a:solidFill>
                <a:latin typeface="Consolas"/>
              </a:rPr>
              <a:t>, res);</a:t>
            </a:r>
          </a:p>
          <a:p>
            <a:endParaRPr lang="en-US" sz="600" dirty="0" smtClean="0">
              <a:solidFill>
                <a:srgbClr val="000000"/>
              </a:solidFill>
              <a:latin typeface="Consolas"/>
            </a:endParaRPr>
          </a:p>
          <a:p>
            <a:r>
              <a:rPr lang="en-US" sz="600" dirty="0" smtClean="0">
                <a:solidFill>
                  <a:srgbClr val="000000"/>
                </a:solidFill>
                <a:latin typeface="Consolas"/>
              </a:rPr>
              <a:t>    } </a:t>
            </a:r>
            <a:r>
              <a:rPr lang="en-US" sz="600" dirty="0" smtClean="0">
                <a:solidFill>
                  <a:srgbClr val="0000FF"/>
                </a:solidFill>
                <a:latin typeface="Consolas"/>
              </a:rPr>
              <a:t>else</a:t>
            </a:r>
            <a:r>
              <a:rPr lang="en-US" sz="600" dirty="0" smtClean="0">
                <a:solidFill>
                  <a:srgbClr val="000000"/>
                </a:solidFill>
                <a:latin typeface="Consolas"/>
              </a:rPr>
              <a:t> {</a:t>
            </a:r>
          </a:p>
          <a:p>
            <a:r>
              <a:rPr lang="en-US" sz="600" dirty="0" smtClean="0">
                <a:solidFill>
                  <a:srgbClr val="000000"/>
                </a:solidFill>
                <a:latin typeface="Consolas"/>
              </a:rPr>
              <a:t>        </a:t>
            </a:r>
            <a:r>
              <a:rPr lang="en-US" sz="600" dirty="0" err="1" smtClean="0">
                <a:solidFill>
                  <a:srgbClr val="000000"/>
                </a:solidFill>
                <a:latin typeface="Consolas"/>
              </a:rPr>
              <a:t>sendErrorResponse</a:t>
            </a:r>
            <a:r>
              <a:rPr lang="en-US" sz="600" dirty="0" smtClean="0">
                <a:solidFill>
                  <a:srgbClr val="000000"/>
                </a:solidFill>
                <a:latin typeface="Consolas"/>
              </a:rPr>
              <a:t>(res);</a:t>
            </a:r>
          </a:p>
          <a:p>
            <a:r>
              <a:rPr lang="en-US" sz="600" dirty="0" smtClean="0">
                <a:solidFill>
                  <a:srgbClr val="000000"/>
                </a:solidFill>
                <a:latin typeface="Consolas"/>
              </a:rPr>
              <a:t>    }</a:t>
            </a:r>
          </a:p>
          <a:p>
            <a:r>
              <a:rPr lang="en-US" sz="600" dirty="0" smtClean="0">
                <a:solidFill>
                  <a:srgbClr val="000000"/>
                </a:solidFill>
                <a:latin typeface="Consolas"/>
              </a:rPr>
              <a:t>})</a:t>
            </a:r>
          </a:p>
          <a:p>
            <a:r>
              <a:rPr lang="en-US" sz="600" dirty="0" smtClean="0">
                <a:solidFill>
                  <a:srgbClr val="000000"/>
                </a:solidFill>
                <a:latin typeface="Consolas"/>
              </a:rPr>
              <a:t>.listen(3000);</a:t>
            </a:r>
          </a:p>
        </p:txBody>
      </p:sp>
      <p:pic>
        <p:nvPicPr>
          <p:cNvPr id="97283" name="Picture 3"/>
          <p:cNvPicPr>
            <a:picLocks noChangeAspect="1" noChangeArrowheads="1"/>
          </p:cNvPicPr>
          <p:nvPr/>
        </p:nvPicPr>
        <p:blipFill>
          <a:blip r:embed="rId2" cstate="print"/>
          <a:srcRect/>
          <a:stretch>
            <a:fillRect/>
          </a:stretch>
        </p:blipFill>
        <p:spPr bwMode="auto">
          <a:xfrm>
            <a:off x="5029200" y="2667000"/>
            <a:ext cx="3200400" cy="815975"/>
          </a:xfrm>
          <a:prstGeom prst="rect">
            <a:avLst/>
          </a:prstGeom>
          <a:noFill/>
          <a:ln w="9525">
            <a:noFill/>
            <a:miter lim="800000"/>
            <a:headEnd/>
            <a:tailEnd/>
          </a:ln>
        </p:spPr>
      </p:pic>
      <p:pic>
        <p:nvPicPr>
          <p:cNvPr id="97284" name="Picture 4"/>
          <p:cNvPicPr>
            <a:picLocks noChangeAspect="1" noChangeArrowheads="1"/>
          </p:cNvPicPr>
          <p:nvPr/>
        </p:nvPicPr>
        <p:blipFill>
          <a:blip r:embed="rId3" cstate="print"/>
          <a:srcRect/>
          <a:stretch>
            <a:fillRect/>
          </a:stretch>
        </p:blipFill>
        <p:spPr bwMode="auto">
          <a:xfrm>
            <a:off x="5334000" y="3733800"/>
            <a:ext cx="3413760" cy="132207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Modular Application</a:t>
            </a:r>
            <a:endParaRPr lang="en-US" dirty="0"/>
          </a:p>
        </p:txBody>
      </p:sp>
      <p:sp>
        <p:nvSpPr>
          <p:cNvPr id="3" name="Content Placeholder 2"/>
          <p:cNvSpPr>
            <a:spLocks noGrp="1"/>
          </p:cNvSpPr>
          <p:nvPr>
            <p:ph idx="1"/>
          </p:nvPr>
        </p:nvSpPr>
        <p:spPr/>
        <p:txBody>
          <a:bodyPr/>
          <a:lstStyle/>
          <a:p>
            <a:r>
              <a:rPr lang="en-US" sz="2000" b="1" i="1" dirty="0" smtClean="0">
                <a:solidFill>
                  <a:srgbClr val="C00000"/>
                </a:solidFill>
                <a:latin typeface="Consolas" pitchFamily="49" charset="0"/>
              </a:rPr>
              <a:t>See the “09 modular-application” folder for detail.</a:t>
            </a:r>
          </a:p>
          <a:p>
            <a:endParaRPr lang="en-US" sz="2000" dirty="0" smtClean="0">
              <a:latin typeface="Consolas" pitchFamily="49" charset="0"/>
            </a:endParaRPr>
          </a:p>
        </p:txBody>
      </p:sp>
      <p:pic>
        <p:nvPicPr>
          <p:cNvPr id="7" name="Picture 2"/>
          <p:cNvPicPr>
            <a:picLocks noChangeAspect="1" noChangeArrowheads="1"/>
          </p:cNvPicPr>
          <p:nvPr/>
        </p:nvPicPr>
        <p:blipFill>
          <a:blip r:embed="rId2" cstate="print"/>
          <a:srcRect/>
          <a:stretch>
            <a:fillRect/>
          </a:stretch>
        </p:blipFill>
        <p:spPr bwMode="auto">
          <a:xfrm>
            <a:off x="1981200" y="2209800"/>
            <a:ext cx="5612130" cy="406527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Check Vulnerabilities</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update</a:t>
            </a:r>
          </a:p>
        </p:txBody>
      </p:sp>
      <p:pic>
        <p:nvPicPr>
          <p:cNvPr id="2052" name="Picture 4"/>
          <p:cNvPicPr>
            <a:picLocks noChangeAspect="1" noChangeArrowheads="1"/>
          </p:cNvPicPr>
          <p:nvPr/>
        </p:nvPicPr>
        <p:blipFill>
          <a:blip r:embed="rId2" cstate="print"/>
          <a:srcRect/>
          <a:stretch>
            <a:fillRect/>
          </a:stretch>
        </p:blipFill>
        <p:spPr bwMode="auto">
          <a:xfrm>
            <a:off x="969963" y="2670175"/>
            <a:ext cx="7204075" cy="281622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Fix Vulnerabilities</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audit fix</a:t>
            </a:r>
          </a:p>
          <a:p>
            <a:r>
              <a:rPr lang="en-US" sz="2400" dirty="0" err="1" smtClean="0">
                <a:latin typeface="Consolas" pitchFamily="49" charset="0"/>
              </a:rPr>
              <a:t>npm</a:t>
            </a:r>
            <a:r>
              <a:rPr lang="en-US" sz="2400" dirty="0" smtClean="0">
                <a:latin typeface="Consolas" pitchFamily="49" charset="0"/>
              </a:rPr>
              <a:t> audit fix --force</a:t>
            </a:r>
          </a:p>
          <a:p>
            <a:endParaRPr lang="en-US" sz="2400" dirty="0" smtClean="0">
              <a:latin typeface="Consolas" pitchFamily="49" charset="0"/>
            </a:endParaRPr>
          </a:p>
        </p:txBody>
      </p:sp>
      <p:pic>
        <p:nvPicPr>
          <p:cNvPr id="3075" name="Picture 3"/>
          <p:cNvPicPr>
            <a:picLocks noChangeAspect="1" noChangeArrowheads="1"/>
          </p:cNvPicPr>
          <p:nvPr/>
        </p:nvPicPr>
        <p:blipFill>
          <a:blip r:embed="rId2" cstate="print"/>
          <a:srcRect/>
          <a:stretch>
            <a:fillRect/>
          </a:stretch>
        </p:blipFill>
        <p:spPr bwMode="auto">
          <a:xfrm>
            <a:off x="969963" y="2898775"/>
            <a:ext cx="7204075" cy="281622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Check Result</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Delete </a:t>
            </a:r>
            <a:r>
              <a:rPr lang="en-US" sz="2400" dirty="0" err="1" smtClean="0">
                <a:latin typeface="Consolas" pitchFamily="49" charset="0"/>
              </a:rPr>
              <a:t>node_modules</a:t>
            </a:r>
            <a:r>
              <a:rPr lang="en-US" sz="2400" dirty="0" smtClean="0">
                <a:latin typeface="Consolas" pitchFamily="49" charset="0"/>
              </a:rPr>
              <a:t> folder.</a:t>
            </a:r>
          </a:p>
          <a:p>
            <a:r>
              <a:rPr lang="en-US" sz="2400" dirty="0" err="1" smtClean="0">
                <a:latin typeface="Consolas" pitchFamily="49" charset="0"/>
              </a:rPr>
              <a:t>npm</a:t>
            </a:r>
            <a:r>
              <a:rPr lang="en-US" sz="2400" dirty="0" smtClean="0">
                <a:latin typeface="Consolas" pitchFamily="49" charset="0"/>
              </a:rPr>
              <a:t> install</a:t>
            </a:r>
          </a:p>
          <a:p>
            <a:r>
              <a:rPr lang="en-US" sz="2400" dirty="0" err="1" smtClean="0">
                <a:latin typeface="Consolas" pitchFamily="49" charset="0"/>
              </a:rPr>
              <a:t>npm</a:t>
            </a:r>
            <a:r>
              <a:rPr lang="en-US" sz="2400" dirty="0" smtClean="0">
                <a:latin typeface="Consolas" pitchFamily="49" charset="0"/>
              </a:rPr>
              <a:t> start</a:t>
            </a:r>
          </a:p>
          <a:p>
            <a:endParaRPr lang="en-US" sz="2400" dirty="0" smtClean="0">
              <a:latin typeface="Consolas" pitchFamily="49" charset="0"/>
            </a:endParaRPr>
          </a:p>
        </p:txBody>
      </p:sp>
      <p:pic>
        <p:nvPicPr>
          <p:cNvPr id="4098" name="Picture 2"/>
          <p:cNvPicPr>
            <a:picLocks noChangeAspect="1" noChangeArrowheads="1"/>
          </p:cNvPicPr>
          <p:nvPr/>
        </p:nvPicPr>
        <p:blipFill>
          <a:blip r:embed="rId2" cstate="print"/>
          <a:srcRect/>
          <a:stretch>
            <a:fillRect/>
          </a:stretch>
        </p:blipFill>
        <p:spPr bwMode="auto">
          <a:xfrm>
            <a:off x="2430463" y="3375025"/>
            <a:ext cx="4283075" cy="20351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Check Outdated Packages</a:t>
            </a:r>
            <a:endParaRPr lang="en-US" dirty="0"/>
          </a:p>
        </p:txBody>
      </p:sp>
      <p:sp>
        <p:nvSpPr>
          <p:cNvPr id="3" name="Content Placeholder 2"/>
          <p:cNvSpPr>
            <a:spLocks noGrp="1"/>
          </p:cNvSpPr>
          <p:nvPr>
            <p:ph idx="1"/>
          </p:nvPr>
        </p:nvSpPr>
        <p:spPr/>
        <p:txBody>
          <a:bodyPr/>
          <a:lstStyle/>
          <a:p>
            <a:r>
              <a:rPr lang="en-US" sz="2600" dirty="0" smtClean="0"/>
              <a:t>To discover new releases of the packages, you run </a:t>
            </a:r>
          </a:p>
          <a:p>
            <a:pPr lvl="1"/>
            <a:r>
              <a:rPr lang="en-US" sz="2200" dirty="0" err="1" smtClean="0">
                <a:latin typeface="Consolas" pitchFamily="49" charset="0"/>
              </a:rPr>
              <a:t>npm</a:t>
            </a:r>
            <a:r>
              <a:rPr lang="en-US" sz="2200" dirty="0" smtClean="0">
                <a:latin typeface="Consolas" pitchFamily="49" charset="0"/>
              </a:rPr>
              <a:t> outdated</a:t>
            </a:r>
          </a:p>
        </p:txBody>
      </p:sp>
      <p:pic>
        <p:nvPicPr>
          <p:cNvPr id="2050" name="Picture 2"/>
          <p:cNvPicPr>
            <a:picLocks noChangeAspect="1" noChangeArrowheads="1"/>
          </p:cNvPicPr>
          <p:nvPr/>
        </p:nvPicPr>
        <p:blipFill>
          <a:blip r:embed="rId2" cstate="print"/>
          <a:srcRect/>
          <a:stretch>
            <a:fillRect/>
          </a:stretch>
        </p:blipFill>
        <p:spPr bwMode="auto">
          <a:xfrm>
            <a:off x="1371600" y="2971800"/>
            <a:ext cx="6481763" cy="2586038"/>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Fix Outdated Packages</a:t>
            </a:r>
            <a:endParaRPr lang="en-US" dirty="0"/>
          </a:p>
        </p:txBody>
      </p:sp>
      <p:sp>
        <p:nvSpPr>
          <p:cNvPr id="3" name="Content Placeholder 2"/>
          <p:cNvSpPr>
            <a:spLocks noGrp="1"/>
          </p:cNvSpPr>
          <p:nvPr>
            <p:ph idx="1"/>
          </p:nvPr>
        </p:nvSpPr>
        <p:spPr/>
        <p:txBody>
          <a:bodyPr/>
          <a:lstStyle/>
          <a:p>
            <a:r>
              <a:rPr lang="en-US" sz="2200" dirty="0" err="1" smtClean="0">
                <a:latin typeface="Consolas" pitchFamily="49" charset="0"/>
              </a:rPr>
              <a:t>npm</a:t>
            </a:r>
            <a:r>
              <a:rPr lang="en-US" sz="2200" dirty="0" smtClean="0">
                <a:latin typeface="Consolas" pitchFamily="49" charset="0"/>
              </a:rPr>
              <a:t> </a:t>
            </a:r>
            <a:r>
              <a:rPr lang="en-US" sz="2200" dirty="0" err="1" smtClean="0">
                <a:latin typeface="Consolas" pitchFamily="49" charset="0"/>
              </a:rPr>
              <a:t>i</a:t>
            </a:r>
            <a:r>
              <a:rPr lang="en-US" sz="2200" dirty="0" smtClean="0">
                <a:latin typeface="Consolas" pitchFamily="49" charset="0"/>
              </a:rPr>
              <a:t> --save-dev </a:t>
            </a:r>
            <a:r>
              <a:rPr lang="en-US" sz="2200" dirty="0" smtClean="0"/>
              <a:t>body-parser</a:t>
            </a:r>
            <a:r>
              <a:rPr lang="en-US" sz="2200" dirty="0" smtClean="0">
                <a:latin typeface="Consolas" pitchFamily="49" charset="0"/>
              </a:rPr>
              <a:t>@</a:t>
            </a:r>
            <a:r>
              <a:rPr lang="en-US" sz="2200" dirty="0" smtClean="0"/>
              <a:t>1.19.0</a:t>
            </a:r>
          </a:p>
          <a:p>
            <a:r>
              <a:rPr lang="en-US" sz="2200" dirty="0" err="1" smtClean="0">
                <a:latin typeface="Consolas" pitchFamily="49" charset="0"/>
              </a:rPr>
              <a:t>npm</a:t>
            </a:r>
            <a:r>
              <a:rPr lang="en-US" sz="2200" dirty="0" smtClean="0">
                <a:latin typeface="Consolas" pitchFamily="49" charset="0"/>
              </a:rPr>
              <a:t> </a:t>
            </a:r>
            <a:r>
              <a:rPr lang="en-US" sz="2200" dirty="0" err="1" smtClean="0">
                <a:latin typeface="Consolas" pitchFamily="49" charset="0"/>
              </a:rPr>
              <a:t>i</a:t>
            </a:r>
            <a:r>
              <a:rPr lang="en-US" sz="2200" dirty="0" smtClean="0">
                <a:latin typeface="Consolas" pitchFamily="49" charset="0"/>
              </a:rPr>
              <a:t> --save-dev dateformat@</a:t>
            </a:r>
            <a:r>
              <a:rPr lang="en-US" sz="2200" dirty="0" smtClean="0"/>
              <a:t>4.5.1</a:t>
            </a:r>
            <a:endParaRPr lang="en-US" sz="2200" dirty="0" smtClean="0">
              <a:latin typeface="Consolas" pitchFamily="49" charset="0"/>
            </a:endParaRPr>
          </a:p>
          <a:p>
            <a:r>
              <a:rPr lang="en-US" sz="2200" dirty="0" err="1" smtClean="0">
                <a:latin typeface="Consolas" pitchFamily="49" charset="0"/>
              </a:rPr>
              <a:t>npm</a:t>
            </a:r>
            <a:r>
              <a:rPr lang="en-US" sz="2200" dirty="0" smtClean="0">
                <a:latin typeface="Consolas" pitchFamily="49" charset="0"/>
              </a:rPr>
              <a:t> </a:t>
            </a:r>
            <a:r>
              <a:rPr lang="en-US" sz="2200" dirty="0" err="1" smtClean="0">
                <a:latin typeface="Consolas" pitchFamily="49" charset="0"/>
              </a:rPr>
              <a:t>i</a:t>
            </a:r>
            <a:r>
              <a:rPr lang="en-US" sz="2200" dirty="0" smtClean="0">
                <a:latin typeface="Consolas" pitchFamily="49" charset="0"/>
              </a:rPr>
              <a:t> --save-dev </a:t>
            </a:r>
            <a:r>
              <a:rPr lang="en-US" sz="2200" dirty="0" smtClean="0"/>
              <a:t>debug</a:t>
            </a:r>
            <a:r>
              <a:rPr lang="en-US" sz="2200" dirty="0" smtClean="0">
                <a:latin typeface="Consolas" pitchFamily="49" charset="0"/>
              </a:rPr>
              <a:t>@</a:t>
            </a:r>
            <a:r>
              <a:rPr lang="en-US" sz="2200" dirty="0" smtClean="0"/>
              <a:t>4.3.1</a:t>
            </a:r>
          </a:p>
          <a:p>
            <a:r>
              <a:rPr lang="en-US" sz="2200" dirty="0" smtClean="0">
                <a:latin typeface="Consolas" pitchFamily="49" charset="0"/>
              </a:rPr>
              <a:t>...</a:t>
            </a:r>
          </a:p>
          <a:p>
            <a:r>
              <a:rPr lang="en-US" sz="2200" dirty="0" smtClean="0">
                <a:solidFill>
                  <a:srgbClr val="C00000"/>
                </a:solidFill>
                <a:latin typeface="Consolas" pitchFamily="49" charset="0"/>
              </a:rPr>
              <a:t>Important note: Repeat until all the packages are fixed.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devDependencies</a:t>
            </a:r>
            <a:endParaRPr lang="en-US" dirty="0"/>
          </a:p>
        </p:txBody>
      </p:sp>
      <p:sp>
        <p:nvSpPr>
          <p:cNvPr id="3" name="Content Placeholder 2"/>
          <p:cNvSpPr>
            <a:spLocks noGrp="1"/>
          </p:cNvSpPr>
          <p:nvPr>
            <p:ph idx="1"/>
          </p:nvPr>
        </p:nvSpPr>
        <p:spPr/>
        <p:txBody>
          <a:bodyPr/>
          <a:lstStyle/>
          <a:p>
            <a:r>
              <a:rPr lang="en-US" sz="2200" dirty="0" smtClean="0">
                <a:hlinkClick r:id="rId2"/>
              </a:rPr>
              <a:t>https://github.com/npm/npm/blob/2e3776bf5676bc24fec6239a3420f377fe98acde/doc/files/package.json.md#devdependencies</a:t>
            </a:r>
            <a:endParaRPr lang="en-US" sz="2200" dirty="0" smtClean="0"/>
          </a:p>
          <a:p>
            <a:r>
              <a:rPr lang="en-US" sz="2400" dirty="0" smtClean="0"/>
              <a:t>f someone is planning on downloading and using your module in their program, then they probably don't want or need to download and build the external test or documentation framework that you use.</a:t>
            </a:r>
          </a:p>
          <a:p>
            <a:r>
              <a:rPr lang="en-US" sz="2400" dirty="0" smtClean="0"/>
              <a:t>In this case, it's best to list these additional items in a </a:t>
            </a:r>
            <a:r>
              <a:rPr lang="en-US" sz="2400" b="1" dirty="0" err="1" smtClean="0">
                <a:latin typeface="Consolas" pitchFamily="49" charset="0"/>
              </a:rPr>
              <a:t>devDependencies</a:t>
            </a:r>
            <a:r>
              <a:rPr lang="en-US" sz="2400" dirty="0" smtClean="0"/>
              <a:t> hash.</a:t>
            </a:r>
          </a:p>
          <a:p>
            <a:endParaRPr 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Check Deprecated Packages</a:t>
            </a:r>
            <a:endParaRPr lang="en-US" dirty="0"/>
          </a:p>
        </p:txBody>
      </p:sp>
      <p:sp>
        <p:nvSpPr>
          <p:cNvPr id="3" name="Content Placeholder 2"/>
          <p:cNvSpPr>
            <a:spLocks noGrp="1"/>
          </p:cNvSpPr>
          <p:nvPr>
            <p:ph idx="1"/>
          </p:nvPr>
        </p:nvSpPr>
        <p:spPr/>
        <p:txBody>
          <a:bodyPr/>
          <a:lstStyle/>
          <a:p>
            <a:r>
              <a:rPr lang="en-US" sz="2800" dirty="0" smtClean="0"/>
              <a:t>To discover deprecated packages, run </a:t>
            </a:r>
            <a:endParaRPr lang="en-US" sz="2800" dirty="0" smtClean="0">
              <a:latin typeface="Consolas" pitchFamily="49" charset="0"/>
            </a:endParaRPr>
          </a:p>
          <a:p>
            <a:pPr lvl="1"/>
            <a:r>
              <a:rPr lang="en-US" sz="2200" dirty="0" err="1" smtClean="0">
                <a:latin typeface="Consolas" pitchFamily="49" charset="0"/>
              </a:rPr>
              <a:t>sudo</a:t>
            </a:r>
            <a:r>
              <a:rPr lang="en-US" sz="2200" dirty="0" smtClean="0">
                <a:latin typeface="Consolas" pitchFamily="49" charset="0"/>
              </a:rPr>
              <a:t> </a:t>
            </a:r>
            <a:r>
              <a:rPr lang="en-US" sz="2200" dirty="0" err="1" smtClean="0">
                <a:latin typeface="Consolas" pitchFamily="49" charset="0"/>
              </a:rPr>
              <a:t>rm</a:t>
            </a:r>
            <a:r>
              <a:rPr lang="en-US" sz="2200" dirty="0" smtClean="0">
                <a:latin typeface="Consolas" pitchFamily="49" charset="0"/>
              </a:rPr>
              <a:t> -</a:t>
            </a:r>
            <a:r>
              <a:rPr lang="en-US" sz="2200" dirty="0" err="1" smtClean="0">
                <a:latin typeface="Consolas" pitchFamily="49" charset="0"/>
              </a:rPr>
              <a:t>rf</a:t>
            </a:r>
            <a:r>
              <a:rPr lang="en-US" sz="2200" dirty="0" smtClean="0">
                <a:latin typeface="Consolas" pitchFamily="49" charset="0"/>
              </a:rPr>
              <a:t> </a:t>
            </a:r>
            <a:r>
              <a:rPr lang="en-US" sz="2200" dirty="0" err="1" smtClean="0">
                <a:latin typeface="Consolas" pitchFamily="49" charset="0"/>
              </a:rPr>
              <a:t>node_modules</a:t>
            </a:r>
            <a:endParaRPr lang="en-US" sz="2200" dirty="0" smtClean="0">
              <a:latin typeface="Consolas" pitchFamily="49" charset="0"/>
            </a:endParaRPr>
          </a:p>
          <a:p>
            <a:pPr lvl="1"/>
            <a:r>
              <a:rPr lang="en-US" sz="2200" dirty="0" err="1" smtClean="0">
                <a:latin typeface="Consolas" pitchFamily="49" charset="0"/>
              </a:rPr>
              <a:t>npm</a:t>
            </a:r>
            <a:r>
              <a:rPr lang="en-US" sz="2200" dirty="0" smtClean="0">
                <a:latin typeface="Consolas" pitchFamily="49" charset="0"/>
              </a:rPr>
              <a:t> install</a:t>
            </a:r>
          </a:p>
        </p:txBody>
      </p:sp>
      <p:pic>
        <p:nvPicPr>
          <p:cNvPr id="1028" name="Picture 4"/>
          <p:cNvPicPr>
            <a:picLocks noChangeAspect="1" noChangeArrowheads="1"/>
          </p:cNvPicPr>
          <p:nvPr/>
        </p:nvPicPr>
        <p:blipFill>
          <a:blip r:embed="rId2" cstate="print"/>
          <a:srcRect/>
          <a:stretch>
            <a:fillRect/>
          </a:stretch>
        </p:blipFill>
        <p:spPr bwMode="auto">
          <a:xfrm>
            <a:off x="1430338" y="3352800"/>
            <a:ext cx="6283325" cy="22860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Fix a Deprecated Package</a:t>
            </a:r>
            <a:endParaRPr lang="en-US" dirty="0"/>
          </a:p>
        </p:txBody>
      </p:sp>
      <p:sp>
        <p:nvSpPr>
          <p:cNvPr id="3" name="Content Placeholder 2"/>
          <p:cNvSpPr>
            <a:spLocks noGrp="1"/>
          </p:cNvSpPr>
          <p:nvPr>
            <p:ph idx="1"/>
          </p:nvPr>
        </p:nvSpPr>
        <p:spPr/>
        <p:txBody>
          <a:bodyPr/>
          <a:lstStyle/>
          <a:p>
            <a:r>
              <a:rPr lang="en-US" sz="2400" dirty="0" smtClean="0"/>
              <a:t>Check</a:t>
            </a:r>
          </a:p>
          <a:p>
            <a:pPr lvl="1"/>
            <a:r>
              <a:rPr lang="en-US" sz="2400" dirty="0" smtClean="0">
                <a:hlinkClick r:id="rId2"/>
              </a:rPr>
              <a:t>https://www.npmjs.com/package/@hapi/cryptiles</a:t>
            </a:r>
            <a:endParaRPr lang="en-US" sz="2400" dirty="0" smtClean="0"/>
          </a:p>
          <a:p>
            <a:pPr>
              <a:buNone/>
            </a:pPr>
            <a:r>
              <a:rPr lang="en-US" sz="2400" dirty="0" smtClean="0"/>
              <a:t>	for the latest version of @</a:t>
            </a:r>
            <a:r>
              <a:rPr lang="en-US" sz="2400" dirty="0" err="1" smtClean="0"/>
              <a:t>hapi</a:t>
            </a:r>
            <a:r>
              <a:rPr lang="en-US" sz="2400" dirty="0" smtClean="0"/>
              <a:t>/</a:t>
            </a:r>
            <a:r>
              <a:rPr lang="en-US" sz="2400" dirty="0" err="1" smtClean="0"/>
              <a:t>cryptiles</a:t>
            </a:r>
            <a:endParaRPr lang="en-US" sz="2400" dirty="0" smtClean="0"/>
          </a:p>
          <a:p>
            <a:r>
              <a:rPr lang="en-US" sz="2400" dirty="0" smtClean="0"/>
              <a:t>Open </a:t>
            </a:r>
            <a:r>
              <a:rPr lang="en-US" sz="2400" dirty="0" err="1" smtClean="0"/>
              <a:t>packages.json</a:t>
            </a:r>
            <a:r>
              <a:rPr lang="en-US" sz="2400" dirty="0" smtClean="0"/>
              <a:t>, replace "</a:t>
            </a:r>
            <a:r>
              <a:rPr lang="en-US" sz="2400" dirty="0" err="1" smtClean="0"/>
              <a:t>cryptiles</a:t>
            </a:r>
            <a:r>
              <a:rPr lang="en-US" sz="2400" dirty="0" smtClean="0"/>
              <a:t>" by "@</a:t>
            </a:r>
            <a:r>
              <a:rPr lang="en-US" sz="2400" dirty="0" err="1" smtClean="0"/>
              <a:t>hapi</a:t>
            </a:r>
            <a:r>
              <a:rPr lang="en-US" sz="2400" dirty="0" smtClean="0"/>
              <a:t>/</a:t>
            </a:r>
            <a:r>
              <a:rPr lang="en-US" sz="2400" dirty="0" err="1" smtClean="0"/>
              <a:t>cryptiles</a:t>
            </a:r>
            <a:r>
              <a:rPr lang="en-US" sz="2400" dirty="0" smtClean="0"/>
              <a:t>", update the version, then run </a:t>
            </a:r>
            <a:endParaRPr lang="en-US" sz="2400" dirty="0" smtClean="0">
              <a:latin typeface="Consolas" pitchFamily="49" charset="0"/>
            </a:endParaRPr>
          </a:p>
          <a:p>
            <a:pPr lvl="1"/>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rm</a:t>
            </a:r>
            <a:r>
              <a:rPr lang="en-US" sz="2000" dirty="0" smtClean="0">
                <a:latin typeface="Consolas" pitchFamily="49" charset="0"/>
              </a:rPr>
              <a:t> -</a:t>
            </a:r>
            <a:r>
              <a:rPr lang="en-US" sz="2000" dirty="0" err="1" smtClean="0">
                <a:latin typeface="Consolas" pitchFamily="49" charset="0"/>
              </a:rPr>
              <a:t>rf</a:t>
            </a:r>
            <a:r>
              <a:rPr lang="en-US" sz="2000" dirty="0" smtClean="0">
                <a:latin typeface="Consolas" pitchFamily="49" charset="0"/>
              </a:rPr>
              <a:t> </a:t>
            </a:r>
            <a:r>
              <a:rPr lang="en-US" sz="2000" dirty="0" err="1" smtClean="0">
                <a:latin typeface="Consolas" pitchFamily="49" charset="0"/>
              </a:rPr>
              <a:t>node_modules</a:t>
            </a:r>
            <a:endParaRPr lang="en-US" sz="2000" dirty="0" smtClean="0">
              <a:latin typeface="Consolas" pitchFamily="49" charset="0"/>
            </a:endParaRPr>
          </a:p>
          <a:p>
            <a:pPr lvl="1"/>
            <a:r>
              <a:rPr lang="en-US" sz="2000" dirty="0" err="1" smtClean="0">
                <a:latin typeface="Consolas" pitchFamily="49" charset="0"/>
              </a:rPr>
              <a:t>npm</a:t>
            </a:r>
            <a:r>
              <a:rPr lang="en-US" sz="2000" dirty="0" smtClean="0">
                <a:latin typeface="Consolas" pitchFamily="49" charset="0"/>
              </a:rPr>
              <a:t> install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Manually Fix Vulnerabilities</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audit</a:t>
            </a:r>
          </a:p>
        </p:txBody>
      </p:sp>
      <p:pic>
        <p:nvPicPr>
          <p:cNvPr id="3075" name="Picture 3"/>
          <p:cNvPicPr>
            <a:picLocks noChangeAspect="1" noChangeArrowheads="1"/>
          </p:cNvPicPr>
          <p:nvPr/>
        </p:nvPicPr>
        <p:blipFill>
          <a:blip r:embed="rId2" cstate="print"/>
          <a:srcRect/>
          <a:stretch>
            <a:fillRect/>
          </a:stretch>
        </p:blipFill>
        <p:spPr bwMode="auto">
          <a:xfrm>
            <a:off x="1828800" y="2667000"/>
            <a:ext cx="5502275" cy="211137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Find the Latest Version or an Alternative Package</a:t>
            </a:r>
            <a:endParaRPr lang="en-US" sz="3800" dirty="0"/>
          </a:p>
        </p:txBody>
      </p:sp>
      <p:sp>
        <p:nvSpPr>
          <p:cNvPr id="3" name="Content Placeholder 2"/>
          <p:cNvSpPr>
            <a:spLocks noGrp="1"/>
          </p:cNvSpPr>
          <p:nvPr>
            <p:ph idx="1"/>
          </p:nvPr>
        </p:nvSpPr>
        <p:spPr/>
        <p:txBody>
          <a:bodyPr/>
          <a:lstStyle/>
          <a:p>
            <a:r>
              <a:rPr lang="en-US" sz="2400" dirty="0" smtClean="0">
                <a:latin typeface="+mj-lt"/>
                <a:hlinkClick r:id="rId2"/>
              </a:rPr>
              <a:t>https://www.npmjs.com/search?q=youtube-info</a:t>
            </a:r>
            <a:endParaRPr lang="en-US" sz="2400" dirty="0" smtClean="0">
              <a:latin typeface="+mj-lt"/>
            </a:endParaRPr>
          </a:p>
          <a:p>
            <a:endParaRPr lang="en-US" sz="2400" dirty="0">
              <a:latin typeface="+mj-lt"/>
            </a:endParaRPr>
          </a:p>
        </p:txBody>
      </p:sp>
      <p:pic>
        <p:nvPicPr>
          <p:cNvPr id="4100" name="Picture 4"/>
          <p:cNvPicPr>
            <a:picLocks noChangeAspect="1" noChangeArrowheads="1"/>
          </p:cNvPicPr>
          <p:nvPr/>
        </p:nvPicPr>
        <p:blipFill>
          <a:blip r:embed="rId3" cstate="print"/>
          <a:srcRect/>
          <a:stretch>
            <a:fillRect/>
          </a:stretch>
        </p:blipFill>
        <p:spPr bwMode="auto">
          <a:xfrm>
            <a:off x="762000" y="2514600"/>
            <a:ext cx="7632383" cy="333756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3. Install the Latest Version or an Alternative Package</a:t>
            </a:r>
            <a:endParaRPr lang="en-US" sz="3800"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uninstall </a:t>
            </a:r>
            <a:r>
              <a:rPr lang="en-US" sz="2400" dirty="0" err="1" smtClean="0">
                <a:latin typeface="Consolas" pitchFamily="49" charset="0"/>
              </a:rPr>
              <a:t>youtube</a:t>
            </a:r>
            <a:r>
              <a:rPr lang="en-US" sz="2400" dirty="0" smtClean="0">
                <a:latin typeface="Consolas" pitchFamily="49" charset="0"/>
              </a:rPr>
              <a:t>-info</a:t>
            </a:r>
          </a:p>
          <a:p>
            <a:r>
              <a:rPr lang="en-US" sz="2400" dirty="0" err="1" smtClean="0">
                <a:latin typeface="Consolas" pitchFamily="49" charset="0"/>
              </a:rPr>
              <a:t>npm</a:t>
            </a:r>
            <a:r>
              <a:rPr lang="en-US" sz="2400" dirty="0" smtClean="0">
                <a:latin typeface="Consolas" pitchFamily="49" charset="0"/>
              </a:rPr>
              <a:t> </a:t>
            </a:r>
            <a:r>
              <a:rPr lang="en-US" sz="2400" dirty="0" err="1" smtClean="0">
                <a:latin typeface="Consolas" pitchFamily="49" charset="0"/>
              </a:rPr>
              <a:t>i</a:t>
            </a:r>
            <a:r>
              <a:rPr lang="en-US" sz="2400" dirty="0" smtClean="0">
                <a:latin typeface="Consolas" pitchFamily="49" charset="0"/>
              </a:rPr>
              <a:t> </a:t>
            </a:r>
            <a:r>
              <a:rPr lang="en-US" sz="2400" dirty="0" err="1" smtClean="0">
                <a:latin typeface="Consolas" pitchFamily="49" charset="0"/>
              </a:rPr>
              <a:t>youtube</a:t>
            </a:r>
            <a:r>
              <a:rPr lang="en-US" sz="2400" dirty="0" smtClean="0">
                <a:latin typeface="Consolas" pitchFamily="49" charset="0"/>
              </a:rPr>
              <a:t>-info-ant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Run an Application</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npm</a:t>
            </a:r>
            <a:r>
              <a:rPr lang="en-US" sz="2400" dirty="0" smtClean="0">
                <a:latin typeface="Consolas" pitchFamily="49" charset="0"/>
              </a:rPr>
              <a:t> update</a:t>
            </a:r>
          </a:p>
          <a:p>
            <a:r>
              <a:rPr lang="en-US" sz="2400" dirty="0" err="1" smtClean="0">
                <a:latin typeface="Consolas" pitchFamily="49" charset="0"/>
              </a:rPr>
              <a:t>npm</a:t>
            </a:r>
            <a:r>
              <a:rPr lang="en-US" sz="2400" dirty="0" smtClean="0">
                <a:latin typeface="Consolas" pitchFamily="49" charset="0"/>
              </a:rPr>
              <a:t> start</a:t>
            </a:r>
          </a:p>
          <a:p>
            <a:endParaRPr lang="en-US" sz="2400" dirty="0" smtClean="0">
              <a:latin typeface="Consolas" pitchFamily="49" charset="0"/>
            </a:endParaRPr>
          </a:p>
        </p:txBody>
      </p:sp>
      <p:pic>
        <p:nvPicPr>
          <p:cNvPr id="5122" name="Picture 2"/>
          <p:cNvPicPr>
            <a:picLocks noChangeAspect="1" noChangeArrowheads="1"/>
          </p:cNvPicPr>
          <p:nvPr/>
        </p:nvPicPr>
        <p:blipFill>
          <a:blip r:embed="rId2" cstate="print"/>
          <a:srcRect/>
          <a:stretch>
            <a:fillRect/>
          </a:stretch>
        </p:blipFill>
        <p:spPr bwMode="auto">
          <a:xfrm>
            <a:off x="1430338" y="2933700"/>
            <a:ext cx="6283325" cy="25527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Test a GET API</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curl </a:t>
            </a:r>
            <a:r>
              <a:rPr lang="en-US" sz="2400" dirty="0" smtClean="0">
                <a:hlinkClick r:id="rId2"/>
              </a:rPr>
              <a:t>http://macpro:3000/api/categories</a:t>
            </a:r>
            <a:endParaRPr lang="en-US" sz="2400" dirty="0" smtClean="0"/>
          </a:p>
        </p:txBody>
      </p:sp>
      <p:pic>
        <p:nvPicPr>
          <p:cNvPr id="6146" name="Picture 2"/>
          <p:cNvPicPr>
            <a:picLocks noChangeAspect="1" noChangeArrowheads="1"/>
          </p:cNvPicPr>
          <p:nvPr/>
        </p:nvPicPr>
        <p:blipFill>
          <a:blip r:embed="rId3" cstate="print"/>
          <a:srcRect/>
          <a:stretch>
            <a:fillRect/>
          </a:stretch>
        </p:blipFill>
        <p:spPr bwMode="auto">
          <a:xfrm>
            <a:off x="1143000" y="2819400"/>
            <a:ext cx="7367588" cy="2828925"/>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Test a POST API</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curl -X POST http://localhost:5500/api/users/login -H "Content-Type: application/</a:t>
            </a:r>
            <a:r>
              <a:rPr lang="en-US" sz="2400" dirty="0" err="1" smtClean="0">
                <a:latin typeface="Consolas" pitchFamily="49" charset="0"/>
              </a:rPr>
              <a:t>json</a:t>
            </a:r>
            <a:r>
              <a:rPr lang="en-US" sz="2400" dirty="0" smtClean="0">
                <a:latin typeface="Consolas" pitchFamily="49" charset="0"/>
              </a:rPr>
              <a:t>" -d "{\"email\":\"test@domain.com\",\"password\":\"123456\"}"</a:t>
            </a:r>
            <a:endParaRPr lang="en-US" sz="2400" dirty="0" smtClean="0"/>
          </a:p>
        </p:txBody>
      </p:sp>
      <p:pic>
        <p:nvPicPr>
          <p:cNvPr id="1026" name="Picture 2"/>
          <p:cNvPicPr>
            <a:picLocks noChangeAspect="1" noChangeArrowheads="1"/>
          </p:cNvPicPr>
          <p:nvPr/>
        </p:nvPicPr>
        <p:blipFill>
          <a:blip r:embed="rId2" cstate="print"/>
          <a:srcRect/>
          <a:stretch>
            <a:fillRect/>
          </a:stretch>
        </p:blipFill>
        <p:spPr bwMode="auto">
          <a:xfrm>
            <a:off x="1063625" y="4013200"/>
            <a:ext cx="7016750" cy="14732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3. Create Windows Environment Variables</a:t>
            </a:r>
            <a:endParaRPr lang="en-US" sz="3800" dirty="0"/>
          </a:p>
        </p:txBody>
      </p:sp>
      <p:pic>
        <p:nvPicPr>
          <p:cNvPr id="1027" name="Picture 3"/>
          <p:cNvPicPr>
            <a:picLocks noChangeAspect="1" noChangeArrowheads="1"/>
          </p:cNvPicPr>
          <p:nvPr/>
        </p:nvPicPr>
        <p:blipFill>
          <a:blip r:embed="rId2" cstate="print"/>
          <a:srcRect/>
          <a:stretch>
            <a:fillRect/>
          </a:stretch>
        </p:blipFill>
        <p:spPr bwMode="auto">
          <a:xfrm>
            <a:off x="828675" y="1600200"/>
            <a:ext cx="7486650" cy="462915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Node.js? [2]</a:t>
            </a:r>
            <a:endParaRPr lang="en-US" dirty="0"/>
          </a:p>
        </p:txBody>
      </p:sp>
      <p:sp>
        <p:nvSpPr>
          <p:cNvPr id="3" name="Content Placeholder 2"/>
          <p:cNvSpPr>
            <a:spLocks noGrp="1"/>
          </p:cNvSpPr>
          <p:nvPr>
            <p:ph idx="1"/>
          </p:nvPr>
        </p:nvSpPr>
        <p:spPr/>
        <p:txBody>
          <a:bodyPr/>
          <a:lstStyle/>
          <a:p>
            <a:r>
              <a:rPr lang="en-US" sz="2400" dirty="0" smtClean="0"/>
              <a:t>It can be considered as a </a:t>
            </a:r>
            <a:r>
              <a:rPr lang="en-US" sz="2400" i="1" dirty="0" smtClean="0">
                <a:solidFill>
                  <a:srgbClr val="C00000"/>
                </a:solidFill>
              </a:rPr>
              <a:t>runtime environment for JavaScript</a:t>
            </a:r>
            <a:r>
              <a:rPr lang="en-US" sz="2400" dirty="0" smtClean="0"/>
              <a:t> built on top of </a:t>
            </a:r>
            <a:r>
              <a:rPr lang="en-US" sz="2400" u="sng" dirty="0" smtClean="0"/>
              <a:t>Google's V8 engine</a:t>
            </a:r>
            <a:r>
              <a:rPr lang="en-US" sz="2400" dirty="0" smtClean="0"/>
              <a:t>.</a:t>
            </a:r>
          </a:p>
          <a:p>
            <a:r>
              <a:rPr lang="en-US" sz="2400" dirty="0" smtClean="0"/>
              <a:t>It provides us with a context where we can write </a:t>
            </a:r>
            <a:r>
              <a:rPr lang="en-US" sz="2400" i="1" dirty="0" smtClean="0">
                <a:solidFill>
                  <a:srgbClr val="C00000"/>
                </a:solidFill>
              </a:rPr>
              <a:t>JavaScript code</a:t>
            </a:r>
            <a:r>
              <a:rPr lang="en-US" sz="2400" dirty="0" smtClean="0"/>
              <a:t> on any platform where Node.js can be installed.</a:t>
            </a:r>
          </a:p>
          <a:p>
            <a:r>
              <a:rPr lang="en-US" sz="2400" dirty="0" smtClean="0"/>
              <a:t>JavaScript is an interpreted language and it will not be as efficient as a compiled language, as each line of code gets interpreted one by one while the code gets executed.</a:t>
            </a:r>
          </a:p>
          <a:p>
            <a:r>
              <a:rPr lang="en-US" sz="2400" dirty="0" smtClean="0"/>
              <a:t>The V8 engine brings in an efficient model, where the JavaScript code is first interpreted and then compiled into machine-level code.</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Node.js?</a:t>
            </a:r>
            <a:endParaRPr lang="en-US" dirty="0"/>
          </a:p>
        </p:txBody>
      </p:sp>
      <p:sp>
        <p:nvSpPr>
          <p:cNvPr id="3" name="Content Placeholder 2"/>
          <p:cNvSpPr>
            <a:spLocks noGrp="1"/>
          </p:cNvSpPr>
          <p:nvPr>
            <p:ph idx="1"/>
          </p:nvPr>
        </p:nvSpPr>
        <p:spPr/>
        <p:txBody>
          <a:bodyPr/>
          <a:lstStyle/>
          <a:p>
            <a:r>
              <a:rPr lang="en-US" sz="2200" dirty="0" smtClean="0"/>
              <a:t>Typical PHP, ASP.NET, Ruby, or Java-based servers follow a model where each client request results in the instantiation of a new thread or even a process.</a:t>
            </a:r>
          </a:p>
          <a:p>
            <a:r>
              <a:rPr lang="en-US" sz="2200" dirty="0" smtClean="0"/>
              <a:t>When it comes to Node.js, requests are run on the same thread with shared resources.</a:t>
            </a:r>
          </a:p>
          <a:p>
            <a:r>
              <a:rPr lang="en-US" sz="2200" dirty="0" smtClean="0"/>
              <a:t>It tries to do asynchronous processing on a single thread to provide more performance and scalability for applications that are supposed to handle too much web traffic.</a:t>
            </a:r>
          </a:p>
          <a:p>
            <a:r>
              <a:rPr lang="en-US" sz="2200" dirty="0" smtClean="0"/>
              <a:t>Imagine web applications that handle millions of concurrent requests; if the server makes a new thread for handling each request that comes in, it will consume a lot of resources and we will end up trying to add more and more servers to increase the scalability of the application.</a:t>
            </a:r>
            <a:endParaRPr lang="en-US"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The point that Node.js is single-threaded doesn't mean that it doesn't use threads internally.</a:t>
            </a:r>
          </a:p>
          <a:p>
            <a:r>
              <a:rPr lang="en-US" sz="2400" dirty="0" smtClean="0"/>
              <a:t>It is just that the developer and the execution context that the code has exposure to have </a:t>
            </a:r>
            <a:r>
              <a:rPr lang="en-US" sz="2400" i="1" dirty="0" smtClean="0">
                <a:solidFill>
                  <a:srgbClr val="C00000"/>
                </a:solidFill>
              </a:rPr>
              <a:t>no control over the threading model</a:t>
            </a:r>
            <a:r>
              <a:rPr lang="en-US" sz="2400" dirty="0" smtClean="0"/>
              <a:t> internally used by Node.js.</a:t>
            </a:r>
          </a:p>
          <a:p>
            <a:r>
              <a:rPr lang="en-US" sz="2200" dirty="0" smtClean="0">
                <a:hlinkClick r:id="rId2"/>
              </a:rPr>
              <a:t>http://www.cs.ucsb.edu/~rich/class/cs170/notes/IntroThreads/</a:t>
            </a:r>
            <a:endParaRPr lang="en-US" sz="2200"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Non-blocking Asynchronous Execution</a:t>
            </a:r>
            <a:endParaRPr lang="en-US" sz="4000" dirty="0"/>
          </a:p>
        </p:txBody>
      </p:sp>
      <p:sp>
        <p:nvSpPr>
          <p:cNvPr id="2049" name="AutoShape 1" descr="ms-local-stream://EpubReader_76B8227632984B398975EDD8A0113B2C/Content/assets/5d3b673d-680b-4465-9fb5-f39e91ffc1a9.jp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2133600" y="1447800"/>
            <a:ext cx="4944618" cy="3161538"/>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2352675" y="4752975"/>
            <a:ext cx="4581525" cy="172402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Sharing and Reusing JavaScript</a:t>
            </a:r>
            <a:endParaRPr lang="en-US" dirty="0"/>
          </a:p>
        </p:txBody>
      </p:sp>
      <p:sp>
        <p:nvSpPr>
          <p:cNvPr id="3" name="Content Placeholder 2"/>
          <p:cNvSpPr>
            <a:spLocks noGrp="1"/>
          </p:cNvSpPr>
          <p:nvPr>
            <p:ph idx="1"/>
          </p:nvPr>
        </p:nvSpPr>
        <p:spPr/>
        <p:txBody>
          <a:bodyPr/>
          <a:lstStyle/>
          <a:p>
            <a:r>
              <a:rPr lang="en-US" sz="2200" dirty="0" smtClean="0"/>
              <a:t>While you develop web applications, you will always end up doing the </a:t>
            </a:r>
            <a:r>
              <a:rPr lang="en-US" sz="2200" i="1" dirty="0" smtClean="0">
                <a:solidFill>
                  <a:srgbClr val="C00000"/>
                </a:solidFill>
              </a:rPr>
              <a:t>validations for your UI</a:t>
            </a:r>
            <a:r>
              <a:rPr lang="en-US" sz="2200" dirty="0" smtClean="0"/>
              <a:t>, both at the client and server sides, as the client-side validations are required for better UI experience and server-side validations are needed for better security of the app.</a:t>
            </a:r>
          </a:p>
          <a:p>
            <a:r>
              <a:rPr lang="en-US" sz="2200" dirty="0" smtClean="0"/>
              <a:t>Think about two different languages in action: you will have the same logic implemented in both the server and client sides.</a:t>
            </a:r>
          </a:p>
          <a:p>
            <a:r>
              <a:rPr lang="en-US" sz="2200" dirty="0" smtClean="0"/>
              <a:t>With Node.js, you can think of sharing the common function between server and client, reducing the code duplication to a large extent.</a:t>
            </a:r>
          </a:p>
          <a:p>
            <a:r>
              <a:rPr lang="en-US" sz="2200" dirty="0" smtClean="0"/>
              <a:t>Think about the </a:t>
            </a:r>
            <a:r>
              <a:rPr lang="en-US" sz="2200" i="1" dirty="0" smtClean="0">
                <a:solidFill>
                  <a:srgbClr val="C00000"/>
                </a:solidFill>
              </a:rPr>
              <a:t>templates</a:t>
            </a:r>
            <a:r>
              <a:rPr lang="en-US" sz="2200" dirty="0" smtClean="0"/>
              <a:t>, </a:t>
            </a:r>
            <a:r>
              <a:rPr lang="en-US" sz="2200" i="1" dirty="0" smtClean="0">
                <a:solidFill>
                  <a:srgbClr val="C00000"/>
                </a:solidFill>
              </a:rPr>
              <a:t>models</a:t>
            </a:r>
            <a:r>
              <a:rPr lang="en-US" sz="2200" dirty="0" smtClean="0"/>
              <a:t>, and </a:t>
            </a:r>
            <a:r>
              <a:rPr lang="en-US" sz="2200" i="1" dirty="0" smtClean="0">
                <a:solidFill>
                  <a:srgbClr val="C00000"/>
                </a:solidFill>
              </a:rPr>
              <a:t>controller</a:t>
            </a:r>
            <a:r>
              <a:rPr lang="en-US" sz="2200" dirty="0" smtClean="0"/>
              <a:t> subsets being shared on both client and server.</a:t>
            </a:r>
          </a:p>
          <a:p>
            <a:r>
              <a:rPr lang="en-US" sz="2200" dirty="0" smtClean="0"/>
              <a:t>We are solving a higher scenario of </a:t>
            </a:r>
            <a:r>
              <a:rPr lang="en-US" sz="2200" i="1" dirty="0" smtClean="0">
                <a:solidFill>
                  <a:srgbClr val="C00000"/>
                </a:solidFill>
              </a:rPr>
              <a:t>code redundancy</a:t>
            </a:r>
            <a:r>
              <a:rPr lang="en-US" sz="2200" dirty="0" smtClean="0"/>
              <a:t>.</a:t>
            </a:r>
            <a:endParaRPr lang="en-US"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Lot of Libraries</a:t>
            </a:r>
            <a:endParaRPr lang="en-US" dirty="0"/>
          </a:p>
        </p:txBody>
      </p:sp>
      <p:sp>
        <p:nvSpPr>
          <p:cNvPr id="3" name="Content Placeholder 2"/>
          <p:cNvSpPr>
            <a:spLocks noGrp="1"/>
          </p:cNvSpPr>
          <p:nvPr>
            <p:ph idx="1"/>
          </p:nvPr>
        </p:nvSpPr>
        <p:spPr/>
        <p:txBody>
          <a:bodyPr/>
          <a:lstStyle/>
          <a:p>
            <a:r>
              <a:rPr lang="en-US" sz="2200" dirty="0" smtClean="0"/>
              <a:t>Grunt.js is a great example of a Node-powered </a:t>
            </a:r>
            <a:r>
              <a:rPr lang="en-US" sz="2200" i="1" dirty="0" smtClean="0">
                <a:solidFill>
                  <a:srgbClr val="C00000"/>
                </a:solidFill>
              </a:rPr>
              <a:t>command-line tool</a:t>
            </a:r>
            <a:r>
              <a:rPr lang="en-US" sz="2200" dirty="0" smtClean="0"/>
              <a:t> that many web developers use daily to automate tasks such as build processes, compiling </a:t>
            </a:r>
            <a:r>
              <a:rPr lang="en-US" sz="2200" dirty="0" err="1" smtClean="0"/>
              <a:t>CoffeeScript</a:t>
            </a:r>
            <a:r>
              <a:rPr lang="en-US" sz="2200" dirty="0" smtClean="0"/>
              <a:t>, launching Node.js servers, running tests.</a:t>
            </a:r>
          </a:p>
          <a:p>
            <a:r>
              <a:rPr lang="en-US" sz="2200" dirty="0" smtClean="0"/>
              <a:t>Johnny-Five and Cylon.js are two popular Node.js libraries that exist to provide a framework to work with </a:t>
            </a:r>
            <a:r>
              <a:rPr lang="en-US" sz="2200" i="1" dirty="0" smtClean="0">
                <a:solidFill>
                  <a:srgbClr val="C00000"/>
                </a:solidFill>
              </a:rPr>
              <a:t>robotics</a:t>
            </a:r>
            <a:r>
              <a:rPr lang="en-US" sz="2200" dirty="0" smtClean="0"/>
              <a:t>.</a:t>
            </a:r>
          </a:p>
          <a:p>
            <a:r>
              <a:rPr lang="en-US" sz="2200" dirty="0" smtClean="0"/>
              <a:t>Node.js has a couple of frameworks built for </a:t>
            </a:r>
            <a:r>
              <a:rPr lang="en-US" sz="2200" i="1" dirty="0" smtClean="0">
                <a:solidFill>
                  <a:srgbClr val="C00000"/>
                </a:solidFill>
              </a:rPr>
              <a:t>real-time web applications</a:t>
            </a:r>
            <a:r>
              <a:rPr lang="en-US" sz="2200" dirty="0" smtClean="0"/>
              <a:t> which are hugely popular: Socket.io and Sock.JS.</a:t>
            </a:r>
          </a:p>
          <a:p>
            <a:r>
              <a:rPr lang="en-US" sz="2200" dirty="0" smtClean="0"/>
              <a:t>With </a:t>
            </a:r>
            <a:r>
              <a:rPr lang="en-US" sz="2200" dirty="0" err="1" smtClean="0"/>
              <a:t>Node.js's</a:t>
            </a:r>
            <a:r>
              <a:rPr lang="en-US" sz="2200" dirty="0" smtClean="0"/>
              <a:t> networking modules, you can create server and client applications that accept network connections and communicate via </a:t>
            </a:r>
            <a:r>
              <a:rPr lang="en-US" sz="2200" i="1" dirty="0" smtClean="0">
                <a:solidFill>
                  <a:srgbClr val="C00000"/>
                </a:solidFill>
              </a:rPr>
              <a:t>streams</a:t>
            </a:r>
            <a:r>
              <a:rPr lang="en-US" sz="2200" dirty="0" smtClean="0"/>
              <a:t> and pipes.</a:t>
            </a:r>
          </a:p>
          <a:p>
            <a:r>
              <a:rPr lang="en-US" sz="2200" dirty="0" smtClean="0"/>
              <a:t>Node.js packages for </a:t>
            </a:r>
            <a:r>
              <a:rPr lang="en-US" sz="2200" dirty="0" err="1" smtClean="0"/>
              <a:t>Arduino</a:t>
            </a:r>
            <a:r>
              <a:rPr lang="en-US" sz="2200" dirty="0" smtClean="0"/>
              <a:t>, Raspberry Pi (</a:t>
            </a:r>
            <a:r>
              <a:rPr lang="en-US" sz="2200" dirty="0" err="1" smtClean="0"/>
              <a:t>IoT</a:t>
            </a:r>
            <a:r>
              <a:rPr lang="en-US" sz="2200" dirty="0" smtClean="0"/>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Module System Review</a:t>
            </a:r>
            <a:endParaRPr lang="en-US" dirty="0"/>
          </a:p>
        </p:txBody>
      </p:sp>
      <p:sp>
        <p:nvSpPr>
          <p:cNvPr id="3" name="Content Placeholder 2"/>
          <p:cNvSpPr>
            <a:spLocks noGrp="1"/>
          </p:cNvSpPr>
          <p:nvPr>
            <p:ph idx="1"/>
          </p:nvPr>
        </p:nvSpPr>
        <p:spPr>
          <a:xfrm>
            <a:off x="457200" y="1600201"/>
            <a:ext cx="8229600" cy="1752599"/>
          </a:xfrm>
        </p:spPr>
        <p:txBody>
          <a:bodyPr/>
          <a:lstStyle/>
          <a:p>
            <a:r>
              <a:rPr lang="en-US" sz="2000" dirty="0" smtClean="0"/>
              <a:t>You write a code fulfilling a single concern, and export this code using </a:t>
            </a:r>
            <a:r>
              <a:rPr lang="en-US" sz="2000" dirty="0" err="1" smtClean="0"/>
              <a:t>module.exports</a:t>
            </a:r>
            <a:r>
              <a:rPr lang="en-US" sz="2000" dirty="0" smtClean="0"/>
              <a:t> (or simply exports) as a module that serves that single purpose.</a:t>
            </a:r>
          </a:p>
          <a:p>
            <a:r>
              <a:rPr lang="en-US" sz="2000" dirty="0" smtClean="0"/>
              <a:t>Whenever you need to use that code elsewhere in your code base, you will require that module.</a:t>
            </a:r>
            <a:endParaRPr lang="en-US" sz="2000" dirty="0"/>
          </a:p>
        </p:txBody>
      </p:sp>
      <p:sp>
        <p:nvSpPr>
          <p:cNvPr id="4" name="Rectangle 3"/>
          <p:cNvSpPr/>
          <p:nvPr/>
        </p:nvSpPr>
        <p:spPr>
          <a:xfrm>
            <a:off x="838200" y="3352800"/>
            <a:ext cx="7772400" cy="3323987"/>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400" b="1" dirty="0" smtClean="0">
                <a:solidFill>
                  <a:schemeClr val="tx1"/>
                </a:solidFill>
                <a:latin typeface="Consolas" pitchFamily="49" charset="0"/>
              </a:rPr>
              <a:t>// ** file: dowork.js </a:t>
            </a:r>
          </a:p>
          <a:p>
            <a:r>
              <a:rPr lang="en-US" sz="1400" b="1" dirty="0" err="1" smtClean="0">
                <a:solidFill>
                  <a:schemeClr val="tx1"/>
                </a:solidFill>
                <a:latin typeface="Consolas" pitchFamily="49" charset="0"/>
              </a:rPr>
              <a:t>module.exports</a:t>
            </a:r>
            <a:r>
              <a:rPr lang="en-US" sz="1400" b="1" dirty="0" smtClean="0">
                <a:solidFill>
                  <a:schemeClr val="tx1"/>
                </a:solidFill>
                <a:latin typeface="Consolas" pitchFamily="49" charset="0"/>
              </a:rPr>
              <a:t> = { </a:t>
            </a:r>
          </a:p>
          <a:p>
            <a:r>
              <a:rPr lang="en-US" sz="1400" b="1" dirty="0" smtClean="0">
                <a:solidFill>
                  <a:schemeClr val="tx1"/>
                </a:solidFill>
                <a:latin typeface="Consolas" pitchFamily="49" charset="0"/>
              </a:rPr>
              <a:t>  </a:t>
            </a:r>
            <a:r>
              <a:rPr lang="en-US" sz="1400" b="1" dirty="0" err="1" smtClean="0">
                <a:solidFill>
                  <a:schemeClr val="tx1"/>
                </a:solidFill>
                <a:latin typeface="Consolas" pitchFamily="49" charset="0"/>
              </a:rPr>
              <a:t>doWork</a:t>
            </a:r>
            <a:r>
              <a:rPr lang="en-US" sz="1400" b="1" dirty="0" smtClean="0">
                <a:solidFill>
                  <a:schemeClr val="tx1"/>
                </a:solidFill>
                <a:latin typeface="Consolas" pitchFamily="49" charset="0"/>
              </a:rPr>
              <a:t>: function(param1, param2) { </a:t>
            </a:r>
          </a:p>
          <a:p>
            <a:r>
              <a:rPr lang="en-US" sz="1400" b="1" dirty="0" smtClean="0">
                <a:solidFill>
                  <a:schemeClr val="tx1"/>
                </a:solidFill>
                <a:latin typeface="Consolas" pitchFamily="49" charset="0"/>
              </a:rPr>
              <a:t>    return param1 + param2; </a:t>
            </a:r>
          </a:p>
          <a:p>
            <a:r>
              <a:rPr lang="en-US" sz="1400" b="1" dirty="0" smtClean="0">
                <a:solidFill>
                  <a:schemeClr val="tx1"/>
                </a:solidFill>
                <a:latin typeface="Consolas" pitchFamily="49" charset="0"/>
              </a:rPr>
              <a:t>  }   </a:t>
            </a:r>
          </a:p>
          <a:p>
            <a:r>
              <a:rPr lang="en-US" sz="1400" b="1" dirty="0" smtClean="0">
                <a:solidFill>
                  <a:schemeClr val="tx1"/>
                </a:solidFill>
                <a:latin typeface="Consolas" pitchFamily="49" charset="0"/>
              </a:rPr>
              <a:t>} </a:t>
            </a:r>
          </a:p>
          <a:p>
            <a:r>
              <a:rPr lang="en-US" sz="1400" b="1" dirty="0" smtClean="0">
                <a:solidFill>
                  <a:schemeClr val="tx1"/>
                </a:solidFill>
                <a:latin typeface="Consolas" pitchFamily="49" charset="0"/>
              </a:rPr>
              <a:t> </a:t>
            </a:r>
          </a:p>
          <a:p>
            <a:r>
              <a:rPr lang="en-US" sz="1400" b="1" dirty="0" smtClean="0">
                <a:solidFill>
                  <a:schemeClr val="tx1"/>
                </a:solidFill>
                <a:latin typeface="Consolas" pitchFamily="49" charset="0"/>
              </a:rPr>
              <a:t>// ** file: testing.js </a:t>
            </a:r>
          </a:p>
          <a:p>
            <a:r>
              <a:rPr lang="en-US" sz="1400" b="1" dirty="0" err="1" smtClean="0">
                <a:solidFill>
                  <a:schemeClr val="tx1"/>
                </a:solidFill>
                <a:latin typeface="Consolas" pitchFamily="49" charset="0"/>
              </a:rPr>
              <a:t>var</a:t>
            </a:r>
            <a:r>
              <a:rPr lang="en-US" sz="1400" b="1" dirty="0" smtClean="0">
                <a:solidFill>
                  <a:schemeClr val="tx1"/>
                </a:solidFill>
                <a:latin typeface="Consolas" pitchFamily="49" charset="0"/>
              </a:rPr>
              <a:t> worker = require('./</a:t>
            </a:r>
            <a:r>
              <a:rPr lang="en-US" sz="1400" b="1" dirty="0" err="1" smtClean="0">
                <a:solidFill>
                  <a:schemeClr val="tx1"/>
                </a:solidFill>
                <a:latin typeface="Consolas" pitchFamily="49" charset="0"/>
              </a:rPr>
              <a:t>dowork</a:t>
            </a:r>
            <a:r>
              <a:rPr lang="en-US" sz="1400" b="1" dirty="0" smtClean="0">
                <a:solidFill>
                  <a:schemeClr val="tx1"/>
                </a:solidFill>
                <a:latin typeface="Consolas" pitchFamily="49" charset="0"/>
              </a:rPr>
              <a:t>'); // note: no .</a:t>
            </a:r>
            <a:r>
              <a:rPr lang="en-US" sz="1400" b="1" dirty="0" err="1" smtClean="0">
                <a:solidFill>
                  <a:schemeClr val="tx1"/>
                </a:solidFill>
                <a:latin typeface="Consolas" pitchFamily="49" charset="0"/>
              </a:rPr>
              <a:t>js</a:t>
            </a:r>
            <a:r>
              <a:rPr lang="en-US" sz="1400" b="1" dirty="0" smtClean="0">
                <a:solidFill>
                  <a:schemeClr val="tx1"/>
                </a:solidFill>
                <a:latin typeface="Consolas" pitchFamily="49" charset="0"/>
              </a:rPr>
              <a:t> in the file </a:t>
            </a:r>
          </a:p>
          <a:p>
            <a:r>
              <a:rPr lang="en-US" sz="1400" b="1" dirty="0" smtClean="0">
                <a:solidFill>
                  <a:schemeClr val="tx1"/>
                </a:solidFill>
                <a:latin typeface="Consolas" pitchFamily="49" charset="0"/>
              </a:rPr>
              <a:t> </a:t>
            </a:r>
          </a:p>
          <a:p>
            <a:r>
              <a:rPr lang="en-US" sz="1400" b="1" dirty="0" err="1" smtClean="0">
                <a:solidFill>
                  <a:schemeClr val="tx1"/>
                </a:solidFill>
                <a:latin typeface="Consolas" pitchFamily="49" charset="0"/>
              </a:rPr>
              <a:t>var</a:t>
            </a:r>
            <a:r>
              <a:rPr lang="en-US" sz="1400" b="1" dirty="0" smtClean="0">
                <a:solidFill>
                  <a:schemeClr val="tx1"/>
                </a:solidFill>
                <a:latin typeface="Consolas" pitchFamily="49" charset="0"/>
              </a:rPr>
              <a:t> something = 1; </a:t>
            </a:r>
          </a:p>
          <a:p>
            <a:r>
              <a:rPr lang="en-US" sz="1400" b="1" dirty="0" err="1" smtClean="0">
                <a:solidFill>
                  <a:schemeClr val="tx1"/>
                </a:solidFill>
                <a:latin typeface="Consolas" pitchFamily="49" charset="0"/>
              </a:rPr>
              <a:t>var</a:t>
            </a:r>
            <a:r>
              <a:rPr lang="en-US" sz="1400" b="1" dirty="0" smtClean="0">
                <a:solidFill>
                  <a:schemeClr val="tx1"/>
                </a:solidFill>
                <a:latin typeface="Consolas" pitchFamily="49" charset="0"/>
              </a:rPr>
              <a:t> </a:t>
            </a:r>
            <a:r>
              <a:rPr lang="en-US" sz="1400" b="1" dirty="0" err="1" smtClean="0">
                <a:solidFill>
                  <a:schemeClr val="tx1"/>
                </a:solidFill>
                <a:latin typeface="Consolas" pitchFamily="49" charset="0"/>
              </a:rPr>
              <a:t>somethingElse</a:t>
            </a:r>
            <a:r>
              <a:rPr lang="en-US" sz="1400" b="1" dirty="0" smtClean="0">
                <a:solidFill>
                  <a:schemeClr val="tx1"/>
                </a:solidFill>
                <a:latin typeface="Consolas" pitchFamily="49" charset="0"/>
              </a:rPr>
              <a:t> = 2; </a:t>
            </a:r>
          </a:p>
          <a:p>
            <a:r>
              <a:rPr lang="en-US" sz="1400" b="1" dirty="0" err="1" smtClean="0">
                <a:solidFill>
                  <a:schemeClr val="tx1"/>
                </a:solidFill>
                <a:latin typeface="Consolas" pitchFamily="49" charset="0"/>
              </a:rPr>
              <a:t>var</a:t>
            </a:r>
            <a:r>
              <a:rPr lang="en-US" sz="1400" b="1" dirty="0" smtClean="0">
                <a:solidFill>
                  <a:schemeClr val="tx1"/>
                </a:solidFill>
                <a:latin typeface="Consolas" pitchFamily="49" charset="0"/>
              </a:rPr>
              <a:t> </a:t>
            </a:r>
            <a:r>
              <a:rPr lang="en-US" sz="1400" b="1" dirty="0" err="1" smtClean="0">
                <a:solidFill>
                  <a:schemeClr val="tx1"/>
                </a:solidFill>
                <a:latin typeface="Consolas" pitchFamily="49" charset="0"/>
              </a:rPr>
              <a:t>newVal</a:t>
            </a:r>
            <a:r>
              <a:rPr lang="en-US" sz="1400" b="1" dirty="0" smtClean="0">
                <a:solidFill>
                  <a:schemeClr val="tx1"/>
                </a:solidFill>
                <a:latin typeface="Consolas" pitchFamily="49" charset="0"/>
              </a:rPr>
              <a:t> = </a:t>
            </a:r>
            <a:r>
              <a:rPr lang="en-US" sz="1400" b="1" dirty="0" err="1" smtClean="0">
                <a:solidFill>
                  <a:schemeClr val="tx1"/>
                </a:solidFill>
                <a:latin typeface="Consolas" pitchFamily="49" charset="0"/>
              </a:rPr>
              <a:t>worker.doWork</a:t>
            </a:r>
            <a:r>
              <a:rPr lang="en-US" sz="1400" b="1" dirty="0" smtClean="0">
                <a:solidFill>
                  <a:schemeClr val="tx1"/>
                </a:solidFill>
                <a:latin typeface="Consolas" pitchFamily="49" charset="0"/>
              </a:rPr>
              <a:t>(something, </a:t>
            </a:r>
            <a:r>
              <a:rPr lang="en-US" sz="1400" b="1" dirty="0" err="1" smtClean="0">
                <a:solidFill>
                  <a:schemeClr val="tx1"/>
                </a:solidFill>
                <a:latin typeface="Consolas" pitchFamily="49" charset="0"/>
              </a:rPr>
              <a:t>somethingElse</a:t>
            </a:r>
            <a:r>
              <a:rPr lang="en-US" sz="1400" b="1" dirty="0" smtClean="0">
                <a:solidFill>
                  <a:schemeClr val="tx1"/>
                </a:solidFill>
                <a:latin typeface="Consolas" pitchFamily="49" charset="0"/>
              </a:rPr>
              <a:t>); </a:t>
            </a:r>
          </a:p>
          <a:p>
            <a:r>
              <a:rPr lang="en-US" sz="1400" b="1" dirty="0" smtClean="0">
                <a:solidFill>
                  <a:schemeClr val="tx1"/>
                </a:solidFill>
                <a:latin typeface="Consolas" pitchFamily="49" charset="0"/>
              </a:rPr>
              <a:t>console.log(</a:t>
            </a:r>
            <a:r>
              <a:rPr lang="en-US" sz="1400" b="1" dirty="0" err="1" smtClean="0">
                <a:solidFill>
                  <a:schemeClr val="tx1"/>
                </a:solidFill>
                <a:latin typeface="Consolas" pitchFamily="49" charset="0"/>
              </a:rPr>
              <a:t>newVal</a:t>
            </a:r>
            <a:r>
              <a:rPr lang="en-US" sz="1400" b="1" dirty="0" smtClean="0">
                <a:solidFill>
                  <a:schemeClr val="tx1"/>
                </a:solidFill>
                <a:latin typeface="Consolas" pitchFamily="49" charset="0"/>
              </a:rPr>
              <a:t>); </a:t>
            </a:r>
          </a:p>
          <a:p>
            <a:r>
              <a:rPr lang="en-US" sz="1400" b="1" dirty="0" smtClean="0">
                <a:solidFill>
                  <a:schemeClr val="tx1"/>
                </a:solidFill>
                <a:latin typeface="Consolas" pitchFamily="49" charset="0"/>
              </a:rPr>
              <a:t>// =&gt; 3</a:t>
            </a:r>
            <a:endParaRPr lang="en-US" sz="1400" b="1" dirty="0">
              <a:solidFill>
                <a:schemeClr val="tx1"/>
              </a:solidFill>
              <a:latin typeface="Consolas" pitchFamily="49" charset="0"/>
              <a:cs typeface="Consolas"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Project Review</a:t>
            </a:r>
            <a:endParaRPr lang="en-US" dirty="0"/>
          </a:p>
        </p:txBody>
      </p:sp>
      <p:sp>
        <p:nvSpPr>
          <p:cNvPr id="3" name="Content Placeholder 2"/>
          <p:cNvSpPr>
            <a:spLocks noGrp="1"/>
          </p:cNvSpPr>
          <p:nvPr>
            <p:ph idx="1"/>
          </p:nvPr>
        </p:nvSpPr>
        <p:spPr>
          <a:xfrm>
            <a:off x="457200" y="1600201"/>
            <a:ext cx="8229600" cy="1981200"/>
          </a:xfrm>
        </p:spPr>
        <p:txBody>
          <a:bodyPr/>
          <a:lstStyle/>
          <a:p>
            <a:r>
              <a:rPr lang="en-US" sz="2000" i="1" dirty="0" smtClean="0">
                <a:solidFill>
                  <a:srgbClr val="C00000"/>
                </a:solidFill>
              </a:rPr>
              <a:t>Node projects</a:t>
            </a:r>
            <a:r>
              <a:rPr lang="en-US" sz="2000" dirty="0" smtClean="0"/>
              <a:t>, typically, include a special file called </a:t>
            </a:r>
            <a:r>
              <a:rPr lang="en-US" sz="2000" b="1" dirty="0" err="1" smtClean="0">
                <a:latin typeface="Consolas" pitchFamily="49" charset="0"/>
              </a:rPr>
              <a:t>package.json</a:t>
            </a:r>
            <a:r>
              <a:rPr lang="en-US" sz="2000" dirty="0" smtClean="0"/>
              <a:t> that contains information about the project as well as a list of all </a:t>
            </a:r>
            <a:r>
              <a:rPr lang="en-US" sz="2000" dirty="0" err="1" smtClean="0"/>
              <a:t>npm</a:t>
            </a:r>
            <a:r>
              <a:rPr lang="en-US" sz="2000" dirty="0" smtClean="0"/>
              <a:t> packages that the project depends on.</a:t>
            </a:r>
          </a:p>
          <a:p>
            <a:r>
              <a:rPr lang="en-US" sz="2000" dirty="0" smtClean="0"/>
              <a:t>A developer with a copy of your local code can simply execute </a:t>
            </a:r>
            <a:r>
              <a:rPr lang="en-US" sz="2000" b="1" dirty="0" err="1" smtClean="0">
                <a:latin typeface="Consolas" pitchFamily="49" charset="0"/>
              </a:rPr>
              <a:t>npm</a:t>
            </a:r>
            <a:r>
              <a:rPr lang="en-US" sz="2000" b="1" dirty="0" smtClean="0">
                <a:latin typeface="Consolas" pitchFamily="49" charset="0"/>
              </a:rPr>
              <a:t> install</a:t>
            </a:r>
            <a:r>
              <a:rPr lang="en-US" sz="2000" dirty="0" smtClean="0"/>
              <a:t> to have </a:t>
            </a:r>
            <a:r>
              <a:rPr lang="en-US" sz="2000" u="sng" dirty="0" smtClean="0"/>
              <a:t>every dependency downloaded</a:t>
            </a:r>
            <a:r>
              <a:rPr lang="en-US" sz="2000" dirty="0" smtClean="0"/>
              <a:t> and </a:t>
            </a:r>
            <a:r>
              <a:rPr lang="en-US" sz="2000" u="sng" dirty="0" smtClean="0"/>
              <a:t>installed</a:t>
            </a:r>
            <a:r>
              <a:rPr lang="en-US" sz="2000" dirty="0" smtClean="0"/>
              <a:t> locally using this file.</a:t>
            </a:r>
            <a:endParaRPr lang="en-US" sz="2000" dirty="0"/>
          </a:p>
        </p:txBody>
      </p:sp>
      <p:sp>
        <p:nvSpPr>
          <p:cNvPr id="4" name="Rectangle 3"/>
          <p:cNvSpPr/>
          <p:nvPr/>
        </p:nvSpPr>
        <p:spPr>
          <a:xfrm>
            <a:off x="838200" y="3676233"/>
            <a:ext cx="7543800" cy="2800767"/>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sz="800" b="1" dirty="0" smtClean="0">
                <a:solidFill>
                  <a:schemeClr val="tx1"/>
                </a:solidFill>
                <a:latin typeface="Consolas" pitchFamily="49" charset="0"/>
              </a:rPr>
              <a:t>$ </a:t>
            </a:r>
            <a:r>
              <a:rPr lang="en-US" sz="800" b="1" dirty="0" err="1" smtClean="0">
                <a:solidFill>
                  <a:schemeClr val="tx1"/>
                </a:solidFill>
                <a:latin typeface="Consolas" pitchFamily="49" charset="0"/>
              </a:rPr>
              <a:t>npm</a:t>
            </a:r>
            <a:r>
              <a:rPr lang="en-US" sz="800" b="1" dirty="0" smtClean="0">
                <a:solidFill>
                  <a:schemeClr val="tx1"/>
                </a:solidFill>
                <a:latin typeface="Consolas" pitchFamily="49" charset="0"/>
              </a:rPr>
              <a:t> init</a:t>
            </a:r>
          </a:p>
          <a:p>
            <a:endParaRPr lang="en-US" sz="800" b="1" dirty="0" smtClean="0">
              <a:solidFill>
                <a:schemeClr val="tx1"/>
              </a:solidFill>
              <a:latin typeface="Consolas" pitchFamily="49" charset="0"/>
            </a:endParaRPr>
          </a:p>
          <a:p>
            <a:r>
              <a:rPr lang="en-US" sz="800" b="1" dirty="0" smtClean="0">
                <a:solidFill>
                  <a:schemeClr val="tx1"/>
                </a:solidFill>
                <a:latin typeface="Consolas" pitchFamily="49" charset="0"/>
              </a:rPr>
              <a:t>$ </a:t>
            </a:r>
            <a:r>
              <a:rPr lang="en-US" sz="800" b="1" dirty="0" err="1" smtClean="0">
                <a:solidFill>
                  <a:schemeClr val="tx1"/>
                </a:solidFill>
                <a:latin typeface="Consolas" pitchFamily="49" charset="0"/>
              </a:rPr>
              <a:t>npm</a:t>
            </a:r>
            <a:r>
              <a:rPr lang="en-US" sz="800" b="1" dirty="0" smtClean="0">
                <a:solidFill>
                  <a:schemeClr val="tx1"/>
                </a:solidFill>
                <a:latin typeface="Consolas" pitchFamily="49" charset="0"/>
              </a:rPr>
              <a:t> install express --save</a:t>
            </a:r>
          </a:p>
          <a:p>
            <a:r>
              <a:rPr lang="en-US" sz="800" b="1" dirty="0" smtClean="0">
                <a:solidFill>
                  <a:schemeClr val="tx1"/>
                </a:solidFill>
                <a:latin typeface="Consolas" pitchFamily="49" charset="0"/>
              </a:rPr>
              <a:t>$ </a:t>
            </a:r>
            <a:r>
              <a:rPr lang="en-US" sz="800" b="1" dirty="0" err="1" smtClean="0">
                <a:solidFill>
                  <a:schemeClr val="tx1"/>
                </a:solidFill>
                <a:latin typeface="Consolas" pitchFamily="49" charset="0"/>
              </a:rPr>
              <a:t>npm</a:t>
            </a:r>
            <a:r>
              <a:rPr lang="en-US" sz="800" b="1" dirty="0" smtClean="0">
                <a:solidFill>
                  <a:schemeClr val="tx1"/>
                </a:solidFill>
                <a:latin typeface="Consolas" pitchFamily="49" charset="0"/>
              </a:rPr>
              <a:t> install grunt --save-dev</a:t>
            </a:r>
          </a:p>
          <a:p>
            <a:r>
              <a:rPr lang="en-US" sz="800" b="1" dirty="0" smtClean="0">
                <a:solidFill>
                  <a:schemeClr val="tx1"/>
                </a:solidFill>
                <a:latin typeface="Consolas" pitchFamily="49" charset="0"/>
              </a:rPr>
              <a:t>$ cat </a:t>
            </a:r>
            <a:r>
              <a:rPr lang="en-US" sz="800" b="1" dirty="0" err="1" smtClean="0">
                <a:solidFill>
                  <a:schemeClr val="tx1"/>
                </a:solidFill>
                <a:latin typeface="Consolas" pitchFamily="49" charset="0"/>
              </a:rPr>
              <a:t>package.json</a:t>
            </a:r>
            <a:endParaRPr lang="en-US" sz="800" b="1" dirty="0" smtClean="0">
              <a:solidFill>
                <a:schemeClr val="tx1"/>
              </a:solidFill>
              <a:latin typeface="Consolas" pitchFamily="49" charset="0"/>
            </a:endParaRPr>
          </a:p>
          <a:p>
            <a:r>
              <a:rPr lang="en-US" sz="800" b="1" dirty="0" smtClean="0">
                <a:solidFill>
                  <a:schemeClr val="tx1"/>
                </a:solidFill>
                <a:latin typeface="Consolas" pitchFamily="49" charset="0"/>
              </a:rPr>
              <a:t>{</a:t>
            </a:r>
          </a:p>
          <a:p>
            <a:r>
              <a:rPr lang="en-US" sz="800" b="1" dirty="0" smtClean="0">
                <a:solidFill>
                  <a:schemeClr val="tx1"/>
                </a:solidFill>
                <a:latin typeface="Consolas" pitchFamily="49" charset="0"/>
              </a:rPr>
              <a:t> "name": "chapter3",</a:t>
            </a:r>
          </a:p>
          <a:p>
            <a:r>
              <a:rPr lang="en-US" sz="800" b="1" dirty="0" smtClean="0">
                <a:solidFill>
                  <a:schemeClr val="tx1"/>
                </a:solidFill>
                <a:latin typeface="Consolas" pitchFamily="49" charset="0"/>
              </a:rPr>
              <a:t> "version": "0.0.0",</a:t>
            </a:r>
          </a:p>
          <a:p>
            <a:r>
              <a:rPr lang="en-US" sz="800" b="1" dirty="0" smtClean="0">
                <a:solidFill>
                  <a:schemeClr val="tx1"/>
                </a:solidFill>
                <a:latin typeface="Consolas" pitchFamily="49" charset="0"/>
              </a:rPr>
              <a:t> "description": "",</a:t>
            </a:r>
          </a:p>
          <a:p>
            <a:r>
              <a:rPr lang="en-US" sz="800" b="1" dirty="0" smtClean="0">
                <a:solidFill>
                  <a:schemeClr val="tx1"/>
                </a:solidFill>
                <a:latin typeface="Consolas" pitchFamily="49" charset="0"/>
              </a:rPr>
              <a:t> "main": "index.js",</a:t>
            </a:r>
          </a:p>
          <a:p>
            <a:r>
              <a:rPr lang="en-US" sz="800" b="1" dirty="0" smtClean="0">
                <a:solidFill>
                  <a:schemeClr val="tx1"/>
                </a:solidFill>
                <a:latin typeface="Consolas" pitchFamily="49" charset="0"/>
              </a:rPr>
              <a:t> "scripts": {</a:t>
            </a:r>
          </a:p>
          <a:p>
            <a:r>
              <a:rPr lang="en-US" sz="800" b="1" dirty="0" smtClean="0">
                <a:solidFill>
                  <a:schemeClr val="tx1"/>
                </a:solidFill>
                <a:latin typeface="Consolas" pitchFamily="49" charset="0"/>
              </a:rPr>
              <a:t>   "test": "echo \"Error: no test specified\" &amp;&amp; exit 1"</a:t>
            </a:r>
          </a:p>
          <a:p>
            <a:r>
              <a:rPr lang="en-US" sz="800" b="1" dirty="0" smtClean="0">
                <a:solidFill>
                  <a:schemeClr val="tx1"/>
                </a:solidFill>
                <a:latin typeface="Consolas" pitchFamily="49" charset="0"/>
              </a:rPr>
              <a:t> },</a:t>
            </a:r>
          </a:p>
          <a:p>
            <a:r>
              <a:rPr lang="en-US" sz="800" b="1" dirty="0" smtClean="0">
                <a:solidFill>
                  <a:schemeClr val="tx1"/>
                </a:solidFill>
                <a:latin typeface="Consolas" pitchFamily="49" charset="0"/>
              </a:rPr>
              <a:t> "author": "",</a:t>
            </a:r>
          </a:p>
          <a:p>
            <a:r>
              <a:rPr lang="en-US" sz="800" b="1" dirty="0" smtClean="0">
                <a:solidFill>
                  <a:schemeClr val="tx1"/>
                </a:solidFill>
                <a:latin typeface="Consolas" pitchFamily="49" charset="0"/>
              </a:rPr>
              <a:t> "license": "ISC",</a:t>
            </a:r>
          </a:p>
          <a:p>
            <a:r>
              <a:rPr lang="en-US" sz="800" b="1" dirty="0" smtClean="0">
                <a:solidFill>
                  <a:schemeClr val="tx1"/>
                </a:solidFill>
                <a:latin typeface="Consolas" pitchFamily="49" charset="0"/>
              </a:rPr>
              <a:t> "dependencies": {</a:t>
            </a:r>
          </a:p>
          <a:p>
            <a:r>
              <a:rPr lang="en-US" sz="800" b="1" dirty="0" smtClean="0">
                <a:solidFill>
                  <a:schemeClr val="tx1"/>
                </a:solidFill>
                <a:latin typeface="Consolas" pitchFamily="49" charset="0"/>
              </a:rPr>
              <a:t>   "express": "^3.5.1"</a:t>
            </a:r>
          </a:p>
          <a:p>
            <a:r>
              <a:rPr lang="en-US" sz="800" b="1" dirty="0" smtClean="0">
                <a:solidFill>
                  <a:schemeClr val="tx1"/>
                </a:solidFill>
                <a:latin typeface="Consolas" pitchFamily="49" charset="0"/>
              </a:rPr>
              <a:t> },</a:t>
            </a:r>
          </a:p>
          <a:p>
            <a:r>
              <a:rPr lang="en-US" sz="800" b="1" dirty="0" smtClean="0">
                <a:solidFill>
                  <a:schemeClr val="tx1"/>
                </a:solidFill>
                <a:latin typeface="Consolas" pitchFamily="49" charset="0"/>
              </a:rPr>
              <a:t> "</a:t>
            </a:r>
            <a:r>
              <a:rPr lang="en-US" sz="800" b="1" dirty="0" err="1" smtClean="0">
                <a:solidFill>
                  <a:schemeClr val="tx1"/>
                </a:solidFill>
                <a:latin typeface="Consolas" pitchFamily="49" charset="0"/>
              </a:rPr>
              <a:t>devDependencies</a:t>
            </a:r>
            <a:r>
              <a:rPr lang="en-US" sz="800" b="1" dirty="0" smtClean="0">
                <a:solidFill>
                  <a:schemeClr val="tx1"/>
                </a:solidFill>
                <a:latin typeface="Consolas" pitchFamily="49" charset="0"/>
              </a:rPr>
              <a:t>": {</a:t>
            </a:r>
          </a:p>
          <a:p>
            <a:r>
              <a:rPr lang="en-US" sz="800" b="1" dirty="0" smtClean="0">
                <a:solidFill>
                  <a:schemeClr val="tx1"/>
                </a:solidFill>
                <a:latin typeface="Consolas" pitchFamily="49" charset="0"/>
              </a:rPr>
              <a:t>   "grunt": "^0.4.4"</a:t>
            </a:r>
          </a:p>
          <a:p>
            <a:r>
              <a:rPr lang="en-US" sz="800" b="1" dirty="0" smtClean="0">
                <a:solidFill>
                  <a:schemeClr val="tx1"/>
                </a:solidFill>
                <a:latin typeface="Consolas" pitchFamily="49" charset="0"/>
              </a:rPr>
              <a:t> }</a:t>
            </a:r>
          </a:p>
          <a:p>
            <a:r>
              <a:rPr lang="en-US" sz="800" b="1" dirty="0" smtClean="0">
                <a:solidFill>
                  <a:schemeClr val="tx1"/>
                </a:solidFill>
                <a:latin typeface="Consolas" pitchFamily="49" charset="0"/>
              </a:rPr>
              <a:t>}</a:t>
            </a:r>
            <a:endParaRPr lang="en-US" sz="800" b="1" dirty="0">
              <a:solidFill>
                <a:schemeClr val="tx1"/>
              </a:solidFill>
              <a:latin typeface="Consolas" pitchFamily="49" charset="0"/>
              <a:cs typeface="Consolas"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 Node.js</a:t>
            </a:r>
            <a:endParaRPr lang="en-US" dirty="0"/>
          </a:p>
        </p:txBody>
      </p:sp>
      <p:sp>
        <p:nvSpPr>
          <p:cNvPr id="3" name="Content Placeholder 2"/>
          <p:cNvSpPr>
            <a:spLocks noGrp="1"/>
          </p:cNvSpPr>
          <p:nvPr>
            <p:ph idx="1"/>
          </p:nvPr>
        </p:nvSpPr>
        <p:spPr/>
        <p:txBody>
          <a:bodyPr/>
          <a:lstStyle/>
          <a:p>
            <a:r>
              <a:rPr lang="en-US" sz="2400" dirty="0" smtClean="0"/>
              <a:t>Node.js is well suited for applications that are expected to handle </a:t>
            </a:r>
            <a:r>
              <a:rPr lang="en-US" sz="2400" i="1" dirty="0" smtClean="0">
                <a:solidFill>
                  <a:srgbClr val="C00000"/>
                </a:solidFill>
              </a:rPr>
              <a:t>a huge amount of concurrent connections</a:t>
            </a:r>
            <a:r>
              <a:rPr lang="en-US" sz="2400" dirty="0" smtClean="0"/>
              <a:t>.</a:t>
            </a:r>
          </a:p>
          <a:p>
            <a:r>
              <a:rPr lang="en-US" sz="2400" dirty="0" smtClean="0"/>
              <a:t>It is most suited for applications where each incoming request requires </a:t>
            </a:r>
            <a:r>
              <a:rPr lang="en-US" sz="2400" i="1" dirty="0" smtClean="0">
                <a:solidFill>
                  <a:srgbClr val="C00000"/>
                </a:solidFill>
              </a:rPr>
              <a:t>very few CPU cycles</a:t>
            </a:r>
            <a:r>
              <a:rPr lang="en-US" sz="2400" dirty="0" smtClean="0"/>
              <a:t>.</a:t>
            </a:r>
          </a:p>
          <a:p>
            <a:r>
              <a:rPr lang="en-US" sz="2400" dirty="0" smtClean="0"/>
              <a:t>Node.js is well suited for </a:t>
            </a:r>
            <a:r>
              <a:rPr lang="en-US" sz="2400" i="1" dirty="0" smtClean="0">
                <a:solidFill>
                  <a:srgbClr val="C00000"/>
                </a:solidFill>
              </a:rPr>
              <a:t>real-time web applications</a:t>
            </a:r>
            <a:r>
              <a:rPr lang="en-US" sz="2400" dirty="0" smtClean="0"/>
              <a:t>, such as chat rooms, collaboration tools, online games.</a:t>
            </a:r>
          </a:p>
          <a:p>
            <a:r>
              <a:rPr lang="en-US" sz="2400" dirty="0" smtClean="0"/>
              <a:t>If you intend to do </a:t>
            </a:r>
            <a:r>
              <a:rPr lang="en-US" sz="2400" u="sng" dirty="0" smtClean="0"/>
              <a:t>computation-intensive tasks</a:t>
            </a:r>
            <a:r>
              <a:rPr lang="en-US" sz="2400" dirty="0" smtClean="0"/>
              <a:t> upon request, it will end up blocking the event loop, thereby impacting other requests concurrently processed by the web server.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JavaScript Object Notation</a:t>
            </a:r>
            <a:endParaRPr lang="en-US" dirty="0"/>
          </a:p>
        </p:txBody>
      </p:sp>
      <p:sp>
        <p:nvSpPr>
          <p:cNvPr id="3" name="Content Placeholder 2"/>
          <p:cNvSpPr>
            <a:spLocks noGrp="1"/>
          </p:cNvSpPr>
          <p:nvPr>
            <p:ph idx="1"/>
          </p:nvPr>
        </p:nvSpPr>
        <p:spPr>
          <a:xfrm>
            <a:off x="457200" y="1600201"/>
            <a:ext cx="8229600" cy="990599"/>
          </a:xfrm>
        </p:spPr>
        <p:txBody>
          <a:bodyPr/>
          <a:lstStyle/>
          <a:p>
            <a:r>
              <a:rPr lang="en-US" sz="2400" dirty="0" smtClean="0"/>
              <a:t>JSON is a </a:t>
            </a:r>
            <a:r>
              <a:rPr lang="en-US" sz="2400" i="1" dirty="0" smtClean="0">
                <a:solidFill>
                  <a:srgbClr val="C00000"/>
                </a:solidFill>
              </a:rPr>
              <a:t>text format</a:t>
            </a:r>
            <a:r>
              <a:rPr lang="en-US" sz="2400" dirty="0" smtClean="0"/>
              <a:t> that facilitates </a:t>
            </a:r>
            <a:r>
              <a:rPr lang="en-US" sz="2400" u="sng" dirty="0" smtClean="0"/>
              <a:t>structured data</a:t>
            </a:r>
            <a:r>
              <a:rPr lang="en-US" sz="2400" dirty="0" smtClean="0"/>
              <a:t> interchange between all programming languages.</a:t>
            </a:r>
          </a:p>
        </p:txBody>
      </p:sp>
      <p:sp>
        <p:nvSpPr>
          <p:cNvPr id="4" name="Rectangle 3"/>
          <p:cNvSpPr/>
          <p:nvPr/>
        </p:nvSpPr>
        <p:spPr>
          <a:xfrm>
            <a:off x="838200" y="2971800"/>
            <a:ext cx="7772400" cy="3139321"/>
          </a:xfrm>
          <a:prstGeom prst="rect">
            <a:avLst/>
          </a:prstGeom>
          <a:solidFill>
            <a:schemeClr val="bg1">
              <a:lumMod val="95000"/>
            </a:schemeClr>
          </a:solidFill>
          <a:ln>
            <a:solidFill>
              <a:schemeClr val="bg2">
                <a:lumMod val="10000"/>
              </a:schemeClr>
            </a:solidFill>
          </a:ln>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smtClean="0">
                <a:solidFill>
                  <a:schemeClr val="tx1"/>
                </a:solidFill>
                <a:latin typeface="Consolas" pitchFamily="49" charset="0"/>
              </a:rPr>
              <a:t>{ </a:t>
            </a:r>
          </a:p>
          <a:p>
            <a:r>
              <a:rPr lang="en-US" dirty="0" smtClean="0">
                <a:solidFill>
                  <a:schemeClr val="tx1"/>
                </a:solidFill>
                <a:latin typeface="Consolas" pitchFamily="49" charset="0"/>
              </a:rPr>
              <a:t>  "title": "This is the title", </a:t>
            </a:r>
          </a:p>
          <a:p>
            <a:r>
              <a:rPr lang="en-US" dirty="0" smtClean="0">
                <a:solidFill>
                  <a:schemeClr val="tx1"/>
                </a:solidFill>
                <a:latin typeface="Consolas" pitchFamily="49" charset="0"/>
              </a:rPr>
              <a:t>  "description": "Here is where the description would be", </a:t>
            </a:r>
          </a:p>
          <a:p>
            <a:r>
              <a:rPr lang="en-US" dirty="0" smtClean="0">
                <a:solidFill>
                  <a:schemeClr val="tx1"/>
                </a:solidFill>
                <a:latin typeface="Consolas" pitchFamily="49" charset="0"/>
              </a:rPr>
              <a:t>  "page-count": 150, </a:t>
            </a:r>
          </a:p>
          <a:p>
            <a:r>
              <a:rPr lang="en-US" dirty="0" smtClean="0">
                <a:solidFill>
                  <a:schemeClr val="tx1"/>
                </a:solidFill>
                <a:latin typeface="Consolas" pitchFamily="49" charset="0"/>
              </a:rPr>
              <a:t>  "authors": [ </a:t>
            </a:r>
          </a:p>
          <a:p>
            <a:r>
              <a:rPr lang="en-US" dirty="0" smtClean="0">
                <a:solidFill>
                  <a:schemeClr val="tx1"/>
                </a:solidFill>
                <a:latin typeface="Consolas" pitchFamily="49" charset="0"/>
              </a:rPr>
              <a:t>    { "name": "John Smith" }, </a:t>
            </a:r>
          </a:p>
          <a:p>
            <a:r>
              <a:rPr lang="en-US" dirty="0" smtClean="0">
                <a:solidFill>
                  <a:schemeClr val="tx1"/>
                </a:solidFill>
                <a:latin typeface="Consolas" pitchFamily="49" charset="0"/>
              </a:rPr>
              <a:t>    { "name": "Jane Doe" }, </a:t>
            </a:r>
          </a:p>
          <a:p>
            <a:r>
              <a:rPr lang="en-US" dirty="0" smtClean="0">
                <a:solidFill>
                  <a:schemeClr val="tx1"/>
                </a:solidFill>
                <a:latin typeface="Consolas" pitchFamily="49" charset="0"/>
              </a:rPr>
              <a:t>    { "name": "Andrea Johnson" } </a:t>
            </a:r>
          </a:p>
          <a:p>
            <a:r>
              <a:rPr lang="en-US" dirty="0" smtClean="0">
                <a:solidFill>
                  <a:schemeClr val="tx1"/>
                </a:solidFill>
                <a:latin typeface="Consolas" pitchFamily="49" charset="0"/>
              </a:rPr>
              <a:t>  ], </a:t>
            </a:r>
          </a:p>
          <a:p>
            <a:r>
              <a:rPr lang="en-US" dirty="0" smtClean="0">
                <a:solidFill>
                  <a:schemeClr val="tx1"/>
                </a:solidFill>
                <a:latin typeface="Consolas" pitchFamily="49" charset="0"/>
              </a:rPr>
              <a:t>  "id": "1234-567-89012345" </a:t>
            </a:r>
          </a:p>
          <a:p>
            <a:r>
              <a:rPr lang="en-US" dirty="0" smtClean="0">
                <a:solidFill>
                  <a:schemeClr val="tx1"/>
                </a:solidFill>
                <a:latin typeface="Consolas" pitchFamily="49" charset="0"/>
              </a:rPr>
              <a:t>}</a:t>
            </a:r>
            <a:endParaRPr lang="en-US" dirty="0">
              <a:solidFill>
                <a:schemeClr val="tx1"/>
              </a:solidFill>
              <a:latin typeface="Consolas" pitchFamily="49" charset="0"/>
              <a:cs typeface="Consolas" pitchFamily="49"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Vite</a:t>
            </a:r>
            <a:endParaRPr lang="en-US" dirty="0"/>
          </a:p>
        </p:txBody>
      </p:sp>
      <p:sp>
        <p:nvSpPr>
          <p:cNvPr id="3" name="Content Placeholder 2"/>
          <p:cNvSpPr>
            <a:spLocks noGrp="1"/>
          </p:cNvSpPr>
          <p:nvPr>
            <p:ph idx="1"/>
          </p:nvPr>
        </p:nvSpPr>
        <p:spPr/>
        <p:txBody>
          <a:bodyPr/>
          <a:lstStyle/>
          <a:p>
            <a:r>
              <a:rPr lang="en-US" sz="1800" dirty="0" smtClean="0">
                <a:hlinkClick r:id="rId2"/>
              </a:rPr>
              <a:t>https://</a:t>
            </a:r>
            <a:r>
              <a:rPr lang="en-US" sz="1800" dirty="0" smtClean="0">
                <a:hlinkClick r:id="rId2"/>
              </a:rPr>
              <a:t>vite.dev/guide/why.html</a:t>
            </a:r>
            <a:endParaRPr lang="en-US" sz="1800" dirty="0" smtClean="0"/>
          </a:p>
          <a:p>
            <a:r>
              <a:rPr lang="en-US" sz="1800" dirty="0" smtClean="0"/>
              <a:t>Before ES modules were available in browsers, developers had no native mechanism for authoring JavaScript in a modularized </a:t>
            </a:r>
            <a:r>
              <a:rPr lang="en-US" sz="1800" dirty="0" smtClean="0"/>
              <a:t>fashion. This </a:t>
            </a:r>
            <a:r>
              <a:rPr lang="en-US" sz="1800" dirty="0" smtClean="0"/>
              <a:t>is why we are all familiar with the concept of "bundling": using tools that crawl, process and concatenate our source modules into files that can run in the browser</a:t>
            </a:r>
            <a:r>
              <a:rPr lang="en-US" sz="1800" dirty="0" smtClean="0"/>
              <a:t>.</a:t>
            </a:r>
          </a:p>
          <a:p>
            <a:r>
              <a:rPr lang="en-US" sz="1800" dirty="0" smtClean="0"/>
              <a:t>However, as we build more and more ambitious applications, </a:t>
            </a:r>
            <a:r>
              <a:rPr lang="en-US" sz="1800" b="1" dirty="0" smtClean="0"/>
              <a:t>the amount of JavaScript</a:t>
            </a:r>
            <a:r>
              <a:rPr lang="en-US" sz="1800" dirty="0" smtClean="0"/>
              <a:t> we are dealing with is also increasing dramatically. It is not uncommon for large scale projects to contain </a:t>
            </a:r>
            <a:r>
              <a:rPr lang="en-US" sz="1800" b="1" dirty="0" smtClean="0"/>
              <a:t>thousands of modules</a:t>
            </a:r>
            <a:r>
              <a:rPr lang="en-US" sz="1800" dirty="0" smtClean="0"/>
              <a:t>. We are starting to hit a performance bottleneck for JavaScript based tooling: it can often take </a:t>
            </a:r>
            <a:r>
              <a:rPr lang="en-US" sz="1800" b="1" dirty="0" smtClean="0"/>
              <a:t>an unreasonably long wait (sometimes up to minutes!) to spin up a dev server</a:t>
            </a:r>
            <a:r>
              <a:rPr lang="en-US" sz="1800" dirty="0" smtClean="0"/>
              <a:t>, and even with Hot Module Replacement (HMR), file edits can take a couple of seconds to be reflected in the browser. The slow feedback loop can greatly affect developers' productivity and happiness</a:t>
            </a:r>
            <a:r>
              <a:rPr lang="en-US" sz="1800" dirty="0" smtClean="0"/>
              <a:t>.</a:t>
            </a:r>
          </a:p>
          <a:p>
            <a:r>
              <a:rPr lang="en-US" sz="1800" dirty="0" err="1" smtClean="0"/>
              <a:t>Vite</a:t>
            </a:r>
            <a:r>
              <a:rPr lang="en-US" sz="1800" dirty="0" smtClean="0"/>
              <a:t> aims to address these issues by leveraging new advancements in the ecosystem: </a:t>
            </a:r>
            <a:r>
              <a:rPr lang="en-US" sz="1800" b="1" dirty="0" smtClean="0"/>
              <a:t>the availability of native ES modules in the browser, and the rise of JavaScript tools written in compile-to-native languages</a:t>
            </a:r>
            <a:r>
              <a:rPr lang="en-US" sz="1800" dirty="0" smtClean="0"/>
              <a:t>.</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Scaffold New </a:t>
            </a:r>
            <a:r>
              <a:rPr lang="en-US" dirty="0" err="1" smtClean="0"/>
              <a:t>Vite</a:t>
            </a:r>
            <a:r>
              <a:rPr lang="en-US" dirty="0" smtClean="0"/>
              <a:t> Project</a:t>
            </a:r>
            <a:endParaRPr lang="en-US" dirty="0"/>
          </a:p>
        </p:txBody>
      </p:sp>
      <p:sp>
        <p:nvSpPr>
          <p:cNvPr id="3" name="Content Placeholder 2"/>
          <p:cNvSpPr>
            <a:spLocks noGrp="1"/>
          </p:cNvSpPr>
          <p:nvPr>
            <p:ph idx="1"/>
          </p:nvPr>
        </p:nvSpPr>
        <p:spPr/>
        <p:txBody>
          <a:bodyPr/>
          <a:lstStyle/>
          <a:p>
            <a:r>
              <a:rPr lang="en-US" sz="2400" dirty="0" smtClean="0">
                <a:hlinkClick r:id="rId2"/>
              </a:rPr>
              <a:t>https://vite.dev/guide</a:t>
            </a:r>
            <a:r>
              <a:rPr lang="en-US" sz="2400" dirty="0" smtClean="0">
                <a:hlinkClick r:id="rId2"/>
              </a:rPr>
              <a:t>/</a:t>
            </a:r>
            <a:endParaRPr lang="en-US" sz="2400" dirty="0" smtClean="0"/>
          </a:p>
          <a:p>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1187450" y="2708275"/>
            <a:ext cx="6769100" cy="3235325"/>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Add </a:t>
            </a:r>
            <a:r>
              <a:rPr lang="en-US" dirty="0" err="1" smtClean="0"/>
              <a:t>Vite</a:t>
            </a:r>
            <a:r>
              <a:rPr lang="en-US" dirty="0" smtClean="0"/>
              <a:t> to Existing Project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147763" y="1676400"/>
            <a:ext cx="6848475" cy="4638675"/>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How </a:t>
            </a:r>
            <a:r>
              <a:rPr lang="en-US" sz="3800" dirty="0" err="1" smtClean="0"/>
              <a:t>Vite</a:t>
            </a:r>
            <a:r>
              <a:rPr lang="en-US" sz="3800" dirty="0" smtClean="0"/>
              <a:t> Hooks Into an Existing Project</a:t>
            </a:r>
            <a:endParaRPr lang="en-US" sz="3800" dirty="0"/>
          </a:p>
        </p:txBody>
      </p:sp>
      <p:sp>
        <p:nvSpPr>
          <p:cNvPr id="3" name="Content Placeholder 2"/>
          <p:cNvSpPr>
            <a:spLocks noGrp="1"/>
          </p:cNvSpPr>
          <p:nvPr>
            <p:ph idx="1"/>
          </p:nvPr>
        </p:nvSpPr>
        <p:spPr>
          <a:xfrm>
            <a:off x="457200" y="5410200"/>
            <a:ext cx="8229600" cy="715963"/>
          </a:xfrm>
        </p:spPr>
        <p:txBody>
          <a:bodyPr/>
          <a:lstStyle/>
          <a:p>
            <a:r>
              <a:rPr lang="en-US" sz="1800" dirty="0" smtClean="0"/>
              <a:t>If your goal is speed and you can afford a bit of cleanup, </a:t>
            </a:r>
            <a:r>
              <a:rPr lang="en-US" sz="1800" dirty="0" err="1" smtClean="0"/>
              <a:t>Vite</a:t>
            </a:r>
            <a:r>
              <a:rPr lang="en-US" sz="1800" dirty="0" smtClean="0"/>
              <a:t> is worth the </a:t>
            </a:r>
            <a:r>
              <a:rPr lang="en-US" sz="1800" dirty="0" smtClean="0"/>
              <a:t>switch.</a:t>
            </a:r>
          </a:p>
          <a:p>
            <a:r>
              <a:rPr lang="en-US" sz="1800" dirty="0" smtClean="0"/>
              <a:t>But </a:t>
            </a:r>
            <a:r>
              <a:rPr lang="en-US" sz="1800" dirty="0" smtClean="0"/>
              <a:t>don't force it on a messy legacy codebase. That will hurt more than it helps.</a:t>
            </a:r>
            <a:endParaRPr lang="en-US" sz="1800" dirty="0"/>
          </a:p>
        </p:txBody>
      </p:sp>
      <p:pic>
        <p:nvPicPr>
          <p:cNvPr id="3074" name="Picture 2"/>
          <p:cNvPicPr>
            <a:picLocks noChangeAspect="1" noChangeArrowheads="1"/>
          </p:cNvPicPr>
          <p:nvPr/>
        </p:nvPicPr>
        <p:blipFill>
          <a:blip r:embed="rId2" cstate="print"/>
          <a:srcRect/>
          <a:stretch>
            <a:fillRect/>
          </a:stretch>
        </p:blipFill>
        <p:spPr bwMode="auto">
          <a:xfrm>
            <a:off x="1447800" y="1689100"/>
            <a:ext cx="6438900" cy="3492500"/>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dirty="0" smtClean="0"/>
              <a:t>Thank You &amp; See You Again</a:t>
            </a:r>
          </a:p>
        </p:txBody>
      </p:sp>
      <p:pic>
        <p:nvPicPr>
          <p:cNvPr id="38915" name="Picture 4"/>
          <p:cNvPicPr>
            <a:picLocks noGrp="1" noChangeAspect="1" noChangeArrowheads="1"/>
          </p:cNvPicPr>
          <p:nvPr>
            <p:ph idx="1"/>
          </p:nvPr>
        </p:nvPicPr>
        <p:blipFill>
          <a:blip r:embed="rId2" cstate="print"/>
          <a:srcRect/>
          <a:stretch>
            <a:fillRect/>
          </a:stretch>
        </p:blipFill>
        <p:spPr>
          <a:xfrm>
            <a:off x="1166813" y="16002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10477</TotalTime>
  <Words>2897</Words>
  <Application>Microsoft Office PowerPoint</Application>
  <PresentationFormat>On-screen Show (4:3)</PresentationFormat>
  <Paragraphs>378</Paragraphs>
  <Slides>65</Slides>
  <Notes>1</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Office Theme</vt:lpstr>
      <vt:lpstr>Node.js Web App</vt:lpstr>
      <vt:lpstr>Objectives</vt:lpstr>
      <vt:lpstr>Contents</vt:lpstr>
      <vt:lpstr>References</vt:lpstr>
      <vt:lpstr>1. Open Node.js REPL</vt:lpstr>
      <vt:lpstr>2. Create and Run Hello World</vt:lpstr>
      <vt:lpstr>Slide 7</vt:lpstr>
      <vt:lpstr>1. Create a Node.js Module [1]</vt:lpstr>
      <vt:lpstr>2. Call a Node.js Module</vt:lpstr>
      <vt:lpstr>CommonJS</vt:lpstr>
      <vt:lpstr>What is a Module?</vt:lpstr>
      <vt:lpstr>Slide 12</vt:lpstr>
      <vt:lpstr>What is npm?</vt:lpstr>
      <vt:lpstr>How npm Works</vt:lpstr>
      <vt:lpstr>1. Initialize a Node.js Application</vt:lpstr>
      <vt:lpstr>2. Modify package.json</vt:lpstr>
      <vt:lpstr>3. Install a Module</vt:lpstr>
      <vt:lpstr>4. Run the Application (index.js)</vt:lpstr>
      <vt:lpstr>Slide 19</vt:lpstr>
      <vt:lpstr>1. Create a Web Application</vt:lpstr>
      <vt:lpstr>2. Run a Web Application</vt:lpstr>
      <vt:lpstr>3. Add npm start</vt:lpstr>
      <vt:lpstr>4. Install nodemon Module</vt:lpstr>
      <vt:lpstr>Slide 24</vt:lpstr>
      <vt:lpstr>1. Retrieve Request Data</vt:lpstr>
      <vt:lpstr>2. Add Routes</vt:lpstr>
      <vt:lpstr>3. Serve Static Files</vt:lpstr>
      <vt:lpstr>4. Serve Assets</vt:lpstr>
      <vt:lpstr>Slide 29</vt:lpstr>
      <vt:lpstr>1. Create Modular Application</vt:lpstr>
      <vt:lpstr>2. Check Vulnerabilities</vt:lpstr>
      <vt:lpstr>3. Fix Vulnerabilities</vt:lpstr>
      <vt:lpstr>4. Check Result</vt:lpstr>
      <vt:lpstr>Slide 34</vt:lpstr>
      <vt:lpstr>1. Check Outdated Packages</vt:lpstr>
      <vt:lpstr>2. Fix Outdated Packages</vt:lpstr>
      <vt:lpstr>devDependencies</vt:lpstr>
      <vt:lpstr>3. Check Deprecated Packages</vt:lpstr>
      <vt:lpstr>4. Fix a Deprecated Package</vt:lpstr>
      <vt:lpstr>Slide 40</vt:lpstr>
      <vt:lpstr>1. Manually Fix Vulnerabilities</vt:lpstr>
      <vt:lpstr>2. Find the Latest Version or an Alternative Package</vt:lpstr>
      <vt:lpstr>3. Install the Latest Version or an Alternative Package</vt:lpstr>
      <vt:lpstr>4. Run an Application</vt:lpstr>
      <vt:lpstr>Slide 45</vt:lpstr>
      <vt:lpstr>1. Test a GET API</vt:lpstr>
      <vt:lpstr>2. Test a POST API</vt:lpstr>
      <vt:lpstr>3. Create Windows Environment Variables</vt:lpstr>
      <vt:lpstr>Slide 49</vt:lpstr>
      <vt:lpstr>What is Node.js? [2]</vt:lpstr>
      <vt:lpstr>Why Node.js?</vt:lpstr>
      <vt:lpstr>Notes</vt:lpstr>
      <vt:lpstr>Non-blocking Asynchronous Execution</vt:lpstr>
      <vt:lpstr>Sharing and Reusing JavaScript</vt:lpstr>
      <vt:lpstr>A Lot of Libraries</vt:lpstr>
      <vt:lpstr>Node Module System Review</vt:lpstr>
      <vt:lpstr>Node Project Review</vt:lpstr>
      <vt:lpstr>When to Use Node.js</vt:lpstr>
      <vt:lpstr>JavaScript Object Notation</vt:lpstr>
      <vt:lpstr>Slide 60</vt:lpstr>
      <vt:lpstr>Vite</vt:lpstr>
      <vt:lpstr>1. Scaffold New Vite Project</vt:lpstr>
      <vt:lpstr>2. Add Vite to Existing Project</vt:lpstr>
      <vt:lpstr>How Vite Hooks Into an Existing Project</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4202</cp:revision>
  <dcterms:created xsi:type="dcterms:W3CDTF">2007-10-06T08:25:13Z</dcterms:created>
  <dcterms:modified xsi:type="dcterms:W3CDTF">2025-06-17T12:41:36Z</dcterms:modified>
</cp:coreProperties>
</file>