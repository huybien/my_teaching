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7"/>
  </p:notesMasterIdLst>
  <p:handoutMasterIdLst>
    <p:handoutMasterId r:id="rId28"/>
  </p:handoutMasterIdLst>
  <p:sldIdLst>
    <p:sldId id="534" r:id="rId2"/>
    <p:sldId id="535" r:id="rId3"/>
    <p:sldId id="536" r:id="rId4"/>
    <p:sldId id="537" r:id="rId5"/>
    <p:sldId id="489" r:id="rId6"/>
    <p:sldId id="532" r:id="rId7"/>
    <p:sldId id="491" r:id="rId8"/>
    <p:sldId id="490" r:id="rId9"/>
    <p:sldId id="492" r:id="rId10"/>
    <p:sldId id="493" r:id="rId11"/>
    <p:sldId id="533" r:id="rId12"/>
    <p:sldId id="494" r:id="rId13"/>
    <p:sldId id="495" r:id="rId14"/>
    <p:sldId id="497" r:id="rId15"/>
    <p:sldId id="498" r:id="rId16"/>
    <p:sldId id="526" r:id="rId17"/>
    <p:sldId id="520" r:id="rId18"/>
    <p:sldId id="522" r:id="rId19"/>
    <p:sldId id="523" r:id="rId20"/>
    <p:sldId id="524" r:id="rId21"/>
    <p:sldId id="525" r:id="rId22"/>
    <p:sldId id="527" r:id="rId23"/>
    <p:sldId id="517" r:id="rId24"/>
    <p:sldId id="518" r:id="rId25"/>
    <p:sldId id="343" r:id="rId2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21029" autoAdjust="0"/>
    <p:restoredTop sz="94667" autoAdjust="0"/>
  </p:normalViewPr>
  <p:slideViewPr>
    <p:cSldViewPr>
      <p:cViewPr>
        <p:scale>
          <a:sx n="50" d="100"/>
          <a:sy n="50" d="100"/>
        </p:scale>
        <p:origin x="-1476"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0D0DBAB-D1C9-4D1B-A41F-EB0AC0278643}" type="datetimeFigureOut">
              <a:rPr lang="en-US" smtClean="0"/>
              <a:pPr/>
              <a:t>8/5/2025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36056FB-ACC3-4B45-A768-F167A538151B}"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9B2289-D6D1-40EC-85F2-6A14DC834E89}" type="datetimeFigureOut">
              <a:rPr lang="en-US" smtClean="0"/>
              <a:pPr/>
              <a:t>8/5/2025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6DE3A5A-3803-4289-BB69-E335C0B45A8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1B9AD-E267-41B8-AFB9-F339B3C6A571}" type="datetimeFigureOut">
              <a:rPr lang="en-US"/>
              <a:pPr>
                <a:defRPr/>
              </a:pPr>
              <a:t>8/5/2025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3B7B48-E476-4875-A0CA-B0673732DFDD}" type="datetimeFigureOut">
              <a:rPr lang="en-US"/>
              <a:pPr>
                <a:defRPr/>
              </a:pPr>
              <a:t>8/5/2025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8F0A2C2-9A3C-44C4-9D1F-47B44EB3EF12}" type="datetimeFigureOut">
              <a:rPr lang="en-US"/>
              <a:pPr>
                <a:defRPr/>
              </a:pPr>
              <a:t>8/5/2025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E352965-9852-4C5D-9CFD-AA7D7C51A3F1}" type="datetimeFigureOut">
              <a:rPr lang="en-US"/>
              <a:pPr>
                <a:defRPr/>
              </a:pPr>
              <a:t>8/5/2025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ABA97A-E8D3-4153-8AD9-0AC754381ACA}" type="datetimeFigureOut">
              <a:rPr lang="en-US"/>
              <a:pPr>
                <a:defRPr/>
              </a:pPr>
              <a:t>8/5/2025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0F1E0C7-1AF5-43CF-B84A-415948674BE8}" type="datetimeFigureOut">
              <a:rPr lang="en-US"/>
              <a:pPr>
                <a:defRPr/>
              </a:pPr>
              <a:t>8/5/2025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FF2F585-6AB3-4A98-8C00-3FB0F428366B}" type="datetimeFigureOut">
              <a:rPr lang="en-US"/>
              <a:pPr>
                <a:defRPr/>
              </a:pPr>
              <a:t>8/5/2025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955A04C-D082-4B30-8565-236556BDD91C}" type="datetimeFigureOut">
              <a:rPr lang="en-US"/>
              <a:pPr>
                <a:defRPr/>
              </a:pPr>
              <a:t>8/5/2025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43085A-46E4-429D-86C3-B3CDAC36DAFB}" type="datetimeFigureOut">
              <a:rPr lang="en-US"/>
              <a:pPr>
                <a:defRPr/>
              </a:pPr>
              <a:t>8/5/2025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B0270D8-9F80-4CBC-9EEB-40BF8E1F9541}" type="datetimeFigureOut">
              <a:rPr lang="en-US"/>
              <a:pPr>
                <a:defRPr/>
              </a:pPr>
              <a:t>8/5/2025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944C27D-6266-4BC5-9F9E-701F440BBF98}" type="datetimeFigureOut">
              <a:rPr lang="en-US"/>
              <a:pPr>
                <a:defRPr/>
              </a:pPr>
              <a:t>8/5/2025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a:pPr>
                <a:defRPr/>
              </a:pPr>
              <a:t>8/5/2025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6000" dirty="0" smtClean="0"/>
              <a:t>Web Application Architecture</a:t>
            </a:r>
          </a:p>
        </p:txBody>
      </p:sp>
      <p:sp>
        <p:nvSpPr>
          <p:cNvPr id="3" name="Subtitle 2"/>
          <p:cNvSpPr>
            <a:spLocks noGrp="1"/>
          </p:cNvSpPr>
          <p:nvPr>
            <p:ph type="subTitle" idx="1"/>
          </p:nvPr>
        </p:nvSpPr>
        <p:spPr/>
        <p:txBody>
          <a:bodyPr rtlCol="0">
            <a:normAutofit fontScale="47500" lnSpcReduction="20000"/>
          </a:bodyPr>
          <a:lstStyle/>
          <a:p>
            <a:pPr eaLnBrk="1" fontAlgn="auto" hangingPunct="1">
              <a:spcAft>
                <a:spcPts val="0"/>
              </a:spcAft>
              <a:defRPr/>
            </a:pPr>
            <a:r>
              <a:rPr lang="en-US" sz="4400" dirty="0" smtClean="0"/>
              <a:t>Lecturer: Ngo Huy Bien</a:t>
            </a:r>
          </a:p>
          <a:p>
            <a:pPr eaLnBrk="1" fontAlgn="auto" hangingPunct="1">
              <a:spcAft>
                <a:spcPts val="0"/>
              </a:spcAft>
              <a:defRPr/>
            </a:pPr>
            <a:r>
              <a:rPr lang="en-US" sz="3600" dirty="0" smtClean="0"/>
              <a:t>Software Engineering Department</a:t>
            </a:r>
          </a:p>
          <a:p>
            <a:pPr eaLnBrk="1" fontAlgn="auto" hangingPunct="1">
              <a:spcAft>
                <a:spcPts val="0"/>
              </a:spcAft>
              <a:defRPr/>
            </a:pPr>
            <a:r>
              <a:rPr lang="en-US" sz="3600" dirty="0" smtClean="0"/>
              <a:t>Faculty of Information Technology</a:t>
            </a:r>
          </a:p>
          <a:p>
            <a:pPr eaLnBrk="1" fontAlgn="auto" hangingPunct="1">
              <a:spcAft>
                <a:spcPts val="0"/>
              </a:spcAft>
              <a:defRPr/>
            </a:pPr>
            <a:r>
              <a:rPr lang="en-US" sz="3600" dirty="0" smtClean="0"/>
              <a:t>University of Science</a:t>
            </a:r>
          </a:p>
          <a:p>
            <a:pPr eaLnBrk="1" fontAlgn="auto" hangingPunct="1">
              <a:spcAft>
                <a:spcPts val="0"/>
              </a:spcAft>
              <a:defRPr/>
            </a:pPr>
            <a:r>
              <a:rPr lang="en-US" sz="3600" dirty="0" smtClean="0"/>
              <a:t>Ho Chi Minh City, Vietnam</a:t>
            </a:r>
          </a:p>
          <a:p>
            <a:pPr eaLnBrk="1" fontAlgn="auto" hangingPunct="1">
              <a:spcAft>
                <a:spcPts val="0"/>
              </a:spcAft>
              <a:defRPr/>
            </a:pPr>
            <a:r>
              <a:rPr lang="en-US" sz="3600" smtClean="0">
                <a:hlinkClick r:id="rId2"/>
              </a:rPr>
              <a:t>nhbien@fit.hcmus.edu.vn</a:t>
            </a:r>
            <a:endParaRPr lang="en-US" sz="36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905001"/>
            <a:ext cx="5562600" cy="4114799"/>
          </a:xfrm>
        </p:spPr>
        <p:txBody>
          <a:bodyPr/>
          <a:lstStyle/>
          <a:p>
            <a:pPr marL="571500" indent="-514350">
              <a:buFont typeface="Wingdings" pitchFamily="2" charset="2"/>
              <a:buChar char="Ø"/>
            </a:pPr>
            <a:r>
              <a:rPr lang="en-US" sz="2400" dirty="0" smtClean="0"/>
              <a:t>To present general </a:t>
            </a:r>
            <a:r>
              <a:rPr lang="en-US" sz="2400" i="1" dirty="0" smtClean="0">
                <a:solidFill>
                  <a:srgbClr val="C00000"/>
                </a:solidFill>
              </a:rPr>
              <a:t>multiple page</a:t>
            </a:r>
            <a:r>
              <a:rPr lang="en-US" sz="2400" dirty="0" smtClean="0"/>
              <a:t> web application architecture.</a:t>
            </a:r>
          </a:p>
        </p:txBody>
      </p:sp>
      <p:pic>
        <p:nvPicPr>
          <p:cNvPr id="4" name="Picture 2"/>
          <p:cNvPicPr>
            <a:picLocks noChangeAspect="1" noChangeArrowheads="1"/>
          </p:cNvPicPr>
          <p:nvPr/>
        </p:nvPicPr>
        <p:blipFill>
          <a:blip r:embed="rId2" cstate="print"/>
          <a:srcRect/>
          <a:stretch>
            <a:fillRect/>
          </a:stretch>
        </p:blipFill>
        <p:spPr bwMode="auto">
          <a:xfrm>
            <a:off x="6000750" y="24384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r>
              <a:rPr lang="en-US" sz="2400" dirty="0" smtClean="0"/>
              <a:t>Web </a:t>
            </a:r>
            <a:r>
              <a:rPr lang="en-US" sz="2400" dirty="0" smtClean="0"/>
              <a:t>Application</a:t>
            </a: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
        <p:nvSpPr>
          <p:cNvPr id="3" name="Content Placeholder 2"/>
          <p:cNvSpPr>
            <a:spLocks noGrp="1"/>
          </p:cNvSpPr>
          <p:nvPr>
            <p:ph idx="1"/>
          </p:nvPr>
        </p:nvSpPr>
        <p:spPr>
          <a:xfrm>
            <a:off x="457200" y="1600200"/>
            <a:ext cx="5334000" cy="4525963"/>
          </a:xfrm>
        </p:spPr>
        <p:txBody>
          <a:bodyPr>
            <a:normAutofit/>
          </a:bodyPr>
          <a:lstStyle/>
          <a:p>
            <a:pPr marL="457200" lvl="0" indent="-457200">
              <a:buFont typeface="+mj-lt"/>
              <a:buAutoNum type="arabicPeriod"/>
            </a:pPr>
            <a:r>
              <a:rPr lang="en-US" sz="2400" dirty="0" smtClean="0"/>
              <a:t>Jim </a:t>
            </a:r>
            <a:r>
              <a:rPr lang="en-US" sz="2400" dirty="0" err="1" smtClean="0"/>
              <a:t>Conallen</a:t>
            </a:r>
            <a:r>
              <a:rPr lang="en-US" sz="2400" dirty="0" smtClean="0"/>
              <a:t> (1999). Modeling Web Application Architectures with UML.</a:t>
            </a:r>
          </a:p>
          <a:p>
            <a:pPr marL="457200" lvl="0" indent="-457200">
              <a:buFont typeface="+mj-lt"/>
              <a:buAutoNum type="arabicPeriod"/>
            </a:pPr>
            <a:r>
              <a:rPr lang="en-US" sz="2400" dirty="0" smtClean="0"/>
              <a:t>Daniel </a:t>
            </a:r>
            <a:r>
              <a:rPr lang="en-US" sz="2400" dirty="0" err="1" smtClean="0"/>
              <a:t>Schwabe</a:t>
            </a:r>
            <a:r>
              <a:rPr lang="en-US" sz="2400" dirty="0" smtClean="0"/>
              <a:t> and </a:t>
            </a:r>
            <a:r>
              <a:rPr lang="en-US" sz="2400" dirty="0" err="1" smtClean="0"/>
              <a:t>Luiselena</a:t>
            </a:r>
            <a:r>
              <a:rPr lang="en-US" sz="2400" dirty="0" smtClean="0"/>
              <a:t> </a:t>
            </a:r>
            <a:r>
              <a:rPr lang="en-US" sz="2400" dirty="0" err="1" smtClean="0"/>
              <a:t>Esmeraldo</a:t>
            </a:r>
            <a:r>
              <a:rPr lang="en-US" sz="2400" dirty="0" smtClean="0"/>
              <a:t> (2001). Engineering Web Applications for Reuse.</a:t>
            </a:r>
          </a:p>
          <a:p>
            <a:pPr marL="457200" indent="-457200">
              <a:buFont typeface="+mj-lt"/>
              <a:buAutoNum type="arabicPeriod"/>
            </a:pPr>
            <a:r>
              <a:rPr lang="en-US" sz="2400" dirty="0" smtClean="0"/>
              <a:t>Deepak </a:t>
            </a:r>
            <a:r>
              <a:rPr lang="en-US" sz="2400" dirty="0" err="1" smtClean="0"/>
              <a:t>Alur</a:t>
            </a:r>
            <a:r>
              <a:rPr lang="en-US" sz="2400" dirty="0" smtClean="0"/>
              <a:t> et al. (2003). Core J2EE Patterns Best Practices And Design Strategies.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 Web Application? [1]</a:t>
            </a:r>
            <a:endParaRPr lang="en-US" dirty="0"/>
          </a:p>
        </p:txBody>
      </p:sp>
      <p:sp>
        <p:nvSpPr>
          <p:cNvPr id="3" name="Content Placeholder 2"/>
          <p:cNvSpPr>
            <a:spLocks noGrp="1"/>
          </p:cNvSpPr>
          <p:nvPr>
            <p:ph idx="1"/>
          </p:nvPr>
        </p:nvSpPr>
        <p:spPr>
          <a:xfrm>
            <a:off x="457200" y="1600200"/>
            <a:ext cx="8229600" cy="4724400"/>
          </a:xfrm>
        </p:spPr>
        <p:txBody>
          <a:bodyPr/>
          <a:lstStyle/>
          <a:p>
            <a:r>
              <a:rPr lang="en-US" sz="2400" dirty="0" smtClean="0"/>
              <a:t>We’ll loosely define a web application to be a </a:t>
            </a:r>
            <a:r>
              <a:rPr lang="en-US" sz="2400" i="1" dirty="0" smtClean="0">
                <a:solidFill>
                  <a:srgbClr val="C00000"/>
                </a:solidFill>
              </a:rPr>
              <a:t>web system</a:t>
            </a:r>
            <a:r>
              <a:rPr lang="en-US" sz="2400" dirty="0" smtClean="0"/>
              <a:t> (</a:t>
            </a:r>
            <a:r>
              <a:rPr lang="en-US" sz="2400" u="sng" dirty="0" smtClean="0"/>
              <a:t>web server</a:t>
            </a:r>
            <a:r>
              <a:rPr lang="en-US" sz="2400" dirty="0" smtClean="0"/>
              <a:t>, </a:t>
            </a:r>
            <a:r>
              <a:rPr lang="en-US" sz="2400" u="sng" dirty="0" smtClean="0"/>
              <a:t>network</a:t>
            </a:r>
            <a:r>
              <a:rPr lang="en-US" sz="2400" dirty="0" smtClean="0"/>
              <a:t>, </a:t>
            </a:r>
            <a:r>
              <a:rPr lang="en-US" sz="2400" u="sng" dirty="0" smtClean="0"/>
              <a:t>HTTP</a:t>
            </a:r>
            <a:r>
              <a:rPr lang="en-US" sz="2400" dirty="0" smtClean="0"/>
              <a:t>, </a:t>
            </a:r>
            <a:r>
              <a:rPr lang="en-US" sz="2400" u="sng" dirty="0" smtClean="0"/>
              <a:t>browser</a:t>
            </a:r>
            <a:r>
              <a:rPr lang="en-US" sz="2400" dirty="0" smtClean="0"/>
              <a:t>) where user input (navigation and data input) affects the state of the business.</a:t>
            </a:r>
          </a:p>
          <a:p>
            <a:r>
              <a:rPr lang="en-US" sz="2400" dirty="0" smtClean="0"/>
              <a:t>This definition attempts to establish that a web application is a software system with </a:t>
            </a:r>
            <a:r>
              <a:rPr lang="en-US" sz="2400" i="1" dirty="0" smtClean="0">
                <a:solidFill>
                  <a:srgbClr val="C00000"/>
                </a:solidFill>
              </a:rPr>
              <a:t>business state</a:t>
            </a:r>
            <a:r>
              <a:rPr lang="en-US" sz="2400" dirty="0" smtClean="0"/>
              <a:t>, and that its "</a:t>
            </a:r>
            <a:r>
              <a:rPr lang="en-US" sz="2400" i="1" dirty="0" smtClean="0">
                <a:solidFill>
                  <a:srgbClr val="C00000"/>
                </a:solidFill>
              </a:rPr>
              <a:t>front end</a:t>
            </a:r>
            <a:r>
              <a:rPr lang="en-US" sz="2400" dirty="0" smtClean="0"/>
              <a:t>" is in large part delivered via a web system.</a:t>
            </a:r>
          </a:p>
          <a:p>
            <a:r>
              <a:rPr lang="en-US" sz="2400" dirty="0" smtClean="0"/>
              <a:t>A web application’s principal </a:t>
            </a:r>
            <a:r>
              <a:rPr lang="en-US" sz="2400" i="1" dirty="0" smtClean="0">
                <a:solidFill>
                  <a:srgbClr val="C00000"/>
                </a:solidFill>
              </a:rPr>
              <a:t>communication protocol</a:t>
            </a:r>
            <a:r>
              <a:rPr lang="en-US" sz="2400" dirty="0" smtClean="0"/>
              <a:t> is </a:t>
            </a:r>
            <a:r>
              <a:rPr lang="en-US" sz="2400" u="sng" dirty="0" smtClean="0"/>
              <a:t>HTTP</a:t>
            </a:r>
            <a:r>
              <a:rPr lang="en-US" sz="2400" dirty="0" smtClean="0"/>
              <a:t>, which is a </a:t>
            </a:r>
            <a:r>
              <a:rPr lang="en-US" sz="2400" u="sng" dirty="0" smtClean="0"/>
              <a:t>connectionless protocol</a:t>
            </a:r>
            <a:r>
              <a:rPr lang="en-US" sz="2400" dirty="0" smtClean="0"/>
              <a:t> that was designed for robustness and fault tolerance instead of maximum communication throughput.</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Web Application?</a:t>
            </a:r>
            <a:endParaRPr lang="en-US" dirty="0"/>
          </a:p>
        </p:txBody>
      </p:sp>
      <p:sp>
        <p:nvSpPr>
          <p:cNvPr id="3" name="Content Placeholder 2"/>
          <p:cNvSpPr>
            <a:spLocks noGrp="1"/>
          </p:cNvSpPr>
          <p:nvPr>
            <p:ph idx="1"/>
          </p:nvPr>
        </p:nvSpPr>
        <p:spPr>
          <a:xfrm>
            <a:off x="457200" y="1600200"/>
            <a:ext cx="8229600" cy="4724400"/>
          </a:xfrm>
        </p:spPr>
        <p:txBody>
          <a:bodyPr/>
          <a:lstStyle/>
          <a:p>
            <a:r>
              <a:rPr lang="en-US" sz="2400" dirty="0" smtClean="0"/>
              <a:t>One of the most significant advantages of a web application is its </a:t>
            </a:r>
            <a:r>
              <a:rPr lang="en-US" sz="2400" i="1" dirty="0" smtClean="0">
                <a:solidFill>
                  <a:srgbClr val="C00000"/>
                </a:solidFill>
              </a:rPr>
              <a:t>deployment</a:t>
            </a:r>
            <a:r>
              <a:rPr lang="en-US" sz="2400" dirty="0" smtClean="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How Does a Web Application Work?</a:t>
            </a:r>
            <a:endParaRPr lang="en-US" sz="4200" dirty="0"/>
          </a:p>
        </p:txBody>
      </p:sp>
      <p:sp>
        <p:nvSpPr>
          <p:cNvPr id="3" name="Content Placeholder 2"/>
          <p:cNvSpPr>
            <a:spLocks noGrp="1"/>
          </p:cNvSpPr>
          <p:nvPr>
            <p:ph idx="1"/>
          </p:nvPr>
        </p:nvSpPr>
        <p:spPr/>
        <p:txBody>
          <a:bodyPr/>
          <a:lstStyle/>
          <a:p>
            <a:r>
              <a:rPr lang="en-US" sz="2400" i="1" dirty="0" smtClean="0">
                <a:solidFill>
                  <a:srgbClr val="C00000"/>
                </a:solidFill>
              </a:rPr>
              <a:t>Browsers</a:t>
            </a:r>
            <a:r>
              <a:rPr lang="en-US" sz="2400" dirty="0" smtClean="0"/>
              <a:t> request “web pages” from the server.</a:t>
            </a:r>
          </a:p>
          <a:p>
            <a:r>
              <a:rPr lang="en-US" sz="2400" dirty="0" smtClean="0"/>
              <a:t>Each </a:t>
            </a:r>
            <a:r>
              <a:rPr lang="en-US" sz="2400" i="1" dirty="0" smtClean="0">
                <a:solidFill>
                  <a:srgbClr val="C00000"/>
                </a:solidFill>
              </a:rPr>
              <a:t>page</a:t>
            </a:r>
            <a:r>
              <a:rPr lang="en-US" sz="2400" dirty="0" smtClean="0"/>
              <a:t> is a mix of content and formatting instructions, </a:t>
            </a:r>
            <a:r>
              <a:rPr lang="en-US" sz="2400" i="1" dirty="0" smtClean="0">
                <a:solidFill>
                  <a:srgbClr val="C00000"/>
                </a:solidFill>
              </a:rPr>
              <a:t>expressed with HTML</a:t>
            </a:r>
            <a:r>
              <a:rPr lang="en-US" sz="2400" dirty="0" smtClean="0"/>
              <a:t>. Some pages include </a:t>
            </a:r>
            <a:r>
              <a:rPr lang="en-US" sz="2400" i="1" dirty="0" smtClean="0">
                <a:solidFill>
                  <a:srgbClr val="C00000"/>
                </a:solidFill>
              </a:rPr>
              <a:t>client side scripts</a:t>
            </a:r>
            <a:r>
              <a:rPr lang="en-US" sz="2400" dirty="0" smtClean="0"/>
              <a:t> that are interpreted by the browser.</a:t>
            </a:r>
          </a:p>
          <a:p>
            <a:r>
              <a:rPr lang="en-US" sz="2400" dirty="0" smtClean="0"/>
              <a:t>The user views and interacts with the </a:t>
            </a:r>
            <a:r>
              <a:rPr lang="en-US" sz="2400" i="1" dirty="0" smtClean="0">
                <a:solidFill>
                  <a:srgbClr val="C00000"/>
                </a:solidFill>
              </a:rPr>
              <a:t>content</a:t>
            </a:r>
            <a:r>
              <a:rPr lang="en-US" sz="2400" dirty="0" smtClean="0"/>
              <a:t> in the page. Sometimes the user enters in information in </a:t>
            </a:r>
            <a:r>
              <a:rPr lang="en-US" sz="2400" i="1" dirty="0" smtClean="0">
                <a:solidFill>
                  <a:srgbClr val="C00000"/>
                </a:solidFill>
              </a:rPr>
              <a:t>field elements</a:t>
            </a:r>
            <a:r>
              <a:rPr lang="en-US" sz="2400" dirty="0" smtClean="0"/>
              <a:t> in the page and submits them to the server for processing.</a:t>
            </a:r>
          </a:p>
          <a:p>
            <a:r>
              <a:rPr lang="en-US" sz="2400" dirty="0" smtClean="0"/>
              <a:t>The user can also interact with system by navigating to different pages in the system via </a:t>
            </a:r>
            <a:r>
              <a:rPr lang="en-US" sz="2400" i="1" dirty="0" smtClean="0">
                <a:solidFill>
                  <a:srgbClr val="C00000"/>
                </a:solidFill>
              </a:rPr>
              <a:t>hyperlinks</a:t>
            </a:r>
            <a:r>
              <a:rPr lang="en-US" sz="2400" dirty="0" smtClean="0"/>
              <a:t>.</a:t>
            </a:r>
          </a:p>
          <a:p>
            <a:r>
              <a:rPr lang="en-US" sz="2400" dirty="0" smtClean="0"/>
              <a:t>In either case, the user is supplying input to the system that may alter the “</a:t>
            </a:r>
            <a:r>
              <a:rPr lang="en-US" sz="2400" i="1" dirty="0" smtClean="0">
                <a:solidFill>
                  <a:srgbClr val="C00000"/>
                </a:solidFill>
              </a:rPr>
              <a:t>business state</a:t>
            </a:r>
            <a:r>
              <a:rPr lang="en-US" sz="2400" dirty="0" smtClean="0"/>
              <a:t>” of the system.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Web Application vs. Web Site</a:t>
            </a:r>
            <a:endParaRPr lang="en-US" dirty="0"/>
          </a:p>
        </p:txBody>
      </p:sp>
      <p:sp>
        <p:nvSpPr>
          <p:cNvPr id="3" name="Content Placeholder 2"/>
          <p:cNvSpPr>
            <a:spLocks noGrp="1"/>
          </p:cNvSpPr>
          <p:nvPr>
            <p:ph idx="1"/>
          </p:nvPr>
        </p:nvSpPr>
        <p:spPr>
          <a:xfrm>
            <a:off x="457200" y="1600200"/>
            <a:ext cx="8229600" cy="4724400"/>
          </a:xfrm>
        </p:spPr>
        <p:txBody>
          <a:bodyPr/>
          <a:lstStyle/>
          <a:p>
            <a:r>
              <a:rPr lang="en-US" sz="2400" dirty="0" smtClean="0"/>
              <a:t>The differences between a web application and a web site, even from a dynamic one, involve its </a:t>
            </a:r>
            <a:r>
              <a:rPr lang="en-US" sz="2400" i="1" dirty="0" smtClean="0">
                <a:solidFill>
                  <a:srgbClr val="C00000"/>
                </a:solidFill>
              </a:rPr>
              <a:t>usage</a:t>
            </a:r>
            <a:r>
              <a:rPr lang="en-US" sz="2400" dirty="0" smtClean="0"/>
              <a:t>.</a:t>
            </a:r>
          </a:p>
          <a:p>
            <a:r>
              <a:rPr lang="en-US" sz="2400" dirty="0" smtClean="0"/>
              <a:t>Web applications implement </a:t>
            </a:r>
            <a:r>
              <a:rPr lang="en-US" sz="2400" u="sng" dirty="0" smtClean="0"/>
              <a:t>business logic</a:t>
            </a:r>
            <a:r>
              <a:rPr lang="en-US" sz="2400" dirty="0" smtClean="0"/>
              <a:t>, and its use </a:t>
            </a:r>
            <a:r>
              <a:rPr lang="en-US" sz="2400" i="1" dirty="0" smtClean="0">
                <a:solidFill>
                  <a:srgbClr val="C00000"/>
                </a:solidFill>
              </a:rPr>
              <a:t>changes</a:t>
            </a:r>
            <a:r>
              <a:rPr lang="en-US" sz="2400" dirty="0" smtClean="0"/>
              <a:t> the </a:t>
            </a:r>
            <a:r>
              <a:rPr lang="en-US" sz="2400" u="sng" dirty="0" smtClean="0"/>
              <a:t>state of the business</a:t>
            </a:r>
            <a:r>
              <a:rPr lang="en-US" sz="2400" dirty="0" smtClean="0"/>
              <a:t> (as captured by system).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Web Page</a:t>
            </a:r>
            <a:endParaRPr lang="en-US" dirty="0"/>
          </a:p>
        </p:txBody>
      </p:sp>
      <p:sp>
        <p:nvSpPr>
          <p:cNvPr id="3" name="Content Placeholder 2"/>
          <p:cNvSpPr>
            <a:spLocks noGrp="1"/>
          </p:cNvSpPr>
          <p:nvPr>
            <p:ph idx="1"/>
          </p:nvPr>
        </p:nvSpPr>
        <p:spPr>
          <a:xfrm>
            <a:off x="457200" y="1600200"/>
            <a:ext cx="8229600" cy="4724400"/>
          </a:xfrm>
        </p:spPr>
        <p:txBody>
          <a:bodyPr/>
          <a:lstStyle/>
          <a:p>
            <a:r>
              <a:rPr lang="en-US" sz="2400" dirty="0" smtClean="0"/>
              <a:t>From the </a:t>
            </a:r>
            <a:r>
              <a:rPr lang="en-US" sz="2400" i="1" dirty="0" smtClean="0">
                <a:solidFill>
                  <a:srgbClr val="C00000"/>
                </a:solidFill>
              </a:rPr>
              <a:t>client’s perspective</a:t>
            </a:r>
            <a:r>
              <a:rPr lang="en-US" sz="2400" dirty="0" smtClean="0"/>
              <a:t>, the web page is always an HTML formatted document.</a:t>
            </a:r>
          </a:p>
          <a:p>
            <a:r>
              <a:rPr lang="en-US" sz="2400" dirty="0" smtClean="0"/>
              <a:t>On the </a:t>
            </a:r>
            <a:r>
              <a:rPr lang="en-US" sz="2400" i="1" dirty="0" smtClean="0">
                <a:solidFill>
                  <a:srgbClr val="C00000"/>
                </a:solidFill>
              </a:rPr>
              <a:t>server</a:t>
            </a:r>
            <a:r>
              <a:rPr lang="en-US" sz="2400" dirty="0" smtClean="0"/>
              <a:t>, however, a “web page” may manifest itself in a number of different ways.</a:t>
            </a:r>
          </a:p>
          <a:p>
            <a:pPr lvl="1"/>
            <a:r>
              <a:rPr lang="en-US" sz="2000" dirty="0" smtClean="0"/>
              <a:t>CGI scripts</a:t>
            </a:r>
          </a:p>
          <a:p>
            <a:pPr lvl="1"/>
            <a:r>
              <a:rPr lang="en-US" sz="2000" dirty="0" smtClean="0"/>
              <a:t>Management of client state on the server</a:t>
            </a:r>
          </a:p>
          <a:p>
            <a:pPr lvl="1"/>
            <a:r>
              <a:rPr lang="en-US" sz="2000" dirty="0" smtClean="0"/>
              <a:t>Transaction processing integration</a:t>
            </a:r>
          </a:p>
          <a:p>
            <a:pPr lvl="1"/>
            <a:r>
              <a:rPr lang="en-US" sz="2000" dirty="0" smtClean="0"/>
              <a:t>Remote administration</a:t>
            </a:r>
          </a:p>
          <a:p>
            <a:pPr lvl="1"/>
            <a:r>
              <a:rPr lang="en-US" sz="2000" dirty="0" smtClean="0"/>
              <a:t>Resource pooling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CGI scripts</a:t>
            </a:r>
            <a:endParaRPr lang="en-US" dirty="0"/>
          </a:p>
        </p:txBody>
      </p:sp>
      <p:sp>
        <p:nvSpPr>
          <p:cNvPr id="3" name="Content Placeholder 2"/>
          <p:cNvSpPr>
            <a:spLocks noGrp="1"/>
          </p:cNvSpPr>
          <p:nvPr>
            <p:ph idx="1"/>
          </p:nvPr>
        </p:nvSpPr>
        <p:spPr>
          <a:xfrm>
            <a:off x="457200" y="1600200"/>
            <a:ext cx="8229600" cy="4724400"/>
          </a:xfrm>
        </p:spPr>
        <p:txBody>
          <a:bodyPr/>
          <a:lstStyle/>
          <a:p>
            <a:r>
              <a:rPr lang="en-US" sz="1900" i="1" dirty="0" smtClean="0">
                <a:solidFill>
                  <a:srgbClr val="C00000"/>
                </a:solidFill>
              </a:rPr>
              <a:t>Scripted pages</a:t>
            </a:r>
            <a:r>
              <a:rPr lang="en-US" sz="1900" dirty="0" smtClean="0"/>
              <a:t>. Each web page that a client browser can request is represented on the web server’s file system as a scripted file. This file is typically a mix of HTML and some other scripting language. When the page is requested, the web server delegates the processing of this page to an engine that recognizes it, with the ultimate result that an HTML formatted stream is sent back to the requesting client.</a:t>
            </a:r>
          </a:p>
          <a:p>
            <a:r>
              <a:rPr lang="en-US" sz="1900" i="1" dirty="0" smtClean="0">
                <a:solidFill>
                  <a:srgbClr val="C00000"/>
                </a:solidFill>
              </a:rPr>
              <a:t>Compiled pages</a:t>
            </a:r>
            <a:r>
              <a:rPr lang="en-US" sz="1900" dirty="0" smtClean="0"/>
              <a:t>. The web server loads and executes a binary component. This component, like with scripted pages, has access to all the information that came along with the page request (values of form fields and parameters). The compiled code uses the request details, and typically accesses server side resources to produce the HTML stream returned to the client.</a:t>
            </a:r>
          </a:p>
          <a:p>
            <a:r>
              <a:rPr lang="en-US" sz="1900" dirty="0" smtClean="0"/>
              <a:t>A </a:t>
            </a:r>
            <a:r>
              <a:rPr lang="en-US" sz="1900" i="1" dirty="0" smtClean="0">
                <a:solidFill>
                  <a:srgbClr val="C00000"/>
                </a:solidFill>
              </a:rPr>
              <a:t>hybrid</a:t>
            </a:r>
            <a:r>
              <a:rPr lang="en-US" sz="1900" dirty="0" smtClean="0"/>
              <a:t> represents scripted pages that, once requested, are compiled and this compiled version is then used thereafter by all subsequent requests. Only when the original page’s contents change, while the page undergoes another compile.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Request Routing</a:t>
            </a:r>
            <a:endParaRPr lang="en-US" dirty="0"/>
          </a:p>
        </p:txBody>
      </p:sp>
      <p:sp>
        <p:nvSpPr>
          <p:cNvPr id="3" name="Content Placeholder 2"/>
          <p:cNvSpPr>
            <a:spLocks noGrp="1"/>
          </p:cNvSpPr>
          <p:nvPr>
            <p:ph idx="1"/>
          </p:nvPr>
        </p:nvSpPr>
        <p:spPr/>
        <p:txBody>
          <a:bodyPr/>
          <a:lstStyle/>
          <a:p>
            <a:r>
              <a:rPr lang="en-US" dirty="0" smtClean="0"/>
              <a:t>File mapping</a:t>
            </a:r>
          </a:p>
          <a:p>
            <a:r>
              <a:rPr lang="en-US" dirty="0" smtClean="0"/>
              <a:t>Method mapping</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Server Page vs. Client Page</a:t>
            </a:r>
            <a:endParaRPr lang="en-US" dirty="0"/>
          </a:p>
        </p:txBody>
      </p:sp>
      <p:sp>
        <p:nvSpPr>
          <p:cNvPr id="3" name="Content Placeholder 2"/>
          <p:cNvSpPr>
            <a:spLocks noGrp="1"/>
          </p:cNvSpPr>
          <p:nvPr>
            <p:ph idx="1"/>
          </p:nvPr>
        </p:nvSpPr>
        <p:spPr>
          <a:xfrm>
            <a:off x="457200" y="1600201"/>
            <a:ext cx="8229600" cy="2057400"/>
          </a:xfrm>
        </p:spPr>
        <p:txBody>
          <a:bodyPr/>
          <a:lstStyle/>
          <a:p>
            <a:r>
              <a:rPr lang="en-US" sz="2400" dirty="0" smtClean="0"/>
              <a:t>Every </a:t>
            </a:r>
            <a:r>
              <a:rPr lang="en-US" sz="2400" i="1" dirty="0" smtClean="0">
                <a:solidFill>
                  <a:srgbClr val="C00000"/>
                </a:solidFill>
              </a:rPr>
              <a:t>dynamic web page</a:t>
            </a:r>
            <a:r>
              <a:rPr lang="en-US" sz="2400" dirty="0" smtClean="0"/>
              <a:t> (that is, pages whose content is determined at runtime) is constructed with a </a:t>
            </a:r>
            <a:r>
              <a:rPr lang="en-US" sz="2400" i="1" dirty="0" smtClean="0">
                <a:solidFill>
                  <a:srgbClr val="C00000"/>
                </a:solidFill>
              </a:rPr>
              <a:t>server page</a:t>
            </a:r>
            <a:r>
              <a:rPr lang="en-US" sz="2400" dirty="0" smtClean="0"/>
              <a:t>.</a:t>
            </a:r>
          </a:p>
          <a:p>
            <a:r>
              <a:rPr lang="en-US" sz="2400" dirty="0" smtClean="0"/>
              <a:t>Every client page is built by, at most, a single server page; however, it’s possible for a server page to build </a:t>
            </a:r>
            <a:r>
              <a:rPr lang="en-US" sz="2400" i="1" dirty="0" smtClean="0">
                <a:solidFill>
                  <a:srgbClr val="C00000"/>
                </a:solidFill>
              </a:rPr>
              <a:t>multiple</a:t>
            </a:r>
            <a:r>
              <a:rPr lang="en-US" sz="2400" dirty="0" smtClean="0"/>
              <a:t> client pages.</a:t>
            </a:r>
            <a:endParaRPr lang="en-US" sz="2400" dirty="0"/>
          </a:p>
        </p:txBody>
      </p:sp>
      <p:pic>
        <p:nvPicPr>
          <p:cNvPr id="2050" name="Picture 2"/>
          <p:cNvPicPr>
            <a:picLocks noChangeAspect="1" noChangeArrowheads="1"/>
          </p:cNvPicPr>
          <p:nvPr/>
        </p:nvPicPr>
        <p:blipFill>
          <a:blip r:embed="rId2" cstate="print"/>
          <a:srcRect/>
          <a:stretch>
            <a:fillRect/>
          </a:stretch>
        </p:blipFill>
        <p:spPr bwMode="auto">
          <a:xfrm>
            <a:off x="2028825" y="3933825"/>
            <a:ext cx="5086350" cy="2466975"/>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Hyperlinks</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1371600" y="1524000"/>
            <a:ext cx="6400800" cy="4819650"/>
          </a:xfrm>
          <a:prstGeom prst="rect">
            <a:avLst/>
          </a:prstGeom>
          <a:noFill/>
          <a:ln w="9525">
            <a:noFill/>
            <a:miter lim="800000"/>
            <a:headEnd/>
            <a:tailEnd/>
          </a:ln>
        </p:spPr>
      </p:pic>
      <p:sp>
        <p:nvSpPr>
          <p:cNvPr id="5" name="Rounded Rectangle 4"/>
          <p:cNvSpPr/>
          <p:nvPr/>
        </p:nvSpPr>
        <p:spPr>
          <a:xfrm>
            <a:off x="1676400" y="4114800"/>
            <a:ext cx="1524000" cy="83820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3124200" y="2133600"/>
            <a:ext cx="1524000" cy="83820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&lt;&lt;Server Page&gt;&gt;</a:t>
            </a:r>
            <a:endParaRPr lang="en-US" dirty="0"/>
          </a:p>
        </p:txBody>
      </p:sp>
      <p:pic>
        <p:nvPicPr>
          <p:cNvPr id="5124" name="Picture 4"/>
          <p:cNvPicPr>
            <a:picLocks noChangeAspect="1" noChangeArrowheads="1"/>
          </p:cNvPicPr>
          <p:nvPr/>
        </p:nvPicPr>
        <p:blipFill>
          <a:blip r:embed="rId2" cstate="print"/>
          <a:srcRect/>
          <a:stretch>
            <a:fillRect/>
          </a:stretch>
        </p:blipFill>
        <p:spPr bwMode="auto">
          <a:xfrm>
            <a:off x="3048000" y="1457325"/>
            <a:ext cx="5962650" cy="4181475"/>
          </a:xfrm>
          <a:prstGeom prst="rect">
            <a:avLst/>
          </a:prstGeom>
          <a:noFill/>
          <a:ln w="9525">
            <a:noFill/>
            <a:miter lim="800000"/>
            <a:headEnd/>
            <a:tailEnd/>
          </a:ln>
        </p:spPr>
      </p:pic>
      <p:sp>
        <p:nvSpPr>
          <p:cNvPr id="3" name="Content Placeholder 2"/>
          <p:cNvSpPr>
            <a:spLocks noGrp="1"/>
          </p:cNvSpPr>
          <p:nvPr>
            <p:ph idx="1"/>
          </p:nvPr>
        </p:nvSpPr>
        <p:spPr>
          <a:xfrm>
            <a:off x="152400" y="3505200"/>
            <a:ext cx="5105400" cy="3124200"/>
          </a:xfrm>
        </p:spPr>
        <p:txBody>
          <a:bodyPr/>
          <a:lstStyle/>
          <a:p>
            <a:r>
              <a:rPr lang="en-US" sz="2200" dirty="0" smtClean="0"/>
              <a:t>The «server page» is simply another </a:t>
            </a:r>
            <a:r>
              <a:rPr lang="en-US" sz="2200" i="1" dirty="0" smtClean="0">
                <a:solidFill>
                  <a:srgbClr val="C00000"/>
                </a:solidFill>
              </a:rPr>
              <a:t>class</a:t>
            </a:r>
            <a:r>
              <a:rPr lang="en-US" sz="2200" dirty="0" smtClean="0"/>
              <a:t> that </a:t>
            </a:r>
            <a:r>
              <a:rPr lang="en-US" sz="2200" u="sng" dirty="0" smtClean="0"/>
              <a:t>participates in the business logic</a:t>
            </a:r>
            <a:r>
              <a:rPr lang="en-US" sz="2200" dirty="0" smtClean="0"/>
              <a:t> of the system.</a:t>
            </a:r>
          </a:p>
          <a:p>
            <a:r>
              <a:rPr lang="en-US" sz="2200" dirty="0" smtClean="0"/>
              <a:t>At a more conceptual level, server pages typically take on the role of </a:t>
            </a:r>
            <a:r>
              <a:rPr lang="en-US" sz="2200" i="1" dirty="0" smtClean="0">
                <a:solidFill>
                  <a:srgbClr val="C00000"/>
                </a:solidFill>
              </a:rPr>
              <a:t>controllers</a:t>
            </a:r>
            <a:r>
              <a:rPr lang="en-US" sz="2200" dirty="0" smtClean="0"/>
              <a:t>, orchestrating the necessary business object activity to accomplish the business goals initiated by the browser’s page request.</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&lt;&lt;Client Page&gt;&gt;</a:t>
            </a:r>
            <a:endParaRPr lang="en-US" dirty="0"/>
          </a:p>
        </p:txBody>
      </p:sp>
      <p:pic>
        <p:nvPicPr>
          <p:cNvPr id="6146" name="Picture 2"/>
          <p:cNvPicPr>
            <a:picLocks noChangeAspect="1" noChangeArrowheads="1"/>
          </p:cNvPicPr>
          <p:nvPr/>
        </p:nvPicPr>
        <p:blipFill>
          <a:blip r:embed="rId2" cstate="print"/>
          <a:srcRect/>
          <a:stretch>
            <a:fillRect/>
          </a:stretch>
        </p:blipFill>
        <p:spPr bwMode="auto">
          <a:xfrm>
            <a:off x="1133475" y="1504950"/>
            <a:ext cx="6877050" cy="466725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Web Application Design Concerns [2]</a:t>
            </a:r>
            <a:endParaRPr lang="en-US" sz="4200" dirty="0"/>
          </a:p>
        </p:txBody>
      </p:sp>
      <p:sp>
        <p:nvSpPr>
          <p:cNvPr id="3" name="Content Placeholder 2"/>
          <p:cNvSpPr>
            <a:spLocks noGrp="1"/>
          </p:cNvSpPr>
          <p:nvPr>
            <p:ph idx="1"/>
          </p:nvPr>
        </p:nvSpPr>
        <p:spPr>
          <a:xfrm>
            <a:off x="381000" y="1600200"/>
            <a:ext cx="8229600" cy="4525963"/>
          </a:xfrm>
        </p:spPr>
        <p:txBody>
          <a:bodyPr/>
          <a:lstStyle/>
          <a:p>
            <a:r>
              <a:rPr lang="en-US" sz="2400" dirty="0" smtClean="0"/>
              <a:t>Application </a:t>
            </a:r>
            <a:r>
              <a:rPr lang="en-US" sz="2400" i="1" dirty="0" smtClean="0">
                <a:solidFill>
                  <a:srgbClr val="C00000"/>
                </a:solidFill>
              </a:rPr>
              <a:t>domains</a:t>
            </a:r>
            <a:r>
              <a:rPr lang="en-US" sz="2400" dirty="0" smtClean="0"/>
              <a:t> grow ever </a:t>
            </a:r>
            <a:r>
              <a:rPr lang="en-US" sz="2400" u="sng" dirty="0" smtClean="0"/>
              <a:t>more sophisticated</a:t>
            </a:r>
            <a:r>
              <a:rPr lang="en-US" sz="2400" dirty="0" smtClean="0"/>
              <a:t>, users need easier browsing to access more multimedia data, and new appliances require easy-to-use Web interfaces.</a:t>
            </a:r>
          </a:p>
          <a:p>
            <a:r>
              <a:rPr lang="en-US" sz="2400" dirty="0" smtClean="0"/>
              <a:t>To help designers manage the problem of the Web’s </a:t>
            </a:r>
            <a:r>
              <a:rPr lang="en-US" sz="2400" i="1" dirty="0" smtClean="0">
                <a:solidFill>
                  <a:srgbClr val="C00000"/>
                </a:solidFill>
              </a:rPr>
              <a:t>complexity</a:t>
            </a:r>
            <a:r>
              <a:rPr lang="en-US" sz="2400" dirty="0" smtClean="0"/>
              <a:t>, we can separate </a:t>
            </a:r>
            <a:r>
              <a:rPr lang="en-US" sz="2400" u="sng" dirty="0" smtClean="0"/>
              <a:t>three</a:t>
            </a:r>
            <a:r>
              <a:rPr lang="en-US" sz="2400" dirty="0" smtClean="0"/>
              <a:t> essential modeling concerns:</a:t>
            </a:r>
          </a:p>
          <a:p>
            <a:pPr lvl="1"/>
            <a:r>
              <a:rPr lang="en-US" sz="2000" b="1" dirty="0" smtClean="0"/>
              <a:t>application behavior</a:t>
            </a:r>
            <a:r>
              <a:rPr lang="en-US" sz="2000" dirty="0" smtClean="0"/>
              <a:t>, </a:t>
            </a:r>
          </a:p>
          <a:p>
            <a:pPr lvl="1"/>
            <a:r>
              <a:rPr lang="en-US" sz="2000" b="1" dirty="0" smtClean="0"/>
              <a:t>navigational modeling</a:t>
            </a:r>
            <a:r>
              <a:rPr lang="en-US" sz="2000" dirty="0" smtClean="0"/>
              <a:t>, and </a:t>
            </a:r>
          </a:p>
          <a:p>
            <a:pPr lvl="1"/>
            <a:r>
              <a:rPr lang="en-US" sz="2000" b="1" dirty="0" smtClean="0"/>
              <a:t>interface design</a:t>
            </a:r>
            <a:r>
              <a:rPr lang="en-US" sz="2000" dirty="0" smtClean="0"/>
              <a:t>.</a:t>
            </a:r>
          </a:p>
          <a:p>
            <a:r>
              <a:rPr lang="en-US" sz="2400" dirty="0" smtClean="0"/>
              <a:t>Separation of concerns provides not only a solid ground for Web </a:t>
            </a:r>
            <a:r>
              <a:rPr lang="en-US" sz="2400" i="1" dirty="0" smtClean="0">
                <a:solidFill>
                  <a:srgbClr val="C00000"/>
                </a:solidFill>
              </a:rPr>
              <a:t>software evolution</a:t>
            </a:r>
            <a:r>
              <a:rPr lang="en-US" sz="2400" dirty="0" smtClean="0"/>
              <a:t> but also a basis for maximizing </a:t>
            </a:r>
            <a:r>
              <a:rPr lang="en-US" sz="2400" i="1" dirty="0" smtClean="0">
                <a:solidFill>
                  <a:srgbClr val="C00000"/>
                </a:solidFill>
              </a:rPr>
              <a:t>design and implementation reuse</a:t>
            </a:r>
            <a:r>
              <a:rPr lang="en-US" sz="2400" dirty="0" smtClean="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Behavior</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866775" y="1524000"/>
            <a:ext cx="7410450" cy="480060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Navigational Modeling</a:t>
            </a:r>
            <a:endParaRPr lang="en-US" dirty="0"/>
          </a:p>
        </p:txBody>
      </p:sp>
      <p:sp>
        <p:nvSpPr>
          <p:cNvPr id="3" name="Content Placeholder 2"/>
          <p:cNvSpPr>
            <a:spLocks noGrp="1"/>
          </p:cNvSpPr>
          <p:nvPr>
            <p:ph idx="1"/>
          </p:nvPr>
        </p:nvSpPr>
        <p:spPr/>
        <p:txBody>
          <a:bodyPr/>
          <a:lstStyle/>
          <a:p>
            <a:r>
              <a:rPr lang="en-US" sz="2400" dirty="0" smtClean="0"/>
              <a:t>Each </a:t>
            </a:r>
            <a:r>
              <a:rPr lang="en-US" sz="2400" i="1" dirty="0" smtClean="0">
                <a:solidFill>
                  <a:srgbClr val="C00000"/>
                </a:solidFill>
              </a:rPr>
              <a:t>node class</a:t>
            </a:r>
            <a:r>
              <a:rPr lang="en-US" sz="2400" dirty="0" smtClean="0"/>
              <a:t> consists of attributes combined from different conceptual classes.</a:t>
            </a:r>
          </a:p>
          <a:p>
            <a:r>
              <a:rPr lang="en-US" sz="2400" i="1" dirty="0" smtClean="0">
                <a:solidFill>
                  <a:srgbClr val="C00000"/>
                </a:solidFill>
              </a:rPr>
              <a:t>Links</a:t>
            </a:r>
            <a:r>
              <a:rPr lang="en-US" sz="2400" dirty="0" smtClean="0"/>
              <a:t> indicate navigation paths and reflect conceptual relationships.</a:t>
            </a:r>
          </a:p>
          <a:p>
            <a:r>
              <a:rPr lang="en-US" sz="2400" dirty="0" smtClean="0"/>
              <a:t>The </a:t>
            </a:r>
            <a:r>
              <a:rPr lang="en-US" sz="2400" i="1" dirty="0" smtClean="0">
                <a:solidFill>
                  <a:srgbClr val="C00000"/>
                </a:solidFill>
              </a:rPr>
              <a:t>navigational schema</a:t>
            </a:r>
            <a:r>
              <a:rPr lang="en-US" sz="2400" dirty="0" smtClean="0"/>
              <a:t> contains node classes and link relationships that indicate the basic navigation architecture.</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Navigation Model Example</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876300" y="1790700"/>
            <a:ext cx="7391400" cy="453390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Architecture for Building Web Applications Frameworks</a:t>
            </a:r>
            <a:endParaRPr lang="en-US" dirty="0"/>
          </a:p>
        </p:txBody>
      </p:sp>
      <p:pic>
        <p:nvPicPr>
          <p:cNvPr id="4100" name="Picture 4"/>
          <p:cNvPicPr>
            <a:picLocks noChangeAspect="1" noChangeArrowheads="1"/>
          </p:cNvPicPr>
          <p:nvPr/>
        </p:nvPicPr>
        <p:blipFill>
          <a:blip r:embed="rId2" cstate="print"/>
          <a:srcRect/>
          <a:stretch>
            <a:fillRect/>
          </a:stretch>
        </p:blipFill>
        <p:spPr bwMode="auto">
          <a:xfrm>
            <a:off x="304800" y="2066925"/>
            <a:ext cx="8534400" cy="3876675"/>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Session Management  [3]</a:t>
            </a:r>
            <a:endParaRPr lang="en-US" dirty="0"/>
          </a:p>
        </p:txBody>
      </p:sp>
      <p:sp>
        <p:nvSpPr>
          <p:cNvPr id="3" name="Content Placeholder 2"/>
          <p:cNvSpPr>
            <a:spLocks noGrp="1"/>
          </p:cNvSpPr>
          <p:nvPr>
            <p:ph idx="1"/>
          </p:nvPr>
        </p:nvSpPr>
        <p:spPr/>
        <p:txBody>
          <a:bodyPr/>
          <a:lstStyle/>
          <a:p>
            <a:r>
              <a:rPr lang="en-US" sz="2200" dirty="0" smtClean="0"/>
              <a:t>The term </a:t>
            </a:r>
            <a:r>
              <a:rPr lang="en-US" sz="2200" i="1" dirty="0" smtClean="0">
                <a:solidFill>
                  <a:srgbClr val="C00000"/>
                </a:solidFill>
              </a:rPr>
              <a:t>user session</a:t>
            </a:r>
            <a:r>
              <a:rPr lang="en-US" sz="2200" dirty="0" smtClean="0"/>
              <a:t> describes a conversation that spans multiple requests between a client and a server.</a:t>
            </a:r>
          </a:p>
          <a:p>
            <a:r>
              <a:rPr lang="en-US" sz="2200" dirty="0" smtClean="0"/>
              <a:t>Saving session state </a:t>
            </a:r>
            <a:r>
              <a:rPr lang="en-US" sz="2200" i="1" dirty="0" smtClean="0">
                <a:solidFill>
                  <a:srgbClr val="C00000"/>
                </a:solidFill>
              </a:rPr>
              <a:t>on the client</a:t>
            </a:r>
            <a:r>
              <a:rPr lang="en-US" sz="2200" dirty="0" smtClean="0"/>
              <a:t> involves serializing and embedding the session state within the view markup HTML page that is returned to the client.</a:t>
            </a:r>
          </a:p>
          <a:p>
            <a:pPr lvl="1"/>
            <a:r>
              <a:rPr lang="en-US" sz="1800" dirty="0" smtClean="0"/>
              <a:t>HTML Hidden Fields</a:t>
            </a:r>
          </a:p>
          <a:p>
            <a:pPr lvl="1"/>
            <a:r>
              <a:rPr lang="en-US" sz="1800" dirty="0" smtClean="0"/>
              <a:t>HTTP Cookies</a:t>
            </a:r>
          </a:p>
          <a:p>
            <a:r>
              <a:rPr lang="en-US" sz="2200" dirty="0" smtClean="0"/>
              <a:t>When session state is maintained </a:t>
            </a:r>
            <a:r>
              <a:rPr lang="en-US" sz="2200" i="1" dirty="0" smtClean="0">
                <a:solidFill>
                  <a:srgbClr val="C00000"/>
                </a:solidFill>
              </a:rPr>
              <a:t>on the server</a:t>
            </a:r>
            <a:r>
              <a:rPr lang="en-US" sz="2200" dirty="0" smtClean="0"/>
              <a:t>, it is retrieved using a session ID and typically persists until one of the following occurs:</a:t>
            </a:r>
          </a:p>
          <a:p>
            <a:pPr lvl="1"/>
            <a:r>
              <a:rPr lang="en-US" sz="1800" dirty="0" smtClean="0"/>
              <a:t>A predefined session timeout is exceeded.</a:t>
            </a:r>
          </a:p>
          <a:p>
            <a:pPr lvl="1"/>
            <a:r>
              <a:rPr lang="en-US" sz="1800" dirty="0" smtClean="0"/>
              <a:t>The session is manually invalidated.</a:t>
            </a:r>
          </a:p>
          <a:p>
            <a:pPr lvl="1"/>
            <a:r>
              <a:rPr lang="en-US" sz="1800" dirty="0" smtClean="0"/>
              <a:t>The state is removed from the session.</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Controlling Client Access</a:t>
            </a:r>
            <a:endParaRPr lang="en-US" dirty="0"/>
          </a:p>
        </p:txBody>
      </p:sp>
      <p:sp>
        <p:nvSpPr>
          <p:cNvPr id="3" name="Content Placeholder 2"/>
          <p:cNvSpPr>
            <a:spLocks noGrp="1"/>
          </p:cNvSpPr>
          <p:nvPr>
            <p:ph idx="1"/>
          </p:nvPr>
        </p:nvSpPr>
        <p:spPr/>
        <p:txBody>
          <a:bodyPr/>
          <a:lstStyle/>
          <a:p>
            <a:r>
              <a:rPr lang="en-US" sz="2400" dirty="0" smtClean="0"/>
              <a:t>In some cases, a resource </a:t>
            </a:r>
            <a:r>
              <a:rPr lang="en-US" sz="2400" i="1" dirty="0" smtClean="0">
                <a:solidFill>
                  <a:srgbClr val="C00000"/>
                </a:solidFill>
              </a:rPr>
              <a:t>is restricted</a:t>
            </a:r>
            <a:r>
              <a:rPr lang="en-US" sz="2400" dirty="0" smtClean="0"/>
              <a:t> in its entirety from being accessed by certain users.</a:t>
            </a:r>
          </a:p>
          <a:p>
            <a:endParaRPr lang="en-US" sz="2400" dirty="0" smtClean="0"/>
          </a:p>
          <a:p>
            <a:r>
              <a:rPr lang="en-US" sz="2400" dirty="0" smtClean="0"/>
              <a:t>One common way of dealing with this issue is to </a:t>
            </a:r>
            <a:r>
              <a:rPr lang="en-US" sz="2400" i="1" dirty="0" smtClean="0">
                <a:solidFill>
                  <a:srgbClr val="C00000"/>
                </a:solidFill>
              </a:rPr>
              <a:t>use a controller as a delegation point</a:t>
            </a:r>
            <a:r>
              <a:rPr lang="en-US" sz="2400" dirty="0" smtClean="0"/>
              <a:t> for this type of access control.</a:t>
            </a:r>
          </a:p>
          <a:p>
            <a:endParaRPr lang="en-US" sz="2400" dirty="0" smtClean="0"/>
          </a:p>
          <a:p>
            <a:r>
              <a:rPr lang="en-US" sz="2400" dirty="0" smtClean="0"/>
              <a:t>Another common variation involves </a:t>
            </a:r>
            <a:r>
              <a:rPr lang="en-US" sz="2400" i="1" dirty="0" smtClean="0">
                <a:solidFill>
                  <a:srgbClr val="C00000"/>
                </a:solidFill>
              </a:rPr>
              <a:t>embedding a guard</a:t>
            </a:r>
            <a:r>
              <a:rPr lang="en-US" sz="2400" dirty="0" smtClean="0"/>
              <a:t> directly within a view.</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11052</TotalTime>
  <Words>1042</Words>
  <Application>Microsoft Office PowerPoint</Application>
  <PresentationFormat>On-screen Show (4:3)</PresentationFormat>
  <Paragraphs>84</Paragraphs>
  <Slides>25</Slides>
  <Notes>1</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Web Application Architecture</vt:lpstr>
      <vt:lpstr>Objectives</vt:lpstr>
      <vt:lpstr>Contents</vt:lpstr>
      <vt:lpstr>References</vt:lpstr>
      <vt:lpstr>What is  a Web Application? [1]</vt:lpstr>
      <vt:lpstr>Why Web Application?</vt:lpstr>
      <vt:lpstr>How Does a Web Application Work?</vt:lpstr>
      <vt:lpstr>Web Application vs. Web Site</vt:lpstr>
      <vt:lpstr>Web Page</vt:lpstr>
      <vt:lpstr>CGI scripts</vt:lpstr>
      <vt:lpstr>Request Routing</vt:lpstr>
      <vt:lpstr>Server Page vs. Client Page</vt:lpstr>
      <vt:lpstr>Hyperlinks</vt:lpstr>
      <vt:lpstr>&lt;&lt;Server Page&gt;&gt;</vt:lpstr>
      <vt:lpstr>&lt;&lt;Client Page&gt;&gt;</vt:lpstr>
      <vt:lpstr>Slide 16</vt:lpstr>
      <vt:lpstr>Web Application Design Concerns [2]</vt:lpstr>
      <vt:lpstr>Application Behavior</vt:lpstr>
      <vt:lpstr>Navigational Modeling</vt:lpstr>
      <vt:lpstr>Navigation Model Example</vt:lpstr>
      <vt:lpstr>Architecture for Building Web Applications Frameworks</vt:lpstr>
      <vt:lpstr>Slide 22</vt:lpstr>
      <vt:lpstr>Session Management  [3]</vt:lpstr>
      <vt:lpstr>Controlling Client Access</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3386</cp:revision>
  <dcterms:created xsi:type="dcterms:W3CDTF">2007-10-06T08:25:13Z</dcterms:created>
  <dcterms:modified xsi:type="dcterms:W3CDTF">2025-08-04T19:30:35Z</dcterms:modified>
</cp:coreProperties>
</file>