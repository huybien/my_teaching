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0"/>
  </p:notesMasterIdLst>
  <p:sldIdLst>
    <p:sldId id="453" r:id="rId2"/>
    <p:sldId id="454" r:id="rId3"/>
    <p:sldId id="455" r:id="rId4"/>
    <p:sldId id="456" r:id="rId5"/>
    <p:sldId id="353" r:id="rId6"/>
    <p:sldId id="457" r:id="rId7"/>
    <p:sldId id="458" r:id="rId8"/>
    <p:sldId id="343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24" autoAdjust="0"/>
    <p:restoredTop sz="94667" autoAdjust="0"/>
  </p:normalViewPr>
  <p:slideViewPr>
    <p:cSldViewPr>
      <p:cViewPr>
        <p:scale>
          <a:sx n="50" d="100"/>
          <a:sy n="50" d="100"/>
        </p:scale>
        <p:origin x="-153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8BF5F87-2049-40AA-8F46-716DC689E9FB}" type="datetimeFigureOut">
              <a:rPr lang="en-US"/>
              <a:pPr>
                <a:defRPr/>
              </a:pPr>
              <a:t>8/3/2025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37162A9-E817-4FA2-8116-DD6AC9B6A8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A961E-6EE8-4039-A1A6-0EABAAE5E2EB}" type="datetimeFigureOut">
              <a:rPr lang="en-US"/>
              <a:pPr>
                <a:defRPr/>
              </a:pPr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E35CB4-CF17-47D7-96AA-936BDDDE12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51540E-C53B-42C6-8099-BB6606CE1021}" type="datetimeFigureOut">
              <a:rPr lang="en-US"/>
              <a:pPr>
                <a:defRPr/>
              </a:pPr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26FCBC-189E-4F52-973B-BFB0750B29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13B92E-91CA-4FE6-965A-F01C7ACEF459}" type="datetimeFigureOut">
              <a:rPr lang="en-US"/>
              <a:pPr>
                <a:defRPr/>
              </a:pPr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367505-FC9C-4829-A2C5-8D9539F50D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2D384C-9A4E-461B-BB23-F93A3AAF3419}" type="datetimeFigureOut">
              <a:rPr lang="en-US"/>
              <a:pPr>
                <a:defRPr/>
              </a:pPr>
              <a:t>8/3/2025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97F266-8102-4D7C-B0FA-72A1D71C4A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AC8FED-8EC6-4E03-8633-F9D63165028A}" type="datetimeFigureOut">
              <a:rPr lang="en-US"/>
              <a:pPr>
                <a:defRPr/>
              </a:pPr>
              <a:t>8/3/2025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0AA738-E070-4C7D-8215-A9E9186978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09C7D-7857-432A-8DD8-5C43F7E3C7CF}" type="datetimeFigureOut">
              <a:rPr lang="en-US"/>
              <a:pPr>
                <a:defRPr/>
              </a:pPr>
              <a:t>8/3/2025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DBA6BF-B89E-4B84-9284-BF0D716432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4341F6-3120-4451-901B-8E96C2128DE4}" type="datetimeFigureOut">
              <a:rPr lang="en-US"/>
              <a:pPr>
                <a:defRPr/>
              </a:pPr>
              <a:t>8/3/2025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516167-3E32-49C7-B449-23B33F3351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2B12F5-6CA7-4A24-8F05-2D2ACC989520}" type="datetimeFigureOut">
              <a:rPr lang="en-US"/>
              <a:pPr>
                <a:defRPr/>
              </a:pPr>
              <a:t>8/3/2025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50DFC-223B-4C17-8EA5-A3BC2E2B70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BCF139-0BFF-4962-91BE-1F1514D86238}" type="datetimeFigureOut">
              <a:rPr lang="en-US"/>
              <a:pPr>
                <a:defRPr/>
              </a:pPr>
              <a:t>8/3/2025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27F731-B728-442B-8D29-57522735D8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3ECA0-F5DD-4989-8D08-A636380CF86F}" type="datetimeFigureOut">
              <a:rPr lang="en-US"/>
              <a:pPr>
                <a:defRPr/>
              </a:pPr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A18408-4541-4111-8F56-46B363D97B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533026-B6A9-4D4E-A2BD-3141F8B632E9}" type="datetimeFigureOut">
              <a:rPr lang="en-US"/>
              <a:pPr>
                <a:defRPr/>
              </a:pPr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8B7DE-CC25-4488-B0E3-2CD008C095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DB71AD6-D82A-46BB-BB7B-8ABE21D04123}" type="datetimeFigureOut">
              <a:rPr lang="en-US"/>
              <a:pPr>
                <a:defRPr/>
              </a:pPr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0B29163-B4D0-4B08-BCE5-40FF1D4EF8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sass-lang.com/documentation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sass-lang.com/documentation/variables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sass-lang.com/documentation/style-rules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>
            <a:normAutofit/>
          </a:bodyPr>
          <a:lstStyle/>
          <a:p>
            <a:r>
              <a:rPr lang="en-US" sz="6000" dirty="0" smtClean="0"/>
              <a:t>Sass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>
              <a:defRPr/>
            </a:pPr>
            <a:r>
              <a:rPr lang="en-US" sz="5400" dirty="0" smtClean="0"/>
              <a:t>Lecturer: Ngo Huy Bien</a:t>
            </a:r>
          </a:p>
          <a:p>
            <a:pPr>
              <a:defRPr/>
            </a:pPr>
            <a:r>
              <a:rPr lang="en-US" sz="4400" dirty="0" smtClean="0"/>
              <a:t>Software Engineering Department</a:t>
            </a:r>
          </a:p>
          <a:p>
            <a:pPr>
              <a:defRPr/>
            </a:pPr>
            <a:r>
              <a:rPr lang="en-US" sz="4400" dirty="0" smtClean="0"/>
              <a:t>Faculty of Information Technology</a:t>
            </a:r>
          </a:p>
          <a:p>
            <a:pPr>
              <a:defRPr/>
            </a:pPr>
            <a:r>
              <a:rPr lang="en-US" sz="4400" dirty="0" smtClean="0"/>
              <a:t>VNUHCM - University of Science</a:t>
            </a:r>
          </a:p>
          <a:p>
            <a:pPr>
              <a:defRPr/>
            </a:pPr>
            <a:r>
              <a:rPr lang="en-US" sz="4400" dirty="0" smtClean="0"/>
              <a:t>Ho Chi Minh City, Vietnam</a:t>
            </a:r>
          </a:p>
          <a:p>
            <a:pPr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5715000" cy="399256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Saas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https://sass-lang.com/documentation</a:t>
            </a:r>
            <a:r>
              <a:rPr lang="en-US" sz="2400" dirty="0" smtClean="0">
                <a:hlinkClick r:id="rId2"/>
              </a:rPr>
              <a:t>/</a:t>
            </a:r>
            <a:endParaRPr lang="en-US" sz="2400" dirty="0" smtClean="0"/>
          </a:p>
          <a:p>
            <a:r>
              <a:rPr lang="en-US" sz="2400" i="1" dirty="0" smtClean="0">
                <a:solidFill>
                  <a:srgbClr val="C00000"/>
                </a:solidFill>
              </a:rPr>
              <a:t>Sass</a:t>
            </a:r>
            <a:r>
              <a:rPr lang="en-US" sz="2400" dirty="0" smtClean="0"/>
              <a:t> is a </a:t>
            </a:r>
            <a:r>
              <a:rPr lang="en-US" sz="2400" dirty="0" err="1" smtClean="0"/>
              <a:t>stylesheet</a:t>
            </a:r>
            <a:r>
              <a:rPr lang="en-US" sz="2400" dirty="0" smtClean="0"/>
              <a:t> language </a:t>
            </a:r>
            <a:r>
              <a:rPr lang="en-US" sz="2400" u="sng" dirty="0" smtClean="0"/>
              <a:t>that’s compiled</a:t>
            </a:r>
            <a:r>
              <a:rPr lang="en-US" sz="2400" dirty="0" smtClean="0"/>
              <a:t> to </a:t>
            </a:r>
            <a:r>
              <a:rPr lang="en-US" sz="2400" dirty="0" smtClean="0"/>
              <a:t>CSS.</a:t>
            </a:r>
          </a:p>
          <a:p>
            <a:r>
              <a:rPr lang="en-US" sz="2400" dirty="0" smtClean="0"/>
              <a:t>It </a:t>
            </a:r>
            <a:r>
              <a:rPr lang="en-US" sz="2400" dirty="0" smtClean="0"/>
              <a:t>allows you to use variables, nested rules, </a:t>
            </a:r>
            <a:r>
              <a:rPr lang="en-US" sz="2400" dirty="0" err="1" smtClean="0"/>
              <a:t>mixins</a:t>
            </a:r>
            <a:r>
              <a:rPr lang="en-US" sz="2400" dirty="0" smtClean="0"/>
              <a:t>, functions, and more, all with a fully CSS-compatible </a:t>
            </a:r>
            <a:r>
              <a:rPr lang="en-US" sz="2400" dirty="0" smtClean="0"/>
              <a:t>syntax.</a:t>
            </a:r>
          </a:p>
          <a:p>
            <a:r>
              <a:rPr lang="en-US" sz="2400" dirty="0" smtClean="0"/>
              <a:t>Sass </a:t>
            </a:r>
            <a:r>
              <a:rPr lang="en-US" sz="2400" dirty="0" smtClean="0"/>
              <a:t>helps keep large </a:t>
            </a:r>
            <a:r>
              <a:rPr lang="en-US" sz="2400" dirty="0" err="1" smtClean="0"/>
              <a:t>stylesheets</a:t>
            </a:r>
            <a:r>
              <a:rPr lang="en-US" sz="2400" dirty="0" smtClean="0"/>
              <a:t> well-organized and makes it easy to share design within and across projects.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https://sass-lang.com/documentation/variables</a:t>
            </a:r>
            <a:r>
              <a:rPr lang="en-US" sz="2400" dirty="0" smtClean="0">
                <a:hlinkClick r:id="rId2"/>
              </a:rPr>
              <a:t>/</a:t>
            </a:r>
            <a:endParaRPr lang="en-US" sz="2400" dirty="0" smtClean="0"/>
          </a:p>
          <a:p>
            <a:r>
              <a:rPr lang="en-US" sz="2400" dirty="0" smtClean="0"/>
              <a:t>Sass variables are simple: you assign a value to a name that begins with $, and then you can refer to that name instead of the value itself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Variables make it possible to reduce repetition, do complex math, configure libraries, and much more.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381000" y="4419600"/>
            <a:ext cx="39624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/>
              <a:t>$base-color: #c6538c</a:t>
            </a:r>
          </a:p>
          <a:p>
            <a:r>
              <a:rPr lang="en-US" dirty="0" smtClean="0"/>
              <a:t>$border-dark: </a:t>
            </a:r>
            <a:r>
              <a:rPr lang="en-US" dirty="0" err="1" smtClean="0"/>
              <a:t>rgba</a:t>
            </a:r>
            <a:r>
              <a:rPr lang="en-US" dirty="0" smtClean="0"/>
              <a:t>($base-color, 0.88)</a:t>
            </a:r>
          </a:p>
          <a:p>
            <a:endParaRPr lang="en-US" dirty="0" smtClean="0"/>
          </a:p>
          <a:p>
            <a:r>
              <a:rPr lang="en-US" dirty="0" smtClean="0"/>
              <a:t>.alert</a:t>
            </a:r>
          </a:p>
          <a:p>
            <a:r>
              <a:rPr lang="en-US" dirty="0" smtClean="0"/>
              <a:t>  border: 1px solid $border-dark</a:t>
            </a:r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495800" y="4419600"/>
            <a:ext cx="41910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/>
              <a:t>.alert {</a:t>
            </a:r>
          </a:p>
          <a:p>
            <a:r>
              <a:rPr lang="en-US" dirty="0" smtClean="0"/>
              <a:t>  border: 1px solid </a:t>
            </a:r>
            <a:r>
              <a:rPr lang="en-US" dirty="0" err="1" smtClean="0"/>
              <a:t>rgba</a:t>
            </a:r>
            <a:r>
              <a:rPr lang="en-US" dirty="0" smtClean="0"/>
              <a:t>(198, 83, 140, 0.88);</a:t>
            </a:r>
          </a:p>
          <a:p>
            <a:r>
              <a:rPr lang="en-US" dirty="0" smtClean="0"/>
              <a:t>}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https://sass-lang.com/documentation/style-rules/#</a:t>
            </a:r>
            <a:r>
              <a:rPr lang="en-US" sz="2200" dirty="0" smtClean="0">
                <a:hlinkClick r:id="rId2"/>
              </a:rPr>
              <a:t>nesting</a:t>
            </a:r>
            <a:endParaRPr lang="en-US" sz="2200" dirty="0" smtClean="0"/>
          </a:p>
          <a:p>
            <a:r>
              <a:rPr lang="en-US" sz="2200" dirty="0" smtClean="0"/>
              <a:t>Rather than repeating the same selectors over and over again, you can write one style rules inside another. Sass will automatically combine the outer rule’s selector with the inner rule’s.</a:t>
            </a:r>
            <a:endParaRPr lang="en-US" sz="2200" dirty="0"/>
          </a:p>
        </p:txBody>
      </p:sp>
      <p:sp>
        <p:nvSpPr>
          <p:cNvPr id="5" name="Rectangle 4"/>
          <p:cNvSpPr/>
          <p:nvPr/>
        </p:nvSpPr>
        <p:spPr>
          <a:xfrm>
            <a:off x="457200" y="3164681"/>
            <a:ext cx="3962400" cy="32932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err="1" smtClean="0"/>
              <a:t>nav</a:t>
            </a:r>
            <a:endParaRPr lang="en-US" sz="1600" dirty="0" smtClean="0"/>
          </a:p>
          <a:p>
            <a:r>
              <a:rPr lang="en-US" sz="1600" dirty="0" smtClean="0"/>
              <a:t>  </a:t>
            </a:r>
            <a:r>
              <a:rPr lang="en-US" sz="1600" dirty="0" err="1" smtClean="0"/>
              <a:t>ul</a:t>
            </a:r>
            <a:endParaRPr lang="en-US" sz="1600" dirty="0" smtClean="0"/>
          </a:p>
          <a:p>
            <a:r>
              <a:rPr lang="en-US" sz="1600" dirty="0" smtClean="0"/>
              <a:t>    margin: 0</a:t>
            </a:r>
          </a:p>
          <a:p>
            <a:r>
              <a:rPr lang="en-US" sz="1600" dirty="0" smtClean="0"/>
              <a:t>    padding: 0</a:t>
            </a:r>
          </a:p>
          <a:p>
            <a:r>
              <a:rPr lang="en-US" sz="1600" dirty="0" smtClean="0"/>
              <a:t>    list-style: none</a:t>
            </a:r>
          </a:p>
          <a:p>
            <a:endParaRPr lang="en-US" sz="1600" dirty="0" smtClean="0"/>
          </a:p>
          <a:p>
            <a:r>
              <a:rPr lang="en-US" sz="1600" dirty="0" smtClean="0"/>
              <a:t>  </a:t>
            </a:r>
            <a:r>
              <a:rPr lang="en-US" sz="1600" dirty="0" err="1" smtClean="0"/>
              <a:t>li</a:t>
            </a:r>
            <a:endParaRPr lang="en-US" sz="1600" dirty="0" smtClean="0"/>
          </a:p>
          <a:p>
            <a:r>
              <a:rPr lang="en-US" sz="1600" dirty="0" smtClean="0"/>
              <a:t>    display: inline-block</a:t>
            </a:r>
          </a:p>
          <a:p>
            <a:endParaRPr lang="en-US" sz="1600" dirty="0" smtClean="0"/>
          </a:p>
          <a:p>
            <a:r>
              <a:rPr lang="en-US" sz="1600" dirty="0" smtClean="0"/>
              <a:t>  a</a:t>
            </a:r>
          </a:p>
          <a:p>
            <a:r>
              <a:rPr lang="en-US" sz="1600" dirty="0" smtClean="0"/>
              <a:t>    display: block</a:t>
            </a:r>
          </a:p>
          <a:p>
            <a:r>
              <a:rPr lang="en-US" sz="1600" dirty="0" smtClean="0"/>
              <a:t>    padding: 6px 12px</a:t>
            </a:r>
          </a:p>
          <a:p>
            <a:r>
              <a:rPr lang="en-US" sz="1600" dirty="0" smtClean="0"/>
              <a:t>    text-decoration: </a:t>
            </a:r>
            <a:r>
              <a:rPr lang="en-US" sz="1600" dirty="0" smtClean="0"/>
              <a:t>none</a:t>
            </a:r>
            <a:endParaRPr lang="en-US" sz="1600" dirty="0" smtClean="0"/>
          </a:p>
        </p:txBody>
      </p:sp>
      <p:sp>
        <p:nvSpPr>
          <p:cNvPr id="7" name="Rectangle 6"/>
          <p:cNvSpPr/>
          <p:nvPr/>
        </p:nvSpPr>
        <p:spPr>
          <a:xfrm>
            <a:off x="4495800" y="3164681"/>
            <a:ext cx="4191000" cy="32932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err="1" smtClean="0"/>
              <a:t>nav</a:t>
            </a:r>
            <a:r>
              <a:rPr lang="en-US" sz="1600" dirty="0" smtClean="0"/>
              <a:t> </a:t>
            </a:r>
            <a:r>
              <a:rPr lang="en-US" sz="1600" dirty="0" err="1" smtClean="0"/>
              <a:t>ul</a:t>
            </a:r>
            <a:r>
              <a:rPr lang="en-US" sz="1600" dirty="0" smtClean="0"/>
              <a:t> {</a:t>
            </a:r>
          </a:p>
          <a:p>
            <a:r>
              <a:rPr lang="en-US" sz="1600" dirty="0" smtClean="0"/>
              <a:t>  margin: 0;</a:t>
            </a:r>
          </a:p>
          <a:p>
            <a:r>
              <a:rPr lang="en-US" sz="1600" dirty="0" smtClean="0"/>
              <a:t>  padding: 0;</a:t>
            </a:r>
          </a:p>
          <a:p>
            <a:r>
              <a:rPr lang="en-US" sz="1600" dirty="0" smtClean="0"/>
              <a:t>  list-style: none;</a:t>
            </a:r>
          </a:p>
          <a:p>
            <a:r>
              <a:rPr lang="en-US" sz="1600" dirty="0" smtClean="0"/>
              <a:t>}</a:t>
            </a:r>
          </a:p>
          <a:p>
            <a:r>
              <a:rPr lang="en-US" sz="1600" dirty="0" err="1" smtClean="0"/>
              <a:t>nav</a:t>
            </a:r>
            <a:r>
              <a:rPr lang="en-US" sz="1600" dirty="0" smtClean="0"/>
              <a:t> </a:t>
            </a:r>
            <a:r>
              <a:rPr lang="en-US" sz="1600" dirty="0" err="1" smtClean="0"/>
              <a:t>li</a:t>
            </a:r>
            <a:r>
              <a:rPr lang="en-US" sz="1600" dirty="0" smtClean="0"/>
              <a:t> {</a:t>
            </a:r>
          </a:p>
          <a:p>
            <a:r>
              <a:rPr lang="en-US" sz="1600" dirty="0" smtClean="0"/>
              <a:t>  display: inline-block;</a:t>
            </a:r>
          </a:p>
          <a:p>
            <a:r>
              <a:rPr lang="en-US" sz="1600" dirty="0" smtClean="0"/>
              <a:t>}</a:t>
            </a:r>
          </a:p>
          <a:p>
            <a:r>
              <a:rPr lang="en-US" sz="1600" dirty="0" err="1" smtClean="0"/>
              <a:t>nav</a:t>
            </a:r>
            <a:r>
              <a:rPr lang="en-US" sz="1600" dirty="0" smtClean="0"/>
              <a:t> a {</a:t>
            </a:r>
          </a:p>
          <a:p>
            <a:r>
              <a:rPr lang="en-US" sz="1600" dirty="0" smtClean="0"/>
              <a:t>  display: block;</a:t>
            </a:r>
          </a:p>
          <a:p>
            <a:r>
              <a:rPr lang="en-US" sz="1600" dirty="0" smtClean="0"/>
              <a:t>  padding: 6px 12px;</a:t>
            </a:r>
          </a:p>
          <a:p>
            <a:r>
              <a:rPr lang="en-US" sz="1600" dirty="0" smtClean="0"/>
              <a:t>  text-decoration: none;</a:t>
            </a:r>
          </a:p>
          <a:p>
            <a:r>
              <a:rPr lang="en-US" sz="1600" dirty="0" smtClean="0"/>
              <a:t>}</a:t>
            </a:r>
            <a:endParaRPr lang="en-US" sz="1600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38915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66813" y="16002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12573</TotalTime>
  <Words>308</Words>
  <Application>Microsoft Office PowerPoint</Application>
  <PresentationFormat>On-screen Show (4:3)</PresentationFormat>
  <Paragraphs>59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Sass</vt:lpstr>
      <vt:lpstr>Objectives</vt:lpstr>
      <vt:lpstr>Contents</vt:lpstr>
      <vt:lpstr>References</vt:lpstr>
      <vt:lpstr>What is Saas?</vt:lpstr>
      <vt:lpstr>Variables</vt:lpstr>
      <vt:lpstr>Nesting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4467</cp:revision>
  <dcterms:created xsi:type="dcterms:W3CDTF">2007-10-06T08:25:13Z</dcterms:created>
  <dcterms:modified xsi:type="dcterms:W3CDTF">2025-08-03T14:31:52Z</dcterms:modified>
</cp:coreProperties>
</file>