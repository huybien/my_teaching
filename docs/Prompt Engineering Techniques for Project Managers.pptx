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PROMPT ENGINEERING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87A1E"/>
                </a:solidFill>
                <a:latin typeface="Calibri"/>
              </a:rPr>
              <a:t>TECHNIQUES for PROJECT MANAGERS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9D4E6"/>
                </a:solidFill>
                <a:latin typeface="Calibri"/>
              </a:rPr>
              <a:t>Practical, model-agnostic techniques for using ChatGPT &amp; generative AI across the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Software Project Management  ·  Project Initiation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FB0CC"/>
                </a:solidFill>
                <a:latin typeface="Calibri"/>
              </a:rPr>
              <a:t>Synthesized from: Bainey (Wiley, 2024) · Kodukula &amp; Vinueza (J. Ross, 2025) · Phoenix &amp; Taylor (O'Reilly,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this session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1.  Why prompting is a core PM skill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From vague chats to reliable, reusable project outputs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2.  One skeleton, three frameworks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RACFT · the 8-Tip Checklist · the 5 Principles all agree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3.  Anatomy of a prompt (Techniques 1-8)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Role, Context, Objective, Format, Boundaries, Tone, Specificity, Sequencing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4.  Advanced techniques (9-15)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Few-shot, Chain-of-Thought, Self-eval, Anti-hallucination, PRIME, Chaining, the Project Input Folder</a:t>
            </a:r>
          </a:p>
          <a:p>
            <a:pPr algn="l">
              <a:spcBef>
                <a:spcPts val="800"/>
              </a:spcBef>
              <a:spcAft>
                <a:spcPts val="1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5.  Guardrails &amp; a full worked example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0666E"/>
                </a:solidFill>
                <a:latin typeface="Calibri"/>
              </a:rPr>
              <a:t>Length, iteration, human-in-the-loop, and an end-to-end Business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MOTIVATION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prompt engineering matters for 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5836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2262B"/>
                </a:solidFill>
                <a:latin typeface="Calibri"/>
              </a:rPr>
              <a:t>Prompt engineering = the art &amp; science of designing inputs that reliably get the output you want.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62B"/>
                </a:solidFill>
                <a:latin typeface="Calibri"/>
              </a:rPr>
              <a:t>•  An average prompt returns an average answer — PMs need better than average.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62B"/>
                </a:solidFill>
                <a:latin typeface="Calibri"/>
              </a:rPr>
              <a:t>•  The same task, phrased two ways, yields very different quality.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62B"/>
                </a:solidFill>
                <a:latin typeface="Calibri"/>
              </a:rPr>
              <a:t>•  Good prompts save time, sharpen communication, and improve decisions.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62B"/>
                </a:solidFill>
                <a:latin typeface="Calibri"/>
              </a:rPr>
              <a:t>•  It is a repeatable skill — not a lucky one-off.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62B"/>
                </a:solidFill>
                <a:latin typeface="Calibri"/>
              </a:rPr>
              <a:t>•  The PM stays the human-in-the-loop: AI drafts, you verify and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023360" cy="4023360"/>
          </a:xfrm>
          <a:prstGeom prst="roundRect">
            <a:avLst/>
          </a:prstGeom>
          <a:solidFill>
            <a:srgbClr val="EFF2F7"/>
          </a:solidFill>
          <a:ln w="15875">
            <a:solidFill>
              <a:srgbClr val="2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352044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E5BA8"/>
                </a:solidFill>
                <a:latin typeface="Calibri"/>
              </a:rPr>
              <a:t>NAIVE vs. ENGINEERED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Naive: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22262B"/>
                </a:solidFill>
                <a:latin typeface="Consolas"/>
              </a:rPr>
              <a:t>“Write a project status update.”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F8C7E"/>
                </a:solidFill>
                <a:latin typeface="Calibri"/>
              </a:rPr>
              <a:t>Engineered: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22262B"/>
                </a:solidFill>
                <a:latin typeface="Consolas"/>
              </a:rPr>
              <a:t>“Act as a senior PM. Write a 150-word status update for executives on the Q3 rollout, as bullet points, flagging the 2 schedule risks, in a confident, concise tone.”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BIG PICTURE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skeleton, three frameworks — they all agree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6576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657600" cy="594360"/>
          </a:xfrm>
          <a:prstGeom prst="roundRect">
            <a:avLst/>
          </a:prstGeom>
          <a:solidFill>
            <a:srgbClr val="2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RACFT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Role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Ask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Context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Format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60666E"/>
                </a:solidFill>
                <a:latin typeface="Calibri"/>
              </a:rPr>
              <a:t>Bainey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6576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8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657600" cy="594360"/>
          </a:xfrm>
          <a:prstGeom prst="roundRect">
            <a:avLst/>
          </a:prstGeom>
          <a:solidFill>
            <a:srgbClr val="0F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8-TIP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20040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Assign role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Provide context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Define objective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Frame output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Set boundaries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Determine tone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Be specific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Describe sequencing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3492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60666E"/>
                </a:solidFill>
                <a:latin typeface="Calibri"/>
              </a:rPr>
              <a:t>Kodukula &amp; Vinueza (2025)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6576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3657600" cy="59436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554480"/>
            <a:ext cx="365760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40280"/>
            <a:ext cx="320040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Give Direction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Specify Format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Provide Examples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Evaluate Quality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›  Divide Labor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53492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60666E"/>
                </a:solidFill>
                <a:latin typeface="Calibri"/>
              </a:rPr>
              <a:t>Phoenix &amp; Taylor 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Common DNA:  Role + Context + Objective + Format + Tone + Examples + Iterate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THE TEMPLATE TO MEMORIZE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RACFT: a fill-in-the-blank prompt for PMs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1143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Act as a {Role}.  {Ask}  with {Context}  in {Format}  using {Tone}.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5BA8"/>
                </a:solidFill>
                <a:latin typeface="Calibri"/>
              </a:rPr>
              <a:t>Role  </a:t>
            </a:r>
            <a:r>
              <a:rPr sz="1300">
                <a:solidFill>
                  <a:srgbClr val="60666E"/>
                </a:solidFill>
                <a:latin typeface="Calibri"/>
              </a:rPr>
              <a:t>— Who should the AI be?:  </a:t>
            </a:r>
            <a:r>
              <a:rPr sz="1300" i="1">
                <a:solidFill>
                  <a:srgbClr val="22262B"/>
                </a:solidFill>
                <a:latin typeface="Calibri"/>
              </a:rPr>
              <a:t>“Act as a senior IT project manager” / “…following the PMBOK® Guide”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5BA8"/>
                </a:solidFill>
                <a:latin typeface="Calibri"/>
              </a:rPr>
              <a:t>Ask  </a:t>
            </a:r>
            <a:r>
              <a:rPr sz="1300">
                <a:solidFill>
                  <a:srgbClr val="60666E"/>
                </a:solidFill>
                <a:latin typeface="Calibri"/>
              </a:rPr>
              <a:t>— The core instruction / verb:  </a:t>
            </a:r>
            <a:r>
              <a:rPr sz="1300" i="1">
                <a:solidFill>
                  <a:srgbClr val="22262B"/>
                </a:solidFill>
                <a:latin typeface="Calibri"/>
              </a:rPr>
              <a:t>“Draft a project charter…”, “Analyze these three bids…”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5BA8"/>
                </a:solidFill>
                <a:latin typeface="Calibri"/>
              </a:rPr>
              <a:t>Context  </a:t>
            </a:r>
            <a:r>
              <a:rPr sz="1300">
                <a:solidFill>
                  <a:srgbClr val="60666E"/>
                </a:solidFill>
                <a:latin typeface="Calibri"/>
              </a:rPr>
              <a:t>— Project facts, numbers, constraints:  </a:t>
            </a:r>
            <a:r>
              <a:rPr sz="1300" i="1">
                <a:solidFill>
                  <a:srgbClr val="22262B"/>
                </a:solidFill>
                <a:latin typeface="Calibri"/>
              </a:rPr>
              <a:t>“200 turbines at 200 MW, $50k/mo maintenance…”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5BA8"/>
                </a:solidFill>
                <a:latin typeface="Calibri"/>
              </a:rPr>
              <a:t>Format  </a:t>
            </a:r>
            <a:r>
              <a:rPr sz="1300">
                <a:solidFill>
                  <a:srgbClr val="60666E"/>
                </a:solidFill>
                <a:latin typeface="Calibri"/>
              </a:rPr>
              <a:t>— Structure of the answer:  </a:t>
            </a:r>
            <a:r>
              <a:rPr sz="1300" i="1">
                <a:solidFill>
                  <a:srgbClr val="22262B"/>
                </a:solidFill>
                <a:latin typeface="Calibri"/>
              </a:rPr>
              <a:t>table, bullet points, scenario outline, .docx, chart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5BA8"/>
                </a:solidFill>
                <a:latin typeface="Calibri"/>
              </a:rPr>
              <a:t>Tone  </a:t>
            </a:r>
            <a:r>
              <a:rPr sz="1300">
                <a:solidFill>
                  <a:srgbClr val="60666E"/>
                </a:solidFill>
                <a:latin typeface="Calibri"/>
              </a:rPr>
              <a:t>— Voice for the audience:  </a:t>
            </a:r>
            <a:r>
              <a:rPr sz="1300" i="1">
                <a:solidFill>
                  <a:srgbClr val="22262B"/>
                </a:solidFill>
                <a:latin typeface="Calibri"/>
              </a:rPr>
              <a:t>persuasive, consultative, formal, inspirational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7A1E"/>
                </a:solidFill>
                <a:latin typeface="Calibri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Anatomy of a Prompt
Techniques 1 –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1.  Assign a Role /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Tell the AI who to be — a job role or a methodology/expert.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Frames vocabulary, assumptions, and depth of the answer.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Can target a role OR a standard / thought leader.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First element of RACFT — set it once, reuse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Act as a senior IT project manager.
OR
Act as a project management expert following the PMBOK® Guide.
OR
Act as a risk-management consultant focused on identifying and mitigating project 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(RACFT) · Kodukula, Ch.4 (Tip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HIGHEST-IMPACT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2.  Provide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Feed real project facts, numbers, and constraints. Generic in → generic out.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Turns a textbook answer into a tailored one.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Numbers, industry, goals, constraints, stakeholders.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The difference between ‘a WBS’ and ‘a WBS for my project.’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(Business Case)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Act as a senior project manager. Current wind turbines generate 200 MW at $50,000/month maintenance. Propose upgrading to efficient models for $5M, projected to raise output to 300 MW and cut monthly cost 30%. Develop a Business Case on long-term benefit vs. up-front cost to justify the investment to stakeholders.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· Kodukula, Ch.4 (Tip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3.  Specify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Define the structure of the output so it is usable immediately.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Tables, bullets, scenario outline, JSON, .docx, charts.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Removes guesswork and makes outputs comparable.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Ask for a chart or a downloadable file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(Proposal Evaluation)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…present the data in a table comparing the three suppliers; highlight cost and guarantee period in bold; conclude with a simple chart of cost vs. guarantee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· Phoenix &amp; Taylor (Principle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4.  Set the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Match the voice to the audience and purpose.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Executives, team, vendors, and clients need different voices.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Tone is as steerable as content.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Pair with Format for board-ready vs. team-ready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…maintain a persuasive and personal tone.   (stakeholder business case)
…use an informative, professional tone.   (compliance review)
…adopt an inspirational tone to motivate the team.   (kickoff)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· Kodukula, Ch.4 (Tip 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5.  Set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Constrain length and scope to keep output focused.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Word/character limits force clarity and brevity.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Keeps reports skimmable for busy stakeholders.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Prevents rambling, off-topic responses.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Generate a project status report, but limit the output to 200 words to encourage brevity and clarity.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Kodukula, Ch.4 (Tip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6.  Be Specific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Replace vague verbs with precise instructions and dimensions.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‘Analyze costs’ → ‘break costs down by phase / department.’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Specificity drives accuracy and actionability.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State exactly what to compare, flag, or compute.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(Cost analysis)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Analyze the allocated budget vs. actual spending by department for the Q3 project cycle, highlighting variances and potential overruns.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Kodukula, Ch.4 (Tip 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7.  Describe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Tell the AI the order of steps so output mirrors your workflow.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Sequence affects the result, like a real process.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Great for procedures, runbooks, and phase plans.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Produces a logical, followable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Outline the project initiation steps sequentially: start with stakeholder analysis, then resource allocation, and end with risk assessment.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Kodukula, Ch.4 (Tip 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8.  Provide Examples (Few-shot)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Show 1–3 examples of the task done right; let the AI match the pattern.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Even ONE example sharply improves accuracy.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3–5 examples → more reliable, less creative.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Ideal for repeated artifacts in a fixed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(Risk register)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Generate risk-register rows for my project in EXACTLY this format:
Risk | Likelihood(1-5) | Impact(1-5) | Response
Vendor delay | 3 | 4 | Add buffer + backup supplier
Scope creep | 4 | 3 | Change-control board
Now add 8 more rows for a hospital IT upgrade.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Phoenix &amp; Taylor (Principle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1188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7A1E"/>
                </a:solidFill>
                <a:latin typeface="Calibri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Advanced Techniques
Techniques 9 –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REASONING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9.  Chain-of-Thought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Add “Let’s think step by step” to improve reasoning and estimates.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Better math, prioritization, and trade-off analysis.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Creates an audit trail you can review.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More consistent scoring against your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Let’s think step by step. Rate each risk in this register 1–10 for likelihood and impact, then compute a priority score and sort descending.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Phoenix &amp; Taylor (Principle 5 / OpenAI ‘time to think’)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QUALITY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10.  Self-Evaluation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Make the model critique or score its own first draft in a second pass.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Catches weak output a single pass misses.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The model judges better than it generates.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Split into criteria: clarity, completeness,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Here is the WBS you produced. Rate each deliverable name 1–10 for clarity and completeness, flag any gaps or overlaps, then output an improved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Phoenix &amp; Taylor (Principle 4 &amp; 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TRUST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11.  Demand Sourcing (Anti-Hallucination)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Require the AI to cite support and admit when it cannot.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Reduces confident-but-wrong answers.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Forces a visible ‘I don’t know’ signal.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Pair with uploaded documents for grounding.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Summarize the attached document for a PM. Ensure each point has referenced support from the document; if you cannot verify a point, write “Not Verified” in bold.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(summarization use case)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PROCESS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12.  Iterative Refinement (PRIME)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Prepare → Relay → Inspect → Modify → Execute. Keep prompts short; refine ~3x.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Don’t over-engineer one giant prompt.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Inspect output, then add constraints and re-ask.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A dialogue, not a one-shot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(event date, Modify step)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First: “Identify the best 3 dates for the event for high attendance, using the calendar &amp; attendance data provided.”
Then MODIFY: “Given the new training Dec 10–12, suggest 3 alternative dates; exclude the 2nd week of December; prefer Thu/Fri.”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Kodukula, Ch.4 (PRIME / GAE)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EFFICIENCY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13.  Bulk-Tailoring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Set role + format + tone ONCE for a whole session of questions.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Stops you repeating the boilerplate every time.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End the setup with “Ready?” to prime the model.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Speeds up a working session dramatically.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I want you to act as a senior IT project manager for every question I ask, giving quantifiable results in a tabular format using a formal tone. Ready?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Bainey, Ch.10 (bulk-tailoring)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COMPOSITION TECHNIQUE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14.  Divide Labor / Prompt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Break a big deliverable into chained calls; each output feeds the next.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More reliable than one overloaded prompt.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Visibility into which step fails.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Mirrors artifact-by-artifact PM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(chain)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Step 1: Draft the project charter from these facts.
Step 2: From that charter, build the stakeholder register.
Step 3: From that register, draft the communication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Phoenix &amp; Taylor (Principle 5) · Bainey (artifacts)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CONTEXT-AS-AN-ASSET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15.  Project Input Folder (PIF)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2262B"/>
                </a:solidFill>
                <a:latin typeface="Calibri"/>
              </a:rPr>
              <a:t>Upload charters, registers, minutes ONCE; reuse all session. A living repository.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Grounds answers in YOUR project, not the internet.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Grows as the project progresses.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•  Anonymize sensitive data before uploading.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63040"/>
            <a:ext cx="5166360" cy="4480560"/>
          </a:xfrm>
          <a:prstGeom prst="roundRect">
            <a:avLst/>
          </a:prstGeom>
          <a:solidFill>
            <a:srgbClr val="F6F3EA"/>
          </a:solidFill>
          <a:ln w="15875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166360" cy="457200"/>
          </a:xfrm>
          <a:prstGeom prst="round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48463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PROMPT (end of project)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709160" cy="3703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2262B"/>
                </a:solidFill>
                <a:latin typeface="Consolas"/>
              </a:rPr>
              <a:t>Using the uploaded charter, risk register, and meeting minutes, generate a Lessons Learned report grouped by knowledge area, with what worked, what didn’t, and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5669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Source: Kodukula, Ch.4 (Project Input Folder)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PART 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Guardrails: use these techniques responsibly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Keep prompts ~80–150 words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Enough context, still focused. Longer only for numeric/scheduling tasks.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Expect ~3 iterations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A good structure converges fast; don’t aim for one perfect shot.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Type “more” to continue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Long deliverables run past the response limit — stitch the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Be direct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Skip ‘please / thank you’ — it can pull the model off-point.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Always verify numbers &amp; claims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AI can hallucinate. You own the output that reaches stakeholders.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500" b="1" i="0">
                <a:solidFill>
                  <a:srgbClr val="0F8C7E"/>
                </a:solidFill>
                <a:latin typeface="Calibri"/>
              </a:rPr>
              <a:t>✔  Mind privacy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22262B"/>
                </a:solidFill>
                <a:latin typeface="Calibri"/>
              </a:rPr>
              <a:t>Anonymize sensitive data; use session-only / no-retention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PUTTING IT TOGETHER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prompt, every technique — 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21208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Techniques stacked in a single RACFT prompt: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Role: </a:t>
            </a:r>
            <a:r>
              <a:rPr sz="1300" i="1">
                <a:solidFill>
                  <a:srgbClr val="22262B"/>
                </a:solidFill>
                <a:latin typeface="Calibri"/>
              </a:rPr>
              <a:t>“Act as a senior project manager”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Context: </a:t>
            </a:r>
            <a:r>
              <a:rPr sz="1300" i="1">
                <a:solidFill>
                  <a:srgbClr val="22262B"/>
                </a:solidFill>
                <a:latin typeface="Calibri"/>
              </a:rPr>
              <a:t>200 MW turbines, $50k/mo, $5M upgrade…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Ask / Objective: </a:t>
            </a:r>
            <a:r>
              <a:rPr sz="1300" i="1">
                <a:solidFill>
                  <a:srgbClr val="22262B"/>
                </a:solidFill>
                <a:latin typeface="Calibri"/>
              </a:rPr>
              <a:t>“Develop a Business Case… justify to stakeholders”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Format: </a:t>
            </a:r>
            <a:r>
              <a:rPr sz="1300" i="1">
                <a:solidFill>
                  <a:srgbClr val="22262B"/>
                </a:solidFill>
                <a:latin typeface="Calibri"/>
              </a:rPr>
              <a:t>tables + a chart, key figures in bold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Boundaries: </a:t>
            </a:r>
            <a:r>
              <a:rPr sz="1300" i="1">
                <a:solidFill>
                  <a:srgbClr val="22262B"/>
                </a:solidFill>
                <a:latin typeface="Calibri"/>
              </a:rPr>
              <a:t>long-term benefit vs. up-front cost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2E5BA8"/>
                </a:solidFill>
                <a:latin typeface="Calibri"/>
              </a:rPr>
              <a:t>Tone: </a:t>
            </a:r>
            <a:r>
              <a:rPr sz="1300" i="1">
                <a:solidFill>
                  <a:srgbClr val="22262B"/>
                </a:solidFill>
                <a:latin typeface="Calibri"/>
              </a:rPr>
              <a:t>persuasive and personal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17320"/>
            <a:ext cx="5669280" cy="4617720"/>
          </a:xfrm>
          <a:prstGeom prst="roundRect">
            <a:avLst/>
          </a:prstGeom>
          <a:solidFill>
            <a:srgbClr val="EFF2F7"/>
          </a:solidFill>
          <a:ln w="15875">
            <a:solidFill>
              <a:srgbClr val="2E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120640" cy="4297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E5BA8"/>
                </a:solidFill>
                <a:latin typeface="Calibri"/>
              </a:rPr>
              <a:t>WHAT CHATGPT RETURNS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1. Current vs. projected performance 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   (200 → 300 MW; $50k → $35k/mo)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2. 10-year cumulative-savings 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3. Break-even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4. Bold recommendation to proceed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2262B"/>
                </a:solidFill>
                <a:latin typeface="Consolas"/>
              </a:rPr>
              <a:t>5. A plotted savings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053328"/>
            <a:ext cx="5669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60666E"/>
                </a:solidFill>
                <a:latin typeface="Calibri"/>
              </a:rPr>
              <a:t>Worked output reproduced in Bainey, Ch.10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WRAP-UP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62B"/>
                </a:solidFill>
                <a:latin typeface="Calibri"/>
              </a:rPr>
              <a:t>▸  Prompting is a repeatable PM skill — not luck.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2262B"/>
                </a:solidFill>
                <a:latin typeface="Calibri"/>
              </a:rPr>
              <a:t>▸  Memorize ONE skeleton: Role + Context + Objective + Format + Tone + Examples + Iterate (RACFT).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62B"/>
                </a:solidFill>
                <a:latin typeface="Calibri"/>
              </a:rPr>
              <a:t>▸  Context is the highest-leverage move; the Project Input Folder makes it reusable.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62B"/>
                </a:solidFill>
                <a:latin typeface="Calibri"/>
              </a:rPr>
              <a:t>▸  For hard tasks: add Chain-of-Thought, Self-Evaluation, and “Not Verified” sourcing.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2262B"/>
                </a:solidFill>
                <a:latin typeface="Calibri"/>
              </a:rPr>
              <a:t>▸  Decompose big deliverables with chaining; refine with the PRIME loop.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2262B"/>
                </a:solidFill>
                <a:latin typeface="Calibri"/>
              </a:rPr>
              <a:t>▸  Stay the human-in-the-loop: verify every number before it reaches a stakeholder.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87A1E"/>
                </a:solidFill>
                <a:latin typeface="Calibri"/>
              </a:rPr>
              <a:t>SOURCES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Bainey, K. (2024). AI-Driven Project Management. Wiley. — Part III, Ch.10 “Prompt Engineering for Project Managers” (RACFT; PM prompt examples) &amp; Ch.7.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Kodukula, P., &amp; Vinueza, G. (2025). The Project Management AI Handbook. J. Ross. — Ch.4 “Generative AI Engagement” (PRIME, 8-tip checklist, Project Input Folder).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Phoenix, J., &amp; Taylor, M. (2024). Prompt Engineering for Generative AI. O'Reilly. — Ch.1 “The Five Principles of Prompting.”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2262B"/>
                </a:solidFill>
                <a:latin typeface="Calibri"/>
              </a:rPr>
              <a:t>Berryman, J., &amp; Ziegler, A. (2024). Prompt Engineering for LLMs. O'Reilly. — Background on prompt anatomy &amp; LLM behavior (Ch.1–2, 5–6).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9672"/>
            <a:ext cx="91440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Prompt Engineering Techniques for Project Managers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9672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D4E6"/>
                </a:solidFill>
                <a:latin typeface="Calibri"/>
              </a:rPr>
              <a:t>Try it now: rewrite one of your real project requests using the RACFT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