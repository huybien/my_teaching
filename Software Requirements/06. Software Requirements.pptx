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5"/>
  </p:notesMasterIdLst>
  <p:handoutMasterIdLst>
    <p:handoutMasterId r:id="rId36"/>
  </p:handoutMasterIdLst>
  <p:sldIdLst>
    <p:sldId id="256" r:id="rId2"/>
    <p:sldId id="446" r:id="rId3"/>
    <p:sldId id="608" r:id="rId4"/>
    <p:sldId id="358" r:id="rId5"/>
    <p:sldId id="675" r:id="rId6"/>
    <p:sldId id="676" r:id="rId7"/>
    <p:sldId id="641" r:id="rId8"/>
    <p:sldId id="642" r:id="rId9"/>
    <p:sldId id="674" r:id="rId10"/>
    <p:sldId id="672" r:id="rId11"/>
    <p:sldId id="455" r:id="rId12"/>
    <p:sldId id="456" r:id="rId13"/>
    <p:sldId id="458" r:id="rId14"/>
    <p:sldId id="460" r:id="rId15"/>
    <p:sldId id="462" r:id="rId16"/>
    <p:sldId id="626" r:id="rId17"/>
    <p:sldId id="628" r:id="rId18"/>
    <p:sldId id="574" r:id="rId19"/>
    <p:sldId id="605" r:id="rId20"/>
    <p:sldId id="465" r:id="rId21"/>
    <p:sldId id="467" r:id="rId22"/>
    <p:sldId id="643" r:id="rId23"/>
    <p:sldId id="625" r:id="rId24"/>
    <p:sldId id="656" r:id="rId25"/>
    <p:sldId id="657" r:id="rId26"/>
    <p:sldId id="658" r:id="rId27"/>
    <p:sldId id="659" r:id="rId28"/>
    <p:sldId id="660" r:id="rId29"/>
    <p:sldId id="662" r:id="rId30"/>
    <p:sldId id="663" r:id="rId31"/>
    <p:sldId id="661" r:id="rId32"/>
    <p:sldId id="673" r:id="rId33"/>
    <p:sldId id="359" r:id="rId3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9" autoAdjust="0"/>
    <p:restoredTop sz="94667" autoAdjust="0"/>
  </p:normalViewPr>
  <p:slideViewPr>
    <p:cSldViewPr>
      <p:cViewPr>
        <p:scale>
          <a:sx n="50" d="100"/>
          <a:sy n="50" d="100"/>
        </p:scale>
        <p:origin x="-1556"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D92EA88-EEAD-476F-951C-A9F38DC12E92}" type="datetimeFigureOut">
              <a:rPr lang="en-US" smtClean="0"/>
              <a:pPr/>
              <a:t>9/5/2025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97AD151-0E8C-42DF-AEB9-304E517D3C76}"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4026E6-0412-4830-8F06-DF45033103D5}" type="datetimeFigureOut">
              <a:rPr lang="en-US" smtClean="0"/>
              <a:pPr/>
              <a:t>9/5/2025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21BAC6-1780-4248-A045-EEDC4FD7C33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sz="2400" dirty="0" smtClean="0"/>
          </a:p>
        </p:txBody>
      </p:sp>
      <p:sp>
        <p:nvSpPr>
          <p:cNvPr id="4" name="Slide Number Placeholder 3"/>
          <p:cNvSpPr>
            <a:spLocks noGrp="1"/>
          </p:cNvSpPr>
          <p:nvPr>
            <p:ph type="sldNum" sz="quarter" idx="10"/>
          </p:nvPr>
        </p:nvSpPr>
        <p:spPr/>
        <p:txBody>
          <a:bodyPr/>
          <a:lstStyle/>
          <a:p>
            <a:fld id="{F221BAC6-1780-4248-A045-EEDC4FD7C334}" type="slidenum">
              <a:rPr lang="en-US" smtClean="0"/>
              <a:pPr/>
              <a:t>32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F8F1E381-20DA-4745-B537-35B514BA6DD7}" type="datetimeFigureOut">
              <a:rPr lang="en-US"/>
              <a:pPr>
                <a:defRPr/>
              </a:pPr>
              <a:t>9/5/2025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94EF19F-72C6-4835-B8F9-C4043AB145C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656C9F8-4ECB-4B63-B927-93DB51F662D0}" type="datetimeFigureOut">
              <a:rPr lang="en-US"/>
              <a:pPr>
                <a:defRPr/>
              </a:pPr>
              <a:t>9/5/2025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9E5146C-45A3-4063-B945-A6E828CB1A7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120DA55-A2EA-4E91-9DF8-848564DA5A8C}" type="datetimeFigureOut">
              <a:rPr lang="en-US"/>
              <a:pPr>
                <a:defRPr/>
              </a:pPr>
              <a:t>9/5/2025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502FCE2-22A4-4D22-98FA-0E266C50229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82FE22C-AAA6-4859-915C-7CA8A229741E}" type="datetimeFigureOut">
              <a:rPr lang="en-US"/>
              <a:pPr>
                <a:defRPr/>
              </a:pPr>
              <a:t>9/5/2025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94E97B5-865B-4943-9516-8680CA16C72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DB4DA2C-F6C4-40D9-95C2-7E16780900E4}" type="datetimeFigureOut">
              <a:rPr lang="en-US"/>
              <a:pPr>
                <a:defRPr/>
              </a:pPr>
              <a:t>9/5/2025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79A6762-FCC9-4A4D-B55E-A9AEAC8C426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B02FA20-63C4-4E2F-BBAB-9D9ECDF79A55}" type="datetimeFigureOut">
              <a:rPr lang="en-US"/>
              <a:pPr>
                <a:defRPr/>
              </a:pPr>
              <a:t>9/5/2025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D571E3C-6E5C-4814-A904-273FE3A958C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4E24579-F551-4401-BD9C-1A956A73C8B1}" type="datetimeFigureOut">
              <a:rPr lang="en-US"/>
              <a:pPr>
                <a:defRPr/>
              </a:pPr>
              <a:t>9/5/2025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E24CBAC-259E-4BF8-ACF6-FAB2C68750F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C04B6935-2E86-4F35-979C-26D8DA31E11B}" type="datetimeFigureOut">
              <a:rPr lang="en-US"/>
              <a:pPr>
                <a:defRPr/>
              </a:pPr>
              <a:t>9/5/2025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049D8DE-4736-4786-A76F-BA4BFA66C35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34642AA-84FD-46EB-91FE-F301FD1B086D}" type="datetimeFigureOut">
              <a:rPr lang="en-US"/>
              <a:pPr>
                <a:defRPr/>
              </a:pPr>
              <a:t>9/5/2025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2E0BD26-494C-4707-B45F-1E41DB7E206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67AB78B-B950-4223-B948-C26A4E4BFB92}" type="datetimeFigureOut">
              <a:rPr lang="en-US"/>
              <a:pPr>
                <a:defRPr/>
              </a:pPr>
              <a:t>9/5/2025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0435AB7-6027-4C00-A9DE-A82D1F9B718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8E790DE-6227-4769-B4D1-A285E0E78CE4}" type="datetimeFigureOut">
              <a:rPr lang="en-US"/>
              <a:pPr>
                <a:defRPr/>
              </a:pPr>
              <a:t>9/5/2025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F58F97A-8135-4157-8FDD-A5EB0FEF561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6C44B157-FED2-4AB7-A096-BDB0B5D2F088}" type="datetimeFigureOut">
              <a:rPr lang="en-US"/>
              <a:pPr>
                <a:defRPr/>
              </a:pPr>
              <a:t>9/5/2025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BD64C92-C51E-4B83-930E-D172469398A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Software Requirements</a:t>
            </a:r>
          </a:p>
        </p:txBody>
      </p:sp>
      <p:sp>
        <p:nvSpPr>
          <p:cNvPr id="3" name="Subtitle 2"/>
          <p:cNvSpPr>
            <a:spLocks noGrp="1"/>
          </p:cNvSpPr>
          <p:nvPr>
            <p:ph type="subTitle" idx="1"/>
          </p:nvPr>
        </p:nvSpPr>
        <p:spPr/>
        <p:txBody>
          <a:bodyPr rtlCol="0">
            <a:normAutofit fontScale="32500" lnSpcReduction="20000"/>
          </a:bodyPr>
          <a:lstStyle/>
          <a:p>
            <a:pPr eaLnBrk="1" fontAlgn="auto" hangingPunct="1">
              <a:spcAft>
                <a:spcPts val="0"/>
              </a:spcAft>
              <a:defRPr/>
            </a:pPr>
            <a:r>
              <a:rPr lang="en-US" sz="6800" dirty="0" smtClean="0"/>
              <a:t>Lecturer: Ngo Huy Bien</a:t>
            </a:r>
          </a:p>
          <a:p>
            <a:pPr eaLnBrk="1" fontAlgn="auto" hangingPunct="1">
              <a:spcAft>
                <a:spcPts val="0"/>
              </a:spcAft>
              <a:defRPr/>
            </a:pPr>
            <a:r>
              <a:rPr lang="en-US" sz="5400" dirty="0" smtClean="0"/>
              <a:t>Software Engineering Department</a:t>
            </a:r>
          </a:p>
          <a:p>
            <a:pPr eaLnBrk="1" fontAlgn="auto" hangingPunct="1">
              <a:spcAft>
                <a:spcPts val="0"/>
              </a:spcAft>
              <a:defRPr/>
            </a:pPr>
            <a:r>
              <a:rPr lang="en-US" sz="5400" dirty="0" smtClean="0"/>
              <a:t>Faculty of Information Technology</a:t>
            </a:r>
          </a:p>
          <a:p>
            <a:pPr eaLnBrk="1" fontAlgn="auto" hangingPunct="1">
              <a:spcAft>
                <a:spcPts val="0"/>
              </a:spcAft>
              <a:defRPr/>
            </a:pPr>
            <a:r>
              <a:rPr lang="en-US" sz="5400" dirty="0" smtClean="0"/>
              <a:t>VNUHCM - University of Science</a:t>
            </a:r>
          </a:p>
          <a:p>
            <a:pPr eaLnBrk="1" fontAlgn="auto" hangingPunct="1">
              <a:spcAft>
                <a:spcPts val="0"/>
              </a:spcAft>
              <a:defRPr/>
            </a:pPr>
            <a:r>
              <a:rPr lang="en-US" sz="5400" dirty="0" smtClean="0"/>
              <a:t>Ho Chi Minh City, Vietnam</a:t>
            </a:r>
          </a:p>
          <a:p>
            <a:pPr eaLnBrk="1" fontAlgn="auto" hangingPunct="1">
              <a:spcAft>
                <a:spcPts val="0"/>
              </a:spcAft>
              <a:defRPr/>
            </a:pPr>
            <a:r>
              <a:rPr lang="en-US" sz="5400" dirty="0" smtClean="0">
                <a:hlinkClick r:id="rId2"/>
              </a:rPr>
              <a:t>nhbien@fit.hcmus.edu.vn</a:t>
            </a:r>
            <a:endParaRPr lang="en-US" sz="5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4495799"/>
          </a:xfrm>
        </p:spPr>
        <p:txBody>
          <a:bodyPr/>
          <a:lstStyle/>
          <a:p>
            <a:pPr marL="457200" indent="-457200">
              <a:buFont typeface="Wingdings" pitchFamily="2" charset="2"/>
              <a:buChar char="Ø"/>
            </a:pPr>
            <a:r>
              <a:rPr lang="en-US" sz="2400" dirty="0" smtClean="0"/>
              <a:t>To </a:t>
            </a:r>
            <a:r>
              <a:rPr lang="en-US" sz="2400" i="1" dirty="0" smtClean="0">
                <a:solidFill>
                  <a:srgbClr val="C00000"/>
                </a:solidFill>
              </a:rPr>
              <a:t>discover</a:t>
            </a:r>
            <a:r>
              <a:rPr lang="en-US" sz="2400" dirty="0" smtClean="0"/>
              <a:t> software requirements.</a:t>
            </a:r>
          </a:p>
          <a:p>
            <a:pPr marL="457200" indent="-457200">
              <a:buFont typeface="Wingdings" pitchFamily="2" charset="2"/>
              <a:buChar char="Ø"/>
            </a:pPr>
            <a:r>
              <a:rPr lang="en-US" sz="2400" dirty="0" smtClean="0"/>
              <a:t>To </a:t>
            </a:r>
            <a:r>
              <a:rPr lang="en-US" sz="2400" i="1" dirty="0" smtClean="0">
                <a:solidFill>
                  <a:srgbClr val="C00000"/>
                </a:solidFill>
              </a:rPr>
              <a:t>document</a:t>
            </a:r>
            <a:r>
              <a:rPr lang="en-US" sz="2400" dirty="0" smtClean="0"/>
              <a:t> software requirements.</a:t>
            </a:r>
          </a:p>
        </p:txBody>
      </p:sp>
      <p:pic>
        <p:nvPicPr>
          <p:cNvPr id="4" name="Picture 2"/>
          <p:cNvPicPr>
            <a:picLocks noChangeAspect="1" noChangeArrowheads="1"/>
          </p:cNvPicPr>
          <p:nvPr/>
        </p:nvPicPr>
        <p:blipFill>
          <a:blip r:embed="rId2" cstate="print"/>
          <a:srcRect/>
          <a:stretch>
            <a:fillRect/>
          </a:stretch>
        </p:blipFill>
        <p:spPr bwMode="auto">
          <a:xfrm>
            <a:off x="5867400" y="2819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Functional requirements.</a:t>
            </a:r>
          </a:p>
          <a:p>
            <a:pPr marL="571500" indent="-571500">
              <a:buFont typeface="+mj-lt"/>
              <a:buAutoNum type="romanUcPeriod"/>
            </a:pPr>
            <a:r>
              <a:rPr lang="en-US" sz="2400" dirty="0" smtClean="0"/>
              <a:t>Non-functional requirements.</a:t>
            </a:r>
          </a:p>
          <a:p>
            <a:pPr marL="571500" indent="-571500">
              <a:buFont typeface="+mj-lt"/>
              <a:buAutoNum type="romanUcPeriod"/>
            </a:pPr>
            <a:r>
              <a:rPr lang="en-US" sz="2400" dirty="0" smtClean="0"/>
              <a:t>Fit criteria.</a:t>
            </a:r>
          </a:p>
          <a:p>
            <a:pPr marL="571500" indent="-571500">
              <a:buFont typeface="+mj-lt"/>
              <a:buAutoNum type="romanUcPeriod"/>
            </a:pPr>
            <a:r>
              <a:rPr lang="en-US" sz="2400" dirty="0" smtClean="0"/>
              <a:t>Perfect technology.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References</a:t>
            </a:r>
            <a:endParaRPr lang="en-US" dirty="0"/>
          </a:p>
        </p:txBody>
      </p:sp>
      <p:sp>
        <p:nvSpPr>
          <p:cNvPr id="3" name="Content Placeholder 2"/>
          <p:cNvSpPr>
            <a:spLocks noGrp="1"/>
          </p:cNvSpPr>
          <p:nvPr>
            <p:ph idx="1"/>
          </p:nvPr>
        </p:nvSpPr>
        <p:spPr>
          <a:xfrm>
            <a:off x="457200" y="1524000"/>
            <a:ext cx="5638800" cy="4876800"/>
          </a:xfrm>
        </p:spPr>
        <p:txBody>
          <a:bodyPr/>
          <a:lstStyle/>
          <a:p>
            <a:pPr marL="457200" indent="-457200">
              <a:buFont typeface="+mj-lt"/>
              <a:buAutoNum type="arabicPeriod"/>
            </a:pPr>
            <a:r>
              <a:rPr lang="en-US" sz="2400" dirty="0" smtClean="0"/>
              <a:t>Suzanne Robertson and James Robertson (2012). Mastering the Requirements Process. Addison Wesley Professional.</a:t>
            </a:r>
          </a:p>
          <a:p>
            <a:pPr marL="457200" indent="-457200">
              <a:buFont typeface="+mj-lt"/>
              <a:buAutoNum type="arabicPeriod"/>
            </a:pPr>
            <a:r>
              <a:rPr lang="en-US" sz="2400" dirty="0" smtClean="0"/>
              <a:t>Steve </a:t>
            </a:r>
            <a:r>
              <a:rPr lang="en-US" sz="2400" dirty="0" err="1" smtClean="0"/>
              <a:t>Tockey</a:t>
            </a:r>
            <a:r>
              <a:rPr lang="en-US" sz="2400" dirty="0" smtClean="0"/>
              <a:t> (2019). How To Engineer Software - A Model-Based Approach. Wiley-IEEE Press.</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Discovering Software Requirements (I)</a:t>
            </a:r>
            <a:endParaRPr lang="en-US" sz="4000" dirty="0"/>
          </a:p>
        </p:txBody>
      </p:sp>
      <p:sp>
        <p:nvSpPr>
          <p:cNvPr id="3" name="Content Placeholder 2"/>
          <p:cNvSpPr>
            <a:spLocks noGrp="1"/>
          </p:cNvSpPr>
          <p:nvPr>
            <p:ph idx="1"/>
          </p:nvPr>
        </p:nvSpPr>
        <p:spPr/>
        <p:txBody>
          <a:bodyPr/>
          <a:lstStyle/>
          <a:p>
            <a:r>
              <a:rPr lang="en-US" sz="2600" dirty="0" smtClean="0"/>
              <a:t>Developing a </a:t>
            </a:r>
            <a:r>
              <a:rPr lang="en-US" sz="2600" i="1" dirty="0" smtClean="0">
                <a:solidFill>
                  <a:srgbClr val="C00000"/>
                </a:solidFill>
              </a:rPr>
              <a:t>new</a:t>
            </a:r>
            <a:r>
              <a:rPr lang="en-US" sz="2600" dirty="0" smtClean="0"/>
              <a:t> product</a:t>
            </a:r>
          </a:p>
          <a:p>
            <a:pPr lvl="1"/>
            <a:r>
              <a:rPr lang="en-US" sz="2200" dirty="0" smtClean="0"/>
              <a:t>Start with a trivial existing solution, or</a:t>
            </a:r>
          </a:p>
          <a:p>
            <a:pPr lvl="1"/>
            <a:r>
              <a:rPr lang="en-US" sz="2200" dirty="0" smtClean="0"/>
              <a:t>a similar product.</a:t>
            </a:r>
          </a:p>
          <a:p>
            <a:r>
              <a:rPr lang="en-US" sz="2600" dirty="0" smtClean="0"/>
              <a:t>Enhancing an </a:t>
            </a:r>
            <a:r>
              <a:rPr lang="en-US" sz="2600" i="1" dirty="0" smtClean="0">
                <a:solidFill>
                  <a:srgbClr val="C00000"/>
                </a:solidFill>
              </a:rPr>
              <a:t>existing</a:t>
            </a:r>
            <a:r>
              <a:rPr lang="en-US" sz="2600" dirty="0" smtClean="0"/>
              <a:t> product</a:t>
            </a:r>
          </a:p>
          <a:p>
            <a:pPr lvl="1"/>
            <a:r>
              <a:rPr lang="en-US" sz="2200" dirty="0" smtClean="0"/>
              <a:t>Start with the existing product, or</a:t>
            </a:r>
          </a:p>
          <a:p>
            <a:pPr lvl="1"/>
            <a:r>
              <a:rPr lang="en-US" sz="2200" dirty="0" smtClean="0"/>
              <a:t>a similar product.</a:t>
            </a:r>
          </a:p>
        </p:txBody>
      </p:sp>
      <p:sp>
        <p:nvSpPr>
          <p:cNvPr id="12" name="Rectangle 11"/>
          <p:cNvSpPr/>
          <p:nvPr/>
        </p:nvSpPr>
        <p:spPr>
          <a:xfrm>
            <a:off x="5486400" y="3853696"/>
            <a:ext cx="3429000" cy="1785104"/>
          </a:xfrm>
          <a:prstGeom prst="rect">
            <a:avLst/>
          </a:prstGeom>
        </p:spPr>
        <p:txBody>
          <a:bodyPr wrap="square">
            <a:spAutoFit/>
          </a:bodyPr>
          <a:lstStyle/>
          <a:p>
            <a:pPr algn="ctr"/>
            <a:r>
              <a:rPr lang="en-US" sz="2200" b="1" dirty="0" smtClean="0">
                <a:latin typeface="+mj-lt"/>
              </a:rPr>
              <a:t>Who are the users?</a:t>
            </a:r>
          </a:p>
          <a:p>
            <a:pPr algn="ctr"/>
            <a:r>
              <a:rPr lang="en-US" sz="2200" b="1" dirty="0" smtClean="0">
                <a:latin typeface="+mj-lt"/>
              </a:rPr>
              <a:t>What are their goals?</a:t>
            </a:r>
          </a:p>
          <a:p>
            <a:pPr algn="ctr"/>
            <a:r>
              <a:rPr lang="en-US" sz="2200" b="1" dirty="0" smtClean="0">
                <a:latin typeface="+mj-lt"/>
              </a:rPr>
              <a:t>How can the </a:t>
            </a:r>
            <a:r>
              <a:rPr lang="en-US" sz="2200" b="1" i="1" dirty="0" smtClean="0">
                <a:solidFill>
                  <a:srgbClr val="C00000"/>
                </a:solidFill>
                <a:latin typeface="+mj-lt"/>
              </a:rPr>
              <a:t>future</a:t>
            </a:r>
            <a:r>
              <a:rPr lang="en-US" sz="2200" b="1" dirty="0" smtClean="0">
                <a:latin typeface="+mj-lt"/>
              </a:rPr>
              <a:t> black box software help them accomplish their tasks?</a:t>
            </a:r>
          </a:p>
        </p:txBody>
      </p:sp>
      <p:pic>
        <p:nvPicPr>
          <p:cNvPr id="9" name="Picture 4" descr="https://blogapi.uber.com/wp-content/uploads/2019/06/UK_11_blog-body_1_1440x1150px.jpeg"/>
          <p:cNvPicPr>
            <a:picLocks noChangeAspect="1" noChangeArrowheads="1"/>
          </p:cNvPicPr>
          <p:nvPr/>
        </p:nvPicPr>
        <p:blipFill>
          <a:blip r:embed="rId2" cstate="print"/>
          <a:srcRect/>
          <a:stretch>
            <a:fillRect/>
          </a:stretch>
        </p:blipFill>
        <p:spPr bwMode="auto">
          <a:xfrm>
            <a:off x="5943600" y="1828800"/>
            <a:ext cx="2286000" cy="1825625"/>
          </a:xfrm>
          <a:prstGeom prst="rect">
            <a:avLst/>
          </a:prstGeom>
          <a:noFill/>
        </p:spPr>
      </p:pic>
      <p:pic>
        <p:nvPicPr>
          <p:cNvPr id="2050" name="Picture 2" descr="https://webtopiccom9bee0.zapwp.com/q:intelligent/retina:false/webp:false/w:1/url:https://www.webtopic.com/wp-content/uploads/2021/07/20-Best-FaceRig-Alternatives-and-Similar-Software.png"/>
          <p:cNvPicPr>
            <a:picLocks noChangeAspect="1" noChangeArrowheads="1"/>
          </p:cNvPicPr>
          <p:nvPr/>
        </p:nvPicPr>
        <p:blipFill>
          <a:blip r:embed="rId3" cstate="print"/>
          <a:srcRect/>
          <a:stretch>
            <a:fillRect/>
          </a:stretch>
        </p:blipFill>
        <p:spPr bwMode="auto">
          <a:xfrm>
            <a:off x="1295400" y="4419600"/>
            <a:ext cx="3428572" cy="1928572"/>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Discovering Software Requirements (II)</a:t>
            </a:r>
            <a:endParaRPr lang="en-US" sz="4000" dirty="0"/>
          </a:p>
        </p:txBody>
      </p:sp>
      <p:sp>
        <p:nvSpPr>
          <p:cNvPr id="3" name="Content Placeholder 2"/>
          <p:cNvSpPr>
            <a:spLocks noGrp="1"/>
          </p:cNvSpPr>
          <p:nvPr>
            <p:ph idx="1"/>
          </p:nvPr>
        </p:nvSpPr>
        <p:spPr>
          <a:xfrm>
            <a:off x="457200" y="1600200"/>
            <a:ext cx="5486400" cy="4525963"/>
          </a:xfrm>
        </p:spPr>
        <p:txBody>
          <a:bodyPr/>
          <a:lstStyle/>
          <a:p>
            <a:r>
              <a:rPr lang="en-US" sz="2600" dirty="0" smtClean="0"/>
              <a:t>Building a </a:t>
            </a:r>
            <a:r>
              <a:rPr lang="en-US" sz="2600" i="1" dirty="0" smtClean="0">
                <a:solidFill>
                  <a:srgbClr val="C00000"/>
                </a:solidFill>
              </a:rPr>
              <a:t>new</a:t>
            </a:r>
            <a:r>
              <a:rPr lang="en-US" sz="2600" dirty="0" smtClean="0"/>
              <a:t> corporate information system (enterprise application) </a:t>
            </a:r>
            <a:r>
              <a:rPr lang="en-US" sz="2600" u="sng" dirty="0" smtClean="0"/>
              <a:t>for a client</a:t>
            </a:r>
          </a:p>
          <a:p>
            <a:pPr lvl="1"/>
            <a:r>
              <a:rPr lang="en-US" sz="2200" dirty="0" smtClean="0"/>
              <a:t>Start with a manual process, or</a:t>
            </a:r>
          </a:p>
          <a:p>
            <a:pPr lvl="1"/>
            <a:r>
              <a:rPr lang="en-US" sz="2200" dirty="0" smtClean="0"/>
              <a:t>a trivial existing solution, or</a:t>
            </a:r>
          </a:p>
          <a:p>
            <a:pPr lvl="1"/>
            <a:r>
              <a:rPr lang="en-US" sz="2200" dirty="0" smtClean="0"/>
              <a:t>a similar system.</a:t>
            </a:r>
          </a:p>
          <a:p>
            <a:r>
              <a:rPr lang="en-US" sz="2600" dirty="0" smtClean="0"/>
              <a:t>Enhancing an </a:t>
            </a:r>
            <a:r>
              <a:rPr lang="en-US" sz="2600" i="1" dirty="0" smtClean="0">
                <a:solidFill>
                  <a:srgbClr val="C00000"/>
                </a:solidFill>
              </a:rPr>
              <a:t>existing</a:t>
            </a:r>
            <a:r>
              <a:rPr lang="en-US" sz="2600" dirty="0" smtClean="0"/>
              <a:t> corporate information system (enterprise application) </a:t>
            </a:r>
            <a:r>
              <a:rPr lang="en-US" sz="2600" u="sng" dirty="0" smtClean="0"/>
              <a:t>for a client</a:t>
            </a:r>
          </a:p>
          <a:p>
            <a:pPr lvl="1"/>
            <a:r>
              <a:rPr lang="en-US" sz="2200" dirty="0" smtClean="0"/>
              <a:t>Start with the existing system, or</a:t>
            </a:r>
          </a:p>
          <a:p>
            <a:pPr lvl="1"/>
            <a:r>
              <a:rPr lang="en-US" sz="2200" dirty="0" smtClean="0"/>
              <a:t>a similar system.</a:t>
            </a:r>
          </a:p>
        </p:txBody>
      </p:sp>
      <p:pic>
        <p:nvPicPr>
          <p:cNvPr id="10" name="Picture 2" descr="http://www.monroeautorepair.com/Car%20Fix.jpg"/>
          <p:cNvPicPr>
            <a:picLocks noChangeAspect="1" noChangeArrowheads="1"/>
          </p:cNvPicPr>
          <p:nvPr/>
        </p:nvPicPr>
        <p:blipFill>
          <a:blip r:embed="rId2" cstate="print"/>
          <a:srcRect/>
          <a:stretch>
            <a:fillRect/>
          </a:stretch>
        </p:blipFill>
        <p:spPr bwMode="auto">
          <a:xfrm>
            <a:off x="5791200" y="1524000"/>
            <a:ext cx="2562225" cy="1771651"/>
          </a:xfrm>
          <a:prstGeom prst="rect">
            <a:avLst/>
          </a:prstGeom>
          <a:noFill/>
        </p:spPr>
      </p:pic>
      <p:sp>
        <p:nvSpPr>
          <p:cNvPr id="11" name="Rectangle 10"/>
          <p:cNvSpPr/>
          <p:nvPr/>
        </p:nvSpPr>
        <p:spPr>
          <a:xfrm>
            <a:off x="5638800" y="3429000"/>
            <a:ext cx="3048000" cy="1631216"/>
          </a:xfrm>
          <a:prstGeom prst="rect">
            <a:avLst/>
          </a:prstGeom>
        </p:spPr>
        <p:txBody>
          <a:bodyPr wrap="square">
            <a:spAutoFit/>
          </a:bodyPr>
          <a:lstStyle/>
          <a:p>
            <a:pPr algn="ctr"/>
            <a:r>
              <a:rPr lang="en-US" sz="2000" b="1" dirty="0" smtClean="0">
                <a:latin typeface="+mj-lt"/>
              </a:rPr>
              <a:t>Who are the users?</a:t>
            </a:r>
          </a:p>
          <a:p>
            <a:pPr algn="ctr"/>
            <a:r>
              <a:rPr lang="en-US" sz="2000" b="1" dirty="0" smtClean="0">
                <a:latin typeface="+mj-lt"/>
              </a:rPr>
              <a:t>What are their goals?</a:t>
            </a:r>
          </a:p>
          <a:p>
            <a:pPr algn="ctr"/>
            <a:r>
              <a:rPr lang="en-US" sz="2000" b="1" dirty="0" smtClean="0">
                <a:latin typeface="+mj-lt"/>
              </a:rPr>
              <a:t>How can the </a:t>
            </a:r>
            <a:r>
              <a:rPr lang="en-US" sz="2000" b="1" i="1" dirty="0" smtClean="0">
                <a:solidFill>
                  <a:srgbClr val="C00000"/>
                </a:solidFill>
                <a:latin typeface="+mj-lt"/>
              </a:rPr>
              <a:t>future</a:t>
            </a:r>
            <a:r>
              <a:rPr lang="en-US" sz="2000" b="1" dirty="0" smtClean="0">
                <a:latin typeface="+mj-lt"/>
              </a:rPr>
              <a:t> black box software help them accomplish their tasks?</a:t>
            </a:r>
          </a:p>
        </p:txBody>
      </p:sp>
      <p:sp>
        <p:nvSpPr>
          <p:cNvPr id="13" name="Rectangle 12"/>
          <p:cNvSpPr/>
          <p:nvPr/>
        </p:nvSpPr>
        <p:spPr>
          <a:xfrm>
            <a:off x="5562600" y="5181600"/>
            <a:ext cx="3352800" cy="101566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dirty="0" smtClean="0">
                <a:solidFill>
                  <a:schemeClr val="tx1"/>
                </a:solidFill>
                <a:latin typeface="+mj-lt"/>
              </a:rPr>
              <a:t>Refer to </a:t>
            </a:r>
            <a:r>
              <a:rPr lang="en-US" sz="2000" b="1" dirty="0" smtClean="0">
                <a:solidFill>
                  <a:schemeClr val="tx1"/>
                </a:solidFill>
                <a:latin typeface="+mj-lt"/>
              </a:rPr>
              <a:t>05.2. Business Use Cases.pptx</a:t>
            </a:r>
            <a:r>
              <a:rPr lang="en-US" sz="2000" dirty="0" smtClean="0">
                <a:solidFill>
                  <a:schemeClr val="tx1"/>
                </a:solidFill>
                <a:latin typeface="+mj-lt"/>
              </a:rPr>
              <a:t> and </a:t>
            </a:r>
            <a:r>
              <a:rPr lang="en-US" sz="2000" b="1" dirty="0" smtClean="0">
                <a:solidFill>
                  <a:schemeClr val="tx1"/>
                </a:solidFill>
                <a:latin typeface="+mj-lt"/>
              </a:rPr>
              <a:t>05.3. Domain Models.pptx </a:t>
            </a:r>
            <a:r>
              <a:rPr lang="en-US" sz="2000" dirty="0" smtClean="0">
                <a:solidFill>
                  <a:schemeClr val="tx1"/>
                </a:solidFill>
                <a:latin typeface="+mj-lt"/>
              </a:rPr>
              <a:t>for details.</a:t>
            </a:r>
            <a:endParaRPr lang="en-US" sz="2000" dirty="0">
              <a:solidFill>
                <a:schemeClr val="tx1"/>
              </a:solidFill>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 Requirements [1]</a:t>
            </a:r>
            <a:endParaRPr lang="en-US" dirty="0"/>
          </a:p>
        </p:txBody>
      </p:sp>
      <p:sp>
        <p:nvSpPr>
          <p:cNvPr id="3" name="Content Placeholder 2"/>
          <p:cNvSpPr>
            <a:spLocks noGrp="1"/>
          </p:cNvSpPr>
          <p:nvPr>
            <p:ph idx="1"/>
          </p:nvPr>
        </p:nvSpPr>
        <p:spPr/>
        <p:txBody>
          <a:bodyPr/>
          <a:lstStyle/>
          <a:p>
            <a:r>
              <a:rPr lang="en-US" sz="2400" dirty="0" smtClean="0"/>
              <a:t>Functional requirements specify what the product </a:t>
            </a:r>
            <a:r>
              <a:rPr lang="en-US" sz="2400" i="1" dirty="0" smtClean="0">
                <a:solidFill>
                  <a:srgbClr val="C00000"/>
                </a:solidFill>
              </a:rPr>
              <a:t>must do</a:t>
            </a:r>
            <a:r>
              <a:rPr lang="en-US" sz="2400" dirty="0" smtClean="0"/>
              <a:t>—</a:t>
            </a:r>
            <a:r>
              <a:rPr lang="en-US" sz="2400" u="sng" dirty="0" smtClean="0"/>
              <a:t>the actions</a:t>
            </a:r>
            <a:r>
              <a:rPr lang="en-US" sz="2400" dirty="0" smtClean="0"/>
              <a:t> it must perform to satisfy the fundamental reasons for its existence.</a:t>
            </a:r>
          </a:p>
          <a:p>
            <a:r>
              <a:rPr lang="en-US" sz="2400" dirty="0" smtClean="0"/>
              <a:t>They should be, as far as possible, </a:t>
            </a:r>
            <a:r>
              <a:rPr lang="en-US" sz="2400" i="1" dirty="0" smtClean="0">
                <a:solidFill>
                  <a:srgbClr val="C00000"/>
                </a:solidFill>
              </a:rPr>
              <a:t>independent of the technology</a:t>
            </a:r>
            <a:r>
              <a:rPr lang="en-US" sz="2400" dirty="0" smtClean="0"/>
              <a:t> used by the eventual product.</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1295400" y="4038600"/>
            <a:ext cx="6461760" cy="173355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a:xfrm>
            <a:off x="457200" y="1600201"/>
            <a:ext cx="8229600" cy="1752600"/>
          </a:xfrm>
        </p:spPr>
        <p:txBody>
          <a:bodyPr/>
          <a:lstStyle/>
          <a:p>
            <a:r>
              <a:rPr lang="en-US" sz="2400" i="1" dirty="0" smtClean="0">
                <a:solidFill>
                  <a:srgbClr val="C00000"/>
                </a:solidFill>
              </a:rPr>
              <a:t>Description</a:t>
            </a:r>
            <a:r>
              <a:rPr lang="en-US" sz="2400" dirty="0" smtClean="0"/>
              <a:t>: The product shall record roads that have been treated.</a:t>
            </a:r>
          </a:p>
          <a:p>
            <a:r>
              <a:rPr lang="en-US" sz="2400" i="1" dirty="0" smtClean="0">
                <a:solidFill>
                  <a:srgbClr val="C00000"/>
                </a:solidFill>
              </a:rPr>
              <a:t>Rationale</a:t>
            </a:r>
            <a:r>
              <a:rPr lang="en-US" sz="2400" dirty="0" smtClean="0"/>
              <a:t>: To be able to schedule untreated roads and highlight potential danger.</a:t>
            </a:r>
            <a:endParaRPr lang="en-US" sz="2400" dirty="0"/>
          </a:p>
        </p:txBody>
      </p:sp>
      <p:pic>
        <p:nvPicPr>
          <p:cNvPr id="2050" name="Picture 2" descr="Image result for snow cleaner"/>
          <p:cNvPicPr>
            <a:picLocks noChangeAspect="1" noChangeArrowheads="1"/>
          </p:cNvPicPr>
          <p:nvPr/>
        </p:nvPicPr>
        <p:blipFill>
          <a:blip r:embed="rId2" cstate="print"/>
          <a:srcRect/>
          <a:stretch>
            <a:fillRect/>
          </a:stretch>
        </p:blipFill>
        <p:spPr bwMode="auto">
          <a:xfrm>
            <a:off x="2667000" y="3551308"/>
            <a:ext cx="3494522" cy="2620892"/>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Cases</a:t>
            </a:r>
            <a:endParaRPr lang="en-US" dirty="0"/>
          </a:p>
        </p:txBody>
      </p:sp>
      <p:sp>
        <p:nvSpPr>
          <p:cNvPr id="3" name="Content Placeholder 2"/>
          <p:cNvSpPr>
            <a:spLocks noGrp="1"/>
          </p:cNvSpPr>
          <p:nvPr>
            <p:ph idx="1"/>
          </p:nvPr>
        </p:nvSpPr>
        <p:spPr/>
        <p:txBody>
          <a:bodyPr/>
          <a:lstStyle/>
          <a:p>
            <a:r>
              <a:rPr lang="en-US" b="1" dirty="0" smtClean="0"/>
              <a:t>See “06.1. Use Cases.pptx”.</a:t>
            </a:r>
            <a:endParaRPr lang="en-US" b="1" dirty="0"/>
          </a:p>
        </p:txBody>
      </p:sp>
      <p:pic>
        <p:nvPicPr>
          <p:cNvPr id="1026" name="Picture 2" descr="https://www.modernanalyst.com/Portals/0/Users/009/09/9/use-case-diagram.jpg"/>
          <p:cNvPicPr>
            <a:picLocks noChangeAspect="1" noChangeArrowheads="1"/>
          </p:cNvPicPr>
          <p:nvPr/>
        </p:nvPicPr>
        <p:blipFill>
          <a:blip r:embed="rId2" cstate="print"/>
          <a:srcRect/>
          <a:stretch>
            <a:fillRect/>
          </a:stretch>
        </p:blipFill>
        <p:spPr bwMode="auto">
          <a:xfrm>
            <a:off x="1371600" y="2514600"/>
            <a:ext cx="6123215" cy="3788229"/>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Look and Feel Requirements</a:t>
            </a:r>
            <a:endParaRPr lang="en-US" dirty="0"/>
          </a:p>
        </p:txBody>
      </p:sp>
      <p:sp>
        <p:nvSpPr>
          <p:cNvPr id="3" name="Content Placeholder 2"/>
          <p:cNvSpPr>
            <a:spLocks noGrp="1"/>
          </p:cNvSpPr>
          <p:nvPr>
            <p:ph idx="1"/>
          </p:nvPr>
        </p:nvSpPr>
        <p:spPr>
          <a:xfrm>
            <a:off x="228600" y="1600200"/>
            <a:ext cx="5105400" cy="4525963"/>
          </a:xfrm>
        </p:spPr>
        <p:txBody>
          <a:bodyPr/>
          <a:lstStyle/>
          <a:p>
            <a:r>
              <a:rPr lang="en-US" sz="2200" dirty="0" smtClean="0"/>
              <a:t>The product shall comply with </a:t>
            </a:r>
            <a:r>
              <a:rPr lang="en-US" sz="2200" i="1" dirty="0" smtClean="0">
                <a:solidFill>
                  <a:srgbClr val="C00000"/>
                </a:solidFill>
              </a:rPr>
              <a:t>corporate branding standards</a:t>
            </a:r>
            <a:r>
              <a:rPr lang="en-US" sz="2200" dirty="0" smtClean="0"/>
              <a:t>.</a:t>
            </a:r>
          </a:p>
          <a:p>
            <a:r>
              <a:rPr lang="en-US" sz="2200" dirty="0" smtClean="0"/>
              <a:t>The product shall be </a:t>
            </a:r>
            <a:r>
              <a:rPr lang="en-US" sz="2200" i="1" dirty="0" smtClean="0">
                <a:solidFill>
                  <a:srgbClr val="C00000"/>
                </a:solidFill>
              </a:rPr>
              <a:t>attractive to an older audience</a:t>
            </a:r>
            <a:r>
              <a:rPr lang="en-US" sz="2200" dirty="0" smtClean="0"/>
              <a:t>.</a:t>
            </a:r>
          </a:p>
          <a:p>
            <a:r>
              <a:rPr lang="en-US" sz="2200" dirty="0" smtClean="0"/>
              <a:t>The product shall appear </a:t>
            </a:r>
            <a:r>
              <a:rPr lang="en-US" sz="2200" i="1" dirty="0" smtClean="0">
                <a:solidFill>
                  <a:srgbClr val="C00000"/>
                </a:solidFill>
              </a:rPr>
              <a:t>simple to use</a:t>
            </a:r>
            <a:r>
              <a:rPr lang="en-US" sz="2200" dirty="0" smtClean="0"/>
              <a:t>.</a:t>
            </a:r>
          </a:p>
          <a:p>
            <a:r>
              <a:rPr lang="en-US" sz="2200" dirty="0" smtClean="0"/>
              <a:t>The product shall appear </a:t>
            </a:r>
            <a:r>
              <a:rPr lang="en-US" sz="2200" i="1" dirty="0" smtClean="0">
                <a:solidFill>
                  <a:srgbClr val="C00000"/>
                </a:solidFill>
              </a:rPr>
              <a:t>state of the art</a:t>
            </a:r>
            <a:r>
              <a:rPr lang="en-US" sz="2200" dirty="0" smtClean="0"/>
              <a:t>.</a:t>
            </a:r>
          </a:p>
          <a:p>
            <a:r>
              <a:rPr lang="en-US" sz="2200" dirty="0" smtClean="0"/>
              <a:t>The product shall comply with the [Aqua/Vista/Motif/etc.] </a:t>
            </a:r>
            <a:r>
              <a:rPr lang="en-US" sz="2200" i="1" dirty="0" smtClean="0">
                <a:solidFill>
                  <a:srgbClr val="C00000"/>
                </a:solidFill>
              </a:rPr>
              <a:t>guidelines</a:t>
            </a:r>
            <a:r>
              <a:rPr lang="en-US" sz="2200" dirty="0" smtClean="0"/>
              <a:t>.</a:t>
            </a:r>
          </a:p>
          <a:p>
            <a:r>
              <a:rPr lang="en-US" sz="2200" dirty="0" smtClean="0"/>
              <a:t>The product shall conform to the </a:t>
            </a:r>
            <a:r>
              <a:rPr lang="en-US" sz="2200" i="1" dirty="0" smtClean="0">
                <a:solidFill>
                  <a:srgbClr val="C00000"/>
                </a:solidFill>
              </a:rPr>
              <a:t>established look and feel of the organization's products</a:t>
            </a:r>
            <a:r>
              <a:rPr lang="en-US" sz="2200" dirty="0" smtClean="0"/>
              <a:t>.</a:t>
            </a:r>
            <a:endParaRPr lang="en-US" sz="2200" dirty="0"/>
          </a:p>
        </p:txBody>
      </p:sp>
      <p:pic>
        <p:nvPicPr>
          <p:cNvPr id="1026" name="Picture 2"/>
          <p:cNvPicPr>
            <a:picLocks noChangeAspect="1" noChangeArrowheads="1"/>
          </p:cNvPicPr>
          <p:nvPr/>
        </p:nvPicPr>
        <p:blipFill>
          <a:blip r:embed="rId2" cstate="print"/>
          <a:srcRect/>
          <a:stretch>
            <a:fillRect/>
          </a:stretch>
        </p:blipFill>
        <p:spPr bwMode="auto">
          <a:xfrm>
            <a:off x="5638800" y="1752600"/>
            <a:ext cx="2667000" cy="1857375"/>
          </a:xfrm>
          <a:prstGeom prst="rect">
            <a:avLst/>
          </a:prstGeom>
          <a:noFill/>
          <a:ln w="9525">
            <a:noFill/>
            <a:miter lim="800000"/>
            <a:headEnd/>
            <a:tailEnd/>
          </a:ln>
        </p:spPr>
      </p:pic>
      <p:sp>
        <p:nvSpPr>
          <p:cNvPr id="5" name="Rectangle 4"/>
          <p:cNvSpPr/>
          <p:nvPr/>
        </p:nvSpPr>
        <p:spPr>
          <a:xfrm>
            <a:off x="4953000" y="3962400"/>
            <a:ext cx="3962400" cy="2462213"/>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342900" indent="-342900">
              <a:buFont typeface="Courier New" pitchFamily="49" charset="0"/>
              <a:buChar char="o"/>
            </a:pPr>
            <a:r>
              <a:rPr lang="en-US" sz="2200" dirty="0" smtClean="0">
                <a:latin typeface="+mj-lt"/>
              </a:rPr>
              <a:t>Be careful not to design the interface, because you do not yet know the complete requirements of the product.</a:t>
            </a:r>
          </a:p>
          <a:p>
            <a:pPr marL="342900" indent="-342900">
              <a:buFont typeface="Courier New" pitchFamily="49" charset="0"/>
              <a:buChar char="o"/>
            </a:pPr>
            <a:r>
              <a:rPr lang="en-US" sz="2200" dirty="0" smtClean="0">
                <a:latin typeface="+mj-lt"/>
              </a:rPr>
              <a:t>Designing is the task of the product's designers, once they know the requirements.</a:t>
            </a:r>
            <a:endParaRPr lang="en-US" sz="2200" dirty="0">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Usability and Humanity Requirements</a:t>
            </a:r>
            <a:endParaRPr lang="en-US" sz="4000" dirty="0"/>
          </a:p>
        </p:txBody>
      </p:sp>
      <p:sp>
        <p:nvSpPr>
          <p:cNvPr id="3" name="Content Placeholder 2"/>
          <p:cNvSpPr>
            <a:spLocks noGrp="1"/>
          </p:cNvSpPr>
          <p:nvPr>
            <p:ph idx="1"/>
          </p:nvPr>
        </p:nvSpPr>
        <p:spPr>
          <a:xfrm>
            <a:off x="228600" y="1600200"/>
            <a:ext cx="5867400" cy="4525963"/>
          </a:xfrm>
        </p:spPr>
        <p:txBody>
          <a:bodyPr/>
          <a:lstStyle/>
          <a:p>
            <a:r>
              <a:rPr lang="en-US" sz="2200" dirty="0" smtClean="0"/>
              <a:t>The product shall be easy to use.</a:t>
            </a:r>
          </a:p>
          <a:p>
            <a:r>
              <a:rPr lang="en-US" sz="2200" dirty="0" smtClean="0"/>
              <a:t>The product shall be easy to use by members of the public who might not read English.</a:t>
            </a:r>
          </a:p>
          <a:p>
            <a:endParaRPr lang="en-US" sz="2200" dirty="0" smtClean="0"/>
          </a:p>
          <a:p>
            <a:r>
              <a:rPr lang="en-US" sz="2200" dirty="0" smtClean="0"/>
              <a:t>The product shall be </a:t>
            </a:r>
            <a:r>
              <a:rPr lang="en-US" sz="2200" i="1" dirty="0" smtClean="0">
                <a:solidFill>
                  <a:srgbClr val="C00000"/>
                </a:solidFill>
              </a:rPr>
              <a:t>easy to learn</a:t>
            </a:r>
            <a:r>
              <a:rPr lang="en-US" sz="2200" dirty="0" smtClean="0"/>
              <a:t>.</a:t>
            </a:r>
          </a:p>
          <a:p>
            <a:r>
              <a:rPr lang="en-US" sz="2200" dirty="0" smtClean="0"/>
              <a:t>The product shall be </a:t>
            </a:r>
            <a:r>
              <a:rPr lang="en-US" sz="2200" i="1" dirty="0" smtClean="0">
                <a:solidFill>
                  <a:srgbClr val="C00000"/>
                </a:solidFill>
              </a:rPr>
              <a:t>easy to use on the first attempt by a member of the public without training</a:t>
            </a:r>
            <a:r>
              <a:rPr lang="en-US" sz="2200" dirty="0" smtClean="0"/>
              <a:t>.</a:t>
            </a:r>
          </a:p>
          <a:p>
            <a:r>
              <a:rPr lang="en-US" sz="2200" i="1" dirty="0" smtClean="0">
                <a:solidFill>
                  <a:srgbClr val="C00000"/>
                </a:solidFill>
              </a:rPr>
              <a:t>Ninety percent of a panel</a:t>
            </a:r>
            <a:r>
              <a:rPr lang="en-US" sz="2200" dirty="0" smtClean="0"/>
              <a:t> that is representative of the general public shall successfully purchase a ticket from the product within </a:t>
            </a:r>
            <a:r>
              <a:rPr lang="en-US" sz="2200" i="1" dirty="0" smtClean="0">
                <a:solidFill>
                  <a:srgbClr val="C00000"/>
                </a:solidFill>
              </a:rPr>
              <a:t>45 seconds of their first encounter</a:t>
            </a:r>
            <a:r>
              <a:rPr lang="en-US" sz="2200" dirty="0" smtClean="0"/>
              <a:t>.</a:t>
            </a:r>
            <a:endParaRPr lang="en-US" sz="2200" dirty="0"/>
          </a:p>
        </p:txBody>
      </p:sp>
      <p:pic>
        <p:nvPicPr>
          <p:cNvPr id="2050" name="Picture 2"/>
          <p:cNvPicPr>
            <a:picLocks noChangeAspect="1" noChangeArrowheads="1"/>
          </p:cNvPicPr>
          <p:nvPr/>
        </p:nvPicPr>
        <p:blipFill>
          <a:blip r:embed="rId2" cstate="print"/>
          <a:srcRect/>
          <a:stretch>
            <a:fillRect/>
          </a:stretch>
        </p:blipFill>
        <p:spPr bwMode="auto">
          <a:xfrm>
            <a:off x="6172200" y="2133600"/>
            <a:ext cx="2819400" cy="252412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Requirements</a:t>
            </a:r>
            <a:endParaRPr lang="en-US" dirty="0"/>
          </a:p>
        </p:txBody>
      </p:sp>
      <p:sp>
        <p:nvSpPr>
          <p:cNvPr id="3" name="Content Placeholder 2"/>
          <p:cNvSpPr>
            <a:spLocks noGrp="1"/>
          </p:cNvSpPr>
          <p:nvPr>
            <p:ph idx="1"/>
          </p:nvPr>
        </p:nvSpPr>
        <p:spPr>
          <a:xfrm>
            <a:off x="228600" y="1722437"/>
            <a:ext cx="5638800" cy="4525963"/>
          </a:xfrm>
        </p:spPr>
        <p:txBody>
          <a:bodyPr/>
          <a:lstStyle/>
          <a:p>
            <a:r>
              <a:rPr lang="en-US" sz="2200" dirty="0" smtClean="0"/>
              <a:t>The product shall identify whether an aircraft is hostile or friendly within 0.25 second.</a:t>
            </a:r>
          </a:p>
          <a:p>
            <a:r>
              <a:rPr lang="en-US" sz="2200" dirty="0" smtClean="0"/>
              <a:t>The product shall have the capacity for 5,000 roads.</a:t>
            </a:r>
          </a:p>
          <a:p>
            <a:endParaRPr lang="en-US" sz="2200" dirty="0" smtClean="0"/>
          </a:p>
          <a:p>
            <a:r>
              <a:rPr lang="en-US" sz="2200" i="1" dirty="0" smtClean="0">
                <a:solidFill>
                  <a:srgbClr val="C00000"/>
                </a:solidFill>
              </a:rPr>
              <a:t>Speed</a:t>
            </a:r>
            <a:r>
              <a:rPr lang="en-US" sz="2200" dirty="0" smtClean="0"/>
              <a:t> to complete a task</a:t>
            </a:r>
          </a:p>
          <a:p>
            <a:r>
              <a:rPr lang="en-US" sz="2200" i="1" dirty="0" smtClean="0">
                <a:solidFill>
                  <a:srgbClr val="C00000"/>
                </a:solidFill>
              </a:rPr>
              <a:t>Accuracy</a:t>
            </a:r>
            <a:r>
              <a:rPr lang="en-US" sz="2200" dirty="0" smtClean="0"/>
              <a:t> of the results</a:t>
            </a:r>
          </a:p>
          <a:p>
            <a:r>
              <a:rPr lang="en-US" sz="2200" i="1" dirty="0" smtClean="0">
                <a:solidFill>
                  <a:srgbClr val="C00000"/>
                </a:solidFill>
              </a:rPr>
              <a:t>Safety</a:t>
            </a:r>
            <a:r>
              <a:rPr lang="en-US" sz="2200" dirty="0" smtClean="0"/>
              <a:t> to the operator</a:t>
            </a:r>
          </a:p>
          <a:p>
            <a:r>
              <a:rPr lang="en-US" sz="2200" i="1" dirty="0" smtClean="0">
                <a:solidFill>
                  <a:srgbClr val="C00000"/>
                </a:solidFill>
              </a:rPr>
              <a:t>Volumes to be held</a:t>
            </a:r>
            <a:r>
              <a:rPr lang="en-US" sz="2200" dirty="0" smtClean="0"/>
              <a:t> by the product</a:t>
            </a:r>
          </a:p>
          <a:p>
            <a:r>
              <a:rPr lang="en-US" sz="2200" i="1" dirty="0" smtClean="0">
                <a:solidFill>
                  <a:srgbClr val="C00000"/>
                </a:solidFill>
              </a:rPr>
              <a:t>Ranges</a:t>
            </a:r>
            <a:r>
              <a:rPr lang="en-US" sz="2200" dirty="0" smtClean="0"/>
              <a:t> of allowable values</a:t>
            </a:r>
          </a:p>
          <a:p>
            <a:r>
              <a:rPr lang="en-US" sz="2200" i="1" dirty="0" smtClean="0">
                <a:solidFill>
                  <a:srgbClr val="C00000"/>
                </a:solidFill>
              </a:rPr>
              <a:t>Throughput</a:t>
            </a:r>
            <a:r>
              <a:rPr lang="en-US" sz="2200" dirty="0" smtClean="0"/>
              <a:t>, such as the rate of transactions</a:t>
            </a:r>
            <a:endParaRPr lang="en-US" sz="2200" dirty="0"/>
          </a:p>
        </p:txBody>
      </p:sp>
      <p:pic>
        <p:nvPicPr>
          <p:cNvPr id="3076" name="Picture 4" descr="http://www.expotis-webshop.com/_Files_News/28_img_1_webwinkel-software-performance.png"/>
          <p:cNvPicPr>
            <a:picLocks noChangeAspect="1" noChangeArrowheads="1"/>
          </p:cNvPicPr>
          <p:nvPr/>
        </p:nvPicPr>
        <p:blipFill>
          <a:blip r:embed="rId2" cstate="print"/>
          <a:srcRect/>
          <a:stretch>
            <a:fillRect/>
          </a:stretch>
        </p:blipFill>
        <p:spPr bwMode="auto">
          <a:xfrm>
            <a:off x="6324600" y="2743200"/>
            <a:ext cx="2381250" cy="1790701"/>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smtClean="0"/>
              <a:t>Operational and Environmental Requirements</a:t>
            </a:r>
            <a:endParaRPr lang="en-US" sz="3400" dirty="0"/>
          </a:p>
        </p:txBody>
      </p:sp>
      <p:sp>
        <p:nvSpPr>
          <p:cNvPr id="3" name="Content Placeholder 2"/>
          <p:cNvSpPr>
            <a:spLocks noGrp="1"/>
          </p:cNvSpPr>
          <p:nvPr>
            <p:ph idx="1"/>
          </p:nvPr>
        </p:nvSpPr>
        <p:spPr>
          <a:xfrm>
            <a:off x="228600" y="1600200"/>
            <a:ext cx="5638800" cy="4525963"/>
          </a:xfrm>
        </p:spPr>
        <p:txBody>
          <a:bodyPr/>
          <a:lstStyle/>
          <a:p>
            <a:r>
              <a:rPr lang="en-US" sz="2200" dirty="0" smtClean="0"/>
              <a:t>The product shall be used in and around trucks at night and during rainstorms, snow, and freezing conditions.</a:t>
            </a:r>
          </a:p>
          <a:p>
            <a:r>
              <a:rPr lang="en-US" sz="2200" dirty="0" smtClean="0"/>
              <a:t>The product shall interface with the thermal mapping database.</a:t>
            </a:r>
          </a:p>
          <a:p>
            <a:r>
              <a:rPr lang="en-US" sz="2200" dirty="0" smtClean="0"/>
              <a:t>The product shall conserve battery life.</a:t>
            </a:r>
          </a:p>
          <a:p>
            <a:endParaRPr lang="en-US" sz="2200" dirty="0" smtClean="0"/>
          </a:p>
          <a:p>
            <a:r>
              <a:rPr lang="en-US" sz="2200" i="1" dirty="0" smtClean="0">
                <a:solidFill>
                  <a:srgbClr val="C00000"/>
                </a:solidFill>
              </a:rPr>
              <a:t>The operating environment</a:t>
            </a:r>
          </a:p>
          <a:p>
            <a:r>
              <a:rPr lang="en-US" sz="2200" i="1" dirty="0" smtClean="0">
                <a:solidFill>
                  <a:srgbClr val="C00000"/>
                </a:solidFill>
              </a:rPr>
              <a:t>The condition of the users</a:t>
            </a:r>
            <a:r>
              <a:rPr lang="en-US" sz="2200" dirty="0" smtClean="0"/>
              <a:t> (Are they in the dark, in a hurry, and so on?)</a:t>
            </a:r>
          </a:p>
          <a:p>
            <a:r>
              <a:rPr lang="en-US" sz="2200" dirty="0" smtClean="0"/>
              <a:t>Partner or </a:t>
            </a:r>
            <a:r>
              <a:rPr lang="en-US" sz="2200" i="1" dirty="0" smtClean="0">
                <a:solidFill>
                  <a:srgbClr val="C00000"/>
                </a:solidFill>
              </a:rPr>
              <a:t>collaborating systems</a:t>
            </a:r>
          </a:p>
        </p:txBody>
      </p:sp>
      <p:pic>
        <p:nvPicPr>
          <p:cNvPr id="76802" name="Picture 2"/>
          <p:cNvPicPr>
            <a:picLocks noChangeAspect="1" noChangeArrowheads="1"/>
          </p:cNvPicPr>
          <p:nvPr/>
        </p:nvPicPr>
        <p:blipFill>
          <a:blip r:embed="rId2" cstate="print"/>
          <a:srcRect/>
          <a:stretch>
            <a:fillRect/>
          </a:stretch>
        </p:blipFill>
        <p:spPr bwMode="auto">
          <a:xfrm>
            <a:off x="6096000" y="2514600"/>
            <a:ext cx="2667000" cy="226695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Requirements</a:t>
            </a:r>
          </a:p>
        </p:txBody>
      </p:sp>
      <p:sp>
        <p:nvSpPr>
          <p:cNvPr id="3" name="Content Placeholder 2"/>
          <p:cNvSpPr>
            <a:spLocks noGrp="1"/>
          </p:cNvSpPr>
          <p:nvPr>
            <p:ph idx="1"/>
          </p:nvPr>
        </p:nvSpPr>
        <p:spPr>
          <a:xfrm>
            <a:off x="152400" y="1447800"/>
            <a:ext cx="5867400" cy="5029200"/>
          </a:xfrm>
        </p:spPr>
        <p:txBody>
          <a:bodyPr/>
          <a:lstStyle/>
          <a:p>
            <a:r>
              <a:rPr lang="en-US" sz="2000" dirty="0" smtClean="0"/>
              <a:t>The product shall ensure that</a:t>
            </a:r>
            <a:r>
              <a:rPr lang="en-US" sz="2000" i="1" dirty="0" smtClean="0">
                <a:solidFill>
                  <a:srgbClr val="C00000"/>
                </a:solidFill>
              </a:rPr>
              <a:t> only authorized users have access</a:t>
            </a:r>
            <a:r>
              <a:rPr lang="en-US" sz="2000" dirty="0" smtClean="0"/>
              <a:t> to the [name of] data (or function).</a:t>
            </a:r>
          </a:p>
          <a:p>
            <a:r>
              <a:rPr lang="en-US" sz="2000" dirty="0" smtClean="0"/>
              <a:t>The product shall deliver data in a manner that prevents further or </a:t>
            </a:r>
            <a:r>
              <a:rPr lang="en-US" sz="2000" i="1" dirty="0" smtClean="0">
                <a:solidFill>
                  <a:srgbClr val="C00000"/>
                </a:solidFill>
              </a:rPr>
              <a:t>second-hand use by unauthorized people</a:t>
            </a:r>
            <a:r>
              <a:rPr lang="en-US" sz="2000" dirty="0" smtClean="0"/>
              <a:t>.</a:t>
            </a:r>
          </a:p>
          <a:p>
            <a:r>
              <a:rPr lang="en-US" sz="2000" dirty="0" smtClean="0"/>
              <a:t>The product shall </a:t>
            </a:r>
            <a:r>
              <a:rPr lang="en-US" sz="2000" i="1" dirty="0" smtClean="0">
                <a:solidFill>
                  <a:srgbClr val="C00000"/>
                </a:solidFill>
              </a:rPr>
              <a:t>retain a journal of all transactions</a:t>
            </a:r>
            <a:r>
              <a:rPr lang="en-US" sz="2000" dirty="0" smtClean="0"/>
              <a:t> for the statutory period.</a:t>
            </a:r>
          </a:p>
          <a:p>
            <a:endParaRPr lang="en-US" sz="2000" dirty="0" smtClean="0"/>
          </a:p>
          <a:p>
            <a:r>
              <a:rPr lang="en-US" sz="2000" i="1" dirty="0" smtClean="0">
                <a:solidFill>
                  <a:srgbClr val="C00000"/>
                </a:solidFill>
              </a:rPr>
              <a:t>Confidentiality</a:t>
            </a:r>
            <a:r>
              <a:rPr lang="en-US" sz="2000" dirty="0" smtClean="0"/>
              <a:t>: Data stored by the product is protected from unauthorized access and disclosure.</a:t>
            </a:r>
          </a:p>
          <a:p>
            <a:r>
              <a:rPr lang="en-US" sz="2000" i="1" dirty="0" smtClean="0">
                <a:solidFill>
                  <a:srgbClr val="C00000"/>
                </a:solidFill>
              </a:rPr>
              <a:t>Integrity</a:t>
            </a:r>
            <a:r>
              <a:rPr lang="en-US" sz="2000" dirty="0" smtClean="0"/>
              <a:t>: The product's data is the same as the source, or authority, of the data.</a:t>
            </a:r>
          </a:p>
          <a:p>
            <a:r>
              <a:rPr lang="en-US" sz="2000" i="1" dirty="0" smtClean="0">
                <a:solidFill>
                  <a:srgbClr val="C00000"/>
                </a:solidFill>
              </a:rPr>
              <a:t>Availability</a:t>
            </a:r>
            <a:r>
              <a:rPr lang="en-US" sz="2000" dirty="0" smtClean="0"/>
              <a:t>: The product's data and functionality are accessible to authorized users and can be produced in a timely manner.</a:t>
            </a:r>
            <a:endParaRPr lang="en-US" sz="2000" i="1" dirty="0" smtClean="0">
              <a:solidFill>
                <a:srgbClr val="C00000"/>
              </a:solidFill>
            </a:endParaRPr>
          </a:p>
        </p:txBody>
      </p:sp>
      <p:pic>
        <p:nvPicPr>
          <p:cNvPr id="78850" name="Picture 2"/>
          <p:cNvPicPr>
            <a:picLocks noChangeAspect="1" noChangeArrowheads="1"/>
          </p:cNvPicPr>
          <p:nvPr/>
        </p:nvPicPr>
        <p:blipFill>
          <a:blip r:embed="rId2" cstate="print"/>
          <a:srcRect/>
          <a:stretch>
            <a:fillRect/>
          </a:stretch>
        </p:blipFill>
        <p:spPr bwMode="auto">
          <a:xfrm>
            <a:off x="6000750" y="2514600"/>
            <a:ext cx="2990850" cy="212407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smtClean="0"/>
              <a:t>Documentation, Maintainability and Support Requirements</a:t>
            </a:r>
            <a:endParaRPr lang="en-US" dirty="0"/>
          </a:p>
        </p:txBody>
      </p:sp>
      <p:sp>
        <p:nvSpPr>
          <p:cNvPr id="3" name="Content Placeholder 2"/>
          <p:cNvSpPr>
            <a:spLocks noGrp="1"/>
          </p:cNvSpPr>
          <p:nvPr>
            <p:ph idx="1"/>
          </p:nvPr>
        </p:nvSpPr>
        <p:spPr>
          <a:xfrm>
            <a:off x="457200" y="2286000"/>
            <a:ext cx="4267200" cy="3840163"/>
          </a:xfrm>
        </p:spPr>
        <p:txBody>
          <a:bodyPr/>
          <a:lstStyle/>
          <a:p>
            <a:r>
              <a:rPr lang="en-US" sz="2400" dirty="0" smtClean="0"/>
              <a:t>The product shall include installation guide and user guide.</a:t>
            </a:r>
          </a:p>
          <a:p>
            <a:r>
              <a:rPr lang="en-US" sz="2400" dirty="0" smtClean="0"/>
              <a:t>The product shall be readily </a:t>
            </a:r>
            <a:r>
              <a:rPr lang="en-US" sz="2400" i="1" dirty="0" smtClean="0">
                <a:solidFill>
                  <a:srgbClr val="C00000"/>
                </a:solidFill>
              </a:rPr>
              <a:t>portable to Linux</a:t>
            </a:r>
            <a:r>
              <a:rPr lang="en-US" sz="2400" dirty="0" smtClean="0"/>
              <a:t>.</a:t>
            </a:r>
          </a:p>
          <a:p>
            <a:r>
              <a:rPr lang="en-US" sz="2400" dirty="0" smtClean="0"/>
              <a:t>The product shall be </a:t>
            </a:r>
            <a:r>
              <a:rPr lang="en-US" sz="2400" i="1" dirty="0" smtClean="0">
                <a:solidFill>
                  <a:srgbClr val="C00000"/>
                </a:solidFill>
              </a:rPr>
              <a:t>translated into various foreign languages</a:t>
            </a:r>
            <a:r>
              <a:rPr lang="en-US" sz="2400" dirty="0" smtClean="0"/>
              <a:t>. As yet, the languages are unknown.</a:t>
            </a:r>
            <a:endParaRPr lang="en-US" sz="2400" i="1" dirty="0" smtClean="0">
              <a:solidFill>
                <a:srgbClr val="C00000"/>
              </a:solidFill>
            </a:endParaRPr>
          </a:p>
        </p:txBody>
      </p:sp>
      <p:pic>
        <p:nvPicPr>
          <p:cNvPr id="4" name="Picture 2" descr="http://www.proprofs.com/blog/wp-content/uploads/2013/05/website_maintenance.jpg"/>
          <p:cNvPicPr>
            <a:picLocks noChangeAspect="1" noChangeArrowheads="1"/>
          </p:cNvPicPr>
          <p:nvPr/>
        </p:nvPicPr>
        <p:blipFill>
          <a:blip r:embed="rId2" cstate="print"/>
          <a:srcRect/>
          <a:stretch>
            <a:fillRect/>
          </a:stretch>
        </p:blipFill>
        <p:spPr bwMode="auto">
          <a:xfrm>
            <a:off x="5257800" y="1828800"/>
            <a:ext cx="3609975" cy="36195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Cultural, Political and Legal Requirements</a:t>
            </a:r>
            <a:endParaRPr lang="en-US" dirty="0"/>
          </a:p>
        </p:txBody>
      </p:sp>
      <p:sp>
        <p:nvSpPr>
          <p:cNvPr id="3" name="Content Placeholder 2"/>
          <p:cNvSpPr>
            <a:spLocks noGrp="1"/>
          </p:cNvSpPr>
          <p:nvPr>
            <p:ph idx="1"/>
          </p:nvPr>
        </p:nvSpPr>
        <p:spPr>
          <a:xfrm>
            <a:off x="457200" y="1905000"/>
            <a:ext cx="4724400" cy="4221163"/>
          </a:xfrm>
        </p:spPr>
        <p:txBody>
          <a:bodyPr/>
          <a:lstStyle/>
          <a:p>
            <a:r>
              <a:rPr lang="en-US" sz="2400" dirty="0" smtClean="0"/>
              <a:t>The product shall not use any terms or icons that might possibly </a:t>
            </a:r>
            <a:r>
              <a:rPr lang="en-US" sz="2400" i="1" dirty="0" smtClean="0">
                <a:solidFill>
                  <a:srgbClr val="C00000"/>
                </a:solidFill>
              </a:rPr>
              <a:t>offend anyone</a:t>
            </a:r>
            <a:r>
              <a:rPr lang="en-US" sz="2400" dirty="0" smtClean="0"/>
              <a:t> on the planet.</a:t>
            </a:r>
          </a:p>
          <a:p>
            <a:r>
              <a:rPr lang="en-US" sz="2400" dirty="0" smtClean="0"/>
              <a:t>The product shall use </a:t>
            </a:r>
            <a:r>
              <a:rPr lang="en-US" sz="2400" i="1" dirty="0" smtClean="0">
                <a:solidFill>
                  <a:srgbClr val="C00000"/>
                </a:solidFill>
              </a:rPr>
              <a:t>American spelling.</a:t>
            </a:r>
          </a:p>
          <a:p>
            <a:r>
              <a:rPr lang="en-US" sz="2400" dirty="0" smtClean="0"/>
              <a:t>The product shall comply with the Americans with </a:t>
            </a:r>
            <a:r>
              <a:rPr lang="en-US" sz="2400" i="1" dirty="0" smtClean="0">
                <a:solidFill>
                  <a:srgbClr val="C00000"/>
                </a:solidFill>
              </a:rPr>
              <a:t>Disabilities Act</a:t>
            </a:r>
            <a:r>
              <a:rPr lang="en-US" sz="2400" dirty="0" smtClean="0"/>
              <a:t>.</a:t>
            </a:r>
          </a:p>
          <a:p>
            <a:r>
              <a:rPr lang="en-US" sz="2400" dirty="0" smtClean="0"/>
              <a:t>The product shall comply with our </a:t>
            </a:r>
            <a:r>
              <a:rPr lang="en-US" sz="2400" i="1" dirty="0" smtClean="0">
                <a:solidFill>
                  <a:srgbClr val="C00000"/>
                </a:solidFill>
              </a:rPr>
              <a:t>ISO 9001 certification</a:t>
            </a:r>
            <a:r>
              <a:rPr lang="en-US" sz="2400" dirty="0" smtClean="0"/>
              <a:t>.</a:t>
            </a:r>
            <a:endParaRPr lang="en-US" sz="24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6400800" y="1828800"/>
            <a:ext cx="1619250" cy="1562100"/>
          </a:xfrm>
          <a:prstGeom prst="rect">
            <a:avLst/>
          </a:prstGeom>
          <a:noFill/>
          <a:ln w="9525">
            <a:noFill/>
            <a:miter lim="800000"/>
            <a:headEnd/>
            <a:tailEnd/>
          </a:ln>
        </p:spPr>
      </p:pic>
      <p:pic>
        <p:nvPicPr>
          <p:cNvPr id="5" name="Picture 4" descr="https://apgovt.wikispaces.com/file/view/donkeyelephant.gif/31414445/donkeyelephant.gif"/>
          <p:cNvPicPr>
            <a:picLocks noChangeAspect="1" noChangeArrowheads="1"/>
          </p:cNvPicPr>
          <p:nvPr/>
        </p:nvPicPr>
        <p:blipFill>
          <a:blip r:embed="rId3" cstate="print"/>
          <a:srcRect/>
          <a:stretch>
            <a:fillRect/>
          </a:stretch>
        </p:blipFill>
        <p:spPr bwMode="auto">
          <a:xfrm>
            <a:off x="5486400" y="3962400"/>
            <a:ext cx="3371850" cy="2390775"/>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Clarification</a:t>
            </a:r>
            <a:endParaRPr lang="en-US" dirty="0"/>
          </a:p>
        </p:txBody>
      </p:sp>
      <p:pic>
        <p:nvPicPr>
          <p:cNvPr id="1026" name="Picture 2" descr="http://www.webcloudsolutions.net/wp-content/uploads/2017/02/reqiurement.png"/>
          <p:cNvPicPr>
            <a:picLocks noChangeAspect="1" noChangeArrowheads="1"/>
          </p:cNvPicPr>
          <p:nvPr/>
        </p:nvPicPr>
        <p:blipFill>
          <a:blip r:embed="rId2" cstate="print"/>
          <a:srcRect/>
          <a:stretch>
            <a:fillRect/>
          </a:stretch>
        </p:blipFill>
        <p:spPr bwMode="auto">
          <a:xfrm>
            <a:off x="2362200" y="1905000"/>
            <a:ext cx="4154433" cy="3914369"/>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Fit Criteria</a:t>
            </a:r>
            <a:endParaRPr lang="en-US" dirty="0"/>
          </a:p>
        </p:txBody>
      </p:sp>
      <p:sp>
        <p:nvSpPr>
          <p:cNvPr id="3" name="Content Placeholder 2"/>
          <p:cNvSpPr>
            <a:spLocks noGrp="1"/>
          </p:cNvSpPr>
          <p:nvPr>
            <p:ph idx="1"/>
          </p:nvPr>
        </p:nvSpPr>
        <p:spPr>
          <a:xfrm>
            <a:off x="457200" y="1600200"/>
            <a:ext cx="5257800" cy="4525963"/>
          </a:xfrm>
        </p:spPr>
        <p:txBody>
          <a:bodyPr/>
          <a:lstStyle/>
          <a:p>
            <a:r>
              <a:rPr lang="en-US" sz="2400" dirty="0" smtClean="0"/>
              <a:t>The </a:t>
            </a:r>
            <a:r>
              <a:rPr lang="en-US" sz="2400" i="1" dirty="0" smtClean="0">
                <a:solidFill>
                  <a:srgbClr val="C00000"/>
                </a:solidFill>
              </a:rPr>
              <a:t>measurement</a:t>
            </a:r>
            <a:r>
              <a:rPr lang="en-US" sz="2400" dirty="0" smtClean="0"/>
              <a:t> of the requirement is the </a:t>
            </a:r>
            <a:r>
              <a:rPr lang="en-US" sz="2400" u="sng" dirty="0" smtClean="0"/>
              <a:t>fit criterion</a:t>
            </a:r>
            <a:r>
              <a:rPr lang="en-US" sz="2400" dirty="0" smtClean="0"/>
              <a:t>.</a:t>
            </a:r>
          </a:p>
          <a:p>
            <a:r>
              <a:rPr lang="en-US" sz="2400" dirty="0" smtClean="0"/>
              <a:t>It </a:t>
            </a:r>
            <a:r>
              <a:rPr lang="en-US" sz="2400" i="1" dirty="0" smtClean="0">
                <a:solidFill>
                  <a:srgbClr val="C00000"/>
                </a:solidFill>
              </a:rPr>
              <a:t>quantifies</a:t>
            </a:r>
            <a:r>
              <a:rPr lang="en-US" sz="2400" dirty="0" smtClean="0"/>
              <a:t> the behavior, the performance, or some other quality of the requirement.</a:t>
            </a:r>
          </a:p>
          <a:p>
            <a:r>
              <a:rPr lang="en-US" sz="2400" dirty="0" smtClean="0"/>
              <a:t>The </a:t>
            </a:r>
            <a:r>
              <a:rPr lang="en-US" sz="2400" i="1" dirty="0" smtClean="0">
                <a:solidFill>
                  <a:srgbClr val="C00000"/>
                </a:solidFill>
              </a:rPr>
              <a:t>scale of measurement</a:t>
            </a:r>
            <a:r>
              <a:rPr lang="en-US" sz="2400" dirty="0" smtClean="0"/>
              <a:t> is the </a:t>
            </a:r>
            <a:r>
              <a:rPr lang="en-US" sz="2400" u="sng" dirty="0" smtClean="0"/>
              <a:t>unit</a:t>
            </a:r>
            <a:r>
              <a:rPr lang="en-US" sz="2400" dirty="0" smtClean="0"/>
              <a:t> you use to test conformance of the product.</a:t>
            </a:r>
          </a:p>
          <a:p>
            <a:r>
              <a:rPr lang="en-US" sz="2400" dirty="0" smtClean="0"/>
              <a:t>If you </a:t>
            </a:r>
            <a:r>
              <a:rPr lang="en-US" sz="2400" i="1" dirty="0" smtClean="0">
                <a:solidFill>
                  <a:srgbClr val="C00000"/>
                </a:solidFill>
              </a:rPr>
              <a:t>CAN’T</a:t>
            </a:r>
            <a:r>
              <a:rPr lang="en-US" sz="2400" dirty="0" smtClean="0"/>
              <a:t> measure a requirement, it is NOT really a requirement.</a:t>
            </a:r>
          </a:p>
        </p:txBody>
      </p:sp>
      <p:pic>
        <p:nvPicPr>
          <p:cNvPr id="81922" name="Picture 2" descr="http://cilmpvnc.files.wordpress.com/2012/01/man_tapemeasure.jpg"/>
          <p:cNvPicPr>
            <a:picLocks noChangeAspect="1" noChangeArrowheads="1"/>
          </p:cNvPicPr>
          <p:nvPr/>
        </p:nvPicPr>
        <p:blipFill>
          <a:blip r:embed="rId2" cstate="print"/>
          <a:srcRect/>
          <a:stretch>
            <a:fillRect/>
          </a:stretch>
        </p:blipFill>
        <p:spPr bwMode="auto">
          <a:xfrm>
            <a:off x="5715000" y="1752600"/>
            <a:ext cx="3200400" cy="4067176"/>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Fit Criteria for Functional Requirements: Test Case</a:t>
            </a:r>
            <a:endParaRPr lang="en-US" dirty="0"/>
          </a:p>
        </p:txBody>
      </p:sp>
      <p:sp>
        <p:nvSpPr>
          <p:cNvPr id="8" name="Content Placeholder 2"/>
          <p:cNvSpPr>
            <a:spLocks noGrp="1"/>
          </p:cNvSpPr>
          <p:nvPr>
            <p:ph idx="1"/>
          </p:nvPr>
        </p:nvSpPr>
        <p:spPr>
          <a:xfrm>
            <a:off x="381000" y="1600200"/>
            <a:ext cx="8382000" cy="4495800"/>
          </a:xfrm>
        </p:spPr>
        <p:txBody>
          <a:bodyPr/>
          <a:lstStyle/>
          <a:p>
            <a:r>
              <a:rPr lang="en-US" sz="2400" i="1" dirty="0" smtClean="0">
                <a:solidFill>
                  <a:srgbClr val="C00000"/>
                </a:solidFill>
              </a:rPr>
              <a:t>unique-test-case-id: Test Case Title</a:t>
            </a:r>
            <a:endParaRPr lang="en-US" sz="2400" dirty="0" smtClean="0"/>
          </a:p>
          <a:p>
            <a:r>
              <a:rPr lang="en-US" sz="2400" i="1" dirty="0" smtClean="0">
                <a:solidFill>
                  <a:srgbClr val="C00000"/>
                </a:solidFill>
              </a:rPr>
              <a:t>Purpose</a:t>
            </a:r>
            <a:r>
              <a:rPr lang="en-US" sz="2400" dirty="0" smtClean="0"/>
              <a:t> – Short sentence or two about the aspect of the system is being tested. If this gets too long, break the test case up or put more information into the feature descriptions.</a:t>
            </a:r>
          </a:p>
          <a:p>
            <a:r>
              <a:rPr lang="en-US" sz="2400" i="1" dirty="0" smtClean="0">
                <a:solidFill>
                  <a:srgbClr val="C00000"/>
                </a:solidFill>
              </a:rPr>
              <a:t>Preconditions</a:t>
            </a:r>
            <a:r>
              <a:rPr lang="en-US" sz="2400" dirty="0" smtClean="0"/>
              <a:t> – Assumptions that must be met before the test case can be run.</a:t>
            </a:r>
          </a:p>
          <a:p>
            <a:r>
              <a:rPr lang="en-US" sz="2400" i="1" dirty="0" smtClean="0">
                <a:solidFill>
                  <a:srgbClr val="C00000"/>
                </a:solidFill>
              </a:rPr>
              <a:t>Steps</a:t>
            </a:r>
            <a:r>
              <a:rPr lang="en-US" sz="2400" dirty="0" smtClean="0"/>
              <a:t> – Sequence of actions and interactions between actors and the system.</a:t>
            </a:r>
          </a:p>
          <a:p>
            <a:pPr lvl="1"/>
            <a:r>
              <a:rPr lang="en-US" sz="2000" dirty="0" smtClean="0"/>
              <a:t>Input</a:t>
            </a:r>
          </a:p>
          <a:p>
            <a:pPr lvl="1"/>
            <a:r>
              <a:rPr lang="en-US" sz="2000" dirty="0" smtClean="0"/>
              <a:t>Expected output</a:t>
            </a:r>
          </a:p>
          <a:p>
            <a:r>
              <a:rPr lang="en-US" sz="2400" i="1" dirty="0" smtClean="0">
                <a:solidFill>
                  <a:srgbClr val="C00000"/>
                </a:solidFill>
              </a:rPr>
              <a:t>Notes and Questions</a:t>
            </a:r>
            <a:endParaRPr lang="en-US" sz="2400" dirty="0" smtClean="0"/>
          </a:p>
        </p:txBody>
      </p:sp>
      <p:pic>
        <p:nvPicPr>
          <p:cNvPr id="83971" name="Picture 3"/>
          <p:cNvPicPr>
            <a:picLocks noChangeAspect="1" noChangeArrowheads="1"/>
          </p:cNvPicPr>
          <p:nvPr/>
        </p:nvPicPr>
        <p:blipFill>
          <a:blip r:embed="rId2" cstate="print"/>
          <a:srcRect/>
          <a:stretch>
            <a:fillRect/>
          </a:stretch>
        </p:blipFill>
        <p:spPr bwMode="auto">
          <a:xfrm>
            <a:off x="4800600" y="4800600"/>
            <a:ext cx="4067175" cy="1552575"/>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Fit Criteria for Nonfunctional Requirements: Comparison</a:t>
            </a:r>
            <a:endParaRPr lang="en-US" dirty="0"/>
          </a:p>
        </p:txBody>
      </p:sp>
      <p:sp>
        <p:nvSpPr>
          <p:cNvPr id="3" name="Content Placeholder 2"/>
          <p:cNvSpPr>
            <a:spLocks noGrp="1"/>
          </p:cNvSpPr>
          <p:nvPr>
            <p:ph idx="1"/>
          </p:nvPr>
        </p:nvSpPr>
        <p:spPr/>
        <p:txBody>
          <a:bodyPr/>
          <a:lstStyle/>
          <a:p>
            <a:r>
              <a:rPr lang="en-US" sz="2400" dirty="0" smtClean="0"/>
              <a:t>The product shall be </a:t>
            </a:r>
            <a:r>
              <a:rPr lang="en-US" sz="2400" i="1" dirty="0" smtClean="0">
                <a:solidFill>
                  <a:srgbClr val="C00000"/>
                </a:solidFill>
              </a:rPr>
              <a:t>user-friendly</a:t>
            </a:r>
            <a:r>
              <a:rPr lang="en-US" sz="2400" dirty="0" smtClean="0"/>
              <a:t>.</a:t>
            </a:r>
          </a:p>
          <a:p>
            <a:r>
              <a:rPr lang="en-US" sz="2400" dirty="0" smtClean="0"/>
              <a:t>New users shall be able to add a road, change a road, and delete a road within </a:t>
            </a:r>
            <a:r>
              <a:rPr lang="en-US" sz="2400" i="1" dirty="0" smtClean="0">
                <a:solidFill>
                  <a:srgbClr val="C00000"/>
                </a:solidFill>
              </a:rPr>
              <a:t>30 minutes of their first attempt</a:t>
            </a:r>
            <a:r>
              <a:rPr lang="en-US" sz="2400" dirty="0" smtClean="0"/>
              <a:t> at using the product.</a:t>
            </a:r>
          </a:p>
          <a:p>
            <a:r>
              <a:rPr lang="en-US" sz="2400" dirty="0" smtClean="0"/>
              <a:t>The product shall be certified as complying with this year's </a:t>
            </a:r>
            <a:r>
              <a:rPr lang="en-US" sz="2400" i="1" dirty="0" smtClean="0">
                <a:solidFill>
                  <a:srgbClr val="C00000"/>
                </a:solidFill>
              </a:rPr>
              <a:t>corporate branding standards</a:t>
            </a:r>
            <a:r>
              <a:rPr lang="en-US" sz="2400" dirty="0" smtClean="0"/>
              <a:t> by the head of marketing.</a:t>
            </a:r>
          </a:p>
          <a:p>
            <a:r>
              <a:rPr lang="en-US" sz="2400" i="1" dirty="0" smtClean="0">
                <a:solidFill>
                  <a:srgbClr val="C00000"/>
                </a:solidFill>
              </a:rPr>
              <a:t>Sixty percent of the target audience</a:t>
            </a:r>
            <a:r>
              <a:rPr lang="en-US" sz="2400" dirty="0" smtClean="0"/>
              <a:t> will recognize the product as belonging to the corporation within </a:t>
            </a:r>
            <a:r>
              <a:rPr lang="en-US" sz="2400" i="1" dirty="0" smtClean="0">
                <a:solidFill>
                  <a:srgbClr val="C00000"/>
                </a:solidFill>
              </a:rPr>
              <a:t>five seconds of encountering</a:t>
            </a:r>
            <a:r>
              <a:rPr lang="en-US" sz="2400" dirty="0" smtClean="0"/>
              <a:t> it for the </a:t>
            </a:r>
            <a:r>
              <a:rPr lang="en-US" sz="2400" i="1" dirty="0" smtClean="0">
                <a:solidFill>
                  <a:srgbClr val="C00000"/>
                </a:solidFill>
              </a:rPr>
              <a:t>first time</a:t>
            </a:r>
            <a:r>
              <a:rPr lang="en-US" sz="2400" dirty="0" smtClean="0"/>
              <a:t>.</a:t>
            </a:r>
          </a:p>
        </p:txBody>
      </p:sp>
      <p:pic>
        <p:nvPicPr>
          <p:cNvPr id="41986" name="Picture 2"/>
          <p:cNvPicPr>
            <a:picLocks noChangeAspect="1" noChangeArrowheads="1"/>
          </p:cNvPicPr>
          <p:nvPr/>
        </p:nvPicPr>
        <p:blipFill>
          <a:blip r:embed="rId2" cstate="print"/>
          <a:srcRect/>
          <a:stretch>
            <a:fillRect/>
          </a:stretch>
        </p:blipFill>
        <p:spPr bwMode="auto">
          <a:xfrm>
            <a:off x="3429000" y="5334000"/>
            <a:ext cx="2133940" cy="1048111"/>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Non-requirements [2]</a:t>
            </a:r>
            <a:endParaRPr lang="en-US" dirty="0"/>
          </a:p>
        </p:txBody>
      </p:sp>
      <p:sp>
        <p:nvSpPr>
          <p:cNvPr id="3" name="Content Placeholder 2"/>
          <p:cNvSpPr>
            <a:spLocks noGrp="1"/>
          </p:cNvSpPr>
          <p:nvPr>
            <p:ph idx="1"/>
          </p:nvPr>
        </p:nvSpPr>
        <p:spPr/>
        <p:txBody>
          <a:bodyPr/>
          <a:lstStyle/>
          <a:p>
            <a:r>
              <a:rPr lang="en-US" sz="2400" dirty="0" smtClean="0"/>
              <a:t>Requirements need to be</a:t>
            </a:r>
          </a:p>
          <a:p>
            <a:pPr lvl="1"/>
            <a:r>
              <a:rPr lang="en-US" sz="2000" i="1" dirty="0" smtClean="0">
                <a:solidFill>
                  <a:srgbClr val="C00000"/>
                </a:solidFill>
              </a:rPr>
              <a:t>Unambiguous</a:t>
            </a:r>
          </a:p>
          <a:p>
            <a:pPr lvl="2"/>
            <a:r>
              <a:rPr lang="en-US" sz="1600" dirty="0" smtClean="0"/>
              <a:t>Interpretable in only one way</a:t>
            </a:r>
          </a:p>
          <a:p>
            <a:pPr lvl="1"/>
            <a:r>
              <a:rPr lang="en-US" sz="2000" i="1" dirty="0" smtClean="0">
                <a:solidFill>
                  <a:srgbClr val="C00000"/>
                </a:solidFill>
              </a:rPr>
              <a:t>Testable</a:t>
            </a:r>
          </a:p>
          <a:p>
            <a:pPr lvl="2"/>
            <a:r>
              <a:rPr lang="en-US" sz="1600" dirty="0" smtClean="0"/>
              <a:t>Compliance (or, non-compliance) can be clearly demonstrated</a:t>
            </a:r>
          </a:p>
          <a:p>
            <a:pPr lvl="1"/>
            <a:r>
              <a:rPr lang="en-US" sz="2000" i="1" dirty="0" smtClean="0">
                <a:solidFill>
                  <a:srgbClr val="C00000"/>
                </a:solidFill>
              </a:rPr>
              <a:t>Binding</a:t>
            </a:r>
          </a:p>
          <a:p>
            <a:pPr lvl="2"/>
            <a:r>
              <a:rPr lang="en-US" sz="1600" dirty="0" smtClean="0"/>
              <a:t>The customer is willing to pay for it and is unwilling to not have it</a:t>
            </a:r>
          </a:p>
          <a:p>
            <a:r>
              <a:rPr lang="en-US" sz="2400" dirty="0" smtClean="0"/>
              <a:t>Per the above definition, the following are </a:t>
            </a:r>
            <a:r>
              <a:rPr lang="en-US" sz="2400" i="1" dirty="0" smtClean="0">
                <a:solidFill>
                  <a:srgbClr val="C00000"/>
                </a:solidFill>
              </a:rPr>
              <a:t>not</a:t>
            </a:r>
            <a:r>
              <a:rPr lang="en-US" sz="2400" dirty="0" smtClean="0"/>
              <a:t> requirements</a:t>
            </a:r>
          </a:p>
          <a:p>
            <a:pPr lvl="1"/>
            <a:r>
              <a:rPr lang="en-US" sz="2000" dirty="0" smtClean="0"/>
              <a:t>The system shall be fast</a:t>
            </a:r>
          </a:p>
          <a:p>
            <a:pPr lvl="1"/>
            <a:r>
              <a:rPr lang="en-US" sz="2000" dirty="0" smtClean="0"/>
              <a:t>The system shall be user friendly</a:t>
            </a:r>
          </a:p>
          <a:p>
            <a:pPr lvl="1"/>
            <a:r>
              <a:rPr lang="en-US" sz="2000" dirty="0" smtClean="0"/>
              <a:t>The system shall be maintainable</a:t>
            </a:r>
          </a:p>
          <a:p>
            <a:pPr lvl="1"/>
            <a:r>
              <a:rPr lang="en-US" sz="2000" dirty="0" smtClean="0"/>
              <a:t>The system shall be blue (assuming no one really cares what color it is)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Process, Version 1</a:t>
            </a:r>
            <a:endParaRPr lang="en-US" dirty="0"/>
          </a:p>
        </p:txBody>
      </p:sp>
      <p:sp>
        <p:nvSpPr>
          <p:cNvPr id="3" name="Content Placeholder 2"/>
          <p:cNvSpPr>
            <a:spLocks noGrp="1"/>
          </p:cNvSpPr>
          <p:nvPr>
            <p:ph idx="1"/>
          </p:nvPr>
        </p:nvSpPr>
        <p:spPr/>
        <p:txBody>
          <a:bodyPr/>
          <a:lstStyle/>
          <a:p>
            <a:r>
              <a:rPr lang="en-US" sz="2400" dirty="0" smtClean="0"/>
              <a:t>Requirements should be </a:t>
            </a:r>
            <a:r>
              <a:rPr lang="en-US" sz="2400" i="1" dirty="0" smtClean="0">
                <a:solidFill>
                  <a:srgbClr val="C00000"/>
                </a:solidFill>
              </a:rPr>
              <a:t>separated</a:t>
            </a:r>
            <a:r>
              <a:rPr lang="en-US" sz="2400" dirty="0" smtClean="0"/>
              <a:t> from </a:t>
            </a:r>
            <a:r>
              <a:rPr lang="en-US" sz="2400" u="sng" dirty="0" smtClean="0"/>
              <a:t>non-requirements</a:t>
            </a:r>
            <a:r>
              <a:rPr lang="en-US" sz="2400" dirty="0" smtClean="0"/>
              <a:t>.</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2101850" y="2533650"/>
            <a:ext cx="4940300" cy="325755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Essential Requirements</a:t>
            </a:r>
            <a:endParaRPr lang="en-US" dirty="0"/>
          </a:p>
        </p:txBody>
      </p:sp>
      <p:sp>
        <p:nvSpPr>
          <p:cNvPr id="3" name="Content Placeholder 2"/>
          <p:cNvSpPr>
            <a:spLocks noGrp="1"/>
          </p:cNvSpPr>
          <p:nvPr>
            <p:ph idx="1"/>
          </p:nvPr>
        </p:nvSpPr>
        <p:spPr/>
        <p:txBody>
          <a:bodyPr/>
          <a:lstStyle/>
          <a:p>
            <a:r>
              <a:rPr lang="en-US" sz="2000" i="1" dirty="0" smtClean="0"/>
              <a:t>"If we had perfect implementation technology (e.g., a computer with infinite speed, unlimited memory, transparent interface, no failures, and no cost), which of the requirements would still need to be stated?"</a:t>
            </a:r>
          </a:p>
          <a:p>
            <a:pPr algn="r">
              <a:buNone/>
            </a:pPr>
            <a:r>
              <a:rPr lang="en-US" sz="2000" b="1" dirty="0" smtClean="0"/>
              <a:t>Steve </a:t>
            </a:r>
            <a:r>
              <a:rPr lang="en-US" sz="2000" b="1" dirty="0" err="1" smtClean="0"/>
              <a:t>McMenamin</a:t>
            </a:r>
            <a:r>
              <a:rPr lang="en-US" sz="2000" b="1" dirty="0" smtClean="0"/>
              <a:t> and John Palmer</a:t>
            </a:r>
          </a:p>
          <a:p>
            <a:r>
              <a:rPr lang="en-US" sz="2000" dirty="0" smtClean="0"/>
              <a:t>Every requirement that is still necessary in spite of “perfect technology” is an </a:t>
            </a:r>
            <a:r>
              <a:rPr lang="en-US" sz="2000" i="1" dirty="0" smtClean="0">
                <a:solidFill>
                  <a:srgbClr val="C00000"/>
                </a:solidFill>
              </a:rPr>
              <a:t>essential requirement</a:t>
            </a:r>
            <a:r>
              <a:rPr lang="en-US" sz="2000" dirty="0" smtClean="0"/>
              <a:t>.</a:t>
            </a:r>
          </a:p>
          <a:p>
            <a:r>
              <a:rPr lang="en-US" sz="2000" dirty="0" smtClean="0"/>
              <a:t>If we had this </a:t>
            </a:r>
            <a:r>
              <a:rPr lang="en-US" sz="2000" i="1" dirty="0" smtClean="0">
                <a:solidFill>
                  <a:srgbClr val="C00000"/>
                </a:solidFill>
              </a:rPr>
              <a:t>perfect computer</a:t>
            </a:r>
            <a:r>
              <a:rPr lang="en-US" sz="2000" dirty="0" smtClean="0"/>
              <a:t> …</a:t>
            </a:r>
          </a:p>
          <a:p>
            <a:pPr lvl="1"/>
            <a:r>
              <a:rPr lang="en-US" sz="1800" dirty="0" smtClean="0"/>
              <a:t>Would an ATM still need to process deposit, withdraw, and account query requests?</a:t>
            </a:r>
          </a:p>
          <a:p>
            <a:pPr lvl="1"/>
            <a:r>
              <a:rPr lang="en-US" sz="1800" i="1" dirty="0" smtClean="0"/>
              <a:t>Would ATM transaction records still need to be archived to </a:t>
            </a:r>
            <a:r>
              <a:rPr lang="en-US" sz="1800" i="1" dirty="0" err="1" smtClean="0"/>
              <a:t>mag</a:t>
            </a:r>
            <a:r>
              <a:rPr lang="en-US" sz="1800" i="1" dirty="0" smtClean="0"/>
              <a:t>-tape after 7 days?</a:t>
            </a:r>
          </a:p>
          <a:p>
            <a:pPr lvl="1"/>
            <a:r>
              <a:rPr lang="en-US" sz="1800" i="1" dirty="0" smtClean="0"/>
              <a:t>Would an ATM be usable 95% of the time?</a:t>
            </a:r>
          </a:p>
          <a:p>
            <a:pPr lvl="1"/>
            <a:r>
              <a:rPr lang="en-US" sz="1800" dirty="0" smtClean="0"/>
              <a:t>Would an ATM still need to record how often customers use their cards?</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Process, Version 2</a:t>
            </a:r>
            <a:endParaRPr lang="en-US" dirty="0"/>
          </a:p>
        </p:txBody>
      </p:sp>
      <p:sp>
        <p:nvSpPr>
          <p:cNvPr id="3" name="Content Placeholder 2"/>
          <p:cNvSpPr>
            <a:spLocks noGrp="1"/>
          </p:cNvSpPr>
          <p:nvPr>
            <p:ph idx="1"/>
          </p:nvPr>
        </p:nvSpPr>
        <p:spPr/>
        <p:txBody>
          <a:bodyPr/>
          <a:lstStyle/>
          <a:p>
            <a:r>
              <a:rPr lang="en-US" sz="2400" dirty="0" smtClean="0"/>
              <a:t>The decision criteria is whether or not the requirement would still exist if we had that perfect computer.</a:t>
            </a:r>
            <a:endParaRPr lang="en-US" sz="2400" dirty="0"/>
          </a:p>
        </p:txBody>
      </p:sp>
      <p:pic>
        <p:nvPicPr>
          <p:cNvPr id="2050" name="Picture 2"/>
          <p:cNvPicPr>
            <a:picLocks noChangeAspect="1" noChangeArrowheads="1"/>
          </p:cNvPicPr>
          <p:nvPr/>
        </p:nvPicPr>
        <p:blipFill>
          <a:blip r:embed="rId2" cstate="print"/>
          <a:srcRect/>
          <a:stretch>
            <a:fillRect/>
          </a:stretch>
        </p:blipFill>
        <p:spPr bwMode="auto">
          <a:xfrm>
            <a:off x="1868488" y="2622550"/>
            <a:ext cx="5407025" cy="370205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Implications of Perfect Technology</a:t>
            </a:r>
            <a:endParaRPr lang="en-US" dirty="0"/>
          </a:p>
        </p:txBody>
      </p:sp>
      <p:pic>
        <p:nvPicPr>
          <p:cNvPr id="2050" name="Picture 2" descr="http://cdn2.hubspot.net/hub/23541/file-13471144-jpg/images/implications_of_suboptimal_sales_analysis.jpg?t=1364513992000"/>
          <p:cNvPicPr>
            <a:picLocks noChangeAspect="1" noChangeArrowheads="1"/>
          </p:cNvPicPr>
          <p:nvPr/>
        </p:nvPicPr>
        <p:blipFill>
          <a:blip r:embed="rId2" cstate="print"/>
          <a:srcRect/>
          <a:stretch>
            <a:fillRect/>
          </a:stretch>
        </p:blipFill>
        <p:spPr bwMode="auto">
          <a:xfrm>
            <a:off x="6172200" y="2324100"/>
            <a:ext cx="2781300" cy="2857500"/>
          </a:xfrm>
          <a:prstGeom prst="rect">
            <a:avLst/>
          </a:prstGeom>
          <a:noFill/>
        </p:spPr>
      </p:pic>
      <p:sp>
        <p:nvSpPr>
          <p:cNvPr id="3" name="Content Placeholder 2"/>
          <p:cNvSpPr>
            <a:spLocks noGrp="1"/>
          </p:cNvSpPr>
          <p:nvPr>
            <p:ph idx="1"/>
          </p:nvPr>
        </p:nvSpPr>
        <p:spPr>
          <a:xfrm>
            <a:off x="304800" y="1600200"/>
            <a:ext cx="6477000" cy="4525963"/>
          </a:xfrm>
        </p:spPr>
        <p:txBody>
          <a:bodyPr/>
          <a:lstStyle/>
          <a:p>
            <a:r>
              <a:rPr lang="en-US" sz="2200" dirty="0" smtClean="0"/>
              <a:t>Requirements about </a:t>
            </a:r>
            <a:r>
              <a:rPr lang="en-US" sz="2200" i="1" dirty="0" smtClean="0">
                <a:solidFill>
                  <a:srgbClr val="C00000"/>
                </a:solidFill>
              </a:rPr>
              <a:t>speed, cost, and capacity</a:t>
            </a:r>
            <a:r>
              <a:rPr lang="en-US" sz="2200" dirty="0" smtClean="0"/>
              <a:t> go into the </a:t>
            </a:r>
            <a:r>
              <a:rPr lang="en-US" sz="2200" u="sng" dirty="0" smtClean="0"/>
              <a:t>design bucket</a:t>
            </a:r>
          </a:p>
          <a:p>
            <a:r>
              <a:rPr lang="en-US" sz="2200" dirty="0" smtClean="0"/>
              <a:t>Requirements about </a:t>
            </a:r>
            <a:r>
              <a:rPr lang="en-US" sz="2200" i="1" dirty="0" smtClean="0">
                <a:solidFill>
                  <a:srgbClr val="C00000"/>
                </a:solidFill>
              </a:rPr>
              <a:t>reliability (MTBF, MTTR)</a:t>
            </a:r>
            <a:r>
              <a:rPr lang="en-US" sz="2200" dirty="0" smtClean="0"/>
              <a:t> go into the </a:t>
            </a:r>
            <a:r>
              <a:rPr lang="en-US" sz="2200" u="sng" dirty="0" smtClean="0"/>
              <a:t>design bucket</a:t>
            </a:r>
          </a:p>
          <a:p>
            <a:r>
              <a:rPr lang="en-US" sz="2200" dirty="0" smtClean="0"/>
              <a:t>Requirements about </a:t>
            </a:r>
            <a:r>
              <a:rPr lang="en-US" sz="2200" i="1" dirty="0" smtClean="0">
                <a:solidFill>
                  <a:srgbClr val="C00000"/>
                </a:solidFill>
              </a:rPr>
              <a:t>I/O mechanisms and presentations</a:t>
            </a:r>
            <a:r>
              <a:rPr lang="en-US" sz="2200" dirty="0" smtClean="0"/>
              <a:t> go into the </a:t>
            </a:r>
            <a:r>
              <a:rPr lang="en-US" sz="2200" u="sng" dirty="0" smtClean="0"/>
              <a:t>design bucket</a:t>
            </a:r>
          </a:p>
          <a:p>
            <a:r>
              <a:rPr lang="en-US" sz="2200" dirty="0" smtClean="0"/>
              <a:t>Requirements about </a:t>
            </a:r>
            <a:r>
              <a:rPr lang="en-US" sz="2200" i="1" dirty="0" smtClean="0">
                <a:solidFill>
                  <a:srgbClr val="C00000"/>
                </a:solidFill>
              </a:rPr>
              <a:t>computer languages</a:t>
            </a:r>
            <a:r>
              <a:rPr lang="en-US" sz="2200" dirty="0" smtClean="0"/>
              <a:t> go into the </a:t>
            </a:r>
            <a:r>
              <a:rPr lang="en-US" sz="2200" u="sng" dirty="0" smtClean="0"/>
              <a:t>design bucket</a:t>
            </a:r>
          </a:p>
          <a:p>
            <a:r>
              <a:rPr lang="en-US" sz="2200" dirty="0" smtClean="0"/>
              <a:t>Requirements about </a:t>
            </a:r>
            <a:r>
              <a:rPr lang="en-US" sz="2200" i="1" dirty="0" smtClean="0">
                <a:solidFill>
                  <a:srgbClr val="C00000"/>
                </a:solidFill>
              </a:rPr>
              <a:t>archiving</a:t>
            </a:r>
            <a:r>
              <a:rPr lang="en-US" sz="2200" dirty="0" smtClean="0"/>
              <a:t> go into the </a:t>
            </a:r>
            <a:r>
              <a:rPr lang="en-US" sz="2200" u="sng" dirty="0" smtClean="0"/>
              <a:t>design bucket</a:t>
            </a:r>
          </a:p>
          <a:p>
            <a:r>
              <a:rPr lang="en-US" sz="2200" dirty="0" smtClean="0"/>
              <a:t>Requirements about the </a:t>
            </a:r>
            <a:r>
              <a:rPr lang="en-US" sz="2200" i="1" dirty="0" smtClean="0">
                <a:solidFill>
                  <a:srgbClr val="C00000"/>
                </a:solidFill>
              </a:rPr>
              <a:t>customer's business policy, business process</a:t>
            </a:r>
            <a:r>
              <a:rPr lang="en-US" sz="2200" dirty="0" smtClean="0"/>
              <a:t> go into the </a:t>
            </a:r>
            <a:r>
              <a:rPr lang="en-US" sz="2200" u="sng" dirty="0" smtClean="0"/>
              <a:t>essential bucket</a:t>
            </a:r>
            <a:endParaRPr lang="en-US" sz="2200" u="sng"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Bother?</a:t>
            </a:r>
            <a:endParaRPr lang="en-US" dirty="0"/>
          </a:p>
        </p:txBody>
      </p:sp>
      <p:sp>
        <p:nvSpPr>
          <p:cNvPr id="3" name="Content Placeholder 2"/>
          <p:cNvSpPr>
            <a:spLocks noGrp="1"/>
          </p:cNvSpPr>
          <p:nvPr>
            <p:ph idx="1"/>
          </p:nvPr>
        </p:nvSpPr>
        <p:spPr/>
        <p:txBody>
          <a:bodyPr/>
          <a:lstStyle/>
          <a:p>
            <a:r>
              <a:rPr lang="en-US" sz="2600" dirty="0" smtClean="0"/>
              <a:t>Reduce apparent </a:t>
            </a:r>
            <a:r>
              <a:rPr lang="en-US" sz="2600" i="1" dirty="0" smtClean="0">
                <a:solidFill>
                  <a:srgbClr val="C00000"/>
                </a:solidFill>
              </a:rPr>
              <a:t>complexity</a:t>
            </a:r>
            <a:r>
              <a:rPr lang="en-US" sz="2600" dirty="0" smtClean="0"/>
              <a:t>: one large problem becomes two smaller ones</a:t>
            </a:r>
          </a:p>
          <a:p>
            <a:pPr lvl="1"/>
            <a:r>
              <a:rPr lang="en-US" sz="2200" dirty="0" smtClean="0"/>
              <a:t>Understand the customer’s business policy / business process</a:t>
            </a:r>
          </a:p>
          <a:p>
            <a:pPr lvl="1"/>
            <a:r>
              <a:rPr lang="en-US" sz="2200" dirty="0" smtClean="0"/>
              <a:t>Figure out </a:t>
            </a:r>
            <a:r>
              <a:rPr lang="en-US" sz="2200" i="1" dirty="0" smtClean="0">
                <a:solidFill>
                  <a:srgbClr val="C00000"/>
                </a:solidFill>
              </a:rPr>
              <a:t>how to automate</a:t>
            </a:r>
            <a:r>
              <a:rPr lang="en-US" sz="2200" dirty="0" smtClean="0"/>
              <a:t> that business policy / process with the available technology</a:t>
            </a:r>
          </a:p>
          <a:p>
            <a:pPr lvl="1"/>
            <a:endParaRPr lang="en-US" sz="2000" dirty="0"/>
          </a:p>
        </p:txBody>
      </p:sp>
      <p:pic>
        <p:nvPicPr>
          <p:cNvPr id="1026" name="Picture 2"/>
          <p:cNvPicPr>
            <a:picLocks noChangeAspect="1" noChangeArrowheads="1"/>
          </p:cNvPicPr>
          <p:nvPr/>
        </p:nvPicPr>
        <p:blipFill>
          <a:blip r:embed="rId2" cstate="print"/>
          <a:srcRect/>
          <a:stretch>
            <a:fillRect/>
          </a:stretch>
        </p:blipFill>
        <p:spPr bwMode="auto">
          <a:xfrm>
            <a:off x="3733800" y="4191000"/>
            <a:ext cx="1880235" cy="16002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Analysis vs. Design</a:t>
            </a:r>
            <a:endParaRPr lang="en-US" dirty="0"/>
          </a:p>
        </p:txBody>
      </p:sp>
      <p:sp>
        <p:nvSpPr>
          <p:cNvPr id="3" name="Content Placeholder 2"/>
          <p:cNvSpPr>
            <a:spLocks noGrp="1"/>
          </p:cNvSpPr>
          <p:nvPr>
            <p:ph idx="1"/>
          </p:nvPr>
        </p:nvSpPr>
        <p:spPr>
          <a:xfrm>
            <a:off x="457200" y="1600200"/>
            <a:ext cx="4038600" cy="4525963"/>
          </a:xfrm>
        </p:spPr>
        <p:txBody>
          <a:bodyPr/>
          <a:lstStyle/>
          <a:p>
            <a:r>
              <a:rPr lang="en-US" sz="2400" dirty="0" smtClean="0"/>
              <a:t>Analysis and Design can be defined in terms of the kind of requirements being addressed.</a:t>
            </a:r>
          </a:p>
          <a:p>
            <a:r>
              <a:rPr lang="en-US" sz="2400" dirty="0" smtClean="0"/>
              <a:t>But this does not necessarily imply a waterfall lifecycle (note: “activity”, not “phase”).</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4800600" y="1520190"/>
            <a:ext cx="3870960" cy="495681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Reading</a:t>
            </a:r>
            <a:endParaRPr lang="en-US" dirty="0"/>
          </a:p>
        </p:txBody>
      </p:sp>
      <p:sp>
        <p:nvSpPr>
          <p:cNvPr id="3" name="Content Placeholder 2"/>
          <p:cNvSpPr>
            <a:spLocks noGrp="1"/>
          </p:cNvSpPr>
          <p:nvPr>
            <p:ph idx="1"/>
          </p:nvPr>
        </p:nvSpPr>
        <p:spPr/>
        <p:txBody>
          <a:bodyPr/>
          <a:lstStyle/>
          <a:p>
            <a:r>
              <a:rPr lang="en-US" sz="2800" dirty="0" smtClean="0"/>
              <a:t>David </a:t>
            </a:r>
            <a:r>
              <a:rPr lang="en-US" sz="2800" dirty="0" err="1" smtClean="0"/>
              <a:t>Lorge</a:t>
            </a:r>
            <a:r>
              <a:rPr lang="en-US" sz="2800" dirty="0" smtClean="0"/>
              <a:t> </a:t>
            </a:r>
            <a:r>
              <a:rPr lang="en-US" sz="2800" dirty="0" err="1" smtClean="0"/>
              <a:t>Parna</a:t>
            </a:r>
            <a:r>
              <a:rPr lang="en-US" sz="2800" dirty="0" smtClean="0"/>
              <a:t> and Jan </a:t>
            </a:r>
            <a:r>
              <a:rPr lang="en-US" sz="2800" dirty="0" err="1" smtClean="0"/>
              <a:t>Madey</a:t>
            </a:r>
            <a:r>
              <a:rPr lang="en-US" sz="2800" dirty="0" smtClean="0"/>
              <a:t> (1995). Functional Documents for Computer Systems.</a:t>
            </a:r>
          </a:p>
          <a:p>
            <a:pPr lvl="1"/>
            <a:r>
              <a:rPr lang="en-US" sz="2400" dirty="0" smtClean="0"/>
              <a:t>NAT, REQ, IN, OUT and SOF.</a:t>
            </a:r>
          </a:p>
          <a:p>
            <a:r>
              <a:rPr lang="en-US" sz="2800" dirty="0" smtClean="0"/>
              <a:t>Carl A. Gunter et al. (1998). A Reference Model for Requirements and Specifications.</a:t>
            </a:r>
          </a:p>
          <a:p>
            <a:pPr lvl="1"/>
            <a:r>
              <a:rPr lang="en-US" sz="2400" dirty="0" smtClean="0"/>
              <a:t>WRSPM reference model.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9667</TotalTime>
  <Words>1526</Words>
  <Application>Microsoft Office PowerPoint</Application>
  <PresentationFormat>On-screen Show (4:3)</PresentationFormat>
  <Paragraphs>165</Paragraphs>
  <Slides>33</Slides>
  <Notes>1</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Software Requirements</vt:lpstr>
      <vt:lpstr>Objectives</vt:lpstr>
      <vt:lpstr>Contents</vt:lpstr>
      <vt:lpstr>References</vt:lpstr>
      <vt:lpstr>Discovering Software Requirements (I)</vt:lpstr>
      <vt:lpstr>Discovering Software Requirements (II)</vt:lpstr>
      <vt:lpstr>Functional Requirements [1]</vt:lpstr>
      <vt:lpstr>Example</vt:lpstr>
      <vt:lpstr>Use Cases</vt:lpstr>
      <vt:lpstr>Slide 10</vt:lpstr>
      <vt:lpstr>Look and Feel Requirements</vt:lpstr>
      <vt:lpstr>Usability and Humanity Requirements</vt:lpstr>
      <vt:lpstr>Performance Requirements</vt:lpstr>
      <vt:lpstr>Operational and Environmental Requirements</vt:lpstr>
      <vt:lpstr>Security Requirements</vt:lpstr>
      <vt:lpstr>Documentation, Maintainability and Support Requirements</vt:lpstr>
      <vt:lpstr>Cultural, Political and Legal Requirements</vt:lpstr>
      <vt:lpstr>Slide 18</vt:lpstr>
      <vt:lpstr>Requirements Clarification</vt:lpstr>
      <vt:lpstr>Fit Criteria</vt:lpstr>
      <vt:lpstr>Fit Criteria for Functional Requirements: Test Case</vt:lpstr>
      <vt:lpstr>Fit Criteria for Nonfunctional Requirements: Comparison</vt:lpstr>
      <vt:lpstr>Slide 23</vt:lpstr>
      <vt:lpstr>Non-requirements [2]</vt:lpstr>
      <vt:lpstr>Decision Process, Version 1</vt:lpstr>
      <vt:lpstr>Essential Requirements</vt:lpstr>
      <vt:lpstr>Decision Process, Version 2</vt:lpstr>
      <vt:lpstr>Implications of Perfect Technology</vt:lpstr>
      <vt:lpstr>Why Bother?</vt:lpstr>
      <vt:lpstr>Analysis vs. Design</vt:lpstr>
      <vt:lpstr>Slide 31</vt:lpstr>
      <vt:lpstr>Further Reading</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4102</cp:revision>
  <dcterms:created xsi:type="dcterms:W3CDTF">2007-10-06T08:25:13Z</dcterms:created>
  <dcterms:modified xsi:type="dcterms:W3CDTF">2025-09-05T19:37:45Z</dcterms:modified>
</cp:coreProperties>
</file>