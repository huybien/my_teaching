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34"/>
  </p:notesMasterIdLst>
  <p:sldIdLst>
    <p:sldId id="515" r:id="rId2"/>
    <p:sldId id="516" r:id="rId3"/>
    <p:sldId id="517" r:id="rId4"/>
    <p:sldId id="518" r:id="rId5"/>
    <p:sldId id="497" r:id="rId6"/>
    <p:sldId id="522" r:id="rId7"/>
    <p:sldId id="496" r:id="rId8"/>
    <p:sldId id="493" r:id="rId9"/>
    <p:sldId id="500" r:id="rId10"/>
    <p:sldId id="498" r:id="rId11"/>
    <p:sldId id="499" r:id="rId12"/>
    <p:sldId id="507" r:id="rId13"/>
    <p:sldId id="505" r:id="rId14"/>
    <p:sldId id="512" r:id="rId15"/>
    <p:sldId id="513" r:id="rId16"/>
    <p:sldId id="514" r:id="rId17"/>
    <p:sldId id="494" r:id="rId18"/>
    <p:sldId id="525" r:id="rId19"/>
    <p:sldId id="526" r:id="rId20"/>
    <p:sldId id="528" r:id="rId21"/>
    <p:sldId id="519" r:id="rId22"/>
    <p:sldId id="503" r:id="rId23"/>
    <p:sldId id="509" r:id="rId24"/>
    <p:sldId id="521" r:id="rId25"/>
    <p:sldId id="511" r:id="rId26"/>
    <p:sldId id="529" r:id="rId27"/>
    <p:sldId id="530" r:id="rId28"/>
    <p:sldId id="531" r:id="rId29"/>
    <p:sldId id="532" r:id="rId30"/>
    <p:sldId id="533" r:id="rId31"/>
    <p:sldId id="534" r:id="rId32"/>
    <p:sldId id="489"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73" autoAdjust="0"/>
    <p:restoredTop sz="94667" autoAdjust="0"/>
  </p:normalViewPr>
  <p:slideViewPr>
    <p:cSldViewPr>
      <p:cViewPr>
        <p:scale>
          <a:sx n="50" d="100"/>
          <a:sy n="50" d="100"/>
        </p:scale>
        <p:origin x="-149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3F0342-FEF7-473F-B7CA-2A3C8B356118}" type="datetimeFigureOut">
              <a:rPr lang="en-US" smtClean="0"/>
              <a:pPr/>
              <a:t>5/1/2024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6B0635-84B0-4310-9761-6CDBF150AD0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5/1/2024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5/1/2024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5/1/2024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5/1/2024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5/1/2024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5/1/2024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5/1/2024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5/1/2024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5/1/2024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5/1/2024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5/1/2024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5/1/2024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figma.com/" TargetMode="External"/><Relationship Id="rId2" Type="http://schemas.openxmlformats.org/officeDocument/2006/relationships/hyperlink" Target="https://www.adobe.com/products/xd.html" TargetMode="Externa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Maintenance Project Requirements Analysis</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457200" indent="-457200">
              <a:buFont typeface="Wingdings" pitchFamily="2" charset="2"/>
              <a:buChar char="Ø"/>
            </a:pPr>
            <a:r>
              <a:rPr lang="en-US" sz="2400" dirty="0" smtClean="0"/>
              <a:t>To write a </a:t>
            </a:r>
            <a:r>
              <a:rPr lang="en-US" sz="2400" i="1" dirty="0" smtClean="0">
                <a:solidFill>
                  <a:srgbClr val="C00000"/>
                </a:solidFill>
              </a:rPr>
              <a:t>software requirements specification</a:t>
            </a:r>
            <a:r>
              <a:rPr lang="en-US" sz="2400" dirty="0" smtClean="0"/>
              <a:t> for a maintenance project.</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Existing Use Cases.</a:t>
            </a:r>
          </a:p>
          <a:p>
            <a:pPr marL="571500" indent="-571500">
              <a:buFont typeface="+mj-lt"/>
              <a:buAutoNum type="romanUcPeriod"/>
            </a:pPr>
            <a:r>
              <a:rPr lang="en-US" sz="2400" dirty="0" smtClean="0"/>
              <a:t>Affected Features.</a:t>
            </a:r>
          </a:p>
          <a:p>
            <a:pPr marL="571500" indent="-571500">
              <a:buFont typeface="+mj-lt"/>
              <a:buAutoNum type="romanUcPeriod"/>
            </a:pPr>
            <a:r>
              <a:rPr lang="en-US" sz="2400" dirty="0" smtClean="0"/>
              <a:t>Affected Roles.</a:t>
            </a:r>
          </a:p>
          <a:p>
            <a:pPr marL="571500" indent="-571500">
              <a:buFont typeface="+mj-lt"/>
              <a:buAutoNum type="romanUcPeriod"/>
            </a:pPr>
            <a:r>
              <a:rPr lang="en-US" sz="2400" dirty="0" smtClean="0"/>
              <a:t>Existing Architecture.</a:t>
            </a:r>
          </a:p>
          <a:p>
            <a:pPr marL="571500" indent="-571500">
              <a:buFont typeface="+mj-lt"/>
              <a:buAutoNum type="romanUcPeriod"/>
            </a:pPr>
            <a:r>
              <a:rPr lang="en-US" sz="2400" dirty="0" smtClean="0"/>
              <a:t>Proposed </a:t>
            </a:r>
            <a:r>
              <a:rPr lang="en-US" sz="2400" smtClean="0"/>
              <a:t>Future Architecture.</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752600"/>
            <a:ext cx="5867400" cy="3992563"/>
          </a:xfrm>
        </p:spPr>
        <p:txBody>
          <a:bodyPr>
            <a:normAutofit/>
          </a:bodyPr>
          <a:lstStyle/>
          <a:p>
            <a:pPr marL="514350" indent="-514350">
              <a:buFont typeface="+mj-lt"/>
              <a:buAutoNum type="arabicPeriod"/>
            </a:pPr>
            <a:endParaRPr lang="en-US"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Maintenance Project Failed?</a:t>
            </a:r>
            <a:endParaRPr lang="en-US" dirty="0"/>
          </a:p>
        </p:txBody>
      </p:sp>
      <p:sp>
        <p:nvSpPr>
          <p:cNvPr id="3" name="Content Placeholder 2"/>
          <p:cNvSpPr>
            <a:spLocks noGrp="1"/>
          </p:cNvSpPr>
          <p:nvPr>
            <p:ph idx="1"/>
          </p:nvPr>
        </p:nvSpPr>
        <p:spPr/>
        <p:txBody>
          <a:bodyPr/>
          <a:lstStyle/>
          <a:p>
            <a:r>
              <a:rPr lang="en-US" dirty="0" smtClean="0"/>
              <a:t>No requirements analysis.</a:t>
            </a:r>
            <a:endParaRPr lang="en-US" dirty="0"/>
          </a:p>
        </p:txBody>
      </p:sp>
      <p:pic>
        <p:nvPicPr>
          <p:cNvPr id="4" name="Picture 5"/>
          <p:cNvPicPr>
            <a:picLocks noChangeAspect="1" noChangeArrowheads="1"/>
          </p:cNvPicPr>
          <p:nvPr/>
        </p:nvPicPr>
        <p:blipFill>
          <a:blip r:embed="rId2" cstate="print"/>
          <a:srcRect/>
          <a:stretch>
            <a:fillRect/>
          </a:stretch>
        </p:blipFill>
        <p:spPr bwMode="auto">
          <a:xfrm>
            <a:off x="3581400" y="2514600"/>
            <a:ext cx="4832350" cy="3187700"/>
          </a:xfrm>
          <a:prstGeom prst="rect">
            <a:avLst/>
          </a:prstGeom>
          <a:noFill/>
          <a:ln w="9525">
            <a:noFill/>
            <a:miter lim="800000"/>
            <a:headEnd/>
            <a:tailEnd/>
          </a:ln>
        </p:spPr>
      </p:pic>
      <p:pic>
        <p:nvPicPr>
          <p:cNvPr id="5" name="Picture 7" descr="http://www.drycreekhollow.com/wp-content/uploads/2015/12/Hotels-Near-My-Location.png"/>
          <p:cNvPicPr>
            <a:picLocks noChangeAspect="1" noChangeArrowheads="1"/>
          </p:cNvPicPr>
          <p:nvPr/>
        </p:nvPicPr>
        <p:blipFill>
          <a:blip r:embed="rId3" cstate="print"/>
          <a:srcRect/>
          <a:stretch>
            <a:fillRect/>
          </a:stretch>
        </p:blipFill>
        <p:spPr bwMode="auto">
          <a:xfrm>
            <a:off x="990600" y="2819400"/>
            <a:ext cx="2409825" cy="2286001"/>
          </a:xfrm>
          <a:prstGeom prst="rect">
            <a:avLst/>
          </a:prstGeom>
          <a:noFill/>
        </p:spPr>
      </p:pic>
      <p:pic>
        <p:nvPicPr>
          <p:cNvPr id="6" name="Picture 9"/>
          <p:cNvPicPr>
            <a:picLocks noChangeAspect="1" noChangeArrowheads="1"/>
          </p:cNvPicPr>
          <p:nvPr/>
        </p:nvPicPr>
        <p:blipFill>
          <a:blip r:embed="rId4" cstate="print"/>
          <a:srcRect/>
          <a:stretch>
            <a:fillRect/>
          </a:stretch>
        </p:blipFill>
        <p:spPr bwMode="auto">
          <a:xfrm>
            <a:off x="2743200" y="3048000"/>
            <a:ext cx="2352675" cy="17145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Core Idea</a:t>
            </a:r>
            <a:endParaRPr lang="en-US" dirty="0"/>
          </a:p>
        </p:txBody>
      </p:sp>
      <p:sp>
        <p:nvSpPr>
          <p:cNvPr id="3" name="Content Placeholder 2"/>
          <p:cNvSpPr>
            <a:spLocks noGrp="1"/>
          </p:cNvSpPr>
          <p:nvPr>
            <p:ph idx="1"/>
          </p:nvPr>
        </p:nvSpPr>
        <p:spPr/>
        <p:txBody>
          <a:bodyPr/>
          <a:lstStyle/>
          <a:p>
            <a:r>
              <a:rPr lang="en-US" sz="2400" dirty="0" smtClean="0"/>
              <a:t>Indentify </a:t>
            </a:r>
            <a:r>
              <a:rPr lang="en-US" sz="2400" i="1" dirty="0" smtClean="0">
                <a:solidFill>
                  <a:srgbClr val="C00000"/>
                </a:solidFill>
              </a:rPr>
              <a:t>problems</a:t>
            </a:r>
            <a:r>
              <a:rPr lang="en-US" sz="2400" dirty="0" smtClean="0"/>
              <a:t> in an </a:t>
            </a:r>
            <a:r>
              <a:rPr lang="en-US" sz="2400" u="sng" dirty="0" smtClean="0"/>
              <a:t>existing solution</a:t>
            </a:r>
            <a:r>
              <a:rPr lang="en-US" sz="2400" dirty="0" smtClean="0"/>
              <a:t>.</a:t>
            </a:r>
          </a:p>
          <a:p>
            <a:r>
              <a:rPr lang="en-US" sz="2400" dirty="0" smtClean="0"/>
              <a:t>Solution space </a:t>
            </a:r>
            <a:r>
              <a:rPr lang="en-US" sz="2400" dirty="0" smtClean="0">
                <a:sym typeface="Wingdings" pitchFamily="2" charset="2"/>
              </a:rPr>
              <a:t></a:t>
            </a:r>
            <a:r>
              <a:rPr lang="en-US" sz="2400" dirty="0" smtClean="0"/>
              <a:t> Problem space.</a:t>
            </a:r>
          </a:p>
          <a:p>
            <a:r>
              <a:rPr lang="en-US" sz="2400" dirty="0" smtClean="0"/>
              <a:t>Requiring both </a:t>
            </a:r>
            <a:r>
              <a:rPr lang="en-US" sz="2400" i="1" dirty="0" smtClean="0">
                <a:solidFill>
                  <a:srgbClr val="C00000"/>
                </a:solidFill>
              </a:rPr>
              <a:t>technical</a:t>
            </a:r>
            <a:r>
              <a:rPr lang="en-US" sz="2400" dirty="0" smtClean="0"/>
              <a:t> experts and </a:t>
            </a:r>
            <a:r>
              <a:rPr lang="en-US" sz="2400" i="1" dirty="0" smtClean="0">
                <a:solidFill>
                  <a:srgbClr val="C00000"/>
                </a:solidFill>
              </a:rPr>
              <a:t>domain</a:t>
            </a:r>
            <a:r>
              <a:rPr lang="en-US" sz="2400" dirty="0" smtClean="0"/>
              <a:t> experts.</a:t>
            </a:r>
            <a:endParaRPr lang="en-US" sz="2400" dirty="0"/>
          </a:p>
        </p:txBody>
      </p:sp>
      <p:pic>
        <p:nvPicPr>
          <p:cNvPr id="1028" name="Picture 4" descr="https://www.janek.com/wp-content/uploads/2019/09/420tips20to20help20you20eliminate20anxiety20from20your20sales20negotiations.jpg"/>
          <p:cNvPicPr>
            <a:picLocks noChangeAspect="1" noChangeArrowheads="1"/>
          </p:cNvPicPr>
          <p:nvPr/>
        </p:nvPicPr>
        <p:blipFill>
          <a:blip r:embed="rId2" cstate="print"/>
          <a:srcRect/>
          <a:stretch>
            <a:fillRect/>
          </a:stretch>
        </p:blipFill>
        <p:spPr bwMode="auto">
          <a:xfrm>
            <a:off x="5181600" y="3657600"/>
            <a:ext cx="2857500" cy="1905000"/>
          </a:xfrm>
          <a:prstGeom prst="rect">
            <a:avLst/>
          </a:prstGeom>
          <a:noFill/>
        </p:spPr>
      </p:pic>
      <p:pic>
        <p:nvPicPr>
          <p:cNvPr id="1030" name="Picture 6" descr="https://media.istockphoto.com/photos/programmer-working-with-program-code-picture-id1075599562?k=20&amp;m=1075599562&amp;s=612x612&amp;w=0&amp;h=cDFY2kKyhFzSNNlDQsaxoekIW0v7iyaMBkxp11Fz33U="/>
          <p:cNvPicPr>
            <a:picLocks noChangeAspect="1" noChangeArrowheads="1"/>
          </p:cNvPicPr>
          <p:nvPr/>
        </p:nvPicPr>
        <p:blipFill>
          <a:blip r:embed="rId3" cstate="print"/>
          <a:srcRect/>
          <a:stretch>
            <a:fillRect/>
          </a:stretch>
        </p:blipFill>
        <p:spPr bwMode="auto">
          <a:xfrm>
            <a:off x="1066800" y="3657600"/>
            <a:ext cx="2798064" cy="1865376"/>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Do We Begin?</a:t>
            </a:r>
            <a:endParaRPr lang="en-US" dirty="0"/>
          </a:p>
        </p:txBody>
      </p:sp>
      <p:sp>
        <p:nvSpPr>
          <p:cNvPr id="3" name="Content Placeholder 2"/>
          <p:cNvSpPr>
            <a:spLocks noGrp="1"/>
          </p:cNvSpPr>
          <p:nvPr>
            <p:ph idx="1"/>
          </p:nvPr>
        </p:nvSpPr>
        <p:spPr/>
        <p:txBody>
          <a:bodyPr/>
          <a:lstStyle/>
          <a:p>
            <a:r>
              <a:rPr lang="en-US" sz="2600" dirty="0" smtClean="0"/>
              <a:t>Messages (we often hardly understand what they said).</a:t>
            </a:r>
          </a:p>
          <a:p>
            <a:r>
              <a:rPr lang="en-US" sz="2600" dirty="0" smtClean="0"/>
              <a:t>Documents (they are often a mess).</a:t>
            </a:r>
          </a:p>
          <a:p>
            <a:r>
              <a:rPr lang="en-US" sz="2600" dirty="0" smtClean="0"/>
              <a:t>Existing systems (we hardly understand what they do).</a:t>
            </a:r>
          </a:p>
          <a:p>
            <a:endParaRPr lang="en-US" sz="2600" dirty="0" smtClean="0"/>
          </a:p>
          <a:p>
            <a:endParaRPr lang="en-US" sz="2600" dirty="0"/>
          </a:p>
        </p:txBody>
      </p:sp>
      <p:pic>
        <p:nvPicPr>
          <p:cNvPr id="4" name="Picture 3"/>
          <p:cNvPicPr>
            <a:picLocks noChangeAspect="1" noChangeArrowheads="1"/>
          </p:cNvPicPr>
          <p:nvPr/>
        </p:nvPicPr>
        <p:blipFill>
          <a:blip r:embed="rId2" cstate="print"/>
          <a:srcRect/>
          <a:stretch>
            <a:fillRect/>
          </a:stretch>
        </p:blipFill>
        <p:spPr bwMode="auto">
          <a:xfrm>
            <a:off x="3048000" y="3505200"/>
            <a:ext cx="3019425" cy="24003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Collect Existing Artifacts</a:t>
            </a:r>
            <a:endParaRPr lang="en-US" dirty="0"/>
          </a:p>
        </p:txBody>
      </p:sp>
      <p:sp>
        <p:nvSpPr>
          <p:cNvPr id="3" name="Content Placeholder 2"/>
          <p:cNvSpPr>
            <a:spLocks noGrp="1"/>
          </p:cNvSpPr>
          <p:nvPr>
            <p:ph idx="1"/>
          </p:nvPr>
        </p:nvSpPr>
        <p:spPr>
          <a:xfrm>
            <a:off x="457200" y="1600200"/>
            <a:ext cx="6400800" cy="4525963"/>
          </a:xfrm>
        </p:spPr>
        <p:txBody>
          <a:bodyPr/>
          <a:lstStyle/>
          <a:p>
            <a:r>
              <a:rPr lang="en-US" sz="2400" dirty="0" smtClean="0"/>
              <a:t>List of current </a:t>
            </a:r>
            <a:r>
              <a:rPr lang="en-US" sz="2400" i="1" dirty="0" smtClean="0">
                <a:solidFill>
                  <a:srgbClr val="C00000"/>
                </a:solidFill>
              </a:rPr>
              <a:t>software products</a:t>
            </a:r>
            <a:r>
              <a:rPr lang="en-US" sz="2400" dirty="0" smtClean="0"/>
              <a:t> that are used and their purposes.</a:t>
            </a:r>
          </a:p>
          <a:p>
            <a:r>
              <a:rPr lang="en-US" sz="2400" i="1" dirty="0" smtClean="0">
                <a:solidFill>
                  <a:srgbClr val="C00000"/>
                </a:solidFill>
              </a:rPr>
              <a:t>User guide</a:t>
            </a:r>
            <a:r>
              <a:rPr lang="en-US" sz="2400" dirty="0" smtClean="0"/>
              <a:t> (or requirements specification) of each software product if available. If the user guides (or requirements specifications) are </a:t>
            </a:r>
            <a:r>
              <a:rPr lang="en-US" sz="2400" b="1" dirty="0" smtClean="0"/>
              <a:t>not</a:t>
            </a:r>
            <a:r>
              <a:rPr lang="en-US" sz="2400" dirty="0" smtClean="0"/>
              <a:t> available then </a:t>
            </a:r>
            <a:r>
              <a:rPr lang="en-US" sz="2400" u="sng" dirty="0" smtClean="0"/>
              <a:t>screenshots</a:t>
            </a:r>
            <a:r>
              <a:rPr lang="en-US" sz="2400" dirty="0" smtClean="0"/>
              <a:t> or </a:t>
            </a:r>
            <a:r>
              <a:rPr lang="en-US" sz="2400" u="sng" dirty="0" smtClean="0"/>
              <a:t>captured videos</a:t>
            </a:r>
            <a:r>
              <a:rPr lang="en-US" sz="2400" dirty="0" smtClean="0"/>
              <a:t> or </a:t>
            </a:r>
            <a:r>
              <a:rPr lang="en-US" sz="2400" u="sng" dirty="0" smtClean="0"/>
              <a:t>account to review</a:t>
            </a:r>
            <a:r>
              <a:rPr lang="en-US" sz="2400" dirty="0" smtClean="0"/>
              <a:t> the systems may help.</a:t>
            </a:r>
          </a:p>
          <a:p>
            <a:r>
              <a:rPr lang="en-US" sz="2400" i="1" dirty="0" smtClean="0">
                <a:solidFill>
                  <a:srgbClr val="C00000"/>
                </a:solidFill>
              </a:rPr>
              <a:t>Installation guide</a:t>
            </a:r>
            <a:r>
              <a:rPr lang="en-US" sz="2400" dirty="0" smtClean="0"/>
              <a:t> (or design specification) of each software product if available. If the installation guides (or design specifications) are </a:t>
            </a:r>
            <a:r>
              <a:rPr lang="en-US" sz="2400" b="1" dirty="0" smtClean="0"/>
              <a:t>not</a:t>
            </a:r>
            <a:r>
              <a:rPr lang="en-US" sz="2400" dirty="0" smtClean="0"/>
              <a:t> available then any </a:t>
            </a:r>
            <a:r>
              <a:rPr lang="en-US" sz="2400" u="sng" dirty="0" smtClean="0"/>
              <a:t>deployment schema</a:t>
            </a:r>
            <a:r>
              <a:rPr lang="en-US" sz="2400" dirty="0" smtClean="0"/>
              <a:t> or notes of </a:t>
            </a:r>
            <a:r>
              <a:rPr lang="en-US" sz="2400" u="sng" dirty="0" smtClean="0"/>
              <a:t>physical servers' purpose</a:t>
            </a:r>
            <a:r>
              <a:rPr lang="en-US" sz="2400" dirty="0" smtClean="0"/>
              <a:t> may help.</a:t>
            </a:r>
          </a:p>
        </p:txBody>
      </p:sp>
      <p:pic>
        <p:nvPicPr>
          <p:cNvPr id="4" name="Picture 6" descr="http://www.cj-computers.com/wp-content/uploads/2013/10/Software.png"/>
          <p:cNvPicPr>
            <a:picLocks noChangeAspect="1" noChangeArrowheads="1"/>
          </p:cNvPicPr>
          <p:nvPr/>
        </p:nvPicPr>
        <p:blipFill>
          <a:blip r:embed="rId2" cstate="print"/>
          <a:srcRect/>
          <a:stretch>
            <a:fillRect/>
          </a:stretch>
        </p:blipFill>
        <p:spPr bwMode="auto">
          <a:xfrm>
            <a:off x="6896100" y="1828800"/>
            <a:ext cx="1714500" cy="1714500"/>
          </a:xfrm>
          <a:prstGeom prst="rect">
            <a:avLst/>
          </a:prstGeom>
          <a:noFill/>
        </p:spPr>
      </p:pic>
      <p:pic>
        <p:nvPicPr>
          <p:cNvPr id="5" name="Picture 4" descr="http://www.youngcopy.com/wp-content/themes/youngcopy/_files/promo_2.png"/>
          <p:cNvPicPr>
            <a:picLocks noChangeAspect="1" noChangeArrowheads="1"/>
          </p:cNvPicPr>
          <p:nvPr/>
        </p:nvPicPr>
        <p:blipFill>
          <a:blip r:embed="rId3" cstate="print"/>
          <a:srcRect/>
          <a:stretch>
            <a:fillRect/>
          </a:stretch>
        </p:blipFill>
        <p:spPr bwMode="auto">
          <a:xfrm>
            <a:off x="7139940" y="4038600"/>
            <a:ext cx="1394460" cy="145732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Clarify Terminologies</a:t>
            </a:r>
            <a:endParaRPr lang="en-US" dirty="0"/>
          </a:p>
        </p:txBody>
      </p:sp>
      <p:sp>
        <p:nvSpPr>
          <p:cNvPr id="3" name="Content Placeholder 2"/>
          <p:cNvSpPr>
            <a:spLocks noGrp="1"/>
          </p:cNvSpPr>
          <p:nvPr>
            <p:ph idx="1"/>
          </p:nvPr>
        </p:nvSpPr>
        <p:spPr/>
        <p:txBody>
          <a:bodyPr/>
          <a:lstStyle/>
          <a:p>
            <a:r>
              <a:rPr lang="en-US" sz="2400" dirty="0" smtClean="0"/>
              <a:t>Talk with experts, read user guide.</a:t>
            </a:r>
          </a:p>
          <a:p>
            <a:r>
              <a:rPr lang="en-US" sz="2400" dirty="0" smtClean="0"/>
              <a:t>Build a </a:t>
            </a:r>
            <a:r>
              <a:rPr lang="en-US" sz="2400" i="1" dirty="0" smtClean="0">
                <a:solidFill>
                  <a:srgbClr val="C00000"/>
                </a:solidFill>
              </a:rPr>
              <a:t>glossary</a:t>
            </a:r>
            <a:r>
              <a:rPr lang="en-US" sz="2400" dirty="0" smtClean="0"/>
              <a:t> and </a:t>
            </a:r>
            <a:r>
              <a:rPr lang="en-US" sz="2400" i="1" dirty="0" smtClean="0">
                <a:solidFill>
                  <a:srgbClr val="C00000"/>
                </a:solidFill>
              </a:rPr>
              <a:t>reference sources</a:t>
            </a:r>
            <a:r>
              <a:rPr lang="en-US" sz="2400" dirty="0" smtClean="0"/>
              <a:t>.</a:t>
            </a:r>
            <a:endParaRPr lang="en-US" sz="2400" dirty="0"/>
          </a:p>
        </p:txBody>
      </p:sp>
      <p:pic>
        <p:nvPicPr>
          <p:cNvPr id="4" name="Picture 2" descr="http://fivelinesmedia.com/wp-content/uploads/2013/02/socialmedia.png"/>
          <p:cNvPicPr>
            <a:picLocks noChangeAspect="1" noChangeArrowheads="1"/>
          </p:cNvPicPr>
          <p:nvPr/>
        </p:nvPicPr>
        <p:blipFill>
          <a:blip r:embed="rId2" cstate="print"/>
          <a:srcRect/>
          <a:stretch>
            <a:fillRect/>
          </a:stretch>
        </p:blipFill>
        <p:spPr bwMode="auto">
          <a:xfrm>
            <a:off x="762000" y="2971800"/>
            <a:ext cx="4826000" cy="2216150"/>
          </a:xfrm>
          <a:prstGeom prst="rect">
            <a:avLst/>
          </a:prstGeom>
          <a:noFill/>
        </p:spPr>
      </p:pic>
      <p:pic>
        <p:nvPicPr>
          <p:cNvPr id="5" name="Picture 4" descr="https://eliteseomarketing.files.wordpress.com/2009/09/terminology.jpg?w=300&amp;h=225"/>
          <p:cNvPicPr>
            <a:picLocks noChangeAspect="1" noChangeArrowheads="1"/>
          </p:cNvPicPr>
          <p:nvPr/>
        </p:nvPicPr>
        <p:blipFill>
          <a:blip r:embed="rId3" cstate="print"/>
          <a:srcRect/>
          <a:stretch>
            <a:fillRect/>
          </a:stretch>
        </p:blipFill>
        <p:spPr bwMode="auto">
          <a:xfrm>
            <a:off x="5715000" y="2971800"/>
            <a:ext cx="2857500" cy="25527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Who Uses the System?</a:t>
            </a:r>
            <a:endParaRPr lang="en-US" dirty="0"/>
          </a:p>
        </p:txBody>
      </p:sp>
      <p:sp>
        <p:nvSpPr>
          <p:cNvPr id="3" name="Content Placeholder 2"/>
          <p:cNvSpPr>
            <a:spLocks noGrp="1"/>
          </p:cNvSpPr>
          <p:nvPr>
            <p:ph idx="1"/>
          </p:nvPr>
        </p:nvSpPr>
        <p:spPr/>
        <p:txBody>
          <a:bodyPr/>
          <a:lstStyle/>
          <a:p>
            <a:r>
              <a:rPr lang="en-US" sz="2600" dirty="0" smtClean="0"/>
              <a:t>Roles</a:t>
            </a:r>
          </a:p>
          <a:p>
            <a:pPr lvl="1"/>
            <a:r>
              <a:rPr lang="en-US" sz="2200" dirty="0" smtClean="0"/>
              <a:t>Admin</a:t>
            </a:r>
          </a:p>
          <a:p>
            <a:pPr lvl="1"/>
            <a:r>
              <a:rPr lang="en-US" sz="2200" dirty="0" smtClean="0"/>
              <a:t>User</a:t>
            </a:r>
          </a:p>
          <a:p>
            <a:pPr lvl="1"/>
            <a:r>
              <a:rPr lang="en-US" sz="2200" dirty="0" smtClean="0"/>
              <a:t>Reviewer</a:t>
            </a:r>
          </a:p>
          <a:p>
            <a:pPr lvl="1"/>
            <a:endParaRPr lang="en-US" sz="2200" dirty="0" smtClean="0"/>
          </a:p>
        </p:txBody>
      </p:sp>
      <p:pic>
        <p:nvPicPr>
          <p:cNvPr id="2050" name="Picture 2" descr="https://www.wpexplorer.com/wp-content/uploads/guide-to-wordpress-user-roles.png"/>
          <p:cNvPicPr>
            <a:picLocks noChangeAspect="1" noChangeArrowheads="1"/>
          </p:cNvPicPr>
          <p:nvPr/>
        </p:nvPicPr>
        <p:blipFill>
          <a:blip r:embed="rId2" cstate="print"/>
          <a:srcRect/>
          <a:stretch>
            <a:fillRect/>
          </a:stretch>
        </p:blipFill>
        <p:spPr bwMode="auto">
          <a:xfrm>
            <a:off x="3505200" y="2514600"/>
            <a:ext cx="4763423" cy="238171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What Exists in the System?</a:t>
            </a:r>
            <a:endParaRPr lang="en-US" dirty="0"/>
          </a:p>
        </p:txBody>
      </p:sp>
      <p:sp>
        <p:nvSpPr>
          <p:cNvPr id="3" name="Content Placeholder 2"/>
          <p:cNvSpPr>
            <a:spLocks noGrp="1"/>
          </p:cNvSpPr>
          <p:nvPr>
            <p:ph idx="1"/>
          </p:nvPr>
        </p:nvSpPr>
        <p:spPr/>
        <p:txBody>
          <a:bodyPr/>
          <a:lstStyle/>
          <a:p>
            <a:r>
              <a:rPr lang="en-US" sz="2400" dirty="0" smtClean="0"/>
              <a:t>Begin with a </a:t>
            </a:r>
            <a:r>
              <a:rPr lang="en-US" sz="2400" i="1" dirty="0" smtClean="0">
                <a:solidFill>
                  <a:srgbClr val="C00000"/>
                </a:solidFill>
              </a:rPr>
              <a:t>user guide</a:t>
            </a:r>
            <a:r>
              <a:rPr lang="en-US" sz="2400" dirty="0" smtClean="0"/>
              <a:t> or an </a:t>
            </a:r>
            <a:r>
              <a:rPr lang="en-US" sz="2400" i="1" dirty="0" smtClean="0">
                <a:solidFill>
                  <a:srgbClr val="C00000"/>
                </a:solidFill>
              </a:rPr>
              <a:t>existing system</a:t>
            </a:r>
            <a:r>
              <a:rPr lang="en-US" sz="2400" dirty="0" smtClean="0"/>
              <a:t> or a </a:t>
            </a:r>
            <a:r>
              <a:rPr lang="en-US" sz="2400" dirty="0" smtClean="0">
                <a:solidFill>
                  <a:srgbClr val="C00000"/>
                </a:solidFill>
              </a:rPr>
              <a:t>similar system</a:t>
            </a:r>
            <a:r>
              <a:rPr lang="en-US" sz="2400" dirty="0" smtClean="0"/>
              <a:t> if they are available.</a:t>
            </a:r>
          </a:p>
          <a:p>
            <a:r>
              <a:rPr lang="en-US" sz="2400" dirty="0" smtClean="0"/>
              <a:t>Walk through the existing </a:t>
            </a:r>
            <a:r>
              <a:rPr lang="en-US" sz="2400" i="1" dirty="0" smtClean="0">
                <a:solidFill>
                  <a:srgbClr val="C00000"/>
                </a:solidFill>
              </a:rPr>
              <a:t>user interfaces</a:t>
            </a:r>
            <a:r>
              <a:rPr lang="en-US" sz="2400" dirty="0" smtClean="0"/>
              <a:t> to determine </a:t>
            </a:r>
            <a:r>
              <a:rPr lang="en-US" sz="2400" u="sng" dirty="0" smtClean="0"/>
              <a:t>related roles</a:t>
            </a:r>
            <a:r>
              <a:rPr lang="en-US" sz="2400" dirty="0" smtClean="0"/>
              <a:t> and </a:t>
            </a:r>
            <a:r>
              <a:rPr lang="en-US" sz="2400" u="sng" dirty="0" smtClean="0"/>
              <a:t>use cases</a:t>
            </a:r>
            <a:r>
              <a:rPr lang="en-US" sz="2400" dirty="0" smtClean="0"/>
              <a:t>.</a:t>
            </a:r>
          </a:p>
          <a:p>
            <a:pPr>
              <a:buNone/>
            </a:pPr>
            <a:r>
              <a:rPr lang="en-US" sz="2400" dirty="0" smtClean="0">
                <a:sym typeface="Wingdings" pitchFamily="2" charset="2"/>
              </a:rPr>
              <a:t>	 Optionally create </a:t>
            </a:r>
            <a:r>
              <a:rPr lang="en-US" sz="2400" i="1" dirty="0" smtClean="0">
                <a:solidFill>
                  <a:srgbClr val="C00000"/>
                </a:solidFill>
              </a:rPr>
              <a:t>domain models</a:t>
            </a:r>
            <a:r>
              <a:rPr lang="en-US" sz="2400" dirty="0" smtClean="0"/>
              <a:t>.</a:t>
            </a:r>
          </a:p>
        </p:txBody>
      </p:sp>
      <p:pic>
        <p:nvPicPr>
          <p:cNvPr id="4" name="Picture 2" descr="http://www.mindfield.co/images/Business-Process-Management.jpg"/>
          <p:cNvPicPr>
            <a:picLocks noChangeAspect="1" noChangeArrowheads="1"/>
          </p:cNvPicPr>
          <p:nvPr/>
        </p:nvPicPr>
        <p:blipFill>
          <a:blip r:embed="rId2" cstate="print"/>
          <a:srcRect/>
          <a:stretch>
            <a:fillRect/>
          </a:stretch>
        </p:blipFill>
        <p:spPr bwMode="auto">
          <a:xfrm>
            <a:off x="3124200" y="4076699"/>
            <a:ext cx="2400300" cy="179070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000" dirty="0" smtClean="0"/>
              <a:t>5. Collect Business Problems or Needs</a:t>
            </a:r>
            <a:endParaRPr lang="en-US" sz="4000" dirty="0"/>
          </a:p>
        </p:txBody>
      </p:sp>
      <p:sp>
        <p:nvSpPr>
          <p:cNvPr id="3" name="Content Placeholder 2"/>
          <p:cNvSpPr>
            <a:spLocks noGrp="1"/>
          </p:cNvSpPr>
          <p:nvPr>
            <p:ph idx="1"/>
          </p:nvPr>
        </p:nvSpPr>
        <p:spPr/>
        <p:txBody>
          <a:bodyPr/>
          <a:lstStyle/>
          <a:p>
            <a:pPr lvl="0"/>
            <a:r>
              <a:rPr lang="en-US" sz="2600" dirty="0" smtClean="0"/>
              <a:t>List of current </a:t>
            </a:r>
            <a:r>
              <a:rPr lang="en-US" sz="2600" i="1" dirty="0" smtClean="0">
                <a:solidFill>
                  <a:srgbClr val="C00000"/>
                </a:solidFill>
              </a:rPr>
              <a:t>business problems or needs</a:t>
            </a:r>
            <a:r>
              <a:rPr lang="en-US" sz="2600" dirty="0" smtClean="0"/>
              <a:t> (a list or notes or diagrams).</a:t>
            </a:r>
          </a:p>
          <a:p>
            <a:pPr lvl="0"/>
            <a:r>
              <a:rPr lang="en-US" sz="2600" dirty="0" smtClean="0"/>
              <a:t>It is fine that you </a:t>
            </a:r>
            <a:r>
              <a:rPr lang="en-US" sz="2600" i="1" dirty="0" smtClean="0">
                <a:solidFill>
                  <a:srgbClr val="C00000"/>
                </a:solidFill>
              </a:rPr>
              <a:t>may not understand</a:t>
            </a:r>
            <a:r>
              <a:rPr lang="en-US" sz="2600" dirty="0" smtClean="0"/>
              <a:t> the needs at all.</a:t>
            </a:r>
          </a:p>
        </p:txBody>
      </p:sp>
      <p:pic>
        <p:nvPicPr>
          <p:cNvPr id="4" name="Picture 2" descr="https://www.mrcci.com.au/wp-content/uploads/2015/05/issues.jpg"/>
          <p:cNvPicPr>
            <a:picLocks noChangeAspect="1" noChangeArrowheads="1"/>
          </p:cNvPicPr>
          <p:nvPr/>
        </p:nvPicPr>
        <p:blipFill>
          <a:blip r:embed="rId2" cstate="print"/>
          <a:srcRect/>
          <a:stretch>
            <a:fillRect/>
          </a:stretch>
        </p:blipFill>
        <p:spPr bwMode="auto">
          <a:xfrm>
            <a:off x="3962400" y="3810000"/>
            <a:ext cx="2971800" cy="1649730"/>
          </a:xfrm>
          <a:prstGeom prst="rect">
            <a:avLst/>
          </a:prstGeom>
          <a:noFill/>
        </p:spPr>
      </p:pic>
      <p:pic>
        <p:nvPicPr>
          <p:cNvPr id="5" name="Picture 4" descr="http://cng.dmcbeam.org/site-resources/requirements-icon.jpg"/>
          <p:cNvPicPr>
            <a:picLocks noChangeAspect="1" noChangeArrowheads="1"/>
          </p:cNvPicPr>
          <p:nvPr/>
        </p:nvPicPr>
        <p:blipFill>
          <a:blip r:embed="rId3" cstate="print"/>
          <a:srcRect/>
          <a:stretch>
            <a:fillRect/>
          </a:stretch>
        </p:blipFill>
        <p:spPr bwMode="auto">
          <a:xfrm>
            <a:off x="1828800" y="3733800"/>
            <a:ext cx="1587500" cy="20320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Distill Navigation Flow and UIs</a:t>
            </a:r>
            <a:endParaRPr lang="en-US" dirty="0"/>
          </a:p>
        </p:txBody>
      </p:sp>
      <p:sp>
        <p:nvSpPr>
          <p:cNvPr id="3" name="Content Placeholder 2"/>
          <p:cNvSpPr>
            <a:spLocks noGrp="1"/>
          </p:cNvSpPr>
          <p:nvPr>
            <p:ph idx="1"/>
          </p:nvPr>
        </p:nvSpPr>
        <p:spPr/>
        <p:txBody>
          <a:bodyPr/>
          <a:lstStyle/>
          <a:p>
            <a:r>
              <a:rPr lang="en-US" sz="2400" dirty="0" smtClean="0"/>
              <a:t>Begin with a draft business needs </a:t>
            </a:r>
            <a:r>
              <a:rPr lang="en-US" sz="2400" dirty="0" smtClean="0">
                <a:sym typeface="Wingdings" pitchFamily="2" charset="2"/>
              </a:rPr>
              <a:t></a:t>
            </a:r>
            <a:r>
              <a:rPr lang="en-US" sz="2400" dirty="0" smtClean="0"/>
              <a:t> Try to find out the </a:t>
            </a:r>
            <a:r>
              <a:rPr lang="en-US" sz="2400" u="sng" dirty="0" smtClean="0"/>
              <a:t>exact screens</a:t>
            </a:r>
            <a:r>
              <a:rPr lang="en-US" sz="2400" dirty="0" smtClean="0"/>
              <a:t> in the existing system related to customer's </a:t>
            </a:r>
            <a:r>
              <a:rPr lang="en-US" sz="2400" i="1" dirty="0" smtClean="0">
                <a:solidFill>
                  <a:srgbClr val="C00000"/>
                </a:solidFill>
              </a:rPr>
              <a:t>problems</a:t>
            </a:r>
            <a:r>
              <a:rPr lang="en-US" sz="2400" dirty="0" smtClean="0"/>
              <a:t> or </a:t>
            </a:r>
            <a:r>
              <a:rPr lang="en-US" sz="2400" i="1" dirty="0" smtClean="0">
                <a:solidFill>
                  <a:srgbClr val="C00000"/>
                </a:solidFill>
              </a:rPr>
              <a:t>needs</a:t>
            </a:r>
            <a:r>
              <a:rPr lang="en-US" sz="2400" dirty="0" smtClean="0"/>
              <a:t>.</a:t>
            </a:r>
          </a:p>
          <a:p>
            <a:r>
              <a:rPr lang="en-US" sz="2400" b="1" dirty="0" smtClean="0">
                <a:solidFill>
                  <a:srgbClr val="C00000"/>
                </a:solidFill>
              </a:rPr>
              <a:t>If you cannot understand the problems or the needs, try to clarify </a:t>
            </a:r>
            <a:r>
              <a:rPr lang="en-US" sz="2400" b="1" u="sng" dirty="0" smtClean="0">
                <a:solidFill>
                  <a:srgbClr val="C00000"/>
                </a:solidFill>
              </a:rPr>
              <a:t>terminologies</a:t>
            </a:r>
            <a:r>
              <a:rPr lang="en-US" sz="2400" b="1" dirty="0" smtClean="0">
                <a:solidFill>
                  <a:srgbClr val="C00000"/>
                </a:solidFill>
              </a:rPr>
              <a:t> first.</a:t>
            </a:r>
          </a:p>
          <a:p>
            <a:r>
              <a:rPr lang="en-US" sz="2400" dirty="0" smtClean="0"/>
              <a:t>There is </a:t>
            </a:r>
            <a:r>
              <a:rPr lang="en-US" sz="2400" i="1" dirty="0" smtClean="0">
                <a:solidFill>
                  <a:srgbClr val="C00000"/>
                </a:solidFill>
              </a:rPr>
              <a:t>NO NEED</a:t>
            </a:r>
            <a:r>
              <a:rPr lang="en-US" sz="2400" dirty="0" smtClean="0"/>
              <a:t> to understand the </a:t>
            </a:r>
            <a:r>
              <a:rPr lang="en-US" sz="2400" u="sng" dirty="0" smtClean="0"/>
              <a:t>technical problems</a:t>
            </a:r>
            <a:r>
              <a:rPr lang="en-US" sz="2400" dirty="0" smtClean="0"/>
              <a:t> when identifying the screens.</a:t>
            </a:r>
            <a:endParaRPr lang="en-US" sz="2400" dirty="0"/>
          </a:p>
        </p:txBody>
      </p:sp>
      <p:pic>
        <p:nvPicPr>
          <p:cNvPr id="4" name="Picture 8"/>
          <p:cNvPicPr>
            <a:picLocks noChangeAspect="1" noChangeArrowheads="1"/>
          </p:cNvPicPr>
          <p:nvPr/>
        </p:nvPicPr>
        <p:blipFill>
          <a:blip r:embed="rId2" cstate="print"/>
          <a:srcRect/>
          <a:stretch>
            <a:fillRect/>
          </a:stretch>
        </p:blipFill>
        <p:spPr bwMode="auto">
          <a:xfrm>
            <a:off x="914400" y="4648200"/>
            <a:ext cx="1943100" cy="1466850"/>
          </a:xfrm>
          <a:prstGeom prst="rect">
            <a:avLst/>
          </a:prstGeom>
          <a:noFill/>
          <a:ln w="9525">
            <a:noFill/>
            <a:miter lim="800000"/>
            <a:headEnd/>
            <a:tailEnd/>
          </a:ln>
        </p:spPr>
      </p:pic>
      <p:sp>
        <p:nvSpPr>
          <p:cNvPr id="5" name="Rectangle 4"/>
          <p:cNvSpPr/>
          <p:nvPr/>
        </p:nvSpPr>
        <p:spPr>
          <a:xfrm>
            <a:off x="3429000" y="4648200"/>
            <a:ext cx="4953000" cy="147732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0"/>
            <a:r>
              <a:rPr lang="en-US" dirty="0" smtClean="0">
                <a:latin typeface="+mj-lt"/>
              </a:rPr>
              <a:t>How are key business processes </a:t>
            </a:r>
            <a:r>
              <a:rPr lang="en-US" i="1" dirty="0" smtClean="0">
                <a:solidFill>
                  <a:srgbClr val="C00000"/>
                </a:solidFill>
                <a:latin typeface="+mj-lt"/>
              </a:rPr>
              <a:t>affected</a:t>
            </a:r>
            <a:r>
              <a:rPr lang="en-US" dirty="0" smtClean="0">
                <a:latin typeface="+mj-lt"/>
              </a:rPr>
              <a:t> by </a:t>
            </a:r>
            <a:r>
              <a:rPr lang="en-US" u="sng" dirty="0" smtClean="0">
                <a:latin typeface="+mj-lt"/>
              </a:rPr>
              <a:t>the current solution</a:t>
            </a:r>
            <a:r>
              <a:rPr lang="en-US" dirty="0" smtClean="0">
                <a:latin typeface="+mj-lt"/>
              </a:rPr>
              <a:t> (records/fields not populated or populated incorrectly, screens take time to appear, saving data is too slowly, new business processes are not supported, etc.)?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Clarify Terminologies</a:t>
            </a:r>
            <a:endParaRPr lang="en-US" dirty="0"/>
          </a:p>
        </p:txBody>
      </p:sp>
      <p:sp>
        <p:nvSpPr>
          <p:cNvPr id="3" name="Content Placeholder 2"/>
          <p:cNvSpPr>
            <a:spLocks noGrp="1"/>
          </p:cNvSpPr>
          <p:nvPr>
            <p:ph idx="1"/>
          </p:nvPr>
        </p:nvSpPr>
        <p:spPr/>
        <p:txBody>
          <a:bodyPr/>
          <a:lstStyle/>
          <a:p>
            <a:r>
              <a:rPr lang="en-US" sz="2000" dirty="0" smtClean="0"/>
              <a:t>Ask for example values, files, tools for doing something related to unclear or ambiguous terms.</a:t>
            </a:r>
          </a:p>
          <a:p>
            <a:pPr lvl="0"/>
            <a:r>
              <a:rPr lang="en-US" sz="2000" i="1" dirty="0" smtClean="0"/>
              <a:t>"Create the ability to upload </a:t>
            </a:r>
            <a:r>
              <a:rPr lang="en-US" sz="2000" b="1" i="1" dirty="0" smtClean="0"/>
              <a:t>coordinated count data</a:t>
            </a:r>
            <a:r>
              <a:rPr lang="en-US" sz="2000" i="1" dirty="0" smtClean="0"/>
              <a:t> and have is stored in a </a:t>
            </a:r>
            <a:r>
              <a:rPr lang="en-US" sz="2000" b="1" i="1" dirty="0" smtClean="0"/>
              <a:t>temporary location</a:t>
            </a:r>
            <a:r>
              <a:rPr lang="en-US" sz="2000" i="1" dirty="0" smtClean="0"/>
              <a:t>, so it can </a:t>
            </a:r>
            <a:r>
              <a:rPr lang="en-US" sz="2000" b="1" i="1" dirty="0" smtClean="0"/>
              <a:t>be analyzed</a:t>
            </a:r>
            <a:r>
              <a:rPr lang="en-US" sz="2000" i="1" dirty="0" smtClean="0"/>
              <a:t> in R for an administrative and/or senior user to determine the validity of the data by observer, before finalizing the data for complete analysis. Additional information: The authorized user would be able to mark the valid observations and the invalid observations."</a:t>
            </a:r>
          </a:p>
          <a:p>
            <a:pPr lvl="0"/>
            <a:r>
              <a:rPr lang="en-US" sz="2000" dirty="0" smtClean="0"/>
              <a:t>Could you please provide</a:t>
            </a:r>
          </a:p>
          <a:p>
            <a:pPr lvl="1"/>
            <a:r>
              <a:rPr lang="en-US" sz="2000" dirty="0" smtClean="0"/>
              <a:t>an example “</a:t>
            </a:r>
            <a:r>
              <a:rPr lang="en-US" sz="2000" i="1" dirty="0" smtClean="0">
                <a:solidFill>
                  <a:srgbClr val="C00000"/>
                </a:solidFill>
              </a:rPr>
              <a:t>coordinated count data</a:t>
            </a:r>
            <a:r>
              <a:rPr lang="en-US" sz="2000" dirty="0" smtClean="0"/>
              <a:t>” file (.XLS), </a:t>
            </a:r>
          </a:p>
          <a:p>
            <a:pPr lvl="1"/>
            <a:r>
              <a:rPr lang="en-US" sz="2000" dirty="0" smtClean="0"/>
              <a:t>an example </a:t>
            </a:r>
            <a:r>
              <a:rPr lang="en-US" sz="2000" i="1" dirty="0" smtClean="0">
                <a:solidFill>
                  <a:srgbClr val="C00000"/>
                </a:solidFill>
              </a:rPr>
              <a:t>location path</a:t>
            </a:r>
            <a:r>
              <a:rPr lang="en-US" sz="2000" dirty="0" smtClean="0"/>
              <a:t> to which you wish to store the file (a SAN server?), </a:t>
            </a:r>
          </a:p>
          <a:p>
            <a:pPr lvl="1"/>
            <a:r>
              <a:rPr lang="en-US" sz="2000" dirty="0" smtClean="0"/>
              <a:t>and </a:t>
            </a:r>
            <a:r>
              <a:rPr lang="en-US" sz="2000" i="1" dirty="0" smtClean="0">
                <a:solidFill>
                  <a:srgbClr val="C00000"/>
                </a:solidFill>
              </a:rPr>
              <a:t>the way</a:t>
            </a:r>
            <a:r>
              <a:rPr lang="en-US" sz="2000" dirty="0" smtClean="0"/>
              <a:t> and/or </a:t>
            </a:r>
            <a:r>
              <a:rPr lang="en-US" sz="2000" i="1" dirty="0" smtClean="0">
                <a:solidFill>
                  <a:srgbClr val="C00000"/>
                </a:solidFill>
              </a:rPr>
              <a:t>the tool</a:t>
            </a:r>
            <a:r>
              <a:rPr lang="en-US" sz="2000" dirty="0" smtClean="0"/>
              <a:t> that you use to interact with the uploaded “coordinated count data” example file (hands-on demonstration)?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Identify Correct Problems</a:t>
            </a:r>
            <a:endParaRPr lang="en-US" dirty="0"/>
          </a:p>
        </p:txBody>
      </p:sp>
      <p:sp>
        <p:nvSpPr>
          <p:cNvPr id="3" name="Content Placeholder 2"/>
          <p:cNvSpPr>
            <a:spLocks noGrp="1"/>
          </p:cNvSpPr>
          <p:nvPr>
            <p:ph idx="1"/>
          </p:nvPr>
        </p:nvSpPr>
        <p:spPr/>
        <p:txBody>
          <a:bodyPr/>
          <a:lstStyle/>
          <a:p>
            <a:pPr lvl="0"/>
            <a:r>
              <a:rPr lang="en-US" sz="2200" dirty="0" smtClean="0"/>
              <a:t>Asking for </a:t>
            </a:r>
            <a:r>
              <a:rPr lang="en-US" sz="2200" i="1" dirty="0" smtClean="0">
                <a:solidFill>
                  <a:srgbClr val="C00000"/>
                </a:solidFill>
              </a:rPr>
              <a:t>demonstration</a:t>
            </a:r>
            <a:r>
              <a:rPr lang="en-US" sz="2200" dirty="0" smtClean="0"/>
              <a:t> of the issues or limitations of the current system, </a:t>
            </a:r>
            <a:r>
              <a:rPr lang="en-US" sz="2200" i="1" dirty="0" smtClean="0">
                <a:solidFill>
                  <a:srgbClr val="C00000"/>
                </a:solidFill>
              </a:rPr>
              <a:t>step-by-step illustrated examples</a:t>
            </a:r>
            <a:r>
              <a:rPr lang="en-US" sz="2200" dirty="0" smtClean="0"/>
              <a:t> with actual existing values.</a:t>
            </a:r>
          </a:p>
          <a:p>
            <a:pPr lvl="0"/>
            <a:r>
              <a:rPr lang="en-US" sz="2200" dirty="0" smtClean="0"/>
              <a:t>Drawing </a:t>
            </a:r>
            <a:r>
              <a:rPr lang="en-US" sz="2200" i="1" dirty="0" smtClean="0">
                <a:solidFill>
                  <a:srgbClr val="C00000"/>
                </a:solidFill>
              </a:rPr>
              <a:t>sketches</a:t>
            </a:r>
            <a:r>
              <a:rPr lang="en-US" sz="2200" dirty="0" smtClean="0"/>
              <a:t> for the guessed need using a pencil or a tool.</a:t>
            </a:r>
          </a:p>
          <a:p>
            <a:pPr lvl="1"/>
            <a:r>
              <a:rPr lang="en-US" sz="2000" u="sng" dirty="0" smtClean="0">
                <a:hlinkClick r:id="rId2"/>
              </a:rPr>
              <a:t>https://www.adobe.com/products/xd.html</a:t>
            </a:r>
            <a:endParaRPr lang="en-US" sz="2000" dirty="0" smtClean="0"/>
          </a:p>
          <a:p>
            <a:pPr lvl="1"/>
            <a:r>
              <a:rPr lang="en-US" sz="2000" u="sng" dirty="0" smtClean="0">
                <a:hlinkClick r:id="rId3"/>
              </a:rPr>
              <a:t>https://www.figma.com/</a:t>
            </a:r>
            <a:endParaRPr lang="en-US" sz="2000" dirty="0" smtClean="0"/>
          </a:p>
          <a:p>
            <a:pPr lvl="0"/>
            <a:endParaRPr lang="en-US" sz="2200" dirty="0" smtClean="0"/>
          </a:p>
        </p:txBody>
      </p:sp>
      <p:pic>
        <p:nvPicPr>
          <p:cNvPr id="1028" name="Picture 4" descr="https://www.incimages.com/uploaded_files/image/1920x1080/getty_179326260_153506.jpg"/>
          <p:cNvPicPr>
            <a:picLocks noChangeAspect="1" noChangeArrowheads="1"/>
          </p:cNvPicPr>
          <p:nvPr/>
        </p:nvPicPr>
        <p:blipFill>
          <a:blip r:embed="rId4" cstate="print"/>
          <a:srcRect/>
          <a:stretch>
            <a:fillRect/>
          </a:stretch>
        </p:blipFill>
        <p:spPr bwMode="auto">
          <a:xfrm>
            <a:off x="2819400" y="4038600"/>
            <a:ext cx="3657600" cy="20574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Identify Correct Needs</a:t>
            </a:r>
            <a:endParaRPr lang="en-US" dirty="0"/>
          </a:p>
        </p:txBody>
      </p:sp>
      <p:sp>
        <p:nvSpPr>
          <p:cNvPr id="3" name="Content Placeholder 2"/>
          <p:cNvSpPr>
            <a:spLocks noGrp="1"/>
          </p:cNvSpPr>
          <p:nvPr>
            <p:ph idx="1"/>
          </p:nvPr>
        </p:nvSpPr>
        <p:spPr/>
        <p:txBody>
          <a:bodyPr/>
          <a:lstStyle/>
          <a:p>
            <a:pPr lvl="0"/>
            <a:r>
              <a:rPr lang="en-US" sz="2200" dirty="0" smtClean="0"/>
              <a:t>Asking for </a:t>
            </a:r>
            <a:r>
              <a:rPr lang="en-US" sz="2200" i="1" dirty="0" smtClean="0">
                <a:solidFill>
                  <a:srgbClr val="C00000"/>
                </a:solidFill>
              </a:rPr>
              <a:t>user guide</a:t>
            </a:r>
            <a:r>
              <a:rPr lang="en-US" sz="2200" dirty="0" smtClean="0"/>
              <a:t>, video </a:t>
            </a:r>
            <a:r>
              <a:rPr lang="en-US" sz="2200" i="1" dirty="0" smtClean="0">
                <a:solidFill>
                  <a:srgbClr val="C00000"/>
                </a:solidFill>
              </a:rPr>
              <a:t>demonstration</a:t>
            </a:r>
            <a:r>
              <a:rPr lang="en-US" sz="2200" dirty="0" smtClean="0"/>
              <a:t> of a feature.</a:t>
            </a:r>
          </a:p>
          <a:p>
            <a:pPr lvl="0"/>
            <a:r>
              <a:rPr lang="en-US" sz="2200" dirty="0" smtClean="0"/>
              <a:t>Asking for </a:t>
            </a:r>
            <a:r>
              <a:rPr lang="en-US" sz="2200" i="1" dirty="0" smtClean="0">
                <a:solidFill>
                  <a:srgbClr val="C00000"/>
                </a:solidFill>
              </a:rPr>
              <a:t>3</a:t>
            </a:r>
            <a:r>
              <a:rPr lang="en-US" sz="2200" i="1" baseline="30000" dirty="0" smtClean="0">
                <a:solidFill>
                  <a:srgbClr val="C00000"/>
                </a:solidFill>
              </a:rPr>
              <a:t>rd</a:t>
            </a:r>
            <a:r>
              <a:rPr lang="en-US" sz="2200" i="1" dirty="0" smtClean="0">
                <a:solidFill>
                  <a:srgbClr val="C00000"/>
                </a:solidFill>
              </a:rPr>
              <a:t> party installation files</a:t>
            </a:r>
            <a:r>
              <a:rPr lang="en-US" sz="2200" dirty="0" smtClean="0"/>
              <a:t> and custom scripts if available.</a:t>
            </a:r>
          </a:p>
          <a:p>
            <a:pPr lvl="0"/>
            <a:r>
              <a:rPr lang="en-US" sz="2200" dirty="0" smtClean="0"/>
              <a:t>Asking for </a:t>
            </a:r>
            <a:r>
              <a:rPr lang="en-US" sz="2200" i="1" dirty="0" smtClean="0">
                <a:solidFill>
                  <a:srgbClr val="C00000"/>
                </a:solidFill>
              </a:rPr>
              <a:t>example input data</a:t>
            </a:r>
            <a:r>
              <a:rPr lang="en-US" sz="2200" dirty="0" smtClean="0"/>
              <a:t> and </a:t>
            </a:r>
            <a:r>
              <a:rPr lang="en-US" sz="2200" i="1" dirty="0" smtClean="0">
                <a:solidFill>
                  <a:srgbClr val="C00000"/>
                </a:solidFill>
              </a:rPr>
              <a:t>output reports</a:t>
            </a:r>
            <a:r>
              <a:rPr lang="en-US" sz="2200" dirty="0" smtClean="0"/>
              <a:t>.</a:t>
            </a:r>
          </a:p>
        </p:txBody>
      </p:sp>
      <p:pic>
        <p:nvPicPr>
          <p:cNvPr id="1028" name="Picture 4" descr="https://www.incimages.com/uploaded_files/image/1920x1080/getty_179326260_153506.jpg"/>
          <p:cNvPicPr>
            <a:picLocks noChangeAspect="1" noChangeArrowheads="1"/>
          </p:cNvPicPr>
          <p:nvPr/>
        </p:nvPicPr>
        <p:blipFill>
          <a:blip r:embed="rId2" cstate="print"/>
          <a:srcRect/>
          <a:stretch>
            <a:fillRect/>
          </a:stretch>
        </p:blipFill>
        <p:spPr bwMode="auto">
          <a:xfrm>
            <a:off x="2819400" y="3581400"/>
            <a:ext cx="3657600" cy="20574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10. Document Business Needs</a:t>
            </a:r>
            <a:endParaRPr lang="en-US" dirty="0"/>
          </a:p>
        </p:txBody>
      </p:sp>
      <p:sp>
        <p:nvSpPr>
          <p:cNvPr id="3" name="Content Placeholder 2"/>
          <p:cNvSpPr>
            <a:spLocks noGrp="1"/>
          </p:cNvSpPr>
          <p:nvPr>
            <p:ph idx="1"/>
          </p:nvPr>
        </p:nvSpPr>
        <p:spPr>
          <a:xfrm>
            <a:off x="457200" y="1600200"/>
            <a:ext cx="5410200" cy="4525963"/>
          </a:xfrm>
        </p:spPr>
        <p:txBody>
          <a:bodyPr/>
          <a:lstStyle/>
          <a:p>
            <a:r>
              <a:rPr lang="en-US" sz="2400" dirty="0" smtClean="0"/>
              <a:t>Create use cases</a:t>
            </a:r>
          </a:p>
          <a:p>
            <a:pPr lvl="1"/>
            <a:r>
              <a:rPr lang="en-US" sz="2200" dirty="0" smtClean="0"/>
              <a:t>Steps</a:t>
            </a:r>
          </a:p>
          <a:p>
            <a:pPr lvl="1"/>
            <a:r>
              <a:rPr lang="en-US" sz="2200" i="1" dirty="0" smtClean="0">
                <a:solidFill>
                  <a:srgbClr val="C00000"/>
                </a:solidFill>
              </a:rPr>
              <a:t>UIs (mockups)</a:t>
            </a:r>
          </a:p>
          <a:p>
            <a:pPr lvl="1"/>
            <a:r>
              <a:rPr lang="en-US" sz="2200" dirty="0" smtClean="0"/>
              <a:t>Additional data inputs/outputs (files)</a:t>
            </a:r>
          </a:p>
          <a:p>
            <a:pPr lvl="1"/>
            <a:r>
              <a:rPr lang="en-US" sz="2200" dirty="0" smtClean="0"/>
              <a:t>Additional logic (text)</a:t>
            </a:r>
          </a:p>
          <a:p>
            <a:r>
              <a:rPr lang="en-US" sz="2400" dirty="0" smtClean="0"/>
              <a:t>There </a:t>
            </a:r>
            <a:r>
              <a:rPr lang="en-US" sz="2400" i="1" dirty="0" smtClean="0">
                <a:solidFill>
                  <a:srgbClr val="C00000"/>
                </a:solidFill>
              </a:rPr>
              <a:t>might be</a:t>
            </a:r>
            <a:r>
              <a:rPr lang="en-US" sz="2400" dirty="0" smtClean="0"/>
              <a:t> a need of review of the </a:t>
            </a:r>
            <a:r>
              <a:rPr lang="en-US" sz="2400" u="sng" dirty="0" smtClean="0"/>
              <a:t>existing source code and database</a:t>
            </a:r>
            <a:r>
              <a:rPr lang="en-US" sz="2400" dirty="0" smtClean="0"/>
              <a:t> to indentify </a:t>
            </a:r>
            <a:r>
              <a:rPr lang="en-US" sz="2400" u="sng" dirty="0" smtClean="0"/>
              <a:t>initial draft technical solutions</a:t>
            </a:r>
            <a:r>
              <a:rPr lang="en-US" sz="2400" dirty="0" smtClean="0"/>
              <a:t> when creating these use cases to ensure that they are feasible.</a:t>
            </a:r>
          </a:p>
        </p:txBody>
      </p:sp>
      <p:pic>
        <p:nvPicPr>
          <p:cNvPr id="7" name="Picture 5"/>
          <p:cNvPicPr>
            <a:picLocks noChangeAspect="1" noChangeArrowheads="1"/>
          </p:cNvPicPr>
          <p:nvPr/>
        </p:nvPicPr>
        <p:blipFill>
          <a:blip r:embed="rId2" cstate="print"/>
          <a:srcRect/>
          <a:stretch>
            <a:fillRect/>
          </a:stretch>
        </p:blipFill>
        <p:spPr bwMode="auto">
          <a:xfrm>
            <a:off x="6019800" y="2438400"/>
            <a:ext cx="2171700" cy="26193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11. Identify Affected Features</a:t>
            </a:r>
            <a:endParaRPr lang="en-US" dirty="0"/>
          </a:p>
        </p:txBody>
      </p:sp>
      <p:sp>
        <p:nvSpPr>
          <p:cNvPr id="3" name="Content Placeholder 2"/>
          <p:cNvSpPr>
            <a:spLocks noGrp="1"/>
          </p:cNvSpPr>
          <p:nvPr>
            <p:ph idx="1"/>
          </p:nvPr>
        </p:nvSpPr>
        <p:spPr/>
        <p:txBody>
          <a:bodyPr/>
          <a:lstStyle/>
          <a:p>
            <a:r>
              <a:rPr lang="en-US" sz="2400" dirty="0" smtClean="0"/>
              <a:t>Revise the use cases with </a:t>
            </a:r>
            <a:r>
              <a:rPr lang="en-US" sz="2400" i="1" dirty="0" smtClean="0">
                <a:solidFill>
                  <a:srgbClr val="C00000"/>
                </a:solidFill>
              </a:rPr>
              <a:t>additional</a:t>
            </a:r>
          </a:p>
          <a:p>
            <a:pPr lvl="1"/>
            <a:r>
              <a:rPr lang="en-US" sz="2200" dirty="0" smtClean="0"/>
              <a:t>Steps</a:t>
            </a:r>
          </a:p>
          <a:p>
            <a:pPr lvl="1"/>
            <a:r>
              <a:rPr lang="en-US" sz="2200" i="1" dirty="0" smtClean="0">
                <a:solidFill>
                  <a:srgbClr val="C00000"/>
                </a:solidFill>
              </a:rPr>
              <a:t>UIs (mockups)</a:t>
            </a:r>
          </a:p>
          <a:p>
            <a:pPr lvl="1"/>
            <a:r>
              <a:rPr lang="en-US" sz="2200" dirty="0" smtClean="0"/>
              <a:t>Data inputs/outputs (files)</a:t>
            </a:r>
          </a:p>
          <a:p>
            <a:pPr lvl="1"/>
            <a:r>
              <a:rPr lang="en-US" sz="2200" dirty="0" smtClean="0"/>
              <a:t>Logic (text)</a:t>
            </a:r>
          </a:p>
          <a:p>
            <a:r>
              <a:rPr lang="en-US" sz="2400" dirty="0" smtClean="0"/>
              <a:t>There </a:t>
            </a:r>
            <a:r>
              <a:rPr lang="en-US" sz="2400" i="1" dirty="0" smtClean="0">
                <a:solidFill>
                  <a:srgbClr val="C00000"/>
                </a:solidFill>
              </a:rPr>
              <a:t>might be</a:t>
            </a:r>
            <a:r>
              <a:rPr lang="en-US" sz="2400" dirty="0" smtClean="0"/>
              <a:t> a need of review of the </a:t>
            </a:r>
            <a:r>
              <a:rPr lang="en-US" sz="2400" u="sng" dirty="0" smtClean="0"/>
              <a:t>existing source code and database</a:t>
            </a:r>
            <a:r>
              <a:rPr lang="en-US" sz="2400" dirty="0" smtClean="0"/>
              <a:t> to indentify </a:t>
            </a:r>
            <a:r>
              <a:rPr lang="en-US" sz="2400" u="sng" dirty="0" smtClean="0"/>
              <a:t>initial draft technical solutions</a:t>
            </a:r>
            <a:r>
              <a:rPr lang="en-US" sz="2400" dirty="0" smtClean="0"/>
              <a:t> when identifying the affected features.</a:t>
            </a:r>
          </a:p>
        </p:txBody>
      </p:sp>
      <p:pic>
        <p:nvPicPr>
          <p:cNvPr id="40962" name="Picture 2"/>
          <p:cNvPicPr>
            <a:picLocks noChangeAspect="1" noChangeArrowheads="1"/>
          </p:cNvPicPr>
          <p:nvPr/>
        </p:nvPicPr>
        <p:blipFill>
          <a:blip r:embed="rId2" cstate="print"/>
          <a:srcRect/>
          <a:stretch>
            <a:fillRect/>
          </a:stretch>
        </p:blipFill>
        <p:spPr bwMode="auto">
          <a:xfrm>
            <a:off x="5845394" y="1676400"/>
            <a:ext cx="2384206" cy="170585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12. Identify Affected Roles</a:t>
            </a:r>
            <a:endParaRPr lang="en-US" dirty="0"/>
          </a:p>
        </p:txBody>
      </p:sp>
      <p:sp>
        <p:nvSpPr>
          <p:cNvPr id="3" name="Content Placeholder 2"/>
          <p:cNvSpPr>
            <a:spLocks noGrp="1"/>
          </p:cNvSpPr>
          <p:nvPr>
            <p:ph idx="1"/>
          </p:nvPr>
        </p:nvSpPr>
        <p:spPr/>
        <p:txBody>
          <a:bodyPr/>
          <a:lstStyle/>
          <a:p>
            <a:r>
              <a:rPr lang="en-US" sz="2400" dirty="0" smtClean="0"/>
              <a:t>Revise the use cases with </a:t>
            </a:r>
            <a:r>
              <a:rPr lang="en-US" sz="2400" i="1" dirty="0" smtClean="0">
                <a:solidFill>
                  <a:srgbClr val="C00000"/>
                </a:solidFill>
              </a:rPr>
              <a:t>additional </a:t>
            </a:r>
            <a:r>
              <a:rPr lang="en-US" sz="2400" dirty="0" smtClean="0"/>
              <a:t>or </a:t>
            </a:r>
            <a:r>
              <a:rPr lang="en-US" sz="2400" i="1" dirty="0" smtClean="0">
                <a:solidFill>
                  <a:srgbClr val="C00000"/>
                </a:solidFill>
              </a:rPr>
              <a:t>new</a:t>
            </a:r>
            <a:r>
              <a:rPr lang="en-US" sz="2400" dirty="0" smtClean="0"/>
              <a:t> business rules for all related roles.</a:t>
            </a:r>
            <a:endParaRPr lang="en-US" sz="2400" dirty="0"/>
          </a:p>
        </p:txBody>
      </p:sp>
      <p:pic>
        <p:nvPicPr>
          <p:cNvPr id="41986" name="Picture 2" descr="https://encrypted-tbn0.gstatic.com/images?q=tbn:ANd9GcR1uN4WNp6tB-spEaujRLPKo7QUjY2Iv9w3D5ZPIWVUntfcfx4wohZXJi1BQqxC0sBGQDU&amp;usqp=CAU"/>
          <p:cNvPicPr>
            <a:picLocks noChangeAspect="1" noChangeArrowheads="1"/>
          </p:cNvPicPr>
          <p:nvPr/>
        </p:nvPicPr>
        <p:blipFill>
          <a:blip r:embed="rId2" cstate="print"/>
          <a:srcRect/>
          <a:stretch>
            <a:fillRect/>
          </a:stretch>
        </p:blipFill>
        <p:spPr bwMode="auto">
          <a:xfrm>
            <a:off x="3581400" y="3124200"/>
            <a:ext cx="2171700" cy="2105026"/>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 Collect Existing Technical Artifacts</a:t>
            </a:r>
            <a:endParaRPr lang="en-US" sz="4200" dirty="0"/>
          </a:p>
        </p:txBody>
      </p:sp>
      <p:sp>
        <p:nvSpPr>
          <p:cNvPr id="3" name="Content Placeholder 2"/>
          <p:cNvSpPr>
            <a:spLocks noGrp="1"/>
          </p:cNvSpPr>
          <p:nvPr>
            <p:ph idx="1"/>
          </p:nvPr>
        </p:nvSpPr>
        <p:spPr/>
        <p:txBody>
          <a:bodyPr/>
          <a:lstStyle/>
          <a:p>
            <a:pPr lvl="0"/>
            <a:r>
              <a:rPr lang="en-US" sz="2400" dirty="0" smtClean="0"/>
              <a:t>Current </a:t>
            </a:r>
            <a:r>
              <a:rPr lang="en-US" sz="2400" i="1" dirty="0" smtClean="0">
                <a:solidFill>
                  <a:srgbClr val="C00000"/>
                </a:solidFill>
              </a:rPr>
              <a:t>database</a:t>
            </a:r>
            <a:r>
              <a:rPr lang="en-US" sz="2400" dirty="0" smtClean="0"/>
              <a:t> or </a:t>
            </a:r>
            <a:r>
              <a:rPr lang="en-US" sz="2400" i="1" dirty="0" smtClean="0">
                <a:solidFill>
                  <a:srgbClr val="C00000"/>
                </a:solidFill>
              </a:rPr>
              <a:t>data schemas</a:t>
            </a:r>
            <a:r>
              <a:rPr lang="en-US" sz="2400" dirty="0" smtClean="0"/>
              <a:t>.</a:t>
            </a:r>
          </a:p>
          <a:p>
            <a:pPr lvl="0"/>
            <a:r>
              <a:rPr lang="en-US" sz="2400" dirty="0" smtClean="0"/>
              <a:t>Current </a:t>
            </a:r>
            <a:r>
              <a:rPr lang="en-US" sz="2400" i="1" dirty="0" smtClean="0">
                <a:solidFill>
                  <a:srgbClr val="C00000"/>
                </a:solidFill>
              </a:rPr>
              <a:t>software products</a:t>
            </a:r>
            <a:r>
              <a:rPr lang="en-US" sz="2400" dirty="0" smtClean="0"/>
              <a:t> and </a:t>
            </a:r>
            <a:r>
              <a:rPr lang="en-US" sz="2400" u="sng" dirty="0" smtClean="0"/>
              <a:t>source code</a:t>
            </a:r>
            <a:r>
              <a:rPr lang="en-US" sz="2400" dirty="0" smtClean="0"/>
              <a:t> if possible.</a:t>
            </a:r>
          </a:p>
          <a:p>
            <a:pPr lvl="0"/>
            <a:endParaRPr lang="en-US" sz="2400" dirty="0" smtClean="0"/>
          </a:p>
        </p:txBody>
      </p:sp>
      <p:pic>
        <p:nvPicPr>
          <p:cNvPr id="4" name="Picture 2" descr="https://www.tysmagazine.com/wp-content/uploads/source-code-583537_640.jpg"/>
          <p:cNvPicPr>
            <a:picLocks noChangeAspect="1" noChangeArrowheads="1"/>
          </p:cNvPicPr>
          <p:nvPr/>
        </p:nvPicPr>
        <p:blipFill>
          <a:blip r:embed="rId2" cstate="print"/>
          <a:srcRect/>
          <a:stretch>
            <a:fillRect/>
          </a:stretch>
        </p:blipFill>
        <p:spPr bwMode="auto">
          <a:xfrm>
            <a:off x="2514600" y="3276600"/>
            <a:ext cx="4064000" cy="22987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the Legacy Source Code</a:t>
            </a:r>
            <a:endParaRPr lang="en-US" dirty="0"/>
          </a:p>
        </p:txBody>
      </p:sp>
      <p:sp>
        <p:nvSpPr>
          <p:cNvPr id="3" name="Content Placeholder 2"/>
          <p:cNvSpPr>
            <a:spLocks noGrp="1"/>
          </p:cNvSpPr>
          <p:nvPr>
            <p:ph idx="1"/>
          </p:nvPr>
        </p:nvSpPr>
        <p:spPr/>
        <p:txBody>
          <a:bodyPr/>
          <a:lstStyle/>
          <a:p>
            <a:r>
              <a:rPr lang="en-US" sz="2400" dirty="0" smtClean="0"/>
              <a:t>Alternatively, install tools related to </a:t>
            </a:r>
            <a:r>
              <a:rPr lang="en-US" sz="2400" i="1" dirty="0" smtClean="0">
                <a:solidFill>
                  <a:srgbClr val="C00000"/>
                </a:solidFill>
              </a:rPr>
              <a:t>existing source code</a:t>
            </a:r>
            <a:r>
              <a:rPr lang="en-US" sz="2400" dirty="0" smtClean="0"/>
              <a:t>, then build and run the existing source code and database if they are available.</a:t>
            </a:r>
          </a:p>
          <a:p>
            <a:r>
              <a:rPr lang="en-US" sz="2400" dirty="0" smtClean="0"/>
              <a:t>Walk through the existing </a:t>
            </a:r>
            <a:r>
              <a:rPr lang="en-US" sz="2400" i="1" dirty="0" smtClean="0">
                <a:solidFill>
                  <a:srgbClr val="C00000"/>
                </a:solidFill>
              </a:rPr>
              <a:t>external interfaces</a:t>
            </a:r>
            <a:r>
              <a:rPr lang="en-US" sz="2400" dirty="0" smtClean="0"/>
              <a:t> to determine primary </a:t>
            </a:r>
            <a:r>
              <a:rPr lang="en-US" sz="2400" u="sng" dirty="0" smtClean="0"/>
              <a:t>roles</a:t>
            </a:r>
            <a:r>
              <a:rPr lang="en-US" sz="2400" dirty="0" smtClean="0"/>
              <a:t> and </a:t>
            </a:r>
            <a:r>
              <a:rPr lang="en-US" sz="2400" u="sng" dirty="0" smtClean="0"/>
              <a:t>use cases</a:t>
            </a:r>
            <a:r>
              <a:rPr lang="en-US" sz="2400" dirty="0" smtClean="0"/>
              <a:t>.</a:t>
            </a:r>
          </a:p>
          <a:p>
            <a:pPr>
              <a:buNone/>
            </a:pPr>
            <a:r>
              <a:rPr lang="en-US" sz="2400" dirty="0" smtClean="0">
                <a:sym typeface="Wingdings" pitchFamily="2" charset="2"/>
              </a:rPr>
              <a:t>	 Optionally create </a:t>
            </a:r>
            <a:r>
              <a:rPr lang="en-US" sz="2400" i="1" dirty="0" smtClean="0">
                <a:solidFill>
                  <a:srgbClr val="C00000"/>
                </a:solidFill>
              </a:rPr>
              <a:t>domain models</a:t>
            </a:r>
            <a:r>
              <a:rPr lang="en-US" sz="2400" dirty="0" smtClean="0"/>
              <a:t>.</a:t>
            </a:r>
          </a:p>
          <a:p>
            <a:endParaRPr lang="en-US" sz="2400" dirty="0" smtClean="0"/>
          </a:p>
          <a:p>
            <a:endParaRPr lang="en-US" sz="2400" dirty="0"/>
          </a:p>
        </p:txBody>
      </p:sp>
      <p:pic>
        <p:nvPicPr>
          <p:cNvPr id="1028" name="Picture 4" descr="https://www.elegantthemes.com/blog/wp-content/uploads/2018/04/Best-Code-and-Text-Editors.png"/>
          <p:cNvPicPr>
            <a:picLocks noChangeAspect="1" noChangeArrowheads="1"/>
          </p:cNvPicPr>
          <p:nvPr/>
        </p:nvPicPr>
        <p:blipFill>
          <a:blip r:embed="rId2" cstate="print"/>
          <a:srcRect/>
          <a:stretch>
            <a:fillRect/>
          </a:stretch>
        </p:blipFill>
        <p:spPr bwMode="auto">
          <a:xfrm>
            <a:off x="3048000" y="4419600"/>
            <a:ext cx="3048000" cy="13970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000" dirty="0" smtClean="0"/>
              <a:t>3. Collect Technical Problems or Needs</a:t>
            </a:r>
            <a:endParaRPr lang="en-US" sz="4000" dirty="0"/>
          </a:p>
        </p:txBody>
      </p:sp>
      <p:sp>
        <p:nvSpPr>
          <p:cNvPr id="3" name="Content Placeholder 2"/>
          <p:cNvSpPr>
            <a:spLocks noGrp="1"/>
          </p:cNvSpPr>
          <p:nvPr>
            <p:ph idx="1"/>
          </p:nvPr>
        </p:nvSpPr>
        <p:spPr/>
        <p:txBody>
          <a:bodyPr/>
          <a:lstStyle/>
          <a:p>
            <a:r>
              <a:rPr lang="en-US" sz="2400" dirty="0" smtClean="0"/>
              <a:t>List current </a:t>
            </a:r>
            <a:r>
              <a:rPr lang="en-US" sz="2400" i="1" dirty="0" smtClean="0">
                <a:solidFill>
                  <a:srgbClr val="C00000"/>
                </a:solidFill>
              </a:rPr>
              <a:t>technology issues</a:t>
            </a:r>
            <a:r>
              <a:rPr lang="en-US" sz="2400" dirty="0" smtClean="0"/>
              <a:t> using notes or diagrams. </a:t>
            </a:r>
          </a:p>
          <a:p>
            <a:endParaRPr lang="en-US" sz="2400" dirty="0"/>
          </a:p>
        </p:txBody>
      </p:sp>
      <p:pic>
        <p:nvPicPr>
          <p:cNvPr id="4" name="Picture 4" descr="http://cng.dmcbeam.org/site-resources/requirements-icon.jpg"/>
          <p:cNvPicPr>
            <a:picLocks noChangeAspect="1" noChangeArrowheads="1"/>
          </p:cNvPicPr>
          <p:nvPr/>
        </p:nvPicPr>
        <p:blipFill>
          <a:blip r:embed="rId2" cstate="print"/>
          <a:srcRect/>
          <a:stretch>
            <a:fillRect/>
          </a:stretch>
        </p:blipFill>
        <p:spPr bwMode="auto">
          <a:xfrm>
            <a:off x="1371600" y="3200400"/>
            <a:ext cx="1587500" cy="2032000"/>
          </a:xfrm>
          <a:prstGeom prst="rect">
            <a:avLst/>
          </a:prstGeom>
          <a:noFill/>
        </p:spPr>
      </p:pic>
      <p:pic>
        <p:nvPicPr>
          <p:cNvPr id="1028" name="Picture 4" descr="https://www.komando.com/wp-content/uploads/2017/09/computer-user-help.jpg"/>
          <p:cNvPicPr>
            <a:picLocks noChangeAspect="1" noChangeArrowheads="1"/>
          </p:cNvPicPr>
          <p:nvPr/>
        </p:nvPicPr>
        <p:blipFill>
          <a:blip r:embed="rId3" cstate="print"/>
          <a:srcRect/>
          <a:stretch>
            <a:fillRect/>
          </a:stretch>
        </p:blipFill>
        <p:spPr bwMode="auto">
          <a:xfrm>
            <a:off x="4114800" y="3124200"/>
            <a:ext cx="3695700" cy="208026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Analyze Technical Problems</a:t>
            </a:r>
            <a:endParaRPr lang="en-US" dirty="0"/>
          </a:p>
        </p:txBody>
      </p:sp>
      <p:sp>
        <p:nvSpPr>
          <p:cNvPr id="3" name="Content Placeholder 2"/>
          <p:cNvSpPr>
            <a:spLocks noGrp="1"/>
          </p:cNvSpPr>
          <p:nvPr>
            <p:ph idx="1"/>
          </p:nvPr>
        </p:nvSpPr>
        <p:spPr/>
        <p:txBody>
          <a:bodyPr/>
          <a:lstStyle/>
          <a:p>
            <a:r>
              <a:rPr lang="en-US" sz="2400" dirty="0" smtClean="0"/>
              <a:t>Data integrity issue: missing/duplicated fields? missing/duplicated rows</a:t>
            </a:r>
          </a:p>
          <a:p>
            <a:r>
              <a:rPr lang="en-US" sz="2400" dirty="0" smtClean="0"/>
              <a:t>Performance issue: Too many rows to handle by current software?</a:t>
            </a:r>
          </a:p>
          <a:p>
            <a:endParaRPr lang="en-US" sz="2400" dirty="0"/>
          </a:p>
        </p:txBody>
      </p:sp>
      <p:pic>
        <p:nvPicPr>
          <p:cNvPr id="4" name="Picture 3"/>
          <p:cNvPicPr>
            <a:picLocks noChangeAspect="1" noChangeArrowheads="1"/>
          </p:cNvPicPr>
          <p:nvPr/>
        </p:nvPicPr>
        <p:blipFill>
          <a:blip r:embed="rId2" cstate="print"/>
          <a:srcRect/>
          <a:stretch>
            <a:fillRect/>
          </a:stretch>
        </p:blipFill>
        <p:spPr bwMode="auto">
          <a:xfrm>
            <a:off x="2971800" y="3505200"/>
            <a:ext cx="3200338" cy="256027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hazelcast.com/wp-content/uploads/2020/04/19_Lambda.png"/>
          <p:cNvPicPr>
            <a:picLocks noChangeAspect="1" noChangeArrowheads="1"/>
          </p:cNvPicPr>
          <p:nvPr/>
        </p:nvPicPr>
        <p:blipFill>
          <a:blip r:embed="rId2" cstate="print"/>
          <a:srcRect/>
          <a:stretch>
            <a:fillRect/>
          </a:stretch>
        </p:blipFill>
        <p:spPr bwMode="auto">
          <a:xfrm>
            <a:off x="4876800" y="1371600"/>
            <a:ext cx="3810000" cy="1666875"/>
          </a:xfrm>
          <a:prstGeom prst="rect">
            <a:avLst/>
          </a:prstGeom>
          <a:noFill/>
        </p:spPr>
      </p:pic>
      <p:sp>
        <p:nvSpPr>
          <p:cNvPr id="2" name="Title 1"/>
          <p:cNvSpPr>
            <a:spLocks noGrp="1"/>
          </p:cNvSpPr>
          <p:nvPr>
            <p:ph type="title"/>
          </p:nvPr>
        </p:nvSpPr>
        <p:spPr/>
        <p:txBody>
          <a:bodyPr/>
          <a:lstStyle/>
          <a:p>
            <a:pPr algn="l"/>
            <a:r>
              <a:rPr lang="en-US" dirty="0" smtClean="0"/>
              <a:t>5. Document Technical Needs</a:t>
            </a:r>
            <a:endParaRPr lang="en-US" dirty="0"/>
          </a:p>
        </p:txBody>
      </p:sp>
      <p:sp>
        <p:nvSpPr>
          <p:cNvPr id="3" name="Content Placeholder 2"/>
          <p:cNvSpPr>
            <a:spLocks noGrp="1"/>
          </p:cNvSpPr>
          <p:nvPr>
            <p:ph idx="1"/>
          </p:nvPr>
        </p:nvSpPr>
        <p:spPr/>
        <p:txBody>
          <a:bodyPr/>
          <a:lstStyle/>
          <a:p>
            <a:r>
              <a:rPr lang="en-US" sz="2400" dirty="0" smtClean="0"/>
              <a:t>Create an existing architecture</a:t>
            </a:r>
          </a:p>
          <a:p>
            <a:pPr>
              <a:buNone/>
            </a:pPr>
            <a:r>
              <a:rPr lang="en-US" sz="2400" dirty="0" smtClean="0"/>
              <a:t>	and a proposed future </a:t>
            </a:r>
          </a:p>
          <a:p>
            <a:pPr>
              <a:buNone/>
            </a:pPr>
            <a:r>
              <a:rPr lang="en-US" sz="2400" dirty="0" smtClean="0"/>
              <a:t>	architecture </a:t>
            </a:r>
          </a:p>
          <a:p>
            <a:pPr lvl="1"/>
            <a:r>
              <a:rPr lang="en-US" sz="2200" dirty="0" smtClean="0"/>
              <a:t>Components</a:t>
            </a:r>
          </a:p>
          <a:p>
            <a:pPr lvl="1"/>
            <a:r>
              <a:rPr lang="en-US" sz="2200" dirty="0" smtClean="0"/>
              <a:t>Tools</a:t>
            </a:r>
          </a:p>
          <a:p>
            <a:pPr lvl="1"/>
            <a:r>
              <a:rPr lang="en-US" sz="2200" dirty="0" smtClean="0"/>
              <a:t>Additional data inputs/outputs (files)</a:t>
            </a:r>
          </a:p>
          <a:p>
            <a:pPr lvl="1"/>
            <a:r>
              <a:rPr lang="en-US" sz="2200" dirty="0" smtClean="0"/>
              <a:t>Additional logic (text)</a:t>
            </a:r>
          </a:p>
          <a:p>
            <a:r>
              <a:rPr lang="en-US" sz="2400" dirty="0" smtClean="0"/>
              <a:t>There </a:t>
            </a:r>
            <a:r>
              <a:rPr lang="en-US" sz="2400" i="1" dirty="0" smtClean="0">
                <a:solidFill>
                  <a:srgbClr val="C00000"/>
                </a:solidFill>
              </a:rPr>
              <a:t>is surely a need</a:t>
            </a:r>
            <a:r>
              <a:rPr lang="en-US" sz="2400" dirty="0" smtClean="0"/>
              <a:t> of review of the </a:t>
            </a:r>
            <a:r>
              <a:rPr lang="en-US" sz="2400" u="sng" dirty="0" smtClean="0"/>
              <a:t>existing source code and database</a:t>
            </a:r>
            <a:r>
              <a:rPr lang="en-US" sz="2400" dirty="0" smtClean="0"/>
              <a:t> to indentify </a:t>
            </a:r>
            <a:r>
              <a:rPr lang="en-US" sz="2400" u="sng" dirty="0" smtClean="0"/>
              <a:t>draft technical solutions</a:t>
            </a:r>
            <a:r>
              <a:rPr lang="en-US" sz="2400" dirty="0" smtClean="0"/>
              <a:t> when creating existing architecture and a proposed future architecture.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Confirmation of </a:t>
            </a:r>
            <a:r>
              <a:rPr lang="en-US" dirty="0" smtClean="0"/>
              <a:t>Legacy Systems</a:t>
            </a:r>
            <a:endParaRPr lang="en-US" dirty="0"/>
          </a:p>
        </p:txBody>
      </p:sp>
      <p:sp>
        <p:nvSpPr>
          <p:cNvPr id="3" name="Content Placeholder 2"/>
          <p:cNvSpPr>
            <a:spLocks noGrp="1"/>
          </p:cNvSpPr>
          <p:nvPr>
            <p:ph idx="1"/>
          </p:nvPr>
        </p:nvSpPr>
        <p:spPr/>
        <p:txBody>
          <a:bodyPr/>
          <a:lstStyle/>
          <a:p>
            <a:r>
              <a:rPr lang="en-US" dirty="0" smtClean="0"/>
              <a:t>Examples might be access to legacy systems, </a:t>
            </a:r>
            <a:r>
              <a:rPr lang="en-US" dirty="0" smtClean="0"/>
              <a:t>captured </a:t>
            </a:r>
            <a:r>
              <a:rPr lang="en-US" dirty="0" smtClean="0"/>
              <a:t>UI screenshots of each sub-systems, parts of database schemas, example data, example legacy source code, legacy codebase.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Confirmation of Problems</a:t>
            </a:r>
            <a:endParaRPr lang="en-US" dirty="0"/>
          </a:p>
        </p:txBody>
      </p:sp>
      <p:sp>
        <p:nvSpPr>
          <p:cNvPr id="3" name="Content Placeholder 2"/>
          <p:cNvSpPr>
            <a:spLocks noGrp="1"/>
          </p:cNvSpPr>
          <p:nvPr>
            <p:ph idx="1"/>
          </p:nvPr>
        </p:nvSpPr>
        <p:spPr/>
        <p:txBody>
          <a:bodyPr/>
          <a:lstStyle/>
          <a:p>
            <a:r>
              <a:rPr lang="en-US" dirty="0" smtClean="0"/>
              <a:t>Examples might be lack of documentation and expertise, non-scalable architecture, high cost development for new features, unfriendly UI/UX, performance issue.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Confirmation of Goals</a:t>
            </a:r>
            <a:endParaRPr lang="en-US" dirty="0"/>
          </a:p>
        </p:txBody>
      </p:sp>
      <p:sp>
        <p:nvSpPr>
          <p:cNvPr id="3" name="Content Placeholder 2"/>
          <p:cNvSpPr>
            <a:spLocks noGrp="1"/>
          </p:cNvSpPr>
          <p:nvPr>
            <p:ph idx="1"/>
          </p:nvPr>
        </p:nvSpPr>
        <p:spPr/>
        <p:txBody>
          <a:bodyPr/>
          <a:lstStyle/>
          <a:p>
            <a:r>
              <a:rPr lang="en-US" dirty="0" smtClean="0"/>
              <a:t>Examples might be migration of the legacy system to event-driven, cloud based </a:t>
            </a:r>
            <a:r>
              <a:rPr lang="en-US" dirty="0" err="1" smtClean="0"/>
              <a:t>microservice</a:t>
            </a:r>
            <a:r>
              <a:rPr lang="en-US" dirty="0" smtClean="0"/>
              <a:t> architecture with modern UI/UX.</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Confirmation of Project </a:t>
            </a:r>
            <a:r>
              <a:rPr lang="en-US" dirty="0" smtClean="0"/>
              <a:t>Budget</a:t>
            </a:r>
            <a:endParaRPr lang="en-US" dirty="0"/>
          </a:p>
        </p:txBody>
      </p:sp>
      <p:sp>
        <p:nvSpPr>
          <p:cNvPr id="3" name="Content Placeholder 2"/>
          <p:cNvSpPr>
            <a:spLocks noGrp="1"/>
          </p:cNvSpPr>
          <p:nvPr>
            <p:ph idx="1"/>
          </p:nvPr>
        </p:nvSpPr>
        <p:spPr/>
        <p:txBody>
          <a:bodyPr/>
          <a:lstStyle/>
          <a:p>
            <a:r>
              <a:rPr lang="en-US" dirty="0" smtClean="0"/>
              <a:t>Project budget: Used to select appropriate technologies. Some cloud services, e.g. </a:t>
            </a:r>
            <a:r>
              <a:rPr lang="en-US" dirty="0" err="1" smtClean="0"/>
              <a:t>Salesforce</a:t>
            </a:r>
            <a:r>
              <a:rPr lang="en-US" dirty="0" smtClean="0"/>
              <a:t> Platform or AWS relational databases, might be very expensive.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Confirmation of Initial </a:t>
            </a:r>
            <a:r>
              <a:rPr lang="en-US" sz="3800" dirty="0" smtClean="0"/>
              <a:t>Text </a:t>
            </a:r>
            <a:r>
              <a:rPr lang="en-US" sz="3800" dirty="0" smtClean="0"/>
              <a:t>or </a:t>
            </a:r>
            <a:r>
              <a:rPr lang="en-US" sz="3800" dirty="0" smtClean="0"/>
              <a:t>Diagrams</a:t>
            </a:r>
            <a:endParaRPr lang="en-US" sz="3800" dirty="0"/>
          </a:p>
        </p:txBody>
      </p:sp>
      <p:sp>
        <p:nvSpPr>
          <p:cNvPr id="3" name="Content Placeholder 2"/>
          <p:cNvSpPr>
            <a:spLocks noGrp="1"/>
          </p:cNvSpPr>
          <p:nvPr>
            <p:ph idx="1"/>
          </p:nvPr>
        </p:nvSpPr>
        <p:spPr/>
        <p:txBody>
          <a:bodyPr/>
          <a:lstStyle/>
          <a:p>
            <a:r>
              <a:rPr lang="en-US" dirty="0" smtClean="0"/>
              <a:t>Ask for clarifications of ambiguous terms or components. Does initial proposed solution just need to be general? Should proposed architecture need to be adapted to specific problems, needs, legacy codebase, existing data, and budget?</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13383</TotalTime>
  <Words>1050</Words>
  <Application>Microsoft Office PowerPoint</Application>
  <PresentationFormat>On-screen Show (4:3)</PresentationFormat>
  <Paragraphs>115</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Maintenance Project Requirements Analysis</vt:lpstr>
      <vt:lpstr>Objectives</vt:lpstr>
      <vt:lpstr>Contents</vt:lpstr>
      <vt:lpstr>References</vt:lpstr>
      <vt:lpstr>Why Maintenance Project Failed?</vt:lpstr>
      <vt:lpstr>The Core Idea</vt:lpstr>
      <vt:lpstr>Where Do We Begin?</vt:lpstr>
      <vt:lpstr>1. Collect Existing Artifacts</vt:lpstr>
      <vt:lpstr>2. Clarify Terminologies</vt:lpstr>
      <vt:lpstr>3. Who Uses the System?</vt:lpstr>
      <vt:lpstr>4. What Exists in the System?</vt:lpstr>
      <vt:lpstr>5. Collect Business Problems or Needs</vt:lpstr>
      <vt:lpstr>6. Distill Navigation Flow and UIs</vt:lpstr>
      <vt:lpstr>7. Clarify Terminologies</vt:lpstr>
      <vt:lpstr>8. Identify Correct Problems</vt:lpstr>
      <vt:lpstr>9. Identify Correct Needs</vt:lpstr>
      <vt:lpstr>10. Document Business Needs</vt:lpstr>
      <vt:lpstr>11. Identify Affected Features</vt:lpstr>
      <vt:lpstr>12. Identify Affected Roles</vt:lpstr>
      <vt:lpstr>Slide 20</vt:lpstr>
      <vt:lpstr>1. Collect Existing Technical Artifacts</vt:lpstr>
      <vt:lpstr>2. Run the Legacy Source Code</vt:lpstr>
      <vt:lpstr>3. Collect Technical Problems or Needs</vt:lpstr>
      <vt:lpstr>4. Analyze Technical Problems</vt:lpstr>
      <vt:lpstr>5. Document Technical Needs</vt:lpstr>
      <vt:lpstr>Slide 26</vt:lpstr>
      <vt:lpstr>Confirmation of Legacy Systems</vt:lpstr>
      <vt:lpstr>Confirmation of Problems</vt:lpstr>
      <vt:lpstr>Confirmation of Goals</vt:lpstr>
      <vt:lpstr>Confirmation of Project Budget</vt:lpstr>
      <vt:lpstr>Confirmation of Initial Text or Diagrams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3996</cp:revision>
  <dcterms:created xsi:type="dcterms:W3CDTF">2007-10-06T08:25:13Z</dcterms:created>
  <dcterms:modified xsi:type="dcterms:W3CDTF">2024-05-01T17:00:14Z</dcterms:modified>
</cp:coreProperties>
</file>