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6"/>
  </p:notesMasterIdLst>
  <p:handoutMasterIdLst>
    <p:handoutMasterId r:id="rId27"/>
  </p:handoutMasterIdLst>
  <p:sldIdLst>
    <p:sldId id="256" r:id="rId2"/>
    <p:sldId id="446" r:id="rId3"/>
    <p:sldId id="639" r:id="rId4"/>
    <p:sldId id="358" r:id="rId5"/>
    <p:sldId id="707" r:id="rId6"/>
    <p:sldId id="686" r:id="rId7"/>
    <p:sldId id="553" r:id="rId8"/>
    <p:sldId id="554" r:id="rId9"/>
    <p:sldId id="713" r:id="rId10"/>
    <p:sldId id="555" r:id="rId11"/>
    <p:sldId id="556" r:id="rId12"/>
    <p:sldId id="714" r:id="rId13"/>
    <p:sldId id="715" r:id="rId14"/>
    <p:sldId id="709" r:id="rId15"/>
    <p:sldId id="710" r:id="rId16"/>
    <p:sldId id="704" r:id="rId17"/>
    <p:sldId id="705" r:id="rId18"/>
    <p:sldId id="696" r:id="rId19"/>
    <p:sldId id="708" r:id="rId20"/>
    <p:sldId id="717" r:id="rId21"/>
    <p:sldId id="703" r:id="rId22"/>
    <p:sldId id="716" r:id="rId23"/>
    <p:sldId id="711" r:id="rId24"/>
    <p:sldId id="359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81" autoAdjust="0"/>
    <p:restoredTop sz="94667" autoAdjust="0"/>
  </p:normalViewPr>
  <p:slideViewPr>
    <p:cSldViewPr>
      <p:cViewPr>
        <p:scale>
          <a:sx n="50" d="100"/>
          <a:sy n="50" d="100"/>
        </p:scale>
        <p:origin x="-158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2EA88-EEAD-476F-951C-A9F38DC12E9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AD151-0E8C-42DF-AEB9-304E517D3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smtClean="0"/>
              <a:t>https://docs.google.com/file/d/0B42Cu1mD9Z7seVVHLUdqb1Q1SlU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alsamiq.com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cidchart.com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Business Use Cases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3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hlinkClick r:id="rId2"/>
              </a:rPr>
              <a:t>nhbien@fit.hcmus.edu.vn</a:t>
            </a:r>
            <a:endParaRPr lang="en-US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analyze</a:t>
            </a:r>
            <a:r>
              <a:rPr lang="en-US" sz="2400" dirty="0" smtClean="0"/>
              <a:t> application software business requirements.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document</a:t>
            </a:r>
            <a:r>
              <a:rPr lang="en-US" sz="2400" dirty="0" smtClean="0"/>
              <a:t> application software business requirements.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Context Diagram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Scenarios (Workflows)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Storyboards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Screenshots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Quick and Dirty Prototype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Process Flow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Activity Diagram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The Brown Cow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638800" cy="38862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Suzanne Robertson and James Robertson (2012). Mastering the Requirements Process. Addison Wesley Professional.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Joy Beatty and Anthony Chen (2012). Visual Models For Software Requirements. Microsoft Press.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Analysis and Specification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purpose of software is to </a:t>
            </a:r>
            <a:r>
              <a:rPr lang="en-US" sz="2400" i="1" dirty="0" smtClean="0">
                <a:solidFill>
                  <a:srgbClr val="C00000"/>
                </a:solidFill>
              </a:rPr>
              <a:t>solve problems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How do we </a:t>
            </a:r>
            <a:r>
              <a:rPr lang="en-US" sz="2400" i="1" dirty="0" smtClean="0">
                <a:solidFill>
                  <a:srgbClr val="C00000"/>
                </a:solidFill>
              </a:rPr>
              <a:t>analyze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document</a:t>
            </a:r>
            <a:r>
              <a:rPr lang="en-US" sz="2400" dirty="0" smtClean="0"/>
              <a:t> problems?</a:t>
            </a:r>
            <a:endParaRPr lang="en-US" sz="2400" dirty="0"/>
          </a:p>
        </p:txBody>
      </p:sp>
      <p:pic>
        <p:nvPicPr>
          <p:cNvPr id="1026" name="Picture 2" descr="https://us.123rf.com/450wm/convisum/convisum1412/convisum141200024/34233297-question-think-solution.jpg?ver=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124200"/>
            <a:ext cx="4286250" cy="281940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895600" y="5715000"/>
            <a:ext cx="97924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91000" y="5181600"/>
            <a:ext cx="93756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410200" y="4648200"/>
            <a:ext cx="96051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smtClean="0"/>
              <a:t>Solution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Diagram [1]</a:t>
            </a:r>
            <a:endParaRPr lang="en-US" dirty="0"/>
          </a:p>
        </p:txBody>
      </p:sp>
      <p:pic>
        <p:nvPicPr>
          <p:cNvPr id="747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524000"/>
            <a:ext cx="4191000" cy="4593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7"/>
            <a:ext cx="8229600" cy="2925763"/>
          </a:xfrm>
        </p:spPr>
        <p:txBody>
          <a:bodyPr/>
          <a:lstStyle/>
          <a:p>
            <a:r>
              <a:rPr lang="en-US" sz="2400" dirty="0" smtClean="0"/>
              <a:t>Any system or piece of work responds to </a:t>
            </a:r>
            <a:r>
              <a:rPr lang="en-US" sz="2400" i="1" dirty="0" smtClean="0">
                <a:solidFill>
                  <a:srgbClr val="C00000"/>
                </a:solidFill>
              </a:rPr>
              <a:t>things that happen</a:t>
            </a:r>
            <a:r>
              <a:rPr lang="en-US" sz="2400" dirty="0" smtClean="0"/>
              <a:t> outside it. We call </a:t>
            </a:r>
            <a:r>
              <a:rPr lang="en-US" sz="2400" u="sng" dirty="0" smtClean="0"/>
              <a:t>these happenings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business events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business event takes place </a:t>
            </a:r>
            <a:r>
              <a:rPr lang="en-US" sz="2400" i="1" dirty="0" smtClean="0">
                <a:solidFill>
                  <a:srgbClr val="C00000"/>
                </a:solidFill>
              </a:rPr>
              <a:t>outside</a:t>
            </a:r>
            <a:r>
              <a:rPr lang="en-US" sz="2400" dirty="0" smtClean="0"/>
              <a:t> the scope of the work.</a:t>
            </a:r>
          </a:p>
          <a:p>
            <a:r>
              <a:rPr lang="en-US" sz="2400" dirty="0" smtClean="0"/>
              <a:t>The </a:t>
            </a:r>
            <a:r>
              <a:rPr lang="en-US" sz="2400" u="sng" dirty="0" smtClean="0"/>
              <a:t>work</a:t>
            </a:r>
            <a:r>
              <a:rPr lang="en-US" sz="2400" dirty="0" smtClean="0"/>
              <a:t> learns that it has happened through the arrival of an </a:t>
            </a:r>
            <a:r>
              <a:rPr lang="en-US" sz="2400" i="1" dirty="0" smtClean="0">
                <a:solidFill>
                  <a:srgbClr val="C00000"/>
                </a:solidFill>
              </a:rPr>
              <a:t>incoming flow of information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Business events are </a:t>
            </a:r>
            <a:r>
              <a:rPr lang="en-US" sz="2400" i="1" dirty="0" smtClean="0">
                <a:solidFill>
                  <a:srgbClr val="C00000"/>
                </a:solidFill>
              </a:rPr>
              <a:t>determined using</a:t>
            </a:r>
            <a:r>
              <a:rPr lang="en-US" sz="2400" dirty="0" smtClean="0"/>
              <a:t> the flows from the adjacent systems on the context diagram.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1313" y="4495800"/>
            <a:ext cx="3381375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Time-Triggered Business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2971800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time-triggered</a:t>
            </a:r>
            <a:r>
              <a:rPr lang="en-US" sz="2400" dirty="0" smtClean="0"/>
              <a:t> business event happens when a prearranged time is reached.</a:t>
            </a:r>
          </a:p>
          <a:p>
            <a:r>
              <a:rPr lang="en-US" sz="2400" dirty="0" smtClean="0"/>
              <a:t>This is based on either </a:t>
            </a:r>
          </a:p>
          <a:p>
            <a:pPr lvl="1"/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periodic occurrence</a:t>
            </a:r>
            <a:r>
              <a:rPr lang="en-US" sz="2000" dirty="0" smtClean="0"/>
              <a:t> (for example, the end of the month, or 5 P.M. each day),</a:t>
            </a:r>
          </a:p>
          <a:p>
            <a:pPr lvl="1"/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fixed time interval</a:t>
            </a:r>
            <a:r>
              <a:rPr lang="en-US" sz="2000" dirty="0" smtClean="0"/>
              <a:t> (three hours since the last occurrence), or </a:t>
            </a:r>
          </a:p>
          <a:p>
            <a:pPr lvl="1"/>
            <a:r>
              <a:rPr lang="en-US" sz="2000" dirty="0" smtClean="0"/>
              <a:t>a certain </a:t>
            </a:r>
            <a:r>
              <a:rPr lang="en-US" sz="2000" i="1" dirty="0" smtClean="0">
                <a:solidFill>
                  <a:srgbClr val="C00000"/>
                </a:solidFill>
              </a:rPr>
              <a:t>amount of time elapsing</a:t>
            </a:r>
            <a:r>
              <a:rPr lang="en-US" sz="2000" dirty="0" smtClean="0"/>
              <a:t> since another business event (30 days after sending out an invoice). </a:t>
            </a:r>
            <a:endParaRPr lang="en-US" sz="2000" dirty="0"/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4191000"/>
            <a:ext cx="36671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Business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 need some </a:t>
            </a:r>
            <a:r>
              <a:rPr lang="en-US" sz="2400" i="1" dirty="0" smtClean="0">
                <a:solidFill>
                  <a:srgbClr val="C00000"/>
                </a:solidFill>
              </a:rPr>
              <a:t>knowledge of the work</a:t>
            </a:r>
            <a:r>
              <a:rPr lang="en-US" sz="2400" dirty="0" smtClean="0"/>
              <a:t> to figure out the business events.</a:t>
            </a:r>
          </a:p>
          <a:p>
            <a:r>
              <a:rPr lang="en-US" sz="2400" dirty="0" smtClean="0"/>
              <a:t>Identify </a:t>
            </a:r>
            <a:r>
              <a:rPr lang="en-US" sz="2400" i="1" dirty="0" smtClean="0">
                <a:solidFill>
                  <a:srgbClr val="C00000"/>
                </a:solidFill>
              </a:rPr>
              <a:t>key roles</a:t>
            </a:r>
            <a:r>
              <a:rPr lang="en-US" sz="2400" dirty="0" smtClean="0"/>
              <a:t> (aka user types) from key stakeholders.</a:t>
            </a:r>
          </a:p>
          <a:p>
            <a:r>
              <a:rPr lang="en-US" sz="2400" dirty="0" smtClean="0"/>
              <a:t>Identify </a:t>
            </a:r>
            <a:r>
              <a:rPr lang="en-US" sz="2400" i="1" dirty="0" smtClean="0">
                <a:solidFill>
                  <a:srgbClr val="C00000"/>
                </a:solidFill>
              </a:rPr>
              <a:t>business events</a:t>
            </a:r>
            <a:r>
              <a:rPr lang="en-US" sz="2400" dirty="0" smtClean="0"/>
              <a:t> caused by a key role’s action.</a:t>
            </a:r>
          </a:p>
        </p:txBody>
      </p:sp>
      <p:pic>
        <p:nvPicPr>
          <p:cNvPr id="4" name="Picture 2" descr="Image result for &quot;User Types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3657600"/>
            <a:ext cx="4572000" cy="240030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4038600"/>
            <a:ext cx="2921127" cy="1845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599"/>
          </a:xfrm>
        </p:spPr>
        <p:txBody>
          <a:bodyPr/>
          <a:lstStyle/>
          <a:p>
            <a:r>
              <a:rPr lang="en-US" sz="2400" dirty="0" smtClean="0"/>
              <a:t>Calling a cab.</a:t>
            </a:r>
          </a:p>
          <a:p>
            <a:r>
              <a:rPr lang="en-US" sz="2400" dirty="0" smtClean="0"/>
              <a:t>Waiving vs. calling vs. touching.</a:t>
            </a:r>
          </a:p>
        </p:txBody>
      </p:sp>
      <p:pic>
        <p:nvPicPr>
          <p:cNvPr id="7" name="Picture 2" descr="http://www.buenostours.com/wp-content/uploads/2013/10/easytaxiap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3512820"/>
            <a:ext cx="2194560" cy="2194560"/>
          </a:xfrm>
          <a:prstGeom prst="rect">
            <a:avLst/>
          </a:prstGeom>
          <a:noFill/>
        </p:spPr>
      </p:pic>
      <p:pic>
        <p:nvPicPr>
          <p:cNvPr id="7168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3589020"/>
            <a:ext cx="1706880" cy="212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7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3820668"/>
            <a:ext cx="3360420" cy="1749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own Arrow 7"/>
          <p:cNvSpPr/>
          <p:nvPr/>
        </p:nvSpPr>
        <p:spPr>
          <a:xfrm>
            <a:off x="609600" y="3055620"/>
            <a:ext cx="1066800" cy="6096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 rot="16200000">
            <a:off x="3429000" y="4046220"/>
            <a:ext cx="1066800" cy="6096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 rot="19834069">
            <a:off x="6786535" y="3735592"/>
            <a:ext cx="1066800" cy="6096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657600"/>
          </a:xfrm>
        </p:spPr>
        <p:txBody>
          <a:bodyPr/>
          <a:lstStyle/>
          <a:p>
            <a:r>
              <a:rPr lang="en-US" sz="2200" dirty="0" smtClean="0"/>
              <a:t>When a business event happens, the </a:t>
            </a:r>
            <a:r>
              <a:rPr lang="en-US" sz="2200" u="sng" dirty="0" smtClean="0"/>
              <a:t>work responds</a:t>
            </a:r>
            <a:r>
              <a:rPr lang="en-US" sz="2200" dirty="0" smtClean="0"/>
              <a:t> by initiating a </a:t>
            </a:r>
            <a:r>
              <a:rPr lang="en-US" sz="2200" i="1" dirty="0" smtClean="0">
                <a:solidFill>
                  <a:srgbClr val="C00000"/>
                </a:solidFill>
              </a:rPr>
              <a:t>business use case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business use cases are the </a:t>
            </a:r>
            <a:r>
              <a:rPr lang="en-US" sz="2200" u="sng" dirty="0" smtClean="0"/>
              <a:t>work's responses</a:t>
            </a:r>
            <a:r>
              <a:rPr lang="en-US" sz="2200" dirty="0" smtClean="0"/>
              <a:t> to the business events.</a:t>
            </a:r>
          </a:p>
          <a:p>
            <a:r>
              <a:rPr lang="en-US" sz="2200" dirty="0" smtClean="0"/>
              <a:t>The work's response to the business event is to continue processing until all </a:t>
            </a:r>
            <a:r>
              <a:rPr lang="en-US" sz="2200" u="sng" dirty="0" smtClean="0"/>
              <a:t>active tasks</a:t>
            </a:r>
            <a:r>
              <a:rPr lang="en-US" sz="2200" dirty="0" smtClean="0"/>
              <a:t> (the processes) have been completed and all data retrieved or stored.</a:t>
            </a:r>
          </a:p>
          <a:p>
            <a:r>
              <a:rPr lang="en-US" sz="2200" dirty="0" smtClean="0"/>
              <a:t>The business use case is a </a:t>
            </a:r>
            <a:r>
              <a:rPr lang="en-US" sz="2200" u="sng" dirty="0" smtClean="0"/>
              <a:t>collection of</a:t>
            </a:r>
            <a:r>
              <a:rPr lang="en-US" sz="2200" dirty="0" smtClean="0"/>
              <a:t> </a:t>
            </a:r>
            <a:r>
              <a:rPr lang="en-US" sz="2200" i="1" dirty="0" smtClean="0">
                <a:solidFill>
                  <a:srgbClr val="C00000"/>
                </a:solidFill>
              </a:rPr>
              <a:t>identifiable</a:t>
            </a:r>
            <a:r>
              <a:rPr lang="en-US" sz="2200" dirty="0" smtClean="0"/>
              <a:t> processes, data that is retrieved and/or stored, output generated, messages sent, or some combination of these.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5257800"/>
            <a:ext cx="36195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4800600"/>
            <a:ext cx="998220" cy="1954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Determine Business 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From the work context diagram, you </a:t>
            </a:r>
            <a:r>
              <a:rPr lang="en-US" sz="2200" i="1" dirty="0" smtClean="0">
                <a:solidFill>
                  <a:srgbClr val="C00000"/>
                </a:solidFill>
              </a:rPr>
              <a:t>determine</a:t>
            </a:r>
            <a:r>
              <a:rPr lang="en-US" sz="2200" dirty="0" smtClean="0"/>
              <a:t> the </a:t>
            </a:r>
            <a:r>
              <a:rPr lang="en-US" sz="2200" u="sng" dirty="0" smtClean="0"/>
              <a:t>business events</a:t>
            </a:r>
            <a:r>
              <a:rPr lang="en-US" sz="2200" dirty="0" smtClean="0"/>
              <a:t> and </a:t>
            </a:r>
            <a:r>
              <a:rPr lang="en-US" sz="2200" u="sng" dirty="0" smtClean="0"/>
              <a:t>the resulting business use cases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</a:t>
            </a:r>
            <a:r>
              <a:rPr lang="en-US" sz="2200" u="sng" dirty="0" smtClean="0"/>
              <a:t>business use cases</a:t>
            </a:r>
            <a:r>
              <a:rPr lang="en-US" sz="2200" dirty="0" smtClean="0"/>
              <a:t> are studied </a:t>
            </a:r>
            <a:r>
              <a:rPr lang="en-US" sz="2200" i="1" dirty="0" smtClean="0">
                <a:solidFill>
                  <a:srgbClr val="C00000"/>
                </a:solidFill>
              </a:rPr>
              <a:t>until</a:t>
            </a:r>
            <a:r>
              <a:rPr lang="en-US" sz="2200" dirty="0" smtClean="0"/>
              <a:t> the analyst understands the </a:t>
            </a:r>
            <a:r>
              <a:rPr lang="en-US" sz="2200" u="sng" dirty="0" smtClean="0"/>
              <a:t>desired functionality</a:t>
            </a:r>
            <a:r>
              <a:rPr lang="en-US" sz="2200" dirty="0" smtClean="0"/>
              <a:t> of the work and the part of that functionality to be performed by the product.</a:t>
            </a:r>
          </a:p>
          <a:p>
            <a:endParaRPr lang="en-US" sz="2200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581400"/>
            <a:ext cx="476250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 (Workflow)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scenario</a:t>
            </a:r>
            <a:r>
              <a:rPr lang="en-US" sz="2400" dirty="0" smtClean="0"/>
              <a:t> tells the </a:t>
            </a:r>
            <a:r>
              <a:rPr lang="en-US" sz="2400" u="sng" dirty="0" smtClean="0"/>
              <a:t>story of a business use case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 descr="https://contenthub-static.grammarly.com/blog/wp-content/uploads/2018/05/how-to-write-a-stor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438400"/>
            <a:ext cx="6949440" cy="3657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Documenting Scenario: </a:t>
            </a:r>
            <a:r>
              <a:rPr lang="en-US" sz="4200" i="1" dirty="0" smtClean="0">
                <a:solidFill>
                  <a:srgbClr val="C00000"/>
                </a:solidFill>
              </a:rPr>
              <a:t>Storyboards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25146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Storyboards</a:t>
            </a:r>
            <a:r>
              <a:rPr lang="en-US" sz="2400" dirty="0" smtClean="0"/>
              <a:t> are a </a:t>
            </a:r>
            <a:r>
              <a:rPr lang="en-US" sz="2400" u="sng" dirty="0" smtClean="0"/>
              <a:t>prototyping technique</a:t>
            </a:r>
            <a:r>
              <a:rPr lang="en-US" sz="2400" dirty="0" smtClean="0"/>
              <a:t> borrowed from the film and cartoon industries.</a:t>
            </a:r>
          </a:p>
          <a:p>
            <a:r>
              <a:rPr lang="en-US" sz="2400" dirty="0" smtClean="0"/>
              <a:t>When a cartoonist is planning a cartoon, he sketches </a:t>
            </a:r>
            <a:r>
              <a:rPr lang="en-US" sz="2400" u="sng" dirty="0" smtClean="0"/>
              <a:t>a number of linked pictures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These pictures identify the </a:t>
            </a:r>
            <a:r>
              <a:rPr lang="en-US" sz="2400" u="sng" dirty="0" smtClean="0"/>
              <a:t>story line</a:t>
            </a:r>
            <a:r>
              <a:rPr lang="en-US" sz="2400" dirty="0" smtClean="0"/>
              <a:t> and guide the cartoonist in how many detailed pictures he needs to draw.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4198620"/>
            <a:ext cx="2076450" cy="2278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a Storyboard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17526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Building a storyboard</a:t>
            </a:r>
            <a:r>
              <a:rPr lang="en-US" sz="2400" dirty="0" smtClean="0"/>
              <a:t> means thinking of the proposed functionality </a:t>
            </a:r>
            <a:r>
              <a:rPr lang="en-US" sz="2400" u="sng" dirty="0" smtClean="0"/>
              <a:t>as a story</a:t>
            </a:r>
            <a:r>
              <a:rPr lang="en-US" sz="2400" dirty="0" smtClean="0"/>
              <a:t> and breaking it into a </a:t>
            </a:r>
            <a:r>
              <a:rPr lang="en-US" sz="2400" u="sng" dirty="0" smtClean="0"/>
              <a:t>series of steps</a:t>
            </a:r>
            <a:r>
              <a:rPr lang="en-US" sz="2400" dirty="0" smtClean="0"/>
              <a:t>, or </a:t>
            </a:r>
            <a:r>
              <a:rPr lang="en-US" sz="2400" u="sng" dirty="0" smtClean="0"/>
              <a:t>discrete actions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Draw each action as a panel of the story.</a:t>
            </a:r>
            <a:endParaRPr lang="en-US" sz="2400" dirty="0"/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25" y="3276600"/>
            <a:ext cx="714375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Documenting Scenario: </a:t>
            </a:r>
            <a:r>
              <a:rPr lang="en-US" sz="4200" i="1" dirty="0" smtClean="0">
                <a:solidFill>
                  <a:srgbClr val="C00000"/>
                </a:solidFill>
              </a:rPr>
              <a:t>Pictures</a:t>
            </a:r>
            <a:endParaRPr lang="en-US" sz="4200" i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https://cdn02.nintendo-europe.com/media/images/10_share_images/games_15/virtual_console_nintendo_3ds_7/SI_3DSVC_SuperMarioBr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28800"/>
            <a:ext cx="4190238" cy="2096262"/>
          </a:xfrm>
          <a:prstGeom prst="rect">
            <a:avLst/>
          </a:prstGeom>
          <a:noFill/>
        </p:spPr>
      </p:pic>
      <p:pic>
        <p:nvPicPr>
          <p:cNvPr id="9218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4648200"/>
            <a:ext cx="4286250" cy="1685926"/>
          </a:xfrm>
          <a:prstGeom prst="rect">
            <a:avLst/>
          </a:prstGeom>
          <a:noFill/>
        </p:spPr>
      </p:pic>
      <p:pic>
        <p:nvPicPr>
          <p:cNvPr id="9220" name="Picture 4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1828800"/>
            <a:ext cx="3413760" cy="1920240"/>
          </a:xfrm>
          <a:prstGeom prst="rect">
            <a:avLst/>
          </a:prstGeom>
          <a:noFill/>
        </p:spPr>
      </p:pic>
      <p:cxnSp>
        <p:nvCxnSpPr>
          <p:cNvPr id="8" name="Straight Arrow Connector 7"/>
          <p:cNvCxnSpPr/>
          <p:nvPr/>
        </p:nvCxnSpPr>
        <p:spPr>
          <a:xfrm>
            <a:off x="4343400" y="2590800"/>
            <a:ext cx="1371600" cy="0"/>
          </a:xfrm>
          <a:prstGeom prst="straightConnector1">
            <a:avLst/>
          </a:prstGeom>
          <a:ln w="1270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791200" y="3505200"/>
            <a:ext cx="381000" cy="1447800"/>
          </a:xfrm>
          <a:prstGeom prst="straightConnector1">
            <a:avLst/>
          </a:prstGeom>
          <a:ln w="12700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Documenting Scenario:</a:t>
            </a:r>
            <a:br>
              <a:rPr lang="en-US" dirty="0" smtClean="0"/>
            </a:br>
            <a:r>
              <a:rPr lang="en-US" i="1" dirty="0" smtClean="0">
                <a:solidFill>
                  <a:srgbClr val="C00000"/>
                </a:solidFill>
              </a:rPr>
              <a:t>Quick and Dirty Prototype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981200"/>
            <a:ext cx="5505450" cy="3646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438400" y="6096000"/>
            <a:ext cx="37529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nsolas" pitchFamily="49" charset="0"/>
                <a:hlinkClick r:id="rId3"/>
              </a:rPr>
              <a:t>https://balsamiq.com/</a:t>
            </a:r>
            <a:endParaRPr lang="en-US" sz="2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Documenting Scenario:</a:t>
            </a:r>
            <a:br>
              <a:rPr lang="en-US" dirty="0" smtClean="0"/>
            </a:br>
            <a:r>
              <a:rPr lang="en-US" i="1" dirty="0" smtClean="0">
                <a:solidFill>
                  <a:srgbClr val="C00000"/>
                </a:solidFill>
              </a:rPr>
              <a:t>Process Flow</a:t>
            </a:r>
            <a:r>
              <a:rPr lang="en-US" dirty="0" smtClean="0"/>
              <a:t> [2]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5311" y="1676400"/>
            <a:ext cx="6655689" cy="4402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438400" y="6167735"/>
            <a:ext cx="4772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nsolas" pitchFamily="49" charset="0"/>
                <a:hlinkClick r:id="rId3"/>
              </a:rPr>
              <a:t>https://www.lucidchart.com</a:t>
            </a:r>
            <a:endParaRPr lang="en-US" sz="2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Documenting Scenario:</a:t>
            </a:r>
            <a:br>
              <a:rPr lang="en-US" dirty="0" smtClean="0"/>
            </a:br>
            <a:r>
              <a:rPr lang="en-US" i="1" dirty="0" smtClean="0">
                <a:solidFill>
                  <a:srgbClr val="C00000"/>
                </a:solidFill>
              </a:rPr>
              <a:t> Activity Diagram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905000"/>
            <a:ext cx="3619500" cy="402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181600" y="3276600"/>
            <a:ext cx="3505200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tx1"/>
                </a:solidFill>
                <a:latin typeface="+mj-lt"/>
              </a:rPr>
              <a:t>See </a:t>
            </a:r>
            <a:r>
              <a:rPr lang="en-US" sz="2200" b="1" dirty="0" smtClean="0">
                <a:solidFill>
                  <a:schemeClr val="tx1"/>
                </a:solidFill>
                <a:latin typeface="+mj-lt"/>
              </a:rPr>
              <a:t>Software Requirements: </a:t>
            </a:r>
            <a:r>
              <a:rPr lang="en-US" sz="2200" b="1" dirty="0" smtClean="0">
                <a:solidFill>
                  <a:schemeClr val="tx1"/>
                </a:solidFill>
                <a:latin typeface="+mj-lt"/>
              </a:rPr>
              <a:t>05.1. The Unified Modeling Language.pptx 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for details.</a:t>
            </a:r>
            <a:endParaRPr lang="en-US" sz="2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1981200"/>
            <a:ext cx="1706880" cy="1205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Documenting Scenario:</a:t>
            </a:r>
            <a:br>
              <a:rPr lang="en-US" dirty="0" smtClean="0"/>
            </a:br>
            <a:r>
              <a:rPr lang="en-US" i="1" dirty="0" smtClean="0">
                <a:solidFill>
                  <a:srgbClr val="C00000"/>
                </a:solidFill>
              </a:rPr>
              <a:t> </a:t>
            </a:r>
            <a:r>
              <a:rPr lang="en-US" i="1" dirty="0" err="1" smtClean="0">
                <a:solidFill>
                  <a:srgbClr val="C00000"/>
                </a:solidFill>
              </a:rPr>
              <a:t>Swimlane</a:t>
            </a:r>
            <a:r>
              <a:rPr lang="en-US" i="1" dirty="0" smtClean="0">
                <a:solidFill>
                  <a:srgbClr val="C00000"/>
                </a:solidFill>
              </a:rPr>
              <a:t> Diagram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95600" y="5257800"/>
            <a:ext cx="5181600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tx1"/>
                </a:solidFill>
                <a:latin typeface="+mj-lt"/>
              </a:rPr>
              <a:t>See </a:t>
            </a:r>
            <a:r>
              <a:rPr lang="en-US" sz="2200" b="1" dirty="0" smtClean="0">
                <a:solidFill>
                  <a:schemeClr val="tx1"/>
                </a:solidFill>
                <a:latin typeface="+mj-lt"/>
              </a:rPr>
              <a:t>Software Requirements: </a:t>
            </a:r>
            <a:r>
              <a:rPr lang="en-US" sz="2200" b="1" dirty="0" smtClean="0">
                <a:solidFill>
                  <a:schemeClr val="tx1"/>
                </a:solidFill>
                <a:latin typeface="+mj-lt"/>
              </a:rPr>
              <a:t>05.1. The Unified Modeling Language.pptx 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for details.</a:t>
            </a:r>
            <a:endParaRPr lang="en-US" sz="2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5105400"/>
            <a:ext cx="1706880" cy="1205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981200"/>
            <a:ext cx="5691168" cy="28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Brown Cow Model (I) [1]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500" y="2324100"/>
            <a:ext cx="529590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urved Down Arrow 3"/>
          <p:cNvSpPr/>
          <p:nvPr/>
        </p:nvSpPr>
        <p:spPr>
          <a:xfrm>
            <a:off x="2762250" y="1447800"/>
            <a:ext cx="1524000" cy="838200"/>
          </a:xfrm>
          <a:prstGeom prst="curved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Creativity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Curved Left Arrow 4"/>
          <p:cNvSpPr/>
          <p:nvPr/>
        </p:nvSpPr>
        <p:spPr>
          <a:xfrm>
            <a:off x="6324600" y="3352800"/>
            <a:ext cx="1295400" cy="1828800"/>
          </a:xfrm>
          <a:prstGeom prst="curved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Creativity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5122" name="Picture 2" descr="Image result for difficult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1371600"/>
            <a:ext cx="2032000" cy="1572260"/>
          </a:xfrm>
          <a:prstGeom prst="rect">
            <a:avLst/>
          </a:prstGeom>
          <a:noFill/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4572000" y="1905000"/>
            <a:ext cx="15240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7162800" y="2971800"/>
            <a:ext cx="1524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Brown Cow Model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People (all of us) see </a:t>
            </a:r>
            <a:r>
              <a:rPr lang="en-US" sz="2200" i="1" dirty="0" smtClean="0">
                <a:solidFill>
                  <a:srgbClr val="C00000"/>
                </a:solidFill>
              </a:rPr>
              <a:t>the world</a:t>
            </a:r>
            <a:r>
              <a:rPr lang="en-US" sz="2200" dirty="0" smtClean="0"/>
              <a:t> in terms of </a:t>
            </a:r>
            <a:r>
              <a:rPr lang="en-US" sz="2200" u="sng" dirty="0" smtClean="0"/>
              <a:t>their own</a:t>
            </a:r>
            <a:r>
              <a:rPr lang="en-US" sz="2200" dirty="0" smtClean="0"/>
              <a:t> experience and importance, and their own levels of abstraction.</a:t>
            </a:r>
          </a:p>
          <a:p>
            <a:r>
              <a:rPr lang="en-US" sz="2200" dirty="0" smtClean="0"/>
              <a:t>The requirements analyst needs to be able to </a:t>
            </a:r>
            <a:r>
              <a:rPr lang="en-US" sz="2200" u="sng" dirty="0" smtClean="0"/>
              <a:t>unscramble these disparate viewpoints</a:t>
            </a:r>
            <a:r>
              <a:rPr lang="en-US" sz="2200" dirty="0" smtClean="0"/>
              <a:t> and decide what to focus on to further the goals of the project.</a:t>
            </a:r>
          </a:p>
          <a:p>
            <a:r>
              <a:rPr lang="en-US" sz="2200" dirty="0" smtClean="0"/>
              <a:t>How Now Brown Cow is an elocution exercise designed to teach how to pronounce rounded vowel sounds.</a:t>
            </a:r>
          </a:p>
          <a:p>
            <a:r>
              <a:rPr lang="en-US" sz="2200" dirty="0" smtClean="0"/>
              <a:t>The Brown Cow model provides a tool for taking </a:t>
            </a:r>
            <a:r>
              <a:rPr lang="en-US" sz="2200" i="1" dirty="0" smtClean="0">
                <a:solidFill>
                  <a:srgbClr val="C00000"/>
                </a:solidFill>
              </a:rPr>
              <a:t>four important systems viewpoints</a:t>
            </a:r>
            <a:r>
              <a:rPr lang="en-US" sz="2200" dirty="0" smtClean="0"/>
              <a:t> in parallel. It provides basis for </a:t>
            </a:r>
            <a:r>
              <a:rPr lang="en-US" sz="2200" u="sng" dirty="0" smtClean="0"/>
              <a:t>requirements discovery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non-procedural nature of the model means that the analyst can choose to take the most relevant viewpoints in whatever order suits the particular situation.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Tom </a:t>
            </a:r>
            <a:r>
              <a:rPr lang="en-US" dirty="0" err="1" smtClean="0"/>
              <a:t>DeMarco</a:t>
            </a:r>
            <a:r>
              <a:rPr lang="en-US" dirty="0" smtClean="0"/>
              <a:t> (1979). Structured Analysis and System Specification.</a:t>
            </a:r>
          </a:p>
          <a:p>
            <a:pPr lvl="1"/>
            <a:r>
              <a:rPr lang="en-US" dirty="0" smtClean="0"/>
              <a:t>Data-flow diagram.</a:t>
            </a:r>
          </a:p>
          <a:p>
            <a:r>
              <a:rPr lang="en-US" dirty="0" smtClean="0"/>
              <a:t>Stephen M. </a:t>
            </a:r>
            <a:r>
              <a:rPr lang="en-US" dirty="0" err="1" smtClean="0"/>
              <a:t>McMenamin</a:t>
            </a:r>
            <a:r>
              <a:rPr lang="en-US" dirty="0" smtClean="0"/>
              <a:t> and John F. Palmer (1984). Essential Systems Analysis.</a:t>
            </a:r>
          </a:p>
          <a:p>
            <a:pPr lvl="1"/>
            <a:r>
              <a:rPr lang="en-US" dirty="0" smtClean="0"/>
              <a:t>Event-partitioning approach.</a:t>
            </a:r>
          </a:p>
          <a:p>
            <a:r>
              <a:rPr lang="en-US" dirty="0" smtClean="0"/>
              <a:t>Edward Yourdon (1989). Modern Structured Analysis. Prentice Hall.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</a:t>
            </a:r>
            <a:r>
              <a:rPr lang="en-US" smtClean="0"/>
              <a:t>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9948</TotalTime>
  <Words>811</Words>
  <Application>Microsoft Office PowerPoint</Application>
  <PresentationFormat>On-screen Show (4:3)</PresentationFormat>
  <Paragraphs>92</Paragraphs>
  <Slides>24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Business Use Cases</vt:lpstr>
      <vt:lpstr>Objectives</vt:lpstr>
      <vt:lpstr>Contents</vt:lpstr>
      <vt:lpstr>References</vt:lpstr>
      <vt:lpstr>Problem Analysis and Specification</vt:lpstr>
      <vt:lpstr>Context Diagram [1]</vt:lpstr>
      <vt:lpstr>Business Events</vt:lpstr>
      <vt:lpstr>Time-Triggered Business Events</vt:lpstr>
      <vt:lpstr>Finding Business Events</vt:lpstr>
      <vt:lpstr>Example</vt:lpstr>
      <vt:lpstr>Business Use Cases</vt:lpstr>
      <vt:lpstr>Determine Business Use Cases</vt:lpstr>
      <vt:lpstr>Scenario (Workflow)</vt:lpstr>
      <vt:lpstr>Documenting Scenario: Storyboards</vt:lpstr>
      <vt:lpstr>Building a Storyboard</vt:lpstr>
      <vt:lpstr>Documenting Scenario: Pictures</vt:lpstr>
      <vt:lpstr>Documenting Scenario: Quick and Dirty Prototype</vt:lpstr>
      <vt:lpstr>Documenting Scenario: Process Flow [2]</vt:lpstr>
      <vt:lpstr>Documenting Scenario:  Activity Diagram</vt:lpstr>
      <vt:lpstr>Documenting Scenario:  Swimlane Diagram</vt:lpstr>
      <vt:lpstr>The Brown Cow Model (I) [1]</vt:lpstr>
      <vt:lpstr>The Brown Cow Model (II)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4155</cp:revision>
  <dcterms:created xsi:type="dcterms:W3CDTF">2007-10-06T08:25:13Z</dcterms:created>
  <dcterms:modified xsi:type="dcterms:W3CDTF">2024-03-25T13:03:05Z</dcterms:modified>
</cp:coreProperties>
</file>