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3"/>
  </p:notesMasterIdLst>
  <p:sldIdLst>
    <p:sldId id="256" r:id="rId2"/>
    <p:sldId id="427" r:id="rId3"/>
    <p:sldId id="428" r:id="rId4"/>
    <p:sldId id="429" r:id="rId5"/>
    <p:sldId id="409" r:id="rId6"/>
    <p:sldId id="410" r:id="rId7"/>
    <p:sldId id="411" r:id="rId8"/>
    <p:sldId id="412" r:id="rId9"/>
    <p:sldId id="413" r:id="rId10"/>
    <p:sldId id="414" r:id="rId11"/>
    <p:sldId id="416" r:id="rId12"/>
    <p:sldId id="433" r:id="rId13"/>
    <p:sldId id="415" r:id="rId14"/>
    <p:sldId id="421" r:id="rId15"/>
    <p:sldId id="426" r:id="rId16"/>
    <p:sldId id="425" r:id="rId17"/>
    <p:sldId id="424" r:id="rId18"/>
    <p:sldId id="419" r:id="rId19"/>
    <p:sldId id="420" r:id="rId20"/>
    <p:sldId id="430" r:id="rId21"/>
    <p:sldId id="359" r:id="rId2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03" autoAdjust="0"/>
    <p:restoredTop sz="94667" autoAdjust="0"/>
  </p:normalViewPr>
  <p:slideViewPr>
    <p:cSldViewPr>
      <p:cViewPr>
        <p:scale>
          <a:sx n="50" d="100"/>
          <a:sy n="50" d="100"/>
        </p:scale>
        <p:origin x="-1530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4026E6-0412-4830-8F06-DF45033103D5}" type="datetimeFigureOut">
              <a:rPr lang="en-US" smtClean="0"/>
              <a:pPr/>
              <a:t>4/26/2021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21BAC6-1780-4248-A045-EEDC4FD7C3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39850" y="914400"/>
            <a:ext cx="4178300" cy="313372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46163" y="4352925"/>
            <a:ext cx="4770437" cy="3478213"/>
          </a:xfrm>
          <a:noFill/>
        </p:spPr>
        <p:txBody>
          <a:bodyPr wrap="none" lIns="86486" tIns="43243" rIns="86486" bIns="43243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CA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F1E381-20DA-4745-B537-35B514BA6DD7}" type="datetimeFigureOut">
              <a:rPr lang="en-US"/>
              <a:pPr>
                <a:defRPr/>
              </a:pPr>
              <a:t>4/26/2021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4EF19F-72C6-4835-B8F9-C4043AB145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56C9F8-4ECB-4B63-B927-93DB51F662D0}" type="datetimeFigureOut">
              <a:rPr lang="en-US"/>
              <a:pPr>
                <a:defRPr/>
              </a:pPr>
              <a:t>4/26/2021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E5146C-45A3-4063-B945-A6E828CB1A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20DA55-A2EA-4E91-9DF8-848564DA5A8C}" type="datetimeFigureOut">
              <a:rPr lang="en-US"/>
              <a:pPr>
                <a:defRPr/>
              </a:pPr>
              <a:t>4/26/2021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02FCE2-22A4-4D22-98FA-0E266C5022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2FE22C-AAA6-4859-915C-7CA8A229741E}" type="datetimeFigureOut">
              <a:rPr lang="en-US"/>
              <a:pPr>
                <a:defRPr/>
              </a:pPr>
              <a:t>4/26/2021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4E97B5-865B-4943-9516-8680CA16C7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B4DA2C-F6C4-40D9-95C2-7E16780900E4}" type="datetimeFigureOut">
              <a:rPr lang="en-US"/>
              <a:pPr>
                <a:defRPr/>
              </a:pPr>
              <a:t>4/26/2021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9A6762-FCC9-4A4D-B55E-A9AEAC8C42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02FA20-63C4-4E2F-BBAB-9D9ECDF79A55}" type="datetimeFigureOut">
              <a:rPr lang="en-US"/>
              <a:pPr>
                <a:defRPr/>
              </a:pPr>
              <a:t>4/26/2021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571E3C-6E5C-4814-A904-273FE3A958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E24579-F551-4401-BD9C-1A956A73C8B1}" type="datetimeFigureOut">
              <a:rPr lang="en-US"/>
              <a:pPr>
                <a:defRPr/>
              </a:pPr>
              <a:t>4/26/2021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24CBAC-259E-4BF8-ACF6-FAB2C68750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4B6935-2E86-4F35-979C-26D8DA31E11B}" type="datetimeFigureOut">
              <a:rPr lang="en-US"/>
              <a:pPr>
                <a:defRPr/>
              </a:pPr>
              <a:t>4/26/2021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49D8DE-4736-4786-A76F-BA4BFA66C3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4642AA-84FD-46EB-91FE-F301FD1B086D}" type="datetimeFigureOut">
              <a:rPr lang="en-US"/>
              <a:pPr>
                <a:defRPr/>
              </a:pPr>
              <a:t>4/26/2021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E0BD26-494C-4707-B45F-1E41DB7E20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7AB78B-B950-4223-B948-C26A4E4BFB92}" type="datetimeFigureOut">
              <a:rPr lang="en-US"/>
              <a:pPr>
                <a:defRPr/>
              </a:pPr>
              <a:t>4/26/2021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435AB7-6027-4C00-A9DE-A82D1F9B71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E790DE-6227-4769-B4D1-A285E0E78CE4}" type="datetimeFigureOut">
              <a:rPr lang="en-US"/>
              <a:pPr>
                <a:defRPr/>
              </a:pPr>
              <a:t>4/26/2021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58F97A-8135-4157-8FDD-A5EB0FEF56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C44B157-FED2-4AB7-A096-BDB0B5D2F088}" type="datetimeFigureOut">
              <a:rPr lang="en-US"/>
              <a:pPr>
                <a:defRPr/>
              </a:pPr>
              <a:t>4/26/2021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D64C92-C51E-4B83-930E-D172469398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huybien.com/software-requirements-lessons-learned/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5400" dirty="0" smtClean="0"/>
              <a:t>Software Requirements Verification and Validation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7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/>
              <a:t>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hlinkClick r:id="rId2"/>
              </a:rPr>
              <a:t>nhbien@fit.hcmus.edu.vn</a:t>
            </a:r>
            <a:endParaRPr lang="en-US" sz="3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5334000" cy="4495799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To verify a requirement.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To validate a requirement.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7400" y="2819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5638800" cy="4876800"/>
          </a:xfrm>
        </p:spPr>
        <p:txBody>
          <a:bodyPr/>
          <a:lstStyle/>
          <a:p>
            <a:pPr marL="457200" lvl="0" indent="-457200">
              <a:buFont typeface="+mj-lt"/>
              <a:buAutoNum type="arabicPeriod"/>
            </a:pPr>
            <a:r>
              <a:rPr lang="en-US" sz="2400" dirty="0" smtClean="0"/>
              <a:t>Suzanne Robertson and James Robertson (2012). Mastering the Requirements Process. Addison Wesley Professional.</a:t>
            </a: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Quality Gateway [1]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700" y="1438275"/>
            <a:ext cx="4762500" cy="3971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62600" y="2257425"/>
            <a:ext cx="3143250" cy="277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2743200" y="5305961"/>
            <a:ext cx="6248400" cy="132343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000" dirty="0" smtClean="0"/>
              <a:t>The Quality Gateway tests each requirement for </a:t>
            </a:r>
            <a:r>
              <a:rPr lang="en-US" sz="2000" u="sng" dirty="0" smtClean="0"/>
              <a:t>correctness</a:t>
            </a:r>
            <a:r>
              <a:rPr lang="en-US" sz="2000" dirty="0" smtClean="0"/>
              <a:t> and </a:t>
            </a:r>
            <a:r>
              <a:rPr lang="en-US" sz="2000" u="sng" dirty="0" smtClean="0"/>
              <a:t>suitability</a:t>
            </a:r>
            <a:r>
              <a:rPr lang="en-US" sz="2000" dirty="0" smtClean="0"/>
              <a:t>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smtClean="0"/>
              <a:t>Accepted requirements are added to the specification.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smtClean="0"/>
              <a:t>Rejected requirements are returned to their originator.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Testing Completeness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Are there any </a:t>
            </a:r>
            <a:r>
              <a:rPr lang="en-US" sz="2400" i="1" dirty="0" smtClean="0">
                <a:solidFill>
                  <a:srgbClr val="C00000"/>
                </a:solidFill>
              </a:rPr>
              <a:t>missing components</a:t>
            </a:r>
            <a:r>
              <a:rPr lang="en-US" sz="2400" dirty="0" smtClean="0"/>
              <a:t>?</a:t>
            </a:r>
          </a:p>
          <a:p>
            <a:r>
              <a:rPr lang="en-US" sz="2400" dirty="0" smtClean="0"/>
              <a:t>Use a Requirements Specification Template as a </a:t>
            </a:r>
            <a:r>
              <a:rPr lang="en-US" sz="2400" i="1" dirty="0" smtClean="0">
                <a:solidFill>
                  <a:srgbClr val="C00000"/>
                </a:solidFill>
              </a:rPr>
              <a:t>baseline</a:t>
            </a:r>
            <a:r>
              <a:rPr lang="en-US" sz="2400" dirty="0" smtClean="0"/>
              <a:t>.</a:t>
            </a:r>
          </a:p>
          <a:p>
            <a:pPr lvl="1"/>
            <a:r>
              <a:rPr lang="en-US" sz="2000" b="1" dirty="0" smtClean="0"/>
              <a:t>IEEE Std 830</a:t>
            </a:r>
          </a:p>
          <a:p>
            <a:pPr lvl="1"/>
            <a:r>
              <a:rPr lang="en-US" sz="2000" b="1" dirty="0" smtClean="0"/>
              <a:t>ISO/IEC/IEEE 29148:2011(E)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24400" y="2895600"/>
            <a:ext cx="3408426" cy="295236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Testing Traceability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To maintain </a:t>
            </a:r>
            <a:r>
              <a:rPr lang="en-US" sz="2200" i="1" dirty="0" smtClean="0">
                <a:solidFill>
                  <a:srgbClr val="C00000"/>
                </a:solidFill>
              </a:rPr>
              <a:t>traceability</a:t>
            </a:r>
            <a:r>
              <a:rPr lang="en-US" sz="2200" dirty="0" smtClean="0"/>
              <a:t>, you need to know which requirements belong to which product use cases, which business events are implemented with which business and product use cases, and so on.</a:t>
            </a:r>
          </a:p>
          <a:p>
            <a:r>
              <a:rPr lang="en-US" sz="2200" dirty="0" smtClean="0"/>
              <a:t>To make sure it is traceable, </a:t>
            </a:r>
            <a:r>
              <a:rPr lang="en-US" sz="2200" i="1" dirty="0" smtClean="0">
                <a:solidFill>
                  <a:srgbClr val="C00000"/>
                </a:solidFill>
              </a:rPr>
              <a:t>each of your requirements</a:t>
            </a:r>
            <a:r>
              <a:rPr lang="en-US" sz="2200" dirty="0" smtClean="0"/>
              <a:t> must have the following </a:t>
            </a:r>
            <a:r>
              <a:rPr lang="en-US" sz="2200" u="sng" dirty="0" smtClean="0"/>
              <a:t>characteristics</a:t>
            </a:r>
            <a:r>
              <a:rPr lang="en-US" sz="2200" dirty="0" smtClean="0"/>
              <a:t>:</a:t>
            </a:r>
          </a:p>
          <a:p>
            <a:pPr lvl="1"/>
            <a:r>
              <a:rPr lang="en-US" sz="1800" dirty="0" smtClean="0"/>
              <a:t>A unique identifier.</a:t>
            </a:r>
          </a:p>
          <a:p>
            <a:pPr lvl="1"/>
            <a:r>
              <a:rPr lang="en-US" sz="1800" dirty="0" smtClean="0"/>
              <a:t>An indicator of the type of requirement or constraint (we use the section number of the template in which the requirement appears).</a:t>
            </a:r>
          </a:p>
          <a:p>
            <a:pPr lvl="1"/>
            <a:r>
              <a:rPr lang="en-US" sz="1800" dirty="0" smtClean="0"/>
              <a:t>References to all of </a:t>
            </a:r>
            <a:r>
              <a:rPr lang="en-US" sz="1800" i="1" dirty="0" smtClean="0">
                <a:solidFill>
                  <a:srgbClr val="C00000"/>
                </a:solidFill>
              </a:rPr>
              <a:t>the business use cases or product use cases</a:t>
            </a:r>
            <a:r>
              <a:rPr lang="en-US" sz="1800" dirty="0" smtClean="0"/>
              <a:t> that contain the requirement.</a:t>
            </a:r>
          </a:p>
          <a:p>
            <a:pPr lvl="1"/>
            <a:r>
              <a:rPr lang="en-US" sz="1800" dirty="0" smtClean="0"/>
              <a:t>References to </a:t>
            </a:r>
            <a:r>
              <a:rPr lang="en-US" sz="1800" i="1" dirty="0" smtClean="0">
                <a:solidFill>
                  <a:srgbClr val="C00000"/>
                </a:solidFill>
              </a:rPr>
              <a:t>the stakeholder</a:t>
            </a:r>
            <a:r>
              <a:rPr lang="en-US" sz="1800" dirty="0" smtClean="0"/>
              <a:t> who is the originator of the requirement.</a:t>
            </a:r>
          </a:p>
          <a:p>
            <a:pPr lvl="1"/>
            <a:r>
              <a:rPr lang="en-US" sz="1800" dirty="0" smtClean="0"/>
              <a:t>Consistent use of terminology.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Consistent Terminology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295400"/>
          </a:xfrm>
        </p:spPr>
        <p:txBody>
          <a:bodyPr/>
          <a:lstStyle/>
          <a:p>
            <a:r>
              <a:rPr lang="en-US" sz="2400" dirty="0" smtClean="0"/>
              <a:t>To specify a requirement so it is understood in only one way, you should </a:t>
            </a:r>
            <a:r>
              <a:rPr lang="en-US" sz="2400" i="1" dirty="0" smtClean="0">
                <a:solidFill>
                  <a:srgbClr val="C00000"/>
                </a:solidFill>
              </a:rPr>
              <a:t>define the terms</a:t>
            </a:r>
            <a:r>
              <a:rPr lang="en-US" sz="2400" dirty="0" smtClean="0"/>
              <a:t> you are using and the meanings of those terms within the specification.</a:t>
            </a:r>
            <a:endParaRPr lang="en-US" sz="2400" dirty="0"/>
          </a:p>
        </p:txBody>
      </p:sp>
      <p:pic>
        <p:nvPicPr>
          <p:cNvPr id="14338" name="Picture 2" descr="Image result for terminologie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200" y="3276600"/>
            <a:ext cx="4876800" cy="25527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Relevant to Purpose?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To test a requirement for relevancy, compare its intention with the project goals.</a:t>
            </a:r>
          </a:p>
          <a:p>
            <a:r>
              <a:rPr lang="en-US" sz="2400" dirty="0" smtClean="0"/>
              <a:t>Does this requirement contribute to </a:t>
            </a:r>
            <a:r>
              <a:rPr lang="en-US" sz="2400" i="1" dirty="0" smtClean="0">
                <a:solidFill>
                  <a:srgbClr val="C00000"/>
                </a:solidFill>
              </a:rPr>
              <a:t>the purpose</a:t>
            </a:r>
            <a:r>
              <a:rPr lang="en-US" sz="2400" dirty="0" smtClean="0"/>
              <a:t> of the project?</a:t>
            </a:r>
          </a:p>
          <a:p>
            <a:endParaRPr lang="en-US" sz="2400" dirty="0"/>
          </a:p>
        </p:txBody>
      </p:sp>
      <p:pic>
        <p:nvPicPr>
          <p:cNvPr id="13314" name="Picture 2" descr="Image result for Relevan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4600" y="3352800"/>
            <a:ext cx="3901440" cy="276987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Testing the Fit Criterion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fit criterion is a quantification of the requirement, which, as far as possible, </a:t>
            </a:r>
            <a:r>
              <a:rPr lang="en-US" sz="2400" i="1" dirty="0" smtClean="0">
                <a:solidFill>
                  <a:srgbClr val="C00000"/>
                </a:solidFill>
              </a:rPr>
              <a:t>uses numbers</a:t>
            </a:r>
            <a:r>
              <a:rPr lang="en-US" sz="2400" dirty="0" smtClean="0"/>
              <a:t> (numbers have no ambiguity) instead of words to express the requirement.</a:t>
            </a:r>
          </a:p>
          <a:p>
            <a:r>
              <a:rPr lang="en-US" sz="2400" dirty="0" smtClean="0"/>
              <a:t>Does each requirement have a fit criterion that can be used to test whether a solution meets the requirement?</a:t>
            </a:r>
          </a:p>
          <a:p>
            <a:r>
              <a:rPr lang="en-US" sz="2400" dirty="0" smtClean="0"/>
              <a:t>Example:</a:t>
            </a:r>
          </a:p>
          <a:p>
            <a:pPr lvl="1"/>
            <a:r>
              <a:rPr lang="en-US" sz="2000" dirty="0" smtClean="0"/>
              <a:t>Description: The product shall appear easy to use.</a:t>
            </a:r>
          </a:p>
          <a:p>
            <a:pPr lvl="1"/>
            <a:r>
              <a:rPr lang="en-US" sz="2000" dirty="0" smtClean="0"/>
              <a:t>Rationale: The client needs the users to voluntarily and quickly adopt it.</a:t>
            </a:r>
          </a:p>
          <a:p>
            <a:pPr lvl="1"/>
            <a:r>
              <a:rPr lang="en-US" sz="2000" dirty="0" smtClean="0"/>
              <a:t>Fit Criterion: First-time users shall hesitate no more than ten seconds before starting to use the product. The number of people refusing to use the product shall be fewer than 15 percent.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Correctness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An SRS is correct if, and only if, every requirement stated therein is one that the software shall meet.</a:t>
            </a:r>
          </a:p>
          <a:p>
            <a:r>
              <a:rPr lang="en-US" sz="2400" dirty="0" smtClean="0"/>
              <a:t>There is </a:t>
            </a:r>
            <a:r>
              <a:rPr lang="en-US" sz="2400" i="1" dirty="0" smtClean="0">
                <a:solidFill>
                  <a:srgbClr val="C00000"/>
                </a:solidFill>
              </a:rPr>
              <a:t>no tool or procedure</a:t>
            </a:r>
            <a:r>
              <a:rPr lang="en-US" sz="2400" dirty="0" smtClean="0"/>
              <a:t> that ensures correctness.</a:t>
            </a:r>
          </a:p>
          <a:p>
            <a:r>
              <a:rPr lang="en-US" sz="2400" dirty="0" smtClean="0"/>
              <a:t>The SRS should be </a:t>
            </a:r>
            <a:r>
              <a:rPr lang="en-US" sz="2400" i="1" dirty="0" smtClean="0">
                <a:solidFill>
                  <a:srgbClr val="C00000"/>
                </a:solidFill>
              </a:rPr>
              <a:t>compared</a:t>
            </a:r>
            <a:r>
              <a:rPr lang="en-US" sz="2400" dirty="0" smtClean="0"/>
              <a:t> with </a:t>
            </a:r>
            <a:r>
              <a:rPr lang="en-US" sz="2400" u="sng" dirty="0" smtClean="0"/>
              <a:t>any applicable superior specification</a:t>
            </a:r>
            <a:r>
              <a:rPr lang="en-US" sz="2400" dirty="0" smtClean="0"/>
              <a:t>, such as a system requirements specification, with other project documentation, and with other applicable standards, to ensure that it agrees.</a:t>
            </a:r>
          </a:p>
          <a:p>
            <a:r>
              <a:rPr lang="en-US" sz="2400" dirty="0" smtClean="0"/>
              <a:t>Alternatively </a:t>
            </a:r>
            <a:r>
              <a:rPr lang="en-US" sz="2400" i="1" dirty="0" smtClean="0">
                <a:solidFill>
                  <a:srgbClr val="C00000"/>
                </a:solidFill>
              </a:rPr>
              <a:t>the customer or user</a:t>
            </a:r>
            <a:r>
              <a:rPr lang="en-US" sz="2400" dirty="0" smtClean="0"/>
              <a:t> can determine if the SRS correctly reflects </a:t>
            </a:r>
            <a:r>
              <a:rPr lang="en-US" sz="2400" u="sng" dirty="0" smtClean="0"/>
              <a:t>the actual needs</a:t>
            </a:r>
            <a:r>
              <a:rPr lang="en-US" sz="2400" dirty="0" smtClean="0"/>
              <a:t>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Traceability</a:t>
            </a:r>
            <a:r>
              <a:rPr lang="en-US" sz="2400" dirty="0" smtClean="0"/>
              <a:t> makes this procedure easier and less prone to error.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Conflicting Requirements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smtClean="0"/>
              <a:t>Two requirements are conflicting if you </a:t>
            </a:r>
            <a:r>
              <a:rPr lang="en-US" sz="1800" i="1" dirty="0" smtClean="0">
                <a:solidFill>
                  <a:srgbClr val="C00000"/>
                </a:solidFill>
              </a:rPr>
              <a:t>cannot implement them both</a:t>
            </a:r>
            <a:r>
              <a:rPr lang="en-US" sz="1800" dirty="0" smtClean="0"/>
              <a:t>—the solution to one requirement prohibits implementing the other.</a:t>
            </a:r>
          </a:p>
          <a:p>
            <a:r>
              <a:rPr lang="en-US" sz="1800" dirty="0" smtClean="0"/>
              <a:t>For example, if one requirement asks for the product to “be available to all” and another says it shall be “fully secure,” then both requirements cannot be implemented as specified.</a:t>
            </a:r>
          </a:p>
          <a:p>
            <a:r>
              <a:rPr lang="en-US" sz="1800" dirty="0" smtClean="0"/>
              <a:t>For functional requirements, look for </a:t>
            </a:r>
            <a:r>
              <a:rPr lang="en-US" sz="1800" i="1" dirty="0" smtClean="0">
                <a:solidFill>
                  <a:srgbClr val="C00000"/>
                </a:solidFill>
              </a:rPr>
              <a:t>conflicts in outcomes</a:t>
            </a:r>
            <a:r>
              <a:rPr lang="en-US" sz="1800" dirty="0" smtClean="0"/>
              <a:t>.</a:t>
            </a:r>
          </a:p>
          <a:p>
            <a:r>
              <a:rPr lang="en-US" sz="1800" dirty="0" smtClean="0"/>
              <a:t>Conflicts between requirements are </a:t>
            </a:r>
            <a:r>
              <a:rPr lang="en-US" sz="1800" i="1" dirty="0" smtClean="0">
                <a:solidFill>
                  <a:srgbClr val="C00000"/>
                </a:solidFill>
              </a:rPr>
              <a:t>normal</a:t>
            </a:r>
            <a:r>
              <a:rPr lang="en-US" sz="1800" dirty="0" smtClean="0"/>
              <a:t> for most requirements gathering efforts, and indicate the need for some sort of conflict resolution mechanism</a:t>
            </a:r>
            <a:r>
              <a:rPr lang="en-US" sz="1800" dirty="0" smtClean="0"/>
              <a:t>.</a:t>
            </a:r>
            <a:endParaRPr lang="en-US" sz="1800" dirty="0" smtClean="0"/>
          </a:p>
          <a:p>
            <a:r>
              <a:rPr lang="en-US" sz="1800" dirty="0" smtClean="0"/>
              <a:t>When you have isolated the </a:t>
            </a:r>
            <a:r>
              <a:rPr lang="en-US" sz="1800" dirty="0" smtClean="0"/>
              <a:t>conflicting requirements</a:t>
            </a:r>
            <a:r>
              <a:rPr lang="en-US" sz="1800" dirty="0" smtClean="0"/>
              <a:t>, approach each of the stakeholders </a:t>
            </a:r>
            <a:r>
              <a:rPr lang="en-US" sz="1800" i="1" dirty="0" smtClean="0">
                <a:solidFill>
                  <a:srgbClr val="C00000"/>
                </a:solidFill>
              </a:rPr>
              <a:t>separately</a:t>
            </a:r>
            <a:r>
              <a:rPr lang="en-US" sz="1800" dirty="0" smtClean="0"/>
              <a:t>. Go </a:t>
            </a:r>
            <a:r>
              <a:rPr lang="en-US" sz="1800" dirty="0" smtClean="0"/>
              <a:t>over </a:t>
            </a:r>
            <a:r>
              <a:rPr lang="en-US" sz="1800" dirty="0" smtClean="0"/>
              <a:t>the requirement </a:t>
            </a:r>
            <a:r>
              <a:rPr lang="en-US" sz="1800" dirty="0" smtClean="0"/>
              <a:t>with the user and ensure that both of you </a:t>
            </a:r>
            <a:r>
              <a:rPr lang="en-US" sz="1800" i="1" dirty="0" smtClean="0">
                <a:solidFill>
                  <a:srgbClr val="C00000"/>
                </a:solidFill>
              </a:rPr>
              <a:t>have the same </a:t>
            </a:r>
            <a:r>
              <a:rPr lang="en-US" sz="1800" i="1" dirty="0" smtClean="0">
                <a:solidFill>
                  <a:srgbClr val="C00000"/>
                </a:solidFill>
              </a:rPr>
              <a:t>understanding of it</a:t>
            </a:r>
            <a:r>
              <a:rPr lang="en-US" sz="1800" dirty="0" smtClean="0"/>
              <a:t>. Reassess </a:t>
            </a:r>
            <a:r>
              <a:rPr lang="en-US" sz="1800" dirty="0" smtClean="0"/>
              <a:t>the satisfaction and dissatisfaction ratings: If </a:t>
            </a:r>
            <a:r>
              <a:rPr lang="en-US" sz="1800" dirty="0" smtClean="0"/>
              <a:t>one stakeholder </a:t>
            </a:r>
            <a:r>
              <a:rPr lang="en-US" sz="1800" dirty="0" smtClean="0"/>
              <a:t>gives low marks to the requirement, then he </a:t>
            </a:r>
            <a:r>
              <a:rPr lang="en-US" sz="1800" i="1" dirty="0" smtClean="0">
                <a:solidFill>
                  <a:srgbClr val="C00000"/>
                </a:solidFill>
              </a:rPr>
              <a:t>may not care</a:t>
            </a:r>
            <a:r>
              <a:rPr lang="en-US" sz="1800" dirty="0" smtClean="0"/>
              <a:t> if </a:t>
            </a:r>
            <a:r>
              <a:rPr lang="en-US" sz="1800" dirty="0" smtClean="0"/>
              <a:t>you drop </a:t>
            </a:r>
            <a:r>
              <a:rPr lang="en-US" sz="1800" dirty="0" smtClean="0"/>
              <a:t>it in favor of the other requirement. Do this with both stakeholders </a:t>
            </a:r>
            <a:r>
              <a:rPr lang="en-US" sz="1800" dirty="0" smtClean="0"/>
              <a:t>and do </a:t>
            </a:r>
            <a:r>
              <a:rPr lang="en-US" sz="1800" dirty="0" smtClean="0"/>
              <a:t>not, for the moment, bring them together.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IEEE Std 830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 SRS should be</a:t>
            </a:r>
          </a:p>
          <a:p>
            <a:pPr lvl="1"/>
            <a:r>
              <a:rPr lang="en-US" dirty="0" smtClean="0"/>
              <a:t>Correct;</a:t>
            </a:r>
          </a:p>
          <a:p>
            <a:pPr lvl="1"/>
            <a:r>
              <a:rPr lang="en-US" dirty="0" smtClean="0"/>
              <a:t>Unambiguous;</a:t>
            </a:r>
          </a:p>
          <a:p>
            <a:pPr lvl="1"/>
            <a:r>
              <a:rPr lang="en-US" dirty="0" smtClean="0"/>
              <a:t>Complete;</a:t>
            </a:r>
          </a:p>
          <a:p>
            <a:pPr lvl="1"/>
            <a:r>
              <a:rPr lang="en-US" dirty="0" smtClean="0"/>
              <a:t>Consistent;</a:t>
            </a:r>
          </a:p>
          <a:p>
            <a:pPr lvl="1"/>
            <a:r>
              <a:rPr lang="en-US" dirty="0" smtClean="0"/>
              <a:t>Ranked for importance and/or stability;</a:t>
            </a:r>
          </a:p>
          <a:p>
            <a:pPr lvl="1"/>
            <a:r>
              <a:rPr lang="en-US" dirty="0" smtClean="0"/>
              <a:t>Verifiable;</a:t>
            </a:r>
          </a:p>
          <a:p>
            <a:pPr lvl="1"/>
            <a:r>
              <a:rPr lang="en-US" dirty="0" smtClean="0"/>
              <a:t>Modifiable;</a:t>
            </a:r>
          </a:p>
          <a:p>
            <a:pPr lvl="1"/>
            <a:r>
              <a:rPr lang="en-US" dirty="0" smtClean="0"/>
              <a:t>Traceable.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Verification vs. Validation</a:t>
            </a:r>
            <a:endParaRPr lang="en-US" dirty="0"/>
          </a:p>
        </p:txBody>
      </p:sp>
      <p:pic>
        <p:nvPicPr>
          <p:cNvPr id="33794" name="Picture 2" descr="https://reqexperts.com/wp-content/uploads/2017/05/VV-diagram-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828800"/>
            <a:ext cx="7850505" cy="402018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Requirements Verification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514599"/>
          </a:xfrm>
        </p:spPr>
        <p:txBody>
          <a:bodyPr/>
          <a:lstStyle/>
          <a:p>
            <a:r>
              <a:rPr lang="en-US" sz="2400" dirty="0" smtClean="0"/>
              <a:t>Check that product is being </a:t>
            </a:r>
            <a:r>
              <a:rPr lang="en-US" sz="2400" i="1" dirty="0" smtClean="0">
                <a:solidFill>
                  <a:srgbClr val="C00000"/>
                </a:solidFill>
              </a:rPr>
              <a:t>built right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Ensures that each step followed in the process of building the software yields the right products</a:t>
            </a:r>
          </a:p>
          <a:p>
            <a:r>
              <a:rPr lang="en-US" sz="2400" dirty="0" smtClean="0"/>
              <a:t>Checks consistency of the software requirements specification artifacts and other software development products (design, implementation, test) against the specification.</a:t>
            </a:r>
          </a:p>
        </p:txBody>
      </p:sp>
      <p:pic>
        <p:nvPicPr>
          <p:cNvPr id="36866" name="Picture 2" descr="Image result for &quot;Requirements Verification&quot;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05200" y="4371248"/>
            <a:ext cx="2400300" cy="180095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Requirements Validation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Check that the </a:t>
            </a:r>
            <a:r>
              <a:rPr lang="en-US" sz="2400" i="1" dirty="0" smtClean="0">
                <a:solidFill>
                  <a:srgbClr val="C00000"/>
                </a:solidFill>
              </a:rPr>
              <a:t>right product</a:t>
            </a:r>
            <a:r>
              <a:rPr lang="en-US" sz="2400" dirty="0" smtClean="0"/>
              <a:t> is being built.</a:t>
            </a:r>
          </a:p>
          <a:p>
            <a:r>
              <a:rPr lang="en-US" sz="2400" dirty="0" smtClean="0"/>
              <a:t>Ensures that the software being developed (or changed) will satisfy its  </a:t>
            </a:r>
            <a:r>
              <a:rPr lang="en-US" sz="2400" i="1" dirty="0" smtClean="0">
                <a:solidFill>
                  <a:srgbClr val="C00000"/>
                </a:solidFill>
              </a:rPr>
              <a:t>stakeholders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Checks the software requirements specification  against </a:t>
            </a:r>
            <a:r>
              <a:rPr lang="en-US" sz="2400" i="1" dirty="0" smtClean="0">
                <a:solidFill>
                  <a:srgbClr val="C00000"/>
                </a:solidFill>
              </a:rPr>
              <a:t>stakeholders goals and requirements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pic>
        <p:nvPicPr>
          <p:cNvPr id="37890" name="Picture 2" descr="Image result for &quot;Validation&quot;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0" y="4343400"/>
            <a:ext cx="3223260" cy="134874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1784" name="Rectangle 8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CA" dirty="0" smtClean="0"/>
              <a:t>Why and When?</a:t>
            </a:r>
          </a:p>
        </p:txBody>
      </p:sp>
      <p:sp>
        <p:nvSpPr>
          <p:cNvPr id="2251785" name="Rectangle 9"/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 fontScale="85000" lnSpcReduction="20000"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CA" dirty="0" smtClean="0"/>
              <a:t>Help ensure delivery of what the client wants.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CA" dirty="0" smtClean="0"/>
              <a:t>Need to be performed at every stage during the (requirements) process</a:t>
            </a:r>
          </a:p>
          <a:p>
            <a:pPr lvl="1" eaLnBrk="1" fontAlgn="auto" hangingPunct="1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CA" dirty="0" smtClean="0"/>
              <a:t>Elicitation</a:t>
            </a:r>
          </a:p>
          <a:p>
            <a:pPr lvl="2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CA" dirty="0" smtClean="0"/>
              <a:t>Checking back with the elicitation sources</a:t>
            </a:r>
          </a:p>
          <a:p>
            <a:pPr lvl="2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CA" dirty="0" smtClean="0"/>
              <a:t>“So, are you saying that . . . . . ?”</a:t>
            </a:r>
          </a:p>
          <a:p>
            <a:pPr lvl="1" eaLnBrk="1" fontAlgn="auto" hangingPunct="1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CA" dirty="0" smtClean="0"/>
              <a:t>Analysis</a:t>
            </a:r>
          </a:p>
          <a:p>
            <a:pPr lvl="2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CA" dirty="0" smtClean="0"/>
              <a:t>Checking that the domain description and requirements are correct</a:t>
            </a:r>
          </a:p>
          <a:p>
            <a:pPr lvl="1" eaLnBrk="1" fontAlgn="auto" hangingPunct="1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CA" dirty="0" smtClean="0"/>
              <a:t>Specification</a:t>
            </a:r>
          </a:p>
          <a:p>
            <a:pPr lvl="2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CA" dirty="0" smtClean="0"/>
              <a:t>Checking that the defined system requirement will meet the user requirements under the assumptions of the domain/environment</a:t>
            </a:r>
          </a:p>
          <a:p>
            <a:pPr lvl="2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CA" dirty="0" smtClean="0"/>
              <a:t>Checking conformity to well-</a:t>
            </a:r>
            <a:r>
              <a:rPr lang="en-CA" dirty="0" err="1" smtClean="0"/>
              <a:t>formedness</a:t>
            </a:r>
            <a:r>
              <a:rPr lang="en-CA" dirty="0" smtClean="0"/>
              <a:t> rules, standards.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Requirements V&amp;V Techniques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CA" sz="2800" dirty="0" smtClean="0"/>
              <a:t>Simple checks</a:t>
            </a:r>
          </a:p>
          <a:p>
            <a:pPr lvl="1" eaLnBrk="1" fontAlgn="auto" hangingPunct="1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CA" sz="2400" dirty="0" smtClean="0"/>
              <a:t>Traceability, well-written requirements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CA" sz="2800" dirty="0" smtClean="0"/>
              <a:t>Prototyping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CA" sz="2800" dirty="0" smtClean="0"/>
              <a:t>Functional test design (</a:t>
            </a:r>
            <a:r>
              <a:rPr lang="en-US" sz="2800" dirty="0" smtClean="0"/>
              <a:t>Test cases)</a:t>
            </a:r>
            <a:endParaRPr lang="en-CA" sz="2800" dirty="0" smtClean="0"/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CA" sz="2800" dirty="0" smtClean="0"/>
              <a:t>User manual development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CA" sz="2800" dirty="0" smtClean="0"/>
              <a:t>Reviews and inspections</a:t>
            </a:r>
          </a:p>
          <a:p>
            <a:pPr lvl="1" eaLnBrk="1" fontAlgn="auto" hangingPunct="1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CA" sz="2400" dirty="0" smtClean="0"/>
              <a:t>Walkthroughs, formal inspections, checklists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CA" sz="2800" dirty="0" smtClean="0"/>
              <a:t>Model-Based V&amp;V (</a:t>
            </a:r>
            <a:r>
              <a:rPr lang="en-US" sz="2800" dirty="0" smtClean="0"/>
              <a:t>Model validation)</a:t>
            </a:r>
            <a:endParaRPr lang="en-CA" sz="2800" dirty="0" smtClean="0"/>
          </a:p>
          <a:p>
            <a:pPr lvl="1" eaLnBrk="1" fontAlgn="auto" hangingPunct="1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CA" sz="2400" dirty="0" smtClean="0"/>
              <a:t>First-order logic, behavioral models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29400" y="1219200"/>
            <a:ext cx="2025650" cy="1012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Lessons Learned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https://huybien.com/software-requirements-lessons-learned/</a:t>
            </a:r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5459</TotalTime>
  <Words>931</Words>
  <Application>Microsoft Office PowerPoint</Application>
  <PresentationFormat>On-screen Show (4:3)</PresentationFormat>
  <Paragraphs>97</Paragraphs>
  <Slides>21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Software Requirements Verification and Validation</vt:lpstr>
      <vt:lpstr>Objectives</vt:lpstr>
      <vt:lpstr>Contents</vt:lpstr>
      <vt:lpstr>References</vt:lpstr>
      <vt:lpstr>The Quality Gateway [1]</vt:lpstr>
      <vt:lpstr>Testing Completeness</vt:lpstr>
      <vt:lpstr>Testing Traceability</vt:lpstr>
      <vt:lpstr>Consistent Terminology</vt:lpstr>
      <vt:lpstr>Relevant to Purpose?</vt:lpstr>
      <vt:lpstr>Testing the Fit Criterion</vt:lpstr>
      <vt:lpstr>Correctness</vt:lpstr>
      <vt:lpstr>Conflicting Requirements</vt:lpstr>
      <vt:lpstr>IEEE Std 830</vt:lpstr>
      <vt:lpstr>Slide 14</vt:lpstr>
      <vt:lpstr>Verification vs. Validation</vt:lpstr>
      <vt:lpstr>Requirements Verification</vt:lpstr>
      <vt:lpstr>Requirements Validation</vt:lpstr>
      <vt:lpstr>Why and When?</vt:lpstr>
      <vt:lpstr>Requirements V&amp;V Techniques</vt:lpstr>
      <vt:lpstr>Lessons Learned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2450</cp:revision>
  <dcterms:created xsi:type="dcterms:W3CDTF">2007-10-06T08:25:13Z</dcterms:created>
  <dcterms:modified xsi:type="dcterms:W3CDTF">2021-04-26T10:39:02Z</dcterms:modified>
</cp:coreProperties>
</file>