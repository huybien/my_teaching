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46" r:id="rId3"/>
    <p:sldId id="608" r:id="rId4"/>
    <p:sldId id="358" r:id="rId5"/>
    <p:sldId id="687" r:id="rId6"/>
    <p:sldId id="689" r:id="rId7"/>
    <p:sldId id="690" r:id="rId8"/>
    <p:sldId id="676" r:id="rId9"/>
    <p:sldId id="691" r:id="rId10"/>
    <p:sldId id="692" r:id="rId11"/>
    <p:sldId id="681" r:id="rId12"/>
    <p:sldId id="686" r:id="rId13"/>
    <p:sldId id="678" r:id="rId14"/>
    <p:sldId id="682" r:id="rId15"/>
    <p:sldId id="683" r:id="rId16"/>
    <p:sldId id="671" r:id="rId17"/>
    <p:sldId id="675" r:id="rId18"/>
    <p:sldId id="674" r:id="rId19"/>
    <p:sldId id="655" r:id="rId20"/>
    <p:sldId id="649" r:id="rId21"/>
    <p:sldId id="359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07" autoAdjust="0"/>
    <p:restoredTop sz="94667" autoAdjust="0"/>
  </p:normalViewPr>
  <p:slideViewPr>
    <p:cSldViewPr>
      <p:cViewPr>
        <p:scale>
          <a:sx n="50" d="100"/>
          <a:sy n="50" d="100"/>
        </p:scale>
        <p:origin x="-150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2EA88-EEAD-476F-951C-A9F38DC12E92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AD151-0E8C-42DF-AEB9-304E517D3C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s1us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User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discover</a:t>
            </a:r>
            <a:r>
              <a:rPr lang="en-US" sz="2400" dirty="0" smtClean="0"/>
              <a:t> user requirements.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project vision and scope</a:t>
            </a:r>
            <a:r>
              <a:rPr lang="en-US" sz="2400" dirty="0" smtClean="0"/>
              <a:t> document.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User Requirements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Glossary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Business Rules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Features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Feature Model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Feature Tree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Vision and Scope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Project Scope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Craig </a:t>
            </a:r>
            <a:r>
              <a:rPr lang="en-US" sz="2200" dirty="0" err="1" smtClean="0"/>
              <a:t>Larman</a:t>
            </a:r>
            <a:r>
              <a:rPr lang="en-US" sz="2200" dirty="0" smtClean="0"/>
              <a:t> (2004). Applying UML and Patterns. 3rd Edition. Prentice Hall.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Don </a:t>
            </a:r>
            <a:r>
              <a:rPr lang="en-US" sz="2200" dirty="0" err="1" smtClean="0"/>
              <a:t>Batory</a:t>
            </a:r>
            <a:r>
              <a:rPr lang="en-US" sz="2200" dirty="0" smtClean="0"/>
              <a:t> (2005). Feature Models, Grammars, and Propositional Formulas.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200" dirty="0" smtClean="0"/>
              <a:t>Karl </a:t>
            </a:r>
            <a:r>
              <a:rPr lang="en-US" sz="2200" dirty="0" err="1" smtClean="0"/>
              <a:t>Wiegers</a:t>
            </a:r>
            <a:r>
              <a:rPr lang="en-US" sz="2200" dirty="0" smtClean="0"/>
              <a:t> and Joy Beatty (2013). Software Requirements. Microsoft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Jennifer Greene and Andrew </a:t>
            </a:r>
            <a:r>
              <a:rPr lang="en-US" sz="2200" dirty="0" err="1" smtClean="0"/>
              <a:t>Stellman</a:t>
            </a:r>
            <a:r>
              <a:rPr lang="en-US" sz="2200" dirty="0" smtClean="0"/>
              <a:t> (2005). Applied Software Project Management. O'Reilly Media.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Andrew </a:t>
            </a:r>
            <a:r>
              <a:rPr lang="en-US" sz="2200" dirty="0" err="1" smtClean="0"/>
              <a:t>Stellman</a:t>
            </a:r>
            <a:r>
              <a:rPr lang="en-US" sz="2200" dirty="0" smtClean="0"/>
              <a:t> and Jennifer Greene (2014). Head First PMP. 3rd Edition. O'Reilly Media.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Discovering User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Who are the users?</a:t>
            </a:r>
          </a:p>
          <a:p>
            <a:r>
              <a:rPr lang="en-US" sz="2400" dirty="0" smtClean="0"/>
              <a:t>What are their problems, needs or goals?</a:t>
            </a:r>
          </a:p>
          <a:p>
            <a:r>
              <a:rPr lang="en-US" sz="2400" dirty="0" smtClean="0"/>
              <a:t>No software or black box software.</a:t>
            </a:r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505200"/>
            <a:ext cx="22860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276600"/>
            <a:ext cx="1592580" cy="185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3733800"/>
            <a:ext cx="2169609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http://www.monroeautorepair.com/Car%20Fix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0775" y="1447800"/>
            <a:ext cx="2562225" cy="1771651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609600" y="5562600"/>
            <a:ext cx="792480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+mj-lt"/>
              </a:rPr>
              <a:t>Refer to </a:t>
            </a:r>
            <a:r>
              <a:rPr lang="en-US" sz="2000" b="1" dirty="0" smtClean="0">
                <a:solidFill>
                  <a:schemeClr val="tx1"/>
                </a:solidFill>
                <a:latin typeface="+mj-lt"/>
              </a:rPr>
              <a:t>05.2. Business Use Cases.pptx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 and </a:t>
            </a:r>
            <a:r>
              <a:rPr lang="en-US" sz="2000" b="1" dirty="0" smtClean="0">
                <a:solidFill>
                  <a:schemeClr val="tx1"/>
                </a:solidFill>
                <a:latin typeface="+mj-lt"/>
              </a:rPr>
              <a:t>05.3. Domain Models.pptx </a:t>
            </a:r>
            <a:r>
              <a:rPr lang="en-US" sz="2000" dirty="0" smtClean="0">
                <a:solidFill>
                  <a:schemeClr val="tx1"/>
                </a:solidFill>
                <a:latin typeface="+mj-lt"/>
              </a:rPr>
              <a:t>for details.</a:t>
            </a:r>
            <a:endParaRPr lang="en-US" sz="20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Glossary [1]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" y="1210270"/>
            <a:ext cx="8534400" cy="707886"/>
          </a:xfrm>
          <a:prstGeom prst="rect">
            <a:avLst/>
          </a:prstGeom>
          <a:noFill/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Glossary</a:t>
            </a:r>
            <a:r>
              <a:rPr lang="en-US" sz="2000" dirty="0" smtClean="0">
                <a:latin typeface="+mj-lt"/>
              </a:rPr>
              <a:t> defines noteworthy terms, records requirements related to data, such as validation rules, acceptable values, and so forth.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2174760"/>
          <a:ext cx="8610599" cy="399744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383846"/>
                <a:gridCol w="4178754"/>
                <a:gridCol w="914400"/>
                <a:gridCol w="1143000"/>
                <a:gridCol w="990599"/>
              </a:tblGrid>
              <a:tr h="518332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Term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Definition and Information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Format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Validation Rules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Aliases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</a:tr>
              <a:tr h="300087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Item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A </a:t>
                      </a:r>
                      <a:r>
                        <a:rPr lang="en-US" sz="1600" dirty="0"/>
                        <a:t>product or service for sale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 </a:t>
                      </a:r>
                      <a:endParaRPr lang="en-US" sz="160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 </a:t>
                      </a:r>
                      <a:endParaRPr lang="en-US" sz="160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</a:tr>
              <a:tr h="736578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Payment authorization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sz="1600" dirty="0" smtClean="0"/>
                        <a:t>Validation </a:t>
                      </a:r>
                      <a:r>
                        <a:rPr lang="en-US" sz="1600" dirty="0"/>
                        <a:t>by an external payment </a:t>
                      </a:r>
                      <a:r>
                        <a:rPr lang="en-US" sz="1600" dirty="0" smtClean="0"/>
                        <a:t>authorization </a:t>
                      </a:r>
                      <a:r>
                        <a:rPr lang="en-US" sz="1600" dirty="0"/>
                        <a:t>service that they will make or guarantee the payment to the seller.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</a:tr>
              <a:tr h="113004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smtClean="0"/>
                        <a:t>Payment </a:t>
                      </a:r>
                      <a:r>
                        <a:rPr lang="en-US" sz="1600" dirty="0"/>
                        <a:t>authorization request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A composite of elements electronically sent to an authorization service, usually as a char array. Elements include: store ID, customer account number, amount, and timestamp.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 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 </a:t>
                      </a:r>
                      <a:endParaRPr lang="en-US" sz="1600">
                        <a:latin typeface="+mn-lt"/>
                      </a:endParaRPr>
                    </a:p>
                  </a:txBody>
                  <a:tcPr marL="45720" marR="45720"/>
                </a:tc>
              </a:tr>
              <a:tr h="1130040"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UPC</a:t>
                      </a:r>
                      <a:endParaRPr lang="en-US" sz="160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Numeric code that identifies a product. Usually symbolized with a bar code placed on </a:t>
                      </a:r>
                      <a:r>
                        <a:rPr lang="en-US" sz="1600" dirty="0" smtClean="0"/>
                        <a:t>products. See </a:t>
                      </a:r>
                      <a:r>
                        <a:rPr lang="en-US" sz="1600" dirty="0" smtClean="0">
                          <a:hlinkClick r:id="rId2"/>
                        </a:rPr>
                        <a:t>www.gs1us.org</a:t>
                      </a:r>
                      <a:r>
                        <a:rPr lang="en-US" sz="1600" dirty="0" smtClean="0"/>
                        <a:t> for </a:t>
                      </a:r>
                      <a:r>
                        <a:rPr lang="en-US" sz="1600" dirty="0"/>
                        <a:t>details of format and validation.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12-digit code of several </a:t>
                      </a:r>
                      <a:r>
                        <a:rPr lang="en-US" sz="1600" dirty="0" smtClean="0"/>
                        <a:t>subparts.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Digit 12 </a:t>
                      </a:r>
                      <a:r>
                        <a:rPr lang="en-US" sz="1600" dirty="0" smtClean="0"/>
                        <a:t>is </a:t>
                      </a:r>
                      <a:r>
                        <a:rPr lang="en-US" sz="1600" dirty="0"/>
                        <a:t>a check digit.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Universal Product Code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Rules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1367135"/>
            <a:ext cx="8001000" cy="461665"/>
          </a:xfrm>
          <a:prstGeom prst="rect">
            <a:avLst/>
          </a:prstGeom>
          <a:noFill/>
          <a:ln w="25400">
            <a:noFill/>
            <a:prstDash val="sysDash"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Business rules</a:t>
            </a:r>
            <a:r>
              <a:rPr lang="en-US" sz="2400" dirty="0" smtClean="0">
                <a:latin typeface="+mj-lt"/>
              </a:rPr>
              <a:t> dictate how a domain or business may operate.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116836"/>
          <a:ext cx="8382004" cy="4055364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838202"/>
                <a:gridCol w="2743198"/>
                <a:gridCol w="3276600"/>
                <a:gridCol w="1524004"/>
              </a:tblGrid>
              <a:tr h="108657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ID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Rule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Changeability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Source</a:t>
                      </a:r>
                    </a:p>
                  </a:txBody>
                  <a:tcPr marL="11811" marR="11811" marT="11811" marB="11811"/>
                </a:tc>
              </a:tr>
              <a:tr h="223455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RULE1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Signature required for credit payments.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Buyer "signature" will continue to be required, but within 2 years most of our customers want signature capture on a digital capture device, and within 5 years we expect there to be demand for support of the new unique digital code "signature" now supported by USA law.</a:t>
                      </a:r>
                    </a:p>
                  </a:txBody>
                  <a:tcPr marL="45720" marR="45720" marT="9144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The policy of virtually all credit authorization companies.</a:t>
                      </a:r>
                    </a:p>
                  </a:txBody>
                  <a:tcPr marL="11811" marR="11811" marT="11811" marB="11811"/>
                </a:tc>
              </a:tr>
              <a:tr h="70390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RULE2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Tax rules. Sales require added taxes. See government statutes for current details.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High. Tax laws change annually, at all government levels.</a:t>
                      </a:r>
                    </a:p>
                  </a:txBody>
                  <a:tcPr marL="11811" marR="11811" marT="11811" marB="1181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law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feature</a:t>
            </a:r>
            <a:r>
              <a:rPr lang="en-US" sz="2400" dirty="0" smtClean="0"/>
              <a:t> is an </a:t>
            </a:r>
            <a:r>
              <a:rPr lang="en-US" sz="2400" u="sng" dirty="0" smtClean="0"/>
              <a:t>end-user visible</a:t>
            </a:r>
            <a:r>
              <a:rPr lang="en-US" sz="2400" dirty="0" smtClean="0"/>
              <a:t> characteristic of a system.</a:t>
            </a:r>
          </a:p>
          <a:p>
            <a:endParaRPr lang="en-US" sz="2400" dirty="0"/>
          </a:p>
        </p:txBody>
      </p:sp>
      <p:pic>
        <p:nvPicPr>
          <p:cNvPr id="1028" name="Picture 4" descr="https://blogapi.uber.com/wp-content/uploads/2019/06/UK_11_blog-body_1_1440x1150px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2743200"/>
            <a:ext cx="3657600" cy="292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Specify a Feature?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User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Business goal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Metric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Action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Kathy (Support)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Costly calls to customers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Number</a:t>
                      </a:r>
                      <a:r>
                        <a:rPr lang="en-US" sz="2000" baseline="0" dirty="0" smtClean="0"/>
                        <a:t> of </a:t>
                      </a:r>
                      <a:r>
                        <a:rPr lang="en-US" sz="2000" dirty="0" smtClean="0"/>
                        <a:t>call deflection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Create knowledge based articles based on common search terms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Michael (HR)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Employee satisfaction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Number of candidates for every job opening </a:t>
                      </a:r>
                    </a:p>
                    <a:p>
                      <a:r>
                        <a:rPr lang="en-US" sz="2000" dirty="0" smtClean="0"/>
                        <a:t>Retention rate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Create integrated recruiting tool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How to Indentify a Correct Feature?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Spot the problem</a:t>
            </a:r>
          </a:p>
          <a:p>
            <a:pPr lvl="1"/>
            <a:r>
              <a:rPr lang="en-US" sz="2000" dirty="0" smtClean="0"/>
              <a:t>Talk to a client</a:t>
            </a:r>
          </a:p>
          <a:p>
            <a:r>
              <a:rPr lang="en-US" sz="2400" dirty="0" smtClean="0"/>
              <a:t>Talk to two</a:t>
            </a:r>
          </a:p>
          <a:p>
            <a:pPr lvl="1"/>
            <a:r>
              <a:rPr lang="en-US" sz="2000" dirty="0" smtClean="0"/>
              <a:t>Find </a:t>
            </a:r>
            <a:r>
              <a:rPr lang="en-US" sz="2000" i="1" dirty="0" smtClean="0">
                <a:solidFill>
                  <a:srgbClr val="C00000"/>
                </a:solidFill>
              </a:rPr>
              <a:t>two other clients</a:t>
            </a:r>
            <a:r>
              <a:rPr lang="en-US" sz="2000" dirty="0" smtClean="0"/>
              <a:t> in that same industry</a:t>
            </a:r>
          </a:p>
          <a:p>
            <a:r>
              <a:rPr lang="en-US" sz="2400" dirty="0" smtClean="0"/>
              <a:t>Understand it</a:t>
            </a:r>
          </a:p>
          <a:p>
            <a:pPr lvl="1"/>
            <a:r>
              <a:rPr lang="en-US" sz="2000" dirty="0" smtClean="0"/>
              <a:t>Just </a:t>
            </a:r>
            <a:r>
              <a:rPr lang="en-US" sz="2000" i="1" dirty="0" smtClean="0">
                <a:solidFill>
                  <a:srgbClr val="C00000"/>
                </a:solidFill>
              </a:rPr>
              <a:t>listen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understand</a:t>
            </a:r>
            <a:r>
              <a:rPr lang="en-US" sz="2000" dirty="0" smtClean="0"/>
              <a:t> </a:t>
            </a:r>
            <a:r>
              <a:rPr lang="en-US" sz="2000" u="sng" dirty="0" smtClean="0"/>
              <a:t>their problem</a:t>
            </a:r>
          </a:p>
          <a:p>
            <a:r>
              <a:rPr lang="en-US" sz="2400" dirty="0" smtClean="0"/>
              <a:t>Prototype it</a:t>
            </a:r>
          </a:p>
          <a:p>
            <a:pPr lvl="1"/>
            <a:r>
              <a:rPr lang="en-US" sz="2000" dirty="0" smtClean="0"/>
              <a:t>Walk them through how you </a:t>
            </a:r>
            <a:r>
              <a:rPr lang="en-US" sz="2000" i="1" dirty="0" smtClean="0">
                <a:solidFill>
                  <a:srgbClr val="C00000"/>
                </a:solidFill>
              </a:rPr>
              <a:t>imagine</a:t>
            </a:r>
            <a:r>
              <a:rPr lang="en-US" sz="2000" dirty="0" smtClean="0"/>
              <a:t> it working. </a:t>
            </a:r>
          </a:p>
          <a:p>
            <a:pPr lvl="1"/>
            <a:r>
              <a:rPr lang="en-US" sz="2000" dirty="0" smtClean="0"/>
              <a:t>Are they confused? Are they excited?</a:t>
            </a:r>
          </a:p>
          <a:p>
            <a:r>
              <a:rPr lang="en-US" sz="2400" dirty="0" smtClean="0"/>
              <a:t>Inspect them</a:t>
            </a:r>
          </a:p>
          <a:p>
            <a:pPr lvl="1"/>
            <a:r>
              <a:rPr lang="en-US" sz="2000" dirty="0" smtClean="0"/>
              <a:t>Build a functioning prototype and </a:t>
            </a:r>
            <a:r>
              <a:rPr lang="en-US" sz="2000" i="1" dirty="0" smtClean="0">
                <a:solidFill>
                  <a:srgbClr val="C00000"/>
                </a:solidFill>
              </a:rPr>
              <a:t>watch them use it</a:t>
            </a:r>
            <a:endParaRPr lang="en-US" sz="2400" dirty="0"/>
          </a:p>
        </p:txBody>
      </p:sp>
      <p:pic>
        <p:nvPicPr>
          <p:cNvPr id="108546" name="Picture 2" descr="http://imagenes.es.sftcdn.net/es/scrn/69676000/69676397/image-05-371x53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2439" y="2057400"/>
            <a:ext cx="2120561" cy="30579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upload.wikimedia.org/wikipedia/commons/thumb/d/d6/E-shopFM.jpg/475px-E-shopF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3825" y="3962400"/>
            <a:ext cx="4524375" cy="2333626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feature can be </a:t>
            </a:r>
            <a:r>
              <a:rPr lang="en-US" sz="2200" u="sng" dirty="0" smtClean="0"/>
              <a:t>decomposed</a:t>
            </a:r>
            <a:r>
              <a:rPr lang="en-US" sz="2200" dirty="0" smtClean="0"/>
              <a:t> into several </a:t>
            </a:r>
            <a:r>
              <a:rPr lang="en-US" sz="2200" i="1" dirty="0" smtClean="0">
                <a:solidFill>
                  <a:srgbClr val="C00000"/>
                </a:solidFill>
              </a:rPr>
              <a:t>sub-features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Relationships</a:t>
            </a:r>
            <a:r>
              <a:rPr lang="en-US" sz="2200" dirty="0" smtClean="0"/>
              <a:t> between a parent (or compound) feature and its child features (or sub-features) are categorized as:</a:t>
            </a:r>
          </a:p>
          <a:p>
            <a:pPr lvl="1"/>
            <a:r>
              <a:rPr lang="en-US" sz="1600" i="1" dirty="0" smtClean="0">
                <a:solidFill>
                  <a:srgbClr val="C00000"/>
                </a:solidFill>
              </a:rPr>
              <a:t>And</a:t>
            </a:r>
            <a:r>
              <a:rPr lang="en-US" sz="1600" dirty="0" smtClean="0"/>
              <a:t> — all sub-features must be selected,</a:t>
            </a:r>
          </a:p>
          <a:p>
            <a:pPr lvl="1"/>
            <a:r>
              <a:rPr lang="en-US" sz="1600" i="1" dirty="0" smtClean="0">
                <a:solidFill>
                  <a:srgbClr val="C00000"/>
                </a:solidFill>
              </a:rPr>
              <a:t>Alternative</a:t>
            </a:r>
            <a:r>
              <a:rPr lang="en-US" sz="1600" dirty="0" smtClean="0"/>
              <a:t> — only one sub-feature can be selected,</a:t>
            </a:r>
          </a:p>
          <a:p>
            <a:pPr lvl="1"/>
            <a:r>
              <a:rPr lang="en-US" sz="1600" i="1" dirty="0" smtClean="0">
                <a:solidFill>
                  <a:srgbClr val="C00000"/>
                </a:solidFill>
              </a:rPr>
              <a:t>Or</a:t>
            </a:r>
            <a:r>
              <a:rPr lang="en-US" sz="1600" dirty="0" smtClean="0"/>
              <a:t> — one or more can be selected,</a:t>
            </a:r>
          </a:p>
          <a:p>
            <a:pPr lvl="1"/>
            <a:r>
              <a:rPr lang="en-US" sz="1600" i="1" dirty="0" smtClean="0">
                <a:solidFill>
                  <a:srgbClr val="C00000"/>
                </a:solidFill>
              </a:rPr>
              <a:t>Mandatory</a:t>
            </a:r>
            <a:r>
              <a:rPr lang="en-US" sz="1600" dirty="0" smtClean="0"/>
              <a:t> — features that required, and</a:t>
            </a:r>
          </a:p>
          <a:p>
            <a:pPr lvl="1"/>
            <a:r>
              <a:rPr lang="en-US" sz="1600" i="1" dirty="0" smtClean="0">
                <a:solidFill>
                  <a:srgbClr val="C00000"/>
                </a:solidFill>
              </a:rPr>
              <a:t>Optional</a:t>
            </a:r>
            <a:r>
              <a:rPr lang="en-US" sz="1600" dirty="0" smtClean="0"/>
              <a:t> — features that are optional.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feature model</a:t>
            </a:r>
            <a:r>
              <a:rPr lang="en-US" sz="2400" dirty="0" smtClean="0"/>
              <a:t> is a hierarchically arranged </a:t>
            </a:r>
            <a:r>
              <a:rPr lang="en-US" sz="2400" u="sng" dirty="0" smtClean="0"/>
              <a:t>set of features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  <p:pic>
        <p:nvPicPr>
          <p:cNvPr id="4" name="Picture 4" descr="http://upload.wikimedia.org/wikipedia/commons/thumb/d/d6/E-shopFM.jpg/475px-E-shopF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8225" y="2743200"/>
            <a:ext cx="4524375" cy="233362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867400" y="3276600"/>
            <a:ext cx="3048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>
                <a:latin typeface="Consolas" pitchFamily="49" charset="0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Consolas" pitchFamily="49" charset="0"/>
              </a:rPr>
              <a:t>feature diagram</a:t>
            </a:r>
            <a:r>
              <a:rPr lang="en-US" sz="2200" dirty="0" smtClean="0">
                <a:latin typeface="Consolas" pitchFamily="49" charset="0"/>
              </a:rPr>
              <a:t> is a graphical representation of a feature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663" y="2133600"/>
            <a:ext cx="7686675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590800" cy="4525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feature tree</a:t>
            </a:r>
            <a:r>
              <a:rPr lang="en-US" sz="2400" dirty="0" smtClean="0"/>
              <a:t> </a:t>
            </a:r>
            <a:r>
              <a:rPr lang="en-US" sz="2400" u="sng" dirty="0" smtClean="0"/>
              <a:t>hierarchically</a:t>
            </a:r>
            <a:r>
              <a:rPr lang="en-US" sz="2400" dirty="0" smtClean="0"/>
              <a:t> structures the </a:t>
            </a:r>
            <a:r>
              <a:rPr lang="en-US" sz="2400" u="sng" dirty="0" smtClean="0"/>
              <a:t>set of features</a:t>
            </a:r>
            <a:r>
              <a:rPr lang="en-US" sz="2400" dirty="0" smtClean="0"/>
              <a:t> of a system.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Simpler than feature model</a:t>
            </a:r>
            <a:r>
              <a:rPr lang="en-US" sz="2400" dirty="0" smtClean="0"/>
              <a:t>: only </a:t>
            </a:r>
            <a:r>
              <a:rPr lang="en-US" sz="2400" b="1" dirty="0" smtClean="0"/>
              <a:t>AND</a:t>
            </a:r>
            <a:r>
              <a:rPr lang="en-US" sz="2400" dirty="0" smtClean="0"/>
              <a:t> relationship.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1524000"/>
            <a:ext cx="5136642" cy="476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</a:t>
            </a:r>
            <a:r>
              <a:rPr lang="en-US" dirty="0" smtClean="0"/>
              <a:t>Tree Example </a:t>
            </a:r>
            <a:r>
              <a:rPr lang="en-US" dirty="0" smtClean="0"/>
              <a:t>[3]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447800"/>
            <a:ext cx="58978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lvl="0"/>
            <a:r>
              <a:rPr lang="en-US" dirty="0" smtClean="0"/>
              <a:t>Project Vision and Scope [4]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382138" y="4343400"/>
            <a:ext cx="3380862" cy="430887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 algn="ctr"/>
            <a:r>
              <a:rPr lang="en-US" sz="2200" dirty="0" smtClean="0">
                <a:solidFill>
                  <a:schemeClr val="bg1"/>
                </a:solidFill>
                <a:latin typeface="+mj-lt"/>
              </a:rPr>
              <a:t>Vision and Scope Document</a:t>
            </a:r>
            <a:endParaRPr lang="en-US" sz="2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" y="2209800"/>
            <a:ext cx="5105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background, context, overview.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</a:t>
            </a:r>
            <a:r>
              <a:rPr lang="en-US" sz="2000" u="sng" dirty="0" smtClean="0">
                <a:latin typeface="+mj-lt"/>
              </a:rPr>
              <a:t>current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business use cases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</a:t>
            </a:r>
            <a:r>
              <a:rPr lang="en-US" sz="2000" u="sng" dirty="0" smtClean="0">
                <a:latin typeface="+mj-lt"/>
              </a:rPr>
              <a:t>current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domain model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current </a:t>
            </a:r>
            <a:r>
              <a:rPr lang="en-US" sz="2000" u="sng" dirty="0" smtClean="0">
                <a:latin typeface="+mj-lt"/>
              </a:rPr>
              <a:t>users'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problems</a:t>
            </a:r>
            <a:r>
              <a:rPr lang="en-US" sz="2000" dirty="0" smtClean="0">
                <a:latin typeface="+mj-lt"/>
              </a:rPr>
              <a:t>, and their corresponding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objectives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components</a:t>
            </a:r>
            <a:r>
              <a:rPr lang="en-US" sz="2000" dirty="0" smtClean="0">
                <a:latin typeface="+mj-lt"/>
              </a:rPr>
              <a:t> and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features</a:t>
            </a:r>
            <a:r>
              <a:rPr lang="en-US" sz="2000" dirty="0" smtClean="0">
                <a:latin typeface="+mj-lt"/>
              </a:rPr>
              <a:t> that will be developed to obtain the </a:t>
            </a:r>
            <a:r>
              <a:rPr lang="en-US" sz="2000" u="sng" dirty="0" smtClean="0">
                <a:latin typeface="+mj-lt"/>
              </a:rPr>
              <a:t>users'</a:t>
            </a:r>
            <a:r>
              <a:rPr lang="en-US" sz="2000" dirty="0" smtClean="0">
                <a:latin typeface="+mj-lt"/>
              </a:rPr>
              <a:t> objectives.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components and features that will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be excluded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</a:t>
            </a:r>
            <a:r>
              <a:rPr lang="en-US" sz="2000" u="sng" dirty="0" smtClean="0">
                <a:latin typeface="+mj-lt"/>
              </a:rPr>
              <a:t>future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business use cases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</a:t>
            </a:r>
            <a:r>
              <a:rPr lang="en-US" sz="2000" u="sng" dirty="0" smtClean="0">
                <a:latin typeface="+mj-lt"/>
              </a:rPr>
              <a:t>future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i="1" dirty="0" smtClean="0">
                <a:solidFill>
                  <a:srgbClr val="C00000"/>
                </a:solidFill>
                <a:latin typeface="+mj-lt"/>
              </a:rPr>
              <a:t>domain model</a:t>
            </a:r>
            <a:r>
              <a:rPr lang="en-US" sz="2000" dirty="0" smtClean="0">
                <a:latin typeface="+mj-lt"/>
              </a:rPr>
              <a:t>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assumptions, the risks.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000" dirty="0" smtClean="0">
                <a:latin typeface="+mj-lt"/>
              </a:rPr>
              <a:t>The conclusion.</a:t>
            </a:r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514600"/>
            <a:ext cx="2828925" cy="169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28600" y="1226403"/>
            <a:ext cx="8610600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+mj-lt"/>
              </a:rPr>
              <a:t>A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project vision and scope</a:t>
            </a:r>
            <a:r>
              <a:rPr lang="en-US" sz="2400" dirty="0" smtClean="0">
                <a:latin typeface="+mj-lt"/>
              </a:rPr>
              <a:t> is the picturing of the </a:t>
            </a:r>
            <a:r>
              <a:rPr lang="en-US" sz="2400" u="sng" dirty="0" smtClean="0">
                <a:latin typeface="+mj-lt"/>
              </a:rPr>
              <a:t>project's deliverable</a:t>
            </a:r>
            <a:r>
              <a:rPr lang="en-US" sz="2400" dirty="0" smtClean="0">
                <a:latin typeface="+mj-lt"/>
              </a:rPr>
              <a:t> as the </a:t>
            </a:r>
            <a:r>
              <a:rPr lang="en-US" sz="2400" u="sng" dirty="0" smtClean="0">
                <a:latin typeface="+mj-lt"/>
              </a:rPr>
              <a:t>solution</a:t>
            </a:r>
            <a:r>
              <a:rPr lang="en-US" sz="2400" dirty="0" smtClean="0">
                <a:latin typeface="+mj-lt"/>
              </a:rPr>
              <a:t> to the stated </a:t>
            </a:r>
            <a:r>
              <a:rPr lang="en-US" sz="2400" u="sng" dirty="0" smtClean="0">
                <a:latin typeface="+mj-lt"/>
              </a:rPr>
              <a:t>need</a:t>
            </a:r>
            <a:r>
              <a:rPr lang="en-US" sz="2400" dirty="0" smtClean="0">
                <a:latin typeface="+mj-lt"/>
              </a:rPr>
              <a:t> or </a:t>
            </a:r>
            <a:r>
              <a:rPr lang="en-US" sz="2400" u="sng" dirty="0" smtClean="0">
                <a:latin typeface="+mj-lt"/>
              </a:rPr>
              <a:t>problem</a:t>
            </a:r>
            <a:r>
              <a:rPr lang="en-US" sz="2400" dirty="0" smtClean="0">
                <a:latin typeface="+mj-l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7727" y="5100935"/>
            <a:ext cx="243887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Black box solution</a:t>
            </a:r>
            <a:endParaRPr lang="en-US" sz="2400" dirty="0"/>
          </a:p>
        </p:txBody>
      </p:sp>
      <p:sp>
        <p:nvSpPr>
          <p:cNvPr id="9" name="Right Brace 8"/>
          <p:cNvSpPr/>
          <p:nvPr/>
        </p:nvSpPr>
        <p:spPr>
          <a:xfrm>
            <a:off x="4114800" y="5029200"/>
            <a:ext cx="304800" cy="609600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Scope Statement [5]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Project scope statement</a:t>
            </a:r>
            <a:r>
              <a:rPr lang="en-US" sz="2400" dirty="0" smtClean="0"/>
              <a:t>: The description of the </a:t>
            </a:r>
            <a:r>
              <a:rPr lang="en-US" sz="2400" u="sng" dirty="0" smtClean="0"/>
              <a:t>project scope</a:t>
            </a:r>
            <a:r>
              <a:rPr lang="en-US" sz="2400" dirty="0" smtClean="0"/>
              <a:t>, major </a:t>
            </a:r>
            <a:r>
              <a:rPr lang="en-US" sz="2400" u="sng" dirty="0" smtClean="0"/>
              <a:t>deliverables</a:t>
            </a:r>
            <a:r>
              <a:rPr lang="en-US" sz="2400" dirty="0" smtClean="0"/>
              <a:t>, assumptions, and constraints.</a:t>
            </a:r>
          </a:p>
          <a:p>
            <a:r>
              <a:rPr lang="en-US" sz="2400" dirty="0" smtClean="0"/>
              <a:t>The project scope statement tells </a:t>
            </a:r>
            <a:r>
              <a:rPr lang="en-US" sz="2400" i="1" dirty="0" smtClean="0">
                <a:solidFill>
                  <a:srgbClr val="C00000"/>
                </a:solidFill>
              </a:rPr>
              <a:t>what work</a:t>
            </a:r>
            <a:r>
              <a:rPr lang="en-US" sz="2400" dirty="0" smtClean="0"/>
              <a:t> you </a:t>
            </a:r>
            <a:r>
              <a:rPr lang="en-US" sz="2400" u="sng" dirty="0" smtClean="0"/>
              <a:t>are</a:t>
            </a:r>
            <a:r>
              <a:rPr lang="en-US" sz="2400" dirty="0" smtClean="0"/>
              <a:t>—and </a:t>
            </a:r>
            <a:r>
              <a:rPr lang="en-US" sz="2400" u="sng" dirty="0" smtClean="0"/>
              <a:t>are not</a:t>
            </a:r>
            <a:r>
              <a:rPr lang="en-US" sz="2400" dirty="0" smtClean="0"/>
              <a:t>—going to do in the project.</a:t>
            </a:r>
          </a:p>
          <a:p>
            <a:r>
              <a:rPr lang="en-US" sz="2400" dirty="0" smtClean="0"/>
              <a:t>Example content:</a:t>
            </a:r>
          </a:p>
          <a:p>
            <a:pPr lvl="1"/>
            <a:r>
              <a:rPr lang="en-US" sz="2000" b="1" dirty="0" smtClean="0"/>
              <a:t>Product scope description</a:t>
            </a:r>
          </a:p>
          <a:p>
            <a:pPr lvl="1"/>
            <a:r>
              <a:rPr lang="en-US" sz="2000" dirty="0" smtClean="0"/>
              <a:t>Project exclusions</a:t>
            </a:r>
          </a:p>
          <a:p>
            <a:pPr lvl="1"/>
            <a:r>
              <a:rPr lang="en-US" sz="2000" dirty="0" smtClean="0"/>
              <a:t>Project deliverables</a:t>
            </a:r>
          </a:p>
          <a:p>
            <a:pPr lvl="1"/>
            <a:r>
              <a:rPr lang="en-US" sz="2000" dirty="0" smtClean="0"/>
              <a:t>Project acceptance criteria</a:t>
            </a:r>
          </a:p>
          <a:p>
            <a:pPr lvl="1"/>
            <a:r>
              <a:rPr lang="en-US" sz="2000" dirty="0" smtClean="0"/>
              <a:t>Project constraints</a:t>
            </a:r>
          </a:p>
          <a:p>
            <a:pPr lvl="1"/>
            <a:r>
              <a:rPr lang="en-US" sz="2000" dirty="0" smtClean="0"/>
              <a:t>Project assumptions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David </a:t>
            </a:r>
            <a:r>
              <a:rPr lang="en-US" sz="2800" dirty="0" err="1" smtClean="0"/>
              <a:t>Lorge</a:t>
            </a:r>
            <a:r>
              <a:rPr lang="en-US" sz="2800" dirty="0" smtClean="0"/>
              <a:t> </a:t>
            </a:r>
            <a:r>
              <a:rPr lang="en-US" sz="2800" dirty="0" err="1" smtClean="0"/>
              <a:t>Parna</a:t>
            </a:r>
            <a:r>
              <a:rPr lang="en-US" sz="2800" dirty="0" smtClean="0"/>
              <a:t> and Jan </a:t>
            </a:r>
            <a:r>
              <a:rPr lang="en-US" sz="2800" dirty="0" err="1" smtClean="0"/>
              <a:t>Madey</a:t>
            </a:r>
            <a:r>
              <a:rPr lang="en-US" sz="2800" dirty="0" smtClean="0"/>
              <a:t> (1995). Functional Documents for Computer Systems.</a:t>
            </a:r>
          </a:p>
          <a:p>
            <a:pPr lvl="1"/>
            <a:r>
              <a:rPr lang="en-US" sz="2400" dirty="0" smtClean="0"/>
              <a:t>NAT, REQ, IN, OUT and SOF.</a:t>
            </a:r>
          </a:p>
          <a:p>
            <a:r>
              <a:rPr lang="en-US" sz="2800" dirty="0" smtClean="0"/>
              <a:t>Carl A. Gunter et al. (1998). A Reference Model for Requirements and Specifications.</a:t>
            </a:r>
          </a:p>
          <a:p>
            <a:pPr lvl="1"/>
            <a:r>
              <a:rPr lang="en-US" sz="2400" dirty="0" smtClean="0"/>
              <a:t>WRSPM reference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9951</TotalTime>
  <Words>916</Words>
  <Application>Microsoft Office PowerPoint</Application>
  <PresentationFormat>On-screen Show (4:3)</PresentationFormat>
  <Paragraphs>148</Paragraphs>
  <Slides>21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User Requirements</vt:lpstr>
      <vt:lpstr>Objectives</vt:lpstr>
      <vt:lpstr>Contents</vt:lpstr>
      <vt:lpstr>References</vt:lpstr>
      <vt:lpstr>Discovering User Requirements</vt:lpstr>
      <vt:lpstr>Glossary [1]</vt:lpstr>
      <vt:lpstr>Business Rules</vt:lpstr>
      <vt:lpstr>Features [2]</vt:lpstr>
      <vt:lpstr>How to Specify a Feature?</vt:lpstr>
      <vt:lpstr>How to Indentify a Correct Feature?</vt:lpstr>
      <vt:lpstr>Sub-features</vt:lpstr>
      <vt:lpstr>Feature Model</vt:lpstr>
      <vt:lpstr>Example</vt:lpstr>
      <vt:lpstr>Feature Tree</vt:lpstr>
      <vt:lpstr>Feature Tree Example [3]</vt:lpstr>
      <vt:lpstr>Slide 16</vt:lpstr>
      <vt:lpstr>Project Vision and Scope [4]</vt:lpstr>
      <vt:lpstr>Project Scope Statement [5]</vt:lpstr>
      <vt:lpstr>Slide 19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4395</cp:revision>
  <dcterms:created xsi:type="dcterms:W3CDTF">2007-10-06T08:25:13Z</dcterms:created>
  <dcterms:modified xsi:type="dcterms:W3CDTF">2025-09-05T19:37:42Z</dcterms:modified>
</cp:coreProperties>
</file>