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s/slide8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5"/>
  </p:notesMasterIdLst>
  <p:handoutMasterIdLst>
    <p:handoutMasterId r:id="rId86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795" r:id="rId68"/>
    <p:sldId id="796" r:id="rId69"/>
    <p:sldId id="811" r:id="rId70"/>
    <p:sldId id="812" r:id="rId71"/>
    <p:sldId id="797" r:id="rId72"/>
    <p:sldId id="798" r:id="rId73"/>
    <p:sldId id="799" r:id="rId74"/>
    <p:sldId id="800" r:id="rId75"/>
    <p:sldId id="801" r:id="rId76"/>
    <p:sldId id="802" r:id="rId77"/>
    <p:sldId id="803" r:id="rId78"/>
    <p:sldId id="804" r:id="rId79"/>
    <p:sldId id="805" r:id="rId80"/>
    <p:sldId id="807" r:id="rId81"/>
    <p:sldId id="809" r:id="rId82"/>
    <p:sldId id="808" r:id="rId83"/>
    <p:sldId id="359" r:id="rId8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tableStyles" Target="tableStyle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</a:t>
            </a:r>
            <a:r>
              <a:rPr lang="en-US" sz="1800" i="1" dirty="0" smtClean="0">
                <a:solidFill>
                  <a:srgbClr val="C00000"/>
                </a:solidFill>
              </a:rPr>
              <a:t>artifacts</a:t>
            </a:r>
            <a:r>
              <a:rPr lang="en-US" sz="1800" i="1" dirty="0" smtClean="0">
                <a:solidFill>
                  <a:srgbClr val="C00000"/>
                </a:solidFill>
              </a:rPr>
              <a:t>.</a:t>
            </a:r>
            <a:endParaRPr lang="en-US" sz="1800" i="1" dirty="0" smtClean="0">
              <a:solidFill>
                <a:srgbClr val="C00000"/>
              </a:solidFill>
            </a:endParaRP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ICP = Ideal Customer Profile</a:t>
            </a:r>
            <a:r>
              <a:rPr lang="en-US" dirty="0" smtClean="0"/>
              <a:t>.</a:t>
            </a:r>
          </a:p>
          <a:p>
            <a:r>
              <a:rPr lang="en-US" dirty="0" smtClean="0"/>
              <a:t>It </a:t>
            </a:r>
            <a:r>
              <a:rPr lang="en-US" dirty="0" smtClean="0"/>
              <a:t>means the specific type of customer a product should focus on first because they have the strongest pain, highest willingness to pay, and best fit for </a:t>
            </a:r>
            <a:r>
              <a:rPr lang="en-US" dirty="0" smtClean="0"/>
              <a:t>the solution</a:t>
            </a:r>
            <a:r>
              <a:rPr lang="en-US" dirty="0" smtClean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moat is a defensible advantage that makes a product hard for competitors to copy or beat.</a:t>
            </a:r>
            <a:endParaRPr 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21336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7526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12258</TotalTime>
  <Words>2478</Words>
  <Application>Microsoft Office PowerPoint</Application>
  <PresentationFormat>On-screen Show (4:3)</PresentationFormat>
  <Paragraphs>356</Paragraphs>
  <Slides>83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4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 Proposal</vt:lpstr>
      <vt:lpstr>Slide 66</vt:lpstr>
      <vt:lpstr>Project Feasibility?</vt:lpstr>
      <vt:lpstr>Feasibility Study [6]</vt:lpstr>
      <vt:lpstr>ICP</vt:lpstr>
      <vt:lpstr>moat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79</vt:lpstr>
      <vt:lpstr>7. Conduct Project Blastoff Meeting [3]</vt:lpstr>
      <vt:lpstr>Slide 81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4958</cp:revision>
  <dcterms:created xsi:type="dcterms:W3CDTF">2007-10-06T08:25:13Z</dcterms:created>
  <dcterms:modified xsi:type="dcterms:W3CDTF">2026-06-25T20:17:02Z</dcterms:modified>
</cp:coreProperties>
</file>