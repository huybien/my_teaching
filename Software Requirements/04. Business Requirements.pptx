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handoutMasters/handoutMaster1.xml" ContentType="application/vnd.openxmlformats-officedocument.presentationml.handoutMaster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1"/>
  </p:notesMasterIdLst>
  <p:handoutMasterIdLst>
    <p:handoutMasterId r:id="rId72"/>
  </p:handoutMasterIdLst>
  <p:sldIdLst>
    <p:sldId id="256" r:id="rId2"/>
    <p:sldId id="446" r:id="rId3"/>
    <p:sldId id="639" r:id="rId4"/>
    <p:sldId id="358" r:id="rId5"/>
    <p:sldId id="738" r:id="rId6"/>
    <p:sldId id="791" r:id="rId7"/>
    <p:sldId id="792" r:id="rId8"/>
    <p:sldId id="793" r:id="rId9"/>
    <p:sldId id="762" r:id="rId10"/>
    <p:sldId id="720" r:id="rId11"/>
    <p:sldId id="739" r:id="rId12"/>
    <p:sldId id="726" r:id="rId13"/>
    <p:sldId id="727" r:id="rId14"/>
    <p:sldId id="728" r:id="rId15"/>
    <p:sldId id="732" r:id="rId16"/>
    <p:sldId id="746" r:id="rId17"/>
    <p:sldId id="747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79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698" r:id="rId66"/>
    <p:sldId id="753" r:id="rId67"/>
    <p:sldId id="706" r:id="rId68"/>
    <p:sldId id="699" r:id="rId69"/>
    <p:sldId id="359" r:id="rId7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94" autoAdjust="0"/>
    <p:restoredTop sz="94667" autoAdjust="0"/>
  </p:normalViewPr>
  <p:slideViewPr>
    <p:cSldViewPr>
      <p:cViewPr>
        <p:scale>
          <a:sx n="50" d="100"/>
          <a:sy n="50" d="100"/>
        </p:scale>
        <p:origin x="-148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72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executive summary</a:t>
            </a:r>
            <a:r>
              <a:rPr lang="en-US" sz="2400" dirty="0" smtClean="0"/>
              <a:t> document.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200" dirty="0" smtClean="0"/>
              <a:t>Karl </a:t>
            </a:r>
            <a:r>
              <a:rPr lang="en-US" sz="2200" dirty="0" err="1" smtClean="0"/>
              <a:t>Wiegers</a:t>
            </a:r>
            <a:r>
              <a:rPr lang="en-US" sz="22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200" dirty="0" smtClean="0"/>
              <a:t>Alan R. </a:t>
            </a:r>
            <a:r>
              <a:rPr lang="en-US" sz="2200" dirty="0" err="1" smtClean="0"/>
              <a:t>Hevner</a:t>
            </a:r>
            <a:r>
              <a:rPr lang="en-US" sz="22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2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Joy Beatty and Anthony Chen (2012). Visual Models for Software Requirements. Microsoft Press.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Research or Product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br>
              <a:rPr lang="en-US" sz="2200" dirty="0" smtClean="0"/>
            </a:br>
            <a:r>
              <a:rPr lang="en-US" sz="2200" dirty="0" smtClean="0"/>
              <a:t>domain 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Goals: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do you </a:t>
            </a:r>
            <a:r>
              <a:rPr lang="en-US" sz="2400" u="sng" dirty="0" smtClean="0"/>
              <a:t>want</a:t>
            </a:r>
            <a:r>
              <a:rPr lang="en-US" sz="2400" dirty="0" smtClean="0"/>
              <a:t> to achieve?</a:t>
            </a:r>
          </a:p>
          <a:p>
            <a:r>
              <a:rPr lang="en-US" sz="2400" dirty="0" smtClean="0"/>
              <a:t>[Oxford Dictionary] </a:t>
            </a:r>
            <a:r>
              <a:rPr lang="en-US" sz="2400" i="1" dirty="0" smtClean="0">
                <a:solidFill>
                  <a:srgbClr val="C00000"/>
                </a:solidFill>
              </a:rPr>
              <a:t>Something</a:t>
            </a:r>
            <a:r>
              <a:rPr lang="en-US" sz="2400" dirty="0" smtClean="0"/>
              <a:t> that you </a:t>
            </a:r>
            <a:r>
              <a:rPr lang="en-US" sz="2400" b="1" u="sng" dirty="0" smtClean="0"/>
              <a:t>hope</a:t>
            </a:r>
            <a:r>
              <a:rPr lang="en-US" sz="2400" dirty="0" smtClean="0"/>
              <a:t> to achieve.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project goal</a:t>
            </a:r>
            <a:r>
              <a:rPr lang="en-US" sz="2400" dirty="0" smtClean="0"/>
              <a:t> is the highest-level </a:t>
            </a:r>
            <a:r>
              <a:rPr lang="en-US" sz="2400" u="sng" dirty="0" smtClean="0"/>
              <a:t>requirement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All of the </a:t>
            </a:r>
            <a:r>
              <a:rPr lang="en-US" sz="24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400" dirty="0" smtClean="0"/>
              <a:t> must make a </a:t>
            </a:r>
            <a:r>
              <a:rPr lang="en-US" sz="2400" u="sng" dirty="0" smtClean="0"/>
              <a:t>positive contribution</a:t>
            </a:r>
            <a:r>
              <a:rPr lang="en-US" sz="2400" dirty="0" smtClean="0"/>
              <a:t> toward reaching that goal.</a:t>
            </a:r>
          </a:p>
          <a:p>
            <a:endParaRPr lang="en-US" sz="2400" dirty="0"/>
          </a:p>
        </p:txBody>
      </p:sp>
      <p:pic>
        <p:nvPicPr>
          <p:cNvPr id="4" name="Picture 3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038600"/>
            <a:ext cx="3048000" cy="22860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533400"/>
            <a:ext cx="2026846" cy="1350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3000375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990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</a:t>
            </a:r>
            <a:r>
              <a:rPr lang="en-US" dirty="0" smtClean="0"/>
              <a:t>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2860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5908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40386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2192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STAKEHOLDERS' </a:t>
            </a:r>
            <a:r>
              <a:rPr lang="en-US" dirty="0" smtClean="0"/>
              <a:t>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Executive 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52600"/>
            <a:ext cx="5867400" cy="4267200"/>
          </a:xfrm>
        </p:spPr>
        <p:txBody>
          <a:bodyPr/>
          <a:lstStyle/>
          <a:p>
            <a:r>
              <a:rPr lang="en-US" sz="1800" dirty="0" smtClean="0"/>
              <a:t>The market/target audience (the </a:t>
            </a:r>
            <a:r>
              <a:rPr lang="en-US" sz="1800" i="1" dirty="0" smtClean="0">
                <a:solidFill>
                  <a:srgbClr val="C00000"/>
                </a:solidFill>
              </a:rPr>
              <a:t>sponsors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customers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users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stakeholders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budget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timing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pain points</a:t>
            </a:r>
            <a:r>
              <a:rPr lang="en-US" sz="1800" dirty="0" smtClean="0"/>
              <a:t>/problems/needs.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solution</a:t>
            </a:r>
            <a:r>
              <a:rPr lang="en-US" sz="1800" dirty="0" smtClean="0"/>
              <a:t> (The </a:t>
            </a:r>
            <a:r>
              <a:rPr lang="en-US" sz="1800" u="sng" dirty="0" smtClean="0"/>
              <a:t>core</a:t>
            </a:r>
            <a:r>
              <a:rPr lang="en-US" sz="1800" dirty="0" smtClean="0"/>
              <a:t> </a:t>
            </a:r>
            <a:r>
              <a:rPr lang="en-US" sz="1800" i="1" dirty="0" smtClean="0">
                <a:solidFill>
                  <a:srgbClr val="C00000"/>
                </a:solidFill>
              </a:rPr>
              <a:t>business use case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competitors</a:t>
            </a:r>
            <a:r>
              <a:rPr lang="en-US" sz="1800" dirty="0" smtClean="0"/>
              <a:t>/weakness/differentiators.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risks</a:t>
            </a:r>
            <a:r>
              <a:rPr lang="en-US" sz="1800" dirty="0" smtClean="0"/>
              <a:t>/strengths/opportunities/grand vision.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business goals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reasons</a:t>
            </a:r>
            <a:r>
              <a:rPr lang="en-US" sz="1800" b="1" dirty="0" smtClean="0"/>
              <a:t> </a:t>
            </a:r>
            <a:r>
              <a:rPr lang="en-US" sz="1800" dirty="0" smtClean="0"/>
              <a:t>to solve the problems (the predicted </a:t>
            </a:r>
            <a:r>
              <a:rPr lang="en-US" sz="1800" i="1" dirty="0" smtClean="0">
                <a:solidFill>
                  <a:srgbClr val="C00000"/>
                </a:solidFill>
              </a:rPr>
              <a:t>benefits</a:t>
            </a:r>
            <a:r>
              <a:rPr lang="en-US" sz="1800" dirty="0" smtClean="0"/>
              <a:t>, </a:t>
            </a:r>
            <a:r>
              <a:rPr lang="en-US" sz="1800" i="1" dirty="0" smtClean="0">
                <a:solidFill>
                  <a:srgbClr val="C00000"/>
                </a:solidFill>
              </a:rPr>
              <a:t>revenue</a:t>
            </a:r>
            <a:r>
              <a:rPr lang="en-US" sz="1800" dirty="0" smtClean="0"/>
              <a:t> and </a:t>
            </a:r>
            <a:r>
              <a:rPr lang="en-US" sz="1800" i="1" dirty="0" smtClean="0">
                <a:solidFill>
                  <a:srgbClr val="C00000"/>
                </a:solidFill>
              </a:rPr>
              <a:t>incomes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For a commercial </a:t>
            </a:r>
            <a:r>
              <a:rPr lang="en-US" sz="1800" u="sng" dirty="0" smtClean="0"/>
              <a:t>product</a:t>
            </a:r>
            <a:r>
              <a:rPr lang="en-US" sz="1800" dirty="0" smtClean="0"/>
              <a:t>: The customer discovery report.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high-level features, </a:t>
            </a:r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expected artifacts,.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context diagram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elevator pitch</a:t>
            </a:r>
            <a:r>
              <a:rPr lang="en-US" sz="1800" dirty="0" smtClean="0"/>
              <a:t>.</a:t>
            </a:r>
            <a:endParaRPr lang="en-US" sz="1800" i="1" dirty="0" smtClean="0">
              <a:solidFill>
                <a:srgbClr val="C00000"/>
              </a:solidFill>
            </a:endParaRPr>
          </a:p>
        </p:txBody>
      </p:sp>
      <p:pic>
        <p:nvPicPr>
          <p:cNvPr id="1026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359912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35636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7. Conduct Project Blastoff Meeting [3]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12028</TotalTime>
  <Words>2189</Words>
  <Application>Microsoft Office PowerPoint</Application>
  <PresentationFormat>On-screen Show (4:3)</PresentationFormat>
  <Paragraphs>313</Paragraphs>
  <Slides>69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0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Identify Sponsor</vt:lpstr>
      <vt:lpstr>2. Identify Budget</vt:lpstr>
      <vt:lpstr>Slide 9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Common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Executive Summary</vt:lpstr>
      <vt:lpstr>7. Conduct Project Blastoff Meeting [3]</vt:lpstr>
      <vt:lpstr>Slide 67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4921</cp:revision>
  <dcterms:created xsi:type="dcterms:W3CDTF">2007-10-06T08:25:13Z</dcterms:created>
  <dcterms:modified xsi:type="dcterms:W3CDTF">2026-06-07T15:40:11Z</dcterms:modified>
</cp:coreProperties>
</file>