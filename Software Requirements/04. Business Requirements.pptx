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handoutMasters/handoutMaster1.xml" ContentType="application/vnd.openxmlformats-officedocument.presentationml.handoutMaster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83"/>
  </p:notesMasterIdLst>
  <p:handoutMasterIdLst>
    <p:handoutMasterId r:id="rId84"/>
  </p:handoutMasterIdLst>
  <p:sldIdLst>
    <p:sldId id="256" r:id="rId2"/>
    <p:sldId id="446" r:id="rId3"/>
    <p:sldId id="639" r:id="rId4"/>
    <p:sldId id="358" r:id="rId5"/>
    <p:sldId id="738" r:id="rId6"/>
    <p:sldId id="791" r:id="rId7"/>
    <p:sldId id="792" r:id="rId8"/>
    <p:sldId id="793" r:id="rId9"/>
    <p:sldId id="762" r:id="rId10"/>
    <p:sldId id="720" r:id="rId11"/>
    <p:sldId id="739" r:id="rId12"/>
    <p:sldId id="726" r:id="rId13"/>
    <p:sldId id="727" r:id="rId14"/>
    <p:sldId id="728" r:id="rId15"/>
    <p:sldId id="732" r:id="rId16"/>
    <p:sldId id="746" r:id="rId17"/>
    <p:sldId id="747" r:id="rId18"/>
    <p:sldId id="786" r:id="rId19"/>
    <p:sldId id="785" r:id="rId20"/>
    <p:sldId id="765" r:id="rId21"/>
    <p:sldId id="766" r:id="rId22"/>
    <p:sldId id="767" r:id="rId23"/>
    <p:sldId id="768" r:id="rId24"/>
    <p:sldId id="769" r:id="rId25"/>
    <p:sldId id="770" r:id="rId26"/>
    <p:sldId id="771" r:id="rId27"/>
    <p:sldId id="772" r:id="rId28"/>
    <p:sldId id="773" r:id="rId29"/>
    <p:sldId id="774" r:id="rId30"/>
    <p:sldId id="775" r:id="rId31"/>
    <p:sldId id="776" r:id="rId32"/>
    <p:sldId id="777" r:id="rId33"/>
    <p:sldId id="778" r:id="rId34"/>
    <p:sldId id="779" r:id="rId35"/>
    <p:sldId id="780" r:id="rId36"/>
    <p:sldId id="781" r:id="rId37"/>
    <p:sldId id="782" r:id="rId38"/>
    <p:sldId id="783" r:id="rId39"/>
    <p:sldId id="787" r:id="rId40"/>
    <p:sldId id="652" r:id="rId41"/>
    <p:sldId id="653" r:id="rId42"/>
    <p:sldId id="662" r:id="rId43"/>
    <p:sldId id="794" r:id="rId44"/>
    <p:sldId id="655" r:id="rId45"/>
    <p:sldId id="659" r:id="rId46"/>
    <p:sldId id="743" r:id="rId47"/>
    <p:sldId id="744" r:id="rId48"/>
    <p:sldId id="754" r:id="rId49"/>
    <p:sldId id="788" r:id="rId50"/>
    <p:sldId id="757" r:id="rId51"/>
    <p:sldId id="759" r:id="rId52"/>
    <p:sldId id="758" r:id="rId53"/>
    <p:sldId id="755" r:id="rId54"/>
    <p:sldId id="789" r:id="rId55"/>
    <p:sldId id="790" r:id="rId56"/>
    <p:sldId id="749" r:id="rId57"/>
    <p:sldId id="680" r:id="rId58"/>
    <p:sldId id="682" r:id="rId59"/>
    <p:sldId id="683" r:id="rId60"/>
    <p:sldId id="679" r:id="rId61"/>
    <p:sldId id="666" r:id="rId62"/>
    <p:sldId id="693" r:id="rId63"/>
    <p:sldId id="694" r:id="rId64"/>
    <p:sldId id="734" r:id="rId65"/>
    <p:sldId id="698" r:id="rId66"/>
    <p:sldId id="706" r:id="rId67"/>
    <p:sldId id="795" r:id="rId68"/>
    <p:sldId id="796" r:id="rId69"/>
    <p:sldId id="797" r:id="rId70"/>
    <p:sldId id="798" r:id="rId71"/>
    <p:sldId id="799" r:id="rId72"/>
    <p:sldId id="800" r:id="rId73"/>
    <p:sldId id="801" r:id="rId74"/>
    <p:sldId id="802" r:id="rId75"/>
    <p:sldId id="803" r:id="rId76"/>
    <p:sldId id="804" r:id="rId77"/>
    <p:sldId id="805" r:id="rId78"/>
    <p:sldId id="807" r:id="rId79"/>
    <p:sldId id="809" r:id="rId80"/>
    <p:sldId id="808" r:id="rId81"/>
    <p:sldId id="359" r:id="rId8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94" autoAdjust="0"/>
    <p:restoredTop sz="94667" autoAdjust="0"/>
  </p:normalViewPr>
  <p:slideViewPr>
    <p:cSldViewPr>
      <p:cViewPr>
        <p:scale>
          <a:sx n="50" d="100"/>
          <a:sy n="50" d="100"/>
        </p:scale>
        <p:origin x="-148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345B50-5AD1-478C-8BEE-7B1273750DC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A78F25-E4A0-4965-A658-0084AB99CA1F}">
      <dgm:prSet phldrT="[Text]" custT="1"/>
      <dgm:spPr/>
      <dgm:t>
        <a:bodyPr/>
        <a:lstStyle/>
        <a:p>
          <a:r>
            <a:rPr lang="en-US" sz="2200" dirty="0" smtClean="0"/>
            <a:t>Purpose</a:t>
          </a:r>
          <a:endParaRPr lang="en-US" sz="2200" dirty="0"/>
        </a:p>
      </dgm:t>
    </dgm:pt>
    <dgm:pt modelId="{2276D278-2A6B-416B-83EB-6F9D11A1587D}" type="parTrans" cxnId="{EF286308-48AB-46EF-B1DF-DCC2ECE74862}">
      <dgm:prSet/>
      <dgm:spPr/>
      <dgm:t>
        <a:bodyPr/>
        <a:lstStyle/>
        <a:p>
          <a:endParaRPr lang="en-US"/>
        </a:p>
      </dgm:t>
    </dgm:pt>
    <dgm:pt modelId="{1C2299ED-875C-4AAF-9A51-9AFB85C9EB7C}" type="sibTrans" cxnId="{EF286308-48AB-46EF-B1DF-DCC2ECE74862}">
      <dgm:prSet/>
      <dgm:spPr/>
      <dgm:t>
        <a:bodyPr/>
        <a:lstStyle/>
        <a:p>
          <a:endParaRPr lang="en-US"/>
        </a:p>
      </dgm:t>
    </dgm:pt>
    <dgm:pt modelId="{17F78D15-90A9-4321-80C0-7F95643E32E1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200" dirty="0" smtClean="0"/>
            <a:t>Reason</a:t>
          </a:r>
          <a:endParaRPr lang="en-US" sz="2200" dirty="0"/>
        </a:p>
      </dgm:t>
    </dgm:pt>
    <dgm:pt modelId="{2D735C95-75E5-4BBE-97EF-B0901070C931}" type="parTrans" cxnId="{5B3739E5-13D4-4099-938B-7C5F29A12EC1}">
      <dgm:prSet/>
      <dgm:spPr/>
      <dgm:t>
        <a:bodyPr/>
        <a:lstStyle/>
        <a:p>
          <a:endParaRPr lang="en-US"/>
        </a:p>
      </dgm:t>
    </dgm:pt>
    <dgm:pt modelId="{2C28AF82-B4B5-4FD7-B94F-BCF13943E541}" type="sibTrans" cxnId="{5B3739E5-13D4-4099-938B-7C5F29A12EC1}">
      <dgm:prSet/>
      <dgm:spPr/>
      <dgm:t>
        <a:bodyPr/>
        <a:lstStyle/>
        <a:p>
          <a:endParaRPr lang="en-US"/>
        </a:p>
      </dgm:t>
    </dgm:pt>
    <dgm:pt modelId="{F14627D2-99F3-4BB9-ACF0-9B3757D4BA23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2200" dirty="0" smtClean="0"/>
            <a:t>The evaluation criteria</a:t>
          </a:r>
          <a:endParaRPr lang="en-US" sz="2200" dirty="0"/>
        </a:p>
      </dgm:t>
    </dgm:pt>
    <dgm:pt modelId="{D0C48550-9AD0-477C-BC8B-C1F7314E24CF}" type="parTrans" cxnId="{1BF9344A-9CDC-4EEE-B226-8D9F4E47A0E6}">
      <dgm:prSet/>
      <dgm:spPr/>
      <dgm:t>
        <a:bodyPr/>
        <a:lstStyle/>
        <a:p>
          <a:endParaRPr lang="en-US"/>
        </a:p>
      </dgm:t>
    </dgm:pt>
    <dgm:pt modelId="{BC2FB94A-0519-4109-B86D-1185FC588AD9}" type="sibTrans" cxnId="{1BF9344A-9CDC-4EEE-B226-8D9F4E47A0E6}">
      <dgm:prSet/>
      <dgm:spPr/>
      <dgm:t>
        <a:bodyPr/>
        <a:lstStyle/>
        <a:p>
          <a:endParaRPr lang="en-US"/>
        </a:p>
      </dgm:t>
    </dgm:pt>
    <dgm:pt modelId="{BE2D09AC-4CBB-4424-A502-FFF2C66BDC24}">
      <dgm:prSet phldrT="[Text]" custT="1"/>
      <dgm:spPr>
        <a:solidFill>
          <a:schemeClr val="accent5"/>
        </a:solidFill>
      </dgm:spPr>
      <dgm:t>
        <a:bodyPr/>
        <a:lstStyle/>
        <a:p>
          <a:r>
            <a:rPr lang="en-US" sz="2200" dirty="0" smtClean="0"/>
            <a:t>The study findings</a:t>
          </a:r>
          <a:endParaRPr lang="en-US" sz="2200" dirty="0"/>
        </a:p>
      </dgm:t>
    </dgm:pt>
    <dgm:pt modelId="{E5366607-D931-467B-8B18-B07F15C0B1C9}" type="parTrans" cxnId="{668A54BA-3784-42F1-9F39-8C2FC1623344}">
      <dgm:prSet/>
      <dgm:spPr/>
      <dgm:t>
        <a:bodyPr/>
        <a:lstStyle/>
        <a:p>
          <a:endParaRPr lang="en-US"/>
        </a:p>
      </dgm:t>
    </dgm:pt>
    <dgm:pt modelId="{D40DD221-2846-496B-8E8B-A849F60C0C47}" type="sibTrans" cxnId="{668A54BA-3784-42F1-9F39-8C2FC1623344}">
      <dgm:prSet/>
      <dgm:spPr/>
      <dgm:t>
        <a:bodyPr/>
        <a:lstStyle/>
        <a:p>
          <a:endParaRPr lang="en-US"/>
        </a:p>
      </dgm:t>
    </dgm:pt>
    <dgm:pt modelId="{700EE0F2-D2BF-46CD-ABAB-85E8CD19E387}">
      <dgm:prSet phldrT="[Text]" custT="1"/>
      <dgm:spPr>
        <a:solidFill>
          <a:schemeClr val="accent6"/>
        </a:solidFill>
      </dgm:spPr>
      <dgm:t>
        <a:bodyPr/>
        <a:lstStyle/>
        <a:p>
          <a:r>
            <a:rPr lang="en-US" sz="2200" dirty="0" smtClean="0"/>
            <a:t>The recommendations</a:t>
          </a:r>
          <a:endParaRPr lang="en-US" sz="2200" dirty="0"/>
        </a:p>
      </dgm:t>
    </dgm:pt>
    <dgm:pt modelId="{B29AB8E3-4DBF-4361-A563-941D6FF583AA}" type="parTrans" cxnId="{0AB6244E-E6D1-4603-8608-7786CE568958}">
      <dgm:prSet/>
      <dgm:spPr/>
      <dgm:t>
        <a:bodyPr/>
        <a:lstStyle/>
        <a:p>
          <a:endParaRPr lang="en-US"/>
        </a:p>
      </dgm:t>
    </dgm:pt>
    <dgm:pt modelId="{F27186F8-E82E-4AD8-ADC6-D28CDC967827}" type="sibTrans" cxnId="{0AB6244E-E6D1-4603-8608-7786CE568958}">
      <dgm:prSet/>
      <dgm:spPr/>
      <dgm:t>
        <a:bodyPr/>
        <a:lstStyle/>
        <a:p>
          <a:endParaRPr lang="en-US"/>
        </a:p>
      </dgm:t>
    </dgm:pt>
    <dgm:pt modelId="{0100315B-D429-4EAC-8AA1-BEFCB3B6B2D9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200" dirty="0" smtClean="0"/>
            <a:t>Background information</a:t>
          </a:r>
          <a:endParaRPr lang="en-US" sz="2200" dirty="0"/>
        </a:p>
      </dgm:t>
    </dgm:pt>
    <dgm:pt modelId="{DBA45244-1A55-431F-9254-F51FEE3E1101}" type="parTrans" cxnId="{CE57512A-58E2-42DA-B069-996FF30E4A1C}">
      <dgm:prSet/>
      <dgm:spPr/>
    </dgm:pt>
    <dgm:pt modelId="{D24FC51D-FCC1-4684-B9BB-807CB7CF9A0A}" type="sibTrans" cxnId="{CE57512A-58E2-42DA-B069-996FF30E4A1C}">
      <dgm:prSet/>
      <dgm:spPr/>
    </dgm:pt>
    <dgm:pt modelId="{9EFE8DBD-3349-4550-A4EC-39766CB04F86}" type="pres">
      <dgm:prSet presAssocID="{FD345B50-5AD1-478C-8BEE-7B1273750DCB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F23568B-F979-44DF-84C3-ADBBD77DD4B6}" type="pres">
      <dgm:prSet presAssocID="{8CA78F25-E4A0-4965-A658-0084AB99CA1F}" presName="parentLin" presStyleCnt="0"/>
      <dgm:spPr/>
    </dgm:pt>
    <dgm:pt modelId="{5C1DC1E6-7DCB-43E0-BA21-A8A0AB80CD78}" type="pres">
      <dgm:prSet presAssocID="{8CA78F25-E4A0-4965-A658-0084AB99CA1F}" presName="parentLeftMargin" presStyleLbl="node1" presStyleIdx="0" presStyleCnt="6"/>
      <dgm:spPr/>
      <dgm:t>
        <a:bodyPr/>
        <a:lstStyle/>
        <a:p>
          <a:endParaRPr lang="en-US"/>
        </a:p>
      </dgm:t>
    </dgm:pt>
    <dgm:pt modelId="{4F622BEB-62C0-41FB-AA25-3807F8F602A7}" type="pres">
      <dgm:prSet presAssocID="{8CA78F25-E4A0-4965-A658-0084AB99CA1F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12E137-4C01-4626-80BD-8612A623F0E4}" type="pres">
      <dgm:prSet presAssocID="{8CA78F25-E4A0-4965-A658-0084AB99CA1F}" presName="negativeSpace" presStyleCnt="0"/>
      <dgm:spPr/>
    </dgm:pt>
    <dgm:pt modelId="{56CABD1B-944E-49F7-866A-C6598132C0E2}" type="pres">
      <dgm:prSet presAssocID="{8CA78F25-E4A0-4965-A658-0084AB99CA1F}" presName="childText" presStyleLbl="conFgAcc1" presStyleIdx="0" presStyleCnt="6">
        <dgm:presLayoutVars>
          <dgm:bulletEnabled val="1"/>
        </dgm:presLayoutVars>
      </dgm:prSet>
      <dgm:spPr/>
    </dgm:pt>
    <dgm:pt modelId="{81ACD076-1FCC-4FF6-A274-B3BD90DC9978}" type="pres">
      <dgm:prSet presAssocID="{1C2299ED-875C-4AAF-9A51-9AFB85C9EB7C}" presName="spaceBetweenRectangles" presStyleCnt="0"/>
      <dgm:spPr/>
    </dgm:pt>
    <dgm:pt modelId="{EAA56398-F73A-4FE2-B746-BD84BFC141F8}" type="pres">
      <dgm:prSet presAssocID="{17F78D15-90A9-4321-80C0-7F95643E32E1}" presName="parentLin" presStyleCnt="0"/>
      <dgm:spPr/>
    </dgm:pt>
    <dgm:pt modelId="{A5CDB8F0-A3D9-4691-8832-2F348E9FEF4B}" type="pres">
      <dgm:prSet presAssocID="{17F78D15-90A9-4321-80C0-7F95643E32E1}" presName="parentLeftMargin" presStyleLbl="node1" presStyleIdx="0" presStyleCnt="6"/>
      <dgm:spPr/>
      <dgm:t>
        <a:bodyPr/>
        <a:lstStyle/>
        <a:p>
          <a:endParaRPr lang="en-US"/>
        </a:p>
      </dgm:t>
    </dgm:pt>
    <dgm:pt modelId="{0ABD91B7-67D8-4835-9472-249FD879718E}" type="pres">
      <dgm:prSet presAssocID="{17F78D15-90A9-4321-80C0-7F95643E32E1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C1D4E5-54DD-4F5D-8B65-D8E3491AED12}" type="pres">
      <dgm:prSet presAssocID="{17F78D15-90A9-4321-80C0-7F95643E32E1}" presName="negativeSpace" presStyleCnt="0"/>
      <dgm:spPr/>
    </dgm:pt>
    <dgm:pt modelId="{8B5298D1-CF53-49BC-9023-0EE6E258E573}" type="pres">
      <dgm:prSet presAssocID="{17F78D15-90A9-4321-80C0-7F95643E32E1}" presName="childText" presStyleLbl="conFgAcc1" presStyleIdx="1" presStyleCnt="6">
        <dgm:presLayoutVars>
          <dgm:bulletEnabled val="1"/>
        </dgm:presLayoutVars>
      </dgm:prSet>
      <dgm:spPr/>
    </dgm:pt>
    <dgm:pt modelId="{AB539887-6226-438A-9686-BCE467EC5E8D}" type="pres">
      <dgm:prSet presAssocID="{2C28AF82-B4B5-4FD7-B94F-BCF13943E541}" presName="spaceBetweenRectangles" presStyleCnt="0"/>
      <dgm:spPr/>
    </dgm:pt>
    <dgm:pt modelId="{D0E10FBA-41A3-4B5B-B01A-D81B69CB9BA2}" type="pres">
      <dgm:prSet presAssocID="{0100315B-D429-4EAC-8AA1-BEFCB3B6B2D9}" presName="parentLin" presStyleCnt="0"/>
      <dgm:spPr/>
    </dgm:pt>
    <dgm:pt modelId="{4290549B-C467-406D-AC08-B83AFD29D973}" type="pres">
      <dgm:prSet presAssocID="{0100315B-D429-4EAC-8AA1-BEFCB3B6B2D9}" presName="parentLeftMargin" presStyleLbl="node1" presStyleIdx="1" presStyleCnt="6"/>
      <dgm:spPr/>
      <dgm:t>
        <a:bodyPr/>
        <a:lstStyle/>
        <a:p>
          <a:endParaRPr lang="en-US"/>
        </a:p>
      </dgm:t>
    </dgm:pt>
    <dgm:pt modelId="{AD646C37-0DDC-40B6-BFF6-68C35C41D431}" type="pres">
      <dgm:prSet presAssocID="{0100315B-D429-4EAC-8AA1-BEFCB3B6B2D9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D781924-C0DF-43D6-B614-711C5553AD2F}" type="pres">
      <dgm:prSet presAssocID="{0100315B-D429-4EAC-8AA1-BEFCB3B6B2D9}" presName="negativeSpace" presStyleCnt="0"/>
      <dgm:spPr/>
    </dgm:pt>
    <dgm:pt modelId="{8011D070-568F-4A84-BD56-7ABA35D47A61}" type="pres">
      <dgm:prSet presAssocID="{0100315B-D429-4EAC-8AA1-BEFCB3B6B2D9}" presName="childText" presStyleLbl="conFgAcc1" presStyleIdx="2" presStyleCnt="6">
        <dgm:presLayoutVars>
          <dgm:bulletEnabled val="1"/>
        </dgm:presLayoutVars>
      </dgm:prSet>
      <dgm:spPr/>
    </dgm:pt>
    <dgm:pt modelId="{75BE8DB7-21DB-46A5-9B89-C43D3257A63A}" type="pres">
      <dgm:prSet presAssocID="{D24FC51D-FCC1-4684-B9BB-807CB7CF9A0A}" presName="spaceBetweenRectangles" presStyleCnt="0"/>
      <dgm:spPr/>
    </dgm:pt>
    <dgm:pt modelId="{22B3EFEA-0ED8-4B23-A002-30559B3EF99F}" type="pres">
      <dgm:prSet presAssocID="{F14627D2-99F3-4BB9-ACF0-9B3757D4BA23}" presName="parentLin" presStyleCnt="0"/>
      <dgm:spPr/>
    </dgm:pt>
    <dgm:pt modelId="{1599F2CB-C4E6-4818-A1E7-E4DBD180D586}" type="pres">
      <dgm:prSet presAssocID="{F14627D2-99F3-4BB9-ACF0-9B3757D4BA23}" presName="parentLeftMargin" presStyleLbl="node1" presStyleIdx="2" presStyleCnt="6" custScaleX="119481"/>
      <dgm:spPr/>
      <dgm:t>
        <a:bodyPr/>
        <a:lstStyle/>
        <a:p>
          <a:endParaRPr lang="en-US"/>
        </a:p>
      </dgm:t>
    </dgm:pt>
    <dgm:pt modelId="{90065A47-6053-496C-B292-B863C5F1C893}" type="pres">
      <dgm:prSet presAssocID="{F14627D2-99F3-4BB9-ACF0-9B3757D4BA23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2641813-5179-4554-A4AA-CE9C7A39B4EC}" type="pres">
      <dgm:prSet presAssocID="{F14627D2-99F3-4BB9-ACF0-9B3757D4BA23}" presName="negativeSpace" presStyleCnt="0"/>
      <dgm:spPr/>
    </dgm:pt>
    <dgm:pt modelId="{2CC94E98-C2BC-40BA-BA2C-53E02A202477}" type="pres">
      <dgm:prSet presAssocID="{F14627D2-99F3-4BB9-ACF0-9B3757D4BA23}" presName="childText" presStyleLbl="conFgAcc1" presStyleIdx="3" presStyleCnt="6">
        <dgm:presLayoutVars>
          <dgm:bulletEnabled val="1"/>
        </dgm:presLayoutVars>
      </dgm:prSet>
      <dgm:spPr/>
    </dgm:pt>
    <dgm:pt modelId="{030C9054-684D-4B3C-A5A3-8C45E7C47894}" type="pres">
      <dgm:prSet presAssocID="{BC2FB94A-0519-4109-B86D-1185FC588AD9}" presName="spaceBetweenRectangles" presStyleCnt="0"/>
      <dgm:spPr/>
    </dgm:pt>
    <dgm:pt modelId="{588861EA-FE8F-4D0F-96CC-889C27A7F9A5}" type="pres">
      <dgm:prSet presAssocID="{BE2D09AC-4CBB-4424-A502-FFF2C66BDC24}" presName="parentLin" presStyleCnt="0"/>
      <dgm:spPr/>
    </dgm:pt>
    <dgm:pt modelId="{757F47A7-B9B2-4985-A0DB-301ED68CBB06}" type="pres">
      <dgm:prSet presAssocID="{BE2D09AC-4CBB-4424-A502-FFF2C66BDC24}" presName="parentLeftMargin" presStyleLbl="node1" presStyleIdx="3" presStyleCnt="6" custScaleX="119481"/>
      <dgm:spPr/>
      <dgm:t>
        <a:bodyPr/>
        <a:lstStyle/>
        <a:p>
          <a:endParaRPr lang="en-US"/>
        </a:p>
      </dgm:t>
    </dgm:pt>
    <dgm:pt modelId="{1F9781A0-24EF-4D22-863B-387A9EB35B5D}" type="pres">
      <dgm:prSet presAssocID="{BE2D09AC-4CBB-4424-A502-FFF2C66BDC24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1254B0-7198-4BFC-A80D-3CB26DB1F0A8}" type="pres">
      <dgm:prSet presAssocID="{BE2D09AC-4CBB-4424-A502-FFF2C66BDC24}" presName="negativeSpace" presStyleCnt="0"/>
      <dgm:spPr/>
    </dgm:pt>
    <dgm:pt modelId="{10C80C59-D601-4AD4-9AE0-F459A2AD1F9A}" type="pres">
      <dgm:prSet presAssocID="{BE2D09AC-4CBB-4424-A502-FFF2C66BDC24}" presName="childText" presStyleLbl="conFgAcc1" presStyleIdx="4" presStyleCnt="6">
        <dgm:presLayoutVars>
          <dgm:bulletEnabled val="1"/>
        </dgm:presLayoutVars>
      </dgm:prSet>
      <dgm:spPr/>
    </dgm:pt>
    <dgm:pt modelId="{B4C4D495-AE16-4121-BE91-32BFC1BEEEB5}" type="pres">
      <dgm:prSet presAssocID="{D40DD221-2846-496B-8E8B-A849F60C0C47}" presName="spaceBetweenRectangles" presStyleCnt="0"/>
      <dgm:spPr/>
    </dgm:pt>
    <dgm:pt modelId="{2CD3D00A-2FB7-418E-9441-8C7E48C07CC2}" type="pres">
      <dgm:prSet presAssocID="{700EE0F2-D2BF-46CD-ABAB-85E8CD19E387}" presName="parentLin" presStyleCnt="0"/>
      <dgm:spPr/>
    </dgm:pt>
    <dgm:pt modelId="{AE055BEC-1FF1-49C3-AC9E-0EE2DBDEE993}" type="pres">
      <dgm:prSet presAssocID="{700EE0F2-D2BF-46CD-ABAB-85E8CD19E387}" presName="parentLeftMargin" presStyleLbl="node1" presStyleIdx="4" presStyleCnt="6" custScaleX="119481"/>
      <dgm:spPr/>
      <dgm:t>
        <a:bodyPr/>
        <a:lstStyle/>
        <a:p>
          <a:endParaRPr lang="en-US"/>
        </a:p>
      </dgm:t>
    </dgm:pt>
    <dgm:pt modelId="{D321BBAD-41C6-45AB-9362-3E65DEBF3BC5}" type="pres">
      <dgm:prSet presAssocID="{700EE0F2-D2BF-46CD-ABAB-85E8CD19E387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10BBF1-7B96-4E5C-BC0C-EF1FEDDF9610}" type="pres">
      <dgm:prSet presAssocID="{700EE0F2-D2BF-46CD-ABAB-85E8CD19E387}" presName="negativeSpace" presStyleCnt="0"/>
      <dgm:spPr/>
    </dgm:pt>
    <dgm:pt modelId="{ECAED0D9-0A7B-453D-970D-A96E8C7059E3}" type="pres">
      <dgm:prSet presAssocID="{700EE0F2-D2BF-46CD-ABAB-85E8CD19E387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1BF9344A-9CDC-4EEE-B226-8D9F4E47A0E6}" srcId="{FD345B50-5AD1-478C-8BEE-7B1273750DCB}" destId="{F14627D2-99F3-4BB9-ACF0-9B3757D4BA23}" srcOrd="3" destOrd="0" parTransId="{D0C48550-9AD0-477C-BC8B-C1F7314E24CF}" sibTransId="{BC2FB94A-0519-4109-B86D-1185FC588AD9}"/>
    <dgm:cxn modelId="{2DECAE8C-73B7-4091-8046-73A2B44E3844}" type="presOf" srcId="{700EE0F2-D2BF-46CD-ABAB-85E8CD19E387}" destId="{D321BBAD-41C6-45AB-9362-3E65DEBF3BC5}" srcOrd="1" destOrd="0" presId="urn:microsoft.com/office/officeart/2005/8/layout/list1"/>
    <dgm:cxn modelId="{5B3739E5-13D4-4099-938B-7C5F29A12EC1}" srcId="{FD345B50-5AD1-478C-8BEE-7B1273750DCB}" destId="{17F78D15-90A9-4321-80C0-7F95643E32E1}" srcOrd="1" destOrd="0" parTransId="{2D735C95-75E5-4BBE-97EF-B0901070C931}" sibTransId="{2C28AF82-B4B5-4FD7-B94F-BCF13943E541}"/>
    <dgm:cxn modelId="{23E0822A-9104-444C-B185-B0C961D8F07E}" type="presOf" srcId="{0100315B-D429-4EAC-8AA1-BEFCB3B6B2D9}" destId="{4290549B-C467-406D-AC08-B83AFD29D973}" srcOrd="0" destOrd="0" presId="urn:microsoft.com/office/officeart/2005/8/layout/list1"/>
    <dgm:cxn modelId="{CE57512A-58E2-42DA-B069-996FF30E4A1C}" srcId="{FD345B50-5AD1-478C-8BEE-7B1273750DCB}" destId="{0100315B-D429-4EAC-8AA1-BEFCB3B6B2D9}" srcOrd="2" destOrd="0" parTransId="{DBA45244-1A55-431F-9254-F51FEE3E1101}" sibTransId="{D24FC51D-FCC1-4684-B9BB-807CB7CF9A0A}"/>
    <dgm:cxn modelId="{8FBA6457-EBE3-43F1-806E-E7C17D05FB05}" type="presOf" srcId="{F14627D2-99F3-4BB9-ACF0-9B3757D4BA23}" destId="{90065A47-6053-496C-B292-B863C5F1C893}" srcOrd="1" destOrd="0" presId="urn:microsoft.com/office/officeart/2005/8/layout/list1"/>
    <dgm:cxn modelId="{77BB01D2-6225-4165-9458-940D1163A968}" type="presOf" srcId="{BE2D09AC-4CBB-4424-A502-FFF2C66BDC24}" destId="{757F47A7-B9B2-4985-A0DB-301ED68CBB06}" srcOrd="0" destOrd="0" presId="urn:microsoft.com/office/officeart/2005/8/layout/list1"/>
    <dgm:cxn modelId="{74A7C082-4E8C-4672-AC5C-FC237087C41F}" type="presOf" srcId="{17F78D15-90A9-4321-80C0-7F95643E32E1}" destId="{A5CDB8F0-A3D9-4691-8832-2F348E9FEF4B}" srcOrd="0" destOrd="0" presId="urn:microsoft.com/office/officeart/2005/8/layout/list1"/>
    <dgm:cxn modelId="{4C743D07-4CF7-412A-BD4A-D67E507FA207}" type="presOf" srcId="{8CA78F25-E4A0-4965-A658-0084AB99CA1F}" destId="{4F622BEB-62C0-41FB-AA25-3807F8F602A7}" srcOrd="1" destOrd="0" presId="urn:microsoft.com/office/officeart/2005/8/layout/list1"/>
    <dgm:cxn modelId="{0AB6244E-E6D1-4603-8608-7786CE568958}" srcId="{FD345B50-5AD1-478C-8BEE-7B1273750DCB}" destId="{700EE0F2-D2BF-46CD-ABAB-85E8CD19E387}" srcOrd="5" destOrd="0" parTransId="{B29AB8E3-4DBF-4361-A563-941D6FF583AA}" sibTransId="{F27186F8-E82E-4AD8-ADC6-D28CDC967827}"/>
    <dgm:cxn modelId="{B9424CC8-62DA-4E25-9D1E-D70C8AF6FE0F}" type="presOf" srcId="{700EE0F2-D2BF-46CD-ABAB-85E8CD19E387}" destId="{AE055BEC-1FF1-49C3-AC9E-0EE2DBDEE993}" srcOrd="0" destOrd="0" presId="urn:microsoft.com/office/officeart/2005/8/layout/list1"/>
    <dgm:cxn modelId="{269F35B4-2F18-4D45-B14C-44F219BFA222}" type="presOf" srcId="{8CA78F25-E4A0-4965-A658-0084AB99CA1F}" destId="{5C1DC1E6-7DCB-43E0-BA21-A8A0AB80CD78}" srcOrd="0" destOrd="0" presId="urn:microsoft.com/office/officeart/2005/8/layout/list1"/>
    <dgm:cxn modelId="{C576338D-CFAC-4D47-A03B-B8FC196DDFF1}" type="presOf" srcId="{FD345B50-5AD1-478C-8BEE-7B1273750DCB}" destId="{9EFE8DBD-3349-4550-A4EC-39766CB04F86}" srcOrd="0" destOrd="0" presId="urn:microsoft.com/office/officeart/2005/8/layout/list1"/>
    <dgm:cxn modelId="{F20A06BA-DD96-4DC8-A097-7816649CAE25}" type="presOf" srcId="{17F78D15-90A9-4321-80C0-7F95643E32E1}" destId="{0ABD91B7-67D8-4835-9472-249FD879718E}" srcOrd="1" destOrd="0" presId="urn:microsoft.com/office/officeart/2005/8/layout/list1"/>
    <dgm:cxn modelId="{2478C1BF-7B96-4F91-BD91-34889EA6C7A3}" type="presOf" srcId="{0100315B-D429-4EAC-8AA1-BEFCB3B6B2D9}" destId="{AD646C37-0DDC-40B6-BFF6-68C35C41D431}" srcOrd="1" destOrd="0" presId="urn:microsoft.com/office/officeart/2005/8/layout/list1"/>
    <dgm:cxn modelId="{EF286308-48AB-46EF-B1DF-DCC2ECE74862}" srcId="{FD345B50-5AD1-478C-8BEE-7B1273750DCB}" destId="{8CA78F25-E4A0-4965-A658-0084AB99CA1F}" srcOrd="0" destOrd="0" parTransId="{2276D278-2A6B-416B-83EB-6F9D11A1587D}" sibTransId="{1C2299ED-875C-4AAF-9A51-9AFB85C9EB7C}"/>
    <dgm:cxn modelId="{668A54BA-3784-42F1-9F39-8C2FC1623344}" srcId="{FD345B50-5AD1-478C-8BEE-7B1273750DCB}" destId="{BE2D09AC-4CBB-4424-A502-FFF2C66BDC24}" srcOrd="4" destOrd="0" parTransId="{E5366607-D931-467B-8B18-B07F15C0B1C9}" sibTransId="{D40DD221-2846-496B-8E8B-A849F60C0C47}"/>
    <dgm:cxn modelId="{BD0239DE-9802-4555-9B9F-A06652BEA115}" type="presOf" srcId="{BE2D09AC-4CBB-4424-A502-FFF2C66BDC24}" destId="{1F9781A0-24EF-4D22-863B-387A9EB35B5D}" srcOrd="1" destOrd="0" presId="urn:microsoft.com/office/officeart/2005/8/layout/list1"/>
    <dgm:cxn modelId="{D1E64805-FF36-4E8E-A482-EB14BA5FB20A}" type="presOf" srcId="{F14627D2-99F3-4BB9-ACF0-9B3757D4BA23}" destId="{1599F2CB-C4E6-4818-A1E7-E4DBD180D586}" srcOrd="0" destOrd="0" presId="urn:microsoft.com/office/officeart/2005/8/layout/list1"/>
    <dgm:cxn modelId="{56DE42D4-1BF0-4869-9C1A-000D209F7315}" type="presParOf" srcId="{9EFE8DBD-3349-4550-A4EC-39766CB04F86}" destId="{DF23568B-F979-44DF-84C3-ADBBD77DD4B6}" srcOrd="0" destOrd="0" presId="urn:microsoft.com/office/officeart/2005/8/layout/list1"/>
    <dgm:cxn modelId="{83A6EA42-5C13-43A7-98FF-0871F5EF658B}" type="presParOf" srcId="{DF23568B-F979-44DF-84C3-ADBBD77DD4B6}" destId="{5C1DC1E6-7DCB-43E0-BA21-A8A0AB80CD78}" srcOrd="0" destOrd="0" presId="urn:microsoft.com/office/officeart/2005/8/layout/list1"/>
    <dgm:cxn modelId="{7AAA0A90-CF94-4C30-A30A-EC32B31DCC49}" type="presParOf" srcId="{DF23568B-F979-44DF-84C3-ADBBD77DD4B6}" destId="{4F622BEB-62C0-41FB-AA25-3807F8F602A7}" srcOrd="1" destOrd="0" presId="urn:microsoft.com/office/officeart/2005/8/layout/list1"/>
    <dgm:cxn modelId="{8D036881-4697-420C-A137-3A95AB1B52F4}" type="presParOf" srcId="{9EFE8DBD-3349-4550-A4EC-39766CB04F86}" destId="{F112E137-4C01-4626-80BD-8612A623F0E4}" srcOrd="1" destOrd="0" presId="urn:microsoft.com/office/officeart/2005/8/layout/list1"/>
    <dgm:cxn modelId="{EB7A6754-9D75-4C56-9949-BAD2E545C275}" type="presParOf" srcId="{9EFE8DBD-3349-4550-A4EC-39766CB04F86}" destId="{56CABD1B-944E-49F7-866A-C6598132C0E2}" srcOrd="2" destOrd="0" presId="urn:microsoft.com/office/officeart/2005/8/layout/list1"/>
    <dgm:cxn modelId="{6887860D-B45C-42DC-B707-0C0CF0BF23E7}" type="presParOf" srcId="{9EFE8DBD-3349-4550-A4EC-39766CB04F86}" destId="{81ACD076-1FCC-4FF6-A274-B3BD90DC9978}" srcOrd="3" destOrd="0" presId="urn:microsoft.com/office/officeart/2005/8/layout/list1"/>
    <dgm:cxn modelId="{9067BE2C-D83F-41A8-AA0B-FDC8ABDC2966}" type="presParOf" srcId="{9EFE8DBD-3349-4550-A4EC-39766CB04F86}" destId="{EAA56398-F73A-4FE2-B746-BD84BFC141F8}" srcOrd="4" destOrd="0" presId="urn:microsoft.com/office/officeart/2005/8/layout/list1"/>
    <dgm:cxn modelId="{D6409929-CA7C-463D-A819-C514F9BC6965}" type="presParOf" srcId="{EAA56398-F73A-4FE2-B746-BD84BFC141F8}" destId="{A5CDB8F0-A3D9-4691-8832-2F348E9FEF4B}" srcOrd="0" destOrd="0" presId="urn:microsoft.com/office/officeart/2005/8/layout/list1"/>
    <dgm:cxn modelId="{5BEC91F5-B2D1-4608-946B-1923D8E6769B}" type="presParOf" srcId="{EAA56398-F73A-4FE2-B746-BD84BFC141F8}" destId="{0ABD91B7-67D8-4835-9472-249FD879718E}" srcOrd="1" destOrd="0" presId="urn:microsoft.com/office/officeart/2005/8/layout/list1"/>
    <dgm:cxn modelId="{38BD9A6E-D5C6-449A-9400-A557C6524895}" type="presParOf" srcId="{9EFE8DBD-3349-4550-A4EC-39766CB04F86}" destId="{46C1D4E5-54DD-4F5D-8B65-D8E3491AED12}" srcOrd="5" destOrd="0" presId="urn:microsoft.com/office/officeart/2005/8/layout/list1"/>
    <dgm:cxn modelId="{3FF17C39-0D5B-4F87-9BC3-0AE1A4893D56}" type="presParOf" srcId="{9EFE8DBD-3349-4550-A4EC-39766CB04F86}" destId="{8B5298D1-CF53-49BC-9023-0EE6E258E573}" srcOrd="6" destOrd="0" presId="urn:microsoft.com/office/officeart/2005/8/layout/list1"/>
    <dgm:cxn modelId="{FCAAE229-699A-4436-A772-E5DA8A69C4E4}" type="presParOf" srcId="{9EFE8DBD-3349-4550-A4EC-39766CB04F86}" destId="{AB539887-6226-438A-9686-BCE467EC5E8D}" srcOrd="7" destOrd="0" presId="urn:microsoft.com/office/officeart/2005/8/layout/list1"/>
    <dgm:cxn modelId="{6F0550FC-89DD-4963-A1EB-16E4DBAAF16F}" type="presParOf" srcId="{9EFE8DBD-3349-4550-A4EC-39766CB04F86}" destId="{D0E10FBA-41A3-4B5B-B01A-D81B69CB9BA2}" srcOrd="8" destOrd="0" presId="urn:microsoft.com/office/officeart/2005/8/layout/list1"/>
    <dgm:cxn modelId="{F1E842C6-5C4E-45F4-A3ED-E254DB76F6CE}" type="presParOf" srcId="{D0E10FBA-41A3-4B5B-B01A-D81B69CB9BA2}" destId="{4290549B-C467-406D-AC08-B83AFD29D973}" srcOrd="0" destOrd="0" presId="urn:microsoft.com/office/officeart/2005/8/layout/list1"/>
    <dgm:cxn modelId="{1B8D592D-C361-4C45-902E-DCFF7B3D305B}" type="presParOf" srcId="{D0E10FBA-41A3-4B5B-B01A-D81B69CB9BA2}" destId="{AD646C37-0DDC-40B6-BFF6-68C35C41D431}" srcOrd="1" destOrd="0" presId="urn:microsoft.com/office/officeart/2005/8/layout/list1"/>
    <dgm:cxn modelId="{8DC3C010-00EC-4632-8414-E0CA5F77C098}" type="presParOf" srcId="{9EFE8DBD-3349-4550-A4EC-39766CB04F86}" destId="{BD781924-C0DF-43D6-B614-711C5553AD2F}" srcOrd="9" destOrd="0" presId="urn:microsoft.com/office/officeart/2005/8/layout/list1"/>
    <dgm:cxn modelId="{800E09E9-5FF8-4A6D-8673-0438C3312520}" type="presParOf" srcId="{9EFE8DBD-3349-4550-A4EC-39766CB04F86}" destId="{8011D070-568F-4A84-BD56-7ABA35D47A61}" srcOrd="10" destOrd="0" presId="urn:microsoft.com/office/officeart/2005/8/layout/list1"/>
    <dgm:cxn modelId="{B2152833-7CE9-4619-A209-00A171221164}" type="presParOf" srcId="{9EFE8DBD-3349-4550-A4EC-39766CB04F86}" destId="{75BE8DB7-21DB-46A5-9B89-C43D3257A63A}" srcOrd="11" destOrd="0" presId="urn:microsoft.com/office/officeart/2005/8/layout/list1"/>
    <dgm:cxn modelId="{02FE2AD8-55CE-426B-8184-8D016EED6204}" type="presParOf" srcId="{9EFE8DBD-3349-4550-A4EC-39766CB04F86}" destId="{22B3EFEA-0ED8-4B23-A002-30559B3EF99F}" srcOrd="12" destOrd="0" presId="urn:microsoft.com/office/officeart/2005/8/layout/list1"/>
    <dgm:cxn modelId="{9CA57BF7-6008-4B92-B780-CA0BADA51294}" type="presParOf" srcId="{22B3EFEA-0ED8-4B23-A002-30559B3EF99F}" destId="{1599F2CB-C4E6-4818-A1E7-E4DBD180D586}" srcOrd="0" destOrd="0" presId="urn:microsoft.com/office/officeart/2005/8/layout/list1"/>
    <dgm:cxn modelId="{96EEA89D-585D-46DC-A5CA-CF469909E3C5}" type="presParOf" srcId="{22B3EFEA-0ED8-4B23-A002-30559B3EF99F}" destId="{90065A47-6053-496C-B292-B863C5F1C893}" srcOrd="1" destOrd="0" presId="urn:microsoft.com/office/officeart/2005/8/layout/list1"/>
    <dgm:cxn modelId="{7C769026-504C-41B2-B317-87DE6C4339AA}" type="presParOf" srcId="{9EFE8DBD-3349-4550-A4EC-39766CB04F86}" destId="{92641813-5179-4554-A4AA-CE9C7A39B4EC}" srcOrd="13" destOrd="0" presId="urn:microsoft.com/office/officeart/2005/8/layout/list1"/>
    <dgm:cxn modelId="{38DAD0A3-AE86-4B1D-BBDC-51BD8BED2C3E}" type="presParOf" srcId="{9EFE8DBD-3349-4550-A4EC-39766CB04F86}" destId="{2CC94E98-C2BC-40BA-BA2C-53E02A202477}" srcOrd="14" destOrd="0" presId="urn:microsoft.com/office/officeart/2005/8/layout/list1"/>
    <dgm:cxn modelId="{B4F9C62B-87C6-4822-A609-035FB42F4658}" type="presParOf" srcId="{9EFE8DBD-3349-4550-A4EC-39766CB04F86}" destId="{030C9054-684D-4B3C-A5A3-8C45E7C47894}" srcOrd="15" destOrd="0" presId="urn:microsoft.com/office/officeart/2005/8/layout/list1"/>
    <dgm:cxn modelId="{77569391-A4AA-4190-AD31-2024D0309ABA}" type="presParOf" srcId="{9EFE8DBD-3349-4550-A4EC-39766CB04F86}" destId="{588861EA-FE8F-4D0F-96CC-889C27A7F9A5}" srcOrd="16" destOrd="0" presId="urn:microsoft.com/office/officeart/2005/8/layout/list1"/>
    <dgm:cxn modelId="{F13D2860-988E-4A35-A85A-EA7461F02EB7}" type="presParOf" srcId="{588861EA-FE8F-4D0F-96CC-889C27A7F9A5}" destId="{757F47A7-B9B2-4985-A0DB-301ED68CBB06}" srcOrd="0" destOrd="0" presId="urn:microsoft.com/office/officeart/2005/8/layout/list1"/>
    <dgm:cxn modelId="{D783582E-FA60-4BA0-A232-C01B825C01BE}" type="presParOf" srcId="{588861EA-FE8F-4D0F-96CC-889C27A7F9A5}" destId="{1F9781A0-24EF-4D22-863B-387A9EB35B5D}" srcOrd="1" destOrd="0" presId="urn:microsoft.com/office/officeart/2005/8/layout/list1"/>
    <dgm:cxn modelId="{0B0CAB34-E071-42C4-876C-384781E71794}" type="presParOf" srcId="{9EFE8DBD-3349-4550-A4EC-39766CB04F86}" destId="{481254B0-7198-4BFC-A80D-3CB26DB1F0A8}" srcOrd="17" destOrd="0" presId="urn:microsoft.com/office/officeart/2005/8/layout/list1"/>
    <dgm:cxn modelId="{95BE303B-328E-4049-8FC6-14BB61615E70}" type="presParOf" srcId="{9EFE8DBD-3349-4550-A4EC-39766CB04F86}" destId="{10C80C59-D601-4AD4-9AE0-F459A2AD1F9A}" srcOrd="18" destOrd="0" presId="urn:microsoft.com/office/officeart/2005/8/layout/list1"/>
    <dgm:cxn modelId="{0909616B-DFB8-4701-B7A1-6B868C10223B}" type="presParOf" srcId="{9EFE8DBD-3349-4550-A4EC-39766CB04F86}" destId="{B4C4D495-AE16-4121-BE91-32BFC1BEEEB5}" srcOrd="19" destOrd="0" presId="urn:microsoft.com/office/officeart/2005/8/layout/list1"/>
    <dgm:cxn modelId="{12F7281D-C297-4246-8AE6-53A56085C605}" type="presParOf" srcId="{9EFE8DBD-3349-4550-A4EC-39766CB04F86}" destId="{2CD3D00A-2FB7-418E-9441-8C7E48C07CC2}" srcOrd="20" destOrd="0" presId="urn:microsoft.com/office/officeart/2005/8/layout/list1"/>
    <dgm:cxn modelId="{E5C742A4-41E4-401C-9322-AB8CFB4A692B}" type="presParOf" srcId="{2CD3D00A-2FB7-418E-9441-8C7E48C07CC2}" destId="{AE055BEC-1FF1-49C3-AC9E-0EE2DBDEE993}" srcOrd="0" destOrd="0" presId="urn:microsoft.com/office/officeart/2005/8/layout/list1"/>
    <dgm:cxn modelId="{9D5D1C7B-F422-4236-BD69-88419AC67FD8}" type="presParOf" srcId="{2CD3D00A-2FB7-418E-9441-8C7E48C07CC2}" destId="{D321BBAD-41C6-45AB-9362-3E65DEBF3BC5}" srcOrd="1" destOrd="0" presId="urn:microsoft.com/office/officeart/2005/8/layout/list1"/>
    <dgm:cxn modelId="{C0E5CD1B-1998-46F4-8CC3-4B8DE5E70FB5}" type="presParOf" srcId="{9EFE8DBD-3349-4550-A4EC-39766CB04F86}" destId="{2A10BBF1-7B96-4E5C-BC0C-EF1FEDDF9610}" srcOrd="21" destOrd="0" presId="urn:microsoft.com/office/officeart/2005/8/layout/list1"/>
    <dgm:cxn modelId="{A7A92957-F576-49CF-9880-A1A7D801DCEA}" type="presParOf" srcId="{9EFE8DBD-3349-4550-A4EC-39766CB04F86}" destId="{ECAED0D9-0A7B-453D-970D-A96E8C7059E3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345B50-5AD1-478C-8BEE-7B1273750DC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8CF9E2-D057-449B-9F77-989BF0A428D5}">
      <dgm:prSet phldrT="[Text]" custT="1"/>
      <dgm:spPr/>
      <dgm:t>
        <a:bodyPr/>
        <a:lstStyle/>
        <a:p>
          <a:r>
            <a:rPr lang="en-US" sz="2200" dirty="0" smtClean="0"/>
            <a:t>Helps in analyzing requirements completely</a:t>
          </a:r>
          <a:endParaRPr lang="en-US" sz="2200" dirty="0"/>
        </a:p>
      </dgm:t>
    </dgm:pt>
    <dgm:pt modelId="{FBD8D5A9-F2B9-40DE-8570-070238AC5CE6}" type="parTrans" cxnId="{ADF3DC53-C732-439B-9C09-9C02D4311673}">
      <dgm:prSet/>
      <dgm:spPr/>
      <dgm:t>
        <a:bodyPr/>
        <a:lstStyle/>
        <a:p>
          <a:endParaRPr lang="en-US"/>
        </a:p>
      </dgm:t>
    </dgm:pt>
    <dgm:pt modelId="{6AED833E-5DD9-45E9-B046-2AFCE6E21C09}" type="sibTrans" cxnId="{ADF3DC53-C732-439B-9C09-9C02D4311673}">
      <dgm:prSet/>
      <dgm:spPr/>
      <dgm:t>
        <a:bodyPr/>
        <a:lstStyle/>
        <a:p>
          <a:endParaRPr lang="en-US"/>
        </a:p>
      </dgm:t>
    </dgm:pt>
    <dgm:pt modelId="{2937DDEE-C3F9-4543-9F3A-E8259D957669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200" dirty="0" smtClean="0"/>
            <a:t>Helps in indentifying and planning for risks</a:t>
          </a:r>
          <a:endParaRPr lang="en-US" sz="2200" dirty="0"/>
        </a:p>
      </dgm:t>
    </dgm:pt>
    <dgm:pt modelId="{978DF0AD-B587-450B-A22A-20F55C6C5537}" type="parTrans" cxnId="{D01C8BBA-AD48-4098-9656-1C4528CAD923}">
      <dgm:prSet/>
      <dgm:spPr/>
      <dgm:t>
        <a:bodyPr/>
        <a:lstStyle/>
        <a:p>
          <a:endParaRPr lang="en-US"/>
        </a:p>
      </dgm:t>
    </dgm:pt>
    <dgm:pt modelId="{89B47748-A16A-4DFF-8A4E-8B3A2E0AC180}" type="sibTrans" cxnId="{D01C8BBA-AD48-4098-9656-1C4528CAD923}">
      <dgm:prSet/>
      <dgm:spPr/>
      <dgm:t>
        <a:bodyPr/>
        <a:lstStyle/>
        <a:p>
          <a:endParaRPr lang="en-US"/>
        </a:p>
      </dgm:t>
    </dgm:pt>
    <dgm:pt modelId="{751FA402-92B1-4F34-A9A9-21D2D327DD3D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200" dirty="0" smtClean="0"/>
            <a:t>Helps in making cost/benefit analysis</a:t>
          </a:r>
          <a:endParaRPr lang="en-US" sz="2200" dirty="0"/>
        </a:p>
      </dgm:t>
    </dgm:pt>
    <dgm:pt modelId="{8360F6A5-75C1-4CCB-8253-B49AA6046ED6}" type="parTrans" cxnId="{107C8E7F-6B30-46F2-9211-DEDB030404C7}">
      <dgm:prSet/>
      <dgm:spPr/>
      <dgm:t>
        <a:bodyPr/>
        <a:lstStyle/>
        <a:p>
          <a:endParaRPr lang="en-US"/>
        </a:p>
      </dgm:t>
    </dgm:pt>
    <dgm:pt modelId="{D28EDD0D-3827-43F3-9316-5C550EF82CD6}" type="sibTrans" cxnId="{107C8E7F-6B30-46F2-9211-DEDB030404C7}">
      <dgm:prSet/>
      <dgm:spPr/>
      <dgm:t>
        <a:bodyPr/>
        <a:lstStyle/>
        <a:p>
          <a:endParaRPr lang="en-US"/>
        </a:p>
      </dgm:t>
    </dgm:pt>
    <dgm:pt modelId="{A18431F4-AB3C-4FFE-A51F-640AA583A75E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2200" dirty="0" smtClean="0"/>
            <a:t>Helps in making plan for training developers for implementing the system.</a:t>
          </a:r>
          <a:endParaRPr lang="en-US" sz="2200" dirty="0"/>
        </a:p>
      </dgm:t>
    </dgm:pt>
    <dgm:pt modelId="{AAE997E7-E755-4142-9CC9-7A3DDBB27FFC}" type="parTrans" cxnId="{3D5E3CF4-F29F-40DB-8D18-4BC59E001249}">
      <dgm:prSet/>
      <dgm:spPr/>
      <dgm:t>
        <a:bodyPr/>
        <a:lstStyle/>
        <a:p>
          <a:endParaRPr lang="en-US"/>
        </a:p>
      </dgm:t>
    </dgm:pt>
    <dgm:pt modelId="{C67756B9-9363-48E5-A856-EBEA3F1B0500}" type="sibTrans" cxnId="{3D5E3CF4-F29F-40DB-8D18-4BC59E001249}">
      <dgm:prSet/>
      <dgm:spPr/>
      <dgm:t>
        <a:bodyPr/>
        <a:lstStyle/>
        <a:p>
          <a:endParaRPr lang="en-US"/>
        </a:p>
      </dgm:t>
    </dgm:pt>
    <dgm:pt modelId="{9EFE8DBD-3349-4550-A4EC-39766CB04F86}" type="pres">
      <dgm:prSet presAssocID="{FD345B50-5AD1-478C-8BEE-7B1273750DCB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770DFFA-8742-4762-A4C6-461D9EEBF452}" type="pres">
      <dgm:prSet presAssocID="{EE8CF9E2-D057-449B-9F77-989BF0A428D5}" presName="parentLin" presStyleCnt="0"/>
      <dgm:spPr/>
    </dgm:pt>
    <dgm:pt modelId="{867F3D5F-57B6-4767-A5FE-FB4D9BE1412F}" type="pres">
      <dgm:prSet presAssocID="{EE8CF9E2-D057-449B-9F77-989BF0A428D5}" presName="parentLeftMargin" presStyleLbl="node1" presStyleIdx="0" presStyleCnt="4" custScaleX="119481"/>
      <dgm:spPr/>
      <dgm:t>
        <a:bodyPr/>
        <a:lstStyle/>
        <a:p>
          <a:endParaRPr lang="en-US"/>
        </a:p>
      </dgm:t>
    </dgm:pt>
    <dgm:pt modelId="{DE21590D-5DE3-41E9-874A-72B6B165BD0F}" type="pres">
      <dgm:prSet presAssocID="{EE8CF9E2-D057-449B-9F77-989BF0A428D5}" presName="parentText" presStyleLbl="node1" presStyleIdx="0" presStyleCnt="4" custScaleX="12557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10A079-3CEA-4429-AB9B-66A255F21ED3}" type="pres">
      <dgm:prSet presAssocID="{EE8CF9E2-D057-449B-9F77-989BF0A428D5}" presName="negativeSpace" presStyleCnt="0"/>
      <dgm:spPr/>
    </dgm:pt>
    <dgm:pt modelId="{00169986-F2F3-4B85-8ED4-5DAA51E975C1}" type="pres">
      <dgm:prSet presAssocID="{EE8CF9E2-D057-449B-9F77-989BF0A428D5}" presName="childText" presStyleLbl="conFgAcc1" presStyleIdx="0" presStyleCnt="4">
        <dgm:presLayoutVars>
          <dgm:bulletEnabled val="1"/>
        </dgm:presLayoutVars>
      </dgm:prSet>
      <dgm:spPr/>
    </dgm:pt>
    <dgm:pt modelId="{587EF223-F6DC-4691-AFC8-9D18FB663BB5}" type="pres">
      <dgm:prSet presAssocID="{6AED833E-5DD9-45E9-B046-2AFCE6E21C09}" presName="spaceBetweenRectangles" presStyleCnt="0"/>
      <dgm:spPr/>
    </dgm:pt>
    <dgm:pt modelId="{CE8F38E6-3CE4-4C9A-871B-93560FB7BFEB}" type="pres">
      <dgm:prSet presAssocID="{2937DDEE-C3F9-4543-9F3A-E8259D957669}" presName="parentLin" presStyleCnt="0"/>
      <dgm:spPr/>
    </dgm:pt>
    <dgm:pt modelId="{E71A77D1-0C64-45EC-A638-B21F18F784D2}" type="pres">
      <dgm:prSet presAssocID="{2937DDEE-C3F9-4543-9F3A-E8259D957669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C264362E-209D-4D40-9D36-3FDCF2274E08}" type="pres">
      <dgm:prSet presAssocID="{2937DDEE-C3F9-4543-9F3A-E8259D957669}" presName="parentText" presStyleLbl="node1" presStyleIdx="1" presStyleCnt="4" custScaleX="12557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E0A26B-7211-4925-9375-4897FB1E0F56}" type="pres">
      <dgm:prSet presAssocID="{2937DDEE-C3F9-4543-9F3A-E8259D957669}" presName="negativeSpace" presStyleCnt="0"/>
      <dgm:spPr/>
    </dgm:pt>
    <dgm:pt modelId="{0ED62FB5-CD8C-4E35-9A42-1C6E2E6D9675}" type="pres">
      <dgm:prSet presAssocID="{2937DDEE-C3F9-4543-9F3A-E8259D957669}" presName="childText" presStyleLbl="conFgAcc1" presStyleIdx="1" presStyleCnt="4">
        <dgm:presLayoutVars>
          <dgm:bulletEnabled val="1"/>
        </dgm:presLayoutVars>
      </dgm:prSet>
      <dgm:spPr/>
    </dgm:pt>
    <dgm:pt modelId="{253570E9-9F37-4E7B-8AFD-41C6C8C939E2}" type="pres">
      <dgm:prSet presAssocID="{89B47748-A16A-4DFF-8A4E-8B3A2E0AC180}" presName="spaceBetweenRectangles" presStyleCnt="0"/>
      <dgm:spPr/>
    </dgm:pt>
    <dgm:pt modelId="{B8898AE1-27C2-4A59-8D6B-60BCA6D3B817}" type="pres">
      <dgm:prSet presAssocID="{751FA402-92B1-4F34-A9A9-21D2D327DD3D}" presName="parentLin" presStyleCnt="0"/>
      <dgm:spPr/>
    </dgm:pt>
    <dgm:pt modelId="{64CA6F2C-D3F3-4B3E-B7DB-188235DAC2AC}" type="pres">
      <dgm:prSet presAssocID="{751FA402-92B1-4F34-A9A9-21D2D327DD3D}" presName="parentLeftMargin" presStyleLbl="node1" presStyleIdx="1" presStyleCnt="4"/>
      <dgm:spPr/>
      <dgm:t>
        <a:bodyPr/>
        <a:lstStyle/>
        <a:p>
          <a:endParaRPr lang="en-US"/>
        </a:p>
      </dgm:t>
    </dgm:pt>
    <dgm:pt modelId="{06AF805B-F6F3-4E8C-87A7-7C5E13722586}" type="pres">
      <dgm:prSet presAssocID="{751FA402-92B1-4F34-A9A9-21D2D327DD3D}" presName="parentText" presStyleLbl="node1" presStyleIdx="2" presStyleCnt="4" custScaleX="12557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D48958-94FF-48AC-B7F5-539EE35ABDB5}" type="pres">
      <dgm:prSet presAssocID="{751FA402-92B1-4F34-A9A9-21D2D327DD3D}" presName="negativeSpace" presStyleCnt="0"/>
      <dgm:spPr/>
    </dgm:pt>
    <dgm:pt modelId="{3EB6538B-407D-401A-B5D9-4166DB5DE084}" type="pres">
      <dgm:prSet presAssocID="{751FA402-92B1-4F34-A9A9-21D2D327DD3D}" presName="childText" presStyleLbl="conFgAcc1" presStyleIdx="2" presStyleCnt="4">
        <dgm:presLayoutVars>
          <dgm:bulletEnabled val="1"/>
        </dgm:presLayoutVars>
      </dgm:prSet>
      <dgm:spPr/>
    </dgm:pt>
    <dgm:pt modelId="{6248AB87-84DD-410D-A491-32DBA78CB015}" type="pres">
      <dgm:prSet presAssocID="{D28EDD0D-3827-43F3-9316-5C550EF82CD6}" presName="spaceBetweenRectangles" presStyleCnt="0"/>
      <dgm:spPr/>
    </dgm:pt>
    <dgm:pt modelId="{CE7F436F-93F5-410F-B734-B200F60627A9}" type="pres">
      <dgm:prSet presAssocID="{A18431F4-AB3C-4FFE-A51F-640AA583A75E}" presName="parentLin" presStyleCnt="0"/>
      <dgm:spPr/>
    </dgm:pt>
    <dgm:pt modelId="{EEF9B4A1-0A47-4614-A3E7-8E12595AAAD2}" type="pres">
      <dgm:prSet presAssocID="{A18431F4-AB3C-4FFE-A51F-640AA583A75E}" presName="parentLeftMargin" presStyleLbl="node1" presStyleIdx="2" presStyleCnt="4"/>
      <dgm:spPr/>
      <dgm:t>
        <a:bodyPr/>
        <a:lstStyle/>
        <a:p>
          <a:endParaRPr lang="en-US"/>
        </a:p>
      </dgm:t>
    </dgm:pt>
    <dgm:pt modelId="{5FAA833E-6D98-490D-A6E4-DC5E02D539A9}" type="pres">
      <dgm:prSet presAssocID="{A18431F4-AB3C-4FFE-A51F-640AA583A75E}" presName="parentText" presStyleLbl="node1" presStyleIdx="3" presStyleCnt="4" custScaleX="12557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4085ECF-BEB8-4148-8092-8544F5301924}" type="pres">
      <dgm:prSet presAssocID="{A18431F4-AB3C-4FFE-A51F-640AA583A75E}" presName="negativeSpace" presStyleCnt="0"/>
      <dgm:spPr/>
    </dgm:pt>
    <dgm:pt modelId="{961EFD2A-04EA-415C-8C6D-9CC07418E6C7}" type="pres">
      <dgm:prSet presAssocID="{A18431F4-AB3C-4FFE-A51F-640AA583A75E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8CED6709-AD26-42C2-B560-FC54B5B810B2}" type="presOf" srcId="{2937DDEE-C3F9-4543-9F3A-E8259D957669}" destId="{C264362E-209D-4D40-9D36-3FDCF2274E08}" srcOrd="1" destOrd="0" presId="urn:microsoft.com/office/officeart/2005/8/layout/list1"/>
    <dgm:cxn modelId="{E987540F-5837-4A69-B11B-6C6C86639026}" type="presOf" srcId="{EE8CF9E2-D057-449B-9F77-989BF0A428D5}" destId="{867F3D5F-57B6-4767-A5FE-FB4D9BE1412F}" srcOrd="0" destOrd="0" presId="urn:microsoft.com/office/officeart/2005/8/layout/list1"/>
    <dgm:cxn modelId="{3E68D729-D50F-4786-B99B-4F1BCEF62330}" type="presOf" srcId="{751FA402-92B1-4F34-A9A9-21D2D327DD3D}" destId="{64CA6F2C-D3F3-4B3E-B7DB-188235DAC2AC}" srcOrd="0" destOrd="0" presId="urn:microsoft.com/office/officeart/2005/8/layout/list1"/>
    <dgm:cxn modelId="{107C8E7F-6B30-46F2-9211-DEDB030404C7}" srcId="{FD345B50-5AD1-478C-8BEE-7B1273750DCB}" destId="{751FA402-92B1-4F34-A9A9-21D2D327DD3D}" srcOrd="2" destOrd="0" parTransId="{8360F6A5-75C1-4CCB-8253-B49AA6046ED6}" sibTransId="{D28EDD0D-3827-43F3-9316-5C550EF82CD6}"/>
    <dgm:cxn modelId="{204EE8A9-0FFB-4BF3-AF0A-54BD8A50AB09}" type="presOf" srcId="{EE8CF9E2-D057-449B-9F77-989BF0A428D5}" destId="{DE21590D-5DE3-41E9-874A-72B6B165BD0F}" srcOrd="1" destOrd="0" presId="urn:microsoft.com/office/officeart/2005/8/layout/list1"/>
    <dgm:cxn modelId="{A2F6C4B8-C1DD-4E6F-8709-8255CDFA4280}" type="presOf" srcId="{FD345B50-5AD1-478C-8BEE-7B1273750DCB}" destId="{9EFE8DBD-3349-4550-A4EC-39766CB04F86}" srcOrd="0" destOrd="0" presId="urn:microsoft.com/office/officeart/2005/8/layout/list1"/>
    <dgm:cxn modelId="{3D5E3CF4-F29F-40DB-8D18-4BC59E001249}" srcId="{FD345B50-5AD1-478C-8BEE-7B1273750DCB}" destId="{A18431F4-AB3C-4FFE-A51F-640AA583A75E}" srcOrd="3" destOrd="0" parTransId="{AAE997E7-E755-4142-9CC9-7A3DDBB27FFC}" sibTransId="{C67756B9-9363-48E5-A856-EBEA3F1B0500}"/>
    <dgm:cxn modelId="{CE80DBE9-C263-473C-8AF1-3772629AE743}" type="presOf" srcId="{751FA402-92B1-4F34-A9A9-21D2D327DD3D}" destId="{06AF805B-F6F3-4E8C-87A7-7C5E13722586}" srcOrd="1" destOrd="0" presId="urn:microsoft.com/office/officeart/2005/8/layout/list1"/>
    <dgm:cxn modelId="{FDDC2CEA-90D2-43A2-9607-357E8DF89813}" type="presOf" srcId="{A18431F4-AB3C-4FFE-A51F-640AA583A75E}" destId="{5FAA833E-6D98-490D-A6E4-DC5E02D539A9}" srcOrd="1" destOrd="0" presId="urn:microsoft.com/office/officeart/2005/8/layout/list1"/>
    <dgm:cxn modelId="{3CCE2D78-625A-4E58-8745-6DACBB3BB4B0}" type="presOf" srcId="{2937DDEE-C3F9-4543-9F3A-E8259D957669}" destId="{E71A77D1-0C64-45EC-A638-B21F18F784D2}" srcOrd="0" destOrd="0" presId="urn:microsoft.com/office/officeart/2005/8/layout/list1"/>
    <dgm:cxn modelId="{D1B68311-31A5-42D4-A016-FAC19F20EF6B}" type="presOf" srcId="{A18431F4-AB3C-4FFE-A51F-640AA583A75E}" destId="{EEF9B4A1-0A47-4614-A3E7-8E12595AAAD2}" srcOrd="0" destOrd="0" presId="urn:microsoft.com/office/officeart/2005/8/layout/list1"/>
    <dgm:cxn modelId="{ADF3DC53-C732-439B-9C09-9C02D4311673}" srcId="{FD345B50-5AD1-478C-8BEE-7B1273750DCB}" destId="{EE8CF9E2-D057-449B-9F77-989BF0A428D5}" srcOrd="0" destOrd="0" parTransId="{FBD8D5A9-F2B9-40DE-8570-070238AC5CE6}" sibTransId="{6AED833E-5DD9-45E9-B046-2AFCE6E21C09}"/>
    <dgm:cxn modelId="{D01C8BBA-AD48-4098-9656-1C4528CAD923}" srcId="{FD345B50-5AD1-478C-8BEE-7B1273750DCB}" destId="{2937DDEE-C3F9-4543-9F3A-E8259D957669}" srcOrd="1" destOrd="0" parTransId="{978DF0AD-B587-450B-A22A-20F55C6C5537}" sibTransId="{89B47748-A16A-4DFF-8A4E-8B3A2E0AC180}"/>
    <dgm:cxn modelId="{91FD6227-5463-41E3-BC66-86988E003908}" type="presParOf" srcId="{9EFE8DBD-3349-4550-A4EC-39766CB04F86}" destId="{E770DFFA-8742-4762-A4C6-461D9EEBF452}" srcOrd="0" destOrd="0" presId="urn:microsoft.com/office/officeart/2005/8/layout/list1"/>
    <dgm:cxn modelId="{A58038D9-0C50-4CB5-B46B-E1CA250CE165}" type="presParOf" srcId="{E770DFFA-8742-4762-A4C6-461D9EEBF452}" destId="{867F3D5F-57B6-4767-A5FE-FB4D9BE1412F}" srcOrd="0" destOrd="0" presId="urn:microsoft.com/office/officeart/2005/8/layout/list1"/>
    <dgm:cxn modelId="{7D676E99-9E7E-4D5A-9958-8F10B879BCC3}" type="presParOf" srcId="{E770DFFA-8742-4762-A4C6-461D9EEBF452}" destId="{DE21590D-5DE3-41E9-874A-72B6B165BD0F}" srcOrd="1" destOrd="0" presId="urn:microsoft.com/office/officeart/2005/8/layout/list1"/>
    <dgm:cxn modelId="{6E52D68C-60AB-42B1-8C6C-9E1247A02F7E}" type="presParOf" srcId="{9EFE8DBD-3349-4550-A4EC-39766CB04F86}" destId="{5D10A079-3CEA-4429-AB9B-66A255F21ED3}" srcOrd="1" destOrd="0" presId="urn:microsoft.com/office/officeart/2005/8/layout/list1"/>
    <dgm:cxn modelId="{53902326-FAA8-41CC-99FE-2C9FE3F0AF44}" type="presParOf" srcId="{9EFE8DBD-3349-4550-A4EC-39766CB04F86}" destId="{00169986-F2F3-4B85-8ED4-5DAA51E975C1}" srcOrd="2" destOrd="0" presId="urn:microsoft.com/office/officeart/2005/8/layout/list1"/>
    <dgm:cxn modelId="{3BD5DF87-86BD-4C44-966F-1B00E48C4FC1}" type="presParOf" srcId="{9EFE8DBD-3349-4550-A4EC-39766CB04F86}" destId="{587EF223-F6DC-4691-AFC8-9D18FB663BB5}" srcOrd="3" destOrd="0" presId="urn:microsoft.com/office/officeart/2005/8/layout/list1"/>
    <dgm:cxn modelId="{F8F42A94-A517-4D5B-9AB9-C1E722B02D07}" type="presParOf" srcId="{9EFE8DBD-3349-4550-A4EC-39766CB04F86}" destId="{CE8F38E6-3CE4-4C9A-871B-93560FB7BFEB}" srcOrd="4" destOrd="0" presId="urn:microsoft.com/office/officeart/2005/8/layout/list1"/>
    <dgm:cxn modelId="{556168C9-2B81-48D5-8A26-4F3395CAFD06}" type="presParOf" srcId="{CE8F38E6-3CE4-4C9A-871B-93560FB7BFEB}" destId="{E71A77D1-0C64-45EC-A638-B21F18F784D2}" srcOrd="0" destOrd="0" presId="urn:microsoft.com/office/officeart/2005/8/layout/list1"/>
    <dgm:cxn modelId="{9517BBC8-3C08-425F-B32F-C0C594CA0FD0}" type="presParOf" srcId="{CE8F38E6-3CE4-4C9A-871B-93560FB7BFEB}" destId="{C264362E-209D-4D40-9D36-3FDCF2274E08}" srcOrd="1" destOrd="0" presId="urn:microsoft.com/office/officeart/2005/8/layout/list1"/>
    <dgm:cxn modelId="{B3AB6B47-11E3-4630-A5ED-F03323A62C47}" type="presParOf" srcId="{9EFE8DBD-3349-4550-A4EC-39766CB04F86}" destId="{6CE0A26B-7211-4925-9375-4897FB1E0F56}" srcOrd="5" destOrd="0" presId="urn:microsoft.com/office/officeart/2005/8/layout/list1"/>
    <dgm:cxn modelId="{2D64F205-020F-4BF2-BB10-7AF502B44113}" type="presParOf" srcId="{9EFE8DBD-3349-4550-A4EC-39766CB04F86}" destId="{0ED62FB5-CD8C-4E35-9A42-1C6E2E6D9675}" srcOrd="6" destOrd="0" presId="urn:microsoft.com/office/officeart/2005/8/layout/list1"/>
    <dgm:cxn modelId="{023A603B-5226-4E0C-80D9-866E51315F61}" type="presParOf" srcId="{9EFE8DBD-3349-4550-A4EC-39766CB04F86}" destId="{253570E9-9F37-4E7B-8AFD-41C6C8C939E2}" srcOrd="7" destOrd="0" presId="urn:microsoft.com/office/officeart/2005/8/layout/list1"/>
    <dgm:cxn modelId="{BCB38ECD-5073-4BC8-8AAB-705A35FC0F54}" type="presParOf" srcId="{9EFE8DBD-3349-4550-A4EC-39766CB04F86}" destId="{B8898AE1-27C2-4A59-8D6B-60BCA6D3B817}" srcOrd="8" destOrd="0" presId="urn:microsoft.com/office/officeart/2005/8/layout/list1"/>
    <dgm:cxn modelId="{34E8FC49-0BF8-45BA-A34C-A3C288700541}" type="presParOf" srcId="{B8898AE1-27C2-4A59-8D6B-60BCA6D3B817}" destId="{64CA6F2C-D3F3-4B3E-B7DB-188235DAC2AC}" srcOrd="0" destOrd="0" presId="urn:microsoft.com/office/officeart/2005/8/layout/list1"/>
    <dgm:cxn modelId="{A9AC0CAB-0DA4-428F-AE61-1AB0D70B7C15}" type="presParOf" srcId="{B8898AE1-27C2-4A59-8D6B-60BCA6D3B817}" destId="{06AF805B-F6F3-4E8C-87A7-7C5E13722586}" srcOrd="1" destOrd="0" presId="urn:microsoft.com/office/officeart/2005/8/layout/list1"/>
    <dgm:cxn modelId="{3D1784F6-2B05-446E-B27F-C300FA436DFE}" type="presParOf" srcId="{9EFE8DBD-3349-4550-A4EC-39766CB04F86}" destId="{19D48958-94FF-48AC-B7F5-539EE35ABDB5}" srcOrd="9" destOrd="0" presId="urn:microsoft.com/office/officeart/2005/8/layout/list1"/>
    <dgm:cxn modelId="{9E634DD0-3CBA-43DE-8B55-1D7E53C81C8A}" type="presParOf" srcId="{9EFE8DBD-3349-4550-A4EC-39766CB04F86}" destId="{3EB6538B-407D-401A-B5D9-4166DB5DE084}" srcOrd="10" destOrd="0" presId="urn:microsoft.com/office/officeart/2005/8/layout/list1"/>
    <dgm:cxn modelId="{3991CD7A-5074-468E-B1C8-E80045852B3A}" type="presParOf" srcId="{9EFE8DBD-3349-4550-A4EC-39766CB04F86}" destId="{6248AB87-84DD-410D-A491-32DBA78CB015}" srcOrd="11" destOrd="0" presId="urn:microsoft.com/office/officeart/2005/8/layout/list1"/>
    <dgm:cxn modelId="{F20D0A1C-B1CA-4F44-A54C-808B933F2AD6}" type="presParOf" srcId="{9EFE8DBD-3349-4550-A4EC-39766CB04F86}" destId="{CE7F436F-93F5-410F-B734-B200F60627A9}" srcOrd="12" destOrd="0" presId="urn:microsoft.com/office/officeart/2005/8/layout/list1"/>
    <dgm:cxn modelId="{F2F8A504-D031-4E0E-9682-FFCCC7BB4875}" type="presParOf" srcId="{CE7F436F-93F5-410F-B734-B200F60627A9}" destId="{EEF9B4A1-0A47-4614-A3E7-8E12595AAAD2}" srcOrd="0" destOrd="0" presId="urn:microsoft.com/office/officeart/2005/8/layout/list1"/>
    <dgm:cxn modelId="{AD0334D8-34AF-439D-A615-4A42EF18571F}" type="presParOf" srcId="{CE7F436F-93F5-410F-B734-B200F60627A9}" destId="{5FAA833E-6D98-490D-A6E4-DC5E02D539A9}" srcOrd="1" destOrd="0" presId="urn:microsoft.com/office/officeart/2005/8/layout/list1"/>
    <dgm:cxn modelId="{DD4D260A-C332-44AD-9211-F03DCE7FF2AB}" type="presParOf" srcId="{9EFE8DBD-3349-4550-A4EC-39766CB04F86}" destId="{74085ECF-BEB8-4148-8092-8544F5301924}" srcOrd="13" destOrd="0" presId="urn:microsoft.com/office/officeart/2005/8/layout/list1"/>
    <dgm:cxn modelId="{FCFF5B23-07FD-437D-870B-9D6687BCE31B}" type="presParOf" srcId="{9EFE8DBD-3349-4550-A4EC-39766CB04F86}" destId="{961EFD2A-04EA-415C-8C6D-9CC07418E6C7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6CABD1B-944E-49F7-866A-C6598132C0E2}">
      <dsp:nvSpPr>
        <dsp:cNvPr id="0" name=""/>
        <dsp:cNvSpPr/>
      </dsp:nvSpPr>
      <dsp:spPr>
        <a:xfrm>
          <a:off x="0" y="324839"/>
          <a:ext cx="457200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622BEB-62C0-41FB-AA25-3807F8F602A7}">
      <dsp:nvSpPr>
        <dsp:cNvPr id="0" name=""/>
        <dsp:cNvSpPr/>
      </dsp:nvSpPr>
      <dsp:spPr>
        <a:xfrm>
          <a:off x="228600" y="132959"/>
          <a:ext cx="320040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68" tIns="0" rIns="120968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Purpose</a:t>
          </a:r>
          <a:endParaRPr lang="en-US" sz="2200" kern="1200" dirty="0"/>
        </a:p>
      </dsp:txBody>
      <dsp:txXfrm>
        <a:off x="228600" y="132959"/>
        <a:ext cx="3200400" cy="383760"/>
      </dsp:txXfrm>
    </dsp:sp>
    <dsp:sp modelId="{8B5298D1-CF53-49BC-9023-0EE6E258E573}">
      <dsp:nvSpPr>
        <dsp:cNvPr id="0" name=""/>
        <dsp:cNvSpPr/>
      </dsp:nvSpPr>
      <dsp:spPr>
        <a:xfrm>
          <a:off x="0" y="914519"/>
          <a:ext cx="457200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BD91B7-67D8-4835-9472-249FD879718E}">
      <dsp:nvSpPr>
        <dsp:cNvPr id="0" name=""/>
        <dsp:cNvSpPr/>
      </dsp:nvSpPr>
      <dsp:spPr>
        <a:xfrm>
          <a:off x="228600" y="722639"/>
          <a:ext cx="3200400" cy="383760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68" tIns="0" rIns="120968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Reason</a:t>
          </a:r>
          <a:endParaRPr lang="en-US" sz="2200" kern="1200" dirty="0"/>
        </a:p>
      </dsp:txBody>
      <dsp:txXfrm>
        <a:off x="228600" y="722639"/>
        <a:ext cx="3200400" cy="383760"/>
      </dsp:txXfrm>
    </dsp:sp>
    <dsp:sp modelId="{8011D070-568F-4A84-BD56-7ABA35D47A61}">
      <dsp:nvSpPr>
        <dsp:cNvPr id="0" name=""/>
        <dsp:cNvSpPr/>
      </dsp:nvSpPr>
      <dsp:spPr>
        <a:xfrm>
          <a:off x="0" y="1504200"/>
          <a:ext cx="457200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646C37-0DDC-40B6-BFF6-68C35C41D431}">
      <dsp:nvSpPr>
        <dsp:cNvPr id="0" name=""/>
        <dsp:cNvSpPr/>
      </dsp:nvSpPr>
      <dsp:spPr>
        <a:xfrm>
          <a:off x="228600" y="1312320"/>
          <a:ext cx="3200400" cy="383760"/>
        </a:xfrm>
        <a:prstGeom prst="roundRect">
          <a:avLst/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68" tIns="0" rIns="120968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Background information</a:t>
          </a:r>
          <a:endParaRPr lang="en-US" sz="2200" kern="1200" dirty="0"/>
        </a:p>
      </dsp:txBody>
      <dsp:txXfrm>
        <a:off x="228600" y="1312320"/>
        <a:ext cx="3200400" cy="383760"/>
      </dsp:txXfrm>
    </dsp:sp>
    <dsp:sp modelId="{2CC94E98-C2BC-40BA-BA2C-53E02A202477}">
      <dsp:nvSpPr>
        <dsp:cNvPr id="0" name=""/>
        <dsp:cNvSpPr/>
      </dsp:nvSpPr>
      <dsp:spPr>
        <a:xfrm>
          <a:off x="0" y="2093880"/>
          <a:ext cx="457200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065A47-6053-496C-B292-B863C5F1C893}">
      <dsp:nvSpPr>
        <dsp:cNvPr id="0" name=""/>
        <dsp:cNvSpPr/>
      </dsp:nvSpPr>
      <dsp:spPr>
        <a:xfrm>
          <a:off x="273133" y="1902000"/>
          <a:ext cx="3200400" cy="38376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68" tIns="0" rIns="120968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The evaluation criteria</a:t>
          </a:r>
          <a:endParaRPr lang="en-US" sz="2200" kern="1200" dirty="0"/>
        </a:p>
      </dsp:txBody>
      <dsp:txXfrm>
        <a:off x="273133" y="1902000"/>
        <a:ext cx="3200400" cy="383760"/>
      </dsp:txXfrm>
    </dsp:sp>
    <dsp:sp modelId="{10C80C59-D601-4AD4-9AE0-F459A2AD1F9A}">
      <dsp:nvSpPr>
        <dsp:cNvPr id="0" name=""/>
        <dsp:cNvSpPr/>
      </dsp:nvSpPr>
      <dsp:spPr>
        <a:xfrm>
          <a:off x="0" y="2683560"/>
          <a:ext cx="457200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9781A0-24EF-4D22-863B-387A9EB35B5D}">
      <dsp:nvSpPr>
        <dsp:cNvPr id="0" name=""/>
        <dsp:cNvSpPr/>
      </dsp:nvSpPr>
      <dsp:spPr>
        <a:xfrm>
          <a:off x="273133" y="2491680"/>
          <a:ext cx="3200400" cy="383760"/>
        </a:xfrm>
        <a:prstGeom prst="roundRect">
          <a:avLst/>
        </a:prstGeom>
        <a:solidFill>
          <a:schemeClr val="accent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68" tIns="0" rIns="120968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The study findings</a:t>
          </a:r>
          <a:endParaRPr lang="en-US" sz="2200" kern="1200" dirty="0"/>
        </a:p>
      </dsp:txBody>
      <dsp:txXfrm>
        <a:off x="273133" y="2491680"/>
        <a:ext cx="3200400" cy="383760"/>
      </dsp:txXfrm>
    </dsp:sp>
    <dsp:sp modelId="{ECAED0D9-0A7B-453D-970D-A96E8C7059E3}">
      <dsp:nvSpPr>
        <dsp:cNvPr id="0" name=""/>
        <dsp:cNvSpPr/>
      </dsp:nvSpPr>
      <dsp:spPr>
        <a:xfrm>
          <a:off x="0" y="3273240"/>
          <a:ext cx="4572000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21BBAD-41C6-45AB-9362-3E65DEBF3BC5}">
      <dsp:nvSpPr>
        <dsp:cNvPr id="0" name=""/>
        <dsp:cNvSpPr/>
      </dsp:nvSpPr>
      <dsp:spPr>
        <a:xfrm>
          <a:off x="273133" y="3081360"/>
          <a:ext cx="3200400" cy="383760"/>
        </a:xfrm>
        <a:prstGeom prst="roundRect">
          <a:avLst/>
        </a:prstGeom>
        <a:solidFill>
          <a:schemeClr val="accent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68" tIns="0" rIns="120968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The recommendations</a:t>
          </a:r>
          <a:endParaRPr lang="en-US" sz="2200" kern="1200" dirty="0"/>
        </a:p>
      </dsp:txBody>
      <dsp:txXfrm>
        <a:off x="273133" y="3081360"/>
        <a:ext cx="3200400" cy="38376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0169986-F2F3-4B85-8ED4-5DAA51E975C1}">
      <dsp:nvSpPr>
        <dsp:cNvPr id="0" name=""/>
        <dsp:cNvSpPr/>
      </dsp:nvSpPr>
      <dsp:spPr>
        <a:xfrm>
          <a:off x="0" y="416400"/>
          <a:ext cx="6172199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21590D-5DE3-41E9-874A-72B6B165BD0F}">
      <dsp:nvSpPr>
        <dsp:cNvPr id="0" name=""/>
        <dsp:cNvSpPr/>
      </dsp:nvSpPr>
      <dsp:spPr>
        <a:xfrm>
          <a:off x="368730" y="47400"/>
          <a:ext cx="5425431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306" tIns="0" rIns="163306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Helps in analyzing requirements completely</a:t>
          </a:r>
          <a:endParaRPr lang="en-US" sz="2200" kern="1200" dirty="0"/>
        </a:p>
      </dsp:txBody>
      <dsp:txXfrm>
        <a:off x="368730" y="47400"/>
        <a:ext cx="5425431" cy="738000"/>
      </dsp:txXfrm>
    </dsp:sp>
    <dsp:sp modelId="{0ED62FB5-CD8C-4E35-9A42-1C6E2E6D9675}">
      <dsp:nvSpPr>
        <dsp:cNvPr id="0" name=""/>
        <dsp:cNvSpPr/>
      </dsp:nvSpPr>
      <dsp:spPr>
        <a:xfrm>
          <a:off x="0" y="1550400"/>
          <a:ext cx="6172199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64362E-209D-4D40-9D36-3FDCF2274E08}">
      <dsp:nvSpPr>
        <dsp:cNvPr id="0" name=""/>
        <dsp:cNvSpPr/>
      </dsp:nvSpPr>
      <dsp:spPr>
        <a:xfrm>
          <a:off x="308610" y="1181400"/>
          <a:ext cx="5425431" cy="738000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306" tIns="0" rIns="163306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Helps in indentifying and planning for risks</a:t>
          </a:r>
          <a:endParaRPr lang="en-US" sz="2200" kern="1200" dirty="0"/>
        </a:p>
      </dsp:txBody>
      <dsp:txXfrm>
        <a:off x="308610" y="1181400"/>
        <a:ext cx="5425431" cy="738000"/>
      </dsp:txXfrm>
    </dsp:sp>
    <dsp:sp modelId="{3EB6538B-407D-401A-B5D9-4166DB5DE084}">
      <dsp:nvSpPr>
        <dsp:cNvPr id="0" name=""/>
        <dsp:cNvSpPr/>
      </dsp:nvSpPr>
      <dsp:spPr>
        <a:xfrm>
          <a:off x="0" y="2684400"/>
          <a:ext cx="6172199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AF805B-F6F3-4E8C-87A7-7C5E13722586}">
      <dsp:nvSpPr>
        <dsp:cNvPr id="0" name=""/>
        <dsp:cNvSpPr/>
      </dsp:nvSpPr>
      <dsp:spPr>
        <a:xfrm>
          <a:off x="308610" y="2315400"/>
          <a:ext cx="5425431" cy="738000"/>
        </a:xfrm>
        <a:prstGeom prst="roundRect">
          <a:avLst/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306" tIns="0" rIns="163306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Helps in making cost/benefit analysis</a:t>
          </a:r>
          <a:endParaRPr lang="en-US" sz="2200" kern="1200" dirty="0"/>
        </a:p>
      </dsp:txBody>
      <dsp:txXfrm>
        <a:off x="308610" y="2315400"/>
        <a:ext cx="5425431" cy="738000"/>
      </dsp:txXfrm>
    </dsp:sp>
    <dsp:sp modelId="{961EFD2A-04EA-415C-8C6D-9CC07418E6C7}">
      <dsp:nvSpPr>
        <dsp:cNvPr id="0" name=""/>
        <dsp:cNvSpPr/>
      </dsp:nvSpPr>
      <dsp:spPr>
        <a:xfrm>
          <a:off x="0" y="3818400"/>
          <a:ext cx="6172199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AA833E-6D98-490D-A6E4-DC5E02D539A9}">
      <dsp:nvSpPr>
        <dsp:cNvPr id="0" name=""/>
        <dsp:cNvSpPr/>
      </dsp:nvSpPr>
      <dsp:spPr>
        <a:xfrm>
          <a:off x="308610" y="3449400"/>
          <a:ext cx="5425431" cy="73800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306" tIns="0" rIns="163306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Helps in making plan for training developers for implementing the system.</a:t>
          </a:r>
          <a:endParaRPr lang="en-US" sz="2200" kern="1200" dirty="0"/>
        </a:p>
      </dsp:txBody>
      <dsp:txXfrm>
        <a:off x="308610" y="3449400"/>
        <a:ext cx="5425431" cy="738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92EA88-EEAD-476F-951C-A9F38DC12E92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7AD151-0E8C-42DF-AEB9-304E517D3C7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026E6-0412-4830-8F06-DF45033103D5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1BAC6-1780-4248-A045-EEDC4FD7C3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21BAC6-1780-4248-A045-EEDC4FD7C334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1E381-20DA-4745-B537-35B514BA6DD7}" type="datetimeFigureOut">
              <a:rPr lang="en-US"/>
              <a:pPr>
                <a:defRPr/>
              </a:pPr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F19F-72C6-4835-B8F9-C4043AB145C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6C9F8-4ECB-4B63-B927-93DB51F662D0}" type="datetimeFigureOut">
              <a:rPr lang="en-US"/>
              <a:pPr>
                <a:defRPr/>
              </a:pPr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5146C-45A3-4063-B945-A6E828CB1A7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0DA55-A2EA-4E91-9DF8-848564DA5A8C}" type="datetimeFigureOut">
              <a:rPr lang="en-US"/>
              <a:pPr>
                <a:defRPr/>
              </a:pPr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2FCE2-22A4-4D22-98FA-0E266C50229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FE22C-AAA6-4859-915C-7CA8A229741E}" type="datetimeFigureOut">
              <a:rPr lang="en-US"/>
              <a:pPr>
                <a:defRPr/>
              </a:pPr>
              <a:t>6/21/2026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97B5-865B-4943-9516-8680CA16C72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4DA2C-F6C4-40D9-95C2-7E16780900E4}" type="datetimeFigureOut">
              <a:rPr lang="en-US"/>
              <a:pPr>
                <a:defRPr/>
              </a:pPr>
              <a:t>6/21/2026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A6762-FCC9-4A4D-B55E-A9AEAC8C426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2FA20-63C4-4E2F-BBAB-9D9ECDF79A55}" type="datetimeFigureOut">
              <a:rPr lang="en-US"/>
              <a:pPr>
                <a:defRPr/>
              </a:pPr>
              <a:t>6/21/2026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71E3C-6E5C-4814-A904-273FE3A958C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24579-F551-4401-BD9C-1A956A73C8B1}" type="datetimeFigureOut">
              <a:rPr lang="en-US"/>
              <a:pPr>
                <a:defRPr/>
              </a:pPr>
              <a:t>6/21/2026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4CBAC-259E-4BF8-ACF6-FAB2C68750F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B6935-2E86-4F35-979C-26D8DA31E11B}" type="datetimeFigureOut">
              <a:rPr lang="en-US"/>
              <a:pPr>
                <a:defRPr/>
              </a:pPr>
              <a:t>6/21/2026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9D8DE-4736-4786-A76F-BA4BFA66C35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642AA-84FD-46EB-91FE-F301FD1B086D}" type="datetimeFigureOut">
              <a:rPr lang="en-US"/>
              <a:pPr>
                <a:defRPr/>
              </a:pPr>
              <a:t>6/21/2026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0BD26-494C-4707-B45F-1E41DB7E206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AB78B-B950-4223-B948-C26A4E4BFB92}" type="datetimeFigureOut">
              <a:rPr lang="en-US"/>
              <a:pPr>
                <a:defRPr/>
              </a:pPr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35AB7-6027-4C00-A9DE-A82D1F9B71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790DE-6227-4769-B4D1-A285E0E78CE4}" type="datetimeFigureOut">
              <a:rPr lang="en-US"/>
              <a:pPr>
                <a:defRPr/>
              </a:pPr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8F97A-8135-4157-8FDD-A5EB0FEF561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44B157-FED2-4AB7-A096-BDB0B5D2F088}" type="datetimeFigureOut">
              <a:rPr lang="en-US"/>
              <a:pPr>
                <a:defRPr/>
              </a:pPr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D64C92-C51E-4B83-930E-D172469398A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jpe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8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8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://office.microsoft.com/en-us/" TargetMode="External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ps.com/wps-office-personal" TargetMode="External"/><Relationship Id="rId4" Type="http://schemas.openxmlformats.org/officeDocument/2006/relationships/image" Target="../media/image87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Business Requirements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3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68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>
                <a:hlinkClick r:id="rId2"/>
              </a:rPr>
              <a:t>nhbien@fit.hcmus.edu.vn</a:t>
            </a:r>
            <a:endParaRPr lang="en-US" sz="5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4495799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discover</a:t>
            </a:r>
            <a:r>
              <a:rPr lang="en-US" sz="2400" dirty="0" smtClean="0"/>
              <a:t> business requirements.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create an </a:t>
            </a:r>
            <a:r>
              <a:rPr lang="en-US" sz="2400" i="1" dirty="0" smtClean="0">
                <a:solidFill>
                  <a:srgbClr val="C00000"/>
                </a:solidFill>
              </a:rPr>
              <a:t>project proposal</a:t>
            </a:r>
            <a:r>
              <a:rPr lang="en-US" sz="2400" dirty="0" smtClean="0"/>
              <a:t>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create a </a:t>
            </a:r>
            <a:r>
              <a:rPr lang="en-US" sz="2400" i="1" dirty="0" smtClean="0">
                <a:solidFill>
                  <a:srgbClr val="C00000"/>
                </a:solidFill>
              </a:rPr>
              <a:t>feasibility study</a:t>
            </a:r>
            <a:r>
              <a:rPr lang="en-US" sz="2400" dirty="0" smtClean="0"/>
              <a:t> report.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19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Stakeholders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Terminologies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Problems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Business Goals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High-Level Features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Expected Products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Context Diagram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Evaluator Pitch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Executive Summary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Feasibility Study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638800" cy="48768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2000" dirty="0" smtClean="0"/>
              <a:t>Karl </a:t>
            </a:r>
            <a:r>
              <a:rPr lang="en-US" sz="2000" dirty="0" err="1" smtClean="0"/>
              <a:t>Wiegers</a:t>
            </a:r>
            <a:r>
              <a:rPr lang="en-US" sz="2000" dirty="0" smtClean="0"/>
              <a:t> and Joy Beatty (2013). Software Requirements. Microsoft Press.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 smtClean="0"/>
              <a:t>Alan R. </a:t>
            </a:r>
            <a:r>
              <a:rPr lang="en-US" sz="2000" dirty="0" err="1" smtClean="0"/>
              <a:t>Hevner</a:t>
            </a:r>
            <a:r>
              <a:rPr lang="en-US" sz="2000" dirty="0" smtClean="0"/>
              <a:t> et al. (2004). Design Science in Information Systems Research.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 smtClean="0"/>
              <a:t>Suzanne Robertson and James Robertson (2012). Mastering the Requirements Process. Addison Wesley Professional.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Michael Keeling (2017). Design It. From Programmer to Software Architect. Pragmatic Bookshelf.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Joy Beatty and Anthony Chen (2012). Visual Models for Software Requirements. Microsoft Press.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Jessica Keyes (2008). Leading IT Projects: The IT Manager's Guide. Taylor &amp; Francis Group.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Requirements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“</a:t>
            </a:r>
            <a:r>
              <a:rPr lang="en-US" sz="2400" i="1" dirty="0" smtClean="0">
                <a:solidFill>
                  <a:srgbClr val="C00000"/>
                </a:solidFill>
              </a:rPr>
              <a:t>Business requirements</a:t>
            </a:r>
            <a:r>
              <a:rPr lang="en-US" sz="2400" dirty="0" smtClean="0"/>
              <a:t>” refers to a set of information that, in the aggregate, describes a need that leads to one or more projects to deliver a solution and the desired ultimate </a:t>
            </a:r>
            <a:r>
              <a:rPr lang="en-US" sz="2400" u="sng" dirty="0" smtClean="0"/>
              <a:t>business outcomes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business requirements set </a:t>
            </a:r>
            <a:r>
              <a:rPr lang="en-US" sz="2400" u="sng" dirty="0" smtClean="0"/>
              <a:t>the context for</a:t>
            </a:r>
            <a:r>
              <a:rPr lang="en-US" sz="2400" dirty="0" smtClean="0"/>
              <a:t>, and enable the </a:t>
            </a:r>
            <a:r>
              <a:rPr lang="en-US" sz="2400" u="sng" dirty="0" smtClean="0"/>
              <a:t>measurement of</a:t>
            </a:r>
            <a:r>
              <a:rPr lang="en-US" sz="2400" dirty="0" smtClean="0"/>
              <a:t>, </a:t>
            </a:r>
            <a:r>
              <a:rPr lang="en-US" sz="2400" u="sng" dirty="0" smtClean="0"/>
              <a:t>the benefits</a:t>
            </a:r>
            <a:r>
              <a:rPr lang="en-US" sz="2400" dirty="0" smtClean="0"/>
              <a:t> the business hopes to achieve from undertaking a project.</a:t>
            </a:r>
          </a:p>
        </p:txBody>
      </p:sp>
      <p:pic>
        <p:nvPicPr>
          <p:cNvPr id="2050" name="Picture 2" descr="http://www.requirementsnetwork.com/images/img1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36900" y="4648200"/>
            <a:ext cx="3111500" cy="16446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Identify Sponsor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Organization</a:t>
            </a:r>
          </a:p>
          <a:p>
            <a:r>
              <a:rPr lang="en-US" dirty="0" smtClean="0"/>
              <a:t>Group of people or individual</a:t>
            </a:r>
            <a:endParaRPr lang="en-US" dirty="0"/>
          </a:p>
        </p:txBody>
      </p:sp>
      <p:pic>
        <p:nvPicPr>
          <p:cNvPr id="28674" name="Picture 2" descr="https://builtin.com/cdn-cgi/image/f=auto,quality=80,width=752,height=435/https://builtin.com/sites/www.builtin.com/files/styles/byline_image/public/2023-08/companies%20that%20sponsor%20individual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3276600"/>
            <a:ext cx="4775200" cy="2762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Identify Budget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Organization</a:t>
            </a:r>
          </a:p>
          <a:p>
            <a:pPr lvl="1"/>
            <a:r>
              <a:rPr lang="en-US" sz="2400" dirty="0" smtClean="0"/>
              <a:t>Yearly </a:t>
            </a:r>
            <a:r>
              <a:rPr lang="en-US" sz="2400" i="1" dirty="0" smtClean="0">
                <a:solidFill>
                  <a:srgbClr val="C00000"/>
                </a:solidFill>
              </a:rPr>
              <a:t>budget</a:t>
            </a:r>
            <a:r>
              <a:rPr lang="en-US" sz="2400" dirty="0" smtClean="0"/>
              <a:t> for software development to support </a:t>
            </a:r>
            <a:r>
              <a:rPr lang="en-US" sz="2400" u="sng" dirty="0" smtClean="0"/>
              <a:t>business operations</a:t>
            </a:r>
          </a:p>
          <a:p>
            <a:pPr lvl="1"/>
            <a:r>
              <a:rPr lang="en-US" sz="2400" dirty="0" smtClean="0"/>
              <a:t>Yearly </a:t>
            </a:r>
            <a:r>
              <a:rPr lang="en-US" sz="2400" i="1" dirty="0" smtClean="0">
                <a:solidFill>
                  <a:srgbClr val="C00000"/>
                </a:solidFill>
              </a:rPr>
              <a:t>budget</a:t>
            </a:r>
            <a:r>
              <a:rPr lang="en-US" sz="2400" dirty="0" smtClean="0"/>
              <a:t> for </a:t>
            </a:r>
            <a:r>
              <a:rPr lang="en-US" sz="2400" u="sng" dirty="0" smtClean="0"/>
              <a:t>research</a:t>
            </a:r>
            <a:r>
              <a:rPr lang="en-US" sz="2400" dirty="0" smtClean="0"/>
              <a:t> related to software development</a:t>
            </a:r>
          </a:p>
          <a:p>
            <a:r>
              <a:rPr lang="en-US" sz="2800" dirty="0" smtClean="0"/>
              <a:t>Group of people or individual</a:t>
            </a:r>
          </a:p>
          <a:p>
            <a:pPr lvl="1"/>
            <a:r>
              <a:rPr lang="en-US" sz="2400" i="1" dirty="0" smtClean="0">
                <a:solidFill>
                  <a:srgbClr val="C00000"/>
                </a:solidFill>
              </a:rPr>
              <a:t>Savings</a:t>
            </a:r>
          </a:p>
        </p:txBody>
      </p:sp>
      <p:pic>
        <p:nvPicPr>
          <p:cNvPr id="27650" name="Picture 2" descr="https://media1.moneywise.com/cdn-cgi/image/fit=cover,g=left,width=756,height=336,f=auto,quality=80/a/27030/build-budget_hero_1800x800_v2023081416230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4648200"/>
            <a:ext cx="3360420" cy="14935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Capture Initial Artifacts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Emails</a:t>
            </a:r>
          </a:p>
          <a:p>
            <a:r>
              <a:rPr lang="en-US" sz="2400" dirty="0" smtClean="0"/>
              <a:t>Presentation slides</a:t>
            </a:r>
          </a:p>
          <a:p>
            <a:r>
              <a:rPr lang="en-US" sz="2400" dirty="0" smtClean="0"/>
              <a:t>Proposal document</a:t>
            </a:r>
          </a:p>
          <a:p>
            <a:r>
              <a:rPr lang="en-US" sz="2400" dirty="0" smtClean="0"/>
              <a:t>Existing systems</a:t>
            </a:r>
          </a:p>
          <a:p>
            <a:r>
              <a:rPr lang="en-US" sz="2400" dirty="0" smtClean="0"/>
              <a:t>Similar systems </a:t>
            </a:r>
          </a:p>
          <a:p>
            <a:r>
              <a:rPr lang="en-US" sz="2400" dirty="0" smtClean="0"/>
              <a:t>Administrative guide, user guide</a:t>
            </a:r>
          </a:p>
          <a:p>
            <a:r>
              <a:rPr lang="en-US" sz="2400" dirty="0" smtClean="0"/>
              <a:t>Feature list</a:t>
            </a:r>
          </a:p>
          <a:p>
            <a:r>
              <a:rPr lang="en-US" sz="2400" dirty="0" smtClean="0"/>
              <a:t>Initial requirement specification</a:t>
            </a:r>
            <a:endParaRPr lang="en-US" sz="2400" dirty="0"/>
          </a:p>
        </p:txBody>
      </p:sp>
      <p:pic>
        <p:nvPicPr>
          <p:cNvPr id="1026" name="Picture 2" descr="https://lh3.googleusercontent.com/proxy/YiR_-QifYtJjPmql82e7Zq3Ezs0U5d8sD5yQZJeoqGgdNFOFmI1S_fw0zALeO82F3pBPJ3bZI17dWkUaQhI0PcJX5XCXD8cKzll_NxCcb_xjdvg7Pc1oZ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2057400"/>
            <a:ext cx="2743200" cy="2228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Identify Stakeholders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client</a:t>
            </a:r>
            <a:r>
              <a:rPr lang="en-US" sz="2400" dirty="0" smtClean="0"/>
              <a:t> </a:t>
            </a:r>
            <a:r>
              <a:rPr lang="en-US" sz="2400" u="sng" dirty="0" smtClean="0"/>
              <a:t>pays</a:t>
            </a:r>
            <a:r>
              <a:rPr lang="en-US" sz="2400" dirty="0" smtClean="0"/>
              <a:t> for the </a:t>
            </a:r>
            <a:r>
              <a:rPr lang="en-US" sz="2400" u="sng" dirty="0" smtClean="0"/>
              <a:t>development</a:t>
            </a:r>
            <a:r>
              <a:rPr lang="en-US" sz="2400" dirty="0" smtClean="0"/>
              <a:t> of the product.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Customers</a:t>
            </a:r>
            <a:r>
              <a:rPr lang="en-US" sz="2400" dirty="0" smtClean="0"/>
              <a:t> </a:t>
            </a:r>
            <a:r>
              <a:rPr lang="en-US" sz="2400" u="sng" dirty="0" smtClean="0"/>
              <a:t>buy</a:t>
            </a:r>
            <a:r>
              <a:rPr lang="en-US" sz="2400" dirty="0" smtClean="0"/>
              <a:t> the product.</a:t>
            </a:r>
          </a:p>
          <a:p>
            <a:r>
              <a:rPr lang="en-US" sz="2400" dirty="0" smtClean="0"/>
              <a:t>When we talk about </a:t>
            </a:r>
            <a:r>
              <a:rPr lang="en-US" sz="2400" i="1" dirty="0" smtClean="0">
                <a:solidFill>
                  <a:srgbClr val="C00000"/>
                </a:solidFill>
              </a:rPr>
              <a:t>users</a:t>
            </a:r>
            <a:r>
              <a:rPr lang="en-US" sz="2400" dirty="0" smtClean="0"/>
              <a:t>, we mean the people who will ultimately </a:t>
            </a:r>
            <a:r>
              <a:rPr lang="en-US" sz="2400" u="sng" dirty="0" smtClean="0"/>
              <a:t>operate</a:t>
            </a:r>
            <a:r>
              <a:rPr lang="en-US" sz="2400" dirty="0" smtClean="0"/>
              <a:t> your product.</a:t>
            </a:r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3505200"/>
            <a:ext cx="4533900" cy="2772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Identify Stakeholders [4]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2286000" cy="4525963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Stakeholders</a:t>
            </a:r>
            <a:r>
              <a:rPr lang="en-US" sz="2400" dirty="0" smtClean="0"/>
              <a:t> usually, but not always, have a </a:t>
            </a:r>
            <a:r>
              <a:rPr lang="en-US" sz="2400" u="sng" dirty="0" smtClean="0"/>
              <a:t>business interest</a:t>
            </a:r>
            <a:r>
              <a:rPr lang="en-US" sz="2400" dirty="0" smtClean="0"/>
              <a:t> in the software.</a:t>
            </a:r>
          </a:p>
          <a:p>
            <a:r>
              <a:rPr lang="en-US" sz="2400" dirty="0" smtClean="0"/>
              <a:t>They might </a:t>
            </a:r>
            <a:r>
              <a:rPr lang="en-US" sz="2400" i="1" dirty="0" smtClean="0">
                <a:solidFill>
                  <a:srgbClr val="C00000"/>
                </a:solidFill>
              </a:rPr>
              <a:t>pay</a:t>
            </a:r>
            <a:r>
              <a:rPr lang="en-US" sz="2400" dirty="0" smtClean="0"/>
              <a:t> for the software or directly </a:t>
            </a:r>
            <a:r>
              <a:rPr lang="en-US" sz="2400" i="1" dirty="0" smtClean="0">
                <a:solidFill>
                  <a:srgbClr val="C00000"/>
                </a:solidFill>
              </a:rPr>
              <a:t>profit</a:t>
            </a:r>
            <a:r>
              <a:rPr lang="en-US" sz="2400" dirty="0" smtClean="0"/>
              <a:t> from it.</a:t>
            </a:r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1600200"/>
            <a:ext cx="5943600" cy="4644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8038" y="1835150"/>
            <a:ext cx="7527925" cy="395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Create Stakeholder 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124200" cy="4525963"/>
          </a:xfrm>
        </p:spPr>
        <p:txBody>
          <a:bodyPr/>
          <a:lstStyle/>
          <a:p>
            <a:r>
              <a:rPr lang="en-US" sz="2000" dirty="0" smtClean="0"/>
              <a:t>A </a:t>
            </a:r>
            <a:r>
              <a:rPr lang="en-US" sz="2000" i="1" dirty="0" smtClean="0">
                <a:solidFill>
                  <a:srgbClr val="C00000"/>
                </a:solidFill>
              </a:rPr>
              <a:t>stakeholder map</a:t>
            </a:r>
            <a:r>
              <a:rPr lang="en-US" sz="2000" dirty="0" smtClean="0"/>
              <a:t> is a </a:t>
            </a:r>
            <a:r>
              <a:rPr lang="en-US" sz="2000" u="sng" dirty="0" smtClean="0"/>
              <a:t>network diagram</a:t>
            </a:r>
            <a:r>
              <a:rPr lang="en-US" sz="2000" dirty="0" smtClean="0"/>
              <a:t> showing all the people involved with or affected by the proposed software system.</a:t>
            </a:r>
          </a:p>
          <a:p>
            <a:r>
              <a:rPr lang="en-US" sz="2000" dirty="0" smtClean="0"/>
              <a:t>Stakeholder maps are ideal for visualizing </a:t>
            </a:r>
            <a:r>
              <a:rPr lang="en-US" sz="2000" i="1" dirty="0" smtClean="0">
                <a:solidFill>
                  <a:srgbClr val="C00000"/>
                </a:solidFill>
              </a:rPr>
              <a:t>relationships</a:t>
            </a:r>
            <a:r>
              <a:rPr lang="en-US" sz="2000" dirty="0" smtClean="0"/>
              <a:t> and </a:t>
            </a:r>
            <a:r>
              <a:rPr lang="en-US" sz="2000" i="1" dirty="0" smtClean="0">
                <a:solidFill>
                  <a:srgbClr val="C00000"/>
                </a:solidFill>
              </a:rPr>
              <a:t>interactions</a:t>
            </a:r>
            <a:r>
              <a:rPr lang="en-US" sz="2000" dirty="0" smtClean="0"/>
              <a:t> among people.</a:t>
            </a:r>
          </a:p>
          <a:p>
            <a:r>
              <a:rPr lang="en-US" sz="2000" dirty="0" smtClean="0"/>
              <a:t>They also give you a snapshot of </a:t>
            </a:r>
            <a:r>
              <a:rPr lang="en-US" sz="2000" i="1" dirty="0" smtClean="0">
                <a:solidFill>
                  <a:srgbClr val="C00000"/>
                </a:solidFill>
              </a:rPr>
              <a:t>what motivates</a:t>
            </a:r>
            <a:r>
              <a:rPr lang="en-US" sz="2000" dirty="0" smtClean="0"/>
              <a:t> different stakeholders.</a:t>
            </a:r>
            <a:endParaRPr lang="en-US" sz="20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68090" y="1371600"/>
            <a:ext cx="4918710" cy="49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990600"/>
            <a:ext cx="2019300" cy="891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24700" y="1676400"/>
            <a:ext cx="2019300" cy="891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3276600"/>
            <a:ext cx="1009650" cy="445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94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24700" y="4114800"/>
            <a:ext cx="2019300" cy="891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Domains of Interest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7162800" cy="4525963"/>
          </a:xfrm>
        </p:spPr>
        <p:txBody>
          <a:bodyPr/>
          <a:lstStyle/>
          <a:p>
            <a:r>
              <a:rPr lang="en-US" sz="2000" dirty="0" smtClean="0"/>
              <a:t>"</a:t>
            </a:r>
            <a:r>
              <a:rPr lang="en-US" sz="2000" i="1" dirty="0" smtClean="0">
                <a:solidFill>
                  <a:srgbClr val="C00000"/>
                </a:solidFill>
              </a:rPr>
              <a:t>Roads</a:t>
            </a:r>
            <a:r>
              <a:rPr lang="en-US" sz="2000" dirty="0" smtClean="0"/>
              <a:t> freeze in winter, and </a:t>
            </a:r>
            <a:r>
              <a:rPr lang="en-US" sz="2000" i="1" dirty="0" smtClean="0">
                <a:solidFill>
                  <a:srgbClr val="C00000"/>
                </a:solidFill>
              </a:rPr>
              <a:t>icy conditions</a:t>
            </a:r>
            <a:r>
              <a:rPr lang="en-US" sz="2000" dirty="0" smtClean="0"/>
              <a:t> cause road accidents that </a:t>
            </a:r>
            <a:r>
              <a:rPr lang="en-US" sz="2000" u="sng" dirty="0" smtClean="0"/>
              <a:t>kill people</a:t>
            </a:r>
            <a:r>
              <a:rPr lang="en-US" sz="2000" dirty="0" smtClean="0"/>
              <a:t>.</a:t>
            </a:r>
          </a:p>
          <a:p>
            <a:pPr>
              <a:buNone/>
            </a:pPr>
            <a:r>
              <a:rPr lang="en-US" sz="2000" dirty="0" smtClean="0"/>
              <a:t>	We </a:t>
            </a:r>
            <a:r>
              <a:rPr lang="en-US" sz="2000" u="sng" dirty="0" smtClean="0"/>
              <a:t>need</a:t>
            </a:r>
            <a:r>
              <a:rPr lang="en-US" sz="2000" dirty="0" smtClean="0"/>
              <a:t> to be able to predict when ice will form on a road so we can </a:t>
            </a:r>
            <a:r>
              <a:rPr lang="en-US" sz="2000" i="1" dirty="0" smtClean="0">
                <a:solidFill>
                  <a:srgbClr val="C00000"/>
                </a:solidFill>
              </a:rPr>
              <a:t>schedule</a:t>
            </a:r>
            <a:r>
              <a:rPr lang="en-US" sz="2000" dirty="0" smtClean="0"/>
              <a:t> a </a:t>
            </a:r>
            <a:r>
              <a:rPr lang="en-US" sz="2000" i="1" dirty="0" smtClean="0">
                <a:solidFill>
                  <a:srgbClr val="C00000"/>
                </a:solidFill>
              </a:rPr>
              <a:t>de-icing truck</a:t>
            </a:r>
            <a:r>
              <a:rPr lang="en-US" sz="2000" dirty="0" smtClean="0"/>
              <a:t> to treat the road in time.</a:t>
            </a:r>
          </a:p>
          <a:p>
            <a:pPr>
              <a:buNone/>
            </a:pPr>
            <a:r>
              <a:rPr lang="en-US" sz="2000" dirty="0" smtClean="0"/>
              <a:t>	We </a:t>
            </a:r>
            <a:r>
              <a:rPr lang="en-US" sz="2000" u="sng" dirty="0" smtClean="0"/>
              <a:t>expect</a:t>
            </a:r>
            <a:r>
              <a:rPr lang="en-US" sz="2000" dirty="0" smtClean="0"/>
              <a:t> a new system to provide more accurate </a:t>
            </a:r>
            <a:r>
              <a:rPr lang="en-US" sz="2000" i="1" dirty="0" smtClean="0">
                <a:solidFill>
                  <a:srgbClr val="C00000"/>
                </a:solidFill>
              </a:rPr>
              <a:t>predictions</a:t>
            </a:r>
            <a:r>
              <a:rPr lang="en-US" sz="2000" dirty="0" smtClean="0"/>
              <a:t> of icy conditions.</a:t>
            </a:r>
          </a:p>
          <a:p>
            <a:pPr>
              <a:buNone/>
            </a:pPr>
            <a:r>
              <a:rPr lang="en-US" sz="2000" dirty="0" smtClean="0"/>
              <a:t>	This will lead to more timely de-icing treatment than at present, which will </a:t>
            </a:r>
            <a:r>
              <a:rPr lang="en-US" sz="2000" u="sng" dirty="0" smtClean="0"/>
              <a:t>reduce road accidents</a:t>
            </a:r>
            <a:r>
              <a:rPr lang="en-US" sz="2000" dirty="0" smtClean="0"/>
              <a:t>.</a:t>
            </a:r>
          </a:p>
          <a:p>
            <a:pPr>
              <a:buNone/>
            </a:pPr>
            <a:r>
              <a:rPr lang="en-US" sz="2000" dirty="0" smtClean="0"/>
              <a:t>	We also </a:t>
            </a:r>
            <a:r>
              <a:rPr lang="en-US" sz="2000" u="sng" dirty="0" smtClean="0"/>
              <a:t>want</a:t>
            </a:r>
            <a:r>
              <a:rPr lang="en-US" sz="2000" dirty="0" smtClean="0"/>
              <a:t> to </a:t>
            </a:r>
            <a:r>
              <a:rPr lang="en-US" sz="2000" i="1" dirty="0" smtClean="0">
                <a:solidFill>
                  <a:srgbClr val="C00000"/>
                </a:solidFill>
              </a:rPr>
              <a:t>eliminate</a:t>
            </a:r>
            <a:r>
              <a:rPr lang="en-US" sz="2000" dirty="0" smtClean="0"/>
              <a:t> indiscriminate treatment of roads, which wastes de-icing compounds and causes environmental damage.“</a:t>
            </a:r>
          </a:p>
          <a:p>
            <a:r>
              <a:rPr lang="en-US" sz="2400" dirty="0" smtClean="0"/>
              <a:t>Pay attention to the </a:t>
            </a:r>
            <a:r>
              <a:rPr lang="en-US" sz="2400" i="1" dirty="0" smtClean="0">
                <a:solidFill>
                  <a:srgbClr val="C00000"/>
                </a:solidFill>
              </a:rPr>
              <a:t>subjects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Four </a:t>
            </a:r>
            <a:r>
              <a:rPr lang="en-US" sz="2400" i="1" dirty="0" smtClean="0">
                <a:solidFill>
                  <a:srgbClr val="C00000"/>
                </a:solidFill>
              </a:rPr>
              <a:t>domains</a:t>
            </a:r>
            <a:r>
              <a:rPr lang="en-US" sz="2400" dirty="0" smtClean="0"/>
              <a:t>: Roads, Weather, Scheduling, Trucking.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91400" y="2438400"/>
            <a:ext cx="1666875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Define Terminologies (Terms)</a:t>
            </a:r>
            <a:endParaRPr lang="en-US" dirty="0"/>
          </a:p>
        </p:txBody>
      </p:sp>
      <p:pic>
        <p:nvPicPr>
          <p:cNvPr id="1054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76525" y="4210050"/>
            <a:ext cx="4105275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5477" name="Picture 5" descr="http://www.thinknice.com/wp-content/uploads/2013/07/You-Dont-Understand-It-Well-Enough-Albert-Einstein-Quot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24200" y="1451610"/>
            <a:ext cx="3048000" cy="25869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loud BI Solutions | Cloud Business Intelligence - Right Angle Solution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2895600"/>
            <a:ext cx="3971429" cy="2428572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Build a </a:t>
            </a:r>
            <a:r>
              <a:rPr lang="en-US" sz="2800" i="1" dirty="0" smtClean="0">
                <a:solidFill>
                  <a:srgbClr val="C00000"/>
                </a:solidFill>
              </a:rPr>
              <a:t>background</a:t>
            </a:r>
            <a:r>
              <a:rPr lang="en-US" sz="2800" dirty="0" smtClean="0"/>
              <a:t> and </a:t>
            </a:r>
            <a:r>
              <a:rPr lang="en-US" sz="2800" i="1" dirty="0" smtClean="0">
                <a:solidFill>
                  <a:srgbClr val="C00000"/>
                </a:solidFill>
              </a:rPr>
              <a:t>context</a:t>
            </a:r>
            <a:r>
              <a:rPr lang="en-US" sz="2800" dirty="0" smtClean="0"/>
              <a:t> around the terminologies.</a:t>
            </a:r>
          </a:p>
          <a:p>
            <a:r>
              <a:rPr lang="en-US" sz="2800" dirty="0" smtClean="0"/>
              <a:t>Expand terminologies into </a:t>
            </a:r>
          </a:p>
          <a:p>
            <a:pPr lvl="1"/>
            <a:r>
              <a:rPr lang="en-US" sz="2400" dirty="0" smtClean="0"/>
              <a:t>Business roles,</a:t>
            </a:r>
          </a:p>
          <a:p>
            <a:pPr lvl="1"/>
            <a:r>
              <a:rPr lang="en-US" sz="2400" dirty="0" smtClean="0"/>
              <a:t>Business workflows, </a:t>
            </a:r>
          </a:p>
          <a:p>
            <a:pPr lvl="1"/>
            <a:r>
              <a:rPr lang="en-US" sz="2400" dirty="0" smtClean="0"/>
              <a:t>Business components,</a:t>
            </a:r>
          </a:p>
          <a:p>
            <a:pPr lvl="2"/>
            <a:r>
              <a:rPr lang="en-US" sz="2000" dirty="0" smtClean="0"/>
              <a:t>Units/Departments</a:t>
            </a:r>
          </a:p>
          <a:p>
            <a:pPr lvl="1"/>
            <a:r>
              <a:rPr lang="en-US" sz="2400" dirty="0" smtClean="0"/>
              <a:t>Business entities (objects), and</a:t>
            </a:r>
          </a:p>
          <a:p>
            <a:pPr lvl="1"/>
            <a:r>
              <a:rPr lang="en-US" sz="2400" dirty="0" smtClean="0"/>
              <a:t>Business artifacts</a:t>
            </a:r>
          </a:p>
          <a:p>
            <a:pPr>
              <a:buNone/>
            </a:pPr>
            <a:r>
              <a:rPr lang="en-US" dirty="0" smtClean="0"/>
              <a:t>	AS MUCH AS POSSIBLE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Analyze Terminologies (Terms)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Definition [2]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28880" y="4385608"/>
            <a:ext cx="351032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 smtClean="0">
                <a:solidFill>
                  <a:srgbClr val="C00000"/>
                </a:solidFill>
                <a:latin typeface="+mj-lt"/>
              </a:rPr>
              <a:t>WE CANNOT…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 smtClean="0">
              <a:solidFill>
                <a:srgbClr val="C00000"/>
              </a:solidFill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>
                <a:solidFill>
                  <a:srgbClr val="C00000"/>
                </a:solidFill>
                <a:latin typeface="+mj-lt"/>
              </a:rPr>
              <a:t>IT’S DIFFICULT…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 smtClean="0">
              <a:solidFill>
                <a:srgbClr val="C00000"/>
              </a:solidFill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>
                <a:solidFill>
                  <a:srgbClr val="C00000"/>
                </a:solidFill>
                <a:latin typeface="+mj-lt"/>
              </a:rPr>
              <a:t>IT COSTS TOO MUCH…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65239" y="2099608"/>
            <a:ext cx="33657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Wingdings" pitchFamily="2" charset="2"/>
              <a:buChar char="v"/>
            </a:pPr>
            <a:r>
              <a:rPr lang="en-US" sz="2400" dirty="0" smtClean="0">
                <a:solidFill>
                  <a:srgbClr val="C00000"/>
                </a:solidFill>
                <a:latin typeface="+mj-lt"/>
              </a:rPr>
              <a:t>PAIN, FEAR</a:t>
            </a:r>
          </a:p>
          <a:p>
            <a:pPr marL="514350" indent="-514350">
              <a:buFont typeface="Wingdings" pitchFamily="2" charset="2"/>
              <a:buChar char="v"/>
            </a:pPr>
            <a:r>
              <a:rPr lang="en-US" sz="2400" dirty="0" smtClean="0">
                <a:solidFill>
                  <a:srgbClr val="C00000"/>
                </a:solidFill>
                <a:latin typeface="+mj-lt"/>
              </a:rPr>
              <a:t>HIGHT COST</a:t>
            </a:r>
          </a:p>
          <a:p>
            <a:pPr marL="514350" indent="-514350">
              <a:buFont typeface="Wingdings" pitchFamily="2" charset="2"/>
              <a:buChar char="v"/>
            </a:pPr>
            <a:r>
              <a:rPr lang="en-US" sz="2400" dirty="0" smtClean="0">
                <a:solidFill>
                  <a:srgbClr val="C00000"/>
                </a:solidFill>
                <a:latin typeface="+mj-lt"/>
              </a:rPr>
              <a:t>TIME CONSUMPTION</a:t>
            </a:r>
          </a:p>
          <a:p>
            <a:pPr marL="514350" indent="-514350">
              <a:buFont typeface="Wingdings" pitchFamily="2" charset="2"/>
              <a:buChar char="v"/>
            </a:pPr>
            <a:r>
              <a:rPr lang="en-US" sz="2400" dirty="0" smtClean="0">
                <a:solidFill>
                  <a:srgbClr val="C00000"/>
                </a:solidFill>
                <a:latin typeface="+mj-lt"/>
              </a:rPr>
              <a:t>BOREDOM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" y="1447800"/>
            <a:ext cx="4876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Formally, a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problem</a:t>
            </a:r>
            <a:r>
              <a:rPr lang="en-US" sz="2400" dirty="0" smtClean="0">
                <a:latin typeface="+mj-lt"/>
              </a:rPr>
              <a:t> can be defined as </a:t>
            </a:r>
            <a:r>
              <a:rPr lang="en-US" sz="2400" u="sng" dirty="0" smtClean="0">
                <a:latin typeface="+mj-lt"/>
              </a:rPr>
              <a:t>the differences</a:t>
            </a:r>
            <a:r>
              <a:rPr lang="en-US" sz="2400" dirty="0" smtClean="0">
                <a:latin typeface="+mj-lt"/>
              </a:rPr>
              <a:t> between </a:t>
            </a:r>
            <a:r>
              <a:rPr lang="en-US" sz="2400" u="sng" dirty="0" smtClean="0">
                <a:latin typeface="+mj-lt"/>
              </a:rPr>
              <a:t>a goal state</a:t>
            </a:r>
            <a:r>
              <a:rPr lang="en-US" sz="2400" dirty="0" smtClean="0">
                <a:latin typeface="+mj-lt"/>
              </a:rPr>
              <a:t> and </a:t>
            </a:r>
            <a:r>
              <a:rPr lang="en-US" sz="2400" u="sng" dirty="0" smtClean="0">
                <a:latin typeface="+mj-lt"/>
              </a:rPr>
              <a:t>the current state</a:t>
            </a:r>
            <a:r>
              <a:rPr lang="en-US" sz="2400" dirty="0" smtClean="0">
                <a:latin typeface="+mj-lt"/>
              </a:rPr>
              <a:t> of a system.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Problem solving</a:t>
            </a:r>
            <a:r>
              <a:rPr lang="en-US" sz="2400" dirty="0" smtClean="0">
                <a:latin typeface="+mj-lt"/>
              </a:rPr>
              <a:t> can be defined as a search process using actions to reduce or eliminate the differences.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4724400"/>
            <a:ext cx="440055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29255" y="533400"/>
            <a:ext cx="1586145" cy="1492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Document Operational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Yearly budget for software development to support business operations</a:t>
            </a:r>
          </a:p>
          <a:p>
            <a:pPr lvl="1"/>
            <a:r>
              <a:rPr lang="en-US" sz="2200" dirty="0" smtClean="0"/>
              <a:t>Bug fixes, security enhancements, task automation, digitalization, technology upgrade, compliance requirements.</a:t>
            </a:r>
          </a:p>
          <a:p>
            <a:r>
              <a:rPr lang="en-US" sz="2600" dirty="0" smtClean="0"/>
              <a:t>Prepare RFP with concrete problems.</a:t>
            </a:r>
          </a:p>
          <a:p>
            <a:r>
              <a:rPr lang="en-US" sz="2600" dirty="0" smtClean="0"/>
              <a:t>Done by </a:t>
            </a:r>
            <a:r>
              <a:rPr lang="en-US" sz="2600" i="1" dirty="0" smtClean="0">
                <a:solidFill>
                  <a:srgbClr val="C00000"/>
                </a:solidFill>
              </a:rPr>
              <a:t>organization employees</a:t>
            </a:r>
            <a:r>
              <a:rPr lang="en-US" sz="2600" dirty="0" smtClean="0"/>
              <a:t> (</a:t>
            </a:r>
            <a:r>
              <a:rPr lang="en-US" sz="2400" dirty="0" smtClean="0"/>
              <a:t>marketing managers, sales, support)</a:t>
            </a:r>
            <a:endParaRPr lang="en-US" sz="2600" dirty="0" smtClean="0"/>
          </a:p>
        </p:txBody>
      </p:sp>
      <p:sp>
        <p:nvSpPr>
          <p:cNvPr id="50178" name="AutoShape 2" descr="https://www.entrepreneurshipinabox.com/wp-content/uploads/Turn-Around-a-Struggling-Construction-Business-700x394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180" name="AutoShape 4" descr="https://www.entrepreneurshipinabox.com/wp-content/uploads/Turn-Around-a-Struggling-Construction-Business-700x394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0182" name="Picture 6" descr="https://media.licdn.com/dms/image/D4E12AQGcZjuPS422kQ/article-cover_image-shrink_600_2000/0/1694015621657?e=2147483647&amp;v=beta&amp;t=xi6x44oQChOSVYeZ3TYcKh9-L6Eu9jLjb3xT8RK4MVI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4572000"/>
            <a:ext cx="2971800" cy="1794510"/>
          </a:xfrm>
          <a:prstGeom prst="rect">
            <a:avLst/>
          </a:prstGeom>
          <a:noFill/>
        </p:spPr>
      </p:pic>
      <p:pic>
        <p:nvPicPr>
          <p:cNvPr id="8" name="Picture 7" descr="https://media.istockphoto.com/illustrations/easy-way-vs-hard-way-illustration-id508815066?k=20&amp;m=508815066&amp;s=170667a&amp;w=0&amp;h=eV4DSeAAGX_AznXxlCGI_HOkiPriF1Y2lub3K69nt9U=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4953000"/>
            <a:ext cx="1399032" cy="1139952"/>
          </a:xfrm>
          <a:prstGeom prst="rect">
            <a:avLst/>
          </a:prstGeom>
          <a:noFill/>
        </p:spPr>
      </p:pic>
      <p:sp>
        <p:nvSpPr>
          <p:cNvPr id="9" name="Oval 8"/>
          <p:cNvSpPr/>
          <p:nvPr/>
        </p:nvSpPr>
        <p:spPr>
          <a:xfrm>
            <a:off x="6705600" y="5029200"/>
            <a:ext cx="1600200" cy="533400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2. Handle RFP with Concrete Problems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91000" cy="4525963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Request for proposal</a:t>
            </a:r>
          </a:p>
          <a:p>
            <a:r>
              <a:rPr lang="en-US" sz="2400" dirty="0" smtClean="0"/>
              <a:t>Meeting minutes</a:t>
            </a:r>
          </a:p>
          <a:p>
            <a:pPr lvl="0">
              <a:defRPr/>
            </a:pPr>
            <a:r>
              <a:rPr lang="en-US" sz="2400" dirty="0" smtClean="0"/>
              <a:t>Existing systems</a:t>
            </a:r>
          </a:p>
          <a:p>
            <a:pPr lvl="0">
              <a:defRPr/>
            </a:pPr>
            <a:r>
              <a:rPr lang="en-US" sz="2400" dirty="0" smtClean="0"/>
              <a:t>Existing source code and data</a:t>
            </a:r>
          </a:p>
          <a:p>
            <a:pPr lvl="0">
              <a:defRPr/>
            </a:pPr>
            <a:r>
              <a:rPr lang="en-US" sz="2400" dirty="0" smtClean="0"/>
              <a:t>Similar systems</a:t>
            </a:r>
          </a:p>
        </p:txBody>
      </p:sp>
      <p:pic>
        <p:nvPicPr>
          <p:cNvPr id="1026" name="Picture 2" descr="https://images.squarespace-cdn.com/content/57d0a309d2b857a49b7ee374/1537570520028-86NDPZGD6HM6I7XK2WQZ/Council+Notes.jpg?content-type=image%2F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0" y="1676400"/>
            <a:ext cx="3048000" cy="2017776"/>
          </a:xfrm>
          <a:prstGeom prst="rect">
            <a:avLst/>
          </a:prstGeom>
          <a:noFill/>
        </p:spPr>
      </p:pic>
      <p:pic>
        <p:nvPicPr>
          <p:cNvPr id="1029" name="Picture 5" descr="https://blog.rocketsoftware.com/wp-content/uploads/2015/05/3-for-Free-c_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114800"/>
            <a:ext cx="3695700" cy="22383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3. Prepare Response to RFP with Concrete Problems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en-US" sz="2600" i="1" dirty="0" smtClean="0">
                <a:solidFill>
                  <a:srgbClr val="C00000"/>
                </a:solidFill>
              </a:rPr>
              <a:t>Solution</a:t>
            </a:r>
          </a:p>
          <a:p>
            <a:pPr lvl="1">
              <a:defRPr/>
            </a:pPr>
            <a:r>
              <a:rPr lang="en-US" sz="2200" dirty="0" smtClean="0"/>
              <a:t>Customer journey map</a:t>
            </a:r>
          </a:p>
          <a:p>
            <a:pPr lvl="2">
              <a:defRPr/>
            </a:pPr>
            <a:r>
              <a:rPr lang="en-US" sz="1800" dirty="0" smtClean="0"/>
              <a:t>Customer user experiences in seeking and accessing services.</a:t>
            </a:r>
          </a:p>
          <a:p>
            <a:pPr>
              <a:defRPr/>
            </a:pPr>
            <a:r>
              <a:rPr lang="en-US" sz="2600" dirty="0" smtClean="0"/>
              <a:t>Cost</a:t>
            </a:r>
          </a:p>
          <a:p>
            <a:endParaRPr lang="en-US" sz="2600" dirty="0"/>
          </a:p>
        </p:txBody>
      </p:sp>
      <p:pic>
        <p:nvPicPr>
          <p:cNvPr id="51202" name="Picture 2" descr="https://www.playvox.com/wp-content/uploads/2016/12/How-to-Create-a-Customer-Journey-Map-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3810000"/>
            <a:ext cx="4064000" cy="2286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1. Handle RFP w/o Concrete Problems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Request for proposal</a:t>
            </a:r>
          </a:p>
          <a:p>
            <a:r>
              <a:rPr lang="en-US" sz="2400" dirty="0" smtClean="0"/>
              <a:t>Meeting minutes</a:t>
            </a:r>
          </a:p>
          <a:p>
            <a:pPr lvl="0">
              <a:defRPr/>
            </a:pPr>
            <a:r>
              <a:rPr lang="en-US" sz="2400" dirty="0" smtClean="0"/>
              <a:t>Existing systems</a:t>
            </a:r>
          </a:p>
          <a:p>
            <a:pPr lvl="0">
              <a:defRPr/>
            </a:pPr>
            <a:r>
              <a:rPr lang="en-US" sz="2400" dirty="0" smtClean="0"/>
              <a:t>Existing source code and data</a:t>
            </a:r>
          </a:p>
          <a:p>
            <a:pPr lvl="0"/>
            <a:r>
              <a:rPr lang="en-US" sz="2400" i="1" dirty="0" smtClean="0">
                <a:solidFill>
                  <a:srgbClr val="C00000"/>
                </a:solidFill>
              </a:rPr>
              <a:t>Research results</a:t>
            </a:r>
            <a:r>
              <a:rPr lang="en-US" sz="2400" dirty="0" smtClean="0"/>
              <a:t> that may be applied to existing systems.</a:t>
            </a:r>
          </a:p>
        </p:txBody>
      </p:sp>
      <p:pic>
        <p:nvPicPr>
          <p:cNvPr id="4" name="Picture 2" descr="https://www.jewishinteractive.org/wp-content/uploads/2019/03/IGDP-research-results-1200x565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4212666"/>
            <a:ext cx="4000000" cy="188333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Identify Operational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Yearly budget for software development to support business operations</a:t>
            </a:r>
          </a:p>
          <a:p>
            <a:pPr lvl="1"/>
            <a:r>
              <a:rPr lang="en-US" sz="2200" dirty="0" smtClean="0"/>
              <a:t>Bug fixes, security enhancements, task automation, digitalization, technology upgrade</a:t>
            </a:r>
          </a:p>
          <a:p>
            <a:r>
              <a:rPr lang="en-US" sz="2600" dirty="0" smtClean="0"/>
              <a:t>Done by </a:t>
            </a:r>
            <a:r>
              <a:rPr lang="en-US" sz="2600" i="1" dirty="0" smtClean="0">
                <a:solidFill>
                  <a:srgbClr val="C00000"/>
                </a:solidFill>
              </a:rPr>
              <a:t>external entities</a:t>
            </a:r>
            <a:r>
              <a:rPr lang="en-US" sz="2600" dirty="0" smtClean="0"/>
              <a:t>.</a:t>
            </a:r>
          </a:p>
          <a:p>
            <a:pPr lvl="1"/>
            <a:endParaRPr lang="en-US" sz="2200" dirty="0" smtClean="0"/>
          </a:p>
        </p:txBody>
      </p:sp>
      <p:sp>
        <p:nvSpPr>
          <p:cNvPr id="50178" name="AutoShape 2" descr="https://www.entrepreneurshipinabox.com/wp-content/uploads/Turn-Around-a-Struggling-Construction-Business-700x394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180" name="AutoShape 4" descr="https://www.entrepreneurshipinabox.com/wp-content/uploads/Turn-Around-a-Struggling-Construction-Business-700x394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45130" y="4046220"/>
            <a:ext cx="3303270" cy="2202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3. Discover Problems Leading to New System Development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Building a </a:t>
            </a:r>
            <a:r>
              <a:rPr lang="en-US" sz="2600" i="1" dirty="0" smtClean="0">
                <a:solidFill>
                  <a:srgbClr val="C00000"/>
                </a:solidFill>
              </a:rPr>
              <a:t>new</a:t>
            </a:r>
            <a:r>
              <a:rPr lang="en-US" sz="2600" dirty="0" smtClean="0"/>
              <a:t> corporate information system (enterprise application) </a:t>
            </a:r>
            <a:r>
              <a:rPr lang="en-US" sz="2600" u="sng" dirty="0" smtClean="0"/>
              <a:t>for a client</a:t>
            </a:r>
          </a:p>
          <a:p>
            <a:pPr lvl="1"/>
            <a:r>
              <a:rPr lang="en-US" sz="2200" dirty="0" smtClean="0"/>
              <a:t>Start with a manual process,</a:t>
            </a:r>
          </a:p>
          <a:p>
            <a:pPr lvl="1"/>
            <a:r>
              <a:rPr lang="en-US" sz="2200" dirty="0" smtClean="0"/>
              <a:t>a trivial existing solution,</a:t>
            </a:r>
          </a:p>
          <a:p>
            <a:pPr lvl="1"/>
            <a:r>
              <a:rPr lang="en-US" sz="2200" dirty="0" smtClean="0"/>
              <a:t>outdated technologies, </a:t>
            </a:r>
          </a:p>
          <a:p>
            <a:pPr lvl="1"/>
            <a:r>
              <a:rPr lang="en-US" sz="2200" dirty="0" smtClean="0"/>
              <a:t>compliance requirements, and</a:t>
            </a:r>
          </a:p>
          <a:p>
            <a:pPr lvl="1"/>
            <a:r>
              <a:rPr lang="en-US" sz="2200" dirty="0" smtClean="0"/>
              <a:t>competitors' systems.</a:t>
            </a:r>
          </a:p>
        </p:txBody>
      </p:sp>
      <p:pic>
        <p:nvPicPr>
          <p:cNvPr id="4" name="Picture 7" descr="https://media.istockphoto.com/illustrations/easy-way-vs-hard-way-illustration-id508815066?k=20&amp;m=508815066&amp;s=170667a&amp;w=0&amp;h=eV4DSeAAGX_AznXxlCGI_HOkiPriF1Y2lub3K69nt9U=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2209800"/>
            <a:ext cx="1399032" cy="1139952"/>
          </a:xfrm>
          <a:prstGeom prst="rect">
            <a:avLst/>
          </a:prstGeom>
          <a:noFill/>
        </p:spPr>
      </p:pic>
      <p:sp>
        <p:nvSpPr>
          <p:cNvPr id="5" name="Oval 4"/>
          <p:cNvSpPr/>
          <p:nvPr/>
        </p:nvSpPr>
        <p:spPr>
          <a:xfrm>
            <a:off x="5715000" y="2743200"/>
            <a:ext cx="1600200" cy="533400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0" y="4833620"/>
            <a:ext cx="1095693" cy="1338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2971800" y="5290820"/>
            <a:ext cx="1143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Client</a:t>
            </a:r>
            <a:endParaRPr lang="en-US" sz="2200" dirty="0">
              <a:latin typeface="+mj-lt"/>
            </a:endParaRPr>
          </a:p>
        </p:txBody>
      </p:sp>
      <p:pic>
        <p:nvPicPr>
          <p:cNvPr id="49154" name="Picture 2" descr="https://kissflow.com/hubfs/manual_procurement_risks_blog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43500" y="4038600"/>
            <a:ext cx="3238500" cy="1714500"/>
          </a:xfrm>
          <a:prstGeom prst="rect">
            <a:avLst/>
          </a:prstGeom>
          <a:noFill/>
        </p:spPr>
      </p:pic>
      <p:sp>
        <p:nvSpPr>
          <p:cNvPr id="10" name="Rectangle 9"/>
          <p:cNvSpPr/>
          <p:nvPr/>
        </p:nvSpPr>
        <p:spPr>
          <a:xfrm>
            <a:off x="5410200" y="5893713"/>
            <a:ext cx="2667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dirty="0" smtClean="0">
                <a:latin typeface="+mj-lt"/>
              </a:rPr>
              <a:t>Employees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4. Discover Problems Leading to Existing System Enhancements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Enhancing an </a:t>
            </a:r>
            <a:r>
              <a:rPr lang="en-US" sz="2600" i="1" dirty="0" smtClean="0">
                <a:solidFill>
                  <a:srgbClr val="C00000"/>
                </a:solidFill>
              </a:rPr>
              <a:t>existing</a:t>
            </a:r>
            <a:r>
              <a:rPr lang="en-US" sz="2600" dirty="0" smtClean="0"/>
              <a:t> corporate information system (enterprise application) </a:t>
            </a:r>
            <a:r>
              <a:rPr lang="en-US" sz="2600" u="sng" dirty="0" smtClean="0"/>
              <a:t>for a client</a:t>
            </a:r>
          </a:p>
          <a:p>
            <a:pPr lvl="1"/>
            <a:r>
              <a:rPr lang="en-US" sz="2200" dirty="0" smtClean="0"/>
              <a:t>Start with bugs, security issues,</a:t>
            </a:r>
          </a:p>
          <a:p>
            <a:pPr lvl="1"/>
            <a:r>
              <a:rPr lang="en-US" sz="2200" dirty="0" smtClean="0"/>
              <a:t>performance issues,</a:t>
            </a:r>
          </a:p>
          <a:p>
            <a:pPr lvl="1"/>
            <a:r>
              <a:rPr lang="en-US" sz="2200" dirty="0" smtClean="0"/>
              <a:t>compliance requirements,</a:t>
            </a:r>
          </a:p>
          <a:p>
            <a:pPr lvl="1"/>
            <a:r>
              <a:rPr lang="en-US" sz="2200" dirty="0" smtClean="0"/>
              <a:t>integration requirements, and</a:t>
            </a:r>
          </a:p>
          <a:p>
            <a:pPr lvl="1"/>
            <a:r>
              <a:rPr lang="en-US" sz="2200" dirty="0" smtClean="0"/>
              <a:t>competitors' systems.</a:t>
            </a:r>
          </a:p>
        </p:txBody>
      </p:sp>
      <p:pic>
        <p:nvPicPr>
          <p:cNvPr id="4" name="Picture 7" descr="https://media.istockphoto.com/illustrations/easy-way-vs-hard-way-illustration-id508815066?k=20&amp;m=508815066&amp;s=170667a&amp;w=0&amp;h=eV4DSeAAGX_AznXxlCGI_HOkiPriF1Y2lub3K69nt9U=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2362200"/>
            <a:ext cx="1399032" cy="1139952"/>
          </a:xfrm>
          <a:prstGeom prst="rect">
            <a:avLst/>
          </a:prstGeom>
          <a:noFill/>
        </p:spPr>
      </p:pic>
      <p:sp>
        <p:nvSpPr>
          <p:cNvPr id="5" name="Oval 4"/>
          <p:cNvSpPr/>
          <p:nvPr/>
        </p:nvSpPr>
        <p:spPr>
          <a:xfrm>
            <a:off x="6172200" y="2895600"/>
            <a:ext cx="1600200" cy="533400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410200" y="5893713"/>
            <a:ext cx="2667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dirty="0" smtClean="0">
                <a:latin typeface="+mj-lt"/>
              </a:rPr>
              <a:t>Supporters</a:t>
            </a:r>
            <a:endParaRPr lang="en-US" sz="2200" dirty="0">
              <a:latin typeface="+mj-lt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57375" y="4833620"/>
            <a:ext cx="1095693" cy="1338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3000375" y="5290820"/>
            <a:ext cx="1143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Client</a:t>
            </a:r>
            <a:endParaRPr lang="en-US" sz="2200" dirty="0">
              <a:latin typeface="+mj-lt"/>
            </a:endParaRPr>
          </a:p>
        </p:txBody>
      </p:sp>
      <p:pic>
        <p:nvPicPr>
          <p:cNvPr id="10" name="Picture 4" descr="https://thumbor.forbes.com/thumbor/fit-in/900x510/https://www.forbes.com/advisor/wp-content/uploads/2022/03/Image_-_Customer_service_rep_.jpeg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86400" y="4038600"/>
            <a:ext cx="2857500" cy="16065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5. Prepare Response to RFP w/o Concrete Problems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en-US" sz="2600" i="1" dirty="0" smtClean="0">
                <a:solidFill>
                  <a:srgbClr val="C00000"/>
                </a:solidFill>
              </a:rPr>
              <a:t>Discovered problems</a:t>
            </a:r>
          </a:p>
          <a:p>
            <a:pPr lvl="0">
              <a:defRPr/>
            </a:pPr>
            <a:r>
              <a:rPr lang="en-US" sz="2600" dirty="0" smtClean="0"/>
              <a:t>Solution</a:t>
            </a:r>
          </a:p>
          <a:p>
            <a:pPr lvl="1">
              <a:defRPr/>
            </a:pPr>
            <a:r>
              <a:rPr lang="en-US" sz="2200" dirty="0" smtClean="0"/>
              <a:t>Customer journey map</a:t>
            </a:r>
          </a:p>
          <a:p>
            <a:pPr lvl="2">
              <a:defRPr/>
            </a:pPr>
            <a:r>
              <a:rPr lang="en-US" sz="1800" dirty="0" smtClean="0"/>
              <a:t>Customer user experiences in seeking and accessing services.</a:t>
            </a:r>
          </a:p>
          <a:p>
            <a:pPr lvl="0">
              <a:defRPr/>
            </a:pPr>
            <a:r>
              <a:rPr lang="en-US" sz="2600" dirty="0" smtClean="0"/>
              <a:t>Cost</a:t>
            </a:r>
          </a:p>
        </p:txBody>
      </p:sp>
      <p:pic>
        <p:nvPicPr>
          <p:cNvPr id="6" name="Picture 2" descr="https://www.maketechwork.com/images/easyblog_shared/September_2023/09-25-23/businessProblems_616224233_40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5200" y="3962400"/>
            <a:ext cx="2159000" cy="2159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Handle Research RFP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en-US" sz="2400" dirty="0" smtClean="0"/>
              <a:t>Operational systems</a:t>
            </a:r>
          </a:p>
          <a:p>
            <a:pPr lvl="0">
              <a:defRPr/>
            </a:pPr>
            <a:r>
              <a:rPr lang="en-US" sz="2400" dirty="0" smtClean="0"/>
              <a:t>Existing source code and data</a:t>
            </a:r>
          </a:p>
          <a:p>
            <a:pPr lvl="0">
              <a:defRPr/>
            </a:pPr>
            <a:r>
              <a:rPr lang="en-US" sz="2400" i="1" dirty="0" smtClean="0">
                <a:solidFill>
                  <a:srgbClr val="C00000"/>
                </a:solidFill>
              </a:rPr>
              <a:t>Competitors' systems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Research papers</a:t>
            </a:r>
            <a:endParaRPr lang="en-US" sz="2000" i="1" dirty="0" smtClean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400" dirty="0" smtClean="0"/>
              <a:t>Meeting minutes</a:t>
            </a:r>
          </a:p>
          <a:p>
            <a:pPr lvl="0">
              <a:defRPr/>
            </a:pPr>
            <a:endParaRPr lang="en-US" sz="2400" dirty="0" smtClean="0"/>
          </a:p>
          <a:p>
            <a:endParaRPr lang="en-US" sz="2400" dirty="0"/>
          </a:p>
        </p:txBody>
      </p:sp>
      <p:pic>
        <p:nvPicPr>
          <p:cNvPr id="4" name="Picture 12" descr="https://miro.medium.com/max/2000/1*VJ6kL5o4qHCRNu7NsxH5FQ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1905000"/>
            <a:ext cx="3063240" cy="2057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Identify Trending Technologies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Yearly budget for research related to software development</a:t>
            </a:r>
          </a:p>
          <a:p>
            <a:pPr lvl="1"/>
            <a:r>
              <a:rPr lang="en-US" sz="2200" dirty="0" smtClean="0"/>
              <a:t>Trending technologies that competitors are using or are going to be using.</a:t>
            </a:r>
          </a:p>
          <a:p>
            <a:r>
              <a:rPr lang="en-US" sz="2600" dirty="0" smtClean="0"/>
              <a:t>Done by </a:t>
            </a:r>
            <a:r>
              <a:rPr lang="en-US" sz="2600" i="1" dirty="0" smtClean="0">
                <a:solidFill>
                  <a:srgbClr val="C00000"/>
                </a:solidFill>
              </a:rPr>
              <a:t>external entities</a:t>
            </a:r>
            <a:r>
              <a:rPr lang="en-US" sz="2600" dirty="0" smtClean="0"/>
              <a:t>.</a:t>
            </a:r>
          </a:p>
        </p:txBody>
      </p:sp>
      <p:sp>
        <p:nvSpPr>
          <p:cNvPr id="50178" name="AutoShape 2" descr="https://www.entrepreneurshipinabox.com/wp-content/uploads/Turn-Around-a-Struggling-Construction-Business-700x394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180" name="AutoShape 4" descr="https://www.entrepreneurshipinabox.com/wp-content/uploads/Turn-Around-a-Struggling-Construction-Business-700x394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92730" y="4046220"/>
            <a:ext cx="3303270" cy="2202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3. Discover Potential Enhancements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Conducting a </a:t>
            </a:r>
            <a:r>
              <a:rPr lang="en-US" sz="2600" i="1" dirty="0" smtClean="0">
                <a:solidFill>
                  <a:srgbClr val="C00000"/>
                </a:solidFill>
              </a:rPr>
              <a:t>research</a:t>
            </a:r>
            <a:r>
              <a:rPr lang="en-US" sz="2600" dirty="0" smtClean="0"/>
              <a:t> </a:t>
            </a:r>
            <a:r>
              <a:rPr lang="en-US" sz="2600" u="sng" dirty="0" smtClean="0"/>
              <a:t>for a client</a:t>
            </a:r>
          </a:p>
          <a:p>
            <a:pPr lvl="1"/>
            <a:r>
              <a:rPr lang="en-US" sz="2200" dirty="0" smtClean="0"/>
              <a:t>Start with existing systems,</a:t>
            </a:r>
          </a:p>
          <a:p>
            <a:pPr lvl="1"/>
            <a:r>
              <a:rPr lang="en-US" sz="2200" dirty="0" smtClean="0"/>
              <a:t>competitors' systems, and</a:t>
            </a:r>
          </a:p>
          <a:p>
            <a:pPr lvl="1"/>
            <a:r>
              <a:rPr lang="en-US" sz="2200" dirty="0" smtClean="0"/>
              <a:t>trending research results.</a:t>
            </a:r>
          </a:p>
        </p:txBody>
      </p:sp>
      <p:pic>
        <p:nvPicPr>
          <p:cNvPr id="4" name="Picture 7" descr="https://media.istockphoto.com/illustrations/easy-way-vs-hard-way-illustration-id508815066?k=20&amp;m=508815066&amp;s=170667a&amp;w=0&amp;h=eV4DSeAAGX_AznXxlCGI_HOkiPriF1Y2lub3K69nt9U=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1676400"/>
            <a:ext cx="1399032" cy="1139952"/>
          </a:xfrm>
          <a:prstGeom prst="rect">
            <a:avLst/>
          </a:prstGeom>
          <a:noFill/>
        </p:spPr>
      </p:pic>
      <p:sp>
        <p:nvSpPr>
          <p:cNvPr id="5" name="Oval 4"/>
          <p:cNvSpPr/>
          <p:nvPr/>
        </p:nvSpPr>
        <p:spPr>
          <a:xfrm>
            <a:off x="6553200" y="2209800"/>
            <a:ext cx="1600200" cy="533400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2800" y="3886200"/>
            <a:ext cx="2286000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50620" y="3787140"/>
            <a:ext cx="1592580" cy="1851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48400" y="4953000"/>
            <a:ext cx="2169609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477000" y="3157220"/>
            <a:ext cx="1095693" cy="1338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11"/>
          <p:cNvSpPr/>
          <p:nvPr/>
        </p:nvSpPr>
        <p:spPr>
          <a:xfrm>
            <a:off x="7620000" y="3614420"/>
            <a:ext cx="1143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+mj-lt"/>
              </a:rPr>
              <a:t>Client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4. Prepare Response to Research RFP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en-US" sz="2600" dirty="0" smtClean="0"/>
              <a:t>Discovered </a:t>
            </a:r>
            <a:r>
              <a:rPr lang="en-US" sz="2600" i="1" dirty="0" smtClean="0">
                <a:solidFill>
                  <a:srgbClr val="C00000"/>
                </a:solidFill>
              </a:rPr>
              <a:t>potential enhancements</a:t>
            </a:r>
          </a:p>
          <a:p>
            <a:pPr lvl="1">
              <a:defRPr/>
            </a:pPr>
            <a:r>
              <a:rPr lang="en-US" sz="2200" dirty="0" smtClean="0"/>
              <a:t>Customer journey map</a:t>
            </a:r>
          </a:p>
          <a:p>
            <a:pPr lvl="2">
              <a:defRPr/>
            </a:pPr>
            <a:r>
              <a:rPr lang="en-US" sz="1800" dirty="0" smtClean="0"/>
              <a:t>Customer user experiences in seeking and accessing services.</a:t>
            </a:r>
          </a:p>
          <a:p>
            <a:pPr lvl="0"/>
            <a:r>
              <a:rPr lang="en-US" sz="2600" dirty="0" smtClean="0"/>
              <a:t>Cost</a:t>
            </a:r>
          </a:p>
        </p:txBody>
      </p:sp>
      <p:pic>
        <p:nvPicPr>
          <p:cNvPr id="8196" name="Picture 4" descr="https://7hills-software.com/wp-content/uploads/2019/08/Manufacturing_vector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3733800"/>
            <a:ext cx="3511709" cy="24796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Identify Research or Product Opportunities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Savings</a:t>
            </a:r>
          </a:p>
          <a:p>
            <a:pPr lvl="1"/>
            <a:r>
              <a:rPr lang="en-US" sz="2200" dirty="0" smtClean="0"/>
              <a:t>Practical problems based on knowledge, skills and experiences.</a:t>
            </a:r>
          </a:p>
        </p:txBody>
      </p:sp>
      <p:pic>
        <p:nvPicPr>
          <p:cNvPr id="49154" name="Picture 2" descr="https://www.bdc.ca/globalassets/digizuite/10815-7-steps-solve-operational-problem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3124200"/>
            <a:ext cx="4572000" cy="2388870"/>
          </a:xfrm>
          <a:prstGeom prst="rect">
            <a:avLst/>
          </a:prstGeom>
          <a:noFill/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29400" y="3429000"/>
            <a:ext cx="1714500" cy="113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6705600" y="4648200"/>
            <a:ext cx="165327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200" dirty="0" smtClean="0">
                <a:latin typeface="+mj-lt"/>
              </a:rPr>
              <a:t>Stakeholders</a:t>
            </a:r>
            <a:endParaRPr lang="en-US" sz="2200" dirty="0"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64424" y="5638800"/>
            <a:ext cx="155363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200" dirty="0" smtClean="0">
                <a:latin typeface="+mj-lt"/>
              </a:rPr>
              <a:t>Experiences</a:t>
            </a:r>
            <a:endParaRPr lang="en-US" sz="2200" dirty="0">
              <a:latin typeface="+mj-l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2. Discover Problems: The Easy Way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Problems might come from</a:t>
            </a:r>
          </a:p>
        </p:txBody>
      </p:sp>
      <p:pic>
        <p:nvPicPr>
          <p:cNvPr id="44034" name="Picture 2" descr="https://www.swisslife.com/content/internet/com/en/home/ueber-uns/corporate-governance/konzernleitung/_jcr_content/parsys/gridctrl_1433361962__955949640/parsys_grid_ctrl/textimage/image.1582826542956.transform/16_9_3840w/Patrick-Frost-portrait-we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3008293"/>
            <a:ext cx="3048000" cy="171450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1135954" y="4989493"/>
            <a:ext cx="3377143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 smtClean="0">
                <a:latin typeface="+mj-lt"/>
              </a:rPr>
              <a:t>corporate executives, </a:t>
            </a:r>
          </a:p>
          <a:p>
            <a:pPr algn="ctr"/>
            <a:r>
              <a:rPr lang="en-US" sz="2800" dirty="0" smtClean="0">
                <a:latin typeface="+mj-lt"/>
              </a:rPr>
              <a:t>marketing managers</a:t>
            </a:r>
            <a:endParaRPr lang="en-US" sz="2800" dirty="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00600" y="5065693"/>
            <a:ext cx="3810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US" sz="2800" dirty="0" smtClean="0">
                <a:latin typeface="+mj-lt"/>
              </a:rPr>
              <a:t>funding sponsors, or  product visionaries</a:t>
            </a:r>
          </a:p>
        </p:txBody>
      </p:sp>
      <p:pic>
        <p:nvPicPr>
          <p:cNvPr id="44036" name="Picture 4" descr="https://wadecarpenter.infinitaskc.com/wp-content/uploads/2018/05/bigstock-Real-estate-agent-explaining-f-217221823-smaller-3000x150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3008293"/>
            <a:ext cx="3200400" cy="1600200"/>
          </a:xfrm>
          <a:prstGeom prst="rect">
            <a:avLst/>
          </a:prstGeom>
          <a:noFill/>
        </p:spPr>
      </p:pic>
      <p:pic>
        <p:nvPicPr>
          <p:cNvPr id="44039" name="Picture 7" descr="https://media.istockphoto.com/illustrations/easy-way-vs-hard-way-illustration-id508815066?k=20&amp;m=508815066&amp;s=170667a&amp;w=0&amp;h=eV4DSeAAGX_AznXxlCGI_HOkiPriF1Y2lub3K69nt9U=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0" y="1600200"/>
            <a:ext cx="1399032" cy="1139952"/>
          </a:xfrm>
          <a:prstGeom prst="rect">
            <a:avLst/>
          </a:prstGeom>
          <a:noFill/>
        </p:spPr>
      </p:pic>
      <p:sp>
        <p:nvSpPr>
          <p:cNvPr id="9" name="Oval 8"/>
          <p:cNvSpPr/>
          <p:nvPr/>
        </p:nvSpPr>
        <p:spPr>
          <a:xfrm>
            <a:off x="6858000" y="1676400"/>
            <a:ext cx="1600200" cy="533400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3. Discover Problems: The Hard Way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Real world scenarios (Practical problems)</a:t>
            </a:r>
          </a:p>
          <a:p>
            <a:pPr lvl="1"/>
            <a:r>
              <a:rPr lang="en-US" sz="2200" dirty="0" smtClean="0"/>
              <a:t>Business workflows, business processes, </a:t>
            </a:r>
            <a:br>
              <a:rPr lang="en-US" sz="2200" dirty="0" smtClean="0"/>
            </a:br>
            <a:r>
              <a:rPr lang="en-US" sz="2200" dirty="0" smtClean="0"/>
              <a:t>domain models, business use cases (a bit of solution).</a:t>
            </a:r>
          </a:p>
          <a:p>
            <a:pPr lvl="0"/>
            <a:r>
              <a:rPr lang="en-US" sz="2600" dirty="0" smtClean="0"/>
              <a:t>Competitors' products</a:t>
            </a:r>
          </a:p>
          <a:p>
            <a:pPr lvl="0"/>
            <a:r>
              <a:rPr lang="en-US" sz="2600" dirty="0" smtClean="0"/>
              <a:t>Research papers.</a:t>
            </a:r>
          </a:p>
        </p:txBody>
      </p:sp>
      <p:pic>
        <p:nvPicPr>
          <p:cNvPr id="6146" name="Picture 2" descr="https://influencermarketinghub.com/wp-content/uploads/2022/07/Competitor-analysis-software-tool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2819400"/>
            <a:ext cx="2895600" cy="1516380"/>
          </a:xfrm>
          <a:prstGeom prst="rect">
            <a:avLst/>
          </a:prstGeom>
          <a:noFill/>
        </p:spPr>
      </p:pic>
      <p:pic>
        <p:nvPicPr>
          <p:cNvPr id="5" name="Picture 7" descr="https://media.istockphoto.com/illustrations/easy-way-vs-hard-way-illustration-id508815066?k=20&amp;m=508815066&amp;s=170667a&amp;w=0&amp;h=eV4DSeAAGX_AznXxlCGI_HOkiPriF1Y2lub3K69nt9U=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15200" y="1298448"/>
            <a:ext cx="1399032" cy="1139952"/>
          </a:xfrm>
          <a:prstGeom prst="rect">
            <a:avLst/>
          </a:prstGeom>
          <a:noFill/>
        </p:spPr>
      </p:pic>
      <p:sp>
        <p:nvSpPr>
          <p:cNvPr id="6" name="Oval 5"/>
          <p:cNvSpPr/>
          <p:nvPr/>
        </p:nvSpPr>
        <p:spPr>
          <a:xfrm>
            <a:off x="7239000" y="1831848"/>
            <a:ext cx="1600200" cy="533400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24200" y="4495800"/>
            <a:ext cx="2286000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22020" y="4267200"/>
            <a:ext cx="1592580" cy="1851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19800" y="4610100"/>
            <a:ext cx="2169609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Review Opportunities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Who is your </a:t>
            </a:r>
            <a:r>
              <a:rPr lang="en-US" sz="2400" i="1" dirty="0" smtClean="0">
                <a:solidFill>
                  <a:srgbClr val="C00000"/>
                </a:solidFill>
              </a:rPr>
              <a:t>sponsor</a:t>
            </a:r>
            <a:r>
              <a:rPr lang="en-US" sz="2400" dirty="0" smtClean="0"/>
              <a:t>? Name, phone number, and address?</a:t>
            </a:r>
          </a:p>
          <a:p>
            <a:r>
              <a:rPr lang="en-US" sz="2400" dirty="0" smtClean="0"/>
              <a:t>Who is your </a:t>
            </a:r>
            <a:r>
              <a:rPr lang="en-US" sz="2400" i="1" dirty="0" smtClean="0">
                <a:solidFill>
                  <a:srgbClr val="C00000"/>
                </a:solidFill>
              </a:rPr>
              <a:t>client</a:t>
            </a:r>
            <a:r>
              <a:rPr lang="en-US" sz="2400" dirty="0" smtClean="0"/>
              <a:t>? Name, phone number, and address?</a:t>
            </a:r>
          </a:p>
          <a:p>
            <a:r>
              <a:rPr lang="en-US" sz="2400" dirty="0" smtClean="0"/>
              <a:t>Who are your </a:t>
            </a:r>
            <a:r>
              <a:rPr lang="en-US" sz="2400" i="1" dirty="0" smtClean="0">
                <a:solidFill>
                  <a:srgbClr val="C00000"/>
                </a:solidFill>
              </a:rPr>
              <a:t>customers</a:t>
            </a:r>
            <a:r>
              <a:rPr lang="en-US" sz="2400" dirty="0" smtClean="0"/>
              <a:t>? Names, phone numbers, and addresses?</a:t>
            </a:r>
          </a:p>
          <a:p>
            <a:pPr lvl="1"/>
            <a:r>
              <a:rPr lang="en-US" sz="2000" dirty="0" err="1" smtClean="0"/>
              <a:t>Salesforce's</a:t>
            </a:r>
            <a:r>
              <a:rPr lang="en-US" sz="2000" dirty="0" smtClean="0"/>
              <a:t> Business Model (</a:t>
            </a:r>
            <a:r>
              <a:rPr lang="en-US" sz="2000" dirty="0" err="1" smtClean="0"/>
              <a:t>SaaS</a:t>
            </a:r>
            <a:r>
              <a:rPr lang="en-US" sz="2000" dirty="0" smtClean="0"/>
              <a:t>), </a:t>
            </a:r>
            <a:r>
              <a:rPr lang="en-US" sz="2000" dirty="0" err="1" smtClean="0"/>
              <a:t>Dropbox's</a:t>
            </a:r>
            <a:r>
              <a:rPr lang="en-US" sz="2000" dirty="0" smtClean="0"/>
              <a:t> Business Model (</a:t>
            </a:r>
            <a:r>
              <a:rPr lang="en-US" sz="2000" dirty="0" err="1" smtClean="0"/>
              <a:t>SaaS</a:t>
            </a:r>
            <a:r>
              <a:rPr lang="en-US" sz="2000" dirty="0" smtClean="0"/>
              <a:t>)</a:t>
            </a:r>
          </a:p>
          <a:p>
            <a:r>
              <a:rPr lang="en-US" sz="2400" dirty="0" smtClean="0"/>
              <a:t>Who are your </a:t>
            </a:r>
            <a:r>
              <a:rPr lang="en-US" sz="2400" i="1" dirty="0" smtClean="0">
                <a:solidFill>
                  <a:srgbClr val="C00000"/>
                </a:solidFill>
              </a:rPr>
              <a:t>users</a:t>
            </a:r>
            <a:r>
              <a:rPr lang="en-US" sz="2400" dirty="0" smtClean="0"/>
              <a:t>? Names, phone numbers, and addresses?</a:t>
            </a:r>
          </a:p>
          <a:p>
            <a:pPr lvl="1"/>
            <a:r>
              <a:rPr lang="en-US" sz="2000" dirty="0" smtClean="0"/>
              <a:t>App Store, Google Play, </a:t>
            </a:r>
            <a:r>
              <a:rPr lang="en-US" sz="2000" dirty="0" err="1" smtClean="0"/>
              <a:t>AdSense</a:t>
            </a:r>
            <a:r>
              <a:rPr lang="en-US" sz="2000" dirty="0" smtClean="0"/>
              <a:t>, </a:t>
            </a:r>
            <a:r>
              <a:rPr lang="en-US" sz="2000" dirty="0" err="1" smtClean="0"/>
              <a:t>Spotify's</a:t>
            </a:r>
            <a:r>
              <a:rPr lang="en-US" sz="2000" dirty="0" smtClean="0"/>
              <a:t> Business Model</a:t>
            </a:r>
          </a:p>
          <a:p>
            <a:pPr lvl="1"/>
            <a:r>
              <a:rPr lang="en-US" sz="2000" dirty="0" smtClean="0"/>
              <a:t>Amazon's Business Model (B2C), </a:t>
            </a:r>
            <a:r>
              <a:rPr lang="en-US" sz="2000" dirty="0" err="1" smtClean="0"/>
              <a:t>Uber's</a:t>
            </a:r>
            <a:r>
              <a:rPr lang="en-US" sz="2000" dirty="0" smtClean="0"/>
              <a:t> Business Model (C2C)</a:t>
            </a:r>
          </a:p>
          <a:p>
            <a:r>
              <a:rPr lang="en-US" sz="2400" dirty="0" smtClean="0"/>
              <a:t>Who are your </a:t>
            </a:r>
            <a:r>
              <a:rPr lang="en-US" sz="2400" i="1" dirty="0" smtClean="0">
                <a:solidFill>
                  <a:srgbClr val="C00000"/>
                </a:solidFill>
              </a:rPr>
              <a:t>competitors</a:t>
            </a:r>
            <a:r>
              <a:rPr lang="en-US" sz="2400" dirty="0" smtClean="0"/>
              <a:t>?</a:t>
            </a:r>
          </a:p>
        </p:txBody>
      </p:sp>
      <p:pic>
        <p:nvPicPr>
          <p:cNvPr id="2050" name="Picture 2" descr="https://assets.entrepreneur.com/content/3x2/2000/20160704114059-shutterstock-390101425.jpeg?width=700&amp;crop=2: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5029200"/>
            <a:ext cx="2222500" cy="1111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Opportunity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495799"/>
          </a:xfrm>
        </p:spPr>
        <p:txBody>
          <a:bodyPr/>
          <a:lstStyle/>
          <a:p>
            <a:r>
              <a:rPr lang="en-US" sz="2400" dirty="0" smtClean="0"/>
              <a:t>Did you know that having health insurance when you can afford is </a:t>
            </a:r>
            <a:r>
              <a:rPr lang="en-US" sz="2400" i="1" dirty="0" smtClean="0">
                <a:solidFill>
                  <a:srgbClr val="C00000"/>
                </a:solidFill>
              </a:rPr>
              <a:t>the law</a:t>
            </a:r>
            <a:r>
              <a:rPr lang="en-US" sz="2400" dirty="0" smtClean="0"/>
              <a:t>?</a:t>
            </a:r>
          </a:p>
          <a:p>
            <a:r>
              <a:rPr lang="en-US" sz="2400" dirty="0" smtClean="0"/>
              <a:t>If you can afford health insurance, but choose not to get it for 2016, you may be required to </a:t>
            </a:r>
            <a:r>
              <a:rPr lang="en-US" sz="2400" i="1" dirty="0" smtClean="0">
                <a:solidFill>
                  <a:srgbClr val="C00000"/>
                </a:solidFill>
              </a:rPr>
              <a:t>pay a fee</a:t>
            </a:r>
            <a:r>
              <a:rPr lang="en-US" sz="2400" dirty="0" smtClean="0"/>
              <a:t> —sometimes called the “penalty,” “fine,” or “individual mandate” — when you file your 2016 federal income taxes.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Welcome to XYZ, the only place to apply for financial assistance to help </a:t>
            </a:r>
            <a:r>
              <a:rPr lang="en-US" sz="2400" i="1" dirty="0" smtClean="0">
                <a:solidFill>
                  <a:srgbClr val="C00000"/>
                </a:solidFill>
              </a:rPr>
              <a:t>reduce your costs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1026" name="Picture 2" descr="http://connectforhealthco.wpengine.netdna-cdn.com/wp-content/uploads/2014/03/Tax-Penalty-Graphic_Englis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4010024"/>
            <a:ext cx="5715000" cy="10953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Relevance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705600" cy="4724400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The relevance</a:t>
            </a:r>
            <a:r>
              <a:rPr lang="en-US" sz="2400" dirty="0" smtClean="0"/>
              <a:t> of any design-science research effort is with respect to a constituent community.</a:t>
            </a:r>
          </a:p>
          <a:p>
            <a:r>
              <a:rPr lang="en-US" sz="2400" dirty="0" smtClean="0"/>
              <a:t>For IS researchers, that </a:t>
            </a:r>
            <a:r>
              <a:rPr lang="en-US" sz="2400" i="1" dirty="0" smtClean="0">
                <a:solidFill>
                  <a:srgbClr val="C00000"/>
                </a:solidFill>
              </a:rPr>
              <a:t>constituent community</a:t>
            </a:r>
            <a:r>
              <a:rPr lang="en-US" sz="2400" dirty="0" smtClean="0"/>
              <a:t> is</a:t>
            </a:r>
          </a:p>
          <a:p>
            <a:pPr lvl="1"/>
            <a:r>
              <a:rPr lang="en-US" sz="2000" dirty="0" smtClean="0"/>
              <a:t>the </a:t>
            </a:r>
            <a:r>
              <a:rPr lang="en-US" sz="2000" u="sng" dirty="0" smtClean="0"/>
              <a:t>practitioners</a:t>
            </a:r>
            <a:r>
              <a:rPr lang="en-US" sz="2000" dirty="0" smtClean="0"/>
              <a:t> who plan, manage, design, implement, operate, and evaluate </a:t>
            </a:r>
            <a:r>
              <a:rPr lang="en-US" sz="2000" u="sng" dirty="0" smtClean="0"/>
              <a:t>information systems</a:t>
            </a:r>
            <a:r>
              <a:rPr lang="en-US" sz="2000" dirty="0" smtClean="0"/>
              <a:t> and</a:t>
            </a:r>
          </a:p>
          <a:p>
            <a:pPr lvl="1"/>
            <a:r>
              <a:rPr lang="en-US" sz="2000" u="sng" dirty="0" smtClean="0"/>
              <a:t>those</a:t>
            </a:r>
            <a:r>
              <a:rPr lang="en-US" sz="2000" dirty="0" smtClean="0"/>
              <a:t> who plan, manage, design, implement, operate, and evaluate the </a:t>
            </a:r>
            <a:r>
              <a:rPr lang="en-US" sz="2000" u="sng" dirty="0" smtClean="0"/>
              <a:t>technologies</a:t>
            </a:r>
            <a:r>
              <a:rPr lang="en-US" sz="2000" dirty="0" smtClean="0"/>
              <a:t> that enable their development and implementation.</a:t>
            </a:r>
          </a:p>
          <a:p>
            <a:r>
              <a:rPr lang="en-US" sz="2400" dirty="0" smtClean="0"/>
              <a:t>To be relevant to this community, research </a:t>
            </a:r>
            <a:r>
              <a:rPr lang="en-US" sz="2400" i="1" dirty="0" smtClean="0">
                <a:solidFill>
                  <a:srgbClr val="C00000"/>
                </a:solidFill>
              </a:rPr>
              <a:t>must</a:t>
            </a:r>
            <a:r>
              <a:rPr lang="en-US" sz="2400" dirty="0" smtClean="0"/>
              <a:t> address</a:t>
            </a:r>
          </a:p>
          <a:p>
            <a:pPr lvl="1"/>
            <a:r>
              <a:rPr lang="en-US" sz="2000" dirty="0" smtClean="0"/>
              <a:t>the </a:t>
            </a:r>
            <a:r>
              <a:rPr lang="en-US" sz="2000" u="sng" dirty="0" smtClean="0"/>
              <a:t>problems faced</a:t>
            </a:r>
            <a:r>
              <a:rPr lang="en-US" sz="2000" dirty="0" smtClean="0"/>
              <a:t> and </a:t>
            </a:r>
          </a:p>
          <a:p>
            <a:pPr lvl="1"/>
            <a:r>
              <a:rPr lang="en-US" sz="2000" dirty="0" smtClean="0"/>
              <a:t>the </a:t>
            </a:r>
            <a:r>
              <a:rPr lang="en-US" sz="2000" u="sng" dirty="0" smtClean="0"/>
              <a:t>opportunities afforded</a:t>
            </a:r>
            <a:r>
              <a:rPr lang="en-US" sz="2000" dirty="0" smtClean="0"/>
              <a:t> by the interaction of people, organizations, and information technology.</a:t>
            </a:r>
            <a:endParaRPr 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39000" y="2990850"/>
            <a:ext cx="1760220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 descr="http://3.bp.blogspot.com/-gc946QIP_uI/U_n4OOkkSmI/AAAAAAAAIuA/X2HJn4u6IO0/s1600/Online_Survey_Icon_or_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77100" y="4076700"/>
            <a:ext cx="1714500" cy="1714500"/>
          </a:xfrm>
          <a:prstGeom prst="rect">
            <a:avLst/>
          </a:prstGeom>
          <a:noFill/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62800" y="1943100"/>
            <a:ext cx="1699260" cy="811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Goals: </a:t>
            </a:r>
            <a:r>
              <a:rPr lang="en-US" sz="2400" i="1" dirty="0" smtClean="0">
                <a:solidFill>
                  <a:srgbClr val="C00000"/>
                </a:solidFill>
              </a:rPr>
              <a:t>What</a:t>
            </a:r>
            <a:r>
              <a:rPr lang="en-US" sz="2400" dirty="0" smtClean="0"/>
              <a:t> do you </a:t>
            </a:r>
            <a:r>
              <a:rPr lang="en-US" sz="2400" u="sng" dirty="0" smtClean="0"/>
              <a:t>want</a:t>
            </a:r>
            <a:r>
              <a:rPr lang="en-US" sz="2400" dirty="0" smtClean="0"/>
              <a:t> to achieve?</a:t>
            </a:r>
          </a:p>
          <a:p>
            <a:r>
              <a:rPr lang="en-US" sz="2400" dirty="0" smtClean="0"/>
              <a:t>[Oxford Dictionary] </a:t>
            </a:r>
            <a:r>
              <a:rPr lang="en-US" sz="2400" i="1" dirty="0" smtClean="0">
                <a:solidFill>
                  <a:srgbClr val="C00000"/>
                </a:solidFill>
              </a:rPr>
              <a:t>Something</a:t>
            </a:r>
            <a:r>
              <a:rPr lang="en-US" sz="2400" dirty="0" smtClean="0"/>
              <a:t> that you </a:t>
            </a:r>
            <a:r>
              <a:rPr lang="en-US" sz="2400" b="1" u="sng" dirty="0" smtClean="0"/>
              <a:t>hope</a:t>
            </a:r>
            <a:r>
              <a:rPr lang="en-US" sz="2400" dirty="0" smtClean="0"/>
              <a:t> to achieve.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project goal</a:t>
            </a:r>
            <a:r>
              <a:rPr lang="en-US" sz="2400" dirty="0" smtClean="0"/>
              <a:t> is the highest-level </a:t>
            </a:r>
            <a:r>
              <a:rPr lang="en-US" sz="2400" u="sng" dirty="0" smtClean="0"/>
              <a:t>requirement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All of the </a:t>
            </a:r>
            <a:r>
              <a:rPr lang="en-US" sz="2400" i="1" dirty="0" smtClean="0">
                <a:solidFill>
                  <a:srgbClr val="C00000"/>
                </a:solidFill>
              </a:rPr>
              <a:t>detailed requirements</a:t>
            </a:r>
            <a:r>
              <a:rPr lang="en-US" sz="2400" dirty="0" smtClean="0"/>
              <a:t> must make a </a:t>
            </a:r>
            <a:r>
              <a:rPr lang="en-US" sz="2400" u="sng" dirty="0" smtClean="0"/>
              <a:t>positive contribution</a:t>
            </a:r>
            <a:r>
              <a:rPr lang="en-US" sz="2400" dirty="0" smtClean="0"/>
              <a:t> toward reaching that goal.</a:t>
            </a:r>
          </a:p>
          <a:p>
            <a:endParaRPr lang="en-US" sz="2400" dirty="0"/>
          </a:p>
        </p:txBody>
      </p:sp>
      <p:pic>
        <p:nvPicPr>
          <p:cNvPr id="4" name="Picture 3" descr="https://www.cusi.biz/wp-content/uploads/2016/01/figures_with_dart_800_wht_940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4038600"/>
            <a:ext cx="3048000" cy="2286000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533400"/>
            <a:ext cx="2026846" cy="1350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Goal Settings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00200"/>
            <a:ext cx="5105400" cy="4419600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Purpose</a:t>
            </a:r>
            <a:r>
              <a:rPr lang="en-US" sz="2400" dirty="0" smtClean="0"/>
              <a:t>: To accurately forecast road freezing times and schedule de-icing treatment.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Advantage</a:t>
            </a:r>
            <a:r>
              <a:rPr lang="en-US" sz="2400" dirty="0" smtClean="0"/>
              <a:t>: To reduce road accidents by eliminating icy road conditions.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(Optional) Measurement</a:t>
            </a:r>
            <a:r>
              <a:rPr lang="en-US" sz="2400" dirty="0" smtClean="0"/>
              <a:t>: Accidents attributed to ice shall be no more than 15 percent of the total number of accidents during winter.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Vague purpose</a:t>
            </a:r>
            <a:r>
              <a:rPr lang="en-US" sz="2400" dirty="0" smtClean="0"/>
              <a:t>: To improve the way we do business.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3000375"/>
            <a:ext cx="3048000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29400" y="990600"/>
            <a:ext cx="16002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SMART Goals (aka Objectives)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609850"/>
            <a:ext cx="2628900" cy="363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3352800" y="2609850"/>
            <a:ext cx="5257800" cy="34163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514350" indent="-514350"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C000"/>
                </a:solidFill>
                <a:latin typeface="+mj-lt"/>
              </a:rPr>
              <a:t>What? Why? Who? Where? Which?</a:t>
            </a:r>
          </a:p>
          <a:p>
            <a:pPr marL="514350" indent="-51435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How much? How many? How will I know when it is accomplished?</a:t>
            </a:r>
          </a:p>
          <a:p>
            <a:pPr marL="514350" indent="-51435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accent3"/>
                </a:solidFill>
                <a:latin typeface="+mj-lt"/>
              </a:rPr>
              <a:t>Which steps? How can the goal be accomplished?</a:t>
            </a:r>
          </a:p>
          <a:p>
            <a:pPr marL="514350" indent="-51435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accent5"/>
                </a:solidFill>
                <a:latin typeface="+mj-lt"/>
              </a:rPr>
              <a:t>Does this seem worthwhile?</a:t>
            </a:r>
          </a:p>
          <a:p>
            <a:pPr marL="514350" indent="-51435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When? What can I do 6 months from now? What can I do 6 weeks from now? What can I do today?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1000" y="1554718"/>
            <a:ext cx="8229600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A SMART goal</a:t>
            </a:r>
            <a:r>
              <a:rPr lang="en-US" sz="2400" dirty="0" smtClean="0">
                <a:latin typeface="+mj-lt"/>
              </a:rPr>
              <a:t> is a </a:t>
            </a:r>
            <a:r>
              <a:rPr lang="en-US" sz="2400" u="sng" dirty="0" smtClean="0">
                <a:latin typeface="+mj-lt"/>
              </a:rPr>
              <a:t>well-defined</a:t>
            </a:r>
            <a:r>
              <a:rPr lang="en-US" sz="2400" dirty="0" smtClean="0">
                <a:latin typeface="+mj-lt"/>
              </a:rPr>
              <a:t> target that gives you clarity, direction, motivation, and focus.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Identify Business Goals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For a client's </a:t>
            </a:r>
            <a:r>
              <a:rPr lang="en-US" sz="2400" i="1" dirty="0" smtClean="0">
                <a:solidFill>
                  <a:srgbClr val="C00000"/>
                </a:solidFill>
              </a:rPr>
              <a:t>corporate information system</a:t>
            </a:r>
            <a:r>
              <a:rPr lang="en-US" sz="2400" dirty="0" smtClean="0"/>
              <a:t>, describe </a:t>
            </a:r>
          </a:p>
          <a:p>
            <a:pPr lvl="1"/>
            <a:r>
              <a:rPr lang="en-US" sz="2000" dirty="0" smtClean="0"/>
              <a:t>the </a:t>
            </a:r>
            <a:r>
              <a:rPr lang="en-US" sz="2000" u="sng" dirty="0" smtClean="0"/>
              <a:t>business problem</a:t>
            </a:r>
            <a:r>
              <a:rPr lang="en-US" sz="2000" dirty="0" smtClean="0"/>
              <a:t> that is </a:t>
            </a:r>
            <a:r>
              <a:rPr lang="en-US" sz="2000" u="sng" dirty="0" smtClean="0"/>
              <a:t>being solved</a:t>
            </a:r>
            <a:r>
              <a:rPr lang="en-US" sz="2000" dirty="0" smtClean="0"/>
              <a:t> or </a:t>
            </a:r>
          </a:p>
          <a:p>
            <a:pPr lvl="1"/>
            <a:r>
              <a:rPr lang="en-US" sz="2000" dirty="0" smtClean="0"/>
              <a:t>the </a:t>
            </a:r>
            <a:r>
              <a:rPr lang="en-US" sz="2000" u="sng" dirty="0" smtClean="0"/>
              <a:t>process being improved</a:t>
            </a:r>
            <a:r>
              <a:rPr lang="en-US" sz="2000" dirty="0" smtClean="0"/>
              <a:t>, as well as the environment in which the system will be used.</a:t>
            </a:r>
          </a:p>
          <a:p>
            <a:r>
              <a:rPr lang="en-US" sz="2400" dirty="0" smtClean="0"/>
              <a:t>For a </a:t>
            </a:r>
            <a:r>
              <a:rPr lang="en-US" sz="2400" i="1" dirty="0" smtClean="0">
                <a:solidFill>
                  <a:srgbClr val="C00000"/>
                </a:solidFill>
              </a:rPr>
              <a:t>commercial product</a:t>
            </a:r>
            <a:r>
              <a:rPr lang="en-US" sz="2400" dirty="0" smtClean="0"/>
              <a:t>, describe </a:t>
            </a:r>
          </a:p>
          <a:p>
            <a:pPr lvl="1"/>
            <a:r>
              <a:rPr lang="en-US" sz="2000" dirty="0" smtClean="0"/>
              <a:t>the </a:t>
            </a:r>
            <a:r>
              <a:rPr lang="en-US" sz="2000" u="sng" dirty="0" smtClean="0"/>
              <a:t>business opportunity</a:t>
            </a:r>
            <a:r>
              <a:rPr lang="en-US" sz="2000" dirty="0" smtClean="0"/>
              <a:t> that exists and </a:t>
            </a:r>
          </a:p>
          <a:p>
            <a:pPr lvl="1"/>
            <a:r>
              <a:rPr lang="en-US" sz="2000" dirty="0" smtClean="0"/>
              <a:t>the </a:t>
            </a:r>
            <a:r>
              <a:rPr lang="en-US" sz="2000" u="sng" dirty="0" smtClean="0"/>
              <a:t>market</a:t>
            </a:r>
            <a:r>
              <a:rPr lang="en-US" sz="2000" dirty="0" smtClean="0"/>
              <a:t> in which the product will be competing.</a:t>
            </a:r>
          </a:p>
          <a:p>
            <a:r>
              <a:rPr lang="en-US" sz="2400" dirty="0" smtClean="0"/>
              <a:t>This section could</a:t>
            </a:r>
          </a:p>
          <a:p>
            <a:pPr lvl="1"/>
            <a:r>
              <a:rPr lang="en-US" sz="2000" dirty="0" smtClean="0"/>
              <a:t>include a </a:t>
            </a:r>
            <a:r>
              <a:rPr lang="en-US" sz="2000" i="1" dirty="0" smtClean="0">
                <a:solidFill>
                  <a:srgbClr val="C00000"/>
                </a:solidFill>
              </a:rPr>
              <a:t>comparative evaluation</a:t>
            </a:r>
            <a:r>
              <a:rPr lang="en-US" sz="2000" dirty="0" smtClean="0"/>
              <a:t> of </a:t>
            </a:r>
            <a:r>
              <a:rPr lang="en-US" sz="2000" u="sng" dirty="0" smtClean="0"/>
              <a:t>existing products</a:t>
            </a:r>
            <a:r>
              <a:rPr lang="en-US" sz="2000" dirty="0" smtClean="0"/>
              <a:t>, indicating why the proposed product is attractive and the advantages it provides.</a:t>
            </a:r>
          </a:p>
          <a:p>
            <a:pPr lvl="1"/>
            <a:r>
              <a:rPr lang="en-US" sz="2000" dirty="0" smtClean="0"/>
              <a:t>describe the problems that </a:t>
            </a:r>
            <a:r>
              <a:rPr lang="en-US" sz="2000" i="1" dirty="0" smtClean="0">
                <a:solidFill>
                  <a:srgbClr val="C00000"/>
                </a:solidFill>
              </a:rPr>
              <a:t>cannot currently be solved</a:t>
            </a:r>
            <a:r>
              <a:rPr lang="en-US" sz="2000" dirty="0" smtClean="0"/>
              <a:t> without the envisioned solution.</a:t>
            </a:r>
            <a:endParaRPr lang="en-US" sz="2000" dirty="0"/>
          </a:p>
        </p:txBody>
      </p:sp>
      <p:pic>
        <p:nvPicPr>
          <p:cNvPr id="30722" name="Picture 2" descr="Related 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2971800"/>
            <a:ext cx="2057400" cy="12858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Business Goals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001000" cy="4800600"/>
          </a:xfrm>
        </p:spPr>
        <p:txBody>
          <a:bodyPr/>
          <a:lstStyle/>
          <a:p>
            <a:r>
              <a:rPr lang="en-US" sz="2400" dirty="0" smtClean="0"/>
              <a:t>Reduce </a:t>
            </a:r>
            <a:r>
              <a:rPr lang="en-US" sz="2400" i="1" dirty="0" smtClean="0">
                <a:solidFill>
                  <a:srgbClr val="C00000"/>
                </a:solidFill>
              </a:rPr>
              <a:t>costs and time</a:t>
            </a:r>
            <a:r>
              <a:rPr lang="en-US" sz="2400" dirty="0" smtClean="0"/>
              <a:t>.</a:t>
            </a:r>
            <a:endParaRPr lang="en-US" sz="2400" i="1" dirty="0" smtClean="0">
              <a:solidFill>
                <a:srgbClr val="C00000"/>
              </a:solidFill>
            </a:endParaRPr>
          </a:p>
          <a:p>
            <a:r>
              <a:rPr lang="en-US" sz="2400" dirty="0" smtClean="0"/>
              <a:t>Improve </a:t>
            </a:r>
            <a:r>
              <a:rPr lang="en-US" sz="2400" i="1" dirty="0" smtClean="0">
                <a:solidFill>
                  <a:srgbClr val="C00000"/>
                </a:solidFill>
              </a:rPr>
              <a:t>customer service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Improve </a:t>
            </a:r>
            <a:r>
              <a:rPr lang="en-US" sz="2400" i="1" dirty="0" smtClean="0">
                <a:solidFill>
                  <a:srgbClr val="C00000"/>
                </a:solidFill>
              </a:rPr>
              <a:t>communication</a:t>
            </a:r>
            <a:r>
              <a:rPr lang="en-US" sz="2400" dirty="0" smtClean="0"/>
              <a:t>.</a:t>
            </a:r>
            <a:endParaRPr lang="en-US" sz="2400" i="1" dirty="0" smtClean="0">
              <a:solidFill>
                <a:srgbClr val="C00000"/>
              </a:solidFill>
            </a:endParaRPr>
          </a:p>
          <a:p>
            <a:r>
              <a:rPr lang="en-US" sz="2400" dirty="0" smtClean="0"/>
              <a:t>Improve </a:t>
            </a:r>
            <a:r>
              <a:rPr lang="en-US" sz="2400" i="1" dirty="0" smtClean="0">
                <a:solidFill>
                  <a:srgbClr val="C00000"/>
                </a:solidFill>
              </a:rPr>
              <a:t>decision making</a:t>
            </a:r>
            <a:r>
              <a:rPr lang="en-US" sz="2400" dirty="0" smtClean="0"/>
              <a:t>.</a:t>
            </a:r>
            <a:endParaRPr lang="en-US" sz="2400" i="1" dirty="0" smtClean="0">
              <a:solidFill>
                <a:srgbClr val="C00000"/>
              </a:solidFill>
            </a:endParaRPr>
          </a:p>
          <a:p>
            <a:r>
              <a:rPr lang="en-US" sz="2400" dirty="0" smtClean="0"/>
              <a:t>Create or </a:t>
            </a:r>
            <a:r>
              <a:rPr lang="en-US" sz="2400" i="1" dirty="0" smtClean="0">
                <a:solidFill>
                  <a:srgbClr val="C00000"/>
                </a:solidFill>
              </a:rPr>
              <a:t>strengthen relationships</a:t>
            </a:r>
            <a:r>
              <a:rPr lang="en-US" sz="2400" dirty="0" smtClean="0"/>
              <a:t> with suppliers, customers, or partners.</a:t>
            </a:r>
          </a:p>
          <a:p>
            <a:r>
              <a:rPr lang="en-US" sz="2400" dirty="0" smtClean="0"/>
              <a:t>Improve </a:t>
            </a:r>
            <a:r>
              <a:rPr lang="en-US" sz="2400" i="1" dirty="0" smtClean="0">
                <a:solidFill>
                  <a:srgbClr val="C00000"/>
                </a:solidFill>
              </a:rPr>
              <a:t>processes</a:t>
            </a:r>
            <a:r>
              <a:rPr lang="en-US" sz="2400" dirty="0" smtClean="0"/>
              <a:t>.</a:t>
            </a:r>
            <a:endParaRPr lang="en-US" sz="2400" i="1" dirty="0" smtClean="0">
              <a:solidFill>
                <a:srgbClr val="C00000"/>
              </a:solidFill>
            </a:endParaRPr>
          </a:p>
          <a:p>
            <a:r>
              <a:rPr lang="en-US" sz="2400" dirty="0" smtClean="0"/>
              <a:t>Improve </a:t>
            </a:r>
            <a:r>
              <a:rPr lang="en-US" sz="2400" i="1" dirty="0" smtClean="0">
                <a:solidFill>
                  <a:srgbClr val="C00000"/>
                </a:solidFill>
              </a:rPr>
              <a:t>reporting</a:t>
            </a:r>
            <a:r>
              <a:rPr lang="en-US" sz="2400" dirty="0" smtClean="0"/>
              <a:t> capabilities.</a:t>
            </a:r>
          </a:p>
          <a:p>
            <a:r>
              <a:rPr lang="en-US" sz="2400" dirty="0" smtClean="0"/>
              <a:t>Support new </a:t>
            </a:r>
            <a:r>
              <a:rPr lang="en-US" sz="2400" i="1" dirty="0" smtClean="0">
                <a:solidFill>
                  <a:srgbClr val="C00000"/>
                </a:solidFill>
              </a:rPr>
              <a:t>legal</a:t>
            </a:r>
            <a:r>
              <a:rPr lang="en-US" sz="2400" dirty="0" smtClean="0"/>
              <a:t> requirements.</a:t>
            </a:r>
          </a:p>
          <a:p>
            <a:r>
              <a:rPr lang="en-US" sz="2400" dirty="0" smtClean="0"/>
              <a:t>Bring more </a:t>
            </a:r>
            <a:r>
              <a:rPr lang="en-US" sz="2400" i="1" dirty="0" smtClean="0">
                <a:solidFill>
                  <a:srgbClr val="C00000"/>
                </a:solidFill>
              </a:rPr>
              <a:t>pleasure</a:t>
            </a:r>
            <a:r>
              <a:rPr lang="en-US" sz="2400" dirty="0" smtClean="0"/>
              <a:t>.</a:t>
            </a:r>
            <a:endParaRPr lang="en-US" sz="2400" i="1" dirty="0" smtClean="0">
              <a:solidFill>
                <a:srgbClr val="C00000"/>
              </a:solidFill>
            </a:endParaRPr>
          </a:p>
          <a:p>
            <a:r>
              <a:rPr lang="en-US" sz="2400" dirty="0" smtClean="0"/>
              <a:t>Create a </a:t>
            </a:r>
            <a:r>
              <a:rPr lang="en-US" sz="2400" i="1" dirty="0" smtClean="0">
                <a:solidFill>
                  <a:srgbClr val="C00000"/>
                </a:solidFill>
              </a:rPr>
              <a:t>new</a:t>
            </a:r>
            <a:r>
              <a:rPr lang="en-US" sz="2400" dirty="0" smtClean="0"/>
              <a:t> product or service. </a:t>
            </a:r>
            <a:r>
              <a:rPr lang="en-US" sz="2400" u="sng" dirty="0" smtClean="0"/>
              <a:t>Is this product valuable</a:t>
            </a:r>
            <a:r>
              <a:rPr lang="en-US" sz="2400" dirty="0" smtClean="0"/>
              <a:t>?</a:t>
            </a:r>
          </a:p>
        </p:txBody>
      </p:sp>
      <p:sp>
        <p:nvSpPr>
          <p:cNvPr id="4" name="Rectangle 3"/>
          <p:cNvSpPr/>
          <p:nvPr/>
        </p:nvSpPr>
        <p:spPr>
          <a:xfrm>
            <a:off x="6019800" y="4800600"/>
            <a:ext cx="26561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i="1" dirty="0" smtClean="0">
                <a:solidFill>
                  <a:srgbClr val="C00000"/>
                </a:solidFill>
                <a:latin typeface="+mj-lt"/>
              </a:rPr>
              <a:t>Be measurable</a:t>
            </a:r>
            <a:endParaRPr lang="en-US" sz="3200" i="1" dirty="0">
              <a:solidFill>
                <a:srgbClr val="C00000"/>
              </a:solidFill>
              <a:latin typeface="+mj-lt"/>
            </a:endParaRPr>
          </a:p>
        </p:txBody>
      </p:sp>
      <p:pic>
        <p:nvPicPr>
          <p:cNvPr id="1026" name="Picture 2" descr="http://www.aqila-bpo.com/custom/business-increase-revenu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0" y="2143124"/>
            <a:ext cx="3333750" cy="2505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Customer Discovery for a Product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Who</a:t>
            </a:r>
            <a:r>
              <a:rPr lang="en-US" sz="2400" dirty="0" smtClean="0"/>
              <a:t>? – Friends, former colleagues, investors, employees, students, </a:t>
            </a:r>
            <a:r>
              <a:rPr lang="en-US" sz="2400" u="sng" dirty="0" smtClean="0"/>
              <a:t>existing customers</a:t>
            </a:r>
            <a:r>
              <a:rPr lang="en-US" sz="2400" dirty="0" smtClean="0"/>
              <a:t>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Where</a:t>
            </a:r>
            <a:r>
              <a:rPr lang="en-US" sz="2400" dirty="0" smtClean="0"/>
              <a:t>? – Universities, hospitals, streets, media, conferences, trade shows.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What</a:t>
            </a:r>
            <a:r>
              <a:rPr lang="en-US" sz="2400" dirty="0" smtClean="0"/>
              <a:t>? – Personal information, pains/needs/happiness, reasons, comments.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How</a:t>
            </a:r>
            <a:r>
              <a:rPr lang="en-US" sz="2400" dirty="0" smtClean="0"/>
              <a:t>? – Survey, demo, trial version.</a:t>
            </a:r>
          </a:p>
          <a:p>
            <a:endParaRPr lang="en-US" sz="2400" dirty="0"/>
          </a:p>
        </p:txBody>
      </p:sp>
      <p:pic>
        <p:nvPicPr>
          <p:cNvPr id="1026" name="Picture 2" descr="https://infolink-exp.com/wp-content/uploads/2018/09/cover-845x32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4669155"/>
            <a:ext cx="3756025" cy="142684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Business Goals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737360"/>
          <a:ext cx="8444426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0476"/>
                <a:gridCol w="616395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Who wants it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What they want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Individuals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Increase wealth, power, reputation, personal enjoyment,</a:t>
                      </a:r>
                    </a:p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 knowledge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Organizations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Increase revenue, maximize profits, grow the business,</a:t>
                      </a:r>
                    </a:p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become a market leader, improve stability, enter a new</a:t>
                      </a:r>
                    </a:p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market, beat a competitor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Employees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Interesting and meaningful work, increase knowledge, help users, become recognized as an expert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Development Team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Improve specific quality attributes, reduce costs, add new features, implement a standard, improve time-to-market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Nations, Governments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Security, civic welfare, social responsibility, legal compliance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Objectives Model [5]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7563" y="1679575"/>
            <a:ext cx="7508875" cy="426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Oval 3"/>
          <p:cNvSpPr/>
          <p:nvPr/>
        </p:nvSpPr>
        <p:spPr>
          <a:xfrm>
            <a:off x="6324600" y="2743200"/>
            <a:ext cx="2362200" cy="2438400"/>
          </a:xfrm>
          <a:prstGeom prst="ellipse">
            <a:avLst/>
          </a:prstGeom>
          <a:solidFill>
            <a:schemeClr val="accent2">
              <a:alpha val="5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Down Arrow 5"/>
          <p:cNvSpPr/>
          <p:nvPr/>
        </p:nvSpPr>
        <p:spPr>
          <a:xfrm>
            <a:off x="6934200" y="2438400"/>
            <a:ext cx="1143000" cy="53340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Identify High-Level Features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54474" y="2286000"/>
            <a:ext cx="4132326" cy="3478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 descr="https://blog.strategiccoach.com/wp-content/uploads/2020/01/Achieving-Goals_Multiplier-Mindset-Blo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2590800"/>
            <a:ext cx="3886200" cy="1714500"/>
          </a:xfrm>
          <a:prstGeom prst="rect">
            <a:avLst/>
          </a:prstGeom>
          <a:noFill/>
        </p:spPr>
      </p:pic>
      <p:sp>
        <p:nvSpPr>
          <p:cNvPr id="6" name="Up Arrow 5"/>
          <p:cNvSpPr/>
          <p:nvPr/>
        </p:nvSpPr>
        <p:spPr>
          <a:xfrm>
            <a:off x="228600" y="4038600"/>
            <a:ext cx="3352800" cy="2133600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 smtClean="0"/>
              <a:t>HIGH-LEVEL</a:t>
            </a:r>
          </a:p>
          <a:p>
            <a:pPr algn="ctr"/>
            <a:r>
              <a:rPr lang="en-US" sz="2200" dirty="0" smtClean="0"/>
              <a:t>FEATURES</a:t>
            </a:r>
          </a:p>
        </p:txBody>
      </p:sp>
      <p:sp>
        <p:nvSpPr>
          <p:cNvPr id="7" name="Down Arrow 6"/>
          <p:cNvSpPr/>
          <p:nvPr/>
        </p:nvSpPr>
        <p:spPr>
          <a:xfrm>
            <a:off x="1752600" y="1524000"/>
            <a:ext cx="3429000" cy="1219200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STAKEHOLDERS' GOALS</a:t>
            </a:r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533400"/>
            <a:ext cx="1752600" cy="32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Deliverables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81000" y="2286000"/>
          <a:ext cx="8256652" cy="408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2682"/>
                <a:gridCol w="1270318"/>
                <a:gridCol w="1730629"/>
                <a:gridCol w="132302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Item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Assignee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Approved By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Due Date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Requirement specification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Test specification, test data and test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Design specification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Administrative guide,</a:t>
                      </a:r>
                      <a:r>
                        <a:rPr lang="en-US" sz="2000" baseline="0" dirty="0" smtClean="0"/>
                        <a:t> u</a:t>
                      </a:r>
                      <a:r>
                        <a:rPr lang="en-US" sz="2000" dirty="0" smtClean="0"/>
                        <a:t>ser guide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Acceptance testing, production</a:t>
                      </a:r>
                      <a:r>
                        <a:rPr lang="en-US" sz="2000" baseline="0" dirty="0" smtClean="0"/>
                        <a:t> environment, data </a:t>
                      </a:r>
                      <a:r>
                        <a:rPr lang="en-US" sz="2000" baseline="0" smtClean="0"/>
                        <a:t>migration utility</a:t>
                      </a:r>
                      <a:endParaRPr lang="en-US" sz="2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Source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Development plan (schedule/preliminary release plan</a:t>
                      </a:r>
                      <a:r>
                        <a:rPr lang="en-US" sz="2000" baseline="0" dirty="0" smtClean="0"/>
                        <a:t>)</a:t>
                      </a:r>
                      <a:endParaRPr lang="en-US" sz="2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Software and Services</a:t>
            </a:r>
            <a:endParaRPr lang="en-US" dirty="0"/>
          </a:p>
        </p:txBody>
      </p:sp>
      <p:pic>
        <p:nvPicPr>
          <p:cNvPr id="542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1706880"/>
            <a:ext cx="5414010" cy="4465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3. Define Expected Products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Build a procurement list of products (artifacts) and services.</a:t>
            </a:r>
          </a:p>
          <a:p>
            <a:r>
              <a:rPr lang="en-US" sz="2400" dirty="0" smtClean="0"/>
              <a:t>Also include a business level feature list.</a:t>
            </a:r>
            <a:endParaRPr lang="en-US" sz="2400" dirty="0"/>
          </a:p>
        </p:txBody>
      </p:sp>
      <p:pic>
        <p:nvPicPr>
          <p:cNvPr id="59394" name="Picture 2" descr="https://vilas.edu.vn/wp-content/uploads/2017/11/seo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124200"/>
            <a:ext cx="5029200" cy="2514600"/>
          </a:xfrm>
          <a:prstGeom prst="rect">
            <a:avLst/>
          </a:prstGeom>
          <a:noFill/>
        </p:spPr>
      </p:pic>
      <p:pic>
        <p:nvPicPr>
          <p:cNvPr id="36866" name="Picture 2" descr="Top 10 Contract Management Software for Managing Your Workforce and Client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10100" y="3124200"/>
            <a:ext cx="4000500" cy="2514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Set the Scope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858000" cy="4525963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The scope</a:t>
            </a:r>
            <a:r>
              <a:rPr lang="en-US" sz="2400" dirty="0" smtClean="0"/>
              <a:t> you are interested in is the scope of the work for which the product is to </a:t>
            </a:r>
            <a:r>
              <a:rPr lang="en-US" sz="2400" u="sng" dirty="0" smtClean="0"/>
              <a:t>be used</a:t>
            </a:r>
            <a:r>
              <a:rPr lang="en-US" sz="2400" dirty="0" smtClean="0"/>
              <a:t>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Work</a:t>
            </a:r>
            <a:r>
              <a:rPr lang="en-US" sz="2400" dirty="0" smtClean="0"/>
              <a:t> here means the </a:t>
            </a:r>
            <a:r>
              <a:rPr lang="en-US" sz="2400" u="sng" dirty="0" smtClean="0"/>
              <a:t>business activity</a:t>
            </a:r>
            <a:r>
              <a:rPr lang="en-US" sz="2400" dirty="0" smtClean="0"/>
              <a:t> for which the user needs the product.</a:t>
            </a:r>
          </a:p>
          <a:p>
            <a:r>
              <a:rPr lang="en-US" sz="2400" dirty="0" smtClean="0"/>
              <a:t>Setting </a:t>
            </a:r>
            <a:r>
              <a:rPr lang="en-US" sz="2400" i="1" dirty="0" smtClean="0">
                <a:solidFill>
                  <a:srgbClr val="C00000"/>
                </a:solidFill>
              </a:rPr>
              <a:t>the scope</a:t>
            </a:r>
            <a:r>
              <a:rPr lang="en-US" sz="2400" dirty="0" smtClean="0"/>
              <a:t> of the work means you determine </a:t>
            </a:r>
            <a:r>
              <a:rPr lang="en-US" sz="2400" u="sng" dirty="0" smtClean="0"/>
              <a:t>what work</a:t>
            </a:r>
            <a:r>
              <a:rPr lang="en-US" sz="2400" dirty="0" smtClean="0"/>
              <a:t> you are about to study, what other </a:t>
            </a:r>
            <a:r>
              <a:rPr lang="en-US" sz="2400" u="sng" dirty="0" smtClean="0"/>
              <a:t>pieces of work surround it</a:t>
            </a:r>
            <a:r>
              <a:rPr lang="en-US" sz="2400" dirty="0" smtClean="0"/>
              <a:t>, and what </a:t>
            </a:r>
            <a:r>
              <a:rPr lang="en-US" sz="2400" u="sng" dirty="0" smtClean="0"/>
              <a:t>flows of information</a:t>
            </a:r>
            <a:r>
              <a:rPr lang="en-US" sz="2400" dirty="0" smtClean="0"/>
              <a:t> make up the connections.</a:t>
            </a:r>
          </a:p>
          <a:p>
            <a:r>
              <a:rPr lang="en-US" sz="2400" dirty="0" smtClean="0"/>
              <a:t>When you set the scope, you are deciding </a:t>
            </a:r>
            <a:r>
              <a:rPr lang="en-US" sz="2400" i="1" dirty="0" smtClean="0">
                <a:solidFill>
                  <a:srgbClr val="C00000"/>
                </a:solidFill>
              </a:rPr>
              <a:t>how much</a:t>
            </a:r>
            <a:r>
              <a:rPr lang="en-US" sz="2400" dirty="0" smtClean="0"/>
              <a:t> of the work you will study and what you will not study. </a:t>
            </a:r>
            <a:r>
              <a:rPr lang="en-US" sz="2400" b="1" dirty="0" smtClean="0"/>
              <a:t>But how? – See context diagram &amp; ecosystem map!</a:t>
            </a:r>
            <a:endParaRPr lang="en-US" sz="2400" b="1" dirty="0"/>
          </a:p>
        </p:txBody>
      </p:sp>
      <p:pic>
        <p:nvPicPr>
          <p:cNvPr id="1026" name="Picture 2" descr="http://bestriflescopereview.net/wp-content/uploads/2013/09/bushnell_mildot_-150x15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10450" y="1009650"/>
            <a:ext cx="1428750" cy="14287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Context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0"/>
            <a:ext cx="3733800" cy="4876800"/>
          </a:xfrm>
        </p:spPr>
        <p:txBody>
          <a:bodyPr/>
          <a:lstStyle/>
          <a:p>
            <a:r>
              <a:rPr lang="en-US" sz="2000" dirty="0" smtClean="0"/>
              <a:t>The </a:t>
            </a:r>
            <a:r>
              <a:rPr lang="en-US" sz="2000" i="1" dirty="0" smtClean="0">
                <a:solidFill>
                  <a:srgbClr val="C00000"/>
                </a:solidFill>
              </a:rPr>
              <a:t>work context diagram</a:t>
            </a:r>
            <a:r>
              <a:rPr lang="en-US" sz="2000" dirty="0" smtClean="0"/>
              <a:t> identifies the scope of the work that we intend to study.</a:t>
            </a:r>
          </a:p>
          <a:p>
            <a:r>
              <a:rPr lang="en-US" sz="2000" dirty="0" smtClean="0"/>
              <a:t>It shows the work as a </a:t>
            </a:r>
            <a:r>
              <a:rPr lang="en-US" sz="2000" i="1" dirty="0" smtClean="0">
                <a:solidFill>
                  <a:srgbClr val="C00000"/>
                </a:solidFill>
              </a:rPr>
              <a:t>single</a:t>
            </a:r>
            <a:r>
              <a:rPr lang="en-US" sz="2000" dirty="0" smtClean="0"/>
              <a:t>, as-yet uninvestigated process, surrounded by the adjacent systems. </a:t>
            </a:r>
          </a:p>
          <a:p>
            <a:r>
              <a:rPr lang="en-US" sz="2000" dirty="0" smtClean="0"/>
              <a:t>The work context shows where the </a:t>
            </a:r>
            <a:r>
              <a:rPr lang="en-US" sz="2000" i="1" dirty="0" smtClean="0">
                <a:solidFill>
                  <a:srgbClr val="C00000"/>
                </a:solidFill>
              </a:rPr>
              <a:t>responsibilities of the work</a:t>
            </a:r>
            <a:r>
              <a:rPr lang="en-US" sz="2000" dirty="0" smtClean="0"/>
              <a:t> and the responsibilities of the adjacent systems start and end.</a:t>
            </a:r>
          </a:p>
          <a:p>
            <a:r>
              <a:rPr lang="en-US" sz="2000" dirty="0" smtClean="0"/>
              <a:t>First understand the work, then decide </a:t>
            </a:r>
            <a:r>
              <a:rPr lang="en-US" sz="2000" i="1" dirty="0" smtClean="0">
                <a:solidFill>
                  <a:srgbClr val="C00000"/>
                </a:solidFill>
              </a:rPr>
              <a:t>which product</a:t>
            </a:r>
            <a:r>
              <a:rPr lang="en-US" sz="2000" dirty="0" smtClean="0"/>
              <a:t> best </a:t>
            </a:r>
            <a:r>
              <a:rPr lang="en-US" sz="2000" u="sng" dirty="0" smtClean="0"/>
              <a:t>supports that work</a:t>
            </a:r>
            <a:r>
              <a:rPr lang="en-US" sz="2000" dirty="0" smtClean="0"/>
              <a:t>.</a:t>
            </a: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0" y="1295400"/>
            <a:ext cx="4762500" cy="521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Ecosystem Map [1]</a:t>
            </a:r>
            <a:endParaRPr lang="en-US" dirty="0"/>
          </a:p>
        </p:txBody>
      </p:sp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752600"/>
            <a:ext cx="6697980" cy="4169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Create an Evaluator Pitch</a:t>
            </a:r>
            <a:endParaRPr 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81500" y="2057400"/>
            <a:ext cx="4000500" cy="318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2" name="Picture 2" descr="https://medicine-iu-edu.azureedge.net/-/media/blogs/2017/elevatorpitch-e1443154970918.jpg?rev=cf2bb6eb881c4fc590872fc0d19e7aa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2209800"/>
            <a:ext cx="34290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600200"/>
            <a:ext cx="6905625" cy="456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Create Project Proposal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5867400" cy="4267200"/>
          </a:xfrm>
        </p:spPr>
        <p:txBody>
          <a:bodyPr/>
          <a:lstStyle/>
          <a:p>
            <a:r>
              <a:rPr lang="en-US" sz="1800" dirty="0" smtClean="0"/>
              <a:t>The market/target audience (the </a:t>
            </a:r>
            <a:r>
              <a:rPr lang="en-US" sz="1800" i="1" dirty="0" smtClean="0">
                <a:solidFill>
                  <a:srgbClr val="C00000"/>
                </a:solidFill>
              </a:rPr>
              <a:t>sponsors</a:t>
            </a:r>
            <a:r>
              <a:rPr lang="en-US" sz="1800" dirty="0" smtClean="0"/>
              <a:t>, the </a:t>
            </a:r>
            <a:r>
              <a:rPr lang="en-US" sz="1800" i="1" dirty="0" smtClean="0">
                <a:solidFill>
                  <a:srgbClr val="C00000"/>
                </a:solidFill>
              </a:rPr>
              <a:t>customers</a:t>
            </a:r>
            <a:r>
              <a:rPr lang="en-US" sz="1800" dirty="0" smtClean="0"/>
              <a:t>, the </a:t>
            </a:r>
            <a:r>
              <a:rPr lang="en-US" sz="1800" i="1" dirty="0" smtClean="0">
                <a:solidFill>
                  <a:srgbClr val="C00000"/>
                </a:solidFill>
              </a:rPr>
              <a:t>users</a:t>
            </a:r>
            <a:r>
              <a:rPr lang="en-US" sz="1800" dirty="0" smtClean="0"/>
              <a:t>, the </a:t>
            </a:r>
            <a:r>
              <a:rPr lang="en-US" sz="1800" i="1" dirty="0" smtClean="0">
                <a:solidFill>
                  <a:srgbClr val="C00000"/>
                </a:solidFill>
              </a:rPr>
              <a:t>stakeholders</a:t>
            </a:r>
            <a:r>
              <a:rPr lang="en-US" sz="1800" dirty="0" smtClean="0"/>
              <a:t>).</a:t>
            </a:r>
          </a:p>
          <a:p>
            <a:r>
              <a:rPr lang="en-US" sz="1800" dirty="0" smtClean="0"/>
              <a:t>The </a:t>
            </a:r>
            <a:r>
              <a:rPr lang="en-US" sz="1800" i="1" dirty="0" smtClean="0">
                <a:solidFill>
                  <a:srgbClr val="C00000"/>
                </a:solidFill>
              </a:rPr>
              <a:t>budget</a:t>
            </a:r>
            <a:r>
              <a:rPr lang="en-US" sz="1800" dirty="0" smtClean="0"/>
              <a:t>, the </a:t>
            </a:r>
            <a:r>
              <a:rPr lang="en-US" sz="1800" i="1" dirty="0" smtClean="0">
                <a:solidFill>
                  <a:srgbClr val="C00000"/>
                </a:solidFill>
              </a:rPr>
              <a:t>timing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The </a:t>
            </a:r>
            <a:r>
              <a:rPr lang="en-US" sz="1800" i="1" dirty="0" smtClean="0">
                <a:solidFill>
                  <a:srgbClr val="C00000"/>
                </a:solidFill>
              </a:rPr>
              <a:t>pain points</a:t>
            </a:r>
            <a:r>
              <a:rPr lang="en-US" sz="1800" dirty="0" smtClean="0"/>
              <a:t>/problems/needs.</a:t>
            </a:r>
          </a:p>
          <a:p>
            <a:r>
              <a:rPr lang="en-US" sz="1800" dirty="0" smtClean="0"/>
              <a:t>The </a:t>
            </a:r>
            <a:r>
              <a:rPr lang="en-US" sz="1800" i="1" dirty="0" smtClean="0">
                <a:solidFill>
                  <a:srgbClr val="C00000"/>
                </a:solidFill>
              </a:rPr>
              <a:t>solution</a:t>
            </a:r>
            <a:r>
              <a:rPr lang="en-US" sz="1800" dirty="0" smtClean="0"/>
              <a:t> (The </a:t>
            </a:r>
            <a:r>
              <a:rPr lang="en-US" sz="1800" u="sng" dirty="0" smtClean="0"/>
              <a:t>core</a:t>
            </a:r>
            <a:r>
              <a:rPr lang="en-US" sz="1800" dirty="0" smtClean="0"/>
              <a:t> </a:t>
            </a:r>
            <a:r>
              <a:rPr lang="en-US" sz="1800" i="1" dirty="0" smtClean="0">
                <a:solidFill>
                  <a:srgbClr val="C00000"/>
                </a:solidFill>
              </a:rPr>
              <a:t>business use case</a:t>
            </a:r>
            <a:r>
              <a:rPr lang="en-US" sz="1800" dirty="0" smtClean="0"/>
              <a:t>).</a:t>
            </a:r>
          </a:p>
          <a:p>
            <a:r>
              <a:rPr lang="en-US" sz="1800" dirty="0" smtClean="0"/>
              <a:t>The </a:t>
            </a:r>
            <a:r>
              <a:rPr lang="en-US" sz="1800" i="1" dirty="0" smtClean="0">
                <a:solidFill>
                  <a:srgbClr val="C00000"/>
                </a:solidFill>
              </a:rPr>
              <a:t>competitors</a:t>
            </a:r>
            <a:r>
              <a:rPr lang="en-US" sz="1800" dirty="0" smtClean="0"/>
              <a:t>/weakness/differentiators.</a:t>
            </a:r>
          </a:p>
          <a:p>
            <a:r>
              <a:rPr lang="en-US" sz="1800" dirty="0" smtClean="0"/>
              <a:t>The </a:t>
            </a:r>
            <a:r>
              <a:rPr lang="en-US" sz="1800" i="1" dirty="0" smtClean="0">
                <a:solidFill>
                  <a:srgbClr val="C00000"/>
                </a:solidFill>
              </a:rPr>
              <a:t>risks</a:t>
            </a:r>
            <a:r>
              <a:rPr lang="en-US" sz="1800" dirty="0" smtClean="0"/>
              <a:t>/strengths/opportunities/grand vision.</a:t>
            </a:r>
          </a:p>
          <a:p>
            <a:r>
              <a:rPr lang="en-US" sz="1800" dirty="0" smtClean="0"/>
              <a:t>The </a:t>
            </a:r>
            <a:r>
              <a:rPr lang="en-US" sz="1800" i="1" dirty="0" smtClean="0">
                <a:solidFill>
                  <a:srgbClr val="C00000"/>
                </a:solidFill>
              </a:rPr>
              <a:t>business goals</a:t>
            </a:r>
            <a:r>
              <a:rPr lang="en-US" sz="1800" dirty="0" smtClean="0"/>
              <a:t>, the </a:t>
            </a:r>
            <a:r>
              <a:rPr lang="en-US" sz="1800" i="1" dirty="0" smtClean="0">
                <a:solidFill>
                  <a:srgbClr val="C00000"/>
                </a:solidFill>
              </a:rPr>
              <a:t>reasons</a:t>
            </a:r>
            <a:r>
              <a:rPr lang="en-US" sz="1800" b="1" dirty="0" smtClean="0"/>
              <a:t> </a:t>
            </a:r>
            <a:r>
              <a:rPr lang="en-US" sz="1800" dirty="0" smtClean="0"/>
              <a:t>to solve the problems (the predicted </a:t>
            </a:r>
            <a:r>
              <a:rPr lang="en-US" sz="1800" i="1" dirty="0" smtClean="0">
                <a:solidFill>
                  <a:srgbClr val="C00000"/>
                </a:solidFill>
              </a:rPr>
              <a:t>benefits</a:t>
            </a:r>
            <a:r>
              <a:rPr lang="en-US" sz="1800" dirty="0" smtClean="0"/>
              <a:t>, </a:t>
            </a:r>
            <a:r>
              <a:rPr lang="en-US" sz="1800" i="1" dirty="0" smtClean="0">
                <a:solidFill>
                  <a:srgbClr val="C00000"/>
                </a:solidFill>
              </a:rPr>
              <a:t>revenue</a:t>
            </a:r>
            <a:r>
              <a:rPr lang="en-US" sz="1800" dirty="0" smtClean="0"/>
              <a:t> and </a:t>
            </a:r>
            <a:r>
              <a:rPr lang="en-US" sz="1800" i="1" dirty="0" smtClean="0">
                <a:solidFill>
                  <a:srgbClr val="C00000"/>
                </a:solidFill>
              </a:rPr>
              <a:t>incomes</a:t>
            </a:r>
            <a:r>
              <a:rPr lang="en-US" sz="1800" dirty="0" smtClean="0"/>
              <a:t>).</a:t>
            </a:r>
          </a:p>
          <a:p>
            <a:r>
              <a:rPr lang="en-US" sz="1800" dirty="0" smtClean="0"/>
              <a:t>For a commercial </a:t>
            </a:r>
            <a:r>
              <a:rPr lang="en-US" sz="1800" u="sng" dirty="0" smtClean="0"/>
              <a:t>product</a:t>
            </a:r>
            <a:r>
              <a:rPr lang="en-US" sz="1800" dirty="0" smtClean="0"/>
              <a:t>: The customer discovery report.</a:t>
            </a:r>
          </a:p>
          <a:p>
            <a:r>
              <a:rPr lang="en-US" sz="1800" dirty="0" smtClean="0"/>
              <a:t>The </a:t>
            </a:r>
            <a:r>
              <a:rPr lang="en-US" sz="1800" i="1" dirty="0" smtClean="0">
                <a:solidFill>
                  <a:srgbClr val="C00000"/>
                </a:solidFill>
              </a:rPr>
              <a:t>high-level features, </a:t>
            </a:r>
            <a:r>
              <a:rPr lang="en-US" sz="1800" dirty="0" smtClean="0"/>
              <a:t>the </a:t>
            </a:r>
            <a:r>
              <a:rPr lang="en-US" sz="1800" i="1" dirty="0" smtClean="0">
                <a:solidFill>
                  <a:srgbClr val="C00000"/>
                </a:solidFill>
              </a:rPr>
              <a:t>expected artifacts,.</a:t>
            </a:r>
          </a:p>
          <a:p>
            <a:r>
              <a:rPr lang="en-US" sz="1800" dirty="0" smtClean="0"/>
              <a:t>The </a:t>
            </a:r>
            <a:r>
              <a:rPr lang="en-US" sz="1800" i="1" dirty="0" smtClean="0">
                <a:solidFill>
                  <a:srgbClr val="C00000"/>
                </a:solidFill>
              </a:rPr>
              <a:t>context diagram</a:t>
            </a:r>
            <a:r>
              <a:rPr lang="en-US" sz="1800" dirty="0" smtClean="0"/>
              <a:t>, the </a:t>
            </a:r>
            <a:r>
              <a:rPr lang="en-US" sz="1800" i="1" dirty="0" smtClean="0">
                <a:solidFill>
                  <a:srgbClr val="C00000"/>
                </a:solidFill>
              </a:rPr>
              <a:t>elevator pitch</a:t>
            </a:r>
            <a:r>
              <a:rPr lang="en-US" sz="1800" dirty="0" smtClean="0"/>
              <a:t>.</a:t>
            </a:r>
            <a:endParaRPr lang="en-US" sz="1800" i="1" dirty="0" smtClean="0">
              <a:solidFill>
                <a:srgbClr val="C00000"/>
              </a:solidFill>
            </a:endParaRPr>
          </a:p>
        </p:txBody>
      </p:sp>
      <p:pic>
        <p:nvPicPr>
          <p:cNvPr id="1026" name="Picture 2" descr="http://www.chest-project.eu/wp-content/themes/chest/images/lamp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600" y="3599120"/>
            <a:ext cx="2590800" cy="2801680"/>
          </a:xfrm>
          <a:prstGeom prst="rect">
            <a:avLst/>
          </a:prstGeom>
          <a:noFill/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1356360"/>
            <a:ext cx="1447800" cy="1996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Feasibility?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981200"/>
            <a:ext cx="38100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2743200"/>
            <a:ext cx="1647825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3124200"/>
            <a:ext cx="3960633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1000" y="2819400"/>
            <a:ext cx="5638800" cy="3581400"/>
          </a:xfrm>
        </p:spPr>
        <p:txBody>
          <a:bodyPr/>
          <a:lstStyle/>
          <a:p>
            <a:r>
              <a:rPr lang="en-US" sz="2400" i="1" u="sng" dirty="0" smtClean="0">
                <a:solidFill>
                  <a:srgbClr val="C00000"/>
                </a:solidFill>
              </a:rPr>
              <a:t>Legal</a:t>
            </a:r>
            <a:r>
              <a:rPr lang="en-US" sz="2400" dirty="0" smtClean="0"/>
              <a:t> feasibility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Market</a:t>
            </a:r>
            <a:r>
              <a:rPr lang="en-US" sz="2400" dirty="0" smtClean="0"/>
              <a:t> feasibility (supply and demand)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Economic</a:t>
            </a:r>
            <a:r>
              <a:rPr lang="en-US" sz="2400" dirty="0" smtClean="0"/>
              <a:t>  feasibility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Technology and system</a:t>
            </a:r>
            <a:r>
              <a:rPr lang="en-US" sz="2400" dirty="0" smtClean="0"/>
              <a:t> feasibility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Resource</a:t>
            </a:r>
            <a:r>
              <a:rPr lang="en-US" sz="2400" dirty="0" smtClean="0"/>
              <a:t> feasibility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Operational</a:t>
            </a:r>
            <a:r>
              <a:rPr lang="en-US" sz="2400" dirty="0" smtClean="0"/>
              <a:t> feasibility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Schedule</a:t>
            </a:r>
            <a:r>
              <a:rPr lang="en-US" sz="2400" dirty="0" smtClean="0"/>
              <a:t> feasibility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Cultural</a:t>
            </a:r>
            <a:r>
              <a:rPr lang="en-US" sz="2400" dirty="0" smtClean="0"/>
              <a:t> feasibility</a:t>
            </a:r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Feasibility Study [6]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1390471"/>
            <a:ext cx="8305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US" sz="2400" dirty="0" smtClean="0">
                <a:latin typeface="+mj-lt"/>
              </a:rPr>
              <a:t>A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feasibility study</a:t>
            </a:r>
            <a:r>
              <a:rPr lang="en-US" sz="2400" dirty="0" smtClean="0">
                <a:latin typeface="+mj-lt"/>
              </a:rPr>
              <a:t> is a detailed assessment of the need, value, and practicality of a proposed enterprise, such as systems development.</a:t>
            </a:r>
          </a:p>
        </p:txBody>
      </p:sp>
      <p:pic>
        <p:nvPicPr>
          <p:cNvPr id="17410" name="Picture 2" descr="http://img.over-blog-kiwi.com/1/00/37/92/20141224/ob_4067a6_attention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95600" y="2667000"/>
            <a:ext cx="1405334" cy="52372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Profit Graph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176016"/>
            <a:ext cx="8164449" cy="3072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1447800"/>
            <a:ext cx="2032000" cy="1524000"/>
          </a:xfrm>
          <a:prstGeom prst="rect">
            <a:avLst/>
          </a:prstGeom>
          <a:noFill/>
        </p:spPr>
      </p:pic>
      <p:pic>
        <p:nvPicPr>
          <p:cNvPr id="2052" name="Picture 4" descr="Image result for &quot;government projects&quot;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19800" y="1371600"/>
            <a:ext cx="2438400" cy="17564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57200" y="1524000"/>
            <a:ext cx="8382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dirty="0" smtClean="0">
                <a:latin typeface="+mj-lt"/>
              </a:rPr>
              <a:t>A financial analysis tool used to determine the </a:t>
            </a:r>
            <a:r>
              <a:rPr lang="en-US" sz="2600" i="1" dirty="0" smtClean="0">
                <a:solidFill>
                  <a:srgbClr val="C00000"/>
                </a:solidFill>
                <a:latin typeface="+mj-lt"/>
              </a:rPr>
              <a:t>benefits</a:t>
            </a:r>
            <a:r>
              <a:rPr lang="en-US" sz="2600" dirty="0" smtClean="0">
                <a:latin typeface="+mj-lt"/>
              </a:rPr>
              <a:t> provided by a project </a:t>
            </a:r>
            <a:r>
              <a:rPr lang="en-US" sz="2600" i="1" dirty="0" smtClean="0">
                <a:solidFill>
                  <a:srgbClr val="C00000"/>
                </a:solidFill>
                <a:latin typeface="+mj-lt"/>
              </a:rPr>
              <a:t>against</a:t>
            </a:r>
            <a:r>
              <a:rPr lang="en-US" sz="2600" dirty="0" smtClean="0">
                <a:latin typeface="+mj-lt"/>
              </a:rPr>
              <a:t> its </a:t>
            </a:r>
            <a:r>
              <a:rPr lang="en-US" sz="2600" i="1" dirty="0" smtClean="0">
                <a:solidFill>
                  <a:srgbClr val="C00000"/>
                </a:solidFill>
                <a:latin typeface="+mj-lt"/>
              </a:rPr>
              <a:t>costs</a:t>
            </a:r>
            <a:r>
              <a:rPr lang="en-US" sz="2600" dirty="0" smtClean="0">
                <a:latin typeface="+mj-lt"/>
              </a:rPr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Cost–Benefit Analysis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4572000"/>
            <a:ext cx="2733675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6938" y="2847975"/>
            <a:ext cx="7350125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57200" y="1524000"/>
            <a:ext cx="838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 smtClean="0">
                <a:latin typeface="+mj-lt"/>
              </a:rPr>
              <a:t>The </a:t>
            </a:r>
            <a:r>
              <a:rPr lang="en-US" sz="2800" i="1" dirty="0" smtClean="0">
                <a:solidFill>
                  <a:srgbClr val="C00000"/>
                </a:solidFill>
                <a:latin typeface="+mj-lt"/>
              </a:rPr>
              <a:t>return on investment (ROI)</a:t>
            </a:r>
            <a:r>
              <a:rPr lang="en-US" sz="2800" dirty="0" smtClean="0">
                <a:latin typeface="+mj-lt"/>
              </a:rPr>
              <a:t> is the additional amount earned after costs are earned back.</a:t>
            </a:r>
            <a:endParaRPr lang="en-US" sz="2800" dirty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Return on Investment (ROI)</a:t>
            </a:r>
            <a:endParaRPr lang="en-US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2971800"/>
            <a:ext cx="3754755" cy="1165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609600" y="4495800"/>
            <a:ext cx="7924800" cy="138499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i="1" dirty="0" smtClean="0">
                <a:solidFill>
                  <a:schemeClr val="bg1"/>
                </a:solidFill>
                <a:latin typeface="+mj-lt"/>
              </a:rPr>
              <a:t>If an investment does not have a positive ROI, or if there are other opportunities with a higher ROI, then the investment should not be undertaken.</a:t>
            </a:r>
            <a:endParaRPr lang="en-US" sz="2800" i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Stakeholder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Businesses cannot exist without external customers.</a:t>
            </a:r>
          </a:p>
          <a:p>
            <a:r>
              <a:rPr lang="en-US" sz="2400" dirty="0" smtClean="0"/>
              <a:t>External customers </a:t>
            </a:r>
            <a:r>
              <a:rPr lang="en-US" sz="2400" dirty="0" smtClean="0">
                <a:sym typeface="Wingdings" pitchFamily="2" charset="2"/>
              </a:rPr>
              <a:t> </a:t>
            </a:r>
            <a:r>
              <a:rPr lang="en-US" sz="2400" dirty="0" smtClean="0"/>
              <a:t>External stakeholders.</a:t>
            </a:r>
          </a:p>
          <a:p>
            <a:r>
              <a:rPr lang="en-US" sz="2400" dirty="0" smtClean="0"/>
              <a:t>Internal customers </a:t>
            </a:r>
            <a:r>
              <a:rPr lang="en-US" sz="2400" dirty="0" smtClean="0">
                <a:sym typeface="Wingdings" pitchFamily="2" charset="2"/>
              </a:rPr>
              <a:t> Internal stakeholders.</a:t>
            </a:r>
          </a:p>
        </p:txBody>
      </p:sp>
      <p:pic>
        <p:nvPicPr>
          <p:cNvPr id="4" name="Picture 2" descr="https://www.pmi.org/kasimage/5e15b89e-6c9b-4e40-8e56-0c5d2c975aee/f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3270504"/>
            <a:ext cx="4126992" cy="29016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SWOT Analysis</a:t>
            </a:r>
            <a:endParaRPr 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6600" y="2133600"/>
            <a:ext cx="5080000" cy="365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Benchmarking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71725" y="1905000"/>
            <a:ext cx="4333875" cy="396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Feasibility Study Report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3810000" y="1905000"/>
          <a:ext cx="45720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9600" y="1524000"/>
            <a:ext cx="2781300" cy="401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Feasibility Study?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2590800" y="1905000"/>
          <a:ext cx="61722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33400" y="2514600"/>
            <a:ext cx="1828800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7. Conduct Project Blastoff Meeting [3]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Blastoff</a:t>
            </a:r>
            <a:r>
              <a:rPr lang="en-US" sz="2400" dirty="0" smtClean="0"/>
              <a:t> is also known as "project initiation," "</a:t>
            </a:r>
            <a:r>
              <a:rPr lang="en-US" sz="2400" i="1" dirty="0" smtClean="0">
                <a:solidFill>
                  <a:srgbClr val="C00000"/>
                </a:solidFill>
              </a:rPr>
              <a:t>kickoff</a:t>
            </a:r>
            <a:r>
              <a:rPr lang="en-US" sz="2400" dirty="0" smtClean="0"/>
              <a:t>," "charter," "project launch," and many other things.</a:t>
            </a:r>
          </a:p>
          <a:p>
            <a:r>
              <a:rPr lang="en-US" sz="2400" dirty="0" smtClean="0"/>
              <a:t>The blastoff meeting prepares the project and ensures its </a:t>
            </a:r>
            <a:r>
              <a:rPr lang="en-US" sz="2400" i="1" dirty="0" smtClean="0">
                <a:solidFill>
                  <a:srgbClr val="C00000"/>
                </a:solidFill>
              </a:rPr>
              <a:t>feasibility</a:t>
            </a:r>
            <a:r>
              <a:rPr lang="en-US" sz="2400" dirty="0" smtClean="0"/>
              <a:t> before launching the detailed requirements effort.</a:t>
            </a:r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3352800"/>
            <a:ext cx="4286250" cy="313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3429000"/>
            <a:ext cx="1699260" cy="811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4400" y="4419600"/>
            <a:ext cx="1552575" cy="16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1447800"/>
            <a:ext cx="3686175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Tools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057400" y="3124200"/>
            <a:ext cx="533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/>
            <a:r>
              <a:rPr lang="en-US" sz="2400" dirty="0" smtClean="0">
                <a:latin typeface="+mj-lt"/>
                <a:hlinkClick r:id="rId3"/>
              </a:rPr>
              <a:t>http://office.microsoft.com/en-us/</a:t>
            </a:r>
            <a:endParaRPr lang="en-US" sz="2400" dirty="0" smtClean="0">
              <a:latin typeface="+mj-lt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28800" y="4038600"/>
            <a:ext cx="5610225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1828800" y="5638800"/>
            <a:ext cx="6019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/>
            <a:r>
              <a:rPr lang="en-US" sz="2400" dirty="0" smtClean="0">
                <a:latin typeface="+mj-lt"/>
                <a:hlinkClick r:id="rId5"/>
              </a:rPr>
              <a:t>https://www.wps.com/wps-office-personal</a:t>
            </a:r>
            <a:endParaRPr lang="en-US" sz="2400" dirty="0" smtClean="0">
              <a:latin typeface="+mj-lt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12149</TotalTime>
  <Words>2420</Words>
  <Application>Microsoft Office PowerPoint</Application>
  <PresentationFormat>On-screen Show (4:3)</PresentationFormat>
  <Paragraphs>351</Paragraphs>
  <Slides>81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2" baseType="lpstr">
      <vt:lpstr>Office Theme</vt:lpstr>
      <vt:lpstr>Business Requirements</vt:lpstr>
      <vt:lpstr>Objectives</vt:lpstr>
      <vt:lpstr>Contents</vt:lpstr>
      <vt:lpstr>References</vt:lpstr>
      <vt:lpstr>Business Requirements [1]</vt:lpstr>
      <vt:lpstr>Slide 6</vt:lpstr>
      <vt:lpstr>1. Identify Sponsor</vt:lpstr>
      <vt:lpstr>2. Identify Budget</vt:lpstr>
      <vt:lpstr>Slide 9</vt:lpstr>
      <vt:lpstr>1. Capture Initial Artifacts</vt:lpstr>
      <vt:lpstr>2. Identify Stakeholders [3]</vt:lpstr>
      <vt:lpstr>3. Identify Stakeholders [4]</vt:lpstr>
      <vt:lpstr>Example</vt:lpstr>
      <vt:lpstr>4. Create Stakeholder Map</vt:lpstr>
      <vt:lpstr>Domains of Interest [3]</vt:lpstr>
      <vt:lpstr>5. Define Terminologies (Terms)</vt:lpstr>
      <vt:lpstr>6. Analyze Terminologies (Terms)</vt:lpstr>
      <vt:lpstr>Slide 18</vt:lpstr>
      <vt:lpstr>Problem Definition [2]</vt:lpstr>
      <vt:lpstr>Slide 20</vt:lpstr>
      <vt:lpstr>1. Document Operational Problems</vt:lpstr>
      <vt:lpstr>2. Handle RFP with Concrete Problems</vt:lpstr>
      <vt:lpstr>3. Prepare Response to RFP with Concrete Problems</vt:lpstr>
      <vt:lpstr>Slide 24</vt:lpstr>
      <vt:lpstr>1. Handle RFP w/o Concrete Problems</vt:lpstr>
      <vt:lpstr>2. Identify Operational Problems</vt:lpstr>
      <vt:lpstr>3. Discover Problems Leading to New System Development</vt:lpstr>
      <vt:lpstr>4. Discover Problems Leading to Existing System Enhancements</vt:lpstr>
      <vt:lpstr>5. Prepare Response to RFP w/o Concrete Problems</vt:lpstr>
      <vt:lpstr>Slide 30</vt:lpstr>
      <vt:lpstr>1. Handle Research RFP</vt:lpstr>
      <vt:lpstr>2. Identify Trending Technologies</vt:lpstr>
      <vt:lpstr>3. Discover Potential Enhancements</vt:lpstr>
      <vt:lpstr>4. Prepare Response to Research RFP</vt:lpstr>
      <vt:lpstr>Slide 35</vt:lpstr>
      <vt:lpstr>1. Identify Research or Product Opportunities</vt:lpstr>
      <vt:lpstr>2. Discover Problems: The Easy Way</vt:lpstr>
      <vt:lpstr>3. Discover Problems: The Hard Way</vt:lpstr>
      <vt:lpstr>4. Review Opportunities</vt:lpstr>
      <vt:lpstr>Example Opportunity</vt:lpstr>
      <vt:lpstr>Problem Relevance</vt:lpstr>
      <vt:lpstr>Slide 42</vt:lpstr>
      <vt:lpstr>Goals</vt:lpstr>
      <vt:lpstr>Goal Settings</vt:lpstr>
      <vt:lpstr>SMART Goals (aka Objectives)</vt:lpstr>
      <vt:lpstr>1. Identify Business Goals</vt:lpstr>
      <vt:lpstr>Common Business Goals [3]</vt:lpstr>
      <vt:lpstr>Customer Discovery for a Product</vt:lpstr>
      <vt:lpstr>Common Business Goals</vt:lpstr>
      <vt:lpstr>Slide 50</vt:lpstr>
      <vt:lpstr>Business Objectives Model [5]</vt:lpstr>
      <vt:lpstr>2. Identify High-Level Features</vt:lpstr>
      <vt:lpstr>Slide 53</vt:lpstr>
      <vt:lpstr>Deliverables</vt:lpstr>
      <vt:lpstr>Example Software and Services</vt:lpstr>
      <vt:lpstr>3. Define Expected Products</vt:lpstr>
      <vt:lpstr>Slide 57</vt:lpstr>
      <vt:lpstr>4. Set the Scope [3]</vt:lpstr>
      <vt:lpstr>Context Diagram</vt:lpstr>
      <vt:lpstr>Ecosystem Map [1]</vt:lpstr>
      <vt:lpstr>Slide 61</vt:lpstr>
      <vt:lpstr>5. Create an Evaluator Pitch</vt:lpstr>
      <vt:lpstr>Example</vt:lpstr>
      <vt:lpstr>Slide 64</vt:lpstr>
      <vt:lpstr>6. Create Project Proposal</vt:lpstr>
      <vt:lpstr>Slide 66</vt:lpstr>
      <vt:lpstr>Project Feasibility?</vt:lpstr>
      <vt:lpstr>Feasibility Study [6]</vt:lpstr>
      <vt:lpstr>Project Profit Graph</vt:lpstr>
      <vt:lpstr>Cost–Benefit Analysis</vt:lpstr>
      <vt:lpstr>Return on Investment (ROI)</vt:lpstr>
      <vt:lpstr>Stakeholder Analysis</vt:lpstr>
      <vt:lpstr>SWOT Analysis</vt:lpstr>
      <vt:lpstr>Benchmarking</vt:lpstr>
      <vt:lpstr>Feasibility Study Report</vt:lpstr>
      <vt:lpstr>Why Feasibility Study?</vt:lpstr>
      <vt:lpstr>Slide 77</vt:lpstr>
      <vt:lpstr>7. Conduct Project Blastoff Meeting [3]</vt:lpstr>
      <vt:lpstr>Slide 79</vt:lpstr>
      <vt:lpstr>Tools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4944</cp:revision>
  <dcterms:created xsi:type="dcterms:W3CDTF">2007-10-06T08:25:13Z</dcterms:created>
  <dcterms:modified xsi:type="dcterms:W3CDTF">2026-06-20T17:25:26Z</dcterms:modified>
</cp:coreProperties>
</file>