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slide56.xml" ContentType="application/vnd.openxmlformats-officedocument.presentationml.slide+xml"/>
  <Override PartName="/ppt/slides/slide58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handoutMasters/handoutMaster1.xml" ContentType="application/vnd.openxmlformats-officedocument.presentationml.handoutMaster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70"/>
  </p:notesMasterIdLst>
  <p:handoutMasterIdLst>
    <p:handoutMasterId r:id="rId71"/>
  </p:handoutMasterIdLst>
  <p:sldIdLst>
    <p:sldId id="256" r:id="rId2"/>
    <p:sldId id="446" r:id="rId3"/>
    <p:sldId id="639" r:id="rId4"/>
    <p:sldId id="358" r:id="rId5"/>
    <p:sldId id="738" r:id="rId6"/>
    <p:sldId id="791" r:id="rId7"/>
    <p:sldId id="792" r:id="rId8"/>
    <p:sldId id="793" r:id="rId9"/>
    <p:sldId id="762" r:id="rId10"/>
    <p:sldId id="720" r:id="rId11"/>
    <p:sldId id="739" r:id="rId12"/>
    <p:sldId id="726" r:id="rId13"/>
    <p:sldId id="727" r:id="rId14"/>
    <p:sldId id="728" r:id="rId15"/>
    <p:sldId id="732" r:id="rId16"/>
    <p:sldId id="746" r:id="rId17"/>
    <p:sldId id="747" r:id="rId18"/>
    <p:sldId id="786" r:id="rId19"/>
    <p:sldId id="785" r:id="rId20"/>
    <p:sldId id="765" r:id="rId21"/>
    <p:sldId id="766" r:id="rId22"/>
    <p:sldId id="767" r:id="rId23"/>
    <p:sldId id="768" r:id="rId24"/>
    <p:sldId id="769" r:id="rId25"/>
    <p:sldId id="770" r:id="rId26"/>
    <p:sldId id="771" r:id="rId27"/>
    <p:sldId id="772" r:id="rId28"/>
    <p:sldId id="773" r:id="rId29"/>
    <p:sldId id="774" r:id="rId30"/>
    <p:sldId id="775" r:id="rId31"/>
    <p:sldId id="776" r:id="rId32"/>
    <p:sldId id="777" r:id="rId33"/>
    <p:sldId id="778" r:id="rId34"/>
    <p:sldId id="779" r:id="rId35"/>
    <p:sldId id="780" r:id="rId36"/>
    <p:sldId id="781" r:id="rId37"/>
    <p:sldId id="782" r:id="rId38"/>
    <p:sldId id="783" r:id="rId39"/>
    <p:sldId id="787" r:id="rId40"/>
    <p:sldId id="652" r:id="rId41"/>
    <p:sldId id="653" r:id="rId42"/>
    <p:sldId id="662" r:id="rId43"/>
    <p:sldId id="794" r:id="rId44"/>
    <p:sldId id="655" r:id="rId45"/>
    <p:sldId id="659" r:id="rId46"/>
    <p:sldId id="743" r:id="rId47"/>
    <p:sldId id="744" r:id="rId48"/>
    <p:sldId id="754" r:id="rId49"/>
    <p:sldId id="788" r:id="rId50"/>
    <p:sldId id="757" r:id="rId51"/>
    <p:sldId id="759" r:id="rId52"/>
    <p:sldId id="758" r:id="rId53"/>
    <p:sldId id="755" r:id="rId54"/>
    <p:sldId id="789" r:id="rId55"/>
    <p:sldId id="790" r:id="rId56"/>
    <p:sldId id="749" r:id="rId57"/>
    <p:sldId id="680" r:id="rId58"/>
    <p:sldId id="682" r:id="rId59"/>
    <p:sldId id="683" r:id="rId60"/>
    <p:sldId id="679" r:id="rId61"/>
    <p:sldId id="666" r:id="rId62"/>
    <p:sldId id="693" r:id="rId63"/>
    <p:sldId id="694" r:id="rId64"/>
    <p:sldId id="734" r:id="rId65"/>
    <p:sldId id="698" r:id="rId66"/>
    <p:sldId id="706" r:id="rId67"/>
    <p:sldId id="808" r:id="rId68"/>
    <p:sldId id="359" r:id="rId6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173" autoAdjust="0"/>
    <p:restoredTop sz="94667" autoAdjust="0"/>
  </p:normalViewPr>
  <p:slideViewPr>
    <p:cSldViewPr>
      <p:cViewPr>
        <p:scale>
          <a:sx n="50" d="100"/>
          <a:sy n="50" d="100"/>
        </p:scale>
        <p:origin x="-1490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92EA88-EEAD-476F-951C-A9F38DC12E92}" type="datetimeFigureOut">
              <a:rPr lang="en-US" smtClean="0"/>
              <a:pPr/>
              <a:t>7/11/2026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AD151-0E8C-42DF-AEB9-304E517D3C7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7/11/2026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21BAC6-1780-4248-A045-EEDC4FD7C334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://office.microsoft.com/en-us/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ps.com/wps-office-personal" TargetMode="External"/><Relationship Id="rId4" Type="http://schemas.openxmlformats.org/officeDocument/2006/relationships/image" Target="../media/image70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Business Requirements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3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6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>
                <a:hlinkClick r:id="rId2"/>
              </a:rPr>
              <a:t>nhbien@fit.hcmus.edu.vn</a:t>
            </a:r>
            <a:endParaRPr lang="en-US" sz="5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discover</a:t>
            </a:r>
            <a:r>
              <a:rPr lang="en-US" sz="2400" dirty="0" smtClean="0"/>
              <a:t> business requirements.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an </a:t>
            </a:r>
            <a:r>
              <a:rPr lang="en-US" sz="2400" i="1" dirty="0" smtClean="0">
                <a:solidFill>
                  <a:srgbClr val="C00000"/>
                </a:solidFill>
              </a:rPr>
              <a:t>project proposal</a:t>
            </a:r>
            <a:r>
              <a:rPr lang="en-US" sz="2400" dirty="0" smtClean="0"/>
              <a:t>.</a:t>
            </a: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Stakeholders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Problems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Business Goals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High-Level Features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Expected Products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Context Diagram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Evaluator Pitch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Proposal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Karl </a:t>
            </a:r>
            <a:r>
              <a:rPr lang="en-US" sz="2000" dirty="0" err="1" smtClean="0"/>
              <a:t>Wiegers</a:t>
            </a:r>
            <a:r>
              <a:rPr lang="en-US" sz="2000" dirty="0" smtClean="0"/>
              <a:t> and Joy Beatty (2013). Software Requirements. Microsoft Press.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Alan R. </a:t>
            </a:r>
            <a:r>
              <a:rPr lang="en-US" sz="2000" dirty="0" err="1" smtClean="0"/>
              <a:t>Hevner</a:t>
            </a:r>
            <a:r>
              <a:rPr lang="en-US" sz="2000" dirty="0" smtClean="0"/>
              <a:t> et al. (2004). Design Science in Information Systems Research.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Suzanne Robertson and James Robertson (2012). Mastering the Requirements Process. Addison Wesley Professional.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Michael Keeling (2017). Design It. From Programmer to Software Architect.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Joy Beatty and Anthony Chen (2012). Visual Models for Software Requirements. Microsoft Press.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Jessica Keyes (2008). Leading IT Projects: The IT Manager's Guide. Taylor &amp; Francis Group.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Requirements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“</a:t>
            </a:r>
            <a:r>
              <a:rPr lang="en-US" sz="2400" i="1" dirty="0" smtClean="0">
                <a:solidFill>
                  <a:srgbClr val="C00000"/>
                </a:solidFill>
              </a:rPr>
              <a:t>Business requirements</a:t>
            </a:r>
            <a:r>
              <a:rPr lang="en-US" sz="2400" dirty="0" smtClean="0"/>
              <a:t>” refers to a set of information that, in the aggregate, describes a need that leads to one or more projects to deliver a solution and the desired ultimate </a:t>
            </a:r>
            <a:r>
              <a:rPr lang="en-US" sz="2400" u="sng" dirty="0" smtClean="0"/>
              <a:t>business outcomes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business requirements set </a:t>
            </a:r>
            <a:r>
              <a:rPr lang="en-US" sz="2400" u="sng" dirty="0" smtClean="0"/>
              <a:t>the context for</a:t>
            </a:r>
            <a:r>
              <a:rPr lang="en-US" sz="2400" dirty="0" smtClean="0"/>
              <a:t>, and enable the </a:t>
            </a:r>
            <a:r>
              <a:rPr lang="en-US" sz="2400" u="sng" dirty="0" smtClean="0"/>
              <a:t>measurement of</a:t>
            </a:r>
            <a:r>
              <a:rPr lang="en-US" sz="2400" dirty="0" smtClean="0"/>
              <a:t>, </a:t>
            </a:r>
            <a:r>
              <a:rPr lang="en-US" sz="2400" u="sng" dirty="0" smtClean="0"/>
              <a:t>the benefits</a:t>
            </a:r>
            <a:r>
              <a:rPr lang="en-US" sz="2400" dirty="0" smtClean="0"/>
              <a:t> the business hopes to achieve from undertaking a project.</a:t>
            </a:r>
          </a:p>
        </p:txBody>
      </p:sp>
      <p:pic>
        <p:nvPicPr>
          <p:cNvPr id="2050" name="Picture 2" descr="http://www.requirementsnetwork.com/images/img15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6900" y="4648200"/>
            <a:ext cx="3111500" cy="16446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Sponsor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Organization</a:t>
            </a:r>
          </a:p>
          <a:p>
            <a:r>
              <a:rPr lang="en-US" dirty="0" smtClean="0"/>
              <a:t>Group of people or individual</a:t>
            </a:r>
            <a:endParaRPr lang="en-US" dirty="0"/>
          </a:p>
        </p:txBody>
      </p:sp>
      <p:pic>
        <p:nvPicPr>
          <p:cNvPr id="28674" name="Picture 2" descr="https://builtin.com/cdn-cgi/image/f=auto,quality=80,width=752,height=435/https://builtin.com/sites/www.builtin.com/files/styles/byline_image/public/2023-08/companies%20that%20sponsor%20individu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3276600"/>
            <a:ext cx="4775200" cy="2762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Budget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Organization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software development to support </a:t>
            </a:r>
            <a:r>
              <a:rPr lang="en-US" sz="2400" u="sng" dirty="0" smtClean="0"/>
              <a:t>business operations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</a:t>
            </a:r>
            <a:r>
              <a:rPr lang="en-US" sz="2400" u="sng" dirty="0" smtClean="0"/>
              <a:t>research</a:t>
            </a:r>
            <a:r>
              <a:rPr lang="en-US" sz="2400" dirty="0" smtClean="0"/>
              <a:t> related to software development</a:t>
            </a:r>
          </a:p>
          <a:p>
            <a:r>
              <a:rPr lang="en-US" sz="2800" dirty="0" smtClean="0"/>
              <a:t>Group of people or individual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Savings</a:t>
            </a:r>
          </a:p>
        </p:txBody>
      </p:sp>
      <p:pic>
        <p:nvPicPr>
          <p:cNvPr id="27650" name="Picture 2" descr="https://media1.moneywise.com/cdn-cgi/image/fit=cover,g=left,width=756,height=336,f=auto,quality=80/a/27030/build-budget_hero_1800x800_v202308141623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648200"/>
            <a:ext cx="3360420" cy="14935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Capture Initial Artifacts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Emails</a:t>
            </a:r>
          </a:p>
          <a:p>
            <a:r>
              <a:rPr lang="en-US" sz="2400" dirty="0" smtClean="0"/>
              <a:t>Presentation slides</a:t>
            </a:r>
          </a:p>
          <a:p>
            <a:r>
              <a:rPr lang="en-US" sz="2400" dirty="0" smtClean="0"/>
              <a:t>Proposal document</a:t>
            </a:r>
          </a:p>
          <a:p>
            <a:r>
              <a:rPr lang="en-US" sz="2400" dirty="0" smtClean="0"/>
              <a:t>Existing systems</a:t>
            </a:r>
          </a:p>
          <a:p>
            <a:r>
              <a:rPr lang="en-US" sz="2400" dirty="0" smtClean="0"/>
              <a:t>Similar systems </a:t>
            </a:r>
          </a:p>
          <a:p>
            <a:r>
              <a:rPr lang="en-US" sz="2400" dirty="0" smtClean="0"/>
              <a:t>Administrative guide, user guide</a:t>
            </a:r>
          </a:p>
          <a:p>
            <a:r>
              <a:rPr lang="en-US" sz="2400" dirty="0" smtClean="0"/>
              <a:t>Feature list</a:t>
            </a:r>
          </a:p>
          <a:p>
            <a:r>
              <a:rPr lang="en-US" sz="2400" dirty="0" smtClean="0"/>
              <a:t>Initial requirement specification</a:t>
            </a:r>
            <a:endParaRPr lang="en-US" sz="2400" dirty="0"/>
          </a:p>
        </p:txBody>
      </p:sp>
      <p:pic>
        <p:nvPicPr>
          <p:cNvPr id="1026" name="Picture 2" descr="https://lh3.googleusercontent.com/proxy/YiR_-QifYtJjPmql82e7Zq3Ezs0U5d8sD5yQZJeoqGgdNFOFmI1S_fw0zALeO82F3pBPJ3bZI17dWkUaQhI0PcJX5XCXD8cKzll_NxCcb_xjdvg7Pc1oZ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057400"/>
            <a:ext cx="2743200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Stakeholders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 </a:t>
            </a:r>
            <a:r>
              <a:rPr lang="en-US" sz="2400" u="sng" dirty="0" smtClean="0"/>
              <a:t>pays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development</a:t>
            </a:r>
            <a:r>
              <a:rPr lang="en-US" sz="2400" dirty="0" smtClean="0"/>
              <a:t> of the product.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 </a:t>
            </a:r>
            <a:r>
              <a:rPr lang="en-US" sz="2400" u="sng" dirty="0" smtClean="0"/>
              <a:t>buy</a:t>
            </a:r>
            <a:r>
              <a:rPr lang="en-US" sz="2400" dirty="0" smtClean="0"/>
              <a:t> the product.</a:t>
            </a:r>
          </a:p>
          <a:p>
            <a:r>
              <a:rPr lang="en-US" sz="2400" dirty="0" smtClean="0"/>
              <a:t>When we talk about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, we mean the people who will ultimately </a:t>
            </a:r>
            <a:r>
              <a:rPr lang="en-US" sz="2400" u="sng" dirty="0" smtClean="0"/>
              <a:t>operate</a:t>
            </a:r>
            <a:r>
              <a:rPr lang="en-US" sz="2400" dirty="0" smtClean="0"/>
              <a:t> your product.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505200"/>
            <a:ext cx="4533900" cy="2772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Identify Stakeholders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286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Stakeholders</a:t>
            </a:r>
            <a:r>
              <a:rPr lang="en-US" sz="2400" dirty="0" smtClean="0"/>
              <a:t> usually, but not always, have a </a:t>
            </a:r>
            <a:r>
              <a:rPr lang="en-US" sz="2400" u="sng" dirty="0" smtClean="0"/>
              <a:t>business interest</a:t>
            </a:r>
            <a:r>
              <a:rPr lang="en-US" sz="2400" dirty="0" smtClean="0"/>
              <a:t> in the software.</a:t>
            </a:r>
          </a:p>
          <a:p>
            <a:r>
              <a:rPr lang="en-US" sz="2400" dirty="0" smtClean="0"/>
              <a:t>They might </a:t>
            </a:r>
            <a:r>
              <a:rPr lang="en-US" sz="2400" i="1" dirty="0" smtClean="0">
                <a:solidFill>
                  <a:srgbClr val="C00000"/>
                </a:solidFill>
              </a:rPr>
              <a:t>pay</a:t>
            </a:r>
            <a:r>
              <a:rPr lang="en-US" sz="2400" dirty="0" smtClean="0"/>
              <a:t> for the software or directly </a:t>
            </a:r>
            <a:r>
              <a:rPr lang="en-US" sz="2400" i="1" dirty="0" smtClean="0">
                <a:solidFill>
                  <a:srgbClr val="C00000"/>
                </a:solidFill>
              </a:rPr>
              <a:t>profit</a:t>
            </a:r>
            <a:r>
              <a:rPr lang="en-US" sz="2400" dirty="0" smtClean="0"/>
              <a:t> from it.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600200"/>
            <a:ext cx="5943600" cy="4644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8038" y="1835150"/>
            <a:ext cx="7527925" cy="395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Stakeholder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124200" cy="4525963"/>
          </a:xfrm>
        </p:spPr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stakeholder map</a:t>
            </a:r>
            <a:r>
              <a:rPr lang="en-US" sz="2000" dirty="0" smtClean="0"/>
              <a:t> is a </a:t>
            </a:r>
            <a:r>
              <a:rPr lang="en-US" sz="2000" u="sng" dirty="0" smtClean="0"/>
              <a:t>network diagram</a:t>
            </a:r>
            <a:r>
              <a:rPr lang="en-US" sz="2000" dirty="0" smtClean="0"/>
              <a:t> showing all the people involved with or affected by the proposed software system.</a:t>
            </a:r>
          </a:p>
          <a:p>
            <a:r>
              <a:rPr lang="en-US" sz="2000" dirty="0" smtClean="0"/>
              <a:t>Stakeholder maps are ideal for visualizing </a:t>
            </a:r>
            <a:r>
              <a:rPr lang="en-US" sz="2000" i="1" dirty="0" smtClean="0">
                <a:solidFill>
                  <a:srgbClr val="C00000"/>
                </a:solidFill>
              </a:rPr>
              <a:t>relationships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interactions</a:t>
            </a:r>
            <a:r>
              <a:rPr lang="en-US" sz="2000" dirty="0" smtClean="0"/>
              <a:t> among people.</a:t>
            </a:r>
          </a:p>
          <a:p>
            <a:r>
              <a:rPr lang="en-US" sz="2000" dirty="0" smtClean="0"/>
              <a:t>They also give you a snapshot of </a:t>
            </a:r>
            <a:r>
              <a:rPr lang="en-US" sz="2000" i="1" dirty="0" smtClean="0">
                <a:solidFill>
                  <a:srgbClr val="C00000"/>
                </a:solidFill>
              </a:rPr>
              <a:t>what motivates</a:t>
            </a:r>
            <a:r>
              <a:rPr lang="en-US" sz="2000" dirty="0" smtClean="0"/>
              <a:t> different stakeholders.</a:t>
            </a:r>
            <a:endParaRPr lang="en-US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68090" y="1371600"/>
            <a:ext cx="4918710" cy="49949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9906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16764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276600"/>
            <a:ext cx="1009650" cy="445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29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41148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Domains of Interest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00200"/>
            <a:ext cx="7162800" cy="4525963"/>
          </a:xfrm>
        </p:spPr>
        <p:txBody>
          <a:bodyPr/>
          <a:lstStyle/>
          <a:p>
            <a:r>
              <a:rPr lang="en-US" sz="2000" dirty="0" smtClean="0"/>
              <a:t>"</a:t>
            </a:r>
            <a:r>
              <a:rPr lang="en-US" sz="2000" i="1" dirty="0" smtClean="0">
                <a:solidFill>
                  <a:srgbClr val="C00000"/>
                </a:solidFill>
              </a:rPr>
              <a:t>Roads</a:t>
            </a:r>
            <a:r>
              <a:rPr lang="en-US" sz="2000" dirty="0" smtClean="0"/>
              <a:t> freeze in winter, and </a:t>
            </a:r>
            <a:r>
              <a:rPr lang="en-US" sz="2000" i="1" dirty="0" smtClean="0">
                <a:solidFill>
                  <a:srgbClr val="C00000"/>
                </a:solidFill>
              </a:rPr>
              <a:t>icy conditions</a:t>
            </a:r>
            <a:r>
              <a:rPr lang="en-US" sz="2000" dirty="0" smtClean="0"/>
              <a:t> cause road accidents that </a:t>
            </a:r>
            <a:r>
              <a:rPr lang="en-US" sz="2000" u="sng" dirty="0" smtClean="0"/>
              <a:t>kill people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need</a:t>
            </a:r>
            <a:r>
              <a:rPr lang="en-US" sz="2000" dirty="0" smtClean="0"/>
              <a:t> to be able to predict when ice will form on a road so we can </a:t>
            </a:r>
            <a:r>
              <a:rPr lang="en-US" sz="2000" i="1" dirty="0" smtClean="0">
                <a:solidFill>
                  <a:srgbClr val="C00000"/>
                </a:solidFill>
              </a:rPr>
              <a:t>schedule</a:t>
            </a:r>
            <a:r>
              <a:rPr lang="en-US" sz="2000" dirty="0" smtClean="0"/>
              <a:t> a </a:t>
            </a:r>
            <a:r>
              <a:rPr lang="en-US" sz="2000" i="1" dirty="0" smtClean="0">
                <a:solidFill>
                  <a:srgbClr val="C00000"/>
                </a:solidFill>
              </a:rPr>
              <a:t>de-icing truck</a:t>
            </a:r>
            <a:r>
              <a:rPr lang="en-US" sz="2000" dirty="0" smtClean="0"/>
              <a:t> to treat the road in time.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expect</a:t>
            </a:r>
            <a:r>
              <a:rPr lang="en-US" sz="2000" dirty="0" smtClean="0"/>
              <a:t> a new system to provide more accurate </a:t>
            </a:r>
            <a:r>
              <a:rPr lang="en-US" sz="2000" i="1" dirty="0" smtClean="0">
                <a:solidFill>
                  <a:srgbClr val="C00000"/>
                </a:solidFill>
              </a:rPr>
              <a:t>predictions</a:t>
            </a:r>
            <a:r>
              <a:rPr lang="en-US" sz="2000" dirty="0" smtClean="0"/>
              <a:t> of icy conditions.</a:t>
            </a:r>
          </a:p>
          <a:p>
            <a:pPr>
              <a:buNone/>
            </a:pPr>
            <a:r>
              <a:rPr lang="en-US" sz="2000" dirty="0" smtClean="0"/>
              <a:t>	This will lead to more timely de-icing treatment than at present, which will </a:t>
            </a:r>
            <a:r>
              <a:rPr lang="en-US" sz="2000" u="sng" dirty="0" smtClean="0"/>
              <a:t>reduce road accidents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also </a:t>
            </a:r>
            <a:r>
              <a:rPr lang="en-US" sz="2000" u="sng" dirty="0" smtClean="0"/>
              <a:t>want</a:t>
            </a:r>
            <a:r>
              <a:rPr lang="en-US" sz="2000" dirty="0" smtClean="0"/>
              <a:t> to </a:t>
            </a:r>
            <a:r>
              <a:rPr lang="en-US" sz="2000" i="1" dirty="0" smtClean="0">
                <a:solidFill>
                  <a:srgbClr val="C00000"/>
                </a:solidFill>
              </a:rPr>
              <a:t>eliminate</a:t>
            </a:r>
            <a:r>
              <a:rPr lang="en-US" sz="2000" dirty="0" smtClean="0"/>
              <a:t> indiscriminate treatment of roads, which wastes de-icing compounds and causes environmental damage.“</a:t>
            </a:r>
          </a:p>
          <a:p>
            <a:r>
              <a:rPr lang="en-US" sz="2400" dirty="0" smtClean="0"/>
              <a:t>Pay attention to the </a:t>
            </a:r>
            <a:r>
              <a:rPr lang="en-US" sz="2400" i="1" dirty="0" smtClean="0">
                <a:solidFill>
                  <a:srgbClr val="C00000"/>
                </a:solidFill>
              </a:rPr>
              <a:t>subjects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Four </a:t>
            </a:r>
            <a:r>
              <a:rPr lang="en-US" sz="2400" i="1" dirty="0" smtClean="0">
                <a:solidFill>
                  <a:srgbClr val="C00000"/>
                </a:solidFill>
              </a:rPr>
              <a:t>domains</a:t>
            </a:r>
            <a:r>
              <a:rPr lang="en-US" sz="2400" dirty="0" smtClean="0"/>
              <a:t>: Roads, Weather, Scheduling, Trucking.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438400"/>
            <a:ext cx="1666875" cy="162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Define Terminologies (Terms)</a:t>
            </a:r>
            <a:endParaRPr lang="en-US" dirty="0"/>
          </a:p>
        </p:txBody>
      </p:sp>
      <p:pic>
        <p:nvPicPr>
          <p:cNvPr id="1054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76525" y="4210050"/>
            <a:ext cx="4105275" cy="2343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5477" name="Picture 5" descr="http://www.thinknice.com/wp-content/uploads/2013/07/You-Dont-Understand-It-Well-Enough-Albert-Einstein-Quot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24200" y="1451610"/>
            <a:ext cx="3048000" cy="25869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loud BI Solutions | Cloud Business Intelligence - Right Angle Soluti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2895600"/>
            <a:ext cx="3971429" cy="2428572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Build a </a:t>
            </a:r>
            <a:r>
              <a:rPr lang="en-US" sz="2800" i="1" dirty="0" smtClean="0">
                <a:solidFill>
                  <a:srgbClr val="C00000"/>
                </a:solidFill>
              </a:rPr>
              <a:t>background</a:t>
            </a:r>
            <a:r>
              <a:rPr lang="en-US" sz="2800" dirty="0" smtClean="0"/>
              <a:t> and </a:t>
            </a:r>
            <a:r>
              <a:rPr lang="en-US" sz="2800" i="1" dirty="0" smtClean="0">
                <a:solidFill>
                  <a:srgbClr val="C00000"/>
                </a:solidFill>
              </a:rPr>
              <a:t>context</a:t>
            </a:r>
            <a:r>
              <a:rPr lang="en-US" sz="2800" dirty="0" smtClean="0"/>
              <a:t> around the terminologies.</a:t>
            </a:r>
          </a:p>
          <a:p>
            <a:r>
              <a:rPr lang="en-US" sz="2800" dirty="0" smtClean="0"/>
              <a:t>Expand terminologies into </a:t>
            </a:r>
          </a:p>
          <a:p>
            <a:pPr lvl="1"/>
            <a:r>
              <a:rPr lang="en-US" sz="2400" dirty="0" smtClean="0"/>
              <a:t>Business roles,</a:t>
            </a:r>
          </a:p>
          <a:p>
            <a:pPr lvl="1"/>
            <a:r>
              <a:rPr lang="en-US" sz="2400" dirty="0" smtClean="0"/>
              <a:t>Business workflows, </a:t>
            </a:r>
          </a:p>
          <a:p>
            <a:pPr lvl="1"/>
            <a:r>
              <a:rPr lang="en-US" sz="2400" dirty="0" smtClean="0"/>
              <a:t>Business components,</a:t>
            </a:r>
          </a:p>
          <a:p>
            <a:pPr lvl="2"/>
            <a:r>
              <a:rPr lang="en-US" sz="2000" dirty="0" smtClean="0"/>
              <a:t>Units/Departments</a:t>
            </a:r>
          </a:p>
          <a:p>
            <a:pPr lvl="1"/>
            <a:r>
              <a:rPr lang="en-US" sz="2400" dirty="0" smtClean="0"/>
              <a:t>Business entities (objects), and</a:t>
            </a:r>
          </a:p>
          <a:p>
            <a:pPr lvl="1"/>
            <a:r>
              <a:rPr lang="en-US" sz="2400" dirty="0" smtClean="0"/>
              <a:t>Business artifacts</a:t>
            </a:r>
          </a:p>
          <a:p>
            <a:pPr>
              <a:buNone/>
            </a:pPr>
            <a:r>
              <a:rPr lang="en-US" dirty="0" smtClean="0"/>
              <a:t>	AS MUCH AS POSSIBLE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Analyze Terminologies (Terms)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Definition [2]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28880" y="4385608"/>
            <a:ext cx="35103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WE CANNOT…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IT’S DIFFICULT…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 COSTS TOO MUCH…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5239" y="2099608"/>
            <a:ext cx="33657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PAIN, FEAR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HIGHT COST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TIME CONSUMPTION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BOREDOM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1447800"/>
            <a:ext cx="48768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Formally,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</a:t>
            </a:r>
            <a:r>
              <a:rPr lang="en-US" sz="2400" dirty="0" smtClean="0">
                <a:latin typeface="+mj-lt"/>
              </a:rPr>
              <a:t> can be defined as </a:t>
            </a:r>
            <a:r>
              <a:rPr lang="en-US" sz="2400" u="sng" dirty="0" smtClean="0">
                <a:latin typeface="+mj-lt"/>
              </a:rPr>
              <a:t>the differences</a:t>
            </a:r>
            <a:r>
              <a:rPr lang="en-US" sz="2400" dirty="0" smtClean="0">
                <a:latin typeface="+mj-lt"/>
              </a:rPr>
              <a:t> between </a:t>
            </a:r>
            <a:r>
              <a:rPr lang="en-US" sz="2400" u="sng" dirty="0" smtClean="0">
                <a:latin typeface="+mj-lt"/>
              </a:rPr>
              <a:t>a goal state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the current state</a:t>
            </a:r>
            <a:r>
              <a:rPr lang="en-US" sz="2400" dirty="0" smtClean="0">
                <a:latin typeface="+mj-lt"/>
              </a:rPr>
              <a:t> of a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 solving</a:t>
            </a:r>
            <a:r>
              <a:rPr lang="en-US" sz="2400" dirty="0" smtClean="0">
                <a:latin typeface="+mj-lt"/>
              </a:rPr>
              <a:t> can be defined as a search process using actions to reduce or eliminate the differences.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4724400"/>
            <a:ext cx="440055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29255" y="533400"/>
            <a:ext cx="1586145" cy="1492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Document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upgrade, compliance requirements.</a:t>
            </a:r>
          </a:p>
          <a:p>
            <a:r>
              <a:rPr lang="en-US" sz="2600" dirty="0" smtClean="0"/>
              <a:t>Prepare RFP with concrete problems.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organization employees</a:t>
            </a:r>
            <a:r>
              <a:rPr lang="en-US" sz="2600" dirty="0" smtClean="0"/>
              <a:t> (</a:t>
            </a:r>
            <a:r>
              <a:rPr lang="en-US" sz="2400" dirty="0" smtClean="0"/>
              <a:t>marketing managers, sales, support)</a:t>
            </a:r>
            <a:endParaRPr lang="en-US" sz="26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0182" name="Picture 6" descr="https://media.licdn.com/dms/image/D4E12AQGcZjuPS422kQ/article-cover_image-shrink_600_2000/0/1694015621657?e=2147483647&amp;v=beta&amp;t=xi6x44oQChOSVYeZ3TYcKh9-L6Eu9jLjb3xT8RK4MVI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4572000"/>
            <a:ext cx="2971800" cy="1794510"/>
          </a:xfrm>
          <a:prstGeom prst="rect">
            <a:avLst/>
          </a:prstGeom>
          <a:noFill/>
        </p:spPr>
      </p:pic>
      <p:pic>
        <p:nvPicPr>
          <p:cNvPr id="8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49530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705600" y="5029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Handle RFP with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91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dirty="0" smtClean="0"/>
              <a:t>Similar systems</a:t>
            </a:r>
          </a:p>
        </p:txBody>
      </p:sp>
      <p:pic>
        <p:nvPicPr>
          <p:cNvPr id="1026" name="Picture 2" descr="https://images.squarespace-cdn.com/content/57d0a309d2b857a49b7ee374/1537570520028-86NDPZGD6HM6I7XK2WQZ/Council+Notes.jpg?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1676400"/>
            <a:ext cx="3048000" cy="2017776"/>
          </a:xfrm>
          <a:prstGeom prst="rect">
            <a:avLst/>
          </a:prstGeom>
          <a:noFill/>
        </p:spPr>
      </p:pic>
      <p:pic>
        <p:nvPicPr>
          <p:cNvPr id="1029" name="Picture 5" descr="https://blog.rocketsoftware.com/wp-content/uploads/2015/05/3-for-Free-c_0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4114800"/>
            <a:ext cx="369570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Prepare Response to RFP with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>
              <a:defRPr/>
            </a:pPr>
            <a:r>
              <a:rPr lang="en-US" sz="2600" dirty="0" smtClean="0"/>
              <a:t>Cost</a:t>
            </a:r>
          </a:p>
          <a:p>
            <a:endParaRPr lang="en-US" sz="2600" dirty="0"/>
          </a:p>
        </p:txBody>
      </p:sp>
      <p:pic>
        <p:nvPicPr>
          <p:cNvPr id="51202" name="Picture 2" descr="https://www.playvox.com/wp-content/uploads/2016/12/How-to-Create-a-Customer-Journey-Map-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810000"/>
            <a:ext cx="4064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1. Handle RFP w/o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Research results</a:t>
            </a:r>
            <a:r>
              <a:rPr lang="en-US" sz="2400" dirty="0" smtClean="0"/>
              <a:t> that may be applied to existing systems.</a:t>
            </a:r>
          </a:p>
        </p:txBody>
      </p:sp>
      <p:pic>
        <p:nvPicPr>
          <p:cNvPr id="4" name="Picture 2" descr="https://www.jewishinteractive.org/wp-content/uploads/2019/03/IGDP-research-results-1200x565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212666"/>
            <a:ext cx="4000000" cy="188333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  <a:p>
            <a:pPr lvl="1"/>
            <a:endParaRPr lang="en-US" sz="22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51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Discover Problems Leading to New System Development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Building a </a:t>
            </a:r>
            <a:r>
              <a:rPr lang="en-US" sz="2600" i="1" dirty="0" smtClean="0">
                <a:solidFill>
                  <a:srgbClr val="C00000"/>
                </a:solidFill>
              </a:rPr>
              <a:t>new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a manual process,</a:t>
            </a:r>
          </a:p>
          <a:p>
            <a:pPr lvl="1"/>
            <a:r>
              <a:rPr lang="en-US" sz="2200" dirty="0" smtClean="0"/>
              <a:t>a trivial existing solution,</a:t>
            </a:r>
          </a:p>
          <a:p>
            <a:pPr lvl="1"/>
            <a:r>
              <a:rPr lang="en-US" sz="2200" dirty="0" smtClean="0"/>
              <a:t>outdated technologies, </a:t>
            </a:r>
          </a:p>
          <a:p>
            <a:pPr lvl="1"/>
            <a:r>
              <a:rPr lang="en-US" sz="2200" dirty="0" smtClean="0"/>
              <a:t>compliance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098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5715000" y="2743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2971800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49154" name="Picture 2" descr="https://kissflow.com/hubfs/manual_procurement_risks_blo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0" y="4038600"/>
            <a:ext cx="3238500" cy="1714500"/>
          </a:xfrm>
          <a:prstGeom prst="rect">
            <a:avLst/>
          </a:prstGeom>
          <a:noFill/>
        </p:spPr>
      </p:pic>
      <p:sp>
        <p:nvSpPr>
          <p:cNvPr id="10" name="Rectangle 9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Employees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4. Discover Problems Leading to Existing System Enhancements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Enhancing an </a:t>
            </a:r>
            <a:r>
              <a:rPr lang="en-US" sz="2600" i="1" dirty="0" smtClean="0">
                <a:solidFill>
                  <a:srgbClr val="C00000"/>
                </a:solidFill>
              </a:rPr>
              <a:t>existing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bugs, security issues,</a:t>
            </a:r>
          </a:p>
          <a:p>
            <a:pPr lvl="1"/>
            <a:r>
              <a:rPr lang="en-US" sz="2200" dirty="0" smtClean="0"/>
              <a:t>performance issues,</a:t>
            </a:r>
          </a:p>
          <a:p>
            <a:pPr lvl="1"/>
            <a:r>
              <a:rPr lang="en-US" sz="2200" dirty="0" smtClean="0"/>
              <a:t>compliance requirements,</a:t>
            </a:r>
          </a:p>
          <a:p>
            <a:pPr lvl="1"/>
            <a:r>
              <a:rPr lang="en-US" sz="2200" dirty="0" smtClean="0"/>
              <a:t>integration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3622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172200" y="28956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Supporters</a:t>
            </a:r>
            <a:endParaRPr lang="en-US" sz="2200" dirty="0">
              <a:latin typeface="+mj-lt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57375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3000375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10" name="Picture 4" descr="https://thumbor.forbes.com/thumbor/fit-in/900x510/https://www.forbes.com/advisor/wp-content/uploads/2022/03/Image_-_Customer_service_rep_.jpe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038600"/>
            <a:ext cx="2857500" cy="1606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Prepare Response to RFP w/o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Discovered problems</a:t>
            </a:r>
          </a:p>
          <a:p>
            <a:pPr lvl="0">
              <a:defRPr/>
            </a:pPr>
            <a:r>
              <a:rPr lang="en-US" sz="2600" dirty="0" smtClean="0"/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>
              <a:defRPr/>
            </a:pPr>
            <a:r>
              <a:rPr lang="en-US" sz="2600" dirty="0" smtClean="0"/>
              <a:t>Cost</a:t>
            </a:r>
          </a:p>
        </p:txBody>
      </p:sp>
      <p:pic>
        <p:nvPicPr>
          <p:cNvPr id="6" name="Picture 2" descr="https://www.maketechwork.com/images/easyblog_shared/September_2023/09-25-23/businessProblems_616224233_4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3962400"/>
            <a:ext cx="2159000" cy="215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Handle Research RFP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400" dirty="0" smtClean="0"/>
              <a:t>Operational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i="1" dirty="0" smtClean="0">
                <a:solidFill>
                  <a:srgbClr val="C00000"/>
                </a:solidFill>
              </a:rPr>
              <a:t>Competitors' systems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Research papers</a:t>
            </a:r>
            <a:endParaRPr lang="en-US" sz="2000" i="1" dirty="0" smtClean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 smtClean="0"/>
              <a:t>Meeting minutes</a:t>
            </a:r>
          </a:p>
          <a:p>
            <a:pPr lvl="0">
              <a:defRPr/>
            </a:pP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12" descr="https://miro.medium.com/max/2000/1*VJ6kL5o4qHCRNu7NsxH5FQ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905000"/>
            <a:ext cx="306324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Trending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research related to software development</a:t>
            </a:r>
          </a:p>
          <a:p>
            <a:pPr lvl="1"/>
            <a:r>
              <a:rPr lang="en-US" sz="2200" dirty="0" smtClean="0"/>
              <a:t>Trending technologies that competitors are using or are going to be using.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927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Potential Enhancements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Conducting a </a:t>
            </a:r>
            <a:r>
              <a:rPr lang="en-US" sz="2600" i="1" dirty="0" smtClean="0">
                <a:solidFill>
                  <a:srgbClr val="C00000"/>
                </a:solidFill>
              </a:rPr>
              <a:t>research</a:t>
            </a:r>
            <a:r>
              <a:rPr lang="en-US" sz="2600" dirty="0" smtClean="0"/>
              <a:t>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existing systems,</a:t>
            </a:r>
          </a:p>
          <a:p>
            <a:pPr lvl="1"/>
            <a:r>
              <a:rPr lang="en-US" sz="2200" dirty="0" smtClean="0"/>
              <a:t>competitors' systems, and</a:t>
            </a:r>
          </a:p>
          <a:p>
            <a:pPr lvl="1"/>
            <a:r>
              <a:rPr lang="en-US" sz="2200" dirty="0" smtClean="0"/>
              <a:t>trending research results.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764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553200" y="22098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38862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0620" y="378714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48400" y="49530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31572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7620000" y="36144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Prepare Response to Research RFP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dirty="0" smtClean="0"/>
              <a:t>Discovered </a:t>
            </a:r>
            <a:r>
              <a:rPr lang="en-US" sz="2600" i="1" dirty="0" smtClean="0">
                <a:solidFill>
                  <a:srgbClr val="C00000"/>
                </a:solidFill>
              </a:rPr>
              <a:t>potential enhancements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/>
            <a:r>
              <a:rPr lang="en-US" sz="2600" dirty="0" smtClean="0"/>
              <a:t>Cost</a:t>
            </a:r>
          </a:p>
        </p:txBody>
      </p:sp>
      <p:pic>
        <p:nvPicPr>
          <p:cNvPr id="8196" name="Picture 4" descr="https://7hills-software.com/wp-content/uploads/2019/08/Manufacturing_vector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733800"/>
            <a:ext cx="3511709" cy="24796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Research or Product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Savings</a:t>
            </a:r>
          </a:p>
          <a:p>
            <a:pPr lvl="1"/>
            <a:r>
              <a:rPr lang="en-US" sz="2200" dirty="0" smtClean="0"/>
              <a:t>Practical problems based on knowledge, skills and experiences.</a:t>
            </a:r>
          </a:p>
        </p:txBody>
      </p:sp>
      <p:pic>
        <p:nvPicPr>
          <p:cNvPr id="49154" name="Picture 2" descr="https://www.bdc.ca/globalassets/digizuite/10815-7-steps-solve-operational-problem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124200"/>
            <a:ext cx="4572000" cy="2388870"/>
          </a:xfrm>
          <a:prstGeom prst="rect">
            <a:avLst/>
          </a:prstGeom>
          <a:noFill/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3429000"/>
            <a:ext cx="1714500" cy="113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6705600" y="4648200"/>
            <a:ext cx="165327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Stakeholders</a:t>
            </a:r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4424" y="5638800"/>
            <a:ext cx="15536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Experiences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Discover Problems: The Easy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Problems might come from</a:t>
            </a:r>
          </a:p>
        </p:txBody>
      </p:sp>
      <p:pic>
        <p:nvPicPr>
          <p:cNvPr id="44034" name="Picture 2" descr="https://www.swisslife.com/content/internet/com/en/home/ueber-uns/corporate-governance/konzernleitung/_jcr_content/parsys/gridctrl_1433361962__955949640/parsys_grid_ctrl/textimage/image.1582826542956.transform/16_9_3840w/Patrick-Frost-portrait-web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008293"/>
            <a:ext cx="3048000" cy="1714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1135954" y="4989493"/>
            <a:ext cx="3377143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corporate executives, </a:t>
            </a:r>
          </a:p>
          <a:p>
            <a:pPr algn="ctr"/>
            <a:r>
              <a:rPr lang="en-US" sz="2800" dirty="0" smtClean="0">
                <a:latin typeface="+mj-lt"/>
              </a:rPr>
              <a:t>marketing managers</a:t>
            </a:r>
            <a:endParaRPr lang="en-US" sz="28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0600" y="5065693"/>
            <a:ext cx="38100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800" dirty="0" smtClean="0">
                <a:latin typeface="+mj-lt"/>
              </a:rPr>
              <a:t>funding sponsors, or  product visionaries</a:t>
            </a:r>
          </a:p>
        </p:txBody>
      </p:sp>
      <p:pic>
        <p:nvPicPr>
          <p:cNvPr id="44036" name="Picture 4" descr="https://wadecarpenter.infinitaskc.com/wp-content/uploads/2018/05/bigstock-Real-estate-agent-explaining-f-217221823-smaller-3000x150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05400" y="3008293"/>
            <a:ext cx="3200400" cy="1600200"/>
          </a:xfrm>
          <a:prstGeom prst="rect">
            <a:avLst/>
          </a:prstGeom>
          <a:noFill/>
        </p:spPr>
      </p:pic>
      <p:pic>
        <p:nvPicPr>
          <p:cNvPr id="44039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6002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858000" y="16764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Problems: The Hard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Real world scenarios (Practical problems)</a:t>
            </a:r>
          </a:p>
          <a:p>
            <a:pPr lvl="1"/>
            <a:r>
              <a:rPr lang="en-US" sz="2200" dirty="0" smtClean="0"/>
              <a:t>Business workflows, business processes, </a:t>
            </a:r>
            <a:br>
              <a:rPr lang="en-US" sz="2200" dirty="0" smtClean="0"/>
            </a:br>
            <a:r>
              <a:rPr lang="en-US" sz="2200" dirty="0" smtClean="0"/>
              <a:t>domain models, business use cases (a bit of solution).</a:t>
            </a:r>
          </a:p>
          <a:p>
            <a:pPr lvl="0"/>
            <a:r>
              <a:rPr lang="en-US" sz="2600" dirty="0" smtClean="0"/>
              <a:t>Competitors' products</a:t>
            </a:r>
          </a:p>
          <a:p>
            <a:pPr lvl="0"/>
            <a:r>
              <a:rPr lang="en-US" sz="2600" dirty="0" smtClean="0"/>
              <a:t>Research papers.</a:t>
            </a:r>
          </a:p>
        </p:txBody>
      </p:sp>
      <p:pic>
        <p:nvPicPr>
          <p:cNvPr id="6146" name="Picture 2" descr="https://influencermarketinghub.com/wp-content/uploads/2022/07/Competitor-analysis-software-tool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819400"/>
            <a:ext cx="2895600" cy="1516380"/>
          </a:xfrm>
          <a:prstGeom prst="rect">
            <a:avLst/>
          </a:prstGeom>
          <a:noFill/>
        </p:spPr>
      </p:pic>
      <p:pic>
        <p:nvPicPr>
          <p:cNvPr id="5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15200" y="1298448"/>
            <a:ext cx="1399032" cy="1139952"/>
          </a:xfrm>
          <a:prstGeom prst="rect">
            <a:avLst/>
          </a:prstGeom>
          <a:noFill/>
        </p:spPr>
      </p:pic>
      <p:sp>
        <p:nvSpPr>
          <p:cNvPr id="6" name="Oval 5"/>
          <p:cNvSpPr/>
          <p:nvPr/>
        </p:nvSpPr>
        <p:spPr>
          <a:xfrm>
            <a:off x="7239000" y="1831848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44958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22020" y="426720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46101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sponsor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err="1" smtClean="0"/>
              <a:t>Salesforce's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), </a:t>
            </a:r>
            <a:r>
              <a:rPr lang="en-US" sz="2000" dirty="0" err="1" smtClean="0"/>
              <a:t>Dropbox's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smtClean="0"/>
              <a:t>App Store, Google Play, </a:t>
            </a:r>
            <a:r>
              <a:rPr lang="en-US" sz="2000" dirty="0" err="1" smtClean="0"/>
              <a:t>AdSense</a:t>
            </a:r>
            <a:r>
              <a:rPr lang="en-US" sz="2000" dirty="0" smtClean="0"/>
              <a:t>, </a:t>
            </a:r>
            <a:r>
              <a:rPr lang="en-US" sz="2000" dirty="0" err="1" smtClean="0"/>
              <a:t>Spotify's</a:t>
            </a:r>
            <a:r>
              <a:rPr lang="en-US" sz="2000" dirty="0" smtClean="0"/>
              <a:t> Business Model</a:t>
            </a:r>
          </a:p>
          <a:p>
            <a:pPr lvl="1"/>
            <a:r>
              <a:rPr lang="en-US" sz="2000" dirty="0" smtClean="0"/>
              <a:t>Amazon's Business Model (B2C), </a:t>
            </a:r>
            <a:r>
              <a:rPr lang="en-US" sz="2000" dirty="0" err="1" smtClean="0"/>
              <a:t>Uber's</a:t>
            </a:r>
            <a:r>
              <a:rPr lang="en-US" sz="2000" dirty="0" smtClean="0"/>
              <a:t> Business Model (C2C)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competitors</a:t>
            </a:r>
            <a:r>
              <a:rPr lang="en-US" sz="2400" dirty="0" smtClean="0"/>
              <a:t>?</a:t>
            </a:r>
          </a:p>
        </p:txBody>
      </p:sp>
      <p:pic>
        <p:nvPicPr>
          <p:cNvPr id="2050" name="Picture 2" descr="https://assets.entrepreneur.com/content/3x2/2000/20160704114059-shutterstock-390101425.jpeg?width=700&amp;crop=2: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5029200"/>
            <a:ext cx="2222500" cy="1111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Opportunity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495799"/>
          </a:xfrm>
        </p:spPr>
        <p:txBody>
          <a:bodyPr/>
          <a:lstStyle/>
          <a:p>
            <a:r>
              <a:rPr lang="en-US" sz="2400" dirty="0" smtClean="0"/>
              <a:t>Did you know that having health insurance when you can afford is </a:t>
            </a:r>
            <a:r>
              <a:rPr lang="en-US" sz="2400" i="1" dirty="0" smtClean="0">
                <a:solidFill>
                  <a:srgbClr val="C00000"/>
                </a:solidFill>
              </a:rPr>
              <a:t>the law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If you can afford health insurance, but choose not to get it for 2016, you may be required to </a:t>
            </a:r>
            <a:r>
              <a:rPr lang="en-US" sz="2400" i="1" dirty="0" smtClean="0">
                <a:solidFill>
                  <a:srgbClr val="C00000"/>
                </a:solidFill>
              </a:rPr>
              <a:t>pay a fee</a:t>
            </a:r>
            <a:r>
              <a:rPr lang="en-US" sz="2400" dirty="0" smtClean="0"/>
              <a:t> —sometimes called the “penalty,” “fine,” or “individual mandate” — when you file your 2016 federal income taxes.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Welcome to XYZ, the only place to apply for financial assistance to help </a:t>
            </a:r>
            <a:r>
              <a:rPr lang="en-US" sz="2400" i="1" dirty="0" smtClean="0">
                <a:solidFill>
                  <a:srgbClr val="C00000"/>
                </a:solidFill>
              </a:rPr>
              <a:t>reduce your costs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://connectforhealthco.wpengine.netdna-cdn.com/wp-content/uploads/2014/03/Tax-Penalty-Graphic_English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4010024"/>
            <a:ext cx="5715000" cy="1095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Relevance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705600" cy="47244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relevance</a:t>
            </a:r>
            <a:r>
              <a:rPr lang="en-US" sz="2400" dirty="0" smtClean="0"/>
              <a:t> of any design-science research effort is with respect to a constituent community.</a:t>
            </a:r>
          </a:p>
          <a:p>
            <a:r>
              <a:rPr lang="en-US" sz="2400" dirty="0" smtClean="0"/>
              <a:t>For IS researchers, that </a:t>
            </a:r>
            <a:r>
              <a:rPr lang="en-US" sz="2400" i="1" dirty="0" smtClean="0">
                <a:solidFill>
                  <a:srgbClr val="C00000"/>
                </a:solidFill>
              </a:rPr>
              <a:t>constituent community</a:t>
            </a:r>
            <a:r>
              <a:rPr lang="en-US" sz="2400" dirty="0" smtClean="0"/>
              <a:t> is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practitioners</a:t>
            </a:r>
            <a:r>
              <a:rPr lang="en-US" sz="2000" dirty="0" smtClean="0"/>
              <a:t> who plan, manage, design, implement, operate, and evaluate </a:t>
            </a:r>
            <a:r>
              <a:rPr lang="en-US" sz="2000" u="sng" dirty="0" smtClean="0"/>
              <a:t>information systems</a:t>
            </a:r>
            <a:r>
              <a:rPr lang="en-US" sz="2000" dirty="0" smtClean="0"/>
              <a:t> and</a:t>
            </a:r>
          </a:p>
          <a:p>
            <a:pPr lvl="1"/>
            <a:r>
              <a:rPr lang="en-US" sz="2000" u="sng" dirty="0" smtClean="0"/>
              <a:t>those</a:t>
            </a:r>
            <a:r>
              <a:rPr lang="en-US" sz="2000" dirty="0" smtClean="0"/>
              <a:t> who plan, manage, design, implement, operate, and evaluate the </a:t>
            </a:r>
            <a:r>
              <a:rPr lang="en-US" sz="2000" u="sng" dirty="0" smtClean="0"/>
              <a:t>technologies</a:t>
            </a:r>
            <a:r>
              <a:rPr lang="en-US" sz="2000" dirty="0" smtClean="0"/>
              <a:t> that enable their development and implementation.</a:t>
            </a:r>
          </a:p>
          <a:p>
            <a:r>
              <a:rPr lang="en-US" sz="2400" dirty="0" smtClean="0"/>
              <a:t>To be relevant to this community, research </a:t>
            </a:r>
            <a:r>
              <a:rPr lang="en-US" sz="2400" i="1" dirty="0" smtClean="0">
                <a:solidFill>
                  <a:srgbClr val="C00000"/>
                </a:solidFill>
              </a:rPr>
              <a:t>must</a:t>
            </a:r>
            <a:r>
              <a:rPr lang="en-US" sz="2400" dirty="0" smtClean="0"/>
              <a:t> address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problems faced</a:t>
            </a:r>
            <a:r>
              <a:rPr lang="en-US" sz="2000" dirty="0" smtClean="0"/>
              <a:t>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opportunities afforded</a:t>
            </a:r>
            <a:r>
              <a:rPr lang="en-US" sz="2000" dirty="0" smtClean="0"/>
              <a:t> by the interaction of people, organizations, and information technology.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39000" y="2990850"/>
            <a:ext cx="1760220" cy="933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 descr="http://3.bp.blogspot.com/-gc946QIP_uI/U_n4OOkkSmI/AAAAAAAAIuA/X2HJn4u6IO0/s1600/Online_Survey_Icon_or_log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7100" y="4076700"/>
            <a:ext cx="1714500" cy="171450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2800" y="19431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Goals: </a:t>
            </a:r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 do you </a:t>
            </a:r>
            <a:r>
              <a:rPr lang="en-US" sz="2400" u="sng" dirty="0" smtClean="0"/>
              <a:t>want</a:t>
            </a:r>
            <a:r>
              <a:rPr lang="en-US" sz="2400" dirty="0" smtClean="0"/>
              <a:t> to achieve?</a:t>
            </a:r>
          </a:p>
          <a:p>
            <a:r>
              <a:rPr lang="en-US" sz="2400" dirty="0" smtClean="0"/>
              <a:t>[Oxford Dictionary] </a:t>
            </a:r>
            <a:r>
              <a:rPr lang="en-US" sz="2400" i="1" dirty="0" smtClean="0">
                <a:solidFill>
                  <a:srgbClr val="C00000"/>
                </a:solidFill>
              </a:rPr>
              <a:t>Something</a:t>
            </a:r>
            <a:r>
              <a:rPr lang="en-US" sz="2400" dirty="0" smtClean="0"/>
              <a:t> that you </a:t>
            </a:r>
            <a:r>
              <a:rPr lang="en-US" sz="2400" b="1" u="sng" dirty="0" smtClean="0"/>
              <a:t>hope</a:t>
            </a:r>
            <a:r>
              <a:rPr lang="en-US" sz="2400" dirty="0" smtClean="0"/>
              <a:t> to achieve.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project goal</a:t>
            </a:r>
            <a:r>
              <a:rPr lang="en-US" sz="2400" dirty="0" smtClean="0"/>
              <a:t> is the highest-level </a:t>
            </a:r>
            <a:r>
              <a:rPr lang="en-US" sz="2400" u="sng" dirty="0" smtClean="0"/>
              <a:t>requirement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All of the </a:t>
            </a:r>
            <a:r>
              <a:rPr lang="en-US" sz="2400" i="1" dirty="0" smtClean="0">
                <a:solidFill>
                  <a:srgbClr val="C00000"/>
                </a:solidFill>
              </a:rPr>
              <a:t>detailed requirements</a:t>
            </a:r>
            <a:r>
              <a:rPr lang="en-US" sz="2400" dirty="0" smtClean="0"/>
              <a:t> must make a </a:t>
            </a:r>
            <a:r>
              <a:rPr lang="en-US" sz="2400" u="sng" dirty="0" smtClean="0"/>
              <a:t>positive contribution</a:t>
            </a:r>
            <a:r>
              <a:rPr lang="en-US" sz="2400" dirty="0" smtClean="0"/>
              <a:t> toward reaching that goal.</a:t>
            </a:r>
          </a:p>
          <a:p>
            <a:endParaRPr lang="en-US" sz="2400" dirty="0"/>
          </a:p>
        </p:txBody>
      </p:sp>
      <p:pic>
        <p:nvPicPr>
          <p:cNvPr id="4" name="Picture 3" descr="https://www.cusi.biz/wp-content/uploads/2016/01/figures_with_dart_800_wht_9407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038600"/>
            <a:ext cx="3048000" cy="2286000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00800" y="533400"/>
            <a:ext cx="2026846" cy="13505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 Settings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5105400" cy="4419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Purpose</a:t>
            </a:r>
            <a:r>
              <a:rPr lang="en-US" sz="2400" dirty="0" smtClean="0"/>
              <a:t>: To accurately forecast road freezing times and schedule de-icing treatment.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Advantage</a:t>
            </a:r>
            <a:r>
              <a:rPr lang="en-US" sz="2400" dirty="0" smtClean="0"/>
              <a:t>: To reduce road accidents by eliminating icy road conditions.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(Optional) Measurement</a:t>
            </a:r>
            <a:r>
              <a:rPr lang="en-US" sz="2400" dirty="0" smtClean="0"/>
              <a:t>: Accidents attributed to ice shall be no more than 15 percent of the total number of accidents during winter.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Vague purpose</a:t>
            </a:r>
            <a:r>
              <a:rPr lang="en-US" sz="2400" dirty="0" smtClean="0"/>
              <a:t>: To improve the way we do business.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3000375"/>
            <a:ext cx="3048000" cy="225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990600"/>
            <a:ext cx="16002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Goals (aka Objectives)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609850"/>
            <a:ext cx="26289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3352800" y="2609850"/>
            <a:ext cx="5257800" cy="341632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rgbClr val="FFC000"/>
                </a:solidFill>
                <a:latin typeface="+mj-lt"/>
              </a:rPr>
              <a:t>What? Why? Who? Where? Which?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How much? How many? How will I know when it is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3"/>
                </a:solidFill>
                <a:latin typeface="+mj-lt"/>
              </a:rPr>
              <a:t>Which steps? How can the goal be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5"/>
                </a:solidFill>
                <a:latin typeface="+mj-lt"/>
              </a:rPr>
              <a:t>Does this seem worthwhile?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+mj-lt"/>
              </a:rPr>
              <a:t>When? What can I do 6 months from now? What can I do 6 weeks from now? What can I do today?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1554718"/>
            <a:ext cx="822960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 SMART goal</a:t>
            </a:r>
            <a:r>
              <a:rPr lang="en-US" sz="2400" dirty="0" smtClean="0">
                <a:latin typeface="+mj-lt"/>
              </a:rPr>
              <a:t> is a </a:t>
            </a:r>
            <a:r>
              <a:rPr lang="en-US" sz="2400" u="sng" dirty="0" smtClean="0">
                <a:latin typeface="+mj-lt"/>
              </a:rPr>
              <a:t>well-defined</a:t>
            </a:r>
            <a:r>
              <a:rPr lang="en-US" sz="2400" dirty="0" smtClean="0">
                <a:latin typeface="+mj-lt"/>
              </a:rPr>
              <a:t> target that gives you clarity, direction, motivation, and focus.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Business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For a client's </a:t>
            </a:r>
            <a:r>
              <a:rPr lang="en-US" sz="2400" i="1" dirty="0" smtClean="0">
                <a:solidFill>
                  <a:srgbClr val="C00000"/>
                </a:solidFill>
              </a:rPr>
              <a:t>corporate information system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problem</a:t>
            </a:r>
            <a:r>
              <a:rPr lang="en-US" sz="2000" dirty="0" smtClean="0"/>
              <a:t> that is </a:t>
            </a:r>
            <a:r>
              <a:rPr lang="en-US" sz="2000" u="sng" dirty="0" smtClean="0"/>
              <a:t>being solved</a:t>
            </a:r>
            <a:r>
              <a:rPr lang="en-US" sz="2000" dirty="0" smtClean="0"/>
              <a:t> or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process being improved</a:t>
            </a:r>
            <a:r>
              <a:rPr lang="en-US" sz="2000" dirty="0" smtClean="0"/>
              <a:t>, as well as the environment in which the system will be used.</a:t>
            </a:r>
          </a:p>
          <a:p>
            <a:r>
              <a:rPr lang="en-US" sz="2400" dirty="0" smtClean="0"/>
              <a:t>For a </a:t>
            </a:r>
            <a:r>
              <a:rPr lang="en-US" sz="2400" i="1" dirty="0" smtClean="0">
                <a:solidFill>
                  <a:srgbClr val="C00000"/>
                </a:solidFill>
              </a:rPr>
              <a:t>commercial product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opportunity</a:t>
            </a:r>
            <a:r>
              <a:rPr lang="en-US" sz="2000" dirty="0" smtClean="0"/>
              <a:t> that exists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market</a:t>
            </a:r>
            <a:r>
              <a:rPr lang="en-US" sz="2000" dirty="0" smtClean="0"/>
              <a:t> in which the product will be competing.</a:t>
            </a:r>
          </a:p>
          <a:p>
            <a:r>
              <a:rPr lang="en-US" sz="2400" dirty="0" smtClean="0"/>
              <a:t>This section could</a:t>
            </a:r>
          </a:p>
          <a:p>
            <a:pPr lvl="1"/>
            <a:r>
              <a:rPr lang="en-US" sz="2000" dirty="0" smtClean="0"/>
              <a:t>include a </a:t>
            </a:r>
            <a:r>
              <a:rPr lang="en-US" sz="2000" i="1" dirty="0" smtClean="0">
                <a:solidFill>
                  <a:srgbClr val="C00000"/>
                </a:solidFill>
              </a:rPr>
              <a:t>comparative evaluation</a:t>
            </a:r>
            <a:r>
              <a:rPr lang="en-US" sz="2000" dirty="0" smtClean="0"/>
              <a:t> of </a:t>
            </a:r>
            <a:r>
              <a:rPr lang="en-US" sz="2000" u="sng" dirty="0" smtClean="0"/>
              <a:t>existing products</a:t>
            </a:r>
            <a:r>
              <a:rPr lang="en-US" sz="2000" dirty="0" smtClean="0"/>
              <a:t>, indicating why the proposed product is attractive and the advantages it provides.</a:t>
            </a:r>
          </a:p>
          <a:p>
            <a:pPr lvl="1"/>
            <a:r>
              <a:rPr lang="en-US" sz="2000" dirty="0" smtClean="0"/>
              <a:t>describe the problems that </a:t>
            </a:r>
            <a:r>
              <a:rPr lang="en-US" sz="2000" i="1" dirty="0" smtClean="0">
                <a:solidFill>
                  <a:srgbClr val="C00000"/>
                </a:solidFill>
              </a:rPr>
              <a:t>cannot currently be solved</a:t>
            </a:r>
            <a:r>
              <a:rPr lang="en-US" sz="2000" dirty="0" smtClean="0"/>
              <a:t> without the envisioned solution.</a:t>
            </a:r>
            <a:endParaRPr lang="en-US" sz="2000" dirty="0"/>
          </a:p>
        </p:txBody>
      </p:sp>
      <p:pic>
        <p:nvPicPr>
          <p:cNvPr id="30722" name="Picture 2" descr="Related 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2971800"/>
            <a:ext cx="2057400" cy="12858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001000" cy="4800600"/>
          </a:xfrm>
        </p:spPr>
        <p:txBody>
          <a:bodyPr/>
          <a:lstStyle/>
          <a:p>
            <a:r>
              <a:rPr lang="en-US" sz="2400" dirty="0" smtClean="0"/>
              <a:t>Reduce </a:t>
            </a:r>
            <a:r>
              <a:rPr lang="en-US" sz="2400" i="1" dirty="0" smtClean="0">
                <a:solidFill>
                  <a:srgbClr val="C00000"/>
                </a:solidFill>
              </a:rPr>
              <a:t>costs and time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customer service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communication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decision making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or </a:t>
            </a:r>
            <a:r>
              <a:rPr lang="en-US" sz="2400" i="1" dirty="0" smtClean="0">
                <a:solidFill>
                  <a:srgbClr val="C00000"/>
                </a:solidFill>
              </a:rPr>
              <a:t>strengthen relationships</a:t>
            </a:r>
            <a:r>
              <a:rPr lang="en-US" sz="2400" dirty="0" smtClean="0"/>
              <a:t> with suppliers, customers, or partners.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processes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reporting</a:t>
            </a:r>
            <a:r>
              <a:rPr lang="en-US" sz="2400" dirty="0" smtClean="0"/>
              <a:t> capabilities.</a:t>
            </a:r>
          </a:p>
          <a:p>
            <a:r>
              <a:rPr lang="en-US" sz="2400" dirty="0" smtClean="0"/>
              <a:t>Support new </a:t>
            </a:r>
            <a:r>
              <a:rPr lang="en-US" sz="2400" i="1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requirements.</a:t>
            </a:r>
          </a:p>
          <a:p>
            <a:r>
              <a:rPr lang="en-US" sz="2400" dirty="0" smtClean="0"/>
              <a:t>Bring more </a:t>
            </a:r>
            <a:r>
              <a:rPr lang="en-US" sz="2400" i="1" dirty="0" smtClean="0">
                <a:solidFill>
                  <a:srgbClr val="C00000"/>
                </a:solidFill>
              </a:rPr>
              <a:t>pleasure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a </a:t>
            </a:r>
            <a:r>
              <a:rPr lang="en-US" sz="2400" i="1" dirty="0" smtClean="0">
                <a:solidFill>
                  <a:srgbClr val="C00000"/>
                </a:solidFill>
              </a:rPr>
              <a:t>new</a:t>
            </a:r>
            <a:r>
              <a:rPr lang="en-US" sz="2400" dirty="0" smtClean="0"/>
              <a:t> product or service. </a:t>
            </a:r>
            <a:r>
              <a:rPr lang="en-US" sz="2400" u="sng" dirty="0" smtClean="0"/>
              <a:t>Is this product valuable</a:t>
            </a:r>
            <a:r>
              <a:rPr lang="en-US" sz="2400" dirty="0" smtClean="0"/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6019800" y="4800600"/>
            <a:ext cx="265611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i="1" dirty="0" smtClean="0">
                <a:solidFill>
                  <a:srgbClr val="C00000"/>
                </a:solidFill>
                <a:latin typeface="+mj-lt"/>
              </a:rPr>
              <a:t>Be measurable</a:t>
            </a:r>
            <a:endParaRPr lang="en-US" sz="3200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 descr="http://www.aqila-bpo.com/custom/business-increase-revenu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2143124"/>
            <a:ext cx="3333750" cy="25050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Customer Discovery for a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Who</a:t>
            </a:r>
            <a:r>
              <a:rPr lang="en-US" sz="2400" dirty="0" smtClean="0"/>
              <a:t>? – Friends, former colleagues, investors, employees, students, </a:t>
            </a:r>
            <a:r>
              <a:rPr lang="en-US" sz="2400" u="sng" dirty="0" smtClean="0"/>
              <a:t>existing customers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Where</a:t>
            </a:r>
            <a:r>
              <a:rPr lang="en-US" sz="2400" dirty="0" smtClean="0"/>
              <a:t>? – Universities, hospitals, streets, media, conferences, trade shows.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? – Personal information, pains/needs/happiness, reasons, comments.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? – Survey, demo, trial version.</a:t>
            </a:r>
          </a:p>
          <a:p>
            <a:endParaRPr lang="en-US" sz="2400" dirty="0"/>
          </a:p>
        </p:txBody>
      </p:sp>
      <p:pic>
        <p:nvPicPr>
          <p:cNvPr id="1026" name="Picture 2" descr="https://infolink-exp.com/wp-content/uploads/2018/09/cover-845x32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669155"/>
            <a:ext cx="3756025" cy="14268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737360"/>
          <a:ext cx="844442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0476"/>
                <a:gridCol w="61639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Who wants 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What they want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Individuals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wealth, power, reputation, personal enjoyment,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 knowledge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Organizations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revenue, maximize profits, grow the business,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become a market leader, improve stability, enter a new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market, beat a competitor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Employees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Interesting and meaningful work, increase knowledge, help users, become recognized as an expert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Team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Improve specific quality attributes, reduce costs, add new features, implement a standard, improve time-to-market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Nations, Governments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Security, civic welfare, social responsibility, legal compliance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Objectives Model [5]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7563" y="1679575"/>
            <a:ext cx="7508875" cy="426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Oval 3"/>
          <p:cNvSpPr/>
          <p:nvPr/>
        </p:nvSpPr>
        <p:spPr>
          <a:xfrm>
            <a:off x="6324600" y="2743200"/>
            <a:ext cx="2362200" cy="2438400"/>
          </a:xfrm>
          <a:prstGeom prst="ellipse">
            <a:avLst/>
          </a:prstGeom>
          <a:solidFill>
            <a:schemeClr val="accent2">
              <a:alpha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934200" y="2438400"/>
            <a:ext cx="1143000" cy="53340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High-Level Features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54474" y="2286000"/>
            <a:ext cx="4132326" cy="34781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 descr="https://blog.strategiccoach.com/wp-content/uploads/2020/01/Achieving-Goals_Multiplier-Mindset-B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590800"/>
            <a:ext cx="3886200" cy="1714500"/>
          </a:xfrm>
          <a:prstGeom prst="rect">
            <a:avLst/>
          </a:prstGeom>
          <a:noFill/>
        </p:spPr>
      </p:pic>
      <p:sp>
        <p:nvSpPr>
          <p:cNvPr id="6" name="Up Arrow 5"/>
          <p:cNvSpPr/>
          <p:nvPr/>
        </p:nvSpPr>
        <p:spPr>
          <a:xfrm>
            <a:off x="228600" y="4038600"/>
            <a:ext cx="3352800" cy="213360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HIGH-LEVEL</a:t>
            </a:r>
          </a:p>
          <a:p>
            <a:pPr algn="ctr"/>
            <a:r>
              <a:rPr lang="en-US" sz="2200" dirty="0" smtClean="0"/>
              <a:t>FEATURES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52600" y="1524000"/>
            <a:ext cx="3429000" cy="121920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STAKEHOLDERS' GOALS</a:t>
            </a:r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533400"/>
            <a:ext cx="1752600" cy="329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Deliverables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81000" y="2286000"/>
          <a:ext cx="8256652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2682"/>
                <a:gridCol w="1270318"/>
                <a:gridCol w="1730629"/>
                <a:gridCol w="1323023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Item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Assignee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Approved By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Due Date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Requirement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Test specification, test data and test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Design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Administrative guide,</a:t>
                      </a:r>
                      <a:r>
                        <a:rPr lang="en-US" sz="2000" baseline="0" dirty="0" smtClean="0"/>
                        <a:t> u</a:t>
                      </a:r>
                      <a:r>
                        <a:rPr lang="en-US" sz="2000" dirty="0" smtClean="0"/>
                        <a:t>ser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Acceptance testing, production</a:t>
                      </a:r>
                      <a:r>
                        <a:rPr lang="en-US" sz="2000" baseline="0" dirty="0" smtClean="0"/>
                        <a:t> environment, data </a:t>
                      </a:r>
                      <a:r>
                        <a:rPr lang="en-US" sz="2000" baseline="0" smtClean="0"/>
                        <a:t>migration utility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Source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Development plan (schedule/preliminary release plan</a:t>
                      </a:r>
                      <a:r>
                        <a:rPr lang="en-US" sz="2000" baseline="0" dirty="0" smtClean="0"/>
                        <a:t>)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Software and Services</a:t>
            </a:r>
            <a:endParaRPr lang="en-US" dirty="0"/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706880"/>
            <a:ext cx="5414010" cy="4465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Define Expected Products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Build a procurement list of products (artifacts) and services.</a:t>
            </a:r>
          </a:p>
          <a:p>
            <a:r>
              <a:rPr lang="en-US" sz="2400" dirty="0" smtClean="0"/>
              <a:t>Also include a business level feature list.</a:t>
            </a:r>
            <a:endParaRPr lang="en-US" sz="2400" dirty="0"/>
          </a:p>
        </p:txBody>
      </p:sp>
      <p:pic>
        <p:nvPicPr>
          <p:cNvPr id="59394" name="Picture 2" descr="https://vilas.edu.vn/wp-content/uploads/2017/11/seo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3124200"/>
            <a:ext cx="5029200" cy="2514600"/>
          </a:xfrm>
          <a:prstGeom prst="rect">
            <a:avLst/>
          </a:prstGeom>
          <a:noFill/>
        </p:spPr>
      </p:pic>
      <p:pic>
        <p:nvPicPr>
          <p:cNvPr id="36866" name="Picture 2" descr="Top 10 Contract Management Software for Managing Your Workforce and Clien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10100" y="3124200"/>
            <a:ext cx="4000500" cy="2514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the Scope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858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you are interested in is the scope of the work for which the product is to </a:t>
            </a:r>
            <a:r>
              <a:rPr lang="en-US" sz="2400" u="sng" dirty="0" smtClean="0"/>
              <a:t>be used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Work</a:t>
            </a:r>
            <a:r>
              <a:rPr lang="en-US" sz="2400" dirty="0" smtClean="0"/>
              <a:t> here means the </a:t>
            </a:r>
            <a:r>
              <a:rPr lang="en-US" sz="2400" u="sng" dirty="0" smtClean="0"/>
              <a:t>business activity</a:t>
            </a:r>
            <a:r>
              <a:rPr lang="en-US" sz="2400" dirty="0" smtClean="0"/>
              <a:t> for which the user needs the product.</a:t>
            </a:r>
          </a:p>
          <a:p>
            <a:r>
              <a:rPr lang="en-US" sz="2400" dirty="0" smtClean="0"/>
              <a:t>Setting </a:t>
            </a:r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of the work means you determine </a:t>
            </a:r>
            <a:r>
              <a:rPr lang="en-US" sz="2400" u="sng" dirty="0" smtClean="0"/>
              <a:t>what work</a:t>
            </a:r>
            <a:r>
              <a:rPr lang="en-US" sz="2400" dirty="0" smtClean="0"/>
              <a:t> you are about to study, what other </a:t>
            </a:r>
            <a:r>
              <a:rPr lang="en-US" sz="2400" u="sng" dirty="0" smtClean="0"/>
              <a:t>pieces of work surround it</a:t>
            </a:r>
            <a:r>
              <a:rPr lang="en-US" sz="2400" dirty="0" smtClean="0"/>
              <a:t>, and what </a:t>
            </a:r>
            <a:r>
              <a:rPr lang="en-US" sz="2400" u="sng" dirty="0" smtClean="0"/>
              <a:t>flows of information</a:t>
            </a:r>
            <a:r>
              <a:rPr lang="en-US" sz="2400" dirty="0" smtClean="0"/>
              <a:t> make up the connections.</a:t>
            </a:r>
          </a:p>
          <a:p>
            <a:r>
              <a:rPr lang="en-US" sz="2400" dirty="0" smtClean="0"/>
              <a:t>When you set the scope, you are deciding </a:t>
            </a:r>
            <a:r>
              <a:rPr lang="en-US" sz="2400" i="1" dirty="0" smtClean="0">
                <a:solidFill>
                  <a:srgbClr val="C00000"/>
                </a:solidFill>
              </a:rPr>
              <a:t>how much</a:t>
            </a:r>
            <a:r>
              <a:rPr lang="en-US" sz="2400" dirty="0" smtClean="0"/>
              <a:t> of the work you will study and what you will not study. </a:t>
            </a:r>
            <a:r>
              <a:rPr lang="en-US" sz="2400" b="1" dirty="0" smtClean="0"/>
              <a:t>But how? – See context diagram &amp; ecosystem map!</a:t>
            </a:r>
            <a:endParaRPr lang="en-US" sz="2400" b="1" dirty="0"/>
          </a:p>
        </p:txBody>
      </p:sp>
      <p:pic>
        <p:nvPicPr>
          <p:cNvPr id="1026" name="Picture 2" descr="http://bestriflescopereview.net/wp-content/uploads/2013/09/bushnell_mildot_-150x15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0450" y="1009650"/>
            <a:ext cx="1428750" cy="1428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Diagram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0"/>
            <a:ext cx="3733800" cy="4876800"/>
          </a:xfrm>
        </p:spPr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work context diagram</a:t>
            </a:r>
            <a:r>
              <a:rPr lang="en-US" sz="2000" dirty="0" smtClean="0"/>
              <a:t> identifies the scope of the work that we intend to study.</a:t>
            </a:r>
          </a:p>
          <a:p>
            <a:r>
              <a:rPr lang="en-US" sz="2000" dirty="0" smtClean="0"/>
              <a:t>It shows the work as a </a:t>
            </a:r>
            <a:r>
              <a:rPr lang="en-US" sz="2000" i="1" dirty="0" smtClean="0">
                <a:solidFill>
                  <a:srgbClr val="C00000"/>
                </a:solidFill>
              </a:rPr>
              <a:t>single</a:t>
            </a:r>
            <a:r>
              <a:rPr lang="en-US" sz="2000" dirty="0" smtClean="0"/>
              <a:t>, as-yet uninvestigated process, surrounded by the adjacent systems. </a:t>
            </a:r>
          </a:p>
          <a:p>
            <a:r>
              <a:rPr lang="en-US" sz="2000" dirty="0" smtClean="0"/>
              <a:t>The work context shows where the </a:t>
            </a:r>
            <a:r>
              <a:rPr lang="en-US" sz="2000" i="1" dirty="0" smtClean="0">
                <a:solidFill>
                  <a:srgbClr val="C00000"/>
                </a:solidFill>
              </a:rPr>
              <a:t>responsibilities of the work</a:t>
            </a:r>
            <a:r>
              <a:rPr lang="en-US" sz="2000" dirty="0" smtClean="0"/>
              <a:t> and the responsibilities of the adjacent systems start and end.</a:t>
            </a:r>
          </a:p>
          <a:p>
            <a:r>
              <a:rPr lang="en-US" sz="2000" dirty="0" smtClean="0"/>
              <a:t>First understand the work, then decide </a:t>
            </a:r>
            <a:r>
              <a:rPr lang="en-US" sz="2000" i="1" dirty="0" smtClean="0">
                <a:solidFill>
                  <a:srgbClr val="C00000"/>
                </a:solidFill>
              </a:rPr>
              <a:t>which product</a:t>
            </a:r>
            <a:r>
              <a:rPr lang="en-US" sz="2000" dirty="0" smtClean="0"/>
              <a:t> best </a:t>
            </a:r>
            <a:r>
              <a:rPr lang="en-US" sz="2000" u="sng" dirty="0" smtClean="0"/>
              <a:t>supports that work</a:t>
            </a:r>
            <a:r>
              <a:rPr lang="en-US" sz="2000" dirty="0" smtClean="0"/>
              <a:t>.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1295400"/>
            <a:ext cx="4762500" cy="521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Ecosystem Map [1]</a:t>
            </a:r>
            <a:endParaRPr lang="en-US" dirty="0"/>
          </a:p>
        </p:txBody>
      </p:sp>
      <p:pic>
        <p:nvPicPr>
          <p:cNvPr id="7270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697980" cy="4169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Create an Evaluator Pitch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81500" y="2057400"/>
            <a:ext cx="4000500" cy="318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2" name="Picture 2" descr="https://medicine-iu-edu.azureedge.net/-/media/blogs/2017/elevatorpitch-e1443154970918.jpg?rev=cf2bb6eb881c4fc590872fc0d19e7aa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209800"/>
            <a:ext cx="34290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600200"/>
            <a:ext cx="6905625" cy="456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52600"/>
            <a:ext cx="5867400" cy="4267200"/>
          </a:xfrm>
        </p:spPr>
        <p:txBody>
          <a:bodyPr/>
          <a:lstStyle/>
          <a:p>
            <a:r>
              <a:rPr lang="en-US" sz="1800" dirty="0" smtClean="0"/>
              <a:t>The market/target audience (the </a:t>
            </a:r>
            <a:r>
              <a:rPr lang="en-US" sz="1800" i="1" dirty="0" smtClean="0">
                <a:solidFill>
                  <a:srgbClr val="C00000"/>
                </a:solidFill>
              </a:rPr>
              <a:t>sponsors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customers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users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stakeholders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budget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timing</a:t>
            </a:r>
            <a:r>
              <a:rPr lang="en-US" sz="1800" dirty="0" smtClean="0"/>
              <a:t>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pain points</a:t>
            </a:r>
            <a:r>
              <a:rPr lang="en-US" sz="1800" dirty="0" smtClean="0"/>
              <a:t>/problems/needs.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solution</a:t>
            </a:r>
            <a:r>
              <a:rPr lang="en-US" sz="1800" dirty="0" smtClean="0"/>
              <a:t> (The </a:t>
            </a:r>
            <a:r>
              <a:rPr lang="en-US" sz="1800" u="sng" dirty="0" smtClean="0"/>
              <a:t>core</a:t>
            </a:r>
            <a:r>
              <a:rPr lang="en-US" sz="1800" dirty="0" smtClean="0"/>
              <a:t> </a:t>
            </a:r>
            <a:r>
              <a:rPr lang="en-US" sz="1800" i="1" dirty="0" smtClean="0">
                <a:solidFill>
                  <a:srgbClr val="C00000"/>
                </a:solidFill>
              </a:rPr>
              <a:t>business use case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competitors</a:t>
            </a:r>
            <a:r>
              <a:rPr lang="en-US" sz="1800" dirty="0" smtClean="0"/>
              <a:t>/weakness/differentiators.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risks</a:t>
            </a:r>
            <a:r>
              <a:rPr lang="en-US" sz="1800" dirty="0" smtClean="0"/>
              <a:t>/strengths/opportunities/grand vision.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business goals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reasons</a:t>
            </a:r>
            <a:r>
              <a:rPr lang="en-US" sz="1800" b="1" dirty="0" smtClean="0"/>
              <a:t> </a:t>
            </a:r>
            <a:r>
              <a:rPr lang="en-US" sz="1800" dirty="0" smtClean="0"/>
              <a:t>to solve the problems (the predicted </a:t>
            </a:r>
            <a:r>
              <a:rPr lang="en-US" sz="1800" i="1" dirty="0" smtClean="0">
                <a:solidFill>
                  <a:srgbClr val="C00000"/>
                </a:solidFill>
              </a:rPr>
              <a:t>benefits</a:t>
            </a:r>
            <a:r>
              <a:rPr lang="en-US" sz="1800" dirty="0" smtClean="0"/>
              <a:t>, </a:t>
            </a:r>
            <a:r>
              <a:rPr lang="en-US" sz="1800" i="1" dirty="0" smtClean="0">
                <a:solidFill>
                  <a:srgbClr val="C00000"/>
                </a:solidFill>
              </a:rPr>
              <a:t>revenue</a:t>
            </a:r>
            <a:r>
              <a:rPr lang="en-US" sz="1800" dirty="0" smtClean="0"/>
              <a:t> and </a:t>
            </a:r>
            <a:r>
              <a:rPr lang="en-US" sz="1800" i="1" dirty="0" smtClean="0">
                <a:solidFill>
                  <a:srgbClr val="C00000"/>
                </a:solidFill>
              </a:rPr>
              <a:t>incomes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For a commercial </a:t>
            </a:r>
            <a:r>
              <a:rPr lang="en-US" sz="1800" u="sng" dirty="0" smtClean="0"/>
              <a:t>product</a:t>
            </a:r>
            <a:r>
              <a:rPr lang="en-US" sz="1800" dirty="0" smtClean="0"/>
              <a:t>: The customer discovery report.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high-level features, </a:t>
            </a:r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expected artifacts.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context diagram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elevator pitch</a:t>
            </a:r>
            <a:r>
              <a:rPr lang="en-US" sz="1800" dirty="0" smtClean="0"/>
              <a:t>.</a:t>
            </a:r>
            <a:endParaRPr lang="en-US" sz="1800" i="1" dirty="0" smtClean="0">
              <a:solidFill>
                <a:srgbClr val="C00000"/>
              </a:solidFill>
            </a:endParaRPr>
          </a:p>
        </p:txBody>
      </p:sp>
      <p:pic>
        <p:nvPicPr>
          <p:cNvPr id="1026" name="Picture 2" descr="http://www.chest-project.eu/wp-content/themes/chest/images/lam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3599120"/>
            <a:ext cx="2590800" cy="280168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1356360"/>
            <a:ext cx="1447800" cy="1996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447800"/>
            <a:ext cx="36861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57400" y="31242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3"/>
              </a:rPr>
              <a:t>http://office.microsoft.com/en-us/</a:t>
            </a:r>
            <a:endParaRPr lang="en-US" sz="2400" dirty="0" smtClean="0">
              <a:latin typeface="+mj-lt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038600"/>
            <a:ext cx="5610225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1828800" y="5638800"/>
            <a:ext cx="6019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5"/>
              </a:rPr>
              <a:t>https://www.wps.com/wps-office-personal</a:t>
            </a:r>
            <a:endParaRPr lang="en-US" sz="2400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12280</TotalTime>
  <Words>2157</Words>
  <Application>Microsoft Office PowerPoint</Application>
  <PresentationFormat>On-screen Show (4:3)</PresentationFormat>
  <Paragraphs>311</Paragraphs>
  <Slides>68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69" baseType="lpstr">
      <vt:lpstr>Office Theme</vt:lpstr>
      <vt:lpstr>Business Requirements</vt:lpstr>
      <vt:lpstr>Objectives</vt:lpstr>
      <vt:lpstr>Contents</vt:lpstr>
      <vt:lpstr>References</vt:lpstr>
      <vt:lpstr>Business Requirements [1]</vt:lpstr>
      <vt:lpstr>Slide 6</vt:lpstr>
      <vt:lpstr>1. Identify Sponsor</vt:lpstr>
      <vt:lpstr>2. Identify Budget</vt:lpstr>
      <vt:lpstr>Slide 9</vt:lpstr>
      <vt:lpstr>1. Capture Initial Artifacts</vt:lpstr>
      <vt:lpstr>2. Identify Stakeholders [3]</vt:lpstr>
      <vt:lpstr>3. Identify Stakeholders [4]</vt:lpstr>
      <vt:lpstr>Example</vt:lpstr>
      <vt:lpstr>4. Create Stakeholder Map</vt:lpstr>
      <vt:lpstr>Domains of Interest [3]</vt:lpstr>
      <vt:lpstr>5. Define Terminologies (Terms)</vt:lpstr>
      <vt:lpstr>6. Analyze Terminologies (Terms)</vt:lpstr>
      <vt:lpstr>Slide 18</vt:lpstr>
      <vt:lpstr>Problem Definition [2]</vt:lpstr>
      <vt:lpstr>Slide 20</vt:lpstr>
      <vt:lpstr>1. Document Operational Problems</vt:lpstr>
      <vt:lpstr>2. Handle RFP with Concrete Problems</vt:lpstr>
      <vt:lpstr>3. Prepare Response to RFP with Concrete Problems</vt:lpstr>
      <vt:lpstr>Slide 24</vt:lpstr>
      <vt:lpstr>1. Handle RFP w/o Concrete Problems</vt:lpstr>
      <vt:lpstr>2. Identify Operational Problems</vt:lpstr>
      <vt:lpstr>3. Discover Problems Leading to New System Development</vt:lpstr>
      <vt:lpstr>4. Discover Problems Leading to Existing System Enhancements</vt:lpstr>
      <vt:lpstr>5. Prepare Response to RFP w/o Concrete Problems</vt:lpstr>
      <vt:lpstr>Slide 30</vt:lpstr>
      <vt:lpstr>1. Handle Research RFP</vt:lpstr>
      <vt:lpstr>2. Identify Trending Technologies</vt:lpstr>
      <vt:lpstr>3. Discover Potential Enhancements</vt:lpstr>
      <vt:lpstr>4. Prepare Response to Research RFP</vt:lpstr>
      <vt:lpstr>Slide 35</vt:lpstr>
      <vt:lpstr>1. Identify Research or Product Opportunities</vt:lpstr>
      <vt:lpstr>2. Discover Problems: The Easy Way</vt:lpstr>
      <vt:lpstr>3. Discover Problems: The Hard Way</vt:lpstr>
      <vt:lpstr>4. Review Opportunities</vt:lpstr>
      <vt:lpstr>Example Opportunity</vt:lpstr>
      <vt:lpstr>Problem Relevance</vt:lpstr>
      <vt:lpstr>Slide 42</vt:lpstr>
      <vt:lpstr>Goals</vt:lpstr>
      <vt:lpstr>Goal Settings</vt:lpstr>
      <vt:lpstr>SMART Goals (aka Objectives)</vt:lpstr>
      <vt:lpstr>1. Identify Business Goals</vt:lpstr>
      <vt:lpstr>Common Business Goals [3]</vt:lpstr>
      <vt:lpstr>Customer Discovery for a Product</vt:lpstr>
      <vt:lpstr>Common Business Goals</vt:lpstr>
      <vt:lpstr>Slide 50</vt:lpstr>
      <vt:lpstr>Business Objectives Model [5]</vt:lpstr>
      <vt:lpstr>2. Identify High-Level Features</vt:lpstr>
      <vt:lpstr>Slide 53</vt:lpstr>
      <vt:lpstr>Deliverables</vt:lpstr>
      <vt:lpstr>Example Software and Services</vt:lpstr>
      <vt:lpstr>3. Define Expected Products</vt:lpstr>
      <vt:lpstr>Slide 57</vt:lpstr>
      <vt:lpstr>4. Set the Scope [3]</vt:lpstr>
      <vt:lpstr>Context Diagram</vt:lpstr>
      <vt:lpstr>Ecosystem Map [1]</vt:lpstr>
      <vt:lpstr>Slide 61</vt:lpstr>
      <vt:lpstr>5. Create an Evaluator Pitch</vt:lpstr>
      <vt:lpstr>Example</vt:lpstr>
      <vt:lpstr>Slide 64</vt:lpstr>
      <vt:lpstr>6. Create Project Proposal</vt:lpstr>
      <vt:lpstr>Slide 66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4969</cp:revision>
  <dcterms:created xsi:type="dcterms:W3CDTF">2007-10-06T08:25:13Z</dcterms:created>
  <dcterms:modified xsi:type="dcterms:W3CDTF">2026-07-10T18:57:14Z</dcterms:modified>
</cp:coreProperties>
</file>