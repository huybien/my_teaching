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7"/>
  </p:notesMasterIdLst>
  <p:sldIdLst>
    <p:sldId id="256" r:id="rId2"/>
    <p:sldId id="394" r:id="rId3"/>
    <p:sldId id="431" r:id="rId4"/>
    <p:sldId id="385" r:id="rId5"/>
    <p:sldId id="432" r:id="rId6"/>
    <p:sldId id="438" r:id="rId7"/>
    <p:sldId id="435" r:id="rId8"/>
    <p:sldId id="436" r:id="rId9"/>
    <p:sldId id="439" r:id="rId10"/>
    <p:sldId id="415" r:id="rId11"/>
    <p:sldId id="416" r:id="rId12"/>
    <p:sldId id="440" r:id="rId13"/>
    <p:sldId id="417" r:id="rId14"/>
    <p:sldId id="426" r:id="rId15"/>
    <p:sldId id="424" r:id="rId16"/>
    <p:sldId id="427" r:id="rId17"/>
    <p:sldId id="404" r:id="rId18"/>
    <p:sldId id="430" r:id="rId19"/>
    <p:sldId id="419" r:id="rId20"/>
    <p:sldId id="406" r:id="rId21"/>
    <p:sldId id="407" r:id="rId22"/>
    <p:sldId id="363" r:id="rId23"/>
    <p:sldId id="358" r:id="rId24"/>
    <p:sldId id="355" r:id="rId25"/>
    <p:sldId id="343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94667" autoAdjust="0"/>
  </p:normalViewPr>
  <p:slideViewPr>
    <p:cSldViewPr>
      <p:cViewPr>
        <p:scale>
          <a:sx n="60" d="100"/>
          <a:sy n="60" d="100"/>
        </p:scale>
        <p:origin x="-1250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12/22/2019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err="1" smtClean="0"/>
              <a:t>Giới</a:t>
            </a:r>
            <a:r>
              <a:rPr lang="en-US" sz="5400" dirty="0" smtClean="0"/>
              <a:t> </a:t>
            </a:r>
            <a:r>
              <a:rPr lang="en-US" sz="5400" dirty="0" err="1" smtClean="0"/>
              <a:t>thiệu</a:t>
            </a:r>
            <a:r>
              <a:rPr lang="en-US" sz="5400" dirty="0" smtClean="0"/>
              <a:t> </a:t>
            </a:r>
            <a:r>
              <a:rPr lang="en-US" sz="5400" dirty="0" err="1" smtClean="0"/>
              <a:t>môn</a:t>
            </a:r>
            <a:r>
              <a:rPr lang="en-US" sz="5400" dirty="0" smtClean="0"/>
              <a:t> </a:t>
            </a:r>
            <a:r>
              <a:rPr lang="en-US" sz="5400" dirty="0" err="1" smtClean="0"/>
              <a:t>học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Yêu</a:t>
            </a:r>
            <a:r>
              <a:rPr lang="en-US" sz="5400" dirty="0" smtClean="0"/>
              <a:t> </a:t>
            </a:r>
            <a:r>
              <a:rPr lang="en-US" sz="5400" dirty="0" err="1" smtClean="0"/>
              <a:t>cầu</a:t>
            </a:r>
            <a:r>
              <a:rPr lang="en-US" sz="5400" dirty="0" smtClean="0"/>
              <a:t> </a:t>
            </a:r>
            <a:r>
              <a:rPr lang="en-US" sz="5400" dirty="0" err="1" smtClean="0"/>
              <a:t>phần</a:t>
            </a:r>
            <a:r>
              <a:rPr lang="en-US" sz="5400" dirty="0" smtClean="0"/>
              <a:t> </a:t>
            </a:r>
            <a:r>
              <a:rPr lang="en-US" sz="5400" dirty="0" err="1" smtClean="0"/>
              <a:t>mềm</a:t>
            </a:r>
            <a:endParaRPr lang="en-US" sz="54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err="1" smtClean="0"/>
              <a:t>Giảng</a:t>
            </a:r>
            <a:r>
              <a:rPr lang="en-US" sz="5400" dirty="0" smtClean="0"/>
              <a:t> </a:t>
            </a:r>
            <a:r>
              <a:rPr lang="en-US" sz="5400" dirty="0" err="1" smtClean="0"/>
              <a:t>Viên</a:t>
            </a:r>
            <a:r>
              <a:rPr lang="en-US" sz="5400" dirty="0" smtClean="0"/>
              <a:t>: </a:t>
            </a:r>
            <a:r>
              <a:rPr lang="en-US" sz="5400" dirty="0" err="1" smtClean="0"/>
              <a:t>Ngô</a:t>
            </a:r>
            <a:r>
              <a:rPr lang="en-US" sz="5400" dirty="0" smtClean="0"/>
              <a:t> Huy </a:t>
            </a:r>
            <a:r>
              <a:rPr lang="en-US" sz="5400" dirty="0" err="1" smtClean="0"/>
              <a:t>Biên</a:t>
            </a:r>
            <a:endParaRPr lang="en-US" sz="5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Bộ</a:t>
            </a:r>
            <a:r>
              <a:rPr lang="en-US" sz="4400" dirty="0" smtClean="0"/>
              <a:t> </a:t>
            </a:r>
            <a:r>
              <a:rPr lang="en-US" sz="4400" dirty="0" err="1" smtClean="0"/>
              <a:t>Môn</a:t>
            </a:r>
            <a:r>
              <a:rPr lang="en-US" sz="4400" dirty="0" smtClean="0"/>
              <a:t> </a:t>
            </a:r>
            <a:r>
              <a:rPr lang="en-US" sz="4400" dirty="0" err="1" smtClean="0"/>
              <a:t>Công</a:t>
            </a:r>
            <a:r>
              <a:rPr lang="en-US" sz="4400" dirty="0" smtClean="0"/>
              <a:t> </a:t>
            </a:r>
            <a:r>
              <a:rPr lang="en-US" sz="4400" dirty="0" err="1" smtClean="0"/>
              <a:t>Nghệ</a:t>
            </a:r>
            <a:r>
              <a:rPr lang="en-US" sz="4400" dirty="0" smtClean="0"/>
              <a:t> </a:t>
            </a:r>
            <a:r>
              <a:rPr lang="en-US" sz="4400" dirty="0" err="1" smtClean="0"/>
              <a:t>Phần</a:t>
            </a:r>
            <a:r>
              <a:rPr lang="en-US" sz="4400" dirty="0" smtClean="0"/>
              <a:t> </a:t>
            </a:r>
            <a:r>
              <a:rPr lang="en-US" sz="4400" dirty="0" err="1" smtClean="0"/>
              <a:t>Mềm</a:t>
            </a:r>
            <a:endParaRPr lang="en-US" sz="4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Khoa</a:t>
            </a:r>
            <a:r>
              <a:rPr lang="en-US" sz="4400" dirty="0" smtClean="0"/>
              <a:t> </a:t>
            </a:r>
            <a:r>
              <a:rPr lang="en-US" sz="4400" dirty="0" err="1" smtClean="0"/>
              <a:t>Công</a:t>
            </a:r>
            <a:r>
              <a:rPr lang="en-US" sz="4400" dirty="0" smtClean="0"/>
              <a:t> </a:t>
            </a:r>
            <a:r>
              <a:rPr lang="en-US" sz="4400" dirty="0" err="1" smtClean="0"/>
              <a:t>Nghệ</a:t>
            </a:r>
            <a:r>
              <a:rPr lang="en-US" sz="4400" dirty="0" smtClean="0"/>
              <a:t> </a:t>
            </a:r>
            <a:r>
              <a:rPr lang="en-US" sz="4400" dirty="0" err="1" smtClean="0"/>
              <a:t>Thông</a:t>
            </a:r>
            <a:r>
              <a:rPr lang="en-US" sz="4400" dirty="0" smtClean="0"/>
              <a:t> Tin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Trường</a:t>
            </a:r>
            <a:r>
              <a:rPr lang="en-US" sz="4400" dirty="0" smtClean="0"/>
              <a:t> </a:t>
            </a:r>
            <a:r>
              <a:rPr lang="en-US" sz="4400" dirty="0" err="1" smtClean="0"/>
              <a:t>Đại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Khoa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Tự</a:t>
            </a:r>
            <a:r>
              <a:rPr lang="en-US" sz="4400" dirty="0" smtClean="0"/>
              <a:t> </a:t>
            </a:r>
            <a:r>
              <a:rPr lang="en-US" sz="4400" dirty="0" err="1" smtClean="0"/>
              <a:t>Nhiên</a:t>
            </a:r>
            <a:endParaRPr lang="en-US" sz="4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Đại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Quốc</a:t>
            </a:r>
            <a:r>
              <a:rPr lang="en-US" sz="4400" dirty="0" smtClean="0"/>
              <a:t> </a:t>
            </a:r>
            <a:r>
              <a:rPr lang="en-US" sz="4400" dirty="0" err="1" smtClean="0"/>
              <a:t>Gia</a:t>
            </a:r>
            <a:r>
              <a:rPr lang="en-US" sz="4400" dirty="0" smtClean="0"/>
              <a:t> </a:t>
            </a:r>
            <a:r>
              <a:rPr lang="en-US" sz="4400" dirty="0" err="1" smtClean="0"/>
              <a:t>Thành</a:t>
            </a:r>
            <a:r>
              <a:rPr lang="en-US" sz="4400" dirty="0" smtClean="0"/>
              <a:t> </a:t>
            </a:r>
            <a:r>
              <a:rPr lang="en-US" sz="4400" dirty="0" err="1" smtClean="0"/>
              <a:t>Phố</a:t>
            </a:r>
            <a:r>
              <a:rPr lang="en-US" sz="4400" dirty="0" smtClean="0"/>
              <a:t> </a:t>
            </a:r>
            <a:r>
              <a:rPr lang="en-US" sz="4400" dirty="0" err="1" smtClean="0"/>
              <a:t>Hồ</a:t>
            </a:r>
            <a:r>
              <a:rPr lang="en-US" sz="4400" dirty="0" smtClean="0"/>
              <a:t> </a:t>
            </a:r>
            <a:r>
              <a:rPr lang="en-US" sz="4400" dirty="0" err="1" smtClean="0"/>
              <a:t>Chí</a:t>
            </a:r>
            <a:r>
              <a:rPr lang="en-US" sz="4400" dirty="0" smtClean="0"/>
              <a:t> Minh, </a:t>
            </a:r>
            <a:r>
              <a:rPr lang="en-US" sz="4400" dirty="0" err="1" smtClean="0"/>
              <a:t>Việt</a:t>
            </a:r>
            <a:r>
              <a:rPr lang="en-US" sz="4400" dirty="0" smtClean="0"/>
              <a:t> 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GV,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T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S,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Bộ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Khoa Công nghệ thông tin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ĐH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Khoa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Nhiên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TP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Hồ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Chí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Minh.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3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strike="sngStrike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điện thoại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: 0988</a:t>
            </a:r>
            <a:r>
              <a:rPr lang="en-US" sz="2400" strike="sngStrike" dirty="0" smtClean="0">
                <a:latin typeface="Calibri" pitchFamily="34" charset="0"/>
                <a:cs typeface="Calibri" pitchFamily="34" charset="0"/>
              </a:rPr>
              <a:t>4x7y2z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strike="sngStrike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Lịch làm việc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Thứ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năm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từ 1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30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đến 17h30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phòng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I82, B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ộ môn Công nghệ phần 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(I82)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Quyết</a:t>
            </a:r>
            <a:r>
              <a:rPr lang="en-US" sz="2600" dirty="0" smtClean="0"/>
              <a:t> </a:t>
            </a:r>
            <a:r>
              <a:rPr lang="en-US" sz="2600" dirty="0" err="1" smtClean="0"/>
              <a:t>định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có</a:t>
            </a:r>
            <a:r>
              <a:rPr lang="en-US" sz="2600" dirty="0" smtClean="0"/>
              <a:t> </a:t>
            </a:r>
            <a:r>
              <a:rPr lang="en-US" sz="2600" dirty="0" err="1" smtClean="0"/>
              <a:t>nên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đăng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ký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Xác</a:t>
            </a:r>
            <a:r>
              <a:rPr lang="en-US" sz="2600" dirty="0" smtClean="0"/>
              <a:t> </a:t>
            </a:r>
            <a:r>
              <a:rPr lang="en-US" sz="2600" dirty="0" err="1" smtClean="0"/>
              <a:t>định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nhóm</a:t>
            </a:r>
            <a:r>
              <a:rPr lang="en-US" sz="2600" dirty="0" smtClean="0"/>
              <a:t> </a:t>
            </a:r>
            <a:r>
              <a:rPr lang="en-US" sz="2600" dirty="0" err="1" smtClean="0"/>
              <a:t>thực</a:t>
            </a:r>
            <a:r>
              <a:rPr lang="en-US" sz="2600" dirty="0" smtClean="0"/>
              <a:t> </a:t>
            </a:r>
            <a:r>
              <a:rPr lang="en-US" sz="2600" dirty="0" err="1" smtClean="0"/>
              <a:t>hiện</a:t>
            </a:r>
            <a:r>
              <a:rPr lang="en-US" sz="2600" dirty="0" smtClean="0"/>
              <a:t> </a:t>
            </a:r>
            <a:r>
              <a:rPr lang="en-US" sz="2600" dirty="0" err="1" smtClean="0"/>
              <a:t>đồ</a:t>
            </a:r>
            <a:r>
              <a:rPr lang="en-US" sz="2600" dirty="0" smtClean="0"/>
              <a:t> </a:t>
            </a:r>
            <a:r>
              <a:rPr lang="en-US" sz="2600" dirty="0" err="1" smtClean="0"/>
              <a:t>án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Ước</a:t>
            </a:r>
            <a:r>
              <a:rPr lang="en-US" sz="2600" dirty="0" smtClean="0"/>
              <a:t> </a:t>
            </a:r>
            <a:r>
              <a:rPr lang="en-US" sz="2600" dirty="0" err="1" smtClean="0"/>
              <a:t>lượng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số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điểm</a:t>
            </a:r>
            <a:r>
              <a:rPr lang="en-US" sz="2600" dirty="0" smtClean="0"/>
              <a:t> </a:t>
            </a:r>
            <a:r>
              <a:rPr lang="en-US" sz="2600" dirty="0" err="1" smtClean="0"/>
              <a:t>dự</a:t>
            </a:r>
            <a:r>
              <a:rPr lang="en-US" sz="2600" dirty="0" smtClean="0"/>
              <a:t> </a:t>
            </a:r>
            <a:r>
              <a:rPr lang="en-US" sz="2600" dirty="0" err="1" smtClean="0"/>
              <a:t>kiến</a:t>
            </a:r>
            <a:r>
              <a:rPr lang="en-US" sz="2600" dirty="0" smtClean="0"/>
              <a:t> </a:t>
            </a:r>
            <a:r>
              <a:rPr lang="en-US" sz="2600" dirty="0" err="1" smtClean="0"/>
              <a:t>sẽ</a:t>
            </a:r>
            <a:r>
              <a:rPr lang="en-US" sz="2600" dirty="0" smtClean="0"/>
              <a:t> </a:t>
            </a:r>
            <a:r>
              <a:rPr lang="en-US" sz="2600" dirty="0" err="1" smtClean="0"/>
              <a:t>đạt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cho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Đối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tượng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r>
              <a:rPr lang="en-US" sz="2800" dirty="0" err="1" smtClean="0"/>
              <a:t>Mục</a:t>
            </a:r>
            <a:r>
              <a:rPr lang="en-US" sz="2800" dirty="0" smtClean="0"/>
              <a:t> </a:t>
            </a: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r>
              <a:rPr lang="en-US" sz="2800" dirty="0" err="1" smtClean="0"/>
              <a:t>Nội</a:t>
            </a:r>
            <a:r>
              <a:rPr lang="en-US" sz="2800" dirty="0" smtClean="0"/>
              <a:t> dung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Thời</a:t>
            </a:r>
            <a:r>
              <a:rPr lang="en-US" sz="2800" dirty="0" smtClean="0"/>
              <a:t> </a:t>
            </a:r>
            <a:r>
              <a:rPr lang="en-US" sz="2800" dirty="0" err="1" smtClean="0"/>
              <a:t>lượng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Đánh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giá</a:t>
            </a:r>
            <a:r>
              <a:rPr lang="en-US" sz="2800" dirty="0" smtClean="0"/>
              <a:t> </a:t>
            </a:r>
            <a:r>
              <a:rPr lang="en-US" sz="2800" dirty="0" err="1" smtClean="0"/>
              <a:t>kết</a:t>
            </a:r>
            <a:r>
              <a:rPr lang="en-US" sz="2800" dirty="0" smtClean="0"/>
              <a:t> </a:t>
            </a:r>
            <a:r>
              <a:rPr lang="en-US" sz="2800" dirty="0" err="1" smtClean="0"/>
              <a:t>quả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r>
              <a:rPr lang="en-US" sz="2800" dirty="0" smtClean="0"/>
              <a:t> </a:t>
            </a:r>
            <a:r>
              <a:rPr lang="en-US" sz="2800" dirty="0" err="1" smtClean="0"/>
              <a:t>tập</a:t>
            </a:r>
            <a:endParaRPr lang="en-US" sz="2800" dirty="0" smtClean="0"/>
          </a:p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Phương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pháp</a:t>
            </a:r>
            <a:r>
              <a:rPr lang="en-US" sz="2800" dirty="0" smtClean="0"/>
              <a:t> </a:t>
            </a:r>
            <a:r>
              <a:rPr lang="en-US" sz="2800" dirty="0" err="1" smtClean="0"/>
              <a:t>dạy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Tài</a:t>
            </a:r>
            <a:r>
              <a:rPr lang="en-US" sz="2800" dirty="0" smtClean="0"/>
              <a:t> </a:t>
            </a:r>
            <a:r>
              <a:rPr lang="en-US" sz="2800" dirty="0" err="1" smtClean="0"/>
              <a:t>liệu</a:t>
            </a:r>
            <a:r>
              <a:rPr lang="en-US" sz="2800" dirty="0" smtClean="0"/>
              <a:t> </a:t>
            </a:r>
            <a:r>
              <a:rPr lang="en-US" sz="2800" dirty="0" err="1" smtClean="0"/>
              <a:t>tham</a:t>
            </a:r>
            <a:r>
              <a:rPr lang="en-US" sz="2800" dirty="0" smtClean="0"/>
              <a:t> </a:t>
            </a:r>
            <a:r>
              <a:rPr lang="en-US" sz="2800" dirty="0" err="1" smtClean="0"/>
              <a:t>khảo</a:t>
            </a:r>
            <a:endParaRPr lang="en-US" sz="2800" dirty="0" smtClean="0"/>
          </a:p>
          <a:p>
            <a:pPr lvl="0"/>
            <a:r>
              <a:rPr lang="en-US" sz="2800" dirty="0" err="1" smtClean="0"/>
              <a:t>Nội</a:t>
            </a:r>
            <a:r>
              <a:rPr lang="en-US" sz="2800" dirty="0" smtClean="0"/>
              <a:t> </a:t>
            </a:r>
            <a:r>
              <a:rPr lang="en-US" sz="2800" dirty="0" err="1" smtClean="0"/>
              <a:t>quy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Câu</a:t>
            </a:r>
            <a:r>
              <a:rPr lang="en-US" sz="2800" dirty="0" smtClean="0"/>
              <a:t> </a:t>
            </a:r>
            <a:r>
              <a:rPr lang="en-US" sz="2800" dirty="0" err="1" smtClean="0"/>
              <a:t>hỏi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Trả</a:t>
            </a:r>
            <a:r>
              <a:rPr lang="en-US" sz="2800" dirty="0" smtClean="0"/>
              <a:t> </a:t>
            </a:r>
            <a:r>
              <a:rPr lang="en-US" sz="2800" dirty="0" err="1" smtClean="0"/>
              <a:t>lời</a:t>
            </a:r>
            <a:endParaRPr lang="en-US" sz="2800" dirty="0" smtClean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33600" y="4419600"/>
            <a:ext cx="4495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ra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không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đáp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ứng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đúng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yêu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cầu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khách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hàng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ra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không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có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khách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hàng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514600"/>
            <a:ext cx="2286000" cy="1694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3074" name="Picture 2" descr="https://www.greenbiz.com/sites/default/files/styles/gbz_article_primary_breakpoints_kalapicture_screen-md_1x/public/images/articles/featured/salary-tharakorn_arunothai-stock.jpg?itok=rlRQhXey&amp;timestamp=14392367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19400"/>
            <a:ext cx="3841750" cy="2332990"/>
          </a:xfrm>
          <a:prstGeom prst="rect">
            <a:avLst/>
          </a:prstGeom>
          <a:noFill/>
        </p:spPr>
      </p:pic>
      <p:sp>
        <p:nvSpPr>
          <p:cNvPr id="11" name="Cloud 10"/>
          <p:cNvSpPr/>
          <p:nvPr/>
        </p:nvSpPr>
        <p:spPr>
          <a:xfrm>
            <a:off x="4648200" y="2209800"/>
            <a:ext cx="4038600" cy="3429000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lương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, </a:t>
            </a:r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biết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thập</a:t>
            </a:r>
            <a:r>
              <a:rPr lang="en-US" dirty="0" smtClean="0"/>
              <a:t>,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,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09600" y="2209800"/>
            <a:ext cx="4648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hần 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này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sẽ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phải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giải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quyết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vấn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gì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?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tập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trung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phân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khúc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dùng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pic>
        <p:nvPicPr>
          <p:cNvPr id="47106" name="Picture 2" descr="https://staticwspieram.pl/upload/project/big/17858_project-e6f2405d9bf51bc56081656d8627fbf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905000"/>
            <a:ext cx="2933700" cy="1920240"/>
          </a:xfrm>
          <a:prstGeom prst="rect">
            <a:avLst/>
          </a:prstGeom>
          <a:noFill/>
        </p:spPr>
      </p:pic>
      <p:pic>
        <p:nvPicPr>
          <p:cNvPr id="47108" name="Picture 4" descr="https://www.freelancermap.com/images/seo_landing/itfreelanc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4114800"/>
            <a:ext cx="2606634" cy="1905434"/>
          </a:xfrm>
          <a:prstGeom prst="rect">
            <a:avLst/>
          </a:prstGeom>
          <a:noFill/>
        </p:spPr>
      </p:pic>
      <p:pic>
        <p:nvPicPr>
          <p:cNvPr id="47114" name="Picture 10" descr="https://pixfeeds.com/images/topic/8157/1200-8157-promotion-letters-photo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4267200"/>
            <a:ext cx="2743200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đồ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đều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đúng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tiến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độ</a:t>
            </a:r>
            <a:r>
              <a:rPr lang="en-US" sz="2400" dirty="0" smtClean="0"/>
              <a:t>, </a:t>
            </a:r>
            <a:r>
              <a:rPr lang="en-US" sz="2400" i="1" dirty="0" err="1" smtClean="0">
                <a:solidFill>
                  <a:srgbClr val="C00000"/>
                </a:solidFill>
              </a:rPr>
              <a:t>đạt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điểm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cao</a:t>
            </a:r>
            <a:r>
              <a:rPr lang="en-US" sz="2400" dirty="0" smtClean="0"/>
              <a:t>, </a:t>
            </a:r>
            <a:r>
              <a:rPr lang="en-US" sz="2400" i="1" dirty="0" err="1" smtClean="0">
                <a:solidFill>
                  <a:srgbClr val="C00000"/>
                </a:solidFill>
              </a:rPr>
              <a:t>không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phát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sinh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vấn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đề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bất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ngờ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nào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biết</a:t>
            </a:r>
            <a:r>
              <a:rPr lang="en-US" sz="2400" dirty="0" smtClean="0"/>
              <a:t>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nhóm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theo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quy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trình</a:t>
            </a:r>
            <a:r>
              <a:rPr lang="en-US" sz="2400" dirty="0" smtClean="0"/>
              <a:t>,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gian</a:t>
            </a:r>
            <a:r>
              <a:rPr lang="en-US" sz="2400" dirty="0" smtClean="0"/>
              <a:t>, </a:t>
            </a:r>
            <a:r>
              <a:rPr lang="en-US" sz="2400" dirty="0" err="1" smtClean="0"/>
              <a:t>tiến</a:t>
            </a:r>
            <a:r>
              <a:rPr lang="en-US" sz="2400" dirty="0" smtClean="0"/>
              <a:t> </a:t>
            </a:r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công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muốn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nhóm</a:t>
            </a:r>
            <a:r>
              <a:rPr lang="en-US" sz="2400" dirty="0" smtClean="0"/>
              <a:t> </a:t>
            </a:r>
            <a:r>
              <a:rPr lang="en-US" sz="2400" dirty="0" err="1" smtClean="0"/>
              <a:t>nào</a:t>
            </a:r>
            <a:r>
              <a:rPr lang="en-US" sz="2400" dirty="0" smtClean="0"/>
              <a:t> </a:t>
            </a:r>
            <a:r>
              <a:rPr lang="en-US" sz="2400" dirty="0" err="1" smtClean="0"/>
              <a:t>cả</a:t>
            </a:r>
            <a:r>
              <a:rPr lang="en-US" sz="2400" dirty="0" smtClean="0"/>
              <a:t> (</a:t>
            </a:r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biết</a:t>
            </a:r>
            <a:r>
              <a:rPr lang="en-US" sz="2400" dirty="0" smtClean="0"/>
              <a:t> </a:t>
            </a:r>
            <a:r>
              <a:rPr lang="en-US" sz="2400" dirty="0" err="1" smtClean="0"/>
              <a:t>cách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nhóm</a:t>
            </a:r>
            <a:r>
              <a:rPr lang="en-US" sz="2400" dirty="0" smtClean="0"/>
              <a:t>,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cùng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).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nhu</a:t>
            </a:r>
            <a:r>
              <a:rPr lang="en-US" sz="2400" dirty="0" smtClean="0"/>
              <a:t> </a:t>
            </a:r>
            <a:r>
              <a:rPr lang="en-US" sz="2400" dirty="0" err="1" smtClean="0"/>
              <a:t>cầu</a:t>
            </a:r>
            <a:r>
              <a:rPr lang="en-US" sz="2400" dirty="0" smtClean="0"/>
              <a:t> </a:t>
            </a:r>
            <a:r>
              <a:rPr lang="en-US" sz="2400" u="sng" dirty="0" err="1" smtClean="0"/>
              <a:t>mở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công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ty</a:t>
            </a:r>
            <a:r>
              <a:rPr lang="en-US" sz="2400" dirty="0" smtClean="0"/>
              <a:t>, hay </a:t>
            </a:r>
            <a:r>
              <a:rPr lang="en-US" sz="2400" u="sng" dirty="0" err="1" smtClean="0"/>
              <a:t>làm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việc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tự</a:t>
            </a:r>
            <a:r>
              <a:rPr lang="en-US" sz="2400" u="sng" dirty="0" smtClean="0"/>
              <a:t> do</a:t>
            </a:r>
            <a:r>
              <a:rPr lang="en-US" sz="2400" dirty="0" smtClean="0"/>
              <a:t>.</a:t>
            </a:r>
          </a:p>
        </p:txBody>
      </p:sp>
      <p:pic>
        <p:nvPicPr>
          <p:cNvPr id="7" name="Picture 4" descr="http://duration-driven.com/wp-content/uploads/2015/02/business-team-celebrating-victory-in-office-x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4704588"/>
            <a:ext cx="2464308" cy="1696212"/>
          </a:xfrm>
          <a:prstGeom prst="rect">
            <a:avLst/>
          </a:prstGeom>
          <a:noFill/>
        </p:spPr>
      </p:pic>
      <p:pic>
        <p:nvPicPr>
          <p:cNvPr id="8" name="Picture 12" descr="https://www.cpp.edu/~oslcc/projectsuccess/img/Project%20Success%20Pic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4572000"/>
            <a:ext cx="1937656" cy="20062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066800" y="1447801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tiên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quyết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phải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):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Nhập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môn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Công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nghệ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Phương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hướng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đối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tượng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kế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Kiểm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chứng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triển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ứng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web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triển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cho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thiết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bị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di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động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song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hành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thể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trong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cùng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triển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Game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máy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về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kiến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thức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hiểu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tài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liệu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tiếng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Anh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bày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báo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cáo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9718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3434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4864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219200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62484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Đề xuất được 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mô hình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phần mềm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cho dự án.</a:t>
            </a:r>
          </a:p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Áp dụng được các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kỹ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thuật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một phần mềm.</a:t>
            </a:r>
          </a:p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Sử dụng được các 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 cụ để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phần mềm.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Giải thích được 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trách nhiệm và đạo đức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của người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phần mềm.</a:t>
            </a:r>
          </a:p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Giải thích được các 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chuẩn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liên quan đến quy trình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phần mềm.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24600" y="3657600"/>
            <a:ext cx="2667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</a:rPr>
              <a:t>6. </a:t>
            </a:r>
            <a:r>
              <a:rPr lang="en-US" sz="2400" b="1" dirty="0" err="1" smtClean="0">
                <a:latin typeface="Calibri" pitchFamily="34" charset="0"/>
              </a:rPr>
              <a:t>Kiểm</a:t>
            </a:r>
            <a:r>
              <a:rPr lang="en-US" sz="2400" b="1" dirty="0" smtClean="0">
                <a:latin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</a:rPr>
              <a:t>thử</a:t>
            </a:r>
            <a:r>
              <a:rPr lang="vi-VN" sz="2400" b="1" dirty="0" smtClean="0">
                <a:latin typeface="Calibri" pitchFamily="34" charset="0"/>
              </a:rPr>
              <a:t> </a:t>
            </a:r>
            <a:r>
              <a:rPr lang="vi-VN" sz="2400" b="1" i="1" dirty="0" smtClean="0">
                <a:solidFill>
                  <a:srgbClr val="C00000"/>
                </a:solidFill>
                <a:latin typeface="Calibri" pitchFamily="34" charset="0"/>
              </a:rPr>
              <a:t>thành công</a:t>
            </a:r>
            <a:r>
              <a:rPr lang="vi-VN" sz="2400" b="1" dirty="0" smtClean="0">
                <a:latin typeface="Calibri" pitchFamily="34" charset="0"/>
              </a:rPr>
              <a:t> một phần mềm kích cỡ khoảng 75.000 dòng mã nguồn.</a:t>
            </a:r>
            <a:endParaRPr lang="en-US" sz="2400" b="1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9050" y="3810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Business Analyst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4521875"/>
            <a:ext cx="8686800" cy="203132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Assess the stakeholder's business needs and business processes (current and future); 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Document the client’s business requirements in detail;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Define quality attributes, external interfaces, constraints, business rules and other nonfunctional requirements;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Proactive in leading requirements analysis and verification, ensuring that requirement statements are complete, consistent, concise, comprehensible, traceable, feasible, unambiguous, and verifiable, and that they conform to standards;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295400"/>
            <a:ext cx="6477000" cy="30480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Knowledge of software development process, especially </a:t>
            </a:r>
            <a:r>
              <a:rPr lang="en-US" sz="2000" i="1" dirty="0" smtClean="0">
                <a:solidFill>
                  <a:srgbClr val="C00000"/>
                </a:solidFill>
              </a:rPr>
              <a:t>software requirement engineering</a:t>
            </a:r>
            <a:r>
              <a:rPr lang="en-US" sz="2000" dirty="0" smtClean="0"/>
              <a:t>, including requirement elicitation, requirement analysis, requirement specification …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Excellent command of English communications skills (speaking, reading and writing).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Thorough, paying attention to details.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8674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chi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tiết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err="1" smtClean="0">
                <a:solidFill>
                  <a:srgbClr val="C00000"/>
                </a:solidFill>
              </a:rPr>
              <a:t>Các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mô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i="1" dirty="0" err="1" smtClean="0">
                <a:solidFill>
                  <a:srgbClr val="C00000"/>
                </a:solidFill>
              </a:rPr>
              <a:t>Lập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kế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hoạch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dự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Vận hành, kiểm soát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theo dõi, báo cáo và đánh giá dự án phần mềm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Quản lý rủi ro, cấu hình và chất lượng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án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phần mềm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cụ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hỗ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quản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lý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án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i="1" dirty="0" err="1" smtClean="0">
                <a:solidFill>
                  <a:srgbClr val="C00000"/>
                </a:solidFill>
              </a:rPr>
              <a:t>Quản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trị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nhóm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chuẩn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cải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tiến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đánh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giá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quy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tín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chỉ</a:t>
            </a:r>
            <a:r>
              <a:rPr lang="en-US" dirty="0" smtClean="0">
                <a:latin typeface="+mj-lt"/>
              </a:rPr>
              <a:t>: 		4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lý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thuyết</a:t>
            </a:r>
            <a:r>
              <a:rPr lang="en-US" dirty="0" smtClean="0">
                <a:latin typeface="+mj-lt"/>
              </a:rPr>
              <a:t>: 	45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thực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hành</a:t>
            </a:r>
            <a:r>
              <a:rPr lang="en-US" dirty="0" smtClean="0">
                <a:latin typeface="+mj-lt"/>
              </a:rPr>
              <a:t>: 	30</a:t>
            </a:r>
          </a:p>
          <a:p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tiết tự học: 	</a:t>
            </a:r>
            <a:r>
              <a:rPr lang="en-US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120</a:t>
            </a:r>
            <a:endParaRPr lang="en-US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Phân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bổ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thời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lượng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và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lịch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môn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3429000"/>
          </a:xfrm>
        </p:spPr>
        <p:txBody>
          <a:bodyPr/>
          <a:lstStyle/>
          <a:p>
            <a:r>
              <a:rPr lang="vi-VN" sz="2200" dirty="0" smtClean="0">
                <a:latin typeface="Calibri" pitchFamily="34" charset="0"/>
              </a:rPr>
              <a:t>Mỗi nhóm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có</a:t>
            </a:r>
            <a:r>
              <a:rPr lang="vi-VN" sz="2200" dirty="0" smtClean="0">
                <a:latin typeface="Calibri" pitchFamily="34" charset="0"/>
              </a:rPr>
              <a:t> </a:t>
            </a:r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</a:rPr>
              <a:t>tối đa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7</a:t>
            </a:r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</a:rPr>
              <a:t> người</a:t>
            </a:r>
            <a:r>
              <a:rPr lang="en-US" sz="2200" dirty="0" smtClean="0">
                <a:latin typeface="Calibri" pitchFamily="34" charset="0"/>
              </a:rPr>
              <a:t>. </a:t>
            </a:r>
            <a:r>
              <a:rPr lang="en-US" sz="2200" dirty="0" err="1" smtClean="0">
                <a:latin typeface="Calibri" pitchFamily="34" charset="0"/>
              </a:rPr>
              <a:t>Trường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hợp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dư</a:t>
            </a:r>
            <a:r>
              <a:rPr lang="en-US" sz="2200" dirty="0" smtClean="0">
                <a:latin typeface="Calibri" pitchFamily="34" charset="0"/>
              </a:rPr>
              <a:t> SV, </a:t>
            </a:r>
            <a:r>
              <a:rPr lang="en-US" sz="2200" dirty="0" err="1" smtClean="0">
                <a:latin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nhóm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đặc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biệt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có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tối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đa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là</a:t>
            </a:r>
            <a:r>
              <a:rPr lang="en-US" sz="2200" dirty="0" smtClean="0">
                <a:latin typeface="Calibri" pitchFamily="34" charset="0"/>
              </a:rPr>
              <a:t> 9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 (</a:t>
            </a:r>
            <a:r>
              <a:rPr lang="en-US" sz="2200" dirty="0" err="1" smtClean="0">
                <a:latin typeface="Calibri" pitchFamily="34" charset="0"/>
              </a:rPr>
              <a:t>ưu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tiên</a:t>
            </a:r>
            <a:r>
              <a:rPr lang="en-US" sz="2200" dirty="0" smtClean="0">
                <a:latin typeface="Calibri" pitchFamily="34" charset="0"/>
              </a:rPr>
              <a:t> 1 </a:t>
            </a:r>
            <a:r>
              <a:rPr lang="en-US" sz="2200" dirty="0" err="1" smtClean="0">
                <a:latin typeface="Calibri" pitchFamily="34" charset="0"/>
              </a:rPr>
              <a:t>nhóm</a:t>
            </a:r>
            <a:r>
              <a:rPr lang="en-US" sz="2200" dirty="0" smtClean="0">
                <a:latin typeface="Calibri" pitchFamily="34" charset="0"/>
              </a:rPr>
              <a:t> 9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hơn</a:t>
            </a:r>
            <a:r>
              <a:rPr lang="en-US" sz="2200" dirty="0" smtClean="0">
                <a:latin typeface="Calibri" pitchFamily="34" charset="0"/>
              </a:rPr>
              <a:t> 2 </a:t>
            </a:r>
            <a:r>
              <a:rPr lang="en-US" sz="2200" dirty="0" err="1" smtClean="0">
                <a:latin typeface="Calibri" pitchFamily="34" charset="0"/>
              </a:rPr>
              <a:t>nhóm</a:t>
            </a:r>
            <a:r>
              <a:rPr lang="en-US" sz="2200" dirty="0" smtClean="0">
                <a:latin typeface="Calibri" pitchFamily="34" charset="0"/>
              </a:rPr>
              <a:t> 8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).</a:t>
            </a:r>
            <a:endParaRPr lang="vi-VN" sz="2200" dirty="0" smtClean="0">
              <a:latin typeface="Calibri" pitchFamily="34" charset="0"/>
            </a:endParaRPr>
          </a:p>
          <a:p>
            <a:r>
              <a:rPr lang="vi-VN" sz="2200" dirty="0" smtClean="0">
                <a:latin typeface="Calibri" pitchFamily="34" charset="0"/>
              </a:rPr>
              <a:t>Lớp trưởng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tự</a:t>
            </a:r>
            <a:r>
              <a:rPr lang="vi-VN" sz="2200" dirty="0" smtClean="0"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sắp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xếp</a:t>
            </a:r>
            <a:r>
              <a:rPr lang="vi-VN" sz="2200" dirty="0" smtClean="0">
                <a:latin typeface="Calibri" pitchFamily="34" charset="0"/>
              </a:rPr>
              <a:t> (tối đa </a:t>
            </a:r>
            <a:r>
              <a:rPr lang="en-US" sz="2200" dirty="0" smtClean="0">
                <a:latin typeface="Calibri" pitchFamily="34" charset="0"/>
              </a:rPr>
              <a:t>7</a:t>
            </a:r>
            <a:r>
              <a:rPr lang="vi-VN" sz="2200" dirty="0" smtClean="0">
                <a:latin typeface="Calibri" pitchFamily="34" charset="0"/>
              </a:rPr>
              <a:t> người)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theo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thứ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tự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trong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danh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sách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lớp</a:t>
            </a:r>
            <a:r>
              <a:rPr lang="vi-VN" sz="2200" dirty="0" smtClean="0">
                <a:latin typeface="Calibri" pitchFamily="34" charset="0"/>
              </a:rPr>
              <a:t> và gửi </a:t>
            </a:r>
            <a:r>
              <a:rPr lang="en-US" sz="2200" dirty="0" err="1" smtClean="0">
                <a:latin typeface="Calibri" pitchFamily="34" charset="0"/>
              </a:rPr>
              <a:t>kết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quả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cho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sinh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viên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trong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lớp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xem</a:t>
            </a:r>
            <a:r>
              <a:rPr lang="vi-VN" sz="2200" dirty="0" smtClean="0">
                <a:latin typeface="Calibri" pitchFamily="34" charset="0"/>
              </a:rPr>
              <a:t>.</a:t>
            </a:r>
            <a:endParaRPr lang="en-US" sz="2200" dirty="0" smtClean="0">
              <a:latin typeface="Calibri" pitchFamily="34" charset="0"/>
            </a:endParaRPr>
          </a:p>
          <a:p>
            <a:r>
              <a:rPr lang="vi-VN" sz="2200" dirty="0" smtClean="0">
                <a:latin typeface="Calibri" pitchFamily="34" charset="0"/>
              </a:rPr>
              <a:t>Lớp trưởng </a:t>
            </a:r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</a:rPr>
              <a:t>t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oàn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quyền</a:t>
            </a:r>
            <a:r>
              <a:rPr lang="vi-VN" sz="2200" dirty="0" smtClean="0">
                <a:latin typeface="Calibri" pitchFamily="34" charset="0"/>
              </a:rPr>
              <a:t> sắp xếp và phân nhóm cho các thành viên riêng lẻ hoặc các nhóm thiếu người.</a:t>
            </a:r>
            <a:endParaRPr lang="en-US" sz="2200" dirty="0" smtClean="0">
              <a:latin typeface="Calibri" pitchFamily="34" charset="0"/>
            </a:endParaRPr>
          </a:p>
          <a:p>
            <a:r>
              <a:rPr lang="en-US" sz="2200" dirty="0" err="1" smtClean="0">
                <a:latin typeface="Calibri" pitchFamily="34" charset="0"/>
              </a:rPr>
              <a:t>Mỗi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nhóm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tự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chọn</a:t>
            </a:r>
            <a:r>
              <a:rPr lang="en-US" sz="2200" dirty="0" smtClean="0">
                <a:latin typeface="Calibri" pitchFamily="34" charset="0"/>
              </a:rPr>
              <a:t> 1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làm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nhóm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trưởng</a:t>
            </a:r>
            <a:r>
              <a:rPr lang="en-US" sz="2200" dirty="0" smtClean="0">
                <a:latin typeface="Calibri" pitchFamily="34" charset="0"/>
              </a:rPr>
              <a:t>, 1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làm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khách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hàng</a:t>
            </a:r>
            <a:r>
              <a:rPr lang="en-US" sz="2200" dirty="0" smtClean="0">
                <a:latin typeface="Calibri" pitchFamily="34" charset="0"/>
              </a:rPr>
              <a:t>.</a:t>
            </a:r>
            <a:endParaRPr lang="vi-VN" sz="2200" dirty="0" smtClean="0">
              <a:latin typeface="Calibri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572000"/>
            <a:ext cx="3048000" cy="1664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Kết quả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tổng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: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bài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thuyết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theo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2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bài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tra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tại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(20%)</a:t>
            </a:r>
          </a:p>
          <a:p>
            <a:pPr lvl="1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Đồ án môn học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theo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Vấn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đáp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cuối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kỳ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cộng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tối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đa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20%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)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trong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hai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Sinh viên tích cực trả lời trong lớp học và trả lời đúng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Ban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sự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trưởng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phó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Tiêu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chuẩn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đánh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giá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Thuyết</a:t>
            </a:r>
            <a:r>
              <a:rPr lang="en-US" sz="4000" dirty="0" smtClean="0"/>
              <a:t> </a:t>
            </a:r>
            <a:r>
              <a:rPr lang="en-US" sz="4000" dirty="0" err="1" smtClean="0"/>
              <a:t>trình</a:t>
            </a:r>
            <a:r>
              <a:rPr lang="en-US" sz="4000" dirty="0" smtClean="0"/>
              <a:t> </a:t>
            </a:r>
            <a:r>
              <a:rPr lang="en-US" sz="4000" dirty="0" err="1" smtClean="0"/>
              <a:t>theo</a:t>
            </a:r>
            <a:r>
              <a:rPr lang="en-US" sz="4000" dirty="0" smtClean="0"/>
              <a:t> </a:t>
            </a:r>
            <a:r>
              <a:rPr lang="en-US" sz="4000" dirty="0" err="1" smtClean="0"/>
              <a:t>nhóm</a:t>
            </a:r>
            <a:r>
              <a:rPr lang="en-US" sz="4000" dirty="0" smtClean="0"/>
              <a:t> (10% </a:t>
            </a:r>
            <a:r>
              <a:rPr lang="en-US" sz="4000" dirty="0" err="1" smtClean="0"/>
              <a:t>điểm</a:t>
            </a:r>
            <a:r>
              <a:rPr lang="en-US" sz="4000" dirty="0" smtClean="0"/>
              <a:t> </a:t>
            </a:r>
            <a:r>
              <a:rPr lang="en-US" sz="4000" dirty="0" err="1" smtClean="0"/>
              <a:t>số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pPr lvl="0"/>
            <a:r>
              <a:rPr lang="en-US" sz="2500" dirty="0" err="1" smtClean="0"/>
              <a:t>Giáo</a:t>
            </a:r>
            <a:r>
              <a:rPr lang="en-US" sz="2500" dirty="0" smtClean="0"/>
              <a:t> </a:t>
            </a:r>
            <a:r>
              <a:rPr lang="en-US" sz="2500" dirty="0" err="1" smtClean="0"/>
              <a:t>viên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đưa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các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chủ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đề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thuyết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và</a:t>
            </a:r>
            <a:r>
              <a:rPr lang="en-US" sz="2500" dirty="0" smtClean="0"/>
              <a:t> </a:t>
            </a:r>
            <a:r>
              <a:rPr lang="en-US" sz="2500" dirty="0" err="1" smtClean="0"/>
              <a:t>tài</a:t>
            </a:r>
            <a:r>
              <a:rPr lang="en-US" sz="2500" dirty="0" smtClean="0"/>
              <a:t> </a:t>
            </a:r>
            <a:r>
              <a:rPr lang="en-US" sz="2500" dirty="0" err="1" smtClean="0"/>
              <a:t>liệu</a:t>
            </a:r>
            <a:r>
              <a:rPr lang="en-US" sz="2500" dirty="0" smtClean="0"/>
              <a:t>, </a:t>
            </a:r>
            <a:r>
              <a:rPr lang="en-US" sz="2500" i="1" dirty="0" err="1" smtClean="0">
                <a:solidFill>
                  <a:srgbClr val="C00000"/>
                </a:solidFill>
              </a:rPr>
              <a:t>điều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phối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dirty="0" err="1" smtClean="0"/>
              <a:t>buổi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.</a:t>
            </a:r>
          </a:p>
          <a:p>
            <a:pPr lvl="0"/>
            <a:r>
              <a:rPr lang="en-US" sz="2500" dirty="0" err="1" smtClean="0"/>
              <a:t>Sinh</a:t>
            </a:r>
            <a:r>
              <a:rPr lang="en-US" sz="2500" dirty="0" smtClean="0"/>
              <a:t> </a:t>
            </a:r>
            <a:r>
              <a:rPr lang="en-US" sz="2500" dirty="0" err="1" smtClean="0"/>
              <a:t>viên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đọc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tài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liệu</a:t>
            </a:r>
            <a:r>
              <a:rPr lang="en-US" sz="2500" dirty="0" smtClean="0"/>
              <a:t> </a:t>
            </a:r>
            <a:r>
              <a:rPr lang="en-US" sz="2500" dirty="0" err="1" smtClean="0"/>
              <a:t>cần</a:t>
            </a:r>
            <a:r>
              <a:rPr lang="en-US" sz="2500" dirty="0" smtClean="0"/>
              <a:t> </a:t>
            </a:r>
            <a:r>
              <a:rPr lang="en-US" sz="2500" dirty="0" err="1" smtClean="0"/>
              <a:t>thiết</a:t>
            </a:r>
            <a:r>
              <a:rPr lang="en-US" sz="2500" dirty="0" smtClean="0"/>
              <a:t>, </a:t>
            </a:r>
            <a:r>
              <a:rPr lang="en-US" sz="2500" dirty="0" err="1" smtClean="0"/>
              <a:t>tìm</a:t>
            </a:r>
            <a:r>
              <a:rPr lang="en-US" sz="2500" dirty="0" smtClean="0"/>
              <a:t> </a:t>
            </a:r>
            <a:r>
              <a:rPr lang="en-US" sz="2500" dirty="0" err="1" smtClean="0"/>
              <a:t>giải</a:t>
            </a:r>
            <a:r>
              <a:rPr lang="en-US" sz="2500" dirty="0" smtClean="0"/>
              <a:t> </a:t>
            </a:r>
            <a:r>
              <a:rPr lang="en-US" sz="2500" dirty="0" err="1" smtClean="0"/>
              <a:t>pháp</a:t>
            </a:r>
            <a:r>
              <a:rPr lang="en-US" sz="2500" dirty="0" smtClean="0"/>
              <a:t>, </a:t>
            </a:r>
            <a:r>
              <a:rPr lang="en-US" sz="2500" dirty="0" err="1" smtClean="0"/>
              <a:t>chuẩn</a:t>
            </a:r>
            <a:r>
              <a:rPr lang="en-US" sz="2500" dirty="0" smtClean="0"/>
              <a:t> </a:t>
            </a:r>
            <a:r>
              <a:rPr lang="en-US" sz="2500" dirty="0" err="1" smtClean="0"/>
              <a:t>bị</a:t>
            </a:r>
            <a:r>
              <a:rPr lang="en-US" sz="2500" dirty="0" smtClean="0"/>
              <a:t> </a:t>
            </a:r>
            <a:r>
              <a:rPr lang="en-US" sz="2500" dirty="0" err="1" smtClean="0"/>
              <a:t>phần</a:t>
            </a:r>
            <a:r>
              <a:rPr lang="en-US" sz="2500" dirty="0" smtClean="0"/>
              <a:t> </a:t>
            </a:r>
            <a:r>
              <a:rPr lang="en-US" sz="2500" dirty="0" err="1" smtClean="0"/>
              <a:t>mềm</a:t>
            </a:r>
            <a:r>
              <a:rPr lang="en-US" sz="2500" dirty="0" smtClean="0"/>
              <a:t>, </a:t>
            </a:r>
            <a:r>
              <a:rPr lang="en-US" sz="2500" dirty="0" err="1" smtClean="0"/>
              <a:t>thực</a:t>
            </a:r>
            <a:r>
              <a:rPr lang="en-US" sz="2500" dirty="0" smtClean="0"/>
              <a:t> </a:t>
            </a:r>
            <a:r>
              <a:rPr lang="en-US" sz="2500" dirty="0" err="1" smtClean="0"/>
              <a:t>hành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thao</a:t>
            </a:r>
            <a:r>
              <a:rPr lang="en-US" sz="2500" dirty="0" smtClean="0"/>
              <a:t> </a:t>
            </a:r>
            <a:r>
              <a:rPr lang="en-US" sz="2500" dirty="0" err="1" smtClean="0"/>
              <a:t>tác</a:t>
            </a:r>
            <a:r>
              <a:rPr lang="en-US" sz="2500" dirty="0" smtClean="0"/>
              <a:t>, </a:t>
            </a:r>
            <a:r>
              <a:rPr lang="en-US" sz="2500" dirty="0" err="1" smtClean="0"/>
              <a:t>soạn</a:t>
            </a:r>
            <a:r>
              <a:rPr lang="en-US" sz="2500" dirty="0" smtClean="0"/>
              <a:t> </a:t>
            </a:r>
            <a:r>
              <a:rPr lang="en-US" sz="2500" dirty="0" err="1" smtClean="0"/>
              <a:t>thảo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bài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,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và</a:t>
            </a:r>
            <a:r>
              <a:rPr lang="en-US" sz="2500" dirty="0" smtClean="0"/>
              <a:t> </a:t>
            </a:r>
            <a:r>
              <a:rPr lang="en-US" sz="2500" dirty="0" err="1" smtClean="0"/>
              <a:t>thảo</a:t>
            </a:r>
            <a:r>
              <a:rPr lang="en-US" sz="2500" dirty="0" smtClean="0"/>
              <a:t> </a:t>
            </a:r>
            <a:r>
              <a:rPr lang="en-US" sz="2500" dirty="0" err="1" smtClean="0"/>
              <a:t>luận</a:t>
            </a:r>
            <a:r>
              <a:rPr lang="en-US" sz="2500" dirty="0" smtClean="0"/>
              <a:t> </a:t>
            </a:r>
            <a:r>
              <a:rPr lang="en-US" sz="2500" dirty="0" err="1" smtClean="0"/>
              <a:t>trên</a:t>
            </a:r>
            <a:r>
              <a:rPr lang="en-US" sz="2500" dirty="0" smtClean="0"/>
              <a:t> </a:t>
            </a:r>
            <a:r>
              <a:rPr lang="en-US" sz="2500" dirty="0" err="1" smtClean="0"/>
              <a:t>lớp</a:t>
            </a:r>
            <a:r>
              <a:rPr lang="en-US" sz="2500" dirty="0" smtClean="0"/>
              <a:t> </a:t>
            </a:r>
            <a:r>
              <a:rPr lang="en-US" sz="2500" dirty="0" err="1" smtClean="0"/>
              <a:t>học</a:t>
            </a:r>
            <a:r>
              <a:rPr lang="en-US" sz="2500" dirty="0" smtClean="0"/>
              <a:t> </a:t>
            </a:r>
            <a:r>
              <a:rPr lang="en-US" sz="2500" dirty="0" err="1" smtClean="0"/>
              <a:t>lý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, </a:t>
            </a:r>
            <a:r>
              <a:rPr lang="en-US" sz="2500" dirty="0" err="1" smtClean="0"/>
              <a:t>trả</a:t>
            </a:r>
            <a:r>
              <a:rPr lang="en-US" sz="2500" dirty="0" smtClean="0"/>
              <a:t> </a:t>
            </a:r>
            <a:r>
              <a:rPr lang="en-US" sz="2500" dirty="0" err="1" smtClean="0"/>
              <a:t>lời</a:t>
            </a:r>
            <a:r>
              <a:rPr lang="en-US" sz="2500" dirty="0" smtClean="0"/>
              <a:t> </a:t>
            </a:r>
            <a:r>
              <a:rPr lang="en-US" sz="2500" dirty="0" err="1" smtClean="0"/>
              <a:t>câu</a:t>
            </a:r>
            <a:r>
              <a:rPr lang="en-US" sz="2500" dirty="0" smtClean="0"/>
              <a:t> </a:t>
            </a:r>
            <a:r>
              <a:rPr lang="en-US" sz="2500" dirty="0" err="1" smtClean="0"/>
              <a:t>hỏi</a:t>
            </a:r>
            <a:r>
              <a:rPr lang="en-US" sz="2500" dirty="0" smtClean="0"/>
              <a:t>, </a:t>
            </a:r>
            <a:r>
              <a:rPr lang="en-US" sz="2500" dirty="0" err="1" smtClean="0"/>
              <a:t>nộp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sản</a:t>
            </a:r>
            <a:r>
              <a:rPr lang="en-US" sz="2500" dirty="0" smtClean="0"/>
              <a:t> </a:t>
            </a:r>
            <a:r>
              <a:rPr lang="en-US" sz="2500" dirty="0" err="1" smtClean="0"/>
              <a:t>phẩm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.</a:t>
            </a:r>
          </a:p>
          <a:p>
            <a:pPr lvl="0"/>
            <a:r>
              <a:rPr lang="en-US" sz="2500" dirty="0" err="1" smtClean="0"/>
              <a:t>Những</a:t>
            </a:r>
            <a:r>
              <a:rPr lang="en-US" sz="2500" dirty="0" smtClean="0"/>
              <a:t> </a:t>
            </a:r>
            <a:r>
              <a:rPr lang="en-US" sz="2500" dirty="0" err="1" smtClean="0"/>
              <a:t>nhóm</a:t>
            </a:r>
            <a:r>
              <a:rPr lang="en-US" sz="2500" dirty="0" smtClean="0"/>
              <a:t> </a:t>
            </a:r>
            <a:r>
              <a:rPr lang="en-US" sz="2500" dirty="0" err="1" smtClean="0"/>
              <a:t>không</a:t>
            </a:r>
            <a:r>
              <a:rPr lang="en-US" sz="2500" dirty="0" smtClean="0"/>
              <a:t> </a:t>
            </a:r>
            <a:r>
              <a:rPr lang="en-US" sz="2500" dirty="0" err="1" smtClean="0"/>
              <a:t>kịp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trên</a:t>
            </a:r>
            <a:r>
              <a:rPr lang="en-US" sz="2500" dirty="0" smtClean="0"/>
              <a:t> </a:t>
            </a:r>
            <a:r>
              <a:rPr lang="en-US" sz="2500" dirty="0" err="1" smtClean="0"/>
              <a:t>lớp</a:t>
            </a:r>
            <a:r>
              <a:rPr lang="en-US" sz="2500" dirty="0" smtClean="0"/>
              <a:t> </a:t>
            </a:r>
            <a:r>
              <a:rPr lang="en-US" sz="2500" dirty="0" err="1" smtClean="0"/>
              <a:t>sẽ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viết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và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nộp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báo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cáo</a:t>
            </a:r>
            <a:r>
              <a:rPr lang="en-US" sz="2500" dirty="0" smtClean="0"/>
              <a:t>.</a:t>
            </a: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21705" y="1752600"/>
            <a:ext cx="2817495" cy="216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http://www.prm.nau.edu/PRM346/images/paper%20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4419600"/>
            <a:ext cx="1524000" cy="1524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(20%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599"/>
          </a:xfrm>
        </p:spPr>
        <p:txBody>
          <a:bodyPr/>
          <a:lstStyle/>
          <a:p>
            <a:pPr lvl="0"/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1: 10%</a:t>
            </a:r>
          </a:p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2: 10%</a:t>
            </a:r>
          </a:p>
          <a:p>
            <a:r>
              <a:rPr lang="en-US" dirty="0" err="1" smtClean="0"/>
              <a:t>Ngày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.</a:t>
            </a:r>
          </a:p>
        </p:txBody>
      </p:sp>
      <p:pic>
        <p:nvPicPr>
          <p:cNvPr id="5122" name="Picture 2" descr="http://www.drandyroark.com/wp-content/uploads/bigstock-Students-at-classes-882915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7338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(40%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2438400"/>
          </a:xfrm>
        </p:spPr>
        <p:txBody>
          <a:bodyPr/>
          <a:lstStyle/>
          <a:p>
            <a:pPr lvl="0"/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tự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lựa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chọn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đề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tài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cho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đồ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án</a:t>
            </a:r>
            <a:r>
              <a:rPr lang="en-US" sz="2200" dirty="0" smtClean="0"/>
              <a:t>.</a:t>
            </a:r>
          </a:p>
          <a:p>
            <a:pPr lvl="0"/>
            <a:r>
              <a:rPr lang="en-US" sz="2200" dirty="0" err="1" smtClean="0"/>
              <a:t>Giảng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quyết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định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đề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tài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được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chọn</a:t>
            </a:r>
            <a:r>
              <a:rPr lang="en-US" sz="2200" dirty="0" smtClean="0"/>
              <a:t>, </a:t>
            </a:r>
            <a:r>
              <a:rPr lang="en-US" sz="2200" dirty="0" err="1" smtClean="0"/>
              <a:t>đưa</a:t>
            </a:r>
            <a:r>
              <a:rPr lang="en-US" sz="2200" dirty="0" smtClean="0"/>
              <a:t> </a:t>
            </a:r>
            <a:r>
              <a:rPr lang="en-US" sz="2200" dirty="0" err="1" smtClean="0"/>
              <a:t>ra</a:t>
            </a:r>
            <a:r>
              <a:rPr lang="en-US" sz="2200" dirty="0" smtClean="0"/>
              <a:t> </a:t>
            </a:r>
            <a:r>
              <a:rPr lang="en-US" sz="2200" dirty="0" err="1" smtClean="0"/>
              <a:t>đề</a:t>
            </a:r>
            <a:r>
              <a:rPr lang="en-US" sz="2200" dirty="0" smtClean="0"/>
              <a:t> </a:t>
            </a:r>
            <a:r>
              <a:rPr lang="en-US" sz="2200" dirty="0" err="1" smtClean="0"/>
              <a:t>tài</a:t>
            </a:r>
            <a:r>
              <a:rPr lang="en-US" sz="2200" dirty="0" smtClean="0"/>
              <a:t> </a:t>
            </a:r>
            <a:r>
              <a:rPr lang="en-US" sz="2200" dirty="0" err="1" smtClean="0"/>
              <a:t>thay</a:t>
            </a:r>
            <a:r>
              <a:rPr lang="en-US" sz="2200" dirty="0" smtClean="0"/>
              <a:t> </a:t>
            </a:r>
            <a:r>
              <a:rPr lang="en-US" sz="2200" dirty="0" err="1" smtClean="0"/>
              <a:t>thế</a:t>
            </a:r>
            <a:r>
              <a:rPr lang="en-US" sz="2200" dirty="0" smtClean="0"/>
              <a:t>, </a:t>
            </a:r>
            <a:r>
              <a:rPr lang="en-US" sz="2200" dirty="0" err="1" smtClean="0"/>
              <a:t>hướng</a:t>
            </a:r>
            <a:r>
              <a:rPr lang="en-US" sz="2200" dirty="0" smtClean="0"/>
              <a:t> </a:t>
            </a:r>
            <a:r>
              <a:rPr lang="en-US" sz="2200" dirty="0" err="1" smtClean="0"/>
              <a:t>dẫn</a:t>
            </a:r>
            <a:r>
              <a:rPr lang="en-US" sz="2200" dirty="0" smtClean="0"/>
              <a:t> </a:t>
            </a:r>
            <a:r>
              <a:rPr lang="en-US" sz="2200" dirty="0" err="1" smtClean="0"/>
              <a:t>các</a:t>
            </a:r>
            <a:r>
              <a:rPr lang="en-US" sz="2200" dirty="0" smtClean="0"/>
              <a:t> </a:t>
            </a:r>
            <a:r>
              <a:rPr lang="en-US" sz="2200" dirty="0" err="1" smtClean="0"/>
              <a:t>vấn</a:t>
            </a:r>
            <a:r>
              <a:rPr lang="en-US" sz="2200" dirty="0" smtClean="0"/>
              <a:t> </a:t>
            </a:r>
            <a:r>
              <a:rPr lang="en-US" sz="2200" dirty="0" err="1" smtClean="0"/>
              <a:t>đề</a:t>
            </a:r>
            <a:r>
              <a:rPr lang="en-US" sz="2200" dirty="0" smtClean="0"/>
              <a:t> </a:t>
            </a:r>
            <a:r>
              <a:rPr lang="en-US" sz="2200" dirty="0" err="1" smtClean="0"/>
              <a:t>căn</a:t>
            </a:r>
            <a:r>
              <a:rPr lang="en-US" sz="2200" dirty="0" smtClean="0"/>
              <a:t> </a:t>
            </a:r>
            <a:r>
              <a:rPr lang="en-US" sz="2200" dirty="0" err="1" smtClean="0"/>
              <a:t>bản</a:t>
            </a:r>
            <a:r>
              <a:rPr lang="en-US" sz="2200" dirty="0" smtClean="0"/>
              <a:t>, </a:t>
            </a:r>
            <a:r>
              <a:rPr lang="en-US" sz="2200" dirty="0" err="1" smtClean="0"/>
              <a:t>định</a:t>
            </a:r>
            <a:r>
              <a:rPr lang="en-US" sz="2200" dirty="0" smtClean="0"/>
              <a:t> </a:t>
            </a:r>
            <a:r>
              <a:rPr lang="en-US" sz="2200" dirty="0" err="1" smtClean="0"/>
              <a:t>hướng</a:t>
            </a:r>
            <a:r>
              <a:rPr lang="en-US" sz="2200" dirty="0" smtClean="0"/>
              <a:t> </a:t>
            </a:r>
            <a:r>
              <a:rPr lang="en-US" sz="2200" dirty="0" err="1" smtClean="0"/>
              <a:t>thực</a:t>
            </a:r>
            <a:r>
              <a:rPr lang="en-US" sz="2200" dirty="0" smtClean="0"/>
              <a:t> </a:t>
            </a:r>
            <a:r>
              <a:rPr lang="en-US" sz="2200" dirty="0" err="1" smtClean="0"/>
              <a:t>hiện</a:t>
            </a:r>
            <a:r>
              <a:rPr lang="en-US" sz="2200" dirty="0" smtClean="0"/>
              <a:t> </a:t>
            </a:r>
            <a:r>
              <a:rPr lang="en-US" sz="2200" dirty="0" err="1" smtClean="0"/>
              <a:t>đồ</a:t>
            </a:r>
            <a:r>
              <a:rPr lang="en-US" sz="2200" dirty="0" smtClean="0"/>
              <a:t> </a:t>
            </a:r>
            <a:r>
              <a:rPr lang="en-US" sz="2200" dirty="0" err="1" smtClean="0"/>
              <a:t>án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dirty="0" smtClean="0"/>
              <a:t> </a:t>
            </a:r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, </a:t>
            </a:r>
            <a:r>
              <a:rPr lang="en-US" sz="2200" dirty="0" err="1" smtClean="0"/>
              <a:t>nhận</a:t>
            </a:r>
            <a:r>
              <a:rPr lang="en-US" sz="2200" dirty="0" smtClean="0"/>
              <a:t> </a:t>
            </a:r>
            <a:r>
              <a:rPr lang="en-US" sz="2200" dirty="0" err="1" smtClean="0"/>
              <a:t>xét</a:t>
            </a:r>
            <a:r>
              <a:rPr lang="en-US" sz="2200" dirty="0" smtClean="0"/>
              <a:t> </a:t>
            </a:r>
            <a:r>
              <a:rPr lang="en-US" sz="2200" dirty="0" err="1" smtClean="0"/>
              <a:t>kết</a:t>
            </a:r>
            <a:r>
              <a:rPr lang="en-US" sz="2200" dirty="0" smtClean="0"/>
              <a:t> </a:t>
            </a:r>
            <a:r>
              <a:rPr lang="en-US" sz="2200" dirty="0" err="1" smtClean="0"/>
              <a:t>quả</a:t>
            </a:r>
            <a:r>
              <a:rPr lang="en-US" sz="2200" dirty="0" smtClean="0"/>
              <a:t>, </a:t>
            </a:r>
            <a:r>
              <a:rPr lang="en-US" sz="2200" dirty="0" err="1" smtClean="0"/>
              <a:t>giải</a:t>
            </a:r>
            <a:r>
              <a:rPr lang="en-US" sz="2200" dirty="0" smtClean="0"/>
              <a:t> </a:t>
            </a:r>
            <a:r>
              <a:rPr lang="en-US" sz="2200" dirty="0" err="1" smtClean="0"/>
              <a:t>đáp</a:t>
            </a:r>
            <a:r>
              <a:rPr lang="en-US" sz="2200" dirty="0" smtClean="0"/>
              <a:t> </a:t>
            </a:r>
            <a:r>
              <a:rPr lang="en-US" sz="2200" dirty="0" err="1" smtClean="0"/>
              <a:t>thắc</a:t>
            </a:r>
            <a:r>
              <a:rPr lang="en-US" sz="2200" dirty="0" smtClean="0"/>
              <a:t> </a:t>
            </a:r>
            <a:r>
              <a:rPr lang="en-US" sz="2200" dirty="0" err="1" smtClean="0"/>
              <a:t>mắc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dirty="0" smtClean="0"/>
              <a:t> </a:t>
            </a:r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99785" y="1524001"/>
            <a:ext cx="2558415" cy="231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10000" y="4191000"/>
            <a:ext cx="4953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Sinh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viên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thực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đồ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án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nhóm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nộp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kết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quả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</a:t>
            </a:r>
            <a:r>
              <a:rPr kumimoji="0" lang="en-US" sz="2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4</a:t>
            </a:r>
            <a:r>
              <a:rPr kumimoji="0" lang="en-US" sz="2200" b="0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cột</a:t>
            </a:r>
            <a:r>
              <a:rPr kumimoji="0" lang="en-US" sz="2200" b="0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mốc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2200" dirty="0" err="1" smtClean="0">
                <a:latin typeface="+mn-lt"/>
              </a:rPr>
              <a:t>Cột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mốc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có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thể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không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trùng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nội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dung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lý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thuyết</a:t>
            </a:r>
            <a:r>
              <a:rPr lang="en-US" sz="2200" dirty="0" smtClean="0">
                <a:latin typeface="+mn-lt"/>
              </a:rPr>
              <a:t> → </a:t>
            </a:r>
            <a:r>
              <a:rPr lang="en-US" sz="2200" dirty="0" err="1" smtClean="0">
                <a:latin typeface="+mn-lt"/>
              </a:rPr>
              <a:t>Đọc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trước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lý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thuyết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và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xem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các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kết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quả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mẫu</a:t>
            </a:r>
            <a:r>
              <a:rPr lang="en-US" sz="2200" dirty="0" smtClean="0">
                <a:latin typeface="+mn-lt"/>
              </a:rPr>
              <a:t>.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2" descr="https://www.simplilearn.com/ice9/free_resources_article_thumb/Project-Scope-Management-Cov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343400"/>
            <a:ext cx="3230880" cy="18173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(30%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1026" name="Picture 2" descr="http://ftuzone.com/wp-content/uploads/2014/01/interview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286000"/>
            <a:ext cx="2743200" cy="2667000"/>
          </a:xfrm>
          <a:prstGeom prst="rect">
            <a:avLst/>
          </a:prstGeom>
          <a:noFill/>
        </p:spPr>
      </p:pic>
      <p:pic>
        <p:nvPicPr>
          <p:cNvPr id="20482" name="Picture 2" descr="http://4.bp.blogspot.com/_5xHBZqys6o8/TEB1A8EcgNI/AAAAAAAABO8/Uy0B8-abN2I/s1600/NoTextbook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2438400"/>
            <a:ext cx="2410464" cy="23668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371600" y="48768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Tài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liệu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cho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từng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76400"/>
            <a:ext cx="27146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vắng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mặt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quá</a:t>
            </a:r>
            <a:r>
              <a:rPr lang="en-US" sz="2000" dirty="0" smtClean="0">
                <a:latin typeface="+mj-lt"/>
              </a:rPr>
              <a:t> 20% </a:t>
            </a:r>
            <a:r>
              <a:rPr lang="en-US" sz="2000" dirty="0" err="1" smtClean="0">
                <a:latin typeface="+mj-lt"/>
              </a:rPr>
              <a:t>thời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lượng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không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thi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cuối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đồ</a:t>
            </a:r>
            <a:r>
              <a:rPr lang="en-US" sz="2000" dirty="0" smtClean="0"/>
              <a:t> </a:t>
            </a:r>
            <a:r>
              <a:rPr lang="en-US" sz="2000" dirty="0" err="1" smtClean="0"/>
              <a:t>án</a:t>
            </a:r>
            <a:r>
              <a:rPr lang="en-US" sz="2000" dirty="0" smtClean="0"/>
              <a:t> </a:t>
            </a:r>
            <a:r>
              <a:rPr lang="en-US" sz="2000" dirty="0" err="1" smtClean="0"/>
              <a:t>môn</a:t>
            </a:r>
            <a:r>
              <a:rPr lang="en-US" sz="2000" dirty="0" smtClean="0"/>
              <a:t> </a:t>
            </a:r>
            <a:r>
              <a:rPr lang="en-US" sz="2000" dirty="0" err="1" smtClean="0"/>
              <a:t>học</a:t>
            </a:r>
            <a:r>
              <a:rPr lang="en-US" sz="2000" dirty="0" smtClean="0"/>
              <a:t> </a:t>
            </a:r>
            <a:r>
              <a:rPr lang="en-US" sz="2000" dirty="0" err="1" smtClean="0"/>
              <a:t>hoặc</a:t>
            </a:r>
            <a:r>
              <a:rPr lang="en-US" sz="2000" dirty="0" smtClean="0"/>
              <a:t> </a:t>
            </a:r>
            <a:r>
              <a:rPr lang="en-US" sz="2000" dirty="0" err="1" smtClean="0"/>
              <a:t>tổng</a:t>
            </a:r>
            <a:r>
              <a:rPr lang="en-US" sz="2000" dirty="0" smtClean="0"/>
              <a:t> </a:t>
            </a:r>
            <a:r>
              <a:rPr lang="en-US" sz="2000" dirty="0" err="1" smtClean="0"/>
              <a:t>số</a:t>
            </a:r>
            <a:r>
              <a:rPr lang="en-US" sz="2000" dirty="0" smtClean="0"/>
              <a:t> </a:t>
            </a:r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bài</a:t>
            </a:r>
            <a:r>
              <a:rPr lang="en-US" sz="2000" dirty="0" smtClean="0"/>
              <a:t> </a:t>
            </a:r>
            <a:r>
              <a:rPr lang="en-US" sz="2000" dirty="0" err="1" smtClean="0"/>
              <a:t>kiểm</a:t>
            </a:r>
            <a:r>
              <a:rPr lang="en-US" sz="2000" dirty="0" smtClean="0"/>
              <a:t> </a:t>
            </a:r>
            <a:r>
              <a:rPr lang="en-US" sz="2000" dirty="0" err="1" smtClean="0"/>
              <a:t>tra</a:t>
            </a:r>
            <a:r>
              <a:rPr lang="en-US" sz="2000" dirty="0" smtClean="0"/>
              <a:t> </a:t>
            </a:r>
            <a:r>
              <a:rPr lang="en-US" sz="2000" dirty="0" err="1" smtClean="0"/>
              <a:t>trên</a:t>
            </a:r>
            <a:r>
              <a:rPr lang="en-US" sz="2000" dirty="0" smtClean="0"/>
              <a:t> </a:t>
            </a:r>
            <a:r>
              <a:rPr lang="en-US" sz="2000" dirty="0" err="1" smtClean="0"/>
              <a:t>lớp</a:t>
            </a:r>
            <a:r>
              <a:rPr lang="en-US" sz="2000" dirty="0" smtClean="0"/>
              <a:t> </a:t>
            </a:r>
            <a:r>
              <a:rPr lang="en-US" sz="2000" dirty="0" err="1" smtClean="0"/>
              <a:t>bị</a:t>
            </a:r>
            <a:r>
              <a:rPr lang="en-US" sz="2000" dirty="0" smtClean="0"/>
              <a:t> 0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không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thi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cuối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kỳ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vắng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trong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buổi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kiểm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/>
              <a:t>Sinh</a:t>
            </a:r>
            <a:r>
              <a:rPr lang="en-US" sz="2000" dirty="0" smtClean="0"/>
              <a:t> </a:t>
            </a:r>
            <a:r>
              <a:rPr lang="en-US" sz="2000" dirty="0" err="1" smtClean="0"/>
              <a:t>viên</a:t>
            </a:r>
            <a:r>
              <a:rPr lang="en-US" sz="2000" dirty="0" smtClean="0"/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làm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bài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kiểm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tra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tại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lớp</a:t>
            </a:r>
            <a:r>
              <a:rPr lang="en-US" sz="2000" i="1" dirty="0" smtClean="0">
                <a:solidFill>
                  <a:srgbClr val="C00000"/>
                </a:solidFill>
              </a:rPr>
              <a:t>, </a:t>
            </a:r>
            <a:r>
              <a:rPr lang="en-US" sz="2000" i="1" dirty="0" err="1" smtClean="0">
                <a:solidFill>
                  <a:srgbClr val="C00000"/>
                </a:solidFill>
              </a:rPr>
              <a:t>bài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tập</a:t>
            </a:r>
            <a:r>
              <a:rPr lang="en-US" sz="2000" i="1" dirty="0" smtClean="0">
                <a:solidFill>
                  <a:srgbClr val="C00000"/>
                </a:solidFill>
              </a:rPr>
              <a:t> hay </a:t>
            </a:r>
            <a:r>
              <a:rPr lang="en-US" sz="2000" i="1" dirty="0" err="1" smtClean="0">
                <a:solidFill>
                  <a:srgbClr val="C00000"/>
                </a:solidFill>
              </a:rPr>
              <a:t>đồ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án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hộ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bạn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mình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bị</a:t>
            </a:r>
            <a:r>
              <a:rPr lang="en-US" sz="2000" dirty="0" smtClean="0"/>
              <a:t> 0 </a:t>
            </a:r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toàn</a:t>
            </a:r>
            <a:r>
              <a:rPr lang="en-US" sz="2000" dirty="0" smtClean="0"/>
              <a:t> </a:t>
            </a:r>
            <a:r>
              <a:rPr lang="en-US" sz="2000" dirty="0" err="1" smtClean="0"/>
              <a:t>môn</a:t>
            </a:r>
            <a:r>
              <a:rPr lang="en-US" sz="2000" dirty="0" smtClean="0"/>
              <a:t> </a:t>
            </a:r>
            <a:r>
              <a:rPr lang="en-US" sz="2000" dirty="0" err="1" smtClean="0"/>
              <a:t>học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tập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một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phần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từ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mạng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bất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cứ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nguồn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 </a:t>
            </a:r>
            <a:r>
              <a:rPr lang="en-US" sz="2000" dirty="0" err="1" smtClean="0">
                <a:latin typeface="+mj-lt"/>
              </a:rPr>
              <a:t>Điều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dụng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sau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thành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bằng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nhưng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báo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trừ</a:t>
            </a:r>
            <a:r>
              <a:rPr lang="en-US" sz="2000" dirty="0" smtClean="0">
                <a:latin typeface="+mj-lt"/>
              </a:rPr>
              <a:t> 50%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duy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quyết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ngoại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lệ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giấy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chứng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nhận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của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bệnh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viện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về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trạng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sức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khỏe</a:t>
            </a:r>
            <a:r>
              <a:rPr lang="en-US" sz="2000" dirty="0" smtClean="0">
                <a:latin typeface="+mj-lt"/>
              </a:rPr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Cảm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10216</TotalTime>
  <Words>1573</Words>
  <Application>Microsoft Office PowerPoint</Application>
  <PresentationFormat>On-screen Show (4:3)</PresentationFormat>
  <Paragraphs>139</Paragraphs>
  <Slides>25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Giới thiệu môn học Yêu cầu phần mềm</vt:lpstr>
      <vt:lpstr>Giảng viên phụ trách</vt:lpstr>
      <vt:lpstr>Mục tiêu</vt:lpstr>
      <vt:lpstr>Nội dung</vt:lpstr>
      <vt:lpstr>Tôi là sinh viên</vt:lpstr>
      <vt:lpstr>Tôi là sinh viên</vt:lpstr>
      <vt:lpstr>Tôi là sinh viên</vt:lpstr>
      <vt:lpstr>Tôi là lập trình viên</vt:lpstr>
      <vt:lpstr>Ai không nên học môn này</vt:lpstr>
      <vt:lpstr>Điều kiện đăng ký học phần</vt:lpstr>
      <vt:lpstr>Mục tiêu môn học</vt:lpstr>
      <vt:lpstr>Business Analyst Hire</vt:lpstr>
      <vt:lpstr>Nội dung môn học</vt:lpstr>
      <vt:lpstr>Thời lượng môn học</vt:lpstr>
      <vt:lpstr>Quản lý lớp học</vt:lpstr>
      <vt:lpstr>Xây dựng nhóm</vt:lpstr>
      <vt:lpstr>Đánh giá kết quả học tập</vt:lpstr>
      <vt:lpstr>Thuyết trình theo nhóm (10% điểm số)</vt:lpstr>
      <vt:lpstr>Kiểm tra tại lớp (20% điểm số)</vt:lpstr>
      <vt:lpstr>Đồ án môn học (40% điểm số)</vt:lpstr>
      <vt:lpstr>Thi cuối kỳ (30% điểm số)</vt:lpstr>
      <vt:lpstr>Tài liệu tham khảo</vt:lpstr>
      <vt:lpstr>Nội quy môn học</vt:lpstr>
      <vt:lpstr>Câu hỏi và Trả lời</vt:lpstr>
      <vt:lpstr>Cảm ơn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4571</cp:revision>
  <dcterms:created xsi:type="dcterms:W3CDTF">2007-10-06T08:25:13Z</dcterms:created>
  <dcterms:modified xsi:type="dcterms:W3CDTF">2019-12-21T17:47:56Z</dcterms:modified>
</cp:coreProperties>
</file>