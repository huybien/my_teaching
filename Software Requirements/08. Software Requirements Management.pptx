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4"/>
  </p:notesMasterIdLst>
  <p:sldIdLst>
    <p:sldId id="256" r:id="rId2"/>
    <p:sldId id="417" r:id="rId3"/>
    <p:sldId id="418" r:id="rId4"/>
    <p:sldId id="419" r:id="rId5"/>
    <p:sldId id="412" r:id="rId6"/>
    <p:sldId id="413" r:id="rId7"/>
    <p:sldId id="414" r:id="rId8"/>
    <p:sldId id="415" r:id="rId9"/>
    <p:sldId id="416" r:id="rId10"/>
    <p:sldId id="422" r:id="rId11"/>
    <p:sldId id="420" r:id="rId12"/>
    <p:sldId id="421" r:id="rId1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103" autoAdjust="0"/>
    <p:restoredTop sz="94667" autoAdjust="0"/>
  </p:normalViewPr>
  <p:slideViewPr>
    <p:cSldViewPr>
      <p:cViewPr>
        <p:scale>
          <a:sx n="60" d="100"/>
          <a:sy n="60" d="100"/>
        </p:scale>
        <p:origin x="-1240" y="-182"/>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D4026E6-0412-4830-8F06-DF45033103D5}" type="datetimeFigureOut">
              <a:rPr lang="en-US" smtClean="0"/>
              <a:pPr/>
              <a:t>10/6/2021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21BAC6-1780-4248-A045-EEDC4FD7C33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endParaRPr lang="en-US" sz="2400" dirty="0" smtClean="0"/>
          </a:p>
        </p:txBody>
      </p:sp>
      <p:sp>
        <p:nvSpPr>
          <p:cNvPr id="4" name="Slide Number Placeholder 3"/>
          <p:cNvSpPr>
            <a:spLocks noGrp="1"/>
          </p:cNvSpPr>
          <p:nvPr>
            <p:ph type="sldNum" sz="quarter" idx="10"/>
          </p:nvPr>
        </p:nvSpPr>
        <p:spPr/>
        <p:txBody>
          <a:bodyPr/>
          <a:lstStyle/>
          <a:p>
            <a:fld id="{F221BAC6-1780-4248-A045-EEDC4FD7C334}" type="slidenum">
              <a:rPr lang="en-US" smtClean="0"/>
              <a:pPr/>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F8F1E381-20DA-4745-B537-35B514BA6DD7}" type="datetimeFigureOut">
              <a:rPr lang="en-US"/>
              <a:pPr>
                <a:defRPr/>
              </a:pPr>
              <a:t>10/6/2021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94EF19F-72C6-4835-B8F9-C4043AB145C9}"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5656C9F8-4ECB-4B63-B927-93DB51F662D0}" type="datetimeFigureOut">
              <a:rPr lang="en-US"/>
              <a:pPr>
                <a:defRPr/>
              </a:pPr>
              <a:t>10/6/2021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9E5146C-45A3-4063-B945-A6E828CB1A71}"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120DA55-A2EA-4E91-9DF8-848564DA5A8C}" type="datetimeFigureOut">
              <a:rPr lang="en-US"/>
              <a:pPr>
                <a:defRPr/>
              </a:pPr>
              <a:t>10/6/2021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502FCE2-22A4-4D22-98FA-0E266C502294}"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D82FE22C-AAA6-4859-915C-7CA8A229741E}" type="datetimeFigureOut">
              <a:rPr lang="en-US"/>
              <a:pPr>
                <a:defRPr/>
              </a:pPr>
              <a:t>10/6/2021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94E97B5-865B-4943-9516-8680CA16C722}"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2DB4DA2C-F6C4-40D9-95C2-7E16780900E4}" type="datetimeFigureOut">
              <a:rPr lang="en-US"/>
              <a:pPr>
                <a:defRPr/>
              </a:pPr>
              <a:t>10/6/2021</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179A6762-FCC9-4A4D-B55E-A9AEAC8C4268}"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B02FA20-63C4-4E2F-BBAB-9D9ECDF79A55}" type="datetimeFigureOut">
              <a:rPr lang="en-US"/>
              <a:pPr>
                <a:defRPr/>
              </a:pPr>
              <a:t>10/6/2021</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D571E3C-6E5C-4814-A904-273FE3A958CC}"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4E24579-F551-4401-BD9C-1A956A73C8B1}" type="datetimeFigureOut">
              <a:rPr lang="en-US"/>
              <a:pPr>
                <a:defRPr/>
              </a:pPr>
              <a:t>10/6/2021</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6E24CBAC-259E-4BF8-ACF6-FAB2C68750FB}"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C04B6935-2E86-4F35-979C-26D8DA31E11B}" type="datetimeFigureOut">
              <a:rPr lang="en-US"/>
              <a:pPr>
                <a:defRPr/>
              </a:pPr>
              <a:t>10/6/2021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049D8DE-4736-4786-A76F-BA4BFA66C35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34642AA-84FD-46EB-91FE-F301FD1B086D}" type="datetimeFigureOut">
              <a:rPr lang="en-US"/>
              <a:pPr>
                <a:defRPr/>
              </a:pPr>
              <a:t>10/6/2021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2E0BD26-494C-4707-B45F-1E41DB7E206B}"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67AB78B-B950-4223-B948-C26A4E4BFB92}" type="datetimeFigureOut">
              <a:rPr lang="en-US"/>
              <a:pPr>
                <a:defRPr/>
              </a:pPr>
              <a:t>10/6/2021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0435AB7-6027-4C00-A9DE-A82D1F9B718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8E790DE-6227-4769-B4D1-A285E0E78CE4}" type="datetimeFigureOut">
              <a:rPr lang="en-US"/>
              <a:pPr>
                <a:defRPr/>
              </a:pPr>
              <a:t>10/6/2021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F58F97A-8135-4157-8FDD-A5EB0FEF5618}"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6C44B157-FED2-4AB7-A096-BDB0B5D2F088}" type="datetimeFigureOut">
              <a:rPr lang="en-US"/>
              <a:pPr>
                <a:defRPr/>
              </a:pPr>
              <a:t>10/6/2021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5BD64C92-C51E-4B83-930E-D172469398A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atlassian.com/software/confluence"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US" sz="6000" dirty="0" smtClean="0"/>
              <a:t>Software Requirements Management</a:t>
            </a:r>
          </a:p>
        </p:txBody>
      </p:sp>
      <p:sp>
        <p:nvSpPr>
          <p:cNvPr id="3" name="Subtitle 2"/>
          <p:cNvSpPr>
            <a:spLocks noGrp="1"/>
          </p:cNvSpPr>
          <p:nvPr>
            <p:ph type="subTitle" idx="1"/>
          </p:nvPr>
        </p:nvSpPr>
        <p:spPr/>
        <p:txBody>
          <a:bodyPr rtlCol="0">
            <a:normAutofit fontScale="32500" lnSpcReduction="20000"/>
          </a:bodyPr>
          <a:lstStyle/>
          <a:p>
            <a:pPr eaLnBrk="1" fontAlgn="auto" hangingPunct="1">
              <a:spcAft>
                <a:spcPts val="0"/>
              </a:spcAft>
              <a:defRPr/>
            </a:pPr>
            <a:r>
              <a:rPr lang="en-US" sz="6600" dirty="0" smtClean="0"/>
              <a:t>Lecturer: Ngo Huy Bien</a:t>
            </a:r>
          </a:p>
          <a:p>
            <a:pPr eaLnBrk="1" fontAlgn="auto" hangingPunct="1">
              <a:spcAft>
                <a:spcPts val="0"/>
              </a:spcAft>
              <a:defRPr/>
            </a:pPr>
            <a:r>
              <a:rPr lang="en-US" sz="5400" dirty="0" smtClean="0"/>
              <a:t>Software Engineering Department</a:t>
            </a:r>
          </a:p>
          <a:p>
            <a:pPr eaLnBrk="1" fontAlgn="auto" hangingPunct="1">
              <a:spcAft>
                <a:spcPts val="0"/>
              </a:spcAft>
              <a:defRPr/>
            </a:pPr>
            <a:r>
              <a:rPr lang="en-US" sz="5400" dirty="0" smtClean="0"/>
              <a:t>Faculty of Information Technology</a:t>
            </a:r>
          </a:p>
          <a:p>
            <a:pPr eaLnBrk="1" fontAlgn="auto" hangingPunct="1">
              <a:spcAft>
                <a:spcPts val="0"/>
              </a:spcAft>
              <a:defRPr/>
            </a:pPr>
            <a:r>
              <a:rPr lang="en-US" sz="5400" dirty="0" smtClean="0"/>
              <a:t>University of Science</a:t>
            </a:r>
          </a:p>
          <a:p>
            <a:pPr eaLnBrk="1" fontAlgn="auto" hangingPunct="1">
              <a:spcAft>
                <a:spcPts val="0"/>
              </a:spcAft>
              <a:defRPr/>
            </a:pPr>
            <a:r>
              <a:rPr lang="en-US" sz="5400" dirty="0" smtClean="0"/>
              <a:t>Ho Chi Minh City, Vietnam</a:t>
            </a:r>
          </a:p>
          <a:p>
            <a:pPr eaLnBrk="1" fontAlgn="auto" hangingPunct="1">
              <a:spcAft>
                <a:spcPts val="0"/>
              </a:spcAft>
              <a:defRPr/>
            </a:pPr>
            <a:r>
              <a:rPr lang="en-US" sz="5400" dirty="0" smtClean="0">
                <a:hlinkClick r:id="rId2"/>
              </a:rPr>
              <a:t>nhbien@fit.hcmus.edu.vn</a:t>
            </a:r>
            <a:endParaRPr lang="en-US" sz="5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2057400"/>
            <a:ext cx="5715000" cy="3276600"/>
          </a:xfrm>
        </p:spPr>
        <p:txBody>
          <a:bodyPr/>
          <a:lstStyle/>
          <a:p>
            <a:pPr>
              <a:buFont typeface="Wingdings" pitchFamily="2" charset="2"/>
              <a:buChar char="Ø"/>
            </a:pPr>
            <a:r>
              <a:rPr lang="en-US" sz="2400" dirty="0" smtClean="0"/>
              <a:t>To </a:t>
            </a:r>
            <a:r>
              <a:rPr lang="en-US" sz="2400" i="1" dirty="0" smtClean="0">
                <a:solidFill>
                  <a:srgbClr val="C00000"/>
                </a:solidFill>
              </a:rPr>
              <a:t>manage </a:t>
            </a:r>
            <a:r>
              <a:rPr lang="en-US" sz="2400" dirty="0" smtClean="0"/>
              <a:t>software requirements.</a:t>
            </a: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5943600" y="2438400"/>
            <a:ext cx="2762250" cy="211455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References</a:t>
            </a:r>
            <a:endParaRPr lang="en-US" dirty="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
        <p:nvSpPr>
          <p:cNvPr id="3" name="Content Placeholder 2"/>
          <p:cNvSpPr>
            <a:spLocks noGrp="1"/>
          </p:cNvSpPr>
          <p:nvPr>
            <p:ph idx="1"/>
          </p:nvPr>
        </p:nvSpPr>
        <p:spPr>
          <a:xfrm>
            <a:off x="457200" y="1524000"/>
            <a:ext cx="5638800" cy="4648200"/>
          </a:xfrm>
        </p:spPr>
        <p:txBody>
          <a:bodyPr/>
          <a:lstStyle/>
          <a:p>
            <a:pPr marL="457200" indent="-457200">
              <a:buFont typeface="+mj-lt"/>
              <a:buAutoNum type="arabicPeriod"/>
            </a:pPr>
            <a:endParaRPr lang="en-US" sz="2000"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Management</a:t>
            </a:r>
            <a:endParaRPr lang="en-US" dirty="0"/>
          </a:p>
        </p:txBody>
      </p:sp>
      <p:sp>
        <p:nvSpPr>
          <p:cNvPr id="3" name="Content Placeholder 2"/>
          <p:cNvSpPr>
            <a:spLocks noGrp="1"/>
          </p:cNvSpPr>
          <p:nvPr>
            <p:ph idx="1"/>
          </p:nvPr>
        </p:nvSpPr>
        <p:spPr/>
        <p:txBody>
          <a:bodyPr/>
          <a:lstStyle/>
          <a:p>
            <a:r>
              <a:rPr lang="en-US" sz="2800" dirty="0" smtClean="0"/>
              <a:t>Requirements management includes all activities that maintain the integrity, accuracy, and currency of requirements agreements throughout the project.</a:t>
            </a:r>
          </a:p>
          <a:p>
            <a:r>
              <a:rPr lang="en-US" sz="2800" dirty="0" smtClean="0"/>
              <a:t>The core activities of requirements management:</a:t>
            </a:r>
          </a:p>
          <a:p>
            <a:pPr lvl="1"/>
            <a:r>
              <a:rPr lang="en-US" dirty="0" smtClean="0"/>
              <a:t>version control, </a:t>
            </a:r>
          </a:p>
          <a:p>
            <a:pPr lvl="1"/>
            <a:r>
              <a:rPr lang="en-US" dirty="0" smtClean="0"/>
              <a:t>change control, </a:t>
            </a:r>
          </a:p>
          <a:p>
            <a:pPr lvl="1"/>
            <a:r>
              <a:rPr lang="en-US" dirty="0" smtClean="0"/>
              <a:t>requirements status tracking, and </a:t>
            </a:r>
          </a:p>
          <a:p>
            <a:pPr lvl="1"/>
            <a:r>
              <a:rPr lang="en-US" dirty="0" smtClean="0"/>
              <a:t>requirements tracing.</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Managing Requirements </a:t>
            </a:r>
            <a:br>
              <a:rPr lang="en-US" dirty="0" smtClean="0"/>
            </a:br>
            <a:r>
              <a:rPr lang="en-US" dirty="0" smtClean="0"/>
              <a:t>On Agile Projects</a:t>
            </a:r>
            <a:endParaRPr lang="en-US" dirty="0"/>
          </a:p>
        </p:txBody>
      </p:sp>
      <p:sp>
        <p:nvSpPr>
          <p:cNvPr id="3" name="Content Placeholder 2"/>
          <p:cNvSpPr>
            <a:spLocks noGrp="1"/>
          </p:cNvSpPr>
          <p:nvPr>
            <p:ph idx="1"/>
          </p:nvPr>
        </p:nvSpPr>
        <p:spPr/>
        <p:txBody>
          <a:bodyPr/>
          <a:lstStyle/>
          <a:p>
            <a:r>
              <a:rPr lang="en-US" sz="2800" dirty="0" smtClean="0"/>
              <a:t>Use an agile project management tool to track the status of an iteration and the stories allocated to it.</a:t>
            </a:r>
          </a:p>
          <a:p>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Manage Requirements?</a:t>
            </a:r>
            <a:endParaRPr lang="en-US" dirty="0"/>
          </a:p>
        </p:txBody>
      </p:sp>
      <p:sp>
        <p:nvSpPr>
          <p:cNvPr id="3" name="Content Placeholder 2"/>
          <p:cNvSpPr>
            <a:spLocks noGrp="1"/>
          </p:cNvSpPr>
          <p:nvPr>
            <p:ph idx="1"/>
          </p:nvPr>
        </p:nvSpPr>
        <p:spPr/>
        <p:txBody>
          <a:bodyPr/>
          <a:lstStyle/>
          <a:p>
            <a:r>
              <a:rPr lang="en-US" sz="2800" dirty="0" smtClean="0"/>
              <a:t>Keeping all project stakeholders informed about the current state of the requirements throughout the development process.</a:t>
            </a:r>
          </a:p>
          <a:p>
            <a:r>
              <a:rPr lang="en-US" sz="2800" dirty="0" smtClean="0"/>
              <a:t>It lets you know where you’re headed, how the trip is going, and when you’ve arrived at your destination.</a:t>
            </a:r>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 Happens</a:t>
            </a:r>
            <a:endParaRPr lang="en-US" dirty="0"/>
          </a:p>
        </p:txBody>
      </p:sp>
      <p:sp>
        <p:nvSpPr>
          <p:cNvPr id="3" name="Content Placeholder 2"/>
          <p:cNvSpPr>
            <a:spLocks noGrp="1"/>
          </p:cNvSpPr>
          <p:nvPr>
            <p:ph idx="1"/>
          </p:nvPr>
        </p:nvSpPr>
        <p:spPr/>
        <p:txBody>
          <a:bodyPr/>
          <a:lstStyle/>
          <a:p>
            <a:r>
              <a:rPr lang="en-US" sz="2800" dirty="0" smtClean="0"/>
              <a:t>Evaluate change request (Impact analysis)</a:t>
            </a:r>
          </a:p>
          <a:p>
            <a:r>
              <a:rPr lang="en-US" sz="2800" dirty="0" smtClean="0"/>
              <a:t>Make change decision</a:t>
            </a:r>
          </a:p>
          <a:p>
            <a:r>
              <a:rPr lang="en-US" sz="2800" dirty="0" smtClean="0"/>
              <a:t>Implement the change</a:t>
            </a:r>
          </a:p>
          <a:p>
            <a:r>
              <a:rPr lang="en-US" sz="2800" dirty="0" smtClean="0"/>
              <a:t>Verify the change</a:t>
            </a:r>
            <a:endParaRPr 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Impact Analysis Procedure</a:t>
            </a:r>
            <a:endParaRPr lang="en-US" dirty="0"/>
          </a:p>
        </p:txBody>
      </p:sp>
      <p:sp>
        <p:nvSpPr>
          <p:cNvPr id="3" name="Content Placeholder 2"/>
          <p:cNvSpPr>
            <a:spLocks noGrp="1"/>
          </p:cNvSpPr>
          <p:nvPr>
            <p:ph idx="1"/>
          </p:nvPr>
        </p:nvSpPr>
        <p:spPr/>
        <p:txBody>
          <a:bodyPr/>
          <a:lstStyle/>
          <a:p>
            <a:r>
              <a:rPr lang="en-US" sz="2400" dirty="0" smtClean="0"/>
              <a:t>Understand the possible implications of making the change. A requirement change often produces a large ripple effect, leading to modifications in other requirements, architectures, designs, code, and tests. Changes can lead to conflicts with other requirements or can compromise quality attributes, such as performance or security.</a:t>
            </a:r>
          </a:p>
          <a:p>
            <a:r>
              <a:rPr lang="en-US" sz="2400" dirty="0" smtClean="0"/>
              <a:t>Identify all the requirements, files, models, and documents that might have to be modified if the team incorporates the requested change.</a:t>
            </a:r>
          </a:p>
          <a:p>
            <a:r>
              <a:rPr lang="en-US" sz="2400" dirty="0" smtClean="0"/>
              <a:t>Identify the tasks required to implement the change, and estimate the effort needed to complete those tasks.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a:t>
            </a:r>
            <a:endParaRPr lang="en-US" dirty="0"/>
          </a:p>
        </p:txBody>
      </p:sp>
      <p:sp>
        <p:nvSpPr>
          <p:cNvPr id="3" name="Content Placeholder 2"/>
          <p:cNvSpPr>
            <a:spLocks noGrp="1"/>
          </p:cNvSpPr>
          <p:nvPr>
            <p:ph idx="1"/>
          </p:nvPr>
        </p:nvSpPr>
        <p:spPr/>
        <p:txBody>
          <a:bodyPr/>
          <a:lstStyle/>
          <a:p>
            <a:r>
              <a:rPr lang="en-US" sz="2400" dirty="0" smtClean="0"/>
              <a:t>Confluence</a:t>
            </a:r>
          </a:p>
          <a:p>
            <a:pPr lvl="1"/>
            <a:r>
              <a:rPr lang="en-US" sz="2000" dirty="0" smtClean="0"/>
              <a:t>Confluence </a:t>
            </a:r>
            <a:r>
              <a:rPr lang="en-US" sz="2000" dirty="0" smtClean="0"/>
              <a:t>is your remote-friendly </a:t>
            </a:r>
            <a:r>
              <a:rPr lang="en-US" sz="2000" dirty="0" smtClean="0"/>
              <a:t>team </a:t>
            </a:r>
            <a:r>
              <a:rPr lang="en-US" sz="2000" dirty="0" smtClean="0"/>
              <a:t>workspace where knowledge </a:t>
            </a:r>
            <a:r>
              <a:rPr lang="en-US" sz="2000" dirty="0" smtClean="0"/>
              <a:t>and </a:t>
            </a:r>
            <a:r>
              <a:rPr lang="en-US" sz="2000" dirty="0" smtClean="0"/>
              <a:t>collaboration meet</a:t>
            </a:r>
            <a:r>
              <a:rPr lang="en-US" sz="2000" dirty="0" smtClean="0"/>
              <a:t>.</a:t>
            </a:r>
          </a:p>
          <a:p>
            <a:pPr lvl="1"/>
            <a:r>
              <a:rPr lang="en-US" sz="2000" dirty="0" smtClean="0">
                <a:hlinkClick r:id="rId2"/>
              </a:rPr>
              <a:t>https://www.atlassian.com/software/confluence</a:t>
            </a:r>
            <a:endParaRPr lang="en-US" sz="2000" dirty="0" smtClean="0"/>
          </a:p>
          <a:p>
            <a:pPr lvl="1"/>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Further Reading</a:t>
            </a:r>
            <a:endParaRPr lang="en-US" dirty="0"/>
          </a:p>
        </p:txBody>
      </p:sp>
      <p:sp>
        <p:nvSpPr>
          <p:cNvPr id="3" name="Content Placeholder 2"/>
          <p:cNvSpPr>
            <a:spLocks noGrp="1"/>
          </p:cNvSpPr>
          <p:nvPr>
            <p:ph idx="1"/>
          </p:nvPr>
        </p:nvSpPr>
        <p:spPr/>
        <p:txBody>
          <a:bodyPr/>
          <a:lstStyle/>
          <a:p>
            <a:endParaRPr lang="en-US" sz="2000" dirty="0" smtClean="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5052</TotalTime>
  <Words>277</Words>
  <Application>Microsoft Office PowerPoint</Application>
  <PresentationFormat>On-screen Show (4:3)</PresentationFormat>
  <Paragraphs>39</Paragraphs>
  <Slides>12</Slides>
  <Notes>1</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Software Requirements Management</vt:lpstr>
      <vt:lpstr>Objectives</vt:lpstr>
      <vt:lpstr>Contents</vt:lpstr>
      <vt:lpstr>References</vt:lpstr>
      <vt:lpstr>Requirements Management</vt:lpstr>
      <vt:lpstr>Managing Requirements  On Agile Projects</vt:lpstr>
      <vt:lpstr>Why Manage Requirements?</vt:lpstr>
      <vt:lpstr>Change Happens</vt:lpstr>
      <vt:lpstr>Impact Analysis Procedure</vt:lpstr>
      <vt:lpstr>Tools</vt:lpstr>
      <vt:lpstr>Further Reading</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2264</cp:revision>
  <dcterms:created xsi:type="dcterms:W3CDTF">2007-10-06T08:25:13Z</dcterms:created>
  <dcterms:modified xsi:type="dcterms:W3CDTF">2021-10-06T16:13:40Z</dcterms:modified>
</cp:coreProperties>
</file>