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2"/>
  </p:notesMasterIdLst>
  <p:handoutMasterIdLst>
    <p:handoutMasterId r:id="rId43"/>
  </p:handoutMasterIdLst>
  <p:sldIdLst>
    <p:sldId id="256" r:id="rId2"/>
    <p:sldId id="446" r:id="rId3"/>
    <p:sldId id="608" r:id="rId4"/>
    <p:sldId id="358" r:id="rId5"/>
    <p:sldId id="642" r:id="rId6"/>
    <p:sldId id="640" r:id="rId7"/>
    <p:sldId id="655" r:id="rId8"/>
    <p:sldId id="350" r:id="rId9"/>
    <p:sldId id="672" r:id="rId10"/>
    <p:sldId id="670" r:id="rId11"/>
    <p:sldId id="671" r:id="rId12"/>
    <p:sldId id="398" r:id="rId13"/>
    <p:sldId id="667" r:id="rId14"/>
    <p:sldId id="668" r:id="rId15"/>
    <p:sldId id="349" r:id="rId16"/>
    <p:sldId id="673" r:id="rId17"/>
    <p:sldId id="647" r:id="rId18"/>
    <p:sldId id="650" r:id="rId19"/>
    <p:sldId id="656" r:id="rId20"/>
    <p:sldId id="657" r:id="rId21"/>
    <p:sldId id="675" r:id="rId22"/>
    <p:sldId id="677" r:id="rId23"/>
    <p:sldId id="682" r:id="rId24"/>
    <p:sldId id="683" r:id="rId25"/>
    <p:sldId id="681" r:id="rId26"/>
    <p:sldId id="674" r:id="rId27"/>
    <p:sldId id="678" r:id="rId28"/>
    <p:sldId id="679" r:id="rId29"/>
    <p:sldId id="676" r:id="rId30"/>
    <p:sldId id="649" r:id="rId31"/>
    <p:sldId id="659" r:id="rId32"/>
    <p:sldId id="660" r:id="rId33"/>
    <p:sldId id="654" r:id="rId34"/>
    <p:sldId id="646" r:id="rId35"/>
    <p:sldId id="643" r:id="rId36"/>
    <p:sldId id="644" r:id="rId37"/>
    <p:sldId id="645" r:id="rId38"/>
    <p:sldId id="651" r:id="rId39"/>
    <p:sldId id="653" r:id="rId40"/>
    <p:sldId id="359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94667" autoAdjust="0"/>
  </p:normalViewPr>
  <p:slideViewPr>
    <p:cSldViewPr>
      <p:cViewPr>
        <p:scale>
          <a:sx n="50" d="100"/>
          <a:sy n="50" d="100"/>
        </p:scale>
        <p:origin x="-155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3/16/2022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3/16/2022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identify</a:t>
            </a:r>
            <a:r>
              <a:rPr lang="en-US" sz="2400" dirty="0" smtClean="0"/>
              <a:t> a use case.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write</a:t>
            </a:r>
            <a:r>
              <a:rPr lang="en-US" sz="2400" dirty="0" smtClean="0"/>
              <a:t> a use case.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draw</a:t>
            </a:r>
            <a:r>
              <a:rPr lang="en-US" sz="2400" dirty="0" smtClean="0"/>
              <a:t> a use case diagram.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Use Cases.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600" dirty="0" smtClean="0"/>
              <a:t>Use Case Diagrams.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Goal Levels.</a:t>
            </a:r>
            <a:endParaRPr lang="en-US" sz="26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Craig </a:t>
            </a:r>
            <a:r>
              <a:rPr lang="en-US" sz="2400" dirty="0" err="1" smtClean="0"/>
              <a:t>Larman</a:t>
            </a:r>
            <a:r>
              <a:rPr lang="en-US" sz="2400" dirty="0" smtClean="0"/>
              <a:t> (2004). Applying UML And Patterns.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Grady </a:t>
            </a:r>
            <a:r>
              <a:rPr lang="en-US" sz="2400" dirty="0" err="1" smtClean="0"/>
              <a:t>Booch</a:t>
            </a:r>
            <a:r>
              <a:rPr lang="en-US" sz="2400" dirty="0" smtClean="0"/>
              <a:t> et al. (2005). Unified Modeling Language User Guide. Addison 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Alistair Cockburn (2001). Writing Effective Use Cases.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Bad Communication [1]</a:t>
            </a:r>
            <a:endParaRPr lang="en-US" sz="3800" dirty="0"/>
          </a:p>
        </p:txBody>
      </p:sp>
      <p:sp>
        <p:nvSpPr>
          <p:cNvPr id="64526" name="AutoShape 14" descr="data:image/jpeg;base64,/9j/4AAQSkZJRgABAQAAAQABAAD/2wCEAAkGBxMTEhUTExMWFRUXFxkaGBgVFxkaGBgaHxgaHRoYFxcaHSggHR0lGxcdIjEiJSkrLi4uFx8zODMtNygtLisBCgoKDg0OGhAQGy4lHSUvLS0vLS0tLy0tLS0vMS0yLys3LS0rLSstKy0tLS8tLS0tLS0tLS0tLS0tLS0tLS0tLf/AABEIAJ8BPgMBIgACEQEDEQH/xAAcAAABBQEBAQAAAAAAAAAAAAABAgMEBQYABwj/xABDEAABAgIGBQgIBQMEAwEAAAABAAIDEQQSITFBUQUGYXHwEyKBkZKhsdEUMkJSU2LB4QczcqLSFSOCY7Li8UOToxb/xAAZAQEBAQEBAQAAAAAAAAAAAAAAAQIDBAX/xAAuEQACAgEEAQMDAwMFAAAAAAAAAQIRAwQSITFRE0FhIqHwFDKxkdHhBUJxcsH/2gAMAwEAAhEDEQA/AN8bEBauccEW3rgbsU2/agQualOatEsTLj6rrOM0tNH6ILFlEHwSA1HjvQC3D6oHzRFo4zSZYqkFuulvScwg4zw4mkhAOuF/2zRmmg6+/wC6cligDK+xJLb/AD2ovOK6fhtQHINKURhvzzTcSIGNLjYA0km24WnuCFKrWLWSFRQAQXvMyGAyszccAsW7WSn0qIGwSWk21IQ73OdM5YgKspUZ9KjueRN0R1g2Eya3qkF6hoPQ7KNCDGjnH1nStcfLJcU3N8dH1548WkxpyVzfn86RjaRpunUeI1kWI1zyASw1XSncDVF+4rVaB1hZSBVIqxQJlpuOZacdy831lp3K02LEbaA+TdzDIHcSJ9K32n9X+VHpEDmxRzrCBXylk7bjipFu3XJvNDFKMVkSi37rhJ8drwaJzfrkmyLSqXVrT3Lgw4lkZoM7AJ2+OYV3tnmuqaatHyc2GWKbhLsSc+AjNFot4zXG/jNU5jZSppRHh9UklAKHFyRPixKrBcgBK1cQhXuRn1/dABDLJFGXHj4oQDc10kQAksNyoAW3LpXIuXDJAJcL0hycdkkEIBhzqRP1IUv1u8kA+kT9WF2nZblMJRnsUT+DruXgjV49smw+07+KLYkefqw+07+KfajWV3fBNy8Edz43uw+07yQBjHCFOfvHyUwELgArfwTcvBDY+NbMQ783d1iE4v8Ap9Z8lMq2okJfwNy8EVjouTL9vklPfFwqdbvLYnpLi1XcS0MExZ3M/cucYl/M63bsk8AOtEyvUsWhg8rK2p+5EOiX8y3KsnrMuJ71xHHUlixl5ifLL/LNc10TJvenzxxNCzJLFiK78md+arNaYrhRI06om2Vk8XAfVXB8/FVus0GtRYwF9QmX6SCfBST4Z0wNerG/K/kwepjZ0qHOXtG3GTT/AN9C2+tWk3UeixYk2zkWtkbazua09E59Co9SNGwojBFtESE82g3ggSBErr1p9M6LhUmEYUUEtJBsmCCLiDKxc8V7T3a/JF6hJ+3D/qeUwtHH0JtJlfGqf41Tzu0JdC9O1apb4tFhOBbY2qZzvbzTOW5QdZNHw4WjXwoYkyGBVBmTY9ts9pxTf4cxCaM4G4RCB0tafFSC2yr4Lnyevp3PxL7DGt2iYjT6XCIa9hBfVnhc8Tyx2Kx1f0y6kw5hzA9vriTrMiLbir8tneAb715vTnegU41fUmDLOG68HdhuCsnsluXTM4X+pxelL90f2v48G/cYkr2T/wAsztQeYt4LOp3mnzIgEWiw9E10r11s+dYw4RM2z3Oz3puIyLO9l2Ts96m1eOneg4JYshgRZesye53miGxc2Y+y7zUkYoOxSxZHlE95lnynO3FJc2L7zOyfNSZ4pV/SliyGRF95nZP8kCIvvM7Lv5KU8ISSxYyBE95nZPmuc2LP12S/SfNSClD6fVLJZFqxTPnMu9w/ySWCJi5puuYf5KU5B/HWliyMGxLee3sH+SQ5sT329k/yUtAtSxYQEppFqiCNF+E3t/ZcY0W7k29u4dSyom9jJIB4zRCjuixZ/lt7f/FARos/y29v7LW0ztZMKBKimLGn+W3t7N3EkHRI3w23e/8A8Vdo2smh6S5/0UPlI2MNvb+yNeJ7je19lNo2smAT7slxUWvE90dr7IcpENzQf8j5JRNrJWH/AEhLjpTDY0Wfqt7R8l1eJ7o7R8laG0kT46UGZWcHcmGxn2c0C72j5LuWiAyDB2jfPcpRdrJB461w2ZJlromTes+S4OfK5vaOe5KJtZJLuLc0l7QQQcQZ3439yarxLLG9o+SRXie63tHySi0zFaMjnR9LfCiWQnWB2yfNf0XHpW+aQRMEEEWEGwjfPJVmltGtpLKsVjbJ1XB0i20XGXdisqzVinQPyI7Q2d1dzemrIhcknD5R78jx6mpSltn076fyabXKyhRtwH72qi1H0rBg0Z/KxGtPKGw+seYy5t5uKYpGgNJRWlsWM2rK0GIZHeA23pT1B1DAtixK3ysMgemRKn1N2kdYRwQwvHOd274DpTXNzzydFYSTZWc2ZP6WDxPUm9EaoPiO5WluJnbUrTcT87p2DYO5aehaOZBEoUKGzCY9Y73FsypZc/JnaOf6VpY2+ZM5S1UYR24I18+44BJshZKQlZZbclRMenJR2vi4hu205/pR5SJkzHE/xXSjwUPO88s0T5qPWifJj7R7ualB8S+TbzO0/wAUoUPSvOzZmkgi37JsOi/JLef4pIMS2dXrPklCh8jd3LsD9lHJi/JbPE+SIiRPkxxPklCh9w+qQ3FNnlPk6z5JDTFl7Hf5JRKJDuNtqHFu9MOdF+T9y5zovyfuzu4zShRIrWcZoPKYcYomRU/cjOLjUv8AmShQ9PjgLqqZPKfJ+7jNLhtifL3pQoM0sCxAIYFYQs5zROaUGIA93F6VPjpWqJYpoUb+oQrTysOz5wnogrNIumCJ7xZ4ryGl6sUpgikwjVhhxL7AJATm042ZLMpNex6dNhjlvdKj1aFTYTjVbFY4m4BwJNmU0+QvN/w60PypFIdElyUSQbK0kNBFuA5y9JBmkXaM6jHHHLbF35Ol9EGjDalArnS8Fs4WJISQLExT9IQoIHKxGsrEATIE9w4vUht1loMsfqoWnViA3jpSglNHHShJCHAIy3bLNqIN33RHF+aAFYD69YXWWhEhICAeB+viqah6y0eLHdAYXV2lwtFhLTbVONx6lbS22ffevM6bRPR9LNlcYzXdEQ295IWZtqj06fFHJuT7q0enS4t7kZfXApoWXZbNi5zr/stHmFAeJwPmuJ4kV1+GeS6Y2Y5IDpX525+aU4y780mV/TgEt7Jz6ctiAEj45pTh47Vl9edKxaOyGYTg2s8gmq0mwCy2dl6tdXtJekQGRSAHOnWAwIMjKe0KWro6vDJY1k9mWX3Ql9c0oeeWSabGYXOaHtLm+sAWkizET2KnMcM8vFIIPE0uV32y3pLhuxyyQgfukkcW5JXGGSPT4ZIBoj6pUlzhxZkg4Wn7IDiEAzjqRF1uaKoE4bs5IOMrkoixKkgIPLxbP7P72ow48Uj8kf8AsHkpYuWe1u1iNDEOrDDy+d7iAAJZDGt4qbklyjrCO+W2K5/PkuBGifC/e1HlYnwv3t8lhmfiFFN0GGN7nHyUyg68vc9rXwmhpcASHOmJm/7LPqx/LPT+hzVe1f1/ya8R4nwx2x5KLpV8R0CM0wwAYUQeuD7JwAVkeL80ikCbHDAtcD0iWa6Xx0eOMkmuDB/he93JRg1tbntPrS9ndsW0ZGiTthjtjLcsR+FLrY7djHf7gfEJH4jwo0OkQaQx5AlJtUyDXNM5EDOc+grnCSUE6Pdnxb9S4fnRvTEf8PH30REf7gP+X2XnGnNcY7nQzBiFgaxtaQEnPIBdMEXA2da9C0PTOXgQ4spV2zMiLDKTh0FaU03SRwy6eWKKlJdnmWvOmIdJjMLLobS0nM1sJ4eavNFa7Q4MGDC5J7qjGNc6YAsAmQMblmNIaDdCpXo7je9oBbbY4iR3yNy3Q1CowlN8U3T5zbbNjbFyTk22j3z/AE8ccYz69jQQo73AODAQQCDWvBtBuy8UsvefYBw9b7IwoAbDDGiwNDW25CQtXmOpmkzR6Q7lnkMqvrgknngg2DF07J7V1c0qtHgxYfUUnH2+56YXvs5gtv513cjXcASWtAAnMuslPGzJedUzXWOY4ezmw2mQhmXOHzHM7LvFf4gaWiOjGDa2G0Cz3iQDMyvvkNyz6se6O0dFNyUZUrNdH1lgsMnPhz2PmOtoMvsp1GpRiNrsDHNOIf8Aa9efaqapupTXPc4sh+yasy44yGQs61aagvcykR4AcXNALhfIua8AuG8HuUWR+6N5dLijGWx3KPZsg+J7gx9r7LBa6lwpsNxEjKGZTndEOMlY6+6yxILxAgksdKs5+NpsDZ7jM7liI+lIr3iJFe57hK03gAzsUyTVVRvQ4JJ+o+mj2IxIk/yx2zn+lJfEie4O2Z+Cp9eaZEZRBEgPqzc2bm4tcMDhaW2pGomkIkejExTWLH1Q43kSBtM7b/Bdd6uqPB6T9P1Pmi7ESJL1B2j5IVomLG9o+SzOsWtL4FMbCDRyYqlx9og5E2D/ALWvlO1FJPiiTxuCUmuxkOie6MR652fKoWm9Muo0IxXMB5wAaH2knD1cp9Sy2sOusRsUto1UNbMFxE65xIyFklpXQWaQobSZtrisLJ1XCwkCdonMbis707S7O36d49ssq+lmZ1l1lhUqjhgYWurB0nYWGdosxSdA64Mo1HbC5IucC72gBa4nLJJ0zqeaNAMXla0iBKrIW7ZlPau6mw48BkV8R4rF1jQJWEi8g5Lnct3XJ9FrTLAufov57NloynmNCbFa0ScJibjZZaDzdiw9C0XSaPpFp5MuDnvIcJ1S1wMyXAWETxF4W90XQWQYbYTJyaD61pttJ6yVmNZNb30alckGB0NoBdOxzpt9kzkAAR0grpKqTZ4MEpOc4Ylaaffg1QiRfcb2jl+lM0mlOhtL4lRrBeS8/wAVIo0UPa1zTNrgCDmCJjuXmmsGmHUqk8k0yYH1GCchW9WuTjM44BWU0l0Z02D1Z0+EuzWQNcYL31GkC2Qc4uDTgLS2Y6ZK7YYlvNbPKs7LHmrE6c1RZR6M6IYji8VbJAMNYgSGNk79i2eiIlaDCcbzDYTvq24qRk7po3qcWFQU8XKuufI3Hpxa5rCYQc65rohDjO6QqzKWYsacgxnbd/Befa7w3MpwdMmYhubhKVkgcLWz6Vq9btNchD5Nv5kRlhHsiUp5zwG4p6i5tdD9K36ahy5fYs2xop9VsMgH4h/imKZpTkmgxTBZOcg6IRO75Z4rK/hw+USM24SaZYTnKfGal/iFomJEDIsNpcGAh4ErAbQQMcbk33G0iPTxjn9KT48moDosvVZ2z/FLJie6ztHZsUPViv6LBr+tVxvl7M+iStiLVu7XR5ZrbJx8DTSoeldFwqQzk4rKwmCJWEGWBwRFMdP8l+OLdm1K9Kf8F/W3zU22FGSdr+SHQ9WaJClVgtJmJF/OP7irGjUdjbQxou9VrR4Jo0l/wn4Yty3pYjv+E/rGW9VQLKWSXb+5IPF2abpFLhw21oj2sbdNxAE8urwTIpESX5L+seaz+ulBjUmCKsJ82GtKYMxK2ydp++aSTSsYsalNKTpGd1DpoZTHsF0QOa3ZI1gTskD1rQfiVR3GjMcBYyLN0sAWkT6yOtY/RurFKiyc2C4DN/Ns2TtK9I0bR3sgMgxGV6rKriSJHMW4eS5Y4txo+hqXGOSORNNrtGG1b1c5aix4pEyGkQwL6zRM2bbB0lXv4a6Qmx8A3tNZu43jr/3LTUcljarIIa0TAaC0AdCz+itAOo9JMVgIhkEBlZuPskk2gX52K+k000ZlqFlhOM+Pdf2KnXg8nTYUUgylDdcfZdb3S61L0/ryKzBRZkNcC9xEqwHsAHPPqV/rFov0uFUc2q4Eua4FpkZSMxkqLQupQhua+LOIWmdUFobPCc7So8c7de5rHlwSxxeTuPFeTZQYlYNdbIyONxE143pKGTSorGiZMZ7RLEl5AC9hfGd7n7mrPRtV2PpXpJY69rqgcwAvFtYmdxlctTxuRw0maOKUmyXoHVmDBY2uxr4k2kucJyOTZ3ATVH+JNAJ5KMBMSqOI3zbPrK2QjP8Ah22e01IpA5RhY+FWa4SIJbI8fRV4/poxj1E45lklyYWJri5tHZBgsqEMDS42kSHsAY4zVnqBohzA+O8Sriq2d8p2ut2gKdQ9V6Ox1bkHON4D3tcB0XHpV9yrx/4zLeFiOOV3Jnoz6jHscMK77bPMdc21ae4xAS0lhlmyQBl1FQdYaXDjPBhQmwobRJrWgTO1xF58F6Lp/QbKWByjHtc25zXNnKdxneExo/VeBDY5hgGJMSL3uFa+yUrsLlHilfB2xavEoR3dpV/nwRNDV6VoyJDcBWa1zGyxqBpb0zsVVqTp2FR4UVkUkc6s0SmSZAEXX2C9begwuSa1kODVYAZAOu35nas5pvVExYhiwwYZcZuBkRtLZYlaeOSprs44suGbnCfEW7RiNO0x1IivjOEqxsGQwHUvStE6QEah12EF/JEEAgEPDZS2Wiai/wD5dooz4DWGu6+I4gmYMxZgPNNamaHj0RsURGg1i0gNdOUpgz3z7lIwknz7mtTlxZMf0/7XwvKMTq7DopefSnODA2yqDadtW0LZRNdaLCDGQob3MbZYAA0SlYHWkpvSepzYr3RGNdCLrS3mls7JyulO9JgajMlzzEcflqgd8yosc48KvsdcmTTZfqnJ/wDH5/cs9c44fQQ9gsc5jtsiLJjDBU1F1jhQ9H8k1zhGk8CreCSZOJwFuFq1dKoxiQDAME1S2qOcObICR3iw9CyVE1GiAziEls7mSBIlmbAtSxzu1/KOenyYPS2ZHVStfJoNTNJvjwK0SVZjiwus53NBBIlkZdCyn4iUYCltJHrMYT1kHuC22joHIMDIVHLROcq4NpF5JNv2VRrdoONSxDcyHVe2Y5zxKqei+zvVljlsOeDLjjqXLqLs1DAA0BshIADYJWLynVqgt9OhsimVVzp2ym5syBP9QXo+j3RmQ4bDCLnNY0EhwtIbKzqWY1p1ajRohiwoMiRzhWAmfeG0i/bvScHSZNJOMXOEnSfuOa+aaY5ogQyHXOeRIgSubZjP6LTaHhFkCE114YwGUvd46lktX9VY0N7YkaGDVkWsriU8KxlhktgI8bGD+8JCMm9zGqeNY44sTtLlv5Mp+JFF5sKMMDUOdomMNh61T6Co8SnUicRxIEi85NFzRvu6yt5ToTo0N0KJABY4Wzf3jI4pnQlA9GbycOCZTmXF4mTdbLIBJYW5X/6axaz08O1fuV117mK0PpIUOlxA8GrzmGQE7HWHu71t9L6fhUdrHPma5FUNvIkJnCy3vVbpPVpseNypYWzlWDXNk4jG68/RMa2aHpFK5MQ2NaGTnWfYZgSIs2KKEopjLPDmnCUn/wBjTwKQ2I0PYazXCwieScinf3qn0BQ4tHgNhcmHETmeUEiTM2CW3uVkIj8WAXe21dNrrk8E4pSe18DkhLDHi9KdLxyyQNglv4uXA/U4+SyjB3V3ZLmATG/ZkibMT35bkpvT35blSCatmF4yzXNHHSlSPhnkkgWCzLNUHNu4zXHp6yubYOM96BE7Nhv370Ao4ynjdPYuJ34ytKGB6eL0Zgd+Wyy9AEXY45okcW5IFtmF5y80Yhx8skB32zyQu4KPVhfLJBrfplkgO4xSxh0eKQG3XYZbUWys6LLEAQOOneu4796SDdtlxclHjr3IUTx0TtxzSh3S2ZotHE9u5cPofHchDg2/pyzQwPTls2pbMdx8dyBuNuf02IDnCzrySXi/pS3Cy2y+9RY2koLb4rBf7QmhR4N3Y+G9LYOLMt6rX6dowP5zcc8v0pDdZKMXVRErHYDIWZ1UoFq0cWZb10rvt5qth6w0d0gIl+Nsrv0os1goxMhFBu96V2dVKYssAOLMt6P2wHmoDNN0dxAEUHrl/tS26bo8w3lmkm6+39qUxZLHll5oBuzLAbUxD0vRyZcq3DEy22yQbpijEhojNmZWT+yUCXK7owG1JAGMsMAmxpejkhoisnYL0WaSgmQERt4Fh2pQFADiW1BuAnlkgdIQbuUbOd1YXz3pqPpqjsMnRGzxAtx2JQHQ36Lqv04uVe/WeiNInElPY7x3If8A6ehj/wAzcMz4FWmQs2cX+SUbh9/JV0PT1GN0ZuHF6dbpmjy/MZh9dqUxZGGkARZDiZep4WpbKbYeY8X2FqfdvOGeaVgb+Cspo6Nx8DJpvyPx9kLhTf8ATiY+yMt/E084ynfjmlSPjmtWiWvBH9L/ANN9ksG5b1wpX+m/qapVvG5CQ24eG9LRLXgiilH4b8MG5704ykn4b+5O/bi9FuG7670teBa8DbY5+G/Fdyx9x+OH3SgbLs8s964ASwxyzS0LQBSSQeY/zu2pTqQT7Du7Lei649OS449OWQSxaEuimfquw8N6IjH3H4ceslvI4lluSQfplluS0LQOXJHquww/5INjGzmOw49ZLa4eGXkkVvolocBZSD7j+rb+pJ5Y/Dd0Sz3qFpbTUGjNrRXhowF7jLBrZLJUj8TqKDIQoxwBkz+Sm5eDSV+xu20g4scOrP8AUkRtIBjaz2loleS0C/8AUsJSNa4rpyeWjANa0S/yJmqSNpZriXRuUiEOIDHPIbKy0yttOUlxx6iOSW1I+nq/9KyaXD6uRrtKlZu6brvAZOqHPOywX5zVLSta6XE/LZybbbf+TrFmXafIshiHDHyMAPaM3HrUKPT3RDznudvJK9FI+QXUaO97v71Jbbm9zpdDAVGfEhA2PLtobLxkVWthzR5MqohbwqVCxc4dAP1UqhRoLeUk55NVxaZAC43iZN3eqFsNSqAAGxCfhvA6pLSZlot6PHgAOAc+s1jr2tq2NMzOtPuRo0SA1hAiP5RrHWFgqzDbedX+iqqI0DlCfhROssIHikwWj+4T8N/WWmXeVqyUXdDMAMkIx5RrHc0w5NmGmfPrbDgjQhBDQBG/uBhm0sIEw0z585Kko0iYhIvhRessdLvKXQiKznEf+OL1mG6XeUTDRc0BsINH94GIGHmVXXhpmKxsXaPbDAb/AHml4aeZVfOYBsnKXeqWggFxcbqjz/8AMy705ov8wON1R5/+ZRPojRcaKhQzUHLMr+5VfMnAVqtXvXaJYz+2OWZXNzJPmTgJ1atu9VOgmgxoRd6sxPdJdoBs40AuurMn0SmifQaLTRzGmp/cZWJsbzpm2wA1ZW78VF0fDZM8rFbCnMisHGyeTQeAoWixOJCJ9Wsye4EAqG59czyAb1CSjZUix1kFHDWypIdf6sN/umznSWb5SDhHP/rd5qRpWFNrd5/2kKm9CdwCu+NquUYkmTzGh/F/Y5A0mH8Qdl3koHopQNFcun0mOT6FOC4S2d3ko7qc358PYd02yXCljJ5/xcvmJM9rg/BKcf8Arp3JcxfsP0UVtLHz9l2aApgtEn9l2a1TJtZL+/huQPHElGdSx7r8fZci+mCXqvx9g5SzVpk2skAk93huXNw6M1FbTB7r8PZOSV6U0WVXC72Epl2slAmz75oW7bszmmGxxIc13Z2pBpIsFV3Z2pTJtZLrHiea6d995UP0ge67s7Uh1NHuv7KnJdrJsV9vluTL4nHRvUV9L+R/ZTTqT8r+pZbZdjJRpEimXUpQnUi31XdSbfSPld1LDbNKDKXW7QUOmAFxcyI0Sa8ZX1XNucJrz+PqdHabIrHDp8F6u6LP2XdShRoQNlR09yibNK0ebRo0Vhk6sN4KiRaSSZr0Kk0S/mE9CoKdoVrrmFp2D6LGPGoSs+jrNfPU4tkl72Z1tIOxLZSzsCdpGh4jbgTxkoERhF4K9NnyaLOHTiMe5LOkDn4KkL0OUQhdRaVMXnrShTXSnO5su8KkEROMiWHd9QqgWxpjpG3DySGUkisdhVZyhkdy7lLDuSxRZspJFY7ClQqURMz9k+Cq+VsO5ERrCNitkosoVKImZ+yfBLgU1wM5+yf9pVWI1hGwotjWHcfBLFFrRqa4OBngfBLolPcHNIN3kqhkezo+iMKNLq+iWKLSFT3TBBlswQg048kAJDnF08bpS3KrbGs6EIcaQSxQ/pWnvDBJxHOGOwquGlYvxHdZXaVjTaN/0Kra69OGtpzmnZZ/1SL8R3Wu/qsX3yqyuurrrSMbWfUMT6fRcDd0cXJJsS2Ns6sl8tHqsLB0bOAgG75dOe5cxvFi6rZ/1mtmQkd+9d0+KSfPLMbEHNsP1QDh4vyQrHb3oS46NyAN3GCAVW+l6E9qEh4cXJNkh0ILBfjxNIcl1rBxjuSIh46VGWxD1Hen3JsjJYNWMvCbLU861IAWS2NVetDk06QuKCyO6ACo8WiAqxCBbZNBZnaRo9VVL0UDe2a2FScwmosAGxBZ57StANtlMKsj6CIXpkShA4KLE0eFdzHB5odFEJJ0eV6LE0YMgo7tFjIK72KRgPQSu9CM1uX6LbkEj+ktTeKRiDQjbeiaG62wrau0Q1AaICu8lIxhojsiuNFdkVtTokLv6UE3ikYv0Z10kOQddJbb+lBcNFBXcKRiORN0ik8jI2rdHRaS7RAN4BTcKMLEgtdYRMJBoTPdC3X9CYfZCQ7QbfdC1vZKMMaEz3fFINEZ7vitwNCs90daU3QbMW96eoxR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8370" name="Picture 2" descr="https://i.stack.imgur.com/VANV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524000"/>
            <a:ext cx="4129524" cy="3428572"/>
          </a:xfrm>
          <a:prstGeom prst="rect">
            <a:avLst/>
          </a:prstGeom>
          <a:noFill/>
        </p:spPr>
      </p:pic>
      <p:sp>
        <p:nvSpPr>
          <p:cNvPr id="58372" name="AutoShape 4" descr="http://www.setapartpeople.com/wp-content/uploads/2013/12/Nicodemus-Do-you-understand-Header_thumb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8374" name="Picture 6" descr="http://www.setapartpeople.com/wp-content/uploads/2013/12/Nicodemus-Do-you-understand-Header_thum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953000"/>
            <a:ext cx="3901440" cy="1337310"/>
          </a:xfrm>
          <a:prstGeom prst="rect">
            <a:avLst/>
          </a:prstGeom>
          <a:noFill/>
        </p:spPr>
      </p:pic>
      <p:pic>
        <p:nvPicPr>
          <p:cNvPr id="58376" name="Picture 8" descr="http://www.juicyresults.com/wp-content/uploads/2012/05/should-i-trust-you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4876800"/>
            <a:ext cx="2997200" cy="1478280"/>
          </a:xfrm>
          <a:prstGeom prst="rect">
            <a:avLst/>
          </a:prstGeom>
          <a:noFill/>
        </p:spPr>
      </p:pic>
      <p:pic>
        <p:nvPicPr>
          <p:cNvPr id="50178" name="Picture 2" descr="https://aagla.org/wp-content/uploads/2018/10/upload54agzbtj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2743200"/>
            <a:ext cx="3598164" cy="1970532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533400" y="1447800"/>
            <a:ext cx="8001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</a:rPr>
              <a:t>Lack of user involvement</a:t>
            </a:r>
            <a:r>
              <a:rPr lang="en-US" sz="2400" dirty="0" smtClean="0"/>
              <a:t> in software projects is near the top of the list of reasons for</a:t>
            </a:r>
            <a:r>
              <a:rPr lang="en-US" sz="2400" u="sng" dirty="0" smtClean="0">
                <a:solidFill>
                  <a:schemeClr val="tx1"/>
                </a:solidFill>
              </a:rPr>
              <a:t> project failure</a:t>
            </a:r>
            <a:r>
              <a:rPr lang="en-US" sz="2400" dirty="0" smtClean="0"/>
              <a:t>, so anything that can help </a:t>
            </a:r>
            <a:r>
              <a:rPr lang="en-US" sz="2400" u="sng" dirty="0" smtClean="0">
                <a:solidFill>
                  <a:schemeClr val="tx1"/>
                </a:solidFill>
              </a:rPr>
              <a:t>keep them involved</a:t>
            </a:r>
            <a:r>
              <a:rPr lang="en-US" sz="2400" dirty="0" smtClean="0"/>
              <a:t> is truly desirable.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Actor, Action and System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1630740"/>
            <a:ext cx="8610600" cy="830997"/>
          </a:xfrm>
          <a:prstGeom prst="rect">
            <a:avLst/>
          </a:prstGeom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An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actor</a:t>
            </a:r>
            <a:r>
              <a:rPr lang="en-US" sz="2400" dirty="0" smtClean="0">
                <a:latin typeface="+mj-lt"/>
              </a:rPr>
              <a:t> is something with </a:t>
            </a:r>
            <a:r>
              <a:rPr lang="en-US" sz="2400" u="sng" dirty="0" smtClean="0">
                <a:latin typeface="+mj-lt"/>
              </a:rPr>
              <a:t>behavior</a:t>
            </a:r>
            <a:r>
              <a:rPr lang="en-US" sz="2400" dirty="0" smtClean="0">
                <a:latin typeface="+mj-lt"/>
              </a:rPr>
              <a:t>, such as a person (identified by role), computer system, or organization.</a:t>
            </a:r>
          </a:p>
        </p:txBody>
      </p:sp>
      <p:pic>
        <p:nvPicPr>
          <p:cNvPr id="1026" name="Picture 2" descr="http://www.jot.fm/issues/issue_2005_08/article7/images/figure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200400"/>
            <a:ext cx="4343400" cy="183832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209800" y="4872335"/>
            <a:ext cx="1034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Consolas" pitchFamily="49" charset="0"/>
              </a:rPr>
              <a:t>Actor</a:t>
            </a:r>
            <a:endParaRPr lang="en-US" sz="2400" b="1" dirty="0">
              <a:latin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96424" y="4572000"/>
            <a:ext cx="1204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Consolas" pitchFamily="49" charset="0"/>
              </a:rPr>
              <a:t>Action</a:t>
            </a:r>
            <a:endParaRPr lang="en-US" sz="2400" b="1" dirty="0">
              <a:latin typeface="Consolas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25224" y="5105400"/>
            <a:ext cx="1204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Consolas" pitchFamily="49" charset="0"/>
              </a:rPr>
              <a:t>System</a:t>
            </a:r>
            <a:endParaRPr lang="en-US" sz="24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and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>
          <a:xfrm>
            <a:off x="457200" y="1600200"/>
            <a:ext cx="8229600" cy="2262982"/>
          </a:xfrm>
        </p:spPr>
        <p:txBody>
          <a:bodyPr/>
          <a:lstStyle/>
          <a:p>
            <a:pPr marL="457200" indent="-457200"/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scenario</a:t>
            </a:r>
            <a:r>
              <a:rPr lang="en-US" sz="2200" dirty="0" smtClean="0"/>
              <a:t> is a specific </a:t>
            </a:r>
            <a:r>
              <a:rPr lang="en-US" sz="2200" u="sng" dirty="0" smtClean="0"/>
              <a:t>sequence of actions</a:t>
            </a:r>
            <a:r>
              <a:rPr lang="en-US" sz="2200" dirty="0" smtClean="0"/>
              <a:t> and </a:t>
            </a:r>
            <a:r>
              <a:rPr lang="en-US" sz="2200" u="sng" dirty="0" smtClean="0"/>
              <a:t>interactions</a:t>
            </a:r>
            <a:r>
              <a:rPr lang="en-US" sz="2200" dirty="0" smtClean="0"/>
              <a:t> between </a:t>
            </a:r>
            <a:r>
              <a:rPr lang="en-US" sz="2200" u="sng" dirty="0" smtClean="0"/>
              <a:t>actors</a:t>
            </a:r>
            <a:r>
              <a:rPr lang="en-US" sz="2200" dirty="0" smtClean="0"/>
              <a:t> and the </a:t>
            </a:r>
            <a:r>
              <a:rPr lang="en-US" sz="2200" u="sng" dirty="0" smtClean="0"/>
              <a:t>system</a:t>
            </a:r>
            <a:r>
              <a:rPr lang="en-US" sz="2200" dirty="0" smtClean="0"/>
              <a:t>.</a:t>
            </a:r>
          </a:p>
          <a:p>
            <a:pPr marL="457200" indent="-457200"/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use case</a:t>
            </a:r>
            <a:r>
              <a:rPr lang="en-US" sz="2200" dirty="0" smtClean="0"/>
              <a:t> is a collection of related </a:t>
            </a:r>
            <a:r>
              <a:rPr lang="en-US" sz="2200" u="sng" dirty="0" smtClean="0"/>
              <a:t>success</a:t>
            </a:r>
            <a:r>
              <a:rPr lang="en-US" sz="2200" dirty="0" smtClean="0"/>
              <a:t> and </a:t>
            </a:r>
            <a:r>
              <a:rPr lang="en-US" sz="2200" u="sng" dirty="0" smtClean="0"/>
              <a:t>failure scenarios</a:t>
            </a:r>
            <a:r>
              <a:rPr lang="en-US" sz="2200" dirty="0" smtClean="0"/>
              <a:t> that describe an </a:t>
            </a:r>
            <a:r>
              <a:rPr lang="en-US" sz="2200" u="sng" dirty="0" smtClean="0"/>
              <a:t>actor</a:t>
            </a:r>
            <a:r>
              <a:rPr lang="en-US" sz="2200" dirty="0" smtClean="0"/>
              <a:t> using a system to support a </a:t>
            </a:r>
            <a:r>
              <a:rPr lang="en-US" sz="2200" u="sng" dirty="0" smtClean="0"/>
              <a:t>goal</a:t>
            </a:r>
            <a:r>
              <a:rPr lang="en-US" sz="2200" dirty="0" smtClean="0"/>
              <a:t>.</a:t>
            </a:r>
          </a:p>
          <a:p>
            <a:pPr marL="457200" indent="-457200"/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example</a:t>
            </a:r>
            <a:r>
              <a:rPr lang="en-US" sz="2200" dirty="0" smtClean="0"/>
              <a:t> brief format use case:</a:t>
            </a:r>
          </a:p>
          <a:p>
            <a:pPr marL="857250" lvl="1" indent="-457200"/>
            <a:r>
              <a:rPr lang="en-US" sz="2000" b="1" dirty="0" smtClean="0"/>
              <a:t>Process Sale</a:t>
            </a:r>
            <a:r>
              <a:rPr lang="en-US" sz="2000" dirty="0" smtClean="0"/>
              <a:t>:</a:t>
            </a:r>
          </a:p>
          <a:p>
            <a:pPr marL="1257300" lvl="2" indent="-457200"/>
            <a:r>
              <a:rPr lang="en-US" sz="1600" dirty="0" smtClean="0"/>
              <a:t>A customer arrives at a checkout with items to purchase.</a:t>
            </a:r>
          </a:p>
          <a:p>
            <a:pPr marL="1257300" lvl="2" indent="-457200"/>
            <a:r>
              <a:rPr lang="en-US" sz="1600" dirty="0" smtClean="0"/>
              <a:t>The cashier uses the point-of-sale (POS) system to record each purchased item.</a:t>
            </a:r>
          </a:p>
          <a:p>
            <a:pPr marL="1257300" lvl="2" indent="-457200"/>
            <a:r>
              <a:rPr lang="en-US" sz="1600" dirty="0" smtClean="0"/>
              <a:t>The system presents a running total and line-item details.</a:t>
            </a:r>
          </a:p>
          <a:p>
            <a:pPr marL="1257300" lvl="2" indent="-457200"/>
            <a:r>
              <a:rPr lang="en-US" sz="1600" dirty="0" smtClean="0"/>
              <a:t>The customer enters payment information, which the system validates and records.</a:t>
            </a:r>
          </a:p>
          <a:p>
            <a:pPr marL="1257300" lvl="2" indent="-457200"/>
            <a:r>
              <a:rPr lang="en-US" sz="1600" dirty="0" smtClean="0"/>
              <a:t>The system updates inventory.</a:t>
            </a:r>
          </a:p>
          <a:p>
            <a:pPr marL="1257300" lvl="2" indent="-457200"/>
            <a:r>
              <a:rPr lang="en-US" sz="1600" dirty="0" smtClean="0"/>
              <a:t>The customer receives a receipt from the system and then leaves with the items.</a:t>
            </a:r>
            <a:endParaRPr lang="en-US" sz="1600" dirty="0"/>
          </a:p>
        </p:txBody>
      </p:sp>
      <p:pic>
        <p:nvPicPr>
          <p:cNvPr id="5" name="Picture 2" descr="https://procesoid.com/wp-content/uploads/2018/04/1_ZoSymHfHHI5SZqpex2w97A-1024x536.png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3124200"/>
            <a:ext cx="1950720" cy="102108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85800" y="6031468"/>
            <a:ext cx="8077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Informally, </a:t>
            </a:r>
            <a:r>
              <a:rPr lang="en-US" i="1" dirty="0" smtClean="0">
                <a:solidFill>
                  <a:srgbClr val="C00000"/>
                </a:solidFill>
                <a:latin typeface="+mj-lt"/>
              </a:rPr>
              <a:t>use cases</a:t>
            </a:r>
            <a:r>
              <a:rPr lang="en-US" dirty="0" smtClean="0">
                <a:latin typeface="+mj-lt"/>
              </a:rPr>
              <a:t> are </a:t>
            </a:r>
            <a:r>
              <a:rPr lang="en-US" u="sng" dirty="0" smtClean="0">
                <a:latin typeface="+mj-lt"/>
              </a:rPr>
              <a:t>text stories</a:t>
            </a:r>
            <a:r>
              <a:rPr lang="en-US" dirty="0" smtClean="0">
                <a:latin typeface="+mj-lt"/>
              </a:rPr>
              <a:t> of some actor using a system to meet goals.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a Use Case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5562600" cy="5029200"/>
          </a:xfrm>
        </p:spPr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Name</a:t>
            </a:r>
            <a:r>
              <a:rPr lang="en-US" sz="2000" dirty="0" smtClean="0"/>
              <a:t> – Unique identifier that describes an achievable goal.</a:t>
            </a:r>
          </a:p>
          <a:p>
            <a:r>
              <a:rPr lang="en-US" sz="2000" b="1" i="1" dirty="0" smtClean="0">
                <a:solidFill>
                  <a:srgbClr val="C00000"/>
                </a:solidFill>
              </a:rPr>
              <a:t>Goal</a:t>
            </a:r>
            <a:r>
              <a:rPr lang="en-US" sz="2000" b="1" dirty="0" smtClean="0"/>
              <a:t> – Briefly describes what the user intends to achieve with this use case.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Summary</a:t>
            </a:r>
            <a:r>
              <a:rPr lang="en-US" sz="2000" dirty="0" smtClean="0"/>
              <a:t> – Provides a quick overview.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Actor</a:t>
            </a:r>
            <a:r>
              <a:rPr lang="en-US" sz="2000" dirty="0" smtClean="0"/>
              <a:t> – anything with behavior.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Trigger</a:t>
            </a:r>
            <a:r>
              <a:rPr lang="en-US" sz="2000" dirty="0" smtClean="0"/>
              <a:t> states what event gets the use case started.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Preconditions</a:t>
            </a:r>
            <a:r>
              <a:rPr lang="en-US" sz="2000" dirty="0" smtClean="0"/>
              <a:t> state what must always be true before beginning a scenario in the use case.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Steps</a:t>
            </a:r>
            <a:r>
              <a:rPr lang="en-US" sz="2000" dirty="0" smtClean="0"/>
              <a:t> – Sequence of actions and interactions between actors and the system.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Post-conditions</a:t>
            </a:r>
            <a:r>
              <a:rPr lang="en-US" sz="2000" dirty="0" smtClean="0"/>
              <a:t> state what must be true on successful completion of the use case.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276475"/>
            <a:ext cx="30861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Common Use Case Formats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cases can be written in different formats and levels of formality: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brief</a:t>
            </a:r>
            <a:r>
              <a:rPr lang="en-US" sz="2200" dirty="0" smtClean="0"/>
              <a:t> Terse </a:t>
            </a:r>
            <a:r>
              <a:rPr lang="en-US" sz="2200" u="sng" dirty="0" smtClean="0"/>
              <a:t>one-paragraph summary</a:t>
            </a:r>
            <a:r>
              <a:rPr lang="en-US" sz="2200" dirty="0" smtClean="0"/>
              <a:t>, usually of the </a:t>
            </a:r>
            <a:r>
              <a:rPr lang="en-US" sz="2200" u="sng" dirty="0" smtClean="0"/>
              <a:t>main success scenario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casual</a:t>
            </a:r>
            <a:r>
              <a:rPr lang="en-US" sz="2200" dirty="0" smtClean="0"/>
              <a:t> Informal paragraph format. </a:t>
            </a:r>
            <a:r>
              <a:rPr lang="en-US" sz="2200" u="sng" dirty="0" smtClean="0"/>
              <a:t>Multiple paragraphs</a:t>
            </a:r>
            <a:r>
              <a:rPr lang="en-US" sz="2200" dirty="0" smtClean="0"/>
              <a:t> that cover </a:t>
            </a:r>
            <a:r>
              <a:rPr lang="en-US" sz="2200" u="sng" dirty="0" smtClean="0"/>
              <a:t>various scenarios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fully dressed</a:t>
            </a:r>
            <a:r>
              <a:rPr lang="en-US" sz="2200" dirty="0" smtClean="0"/>
              <a:t> All steps and variations are written </a:t>
            </a:r>
            <a:r>
              <a:rPr lang="en-US" sz="2200" u="sng" dirty="0" smtClean="0"/>
              <a:t>in detail</a:t>
            </a:r>
            <a:r>
              <a:rPr lang="en-US" sz="2200" dirty="0" smtClean="0"/>
              <a:t>, and there are supporting sections, such as </a:t>
            </a:r>
            <a:r>
              <a:rPr lang="en-US" sz="2200" u="sng" dirty="0" smtClean="0"/>
              <a:t>preconditions</a:t>
            </a:r>
            <a:r>
              <a:rPr lang="en-US" sz="2200" dirty="0" smtClean="0"/>
              <a:t> and </a:t>
            </a:r>
            <a:r>
              <a:rPr lang="en-US" sz="2200" u="sng" dirty="0" smtClean="0"/>
              <a:t>success guarantees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Casual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UC 01: Handle Returns</a:t>
            </a:r>
          </a:p>
          <a:p>
            <a:pPr lvl="1"/>
            <a:r>
              <a:rPr lang="en-US" sz="2000" dirty="0" smtClean="0"/>
              <a:t>Main Success Scenario:</a:t>
            </a:r>
          </a:p>
          <a:p>
            <a:pPr lvl="2"/>
            <a:r>
              <a:rPr lang="en-US" sz="2000" dirty="0" smtClean="0"/>
              <a:t>A customer arrives at a checkout with items to return.</a:t>
            </a:r>
          </a:p>
          <a:p>
            <a:pPr lvl="2"/>
            <a:r>
              <a:rPr lang="en-US" sz="2000" dirty="0" smtClean="0"/>
              <a:t>The cashier uses the POS system to record each returned item …</a:t>
            </a:r>
          </a:p>
          <a:p>
            <a:pPr lvl="1"/>
            <a:r>
              <a:rPr lang="en-US" sz="2000" dirty="0" smtClean="0"/>
              <a:t>Alternate Scenarios:</a:t>
            </a:r>
          </a:p>
          <a:p>
            <a:pPr lvl="2"/>
            <a:r>
              <a:rPr lang="en-US" sz="2000" dirty="0" smtClean="0"/>
              <a:t>If the customer paid by credit, and the reimbursement transaction to their credit account is rejected, inform the customer and pay them with cash.</a:t>
            </a:r>
          </a:p>
          <a:p>
            <a:pPr lvl="2"/>
            <a:r>
              <a:rPr lang="en-US" sz="2000" dirty="0" smtClean="0"/>
              <a:t>If the item identifier is not found in the system, notify the Cashier and suggest manual entry of the identifier code (perhaps it is corrupted).</a:t>
            </a:r>
          </a:p>
          <a:p>
            <a:pPr lvl="2"/>
            <a:r>
              <a:rPr lang="en-US" sz="2000" dirty="0" smtClean="0"/>
              <a:t>If the system detects failure to communicate with the external accounting system, 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Fully Dressed Format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538104"/>
          <a:ext cx="8675239" cy="4710296"/>
        </p:xfrm>
        <a:graphic>
          <a:graphicData uri="http://schemas.openxmlformats.org/drawingml/2006/table">
            <a:tbl>
              <a:tblPr firstRow="1" firstCol="1">
                <a:tableStyleId>{775DCB02-9BB8-47FD-8907-85C794F793BA}</a:tableStyleId>
              </a:tblPr>
              <a:tblGrid>
                <a:gridCol w="2925509"/>
                <a:gridCol w="5749730"/>
              </a:tblGrid>
              <a:tr h="2615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Use Case Section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Comment</a:t>
                      </a:r>
                    </a:p>
                  </a:txBody>
                  <a:tcPr marL="45720" marR="45720"/>
                </a:tc>
              </a:tr>
              <a:tr h="275273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Use Case Name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Start with a verb.</a:t>
                      </a:r>
                    </a:p>
                  </a:txBody>
                  <a:tcPr marL="45720" marR="45720"/>
                </a:tc>
              </a:tr>
              <a:tr h="2615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Scope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The system under design.</a:t>
                      </a:r>
                    </a:p>
                  </a:txBody>
                  <a:tcPr marL="45720" marR="45720"/>
                </a:tc>
              </a:tr>
              <a:tr h="2615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Level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"user-goal" or "</a:t>
                      </a:r>
                      <a:r>
                        <a:rPr lang="en-US" sz="1500" dirty="0" err="1"/>
                        <a:t>subfunction</a:t>
                      </a:r>
                      <a:r>
                        <a:rPr lang="en-US" sz="1500" dirty="0"/>
                        <a:t>"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Primary Actor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Calls on the system to deliver its services.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Stakeholders and Interests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Who cares about this use case, and what do they want?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Preconditions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What must be true on start, and worth telling the reader?</a:t>
                      </a:r>
                    </a:p>
                  </a:txBody>
                  <a:tcPr marL="45720" marR="45720"/>
                </a:tc>
              </a:tr>
              <a:tr h="506226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Success Guarantee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What must be true on successful completion, and worth telling the reader.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Main Success Scenario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A typical, unconditional happy path scenario of success.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Extensions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Alternate scenarios of success or failure.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Special Requirements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Related non-functional requirements.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Technology and Data Variations List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Varying I/O methods and data formats.</a:t>
                      </a:r>
                    </a:p>
                  </a:txBody>
                  <a:tcPr marL="45720" marR="45720"/>
                </a:tc>
              </a:tr>
              <a:tr h="320182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Frequency of Occurrence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Influences investigation, testing, and timing of implementation.</a:t>
                      </a:r>
                    </a:p>
                  </a:txBody>
                  <a:tcPr marL="45720" marR="45720"/>
                </a:tc>
              </a:tr>
              <a:tr h="261540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Miscellaneous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Such as open issues.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Diagram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371600"/>
            <a:ext cx="7924800" cy="830997"/>
          </a:xfrm>
          <a:prstGeom prst="rect">
            <a:avLst/>
          </a:prstGeom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use case diagram</a:t>
            </a:r>
            <a:r>
              <a:rPr lang="en-US" sz="2400" dirty="0" smtClean="0">
                <a:latin typeface="+mj-lt"/>
              </a:rPr>
              <a:t> is a diagram that shows </a:t>
            </a:r>
            <a:r>
              <a:rPr lang="en-US" sz="2400" u="sng" dirty="0" smtClean="0">
                <a:latin typeface="+mj-lt"/>
              </a:rPr>
              <a:t>a set of use cases</a:t>
            </a:r>
            <a:r>
              <a:rPr lang="en-US" sz="2400" dirty="0" smtClean="0">
                <a:latin typeface="+mj-lt"/>
              </a:rPr>
              <a:t> and </a:t>
            </a:r>
            <a:r>
              <a:rPr lang="en-US" sz="2400" u="sng" dirty="0" smtClean="0">
                <a:latin typeface="+mj-lt"/>
              </a:rPr>
              <a:t>actors</a:t>
            </a:r>
            <a:r>
              <a:rPr lang="en-US" sz="2400" dirty="0" smtClean="0">
                <a:latin typeface="+mj-lt"/>
              </a:rPr>
              <a:t> and their </a:t>
            </a:r>
            <a:r>
              <a:rPr lang="en-US" sz="2400" u="sng" dirty="0" smtClean="0">
                <a:latin typeface="+mj-lt"/>
              </a:rPr>
              <a:t>relationships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2667000"/>
            <a:ext cx="3124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Use cases are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text documents</a:t>
            </a:r>
            <a:r>
              <a:rPr lang="en-US" sz="2400" dirty="0" smtClean="0">
                <a:latin typeface="+mj-lt"/>
              </a:rPr>
              <a:t>, </a:t>
            </a:r>
            <a:r>
              <a:rPr lang="en-US" sz="2400" u="sng" dirty="0" smtClean="0">
                <a:latin typeface="+mj-lt"/>
              </a:rPr>
              <a:t>not diagrams</a:t>
            </a:r>
            <a:r>
              <a:rPr lang="en-US" sz="2400" dirty="0" smtClean="0">
                <a:latin typeface="+mj-lt"/>
              </a:rPr>
              <a:t>, and use-case modeling is primarily an act of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writing text</a:t>
            </a:r>
            <a:r>
              <a:rPr lang="en-US" sz="2400" dirty="0" smtClean="0">
                <a:latin typeface="+mj-lt"/>
              </a:rPr>
              <a:t>, not drawing diagrams.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38400" y="6248400"/>
            <a:ext cx="22783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1" dirty="0" smtClean="0">
                <a:latin typeface="+mj-lt"/>
              </a:rPr>
              <a:t>Use Case Diagram</a:t>
            </a:r>
            <a:endParaRPr lang="en-US" sz="2200" b="1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62200"/>
            <a:ext cx="47625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0" name="AutoShape 2" descr="mk:@MSITStore:D:\My%20Teaching\Software%20Requirements\References\05.1.%20Unified%20Modeling%20Language\Grady%20Booch%20et%20al.%20(2005).%20Unified%20Modeling%20Language%20User%20Guide.chm::/0321267974/images/0321267974/graphics/18fig01.jpg;423615"/>
          <p:cNvSpPr>
            <a:spLocks noChangeAspect="1" noChangeArrowheads="1"/>
          </p:cNvSpPr>
          <p:nvPr/>
        </p:nvSpPr>
        <p:spPr bwMode="auto">
          <a:xfrm>
            <a:off x="63500" y="-136525"/>
            <a:ext cx="4762500" cy="38100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Kinds of 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actor</a:t>
            </a:r>
            <a:r>
              <a:rPr lang="en-US" sz="2000" dirty="0" smtClean="0"/>
              <a:t> is anything with behavior, including the system under discussion (</a:t>
            </a:r>
            <a:r>
              <a:rPr lang="en-US" sz="2000" dirty="0" err="1" smtClean="0"/>
              <a:t>SuD</a:t>
            </a:r>
            <a:r>
              <a:rPr lang="en-US" sz="2000" dirty="0" smtClean="0"/>
              <a:t>) itself when it calls upon the services of other systems.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Primary actor</a:t>
            </a:r>
            <a:r>
              <a:rPr lang="en-US" sz="2000" dirty="0" smtClean="0"/>
              <a:t> has </a:t>
            </a:r>
            <a:r>
              <a:rPr lang="en-US" sz="2000" u="sng" dirty="0" smtClean="0"/>
              <a:t>user goals</a:t>
            </a:r>
            <a:r>
              <a:rPr lang="en-US" sz="2000" dirty="0" smtClean="0"/>
              <a:t> fulfilled through using services of the </a:t>
            </a:r>
            <a:r>
              <a:rPr lang="en-US" sz="2000" dirty="0" err="1" smtClean="0"/>
              <a:t>SuD</a:t>
            </a:r>
            <a:r>
              <a:rPr lang="en-US" sz="2000" dirty="0" smtClean="0"/>
              <a:t>. For example, the cashier.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Supporting actor</a:t>
            </a:r>
            <a:r>
              <a:rPr lang="en-US" sz="2000" dirty="0" smtClean="0"/>
              <a:t> provides </a:t>
            </a:r>
            <a:r>
              <a:rPr lang="en-US" sz="2000" u="sng" dirty="0" smtClean="0"/>
              <a:t>a service</a:t>
            </a:r>
            <a:r>
              <a:rPr lang="en-US" sz="2000" dirty="0" smtClean="0"/>
              <a:t> (for example, information) to the </a:t>
            </a:r>
            <a:r>
              <a:rPr lang="en-US" sz="2000" dirty="0" err="1" smtClean="0"/>
              <a:t>SuD</a:t>
            </a:r>
            <a:r>
              <a:rPr lang="en-US" sz="2000" dirty="0" smtClean="0"/>
              <a:t>. The automated payment authorization service is an example.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Offstage actor</a:t>
            </a:r>
            <a:r>
              <a:rPr lang="en-US" sz="2000" dirty="0" smtClean="0"/>
              <a:t> has an </a:t>
            </a:r>
            <a:r>
              <a:rPr lang="en-US" sz="2000" u="sng" dirty="0" smtClean="0"/>
              <a:t>interest in the behavior</a:t>
            </a:r>
            <a:r>
              <a:rPr lang="en-US" sz="2000" dirty="0" smtClean="0"/>
              <a:t> of the use case, but is not primary or supporting; for example, a government tax agency.</a:t>
            </a:r>
            <a:endParaRPr lang="en-US" sz="2000" dirty="0"/>
          </a:p>
        </p:txBody>
      </p:sp>
      <p:pic>
        <p:nvPicPr>
          <p:cNvPr id="46082" name="Picture 2" descr="https://www.uml-diagrams.org/use-case-diagrams/use-case-association-optional-actor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495800"/>
            <a:ext cx="3108966" cy="17739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Draw a Use Case Diagram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828800"/>
            <a:ext cx="5715000" cy="3920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Black-box Use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633942"/>
          <a:ext cx="7772400" cy="2166658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971800"/>
                <a:gridCol w="4800600"/>
              </a:tblGrid>
              <a:tr h="33990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Black-box style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Not</a:t>
                      </a:r>
                    </a:p>
                  </a:txBody>
                  <a:tcPr marL="38100" marR="38100" marT="38100" marB="38100"/>
                </a:tc>
              </a:tr>
              <a:tr h="1724698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The system records the sale.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The system writes the sale to a database. …or (even worse):</a:t>
                      </a:r>
                    </a:p>
                    <a:p>
                      <a:pPr algn="l"/>
                      <a:r>
                        <a:rPr lang="en-US" sz="2400" dirty="0"/>
                        <a:t>The system generates a SQL INSERT statement for the sale…</a:t>
                      </a:r>
                    </a:p>
                  </a:txBody>
                  <a:tcPr marL="38100" marR="38100" marT="38100" marB="38100"/>
                </a:tc>
              </a:tr>
            </a:tbl>
          </a:graphicData>
        </a:graphic>
      </p:graphicFrame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8610600" cy="830997"/>
          </a:xfrm>
          <a:prstGeom prst="rect">
            <a:avLst/>
          </a:prstGeom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Black-box use cases  do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NOT </a:t>
            </a:r>
            <a:r>
              <a:rPr lang="en-US" sz="2400" dirty="0" smtClean="0">
                <a:latin typeface="+mj-lt"/>
              </a:rPr>
              <a:t>describe the </a:t>
            </a:r>
            <a:r>
              <a:rPr lang="en-US" sz="2400" u="sng" dirty="0" smtClean="0">
                <a:latin typeface="+mj-lt"/>
              </a:rPr>
              <a:t>internal workings</a:t>
            </a:r>
            <a:r>
              <a:rPr lang="en-US" sz="2400" dirty="0" smtClean="0">
                <a:latin typeface="+mj-lt"/>
              </a:rPr>
              <a:t> of the system, its components, or design.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5029200"/>
            <a:ext cx="3583305" cy="1468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Find a Use Case?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List </a:t>
            </a:r>
            <a:r>
              <a:rPr lang="en-US" sz="2400" i="1" dirty="0" smtClean="0">
                <a:solidFill>
                  <a:srgbClr val="C00000"/>
                </a:solidFill>
              </a:rPr>
              <a:t>business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user</a:t>
            </a:r>
            <a:r>
              <a:rPr lang="en-US" sz="2400" dirty="0" smtClean="0"/>
              <a:t> requirements (i.e. scenarios and features).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Draw an “initial” version of </a:t>
            </a:r>
            <a:r>
              <a:rPr lang="en-US" sz="2400" i="1" dirty="0" smtClean="0">
                <a:solidFill>
                  <a:srgbClr val="C00000"/>
                </a:solidFill>
              </a:rPr>
              <a:t>domain model</a:t>
            </a:r>
            <a:r>
              <a:rPr lang="en-US" sz="24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Draw an “quick and dirty” version of </a:t>
            </a:r>
            <a:r>
              <a:rPr lang="en-US" sz="2400" i="1" dirty="0" smtClean="0">
                <a:solidFill>
                  <a:srgbClr val="C00000"/>
                </a:solidFill>
              </a:rPr>
              <a:t>UIs</a:t>
            </a:r>
            <a:r>
              <a:rPr lang="en-US" sz="2400" dirty="0" smtClean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Choose the </a:t>
            </a:r>
            <a:r>
              <a:rPr lang="en-US" sz="2400" i="1" dirty="0" smtClean="0">
                <a:solidFill>
                  <a:srgbClr val="C00000"/>
                </a:solidFill>
              </a:rPr>
              <a:t>system boundary</a:t>
            </a:r>
            <a:r>
              <a:rPr lang="en-US" sz="2400" dirty="0" smtClean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Identify the </a:t>
            </a:r>
            <a:r>
              <a:rPr lang="en-US" sz="2400" i="1" dirty="0" smtClean="0">
                <a:solidFill>
                  <a:srgbClr val="C00000"/>
                </a:solidFill>
              </a:rPr>
              <a:t>primary actors</a:t>
            </a:r>
            <a:r>
              <a:rPr lang="en-US" sz="2400" dirty="0" smtClean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Identify </a:t>
            </a:r>
            <a:r>
              <a:rPr lang="en-US" sz="2400" i="1" dirty="0" smtClean="0">
                <a:solidFill>
                  <a:srgbClr val="C00000"/>
                </a:solidFill>
              </a:rPr>
              <a:t>actor’s goal</a:t>
            </a:r>
            <a:r>
              <a:rPr lang="en-US" sz="2400" dirty="0" smtClean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Define use case name that </a:t>
            </a:r>
            <a:r>
              <a:rPr lang="en-US" sz="2400" i="1" dirty="0" smtClean="0">
                <a:solidFill>
                  <a:srgbClr val="C00000"/>
                </a:solidFill>
              </a:rPr>
              <a:t>satisfies the actor’s goal</a:t>
            </a:r>
            <a:r>
              <a:rPr lang="en-US" sz="2400" dirty="0" smtClean="0"/>
              <a:t> (a verb).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Identify steps that </a:t>
            </a:r>
            <a:r>
              <a:rPr lang="en-US" sz="2400" i="1" dirty="0" smtClean="0">
                <a:solidFill>
                  <a:srgbClr val="C00000"/>
                </a:solidFill>
              </a:rPr>
              <a:t>lead to</a:t>
            </a:r>
            <a:r>
              <a:rPr lang="en-US" sz="2400" dirty="0" smtClean="0"/>
              <a:t> the actor’s goal.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Write a </a:t>
            </a:r>
            <a:r>
              <a:rPr lang="en-US" i="1" dirty="0" smtClean="0">
                <a:solidFill>
                  <a:srgbClr val="C00000"/>
                </a:solidFill>
              </a:rPr>
              <a:t>Good</a:t>
            </a:r>
            <a:r>
              <a:rPr lang="en-US" dirty="0" smtClean="0"/>
              <a:t> Use Case?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Who</a:t>
            </a:r>
            <a:r>
              <a:rPr lang="en-US" sz="2400" dirty="0" smtClean="0"/>
              <a:t> is the actor?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does the actor do?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does the actor interact with the system?</a:t>
            </a:r>
          </a:p>
          <a:p>
            <a:pPr lvl="1"/>
            <a:r>
              <a:rPr lang="en-US" sz="2000" dirty="0" smtClean="0"/>
              <a:t>A SCREEN. How does it </a:t>
            </a:r>
            <a:r>
              <a:rPr lang="en-US" sz="2000" u="sng" dirty="0" smtClean="0"/>
              <a:t>look like</a:t>
            </a:r>
            <a:r>
              <a:rPr lang="en-US" sz="2000" dirty="0" smtClean="0"/>
              <a:t>?</a:t>
            </a:r>
          </a:p>
          <a:p>
            <a:r>
              <a:rPr lang="en-US" sz="2400" dirty="0" smtClean="0"/>
              <a:t>What are the </a:t>
            </a:r>
            <a:r>
              <a:rPr lang="en-US" sz="2400" i="1" dirty="0" smtClean="0">
                <a:solidFill>
                  <a:srgbClr val="C00000"/>
                </a:solidFill>
              </a:rPr>
              <a:t>inputs</a:t>
            </a:r>
            <a:r>
              <a:rPr lang="en-US" sz="2400" dirty="0" smtClean="0"/>
              <a:t> from the actor in each step?</a:t>
            </a:r>
          </a:p>
          <a:p>
            <a:pPr lvl="1"/>
            <a:r>
              <a:rPr lang="en-US" sz="2000" dirty="0" smtClean="0"/>
              <a:t>NUMBER</a:t>
            </a:r>
          </a:p>
          <a:p>
            <a:pPr lvl="1"/>
            <a:r>
              <a:rPr lang="en-US" sz="2000" dirty="0" smtClean="0"/>
              <a:t>STRING</a:t>
            </a:r>
          </a:p>
          <a:p>
            <a:pPr lvl="1"/>
            <a:r>
              <a:rPr lang="en-US" sz="2000" dirty="0" smtClean="0"/>
              <a:t>DATE/TIME</a:t>
            </a:r>
          </a:p>
          <a:p>
            <a:pPr lvl="1"/>
            <a:r>
              <a:rPr lang="en-US" sz="2000" dirty="0" smtClean="0"/>
              <a:t>TRUE/FALSE</a:t>
            </a:r>
          </a:p>
          <a:p>
            <a:r>
              <a:rPr lang="en-US" sz="2400" dirty="0" smtClean="0"/>
              <a:t>What will the actor receive for each step (</a:t>
            </a:r>
            <a:r>
              <a:rPr lang="en-US" sz="2400" i="1" dirty="0" smtClean="0">
                <a:solidFill>
                  <a:srgbClr val="C00000"/>
                </a:solidFill>
              </a:rPr>
              <a:t>outputs</a:t>
            </a:r>
            <a:r>
              <a:rPr lang="en-US" sz="2400" dirty="0" smtClean="0"/>
              <a:t>)?</a:t>
            </a:r>
          </a:p>
          <a:p>
            <a:pPr lvl="1"/>
            <a:r>
              <a:rPr lang="en-US" sz="2000" dirty="0" smtClean="0"/>
              <a:t>A SCREEN. </a:t>
            </a:r>
            <a:r>
              <a:rPr lang="en-US" sz="2000" u="sng" dirty="0" smtClean="0"/>
              <a:t>What</a:t>
            </a:r>
            <a:r>
              <a:rPr lang="en-US" sz="2000" dirty="0" smtClean="0"/>
              <a:t> is in the screen (NUMBER, STRING, DATE/TIME, TRUE/FALSE, LIST)? How does it </a:t>
            </a:r>
            <a:r>
              <a:rPr lang="en-US" sz="2000" u="sng" dirty="0" smtClean="0"/>
              <a:t>look like</a:t>
            </a:r>
            <a:r>
              <a:rPr lang="en-US" sz="2000" dirty="0" smtClean="0"/>
              <a:t>?</a:t>
            </a:r>
          </a:p>
          <a:p>
            <a:pPr lvl="1"/>
            <a:endParaRPr lang="en-US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2057400"/>
            <a:ext cx="13144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Discovering Good Use Cases</a:t>
            </a:r>
            <a:endParaRPr lang="en-US" dirty="0"/>
          </a:p>
        </p:txBody>
      </p:sp>
      <p:pic>
        <p:nvPicPr>
          <p:cNvPr id="1026" name="Picture 2" descr="https://res.cloudinary.com/hy4kyit2a/image/upload/doc/trailhead/en-us06f9a1b4dae32c7612e71de5ac831d2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24000"/>
            <a:ext cx="4815840" cy="46939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Cases?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239000" cy="4525963"/>
          </a:xfrm>
        </p:spPr>
        <p:txBody>
          <a:bodyPr/>
          <a:lstStyle/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Simple and possible</a:t>
            </a:r>
            <a:r>
              <a:rPr lang="en-US" sz="2400" dirty="0" smtClean="0"/>
              <a:t> for domain experts or requirement donors to themselves write (or participate in writing).</a:t>
            </a:r>
          </a:p>
          <a:p>
            <a:pPr lvl="0"/>
            <a:r>
              <a:rPr lang="en-US" sz="2400" dirty="0" smtClean="0"/>
              <a:t>Emphasize the </a:t>
            </a:r>
            <a:r>
              <a:rPr lang="en-US" sz="2400" i="1" dirty="0" smtClean="0">
                <a:solidFill>
                  <a:srgbClr val="C00000"/>
                </a:solidFill>
              </a:rPr>
              <a:t>user goals</a:t>
            </a:r>
            <a:r>
              <a:rPr lang="en-US" sz="2400" dirty="0" smtClean="0"/>
              <a:t> and perspective.</a:t>
            </a:r>
          </a:p>
          <a:p>
            <a:pPr lvl="1"/>
            <a:r>
              <a:rPr lang="en-US" sz="2000" dirty="0" smtClean="0"/>
              <a:t>We ask the question "Who is using the system, what are their typical scenarios of use, and what are their goals?"</a:t>
            </a:r>
          </a:p>
          <a:p>
            <a:pPr lvl="1"/>
            <a:r>
              <a:rPr lang="en-US" sz="2000" dirty="0" smtClean="0"/>
              <a:t>This is a more user-centric emphasis compared to simply asking for a list of system features.</a:t>
            </a:r>
          </a:p>
          <a:p>
            <a:pPr lvl="0"/>
            <a:r>
              <a:rPr lang="en-US" sz="2400" dirty="0" smtClean="0"/>
              <a:t>The ability to </a:t>
            </a:r>
            <a:r>
              <a:rPr lang="en-US" sz="2400" i="1" dirty="0" smtClean="0">
                <a:solidFill>
                  <a:srgbClr val="C00000"/>
                </a:solidFill>
              </a:rPr>
              <a:t>scale both up and down</a:t>
            </a:r>
            <a:r>
              <a:rPr lang="en-US" sz="2400" dirty="0" smtClean="0"/>
              <a:t> in terms of </a:t>
            </a:r>
            <a:r>
              <a:rPr lang="en-US" sz="2400" u="sng" dirty="0" smtClean="0"/>
              <a:t>sophistication</a:t>
            </a:r>
            <a:r>
              <a:rPr lang="en-US" sz="2400" dirty="0" smtClean="0"/>
              <a:t> and </a:t>
            </a:r>
            <a:r>
              <a:rPr lang="en-US" sz="2400" u="sng" dirty="0" smtClean="0"/>
              <a:t>formality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Use case diagrams, use case relationships, use case packages.</a:t>
            </a:r>
            <a:endParaRPr lang="en-US" sz="2000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2514600"/>
            <a:ext cx="13144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</a:t>
            </a:r>
            <a:r>
              <a:rPr lang="en-US" dirty="0" smtClean="0"/>
              <a:t>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is usually possible to spot a novice use-case modeler (or a serious Type-A analyst!) by an </a:t>
            </a:r>
            <a:r>
              <a:rPr lang="en-US" sz="2400" u="sng" dirty="0" smtClean="0"/>
              <a:t>over-concern</a:t>
            </a:r>
            <a:r>
              <a:rPr lang="en-US" sz="2400" dirty="0" smtClean="0"/>
              <a:t> with </a:t>
            </a:r>
            <a:r>
              <a:rPr lang="en-US" sz="2400" u="sng" dirty="0" smtClean="0"/>
              <a:t>secondary issues</a:t>
            </a:r>
            <a:r>
              <a:rPr lang="en-US" sz="2400" dirty="0" smtClean="0"/>
              <a:t> such as use case diagrams, use case relationships, use case packages, and so forth, rather than a focus on the hard work of simply </a:t>
            </a:r>
            <a:r>
              <a:rPr lang="en-US" sz="2400" i="1" dirty="0" smtClean="0">
                <a:solidFill>
                  <a:srgbClr val="C00000"/>
                </a:solidFill>
              </a:rPr>
              <a:t>writing the text stories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038600"/>
            <a:ext cx="2286000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and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Use cases are indeed requirements (although </a:t>
            </a:r>
            <a:r>
              <a:rPr lang="en-US" sz="2200" u="sng" dirty="0" smtClean="0"/>
              <a:t>not all requirements</a:t>
            </a:r>
            <a:r>
              <a:rPr lang="en-US" sz="2200" dirty="0" smtClean="0"/>
              <a:t>).</a:t>
            </a:r>
          </a:p>
          <a:p>
            <a:r>
              <a:rPr lang="en-US" sz="2200" dirty="0" smtClean="0"/>
              <a:t>Some think of requirements only as "the system shall do…" function or feature lists. Not so, and </a:t>
            </a:r>
            <a:r>
              <a:rPr lang="en-US" sz="2200" i="1" dirty="0" smtClean="0">
                <a:solidFill>
                  <a:srgbClr val="C00000"/>
                </a:solidFill>
              </a:rPr>
              <a:t>a key idea of use cases</a:t>
            </a:r>
            <a:r>
              <a:rPr lang="en-US" sz="2200" dirty="0" smtClean="0"/>
              <a:t> is to (usually) </a:t>
            </a:r>
            <a:r>
              <a:rPr lang="en-US" sz="2200" u="sng" dirty="0" smtClean="0"/>
              <a:t>reduce</a:t>
            </a:r>
            <a:r>
              <a:rPr lang="en-US" sz="2200" dirty="0" smtClean="0"/>
              <a:t> the importance or use of </a:t>
            </a:r>
            <a:r>
              <a:rPr lang="en-US" sz="2200" u="sng" dirty="0" smtClean="0"/>
              <a:t>detailed old-style feature lists</a:t>
            </a:r>
            <a:r>
              <a:rPr lang="en-US" sz="2200" dirty="0" smtClean="0"/>
              <a:t> and rather </a:t>
            </a:r>
            <a:r>
              <a:rPr lang="en-US" sz="2200" u="sng" dirty="0" smtClean="0"/>
              <a:t>write use cases</a:t>
            </a:r>
            <a:r>
              <a:rPr lang="en-US" sz="2200" dirty="0" smtClean="0"/>
              <a:t> for the </a:t>
            </a:r>
            <a:r>
              <a:rPr lang="en-US" sz="2200" u="sng" dirty="0" smtClean="0"/>
              <a:t>functional</a:t>
            </a:r>
            <a:r>
              <a:rPr lang="en-US" sz="2200" dirty="0" smtClean="0"/>
              <a:t> requirements.</a:t>
            </a:r>
            <a:endParaRPr lang="en-US" sz="2200" dirty="0"/>
          </a:p>
        </p:txBody>
      </p:sp>
      <p:pic>
        <p:nvPicPr>
          <p:cNvPr id="4" name="Picture 2" descr="https://blog.itnavi.com.vn/uploads/2021/03/use-case-la-gi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781425"/>
            <a:ext cx="5000625" cy="2466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Typically, a use case describes use of one </a:t>
            </a:r>
            <a:r>
              <a:rPr lang="en-US" sz="2400" u="sng" dirty="0" smtClean="0"/>
              <a:t>software</a:t>
            </a:r>
            <a:r>
              <a:rPr lang="en-US" sz="2400" dirty="0" smtClean="0"/>
              <a:t> (or hardware plus software) system; in this case it is known as a </a:t>
            </a:r>
            <a:r>
              <a:rPr lang="en-US" sz="2400" i="1" dirty="0" smtClean="0">
                <a:solidFill>
                  <a:srgbClr val="C00000"/>
                </a:solidFill>
              </a:rPr>
              <a:t>system use case</a:t>
            </a:r>
            <a:r>
              <a:rPr lang="en-US" sz="2400" b="1" dirty="0" smtClean="0"/>
              <a:t>.</a:t>
            </a:r>
          </a:p>
          <a:p>
            <a:r>
              <a:rPr lang="en-US" sz="2400" dirty="0" smtClean="0"/>
              <a:t>At a broader scope, use cases can also describe </a:t>
            </a:r>
            <a:r>
              <a:rPr lang="en-US" sz="2400" u="sng" dirty="0" smtClean="0"/>
              <a:t>how a business is used</a:t>
            </a:r>
            <a:r>
              <a:rPr lang="en-US" sz="2400" dirty="0" smtClean="0"/>
              <a:t> by its customers and partners. Such an enterprise-level process description is called a </a:t>
            </a:r>
            <a:r>
              <a:rPr lang="en-US" sz="2400" i="1" dirty="0" smtClean="0">
                <a:solidFill>
                  <a:srgbClr val="C00000"/>
                </a:solidFill>
              </a:rPr>
              <a:t>business use case</a:t>
            </a:r>
            <a:r>
              <a:rPr lang="en-US" sz="2400" dirty="0" smtClean="0"/>
              <a:t> and is a good example of the wide applicability of use cases.</a:t>
            </a:r>
          </a:p>
          <a:p>
            <a:r>
              <a:rPr lang="en-US" sz="2400" dirty="0" smtClean="0"/>
              <a:t>A business use case describe </a:t>
            </a:r>
            <a:r>
              <a:rPr lang="en-US" sz="2400" i="1" dirty="0" smtClean="0">
                <a:solidFill>
                  <a:srgbClr val="C00000"/>
                </a:solidFill>
              </a:rPr>
              <a:t>complex workflows</a:t>
            </a:r>
            <a:r>
              <a:rPr lang="en-US" sz="2400" dirty="0" smtClean="0"/>
              <a:t> involving </a:t>
            </a:r>
            <a:r>
              <a:rPr lang="en-US" sz="2400" u="sng" dirty="0" smtClean="0"/>
              <a:t>many parties</a:t>
            </a:r>
            <a:r>
              <a:rPr lang="en-US" sz="2400" dirty="0" smtClean="0"/>
              <a:t> and </a:t>
            </a:r>
            <a:r>
              <a:rPr lang="en-US" sz="2400" u="sng" dirty="0" smtClean="0"/>
              <a:t>concurrent actions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Refer to </a:t>
            </a:r>
            <a:r>
              <a:rPr lang="en-US" sz="2400" b="1" dirty="0" smtClean="0"/>
              <a:t>“05.2. Business Use Cases.pptx”</a:t>
            </a:r>
            <a:endParaRPr lang="en-US" sz="24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Relationship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Actors may be connected to use cases only by association. An </a:t>
            </a:r>
            <a:r>
              <a:rPr lang="en-US" sz="2000" i="1" dirty="0" smtClean="0">
                <a:solidFill>
                  <a:srgbClr val="C00000"/>
                </a:solidFill>
              </a:rPr>
              <a:t>association between an actor and a use case</a:t>
            </a:r>
            <a:r>
              <a:rPr lang="en-US" sz="2000" dirty="0" smtClean="0"/>
              <a:t> indicates that the actor and the use case communicate with one another, each one possibly sending and receiving messages.</a:t>
            </a:r>
          </a:p>
        </p:txBody>
      </p:sp>
      <p:sp>
        <p:nvSpPr>
          <p:cNvPr id="56322" name="AutoShape 2" descr="mk:@MSITStore:D:\My%20Teaching\Software%20Requirements\References\05.1.%20Unified%20Modeling%20Language\Grady%20Booch%20et%20al.%20(2005).%20Unified%20Modeling%20Language%20User%20Guide.%20Addison%20Wesley%20Professional.chm::/0321267974/images/0321267974/graphics/18fig02.gif;423615"/>
          <p:cNvSpPr>
            <a:spLocks noChangeAspect="1" noChangeArrowheads="1"/>
          </p:cNvSpPr>
          <p:nvPr/>
        </p:nvSpPr>
        <p:spPr bwMode="auto">
          <a:xfrm>
            <a:off x="63500" y="-136525"/>
            <a:ext cx="4572000" cy="3438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00400"/>
            <a:ext cx="3657600" cy="2750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 Relationship –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can define general kinds of actors (such as Customer) and specialize them (such as </a:t>
            </a:r>
            <a:r>
              <a:rPr lang="en-US" sz="2000" dirty="0" err="1" smtClean="0"/>
              <a:t>CommercialCustomer</a:t>
            </a:r>
            <a:r>
              <a:rPr lang="en-US" sz="2000" dirty="0" smtClean="0"/>
              <a:t>) using </a:t>
            </a:r>
            <a:r>
              <a:rPr lang="en-US" sz="2000" i="1" dirty="0" smtClean="0">
                <a:solidFill>
                  <a:srgbClr val="C00000"/>
                </a:solidFill>
              </a:rPr>
              <a:t>generalization relationships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Generalization of an actor means that one actor can inherit the role of the other actor. The descendant </a:t>
            </a:r>
            <a:r>
              <a:rPr lang="en-US" sz="2000" i="1" dirty="0" smtClean="0">
                <a:solidFill>
                  <a:srgbClr val="C00000"/>
                </a:solidFill>
              </a:rPr>
              <a:t>inherits all the use cases</a:t>
            </a:r>
            <a:r>
              <a:rPr lang="en-US" sz="2000" dirty="0" smtClean="0"/>
              <a:t> of the ancestor. The descendant has one or more use cases that are </a:t>
            </a:r>
            <a:r>
              <a:rPr lang="en-US" sz="2000" u="sng" dirty="0" smtClean="0"/>
              <a:t>specific</a:t>
            </a:r>
            <a:r>
              <a:rPr lang="en-US" sz="2000" dirty="0" smtClean="0"/>
              <a:t> to that role.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657600"/>
            <a:ext cx="1905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2" name="AutoShape 2" descr="mk:@MSITStore:D:\My%20Teaching\Software%20Requirements\References\05.1.%20Unified%20Modeling%20Language\Grady%20Booch%20et%20al.%20(2005).%20Unified%20Modeling%20Language%20User%20Guide.%20Addison%20Wesley%20Professional.chm::/0321267974/images/0321267974/graphics/18fig02.gif;423615"/>
          <p:cNvSpPr>
            <a:spLocks noChangeAspect="1" noChangeArrowheads="1"/>
          </p:cNvSpPr>
          <p:nvPr/>
        </p:nvSpPr>
        <p:spPr bwMode="auto">
          <a:xfrm>
            <a:off x="63500" y="-136525"/>
            <a:ext cx="4572000" cy="3438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6326" name="Picture 6" descr="https://docs.microsoft.com/sr-latn-rs/visualstudio/modeling/media/uml-ucguideinherit.png?view=vs-20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10000"/>
            <a:ext cx="2524125" cy="1685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 Relationship –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Generalization among use cases</a:t>
            </a:r>
            <a:r>
              <a:rPr lang="en-US" sz="2000" dirty="0" smtClean="0"/>
              <a:t> is just like generalization among classes.</a:t>
            </a:r>
          </a:p>
          <a:p>
            <a:r>
              <a:rPr lang="en-US" sz="2000" dirty="0" smtClean="0"/>
              <a:t>Here it means that </a:t>
            </a:r>
            <a:r>
              <a:rPr lang="en-US" sz="2000" i="1" dirty="0" smtClean="0">
                <a:solidFill>
                  <a:srgbClr val="C00000"/>
                </a:solidFill>
              </a:rPr>
              <a:t>the child use case</a:t>
            </a:r>
            <a:r>
              <a:rPr lang="en-US" sz="2000" dirty="0" smtClean="0"/>
              <a:t> </a:t>
            </a:r>
            <a:r>
              <a:rPr lang="en-US" sz="2000" u="sng" dirty="0" smtClean="0"/>
              <a:t>inherits the behavior and meaning</a:t>
            </a:r>
            <a:r>
              <a:rPr lang="en-US" sz="2000" dirty="0" smtClean="0"/>
              <a:t> of </a:t>
            </a:r>
            <a:r>
              <a:rPr lang="en-US" sz="2000" i="1" dirty="0" smtClean="0">
                <a:solidFill>
                  <a:srgbClr val="C00000"/>
                </a:solidFill>
              </a:rPr>
              <a:t>the parent use case</a:t>
            </a:r>
            <a:r>
              <a:rPr lang="en-US" sz="2000" dirty="0" smtClean="0"/>
              <a:t>; the child may add to or override the behavior of its parent; and the child may be substituted any place the parent appears (both the parent and the child may have concrete instances).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581400"/>
            <a:ext cx="3810000" cy="267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include relationship between use cases</a:t>
            </a:r>
            <a:r>
              <a:rPr lang="en-US" sz="2000" dirty="0" smtClean="0"/>
              <a:t> means that the base use case explicitly </a:t>
            </a:r>
            <a:r>
              <a:rPr lang="en-US" sz="2000" u="sng" dirty="0" smtClean="0"/>
              <a:t>incorporates the behavior</a:t>
            </a:r>
            <a:r>
              <a:rPr lang="en-US" sz="2000" dirty="0" smtClean="0"/>
              <a:t> of another use case </a:t>
            </a:r>
            <a:r>
              <a:rPr lang="en-US" sz="2000" u="sng" dirty="0" smtClean="0"/>
              <a:t>at a location</a:t>
            </a:r>
            <a:r>
              <a:rPr lang="en-US" sz="2000" dirty="0" smtClean="0"/>
              <a:t> specified in the base.</a:t>
            </a:r>
          </a:p>
          <a:p>
            <a:r>
              <a:rPr lang="en-US" sz="2000" dirty="0" smtClean="0"/>
              <a:t>The included use case </a:t>
            </a:r>
            <a:r>
              <a:rPr lang="en-US" sz="2000" i="1" dirty="0" smtClean="0">
                <a:solidFill>
                  <a:srgbClr val="C00000"/>
                </a:solidFill>
              </a:rPr>
              <a:t>never stands alone</a:t>
            </a:r>
            <a:r>
              <a:rPr lang="en-US" sz="2000" dirty="0" smtClean="0"/>
              <a:t>, but is only instantiated as part of some larger base that includes it. 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581400"/>
            <a:ext cx="3810000" cy="267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extend relationship between use cases</a:t>
            </a:r>
            <a:r>
              <a:rPr lang="en-US" sz="2000" dirty="0" smtClean="0"/>
              <a:t> means that the base use case implicitly </a:t>
            </a:r>
            <a:r>
              <a:rPr lang="en-US" sz="2000" u="sng" dirty="0" smtClean="0"/>
              <a:t>incorporates the behavior</a:t>
            </a:r>
            <a:r>
              <a:rPr lang="en-US" sz="2000" dirty="0" smtClean="0"/>
              <a:t> of another use case </a:t>
            </a:r>
            <a:r>
              <a:rPr lang="en-US" sz="2000" u="sng" dirty="0" smtClean="0"/>
              <a:t>at a location</a:t>
            </a:r>
            <a:r>
              <a:rPr lang="en-US" sz="2000" dirty="0" smtClean="0"/>
              <a:t> specified indirectly by the extending use case.</a:t>
            </a:r>
          </a:p>
          <a:p>
            <a:r>
              <a:rPr lang="en-US" sz="2000" dirty="0" smtClean="0"/>
              <a:t>The base use case </a:t>
            </a:r>
            <a:r>
              <a:rPr lang="en-US" sz="2000" i="1" dirty="0" smtClean="0">
                <a:solidFill>
                  <a:srgbClr val="C00000"/>
                </a:solidFill>
              </a:rPr>
              <a:t>may stand alone</a:t>
            </a:r>
            <a:r>
              <a:rPr lang="en-US" sz="2000" dirty="0" smtClean="0"/>
              <a:t>, but under certain conditions its behavior may be extended by the behavior of another use case.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581400"/>
            <a:ext cx="3810000" cy="267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Packages</a:t>
            </a:r>
            <a:endParaRPr lang="en-US" dirty="0"/>
          </a:p>
        </p:txBody>
      </p:sp>
      <p:pic>
        <p:nvPicPr>
          <p:cNvPr id="4" name="Picture 2" descr="https://online.visual-paradigm.com/images/tutorials/use-case-diagram-tutorial/03-use-case-diagram-with-packag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533524"/>
            <a:ext cx="6296025" cy="5095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and Use Cases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r>
              <a:rPr lang="en-US" sz="2400" dirty="0" smtClean="0"/>
              <a:t>If you are writing use cases as requirements, keep two things in mind: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They really are requirements</a:t>
            </a:r>
            <a:r>
              <a:rPr lang="en-US" sz="2000" dirty="0" smtClean="0"/>
              <a:t>. You shouldn’t have to convert them into some other form of behavioral requirements. Properly written, they accurately detail what the system must do.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They are not all of the requirements</a:t>
            </a:r>
            <a:r>
              <a:rPr lang="en-US" sz="2000" dirty="0" smtClean="0"/>
              <a:t>. They don’t detail external interfaces, data formats, business rules, and complex formulae. They constitute only a fraction (perhaps a third) of all the requirements you need to collect—a very important fraction but a fraction nonetheless.</a:t>
            </a:r>
            <a:endParaRPr lang="en-US" sz="2000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438400"/>
            <a:ext cx="2651125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cases are fundamentally </a:t>
            </a:r>
            <a:r>
              <a:rPr lang="en-US" sz="2400" i="1" dirty="0" smtClean="0">
                <a:solidFill>
                  <a:srgbClr val="C00000"/>
                </a:solidFill>
              </a:rPr>
              <a:t>a text form</a:t>
            </a:r>
            <a:r>
              <a:rPr lang="en-US" sz="2400" dirty="0" smtClean="0"/>
              <a:t>, although they can be written using flow charts, sequence charts, Petri nets, or programming languages.</a:t>
            </a:r>
          </a:p>
          <a:p>
            <a:r>
              <a:rPr lang="en-US" sz="2400" dirty="0" smtClean="0"/>
              <a:t>Under normal circumstances, they serve as </a:t>
            </a:r>
            <a:r>
              <a:rPr lang="en-US" sz="2400" i="1" dirty="0" smtClean="0">
                <a:solidFill>
                  <a:srgbClr val="C00000"/>
                </a:solidFill>
              </a:rPr>
              <a:t>a means of communication</a:t>
            </a:r>
            <a:r>
              <a:rPr lang="en-US" sz="2400" dirty="0" smtClean="0"/>
              <a:t> from one person to another, often among people with no special training.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Simple text</a:t>
            </a:r>
            <a:r>
              <a:rPr lang="en-US" sz="2400" dirty="0" smtClean="0"/>
              <a:t> is, therefore, usually </a:t>
            </a:r>
            <a:r>
              <a:rPr lang="en-US" sz="2400" u="sng" dirty="0" smtClean="0"/>
              <a:t>the best choice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4034" name="Picture 2" descr="https://img-a.udemycdn.com/course/750x422/1318020_614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648200"/>
            <a:ext cx="2857500" cy="16078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Write Good Use Cases?</a:t>
            </a:r>
            <a:endParaRPr lang="en-US" dirty="0"/>
          </a:p>
        </p:txBody>
      </p:sp>
      <p:pic>
        <p:nvPicPr>
          <p:cNvPr id="37890" name="Picture 2" descr="https://cdn.writermag.com/2019/02/draftrevision_4-1024x83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00200"/>
            <a:ext cx="5852160" cy="47891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Named Goal Levels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981200"/>
            <a:ext cx="8522970" cy="40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Goals (BLUE, SEA-LEVEL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user goal</a:t>
            </a:r>
            <a:r>
              <a:rPr lang="en-US" sz="2400" dirty="0" smtClean="0"/>
              <a:t> is of the greatest interest.</a:t>
            </a:r>
          </a:p>
          <a:p>
            <a:r>
              <a:rPr lang="en-US" sz="2400" dirty="0" smtClean="0"/>
              <a:t>It is the goal the primary actor has in trying to </a:t>
            </a:r>
            <a:r>
              <a:rPr lang="en-US" sz="2400" i="1" dirty="0" smtClean="0">
                <a:solidFill>
                  <a:srgbClr val="C00000"/>
                </a:solidFill>
              </a:rPr>
              <a:t>get work done</a:t>
            </a:r>
            <a:r>
              <a:rPr lang="en-US" sz="2400" dirty="0" smtClean="0"/>
              <a:t> or the one the user has in using the system.</a:t>
            </a:r>
          </a:p>
          <a:p>
            <a:r>
              <a:rPr lang="en-US" sz="2400" dirty="0" smtClean="0"/>
              <a:t>It corresponds to “</a:t>
            </a:r>
            <a:r>
              <a:rPr lang="en-US" sz="2400" i="1" dirty="0" smtClean="0">
                <a:solidFill>
                  <a:srgbClr val="C00000"/>
                </a:solidFill>
              </a:rPr>
              <a:t>elementary business process</a:t>
            </a:r>
            <a:r>
              <a:rPr lang="en-US" sz="2400" dirty="0" smtClean="0"/>
              <a:t>” in business process engineering.</a:t>
            </a:r>
          </a:p>
          <a:p>
            <a:r>
              <a:rPr lang="en-US" sz="2400" dirty="0" smtClean="0"/>
              <a:t>A user goal addresses the question “Can the primary actor </a:t>
            </a:r>
            <a:r>
              <a:rPr lang="en-US" sz="2400" i="1" dirty="0" smtClean="0">
                <a:solidFill>
                  <a:srgbClr val="C00000"/>
                </a:solidFill>
              </a:rPr>
              <a:t>go away happy</a:t>
            </a:r>
            <a:r>
              <a:rPr lang="en-US" sz="2400" dirty="0" smtClean="0"/>
              <a:t> after having done this?”</a:t>
            </a:r>
          </a:p>
          <a:p>
            <a:endParaRPr lang="en-US" sz="2400" dirty="0"/>
          </a:p>
        </p:txBody>
      </p:sp>
      <p:pic>
        <p:nvPicPr>
          <p:cNvPr id="2050" name="Picture 2" descr="https://content.thriveglobal.com/wp-content/uploads/2019/04/happy-futur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648200"/>
            <a:ext cx="34290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Goal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Neither “Complete an online auction purchase” nor “Log on” generally counts as a user goal. Online auctions take several days and so fail the </a:t>
            </a:r>
            <a:r>
              <a:rPr lang="en-US" sz="2400" i="1" dirty="0" smtClean="0">
                <a:solidFill>
                  <a:srgbClr val="C00000"/>
                </a:solidFill>
              </a:rPr>
              <a:t>single-sitting test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“Register a new customer” and “Buy a book” are likely to be user goals. Registering 42 new customers has some significance to a sales agent. A book purchase can be completed in a single sitting.</a:t>
            </a:r>
            <a:endParaRPr lang="en-US" sz="2400" dirty="0"/>
          </a:p>
        </p:txBody>
      </p:sp>
      <p:pic>
        <p:nvPicPr>
          <p:cNvPr id="1028" name="Picture 4" descr="https://support.spoonflower.com/hc/article_attachments/360007647012/HowToOrder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4419600"/>
            <a:ext cx="3164445" cy="2120000"/>
          </a:xfrm>
          <a:prstGeom prst="rect">
            <a:avLst/>
          </a:prstGeom>
          <a:noFill/>
        </p:spPr>
      </p:pic>
      <p:pic>
        <p:nvPicPr>
          <p:cNvPr id="1030" name="Picture 6" descr="https://i.ytimg.com/vi/t-EMinSz_Tk/maxresdefaul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4495800"/>
            <a:ext cx="3413760" cy="1920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Summary-Level Goals (WHITE, CLOUD / KITE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Summary-level goals involve </a:t>
            </a:r>
            <a:r>
              <a:rPr lang="en-US" sz="2400" i="1" dirty="0" smtClean="0">
                <a:solidFill>
                  <a:srgbClr val="C00000"/>
                </a:solidFill>
              </a:rPr>
              <a:t>multiple user goals</a:t>
            </a:r>
            <a:r>
              <a:rPr lang="en-US" sz="2400" dirty="0" smtClean="0"/>
              <a:t>. They serve three purposes in describing the system:</a:t>
            </a:r>
          </a:p>
          <a:p>
            <a:pPr lvl="1"/>
            <a:r>
              <a:rPr lang="en-US" sz="2000" dirty="0" smtClean="0"/>
              <a:t>They show </a:t>
            </a:r>
            <a:r>
              <a:rPr lang="en-US" sz="2000" i="1" dirty="0" smtClean="0">
                <a:solidFill>
                  <a:srgbClr val="C00000"/>
                </a:solidFill>
              </a:rPr>
              <a:t>the context</a:t>
            </a:r>
            <a:r>
              <a:rPr lang="en-US" sz="2000" dirty="0" smtClean="0"/>
              <a:t> in which the user goals operate.</a:t>
            </a:r>
          </a:p>
          <a:p>
            <a:pPr lvl="1"/>
            <a:r>
              <a:rPr lang="en-US" sz="2000" dirty="0" smtClean="0"/>
              <a:t>They show </a:t>
            </a:r>
            <a:r>
              <a:rPr lang="en-US" sz="2000" i="1" dirty="0" smtClean="0">
                <a:solidFill>
                  <a:srgbClr val="C00000"/>
                </a:solidFill>
              </a:rPr>
              <a:t>life-cycle</a:t>
            </a:r>
            <a:r>
              <a:rPr lang="en-US" sz="2000" dirty="0" smtClean="0"/>
              <a:t> sequencing of related goals.</a:t>
            </a:r>
          </a:p>
          <a:p>
            <a:pPr lvl="1"/>
            <a:r>
              <a:rPr lang="en-US" sz="2000" dirty="0" smtClean="0"/>
              <a:t>They provide a table of contents for the lower-level use cases, both white and blue.</a:t>
            </a:r>
            <a:endParaRPr lang="en-US" sz="20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038600"/>
            <a:ext cx="3970020" cy="197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Subfunction</a:t>
            </a:r>
            <a:r>
              <a:rPr lang="en-US" dirty="0" smtClean="0"/>
              <a:t>-Level Goals (INDIGO / BLACK, UNDERWATER / CLAM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Subfunction</a:t>
            </a:r>
            <a:r>
              <a:rPr lang="en-US" sz="2400" dirty="0" smtClean="0"/>
              <a:t>-level goals are those required to carry out user goals. Include them only as you have to—they are </a:t>
            </a:r>
            <a:r>
              <a:rPr lang="en-US" sz="2400" i="1" dirty="0" smtClean="0">
                <a:solidFill>
                  <a:srgbClr val="C00000"/>
                </a:solidFill>
              </a:rPr>
              <a:t>needed on occasion</a:t>
            </a:r>
            <a:r>
              <a:rPr lang="en-US" sz="2400" dirty="0" smtClean="0"/>
              <a:t> for readability or because many other goals use them.</a:t>
            </a:r>
          </a:p>
          <a:p>
            <a:r>
              <a:rPr lang="en-US" sz="2400" dirty="0" smtClean="0"/>
              <a:t>Examples of </a:t>
            </a:r>
            <a:r>
              <a:rPr lang="en-US" sz="2400" dirty="0" err="1" smtClean="0"/>
              <a:t>subfunction</a:t>
            </a:r>
            <a:r>
              <a:rPr lang="en-US" sz="2400" dirty="0" smtClean="0"/>
              <a:t> use cases are Find a Product, Find a Customer, and Save as a File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Those we color </a:t>
            </a:r>
            <a:r>
              <a:rPr lang="en-US" sz="2400" b="1" dirty="0" smtClean="0"/>
              <a:t>black</a:t>
            </a:r>
            <a:r>
              <a:rPr lang="en-US" sz="2400" dirty="0" smtClean="0"/>
              <a:t> to mean “This is so low level, please </a:t>
            </a:r>
            <a:r>
              <a:rPr lang="en-US" sz="2400" i="1" dirty="0" smtClean="0">
                <a:solidFill>
                  <a:srgbClr val="C00000"/>
                </a:solidFill>
              </a:rPr>
              <a:t>don't even expand</a:t>
            </a:r>
            <a:r>
              <a:rPr lang="en-US" sz="2400" dirty="0" smtClean="0"/>
              <a:t> it into a use case”.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User’s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does the primary actor really want?</a:t>
            </a:r>
          </a:p>
          <a:p>
            <a:r>
              <a:rPr lang="en-US" sz="2400" dirty="0" smtClean="0"/>
              <a:t>Why is this actor doing this?</a:t>
            </a:r>
          </a:p>
          <a:p>
            <a:r>
              <a:rPr lang="en-US" sz="2400" dirty="0" smtClean="0"/>
              <a:t>Ask “why” to shift levels.</a:t>
            </a: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036570"/>
            <a:ext cx="7901940" cy="3440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9626</TotalTime>
  <Words>2236</Words>
  <Application>Microsoft Office PowerPoint</Application>
  <PresentationFormat>On-screen Show (4:3)</PresentationFormat>
  <Paragraphs>197</Paragraphs>
  <Slides>40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Use Cases</vt:lpstr>
      <vt:lpstr>Objectives</vt:lpstr>
      <vt:lpstr>Contents</vt:lpstr>
      <vt:lpstr>References</vt:lpstr>
      <vt:lpstr>Bad Communication [1]</vt:lpstr>
      <vt:lpstr>Actor, Action and System</vt:lpstr>
      <vt:lpstr>Scenario and Use Case</vt:lpstr>
      <vt:lpstr>Documenting a Use Case</vt:lpstr>
      <vt:lpstr>Three Common Use Case Formats</vt:lpstr>
      <vt:lpstr>Example of Casual Format</vt:lpstr>
      <vt:lpstr>Example of Fully Dressed Format</vt:lpstr>
      <vt:lpstr>Use Case Diagram</vt:lpstr>
      <vt:lpstr>Three Kinds of Actors</vt:lpstr>
      <vt:lpstr>Draw a Use Case Diagram</vt:lpstr>
      <vt:lpstr>Black-box Use Cases</vt:lpstr>
      <vt:lpstr>How to Find a Use Case?</vt:lpstr>
      <vt:lpstr>How to Write a Good Use Case?</vt:lpstr>
      <vt:lpstr>Discovering Good Use Cases</vt:lpstr>
      <vt:lpstr>Why Use Cases?</vt:lpstr>
      <vt:lpstr>Important Note</vt:lpstr>
      <vt:lpstr>Requirements and Use Cases</vt:lpstr>
      <vt:lpstr>Business Use Cases</vt:lpstr>
      <vt:lpstr>Slide 23</vt:lpstr>
      <vt:lpstr>Association Relationship [2]</vt:lpstr>
      <vt:lpstr>Generalization Relationship – 1</vt:lpstr>
      <vt:lpstr>Generalization Relationship – 2</vt:lpstr>
      <vt:lpstr>Include Relationship</vt:lpstr>
      <vt:lpstr>Extend Relationship</vt:lpstr>
      <vt:lpstr>Use Case Packages</vt:lpstr>
      <vt:lpstr>Slide 30</vt:lpstr>
      <vt:lpstr>Requirements and Use Cases [3]</vt:lpstr>
      <vt:lpstr>Documenting Use Cases</vt:lpstr>
      <vt:lpstr>How to Write Good Use Cases?</vt:lpstr>
      <vt:lpstr>Three Named Goal Levels</vt:lpstr>
      <vt:lpstr>User Goals (BLUE, SEA-LEVEL )</vt:lpstr>
      <vt:lpstr>User Goal Examples</vt:lpstr>
      <vt:lpstr>Summary-Level Goals (WHITE, CLOUD / KITE )</vt:lpstr>
      <vt:lpstr>Subfunction-Level Goals (INDIGO / BLACK, UNDERWATER / CLAM )</vt:lpstr>
      <vt:lpstr>Finding the User’s Goal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4340</cp:revision>
  <dcterms:created xsi:type="dcterms:W3CDTF">2007-10-06T08:25:13Z</dcterms:created>
  <dcterms:modified xsi:type="dcterms:W3CDTF">2022-03-16T12:44:53Z</dcterms:modified>
</cp:coreProperties>
</file>