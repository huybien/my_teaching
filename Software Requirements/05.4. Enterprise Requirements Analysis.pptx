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0"/>
  </p:notesMasterIdLst>
  <p:handoutMasterIdLst>
    <p:handoutMasterId r:id="rId51"/>
  </p:handoutMasterIdLst>
  <p:sldIdLst>
    <p:sldId id="256" r:id="rId2"/>
    <p:sldId id="410" r:id="rId3"/>
    <p:sldId id="459" r:id="rId4"/>
    <p:sldId id="358" r:id="rId5"/>
    <p:sldId id="412" r:id="rId6"/>
    <p:sldId id="458" r:id="rId7"/>
    <p:sldId id="467" r:id="rId8"/>
    <p:sldId id="463" r:id="rId9"/>
    <p:sldId id="439" r:id="rId10"/>
    <p:sldId id="452" r:id="rId11"/>
    <p:sldId id="451" r:id="rId12"/>
    <p:sldId id="440" r:id="rId13"/>
    <p:sldId id="455" r:id="rId14"/>
    <p:sldId id="466" r:id="rId15"/>
    <p:sldId id="464" r:id="rId16"/>
    <p:sldId id="465" r:id="rId17"/>
    <p:sldId id="416" r:id="rId18"/>
    <p:sldId id="443" r:id="rId19"/>
    <p:sldId id="460" r:id="rId20"/>
    <p:sldId id="418" r:id="rId21"/>
    <p:sldId id="461" r:id="rId22"/>
    <p:sldId id="462" r:id="rId23"/>
    <p:sldId id="423" r:id="rId24"/>
    <p:sldId id="427" r:id="rId25"/>
    <p:sldId id="437" r:id="rId26"/>
    <p:sldId id="424" r:id="rId27"/>
    <p:sldId id="425" r:id="rId28"/>
    <p:sldId id="426" r:id="rId29"/>
    <p:sldId id="445" r:id="rId30"/>
    <p:sldId id="468" r:id="rId31"/>
    <p:sldId id="438" r:id="rId32"/>
    <p:sldId id="444" r:id="rId33"/>
    <p:sldId id="428" r:id="rId34"/>
    <p:sldId id="449" r:id="rId35"/>
    <p:sldId id="436" r:id="rId36"/>
    <p:sldId id="429" r:id="rId37"/>
    <p:sldId id="430" r:id="rId38"/>
    <p:sldId id="431" r:id="rId39"/>
    <p:sldId id="432" r:id="rId40"/>
    <p:sldId id="433" r:id="rId41"/>
    <p:sldId id="450" r:id="rId42"/>
    <p:sldId id="469" r:id="rId43"/>
    <p:sldId id="419" r:id="rId44"/>
    <p:sldId id="457" r:id="rId45"/>
    <p:sldId id="420" r:id="rId46"/>
    <p:sldId id="421" r:id="rId47"/>
    <p:sldId id="454" r:id="rId48"/>
    <p:sldId id="359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0" autoAdjust="0"/>
    <p:restoredTop sz="94696" autoAdjust="0"/>
  </p:normalViewPr>
  <p:slideViewPr>
    <p:cSldViewPr>
      <p:cViewPr>
        <p:scale>
          <a:sx n="50" d="100"/>
          <a:sy n="50" d="100"/>
        </p:scale>
        <p:origin x="-15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2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BC266-CF09-4749-93D1-360A4858C14A}" type="datetimeFigureOut">
              <a:rPr lang="en-US" smtClean="0"/>
              <a:pPr/>
              <a:t>4/29/2023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C23B71-4C02-46D2-9275-0B2B3A710A5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026E6-0412-4830-8F06-DF45033103D5}" type="datetimeFigureOut">
              <a:rPr lang="en-US" smtClean="0"/>
              <a:pPr/>
              <a:t>4/29/2023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21BAC6-1780-4248-A045-EEDC4FD7C3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21BAC6-1780-4248-A045-EEDC4FD7C334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1E381-20DA-4745-B537-35B514BA6DD7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F19F-72C6-4835-B8F9-C4043AB145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6C9F8-4ECB-4B63-B927-93DB51F662D0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E5146C-45A3-4063-B945-A6E828CB1A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20DA55-A2EA-4E91-9DF8-848564DA5A8C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02FCE2-22A4-4D22-98FA-0E266C5022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FE22C-AAA6-4859-915C-7CA8A229741E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4E97B5-865B-4943-9516-8680CA16C7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4DA2C-F6C4-40D9-95C2-7E16780900E4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9A6762-FCC9-4A4D-B55E-A9AEAC8C42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2FA20-63C4-4E2F-BBAB-9D9ECDF79A55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71E3C-6E5C-4814-A904-273FE3A95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24579-F551-4401-BD9C-1A956A73C8B1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24CBAC-259E-4BF8-ACF6-FAB2C68750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4B6935-2E86-4F35-979C-26D8DA31E11B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9D8DE-4736-4786-A76F-BA4BFA66C3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642AA-84FD-46EB-91FE-F301FD1B086D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E0BD26-494C-4707-B45F-1E41DB7E20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AB78B-B950-4223-B948-C26A4E4BFB92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35AB7-6027-4C00-A9DE-A82D1F9B71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E790DE-6227-4769-B4D1-A285E0E78CE4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8F97A-8135-4157-8FDD-A5EB0FEF5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44B157-FED2-4AB7-A096-BDB0B5D2F088}" type="datetimeFigureOut">
              <a:rPr lang="en-US"/>
              <a:pPr>
                <a:defRPr/>
              </a:pPr>
              <a:t>4/29/2023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D64C92-C51E-4B83-930E-D172469398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5400" dirty="0" smtClean="0"/>
              <a:t>Enterprise Requirements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3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>
                <a:hlinkClick r:id="rId2"/>
              </a:rPr>
              <a:t>nhbien@fit.hcmus.edu.vn</a:t>
            </a:r>
            <a:endParaRPr lang="en-US" sz="5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334000" cy="4191000"/>
          </a:xfrm>
        </p:spPr>
        <p:txBody>
          <a:bodyPr/>
          <a:lstStyle/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draw and document </a:t>
            </a:r>
            <a:r>
              <a:rPr lang="en-US" sz="2400" i="1" dirty="0" smtClean="0">
                <a:solidFill>
                  <a:srgbClr val="C00000"/>
                </a:solidFill>
              </a:rPr>
              <a:t>analysis models</a:t>
            </a:r>
            <a:r>
              <a:rPr lang="en-US" sz="2400" dirty="0" smtClean="0"/>
              <a:t> for enterprise system.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write a </a:t>
            </a:r>
            <a:r>
              <a:rPr lang="en-US" sz="2400" i="1" dirty="0" smtClean="0">
                <a:solidFill>
                  <a:srgbClr val="C00000"/>
                </a:solidFill>
              </a:rPr>
              <a:t>software requirement specification</a:t>
            </a:r>
            <a:r>
              <a:rPr lang="en-US" sz="2400" dirty="0" smtClean="0"/>
              <a:t> for enterprise system.</a:t>
            </a:r>
          </a:p>
          <a:p>
            <a:pPr marL="457200" indent="-45720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validate</a:t>
            </a:r>
            <a:r>
              <a:rPr lang="en-US" sz="2400" dirty="0" smtClean="0"/>
              <a:t> a software requirement specification for enterprise system.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819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800" dirty="0" smtClean="0"/>
              <a:t>Requirements Analysis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800" dirty="0" smtClean="0"/>
              <a:t>Domain Analysis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800" dirty="0" smtClean="0"/>
              <a:t>The </a:t>
            </a:r>
            <a:r>
              <a:rPr lang="en-US" sz="2800" dirty="0" err="1" smtClean="0"/>
              <a:t>Zachman</a:t>
            </a:r>
            <a:r>
              <a:rPr lang="en-US" sz="2800" dirty="0" smtClean="0"/>
              <a:t> Framework</a:t>
            </a:r>
          </a:p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  <a:p>
            <a:pPr marL="571500" indent="-571500">
              <a:buFont typeface="+mj-lt"/>
              <a:buAutoNum type="romanUcPeriod"/>
            </a:pP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5486400" cy="4495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David C. Hay (2002). Requirements Analysis - From Business Views to Architecture. Prentice Hall PTR.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 smtClean="0"/>
              <a:t>Kyo</a:t>
            </a:r>
            <a:r>
              <a:rPr lang="en-US" sz="2400" dirty="0" smtClean="0"/>
              <a:t> C. Kang et al. (1990). Feature-Oriented Domain Analysis (FODA).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Klaus Pohl et al. (2005). Software Product Line Engineering: Foundations, Principles, and Techniques. Springer.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Requirements Analysis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819400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Requirements analysis</a:t>
            </a:r>
            <a:r>
              <a:rPr lang="en-US" sz="2400" dirty="0" smtClean="0"/>
              <a:t> can be seen as the process of </a:t>
            </a:r>
            <a:r>
              <a:rPr lang="en-US" sz="2400" u="sng" dirty="0" smtClean="0"/>
              <a:t>translating</a:t>
            </a:r>
            <a:r>
              <a:rPr lang="en-US" sz="2400" dirty="0" smtClean="0"/>
              <a:t> the </a:t>
            </a:r>
            <a:r>
              <a:rPr lang="en-US" sz="2400" u="sng" dirty="0" smtClean="0"/>
              <a:t>business owners' views</a:t>
            </a:r>
            <a:r>
              <a:rPr lang="en-US" sz="2400" dirty="0" smtClean="0"/>
              <a:t> of an enterprise into an </a:t>
            </a:r>
            <a:r>
              <a:rPr lang="en-US" sz="2400" u="sng" dirty="0" smtClean="0"/>
              <a:t>architect's view</a:t>
            </a:r>
            <a:r>
              <a:rPr lang="en-US" sz="2400" dirty="0" smtClean="0"/>
              <a:t> that can be the basis for future systems development.</a:t>
            </a:r>
          </a:p>
          <a:p>
            <a:r>
              <a:rPr lang="en-US" sz="2400" dirty="0" smtClean="0"/>
              <a:t>Thousands of </a:t>
            </a:r>
            <a:r>
              <a:rPr lang="en-US" sz="2400" u="sng" dirty="0" smtClean="0"/>
              <a:t>software projects</a:t>
            </a:r>
            <a:r>
              <a:rPr lang="en-US" sz="2400" dirty="0" smtClean="0"/>
              <a:t> are </a:t>
            </a:r>
            <a:r>
              <a:rPr lang="en-US" sz="2400" u="sng" dirty="0" smtClean="0"/>
              <a:t>doomed</a:t>
            </a:r>
            <a:r>
              <a:rPr lang="en-US" sz="2400" dirty="0" smtClean="0"/>
              <a:t> from the start because they're based on a faulty understanding of the </a:t>
            </a:r>
            <a:r>
              <a:rPr lang="en-US" sz="2400" i="1" dirty="0" smtClean="0">
                <a:solidFill>
                  <a:srgbClr val="C00000"/>
                </a:solidFill>
              </a:rPr>
              <a:t>business problem</a:t>
            </a:r>
            <a:r>
              <a:rPr lang="en-US" sz="2400" dirty="0" smtClean="0"/>
              <a:t> that must be solved.</a:t>
            </a:r>
          </a:p>
          <a:p>
            <a:endParaRPr lang="en-US" sz="2400" dirty="0"/>
          </a:p>
        </p:txBody>
      </p:sp>
      <p:pic>
        <p:nvPicPr>
          <p:cNvPr id="40969" name="Picture 9" descr="http://i0.wp.com/www.sanjayshetty.com/wp-content/uploads/2014/05/Incorrect-business-objective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572000"/>
            <a:ext cx="3448050" cy="17621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 Note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onsolas" pitchFamily="49" charset="0"/>
              </a:rPr>
              <a:t>Business </a:t>
            </a:r>
            <a:r>
              <a:rPr lang="en-US" i="1" dirty="0" smtClean="0">
                <a:solidFill>
                  <a:srgbClr val="C00000"/>
                </a:solidFill>
                <a:latin typeface="Consolas" pitchFamily="49" charset="0"/>
              </a:rPr>
              <a:t>problems</a:t>
            </a:r>
            <a:r>
              <a:rPr lang="en-US" dirty="0" smtClean="0">
                <a:latin typeface="Consolas" pitchFamily="49" charset="0"/>
              </a:rPr>
              <a:t>, not system features.</a:t>
            </a:r>
            <a:endParaRPr lang="en-US" dirty="0">
              <a:latin typeface="Consolas" pitchFamily="49" charset="0"/>
            </a:endParaRPr>
          </a:p>
        </p:txBody>
      </p:sp>
      <p:pic>
        <p:nvPicPr>
          <p:cNvPr id="1026" name="Picture 2" descr="http://vashikaranbabaji.com/wp-content/uploads/2013/09/Business-Proble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57800" y="3505200"/>
            <a:ext cx="2619375" cy="1743076"/>
          </a:xfrm>
          <a:prstGeom prst="rect">
            <a:avLst/>
          </a:prstGeom>
          <a:noFill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3048000"/>
            <a:ext cx="3629025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Core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smtClean="0"/>
              <a:t>Indentify </a:t>
            </a:r>
            <a:r>
              <a:rPr lang="en-US" sz="2400" i="1" smtClean="0">
                <a:solidFill>
                  <a:srgbClr val="C00000"/>
                </a:solidFill>
              </a:rPr>
              <a:t>problems</a:t>
            </a:r>
            <a:r>
              <a:rPr lang="en-US" sz="2400" smtClean="0"/>
              <a:t> </a:t>
            </a:r>
            <a:r>
              <a:rPr lang="en-US" sz="2400" dirty="0" smtClean="0"/>
              <a:t>in an </a:t>
            </a:r>
            <a:r>
              <a:rPr lang="en-US" sz="2400" u="sng" dirty="0" smtClean="0"/>
              <a:t>enterprise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Problem space = Real world + Technology.</a:t>
            </a:r>
          </a:p>
          <a:p>
            <a:r>
              <a:rPr lang="en-US" sz="2400" dirty="0" smtClean="0"/>
              <a:t>Requiring both </a:t>
            </a:r>
            <a:r>
              <a:rPr lang="en-US" sz="2400" i="1" dirty="0" smtClean="0">
                <a:solidFill>
                  <a:srgbClr val="C00000"/>
                </a:solidFill>
              </a:rPr>
              <a:t>domain</a:t>
            </a:r>
            <a:r>
              <a:rPr lang="en-US" sz="2400" dirty="0" smtClean="0"/>
              <a:t> experts and </a:t>
            </a:r>
            <a:r>
              <a:rPr lang="en-US" sz="2400" i="1" dirty="0" smtClean="0">
                <a:solidFill>
                  <a:srgbClr val="C00000"/>
                </a:solidFill>
              </a:rPr>
              <a:t>technical</a:t>
            </a:r>
            <a:r>
              <a:rPr lang="en-US" sz="2400" dirty="0" smtClean="0"/>
              <a:t> experts.</a:t>
            </a:r>
            <a:endParaRPr lang="en-US" sz="2400" dirty="0"/>
          </a:p>
        </p:txBody>
      </p:sp>
      <p:pic>
        <p:nvPicPr>
          <p:cNvPr id="1028" name="Picture 4" descr="https://www.janek.com/wp-content/uploads/2019/09/420tips20to20help20you20eliminate20anxiety20from20your20sales20negotiation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3657600"/>
            <a:ext cx="2857500" cy="1905000"/>
          </a:xfrm>
          <a:prstGeom prst="rect">
            <a:avLst/>
          </a:prstGeom>
          <a:noFill/>
        </p:spPr>
      </p:pic>
      <p:pic>
        <p:nvPicPr>
          <p:cNvPr id="1030" name="Picture 6" descr="https://media.istockphoto.com/photos/programmer-working-with-program-code-picture-id1075599562?k=20&amp;m=1075599562&amp;s=612x612&amp;w=0&amp;h=cDFY2kKyhFzSNNlDQsaxoekIW0v7iyaMBkxp11Fz33U=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3657600"/>
            <a:ext cx="2798064" cy="1865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Analysis Terms (I)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7244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Application:</a:t>
            </a:r>
            <a:r>
              <a:rPr lang="en-US" sz="2400" dirty="0" smtClean="0"/>
              <a:t> A system which provides a set of general services for solving some type of user problem.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Context:</a:t>
            </a:r>
            <a:r>
              <a:rPr lang="en-US" sz="2400" dirty="0" smtClean="0"/>
              <a:t> The circumstances, situation, or environment in which a particular system exists.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Domain:</a:t>
            </a:r>
            <a:r>
              <a:rPr lang="en-US" sz="2400" dirty="0" smtClean="0"/>
              <a:t> (also called </a:t>
            </a:r>
            <a:r>
              <a:rPr lang="en-US" sz="2400" u="sng" dirty="0" smtClean="0"/>
              <a:t>application domain</a:t>
            </a:r>
            <a:r>
              <a:rPr lang="en-US" sz="2400" dirty="0" smtClean="0"/>
              <a:t>) A set of current and future applications which share a set of common capabilities and data.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2209800"/>
            <a:ext cx="3810000" cy="331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Analysis Terms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Domain analysis:</a:t>
            </a:r>
            <a:r>
              <a:rPr lang="en-US" sz="2400" dirty="0" smtClean="0"/>
              <a:t> The process of identifying, collecting, organizing, and representing the </a:t>
            </a:r>
            <a:r>
              <a:rPr lang="en-US" sz="2400" u="sng" dirty="0" smtClean="0"/>
              <a:t>relevant information in a domain</a:t>
            </a:r>
            <a:r>
              <a:rPr lang="en-US" sz="2400" dirty="0" smtClean="0"/>
              <a:t> based on the study of existing systems and their development histories, knowledge captured from domain experts, underlying theory, and emerging technology within the domain.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Domain engineering:</a:t>
            </a:r>
            <a:r>
              <a:rPr lang="en-US" sz="2400" dirty="0" smtClean="0"/>
              <a:t> An encompassing process which includes domain analysis and the subsequent </a:t>
            </a:r>
            <a:r>
              <a:rPr lang="en-US" sz="2400" u="sng" dirty="0" smtClean="0"/>
              <a:t>construction</a:t>
            </a:r>
            <a:r>
              <a:rPr lang="en-US" sz="2400" dirty="0" smtClean="0"/>
              <a:t> of components, methods, and tools that address the problems of system/subsystem development through the application of the domain analysis products.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Analysis Terms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Domain model: </a:t>
            </a:r>
            <a:r>
              <a:rPr lang="en-US" sz="2400" dirty="0" smtClean="0"/>
              <a:t>A definition of the functions, </a:t>
            </a:r>
            <a:r>
              <a:rPr lang="en-US" sz="2400" u="sng" dirty="0" smtClean="0"/>
              <a:t>objects</a:t>
            </a:r>
            <a:r>
              <a:rPr lang="en-US" sz="2400" dirty="0" smtClean="0"/>
              <a:t>, data, and </a:t>
            </a:r>
            <a:r>
              <a:rPr lang="en-US" sz="2400" u="sng" dirty="0" smtClean="0"/>
              <a:t>relationships</a:t>
            </a:r>
            <a:r>
              <a:rPr lang="en-US" sz="2400" dirty="0" smtClean="0"/>
              <a:t> in a domain.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Feature:</a:t>
            </a:r>
            <a:r>
              <a:rPr lang="en-US" sz="2400" dirty="0" smtClean="0"/>
              <a:t> A prominent or distinctive </a:t>
            </a:r>
            <a:r>
              <a:rPr lang="en-US" sz="2400" u="sng" dirty="0" smtClean="0"/>
              <a:t>user-visible</a:t>
            </a:r>
            <a:r>
              <a:rPr lang="en-US" sz="2400" dirty="0" smtClean="0"/>
              <a:t> aspect, quality, or characteristic of a software system or systems.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Software architecture:</a:t>
            </a:r>
            <a:r>
              <a:rPr lang="en-US" sz="2400" dirty="0" smtClean="0"/>
              <a:t> The high-level </a:t>
            </a:r>
            <a:r>
              <a:rPr lang="en-US" sz="2400" u="sng" dirty="0" smtClean="0"/>
              <a:t>packaging structure</a:t>
            </a:r>
            <a:r>
              <a:rPr lang="en-US" sz="2400" dirty="0" smtClean="0"/>
              <a:t> of functions and data, their interfaces and control, to support the implementation of applications in a domain.</a:t>
            </a:r>
            <a:endParaRPr lang="en-US" sz="2400" dirty="0"/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514600"/>
            <a:ext cx="3305175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Analysis Participants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0538" y="2209800"/>
            <a:ext cx="8162925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Analysis vs. Design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Analysis is concerned solely with what some call the </a:t>
            </a:r>
            <a:r>
              <a:rPr lang="en-US" sz="2400" i="1" dirty="0" smtClean="0">
                <a:solidFill>
                  <a:srgbClr val="C00000"/>
                </a:solidFill>
              </a:rPr>
              <a:t>problem space</a:t>
            </a:r>
            <a:r>
              <a:rPr lang="en-US" sz="2400" dirty="0" smtClean="0"/>
              <a:t> or the universe of discourse: What is the </a:t>
            </a:r>
            <a:r>
              <a:rPr lang="en-US" sz="2400" i="1" dirty="0" smtClean="0">
                <a:solidFill>
                  <a:srgbClr val="C00000"/>
                </a:solidFill>
              </a:rPr>
              <a:t>nature of the enterprise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how does it use information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Design, in the </a:t>
            </a:r>
            <a:r>
              <a:rPr lang="en-US" sz="2400" i="1" dirty="0" smtClean="0">
                <a:solidFill>
                  <a:srgbClr val="C00000"/>
                </a:solidFill>
              </a:rPr>
              <a:t>solution space</a:t>
            </a:r>
            <a:r>
              <a:rPr lang="en-US" sz="2400" dirty="0" smtClean="0"/>
              <a:t>, is the specific </a:t>
            </a:r>
            <a:r>
              <a:rPr lang="en-US" sz="2400" u="sng" dirty="0" smtClean="0"/>
              <a:t>application of particular technology</a:t>
            </a:r>
            <a:r>
              <a:rPr lang="en-US" sz="2400" dirty="0" smtClean="0"/>
              <a:t> to address that enterprise.</a:t>
            </a:r>
          </a:p>
          <a:p>
            <a:r>
              <a:rPr lang="en-US" sz="2400" dirty="0" smtClean="0"/>
              <a:t>Business experts' view ➾ the architect's view ➾ designer's view.</a:t>
            </a:r>
          </a:p>
          <a:p>
            <a:r>
              <a:rPr lang="en-US" sz="2400" dirty="0" smtClean="0"/>
              <a:t>If a </a:t>
            </a:r>
            <a:r>
              <a:rPr lang="en-US" sz="2400" u="sng" dirty="0" smtClean="0"/>
              <a:t>programmer</a:t>
            </a:r>
            <a:r>
              <a:rPr lang="en-US" sz="2400" dirty="0" smtClean="0"/>
              <a:t> speaks to a </a:t>
            </a:r>
            <a:r>
              <a:rPr lang="en-US" sz="2400" u="sng" dirty="0" smtClean="0"/>
              <a:t>business expert</a:t>
            </a:r>
            <a:r>
              <a:rPr lang="en-US" sz="2400" dirty="0" smtClean="0"/>
              <a:t> and then turns around and produces a system, he or she has just done those </a:t>
            </a:r>
            <a:r>
              <a:rPr lang="en-US" sz="2400" i="1" dirty="0" smtClean="0">
                <a:solidFill>
                  <a:srgbClr val="C00000"/>
                </a:solidFill>
              </a:rPr>
              <a:t>two translations</a:t>
            </a:r>
            <a:r>
              <a:rPr lang="en-US" sz="2400" dirty="0" smtClean="0"/>
              <a:t>—unconsciously. The problem is that no one is in a position to </a:t>
            </a:r>
            <a:r>
              <a:rPr lang="en-US" sz="2400" u="sng" dirty="0" smtClean="0"/>
              <a:t>evaluate the quality of either translation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Zachman</a:t>
            </a:r>
            <a:r>
              <a:rPr lang="en-US" dirty="0" smtClean="0"/>
              <a:t> Framework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9350" y="1228725"/>
            <a:ext cx="430530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Analysis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A </a:t>
            </a:r>
            <a:r>
              <a:rPr lang="en-US" sz="2600" i="1" dirty="0" smtClean="0">
                <a:solidFill>
                  <a:srgbClr val="C00000"/>
                </a:solidFill>
              </a:rPr>
              <a:t>business owner's view</a:t>
            </a:r>
            <a:r>
              <a:rPr lang="en-US" sz="2600" dirty="0" smtClean="0"/>
              <a:t> is usually </a:t>
            </a:r>
            <a:r>
              <a:rPr lang="en-US" sz="2600" u="sng" dirty="0" smtClean="0"/>
              <a:t>expressed in terms of industry jargon</a:t>
            </a:r>
            <a:r>
              <a:rPr lang="en-US" sz="2600" dirty="0" smtClean="0"/>
              <a:t> and is about the mechanisms involved in </a:t>
            </a:r>
            <a:r>
              <a:rPr lang="en-US" sz="2600" u="sng" dirty="0" smtClean="0"/>
              <a:t>running the enterprise</a:t>
            </a:r>
            <a:r>
              <a:rPr lang="en-US" sz="2600" dirty="0" smtClean="0"/>
              <a:t> today.</a:t>
            </a:r>
          </a:p>
          <a:p>
            <a:r>
              <a:rPr lang="en-US" sz="2600" dirty="0" smtClean="0"/>
              <a:t>Requirements analysis must analyze this to determine the fundamental </a:t>
            </a:r>
            <a:r>
              <a:rPr lang="en-US" sz="2600" i="1" dirty="0" smtClean="0">
                <a:solidFill>
                  <a:srgbClr val="C00000"/>
                </a:solidFill>
              </a:rPr>
              <a:t>structures</a:t>
            </a:r>
            <a:r>
              <a:rPr lang="en-US" sz="2600" dirty="0" smtClean="0"/>
              <a:t> and </a:t>
            </a:r>
            <a:r>
              <a:rPr lang="en-US" sz="2600" i="1" dirty="0" smtClean="0">
                <a:solidFill>
                  <a:srgbClr val="C00000"/>
                </a:solidFill>
              </a:rPr>
              <a:t>functions</a:t>
            </a:r>
            <a:r>
              <a:rPr lang="en-US" sz="2600" dirty="0" smtClean="0"/>
              <a:t> of the business, in order to suggest </a:t>
            </a:r>
            <a:r>
              <a:rPr lang="en-US" sz="2600" u="sng" dirty="0" smtClean="0"/>
              <a:t>new ways</a:t>
            </a:r>
            <a:r>
              <a:rPr lang="en-US" sz="2600" dirty="0" smtClean="0"/>
              <a:t> that these might be addressed.</a:t>
            </a:r>
          </a:p>
          <a:p>
            <a:r>
              <a:rPr lang="en-US" sz="2600" b="1" i="1" dirty="0" smtClean="0">
                <a:solidFill>
                  <a:srgbClr val="C00000"/>
                </a:solidFill>
              </a:rPr>
              <a:t>What</a:t>
            </a:r>
            <a:r>
              <a:rPr lang="en-US" sz="2600" b="1" dirty="0" smtClean="0"/>
              <a:t> to create?</a:t>
            </a:r>
          </a:p>
          <a:p>
            <a:r>
              <a:rPr lang="en-US" sz="2600" b="1" i="1" dirty="0" smtClean="0">
                <a:solidFill>
                  <a:srgbClr val="C00000"/>
                </a:solidFill>
              </a:rPr>
              <a:t>Models</a:t>
            </a:r>
            <a:r>
              <a:rPr lang="en-US" sz="2600" b="1" dirty="0" smtClean="0"/>
              <a:t>: Data, Activities, Locations, People and Organizations, Timing, Motivation.</a:t>
            </a:r>
            <a:endParaRPr lang="en-US" sz="26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</a:t>
            </a:r>
            <a:r>
              <a:rPr lang="en-US" dirty="0" smtClean="0"/>
              <a:t>Gather Information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Meet</a:t>
            </a:r>
            <a:r>
              <a:rPr lang="en-US" sz="2400" dirty="0" smtClean="0"/>
              <a:t> with the people who will own the system.</a:t>
            </a:r>
          </a:p>
          <a:p>
            <a:r>
              <a:rPr lang="en-US" sz="2400" dirty="0" smtClean="0"/>
              <a:t>They are the ultimate source of all your </a:t>
            </a:r>
            <a:r>
              <a:rPr lang="en-US" sz="2400" i="1" dirty="0" smtClean="0">
                <a:solidFill>
                  <a:srgbClr val="C00000"/>
                </a:solidFill>
              </a:rPr>
              <a:t>information</a:t>
            </a:r>
            <a:r>
              <a:rPr lang="en-US" sz="2400" dirty="0" smtClean="0"/>
              <a:t> about the company and what it should do.</a:t>
            </a:r>
          </a:p>
          <a:p>
            <a:pPr lvl="1"/>
            <a:r>
              <a:rPr lang="en-US" sz="2000" dirty="0" smtClean="0"/>
              <a:t>Conduct </a:t>
            </a:r>
            <a:r>
              <a:rPr lang="en-US" sz="2000" i="1" dirty="0" smtClean="0">
                <a:solidFill>
                  <a:srgbClr val="C00000"/>
                </a:solidFill>
              </a:rPr>
              <a:t>briefing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Conduct </a:t>
            </a:r>
            <a:r>
              <a:rPr lang="en-US" sz="2000" i="1" dirty="0" smtClean="0">
                <a:solidFill>
                  <a:srgbClr val="C00000"/>
                </a:solidFill>
              </a:rPr>
              <a:t>interviews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Conduct "joint application development" </a:t>
            </a:r>
            <a:r>
              <a:rPr lang="en-US" sz="2000" i="1" dirty="0" smtClean="0">
                <a:solidFill>
                  <a:srgbClr val="C00000"/>
                </a:solidFill>
              </a:rPr>
              <a:t>(JAD) sessions</a:t>
            </a:r>
            <a:r>
              <a:rPr lang="en-US" sz="2000" dirty="0" smtClean="0"/>
              <a:t>.</a:t>
            </a:r>
          </a:p>
          <a:p>
            <a:pPr lvl="1"/>
            <a:r>
              <a:rPr lang="en-US" sz="2000" dirty="0" smtClean="0"/>
              <a:t>Obtain </a:t>
            </a:r>
            <a:r>
              <a:rPr lang="en-US" sz="2000" i="1" dirty="0" smtClean="0">
                <a:solidFill>
                  <a:srgbClr val="C00000"/>
                </a:solidFill>
              </a:rPr>
              <a:t>industry information</a:t>
            </a:r>
            <a:r>
              <a:rPr lang="en-US" sz="2000" dirty="0" smtClean="0"/>
              <a:t> and </a:t>
            </a:r>
            <a:r>
              <a:rPr lang="en-US" sz="2000" i="1" dirty="0" smtClean="0">
                <a:solidFill>
                  <a:srgbClr val="C00000"/>
                </a:solidFill>
              </a:rPr>
              <a:t>patterns</a:t>
            </a:r>
            <a:r>
              <a:rPr lang="en-US" sz="2000" dirty="0" smtClean="0"/>
              <a:t>.</a:t>
            </a:r>
          </a:p>
          <a:p>
            <a:pPr lvl="2"/>
            <a:r>
              <a:rPr lang="en-US" sz="1600" dirty="0" smtClean="0"/>
              <a:t>Seek out information about how other companies in this industry work.</a:t>
            </a:r>
          </a:p>
          <a:p>
            <a:pPr lvl="2"/>
            <a:r>
              <a:rPr lang="en-US" sz="1600" dirty="0" smtClean="0"/>
              <a:t>A similar project is very likely to have been done before in another company. Take advantage of that, if possible.</a:t>
            </a:r>
          </a:p>
          <a:p>
            <a:pPr lvl="1"/>
            <a:r>
              <a:rPr lang="en-US" sz="2000" dirty="0" smtClean="0"/>
              <a:t>Review the range of </a:t>
            </a:r>
            <a:r>
              <a:rPr lang="en-US" sz="2000" i="1" dirty="0" smtClean="0">
                <a:solidFill>
                  <a:srgbClr val="C00000"/>
                </a:solidFill>
              </a:rPr>
              <a:t>available software</a:t>
            </a:r>
            <a:r>
              <a:rPr lang="en-US" sz="2000" dirty="0" smtClean="0"/>
              <a:t>.</a:t>
            </a:r>
          </a:p>
          <a:p>
            <a:r>
              <a:rPr lang="en-US" sz="2400" b="1" dirty="0" smtClean="0"/>
              <a:t>The </a:t>
            </a:r>
            <a:r>
              <a:rPr lang="en-US" sz="2400" b="1" i="1" dirty="0" smtClean="0">
                <a:solidFill>
                  <a:srgbClr val="C00000"/>
                </a:solidFill>
              </a:rPr>
              <a:t>primary result</a:t>
            </a:r>
            <a:r>
              <a:rPr lang="en-US" sz="2400" b="1" dirty="0" smtClean="0"/>
              <a:t> of this process is </a:t>
            </a:r>
            <a:r>
              <a:rPr lang="en-US" sz="2400" b="1" u="sng" dirty="0" smtClean="0"/>
              <a:t>not</a:t>
            </a:r>
            <a:r>
              <a:rPr lang="en-US" sz="2400" b="1" dirty="0" smtClean="0"/>
              <a:t> a </a:t>
            </a:r>
            <a:r>
              <a:rPr lang="en-US" sz="2400" b="1" u="sng" dirty="0" smtClean="0"/>
              <a:t>formal deliverable</a:t>
            </a:r>
            <a:r>
              <a:rPr lang="en-US" sz="2400" b="1" dirty="0" smtClean="0"/>
              <a:t>.</a:t>
            </a:r>
          </a:p>
          <a:p>
            <a:pPr>
              <a:buNone/>
            </a:pPr>
            <a:r>
              <a:rPr lang="en-US" sz="2400" b="1" dirty="0" smtClean="0"/>
              <a:t>	It is a set of </a:t>
            </a:r>
            <a:r>
              <a:rPr lang="en-US" sz="2400" b="1" i="1" dirty="0" smtClean="0">
                <a:solidFill>
                  <a:srgbClr val="C00000"/>
                </a:solidFill>
                <a:latin typeface="Consolas" pitchFamily="49" charset="0"/>
              </a:rPr>
              <a:t>notes</a:t>
            </a:r>
            <a:r>
              <a:rPr lang="en-US" sz="2400" b="1" dirty="0" smtClean="0"/>
              <a:t> and </a:t>
            </a:r>
            <a:r>
              <a:rPr lang="en-US" sz="2400" b="1" i="1" dirty="0" smtClean="0">
                <a:solidFill>
                  <a:srgbClr val="C00000"/>
                </a:solidFill>
                <a:latin typeface="Consolas" pitchFamily="49" charset="0"/>
              </a:rPr>
              <a:t>sketches</a:t>
            </a:r>
            <a:r>
              <a:rPr lang="en-US" sz="2400" b="1" dirty="0" smtClean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Define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What is the project </a:t>
            </a:r>
            <a:r>
              <a:rPr lang="en-US" sz="2400" i="1" dirty="0" smtClean="0">
                <a:solidFill>
                  <a:srgbClr val="C00000"/>
                </a:solidFill>
              </a:rPr>
              <a:t>about</a:t>
            </a:r>
            <a:r>
              <a:rPr lang="en-US" sz="2400" dirty="0" smtClean="0"/>
              <a:t>?</a:t>
            </a:r>
          </a:p>
          <a:p>
            <a:r>
              <a:rPr lang="en-US" sz="2400" dirty="0" smtClean="0"/>
              <a:t>What information-processing </a:t>
            </a:r>
            <a:r>
              <a:rPr lang="en-US" sz="2400" i="1" dirty="0" smtClean="0">
                <a:solidFill>
                  <a:srgbClr val="C00000"/>
                </a:solidFill>
              </a:rPr>
              <a:t>capabilities</a:t>
            </a:r>
            <a:r>
              <a:rPr lang="en-US" sz="2400" dirty="0" smtClean="0"/>
              <a:t> is it to create?</a:t>
            </a:r>
          </a:p>
          <a:p>
            <a:r>
              <a:rPr lang="en-US" sz="2400" dirty="0" smtClean="0"/>
              <a:t>What </a:t>
            </a:r>
            <a:r>
              <a:rPr lang="en-US" sz="2400" i="1" dirty="0" smtClean="0">
                <a:solidFill>
                  <a:srgbClr val="C00000"/>
                </a:solidFill>
              </a:rPr>
              <a:t>part of the enterprise</a:t>
            </a:r>
            <a:r>
              <a:rPr lang="en-US" sz="2400" dirty="0" smtClean="0"/>
              <a:t> is it to address?</a:t>
            </a:r>
          </a:p>
          <a:p>
            <a:r>
              <a:rPr lang="en-US" sz="2400" dirty="0" smtClean="0"/>
              <a:t>Who is </a:t>
            </a:r>
            <a:r>
              <a:rPr lang="en-US" sz="2400" i="1" dirty="0" smtClean="0">
                <a:solidFill>
                  <a:srgbClr val="C00000"/>
                </a:solidFill>
              </a:rPr>
              <a:t>assigned</a:t>
            </a:r>
            <a:r>
              <a:rPr lang="en-US" sz="2400" dirty="0" smtClean="0"/>
              <a:t> to the project?</a:t>
            </a:r>
          </a:p>
          <a:p>
            <a:r>
              <a:rPr lang="en-US" sz="2400" dirty="0" smtClean="0"/>
              <a:t>Who is </a:t>
            </a:r>
            <a:r>
              <a:rPr lang="en-US" sz="2400" i="1" dirty="0" smtClean="0">
                <a:solidFill>
                  <a:srgbClr val="C00000"/>
                </a:solidFill>
              </a:rPr>
              <a:t>ultimately responsible</a:t>
            </a:r>
            <a:r>
              <a:rPr lang="en-US" sz="2400" dirty="0" smtClean="0"/>
              <a:t> for it?</a:t>
            </a:r>
          </a:p>
          <a:p>
            <a:r>
              <a:rPr lang="en-US" sz="2400" dirty="0" smtClean="0"/>
              <a:t>Who owns the </a:t>
            </a:r>
            <a:r>
              <a:rPr lang="en-US" sz="2400" i="1" dirty="0" smtClean="0">
                <a:solidFill>
                  <a:srgbClr val="C00000"/>
                </a:solidFill>
              </a:rPr>
              <a:t>data and functions</a:t>
            </a:r>
            <a:r>
              <a:rPr lang="en-US" sz="2400" dirty="0" smtClean="0"/>
              <a:t> involved?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43250" y="4381500"/>
            <a:ext cx="28575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3. </a:t>
            </a:r>
            <a:r>
              <a:rPr lang="en-US" sz="4200" dirty="0" smtClean="0"/>
              <a:t>Take Inventory of Current Systems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While requirements analysis, for the most part, is </a:t>
            </a:r>
            <a:r>
              <a:rPr lang="en-US" sz="2400" u="sng" dirty="0" smtClean="0"/>
              <a:t>not</a:t>
            </a:r>
            <a:r>
              <a:rPr lang="en-US" sz="2400" dirty="0" smtClean="0"/>
              <a:t> concerned with technology or current systems, it is useful to know </a:t>
            </a:r>
            <a:r>
              <a:rPr lang="en-US" sz="2400" i="1" dirty="0" smtClean="0">
                <a:solidFill>
                  <a:srgbClr val="C00000"/>
                </a:solidFill>
              </a:rPr>
              <a:t>what exists</a:t>
            </a:r>
            <a:r>
              <a:rPr lang="en-US" sz="2400" dirty="0" smtClean="0"/>
              <a:t>, and what roles </a:t>
            </a:r>
            <a:r>
              <a:rPr lang="en-US" sz="2400" i="1" dirty="0" smtClean="0">
                <a:solidFill>
                  <a:srgbClr val="C00000"/>
                </a:solidFill>
              </a:rPr>
              <a:t>technology</a:t>
            </a:r>
            <a:r>
              <a:rPr lang="en-US" sz="2400" dirty="0" smtClean="0"/>
              <a:t> plays in the </a:t>
            </a:r>
            <a:r>
              <a:rPr lang="en-US" sz="2400" u="sng" dirty="0" smtClean="0"/>
              <a:t>current operation</a:t>
            </a:r>
            <a:r>
              <a:rPr lang="en-US" sz="2400" dirty="0" smtClean="0"/>
              <a:t> of the enterprise.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6588" y="3962400"/>
            <a:ext cx="2789237" cy="160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dirty="0" smtClean="0"/>
              <a:t>Describe the Enterprise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Use the modeling techniques to portray the </a:t>
            </a:r>
            <a:r>
              <a:rPr lang="en-US" sz="2400" i="1" dirty="0" smtClean="0">
                <a:solidFill>
                  <a:srgbClr val="C00000"/>
                </a:solidFill>
              </a:rPr>
              <a:t>six dimensions</a:t>
            </a:r>
            <a:r>
              <a:rPr lang="en-US" sz="2400" dirty="0" smtClean="0"/>
              <a:t> of the enterprise: </a:t>
            </a:r>
            <a:r>
              <a:rPr lang="en-US" sz="2400" u="sng" dirty="0" smtClean="0"/>
              <a:t>what</a:t>
            </a:r>
            <a:r>
              <a:rPr lang="en-US" sz="2400" dirty="0" smtClean="0"/>
              <a:t> data, </a:t>
            </a:r>
            <a:r>
              <a:rPr lang="en-US" sz="2400" u="sng" dirty="0" smtClean="0"/>
              <a:t>how</a:t>
            </a:r>
            <a:r>
              <a:rPr lang="en-US" sz="2400" dirty="0" smtClean="0"/>
              <a:t> it is processed, </a:t>
            </a:r>
            <a:r>
              <a:rPr lang="en-US" sz="2400" u="sng" dirty="0" smtClean="0"/>
              <a:t>where</a:t>
            </a:r>
            <a:r>
              <a:rPr lang="en-US" sz="2400" dirty="0" smtClean="0"/>
              <a:t> things are done, </a:t>
            </a:r>
            <a:r>
              <a:rPr lang="en-US" sz="2400" u="sng" dirty="0" smtClean="0"/>
              <a:t>who</a:t>
            </a:r>
            <a:r>
              <a:rPr lang="en-US" sz="2400" dirty="0" smtClean="0"/>
              <a:t> plays what roles in the enterprise, </a:t>
            </a:r>
            <a:r>
              <a:rPr lang="en-US" sz="2400" u="sng" dirty="0" smtClean="0"/>
              <a:t>when</a:t>
            </a:r>
            <a:r>
              <a:rPr lang="en-US" sz="2400" dirty="0" smtClean="0"/>
              <a:t> events take place that trigger activities, and </a:t>
            </a:r>
            <a:r>
              <a:rPr lang="en-US" sz="2400" u="sng" dirty="0" smtClean="0"/>
              <a:t>why</a:t>
            </a:r>
            <a:r>
              <a:rPr lang="en-US" sz="2400" dirty="0" smtClean="0"/>
              <a:t> the enterprise is constrained the way it is.</a:t>
            </a:r>
          </a:p>
          <a:p>
            <a:r>
              <a:rPr lang="en-US" sz="2400" dirty="0" smtClean="0"/>
              <a:t>The enterprise is described by a series of </a:t>
            </a:r>
            <a:r>
              <a:rPr lang="en-US" sz="2400" i="1" dirty="0" smtClean="0">
                <a:solidFill>
                  <a:srgbClr val="C00000"/>
                </a:solidFill>
              </a:rPr>
              <a:t>graphic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textual</a:t>
            </a:r>
            <a:r>
              <a:rPr lang="en-US" sz="2400" dirty="0" smtClean="0"/>
              <a:t> models.</a:t>
            </a:r>
          </a:p>
          <a:p>
            <a:pPr lvl="1"/>
            <a:r>
              <a:rPr lang="en-US" sz="1800" dirty="0" smtClean="0"/>
              <a:t>Data (object class) models, activity models, location models, people and organization models, event and timing models, motivation models.</a:t>
            </a:r>
          </a:p>
          <a:p>
            <a:pPr lvl="1"/>
            <a:r>
              <a:rPr lang="en-US" sz="1800" dirty="0" smtClean="0"/>
              <a:t>It is necessary to present models.</a:t>
            </a:r>
          </a:p>
          <a:p>
            <a:r>
              <a:rPr lang="en-US" sz="2400" b="1" dirty="0" smtClean="0"/>
              <a:t>The </a:t>
            </a:r>
            <a:r>
              <a:rPr lang="en-US" sz="2400" b="1" i="1" dirty="0" smtClean="0">
                <a:solidFill>
                  <a:srgbClr val="C00000"/>
                </a:solidFill>
              </a:rPr>
              <a:t>deliverable</a:t>
            </a:r>
            <a:r>
              <a:rPr lang="en-US" sz="2400" b="1" dirty="0" smtClean="0"/>
              <a:t> from this process is a </a:t>
            </a:r>
            <a:r>
              <a:rPr lang="en-US" sz="2400" b="1" u="sng" dirty="0" smtClean="0">
                <a:latin typeface="Consolas" pitchFamily="49" charset="0"/>
              </a:rPr>
              <a:t>set of models</a:t>
            </a:r>
            <a:r>
              <a:rPr lang="en-US" sz="2400" b="1" dirty="0" smtClean="0"/>
              <a:t>, </a:t>
            </a:r>
            <a:r>
              <a:rPr lang="en-US" sz="2400" b="1" u="sng" dirty="0" smtClean="0">
                <a:latin typeface="Consolas" pitchFamily="49" charset="0"/>
              </a:rPr>
              <a:t>fully documented</a:t>
            </a:r>
            <a:r>
              <a:rPr lang="en-US" sz="2400" b="1" dirty="0" smtClean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 we describe the enterprise?</a:t>
            </a:r>
            <a:endParaRPr lang="en-US" dirty="0"/>
          </a:p>
        </p:txBody>
      </p:sp>
      <p:pic>
        <p:nvPicPr>
          <p:cNvPr id="4" name="Picture 2" descr="https://itprogresso.com/wp-content/uploads/2018/02/chuku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438400"/>
            <a:ext cx="38100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Views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i="1" dirty="0" smtClean="0">
                <a:solidFill>
                  <a:srgbClr val="C00000"/>
                </a:solidFill>
              </a:rPr>
              <a:t>Business Owners</a:t>
            </a:r>
            <a:r>
              <a:rPr lang="en-US" sz="2000" dirty="0" smtClean="0"/>
              <a:t>' Views (2</a:t>
            </a:r>
            <a:r>
              <a:rPr lang="en-US" sz="2000" baseline="30000" dirty="0" smtClean="0"/>
              <a:t>nd</a:t>
            </a:r>
            <a:r>
              <a:rPr lang="en-US" sz="2000" dirty="0" smtClean="0"/>
              <a:t> Row)</a:t>
            </a:r>
          </a:p>
          <a:p>
            <a:pPr lvl="1"/>
            <a:r>
              <a:rPr lang="en-US" sz="2000" dirty="0" smtClean="0"/>
              <a:t>language: </a:t>
            </a:r>
            <a:r>
              <a:rPr lang="en-US" sz="2000" i="1" dirty="0" smtClean="0">
                <a:solidFill>
                  <a:srgbClr val="C00000"/>
                </a:solidFill>
              </a:rPr>
              <a:t>glossary</a:t>
            </a:r>
            <a:r>
              <a:rPr lang="en-US" sz="2000" dirty="0" smtClean="0"/>
              <a:t> &amp; </a:t>
            </a:r>
            <a:r>
              <a:rPr lang="en-US" sz="2000" i="1" dirty="0" smtClean="0">
                <a:solidFill>
                  <a:srgbClr val="C00000"/>
                </a:solidFill>
              </a:rPr>
              <a:t>business objects</a:t>
            </a:r>
          </a:p>
          <a:p>
            <a:pPr lvl="2"/>
            <a:r>
              <a:rPr lang="en-US" sz="2000" i="1" dirty="0" smtClean="0"/>
              <a:t>A PROFESSOR teaches a COURSE in a CLASSROOM.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Architect</a:t>
            </a:r>
            <a:r>
              <a:rPr lang="en-US" sz="2000" dirty="0" smtClean="0"/>
              <a:t>'s View (3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Row)</a:t>
            </a:r>
          </a:p>
          <a:p>
            <a:pPr lvl="1"/>
            <a:r>
              <a:rPr lang="en-US" sz="2000" i="1" dirty="0" smtClean="0"/>
              <a:t>VENDORS, CUSTOMERS, EMPLOYEES</a:t>
            </a:r>
          </a:p>
          <a:p>
            <a:pPr lvl="2"/>
            <a:r>
              <a:rPr lang="en-US" sz="2000" dirty="0" smtClean="0"/>
              <a:t>In the architectural model, these are replaced with PERSON, and ORGANIZATION with a super-type called PARTY, where a PARTY is defined as either a person or an organization of interest to the enterprise.</a:t>
            </a:r>
          </a:p>
          <a:p>
            <a:r>
              <a:rPr lang="en-US" sz="2000" i="1" dirty="0" smtClean="0">
                <a:solidFill>
                  <a:srgbClr val="C00000"/>
                </a:solidFill>
              </a:rPr>
              <a:t>Designer</a:t>
            </a:r>
            <a:r>
              <a:rPr lang="en-US" sz="2000" dirty="0" smtClean="0"/>
              <a:t>'s View (4</a:t>
            </a:r>
            <a:r>
              <a:rPr lang="en-US" sz="2000" baseline="30000" dirty="0" smtClean="0"/>
              <a:t>th</a:t>
            </a:r>
            <a:r>
              <a:rPr lang="en-US" sz="2000" dirty="0" smtClean="0"/>
              <a:t> Row)</a:t>
            </a:r>
          </a:p>
          <a:p>
            <a:pPr lvl="1"/>
            <a:r>
              <a:rPr lang="en-US" sz="2000" dirty="0" smtClean="0"/>
              <a:t>What you see in Row Four depends on the </a:t>
            </a:r>
            <a:r>
              <a:rPr lang="en-US" sz="2000" i="1" dirty="0" smtClean="0">
                <a:solidFill>
                  <a:srgbClr val="C00000"/>
                </a:solidFill>
              </a:rPr>
              <a:t>technology</a:t>
            </a:r>
            <a:r>
              <a:rPr lang="en-US" sz="2000" dirty="0" smtClean="0"/>
              <a:t> you will be using: A </a:t>
            </a:r>
            <a:r>
              <a:rPr lang="en-US" sz="2000" u="sng" dirty="0" smtClean="0"/>
              <a:t>relational designer</a:t>
            </a:r>
            <a:r>
              <a:rPr lang="en-US" sz="2000" dirty="0" smtClean="0"/>
              <a:t> sees tables, columns, and foreign keys; an </a:t>
            </a:r>
            <a:r>
              <a:rPr lang="en-US" sz="2000" u="sng" dirty="0" smtClean="0"/>
              <a:t>object-oriented designer</a:t>
            </a:r>
            <a:r>
              <a:rPr lang="en-US" sz="2000" dirty="0" smtClean="0"/>
              <a:t> sees classes, attributes, and associations to be navigated.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Modeling Conventions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solidFill>
                  <a:srgbClr val="C00000"/>
                </a:solidFill>
              </a:rPr>
              <a:t>Syntactic</a:t>
            </a:r>
            <a:r>
              <a:rPr lang="en-US" dirty="0" smtClean="0"/>
              <a:t> conventions are about the </a:t>
            </a:r>
            <a:r>
              <a:rPr lang="en-US" u="sng" dirty="0" smtClean="0"/>
              <a:t>symbols</a:t>
            </a:r>
            <a:r>
              <a:rPr lang="en-US" dirty="0" smtClean="0"/>
              <a:t> to be used.</a:t>
            </a:r>
          </a:p>
          <a:p>
            <a:pPr lvl="1"/>
            <a:r>
              <a:rPr lang="en-US" dirty="0" smtClean="0"/>
              <a:t>Barker's technique, </a:t>
            </a:r>
            <a:r>
              <a:rPr lang="en-US" u="sng" dirty="0" smtClean="0"/>
              <a:t>the UML</a:t>
            </a:r>
            <a:r>
              <a:rPr lang="en-US" dirty="0" smtClean="0"/>
              <a:t>, and IDEF1X are all examples of syntactic conventions.</a:t>
            </a:r>
          </a:p>
          <a:p>
            <a:r>
              <a:rPr lang="en-US" i="1" dirty="0" smtClean="0">
                <a:solidFill>
                  <a:srgbClr val="C00000"/>
                </a:solidFill>
              </a:rPr>
              <a:t>Semantic</a:t>
            </a:r>
            <a:r>
              <a:rPr lang="en-US" dirty="0" smtClean="0"/>
              <a:t> conventions describe </a:t>
            </a:r>
            <a:r>
              <a:rPr lang="en-US" u="sng" dirty="0" smtClean="0"/>
              <a:t>standard ways</a:t>
            </a:r>
            <a:r>
              <a:rPr lang="en-US" dirty="0" smtClean="0"/>
              <a:t> for representing common business situations.</a:t>
            </a:r>
          </a:p>
          <a:p>
            <a:pPr lvl="1"/>
            <a:r>
              <a:rPr lang="sv-SE" dirty="0" smtClean="0"/>
              <a:t>Data model patterns, analysis patterns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Modeling Artifacts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Data modeling</a:t>
            </a:r>
            <a:r>
              <a:rPr lang="en-US" sz="2400" dirty="0" smtClean="0"/>
              <a:t> focuses on the </a:t>
            </a:r>
            <a:r>
              <a:rPr lang="en-US" sz="2400" u="sng" dirty="0" smtClean="0"/>
              <a:t>data processed</a:t>
            </a:r>
            <a:r>
              <a:rPr lang="en-US" sz="2400" dirty="0" smtClean="0"/>
              <a:t> and </a:t>
            </a:r>
            <a:r>
              <a:rPr lang="en-US" sz="2400" u="sng" dirty="0" smtClean="0"/>
              <a:t>stored</a:t>
            </a:r>
            <a:r>
              <a:rPr lang="en-US" sz="2400" dirty="0" smtClean="0"/>
              <a:t> in a system as well as the </a:t>
            </a:r>
            <a:r>
              <a:rPr lang="en-US" sz="2400" u="sng" dirty="0" smtClean="0"/>
              <a:t>relations</a:t>
            </a:r>
            <a:r>
              <a:rPr lang="en-US" sz="2400" dirty="0" smtClean="0"/>
              <a:t> between the data.</a:t>
            </a:r>
          </a:p>
          <a:p>
            <a:r>
              <a:rPr lang="en-US" sz="2400" dirty="0" smtClean="0"/>
              <a:t>A popular data modeling approach is the </a:t>
            </a:r>
            <a:r>
              <a:rPr lang="en-US" sz="2400" i="1" dirty="0" smtClean="0">
                <a:solidFill>
                  <a:srgbClr val="C00000"/>
                </a:solidFill>
              </a:rPr>
              <a:t>entity relationship model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Class diagrams</a:t>
            </a:r>
            <a:r>
              <a:rPr lang="en-US" sz="2400" dirty="0" smtClean="0"/>
              <a:t> document the </a:t>
            </a:r>
            <a:r>
              <a:rPr lang="en-US" sz="2400" u="sng" dirty="0" smtClean="0"/>
              <a:t>essential entities</a:t>
            </a:r>
            <a:r>
              <a:rPr lang="en-US" sz="2400" dirty="0" smtClean="0"/>
              <a:t> of the system under consideration.</a:t>
            </a:r>
          </a:p>
        </p:txBody>
      </p:sp>
      <p:pic>
        <p:nvPicPr>
          <p:cNvPr id="25602" name="Picture 2" descr="https://uploads-ssl.webflow.com/5ffd853376340fafc7408b43/601c2844e79d4965e1f641fd_logical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419600"/>
            <a:ext cx="1708103" cy="17117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Purchase Orders &amp; Sales Orders Example </a:t>
            </a:r>
            <a:endParaRPr lang="en-US" sz="3800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62200" y="4276725"/>
            <a:ext cx="4762500" cy="220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0" y="1800225"/>
            <a:ext cx="4762500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Orders Example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2543175"/>
            <a:ext cx="4762500" cy="233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Model Validation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Making sure that the </a:t>
            </a:r>
            <a:r>
              <a:rPr lang="en-US" sz="2600" i="1" dirty="0" smtClean="0">
                <a:solidFill>
                  <a:srgbClr val="C00000"/>
                </a:solidFill>
              </a:rPr>
              <a:t>syntax</a:t>
            </a:r>
            <a:r>
              <a:rPr lang="en-US" sz="2600" dirty="0" smtClean="0"/>
              <a:t> is correct.</a:t>
            </a:r>
          </a:p>
          <a:p>
            <a:r>
              <a:rPr lang="en-US" sz="2600" dirty="0" smtClean="0"/>
              <a:t>Making sure that </a:t>
            </a:r>
            <a:r>
              <a:rPr lang="en-US" sz="2600" i="1" dirty="0" smtClean="0">
                <a:solidFill>
                  <a:srgbClr val="C00000"/>
                </a:solidFill>
              </a:rPr>
              <a:t>industry standard conventions</a:t>
            </a:r>
            <a:r>
              <a:rPr lang="en-US" sz="2600" dirty="0" smtClean="0"/>
              <a:t> for representing standard situations were at least consulted.</a:t>
            </a:r>
          </a:p>
          <a:p>
            <a:r>
              <a:rPr lang="en-US" sz="2600" dirty="0" smtClean="0"/>
              <a:t>It should be reviewed with subject matter </a:t>
            </a:r>
            <a:r>
              <a:rPr lang="en-US" sz="2600" i="1" dirty="0" smtClean="0">
                <a:solidFill>
                  <a:srgbClr val="C00000"/>
                </a:solidFill>
              </a:rPr>
              <a:t>experts</a:t>
            </a:r>
            <a:r>
              <a:rPr lang="en-US" sz="2600" dirty="0" smtClean="0"/>
              <a:t> to ensure that the assertions made in the model are in fact true in the </a:t>
            </a:r>
            <a:r>
              <a:rPr lang="en-US" sz="2600" u="sng" dirty="0" smtClean="0"/>
              <a:t>business</a:t>
            </a:r>
            <a:r>
              <a:rPr lang="en-US" sz="2600" dirty="0" smtClean="0"/>
              <a:t>.</a:t>
            </a:r>
          </a:p>
          <a:p>
            <a:r>
              <a:rPr lang="en-US" sz="2600" dirty="0" smtClean="0"/>
              <a:t>It should be tested for </a:t>
            </a:r>
            <a:r>
              <a:rPr lang="en-US" sz="2600" i="1" dirty="0" smtClean="0">
                <a:solidFill>
                  <a:srgbClr val="C00000"/>
                </a:solidFill>
              </a:rPr>
              <a:t>intellectual rigor</a:t>
            </a:r>
            <a:r>
              <a:rPr lang="en-US" sz="2600" dirty="0" smtClean="0"/>
              <a:t>. Is it </a:t>
            </a:r>
            <a:r>
              <a:rPr lang="en-US" sz="2600" u="sng" dirty="0" smtClean="0"/>
              <a:t>consistent</a:t>
            </a:r>
            <a:r>
              <a:rPr lang="en-US" sz="2600" dirty="0" smtClean="0"/>
              <a:t> and </a:t>
            </a:r>
            <a:r>
              <a:rPr lang="en-US" sz="2600" u="sng" dirty="0" smtClean="0"/>
              <a:t>coherent</a:t>
            </a:r>
            <a:r>
              <a:rPr lang="en-US" sz="2600" dirty="0" smtClean="0"/>
              <a:t>?</a:t>
            </a:r>
          </a:p>
          <a:p>
            <a:pPr lvl="1"/>
            <a:r>
              <a:rPr lang="en-US" sz="2200" dirty="0" smtClean="0"/>
              <a:t>Scenarios or use cases</a:t>
            </a:r>
          </a:p>
          <a:p>
            <a:pPr lvl="1"/>
            <a:r>
              <a:rPr lang="en-US" sz="2200" dirty="0" smtClean="0"/>
              <a:t>Sample data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Entity/Relationship Model Validation</a:t>
            </a:r>
            <a:endParaRPr lang="en-US" sz="4000" dirty="0"/>
          </a:p>
        </p:txBody>
      </p:sp>
      <p:pic>
        <p:nvPicPr>
          <p:cNvPr id="19458" name="Picture 2" descr="https://itprogresso.com/wp-content/uploads/2018/02/chukut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2057400"/>
            <a:ext cx="3810000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Behavioral Modeling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Behavioral requirements</a:t>
            </a:r>
            <a:r>
              <a:rPr lang="en-US" sz="2400" dirty="0" smtClean="0"/>
              <a:t> can be modeled in different ways, e.g. in terms of actions, interactions or state transitions.</a:t>
            </a:r>
          </a:p>
          <a:p>
            <a:endParaRPr lang="en-US" sz="2400" dirty="0" smtClean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9813" y="2743200"/>
            <a:ext cx="4524375" cy="36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Machine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657600" cy="4525963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state machine diagram</a:t>
            </a:r>
            <a:r>
              <a:rPr lang="en-US" sz="2400" dirty="0" smtClean="0"/>
              <a:t> depicts discrete behavior modeled through finite state-transition systems.</a:t>
            </a:r>
          </a:p>
          <a:p>
            <a:r>
              <a:rPr lang="en-US" sz="2400" dirty="0" smtClean="0"/>
              <a:t>In particular, it specifies the </a:t>
            </a:r>
            <a:r>
              <a:rPr lang="en-US" sz="2400" i="1" dirty="0" smtClean="0">
                <a:solidFill>
                  <a:srgbClr val="C00000"/>
                </a:solidFill>
              </a:rPr>
              <a:t>sequences of states</a:t>
            </a:r>
            <a:r>
              <a:rPr lang="en-US" sz="2400" dirty="0" smtClean="0"/>
              <a:t> that an object or an interaction goes through during its life in response to events, together with its responses and actions.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1905000"/>
            <a:ext cx="48196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Hierarchies [1, 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181600" cy="4525963"/>
          </a:xfrm>
        </p:spPr>
        <p:txBody>
          <a:bodyPr/>
          <a:lstStyle/>
          <a:p>
            <a:pPr marL="342900" lvl="1" indent="-342900">
              <a:buFont typeface="Arial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</a:rPr>
              <a:t>Functional analysis</a:t>
            </a:r>
            <a:r>
              <a:rPr lang="en-US" sz="2400" dirty="0" smtClean="0"/>
              <a:t> is based on decomposing the system under consideration into a set of functions and their interrelations.</a:t>
            </a:r>
          </a:p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hierarchical representation</a:t>
            </a:r>
            <a:r>
              <a:rPr lang="en-US" sz="2400" dirty="0" smtClean="0"/>
              <a:t> of the functions of the enterprise.</a:t>
            </a:r>
          </a:p>
          <a:p>
            <a:r>
              <a:rPr lang="en-US" sz="2400" dirty="0" smtClean="0"/>
              <a:t>There are actually four ways you can </a:t>
            </a:r>
            <a:r>
              <a:rPr lang="en-US" sz="2400" i="1" dirty="0" smtClean="0">
                <a:solidFill>
                  <a:srgbClr val="C00000"/>
                </a:solidFill>
              </a:rPr>
              <a:t>break down</a:t>
            </a:r>
            <a:r>
              <a:rPr lang="en-US" sz="2400" dirty="0" smtClean="0"/>
              <a:t> a function</a:t>
            </a:r>
          </a:p>
          <a:p>
            <a:pPr lvl="1"/>
            <a:r>
              <a:rPr lang="en-US" sz="2000" dirty="0" smtClean="0"/>
              <a:t>Decomposition</a:t>
            </a:r>
          </a:p>
          <a:p>
            <a:pPr lvl="1"/>
            <a:r>
              <a:rPr lang="en-US" sz="2000" dirty="0" smtClean="0"/>
              <a:t>Sequence</a:t>
            </a:r>
          </a:p>
          <a:p>
            <a:pPr lvl="1"/>
            <a:r>
              <a:rPr lang="en-US" sz="2000" dirty="0" smtClean="0"/>
              <a:t>Organization</a:t>
            </a:r>
          </a:p>
          <a:p>
            <a:pPr lvl="1"/>
            <a:r>
              <a:rPr lang="en-US" sz="2000" dirty="0" smtClean="0"/>
              <a:t>Split by Type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1524000"/>
            <a:ext cx="2857500" cy="467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Navigation</a:t>
            </a:r>
            <a:endParaRPr lang="en-US" dirty="0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250" y="1371600"/>
            <a:ext cx="5905500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Diagrams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The data flow diagram (DFD)</a:t>
            </a:r>
            <a:r>
              <a:rPr lang="en-US" sz="2800" dirty="0" smtClean="0"/>
              <a:t> is used in structured analysis.</a:t>
            </a:r>
          </a:p>
          <a:p>
            <a:r>
              <a:rPr lang="en-US" sz="2800" dirty="0" smtClean="0"/>
              <a:t>It documents </a:t>
            </a:r>
            <a:r>
              <a:rPr lang="en-US" sz="2800" i="1" dirty="0" smtClean="0">
                <a:solidFill>
                  <a:srgbClr val="C00000"/>
                </a:solidFill>
              </a:rPr>
              <a:t>graphically</a:t>
            </a:r>
            <a:r>
              <a:rPr lang="en-US" sz="2800" dirty="0" smtClean="0"/>
              <a:t>:</a:t>
            </a:r>
          </a:p>
          <a:p>
            <a:pPr lvl="1"/>
            <a:r>
              <a:rPr lang="en-US" sz="2400" dirty="0" smtClean="0"/>
              <a:t>The data flows of a system.</a:t>
            </a:r>
          </a:p>
          <a:p>
            <a:pPr lvl="1"/>
            <a:r>
              <a:rPr lang="en-US" sz="2400" dirty="0" smtClean="0"/>
              <a:t>The manipulation of data (functions or processes).</a:t>
            </a:r>
          </a:p>
          <a:p>
            <a:pPr lvl="1"/>
            <a:r>
              <a:rPr lang="en-US" sz="2400" dirty="0" smtClean="0"/>
              <a:t>The location of persistent data (data stores).</a:t>
            </a:r>
          </a:p>
          <a:p>
            <a:pPr lvl="1"/>
            <a:r>
              <a:rPr lang="en-US" sz="2400" dirty="0" smtClean="0"/>
              <a:t>The data sources and sinks outside the context of the system.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Diagrams [1]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590675"/>
            <a:ext cx="476250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2895600" y="2362200"/>
            <a:ext cx="762000" cy="533400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5638800" y="2743200"/>
            <a:ext cx="762000" cy="533400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2971800" y="3657600"/>
            <a:ext cx="762000" cy="533400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5486400" y="5257800"/>
            <a:ext cx="762000" cy="533400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895600" y="4572000"/>
            <a:ext cx="1066800" cy="1066800"/>
          </a:xfrm>
          <a:prstGeom prst="ellipse">
            <a:avLst/>
          </a:prstGeom>
          <a:solidFill>
            <a:schemeClr val="accent1">
              <a:alpha val="3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UML Activity Diagram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371600"/>
            <a:ext cx="38100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Interaction Diagrams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" y="1905000"/>
            <a:ext cx="47625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62550" y="2057400"/>
            <a:ext cx="382905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Cases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175" y="1143000"/>
            <a:ext cx="8629650" cy="566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Process Diagrams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0" y="1990725"/>
            <a:ext cx="4762500" cy="357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Security</a:t>
            </a:r>
            <a:endParaRPr lang="en-US" dirty="0"/>
          </a:p>
        </p:txBody>
      </p:sp>
      <p:pic>
        <p:nvPicPr>
          <p:cNvPr id="12292" name="Picture 4" descr="http://www.locksmithsmelbourne.biz/wp-content/uploads/2015/06/Business-Security-Systems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2438400"/>
            <a:ext cx="64770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Define </a:t>
            </a:r>
            <a:r>
              <a:rPr lang="en-US" sz="3800" dirty="0" smtClean="0"/>
              <a:t>What is Required from a New System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This is the "</a:t>
            </a:r>
            <a:r>
              <a:rPr lang="en-US" sz="2400" i="1" dirty="0" smtClean="0">
                <a:solidFill>
                  <a:srgbClr val="C00000"/>
                </a:solidFill>
              </a:rPr>
              <a:t>requirements</a:t>
            </a:r>
            <a:r>
              <a:rPr lang="en-US" sz="2400" dirty="0" smtClean="0"/>
              <a:t>" part of requirements analysis.</a:t>
            </a:r>
          </a:p>
          <a:p>
            <a:pPr lvl="1"/>
            <a:r>
              <a:rPr lang="en-US" sz="2000" dirty="0" smtClean="0"/>
              <a:t>What motivated this project?</a:t>
            </a:r>
          </a:p>
          <a:p>
            <a:pPr lvl="1"/>
            <a:r>
              <a:rPr lang="en-US" sz="2000" dirty="0" smtClean="0"/>
              <a:t>What specifically would make people's lives and work easier?</a:t>
            </a:r>
          </a:p>
          <a:p>
            <a:pPr lvl="1"/>
            <a:r>
              <a:rPr lang="en-US" sz="2000" dirty="0" smtClean="0"/>
              <a:t>What kinds of technology look promising?</a:t>
            </a:r>
          </a:p>
          <a:p>
            <a:r>
              <a:rPr lang="en-US" sz="2400" dirty="0" smtClean="0"/>
              <a:t>Key </a:t>
            </a:r>
            <a:r>
              <a:rPr lang="en-US" sz="2400" i="1" dirty="0" smtClean="0">
                <a:solidFill>
                  <a:srgbClr val="C00000"/>
                </a:solidFill>
              </a:rPr>
              <a:t>steps</a:t>
            </a:r>
            <a:r>
              <a:rPr lang="en-US" sz="2400" dirty="0" smtClean="0"/>
              <a:t>:</a:t>
            </a:r>
          </a:p>
          <a:p>
            <a:pPr lvl="1"/>
            <a:r>
              <a:rPr lang="en-US" sz="2000" dirty="0" smtClean="0"/>
              <a:t>Identify Key Players: clients, users, stakeholders</a:t>
            </a:r>
          </a:p>
          <a:p>
            <a:pPr lvl="1"/>
            <a:r>
              <a:rPr lang="en-US" sz="2000" dirty="0" smtClean="0"/>
              <a:t>Identify </a:t>
            </a:r>
            <a:r>
              <a:rPr lang="en-US" sz="2000" u="sng" dirty="0" smtClean="0"/>
              <a:t>Missing Data</a:t>
            </a:r>
          </a:p>
          <a:p>
            <a:pPr lvl="1"/>
            <a:r>
              <a:rPr lang="en-US" sz="2000" dirty="0" smtClean="0"/>
              <a:t>Identify </a:t>
            </a:r>
            <a:r>
              <a:rPr lang="en-US" sz="2000" u="sng" dirty="0" smtClean="0"/>
              <a:t>Missing Functions</a:t>
            </a:r>
          </a:p>
          <a:p>
            <a:pPr lvl="1"/>
            <a:r>
              <a:rPr lang="en-US" sz="2000" dirty="0" smtClean="0"/>
              <a:t>Propose Systems and Define Use Cases for Them</a:t>
            </a:r>
          </a:p>
          <a:p>
            <a:pPr lvl="1"/>
            <a:r>
              <a:rPr lang="en-US" sz="2000" dirty="0" smtClean="0"/>
              <a:t>Identify Required Capabilities: functional requirements, non-functional requirements</a:t>
            </a:r>
          </a:p>
          <a:p>
            <a:pPr lvl="1"/>
            <a:r>
              <a:rPr lang="en-US" sz="2000" dirty="0" smtClean="0"/>
              <a:t>Identify Requirement Constraints</a:t>
            </a:r>
            <a:endParaRPr lang="en-US" sz="2400" dirty="0" smtClean="0"/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Again, What Should We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600"/>
          </a:xfrm>
        </p:spPr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What is </a:t>
            </a:r>
            <a:r>
              <a:rPr lang="en-US" sz="2400" i="1" dirty="0" smtClean="0">
                <a:solidFill>
                  <a:srgbClr val="C00000"/>
                </a:solidFill>
                <a:latin typeface="Consolas" pitchFamily="49" charset="0"/>
              </a:rPr>
              <a:t>missing data</a:t>
            </a:r>
            <a:r>
              <a:rPr lang="en-US" sz="2400" dirty="0" smtClean="0">
                <a:latin typeface="Consolas" pitchFamily="49" charset="0"/>
              </a:rPr>
              <a:t>?</a:t>
            </a:r>
          </a:p>
          <a:p>
            <a:r>
              <a:rPr lang="en-US" sz="2400" dirty="0" smtClean="0">
                <a:latin typeface="Consolas" pitchFamily="49" charset="0"/>
              </a:rPr>
              <a:t>What are </a:t>
            </a:r>
            <a:r>
              <a:rPr lang="en-US" sz="2400" i="1" dirty="0" smtClean="0">
                <a:solidFill>
                  <a:srgbClr val="C00000"/>
                </a:solidFill>
                <a:latin typeface="Consolas" pitchFamily="49" charset="0"/>
              </a:rPr>
              <a:t>missing functions</a:t>
            </a:r>
            <a:r>
              <a:rPr lang="en-US" sz="2400" dirty="0" smtClean="0">
                <a:latin typeface="Consolas" pitchFamily="49" charset="0"/>
              </a:rPr>
              <a:t>?</a:t>
            </a:r>
          </a:p>
          <a:p>
            <a:r>
              <a:rPr lang="en-US" sz="2400" dirty="0" smtClean="0">
                <a:latin typeface="Consolas" pitchFamily="49" charset="0"/>
              </a:rPr>
              <a:t>What can you offer us?</a:t>
            </a:r>
          </a:p>
          <a:p>
            <a:r>
              <a:rPr lang="en-US" sz="2400" dirty="0" smtClean="0">
                <a:latin typeface="Consolas" pitchFamily="49" charset="0"/>
              </a:rPr>
              <a:t>What are </a:t>
            </a:r>
            <a:r>
              <a:rPr lang="en-US" sz="2400" i="1" dirty="0" smtClean="0">
                <a:solidFill>
                  <a:srgbClr val="C00000"/>
                </a:solidFill>
                <a:latin typeface="Consolas" pitchFamily="49" charset="0"/>
              </a:rPr>
              <a:t>business cases</a:t>
            </a:r>
            <a:r>
              <a:rPr lang="en-US" sz="2400" dirty="0" smtClean="0">
                <a:latin typeface="Consolas" pitchFamily="49" charset="0"/>
              </a:rPr>
              <a:t>?</a:t>
            </a:r>
          </a:p>
          <a:p>
            <a:endParaRPr lang="en-US" sz="2400" u="sng" dirty="0" smtClean="0">
              <a:latin typeface="Consolas" pitchFamily="49" charset="0"/>
            </a:endParaRPr>
          </a:p>
          <a:p>
            <a:endParaRPr lang="en-US" dirty="0">
              <a:latin typeface="Consolas" pitchFamily="49" charset="0"/>
            </a:endParaRPr>
          </a:p>
        </p:txBody>
      </p:sp>
      <p:pic>
        <p:nvPicPr>
          <p:cNvPr id="1026" name="Picture 2" descr="http://www.accudata.com/wp-content/uploads/2014/08/puzzle-pieces-250x25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3486150"/>
            <a:ext cx="2381250" cy="2381250"/>
          </a:xfrm>
          <a:prstGeom prst="rect">
            <a:avLst/>
          </a:prstGeom>
          <a:noFill/>
        </p:spPr>
      </p:pic>
      <p:pic>
        <p:nvPicPr>
          <p:cNvPr id="1028" name="Picture 4" descr="http://www.lshtm.ac.uk/php/departmentofhealthservicesresearchandpolicy/researchareas/economic/addressingmissingdataincea/puzzle_3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733800"/>
            <a:ext cx="2857500" cy="1905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Plan </a:t>
            </a:r>
            <a:r>
              <a:rPr lang="en-US" dirty="0" smtClean="0"/>
              <a:t>for Transition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If a system that is built based on this analysis is at all significant, it </a:t>
            </a:r>
            <a:r>
              <a:rPr lang="en-US" sz="2200" u="sng" dirty="0" smtClean="0"/>
              <a:t>will</a:t>
            </a:r>
            <a:r>
              <a:rPr lang="en-US" sz="2200" dirty="0" smtClean="0"/>
              <a:t> change the infrastructure of the organization.</a:t>
            </a:r>
            <a:endParaRPr lang="en-US" sz="22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895600"/>
            <a:ext cx="211455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9" name="Picture 5" descr="http://arrow-solutions.com/wp-content/uploads/2015/01/transiti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200400"/>
            <a:ext cx="333375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Reading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Martin Fowler (1997). Analysis Patterns.  Addison-Wesley Professional.</a:t>
            </a:r>
          </a:p>
          <a:p>
            <a:pPr lvl="0"/>
            <a:r>
              <a:rPr lang="en-US" sz="2400" dirty="0" smtClean="0"/>
              <a:t>Andreas </a:t>
            </a:r>
            <a:r>
              <a:rPr lang="en-US" sz="2400" dirty="0" err="1" smtClean="0"/>
              <a:t>Luszczak</a:t>
            </a:r>
            <a:r>
              <a:rPr lang="en-US" sz="2400" dirty="0" smtClean="0"/>
              <a:t> (2019). Using Microsoft Dynamics 365 for Finance and Operations. Springer </a:t>
            </a:r>
            <a:r>
              <a:rPr lang="en-US" sz="2400" dirty="0" err="1" smtClean="0"/>
              <a:t>Vieweg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8105</TotalTime>
  <Words>1663</Words>
  <Application>Microsoft Office PowerPoint</Application>
  <PresentationFormat>On-screen Show (4:3)</PresentationFormat>
  <Paragraphs>160</Paragraphs>
  <Slides>48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Enterprise Requirements Analysis</vt:lpstr>
      <vt:lpstr>Objectives</vt:lpstr>
      <vt:lpstr>Contents</vt:lpstr>
      <vt:lpstr>References</vt:lpstr>
      <vt:lpstr>Requirements Analysis [1]</vt:lpstr>
      <vt:lpstr>Important Note</vt:lpstr>
      <vt:lpstr>The Core Idea</vt:lpstr>
      <vt:lpstr>Slide 8</vt:lpstr>
      <vt:lpstr>Domain Analysis Terms (I) [2]</vt:lpstr>
      <vt:lpstr>Domain Analysis Terms (II)</vt:lpstr>
      <vt:lpstr>Domain Analysis Terms (III)</vt:lpstr>
      <vt:lpstr>Domain Analysis Participants</vt:lpstr>
      <vt:lpstr>Slide 13</vt:lpstr>
      <vt:lpstr>Analysis vs. Design [1]</vt:lpstr>
      <vt:lpstr>The Zachman Framework</vt:lpstr>
      <vt:lpstr>The Analysis Process</vt:lpstr>
      <vt:lpstr>1. Gather Information</vt:lpstr>
      <vt:lpstr>2. Define Scope</vt:lpstr>
      <vt:lpstr>3. Take Inventory of Current Systems</vt:lpstr>
      <vt:lpstr>4. Describe the Enterprise</vt:lpstr>
      <vt:lpstr>Question</vt:lpstr>
      <vt:lpstr>Slide 22</vt:lpstr>
      <vt:lpstr>Data Views</vt:lpstr>
      <vt:lpstr>Data Modeling Conventions</vt:lpstr>
      <vt:lpstr>Data Modeling Artifacts [3]</vt:lpstr>
      <vt:lpstr>Purchase Orders &amp; Sales Orders Example </vt:lpstr>
      <vt:lpstr>Orders Example</vt:lpstr>
      <vt:lpstr>Data Model Validation [1]</vt:lpstr>
      <vt:lpstr>Entity/Relationship Model Validation</vt:lpstr>
      <vt:lpstr>Slide 30</vt:lpstr>
      <vt:lpstr>Behavioral Modeling [2]</vt:lpstr>
      <vt:lpstr>State Machine Diagram</vt:lpstr>
      <vt:lpstr>Function Hierarchies [1, 3]</vt:lpstr>
      <vt:lpstr>Functions Navigation</vt:lpstr>
      <vt:lpstr>Data Flow Diagrams [3]</vt:lpstr>
      <vt:lpstr>Data Flow Diagrams [1]</vt:lpstr>
      <vt:lpstr>The UML Activity Diagram</vt:lpstr>
      <vt:lpstr>Interaction Diagrams</vt:lpstr>
      <vt:lpstr>Use Cases</vt:lpstr>
      <vt:lpstr>Business Process Diagrams</vt:lpstr>
      <vt:lpstr>Business Security</vt:lpstr>
      <vt:lpstr>Slide 42</vt:lpstr>
      <vt:lpstr>5. Define What is Required from a New System</vt:lpstr>
      <vt:lpstr>Again, What Should We Do?</vt:lpstr>
      <vt:lpstr>6. Plan for Transition</vt:lpstr>
      <vt:lpstr>Slide 46</vt:lpstr>
      <vt:lpstr>Further Reading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2994</cp:revision>
  <dcterms:created xsi:type="dcterms:W3CDTF">2007-10-06T08:25:13Z</dcterms:created>
  <dcterms:modified xsi:type="dcterms:W3CDTF">2023-04-29T18:56:20Z</dcterms:modified>
</cp:coreProperties>
</file>