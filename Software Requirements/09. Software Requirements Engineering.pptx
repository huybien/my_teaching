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20"/>
  </p:notesMasterIdLst>
  <p:sldIdLst>
    <p:sldId id="411" r:id="rId2"/>
    <p:sldId id="412" r:id="rId3"/>
    <p:sldId id="413" r:id="rId4"/>
    <p:sldId id="414" r:id="rId5"/>
    <p:sldId id="409" r:id="rId6"/>
    <p:sldId id="400" r:id="rId7"/>
    <p:sldId id="405" r:id="rId8"/>
    <p:sldId id="406" r:id="rId9"/>
    <p:sldId id="407" r:id="rId10"/>
    <p:sldId id="401" r:id="rId11"/>
    <p:sldId id="402" r:id="rId12"/>
    <p:sldId id="404" r:id="rId13"/>
    <p:sldId id="418" r:id="rId14"/>
    <p:sldId id="417" r:id="rId15"/>
    <p:sldId id="419" r:id="rId16"/>
    <p:sldId id="420" r:id="rId17"/>
    <p:sldId id="416" r:id="rId18"/>
    <p:sldId id="415" r:id="rId19"/>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103" autoAdjust="0"/>
    <p:restoredTop sz="94667" autoAdjust="0"/>
  </p:normalViewPr>
  <p:slideViewPr>
    <p:cSldViewPr>
      <p:cViewPr>
        <p:scale>
          <a:sx n="50" d="100"/>
          <a:sy n="50" d="100"/>
        </p:scale>
        <p:origin x="-1530" y="-400"/>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D4026E6-0412-4830-8F06-DF45033103D5}" type="datetimeFigureOut">
              <a:rPr lang="en-US" smtClean="0"/>
              <a:pPr/>
              <a:t>3/24/2026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221BAC6-1780-4248-A045-EEDC4FD7C334}"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F8F1E381-20DA-4745-B537-35B514BA6DD7}" type="datetimeFigureOut">
              <a:rPr lang="en-US"/>
              <a:pPr>
                <a:defRPr/>
              </a:pPr>
              <a:t>3/24/2026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94EF19F-72C6-4835-B8F9-C4043AB145C9}"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5656C9F8-4ECB-4B63-B927-93DB51F662D0}" type="datetimeFigureOut">
              <a:rPr lang="en-US"/>
              <a:pPr>
                <a:defRPr/>
              </a:pPr>
              <a:t>3/24/2026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9E5146C-45A3-4063-B945-A6E828CB1A71}"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7120DA55-A2EA-4E91-9DF8-848564DA5A8C}" type="datetimeFigureOut">
              <a:rPr lang="en-US"/>
              <a:pPr>
                <a:defRPr/>
              </a:pPr>
              <a:t>3/24/2026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502FCE2-22A4-4D22-98FA-0E266C502294}"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D82FE22C-AAA6-4859-915C-7CA8A229741E}" type="datetimeFigureOut">
              <a:rPr lang="en-US"/>
              <a:pPr>
                <a:defRPr/>
              </a:pPr>
              <a:t>3/24/2026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94E97B5-865B-4943-9516-8680CA16C722}"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2DB4DA2C-F6C4-40D9-95C2-7E16780900E4}" type="datetimeFigureOut">
              <a:rPr lang="en-US"/>
              <a:pPr>
                <a:defRPr/>
              </a:pPr>
              <a:t>3/24/2026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179A6762-FCC9-4A4D-B55E-A9AEAC8C4268}"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6B02FA20-63C4-4E2F-BBAB-9D9ECDF79A55}" type="datetimeFigureOut">
              <a:rPr lang="en-US"/>
              <a:pPr>
                <a:defRPr/>
              </a:pPr>
              <a:t>3/24/2026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8D571E3C-6E5C-4814-A904-273FE3A958CC}"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94E24579-F551-4401-BD9C-1A956A73C8B1}" type="datetimeFigureOut">
              <a:rPr lang="en-US"/>
              <a:pPr>
                <a:defRPr/>
              </a:pPr>
              <a:t>3/24/2026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6E24CBAC-259E-4BF8-ACF6-FAB2C68750FB}"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C04B6935-2E86-4F35-979C-26D8DA31E11B}" type="datetimeFigureOut">
              <a:rPr lang="en-US"/>
              <a:pPr>
                <a:defRPr/>
              </a:pPr>
              <a:t>3/24/2026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049D8DE-4736-4786-A76F-BA4BFA66C358}"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A34642AA-84FD-46EB-91FE-F301FD1B086D}" type="datetimeFigureOut">
              <a:rPr lang="en-US"/>
              <a:pPr>
                <a:defRPr/>
              </a:pPr>
              <a:t>3/24/2026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2E0BD26-494C-4707-B45F-1E41DB7E206B}"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C67AB78B-B950-4223-B948-C26A4E4BFB92}" type="datetimeFigureOut">
              <a:rPr lang="en-US"/>
              <a:pPr>
                <a:defRPr/>
              </a:pPr>
              <a:t>3/24/2026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0435AB7-6027-4C00-A9DE-A82D1F9B718C}"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C8E790DE-6227-4769-B4D1-A285E0E78CE4}" type="datetimeFigureOut">
              <a:rPr lang="en-US"/>
              <a:pPr>
                <a:defRPr/>
              </a:pPr>
              <a:t>3/24/2026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F58F97A-8135-4157-8FDD-A5EB0FEF5618}"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6C44B157-FED2-4AB7-A096-BDB0B5D2F088}" type="datetimeFigureOut">
              <a:rPr lang="en-US"/>
              <a:pPr>
                <a:defRPr/>
              </a:pPr>
              <a:t>3/24/2026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5BD64C92-C51E-4B83-930E-D172469398A1}"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p:txBody>
          <a:bodyPr/>
          <a:lstStyle/>
          <a:p>
            <a:pPr eaLnBrk="1" hangingPunct="1"/>
            <a:r>
              <a:rPr lang="en-US" sz="6000" dirty="0" smtClean="0"/>
              <a:t>Software Requirements Engineering</a:t>
            </a:r>
          </a:p>
        </p:txBody>
      </p:sp>
      <p:sp>
        <p:nvSpPr>
          <p:cNvPr id="3" name="Subtitle 2"/>
          <p:cNvSpPr>
            <a:spLocks noGrp="1"/>
          </p:cNvSpPr>
          <p:nvPr>
            <p:ph type="subTitle" idx="1"/>
          </p:nvPr>
        </p:nvSpPr>
        <p:spPr/>
        <p:txBody>
          <a:bodyPr rtlCol="0">
            <a:normAutofit fontScale="32500" lnSpcReduction="20000"/>
          </a:bodyPr>
          <a:lstStyle/>
          <a:p>
            <a:pPr eaLnBrk="1" fontAlgn="auto" hangingPunct="1">
              <a:spcAft>
                <a:spcPts val="0"/>
              </a:spcAft>
              <a:defRPr/>
            </a:pPr>
            <a:r>
              <a:rPr lang="en-US" sz="6800" dirty="0" smtClean="0"/>
              <a:t>Lecturer: Ngo Huy Bien</a:t>
            </a:r>
          </a:p>
          <a:p>
            <a:pPr eaLnBrk="1" fontAlgn="auto" hangingPunct="1">
              <a:spcAft>
                <a:spcPts val="0"/>
              </a:spcAft>
              <a:defRPr/>
            </a:pPr>
            <a:r>
              <a:rPr lang="en-US" sz="5400" dirty="0" smtClean="0"/>
              <a:t>Software Engineering Department</a:t>
            </a:r>
          </a:p>
          <a:p>
            <a:pPr eaLnBrk="1" fontAlgn="auto" hangingPunct="1">
              <a:spcAft>
                <a:spcPts val="0"/>
              </a:spcAft>
              <a:defRPr/>
            </a:pPr>
            <a:r>
              <a:rPr lang="en-US" sz="5400" dirty="0" smtClean="0"/>
              <a:t>Faculty of Information Technology</a:t>
            </a:r>
          </a:p>
          <a:p>
            <a:pPr eaLnBrk="1" fontAlgn="auto" hangingPunct="1">
              <a:spcAft>
                <a:spcPts val="0"/>
              </a:spcAft>
              <a:defRPr/>
            </a:pPr>
            <a:r>
              <a:rPr lang="en-US" sz="5400" dirty="0" smtClean="0"/>
              <a:t>VNUHCM - University of Science</a:t>
            </a:r>
          </a:p>
          <a:p>
            <a:pPr eaLnBrk="1" fontAlgn="auto" hangingPunct="1">
              <a:spcAft>
                <a:spcPts val="0"/>
              </a:spcAft>
              <a:defRPr/>
            </a:pPr>
            <a:r>
              <a:rPr lang="en-US" sz="5400" dirty="0" smtClean="0"/>
              <a:t>Ho Chi Minh City, Vietnam</a:t>
            </a:r>
          </a:p>
          <a:p>
            <a:pPr eaLnBrk="1" fontAlgn="auto" hangingPunct="1">
              <a:spcAft>
                <a:spcPts val="0"/>
              </a:spcAft>
              <a:defRPr/>
            </a:pPr>
            <a:r>
              <a:rPr lang="en-US" sz="5400" dirty="0" smtClean="0">
                <a:hlinkClick r:id="rId2"/>
              </a:rPr>
              <a:t>nhbien@fit.hcmus.edu.vn</a:t>
            </a:r>
            <a:endParaRPr lang="en-US" sz="5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600201"/>
            <a:ext cx="5334000" cy="4495799"/>
          </a:xfrm>
        </p:spPr>
        <p:txBody>
          <a:bodyPr/>
          <a:lstStyle/>
          <a:p>
            <a:pPr marL="457200" indent="-457200">
              <a:buFont typeface="Wingdings" pitchFamily="2" charset="2"/>
              <a:buChar char="Ø"/>
            </a:pPr>
            <a:endParaRPr lang="en-US" sz="2400" dirty="0" smtClean="0"/>
          </a:p>
        </p:txBody>
      </p:sp>
      <p:pic>
        <p:nvPicPr>
          <p:cNvPr id="4" name="Picture 2"/>
          <p:cNvPicPr>
            <a:picLocks noChangeAspect="1" noChangeArrowheads="1"/>
          </p:cNvPicPr>
          <p:nvPr/>
        </p:nvPicPr>
        <p:blipFill>
          <a:blip r:embed="rId2" cstate="print"/>
          <a:srcRect/>
          <a:stretch>
            <a:fillRect/>
          </a:stretch>
        </p:blipFill>
        <p:spPr bwMode="auto">
          <a:xfrm>
            <a:off x="5867400" y="281940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2"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6096000" cy="4525963"/>
          </a:xfrm>
        </p:spPr>
        <p:txBody>
          <a:bodyPr/>
          <a:lstStyle/>
          <a:p>
            <a:pPr marL="571500" indent="-571500">
              <a:buFont typeface="+mj-lt"/>
              <a:buAutoNum type="romanUcPeriod"/>
            </a:pPr>
            <a:endParaRPr lang="en-US" sz="2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References</a:t>
            </a:r>
            <a:endParaRPr lang="en-US" dirty="0"/>
          </a:p>
        </p:txBody>
      </p:sp>
      <p:sp>
        <p:nvSpPr>
          <p:cNvPr id="3" name="Content Placeholder 2"/>
          <p:cNvSpPr>
            <a:spLocks noGrp="1"/>
          </p:cNvSpPr>
          <p:nvPr>
            <p:ph idx="1"/>
          </p:nvPr>
        </p:nvSpPr>
        <p:spPr>
          <a:xfrm>
            <a:off x="457200" y="1524000"/>
            <a:ext cx="5638800" cy="4876800"/>
          </a:xfrm>
        </p:spPr>
        <p:txBody>
          <a:bodyPr/>
          <a:lstStyle/>
          <a:p>
            <a:pPr marL="457200" indent="-457200">
              <a:buFont typeface="+mj-lt"/>
              <a:buAutoNum type="arabicPeriod"/>
            </a:pPr>
            <a:r>
              <a:rPr lang="en-US" sz="2000" dirty="0" smtClean="0"/>
              <a:t>Karl </a:t>
            </a:r>
            <a:r>
              <a:rPr lang="en-US" sz="2000" dirty="0" err="1" smtClean="0"/>
              <a:t>Wiegers</a:t>
            </a:r>
            <a:r>
              <a:rPr lang="en-US" sz="2000" dirty="0" smtClean="0"/>
              <a:t> and Joy Beatty (2013). Software Requirements. Microsoft Press.</a:t>
            </a:r>
          </a:p>
          <a:p>
            <a:pPr marL="457200" indent="-457200">
              <a:buFont typeface="+mj-lt"/>
              <a:buAutoNum type="arabicPeriod"/>
            </a:pPr>
            <a:r>
              <a:rPr lang="en-US" sz="2000" dirty="0" err="1" smtClean="0"/>
              <a:t>Bashar</a:t>
            </a:r>
            <a:r>
              <a:rPr lang="en-US" sz="2000" dirty="0" smtClean="0"/>
              <a:t> </a:t>
            </a:r>
            <a:r>
              <a:rPr lang="en-US" sz="2000" dirty="0" err="1" smtClean="0"/>
              <a:t>Nuseibeh</a:t>
            </a:r>
            <a:r>
              <a:rPr lang="en-US" sz="2000" dirty="0" smtClean="0"/>
              <a:t> and Steve Easterbrook (2000). Requirements Engineering - A Roadmap.</a:t>
            </a:r>
          </a:p>
          <a:p>
            <a:pPr marL="457200" indent="-457200">
              <a:buFont typeface="+mj-lt"/>
              <a:buAutoNum type="arabicPeriod"/>
            </a:pPr>
            <a:r>
              <a:rPr lang="en-US" sz="2000" dirty="0" smtClean="0"/>
              <a:t>Karl </a:t>
            </a:r>
            <a:r>
              <a:rPr lang="en-US" sz="2000" dirty="0" err="1" smtClean="0"/>
              <a:t>Wiegers</a:t>
            </a:r>
            <a:r>
              <a:rPr lang="en-US" sz="2000" dirty="0" smtClean="0"/>
              <a:t> and </a:t>
            </a:r>
            <a:r>
              <a:rPr lang="en-US" sz="2000" dirty="0" err="1" smtClean="0"/>
              <a:t>Candase</a:t>
            </a:r>
            <a:r>
              <a:rPr lang="en-US" sz="2000" dirty="0" smtClean="0"/>
              <a:t> </a:t>
            </a:r>
            <a:r>
              <a:rPr lang="en-US" sz="2000" dirty="0" err="1" smtClean="0"/>
              <a:t>Hokanson</a:t>
            </a:r>
            <a:r>
              <a:rPr lang="en-US" sz="2000" dirty="0" smtClean="0"/>
              <a:t> (2023). Software Requirements Essentials. Addison-Wesley Professional.</a:t>
            </a:r>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096000" y="1676400"/>
            <a:ext cx="2724150" cy="4133850"/>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200" dirty="0" smtClean="0"/>
              <a:t>Why Requirements Engineering? [1]</a:t>
            </a:r>
            <a:endParaRPr lang="en-US" sz="4200" dirty="0"/>
          </a:p>
        </p:txBody>
      </p:sp>
      <p:sp>
        <p:nvSpPr>
          <p:cNvPr id="3" name="Content Placeholder 2"/>
          <p:cNvSpPr>
            <a:spLocks noGrp="1"/>
          </p:cNvSpPr>
          <p:nvPr>
            <p:ph idx="1"/>
          </p:nvPr>
        </p:nvSpPr>
        <p:spPr/>
        <p:txBody>
          <a:bodyPr/>
          <a:lstStyle/>
          <a:p>
            <a:r>
              <a:rPr lang="en-US" sz="2400" dirty="0" smtClean="0"/>
              <a:t>Inadequate user input, incomplete requirements, changing requirements, and misunderstood business objectives are major </a:t>
            </a:r>
            <a:r>
              <a:rPr lang="en-US" sz="2400" b="1" dirty="0" smtClean="0"/>
              <a:t>reasons why</a:t>
            </a:r>
            <a:r>
              <a:rPr lang="en-US" sz="2400" dirty="0" smtClean="0"/>
              <a:t> so many information technology projects are </a:t>
            </a:r>
            <a:r>
              <a:rPr lang="en-US" sz="2400" i="1" dirty="0" smtClean="0">
                <a:solidFill>
                  <a:srgbClr val="C00000"/>
                </a:solidFill>
              </a:rPr>
              <a:t>less than fully successful</a:t>
            </a:r>
            <a:r>
              <a:rPr lang="en-US" sz="2400" dirty="0" smtClean="0"/>
              <a:t>.</a:t>
            </a:r>
          </a:p>
          <a:p>
            <a:r>
              <a:rPr lang="en-US" sz="2400" dirty="0" smtClean="0"/>
              <a:t>We sometimes fail to appreciate that requirements elicitation—and much of software and systems project work in general—is primarily a </a:t>
            </a:r>
            <a:r>
              <a:rPr lang="en-US" sz="2400" i="1" dirty="0" smtClean="0">
                <a:solidFill>
                  <a:srgbClr val="C00000"/>
                </a:solidFill>
              </a:rPr>
              <a:t>human interaction challenge</a:t>
            </a:r>
            <a:r>
              <a:rPr lang="en-US" sz="2400" dirty="0" smtClean="0"/>
              <a:t>.</a:t>
            </a:r>
          </a:p>
          <a:p>
            <a:r>
              <a:rPr lang="en-US" sz="2400" dirty="0" smtClean="0"/>
              <a:t>No magical new techniques have come along to </a:t>
            </a:r>
            <a:r>
              <a:rPr lang="en-US" sz="2400" i="1" dirty="0" smtClean="0">
                <a:solidFill>
                  <a:srgbClr val="C00000"/>
                </a:solidFill>
              </a:rPr>
              <a:t>automate</a:t>
            </a:r>
            <a:r>
              <a:rPr lang="en-US" sz="2400" dirty="0" smtClean="0"/>
              <a:t> that, although various tools are available to help geographically separated people collaborate effectively.</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 Engineering [2]</a:t>
            </a:r>
            <a:endParaRPr lang="en-US" dirty="0"/>
          </a:p>
        </p:txBody>
      </p:sp>
      <p:sp>
        <p:nvSpPr>
          <p:cNvPr id="3" name="Content Placeholder 2"/>
          <p:cNvSpPr>
            <a:spLocks noGrp="1"/>
          </p:cNvSpPr>
          <p:nvPr>
            <p:ph idx="1"/>
          </p:nvPr>
        </p:nvSpPr>
        <p:spPr/>
        <p:txBody>
          <a:bodyPr/>
          <a:lstStyle/>
          <a:p>
            <a:pPr lvl="0"/>
            <a:r>
              <a:rPr lang="en-US" sz="2200" i="1" dirty="0" smtClean="0">
                <a:solidFill>
                  <a:srgbClr val="C00000"/>
                </a:solidFill>
              </a:rPr>
              <a:t>Requirements engineering</a:t>
            </a:r>
            <a:r>
              <a:rPr lang="en-US" sz="2200" dirty="0" smtClean="0"/>
              <a:t> is the branch of software engineering concerned with the real-world goals for, functions of, and constraints on software systems.</a:t>
            </a:r>
          </a:p>
          <a:p>
            <a:pPr lvl="0"/>
            <a:r>
              <a:rPr lang="en-US" sz="2200" dirty="0" smtClean="0"/>
              <a:t>It is also concerned with the </a:t>
            </a:r>
            <a:r>
              <a:rPr lang="en-US" sz="2200" i="1" dirty="0" smtClean="0">
                <a:solidFill>
                  <a:srgbClr val="C00000"/>
                </a:solidFill>
              </a:rPr>
              <a:t>relationship</a:t>
            </a:r>
            <a:r>
              <a:rPr lang="en-US" sz="2200" dirty="0" smtClean="0"/>
              <a:t> of these factors to precise specifications of software behavior, and to their evolution over time and across software families.</a:t>
            </a:r>
          </a:p>
          <a:p>
            <a:r>
              <a:rPr lang="en-US" sz="2200" dirty="0" smtClean="0"/>
              <a:t>In reality, software cannot function in isolation from the system in which it is embedded, and hence RE has to encompass a </a:t>
            </a:r>
            <a:r>
              <a:rPr lang="en-US" sz="2200" i="1" dirty="0" smtClean="0">
                <a:solidFill>
                  <a:srgbClr val="C00000"/>
                </a:solidFill>
              </a:rPr>
              <a:t>systems level view</a:t>
            </a:r>
            <a:r>
              <a:rPr lang="en-US" sz="2200" dirty="0" smtClean="0"/>
              <a:t>.</a:t>
            </a:r>
          </a:p>
          <a:p>
            <a:pPr lvl="0"/>
            <a:r>
              <a:rPr lang="en-US" sz="2200" dirty="0" smtClean="0"/>
              <a:t>The special consideration that </a:t>
            </a:r>
            <a:r>
              <a:rPr lang="en-US" sz="2200" i="1" dirty="0" smtClean="0">
                <a:solidFill>
                  <a:srgbClr val="C00000"/>
                </a:solidFill>
              </a:rPr>
              <a:t>software systems requirements engineering</a:t>
            </a:r>
            <a:r>
              <a:rPr lang="en-US" sz="2200" dirty="0" smtClean="0"/>
              <a:t> has received is largely due to the </a:t>
            </a:r>
            <a:r>
              <a:rPr lang="en-US" sz="2200" i="1" dirty="0" smtClean="0">
                <a:solidFill>
                  <a:srgbClr val="C00000"/>
                </a:solidFill>
              </a:rPr>
              <a:t>abstract and invisible</a:t>
            </a:r>
            <a:r>
              <a:rPr lang="en-US" sz="2200" dirty="0" smtClean="0"/>
              <a:t> nature of software, and the vast range and variety of problems that admit to software solutions.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Formal Description</a:t>
            </a:r>
            <a:endParaRPr lang="en-US" dirty="0"/>
          </a:p>
        </p:txBody>
      </p:sp>
      <p:sp>
        <p:nvSpPr>
          <p:cNvPr id="3" name="Content Placeholder 2"/>
          <p:cNvSpPr>
            <a:spLocks noGrp="1"/>
          </p:cNvSpPr>
          <p:nvPr>
            <p:ph idx="1"/>
          </p:nvPr>
        </p:nvSpPr>
        <p:spPr/>
        <p:txBody>
          <a:bodyPr/>
          <a:lstStyle/>
          <a:p>
            <a:r>
              <a:rPr lang="en-US" sz="2200" dirty="0" smtClean="0"/>
              <a:t>Since </a:t>
            </a:r>
            <a:r>
              <a:rPr lang="en-US" sz="2200" i="1" dirty="0" smtClean="0">
                <a:solidFill>
                  <a:srgbClr val="C00000"/>
                </a:solidFill>
              </a:rPr>
              <a:t>software is a formal description</a:t>
            </a:r>
            <a:r>
              <a:rPr lang="en-US" sz="2200" dirty="0" smtClean="0"/>
              <a:t>, analysis of its behavior is amenable to formal reasoning. Logic provides a vehicle for performing such analysis</a:t>
            </a:r>
          </a:p>
          <a:p>
            <a:r>
              <a:rPr lang="en-US" sz="2200" dirty="0" smtClean="0"/>
              <a:t>In RE, logic can be used to improve </a:t>
            </a:r>
            <a:r>
              <a:rPr lang="en-US" sz="2200" i="1" dirty="0" smtClean="0">
                <a:solidFill>
                  <a:srgbClr val="C00000"/>
                </a:solidFill>
              </a:rPr>
              <a:t>the rigor of the analysis</a:t>
            </a:r>
            <a:r>
              <a:rPr lang="en-US" sz="2200" dirty="0" smtClean="0"/>
              <a:t> performed, and to make the reasoning steps explicit.</a:t>
            </a:r>
          </a:p>
          <a:p>
            <a:r>
              <a:rPr lang="en-US" sz="2200" dirty="0" smtClean="0"/>
              <a:t>Formal description techniques have received considerable attention in RE research, but have </a:t>
            </a:r>
            <a:r>
              <a:rPr lang="en-US" sz="2200" i="1" dirty="0" smtClean="0">
                <a:solidFill>
                  <a:srgbClr val="C00000"/>
                </a:solidFill>
              </a:rPr>
              <a:t>not yet been widely adopted</a:t>
            </a:r>
            <a:r>
              <a:rPr lang="en-US" sz="2200" dirty="0" smtClean="0"/>
              <a:t> into RE practice.</a:t>
            </a:r>
          </a:p>
          <a:p>
            <a:r>
              <a:rPr lang="en-US" sz="2200" dirty="0" smtClean="0"/>
              <a:t>Since RE must span the gap between the </a:t>
            </a:r>
            <a:r>
              <a:rPr lang="en-US" sz="2200" i="1" dirty="0" smtClean="0">
                <a:solidFill>
                  <a:srgbClr val="C00000"/>
                </a:solidFill>
              </a:rPr>
              <a:t>informal world of stakeholder needs</a:t>
            </a:r>
            <a:r>
              <a:rPr lang="en-US" sz="2200" dirty="0" smtClean="0"/>
              <a:t>, and the </a:t>
            </a:r>
            <a:r>
              <a:rPr lang="en-US" sz="2200" i="1" dirty="0" smtClean="0">
                <a:solidFill>
                  <a:srgbClr val="C00000"/>
                </a:solidFill>
              </a:rPr>
              <a:t>formal world of software behavior</a:t>
            </a:r>
            <a:r>
              <a:rPr lang="en-US" sz="2200" dirty="0" smtClean="0"/>
              <a:t>, the key question over the use of formal methods is not </a:t>
            </a:r>
            <a:r>
              <a:rPr lang="en-US" sz="2200" i="1" dirty="0" smtClean="0">
                <a:solidFill>
                  <a:srgbClr val="C00000"/>
                </a:solidFill>
              </a:rPr>
              <a:t>whether</a:t>
            </a:r>
            <a:r>
              <a:rPr lang="en-US" sz="2200" dirty="0" smtClean="0"/>
              <a:t> to formalize, but </a:t>
            </a:r>
            <a:r>
              <a:rPr lang="en-US" sz="2200" i="1" dirty="0" smtClean="0">
                <a:solidFill>
                  <a:srgbClr val="C00000"/>
                </a:solidFill>
              </a:rPr>
              <a:t>when</a:t>
            </a:r>
            <a:r>
              <a:rPr lang="en-US" sz="2200" dirty="0" smtClean="0"/>
              <a:t> to formalize.</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Cognitive and Social Sciences</a:t>
            </a:r>
          </a:p>
        </p:txBody>
      </p:sp>
      <p:sp>
        <p:nvSpPr>
          <p:cNvPr id="3" name="Content Placeholder 2"/>
          <p:cNvSpPr>
            <a:spLocks noGrp="1"/>
          </p:cNvSpPr>
          <p:nvPr>
            <p:ph idx="1"/>
          </p:nvPr>
        </p:nvSpPr>
        <p:spPr/>
        <p:txBody>
          <a:bodyPr/>
          <a:lstStyle/>
          <a:p>
            <a:r>
              <a:rPr lang="en-US" sz="2200" dirty="0" smtClean="0"/>
              <a:t>RE needs to be sensitive to </a:t>
            </a:r>
            <a:r>
              <a:rPr lang="en-US" sz="2200" i="1" dirty="0" smtClean="0">
                <a:solidFill>
                  <a:srgbClr val="C00000"/>
                </a:solidFill>
              </a:rPr>
              <a:t>how people perceive and understand</a:t>
            </a:r>
            <a:r>
              <a:rPr lang="en-US" sz="2200" dirty="0" smtClean="0"/>
              <a:t> the world around them, how they interact, and how the sociology of the workplace affects their actions.</a:t>
            </a:r>
          </a:p>
          <a:p>
            <a:r>
              <a:rPr lang="en-US" sz="2200" dirty="0" smtClean="0"/>
              <a:t>RE draws on the </a:t>
            </a:r>
            <a:r>
              <a:rPr lang="en-US" sz="2200" i="1" dirty="0" smtClean="0">
                <a:solidFill>
                  <a:srgbClr val="C00000"/>
                </a:solidFill>
              </a:rPr>
              <a:t>cognitive and social sciences</a:t>
            </a:r>
            <a:r>
              <a:rPr lang="en-US" sz="2200" dirty="0" smtClean="0"/>
              <a:t> to provide both theoretical grounding and practical techniques for eliciting and modeling requirements:</a:t>
            </a:r>
          </a:p>
          <a:p>
            <a:pPr lvl="1"/>
            <a:r>
              <a:rPr lang="en-US" sz="1600" i="1" dirty="0" smtClean="0">
                <a:solidFill>
                  <a:srgbClr val="C00000"/>
                </a:solidFill>
              </a:rPr>
              <a:t>Cognitive psychology</a:t>
            </a:r>
            <a:r>
              <a:rPr lang="en-US" sz="1600" dirty="0" smtClean="0"/>
              <a:t> provides an understanding of the difficulties people may have in describing their needs.</a:t>
            </a:r>
          </a:p>
          <a:p>
            <a:pPr lvl="1"/>
            <a:r>
              <a:rPr lang="en-US" sz="1600" i="1" dirty="0" smtClean="0">
                <a:solidFill>
                  <a:srgbClr val="C00000"/>
                </a:solidFill>
              </a:rPr>
              <a:t>Anthropology</a:t>
            </a:r>
            <a:r>
              <a:rPr lang="en-US" sz="1600" dirty="0" smtClean="0"/>
              <a:t> provides a methodological approach to observing human activities that helps to develop a richer understanding of how computer systems may help or hinder those activities.</a:t>
            </a:r>
          </a:p>
          <a:p>
            <a:pPr lvl="1"/>
            <a:r>
              <a:rPr lang="en-US" sz="1600" i="1" dirty="0" smtClean="0">
                <a:solidFill>
                  <a:srgbClr val="C00000"/>
                </a:solidFill>
              </a:rPr>
              <a:t>Sociology</a:t>
            </a:r>
            <a:r>
              <a:rPr lang="en-US" sz="1600" dirty="0" smtClean="0"/>
              <a:t> provides an understanding of the political and cultural changes caused by computerization.</a:t>
            </a:r>
          </a:p>
          <a:p>
            <a:pPr lvl="1"/>
            <a:r>
              <a:rPr lang="en-US" sz="1600" i="1" dirty="0" smtClean="0">
                <a:solidFill>
                  <a:srgbClr val="C00000"/>
                </a:solidFill>
              </a:rPr>
              <a:t>Linguistics</a:t>
            </a:r>
            <a:r>
              <a:rPr lang="en-US" sz="1600" dirty="0" smtClean="0"/>
              <a:t> is important because RE is largely about communication. Linguistic analyses have changed the way in which the English language is used in specifications.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Elicitation Techniques</a:t>
            </a:r>
            <a:endParaRPr lang="en-US" dirty="0"/>
          </a:p>
        </p:txBody>
      </p:sp>
      <p:sp>
        <p:nvSpPr>
          <p:cNvPr id="3" name="Content Placeholder 2"/>
          <p:cNvSpPr>
            <a:spLocks noGrp="1"/>
          </p:cNvSpPr>
          <p:nvPr>
            <p:ph idx="1"/>
          </p:nvPr>
        </p:nvSpPr>
        <p:spPr/>
        <p:txBody>
          <a:bodyPr/>
          <a:lstStyle/>
          <a:p>
            <a:r>
              <a:rPr lang="en-US" sz="2200" i="1" dirty="0" smtClean="0">
                <a:solidFill>
                  <a:srgbClr val="C00000"/>
                </a:solidFill>
              </a:rPr>
              <a:t>Traditional techniques</a:t>
            </a:r>
            <a:r>
              <a:rPr lang="en-US" sz="2200" dirty="0" smtClean="0"/>
              <a:t> include the use of questionnaires and surveys, interviews, and analysis of existing documentation such as organizational charts, process models or standards, and user or other manuals of existing systems.</a:t>
            </a:r>
          </a:p>
          <a:p>
            <a:r>
              <a:rPr lang="en-US" sz="2200" i="1" dirty="0" smtClean="0">
                <a:solidFill>
                  <a:srgbClr val="C00000"/>
                </a:solidFill>
              </a:rPr>
              <a:t>Group elicitation techniques</a:t>
            </a:r>
            <a:r>
              <a:rPr lang="en-US" sz="2200" dirty="0" smtClean="0"/>
              <a:t> include brainstorming and focus groups, as well as RAD/JAD workshops.</a:t>
            </a:r>
          </a:p>
          <a:p>
            <a:r>
              <a:rPr lang="en-US" sz="2200" i="1" dirty="0" smtClean="0">
                <a:solidFill>
                  <a:srgbClr val="C00000"/>
                </a:solidFill>
              </a:rPr>
              <a:t>Prototyping</a:t>
            </a:r>
            <a:r>
              <a:rPr lang="en-US" sz="2200" dirty="0" smtClean="0"/>
              <a:t> has been used for elicitation where there is a great deal of uncertainty about the requirements, or where early feedback from stakeholders is needed.</a:t>
            </a:r>
          </a:p>
          <a:p>
            <a:r>
              <a:rPr lang="en-US" sz="2200" i="1" dirty="0" smtClean="0">
                <a:solidFill>
                  <a:srgbClr val="C00000"/>
                </a:solidFill>
              </a:rPr>
              <a:t>Model-driven techniques</a:t>
            </a:r>
            <a:r>
              <a:rPr lang="en-US" sz="2200" dirty="0" smtClean="0"/>
              <a:t> include goal-based methods and scenario-based methods.</a:t>
            </a:r>
          </a:p>
          <a:p>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 Validation</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Validation</a:t>
            </a:r>
            <a:r>
              <a:rPr lang="en-US" sz="2400" dirty="0" smtClean="0"/>
              <a:t> is the process of establishing that the requirements and models elicited provide an accurate account of stakeholder requirements.</a:t>
            </a:r>
          </a:p>
          <a:p>
            <a:r>
              <a:rPr lang="en-US" sz="2400" dirty="0" smtClean="0"/>
              <a:t>Techniques such as inspection and formal analysis tend to concentrate on the </a:t>
            </a:r>
            <a:r>
              <a:rPr lang="en-US" sz="2400" i="1" dirty="0" smtClean="0">
                <a:solidFill>
                  <a:srgbClr val="C00000"/>
                </a:solidFill>
              </a:rPr>
              <a:t>coherence of the requirements descriptions</a:t>
            </a:r>
            <a:r>
              <a:rPr lang="en-US" sz="2400" dirty="0" smtClean="0"/>
              <a:t>: are they consistent, and are they structurally complete?</a:t>
            </a:r>
          </a:p>
          <a:p>
            <a:r>
              <a:rPr lang="en-US" sz="2400" dirty="0" smtClean="0"/>
              <a:t>Techniques such as prototyping, specification animation, and the use of scenarios are geared towards testing a </a:t>
            </a:r>
            <a:r>
              <a:rPr lang="en-US" sz="2400" i="1" dirty="0" smtClean="0">
                <a:solidFill>
                  <a:srgbClr val="C00000"/>
                </a:solidFill>
              </a:rPr>
              <a:t>correspondence with the real world problem</a:t>
            </a:r>
            <a:r>
              <a:rPr lang="en-US" sz="2400" dirty="0" smtClean="0"/>
              <a:t>.</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 Validation Problem</a:t>
            </a:r>
            <a:endParaRPr lang="en-US" dirty="0"/>
          </a:p>
        </p:txBody>
      </p:sp>
      <p:sp>
        <p:nvSpPr>
          <p:cNvPr id="3" name="Content Placeholder 2"/>
          <p:cNvSpPr>
            <a:spLocks noGrp="1"/>
          </p:cNvSpPr>
          <p:nvPr>
            <p:ph idx="1"/>
          </p:nvPr>
        </p:nvSpPr>
        <p:spPr/>
        <p:txBody>
          <a:bodyPr/>
          <a:lstStyle/>
          <a:p>
            <a:r>
              <a:rPr lang="en-US" sz="1800" dirty="0" smtClean="0"/>
              <a:t>We can compare the problem of validating requirements with the problem of validating scientific knowledge. Many requirements engineers adopt a logical positivist approach – essentially the belief that there is an objective world that can be modeled by building a consistent body of knowledge grounded in empirical observation.</a:t>
            </a:r>
          </a:p>
          <a:p>
            <a:r>
              <a:rPr lang="en-US" sz="1800" dirty="0" smtClean="0"/>
              <a:t>In RE, this view says that the requirements describe some objective problem that exists in the world, and that validation is the task of making sufficient empirical observations to check that this problem has been captured correctly.</a:t>
            </a:r>
          </a:p>
          <a:p>
            <a:r>
              <a:rPr lang="en-US" sz="1800" dirty="0" smtClean="0"/>
              <a:t>Popper’s observations on the limitations of empirical observation apply here : that scientific theories can never be proved correct through observation, they can only be refuted.</a:t>
            </a:r>
          </a:p>
          <a:p>
            <a:r>
              <a:rPr lang="en-US" sz="1800" dirty="0" smtClean="0"/>
              <a:t>For RE, this view suggests that validation should adopt the same stance that software testers take: it should devise experiments to attempt to refute the current statement of requirements.</a:t>
            </a:r>
          </a:p>
          <a:p>
            <a:r>
              <a:rPr lang="en-US" sz="1800" dirty="0" smtClean="0"/>
              <a:t>Descriptions used in RE should be refutable – those that are not refutable are vague, and should only be treated as rough sketches.</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 Validation Problem</a:t>
            </a:r>
            <a:endParaRPr lang="en-US" dirty="0"/>
          </a:p>
        </p:txBody>
      </p:sp>
      <p:sp>
        <p:nvSpPr>
          <p:cNvPr id="3" name="Content Placeholder 2"/>
          <p:cNvSpPr>
            <a:spLocks noGrp="1"/>
          </p:cNvSpPr>
          <p:nvPr>
            <p:ph idx="1"/>
          </p:nvPr>
        </p:nvSpPr>
        <p:spPr/>
        <p:txBody>
          <a:bodyPr/>
          <a:lstStyle/>
          <a:p>
            <a:r>
              <a:rPr lang="en-US" sz="2400" dirty="0" smtClean="0"/>
              <a:t>For requirements engineers, the methods and tools they use dominate the way that they see and describe problems.</a:t>
            </a:r>
          </a:p>
          <a:p>
            <a:r>
              <a:rPr lang="en-US" sz="2400" dirty="0" smtClean="0"/>
              <a:t>In the extreme case, this shifts the problem of validating requirements statements to a problem of convincing stakeholders that the chosen representation for requirements models is appropriate.</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Big Picture [3]</a:t>
            </a:r>
            <a:endParaRPr lang="en-US" dirty="0"/>
          </a:p>
        </p:txBody>
      </p:sp>
      <p:pic>
        <p:nvPicPr>
          <p:cNvPr id="1027" name="Picture 3"/>
          <p:cNvPicPr>
            <a:picLocks noChangeAspect="1" noChangeArrowheads="1"/>
          </p:cNvPicPr>
          <p:nvPr/>
        </p:nvPicPr>
        <p:blipFill>
          <a:blip r:embed="rId2" cstate="print"/>
          <a:srcRect/>
          <a:stretch>
            <a:fillRect/>
          </a:stretch>
        </p:blipFill>
        <p:spPr bwMode="auto">
          <a:xfrm>
            <a:off x="2197100" y="1930400"/>
            <a:ext cx="4749800" cy="3860800"/>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 Elicitation</a:t>
            </a:r>
            <a:endParaRPr lang="en-US" dirty="0"/>
          </a:p>
        </p:txBody>
      </p:sp>
      <p:sp>
        <p:nvSpPr>
          <p:cNvPr id="3" name="Content Placeholder 2"/>
          <p:cNvSpPr>
            <a:spLocks noGrp="1"/>
          </p:cNvSpPr>
          <p:nvPr>
            <p:ph idx="1"/>
          </p:nvPr>
        </p:nvSpPr>
        <p:spPr/>
        <p:txBody>
          <a:bodyPr/>
          <a:lstStyle/>
          <a:p>
            <a:r>
              <a:rPr lang="en-US" dirty="0" smtClean="0"/>
              <a:t>What do you want?</a:t>
            </a:r>
          </a:p>
          <a:p>
            <a:r>
              <a:rPr lang="en-US" dirty="0" smtClean="0"/>
              <a:t>What are your requirements?</a:t>
            </a:r>
          </a:p>
          <a:p>
            <a:r>
              <a:rPr lang="en-US" dirty="0" smtClean="0"/>
              <a:t>What do you want the system to do?</a:t>
            </a:r>
          </a:p>
          <a:p>
            <a:r>
              <a:rPr lang="en-US" dirty="0" smtClean="0"/>
              <a:t>What features would you like to see in the system?</a:t>
            </a:r>
          </a:p>
          <a:p>
            <a:r>
              <a:rPr lang="en-US" b="1" dirty="0" smtClean="0"/>
              <a:t>What do you need to do with the solution?</a:t>
            </a:r>
            <a:endParaRPr lang="en-US" b="1"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Understanding: DFD</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3927475" y="1676400"/>
            <a:ext cx="4225925" cy="4527550"/>
          </a:xfrm>
          <a:prstGeom prst="rect">
            <a:avLst/>
          </a:prstGeom>
          <a:noFill/>
          <a:ln w="9525">
            <a:noFill/>
            <a:miter lim="800000"/>
            <a:headEnd/>
            <a:tailEnd/>
          </a:ln>
        </p:spPr>
      </p:pic>
      <p:sp>
        <p:nvSpPr>
          <p:cNvPr id="5" name="Rectangle 4"/>
          <p:cNvSpPr/>
          <p:nvPr/>
        </p:nvSpPr>
        <p:spPr>
          <a:xfrm>
            <a:off x="762000" y="2286000"/>
            <a:ext cx="2590800" cy="2800767"/>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2200" i="1" dirty="0" smtClean="0">
                <a:latin typeface="+mj-lt"/>
              </a:rPr>
              <a:t>A portion of a data flow diagram for the restaurant online ordering system</a:t>
            </a:r>
          </a:p>
          <a:p>
            <a:r>
              <a:rPr lang="en-US" sz="2200" i="1" dirty="0" smtClean="0">
                <a:latin typeface="+mj-lt"/>
              </a:rPr>
              <a:t>shows how menu, order, and payment information is used in various processes.</a:t>
            </a:r>
            <a:endParaRPr lang="en-US" sz="2200" dirty="0">
              <a:latin typeface="+mj-l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a:t>
            </a:r>
            <a:endParaRPr lang="en-US" dirty="0"/>
          </a:p>
        </p:txBody>
      </p:sp>
      <p:sp>
        <p:nvSpPr>
          <p:cNvPr id="3" name="Content Placeholder 2"/>
          <p:cNvSpPr>
            <a:spLocks noGrp="1"/>
          </p:cNvSpPr>
          <p:nvPr>
            <p:ph idx="1"/>
          </p:nvPr>
        </p:nvSpPr>
        <p:spPr/>
        <p:txBody>
          <a:bodyPr/>
          <a:lstStyle/>
          <a:p>
            <a:r>
              <a:rPr lang="en-US" sz="2400" dirty="0" smtClean="0"/>
              <a:t>Requirements development demands an </a:t>
            </a:r>
            <a:r>
              <a:rPr lang="en-US" sz="2400" b="1" dirty="0" smtClean="0"/>
              <a:t>incremental and iterative approach</a:t>
            </a:r>
            <a:r>
              <a:rPr lang="en-US" sz="2400" dirty="0" smtClean="0"/>
              <a:t>.</a:t>
            </a:r>
          </a:p>
          <a:p>
            <a:r>
              <a:rPr lang="en-US" sz="2400" dirty="0" smtClean="0"/>
              <a:t>The goal of all specification activities is clear and </a:t>
            </a:r>
            <a:r>
              <a:rPr lang="en-US" sz="2400" b="1" dirty="0" smtClean="0"/>
              <a:t>effective communication</a:t>
            </a:r>
            <a:r>
              <a:rPr lang="en-US" sz="2400" dirty="0" smtClean="0"/>
              <a:t>.</a:t>
            </a:r>
          </a:p>
          <a:p>
            <a:r>
              <a:rPr lang="en-US" sz="2400" dirty="0" smtClean="0"/>
              <a:t>Requirements engineering is a </a:t>
            </a:r>
            <a:r>
              <a:rPr lang="en-US" sz="2400" b="1" dirty="0" smtClean="0"/>
              <a:t>collaborative activity</a:t>
            </a:r>
            <a:r>
              <a:rPr lang="en-US" sz="2400" dirty="0" smtClean="0"/>
              <a:t>.</a:t>
            </a:r>
          </a:p>
          <a:p>
            <a:r>
              <a:rPr lang="en-US" sz="2400" dirty="0" smtClean="0"/>
              <a:t>Quality activities should be pushed to the front.</a:t>
            </a:r>
          </a:p>
          <a:p>
            <a:r>
              <a:rPr lang="en-US" sz="2400" dirty="0" smtClean="0"/>
              <a:t>Risk thinking is essential.</a:t>
            </a:r>
          </a:p>
          <a:p>
            <a:r>
              <a:rPr lang="en-US" sz="2400" b="1" dirty="0" smtClean="0"/>
              <a:t>Change happens</a:t>
            </a:r>
            <a:r>
              <a:rPr lang="en-US" sz="2400" dirty="0" smtClean="0"/>
              <a:t>.</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You Again</a:t>
            </a:r>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5770</TotalTime>
  <Words>1058</Words>
  <Application>Microsoft Office PowerPoint</Application>
  <PresentationFormat>On-screen Show (4:3)</PresentationFormat>
  <Paragraphs>70</Paragraphs>
  <Slides>18</Slides>
  <Notes>0</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Software Requirements Engineering</vt:lpstr>
      <vt:lpstr>Objectives</vt:lpstr>
      <vt:lpstr>Contents</vt:lpstr>
      <vt:lpstr>References</vt:lpstr>
      <vt:lpstr>Why Requirements Engineering? [1]</vt:lpstr>
      <vt:lpstr>Requirements Engineering [2]</vt:lpstr>
      <vt:lpstr>Formal Description</vt:lpstr>
      <vt:lpstr>Cognitive and Social Sciences</vt:lpstr>
      <vt:lpstr>Elicitation Techniques</vt:lpstr>
      <vt:lpstr>Requirements Validation</vt:lpstr>
      <vt:lpstr>Requirements Validation Problem</vt:lpstr>
      <vt:lpstr>Requirements Validation Problem</vt:lpstr>
      <vt:lpstr>Slide 13</vt:lpstr>
      <vt:lpstr>The Big Picture [3]</vt:lpstr>
      <vt:lpstr>Requirements Elicitation</vt:lpstr>
      <vt:lpstr>Data Understanding: DFD</vt:lpstr>
      <vt:lpstr>Summary</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2291</cp:revision>
  <dcterms:created xsi:type="dcterms:W3CDTF">2007-10-06T08:25:13Z</dcterms:created>
  <dcterms:modified xsi:type="dcterms:W3CDTF">2026-03-24T15:36:06Z</dcterms:modified>
</cp:coreProperties>
</file>