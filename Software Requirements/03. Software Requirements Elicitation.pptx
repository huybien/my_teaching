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5"/>
  </p:notesMasterIdLst>
  <p:handoutMasterIdLst>
    <p:handoutMasterId r:id="rId36"/>
  </p:handoutMasterIdLst>
  <p:sldIdLst>
    <p:sldId id="256" r:id="rId2"/>
    <p:sldId id="446" r:id="rId3"/>
    <p:sldId id="608" r:id="rId4"/>
    <p:sldId id="358" r:id="rId5"/>
    <p:sldId id="666" r:id="rId6"/>
    <p:sldId id="642" r:id="rId7"/>
    <p:sldId id="647" r:id="rId8"/>
    <p:sldId id="623" r:id="rId9"/>
    <p:sldId id="624" r:id="rId10"/>
    <p:sldId id="625" r:id="rId11"/>
    <p:sldId id="609" r:id="rId12"/>
    <p:sldId id="610" r:id="rId13"/>
    <p:sldId id="638" r:id="rId14"/>
    <p:sldId id="639" r:id="rId15"/>
    <p:sldId id="641" r:id="rId16"/>
    <p:sldId id="659" r:id="rId17"/>
    <p:sldId id="658" r:id="rId18"/>
    <p:sldId id="655" r:id="rId19"/>
    <p:sldId id="656" r:id="rId20"/>
    <p:sldId id="657" r:id="rId21"/>
    <p:sldId id="660" r:id="rId22"/>
    <p:sldId id="661" r:id="rId23"/>
    <p:sldId id="662" r:id="rId24"/>
    <p:sldId id="648" r:id="rId25"/>
    <p:sldId id="633" r:id="rId26"/>
    <p:sldId id="634" r:id="rId27"/>
    <p:sldId id="664" r:id="rId28"/>
    <p:sldId id="665" r:id="rId29"/>
    <p:sldId id="663" r:id="rId30"/>
    <p:sldId id="651" r:id="rId31"/>
    <p:sldId id="636" r:id="rId32"/>
    <p:sldId id="637" r:id="rId33"/>
    <p:sldId id="359" r:id="rId3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49" autoAdjust="0"/>
    <p:restoredTop sz="94667" autoAdjust="0"/>
  </p:normalViewPr>
  <p:slideViewPr>
    <p:cSldViewPr>
      <p:cViewPr>
        <p:scale>
          <a:sx n="50" d="100"/>
          <a:sy n="50" d="100"/>
        </p:scale>
        <p:origin x="-1556"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D92EA88-EEAD-476F-951C-A9F38DC12E92}" type="datetimeFigureOut">
              <a:rPr lang="en-US" smtClean="0"/>
              <a:pPr/>
              <a:t>9/8/2025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97AD151-0E8C-42DF-AEB9-304E517D3C76}"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4026E6-0412-4830-8F06-DF45033103D5}" type="datetimeFigureOut">
              <a:rPr lang="en-US" smtClean="0"/>
              <a:pPr/>
              <a:t>9/8/2025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21BAC6-1780-4248-A045-EEDC4FD7C33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F8F1E381-20DA-4745-B537-35B514BA6DD7}" type="datetimeFigureOut">
              <a:rPr lang="en-US"/>
              <a:pPr>
                <a:defRPr/>
              </a:pPr>
              <a:t>9/8/2025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94EF19F-72C6-4835-B8F9-C4043AB145C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656C9F8-4ECB-4B63-B927-93DB51F662D0}" type="datetimeFigureOut">
              <a:rPr lang="en-US"/>
              <a:pPr>
                <a:defRPr/>
              </a:pPr>
              <a:t>9/8/2025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9E5146C-45A3-4063-B945-A6E828CB1A7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120DA55-A2EA-4E91-9DF8-848564DA5A8C}" type="datetimeFigureOut">
              <a:rPr lang="en-US"/>
              <a:pPr>
                <a:defRPr/>
              </a:pPr>
              <a:t>9/8/2025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502FCE2-22A4-4D22-98FA-0E266C502294}"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82FE22C-AAA6-4859-915C-7CA8A229741E}" type="datetimeFigureOut">
              <a:rPr lang="en-US"/>
              <a:pPr>
                <a:defRPr/>
              </a:pPr>
              <a:t>9/8/2025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94E97B5-865B-4943-9516-8680CA16C72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2DB4DA2C-F6C4-40D9-95C2-7E16780900E4}" type="datetimeFigureOut">
              <a:rPr lang="en-US"/>
              <a:pPr>
                <a:defRPr/>
              </a:pPr>
              <a:t>9/8/2025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179A6762-FCC9-4A4D-B55E-A9AEAC8C426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B02FA20-63C4-4E2F-BBAB-9D9ECDF79A55}" type="datetimeFigureOut">
              <a:rPr lang="en-US"/>
              <a:pPr>
                <a:defRPr/>
              </a:pPr>
              <a:t>9/8/2025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D571E3C-6E5C-4814-A904-273FE3A958CC}"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4E24579-F551-4401-BD9C-1A956A73C8B1}" type="datetimeFigureOut">
              <a:rPr lang="en-US"/>
              <a:pPr>
                <a:defRPr/>
              </a:pPr>
              <a:t>9/8/2025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E24CBAC-259E-4BF8-ACF6-FAB2C68750F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C04B6935-2E86-4F35-979C-26D8DA31E11B}" type="datetimeFigureOut">
              <a:rPr lang="en-US"/>
              <a:pPr>
                <a:defRPr/>
              </a:pPr>
              <a:t>9/8/2025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049D8DE-4736-4786-A76F-BA4BFA66C35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34642AA-84FD-46EB-91FE-F301FD1B086D}" type="datetimeFigureOut">
              <a:rPr lang="en-US"/>
              <a:pPr>
                <a:defRPr/>
              </a:pPr>
              <a:t>9/8/2025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2E0BD26-494C-4707-B45F-1E41DB7E206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67AB78B-B950-4223-B948-C26A4E4BFB92}" type="datetimeFigureOut">
              <a:rPr lang="en-US"/>
              <a:pPr>
                <a:defRPr/>
              </a:pPr>
              <a:t>9/8/2025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0435AB7-6027-4C00-A9DE-A82D1F9B718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8E790DE-6227-4769-B4D1-A285E0E78CE4}" type="datetimeFigureOut">
              <a:rPr lang="en-US"/>
              <a:pPr>
                <a:defRPr/>
              </a:pPr>
              <a:t>9/8/2025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F58F97A-8135-4157-8FDD-A5EB0FEF561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6C44B157-FED2-4AB7-A096-BDB0B5D2F088}" type="datetimeFigureOut">
              <a:rPr lang="en-US"/>
              <a:pPr>
                <a:defRPr/>
              </a:pPr>
              <a:t>9/8/2025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BD64C92-C51E-4B83-930E-D172469398A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6000" dirty="0" smtClean="0"/>
              <a:t>Software Requirements Elicitation</a:t>
            </a:r>
          </a:p>
        </p:txBody>
      </p:sp>
      <p:sp>
        <p:nvSpPr>
          <p:cNvPr id="3" name="Subtitle 2"/>
          <p:cNvSpPr>
            <a:spLocks noGrp="1"/>
          </p:cNvSpPr>
          <p:nvPr>
            <p:ph type="subTitle" idx="1"/>
          </p:nvPr>
        </p:nvSpPr>
        <p:spPr/>
        <p:txBody>
          <a:bodyPr rtlCol="0">
            <a:normAutofit fontScale="32500" lnSpcReduction="20000"/>
          </a:bodyPr>
          <a:lstStyle/>
          <a:p>
            <a:pPr eaLnBrk="1" fontAlgn="auto" hangingPunct="1">
              <a:spcAft>
                <a:spcPts val="0"/>
              </a:spcAft>
              <a:defRPr/>
            </a:pPr>
            <a:r>
              <a:rPr lang="en-US" sz="6800" dirty="0" smtClean="0"/>
              <a:t>Lecturer: Ngo Huy Bien</a:t>
            </a:r>
          </a:p>
          <a:p>
            <a:pPr eaLnBrk="1" fontAlgn="auto" hangingPunct="1">
              <a:spcAft>
                <a:spcPts val="0"/>
              </a:spcAft>
              <a:defRPr/>
            </a:pPr>
            <a:r>
              <a:rPr lang="en-US" sz="5400" dirty="0" smtClean="0"/>
              <a:t>Software Engineering Department</a:t>
            </a:r>
          </a:p>
          <a:p>
            <a:pPr eaLnBrk="1" fontAlgn="auto" hangingPunct="1">
              <a:spcAft>
                <a:spcPts val="0"/>
              </a:spcAft>
              <a:defRPr/>
            </a:pPr>
            <a:r>
              <a:rPr lang="en-US" sz="5400" dirty="0" smtClean="0"/>
              <a:t>Faculty of Information Technology</a:t>
            </a:r>
          </a:p>
          <a:p>
            <a:pPr eaLnBrk="1" fontAlgn="auto" hangingPunct="1">
              <a:spcAft>
                <a:spcPts val="0"/>
              </a:spcAft>
              <a:defRPr/>
            </a:pPr>
            <a:r>
              <a:rPr lang="en-US" sz="5400" dirty="0" smtClean="0"/>
              <a:t>VNUHCM - University of Science</a:t>
            </a:r>
          </a:p>
          <a:p>
            <a:pPr eaLnBrk="1" fontAlgn="auto" hangingPunct="1">
              <a:spcAft>
                <a:spcPts val="0"/>
              </a:spcAft>
              <a:defRPr/>
            </a:pPr>
            <a:r>
              <a:rPr lang="en-US" sz="5400" dirty="0" smtClean="0"/>
              <a:t>Ho Chi Minh City, Vietnam</a:t>
            </a:r>
          </a:p>
          <a:p>
            <a:pPr eaLnBrk="1" fontAlgn="auto" hangingPunct="1">
              <a:spcAft>
                <a:spcPts val="0"/>
              </a:spcAft>
              <a:defRPr/>
            </a:pPr>
            <a:r>
              <a:rPr lang="en-US" sz="5400" dirty="0" smtClean="0">
                <a:hlinkClick r:id="rId2"/>
              </a:rPr>
              <a:t>nhbien@fit.hcmus.edu.vn</a:t>
            </a:r>
            <a:endParaRPr lang="en-US" sz="5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334000" cy="4495799"/>
          </a:xfrm>
        </p:spPr>
        <p:txBody>
          <a:bodyPr/>
          <a:lstStyle/>
          <a:p>
            <a:pPr marL="457200" indent="-457200">
              <a:buFont typeface="Wingdings" pitchFamily="2" charset="2"/>
              <a:buChar char="Ø"/>
            </a:pPr>
            <a:r>
              <a:rPr lang="en-US" sz="2400" dirty="0" smtClean="0"/>
              <a:t>To </a:t>
            </a:r>
            <a:r>
              <a:rPr lang="en-US" sz="2400" i="1" dirty="0" smtClean="0">
                <a:solidFill>
                  <a:srgbClr val="C00000"/>
                </a:solidFill>
              </a:rPr>
              <a:t>elicit</a:t>
            </a:r>
            <a:r>
              <a:rPr lang="en-US" sz="2400" dirty="0" smtClean="0"/>
              <a:t> requirements.</a:t>
            </a:r>
          </a:p>
        </p:txBody>
      </p:sp>
      <p:pic>
        <p:nvPicPr>
          <p:cNvPr id="4" name="Picture 2"/>
          <p:cNvPicPr>
            <a:picLocks noChangeAspect="1" noChangeArrowheads="1"/>
          </p:cNvPicPr>
          <p:nvPr/>
        </p:nvPicPr>
        <p:blipFill>
          <a:blip r:embed="rId2" cstate="print"/>
          <a:srcRect/>
          <a:stretch>
            <a:fillRect/>
          </a:stretch>
        </p:blipFill>
        <p:spPr bwMode="auto">
          <a:xfrm>
            <a:off x="5867400" y="2819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000" dirty="0" smtClean="0"/>
              <a:t>Interviewing the Stakeholders</a:t>
            </a:r>
          </a:p>
          <a:p>
            <a:pPr marL="571500" indent="-571500">
              <a:buFont typeface="+mj-lt"/>
              <a:buAutoNum type="romanUcPeriod"/>
            </a:pPr>
            <a:r>
              <a:rPr lang="en-US" sz="2000" dirty="0" smtClean="0"/>
              <a:t>Questionnaires</a:t>
            </a:r>
          </a:p>
          <a:p>
            <a:pPr marL="571500" indent="-571500">
              <a:buFont typeface="+mj-lt"/>
              <a:buAutoNum type="romanUcPeriod"/>
            </a:pPr>
            <a:r>
              <a:rPr lang="en-US" sz="2000" dirty="0" smtClean="0"/>
              <a:t>Group Meetings, Focus Groups</a:t>
            </a:r>
          </a:p>
          <a:p>
            <a:pPr marL="571500" indent="-571500">
              <a:buFont typeface="+mj-lt"/>
              <a:buAutoNum type="romanUcPeriod"/>
            </a:pPr>
            <a:r>
              <a:rPr lang="en-US" sz="2000" dirty="0" smtClean="0"/>
              <a:t>Workshops</a:t>
            </a:r>
          </a:p>
          <a:p>
            <a:pPr marL="571500" indent="-571500">
              <a:buFont typeface="+mj-lt"/>
              <a:buAutoNum type="romanUcPeriod"/>
            </a:pPr>
            <a:r>
              <a:rPr lang="en-US" sz="2000" dirty="0" smtClean="0"/>
              <a:t>Personas</a:t>
            </a:r>
          </a:p>
          <a:p>
            <a:pPr marL="571500" indent="-571500">
              <a:buFont typeface="+mj-lt"/>
              <a:buAutoNum type="romanUcPeriod"/>
            </a:pPr>
            <a:r>
              <a:rPr lang="en-US" sz="2000" dirty="0" smtClean="0"/>
              <a:t>Brainstorming</a:t>
            </a:r>
          </a:p>
          <a:p>
            <a:pPr marL="571500" indent="-571500">
              <a:buFont typeface="+mj-lt"/>
              <a:buAutoNum type="romanUcPeriod"/>
            </a:pPr>
            <a:r>
              <a:rPr lang="en-US" sz="2000" dirty="0" smtClean="0"/>
              <a:t>Document Archeology</a:t>
            </a:r>
          </a:p>
          <a:p>
            <a:pPr marL="571500" indent="-571500">
              <a:buFont typeface="+mj-lt"/>
              <a:buAutoNum type="romanUcPeriod"/>
            </a:pPr>
            <a:r>
              <a:rPr lang="en-US" sz="2000" dirty="0" smtClean="0"/>
              <a:t>Apprenticing</a:t>
            </a:r>
          </a:p>
          <a:p>
            <a:pPr marL="571500" indent="-571500">
              <a:buFont typeface="+mj-lt"/>
              <a:buAutoNum type="romanUcPeriod"/>
            </a:pPr>
            <a:r>
              <a:rPr lang="en-US" sz="2000" dirty="0" smtClean="0"/>
              <a:t>Observing Structures and Patterns</a:t>
            </a:r>
          </a:p>
          <a:p>
            <a:pPr marL="571500" indent="-571500">
              <a:buFont typeface="+mj-lt"/>
              <a:buAutoNum type="romanUcPeriod"/>
            </a:pPr>
            <a:r>
              <a:rPr lang="en-US" sz="2000" dirty="0" smtClean="0"/>
              <a:t>User Interface Analysis</a:t>
            </a:r>
          </a:p>
          <a:p>
            <a:pPr marL="571500" indent="-571500">
              <a:buFont typeface="+mj-lt"/>
              <a:buAutoNum type="romanUcPeriod"/>
            </a:pPr>
            <a:r>
              <a:rPr lang="en-US" sz="2000" dirty="0" smtClean="0"/>
              <a:t>System Interface Analysis</a:t>
            </a:r>
          </a:p>
          <a:p>
            <a:pPr marL="571500" indent="-571500">
              <a:buFont typeface="+mj-lt"/>
              <a:buAutoNum type="romanUcPeriod"/>
            </a:pPr>
            <a:r>
              <a:rPr lang="en-US" sz="2000" dirty="0" smtClean="0"/>
              <a:t>Reverse </a:t>
            </a:r>
            <a:r>
              <a:rPr lang="en-US" sz="2000" dirty="0" smtClean="0"/>
              <a:t>Engineering</a:t>
            </a:r>
            <a:endParaRPr lang="en-US" sz="20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References</a:t>
            </a:r>
            <a:endParaRPr lang="en-US" dirty="0"/>
          </a:p>
        </p:txBody>
      </p:sp>
      <p:sp>
        <p:nvSpPr>
          <p:cNvPr id="3" name="Content Placeholder 2"/>
          <p:cNvSpPr>
            <a:spLocks noGrp="1"/>
          </p:cNvSpPr>
          <p:nvPr>
            <p:ph idx="1"/>
          </p:nvPr>
        </p:nvSpPr>
        <p:spPr>
          <a:xfrm>
            <a:off x="457200" y="1524000"/>
            <a:ext cx="5638800" cy="4876800"/>
          </a:xfrm>
        </p:spPr>
        <p:txBody>
          <a:bodyPr/>
          <a:lstStyle/>
          <a:p>
            <a:pPr marL="457200" lvl="0" indent="-457200">
              <a:buFont typeface="+mj-lt"/>
              <a:buAutoNum type="arabicPeriod"/>
            </a:pPr>
            <a:r>
              <a:rPr lang="en-US" sz="2200" dirty="0" smtClean="0"/>
              <a:t>George </a:t>
            </a:r>
            <a:r>
              <a:rPr lang="en-US" sz="2200" dirty="0" err="1" smtClean="0"/>
              <a:t>Koelsch</a:t>
            </a:r>
            <a:r>
              <a:rPr lang="en-US" sz="2200" dirty="0" smtClean="0"/>
              <a:t> (2023). Hardware and Software Projects Troubleshooting - How Effective Requirements Writing Can Save the Day. </a:t>
            </a:r>
            <a:r>
              <a:rPr lang="en-US" sz="2200" dirty="0" err="1" smtClean="0"/>
              <a:t>Apress</a:t>
            </a:r>
            <a:r>
              <a:rPr lang="en-US" sz="2200" dirty="0" smtClean="0"/>
              <a:t>.</a:t>
            </a:r>
          </a:p>
          <a:p>
            <a:pPr marL="457200" lvl="0" indent="-457200">
              <a:buFont typeface="+mj-lt"/>
              <a:buAutoNum type="arabicPeriod"/>
            </a:pPr>
            <a:r>
              <a:rPr lang="en-US" sz="2200" dirty="0" smtClean="0"/>
              <a:t>Suzanne Robertson and James Robertson (2012). Mastering the Requirements Process. Addison Wesley Professional.</a:t>
            </a:r>
          </a:p>
          <a:p>
            <a:pPr marL="457200" lvl="0" indent="-457200">
              <a:buFont typeface="+mj-lt"/>
              <a:buAutoNum type="arabicPeriod"/>
            </a:pPr>
            <a:r>
              <a:rPr lang="en-US" sz="2200" dirty="0" smtClean="0"/>
              <a:t>Dean </a:t>
            </a:r>
            <a:r>
              <a:rPr lang="en-US" sz="2200" dirty="0" err="1" smtClean="0"/>
              <a:t>Leffingwell</a:t>
            </a:r>
            <a:r>
              <a:rPr lang="en-US" sz="2200" dirty="0" smtClean="0"/>
              <a:t> (2011). Agile Software Requirements. Lean Requirements Practices for Teams, Programs, and the Enterprise. Addison-Wesley Professional.</a:t>
            </a:r>
          </a:p>
          <a:p>
            <a:pPr marL="457200" indent="-457200">
              <a:buFont typeface="+mj-lt"/>
              <a:buAutoNum type="arabicPeriod"/>
            </a:pPr>
            <a:r>
              <a:rPr lang="en-US" sz="2200" dirty="0" smtClean="0"/>
              <a:t>Karl </a:t>
            </a:r>
            <a:r>
              <a:rPr lang="en-US" sz="2200" dirty="0" err="1" smtClean="0"/>
              <a:t>Wiegers</a:t>
            </a:r>
            <a:r>
              <a:rPr lang="en-US" sz="2200" dirty="0" smtClean="0"/>
              <a:t> and Joy Beatty (2013). Software Requirements. Microsoft Press.</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Requirements Elicitation</a:t>
            </a:r>
            <a:endParaRPr lang="en-US" dirty="0"/>
          </a:p>
        </p:txBody>
      </p:sp>
      <p:pic>
        <p:nvPicPr>
          <p:cNvPr id="59394" name="Picture 2" descr="https://www.inc.com/uploaded_files/image/getty_104821312_970647970450061_46113.jpg"/>
          <p:cNvPicPr>
            <a:picLocks noChangeAspect="1" noChangeArrowheads="1"/>
          </p:cNvPicPr>
          <p:nvPr/>
        </p:nvPicPr>
        <p:blipFill>
          <a:blip r:embed="rId2" cstate="print"/>
          <a:srcRect/>
          <a:stretch>
            <a:fillRect/>
          </a:stretch>
        </p:blipFill>
        <p:spPr bwMode="auto">
          <a:xfrm>
            <a:off x="3276600" y="2362200"/>
            <a:ext cx="5543550" cy="2571750"/>
          </a:xfrm>
          <a:prstGeom prst="rect">
            <a:avLst/>
          </a:prstGeom>
          <a:noFill/>
        </p:spPr>
      </p:pic>
      <p:pic>
        <p:nvPicPr>
          <p:cNvPr id="59396" name="Picture 4" descr="http://orig04.deviantart.net/e32c/f/2008/124/4/3/i_don__t_like_meetings_by_koshiatar.png"/>
          <p:cNvPicPr>
            <a:picLocks noChangeAspect="1" noChangeArrowheads="1"/>
          </p:cNvPicPr>
          <p:nvPr/>
        </p:nvPicPr>
        <p:blipFill>
          <a:blip r:embed="rId3" cstate="print"/>
          <a:srcRect/>
          <a:stretch>
            <a:fillRect/>
          </a:stretch>
        </p:blipFill>
        <p:spPr bwMode="auto">
          <a:xfrm>
            <a:off x="381000" y="1600200"/>
            <a:ext cx="3810000" cy="381000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Sources [1]</a:t>
            </a:r>
            <a:endParaRPr lang="en-US" dirty="0"/>
          </a:p>
        </p:txBody>
      </p:sp>
      <p:sp>
        <p:nvSpPr>
          <p:cNvPr id="3" name="Content Placeholder 2"/>
          <p:cNvSpPr>
            <a:spLocks noGrp="1"/>
          </p:cNvSpPr>
          <p:nvPr>
            <p:ph idx="1"/>
          </p:nvPr>
        </p:nvSpPr>
        <p:spPr/>
        <p:txBody>
          <a:bodyPr/>
          <a:lstStyle/>
          <a:p>
            <a:r>
              <a:rPr lang="en-US" sz="2800" dirty="0" smtClean="0"/>
              <a:t>Think of them as people, paper, and projects:</a:t>
            </a:r>
          </a:p>
          <a:p>
            <a:pPr lvl="1"/>
            <a:r>
              <a:rPr lang="en-US" sz="2400" dirty="0" smtClean="0"/>
              <a:t>Stakeholders</a:t>
            </a:r>
          </a:p>
          <a:p>
            <a:pPr lvl="1"/>
            <a:r>
              <a:rPr lang="en-US" sz="2400" dirty="0" smtClean="0"/>
              <a:t>Documents</a:t>
            </a:r>
          </a:p>
          <a:p>
            <a:pPr lvl="1"/>
            <a:r>
              <a:rPr lang="en-US" sz="2400" dirty="0" smtClean="0"/>
              <a:t>System in operation</a:t>
            </a:r>
          </a:p>
          <a:p>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Interviewing the Stakeholders [2]</a:t>
            </a:r>
            <a:endParaRPr lang="en-US" dirty="0"/>
          </a:p>
        </p:txBody>
      </p:sp>
      <p:sp>
        <p:nvSpPr>
          <p:cNvPr id="3" name="Content Placeholder 2"/>
          <p:cNvSpPr>
            <a:spLocks noGrp="1"/>
          </p:cNvSpPr>
          <p:nvPr>
            <p:ph idx="1"/>
          </p:nvPr>
        </p:nvSpPr>
        <p:spPr>
          <a:xfrm>
            <a:off x="457200" y="1600201"/>
            <a:ext cx="8229600" cy="3048000"/>
          </a:xfrm>
        </p:spPr>
        <p:txBody>
          <a:bodyPr/>
          <a:lstStyle/>
          <a:p>
            <a:r>
              <a:rPr lang="en-US" sz="2200" dirty="0" smtClean="0"/>
              <a:t>Prepare </a:t>
            </a:r>
            <a:r>
              <a:rPr lang="en-US" sz="2200" i="1" dirty="0" smtClean="0">
                <a:solidFill>
                  <a:srgbClr val="C00000"/>
                </a:solidFill>
              </a:rPr>
              <a:t>background</a:t>
            </a:r>
            <a:r>
              <a:rPr lang="en-US" sz="2200" dirty="0" smtClean="0"/>
              <a:t> information (company, preliminary problems, needs, opportunities, goals, key stakeholders).</a:t>
            </a:r>
          </a:p>
          <a:p>
            <a:r>
              <a:rPr lang="en-US" sz="2200" dirty="0" smtClean="0"/>
              <a:t>Prepare interview </a:t>
            </a:r>
            <a:r>
              <a:rPr lang="en-US" sz="2200" i="1" dirty="0" smtClean="0">
                <a:solidFill>
                  <a:srgbClr val="C00000"/>
                </a:solidFill>
              </a:rPr>
              <a:t>questions</a:t>
            </a:r>
            <a:r>
              <a:rPr lang="en-US" sz="2200" dirty="0" smtClean="0"/>
              <a:t>.</a:t>
            </a:r>
          </a:p>
          <a:p>
            <a:r>
              <a:rPr lang="en-US" sz="2200" dirty="0" smtClean="0"/>
              <a:t>Set the interview in </a:t>
            </a:r>
            <a:r>
              <a:rPr lang="en-US" sz="2200" i="1" dirty="0" smtClean="0">
                <a:solidFill>
                  <a:srgbClr val="C00000"/>
                </a:solidFill>
              </a:rPr>
              <a:t>context</a:t>
            </a:r>
            <a:r>
              <a:rPr lang="en-US" sz="2200" dirty="0" smtClean="0"/>
              <a:t>. This step is necessary to avoid having your stakeholders talk about something irrelevant to your purpose.</a:t>
            </a:r>
          </a:p>
          <a:p>
            <a:r>
              <a:rPr lang="en-US" sz="2200" dirty="0" smtClean="0"/>
              <a:t>Limit the </a:t>
            </a:r>
            <a:r>
              <a:rPr lang="en-US" sz="2200" i="1" dirty="0" smtClean="0">
                <a:solidFill>
                  <a:srgbClr val="C00000"/>
                </a:solidFill>
              </a:rPr>
              <a:t>duration</a:t>
            </a:r>
            <a:r>
              <a:rPr lang="en-US" sz="2200" dirty="0" smtClean="0"/>
              <a:t> of the interview to the time stated in the agenda. We find that interviews running for more than an hour (90 minutes tops) tend to lose focus.</a:t>
            </a:r>
          </a:p>
        </p:txBody>
      </p:sp>
      <p:pic>
        <p:nvPicPr>
          <p:cNvPr id="1026" name="Picture 2"/>
          <p:cNvPicPr>
            <a:picLocks noChangeAspect="1" noChangeArrowheads="1"/>
          </p:cNvPicPr>
          <p:nvPr/>
        </p:nvPicPr>
        <p:blipFill>
          <a:blip r:embed="rId2" cstate="print"/>
          <a:srcRect/>
          <a:stretch>
            <a:fillRect/>
          </a:stretch>
        </p:blipFill>
        <p:spPr bwMode="auto">
          <a:xfrm>
            <a:off x="2819400" y="4724400"/>
            <a:ext cx="2896294" cy="171583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Conducting the Interview</a:t>
            </a:r>
            <a:endParaRPr lang="en-US" dirty="0"/>
          </a:p>
        </p:txBody>
      </p:sp>
      <p:sp>
        <p:nvSpPr>
          <p:cNvPr id="3" name="Content Placeholder 2"/>
          <p:cNvSpPr>
            <a:spLocks noGrp="1"/>
          </p:cNvSpPr>
          <p:nvPr>
            <p:ph idx="1"/>
          </p:nvPr>
        </p:nvSpPr>
        <p:spPr/>
        <p:txBody>
          <a:bodyPr/>
          <a:lstStyle/>
          <a:p>
            <a:r>
              <a:rPr lang="en-US" sz="2000" dirty="0" smtClean="0"/>
              <a:t>Ask a question, </a:t>
            </a:r>
            <a:r>
              <a:rPr lang="en-US" sz="2000" i="1" dirty="0" smtClean="0">
                <a:solidFill>
                  <a:srgbClr val="C00000"/>
                </a:solidFill>
              </a:rPr>
              <a:t>listen</a:t>
            </a:r>
            <a:r>
              <a:rPr lang="en-US" sz="2000" dirty="0" smtClean="0"/>
              <a:t> to the answer, </a:t>
            </a:r>
            <a:r>
              <a:rPr lang="en-US" sz="2000" i="1" dirty="0" smtClean="0">
                <a:solidFill>
                  <a:srgbClr val="C00000"/>
                </a:solidFill>
              </a:rPr>
              <a:t>draw models</a:t>
            </a:r>
            <a:r>
              <a:rPr lang="en-US" sz="2000" dirty="0" smtClean="0"/>
              <a:t> and encourage the user to change them.</a:t>
            </a:r>
          </a:p>
          <a:p>
            <a:r>
              <a:rPr lang="en-US" sz="2000" dirty="0" smtClean="0"/>
              <a:t>Plenty of </a:t>
            </a:r>
            <a:r>
              <a:rPr lang="en-US" sz="2000" i="1" dirty="0" smtClean="0">
                <a:solidFill>
                  <a:srgbClr val="C00000"/>
                </a:solidFill>
              </a:rPr>
              <a:t>models</a:t>
            </a:r>
            <a:r>
              <a:rPr lang="en-US" sz="2000" dirty="0" smtClean="0"/>
              <a:t> (e.g., data flow diagrams, activity diagrams, sequence diagrams) are available to help you communicate your understanding of a process.</a:t>
            </a:r>
          </a:p>
          <a:p>
            <a:r>
              <a:rPr lang="en-US" sz="2000" dirty="0" smtClean="0"/>
              <a:t>You can also construct </a:t>
            </a:r>
            <a:r>
              <a:rPr lang="en-US" sz="2000" i="1" dirty="0" smtClean="0">
                <a:solidFill>
                  <a:srgbClr val="C00000"/>
                </a:solidFill>
              </a:rPr>
              <a:t>data models</a:t>
            </a:r>
            <a:r>
              <a:rPr lang="en-US" sz="2000" dirty="0" smtClean="0"/>
              <a:t> for information, and </a:t>
            </a:r>
            <a:r>
              <a:rPr lang="en-US" sz="2000" i="1" dirty="0" smtClean="0">
                <a:solidFill>
                  <a:srgbClr val="C00000"/>
                </a:solidFill>
              </a:rPr>
              <a:t>mind maps</a:t>
            </a:r>
            <a:r>
              <a:rPr lang="en-US" sz="2000" dirty="0" smtClean="0"/>
              <a:t> to link different subjects.</a:t>
            </a:r>
          </a:p>
          <a:p>
            <a:r>
              <a:rPr lang="en-US" sz="2000" dirty="0" smtClean="0"/>
              <a:t>Record the stakeholders’ </a:t>
            </a:r>
            <a:r>
              <a:rPr lang="en-US" sz="2000" i="1" dirty="0" smtClean="0">
                <a:solidFill>
                  <a:srgbClr val="C00000"/>
                </a:solidFill>
              </a:rPr>
              <a:t>terminology</a:t>
            </a:r>
            <a:r>
              <a:rPr lang="en-US" sz="2000" dirty="0" smtClean="0"/>
              <a:t>.</a:t>
            </a:r>
          </a:p>
        </p:txBody>
      </p:sp>
      <p:pic>
        <p:nvPicPr>
          <p:cNvPr id="3074" name="Picture 2" descr="Image result for draw a diagram"/>
          <p:cNvPicPr>
            <a:picLocks noChangeAspect="1" noChangeArrowheads="1"/>
          </p:cNvPicPr>
          <p:nvPr/>
        </p:nvPicPr>
        <p:blipFill>
          <a:blip r:embed="rId2" cstate="print"/>
          <a:srcRect/>
          <a:stretch>
            <a:fillRect/>
          </a:stretch>
        </p:blipFill>
        <p:spPr bwMode="auto">
          <a:xfrm>
            <a:off x="5105400" y="4343400"/>
            <a:ext cx="3585210" cy="2331720"/>
          </a:xfrm>
          <a:prstGeom prst="rect">
            <a:avLst/>
          </a:prstGeom>
          <a:noFill/>
        </p:spPr>
      </p:pic>
      <p:pic>
        <p:nvPicPr>
          <p:cNvPr id="3076" name="Picture 4" descr="Image result for listen"/>
          <p:cNvPicPr>
            <a:picLocks noChangeAspect="1" noChangeArrowheads="1"/>
          </p:cNvPicPr>
          <p:nvPr/>
        </p:nvPicPr>
        <p:blipFill>
          <a:blip r:embed="rId3" cstate="print"/>
          <a:srcRect/>
          <a:stretch>
            <a:fillRect/>
          </a:stretch>
        </p:blipFill>
        <p:spPr bwMode="auto">
          <a:xfrm>
            <a:off x="838200" y="4419600"/>
            <a:ext cx="3810000" cy="2028826"/>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Keep Samples or Copies of Artifacts</a:t>
            </a:r>
            <a:endParaRPr lang="en-US" dirty="0"/>
          </a:p>
        </p:txBody>
      </p:sp>
      <p:sp>
        <p:nvSpPr>
          <p:cNvPr id="3" name="Content Placeholder 2"/>
          <p:cNvSpPr>
            <a:spLocks noGrp="1"/>
          </p:cNvSpPr>
          <p:nvPr>
            <p:ph idx="1"/>
          </p:nvPr>
        </p:nvSpPr>
        <p:spPr>
          <a:xfrm>
            <a:off x="457200" y="1600201"/>
            <a:ext cx="8229600" cy="2514600"/>
          </a:xfrm>
        </p:spPr>
        <p:txBody>
          <a:bodyPr/>
          <a:lstStyle/>
          <a:p>
            <a:r>
              <a:rPr lang="en-US" sz="2400" dirty="0" smtClean="0"/>
              <a:t>Artifacts are the things the stakeholders use in their </a:t>
            </a:r>
            <a:r>
              <a:rPr lang="en-US" sz="2400" i="1" dirty="0" smtClean="0">
                <a:solidFill>
                  <a:srgbClr val="C00000"/>
                </a:solidFill>
              </a:rPr>
              <a:t>daily work</a:t>
            </a:r>
            <a:r>
              <a:rPr lang="en-US" sz="2400" dirty="0" smtClean="0"/>
              <a:t>.</a:t>
            </a:r>
          </a:p>
          <a:p>
            <a:r>
              <a:rPr lang="en-US" sz="2400" dirty="0" smtClean="0"/>
              <a:t>They can be </a:t>
            </a:r>
            <a:r>
              <a:rPr lang="en-US" sz="2400" i="1" dirty="0" smtClean="0">
                <a:solidFill>
                  <a:srgbClr val="C00000"/>
                </a:solidFill>
              </a:rPr>
              <a:t>real things</a:t>
            </a:r>
            <a:r>
              <a:rPr lang="en-US" sz="2400" dirty="0" smtClean="0"/>
              <a:t>: documents, computers, meters, spreadsheets, machines, pieces of software.</a:t>
            </a:r>
          </a:p>
          <a:p>
            <a:r>
              <a:rPr lang="en-US" sz="2400" dirty="0" smtClean="0"/>
              <a:t>They can also be </a:t>
            </a:r>
            <a:r>
              <a:rPr lang="en-US" sz="2400" i="1" dirty="0" smtClean="0">
                <a:solidFill>
                  <a:srgbClr val="C00000"/>
                </a:solidFill>
              </a:rPr>
              <a:t>conceptual things</a:t>
            </a:r>
            <a:r>
              <a:rPr lang="en-US" sz="2400" dirty="0" smtClean="0"/>
              <a:t>: status, contracts, schedules, orders.</a:t>
            </a:r>
            <a:endParaRPr lang="en-US" sz="2400" dirty="0"/>
          </a:p>
        </p:txBody>
      </p:sp>
      <p:pic>
        <p:nvPicPr>
          <p:cNvPr id="2050" name="Picture 2" descr="Related image"/>
          <p:cNvPicPr>
            <a:picLocks noChangeAspect="1" noChangeArrowheads="1"/>
          </p:cNvPicPr>
          <p:nvPr/>
        </p:nvPicPr>
        <p:blipFill>
          <a:blip r:embed="rId2" cstate="print"/>
          <a:srcRect/>
          <a:stretch>
            <a:fillRect/>
          </a:stretch>
        </p:blipFill>
        <p:spPr bwMode="auto">
          <a:xfrm>
            <a:off x="2743200" y="4267200"/>
            <a:ext cx="3810000" cy="2143125"/>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Guidelines – 1</a:t>
            </a:r>
            <a:endParaRPr lang="en-US" dirty="0"/>
          </a:p>
        </p:txBody>
      </p:sp>
      <p:pic>
        <p:nvPicPr>
          <p:cNvPr id="5" name="Picture 2"/>
          <p:cNvPicPr>
            <a:picLocks noChangeAspect="1" noChangeArrowheads="1"/>
          </p:cNvPicPr>
          <p:nvPr/>
        </p:nvPicPr>
        <p:blipFill>
          <a:blip r:embed="rId2" cstate="print"/>
          <a:srcRect/>
          <a:stretch>
            <a:fillRect/>
          </a:stretch>
        </p:blipFill>
        <p:spPr bwMode="auto">
          <a:xfrm>
            <a:off x="3429000" y="4648200"/>
            <a:ext cx="2505075" cy="2057400"/>
          </a:xfrm>
          <a:prstGeom prst="rect">
            <a:avLst/>
          </a:prstGeom>
          <a:noFill/>
          <a:ln w="9525">
            <a:noFill/>
            <a:miter lim="800000"/>
            <a:headEnd/>
            <a:tailEnd/>
          </a:ln>
        </p:spPr>
      </p:pic>
      <p:sp>
        <p:nvSpPr>
          <p:cNvPr id="3" name="Content Placeholder 2"/>
          <p:cNvSpPr>
            <a:spLocks noGrp="1"/>
          </p:cNvSpPr>
          <p:nvPr>
            <p:ph idx="1"/>
          </p:nvPr>
        </p:nvSpPr>
        <p:spPr>
          <a:xfrm>
            <a:off x="457200" y="1447801"/>
            <a:ext cx="8229600" cy="3200399"/>
          </a:xfrm>
        </p:spPr>
        <p:txBody>
          <a:bodyPr/>
          <a:lstStyle/>
          <a:p>
            <a:r>
              <a:rPr lang="en-US" sz="2400" i="1" dirty="0" smtClean="0">
                <a:solidFill>
                  <a:srgbClr val="C00000"/>
                </a:solidFill>
              </a:rPr>
              <a:t>Comparison</a:t>
            </a:r>
            <a:r>
              <a:rPr lang="en-US" sz="2400" dirty="0" smtClean="0"/>
              <a:t>: When you hear the word "better," ask, "Compared to what?“</a:t>
            </a:r>
          </a:p>
          <a:p>
            <a:r>
              <a:rPr lang="en-US" sz="2400" i="1" dirty="0" smtClean="0">
                <a:solidFill>
                  <a:srgbClr val="C00000"/>
                </a:solidFill>
              </a:rPr>
              <a:t>Generalization</a:t>
            </a:r>
            <a:r>
              <a:rPr lang="en-US" sz="2400" dirty="0" smtClean="0"/>
              <a:t>: When you hear the words "can't" or "must," then ask: What prevents you? What would happen if you did not?</a:t>
            </a:r>
          </a:p>
          <a:p>
            <a:r>
              <a:rPr lang="en-US" sz="2400" i="1" dirty="0" smtClean="0">
                <a:solidFill>
                  <a:srgbClr val="C00000"/>
                </a:solidFill>
              </a:rPr>
              <a:t>Universal Quantifiers</a:t>
            </a:r>
            <a:r>
              <a:rPr lang="en-US" sz="2400" dirty="0" smtClean="0"/>
              <a:t>: When you hear "never" or "always," it triggers other questions: Is it really never or does it happen sometimes? Is it really always or are there some exceptions?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Guidelines – 2</a:t>
            </a:r>
            <a:endParaRPr lang="en-US" dirty="0"/>
          </a:p>
        </p:txBody>
      </p:sp>
      <p:pic>
        <p:nvPicPr>
          <p:cNvPr id="5" name="Picture 2"/>
          <p:cNvPicPr>
            <a:picLocks noChangeAspect="1" noChangeArrowheads="1"/>
          </p:cNvPicPr>
          <p:nvPr/>
        </p:nvPicPr>
        <p:blipFill>
          <a:blip r:embed="rId2" cstate="print"/>
          <a:srcRect/>
          <a:stretch>
            <a:fillRect/>
          </a:stretch>
        </p:blipFill>
        <p:spPr bwMode="auto">
          <a:xfrm>
            <a:off x="3429000" y="4114800"/>
            <a:ext cx="2505075" cy="2057400"/>
          </a:xfrm>
          <a:prstGeom prst="rect">
            <a:avLst/>
          </a:prstGeom>
          <a:noFill/>
          <a:ln w="9525">
            <a:noFill/>
            <a:miter lim="800000"/>
            <a:headEnd/>
            <a:tailEnd/>
          </a:ln>
        </p:spPr>
      </p:pic>
      <p:sp>
        <p:nvSpPr>
          <p:cNvPr id="3" name="Content Placeholder 2"/>
          <p:cNvSpPr>
            <a:spLocks noGrp="1"/>
          </p:cNvSpPr>
          <p:nvPr>
            <p:ph idx="1"/>
          </p:nvPr>
        </p:nvSpPr>
        <p:spPr>
          <a:xfrm>
            <a:off x="457200" y="1447801"/>
            <a:ext cx="8229600" cy="2438399"/>
          </a:xfrm>
        </p:spPr>
        <p:txBody>
          <a:bodyPr/>
          <a:lstStyle/>
          <a:p>
            <a:r>
              <a:rPr lang="en-US" sz="2400" i="1" dirty="0" smtClean="0">
                <a:solidFill>
                  <a:srgbClr val="C00000"/>
                </a:solidFill>
              </a:rPr>
              <a:t>Nominalization</a:t>
            </a:r>
            <a:r>
              <a:rPr lang="en-US" sz="2400" dirty="0" smtClean="0"/>
              <a:t>: In nominalization, a verb that describes an ongoing process is turned into a noun for example, "Processing renewals over the Internet is better." But what does the speaker mean by "processing"? What activities are implied by the use of that word in this context?</a:t>
            </a:r>
          </a:p>
          <a:p>
            <a:r>
              <a:rPr lang="en-US" sz="2400" i="1" dirty="0" smtClean="0">
                <a:solidFill>
                  <a:srgbClr val="C00000"/>
                </a:solidFill>
              </a:rPr>
              <a:t>Judgment</a:t>
            </a:r>
            <a:r>
              <a:rPr lang="en-US" sz="2400" dirty="0" smtClean="0"/>
              <a:t>: Who says that it is better? What is the authority?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Interview Template (I) [3]</a:t>
            </a:r>
            <a:endParaRPr lang="en-US" dirty="0"/>
          </a:p>
        </p:txBody>
      </p:sp>
      <p:sp>
        <p:nvSpPr>
          <p:cNvPr id="3" name="Content Placeholder 2"/>
          <p:cNvSpPr>
            <a:spLocks noGrp="1"/>
          </p:cNvSpPr>
          <p:nvPr>
            <p:ph idx="1"/>
          </p:nvPr>
        </p:nvSpPr>
        <p:spPr/>
        <p:txBody>
          <a:bodyPr/>
          <a:lstStyle/>
          <a:p>
            <a:r>
              <a:rPr lang="en-US" sz="2000" b="1" dirty="0" smtClean="0"/>
              <a:t>Part I: Establishing the Customer or User Profile</a:t>
            </a:r>
          </a:p>
          <a:p>
            <a:r>
              <a:rPr lang="en-US" sz="2000" dirty="0" smtClean="0"/>
              <a:t>Name:</a:t>
            </a:r>
          </a:p>
          <a:p>
            <a:r>
              <a:rPr lang="en-US" sz="2000" dirty="0" smtClean="0"/>
              <a:t>Company:</a:t>
            </a:r>
          </a:p>
          <a:p>
            <a:r>
              <a:rPr lang="en-US" sz="2000" dirty="0" smtClean="0"/>
              <a:t>Industry:</a:t>
            </a:r>
          </a:p>
          <a:p>
            <a:r>
              <a:rPr lang="en-US" sz="2000" dirty="0" smtClean="0"/>
              <a:t>Job title:</a:t>
            </a:r>
          </a:p>
          <a:p>
            <a:r>
              <a:rPr lang="en-US" sz="2000" dirty="0" smtClean="0"/>
              <a:t>(The above information can typically be </a:t>
            </a:r>
          </a:p>
          <a:p>
            <a:pPr>
              <a:buNone/>
            </a:pPr>
            <a:r>
              <a:rPr lang="en-US" sz="2000" dirty="0" smtClean="0"/>
              <a:t>	entered in advance.)</a:t>
            </a:r>
          </a:p>
          <a:p>
            <a:r>
              <a:rPr lang="en-US" sz="2000" dirty="0" smtClean="0"/>
              <a:t>What are your key responsibilities?</a:t>
            </a:r>
          </a:p>
          <a:p>
            <a:r>
              <a:rPr lang="en-US" sz="2000" dirty="0" smtClean="0"/>
              <a:t>What outputs do you produce?</a:t>
            </a:r>
          </a:p>
          <a:p>
            <a:r>
              <a:rPr lang="en-US" sz="2000" dirty="0" smtClean="0"/>
              <a:t>For whom?</a:t>
            </a:r>
          </a:p>
          <a:p>
            <a:r>
              <a:rPr lang="en-US" sz="2000" dirty="0" smtClean="0"/>
              <a:t>How is success measured?</a:t>
            </a:r>
          </a:p>
          <a:p>
            <a:r>
              <a:rPr lang="en-US" sz="2000" dirty="0" smtClean="0"/>
              <a:t>Which problems interfere with your success?</a:t>
            </a:r>
          </a:p>
          <a:p>
            <a:r>
              <a:rPr lang="en-US" sz="2000" dirty="0" smtClean="0"/>
              <a:t>What, if any, trends make your job easier or more difficult?</a:t>
            </a:r>
            <a:endParaRPr lang="en-US" sz="2000" dirty="0"/>
          </a:p>
        </p:txBody>
      </p:sp>
      <p:pic>
        <p:nvPicPr>
          <p:cNvPr id="17412" name="Picture 4" descr="https://i.imgur.com/EVaUlrE.jpg"/>
          <p:cNvPicPr>
            <a:picLocks noChangeAspect="1" noChangeArrowheads="1"/>
          </p:cNvPicPr>
          <p:nvPr/>
        </p:nvPicPr>
        <p:blipFill>
          <a:blip r:embed="rId2" cstate="print"/>
          <a:srcRect/>
          <a:stretch>
            <a:fillRect/>
          </a:stretch>
        </p:blipFill>
        <p:spPr bwMode="auto">
          <a:xfrm>
            <a:off x="5867400" y="2895600"/>
            <a:ext cx="2667000" cy="1800225"/>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Interview Template (II)</a:t>
            </a:r>
            <a:endParaRPr lang="en-US" dirty="0"/>
          </a:p>
        </p:txBody>
      </p:sp>
      <p:sp>
        <p:nvSpPr>
          <p:cNvPr id="3" name="Content Placeholder 2"/>
          <p:cNvSpPr>
            <a:spLocks noGrp="1"/>
          </p:cNvSpPr>
          <p:nvPr>
            <p:ph idx="1"/>
          </p:nvPr>
        </p:nvSpPr>
        <p:spPr>
          <a:xfrm>
            <a:off x="457200" y="1600200"/>
            <a:ext cx="6019800" cy="4525963"/>
          </a:xfrm>
        </p:spPr>
        <p:txBody>
          <a:bodyPr/>
          <a:lstStyle/>
          <a:p>
            <a:r>
              <a:rPr lang="en-US" sz="2400" b="1" dirty="0" smtClean="0"/>
              <a:t>Part II: Assessing the Problem</a:t>
            </a:r>
          </a:p>
          <a:p>
            <a:r>
              <a:rPr lang="en-US" sz="2400" dirty="0" smtClean="0"/>
              <a:t>For which [application type] problems do you lack good solutions?</a:t>
            </a:r>
          </a:p>
          <a:p>
            <a:r>
              <a:rPr lang="en-US" sz="2400" dirty="0" smtClean="0"/>
              <a:t>What are they? (Hint: Keep asking, “Anything else?”)</a:t>
            </a:r>
          </a:p>
          <a:p>
            <a:r>
              <a:rPr lang="en-US" sz="2400" dirty="0" smtClean="0"/>
              <a:t>For </a:t>
            </a:r>
            <a:r>
              <a:rPr lang="en-US" sz="2400" u="sng" dirty="0" smtClean="0"/>
              <a:t>each problem</a:t>
            </a:r>
            <a:r>
              <a:rPr lang="en-US" sz="2400" dirty="0" smtClean="0"/>
              <a:t>, </a:t>
            </a:r>
            <a:r>
              <a:rPr lang="en-US" sz="2400" i="1" dirty="0" smtClean="0">
                <a:solidFill>
                  <a:srgbClr val="C00000"/>
                </a:solidFill>
              </a:rPr>
              <a:t>ask the following questions</a:t>
            </a:r>
            <a:r>
              <a:rPr lang="en-US" sz="2400" dirty="0" smtClean="0"/>
              <a:t>.</a:t>
            </a:r>
          </a:p>
          <a:p>
            <a:r>
              <a:rPr lang="en-US" sz="2400" dirty="0" smtClean="0"/>
              <a:t>Why does this problem exist?</a:t>
            </a:r>
          </a:p>
          <a:p>
            <a:r>
              <a:rPr lang="en-US" sz="2400" dirty="0" smtClean="0"/>
              <a:t>How do you solve it now?</a:t>
            </a:r>
          </a:p>
          <a:p>
            <a:r>
              <a:rPr lang="en-US" sz="2400" dirty="0" smtClean="0"/>
              <a:t>How would you like to solve it?</a:t>
            </a:r>
            <a:endParaRPr lang="en-US" sz="2400" dirty="0"/>
          </a:p>
        </p:txBody>
      </p:sp>
      <p:pic>
        <p:nvPicPr>
          <p:cNvPr id="5" name="Picture 4" descr="https://i.imgur.com/EVaUlrE.jpg"/>
          <p:cNvPicPr>
            <a:picLocks noChangeAspect="1" noChangeArrowheads="1"/>
          </p:cNvPicPr>
          <p:nvPr/>
        </p:nvPicPr>
        <p:blipFill>
          <a:blip r:embed="rId2" cstate="print"/>
          <a:srcRect/>
          <a:stretch>
            <a:fillRect/>
          </a:stretch>
        </p:blipFill>
        <p:spPr bwMode="auto">
          <a:xfrm>
            <a:off x="5867400" y="2895600"/>
            <a:ext cx="2667000" cy="1800225"/>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Interview Template (III)</a:t>
            </a:r>
            <a:endParaRPr lang="en-US" dirty="0"/>
          </a:p>
        </p:txBody>
      </p:sp>
      <p:sp>
        <p:nvSpPr>
          <p:cNvPr id="3" name="Content Placeholder 2"/>
          <p:cNvSpPr>
            <a:spLocks noGrp="1"/>
          </p:cNvSpPr>
          <p:nvPr>
            <p:ph idx="1"/>
          </p:nvPr>
        </p:nvSpPr>
        <p:spPr/>
        <p:txBody>
          <a:bodyPr/>
          <a:lstStyle/>
          <a:p>
            <a:r>
              <a:rPr lang="en-US" sz="1800" b="1" dirty="0" smtClean="0"/>
              <a:t>Part V: Analyzing the Customer’s Problem</a:t>
            </a:r>
          </a:p>
          <a:p>
            <a:r>
              <a:rPr lang="en-US" sz="1800" dirty="0" smtClean="0"/>
              <a:t>(Validate or invalidate assumptions.)</a:t>
            </a:r>
          </a:p>
          <a:p>
            <a:r>
              <a:rPr lang="en-US" sz="1800" dirty="0" smtClean="0"/>
              <a:t>(If not yet addressed.) Which, if any, problems are associated with the following? (List any needs or additional problems you think should concern the customer or user.)</a:t>
            </a:r>
          </a:p>
          <a:p>
            <a:r>
              <a:rPr lang="en-US" sz="1800" dirty="0" smtClean="0"/>
              <a:t>…</a:t>
            </a:r>
          </a:p>
          <a:p>
            <a:r>
              <a:rPr lang="en-US" sz="1800" dirty="0" smtClean="0"/>
              <a:t>For </a:t>
            </a:r>
            <a:r>
              <a:rPr lang="en-US" sz="1800" u="sng" dirty="0" smtClean="0"/>
              <a:t>each suggested problem</a:t>
            </a:r>
            <a:r>
              <a:rPr lang="en-US" sz="1800" dirty="0" smtClean="0"/>
              <a:t>,  </a:t>
            </a:r>
            <a:r>
              <a:rPr lang="en-US" sz="1800" i="1" dirty="0" smtClean="0">
                <a:solidFill>
                  <a:srgbClr val="C00000"/>
                </a:solidFill>
              </a:rPr>
              <a:t>ask the </a:t>
            </a:r>
          </a:p>
          <a:p>
            <a:pPr>
              <a:buNone/>
            </a:pPr>
            <a:r>
              <a:rPr lang="en-US" sz="1800" i="1" dirty="0" smtClean="0">
                <a:solidFill>
                  <a:srgbClr val="C00000"/>
                </a:solidFill>
              </a:rPr>
              <a:t>	following questions</a:t>
            </a:r>
            <a:r>
              <a:rPr lang="en-US" sz="1800" dirty="0" smtClean="0"/>
              <a:t>.</a:t>
            </a:r>
          </a:p>
          <a:p>
            <a:pPr lvl="1"/>
            <a:r>
              <a:rPr lang="en-US" sz="1800" dirty="0" smtClean="0"/>
              <a:t>Is this a real problem?</a:t>
            </a:r>
          </a:p>
          <a:p>
            <a:pPr lvl="1"/>
            <a:r>
              <a:rPr lang="en-US" sz="1800" dirty="0" smtClean="0"/>
              <a:t>What are the reasons for this problem?</a:t>
            </a:r>
          </a:p>
          <a:p>
            <a:pPr lvl="1"/>
            <a:r>
              <a:rPr lang="en-US" sz="1800" dirty="0" smtClean="0"/>
              <a:t>How do you currently solve the problem?</a:t>
            </a:r>
          </a:p>
          <a:p>
            <a:pPr lvl="1"/>
            <a:r>
              <a:rPr lang="en-US" sz="1800" dirty="0" smtClean="0"/>
              <a:t>How would you like to solve the problem?</a:t>
            </a:r>
          </a:p>
          <a:p>
            <a:pPr lvl="1"/>
            <a:r>
              <a:rPr lang="en-US" sz="1800" dirty="0" smtClean="0"/>
              <a:t>How would you rank solving these problems in comparison to others you’ve mentioned?</a:t>
            </a:r>
          </a:p>
        </p:txBody>
      </p:sp>
      <p:pic>
        <p:nvPicPr>
          <p:cNvPr id="4" name="Picture 4" descr="https://i.imgur.com/EVaUlrE.jpg"/>
          <p:cNvPicPr>
            <a:picLocks noChangeAspect="1" noChangeArrowheads="1"/>
          </p:cNvPicPr>
          <p:nvPr/>
        </p:nvPicPr>
        <p:blipFill>
          <a:blip r:embed="rId2" cstate="print"/>
          <a:srcRect/>
          <a:stretch>
            <a:fillRect/>
          </a:stretch>
        </p:blipFill>
        <p:spPr bwMode="auto">
          <a:xfrm>
            <a:off x="5791200" y="3200400"/>
            <a:ext cx="2667000" cy="1800225"/>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Questionnaires [4]</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Questionnaires</a:t>
            </a:r>
            <a:r>
              <a:rPr lang="en-US" sz="2400" dirty="0" smtClean="0"/>
              <a:t> are a way to </a:t>
            </a:r>
            <a:r>
              <a:rPr lang="en-US" sz="2400" u="sng" dirty="0" smtClean="0"/>
              <a:t>survey large groups of users</a:t>
            </a:r>
            <a:r>
              <a:rPr lang="en-US" sz="2400" dirty="0" smtClean="0"/>
              <a:t> to understand their needs.</a:t>
            </a:r>
          </a:p>
          <a:p>
            <a:r>
              <a:rPr lang="en-US" sz="2400" dirty="0" smtClean="0"/>
              <a:t>They are </a:t>
            </a:r>
            <a:r>
              <a:rPr lang="en-US" sz="2400" i="1" dirty="0" smtClean="0">
                <a:solidFill>
                  <a:srgbClr val="C00000"/>
                </a:solidFill>
              </a:rPr>
              <a:t>inexpensive</a:t>
            </a:r>
            <a:r>
              <a:rPr lang="en-US" sz="2400" dirty="0" smtClean="0"/>
              <a:t>, making them a logical choice for eliciting information from large user populations, and they can be administered easily across geographical boundaries.</a:t>
            </a:r>
          </a:p>
          <a:p>
            <a:r>
              <a:rPr lang="en-US" sz="2400" dirty="0" smtClean="0"/>
              <a:t>Preparing well-written questions is the </a:t>
            </a:r>
            <a:r>
              <a:rPr lang="en-US" sz="2400" i="1" dirty="0" smtClean="0">
                <a:solidFill>
                  <a:srgbClr val="C00000"/>
                </a:solidFill>
              </a:rPr>
              <a:t>biggest challenge</a:t>
            </a:r>
            <a:r>
              <a:rPr lang="en-US" sz="2400" dirty="0" smtClean="0"/>
              <a:t> with questionnaires.</a:t>
            </a:r>
          </a:p>
          <a:p>
            <a:pPr lvl="1"/>
            <a:r>
              <a:rPr lang="en-US" sz="2000" dirty="0" smtClean="0"/>
              <a:t>Provide answer options that cover the full set of possible responses.</a:t>
            </a:r>
          </a:p>
          <a:p>
            <a:pPr lvl="1"/>
            <a:r>
              <a:rPr lang="en-US" sz="2000" dirty="0" smtClean="0"/>
              <a:t>Make answer choices both mutually exclusive </a:t>
            </a:r>
          </a:p>
          <a:p>
            <a:pPr lvl="1"/>
            <a:r>
              <a:rPr lang="en-US" sz="2000" dirty="0" smtClean="0"/>
              <a:t>Don’t phrase a question in a way that implies a “correct” answer.</a:t>
            </a:r>
          </a:p>
          <a:p>
            <a:pPr lvl="1"/>
            <a:r>
              <a:rPr lang="en-US" sz="2000" dirty="0" smtClean="0"/>
              <a:t>Don’t ask too many questions or people won’t respond.</a:t>
            </a:r>
          </a:p>
          <a:p>
            <a:pPr lvl="1"/>
            <a:endParaRPr lang="en-US" sz="2000" dirty="0" smtClean="0"/>
          </a:p>
          <a:p>
            <a:endParaRPr lang="en-US" sz="2400" dirty="0"/>
          </a:p>
        </p:txBody>
      </p:sp>
      <p:pic>
        <p:nvPicPr>
          <p:cNvPr id="33794" name="Picture 2" descr="https://www.ucl.ac.uk/iehc/research/behavioural-science-health/resources/columns/questionnaires.jpg"/>
          <p:cNvPicPr>
            <a:picLocks noChangeAspect="1" noChangeArrowheads="1"/>
          </p:cNvPicPr>
          <p:nvPr/>
        </p:nvPicPr>
        <p:blipFill>
          <a:blip r:embed="rId2" cstate="print"/>
          <a:srcRect/>
          <a:stretch>
            <a:fillRect/>
          </a:stretch>
        </p:blipFill>
        <p:spPr bwMode="auto">
          <a:xfrm>
            <a:off x="6858000" y="304800"/>
            <a:ext cx="1783080" cy="1240675"/>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a:t>
            </a:r>
            <a:r>
              <a:rPr lang="en-US" dirty="0" smtClean="0"/>
              <a:t>Meetings, Focus </a:t>
            </a:r>
            <a:r>
              <a:rPr lang="en-US" dirty="0" smtClean="0"/>
              <a:t>Groups [4]</a:t>
            </a:r>
            <a:endParaRPr lang="en-US" dirty="0"/>
          </a:p>
        </p:txBody>
      </p:sp>
      <p:sp>
        <p:nvSpPr>
          <p:cNvPr id="3" name="Content Placeholder 2"/>
          <p:cNvSpPr>
            <a:spLocks noGrp="1"/>
          </p:cNvSpPr>
          <p:nvPr>
            <p:ph idx="1"/>
          </p:nvPr>
        </p:nvSpPr>
        <p:spPr/>
        <p:txBody>
          <a:bodyPr/>
          <a:lstStyle/>
          <a:p>
            <a:r>
              <a:rPr lang="en-US" sz="2200" dirty="0" smtClean="0"/>
              <a:t>A </a:t>
            </a:r>
            <a:r>
              <a:rPr lang="en-US" sz="2200" i="1" dirty="0" smtClean="0">
                <a:solidFill>
                  <a:srgbClr val="C00000"/>
                </a:solidFill>
              </a:rPr>
              <a:t>focus group</a:t>
            </a:r>
            <a:r>
              <a:rPr lang="en-US" sz="2200" dirty="0" smtClean="0"/>
              <a:t> is a </a:t>
            </a:r>
            <a:r>
              <a:rPr lang="en-US" sz="2200" u="sng" dirty="0" smtClean="0"/>
              <a:t>representative group of users</a:t>
            </a:r>
            <a:r>
              <a:rPr lang="en-US" sz="2200" dirty="0" smtClean="0"/>
              <a:t> who convene in a facilitated elicitation activity to generate input and ideas on a product’s functional and quality requirements.</a:t>
            </a:r>
          </a:p>
          <a:p>
            <a:r>
              <a:rPr lang="en-US" sz="2200" dirty="0" smtClean="0"/>
              <a:t>Focus groups are useful for exploring users’ attitudes, impressions, preferences, and needs.</a:t>
            </a:r>
          </a:p>
          <a:p>
            <a:r>
              <a:rPr lang="en-US" sz="2200" dirty="0" smtClean="0"/>
              <a:t>They are particularly valuable if you are developing commercial products and </a:t>
            </a:r>
            <a:r>
              <a:rPr lang="en-US" sz="2200" i="1" dirty="0" smtClean="0">
                <a:solidFill>
                  <a:srgbClr val="C00000"/>
                </a:solidFill>
              </a:rPr>
              <a:t>don’t have ready access to end users</a:t>
            </a:r>
            <a:r>
              <a:rPr lang="en-US" sz="2200" dirty="0" smtClean="0"/>
              <a:t> within your company</a:t>
            </a:r>
            <a:r>
              <a:rPr lang="en-US" sz="2200" dirty="0" smtClean="0"/>
              <a:t>.</a:t>
            </a:r>
            <a:endParaRPr lang="en-US" sz="2200" dirty="0" smtClean="0"/>
          </a:p>
        </p:txBody>
      </p:sp>
      <p:pic>
        <p:nvPicPr>
          <p:cNvPr id="4" name="Picture 2" descr="https://www.talentmap.com/wp-content/uploads/bb-plugin/cache/focus-group-diversity-panorama.jpg"/>
          <p:cNvPicPr>
            <a:picLocks noChangeAspect="1" noChangeArrowheads="1"/>
          </p:cNvPicPr>
          <p:nvPr/>
        </p:nvPicPr>
        <p:blipFill>
          <a:blip r:embed="rId2" cstate="print"/>
          <a:srcRect/>
          <a:stretch>
            <a:fillRect/>
          </a:stretch>
        </p:blipFill>
        <p:spPr bwMode="auto">
          <a:xfrm>
            <a:off x="1996440" y="4800600"/>
            <a:ext cx="2804160" cy="1402080"/>
          </a:xfrm>
          <a:prstGeom prst="rect">
            <a:avLst/>
          </a:prstGeom>
          <a:noFill/>
        </p:spPr>
      </p:pic>
      <p:sp>
        <p:nvSpPr>
          <p:cNvPr id="5" name="Rectangle 4"/>
          <p:cNvSpPr/>
          <p:nvPr/>
        </p:nvSpPr>
        <p:spPr>
          <a:xfrm>
            <a:off x="5181600" y="5112603"/>
            <a:ext cx="2642518" cy="830997"/>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marL="342900" indent="-342900">
              <a:buFont typeface="Arial" pitchFamily="34" charset="0"/>
              <a:buChar char="•"/>
            </a:pPr>
            <a:r>
              <a:rPr lang="en-US" sz="2400" dirty="0" smtClean="0">
                <a:latin typeface="+mj-lt"/>
              </a:rPr>
              <a:t>Only real users</a:t>
            </a:r>
          </a:p>
          <a:p>
            <a:pPr marL="342900" indent="-342900">
              <a:buFont typeface="Arial" pitchFamily="34" charset="0"/>
              <a:buChar char="•"/>
            </a:pPr>
            <a:r>
              <a:rPr lang="en-US" sz="2400" dirty="0" smtClean="0">
                <a:latin typeface="+mj-lt"/>
              </a:rPr>
              <a:t>Generating ideas</a:t>
            </a:r>
            <a:endParaRPr lang="en-US" sz="2400" dirty="0">
              <a:latin typeface="+mj-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Workshops</a:t>
            </a:r>
            <a:endParaRPr lang="en-US" dirty="0"/>
          </a:p>
        </p:txBody>
      </p:sp>
      <p:sp>
        <p:nvSpPr>
          <p:cNvPr id="3" name="Content Placeholder 2"/>
          <p:cNvSpPr>
            <a:spLocks noGrp="1"/>
          </p:cNvSpPr>
          <p:nvPr>
            <p:ph idx="1"/>
          </p:nvPr>
        </p:nvSpPr>
        <p:spPr>
          <a:xfrm>
            <a:off x="457200" y="1600201"/>
            <a:ext cx="8229600" cy="2895599"/>
          </a:xfrm>
        </p:spPr>
        <p:txBody>
          <a:bodyPr/>
          <a:lstStyle/>
          <a:p>
            <a:r>
              <a:rPr lang="en-US" sz="2200" i="1" dirty="0" smtClean="0">
                <a:solidFill>
                  <a:srgbClr val="C00000"/>
                </a:solidFill>
              </a:rPr>
              <a:t>Workshop</a:t>
            </a:r>
            <a:r>
              <a:rPr lang="en-US" sz="2200" dirty="0" smtClean="0"/>
              <a:t>: a </a:t>
            </a:r>
            <a:r>
              <a:rPr lang="en-US" sz="2200" u="sng" dirty="0" smtClean="0"/>
              <a:t>structured meeting</a:t>
            </a:r>
            <a:r>
              <a:rPr lang="en-US" sz="2200" dirty="0" smtClean="0"/>
              <a:t> in which a carefully selected </a:t>
            </a:r>
            <a:r>
              <a:rPr lang="en-US" sz="2200" u="sng" dirty="0" smtClean="0"/>
              <a:t>group of stakeholders</a:t>
            </a:r>
            <a:r>
              <a:rPr lang="en-US" sz="2200" dirty="0" smtClean="0"/>
              <a:t> and content experts work together to define, create, refine, and </a:t>
            </a:r>
            <a:r>
              <a:rPr lang="en-US" sz="2200" u="sng" dirty="0" smtClean="0"/>
              <a:t>reach closure on deliverables</a:t>
            </a:r>
            <a:r>
              <a:rPr lang="en-US" sz="2200" dirty="0" smtClean="0"/>
              <a:t> (such as models and documents) that </a:t>
            </a:r>
            <a:r>
              <a:rPr lang="en-US" sz="2200" u="sng" dirty="0" smtClean="0"/>
              <a:t>represent user requirements</a:t>
            </a:r>
            <a:r>
              <a:rPr lang="en-US" sz="2200" dirty="0" smtClean="0"/>
              <a:t>.</a:t>
            </a:r>
          </a:p>
          <a:p>
            <a:r>
              <a:rPr lang="en-US" sz="2200" i="1" dirty="0" smtClean="0">
                <a:solidFill>
                  <a:srgbClr val="C00000"/>
                </a:solidFill>
              </a:rPr>
              <a:t>Note taking</a:t>
            </a:r>
            <a:r>
              <a:rPr lang="en-US" sz="2200" dirty="0" smtClean="0"/>
              <a:t>, </a:t>
            </a:r>
            <a:r>
              <a:rPr lang="en-US" sz="2200" i="1" dirty="0" smtClean="0">
                <a:solidFill>
                  <a:srgbClr val="C00000"/>
                </a:solidFill>
              </a:rPr>
              <a:t>time keeping</a:t>
            </a:r>
            <a:r>
              <a:rPr lang="en-US" sz="2200" dirty="0" smtClean="0"/>
              <a:t>, </a:t>
            </a:r>
            <a:r>
              <a:rPr lang="en-US" sz="2200" i="1" dirty="0" smtClean="0">
                <a:solidFill>
                  <a:srgbClr val="C00000"/>
                </a:solidFill>
              </a:rPr>
              <a:t>scope management</a:t>
            </a:r>
            <a:r>
              <a:rPr lang="en-US" sz="2200" dirty="0" smtClean="0"/>
              <a:t>, ground rule management, and making sure everyone is heard. </a:t>
            </a:r>
          </a:p>
          <a:p>
            <a:r>
              <a:rPr lang="en-US" sz="2200" dirty="0" smtClean="0"/>
              <a:t>Refer to the </a:t>
            </a:r>
            <a:r>
              <a:rPr lang="en-US" sz="2200" i="1" dirty="0" smtClean="0">
                <a:solidFill>
                  <a:srgbClr val="C00000"/>
                </a:solidFill>
              </a:rPr>
              <a:t>business requirements</a:t>
            </a:r>
            <a:r>
              <a:rPr lang="en-US" sz="2200" dirty="0" smtClean="0"/>
              <a:t> to confirm whether proposed user requirements lie within the current project scope.</a:t>
            </a:r>
            <a:endParaRPr lang="en-US" sz="2200" dirty="0"/>
          </a:p>
        </p:txBody>
      </p:sp>
      <p:pic>
        <p:nvPicPr>
          <p:cNvPr id="1026" name="Picture 2" descr="http://www.basmati.cloud/wp-content/uploads/2018/05/workshop-918x540.jpg"/>
          <p:cNvPicPr>
            <a:picLocks noChangeAspect="1" noChangeArrowheads="1"/>
          </p:cNvPicPr>
          <p:nvPr/>
        </p:nvPicPr>
        <p:blipFill>
          <a:blip r:embed="rId2" cstate="print"/>
          <a:srcRect/>
          <a:stretch>
            <a:fillRect/>
          </a:stretch>
        </p:blipFill>
        <p:spPr bwMode="auto">
          <a:xfrm>
            <a:off x="1447800" y="4572000"/>
            <a:ext cx="3497580" cy="2057400"/>
          </a:xfrm>
          <a:prstGeom prst="rect">
            <a:avLst/>
          </a:prstGeom>
          <a:noFill/>
        </p:spPr>
      </p:pic>
      <p:sp>
        <p:nvSpPr>
          <p:cNvPr id="5" name="Rectangle 4"/>
          <p:cNvSpPr/>
          <p:nvPr/>
        </p:nvSpPr>
        <p:spPr>
          <a:xfrm>
            <a:off x="5181600" y="5029200"/>
            <a:ext cx="3351238" cy="1200329"/>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marL="342900" indent="-342900">
              <a:buFont typeface="Arial" pitchFamily="34" charset="0"/>
              <a:buChar char="•"/>
            </a:pPr>
            <a:r>
              <a:rPr lang="en-US" sz="2400" dirty="0" smtClean="0">
                <a:latin typeface="+mj-lt"/>
              </a:rPr>
              <a:t>Real users and </a:t>
            </a:r>
          </a:p>
          <a:p>
            <a:pPr marL="342900" indent="-342900"/>
            <a:r>
              <a:rPr lang="en-US" sz="2400" dirty="0" smtClean="0">
                <a:latin typeface="+mj-lt"/>
              </a:rPr>
              <a:t>	other stakeholder</a:t>
            </a:r>
          </a:p>
          <a:p>
            <a:pPr marL="342900" indent="-342900">
              <a:buFont typeface="Arial" pitchFamily="34" charset="0"/>
              <a:buChar char="•"/>
            </a:pPr>
            <a:r>
              <a:rPr lang="en-US" sz="2400" dirty="0" smtClean="0">
                <a:latin typeface="+mj-lt"/>
              </a:rPr>
              <a:t>Consensual conclusion</a:t>
            </a:r>
            <a:endParaRPr lang="en-US" sz="2400" dirty="0">
              <a:latin typeface="+mj-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Personas [2]</a:t>
            </a:r>
            <a:endParaRPr lang="en-US" dirty="0"/>
          </a:p>
        </p:txBody>
      </p:sp>
      <p:sp>
        <p:nvSpPr>
          <p:cNvPr id="3" name="Content Placeholder 2"/>
          <p:cNvSpPr>
            <a:spLocks noGrp="1"/>
          </p:cNvSpPr>
          <p:nvPr>
            <p:ph idx="1"/>
          </p:nvPr>
        </p:nvSpPr>
        <p:spPr>
          <a:xfrm>
            <a:off x="457200" y="1600201"/>
            <a:ext cx="8229600" cy="2514600"/>
          </a:xfrm>
        </p:spPr>
        <p:txBody>
          <a:bodyPr/>
          <a:lstStyle/>
          <a:p>
            <a:r>
              <a:rPr lang="en-US" sz="2400" dirty="0" smtClean="0"/>
              <a:t>Personas are useful when </a:t>
            </a:r>
            <a:r>
              <a:rPr lang="en-US" sz="2400" i="1" dirty="0" smtClean="0">
                <a:solidFill>
                  <a:srgbClr val="C00000"/>
                </a:solidFill>
              </a:rPr>
              <a:t>real users are not available</a:t>
            </a:r>
            <a:r>
              <a:rPr lang="en-US" sz="2400" dirty="0" smtClean="0"/>
              <a:t> or are too numerous for you to interview all of them.</a:t>
            </a:r>
          </a:p>
          <a:p>
            <a:r>
              <a:rPr lang="en-US" sz="2400" dirty="0" smtClean="0"/>
              <a:t>The persona is a </a:t>
            </a:r>
            <a:r>
              <a:rPr lang="en-US" sz="2400" i="1" dirty="0" smtClean="0">
                <a:solidFill>
                  <a:srgbClr val="C00000"/>
                </a:solidFill>
              </a:rPr>
              <a:t>virtual character</a:t>
            </a:r>
            <a:r>
              <a:rPr lang="en-US" sz="2400" dirty="0" smtClean="0"/>
              <a:t> that </a:t>
            </a:r>
            <a:r>
              <a:rPr lang="en-US" sz="2400" u="sng" dirty="0" smtClean="0"/>
              <a:t>substitutes for the human users</a:t>
            </a:r>
            <a:r>
              <a:rPr lang="en-US" sz="2400" dirty="0" smtClean="0"/>
              <a:t>.</a:t>
            </a:r>
          </a:p>
          <a:p>
            <a:r>
              <a:rPr lang="en-US" sz="2400" dirty="0" smtClean="0"/>
              <a:t>We strongly suggest using a persona when you do </a:t>
            </a:r>
            <a:r>
              <a:rPr lang="en-US" sz="2400" i="1" dirty="0" smtClean="0">
                <a:solidFill>
                  <a:srgbClr val="C00000"/>
                </a:solidFill>
              </a:rPr>
              <a:t>not</a:t>
            </a:r>
            <a:r>
              <a:rPr lang="en-US" sz="2400" dirty="0" smtClean="0"/>
              <a:t> have access to the </a:t>
            </a:r>
            <a:r>
              <a:rPr lang="en-US" sz="2400" u="sng" dirty="0" smtClean="0"/>
              <a:t>real users</a:t>
            </a:r>
            <a:r>
              <a:rPr lang="en-US" sz="2400" dirty="0" smtClean="0"/>
              <a:t> or customers.</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3276600" y="4191000"/>
            <a:ext cx="2994660" cy="216027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Brainstorming</a:t>
            </a:r>
            <a:endParaRPr lang="en-US" dirty="0"/>
          </a:p>
        </p:txBody>
      </p:sp>
      <p:sp>
        <p:nvSpPr>
          <p:cNvPr id="3" name="Content Placeholder 2"/>
          <p:cNvSpPr>
            <a:spLocks noGrp="1"/>
          </p:cNvSpPr>
          <p:nvPr>
            <p:ph idx="1"/>
          </p:nvPr>
        </p:nvSpPr>
        <p:spPr>
          <a:xfrm>
            <a:off x="457200" y="1600200"/>
            <a:ext cx="8229600" cy="2971799"/>
          </a:xfrm>
        </p:spPr>
        <p:txBody>
          <a:bodyPr/>
          <a:lstStyle/>
          <a:p>
            <a:r>
              <a:rPr lang="en-US" sz="2200" dirty="0" smtClean="0"/>
              <a:t>A </a:t>
            </a:r>
            <a:r>
              <a:rPr lang="en-US" sz="2200" i="1" dirty="0" smtClean="0">
                <a:solidFill>
                  <a:srgbClr val="C00000"/>
                </a:solidFill>
              </a:rPr>
              <a:t>brainstorming session</a:t>
            </a:r>
            <a:r>
              <a:rPr lang="en-US" sz="2200" dirty="0" smtClean="0"/>
              <a:t> is a gathering of </a:t>
            </a:r>
            <a:r>
              <a:rPr lang="en-US" sz="2200" u="sng" dirty="0" smtClean="0"/>
              <a:t>interested people</a:t>
            </a:r>
            <a:r>
              <a:rPr lang="en-US" sz="2200" dirty="0" smtClean="0"/>
              <a:t> whose task is to </a:t>
            </a:r>
            <a:r>
              <a:rPr lang="en-US" sz="2200" u="sng" dirty="0" smtClean="0"/>
              <a:t>generate new ideas</a:t>
            </a:r>
            <a:r>
              <a:rPr lang="en-US" sz="2200" dirty="0" smtClean="0"/>
              <a:t> for the product.</a:t>
            </a:r>
          </a:p>
          <a:p>
            <a:r>
              <a:rPr lang="en-US" sz="2200" dirty="0" smtClean="0"/>
              <a:t>For the moment, </a:t>
            </a:r>
            <a:r>
              <a:rPr lang="en-US" sz="2200" i="1" dirty="0" smtClean="0">
                <a:solidFill>
                  <a:srgbClr val="C00000"/>
                </a:solidFill>
              </a:rPr>
              <a:t>suspend</a:t>
            </a:r>
            <a:r>
              <a:rPr lang="en-US" sz="2200" dirty="0" smtClean="0"/>
              <a:t> judgment, evaluation, criticism, and, most importantly, debate. Simply record requirements as they are generated.</a:t>
            </a:r>
          </a:p>
          <a:p>
            <a:r>
              <a:rPr lang="en-US" sz="2200" dirty="0" smtClean="0"/>
              <a:t>If you </a:t>
            </a:r>
            <a:r>
              <a:rPr lang="en-US" sz="2200" i="1" dirty="0" smtClean="0">
                <a:solidFill>
                  <a:srgbClr val="C00000"/>
                </a:solidFill>
              </a:rPr>
              <a:t>get stuck</a:t>
            </a:r>
            <a:r>
              <a:rPr lang="en-US" sz="2200" dirty="0" smtClean="0"/>
              <a:t>, </a:t>
            </a:r>
            <a:r>
              <a:rPr lang="en-US" sz="2200" u="sng" dirty="0" smtClean="0"/>
              <a:t>seed</a:t>
            </a:r>
            <a:r>
              <a:rPr lang="en-US" sz="2200" dirty="0" smtClean="0"/>
              <a:t> the session with </a:t>
            </a:r>
            <a:r>
              <a:rPr lang="en-US" sz="2200" u="sng" dirty="0" smtClean="0"/>
              <a:t>a word</a:t>
            </a:r>
            <a:r>
              <a:rPr lang="en-US" sz="2200" dirty="0" smtClean="0"/>
              <a:t> pulled randomly from a dictionary, and ask participants to make </a:t>
            </a:r>
            <a:r>
              <a:rPr lang="en-US" sz="2200" u="sng" dirty="0" smtClean="0"/>
              <a:t>word associations</a:t>
            </a:r>
            <a:r>
              <a:rPr lang="en-US" sz="2200" dirty="0" smtClean="0"/>
              <a:t> that have some </a:t>
            </a:r>
            <a:r>
              <a:rPr lang="en-US" sz="2200" u="sng" dirty="0" smtClean="0"/>
              <a:t>bearing on the product</a:t>
            </a:r>
            <a:r>
              <a:rPr lang="en-US" sz="2200" dirty="0" smtClean="0"/>
              <a:t>.</a:t>
            </a:r>
            <a:endParaRPr lang="en-US" sz="2200" dirty="0"/>
          </a:p>
        </p:txBody>
      </p:sp>
      <p:pic>
        <p:nvPicPr>
          <p:cNvPr id="14337" name="Picture 1"/>
          <p:cNvPicPr>
            <a:picLocks noChangeAspect="1" noChangeArrowheads="1"/>
          </p:cNvPicPr>
          <p:nvPr/>
        </p:nvPicPr>
        <p:blipFill>
          <a:blip r:embed="rId2" cstate="print"/>
          <a:srcRect/>
          <a:stretch>
            <a:fillRect/>
          </a:stretch>
        </p:blipFill>
        <p:spPr bwMode="auto">
          <a:xfrm>
            <a:off x="3124200" y="4545330"/>
            <a:ext cx="2693670" cy="200787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Document Archeology [2]</a:t>
            </a:r>
            <a:endParaRPr lang="en-US" dirty="0"/>
          </a:p>
        </p:txBody>
      </p:sp>
      <p:sp>
        <p:nvSpPr>
          <p:cNvPr id="3" name="Content Placeholder 2"/>
          <p:cNvSpPr>
            <a:spLocks noGrp="1"/>
          </p:cNvSpPr>
          <p:nvPr>
            <p:ph idx="1"/>
          </p:nvPr>
        </p:nvSpPr>
        <p:spPr>
          <a:xfrm>
            <a:off x="457200" y="1447800"/>
            <a:ext cx="8153400" cy="4876800"/>
          </a:xfrm>
        </p:spPr>
        <p:txBody>
          <a:bodyPr/>
          <a:lstStyle/>
          <a:p>
            <a:r>
              <a:rPr lang="en-US" sz="2400" i="1" dirty="0" smtClean="0">
                <a:solidFill>
                  <a:srgbClr val="C00000"/>
                </a:solidFill>
              </a:rPr>
              <a:t>Document archeology</a:t>
            </a:r>
            <a:r>
              <a:rPr lang="en-US" sz="2400" dirty="0" smtClean="0"/>
              <a:t> is a technique of </a:t>
            </a:r>
            <a:r>
              <a:rPr lang="en-US" sz="2400" u="sng" dirty="0" smtClean="0"/>
              <a:t>searching through existing reports and files</a:t>
            </a:r>
            <a:r>
              <a:rPr lang="en-US" sz="2400" dirty="0" smtClean="0"/>
              <a:t> for underlying requirements.</a:t>
            </a:r>
          </a:p>
          <a:p>
            <a:r>
              <a:rPr lang="en-US" sz="2400" dirty="0" smtClean="0"/>
              <a:t>It is best used when you have some </a:t>
            </a:r>
            <a:r>
              <a:rPr lang="en-US" sz="2400" i="1" dirty="0" smtClean="0">
                <a:solidFill>
                  <a:srgbClr val="C00000"/>
                </a:solidFill>
              </a:rPr>
              <a:t>existing or legacy system</a:t>
            </a:r>
            <a:r>
              <a:rPr lang="en-US" sz="2400" dirty="0" smtClean="0"/>
              <a:t>, and plan on modifying or renewing it.</a:t>
            </a:r>
          </a:p>
          <a:p>
            <a:r>
              <a:rPr lang="en-US" sz="2400" dirty="0" smtClean="0"/>
              <a:t>In document archeology, you start by </a:t>
            </a:r>
            <a:r>
              <a:rPr lang="en-US" sz="2400" i="1" dirty="0" smtClean="0">
                <a:solidFill>
                  <a:srgbClr val="C00000"/>
                </a:solidFill>
              </a:rPr>
              <a:t>collecting</a:t>
            </a:r>
            <a:r>
              <a:rPr lang="en-US" sz="2400" dirty="0" smtClean="0"/>
              <a:t> samples of all documents, reports, forms, files, and so on.</a:t>
            </a:r>
          </a:p>
          <a:p>
            <a:r>
              <a:rPr lang="en-US" sz="2400" dirty="0" smtClean="0"/>
              <a:t>Gather anything that is used to </a:t>
            </a:r>
            <a:r>
              <a:rPr lang="en-US" sz="2400" i="1" dirty="0" smtClean="0">
                <a:solidFill>
                  <a:srgbClr val="C00000"/>
                </a:solidFill>
              </a:rPr>
              <a:t>record</a:t>
            </a:r>
            <a:r>
              <a:rPr lang="en-US" sz="2400" dirty="0" smtClean="0"/>
              <a:t> or </a:t>
            </a:r>
            <a:r>
              <a:rPr lang="en-US" sz="2400" i="1" dirty="0" smtClean="0">
                <a:solidFill>
                  <a:srgbClr val="C00000"/>
                </a:solidFill>
              </a:rPr>
              <a:t>send information</a:t>
            </a:r>
            <a:r>
              <a:rPr lang="en-US" sz="2400" dirty="0" smtClean="0"/>
              <a:t>, including regular telephone calls.</a:t>
            </a:r>
          </a:p>
          <a:p>
            <a:r>
              <a:rPr lang="en-US" sz="2400" i="1" dirty="0" smtClean="0">
                <a:solidFill>
                  <a:srgbClr val="C00000"/>
                </a:solidFill>
              </a:rPr>
              <a:t>User manuals</a:t>
            </a:r>
            <a:r>
              <a:rPr lang="en-US" sz="2400" dirty="0" smtClean="0"/>
              <a:t> are rich sources of material they describe a way to do work.</a:t>
            </a:r>
            <a:endParaRPr lang="en-US" sz="2400" dirty="0"/>
          </a:p>
        </p:txBody>
      </p:sp>
      <p:pic>
        <p:nvPicPr>
          <p:cNvPr id="4100" name="Picture 4"/>
          <p:cNvPicPr>
            <a:picLocks noChangeAspect="1" noChangeArrowheads="1"/>
          </p:cNvPicPr>
          <p:nvPr/>
        </p:nvPicPr>
        <p:blipFill>
          <a:blip r:embed="rId2" cstate="print"/>
          <a:srcRect/>
          <a:stretch>
            <a:fillRect/>
          </a:stretch>
        </p:blipFill>
        <p:spPr bwMode="auto">
          <a:xfrm>
            <a:off x="3657600" y="5334000"/>
            <a:ext cx="1428750" cy="88582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Documents</a:t>
            </a:r>
            <a:endParaRPr lang="en-US" dirty="0" smtClean="0"/>
          </a:p>
        </p:txBody>
      </p:sp>
      <p:sp>
        <p:nvSpPr>
          <p:cNvPr id="3" name="Content Placeholder 2"/>
          <p:cNvSpPr>
            <a:spLocks noGrp="1"/>
          </p:cNvSpPr>
          <p:nvPr>
            <p:ph idx="1"/>
          </p:nvPr>
        </p:nvSpPr>
        <p:spPr/>
        <p:txBody>
          <a:bodyPr/>
          <a:lstStyle/>
          <a:p>
            <a:r>
              <a:rPr lang="en-US" sz="2800" dirty="0" smtClean="0"/>
              <a:t>Suggestions</a:t>
            </a:r>
            <a:r>
              <a:rPr lang="en-US" sz="2800" dirty="0" smtClean="0"/>
              <a:t>, RFCs, and problem reports</a:t>
            </a:r>
          </a:p>
          <a:p>
            <a:r>
              <a:rPr lang="en-US" sz="2800" dirty="0" smtClean="0"/>
              <a:t>Request for Proposals (RFPs)</a:t>
            </a:r>
          </a:p>
        </p:txBody>
      </p:sp>
      <p:pic>
        <p:nvPicPr>
          <p:cNvPr id="3074" name="Picture 2" descr="https://media.licdn.com/dms/image/v2/D4E12AQGr8PrlB0RDJA/article-cover_image-shrink_720_1280/B4EZYaB5LbHkAI-/0/1744193431382?e=2147483647&amp;v=beta&amp;t=SUTwgpJXjnVJVSExCQve2WalgYc14mL4ixDLJ1iIX5A"/>
          <p:cNvPicPr>
            <a:picLocks noChangeAspect="1" noChangeArrowheads="1"/>
          </p:cNvPicPr>
          <p:nvPr/>
        </p:nvPicPr>
        <p:blipFill>
          <a:blip r:embed="rId2" cstate="print"/>
          <a:srcRect/>
          <a:stretch>
            <a:fillRect/>
          </a:stretch>
        </p:blipFill>
        <p:spPr bwMode="auto">
          <a:xfrm>
            <a:off x="2438400" y="3352800"/>
            <a:ext cx="4064000" cy="228600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3505200" y="4495800"/>
            <a:ext cx="2000250" cy="173736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Apprenticing [2]</a:t>
            </a:r>
            <a:endParaRPr lang="en-US" dirty="0"/>
          </a:p>
        </p:txBody>
      </p:sp>
      <p:sp>
        <p:nvSpPr>
          <p:cNvPr id="3" name="Content Placeholder 2"/>
          <p:cNvSpPr>
            <a:spLocks noGrp="1"/>
          </p:cNvSpPr>
          <p:nvPr>
            <p:ph idx="1"/>
          </p:nvPr>
        </p:nvSpPr>
        <p:spPr>
          <a:xfrm>
            <a:off x="457200" y="1600200"/>
            <a:ext cx="8229600" cy="2743199"/>
          </a:xfrm>
        </p:spPr>
        <p:txBody>
          <a:bodyPr/>
          <a:lstStyle/>
          <a:p>
            <a:r>
              <a:rPr lang="en-US" sz="2600" i="1" dirty="0" smtClean="0"/>
              <a:t>"Nobody can talk better about what they do and why they do it than they can </a:t>
            </a:r>
            <a:r>
              <a:rPr lang="en-US" sz="2600" i="1" dirty="0" smtClean="0">
                <a:solidFill>
                  <a:srgbClr val="C00000"/>
                </a:solidFill>
              </a:rPr>
              <a:t>while in the middle of doing it</a:t>
            </a:r>
            <a:r>
              <a:rPr lang="en-US" sz="2600" i="1" dirty="0" smtClean="0"/>
              <a:t>." </a:t>
            </a:r>
          </a:p>
          <a:p>
            <a:pPr algn="r">
              <a:buNone/>
            </a:pPr>
            <a:r>
              <a:rPr lang="en-US" sz="2600" dirty="0" smtClean="0"/>
              <a:t>-- Beyer and </a:t>
            </a:r>
            <a:r>
              <a:rPr lang="en-US" sz="2600" dirty="0" err="1" smtClean="0"/>
              <a:t>Holtzblatt</a:t>
            </a:r>
            <a:endParaRPr lang="en-US" sz="2600" dirty="0" smtClean="0"/>
          </a:p>
          <a:p>
            <a:pPr>
              <a:buFont typeface="Arial" pitchFamily="34" charset="0"/>
              <a:buChar char="•"/>
            </a:pPr>
            <a:r>
              <a:rPr lang="en-US" sz="2600" dirty="0" smtClean="0"/>
              <a:t>The requirements analyst </a:t>
            </a:r>
            <a:r>
              <a:rPr lang="en-US" sz="2600" i="1" dirty="0" smtClean="0">
                <a:solidFill>
                  <a:srgbClr val="C00000"/>
                </a:solidFill>
              </a:rPr>
              <a:t>learns the work while sitting at the user's desk</a:t>
            </a:r>
            <a:r>
              <a:rPr lang="en-US" sz="2600" dirty="0" smtClean="0"/>
              <a:t>. Sometimes models of the work are built while learning it.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Observing Structures and Patterns</a:t>
            </a:r>
            <a:endParaRPr lang="en-US" dirty="0"/>
          </a:p>
        </p:txBody>
      </p:sp>
      <p:sp>
        <p:nvSpPr>
          <p:cNvPr id="3" name="Content Placeholder 2"/>
          <p:cNvSpPr>
            <a:spLocks noGrp="1"/>
          </p:cNvSpPr>
          <p:nvPr>
            <p:ph idx="1"/>
          </p:nvPr>
        </p:nvSpPr>
        <p:spPr>
          <a:xfrm>
            <a:off x="2286000" y="1600200"/>
            <a:ext cx="6400800" cy="4419600"/>
          </a:xfrm>
        </p:spPr>
        <p:txBody>
          <a:bodyPr/>
          <a:lstStyle/>
          <a:p>
            <a:r>
              <a:rPr lang="en-US" sz="2600" dirty="0" smtClean="0"/>
              <a:t>By </a:t>
            </a:r>
            <a:r>
              <a:rPr lang="en-US" sz="2600" i="1" dirty="0" smtClean="0">
                <a:solidFill>
                  <a:srgbClr val="C00000"/>
                </a:solidFill>
              </a:rPr>
              <a:t>seeing the users at work</a:t>
            </a:r>
            <a:r>
              <a:rPr lang="en-US" sz="2600" dirty="0" smtClean="0"/>
              <a:t> over a period of time, you can determine an abstract structure or a pattern to the work.</a:t>
            </a:r>
          </a:p>
          <a:p>
            <a:r>
              <a:rPr lang="en-US" sz="2600" dirty="0" smtClean="0"/>
              <a:t>The structure is </a:t>
            </a:r>
            <a:r>
              <a:rPr lang="en-US" sz="2600" i="1" dirty="0" smtClean="0">
                <a:solidFill>
                  <a:srgbClr val="C00000"/>
                </a:solidFill>
              </a:rPr>
              <a:t>a framework</a:t>
            </a:r>
            <a:r>
              <a:rPr lang="en-US" sz="2600" dirty="0" smtClean="0"/>
              <a:t> for the user to do his </a:t>
            </a:r>
            <a:r>
              <a:rPr lang="en-US" sz="2600" u="sng" dirty="0" smtClean="0"/>
              <a:t>task</a:t>
            </a:r>
            <a:r>
              <a:rPr lang="en-US" sz="2600" dirty="0" smtClean="0"/>
              <a:t> for the normal cases, although it also supports improvisation to handle the exceptions.</a:t>
            </a:r>
          </a:p>
          <a:p>
            <a:r>
              <a:rPr lang="en-US" sz="2600" dirty="0" smtClean="0"/>
              <a:t>Once you have observed the structure, </a:t>
            </a:r>
            <a:r>
              <a:rPr lang="en-US" sz="2600" i="1" dirty="0" smtClean="0">
                <a:solidFill>
                  <a:srgbClr val="C00000"/>
                </a:solidFill>
              </a:rPr>
              <a:t>look for patterns</a:t>
            </a:r>
            <a:r>
              <a:rPr lang="en-US" sz="2600" dirty="0" smtClean="0"/>
              <a:t>. Does this structure match, or almost match, another structure?</a:t>
            </a:r>
            <a:endParaRPr lang="en-US" sz="2600" dirty="0"/>
          </a:p>
        </p:txBody>
      </p:sp>
      <p:pic>
        <p:nvPicPr>
          <p:cNvPr id="2050" name="Picture 2" descr="http://cdn.toonvectors.com/images/35/12470/toonvectors-12470-140.jpg"/>
          <p:cNvPicPr>
            <a:picLocks noChangeAspect="1" noChangeArrowheads="1"/>
          </p:cNvPicPr>
          <p:nvPr/>
        </p:nvPicPr>
        <p:blipFill>
          <a:blip r:embed="rId2" cstate="print"/>
          <a:srcRect/>
          <a:stretch>
            <a:fillRect/>
          </a:stretch>
        </p:blipFill>
        <p:spPr bwMode="auto">
          <a:xfrm>
            <a:off x="685800" y="3657600"/>
            <a:ext cx="1333500" cy="1333501"/>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Interface Analysis [4]</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User interface (UI) analysis</a:t>
            </a:r>
            <a:r>
              <a:rPr lang="en-US" sz="2200" dirty="0" smtClean="0"/>
              <a:t> is an independent elicitation technique in which you </a:t>
            </a:r>
            <a:r>
              <a:rPr lang="en-US" sz="2200" u="sng" dirty="0" smtClean="0"/>
              <a:t>study existing systems</a:t>
            </a:r>
            <a:r>
              <a:rPr lang="en-US" sz="2200" dirty="0" smtClean="0"/>
              <a:t> to discover user and functional requirements.</a:t>
            </a:r>
          </a:p>
          <a:p>
            <a:r>
              <a:rPr lang="en-US" sz="2200" dirty="0" smtClean="0"/>
              <a:t>It’s best to interact with the </a:t>
            </a:r>
            <a:r>
              <a:rPr lang="en-US" sz="2200" i="1" dirty="0" smtClean="0">
                <a:solidFill>
                  <a:srgbClr val="C00000"/>
                </a:solidFill>
              </a:rPr>
              <a:t>existing systems</a:t>
            </a:r>
            <a:r>
              <a:rPr lang="en-US" sz="2200" dirty="0" smtClean="0"/>
              <a:t> directly, but if necessary you can use </a:t>
            </a:r>
            <a:r>
              <a:rPr lang="en-US" sz="2200" i="1" dirty="0" smtClean="0">
                <a:solidFill>
                  <a:srgbClr val="C00000"/>
                </a:solidFill>
              </a:rPr>
              <a:t>screen shots</a:t>
            </a:r>
            <a:r>
              <a:rPr lang="en-US" sz="2200" dirty="0" smtClean="0"/>
              <a:t>.</a:t>
            </a:r>
          </a:p>
          <a:p>
            <a:r>
              <a:rPr lang="en-US" sz="2200" i="1" dirty="0" smtClean="0">
                <a:solidFill>
                  <a:srgbClr val="C00000"/>
                </a:solidFill>
              </a:rPr>
              <a:t>User manuals</a:t>
            </a:r>
            <a:r>
              <a:rPr lang="en-US" sz="2200" dirty="0" smtClean="0"/>
              <a:t> for purchased packaged-software implementations often contain screen shots that will work fine as a starting point.</a:t>
            </a:r>
          </a:p>
          <a:p>
            <a:r>
              <a:rPr lang="en-US" sz="2200" dirty="0" smtClean="0"/>
              <a:t>If there is </a:t>
            </a:r>
            <a:r>
              <a:rPr lang="en-US" sz="2200" i="1" dirty="0" smtClean="0">
                <a:solidFill>
                  <a:srgbClr val="C00000"/>
                </a:solidFill>
              </a:rPr>
              <a:t>no existing system</a:t>
            </a:r>
            <a:r>
              <a:rPr lang="en-US" sz="2200" dirty="0" smtClean="0"/>
              <a:t>, you might be able to look at user interfaces of </a:t>
            </a:r>
            <a:r>
              <a:rPr lang="en-US" sz="2200" u="sng" dirty="0" smtClean="0"/>
              <a:t>similar products</a:t>
            </a:r>
            <a:r>
              <a:rPr lang="en-US" sz="2200" dirty="0" smtClean="0"/>
              <a:t>.</a:t>
            </a:r>
          </a:p>
          <a:p>
            <a:endParaRPr lang="en-US" sz="2200" dirty="0"/>
          </a:p>
        </p:txBody>
      </p:sp>
      <p:pic>
        <p:nvPicPr>
          <p:cNvPr id="4" name="Picture 5" descr="https://www.user.com.sg/wp-content/uploads/2017/08/user-interface.png"/>
          <p:cNvPicPr>
            <a:picLocks noChangeAspect="1" noChangeArrowheads="1"/>
          </p:cNvPicPr>
          <p:nvPr/>
        </p:nvPicPr>
        <p:blipFill>
          <a:blip r:embed="rId2" cstate="print"/>
          <a:srcRect/>
          <a:stretch>
            <a:fillRect/>
          </a:stretch>
        </p:blipFill>
        <p:spPr bwMode="auto">
          <a:xfrm>
            <a:off x="5257800" y="4953000"/>
            <a:ext cx="2438400" cy="137160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Interface Analysis</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Interface analysis</a:t>
            </a:r>
            <a:r>
              <a:rPr lang="en-US" sz="2400" dirty="0" smtClean="0"/>
              <a:t> is an independent elicitation technique that entails examining the systems to which your system connects.</a:t>
            </a:r>
          </a:p>
          <a:p>
            <a:r>
              <a:rPr lang="en-US" sz="2400" dirty="0" smtClean="0"/>
              <a:t>System interface analysis reveals </a:t>
            </a:r>
            <a:r>
              <a:rPr lang="en-US" sz="2400" i="1" dirty="0" smtClean="0">
                <a:solidFill>
                  <a:srgbClr val="C00000"/>
                </a:solidFill>
              </a:rPr>
              <a:t>functional requirements</a:t>
            </a:r>
            <a:r>
              <a:rPr lang="en-US" sz="2400" dirty="0" smtClean="0"/>
              <a:t> regarding the </a:t>
            </a:r>
            <a:r>
              <a:rPr lang="en-US" sz="2400" u="sng" dirty="0" smtClean="0"/>
              <a:t>exchange of data and services between systems</a:t>
            </a:r>
            <a:r>
              <a:rPr lang="en-US" sz="2400" dirty="0" smtClean="0"/>
              <a:t>.</a:t>
            </a:r>
          </a:p>
          <a:p>
            <a:endParaRPr lang="en-US" sz="2400" dirty="0"/>
          </a:p>
        </p:txBody>
      </p:sp>
      <p:pic>
        <p:nvPicPr>
          <p:cNvPr id="4" name="Picture 6" descr="https://www.ibm.com/developerworks/library/ar-introocdv1/figure3.gif"/>
          <p:cNvPicPr>
            <a:picLocks noChangeAspect="1" noChangeArrowheads="1"/>
          </p:cNvPicPr>
          <p:nvPr/>
        </p:nvPicPr>
        <p:blipFill>
          <a:blip r:embed="rId2" cstate="print"/>
          <a:srcRect/>
          <a:stretch>
            <a:fillRect/>
          </a:stretch>
        </p:blipFill>
        <p:spPr bwMode="auto">
          <a:xfrm>
            <a:off x="1981200" y="3429000"/>
            <a:ext cx="4667250" cy="2828925"/>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Reverse </a:t>
            </a:r>
            <a:r>
              <a:rPr lang="en-US" dirty="0" smtClean="0"/>
              <a:t>Engineering [1]</a:t>
            </a:r>
            <a:endParaRPr lang="en-US" dirty="0"/>
          </a:p>
        </p:txBody>
      </p:sp>
      <p:sp>
        <p:nvSpPr>
          <p:cNvPr id="3" name="Content Placeholder 2"/>
          <p:cNvSpPr>
            <a:spLocks noGrp="1"/>
          </p:cNvSpPr>
          <p:nvPr>
            <p:ph idx="1"/>
          </p:nvPr>
        </p:nvSpPr>
        <p:spPr/>
        <p:txBody>
          <a:bodyPr/>
          <a:lstStyle/>
          <a:p>
            <a:r>
              <a:rPr lang="en-US" sz="2800" dirty="0" smtClean="0"/>
              <a:t>Figuring </a:t>
            </a:r>
            <a:r>
              <a:rPr lang="en-US" sz="2800" dirty="0" smtClean="0"/>
              <a:t>out what the system does by taking it apart.</a:t>
            </a:r>
            <a:endParaRPr lang="en-US" sz="2800" dirty="0"/>
          </a:p>
        </p:txBody>
      </p:sp>
      <p:pic>
        <p:nvPicPr>
          <p:cNvPr id="1026" name="Picture 2" descr="https://www.sansmachining.com/wp-content/uploads/2021/02/2e9ed0fae1a184ef5f2852eb7524b95d.jpg"/>
          <p:cNvPicPr>
            <a:picLocks noChangeAspect="1" noChangeArrowheads="1"/>
          </p:cNvPicPr>
          <p:nvPr/>
        </p:nvPicPr>
        <p:blipFill>
          <a:blip r:embed="rId2" cstate="print"/>
          <a:srcRect/>
          <a:stretch>
            <a:fillRect/>
          </a:stretch>
        </p:blipFill>
        <p:spPr bwMode="auto">
          <a:xfrm>
            <a:off x="3124200" y="3276600"/>
            <a:ext cx="3154680" cy="236601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Requirements</a:t>
            </a:r>
            <a:endParaRPr lang="en-US" dirty="0"/>
          </a:p>
        </p:txBody>
      </p:sp>
      <p:sp>
        <p:nvSpPr>
          <p:cNvPr id="3" name="Content Placeholder 2"/>
          <p:cNvSpPr>
            <a:spLocks noGrp="1"/>
          </p:cNvSpPr>
          <p:nvPr>
            <p:ph idx="1"/>
          </p:nvPr>
        </p:nvSpPr>
        <p:spPr/>
        <p:txBody>
          <a:bodyPr/>
          <a:lstStyle/>
          <a:p>
            <a:r>
              <a:rPr lang="en-US" dirty="0" smtClean="0"/>
              <a:t>Which </a:t>
            </a:r>
            <a:r>
              <a:rPr lang="en-US" i="1" dirty="0" smtClean="0">
                <a:solidFill>
                  <a:srgbClr val="C00000"/>
                </a:solidFill>
              </a:rPr>
              <a:t>types of requirements</a:t>
            </a:r>
            <a:r>
              <a:rPr lang="en-US" dirty="0" smtClean="0"/>
              <a:t> can be discovered using the elicitation techniques?</a:t>
            </a:r>
          </a:p>
          <a:p>
            <a:pPr lvl="1"/>
            <a:r>
              <a:rPr lang="en-US" dirty="0" smtClean="0"/>
              <a:t>Business requirements.</a:t>
            </a:r>
          </a:p>
          <a:p>
            <a:pPr lvl="1"/>
            <a:r>
              <a:rPr lang="en-US" dirty="0" smtClean="0"/>
              <a:t>User requirements.</a:t>
            </a:r>
          </a:p>
          <a:p>
            <a:pPr lvl="1"/>
            <a:r>
              <a:rPr lang="en-US" dirty="0" smtClean="0"/>
              <a:t>Software requirements.</a:t>
            </a:r>
            <a:endParaRPr lang="en-US" dirty="0"/>
          </a:p>
        </p:txBody>
      </p:sp>
      <p:pic>
        <p:nvPicPr>
          <p:cNvPr id="1032" name="Picture 8" descr="https://i.dlpng.com/static/png/1636823-question-mark-png-any-question-png-1500_1500_preview.png"/>
          <p:cNvPicPr>
            <a:picLocks noChangeAspect="1" noChangeArrowheads="1"/>
          </p:cNvPicPr>
          <p:nvPr/>
        </p:nvPicPr>
        <p:blipFill>
          <a:blip r:embed="rId2" cstate="print"/>
          <a:srcRect/>
          <a:stretch>
            <a:fillRect/>
          </a:stretch>
        </p:blipFill>
        <p:spPr bwMode="auto">
          <a:xfrm>
            <a:off x="5029200" y="3124200"/>
            <a:ext cx="2743332" cy="2743332"/>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Are You Done?</a:t>
            </a:r>
            <a:endParaRPr lang="en-US" dirty="0"/>
          </a:p>
        </p:txBody>
      </p:sp>
      <p:sp>
        <p:nvSpPr>
          <p:cNvPr id="3" name="Content Placeholder 2"/>
          <p:cNvSpPr>
            <a:spLocks noGrp="1"/>
          </p:cNvSpPr>
          <p:nvPr>
            <p:ph idx="1"/>
          </p:nvPr>
        </p:nvSpPr>
        <p:spPr>
          <a:xfrm>
            <a:off x="457200" y="1600200"/>
            <a:ext cx="6096000" cy="4525963"/>
          </a:xfrm>
        </p:spPr>
        <p:txBody>
          <a:bodyPr/>
          <a:lstStyle/>
          <a:p>
            <a:r>
              <a:rPr lang="en-US" sz="2400" dirty="0" smtClean="0"/>
              <a:t>How do you know </a:t>
            </a:r>
            <a:r>
              <a:rPr lang="en-US" sz="2400" i="1" dirty="0" smtClean="0">
                <a:solidFill>
                  <a:srgbClr val="C00000"/>
                </a:solidFill>
              </a:rPr>
              <a:t>when</a:t>
            </a:r>
            <a:r>
              <a:rPr lang="en-US" sz="2400" dirty="0" smtClean="0"/>
              <a:t> you’re done?</a:t>
            </a:r>
          </a:p>
          <a:p>
            <a:pPr lvl="1"/>
            <a:r>
              <a:rPr lang="en-US" sz="2000" dirty="0" smtClean="0"/>
              <a:t>The users can’t think of any more use cases or user stories.</a:t>
            </a:r>
          </a:p>
          <a:p>
            <a:pPr lvl="1"/>
            <a:r>
              <a:rPr lang="en-US" sz="2000" dirty="0" smtClean="0"/>
              <a:t>Users propose new scenarios, but they don’t lead to any new functional requirements.</a:t>
            </a:r>
          </a:p>
        </p:txBody>
      </p:sp>
      <p:pic>
        <p:nvPicPr>
          <p:cNvPr id="1032" name="Picture 8" descr="https://i.dlpng.com/static/png/1636823-question-mark-png-any-question-png-1500_1500_preview.png"/>
          <p:cNvPicPr>
            <a:picLocks noChangeAspect="1" noChangeArrowheads="1"/>
          </p:cNvPicPr>
          <p:nvPr/>
        </p:nvPicPr>
        <p:blipFill>
          <a:blip r:embed="rId2" cstate="print"/>
          <a:srcRect/>
          <a:stretch>
            <a:fillRect/>
          </a:stretch>
        </p:blipFill>
        <p:spPr bwMode="auto">
          <a:xfrm>
            <a:off x="6019800" y="1219200"/>
            <a:ext cx="2743332" cy="2743332"/>
          </a:xfrm>
          <a:prstGeom prst="rect">
            <a:avLst/>
          </a:prstGeom>
          <a:noFill/>
        </p:spPr>
      </p:pic>
      <p:sp>
        <p:nvSpPr>
          <p:cNvPr id="5" name="Content Placeholder 2"/>
          <p:cNvSpPr txBox="1">
            <a:spLocks/>
          </p:cNvSpPr>
          <p:nvPr/>
        </p:nvSpPr>
        <p:spPr bwMode="auto">
          <a:xfrm>
            <a:off x="381000" y="4114800"/>
            <a:ext cx="8229600" cy="1905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smtClean="0">
                <a:ln>
                  <a:noFill/>
                </a:ln>
                <a:solidFill>
                  <a:schemeClr val="tx1"/>
                </a:solidFill>
                <a:effectLst/>
                <a:uLnTx/>
                <a:uFillTx/>
                <a:latin typeface="+mn-lt"/>
                <a:ea typeface="+mn-ea"/>
                <a:cs typeface="+mn-cs"/>
              </a:rPr>
              <a:t>Despite your best efforts to discover all the requirements, you won’t, so expect to make changes as construction proceeds.</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smtClean="0">
                <a:ln>
                  <a:noFill/>
                </a:ln>
                <a:solidFill>
                  <a:schemeClr val="tx1"/>
                </a:solidFill>
                <a:effectLst/>
                <a:uLnTx/>
                <a:uFillTx/>
                <a:latin typeface="+mn-lt"/>
                <a:ea typeface="+mn-ea"/>
                <a:cs typeface="+mn-cs"/>
              </a:rPr>
              <a:t>your goal is to accumulate a </a:t>
            </a:r>
            <a:r>
              <a:rPr kumimoji="0" lang="en-US" sz="2200" b="0" i="1" u="none" strike="noStrike" kern="1200" cap="none" spc="0" normalizeH="0" baseline="0" noProof="0" dirty="0" smtClean="0">
                <a:ln>
                  <a:noFill/>
                </a:ln>
                <a:solidFill>
                  <a:srgbClr val="C00000"/>
                </a:solidFill>
                <a:effectLst/>
                <a:uLnTx/>
                <a:uFillTx/>
                <a:latin typeface="+mn-lt"/>
                <a:ea typeface="+mn-ea"/>
                <a:cs typeface="+mn-cs"/>
              </a:rPr>
              <a:t>shared understanding</a:t>
            </a:r>
            <a:r>
              <a:rPr kumimoji="0" lang="en-US" sz="2200" b="0" i="0" u="none" strike="noStrike" kern="1200" cap="none" spc="0" normalizeH="0" baseline="0" noProof="0" dirty="0" smtClean="0">
                <a:ln>
                  <a:noFill/>
                </a:ln>
                <a:solidFill>
                  <a:schemeClr val="tx1"/>
                </a:solidFill>
                <a:effectLst/>
                <a:uLnTx/>
                <a:uFillTx/>
                <a:latin typeface="+mn-lt"/>
                <a:ea typeface="+mn-ea"/>
                <a:cs typeface="+mn-cs"/>
              </a:rPr>
              <a:t> of requirements that is </a:t>
            </a:r>
            <a:r>
              <a:rPr kumimoji="0" lang="en-US" sz="2200" b="0" i="0" u="sng" strike="noStrike" kern="1200" cap="none" spc="0" normalizeH="0" baseline="0" noProof="0" dirty="0" smtClean="0">
                <a:ln>
                  <a:noFill/>
                </a:ln>
                <a:solidFill>
                  <a:schemeClr val="tx1"/>
                </a:solidFill>
                <a:effectLst/>
                <a:uLnTx/>
                <a:uFillTx/>
                <a:latin typeface="+mn-lt"/>
                <a:ea typeface="+mn-ea"/>
                <a:cs typeface="+mn-cs"/>
              </a:rPr>
              <a:t>good enough</a:t>
            </a:r>
            <a:r>
              <a:rPr kumimoji="0" lang="en-US" sz="2200" b="0" i="0" u="none" strike="noStrike" kern="1200" cap="none" spc="0" normalizeH="0" baseline="0" noProof="0" dirty="0" smtClean="0">
                <a:ln>
                  <a:noFill/>
                </a:ln>
                <a:solidFill>
                  <a:schemeClr val="tx1"/>
                </a:solidFill>
                <a:effectLst/>
                <a:uLnTx/>
                <a:uFillTx/>
                <a:latin typeface="+mn-lt"/>
                <a:ea typeface="+mn-ea"/>
                <a:cs typeface="+mn-cs"/>
              </a:rPr>
              <a:t> to let construction of the next release or increment proceed at an </a:t>
            </a:r>
            <a:r>
              <a:rPr kumimoji="0" lang="en-US" sz="2200" b="0" i="0" u="sng" strike="noStrike" kern="1200" cap="none" spc="0" normalizeH="0" baseline="0" noProof="0" dirty="0" smtClean="0">
                <a:ln>
                  <a:noFill/>
                </a:ln>
                <a:solidFill>
                  <a:schemeClr val="tx1"/>
                </a:solidFill>
                <a:effectLst/>
                <a:uLnTx/>
                <a:uFillTx/>
                <a:latin typeface="+mn-lt"/>
                <a:ea typeface="+mn-ea"/>
                <a:cs typeface="+mn-cs"/>
              </a:rPr>
              <a:t>acceptable level of risk</a:t>
            </a:r>
            <a:r>
              <a:rPr kumimoji="0" lang="en-US" sz="2200" b="0" i="0" u="none" strike="noStrike" kern="1200" cap="none" spc="0" normalizeH="0" baseline="0" noProof="0" dirty="0" smtClean="0">
                <a:ln>
                  <a:noFill/>
                </a:ln>
                <a:solidFill>
                  <a:schemeClr val="tx1"/>
                </a:solidFill>
                <a:effectLst/>
                <a:uLnTx/>
                <a:uFillTx/>
                <a:latin typeface="+mn-lt"/>
                <a:ea typeface="+mn-ea"/>
                <a:cs typeface="+mn-cs"/>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a:t>
            </a:r>
            <a:r>
              <a:rPr lang="en-US" smtClean="0"/>
              <a:t>You &amp; See 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9225</TotalTime>
  <Words>1606</Words>
  <Application>Microsoft Office PowerPoint</Application>
  <PresentationFormat>On-screen Show (4:3)</PresentationFormat>
  <Paragraphs>156</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Software Requirements Elicitation</vt:lpstr>
      <vt:lpstr>Objectives</vt:lpstr>
      <vt:lpstr>Contents</vt:lpstr>
      <vt:lpstr>References</vt:lpstr>
      <vt:lpstr>Software Requirements Elicitation</vt:lpstr>
      <vt:lpstr>Requirements Sources [1]</vt:lpstr>
      <vt:lpstr>Slide 7</vt:lpstr>
      <vt:lpstr>Interviewing the Stakeholders [2]</vt:lpstr>
      <vt:lpstr>Conducting the Interview</vt:lpstr>
      <vt:lpstr>Keep Samples or Copies of Artifacts</vt:lpstr>
      <vt:lpstr>Guidelines – 1</vt:lpstr>
      <vt:lpstr>Guidelines – 2</vt:lpstr>
      <vt:lpstr>The Interview Template (I) [3]</vt:lpstr>
      <vt:lpstr>The Interview Template (II)</vt:lpstr>
      <vt:lpstr>The Interview Template (III)</vt:lpstr>
      <vt:lpstr>Questionnaires [4]</vt:lpstr>
      <vt:lpstr>Group Meetings, Focus Groups [4]</vt:lpstr>
      <vt:lpstr>Workshops</vt:lpstr>
      <vt:lpstr>Personas [2]</vt:lpstr>
      <vt:lpstr>Brainstorming</vt:lpstr>
      <vt:lpstr>Slide 21</vt:lpstr>
      <vt:lpstr>Document Archeology [2]</vt:lpstr>
      <vt:lpstr>Other Documents</vt:lpstr>
      <vt:lpstr>Slide 24</vt:lpstr>
      <vt:lpstr>Apprenticing [2]</vt:lpstr>
      <vt:lpstr>Observing Structures and Patterns</vt:lpstr>
      <vt:lpstr>User Interface Analysis [4]</vt:lpstr>
      <vt:lpstr>System Interface Analysis</vt:lpstr>
      <vt:lpstr>Reverse Engineering [1]</vt:lpstr>
      <vt:lpstr>Slide 30</vt:lpstr>
      <vt:lpstr>Types of Requirements</vt:lpstr>
      <vt:lpstr>When Are You Done?</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4206</cp:revision>
  <dcterms:created xsi:type="dcterms:W3CDTF">2007-10-06T08:25:13Z</dcterms:created>
  <dcterms:modified xsi:type="dcterms:W3CDTF">2025-09-07T19:40:06Z</dcterms:modified>
</cp:coreProperties>
</file>