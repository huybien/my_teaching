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handoutMasterIdLst>
    <p:handoutMasterId r:id="rId21"/>
  </p:handoutMasterIdLst>
  <p:sldIdLst>
    <p:sldId id="256" r:id="rId2"/>
    <p:sldId id="446" r:id="rId3"/>
    <p:sldId id="639" r:id="rId4"/>
    <p:sldId id="358" r:id="rId5"/>
    <p:sldId id="645" r:id="rId6"/>
    <p:sldId id="588" r:id="rId7"/>
    <p:sldId id="662" r:id="rId8"/>
    <p:sldId id="589" r:id="rId9"/>
    <p:sldId id="590" r:id="rId10"/>
    <p:sldId id="591" r:id="rId11"/>
    <p:sldId id="592" r:id="rId12"/>
    <p:sldId id="649" r:id="rId13"/>
    <p:sldId id="648" r:id="rId14"/>
    <p:sldId id="647" r:id="rId15"/>
    <p:sldId id="644" r:id="rId16"/>
    <p:sldId id="593" r:id="rId17"/>
    <p:sldId id="661" r:id="rId18"/>
    <p:sldId id="359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81" autoAdjust="0"/>
    <p:restoredTop sz="94667" autoAdjust="0"/>
  </p:normalViewPr>
  <p:slideViewPr>
    <p:cSldViewPr>
      <p:cViewPr>
        <p:scale>
          <a:sx n="50" d="100"/>
          <a:sy n="50" d="100"/>
        </p:scale>
        <p:origin x="-158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81D41A-8B58-4E39-BD1F-17948397F685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8EDB73-0969-4F9E-B824-EDDA8385DEB1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Find the conceptual classes</a:t>
          </a:r>
          <a:endParaRPr lang="en-US" dirty="0"/>
        </a:p>
      </dgm:t>
    </dgm:pt>
    <dgm:pt modelId="{7B2914A6-0E86-43D1-A03D-57986806EA29}" type="parTrans" cxnId="{DB4DBC43-D261-41C3-AEDA-66BF08104201}">
      <dgm:prSet/>
      <dgm:spPr/>
      <dgm:t>
        <a:bodyPr/>
        <a:lstStyle/>
        <a:p>
          <a:endParaRPr lang="en-US"/>
        </a:p>
      </dgm:t>
    </dgm:pt>
    <dgm:pt modelId="{D8231C0D-6545-404F-BE80-A0BE0893C415}" type="sibTrans" cxnId="{DB4DBC43-D261-41C3-AEDA-66BF08104201}">
      <dgm:prSet/>
      <dgm:spPr/>
      <dgm:t>
        <a:bodyPr/>
        <a:lstStyle/>
        <a:p>
          <a:endParaRPr lang="en-US"/>
        </a:p>
      </dgm:t>
    </dgm:pt>
    <dgm:pt modelId="{C1F2D296-A2C9-49CB-88C0-982DC3CF23DA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Draw them as classes in a </a:t>
          </a:r>
          <a:r>
            <a:rPr lang="en-US" u="sng" dirty="0" smtClean="0"/>
            <a:t>UML class diagram</a:t>
          </a:r>
          <a:endParaRPr lang="en-US" u="sng" dirty="0"/>
        </a:p>
      </dgm:t>
    </dgm:pt>
    <dgm:pt modelId="{11BE6AF0-30FA-42BF-AF12-6670AFC0EB7C}" type="parTrans" cxnId="{436114E2-AD3F-4B8A-8423-076FB713E964}">
      <dgm:prSet/>
      <dgm:spPr/>
      <dgm:t>
        <a:bodyPr/>
        <a:lstStyle/>
        <a:p>
          <a:endParaRPr lang="en-US"/>
        </a:p>
      </dgm:t>
    </dgm:pt>
    <dgm:pt modelId="{CC7D1194-998B-439A-ADF2-3CBA7162F0BB}" type="sibTrans" cxnId="{436114E2-AD3F-4B8A-8423-076FB713E964}">
      <dgm:prSet/>
      <dgm:spPr/>
      <dgm:t>
        <a:bodyPr/>
        <a:lstStyle/>
        <a:p>
          <a:endParaRPr lang="en-US"/>
        </a:p>
      </dgm:t>
    </dgm:pt>
    <dgm:pt modelId="{2EC1EBEF-577E-41C1-880D-9FE86B40128A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Add associations and attributes.</a:t>
          </a:r>
          <a:endParaRPr lang="en-US" dirty="0"/>
        </a:p>
      </dgm:t>
    </dgm:pt>
    <dgm:pt modelId="{AD4D064F-FC59-4D63-B1DD-677A1620FF40}" type="parTrans" cxnId="{F26355E4-4644-4014-B490-28F2110B1762}">
      <dgm:prSet/>
      <dgm:spPr/>
      <dgm:t>
        <a:bodyPr/>
        <a:lstStyle/>
        <a:p>
          <a:endParaRPr lang="en-US"/>
        </a:p>
      </dgm:t>
    </dgm:pt>
    <dgm:pt modelId="{B2AB1378-9709-4D18-AC3E-CDA2C747140B}" type="sibTrans" cxnId="{F26355E4-4644-4014-B490-28F2110B1762}">
      <dgm:prSet/>
      <dgm:spPr/>
      <dgm:t>
        <a:bodyPr/>
        <a:lstStyle/>
        <a:p>
          <a:endParaRPr lang="en-US"/>
        </a:p>
      </dgm:t>
    </dgm:pt>
    <dgm:pt modelId="{F63BFAA6-4F44-4AFA-AF88-3FC2E4373772}">
      <dgm:prSet phldrT="[Text]" custT="1"/>
      <dgm:spPr/>
      <dgm:t>
        <a:bodyPr/>
        <a:lstStyle/>
        <a:p>
          <a:pPr algn="l"/>
          <a:r>
            <a:rPr lang="en-US" sz="1800" dirty="0" smtClean="0"/>
            <a:t>Listen to the core vocabulary and concepts that domain experts use.</a:t>
          </a:r>
          <a:endParaRPr lang="en-US" sz="1800" dirty="0"/>
        </a:p>
      </dgm:t>
    </dgm:pt>
    <dgm:pt modelId="{15015331-FC0E-42F6-9F36-C3BDB588A9B0}" type="parTrans" cxnId="{ED4E7D2A-4A62-4E3F-8B55-42E9508E445E}">
      <dgm:prSet/>
      <dgm:spPr/>
      <dgm:t>
        <a:bodyPr/>
        <a:lstStyle/>
        <a:p>
          <a:endParaRPr lang="en-US"/>
        </a:p>
      </dgm:t>
    </dgm:pt>
    <dgm:pt modelId="{206F2644-5ED6-411B-878D-8CE9CE0FD573}" type="sibTrans" cxnId="{ED4E7D2A-4A62-4E3F-8B55-42E9508E445E}">
      <dgm:prSet/>
      <dgm:spPr/>
      <dgm:t>
        <a:bodyPr/>
        <a:lstStyle/>
        <a:p>
          <a:endParaRPr lang="en-US"/>
        </a:p>
      </dgm:t>
    </dgm:pt>
    <dgm:pt modelId="{95E134CF-02A1-4648-B07C-98992C61A192}">
      <dgm:prSet phldrT="[Text]" custT="1"/>
      <dgm:spPr/>
      <dgm:t>
        <a:bodyPr/>
        <a:lstStyle/>
        <a:p>
          <a:pPr algn="l"/>
          <a:r>
            <a:rPr lang="en-US" sz="1800" dirty="0" smtClean="0"/>
            <a:t>Use noun phrase identification: Identify the nouns and noun phrases in textual descriptions of a domain</a:t>
          </a:r>
          <a:endParaRPr lang="en-US" sz="1800" dirty="0"/>
        </a:p>
      </dgm:t>
    </dgm:pt>
    <dgm:pt modelId="{F6B4AC76-BD86-4A7E-BC3C-89C6DDBB36D4}" type="parTrans" cxnId="{D2DF2222-C3B5-440F-93A5-C90B85984176}">
      <dgm:prSet/>
      <dgm:spPr/>
      <dgm:t>
        <a:bodyPr/>
        <a:lstStyle/>
        <a:p>
          <a:endParaRPr lang="en-US"/>
        </a:p>
      </dgm:t>
    </dgm:pt>
    <dgm:pt modelId="{405AF4D3-E22D-4F98-BD9E-94A91E4C69C2}" type="sibTrans" cxnId="{D2DF2222-C3B5-440F-93A5-C90B85984176}">
      <dgm:prSet/>
      <dgm:spPr/>
      <dgm:t>
        <a:bodyPr/>
        <a:lstStyle/>
        <a:p>
          <a:endParaRPr lang="en-US"/>
        </a:p>
      </dgm:t>
    </dgm:pt>
    <dgm:pt modelId="{929EA6E0-DAEB-4339-8881-9202EBFD56BD}">
      <dgm:prSet phldrT="[Text]" custT="1"/>
      <dgm:spPr/>
      <dgm:t>
        <a:bodyPr/>
        <a:lstStyle/>
        <a:p>
          <a:pPr algn="l"/>
          <a:r>
            <a:rPr lang="en-US" sz="1800" dirty="0" smtClean="0"/>
            <a:t>Reuse or modify existing models.</a:t>
          </a:r>
          <a:endParaRPr lang="en-US" sz="1800" dirty="0"/>
        </a:p>
      </dgm:t>
    </dgm:pt>
    <dgm:pt modelId="{363D84EA-3E1A-4DB1-BF2C-18C86EE21FA6}" type="parTrans" cxnId="{A9003957-C83F-4D4A-9D7D-28D6B1C42532}">
      <dgm:prSet/>
      <dgm:spPr/>
      <dgm:t>
        <a:bodyPr/>
        <a:lstStyle/>
        <a:p>
          <a:endParaRPr lang="en-US"/>
        </a:p>
      </dgm:t>
    </dgm:pt>
    <dgm:pt modelId="{9BB10BB7-210A-4CC3-AA2E-D550E0EBEF24}" type="sibTrans" cxnId="{A9003957-C83F-4D4A-9D7D-28D6B1C42532}">
      <dgm:prSet/>
      <dgm:spPr/>
      <dgm:t>
        <a:bodyPr/>
        <a:lstStyle/>
        <a:p>
          <a:endParaRPr lang="en-US"/>
        </a:p>
      </dgm:t>
    </dgm:pt>
    <dgm:pt modelId="{D10C7353-8782-416A-8B7B-D115A1F3B49B}" type="pres">
      <dgm:prSet presAssocID="{4781D41A-8B58-4E39-BD1F-17948397F68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4F110B7-B682-4D3E-A86E-41A0EE327382}" type="pres">
      <dgm:prSet presAssocID="{2EC1EBEF-577E-41C1-880D-9FE86B40128A}" presName="boxAndChildren" presStyleCnt="0"/>
      <dgm:spPr/>
    </dgm:pt>
    <dgm:pt modelId="{2666676E-616B-4529-99B4-F4E1FCC0CF8C}" type="pres">
      <dgm:prSet presAssocID="{2EC1EBEF-577E-41C1-880D-9FE86B40128A}" presName="parentTextBox" presStyleLbl="node1" presStyleIdx="0" presStyleCnt="3"/>
      <dgm:spPr/>
      <dgm:t>
        <a:bodyPr/>
        <a:lstStyle/>
        <a:p>
          <a:endParaRPr lang="en-US"/>
        </a:p>
      </dgm:t>
    </dgm:pt>
    <dgm:pt modelId="{E17FF32C-9B0F-444E-B49A-47BEC33ACE0C}" type="pres">
      <dgm:prSet presAssocID="{CC7D1194-998B-439A-ADF2-3CBA7162F0BB}" presName="sp" presStyleCnt="0"/>
      <dgm:spPr/>
    </dgm:pt>
    <dgm:pt modelId="{D5DDF765-FA54-4690-B368-E8A3923492B9}" type="pres">
      <dgm:prSet presAssocID="{C1F2D296-A2C9-49CB-88C0-982DC3CF23DA}" presName="arrowAndChildren" presStyleCnt="0"/>
      <dgm:spPr/>
    </dgm:pt>
    <dgm:pt modelId="{31DF4747-05B9-4F0A-A400-973FF8C3CC39}" type="pres">
      <dgm:prSet presAssocID="{C1F2D296-A2C9-49CB-88C0-982DC3CF23DA}" presName="parentTextArrow" presStyleLbl="node1" presStyleIdx="1" presStyleCnt="3"/>
      <dgm:spPr/>
      <dgm:t>
        <a:bodyPr/>
        <a:lstStyle/>
        <a:p>
          <a:endParaRPr lang="en-US"/>
        </a:p>
      </dgm:t>
    </dgm:pt>
    <dgm:pt modelId="{C00AFE47-A0E7-4BFD-B028-C640AAC51855}" type="pres">
      <dgm:prSet presAssocID="{D8231C0D-6545-404F-BE80-A0BE0893C415}" presName="sp" presStyleCnt="0"/>
      <dgm:spPr/>
    </dgm:pt>
    <dgm:pt modelId="{28C57988-814B-4ACC-A723-258ED5BE8061}" type="pres">
      <dgm:prSet presAssocID="{F68EDB73-0969-4F9E-B824-EDDA8385DEB1}" presName="arrowAndChildren" presStyleCnt="0"/>
      <dgm:spPr/>
    </dgm:pt>
    <dgm:pt modelId="{F11768D9-4445-450A-A2F0-7BDE26FACE6F}" type="pres">
      <dgm:prSet presAssocID="{F68EDB73-0969-4F9E-B824-EDDA8385DEB1}" presName="parentTextArrow" presStyleLbl="node1" presStyleIdx="1" presStyleCnt="3"/>
      <dgm:spPr/>
      <dgm:t>
        <a:bodyPr/>
        <a:lstStyle/>
        <a:p>
          <a:endParaRPr lang="en-US"/>
        </a:p>
      </dgm:t>
    </dgm:pt>
    <dgm:pt modelId="{77D99714-DE3D-4966-A064-D7479F814EFA}" type="pres">
      <dgm:prSet presAssocID="{F68EDB73-0969-4F9E-B824-EDDA8385DEB1}" presName="arrow" presStyleLbl="node1" presStyleIdx="2" presStyleCnt="3" custScaleY="249116"/>
      <dgm:spPr/>
      <dgm:t>
        <a:bodyPr/>
        <a:lstStyle/>
        <a:p>
          <a:endParaRPr lang="en-US"/>
        </a:p>
      </dgm:t>
    </dgm:pt>
    <dgm:pt modelId="{4D2A4710-40D1-452E-A98B-887767F9AF8F}" type="pres">
      <dgm:prSet presAssocID="{F68EDB73-0969-4F9E-B824-EDDA8385DEB1}" presName="descendantArrow" presStyleCnt="0"/>
      <dgm:spPr/>
    </dgm:pt>
    <dgm:pt modelId="{2F6F2B40-068C-4457-B75D-B8B79D3DD0FD}" type="pres">
      <dgm:prSet presAssocID="{929EA6E0-DAEB-4339-8881-9202EBFD56BD}" presName="childTextArrow" presStyleLbl="fgAccFollowNode1" presStyleIdx="0" presStyleCnt="3" custScaleY="36707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2DB1AA-FF1E-46D5-8555-83AE79733C4A}" type="pres">
      <dgm:prSet presAssocID="{F63BFAA6-4F44-4AFA-AF88-3FC2E4373772}" presName="childTextArrow" presStyleLbl="fgAccFollowNode1" presStyleIdx="1" presStyleCnt="3" custScaleY="36707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9E664-AEDE-4297-9756-89A437151F78}" type="pres">
      <dgm:prSet presAssocID="{95E134CF-02A1-4648-B07C-98992C61A192}" presName="childTextArrow" presStyleLbl="fgAccFollowNode1" presStyleIdx="2" presStyleCnt="3" custScaleY="36707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6114E2-AD3F-4B8A-8423-076FB713E964}" srcId="{4781D41A-8B58-4E39-BD1F-17948397F685}" destId="{C1F2D296-A2C9-49CB-88C0-982DC3CF23DA}" srcOrd="1" destOrd="0" parTransId="{11BE6AF0-30FA-42BF-AF12-6670AFC0EB7C}" sibTransId="{CC7D1194-998B-439A-ADF2-3CBA7162F0BB}"/>
    <dgm:cxn modelId="{302EBDB9-6B38-41CF-BEAC-6065C76E9C20}" type="presOf" srcId="{4781D41A-8B58-4E39-BD1F-17948397F685}" destId="{D10C7353-8782-416A-8B7B-D115A1F3B49B}" srcOrd="0" destOrd="0" presId="urn:microsoft.com/office/officeart/2005/8/layout/process4"/>
    <dgm:cxn modelId="{A4639817-5DA0-4D37-BAEE-3D2B440CE587}" type="presOf" srcId="{F68EDB73-0969-4F9E-B824-EDDA8385DEB1}" destId="{77D99714-DE3D-4966-A064-D7479F814EFA}" srcOrd="1" destOrd="0" presId="urn:microsoft.com/office/officeart/2005/8/layout/process4"/>
    <dgm:cxn modelId="{BF71C787-333F-48A4-A8B9-0540AF044402}" type="presOf" srcId="{95E134CF-02A1-4648-B07C-98992C61A192}" destId="{C689E664-AEDE-4297-9756-89A437151F78}" srcOrd="0" destOrd="0" presId="urn:microsoft.com/office/officeart/2005/8/layout/process4"/>
    <dgm:cxn modelId="{27A59540-F0BA-48D7-A79E-C982CAC9673C}" type="presOf" srcId="{C1F2D296-A2C9-49CB-88C0-982DC3CF23DA}" destId="{31DF4747-05B9-4F0A-A400-973FF8C3CC39}" srcOrd="0" destOrd="0" presId="urn:microsoft.com/office/officeart/2005/8/layout/process4"/>
    <dgm:cxn modelId="{A9003957-C83F-4D4A-9D7D-28D6B1C42532}" srcId="{F68EDB73-0969-4F9E-B824-EDDA8385DEB1}" destId="{929EA6E0-DAEB-4339-8881-9202EBFD56BD}" srcOrd="0" destOrd="0" parTransId="{363D84EA-3E1A-4DB1-BF2C-18C86EE21FA6}" sibTransId="{9BB10BB7-210A-4CC3-AA2E-D550E0EBEF24}"/>
    <dgm:cxn modelId="{DB4DBC43-D261-41C3-AEDA-66BF08104201}" srcId="{4781D41A-8B58-4E39-BD1F-17948397F685}" destId="{F68EDB73-0969-4F9E-B824-EDDA8385DEB1}" srcOrd="0" destOrd="0" parTransId="{7B2914A6-0E86-43D1-A03D-57986806EA29}" sibTransId="{D8231C0D-6545-404F-BE80-A0BE0893C415}"/>
    <dgm:cxn modelId="{D2DF2222-C3B5-440F-93A5-C90B85984176}" srcId="{F68EDB73-0969-4F9E-B824-EDDA8385DEB1}" destId="{95E134CF-02A1-4648-B07C-98992C61A192}" srcOrd="2" destOrd="0" parTransId="{F6B4AC76-BD86-4A7E-BC3C-89C6DDBB36D4}" sibTransId="{405AF4D3-E22D-4F98-BD9E-94A91E4C69C2}"/>
    <dgm:cxn modelId="{BD522BBB-3ECE-4ED8-9623-A84C1273F587}" type="presOf" srcId="{2EC1EBEF-577E-41C1-880D-9FE86B40128A}" destId="{2666676E-616B-4529-99B4-F4E1FCC0CF8C}" srcOrd="0" destOrd="0" presId="urn:microsoft.com/office/officeart/2005/8/layout/process4"/>
    <dgm:cxn modelId="{A6EC0F52-6886-40A9-BC09-565D02F6BF9E}" type="presOf" srcId="{F63BFAA6-4F44-4AFA-AF88-3FC2E4373772}" destId="{6E2DB1AA-FF1E-46D5-8555-83AE79733C4A}" srcOrd="0" destOrd="0" presId="urn:microsoft.com/office/officeart/2005/8/layout/process4"/>
    <dgm:cxn modelId="{7DC80645-EBC8-466C-886B-67ADBA00E531}" type="presOf" srcId="{F68EDB73-0969-4F9E-B824-EDDA8385DEB1}" destId="{F11768D9-4445-450A-A2F0-7BDE26FACE6F}" srcOrd="0" destOrd="0" presId="urn:microsoft.com/office/officeart/2005/8/layout/process4"/>
    <dgm:cxn modelId="{F26355E4-4644-4014-B490-28F2110B1762}" srcId="{4781D41A-8B58-4E39-BD1F-17948397F685}" destId="{2EC1EBEF-577E-41C1-880D-9FE86B40128A}" srcOrd="2" destOrd="0" parTransId="{AD4D064F-FC59-4D63-B1DD-677A1620FF40}" sibTransId="{B2AB1378-9709-4D18-AC3E-CDA2C747140B}"/>
    <dgm:cxn modelId="{ED4E7D2A-4A62-4E3F-8B55-42E9508E445E}" srcId="{F68EDB73-0969-4F9E-B824-EDDA8385DEB1}" destId="{F63BFAA6-4F44-4AFA-AF88-3FC2E4373772}" srcOrd="1" destOrd="0" parTransId="{15015331-FC0E-42F6-9F36-C3BDB588A9B0}" sibTransId="{206F2644-5ED6-411B-878D-8CE9CE0FD573}"/>
    <dgm:cxn modelId="{7809640A-D889-4210-893F-9ACFBA70590D}" type="presOf" srcId="{929EA6E0-DAEB-4339-8881-9202EBFD56BD}" destId="{2F6F2B40-068C-4457-B75D-B8B79D3DD0FD}" srcOrd="0" destOrd="0" presId="urn:microsoft.com/office/officeart/2005/8/layout/process4"/>
    <dgm:cxn modelId="{413C2616-5FA1-45A1-A37D-ECB7487479F0}" type="presParOf" srcId="{D10C7353-8782-416A-8B7B-D115A1F3B49B}" destId="{94F110B7-B682-4D3E-A86E-41A0EE327382}" srcOrd="0" destOrd="0" presId="urn:microsoft.com/office/officeart/2005/8/layout/process4"/>
    <dgm:cxn modelId="{E2694C4E-B7D3-4B65-B494-866F60F64EB5}" type="presParOf" srcId="{94F110B7-B682-4D3E-A86E-41A0EE327382}" destId="{2666676E-616B-4529-99B4-F4E1FCC0CF8C}" srcOrd="0" destOrd="0" presId="urn:microsoft.com/office/officeart/2005/8/layout/process4"/>
    <dgm:cxn modelId="{F1596E03-E8FA-4269-AE97-CFB99FDC5C5A}" type="presParOf" srcId="{D10C7353-8782-416A-8B7B-D115A1F3B49B}" destId="{E17FF32C-9B0F-444E-B49A-47BEC33ACE0C}" srcOrd="1" destOrd="0" presId="urn:microsoft.com/office/officeart/2005/8/layout/process4"/>
    <dgm:cxn modelId="{17C68EF1-B0FD-43C6-8A59-4FBB6CC2E890}" type="presParOf" srcId="{D10C7353-8782-416A-8B7B-D115A1F3B49B}" destId="{D5DDF765-FA54-4690-B368-E8A3923492B9}" srcOrd="2" destOrd="0" presId="urn:microsoft.com/office/officeart/2005/8/layout/process4"/>
    <dgm:cxn modelId="{B9B46F99-8892-40BF-8776-9C1178A2D7C4}" type="presParOf" srcId="{D5DDF765-FA54-4690-B368-E8A3923492B9}" destId="{31DF4747-05B9-4F0A-A400-973FF8C3CC39}" srcOrd="0" destOrd="0" presId="urn:microsoft.com/office/officeart/2005/8/layout/process4"/>
    <dgm:cxn modelId="{77D6B76D-F9C3-4E81-8902-1E613F58BAFB}" type="presParOf" srcId="{D10C7353-8782-416A-8B7B-D115A1F3B49B}" destId="{C00AFE47-A0E7-4BFD-B028-C640AAC51855}" srcOrd="3" destOrd="0" presId="urn:microsoft.com/office/officeart/2005/8/layout/process4"/>
    <dgm:cxn modelId="{8AF13E7F-7603-481E-82F5-E21915E4360F}" type="presParOf" srcId="{D10C7353-8782-416A-8B7B-D115A1F3B49B}" destId="{28C57988-814B-4ACC-A723-258ED5BE8061}" srcOrd="4" destOrd="0" presId="urn:microsoft.com/office/officeart/2005/8/layout/process4"/>
    <dgm:cxn modelId="{8C5BEA5D-D0AF-419C-B7F8-3F5F09289304}" type="presParOf" srcId="{28C57988-814B-4ACC-A723-258ED5BE8061}" destId="{F11768D9-4445-450A-A2F0-7BDE26FACE6F}" srcOrd="0" destOrd="0" presId="urn:microsoft.com/office/officeart/2005/8/layout/process4"/>
    <dgm:cxn modelId="{BF459211-495F-432D-B7AB-FBDA3A821041}" type="presParOf" srcId="{28C57988-814B-4ACC-A723-258ED5BE8061}" destId="{77D99714-DE3D-4966-A064-D7479F814EFA}" srcOrd="1" destOrd="0" presId="urn:microsoft.com/office/officeart/2005/8/layout/process4"/>
    <dgm:cxn modelId="{EC1DFA94-464A-4E7C-A28D-709C9E3745EA}" type="presParOf" srcId="{28C57988-814B-4ACC-A723-258ED5BE8061}" destId="{4D2A4710-40D1-452E-A98B-887767F9AF8F}" srcOrd="2" destOrd="0" presId="urn:microsoft.com/office/officeart/2005/8/layout/process4"/>
    <dgm:cxn modelId="{36EEF532-54D4-432D-8548-D358D6BFB25A}" type="presParOf" srcId="{4D2A4710-40D1-452E-A98B-887767F9AF8F}" destId="{2F6F2B40-068C-4457-B75D-B8B79D3DD0FD}" srcOrd="0" destOrd="0" presId="urn:microsoft.com/office/officeart/2005/8/layout/process4"/>
    <dgm:cxn modelId="{58D5CBA8-C1FB-4381-B769-E94A304FD982}" type="presParOf" srcId="{4D2A4710-40D1-452E-A98B-887767F9AF8F}" destId="{6E2DB1AA-FF1E-46D5-8555-83AE79733C4A}" srcOrd="1" destOrd="0" presId="urn:microsoft.com/office/officeart/2005/8/layout/process4"/>
    <dgm:cxn modelId="{0E202047-EC9D-46F4-9674-772A005D2C6C}" type="presParOf" srcId="{4D2A4710-40D1-452E-A98B-887767F9AF8F}" destId="{C689E664-AEDE-4297-9756-89A437151F78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666676E-616B-4529-99B4-F4E1FCC0CF8C}">
      <dsp:nvSpPr>
        <dsp:cNvPr id="0" name=""/>
        <dsp:cNvSpPr/>
      </dsp:nvSpPr>
      <dsp:spPr>
        <a:xfrm>
          <a:off x="0" y="4171387"/>
          <a:ext cx="8382000" cy="781161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Add associations and attributes.</a:t>
          </a:r>
          <a:endParaRPr lang="en-US" sz="2600" kern="1200" dirty="0"/>
        </a:p>
      </dsp:txBody>
      <dsp:txXfrm>
        <a:off x="0" y="4171387"/>
        <a:ext cx="8382000" cy="781161"/>
      </dsp:txXfrm>
    </dsp:sp>
    <dsp:sp modelId="{31DF4747-05B9-4F0A-A400-973FF8C3CC39}">
      <dsp:nvSpPr>
        <dsp:cNvPr id="0" name=""/>
        <dsp:cNvSpPr/>
      </dsp:nvSpPr>
      <dsp:spPr>
        <a:xfrm rot="10800000">
          <a:off x="0" y="2981678"/>
          <a:ext cx="8382000" cy="1201426"/>
        </a:xfrm>
        <a:prstGeom prst="upArrowCallou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Draw them as classes in a </a:t>
          </a:r>
          <a:r>
            <a:rPr lang="en-US" sz="2600" u="sng" kern="1200" dirty="0" smtClean="0"/>
            <a:t>UML class diagram</a:t>
          </a:r>
          <a:endParaRPr lang="en-US" sz="2600" u="sng" kern="1200" dirty="0"/>
        </a:p>
      </dsp:txBody>
      <dsp:txXfrm rot="10800000">
        <a:off x="0" y="2981678"/>
        <a:ext cx="8382000" cy="1201426"/>
      </dsp:txXfrm>
    </dsp:sp>
    <dsp:sp modelId="{77D99714-DE3D-4966-A064-D7479F814EFA}">
      <dsp:nvSpPr>
        <dsp:cNvPr id="0" name=""/>
        <dsp:cNvSpPr/>
      </dsp:nvSpPr>
      <dsp:spPr>
        <a:xfrm rot="10800000">
          <a:off x="0" y="450"/>
          <a:ext cx="8382000" cy="2992945"/>
        </a:xfrm>
        <a:prstGeom prst="upArrowCallou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Find the conceptual classes</a:t>
          </a:r>
          <a:endParaRPr lang="en-US" sz="2600" kern="1200" dirty="0"/>
        </a:p>
      </dsp:txBody>
      <dsp:txXfrm>
        <a:off x="0" y="450"/>
        <a:ext cx="8382000" cy="1050523"/>
      </dsp:txXfrm>
    </dsp:sp>
    <dsp:sp modelId="{2F6F2B40-068C-4457-B75D-B8B79D3DD0FD}">
      <dsp:nvSpPr>
        <dsp:cNvPr id="0" name=""/>
        <dsp:cNvSpPr/>
      </dsp:nvSpPr>
      <dsp:spPr>
        <a:xfrm>
          <a:off x="4092" y="838201"/>
          <a:ext cx="2791271" cy="13186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Reuse or modify existing models.</a:t>
          </a:r>
          <a:endParaRPr lang="en-US" sz="1800" kern="1200" dirty="0"/>
        </a:p>
      </dsp:txBody>
      <dsp:txXfrm>
        <a:off x="4092" y="838201"/>
        <a:ext cx="2791271" cy="1318645"/>
      </dsp:txXfrm>
    </dsp:sp>
    <dsp:sp modelId="{6E2DB1AA-FF1E-46D5-8555-83AE79733C4A}">
      <dsp:nvSpPr>
        <dsp:cNvPr id="0" name=""/>
        <dsp:cNvSpPr/>
      </dsp:nvSpPr>
      <dsp:spPr>
        <a:xfrm>
          <a:off x="2795364" y="838201"/>
          <a:ext cx="2791271" cy="13186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Listen to the core vocabulary and concepts that domain experts use.</a:t>
          </a:r>
          <a:endParaRPr lang="en-US" sz="1800" kern="1200" dirty="0"/>
        </a:p>
      </dsp:txBody>
      <dsp:txXfrm>
        <a:off x="2795364" y="838201"/>
        <a:ext cx="2791271" cy="1318645"/>
      </dsp:txXfrm>
    </dsp:sp>
    <dsp:sp modelId="{C689E664-AEDE-4297-9756-89A437151F78}">
      <dsp:nvSpPr>
        <dsp:cNvPr id="0" name=""/>
        <dsp:cNvSpPr/>
      </dsp:nvSpPr>
      <dsp:spPr>
        <a:xfrm>
          <a:off x="5586635" y="838201"/>
          <a:ext cx="2791271" cy="13186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Use noun phrase identification: Identify the nouns and noun phrases in textual descriptions of a domain</a:t>
          </a:r>
          <a:endParaRPr lang="en-US" sz="1800" kern="1200" dirty="0"/>
        </a:p>
      </dsp:txBody>
      <dsp:txXfrm>
        <a:off x="5586635" y="838201"/>
        <a:ext cx="2791271" cy="13186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2EA88-EEAD-476F-951C-A9F38DC12E92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AD151-0E8C-42DF-AEB9-304E517D3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Domain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3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hlinkClick r:id="rId2"/>
              </a:rPr>
              <a:t>nhbien@fit.hcmus.edu.vn</a:t>
            </a:r>
            <a:endParaRPr lang="en-US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a domain model for a software system.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800" smtClean="0"/>
              <a:t>Domain Models.</a:t>
            </a: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Craig </a:t>
            </a:r>
            <a:r>
              <a:rPr lang="en-US" sz="2400" dirty="0" err="1" smtClean="0"/>
              <a:t>Larman</a:t>
            </a:r>
            <a:r>
              <a:rPr lang="en-US" sz="2400" dirty="0" smtClean="0"/>
              <a:t> (2004). Applying UML And Patterns. 3rd Edition. Prentice Hall.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Colin Atkinson and Thomas </a:t>
            </a:r>
            <a:r>
              <a:rPr lang="en-US" sz="2400" dirty="0" err="1" smtClean="0"/>
              <a:t>Kuhne</a:t>
            </a:r>
            <a:r>
              <a:rPr lang="en-US" sz="2400" dirty="0" smtClean="0"/>
              <a:t> (2008). Reducing Accidental Complexity in Domain Models.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Suzanne Robertson and James Robertson (2012). Mastering the Requirements Process. Addison Wesley Professional.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Analysis and Specification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purpose of software is to </a:t>
            </a:r>
            <a:r>
              <a:rPr lang="en-US" sz="2400" i="1" dirty="0" smtClean="0">
                <a:solidFill>
                  <a:srgbClr val="C00000"/>
                </a:solidFill>
              </a:rPr>
              <a:t>solve problems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How do we </a:t>
            </a:r>
            <a:r>
              <a:rPr lang="en-US" sz="2400" i="1" dirty="0" smtClean="0">
                <a:solidFill>
                  <a:srgbClr val="C00000"/>
                </a:solidFill>
              </a:rPr>
              <a:t>analyze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document</a:t>
            </a:r>
            <a:r>
              <a:rPr lang="en-US" sz="2400" dirty="0" smtClean="0"/>
              <a:t> a problem?</a:t>
            </a:r>
            <a:endParaRPr lang="en-US" sz="2400" dirty="0"/>
          </a:p>
        </p:txBody>
      </p:sp>
      <p:pic>
        <p:nvPicPr>
          <p:cNvPr id="1026" name="Picture 2" descr="https://us.123rf.com/450wm/convisum/convisum1412/convisum141200024/34233297-question-think-solution.jpg?ver=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124200"/>
            <a:ext cx="4286250" cy="281940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895600" y="5715000"/>
            <a:ext cx="97924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91000" y="5181600"/>
            <a:ext cx="93756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mtClean="0"/>
              <a:t>Analysis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410200" y="4648200"/>
            <a:ext cx="96051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Solution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Domain Model? [1]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" y="1305342"/>
            <a:ext cx="8686800" cy="2123658"/>
          </a:xfrm>
          <a:prstGeom prst="rect">
            <a:avLst/>
          </a:prstGeom>
          <a:noFill/>
          <a:ln w="25400">
            <a:noFill/>
            <a:prstDash val="sysDash"/>
          </a:ln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Informally, a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conceptual class</a:t>
            </a:r>
            <a:r>
              <a:rPr lang="en-US" sz="2200" dirty="0" smtClean="0">
                <a:latin typeface="+mj-lt"/>
              </a:rPr>
              <a:t> is an idea, </a:t>
            </a:r>
            <a:r>
              <a:rPr lang="en-US" sz="2200" u="sng" dirty="0" smtClean="0">
                <a:latin typeface="+mj-lt"/>
              </a:rPr>
              <a:t>thing</a:t>
            </a:r>
            <a:r>
              <a:rPr lang="en-US" sz="2200" dirty="0" smtClean="0">
                <a:latin typeface="+mj-lt"/>
              </a:rPr>
              <a:t>, or </a:t>
            </a:r>
            <a:r>
              <a:rPr lang="en-US" sz="2200" u="sng" dirty="0" smtClean="0">
                <a:latin typeface="+mj-lt"/>
              </a:rPr>
              <a:t>object</a:t>
            </a:r>
            <a:r>
              <a:rPr lang="en-US" sz="2200" dirty="0" smtClean="0">
                <a:latin typeface="+mj-lt"/>
              </a:rPr>
              <a:t> that has symbol, intention and examples.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A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domain model</a:t>
            </a:r>
            <a:r>
              <a:rPr lang="en-US" sz="2200" dirty="0" smtClean="0">
                <a:latin typeface="+mj-lt"/>
              </a:rPr>
              <a:t> is a </a:t>
            </a:r>
            <a:r>
              <a:rPr lang="en-US" sz="2200" u="sng" dirty="0" smtClean="0">
                <a:latin typeface="+mj-lt"/>
              </a:rPr>
              <a:t>visual representation</a:t>
            </a:r>
            <a:r>
              <a:rPr lang="en-US" sz="2200" dirty="0" smtClean="0">
                <a:latin typeface="+mj-lt"/>
              </a:rPr>
              <a:t> of conceptual classes or </a:t>
            </a:r>
            <a:r>
              <a:rPr lang="en-US" sz="2200" u="sng" dirty="0" smtClean="0">
                <a:latin typeface="+mj-lt"/>
              </a:rPr>
              <a:t>real-situation objects</a:t>
            </a:r>
            <a:r>
              <a:rPr lang="en-US" sz="2200" dirty="0" smtClean="0">
                <a:latin typeface="+mj-lt"/>
              </a:rPr>
              <a:t> in a domain.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Elements</a:t>
            </a:r>
            <a:r>
              <a:rPr lang="en-US" sz="2200" dirty="0" smtClean="0">
                <a:latin typeface="+mj-lt"/>
              </a:rPr>
              <a:t> of a domain model are domain </a:t>
            </a:r>
            <a:r>
              <a:rPr lang="en-US" sz="2200" u="sng" dirty="0" smtClean="0">
                <a:latin typeface="+mj-lt"/>
              </a:rPr>
              <a:t>object classes</a:t>
            </a:r>
            <a:r>
              <a:rPr lang="en-US" sz="2200" dirty="0" smtClean="0">
                <a:latin typeface="+mj-lt"/>
              </a:rPr>
              <a:t>, and the </a:t>
            </a:r>
            <a:r>
              <a:rPr lang="en-US" sz="2200" u="sng" dirty="0" smtClean="0">
                <a:latin typeface="+mj-lt"/>
              </a:rPr>
              <a:t>relationships</a:t>
            </a:r>
            <a:r>
              <a:rPr lang="en-US" sz="2200" dirty="0" smtClean="0">
                <a:latin typeface="+mj-lt"/>
              </a:rPr>
              <a:t> between them.</a:t>
            </a:r>
          </a:p>
        </p:txBody>
      </p:sp>
      <p:sp>
        <p:nvSpPr>
          <p:cNvPr id="8194" name="AutoShape 2" descr="mk:@MSITStore:D:\My%20Study\Software%20Requirements\Craig%20Larman.%20Applying%20UML%20And%20Patterns.%20Addison%20Wesley%20Professional.%202004.chm::/0131489062/images/0131489062/graphics/09fig03.gif;380137"/>
          <p:cNvSpPr>
            <a:spLocks noChangeAspect="1" noChangeArrowheads="1"/>
          </p:cNvSpPr>
          <p:nvPr/>
        </p:nvSpPr>
        <p:spPr bwMode="auto">
          <a:xfrm>
            <a:off x="63500" y="-136525"/>
            <a:ext cx="4762500" cy="8001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6" name="AutoShape 4" descr="mk:@MSITStore:D:\My%20Study\Software%20Requirements\Craig%20Larman.%20Applying%20UML%20And%20Patterns.%20Addison%20Wesley%20Professional.%202004.chm::/0131489062/images/0131489062/graphics/09fig02_alt.gif;380137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524250"/>
            <a:ext cx="667702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for </a:t>
            </a:r>
            <a:r>
              <a:rPr lang="en-US" dirty="0" smtClean="0"/>
              <a:t>Domain Model Creation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Input for domain model creation</a:t>
            </a:r>
          </a:p>
          <a:p>
            <a:pPr lvl="1"/>
            <a:r>
              <a:rPr lang="en-US" sz="2200" dirty="0" smtClean="0"/>
              <a:t>Executive </a:t>
            </a:r>
            <a:r>
              <a:rPr lang="en-US" sz="2200" dirty="0" smtClean="0"/>
              <a:t>Summary</a:t>
            </a:r>
            <a:endParaRPr lang="en-US" sz="2200" dirty="0" smtClean="0"/>
          </a:p>
          <a:p>
            <a:pPr lvl="1"/>
            <a:r>
              <a:rPr lang="en-US" sz="2200" dirty="0" smtClean="0"/>
              <a:t>Project Vision and Scope</a:t>
            </a:r>
            <a:endParaRPr lang="en-US" sz="2200" dirty="0" smtClean="0"/>
          </a:p>
          <a:p>
            <a:pPr lvl="1"/>
            <a:r>
              <a:rPr lang="en-US" sz="2200" smtClean="0"/>
              <a:t>Domain </a:t>
            </a:r>
            <a:r>
              <a:rPr lang="en-US" sz="2200" smtClean="0"/>
              <a:t>Knowledge</a:t>
            </a:r>
            <a:r>
              <a:rPr lang="en-US" sz="2200" dirty="0" smtClean="0"/>
              <a:t>, Existing Domain Models</a:t>
            </a:r>
            <a:endParaRPr lang="en-US" sz="2200" dirty="0" smtClean="0"/>
          </a:p>
        </p:txBody>
      </p:sp>
      <p:pic>
        <p:nvPicPr>
          <p:cNvPr id="4" name="Picture 2" descr="https://image.freepik.com/free-icon/diagram_318-205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3956050"/>
            <a:ext cx="1933575" cy="198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Create a Domain Model?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04800" y="1676400"/>
          <a:ext cx="8382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Model vs. Software Business Objects</a:t>
            </a:r>
            <a:endParaRPr lang="en-US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057400"/>
            <a:ext cx="47625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3810000"/>
            <a:ext cx="47625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52400" y="3048000"/>
            <a:ext cx="5181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+mj-lt"/>
              </a:rPr>
              <a:t>A DOMAIN MODEL SHOWS </a:t>
            </a:r>
            <a:r>
              <a:rPr lang="en-US" b="1" i="1" dirty="0" smtClean="0">
                <a:solidFill>
                  <a:srgbClr val="C00000"/>
                </a:solidFill>
                <a:latin typeface="+mj-lt"/>
              </a:rPr>
              <a:t>REAL-SITUATION</a:t>
            </a:r>
            <a:r>
              <a:rPr lang="en-US" b="1" dirty="0" smtClean="0">
                <a:latin typeface="+mj-lt"/>
              </a:rPr>
              <a:t> CONCEPTUAL CLASSES, NOT SOFTWARE CLASSES.</a:t>
            </a:r>
            <a:endParaRPr lang="en-US" b="1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0" y="6019800"/>
            <a:ext cx="5181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+mj-lt"/>
              </a:rPr>
              <a:t>A DOMAIN MODEL DOES </a:t>
            </a:r>
            <a:r>
              <a:rPr lang="en-US" b="1" i="1" dirty="0" smtClean="0">
                <a:solidFill>
                  <a:srgbClr val="C00000"/>
                </a:solidFill>
                <a:latin typeface="+mj-lt"/>
              </a:rPr>
              <a:t>NOT</a:t>
            </a:r>
            <a:r>
              <a:rPr lang="en-US" b="1" dirty="0" smtClean="0">
                <a:latin typeface="+mj-lt"/>
              </a:rPr>
              <a:t> SHOW SOFTWARE ARTIFACTS OR CLASSES.</a:t>
            </a:r>
            <a:endParaRPr lang="en-US" b="1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 vs. Classes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1219200"/>
            <a:ext cx="8382000" cy="707886"/>
          </a:xfrm>
          <a:prstGeom prst="rect">
            <a:avLst/>
          </a:prstGeom>
          <a:noFill/>
          <a:ln w="25400">
            <a:noFill/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+mj-lt"/>
              </a:rPr>
              <a:t>If we do not think of some conceptual class X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as </a:t>
            </a:r>
            <a:r>
              <a:rPr lang="en-US" sz="2000" dirty="0" smtClean="0">
                <a:latin typeface="+mj-lt"/>
              </a:rPr>
              <a:t>a </a:t>
            </a:r>
            <a:r>
              <a:rPr lang="en-US" sz="2000" u="sng" dirty="0" smtClean="0">
                <a:latin typeface="+mj-lt"/>
              </a:rPr>
              <a:t>number</a:t>
            </a:r>
            <a:r>
              <a:rPr lang="en-US" sz="2000" dirty="0" smtClean="0">
                <a:latin typeface="+mj-lt"/>
              </a:rPr>
              <a:t> or </a:t>
            </a:r>
            <a:r>
              <a:rPr lang="en-US" sz="2000" u="sng" dirty="0" smtClean="0">
                <a:latin typeface="+mj-lt"/>
              </a:rPr>
              <a:t>text</a:t>
            </a:r>
            <a:r>
              <a:rPr lang="en-US" sz="2000" dirty="0" smtClean="0">
                <a:latin typeface="+mj-lt"/>
              </a:rPr>
              <a:t> or </a:t>
            </a:r>
            <a:r>
              <a:rPr lang="en-US" sz="2000" u="sng" dirty="0" smtClean="0">
                <a:latin typeface="+mj-lt"/>
              </a:rPr>
              <a:t>date/time</a:t>
            </a:r>
            <a:r>
              <a:rPr lang="en-US" sz="2000" dirty="0" smtClean="0">
                <a:latin typeface="+mj-lt"/>
              </a:rPr>
              <a:t> in the real world, X is probably a conceptual class, not an attribute.</a:t>
            </a:r>
            <a:endParaRPr lang="en-US" sz="2000" dirty="0">
              <a:latin typeface="+mj-lt"/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162175"/>
            <a:ext cx="47625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869" name="AutoShape 5" descr="mk:@MSITStore:D:\Teaching\Software%20Construction\Books\2004%20Applying%20UML%20And%20Patterns.chm::/0131489062/images/0131489062/graphics/09fig26_alt.gif;380137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687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105150"/>
            <a:ext cx="714375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Domain Models?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1219200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This supports a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low representational gap</a:t>
            </a:r>
            <a:r>
              <a:rPr lang="en-US" dirty="0" smtClean="0">
                <a:latin typeface="+mj-lt"/>
              </a:rPr>
              <a:t> between our mental and software models. </a:t>
            </a:r>
            <a:endParaRPr lang="en-US" dirty="0">
              <a:latin typeface="+mj-lt"/>
            </a:endParaRP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1685925"/>
            <a:ext cx="809625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Model?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"Domain model" or "analysis model": a </a:t>
            </a:r>
            <a:r>
              <a:rPr lang="en-US" sz="2400" u="sng" dirty="0" smtClean="0"/>
              <a:t>solution-independent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description of the problem</a:t>
            </a:r>
            <a:r>
              <a:rPr lang="en-US" sz="2400" dirty="0" smtClean="0"/>
              <a:t> to be solved.</a:t>
            </a:r>
          </a:p>
          <a:p>
            <a:r>
              <a:rPr lang="en-US" sz="2400" dirty="0" smtClean="0"/>
              <a:t>A domain model is assumed to </a:t>
            </a:r>
            <a:r>
              <a:rPr lang="en-US" sz="2400" i="1" dirty="0" smtClean="0">
                <a:solidFill>
                  <a:srgbClr val="C00000"/>
                </a:solidFill>
              </a:rPr>
              <a:t>represent</a:t>
            </a:r>
            <a:r>
              <a:rPr lang="en-US" sz="2400" dirty="0" smtClean="0"/>
              <a:t> a conceptualization of the entities of some problem domain.</a:t>
            </a:r>
          </a:p>
          <a:p>
            <a:r>
              <a:rPr lang="en-US" sz="2400" dirty="0" smtClean="0"/>
              <a:t>The most common choice for </a:t>
            </a:r>
            <a:r>
              <a:rPr lang="en-US" sz="2400" i="1" dirty="0" smtClean="0">
                <a:solidFill>
                  <a:srgbClr val="C00000"/>
                </a:solidFill>
              </a:rPr>
              <a:t>creating</a:t>
            </a:r>
            <a:r>
              <a:rPr lang="en-US" sz="2400" dirty="0" smtClean="0"/>
              <a:t> such domain models is the </a:t>
            </a:r>
            <a:r>
              <a:rPr lang="en-US" sz="2400" u="sng" dirty="0" smtClean="0"/>
              <a:t>modeling language</a:t>
            </a:r>
            <a:r>
              <a:rPr lang="en-US" sz="2400" dirty="0" smtClean="0"/>
              <a:t> standard, the UML.</a:t>
            </a:r>
          </a:p>
          <a:p>
            <a:r>
              <a:rPr lang="en-US" sz="2400" dirty="0" smtClean="0"/>
              <a:t>Creating a domain model with the UML usually includes the creation of one or more </a:t>
            </a:r>
            <a:r>
              <a:rPr lang="en-US" sz="2400" i="1" dirty="0" smtClean="0">
                <a:solidFill>
                  <a:srgbClr val="C00000"/>
                </a:solidFill>
              </a:rPr>
              <a:t>class diagrams</a:t>
            </a:r>
            <a:r>
              <a:rPr lang="en-US" sz="2400" dirty="0" smtClean="0"/>
              <a:t> that capture the important </a:t>
            </a:r>
            <a:r>
              <a:rPr lang="en-US" sz="2400" u="sng" dirty="0" smtClean="0"/>
              <a:t>domain concepts</a:t>
            </a:r>
            <a:r>
              <a:rPr lang="en-US" sz="2400" dirty="0" smtClean="0"/>
              <a:t> and their </a:t>
            </a:r>
            <a:r>
              <a:rPr lang="en-US" sz="2400" u="sng" dirty="0" smtClean="0"/>
              <a:t>relationships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Often one also adds one or more </a:t>
            </a:r>
            <a:r>
              <a:rPr lang="en-US" sz="2400" i="1" dirty="0" smtClean="0">
                <a:solidFill>
                  <a:srgbClr val="C00000"/>
                </a:solidFill>
              </a:rPr>
              <a:t>object diagrams</a:t>
            </a:r>
            <a:r>
              <a:rPr lang="en-US" sz="2400" dirty="0" smtClean="0"/>
              <a:t> showing </a:t>
            </a:r>
            <a:r>
              <a:rPr lang="en-US" sz="2400" u="sng" dirty="0" smtClean="0"/>
              <a:t>instances of the domain concepts</a:t>
            </a:r>
            <a:r>
              <a:rPr lang="en-US" sz="2400" dirty="0" smtClean="0"/>
              <a:t> to illustrate various configurations.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"/>
            <a:ext cx="1706880" cy="1205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Domain Models?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serve as a description of the problem that is </a:t>
            </a:r>
            <a:r>
              <a:rPr lang="en-US" sz="2400" i="1" dirty="0" smtClean="0">
                <a:solidFill>
                  <a:srgbClr val="C00000"/>
                </a:solidFill>
              </a:rPr>
              <a:t>understandable</a:t>
            </a:r>
            <a:r>
              <a:rPr lang="en-US" sz="2400" dirty="0" smtClean="0"/>
              <a:t> to the widest possible </a:t>
            </a:r>
            <a:r>
              <a:rPr lang="en-US" sz="2400" u="sng" dirty="0" smtClean="0"/>
              <a:t>range of stakeholders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9458" name="Picture 2" descr="https://robllewellyn.com/wp-content/uploads/2016/02/stakeholder-engagement-webina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200400"/>
            <a:ext cx="4393220" cy="25627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Model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A </a:t>
            </a:r>
            <a:r>
              <a:rPr lang="en-US" sz="2600" i="1" dirty="0" smtClean="0">
                <a:solidFill>
                  <a:srgbClr val="C00000"/>
                </a:solidFill>
              </a:rPr>
              <a:t>domain model</a:t>
            </a:r>
            <a:r>
              <a:rPr lang="en-US" sz="2600" dirty="0" smtClean="0"/>
              <a:t> is defined as an abstract model that captures the </a:t>
            </a:r>
            <a:r>
              <a:rPr lang="en-US" sz="2600" u="sng" dirty="0" smtClean="0"/>
              <a:t>most important types</a:t>
            </a:r>
            <a:r>
              <a:rPr lang="en-US" sz="2600" dirty="0" smtClean="0"/>
              <a:t> of objects in the context of the system.</a:t>
            </a:r>
          </a:p>
          <a:p>
            <a:r>
              <a:rPr lang="en-US" sz="2600" dirty="0" smtClean="0"/>
              <a:t>The </a:t>
            </a:r>
            <a:r>
              <a:rPr lang="en-US" sz="2600" i="1" dirty="0" smtClean="0">
                <a:solidFill>
                  <a:srgbClr val="C00000"/>
                </a:solidFill>
              </a:rPr>
              <a:t>domain objects</a:t>
            </a:r>
            <a:r>
              <a:rPr lang="en-US" sz="2600" dirty="0" smtClean="0"/>
              <a:t> represent the "things" that exist or events that transpire in the environment in which the system works.</a:t>
            </a:r>
          </a:p>
          <a:p>
            <a:r>
              <a:rPr lang="en-US" sz="2600" dirty="0" smtClean="0"/>
              <a:t>A </a:t>
            </a:r>
            <a:r>
              <a:rPr lang="en-US" sz="2600" i="1" dirty="0" smtClean="0">
                <a:solidFill>
                  <a:srgbClr val="C00000"/>
                </a:solidFill>
              </a:rPr>
              <a:t>business model</a:t>
            </a:r>
            <a:r>
              <a:rPr lang="en-US" sz="2600" dirty="0" smtClean="0"/>
              <a:t> comprises two models:</a:t>
            </a:r>
          </a:p>
          <a:p>
            <a:pPr lvl="1"/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business use-case model</a:t>
            </a:r>
            <a:r>
              <a:rPr lang="en-US" sz="2200" dirty="0" smtClean="0"/>
              <a:t> to describe </a:t>
            </a:r>
          </a:p>
          <a:p>
            <a:pPr lvl="1">
              <a:buNone/>
            </a:pPr>
            <a:r>
              <a:rPr lang="en-US" sz="2200" dirty="0" smtClean="0"/>
              <a:t>	the </a:t>
            </a:r>
            <a:r>
              <a:rPr lang="en-US" sz="2200" u="sng" dirty="0" smtClean="0"/>
              <a:t>business actors</a:t>
            </a:r>
            <a:r>
              <a:rPr lang="en-US" sz="2200" dirty="0" smtClean="0"/>
              <a:t> and the </a:t>
            </a:r>
            <a:r>
              <a:rPr lang="en-US" sz="2200" u="sng" dirty="0" smtClean="0"/>
              <a:t>business processes</a:t>
            </a:r>
            <a:r>
              <a:rPr lang="en-US" sz="2200" dirty="0" smtClean="0"/>
              <a:t>,</a:t>
            </a:r>
          </a:p>
          <a:p>
            <a:pPr lvl="1"/>
            <a:r>
              <a:rPr lang="en-US" sz="2200" dirty="0" smtClean="0"/>
              <a:t>and a </a:t>
            </a:r>
            <a:r>
              <a:rPr lang="en-US" sz="2200" i="1" dirty="0" smtClean="0">
                <a:solidFill>
                  <a:srgbClr val="C00000"/>
                </a:solidFill>
              </a:rPr>
              <a:t>business object model</a:t>
            </a:r>
            <a:r>
              <a:rPr lang="en-US" sz="2200" dirty="0" smtClean="0"/>
              <a:t> to describe </a:t>
            </a:r>
          </a:p>
          <a:p>
            <a:pPr lvl="1">
              <a:buNone/>
            </a:pPr>
            <a:r>
              <a:rPr lang="en-US" sz="2200" dirty="0" smtClean="0"/>
              <a:t>	</a:t>
            </a:r>
            <a:r>
              <a:rPr lang="en-US" sz="2200" u="sng" dirty="0" smtClean="0"/>
              <a:t>business entities</a:t>
            </a:r>
            <a:r>
              <a:rPr lang="en-US" sz="2200" dirty="0" smtClean="0"/>
              <a:t> used by the business use cases.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Model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object life history is a </a:t>
            </a:r>
            <a:r>
              <a:rPr lang="en-US" sz="2000" i="1" dirty="0" smtClean="0">
                <a:solidFill>
                  <a:srgbClr val="C00000"/>
                </a:solidFill>
              </a:rPr>
              <a:t>state model </a:t>
            </a:r>
            <a:r>
              <a:rPr lang="en-US" sz="2000" dirty="0" smtClean="0"/>
              <a:t>(also known as a state transition diagram) that shows which states the objects for a class (sometimes called entities) may take, and illustrates the transitions between those states.</a:t>
            </a:r>
          </a:p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state</a:t>
            </a:r>
            <a:r>
              <a:rPr lang="en-US" sz="2000" dirty="0" smtClean="0"/>
              <a:t> is a steady condition for the object, and each rectangle in the model identifies a different state that this object will be in at one time or another.</a:t>
            </a:r>
          </a:p>
          <a:p>
            <a:r>
              <a:rPr lang="en-US" sz="2000" dirty="0" smtClean="0"/>
              <a:t>The story is told </a:t>
            </a:r>
            <a:r>
              <a:rPr lang="en-US" sz="2000" u="sng" dirty="0" smtClean="0"/>
              <a:t>not</a:t>
            </a:r>
            <a:r>
              <a:rPr lang="en-US" sz="2000" dirty="0" smtClean="0"/>
              <a:t> so much by the states, as by the </a:t>
            </a:r>
            <a:r>
              <a:rPr lang="en-US" sz="2000" i="1" dirty="0" smtClean="0">
                <a:solidFill>
                  <a:srgbClr val="C00000"/>
                </a:solidFill>
              </a:rPr>
              <a:t>transitions between states</a:t>
            </a:r>
            <a:r>
              <a:rPr lang="en-US" sz="2000" dirty="0" smtClean="0"/>
              <a:t>.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4650" y="4133850"/>
            <a:ext cx="363855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9031</TotalTime>
  <Words>641</Words>
  <Application>Microsoft Office PowerPoint</Application>
  <PresentationFormat>On-screen Show (4:3)</PresentationFormat>
  <Paragraphs>65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Domain Models</vt:lpstr>
      <vt:lpstr>Objectives</vt:lpstr>
      <vt:lpstr>Contents</vt:lpstr>
      <vt:lpstr>References</vt:lpstr>
      <vt:lpstr>Problem Analysis and Specification</vt:lpstr>
      <vt:lpstr>What is Domain Model? [1]</vt:lpstr>
      <vt:lpstr>Input for Domain Model Creation</vt:lpstr>
      <vt:lpstr>How to Create a Domain Model?</vt:lpstr>
      <vt:lpstr>Domain Model vs. Software Business Objects</vt:lpstr>
      <vt:lpstr>Attributes vs. Classes</vt:lpstr>
      <vt:lpstr>Why Domain Models?</vt:lpstr>
      <vt:lpstr>Slide 12</vt:lpstr>
      <vt:lpstr>Domain Model? [2]</vt:lpstr>
      <vt:lpstr>Why Domain Models?</vt:lpstr>
      <vt:lpstr>Slide 15</vt:lpstr>
      <vt:lpstr>Business Model [1]</vt:lpstr>
      <vt:lpstr>State Model [3]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4132</cp:revision>
  <dcterms:created xsi:type="dcterms:W3CDTF">2007-10-06T08:25:13Z</dcterms:created>
  <dcterms:modified xsi:type="dcterms:W3CDTF">2022-01-20T19:50:22Z</dcterms:modified>
</cp:coreProperties>
</file>