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19"/>
  </p:notesMasterIdLst>
  <p:sldIdLst>
    <p:sldId id="256" r:id="rId2"/>
    <p:sldId id="692" r:id="rId3"/>
    <p:sldId id="693" r:id="rId4"/>
    <p:sldId id="695" r:id="rId5"/>
    <p:sldId id="847" r:id="rId6"/>
    <p:sldId id="852" r:id="rId7"/>
    <p:sldId id="848" r:id="rId8"/>
    <p:sldId id="850" r:id="rId9"/>
    <p:sldId id="696" r:id="rId10"/>
    <p:sldId id="769" r:id="rId11"/>
    <p:sldId id="768" r:id="rId12"/>
    <p:sldId id="853" r:id="rId13"/>
    <p:sldId id="855" r:id="rId14"/>
    <p:sldId id="854" r:id="rId15"/>
    <p:sldId id="698" r:id="rId16"/>
    <p:sldId id="747" r:id="rId17"/>
    <p:sldId id="699" r:id="rId18"/>
    <p:sldId id="748" r:id="rId19"/>
    <p:sldId id="694" r:id="rId20"/>
    <p:sldId id="664" r:id="rId21"/>
    <p:sldId id="701" r:id="rId22"/>
    <p:sldId id="749" r:id="rId23"/>
    <p:sldId id="703" r:id="rId24"/>
    <p:sldId id="750" r:id="rId25"/>
    <p:sldId id="704" r:id="rId26"/>
    <p:sldId id="706" r:id="rId27"/>
    <p:sldId id="702" r:id="rId28"/>
    <p:sldId id="806" r:id="rId29"/>
    <p:sldId id="808" r:id="rId30"/>
    <p:sldId id="809" r:id="rId31"/>
    <p:sldId id="810" r:id="rId32"/>
    <p:sldId id="770" r:id="rId33"/>
    <p:sldId id="708" r:id="rId34"/>
    <p:sldId id="723" r:id="rId35"/>
    <p:sldId id="724" r:id="rId36"/>
    <p:sldId id="777" r:id="rId37"/>
    <p:sldId id="771" r:id="rId38"/>
    <p:sldId id="772" r:id="rId39"/>
    <p:sldId id="773" r:id="rId40"/>
    <p:sldId id="774" r:id="rId41"/>
    <p:sldId id="775" r:id="rId42"/>
    <p:sldId id="776" r:id="rId43"/>
    <p:sldId id="811" r:id="rId44"/>
    <p:sldId id="709" r:id="rId45"/>
    <p:sldId id="778" r:id="rId46"/>
    <p:sldId id="712" r:id="rId47"/>
    <p:sldId id="713" r:id="rId48"/>
    <p:sldId id="714" r:id="rId49"/>
    <p:sldId id="743" r:id="rId50"/>
    <p:sldId id="744" r:id="rId51"/>
    <p:sldId id="715" r:id="rId52"/>
    <p:sldId id="716" r:id="rId53"/>
    <p:sldId id="717" r:id="rId54"/>
    <p:sldId id="764" r:id="rId55"/>
    <p:sldId id="737" r:id="rId56"/>
    <p:sldId id="739" r:id="rId57"/>
    <p:sldId id="799" r:id="rId58"/>
    <p:sldId id="801" r:id="rId59"/>
    <p:sldId id="721" r:id="rId60"/>
    <p:sldId id="719" r:id="rId61"/>
    <p:sldId id="720" r:id="rId62"/>
    <p:sldId id="812" r:id="rId63"/>
    <p:sldId id="814" r:id="rId64"/>
    <p:sldId id="815" r:id="rId65"/>
    <p:sldId id="813" r:id="rId66"/>
    <p:sldId id="816" r:id="rId67"/>
    <p:sldId id="817" r:id="rId68"/>
    <p:sldId id="818" r:id="rId69"/>
    <p:sldId id="819" r:id="rId70"/>
    <p:sldId id="820" r:id="rId71"/>
    <p:sldId id="821" r:id="rId72"/>
    <p:sldId id="822" r:id="rId73"/>
    <p:sldId id="823" r:id="rId74"/>
    <p:sldId id="767" r:id="rId75"/>
    <p:sldId id="722" r:id="rId76"/>
    <p:sldId id="725" r:id="rId77"/>
    <p:sldId id="727" r:id="rId78"/>
    <p:sldId id="836" r:id="rId79"/>
    <p:sldId id="835" r:id="rId80"/>
    <p:sldId id="824" r:id="rId81"/>
    <p:sldId id="825" r:id="rId82"/>
    <p:sldId id="829" r:id="rId83"/>
    <p:sldId id="828" r:id="rId84"/>
    <p:sldId id="826" r:id="rId85"/>
    <p:sldId id="830" r:id="rId86"/>
    <p:sldId id="832" r:id="rId87"/>
    <p:sldId id="833" r:id="rId88"/>
    <p:sldId id="834" r:id="rId89"/>
    <p:sldId id="837" r:id="rId90"/>
    <p:sldId id="831" r:id="rId91"/>
    <p:sldId id="792" r:id="rId92"/>
    <p:sldId id="786" r:id="rId93"/>
    <p:sldId id="787" r:id="rId94"/>
    <p:sldId id="788" r:id="rId95"/>
    <p:sldId id="789" r:id="rId96"/>
    <p:sldId id="790" r:id="rId97"/>
    <p:sldId id="791" r:id="rId98"/>
    <p:sldId id="805" r:id="rId99"/>
    <p:sldId id="802" r:id="rId100"/>
    <p:sldId id="803" r:id="rId101"/>
    <p:sldId id="843" r:id="rId102"/>
    <p:sldId id="844" r:id="rId103"/>
    <p:sldId id="845" r:id="rId104"/>
    <p:sldId id="846" r:id="rId105"/>
    <p:sldId id="804" r:id="rId106"/>
    <p:sldId id="794" r:id="rId107"/>
    <p:sldId id="807" r:id="rId108"/>
    <p:sldId id="839" r:id="rId109"/>
    <p:sldId id="840" r:id="rId110"/>
    <p:sldId id="841" r:id="rId111"/>
    <p:sldId id="842" r:id="rId112"/>
    <p:sldId id="779" r:id="rId113"/>
    <p:sldId id="780" r:id="rId114"/>
    <p:sldId id="781" r:id="rId115"/>
    <p:sldId id="782" r:id="rId116"/>
    <p:sldId id="838" r:id="rId117"/>
    <p:sldId id="343" r:id="rId1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85" autoAdjust="0"/>
    <p:restoredTop sz="94667" autoAdjust="0"/>
  </p:normalViewPr>
  <p:slideViewPr>
    <p:cSldViewPr>
      <p:cViewPr>
        <p:scale>
          <a:sx n="50" d="100"/>
          <a:sy n="50" d="100"/>
        </p:scale>
        <p:origin x="-1524"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AE02B5-5F97-43FB-B6EA-011787F0E1A5}" type="datetimeFigureOut">
              <a:rPr lang="en-US" smtClean="0"/>
              <a:pPr/>
              <a:t>12/8/2025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A127FC-F31A-48E4-A24A-3240EBF5A49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4A127FC-F31A-48E4-A24A-3240EBF5A49B}" type="slidenum">
              <a:rPr lang="en-US" smtClean="0"/>
              <a:pPr/>
              <a:t>99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8434D400-6504-413F-B54E-738978C9D58D}" type="datetimeFigureOut">
              <a:rPr lang="en-US"/>
              <a:pPr>
                <a:defRPr/>
              </a:pPr>
              <a:t>12/8/2025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9C1B037-3188-409D-8585-0062FF378DB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F650246-B75B-4111-A4E3-17CED8183F51}" type="datetimeFigureOut">
              <a:rPr lang="en-US"/>
              <a:pPr>
                <a:defRPr/>
              </a:pPr>
              <a:t>12/8/2025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3713B35-0DC7-41A1-836F-F07E105F72E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A55B62FE-A4BA-4F3B-8724-099A9867E83E}" type="datetimeFigureOut">
              <a:rPr lang="en-US"/>
              <a:pPr>
                <a:defRPr/>
              </a:pPr>
              <a:t>12/8/2025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1E2A0DB-97FF-4E2D-961A-53A8B3E81CF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36FBCD77-DB7E-410F-8346-A9CE932D0AC1}" type="datetimeFigureOut">
              <a:rPr lang="en-US"/>
              <a:pPr>
                <a:defRPr/>
              </a:pPr>
              <a:t>12/8/2025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5B3858F-6EED-4FD9-B63D-3FB7FC26C959}"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6FD8737-39E6-4861-92A8-89AC4192A622}" type="datetimeFigureOut">
              <a:rPr lang="en-US"/>
              <a:pPr>
                <a:defRPr/>
              </a:pPr>
              <a:t>12/8/2025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F811265-6FEF-4F82-B77F-9478A26020F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C77D96A-39D8-4C6D-B965-8C8786F338A6}" type="datetimeFigureOut">
              <a:rPr lang="en-US"/>
              <a:pPr>
                <a:defRPr/>
              </a:pPr>
              <a:t>12/8/2025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7E14D288-D738-45D0-B23A-7E0F18151E3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C8036EE-19ED-4D9D-B088-EAFD7232ED0E}" type="datetimeFigureOut">
              <a:rPr lang="en-US"/>
              <a:pPr>
                <a:defRPr/>
              </a:pPr>
              <a:t>12/8/2025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47035E6-112E-46D6-92D2-F2905FE7FE0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D544F72-AE66-47B5-B42F-4F292EBF18C0}" type="datetimeFigureOut">
              <a:rPr lang="en-US"/>
              <a:pPr>
                <a:defRPr/>
              </a:pPr>
              <a:t>12/8/2025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026D519-0129-40C9-A8E0-4AA1DED6835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118D7A31-5AF7-4205-933F-65E4A1293711}" type="datetimeFigureOut">
              <a:rPr lang="en-US"/>
              <a:pPr>
                <a:defRPr/>
              </a:pPr>
              <a:t>12/8/2025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A4CC8C2-CC74-4F74-BCEB-5B4FD5CCA758}"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380A20E-8178-48FA-A129-AAB02AB6D639}" type="datetimeFigureOut">
              <a:rPr lang="en-US"/>
              <a:pPr>
                <a:defRPr/>
              </a:pPr>
              <a:t>12/8/2025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D71C3DA-7D2B-4D47-80E5-C045B94A7C0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816E936-9FA0-4541-B442-5A2338068559}" type="datetimeFigureOut">
              <a:rPr lang="en-US"/>
              <a:pPr>
                <a:defRPr/>
              </a:pPr>
              <a:t>12/8/2025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F8867D3-01D4-40D3-B6DA-7869D49FDF7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553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C091D18-0586-4BD9-8B7F-38B22B7AB35F}" type="datetimeFigureOut">
              <a:rPr lang="en-US"/>
              <a:pPr>
                <a:defRPr/>
              </a:pPr>
              <a:t>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ED71EDE-E083-416B-A0EA-2AE6A7CEE35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o.dev/doc/instal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go.dev/doc/instal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arketplace.visualstudio.com/items?itemName=golang.go" TargetMode="External"/><Relationship Id="rId2" Type="http://schemas.openxmlformats.org/officeDocument/2006/relationships/hyperlink" Target="https://code.visualstudio.com/" TargetMode="External"/><Relationship Id="rId1" Type="http://schemas.openxmlformats.org/officeDocument/2006/relationships/slideLayout" Target="../slideLayouts/slideLayout2.xml"/><Relationship Id="rId4" Type="http://schemas.openxmlformats.org/officeDocument/2006/relationships/hyperlink" Target="https://go.dev/doc/editors"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o.dev/dl/go1.25.5.linux-amd64.tar.gz" TargetMode="External"/><Relationship Id="rId2" Type="http://schemas.openxmlformats.org/officeDocument/2006/relationships/hyperlink" Target="https://go.dev/doc/install"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go.dev/doc/faq"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olangprograms.com/go-language/variables.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hyperlink" Target="https://go.dev/ref/mod"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hyperlink" Target="https://go.dev/doc/tutorial/create-module"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hyperlink" Target="https://go.dev/doc/faq" TargetMode="Externa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hyperlink" Target="https://go.dev/doc/faq" TargetMode="Externa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hyperlink" Target="https://go.dev/doc/faq" TargetMode="Externa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hyperlink" Target="https://cacm.acm.org/research/the-go-programming-language-and-environment/" TargetMode="External"/><Relationship Id="rId2" Type="http://schemas.openxmlformats.org/officeDocument/2006/relationships/hyperlink" Target="https://gobyexample.com/" TargetMode="Externa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ctrTitle"/>
          </p:nvPr>
        </p:nvSpPr>
        <p:spPr/>
        <p:txBody>
          <a:bodyPr/>
          <a:lstStyle/>
          <a:p>
            <a:pPr eaLnBrk="1" hangingPunct="1"/>
            <a:r>
              <a:rPr lang="en-US" sz="6000" dirty="0" smtClean="0"/>
              <a:t>Introduction to Go</a:t>
            </a:r>
          </a:p>
        </p:txBody>
      </p:sp>
      <p:sp>
        <p:nvSpPr>
          <p:cNvPr id="3" name="Subtitle 2"/>
          <p:cNvSpPr>
            <a:spLocks noGrp="1"/>
          </p:cNvSpPr>
          <p:nvPr>
            <p:ph type="subTitle" idx="1"/>
          </p:nvPr>
        </p:nvSpPr>
        <p:spPr/>
        <p:txBody>
          <a:bodyPr rtlCol="0">
            <a:normAutofit fontScale="47500" lnSpcReduction="20000"/>
          </a:bodyPr>
          <a:lstStyle/>
          <a:p>
            <a:pPr eaLnBrk="1" fontAlgn="auto" hangingPunct="1">
              <a:spcAft>
                <a:spcPts val="0"/>
              </a:spcAft>
              <a:defRPr/>
            </a:pPr>
            <a:r>
              <a:rPr lang="en-US" sz="4400" dirty="0" smtClean="0"/>
              <a:t>Lecturer: Ngo Huy Bien</a:t>
            </a:r>
          </a:p>
          <a:p>
            <a:pPr eaLnBrk="1" fontAlgn="auto" hangingPunct="1">
              <a:spcAft>
                <a:spcPts val="0"/>
              </a:spcAft>
              <a:defRPr/>
            </a:pPr>
            <a:r>
              <a:rPr lang="en-US" sz="3600" dirty="0" smtClean="0"/>
              <a:t>Software Engineering Department</a:t>
            </a:r>
          </a:p>
          <a:p>
            <a:pPr eaLnBrk="1" fontAlgn="auto" hangingPunct="1">
              <a:spcAft>
                <a:spcPts val="0"/>
              </a:spcAft>
              <a:defRPr/>
            </a:pPr>
            <a:r>
              <a:rPr lang="en-US" sz="3600" dirty="0" smtClean="0"/>
              <a:t>Faculty of Information Technology</a:t>
            </a:r>
          </a:p>
          <a:p>
            <a:pPr eaLnBrk="1" fontAlgn="auto" hangingPunct="1">
              <a:spcAft>
                <a:spcPts val="0"/>
              </a:spcAft>
              <a:defRPr/>
            </a:pPr>
            <a:r>
              <a:rPr lang="en-US" sz="3600" dirty="0" smtClean="0"/>
              <a:t>VNUHCM - University of Science</a:t>
            </a:r>
          </a:p>
          <a:p>
            <a:pPr eaLnBrk="1" fontAlgn="auto" hangingPunct="1">
              <a:spcAft>
                <a:spcPts val="0"/>
              </a:spcAft>
              <a:defRPr/>
            </a:pPr>
            <a:r>
              <a:rPr lang="en-US" sz="3600" dirty="0" smtClean="0"/>
              <a:t>Ho Chi Minh City, Vietnam</a:t>
            </a:r>
          </a:p>
          <a:p>
            <a:pPr eaLnBrk="1" fontAlgn="auto" hangingPunct="1">
              <a:spcAft>
                <a:spcPts val="0"/>
              </a:spcAft>
              <a:defRPr/>
            </a:pPr>
            <a:r>
              <a:rPr lang="en-US" sz="3600" dirty="0" smtClean="0">
                <a:hlinkClick r:id="rId2"/>
              </a:rPr>
              <a:t>nhbien@fit.hcmus.edu.vn</a:t>
            </a:r>
            <a:endParaRPr lang="en-US" sz="36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r>
              <a:rPr lang="en-US" sz="2400" dirty="0" smtClean="0"/>
              <a:t>To create a simple program using </a:t>
            </a:r>
            <a:r>
              <a:rPr lang="en-US" sz="2400" i="1" dirty="0" smtClean="0">
                <a:solidFill>
                  <a:srgbClr val="C00000"/>
                </a:solidFill>
              </a:rPr>
              <a:t>Go</a:t>
            </a:r>
            <a:r>
              <a:rPr lang="en-US" sz="2400" dirty="0" smtClean="0"/>
              <a:t>.</a:t>
            </a: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200" dirty="0" smtClean="0"/>
              <a:t>Hello World.</a:t>
            </a:r>
          </a:p>
          <a:p>
            <a:pPr marL="571500" indent="-571500">
              <a:buFont typeface="+mj-lt"/>
              <a:buAutoNum type="romanUcPeriod"/>
            </a:pPr>
            <a:r>
              <a:rPr lang="en-US" sz="2200" dirty="0" smtClean="0"/>
              <a:t>Primitive Types.</a:t>
            </a:r>
          </a:p>
          <a:p>
            <a:pPr marL="571500" indent="-571500">
              <a:buFont typeface="+mj-lt"/>
              <a:buAutoNum type="romanUcPeriod"/>
            </a:pPr>
            <a:r>
              <a:rPr lang="en-US" sz="2200" dirty="0" smtClean="0"/>
              <a:t>Condition and Loop.</a:t>
            </a:r>
          </a:p>
          <a:p>
            <a:pPr marL="571500" indent="-571500">
              <a:buFont typeface="+mj-lt"/>
              <a:buAutoNum type="romanUcPeriod"/>
            </a:pPr>
            <a:r>
              <a:rPr lang="en-US" sz="2200" dirty="0" smtClean="0"/>
              <a:t>Functions.</a:t>
            </a:r>
          </a:p>
          <a:p>
            <a:pPr marL="571500" indent="-571500">
              <a:buFont typeface="+mj-lt"/>
              <a:buAutoNum type="romanUcPeriod"/>
            </a:pPr>
            <a:r>
              <a:rPr lang="en-US" sz="2200" dirty="0" smtClean="0"/>
              <a:t>Data Structures.</a:t>
            </a:r>
          </a:p>
          <a:p>
            <a:pPr marL="571500" indent="-571500">
              <a:buFont typeface="+mj-lt"/>
              <a:buAutoNum type="romanUcPeriod"/>
            </a:pPr>
            <a:r>
              <a:rPr lang="en-US" sz="2200" dirty="0" smtClean="0"/>
              <a:t>Types.</a:t>
            </a:r>
          </a:p>
          <a:p>
            <a:pPr marL="571500" indent="-571500">
              <a:buFont typeface="+mj-lt"/>
              <a:buAutoNum type="romanUcPeriod"/>
            </a:pPr>
            <a:r>
              <a:rPr lang="en-US" sz="2200" dirty="0" smtClean="0"/>
              <a:t>Packages.</a:t>
            </a:r>
          </a:p>
          <a:p>
            <a:pPr marL="571500" indent="-571500">
              <a:buFont typeface="+mj-lt"/>
              <a:buAutoNum type="romanUcPeriod"/>
            </a:pPr>
            <a:r>
              <a:rPr lang="en-US" sz="2200" dirty="0" err="1" smtClean="0"/>
              <a:t>Goroutines</a:t>
            </a:r>
            <a:r>
              <a:rPr lang="en-US" sz="2200" dirty="0" smtClean="0"/>
              <a:t>.</a:t>
            </a:r>
          </a:p>
          <a:p>
            <a:pPr marL="571500" indent="-571500">
              <a:buFont typeface="+mj-lt"/>
              <a:buAutoNum type="romanUcPeriod"/>
            </a:pPr>
            <a:r>
              <a:rPr lang="en-US" sz="2200" dirty="0" smtClean="0"/>
              <a:t>Channels.</a:t>
            </a:r>
          </a:p>
          <a:p>
            <a:pPr marL="571500" indent="-571500">
              <a:buFont typeface="+mj-lt"/>
              <a:buAutoNum type="romanUcPeriod"/>
            </a:pPr>
            <a:r>
              <a:rPr lang="en-US" sz="2200" dirty="0" smtClean="0"/>
              <a:t>Modules.</a:t>
            </a:r>
          </a:p>
          <a:p>
            <a:pPr marL="571500" indent="-571500">
              <a:buFont typeface="+mj-lt"/>
              <a:buAutoNum type="romanUcPeriod"/>
            </a:pPr>
            <a:r>
              <a:rPr lang="en-US" sz="2200" dirty="0" smtClean="0"/>
              <a:t>FAQs.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400" dirty="0" smtClean="0"/>
              <a:t>Alan A. A. Donovan and Brian W. Kernighan (2015). The Go Programming Language. Addison-Wesley Professional.</a:t>
            </a:r>
          </a:p>
          <a:p>
            <a:pPr marL="457200" indent="-457200">
              <a:buFont typeface="+mj-lt"/>
              <a:buAutoNum type="arabicPeriod"/>
            </a:pPr>
            <a:r>
              <a:rPr lang="en-US" sz="2400" dirty="0" smtClean="0"/>
              <a:t>Nathan Youngman and Roger </a:t>
            </a:r>
            <a:r>
              <a:rPr lang="en-US" sz="2400" dirty="0" err="1" smtClean="0"/>
              <a:t>Peppe</a:t>
            </a:r>
            <a:r>
              <a:rPr lang="en-US" sz="2400" dirty="0" smtClean="0"/>
              <a:t> (2018). Get Programming with Go. Manning Publications.</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Download and Install Go Compiler on </a:t>
            </a:r>
            <a:r>
              <a:rPr lang="en-US" dirty="0" err="1" smtClean="0"/>
              <a:t>macOS</a:t>
            </a:r>
            <a:r>
              <a:rPr lang="en-US" dirty="0" smtClean="0"/>
              <a:t> (I)</a:t>
            </a:r>
            <a:endParaRPr lang="en-US" dirty="0"/>
          </a:p>
        </p:txBody>
      </p:sp>
      <p:sp>
        <p:nvSpPr>
          <p:cNvPr id="3" name="Content Placeholder 2"/>
          <p:cNvSpPr>
            <a:spLocks noGrp="1"/>
          </p:cNvSpPr>
          <p:nvPr>
            <p:ph idx="1"/>
          </p:nvPr>
        </p:nvSpPr>
        <p:spPr/>
        <p:txBody>
          <a:bodyPr/>
          <a:lstStyle/>
          <a:p>
            <a:r>
              <a:rPr lang="en-US" sz="2200" dirty="0" smtClean="0">
                <a:hlinkClick r:id="rId2"/>
              </a:rPr>
              <a:t>https://go.dev/doc/install</a:t>
            </a:r>
            <a:endParaRPr lang="en-US" sz="2200" dirty="0" smtClean="0"/>
          </a:p>
        </p:txBody>
      </p:sp>
      <p:pic>
        <p:nvPicPr>
          <p:cNvPr id="1026" name="Picture 2"/>
          <p:cNvPicPr>
            <a:picLocks noChangeAspect="1" noChangeArrowheads="1"/>
          </p:cNvPicPr>
          <p:nvPr/>
        </p:nvPicPr>
        <p:blipFill>
          <a:blip r:embed="rId3" cstate="print"/>
          <a:srcRect/>
          <a:stretch>
            <a:fillRect/>
          </a:stretch>
        </p:blipFill>
        <p:spPr bwMode="auto">
          <a:xfrm>
            <a:off x="2247900" y="2540000"/>
            <a:ext cx="4648200" cy="35560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Download and Install Go Compiler on </a:t>
            </a:r>
            <a:r>
              <a:rPr lang="en-US" dirty="0" err="1" smtClean="0"/>
              <a:t>macOS</a:t>
            </a:r>
            <a:r>
              <a:rPr lang="en-US" dirty="0" smtClean="0"/>
              <a:t> (II)</a:t>
            </a:r>
            <a:endParaRPr lang="en-US" dirty="0"/>
          </a:p>
        </p:txBody>
      </p:sp>
      <p:sp>
        <p:nvSpPr>
          <p:cNvPr id="3" name="Content Placeholder 2"/>
          <p:cNvSpPr>
            <a:spLocks noGrp="1"/>
          </p:cNvSpPr>
          <p:nvPr>
            <p:ph idx="1"/>
          </p:nvPr>
        </p:nvSpPr>
        <p:spPr/>
        <p:txBody>
          <a:bodyPr/>
          <a:lstStyle/>
          <a:p>
            <a:r>
              <a:rPr lang="en-US" dirty="0" smtClean="0"/>
              <a:t>Restart your </a:t>
            </a:r>
            <a:r>
              <a:rPr lang="en-US" dirty="0" err="1" smtClean="0"/>
              <a:t>MacBook</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2238375" y="2692400"/>
            <a:ext cx="4667250" cy="35560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3. Verify Go Installation</a:t>
            </a:r>
            <a:endParaRPr lang="en-US" sz="4200" dirty="0"/>
          </a:p>
        </p:txBody>
      </p:sp>
      <p:sp>
        <p:nvSpPr>
          <p:cNvPr id="3" name="Content Placeholder 2"/>
          <p:cNvSpPr>
            <a:spLocks noGrp="1"/>
          </p:cNvSpPr>
          <p:nvPr>
            <p:ph idx="1"/>
          </p:nvPr>
        </p:nvSpPr>
        <p:spPr/>
        <p:txBody>
          <a:bodyPr/>
          <a:lstStyle/>
          <a:p>
            <a:r>
              <a:rPr lang="en-US" sz="2400" dirty="0" smtClean="0">
                <a:latin typeface="Consolas" pitchFamily="49" charset="0"/>
              </a:rPr>
              <a:t>go version</a:t>
            </a:r>
          </a:p>
          <a:p>
            <a:endParaRPr lang="en-US" sz="2400" dirty="0" smtClean="0">
              <a:latin typeface="Consolas" pitchFamily="49" charset="0"/>
            </a:endParaRPr>
          </a:p>
        </p:txBody>
      </p:sp>
      <p:pic>
        <p:nvPicPr>
          <p:cNvPr id="3074" name="Picture 2"/>
          <p:cNvPicPr>
            <a:picLocks noChangeAspect="1" noChangeArrowheads="1"/>
          </p:cNvPicPr>
          <p:nvPr/>
        </p:nvPicPr>
        <p:blipFill>
          <a:blip r:embed="rId2" cstate="print"/>
          <a:srcRect/>
          <a:stretch>
            <a:fillRect/>
          </a:stretch>
        </p:blipFill>
        <p:spPr bwMode="auto">
          <a:xfrm>
            <a:off x="1371600" y="2971800"/>
            <a:ext cx="6318250" cy="16383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1. Download and Install Go Compiler on Windows</a:t>
            </a:r>
            <a:endParaRPr lang="en-US" sz="3800" dirty="0"/>
          </a:p>
        </p:txBody>
      </p:sp>
      <p:sp>
        <p:nvSpPr>
          <p:cNvPr id="3" name="Content Placeholder 2"/>
          <p:cNvSpPr>
            <a:spLocks noGrp="1"/>
          </p:cNvSpPr>
          <p:nvPr>
            <p:ph idx="1"/>
          </p:nvPr>
        </p:nvSpPr>
        <p:spPr/>
        <p:txBody>
          <a:bodyPr/>
          <a:lstStyle/>
          <a:p>
            <a:r>
              <a:rPr lang="en-US" sz="2200" dirty="0" smtClean="0">
                <a:hlinkClick r:id="rId2"/>
              </a:rPr>
              <a:t>https://go.dev/doc/install</a:t>
            </a:r>
            <a:endParaRPr lang="en-US" sz="2200" dirty="0" smtClean="0"/>
          </a:p>
        </p:txBody>
      </p:sp>
      <p:pic>
        <p:nvPicPr>
          <p:cNvPr id="4" name="Picture 2"/>
          <p:cNvPicPr>
            <a:picLocks noChangeAspect="1" noChangeArrowheads="1"/>
          </p:cNvPicPr>
          <p:nvPr/>
        </p:nvPicPr>
        <p:blipFill>
          <a:blip r:embed="rId3" cstate="print"/>
          <a:srcRect/>
          <a:stretch>
            <a:fillRect/>
          </a:stretch>
        </p:blipFill>
        <p:spPr bwMode="auto">
          <a:xfrm>
            <a:off x="2311400" y="2501900"/>
            <a:ext cx="4521200" cy="35179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2. Verify Go Installation</a:t>
            </a:r>
            <a:endParaRPr lang="en-US" sz="4200" dirty="0"/>
          </a:p>
        </p:txBody>
      </p:sp>
      <p:sp>
        <p:nvSpPr>
          <p:cNvPr id="3" name="Content Placeholder 2"/>
          <p:cNvSpPr>
            <a:spLocks noGrp="1"/>
          </p:cNvSpPr>
          <p:nvPr>
            <p:ph idx="1"/>
          </p:nvPr>
        </p:nvSpPr>
        <p:spPr/>
        <p:txBody>
          <a:bodyPr/>
          <a:lstStyle/>
          <a:p>
            <a:r>
              <a:rPr lang="en-US" sz="2400" dirty="0" smtClean="0">
                <a:latin typeface="Consolas" pitchFamily="49" charset="0"/>
              </a:rPr>
              <a:t>go version</a:t>
            </a:r>
          </a:p>
          <a:p>
            <a:endParaRPr lang="en-US" sz="2400" dirty="0" smtClean="0">
              <a:latin typeface="Consolas"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1447800" y="2895600"/>
            <a:ext cx="6253480" cy="236728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Install Go IDE</a:t>
            </a:r>
            <a:endParaRPr lang="en-US" dirty="0"/>
          </a:p>
        </p:txBody>
      </p:sp>
      <p:sp>
        <p:nvSpPr>
          <p:cNvPr id="3" name="Content Placeholder 2"/>
          <p:cNvSpPr>
            <a:spLocks noGrp="1"/>
          </p:cNvSpPr>
          <p:nvPr>
            <p:ph idx="1"/>
          </p:nvPr>
        </p:nvSpPr>
        <p:spPr/>
        <p:txBody>
          <a:bodyPr/>
          <a:lstStyle/>
          <a:p>
            <a:r>
              <a:rPr lang="en-US" sz="2200" dirty="0" smtClean="0">
                <a:latin typeface="+mj-lt"/>
                <a:hlinkClick r:id="rId2"/>
              </a:rPr>
              <a:t>https://code.visualstudio.com/</a:t>
            </a:r>
            <a:endParaRPr lang="en-US" sz="2200" dirty="0" smtClean="0">
              <a:latin typeface="+mj-lt"/>
            </a:endParaRPr>
          </a:p>
          <a:p>
            <a:r>
              <a:rPr lang="en-US" sz="2200" dirty="0" smtClean="0">
                <a:latin typeface="+mj-lt"/>
                <a:hlinkClick r:id="rId3"/>
              </a:rPr>
              <a:t>https://marketplace.visualstudio.com/items?itemName=golang.go</a:t>
            </a:r>
            <a:endParaRPr lang="en-US" sz="2200" dirty="0" smtClean="0">
              <a:latin typeface="+mj-lt"/>
            </a:endParaRPr>
          </a:p>
          <a:p>
            <a:r>
              <a:rPr lang="en-US" sz="2200" dirty="0" smtClean="0">
                <a:hlinkClick r:id="rId4"/>
              </a:rPr>
              <a:t>https://go.dev/doc/editors</a:t>
            </a:r>
            <a:endParaRPr lang="en-US" sz="2200" dirty="0" smtClean="0"/>
          </a:p>
          <a:p>
            <a:endParaRPr lang="en-US" sz="2200" dirty="0">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1. Download and Install Go Compiler on </a:t>
            </a:r>
            <a:r>
              <a:rPr lang="en-US" sz="3800" dirty="0" err="1" smtClean="0"/>
              <a:t>Ubuntu</a:t>
            </a:r>
            <a:endParaRPr lang="en-US" sz="3800" dirty="0"/>
          </a:p>
        </p:txBody>
      </p:sp>
      <p:sp>
        <p:nvSpPr>
          <p:cNvPr id="3" name="Content Placeholder 2"/>
          <p:cNvSpPr>
            <a:spLocks noGrp="1"/>
          </p:cNvSpPr>
          <p:nvPr>
            <p:ph idx="1"/>
          </p:nvPr>
        </p:nvSpPr>
        <p:spPr/>
        <p:txBody>
          <a:bodyPr/>
          <a:lstStyle/>
          <a:p>
            <a:r>
              <a:rPr lang="en-US" sz="2200" dirty="0" smtClean="0">
                <a:hlinkClick r:id="rId2"/>
              </a:rPr>
              <a:t>https://go.dev/dl</a:t>
            </a:r>
            <a:r>
              <a:rPr lang="en-US" sz="2200" dirty="0" smtClean="0">
                <a:hlinkClick r:id="rId2"/>
              </a:rPr>
              <a:t>/</a:t>
            </a:r>
          </a:p>
          <a:p>
            <a:r>
              <a:rPr lang="en-US" sz="2200" dirty="0" err="1" smtClean="0"/>
              <a:t>wget</a:t>
            </a:r>
            <a:r>
              <a:rPr lang="en-US" sz="2200" dirty="0" smtClean="0"/>
              <a:t> </a:t>
            </a:r>
            <a:r>
              <a:rPr lang="en-US" sz="2200" dirty="0" smtClean="0">
                <a:hlinkClick r:id="rId3"/>
              </a:rPr>
              <a:t>https://go.dev/dl/go1.25.5.linux-amd64.tar.gz</a:t>
            </a:r>
            <a:endParaRPr lang="en-US" sz="2200" dirty="0" smtClean="0"/>
          </a:p>
          <a:p>
            <a:r>
              <a:rPr lang="en-US" sz="2200" dirty="0" smtClean="0">
                <a:hlinkClick r:id="rId2"/>
              </a:rPr>
              <a:t>https</a:t>
            </a:r>
            <a:r>
              <a:rPr lang="en-US" sz="2200" dirty="0" smtClean="0">
                <a:hlinkClick r:id="rId2"/>
              </a:rPr>
              <a:t>://</a:t>
            </a:r>
            <a:r>
              <a:rPr lang="en-US" sz="2200" dirty="0" smtClean="0">
                <a:hlinkClick r:id="rId2"/>
              </a:rPr>
              <a:t>go.dev/doc/install</a:t>
            </a:r>
            <a:endParaRPr lang="en-US" sz="2200" dirty="0" smtClean="0"/>
          </a:p>
          <a:p>
            <a:r>
              <a:rPr lang="en-US" sz="2200" dirty="0" err="1" smtClean="0"/>
              <a:t>rm</a:t>
            </a:r>
            <a:r>
              <a:rPr lang="en-US" sz="2200" dirty="0" smtClean="0"/>
              <a:t> -</a:t>
            </a:r>
            <a:r>
              <a:rPr lang="en-US" sz="2200" dirty="0" err="1" smtClean="0"/>
              <a:t>rf</a:t>
            </a:r>
            <a:r>
              <a:rPr lang="en-US" sz="2200" dirty="0" smtClean="0"/>
              <a:t> /</a:t>
            </a:r>
            <a:r>
              <a:rPr lang="en-US" sz="2200" dirty="0" err="1" smtClean="0"/>
              <a:t>usr</a:t>
            </a:r>
            <a:r>
              <a:rPr lang="en-US" sz="2200" dirty="0" smtClean="0"/>
              <a:t>/local/go</a:t>
            </a:r>
          </a:p>
          <a:p>
            <a:r>
              <a:rPr lang="en-US" sz="2200" dirty="0" err="1" smtClean="0"/>
              <a:t>sudo</a:t>
            </a:r>
            <a:r>
              <a:rPr lang="en-US" sz="2200" dirty="0" smtClean="0"/>
              <a:t> tar -C /</a:t>
            </a:r>
            <a:r>
              <a:rPr lang="en-US" sz="2200" dirty="0" err="1" smtClean="0"/>
              <a:t>usr</a:t>
            </a:r>
            <a:r>
              <a:rPr lang="en-US" sz="2200" dirty="0" smtClean="0"/>
              <a:t>/local -</a:t>
            </a:r>
            <a:r>
              <a:rPr lang="en-US" sz="2200" dirty="0" err="1" smtClean="0"/>
              <a:t>xzf</a:t>
            </a:r>
            <a:r>
              <a:rPr lang="en-US" sz="2200" dirty="0" smtClean="0"/>
              <a:t> </a:t>
            </a:r>
            <a:r>
              <a:rPr lang="en-US" sz="2200" dirty="0" smtClean="0"/>
              <a:t>go1.25.5.linux-amd64.tar.gz</a:t>
            </a:r>
          </a:p>
          <a:p>
            <a:r>
              <a:rPr lang="en-US" sz="2200" dirty="0" smtClean="0"/>
              <a:t>export PATH=$PATH:/</a:t>
            </a:r>
            <a:r>
              <a:rPr lang="en-US" sz="2200" dirty="0" err="1" smtClean="0"/>
              <a:t>usr</a:t>
            </a:r>
            <a:r>
              <a:rPr lang="en-US" sz="2200" dirty="0" smtClean="0"/>
              <a:t>/local/go/bin</a:t>
            </a:r>
          </a:p>
          <a:p>
            <a:r>
              <a:rPr lang="en-US" sz="2200" dirty="0" smtClean="0"/>
              <a:t>go version</a:t>
            </a:r>
          </a:p>
        </p:txBody>
      </p:sp>
      <p:pic>
        <p:nvPicPr>
          <p:cNvPr id="1026" name="Picture 2"/>
          <p:cNvPicPr>
            <a:picLocks noChangeAspect="1" noChangeArrowheads="1"/>
          </p:cNvPicPr>
          <p:nvPr/>
        </p:nvPicPr>
        <p:blipFill>
          <a:blip r:embed="rId4" cstate="print"/>
          <a:srcRect/>
          <a:stretch>
            <a:fillRect/>
          </a:stretch>
        </p:blipFill>
        <p:spPr bwMode="auto">
          <a:xfrm>
            <a:off x="1814512" y="4876800"/>
            <a:ext cx="5424488" cy="12287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Hello World [1]</a:t>
            </a:r>
            <a:endParaRPr lang="en-US" dirty="0"/>
          </a:p>
        </p:txBody>
      </p:sp>
      <p:sp>
        <p:nvSpPr>
          <p:cNvPr id="4" name="Content Placeholder 2"/>
          <p:cNvSpPr txBox="1">
            <a:spLocks/>
          </p:cNvSpPr>
          <p:nvPr/>
        </p:nvSpPr>
        <p:spPr bwMode="auto">
          <a:xfrm>
            <a:off x="457200" y="2286000"/>
            <a:ext cx="8229600" cy="3124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dirty="0" smtClean="0">
                <a:ln>
                  <a:noFill/>
                </a:ln>
                <a:solidFill>
                  <a:srgbClr val="569CD6"/>
                </a:solidFill>
                <a:effectLst/>
                <a:uLnTx/>
                <a:uFillTx/>
                <a:latin typeface="Consolas"/>
                <a:ea typeface="+mn-ea"/>
                <a:cs typeface="+mn-cs"/>
              </a:rPr>
              <a:t>package</a:t>
            </a: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 main</a:t>
            </a: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
            </a:r>
            <a:br>
              <a:rPr kumimoji="0" lang="en-US" sz="2400" b="0" i="0" u="none" strike="noStrike" kern="1200" cap="none" spc="0" normalizeH="0" baseline="0" noProof="0" dirty="0" smtClean="0">
                <a:ln>
                  <a:noFill/>
                </a:ln>
                <a:solidFill>
                  <a:srgbClr val="D4D4D4"/>
                </a:solidFill>
                <a:effectLst/>
                <a:uLnTx/>
                <a:uFillTx/>
                <a:latin typeface="Consolas"/>
                <a:ea typeface="+mn-ea"/>
                <a:cs typeface="+mn-cs"/>
              </a:rPr>
            </a:br>
            <a:r>
              <a:rPr kumimoji="0" lang="en-US" sz="2400" b="0" i="0" u="none" strike="noStrike" kern="1200" cap="none" spc="0" normalizeH="0" baseline="0" noProof="0" dirty="0" smtClean="0">
                <a:ln>
                  <a:noFill/>
                </a:ln>
                <a:solidFill>
                  <a:srgbClr val="569CD6"/>
                </a:solidFill>
                <a:effectLst/>
                <a:uLnTx/>
                <a:uFillTx/>
                <a:latin typeface="Consolas"/>
                <a:ea typeface="+mn-ea"/>
                <a:cs typeface="+mn-cs"/>
              </a:rPr>
              <a:t>import</a:t>
            </a: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 </a:t>
            </a:r>
            <a:r>
              <a:rPr kumimoji="0" lang="en-US" sz="2400" b="0" i="0" u="none" strike="noStrike" kern="1200" cap="none" spc="0" normalizeH="0" baseline="0" noProof="0" dirty="0" smtClean="0">
                <a:ln>
                  <a:noFill/>
                </a:ln>
                <a:solidFill>
                  <a:srgbClr val="CE9178"/>
                </a:solidFill>
                <a:effectLst/>
                <a:uLnTx/>
                <a:uFillTx/>
                <a:latin typeface="Consolas"/>
                <a:ea typeface="+mn-ea"/>
                <a:cs typeface="+mn-cs"/>
              </a:rPr>
              <a:t>"</a:t>
            </a:r>
            <a:r>
              <a:rPr kumimoji="0" lang="en-US" sz="2400" b="0" i="0" u="none" strike="noStrike" kern="1200" cap="none" spc="0" normalizeH="0" baseline="0" noProof="0" dirty="0" err="1" smtClean="0">
                <a:ln>
                  <a:noFill/>
                </a:ln>
                <a:solidFill>
                  <a:srgbClr val="CE9178"/>
                </a:solidFill>
                <a:effectLst/>
                <a:uLnTx/>
                <a:uFillTx/>
                <a:latin typeface="Consolas"/>
                <a:ea typeface="+mn-ea"/>
                <a:cs typeface="+mn-cs"/>
              </a:rPr>
              <a:t>fmt</a:t>
            </a:r>
            <a:r>
              <a:rPr kumimoji="0" lang="en-US" sz="2400" b="0" i="0" u="none" strike="noStrike" kern="1200" cap="none" spc="0" normalizeH="0" baseline="0" noProof="0" dirty="0" smtClean="0">
                <a:ln>
                  <a:noFill/>
                </a:ln>
                <a:solidFill>
                  <a:srgbClr val="CE9178"/>
                </a:solidFill>
                <a:effectLst/>
                <a:uLnTx/>
                <a:uFillTx/>
                <a:latin typeface="Consolas"/>
                <a:ea typeface="+mn-ea"/>
                <a:cs typeface="+mn-cs"/>
              </a:rPr>
              <a:t>"</a:t>
            </a:r>
            <a:endParaRPr kumimoji="0" lang="en-US" sz="2400" b="0" i="0" u="none" strike="noStrike" kern="1200" cap="none" spc="0" normalizeH="0" baseline="0" noProof="0" dirty="0" smtClean="0">
              <a:ln>
                <a:noFill/>
              </a:ln>
              <a:solidFill>
                <a:srgbClr val="D4D4D4"/>
              </a:solidFill>
              <a:effectLst/>
              <a:uLnTx/>
              <a:uFillTx/>
              <a:latin typeface="Consolas"/>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
            </a:r>
            <a:br>
              <a:rPr kumimoji="0" lang="en-US" sz="2400" b="0" i="0" u="none" strike="noStrike" kern="1200" cap="none" spc="0" normalizeH="0" baseline="0" noProof="0" dirty="0" smtClean="0">
                <a:ln>
                  <a:noFill/>
                </a:ln>
                <a:solidFill>
                  <a:srgbClr val="D4D4D4"/>
                </a:solidFill>
                <a:effectLst/>
                <a:uLnTx/>
                <a:uFillTx/>
                <a:latin typeface="Consolas"/>
                <a:ea typeface="+mn-ea"/>
                <a:cs typeface="+mn-cs"/>
              </a:rPr>
            </a:br>
            <a:r>
              <a:rPr kumimoji="0" lang="en-US" sz="2400" b="0" i="0" u="none" strike="noStrike" kern="1200" cap="none" spc="0" normalizeH="0" baseline="0" noProof="0" dirty="0" err="1" smtClean="0">
                <a:ln>
                  <a:noFill/>
                </a:ln>
                <a:solidFill>
                  <a:srgbClr val="569CD6"/>
                </a:solidFill>
                <a:effectLst/>
                <a:uLnTx/>
                <a:uFillTx/>
                <a:latin typeface="Consolas"/>
                <a:ea typeface="+mn-ea"/>
                <a:cs typeface="+mn-cs"/>
              </a:rPr>
              <a:t>func</a:t>
            </a: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 </a:t>
            </a:r>
            <a:r>
              <a:rPr kumimoji="0" lang="en-US" sz="2400" b="0" i="0" u="none" strike="noStrike" kern="1200" cap="none" spc="0" normalizeH="0" baseline="0" noProof="0" dirty="0" smtClean="0">
                <a:ln>
                  <a:noFill/>
                </a:ln>
                <a:solidFill>
                  <a:srgbClr val="DCDCAA"/>
                </a:solidFill>
                <a:effectLst/>
                <a:uLnTx/>
                <a:uFillTx/>
                <a:latin typeface="Consolas"/>
                <a:ea typeface="+mn-ea"/>
                <a:cs typeface="+mn-cs"/>
              </a:rPr>
              <a:t>main</a:t>
            </a: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 {</a:t>
            </a: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    </a:t>
            </a:r>
            <a:r>
              <a:rPr kumimoji="0" lang="en-US" sz="2400" b="0" i="0" u="none" strike="noStrike" kern="1200" cap="none" spc="0" normalizeH="0" baseline="0" noProof="0" dirty="0" err="1" smtClean="0">
                <a:ln>
                  <a:noFill/>
                </a:ln>
                <a:solidFill>
                  <a:srgbClr val="D4D4D4"/>
                </a:solidFill>
                <a:effectLst/>
                <a:uLnTx/>
                <a:uFillTx/>
                <a:latin typeface="Consolas"/>
                <a:ea typeface="+mn-ea"/>
                <a:cs typeface="+mn-cs"/>
              </a:rPr>
              <a:t>fmt.</a:t>
            </a:r>
            <a:r>
              <a:rPr kumimoji="0" lang="en-US" sz="2400" b="0" i="0" u="none" strike="noStrike" kern="1200" cap="none" spc="0" normalizeH="0" baseline="0" noProof="0" dirty="0" err="1" smtClean="0">
                <a:ln>
                  <a:noFill/>
                </a:ln>
                <a:solidFill>
                  <a:srgbClr val="DCDCAA"/>
                </a:solidFill>
                <a:effectLst/>
                <a:uLnTx/>
                <a:uFillTx/>
                <a:latin typeface="Consolas"/>
                <a:ea typeface="+mn-ea"/>
                <a:cs typeface="+mn-cs"/>
              </a:rPr>
              <a:t>Println</a:t>
            </a: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a:t>
            </a:r>
            <a:r>
              <a:rPr kumimoji="0" lang="en-US" sz="2400" b="0" i="0" u="none" strike="noStrike" kern="1200" cap="none" spc="0" normalizeH="0" baseline="0" noProof="0" dirty="0" smtClean="0">
                <a:ln>
                  <a:noFill/>
                </a:ln>
                <a:solidFill>
                  <a:srgbClr val="CE9178"/>
                </a:solidFill>
                <a:effectLst/>
                <a:uLnTx/>
                <a:uFillTx/>
                <a:latin typeface="Consolas"/>
                <a:ea typeface="+mn-ea"/>
                <a:cs typeface="+mn-cs"/>
              </a:rPr>
              <a:t>"Hello </a:t>
            </a:r>
            <a:r>
              <a:rPr kumimoji="0" lang="en-US" sz="2400" b="0" i="0" u="none" strike="noStrike" kern="1200" cap="none" spc="0" normalizeH="0" baseline="0" noProof="0" dirty="0" err="1" smtClean="0">
                <a:ln>
                  <a:noFill/>
                </a:ln>
                <a:solidFill>
                  <a:srgbClr val="CE9178"/>
                </a:solidFill>
                <a:effectLst/>
                <a:uLnTx/>
                <a:uFillTx/>
                <a:latin typeface="Consolas"/>
                <a:ea typeface="+mn-ea"/>
                <a:cs typeface="+mn-cs"/>
              </a:rPr>
              <a:t>NHBien</a:t>
            </a:r>
            <a:r>
              <a:rPr kumimoji="0" lang="en-US" sz="2400" b="0" i="0" u="none" strike="noStrike" kern="1200" cap="none" spc="0" normalizeH="0" baseline="0" noProof="0" dirty="0" smtClean="0">
                <a:ln>
                  <a:noFill/>
                </a:ln>
                <a:solidFill>
                  <a:srgbClr val="CE9178"/>
                </a:solidFill>
                <a:effectLst/>
                <a:uLnTx/>
                <a:uFillTx/>
                <a:latin typeface="Consolas"/>
                <a:ea typeface="+mn-ea"/>
                <a:cs typeface="+mn-cs"/>
              </a:rPr>
              <a:t>!"</a:t>
            </a: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a:t>
            </a: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a:t>
            </a: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r>
              <a:rPr kumimoji="0" lang="en-US" sz="2400" b="0" i="0" u="none" strike="noStrike" kern="1200" cap="none" spc="0" normalizeH="0" baseline="0" noProof="0" dirty="0" smtClean="0">
                <a:ln>
                  <a:noFill/>
                </a:ln>
                <a:solidFill>
                  <a:srgbClr val="D4D4D4"/>
                </a:solidFill>
                <a:effectLst/>
                <a:uLnTx/>
                <a:uFillTx/>
                <a:latin typeface="Consolas"/>
                <a:ea typeface="+mn-ea"/>
                <a:cs typeface="+mn-cs"/>
              </a:rPr>
              <a:t/>
            </a:r>
            <a:br>
              <a:rPr kumimoji="0" lang="en-US" sz="2400" b="0" i="0" u="none" strike="noStrike" kern="1200" cap="none" spc="0" normalizeH="0" baseline="0" noProof="0" dirty="0" smtClean="0">
                <a:ln>
                  <a:noFill/>
                </a:ln>
                <a:solidFill>
                  <a:srgbClr val="D4D4D4"/>
                </a:solidFill>
                <a:effectLst/>
                <a:uLnTx/>
                <a:uFillTx/>
                <a:latin typeface="Consolas"/>
                <a:ea typeface="+mn-ea"/>
                <a:cs typeface="+mn-cs"/>
              </a:rPr>
            </a:br>
            <a:endParaRPr kumimoji="0" lang="en-US" sz="2400" b="0" i="0" u="none" strike="noStrike" kern="1200" cap="none" spc="0" normalizeH="0" baseline="0" noProof="0" dirty="0" smtClean="0">
              <a:ln>
                <a:noFill/>
              </a:ln>
              <a:solidFill>
                <a:srgbClr val="D4D4D4"/>
              </a:solidFill>
              <a:effectLst/>
              <a:uLnTx/>
              <a:uFillTx/>
              <a:latin typeface="Consolas"/>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charset="0"/>
              <a:buNone/>
              <a:tabLst/>
              <a:defRPr/>
            </a:pPr>
            <a:endParaRPr kumimoji="0" lang="en-US" sz="24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Run the Hello World</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go run </a:t>
            </a:r>
            <a:r>
              <a:rPr lang="en-US" sz="2400" dirty="0" err="1" smtClean="0">
                <a:latin typeface="Consolas" pitchFamily="49" charset="0"/>
              </a:rPr>
              <a:t>helloworld.go</a:t>
            </a:r>
            <a:endParaRPr lang="en-US" sz="2400" dirty="0">
              <a:latin typeface="Consolas"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2120900" y="2682875"/>
            <a:ext cx="4902200" cy="149225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Build the Hello World</a:t>
            </a:r>
            <a:endParaRPr lang="en-US" dirty="0"/>
          </a:p>
        </p:txBody>
      </p:sp>
      <p:sp>
        <p:nvSpPr>
          <p:cNvPr id="3" name="Content Placeholder 2"/>
          <p:cNvSpPr>
            <a:spLocks noGrp="1"/>
          </p:cNvSpPr>
          <p:nvPr>
            <p:ph idx="1"/>
          </p:nvPr>
        </p:nvSpPr>
        <p:spPr/>
        <p:txBody>
          <a:bodyPr/>
          <a:lstStyle/>
          <a:p>
            <a:r>
              <a:rPr lang="en-US" sz="2400" dirty="0" smtClean="0"/>
              <a:t>Go is a compiled language.</a:t>
            </a:r>
          </a:p>
          <a:p>
            <a:r>
              <a:rPr lang="en-US" sz="2400" dirty="0" smtClean="0"/>
              <a:t>Create an </a:t>
            </a:r>
            <a:r>
              <a:rPr lang="en-US" sz="2400" b="1" dirty="0" smtClean="0"/>
              <a:t>executable binary file</a:t>
            </a:r>
            <a:r>
              <a:rPr lang="en-US" sz="2400" dirty="0" smtClean="0"/>
              <a:t> called </a:t>
            </a:r>
            <a:r>
              <a:rPr lang="en-US" sz="2400" b="1" dirty="0" err="1" smtClean="0">
                <a:latin typeface="Consolas" pitchFamily="49" charset="0"/>
              </a:rPr>
              <a:t>helloworld</a:t>
            </a:r>
            <a:r>
              <a:rPr lang="en-US" sz="2400" dirty="0" smtClean="0"/>
              <a:t> that can be run any time.</a:t>
            </a:r>
          </a:p>
          <a:p>
            <a:pPr lvl="1"/>
            <a:r>
              <a:rPr lang="en-US" sz="2000" b="1" dirty="0" smtClean="0">
                <a:latin typeface="Consolas" pitchFamily="49" charset="0"/>
              </a:rPr>
              <a:t>go build </a:t>
            </a:r>
            <a:r>
              <a:rPr lang="en-US" sz="2000" b="1" dirty="0" err="1" smtClean="0">
                <a:latin typeface="Consolas" pitchFamily="49" charset="0"/>
              </a:rPr>
              <a:t>helloworld.go</a:t>
            </a:r>
            <a:endParaRPr lang="en-US" sz="2000" b="1" dirty="0" smtClean="0">
              <a:latin typeface="Consolas" pitchFamily="49" charset="0"/>
            </a:endParaRPr>
          </a:p>
        </p:txBody>
      </p:sp>
      <p:pic>
        <p:nvPicPr>
          <p:cNvPr id="3074" name="Picture 2"/>
          <p:cNvPicPr>
            <a:picLocks noChangeAspect="1" noChangeArrowheads="1"/>
          </p:cNvPicPr>
          <p:nvPr/>
        </p:nvPicPr>
        <p:blipFill>
          <a:blip r:embed="rId2" cstate="print"/>
          <a:srcRect/>
          <a:stretch>
            <a:fillRect/>
          </a:stretch>
        </p:blipFill>
        <p:spPr bwMode="auto">
          <a:xfrm>
            <a:off x="2120900" y="3429000"/>
            <a:ext cx="4902200" cy="1177925"/>
          </a:xfrm>
          <a:prstGeom prst="rect">
            <a:avLst/>
          </a:prstGeom>
          <a:noFill/>
          <a:ln w="9525">
            <a:noFill/>
            <a:miter lim="800000"/>
            <a:headEnd/>
            <a:tailEnd/>
          </a:ln>
        </p:spPr>
      </p:pic>
      <p:pic>
        <p:nvPicPr>
          <p:cNvPr id="3077" name="Picture 5"/>
          <p:cNvPicPr>
            <a:picLocks noChangeAspect="1" noChangeArrowheads="1"/>
          </p:cNvPicPr>
          <p:nvPr/>
        </p:nvPicPr>
        <p:blipFill>
          <a:blip r:embed="rId3" cstate="print"/>
          <a:srcRect/>
          <a:stretch>
            <a:fillRect/>
          </a:stretch>
        </p:blipFill>
        <p:spPr bwMode="auto">
          <a:xfrm>
            <a:off x="1835150" y="4806950"/>
            <a:ext cx="5473700" cy="15938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Run the Binary File</a:t>
            </a:r>
            <a:endParaRPr lang="en-US" dirty="0"/>
          </a:p>
        </p:txBody>
      </p:sp>
      <p:sp>
        <p:nvSpPr>
          <p:cNvPr id="3" name="Content Placeholder 2"/>
          <p:cNvSpPr>
            <a:spLocks noGrp="1"/>
          </p:cNvSpPr>
          <p:nvPr>
            <p:ph idx="1"/>
          </p:nvPr>
        </p:nvSpPr>
        <p:spPr/>
        <p:txBody>
          <a:bodyPr/>
          <a:lstStyle/>
          <a:p>
            <a:r>
              <a:rPr lang="en-US" sz="2400" b="1" dirty="0" err="1" smtClean="0">
                <a:latin typeface="Consolas" pitchFamily="49" charset="0"/>
              </a:rPr>
              <a:t>helloworld</a:t>
            </a:r>
            <a:endParaRPr lang="en-US" sz="2400" b="1" dirty="0">
              <a:latin typeface="Consolas" pitchFamily="49" charset="0"/>
            </a:endParaRPr>
          </a:p>
        </p:txBody>
      </p:sp>
      <p:pic>
        <p:nvPicPr>
          <p:cNvPr id="4099" name="Picture 3"/>
          <p:cNvPicPr>
            <a:picLocks noChangeAspect="1" noChangeArrowheads="1"/>
          </p:cNvPicPr>
          <p:nvPr/>
        </p:nvPicPr>
        <p:blipFill>
          <a:blip r:embed="rId2" cstate="print"/>
          <a:srcRect/>
          <a:stretch>
            <a:fillRect/>
          </a:stretch>
        </p:blipFill>
        <p:spPr bwMode="auto">
          <a:xfrm>
            <a:off x="2120900" y="2840038"/>
            <a:ext cx="4902200" cy="117792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Go? [2]</a:t>
            </a:r>
            <a:endParaRPr lang="en-US" dirty="0"/>
          </a:p>
        </p:txBody>
      </p:sp>
      <p:sp>
        <p:nvSpPr>
          <p:cNvPr id="3" name="Content Placeholder 2"/>
          <p:cNvSpPr>
            <a:spLocks noGrp="1"/>
          </p:cNvSpPr>
          <p:nvPr>
            <p:ph idx="1"/>
          </p:nvPr>
        </p:nvSpPr>
        <p:spPr/>
        <p:txBody>
          <a:bodyPr/>
          <a:lstStyle/>
          <a:p>
            <a:r>
              <a:rPr lang="en-US" sz="2400" i="1" dirty="0" smtClean="0"/>
              <a:t>We wanted a language with the </a:t>
            </a:r>
            <a:r>
              <a:rPr lang="en-US" sz="2400" i="1" dirty="0" smtClean="0">
                <a:solidFill>
                  <a:srgbClr val="C00000"/>
                </a:solidFill>
              </a:rPr>
              <a:t>safety</a:t>
            </a:r>
            <a:r>
              <a:rPr lang="en-US" sz="2400" i="1" dirty="0" smtClean="0"/>
              <a:t> and </a:t>
            </a:r>
            <a:r>
              <a:rPr lang="en-US" sz="2400" i="1" dirty="0" smtClean="0">
                <a:solidFill>
                  <a:srgbClr val="C00000"/>
                </a:solidFill>
              </a:rPr>
              <a:t>performance</a:t>
            </a:r>
            <a:r>
              <a:rPr lang="en-US" sz="2400" i="1" dirty="0" smtClean="0"/>
              <a:t> of statically compiled languages such as C++ and Java, but the </a:t>
            </a:r>
            <a:r>
              <a:rPr lang="en-US" sz="2400" i="1" dirty="0" smtClean="0">
                <a:solidFill>
                  <a:srgbClr val="C00000"/>
                </a:solidFill>
              </a:rPr>
              <a:t>lightness</a:t>
            </a:r>
            <a:r>
              <a:rPr lang="en-US" sz="2400" i="1" dirty="0" smtClean="0"/>
              <a:t> and fun of dynamically typed interpreted languages such as Python.</a:t>
            </a:r>
          </a:p>
          <a:p>
            <a:r>
              <a:rPr lang="en-US" sz="2400" dirty="0" smtClean="0"/>
              <a:t>Large programs compile in seconds with a single command.</a:t>
            </a:r>
          </a:p>
          <a:p>
            <a:r>
              <a:rPr lang="en-US" sz="2400" dirty="0" smtClean="0"/>
              <a:t>Detail: </a:t>
            </a:r>
            <a:r>
              <a:rPr lang="en-US" sz="2400" dirty="0" smtClean="0">
                <a:hlinkClick r:id="rId2"/>
              </a:rPr>
              <a:t>https://go.dev/doc/faq#Origins</a:t>
            </a:r>
            <a:endParaRPr lang="en-US" sz="2400" dirty="0" smtClean="0"/>
          </a:p>
          <a:p>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Primitive Types</a:t>
            </a:r>
            <a:endParaRPr lang="en-US" dirty="0"/>
          </a:p>
        </p:txBody>
      </p:sp>
      <p:sp>
        <p:nvSpPr>
          <p:cNvPr id="4" name="Content Placeholder 2"/>
          <p:cNvSpPr txBox="1">
            <a:spLocks/>
          </p:cNvSpPr>
          <p:nvPr/>
        </p:nvSpPr>
        <p:spPr bwMode="auto">
          <a:xfrm>
            <a:off x="457200" y="1447800"/>
            <a:ext cx="8229600" cy="4800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smtClean="0">
                <a:solidFill>
                  <a:srgbClr val="569CD6"/>
                </a:solidFill>
                <a:latin typeface="Consolas"/>
              </a:rPr>
              <a:t>package</a:t>
            </a:r>
            <a:r>
              <a:rPr lang="en-US" sz="2000" dirty="0" smtClean="0">
                <a:solidFill>
                  <a:srgbClr val="D4D4D4"/>
                </a:solidFill>
                <a:latin typeface="Consolas"/>
              </a:rPr>
              <a:t> main</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569CD6"/>
                </a:solidFill>
                <a:latin typeface="Consolas"/>
              </a:rPr>
              <a:t>import</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smtClean="0">
                <a:solidFill>
                  <a:srgbClr val="CE9178"/>
                </a:solidFill>
                <a:latin typeface="Consolas"/>
              </a:rPr>
              <a:t>"</a:t>
            </a:r>
            <a:r>
              <a:rPr lang="en-US" sz="2000" dirty="0" err="1" smtClean="0">
                <a:solidFill>
                  <a:srgbClr val="CE9178"/>
                </a:solidFill>
                <a:latin typeface="Consolas"/>
              </a:rPr>
              <a:t>fmt</a:t>
            </a:r>
            <a:r>
              <a:rPr lang="en-US" sz="2000" dirty="0" smtClean="0">
                <a:solidFill>
                  <a:srgbClr val="CE9178"/>
                </a:solidFill>
                <a:latin typeface="Consolas"/>
              </a:rPr>
              <a:t>"</a:t>
            </a:r>
            <a:endParaRPr lang="en-US" sz="2000" dirty="0" smtClean="0">
              <a:solidFill>
                <a:srgbClr val="D4D4D4"/>
              </a:solidFill>
              <a:latin typeface="Consolas"/>
            </a:endParaRPr>
          </a:p>
          <a:p>
            <a:r>
              <a:rPr lang="en-US" sz="2000" dirty="0" smtClean="0">
                <a:solidFill>
                  <a:srgbClr val="D4D4D4"/>
                </a:solidFill>
                <a:latin typeface="Consolas"/>
              </a:rPr>
              <a:t>    </a:t>
            </a:r>
            <a:r>
              <a:rPr lang="en-US" sz="2000" dirty="0" smtClean="0">
                <a:solidFill>
                  <a:srgbClr val="CE9178"/>
                </a:solidFill>
                <a:latin typeface="Consolas"/>
              </a:rPr>
              <a:t>"time"</a:t>
            </a:r>
            <a:endParaRPr lang="en-US" sz="2000" dirty="0" smtClean="0">
              <a:solidFill>
                <a:srgbClr val="D4D4D4"/>
              </a:solidFill>
              <a:latin typeface="Consolas"/>
            </a:endParaRPr>
          </a:p>
          <a:p>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main</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B5CEA8"/>
                </a:solidFill>
                <a:latin typeface="Consolas"/>
              </a:rPr>
              <a:t>1</a:t>
            </a:r>
            <a:r>
              <a:rPr lang="en-US" sz="2000" dirty="0" smtClean="0">
                <a:solidFill>
                  <a:srgbClr val="D4D4D4"/>
                </a:solidFill>
                <a:latin typeface="Consolas"/>
              </a:rPr>
              <a:t> + </a:t>
            </a:r>
            <a:r>
              <a:rPr lang="en-US" sz="2000" dirty="0" smtClean="0">
                <a:solidFill>
                  <a:srgbClr val="B5CEA8"/>
                </a:solidFill>
                <a:latin typeface="Consolas"/>
              </a:rPr>
              <a:t>3</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B5CEA8"/>
                </a:solidFill>
                <a:latin typeface="Consolas"/>
              </a:rPr>
              <a:t>2.71828</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B5CEA8"/>
                </a:solidFill>
                <a:latin typeface="Consolas"/>
              </a:rPr>
              <a:t>1</a:t>
            </a:r>
            <a:r>
              <a:rPr lang="en-US" sz="2000" dirty="0" smtClean="0">
                <a:solidFill>
                  <a:srgbClr val="D4D4D4"/>
                </a:solidFill>
                <a:latin typeface="Consolas"/>
              </a:rPr>
              <a:t> == </a:t>
            </a:r>
            <a:r>
              <a:rPr lang="en-US" sz="2000" dirty="0" smtClean="0">
                <a:solidFill>
                  <a:srgbClr val="B5CEA8"/>
                </a:solidFill>
                <a:latin typeface="Consolas"/>
              </a:rPr>
              <a:t>3</a:t>
            </a:r>
            <a:r>
              <a:rPr lang="en-US" sz="2000" dirty="0" smtClean="0">
                <a:solidFill>
                  <a:srgbClr val="D4D4D4"/>
                </a:solidFill>
                <a:latin typeface="Consolas"/>
              </a:rPr>
              <a:t>) </a:t>
            </a:r>
            <a:r>
              <a:rPr lang="en-US" sz="2000" dirty="0" smtClean="0">
                <a:solidFill>
                  <a:srgbClr val="6A9955"/>
                </a:solidFill>
                <a:latin typeface="Consolas"/>
              </a:rPr>
              <a:t>// false</a:t>
            </a:r>
            <a:endParaRPr lang="en-US" sz="2000" dirty="0" smtClean="0">
              <a:solidFill>
                <a:srgbClr val="D4D4D4"/>
              </a:solidFill>
              <a:latin typeface="Consolas"/>
            </a:endParaRP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"hello, world"</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err="1" smtClean="0">
                <a:solidFill>
                  <a:srgbClr val="D4D4D4"/>
                </a:solidFill>
                <a:latin typeface="Consolas"/>
              </a:rPr>
              <a:t>time.</a:t>
            </a:r>
            <a:r>
              <a:rPr lang="en-US" sz="2000" dirty="0" err="1" smtClean="0">
                <a:solidFill>
                  <a:srgbClr val="DCDCAA"/>
                </a:solidFill>
                <a:latin typeface="Consolas"/>
              </a:rPr>
              <a:t>Now</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DCDCAA"/>
                </a:solidFill>
                <a:latin typeface="Consolas"/>
              </a:rPr>
              <a:t>complex</a:t>
            </a:r>
            <a:r>
              <a:rPr lang="en-US" sz="2000" dirty="0" smtClean="0">
                <a:solidFill>
                  <a:srgbClr val="D4D4D4"/>
                </a:solidFill>
                <a:latin typeface="Consolas"/>
              </a:rPr>
              <a:t>(</a:t>
            </a:r>
            <a:r>
              <a:rPr lang="en-US" sz="2000" dirty="0" smtClean="0">
                <a:solidFill>
                  <a:srgbClr val="B5CEA8"/>
                </a:solidFill>
                <a:latin typeface="Consolas"/>
              </a:rPr>
              <a:t>1</a:t>
            </a:r>
            <a:r>
              <a:rPr lang="en-US" sz="2000" dirty="0" smtClean="0">
                <a:solidFill>
                  <a:srgbClr val="D4D4D4"/>
                </a:solidFill>
                <a:latin typeface="Consolas"/>
              </a:rPr>
              <a:t>, </a:t>
            </a:r>
            <a:r>
              <a:rPr lang="en-US" sz="2000" dirty="0" smtClean="0">
                <a:solidFill>
                  <a:srgbClr val="B5CEA8"/>
                </a:solidFill>
                <a:latin typeface="Consolas"/>
              </a:rPr>
              <a:t>2</a:t>
            </a:r>
            <a:r>
              <a:rPr lang="en-US" sz="2000" dirty="0" smtClean="0">
                <a:solidFill>
                  <a:srgbClr val="D4D4D4"/>
                </a:solidFill>
                <a:latin typeface="Consolas"/>
              </a:rPr>
              <a:t>)) </a:t>
            </a:r>
            <a:r>
              <a:rPr lang="en-US" sz="2000" dirty="0" smtClean="0">
                <a:solidFill>
                  <a:srgbClr val="6A9955"/>
                </a:solidFill>
                <a:latin typeface="Consolas"/>
              </a:rPr>
              <a:t>// (1+2i)</a:t>
            </a:r>
            <a:endParaRPr lang="en-US" sz="2000" dirty="0" smtClean="0">
              <a:solidFill>
                <a:srgbClr val="D4D4D4"/>
              </a:solidFill>
              <a:latin typeface="Consolas"/>
            </a:endParaRPr>
          </a:p>
          <a:p>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endParaRPr lang="en-US" sz="2000" b="0" dirty="0">
              <a:solidFill>
                <a:srgbClr val="D4D4D4"/>
              </a:solidFill>
              <a:latin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Variables &amp; Assignments [1]</a:t>
            </a:r>
            <a:endParaRPr lang="en-US" dirty="0"/>
          </a:p>
        </p:txBody>
      </p:sp>
      <p:sp>
        <p:nvSpPr>
          <p:cNvPr id="3" name="Content Placeholder 2"/>
          <p:cNvSpPr>
            <a:spLocks noGrp="1"/>
          </p:cNvSpPr>
          <p:nvPr>
            <p:ph idx="1"/>
          </p:nvPr>
        </p:nvSpPr>
        <p:spPr/>
        <p:txBody>
          <a:bodyPr/>
          <a:lstStyle/>
          <a:p>
            <a:r>
              <a:rPr lang="en-US" sz="1800" dirty="0" smtClean="0"/>
              <a:t>A </a:t>
            </a:r>
            <a:r>
              <a:rPr lang="en-US" sz="1800" i="1" dirty="0" smtClean="0">
                <a:solidFill>
                  <a:srgbClr val="C00000"/>
                </a:solidFill>
              </a:rPr>
              <a:t>variable</a:t>
            </a:r>
            <a:r>
              <a:rPr lang="en-US" sz="1800" dirty="0" smtClean="0"/>
              <a:t> is a </a:t>
            </a:r>
            <a:r>
              <a:rPr lang="en-US" sz="1800" u="sng" dirty="0" smtClean="0"/>
              <a:t>piece of storage</a:t>
            </a:r>
            <a:r>
              <a:rPr lang="en-US" sz="1800" dirty="0" smtClean="0"/>
              <a:t> containing a </a:t>
            </a:r>
            <a:r>
              <a:rPr lang="en-US" sz="1800" u="sng" dirty="0" smtClean="0"/>
              <a:t>value</a:t>
            </a:r>
            <a:r>
              <a:rPr lang="en-US" sz="1800" dirty="0" smtClean="0"/>
              <a:t>.</a:t>
            </a:r>
          </a:p>
          <a:p>
            <a:r>
              <a:rPr lang="en-US" sz="1800" dirty="0" smtClean="0"/>
              <a:t>The value held by a variable is updated by an </a:t>
            </a:r>
            <a:r>
              <a:rPr lang="en-US" sz="1800" i="1" dirty="0" smtClean="0">
                <a:solidFill>
                  <a:srgbClr val="C00000"/>
                </a:solidFill>
              </a:rPr>
              <a:t>assignment statement</a:t>
            </a:r>
            <a:r>
              <a:rPr lang="en-US" sz="1800" dirty="0" smtClean="0"/>
              <a:t>, which in its simplest form has a variable on the left of the = sign and an expression on the right.</a:t>
            </a:r>
            <a:endParaRPr lang="en-US" sz="1800" b="1" dirty="0" smtClean="0">
              <a:latin typeface="Consolas" pitchFamily="49" charset="0"/>
            </a:endParaRPr>
          </a:p>
          <a:p>
            <a:r>
              <a:rPr lang="en-US" sz="1800" dirty="0" smtClean="0"/>
              <a:t>A </a:t>
            </a:r>
            <a:r>
              <a:rPr lang="en-US" sz="1800" b="1" dirty="0" err="1" smtClean="0">
                <a:latin typeface="Consolas" pitchFamily="49" charset="0"/>
              </a:rPr>
              <a:t>var</a:t>
            </a:r>
            <a:r>
              <a:rPr lang="en-US" sz="1800" dirty="0" smtClean="0"/>
              <a:t> declaration creates a variable of a particular type, attaches a name to it, and sets its initial value.</a:t>
            </a:r>
            <a:endParaRPr lang="vi-VN" sz="1800" dirty="0" smtClean="0"/>
          </a:p>
        </p:txBody>
      </p:sp>
      <p:sp>
        <p:nvSpPr>
          <p:cNvPr id="4" name="Content Placeholder 2"/>
          <p:cNvSpPr txBox="1">
            <a:spLocks/>
          </p:cNvSpPr>
          <p:nvPr/>
        </p:nvSpPr>
        <p:spPr bwMode="auto">
          <a:xfrm>
            <a:off x="457200" y="3581400"/>
            <a:ext cx="8229600" cy="3048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package</a:t>
            </a:r>
            <a:r>
              <a:rPr lang="en-US" sz="1600" dirty="0" smtClean="0">
                <a:solidFill>
                  <a:srgbClr val="D4D4D4"/>
                </a:solidFill>
                <a:latin typeface="Consolas"/>
              </a:rPr>
              <a:t> main</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import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fmt</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569CD6"/>
                </a:solidFill>
                <a:latin typeface="Consolas"/>
              </a:rPr>
              <a:t>var</a:t>
            </a:r>
            <a:r>
              <a:rPr lang="en-US" sz="1600" dirty="0" smtClean="0">
                <a:solidFill>
                  <a:srgbClr val="D4D4D4"/>
                </a:solidFill>
                <a:latin typeface="Consolas"/>
              </a:rPr>
              <a:t> </a:t>
            </a:r>
            <a:r>
              <a:rPr lang="en-US" sz="1600" dirty="0" smtClean="0">
                <a:solidFill>
                  <a:srgbClr val="9CDCFE"/>
                </a:solidFill>
                <a:latin typeface="Consolas"/>
              </a:rPr>
              <a:t>b</a:t>
            </a:r>
            <a:r>
              <a:rPr lang="en-US" sz="1600" dirty="0" smtClean="0">
                <a:solidFill>
                  <a:srgbClr val="D4D4D4"/>
                </a:solidFill>
                <a:latin typeface="Consolas"/>
              </a:rPr>
              <a:t>, </a:t>
            </a:r>
            <a:r>
              <a:rPr lang="en-US" sz="1600" dirty="0" smtClean="0">
                <a:solidFill>
                  <a:srgbClr val="9CDCFE"/>
                </a:solidFill>
                <a:latin typeface="Consolas"/>
              </a:rPr>
              <a:t>f</a:t>
            </a:r>
            <a:r>
              <a:rPr lang="en-US" sz="1600" dirty="0" smtClean="0">
                <a:solidFill>
                  <a:srgbClr val="D4D4D4"/>
                </a:solidFill>
                <a:latin typeface="Consolas"/>
              </a:rPr>
              <a:t>, </a:t>
            </a:r>
            <a:r>
              <a:rPr lang="en-US" sz="1600" dirty="0" smtClean="0">
                <a:solidFill>
                  <a:srgbClr val="9CDCFE"/>
                </a:solidFill>
                <a:latin typeface="Consolas"/>
              </a:rPr>
              <a:t>s</a:t>
            </a:r>
            <a:r>
              <a:rPr lang="en-US" sz="1600" dirty="0" smtClean="0">
                <a:solidFill>
                  <a:srgbClr val="D4D4D4"/>
                </a:solidFill>
                <a:latin typeface="Consolas"/>
              </a:rPr>
              <a:t> = </a:t>
            </a:r>
            <a:r>
              <a:rPr lang="en-US" sz="1600" dirty="0" smtClean="0">
                <a:solidFill>
                  <a:srgbClr val="569CD6"/>
                </a:solidFill>
                <a:latin typeface="Consolas"/>
              </a:rPr>
              <a:t>true</a:t>
            </a:r>
            <a:r>
              <a:rPr lang="en-US" sz="1600" dirty="0" smtClean="0">
                <a:solidFill>
                  <a:srgbClr val="D4D4D4"/>
                </a:solidFill>
                <a:latin typeface="Consolas"/>
              </a:rPr>
              <a:t>, </a:t>
            </a:r>
            <a:r>
              <a:rPr lang="en-US" sz="1600" dirty="0" smtClean="0">
                <a:solidFill>
                  <a:srgbClr val="B5CEA8"/>
                </a:solidFill>
                <a:latin typeface="Consolas"/>
              </a:rPr>
              <a:t>2.3</a:t>
            </a:r>
            <a:r>
              <a:rPr lang="en-US" sz="1600" dirty="0" smtClean="0">
                <a:solidFill>
                  <a:srgbClr val="D4D4D4"/>
                </a:solidFill>
                <a:latin typeface="Consolas"/>
              </a:rPr>
              <a:t>, </a:t>
            </a:r>
            <a:r>
              <a:rPr lang="en-US" sz="1600" dirty="0" smtClean="0">
                <a:solidFill>
                  <a:srgbClr val="CE9178"/>
                </a:solidFill>
                <a:latin typeface="Consolas"/>
              </a:rPr>
              <a:t>"four"</a:t>
            </a:r>
            <a:r>
              <a:rPr lang="en-US" sz="1600" dirty="0" smtClean="0">
                <a:solidFill>
                  <a:srgbClr val="D4D4D4"/>
                </a:solidFill>
                <a:latin typeface="Consolas"/>
              </a:rPr>
              <a:t> </a:t>
            </a:r>
            <a:r>
              <a:rPr lang="en-US" sz="1600" dirty="0" smtClean="0">
                <a:solidFill>
                  <a:srgbClr val="6A9955"/>
                </a:solidFill>
                <a:latin typeface="Consolas"/>
              </a:rPr>
              <a:t>// </a:t>
            </a:r>
            <a:r>
              <a:rPr lang="en-US" sz="1600" dirty="0" err="1" smtClean="0">
                <a:solidFill>
                  <a:srgbClr val="6A9955"/>
                </a:solidFill>
                <a:latin typeface="Consolas"/>
              </a:rPr>
              <a:t>bool</a:t>
            </a:r>
            <a:r>
              <a:rPr lang="en-US" sz="1600" dirty="0" smtClean="0">
                <a:solidFill>
                  <a:srgbClr val="6A9955"/>
                </a:solidFill>
                <a:latin typeface="Consolas"/>
              </a:rPr>
              <a:t>, float64, string</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(b)</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(f)</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(s)</a:t>
            </a:r>
          </a:p>
          <a:p>
            <a:r>
              <a:rPr lang="en-US" sz="1600" dirty="0" smtClean="0">
                <a:solidFill>
                  <a:srgbClr val="D4D4D4"/>
                </a:solidFill>
                <a:latin typeface="Consolas"/>
              </a:rPr>
              <a:t>}</a:t>
            </a:r>
            <a:br>
              <a:rPr lang="en-US" sz="1600" dirty="0" smtClean="0">
                <a:solidFill>
                  <a:srgbClr val="D4D4D4"/>
                </a:solidFill>
                <a:latin typeface="Consolas"/>
              </a:rPr>
            </a:br>
            <a:endParaRPr lang="en-US" sz="1600" b="0" dirty="0">
              <a:solidFill>
                <a:srgbClr val="D4D4D4"/>
              </a:solidFill>
              <a:latin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Variable Declaration</a:t>
            </a:r>
            <a:endParaRPr lang="en-US" dirty="0"/>
          </a:p>
        </p:txBody>
      </p:sp>
      <p:sp>
        <p:nvSpPr>
          <p:cNvPr id="3" name="Content Placeholder 2"/>
          <p:cNvSpPr>
            <a:spLocks noGrp="1"/>
          </p:cNvSpPr>
          <p:nvPr>
            <p:ph idx="1"/>
          </p:nvPr>
        </p:nvSpPr>
        <p:spPr/>
        <p:txBody>
          <a:bodyPr/>
          <a:lstStyle/>
          <a:p>
            <a:r>
              <a:rPr lang="en-US" sz="2200" dirty="0" smtClean="0"/>
              <a:t>Within a function, an alternate form called a </a:t>
            </a:r>
            <a:r>
              <a:rPr lang="en-US" sz="2200" i="1" dirty="0" smtClean="0">
                <a:solidFill>
                  <a:srgbClr val="C00000"/>
                </a:solidFill>
              </a:rPr>
              <a:t>short variable declaration</a:t>
            </a:r>
            <a:r>
              <a:rPr lang="en-US" sz="2200" dirty="0" smtClean="0"/>
              <a:t> may be used to </a:t>
            </a:r>
            <a:r>
              <a:rPr lang="en-US" sz="2200" u="sng" dirty="0" smtClean="0"/>
              <a:t>declare</a:t>
            </a:r>
            <a:r>
              <a:rPr lang="en-US" sz="2200" dirty="0" smtClean="0"/>
              <a:t> and </a:t>
            </a:r>
            <a:r>
              <a:rPr lang="en-US" sz="2200" u="sng" dirty="0" smtClean="0"/>
              <a:t>initialize local variables</a:t>
            </a:r>
            <a:r>
              <a:rPr lang="en-US" sz="2200" dirty="0" smtClean="0"/>
              <a:t>.</a:t>
            </a:r>
          </a:p>
          <a:p>
            <a:r>
              <a:rPr lang="en-US" sz="2200" dirty="0" smtClean="0"/>
              <a:t>It takes the form name := expression, and the type of name is</a:t>
            </a:r>
            <a:r>
              <a:rPr lang="vi-VN" sz="2200" dirty="0" smtClean="0"/>
              <a:t> </a:t>
            </a:r>
            <a:r>
              <a:rPr lang="en-US" sz="2200" i="1" dirty="0" smtClean="0">
                <a:solidFill>
                  <a:srgbClr val="C00000"/>
                </a:solidFill>
              </a:rPr>
              <a:t>determined</a:t>
            </a:r>
            <a:r>
              <a:rPr lang="en-US" sz="2200" dirty="0" smtClean="0"/>
              <a:t> by the type of expression.</a:t>
            </a:r>
            <a:endParaRPr lang="vi-VN" sz="2200" dirty="0" smtClean="0"/>
          </a:p>
        </p:txBody>
      </p:sp>
      <p:sp>
        <p:nvSpPr>
          <p:cNvPr id="4" name="Content Placeholder 2"/>
          <p:cNvSpPr txBox="1">
            <a:spLocks/>
          </p:cNvSpPr>
          <p:nvPr/>
        </p:nvSpPr>
        <p:spPr bwMode="auto">
          <a:xfrm>
            <a:off x="457200" y="3505200"/>
            <a:ext cx="8229600" cy="2895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package</a:t>
            </a:r>
            <a:r>
              <a:rPr lang="en-US" sz="1600" dirty="0" smtClean="0">
                <a:solidFill>
                  <a:srgbClr val="D4D4D4"/>
                </a:solidFill>
                <a:latin typeface="Consolas"/>
              </a:rPr>
              <a:t> main</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import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fmt</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"math/rand"</a:t>
            </a:r>
            <a:endParaRPr lang="en-US" sz="1600" dirty="0" smtClean="0">
              <a:solidFill>
                <a:srgbClr val="D4D4D4"/>
              </a:solidFill>
              <a:latin typeface="Consolas"/>
            </a:endParaRP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freq</a:t>
            </a:r>
            <a:r>
              <a:rPr lang="en-US" sz="1600" dirty="0" smtClean="0">
                <a:solidFill>
                  <a:srgbClr val="D4D4D4"/>
                </a:solidFill>
                <a:latin typeface="Consolas"/>
              </a:rPr>
              <a:t> := rand.</a:t>
            </a:r>
            <a:r>
              <a:rPr lang="en-US" sz="1600" dirty="0" smtClean="0">
                <a:solidFill>
                  <a:srgbClr val="DCDCAA"/>
                </a:solidFill>
                <a:latin typeface="Consolas"/>
              </a:rPr>
              <a:t>Float64</a:t>
            </a:r>
            <a:r>
              <a:rPr lang="en-US" sz="1600" dirty="0" smtClean="0">
                <a:solidFill>
                  <a:srgbClr val="D4D4D4"/>
                </a:solidFill>
                <a:latin typeface="Consolas"/>
              </a:rPr>
              <a:t>() * </a:t>
            </a:r>
            <a:r>
              <a:rPr lang="en-US" sz="1600" dirty="0" smtClean="0">
                <a:solidFill>
                  <a:srgbClr val="B5CEA8"/>
                </a:solidFill>
                <a:latin typeface="Consolas"/>
              </a:rPr>
              <a:t>3.0</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(freq)</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 Declaration Block</a:t>
            </a:r>
            <a:endParaRPr lang="en-US" dirty="0"/>
          </a:p>
        </p:txBody>
      </p:sp>
      <p:sp>
        <p:nvSpPr>
          <p:cNvPr id="3" name="Content Placeholder 2"/>
          <p:cNvSpPr>
            <a:spLocks noGrp="1"/>
          </p:cNvSpPr>
          <p:nvPr>
            <p:ph idx="1"/>
          </p:nvPr>
        </p:nvSpPr>
        <p:spPr/>
        <p:txBody>
          <a:bodyPr/>
          <a:lstStyle/>
          <a:p>
            <a:r>
              <a:rPr lang="en-US" sz="2200" dirty="0" smtClean="0">
                <a:hlinkClick r:id="rId2"/>
              </a:rPr>
              <a:t>https://www.golangprograms.com/go-language/variables.html</a:t>
            </a:r>
            <a:endParaRPr lang="en-US" sz="2200" dirty="0" smtClean="0"/>
          </a:p>
          <a:p>
            <a:r>
              <a:rPr lang="en-US" sz="2200" dirty="0" smtClean="0"/>
              <a:t>Variables declaration can be grouped together into blocks for greater readability and code quality.</a:t>
            </a:r>
            <a:endParaRPr lang="vi-VN" sz="2200" dirty="0" smtClean="0"/>
          </a:p>
        </p:txBody>
      </p:sp>
      <p:sp>
        <p:nvSpPr>
          <p:cNvPr id="4" name="Content Placeholder 2"/>
          <p:cNvSpPr txBox="1">
            <a:spLocks/>
          </p:cNvSpPr>
          <p:nvPr/>
        </p:nvSpPr>
        <p:spPr bwMode="auto">
          <a:xfrm>
            <a:off x="457200" y="3124200"/>
            <a:ext cx="8229600" cy="3200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D4D4D4"/>
                </a:solidFill>
                <a:latin typeface="Consolas"/>
              </a:rPr>
              <a:t>    </a:t>
            </a:r>
            <a:r>
              <a:rPr lang="en-US" sz="1600" dirty="0" smtClean="0">
                <a:solidFill>
                  <a:srgbClr val="569CD6"/>
                </a:solidFill>
                <a:latin typeface="Consolas"/>
              </a:rPr>
              <a:t>const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9CDCFE"/>
                </a:solidFill>
                <a:latin typeface="Consolas"/>
              </a:rPr>
              <a:t>lenWidth</a:t>
            </a:r>
            <a:r>
              <a:rPr lang="en-US" sz="1600" dirty="0" smtClean="0">
                <a:solidFill>
                  <a:srgbClr val="D4D4D4"/>
                </a:solidFill>
                <a:latin typeface="Consolas"/>
              </a:rPr>
              <a:t> = </a:t>
            </a:r>
            <a:r>
              <a:rPr lang="en-US" sz="1600" dirty="0" smtClean="0">
                <a:solidFill>
                  <a:srgbClr val="B5CEA8"/>
                </a:solidFill>
                <a:latin typeface="Consolas"/>
              </a:rPr>
              <a:t>8</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569CD6"/>
                </a:solidFill>
                <a:latin typeface="Consolas"/>
              </a:rPr>
              <a:t>var</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write</a:t>
            </a:r>
            <a:r>
              <a:rPr lang="en-US" sz="1600" dirty="0" smtClean="0">
                <a:solidFill>
                  <a:srgbClr val="D4D4D4"/>
                </a:solidFill>
                <a:latin typeface="Consolas"/>
              </a:rPr>
              <a:t> = []</a:t>
            </a:r>
            <a:r>
              <a:rPr lang="en-US" sz="1600" dirty="0" smtClean="0">
                <a:solidFill>
                  <a:srgbClr val="DCDCAA"/>
                </a:solidFill>
                <a:latin typeface="Consolas"/>
              </a:rPr>
              <a:t>byte</a:t>
            </a:r>
            <a:r>
              <a:rPr lang="en-US" sz="1600" dirty="0" smtClean="0">
                <a:solidFill>
                  <a:srgbClr val="D4D4D4"/>
                </a:solidFill>
                <a:latin typeface="Consolas"/>
              </a:rPr>
              <a:t>(</a:t>
            </a:r>
            <a:r>
              <a:rPr lang="en-US" sz="1600" dirty="0" smtClean="0">
                <a:solidFill>
                  <a:srgbClr val="CE9178"/>
                </a:solidFill>
                <a:latin typeface="Consolas"/>
              </a:rPr>
              <a:t>"hello world"</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9CDCFE"/>
                </a:solidFill>
                <a:latin typeface="Consolas"/>
              </a:rPr>
              <a:t>width</a:t>
            </a:r>
            <a:r>
              <a:rPr lang="en-US" sz="1600" dirty="0" smtClean="0">
                <a:solidFill>
                  <a:srgbClr val="D4D4D4"/>
                </a:solidFill>
                <a:latin typeface="Consolas"/>
              </a:rPr>
              <a:t> = </a:t>
            </a:r>
            <a:r>
              <a:rPr lang="en-US" sz="1600" dirty="0" smtClean="0">
                <a:solidFill>
                  <a:srgbClr val="DCDCAA"/>
                </a:solidFill>
                <a:latin typeface="Consolas"/>
              </a:rPr>
              <a:t>uint64</a:t>
            </a:r>
            <a:r>
              <a:rPr lang="en-US" sz="1600" dirty="0" smtClean="0">
                <a:solidFill>
                  <a:srgbClr val="D4D4D4"/>
                </a:solidFill>
                <a:latin typeface="Consolas"/>
              </a:rPr>
              <a:t>(</a:t>
            </a:r>
            <a:r>
              <a:rPr lang="en-US" sz="1600" dirty="0" err="1" smtClean="0">
                <a:solidFill>
                  <a:srgbClr val="DCDCAA"/>
                </a:solidFill>
                <a:latin typeface="Consolas"/>
              </a:rPr>
              <a:t>len</a:t>
            </a:r>
            <a:r>
              <a:rPr lang="en-US" sz="1600" dirty="0" smtClean="0">
                <a:solidFill>
                  <a:srgbClr val="D4D4D4"/>
                </a:solidFill>
                <a:latin typeface="Consolas"/>
              </a:rPr>
              <a:t>(write)) + </a:t>
            </a:r>
            <a:r>
              <a:rPr lang="en-US" sz="1600" dirty="0" err="1" smtClean="0">
                <a:solidFill>
                  <a:srgbClr val="D4D4D4"/>
                </a:solidFill>
                <a:latin typeface="Consolas"/>
              </a:rPr>
              <a:t>lenWidth</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err="1" smtClean="0">
                <a:solidFill>
                  <a:srgbClr val="D4D4D4"/>
                </a:solidFill>
                <a:latin typeface="Consolas"/>
              </a:rPr>
              <a:t>lenWidth</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(write)</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(width)</a:t>
            </a:r>
            <a:endParaRPr lang="en-US" sz="1600" b="0" dirty="0">
              <a:solidFill>
                <a:srgbClr val="D4D4D4"/>
              </a:solidFill>
              <a:latin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Pointers</a:t>
            </a:r>
            <a:endParaRPr lang="en-US" dirty="0"/>
          </a:p>
        </p:txBody>
      </p:sp>
      <p:sp>
        <p:nvSpPr>
          <p:cNvPr id="3" name="Content Placeholder 2"/>
          <p:cNvSpPr>
            <a:spLocks noGrp="1"/>
          </p:cNvSpPr>
          <p:nvPr>
            <p:ph idx="1"/>
          </p:nvPr>
        </p:nvSpPr>
        <p:spPr/>
        <p:txBody>
          <a:bodyPr/>
          <a:lstStyle/>
          <a:p>
            <a:r>
              <a:rPr lang="en-US" sz="1800" dirty="0" smtClean="0"/>
              <a:t>A </a:t>
            </a:r>
            <a:r>
              <a:rPr lang="en-US" sz="1800" i="1" dirty="0" smtClean="0">
                <a:solidFill>
                  <a:srgbClr val="C00000"/>
                </a:solidFill>
              </a:rPr>
              <a:t>pointer</a:t>
            </a:r>
            <a:r>
              <a:rPr lang="en-US" sz="1800" dirty="0" smtClean="0"/>
              <a:t> value is the </a:t>
            </a:r>
            <a:r>
              <a:rPr lang="en-US" sz="1800" i="1" dirty="0" smtClean="0">
                <a:solidFill>
                  <a:srgbClr val="C00000"/>
                </a:solidFill>
              </a:rPr>
              <a:t>address</a:t>
            </a:r>
            <a:r>
              <a:rPr lang="en-US" sz="1800" dirty="0" smtClean="0"/>
              <a:t> of a variable.</a:t>
            </a:r>
          </a:p>
          <a:p>
            <a:r>
              <a:rPr lang="en-US" sz="1800" dirty="0" smtClean="0"/>
              <a:t>A pointer is thus the </a:t>
            </a:r>
            <a:r>
              <a:rPr lang="en-US" sz="1800" u="sng" dirty="0" smtClean="0"/>
              <a:t>location</a:t>
            </a:r>
            <a:r>
              <a:rPr lang="en-US" sz="1800" dirty="0" smtClean="0"/>
              <a:t> at which a value is stored.</a:t>
            </a:r>
          </a:p>
          <a:p>
            <a:r>
              <a:rPr lang="en-US" sz="1800" dirty="0" smtClean="0"/>
              <a:t>Not every value has an address, but every variable does.</a:t>
            </a:r>
          </a:p>
          <a:p>
            <a:r>
              <a:rPr lang="en-US" sz="1800" dirty="0" smtClean="0"/>
              <a:t>With a pointer, we can read or update the value of a variable </a:t>
            </a:r>
            <a:r>
              <a:rPr lang="en-US" sz="1800" i="1" dirty="0" smtClean="0">
                <a:solidFill>
                  <a:srgbClr val="C00000"/>
                </a:solidFill>
              </a:rPr>
              <a:t>indirectly</a:t>
            </a:r>
            <a:r>
              <a:rPr lang="en-US" sz="1800" dirty="0" smtClean="0"/>
              <a:t>, without using or even knowing the name of the variable, if indeed it has a name.</a:t>
            </a:r>
            <a:endParaRPr lang="en-US" sz="1800" b="1" dirty="0">
              <a:latin typeface="Consolas" pitchFamily="49" charset="0"/>
            </a:endParaRPr>
          </a:p>
        </p:txBody>
      </p:sp>
      <p:sp>
        <p:nvSpPr>
          <p:cNvPr id="4" name="Content Placeholder 2"/>
          <p:cNvSpPr txBox="1">
            <a:spLocks/>
          </p:cNvSpPr>
          <p:nvPr/>
        </p:nvSpPr>
        <p:spPr bwMode="auto">
          <a:xfrm>
            <a:off x="457200" y="3505200"/>
            <a:ext cx="8229600" cy="2895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package</a:t>
            </a:r>
            <a:r>
              <a:rPr lang="en-US" sz="1600" dirty="0" smtClean="0">
                <a:solidFill>
                  <a:srgbClr val="D4D4D4"/>
                </a:solidFill>
                <a:latin typeface="Consolas"/>
              </a:rPr>
              <a:t> main</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import</a:t>
            </a:r>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fmt</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x</a:t>
            </a:r>
            <a:r>
              <a:rPr lang="en-US" sz="1600" dirty="0" smtClean="0">
                <a:solidFill>
                  <a:srgbClr val="D4D4D4"/>
                </a:solidFill>
                <a:latin typeface="Consolas"/>
              </a:rPr>
              <a:t> := </a:t>
            </a:r>
            <a:r>
              <a:rPr lang="en-US" sz="1600" dirty="0" smtClean="0">
                <a:solidFill>
                  <a:srgbClr val="B5CEA8"/>
                </a:solidFill>
                <a:latin typeface="Consolas"/>
              </a:rPr>
              <a:t>1</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p</a:t>
            </a:r>
            <a:r>
              <a:rPr lang="en-US" sz="1600" dirty="0" smtClean="0">
                <a:solidFill>
                  <a:srgbClr val="D4D4D4"/>
                </a:solidFill>
                <a:latin typeface="Consolas"/>
              </a:rPr>
              <a:t> := &amp;x         </a:t>
            </a:r>
            <a:r>
              <a:rPr lang="en-US" sz="1600" dirty="0" smtClean="0">
                <a:solidFill>
                  <a:srgbClr val="6A9955"/>
                </a:solidFill>
                <a:latin typeface="Consolas"/>
              </a:rPr>
              <a:t>// p, of type *</a:t>
            </a:r>
            <a:r>
              <a:rPr lang="en-US" sz="1600" dirty="0" err="1" smtClean="0">
                <a:solidFill>
                  <a:srgbClr val="6A9955"/>
                </a:solidFill>
                <a:latin typeface="Consolas"/>
              </a:rPr>
              <a:t>int</a:t>
            </a:r>
            <a:r>
              <a:rPr lang="en-US" sz="1600" dirty="0" smtClean="0">
                <a:solidFill>
                  <a:srgbClr val="6A9955"/>
                </a:solidFill>
                <a:latin typeface="Consolas"/>
              </a:rPr>
              <a:t>, points to x</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(*p) </a:t>
            </a:r>
            <a:r>
              <a:rPr lang="en-US" sz="1600" dirty="0" smtClean="0">
                <a:solidFill>
                  <a:srgbClr val="6A9955"/>
                </a:solidFill>
                <a:latin typeface="Consolas"/>
              </a:rPr>
              <a:t>// "1"</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p</a:t>
            </a:r>
            <a:r>
              <a:rPr lang="en-US" sz="1600" dirty="0" smtClean="0">
                <a:solidFill>
                  <a:srgbClr val="D4D4D4"/>
                </a:solidFill>
                <a:latin typeface="Consolas"/>
              </a:rPr>
              <a:t> = </a:t>
            </a:r>
            <a:r>
              <a:rPr lang="en-US" sz="1600" dirty="0" smtClean="0">
                <a:solidFill>
                  <a:srgbClr val="B5CEA8"/>
                </a:solidFill>
                <a:latin typeface="Consolas"/>
              </a:rPr>
              <a:t>2</a:t>
            </a:r>
            <a:r>
              <a:rPr lang="en-US" sz="1600" dirty="0" smtClean="0">
                <a:solidFill>
                  <a:srgbClr val="D4D4D4"/>
                </a:solidFill>
                <a:latin typeface="Consolas"/>
              </a:rPr>
              <a:t>          </a:t>
            </a:r>
            <a:r>
              <a:rPr lang="en-US" sz="1600" dirty="0" smtClean="0">
                <a:solidFill>
                  <a:srgbClr val="6A9955"/>
                </a:solidFill>
                <a:latin typeface="Consolas"/>
              </a:rPr>
              <a:t>// equivalent to x = 2</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(x)  </a:t>
            </a:r>
            <a:r>
              <a:rPr lang="en-US" sz="1600" dirty="0" smtClean="0">
                <a:solidFill>
                  <a:srgbClr val="6A9955"/>
                </a:solidFill>
                <a:latin typeface="Consolas"/>
              </a:rPr>
              <a:t>// "2"</a:t>
            </a:r>
            <a:endParaRPr lang="en-US" sz="1600" dirty="0" smtClean="0">
              <a:solidFill>
                <a:srgbClr val="D4D4D4"/>
              </a:solidFill>
              <a:latin typeface="Consolas"/>
            </a:endParaRPr>
          </a:p>
          <a:p>
            <a:r>
              <a:rPr lang="en-US" sz="1600" dirty="0" smtClean="0">
                <a:solidFill>
                  <a:srgbClr val="D4D4D4"/>
                </a:solidFill>
                <a:latin typeface="Consolas"/>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b="1" dirty="0" smtClean="0">
                <a:latin typeface="Consolas" pitchFamily="49" charset="0"/>
              </a:rPr>
              <a:t>new</a:t>
            </a:r>
            <a:r>
              <a:rPr lang="en-US" dirty="0" smtClean="0"/>
              <a:t> Function</a:t>
            </a:r>
            <a:endParaRPr lang="en-US" dirty="0"/>
          </a:p>
        </p:txBody>
      </p:sp>
      <p:sp>
        <p:nvSpPr>
          <p:cNvPr id="3" name="Content Placeholder 2"/>
          <p:cNvSpPr>
            <a:spLocks noGrp="1"/>
          </p:cNvSpPr>
          <p:nvPr>
            <p:ph idx="1"/>
          </p:nvPr>
        </p:nvSpPr>
        <p:spPr/>
        <p:txBody>
          <a:bodyPr/>
          <a:lstStyle/>
          <a:p>
            <a:r>
              <a:rPr lang="en-US" sz="2000" dirty="0" smtClean="0"/>
              <a:t>The expression </a:t>
            </a:r>
            <a:r>
              <a:rPr lang="en-US" sz="2000" b="1" dirty="0" smtClean="0">
                <a:latin typeface="Consolas" pitchFamily="49" charset="0"/>
              </a:rPr>
              <a:t>new(T)</a:t>
            </a:r>
            <a:r>
              <a:rPr lang="en-US" sz="2000" dirty="0" smtClean="0"/>
              <a:t> creates an </a:t>
            </a:r>
            <a:r>
              <a:rPr lang="en-US" sz="2000" i="1" dirty="0" smtClean="0">
                <a:solidFill>
                  <a:srgbClr val="C00000"/>
                </a:solidFill>
              </a:rPr>
              <a:t>unnamed variable</a:t>
            </a:r>
            <a:r>
              <a:rPr lang="en-US" sz="2000" dirty="0" smtClean="0"/>
              <a:t> of type T, initializes it to the </a:t>
            </a:r>
            <a:r>
              <a:rPr lang="en-US" sz="2000" u="sng" dirty="0" smtClean="0"/>
              <a:t>zero value</a:t>
            </a:r>
            <a:r>
              <a:rPr lang="en-US" sz="2000" dirty="0" smtClean="0"/>
              <a:t> of T, and returns its </a:t>
            </a:r>
            <a:r>
              <a:rPr lang="en-US" sz="2000" u="sng" dirty="0" smtClean="0"/>
              <a:t>address</a:t>
            </a:r>
            <a:r>
              <a:rPr lang="en-US" sz="2000" dirty="0" smtClean="0"/>
              <a:t>, which is a value of type *T.</a:t>
            </a:r>
            <a:endParaRPr lang="en-US" sz="2000" b="1" dirty="0">
              <a:latin typeface="Consolas" pitchFamily="49" charset="0"/>
            </a:endParaRPr>
          </a:p>
        </p:txBody>
      </p:sp>
      <p:sp>
        <p:nvSpPr>
          <p:cNvPr id="4" name="Content Placeholder 2"/>
          <p:cNvSpPr txBox="1">
            <a:spLocks/>
          </p:cNvSpPr>
          <p:nvPr/>
        </p:nvSpPr>
        <p:spPr bwMode="auto">
          <a:xfrm>
            <a:off x="457200" y="2819400"/>
            <a:ext cx="8229600" cy="3276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569CD6"/>
                </a:solidFill>
                <a:latin typeface="Consolas"/>
              </a:rPr>
              <a:t>package</a:t>
            </a:r>
            <a:r>
              <a:rPr lang="en-US" dirty="0" smtClean="0">
                <a:solidFill>
                  <a:srgbClr val="D4D4D4"/>
                </a:solidFill>
                <a:latin typeface="Consolas"/>
              </a:rPr>
              <a:t> main</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import</a:t>
            </a:r>
            <a:r>
              <a:rPr lang="en-US" dirty="0" smtClean="0">
                <a:solidFill>
                  <a:srgbClr val="D4D4D4"/>
                </a:solidFill>
                <a:latin typeface="Consolas"/>
              </a:rPr>
              <a:t> </a:t>
            </a:r>
            <a:r>
              <a:rPr lang="en-US" dirty="0" smtClean="0">
                <a:solidFill>
                  <a:srgbClr val="CE9178"/>
                </a:solidFill>
                <a:latin typeface="Consolas"/>
              </a:rPr>
              <a:t>"</a:t>
            </a:r>
            <a:r>
              <a:rPr lang="en-US" dirty="0" err="1" smtClean="0">
                <a:solidFill>
                  <a:srgbClr val="CE9178"/>
                </a:solidFill>
                <a:latin typeface="Consolas"/>
              </a:rPr>
              <a:t>fmt</a:t>
            </a:r>
            <a:r>
              <a:rPr lang="en-US" dirty="0" smtClean="0">
                <a:solidFill>
                  <a:srgbClr val="CE9178"/>
                </a:solidFill>
                <a:latin typeface="Consolas"/>
              </a:rPr>
              <a:t>"</a:t>
            </a:r>
            <a:endParaRPr lang="en-US" dirty="0" smtClean="0">
              <a:solidFill>
                <a:srgbClr val="D4D4D4"/>
              </a:solidFill>
              <a:latin typeface="Consolas"/>
            </a:endParaRP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main</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9CDCFE"/>
                </a:solidFill>
                <a:latin typeface="Consolas"/>
              </a:rPr>
              <a:t>p</a:t>
            </a:r>
            <a:r>
              <a:rPr lang="en-US" dirty="0" smtClean="0">
                <a:solidFill>
                  <a:srgbClr val="D4D4D4"/>
                </a:solidFill>
                <a:latin typeface="Consolas"/>
              </a:rPr>
              <a:t> := </a:t>
            </a:r>
            <a:r>
              <a:rPr lang="en-US" dirty="0" smtClean="0">
                <a:solidFill>
                  <a:srgbClr val="DCDCAA"/>
                </a:solidFill>
                <a:latin typeface="Consolas"/>
              </a:rPr>
              <a:t>new</a:t>
            </a:r>
            <a:r>
              <a:rPr lang="en-US" dirty="0" smtClean="0">
                <a:solidFill>
                  <a:srgbClr val="D4D4D4"/>
                </a:solidFill>
                <a:latin typeface="Consolas"/>
              </a:rPr>
              <a:t>(</a:t>
            </a:r>
            <a:r>
              <a:rPr lang="en-US" dirty="0" err="1" smtClean="0">
                <a:solidFill>
                  <a:srgbClr val="4EC9B0"/>
                </a:solidFill>
                <a:latin typeface="Consolas"/>
              </a:rPr>
              <a:t>int</a:t>
            </a:r>
            <a:r>
              <a:rPr lang="en-US" dirty="0" smtClean="0">
                <a:solidFill>
                  <a:srgbClr val="D4D4D4"/>
                </a:solidFill>
                <a:latin typeface="Consolas"/>
              </a:rPr>
              <a:t>)   </a:t>
            </a:r>
            <a:r>
              <a:rPr lang="en-US" dirty="0" smtClean="0">
                <a:solidFill>
                  <a:srgbClr val="6A9955"/>
                </a:solidFill>
                <a:latin typeface="Consolas"/>
              </a:rPr>
              <a:t>// p, of type *</a:t>
            </a:r>
            <a:r>
              <a:rPr lang="en-US" dirty="0" err="1" smtClean="0">
                <a:solidFill>
                  <a:srgbClr val="6A9955"/>
                </a:solidFill>
                <a:latin typeface="Consolas"/>
              </a:rPr>
              <a:t>int</a:t>
            </a:r>
            <a:r>
              <a:rPr lang="en-US" dirty="0" smtClean="0">
                <a:solidFill>
                  <a:srgbClr val="6A9955"/>
                </a:solidFill>
                <a:latin typeface="Consolas"/>
              </a:rPr>
              <a:t>, points to an unnamed </a:t>
            </a:r>
            <a:r>
              <a:rPr lang="en-US" dirty="0" err="1" smtClean="0">
                <a:solidFill>
                  <a:srgbClr val="6A9955"/>
                </a:solidFill>
                <a:latin typeface="Consolas"/>
              </a:rPr>
              <a:t>int</a:t>
            </a:r>
            <a:r>
              <a:rPr lang="en-US" dirty="0" smtClean="0">
                <a:solidFill>
                  <a:srgbClr val="6A9955"/>
                </a:solidFill>
                <a:latin typeface="Consolas"/>
              </a:rPr>
              <a:t> variable</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(*p) </a:t>
            </a:r>
            <a:r>
              <a:rPr lang="en-US" dirty="0" smtClean="0">
                <a:solidFill>
                  <a:srgbClr val="6A9955"/>
                </a:solidFill>
                <a:latin typeface="Consolas"/>
              </a:rPr>
              <a:t>// "0"</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9CDCFE"/>
                </a:solidFill>
                <a:latin typeface="Consolas"/>
              </a:rPr>
              <a:t>p</a:t>
            </a:r>
            <a:r>
              <a:rPr lang="en-US" dirty="0" smtClean="0">
                <a:solidFill>
                  <a:srgbClr val="D4D4D4"/>
                </a:solidFill>
                <a:latin typeface="Consolas"/>
              </a:rPr>
              <a:t> = </a:t>
            </a:r>
            <a:r>
              <a:rPr lang="en-US" dirty="0" smtClean="0">
                <a:solidFill>
                  <a:srgbClr val="B5CEA8"/>
                </a:solidFill>
                <a:latin typeface="Consolas"/>
              </a:rPr>
              <a:t>2</a:t>
            </a:r>
            <a:r>
              <a:rPr lang="en-US" dirty="0" smtClean="0">
                <a:solidFill>
                  <a:srgbClr val="D4D4D4"/>
                </a:solidFill>
                <a:latin typeface="Consolas"/>
              </a:rPr>
              <a:t>          </a:t>
            </a:r>
            <a:r>
              <a:rPr lang="en-US" dirty="0" smtClean="0">
                <a:solidFill>
                  <a:srgbClr val="6A9955"/>
                </a:solidFill>
                <a:latin typeface="Consolas"/>
              </a:rPr>
              <a:t>// sets the unnamed </a:t>
            </a:r>
            <a:r>
              <a:rPr lang="en-US" dirty="0" err="1" smtClean="0">
                <a:solidFill>
                  <a:srgbClr val="6A9955"/>
                </a:solidFill>
                <a:latin typeface="Consolas"/>
              </a:rPr>
              <a:t>int</a:t>
            </a:r>
            <a:r>
              <a:rPr lang="en-US" dirty="0" smtClean="0">
                <a:solidFill>
                  <a:srgbClr val="6A9955"/>
                </a:solidFill>
                <a:latin typeface="Consolas"/>
              </a:rPr>
              <a:t> to 2</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(*p) </a:t>
            </a:r>
            <a:r>
              <a:rPr lang="en-US" dirty="0" smtClean="0">
                <a:solidFill>
                  <a:srgbClr val="6A9955"/>
                </a:solidFill>
                <a:latin typeface="Consolas"/>
              </a:rPr>
              <a:t>// "2"</a:t>
            </a:r>
            <a:endParaRPr lang="en-US" dirty="0" smtClean="0">
              <a:solidFill>
                <a:srgbClr val="D4D4D4"/>
              </a:solidFill>
              <a:latin typeface="Consolas"/>
            </a:endParaRPr>
          </a:p>
          <a:p>
            <a:r>
              <a:rPr lang="en-US" dirty="0" smtClean="0">
                <a:solidFill>
                  <a:srgbClr val="D4D4D4"/>
                </a:solidFill>
                <a:latin typeface="Consolas"/>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Declarations</a:t>
            </a:r>
            <a:endParaRPr lang="en-US" dirty="0"/>
          </a:p>
        </p:txBody>
      </p:sp>
      <p:sp>
        <p:nvSpPr>
          <p:cNvPr id="3" name="Content Placeholder 2"/>
          <p:cNvSpPr>
            <a:spLocks noGrp="1"/>
          </p:cNvSpPr>
          <p:nvPr>
            <p:ph idx="1"/>
          </p:nvPr>
        </p:nvSpPr>
        <p:spPr/>
        <p:txBody>
          <a:bodyPr/>
          <a:lstStyle/>
          <a:p>
            <a:r>
              <a:rPr lang="en-US" sz="2000" dirty="0" smtClean="0"/>
              <a:t>A </a:t>
            </a:r>
            <a:r>
              <a:rPr lang="en-US" sz="2000" i="1" dirty="0" smtClean="0">
                <a:solidFill>
                  <a:srgbClr val="C00000"/>
                </a:solidFill>
              </a:rPr>
              <a:t>declaration</a:t>
            </a:r>
            <a:r>
              <a:rPr lang="en-US" sz="2000" dirty="0" smtClean="0"/>
              <a:t> </a:t>
            </a:r>
            <a:r>
              <a:rPr lang="en-US" sz="2000" u="sng" dirty="0" smtClean="0"/>
              <a:t>names a program entity</a:t>
            </a:r>
            <a:r>
              <a:rPr lang="en-US" sz="2000" dirty="0" smtClean="0"/>
              <a:t> and specifies some or all of its properties.</a:t>
            </a:r>
          </a:p>
          <a:p>
            <a:r>
              <a:rPr lang="en-US" sz="2000" dirty="0" smtClean="0"/>
              <a:t>There are four major kinds of declarations: </a:t>
            </a:r>
            <a:r>
              <a:rPr lang="en-US" sz="2000" b="1" dirty="0" err="1" smtClean="0">
                <a:latin typeface="Consolas" pitchFamily="49" charset="0"/>
              </a:rPr>
              <a:t>var</a:t>
            </a:r>
            <a:r>
              <a:rPr lang="en-US" sz="2000" dirty="0" smtClean="0"/>
              <a:t>, </a:t>
            </a:r>
            <a:r>
              <a:rPr lang="en-US" sz="2000" b="1" dirty="0" smtClean="0">
                <a:latin typeface="Consolas" pitchFamily="49" charset="0"/>
              </a:rPr>
              <a:t>const</a:t>
            </a:r>
            <a:r>
              <a:rPr lang="en-US" sz="2000" dirty="0" smtClean="0"/>
              <a:t>, </a:t>
            </a:r>
            <a:r>
              <a:rPr lang="en-US" sz="2000" b="1" dirty="0" smtClean="0">
                <a:latin typeface="Consolas" pitchFamily="49" charset="0"/>
              </a:rPr>
              <a:t>type</a:t>
            </a:r>
            <a:r>
              <a:rPr lang="en-US" sz="2000" dirty="0" smtClean="0"/>
              <a:t>, and </a:t>
            </a:r>
            <a:r>
              <a:rPr lang="en-US" sz="2000" b="1" dirty="0" err="1" smtClean="0">
                <a:latin typeface="Consolas" pitchFamily="49" charset="0"/>
              </a:rPr>
              <a:t>func</a:t>
            </a:r>
            <a:r>
              <a:rPr lang="en-US" sz="2000" dirty="0" smtClean="0"/>
              <a:t>.</a:t>
            </a:r>
            <a:endParaRPr lang="en-US" sz="2000" dirty="0"/>
          </a:p>
        </p:txBody>
      </p:sp>
      <p:sp>
        <p:nvSpPr>
          <p:cNvPr id="4" name="Content Placeholder 2"/>
          <p:cNvSpPr txBox="1">
            <a:spLocks/>
          </p:cNvSpPr>
          <p:nvPr/>
        </p:nvSpPr>
        <p:spPr bwMode="auto">
          <a:xfrm>
            <a:off x="457200" y="2819400"/>
            <a:ext cx="8229600" cy="3581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package</a:t>
            </a:r>
            <a:r>
              <a:rPr lang="en-US" sz="1600" dirty="0" smtClean="0">
                <a:solidFill>
                  <a:srgbClr val="D4D4D4"/>
                </a:solidFill>
                <a:latin typeface="Consolas"/>
              </a:rPr>
              <a:t> main</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import</a:t>
            </a:r>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fmt</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569CD6"/>
                </a:solidFill>
                <a:latin typeface="Consolas"/>
              </a:rPr>
              <a:t>var</a:t>
            </a:r>
            <a:r>
              <a:rPr lang="en-US" sz="1600" dirty="0" smtClean="0">
                <a:solidFill>
                  <a:srgbClr val="D4D4D4"/>
                </a:solidFill>
                <a:latin typeface="Consolas"/>
              </a:rPr>
              <a:t> </a:t>
            </a:r>
            <a:r>
              <a:rPr lang="en-US" sz="1600" dirty="0" smtClean="0">
                <a:solidFill>
                  <a:srgbClr val="9CDCFE"/>
                </a:solidFill>
                <a:latin typeface="Consolas"/>
              </a:rPr>
              <a:t>s</a:t>
            </a:r>
            <a:r>
              <a:rPr lang="en-US" sz="1600" dirty="0" smtClean="0">
                <a:solidFill>
                  <a:srgbClr val="D4D4D4"/>
                </a:solidFill>
                <a:latin typeface="Consolas"/>
              </a:rPr>
              <a:t> </a:t>
            </a:r>
            <a:r>
              <a:rPr lang="en-US" sz="1600" dirty="0" smtClean="0">
                <a:solidFill>
                  <a:srgbClr val="4EC9B0"/>
                </a:solidFill>
                <a:latin typeface="Consolas"/>
              </a:rPr>
              <a:t>string</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s</a:t>
            </a:r>
            <a:r>
              <a:rPr lang="en-US" sz="1600" dirty="0" smtClean="0">
                <a:solidFill>
                  <a:srgbClr val="D4D4D4"/>
                </a:solidFill>
                <a:latin typeface="Consolas"/>
              </a:rPr>
              <a:t> = </a:t>
            </a:r>
            <a:r>
              <a:rPr lang="en-US" sz="1600" dirty="0" smtClean="0">
                <a:solidFill>
                  <a:srgbClr val="CE9178"/>
                </a:solidFill>
                <a:latin typeface="Consolas"/>
              </a:rPr>
              <a:t>"Ngo Huy Bien"</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(s)</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569CD6"/>
                </a:solidFill>
                <a:latin typeface="Consolas"/>
              </a:rPr>
              <a:t>const</a:t>
            </a:r>
            <a:r>
              <a:rPr lang="en-US" sz="1600" dirty="0" smtClean="0">
                <a:solidFill>
                  <a:srgbClr val="D4D4D4"/>
                </a:solidFill>
                <a:latin typeface="Consolas"/>
              </a:rPr>
              <a:t> </a:t>
            </a:r>
            <a:r>
              <a:rPr lang="en-US" sz="1600" dirty="0" err="1" smtClean="0">
                <a:solidFill>
                  <a:srgbClr val="9CDCFE"/>
                </a:solidFill>
                <a:latin typeface="Consolas"/>
              </a:rPr>
              <a:t>boilingF</a:t>
            </a:r>
            <a:r>
              <a:rPr lang="en-US" sz="1600" dirty="0" smtClean="0">
                <a:solidFill>
                  <a:srgbClr val="D4D4D4"/>
                </a:solidFill>
                <a:latin typeface="Consolas"/>
              </a:rPr>
              <a:t> = </a:t>
            </a:r>
            <a:r>
              <a:rPr lang="en-US" sz="1600" dirty="0" smtClean="0">
                <a:solidFill>
                  <a:srgbClr val="B5CEA8"/>
                </a:solidFill>
                <a:latin typeface="Consolas"/>
              </a:rPr>
              <a:t>212.0</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569CD6"/>
                </a:solidFill>
                <a:latin typeface="Consolas"/>
              </a:rPr>
              <a:t>var</a:t>
            </a:r>
            <a:r>
              <a:rPr lang="en-US" sz="1600" dirty="0" smtClean="0">
                <a:solidFill>
                  <a:srgbClr val="D4D4D4"/>
                </a:solidFill>
                <a:latin typeface="Consolas"/>
              </a:rPr>
              <a:t> </a:t>
            </a:r>
            <a:r>
              <a:rPr lang="en-US" sz="1600" dirty="0" smtClean="0">
                <a:solidFill>
                  <a:srgbClr val="9CDCFE"/>
                </a:solidFill>
                <a:latin typeface="Consolas"/>
              </a:rPr>
              <a:t>f</a:t>
            </a:r>
            <a:r>
              <a:rPr lang="en-US" sz="1600" dirty="0" smtClean="0">
                <a:solidFill>
                  <a:srgbClr val="D4D4D4"/>
                </a:solidFill>
                <a:latin typeface="Consolas"/>
              </a:rPr>
              <a:t> = </a:t>
            </a:r>
            <a:r>
              <a:rPr lang="en-US" sz="1600" dirty="0" err="1" smtClean="0">
                <a:solidFill>
                  <a:srgbClr val="D4D4D4"/>
                </a:solidFill>
                <a:latin typeface="Consolas"/>
              </a:rPr>
              <a:t>boilingF</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569CD6"/>
                </a:solidFill>
                <a:latin typeface="Consolas"/>
              </a:rPr>
              <a:t>var</a:t>
            </a:r>
            <a:r>
              <a:rPr lang="en-US" sz="1600" dirty="0" smtClean="0">
                <a:solidFill>
                  <a:srgbClr val="D4D4D4"/>
                </a:solidFill>
                <a:latin typeface="Consolas"/>
              </a:rPr>
              <a:t> </a:t>
            </a:r>
            <a:r>
              <a:rPr lang="en-US" sz="1600" dirty="0" smtClean="0">
                <a:solidFill>
                  <a:srgbClr val="9CDCFE"/>
                </a:solidFill>
                <a:latin typeface="Consolas"/>
              </a:rPr>
              <a:t>c</a:t>
            </a:r>
            <a:r>
              <a:rPr lang="en-US" sz="1600" dirty="0" smtClean="0">
                <a:solidFill>
                  <a:srgbClr val="D4D4D4"/>
                </a:solidFill>
                <a:latin typeface="Consolas"/>
              </a:rPr>
              <a:t> = (f - </a:t>
            </a:r>
            <a:r>
              <a:rPr lang="en-US" sz="1600" dirty="0" smtClean="0">
                <a:solidFill>
                  <a:srgbClr val="B5CEA8"/>
                </a:solidFill>
                <a:latin typeface="Consolas"/>
              </a:rPr>
              <a:t>32</a:t>
            </a:r>
            <a:r>
              <a:rPr lang="en-US" sz="1600" dirty="0" smtClean="0">
                <a:solidFill>
                  <a:srgbClr val="D4D4D4"/>
                </a:solidFill>
                <a:latin typeface="Consolas"/>
              </a:rPr>
              <a:t>) * </a:t>
            </a:r>
            <a:r>
              <a:rPr lang="en-US" sz="1600" dirty="0" smtClean="0">
                <a:solidFill>
                  <a:srgbClr val="B5CEA8"/>
                </a:solidFill>
                <a:latin typeface="Consolas"/>
              </a:rPr>
              <a:t>5</a:t>
            </a:r>
            <a:r>
              <a:rPr lang="en-US" sz="1600" dirty="0" smtClean="0">
                <a:solidFill>
                  <a:srgbClr val="D4D4D4"/>
                </a:solidFill>
                <a:latin typeface="Consolas"/>
              </a:rPr>
              <a:t> / </a:t>
            </a:r>
            <a:r>
              <a:rPr lang="en-US" sz="1600" dirty="0" smtClean="0">
                <a:solidFill>
                  <a:srgbClr val="B5CEA8"/>
                </a:solidFill>
                <a:latin typeface="Consolas"/>
              </a:rPr>
              <a:t>9</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Printf</a:t>
            </a:r>
            <a:r>
              <a:rPr lang="en-US" sz="1600" dirty="0" smtClean="0">
                <a:solidFill>
                  <a:srgbClr val="D4D4D4"/>
                </a:solidFill>
                <a:latin typeface="Consolas"/>
              </a:rPr>
              <a:t>(</a:t>
            </a:r>
            <a:r>
              <a:rPr lang="en-US" sz="1600" dirty="0" smtClean="0">
                <a:solidFill>
                  <a:srgbClr val="CE9178"/>
                </a:solidFill>
                <a:latin typeface="Consolas"/>
              </a:rPr>
              <a:t>"boiling point = %</a:t>
            </a:r>
            <a:r>
              <a:rPr lang="en-US" sz="1600" dirty="0" err="1" smtClean="0">
                <a:solidFill>
                  <a:srgbClr val="CE9178"/>
                </a:solidFill>
                <a:latin typeface="Consolas"/>
              </a:rPr>
              <a:t>g°F</a:t>
            </a:r>
            <a:r>
              <a:rPr lang="en-US" sz="1600" dirty="0" smtClean="0">
                <a:solidFill>
                  <a:srgbClr val="CE9178"/>
                </a:solidFill>
                <a:latin typeface="Consolas"/>
              </a:rPr>
              <a:t> or %</a:t>
            </a:r>
            <a:r>
              <a:rPr lang="en-US" sz="1600" dirty="0" err="1" smtClean="0">
                <a:solidFill>
                  <a:srgbClr val="CE9178"/>
                </a:solidFill>
                <a:latin typeface="Consolas"/>
              </a:rPr>
              <a:t>g°C</a:t>
            </a:r>
            <a:r>
              <a:rPr lang="en-US" sz="1600" dirty="0" smtClean="0">
                <a:solidFill>
                  <a:srgbClr val="D7BA7D"/>
                </a:solidFill>
                <a:latin typeface="Consolas"/>
              </a:rPr>
              <a:t>\n</a:t>
            </a:r>
            <a:r>
              <a:rPr lang="en-US" sz="1600" dirty="0" smtClean="0">
                <a:solidFill>
                  <a:srgbClr val="CE9178"/>
                </a:solidFill>
                <a:latin typeface="Consolas"/>
              </a:rPr>
              <a:t>"</a:t>
            </a:r>
            <a:r>
              <a:rPr lang="en-US" sz="1600" dirty="0" smtClean="0">
                <a:solidFill>
                  <a:srgbClr val="D4D4D4"/>
                </a:solidFill>
                <a:latin typeface="Consolas"/>
              </a:rPr>
              <a:t>, f, c)</a:t>
            </a:r>
          </a:p>
          <a:p>
            <a:r>
              <a:rPr lang="en-US" sz="1600" dirty="0" smtClean="0">
                <a:solidFill>
                  <a:srgbClr val="D4D4D4"/>
                </a:solidFill>
                <a:latin typeface="Consolas"/>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nsolas" pitchFamily="49" charset="0"/>
              </a:rPr>
              <a:t>iota</a:t>
            </a:r>
            <a:r>
              <a:rPr lang="en-US" dirty="0" smtClean="0"/>
              <a:t> Keyword</a:t>
            </a:r>
            <a:endParaRPr lang="en-US" dirty="0"/>
          </a:p>
        </p:txBody>
      </p:sp>
      <p:sp>
        <p:nvSpPr>
          <p:cNvPr id="3" name="Content Placeholder 2"/>
          <p:cNvSpPr>
            <a:spLocks noGrp="1"/>
          </p:cNvSpPr>
          <p:nvPr>
            <p:ph idx="1"/>
          </p:nvPr>
        </p:nvSpPr>
        <p:spPr/>
        <p:txBody>
          <a:bodyPr/>
          <a:lstStyle/>
          <a:p>
            <a:r>
              <a:rPr lang="en-US" sz="2200" dirty="0" smtClean="0"/>
              <a:t>The iota keyword represents </a:t>
            </a:r>
            <a:r>
              <a:rPr lang="en-US" sz="2200" i="1" dirty="0" smtClean="0">
                <a:solidFill>
                  <a:srgbClr val="C00000"/>
                </a:solidFill>
              </a:rPr>
              <a:t>successive integer constants</a:t>
            </a:r>
            <a:r>
              <a:rPr lang="en-US" sz="2200" dirty="0" smtClean="0"/>
              <a:t> 0, 1, 2,… and </a:t>
            </a:r>
            <a:r>
              <a:rPr lang="en-US" sz="2200" i="1" dirty="0" smtClean="0">
                <a:solidFill>
                  <a:srgbClr val="C00000"/>
                </a:solidFill>
              </a:rPr>
              <a:t>increments</a:t>
            </a:r>
            <a:r>
              <a:rPr lang="en-US" sz="2200" dirty="0" smtClean="0"/>
              <a:t> after each const specification.</a:t>
            </a:r>
          </a:p>
          <a:p>
            <a:r>
              <a:rPr lang="en-US" sz="2200" dirty="0" smtClean="0"/>
              <a:t>It </a:t>
            </a:r>
            <a:r>
              <a:rPr lang="en-US" sz="2200" i="1" dirty="0" smtClean="0">
                <a:solidFill>
                  <a:srgbClr val="C00000"/>
                </a:solidFill>
              </a:rPr>
              <a:t>resets</a:t>
            </a:r>
            <a:r>
              <a:rPr lang="en-US" sz="2200" dirty="0" smtClean="0"/>
              <a:t> to 0 whenever the word const appears in the source code.</a:t>
            </a:r>
          </a:p>
          <a:p>
            <a:endParaRPr lang="vi-VN" sz="2200" dirty="0" smtClean="0"/>
          </a:p>
        </p:txBody>
      </p:sp>
      <p:sp>
        <p:nvSpPr>
          <p:cNvPr id="4" name="Content Placeholder 2"/>
          <p:cNvSpPr txBox="1">
            <a:spLocks/>
          </p:cNvSpPr>
          <p:nvPr/>
        </p:nvSpPr>
        <p:spPr bwMode="auto">
          <a:xfrm>
            <a:off x="457200" y="2971800"/>
            <a:ext cx="8229600" cy="3581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D4D4D4"/>
                </a:solidFill>
                <a:latin typeface="Consolas"/>
              </a:rPr>
              <a:t>    </a:t>
            </a:r>
            <a:r>
              <a:rPr lang="en-US" sz="1600" dirty="0" smtClean="0">
                <a:solidFill>
                  <a:srgbClr val="569CD6"/>
                </a:solidFill>
                <a:latin typeface="Consolas"/>
              </a:rPr>
              <a:t>const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C0</a:t>
            </a:r>
            <a:r>
              <a:rPr lang="en-US" sz="1600" dirty="0" smtClean="0">
                <a:solidFill>
                  <a:srgbClr val="D4D4D4"/>
                </a:solidFill>
                <a:latin typeface="Consolas"/>
              </a:rPr>
              <a:t> = </a:t>
            </a:r>
            <a:r>
              <a:rPr lang="en-US" sz="1600" dirty="0" smtClean="0">
                <a:solidFill>
                  <a:srgbClr val="569CD6"/>
                </a:solidFill>
                <a:latin typeface="Consolas"/>
              </a:rPr>
              <a:t>iota</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C1</a:t>
            </a:r>
            <a:r>
              <a:rPr lang="en-US" sz="1600" dirty="0" smtClean="0">
                <a:solidFill>
                  <a:srgbClr val="D4D4D4"/>
                </a:solidFill>
                <a:latin typeface="Consolas"/>
              </a:rPr>
              <a:t> = </a:t>
            </a:r>
            <a:r>
              <a:rPr lang="en-US" sz="1600" dirty="0" smtClean="0">
                <a:solidFill>
                  <a:srgbClr val="B5CEA8"/>
                </a:solidFill>
                <a:latin typeface="Consolas"/>
              </a:rPr>
              <a:t>2</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C2</a:t>
            </a:r>
            <a:r>
              <a:rPr lang="en-US" sz="1600" dirty="0" smtClean="0">
                <a:solidFill>
                  <a:srgbClr val="D4D4D4"/>
                </a:solidFill>
                <a:latin typeface="Consolas"/>
              </a:rPr>
              <a:t> = </a:t>
            </a:r>
            <a:r>
              <a:rPr lang="en-US" sz="1600" dirty="0" smtClean="0">
                <a:solidFill>
                  <a:srgbClr val="B5CEA8"/>
                </a:solidFill>
                <a:latin typeface="Consolas"/>
              </a:rPr>
              <a:t>3</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C3</a:t>
            </a:r>
            <a:r>
              <a:rPr lang="en-US" sz="1600" dirty="0" smtClean="0">
                <a:solidFill>
                  <a:srgbClr val="D4D4D4"/>
                </a:solidFill>
                <a:latin typeface="Consolas"/>
              </a:rPr>
              <a:t> = </a:t>
            </a:r>
            <a:r>
              <a:rPr lang="en-US" sz="1600" dirty="0" smtClean="0">
                <a:solidFill>
                  <a:srgbClr val="569CD6"/>
                </a:solidFill>
                <a:latin typeface="Consolas"/>
              </a:rPr>
              <a:t>iota</a:t>
            </a:r>
            <a:r>
              <a:rPr lang="en-US" sz="1600" dirty="0" smtClean="0">
                <a:solidFill>
                  <a:srgbClr val="D4D4D4"/>
                </a:solidFill>
                <a:latin typeface="Consolas"/>
              </a:rPr>
              <a:t> + C1 + C2</a:t>
            </a:r>
          </a:p>
          <a:p>
            <a:r>
              <a:rPr lang="en-US" sz="1600" dirty="0" smtClean="0">
                <a:solidFill>
                  <a:srgbClr val="D4D4D4"/>
                </a:solidFill>
                <a:latin typeface="Consolas"/>
              </a:rPr>
              <a:t>        </a:t>
            </a:r>
            <a:r>
              <a:rPr lang="en-US" sz="1600" dirty="0" smtClean="0">
                <a:solidFill>
                  <a:srgbClr val="9CDCFE"/>
                </a:solidFill>
                <a:latin typeface="Consolas"/>
              </a:rPr>
              <a:t>C4</a:t>
            </a:r>
            <a:r>
              <a:rPr lang="en-US" sz="1600" dirty="0" smtClean="0">
                <a:solidFill>
                  <a:srgbClr val="D4D4D4"/>
                </a:solidFill>
                <a:latin typeface="Consolas"/>
              </a:rPr>
              <a:t> = </a:t>
            </a:r>
            <a:r>
              <a:rPr lang="en-US" sz="1600" dirty="0" smtClean="0">
                <a:solidFill>
                  <a:srgbClr val="569CD6"/>
                </a:solidFill>
                <a:latin typeface="Consolas"/>
              </a:rPr>
              <a:t>iota</a:t>
            </a:r>
            <a:endParaRPr lang="en-US" sz="1600" dirty="0" smtClean="0">
              <a:solidFill>
                <a:srgbClr val="D4D4D4"/>
              </a:solidFill>
              <a:latin typeface="Consolas"/>
            </a:endParaRPr>
          </a:p>
          <a:p>
            <a:r>
              <a:rPr lang="en-US" sz="1600" dirty="0" smtClean="0">
                <a:solidFill>
                  <a:srgbClr val="D4D4D4"/>
                </a:solidFill>
                <a:latin typeface="Consolas"/>
              </a:rPr>
              <a:t>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(C0, C1, C2, C3, C4) </a:t>
            </a:r>
            <a:r>
              <a:rPr lang="en-US" sz="1600" dirty="0" smtClean="0">
                <a:solidFill>
                  <a:srgbClr val="6A9955"/>
                </a:solidFill>
                <a:latin typeface="Consolas"/>
              </a:rPr>
              <a:t>// "0 2 3 8 4"</a:t>
            </a:r>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569CD6"/>
                </a:solidFill>
                <a:latin typeface="Consolas"/>
              </a:rPr>
              <a:t>const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D1</a:t>
            </a:r>
            <a:r>
              <a:rPr lang="en-US" sz="1600" dirty="0" smtClean="0">
                <a:solidFill>
                  <a:srgbClr val="D4D4D4"/>
                </a:solidFill>
                <a:latin typeface="Consolas"/>
              </a:rPr>
              <a:t> = </a:t>
            </a:r>
            <a:r>
              <a:rPr lang="en-US" sz="1600" dirty="0" smtClean="0">
                <a:solidFill>
                  <a:srgbClr val="569CD6"/>
                </a:solidFill>
                <a:latin typeface="Consolas"/>
              </a:rPr>
              <a:t>iota</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D2</a:t>
            </a:r>
            <a:r>
              <a:rPr lang="en-US" sz="1600" dirty="0" smtClean="0">
                <a:solidFill>
                  <a:srgbClr val="D4D4D4"/>
                </a:solidFill>
                <a:latin typeface="Consolas"/>
              </a:rPr>
              <a:t> = </a:t>
            </a:r>
            <a:r>
              <a:rPr lang="en-US" sz="1600" dirty="0" smtClean="0">
                <a:solidFill>
                  <a:srgbClr val="569CD6"/>
                </a:solidFill>
                <a:latin typeface="Consolas"/>
              </a:rPr>
              <a:t>iota</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D3</a:t>
            </a:r>
            <a:r>
              <a:rPr lang="en-US" sz="1600" dirty="0" smtClean="0">
                <a:solidFill>
                  <a:srgbClr val="D4D4D4"/>
                </a:solidFill>
                <a:latin typeface="Consolas"/>
              </a:rPr>
              <a:t> = </a:t>
            </a:r>
            <a:r>
              <a:rPr lang="en-US" sz="1600" dirty="0" smtClean="0">
                <a:solidFill>
                  <a:srgbClr val="569CD6"/>
                </a:solidFill>
                <a:latin typeface="Consolas"/>
              </a:rPr>
              <a:t>iota</a:t>
            </a:r>
            <a:endParaRPr lang="en-US" sz="1600" dirty="0" smtClean="0">
              <a:solidFill>
                <a:srgbClr val="D4D4D4"/>
              </a:solidFill>
              <a:latin typeface="Consolas"/>
            </a:endParaRPr>
          </a:p>
          <a:p>
            <a:r>
              <a:rPr lang="en-US" sz="1600" dirty="0" smtClean="0">
                <a:solidFill>
                  <a:srgbClr val="D4D4D4"/>
                </a:solidFill>
                <a:latin typeface="Consolas"/>
              </a:rPr>
              <a:t>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(D1, D2, D3) </a:t>
            </a:r>
            <a:r>
              <a:rPr lang="en-US" sz="1600" dirty="0" smtClean="0">
                <a:solidFill>
                  <a:srgbClr val="6A9955"/>
                </a:solidFill>
                <a:latin typeface="Consolas"/>
              </a:rPr>
              <a:t>// "0 1 2"</a:t>
            </a:r>
            <a:endParaRPr lang="en-US" sz="1600" b="0" dirty="0">
              <a:solidFill>
                <a:srgbClr val="D4D4D4"/>
              </a:solidFill>
              <a:latin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Consolas" pitchFamily="49" charset="0"/>
              </a:rPr>
              <a:t>string</a:t>
            </a:r>
            <a:endParaRPr lang="en-US" dirty="0"/>
          </a:p>
        </p:txBody>
      </p:sp>
      <p:sp>
        <p:nvSpPr>
          <p:cNvPr id="4" name="Content Placeholder 2"/>
          <p:cNvSpPr txBox="1">
            <a:spLocks/>
          </p:cNvSpPr>
          <p:nvPr/>
        </p:nvSpPr>
        <p:spPr bwMode="auto">
          <a:xfrm>
            <a:off x="457200" y="2971800"/>
            <a:ext cx="8229600" cy="1752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name</a:t>
            </a:r>
            <a:r>
              <a:rPr lang="en-US" sz="1600" dirty="0" smtClean="0">
                <a:solidFill>
                  <a:srgbClr val="D4D4D4"/>
                </a:solidFill>
                <a:latin typeface="Consolas"/>
              </a:rPr>
              <a:t> := </a:t>
            </a:r>
            <a:r>
              <a:rPr lang="en-US" sz="1600" dirty="0" smtClean="0">
                <a:solidFill>
                  <a:srgbClr val="CE9178"/>
                </a:solidFill>
                <a:latin typeface="Consolas"/>
              </a:rPr>
              <a:t>"</a:t>
            </a:r>
            <a:r>
              <a:rPr lang="en-US" sz="1600" dirty="0" err="1" smtClean="0">
                <a:solidFill>
                  <a:srgbClr val="CE9178"/>
                </a:solidFill>
                <a:latin typeface="Consolas"/>
              </a:rPr>
              <a:t>Ngô</a:t>
            </a:r>
            <a:r>
              <a:rPr lang="en-US" sz="1600" dirty="0" smtClean="0">
                <a:solidFill>
                  <a:srgbClr val="CE9178"/>
                </a:solidFill>
                <a:latin typeface="Consolas"/>
              </a:rPr>
              <a:t> Huy </a:t>
            </a:r>
            <a:r>
              <a:rPr lang="en-US" sz="1600" dirty="0" err="1" smtClean="0">
                <a:solidFill>
                  <a:srgbClr val="CE9178"/>
                </a:solidFill>
                <a:latin typeface="Consolas"/>
              </a:rPr>
              <a:t>Biên</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Printf</a:t>
            </a:r>
            <a:r>
              <a:rPr lang="en-US" sz="1600" dirty="0" smtClean="0">
                <a:solidFill>
                  <a:srgbClr val="D4D4D4"/>
                </a:solidFill>
                <a:latin typeface="Consolas"/>
              </a:rPr>
              <a:t>(</a:t>
            </a:r>
            <a:r>
              <a:rPr lang="en-US" sz="1600" dirty="0" smtClean="0">
                <a:solidFill>
                  <a:srgbClr val="CE9178"/>
                </a:solidFill>
                <a:latin typeface="Consolas"/>
              </a:rPr>
              <a:t>"name: </a:t>
            </a:r>
            <a:r>
              <a:rPr lang="en-US" sz="1600" dirty="0" smtClean="0">
                <a:solidFill>
                  <a:srgbClr val="9CDCFE"/>
                </a:solidFill>
                <a:latin typeface="Consolas"/>
              </a:rPr>
              <a:t>%s</a:t>
            </a:r>
            <a:r>
              <a:rPr lang="en-US" sz="1600" dirty="0" smtClean="0">
                <a:solidFill>
                  <a:srgbClr val="D7BA7D"/>
                </a:solidFill>
                <a:latin typeface="Consolas"/>
              </a:rPr>
              <a:t>\n</a:t>
            </a:r>
            <a:r>
              <a:rPr lang="en-US" sz="1600" dirty="0" smtClean="0">
                <a:solidFill>
                  <a:srgbClr val="CE9178"/>
                </a:solidFill>
                <a:latin typeface="Consolas"/>
              </a:rPr>
              <a:t>"</a:t>
            </a:r>
            <a:r>
              <a:rPr lang="en-US" sz="1600" dirty="0" smtClean="0">
                <a:solidFill>
                  <a:srgbClr val="D4D4D4"/>
                </a:solidFill>
                <a:latin typeface="Consolas"/>
              </a:rPr>
              <a:t>, name)</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Printf</a:t>
            </a:r>
            <a:r>
              <a:rPr lang="en-US" sz="1600" dirty="0" smtClean="0">
                <a:solidFill>
                  <a:srgbClr val="D4D4D4"/>
                </a:solidFill>
                <a:latin typeface="Consolas"/>
              </a:rPr>
              <a:t>(</a:t>
            </a:r>
            <a:r>
              <a:rPr lang="en-US" sz="1600" dirty="0" smtClean="0">
                <a:solidFill>
                  <a:srgbClr val="CE9178"/>
                </a:solidFill>
                <a:latin typeface="Consolas"/>
              </a:rPr>
              <a:t>"</a:t>
            </a:r>
            <a:r>
              <a:rPr lang="en-US" sz="1600" dirty="0" err="1" smtClean="0">
                <a:solidFill>
                  <a:srgbClr val="CE9178"/>
                </a:solidFill>
                <a:latin typeface="Consolas"/>
              </a:rPr>
              <a:t>len</a:t>
            </a:r>
            <a:r>
              <a:rPr lang="en-US" sz="1600" dirty="0" smtClean="0">
                <a:solidFill>
                  <a:srgbClr val="CE9178"/>
                </a:solidFill>
                <a:latin typeface="Consolas"/>
              </a:rPr>
              <a:t>: </a:t>
            </a:r>
            <a:r>
              <a:rPr lang="en-US" sz="1600" dirty="0" smtClean="0">
                <a:solidFill>
                  <a:srgbClr val="9CDCFE"/>
                </a:solidFill>
                <a:latin typeface="Consolas"/>
              </a:rPr>
              <a:t>%d</a:t>
            </a:r>
            <a:r>
              <a:rPr lang="en-US" sz="1600" dirty="0" smtClean="0">
                <a:solidFill>
                  <a:srgbClr val="D7BA7D"/>
                </a:solidFill>
                <a:latin typeface="Consolas"/>
              </a:rPr>
              <a:t>\n</a:t>
            </a:r>
            <a:r>
              <a:rPr lang="en-US" sz="1600" dirty="0" smtClean="0">
                <a:solidFill>
                  <a:srgbClr val="CE9178"/>
                </a:solidFill>
                <a:latin typeface="Consolas"/>
              </a:rPr>
              <a:t>"</a:t>
            </a:r>
            <a:r>
              <a:rPr lang="en-US" sz="1600" dirty="0" smtClean="0">
                <a:solidFill>
                  <a:srgbClr val="D4D4D4"/>
                </a:solidFill>
                <a:latin typeface="Consolas"/>
              </a:rPr>
              <a:t>, </a:t>
            </a:r>
            <a:r>
              <a:rPr lang="en-US" sz="1600" dirty="0" err="1" smtClean="0">
                <a:solidFill>
                  <a:srgbClr val="DCDCAA"/>
                </a:solidFill>
                <a:latin typeface="Consolas"/>
              </a:rPr>
              <a:t>len</a:t>
            </a:r>
            <a:r>
              <a:rPr lang="en-US" sz="1600" dirty="0" smtClean="0">
                <a:solidFill>
                  <a:srgbClr val="D4D4D4"/>
                </a:solidFill>
                <a:latin typeface="Consolas"/>
              </a:rPr>
              <a:t>(name))</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Printf</a:t>
            </a:r>
            <a:r>
              <a:rPr lang="en-US" sz="1600" dirty="0" smtClean="0">
                <a:solidFill>
                  <a:srgbClr val="D4D4D4"/>
                </a:solidFill>
                <a:latin typeface="Consolas"/>
              </a:rPr>
              <a:t>(</a:t>
            </a:r>
            <a:r>
              <a:rPr lang="en-US" sz="1600" dirty="0" smtClean="0">
                <a:solidFill>
                  <a:srgbClr val="CE9178"/>
                </a:solidFill>
                <a:latin typeface="Consolas"/>
              </a:rPr>
              <a:t>"rune count: </a:t>
            </a:r>
            <a:r>
              <a:rPr lang="en-US" sz="1600" dirty="0" smtClean="0">
                <a:solidFill>
                  <a:srgbClr val="9CDCFE"/>
                </a:solidFill>
                <a:latin typeface="Consolas"/>
              </a:rPr>
              <a:t>%d</a:t>
            </a:r>
            <a:r>
              <a:rPr lang="en-US" sz="1600" dirty="0" smtClean="0">
                <a:solidFill>
                  <a:srgbClr val="D7BA7D"/>
                </a:solidFill>
                <a:latin typeface="Consolas"/>
              </a:rPr>
              <a:t>\n</a:t>
            </a:r>
            <a:r>
              <a:rPr lang="en-US" sz="1600" dirty="0" smtClean="0">
                <a:solidFill>
                  <a:srgbClr val="CE9178"/>
                </a:solidFill>
                <a:latin typeface="Consolas"/>
              </a:rPr>
              <a:t>"</a:t>
            </a:r>
            <a:r>
              <a:rPr lang="en-US" sz="1600" dirty="0" smtClean="0">
                <a:solidFill>
                  <a:srgbClr val="D4D4D4"/>
                </a:solidFill>
                <a:latin typeface="Consolas"/>
              </a:rPr>
              <a:t>, utf8.</a:t>
            </a:r>
            <a:r>
              <a:rPr lang="en-US" sz="1600" dirty="0" smtClean="0">
                <a:solidFill>
                  <a:srgbClr val="DCDCAA"/>
                </a:solidFill>
                <a:latin typeface="Consolas"/>
              </a:rPr>
              <a:t>RuneCountInString</a:t>
            </a:r>
            <a:r>
              <a:rPr lang="en-US" sz="1600" dirty="0" smtClean="0">
                <a:solidFill>
                  <a:srgbClr val="D4D4D4"/>
                </a:solidFill>
                <a:latin typeface="Consolas"/>
              </a:rPr>
              <a:t>(name))</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a:t>
            </a:r>
            <a:endParaRPr lang="en-US" dirty="0"/>
          </a:p>
        </p:txBody>
      </p:sp>
      <p:sp>
        <p:nvSpPr>
          <p:cNvPr id="4" name="Content Placeholder 2"/>
          <p:cNvSpPr txBox="1">
            <a:spLocks/>
          </p:cNvSpPr>
          <p:nvPr/>
        </p:nvSpPr>
        <p:spPr bwMode="auto">
          <a:xfrm>
            <a:off x="457200" y="2971800"/>
            <a:ext cx="8229600" cy="2438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num</a:t>
            </a:r>
            <a:r>
              <a:rPr lang="en-US" sz="1600" dirty="0" smtClean="0">
                <a:solidFill>
                  <a:srgbClr val="D4D4D4"/>
                </a:solidFill>
                <a:latin typeface="Consolas"/>
              </a:rPr>
              <a:t> := </a:t>
            </a:r>
            <a:r>
              <a:rPr lang="en-US" sz="1600" dirty="0" smtClean="0">
                <a:solidFill>
                  <a:srgbClr val="B5CEA8"/>
                </a:solidFill>
                <a:latin typeface="Consolas"/>
              </a:rPr>
              <a:t>7</a:t>
            </a:r>
            <a:endParaRPr lang="en-US" sz="1600" dirty="0" smtClean="0">
              <a:solidFill>
                <a:srgbClr val="D4D4D4"/>
              </a:solidFill>
              <a:latin typeface="Consolas"/>
            </a:endParaRPr>
          </a:p>
          <a:p>
            <a:r>
              <a:rPr lang="en-US" sz="2000" dirty="0" smtClean="0">
                <a:solidFill>
                  <a:srgbClr val="D4D4D4"/>
                </a:solidFill>
                <a:latin typeface="Consolas"/>
              </a:rPr>
              <a:t>    </a:t>
            </a:r>
            <a:r>
              <a:rPr lang="en-US" sz="2000" dirty="0" smtClean="0">
                <a:solidFill>
                  <a:srgbClr val="C586C0"/>
                </a:solidFill>
                <a:latin typeface="Consolas"/>
              </a:rPr>
              <a:t>if</a:t>
            </a:r>
            <a:r>
              <a:rPr lang="en-US" sz="2000" dirty="0" smtClean="0">
                <a:solidFill>
                  <a:srgbClr val="D4D4D4"/>
                </a:solidFill>
                <a:latin typeface="Consolas"/>
              </a:rPr>
              <a:t> num%</a:t>
            </a:r>
            <a:r>
              <a:rPr lang="en-US" sz="2000" dirty="0" smtClean="0">
                <a:solidFill>
                  <a:srgbClr val="B5CEA8"/>
                </a:solidFill>
                <a:latin typeface="Consolas"/>
              </a:rPr>
              <a:t>2</a:t>
            </a:r>
            <a:r>
              <a:rPr lang="en-US" sz="2000" dirty="0" smtClean="0">
                <a:solidFill>
                  <a:srgbClr val="D4D4D4"/>
                </a:solidFill>
                <a:latin typeface="Consolas"/>
              </a:rPr>
              <a:t> == </a:t>
            </a:r>
            <a:r>
              <a:rPr lang="en-US" sz="2000" dirty="0" smtClean="0">
                <a:solidFill>
                  <a:srgbClr val="B5CEA8"/>
                </a:solidFill>
                <a:latin typeface="Consolas"/>
              </a:rPr>
              <a:t>0</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Printf</a:t>
            </a:r>
            <a:r>
              <a:rPr lang="en-US" sz="2000" dirty="0" smtClean="0">
                <a:solidFill>
                  <a:srgbClr val="D4D4D4"/>
                </a:solidFill>
                <a:latin typeface="Consolas"/>
              </a:rPr>
              <a:t>(</a:t>
            </a:r>
            <a:r>
              <a:rPr lang="en-US" sz="2000" dirty="0" smtClean="0">
                <a:solidFill>
                  <a:srgbClr val="CE9178"/>
                </a:solidFill>
                <a:latin typeface="Consolas"/>
              </a:rPr>
              <a:t>"</a:t>
            </a:r>
            <a:r>
              <a:rPr lang="en-US" sz="2000" dirty="0" smtClean="0">
                <a:solidFill>
                  <a:srgbClr val="9CDCFE"/>
                </a:solidFill>
                <a:latin typeface="Consolas"/>
              </a:rPr>
              <a:t>%d</a:t>
            </a:r>
            <a:r>
              <a:rPr lang="en-US" sz="2000" dirty="0" smtClean="0">
                <a:solidFill>
                  <a:srgbClr val="CE9178"/>
                </a:solidFill>
                <a:latin typeface="Consolas"/>
              </a:rPr>
              <a:t> is even"</a:t>
            </a:r>
            <a:r>
              <a:rPr lang="en-US" sz="2000" dirty="0" smtClean="0">
                <a:solidFill>
                  <a:srgbClr val="D4D4D4"/>
                </a:solidFill>
                <a:latin typeface="Consolas"/>
              </a:rPr>
              <a:t>, num)</a:t>
            </a:r>
          </a:p>
          <a:p>
            <a:r>
              <a:rPr lang="en-US" sz="2000" dirty="0" smtClean="0">
                <a:solidFill>
                  <a:srgbClr val="D4D4D4"/>
                </a:solidFill>
                <a:latin typeface="Consolas"/>
              </a:rPr>
              <a:t>    } </a:t>
            </a:r>
            <a:r>
              <a:rPr lang="en-US" sz="2000" dirty="0" smtClean="0">
                <a:solidFill>
                  <a:srgbClr val="C586C0"/>
                </a:solidFill>
                <a:latin typeface="Consolas"/>
              </a:rPr>
              <a:t>else</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Printf</a:t>
            </a:r>
            <a:r>
              <a:rPr lang="en-US" sz="2000" dirty="0" smtClean="0">
                <a:solidFill>
                  <a:srgbClr val="D4D4D4"/>
                </a:solidFill>
                <a:latin typeface="Consolas"/>
              </a:rPr>
              <a:t>(</a:t>
            </a:r>
            <a:r>
              <a:rPr lang="en-US" sz="2000" dirty="0" smtClean="0">
                <a:solidFill>
                  <a:srgbClr val="CE9178"/>
                </a:solidFill>
                <a:latin typeface="Consolas"/>
              </a:rPr>
              <a:t>"</a:t>
            </a:r>
            <a:r>
              <a:rPr lang="en-US" sz="2000" dirty="0" smtClean="0">
                <a:solidFill>
                  <a:srgbClr val="9CDCFE"/>
                </a:solidFill>
                <a:latin typeface="Consolas"/>
              </a:rPr>
              <a:t>%d</a:t>
            </a:r>
            <a:r>
              <a:rPr lang="en-US" sz="2000" dirty="0" smtClean="0">
                <a:solidFill>
                  <a:srgbClr val="CE9178"/>
                </a:solidFill>
                <a:latin typeface="Consolas"/>
              </a:rPr>
              <a:t> is odd"</a:t>
            </a:r>
            <a:r>
              <a:rPr lang="en-US" sz="2000" dirty="0" smtClean="0">
                <a:solidFill>
                  <a:srgbClr val="D4D4D4"/>
                </a:solidFill>
                <a:latin typeface="Consolas"/>
              </a:rPr>
              <a:t>, num)</a:t>
            </a:r>
          </a:p>
          <a:p>
            <a:r>
              <a:rPr lang="en-US" sz="20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a:t>
            </a:r>
            <a:endParaRPr lang="en-US" dirty="0"/>
          </a:p>
        </p:txBody>
      </p:sp>
      <p:sp>
        <p:nvSpPr>
          <p:cNvPr id="4" name="Content Placeholder 2"/>
          <p:cNvSpPr txBox="1">
            <a:spLocks/>
          </p:cNvSpPr>
          <p:nvPr/>
        </p:nvSpPr>
        <p:spPr bwMode="auto">
          <a:xfrm>
            <a:off x="457200" y="1828800"/>
            <a:ext cx="8229600" cy="4114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9CDCFE"/>
                </a:solidFill>
                <a:latin typeface="Consolas"/>
              </a:rPr>
              <a:t>i</a:t>
            </a:r>
            <a:r>
              <a:rPr lang="en-US" sz="1600" dirty="0" smtClean="0">
                <a:solidFill>
                  <a:srgbClr val="D4D4D4"/>
                </a:solidFill>
                <a:latin typeface="Consolas"/>
              </a:rPr>
              <a:t> := </a:t>
            </a:r>
            <a:r>
              <a:rPr lang="en-US" sz="1600" dirty="0" smtClean="0">
                <a:solidFill>
                  <a:srgbClr val="B5CEA8"/>
                </a:solidFill>
                <a:latin typeface="Consolas"/>
              </a:rPr>
              <a:t>1</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 &lt;= </a:t>
            </a:r>
            <a:r>
              <a:rPr lang="en-US" sz="1600" dirty="0" smtClean="0">
                <a:solidFill>
                  <a:srgbClr val="B5CEA8"/>
                </a:solidFill>
                <a:latin typeface="Consolas"/>
              </a:rPr>
              <a:t>3</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err="1" smtClean="0">
                <a:solidFill>
                  <a:srgbClr val="D4D4D4"/>
                </a:solidFill>
                <a:latin typeface="Consolas"/>
              </a:rPr>
              <a:t>i</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9CDCFE"/>
                </a:solidFill>
                <a:latin typeface="Consolas"/>
              </a:rPr>
              <a:t>i</a:t>
            </a:r>
            <a:r>
              <a:rPr lang="en-US" sz="1600" dirty="0" smtClean="0">
                <a:solidFill>
                  <a:srgbClr val="D4D4D4"/>
                </a:solidFill>
                <a:latin typeface="Consolas"/>
              </a:rPr>
              <a:t> = </a:t>
            </a:r>
            <a:r>
              <a:rPr lang="en-US" sz="1600" dirty="0" err="1" smtClean="0">
                <a:solidFill>
                  <a:srgbClr val="D4D4D4"/>
                </a:solidFill>
                <a:latin typeface="Consolas"/>
              </a:rPr>
              <a:t>i</a:t>
            </a:r>
            <a:r>
              <a:rPr lang="en-US" sz="1600" dirty="0" smtClean="0">
                <a:solidFill>
                  <a:srgbClr val="D4D4D4"/>
                </a:solidFill>
                <a:latin typeface="Consolas"/>
              </a:rPr>
              <a:t> + </a:t>
            </a:r>
            <a:r>
              <a:rPr lang="en-US" sz="1600" dirty="0" smtClean="0">
                <a:solidFill>
                  <a:srgbClr val="B5CEA8"/>
                </a:solidFill>
                <a:latin typeface="Consolas"/>
              </a:rPr>
              <a:t>1</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r>
              <a:rPr lang="en-US" sz="1600" dirty="0" smtClean="0">
                <a:solidFill>
                  <a:srgbClr val="9CDCFE"/>
                </a:solidFill>
                <a:latin typeface="Consolas"/>
              </a:rPr>
              <a:t>j</a:t>
            </a:r>
            <a:r>
              <a:rPr lang="en-US" sz="1600" dirty="0" smtClean="0">
                <a:solidFill>
                  <a:srgbClr val="D4D4D4"/>
                </a:solidFill>
                <a:latin typeface="Consolas"/>
              </a:rPr>
              <a:t> := </a:t>
            </a:r>
            <a:r>
              <a:rPr lang="en-US" sz="1600" dirty="0" smtClean="0">
                <a:solidFill>
                  <a:srgbClr val="B5CEA8"/>
                </a:solidFill>
                <a:latin typeface="Consolas"/>
              </a:rPr>
              <a:t>7</a:t>
            </a:r>
            <a:r>
              <a:rPr lang="en-US" sz="1600" dirty="0" smtClean="0">
                <a:solidFill>
                  <a:srgbClr val="D4D4D4"/>
                </a:solidFill>
                <a:latin typeface="Consolas"/>
              </a:rPr>
              <a:t>; j &lt;= </a:t>
            </a:r>
            <a:r>
              <a:rPr lang="en-US" sz="1600" dirty="0" smtClean="0">
                <a:solidFill>
                  <a:srgbClr val="B5CEA8"/>
                </a:solidFill>
                <a:latin typeface="Consolas"/>
              </a:rPr>
              <a:t>9</a:t>
            </a:r>
            <a:r>
              <a:rPr lang="en-US" sz="1600" dirty="0" smtClean="0">
                <a:solidFill>
                  <a:srgbClr val="D4D4D4"/>
                </a:solidFill>
                <a:latin typeface="Consolas"/>
              </a:rPr>
              <a:t>; j++ {</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(j)</a:t>
            </a:r>
          </a:p>
          <a:p>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smtClean="0">
                <a:solidFill>
                  <a:srgbClr val="CE9178"/>
                </a:solidFill>
                <a:latin typeface="Consolas"/>
              </a:rPr>
              <a:t>"loop"</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586C0"/>
                </a:solidFill>
                <a:latin typeface="Consolas"/>
              </a:rPr>
              <a:t>break</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function declaration</a:t>
            </a:r>
            <a:r>
              <a:rPr lang="en-US" sz="2400" dirty="0" smtClean="0"/>
              <a:t> has a name, a list of parameters, an optional list of results, and a body.</a:t>
            </a:r>
            <a:endParaRPr lang="en-US" sz="2400" dirty="0"/>
          </a:p>
        </p:txBody>
      </p:sp>
      <p:sp>
        <p:nvSpPr>
          <p:cNvPr id="4" name="Content Placeholder 2"/>
          <p:cNvSpPr txBox="1">
            <a:spLocks/>
          </p:cNvSpPr>
          <p:nvPr/>
        </p:nvSpPr>
        <p:spPr bwMode="auto">
          <a:xfrm>
            <a:off x="457200" y="2667000"/>
            <a:ext cx="8229600" cy="3581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package</a:t>
            </a:r>
            <a:r>
              <a:rPr lang="en-US" sz="1600" dirty="0" smtClean="0">
                <a:solidFill>
                  <a:srgbClr val="D4D4D4"/>
                </a:solidFill>
                <a:latin typeface="Consolas"/>
              </a:rPr>
              <a:t> main</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import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fmt</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"math"</a:t>
            </a:r>
            <a:endParaRPr lang="en-US" sz="1600" dirty="0" smtClean="0">
              <a:solidFill>
                <a:srgbClr val="D4D4D4"/>
              </a:solidFill>
              <a:latin typeface="Consolas"/>
            </a:endParaRP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err="1" smtClean="0">
                <a:solidFill>
                  <a:srgbClr val="DCDCAA"/>
                </a:solidFill>
                <a:latin typeface="Consolas"/>
              </a:rPr>
              <a:t>hypot</a:t>
            </a:r>
            <a:r>
              <a:rPr lang="en-US" sz="1600" dirty="0" smtClean="0">
                <a:solidFill>
                  <a:srgbClr val="D4D4D4"/>
                </a:solidFill>
                <a:latin typeface="Consolas"/>
              </a:rPr>
              <a:t>(x, y </a:t>
            </a:r>
            <a:r>
              <a:rPr lang="en-US" sz="1600" dirty="0" smtClean="0">
                <a:solidFill>
                  <a:srgbClr val="4EC9B0"/>
                </a:solidFill>
                <a:latin typeface="Consolas"/>
              </a:rPr>
              <a:t>float64</a:t>
            </a:r>
            <a:r>
              <a:rPr lang="en-US" sz="1600" dirty="0" smtClean="0">
                <a:solidFill>
                  <a:srgbClr val="D4D4D4"/>
                </a:solidFill>
                <a:latin typeface="Consolas"/>
              </a:rPr>
              <a:t>) </a:t>
            </a:r>
            <a:r>
              <a:rPr lang="en-US" sz="1600" dirty="0" smtClean="0">
                <a:solidFill>
                  <a:srgbClr val="4EC9B0"/>
                </a:solidFill>
                <a:latin typeface="Consolas"/>
              </a:rPr>
              <a:t>float64</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err="1" smtClean="0">
                <a:solidFill>
                  <a:srgbClr val="D4D4D4"/>
                </a:solidFill>
                <a:latin typeface="Consolas"/>
              </a:rPr>
              <a:t>math.</a:t>
            </a:r>
            <a:r>
              <a:rPr lang="en-US" sz="1600" dirty="0" err="1" smtClean="0">
                <a:solidFill>
                  <a:srgbClr val="DCDCAA"/>
                </a:solidFill>
                <a:latin typeface="Consolas"/>
              </a:rPr>
              <a:t>Sqrt</a:t>
            </a:r>
            <a:r>
              <a:rPr lang="en-US" sz="1600" dirty="0" smtClean="0">
                <a:solidFill>
                  <a:srgbClr val="D4D4D4"/>
                </a:solidFill>
                <a:latin typeface="Consolas"/>
              </a:rPr>
              <a:t>(x*x + y*y)</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err="1" smtClean="0">
                <a:solidFill>
                  <a:srgbClr val="DCDCAA"/>
                </a:solidFill>
                <a:latin typeface="Consolas"/>
              </a:rPr>
              <a:t>hypot</a:t>
            </a:r>
            <a:r>
              <a:rPr lang="en-US" sz="1600" dirty="0" smtClean="0">
                <a:solidFill>
                  <a:srgbClr val="D4D4D4"/>
                </a:solidFill>
                <a:latin typeface="Consolas"/>
              </a:rPr>
              <a:t>(</a:t>
            </a:r>
            <a:r>
              <a:rPr lang="en-US" sz="1600" dirty="0" smtClean="0">
                <a:solidFill>
                  <a:srgbClr val="B5CEA8"/>
                </a:solidFill>
                <a:latin typeface="Consolas"/>
              </a:rPr>
              <a:t>3</a:t>
            </a:r>
            <a:r>
              <a:rPr lang="en-US" sz="1600" dirty="0" smtClean="0">
                <a:solidFill>
                  <a:srgbClr val="D4D4D4"/>
                </a:solidFill>
                <a:latin typeface="Consolas"/>
              </a:rPr>
              <a:t>, </a:t>
            </a:r>
            <a:r>
              <a:rPr lang="en-US" sz="1600" dirty="0" smtClean="0">
                <a:solidFill>
                  <a:srgbClr val="B5CEA8"/>
                </a:solidFill>
                <a:latin typeface="Consolas"/>
              </a:rPr>
              <a:t>4</a:t>
            </a:r>
            <a:r>
              <a:rPr lang="en-US" sz="1600" dirty="0" smtClean="0">
                <a:solidFill>
                  <a:srgbClr val="D4D4D4"/>
                </a:solidFill>
                <a:latin typeface="Consolas"/>
              </a:rPr>
              <a:t>)) </a:t>
            </a:r>
            <a:r>
              <a:rPr lang="en-US" sz="1600" dirty="0" smtClean="0">
                <a:solidFill>
                  <a:srgbClr val="6A9955"/>
                </a:solidFill>
                <a:latin typeface="Consolas"/>
              </a:rPr>
              <a:t>// "5"</a:t>
            </a:r>
            <a:endParaRPr lang="en-US" sz="1600" dirty="0" smtClean="0">
              <a:solidFill>
                <a:srgbClr val="D4D4D4"/>
              </a:solidFill>
              <a:latin typeface="Consolas"/>
            </a:endParaRPr>
          </a:p>
          <a:p>
            <a:r>
              <a:rPr lang="en-US" sz="1600" dirty="0" smtClean="0">
                <a:solidFill>
                  <a:srgbClr val="D4D4D4"/>
                </a:solidFill>
                <a:latin typeface="Consolas"/>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latin typeface="Consolas" pitchFamily="49" charset="0"/>
              </a:rPr>
              <a:t>defer</a:t>
            </a:r>
            <a:r>
              <a:rPr lang="en-US" dirty="0" smtClean="0"/>
              <a:t> keyword</a:t>
            </a:r>
            <a:endParaRPr lang="en-US" dirty="0"/>
          </a:p>
        </p:txBody>
      </p:sp>
      <p:sp>
        <p:nvSpPr>
          <p:cNvPr id="3" name="Content Placeholder 2"/>
          <p:cNvSpPr>
            <a:spLocks noGrp="1"/>
          </p:cNvSpPr>
          <p:nvPr>
            <p:ph idx="1"/>
          </p:nvPr>
        </p:nvSpPr>
        <p:spPr/>
        <p:txBody>
          <a:bodyPr/>
          <a:lstStyle/>
          <a:p>
            <a:r>
              <a:rPr lang="en-US" sz="1800" dirty="0" smtClean="0"/>
              <a:t>Syntactically, a defer statement is an ordinary function or method call prefixed by the keyword defer.</a:t>
            </a:r>
          </a:p>
          <a:p>
            <a:r>
              <a:rPr lang="en-US" sz="1800" dirty="0" smtClean="0"/>
              <a:t>The function and argument expressions are </a:t>
            </a:r>
            <a:r>
              <a:rPr lang="en-US" sz="1800" i="1" dirty="0" smtClean="0">
                <a:solidFill>
                  <a:srgbClr val="C00000"/>
                </a:solidFill>
              </a:rPr>
              <a:t>evaluated</a:t>
            </a:r>
            <a:r>
              <a:rPr lang="en-US" sz="1800" dirty="0" smtClean="0"/>
              <a:t> when the statement is executed, but </a:t>
            </a:r>
            <a:r>
              <a:rPr lang="en-US" sz="1800" u="sng" dirty="0" smtClean="0"/>
              <a:t>the actual call is deferred</a:t>
            </a:r>
            <a:r>
              <a:rPr lang="en-US" sz="1800" dirty="0" smtClean="0"/>
              <a:t> until the function that contains the defer statement has finished, whether normally, by executing a return statement or falling off the end, or </a:t>
            </a:r>
            <a:r>
              <a:rPr lang="en-US" sz="1800" u="sng" dirty="0" smtClean="0"/>
              <a:t>abnormally</a:t>
            </a:r>
            <a:r>
              <a:rPr lang="en-US" sz="1800" dirty="0" smtClean="0"/>
              <a:t>, by panicking.</a:t>
            </a:r>
            <a:endParaRPr lang="en-US" sz="1800" dirty="0"/>
          </a:p>
        </p:txBody>
      </p:sp>
      <p:sp>
        <p:nvSpPr>
          <p:cNvPr id="5" name="Content Placeholder 2"/>
          <p:cNvSpPr txBox="1">
            <a:spLocks/>
          </p:cNvSpPr>
          <p:nvPr/>
        </p:nvSpPr>
        <p:spPr bwMode="auto">
          <a:xfrm>
            <a:off x="533400" y="3505200"/>
            <a:ext cx="8229600" cy="2971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200" dirty="0" err="1" smtClean="0">
                <a:solidFill>
                  <a:srgbClr val="569CD6"/>
                </a:solidFill>
                <a:latin typeface="Consolas"/>
              </a:rPr>
              <a:t>func</a:t>
            </a:r>
            <a:r>
              <a:rPr lang="en-US" sz="1200" dirty="0" smtClean="0">
                <a:solidFill>
                  <a:srgbClr val="D4D4D4"/>
                </a:solidFill>
                <a:latin typeface="Consolas"/>
              </a:rPr>
              <a:t> </a:t>
            </a:r>
            <a:r>
              <a:rPr lang="en-US" sz="1200" dirty="0" smtClean="0">
                <a:solidFill>
                  <a:srgbClr val="DCDCAA"/>
                </a:solidFill>
                <a:latin typeface="Consolas"/>
              </a:rPr>
              <a:t>proverbs</a:t>
            </a:r>
            <a:r>
              <a:rPr lang="en-US" sz="1200" dirty="0" smtClean="0">
                <a:solidFill>
                  <a:srgbClr val="D4D4D4"/>
                </a:solidFill>
                <a:latin typeface="Consolas"/>
              </a:rPr>
              <a:t>(name </a:t>
            </a:r>
            <a:r>
              <a:rPr lang="en-US" sz="1200" dirty="0" smtClean="0">
                <a:solidFill>
                  <a:srgbClr val="4EC9B0"/>
                </a:solidFill>
                <a:latin typeface="Consolas"/>
              </a:rPr>
              <a:t>string</a:t>
            </a:r>
            <a:r>
              <a:rPr lang="en-US" sz="1200" dirty="0" smtClean="0">
                <a:solidFill>
                  <a:srgbClr val="D4D4D4"/>
                </a:solidFill>
                <a:latin typeface="Consolas"/>
              </a:rPr>
              <a:t>) </a:t>
            </a:r>
            <a:r>
              <a:rPr lang="en-US" sz="1200" dirty="0" smtClean="0">
                <a:solidFill>
                  <a:srgbClr val="4EC9B0"/>
                </a:solidFill>
                <a:latin typeface="Consolas"/>
              </a:rPr>
              <a:t>error</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f</a:t>
            </a:r>
            <a:r>
              <a:rPr lang="en-US" sz="1200" dirty="0" smtClean="0">
                <a:solidFill>
                  <a:srgbClr val="D4D4D4"/>
                </a:solidFill>
                <a:latin typeface="Consolas"/>
              </a:rPr>
              <a:t>, </a:t>
            </a:r>
            <a:r>
              <a:rPr lang="en-US" sz="1200" dirty="0" smtClean="0">
                <a:solidFill>
                  <a:srgbClr val="9CDCFE"/>
                </a:solidFill>
                <a:latin typeface="Consolas"/>
              </a:rPr>
              <a:t>err</a:t>
            </a:r>
            <a:r>
              <a:rPr lang="en-US" sz="1200" dirty="0" smtClean="0">
                <a:solidFill>
                  <a:srgbClr val="D4D4D4"/>
                </a:solidFill>
                <a:latin typeface="Consolas"/>
              </a:rPr>
              <a:t> := </a:t>
            </a:r>
            <a:r>
              <a:rPr lang="en-US" sz="1200" dirty="0" err="1" smtClean="0">
                <a:solidFill>
                  <a:srgbClr val="D4D4D4"/>
                </a:solidFill>
                <a:latin typeface="Consolas"/>
              </a:rPr>
              <a:t>os.</a:t>
            </a:r>
            <a:r>
              <a:rPr lang="en-US" sz="1200" dirty="0" err="1" smtClean="0">
                <a:solidFill>
                  <a:srgbClr val="DCDCAA"/>
                </a:solidFill>
                <a:latin typeface="Consolas"/>
              </a:rPr>
              <a:t>Create</a:t>
            </a:r>
            <a:r>
              <a:rPr lang="en-US" sz="1200" dirty="0" smtClean="0">
                <a:solidFill>
                  <a:srgbClr val="D4D4D4"/>
                </a:solidFill>
                <a:latin typeface="Consolas"/>
              </a:rPr>
              <a:t>(name)</a:t>
            </a:r>
          </a:p>
          <a:p>
            <a:r>
              <a:rPr lang="en-US" sz="1200" dirty="0" smtClean="0">
                <a:solidFill>
                  <a:srgbClr val="D4D4D4"/>
                </a:solidFill>
                <a:latin typeface="Consolas"/>
              </a:rPr>
              <a:t>    </a:t>
            </a:r>
            <a:r>
              <a:rPr lang="en-US" sz="1200" dirty="0" smtClean="0">
                <a:solidFill>
                  <a:srgbClr val="C586C0"/>
                </a:solidFill>
                <a:latin typeface="Consolas"/>
              </a:rPr>
              <a:t>if</a:t>
            </a:r>
            <a:r>
              <a:rPr lang="en-US" sz="1200" dirty="0" smtClean="0">
                <a:solidFill>
                  <a:srgbClr val="D4D4D4"/>
                </a:solidFill>
                <a:latin typeface="Consolas"/>
              </a:rPr>
              <a:t> </a:t>
            </a:r>
            <a:r>
              <a:rPr lang="en-US" sz="1200" dirty="0" smtClean="0">
                <a:solidFill>
                  <a:srgbClr val="569CD6"/>
                </a:solidFill>
                <a:latin typeface="Consolas"/>
              </a:rPr>
              <a:t>nil</a:t>
            </a:r>
            <a:r>
              <a:rPr lang="en-US" sz="1200" dirty="0" smtClean="0">
                <a:solidFill>
                  <a:srgbClr val="D4D4D4"/>
                </a:solidFill>
                <a:latin typeface="Consolas"/>
              </a:rPr>
              <a:t> != err {</a:t>
            </a:r>
          </a:p>
          <a:p>
            <a:r>
              <a:rPr lang="en-US" sz="1200" dirty="0" smtClean="0">
                <a:solidFill>
                  <a:srgbClr val="D4D4D4"/>
                </a:solidFill>
                <a:latin typeface="Consolas"/>
              </a:rPr>
              <a:t>        </a:t>
            </a:r>
            <a:r>
              <a:rPr lang="en-US" sz="1200" dirty="0" smtClean="0">
                <a:solidFill>
                  <a:srgbClr val="C586C0"/>
                </a:solidFill>
                <a:latin typeface="Consolas"/>
              </a:rPr>
              <a:t>return</a:t>
            </a:r>
            <a:r>
              <a:rPr lang="en-US" sz="1200" dirty="0" smtClean="0">
                <a:solidFill>
                  <a:srgbClr val="D4D4D4"/>
                </a:solidFill>
                <a:latin typeface="Consolas"/>
              </a:rPr>
              <a:t> err</a:t>
            </a:r>
          </a:p>
          <a:p>
            <a:r>
              <a:rPr lang="en-US" sz="1200" dirty="0" smtClean="0">
                <a:solidFill>
                  <a:srgbClr val="D4D4D4"/>
                </a:solidFill>
                <a:latin typeface="Consolas"/>
              </a:rPr>
              <a:t>    }</a:t>
            </a:r>
          </a:p>
          <a:p>
            <a:r>
              <a:rPr lang="en-US" sz="1200" dirty="0" smtClean="0">
                <a:solidFill>
                  <a:srgbClr val="D4D4D4"/>
                </a:solidFill>
                <a:latin typeface="Consolas"/>
              </a:rPr>
              <a:t/>
            </a:r>
            <a:br>
              <a:rPr lang="en-US" sz="1200" dirty="0" smtClean="0">
                <a:solidFill>
                  <a:srgbClr val="D4D4D4"/>
                </a:solidFill>
                <a:latin typeface="Consolas"/>
              </a:rPr>
            </a:br>
            <a:r>
              <a:rPr lang="en-US" sz="1200" dirty="0" smtClean="0">
                <a:solidFill>
                  <a:srgbClr val="D4D4D4"/>
                </a:solidFill>
                <a:latin typeface="Consolas"/>
              </a:rPr>
              <a:t>    </a:t>
            </a:r>
            <a:r>
              <a:rPr lang="en-US" sz="1200" dirty="0" smtClean="0">
                <a:solidFill>
                  <a:srgbClr val="C586C0"/>
                </a:solidFill>
                <a:latin typeface="Consolas"/>
              </a:rPr>
              <a:t>defer</a:t>
            </a:r>
            <a:r>
              <a:rPr lang="en-US" sz="1200" dirty="0" smtClean="0">
                <a:solidFill>
                  <a:srgbClr val="D4D4D4"/>
                </a:solidFill>
                <a:latin typeface="Consolas"/>
              </a:rPr>
              <a:t> </a:t>
            </a:r>
            <a:r>
              <a:rPr lang="en-US" sz="1200" dirty="0" err="1" smtClean="0">
                <a:solidFill>
                  <a:srgbClr val="D4D4D4"/>
                </a:solidFill>
                <a:latin typeface="Consolas"/>
              </a:rPr>
              <a:t>f.</a:t>
            </a:r>
            <a:r>
              <a:rPr lang="en-US" sz="1200" dirty="0" err="1" smtClean="0">
                <a:solidFill>
                  <a:srgbClr val="DCDCAA"/>
                </a:solidFill>
                <a:latin typeface="Consolas"/>
              </a:rPr>
              <a:t>Close</a:t>
            </a:r>
            <a:r>
              <a:rPr lang="en-US" sz="1200" dirty="0" smtClean="0">
                <a:solidFill>
                  <a:srgbClr val="D4D4D4"/>
                </a:solidFill>
                <a:latin typeface="Consolas"/>
              </a:rPr>
              <a:t>()</a:t>
            </a:r>
          </a:p>
          <a:p>
            <a:r>
              <a:rPr lang="en-US" sz="1200" dirty="0" smtClean="0">
                <a:solidFill>
                  <a:srgbClr val="D4D4D4"/>
                </a:solidFill>
                <a:latin typeface="Consolas"/>
              </a:rPr>
              <a:t/>
            </a:r>
            <a:br>
              <a:rPr lang="en-US" sz="1200" dirty="0" smtClean="0">
                <a:solidFill>
                  <a:srgbClr val="D4D4D4"/>
                </a:solidFill>
                <a:latin typeface="Consolas"/>
              </a:rPr>
            </a:br>
            <a:r>
              <a:rPr lang="en-US" sz="1200" dirty="0" smtClean="0">
                <a:solidFill>
                  <a:srgbClr val="D4D4D4"/>
                </a:solidFill>
                <a:latin typeface="Consolas"/>
              </a:rPr>
              <a:t>    </a:t>
            </a:r>
            <a:r>
              <a:rPr lang="en-US" sz="1200" dirty="0" smtClean="0">
                <a:solidFill>
                  <a:srgbClr val="9CDCFE"/>
                </a:solidFill>
                <a:latin typeface="Consolas"/>
              </a:rPr>
              <a:t>_</a:t>
            </a:r>
            <a:r>
              <a:rPr lang="en-US" sz="1200" dirty="0" smtClean="0">
                <a:solidFill>
                  <a:srgbClr val="D4D4D4"/>
                </a:solidFill>
                <a:latin typeface="Consolas"/>
              </a:rPr>
              <a:t>, </a:t>
            </a:r>
            <a:r>
              <a:rPr lang="en-US" sz="1200" dirty="0" smtClean="0">
                <a:solidFill>
                  <a:srgbClr val="9CDCFE"/>
                </a:solidFill>
                <a:latin typeface="Consolas"/>
              </a:rPr>
              <a:t>err</a:t>
            </a:r>
            <a:r>
              <a:rPr lang="en-US" sz="1200" dirty="0" smtClean="0">
                <a:solidFill>
                  <a:srgbClr val="D4D4D4"/>
                </a:solidFill>
                <a:latin typeface="Consolas"/>
              </a:rPr>
              <a:t> = </a:t>
            </a:r>
            <a:r>
              <a:rPr lang="en-US" sz="1200" dirty="0" err="1" smtClean="0">
                <a:solidFill>
                  <a:srgbClr val="D4D4D4"/>
                </a:solidFill>
                <a:latin typeface="Consolas"/>
              </a:rPr>
              <a:t>fmt.</a:t>
            </a:r>
            <a:r>
              <a:rPr lang="en-US" sz="1200" dirty="0" err="1" smtClean="0">
                <a:solidFill>
                  <a:srgbClr val="DCDCAA"/>
                </a:solidFill>
                <a:latin typeface="Consolas"/>
              </a:rPr>
              <a:t>Fprintln</a:t>
            </a:r>
            <a:r>
              <a:rPr lang="en-US" sz="1200" dirty="0" smtClean="0">
                <a:solidFill>
                  <a:srgbClr val="D4D4D4"/>
                </a:solidFill>
                <a:latin typeface="Consolas"/>
              </a:rPr>
              <a:t>(f, </a:t>
            </a:r>
            <a:r>
              <a:rPr lang="en-US" sz="1200" dirty="0" smtClean="0">
                <a:solidFill>
                  <a:srgbClr val="CE9178"/>
                </a:solidFill>
                <a:latin typeface="Consolas"/>
              </a:rPr>
              <a:t>"Errors are values."</a:t>
            </a:r>
            <a:r>
              <a:rPr lang="en-US" sz="1200" dirty="0" smtClean="0">
                <a:solidFill>
                  <a:srgbClr val="D4D4D4"/>
                </a:solidFill>
                <a:latin typeface="Consolas"/>
              </a:rPr>
              <a:t>)</a:t>
            </a:r>
          </a:p>
          <a:p>
            <a:r>
              <a:rPr lang="en-US" sz="1200" dirty="0" smtClean="0">
                <a:solidFill>
                  <a:srgbClr val="D4D4D4"/>
                </a:solidFill>
                <a:latin typeface="Consolas"/>
              </a:rPr>
              <a:t>    </a:t>
            </a:r>
            <a:r>
              <a:rPr lang="en-US" sz="1200" dirty="0" smtClean="0">
                <a:solidFill>
                  <a:srgbClr val="C586C0"/>
                </a:solidFill>
                <a:latin typeface="Consolas"/>
              </a:rPr>
              <a:t>if</a:t>
            </a:r>
            <a:r>
              <a:rPr lang="en-US" sz="1200" dirty="0" smtClean="0">
                <a:solidFill>
                  <a:srgbClr val="D4D4D4"/>
                </a:solidFill>
                <a:latin typeface="Consolas"/>
              </a:rPr>
              <a:t> </a:t>
            </a:r>
            <a:r>
              <a:rPr lang="en-US" sz="1200" dirty="0" smtClean="0">
                <a:solidFill>
                  <a:srgbClr val="569CD6"/>
                </a:solidFill>
                <a:latin typeface="Consolas"/>
              </a:rPr>
              <a:t>nil</a:t>
            </a:r>
            <a:r>
              <a:rPr lang="en-US" sz="1200" dirty="0" smtClean="0">
                <a:solidFill>
                  <a:srgbClr val="D4D4D4"/>
                </a:solidFill>
                <a:latin typeface="Consolas"/>
              </a:rPr>
              <a:t> != err {</a:t>
            </a:r>
          </a:p>
          <a:p>
            <a:r>
              <a:rPr lang="en-US" sz="1200" dirty="0" smtClean="0">
                <a:solidFill>
                  <a:srgbClr val="D4D4D4"/>
                </a:solidFill>
                <a:latin typeface="Consolas"/>
              </a:rPr>
              <a:t>        </a:t>
            </a:r>
            <a:r>
              <a:rPr lang="en-US" sz="1200" dirty="0" smtClean="0">
                <a:solidFill>
                  <a:srgbClr val="C586C0"/>
                </a:solidFill>
                <a:latin typeface="Consolas"/>
              </a:rPr>
              <a:t>return</a:t>
            </a:r>
            <a:r>
              <a:rPr lang="en-US" sz="1200" dirty="0" smtClean="0">
                <a:solidFill>
                  <a:srgbClr val="D4D4D4"/>
                </a:solidFill>
                <a:latin typeface="Consolas"/>
              </a:rPr>
              <a:t> err</a:t>
            </a:r>
          </a:p>
          <a:p>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_</a:t>
            </a:r>
            <a:r>
              <a:rPr lang="en-US" sz="1200" dirty="0" smtClean="0">
                <a:solidFill>
                  <a:srgbClr val="D4D4D4"/>
                </a:solidFill>
                <a:latin typeface="Consolas"/>
              </a:rPr>
              <a:t>, </a:t>
            </a:r>
            <a:r>
              <a:rPr lang="en-US" sz="1200" dirty="0" smtClean="0">
                <a:solidFill>
                  <a:srgbClr val="9CDCFE"/>
                </a:solidFill>
                <a:latin typeface="Consolas"/>
              </a:rPr>
              <a:t>err</a:t>
            </a:r>
            <a:r>
              <a:rPr lang="en-US" sz="1200" dirty="0" smtClean="0">
                <a:solidFill>
                  <a:srgbClr val="D4D4D4"/>
                </a:solidFill>
                <a:latin typeface="Consolas"/>
              </a:rPr>
              <a:t> = </a:t>
            </a:r>
            <a:r>
              <a:rPr lang="en-US" sz="1200" dirty="0" err="1" smtClean="0">
                <a:solidFill>
                  <a:srgbClr val="D4D4D4"/>
                </a:solidFill>
                <a:latin typeface="Consolas"/>
              </a:rPr>
              <a:t>fmt.</a:t>
            </a:r>
            <a:r>
              <a:rPr lang="en-US" sz="1200" dirty="0" err="1" smtClean="0">
                <a:solidFill>
                  <a:srgbClr val="DCDCAA"/>
                </a:solidFill>
                <a:latin typeface="Consolas"/>
              </a:rPr>
              <a:t>Fprintln</a:t>
            </a:r>
            <a:r>
              <a:rPr lang="en-US" sz="1200" dirty="0" smtClean="0">
                <a:solidFill>
                  <a:srgbClr val="D4D4D4"/>
                </a:solidFill>
                <a:latin typeface="Consolas"/>
              </a:rPr>
              <a:t>(f, </a:t>
            </a:r>
            <a:r>
              <a:rPr lang="en-US" sz="1200" dirty="0" smtClean="0">
                <a:solidFill>
                  <a:srgbClr val="CE9178"/>
                </a:solidFill>
                <a:latin typeface="Consolas"/>
              </a:rPr>
              <a:t>"Don't just check errors, handle them gracefully."</a:t>
            </a:r>
            <a:r>
              <a:rPr lang="en-US" sz="1200" dirty="0" smtClean="0">
                <a:solidFill>
                  <a:srgbClr val="D4D4D4"/>
                </a:solidFill>
                <a:latin typeface="Consolas"/>
              </a:rPr>
              <a:t>)</a:t>
            </a:r>
          </a:p>
          <a:p>
            <a:r>
              <a:rPr lang="en-US" sz="1200" dirty="0" smtClean="0">
                <a:solidFill>
                  <a:srgbClr val="D4D4D4"/>
                </a:solidFill>
                <a:latin typeface="Consolas"/>
              </a:rPr>
              <a:t>    </a:t>
            </a:r>
            <a:r>
              <a:rPr lang="en-US" sz="1200" dirty="0" smtClean="0">
                <a:solidFill>
                  <a:srgbClr val="C586C0"/>
                </a:solidFill>
                <a:latin typeface="Consolas"/>
              </a:rPr>
              <a:t>return</a:t>
            </a:r>
            <a:r>
              <a:rPr lang="en-US" sz="1200" dirty="0" smtClean="0">
                <a:solidFill>
                  <a:srgbClr val="D4D4D4"/>
                </a:solidFill>
                <a:latin typeface="Consolas"/>
              </a:rPr>
              <a:t> err</a:t>
            </a:r>
          </a:p>
          <a:p>
            <a:r>
              <a:rPr lang="en-US" sz="1200" dirty="0" smtClean="0">
                <a:solidFill>
                  <a:srgbClr val="D4D4D4"/>
                </a:solidFill>
                <a:latin typeface="Consolas"/>
              </a:rPr>
              <a:t>}</a:t>
            </a:r>
            <a:endParaRPr lang="en-US" sz="1200" b="0" dirty="0">
              <a:solidFill>
                <a:srgbClr val="D4D4D4"/>
              </a:solidFill>
              <a:latin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Code: </a:t>
            </a:r>
            <a:r>
              <a:rPr lang="en-US" dirty="0" err="1" smtClean="0">
                <a:latin typeface="Consolas" pitchFamily="49" charset="0"/>
              </a:rPr>
              <a:t>defer.go</a:t>
            </a:r>
            <a:endParaRPr lang="en-US" dirty="0">
              <a:latin typeface="Consolas" pitchFamily="49" charset="0"/>
            </a:endParaRPr>
          </a:p>
        </p:txBody>
      </p:sp>
      <p:sp>
        <p:nvSpPr>
          <p:cNvPr id="5" name="Content Placeholder 2"/>
          <p:cNvSpPr txBox="1">
            <a:spLocks/>
          </p:cNvSpPr>
          <p:nvPr/>
        </p:nvSpPr>
        <p:spPr bwMode="auto">
          <a:xfrm>
            <a:off x="457200" y="1295400"/>
            <a:ext cx="8229600" cy="5257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200" dirty="0" smtClean="0">
                <a:solidFill>
                  <a:srgbClr val="569CD6"/>
                </a:solidFill>
                <a:latin typeface="Consolas"/>
              </a:rPr>
              <a:t>package</a:t>
            </a:r>
            <a:r>
              <a:rPr lang="en-US" sz="1200" dirty="0" smtClean="0">
                <a:solidFill>
                  <a:srgbClr val="D4D4D4"/>
                </a:solidFill>
                <a:latin typeface="Consolas"/>
              </a:rPr>
              <a:t> main</a:t>
            </a:r>
          </a:p>
          <a:p>
            <a:r>
              <a:rPr lang="en-US" sz="1200" dirty="0" smtClean="0">
                <a:solidFill>
                  <a:srgbClr val="D4D4D4"/>
                </a:solidFill>
                <a:latin typeface="Consolas"/>
              </a:rPr>
              <a:t/>
            </a:r>
            <a:br>
              <a:rPr lang="en-US" sz="1200" dirty="0" smtClean="0">
                <a:solidFill>
                  <a:srgbClr val="D4D4D4"/>
                </a:solidFill>
                <a:latin typeface="Consolas"/>
              </a:rPr>
            </a:br>
            <a:r>
              <a:rPr lang="en-US" sz="1200" dirty="0" smtClean="0">
                <a:solidFill>
                  <a:srgbClr val="569CD6"/>
                </a:solidFill>
                <a:latin typeface="Consolas"/>
              </a:rPr>
              <a:t>import</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CE9178"/>
                </a:solidFill>
                <a:latin typeface="Consolas"/>
              </a:rPr>
              <a:t>"</a:t>
            </a:r>
            <a:r>
              <a:rPr lang="en-US" sz="1200" dirty="0" err="1" smtClean="0">
                <a:solidFill>
                  <a:srgbClr val="CE9178"/>
                </a:solidFill>
                <a:latin typeface="Consolas"/>
              </a:rPr>
              <a:t>fmt</a:t>
            </a:r>
            <a:r>
              <a:rPr lang="en-US" sz="1200" dirty="0" smtClean="0">
                <a:solidFill>
                  <a:srgbClr val="CE9178"/>
                </a:solidFill>
                <a:latin typeface="Consolas"/>
              </a:rPr>
              <a:t>"</a:t>
            </a:r>
            <a:endParaRPr lang="en-US" sz="1200" dirty="0" smtClean="0">
              <a:solidFill>
                <a:srgbClr val="D4D4D4"/>
              </a:solidFill>
              <a:latin typeface="Consolas"/>
            </a:endParaRPr>
          </a:p>
          <a:p>
            <a:r>
              <a:rPr lang="en-US" sz="1200" dirty="0" smtClean="0">
                <a:solidFill>
                  <a:srgbClr val="D4D4D4"/>
                </a:solidFill>
                <a:latin typeface="Consolas"/>
              </a:rPr>
              <a:t>    </a:t>
            </a:r>
            <a:r>
              <a:rPr lang="en-US" sz="1200" dirty="0" smtClean="0">
                <a:solidFill>
                  <a:srgbClr val="CE9178"/>
                </a:solidFill>
                <a:latin typeface="Consolas"/>
              </a:rPr>
              <a:t>"</a:t>
            </a:r>
            <a:r>
              <a:rPr lang="en-US" sz="1200" dirty="0" err="1" smtClean="0">
                <a:solidFill>
                  <a:srgbClr val="CE9178"/>
                </a:solidFill>
                <a:latin typeface="Consolas"/>
              </a:rPr>
              <a:t>os</a:t>
            </a:r>
            <a:r>
              <a:rPr lang="en-US" sz="1200" dirty="0" smtClean="0">
                <a:solidFill>
                  <a:srgbClr val="CE9178"/>
                </a:solidFill>
                <a:latin typeface="Consolas"/>
              </a:rPr>
              <a:t>"</a:t>
            </a:r>
            <a:endParaRPr lang="en-US" sz="1200" dirty="0" smtClean="0">
              <a:solidFill>
                <a:srgbClr val="D4D4D4"/>
              </a:solidFill>
              <a:latin typeface="Consolas"/>
            </a:endParaRPr>
          </a:p>
          <a:p>
            <a:r>
              <a:rPr lang="en-US" sz="1200" dirty="0" smtClean="0">
                <a:solidFill>
                  <a:srgbClr val="D4D4D4"/>
                </a:solidFill>
                <a:latin typeface="Consolas"/>
              </a:rPr>
              <a:t>)</a:t>
            </a:r>
          </a:p>
          <a:p>
            <a:r>
              <a:rPr lang="en-US" sz="1200" dirty="0" smtClean="0">
                <a:solidFill>
                  <a:srgbClr val="D4D4D4"/>
                </a:solidFill>
                <a:latin typeface="Consolas"/>
              </a:rPr>
              <a:t/>
            </a:r>
            <a:br>
              <a:rPr lang="en-US" sz="1200" dirty="0" smtClean="0">
                <a:solidFill>
                  <a:srgbClr val="D4D4D4"/>
                </a:solidFill>
                <a:latin typeface="Consolas"/>
              </a:rPr>
            </a:br>
            <a:r>
              <a:rPr lang="en-US" sz="1200" dirty="0" err="1" smtClean="0">
                <a:solidFill>
                  <a:srgbClr val="569CD6"/>
                </a:solidFill>
                <a:latin typeface="Consolas"/>
              </a:rPr>
              <a:t>func</a:t>
            </a:r>
            <a:r>
              <a:rPr lang="en-US" sz="1200" dirty="0" smtClean="0">
                <a:solidFill>
                  <a:srgbClr val="D4D4D4"/>
                </a:solidFill>
                <a:latin typeface="Consolas"/>
              </a:rPr>
              <a:t> </a:t>
            </a:r>
            <a:r>
              <a:rPr lang="en-US" sz="1200" dirty="0" smtClean="0">
                <a:solidFill>
                  <a:srgbClr val="DCDCAA"/>
                </a:solidFill>
                <a:latin typeface="Consolas"/>
              </a:rPr>
              <a:t>proverbs</a:t>
            </a:r>
            <a:r>
              <a:rPr lang="en-US" sz="1200" dirty="0" smtClean="0">
                <a:solidFill>
                  <a:srgbClr val="D4D4D4"/>
                </a:solidFill>
                <a:latin typeface="Consolas"/>
              </a:rPr>
              <a:t>(name </a:t>
            </a:r>
            <a:r>
              <a:rPr lang="en-US" sz="1200" dirty="0" smtClean="0">
                <a:solidFill>
                  <a:srgbClr val="4EC9B0"/>
                </a:solidFill>
                <a:latin typeface="Consolas"/>
              </a:rPr>
              <a:t>string</a:t>
            </a:r>
            <a:r>
              <a:rPr lang="en-US" sz="1200" dirty="0" smtClean="0">
                <a:solidFill>
                  <a:srgbClr val="D4D4D4"/>
                </a:solidFill>
                <a:latin typeface="Consolas"/>
              </a:rPr>
              <a:t>) </a:t>
            </a:r>
            <a:r>
              <a:rPr lang="en-US" sz="1200" dirty="0" smtClean="0">
                <a:solidFill>
                  <a:srgbClr val="4EC9B0"/>
                </a:solidFill>
                <a:latin typeface="Consolas"/>
              </a:rPr>
              <a:t>error</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f</a:t>
            </a:r>
            <a:r>
              <a:rPr lang="en-US" sz="1200" dirty="0" smtClean="0">
                <a:solidFill>
                  <a:srgbClr val="D4D4D4"/>
                </a:solidFill>
                <a:latin typeface="Consolas"/>
              </a:rPr>
              <a:t>, </a:t>
            </a:r>
            <a:r>
              <a:rPr lang="en-US" sz="1200" dirty="0" smtClean="0">
                <a:solidFill>
                  <a:srgbClr val="9CDCFE"/>
                </a:solidFill>
                <a:latin typeface="Consolas"/>
              </a:rPr>
              <a:t>err</a:t>
            </a:r>
            <a:r>
              <a:rPr lang="en-US" sz="1200" dirty="0" smtClean="0">
                <a:solidFill>
                  <a:srgbClr val="D4D4D4"/>
                </a:solidFill>
                <a:latin typeface="Consolas"/>
              </a:rPr>
              <a:t> := </a:t>
            </a:r>
            <a:r>
              <a:rPr lang="en-US" sz="1200" dirty="0" err="1" smtClean="0">
                <a:solidFill>
                  <a:srgbClr val="D4D4D4"/>
                </a:solidFill>
                <a:latin typeface="Consolas"/>
              </a:rPr>
              <a:t>os.</a:t>
            </a:r>
            <a:r>
              <a:rPr lang="en-US" sz="1200" dirty="0" err="1" smtClean="0">
                <a:solidFill>
                  <a:srgbClr val="DCDCAA"/>
                </a:solidFill>
                <a:latin typeface="Consolas"/>
              </a:rPr>
              <a:t>Create</a:t>
            </a:r>
            <a:r>
              <a:rPr lang="en-US" sz="1200" dirty="0" smtClean="0">
                <a:solidFill>
                  <a:srgbClr val="D4D4D4"/>
                </a:solidFill>
                <a:latin typeface="Consolas"/>
              </a:rPr>
              <a:t>(name)</a:t>
            </a:r>
          </a:p>
          <a:p>
            <a:r>
              <a:rPr lang="en-US" sz="1200" dirty="0" smtClean="0">
                <a:solidFill>
                  <a:srgbClr val="D4D4D4"/>
                </a:solidFill>
                <a:latin typeface="Consolas"/>
              </a:rPr>
              <a:t>    </a:t>
            </a:r>
            <a:r>
              <a:rPr lang="en-US" sz="1200" dirty="0" smtClean="0">
                <a:solidFill>
                  <a:srgbClr val="C586C0"/>
                </a:solidFill>
                <a:latin typeface="Consolas"/>
              </a:rPr>
              <a:t>if</a:t>
            </a:r>
            <a:r>
              <a:rPr lang="en-US" sz="1200" dirty="0" smtClean="0">
                <a:solidFill>
                  <a:srgbClr val="D4D4D4"/>
                </a:solidFill>
                <a:latin typeface="Consolas"/>
              </a:rPr>
              <a:t> </a:t>
            </a:r>
            <a:r>
              <a:rPr lang="en-US" sz="1200" dirty="0" smtClean="0">
                <a:solidFill>
                  <a:srgbClr val="569CD6"/>
                </a:solidFill>
                <a:latin typeface="Consolas"/>
              </a:rPr>
              <a:t>nil</a:t>
            </a:r>
            <a:r>
              <a:rPr lang="en-US" sz="1200" dirty="0" smtClean="0">
                <a:solidFill>
                  <a:srgbClr val="D4D4D4"/>
                </a:solidFill>
                <a:latin typeface="Consolas"/>
              </a:rPr>
              <a:t> != err {</a:t>
            </a:r>
          </a:p>
          <a:p>
            <a:r>
              <a:rPr lang="en-US" sz="1200" dirty="0" smtClean="0">
                <a:solidFill>
                  <a:srgbClr val="D4D4D4"/>
                </a:solidFill>
                <a:latin typeface="Consolas"/>
              </a:rPr>
              <a:t>        </a:t>
            </a:r>
            <a:r>
              <a:rPr lang="en-US" sz="1200" dirty="0" smtClean="0">
                <a:solidFill>
                  <a:srgbClr val="C586C0"/>
                </a:solidFill>
                <a:latin typeface="Consolas"/>
              </a:rPr>
              <a:t>return</a:t>
            </a:r>
            <a:r>
              <a:rPr lang="en-US" sz="1200" dirty="0" smtClean="0">
                <a:solidFill>
                  <a:srgbClr val="D4D4D4"/>
                </a:solidFill>
                <a:latin typeface="Consolas"/>
              </a:rPr>
              <a:t> err</a:t>
            </a:r>
          </a:p>
          <a:p>
            <a:r>
              <a:rPr lang="en-US" sz="1200" dirty="0" smtClean="0">
                <a:solidFill>
                  <a:srgbClr val="D4D4D4"/>
                </a:solidFill>
                <a:latin typeface="Consolas"/>
              </a:rPr>
              <a:t>    }</a:t>
            </a:r>
          </a:p>
          <a:p>
            <a:r>
              <a:rPr lang="en-US" sz="1200" dirty="0" smtClean="0">
                <a:solidFill>
                  <a:srgbClr val="D4D4D4"/>
                </a:solidFill>
                <a:latin typeface="Consolas"/>
              </a:rPr>
              <a:t/>
            </a:r>
            <a:br>
              <a:rPr lang="en-US" sz="1200" dirty="0" smtClean="0">
                <a:solidFill>
                  <a:srgbClr val="D4D4D4"/>
                </a:solidFill>
                <a:latin typeface="Consolas"/>
              </a:rPr>
            </a:br>
            <a:r>
              <a:rPr lang="en-US" sz="1200" dirty="0" smtClean="0">
                <a:solidFill>
                  <a:srgbClr val="D4D4D4"/>
                </a:solidFill>
                <a:latin typeface="Consolas"/>
              </a:rPr>
              <a:t>    </a:t>
            </a:r>
            <a:r>
              <a:rPr lang="en-US" sz="1200" dirty="0" smtClean="0">
                <a:solidFill>
                  <a:srgbClr val="C586C0"/>
                </a:solidFill>
                <a:latin typeface="Consolas"/>
              </a:rPr>
              <a:t>defer</a:t>
            </a:r>
            <a:r>
              <a:rPr lang="en-US" sz="1200" dirty="0" smtClean="0">
                <a:solidFill>
                  <a:srgbClr val="D4D4D4"/>
                </a:solidFill>
                <a:latin typeface="Consolas"/>
              </a:rPr>
              <a:t> </a:t>
            </a:r>
            <a:r>
              <a:rPr lang="en-US" sz="1200" dirty="0" err="1" smtClean="0">
                <a:solidFill>
                  <a:srgbClr val="D4D4D4"/>
                </a:solidFill>
                <a:latin typeface="Consolas"/>
              </a:rPr>
              <a:t>f.</a:t>
            </a:r>
            <a:r>
              <a:rPr lang="en-US" sz="1200" dirty="0" err="1" smtClean="0">
                <a:solidFill>
                  <a:srgbClr val="DCDCAA"/>
                </a:solidFill>
                <a:latin typeface="Consolas"/>
              </a:rPr>
              <a:t>Close</a:t>
            </a:r>
            <a:r>
              <a:rPr lang="en-US" sz="1200" dirty="0" smtClean="0">
                <a:solidFill>
                  <a:srgbClr val="D4D4D4"/>
                </a:solidFill>
                <a:latin typeface="Consolas"/>
              </a:rPr>
              <a:t>()</a:t>
            </a:r>
          </a:p>
          <a:p>
            <a:r>
              <a:rPr lang="en-US" sz="1200" dirty="0" smtClean="0">
                <a:solidFill>
                  <a:srgbClr val="D4D4D4"/>
                </a:solidFill>
                <a:latin typeface="Consolas"/>
              </a:rPr>
              <a:t/>
            </a:r>
            <a:br>
              <a:rPr lang="en-US" sz="1200" dirty="0" smtClean="0">
                <a:solidFill>
                  <a:srgbClr val="D4D4D4"/>
                </a:solidFill>
                <a:latin typeface="Consolas"/>
              </a:rPr>
            </a:br>
            <a:r>
              <a:rPr lang="en-US" sz="1200" dirty="0" smtClean="0">
                <a:solidFill>
                  <a:srgbClr val="D4D4D4"/>
                </a:solidFill>
                <a:latin typeface="Consolas"/>
              </a:rPr>
              <a:t>    </a:t>
            </a:r>
            <a:r>
              <a:rPr lang="en-US" sz="1200" dirty="0" smtClean="0">
                <a:solidFill>
                  <a:srgbClr val="9CDCFE"/>
                </a:solidFill>
                <a:latin typeface="Consolas"/>
              </a:rPr>
              <a:t>_</a:t>
            </a:r>
            <a:r>
              <a:rPr lang="en-US" sz="1200" dirty="0" smtClean="0">
                <a:solidFill>
                  <a:srgbClr val="D4D4D4"/>
                </a:solidFill>
                <a:latin typeface="Consolas"/>
              </a:rPr>
              <a:t>, </a:t>
            </a:r>
            <a:r>
              <a:rPr lang="en-US" sz="1200" dirty="0" smtClean="0">
                <a:solidFill>
                  <a:srgbClr val="9CDCFE"/>
                </a:solidFill>
                <a:latin typeface="Consolas"/>
              </a:rPr>
              <a:t>err</a:t>
            </a:r>
            <a:r>
              <a:rPr lang="en-US" sz="1200" dirty="0" smtClean="0">
                <a:solidFill>
                  <a:srgbClr val="D4D4D4"/>
                </a:solidFill>
                <a:latin typeface="Consolas"/>
              </a:rPr>
              <a:t> = </a:t>
            </a:r>
            <a:r>
              <a:rPr lang="en-US" sz="1200" dirty="0" err="1" smtClean="0">
                <a:solidFill>
                  <a:srgbClr val="D4D4D4"/>
                </a:solidFill>
                <a:latin typeface="Consolas"/>
              </a:rPr>
              <a:t>fmt.</a:t>
            </a:r>
            <a:r>
              <a:rPr lang="en-US" sz="1200" dirty="0" err="1" smtClean="0">
                <a:solidFill>
                  <a:srgbClr val="DCDCAA"/>
                </a:solidFill>
                <a:latin typeface="Consolas"/>
              </a:rPr>
              <a:t>Fprintln</a:t>
            </a:r>
            <a:r>
              <a:rPr lang="en-US" sz="1200" dirty="0" smtClean="0">
                <a:solidFill>
                  <a:srgbClr val="D4D4D4"/>
                </a:solidFill>
                <a:latin typeface="Consolas"/>
              </a:rPr>
              <a:t>(f, </a:t>
            </a:r>
            <a:r>
              <a:rPr lang="en-US" sz="1200" dirty="0" smtClean="0">
                <a:solidFill>
                  <a:srgbClr val="CE9178"/>
                </a:solidFill>
                <a:latin typeface="Consolas"/>
              </a:rPr>
              <a:t>"Errors are values."</a:t>
            </a:r>
            <a:r>
              <a:rPr lang="en-US" sz="1200" dirty="0" smtClean="0">
                <a:solidFill>
                  <a:srgbClr val="D4D4D4"/>
                </a:solidFill>
                <a:latin typeface="Consolas"/>
              </a:rPr>
              <a:t>)</a:t>
            </a:r>
          </a:p>
          <a:p>
            <a:r>
              <a:rPr lang="en-US" sz="1200" dirty="0" smtClean="0">
                <a:solidFill>
                  <a:srgbClr val="D4D4D4"/>
                </a:solidFill>
                <a:latin typeface="Consolas"/>
              </a:rPr>
              <a:t>    </a:t>
            </a:r>
            <a:r>
              <a:rPr lang="en-US" sz="1200" dirty="0" smtClean="0">
                <a:solidFill>
                  <a:srgbClr val="C586C0"/>
                </a:solidFill>
                <a:latin typeface="Consolas"/>
              </a:rPr>
              <a:t>if</a:t>
            </a:r>
            <a:r>
              <a:rPr lang="en-US" sz="1200" dirty="0" smtClean="0">
                <a:solidFill>
                  <a:srgbClr val="D4D4D4"/>
                </a:solidFill>
                <a:latin typeface="Consolas"/>
              </a:rPr>
              <a:t> </a:t>
            </a:r>
            <a:r>
              <a:rPr lang="en-US" sz="1200" dirty="0" smtClean="0">
                <a:solidFill>
                  <a:srgbClr val="569CD6"/>
                </a:solidFill>
                <a:latin typeface="Consolas"/>
              </a:rPr>
              <a:t>nil</a:t>
            </a:r>
            <a:r>
              <a:rPr lang="en-US" sz="1200" dirty="0" smtClean="0">
                <a:solidFill>
                  <a:srgbClr val="D4D4D4"/>
                </a:solidFill>
                <a:latin typeface="Consolas"/>
              </a:rPr>
              <a:t> != err {</a:t>
            </a:r>
          </a:p>
          <a:p>
            <a:r>
              <a:rPr lang="en-US" sz="1200" dirty="0" smtClean="0">
                <a:solidFill>
                  <a:srgbClr val="D4D4D4"/>
                </a:solidFill>
                <a:latin typeface="Consolas"/>
              </a:rPr>
              <a:t>        </a:t>
            </a:r>
            <a:r>
              <a:rPr lang="en-US" sz="1200" dirty="0" smtClean="0">
                <a:solidFill>
                  <a:srgbClr val="C586C0"/>
                </a:solidFill>
                <a:latin typeface="Consolas"/>
              </a:rPr>
              <a:t>return</a:t>
            </a:r>
            <a:r>
              <a:rPr lang="en-US" sz="1200" dirty="0" smtClean="0">
                <a:solidFill>
                  <a:srgbClr val="D4D4D4"/>
                </a:solidFill>
                <a:latin typeface="Consolas"/>
              </a:rPr>
              <a:t> err</a:t>
            </a:r>
          </a:p>
          <a:p>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_</a:t>
            </a:r>
            <a:r>
              <a:rPr lang="en-US" sz="1200" dirty="0" smtClean="0">
                <a:solidFill>
                  <a:srgbClr val="D4D4D4"/>
                </a:solidFill>
                <a:latin typeface="Consolas"/>
              </a:rPr>
              <a:t>, </a:t>
            </a:r>
            <a:r>
              <a:rPr lang="en-US" sz="1200" dirty="0" smtClean="0">
                <a:solidFill>
                  <a:srgbClr val="9CDCFE"/>
                </a:solidFill>
                <a:latin typeface="Consolas"/>
              </a:rPr>
              <a:t>err</a:t>
            </a:r>
            <a:r>
              <a:rPr lang="en-US" sz="1200" dirty="0" smtClean="0">
                <a:solidFill>
                  <a:srgbClr val="D4D4D4"/>
                </a:solidFill>
                <a:latin typeface="Consolas"/>
              </a:rPr>
              <a:t> = </a:t>
            </a:r>
            <a:r>
              <a:rPr lang="en-US" sz="1200" dirty="0" err="1" smtClean="0">
                <a:solidFill>
                  <a:srgbClr val="D4D4D4"/>
                </a:solidFill>
                <a:latin typeface="Consolas"/>
              </a:rPr>
              <a:t>fmt.</a:t>
            </a:r>
            <a:r>
              <a:rPr lang="en-US" sz="1200" dirty="0" err="1" smtClean="0">
                <a:solidFill>
                  <a:srgbClr val="DCDCAA"/>
                </a:solidFill>
                <a:latin typeface="Consolas"/>
              </a:rPr>
              <a:t>Fprintln</a:t>
            </a:r>
            <a:r>
              <a:rPr lang="en-US" sz="1200" dirty="0" smtClean="0">
                <a:solidFill>
                  <a:srgbClr val="D4D4D4"/>
                </a:solidFill>
                <a:latin typeface="Consolas"/>
              </a:rPr>
              <a:t>(f, </a:t>
            </a:r>
            <a:r>
              <a:rPr lang="en-US" sz="1200" dirty="0" smtClean="0">
                <a:solidFill>
                  <a:srgbClr val="CE9178"/>
                </a:solidFill>
                <a:latin typeface="Consolas"/>
              </a:rPr>
              <a:t>"Don't just check errors, handle them gracefully."</a:t>
            </a:r>
            <a:r>
              <a:rPr lang="en-US" sz="1200" dirty="0" smtClean="0">
                <a:solidFill>
                  <a:srgbClr val="D4D4D4"/>
                </a:solidFill>
                <a:latin typeface="Consolas"/>
              </a:rPr>
              <a:t>)</a:t>
            </a:r>
          </a:p>
          <a:p>
            <a:r>
              <a:rPr lang="en-US" sz="1200" dirty="0" smtClean="0">
                <a:solidFill>
                  <a:srgbClr val="D4D4D4"/>
                </a:solidFill>
                <a:latin typeface="Consolas"/>
              </a:rPr>
              <a:t>    </a:t>
            </a:r>
            <a:r>
              <a:rPr lang="en-US" sz="1200" dirty="0" smtClean="0">
                <a:solidFill>
                  <a:srgbClr val="C586C0"/>
                </a:solidFill>
                <a:latin typeface="Consolas"/>
              </a:rPr>
              <a:t>return</a:t>
            </a:r>
            <a:r>
              <a:rPr lang="en-US" sz="1200" dirty="0" smtClean="0">
                <a:solidFill>
                  <a:srgbClr val="D4D4D4"/>
                </a:solidFill>
                <a:latin typeface="Consolas"/>
              </a:rPr>
              <a:t> err</a:t>
            </a:r>
          </a:p>
          <a:p>
            <a:r>
              <a:rPr lang="en-US" sz="1200" dirty="0" smtClean="0">
                <a:solidFill>
                  <a:srgbClr val="D4D4D4"/>
                </a:solidFill>
                <a:latin typeface="Consolas"/>
              </a:rPr>
              <a:t>}</a:t>
            </a:r>
          </a:p>
          <a:p>
            <a:r>
              <a:rPr lang="en-US" sz="1200" dirty="0" smtClean="0">
                <a:solidFill>
                  <a:srgbClr val="D4D4D4"/>
                </a:solidFill>
                <a:latin typeface="Consolas"/>
              </a:rPr>
              <a:t/>
            </a:r>
            <a:br>
              <a:rPr lang="en-US" sz="1200" dirty="0" smtClean="0">
                <a:solidFill>
                  <a:srgbClr val="D4D4D4"/>
                </a:solidFill>
                <a:latin typeface="Consolas"/>
              </a:rPr>
            </a:br>
            <a:r>
              <a:rPr lang="en-US" sz="1200" dirty="0" err="1" smtClean="0">
                <a:solidFill>
                  <a:srgbClr val="569CD6"/>
                </a:solidFill>
                <a:latin typeface="Consolas"/>
              </a:rPr>
              <a:t>func</a:t>
            </a:r>
            <a:r>
              <a:rPr lang="en-US" sz="1200" dirty="0" smtClean="0">
                <a:solidFill>
                  <a:srgbClr val="D4D4D4"/>
                </a:solidFill>
                <a:latin typeface="Consolas"/>
              </a:rPr>
              <a:t> </a:t>
            </a:r>
            <a:r>
              <a:rPr lang="en-US" sz="1200" dirty="0" smtClean="0">
                <a:solidFill>
                  <a:srgbClr val="DCDCAA"/>
                </a:solidFill>
                <a:latin typeface="Consolas"/>
              </a:rPr>
              <a:t>main</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6A9955"/>
                </a:solidFill>
                <a:latin typeface="Consolas"/>
              </a:rPr>
              <a:t>// Change proverbs.txt to read-only to simulate an error.</a:t>
            </a:r>
            <a:endParaRPr lang="en-US" sz="1200" dirty="0" smtClean="0">
              <a:solidFill>
                <a:srgbClr val="D4D4D4"/>
              </a:solidFill>
              <a:latin typeface="Consolas"/>
            </a:endParaRPr>
          </a:p>
          <a:p>
            <a:r>
              <a:rPr lang="en-US" sz="1200" dirty="0" smtClean="0">
                <a:solidFill>
                  <a:srgbClr val="D4D4D4"/>
                </a:solidFill>
                <a:latin typeface="Consolas"/>
              </a:rPr>
              <a:t>    </a:t>
            </a:r>
            <a:r>
              <a:rPr lang="en-US" sz="1200" dirty="0" smtClean="0">
                <a:solidFill>
                  <a:srgbClr val="9CDCFE"/>
                </a:solidFill>
                <a:latin typeface="Consolas"/>
              </a:rPr>
              <a:t>err</a:t>
            </a:r>
            <a:r>
              <a:rPr lang="en-US" sz="1200" dirty="0" smtClean="0">
                <a:solidFill>
                  <a:srgbClr val="D4D4D4"/>
                </a:solidFill>
                <a:latin typeface="Consolas"/>
              </a:rPr>
              <a:t> := </a:t>
            </a:r>
            <a:r>
              <a:rPr lang="en-US" sz="1200" dirty="0" smtClean="0">
                <a:solidFill>
                  <a:srgbClr val="DCDCAA"/>
                </a:solidFill>
                <a:latin typeface="Consolas"/>
              </a:rPr>
              <a:t>proverbs</a:t>
            </a:r>
            <a:r>
              <a:rPr lang="en-US" sz="1200" dirty="0" smtClean="0">
                <a:solidFill>
                  <a:srgbClr val="D4D4D4"/>
                </a:solidFill>
                <a:latin typeface="Consolas"/>
              </a:rPr>
              <a:t>(</a:t>
            </a:r>
            <a:r>
              <a:rPr lang="en-US" sz="1200" dirty="0" smtClean="0">
                <a:solidFill>
                  <a:srgbClr val="CE9178"/>
                </a:solidFill>
                <a:latin typeface="Consolas"/>
              </a:rPr>
              <a:t>"C:</a:t>
            </a:r>
            <a:r>
              <a:rPr lang="en-US" sz="1200" dirty="0" smtClean="0">
                <a:solidFill>
                  <a:srgbClr val="D7BA7D"/>
                </a:solidFill>
                <a:latin typeface="Consolas"/>
              </a:rPr>
              <a:t>\\</a:t>
            </a:r>
            <a:r>
              <a:rPr lang="en-US" sz="1200" dirty="0" smtClean="0">
                <a:solidFill>
                  <a:srgbClr val="CE9178"/>
                </a:solidFill>
                <a:latin typeface="Consolas"/>
              </a:rPr>
              <a:t>Users</a:t>
            </a:r>
            <a:r>
              <a:rPr lang="en-US" sz="1200" dirty="0" smtClean="0">
                <a:solidFill>
                  <a:srgbClr val="D7BA7D"/>
                </a:solidFill>
                <a:latin typeface="Consolas"/>
              </a:rPr>
              <a:t>\\</a:t>
            </a:r>
            <a:r>
              <a:rPr lang="en-US" sz="1200" dirty="0" smtClean="0">
                <a:solidFill>
                  <a:srgbClr val="CE9178"/>
                </a:solidFill>
                <a:latin typeface="Consolas"/>
              </a:rPr>
              <a:t>admin</a:t>
            </a:r>
            <a:r>
              <a:rPr lang="en-US" sz="1200" dirty="0" smtClean="0">
                <a:solidFill>
                  <a:srgbClr val="D7BA7D"/>
                </a:solidFill>
                <a:latin typeface="Consolas"/>
              </a:rPr>
              <a:t>\\</a:t>
            </a:r>
            <a:r>
              <a:rPr lang="en-US" sz="1200" dirty="0" smtClean="0">
                <a:solidFill>
                  <a:srgbClr val="CE9178"/>
                </a:solidFill>
                <a:latin typeface="Consolas"/>
              </a:rPr>
              <a:t>Downloads</a:t>
            </a:r>
            <a:r>
              <a:rPr lang="en-US" sz="1200" dirty="0" smtClean="0">
                <a:solidFill>
                  <a:srgbClr val="D7BA7D"/>
                </a:solidFill>
                <a:latin typeface="Consolas"/>
              </a:rPr>
              <a:t>\\</a:t>
            </a:r>
            <a:r>
              <a:rPr lang="en-US" sz="1200" dirty="0" smtClean="0">
                <a:solidFill>
                  <a:srgbClr val="CE9178"/>
                </a:solidFill>
                <a:latin typeface="Consolas"/>
              </a:rPr>
              <a:t>proverbs.txt"</a:t>
            </a:r>
            <a:r>
              <a:rPr lang="en-US" sz="1200" dirty="0" smtClean="0">
                <a:solidFill>
                  <a:srgbClr val="D4D4D4"/>
                </a:solidFill>
                <a:latin typeface="Consolas"/>
              </a:rPr>
              <a:t>)</a:t>
            </a:r>
          </a:p>
          <a:p>
            <a:r>
              <a:rPr lang="en-US" sz="1200" dirty="0" smtClean="0">
                <a:solidFill>
                  <a:srgbClr val="D4D4D4"/>
                </a:solidFill>
                <a:latin typeface="Consolas"/>
              </a:rPr>
              <a:t>    </a:t>
            </a:r>
            <a:r>
              <a:rPr lang="en-US" sz="1200" dirty="0" err="1" smtClean="0">
                <a:solidFill>
                  <a:srgbClr val="D4D4D4"/>
                </a:solidFill>
                <a:latin typeface="Consolas"/>
              </a:rPr>
              <a:t>fmt.</a:t>
            </a:r>
            <a:r>
              <a:rPr lang="en-US" sz="1200" dirty="0" err="1" smtClean="0">
                <a:solidFill>
                  <a:srgbClr val="DCDCAA"/>
                </a:solidFill>
                <a:latin typeface="Consolas"/>
              </a:rPr>
              <a:t>Println</a:t>
            </a:r>
            <a:r>
              <a:rPr lang="en-US" sz="1200" dirty="0" smtClean="0">
                <a:solidFill>
                  <a:srgbClr val="D4D4D4"/>
                </a:solidFill>
                <a:latin typeface="Consolas"/>
              </a:rPr>
              <a:t>(err)</a:t>
            </a:r>
          </a:p>
          <a:p>
            <a:r>
              <a:rPr lang="en-US" sz="1200" dirty="0" smtClean="0">
                <a:solidFill>
                  <a:srgbClr val="D4D4D4"/>
                </a:solidFill>
                <a:latin typeface="Consolas"/>
              </a:rPr>
              <a:t>}</a:t>
            </a:r>
            <a:endParaRPr lang="en-US" sz="1200" b="0" dirty="0">
              <a:solidFill>
                <a:srgbClr val="D4D4D4"/>
              </a:solidFill>
              <a:latin typeface="Consola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Arrays</a:t>
            </a:r>
            <a:endParaRPr lang="en-US" dirty="0"/>
          </a:p>
        </p:txBody>
      </p:sp>
      <p:sp>
        <p:nvSpPr>
          <p:cNvPr id="3" name="Content Placeholder 2"/>
          <p:cNvSpPr>
            <a:spLocks noGrp="1"/>
          </p:cNvSpPr>
          <p:nvPr>
            <p:ph idx="1"/>
          </p:nvPr>
        </p:nvSpPr>
        <p:spPr/>
        <p:txBody>
          <a:bodyPr/>
          <a:lstStyle/>
          <a:p>
            <a:r>
              <a:rPr lang="en-US" sz="2400" dirty="0" smtClean="0"/>
              <a:t>An </a:t>
            </a:r>
            <a:r>
              <a:rPr lang="en-US" sz="2400" i="1" dirty="0" smtClean="0">
                <a:solidFill>
                  <a:srgbClr val="C00000"/>
                </a:solidFill>
              </a:rPr>
              <a:t>array</a:t>
            </a:r>
            <a:r>
              <a:rPr lang="en-US" sz="2400" dirty="0" smtClean="0"/>
              <a:t> is a </a:t>
            </a:r>
            <a:r>
              <a:rPr lang="en-US" sz="2400" u="sng" dirty="0" smtClean="0"/>
              <a:t>fixed-length</a:t>
            </a:r>
            <a:r>
              <a:rPr lang="en-US" sz="2400" dirty="0" smtClean="0"/>
              <a:t> sequence of zero or more elements of a particular type.</a:t>
            </a:r>
            <a:endParaRPr lang="en-US" sz="2400" dirty="0"/>
          </a:p>
        </p:txBody>
      </p:sp>
      <p:sp>
        <p:nvSpPr>
          <p:cNvPr id="4" name="Content Placeholder 2"/>
          <p:cNvSpPr txBox="1">
            <a:spLocks/>
          </p:cNvSpPr>
          <p:nvPr/>
        </p:nvSpPr>
        <p:spPr bwMode="auto">
          <a:xfrm>
            <a:off x="457200" y="2819400"/>
            <a:ext cx="8229600" cy="3352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569CD6"/>
                </a:solidFill>
                <a:latin typeface="Consolas"/>
              </a:rPr>
              <a:t>var</a:t>
            </a:r>
            <a:r>
              <a:rPr lang="en-US" sz="1600" dirty="0" smtClean="0">
                <a:solidFill>
                  <a:srgbClr val="D4D4D4"/>
                </a:solidFill>
                <a:latin typeface="Consolas"/>
              </a:rPr>
              <a:t> </a:t>
            </a:r>
            <a:r>
              <a:rPr lang="en-US" sz="1600" dirty="0" smtClean="0">
                <a:solidFill>
                  <a:srgbClr val="9CDCFE"/>
                </a:solidFill>
                <a:latin typeface="Consolas"/>
              </a:rPr>
              <a:t>a</a:t>
            </a:r>
            <a:r>
              <a:rPr lang="en-US" sz="1600" dirty="0" smtClean="0">
                <a:solidFill>
                  <a:srgbClr val="D4D4D4"/>
                </a:solidFill>
                <a:latin typeface="Consolas"/>
              </a:rPr>
              <a:t> [</a:t>
            </a:r>
            <a:r>
              <a:rPr lang="en-US" sz="1600" dirty="0" smtClean="0">
                <a:solidFill>
                  <a:srgbClr val="B5CEA8"/>
                </a:solidFill>
                <a:latin typeface="Consolas"/>
              </a:rPr>
              <a:t>3</a:t>
            </a:r>
            <a:r>
              <a:rPr lang="en-US" sz="1600" dirty="0" smtClean="0">
                <a:solidFill>
                  <a:srgbClr val="D4D4D4"/>
                </a:solidFill>
                <a:latin typeface="Consolas"/>
              </a:rPr>
              <a:t>]</a:t>
            </a:r>
            <a:r>
              <a:rPr lang="en-US" sz="1600" dirty="0" err="1" smtClean="0">
                <a:solidFill>
                  <a:srgbClr val="4EC9B0"/>
                </a:solidFill>
                <a:latin typeface="Consolas"/>
              </a:rPr>
              <a:t>int</a:t>
            </a:r>
            <a:r>
              <a:rPr lang="en-US" sz="1600" dirty="0" smtClean="0">
                <a:solidFill>
                  <a:srgbClr val="D4D4D4"/>
                </a:solidFill>
                <a:latin typeface="Consolas"/>
              </a:rPr>
              <a:t> </a:t>
            </a:r>
            <a:r>
              <a:rPr lang="en-US" sz="1600" dirty="0" smtClean="0">
                <a:solidFill>
                  <a:srgbClr val="6A9955"/>
                </a:solidFill>
                <a:latin typeface="Consolas"/>
              </a:rPr>
              <a:t>// array of 3 integers</a:t>
            </a:r>
            <a:endParaRPr lang="en-US" sz="1600" dirty="0" smtClean="0">
              <a:solidFill>
                <a:srgbClr val="D4D4D4"/>
              </a:solidFill>
              <a:latin typeface="Consolas"/>
            </a:endParaRPr>
          </a:p>
          <a:p>
            <a:r>
              <a:rPr lang="en-US" sz="1600" dirty="0" smtClean="0">
                <a:solidFill>
                  <a:srgbClr val="D4D4D4"/>
                </a:solidFill>
                <a:latin typeface="Consolas"/>
              </a:rPr>
              <a:t>    a[</a:t>
            </a:r>
            <a:r>
              <a:rPr lang="en-US" sz="1600" dirty="0" smtClean="0">
                <a:solidFill>
                  <a:srgbClr val="B5CEA8"/>
                </a:solidFill>
                <a:latin typeface="Consolas"/>
              </a:rPr>
              <a:t>0</a:t>
            </a:r>
            <a:r>
              <a:rPr lang="en-US" sz="1600" dirty="0" smtClean="0">
                <a:solidFill>
                  <a:srgbClr val="D4D4D4"/>
                </a:solidFill>
                <a:latin typeface="Consolas"/>
              </a:rPr>
              <a:t>] = </a:t>
            </a:r>
            <a:r>
              <a:rPr lang="en-US" sz="1600" dirty="0" smtClean="0">
                <a:solidFill>
                  <a:srgbClr val="B5CEA8"/>
                </a:solidFill>
                <a:latin typeface="Consolas"/>
              </a:rPr>
              <a:t>1</a:t>
            </a:r>
            <a:endParaRPr lang="en-US" sz="1600" dirty="0" smtClean="0">
              <a:solidFill>
                <a:srgbClr val="D4D4D4"/>
              </a:solidFill>
              <a:latin typeface="Consolas"/>
            </a:endParaRPr>
          </a:p>
          <a:p>
            <a:r>
              <a:rPr lang="en-US" sz="1600" dirty="0" smtClean="0">
                <a:solidFill>
                  <a:srgbClr val="D4D4D4"/>
                </a:solidFill>
                <a:latin typeface="Consolas"/>
              </a:rPr>
              <a:t>    a[</a:t>
            </a:r>
            <a:r>
              <a:rPr lang="en-US" sz="1600" dirty="0" smtClean="0">
                <a:solidFill>
                  <a:srgbClr val="B5CEA8"/>
                </a:solidFill>
                <a:latin typeface="Consolas"/>
              </a:rPr>
              <a:t>1</a:t>
            </a:r>
            <a:r>
              <a:rPr lang="en-US" sz="1600" dirty="0" smtClean="0">
                <a:solidFill>
                  <a:srgbClr val="D4D4D4"/>
                </a:solidFill>
                <a:latin typeface="Consolas"/>
              </a:rPr>
              <a:t>] = </a:t>
            </a:r>
            <a:r>
              <a:rPr lang="en-US" sz="1600" dirty="0" smtClean="0">
                <a:solidFill>
                  <a:srgbClr val="B5CEA8"/>
                </a:solidFill>
                <a:latin typeface="Consolas"/>
              </a:rPr>
              <a:t>3</a:t>
            </a:r>
            <a:endParaRPr lang="en-US" sz="1600" dirty="0" smtClean="0">
              <a:solidFill>
                <a:srgbClr val="D4D4D4"/>
              </a:solidFill>
              <a:latin typeface="Consolas"/>
            </a:endParaRPr>
          </a:p>
          <a:p>
            <a:r>
              <a:rPr lang="en-US" sz="1600" dirty="0" smtClean="0">
                <a:solidFill>
                  <a:srgbClr val="D4D4D4"/>
                </a:solidFill>
                <a:latin typeface="Consolas"/>
              </a:rPr>
              <a:t>    a[</a:t>
            </a:r>
            <a:r>
              <a:rPr lang="en-US" sz="1600" dirty="0" smtClean="0">
                <a:solidFill>
                  <a:srgbClr val="B5CEA8"/>
                </a:solidFill>
                <a:latin typeface="Consolas"/>
              </a:rPr>
              <a:t>2</a:t>
            </a:r>
            <a:r>
              <a:rPr lang="en-US" sz="1600" dirty="0" smtClean="0">
                <a:solidFill>
                  <a:srgbClr val="D4D4D4"/>
                </a:solidFill>
                <a:latin typeface="Consolas"/>
              </a:rPr>
              <a:t>] = </a:t>
            </a:r>
            <a:r>
              <a:rPr lang="en-US" sz="1600" dirty="0" smtClean="0">
                <a:solidFill>
                  <a:srgbClr val="B5CEA8"/>
                </a:solidFill>
                <a:latin typeface="Consolas"/>
              </a:rPr>
              <a:t>4</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a:t>
            </a:r>
            <a:r>
              <a:rPr lang="en-US" sz="1600" dirty="0" smtClean="0">
                <a:solidFill>
                  <a:srgbClr val="B5CEA8"/>
                </a:solidFill>
                <a:latin typeface="Consolas"/>
              </a:rPr>
              <a:t>0</a:t>
            </a:r>
            <a:r>
              <a:rPr lang="en-US" sz="1600" dirty="0" smtClean="0">
                <a:solidFill>
                  <a:srgbClr val="D4D4D4"/>
                </a:solidFill>
                <a:latin typeface="Consolas"/>
              </a:rPr>
              <a:t>]) </a:t>
            </a:r>
            <a:r>
              <a:rPr lang="en-US" sz="1600" dirty="0" smtClean="0">
                <a:solidFill>
                  <a:srgbClr val="6A9955"/>
                </a:solidFill>
                <a:latin typeface="Consolas"/>
              </a:rPr>
              <a:t>// print the first element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a:t>
            </a:r>
            <a:r>
              <a:rPr lang="en-US" sz="1600" dirty="0" err="1" smtClean="0">
                <a:solidFill>
                  <a:srgbClr val="DCDCAA"/>
                </a:solidFill>
                <a:latin typeface="Consolas"/>
              </a:rPr>
              <a:t>len</a:t>
            </a:r>
            <a:r>
              <a:rPr lang="en-US" sz="1600" dirty="0" smtClean="0">
                <a:solidFill>
                  <a:srgbClr val="D4D4D4"/>
                </a:solidFill>
                <a:latin typeface="Consolas"/>
              </a:rPr>
              <a:t>(a)-</a:t>
            </a:r>
            <a:r>
              <a:rPr lang="en-US" sz="1600" dirty="0" smtClean="0">
                <a:solidFill>
                  <a:srgbClr val="B5CEA8"/>
                </a:solidFill>
                <a:latin typeface="Consolas"/>
              </a:rPr>
              <a:t>1</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6A9955"/>
                </a:solidFill>
                <a:latin typeface="Consolas"/>
              </a:rPr>
              <a:t>// print the last element, a[2]</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6A9955"/>
                </a:solidFill>
                <a:latin typeface="Consolas"/>
              </a:rPr>
              <a:t>// Print the indices and elements.</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r>
              <a:rPr lang="en-US" sz="1600" dirty="0" err="1" smtClean="0">
                <a:solidFill>
                  <a:srgbClr val="9CDCFE"/>
                </a:solidFill>
                <a:latin typeface="Consolas"/>
              </a:rPr>
              <a:t>i</a:t>
            </a:r>
            <a:r>
              <a:rPr lang="en-US" sz="1600" dirty="0" smtClean="0">
                <a:solidFill>
                  <a:srgbClr val="D4D4D4"/>
                </a:solidFill>
                <a:latin typeface="Consolas"/>
              </a:rPr>
              <a:t>, </a:t>
            </a:r>
            <a:r>
              <a:rPr lang="en-US" sz="1600" dirty="0" smtClean="0">
                <a:solidFill>
                  <a:srgbClr val="9CDCFE"/>
                </a:solidFill>
                <a:latin typeface="Consolas"/>
              </a:rPr>
              <a:t>v</a:t>
            </a:r>
            <a:r>
              <a:rPr lang="en-US" sz="1600" dirty="0" smtClean="0">
                <a:solidFill>
                  <a:srgbClr val="D4D4D4"/>
                </a:solidFill>
                <a:latin typeface="Consolas"/>
              </a:rPr>
              <a:t> := </a:t>
            </a:r>
            <a:r>
              <a:rPr lang="en-US" sz="1600" dirty="0" smtClean="0">
                <a:solidFill>
                  <a:srgbClr val="C586C0"/>
                </a:solidFill>
                <a:latin typeface="Consolas"/>
              </a:rPr>
              <a:t>range</a:t>
            </a:r>
            <a:r>
              <a:rPr lang="en-US" sz="1600" dirty="0" smtClean="0">
                <a:solidFill>
                  <a:srgbClr val="D4D4D4"/>
                </a:solidFill>
                <a:latin typeface="Consolas"/>
              </a:rPr>
              <a:t> a {</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Printf</a:t>
            </a:r>
            <a:r>
              <a:rPr lang="en-US" sz="1600" dirty="0" smtClean="0">
                <a:solidFill>
                  <a:srgbClr val="D4D4D4"/>
                </a:solidFill>
                <a:latin typeface="Consolas"/>
              </a:rPr>
              <a:t>(</a:t>
            </a:r>
            <a:r>
              <a:rPr lang="en-US" sz="1600" dirty="0" smtClean="0">
                <a:solidFill>
                  <a:srgbClr val="CE9178"/>
                </a:solidFill>
                <a:latin typeface="Consolas"/>
              </a:rPr>
              <a:t>"</a:t>
            </a:r>
            <a:r>
              <a:rPr lang="en-US" sz="1600" dirty="0" smtClean="0">
                <a:solidFill>
                  <a:srgbClr val="9CDCFE"/>
                </a:solidFill>
                <a:latin typeface="Consolas"/>
              </a:rPr>
              <a:t>%d</a:t>
            </a:r>
            <a:r>
              <a:rPr lang="en-US" sz="1600" dirty="0" smtClean="0">
                <a:solidFill>
                  <a:srgbClr val="CE9178"/>
                </a:solidFill>
                <a:latin typeface="Consolas"/>
              </a:rPr>
              <a:t> </a:t>
            </a:r>
            <a:r>
              <a:rPr lang="en-US" sz="1600" dirty="0" smtClean="0">
                <a:solidFill>
                  <a:srgbClr val="9CDCFE"/>
                </a:solidFill>
                <a:latin typeface="Consolas"/>
              </a:rPr>
              <a:t>%d</a:t>
            </a:r>
            <a:r>
              <a:rPr lang="en-US" sz="1600" dirty="0" smtClean="0">
                <a:solidFill>
                  <a:srgbClr val="D7BA7D"/>
                </a:solidFill>
                <a:latin typeface="Consolas"/>
              </a:rPr>
              <a:t>\n</a:t>
            </a:r>
            <a:r>
              <a:rPr lang="en-US" sz="1600" dirty="0" smtClean="0">
                <a:solidFill>
                  <a:srgbClr val="CE9178"/>
                </a:solidFill>
                <a:latin typeface="Consolas"/>
              </a:rPr>
              <a:t>"</a:t>
            </a:r>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 v)</a:t>
            </a:r>
          </a:p>
          <a:p>
            <a:r>
              <a:rPr lang="en-US" sz="16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Slides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Slices</a:t>
            </a:r>
            <a:r>
              <a:rPr lang="en-US" sz="2400" dirty="0" smtClean="0"/>
              <a:t> represent </a:t>
            </a:r>
            <a:r>
              <a:rPr lang="en-US" sz="2400" u="sng" dirty="0" smtClean="0"/>
              <a:t>variable-length</a:t>
            </a:r>
            <a:r>
              <a:rPr lang="en-US" sz="2400" dirty="0" smtClean="0"/>
              <a:t> sequences whose elements all have the same type.</a:t>
            </a:r>
          </a:p>
          <a:p>
            <a:r>
              <a:rPr lang="en-US" sz="2400" dirty="0" smtClean="0"/>
              <a:t>A slice type is written []T, where the elements have type T; it looks like an array type without a size.</a:t>
            </a:r>
          </a:p>
        </p:txBody>
      </p:sp>
      <p:sp>
        <p:nvSpPr>
          <p:cNvPr id="5" name="Content Placeholder 2"/>
          <p:cNvSpPr txBox="1">
            <a:spLocks/>
          </p:cNvSpPr>
          <p:nvPr/>
        </p:nvSpPr>
        <p:spPr bwMode="auto">
          <a:xfrm>
            <a:off x="457200" y="3505200"/>
            <a:ext cx="8229600" cy="1524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D4D4D4"/>
                </a:solidFill>
                <a:latin typeface="Consolas"/>
              </a:rPr>
              <a:t>    </a:t>
            </a:r>
            <a:r>
              <a:rPr lang="en-US" dirty="0" smtClean="0">
                <a:solidFill>
                  <a:srgbClr val="9CDCFE"/>
                </a:solidFill>
                <a:latin typeface="Consolas"/>
              </a:rPr>
              <a:t>primes</a:t>
            </a:r>
            <a:r>
              <a:rPr lang="en-US" dirty="0" smtClean="0">
                <a:solidFill>
                  <a:srgbClr val="D4D4D4"/>
                </a:solidFill>
                <a:latin typeface="Consolas"/>
              </a:rPr>
              <a:t> := [</a:t>
            </a:r>
            <a:r>
              <a:rPr lang="en-US" dirty="0" smtClean="0">
                <a:solidFill>
                  <a:srgbClr val="B5CEA8"/>
                </a:solidFill>
                <a:latin typeface="Consolas"/>
              </a:rPr>
              <a:t>6</a:t>
            </a:r>
            <a:r>
              <a:rPr lang="en-US" dirty="0" smtClean="0">
                <a:solidFill>
                  <a:srgbClr val="D4D4D4"/>
                </a:solidFill>
                <a:latin typeface="Consolas"/>
              </a:rPr>
              <a:t>]</a:t>
            </a:r>
            <a:r>
              <a:rPr lang="en-US" dirty="0" err="1" smtClean="0">
                <a:solidFill>
                  <a:srgbClr val="4EC9B0"/>
                </a:solidFill>
                <a:latin typeface="Consolas"/>
              </a:rPr>
              <a:t>int</a:t>
            </a:r>
            <a:r>
              <a:rPr lang="en-US" dirty="0" smtClean="0">
                <a:solidFill>
                  <a:srgbClr val="D4D4D4"/>
                </a:solidFill>
                <a:latin typeface="Consolas"/>
              </a:rPr>
              <a:t>{</a:t>
            </a:r>
            <a:r>
              <a:rPr lang="en-US" dirty="0" smtClean="0">
                <a:solidFill>
                  <a:srgbClr val="B5CEA8"/>
                </a:solidFill>
                <a:latin typeface="Consolas"/>
              </a:rPr>
              <a:t>2</a:t>
            </a:r>
            <a:r>
              <a:rPr lang="en-US" dirty="0" smtClean="0">
                <a:solidFill>
                  <a:srgbClr val="D4D4D4"/>
                </a:solidFill>
                <a:latin typeface="Consolas"/>
              </a:rPr>
              <a:t>, </a:t>
            </a:r>
            <a:r>
              <a:rPr lang="en-US" dirty="0" smtClean="0">
                <a:solidFill>
                  <a:srgbClr val="B5CEA8"/>
                </a:solidFill>
                <a:latin typeface="Consolas"/>
              </a:rPr>
              <a:t>3</a:t>
            </a:r>
            <a:r>
              <a:rPr lang="en-US" dirty="0" smtClean="0">
                <a:solidFill>
                  <a:srgbClr val="D4D4D4"/>
                </a:solidFill>
                <a:latin typeface="Consolas"/>
              </a:rPr>
              <a:t>, </a:t>
            </a:r>
            <a:r>
              <a:rPr lang="en-US" dirty="0" smtClean="0">
                <a:solidFill>
                  <a:srgbClr val="B5CEA8"/>
                </a:solidFill>
                <a:latin typeface="Consolas"/>
              </a:rPr>
              <a:t>5</a:t>
            </a:r>
            <a:r>
              <a:rPr lang="en-US" dirty="0" smtClean="0">
                <a:solidFill>
                  <a:srgbClr val="D4D4D4"/>
                </a:solidFill>
                <a:latin typeface="Consolas"/>
              </a:rPr>
              <a:t>, </a:t>
            </a:r>
            <a:r>
              <a:rPr lang="en-US" dirty="0" smtClean="0">
                <a:solidFill>
                  <a:srgbClr val="B5CEA8"/>
                </a:solidFill>
                <a:latin typeface="Consolas"/>
              </a:rPr>
              <a:t>7</a:t>
            </a:r>
            <a:r>
              <a:rPr lang="en-US" dirty="0" smtClean="0">
                <a:solidFill>
                  <a:srgbClr val="D4D4D4"/>
                </a:solidFill>
                <a:latin typeface="Consolas"/>
              </a:rPr>
              <a:t>, </a:t>
            </a:r>
            <a:r>
              <a:rPr lang="en-US" dirty="0" smtClean="0">
                <a:solidFill>
                  <a:srgbClr val="B5CEA8"/>
                </a:solidFill>
                <a:latin typeface="Consolas"/>
              </a:rPr>
              <a:t>11</a:t>
            </a:r>
            <a:r>
              <a:rPr lang="en-US" dirty="0" smtClean="0">
                <a:solidFill>
                  <a:srgbClr val="D4D4D4"/>
                </a:solidFill>
                <a:latin typeface="Consolas"/>
              </a:rPr>
              <a:t>, </a:t>
            </a:r>
            <a:r>
              <a:rPr lang="en-US" dirty="0" smtClean="0">
                <a:solidFill>
                  <a:srgbClr val="B5CEA8"/>
                </a:solidFill>
                <a:latin typeface="Consolas"/>
              </a:rPr>
              <a:t>13</a:t>
            </a:r>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err="1" smtClean="0">
                <a:solidFill>
                  <a:srgbClr val="569CD6"/>
                </a:solidFill>
                <a:latin typeface="Consolas"/>
              </a:rPr>
              <a:t>var</a:t>
            </a:r>
            <a:r>
              <a:rPr lang="en-US" dirty="0" smtClean="0">
                <a:solidFill>
                  <a:srgbClr val="D4D4D4"/>
                </a:solidFill>
                <a:latin typeface="Consolas"/>
              </a:rPr>
              <a:t> </a:t>
            </a:r>
            <a:r>
              <a:rPr lang="en-US" dirty="0" smtClean="0">
                <a:solidFill>
                  <a:srgbClr val="9CDCFE"/>
                </a:solidFill>
                <a:latin typeface="Consolas"/>
              </a:rPr>
              <a:t>s</a:t>
            </a:r>
            <a:r>
              <a:rPr lang="en-US" dirty="0" smtClean="0">
                <a:solidFill>
                  <a:srgbClr val="D4D4D4"/>
                </a:solidFill>
                <a:latin typeface="Consolas"/>
              </a:rPr>
              <a:t> []</a:t>
            </a:r>
            <a:r>
              <a:rPr lang="en-US" dirty="0" err="1" smtClean="0">
                <a:solidFill>
                  <a:srgbClr val="9CDCFE"/>
                </a:solidFill>
                <a:latin typeface="Consolas"/>
              </a:rPr>
              <a:t>int</a:t>
            </a:r>
            <a:r>
              <a:rPr lang="en-US" dirty="0" smtClean="0">
                <a:solidFill>
                  <a:srgbClr val="D4D4D4"/>
                </a:solidFill>
                <a:latin typeface="Consolas"/>
              </a:rPr>
              <a:t> = primes[</a:t>
            </a:r>
            <a:r>
              <a:rPr lang="en-US" dirty="0" smtClean="0">
                <a:solidFill>
                  <a:srgbClr val="B5CEA8"/>
                </a:solidFill>
                <a:latin typeface="Consolas"/>
              </a:rPr>
              <a:t>1</a:t>
            </a:r>
            <a:r>
              <a:rPr lang="en-US" dirty="0" smtClean="0">
                <a:solidFill>
                  <a:srgbClr val="D4D4D4"/>
                </a:solidFill>
                <a:latin typeface="Consolas"/>
              </a:rPr>
              <a:t>:</a:t>
            </a:r>
            <a:r>
              <a:rPr lang="en-US" dirty="0" smtClean="0">
                <a:solidFill>
                  <a:srgbClr val="B5CEA8"/>
                </a:solidFill>
                <a:latin typeface="Consolas"/>
              </a:rPr>
              <a:t>4</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(s)</a:t>
            </a:r>
            <a:endParaRPr lang="en-US" b="0" dirty="0">
              <a:solidFill>
                <a:srgbClr val="D4D4D4"/>
              </a:solidFill>
              <a:latin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Slide Components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slice</a:t>
            </a:r>
            <a:r>
              <a:rPr lang="en-US" sz="2400" dirty="0" smtClean="0"/>
              <a:t> has three components: a pointer, a length, and a capacity.</a:t>
            </a:r>
          </a:p>
          <a:p>
            <a:r>
              <a:rPr lang="en-US" sz="2400" dirty="0" smtClean="0"/>
              <a:t>The pointer points to the first element of the array that is reachable through the slice, which is not necessarily the array’s first element.</a:t>
            </a:r>
          </a:p>
          <a:p>
            <a:r>
              <a:rPr lang="en-US" sz="2400" dirty="0" smtClean="0"/>
              <a:t>The length is the number of slice elements; it can’t exceed the </a:t>
            </a:r>
            <a:r>
              <a:rPr lang="en-US" sz="2400" i="1" dirty="0" smtClean="0">
                <a:solidFill>
                  <a:srgbClr val="C00000"/>
                </a:solidFill>
              </a:rPr>
              <a:t>capacity</a:t>
            </a:r>
            <a:r>
              <a:rPr lang="en-US" sz="2400" dirty="0" smtClean="0"/>
              <a:t>, which is usually the number of elements between the start of the slice and </a:t>
            </a:r>
            <a:r>
              <a:rPr lang="en-US" sz="2400" u="sng" dirty="0" smtClean="0"/>
              <a:t>the end of the underlying array</a:t>
            </a:r>
            <a:r>
              <a:rPr lang="en-US" sz="2400" dirty="0" smtClean="0"/>
              <a:t>.</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Slides</a:t>
            </a:r>
            <a:endParaRPr lang="en-US" dirty="0"/>
          </a:p>
        </p:txBody>
      </p:sp>
      <p:sp>
        <p:nvSpPr>
          <p:cNvPr id="5" name="Content Placeholder 2"/>
          <p:cNvSpPr txBox="1">
            <a:spLocks/>
          </p:cNvSpPr>
          <p:nvPr/>
        </p:nvSpPr>
        <p:spPr bwMode="auto">
          <a:xfrm>
            <a:off x="457200" y="1676400"/>
            <a:ext cx="8229600" cy="4572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primes</a:t>
            </a:r>
            <a:r>
              <a:rPr lang="en-US" sz="1600" dirty="0" smtClean="0">
                <a:solidFill>
                  <a:srgbClr val="D4D4D4"/>
                </a:solidFill>
                <a:latin typeface="Consolas"/>
              </a:rPr>
              <a:t> := [</a:t>
            </a:r>
            <a:r>
              <a:rPr lang="en-US" sz="1600" dirty="0" smtClean="0">
                <a:solidFill>
                  <a:srgbClr val="B5CEA8"/>
                </a:solidFill>
                <a:latin typeface="Consolas"/>
              </a:rPr>
              <a:t>6</a:t>
            </a:r>
            <a:r>
              <a:rPr lang="en-US" sz="1600" dirty="0" smtClean="0">
                <a:solidFill>
                  <a:srgbClr val="D4D4D4"/>
                </a:solidFill>
                <a:latin typeface="Consolas"/>
              </a:rPr>
              <a:t>]</a:t>
            </a:r>
            <a:r>
              <a:rPr lang="en-US" sz="1600" dirty="0" err="1" smtClean="0">
                <a:solidFill>
                  <a:srgbClr val="4EC9B0"/>
                </a:solidFill>
                <a:latin typeface="Consolas"/>
              </a:rPr>
              <a:t>int</a:t>
            </a:r>
            <a:r>
              <a:rPr lang="en-US" sz="1600" dirty="0" smtClean="0">
                <a:solidFill>
                  <a:srgbClr val="D4D4D4"/>
                </a:solidFill>
                <a:latin typeface="Consolas"/>
              </a:rPr>
              <a:t>{</a:t>
            </a:r>
            <a:r>
              <a:rPr lang="en-US" sz="1600" dirty="0" smtClean="0">
                <a:solidFill>
                  <a:srgbClr val="B5CEA8"/>
                </a:solidFill>
                <a:latin typeface="Consolas"/>
              </a:rPr>
              <a:t>2</a:t>
            </a:r>
            <a:r>
              <a:rPr lang="en-US" sz="1600" dirty="0" smtClean="0">
                <a:solidFill>
                  <a:srgbClr val="D4D4D4"/>
                </a:solidFill>
                <a:latin typeface="Consolas"/>
              </a:rPr>
              <a:t>, </a:t>
            </a:r>
            <a:r>
              <a:rPr lang="en-US" sz="1600" dirty="0" smtClean="0">
                <a:solidFill>
                  <a:srgbClr val="B5CEA8"/>
                </a:solidFill>
                <a:latin typeface="Consolas"/>
              </a:rPr>
              <a:t>3</a:t>
            </a:r>
            <a:r>
              <a:rPr lang="en-US" sz="1600" dirty="0" smtClean="0">
                <a:solidFill>
                  <a:srgbClr val="D4D4D4"/>
                </a:solidFill>
                <a:latin typeface="Consolas"/>
              </a:rPr>
              <a:t>, </a:t>
            </a:r>
            <a:r>
              <a:rPr lang="en-US" sz="1600" dirty="0" smtClean="0">
                <a:solidFill>
                  <a:srgbClr val="B5CEA8"/>
                </a:solidFill>
                <a:latin typeface="Consolas"/>
              </a:rPr>
              <a:t>5</a:t>
            </a:r>
            <a:r>
              <a:rPr lang="en-US" sz="1600" dirty="0" smtClean="0">
                <a:solidFill>
                  <a:srgbClr val="D4D4D4"/>
                </a:solidFill>
                <a:latin typeface="Consolas"/>
              </a:rPr>
              <a:t>, </a:t>
            </a:r>
            <a:r>
              <a:rPr lang="en-US" sz="1600" dirty="0" smtClean="0">
                <a:solidFill>
                  <a:srgbClr val="B5CEA8"/>
                </a:solidFill>
                <a:latin typeface="Consolas"/>
              </a:rPr>
              <a:t>7</a:t>
            </a:r>
            <a:r>
              <a:rPr lang="en-US" sz="1600" dirty="0" smtClean="0">
                <a:solidFill>
                  <a:srgbClr val="D4D4D4"/>
                </a:solidFill>
                <a:latin typeface="Consolas"/>
              </a:rPr>
              <a:t>, </a:t>
            </a:r>
            <a:r>
              <a:rPr lang="en-US" sz="1600" dirty="0" smtClean="0">
                <a:solidFill>
                  <a:srgbClr val="B5CEA8"/>
                </a:solidFill>
                <a:latin typeface="Consolas"/>
              </a:rPr>
              <a:t>11</a:t>
            </a:r>
            <a:r>
              <a:rPr lang="en-US" sz="1600" dirty="0" smtClean="0">
                <a:solidFill>
                  <a:srgbClr val="D4D4D4"/>
                </a:solidFill>
                <a:latin typeface="Consolas"/>
              </a:rPr>
              <a:t>, </a:t>
            </a:r>
            <a:r>
              <a:rPr lang="en-US" sz="1600" dirty="0" smtClean="0">
                <a:solidFill>
                  <a:srgbClr val="B5CEA8"/>
                </a:solidFill>
                <a:latin typeface="Consolas"/>
              </a:rPr>
              <a:t>13</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569CD6"/>
                </a:solidFill>
                <a:latin typeface="Consolas"/>
              </a:rPr>
              <a:t>var</a:t>
            </a:r>
            <a:r>
              <a:rPr lang="en-US" sz="1600" dirty="0" smtClean="0">
                <a:solidFill>
                  <a:srgbClr val="D4D4D4"/>
                </a:solidFill>
                <a:latin typeface="Consolas"/>
              </a:rPr>
              <a:t> </a:t>
            </a:r>
            <a:r>
              <a:rPr lang="en-US" sz="1600" dirty="0" smtClean="0">
                <a:solidFill>
                  <a:srgbClr val="9CDCFE"/>
                </a:solidFill>
                <a:latin typeface="Consolas"/>
              </a:rPr>
              <a:t>s</a:t>
            </a:r>
            <a:r>
              <a:rPr lang="en-US" sz="1600" dirty="0" smtClean="0">
                <a:solidFill>
                  <a:srgbClr val="D4D4D4"/>
                </a:solidFill>
                <a:latin typeface="Consolas"/>
              </a:rPr>
              <a:t> []</a:t>
            </a:r>
            <a:r>
              <a:rPr lang="en-US" sz="1600" dirty="0" err="1" smtClean="0">
                <a:solidFill>
                  <a:srgbClr val="9CDCFE"/>
                </a:solidFill>
                <a:latin typeface="Consolas"/>
              </a:rPr>
              <a:t>int</a:t>
            </a:r>
            <a:r>
              <a:rPr lang="en-US" sz="1600" dirty="0" smtClean="0">
                <a:solidFill>
                  <a:srgbClr val="D4D4D4"/>
                </a:solidFill>
                <a:latin typeface="Consolas"/>
              </a:rPr>
              <a:t> = primes[</a:t>
            </a:r>
            <a:r>
              <a:rPr lang="en-US" sz="1600" dirty="0" smtClean="0">
                <a:solidFill>
                  <a:srgbClr val="B5CEA8"/>
                </a:solidFill>
                <a:latin typeface="Consolas"/>
              </a:rPr>
              <a:t>1</a:t>
            </a:r>
            <a:r>
              <a:rPr lang="en-US" sz="1600" dirty="0" smtClean="0">
                <a:solidFill>
                  <a:srgbClr val="D4D4D4"/>
                </a:solidFill>
                <a:latin typeface="Consolas"/>
              </a:rPr>
              <a:t>:</a:t>
            </a:r>
            <a:r>
              <a:rPr lang="en-US" sz="1600" dirty="0" smtClean="0">
                <a:solidFill>
                  <a:srgbClr val="B5CEA8"/>
                </a:solidFill>
                <a:latin typeface="Consolas"/>
              </a:rPr>
              <a:t>4</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(s)</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9CDCFE"/>
                </a:solidFill>
                <a:latin typeface="Consolas"/>
              </a:rPr>
              <a:t>months</a:t>
            </a:r>
            <a:r>
              <a:rPr lang="en-US" sz="1600" dirty="0" smtClean="0">
                <a:solidFill>
                  <a:srgbClr val="D4D4D4"/>
                </a:solidFill>
                <a:latin typeface="Consolas"/>
              </a:rPr>
              <a:t> := [...]</a:t>
            </a:r>
            <a:r>
              <a:rPr lang="en-US" sz="1600" dirty="0" smtClean="0">
                <a:solidFill>
                  <a:srgbClr val="4EC9B0"/>
                </a:solidFill>
                <a:latin typeface="Consolas"/>
              </a:rPr>
              <a:t>string</a:t>
            </a:r>
            <a:r>
              <a:rPr lang="en-US" sz="1600" dirty="0" smtClean="0">
                <a:solidFill>
                  <a:srgbClr val="D4D4D4"/>
                </a:solidFill>
                <a:latin typeface="Consolas"/>
              </a:rPr>
              <a:t>{</a:t>
            </a:r>
            <a:r>
              <a:rPr lang="en-US" sz="1600" dirty="0" smtClean="0">
                <a:solidFill>
                  <a:srgbClr val="B5CEA8"/>
                </a:solidFill>
                <a:latin typeface="Consolas"/>
              </a:rPr>
              <a:t>1</a:t>
            </a:r>
            <a:r>
              <a:rPr lang="en-US" sz="1600" dirty="0" smtClean="0">
                <a:solidFill>
                  <a:srgbClr val="D4D4D4"/>
                </a:solidFill>
                <a:latin typeface="Consolas"/>
              </a:rPr>
              <a:t>: </a:t>
            </a:r>
            <a:r>
              <a:rPr lang="en-US" sz="1600" dirty="0" smtClean="0">
                <a:solidFill>
                  <a:srgbClr val="CE9178"/>
                </a:solidFill>
                <a:latin typeface="Consolas"/>
              </a:rPr>
              <a:t>"January"</a:t>
            </a:r>
            <a:r>
              <a:rPr lang="en-US" sz="1600" dirty="0" smtClean="0">
                <a:solidFill>
                  <a:srgbClr val="D4D4D4"/>
                </a:solidFill>
                <a:latin typeface="Consolas"/>
              </a:rPr>
              <a:t>, </a:t>
            </a:r>
            <a:r>
              <a:rPr lang="en-US" sz="1600" dirty="0" smtClean="0">
                <a:solidFill>
                  <a:srgbClr val="B5CEA8"/>
                </a:solidFill>
                <a:latin typeface="Consolas"/>
              </a:rPr>
              <a:t>2</a:t>
            </a:r>
            <a:r>
              <a:rPr lang="en-US" sz="1600" dirty="0" smtClean="0">
                <a:solidFill>
                  <a:srgbClr val="D4D4D4"/>
                </a:solidFill>
                <a:latin typeface="Consolas"/>
              </a:rPr>
              <a:t>: </a:t>
            </a:r>
            <a:r>
              <a:rPr lang="en-US" sz="1600" dirty="0" smtClean="0">
                <a:solidFill>
                  <a:srgbClr val="CE9178"/>
                </a:solidFill>
                <a:latin typeface="Consolas"/>
              </a:rPr>
              <a:t>"February"</a:t>
            </a:r>
            <a:r>
              <a:rPr lang="en-US" sz="1600" dirty="0" smtClean="0">
                <a:solidFill>
                  <a:srgbClr val="D4D4D4"/>
                </a:solidFill>
                <a:latin typeface="Consolas"/>
              </a:rPr>
              <a:t>, </a:t>
            </a:r>
            <a:r>
              <a:rPr lang="en-US" sz="1600" dirty="0" smtClean="0">
                <a:solidFill>
                  <a:srgbClr val="B5CEA8"/>
                </a:solidFill>
                <a:latin typeface="Consolas"/>
              </a:rPr>
              <a:t>3</a:t>
            </a:r>
            <a:r>
              <a:rPr lang="en-US" sz="1600" dirty="0" smtClean="0">
                <a:solidFill>
                  <a:srgbClr val="D4D4D4"/>
                </a:solidFill>
                <a:latin typeface="Consolas"/>
              </a:rPr>
              <a:t>: </a:t>
            </a:r>
            <a:r>
              <a:rPr lang="en-US" sz="1600" dirty="0" smtClean="0">
                <a:solidFill>
                  <a:srgbClr val="CE9178"/>
                </a:solidFill>
                <a:latin typeface="Consolas"/>
              </a:rPr>
              <a:t>"March"</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B5CEA8"/>
                </a:solidFill>
                <a:latin typeface="Consolas"/>
              </a:rPr>
              <a:t>4</a:t>
            </a:r>
            <a:r>
              <a:rPr lang="en-US" sz="1600" dirty="0" smtClean="0">
                <a:solidFill>
                  <a:srgbClr val="D4D4D4"/>
                </a:solidFill>
                <a:latin typeface="Consolas"/>
              </a:rPr>
              <a:t>: </a:t>
            </a:r>
            <a:r>
              <a:rPr lang="en-US" sz="1600" dirty="0" smtClean="0">
                <a:solidFill>
                  <a:srgbClr val="CE9178"/>
                </a:solidFill>
                <a:latin typeface="Consolas"/>
              </a:rPr>
              <a:t>"April"</a:t>
            </a:r>
            <a:r>
              <a:rPr lang="en-US" sz="1600" dirty="0" smtClean="0">
                <a:solidFill>
                  <a:srgbClr val="D4D4D4"/>
                </a:solidFill>
                <a:latin typeface="Consolas"/>
              </a:rPr>
              <a:t>, </a:t>
            </a:r>
            <a:r>
              <a:rPr lang="en-US" sz="1600" dirty="0" smtClean="0">
                <a:solidFill>
                  <a:srgbClr val="B5CEA8"/>
                </a:solidFill>
                <a:latin typeface="Consolas"/>
              </a:rPr>
              <a:t>5</a:t>
            </a:r>
            <a:r>
              <a:rPr lang="en-US" sz="1600" dirty="0" smtClean="0">
                <a:solidFill>
                  <a:srgbClr val="D4D4D4"/>
                </a:solidFill>
                <a:latin typeface="Consolas"/>
              </a:rPr>
              <a:t>: </a:t>
            </a:r>
            <a:r>
              <a:rPr lang="en-US" sz="1600" dirty="0" smtClean="0">
                <a:solidFill>
                  <a:srgbClr val="CE9178"/>
                </a:solidFill>
                <a:latin typeface="Consolas"/>
              </a:rPr>
              <a:t>"May"</a:t>
            </a:r>
            <a:r>
              <a:rPr lang="en-US" sz="1600" dirty="0" smtClean="0">
                <a:solidFill>
                  <a:srgbClr val="D4D4D4"/>
                </a:solidFill>
                <a:latin typeface="Consolas"/>
              </a:rPr>
              <a:t>, </a:t>
            </a:r>
            <a:r>
              <a:rPr lang="en-US" sz="1600" dirty="0" smtClean="0">
                <a:solidFill>
                  <a:srgbClr val="B5CEA8"/>
                </a:solidFill>
                <a:latin typeface="Consolas"/>
              </a:rPr>
              <a:t>6</a:t>
            </a:r>
            <a:r>
              <a:rPr lang="en-US" sz="1600" dirty="0" smtClean="0">
                <a:solidFill>
                  <a:srgbClr val="D4D4D4"/>
                </a:solidFill>
                <a:latin typeface="Consolas"/>
              </a:rPr>
              <a:t>: </a:t>
            </a:r>
            <a:r>
              <a:rPr lang="en-US" sz="1600" dirty="0" smtClean="0">
                <a:solidFill>
                  <a:srgbClr val="CE9178"/>
                </a:solidFill>
                <a:latin typeface="Consolas"/>
              </a:rPr>
              <a:t>"June"</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B5CEA8"/>
                </a:solidFill>
                <a:latin typeface="Consolas"/>
              </a:rPr>
              <a:t>7</a:t>
            </a:r>
            <a:r>
              <a:rPr lang="en-US" sz="1600" dirty="0" smtClean="0">
                <a:solidFill>
                  <a:srgbClr val="D4D4D4"/>
                </a:solidFill>
                <a:latin typeface="Consolas"/>
              </a:rPr>
              <a:t>: </a:t>
            </a:r>
            <a:r>
              <a:rPr lang="en-US" sz="1600" dirty="0" smtClean="0">
                <a:solidFill>
                  <a:srgbClr val="CE9178"/>
                </a:solidFill>
                <a:latin typeface="Consolas"/>
              </a:rPr>
              <a:t>"July"</a:t>
            </a:r>
            <a:r>
              <a:rPr lang="en-US" sz="1600" dirty="0" smtClean="0">
                <a:solidFill>
                  <a:srgbClr val="D4D4D4"/>
                </a:solidFill>
                <a:latin typeface="Consolas"/>
              </a:rPr>
              <a:t>, </a:t>
            </a:r>
            <a:r>
              <a:rPr lang="en-US" sz="1600" dirty="0" smtClean="0">
                <a:solidFill>
                  <a:srgbClr val="B5CEA8"/>
                </a:solidFill>
                <a:latin typeface="Consolas"/>
              </a:rPr>
              <a:t>8</a:t>
            </a:r>
            <a:r>
              <a:rPr lang="en-US" sz="1600" dirty="0" smtClean="0">
                <a:solidFill>
                  <a:srgbClr val="D4D4D4"/>
                </a:solidFill>
                <a:latin typeface="Consolas"/>
              </a:rPr>
              <a:t>: </a:t>
            </a:r>
            <a:r>
              <a:rPr lang="en-US" sz="1600" dirty="0" smtClean="0">
                <a:solidFill>
                  <a:srgbClr val="CE9178"/>
                </a:solidFill>
                <a:latin typeface="Consolas"/>
              </a:rPr>
              <a:t>"August"</a:t>
            </a:r>
            <a:r>
              <a:rPr lang="en-US" sz="1600" dirty="0" smtClean="0">
                <a:solidFill>
                  <a:srgbClr val="D4D4D4"/>
                </a:solidFill>
                <a:latin typeface="Consolas"/>
              </a:rPr>
              <a:t>, </a:t>
            </a:r>
            <a:r>
              <a:rPr lang="en-US" sz="1600" dirty="0" smtClean="0">
                <a:solidFill>
                  <a:srgbClr val="B5CEA8"/>
                </a:solidFill>
                <a:latin typeface="Consolas"/>
              </a:rPr>
              <a:t>9</a:t>
            </a:r>
            <a:r>
              <a:rPr lang="en-US" sz="1600" dirty="0" smtClean="0">
                <a:solidFill>
                  <a:srgbClr val="D4D4D4"/>
                </a:solidFill>
                <a:latin typeface="Consolas"/>
              </a:rPr>
              <a:t>: </a:t>
            </a:r>
            <a:r>
              <a:rPr lang="en-US" sz="1600" dirty="0" smtClean="0">
                <a:solidFill>
                  <a:srgbClr val="CE9178"/>
                </a:solidFill>
                <a:latin typeface="Consolas"/>
              </a:rPr>
              <a:t>"September"</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B5CEA8"/>
                </a:solidFill>
                <a:latin typeface="Consolas"/>
              </a:rPr>
              <a:t>10</a:t>
            </a:r>
            <a:r>
              <a:rPr lang="en-US" sz="1600" dirty="0" smtClean="0">
                <a:solidFill>
                  <a:srgbClr val="D4D4D4"/>
                </a:solidFill>
                <a:latin typeface="Consolas"/>
              </a:rPr>
              <a:t>: </a:t>
            </a:r>
            <a:r>
              <a:rPr lang="en-US" sz="1600" dirty="0" smtClean="0">
                <a:solidFill>
                  <a:srgbClr val="CE9178"/>
                </a:solidFill>
                <a:latin typeface="Consolas"/>
              </a:rPr>
              <a:t>"October"</a:t>
            </a:r>
            <a:r>
              <a:rPr lang="en-US" sz="1600" dirty="0" smtClean="0">
                <a:solidFill>
                  <a:srgbClr val="D4D4D4"/>
                </a:solidFill>
                <a:latin typeface="Consolas"/>
              </a:rPr>
              <a:t>, </a:t>
            </a:r>
            <a:r>
              <a:rPr lang="en-US" sz="1600" dirty="0" smtClean="0">
                <a:solidFill>
                  <a:srgbClr val="B5CEA8"/>
                </a:solidFill>
                <a:latin typeface="Consolas"/>
              </a:rPr>
              <a:t>11</a:t>
            </a:r>
            <a:r>
              <a:rPr lang="en-US" sz="1600" dirty="0" smtClean="0">
                <a:solidFill>
                  <a:srgbClr val="D4D4D4"/>
                </a:solidFill>
                <a:latin typeface="Consolas"/>
              </a:rPr>
              <a:t>: </a:t>
            </a:r>
            <a:r>
              <a:rPr lang="en-US" sz="1600" dirty="0" smtClean="0">
                <a:solidFill>
                  <a:srgbClr val="CE9178"/>
                </a:solidFill>
                <a:latin typeface="Consolas"/>
              </a:rPr>
              <a:t>"November"</a:t>
            </a:r>
            <a:r>
              <a:rPr lang="en-US" sz="1600" dirty="0" smtClean="0">
                <a:solidFill>
                  <a:srgbClr val="D4D4D4"/>
                </a:solidFill>
                <a:latin typeface="Consolas"/>
              </a:rPr>
              <a:t>, </a:t>
            </a:r>
            <a:r>
              <a:rPr lang="en-US" sz="1600" dirty="0" smtClean="0">
                <a:solidFill>
                  <a:srgbClr val="B5CEA8"/>
                </a:solidFill>
                <a:latin typeface="Consolas"/>
              </a:rPr>
              <a:t>12</a:t>
            </a:r>
            <a:r>
              <a:rPr lang="en-US" sz="1600" dirty="0" smtClean="0">
                <a:solidFill>
                  <a:srgbClr val="D4D4D4"/>
                </a:solidFill>
                <a:latin typeface="Consolas"/>
              </a:rPr>
              <a:t>: </a:t>
            </a:r>
            <a:r>
              <a:rPr lang="en-US" sz="1600" dirty="0" smtClean="0">
                <a:solidFill>
                  <a:srgbClr val="CE9178"/>
                </a:solidFill>
                <a:latin typeface="Consolas"/>
              </a:rPr>
              <a:t>"December"</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9CDCFE"/>
                </a:solidFill>
                <a:latin typeface="Consolas"/>
              </a:rPr>
              <a:t>Q2</a:t>
            </a:r>
            <a:r>
              <a:rPr lang="en-US" sz="1600" dirty="0" smtClean="0">
                <a:solidFill>
                  <a:srgbClr val="D4D4D4"/>
                </a:solidFill>
                <a:latin typeface="Consolas"/>
              </a:rPr>
              <a:t> := months[</a:t>
            </a:r>
            <a:r>
              <a:rPr lang="en-US" sz="1600" dirty="0" smtClean="0">
                <a:solidFill>
                  <a:srgbClr val="B5CEA8"/>
                </a:solidFill>
                <a:latin typeface="Consolas"/>
              </a:rPr>
              <a:t>4</a:t>
            </a:r>
            <a:r>
              <a:rPr lang="en-US" sz="1600" dirty="0" smtClean="0">
                <a:solidFill>
                  <a:srgbClr val="D4D4D4"/>
                </a:solidFill>
                <a:latin typeface="Consolas"/>
              </a:rPr>
              <a:t>:</a:t>
            </a:r>
            <a:r>
              <a:rPr lang="en-US" sz="1600" dirty="0" smtClean="0">
                <a:solidFill>
                  <a:srgbClr val="B5CEA8"/>
                </a:solidFill>
                <a:latin typeface="Consolas"/>
              </a:rPr>
              <a:t>7</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(Q2)</a:t>
            </a:r>
          </a:p>
          <a:p>
            <a:r>
              <a:rPr lang="en-US" sz="1600" dirty="0" smtClean="0">
                <a:solidFill>
                  <a:srgbClr val="D4D4D4"/>
                </a:solidFill>
                <a:latin typeface="Consolas"/>
              </a:rPr>
              <a:t>    </a:t>
            </a:r>
            <a:r>
              <a:rPr lang="en-US" sz="1600" dirty="0" smtClean="0">
                <a:solidFill>
                  <a:srgbClr val="9CDCFE"/>
                </a:solidFill>
                <a:latin typeface="Consolas"/>
              </a:rPr>
              <a:t>summer</a:t>
            </a:r>
            <a:r>
              <a:rPr lang="en-US" sz="1600" dirty="0" smtClean="0">
                <a:solidFill>
                  <a:srgbClr val="D4D4D4"/>
                </a:solidFill>
                <a:latin typeface="Consolas"/>
              </a:rPr>
              <a:t> := months[</a:t>
            </a:r>
            <a:r>
              <a:rPr lang="en-US" sz="1600" dirty="0" smtClean="0">
                <a:solidFill>
                  <a:srgbClr val="B5CEA8"/>
                </a:solidFill>
                <a:latin typeface="Consolas"/>
              </a:rPr>
              <a:t>6</a:t>
            </a:r>
            <a:r>
              <a:rPr lang="en-US" sz="1600" dirty="0" smtClean="0">
                <a:solidFill>
                  <a:srgbClr val="D4D4D4"/>
                </a:solidFill>
                <a:latin typeface="Consolas"/>
              </a:rPr>
              <a:t>:</a:t>
            </a:r>
            <a:r>
              <a:rPr lang="en-US" sz="1600" dirty="0" smtClean="0">
                <a:solidFill>
                  <a:srgbClr val="B5CEA8"/>
                </a:solidFill>
                <a:latin typeface="Consolas"/>
              </a:rPr>
              <a:t>9</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(summer)</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Printf</a:t>
            </a:r>
            <a:r>
              <a:rPr lang="en-US" sz="1600" dirty="0" smtClean="0">
                <a:solidFill>
                  <a:srgbClr val="D4D4D4"/>
                </a:solidFill>
                <a:latin typeface="Consolas"/>
              </a:rPr>
              <a:t>(</a:t>
            </a:r>
            <a:r>
              <a:rPr lang="en-US" sz="1600" dirty="0" smtClean="0">
                <a:solidFill>
                  <a:srgbClr val="CE9178"/>
                </a:solidFill>
                <a:latin typeface="Consolas"/>
              </a:rPr>
              <a:t>"Q2 </a:t>
            </a:r>
            <a:r>
              <a:rPr lang="en-US" sz="1600" dirty="0" err="1" smtClean="0">
                <a:solidFill>
                  <a:srgbClr val="CE9178"/>
                </a:solidFill>
                <a:latin typeface="Consolas"/>
              </a:rPr>
              <a:t>len</a:t>
            </a:r>
            <a:r>
              <a:rPr lang="en-US" sz="1600" dirty="0" smtClean="0">
                <a:solidFill>
                  <a:srgbClr val="CE9178"/>
                </a:solidFill>
                <a:latin typeface="Consolas"/>
              </a:rPr>
              <a:t>: </a:t>
            </a:r>
            <a:r>
              <a:rPr lang="en-US" sz="1600" dirty="0" smtClean="0">
                <a:solidFill>
                  <a:srgbClr val="9CDCFE"/>
                </a:solidFill>
                <a:latin typeface="Consolas"/>
              </a:rPr>
              <a:t>%d</a:t>
            </a:r>
            <a:r>
              <a:rPr lang="en-US" sz="1600" dirty="0" smtClean="0">
                <a:solidFill>
                  <a:srgbClr val="CE9178"/>
                </a:solidFill>
                <a:latin typeface="Consolas"/>
              </a:rPr>
              <a:t> Q2 cap: </a:t>
            </a:r>
            <a:r>
              <a:rPr lang="en-US" sz="1600" dirty="0" smtClean="0">
                <a:solidFill>
                  <a:srgbClr val="9CDCFE"/>
                </a:solidFill>
                <a:latin typeface="Consolas"/>
              </a:rPr>
              <a:t>%d</a:t>
            </a:r>
            <a:r>
              <a:rPr lang="en-US" sz="1600" dirty="0" smtClean="0">
                <a:solidFill>
                  <a:srgbClr val="D7BA7D"/>
                </a:solidFill>
                <a:latin typeface="Consolas"/>
              </a:rPr>
              <a:t>\n</a:t>
            </a:r>
            <a:r>
              <a:rPr lang="en-US" sz="1600" dirty="0" smtClean="0">
                <a:solidFill>
                  <a:srgbClr val="CE9178"/>
                </a:solidFill>
                <a:latin typeface="Consolas"/>
              </a:rPr>
              <a:t>"</a:t>
            </a:r>
            <a:r>
              <a:rPr lang="en-US" sz="1600" dirty="0" smtClean="0">
                <a:solidFill>
                  <a:srgbClr val="D4D4D4"/>
                </a:solidFill>
                <a:latin typeface="Consolas"/>
              </a:rPr>
              <a:t>, </a:t>
            </a:r>
            <a:r>
              <a:rPr lang="en-US" sz="1600" dirty="0" err="1" smtClean="0">
                <a:solidFill>
                  <a:srgbClr val="DCDCAA"/>
                </a:solidFill>
                <a:latin typeface="Consolas"/>
              </a:rPr>
              <a:t>len</a:t>
            </a:r>
            <a:r>
              <a:rPr lang="en-US" sz="1600" dirty="0" smtClean="0">
                <a:solidFill>
                  <a:srgbClr val="D4D4D4"/>
                </a:solidFill>
                <a:latin typeface="Consolas"/>
              </a:rPr>
              <a:t>(Q2), </a:t>
            </a:r>
            <a:r>
              <a:rPr lang="en-US" sz="1600" dirty="0" smtClean="0">
                <a:solidFill>
                  <a:srgbClr val="DCDCAA"/>
                </a:solidFill>
                <a:latin typeface="Consolas"/>
              </a:rPr>
              <a:t>cap</a:t>
            </a:r>
            <a:r>
              <a:rPr lang="en-US" sz="1600" dirty="0" smtClean="0">
                <a:solidFill>
                  <a:srgbClr val="D4D4D4"/>
                </a:solidFill>
                <a:latin typeface="Consolas"/>
              </a:rPr>
              <a:t>(Q2))</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Printf</a:t>
            </a:r>
            <a:r>
              <a:rPr lang="en-US" sz="1600" dirty="0" smtClean="0">
                <a:solidFill>
                  <a:srgbClr val="D4D4D4"/>
                </a:solidFill>
                <a:latin typeface="Consolas"/>
              </a:rPr>
              <a:t>(</a:t>
            </a:r>
            <a:r>
              <a:rPr lang="en-US" sz="1600" dirty="0" smtClean="0">
                <a:solidFill>
                  <a:srgbClr val="CE9178"/>
                </a:solidFill>
                <a:latin typeface="Consolas"/>
              </a:rPr>
              <a:t>"summer </a:t>
            </a:r>
            <a:r>
              <a:rPr lang="en-US" sz="1600" dirty="0" err="1" smtClean="0">
                <a:solidFill>
                  <a:srgbClr val="CE9178"/>
                </a:solidFill>
                <a:latin typeface="Consolas"/>
              </a:rPr>
              <a:t>len</a:t>
            </a:r>
            <a:r>
              <a:rPr lang="en-US" sz="1600" dirty="0" smtClean="0">
                <a:solidFill>
                  <a:srgbClr val="CE9178"/>
                </a:solidFill>
                <a:latin typeface="Consolas"/>
              </a:rPr>
              <a:t>: </a:t>
            </a:r>
            <a:r>
              <a:rPr lang="en-US" sz="1600" dirty="0" smtClean="0">
                <a:solidFill>
                  <a:srgbClr val="9CDCFE"/>
                </a:solidFill>
                <a:latin typeface="Consolas"/>
              </a:rPr>
              <a:t>%d</a:t>
            </a:r>
            <a:r>
              <a:rPr lang="en-US" sz="1600" dirty="0" smtClean="0">
                <a:solidFill>
                  <a:srgbClr val="CE9178"/>
                </a:solidFill>
                <a:latin typeface="Consolas"/>
              </a:rPr>
              <a:t> summer cap: </a:t>
            </a:r>
            <a:r>
              <a:rPr lang="en-US" sz="1600" dirty="0" smtClean="0">
                <a:solidFill>
                  <a:srgbClr val="9CDCFE"/>
                </a:solidFill>
                <a:latin typeface="Consolas"/>
              </a:rPr>
              <a:t>%d</a:t>
            </a:r>
            <a:r>
              <a:rPr lang="en-US" sz="1600" dirty="0" smtClean="0">
                <a:solidFill>
                  <a:srgbClr val="D7BA7D"/>
                </a:solidFill>
                <a:latin typeface="Consolas"/>
              </a:rPr>
              <a:t>\n</a:t>
            </a:r>
            <a:r>
              <a:rPr lang="en-US" sz="1600" dirty="0" smtClean="0">
                <a:solidFill>
                  <a:srgbClr val="CE9178"/>
                </a:solidFill>
                <a:latin typeface="Consolas"/>
              </a:rPr>
              <a:t>"</a:t>
            </a:r>
            <a:r>
              <a:rPr lang="en-US" sz="1600" dirty="0" smtClean="0">
                <a:solidFill>
                  <a:srgbClr val="D4D4D4"/>
                </a:solidFill>
                <a:latin typeface="Consolas"/>
              </a:rPr>
              <a:t>, </a:t>
            </a:r>
            <a:r>
              <a:rPr lang="en-US" sz="1600" dirty="0" err="1" smtClean="0">
                <a:solidFill>
                  <a:srgbClr val="DCDCAA"/>
                </a:solidFill>
                <a:latin typeface="Consolas"/>
              </a:rPr>
              <a:t>len</a:t>
            </a:r>
            <a:r>
              <a:rPr lang="en-US" sz="1600" dirty="0" smtClean="0">
                <a:solidFill>
                  <a:srgbClr val="D4D4D4"/>
                </a:solidFill>
                <a:latin typeface="Consolas"/>
              </a:rPr>
              <a:t>(summer), </a:t>
            </a:r>
            <a:r>
              <a:rPr lang="en-US" sz="1600" dirty="0" smtClean="0">
                <a:solidFill>
                  <a:srgbClr val="DCDCAA"/>
                </a:solidFill>
                <a:latin typeface="Consolas"/>
              </a:rPr>
              <a:t>cap</a:t>
            </a:r>
            <a:r>
              <a:rPr lang="en-US" sz="1600" dirty="0" smtClean="0">
                <a:solidFill>
                  <a:srgbClr val="D4D4D4"/>
                </a:solidFill>
                <a:latin typeface="Consolas"/>
              </a:rPr>
              <a:t>(summer))</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Slides and Underlying Array</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981200" y="1676400"/>
            <a:ext cx="4908071" cy="4429235"/>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Maps</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hash table</a:t>
            </a:r>
            <a:r>
              <a:rPr lang="en-US" sz="2400" dirty="0" smtClean="0"/>
              <a:t> is an unordered collection of key/value pairs in which all the keys are distinct, and the value associated with a given key can be retrieved, updated, or removed using a constant number of key comparisons on the average, no matter how large the hash table.</a:t>
            </a:r>
          </a:p>
          <a:p>
            <a:r>
              <a:rPr lang="en-US" sz="2400" dirty="0" smtClean="0"/>
              <a:t>In Go, a </a:t>
            </a:r>
            <a:r>
              <a:rPr lang="en-US" sz="2400" i="1" dirty="0" smtClean="0">
                <a:solidFill>
                  <a:srgbClr val="C00000"/>
                </a:solidFill>
              </a:rPr>
              <a:t>map</a:t>
            </a:r>
            <a:r>
              <a:rPr lang="en-US" sz="2400" dirty="0" smtClean="0"/>
              <a:t> is a reference to a hash table, and a map type is written map[K]V, where K and V are the types of its keys and values.</a:t>
            </a:r>
          </a:p>
        </p:txBody>
      </p:sp>
      <p:sp>
        <p:nvSpPr>
          <p:cNvPr id="5" name="Content Placeholder 2"/>
          <p:cNvSpPr txBox="1">
            <a:spLocks/>
          </p:cNvSpPr>
          <p:nvPr/>
        </p:nvSpPr>
        <p:spPr bwMode="auto">
          <a:xfrm>
            <a:off x="457200" y="4953000"/>
            <a:ext cx="8229600" cy="1371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smtClean="0">
                <a:solidFill>
                  <a:srgbClr val="D4D4D4"/>
                </a:solidFill>
                <a:latin typeface="Consolas"/>
              </a:rPr>
              <a:t>    </a:t>
            </a:r>
            <a:r>
              <a:rPr lang="en-US" sz="2000" dirty="0" smtClean="0">
                <a:solidFill>
                  <a:srgbClr val="9CDCFE"/>
                </a:solidFill>
                <a:latin typeface="Consolas"/>
              </a:rPr>
              <a:t>ages</a:t>
            </a:r>
            <a:r>
              <a:rPr lang="en-US" sz="2000" dirty="0" smtClean="0">
                <a:solidFill>
                  <a:srgbClr val="D4D4D4"/>
                </a:solidFill>
                <a:latin typeface="Consolas"/>
              </a:rPr>
              <a:t> := </a:t>
            </a:r>
            <a:r>
              <a:rPr lang="en-US" sz="2000" dirty="0" smtClean="0">
                <a:solidFill>
                  <a:srgbClr val="DCDCAA"/>
                </a:solidFill>
                <a:latin typeface="Consolas"/>
              </a:rPr>
              <a:t>make</a:t>
            </a:r>
            <a:r>
              <a:rPr lang="en-US" sz="2000" dirty="0" smtClean="0">
                <a:solidFill>
                  <a:srgbClr val="D4D4D4"/>
                </a:solidFill>
                <a:latin typeface="Consolas"/>
              </a:rPr>
              <a:t>(</a:t>
            </a:r>
            <a:r>
              <a:rPr lang="en-US" sz="2000" dirty="0" smtClean="0">
                <a:solidFill>
                  <a:srgbClr val="569CD6"/>
                </a:solidFill>
                <a:latin typeface="Consolas"/>
              </a:rPr>
              <a:t>map</a:t>
            </a:r>
            <a:r>
              <a:rPr lang="en-US" sz="2000" dirty="0" smtClean="0">
                <a:solidFill>
                  <a:srgbClr val="D4D4D4"/>
                </a:solidFill>
                <a:latin typeface="Consolas"/>
              </a:rPr>
              <a:t>[</a:t>
            </a:r>
            <a:r>
              <a:rPr lang="en-US" sz="2000" dirty="0" smtClean="0">
                <a:solidFill>
                  <a:srgbClr val="4EC9B0"/>
                </a:solidFill>
                <a:latin typeface="Consolas"/>
              </a:rPr>
              <a:t>string</a:t>
            </a:r>
            <a:r>
              <a:rPr lang="en-US" sz="2000" dirty="0" smtClean="0">
                <a:solidFill>
                  <a:srgbClr val="D4D4D4"/>
                </a:solidFill>
                <a:latin typeface="Consolas"/>
              </a:rPr>
              <a:t>]</a:t>
            </a:r>
            <a:r>
              <a:rPr lang="en-US" sz="2000" dirty="0" err="1" smtClean="0">
                <a:solidFill>
                  <a:srgbClr val="4EC9B0"/>
                </a:solidFill>
                <a:latin typeface="Consolas"/>
              </a:rPr>
              <a:t>int</a:t>
            </a:r>
            <a:r>
              <a:rPr lang="en-US" sz="2000" dirty="0" smtClean="0">
                <a:solidFill>
                  <a:srgbClr val="D4D4D4"/>
                </a:solidFill>
                <a:latin typeface="Consolas"/>
              </a:rPr>
              <a:t>)</a:t>
            </a:r>
          </a:p>
          <a:p>
            <a:r>
              <a:rPr lang="en-US" sz="2000" dirty="0" smtClean="0">
                <a:solidFill>
                  <a:srgbClr val="D4D4D4"/>
                </a:solidFill>
                <a:latin typeface="Consolas"/>
              </a:rPr>
              <a:t>    ages[</a:t>
            </a:r>
            <a:r>
              <a:rPr lang="en-US" sz="2000" dirty="0" smtClean="0">
                <a:solidFill>
                  <a:srgbClr val="CE9178"/>
                </a:solidFill>
                <a:latin typeface="Consolas"/>
              </a:rPr>
              <a:t>"</a:t>
            </a:r>
            <a:r>
              <a:rPr lang="en-US" sz="2000" dirty="0" err="1" smtClean="0">
                <a:solidFill>
                  <a:srgbClr val="CE9178"/>
                </a:solidFill>
                <a:latin typeface="Consolas"/>
              </a:rPr>
              <a:t>alice</a:t>
            </a:r>
            <a:r>
              <a:rPr lang="en-US" sz="2000" dirty="0" smtClean="0">
                <a:solidFill>
                  <a:srgbClr val="CE9178"/>
                </a:solidFill>
                <a:latin typeface="Consolas"/>
              </a:rPr>
              <a:t>"</a:t>
            </a:r>
            <a:r>
              <a:rPr lang="en-US" sz="2000" dirty="0" smtClean="0">
                <a:solidFill>
                  <a:srgbClr val="D4D4D4"/>
                </a:solidFill>
                <a:latin typeface="Consolas"/>
              </a:rPr>
              <a:t>] = </a:t>
            </a:r>
            <a:r>
              <a:rPr lang="en-US" sz="2000" dirty="0" smtClean="0">
                <a:solidFill>
                  <a:srgbClr val="B5CEA8"/>
                </a:solidFill>
                <a:latin typeface="Consolas"/>
              </a:rPr>
              <a:t>31</a:t>
            </a:r>
            <a:endParaRPr lang="en-US" sz="2000" dirty="0" smtClean="0">
              <a:solidFill>
                <a:srgbClr val="D4D4D4"/>
              </a:solidFill>
              <a:latin typeface="Consolas"/>
            </a:endParaRPr>
          </a:p>
          <a:p>
            <a:r>
              <a:rPr lang="en-US" sz="2000" dirty="0" smtClean="0">
                <a:solidFill>
                  <a:srgbClr val="D4D4D4"/>
                </a:solidFill>
                <a:latin typeface="Consolas"/>
              </a:rPr>
              <a:t>    ages[</a:t>
            </a:r>
            <a:r>
              <a:rPr lang="en-US" sz="2000" dirty="0" smtClean="0">
                <a:solidFill>
                  <a:srgbClr val="CE9178"/>
                </a:solidFill>
                <a:latin typeface="Consolas"/>
              </a:rPr>
              <a:t>"</a:t>
            </a:r>
            <a:r>
              <a:rPr lang="en-US" sz="2000" dirty="0" err="1" smtClean="0">
                <a:solidFill>
                  <a:srgbClr val="CE9178"/>
                </a:solidFill>
                <a:latin typeface="Consolas"/>
              </a:rPr>
              <a:t>charlie</a:t>
            </a:r>
            <a:r>
              <a:rPr lang="en-US" sz="2000" dirty="0" smtClean="0">
                <a:solidFill>
                  <a:srgbClr val="CE9178"/>
                </a:solidFill>
                <a:latin typeface="Consolas"/>
              </a:rPr>
              <a:t>"</a:t>
            </a:r>
            <a:r>
              <a:rPr lang="en-US" sz="2000" dirty="0" smtClean="0">
                <a:solidFill>
                  <a:srgbClr val="D4D4D4"/>
                </a:solidFill>
                <a:latin typeface="Consolas"/>
              </a:rPr>
              <a:t>] = </a:t>
            </a:r>
            <a:r>
              <a:rPr lang="en-US" sz="2000" dirty="0" smtClean="0">
                <a:solidFill>
                  <a:srgbClr val="B5CEA8"/>
                </a:solidFill>
                <a:latin typeface="Consolas"/>
              </a:rPr>
              <a:t>34</a:t>
            </a:r>
            <a:endParaRPr lang="en-US" sz="2000" dirty="0" smtClean="0">
              <a:solidFill>
                <a:srgbClr val="D4D4D4"/>
              </a:solidFill>
              <a:latin typeface="Consolas"/>
            </a:endParaRP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(ages[</a:t>
            </a:r>
            <a:r>
              <a:rPr lang="en-US" sz="2000" dirty="0" smtClean="0">
                <a:solidFill>
                  <a:srgbClr val="CE9178"/>
                </a:solidFill>
                <a:latin typeface="Consolas"/>
              </a:rPr>
              <a:t>"</a:t>
            </a:r>
            <a:r>
              <a:rPr lang="en-US" sz="2000" dirty="0" err="1" smtClean="0">
                <a:solidFill>
                  <a:srgbClr val="CE9178"/>
                </a:solidFill>
                <a:latin typeface="Consolas"/>
              </a:rPr>
              <a:t>alice</a:t>
            </a:r>
            <a:r>
              <a:rPr lang="en-US" sz="2000" dirty="0" smtClean="0">
                <a:solidFill>
                  <a:srgbClr val="CE9178"/>
                </a:solidFill>
                <a:latin typeface="Consolas"/>
              </a:rPr>
              <a:t>"</a:t>
            </a:r>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nsolas" pitchFamily="49" charset="0"/>
              </a:rPr>
              <a:t>range</a:t>
            </a:r>
            <a:endParaRPr lang="en-US" dirty="0">
              <a:latin typeface="Consolas" pitchFamily="49" charset="0"/>
            </a:endParaRPr>
          </a:p>
        </p:txBody>
      </p:sp>
      <p:sp>
        <p:nvSpPr>
          <p:cNvPr id="4" name="Content Placeholder 2"/>
          <p:cNvSpPr txBox="1">
            <a:spLocks/>
          </p:cNvSpPr>
          <p:nvPr/>
        </p:nvSpPr>
        <p:spPr bwMode="auto">
          <a:xfrm>
            <a:off x="457200" y="1676400"/>
            <a:ext cx="8229600" cy="4648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9CDCFE"/>
                </a:solidFill>
                <a:latin typeface="Consolas"/>
              </a:rPr>
              <a:t>nums</a:t>
            </a:r>
            <a:r>
              <a:rPr lang="en-US" sz="1600" dirty="0" smtClean="0">
                <a:solidFill>
                  <a:srgbClr val="D4D4D4"/>
                </a:solidFill>
                <a:latin typeface="Consolas"/>
              </a:rPr>
              <a:t> := []</a:t>
            </a:r>
            <a:r>
              <a:rPr lang="en-US" sz="1600" dirty="0" err="1" smtClean="0">
                <a:solidFill>
                  <a:srgbClr val="4EC9B0"/>
                </a:solidFill>
                <a:latin typeface="Consolas"/>
              </a:rPr>
              <a:t>int</a:t>
            </a:r>
            <a:r>
              <a:rPr lang="en-US" sz="1600" dirty="0" smtClean="0">
                <a:solidFill>
                  <a:srgbClr val="D4D4D4"/>
                </a:solidFill>
                <a:latin typeface="Consolas"/>
              </a:rPr>
              <a:t>{</a:t>
            </a:r>
            <a:r>
              <a:rPr lang="en-US" sz="1600" dirty="0" smtClean="0">
                <a:solidFill>
                  <a:srgbClr val="B5CEA8"/>
                </a:solidFill>
                <a:latin typeface="Consolas"/>
              </a:rPr>
              <a:t>2</a:t>
            </a:r>
            <a:r>
              <a:rPr lang="en-US" sz="1600" dirty="0" smtClean="0">
                <a:solidFill>
                  <a:srgbClr val="D4D4D4"/>
                </a:solidFill>
                <a:latin typeface="Consolas"/>
              </a:rPr>
              <a:t>, </a:t>
            </a:r>
            <a:r>
              <a:rPr lang="en-US" sz="1600" dirty="0" smtClean="0">
                <a:solidFill>
                  <a:srgbClr val="B5CEA8"/>
                </a:solidFill>
                <a:latin typeface="Consolas"/>
              </a:rPr>
              <a:t>3</a:t>
            </a:r>
            <a:r>
              <a:rPr lang="en-US" sz="1600" dirty="0" smtClean="0">
                <a:solidFill>
                  <a:srgbClr val="D4D4D4"/>
                </a:solidFill>
                <a:latin typeface="Consolas"/>
              </a:rPr>
              <a:t>, </a:t>
            </a:r>
            <a:r>
              <a:rPr lang="en-US" sz="1600" dirty="0" smtClean="0">
                <a:solidFill>
                  <a:srgbClr val="B5CEA8"/>
                </a:solidFill>
                <a:latin typeface="Consolas"/>
              </a:rPr>
              <a:t>4</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6A9955"/>
                </a:solidFill>
                <a:latin typeface="Consolas"/>
              </a:rPr>
              <a:t>// range on arrays and slices provides both the index and value for each entry.</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r>
              <a:rPr lang="en-US" sz="1600" dirty="0" err="1" smtClean="0">
                <a:solidFill>
                  <a:srgbClr val="9CDCFE"/>
                </a:solidFill>
                <a:latin typeface="Consolas"/>
              </a:rPr>
              <a:t>i</a:t>
            </a:r>
            <a:r>
              <a:rPr lang="en-US" sz="1600" dirty="0" smtClean="0">
                <a:solidFill>
                  <a:srgbClr val="D4D4D4"/>
                </a:solidFill>
                <a:latin typeface="Consolas"/>
              </a:rPr>
              <a:t>, </a:t>
            </a:r>
            <a:r>
              <a:rPr lang="en-US" sz="1600" dirty="0" smtClean="0">
                <a:solidFill>
                  <a:srgbClr val="9CDCFE"/>
                </a:solidFill>
                <a:latin typeface="Consolas"/>
              </a:rPr>
              <a:t>num</a:t>
            </a:r>
            <a:r>
              <a:rPr lang="en-US" sz="1600" dirty="0" smtClean="0">
                <a:solidFill>
                  <a:srgbClr val="D4D4D4"/>
                </a:solidFill>
                <a:latin typeface="Consolas"/>
              </a:rPr>
              <a:t> := </a:t>
            </a:r>
            <a:r>
              <a:rPr lang="en-US" sz="1600" dirty="0" smtClean="0">
                <a:solidFill>
                  <a:srgbClr val="C586C0"/>
                </a:solidFill>
                <a:latin typeface="Consolas"/>
              </a:rPr>
              <a:t>range</a:t>
            </a:r>
            <a:r>
              <a:rPr lang="en-US" sz="1600" dirty="0" smtClean="0">
                <a:solidFill>
                  <a:srgbClr val="D4D4D4"/>
                </a:solidFill>
                <a:latin typeface="Consolas"/>
              </a:rPr>
              <a:t> </a:t>
            </a:r>
            <a:r>
              <a:rPr lang="en-US" sz="1600" dirty="0" err="1" smtClean="0">
                <a:solidFill>
                  <a:srgbClr val="D4D4D4"/>
                </a:solidFill>
                <a:latin typeface="Consolas"/>
              </a:rPr>
              <a:t>nums</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if</a:t>
            </a:r>
            <a:r>
              <a:rPr lang="en-US" sz="1600" dirty="0" smtClean="0">
                <a:solidFill>
                  <a:srgbClr val="D4D4D4"/>
                </a:solidFill>
                <a:latin typeface="Consolas"/>
              </a:rPr>
              <a:t> num == </a:t>
            </a:r>
            <a:r>
              <a:rPr lang="en-US" sz="1600" dirty="0" smtClean="0">
                <a:solidFill>
                  <a:srgbClr val="B5CEA8"/>
                </a:solidFill>
                <a:latin typeface="Consolas"/>
              </a:rPr>
              <a:t>3</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smtClean="0">
                <a:solidFill>
                  <a:srgbClr val="CE9178"/>
                </a:solidFill>
                <a:latin typeface="Consolas"/>
              </a:rPr>
              <a:t>"index:"</a:t>
            </a:r>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a:t>
            </a:r>
          </a:p>
          <a:p>
            <a:r>
              <a:rPr lang="en-US" sz="1600" dirty="0" smtClean="0">
                <a:solidFill>
                  <a:srgbClr val="D4D4D4"/>
                </a:solidFill>
                <a:latin typeface="Consolas"/>
              </a:rPr>
              <a:t>        }</a:t>
            </a:r>
          </a:p>
          <a:p>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9CDCFE"/>
                </a:solidFill>
                <a:latin typeface="Consolas"/>
              </a:rPr>
              <a:t>sum</a:t>
            </a:r>
            <a:r>
              <a:rPr lang="en-US" sz="1600" dirty="0" smtClean="0">
                <a:solidFill>
                  <a:srgbClr val="D4D4D4"/>
                </a:solidFill>
                <a:latin typeface="Consolas"/>
              </a:rPr>
              <a:t> := </a:t>
            </a:r>
            <a:r>
              <a:rPr lang="en-US" sz="1600" dirty="0" smtClean="0">
                <a:solidFill>
                  <a:srgbClr val="B5CEA8"/>
                </a:solidFill>
                <a:latin typeface="Consolas"/>
              </a:rPr>
              <a:t>0</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r>
              <a:rPr lang="en-US" sz="1600" dirty="0" smtClean="0">
                <a:solidFill>
                  <a:srgbClr val="9CDCFE"/>
                </a:solidFill>
                <a:latin typeface="Consolas"/>
              </a:rPr>
              <a:t>_</a:t>
            </a:r>
            <a:r>
              <a:rPr lang="en-US" sz="1600" dirty="0" smtClean="0">
                <a:solidFill>
                  <a:srgbClr val="D4D4D4"/>
                </a:solidFill>
                <a:latin typeface="Consolas"/>
              </a:rPr>
              <a:t>, </a:t>
            </a:r>
            <a:r>
              <a:rPr lang="en-US" sz="1600" dirty="0" smtClean="0">
                <a:solidFill>
                  <a:srgbClr val="9CDCFE"/>
                </a:solidFill>
                <a:latin typeface="Consolas"/>
              </a:rPr>
              <a:t>num</a:t>
            </a:r>
            <a:r>
              <a:rPr lang="en-US" sz="1600" dirty="0" smtClean="0">
                <a:solidFill>
                  <a:srgbClr val="D4D4D4"/>
                </a:solidFill>
                <a:latin typeface="Consolas"/>
              </a:rPr>
              <a:t> := </a:t>
            </a:r>
            <a:r>
              <a:rPr lang="en-US" sz="1600" dirty="0" smtClean="0">
                <a:solidFill>
                  <a:srgbClr val="C586C0"/>
                </a:solidFill>
                <a:latin typeface="Consolas"/>
              </a:rPr>
              <a:t>range</a:t>
            </a:r>
            <a:r>
              <a:rPr lang="en-US" sz="1600" dirty="0" smtClean="0">
                <a:solidFill>
                  <a:srgbClr val="D4D4D4"/>
                </a:solidFill>
                <a:latin typeface="Consolas"/>
              </a:rPr>
              <a:t> </a:t>
            </a:r>
            <a:r>
              <a:rPr lang="en-US" sz="1600" dirty="0" err="1" smtClean="0">
                <a:solidFill>
                  <a:srgbClr val="D4D4D4"/>
                </a:solidFill>
                <a:latin typeface="Consolas"/>
              </a:rPr>
              <a:t>nums</a:t>
            </a:r>
            <a:r>
              <a:rPr lang="en-US" sz="1600" dirty="0" smtClean="0">
                <a:solidFill>
                  <a:srgbClr val="D4D4D4"/>
                </a:solidFill>
                <a:latin typeface="Consolas"/>
              </a:rPr>
              <a:t> {</a:t>
            </a:r>
          </a:p>
          <a:p>
            <a:r>
              <a:rPr lang="en-US" sz="1600" dirty="0" smtClean="0">
                <a:solidFill>
                  <a:srgbClr val="D4D4D4"/>
                </a:solidFill>
                <a:latin typeface="Consolas"/>
              </a:rPr>
              <a:t>        sum += num</a:t>
            </a:r>
          </a:p>
          <a:p>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smtClean="0">
                <a:solidFill>
                  <a:srgbClr val="CE9178"/>
                </a:solidFill>
                <a:latin typeface="Consolas"/>
              </a:rPr>
              <a:t>"sum:"</a:t>
            </a:r>
            <a:r>
              <a:rPr lang="en-US" sz="1600" dirty="0" smtClean="0">
                <a:solidFill>
                  <a:srgbClr val="D4D4D4"/>
                </a:solidFill>
                <a:latin typeface="Consolas"/>
              </a:rPr>
              <a:t>, sum)</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Structs</a:t>
            </a:r>
            <a:endParaRPr lang="en-US" dirty="0"/>
          </a:p>
        </p:txBody>
      </p:sp>
      <p:sp>
        <p:nvSpPr>
          <p:cNvPr id="3" name="Content Placeholder 2"/>
          <p:cNvSpPr>
            <a:spLocks noGrp="1"/>
          </p:cNvSpPr>
          <p:nvPr>
            <p:ph idx="1"/>
          </p:nvPr>
        </p:nvSpPr>
        <p:spPr/>
        <p:txBody>
          <a:bodyPr/>
          <a:lstStyle/>
          <a:p>
            <a:r>
              <a:rPr lang="en-US" sz="2000" dirty="0" smtClean="0"/>
              <a:t>A </a:t>
            </a:r>
            <a:r>
              <a:rPr lang="en-US" sz="2000" i="1" dirty="0" err="1" smtClean="0">
                <a:solidFill>
                  <a:srgbClr val="C00000"/>
                </a:solidFill>
              </a:rPr>
              <a:t>struct</a:t>
            </a:r>
            <a:r>
              <a:rPr lang="en-US" sz="2000" dirty="0" smtClean="0"/>
              <a:t> is an aggregate data type that groups together zero or more named values of arbitrary types as a single entity.</a:t>
            </a:r>
          </a:p>
          <a:p>
            <a:r>
              <a:rPr lang="en-US" sz="2000" dirty="0" smtClean="0"/>
              <a:t>Each value is called a </a:t>
            </a:r>
            <a:r>
              <a:rPr lang="en-US" sz="2000" i="1" dirty="0" smtClean="0">
                <a:solidFill>
                  <a:srgbClr val="C00000"/>
                </a:solidFill>
              </a:rPr>
              <a:t>field</a:t>
            </a:r>
            <a:r>
              <a:rPr lang="en-US" sz="2000" dirty="0" smtClean="0"/>
              <a:t>.</a:t>
            </a:r>
            <a:endParaRPr lang="en-US" sz="2000" dirty="0"/>
          </a:p>
        </p:txBody>
      </p:sp>
      <p:sp>
        <p:nvSpPr>
          <p:cNvPr id="4" name="Content Placeholder 2"/>
          <p:cNvSpPr txBox="1">
            <a:spLocks/>
          </p:cNvSpPr>
          <p:nvPr/>
        </p:nvSpPr>
        <p:spPr bwMode="auto">
          <a:xfrm>
            <a:off x="457200" y="2819400"/>
            <a:ext cx="8229600" cy="3581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package</a:t>
            </a:r>
            <a:r>
              <a:rPr lang="en-US" sz="1600" dirty="0" smtClean="0">
                <a:solidFill>
                  <a:srgbClr val="D4D4D4"/>
                </a:solidFill>
                <a:latin typeface="Consolas"/>
              </a:rPr>
              <a:t> main</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import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fmt</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"math"</a:t>
            </a:r>
            <a:endParaRPr lang="en-US" sz="1600" dirty="0" smtClean="0">
              <a:solidFill>
                <a:srgbClr val="D4D4D4"/>
              </a:solidFill>
              <a:latin typeface="Consolas"/>
            </a:endParaRP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err="1" smtClean="0">
                <a:solidFill>
                  <a:srgbClr val="DCDCAA"/>
                </a:solidFill>
                <a:latin typeface="Consolas"/>
              </a:rPr>
              <a:t>hypot</a:t>
            </a:r>
            <a:r>
              <a:rPr lang="en-US" sz="1600" dirty="0" smtClean="0">
                <a:solidFill>
                  <a:srgbClr val="D4D4D4"/>
                </a:solidFill>
                <a:latin typeface="Consolas"/>
              </a:rPr>
              <a:t>(x, y </a:t>
            </a:r>
            <a:r>
              <a:rPr lang="en-US" sz="1600" dirty="0" smtClean="0">
                <a:solidFill>
                  <a:srgbClr val="4EC9B0"/>
                </a:solidFill>
                <a:latin typeface="Consolas"/>
              </a:rPr>
              <a:t>float64</a:t>
            </a:r>
            <a:r>
              <a:rPr lang="en-US" sz="1600" dirty="0" smtClean="0">
                <a:solidFill>
                  <a:srgbClr val="D4D4D4"/>
                </a:solidFill>
                <a:latin typeface="Consolas"/>
              </a:rPr>
              <a:t>) </a:t>
            </a:r>
            <a:r>
              <a:rPr lang="en-US" sz="1600" dirty="0" smtClean="0">
                <a:solidFill>
                  <a:srgbClr val="4EC9B0"/>
                </a:solidFill>
                <a:latin typeface="Consolas"/>
              </a:rPr>
              <a:t>float64</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err="1" smtClean="0">
                <a:solidFill>
                  <a:srgbClr val="D4D4D4"/>
                </a:solidFill>
                <a:latin typeface="Consolas"/>
              </a:rPr>
              <a:t>math.</a:t>
            </a:r>
            <a:r>
              <a:rPr lang="en-US" sz="1600" dirty="0" err="1" smtClean="0">
                <a:solidFill>
                  <a:srgbClr val="DCDCAA"/>
                </a:solidFill>
                <a:latin typeface="Consolas"/>
              </a:rPr>
              <a:t>Sqrt</a:t>
            </a:r>
            <a:r>
              <a:rPr lang="en-US" sz="1600" dirty="0" smtClean="0">
                <a:solidFill>
                  <a:srgbClr val="D4D4D4"/>
                </a:solidFill>
                <a:latin typeface="Consolas"/>
              </a:rPr>
              <a:t>(x*x + y*y)</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err="1" smtClean="0">
                <a:solidFill>
                  <a:srgbClr val="DCDCAA"/>
                </a:solidFill>
                <a:latin typeface="Consolas"/>
              </a:rPr>
              <a:t>hypot</a:t>
            </a:r>
            <a:r>
              <a:rPr lang="en-US" sz="1600" dirty="0" smtClean="0">
                <a:solidFill>
                  <a:srgbClr val="D4D4D4"/>
                </a:solidFill>
                <a:latin typeface="Consolas"/>
              </a:rPr>
              <a:t>(</a:t>
            </a:r>
            <a:r>
              <a:rPr lang="en-US" sz="1600" dirty="0" smtClean="0">
                <a:solidFill>
                  <a:srgbClr val="B5CEA8"/>
                </a:solidFill>
                <a:latin typeface="Consolas"/>
              </a:rPr>
              <a:t>3</a:t>
            </a:r>
            <a:r>
              <a:rPr lang="en-US" sz="1600" dirty="0" smtClean="0">
                <a:solidFill>
                  <a:srgbClr val="D4D4D4"/>
                </a:solidFill>
                <a:latin typeface="Consolas"/>
              </a:rPr>
              <a:t>, </a:t>
            </a:r>
            <a:r>
              <a:rPr lang="en-US" sz="1600" dirty="0" smtClean="0">
                <a:solidFill>
                  <a:srgbClr val="B5CEA8"/>
                </a:solidFill>
                <a:latin typeface="Consolas"/>
              </a:rPr>
              <a:t>4</a:t>
            </a:r>
            <a:r>
              <a:rPr lang="en-US" sz="1600" dirty="0" smtClean="0">
                <a:solidFill>
                  <a:srgbClr val="D4D4D4"/>
                </a:solidFill>
                <a:latin typeface="Consolas"/>
              </a:rPr>
              <a:t>)) </a:t>
            </a:r>
            <a:r>
              <a:rPr lang="en-US" sz="1600" dirty="0" smtClean="0">
                <a:solidFill>
                  <a:srgbClr val="6A9955"/>
                </a:solidFill>
                <a:latin typeface="Consolas"/>
              </a:rPr>
              <a:t>// "5"</a:t>
            </a:r>
            <a:endParaRPr lang="en-US" sz="1600" dirty="0" smtClean="0">
              <a:solidFill>
                <a:srgbClr val="D4D4D4"/>
              </a:solidFill>
              <a:latin typeface="Consolas"/>
            </a:endParaRPr>
          </a:p>
          <a:p>
            <a:r>
              <a:rPr lang="en-US" sz="1600" dirty="0" smtClean="0">
                <a:solidFill>
                  <a:srgbClr val="D4D4D4"/>
                </a:solidFill>
                <a:latin typeface="Consolas"/>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 Values</a:t>
            </a:r>
            <a:endParaRPr lang="en-US" dirty="0"/>
          </a:p>
        </p:txBody>
      </p:sp>
      <p:sp>
        <p:nvSpPr>
          <p:cNvPr id="3" name="Content Placeholder 2"/>
          <p:cNvSpPr>
            <a:spLocks noGrp="1"/>
          </p:cNvSpPr>
          <p:nvPr>
            <p:ph idx="1"/>
          </p:nvPr>
        </p:nvSpPr>
        <p:spPr/>
        <p:txBody>
          <a:bodyPr/>
          <a:lstStyle/>
          <a:p>
            <a:r>
              <a:rPr lang="en-US" sz="1800" dirty="0" smtClean="0"/>
              <a:t>Functions are </a:t>
            </a:r>
            <a:r>
              <a:rPr lang="en-US" sz="1800" i="1" dirty="0" smtClean="0">
                <a:solidFill>
                  <a:srgbClr val="C00000"/>
                </a:solidFill>
              </a:rPr>
              <a:t>first-class values</a:t>
            </a:r>
            <a:r>
              <a:rPr lang="en-US" sz="1800" dirty="0" smtClean="0"/>
              <a:t> in Go: like other values, function values have types, and they may be assigned to variables or passed to or returned from functions.</a:t>
            </a:r>
            <a:endParaRPr lang="en-US" sz="1800" dirty="0"/>
          </a:p>
        </p:txBody>
      </p:sp>
      <p:sp>
        <p:nvSpPr>
          <p:cNvPr id="4" name="Content Placeholder 2"/>
          <p:cNvSpPr txBox="1">
            <a:spLocks/>
          </p:cNvSpPr>
          <p:nvPr/>
        </p:nvSpPr>
        <p:spPr bwMode="auto">
          <a:xfrm>
            <a:off x="457200" y="2362200"/>
            <a:ext cx="8229600" cy="4038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400" dirty="0" smtClean="0">
                <a:solidFill>
                  <a:srgbClr val="569CD6"/>
                </a:solidFill>
                <a:latin typeface="Consolas"/>
              </a:rPr>
              <a:t>package</a:t>
            </a:r>
            <a:r>
              <a:rPr lang="en-US" sz="1400" dirty="0" smtClean="0">
                <a:solidFill>
                  <a:srgbClr val="D4D4D4"/>
                </a:solidFill>
                <a:latin typeface="Consolas"/>
              </a:rPr>
              <a:t> main</a:t>
            </a:r>
          </a:p>
          <a:p>
            <a:r>
              <a:rPr lang="en-US" sz="1400" dirty="0" smtClean="0">
                <a:solidFill>
                  <a:srgbClr val="D4D4D4"/>
                </a:solidFill>
                <a:latin typeface="Consolas"/>
              </a:rPr>
              <a:t/>
            </a:r>
            <a:br>
              <a:rPr lang="en-US" sz="1400" dirty="0" smtClean="0">
                <a:solidFill>
                  <a:srgbClr val="D4D4D4"/>
                </a:solidFill>
                <a:latin typeface="Consolas"/>
              </a:rPr>
            </a:br>
            <a:r>
              <a:rPr lang="en-US" sz="1400" dirty="0" smtClean="0">
                <a:solidFill>
                  <a:srgbClr val="569CD6"/>
                </a:solidFill>
                <a:latin typeface="Consolas"/>
              </a:rPr>
              <a:t>import</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CE9178"/>
                </a:solidFill>
                <a:latin typeface="Consolas"/>
              </a:rPr>
              <a:t>"</a:t>
            </a:r>
            <a:r>
              <a:rPr lang="en-US" sz="1400" dirty="0" err="1" smtClean="0">
                <a:solidFill>
                  <a:srgbClr val="CE9178"/>
                </a:solidFill>
                <a:latin typeface="Consolas"/>
              </a:rPr>
              <a:t>fmt</a:t>
            </a:r>
            <a:r>
              <a:rPr lang="en-US" sz="1400" dirty="0" smtClean="0">
                <a:solidFill>
                  <a:srgbClr val="CE9178"/>
                </a:solidFill>
                <a:latin typeface="Consolas"/>
              </a:rPr>
              <a:t>"</a:t>
            </a:r>
            <a:endParaRPr lang="en-US" sz="1400" dirty="0" smtClean="0">
              <a:solidFill>
                <a:srgbClr val="D4D4D4"/>
              </a:solidFill>
              <a:latin typeface="Consolas"/>
            </a:endParaRPr>
          </a:p>
          <a:p>
            <a:r>
              <a:rPr lang="en-US" sz="1400" dirty="0" smtClean="0">
                <a:solidFill>
                  <a:srgbClr val="D4D4D4"/>
                </a:solidFill>
                <a:latin typeface="Consolas"/>
              </a:rPr>
              <a:t>)</a:t>
            </a:r>
          </a:p>
          <a:p>
            <a:r>
              <a:rPr lang="en-US" sz="1400" dirty="0" smtClean="0">
                <a:solidFill>
                  <a:srgbClr val="D4D4D4"/>
                </a:solidFill>
                <a:latin typeface="Consolas"/>
              </a:rPr>
              <a:t/>
            </a:r>
            <a:br>
              <a:rPr lang="en-US" sz="1400" dirty="0" smtClean="0">
                <a:solidFill>
                  <a:srgbClr val="D4D4D4"/>
                </a:solidFill>
                <a:latin typeface="Consolas"/>
              </a:rPr>
            </a:br>
            <a:r>
              <a:rPr lang="en-US" sz="1400" dirty="0" err="1" smtClean="0">
                <a:solidFill>
                  <a:srgbClr val="569CD6"/>
                </a:solidFill>
                <a:latin typeface="Consolas"/>
              </a:rPr>
              <a:t>func</a:t>
            </a:r>
            <a:r>
              <a:rPr lang="en-US" sz="1400" dirty="0" smtClean="0">
                <a:solidFill>
                  <a:srgbClr val="D4D4D4"/>
                </a:solidFill>
                <a:latin typeface="Consolas"/>
              </a:rPr>
              <a:t> </a:t>
            </a:r>
            <a:r>
              <a:rPr lang="en-US" sz="1400" dirty="0" smtClean="0">
                <a:solidFill>
                  <a:srgbClr val="DCDCAA"/>
                </a:solidFill>
                <a:latin typeface="Consolas"/>
              </a:rPr>
              <a:t>square</a:t>
            </a:r>
            <a:r>
              <a:rPr lang="en-US" sz="1400" dirty="0" smtClean="0">
                <a:solidFill>
                  <a:srgbClr val="D4D4D4"/>
                </a:solidFill>
                <a:latin typeface="Consolas"/>
              </a:rPr>
              <a:t>(n </a:t>
            </a:r>
            <a:r>
              <a:rPr lang="en-US" sz="1400" dirty="0" err="1" smtClean="0">
                <a:solidFill>
                  <a:srgbClr val="4EC9B0"/>
                </a:solidFill>
                <a:latin typeface="Consolas"/>
              </a:rPr>
              <a:t>int</a:t>
            </a:r>
            <a:r>
              <a:rPr lang="en-US" sz="1400" dirty="0" smtClean="0">
                <a:solidFill>
                  <a:srgbClr val="D4D4D4"/>
                </a:solidFill>
                <a:latin typeface="Consolas"/>
              </a:rPr>
              <a:t>) </a:t>
            </a:r>
            <a:r>
              <a:rPr lang="en-US" sz="1400" dirty="0" err="1" smtClean="0">
                <a:solidFill>
                  <a:srgbClr val="4EC9B0"/>
                </a:solidFill>
                <a:latin typeface="Consolas"/>
              </a:rPr>
              <a:t>int</a:t>
            </a:r>
            <a:r>
              <a:rPr lang="en-US" sz="1400" dirty="0" smtClean="0">
                <a:solidFill>
                  <a:srgbClr val="D4D4D4"/>
                </a:solidFill>
                <a:latin typeface="Consolas"/>
              </a:rPr>
              <a:t>     { </a:t>
            </a:r>
            <a:r>
              <a:rPr lang="en-US" sz="1400" dirty="0" smtClean="0">
                <a:solidFill>
                  <a:srgbClr val="C586C0"/>
                </a:solidFill>
                <a:latin typeface="Consolas"/>
              </a:rPr>
              <a:t>return</a:t>
            </a:r>
            <a:r>
              <a:rPr lang="en-US" sz="1400" dirty="0" smtClean="0">
                <a:solidFill>
                  <a:srgbClr val="D4D4D4"/>
                </a:solidFill>
                <a:latin typeface="Consolas"/>
              </a:rPr>
              <a:t> n * n }</a:t>
            </a:r>
          </a:p>
          <a:p>
            <a:r>
              <a:rPr lang="en-US" sz="1400" dirty="0" err="1" smtClean="0">
                <a:solidFill>
                  <a:srgbClr val="569CD6"/>
                </a:solidFill>
                <a:latin typeface="Consolas"/>
              </a:rPr>
              <a:t>func</a:t>
            </a:r>
            <a:r>
              <a:rPr lang="en-US" sz="1400" dirty="0" smtClean="0">
                <a:solidFill>
                  <a:srgbClr val="D4D4D4"/>
                </a:solidFill>
                <a:latin typeface="Consolas"/>
              </a:rPr>
              <a:t> </a:t>
            </a:r>
            <a:r>
              <a:rPr lang="en-US" sz="1400" dirty="0" smtClean="0">
                <a:solidFill>
                  <a:srgbClr val="DCDCAA"/>
                </a:solidFill>
                <a:latin typeface="Consolas"/>
              </a:rPr>
              <a:t>negative</a:t>
            </a:r>
            <a:r>
              <a:rPr lang="en-US" sz="1400" dirty="0" smtClean="0">
                <a:solidFill>
                  <a:srgbClr val="D4D4D4"/>
                </a:solidFill>
                <a:latin typeface="Consolas"/>
              </a:rPr>
              <a:t>(n </a:t>
            </a:r>
            <a:r>
              <a:rPr lang="en-US" sz="1400" dirty="0" err="1" smtClean="0">
                <a:solidFill>
                  <a:srgbClr val="4EC9B0"/>
                </a:solidFill>
                <a:latin typeface="Consolas"/>
              </a:rPr>
              <a:t>int</a:t>
            </a:r>
            <a:r>
              <a:rPr lang="en-US" sz="1400" dirty="0" smtClean="0">
                <a:solidFill>
                  <a:srgbClr val="D4D4D4"/>
                </a:solidFill>
                <a:latin typeface="Consolas"/>
              </a:rPr>
              <a:t>) </a:t>
            </a:r>
            <a:r>
              <a:rPr lang="en-US" sz="1400" dirty="0" err="1" smtClean="0">
                <a:solidFill>
                  <a:srgbClr val="4EC9B0"/>
                </a:solidFill>
                <a:latin typeface="Consolas"/>
              </a:rPr>
              <a:t>int</a:t>
            </a:r>
            <a:r>
              <a:rPr lang="en-US" sz="1400" dirty="0" smtClean="0">
                <a:solidFill>
                  <a:srgbClr val="D4D4D4"/>
                </a:solidFill>
                <a:latin typeface="Consolas"/>
              </a:rPr>
              <a:t>   { </a:t>
            </a:r>
            <a:r>
              <a:rPr lang="en-US" sz="1400" dirty="0" smtClean="0">
                <a:solidFill>
                  <a:srgbClr val="C586C0"/>
                </a:solidFill>
                <a:latin typeface="Consolas"/>
              </a:rPr>
              <a:t>return</a:t>
            </a:r>
            <a:r>
              <a:rPr lang="en-US" sz="1400" dirty="0" smtClean="0">
                <a:solidFill>
                  <a:srgbClr val="D4D4D4"/>
                </a:solidFill>
                <a:latin typeface="Consolas"/>
              </a:rPr>
              <a:t> -n }</a:t>
            </a:r>
          </a:p>
          <a:p>
            <a:r>
              <a:rPr lang="en-US" sz="1400" dirty="0" err="1" smtClean="0">
                <a:solidFill>
                  <a:srgbClr val="569CD6"/>
                </a:solidFill>
                <a:latin typeface="Consolas"/>
              </a:rPr>
              <a:t>func</a:t>
            </a:r>
            <a:r>
              <a:rPr lang="en-US" sz="1400" dirty="0" smtClean="0">
                <a:solidFill>
                  <a:srgbClr val="D4D4D4"/>
                </a:solidFill>
                <a:latin typeface="Consolas"/>
              </a:rPr>
              <a:t> </a:t>
            </a:r>
            <a:r>
              <a:rPr lang="en-US" sz="1400" dirty="0" smtClean="0">
                <a:solidFill>
                  <a:srgbClr val="DCDCAA"/>
                </a:solidFill>
                <a:latin typeface="Consolas"/>
              </a:rPr>
              <a:t>product</a:t>
            </a:r>
            <a:r>
              <a:rPr lang="en-US" sz="1400" dirty="0" smtClean="0">
                <a:solidFill>
                  <a:srgbClr val="D4D4D4"/>
                </a:solidFill>
                <a:latin typeface="Consolas"/>
              </a:rPr>
              <a:t>(m, n </a:t>
            </a:r>
            <a:r>
              <a:rPr lang="en-US" sz="1400" dirty="0" err="1" smtClean="0">
                <a:solidFill>
                  <a:srgbClr val="4EC9B0"/>
                </a:solidFill>
                <a:latin typeface="Consolas"/>
              </a:rPr>
              <a:t>int</a:t>
            </a:r>
            <a:r>
              <a:rPr lang="en-US" sz="1400" dirty="0" smtClean="0">
                <a:solidFill>
                  <a:srgbClr val="D4D4D4"/>
                </a:solidFill>
                <a:latin typeface="Consolas"/>
              </a:rPr>
              <a:t>) </a:t>
            </a:r>
            <a:r>
              <a:rPr lang="en-US" sz="1400" dirty="0" err="1" smtClean="0">
                <a:solidFill>
                  <a:srgbClr val="4EC9B0"/>
                </a:solidFill>
                <a:latin typeface="Consolas"/>
              </a:rPr>
              <a:t>int</a:t>
            </a:r>
            <a:r>
              <a:rPr lang="en-US" sz="1400" dirty="0" smtClean="0">
                <a:solidFill>
                  <a:srgbClr val="D4D4D4"/>
                </a:solidFill>
                <a:latin typeface="Consolas"/>
              </a:rPr>
              <a:t> { </a:t>
            </a:r>
            <a:r>
              <a:rPr lang="en-US" sz="1400" dirty="0" smtClean="0">
                <a:solidFill>
                  <a:srgbClr val="C586C0"/>
                </a:solidFill>
                <a:latin typeface="Consolas"/>
              </a:rPr>
              <a:t>return</a:t>
            </a:r>
            <a:r>
              <a:rPr lang="en-US" sz="1400" dirty="0" smtClean="0">
                <a:solidFill>
                  <a:srgbClr val="D4D4D4"/>
                </a:solidFill>
                <a:latin typeface="Consolas"/>
              </a:rPr>
              <a:t> m * n }</a:t>
            </a:r>
          </a:p>
          <a:p>
            <a:r>
              <a:rPr lang="en-US" sz="1400" dirty="0" smtClean="0">
                <a:solidFill>
                  <a:srgbClr val="D4D4D4"/>
                </a:solidFill>
                <a:latin typeface="Consolas"/>
              </a:rPr>
              <a:t/>
            </a:r>
            <a:br>
              <a:rPr lang="en-US" sz="1400" dirty="0" smtClean="0">
                <a:solidFill>
                  <a:srgbClr val="D4D4D4"/>
                </a:solidFill>
                <a:latin typeface="Consolas"/>
              </a:rPr>
            </a:br>
            <a:r>
              <a:rPr lang="en-US" sz="1400" dirty="0" err="1" smtClean="0">
                <a:solidFill>
                  <a:srgbClr val="569CD6"/>
                </a:solidFill>
                <a:latin typeface="Consolas"/>
              </a:rPr>
              <a:t>func</a:t>
            </a:r>
            <a:r>
              <a:rPr lang="en-US" sz="1400" dirty="0" smtClean="0">
                <a:solidFill>
                  <a:srgbClr val="D4D4D4"/>
                </a:solidFill>
                <a:latin typeface="Consolas"/>
              </a:rPr>
              <a:t> </a:t>
            </a:r>
            <a:r>
              <a:rPr lang="en-US" sz="1400" dirty="0" smtClean="0">
                <a:solidFill>
                  <a:srgbClr val="DCDCAA"/>
                </a:solidFill>
                <a:latin typeface="Consolas"/>
              </a:rPr>
              <a:t>main</a:t>
            </a:r>
            <a:r>
              <a:rPr lang="en-US" sz="1400" dirty="0" smtClean="0">
                <a:solidFill>
                  <a:srgbClr val="D4D4D4"/>
                </a:solidFill>
                <a:latin typeface="Consolas"/>
              </a:rPr>
              <a:t>() {</a:t>
            </a:r>
          </a:p>
          <a:p>
            <a:r>
              <a:rPr lang="en-US" sz="1400" dirty="0" smtClean="0">
                <a:solidFill>
                  <a:srgbClr val="D4D4D4"/>
                </a:solidFill>
                <a:latin typeface="Consolas"/>
              </a:rPr>
              <a:t>    </a:t>
            </a:r>
            <a:r>
              <a:rPr lang="en-US" sz="1400" dirty="0" smtClean="0">
                <a:solidFill>
                  <a:srgbClr val="9CDCFE"/>
                </a:solidFill>
                <a:latin typeface="Consolas"/>
              </a:rPr>
              <a:t>f</a:t>
            </a:r>
            <a:r>
              <a:rPr lang="en-US" sz="1400" dirty="0" smtClean="0">
                <a:solidFill>
                  <a:srgbClr val="D4D4D4"/>
                </a:solidFill>
                <a:latin typeface="Consolas"/>
              </a:rPr>
              <a:t> := square</a:t>
            </a:r>
          </a:p>
          <a:p>
            <a:r>
              <a:rPr lang="en-US" sz="1400" dirty="0" smtClean="0">
                <a:solidFill>
                  <a:srgbClr val="D4D4D4"/>
                </a:solidFill>
                <a:latin typeface="Consolas"/>
              </a:rPr>
              <a:t>    </a:t>
            </a:r>
            <a:r>
              <a:rPr lang="en-US" sz="1400" dirty="0" err="1" smtClean="0">
                <a:solidFill>
                  <a:srgbClr val="D4D4D4"/>
                </a:solidFill>
                <a:latin typeface="Consolas"/>
              </a:rPr>
              <a:t>fmt.</a:t>
            </a:r>
            <a:r>
              <a:rPr lang="en-US" sz="1400" dirty="0" err="1" smtClean="0">
                <a:solidFill>
                  <a:srgbClr val="DCDCAA"/>
                </a:solidFill>
                <a:latin typeface="Consolas"/>
              </a:rPr>
              <a:t>Println</a:t>
            </a:r>
            <a:r>
              <a:rPr lang="en-US" sz="1400" dirty="0" smtClean="0">
                <a:solidFill>
                  <a:srgbClr val="D4D4D4"/>
                </a:solidFill>
                <a:latin typeface="Consolas"/>
              </a:rPr>
              <a:t>(</a:t>
            </a:r>
            <a:r>
              <a:rPr lang="en-US" sz="1400" dirty="0" smtClean="0">
                <a:solidFill>
                  <a:srgbClr val="DCDCAA"/>
                </a:solidFill>
                <a:latin typeface="Consolas"/>
              </a:rPr>
              <a:t>f</a:t>
            </a:r>
            <a:r>
              <a:rPr lang="en-US" sz="1400" dirty="0" smtClean="0">
                <a:solidFill>
                  <a:srgbClr val="D4D4D4"/>
                </a:solidFill>
                <a:latin typeface="Consolas"/>
              </a:rPr>
              <a:t>(</a:t>
            </a:r>
            <a:r>
              <a:rPr lang="en-US" sz="1400" dirty="0" smtClean="0">
                <a:solidFill>
                  <a:srgbClr val="B5CEA8"/>
                </a:solidFill>
                <a:latin typeface="Consolas"/>
              </a:rPr>
              <a:t>3</a:t>
            </a:r>
            <a:r>
              <a:rPr lang="en-US" sz="1400" dirty="0" smtClean="0">
                <a:solidFill>
                  <a:srgbClr val="D4D4D4"/>
                </a:solidFill>
                <a:latin typeface="Consolas"/>
              </a:rPr>
              <a:t>)) </a:t>
            </a:r>
            <a:r>
              <a:rPr lang="en-US" sz="1400" dirty="0" smtClean="0">
                <a:solidFill>
                  <a:srgbClr val="6A9955"/>
                </a:solidFill>
                <a:latin typeface="Consolas"/>
              </a:rPr>
              <a:t>// "9"</a:t>
            </a:r>
            <a:endParaRPr lang="en-US" sz="1400" dirty="0" smtClean="0">
              <a:solidFill>
                <a:srgbClr val="D4D4D4"/>
              </a:solidFill>
              <a:latin typeface="Consolas"/>
            </a:endParaRPr>
          </a:p>
          <a:p>
            <a:r>
              <a:rPr lang="en-US" sz="1400" dirty="0" smtClean="0">
                <a:solidFill>
                  <a:srgbClr val="D4D4D4"/>
                </a:solidFill>
                <a:latin typeface="Consolas"/>
              </a:rPr>
              <a:t>    </a:t>
            </a:r>
            <a:r>
              <a:rPr lang="en-US" sz="1400" dirty="0" smtClean="0">
                <a:solidFill>
                  <a:srgbClr val="9CDCFE"/>
                </a:solidFill>
                <a:latin typeface="Consolas"/>
              </a:rPr>
              <a:t>f</a:t>
            </a:r>
            <a:r>
              <a:rPr lang="en-US" sz="1400" dirty="0" smtClean="0">
                <a:solidFill>
                  <a:srgbClr val="D4D4D4"/>
                </a:solidFill>
                <a:latin typeface="Consolas"/>
              </a:rPr>
              <a:t> = negative</a:t>
            </a:r>
          </a:p>
          <a:p>
            <a:r>
              <a:rPr lang="en-US" sz="1400" dirty="0" smtClean="0">
                <a:solidFill>
                  <a:srgbClr val="D4D4D4"/>
                </a:solidFill>
                <a:latin typeface="Consolas"/>
              </a:rPr>
              <a:t>    </a:t>
            </a:r>
            <a:r>
              <a:rPr lang="en-US" sz="1400" dirty="0" err="1" smtClean="0">
                <a:solidFill>
                  <a:srgbClr val="D4D4D4"/>
                </a:solidFill>
                <a:latin typeface="Consolas"/>
              </a:rPr>
              <a:t>fmt.</a:t>
            </a:r>
            <a:r>
              <a:rPr lang="en-US" sz="1400" dirty="0" err="1" smtClean="0">
                <a:solidFill>
                  <a:srgbClr val="DCDCAA"/>
                </a:solidFill>
                <a:latin typeface="Consolas"/>
              </a:rPr>
              <a:t>Println</a:t>
            </a:r>
            <a:r>
              <a:rPr lang="en-US" sz="1400" dirty="0" smtClean="0">
                <a:solidFill>
                  <a:srgbClr val="D4D4D4"/>
                </a:solidFill>
                <a:latin typeface="Consolas"/>
              </a:rPr>
              <a:t>(</a:t>
            </a:r>
            <a:r>
              <a:rPr lang="en-US" sz="1400" dirty="0" smtClean="0">
                <a:solidFill>
                  <a:srgbClr val="DCDCAA"/>
                </a:solidFill>
                <a:latin typeface="Consolas"/>
              </a:rPr>
              <a:t>f</a:t>
            </a:r>
            <a:r>
              <a:rPr lang="en-US" sz="1400" dirty="0" smtClean="0">
                <a:solidFill>
                  <a:srgbClr val="D4D4D4"/>
                </a:solidFill>
                <a:latin typeface="Consolas"/>
              </a:rPr>
              <a:t>(</a:t>
            </a:r>
            <a:r>
              <a:rPr lang="en-US" sz="1400" dirty="0" smtClean="0">
                <a:solidFill>
                  <a:srgbClr val="B5CEA8"/>
                </a:solidFill>
                <a:latin typeface="Consolas"/>
              </a:rPr>
              <a:t>3</a:t>
            </a:r>
            <a:r>
              <a:rPr lang="en-US" sz="1400" dirty="0" smtClean="0">
                <a:solidFill>
                  <a:srgbClr val="D4D4D4"/>
                </a:solidFill>
                <a:latin typeface="Consolas"/>
              </a:rPr>
              <a:t>))     </a:t>
            </a:r>
            <a:r>
              <a:rPr lang="en-US" sz="1400" dirty="0" smtClean="0">
                <a:solidFill>
                  <a:srgbClr val="6A9955"/>
                </a:solidFill>
                <a:latin typeface="Consolas"/>
              </a:rPr>
              <a:t>// "-3"</a:t>
            </a:r>
            <a:endParaRPr lang="en-US" sz="1400" dirty="0" smtClean="0">
              <a:solidFill>
                <a:srgbClr val="D4D4D4"/>
              </a:solidFill>
              <a:latin typeface="Consolas"/>
            </a:endParaRPr>
          </a:p>
          <a:p>
            <a:r>
              <a:rPr lang="en-US" sz="1400" dirty="0" smtClean="0">
                <a:solidFill>
                  <a:srgbClr val="D4D4D4"/>
                </a:solidFill>
                <a:latin typeface="Consolas"/>
              </a:rPr>
              <a:t>    </a:t>
            </a:r>
            <a:r>
              <a:rPr lang="en-US" sz="1400" dirty="0" err="1" smtClean="0">
                <a:solidFill>
                  <a:srgbClr val="D4D4D4"/>
                </a:solidFill>
                <a:latin typeface="Consolas"/>
              </a:rPr>
              <a:t>fmt.</a:t>
            </a:r>
            <a:r>
              <a:rPr lang="en-US" sz="1400" dirty="0" err="1" smtClean="0">
                <a:solidFill>
                  <a:srgbClr val="DCDCAA"/>
                </a:solidFill>
                <a:latin typeface="Consolas"/>
              </a:rPr>
              <a:t>Printf</a:t>
            </a:r>
            <a:r>
              <a:rPr lang="en-US" sz="1400" dirty="0" smtClean="0">
                <a:solidFill>
                  <a:srgbClr val="D4D4D4"/>
                </a:solidFill>
                <a:latin typeface="Consolas"/>
              </a:rPr>
              <a:t>(</a:t>
            </a:r>
            <a:r>
              <a:rPr lang="en-US" sz="1400" dirty="0" smtClean="0">
                <a:solidFill>
                  <a:srgbClr val="CE9178"/>
                </a:solidFill>
                <a:latin typeface="Consolas"/>
              </a:rPr>
              <a:t>"%T</a:t>
            </a:r>
            <a:r>
              <a:rPr lang="en-US" sz="1400" dirty="0" smtClean="0">
                <a:solidFill>
                  <a:srgbClr val="D7BA7D"/>
                </a:solidFill>
                <a:latin typeface="Consolas"/>
              </a:rPr>
              <a:t>\n</a:t>
            </a:r>
            <a:r>
              <a:rPr lang="en-US" sz="1400" dirty="0" smtClean="0">
                <a:solidFill>
                  <a:srgbClr val="CE9178"/>
                </a:solidFill>
                <a:latin typeface="Consolas"/>
              </a:rPr>
              <a:t>"</a:t>
            </a:r>
            <a:r>
              <a:rPr lang="en-US" sz="1400" dirty="0" smtClean="0">
                <a:solidFill>
                  <a:srgbClr val="D4D4D4"/>
                </a:solidFill>
                <a:latin typeface="Consolas"/>
              </a:rPr>
              <a:t>, f) </a:t>
            </a:r>
            <a:r>
              <a:rPr lang="en-US" sz="1400" dirty="0" smtClean="0">
                <a:solidFill>
                  <a:srgbClr val="6A9955"/>
                </a:solidFill>
                <a:latin typeface="Consolas"/>
              </a:rPr>
              <a:t>// "</a:t>
            </a:r>
            <a:r>
              <a:rPr lang="en-US" sz="1400" dirty="0" err="1" smtClean="0">
                <a:solidFill>
                  <a:srgbClr val="6A9955"/>
                </a:solidFill>
                <a:latin typeface="Consolas"/>
              </a:rPr>
              <a:t>func</a:t>
            </a:r>
            <a:r>
              <a:rPr lang="en-US" sz="1400" dirty="0" smtClean="0">
                <a:solidFill>
                  <a:srgbClr val="6A9955"/>
                </a:solidFill>
                <a:latin typeface="Consolas"/>
              </a:rPr>
              <a:t>(</a:t>
            </a:r>
            <a:r>
              <a:rPr lang="en-US" sz="1400" dirty="0" err="1" smtClean="0">
                <a:solidFill>
                  <a:srgbClr val="6A9955"/>
                </a:solidFill>
                <a:latin typeface="Consolas"/>
              </a:rPr>
              <a:t>int</a:t>
            </a:r>
            <a:r>
              <a:rPr lang="en-US" sz="1400" dirty="0" smtClean="0">
                <a:solidFill>
                  <a:srgbClr val="6A9955"/>
                </a:solidFill>
                <a:latin typeface="Consolas"/>
              </a:rPr>
              <a:t>) </a:t>
            </a:r>
            <a:r>
              <a:rPr lang="en-US" sz="1400" dirty="0" err="1" smtClean="0">
                <a:solidFill>
                  <a:srgbClr val="6A9955"/>
                </a:solidFill>
                <a:latin typeface="Consolas"/>
              </a:rPr>
              <a:t>int</a:t>
            </a:r>
            <a:r>
              <a:rPr lang="en-US" sz="1400" dirty="0" smtClean="0">
                <a:solidFill>
                  <a:srgbClr val="6A9955"/>
                </a:solidFill>
                <a:latin typeface="Consolas"/>
              </a:rPr>
              <a:t>"</a:t>
            </a:r>
            <a:endParaRPr lang="en-US" sz="1400" dirty="0" smtClean="0">
              <a:solidFill>
                <a:srgbClr val="D4D4D4"/>
              </a:solidFill>
              <a:latin typeface="Consolas"/>
            </a:endParaRPr>
          </a:p>
          <a:p>
            <a:r>
              <a:rPr lang="en-US" sz="1400" dirty="0" smtClean="0">
                <a:solidFill>
                  <a:srgbClr val="D4D4D4"/>
                </a:solidFill>
                <a:latin typeface="Consolas"/>
              </a:rPr>
              <a:t>    </a:t>
            </a:r>
            <a:r>
              <a:rPr lang="en-US" sz="1400" dirty="0" smtClean="0">
                <a:solidFill>
                  <a:srgbClr val="6A9955"/>
                </a:solidFill>
                <a:latin typeface="Consolas"/>
              </a:rPr>
              <a:t>// f = product // compile error: can't assign f(</a:t>
            </a:r>
            <a:r>
              <a:rPr lang="en-US" sz="1400" dirty="0" err="1" smtClean="0">
                <a:solidFill>
                  <a:srgbClr val="6A9955"/>
                </a:solidFill>
                <a:latin typeface="Consolas"/>
              </a:rPr>
              <a:t>int</a:t>
            </a:r>
            <a:r>
              <a:rPr lang="en-US" sz="1400" dirty="0" smtClean="0">
                <a:solidFill>
                  <a:srgbClr val="6A9955"/>
                </a:solidFill>
                <a:latin typeface="Consolas"/>
              </a:rPr>
              <a:t>, </a:t>
            </a:r>
            <a:r>
              <a:rPr lang="en-US" sz="1400" dirty="0" err="1" smtClean="0">
                <a:solidFill>
                  <a:srgbClr val="6A9955"/>
                </a:solidFill>
                <a:latin typeface="Consolas"/>
              </a:rPr>
              <a:t>int</a:t>
            </a:r>
            <a:r>
              <a:rPr lang="en-US" sz="1400" dirty="0" smtClean="0">
                <a:solidFill>
                  <a:srgbClr val="6A9955"/>
                </a:solidFill>
                <a:latin typeface="Consolas"/>
              </a:rPr>
              <a:t>) </a:t>
            </a:r>
            <a:r>
              <a:rPr lang="en-US" sz="1400" dirty="0" err="1" smtClean="0">
                <a:solidFill>
                  <a:srgbClr val="6A9955"/>
                </a:solidFill>
                <a:latin typeface="Consolas"/>
              </a:rPr>
              <a:t>int</a:t>
            </a:r>
            <a:r>
              <a:rPr lang="en-US" sz="1400" dirty="0" smtClean="0">
                <a:solidFill>
                  <a:srgbClr val="6A9955"/>
                </a:solidFill>
                <a:latin typeface="Consolas"/>
              </a:rPr>
              <a:t> to f(</a:t>
            </a:r>
            <a:r>
              <a:rPr lang="en-US" sz="1400" dirty="0" err="1" smtClean="0">
                <a:solidFill>
                  <a:srgbClr val="6A9955"/>
                </a:solidFill>
                <a:latin typeface="Consolas"/>
              </a:rPr>
              <a:t>int</a:t>
            </a:r>
            <a:r>
              <a:rPr lang="en-US" sz="1400" dirty="0" smtClean="0">
                <a:solidFill>
                  <a:srgbClr val="6A9955"/>
                </a:solidFill>
                <a:latin typeface="Consolas"/>
              </a:rPr>
              <a:t>) </a:t>
            </a:r>
            <a:r>
              <a:rPr lang="en-US" sz="1400" dirty="0" err="1" smtClean="0">
                <a:solidFill>
                  <a:srgbClr val="6A9955"/>
                </a:solidFill>
                <a:latin typeface="Consolas"/>
              </a:rPr>
              <a:t>int</a:t>
            </a:r>
            <a:endParaRPr lang="en-US" sz="1400" dirty="0" smtClean="0">
              <a:solidFill>
                <a:srgbClr val="D4D4D4"/>
              </a:solidFill>
              <a:latin typeface="Consolas"/>
            </a:endParaRPr>
          </a:p>
          <a:p>
            <a:r>
              <a:rPr lang="en-US" sz="1400" dirty="0" smtClean="0">
                <a:solidFill>
                  <a:srgbClr val="D4D4D4"/>
                </a:solidFill>
                <a:latin typeface="Consolas"/>
              </a:rPr>
              <a:t>}</a:t>
            </a:r>
          </a:p>
          <a:p>
            <a:r>
              <a:rPr lang="en-US" sz="1400" dirty="0" smtClean="0">
                <a:solidFill>
                  <a:srgbClr val="D4D4D4"/>
                </a:solidFill>
                <a:latin typeface="Consolas"/>
              </a:rPr>
              <a:t/>
            </a:r>
            <a:br>
              <a:rPr lang="en-US" sz="1400" dirty="0" smtClean="0">
                <a:solidFill>
                  <a:srgbClr val="D4D4D4"/>
                </a:solidFill>
                <a:latin typeface="Consolas"/>
              </a:rPr>
            </a:br>
            <a:endParaRPr lang="en-US" sz="1400" b="0" dirty="0">
              <a:solidFill>
                <a:srgbClr val="D4D4D4"/>
              </a:solidFill>
              <a:latin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Methods</a:t>
            </a:r>
            <a:endParaRPr lang="en-US" dirty="0"/>
          </a:p>
        </p:txBody>
      </p:sp>
      <p:sp>
        <p:nvSpPr>
          <p:cNvPr id="3" name="Content Placeholder 2"/>
          <p:cNvSpPr>
            <a:spLocks noGrp="1"/>
          </p:cNvSpPr>
          <p:nvPr>
            <p:ph idx="1"/>
          </p:nvPr>
        </p:nvSpPr>
        <p:spPr/>
        <p:txBody>
          <a:bodyPr/>
          <a:lstStyle/>
          <a:p>
            <a:r>
              <a:rPr lang="en-US" sz="1800" dirty="0" smtClean="0"/>
              <a:t>A </a:t>
            </a:r>
            <a:r>
              <a:rPr lang="en-US" sz="1800" i="1" dirty="0" smtClean="0">
                <a:solidFill>
                  <a:srgbClr val="C00000"/>
                </a:solidFill>
              </a:rPr>
              <a:t>method</a:t>
            </a:r>
            <a:r>
              <a:rPr lang="en-US" sz="1800" dirty="0" smtClean="0"/>
              <a:t> is a function </a:t>
            </a:r>
            <a:r>
              <a:rPr lang="en-US" sz="1800" u="sng" dirty="0" smtClean="0"/>
              <a:t>associated with a particular type</a:t>
            </a:r>
            <a:r>
              <a:rPr lang="en-US" sz="1800" dirty="0" smtClean="0"/>
              <a:t>.</a:t>
            </a:r>
          </a:p>
          <a:p>
            <a:r>
              <a:rPr lang="en-US" sz="1800" dirty="0" smtClean="0"/>
              <a:t>A method is declared with a variant of the ordinary function declaration in which an </a:t>
            </a:r>
            <a:r>
              <a:rPr lang="en-US" sz="1800" i="1" dirty="0" smtClean="0">
                <a:solidFill>
                  <a:srgbClr val="C00000"/>
                </a:solidFill>
              </a:rPr>
              <a:t>extra parameter</a:t>
            </a:r>
            <a:r>
              <a:rPr lang="en-US" sz="1800" dirty="0" smtClean="0"/>
              <a:t> appears before the function name.</a:t>
            </a:r>
          </a:p>
          <a:p>
            <a:r>
              <a:rPr lang="en-US" sz="1800" dirty="0" smtClean="0"/>
              <a:t>The parameter attaches the function to the type of that parameter.</a:t>
            </a:r>
            <a:endParaRPr lang="en-US" sz="1800" dirty="0"/>
          </a:p>
        </p:txBody>
      </p:sp>
      <p:sp>
        <p:nvSpPr>
          <p:cNvPr id="4" name="Content Placeholder 2"/>
          <p:cNvSpPr txBox="1">
            <a:spLocks/>
          </p:cNvSpPr>
          <p:nvPr/>
        </p:nvSpPr>
        <p:spPr bwMode="auto">
          <a:xfrm>
            <a:off x="457200" y="3124200"/>
            <a:ext cx="8229600" cy="3429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type</a:t>
            </a:r>
            <a:r>
              <a:rPr lang="en-US" sz="1600" dirty="0" smtClean="0">
                <a:solidFill>
                  <a:srgbClr val="D4D4D4"/>
                </a:solidFill>
                <a:latin typeface="Consolas"/>
              </a:rPr>
              <a:t> </a:t>
            </a:r>
            <a:r>
              <a:rPr lang="en-US" sz="1600" dirty="0" smtClean="0">
                <a:solidFill>
                  <a:srgbClr val="4EC9B0"/>
                </a:solidFill>
                <a:latin typeface="Consolas"/>
              </a:rPr>
              <a:t>Point</a:t>
            </a:r>
            <a:r>
              <a:rPr lang="en-US" sz="1600" dirty="0" smtClean="0">
                <a:solidFill>
                  <a:srgbClr val="D4D4D4"/>
                </a:solidFill>
                <a:latin typeface="Consolas"/>
              </a:rPr>
              <a:t> </a:t>
            </a:r>
            <a:r>
              <a:rPr lang="en-US" sz="1600" dirty="0" err="1" smtClean="0">
                <a:solidFill>
                  <a:srgbClr val="569CD6"/>
                </a:solidFill>
                <a:latin typeface="Consolas"/>
              </a:rPr>
              <a:t>struct</a:t>
            </a:r>
            <a:r>
              <a:rPr lang="en-US" sz="1600" dirty="0" smtClean="0">
                <a:solidFill>
                  <a:srgbClr val="D4D4D4"/>
                </a:solidFill>
                <a:latin typeface="Consolas"/>
              </a:rPr>
              <a:t>{ X, Y </a:t>
            </a:r>
            <a:r>
              <a:rPr lang="en-US" sz="1600" dirty="0" smtClean="0">
                <a:solidFill>
                  <a:srgbClr val="4EC9B0"/>
                </a:solidFill>
                <a:latin typeface="Consolas"/>
              </a:rPr>
              <a:t>float64</a:t>
            </a:r>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6A9955"/>
                </a:solidFill>
                <a:latin typeface="Consolas"/>
              </a:rPr>
              <a:t>// traditional function</a:t>
            </a:r>
            <a:endParaRPr lang="en-US" sz="1600" dirty="0" smtClean="0">
              <a:solidFill>
                <a:srgbClr val="D4D4D4"/>
              </a:solidFill>
              <a:latin typeface="Consolas"/>
            </a:endParaRPr>
          </a:p>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Distance</a:t>
            </a:r>
            <a:r>
              <a:rPr lang="en-US" sz="1600" dirty="0" smtClean="0">
                <a:solidFill>
                  <a:srgbClr val="D4D4D4"/>
                </a:solidFill>
                <a:latin typeface="Consolas"/>
              </a:rPr>
              <a:t>(p, q Point) </a:t>
            </a:r>
            <a:r>
              <a:rPr lang="en-US" sz="1600" dirty="0" smtClean="0">
                <a:solidFill>
                  <a:srgbClr val="4EC9B0"/>
                </a:solidFill>
                <a:latin typeface="Consolas"/>
              </a:rPr>
              <a:t>float64</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err="1" smtClean="0">
                <a:solidFill>
                  <a:srgbClr val="D4D4D4"/>
                </a:solidFill>
                <a:latin typeface="Consolas"/>
              </a:rPr>
              <a:t>math.</a:t>
            </a:r>
            <a:r>
              <a:rPr lang="en-US" sz="1600" dirty="0" err="1" smtClean="0">
                <a:solidFill>
                  <a:srgbClr val="DCDCAA"/>
                </a:solidFill>
                <a:latin typeface="Consolas"/>
              </a:rPr>
              <a:t>Hypot</a:t>
            </a:r>
            <a:r>
              <a:rPr lang="en-US" sz="1600" dirty="0" smtClean="0">
                <a:solidFill>
                  <a:srgbClr val="D4D4D4"/>
                </a:solidFill>
                <a:latin typeface="Consolas"/>
              </a:rPr>
              <a:t>(</a:t>
            </a:r>
            <a:r>
              <a:rPr lang="en-US" sz="1600" dirty="0" err="1" smtClean="0">
                <a:solidFill>
                  <a:srgbClr val="D4D4D4"/>
                </a:solidFill>
                <a:latin typeface="Consolas"/>
              </a:rPr>
              <a:t>q.X-p.X</a:t>
            </a:r>
            <a:r>
              <a:rPr lang="en-US" sz="1600" dirty="0" smtClean="0">
                <a:solidFill>
                  <a:srgbClr val="D4D4D4"/>
                </a:solidFill>
                <a:latin typeface="Consolas"/>
              </a:rPr>
              <a:t>, </a:t>
            </a:r>
            <a:r>
              <a:rPr lang="en-US" sz="1600" dirty="0" err="1" smtClean="0">
                <a:solidFill>
                  <a:srgbClr val="D4D4D4"/>
                </a:solidFill>
                <a:latin typeface="Consolas"/>
              </a:rPr>
              <a:t>q.Y-p.Y</a:t>
            </a:r>
            <a:r>
              <a:rPr lang="en-US" sz="1600" dirty="0" smtClean="0">
                <a:solidFill>
                  <a:srgbClr val="D4D4D4"/>
                </a:solidFill>
                <a:latin typeface="Consolas"/>
              </a:rPr>
              <a:t>)</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6A9955"/>
                </a:solidFill>
                <a:latin typeface="Consolas"/>
              </a:rPr>
              <a:t>// same thing, but as a method of the Point type</a:t>
            </a:r>
            <a:endParaRPr lang="en-US" sz="1600" dirty="0" smtClean="0">
              <a:solidFill>
                <a:srgbClr val="D4D4D4"/>
              </a:solidFill>
              <a:latin typeface="Consolas"/>
            </a:endParaRPr>
          </a:p>
          <a:p>
            <a:r>
              <a:rPr lang="en-US" sz="1600" dirty="0" smtClean="0">
                <a:solidFill>
                  <a:srgbClr val="6A9955"/>
                </a:solidFill>
                <a:latin typeface="Consolas"/>
              </a:rPr>
              <a:t>// p is an argument providing access to the type properties in the method</a:t>
            </a:r>
            <a:endParaRPr lang="en-US" sz="1600" dirty="0" smtClean="0">
              <a:solidFill>
                <a:srgbClr val="D4D4D4"/>
              </a:solidFill>
              <a:latin typeface="Consolas"/>
            </a:endParaRPr>
          </a:p>
          <a:p>
            <a:r>
              <a:rPr lang="en-US" sz="1600" dirty="0" err="1" smtClean="0">
                <a:solidFill>
                  <a:srgbClr val="569CD6"/>
                </a:solidFill>
                <a:latin typeface="Consolas"/>
              </a:rPr>
              <a:t>func</a:t>
            </a:r>
            <a:r>
              <a:rPr lang="en-US" sz="1600" dirty="0" smtClean="0">
                <a:solidFill>
                  <a:srgbClr val="D4D4D4"/>
                </a:solidFill>
                <a:latin typeface="Consolas"/>
              </a:rPr>
              <a:t> (p Point) </a:t>
            </a:r>
            <a:r>
              <a:rPr lang="en-US" sz="1600" dirty="0" smtClean="0">
                <a:solidFill>
                  <a:srgbClr val="DCDCAA"/>
                </a:solidFill>
                <a:latin typeface="Consolas"/>
              </a:rPr>
              <a:t>Distance</a:t>
            </a:r>
            <a:r>
              <a:rPr lang="en-US" sz="1600" dirty="0" smtClean="0">
                <a:solidFill>
                  <a:srgbClr val="D4D4D4"/>
                </a:solidFill>
                <a:latin typeface="Consolas"/>
              </a:rPr>
              <a:t>(q Point) </a:t>
            </a:r>
            <a:r>
              <a:rPr lang="en-US" sz="1600" dirty="0" smtClean="0">
                <a:solidFill>
                  <a:srgbClr val="4EC9B0"/>
                </a:solidFill>
                <a:latin typeface="Consolas"/>
              </a:rPr>
              <a:t>float64</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err="1" smtClean="0">
                <a:solidFill>
                  <a:srgbClr val="D4D4D4"/>
                </a:solidFill>
                <a:latin typeface="Consolas"/>
              </a:rPr>
              <a:t>math.</a:t>
            </a:r>
            <a:r>
              <a:rPr lang="en-US" sz="1600" dirty="0" err="1" smtClean="0">
                <a:solidFill>
                  <a:srgbClr val="DCDCAA"/>
                </a:solidFill>
                <a:latin typeface="Consolas"/>
              </a:rPr>
              <a:t>Hypot</a:t>
            </a:r>
            <a:r>
              <a:rPr lang="en-US" sz="1600" dirty="0" smtClean="0">
                <a:solidFill>
                  <a:srgbClr val="D4D4D4"/>
                </a:solidFill>
                <a:latin typeface="Consolas"/>
              </a:rPr>
              <a:t>(</a:t>
            </a:r>
            <a:r>
              <a:rPr lang="en-US" sz="1600" dirty="0" err="1" smtClean="0">
                <a:solidFill>
                  <a:srgbClr val="D4D4D4"/>
                </a:solidFill>
                <a:latin typeface="Consolas"/>
              </a:rPr>
              <a:t>q.X-p.X</a:t>
            </a:r>
            <a:r>
              <a:rPr lang="en-US" sz="1600" dirty="0" smtClean="0">
                <a:solidFill>
                  <a:srgbClr val="D4D4D4"/>
                </a:solidFill>
                <a:latin typeface="Consolas"/>
              </a:rPr>
              <a:t>, </a:t>
            </a:r>
            <a:r>
              <a:rPr lang="en-US" sz="1600" dirty="0" err="1" smtClean="0">
                <a:solidFill>
                  <a:srgbClr val="D4D4D4"/>
                </a:solidFill>
                <a:latin typeface="Consolas"/>
              </a:rPr>
              <a:t>q.Y-p.Y</a:t>
            </a:r>
            <a:r>
              <a:rPr lang="en-US" sz="1600" dirty="0" smtClean="0">
                <a:solidFill>
                  <a:srgbClr val="D4D4D4"/>
                </a:solidFill>
                <a:latin typeface="Consolas"/>
              </a:rPr>
              <a:t>)</a:t>
            </a:r>
          </a:p>
          <a:p>
            <a:r>
              <a:rPr lang="en-US" sz="1600" dirty="0" smtClean="0">
                <a:solidFill>
                  <a:srgbClr val="D4D4D4"/>
                </a:solidFill>
                <a:latin typeface="Consolas"/>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Code: </a:t>
            </a:r>
            <a:r>
              <a:rPr lang="en-US" dirty="0" err="1" smtClean="0">
                <a:latin typeface="Consolas" pitchFamily="49" charset="0"/>
              </a:rPr>
              <a:t>methods.go</a:t>
            </a:r>
            <a:endParaRPr lang="en-US" dirty="0">
              <a:latin typeface="Consolas" pitchFamily="49" charset="0"/>
            </a:endParaRPr>
          </a:p>
        </p:txBody>
      </p:sp>
      <p:sp>
        <p:nvSpPr>
          <p:cNvPr id="4" name="Content Placeholder 2"/>
          <p:cNvSpPr txBox="1">
            <a:spLocks/>
          </p:cNvSpPr>
          <p:nvPr/>
        </p:nvSpPr>
        <p:spPr bwMode="auto">
          <a:xfrm>
            <a:off x="457200" y="1524000"/>
            <a:ext cx="8229600" cy="5029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200" dirty="0" smtClean="0">
                <a:solidFill>
                  <a:srgbClr val="569CD6"/>
                </a:solidFill>
                <a:latin typeface="Consolas"/>
              </a:rPr>
              <a:t>package</a:t>
            </a:r>
            <a:r>
              <a:rPr lang="en-US" sz="1200" dirty="0" smtClean="0">
                <a:solidFill>
                  <a:srgbClr val="D4D4D4"/>
                </a:solidFill>
                <a:latin typeface="Consolas"/>
              </a:rPr>
              <a:t> main</a:t>
            </a:r>
          </a:p>
          <a:p>
            <a:r>
              <a:rPr lang="en-US" sz="1200" dirty="0" smtClean="0">
                <a:solidFill>
                  <a:srgbClr val="D4D4D4"/>
                </a:solidFill>
                <a:latin typeface="Consolas"/>
              </a:rPr>
              <a:t/>
            </a:r>
            <a:br>
              <a:rPr lang="en-US" sz="1200" dirty="0" smtClean="0">
                <a:solidFill>
                  <a:srgbClr val="D4D4D4"/>
                </a:solidFill>
                <a:latin typeface="Consolas"/>
              </a:rPr>
            </a:br>
            <a:r>
              <a:rPr lang="en-US" sz="1200" dirty="0" smtClean="0">
                <a:solidFill>
                  <a:srgbClr val="569CD6"/>
                </a:solidFill>
                <a:latin typeface="Consolas"/>
              </a:rPr>
              <a:t>import</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CE9178"/>
                </a:solidFill>
                <a:latin typeface="Consolas"/>
              </a:rPr>
              <a:t>"</a:t>
            </a:r>
            <a:r>
              <a:rPr lang="en-US" sz="1200" dirty="0" err="1" smtClean="0">
                <a:solidFill>
                  <a:srgbClr val="CE9178"/>
                </a:solidFill>
                <a:latin typeface="Consolas"/>
              </a:rPr>
              <a:t>fmt</a:t>
            </a:r>
            <a:r>
              <a:rPr lang="en-US" sz="1200" dirty="0" smtClean="0">
                <a:solidFill>
                  <a:srgbClr val="CE9178"/>
                </a:solidFill>
                <a:latin typeface="Consolas"/>
              </a:rPr>
              <a:t>"</a:t>
            </a:r>
            <a:endParaRPr lang="en-US" sz="1200" dirty="0" smtClean="0">
              <a:solidFill>
                <a:srgbClr val="D4D4D4"/>
              </a:solidFill>
              <a:latin typeface="Consolas"/>
            </a:endParaRPr>
          </a:p>
          <a:p>
            <a:r>
              <a:rPr lang="en-US" sz="1200" dirty="0" smtClean="0">
                <a:solidFill>
                  <a:srgbClr val="D4D4D4"/>
                </a:solidFill>
                <a:latin typeface="Consolas"/>
              </a:rPr>
              <a:t>    </a:t>
            </a:r>
            <a:r>
              <a:rPr lang="en-US" sz="1200" dirty="0" smtClean="0">
                <a:solidFill>
                  <a:srgbClr val="CE9178"/>
                </a:solidFill>
                <a:latin typeface="Consolas"/>
              </a:rPr>
              <a:t>"math"</a:t>
            </a:r>
            <a:endParaRPr lang="en-US" sz="1200" dirty="0" smtClean="0">
              <a:solidFill>
                <a:srgbClr val="D4D4D4"/>
              </a:solidFill>
              <a:latin typeface="Consolas"/>
            </a:endParaRPr>
          </a:p>
          <a:p>
            <a:r>
              <a:rPr lang="en-US" sz="1200" dirty="0" smtClean="0">
                <a:solidFill>
                  <a:srgbClr val="D4D4D4"/>
                </a:solidFill>
                <a:latin typeface="Consolas"/>
              </a:rPr>
              <a:t>)</a:t>
            </a:r>
          </a:p>
          <a:p>
            <a:r>
              <a:rPr lang="en-US" sz="1200" dirty="0" smtClean="0">
                <a:solidFill>
                  <a:srgbClr val="D4D4D4"/>
                </a:solidFill>
                <a:latin typeface="Consolas"/>
              </a:rPr>
              <a:t/>
            </a:r>
            <a:br>
              <a:rPr lang="en-US" sz="1200" dirty="0" smtClean="0">
                <a:solidFill>
                  <a:srgbClr val="D4D4D4"/>
                </a:solidFill>
                <a:latin typeface="Consolas"/>
              </a:rPr>
            </a:br>
            <a:r>
              <a:rPr lang="en-US" sz="1200" dirty="0" smtClean="0">
                <a:solidFill>
                  <a:srgbClr val="569CD6"/>
                </a:solidFill>
                <a:latin typeface="Consolas"/>
              </a:rPr>
              <a:t>type</a:t>
            </a:r>
            <a:r>
              <a:rPr lang="en-US" sz="1200" dirty="0" smtClean="0">
                <a:solidFill>
                  <a:srgbClr val="D4D4D4"/>
                </a:solidFill>
                <a:latin typeface="Consolas"/>
              </a:rPr>
              <a:t> </a:t>
            </a:r>
            <a:r>
              <a:rPr lang="en-US" sz="1200" dirty="0" smtClean="0">
                <a:solidFill>
                  <a:srgbClr val="4EC9B0"/>
                </a:solidFill>
                <a:latin typeface="Consolas"/>
              </a:rPr>
              <a:t>Point</a:t>
            </a:r>
            <a:r>
              <a:rPr lang="en-US" sz="1200" dirty="0" smtClean="0">
                <a:solidFill>
                  <a:srgbClr val="D4D4D4"/>
                </a:solidFill>
                <a:latin typeface="Consolas"/>
              </a:rPr>
              <a:t> </a:t>
            </a:r>
            <a:r>
              <a:rPr lang="en-US" sz="1200" dirty="0" err="1" smtClean="0">
                <a:solidFill>
                  <a:srgbClr val="569CD6"/>
                </a:solidFill>
                <a:latin typeface="Consolas"/>
              </a:rPr>
              <a:t>struct</a:t>
            </a:r>
            <a:r>
              <a:rPr lang="en-US" sz="1200" dirty="0" smtClean="0">
                <a:solidFill>
                  <a:srgbClr val="D4D4D4"/>
                </a:solidFill>
                <a:latin typeface="Consolas"/>
              </a:rPr>
              <a:t>{ X, Y </a:t>
            </a:r>
            <a:r>
              <a:rPr lang="en-US" sz="1200" dirty="0" smtClean="0">
                <a:solidFill>
                  <a:srgbClr val="4EC9B0"/>
                </a:solidFill>
                <a:latin typeface="Consolas"/>
              </a:rPr>
              <a:t>float64</a:t>
            </a:r>
            <a:r>
              <a:rPr lang="en-US" sz="1200" dirty="0" smtClean="0">
                <a:solidFill>
                  <a:srgbClr val="D4D4D4"/>
                </a:solidFill>
                <a:latin typeface="Consolas"/>
              </a:rPr>
              <a:t> }</a:t>
            </a:r>
          </a:p>
          <a:p>
            <a:r>
              <a:rPr lang="en-US" sz="1200" dirty="0" smtClean="0">
                <a:solidFill>
                  <a:srgbClr val="D4D4D4"/>
                </a:solidFill>
                <a:latin typeface="Consolas"/>
              </a:rPr>
              <a:t/>
            </a:r>
            <a:br>
              <a:rPr lang="en-US" sz="1200" dirty="0" smtClean="0">
                <a:solidFill>
                  <a:srgbClr val="D4D4D4"/>
                </a:solidFill>
                <a:latin typeface="Consolas"/>
              </a:rPr>
            </a:br>
            <a:r>
              <a:rPr lang="en-US" sz="1200" dirty="0" smtClean="0">
                <a:solidFill>
                  <a:srgbClr val="6A9955"/>
                </a:solidFill>
                <a:latin typeface="Consolas"/>
              </a:rPr>
              <a:t>// traditional function</a:t>
            </a:r>
            <a:endParaRPr lang="en-US" sz="1200" dirty="0" smtClean="0">
              <a:solidFill>
                <a:srgbClr val="D4D4D4"/>
              </a:solidFill>
              <a:latin typeface="Consolas"/>
            </a:endParaRPr>
          </a:p>
          <a:p>
            <a:r>
              <a:rPr lang="en-US" sz="1200" dirty="0" err="1" smtClean="0">
                <a:solidFill>
                  <a:srgbClr val="569CD6"/>
                </a:solidFill>
                <a:latin typeface="Consolas"/>
              </a:rPr>
              <a:t>func</a:t>
            </a:r>
            <a:r>
              <a:rPr lang="en-US" sz="1200" dirty="0" smtClean="0">
                <a:solidFill>
                  <a:srgbClr val="D4D4D4"/>
                </a:solidFill>
                <a:latin typeface="Consolas"/>
              </a:rPr>
              <a:t> </a:t>
            </a:r>
            <a:r>
              <a:rPr lang="en-US" sz="1200" dirty="0" smtClean="0">
                <a:solidFill>
                  <a:srgbClr val="DCDCAA"/>
                </a:solidFill>
                <a:latin typeface="Consolas"/>
              </a:rPr>
              <a:t>Distance</a:t>
            </a:r>
            <a:r>
              <a:rPr lang="en-US" sz="1200" dirty="0" smtClean="0">
                <a:solidFill>
                  <a:srgbClr val="D4D4D4"/>
                </a:solidFill>
                <a:latin typeface="Consolas"/>
              </a:rPr>
              <a:t>(p, q Point) </a:t>
            </a:r>
            <a:r>
              <a:rPr lang="en-US" sz="1200" dirty="0" smtClean="0">
                <a:solidFill>
                  <a:srgbClr val="4EC9B0"/>
                </a:solidFill>
                <a:latin typeface="Consolas"/>
              </a:rPr>
              <a:t>float64</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C586C0"/>
                </a:solidFill>
                <a:latin typeface="Consolas"/>
              </a:rPr>
              <a:t>return</a:t>
            </a:r>
            <a:r>
              <a:rPr lang="en-US" sz="1200" dirty="0" smtClean="0">
                <a:solidFill>
                  <a:srgbClr val="D4D4D4"/>
                </a:solidFill>
                <a:latin typeface="Consolas"/>
              </a:rPr>
              <a:t> </a:t>
            </a:r>
            <a:r>
              <a:rPr lang="en-US" sz="1200" dirty="0" err="1" smtClean="0">
                <a:solidFill>
                  <a:srgbClr val="D4D4D4"/>
                </a:solidFill>
                <a:latin typeface="Consolas"/>
              </a:rPr>
              <a:t>math.</a:t>
            </a:r>
            <a:r>
              <a:rPr lang="en-US" sz="1200" dirty="0" err="1" smtClean="0">
                <a:solidFill>
                  <a:srgbClr val="DCDCAA"/>
                </a:solidFill>
                <a:latin typeface="Consolas"/>
              </a:rPr>
              <a:t>Hypot</a:t>
            </a:r>
            <a:r>
              <a:rPr lang="en-US" sz="1200" dirty="0" smtClean="0">
                <a:solidFill>
                  <a:srgbClr val="D4D4D4"/>
                </a:solidFill>
                <a:latin typeface="Consolas"/>
              </a:rPr>
              <a:t>(</a:t>
            </a:r>
            <a:r>
              <a:rPr lang="en-US" sz="1200" dirty="0" err="1" smtClean="0">
                <a:solidFill>
                  <a:srgbClr val="D4D4D4"/>
                </a:solidFill>
                <a:latin typeface="Consolas"/>
              </a:rPr>
              <a:t>q.X-p.X</a:t>
            </a:r>
            <a:r>
              <a:rPr lang="en-US" sz="1200" dirty="0" smtClean="0">
                <a:solidFill>
                  <a:srgbClr val="D4D4D4"/>
                </a:solidFill>
                <a:latin typeface="Consolas"/>
              </a:rPr>
              <a:t>, </a:t>
            </a:r>
            <a:r>
              <a:rPr lang="en-US" sz="1200" dirty="0" err="1" smtClean="0">
                <a:solidFill>
                  <a:srgbClr val="D4D4D4"/>
                </a:solidFill>
                <a:latin typeface="Consolas"/>
              </a:rPr>
              <a:t>q.Y-p.Y</a:t>
            </a:r>
            <a:r>
              <a:rPr lang="en-US" sz="1200" dirty="0" smtClean="0">
                <a:solidFill>
                  <a:srgbClr val="D4D4D4"/>
                </a:solidFill>
                <a:latin typeface="Consolas"/>
              </a:rPr>
              <a:t>)</a:t>
            </a:r>
          </a:p>
          <a:p>
            <a:r>
              <a:rPr lang="en-US" sz="1200" dirty="0" smtClean="0">
                <a:solidFill>
                  <a:srgbClr val="D4D4D4"/>
                </a:solidFill>
                <a:latin typeface="Consolas"/>
              </a:rPr>
              <a:t>}</a:t>
            </a:r>
          </a:p>
          <a:p>
            <a:r>
              <a:rPr lang="en-US" sz="1200" dirty="0" smtClean="0">
                <a:solidFill>
                  <a:srgbClr val="D4D4D4"/>
                </a:solidFill>
                <a:latin typeface="Consolas"/>
              </a:rPr>
              <a:t/>
            </a:r>
            <a:br>
              <a:rPr lang="en-US" sz="1200" dirty="0" smtClean="0">
                <a:solidFill>
                  <a:srgbClr val="D4D4D4"/>
                </a:solidFill>
                <a:latin typeface="Consolas"/>
              </a:rPr>
            </a:br>
            <a:r>
              <a:rPr lang="en-US" sz="1200" dirty="0" smtClean="0">
                <a:solidFill>
                  <a:srgbClr val="6A9955"/>
                </a:solidFill>
                <a:latin typeface="Consolas"/>
              </a:rPr>
              <a:t>// same thing, but as a method of the Point type</a:t>
            </a:r>
            <a:endParaRPr lang="en-US" sz="1200" dirty="0" smtClean="0">
              <a:solidFill>
                <a:srgbClr val="D4D4D4"/>
              </a:solidFill>
              <a:latin typeface="Consolas"/>
            </a:endParaRPr>
          </a:p>
          <a:p>
            <a:r>
              <a:rPr lang="en-US" sz="1200" dirty="0" smtClean="0">
                <a:solidFill>
                  <a:srgbClr val="6A9955"/>
                </a:solidFill>
                <a:latin typeface="Consolas"/>
              </a:rPr>
              <a:t>// p is an argument providing access to the type properties in the method</a:t>
            </a:r>
            <a:endParaRPr lang="en-US" sz="1200" dirty="0" smtClean="0">
              <a:solidFill>
                <a:srgbClr val="D4D4D4"/>
              </a:solidFill>
              <a:latin typeface="Consolas"/>
            </a:endParaRPr>
          </a:p>
          <a:p>
            <a:r>
              <a:rPr lang="en-US" sz="1200" dirty="0" err="1" smtClean="0">
                <a:solidFill>
                  <a:srgbClr val="569CD6"/>
                </a:solidFill>
                <a:latin typeface="Consolas"/>
              </a:rPr>
              <a:t>func</a:t>
            </a:r>
            <a:r>
              <a:rPr lang="en-US" sz="1200" dirty="0" smtClean="0">
                <a:solidFill>
                  <a:srgbClr val="D4D4D4"/>
                </a:solidFill>
                <a:latin typeface="Consolas"/>
              </a:rPr>
              <a:t> (p Point) </a:t>
            </a:r>
            <a:r>
              <a:rPr lang="en-US" sz="1200" dirty="0" smtClean="0">
                <a:solidFill>
                  <a:srgbClr val="DCDCAA"/>
                </a:solidFill>
                <a:latin typeface="Consolas"/>
              </a:rPr>
              <a:t>Distance</a:t>
            </a:r>
            <a:r>
              <a:rPr lang="en-US" sz="1200" dirty="0" smtClean="0">
                <a:solidFill>
                  <a:srgbClr val="D4D4D4"/>
                </a:solidFill>
                <a:latin typeface="Consolas"/>
              </a:rPr>
              <a:t>(q Point) </a:t>
            </a:r>
            <a:r>
              <a:rPr lang="en-US" sz="1200" dirty="0" smtClean="0">
                <a:solidFill>
                  <a:srgbClr val="4EC9B0"/>
                </a:solidFill>
                <a:latin typeface="Consolas"/>
              </a:rPr>
              <a:t>float64</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C586C0"/>
                </a:solidFill>
                <a:latin typeface="Consolas"/>
              </a:rPr>
              <a:t>return</a:t>
            </a:r>
            <a:r>
              <a:rPr lang="en-US" sz="1200" dirty="0" smtClean="0">
                <a:solidFill>
                  <a:srgbClr val="D4D4D4"/>
                </a:solidFill>
                <a:latin typeface="Consolas"/>
              </a:rPr>
              <a:t> </a:t>
            </a:r>
            <a:r>
              <a:rPr lang="en-US" sz="1200" dirty="0" err="1" smtClean="0">
                <a:solidFill>
                  <a:srgbClr val="D4D4D4"/>
                </a:solidFill>
                <a:latin typeface="Consolas"/>
              </a:rPr>
              <a:t>math.</a:t>
            </a:r>
            <a:r>
              <a:rPr lang="en-US" sz="1200" dirty="0" err="1" smtClean="0">
                <a:solidFill>
                  <a:srgbClr val="DCDCAA"/>
                </a:solidFill>
                <a:latin typeface="Consolas"/>
              </a:rPr>
              <a:t>Hypot</a:t>
            </a:r>
            <a:r>
              <a:rPr lang="en-US" sz="1200" dirty="0" smtClean="0">
                <a:solidFill>
                  <a:srgbClr val="D4D4D4"/>
                </a:solidFill>
                <a:latin typeface="Consolas"/>
              </a:rPr>
              <a:t>(</a:t>
            </a:r>
            <a:r>
              <a:rPr lang="en-US" sz="1200" dirty="0" err="1" smtClean="0">
                <a:solidFill>
                  <a:srgbClr val="D4D4D4"/>
                </a:solidFill>
                <a:latin typeface="Consolas"/>
              </a:rPr>
              <a:t>q.X-p.X</a:t>
            </a:r>
            <a:r>
              <a:rPr lang="en-US" sz="1200" dirty="0" smtClean="0">
                <a:solidFill>
                  <a:srgbClr val="D4D4D4"/>
                </a:solidFill>
                <a:latin typeface="Consolas"/>
              </a:rPr>
              <a:t>, </a:t>
            </a:r>
            <a:r>
              <a:rPr lang="en-US" sz="1200" dirty="0" err="1" smtClean="0">
                <a:solidFill>
                  <a:srgbClr val="D4D4D4"/>
                </a:solidFill>
                <a:latin typeface="Consolas"/>
              </a:rPr>
              <a:t>q.Y-p.Y</a:t>
            </a:r>
            <a:r>
              <a:rPr lang="en-US" sz="1200" dirty="0" smtClean="0">
                <a:solidFill>
                  <a:srgbClr val="D4D4D4"/>
                </a:solidFill>
                <a:latin typeface="Consolas"/>
              </a:rPr>
              <a:t>)</a:t>
            </a:r>
          </a:p>
          <a:p>
            <a:r>
              <a:rPr lang="en-US" sz="1200" dirty="0" smtClean="0">
                <a:solidFill>
                  <a:srgbClr val="D4D4D4"/>
                </a:solidFill>
                <a:latin typeface="Consolas"/>
              </a:rPr>
              <a:t>}</a:t>
            </a:r>
          </a:p>
          <a:p>
            <a:r>
              <a:rPr lang="en-US" sz="1200" dirty="0" smtClean="0">
                <a:solidFill>
                  <a:srgbClr val="D4D4D4"/>
                </a:solidFill>
                <a:latin typeface="Consolas"/>
              </a:rPr>
              <a:t/>
            </a:r>
            <a:br>
              <a:rPr lang="en-US" sz="1200" dirty="0" smtClean="0">
                <a:solidFill>
                  <a:srgbClr val="D4D4D4"/>
                </a:solidFill>
                <a:latin typeface="Consolas"/>
              </a:rPr>
            </a:br>
            <a:r>
              <a:rPr lang="en-US" sz="1200" dirty="0" err="1" smtClean="0">
                <a:solidFill>
                  <a:srgbClr val="569CD6"/>
                </a:solidFill>
                <a:latin typeface="Consolas"/>
              </a:rPr>
              <a:t>func</a:t>
            </a:r>
            <a:r>
              <a:rPr lang="en-US" sz="1200" dirty="0" smtClean="0">
                <a:solidFill>
                  <a:srgbClr val="D4D4D4"/>
                </a:solidFill>
                <a:latin typeface="Consolas"/>
              </a:rPr>
              <a:t> </a:t>
            </a:r>
            <a:r>
              <a:rPr lang="en-US" sz="1200" dirty="0" smtClean="0">
                <a:solidFill>
                  <a:srgbClr val="DCDCAA"/>
                </a:solidFill>
                <a:latin typeface="Consolas"/>
              </a:rPr>
              <a:t>main</a:t>
            </a:r>
            <a:r>
              <a:rPr lang="en-US" sz="1200" dirty="0" smtClean="0">
                <a:solidFill>
                  <a:srgbClr val="D4D4D4"/>
                </a:solidFill>
                <a:latin typeface="Consolas"/>
              </a:rPr>
              <a:t>() {</a:t>
            </a:r>
          </a:p>
          <a:p>
            <a:r>
              <a:rPr lang="en-US" sz="1200" dirty="0" smtClean="0">
                <a:solidFill>
                  <a:srgbClr val="D4D4D4"/>
                </a:solidFill>
                <a:latin typeface="Consolas"/>
              </a:rPr>
              <a:t>    </a:t>
            </a:r>
            <a:r>
              <a:rPr lang="en-US" sz="1200" dirty="0" smtClean="0">
                <a:solidFill>
                  <a:srgbClr val="9CDCFE"/>
                </a:solidFill>
                <a:latin typeface="Consolas"/>
              </a:rPr>
              <a:t>p</a:t>
            </a:r>
            <a:r>
              <a:rPr lang="en-US" sz="1200" dirty="0" smtClean="0">
                <a:solidFill>
                  <a:srgbClr val="D4D4D4"/>
                </a:solidFill>
                <a:latin typeface="Consolas"/>
              </a:rPr>
              <a:t> := Point{</a:t>
            </a:r>
            <a:r>
              <a:rPr lang="en-US" sz="1200" dirty="0" smtClean="0">
                <a:solidFill>
                  <a:srgbClr val="B5CEA8"/>
                </a:solidFill>
                <a:latin typeface="Consolas"/>
              </a:rPr>
              <a:t>1</a:t>
            </a:r>
            <a:r>
              <a:rPr lang="en-US" sz="1200" dirty="0" smtClean="0">
                <a:solidFill>
                  <a:srgbClr val="D4D4D4"/>
                </a:solidFill>
                <a:latin typeface="Consolas"/>
              </a:rPr>
              <a:t>, </a:t>
            </a:r>
            <a:r>
              <a:rPr lang="en-US" sz="1200" dirty="0" smtClean="0">
                <a:solidFill>
                  <a:srgbClr val="B5CEA8"/>
                </a:solidFill>
                <a:latin typeface="Consolas"/>
              </a:rPr>
              <a:t>2</a:t>
            </a:r>
            <a:r>
              <a:rPr lang="en-US" sz="1200" dirty="0" smtClean="0">
                <a:solidFill>
                  <a:srgbClr val="D4D4D4"/>
                </a:solidFill>
                <a:latin typeface="Consolas"/>
              </a:rPr>
              <a:t>}</a:t>
            </a:r>
          </a:p>
          <a:p>
            <a:r>
              <a:rPr lang="en-US" sz="1200" dirty="0" smtClean="0">
                <a:solidFill>
                  <a:srgbClr val="D4D4D4"/>
                </a:solidFill>
                <a:latin typeface="Consolas"/>
              </a:rPr>
              <a:t>    </a:t>
            </a:r>
            <a:r>
              <a:rPr lang="en-US" sz="1200" dirty="0" smtClean="0">
                <a:solidFill>
                  <a:srgbClr val="9CDCFE"/>
                </a:solidFill>
                <a:latin typeface="Consolas"/>
              </a:rPr>
              <a:t>q</a:t>
            </a:r>
            <a:r>
              <a:rPr lang="en-US" sz="1200" dirty="0" smtClean="0">
                <a:solidFill>
                  <a:srgbClr val="D4D4D4"/>
                </a:solidFill>
                <a:latin typeface="Consolas"/>
              </a:rPr>
              <a:t> := Point{</a:t>
            </a:r>
            <a:r>
              <a:rPr lang="en-US" sz="1200" dirty="0" smtClean="0">
                <a:solidFill>
                  <a:srgbClr val="B5CEA8"/>
                </a:solidFill>
                <a:latin typeface="Consolas"/>
              </a:rPr>
              <a:t>4</a:t>
            </a:r>
            <a:r>
              <a:rPr lang="en-US" sz="1200" dirty="0" smtClean="0">
                <a:solidFill>
                  <a:srgbClr val="D4D4D4"/>
                </a:solidFill>
                <a:latin typeface="Consolas"/>
              </a:rPr>
              <a:t>, </a:t>
            </a:r>
            <a:r>
              <a:rPr lang="en-US" sz="1200" dirty="0" smtClean="0">
                <a:solidFill>
                  <a:srgbClr val="B5CEA8"/>
                </a:solidFill>
                <a:latin typeface="Consolas"/>
              </a:rPr>
              <a:t>6</a:t>
            </a:r>
            <a:r>
              <a:rPr lang="en-US" sz="1200" dirty="0" smtClean="0">
                <a:solidFill>
                  <a:srgbClr val="D4D4D4"/>
                </a:solidFill>
                <a:latin typeface="Consolas"/>
              </a:rPr>
              <a:t>}</a:t>
            </a:r>
          </a:p>
          <a:p>
            <a:r>
              <a:rPr lang="en-US" sz="1200" dirty="0" smtClean="0">
                <a:solidFill>
                  <a:srgbClr val="D4D4D4"/>
                </a:solidFill>
                <a:latin typeface="Consolas"/>
              </a:rPr>
              <a:t>    </a:t>
            </a:r>
            <a:r>
              <a:rPr lang="en-US" sz="1200" dirty="0" err="1" smtClean="0">
                <a:solidFill>
                  <a:srgbClr val="D4D4D4"/>
                </a:solidFill>
                <a:latin typeface="Consolas"/>
              </a:rPr>
              <a:t>fmt.</a:t>
            </a:r>
            <a:r>
              <a:rPr lang="en-US" sz="1200" dirty="0" err="1" smtClean="0">
                <a:solidFill>
                  <a:srgbClr val="DCDCAA"/>
                </a:solidFill>
                <a:latin typeface="Consolas"/>
              </a:rPr>
              <a:t>Println</a:t>
            </a:r>
            <a:r>
              <a:rPr lang="en-US" sz="1200" dirty="0" smtClean="0">
                <a:solidFill>
                  <a:srgbClr val="D4D4D4"/>
                </a:solidFill>
                <a:latin typeface="Consolas"/>
              </a:rPr>
              <a:t>(</a:t>
            </a:r>
            <a:r>
              <a:rPr lang="en-US" sz="1200" dirty="0" smtClean="0">
                <a:solidFill>
                  <a:srgbClr val="DCDCAA"/>
                </a:solidFill>
                <a:latin typeface="Consolas"/>
              </a:rPr>
              <a:t>Distance</a:t>
            </a:r>
            <a:r>
              <a:rPr lang="en-US" sz="1200" dirty="0" smtClean="0">
                <a:solidFill>
                  <a:srgbClr val="D4D4D4"/>
                </a:solidFill>
                <a:latin typeface="Consolas"/>
              </a:rPr>
              <a:t>(p, q)) </a:t>
            </a:r>
            <a:r>
              <a:rPr lang="en-US" sz="1200" dirty="0" smtClean="0">
                <a:solidFill>
                  <a:srgbClr val="6A9955"/>
                </a:solidFill>
                <a:latin typeface="Consolas"/>
              </a:rPr>
              <a:t>// "5", function call</a:t>
            </a:r>
            <a:endParaRPr lang="en-US" sz="1200" dirty="0" smtClean="0">
              <a:solidFill>
                <a:srgbClr val="D4D4D4"/>
              </a:solidFill>
              <a:latin typeface="Consolas"/>
            </a:endParaRPr>
          </a:p>
          <a:p>
            <a:r>
              <a:rPr lang="en-US" sz="1200" dirty="0" smtClean="0">
                <a:solidFill>
                  <a:srgbClr val="D4D4D4"/>
                </a:solidFill>
                <a:latin typeface="Consolas"/>
              </a:rPr>
              <a:t>    </a:t>
            </a:r>
            <a:r>
              <a:rPr lang="en-US" sz="1200" dirty="0" err="1" smtClean="0">
                <a:solidFill>
                  <a:srgbClr val="D4D4D4"/>
                </a:solidFill>
                <a:latin typeface="Consolas"/>
              </a:rPr>
              <a:t>fmt.</a:t>
            </a:r>
            <a:r>
              <a:rPr lang="en-US" sz="1200" dirty="0" err="1" smtClean="0">
                <a:solidFill>
                  <a:srgbClr val="DCDCAA"/>
                </a:solidFill>
                <a:latin typeface="Consolas"/>
              </a:rPr>
              <a:t>Println</a:t>
            </a:r>
            <a:r>
              <a:rPr lang="en-US" sz="1200" dirty="0" smtClean="0">
                <a:solidFill>
                  <a:srgbClr val="D4D4D4"/>
                </a:solidFill>
                <a:latin typeface="Consolas"/>
              </a:rPr>
              <a:t>(</a:t>
            </a:r>
            <a:r>
              <a:rPr lang="en-US" sz="1200" dirty="0" err="1" smtClean="0">
                <a:solidFill>
                  <a:srgbClr val="D4D4D4"/>
                </a:solidFill>
                <a:latin typeface="Consolas"/>
              </a:rPr>
              <a:t>p.</a:t>
            </a:r>
            <a:r>
              <a:rPr lang="en-US" sz="1200" dirty="0" err="1" smtClean="0">
                <a:solidFill>
                  <a:srgbClr val="DCDCAA"/>
                </a:solidFill>
                <a:latin typeface="Consolas"/>
              </a:rPr>
              <a:t>Distance</a:t>
            </a:r>
            <a:r>
              <a:rPr lang="en-US" sz="1200" dirty="0" smtClean="0">
                <a:solidFill>
                  <a:srgbClr val="D4D4D4"/>
                </a:solidFill>
                <a:latin typeface="Consolas"/>
              </a:rPr>
              <a:t>(q))  </a:t>
            </a:r>
            <a:r>
              <a:rPr lang="en-US" sz="1200" dirty="0" smtClean="0">
                <a:solidFill>
                  <a:srgbClr val="6A9955"/>
                </a:solidFill>
                <a:latin typeface="Consolas"/>
              </a:rPr>
              <a:t>// "5", method call</a:t>
            </a:r>
            <a:endParaRPr lang="en-US" sz="1200" dirty="0" smtClean="0">
              <a:solidFill>
                <a:srgbClr val="D4D4D4"/>
              </a:solidFill>
              <a:latin typeface="Consolas"/>
            </a:endParaRPr>
          </a:p>
          <a:p>
            <a:r>
              <a:rPr lang="en-US" sz="1200" dirty="0" smtClean="0">
                <a:solidFill>
                  <a:srgbClr val="D4D4D4"/>
                </a:solidFill>
                <a:latin typeface="Consolas"/>
              </a:rPr>
              <a:t>}</a:t>
            </a:r>
          </a:p>
          <a:p>
            <a:r>
              <a:rPr lang="en-US" sz="1200" dirty="0" smtClean="0">
                <a:solidFill>
                  <a:srgbClr val="D4D4D4"/>
                </a:solidFill>
                <a:latin typeface="Consolas"/>
              </a:rPr>
              <a:t/>
            </a:r>
            <a:br>
              <a:rPr lang="en-US" sz="1200" dirty="0" smtClean="0">
                <a:solidFill>
                  <a:srgbClr val="D4D4D4"/>
                </a:solidFill>
                <a:latin typeface="Consolas"/>
              </a:rPr>
            </a:br>
            <a:endParaRPr lang="en-US" sz="1200" b="0" dirty="0">
              <a:solidFill>
                <a:srgbClr val="D4D4D4"/>
              </a:solidFill>
              <a:latin typeface="Consola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Pointer Receiver</a:t>
            </a:r>
            <a:endParaRPr lang="en-US" dirty="0"/>
          </a:p>
        </p:txBody>
      </p:sp>
      <p:sp>
        <p:nvSpPr>
          <p:cNvPr id="3" name="Content Placeholder 2"/>
          <p:cNvSpPr>
            <a:spLocks noGrp="1"/>
          </p:cNvSpPr>
          <p:nvPr>
            <p:ph idx="1"/>
          </p:nvPr>
        </p:nvSpPr>
        <p:spPr/>
        <p:txBody>
          <a:bodyPr/>
          <a:lstStyle/>
          <a:p>
            <a:r>
              <a:rPr lang="en-US" sz="2200" dirty="0" smtClean="0"/>
              <a:t>Because calling a function makes a copy of each argument value, if a function needs to update a variable, or if an argument is so large that we wish to avoid copying it, we must pass the </a:t>
            </a:r>
            <a:r>
              <a:rPr lang="en-US" sz="2200" i="1" dirty="0" smtClean="0">
                <a:solidFill>
                  <a:srgbClr val="C00000"/>
                </a:solidFill>
              </a:rPr>
              <a:t>address of the variable</a:t>
            </a:r>
            <a:r>
              <a:rPr lang="en-US" sz="2200" dirty="0" smtClean="0"/>
              <a:t> using a pointer.</a:t>
            </a:r>
          </a:p>
        </p:txBody>
      </p:sp>
      <p:sp>
        <p:nvSpPr>
          <p:cNvPr id="4" name="Content Placeholder 2"/>
          <p:cNvSpPr txBox="1">
            <a:spLocks/>
          </p:cNvSpPr>
          <p:nvPr/>
        </p:nvSpPr>
        <p:spPr bwMode="auto">
          <a:xfrm>
            <a:off x="457200" y="3200400"/>
            <a:ext cx="8229600" cy="3200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569CD6"/>
                </a:solidFill>
                <a:latin typeface="Consolas"/>
              </a:rPr>
              <a:t>type</a:t>
            </a:r>
            <a:r>
              <a:rPr lang="en-US" dirty="0" smtClean="0">
                <a:solidFill>
                  <a:srgbClr val="D4D4D4"/>
                </a:solidFill>
                <a:latin typeface="Consolas"/>
              </a:rPr>
              <a:t> </a:t>
            </a:r>
            <a:r>
              <a:rPr lang="en-US" dirty="0" smtClean="0">
                <a:solidFill>
                  <a:srgbClr val="4EC9B0"/>
                </a:solidFill>
                <a:latin typeface="Consolas"/>
              </a:rPr>
              <a:t>Point</a:t>
            </a:r>
            <a:r>
              <a:rPr lang="en-US" dirty="0" smtClean="0">
                <a:solidFill>
                  <a:srgbClr val="D4D4D4"/>
                </a:solidFill>
                <a:latin typeface="Consolas"/>
              </a:rPr>
              <a:t> </a:t>
            </a:r>
            <a:r>
              <a:rPr lang="en-US" dirty="0" err="1" smtClean="0">
                <a:solidFill>
                  <a:srgbClr val="569CD6"/>
                </a:solidFill>
                <a:latin typeface="Consolas"/>
              </a:rPr>
              <a:t>struct</a:t>
            </a:r>
            <a:r>
              <a:rPr lang="en-US" dirty="0" smtClean="0">
                <a:solidFill>
                  <a:srgbClr val="D4D4D4"/>
                </a:solidFill>
                <a:latin typeface="Consolas"/>
              </a:rPr>
              <a:t>{ X, Y </a:t>
            </a:r>
            <a:r>
              <a:rPr lang="en-US" dirty="0" smtClean="0">
                <a:solidFill>
                  <a:srgbClr val="4EC9B0"/>
                </a:solidFill>
                <a:latin typeface="Consolas"/>
              </a:rPr>
              <a:t>float64</a:t>
            </a:r>
            <a:r>
              <a:rPr lang="en-US" dirty="0" smtClean="0">
                <a:solidFill>
                  <a:srgbClr val="D4D4D4"/>
                </a:solidFill>
                <a:latin typeface="Consolas"/>
              </a:rPr>
              <a:t> }</a:t>
            </a: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func</a:t>
            </a:r>
            <a:r>
              <a:rPr lang="en-US" dirty="0" smtClean="0">
                <a:solidFill>
                  <a:srgbClr val="D4D4D4"/>
                </a:solidFill>
                <a:latin typeface="Consolas"/>
              </a:rPr>
              <a:t> (p Point) </a:t>
            </a:r>
            <a:r>
              <a:rPr lang="en-US" dirty="0" smtClean="0">
                <a:solidFill>
                  <a:srgbClr val="DCDCAA"/>
                </a:solidFill>
                <a:latin typeface="Consolas"/>
              </a:rPr>
              <a:t>ScaleBy1</a:t>
            </a:r>
            <a:r>
              <a:rPr lang="en-US" dirty="0" smtClean="0">
                <a:solidFill>
                  <a:srgbClr val="D4D4D4"/>
                </a:solidFill>
                <a:latin typeface="Consolas"/>
              </a:rPr>
              <a:t>(factor </a:t>
            </a:r>
            <a:r>
              <a:rPr lang="en-US" dirty="0" smtClean="0">
                <a:solidFill>
                  <a:srgbClr val="4EC9B0"/>
                </a:solidFill>
                <a:latin typeface="Consolas"/>
              </a:rPr>
              <a:t>float64</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p.X</a:t>
            </a:r>
            <a:r>
              <a:rPr lang="en-US" dirty="0" smtClean="0">
                <a:solidFill>
                  <a:srgbClr val="D4D4D4"/>
                </a:solidFill>
                <a:latin typeface="Consolas"/>
              </a:rPr>
              <a:t> *= factor</a:t>
            </a:r>
          </a:p>
          <a:p>
            <a:r>
              <a:rPr lang="en-US" dirty="0" smtClean="0">
                <a:solidFill>
                  <a:srgbClr val="D4D4D4"/>
                </a:solidFill>
                <a:latin typeface="Consolas"/>
              </a:rPr>
              <a:t>    </a:t>
            </a:r>
            <a:r>
              <a:rPr lang="en-US" dirty="0" err="1" smtClean="0">
                <a:solidFill>
                  <a:srgbClr val="D4D4D4"/>
                </a:solidFill>
                <a:latin typeface="Consolas"/>
              </a:rPr>
              <a:t>p.Y</a:t>
            </a:r>
            <a:r>
              <a:rPr lang="en-US" dirty="0" smtClean="0">
                <a:solidFill>
                  <a:srgbClr val="D4D4D4"/>
                </a:solidFill>
                <a:latin typeface="Consolas"/>
              </a:rPr>
              <a:t> *= factor</a:t>
            </a: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func</a:t>
            </a:r>
            <a:r>
              <a:rPr lang="en-US" dirty="0" smtClean="0">
                <a:solidFill>
                  <a:srgbClr val="D4D4D4"/>
                </a:solidFill>
                <a:latin typeface="Consolas"/>
              </a:rPr>
              <a:t> (p *Point) </a:t>
            </a:r>
            <a:r>
              <a:rPr lang="en-US" dirty="0" smtClean="0">
                <a:solidFill>
                  <a:srgbClr val="DCDCAA"/>
                </a:solidFill>
                <a:latin typeface="Consolas"/>
              </a:rPr>
              <a:t>ScaleBy2</a:t>
            </a:r>
            <a:r>
              <a:rPr lang="en-US" dirty="0" smtClean="0">
                <a:solidFill>
                  <a:srgbClr val="D4D4D4"/>
                </a:solidFill>
                <a:latin typeface="Consolas"/>
              </a:rPr>
              <a:t>(factor </a:t>
            </a:r>
            <a:r>
              <a:rPr lang="en-US" dirty="0" smtClean="0">
                <a:solidFill>
                  <a:srgbClr val="4EC9B0"/>
                </a:solidFill>
                <a:latin typeface="Consolas"/>
              </a:rPr>
              <a:t>float64</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p.X</a:t>
            </a:r>
            <a:r>
              <a:rPr lang="en-US" dirty="0" smtClean="0">
                <a:solidFill>
                  <a:srgbClr val="D4D4D4"/>
                </a:solidFill>
                <a:latin typeface="Consolas"/>
              </a:rPr>
              <a:t> *= factor</a:t>
            </a:r>
          </a:p>
          <a:p>
            <a:r>
              <a:rPr lang="en-US" dirty="0" smtClean="0">
                <a:solidFill>
                  <a:srgbClr val="D4D4D4"/>
                </a:solidFill>
                <a:latin typeface="Consolas"/>
              </a:rPr>
              <a:t>    </a:t>
            </a:r>
            <a:r>
              <a:rPr lang="en-US" dirty="0" err="1" smtClean="0">
                <a:solidFill>
                  <a:srgbClr val="D4D4D4"/>
                </a:solidFill>
                <a:latin typeface="Consolas"/>
              </a:rPr>
              <a:t>p.Y</a:t>
            </a:r>
            <a:r>
              <a:rPr lang="en-US" dirty="0" smtClean="0">
                <a:solidFill>
                  <a:srgbClr val="D4D4D4"/>
                </a:solidFill>
                <a:latin typeface="Consolas"/>
              </a:rPr>
              <a:t> *= factor</a:t>
            </a:r>
          </a:p>
          <a:p>
            <a:r>
              <a:rPr lang="en-US" dirty="0" smtClean="0">
                <a:solidFill>
                  <a:srgbClr val="D4D4D4"/>
                </a:solidFill>
                <a:latin typeface="Consolas"/>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Call Method with Pointer Receiver</a:t>
            </a:r>
            <a:endParaRPr lang="en-US" dirty="0"/>
          </a:p>
        </p:txBody>
      </p:sp>
      <p:sp>
        <p:nvSpPr>
          <p:cNvPr id="3" name="Content Placeholder 2"/>
          <p:cNvSpPr>
            <a:spLocks noGrp="1"/>
          </p:cNvSpPr>
          <p:nvPr>
            <p:ph idx="1"/>
          </p:nvPr>
        </p:nvSpPr>
        <p:spPr/>
        <p:txBody>
          <a:bodyPr/>
          <a:lstStyle/>
          <a:p>
            <a:r>
              <a:rPr lang="en-US" sz="2000" dirty="0" smtClean="0"/>
              <a:t>The name of this method is </a:t>
            </a:r>
            <a:r>
              <a:rPr lang="en-US" sz="2000" b="1" dirty="0" smtClean="0">
                <a:latin typeface="Consolas" pitchFamily="49" charset="0"/>
              </a:rPr>
              <a:t>(*Point).ScaleBy2</a:t>
            </a:r>
            <a:r>
              <a:rPr lang="en-US" sz="2000" dirty="0" smtClean="0"/>
              <a:t>.</a:t>
            </a:r>
          </a:p>
          <a:p>
            <a:r>
              <a:rPr lang="en-US" sz="2000" dirty="0" smtClean="0"/>
              <a:t>The parentheses are necessary; without them, the expression would be parsed as </a:t>
            </a:r>
            <a:r>
              <a:rPr lang="en-US" sz="2000" b="1" dirty="0" smtClean="0">
                <a:latin typeface="Consolas" pitchFamily="49" charset="0"/>
              </a:rPr>
              <a:t>*(Point.ScaleBy2)</a:t>
            </a:r>
            <a:r>
              <a:rPr lang="en-US" sz="2000" dirty="0" smtClean="0"/>
              <a:t>.</a:t>
            </a:r>
            <a:endParaRPr lang="en-US" sz="2000" dirty="0"/>
          </a:p>
        </p:txBody>
      </p:sp>
      <p:sp>
        <p:nvSpPr>
          <p:cNvPr id="4" name="Content Placeholder 2"/>
          <p:cNvSpPr txBox="1">
            <a:spLocks/>
          </p:cNvSpPr>
          <p:nvPr/>
        </p:nvSpPr>
        <p:spPr bwMode="auto">
          <a:xfrm>
            <a:off x="457200" y="3048000"/>
            <a:ext cx="8229600" cy="2895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p</a:t>
            </a:r>
            <a:r>
              <a:rPr lang="en-US" sz="1600" dirty="0" smtClean="0">
                <a:solidFill>
                  <a:srgbClr val="D4D4D4"/>
                </a:solidFill>
                <a:latin typeface="Consolas"/>
              </a:rPr>
              <a:t> := Point{</a:t>
            </a:r>
            <a:r>
              <a:rPr lang="en-US" sz="1600" dirty="0" smtClean="0">
                <a:solidFill>
                  <a:srgbClr val="B5CEA8"/>
                </a:solidFill>
                <a:latin typeface="Consolas"/>
              </a:rPr>
              <a:t>1</a:t>
            </a:r>
            <a:r>
              <a:rPr lang="en-US" sz="1600" dirty="0" smtClean="0">
                <a:solidFill>
                  <a:srgbClr val="D4D4D4"/>
                </a:solidFill>
                <a:latin typeface="Consolas"/>
              </a:rPr>
              <a:t>, </a:t>
            </a:r>
            <a:r>
              <a:rPr lang="en-US" sz="1600" dirty="0" smtClean="0">
                <a:solidFill>
                  <a:srgbClr val="B5CEA8"/>
                </a:solidFill>
                <a:latin typeface="Consolas"/>
              </a:rPr>
              <a:t>2</a:t>
            </a:r>
            <a:r>
              <a:rPr lang="en-US" sz="1600" dirty="0" smtClean="0">
                <a:solidFill>
                  <a:srgbClr val="D4D4D4"/>
                </a:solidFill>
                <a:latin typeface="Consolas"/>
              </a:rPr>
              <a:t>}</a:t>
            </a:r>
          </a:p>
          <a:p>
            <a:r>
              <a:rPr lang="en-US" sz="1600" dirty="0" smtClean="0">
                <a:solidFill>
                  <a:srgbClr val="D4D4D4"/>
                </a:solidFill>
                <a:latin typeface="Consolas"/>
              </a:rPr>
              <a:t>    p.</a:t>
            </a:r>
            <a:r>
              <a:rPr lang="en-US" sz="1600" dirty="0" smtClean="0">
                <a:solidFill>
                  <a:srgbClr val="DCDCAA"/>
                </a:solidFill>
                <a:latin typeface="Consolas"/>
              </a:rPr>
              <a:t>ScaleBy1</a:t>
            </a:r>
            <a:r>
              <a:rPr lang="en-US" sz="1600" dirty="0" smtClean="0">
                <a:solidFill>
                  <a:srgbClr val="D4D4D4"/>
                </a:solidFill>
                <a:latin typeface="Consolas"/>
              </a:rPr>
              <a:t>(</a:t>
            </a:r>
            <a:r>
              <a:rPr lang="en-US" sz="1600" dirty="0" smtClean="0">
                <a:solidFill>
                  <a:srgbClr val="B5CEA8"/>
                </a:solidFill>
                <a:latin typeface="Consolas"/>
              </a:rPr>
              <a:t>3.0</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err="1" smtClean="0">
                <a:solidFill>
                  <a:srgbClr val="D4D4D4"/>
                </a:solidFill>
                <a:latin typeface="Consolas"/>
              </a:rPr>
              <a:t>p.X</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err="1" smtClean="0">
                <a:solidFill>
                  <a:srgbClr val="D4D4D4"/>
                </a:solidFill>
                <a:latin typeface="Consolas"/>
              </a:rPr>
              <a:t>p.Y</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9CDCFE"/>
                </a:solidFill>
                <a:latin typeface="Consolas"/>
              </a:rPr>
              <a:t>q</a:t>
            </a:r>
            <a:r>
              <a:rPr lang="en-US" sz="1600" dirty="0" smtClean="0">
                <a:solidFill>
                  <a:srgbClr val="D4D4D4"/>
                </a:solidFill>
                <a:latin typeface="Consolas"/>
              </a:rPr>
              <a:t> := &amp;p</a:t>
            </a:r>
          </a:p>
          <a:p>
            <a:r>
              <a:rPr lang="en-US" sz="1600" dirty="0" smtClean="0">
                <a:solidFill>
                  <a:srgbClr val="D4D4D4"/>
                </a:solidFill>
                <a:latin typeface="Consolas"/>
              </a:rPr>
              <a:t>    q.</a:t>
            </a:r>
            <a:r>
              <a:rPr lang="en-US" sz="1600" dirty="0" smtClean="0">
                <a:solidFill>
                  <a:srgbClr val="DCDCAA"/>
                </a:solidFill>
                <a:latin typeface="Consolas"/>
              </a:rPr>
              <a:t>ScaleBy2</a:t>
            </a:r>
            <a:r>
              <a:rPr lang="en-US" sz="1600" dirty="0" smtClean="0">
                <a:solidFill>
                  <a:srgbClr val="D4D4D4"/>
                </a:solidFill>
                <a:latin typeface="Consolas"/>
              </a:rPr>
              <a:t>(</a:t>
            </a:r>
            <a:r>
              <a:rPr lang="en-US" sz="1600" dirty="0" smtClean="0">
                <a:solidFill>
                  <a:srgbClr val="B5CEA8"/>
                </a:solidFill>
                <a:latin typeface="Consolas"/>
              </a:rPr>
              <a:t>3.0</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err="1" smtClean="0">
                <a:solidFill>
                  <a:srgbClr val="D4D4D4"/>
                </a:solidFill>
                <a:latin typeface="Consolas"/>
              </a:rPr>
              <a:t>p.X</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err="1" smtClean="0">
                <a:solidFill>
                  <a:srgbClr val="D4D4D4"/>
                </a:solidFill>
                <a:latin typeface="Consolas"/>
              </a:rPr>
              <a:t>p.Y</a:t>
            </a:r>
            <a:r>
              <a:rPr lang="en-US" sz="1600" dirty="0" smtClean="0">
                <a:solidFill>
                  <a:srgbClr val="D4D4D4"/>
                </a:solidFill>
                <a:latin typeface="Consolas"/>
              </a:rPr>
              <a:t>)</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Interface Types [1, 2]</a:t>
            </a:r>
            <a:endParaRPr lang="en-US" dirty="0"/>
          </a:p>
        </p:txBody>
      </p:sp>
      <p:sp>
        <p:nvSpPr>
          <p:cNvPr id="3" name="Content Placeholder 2"/>
          <p:cNvSpPr>
            <a:spLocks noGrp="1"/>
          </p:cNvSpPr>
          <p:nvPr>
            <p:ph idx="1"/>
          </p:nvPr>
        </p:nvSpPr>
        <p:spPr/>
        <p:txBody>
          <a:bodyPr/>
          <a:lstStyle/>
          <a:p>
            <a:r>
              <a:rPr lang="en-US" sz="2200" dirty="0" smtClean="0"/>
              <a:t>An </a:t>
            </a:r>
            <a:r>
              <a:rPr lang="en-US" sz="2200" i="1" dirty="0" smtClean="0">
                <a:solidFill>
                  <a:srgbClr val="C00000"/>
                </a:solidFill>
              </a:rPr>
              <a:t>interface type</a:t>
            </a:r>
            <a:r>
              <a:rPr lang="en-US" sz="2200" dirty="0" smtClean="0"/>
              <a:t> specifies </a:t>
            </a:r>
            <a:r>
              <a:rPr lang="en-US" sz="2200" u="sng" dirty="0" smtClean="0"/>
              <a:t>a set of methods</a:t>
            </a:r>
            <a:r>
              <a:rPr lang="en-US" sz="2200" dirty="0" smtClean="0"/>
              <a:t> that a concrete type must possess to be considered an instance of that interface.</a:t>
            </a:r>
          </a:p>
        </p:txBody>
      </p:sp>
      <p:sp>
        <p:nvSpPr>
          <p:cNvPr id="4" name="Content Placeholder 2"/>
          <p:cNvSpPr txBox="1">
            <a:spLocks/>
          </p:cNvSpPr>
          <p:nvPr/>
        </p:nvSpPr>
        <p:spPr bwMode="auto">
          <a:xfrm>
            <a:off x="457200" y="2667000"/>
            <a:ext cx="8229600" cy="2743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package</a:t>
            </a:r>
            <a:r>
              <a:rPr lang="en-US" sz="1600" dirty="0" smtClean="0">
                <a:solidFill>
                  <a:srgbClr val="D4D4D4"/>
                </a:solidFill>
                <a:latin typeface="Consolas"/>
              </a:rPr>
              <a:t> main</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import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fmt</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"strings"</a:t>
            </a:r>
            <a:endParaRPr lang="en-US" sz="1600" dirty="0" smtClean="0">
              <a:solidFill>
                <a:srgbClr val="D4D4D4"/>
              </a:solidFill>
              <a:latin typeface="Consolas"/>
            </a:endParaRP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type</a:t>
            </a:r>
            <a:r>
              <a:rPr lang="en-US" sz="1600" dirty="0" smtClean="0">
                <a:solidFill>
                  <a:srgbClr val="D4D4D4"/>
                </a:solidFill>
                <a:latin typeface="Consolas"/>
              </a:rPr>
              <a:t> </a:t>
            </a:r>
            <a:r>
              <a:rPr lang="en-US" sz="1600" dirty="0" smtClean="0">
                <a:solidFill>
                  <a:srgbClr val="4EC9B0"/>
                </a:solidFill>
                <a:latin typeface="Consolas"/>
              </a:rPr>
              <a:t>talker</a:t>
            </a:r>
            <a:r>
              <a:rPr lang="en-US" sz="1600" dirty="0" smtClean="0">
                <a:solidFill>
                  <a:srgbClr val="D4D4D4"/>
                </a:solidFill>
                <a:latin typeface="Consolas"/>
              </a:rPr>
              <a:t> </a:t>
            </a:r>
            <a:r>
              <a:rPr lang="en-US" sz="1600" dirty="0" smtClean="0">
                <a:solidFill>
                  <a:srgbClr val="569CD6"/>
                </a:solidFill>
                <a:latin typeface="Consolas"/>
              </a:rPr>
              <a:t>interface</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DCDCAA"/>
                </a:solidFill>
                <a:latin typeface="Consolas"/>
              </a:rPr>
              <a:t>talk</a:t>
            </a:r>
            <a:r>
              <a:rPr lang="en-US" sz="1600" dirty="0" smtClean="0">
                <a:solidFill>
                  <a:srgbClr val="D4D4D4"/>
                </a:solidFill>
                <a:latin typeface="Consolas"/>
              </a:rPr>
              <a:t>() </a:t>
            </a:r>
            <a:r>
              <a:rPr lang="en-US" sz="1600" dirty="0" smtClean="0">
                <a:solidFill>
                  <a:srgbClr val="4EC9B0"/>
                </a:solidFill>
                <a:latin typeface="Consolas"/>
              </a:rPr>
              <a:t>string</a:t>
            </a:r>
            <a:endParaRPr lang="en-US" sz="1600" dirty="0" smtClean="0">
              <a:solidFill>
                <a:srgbClr val="D4D4D4"/>
              </a:solidFill>
              <a:latin typeface="Consolas"/>
            </a:endParaRP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Interface Satisfaction (I)</a:t>
            </a:r>
            <a:endParaRPr lang="en-US" dirty="0"/>
          </a:p>
        </p:txBody>
      </p:sp>
      <p:sp>
        <p:nvSpPr>
          <p:cNvPr id="3" name="Content Placeholder 2"/>
          <p:cNvSpPr>
            <a:spLocks noGrp="1"/>
          </p:cNvSpPr>
          <p:nvPr>
            <p:ph idx="1"/>
          </p:nvPr>
        </p:nvSpPr>
        <p:spPr/>
        <p:txBody>
          <a:bodyPr/>
          <a:lstStyle/>
          <a:p>
            <a:r>
              <a:rPr lang="en-US" sz="2400" dirty="0" smtClean="0"/>
              <a:t>A type satisfies an interface if it </a:t>
            </a:r>
            <a:r>
              <a:rPr lang="en-US" sz="2400" i="1" dirty="0" smtClean="0">
                <a:solidFill>
                  <a:srgbClr val="C00000"/>
                </a:solidFill>
              </a:rPr>
              <a:t>possesses all the methods</a:t>
            </a:r>
            <a:r>
              <a:rPr lang="en-US" sz="2400" dirty="0" smtClean="0"/>
              <a:t> the interface requires.</a:t>
            </a:r>
            <a:endParaRPr lang="en-US" sz="2400" dirty="0"/>
          </a:p>
        </p:txBody>
      </p:sp>
      <p:sp>
        <p:nvSpPr>
          <p:cNvPr id="4" name="Content Placeholder 2"/>
          <p:cNvSpPr txBox="1">
            <a:spLocks/>
          </p:cNvSpPr>
          <p:nvPr/>
        </p:nvSpPr>
        <p:spPr bwMode="auto">
          <a:xfrm>
            <a:off x="457200" y="2971800"/>
            <a:ext cx="8229600" cy="2971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type</a:t>
            </a:r>
            <a:r>
              <a:rPr lang="en-US" sz="1600" dirty="0" smtClean="0">
                <a:solidFill>
                  <a:srgbClr val="D4D4D4"/>
                </a:solidFill>
                <a:latin typeface="Consolas"/>
              </a:rPr>
              <a:t> </a:t>
            </a:r>
            <a:r>
              <a:rPr lang="en-US" sz="1600" dirty="0" err="1" smtClean="0">
                <a:solidFill>
                  <a:srgbClr val="4EC9B0"/>
                </a:solidFill>
                <a:latin typeface="Consolas"/>
              </a:rPr>
              <a:t>martian</a:t>
            </a:r>
            <a:r>
              <a:rPr lang="en-US" sz="1600" dirty="0" smtClean="0">
                <a:solidFill>
                  <a:srgbClr val="D4D4D4"/>
                </a:solidFill>
                <a:latin typeface="Consolas"/>
              </a:rPr>
              <a:t> </a:t>
            </a:r>
            <a:r>
              <a:rPr lang="en-US" sz="1600" dirty="0" err="1" smtClean="0">
                <a:solidFill>
                  <a:srgbClr val="569CD6"/>
                </a:solidFill>
                <a:latin typeface="Consolas"/>
              </a:rPr>
              <a:t>struct</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(m </a:t>
            </a:r>
            <a:r>
              <a:rPr lang="en-US" sz="1600" dirty="0" err="1" smtClean="0">
                <a:solidFill>
                  <a:srgbClr val="D4D4D4"/>
                </a:solidFill>
                <a:latin typeface="Consolas"/>
              </a:rPr>
              <a:t>martian</a:t>
            </a:r>
            <a:r>
              <a:rPr lang="en-US" sz="1600" dirty="0" smtClean="0">
                <a:solidFill>
                  <a:srgbClr val="D4D4D4"/>
                </a:solidFill>
                <a:latin typeface="Consolas"/>
              </a:rPr>
              <a:t>) </a:t>
            </a:r>
            <a:r>
              <a:rPr lang="en-US" sz="1600" dirty="0" smtClean="0">
                <a:solidFill>
                  <a:srgbClr val="DCDCAA"/>
                </a:solidFill>
                <a:latin typeface="Consolas"/>
              </a:rPr>
              <a:t>talk</a:t>
            </a:r>
            <a:r>
              <a:rPr lang="en-US" sz="1600" dirty="0" smtClean="0">
                <a:solidFill>
                  <a:srgbClr val="D4D4D4"/>
                </a:solidFill>
                <a:latin typeface="Consolas"/>
              </a:rPr>
              <a:t>() </a:t>
            </a:r>
            <a:r>
              <a:rPr lang="en-US" sz="1600" dirty="0" smtClean="0">
                <a:solidFill>
                  <a:srgbClr val="4EC9B0"/>
                </a:solidFill>
                <a:latin typeface="Consolas"/>
              </a:rPr>
              <a:t>string</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nack</a:t>
            </a:r>
            <a:r>
              <a:rPr lang="en-US" sz="1600" dirty="0" smtClean="0">
                <a:solidFill>
                  <a:srgbClr val="CE9178"/>
                </a:solidFill>
                <a:latin typeface="Consolas"/>
              </a:rPr>
              <a:t> </a:t>
            </a:r>
            <a:r>
              <a:rPr lang="en-US" sz="1600" dirty="0" err="1" smtClean="0">
                <a:solidFill>
                  <a:srgbClr val="CE9178"/>
                </a:solidFill>
                <a:latin typeface="Consolas"/>
              </a:rPr>
              <a:t>nack</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type</a:t>
            </a:r>
            <a:r>
              <a:rPr lang="en-US" sz="1600" dirty="0" smtClean="0">
                <a:solidFill>
                  <a:srgbClr val="D4D4D4"/>
                </a:solidFill>
                <a:latin typeface="Consolas"/>
              </a:rPr>
              <a:t> </a:t>
            </a:r>
            <a:r>
              <a:rPr lang="en-US" sz="1600" dirty="0" smtClean="0">
                <a:solidFill>
                  <a:srgbClr val="4EC9B0"/>
                </a:solidFill>
                <a:latin typeface="Consolas"/>
              </a:rPr>
              <a:t>laser</a:t>
            </a:r>
            <a:r>
              <a:rPr lang="en-US" sz="1600" dirty="0" smtClean="0">
                <a:solidFill>
                  <a:srgbClr val="D4D4D4"/>
                </a:solidFill>
                <a:latin typeface="Consolas"/>
              </a:rPr>
              <a:t> </a:t>
            </a:r>
            <a:r>
              <a:rPr lang="en-US" sz="1600" dirty="0" err="1" smtClean="0">
                <a:solidFill>
                  <a:srgbClr val="4EC9B0"/>
                </a:solidFill>
                <a:latin typeface="Consolas"/>
              </a:rPr>
              <a:t>int</a:t>
            </a:r>
            <a:endParaRPr lang="en-US" sz="1600" dirty="0" smtClean="0">
              <a:solidFill>
                <a:srgbClr val="D4D4D4"/>
              </a:solidFill>
              <a:latin typeface="Consolas"/>
            </a:endParaRP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(l laser) </a:t>
            </a:r>
            <a:r>
              <a:rPr lang="en-US" sz="1600" dirty="0" smtClean="0">
                <a:solidFill>
                  <a:srgbClr val="DCDCAA"/>
                </a:solidFill>
                <a:latin typeface="Consolas"/>
              </a:rPr>
              <a:t>talk</a:t>
            </a:r>
            <a:r>
              <a:rPr lang="en-US" sz="1600" dirty="0" smtClean="0">
                <a:solidFill>
                  <a:srgbClr val="D4D4D4"/>
                </a:solidFill>
                <a:latin typeface="Consolas"/>
              </a:rPr>
              <a:t>() </a:t>
            </a:r>
            <a:r>
              <a:rPr lang="en-US" sz="1600" dirty="0" smtClean="0">
                <a:solidFill>
                  <a:srgbClr val="4EC9B0"/>
                </a:solidFill>
                <a:latin typeface="Consolas"/>
              </a:rPr>
              <a:t>string</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return</a:t>
            </a:r>
            <a:r>
              <a:rPr lang="en-US" sz="1600" dirty="0" smtClean="0">
                <a:solidFill>
                  <a:srgbClr val="D4D4D4"/>
                </a:solidFill>
                <a:latin typeface="Consolas"/>
              </a:rPr>
              <a:t> </a:t>
            </a:r>
            <a:r>
              <a:rPr lang="en-US" sz="1600" dirty="0" err="1" smtClean="0">
                <a:solidFill>
                  <a:srgbClr val="D4D4D4"/>
                </a:solidFill>
                <a:latin typeface="Consolas"/>
              </a:rPr>
              <a:t>strings.</a:t>
            </a:r>
            <a:r>
              <a:rPr lang="en-US" sz="1600" dirty="0" err="1" smtClean="0">
                <a:solidFill>
                  <a:srgbClr val="DCDCAA"/>
                </a:solidFill>
                <a:latin typeface="Consolas"/>
              </a:rPr>
              <a:t>Repeat</a:t>
            </a:r>
            <a:r>
              <a:rPr lang="en-US" sz="1600" dirty="0" smtClean="0">
                <a:solidFill>
                  <a:srgbClr val="D4D4D4"/>
                </a:solidFill>
                <a:latin typeface="Consolas"/>
              </a:rPr>
              <a:t>(</a:t>
            </a:r>
            <a:r>
              <a:rPr lang="en-US" sz="1600" dirty="0" smtClean="0">
                <a:solidFill>
                  <a:srgbClr val="CE9178"/>
                </a:solidFill>
                <a:latin typeface="Consolas"/>
              </a:rPr>
              <a:t>"pew "</a:t>
            </a:r>
            <a:r>
              <a:rPr lang="en-US" sz="1600" dirty="0" smtClean="0">
                <a:solidFill>
                  <a:srgbClr val="D4D4D4"/>
                </a:solidFill>
                <a:latin typeface="Consolas"/>
              </a:rPr>
              <a:t>, </a:t>
            </a:r>
            <a:r>
              <a:rPr lang="en-US" sz="1600" dirty="0" err="1" smtClean="0">
                <a:solidFill>
                  <a:srgbClr val="DCDCAA"/>
                </a:solidFill>
                <a:latin typeface="Consolas"/>
              </a:rPr>
              <a:t>int</a:t>
            </a:r>
            <a:r>
              <a:rPr lang="en-US" sz="1600" dirty="0" smtClean="0">
                <a:solidFill>
                  <a:srgbClr val="D4D4D4"/>
                </a:solidFill>
                <a:latin typeface="Consolas"/>
              </a:rPr>
              <a:t>(l))</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Interface Satisfaction (II)</a:t>
            </a:r>
            <a:endParaRPr lang="en-US" dirty="0"/>
          </a:p>
        </p:txBody>
      </p:sp>
      <p:sp>
        <p:nvSpPr>
          <p:cNvPr id="4" name="Content Placeholder 2"/>
          <p:cNvSpPr txBox="1">
            <a:spLocks/>
          </p:cNvSpPr>
          <p:nvPr/>
        </p:nvSpPr>
        <p:spPr bwMode="auto">
          <a:xfrm>
            <a:off x="457200" y="2057400"/>
            <a:ext cx="8229600" cy="3581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shout</a:t>
            </a:r>
            <a:r>
              <a:rPr lang="en-US" dirty="0" smtClean="0">
                <a:solidFill>
                  <a:srgbClr val="D4D4D4"/>
                </a:solidFill>
                <a:latin typeface="Consolas"/>
              </a:rPr>
              <a:t>(t talker) {</a:t>
            </a:r>
          </a:p>
          <a:p>
            <a:r>
              <a:rPr lang="en-US" dirty="0" smtClean="0">
                <a:solidFill>
                  <a:srgbClr val="D4D4D4"/>
                </a:solidFill>
                <a:latin typeface="Consolas"/>
              </a:rPr>
              <a:t>    </a:t>
            </a:r>
            <a:r>
              <a:rPr lang="en-US" dirty="0" smtClean="0">
                <a:solidFill>
                  <a:srgbClr val="9CDCFE"/>
                </a:solidFill>
                <a:latin typeface="Consolas"/>
              </a:rPr>
              <a:t>louder</a:t>
            </a:r>
            <a:r>
              <a:rPr lang="en-US" dirty="0" smtClean="0">
                <a:solidFill>
                  <a:srgbClr val="D4D4D4"/>
                </a:solidFill>
                <a:latin typeface="Consolas"/>
              </a:rPr>
              <a:t> := </a:t>
            </a:r>
            <a:r>
              <a:rPr lang="en-US" dirty="0" err="1" smtClean="0">
                <a:solidFill>
                  <a:srgbClr val="D4D4D4"/>
                </a:solidFill>
                <a:latin typeface="Consolas"/>
              </a:rPr>
              <a:t>strings.</a:t>
            </a:r>
            <a:r>
              <a:rPr lang="en-US" dirty="0" err="1" smtClean="0">
                <a:solidFill>
                  <a:srgbClr val="DCDCAA"/>
                </a:solidFill>
                <a:latin typeface="Consolas"/>
              </a:rPr>
              <a:t>ToUpper</a:t>
            </a:r>
            <a:r>
              <a:rPr lang="en-US" dirty="0" smtClean="0">
                <a:solidFill>
                  <a:srgbClr val="D4D4D4"/>
                </a:solidFill>
                <a:latin typeface="Consolas"/>
              </a:rPr>
              <a:t>(</a:t>
            </a:r>
            <a:r>
              <a:rPr lang="en-US" dirty="0" err="1" smtClean="0">
                <a:solidFill>
                  <a:srgbClr val="D4D4D4"/>
                </a:solidFill>
                <a:latin typeface="Consolas"/>
              </a:rPr>
              <a:t>t.</a:t>
            </a:r>
            <a:r>
              <a:rPr lang="en-US" dirty="0" err="1" smtClean="0">
                <a:solidFill>
                  <a:srgbClr val="DCDCAA"/>
                </a:solidFill>
                <a:latin typeface="Consolas"/>
              </a:rPr>
              <a:t>talk</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(louder)</a:t>
            </a: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main</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569CD6"/>
                </a:solidFill>
                <a:latin typeface="Consolas"/>
              </a:rPr>
              <a:t>var</a:t>
            </a:r>
            <a:r>
              <a:rPr lang="en-US" dirty="0" smtClean="0">
                <a:solidFill>
                  <a:srgbClr val="D4D4D4"/>
                </a:solidFill>
                <a:latin typeface="Consolas"/>
              </a:rPr>
              <a:t> </a:t>
            </a:r>
            <a:r>
              <a:rPr lang="en-US" dirty="0" smtClean="0">
                <a:solidFill>
                  <a:srgbClr val="9CDCFE"/>
                </a:solidFill>
                <a:latin typeface="Consolas"/>
              </a:rPr>
              <a:t>t</a:t>
            </a:r>
            <a:r>
              <a:rPr lang="en-US" dirty="0" smtClean="0">
                <a:solidFill>
                  <a:srgbClr val="D4D4D4"/>
                </a:solidFill>
                <a:latin typeface="Consolas"/>
              </a:rPr>
              <a:t> talker</a:t>
            </a:r>
          </a:p>
          <a:p>
            <a:r>
              <a:rPr lang="en-US" dirty="0" smtClean="0">
                <a:solidFill>
                  <a:srgbClr val="D4D4D4"/>
                </a:solidFill>
                <a:latin typeface="Consolas"/>
              </a:rPr>
              <a:t>    </a:t>
            </a:r>
            <a:r>
              <a:rPr lang="en-US" dirty="0" smtClean="0">
                <a:solidFill>
                  <a:srgbClr val="9CDCFE"/>
                </a:solidFill>
                <a:latin typeface="Consolas"/>
              </a:rPr>
              <a:t>t</a:t>
            </a:r>
            <a:r>
              <a:rPr lang="en-US" dirty="0" smtClean="0">
                <a:solidFill>
                  <a:srgbClr val="D4D4D4"/>
                </a:solidFill>
                <a:latin typeface="Consolas"/>
              </a:rPr>
              <a:t> = </a:t>
            </a:r>
            <a:r>
              <a:rPr lang="en-US" dirty="0" err="1" smtClean="0">
                <a:solidFill>
                  <a:srgbClr val="D4D4D4"/>
                </a:solidFill>
                <a:latin typeface="Consolas"/>
              </a:rPr>
              <a:t>martian</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DCDCAA"/>
                </a:solidFill>
                <a:latin typeface="Consolas"/>
              </a:rPr>
              <a:t>shout</a:t>
            </a:r>
            <a:r>
              <a:rPr lang="en-US" dirty="0" smtClean="0">
                <a:solidFill>
                  <a:srgbClr val="D4D4D4"/>
                </a:solidFill>
                <a:latin typeface="Consolas"/>
              </a:rPr>
              <a:t>(t)</a:t>
            </a:r>
          </a:p>
          <a:p>
            <a:r>
              <a:rPr lang="en-US" dirty="0" smtClean="0">
                <a:solidFill>
                  <a:srgbClr val="D4D4D4"/>
                </a:solidFill>
                <a:latin typeface="Consolas"/>
              </a:rPr>
              <a:t>    </a:t>
            </a:r>
            <a:r>
              <a:rPr lang="en-US" dirty="0" smtClean="0">
                <a:solidFill>
                  <a:srgbClr val="9CDCFE"/>
                </a:solidFill>
                <a:latin typeface="Consolas"/>
              </a:rPr>
              <a:t>t</a:t>
            </a:r>
            <a:r>
              <a:rPr lang="en-US" dirty="0" smtClean="0">
                <a:solidFill>
                  <a:srgbClr val="D4D4D4"/>
                </a:solidFill>
                <a:latin typeface="Consolas"/>
              </a:rPr>
              <a:t> = </a:t>
            </a:r>
            <a:r>
              <a:rPr lang="en-US" dirty="0" smtClean="0">
                <a:solidFill>
                  <a:srgbClr val="DCDCAA"/>
                </a:solidFill>
                <a:latin typeface="Consolas"/>
              </a:rPr>
              <a:t>laser</a:t>
            </a:r>
            <a:r>
              <a:rPr lang="en-US" dirty="0" smtClean="0">
                <a:solidFill>
                  <a:srgbClr val="D4D4D4"/>
                </a:solidFill>
                <a:latin typeface="Consolas"/>
              </a:rPr>
              <a:t>(</a:t>
            </a:r>
            <a:r>
              <a:rPr lang="en-US" dirty="0" smtClean="0">
                <a:solidFill>
                  <a:srgbClr val="B5CEA8"/>
                </a:solidFill>
                <a:latin typeface="Consolas"/>
              </a:rPr>
              <a:t>2</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DCDCAA"/>
                </a:solidFill>
                <a:latin typeface="Consolas"/>
              </a:rPr>
              <a:t>shout</a:t>
            </a:r>
            <a:r>
              <a:rPr lang="en-US" dirty="0" smtClean="0">
                <a:solidFill>
                  <a:srgbClr val="D4D4D4"/>
                </a:solidFill>
                <a:latin typeface="Consolas"/>
              </a:rPr>
              <a:t>(t)</a:t>
            </a: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endParaRPr lang="en-US" b="0" dirty="0">
              <a:solidFill>
                <a:srgbClr val="D4D4D4"/>
              </a:solidFill>
              <a:latin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Package System</a:t>
            </a:r>
            <a:endParaRPr lang="en-US" dirty="0"/>
          </a:p>
        </p:txBody>
      </p:sp>
      <p:sp>
        <p:nvSpPr>
          <p:cNvPr id="3" name="Content Placeholder 2"/>
          <p:cNvSpPr>
            <a:spLocks noGrp="1"/>
          </p:cNvSpPr>
          <p:nvPr>
            <p:ph idx="1"/>
          </p:nvPr>
        </p:nvSpPr>
        <p:spPr/>
        <p:txBody>
          <a:bodyPr/>
          <a:lstStyle/>
          <a:p>
            <a:r>
              <a:rPr lang="en-US" sz="2400" dirty="0" smtClean="0"/>
              <a:t>The purpose of any </a:t>
            </a:r>
            <a:r>
              <a:rPr lang="en-US" sz="2400" i="1" dirty="0" smtClean="0">
                <a:solidFill>
                  <a:srgbClr val="C00000"/>
                </a:solidFill>
              </a:rPr>
              <a:t>package system</a:t>
            </a:r>
            <a:r>
              <a:rPr lang="en-US" sz="2400" dirty="0" smtClean="0"/>
              <a:t> is to make the design and maintenance of large programs practical by </a:t>
            </a:r>
            <a:r>
              <a:rPr lang="en-US" sz="2400" u="sng" dirty="0" smtClean="0"/>
              <a:t>grouping related features together into units</a:t>
            </a:r>
            <a:r>
              <a:rPr lang="en-US" sz="2400" dirty="0" smtClean="0"/>
              <a:t> that can be </a:t>
            </a:r>
            <a:r>
              <a:rPr lang="en-US" sz="2400" u="sng" dirty="0" smtClean="0"/>
              <a:t>easily understood</a:t>
            </a:r>
            <a:r>
              <a:rPr lang="en-US" sz="2400" dirty="0" smtClean="0"/>
              <a:t> and </a:t>
            </a:r>
            <a:r>
              <a:rPr lang="en-US" sz="2400" u="sng" dirty="0" smtClean="0"/>
              <a:t>changed</a:t>
            </a:r>
            <a:r>
              <a:rPr lang="en-US" sz="2400" dirty="0" smtClean="0"/>
              <a:t>, independent of the other packages of the program.</a:t>
            </a:r>
          </a:p>
          <a:p>
            <a:r>
              <a:rPr lang="en-US" sz="2400" dirty="0" smtClean="0"/>
              <a:t>Packages also provide </a:t>
            </a:r>
            <a:r>
              <a:rPr lang="en-US" sz="2400" i="1" dirty="0" smtClean="0">
                <a:solidFill>
                  <a:srgbClr val="C00000"/>
                </a:solidFill>
              </a:rPr>
              <a:t>encapsulation</a:t>
            </a:r>
            <a:r>
              <a:rPr lang="en-US" sz="2400" dirty="0" smtClean="0"/>
              <a:t> by controlling which names are visible or exported outside the package.</a:t>
            </a:r>
          </a:p>
          <a:p>
            <a:r>
              <a:rPr lang="en-US" sz="2400" dirty="0" smtClean="0"/>
              <a:t>When we </a:t>
            </a:r>
            <a:r>
              <a:rPr lang="en-US" sz="2400" i="1" dirty="0" smtClean="0">
                <a:solidFill>
                  <a:srgbClr val="C00000"/>
                </a:solidFill>
              </a:rPr>
              <a:t>change a file</a:t>
            </a:r>
            <a:r>
              <a:rPr lang="en-US" sz="2400" dirty="0" smtClean="0"/>
              <a:t>, we must recompile the file's package and potentially all the packages that depend on it.</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Package Declaration</a:t>
            </a:r>
            <a:endParaRPr lang="en-US" dirty="0"/>
          </a:p>
        </p:txBody>
      </p:sp>
      <p:sp>
        <p:nvSpPr>
          <p:cNvPr id="3" name="Content Placeholder 2"/>
          <p:cNvSpPr>
            <a:spLocks noGrp="1"/>
          </p:cNvSpPr>
          <p:nvPr>
            <p:ph idx="1"/>
          </p:nvPr>
        </p:nvSpPr>
        <p:spPr/>
        <p:txBody>
          <a:bodyPr/>
          <a:lstStyle/>
          <a:p>
            <a:r>
              <a:rPr lang="en-US" sz="2000" dirty="0" smtClean="0"/>
              <a:t>A </a:t>
            </a:r>
            <a:r>
              <a:rPr lang="en-US" sz="2000" b="1" dirty="0" smtClean="0">
                <a:latin typeface="Consolas" pitchFamily="49" charset="0"/>
              </a:rPr>
              <a:t>package</a:t>
            </a:r>
            <a:r>
              <a:rPr lang="en-US" sz="2000" dirty="0" smtClean="0"/>
              <a:t> declaration is required at the start of every Go source file.</a:t>
            </a:r>
          </a:p>
          <a:p>
            <a:r>
              <a:rPr lang="en-US" sz="2000" dirty="0" smtClean="0"/>
              <a:t>Its main purpose is to determine the </a:t>
            </a:r>
            <a:r>
              <a:rPr lang="en-US" sz="2000" i="1" dirty="0" smtClean="0">
                <a:solidFill>
                  <a:srgbClr val="C00000"/>
                </a:solidFill>
              </a:rPr>
              <a:t>default identifier</a:t>
            </a:r>
            <a:r>
              <a:rPr lang="en-US" sz="2000" dirty="0" smtClean="0"/>
              <a:t> for that package (called the </a:t>
            </a:r>
            <a:r>
              <a:rPr lang="en-US" sz="2000" u="sng" dirty="0" smtClean="0"/>
              <a:t>package name</a:t>
            </a:r>
            <a:r>
              <a:rPr lang="en-US" sz="2000" dirty="0" smtClean="0"/>
              <a:t>) when it is imported by another package.</a:t>
            </a:r>
          </a:p>
          <a:p>
            <a:r>
              <a:rPr lang="en-US" sz="2000" dirty="0" smtClean="0"/>
              <a:t>Every file of the </a:t>
            </a:r>
            <a:r>
              <a:rPr lang="en-US" sz="2000" b="1" dirty="0" smtClean="0">
                <a:latin typeface="Consolas" pitchFamily="49" charset="0"/>
              </a:rPr>
              <a:t>math/rand</a:t>
            </a:r>
            <a:r>
              <a:rPr lang="en-US" sz="2000" dirty="0" smtClean="0"/>
              <a:t> package starts with package </a:t>
            </a:r>
            <a:r>
              <a:rPr lang="en-US" sz="2000" b="1" dirty="0" smtClean="0">
                <a:latin typeface="Consolas" pitchFamily="49" charset="0"/>
              </a:rPr>
              <a:t>rand</a:t>
            </a:r>
            <a:r>
              <a:rPr lang="en-US" sz="2000" dirty="0" smtClean="0"/>
              <a:t>, so when you import this package, you can access its members as </a:t>
            </a:r>
            <a:r>
              <a:rPr lang="en-US" sz="2000" b="1" dirty="0" err="1" smtClean="0">
                <a:latin typeface="Consolas" pitchFamily="49" charset="0"/>
              </a:rPr>
              <a:t>rand.Int</a:t>
            </a:r>
            <a:r>
              <a:rPr lang="en-US" sz="2000" dirty="0" smtClean="0"/>
              <a:t>.</a:t>
            </a:r>
            <a:endParaRPr lang="en-US" sz="2000" dirty="0"/>
          </a:p>
        </p:txBody>
      </p:sp>
      <p:sp>
        <p:nvSpPr>
          <p:cNvPr id="4" name="Content Placeholder 2"/>
          <p:cNvSpPr txBox="1">
            <a:spLocks/>
          </p:cNvSpPr>
          <p:nvPr/>
        </p:nvSpPr>
        <p:spPr bwMode="auto">
          <a:xfrm>
            <a:off x="457200" y="3429000"/>
            <a:ext cx="8229600" cy="2971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569CD6"/>
                </a:solidFill>
                <a:latin typeface="Consolas"/>
              </a:rPr>
              <a:t>package</a:t>
            </a:r>
            <a:r>
              <a:rPr lang="en-US" dirty="0" smtClean="0">
                <a:solidFill>
                  <a:srgbClr val="D4D4D4"/>
                </a:solidFill>
                <a:latin typeface="Consolas"/>
              </a:rPr>
              <a:t> main</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import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E9178"/>
                </a:solidFill>
                <a:latin typeface="Consolas"/>
              </a:rPr>
              <a:t>"</a:t>
            </a:r>
            <a:r>
              <a:rPr lang="en-US" dirty="0" err="1" smtClean="0">
                <a:solidFill>
                  <a:srgbClr val="CE9178"/>
                </a:solidFill>
                <a:latin typeface="Consolas"/>
              </a:rPr>
              <a:t>fmt</a:t>
            </a:r>
            <a:r>
              <a:rPr lang="en-US" dirty="0" smtClean="0">
                <a:solidFill>
                  <a:srgbClr val="CE9178"/>
                </a:solidFill>
                <a:latin typeface="Consolas"/>
              </a:rPr>
              <a:t>"</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CE9178"/>
                </a:solidFill>
                <a:latin typeface="Consolas"/>
              </a:rPr>
              <a:t>"math/rand"</a:t>
            </a:r>
            <a:endParaRPr lang="en-US" dirty="0" smtClean="0">
              <a:solidFill>
                <a:srgbClr val="D4D4D4"/>
              </a:solidFill>
              <a:latin typeface="Consolas"/>
            </a:endParaRP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main</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err="1" smtClean="0">
                <a:solidFill>
                  <a:srgbClr val="D4D4D4"/>
                </a:solidFill>
                <a:latin typeface="Consolas"/>
              </a:rPr>
              <a:t>rand.</a:t>
            </a:r>
            <a:r>
              <a:rPr lang="en-US" dirty="0" err="1" smtClean="0">
                <a:solidFill>
                  <a:srgbClr val="DCDCAA"/>
                </a:solidFill>
                <a:latin typeface="Consolas"/>
              </a:rPr>
              <a:t>Int</a:t>
            </a:r>
            <a:r>
              <a:rPr lang="en-US" dirty="0" smtClean="0">
                <a:solidFill>
                  <a:srgbClr val="D4D4D4"/>
                </a:solidFill>
                <a:latin typeface="Consolas"/>
              </a:rPr>
              <a:t>())</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Package Main</a:t>
            </a:r>
            <a:endParaRPr lang="en-US" dirty="0"/>
          </a:p>
        </p:txBody>
      </p:sp>
      <p:sp>
        <p:nvSpPr>
          <p:cNvPr id="3" name="Content Placeholder 2"/>
          <p:cNvSpPr>
            <a:spLocks noGrp="1"/>
          </p:cNvSpPr>
          <p:nvPr>
            <p:ph idx="1"/>
          </p:nvPr>
        </p:nvSpPr>
        <p:spPr/>
        <p:txBody>
          <a:bodyPr/>
          <a:lstStyle/>
          <a:p>
            <a:r>
              <a:rPr lang="en-US" sz="2200" dirty="0" smtClean="0"/>
              <a:t>When you build reusable pieces of code, you will develop a package as a shared library.</a:t>
            </a:r>
          </a:p>
          <a:p>
            <a:r>
              <a:rPr lang="en-US" sz="2200" dirty="0" smtClean="0"/>
              <a:t>But when you develop </a:t>
            </a:r>
            <a:r>
              <a:rPr lang="en-US" sz="2200" i="1" dirty="0" smtClean="0">
                <a:solidFill>
                  <a:srgbClr val="C00000"/>
                </a:solidFill>
              </a:rPr>
              <a:t>executable programs</a:t>
            </a:r>
            <a:r>
              <a:rPr lang="en-US" sz="2200" dirty="0" smtClean="0"/>
              <a:t>, you will use the package “</a:t>
            </a:r>
            <a:r>
              <a:rPr lang="en-US" sz="2200" b="1" dirty="0" smtClean="0">
                <a:latin typeface="Consolas" pitchFamily="49" charset="0"/>
              </a:rPr>
              <a:t>main</a:t>
            </a:r>
            <a:r>
              <a:rPr lang="en-US" sz="2200" dirty="0" smtClean="0"/>
              <a:t>” for making the package as an executable program.</a:t>
            </a:r>
          </a:p>
          <a:p>
            <a:r>
              <a:rPr lang="en-US" sz="2200" dirty="0" smtClean="0"/>
              <a:t>The package “main” tells the Go compiler that the package should compile as an executable program instead of a shared library.</a:t>
            </a:r>
          </a:p>
          <a:p>
            <a:r>
              <a:rPr lang="en-US" sz="2200" dirty="0" smtClean="0"/>
              <a:t>The </a:t>
            </a:r>
            <a:r>
              <a:rPr lang="en-US" sz="2200" i="1" dirty="0" smtClean="0">
                <a:solidFill>
                  <a:srgbClr val="C00000"/>
                </a:solidFill>
              </a:rPr>
              <a:t>main function</a:t>
            </a:r>
            <a:r>
              <a:rPr lang="en-US" sz="2200" dirty="0" smtClean="0"/>
              <a:t> in the package “main” will be the </a:t>
            </a:r>
            <a:r>
              <a:rPr lang="en-US" sz="2200" u="sng" dirty="0" smtClean="0"/>
              <a:t>entry point</a:t>
            </a:r>
            <a:r>
              <a:rPr lang="en-US" sz="2200" dirty="0" smtClean="0"/>
              <a:t> of our executable program.</a:t>
            </a:r>
          </a:p>
          <a:p>
            <a:r>
              <a:rPr lang="en-US" sz="2200" dirty="0" smtClean="0"/>
              <a:t>When you build shared libraries, you will not have any main package and main function in the package.</a:t>
            </a:r>
            <a:endParaRPr lang="en-US" sz="2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are </a:t>
            </a:r>
            <a:r>
              <a:rPr lang="en-US" dirty="0" err="1" smtClean="0"/>
              <a:t>Goroutines</a:t>
            </a:r>
            <a:r>
              <a:rPr lang="en-US" dirty="0" smtClean="0"/>
              <a:t>?</a:t>
            </a:r>
            <a:endParaRPr lang="en-US" dirty="0"/>
          </a:p>
        </p:txBody>
      </p:sp>
      <p:sp>
        <p:nvSpPr>
          <p:cNvPr id="3" name="Content Placeholder 2"/>
          <p:cNvSpPr>
            <a:spLocks noGrp="1"/>
          </p:cNvSpPr>
          <p:nvPr>
            <p:ph idx="1"/>
          </p:nvPr>
        </p:nvSpPr>
        <p:spPr/>
        <p:txBody>
          <a:bodyPr/>
          <a:lstStyle/>
          <a:p>
            <a:r>
              <a:rPr lang="en-US" sz="2400" dirty="0" smtClean="0"/>
              <a:t>In Go, each </a:t>
            </a:r>
            <a:r>
              <a:rPr lang="en-US" sz="2400" u="sng" dirty="0" smtClean="0"/>
              <a:t>concurrently executing activity</a:t>
            </a:r>
            <a:r>
              <a:rPr lang="en-US" sz="2400" dirty="0" smtClean="0"/>
              <a:t> is called a </a:t>
            </a:r>
            <a:r>
              <a:rPr lang="en-US" sz="2400" i="1" dirty="0" err="1" smtClean="0">
                <a:solidFill>
                  <a:srgbClr val="C00000"/>
                </a:solidFill>
              </a:rPr>
              <a:t>goroutine</a:t>
            </a:r>
            <a:r>
              <a:rPr lang="en-US" sz="2400" dirty="0" smtClean="0"/>
              <a:t>.</a:t>
            </a:r>
          </a:p>
          <a:p>
            <a:r>
              <a:rPr lang="en-US" sz="2400" dirty="0" smtClean="0"/>
              <a:t>When a program starts, its only </a:t>
            </a:r>
            <a:r>
              <a:rPr lang="en-US" sz="2400" dirty="0" err="1" smtClean="0"/>
              <a:t>goroutine</a:t>
            </a:r>
            <a:r>
              <a:rPr lang="en-US" sz="2400" dirty="0" smtClean="0"/>
              <a:t> is the one that calls the main function, so we call it the </a:t>
            </a:r>
            <a:r>
              <a:rPr lang="en-US" sz="2400" i="1" dirty="0" smtClean="0">
                <a:solidFill>
                  <a:srgbClr val="C00000"/>
                </a:solidFill>
              </a:rPr>
              <a:t>main </a:t>
            </a:r>
            <a:r>
              <a:rPr lang="en-US" sz="2400" i="1" dirty="0" err="1" smtClean="0">
                <a:solidFill>
                  <a:srgbClr val="C00000"/>
                </a:solidFill>
              </a:rPr>
              <a:t>goroutine</a:t>
            </a:r>
            <a:r>
              <a:rPr lang="en-US" sz="2400" dirty="0" smtClean="0"/>
              <a:t>.</a:t>
            </a:r>
          </a:p>
          <a:p>
            <a:r>
              <a:rPr lang="en-US" sz="2400" dirty="0" smtClean="0"/>
              <a:t>New </a:t>
            </a:r>
            <a:r>
              <a:rPr lang="en-US" sz="2400" dirty="0" err="1" smtClean="0"/>
              <a:t>goroutines</a:t>
            </a:r>
            <a:r>
              <a:rPr lang="en-US" sz="2400" dirty="0" smtClean="0"/>
              <a:t> are created by the </a:t>
            </a:r>
            <a:r>
              <a:rPr lang="en-US" sz="2400" i="1" dirty="0" smtClean="0">
                <a:solidFill>
                  <a:srgbClr val="C00000"/>
                </a:solidFill>
                <a:latin typeface="Consolas" pitchFamily="49" charset="0"/>
              </a:rPr>
              <a:t>go</a:t>
            </a:r>
            <a:r>
              <a:rPr lang="en-US" sz="2400" dirty="0" smtClean="0"/>
              <a:t> statement.</a:t>
            </a:r>
          </a:p>
          <a:p>
            <a:pPr lvl="1"/>
            <a:r>
              <a:rPr lang="en-US" sz="2000" b="1" dirty="0" smtClean="0">
                <a:latin typeface="Consolas" pitchFamily="49" charset="0"/>
              </a:rPr>
              <a:t>f()</a:t>
            </a:r>
            <a:r>
              <a:rPr lang="en-US" sz="2000" dirty="0" smtClean="0">
                <a:latin typeface="Consolas" pitchFamily="49" charset="0"/>
              </a:rPr>
              <a:t> // call f(); wait for it to return</a:t>
            </a:r>
          </a:p>
          <a:p>
            <a:pPr lvl="1"/>
            <a:r>
              <a:rPr lang="en-US" sz="2000" b="1" dirty="0" smtClean="0">
                <a:latin typeface="Consolas" pitchFamily="49" charset="0"/>
              </a:rPr>
              <a:t>go f()</a:t>
            </a:r>
            <a:r>
              <a:rPr lang="en-US" sz="2000" dirty="0" smtClean="0">
                <a:latin typeface="Consolas" pitchFamily="49" charset="0"/>
              </a:rPr>
              <a:t> // create a new </a:t>
            </a:r>
            <a:r>
              <a:rPr lang="en-US" sz="2000" dirty="0" err="1" smtClean="0">
                <a:latin typeface="Consolas" pitchFamily="49" charset="0"/>
              </a:rPr>
              <a:t>goroutine</a:t>
            </a:r>
            <a:r>
              <a:rPr lang="en-US" sz="2000" dirty="0" smtClean="0">
                <a:latin typeface="Consolas" pitchFamily="49" charset="0"/>
              </a:rPr>
              <a:t> that calls f(); don't wait</a:t>
            </a:r>
          </a:p>
          <a:p>
            <a:r>
              <a:rPr lang="en-US" sz="2400" dirty="0" err="1" smtClean="0">
                <a:latin typeface="+mj-lt"/>
              </a:rPr>
              <a:t>Goroutines</a:t>
            </a:r>
            <a:r>
              <a:rPr lang="en-US" sz="2400" dirty="0" smtClean="0">
                <a:latin typeface="+mj-lt"/>
              </a:rPr>
              <a:t> are similar to </a:t>
            </a:r>
            <a:r>
              <a:rPr lang="en-US" sz="2400" dirty="0" err="1" smtClean="0">
                <a:latin typeface="+mj-lt"/>
              </a:rPr>
              <a:t>coroutines</a:t>
            </a:r>
            <a:r>
              <a:rPr lang="en-US" sz="2400" dirty="0" smtClean="0">
                <a:latin typeface="+mj-lt"/>
              </a:rPr>
              <a:t>, fibers, </a:t>
            </a:r>
            <a:r>
              <a:rPr lang="en-US" sz="2400" i="1" dirty="0" smtClean="0">
                <a:solidFill>
                  <a:srgbClr val="C00000"/>
                </a:solidFill>
                <a:latin typeface="+mj-lt"/>
              </a:rPr>
              <a:t>processes</a:t>
            </a:r>
            <a:r>
              <a:rPr lang="en-US" sz="2400" dirty="0" smtClean="0">
                <a:latin typeface="+mj-lt"/>
              </a:rPr>
              <a:t>, or </a:t>
            </a:r>
            <a:r>
              <a:rPr lang="en-US" sz="2400" i="1" dirty="0" smtClean="0">
                <a:solidFill>
                  <a:srgbClr val="C00000"/>
                </a:solidFill>
                <a:latin typeface="+mj-lt"/>
              </a:rPr>
              <a:t>threads</a:t>
            </a:r>
            <a:r>
              <a:rPr lang="en-US" sz="2400" dirty="0" smtClean="0">
                <a:latin typeface="+mj-lt"/>
              </a:rPr>
              <a:t> in other languages, although they're not quite the same as any of those.</a:t>
            </a:r>
            <a:endParaRPr lang="en-US" sz="2400" dirty="0">
              <a:latin typeface="+mj-l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Concurrency</a:t>
            </a:r>
            <a:endParaRPr lang="en-US" sz="4200" dirty="0"/>
          </a:p>
        </p:txBody>
      </p:sp>
      <p:sp>
        <p:nvSpPr>
          <p:cNvPr id="3" name="Content Placeholder 2"/>
          <p:cNvSpPr>
            <a:spLocks noGrp="1"/>
          </p:cNvSpPr>
          <p:nvPr>
            <p:ph idx="1"/>
          </p:nvPr>
        </p:nvSpPr>
        <p:spPr/>
        <p:txBody>
          <a:bodyPr/>
          <a:lstStyle/>
          <a:p>
            <a:r>
              <a:rPr lang="en-US" sz="2400" dirty="0" smtClean="0"/>
              <a:t>What are the outputs?</a:t>
            </a:r>
            <a:endParaRPr lang="en-US" sz="2400" dirty="0"/>
          </a:p>
        </p:txBody>
      </p:sp>
      <p:sp>
        <p:nvSpPr>
          <p:cNvPr id="4" name="Content Placeholder 2"/>
          <p:cNvSpPr txBox="1">
            <a:spLocks/>
          </p:cNvSpPr>
          <p:nvPr/>
        </p:nvSpPr>
        <p:spPr bwMode="auto">
          <a:xfrm>
            <a:off x="457200" y="2438400"/>
            <a:ext cx="8229600" cy="3886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ping</a:t>
            </a:r>
            <a:r>
              <a:rPr lang="en-US" sz="2000" dirty="0" smtClean="0">
                <a:solidFill>
                  <a:srgbClr val="D4D4D4"/>
                </a:solidFill>
                <a:latin typeface="Consolas"/>
              </a:rPr>
              <a:t>(</a:t>
            </a:r>
            <a:r>
              <a:rPr lang="en-US" sz="2000" dirty="0" err="1" smtClean="0">
                <a:solidFill>
                  <a:srgbClr val="D4D4D4"/>
                </a:solidFill>
                <a:latin typeface="Consolas"/>
              </a:rPr>
              <a:t>i</a:t>
            </a:r>
            <a:r>
              <a:rPr lang="en-US" sz="2000" dirty="0" smtClean="0">
                <a:solidFill>
                  <a:srgbClr val="D4D4D4"/>
                </a:solidFill>
                <a:latin typeface="Consolas"/>
              </a:rPr>
              <a:t> </a:t>
            </a:r>
            <a:r>
              <a:rPr lang="en-US" sz="2000" dirty="0" err="1" smtClean="0">
                <a:solidFill>
                  <a:srgbClr val="4EC9B0"/>
                </a:solidFill>
                <a:latin typeface="Consolas"/>
              </a:rPr>
              <a:t>int</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"Hello"</a:t>
            </a:r>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a:t>
            </a:r>
          </a:p>
          <a:p>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main</a:t>
            </a:r>
            <a:r>
              <a:rPr lang="en-US" sz="2000" dirty="0" smtClean="0">
                <a:solidFill>
                  <a:srgbClr val="D4D4D4"/>
                </a:solidFill>
                <a:latin typeface="Consolas"/>
              </a:rPr>
              <a:t>() {</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smtClean="0">
                <a:solidFill>
                  <a:srgbClr val="C586C0"/>
                </a:solidFill>
                <a:latin typeface="Consolas"/>
              </a:rPr>
              <a:t>for</a:t>
            </a:r>
            <a:r>
              <a:rPr lang="en-US" sz="2000" dirty="0" smtClean="0">
                <a:solidFill>
                  <a:srgbClr val="D4D4D4"/>
                </a:solidFill>
                <a:latin typeface="Consolas"/>
              </a:rPr>
              <a:t> </a:t>
            </a:r>
            <a:r>
              <a:rPr lang="en-US" sz="2000" dirty="0" err="1" smtClean="0">
                <a:solidFill>
                  <a:srgbClr val="9CDCFE"/>
                </a:solidFill>
                <a:latin typeface="Consolas"/>
              </a:rPr>
              <a:t>i</a:t>
            </a:r>
            <a:r>
              <a:rPr lang="en-US" sz="2000" dirty="0" smtClean="0">
                <a:solidFill>
                  <a:srgbClr val="D4D4D4"/>
                </a:solidFill>
                <a:latin typeface="Consolas"/>
              </a:rPr>
              <a:t> := </a:t>
            </a:r>
            <a:r>
              <a:rPr lang="en-US" sz="2000" dirty="0" smtClean="0">
                <a:solidFill>
                  <a:srgbClr val="B5CEA8"/>
                </a:solidFill>
                <a:latin typeface="Consolas"/>
              </a:rPr>
              <a:t>1</a:t>
            </a:r>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 &lt;= </a:t>
            </a:r>
            <a:r>
              <a:rPr lang="en-US" sz="2000" dirty="0" smtClean="0">
                <a:solidFill>
                  <a:srgbClr val="B5CEA8"/>
                </a:solidFill>
                <a:latin typeface="Consolas"/>
              </a:rPr>
              <a:t>5</a:t>
            </a:r>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smtClean="0">
                <a:solidFill>
                  <a:srgbClr val="C586C0"/>
                </a:solidFill>
                <a:latin typeface="Consolas"/>
              </a:rPr>
              <a:t>go</a:t>
            </a:r>
            <a:r>
              <a:rPr lang="en-US" sz="2000" dirty="0" smtClean="0">
                <a:solidFill>
                  <a:srgbClr val="D4D4D4"/>
                </a:solidFill>
                <a:latin typeface="Consolas"/>
              </a:rPr>
              <a:t> </a:t>
            </a:r>
            <a:r>
              <a:rPr lang="en-US" sz="2000" dirty="0" smtClean="0">
                <a:solidFill>
                  <a:srgbClr val="DCDCAA"/>
                </a:solidFill>
                <a:latin typeface="Consolas"/>
              </a:rPr>
              <a:t>ping</a:t>
            </a:r>
            <a:r>
              <a:rPr lang="en-US" sz="2000" dirty="0" smtClean="0">
                <a:solidFill>
                  <a:srgbClr val="D4D4D4"/>
                </a:solidFill>
                <a:latin typeface="Consolas"/>
              </a:rPr>
              <a:t>(</a:t>
            </a:r>
            <a:r>
              <a:rPr lang="en-US" sz="2000" dirty="0" err="1" smtClean="0">
                <a:solidFill>
                  <a:srgbClr val="D4D4D4"/>
                </a:solidFill>
                <a:latin typeface="Consolas"/>
              </a:rPr>
              <a:t>i</a:t>
            </a:r>
            <a:r>
              <a:rPr lang="en-US" sz="2000" dirty="0" smtClean="0">
                <a:solidFill>
                  <a:srgbClr val="D4D4D4"/>
                </a:solidFill>
                <a:latin typeface="Consolas"/>
              </a:rPr>
              <a:t>)</a:t>
            </a:r>
          </a:p>
          <a:p>
            <a:r>
              <a:rPr lang="en-US" sz="2000" dirty="0" smtClean="0">
                <a:solidFill>
                  <a:srgbClr val="D4D4D4"/>
                </a:solidFill>
                <a:latin typeface="Consolas"/>
              </a:rPr>
              <a:t>    }</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err="1" smtClean="0">
                <a:solidFill>
                  <a:srgbClr val="D4D4D4"/>
                </a:solidFill>
                <a:latin typeface="Consolas"/>
              </a:rPr>
              <a:t>time.</a:t>
            </a:r>
            <a:r>
              <a:rPr lang="en-US" sz="2000" dirty="0" err="1" smtClean="0">
                <a:solidFill>
                  <a:srgbClr val="DCDCAA"/>
                </a:solidFill>
                <a:latin typeface="Consolas"/>
              </a:rPr>
              <a:t>Sleep</a:t>
            </a:r>
            <a:r>
              <a:rPr lang="en-US" sz="2000" dirty="0" smtClean="0">
                <a:solidFill>
                  <a:srgbClr val="D4D4D4"/>
                </a:solidFill>
                <a:latin typeface="Consolas"/>
              </a:rPr>
              <a:t>(</a:t>
            </a:r>
            <a:r>
              <a:rPr lang="en-US" sz="2000" dirty="0" smtClean="0">
                <a:solidFill>
                  <a:srgbClr val="B5CEA8"/>
                </a:solidFill>
                <a:latin typeface="Consolas"/>
              </a:rPr>
              <a:t>1</a:t>
            </a:r>
            <a:r>
              <a:rPr lang="en-US" sz="2000" dirty="0" smtClean="0">
                <a:solidFill>
                  <a:srgbClr val="D4D4D4"/>
                </a:solidFill>
                <a:latin typeface="Consolas"/>
              </a:rPr>
              <a:t> * </a:t>
            </a:r>
            <a:r>
              <a:rPr lang="en-US" sz="2000" dirty="0" err="1" smtClean="0">
                <a:solidFill>
                  <a:srgbClr val="D4D4D4"/>
                </a:solidFill>
                <a:latin typeface="Consolas"/>
              </a:rPr>
              <a:t>time.Second</a:t>
            </a:r>
            <a:r>
              <a:rPr lang="en-US" sz="2000" dirty="0" smtClean="0">
                <a:solidFill>
                  <a:srgbClr val="D4D4D4"/>
                </a:solidFill>
                <a:latin typeface="Consolas"/>
              </a:rPr>
              <a:t>)</a:t>
            </a:r>
          </a:p>
          <a:p>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smtClean="0"/>
              <a:t>A Small Change</a:t>
            </a:r>
            <a:endParaRPr lang="en-US" sz="4200" dirty="0"/>
          </a:p>
        </p:txBody>
      </p:sp>
      <p:sp>
        <p:nvSpPr>
          <p:cNvPr id="3" name="Content Placeholder 2"/>
          <p:cNvSpPr>
            <a:spLocks noGrp="1"/>
          </p:cNvSpPr>
          <p:nvPr>
            <p:ph idx="1"/>
          </p:nvPr>
        </p:nvSpPr>
        <p:spPr/>
        <p:txBody>
          <a:bodyPr/>
          <a:lstStyle/>
          <a:p>
            <a:r>
              <a:rPr lang="en-US" sz="2400" dirty="0" smtClean="0"/>
              <a:t>What are the outputs?</a:t>
            </a:r>
            <a:endParaRPr lang="en-US" sz="2400" dirty="0"/>
          </a:p>
        </p:txBody>
      </p:sp>
      <p:sp>
        <p:nvSpPr>
          <p:cNvPr id="4" name="Content Placeholder 2"/>
          <p:cNvSpPr txBox="1">
            <a:spLocks/>
          </p:cNvSpPr>
          <p:nvPr/>
        </p:nvSpPr>
        <p:spPr bwMode="auto">
          <a:xfrm>
            <a:off x="457200" y="2514600"/>
            <a:ext cx="8229600" cy="3886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ping</a:t>
            </a:r>
            <a:r>
              <a:rPr lang="en-US" sz="2000" dirty="0" smtClean="0">
                <a:solidFill>
                  <a:srgbClr val="D4D4D4"/>
                </a:solidFill>
                <a:latin typeface="Consolas"/>
              </a:rPr>
              <a:t>(</a:t>
            </a:r>
            <a:r>
              <a:rPr lang="en-US" sz="2000" dirty="0" err="1" smtClean="0">
                <a:solidFill>
                  <a:srgbClr val="D4D4D4"/>
                </a:solidFill>
                <a:latin typeface="Consolas"/>
              </a:rPr>
              <a:t>i</a:t>
            </a:r>
            <a:r>
              <a:rPr lang="en-US" sz="2000" dirty="0" smtClean="0">
                <a:solidFill>
                  <a:srgbClr val="D4D4D4"/>
                </a:solidFill>
                <a:latin typeface="Consolas"/>
              </a:rPr>
              <a:t> </a:t>
            </a:r>
            <a:r>
              <a:rPr lang="en-US" sz="2000" dirty="0" err="1" smtClean="0">
                <a:solidFill>
                  <a:srgbClr val="4EC9B0"/>
                </a:solidFill>
                <a:latin typeface="Consolas"/>
              </a:rPr>
              <a:t>int</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"Hello"</a:t>
            </a:r>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a:t>
            </a:r>
          </a:p>
          <a:p>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main</a:t>
            </a:r>
            <a:r>
              <a:rPr lang="en-US" sz="2000" dirty="0" smtClean="0">
                <a:solidFill>
                  <a:srgbClr val="D4D4D4"/>
                </a:solidFill>
                <a:latin typeface="Consolas"/>
              </a:rPr>
              <a:t>() {</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smtClean="0">
                <a:solidFill>
                  <a:srgbClr val="C586C0"/>
                </a:solidFill>
                <a:latin typeface="Consolas"/>
              </a:rPr>
              <a:t>for</a:t>
            </a:r>
            <a:r>
              <a:rPr lang="en-US" sz="2000" dirty="0" smtClean="0">
                <a:solidFill>
                  <a:srgbClr val="D4D4D4"/>
                </a:solidFill>
                <a:latin typeface="Consolas"/>
              </a:rPr>
              <a:t> </a:t>
            </a:r>
            <a:r>
              <a:rPr lang="en-US" sz="2000" dirty="0" err="1" smtClean="0">
                <a:solidFill>
                  <a:srgbClr val="9CDCFE"/>
                </a:solidFill>
                <a:latin typeface="Consolas"/>
              </a:rPr>
              <a:t>i</a:t>
            </a:r>
            <a:r>
              <a:rPr lang="en-US" sz="2000" dirty="0" smtClean="0">
                <a:solidFill>
                  <a:srgbClr val="D4D4D4"/>
                </a:solidFill>
                <a:latin typeface="Consolas"/>
              </a:rPr>
              <a:t> := </a:t>
            </a:r>
            <a:r>
              <a:rPr lang="en-US" sz="2000" dirty="0" smtClean="0">
                <a:solidFill>
                  <a:srgbClr val="B5CEA8"/>
                </a:solidFill>
                <a:latin typeface="Consolas"/>
              </a:rPr>
              <a:t>1</a:t>
            </a:r>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 &lt;= </a:t>
            </a:r>
            <a:r>
              <a:rPr lang="en-US" sz="2000" dirty="0" smtClean="0">
                <a:solidFill>
                  <a:srgbClr val="B5CEA8"/>
                </a:solidFill>
                <a:latin typeface="Consolas"/>
              </a:rPr>
              <a:t>5</a:t>
            </a:r>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smtClean="0">
                <a:solidFill>
                  <a:srgbClr val="C586C0"/>
                </a:solidFill>
                <a:latin typeface="Consolas"/>
              </a:rPr>
              <a:t>go</a:t>
            </a:r>
            <a:r>
              <a:rPr lang="en-US" sz="2000" dirty="0" smtClean="0">
                <a:solidFill>
                  <a:srgbClr val="D4D4D4"/>
                </a:solidFill>
                <a:latin typeface="Consolas"/>
              </a:rPr>
              <a:t> </a:t>
            </a:r>
            <a:r>
              <a:rPr lang="en-US" sz="2000" dirty="0" smtClean="0">
                <a:solidFill>
                  <a:srgbClr val="DCDCAA"/>
                </a:solidFill>
                <a:latin typeface="Consolas"/>
              </a:rPr>
              <a:t>ping</a:t>
            </a:r>
            <a:r>
              <a:rPr lang="en-US" sz="2000" dirty="0" smtClean="0">
                <a:solidFill>
                  <a:srgbClr val="D4D4D4"/>
                </a:solidFill>
                <a:latin typeface="Consolas"/>
              </a:rPr>
              <a:t>(</a:t>
            </a:r>
            <a:r>
              <a:rPr lang="en-US" sz="2000" dirty="0" err="1" smtClean="0">
                <a:solidFill>
                  <a:srgbClr val="D4D4D4"/>
                </a:solidFill>
                <a:latin typeface="Consolas"/>
              </a:rPr>
              <a:t>i</a:t>
            </a:r>
            <a:r>
              <a:rPr lang="en-US" sz="2000" dirty="0" smtClean="0">
                <a:solidFill>
                  <a:srgbClr val="D4D4D4"/>
                </a:solidFill>
                <a:latin typeface="Consolas"/>
              </a:rPr>
              <a:t>)</a:t>
            </a:r>
          </a:p>
          <a:p>
            <a:r>
              <a:rPr lang="en-US" sz="2000" dirty="0" smtClean="0">
                <a:solidFill>
                  <a:srgbClr val="D4D4D4"/>
                </a:solidFill>
                <a:latin typeface="Consolas"/>
              </a:rPr>
              <a:t>    }</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smtClean="0">
                <a:solidFill>
                  <a:srgbClr val="6A9955"/>
                </a:solidFill>
                <a:latin typeface="Consolas"/>
              </a:rPr>
              <a:t>// </a:t>
            </a:r>
            <a:r>
              <a:rPr lang="en-US" sz="2000" dirty="0" err="1" smtClean="0">
                <a:solidFill>
                  <a:srgbClr val="6A9955"/>
                </a:solidFill>
                <a:latin typeface="Consolas"/>
              </a:rPr>
              <a:t>time.Sleep</a:t>
            </a:r>
            <a:r>
              <a:rPr lang="en-US" sz="2000" dirty="0" smtClean="0">
                <a:solidFill>
                  <a:srgbClr val="6A9955"/>
                </a:solidFill>
                <a:latin typeface="Consolas"/>
              </a:rPr>
              <a:t>(1 * </a:t>
            </a:r>
            <a:r>
              <a:rPr lang="en-US" sz="2000" dirty="0" err="1" smtClean="0">
                <a:solidFill>
                  <a:srgbClr val="6A9955"/>
                </a:solidFill>
                <a:latin typeface="Consolas"/>
              </a:rPr>
              <a:t>time.Second</a:t>
            </a:r>
            <a:r>
              <a:rPr lang="en-US" sz="2000" dirty="0" smtClean="0">
                <a:solidFill>
                  <a:srgbClr val="6A9955"/>
                </a:solidFill>
                <a:latin typeface="Consolas"/>
              </a:rPr>
              <a:t>)</a:t>
            </a:r>
            <a:endParaRPr lang="en-US" sz="2000" dirty="0" smtClean="0">
              <a:solidFill>
                <a:srgbClr val="D4D4D4"/>
              </a:solidFill>
              <a:latin typeface="Consolas"/>
            </a:endParaRPr>
          </a:p>
          <a:p>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endParaRPr lang="en-US" sz="2000" b="0" dirty="0">
              <a:solidFill>
                <a:srgbClr val="D4D4D4"/>
              </a:solidFill>
              <a:latin typeface="Consola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latin typeface="Consolas" pitchFamily="49" charset="0"/>
              </a:rPr>
              <a:t>sync.WaitGroup</a:t>
            </a:r>
            <a:endParaRPr lang="en-US" sz="4000" dirty="0">
              <a:latin typeface="Consolas" pitchFamily="49" charset="0"/>
            </a:endParaRPr>
          </a:p>
        </p:txBody>
      </p:sp>
      <p:sp>
        <p:nvSpPr>
          <p:cNvPr id="3" name="Content Placeholder 2"/>
          <p:cNvSpPr>
            <a:spLocks noGrp="1"/>
          </p:cNvSpPr>
          <p:nvPr>
            <p:ph idx="1"/>
          </p:nvPr>
        </p:nvSpPr>
        <p:spPr/>
        <p:txBody>
          <a:bodyPr/>
          <a:lstStyle/>
          <a:p>
            <a:r>
              <a:rPr lang="en-US" sz="2400" dirty="0" err="1" smtClean="0">
                <a:latin typeface="Consolas" pitchFamily="49" charset="0"/>
              </a:rPr>
              <a:t>sync.WaitGroup</a:t>
            </a:r>
            <a:r>
              <a:rPr lang="en-US" sz="2400" dirty="0" smtClean="0"/>
              <a:t> is used to wait for all the </a:t>
            </a:r>
            <a:r>
              <a:rPr lang="en-US" sz="2400" dirty="0" err="1" smtClean="0"/>
              <a:t>goroutines</a:t>
            </a:r>
            <a:r>
              <a:rPr lang="en-US" sz="2400" dirty="0" smtClean="0"/>
              <a:t> launched here to finish.</a:t>
            </a:r>
            <a:endParaRPr lang="en-US" sz="2400" dirty="0"/>
          </a:p>
        </p:txBody>
      </p:sp>
      <p:sp>
        <p:nvSpPr>
          <p:cNvPr id="4" name="Content Placeholder 2"/>
          <p:cNvSpPr txBox="1">
            <a:spLocks/>
          </p:cNvSpPr>
          <p:nvPr/>
        </p:nvSpPr>
        <p:spPr bwMode="auto">
          <a:xfrm>
            <a:off x="457200" y="2514600"/>
            <a:ext cx="8229600" cy="3886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ping</a:t>
            </a:r>
            <a:r>
              <a:rPr lang="en-US" sz="1600" dirty="0" smtClean="0">
                <a:solidFill>
                  <a:srgbClr val="D4D4D4"/>
                </a:solidFill>
                <a:latin typeface="Consolas"/>
              </a:rPr>
              <a:t>(</a:t>
            </a:r>
            <a:r>
              <a:rPr lang="en-US" sz="1600" dirty="0" err="1" smtClean="0">
                <a:solidFill>
                  <a:srgbClr val="D4D4D4"/>
                </a:solidFill>
                <a:latin typeface="Consolas"/>
              </a:rPr>
              <a:t>i</a:t>
            </a:r>
            <a:r>
              <a:rPr lang="en-US" sz="1600" dirty="0" smtClean="0">
                <a:solidFill>
                  <a:srgbClr val="D4D4D4"/>
                </a:solidFill>
                <a:latin typeface="Consolas"/>
              </a:rPr>
              <a:t> </a:t>
            </a:r>
            <a:r>
              <a:rPr lang="en-US" sz="1600" dirty="0" err="1" smtClean="0">
                <a:solidFill>
                  <a:srgbClr val="4EC9B0"/>
                </a:solidFill>
                <a:latin typeface="Consolas"/>
              </a:rPr>
              <a:t>int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smtClean="0">
                <a:solidFill>
                  <a:srgbClr val="CE9178"/>
                </a:solidFill>
                <a:latin typeface="Consolas"/>
              </a:rPr>
              <a:t>"Hello"</a:t>
            </a:r>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a:t>
            </a:r>
          </a:p>
          <a:p>
            <a:r>
              <a:rPr lang="en-US" sz="1600" dirty="0" smtClean="0">
                <a:solidFill>
                  <a:srgbClr val="D4D4D4"/>
                </a:solidFill>
                <a:latin typeface="Consolas"/>
              </a:rPr>
              <a:t>}</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569CD6"/>
                </a:solidFill>
                <a:latin typeface="Consolas"/>
              </a:rPr>
              <a:t>var</a:t>
            </a:r>
            <a:r>
              <a:rPr lang="en-US" sz="1600" dirty="0" smtClean="0">
                <a:solidFill>
                  <a:srgbClr val="D4D4D4"/>
                </a:solidFill>
                <a:latin typeface="Consolas"/>
              </a:rPr>
              <a:t> </a:t>
            </a:r>
            <a:r>
              <a:rPr lang="en-US" sz="1600" dirty="0" err="1" smtClean="0">
                <a:solidFill>
                  <a:srgbClr val="9CDCFE"/>
                </a:solidFill>
                <a:latin typeface="Consolas"/>
              </a:rPr>
              <a:t>wg</a:t>
            </a:r>
            <a:r>
              <a:rPr lang="en-US" sz="1600" dirty="0" smtClean="0">
                <a:solidFill>
                  <a:srgbClr val="D4D4D4"/>
                </a:solidFill>
                <a:latin typeface="Consolas"/>
              </a:rPr>
              <a:t> </a:t>
            </a:r>
            <a:r>
              <a:rPr lang="en-US" sz="1600" dirty="0" err="1" smtClean="0">
                <a:solidFill>
                  <a:srgbClr val="D4D4D4"/>
                </a:solidFill>
                <a:latin typeface="Consolas"/>
              </a:rPr>
              <a:t>sync.WaitGroup</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r>
              <a:rPr lang="en-US" sz="1600" dirty="0" err="1" smtClean="0">
                <a:solidFill>
                  <a:srgbClr val="9CDCFE"/>
                </a:solidFill>
                <a:latin typeface="Consolas"/>
              </a:rPr>
              <a:t>i</a:t>
            </a:r>
            <a:r>
              <a:rPr lang="en-US" sz="1600" dirty="0" smtClean="0">
                <a:solidFill>
                  <a:srgbClr val="D4D4D4"/>
                </a:solidFill>
                <a:latin typeface="Consolas"/>
              </a:rPr>
              <a:t> := </a:t>
            </a:r>
            <a:r>
              <a:rPr lang="en-US" sz="1600" dirty="0" smtClean="0">
                <a:solidFill>
                  <a:srgbClr val="B5CEA8"/>
                </a:solidFill>
                <a:latin typeface="Consolas"/>
              </a:rPr>
              <a:t>1</a:t>
            </a:r>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 &lt;= </a:t>
            </a:r>
            <a:r>
              <a:rPr lang="en-US" sz="1600" dirty="0" smtClean="0">
                <a:solidFill>
                  <a:srgbClr val="B5CEA8"/>
                </a:solidFill>
                <a:latin typeface="Consolas"/>
              </a:rPr>
              <a:t>5</a:t>
            </a:r>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wg.</a:t>
            </a:r>
            <a:r>
              <a:rPr lang="en-US" sz="1600" dirty="0" err="1" smtClean="0">
                <a:solidFill>
                  <a:srgbClr val="DCDCAA"/>
                </a:solidFill>
                <a:latin typeface="Consolas"/>
              </a:rPr>
              <a:t>Add</a:t>
            </a:r>
            <a:r>
              <a:rPr lang="en-US" sz="1600" dirty="0" smtClean="0">
                <a:solidFill>
                  <a:srgbClr val="D4D4D4"/>
                </a:solidFill>
                <a:latin typeface="Consolas"/>
              </a:rPr>
              <a:t>(</a:t>
            </a:r>
            <a:r>
              <a:rPr lang="en-US" sz="1600" dirty="0" smtClean="0">
                <a:solidFill>
                  <a:srgbClr val="B5CEA8"/>
                </a:solidFill>
                <a:latin typeface="Consolas"/>
              </a:rPr>
              <a:t>1</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586C0"/>
                </a:solidFill>
                <a:latin typeface="Consolas"/>
              </a:rPr>
              <a:t>go</a:t>
            </a:r>
            <a:r>
              <a:rPr lang="en-US" sz="1600" dirty="0" smtClean="0">
                <a:solidFill>
                  <a:srgbClr val="D4D4D4"/>
                </a:solidFill>
                <a:latin typeface="Consolas"/>
              </a:rPr>
              <a:t> </a:t>
            </a:r>
            <a:r>
              <a:rPr lang="en-US" sz="1600" dirty="0" err="1" smtClean="0">
                <a:solidFill>
                  <a:srgbClr val="569CD6"/>
                </a:solidFill>
                <a:latin typeface="Consolas"/>
              </a:rPr>
              <a:t>func</a:t>
            </a:r>
            <a:r>
              <a:rPr lang="en-US" sz="1600" dirty="0" smtClean="0">
                <a:solidFill>
                  <a:srgbClr val="D4D4D4"/>
                </a:solidFill>
                <a:latin typeface="Consolas"/>
              </a:rPr>
              <a:t>(x </a:t>
            </a:r>
            <a:r>
              <a:rPr lang="en-US" sz="1600" dirty="0" err="1" smtClean="0">
                <a:solidFill>
                  <a:srgbClr val="4EC9B0"/>
                </a:solidFill>
                <a:latin typeface="Consolas"/>
              </a:rPr>
              <a:t>int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defer</a:t>
            </a:r>
            <a:r>
              <a:rPr lang="en-US" sz="1600" dirty="0" smtClean="0">
                <a:solidFill>
                  <a:srgbClr val="D4D4D4"/>
                </a:solidFill>
                <a:latin typeface="Consolas"/>
              </a:rPr>
              <a:t> </a:t>
            </a:r>
            <a:r>
              <a:rPr lang="en-US" sz="1600" dirty="0" err="1" smtClean="0">
                <a:solidFill>
                  <a:srgbClr val="D4D4D4"/>
                </a:solidFill>
                <a:latin typeface="Consolas"/>
              </a:rPr>
              <a:t>wg.</a:t>
            </a:r>
            <a:r>
              <a:rPr lang="en-US" sz="1600" dirty="0" err="1" smtClean="0">
                <a:solidFill>
                  <a:srgbClr val="DCDCAA"/>
                </a:solidFill>
                <a:latin typeface="Consolas"/>
              </a:rPr>
              <a:t>Done</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DCDCAA"/>
                </a:solidFill>
                <a:latin typeface="Consolas"/>
              </a:rPr>
              <a:t>ping</a:t>
            </a:r>
            <a:r>
              <a:rPr lang="en-US" sz="1600" dirty="0" smtClean="0">
                <a:solidFill>
                  <a:srgbClr val="D4D4D4"/>
                </a:solidFill>
                <a:latin typeface="Consolas"/>
              </a:rPr>
              <a:t>(x)</a:t>
            </a:r>
          </a:p>
          <a:p>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a:t>
            </a:r>
          </a:p>
          <a:p>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D4D4D4"/>
                </a:solidFill>
                <a:latin typeface="Consolas"/>
              </a:rPr>
              <a:t>wg.</a:t>
            </a:r>
            <a:r>
              <a:rPr lang="en-US" sz="1600" dirty="0" err="1" smtClean="0">
                <a:solidFill>
                  <a:srgbClr val="DCDCAA"/>
                </a:solidFill>
                <a:latin typeface="Consolas"/>
              </a:rPr>
              <a:t>Wait</a:t>
            </a:r>
            <a:r>
              <a:rPr lang="en-US" sz="1600" dirty="0" smtClean="0">
                <a:solidFill>
                  <a:srgbClr val="D4D4D4"/>
                </a:solidFill>
                <a:latin typeface="Consolas"/>
              </a:rPr>
              <a:t>()</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Race Conditions (I)</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race condition</a:t>
            </a:r>
            <a:r>
              <a:rPr lang="en-US" sz="2400" dirty="0" smtClean="0"/>
              <a:t> is a situation in which the program </a:t>
            </a:r>
            <a:r>
              <a:rPr lang="en-US" sz="2400" u="sng" dirty="0" smtClean="0"/>
              <a:t>does not give the correct result</a:t>
            </a:r>
            <a:r>
              <a:rPr lang="en-US" sz="2400" dirty="0" smtClean="0"/>
              <a:t> for some </a:t>
            </a:r>
            <a:r>
              <a:rPr lang="en-US" sz="2400" dirty="0" err="1" smtClean="0"/>
              <a:t>interleavings</a:t>
            </a:r>
            <a:r>
              <a:rPr lang="en-US" sz="2400" dirty="0" smtClean="0"/>
              <a:t> of the operations of multiple </a:t>
            </a:r>
            <a:r>
              <a:rPr lang="en-US" sz="2400" dirty="0" err="1" smtClean="0"/>
              <a:t>goroutines</a:t>
            </a:r>
            <a:r>
              <a:rPr lang="en-US" sz="2400" dirty="0" smtClean="0"/>
              <a:t>.</a:t>
            </a:r>
          </a:p>
        </p:txBody>
      </p:sp>
      <p:sp>
        <p:nvSpPr>
          <p:cNvPr id="4" name="Content Placeholder 2"/>
          <p:cNvSpPr txBox="1">
            <a:spLocks/>
          </p:cNvSpPr>
          <p:nvPr/>
        </p:nvSpPr>
        <p:spPr bwMode="auto">
          <a:xfrm>
            <a:off x="457200" y="3124200"/>
            <a:ext cx="8229600" cy="2971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err="1" smtClean="0">
                <a:solidFill>
                  <a:srgbClr val="569CD6"/>
                </a:solidFill>
                <a:latin typeface="Consolas"/>
              </a:rPr>
              <a:t>var</a:t>
            </a:r>
            <a:r>
              <a:rPr lang="en-US" dirty="0" smtClean="0">
                <a:solidFill>
                  <a:srgbClr val="D4D4D4"/>
                </a:solidFill>
                <a:latin typeface="Consolas"/>
              </a:rPr>
              <a:t> </a:t>
            </a:r>
            <a:r>
              <a:rPr lang="en-US" dirty="0" err="1" smtClean="0">
                <a:solidFill>
                  <a:srgbClr val="9CDCFE"/>
                </a:solidFill>
                <a:latin typeface="Consolas"/>
              </a:rPr>
              <a:t>aliveServers</a:t>
            </a:r>
            <a:r>
              <a:rPr lang="en-US" dirty="0" smtClean="0">
                <a:solidFill>
                  <a:srgbClr val="D4D4D4"/>
                </a:solidFill>
                <a:latin typeface="Consolas"/>
              </a:rPr>
              <a:t> </a:t>
            </a:r>
            <a:r>
              <a:rPr lang="en-US" dirty="0" err="1" smtClean="0">
                <a:solidFill>
                  <a:srgbClr val="4EC9B0"/>
                </a:solidFill>
                <a:latin typeface="Consolas"/>
              </a:rPr>
              <a:t>int</a:t>
            </a:r>
            <a:endParaRPr lang="en-US" dirty="0" smtClean="0">
              <a:solidFill>
                <a:srgbClr val="D4D4D4"/>
              </a:solidFill>
              <a:latin typeface="Consolas"/>
            </a:endParaRPr>
          </a:p>
          <a:p>
            <a:r>
              <a:rPr lang="en-US" dirty="0" err="1" smtClean="0">
                <a:solidFill>
                  <a:srgbClr val="569CD6"/>
                </a:solidFill>
                <a:latin typeface="Consolas"/>
              </a:rPr>
              <a:t>var</a:t>
            </a:r>
            <a:r>
              <a:rPr lang="en-US" dirty="0" smtClean="0">
                <a:solidFill>
                  <a:srgbClr val="D4D4D4"/>
                </a:solidFill>
                <a:latin typeface="Consolas"/>
              </a:rPr>
              <a:t> </a:t>
            </a:r>
            <a:r>
              <a:rPr lang="en-US" dirty="0" err="1" smtClean="0">
                <a:solidFill>
                  <a:srgbClr val="9CDCFE"/>
                </a:solidFill>
                <a:latin typeface="Consolas"/>
              </a:rPr>
              <a:t>deadServers</a:t>
            </a:r>
            <a:r>
              <a:rPr lang="en-US" dirty="0" smtClean="0">
                <a:solidFill>
                  <a:srgbClr val="D4D4D4"/>
                </a:solidFill>
                <a:latin typeface="Consolas"/>
              </a:rPr>
              <a:t> </a:t>
            </a:r>
            <a:r>
              <a:rPr lang="en-US" dirty="0" err="1" smtClean="0">
                <a:solidFill>
                  <a:srgbClr val="4EC9B0"/>
                </a:solidFill>
                <a:latin typeface="Consolas"/>
              </a:rPr>
              <a:t>int</a:t>
            </a:r>
            <a:endParaRPr lang="en-US" dirty="0" smtClean="0">
              <a:solidFill>
                <a:srgbClr val="D4D4D4"/>
              </a:solidFill>
              <a:latin typeface="Consolas"/>
            </a:endParaRP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ping</a:t>
            </a:r>
            <a:r>
              <a:rPr lang="en-US" dirty="0" smtClean="0">
                <a:solidFill>
                  <a:srgbClr val="D4D4D4"/>
                </a:solidFill>
                <a:latin typeface="Consolas"/>
              </a:rPr>
              <a:t>(num </a:t>
            </a:r>
            <a:r>
              <a:rPr lang="en-US" dirty="0" err="1" smtClean="0">
                <a:solidFill>
                  <a:srgbClr val="4EC9B0"/>
                </a:solidFill>
                <a:latin typeface="Consolas"/>
              </a:rPr>
              <a:t>int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if</a:t>
            </a:r>
            <a:r>
              <a:rPr lang="en-US" dirty="0" smtClean="0">
                <a:solidFill>
                  <a:srgbClr val="D4D4D4"/>
                </a:solidFill>
                <a:latin typeface="Consolas"/>
              </a:rPr>
              <a:t> num%</a:t>
            </a:r>
            <a:r>
              <a:rPr lang="en-US" dirty="0" smtClean="0">
                <a:solidFill>
                  <a:srgbClr val="B5CEA8"/>
                </a:solidFill>
                <a:latin typeface="Consolas"/>
              </a:rPr>
              <a:t>2</a:t>
            </a:r>
            <a:r>
              <a:rPr lang="en-US" dirty="0" smtClean="0">
                <a:solidFill>
                  <a:srgbClr val="D4D4D4"/>
                </a:solidFill>
                <a:latin typeface="Consolas"/>
              </a:rPr>
              <a:t> == </a:t>
            </a:r>
            <a:r>
              <a:rPr lang="en-US" dirty="0" smtClean="0">
                <a:solidFill>
                  <a:srgbClr val="B5CEA8"/>
                </a:solidFill>
                <a:latin typeface="Consolas"/>
              </a:rPr>
              <a:t>0</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aliveServers</a:t>
            </a:r>
            <a:r>
              <a:rPr lang="en-US" dirty="0" smtClean="0">
                <a:solidFill>
                  <a:srgbClr val="D4D4D4"/>
                </a:solidFill>
                <a:latin typeface="Consolas"/>
              </a:rPr>
              <a:t>++</a:t>
            </a:r>
          </a:p>
          <a:p>
            <a:r>
              <a:rPr lang="en-US" dirty="0" smtClean="0">
                <a:solidFill>
                  <a:srgbClr val="D4D4D4"/>
                </a:solidFill>
                <a:latin typeface="Consolas"/>
              </a:rPr>
              <a:t>    } </a:t>
            </a:r>
            <a:r>
              <a:rPr lang="en-US" dirty="0" smtClean="0">
                <a:solidFill>
                  <a:srgbClr val="C586C0"/>
                </a:solidFill>
                <a:latin typeface="Consolas"/>
              </a:rPr>
              <a:t>else</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a:t>
            </a:r>
          </a:p>
          <a:p>
            <a:r>
              <a:rPr lang="en-US" dirty="0" smtClean="0">
                <a:solidFill>
                  <a:srgbClr val="D4D4D4"/>
                </a:solidFill>
                <a:latin typeface="Consolas"/>
              </a:rPr>
              <a:t>    }</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Race Conditions (II)</a:t>
            </a:r>
            <a:endParaRPr lang="en-US" dirty="0"/>
          </a:p>
        </p:txBody>
      </p:sp>
      <p:sp>
        <p:nvSpPr>
          <p:cNvPr id="4" name="Content Placeholder 2"/>
          <p:cNvSpPr txBox="1">
            <a:spLocks/>
          </p:cNvSpPr>
          <p:nvPr/>
        </p:nvSpPr>
        <p:spPr bwMode="auto">
          <a:xfrm>
            <a:off x="457200" y="1447800"/>
            <a:ext cx="8229600" cy="5105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main</a:t>
            </a:r>
            <a:r>
              <a:rPr lang="en-US" sz="2000" dirty="0" smtClean="0">
                <a:solidFill>
                  <a:srgbClr val="D4D4D4"/>
                </a:solidFill>
                <a:latin typeface="Consolas"/>
              </a:rPr>
              <a:t>() {</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err="1" smtClean="0">
                <a:solidFill>
                  <a:srgbClr val="569CD6"/>
                </a:solidFill>
                <a:latin typeface="Consolas"/>
              </a:rPr>
              <a:t>var</a:t>
            </a:r>
            <a:r>
              <a:rPr lang="en-US" sz="2000" dirty="0" smtClean="0">
                <a:solidFill>
                  <a:srgbClr val="D4D4D4"/>
                </a:solidFill>
                <a:latin typeface="Consolas"/>
              </a:rPr>
              <a:t> </a:t>
            </a:r>
            <a:r>
              <a:rPr lang="en-US" sz="2000" dirty="0" err="1" smtClean="0">
                <a:solidFill>
                  <a:srgbClr val="9CDCFE"/>
                </a:solidFill>
                <a:latin typeface="Consolas"/>
              </a:rPr>
              <a:t>wg</a:t>
            </a:r>
            <a:r>
              <a:rPr lang="en-US" sz="2000" dirty="0" smtClean="0">
                <a:solidFill>
                  <a:srgbClr val="D4D4D4"/>
                </a:solidFill>
                <a:latin typeface="Consolas"/>
              </a:rPr>
              <a:t> </a:t>
            </a:r>
            <a:r>
              <a:rPr lang="en-US" sz="2000" dirty="0" err="1" smtClean="0">
                <a:solidFill>
                  <a:srgbClr val="D4D4D4"/>
                </a:solidFill>
                <a:latin typeface="Consolas"/>
              </a:rPr>
              <a:t>sync.WaitGroup</a:t>
            </a:r>
            <a:endParaRPr lang="en-US" sz="2000" dirty="0" smtClean="0">
              <a:solidFill>
                <a:srgbClr val="D4D4D4"/>
              </a:solidFill>
              <a:latin typeface="Consolas"/>
            </a:endParaRPr>
          </a:p>
          <a:p>
            <a:r>
              <a:rPr lang="en-US" sz="2000" dirty="0" smtClean="0">
                <a:solidFill>
                  <a:srgbClr val="D4D4D4"/>
                </a:solidFill>
                <a:latin typeface="Consolas"/>
              </a:rPr>
              <a:t>    </a:t>
            </a:r>
            <a:r>
              <a:rPr lang="en-US" sz="2000" dirty="0" smtClean="0">
                <a:solidFill>
                  <a:srgbClr val="C586C0"/>
                </a:solidFill>
                <a:latin typeface="Consolas"/>
              </a:rPr>
              <a:t>for</a:t>
            </a:r>
            <a:r>
              <a:rPr lang="en-US" sz="2000" dirty="0" smtClean="0">
                <a:solidFill>
                  <a:srgbClr val="D4D4D4"/>
                </a:solidFill>
                <a:latin typeface="Consolas"/>
              </a:rPr>
              <a:t> </a:t>
            </a:r>
            <a:r>
              <a:rPr lang="en-US" sz="2000" dirty="0" err="1" smtClean="0">
                <a:solidFill>
                  <a:srgbClr val="9CDCFE"/>
                </a:solidFill>
                <a:latin typeface="Consolas"/>
              </a:rPr>
              <a:t>i</a:t>
            </a:r>
            <a:r>
              <a:rPr lang="en-US" sz="2000" dirty="0" smtClean="0">
                <a:solidFill>
                  <a:srgbClr val="D4D4D4"/>
                </a:solidFill>
                <a:latin typeface="Consolas"/>
              </a:rPr>
              <a:t> := </a:t>
            </a:r>
            <a:r>
              <a:rPr lang="en-US" sz="2000" dirty="0" smtClean="0">
                <a:solidFill>
                  <a:srgbClr val="B5CEA8"/>
                </a:solidFill>
                <a:latin typeface="Consolas"/>
              </a:rPr>
              <a:t>1</a:t>
            </a:r>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 &lt;= </a:t>
            </a:r>
            <a:r>
              <a:rPr lang="en-US" sz="2000" dirty="0" smtClean="0">
                <a:solidFill>
                  <a:srgbClr val="B5CEA8"/>
                </a:solidFill>
                <a:latin typeface="Consolas"/>
              </a:rPr>
              <a:t>10000</a:t>
            </a:r>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wg.</a:t>
            </a:r>
            <a:r>
              <a:rPr lang="en-US" sz="2000" dirty="0" err="1" smtClean="0">
                <a:solidFill>
                  <a:srgbClr val="DCDCAA"/>
                </a:solidFill>
                <a:latin typeface="Consolas"/>
              </a:rPr>
              <a:t>Add</a:t>
            </a:r>
            <a:r>
              <a:rPr lang="en-US" sz="2000" dirty="0" smtClean="0">
                <a:solidFill>
                  <a:srgbClr val="D4D4D4"/>
                </a:solidFill>
                <a:latin typeface="Consolas"/>
              </a:rPr>
              <a:t>(</a:t>
            </a:r>
            <a:r>
              <a:rPr lang="en-US" sz="2000" dirty="0" smtClean="0">
                <a:solidFill>
                  <a:srgbClr val="B5CEA8"/>
                </a:solidFill>
                <a:latin typeface="Consolas"/>
              </a:rPr>
              <a:t>1</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go</a:t>
            </a:r>
            <a:r>
              <a:rPr lang="en-US" sz="2000" dirty="0" smtClean="0">
                <a:solidFill>
                  <a:srgbClr val="D4D4D4"/>
                </a:solidFill>
                <a:latin typeface="Consolas"/>
              </a:rPr>
              <a:t> </a:t>
            </a:r>
            <a:r>
              <a:rPr lang="en-US" sz="2000" dirty="0" err="1" smtClean="0">
                <a:solidFill>
                  <a:srgbClr val="569CD6"/>
                </a:solidFill>
                <a:latin typeface="Consolas"/>
              </a:rPr>
              <a:t>func</a:t>
            </a:r>
            <a:r>
              <a:rPr lang="en-US" sz="2000" dirty="0" smtClean="0">
                <a:solidFill>
                  <a:srgbClr val="D4D4D4"/>
                </a:solidFill>
                <a:latin typeface="Consolas"/>
              </a:rPr>
              <a:t>(x </a:t>
            </a:r>
            <a:r>
              <a:rPr lang="en-US" sz="2000" dirty="0" err="1" smtClean="0">
                <a:solidFill>
                  <a:srgbClr val="4EC9B0"/>
                </a:solidFill>
                <a:latin typeface="Consolas"/>
              </a:rPr>
              <a:t>int</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smtClean="0">
                <a:solidFill>
                  <a:srgbClr val="C586C0"/>
                </a:solidFill>
                <a:latin typeface="Consolas"/>
              </a:rPr>
              <a:t>defer</a:t>
            </a:r>
            <a:r>
              <a:rPr lang="en-US" sz="2000" dirty="0" smtClean="0">
                <a:solidFill>
                  <a:srgbClr val="D4D4D4"/>
                </a:solidFill>
                <a:latin typeface="Consolas"/>
              </a:rPr>
              <a:t> </a:t>
            </a:r>
            <a:r>
              <a:rPr lang="en-US" sz="2000" dirty="0" err="1" smtClean="0">
                <a:solidFill>
                  <a:srgbClr val="D4D4D4"/>
                </a:solidFill>
                <a:latin typeface="Consolas"/>
              </a:rPr>
              <a:t>wg.</a:t>
            </a:r>
            <a:r>
              <a:rPr lang="en-US" sz="2000" dirty="0" err="1" smtClean="0">
                <a:solidFill>
                  <a:srgbClr val="DCDCAA"/>
                </a:solidFill>
                <a:latin typeface="Consolas"/>
              </a:rPr>
              <a:t>Done</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DCDCAA"/>
                </a:solidFill>
                <a:latin typeface="Consolas"/>
              </a:rPr>
              <a:t>ping</a:t>
            </a:r>
            <a:r>
              <a:rPr lang="en-US" sz="2000" dirty="0" smtClean="0">
                <a:solidFill>
                  <a:srgbClr val="D4D4D4"/>
                </a:solidFill>
                <a:latin typeface="Consolas"/>
              </a:rPr>
              <a:t>(x)</a:t>
            </a:r>
          </a:p>
          <a:p>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a:t>
            </a:r>
          </a:p>
          <a:p>
            <a:r>
              <a:rPr lang="en-US" sz="2000" dirty="0" smtClean="0">
                <a:solidFill>
                  <a:srgbClr val="D4D4D4"/>
                </a:solidFill>
                <a:latin typeface="Consolas"/>
              </a:rPr>
              <a:t>    }</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err="1" smtClean="0">
                <a:solidFill>
                  <a:srgbClr val="D4D4D4"/>
                </a:solidFill>
                <a:latin typeface="Consolas"/>
              </a:rPr>
              <a:t>wg.</a:t>
            </a:r>
            <a:r>
              <a:rPr lang="en-US" sz="2000" dirty="0" err="1" smtClean="0">
                <a:solidFill>
                  <a:srgbClr val="DCDCAA"/>
                </a:solidFill>
                <a:latin typeface="Consolas"/>
              </a:rPr>
              <a:t>Wait</a:t>
            </a:r>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"Alive servers: "</a:t>
            </a:r>
            <a:r>
              <a:rPr lang="en-US" sz="2000" dirty="0" smtClean="0">
                <a:solidFill>
                  <a:srgbClr val="D4D4D4"/>
                </a:solidFill>
                <a:latin typeface="Consolas"/>
              </a:rPr>
              <a:t>, </a:t>
            </a:r>
            <a:r>
              <a:rPr lang="en-US" sz="2000" dirty="0" err="1" smtClean="0">
                <a:solidFill>
                  <a:srgbClr val="D4D4D4"/>
                </a:solidFill>
                <a:latin typeface="Consolas"/>
              </a:rPr>
              <a:t>aliveServers</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"Dead servers:"</a:t>
            </a:r>
            <a:r>
              <a:rPr lang="en-US" sz="2000" dirty="0" smtClean="0">
                <a:solidFill>
                  <a:srgbClr val="D4D4D4"/>
                </a:solidFill>
                <a:latin typeface="Consolas"/>
              </a:rPr>
              <a:t>, </a:t>
            </a:r>
            <a:r>
              <a:rPr lang="en-US" sz="2000" dirty="0" err="1" smtClean="0">
                <a:solidFill>
                  <a:srgbClr val="D4D4D4"/>
                </a:solidFill>
                <a:latin typeface="Consolas"/>
              </a:rPr>
              <a:t>deadServers</a:t>
            </a:r>
            <a:r>
              <a:rPr lang="en-US" sz="2000" dirty="0" smtClean="0">
                <a:solidFill>
                  <a:srgbClr val="D4D4D4"/>
                </a:solidFill>
                <a:latin typeface="Consolas"/>
              </a:rPr>
              <a:t>)</a:t>
            </a:r>
          </a:p>
          <a:p>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endParaRPr lang="en-US" sz="2000" b="0" dirty="0">
              <a:solidFill>
                <a:srgbClr val="D4D4D4"/>
              </a:solidFill>
              <a:latin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Concurrency-Safe Program</a:t>
            </a:r>
            <a:endParaRPr lang="en-US" dirty="0"/>
          </a:p>
        </p:txBody>
      </p:sp>
      <p:sp>
        <p:nvSpPr>
          <p:cNvPr id="3" name="Content Placeholder 2"/>
          <p:cNvSpPr>
            <a:spLocks noGrp="1"/>
          </p:cNvSpPr>
          <p:nvPr>
            <p:ph idx="1"/>
          </p:nvPr>
        </p:nvSpPr>
        <p:spPr/>
        <p:txBody>
          <a:bodyPr/>
          <a:lstStyle/>
          <a:p>
            <a:r>
              <a:rPr lang="en-US" sz="2200" dirty="0" smtClean="0"/>
              <a:t>Consider a function that works correctly in a sequential program. That function is </a:t>
            </a:r>
            <a:r>
              <a:rPr lang="en-US" sz="2200" i="1" dirty="0" smtClean="0">
                <a:solidFill>
                  <a:srgbClr val="C00000"/>
                </a:solidFill>
              </a:rPr>
              <a:t>concurrency-safe</a:t>
            </a:r>
            <a:r>
              <a:rPr lang="en-US" sz="2200" dirty="0" smtClean="0"/>
              <a:t> if it continues to work correctly even when called concurrently, that is, from </a:t>
            </a:r>
            <a:r>
              <a:rPr lang="en-US" sz="2200" u="sng" dirty="0" smtClean="0"/>
              <a:t>two or more </a:t>
            </a:r>
            <a:r>
              <a:rPr lang="en-US" sz="2200" u="sng" dirty="0" err="1" smtClean="0"/>
              <a:t>goroutines</a:t>
            </a:r>
            <a:r>
              <a:rPr lang="en-US" sz="2200" dirty="0" smtClean="0"/>
              <a:t> with </a:t>
            </a:r>
            <a:r>
              <a:rPr lang="en-US" sz="2200" u="sng" dirty="0" smtClean="0"/>
              <a:t>no additional synchronization</a:t>
            </a:r>
            <a:r>
              <a:rPr lang="en-US" sz="2200" dirty="0" smtClean="0"/>
              <a:t>.</a:t>
            </a:r>
          </a:p>
          <a:p>
            <a:r>
              <a:rPr lang="en-US" sz="2200" dirty="0" smtClean="0"/>
              <a:t>We can generalize this notion to </a:t>
            </a:r>
            <a:r>
              <a:rPr lang="en-US" sz="2200" i="1" dirty="0" smtClean="0">
                <a:solidFill>
                  <a:srgbClr val="C00000"/>
                </a:solidFill>
              </a:rPr>
              <a:t>a set of collaborating functions</a:t>
            </a:r>
            <a:r>
              <a:rPr lang="en-US" sz="2200" dirty="0" smtClean="0"/>
              <a:t>, such as the methods and operations of a particular type.</a:t>
            </a:r>
          </a:p>
          <a:p>
            <a:r>
              <a:rPr lang="en-US" sz="2200" dirty="0" smtClean="0"/>
              <a:t>A </a:t>
            </a:r>
            <a:r>
              <a:rPr lang="en-US" sz="2200" i="1" dirty="0" smtClean="0">
                <a:solidFill>
                  <a:srgbClr val="C00000"/>
                </a:solidFill>
              </a:rPr>
              <a:t>type</a:t>
            </a:r>
            <a:r>
              <a:rPr lang="en-US" sz="2200" dirty="0" smtClean="0"/>
              <a:t> is </a:t>
            </a:r>
            <a:r>
              <a:rPr lang="en-US" sz="2200" u="sng" dirty="0" smtClean="0"/>
              <a:t>concurrency-safe</a:t>
            </a:r>
            <a:r>
              <a:rPr lang="en-US" sz="2200" dirty="0" smtClean="0"/>
              <a:t> if all its accessible methods and operations are concurrency-safe.</a:t>
            </a:r>
          </a:p>
          <a:p>
            <a:r>
              <a:rPr lang="en-US" sz="2200" dirty="0" smtClean="0"/>
              <a:t>We can make a </a:t>
            </a:r>
            <a:r>
              <a:rPr lang="en-US" sz="2200" i="1" dirty="0" smtClean="0">
                <a:solidFill>
                  <a:srgbClr val="C00000"/>
                </a:solidFill>
              </a:rPr>
              <a:t>program</a:t>
            </a:r>
            <a:r>
              <a:rPr lang="en-US" sz="2200" dirty="0" smtClean="0"/>
              <a:t> concurrency-safe without making every concrete type in that program concurrency-safe.</a:t>
            </a:r>
          </a:p>
          <a:p>
            <a:r>
              <a:rPr lang="en-US" sz="2200" dirty="0" smtClean="0"/>
              <a:t>We avoid concurrent access to most </a:t>
            </a:r>
            <a:r>
              <a:rPr lang="en-US" sz="2200" u="sng" dirty="0" smtClean="0"/>
              <a:t>variables</a:t>
            </a:r>
            <a:r>
              <a:rPr lang="en-US" sz="2200" dirty="0" smtClean="0"/>
              <a:t> either by </a:t>
            </a:r>
            <a:r>
              <a:rPr lang="en-US" sz="2200" i="1" dirty="0" smtClean="0">
                <a:solidFill>
                  <a:srgbClr val="C00000"/>
                </a:solidFill>
              </a:rPr>
              <a:t>confining</a:t>
            </a:r>
            <a:r>
              <a:rPr lang="en-US" sz="2200" dirty="0" smtClean="0"/>
              <a:t> them to a single </a:t>
            </a:r>
            <a:r>
              <a:rPr lang="en-US" sz="2200" dirty="0" err="1" smtClean="0"/>
              <a:t>goroutine</a:t>
            </a:r>
            <a:r>
              <a:rPr lang="en-US" sz="2200" dirty="0" smtClean="0"/>
              <a:t> or by maintaining a higher-level invariant of </a:t>
            </a:r>
            <a:r>
              <a:rPr lang="en-US" sz="2200" i="1" dirty="0" smtClean="0">
                <a:solidFill>
                  <a:srgbClr val="C00000"/>
                </a:solidFill>
              </a:rPr>
              <a:t>mutual exclusion</a:t>
            </a:r>
            <a:r>
              <a:rPr lang="en-US" sz="2200" dirty="0" smtClean="0"/>
              <a:t>.</a:t>
            </a:r>
            <a:endParaRPr lang="en-US" sz="2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Mutual Exclusion: </a:t>
            </a:r>
            <a:r>
              <a:rPr lang="en-US" sz="4000" dirty="0" err="1" smtClean="0">
                <a:latin typeface="Consolas" pitchFamily="49" charset="0"/>
              </a:rPr>
              <a:t>sync.Mutex</a:t>
            </a:r>
            <a:r>
              <a:rPr lang="en-US" sz="4000" dirty="0" smtClean="0">
                <a:latin typeface="Consolas" pitchFamily="49" charset="0"/>
              </a:rPr>
              <a:t> (I)</a:t>
            </a:r>
            <a:endParaRPr lang="en-US" sz="4000" dirty="0">
              <a:latin typeface="Consolas" pitchFamily="49" charset="0"/>
            </a:endParaRPr>
          </a:p>
        </p:txBody>
      </p:sp>
      <p:sp>
        <p:nvSpPr>
          <p:cNvPr id="4" name="Content Placeholder 2"/>
          <p:cNvSpPr txBox="1">
            <a:spLocks/>
          </p:cNvSpPr>
          <p:nvPr/>
        </p:nvSpPr>
        <p:spPr bwMode="auto">
          <a:xfrm>
            <a:off x="457200" y="1828800"/>
            <a:ext cx="8229600" cy="4267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err="1" smtClean="0">
                <a:solidFill>
                  <a:srgbClr val="9CDCFE"/>
                </a:solidFill>
                <a:latin typeface="Consolas"/>
              </a:rPr>
              <a:t>aliveServers</a:t>
            </a:r>
            <a:r>
              <a:rPr lang="en-US" sz="2000" dirty="0" smtClean="0">
                <a:solidFill>
                  <a:srgbClr val="D4D4D4"/>
                </a:solidFill>
                <a:latin typeface="Consolas"/>
              </a:rPr>
              <a:t> </a:t>
            </a:r>
            <a:r>
              <a:rPr lang="en-US" sz="2000" dirty="0" err="1" smtClean="0">
                <a:solidFill>
                  <a:srgbClr val="4EC9B0"/>
                </a:solidFill>
                <a:latin typeface="Consolas"/>
              </a:rPr>
              <a:t>int</a:t>
            </a:r>
            <a:endParaRPr lang="en-US" sz="2000" dirty="0" smtClean="0">
              <a:solidFill>
                <a:srgbClr val="D4D4D4"/>
              </a:solidFill>
              <a:latin typeface="Consolas"/>
            </a:endParaRPr>
          </a:p>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err="1" smtClean="0">
                <a:solidFill>
                  <a:srgbClr val="9CDCFE"/>
                </a:solidFill>
                <a:latin typeface="Consolas"/>
              </a:rPr>
              <a:t>deadServers</a:t>
            </a:r>
            <a:r>
              <a:rPr lang="en-US" sz="2000" dirty="0" smtClean="0">
                <a:solidFill>
                  <a:srgbClr val="D4D4D4"/>
                </a:solidFill>
                <a:latin typeface="Consolas"/>
              </a:rPr>
              <a:t> </a:t>
            </a:r>
            <a:r>
              <a:rPr lang="en-US" sz="2000" dirty="0" err="1" smtClean="0">
                <a:solidFill>
                  <a:srgbClr val="4EC9B0"/>
                </a:solidFill>
                <a:latin typeface="Consolas"/>
              </a:rPr>
              <a:t>int</a:t>
            </a:r>
            <a:endParaRPr lang="en-US" sz="2000" dirty="0" smtClean="0">
              <a:solidFill>
                <a:srgbClr val="D4D4D4"/>
              </a:solidFill>
              <a:latin typeface="Consolas"/>
            </a:endParaRPr>
          </a:p>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smtClean="0">
                <a:solidFill>
                  <a:srgbClr val="9CDCFE"/>
                </a:solidFill>
                <a:latin typeface="Consolas"/>
              </a:rPr>
              <a:t>mu</a:t>
            </a:r>
            <a:r>
              <a:rPr lang="en-US" sz="2000" dirty="0" smtClean="0">
                <a:solidFill>
                  <a:srgbClr val="D4D4D4"/>
                </a:solidFill>
                <a:latin typeface="Consolas"/>
              </a:rPr>
              <a:t> </a:t>
            </a:r>
            <a:r>
              <a:rPr lang="en-US" sz="2000" dirty="0" err="1" smtClean="0">
                <a:solidFill>
                  <a:srgbClr val="D4D4D4"/>
                </a:solidFill>
                <a:latin typeface="Consolas"/>
              </a:rPr>
              <a:t>sync.Mutex</a:t>
            </a:r>
            <a:endParaRPr lang="en-US" sz="2000" dirty="0" smtClean="0">
              <a:solidFill>
                <a:srgbClr val="D4D4D4"/>
              </a:solidFill>
              <a:latin typeface="Consolas"/>
            </a:endParaRPr>
          </a:p>
          <a:p>
            <a:r>
              <a:rPr lang="en-US" sz="2000" dirty="0" smtClean="0">
                <a:solidFill>
                  <a:srgbClr val="D4D4D4"/>
                </a:solidFill>
                <a:latin typeface="Consolas"/>
              </a:rPr>
              <a:t/>
            </a:r>
            <a:br>
              <a:rPr lang="en-US" sz="2000" dirty="0" smtClean="0">
                <a:solidFill>
                  <a:srgbClr val="D4D4D4"/>
                </a:solidFill>
                <a:latin typeface="Consolas"/>
              </a:rPr>
            </a:br>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ping</a:t>
            </a:r>
            <a:r>
              <a:rPr lang="en-US" sz="2000" dirty="0" smtClean="0">
                <a:solidFill>
                  <a:srgbClr val="D4D4D4"/>
                </a:solidFill>
                <a:latin typeface="Consolas"/>
              </a:rPr>
              <a:t>(num </a:t>
            </a:r>
            <a:r>
              <a:rPr lang="en-US" sz="2000" dirty="0" err="1" smtClean="0">
                <a:solidFill>
                  <a:srgbClr val="4EC9B0"/>
                </a:solidFill>
                <a:latin typeface="Consolas"/>
              </a:rPr>
              <a:t>int</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mu.</a:t>
            </a:r>
            <a:r>
              <a:rPr lang="en-US" sz="2000" dirty="0" err="1" smtClean="0">
                <a:solidFill>
                  <a:srgbClr val="DCDCAA"/>
                </a:solidFill>
                <a:latin typeface="Consolas"/>
              </a:rPr>
              <a:t>Lock</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defer</a:t>
            </a:r>
            <a:r>
              <a:rPr lang="en-US" sz="2000" dirty="0" smtClean="0">
                <a:solidFill>
                  <a:srgbClr val="D4D4D4"/>
                </a:solidFill>
                <a:latin typeface="Consolas"/>
              </a:rPr>
              <a:t> </a:t>
            </a:r>
            <a:r>
              <a:rPr lang="en-US" sz="2000" dirty="0" err="1" smtClean="0">
                <a:solidFill>
                  <a:srgbClr val="D4D4D4"/>
                </a:solidFill>
                <a:latin typeface="Consolas"/>
              </a:rPr>
              <a:t>mu.</a:t>
            </a:r>
            <a:r>
              <a:rPr lang="en-US" sz="2000" dirty="0" err="1" smtClean="0">
                <a:solidFill>
                  <a:srgbClr val="DCDCAA"/>
                </a:solidFill>
                <a:latin typeface="Consolas"/>
              </a:rPr>
              <a:t>Unlock</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if</a:t>
            </a:r>
            <a:r>
              <a:rPr lang="en-US" sz="2000" dirty="0" smtClean="0">
                <a:solidFill>
                  <a:srgbClr val="D4D4D4"/>
                </a:solidFill>
                <a:latin typeface="Consolas"/>
              </a:rPr>
              <a:t> num%</a:t>
            </a:r>
            <a:r>
              <a:rPr lang="en-US" sz="2000" dirty="0" smtClean="0">
                <a:solidFill>
                  <a:srgbClr val="B5CEA8"/>
                </a:solidFill>
                <a:latin typeface="Consolas"/>
              </a:rPr>
              <a:t>2</a:t>
            </a:r>
            <a:r>
              <a:rPr lang="en-US" sz="2000" dirty="0" smtClean="0">
                <a:solidFill>
                  <a:srgbClr val="D4D4D4"/>
                </a:solidFill>
                <a:latin typeface="Consolas"/>
              </a:rPr>
              <a:t> == </a:t>
            </a:r>
            <a:r>
              <a:rPr lang="en-US" sz="2000" dirty="0" smtClean="0">
                <a:solidFill>
                  <a:srgbClr val="B5CEA8"/>
                </a:solidFill>
                <a:latin typeface="Consolas"/>
              </a:rPr>
              <a:t>0</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aliveServers</a:t>
            </a:r>
            <a:r>
              <a:rPr lang="en-US" sz="2000" dirty="0" smtClean="0">
                <a:solidFill>
                  <a:srgbClr val="D4D4D4"/>
                </a:solidFill>
                <a:latin typeface="Consolas"/>
              </a:rPr>
              <a:t>++</a:t>
            </a:r>
          </a:p>
          <a:p>
            <a:r>
              <a:rPr lang="en-US" sz="2000" dirty="0" smtClean="0">
                <a:solidFill>
                  <a:srgbClr val="D4D4D4"/>
                </a:solidFill>
                <a:latin typeface="Consolas"/>
              </a:rPr>
              <a:t>    } </a:t>
            </a:r>
            <a:r>
              <a:rPr lang="en-US" sz="2000" dirty="0" smtClean="0">
                <a:solidFill>
                  <a:srgbClr val="C586C0"/>
                </a:solidFill>
                <a:latin typeface="Consolas"/>
              </a:rPr>
              <a:t>else</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deadServers</a:t>
            </a:r>
            <a:r>
              <a:rPr lang="en-US" sz="2000" dirty="0" smtClean="0">
                <a:solidFill>
                  <a:srgbClr val="D4D4D4"/>
                </a:solidFill>
                <a:latin typeface="Consolas"/>
              </a:rPr>
              <a:t>++</a:t>
            </a:r>
          </a:p>
          <a:p>
            <a:r>
              <a:rPr lang="en-US" sz="2000" dirty="0" smtClean="0">
                <a:solidFill>
                  <a:srgbClr val="D4D4D4"/>
                </a:solidFill>
                <a:latin typeface="Consolas"/>
              </a:rPr>
              <a:t>    }</a:t>
            </a:r>
          </a:p>
          <a:p>
            <a:r>
              <a:rPr lang="en-US" sz="2000" dirty="0" smtClean="0">
                <a:solidFill>
                  <a:srgbClr val="D4D4D4"/>
                </a:solidFill>
                <a:latin typeface="Consolas"/>
              </a:rPr>
              <a:t>}</a:t>
            </a:r>
            <a:endParaRPr lang="en-US" sz="2000" b="0" dirty="0">
              <a:solidFill>
                <a:srgbClr val="D4D4D4"/>
              </a:solidFill>
              <a:latin typeface="Consolas"/>
            </a:endParaRPr>
          </a:p>
        </p:txBody>
      </p:sp>
      <p:sp>
        <p:nvSpPr>
          <p:cNvPr id="5" name="Rectangle 4"/>
          <p:cNvSpPr/>
          <p:nvPr/>
        </p:nvSpPr>
        <p:spPr>
          <a:xfrm>
            <a:off x="4800600" y="1752600"/>
            <a:ext cx="3962400" cy="313932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342900" indent="-342900">
              <a:buFont typeface="Arial" pitchFamily="34" charset="0"/>
              <a:buChar char="•"/>
            </a:pPr>
            <a:r>
              <a:rPr lang="en-US" dirty="0" smtClean="0"/>
              <a:t>Each time a </a:t>
            </a:r>
            <a:r>
              <a:rPr lang="en-US" dirty="0" err="1" smtClean="0"/>
              <a:t>goroutine</a:t>
            </a:r>
            <a:r>
              <a:rPr lang="en-US" dirty="0" smtClean="0"/>
              <a:t> accesses the variables, it must call the </a:t>
            </a:r>
            <a:r>
              <a:rPr lang="en-US" dirty="0" err="1" smtClean="0"/>
              <a:t>mutex's</a:t>
            </a:r>
            <a:r>
              <a:rPr lang="en-US" dirty="0" smtClean="0"/>
              <a:t> </a:t>
            </a:r>
            <a:r>
              <a:rPr lang="en-US" b="1" dirty="0" smtClean="0">
                <a:latin typeface="Consolas" pitchFamily="49" charset="0"/>
              </a:rPr>
              <a:t>Lock</a:t>
            </a:r>
            <a:r>
              <a:rPr lang="en-US" dirty="0" smtClean="0"/>
              <a:t> method to acquire an exclusive lock. </a:t>
            </a:r>
          </a:p>
          <a:p>
            <a:pPr marL="342900" indent="-342900">
              <a:buFont typeface="Arial" pitchFamily="34" charset="0"/>
              <a:buChar char="•"/>
            </a:pPr>
            <a:r>
              <a:rPr lang="en-US" dirty="0" smtClean="0"/>
              <a:t>If some other </a:t>
            </a:r>
            <a:r>
              <a:rPr lang="en-US" dirty="0" err="1" smtClean="0"/>
              <a:t>goroutine</a:t>
            </a:r>
            <a:r>
              <a:rPr lang="en-US" dirty="0" smtClean="0"/>
              <a:t> has acquired the lock, this operation will </a:t>
            </a:r>
            <a:r>
              <a:rPr lang="en-US" i="1" dirty="0" smtClean="0">
                <a:solidFill>
                  <a:srgbClr val="C00000"/>
                </a:solidFill>
              </a:rPr>
              <a:t>block</a:t>
            </a:r>
            <a:r>
              <a:rPr lang="en-US" dirty="0" smtClean="0"/>
              <a:t> until the other </a:t>
            </a:r>
            <a:r>
              <a:rPr lang="en-US" dirty="0" err="1" smtClean="0"/>
              <a:t>goroutine</a:t>
            </a:r>
            <a:r>
              <a:rPr lang="en-US" dirty="0" smtClean="0"/>
              <a:t> calls </a:t>
            </a:r>
            <a:r>
              <a:rPr lang="en-US" b="1" dirty="0" smtClean="0">
                <a:latin typeface="Consolas" pitchFamily="49" charset="0"/>
              </a:rPr>
              <a:t>Unlock</a:t>
            </a:r>
            <a:r>
              <a:rPr lang="en-US" dirty="0" smtClean="0"/>
              <a:t> and the lock becomes available again.</a:t>
            </a:r>
          </a:p>
          <a:p>
            <a:pPr marL="342900" indent="-342900">
              <a:buFont typeface="Arial" pitchFamily="34" charset="0"/>
              <a:buChar char="•"/>
            </a:pPr>
            <a:r>
              <a:rPr lang="en-US" dirty="0" smtClean="0"/>
              <a:t>The </a:t>
            </a:r>
            <a:r>
              <a:rPr lang="en-US" dirty="0" err="1" smtClean="0"/>
              <a:t>mutex</a:t>
            </a:r>
            <a:r>
              <a:rPr lang="en-US" dirty="0" smtClean="0"/>
              <a:t> </a:t>
            </a:r>
            <a:r>
              <a:rPr lang="en-US" i="1" dirty="0" smtClean="0">
                <a:solidFill>
                  <a:srgbClr val="C00000"/>
                </a:solidFill>
              </a:rPr>
              <a:t>guards</a:t>
            </a:r>
            <a:r>
              <a:rPr lang="en-US" dirty="0" smtClean="0"/>
              <a:t> the shared variables.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Mutual Exclusion: </a:t>
            </a:r>
            <a:r>
              <a:rPr lang="en-US" sz="4000" dirty="0" err="1" smtClean="0">
                <a:latin typeface="Consolas" pitchFamily="49" charset="0"/>
              </a:rPr>
              <a:t>sync.Mutex</a:t>
            </a:r>
            <a:r>
              <a:rPr lang="en-US" sz="4000" dirty="0" smtClean="0">
                <a:latin typeface="Consolas" pitchFamily="49" charset="0"/>
              </a:rPr>
              <a:t> (II)</a:t>
            </a:r>
            <a:endParaRPr lang="en-US" sz="4000" dirty="0">
              <a:latin typeface="Consolas" pitchFamily="49" charset="0"/>
            </a:endParaRPr>
          </a:p>
        </p:txBody>
      </p:sp>
      <p:sp>
        <p:nvSpPr>
          <p:cNvPr id="4" name="Content Placeholder 2"/>
          <p:cNvSpPr txBox="1">
            <a:spLocks/>
          </p:cNvSpPr>
          <p:nvPr/>
        </p:nvSpPr>
        <p:spPr bwMode="auto">
          <a:xfrm>
            <a:off x="457200" y="1447800"/>
            <a:ext cx="8229600" cy="5105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main</a:t>
            </a:r>
            <a:r>
              <a:rPr lang="en-US" sz="2000" dirty="0" smtClean="0">
                <a:solidFill>
                  <a:srgbClr val="D4D4D4"/>
                </a:solidFill>
                <a:latin typeface="Consolas"/>
              </a:rPr>
              <a:t>() {</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err="1" smtClean="0">
                <a:solidFill>
                  <a:srgbClr val="569CD6"/>
                </a:solidFill>
                <a:latin typeface="Consolas"/>
              </a:rPr>
              <a:t>var</a:t>
            </a:r>
            <a:r>
              <a:rPr lang="en-US" sz="2000" dirty="0" smtClean="0">
                <a:solidFill>
                  <a:srgbClr val="D4D4D4"/>
                </a:solidFill>
                <a:latin typeface="Consolas"/>
              </a:rPr>
              <a:t> </a:t>
            </a:r>
            <a:r>
              <a:rPr lang="en-US" sz="2000" dirty="0" err="1" smtClean="0">
                <a:solidFill>
                  <a:srgbClr val="9CDCFE"/>
                </a:solidFill>
                <a:latin typeface="Consolas"/>
              </a:rPr>
              <a:t>wg</a:t>
            </a:r>
            <a:r>
              <a:rPr lang="en-US" sz="2000" dirty="0" smtClean="0">
                <a:solidFill>
                  <a:srgbClr val="D4D4D4"/>
                </a:solidFill>
                <a:latin typeface="Consolas"/>
              </a:rPr>
              <a:t> </a:t>
            </a:r>
            <a:r>
              <a:rPr lang="en-US" sz="2000" dirty="0" err="1" smtClean="0">
                <a:solidFill>
                  <a:srgbClr val="D4D4D4"/>
                </a:solidFill>
                <a:latin typeface="Consolas"/>
              </a:rPr>
              <a:t>sync.WaitGroup</a:t>
            </a:r>
            <a:endParaRPr lang="en-US" sz="2000" dirty="0" smtClean="0">
              <a:solidFill>
                <a:srgbClr val="D4D4D4"/>
              </a:solidFill>
              <a:latin typeface="Consolas"/>
            </a:endParaRPr>
          </a:p>
          <a:p>
            <a:r>
              <a:rPr lang="en-US" sz="2000" dirty="0" smtClean="0">
                <a:solidFill>
                  <a:srgbClr val="D4D4D4"/>
                </a:solidFill>
                <a:latin typeface="Consolas"/>
              </a:rPr>
              <a:t>    </a:t>
            </a:r>
            <a:r>
              <a:rPr lang="en-US" sz="2000" dirty="0" smtClean="0">
                <a:solidFill>
                  <a:srgbClr val="C586C0"/>
                </a:solidFill>
                <a:latin typeface="Consolas"/>
              </a:rPr>
              <a:t>for</a:t>
            </a:r>
            <a:r>
              <a:rPr lang="en-US" sz="2000" dirty="0" smtClean="0">
                <a:solidFill>
                  <a:srgbClr val="D4D4D4"/>
                </a:solidFill>
                <a:latin typeface="Consolas"/>
              </a:rPr>
              <a:t> </a:t>
            </a:r>
            <a:r>
              <a:rPr lang="en-US" sz="2000" dirty="0" err="1" smtClean="0">
                <a:solidFill>
                  <a:srgbClr val="9CDCFE"/>
                </a:solidFill>
                <a:latin typeface="Consolas"/>
              </a:rPr>
              <a:t>i</a:t>
            </a:r>
            <a:r>
              <a:rPr lang="en-US" sz="2000" dirty="0" smtClean="0">
                <a:solidFill>
                  <a:srgbClr val="D4D4D4"/>
                </a:solidFill>
                <a:latin typeface="Consolas"/>
              </a:rPr>
              <a:t> := </a:t>
            </a:r>
            <a:r>
              <a:rPr lang="en-US" sz="2000" dirty="0" smtClean="0">
                <a:solidFill>
                  <a:srgbClr val="B5CEA8"/>
                </a:solidFill>
                <a:latin typeface="Consolas"/>
              </a:rPr>
              <a:t>1</a:t>
            </a:r>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 &lt;= </a:t>
            </a:r>
            <a:r>
              <a:rPr lang="en-US" sz="2000" dirty="0" smtClean="0">
                <a:solidFill>
                  <a:srgbClr val="B5CEA8"/>
                </a:solidFill>
                <a:latin typeface="Consolas"/>
              </a:rPr>
              <a:t>10000</a:t>
            </a:r>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wg.</a:t>
            </a:r>
            <a:r>
              <a:rPr lang="en-US" sz="2000" dirty="0" err="1" smtClean="0">
                <a:solidFill>
                  <a:srgbClr val="DCDCAA"/>
                </a:solidFill>
                <a:latin typeface="Consolas"/>
              </a:rPr>
              <a:t>Add</a:t>
            </a:r>
            <a:r>
              <a:rPr lang="en-US" sz="2000" dirty="0" smtClean="0">
                <a:solidFill>
                  <a:srgbClr val="D4D4D4"/>
                </a:solidFill>
                <a:latin typeface="Consolas"/>
              </a:rPr>
              <a:t>(</a:t>
            </a:r>
            <a:r>
              <a:rPr lang="en-US" sz="2000" dirty="0" smtClean="0">
                <a:solidFill>
                  <a:srgbClr val="B5CEA8"/>
                </a:solidFill>
                <a:latin typeface="Consolas"/>
              </a:rPr>
              <a:t>1</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go</a:t>
            </a:r>
            <a:r>
              <a:rPr lang="en-US" sz="2000" dirty="0" smtClean="0">
                <a:solidFill>
                  <a:srgbClr val="D4D4D4"/>
                </a:solidFill>
                <a:latin typeface="Consolas"/>
              </a:rPr>
              <a:t> </a:t>
            </a:r>
            <a:r>
              <a:rPr lang="en-US" sz="2000" dirty="0" err="1" smtClean="0">
                <a:solidFill>
                  <a:srgbClr val="569CD6"/>
                </a:solidFill>
                <a:latin typeface="Consolas"/>
              </a:rPr>
              <a:t>func</a:t>
            </a:r>
            <a:r>
              <a:rPr lang="en-US" sz="2000" dirty="0" smtClean="0">
                <a:solidFill>
                  <a:srgbClr val="D4D4D4"/>
                </a:solidFill>
                <a:latin typeface="Consolas"/>
              </a:rPr>
              <a:t>(x </a:t>
            </a:r>
            <a:r>
              <a:rPr lang="en-US" sz="2000" dirty="0" err="1" smtClean="0">
                <a:solidFill>
                  <a:srgbClr val="4EC9B0"/>
                </a:solidFill>
                <a:latin typeface="Consolas"/>
              </a:rPr>
              <a:t>int</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smtClean="0">
                <a:solidFill>
                  <a:srgbClr val="C586C0"/>
                </a:solidFill>
                <a:latin typeface="Consolas"/>
              </a:rPr>
              <a:t>defer</a:t>
            </a:r>
            <a:r>
              <a:rPr lang="en-US" sz="2000" dirty="0" smtClean="0">
                <a:solidFill>
                  <a:srgbClr val="D4D4D4"/>
                </a:solidFill>
                <a:latin typeface="Consolas"/>
              </a:rPr>
              <a:t> </a:t>
            </a:r>
            <a:r>
              <a:rPr lang="en-US" sz="2000" dirty="0" err="1" smtClean="0">
                <a:solidFill>
                  <a:srgbClr val="D4D4D4"/>
                </a:solidFill>
                <a:latin typeface="Consolas"/>
              </a:rPr>
              <a:t>wg.</a:t>
            </a:r>
            <a:r>
              <a:rPr lang="en-US" sz="2000" dirty="0" err="1" smtClean="0">
                <a:solidFill>
                  <a:srgbClr val="DCDCAA"/>
                </a:solidFill>
                <a:latin typeface="Consolas"/>
              </a:rPr>
              <a:t>Done</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DCDCAA"/>
                </a:solidFill>
                <a:latin typeface="Consolas"/>
              </a:rPr>
              <a:t>ping</a:t>
            </a:r>
            <a:r>
              <a:rPr lang="en-US" sz="2000" dirty="0" smtClean="0">
                <a:solidFill>
                  <a:srgbClr val="D4D4D4"/>
                </a:solidFill>
                <a:latin typeface="Consolas"/>
              </a:rPr>
              <a:t>(x)</a:t>
            </a:r>
          </a:p>
          <a:p>
            <a:r>
              <a:rPr lang="en-US" sz="2000" dirty="0" smtClean="0">
                <a:solidFill>
                  <a:srgbClr val="D4D4D4"/>
                </a:solidFill>
                <a:latin typeface="Consolas"/>
              </a:rPr>
              <a:t>        }(</a:t>
            </a:r>
            <a:r>
              <a:rPr lang="en-US" sz="2000" dirty="0" err="1" smtClean="0">
                <a:solidFill>
                  <a:srgbClr val="D4D4D4"/>
                </a:solidFill>
                <a:latin typeface="Consolas"/>
              </a:rPr>
              <a:t>i</a:t>
            </a:r>
            <a:r>
              <a:rPr lang="en-US" sz="2000" dirty="0" smtClean="0">
                <a:solidFill>
                  <a:srgbClr val="D4D4D4"/>
                </a:solidFill>
                <a:latin typeface="Consolas"/>
              </a:rPr>
              <a:t>)</a:t>
            </a:r>
          </a:p>
          <a:p>
            <a:r>
              <a:rPr lang="en-US" sz="2000" dirty="0" smtClean="0">
                <a:solidFill>
                  <a:srgbClr val="D4D4D4"/>
                </a:solidFill>
                <a:latin typeface="Consolas"/>
              </a:rPr>
              <a:t>    }</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err="1" smtClean="0">
                <a:solidFill>
                  <a:srgbClr val="D4D4D4"/>
                </a:solidFill>
                <a:latin typeface="Consolas"/>
              </a:rPr>
              <a:t>wg.</a:t>
            </a:r>
            <a:r>
              <a:rPr lang="en-US" sz="2000" dirty="0" err="1" smtClean="0">
                <a:solidFill>
                  <a:srgbClr val="DCDCAA"/>
                </a:solidFill>
                <a:latin typeface="Consolas"/>
              </a:rPr>
              <a:t>Wait</a:t>
            </a:r>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"Alive servers: "</a:t>
            </a:r>
            <a:r>
              <a:rPr lang="en-US" sz="2000" dirty="0" smtClean="0">
                <a:solidFill>
                  <a:srgbClr val="D4D4D4"/>
                </a:solidFill>
                <a:latin typeface="Consolas"/>
              </a:rPr>
              <a:t>, </a:t>
            </a:r>
            <a:r>
              <a:rPr lang="en-US" sz="2000" dirty="0" err="1" smtClean="0">
                <a:solidFill>
                  <a:srgbClr val="D4D4D4"/>
                </a:solidFill>
                <a:latin typeface="Consolas"/>
              </a:rPr>
              <a:t>aliveServers</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"Dead servers:"</a:t>
            </a:r>
            <a:r>
              <a:rPr lang="en-US" sz="2000" dirty="0" smtClean="0">
                <a:solidFill>
                  <a:srgbClr val="D4D4D4"/>
                </a:solidFill>
                <a:latin typeface="Consolas"/>
              </a:rPr>
              <a:t>, </a:t>
            </a:r>
            <a:r>
              <a:rPr lang="en-US" sz="2000" dirty="0" err="1" smtClean="0">
                <a:solidFill>
                  <a:srgbClr val="D4D4D4"/>
                </a:solidFill>
                <a:latin typeface="Consolas"/>
              </a:rPr>
              <a:t>deadServers</a:t>
            </a:r>
            <a:r>
              <a:rPr lang="en-US" sz="2000" dirty="0" smtClean="0">
                <a:solidFill>
                  <a:srgbClr val="D4D4D4"/>
                </a:solidFill>
                <a:latin typeface="Consolas"/>
              </a:rPr>
              <a:t>)</a:t>
            </a:r>
          </a:p>
          <a:p>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(I)</a:t>
            </a:r>
            <a:endParaRPr lang="en-US" dirty="0">
              <a:latin typeface="Consolas" pitchFamily="49" charset="0"/>
            </a:endParaRPr>
          </a:p>
        </p:txBody>
      </p:sp>
      <p:sp>
        <p:nvSpPr>
          <p:cNvPr id="4" name="Content Placeholder 2"/>
          <p:cNvSpPr txBox="1">
            <a:spLocks/>
          </p:cNvSpPr>
          <p:nvPr/>
        </p:nvSpPr>
        <p:spPr bwMode="auto">
          <a:xfrm>
            <a:off x="457200" y="1828800"/>
            <a:ext cx="8229600" cy="4267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err="1" smtClean="0">
                <a:solidFill>
                  <a:srgbClr val="9CDCFE"/>
                </a:solidFill>
                <a:latin typeface="Consolas"/>
              </a:rPr>
              <a:t>aliveServers</a:t>
            </a:r>
            <a:r>
              <a:rPr lang="en-US" sz="2000" dirty="0" smtClean="0">
                <a:solidFill>
                  <a:srgbClr val="D4D4D4"/>
                </a:solidFill>
                <a:latin typeface="Consolas"/>
              </a:rPr>
              <a:t> </a:t>
            </a:r>
            <a:r>
              <a:rPr lang="en-US" sz="2000" dirty="0" err="1" smtClean="0">
                <a:solidFill>
                  <a:srgbClr val="4EC9B0"/>
                </a:solidFill>
                <a:latin typeface="Consolas"/>
              </a:rPr>
              <a:t>int</a:t>
            </a:r>
            <a:endParaRPr lang="en-US" sz="2000" dirty="0" smtClean="0">
              <a:solidFill>
                <a:srgbClr val="D4D4D4"/>
              </a:solidFill>
              <a:latin typeface="Consolas"/>
            </a:endParaRPr>
          </a:p>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err="1" smtClean="0">
                <a:solidFill>
                  <a:srgbClr val="9CDCFE"/>
                </a:solidFill>
                <a:latin typeface="Consolas"/>
              </a:rPr>
              <a:t>deadServers</a:t>
            </a:r>
            <a:r>
              <a:rPr lang="en-US" sz="2000" dirty="0" smtClean="0">
                <a:solidFill>
                  <a:srgbClr val="D4D4D4"/>
                </a:solidFill>
                <a:latin typeface="Consolas"/>
              </a:rPr>
              <a:t> </a:t>
            </a:r>
            <a:r>
              <a:rPr lang="en-US" sz="2000" dirty="0" err="1" smtClean="0">
                <a:solidFill>
                  <a:srgbClr val="4EC9B0"/>
                </a:solidFill>
                <a:latin typeface="Consolas"/>
              </a:rPr>
              <a:t>int</a:t>
            </a:r>
            <a:endParaRPr lang="en-US" sz="2000" dirty="0" smtClean="0">
              <a:solidFill>
                <a:srgbClr val="D4D4D4"/>
              </a:solidFill>
              <a:latin typeface="Consolas"/>
            </a:endParaRPr>
          </a:p>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smtClean="0">
                <a:solidFill>
                  <a:srgbClr val="9CDCFE"/>
                </a:solidFill>
                <a:latin typeface="Consolas"/>
              </a:rPr>
              <a:t>mu</a:t>
            </a:r>
            <a:r>
              <a:rPr lang="en-US" sz="2000" dirty="0" smtClean="0">
                <a:solidFill>
                  <a:srgbClr val="D4D4D4"/>
                </a:solidFill>
                <a:latin typeface="Consolas"/>
              </a:rPr>
              <a:t> </a:t>
            </a:r>
            <a:r>
              <a:rPr lang="en-US" sz="2000" dirty="0" err="1" smtClean="0">
                <a:solidFill>
                  <a:srgbClr val="D4D4D4"/>
                </a:solidFill>
                <a:latin typeface="Consolas"/>
              </a:rPr>
              <a:t>sync.Mutex</a:t>
            </a:r>
            <a:endParaRPr lang="en-US" sz="2000" dirty="0" smtClean="0">
              <a:solidFill>
                <a:srgbClr val="D4D4D4"/>
              </a:solidFill>
              <a:latin typeface="Consolas"/>
            </a:endParaRPr>
          </a:p>
          <a:p>
            <a:r>
              <a:rPr lang="en-US" sz="2000" dirty="0" smtClean="0">
                <a:solidFill>
                  <a:srgbClr val="D4D4D4"/>
                </a:solidFill>
                <a:latin typeface="Consolas"/>
              </a:rPr>
              <a:t/>
            </a:r>
            <a:br>
              <a:rPr lang="en-US" sz="2000" dirty="0" smtClean="0">
                <a:solidFill>
                  <a:srgbClr val="D4D4D4"/>
                </a:solidFill>
                <a:latin typeface="Consolas"/>
              </a:rPr>
            </a:br>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ping</a:t>
            </a:r>
            <a:r>
              <a:rPr lang="en-US" sz="2000" dirty="0" smtClean="0">
                <a:solidFill>
                  <a:srgbClr val="D4D4D4"/>
                </a:solidFill>
                <a:latin typeface="Consolas"/>
              </a:rPr>
              <a:t>(num </a:t>
            </a:r>
            <a:r>
              <a:rPr lang="en-US" sz="2000" dirty="0" err="1" smtClean="0">
                <a:solidFill>
                  <a:srgbClr val="4EC9B0"/>
                </a:solidFill>
                <a:latin typeface="Consolas"/>
              </a:rPr>
              <a:t>int</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mu.</a:t>
            </a:r>
            <a:r>
              <a:rPr lang="en-US" sz="2000" dirty="0" err="1" smtClean="0">
                <a:solidFill>
                  <a:srgbClr val="DCDCAA"/>
                </a:solidFill>
                <a:latin typeface="Consolas"/>
              </a:rPr>
              <a:t>Lock</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defer</a:t>
            </a:r>
            <a:r>
              <a:rPr lang="en-US" sz="2000" dirty="0" smtClean="0">
                <a:solidFill>
                  <a:srgbClr val="D4D4D4"/>
                </a:solidFill>
                <a:latin typeface="Consolas"/>
              </a:rPr>
              <a:t> </a:t>
            </a:r>
            <a:r>
              <a:rPr lang="en-US" sz="2000" dirty="0" err="1" smtClean="0">
                <a:solidFill>
                  <a:srgbClr val="D4D4D4"/>
                </a:solidFill>
                <a:latin typeface="Consolas"/>
              </a:rPr>
              <a:t>mu.</a:t>
            </a:r>
            <a:r>
              <a:rPr lang="en-US" sz="2000" dirty="0" err="1" smtClean="0">
                <a:solidFill>
                  <a:srgbClr val="DCDCAA"/>
                </a:solidFill>
                <a:latin typeface="Consolas"/>
              </a:rPr>
              <a:t>Unlock</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if</a:t>
            </a:r>
            <a:r>
              <a:rPr lang="en-US" sz="2000" dirty="0" smtClean="0">
                <a:solidFill>
                  <a:srgbClr val="D4D4D4"/>
                </a:solidFill>
                <a:latin typeface="Consolas"/>
              </a:rPr>
              <a:t> num%</a:t>
            </a:r>
            <a:r>
              <a:rPr lang="en-US" sz="2000" dirty="0" smtClean="0">
                <a:solidFill>
                  <a:srgbClr val="B5CEA8"/>
                </a:solidFill>
                <a:latin typeface="Consolas"/>
              </a:rPr>
              <a:t>2</a:t>
            </a:r>
            <a:r>
              <a:rPr lang="en-US" sz="2000" dirty="0" smtClean="0">
                <a:solidFill>
                  <a:srgbClr val="D4D4D4"/>
                </a:solidFill>
                <a:latin typeface="Consolas"/>
              </a:rPr>
              <a:t> == </a:t>
            </a:r>
            <a:r>
              <a:rPr lang="en-US" sz="2000" dirty="0" smtClean="0">
                <a:solidFill>
                  <a:srgbClr val="B5CEA8"/>
                </a:solidFill>
                <a:latin typeface="Consolas"/>
              </a:rPr>
              <a:t>0</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aliveServers</a:t>
            </a:r>
            <a:r>
              <a:rPr lang="en-US" sz="2000" dirty="0" smtClean="0">
                <a:solidFill>
                  <a:srgbClr val="D4D4D4"/>
                </a:solidFill>
                <a:latin typeface="Consolas"/>
              </a:rPr>
              <a:t>++</a:t>
            </a:r>
          </a:p>
          <a:p>
            <a:r>
              <a:rPr lang="en-US" sz="2000" dirty="0" smtClean="0">
                <a:solidFill>
                  <a:srgbClr val="D4D4D4"/>
                </a:solidFill>
                <a:latin typeface="Consolas"/>
              </a:rPr>
              <a:t>    } </a:t>
            </a:r>
            <a:r>
              <a:rPr lang="en-US" sz="2000" dirty="0" smtClean="0">
                <a:solidFill>
                  <a:srgbClr val="C586C0"/>
                </a:solidFill>
                <a:latin typeface="Consolas"/>
              </a:rPr>
              <a:t>else</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deadServers</a:t>
            </a:r>
            <a:r>
              <a:rPr lang="en-US" sz="2000" dirty="0" smtClean="0">
                <a:solidFill>
                  <a:srgbClr val="D4D4D4"/>
                </a:solidFill>
                <a:latin typeface="Consolas"/>
              </a:rPr>
              <a:t>++</a:t>
            </a:r>
          </a:p>
          <a:p>
            <a:r>
              <a:rPr lang="en-US" sz="2000" dirty="0" smtClean="0">
                <a:solidFill>
                  <a:srgbClr val="D4D4D4"/>
                </a:solidFill>
                <a:latin typeface="Consolas"/>
              </a:rPr>
              <a:t>    }</a:t>
            </a:r>
          </a:p>
          <a:p>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(II)</a:t>
            </a:r>
            <a:endParaRPr lang="en-US" dirty="0">
              <a:latin typeface="Consolas" pitchFamily="49" charset="0"/>
            </a:endParaRPr>
          </a:p>
        </p:txBody>
      </p:sp>
      <p:sp>
        <p:nvSpPr>
          <p:cNvPr id="4" name="Content Placeholder 2"/>
          <p:cNvSpPr txBox="1">
            <a:spLocks/>
          </p:cNvSpPr>
          <p:nvPr/>
        </p:nvSpPr>
        <p:spPr bwMode="auto">
          <a:xfrm>
            <a:off x="457200" y="1828800"/>
            <a:ext cx="8229600" cy="4572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main</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for</a:t>
            </a:r>
            <a:r>
              <a:rPr lang="en-US" dirty="0" smtClean="0">
                <a:solidFill>
                  <a:srgbClr val="D4D4D4"/>
                </a:solidFill>
                <a:latin typeface="Consolas"/>
              </a:rPr>
              <a:t> </a:t>
            </a:r>
            <a:r>
              <a:rPr lang="en-US" dirty="0" err="1" smtClean="0">
                <a:solidFill>
                  <a:srgbClr val="9CDCFE"/>
                </a:solidFill>
                <a:latin typeface="Consolas"/>
              </a:rPr>
              <a:t>i</a:t>
            </a:r>
            <a:r>
              <a:rPr lang="en-US" dirty="0" smtClean="0">
                <a:solidFill>
                  <a:srgbClr val="D4D4D4"/>
                </a:solidFill>
                <a:latin typeface="Consolas"/>
              </a:rPr>
              <a:t> := </a:t>
            </a:r>
            <a:r>
              <a:rPr lang="en-US" dirty="0" smtClean="0">
                <a:solidFill>
                  <a:srgbClr val="B5CEA8"/>
                </a:solidFill>
                <a:latin typeface="Consolas"/>
              </a:rPr>
              <a:t>1</a:t>
            </a:r>
            <a:r>
              <a:rPr lang="en-US" dirty="0" smtClean="0">
                <a:solidFill>
                  <a:srgbClr val="D4D4D4"/>
                </a:solidFill>
                <a:latin typeface="Consolas"/>
              </a:rPr>
              <a:t>; </a:t>
            </a:r>
            <a:r>
              <a:rPr lang="en-US" dirty="0" err="1" smtClean="0">
                <a:solidFill>
                  <a:srgbClr val="D4D4D4"/>
                </a:solidFill>
                <a:latin typeface="Consolas"/>
              </a:rPr>
              <a:t>i</a:t>
            </a:r>
            <a:r>
              <a:rPr lang="en-US" dirty="0" smtClean="0">
                <a:solidFill>
                  <a:srgbClr val="D4D4D4"/>
                </a:solidFill>
                <a:latin typeface="Consolas"/>
              </a:rPr>
              <a:t> &lt;= </a:t>
            </a:r>
            <a:r>
              <a:rPr lang="en-US" dirty="0" smtClean="0">
                <a:solidFill>
                  <a:srgbClr val="B5CEA8"/>
                </a:solidFill>
                <a:latin typeface="Consolas"/>
              </a:rPr>
              <a:t>10000</a:t>
            </a:r>
            <a:r>
              <a:rPr lang="en-US" dirty="0" smtClean="0">
                <a:solidFill>
                  <a:srgbClr val="D4D4D4"/>
                </a:solidFill>
                <a:latin typeface="Consolas"/>
              </a:rPr>
              <a:t>; </a:t>
            </a:r>
            <a:r>
              <a:rPr lang="en-US" dirty="0" err="1" smtClean="0">
                <a:solidFill>
                  <a:srgbClr val="D4D4D4"/>
                </a:solidFill>
                <a:latin typeface="Consolas"/>
              </a:rPr>
              <a:t>i</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go</a:t>
            </a:r>
            <a:r>
              <a:rPr lang="en-US" dirty="0" smtClean="0">
                <a:solidFill>
                  <a:srgbClr val="D4D4D4"/>
                </a:solidFill>
                <a:latin typeface="Consolas"/>
              </a:rPr>
              <a:t> </a:t>
            </a:r>
            <a:r>
              <a:rPr lang="en-US" dirty="0" err="1" smtClean="0">
                <a:solidFill>
                  <a:srgbClr val="569CD6"/>
                </a:solidFill>
                <a:latin typeface="Consolas"/>
              </a:rPr>
              <a:t>func</a:t>
            </a:r>
            <a:r>
              <a:rPr lang="en-US" dirty="0" smtClean="0">
                <a:solidFill>
                  <a:srgbClr val="D4D4D4"/>
                </a:solidFill>
                <a:latin typeface="Consolas"/>
              </a:rPr>
              <a:t>(x </a:t>
            </a:r>
            <a:r>
              <a:rPr lang="en-US" dirty="0" err="1" smtClean="0">
                <a:solidFill>
                  <a:srgbClr val="4EC9B0"/>
                </a:solidFill>
                <a:latin typeface="Consolas"/>
              </a:rPr>
              <a:t>int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DCDCAA"/>
                </a:solidFill>
                <a:latin typeface="Consolas"/>
              </a:rPr>
              <a:t>ping</a:t>
            </a:r>
            <a:r>
              <a:rPr lang="en-US" dirty="0" smtClean="0">
                <a:solidFill>
                  <a:srgbClr val="D4D4D4"/>
                </a:solidFill>
                <a:latin typeface="Consolas"/>
              </a:rPr>
              <a:t>(x)</a:t>
            </a:r>
          </a:p>
          <a:p>
            <a:r>
              <a:rPr lang="en-US" dirty="0" smtClean="0">
                <a:solidFill>
                  <a:srgbClr val="D4D4D4"/>
                </a:solidFill>
                <a:latin typeface="Consolas"/>
              </a:rPr>
              <a:t>        }(</a:t>
            </a:r>
            <a:r>
              <a:rPr lang="en-US" dirty="0" err="1" smtClean="0">
                <a:solidFill>
                  <a:srgbClr val="D4D4D4"/>
                </a:solidFill>
                <a:latin typeface="Consolas"/>
              </a:rPr>
              <a:t>i</a:t>
            </a:r>
            <a:r>
              <a:rPr lang="en-US" dirty="0" smtClean="0">
                <a:solidFill>
                  <a:srgbClr val="D4D4D4"/>
                </a:solidFill>
                <a:latin typeface="Consolas"/>
              </a:rPr>
              <a:t>)</a:t>
            </a:r>
          </a:p>
          <a:p>
            <a:r>
              <a:rPr lang="en-US" dirty="0" smtClean="0">
                <a:solidFill>
                  <a:srgbClr val="D4D4D4"/>
                </a:solidFill>
                <a:latin typeface="Consolas"/>
              </a:rPr>
              <a:t>    }</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smtClean="0">
                <a:solidFill>
                  <a:srgbClr val="C586C0"/>
                </a:solidFill>
                <a:latin typeface="Consolas"/>
              </a:rPr>
              <a:t>for</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mu.</a:t>
            </a:r>
            <a:r>
              <a:rPr lang="en-US" dirty="0" err="1" smtClean="0">
                <a:solidFill>
                  <a:srgbClr val="DCDCAA"/>
                </a:solidFill>
                <a:latin typeface="Consolas"/>
              </a:rPr>
              <a:t>Lock</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C586C0"/>
                </a:solidFill>
                <a:latin typeface="Consolas"/>
              </a:rPr>
              <a:t>if</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 &gt;= </a:t>
            </a:r>
            <a:r>
              <a:rPr lang="en-US" dirty="0" smtClean="0">
                <a:solidFill>
                  <a:srgbClr val="B5CEA8"/>
                </a:solidFill>
                <a:latin typeface="Consolas"/>
              </a:rPr>
              <a:t>300</a:t>
            </a:r>
            <a:r>
              <a:rPr lang="en-US" dirty="0" smtClean="0">
                <a:solidFill>
                  <a:srgbClr val="D4D4D4"/>
                </a:solidFill>
                <a:latin typeface="Consolas"/>
              </a:rPr>
              <a:t> || (</a:t>
            </a:r>
            <a:r>
              <a:rPr lang="en-US" dirty="0" err="1" smtClean="0">
                <a:solidFill>
                  <a:srgbClr val="D4D4D4"/>
                </a:solidFill>
                <a:latin typeface="Consolas"/>
              </a:rPr>
              <a:t>aliveServers+deadServers</a:t>
            </a:r>
            <a:r>
              <a:rPr lang="en-US" dirty="0" smtClean="0">
                <a:solidFill>
                  <a:srgbClr val="D4D4D4"/>
                </a:solidFill>
                <a:latin typeface="Consolas"/>
              </a:rPr>
              <a:t>) == </a:t>
            </a:r>
            <a:r>
              <a:rPr lang="en-US" dirty="0" smtClean="0">
                <a:solidFill>
                  <a:srgbClr val="B5CEA8"/>
                </a:solidFill>
                <a:latin typeface="Consolas"/>
              </a:rPr>
              <a:t>10000</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break</a:t>
            </a:r>
            <a:endParaRPr lang="en-US" dirty="0" smtClean="0">
              <a:solidFill>
                <a:srgbClr val="D4D4D4"/>
              </a:solidFill>
              <a:latin typeface="Consolas"/>
            </a:endParaRPr>
          </a:p>
          <a:p>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mu.</a:t>
            </a:r>
            <a:r>
              <a:rPr lang="en-US" dirty="0" err="1" smtClean="0">
                <a:solidFill>
                  <a:srgbClr val="DCDCAA"/>
                </a:solidFill>
                <a:latin typeface="Consolas"/>
              </a:rPr>
              <a:t>Unlock</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time.</a:t>
            </a:r>
            <a:r>
              <a:rPr lang="en-US" dirty="0" err="1" smtClean="0">
                <a:solidFill>
                  <a:srgbClr val="DCDCAA"/>
                </a:solidFill>
                <a:latin typeface="Consolas"/>
              </a:rPr>
              <a:t>Sleep</a:t>
            </a:r>
            <a:r>
              <a:rPr lang="en-US" dirty="0" smtClean="0">
                <a:solidFill>
                  <a:srgbClr val="D4D4D4"/>
                </a:solidFill>
                <a:latin typeface="Consolas"/>
              </a:rPr>
              <a:t>(</a:t>
            </a:r>
            <a:r>
              <a:rPr lang="en-US" dirty="0" smtClean="0">
                <a:solidFill>
                  <a:srgbClr val="B5CEA8"/>
                </a:solidFill>
                <a:latin typeface="Consolas"/>
              </a:rPr>
              <a:t>50</a:t>
            </a:r>
            <a:r>
              <a:rPr lang="en-US" dirty="0" smtClean="0">
                <a:solidFill>
                  <a:srgbClr val="D4D4D4"/>
                </a:solidFill>
                <a:latin typeface="Consolas"/>
              </a:rPr>
              <a:t> * </a:t>
            </a:r>
            <a:r>
              <a:rPr lang="en-US" dirty="0" err="1" smtClean="0">
                <a:solidFill>
                  <a:srgbClr val="D4D4D4"/>
                </a:solidFill>
                <a:latin typeface="Consolas"/>
              </a:rPr>
              <a:t>time.Millisecond</a:t>
            </a:r>
            <a:r>
              <a:rPr lang="en-US" dirty="0" smtClean="0">
                <a:solidFill>
                  <a:srgbClr val="D4D4D4"/>
                </a:solidFill>
                <a:latin typeface="Consolas"/>
              </a:rPr>
              <a:t>)</a:t>
            </a:r>
          </a:p>
          <a:p>
            <a:r>
              <a:rPr lang="en-US" dirty="0" smtClean="0">
                <a:solidFill>
                  <a:srgbClr val="D4D4D4"/>
                </a:solidFill>
                <a:latin typeface="Consolas"/>
              </a:rPr>
              <a:t>    }</a:t>
            </a:r>
            <a:endParaRPr lang="en-US" b="0" dirty="0">
              <a:solidFill>
                <a:srgbClr val="D4D4D4"/>
              </a:solidFill>
              <a:latin typeface="Consola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(III)</a:t>
            </a:r>
            <a:endParaRPr lang="en-US" dirty="0">
              <a:latin typeface="Consolas" pitchFamily="49" charset="0"/>
            </a:endParaRPr>
          </a:p>
        </p:txBody>
      </p:sp>
      <p:sp>
        <p:nvSpPr>
          <p:cNvPr id="4" name="Content Placeholder 2"/>
          <p:cNvSpPr txBox="1">
            <a:spLocks/>
          </p:cNvSpPr>
          <p:nvPr/>
        </p:nvSpPr>
        <p:spPr bwMode="auto">
          <a:xfrm>
            <a:off x="457200" y="2438400"/>
            <a:ext cx="8229600" cy="3048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D4D4D4"/>
                </a:solidFill>
                <a:latin typeface="Consolas"/>
              </a:rPr>
              <a:t>    </a:t>
            </a:r>
            <a:r>
              <a:rPr lang="en-US" dirty="0" smtClean="0">
                <a:solidFill>
                  <a:srgbClr val="C586C0"/>
                </a:solidFill>
                <a:latin typeface="Consolas"/>
              </a:rPr>
              <a:t>if</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 &gt;= </a:t>
            </a:r>
            <a:r>
              <a:rPr lang="en-US" dirty="0" smtClean="0">
                <a:solidFill>
                  <a:srgbClr val="B5CEA8"/>
                </a:solidFill>
                <a:latin typeface="Consolas"/>
              </a:rPr>
              <a:t>300</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"Status: Failure."</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"Alive servers: "</a:t>
            </a:r>
            <a:r>
              <a:rPr lang="en-US" dirty="0" smtClean="0">
                <a:solidFill>
                  <a:srgbClr val="D4D4D4"/>
                </a:solidFill>
                <a:latin typeface="Consolas"/>
              </a:rPr>
              <a:t>, </a:t>
            </a:r>
            <a:r>
              <a:rPr lang="en-US" dirty="0" err="1" smtClean="0">
                <a:solidFill>
                  <a:srgbClr val="D4D4D4"/>
                </a:solidFill>
                <a:latin typeface="Consolas"/>
              </a:rPr>
              <a:t>aliveServers</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"Dead servers:"</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a:t>
            </a:r>
          </a:p>
          <a:p>
            <a:r>
              <a:rPr lang="en-US" dirty="0" smtClean="0">
                <a:solidFill>
                  <a:srgbClr val="D4D4D4"/>
                </a:solidFill>
                <a:latin typeface="Consolas"/>
              </a:rPr>
              <a:t>    } </a:t>
            </a:r>
            <a:r>
              <a:rPr lang="en-US" dirty="0" smtClean="0">
                <a:solidFill>
                  <a:srgbClr val="C586C0"/>
                </a:solidFill>
                <a:latin typeface="Consolas"/>
              </a:rPr>
              <a:t>else</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"Status: OK."</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"Alive servers: "</a:t>
            </a:r>
            <a:r>
              <a:rPr lang="en-US" dirty="0" smtClean="0">
                <a:solidFill>
                  <a:srgbClr val="D4D4D4"/>
                </a:solidFill>
                <a:latin typeface="Consolas"/>
              </a:rPr>
              <a:t>, </a:t>
            </a:r>
            <a:r>
              <a:rPr lang="en-US" dirty="0" err="1" smtClean="0">
                <a:solidFill>
                  <a:srgbClr val="D4D4D4"/>
                </a:solidFill>
                <a:latin typeface="Consolas"/>
              </a:rPr>
              <a:t>aliveServers</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"Dead servers:"</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a:t>
            </a:r>
          </a:p>
          <a:p>
            <a:r>
              <a:rPr lang="en-US" dirty="0" smtClean="0">
                <a:solidFill>
                  <a:srgbClr val="D4D4D4"/>
                </a:solidFill>
                <a:latin typeface="Consolas"/>
              </a:rPr>
              <a:t>    }</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latin typeface="Consolas" pitchFamily="49" charset="0"/>
              </a:rPr>
              <a:t>sync.NewCond</a:t>
            </a:r>
            <a:r>
              <a:rPr lang="en-US" sz="4000" dirty="0" smtClean="0"/>
              <a:t> (I)</a:t>
            </a:r>
            <a:endParaRPr lang="en-US" sz="4000" dirty="0">
              <a:latin typeface="Consolas" pitchFamily="49" charset="0"/>
            </a:endParaRPr>
          </a:p>
        </p:txBody>
      </p:sp>
      <p:sp>
        <p:nvSpPr>
          <p:cNvPr id="4" name="Content Placeholder 2"/>
          <p:cNvSpPr txBox="1">
            <a:spLocks/>
          </p:cNvSpPr>
          <p:nvPr/>
        </p:nvSpPr>
        <p:spPr bwMode="auto">
          <a:xfrm>
            <a:off x="457200" y="1828800"/>
            <a:ext cx="8229600" cy="4724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err="1" smtClean="0">
                <a:solidFill>
                  <a:srgbClr val="9CDCFE"/>
                </a:solidFill>
                <a:latin typeface="Consolas"/>
              </a:rPr>
              <a:t>aliveServers</a:t>
            </a:r>
            <a:r>
              <a:rPr lang="en-US" sz="2000" dirty="0" smtClean="0">
                <a:solidFill>
                  <a:srgbClr val="D4D4D4"/>
                </a:solidFill>
                <a:latin typeface="Consolas"/>
              </a:rPr>
              <a:t> </a:t>
            </a:r>
            <a:r>
              <a:rPr lang="en-US" sz="2000" dirty="0" err="1" smtClean="0">
                <a:solidFill>
                  <a:srgbClr val="4EC9B0"/>
                </a:solidFill>
                <a:latin typeface="Consolas"/>
              </a:rPr>
              <a:t>int</a:t>
            </a:r>
            <a:endParaRPr lang="en-US" sz="2000" dirty="0" smtClean="0">
              <a:solidFill>
                <a:srgbClr val="D4D4D4"/>
              </a:solidFill>
              <a:latin typeface="Consolas"/>
            </a:endParaRPr>
          </a:p>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err="1" smtClean="0">
                <a:solidFill>
                  <a:srgbClr val="9CDCFE"/>
                </a:solidFill>
                <a:latin typeface="Consolas"/>
              </a:rPr>
              <a:t>deadServers</a:t>
            </a:r>
            <a:r>
              <a:rPr lang="en-US" sz="2000" dirty="0" smtClean="0">
                <a:solidFill>
                  <a:srgbClr val="D4D4D4"/>
                </a:solidFill>
                <a:latin typeface="Consolas"/>
              </a:rPr>
              <a:t> </a:t>
            </a:r>
            <a:r>
              <a:rPr lang="en-US" sz="2000" dirty="0" err="1" smtClean="0">
                <a:solidFill>
                  <a:srgbClr val="4EC9B0"/>
                </a:solidFill>
                <a:latin typeface="Consolas"/>
              </a:rPr>
              <a:t>int</a:t>
            </a:r>
            <a:endParaRPr lang="en-US" sz="2000" dirty="0" smtClean="0">
              <a:solidFill>
                <a:srgbClr val="D4D4D4"/>
              </a:solidFill>
              <a:latin typeface="Consolas"/>
            </a:endParaRPr>
          </a:p>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smtClean="0">
                <a:solidFill>
                  <a:srgbClr val="9CDCFE"/>
                </a:solidFill>
                <a:latin typeface="Consolas"/>
              </a:rPr>
              <a:t>mu</a:t>
            </a:r>
            <a:r>
              <a:rPr lang="en-US" sz="2000" dirty="0" smtClean="0">
                <a:solidFill>
                  <a:srgbClr val="D4D4D4"/>
                </a:solidFill>
                <a:latin typeface="Consolas"/>
              </a:rPr>
              <a:t> </a:t>
            </a:r>
            <a:r>
              <a:rPr lang="en-US" sz="2000" dirty="0" err="1" smtClean="0">
                <a:solidFill>
                  <a:srgbClr val="D4D4D4"/>
                </a:solidFill>
                <a:latin typeface="Consolas"/>
              </a:rPr>
              <a:t>sync.Mutex</a:t>
            </a:r>
            <a:endParaRPr lang="en-US" sz="2000" dirty="0" smtClean="0">
              <a:solidFill>
                <a:srgbClr val="D4D4D4"/>
              </a:solidFill>
              <a:latin typeface="Consolas"/>
            </a:endParaRPr>
          </a:p>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err="1" smtClean="0">
                <a:solidFill>
                  <a:srgbClr val="9CDCFE"/>
                </a:solidFill>
                <a:latin typeface="Consolas"/>
              </a:rPr>
              <a:t>cond</a:t>
            </a:r>
            <a:r>
              <a:rPr lang="en-US" sz="2000" dirty="0" smtClean="0">
                <a:solidFill>
                  <a:srgbClr val="D4D4D4"/>
                </a:solidFill>
                <a:latin typeface="Consolas"/>
              </a:rPr>
              <a:t> = </a:t>
            </a:r>
            <a:r>
              <a:rPr lang="en-US" sz="2000" dirty="0" err="1" smtClean="0">
                <a:solidFill>
                  <a:srgbClr val="D4D4D4"/>
                </a:solidFill>
                <a:latin typeface="Consolas"/>
              </a:rPr>
              <a:t>sync.</a:t>
            </a:r>
            <a:r>
              <a:rPr lang="en-US" sz="2000" dirty="0" err="1" smtClean="0">
                <a:solidFill>
                  <a:srgbClr val="DCDCAA"/>
                </a:solidFill>
                <a:latin typeface="Consolas"/>
              </a:rPr>
              <a:t>NewCond</a:t>
            </a:r>
            <a:r>
              <a:rPr lang="en-US" sz="2000" dirty="0" smtClean="0">
                <a:solidFill>
                  <a:srgbClr val="D4D4D4"/>
                </a:solidFill>
                <a:latin typeface="Consolas"/>
              </a:rPr>
              <a:t>(&amp;mu)</a:t>
            </a:r>
          </a:p>
          <a:p>
            <a:r>
              <a:rPr lang="en-US" sz="2000" dirty="0" smtClean="0">
                <a:solidFill>
                  <a:srgbClr val="D4D4D4"/>
                </a:solidFill>
                <a:latin typeface="Consolas"/>
              </a:rPr>
              <a:t/>
            </a:r>
            <a:br>
              <a:rPr lang="en-US" sz="2000" dirty="0" smtClean="0">
                <a:solidFill>
                  <a:srgbClr val="D4D4D4"/>
                </a:solidFill>
                <a:latin typeface="Consolas"/>
              </a:rPr>
            </a:br>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ping</a:t>
            </a:r>
            <a:r>
              <a:rPr lang="en-US" sz="2000" dirty="0" smtClean="0">
                <a:solidFill>
                  <a:srgbClr val="D4D4D4"/>
                </a:solidFill>
                <a:latin typeface="Consolas"/>
              </a:rPr>
              <a:t>(num </a:t>
            </a:r>
            <a:r>
              <a:rPr lang="en-US" sz="2000" dirty="0" err="1" smtClean="0">
                <a:solidFill>
                  <a:srgbClr val="4EC9B0"/>
                </a:solidFill>
                <a:latin typeface="Consolas"/>
              </a:rPr>
              <a:t>int</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mu.</a:t>
            </a:r>
            <a:r>
              <a:rPr lang="en-US" sz="2000" dirty="0" err="1" smtClean="0">
                <a:solidFill>
                  <a:srgbClr val="DCDCAA"/>
                </a:solidFill>
                <a:latin typeface="Consolas"/>
              </a:rPr>
              <a:t>Lock</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defer</a:t>
            </a:r>
            <a:r>
              <a:rPr lang="en-US" sz="2000" dirty="0" smtClean="0">
                <a:solidFill>
                  <a:srgbClr val="D4D4D4"/>
                </a:solidFill>
                <a:latin typeface="Consolas"/>
              </a:rPr>
              <a:t> </a:t>
            </a:r>
            <a:r>
              <a:rPr lang="en-US" sz="2000" dirty="0" err="1" smtClean="0">
                <a:solidFill>
                  <a:srgbClr val="D4D4D4"/>
                </a:solidFill>
                <a:latin typeface="Consolas"/>
              </a:rPr>
              <a:t>mu.</a:t>
            </a:r>
            <a:r>
              <a:rPr lang="en-US" sz="2000" dirty="0" err="1" smtClean="0">
                <a:solidFill>
                  <a:srgbClr val="DCDCAA"/>
                </a:solidFill>
                <a:latin typeface="Consolas"/>
              </a:rPr>
              <a:t>Unlock</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if</a:t>
            </a:r>
            <a:r>
              <a:rPr lang="en-US" sz="2000" dirty="0" smtClean="0">
                <a:solidFill>
                  <a:srgbClr val="D4D4D4"/>
                </a:solidFill>
                <a:latin typeface="Consolas"/>
              </a:rPr>
              <a:t> num%</a:t>
            </a:r>
            <a:r>
              <a:rPr lang="en-US" sz="2000" dirty="0" smtClean="0">
                <a:solidFill>
                  <a:srgbClr val="B5CEA8"/>
                </a:solidFill>
                <a:latin typeface="Consolas"/>
              </a:rPr>
              <a:t>2</a:t>
            </a:r>
            <a:r>
              <a:rPr lang="en-US" sz="2000" dirty="0" smtClean="0">
                <a:solidFill>
                  <a:srgbClr val="D4D4D4"/>
                </a:solidFill>
                <a:latin typeface="Consolas"/>
              </a:rPr>
              <a:t> == </a:t>
            </a:r>
            <a:r>
              <a:rPr lang="en-US" sz="2000" dirty="0" smtClean="0">
                <a:solidFill>
                  <a:srgbClr val="B5CEA8"/>
                </a:solidFill>
                <a:latin typeface="Consolas"/>
              </a:rPr>
              <a:t>0</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aliveServers</a:t>
            </a:r>
            <a:r>
              <a:rPr lang="en-US" sz="2000" dirty="0" smtClean="0">
                <a:solidFill>
                  <a:srgbClr val="D4D4D4"/>
                </a:solidFill>
                <a:latin typeface="Consolas"/>
              </a:rPr>
              <a:t>++</a:t>
            </a:r>
          </a:p>
          <a:p>
            <a:r>
              <a:rPr lang="en-US" sz="2000" dirty="0" smtClean="0">
                <a:solidFill>
                  <a:srgbClr val="D4D4D4"/>
                </a:solidFill>
                <a:latin typeface="Consolas"/>
              </a:rPr>
              <a:t>    } </a:t>
            </a:r>
            <a:r>
              <a:rPr lang="en-US" sz="2000" dirty="0" smtClean="0">
                <a:solidFill>
                  <a:srgbClr val="C586C0"/>
                </a:solidFill>
                <a:latin typeface="Consolas"/>
              </a:rPr>
              <a:t>else</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deadServers</a:t>
            </a:r>
            <a:r>
              <a:rPr lang="en-US" sz="2000" dirty="0" smtClean="0">
                <a:solidFill>
                  <a:srgbClr val="D4D4D4"/>
                </a:solidFill>
                <a:latin typeface="Consolas"/>
              </a:rPr>
              <a:t>++</a:t>
            </a:r>
          </a:p>
          <a:p>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cond.</a:t>
            </a:r>
            <a:r>
              <a:rPr lang="en-US" sz="2000" dirty="0" err="1" smtClean="0">
                <a:solidFill>
                  <a:srgbClr val="DCDCAA"/>
                </a:solidFill>
                <a:latin typeface="Consolas"/>
              </a:rPr>
              <a:t>Broadcast</a:t>
            </a:r>
            <a:r>
              <a:rPr lang="en-US" sz="2000" dirty="0" smtClean="0">
                <a:solidFill>
                  <a:srgbClr val="D4D4D4"/>
                </a:solidFill>
                <a:latin typeface="Consolas"/>
              </a:rPr>
              <a:t>()</a:t>
            </a:r>
          </a:p>
          <a:p>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latin typeface="Consolas" pitchFamily="49" charset="0"/>
              </a:rPr>
              <a:t>sync.NewCond</a:t>
            </a:r>
            <a:r>
              <a:rPr lang="en-US" sz="4000" dirty="0" smtClean="0"/>
              <a:t> (II)</a:t>
            </a:r>
            <a:endParaRPr lang="en-US" sz="4000" dirty="0">
              <a:latin typeface="Consolas" pitchFamily="49" charset="0"/>
            </a:endParaRPr>
          </a:p>
        </p:txBody>
      </p:sp>
      <p:sp>
        <p:nvSpPr>
          <p:cNvPr id="4" name="Content Placeholder 2"/>
          <p:cNvSpPr txBox="1">
            <a:spLocks/>
          </p:cNvSpPr>
          <p:nvPr/>
        </p:nvSpPr>
        <p:spPr bwMode="auto">
          <a:xfrm>
            <a:off x="457200" y="1828800"/>
            <a:ext cx="8229600" cy="4572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main</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for</a:t>
            </a:r>
            <a:r>
              <a:rPr lang="en-US" dirty="0" smtClean="0">
                <a:solidFill>
                  <a:srgbClr val="D4D4D4"/>
                </a:solidFill>
                <a:latin typeface="Consolas"/>
              </a:rPr>
              <a:t> </a:t>
            </a:r>
            <a:r>
              <a:rPr lang="en-US" dirty="0" err="1" smtClean="0">
                <a:solidFill>
                  <a:srgbClr val="9CDCFE"/>
                </a:solidFill>
                <a:latin typeface="Consolas"/>
              </a:rPr>
              <a:t>i</a:t>
            </a:r>
            <a:r>
              <a:rPr lang="en-US" dirty="0" smtClean="0">
                <a:solidFill>
                  <a:srgbClr val="D4D4D4"/>
                </a:solidFill>
                <a:latin typeface="Consolas"/>
              </a:rPr>
              <a:t> := </a:t>
            </a:r>
            <a:r>
              <a:rPr lang="en-US" dirty="0" smtClean="0">
                <a:solidFill>
                  <a:srgbClr val="B5CEA8"/>
                </a:solidFill>
                <a:latin typeface="Consolas"/>
              </a:rPr>
              <a:t>1</a:t>
            </a:r>
            <a:r>
              <a:rPr lang="en-US" dirty="0" smtClean="0">
                <a:solidFill>
                  <a:srgbClr val="D4D4D4"/>
                </a:solidFill>
                <a:latin typeface="Consolas"/>
              </a:rPr>
              <a:t>; </a:t>
            </a:r>
            <a:r>
              <a:rPr lang="en-US" dirty="0" err="1" smtClean="0">
                <a:solidFill>
                  <a:srgbClr val="D4D4D4"/>
                </a:solidFill>
                <a:latin typeface="Consolas"/>
              </a:rPr>
              <a:t>i</a:t>
            </a:r>
            <a:r>
              <a:rPr lang="en-US" dirty="0" smtClean="0">
                <a:solidFill>
                  <a:srgbClr val="D4D4D4"/>
                </a:solidFill>
                <a:latin typeface="Consolas"/>
              </a:rPr>
              <a:t> &lt;= </a:t>
            </a:r>
            <a:r>
              <a:rPr lang="en-US" dirty="0" smtClean="0">
                <a:solidFill>
                  <a:srgbClr val="B5CEA8"/>
                </a:solidFill>
                <a:latin typeface="Consolas"/>
              </a:rPr>
              <a:t>10000</a:t>
            </a:r>
            <a:r>
              <a:rPr lang="en-US" dirty="0" smtClean="0">
                <a:solidFill>
                  <a:srgbClr val="D4D4D4"/>
                </a:solidFill>
                <a:latin typeface="Consolas"/>
              </a:rPr>
              <a:t>; </a:t>
            </a:r>
            <a:r>
              <a:rPr lang="en-US" dirty="0" err="1" smtClean="0">
                <a:solidFill>
                  <a:srgbClr val="D4D4D4"/>
                </a:solidFill>
                <a:latin typeface="Consolas"/>
              </a:rPr>
              <a:t>i</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go</a:t>
            </a:r>
            <a:r>
              <a:rPr lang="en-US" dirty="0" smtClean="0">
                <a:solidFill>
                  <a:srgbClr val="D4D4D4"/>
                </a:solidFill>
                <a:latin typeface="Consolas"/>
              </a:rPr>
              <a:t> </a:t>
            </a:r>
            <a:r>
              <a:rPr lang="en-US" dirty="0" err="1" smtClean="0">
                <a:solidFill>
                  <a:srgbClr val="569CD6"/>
                </a:solidFill>
                <a:latin typeface="Consolas"/>
              </a:rPr>
              <a:t>func</a:t>
            </a:r>
            <a:r>
              <a:rPr lang="en-US" dirty="0" smtClean="0">
                <a:solidFill>
                  <a:srgbClr val="D4D4D4"/>
                </a:solidFill>
                <a:latin typeface="Consolas"/>
              </a:rPr>
              <a:t>(x </a:t>
            </a:r>
            <a:r>
              <a:rPr lang="en-US" dirty="0" err="1" smtClean="0">
                <a:solidFill>
                  <a:srgbClr val="4EC9B0"/>
                </a:solidFill>
                <a:latin typeface="Consolas"/>
              </a:rPr>
              <a:t>int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DCDCAA"/>
                </a:solidFill>
                <a:latin typeface="Consolas"/>
              </a:rPr>
              <a:t>ping</a:t>
            </a:r>
            <a:r>
              <a:rPr lang="en-US" dirty="0" smtClean="0">
                <a:solidFill>
                  <a:srgbClr val="D4D4D4"/>
                </a:solidFill>
                <a:latin typeface="Consolas"/>
              </a:rPr>
              <a:t>(x)</a:t>
            </a:r>
          </a:p>
          <a:p>
            <a:r>
              <a:rPr lang="en-US" dirty="0" smtClean="0">
                <a:solidFill>
                  <a:srgbClr val="D4D4D4"/>
                </a:solidFill>
                <a:latin typeface="Consolas"/>
              </a:rPr>
              <a:t>        }(</a:t>
            </a:r>
            <a:r>
              <a:rPr lang="en-US" dirty="0" err="1" smtClean="0">
                <a:solidFill>
                  <a:srgbClr val="D4D4D4"/>
                </a:solidFill>
                <a:latin typeface="Consolas"/>
              </a:rPr>
              <a:t>i</a:t>
            </a:r>
            <a:r>
              <a:rPr lang="en-US" dirty="0" smtClean="0">
                <a:solidFill>
                  <a:srgbClr val="D4D4D4"/>
                </a:solidFill>
                <a:latin typeface="Consolas"/>
              </a:rPr>
              <a:t>)</a:t>
            </a:r>
          </a:p>
          <a:p>
            <a:r>
              <a:rPr lang="en-US" dirty="0" smtClean="0">
                <a:solidFill>
                  <a:srgbClr val="D4D4D4"/>
                </a:solidFill>
                <a:latin typeface="Consolas"/>
              </a:rPr>
              <a:t>    }</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err="1" smtClean="0">
                <a:solidFill>
                  <a:srgbClr val="D4D4D4"/>
                </a:solidFill>
                <a:latin typeface="Consolas"/>
              </a:rPr>
              <a:t>mu.</a:t>
            </a:r>
            <a:r>
              <a:rPr lang="en-US" dirty="0" err="1" smtClean="0">
                <a:solidFill>
                  <a:srgbClr val="DCDCAA"/>
                </a:solidFill>
                <a:latin typeface="Consolas"/>
              </a:rPr>
              <a:t>Lock</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C586C0"/>
                </a:solidFill>
                <a:latin typeface="Consolas"/>
              </a:rPr>
              <a:t>for</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 &lt; </a:t>
            </a:r>
            <a:r>
              <a:rPr lang="en-US" dirty="0" smtClean="0">
                <a:solidFill>
                  <a:srgbClr val="B5CEA8"/>
                </a:solidFill>
                <a:latin typeface="Consolas"/>
              </a:rPr>
              <a:t>300</a:t>
            </a:r>
            <a:r>
              <a:rPr lang="en-US" dirty="0" smtClean="0">
                <a:solidFill>
                  <a:srgbClr val="D4D4D4"/>
                </a:solidFill>
                <a:latin typeface="Consolas"/>
              </a:rPr>
              <a:t> &amp;&amp; (</a:t>
            </a:r>
            <a:r>
              <a:rPr lang="en-US" dirty="0" err="1" smtClean="0">
                <a:solidFill>
                  <a:srgbClr val="D4D4D4"/>
                </a:solidFill>
                <a:latin typeface="Consolas"/>
              </a:rPr>
              <a:t>aliveServers+deadServers</a:t>
            </a:r>
            <a:r>
              <a:rPr lang="en-US" dirty="0" smtClean="0">
                <a:solidFill>
                  <a:srgbClr val="D4D4D4"/>
                </a:solidFill>
                <a:latin typeface="Consolas"/>
              </a:rPr>
              <a:t>) != </a:t>
            </a:r>
            <a:r>
              <a:rPr lang="en-US" dirty="0" smtClean="0">
                <a:solidFill>
                  <a:srgbClr val="B5CEA8"/>
                </a:solidFill>
                <a:latin typeface="Consolas"/>
              </a:rPr>
              <a:t>10000</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cond.</a:t>
            </a:r>
            <a:r>
              <a:rPr lang="en-US" dirty="0" err="1" smtClean="0">
                <a:solidFill>
                  <a:srgbClr val="DCDCAA"/>
                </a:solidFill>
                <a:latin typeface="Consolas"/>
              </a:rPr>
              <a:t>Wait</a:t>
            </a:r>
            <a:r>
              <a:rPr lang="en-US" dirty="0" smtClean="0">
                <a:solidFill>
                  <a:srgbClr val="D4D4D4"/>
                </a:solidFill>
                <a:latin typeface="Consolas"/>
              </a:rPr>
              <a:t>()</a:t>
            </a:r>
          </a:p>
          <a:p>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mu.</a:t>
            </a:r>
            <a:r>
              <a:rPr lang="en-US" dirty="0" err="1" smtClean="0">
                <a:solidFill>
                  <a:srgbClr val="DCDCAA"/>
                </a:solidFill>
                <a:latin typeface="Consolas"/>
              </a:rPr>
              <a:t>Unlock</a:t>
            </a:r>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err="1" smtClean="0">
                <a:latin typeface="Consolas" pitchFamily="49" charset="0"/>
              </a:rPr>
              <a:t>sync.NewCond</a:t>
            </a:r>
            <a:r>
              <a:rPr lang="en-US" sz="4000" dirty="0" smtClean="0"/>
              <a:t> (III)</a:t>
            </a:r>
            <a:endParaRPr lang="en-US" sz="4000" dirty="0">
              <a:latin typeface="Consolas" pitchFamily="49" charset="0"/>
            </a:endParaRPr>
          </a:p>
        </p:txBody>
      </p:sp>
      <p:sp>
        <p:nvSpPr>
          <p:cNvPr id="4" name="Content Placeholder 2"/>
          <p:cNvSpPr txBox="1">
            <a:spLocks/>
          </p:cNvSpPr>
          <p:nvPr/>
        </p:nvSpPr>
        <p:spPr bwMode="auto">
          <a:xfrm>
            <a:off x="457200" y="2438400"/>
            <a:ext cx="8229600" cy="3048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D4D4D4"/>
                </a:solidFill>
                <a:latin typeface="Consolas"/>
              </a:rPr>
              <a:t>    </a:t>
            </a:r>
            <a:r>
              <a:rPr lang="en-US" dirty="0" smtClean="0">
                <a:solidFill>
                  <a:srgbClr val="C586C0"/>
                </a:solidFill>
                <a:latin typeface="Consolas"/>
              </a:rPr>
              <a:t>if</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 &gt;= </a:t>
            </a:r>
            <a:r>
              <a:rPr lang="en-US" dirty="0" smtClean="0">
                <a:solidFill>
                  <a:srgbClr val="B5CEA8"/>
                </a:solidFill>
                <a:latin typeface="Consolas"/>
              </a:rPr>
              <a:t>300</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"Status: Failure."</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"Alive servers: "</a:t>
            </a:r>
            <a:r>
              <a:rPr lang="en-US" dirty="0" smtClean="0">
                <a:solidFill>
                  <a:srgbClr val="D4D4D4"/>
                </a:solidFill>
                <a:latin typeface="Consolas"/>
              </a:rPr>
              <a:t>, </a:t>
            </a:r>
            <a:r>
              <a:rPr lang="en-US" dirty="0" err="1" smtClean="0">
                <a:solidFill>
                  <a:srgbClr val="D4D4D4"/>
                </a:solidFill>
                <a:latin typeface="Consolas"/>
              </a:rPr>
              <a:t>aliveServers</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"Dead servers:"</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a:t>
            </a:r>
          </a:p>
          <a:p>
            <a:r>
              <a:rPr lang="en-US" dirty="0" smtClean="0">
                <a:solidFill>
                  <a:srgbClr val="D4D4D4"/>
                </a:solidFill>
                <a:latin typeface="Consolas"/>
              </a:rPr>
              <a:t>    } </a:t>
            </a:r>
            <a:r>
              <a:rPr lang="en-US" dirty="0" smtClean="0">
                <a:solidFill>
                  <a:srgbClr val="C586C0"/>
                </a:solidFill>
                <a:latin typeface="Consolas"/>
              </a:rPr>
              <a:t>else</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"Status: OK."</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"Alive servers: "</a:t>
            </a:r>
            <a:r>
              <a:rPr lang="en-US" dirty="0" smtClean="0">
                <a:solidFill>
                  <a:srgbClr val="D4D4D4"/>
                </a:solidFill>
                <a:latin typeface="Consolas"/>
              </a:rPr>
              <a:t>, </a:t>
            </a:r>
            <a:r>
              <a:rPr lang="en-US" dirty="0" err="1" smtClean="0">
                <a:solidFill>
                  <a:srgbClr val="D4D4D4"/>
                </a:solidFill>
                <a:latin typeface="Consolas"/>
              </a:rPr>
              <a:t>aliveServers</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"Dead servers:"</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a:t>
            </a:r>
          </a:p>
          <a:p>
            <a:r>
              <a:rPr lang="en-US" dirty="0" smtClean="0">
                <a:solidFill>
                  <a:srgbClr val="D4D4D4"/>
                </a:solidFill>
                <a:latin typeface="Consolas"/>
              </a:rPr>
              <a:t>    }</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Channels</a:t>
            </a:r>
            <a:endParaRPr lang="en-US" dirty="0"/>
          </a:p>
        </p:txBody>
      </p:sp>
      <p:sp>
        <p:nvSpPr>
          <p:cNvPr id="3" name="Content Placeholder 2"/>
          <p:cNvSpPr>
            <a:spLocks noGrp="1"/>
          </p:cNvSpPr>
          <p:nvPr>
            <p:ph idx="1"/>
          </p:nvPr>
        </p:nvSpPr>
        <p:spPr/>
        <p:txBody>
          <a:bodyPr/>
          <a:lstStyle/>
          <a:p>
            <a:r>
              <a:rPr lang="en-US" sz="2400" dirty="0" smtClean="0"/>
              <a:t>If </a:t>
            </a:r>
            <a:r>
              <a:rPr lang="en-US" sz="2400" dirty="0" err="1" smtClean="0"/>
              <a:t>goroutines</a:t>
            </a:r>
            <a:r>
              <a:rPr lang="en-US" sz="2400" dirty="0" smtClean="0"/>
              <a:t> are the activities of a concurrent Go program, </a:t>
            </a:r>
            <a:r>
              <a:rPr lang="en-US" sz="2400" i="1" dirty="0" smtClean="0">
                <a:solidFill>
                  <a:srgbClr val="C00000"/>
                </a:solidFill>
              </a:rPr>
              <a:t>channels</a:t>
            </a:r>
            <a:r>
              <a:rPr lang="en-US" sz="2400" dirty="0" smtClean="0"/>
              <a:t> are the </a:t>
            </a:r>
            <a:r>
              <a:rPr lang="en-US" sz="2400" u="sng" dirty="0" smtClean="0"/>
              <a:t>connections</a:t>
            </a:r>
            <a:r>
              <a:rPr lang="en-US" sz="2400" dirty="0" smtClean="0"/>
              <a:t> between them.</a:t>
            </a:r>
          </a:p>
          <a:p>
            <a:r>
              <a:rPr lang="en-US" sz="2400" dirty="0" smtClean="0"/>
              <a:t>A </a:t>
            </a:r>
            <a:r>
              <a:rPr lang="en-US" sz="2400" i="1" dirty="0" smtClean="0">
                <a:solidFill>
                  <a:srgbClr val="C00000"/>
                </a:solidFill>
              </a:rPr>
              <a:t>channel</a:t>
            </a:r>
            <a:r>
              <a:rPr lang="en-US" sz="2400" dirty="0" smtClean="0"/>
              <a:t> is a </a:t>
            </a:r>
            <a:r>
              <a:rPr lang="en-US" sz="2400" u="sng" dirty="0" smtClean="0"/>
              <a:t>communication mechanism</a:t>
            </a:r>
            <a:r>
              <a:rPr lang="en-US" sz="2400" dirty="0" smtClean="0"/>
              <a:t> that lets one </a:t>
            </a:r>
            <a:r>
              <a:rPr lang="en-US" sz="2400" dirty="0" err="1" smtClean="0"/>
              <a:t>goroutine</a:t>
            </a:r>
            <a:r>
              <a:rPr lang="en-US" sz="2400" dirty="0" smtClean="0"/>
              <a:t> </a:t>
            </a:r>
            <a:r>
              <a:rPr lang="en-US" sz="2400" u="sng" dirty="0" smtClean="0"/>
              <a:t>send values</a:t>
            </a:r>
            <a:r>
              <a:rPr lang="en-US" sz="2400" dirty="0" smtClean="0"/>
              <a:t> to another </a:t>
            </a:r>
            <a:r>
              <a:rPr lang="en-US" sz="2400" dirty="0" err="1" smtClean="0"/>
              <a:t>goroutine</a:t>
            </a:r>
            <a:r>
              <a:rPr lang="en-US" sz="2400" dirty="0" smtClean="0"/>
              <a:t>.</a:t>
            </a:r>
          </a:p>
          <a:p>
            <a:r>
              <a:rPr lang="en-US" sz="2400" dirty="0" smtClean="0"/>
              <a:t>Each channel is a conduit for values of a particular type, called the channel's </a:t>
            </a:r>
            <a:r>
              <a:rPr lang="en-US" sz="2400" i="1" dirty="0" smtClean="0">
                <a:solidFill>
                  <a:srgbClr val="C00000"/>
                </a:solidFill>
              </a:rPr>
              <a:t>element type</a:t>
            </a:r>
            <a:r>
              <a:rPr lang="en-US" sz="2400" dirty="0" smtClean="0"/>
              <a:t>.</a:t>
            </a:r>
          </a:p>
          <a:p>
            <a:r>
              <a:rPr lang="en-US" sz="2400" dirty="0" smtClean="0"/>
              <a:t>To </a:t>
            </a:r>
            <a:r>
              <a:rPr lang="en-US" sz="2400" i="1" dirty="0" smtClean="0">
                <a:solidFill>
                  <a:srgbClr val="C00000"/>
                </a:solidFill>
              </a:rPr>
              <a:t>create</a:t>
            </a:r>
            <a:r>
              <a:rPr lang="en-US" sz="2400" dirty="0" smtClean="0"/>
              <a:t> a channel, we use the built-in </a:t>
            </a:r>
            <a:r>
              <a:rPr lang="en-US" sz="2400" b="1" dirty="0" smtClean="0">
                <a:latin typeface="Consolas" pitchFamily="49" charset="0"/>
              </a:rPr>
              <a:t>make</a:t>
            </a:r>
            <a:r>
              <a:rPr lang="en-US" sz="2400" dirty="0" smtClean="0"/>
              <a:t> function:</a:t>
            </a:r>
          </a:p>
          <a:p>
            <a:pPr lvl="1"/>
            <a:r>
              <a:rPr lang="en-US" sz="2200" b="1" dirty="0" err="1" smtClean="0">
                <a:latin typeface="Consolas" pitchFamily="49" charset="0"/>
              </a:rPr>
              <a:t>ch</a:t>
            </a:r>
            <a:r>
              <a:rPr lang="en-US" sz="2200" b="1" dirty="0" smtClean="0">
                <a:latin typeface="Consolas" pitchFamily="49" charset="0"/>
              </a:rPr>
              <a:t> := make(</a:t>
            </a:r>
            <a:r>
              <a:rPr lang="en-US" sz="2200" b="1" dirty="0" err="1" smtClean="0">
                <a:latin typeface="Consolas" pitchFamily="49" charset="0"/>
              </a:rPr>
              <a:t>chan</a:t>
            </a:r>
            <a:r>
              <a:rPr lang="en-US" sz="2200" b="1" dirty="0" smtClean="0">
                <a:latin typeface="Consolas" pitchFamily="49" charset="0"/>
              </a:rPr>
              <a:t> </a:t>
            </a:r>
            <a:r>
              <a:rPr lang="en-US" sz="2200" b="1" dirty="0" err="1" smtClean="0">
                <a:latin typeface="Consolas" pitchFamily="49" charset="0"/>
              </a:rPr>
              <a:t>int</a:t>
            </a:r>
            <a:r>
              <a:rPr lang="en-US" sz="2200" b="1" dirty="0" smtClean="0">
                <a:latin typeface="Consolas" pitchFamily="49" charset="0"/>
              </a:rPr>
              <a:t>) // </a:t>
            </a:r>
            <a:r>
              <a:rPr lang="en-US" sz="2200" b="1" dirty="0" err="1" smtClean="0">
                <a:latin typeface="Consolas" pitchFamily="49" charset="0"/>
              </a:rPr>
              <a:t>ch</a:t>
            </a:r>
            <a:r>
              <a:rPr lang="en-US" sz="2200" b="1" dirty="0" smtClean="0">
                <a:latin typeface="Consolas" pitchFamily="49" charset="0"/>
              </a:rPr>
              <a:t> has type '</a:t>
            </a:r>
            <a:r>
              <a:rPr lang="en-US" sz="2200" b="1" dirty="0" err="1" smtClean="0">
                <a:latin typeface="Consolas" pitchFamily="49" charset="0"/>
              </a:rPr>
              <a:t>chan</a:t>
            </a:r>
            <a:r>
              <a:rPr lang="en-US" sz="2200" b="1" dirty="0" smtClean="0">
                <a:latin typeface="Consolas" pitchFamily="49" charset="0"/>
              </a:rPr>
              <a:t> </a:t>
            </a:r>
            <a:r>
              <a:rPr lang="en-US" sz="2200" b="1" dirty="0" err="1" smtClean="0">
                <a:latin typeface="Consolas" pitchFamily="49" charset="0"/>
              </a:rPr>
              <a:t>int</a:t>
            </a:r>
            <a:r>
              <a:rPr lang="en-US" sz="2200" b="1" dirty="0" smtClean="0">
                <a:latin typeface="Consolas" pitchFamily="49" charset="0"/>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Channel Operations</a:t>
            </a:r>
            <a:endParaRPr lang="en-US" dirty="0"/>
          </a:p>
        </p:txBody>
      </p:sp>
      <p:sp>
        <p:nvSpPr>
          <p:cNvPr id="3" name="Content Placeholder 2"/>
          <p:cNvSpPr>
            <a:spLocks noGrp="1"/>
          </p:cNvSpPr>
          <p:nvPr>
            <p:ph idx="1"/>
          </p:nvPr>
        </p:nvSpPr>
        <p:spPr/>
        <p:txBody>
          <a:bodyPr/>
          <a:lstStyle/>
          <a:p>
            <a:r>
              <a:rPr lang="en-US" sz="2400" dirty="0" smtClean="0"/>
              <a:t>A channel has two principal </a:t>
            </a:r>
            <a:r>
              <a:rPr lang="en-US" sz="2400" i="1" dirty="0" smtClean="0">
                <a:solidFill>
                  <a:srgbClr val="C00000"/>
                </a:solidFill>
              </a:rPr>
              <a:t>operations</a:t>
            </a:r>
            <a:r>
              <a:rPr lang="en-US" sz="2400" dirty="0" smtClean="0"/>
              <a:t>, </a:t>
            </a:r>
            <a:r>
              <a:rPr lang="en-US" sz="2400" u="sng" dirty="0" smtClean="0"/>
              <a:t>send</a:t>
            </a:r>
            <a:r>
              <a:rPr lang="en-US" sz="2400" dirty="0" smtClean="0"/>
              <a:t> and </a:t>
            </a:r>
            <a:r>
              <a:rPr lang="en-US" sz="2400" u="sng" dirty="0" smtClean="0"/>
              <a:t>receive</a:t>
            </a:r>
            <a:r>
              <a:rPr lang="en-US" sz="2400" dirty="0" smtClean="0"/>
              <a:t>, collectively known as communications.</a:t>
            </a:r>
          </a:p>
          <a:p>
            <a:pPr lvl="1"/>
            <a:r>
              <a:rPr lang="en-US" sz="2200" b="1" dirty="0" err="1" smtClean="0">
                <a:latin typeface="Consolas" pitchFamily="49" charset="0"/>
              </a:rPr>
              <a:t>ch</a:t>
            </a:r>
            <a:r>
              <a:rPr lang="en-US" sz="2200" b="1" dirty="0" smtClean="0">
                <a:latin typeface="Consolas" pitchFamily="49" charset="0"/>
              </a:rPr>
              <a:t> &lt; x // a send statement</a:t>
            </a:r>
          </a:p>
          <a:p>
            <a:pPr lvl="1"/>
            <a:r>
              <a:rPr lang="en-US" sz="2200" b="1" dirty="0" smtClean="0">
                <a:latin typeface="Consolas" pitchFamily="49" charset="0"/>
              </a:rPr>
              <a:t>x = &lt; </a:t>
            </a:r>
            <a:r>
              <a:rPr lang="en-US" sz="2200" b="1" dirty="0" err="1" smtClean="0">
                <a:latin typeface="Consolas" pitchFamily="49" charset="0"/>
              </a:rPr>
              <a:t>ch</a:t>
            </a:r>
            <a:r>
              <a:rPr lang="en-US" sz="2200" b="1" dirty="0" smtClean="0">
                <a:latin typeface="Consolas" pitchFamily="49" charset="0"/>
              </a:rPr>
              <a:t> // a receive expression in an assignment statement</a:t>
            </a:r>
          </a:p>
          <a:p>
            <a:pPr lvl="1"/>
            <a:r>
              <a:rPr lang="en-US" sz="2200" b="1" dirty="0" smtClean="0">
                <a:latin typeface="Consolas" pitchFamily="49" charset="0"/>
              </a:rPr>
              <a:t>&lt; </a:t>
            </a:r>
            <a:r>
              <a:rPr lang="en-US" sz="2200" b="1" dirty="0" err="1" smtClean="0">
                <a:latin typeface="Consolas" pitchFamily="49" charset="0"/>
              </a:rPr>
              <a:t>ch</a:t>
            </a:r>
            <a:r>
              <a:rPr lang="en-US" sz="2200" b="1" dirty="0" smtClean="0">
                <a:latin typeface="Consolas" pitchFamily="49" charset="0"/>
              </a:rPr>
              <a:t> // a receive statement; result is discarded</a:t>
            </a:r>
          </a:p>
          <a:p>
            <a:r>
              <a:rPr lang="en-US" sz="2400" dirty="0" smtClean="0"/>
              <a:t>To close a channel, we call the built-in close function:</a:t>
            </a:r>
          </a:p>
          <a:p>
            <a:pPr lvl="1"/>
            <a:r>
              <a:rPr lang="en-US" sz="2200" b="1" dirty="0" smtClean="0">
                <a:latin typeface="Consolas" pitchFamily="49" charset="0"/>
              </a:rPr>
              <a:t>close(</a:t>
            </a:r>
            <a:r>
              <a:rPr lang="en-US" sz="2200" b="1" dirty="0" err="1" smtClean="0">
                <a:latin typeface="Consolas" pitchFamily="49" charset="0"/>
              </a:rPr>
              <a:t>ch</a:t>
            </a:r>
            <a:r>
              <a:rPr lang="en-US" sz="2200" b="1" dirty="0" smtClean="0">
                <a:latin typeface="Consolas" pitchFamily="49" charset="0"/>
              </a:rPr>
              <a:t>)</a:t>
            </a:r>
            <a:endParaRPr lang="en-US" sz="2200" b="1" dirty="0">
              <a:latin typeface="Consolas" pitchFamily="49"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Producer-Consumer</a:t>
            </a:r>
            <a:endParaRPr lang="en-US" dirty="0">
              <a:latin typeface="Consolas" pitchFamily="49" charset="0"/>
            </a:endParaRPr>
          </a:p>
        </p:txBody>
      </p:sp>
      <p:sp>
        <p:nvSpPr>
          <p:cNvPr id="4" name="Content Placeholder 2"/>
          <p:cNvSpPr txBox="1">
            <a:spLocks/>
          </p:cNvSpPr>
          <p:nvPr/>
        </p:nvSpPr>
        <p:spPr bwMode="auto">
          <a:xfrm>
            <a:off x="457200" y="1600200"/>
            <a:ext cx="8229600" cy="4876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c</a:t>
            </a:r>
            <a:r>
              <a:rPr lang="en-US" sz="1600" dirty="0" smtClean="0">
                <a:solidFill>
                  <a:srgbClr val="D4D4D4"/>
                </a:solidFill>
                <a:latin typeface="Consolas"/>
              </a:rPr>
              <a:t> := </a:t>
            </a:r>
            <a:r>
              <a:rPr lang="en-US" sz="1600" dirty="0" smtClean="0">
                <a:solidFill>
                  <a:srgbClr val="DCDCAA"/>
                </a:solidFill>
                <a:latin typeface="Consolas"/>
              </a:rPr>
              <a:t>make</a:t>
            </a:r>
            <a:r>
              <a:rPr lang="en-US" sz="1600" dirty="0" smtClean="0">
                <a:solidFill>
                  <a:srgbClr val="D4D4D4"/>
                </a:solidFill>
                <a:latin typeface="Consolas"/>
              </a:rPr>
              <a:t>(</a:t>
            </a:r>
            <a:r>
              <a:rPr lang="en-US" sz="1600" dirty="0" err="1" smtClean="0">
                <a:solidFill>
                  <a:srgbClr val="569CD6"/>
                </a:solidFill>
                <a:latin typeface="Consolas"/>
              </a:rPr>
              <a:t>chan</a:t>
            </a:r>
            <a:r>
              <a:rPr lang="en-US" sz="1600" dirty="0" smtClean="0">
                <a:solidFill>
                  <a:srgbClr val="D4D4D4"/>
                </a:solidFill>
                <a:latin typeface="Consolas"/>
              </a:rPr>
              <a:t> </a:t>
            </a:r>
            <a:r>
              <a:rPr lang="en-US" sz="1600" dirty="0" smtClean="0">
                <a:solidFill>
                  <a:srgbClr val="4EC9B0"/>
                </a:solidFill>
                <a:latin typeface="Consolas"/>
              </a:rPr>
              <a:t>string</a:t>
            </a:r>
            <a:r>
              <a:rPr lang="en-US" sz="1600" dirty="0" smtClean="0">
                <a:solidFill>
                  <a:srgbClr val="D4D4D4"/>
                </a:solidFill>
                <a:latin typeface="Consolas"/>
              </a:rPr>
              <a:t>)</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r>
              <a:rPr lang="en-US" sz="1600" dirty="0" err="1" smtClean="0">
                <a:solidFill>
                  <a:srgbClr val="9CDCFE"/>
                </a:solidFill>
                <a:latin typeface="Consolas"/>
              </a:rPr>
              <a:t>i</a:t>
            </a:r>
            <a:r>
              <a:rPr lang="en-US" sz="1600" dirty="0" smtClean="0">
                <a:solidFill>
                  <a:srgbClr val="D4D4D4"/>
                </a:solidFill>
                <a:latin typeface="Consolas"/>
              </a:rPr>
              <a:t> := </a:t>
            </a:r>
            <a:r>
              <a:rPr lang="en-US" sz="1600" dirty="0" smtClean="0">
                <a:solidFill>
                  <a:srgbClr val="B5CEA8"/>
                </a:solidFill>
                <a:latin typeface="Consolas"/>
              </a:rPr>
              <a:t>1</a:t>
            </a:r>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 &lt;= </a:t>
            </a:r>
            <a:r>
              <a:rPr lang="en-US" sz="1600" dirty="0" smtClean="0">
                <a:solidFill>
                  <a:srgbClr val="B5CEA8"/>
                </a:solidFill>
                <a:latin typeface="Consolas"/>
              </a:rPr>
              <a:t>5</a:t>
            </a:r>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go</a:t>
            </a:r>
            <a:r>
              <a:rPr lang="en-US" sz="1600" dirty="0" smtClean="0">
                <a:solidFill>
                  <a:srgbClr val="D4D4D4"/>
                </a:solidFill>
                <a:latin typeface="Consolas"/>
              </a:rPr>
              <a:t> </a:t>
            </a:r>
            <a:r>
              <a:rPr lang="en-US" sz="1600" dirty="0" err="1" smtClean="0">
                <a:solidFill>
                  <a:srgbClr val="DCDCAA"/>
                </a:solidFill>
                <a:latin typeface="Consolas"/>
              </a:rPr>
              <a:t>doWork</a:t>
            </a:r>
            <a:r>
              <a:rPr lang="en-US" sz="1600" dirty="0" smtClean="0">
                <a:solidFill>
                  <a:srgbClr val="D4D4D4"/>
                </a:solidFill>
                <a:latin typeface="Consolas"/>
              </a:rPr>
              <a:t>(</a:t>
            </a:r>
            <a:r>
              <a:rPr lang="en-US" sz="1600" dirty="0" err="1" smtClean="0">
                <a:solidFill>
                  <a:srgbClr val="D4D4D4"/>
                </a:solidFill>
                <a:latin typeface="Consolas"/>
              </a:rPr>
              <a:t>i</a:t>
            </a:r>
            <a:r>
              <a:rPr lang="en-US" sz="1600" dirty="0" smtClean="0">
                <a:solidFill>
                  <a:srgbClr val="D4D4D4"/>
                </a:solidFill>
                <a:latin typeface="Consolas"/>
              </a:rPr>
              <a:t>, c)</a:t>
            </a:r>
          </a:p>
          <a:p>
            <a:r>
              <a:rPr lang="en-US" sz="1600" dirty="0" smtClean="0">
                <a:solidFill>
                  <a:srgbClr val="D4D4D4"/>
                </a:solidFill>
                <a:latin typeface="Consolas"/>
              </a:rPr>
              <a:t>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v</a:t>
            </a:r>
            <a:r>
              <a:rPr lang="en-US" sz="1600" dirty="0" smtClean="0">
                <a:solidFill>
                  <a:srgbClr val="D4D4D4"/>
                </a:solidFill>
                <a:latin typeface="Consolas"/>
              </a:rPr>
              <a:t> := &lt;-c</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(v)</a:t>
            </a:r>
          </a:p>
          <a:p>
            <a:r>
              <a:rPr lang="en-US" sz="1600" dirty="0" smtClean="0">
                <a:solidFill>
                  <a:srgbClr val="D4D4D4"/>
                </a:solidFill>
                <a:latin typeface="Consolas"/>
              </a:rPr>
              <a:t>    }</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err="1" smtClean="0">
                <a:solidFill>
                  <a:srgbClr val="DCDCAA"/>
                </a:solidFill>
                <a:latin typeface="Consolas"/>
              </a:rPr>
              <a:t>doWork</a:t>
            </a:r>
            <a:r>
              <a:rPr lang="en-US" sz="1600" dirty="0" smtClean="0">
                <a:solidFill>
                  <a:srgbClr val="D4D4D4"/>
                </a:solidFill>
                <a:latin typeface="Consolas"/>
              </a:rPr>
              <a:t>(num </a:t>
            </a:r>
            <a:r>
              <a:rPr lang="en-US" sz="1600" dirty="0" err="1" smtClean="0">
                <a:solidFill>
                  <a:srgbClr val="4EC9B0"/>
                </a:solidFill>
                <a:latin typeface="Consolas"/>
              </a:rPr>
              <a:t>int</a:t>
            </a:r>
            <a:r>
              <a:rPr lang="en-US" sz="1600" dirty="0" smtClean="0">
                <a:solidFill>
                  <a:srgbClr val="D4D4D4"/>
                </a:solidFill>
                <a:latin typeface="Consolas"/>
              </a:rPr>
              <a:t>, c </a:t>
            </a:r>
            <a:r>
              <a:rPr lang="en-US" sz="1600" dirty="0" err="1" smtClean="0">
                <a:solidFill>
                  <a:srgbClr val="569CD6"/>
                </a:solidFill>
                <a:latin typeface="Consolas"/>
              </a:rPr>
              <a:t>chan</a:t>
            </a:r>
            <a:r>
              <a:rPr lang="en-US" sz="1600" dirty="0" smtClean="0">
                <a:solidFill>
                  <a:srgbClr val="D4D4D4"/>
                </a:solidFill>
                <a:latin typeface="Consolas"/>
              </a:rPr>
              <a:t> </a:t>
            </a:r>
            <a:r>
              <a:rPr lang="en-US" sz="1600" dirty="0" smtClean="0">
                <a:solidFill>
                  <a:srgbClr val="4EC9B0"/>
                </a:solidFill>
                <a:latin typeface="Consolas"/>
              </a:rPr>
              <a:t>string</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time.</a:t>
            </a:r>
            <a:r>
              <a:rPr lang="en-US" sz="1600" dirty="0" err="1" smtClean="0">
                <a:solidFill>
                  <a:srgbClr val="DCDCAA"/>
                </a:solidFill>
                <a:latin typeface="Consolas"/>
              </a:rPr>
              <a:t>Sleep</a:t>
            </a:r>
            <a:r>
              <a:rPr lang="en-US" sz="1600" dirty="0" smtClean="0">
                <a:solidFill>
                  <a:srgbClr val="D4D4D4"/>
                </a:solidFill>
                <a:latin typeface="Consolas"/>
              </a:rPr>
              <a:t>(</a:t>
            </a:r>
            <a:r>
              <a:rPr lang="en-US" sz="1600" dirty="0" err="1" smtClean="0">
                <a:solidFill>
                  <a:srgbClr val="D4D4D4"/>
                </a:solidFill>
                <a:latin typeface="Consolas"/>
              </a:rPr>
              <a:t>time.</a:t>
            </a:r>
            <a:r>
              <a:rPr lang="en-US" sz="1600" dirty="0" err="1" smtClean="0">
                <a:solidFill>
                  <a:srgbClr val="DCDCAA"/>
                </a:solidFill>
                <a:latin typeface="Consolas"/>
              </a:rPr>
              <a:t>Duration</a:t>
            </a:r>
            <a:r>
              <a:rPr lang="en-US" sz="1600" dirty="0" smtClean="0">
                <a:solidFill>
                  <a:srgbClr val="D4D4D4"/>
                </a:solidFill>
                <a:latin typeface="Consolas"/>
              </a:rPr>
              <a:t>(</a:t>
            </a:r>
            <a:r>
              <a:rPr lang="en-US" sz="1600" dirty="0" err="1" smtClean="0">
                <a:solidFill>
                  <a:srgbClr val="D4D4D4"/>
                </a:solidFill>
                <a:latin typeface="Consolas"/>
              </a:rPr>
              <a:t>rand.</a:t>
            </a:r>
            <a:r>
              <a:rPr lang="en-US" sz="1600" dirty="0" err="1" smtClean="0">
                <a:solidFill>
                  <a:srgbClr val="DCDCAA"/>
                </a:solidFill>
                <a:latin typeface="Consolas"/>
              </a:rPr>
              <a:t>Intn</a:t>
            </a:r>
            <a:r>
              <a:rPr lang="en-US" sz="1600" dirty="0" smtClean="0">
                <a:solidFill>
                  <a:srgbClr val="D4D4D4"/>
                </a:solidFill>
                <a:latin typeface="Consolas"/>
              </a:rPr>
              <a:t>(</a:t>
            </a:r>
            <a:r>
              <a:rPr lang="en-US" sz="1600" dirty="0" smtClean="0">
                <a:solidFill>
                  <a:srgbClr val="B5CEA8"/>
                </a:solidFill>
                <a:latin typeface="Consolas"/>
              </a:rPr>
              <a:t>1000</a:t>
            </a:r>
            <a:r>
              <a:rPr lang="en-US" sz="1600" dirty="0" smtClean="0">
                <a:solidFill>
                  <a:srgbClr val="D4D4D4"/>
                </a:solidFill>
                <a:latin typeface="Consolas"/>
              </a:rPr>
              <a:t>)) * </a:t>
            </a:r>
            <a:r>
              <a:rPr lang="en-US" sz="1600" dirty="0" err="1" smtClean="0">
                <a:solidFill>
                  <a:srgbClr val="D4D4D4"/>
                </a:solidFill>
                <a:latin typeface="Consolas"/>
              </a:rPr>
              <a:t>time.Millisecond</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9CDCFE"/>
                </a:solidFill>
                <a:latin typeface="Consolas"/>
              </a:rPr>
              <a:t>value</a:t>
            </a:r>
            <a:r>
              <a:rPr lang="en-US" sz="1600" dirty="0" smtClean="0">
                <a:solidFill>
                  <a:srgbClr val="D4D4D4"/>
                </a:solidFill>
                <a:latin typeface="Consolas"/>
              </a:rPr>
              <a:t> := </a:t>
            </a:r>
            <a:r>
              <a:rPr lang="en-US" sz="1600" dirty="0" err="1" smtClean="0">
                <a:solidFill>
                  <a:srgbClr val="D4D4D4"/>
                </a:solidFill>
                <a:latin typeface="Consolas"/>
              </a:rPr>
              <a:t>rand.</a:t>
            </a:r>
            <a:r>
              <a:rPr lang="en-US" sz="1600" dirty="0" err="1" smtClean="0">
                <a:solidFill>
                  <a:srgbClr val="DCDCAA"/>
                </a:solidFill>
                <a:latin typeface="Consolas"/>
              </a:rPr>
              <a:t>Intn</a:t>
            </a:r>
            <a:r>
              <a:rPr lang="en-US" sz="1600" dirty="0" smtClean="0">
                <a:solidFill>
                  <a:srgbClr val="D4D4D4"/>
                </a:solidFill>
                <a:latin typeface="Consolas"/>
              </a:rPr>
              <a:t>(</a:t>
            </a:r>
            <a:r>
              <a:rPr lang="en-US" sz="1600" dirty="0" smtClean="0">
                <a:solidFill>
                  <a:srgbClr val="B5CEA8"/>
                </a:solidFill>
                <a:latin typeface="Consolas"/>
              </a:rPr>
              <a:t>100</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9CDCFE"/>
                </a:solidFill>
                <a:latin typeface="Consolas"/>
              </a:rPr>
              <a:t>result</a:t>
            </a:r>
            <a:r>
              <a:rPr lang="en-US" sz="1600" dirty="0" smtClean="0">
                <a:solidFill>
                  <a:srgbClr val="D4D4D4"/>
                </a:solidFill>
                <a:latin typeface="Consolas"/>
              </a:rPr>
              <a:t> := </a:t>
            </a:r>
            <a:r>
              <a:rPr lang="en-US" sz="1600" dirty="0" err="1" smtClean="0">
                <a:solidFill>
                  <a:srgbClr val="D4D4D4"/>
                </a:solidFill>
                <a:latin typeface="Consolas"/>
              </a:rPr>
              <a:t>fmt.</a:t>
            </a:r>
            <a:r>
              <a:rPr lang="en-US" sz="1600" dirty="0" err="1" smtClean="0">
                <a:solidFill>
                  <a:srgbClr val="DCDCAA"/>
                </a:solidFill>
                <a:latin typeface="Consolas"/>
              </a:rPr>
              <a:t>Sprintf</a:t>
            </a:r>
            <a:r>
              <a:rPr lang="en-US" sz="1600" dirty="0" smtClean="0">
                <a:solidFill>
                  <a:srgbClr val="D4D4D4"/>
                </a:solidFill>
                <a:latin typeface="Consolas"/>
              </a:rPr>
              <a:t>(</a:t>
            </a:r>
            <a:r>
              <a:rPr lang="en-US" sz="1600" dirty="0" smtClean="0">
                <a:solidFill>
                  <a:srgbClr val="CE9178"/>
                </a:solidFill>
                <a:latin typeface="Consolas"/>
              </a:rPr>
              <a:t>"Worker </a:t>
            </a:r>
            <a:r>
              <a:rPr lang="en-US" sz="1600" dirty="0" smtClean="0">
                <a:solidFill>
                  <a:srgbClr val="9CDCFE"/>
                </a:solidFill>
                <a:latin typeface="Consolas"/>
              </a:rPr>
              <a:t>%d</a:t>
            </a:r>
            <a:r>
              <a:rPr lang="en-US" sz="1600" dirty="0" smtClean="0">
                <a:solidFill>
                  <a:srgbClr val="CE9178"/>
                </a:solidFill>
                <a:latin typeface="Consolas"/>
              </a:rPr>
              <a:t> returns: </a:t>
            </a:r>
            <a:r>
              <a:rPr lang="en-US" sz="1600" dirty="0" smtClean="0">
                <a:solidFill>
                  <a:srgbClr val="9CDCFE"/>
                </a:solidFill>
                <a:latin typeface="Consolas"/>
              </a:rPr>
              <a:t>%d</a:t>
            </a:r>
            <a:r>
              <a:rPr lang="en-US" sz="1600" dirty="0" smtClean="0">
                <a:solidFill>
                  <a:srgbClr val="CE9178"/>
                </a:solidFill>
                <a:latin typeface="Consolas"/>
              </a:rPr>
              <a:t>"</a:t>
            </a:r>
            <a:r>
              <a:rPr lang="en-US" sz="1600" dirty="0" smtClean="0">
                <a:solidFill>
                  <a:srgbClr val="D4D4D4"/>
                </a:solidFill>
                <a:latin typeface="Consolas"/>
              </a:rPr>
              <a:t>, num, value)</a:t>
            </a:r>
          </a:p>
          <a:p>
            <a:r>
              <a:rPr lang="en-US" sz="1600" dirty="0" smtClean="0">
                <a:solidFill>
                  <a:srgbClr val="D4D4D4"/>
                </a:solidFill>
                <a:latin typeface="Consolas"/>
              </a:rPr>
              <a:t>        c &lt;- result</a:t>
            </a:r>
          </a:p>
          <a:p>
            <a:r>
              <a:rPr lang="en-US" sz="16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Happens?</a:t>
            </a:r>
            <a:endParaRPr lang="en-US" dirty="0">
              <a:latin typeface="Consolas" pitchFamily="49" charset="0"/>
            </a:endParaRPr>
          </a:p>
        </p:txBody>
      </p:sp>
      <p:sp>
        <p:nvSpPr>
          <p:cNvPr id="4" name="Content Placeholder 2"/>
          <p:cNvSpPr txBox="1">
            <a:spLocks/>
          </p:cNvSpPr>
          <p:nvPr/>
        </p:nvSpPr>
        <p:spPr bwMode="auto">
          <a:xfrm>
            <a:off x="457200" y="1600200"/>
            <a:ext cx="8229600" cy="4876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c</a:t>
            </a:r>
            <a:r>
              <a:rPr lang="en-US" sz="1600" dirty="0" smtClean="0">
                <a:solidFill>
                  <a:srgbClr val="D4D4D4"/>
                </a:solidFill>
                <a:latin typeface="Consolas"/>
              </a:rPr>
              <a:t> := </a:t>
            </a:r>
            <a:r>
              <a:rPr lang="en-US" sz="1600" dirty="0" smtClean="0">
                <a:solidFill>
                  <a:srgbClr val="DCDCAA"/>
                </a:solidFill>
                <a:latin typeface="Consolas"/>
              </a:rPr>
              <a:t>make</a:t>
            </a:r>
            <a:r>
              <a:rPr lang="en-US" sz="1600" dirty="0" smtClean="0">
                <a:solidFill>
                  <a:srgbClr val="D4D4D4"/>
                </a:solidFill>
                <a:latin typeface="Consolas"/>
              </a:rPr>
              <a:t>(</a:t>
            </a:r>
            <a:r>
              <a:rPr lang="en-US" sz="1600" dirty="0" err="1" smtClean="0">
                <a:solidFill>
                  <a:srgbClr val="569CD6"/>
                </a:solidFill>
                <a:latin typeface="Consolas"/>
              </a:rPr>
              <a:t>chan</a:t>
            </a:r>
            <a:r>
              <a:rPr lang="en-US" sz="1600" dirty="0" smtClean="0">
                <a:solidFill>
                  <a:srgbClr val="D4D4D4"/>
                </a:solidFill>
                <a:latin typeface="Consolas"/>
              </a:rPr>
              <a:t> </a:t>
            </a:r>
            <a:r>
              <a:rPr lang="en-US" sz="1600" dirty="0" smtClean="0">
                <a:solidFill>
                  <a:srgbClr val="4EC9B0"/>
                </a:solidFill>
                <a:latin typeface="Consolas"/>
              </a:rPr>
              <a:t>string</a:t>
            </a:r>
            <a:r>
              <a:rPr lang="en-US" sz="1600" dirty="0" smtClean="0">
                <a:solidFill>
                  <a:srgbClr val="D4D4D4"/>
                </a:solidFill>
                <a:latin typeface="Consolas"/>
              </a:rPr>
              <a:t>)</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r>
              <a:rPr lang="en-US" sz="1600" dirty="0" err="1" smtClean="0">
                <a:solidFill>
                  <a:srgbClr val="9CDCFE"/>
                </a:solidFill>
                <a:latin typeface="Consolas"/>
              </a:rPr>
              <a:t>i</a:t>
            </a:r>
            <a:r>
              <a:rPr lang="en-US" sz="1600" dirty="0" smtClean="0">
                <a:solidFill>
                  <a:srgbClr val="D4D4D4"/>
                </a:solidFill>
                <a:latin typeface="Consolas"/>
              </a:rPr>
              <a:t> := </a:t>
            </a:r>
            <a:r>
              <a:rPr lang="en-US" sz="1600" dirty="0" smtClean="0">
                <a:solidFill>
                  <a:srgbClr val="B5CEA8"/>
                </a:solidFill>
                <a:latin typeface="Consolas"/>
              </a:rPr>
              <a:t>1</a:t>
            </a:r>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 &lt;= </a:t>
            </a:r>
            <a:r>
              <a:rPr lang="en-US" sz="1600" dirty="0" smtClean="0">
                <a:solidFill>
                  <a:srgbClr val="B5CEA8"/>
                </a:solidFill>
                <a:latin typeface="Consolas"/>
              </a:rPr>
              <a:t>5</a:t>
            </a:r>
            <a:r>
              <a:rPr lang="en-US" sz="1600" dirty="0" smtClean="0">
                <a:solidFill>
                  <a:srgbClr val="D4D4D4"/>
                </a:solidFill>
                <a:latin typeface="Consolas"/>
              </a:rPr>
              <a:t>; </a:t>
            </a:r>
            <a:r>
              <a:rPr lang="en-US" sz="1600" dirty="0" err="1" smtClean="0">
                <a:solidFill>
                  <a:srgbClr val="D4D4D4"/>
                </a:solidFill>
                <a:latin typeface="Consolas"/>
              </a:rPr>
              <a:t>i</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go</a:t>
            </a:r>
            <a:r>
              <a:rPr lang="en-US" sz="1600" dirty="0" smtClean="0">
                <a:solidFill>
                  <a:srgbClr val="D4D4D4"/>
                </a:solidFill>
                <a:latin typeface="Consolas"/>
              </a:rPr>
              <a:t> </a:t>
            </a:r>
            <a:r>
              <a:rPr lang="en-US" sz="1600" dirty="0" err="1" smtClean="0">
                <a:solidFill>
                  <a:srgbClr val="DCDCAA"/>
                </a:solidFill>
                <a:latin typeface="Consolas"/>
              </a:rPr>
              <a:t>doWork</a:t>
            </a:r>
            <a:r>
              <a:rPr lang="en-US" sz="1600" dirty="0" smtClean="0">
                <a:solidFill>
                  <a:srgbClr val="D4D4D4"/>
                </a:solidFill>
                <a:latin typeface="Consolas"/>
              </a:rPr>
              <a:t>(</a:t>
            </a:r>
            <a:r>
              <a:rPr lang="en-US" sz="1600" dirty="0" err="1" smtClean="0">
                <a:solidFill>
                  <a:srgbClr val="D4D4D4"/>
                </a:solidFill>
                <a:latin typeface="Consolas"/>
              </a:rPr>
              <a:t>i</a:t>
            </a:r>
            <a:r>
              <a:rPr lang="en-US" sz="1600" dirty="0" smtClean="0">
                <a:solidFill>
                  <a:srgbClr val="D4D4D4"/>
                </a:solidFill>
                <a:latin typeface="Consolas"/>
              </a:rPr>
              <a:t>, c)</a:t>
            </a:r>
          </a:p>
          <a:p>
            <a:r>
              <a:rPr lang="en-US" sz="1600" dirty="0" smtClean="0">
                <a:solidFill>
                  <a:srgbClr val="D4D4D4"/>
                </a:solidFill>
                <a:latin typeface="Consolas"/>
              </a:rPr>
              <a:t>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v</a:t>
            </a:r>
            <a:r>
              <a:rPr lang="en-US" sz="1600" dirty="0" smtClean="0">
                <a:solidFill>
                  <a:srgbClr val="D4D4D4"/>
                </a:solidFill>
                <a:latin typeface="Consolas"/>
              </a:rPr>
              <a:t> := &lt;-c</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(v)</a:t>
            </a:r>
          </a:p>
          <a:p>
            <a:r>
              <a:rPr lang="en-US" sz="1600" dirty="0" smtClean="0">
                <a:solidFill>
                  <a:srgbClr val="D4D4D4"/>
                </a:solidFill>
                <a:latin typeface="Consolas"/>
              </a:rPr>
              <a:t>    }</a:t>
            </a:r>
          </a:p>
          <a:p>
            <a:r>
              <a:rPr lang="en-US" sz="1600" dirty="0" smtClean="0">
                <a:solidFill>
                  <a:srgbClr val="D4D4D4"/>
                </a:solidFill>
                <a:latin typeface="Consolas"/>
              </a:rPr>
              <a:t>}</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err="1" smtClean="0">
                <a:solidFill>
                  <a:srgbClr val="DCDCAA"/>
                </a:solidFill>
                <a:latin typeface="Consolas"/>
              </a:rPr>
              <a:t>doWork</a:t>
            </a:r>
            <a:r>
              <a:rPr lang="en-US" sz="1600" dirty="0" smtClean="0">
                <a:solidFill>
                  <a:srgbClr val="D4D4D4"/>
                </a:solidFill>
                <a:latin typeface="Consolas"/>
              </a:rPr>
              <a:t>(num </a:t>
            </a:r>
            <a:r>
              <a:rPr lang="en-US" sz="1600" dirty="0" err="1" smtClean="0">
                <a:solidFill>
                  <a:srgbClr val="4EC9B0"/>
                </a:solidFill>
                <a:latin typeface="Consolas"/>
              </a:rPr>
              <a:t>int</a:t>
            </a:r>
            <a:r>
              <a:rPr lang="en-US" sz="1600" dirty="0" smtClean="0">
                <a:solidFill>
                  <a:srgbClr val="D4D4D4"/>
                </a:solidFill>
                <a:latin typeface="Consolas"/>
              </a:rPr>
              <a:t>, c </a:t>
            </a:r>
            <a:r>
              <a:rPr lang="en-US" sz="1600" dirty="0" err="1" smtClean="0">
                <a:solidFill>
                  <a:srgbClr val="569CD6"/>
                </a:solidFill>
                <a:latin typeface="Consolas"/>
              </a:rPr>
              <a:t>chan</a:t>
            </a:r>
            <a:r>
              <a:rPr lang="en-US" sz="1600" dirty="0" smtClean="0">
                <a:solidFill>
                  <a:srgbClr val="D4D4D4"/>
                </a:solidFill>
                <a:latin typeface="Consolas"/>
              </a:rPr>
              <a:t> </a:t>
            </a:r>
            <a:r>
              <a:rPr lang="en-US" sz="1600" dirty="0" smtClean="0">
                <a:solidFill>
                  <a:srgbClr val="4EC9B0"/>
                </a:solidFill>
                <a:latin typeface="Consolas"/>
              </a:rPr>
              <a:t>string</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time.</a:t>
            </a:r>
            <a:r>
              <a:rPr lang="en-US" sz="1600" dirty="0" err="1" smtClean="0">
                <a:solidFill>
                  <a:srgbClr val="DCDCAA"/>
                </a:solidFill>
                <a:latin typeface="Consolas"/>
              </a:rPr>
              <a:t>Sleep</a:t>
            </a:r>
            <a:r>
              <a:rPr lang="en-US" sz="1600" dirty="0" smtClean="0">
                <a:solidFill>
                  <a:srgbClr val="D4D4D4"/>
                </a:solidFill>
                <a:latin typeface="Consolas"/>
              </a:rPr>
              <a:t>(</a:t>
            </a:r>
            <a:r>
              <a:rPr lang="en-US" sz="1600" dirty="0" err="1" smtClean="0">
                <a:solidFill>
                  <a:srgbClr val="D4D4D4"/>
                </a:solidFill>
                <a:latin typeface="Consolas"/>
              </a:rPr>
              <a:t>time.</a:t>
            </a:r>
            <a:r>
              <a:rPr lang="en-US" sz="1600" dirty="0" err="1" smtClean="0">
                <a:solidFill>
                  <a:srgbClr val="DCDCAA"/>
                </a:solidFill>
                <a:latin typeface="Consolas"/>
              </a:rPr>
              <a:t>Duration</a:t>
            </a:r>
            <a:r>
              <a:rPr lang="en-US" sz="1600" dirty="0" smtClean="0">
                <a:solidFill>
                  <a:srgbClr val="D4D4D4"/>
                </a:solidFill>
                <a:latin typeface="Consolas"/>
              </a:rPr>
              <a:t>(</a:t>
            </a:r>
            <a:r>
              <a:rPr lang="en-US" sz="1600" dirty="0" err="1" smtClean="0">
                <a:solidFill>
                  <a:srgbClr val="D4D4D4"/>
                </a:solidFill>
                <a:latin typeface="Consolas"/>
              </a:rPr>
              <a:t>rand.</a:t>
            </a:r>
            <a:r>
              <a:rPr lang="en-US" sz="1600" dirty="0" err="1" smtClean="0">
                <a:solidFill>
                  <a:srgbClr val="DCDCAA"/>
                </a:solidFill>
                <a:latin typeface="Consolas"/>
              </a:rPr>
              <a:t>Intn</a:t>
            </a:r>
            <a:r>
              <a:rPr lang="en-US" sz="1600" dirty="0" smtClean="0">
                <a:solidFill>
                  <a:srgbClr val="D4D4D4"/>
                </a:solidFill>
                <a:latin typeface="Consolas"/>
              </a:rPr>
              <a:t>(</a:t>
            </a:r>
            <a:r>
              <a:rPr lang="en-US" sz="1600" dirty="0" smtClean="0">
                <a:solidFill>
                  <a:srgbClr val="B5CEA8"/>
                </a:solidFill>
                <a:latin typeface="Consolas"/>
              </a:rPr>
              <a:t>1000</a:t>
            </a:r>
            <a:r>
              <a:rPr lang="en-US" sz="1600" dirty="0" smtClean="0">
                <a:solidFill>
                  <a:srgbClr val="D4D4D4"/>
                </a:solidFill>
                <a:latin typeface="Consolas"/>
              </a:rPr>
              <a:t>)) * </a:t>
            </a:r>
            <a:r>
              <a:rPr lang="en-US" sz="1600" dirty="0" err="1" smtClean="0">
                <a:solidFill>
                  <a:srgbClr val="D4D4D4"/>
                </a:solidFill>
                <a:latin typeface="Consolas"/>
              </a:rPr>
              <a:t>time.Millisecond</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9CDCFE"/>
                </a:solidFill>
                <a:latin typeface="Consolas"/>
              </a:rPr>
              <a:t>value</a:t>
            </a:r>
            <a:r>
              <a:rPr lang="en-US" sz="1600" dirty="0" smtClean="0">
                <a:solidFill>
                  <a:srgbClr val="D4D4D4"/>
                </a:solidFill>
                <a:latin typeface="Consolas"/>
              </a:rPr>
              <a:t> := </a:t>
            </a:r>
            <a:r>
              <a:rPr lang="en-US" sz="1600" dirty="0" err="1" smtClean="0">
                <a:solidFill>
                  <a:srgbClr val="D4D4D4"/>
                </a:solidFill>
                <a:latin typeface="Consolas"/>
              </a:rPr>
              <a:t>rand.</a:t>
            </a:r>
            <a:r>
              <a:rPr lang="en-US" sz="1600" dirty="0" err="1" smtClean="0">
                <a:solidFill>
                  <a:srgbClr val="DCDCAA"/>
                </a:solidFill>
                <a:latin typeface="Consolas"/>
              </a:rPr>
              <a:t>Intn</a:t>
            </a:r>
            <a:r>
              <a:rPr lang="en-US" sz="1600" dirty="0" smtClean="0">
                <a:solidFill>
                  <a:srgbClr val="D4D4D4"/>
                </a:solidFill>
                <a:latin typeface="Consolas"/>
              </a:rPr>
              <a:t>(</a:t>
            </a:r>
            <a:r>
              <a:rPr lang="en-US" sz="1600" dirty="0" smtClean="0">
                <a:solidFill>
                  <a:srgbClr val="B5CEA8"/>
                </a:solidFill>
                <a:latin typeface="Consolas"/>
              </a:rPr>
              <a:t>100</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9CDCFE"/>
                </a:solidFill>
                <a:latin typeface="Consolas"/>
              </a:rPr>
              <a:t>result</a:t>
            </a:r>
            <a:r>
              <a:rPr lang="en-US" sz="1600" dirty="0" smtClean="0">
                <a:solidFill>
                  <a:srgbClr val="D4D4D4"/>
                </a:solidFill>
                <a:latin typeface="Consolas"/>
              </a:rPr>
              <a:t> := </a:t>
            </a:r>
            <a:r>
              <a:rPr lang="en-US" sz="1600" dirty="0" err="1" smtClean="0">
                <a:solidFill>
                  <a:srgbClr val="D4D4D4"/>
                </a:solidFill>
                <a:latin typeface="Consolas"/>
              </a:rPr>
              <a:t>fmt.</a:t>
            </a:r>
            <a:r>
              <a:rPr lang="en-US" sz="1600" dirty="0" err="1" smtClean="0">
                <a:solidFill>
                  <a:srgbClr val="DCDCAA"/>
                </a:solidFill>
                <a:latin typeface="Consolas"/>
              </a:rPr>
              <a:t>Sprintf</a:t>
            </a:r>
            <a:r>
              <a:rPr lang="en-US" sz="1600" dirty="0" smtClean="0">
                <a:solidFill>
                  <a:srgbClr val="D4D4D4"/>
                </a:solidFill>
                <a:latin typeface="Consolas"/>
              </a:rPr>
              <a:t>(</a:t>
            </a:r>
            <a:r>
              <a:rPr lang="en-US" sz="1600" dirty="0" smtClean="0">
                <a:solidFill>
                  <a:srgbClr val="CE9178"/>
                </a:solidFill>
                <a:latin typeface="Consolas"/>
              </a:rPr>
              <a:t>"Worker </a:t>
            </a:r>
            <a:r>
              <a:rPr lang="en-US" sz="1600" dirty="0" smtClean="0">
                <a:solidFill>
                  <a:srgbClr val="9CDCFE"/>
                </a:solidFill>
                <a:latin typeface="Consolas"/>
              </a:rPr>
              <a:t>%d</a:t>
            </a:r>
            <a:r>
              <a:rPr lang="en-US" sz="1600" dirty="0" smtClean="0">
                <a:solidFill>
                  <a:srgbClr val="CE9178"/>
                </a:solidFill>
                <a:latin typeface="Consolas"/>
              </a:rPr>
              <a:t> returns: </a:t>
            </a:r>
            <a:r>
              <a:rPr lang="en-US" sz="1600" dirty="0" smtClean="0">
                <a:solidFill>
                  <a:srgbClr val="9CDCFE"/>
                </a:solidFill>
                <a:latin typeface="Consolas"/>
              </a:rPr>
              <a:t>%d</a:t>
            </a:r>
            <a:r>
              <a:rPr lang="en-US" sz="1600" dirty="0" smtClean="0">
                <a:solidFill>
                  <a:srgbClr val="CE9178"/>
                </a:solidFill>
                <a:latin typeface="Consolas"/>
              </a:rPr>
              <a:t>"</a:t>
            </a:r>
            <a:r>
              <a:rPr lang="en-US" sz="1600" dirty="0" smtClean="0">
                <a:solidFill>
                  <a:srgbClr val="D4D4D4"/>
                </a:solidFill>
                <a:latin typeface="Consolas"/>
              </a:rPr>
              <a:t>, num, value)</a:t>
            </a:r>
          </a:p>
          <a:p>
            <a:r>
              <a:rPr lang="en-US" sz="1600" dirty="0" smtClean="0">
                <a:solidFill>
                  <a:srgbClr val="D4D4D4"/>
                </a:solidFill>
                <a:latin typeface="Consolas"/>
              </a:rPr>
              <a:t>        c &lt;- result</a:t>
            </a:r>
          </a:p>
          <a:p>
            <a:r>
              <a:rPr lang="en-US" sz="1600" dirty="0" smtClean="0">
                <a:solidFill>
                  <a:srgbClr val="D4D4D4"/>
                </a:solidFill>
                <a:latin typeface="Consolas"/>
              </a:rPr>
              <a:t>        </a:t>
            </a:r>
            <a:r>
              <a:rPr lang="en-US" sz="1600" dirty="0" smtClean="0">
                <a:solidFill>
                  <a:srgbClr val="C586C0"/>
                </a:solidFill>
                <a:latin typeface="Consolas"/>
              </a:rPr>
              <a:t>break</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
        <p:nvSpPr>
          <p:cNvPr id="5" name="Left Arrow 4"/>
          <p:cNvSpPr/>
          <p:nvPr/>
        </p:nvSpPr>
        <p:spPr>
          <a:xfrm>
            <a:off x="2514600" y="5105400"/>
            <a:ext cx="762000" cy="1143000"/>
          </a:xfrm>
          <a:prstGeom prst="lef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with Channel (I)</a:t>
            </a:r>
            <a:endParaRPr lang="en-US" dirty="0">
              <a:latin typeface="Consolas" pitchFamily="49" charset="0"/>
            </a:endParaRPr>
          </a:p>
        </p:txBody>
      </p:sp>
      <p:sp>
        <p:nvSpPr>
          <p:cNvPr id="4" name="Content Placeholder 2"/>
          <p:cNvSpPr txBox="1">
            <a:spLocks/>
          </p:cNvSpPr>
          <p:nvPr/>
        </p:nvSpPr>
        <p:spPr bwMode="auto">
          <a:xfrm>
            <a:off x="457200" y="1600200"/>
            <a:ext cx="8229600" cy="4876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err="1" smtClean="0">
                <a:solidFill>
                  <a:srgbClr val="569CD6"/>
                </a:solidFill>
                <a:latin typeface="Consolas"/>
              </a:rPr>
              <a:t>var</a:t>
            </a:r>
            <a:r>
              <a:rPr lang="en-US" dirty="0" smtClean="0">
                <a:solidFill>
                  <a:srgbClr val="D4D4D4"/>
                </a:solidFill>
                <a:latin typeface="Consolas"/>
              </a:rPr>
              <a:t> </a:t>
            </a:r>
            <a:r>
              <a:rPr lang="en-US" dirty="0" err="1" smtClean="0">
                <a:solidFill>
                  <a:srgbClr val="9CDCFE"/>
                </a:solidFill>
                <a:latin typeface="Consolas"/>
              </a:rPr>
              <a:t>cAliveServers</a:t>
            </a:r>
            <a:r>
              <a:rPr lang="en-US" dirty="0" smtClean="0">
                <a:solidFill>
                  <a:srgbClr val="D4D4D4"/>
                </a:solidFill>
                <a:latin typeface="Consolas"/>
              </a:rPr>
              <a:t> = </a:t>
            </a:r>
            <a:r>
              <a:rPr lang="en-US" dirty="0" smtClean="0">
                <a:solidFill>
                  <a:srgbClr val="DCDCAA"/>
                </a:solidFill>
                <a:latin typeface="Consolas"/>
              </a:rPr>
              <a:t>make</a:t>
            </a:r>
            <a:r>
              <a:rPr lang="en-US" dirty="0" smtClean="0">
                <a:solidFill>
                  <a:srgbClr val="D4D4D4"/>
                </a:solidFill>
                <a:latin typeface="Consolas"/>
              </a:rPr>
              <a:t>(</a:t>
            </a:r>
            <a:r>
              <a:rPr lang="en-US" dirty="0" err="1" smtClean="0">
                <a:solidFill>
                  <a:srgbClr val="569CD6"/>
                </a:solidFill>
                <a:latin typeface="Consolas"/>
              </a:rPr>
              <a:t>chan</a:t>
            </a:r>
            <a:r>
              <a:rPr lang="en-US" dirty="0" smtClean="0">
                <a:solidFill>
                  <a:srgbClr val="D4D4D4"/>
                </a:solidFill>
                <a:latin typeface="Consolas"/>
              </a:rPr>
              <a:t> </a:t>
            </a:r>
            <a:r>
              <a:rPr lang="en-US" dirty="0" err="1" smtClean="0">
                <a:solidFill>
                  <a:srgbClr val="4EC9B0"/>
                </a:solidFill>
                <a:latin typeface="Consolas"/>
              </a:rPr>
              <a:t>int</a:t>
            </a:r>
            <a:r>
              <a:rPr lang="en-US" dirty="0" smtClean="0">
                <a:solidFill>
                  <a:srgbClr val="D4D4D4"/>
                </a:solidFill>
                <a:latin typeface="Consolas"/>
              </a:rPr>
              <a:t>)</a:t>
            </a:r>
          </a:p>
          <a:p>
            <a:r>
              <a:rPr lang="en-US" dirty="0" err="1" smtClean="0">
                <a:solidFill>
                  <a:srgbClr val="569CD6"/>
                </a:solidFill>
                <a:latin typeface="Consolas"/>
              </a:rPr>
              <a:t>var</a:t>
            </a:r>
            <a:r>
              <a:rPr lang="en-US" dirty="0" smtClean="0">
                <a:solidFill>
                  <a:srgbClr val="D4D4D4"/>
                </a:solidFill>
                <a:latin typeface="Consolas"/>
              </a:rPr>
              <a:t> </a:t>
            </a:r>
            <a:r>
              <a:rPr lang="en-US" dirty="0" err="1" smtClean="0">
                <a:solidFill>
                  <a:srgbClr val="9CDCFE"/>
                </a:solidFill>
                <a:latin typeface="Consolas"/>
              </a:rPr>
              <a:t>cDeadServers</a:t>
            </a:r>
            <a:r>
              <a:rPr lang="en-US" dirty="0" smtClean="0">
                <a:solidFill>
                  <a:srgbClr val="D4D4D4"/>
                </a:solidFill>
                <a:latin typeface="Consolas"/>
              </a:rPr>
              <a:t> = </a:t>
            </a:r>
            <a:r>
              <a:rPr lang="en-US" dirty="0" smtClean="0">
                <a:solidFill>
                  <a:srgbClr val="DCDCAA"/>
                </a:solidFill>
                <a:latin typeface="Consolas"/>
              </a:rPr>
              <a:t>make</a:t>
            </a:r>
            <a:r>
              <a:rPr lang="en-US" dirty="0" smtClean="0">
                <a:solidFill>
                  <a:srgbClr val="D4D4D4"/>
                </a:solidFill>
                <a:latin typeface="Consolas"/>
              </a:rPr>
              <a:t>(</a:t>
            </a:r>
            <a:r>
              <a:rPr lang="en-US" dirty="0" err="1" smtClean="0">
                <a:solidFill>
                  <a:srgbClr val="569CD6"/>
                </a:solidFill>
                <a:latin typeface="Consolas"/>
              </a:rPr>
              <a:t>chan</a:t>
            </a:r>
            <a:r>
              <a:rPr lang="en-US" dirty="0" smtClean="0">
                <a:solidFill>
                  <a:srgbClr val="D4D4D4"/>
                </a:solidFill>
                <a:latin typeface="Consolas"/>
              </a:rPr>
              <a:t> </a:t>
            </a:r>
            <a:r>
              <a:rPr lang="en-US" dirty="0" err="1" smtClean="0">
                <a:solidFill>
                  <a:srgbClr val="4EC9B0"/>
                </a:solidFill>
                <a:latin typeface="Consolas"/>
              </a:rPr>
              <a:t>int</a:t>
            </a:r>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ping</a:t>
            </a:r>
            <a:r>
              <a:rPr lang="en-US" dirty="0" smtClean="0">
                <a:solidFill>
                  <a:srgbClr val="D4D4D4"/>
                </a:solidFill>
                <a:latin typeface="Consolas"/>
              </a:rPr>
              <a:t>(num </a:t>
            </a:r>
            <a:r>
              <a:rPr lang="en-US" dirty="0" err="1" smtClean="0">
                <a:solidFill>
                  <a:srgbClr val="4EC9B0"/>
                </a:solidFill>
                <a:latin typeface="Consolas"/>
              </a:rPr>
              <a:t>int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if</a:t>
            </a:r>
            <a:r>
              <a:rPr lang="en-US" dirty="0" smtClean="0">
                <a:solidFill>
                  <a:srgbClr val="D4D4D4"/>
                </a:solidFill>
                <a:latin typeface="Consolas"/>
              </a:rPr>
              <a:t> num%</a:t>
            </a:r>
            <a:r>
              <a:rPr lang="en-US" dirty="0" smtClean="0">
                <a:solidFill>
                  <a:srgbClr val="B5CEA8"/>
                </a:solidFill>
                <a:latin typeface="Consolas"/>
              </a:rPr>
              <a:t>2</a:t>
            </a:r>
            <a:r>
              <a:rPr lang="en-US" dirty="0" smtClean="0">
                <a:solidFill>
                  <a:srgbClr val="D4D4D4"/>
                </a:solidFill>
                <a:latin typeface="Consolas"/>
              </a:rPr>
              <a:t> == </a:t>
            </a:r>
            <a:r>
              <a:rPr lang="en-US" dirty="0" smtClean="0">
                <a:solidFill>
                  <a:srgbClr val="B5CEA8"/>
                </a:solidFill>
                <a:latin typeface="Consolas"/>
              </a:rPr>
              <a:t>0</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cAliveServers</a:t>
            </a:r>
            <a:r>
              <a:rPr lang="en-US" dirty="0" smtClean="0">
                <a:solidFill>
                  <a:srgbClr val="D4D4D4"/>
                </a:solidFill>
                <a:latin typeface="Consolas"/>
              </a:rPr>
              <a:t> &lt;- </a:t>
            </a:r>
            <a:r>
              <a:rPr lang="en-US" dirty="0" smtClean="0">
                <a:solidFill>
                  <a:srgbClr val="B5CEA8"/>
                </a:solidFill>
                <a:latin typeface="Consolas"/>
              </a:rPr>
              <a:t>1</a:t>
            </a:r>
            <a:endParaRPr lang="en-US" dirty="0" smtClean="0">
              <a:solidFill>
                <a:srgbClr val="D4D4D4"/>
              </a:solidFill>
              <a:latin typeface="Consolas"/>
            </a:endParaRPr>
          </a:p>
          <a:p>
            <a:r>
              <a:rPr lang="en-US" dirty="0" smtClean="0">
                <a:solidFill>
                  <a:srgbClr val="D4D4D4"/>
                </a:solidFill>
                <a:latin typeface="Consolas"/>
              </a:rPr>
              <a:t>    } </a:t>
            </a:r>
            <a:r>
              <a:rPr lang="en-US" dirty="0" smtClean="0">
                <a:solidFill>
                  <a:srgbClr val="C586C0"/>
                </a:solidFill>
                <a:latin typeface="Consolas"/>
              </a:rPr>
              <a:t>else</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cDeadServers</a:t>
            </a:r>
            <a:r>
              <a:rPr lang="en-US" dirty="0" smtClean="0">
                <a:solidFill>
                  <a:srgbClr val="D4D4D4"/>
                </a:solidFill>
                <a:latin typeface="Consolas"/>
              </a:rPr>
              <a:t> &lt;- </a:t>
            </a:r>
            <a:r>
              <a:rPr lang="en-US" dirty="0" smtClean="0">
                <a:solidFill>
                  <a:srgbClr val="B5CEA8"/>
                </a:solidFill>
                <a:latin typeface="Consolas"/>
              </a:rPr>
              <a:t>1</a:t>
            </a:r>
            <a:endParaRPr lang="en-US" dirty="0" smtClean="0">
              <a:solidFill>
                <a:srgbClr val="D4D4D4"/>
              </a:solidFill>
              <a:latin typeface="Consolas"/>
            </a:endParaRPr>
          </a:p>
          <a:p>
            <a:r>
              <a:rPr lang="en-US" dirty="0" smtClean="0">
                <a:solidFill>
                  <a:srgbClr val="D4D4D4"/>
                </a:solidFill>
                <a:latin typeface="Consolas"/>
              </a:rPr>
              <a:t>    }</a:t>
            </a: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main</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for</a:t>
            </a:r>
            <a:r>
              <a:rPr lang="en-US" dirty="0" smtClean="0">
                <a:solidFill>
                  <a:srgbClr val="D4D4D4"/>
                </a:solidFill>
                <a:latin typeface="Consolas"/>
              </a:rPr>
              <a:t> </a:t>
            </a:r>
            <a:r>
              <a:rPr lang="en-US" dirty="0" err="1" smtClean="0">
                <a:solidFill>
                  <a:srgbClr val="9CDCFE"/>
                </a:solidFill>
                <a:latin typeface="Consolas"/>
              </a:rPr>
              <a:t>i</a:t>
            </a:r>
            <a:r>
              <a:rPr lang="en-US" dirty="0" smtClean="0">
                <a:solidFill>
                  <a:srgbClr val="D4D4D4"/>
                </a:solidFill>
                <a:latin typeface="Consolas"/>
              </a:rPr>
              <a:t> := </a:t>
            </a:r>
            <a:r>
              <a:rPr lang="en-US" dirty="0" smtClean="0">
                <a:solidFill>
                  <a:srgbClr val="B5CEA8"/>
                </a:solidFill>
                <a:latin typeface="Consolas"/>
              </a:rPr>
              <a:t>1</a:t>
            </a:r>
            <a:r>
              <a:rPr lang="en-US" dirty="0" smtClean="0">
                <a:solidFill>
                  <a:srgbClr val="D4D4D4"/>
                </a:solidFill>
                <a:latin typeface="Consolas"/>
              </a:rPr>
              <a:t>; </a:t>
            </a:r>
            <a:r>
              <a:rPr lang="en-US" dirty="0" err="1" smtClean="0">
                <a:solidFill>
                  <a:srgbClr val="D4D4D4"/>
                </a:solidFill>
                <a:latin typeface="Consolas"/>
              </a:rPr>
              <a:t>i</a:t>
            </a:r>
            <a:r>
              <a:rPr lang="en-US" dirty="0" smtClean="0">
                <a:solidFill>
                  <a:srgbClr val="D4D4D4"/>
                </a:solidFill>
                <a:latin typeface="Consolas"/>
              </a:rPr>
              <a:t> &lt;= </a:t>
            </a:r>
            <a:r>
              <a:rPr lang="en-US" dirty="0" smtClean="0">
                <a:solidFill>
                  <a:srgbClr val="B5CEA8"/>
                </a:solidFill>
                <a:latin typeface="Consolas"/>
              </a:rPr>
              <a:t>10000</a:t>
            </a:r>
            <a:r>
              <a:rPr lang="en-US" dirty="0" smtClean="0">
                <a:solidFill>
                  <a:srgbClr val="D4D4D4"/>
                </a:solidFill>
                <a:latin typeface="Consolas"/>
              </a:rPr>
              <a:t>; </a:t>
            </a:r>
            <a:r>
              <a:rPr lang="en-US" dirty="0" err="1" smtClean="0">
                <a:solidFill>
                  <a:srgbClr val="D4D4D4"/>
                </a:solidFill>
                <a:latin typeface="Consolas"/>
              </a:rPr>
              <a:t>i</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go</a:t>
            </a:r>
            <a:r>
              <a:rPr lang="en-US" dirty="0" smtClean="0">
                <a:solidFill>
                  <a:srgbClr val="D4D4D4"/>
                </a:solidFill>
                <a:latin typeface="Consolas"/>
              </a:rPr>
              <a:t> </a:t>
            </a:r>
            <a:r>
              <a:rPr lang="en-US" dirty="0" err="1" smtClean="0">
                <a:solidFill>
                  <a:srgbClr val="569CD6"/>
                </a:solidFill>
                <a:latin typeface="Consolas"/>
              </a:rPr>
              <a:t>func</a:t>
            </a:r>
            <a:r>
              <a:rPr lang="en-US" dirty="0" smtClean="0">
                <a:solidFill>
                  <a:srgbClr val="D4D4D4"/>
                </a:solidFill>
                <a:latin typeface="Consolas"/>
              </a:rPr>
              <a:t>(x </a:t>
            </a:r>
            <a:r>
              <a:rPr lang="en-US" dirty="0" err="1" smtClean="0">
                <a:solidFill>
                  <a:srgbClr val="4EC9B0"/>
                </a:solidFill>
                <a:latin typeface="Consolas"/>
              </a:rPr>
              <a:t>int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DCDCAA"/>
                </a:solidFill>
                <a:latin typeface="Consolas"/>
              </a:rPr>
              <a:t>ping</a:t>
            </a:r>
            <a:r>
              <a:rPr lang="en-US" dirty="0" smtClean="0">
                <a:solidFill>
                  <a:srgbClr val="D4D4D4"/>
                </a:solidFill>
                <a:latin typeface="Consolas"/>
              </a:rPr>
              <a:t>(x)</a:t>
            </a:r>
          </a:p>
          <a:p>
            <a:r>
              <a:rPr lang="en-US" dirty="0" smtClean="0">
                <a:solidFill>
                  <a:srgbClr val="D4D4D4"/>
                </a:solidFill>
                <a:latin typeface="Consolas"/>
              </a:rPr>
              <a:t>        }(</a:t>
            </a:r>
            <a:r>
              <a:rPr lang="en-US" dirty="0" err="1" smtClean="0">
                <a:solidFill>
                  <a:srgbClr val="D4D4D4"/>
                </a:solidFill>
                <a:latin typeface="Consolas"/>
              </a:rPr>
              <a:t>i</a:t>
            </a:r>
            <a:r>
              <a:rPr lang="en-US" dirty="0" smtClean="0">
                <a:solidFill>
                  <a:srgbClr val="D4D4D4"/>
                </a:solidFill>
                <a:latin typeface="Consolas"/>
              </a:rPr>
              <a:t>)</a:t>
            </a:r>
          </a:p>
          <a:p>
            <a:r>
              <a:rPr lang="en-US" dirty="0" smtClean="0">
                <a:solidFill>
                  <a:srgbClr val="D4D4D4"/>
                </a:solidFill>
                <a:latin typeface="Consolas"/>
              </a:rPr>
              <a:t>    }</a:t>
            </a:r>
            <a:endParaRPr lang="en-US" b="0" dirty="0">
              <a:solidFill>
                <a:srgbClr val="D4D4D4"/>
              </a:solidFill>
              <a:latin typeface="Consola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with Channel (II)</a:t>
            </a:r>
            <a:endParaRPr lang="en-US" dirty="0">
              <a:latin typeface="Consolas" pitchFamily="49" charset="0"/>
            </a:endParaRPr>
          </a:p>
        </p:txBody>
      </p:sp>
      <p:sp>
        <p:nvSpPr>
          <p:cNvPr id="4" name="Content Placeholder 2"/>
          <p:cNvSpPr txBox="1">
            <a:spLocks/>
          </p:cNvSpPr>
          <p:nvPr/>
        </p:nvSpPr>
        <p:spPr bwMode="auto">
          <a:xfrm>
            <a:off x="457200" y="1524000"/>
            <a:ext cx="8229600" cy="4876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D4D4D4"/>
                </a:solidFill>
                <a:latin typeface="Consolas"/>
              </a:rPr>
              <a:t>    </a:t>
            </a:r>
            <a:r>
              <a:rPr lang="en-US" dirty="0" err="1" smtClean="0">
                <a:solidFill>
                  <a:srgbClr val="9CDCFE"/>
                </a:solidFill>
                <a:latin typeface="Consolas"/>
              </a:rPr>
              <a:t>aliveServers</a:t>
            </a:r>
            <a:r>
              <a:rPr lang="en-US" dirty="0" smtClean="0">
                <a:solidFill>
                  <a:srgbClr val="D4D4D4"/>
                </a:solidFill>
                <a:latin typeface="Consolas"/>
              </a:rPr>
              <a:t> := </a:t>
            </a:r>
            <a:r>
              <a:rPr lang="en-US" dirty="0" smtClean="0">
                <a:solidFill>
                  <a:srgbClr val="B5CEA8"/>
                </a:solidFill>
                <a:latin typeface="Consolas"/>
              </a:rPr>
              <a:t>0</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9CDCFE"/>
                </a:solidFill>
                <a:latin typeface="Consolas"/>
              </a:rPr>
              <a:t>deadServers</a:t>
            </a:r>
            <a:r>
              <a:rPr lang="en-US" dirty="0" smtClean="0">
                <a:solidFill>
                  <a:srgbClr val="D4D4D4"/>
                </a:solidFill>
                <a:latin typeface="Consolas"/>
              </a:rPr>
              <a:t> := </a:t>
            </a:r>
            <a:r>
              <a:rPr lang="en-US" dirty="0" smtClean="0">
                <a:solidFill>
                  <a:srgbClr val="B5CEA8"/>
                </a:solidFill>
                <a:latin typeface="Consolas"/>
              </a:rPr>
              <a:t>0</a:t>
            </a:r>
            <a:endParaRPr lang="en-US" dirty="0" smtClean="0">
              <a:solidFill>
                <a:srgbClr val="D4D4D4"/>
              </a:solidFill>
              <a:latin typeface="Consolas"/>
            </a:endParaRP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smtClean="0">
                <a:solidFill>
                  <a:srgbClr val="C586C0"/>
                </a:solidFill>
                <a:latin typeface="Consolas"/>
              </a:rPr>
              <a:t>for</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9CDCFE"/>
                </a:solidFill>
                <a:latin typeface="Consolas"/>
              </a:rPr>
              <a:t>countAlive</a:t>
            </a:r>
            <a:r>
              <a:rPr lang="en-US" dirty="0" smtClean="0">
                <a:solidFill>
                  <a:srgbClr val="D4D4D4"/>
                </a:solidFill>
                <a:latin typeface="Consolas"/>
              </a:rPr>
              <a:t> := &lt;-</a:t>
            </a:r>
            <a:r>
              <a:rPr lang="en-US" dirty="0" err="1" smtClean="0">
                <a:solidFill>
                  <a:srgbClr val="D4D4D4"/>
                </a:solidFill>
                <a:latin typeface="Consolas"/>
              </a:rPr>
              <a:t>cAliveServers</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9CDCFE"/>
                </a:solidFill>
                <a:latin typeface="Consolas"/>
              </a:rPr>
              <a:t>aliveServers</a:t>
            </a:r>
            <a:r>
              <a:rPr lang="en-US" dirty="0" smtClean="0">
                <a:solidFill>
                  <a:srgbClr val="D4D4D4"/>
                </a:solidFill>
                <a:latin typeface="Consolas"/>
              </a:rPr>
              <a:t> = </a:t>
            </a:r>
            <a:r>
              <a:rPr lang="en-US" dirty="0" err="1" smtClean="0">
                <a:solidFill>
                  <a:srgbClr val="D4D4D4"/>
                </a:solidFill>
                <a:latin typeface="Consolas"/>
              </a:rPr>
              <a:t>aliveServers</a:t>
            </a:r>
            <a:r>
              <a:rPr lang="en-US" dirty="0" smtClean="0">
                <a:solidFill>
                  <a:srgbClr val="D4D4D4"/>
                </a:solidFill>
                <a:latin typeface="Consolas"/>
              </a:rPr>
              <a:t> + </a:t>
            </a:r>
            <a:r>
              <a:rPr lang="en-US" dirty="0" err="1" smtClean="0">
                <a:solidFill>
                  <a:srgbClr val="D4D4D4"/>
                </a:solidFill>
                <a:latin typeface="Consolas"/>
              </a:rPr>
              <a:t>countAlive</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9CDCFE"/>
                </a:solidFill>
                <a:latin typeface="Consolas"/>
              </a:rPr>
              <a:t>countDead</a:t>
            </a:r>
            <a:r>
              <a:rPr lang="en-US" dirty="0" smtClean="0">
                <a:solidFill>
                  <a:srgbClr val="D4D4D4"/>
                </a:solidFill>
                <a:latin typeface="Consolas"/>
              </a:rPr>
              <a:t> := &lt;-</a:t>
            </a:r>
            <a:r>
              <a:rPr lang="en-US" dirty="0" err="1" smtClean="0">
                <a:solidFill>
                  <a:srgbClr val="D4D4D4"/>
                </a:solidFill>
                <a:latin typeface="Consolas"/>
              </a:rPr>
              <a:t>cDeadServers</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9CDCFE"/>
                </a:solidFill>
                <a:latin typeface="Consolas"/>
              </a:rPr>
              <a:t>deadServers</a:t>
            </a:r>
            <a:r>
              <a:rPr lang="en-US" dirty="0" smtClean="0">
                <a:solidFill>
                  <a:srgbClr val="D4D4D4"/>
                </a:solidFill>
                <a:latin typeface="Consolas"/>
              </a:rPr>
              <a:t> = </a:t>
            </a:r>
            <a:r>
              <a:rPr lang="en-US" dirty="0" err="1" smtClean="0">
                <a:solidFill>
                  <a:srgbClr val="D4D4D4"/>
                </a:solidFill>
                <a:latin typeface="Consolas"/>
              </a:rPr>
              <a:t>deadServers</a:t>
            </a:r>
            <a:r>
              <a:rPr lang="en-US" dirty="0" smtClean="0">
                <a:solidFill>
                  <a:srgbClr val="D4D4D4"/>
                </a:solidFill>
                <a:latin typeface="Consolas"/>
              </a:rPr>
              <a:t> + </a:t>
            </a:r>
            <a:r>
              <a:rPr lang="en-US" dirty="0" err="1" smtClean="0">
                <a:solidFill>
                  <a:srgbClr val="D4D4D4"/>
                </a:solidFill>
                <a:latin typeface="Consolas"/>
              </a:rPr>
              <a:t>countDead</a:t>
            </a:r>
            <a:endParaRPr lang="en-US" dirty="0" smtClean="0">
              <a:solidFill>
                <a:srgbClr val="D4D4D4"/>
              </a:solidFill>
              <a:latin typeface="Consolas"/>
            </a:endParaRP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smtClean="0">
                <a:solidFill>
                  <a:srgbClr val="C586C0"/>
                </a:solidFill>
                <a:latin typeface="Consolas"/>
              </a:rPr>
              <a:t>if</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 &gt;= </a:t>
            </a:r>
            <a:r>
              <a:rPr lang="en-US" dirty="0" smtClean="0">
                <a:solidFill>
                  <a:srgbClr val="B5CEA8"/>
                </a:solidFill>
                <a:latin typeface="Consolas"/>
              </a:rPr>
              <a:t>300</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break</a:t>
            </a:r>
            <a:endParaRPr lang="en-US" dirty="0" smtClean="0">
              <a:solidFill>
                <a:srgbClr val="D4D4D4"/>
              </a:solidFill>
              <a:latin typeface="Consolas"/>
            </a:endParaRPr>
          </a:p>
          <a:p>
            <a:r>
              <a:rPr lang="en-US" dirty="0" smtClean="0">
                <a:solidFill>
                  <a:srgbClr val="D4D4D4"/>
                </a:solidFill>
                <a:latin typeface="Consolas"/>
              </a:rPr>
              <a:t>        }</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smtClean="0">
                <a:solidFill>
                  <a:srgbClr val="C586C0"/>
                </a:solidFill>
                <a:latin typeface="Consolas"/>
              </a:rPr>
              <a:t>if</a:t>
            </a:r>
            <a:r>
              <a:rPr lang="en-US" dirty="0" smtClean="0">
                <a:solidFill>
                  <a:srgbClr val="D4D4D4"/>
                </a:solidFill>
                <a:latin typeface="Consolas"/>
              </a:rPr>
              <a:t> </a:t>
            </a:r>
            <a:r>
              <a:rPr lang="en-US" dirty="0" err="1" smtClean="0">
                <a:solidFill>
                  <a:srgbClr val="D4D4D4"/>
                </a:solidFill>
                <a:latin typeface="Consolas"/>
              </a:rPr>
              <a:t>aliveServers+deadServers</a:t>
            </a:r>
            <a:r>
              <a:rPr lang="en-US" dirty="0" smtClean="0">
                <a:solidFill>
                  <a:srgbClr val="D4D4D4"/>
                </a:solidFill>
                <a:latin typeface="Consolas"/>
              </a:rPr>
              <a:t> == </a:t>
            </a:r>
            <a:r>
              <a:rPr lang="en-US" dirty="0" smtClean="0">
                <a:solidFill>
                  <a:srgbClr val="B5CEA8"/>
                </a:solidFill>
                <a:latin typeface="Consolas"/>
              </a:rPr>
              <a:t>10000</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break</a:t>
            </a:r>
            <a:endParaRPr lang="en-US" dirty="0" smtClean="0">
              <a:solidFill>
                <a:srgbClr val="D4D4D4"/>
              </a:solidFill>
              <a:latin typeface="Consolas"/>
            </a:endParaRPr>
          </a:p>
          <a:p>
            <a:r>
              <a:rPr lang="en-US" dirty="0" smtClean="0">
                <a:solidFill>
                  <a:srgbClr val="D4D4D4"/>
                </a:solidFill>
                <a:latin typeface="Consolas"/>
              </a:rPr>
              <a:t>        }</a:t>
            </a:r>
          </a:p>
          <a:p>
            <a:r>
              <a:rPr lang="en-US" dirty="0" smtClean="0">
                <a:solidFill>
                  <a:srgbClr val="D4D4D4"/>
                </a:solidFill>
                <a:latin typeface="Consolas"/>
              </a:rPr>
              <a:t>    }</a:t>
            </a:r>
            <a:endParaRPr lang="en-US" b="0" dirty="0">
              <a:solidFill>
                <a:srgbClr val="D4D4D4"/>
              </a:solidFill>
              <a:latin typeface="Consola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with Channel (III)</a:t>
            </a:r>
            <a:endParaRPr lang="en-US" dirty="0">
              <a:latin typeface="Consolas" pitchFamily="49" charset="0"/>
            </a:endParaRPr>
          </a:p>
        </p:txBody>
      </p:sp>
      <p:sp>
        <p:nvSpPr>
          <p:cNvPr id="4" name="Content Placeholder 2"/>
          <p:cNvSpPr txBox="1">
            <a:spLocks/>
          </p:cNvSpPr>
          <p:nvPr/>
        </p:nvSpPr>
        <p:spPr bwMode="auto">
          <a:xfrm>
            <a:off x="457200" y="2438400"/>
            <a:ext cx="8229600" cy="3048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D4D4D4"/>
                </a:solidFill>
                <a:latin typeface="Consolas"/>
              </a:rPr>
              <a:t>    </a:t>
            </a:r>
            <a:r>
              <a:rPr lang="en-US" dirty="0" smtClean="0">
                <a:solidFill>
                  <a:srgbClr val="C586C0"/>
                </a:solidFill>
                <a:latin typeface="Consolas"/>
              </a:rPr>
              <a:t>if</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 &gt;= </a:t>
            </a:r>
            <a:r>
              <a:rPr lang="en-US" dirty="0" smtClean="0">
                <a:solidFill>
                  <a:srgbClr val="B5CEA8"/>
                </a:solidFill>
                <a:latin typeface="Consolas"/>
              </a:rPr>
              <a:t>300</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"Status: Failure."</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"Alive servers: "</a:t>
            </a:r>
            <a:r>
              <a:rPr lang="en-US" dirty="0" smtClean="0">
                <a:solidFill>
                  <a:srgbClr val="D4D4D4"/>
                </a:solidFill>
                <a:latin typeface="Consolas"/>
              </a:rPr>
              <a:t>, </a:t>
            </a:r>
            <a:r>
              <a:rPr lang="en-US" dirty="0" err="1" smtClean="0">
                <a:solidFill>
                  <a:srgbClr val="D4D4D4"/>
                </a:solidFill>
                <a:latin typeface="Consolas"/>
              </a:rPr>
              <a:t>aliveServers</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"Dead servers:"</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a:t>
            </a:r>
          </a:p>
          <a:p>
            <a:r>
              <a:rPr lang="en-US" dirty="0" smtClean="0">
                <a:solidFill>
                  <a:srgbClr val="D4D4D4"/>
                </a:solidFill>
                <a:latin typeface="Consolas"/>
              </a:rPr>
              <a:t>    } </a:t>
            </a:r>
            <a:r>
              <a:rPr lang="en-US" dirty="0" smtClean="0">
                <a:solidFill>
                  <a:srgbClr val="C586C0"/>
                </a:solidFill>
                <a:latin typeface="Consolas"/>
              </a:rPr>
              <a:t>else</a:t>
            </a:r>
            <a:r>
              <a:rPr lang="en-US" dirty="0" smtClean="0">
                <a:solidFill>
                  <a:srgbClr val="D4D4D4"/>
                </a:solidFill>
                <a:latin typeface="Consolas"/>
              </a:rPr>
              <a:t> {</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"Status: OK."</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"Alive servers: "</a:t>
            </a:r>
            <a:r>
              <a:rPr lang="en-US" dirty="0" smtClean="0">
                <a:solidFill>
                  <a:srgbClr val="D4D4D4"/>
                </a:solidFill>
                <a:latin typeface="Consolas"/>
              </a:rPr>
              <a:t>, </a:t>
            </a:r>
            <a:r>
              <a:rPr lang="en-US" dirty="0" err="1" smtClean="0">
                <a:solidFill>
                  <a:srgbClr val="D4D4D4"/>
                </a:solidFill>
                <a:latin typeface="Consolas"/>
              </a:rPr>
              <a:t>aliveServers</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a:t>
            </a:r>
            <a:r>
              <a:rPr lang="en-US" dirty="0" smtClean="0">
                <a:solidFill>
                  <a:srgbClr val="CE9178"/>
                </a:solidFill>
                <a:latin typeface="Consolas"/>
              </a:rPr>
              <a:t>"Dead servers:"</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a:t>
            </a:r>
          </a:p>
          <a:p>
            <a:r>
              <a:rPr lang="en-US" dirty="0" smtClean="0">
                <a:solidFill>
                  <a:srgbClr val="D4D4D4"/>
                </a:solidFill>
                <a:latin typeface="Consolas"/>
              </a:rPr>
              <a:t>    }</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nsolas" pitchFamily="49" charset="0"/>
              </a:rPr>
              <a:t>select</a:t>
            </a:r>
            <a:endParaRPr lang="en-US" dirty="0">
              <a:latin typeface="Consolas" pitchFamily="49" charset="0"/>
            </a:endParaRPr>
          </a:p>
        </p:txBody>
      </p:sp>
      <p:sp>
        <p:nvSpPr>
          <p:cNvPr id="4" name="Content Placeholder 2"/>
          <p:cNvSpPr txBox="1">
            <a:spLocks/>
          </p:cNvSpPr>
          <p:nvPr/>
        </p:nvSpPr>
        <p:spPr bwMode="auto">
          <a:xfrm>
            <a:off x="457200" y="1676400"/>
            <a:ext cx="8229600" cy="4267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D4D4D4"/>
                </a:solidFill>
                <a:latin typeface="Consolas"/>
              </a:rPr>
              <a:t>    </a:t>
            </a:r>
            <a:r>
              <a:rPr lang="en-US" dirty="0" err="1" smtClean="0">
                <a:solidFill>
                  <a:srgbClr val="9CDCFE"/>
                </a:solidFill>
                <a:latin typeface="Consolas"/>
              </a:rPr>
              <a:t>aliveServers</a:t>
            </a:r>
            <a:r>
              <a:rPr lang="en-US" dirty="0" smtClean="0">
                <a:solidFill>
                  <a:srgbClr val="D4D4D4"/>
                </a:solidFill>
                <a:latin typeface="Consolas"/>
              </a:rPr>
              <a:t> := </a:t>
            </a:r>
            <a:r>
              <a:rPr lang="en-US" dirty="0" smtClean="0">
                <a:solidFill>
                  <a:srgbClr val="B5CEA8"/>
                </a:solidFill>
                <a:latin typeface="Consolas"/>
              </a:rPr>
              <a:t>0</a:t>
            </a:r>
            <a:endParaRPr lang="en-US" dirty="0" smtClean="0">
              <a:solidFill>
                <a:srgbClr val="D4D4D4"/>
              </a:solidFill>
              <a:latin typeface="Consolas"/>
            </a:endParaRPr>
          </a:p>
          <a:p>
            <a:r>
              <a:rPr lang="en-US" dirty="0" smtClean="0">
                <a:solidFill>
                  <a:srgbClr val="D4D4D4"/>
                </a:solidFill>
                <a:latin typeface="Consolas"/>
              </a:rPr>
              <a:t>    </a:t>
            </a:r>
            <a:r>
              <a:rPr lang="en-US" dirty="0" err="1" smtClean="0">
                <a:solidFill>
                  <a:srgbClr val="9CDCFE"/>
                </a:solidFill>
                <a:latin typeface="Consolas"/>
              </a:rPr>
              <a:t>deadServers</a:t>
            </a:r>
            <a:r>
              <a:rPr lang="en-US" dirty="0" smtClean="0">
                <a:solidFill>
                  <a:srgbClr val="D4D4D4"/>
                </a:solidFill>
                <a:latin typeface="Consolas"/>
              </a:rPr>
              <a:t> := </a:t>
            </a:r>
            <a:r>
              <a:rPr lang="en-US" dirty="0" smtClean="0">
                <a:solidFill>
                  <a:srgbClr val="B5CEA8"/>
                </a:solidFill>
                <a:latin typeface="Consolas"/>
              </a:rPr>
              <a:t>0</a:t>
            </a:r>
            <a:endParaRPr lang="en-US" dirty="0" smtClean="0">
              <a:solidFill>
                <a:srgbClr val="D4D4D4"/>
              </a:solidFill>
              <a:latin typeface="Consolas"/>
            </a:endParaRP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smtClean="0">
                <a:solidFill>
                  <a:srgbClr val="C586C0"/>
                </a:solidFill>
                <a:latin typeface="Consolas"/>
              </a:rPr>
              <a:t>for</a:t>
            </a:r>
            <a:r>
              <a:rPr lang="en-US" dirty="0" smtClean="0">
                <a:solidFill>
                  <a:srgbClr val="D4D4D4"/>
                </a:solidFill>
                <a:latin typeface="Consolas"/>
              </a:rPr>
              <a:t> </a:t>
            </a:r>
            <a:r>
              <a:rPr lang="en-US" dirty="0" smtClean="0">
                <a:solidFill>
                  <a:srgbClr val="9CDCFE"/>
                </a:solidFill>
                <a:latin typeface="Consolas"/>
              </a:rPr>
              <a:t>count</a:t>
            </a:r>
            <a:r>
              <a:rPr lang="en-US" dirty="0" smtClean="0">
                <a:solidFill>
                  <a:srgbClr val="D4D4D4"/>
                </a:solidFill>
                <a:latin typeface="Consolas"/>
              </a:rPr>
              <a:t> := </a:t>
            </a:r>
            <a:r>
              <a:rPr lang="en-US" dirty="0" smtClean="0">
                <a:solidFill>
                  <a:srgbClr val="B5CEA8"/>
                </a:solidFill>
                <a:latin typeface="Consolas"/>
              </a:rPr>
              <a:t>1</a:t>
            </a:r>
            <a:r>
              <a:rPr lang="en-US" dirty="0" smtClean="0">
                <a:solidFill>
                  <a:srgbClr val="D4D4D4"/>
                </a:solidFill>
                <a:latin typeface="Consolas"/>
              </a:rPr>
              <a:t>; count &lt;= </a:t>
            </a:r>
            <a:r>
              <a:rPr lang="en-US" dirty="0" smtClean="0">
                <a:solidFill>
                  <a:srgbClr val="B5CEA8"/>
                </a:solidFill>
                <a:latin typeface="Consolas"/>
              </a:rPr>
              <a:t>10000</a:t>
            </a:r>
            <a:r>
              <a:rPr lang="en-US" dirty="0" smtClean="0">
                <a:solidFill>
                  <a:srgbClr val="D4D4D4"/>
                </a:solidFill>
                <a:latin typeface="Consolas"/>
              </a:rPr>
              <a:t>; count++ {</a:t>
            </a:r>
          </a:p>
          <a:p>
            <a:r>
              <a:rPr lang="en-US" dirty="0" smtClean="0">
                <a:solidFill>
                  <a:srgbClr val="D4D4D4"/>
                </a:solidFill>
                <a:latin typeface="Consolas"/>
              </a:rPr>
              <a:t>        </a:t>
            </a:r>
            <a:r>
              <a:rPr lang="en-US" dirty="0" smtClean="0">
                <a:solidFill>
                  <a:srgbClr val="C586C0"/>
                </a:solidFill>
                <a:latin typeface="Consolas"/>
              </a:rPr>
              <a:t>select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case</a:t>
            </a:r>
            <a:r>
              <a:rPr lang="en-US" dirty="0" smtClean="0">
                <a:solidFill>
                  <a:srgbClr val="D4D4D4"/>
                </a:solidFill>
                <a:latin typeface="Consolas"/>
              </a:rPr>
              <a:t> &lt;-</a:t>
            </a:r>
            <a:r>
              <a:rPr lang="en-US" dirty="0" err="1" smtClean="0">
                <a:solidFill>
                  <a:srgbClr val="D4D4D4"/>
                </a:solidFill>
                <a:latin typeface="Consolas"/>
              </a:rPr>
              <a:t>cAliveServers</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aliveServers</a:t>
            </a:r>
            <a:r>
              <a:rPr lang="en-US" dirty="0" smtClean="0">
                <a:solidFill>
                  <a:srgbClr val="D4D4D4"/>
                </a:solidFill>
                <a:latin typeface="Consolas"/>
              </a:rPr>
              <a:t>++</a:t>
            </a:r>
          </a:p>
          <a:p>
            <a:r>
              <a:rPr lang="en-US" dirty="0" smtClean="0">
                <a:solidFill>
                  <a:srgbClr val="D4D4D4"/>
                </a:solidFill>
                <a:latin typeface="Consolas"/>
              </a:rPr>
              <a:t>        </a:t>
            </a:r>
            <a:r>
              <a:rPr lang="en-US" dirty="0" smtClean="0">
                <a:solidFill>
                  <a:srgbClr val="C586C0"/>
                </a:solidFill>
                <a:latin typeface="Consolas"/>
              </a:rPr>
              <a:t>case</a:t>
            </a:r>
            <a:r>
              <a:rPr lang="en-US" dirty="0" smtClean="0">
                <a:solidFill>
                  <a:srgbClr val="D4D4D4"/>
                </a:solidFill>
                <a:latin typeface="Consolas"/>
              </a:rPr>
              <a:t> &lt;-</a:t>
            </a:r>
            <a:r>
              <a:rPr lang="en-US" dirty="0" err="1" smtClean="0">
                <a:solidFill>
                  <a:srgbClr val="D4D4D4"/>
                </a:solidFill>
                <a:latin typeface="Consolas"/>
              </a:rPr>
              <a:t>cDeadServers</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a:t>
            </a:r>
          </a:p>
          <a:p>
            <a:r>
              <a:rPr lang="en-US" dirty="0" smtClean="0">
                <a:solidFill>
                  <a:srgbClr val="D4D4D4"/>
                </a:solidFill>
                <a:latin typeface="Consolas"/>
              </a:rPr>
              <a:t>        }</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smtClean="0">
                <a:solidFill>
                  <a:srgbClr val="C586C0"/>
                </a:solidFill>
                <a:latin typeface="Consolas"/>
              </a:rPr>
              <a:t>if</a:t>
            </a:r>
            <a:r>
              <a:rPr lang="en-US" dirty="0" smtClean="0">
                <a:solidFill>
                  <a:srgbClr val="D4D4D4"/>
                </a:solidFill>
                <a:latin typeface="Consolas"/>
              </a:rPr>
              <a:t> </a:t>
            </a:r>
            <a:r>
              <a:rPr lang="en-US" dirty="0" err="1" smtClean="0">
                <a:solidFill>
                  <a:srgbClr val="D4D4D4"/>
                </a:solidFill>
                <a:latin typeface="Consolas"/>
              </a:rPr>
              <a:t>deadServers</a:t>
            </a:r>
            <a:r>
              <a:rPr lang="en-US" dirty="0" smtClean="0">
                <a:solidFill>
                  <a:srgbClr val="D4D4D4"/>
                </a:solidFill>
                <a:latin typeface="Consolas"/>
              </a:rPr>
              <a:t> &gt;= </a:t>
            </a:r>
            <a:r>
              <a:rPr lang="en-US" dirty="0" smtClean="0">
                <a:solidFill>
                  <a:srgbClr val="B5CEA8"/>
                </a:solidFill>
                <a:latin typeface="Consolas"/>
              </a:rPr>
              <a:t>300</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586C0"/>
                </a:solidFill>
                <a:latin typeface="Consolas"/>
              </a:rPr>
              <a:t>break</a:t>
            </a:r>
            <a:endParaRPr lang="en-US" dirty="0" smtClean="0">
              <a:solidFill>
                <a:srgbClr val="D4D4D4"/>
              </a:solidFill>
              <a:latin typeface="Consolas"/>
            </a:endParaRPr>
          </a:p>
          <a:p>
            <a:r>
              <a:rPr lang="en-US" dirty="0" smtClean="0">
                <a:solidFill>
                  <a:srgbClr val="D4D4D4"/>
                </a:solidFill>
                <a:latin typeface="Consolas"/>
              </a:rPr>
              <a:t>        }</a:t>
            </a:r>
          </a:p>
          <a:p>
            <a:r>
              <a:rPr lang="en-US" dirty="0" smtClean="0">
                <a:solidFill>
                  <a:srgbClr val="D4D4D4"/>
                </a:solidFill>
                <a:latin typeface="Consolas"/>
              </a:rPr>
              <a:t>    }</a:t>
            </a:r>
            <a:endParaRPr lang="en-US" b="0" dirty="0">
              <a:solidFill>
                <a:srgbClr val="D4D4D4"/>
              </a:solidFill>
              <a:latin typeface="Consola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nsolas" pitchFamily="49" charset="0"/>
              </a:rPr>
              <a:t>select</a:t>
            </a:r>
            <a:endParaRPr lang="en-US" dirty="0"/>
          </a:p>
        </p:txBody>
      </p:sp>
      <p:sp>
        <p:nvSpPr>
          <p:cNvPr id="3" name="Content Placeholder 2"/>
          <p:cNvSpPr>
            <a:spLocks noGrp="1"/>
          </p:cNvSpPr>
          <p:nvPr>
            <p:ph idx="1"/>
          </p:nvPr>
        </p:nvSpPr>
        <p:spPr/>
        <p:txBody>
          <a:bodyPr/>
          <a:lstStyle/>
          <a:p>
            <a:r>
              <a:rPr lang="en-US" sz="2400" dirty="0" smtClean="0"/>
              <a:t>A </a:t>
            </a:r>
            <a:r>
              <a:rPr lang="en-US" sz="2400" b="1" dirty="0" smtClean="0">
                <a:latin typeface="Consolas" pitchFamily="49" charset="0"/>
              </a:rPr>
              <a:t>select</a:t>
            </a:r>
            <a:r>
              <a:rPr lang="en-US" sz="2400" dirty="0" smtClean="0"/>
              <a:t> waits until a communication for some case is ready to proceed.</a:t>
            </a:r>
          </a:p>
          <a:p>
            <a:r>
              <a:rPr lang="en-US" sz="2400" dirty="0" smtClean="0"/>
              <a:t>It then performs that communication and executes the case's associated statements; the other communications do not happen.</a:t>
            </a:r>
          </a:p>
          <a:p>
            <a:r>
              <a:rPr lang="en-US" sz="2400" dirty="0" smtClean="0"/>
              <a:t>It's as if </a:t>
            </a:r>
            <a:r>
              <a:rPr lang="en-US" sz="2400" b="1" dirty="0" smtClean="0">
                <a:latin typeface="Consolas" pitchFamily="49" charset="0"/>
              </a:rPr>
              <a:t>select</a:t>
            </a:r>
            <a:r>
              <a:rPr lang="en-US" sz="2400" dirty="0" smtClean="0"/>
              <a:t> is looking at both channels at once and takes action when it sees something happen on either of them.</a:t>
            </a:r>
          </a:p>
          <a:p>
            <a:r>
              <a:rPr lang="en-US" sz="2400" dirty="0" smtClean="0"/>
              <a:t>A </a:t>
            </a:r>
            <a:r>
              <a:rPr lang="en-US" sz="2400" b="1" dirty="0" smtClean="0">
                <a:latin typeface="Consolas" pitchFamily="49" charset="0"/>
              </a:rPr>
              <a:t>select</a:t>
            </a:r>
            <a:r>
              <a:rPr lang="en-US" sz="2400" dirty="0" smtClean="0"/>
              <a:t> with no cases, </a:t>
            </a:r>
            <a:r>
              <a:rPr lang="en-US" sz="2400" b="1" dirty="0" smtClean="0">
                <a:latin typeface="Consolas" pitchFamily="49" charset="0"/>
              </a:rPr>
              <a:t>select{}</a:t>
            </a:r>
            <a:r>
              <a:rPr lang="en-US" sz="2400" dirty="0" smtClean="0"/>
              <a:t>, </a:t>
            </a:r>
            <a:r>
              <a:rPr lang="en-US" sz="2400" u="sng" dirty="0" smtClean="0"/>
              <a:t>waits forever</a:t>
            </a:r>
            <a:r>
              <a:rPr lang="en-US" sz="2400" dirty="0" smtClean="0"/>
              <a:t>.</a:t>
            </a:r>
          </a:p>
          <a:p>
            <a:r>
              <a:rPr lang="en-US" sz="2400" dirty="0" smtClean="0"/>
              <a:t>A </a:t>
            </a:r>
            <a:r>
              <a:rPr lang="en-US" sz="2400" b="1" dirty="0" smtClean="0">
                <a:latin typeface="Consolas" pitchFamily="49" charset="0"/>
              </a:rPr>
              <a:t>select</a:t>
            </a:r>
            <a:r>
              <a:rPr lang="en-US" sz="2400" dirty="0" smtClean="0"/>
              <a:t> may have a </a:t>
            </a:r>
            <a:r>
              <a:rPr lang="en-US" sz="2400" b="1" dirty="0" smtClean="0">
                <a:latin typeface="Consolas" pitchFamily="49" charset="0"/>
              </a:rPr>
              <a:t>default</a:t>
            </a:r>
            <a:r>
              <a:rPr lang="en-US" sz="2400" dirty="0" smtClean="0"/>
              <a:t>, which specifies what to do when none of the other communications can proceed immediately.</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Timer</a:t>
            </a:r>
            <a:endParaRPr lang="en-US" dirty="0"/>
          </a:p>
        </p:txBody>
      </p:sp>
      <p:sp>
        <p:nvSpPr>
          <p:cNvPr id="4" name="Content Placeholder 2"/>
          <p:cNvSpPr txBox="1">
            <a:spLocks/>
          </p:cNvSpPr>
          <p:nvPr/>
        </p:nvSpPr>
        <p:spPr bwMode="auto">
          <a:xfrm>
            <a:off x="457200" y="1600200"/>
            <a:ext cx="8229600" cy="4800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main</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"Started"</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go</a:t>
            </a:r>
            <a:r>
              <a:rPr lang="en-US" sz="2000" dirty="0" smtClean="0">
                <a:solidFill>
                  <a:srgbClr val="D4D4D4"/>
                </a:solidFill>
                <a:latin typeface="Consolas"/>
              </a:rPr>
              <a:t> </a:t>
            </a:r>
            <a:r>
              <a:rPr lang="en-US" sz="2000" dirty="0" smtClean="0">
                <a:solidFill>
                  <a:srgbClr val="DCDCAA"/>
                </a:solidFill>
                <a:latin typeface="Consolas"/>
              </a:rPr>
              <a:t>periodic</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time.</a:t>
            </a:r>
            <a:r>
              <a:rPr lang="en-US" sz="2000" dirty="0" err="1" smtClean="0">
                <a:solidFill>
                  <a:srgbClr val="DCDCAA"/>
                </a:solidFill>
                <a:latin typeface="Consolas"/>
              </a:rPr>
              <a:t>Sleep</a:t>
            </a:r>
            <a:r>
              <a:rPr lang="en-US" sz="2000" dirty="0" smtClean="0">
                <a:solidFill>
                  <a:srgbClr val="D4D4D4"/>
                </a:solidFill>
                <a:latin typeface="Consolas"/>
              </a:rPr>
              <a:t>(</a:t>
            </a:r>
            <a:r>
              <a:rPr lang="en-US" sz="2000" dirty="0" smtClean="0">
                <a:solidFill>
                  <a:srgbClr val="B5CEA8"/>
                </a:solidFill>
                <a:latin typeface="Consolas"/>
              </a:rPr>
              <a:t>5</a:t>
            </a:r>
            <a:r>
              <a:rPr lang="en-US" sz="2000" dirty="0" smtClean="0">
                <a:solidFill>
                  <a:srgbClr val="D4D4D4"/>
                </a:solidFill>
                <a:latin typeface="Consolas"/>
              </a:rPr>
              <a:t> * </a:t>
            </a:r>
            <a:r>
              <a:rPr lang="en-US" sz="2000" dirty="0" err="1" smtClean="0">
                <a:solidFill>
                  <a:srgbClr val="D4D4D4"/>
                </a:solidFill>
                <a:latin typeface="Consolas"/>
              </a:rPr>
              <a:t>time.Second</a:t>
            </a:r>
            <a:r>
              <a:rPr lang="en-US" sz="2000" dirty="0" smtClean="0">
                <a:solidFill>
                  <a:srgbClr val="D4D4D4"/>
                </a:solidFill>
                <a:latin typeface="Consolas"/>
              </a:rPr>
              <a:t>) </a:t>
            </a:r>
            <a:r>
              <a:rPr lang="en-US" sz="2000" dirty="0" smtClean="0">
                <a:solidFill>
                  <a:srgbClr val="6A9955"/>
                </a:solidFill>
                <a:latin typeface="Consolas"/>
              </a:rPr>
              <a:t>// wait for a while so we can observe what ticker does</a:t>
            </a:r>
            <a:endParaRPr lang="en-US" sz="2000" dirty="0" smtClean="0">
              <a:solidFill>
                <a:srgbClr val="D4D4D4"/>
              </a:solidFill>
              <a:latin typeface="Consolas"/>
            </a:endParaRPr>
          </a:p>
          <a:p>
            <a:r>
              <a:rPr lang="en-US" sz="2000" dirty="0" smtClean="0">
                <a:solidFill>
                  <a:srgbClr val="D4D4D4"/>
                </a:solidFill>
                <a:latin typeface="Consolas"/>
              </a:rPr>
              <a:t>}</a:t>
            </a:r>
          </a:p>
          <a:p>
            <a:r>
              <a:rPr lang="en-US" sz="2000" dirty="0" smtClean="0">
                <a:solidFill>
                  <a:srgbClr val="D4D4D4"/>
                </a:solidFill>
                <a:latin typeface="Consolas"/>
              </a:rPr>
              <a:t/>
            </a:r>
            <a:br>
              <a:rPr lang="en-US" sz="2000" dirty="0" smtClean="0">
                <a:solidFill>
                  <a:srgbClr val="D4D4D4"/>
                </a:solidFill>
                <a:latin typeface="Consolas"/>
              </a:rPr>
            </a:br>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periodic</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smtClean="0">
                <a:solidFill>
                  <a:srgbClr val="9CDCFE"/>
                </a:solidFill>
                <a:latin typeface="Consolas"/>
              </a:rPr>
              <a:t>count</a:t>
            </a:r>
            <a:r>
              <a:rPr lang="en-US" sz="2000" dirty="0" smtClean="0">
                <a:solidFill>
                  <a:srgbClr val="D4D4D4"/>
                </a:solidFill>
                <a:latin typeface="Consolas"/>
              </a:rPr>
              <a:t> := </a:t>
            </a:r>
            <a:r>
              <a:rPr lang="en-US" sz="2000" dirty="0" smtClean="0">
                <a:solidFill>
                  <a:srgbClr val="B5CEA8"/>
                </a:solidFill>
                <a:latin typeface="Consolas"/>
              </a:rPr>
              <a:t>1</a:t>
            </a:r>
            <a:endParaRPr lang="en-US" sz="2000" dirty="0" smtClean="0">
              <a:solidFill>
                <a:srgbClr val="D4D4D4"/>
              </a:solidFill>
              <a:latin typeface="Consolas"/>
            </a:endParaRPr>
          </a:p>
          <a:p>
            <a:r>
              <a:rPr lang="en-US" sz="2000" dirty="0" smtClean="0">
                <a:solidFill>
                  <a:srgbClr val="D4D4D4"/>
                </a:solidFill>
                <a:latin typeface="Consolas"/>
              </a:rPr>
              <a:t>    </a:t>
            </a:r>
            <a:r>
              <a:rPr lang="en-US" sz="2000" dirty="0" smtClean="0">
                <a:solidFill>
                  <a:srgbClr val="C586C0"/>
                </a:solidFill>
                <a:latin typeface="Consolas"/>
              </a:rPr>
              <a:t>for</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"Tick"</a:t>
            </a:r>
            <a:r>
              <a:rPr lang="en-US" sz="2000" dirty="0" smtClean="0">
                <a:solidFill>
                  <a:srgbClr val="D4D4D4"/>
                </a:solidFill>
                <a:latin typeface="Consolas"/>
              </a:rPr>
              <a:t>, count)</a:t>
            </a:r>
          </a:p>
          <a:p>
            <a:r>
              <a:rPr lang="en-US" sz="2000" dirty="0" smtClean="0">
                <a:solidFill>
                  <a:srgbClr val="D4D4D4"/>
                </a:solidFill>
                <a:latin typeface="Consolas"/>
              </a:rPr>
              <a:t>        count++</a:t>
            </a:r>
          </a:p>
          <a:p>
            <a:r>
              <a:rPr lang="en-US" sz="2000" dirty="0" smtClean="0">
                <a:solidFill>
                  <a:srgbClr val="D4D4D4"/>
                </a:solidFill>
                <a:latin typeface="Consolas"/>
              </a:rPr>
              <a:t>        </a:t>
            </a:r>
            <a:r>
              <a:rPr lang="en-US" sz="2000" dirty="0" err="1" smtClean="0">
                <a:solidFill>
                  <a:srgbClr val="D4D4D4"/>
                </a:solidFill>
                <a:latin typeface="Consolas"/>
              </a:rPr>
              <a:t>time.</a:t>
            </a:r>
            <a:r>
              <a:rPr lang="en-US" sz="2000" dirty="0" err="1" smtClean="0">
                <a:solidFill>
                  <a:srgbClr val="DCDCAA"/>
                </a:solidFill>
                <a:latin typeface="Consolas"/>
              </a:rPr>
              <a:t>Sleep</a:t>
            </a:r>
            <a:r>
              <a:rPr lang="en-US" sz="2000" dirty="0" smtClean="0">
                <a:solidFill>
                  <a:srgbClr val="D4D4D4"/>
                </a:solidFill>
                <a:latin typeface="Consolas"/>
              </a:rPr>
              <a:t>(</a:t>
            </a:r>
            <a:r>
              <a:rPr lang="en-US" sz="2000" dirty="0" smtClean="0">
                <a:solidFill>
                  <a:srgbClr val="B5CEA8"/>
                </a:solidFill>
                <a:latin typeface="Consolas"/>
              </a:rPr>
              <a:t>1</a:t>
            </a:r>
            <a:r>
              <a:rPr lang="en-US" sz="2000" dirty="0" smtClean="0">
                <a:solidFill>
                  <a:srgbClr val="D4D4D4"/>
                </a:solidFill>
                <a:latin typeface="Consolas"/>
              </a:rPr>
              <a:t> * </a:t>
            </a:r>
            <a:r>
              <a:rPr lang="en-US" sz="2000" dirty="0" err="1" smtClean="0">
                <a:solidFill>
                  <a:srgbClr val="D4D4D4"/>
                </a:solidFill>
                <a:latin typeface="Consolas"/>
              </a:rPr>
              <a:t>time.Second</a:t>
            </a:r>
            <a:r>
              <a:rPr lang="en-US" sz="2000" dirty="0" smtClean="0">
                <a:solidFill>
                  <a:srgbClr val="D4D4D4"/>
                </a:solidFill>
                <a:latin typeface="Consolas"/>
              </a:rPr>
              <a:t>)</a:t>
            </a:r>
          </a:p>
          <a:p>
            <a:r>
              <a:rPr lang="en-US" sz="2000" dirty="0" smtClean="0">
                <a:solidFill>
                  <a:srgbClr val="D4D4D4"/>
                </a:solidFill>
                <a:latin typeface="Consolas"/>
              </a:rPr>
              <a:t>    }</a:t>
            </a:r>
          </a:p>
          <a:p>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Stoppable Timer (I)</a:t>
            </a:r>
            <a:endParaRPr lang="en-US" dirty="0"/>
          </a:p>
        </p:txBody>
      </p:sp>
      <p:sp>
        <p:nvSpPr>
          <p:cNvPr id="4" name="Content Placeholder 2"/>
          <p:cNvSpPr txBox="1">
            <a:spLocks/>
          </p:cNvSpPr>
          <p:nvPr/>
        </p:nvSpPr>
        <p:spPr bwMode="auto">
          <a:xfrm>
            <a:off x="457200" y="1600200"/>
            <a:ext cx="8229600" cy="39624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smtClean="0">
                <a:solidFill>
                  <a:srgbClr val="9CDCFE"/>
                </a:solidFill>
                <a:latin typeface="Consolas"/>
              </a:rPr>
              <a:t>done</a:t>
            </a:r>
            <a:r>
              <a:rPr lang="en-US" sz="2000" dirty="0" smtClean="0">
                <a:solidFill>
                  <a:srgbClr val="D4D4D4"/>
                </a:solidFill>
                <a:latin typeface="Consolas"/>
              </a:rPr>
              <a:t> </a:t>
            </a:r>
            <a:r>
              <a:rPr lang="en-US" sz="2000" dirty="0" err="1" smtClean="0">
                <a:solidFill>
                  <a:srgbClr val="4EC9B0"/>
                </a:solidFill>
                <a:latin typeface="Consolas"/>
              </a:rPr>
              <a:t>bool</a:t>
            </a:r>
            <a:endParaRPr lang="en-US" sz="2000" dirty="0" smtClean="0">
              <a:solidFill>
                <a:srgbClr val="D4D4D4"/>
              </a:solidFill>
              <a:latin typeface="Consolas"/>
            </a:endParaRPr>
          </a:p>
          <a:p>
            <a:r>
              <a:rPr lang="en-US" sz="2000" dirty="0" err="1" smtClean="0">
                <a:solidFill>
                  <a:srgbClr val="569CD6"/>
                </a:solidFill>
                <a:latin typeface="Consolas"/>
              </a:rPr>
              <a:t>var</a:t>
            </a:r>
            <a:r>
              <a:rPr lang="en-US" sz="2000" dirty="0" smtClean="0">
                <a:solidFill>
                  <a:srgbClr val="D4D4D4"/>
                </a:solidFill>
                <a:latin typeface="Consolas"/>
              </a:rPr>
              <a:t> </a:t>
            </a:r>
            <a:r>
              <a:rPr lang="en-US" sz="2000" dirty="0" smtClean="0">
                <a:solidFill>
                  <a:srgbClr val="9CDCFE"/>
                </a:solidFill>
                <a:latin typeface="Consolas"/>
              </a:rPr>
              <a:t>mu</a:t>
            </a:r>
            <a:r>
              <a:rPr lang="en-US" sz="2000" dirty="0" smtClean="0">
                <a:solidFill>
                  <a:srgbClr val="D4D4D4"/>
                </a:solidFill>
                <a:latin typeface="Consolas"/>
              </a:rPr>
              <a:t> </a:t>
            </a:r>
            <a:r>
              <a:rPr lang="en-US" sz="2000" dirty="0" err="1" smtClean="0">
                <a:solidFill>
                  <a:srgbClr val="D4D4D4"/>
                </a:solidFill>
                <a:latin typeface="Consolas"/>
              </a:rPr>
              <a:t>sync.Mutex</a:t>
            </a:r>
            <a:endParaRPr lang="en-US" sz="2000" dirty="0" smtClean="0">
              <a:solidFill>
                <a:srgbClr val="D4D4D4"/>
              </a:solidFill>
              <a:latin typeface="Consolas"/>
            </a:endParaRPr>
          </a:p>
          <a:p>
            <a:r>
              <a:rPr lang="en-US" sz="2000" dirty="0" smtClean="0">
                <a:solidFill>
                  <a:srgbClr val="D4D4D4"/>
                </a:solidFill>
                <a:latin typeface="Consolas"/>
              </a:rPr>
              <a:t/>
            </a:r>
            <a:br>
              <a:rPr lang="en-US" sz="2000" dirty="0" smtClean="0">
                <a:solidFill>
                  <a:srgbClr val="D4D4D4"/>
                </a:solidFill>
                <a:latin typeface="Consolas"/>
              </a:rPr>
            </a:br>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main</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"Started"</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go</a:t>
            </a:r>
            <a:r>
              <a:rPr lang="en-US" sz="2000" dirty="0" smtClean="0">
                <a:solidFill>
                  <a:srgbClr val="D4D4D4"/>
                </a:solidFill>
                <a:latin typeface="Consolas"/>
              </a:rPr>
              <a:t> </a:t>
            </a:r>
            <a:r>
              <a:rPr lang="en-US" sz="2000" dirty="0" smtClean="0">
                <a:solidFill>
                  <a:srgbClr val="DCDCAA"/>
                </a:solidFill>
                <a:latin typeface="Consolas"/>
              </a:rPr>
              <a:t>periodic</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time.</a:t>
            </a:r>
            <a:r>
              <a:rPr lang="en-US" sz="2000" dirty="0" err="1" smtClean="0">
                <a:solidFill>
                  <a:srgbClr val="DCDCAA"/>
                </a:solidFill>
                <a:latin typeface="Consolas"/>
              </a:rPr>
              <a:t>Sleep</a:t>
            </a:r>
            <a:r>
              <a:rPr lang="en-US" sz="2000" dirty="0" smtClean="0">
                <a:solidFill>
                  <a:srgbClr val="D4D4D4"/>
                </a:solidFill>
                <a:latin typeface="Consolas"/>
              </a:rPr>
              <a:t>(</a:t>
            </a:r>
            <a:r>
              <a:rPr lang="en-US" sz="2000" dirty="0" smtClean="0">
                <a:solidFill>
                  <a:srgbClr val="B5CEA8"/>
                </a:solidFill>
                <a:latin typeface="Consolas"/>
              </a:rPr>
              <a:t>3</a:t>
            </a:r>
            <a:r>
              <a:rPr lang="en-US" sz="2000" dirty="0" smtClean="0">
                <a:solidFill>
                  <a:srgbClr val="D4D4D4"/>
                </a:solidFill>
                <a:latin typeface="Consolas"/>
              </a:rPr>
              <a:t> * </a:t>
            </a:r>
            <a:r>
              <a:rPr lang="en-US" sz="2000" dirty="0" err="1" smtClean="0">
                <a:solidFill>
                  <a:srgbClr val="D4D4D4"/>
                </a:solidFill>
                <a:latin typeface="Consolas"/>
              </a:rPr>
              <a:t>time.Second</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mu.</a:t>
            </a:r>
            <a:r>
              <a:rPr lang="en-US" sz="2000" dirty="0" err="1" smtClean="0">
                <a:solidFill>
                  <a:srgbClr val="DCDCAA"/>
                </a:solidFill>
                <a:latin typeface="Consolas"/>
              </a:rPr>
              <a:t>Lock</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9CDCFE"/>
                </a:solidFill>
                <a:latin typeface="Consolas"/>
              </a:rPr>
              <a:t>done</a:t>
            </a:r>
            <a:r>
              <a:rPr lang="en-US" sz="2000" dirty="0" smtClean="0">
                <a:solidFill>
                  <a:srgbClr val="D4D4D4"/>
                </a:solidFill>
                <a:latin typeface="Consolas"/>
              </a:rPr>
              <a:t> = </a:t>
            </a:r>
            <a:r>
              <a:rPr lang="en-US" sz="2000" dirty="0" smtClean="0">
                <a:solidFill>
                  <a:srgbClr val="569CD6"/>
                </a:solidFill>
                <a:latin typeface="Consolas"/>
              </a:rPr>
              <a:t>true</a:t>
            </a:r>
            <a:endParaRPr lang="en-US" sz="2000" dirty="0" smtClean="0">
              <a:solidFill>
                <a:srgbClr val="D4D4D4"/>
              </a:solidFill>
              <a:latin typeface="Consolas"/>
            </a:endParaRPr>
          </a:p>
          <a:p>
            <a:r>
              <a:rPr lang="en-US" sz="2000" dirty="0" smtClean="0">
                <a:solidFill>
                  <a:srgbClr val="D4D4D4"/>
                </a:solidFill>
                <a:latin typeface="Consolas"/>
              </a:rPr>
              <a:t>    </a:t>
            </a:r>
            <a:r>
              <a:rPr lang="en-US" sz="2000" dirty="0" err="1" smtClean="0">
                <a:solidFill>
                  <a:srgbClr val="D4D4D4"/>
                </a:solidFill>
                <a:latin typeface="Consolas"/>
              </a:rPr>
              <a:t>mu.</a:t>
            </a:r>
            <a:r>
              <a:rPr lang="en-US" sz="2000" dirty="0" err="1" smtClean="0">
                <a:solidFill>
                  <a:srgbClr val="DCDCAA"/>
                </a:solidFill>
                <a:latin typeface="Consolas"/>
              </a:rPr>
              <a:t>Unlock</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"Timer stopped."</a:t>
            </a:r>
            <a:r>
              <a:rPr lang="en-US" sz="2000" dirty="0" smtClean="0">
                <a:solidFill>
                  <a:srgbClr val="D4D4D4"/>
                </a:solidFill>
                <a:latin typeface="Consolas"/>
              </a:rPr>
              <a:t>)</a:t>
            </a:r>
          </a:p>
          <a:p>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Stoppable Timer (II)</a:t>
            </a:r>
            <a:endParaRPr lang="en-US" dirty="0"/>
          </a:p>
        </p:txBody>
      </p:sp>
      <p:sp>
        <p:nvSpPr>
          <p:cNvPr id="4" name="Content Placeholder 2"/>
          <p:cNvSpPr txBox="1">
            <a:spLocks/>
          </p:cNvSpPr>
          <p:nvPr/>
        </p:nvSpPr>
        <p:spPr bwMode="auto">
          <a:xfrm>
            <a:off x="457200" y="1981200"/>
            <a:ext cx="8229600" cy="4191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periodic</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smtClean="0">
                <a:solidFill>
                  <a:srgbClr val="9CDCFE"/>
                </a:solidFill>
                <a:latin typeface="Consolas"/>
              </a:rPr>
              <a:t>count</a:t>
            </a:r>
            <a:r>
              <a:rPr lang="en-US" sz="2000" dirty="0" smtClean="0">
                <a:solidFill>
                  <a:srgbClr val="D4D4D4"/>
                </a:solidFill>
                <a:latin typeface="Consolas"/>
              </a:rPr>
              <a:t> := </a:t>
            </a:r>
            <a:r>
              <a:rPr lang="en-US" sz="2000" dirty="0" smtClean="0">
                <a:solidFill>
                  <a:srgbClr val="B5CEA8"/>
                </a:solidFill>
                <a:latin typeface="Consolas"/>
              </a:rPr>
              <a:t>1</a:t>
            </a:r>
            <a:endParaRPr lang="en-US" sz="2000" dirty="0" smtClean="0">
              <a:solidFill>
                <a:srgbClr val="D4D4D4"/>
              </a:solidFill>
              <a:latin typeface="Consolas"/>
            </a:endParaRPr>
          </a:p>
          <a:p>
            <a:r>
              <a:rPr lang="en-US" sz="2000" dirty="0" smtClean="0">
                <a:solidFill>
                  <a:srgbClr val="D4D4D4"/>
                </a:solidFill>
                <a:latin typeface="Consolas"/>
              </a:rPr>
              <a:t>    </a:t>
            </a:r>
            <a:r>
              <a:rPr lang="en-US" sz="2000" dirty="0" smtClean="0">
                <a:solidFill>
                  <a:srgbClr val="C586C0"/>
                </a:solidFill>
                <a:latin typeface="Consolas"/>
              </a:rPr>
              <a:t>for</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"Tick"</a:t>
            </a:r>
            <a:r>
              <a:rPr lang="en-US" sz="2000" dirty="0" smtClean="0">
                <a:solidFill>
                  <a:srgbClr val="D4D4D4"/>
                </a:solidFill>
                <a:latin typeface="Consolas"/>
              </a:rPr>
              <a:t>, count)</a:t>
            </a:r>
          </a:p>
          <a:p>
            <a:r>
              <a:rPr lang="en-US" sz="2000" dirty="0" smtClean="0">
                <a:solidFill>
                  <a:srgbClr val="D4D4D4"/>
                </a:solidFill>
                <a:latin typeface="Consolas"/>
              </a:rPr>
              <a:t>        count++</a:t>
            </a:r>
          </a:p>
          <a:p>
            <a:r>
              <a:rPr lang="en-US" sz="2000" dirty="0" smtClean="0">
                <a:solidFill>
                  <a:srgbClr val="D4D4D4"/>
                </a:solidFill>
                <a:latin typeface="Consolas"/>
              </a:rPr>
              <a:t>        </a:t>
            </a:r>
            <a:r>
              <a:rPr lang="en-US" sz="2000" dirty="0" err="1" smtClean="0">
                <a:solidFill>
                  <a:srgbClr val="D4D4D4"/>
                </a:solidFill>
                <a:latin typeface="Consolas"/>
              </a:rPr>
              <a:t>time.</a:t>
            </a:r>
            <a:r>
              <a:rPr lang="en-US" sz="2000" dirty="0" err="1" smtClean="0">
                <a:solidFill>
                  <a:srgbClr val="DCDCAA"/>
                </a:solidFill>
                <a:latin typeface="Consolas"/>
              </a:rPr>
              <a:t>Sleep</a:t>
            </a:r>
            <a:r>
              <a:rPr lang="en-US" sz="2000" dirty="0" smtClean="0">
                <a:solidFill>
                  <a:srgbClr val="D4D4D4"/>
                </a:solidFill>
                <a:latin typeface="Consolas"/>
              </a:rPr>
              <a:t>(</a:t>
            </a:r>
            <a:r>
              <a:rPr lang="en-US" sz="2000" dirty="0" smtClean="0">
                <a:solidFill>
                  <a:srgbClr val="B5CEA8"/>
                </a:solidFill>
                <a:latin typeface="Consolas"/>
              </a:rPr>
              <a:t>1</a:t>
            </a:r>
            <a:r>
              <a:rPr lang="en-US" sz="2000" dirty="0" smtClean="0">
                <a:solidFill>
                  <a:srgbClr val="D4D4D4"/>
                </a:solidFill>
                <a:latin typeface="Consolas"/>
              </a:rPr>
              <a:t> * </a:t>
            </a:r>
            <a:r>
              <a:rPr lang="en-US" sz="2000" dirty="0" err="1" smtClean="0">
                <a:solidFill>
                  <a:srgbClr val="D4D4D4"/>
                </a:solidFill>
                <a:latin typeface="Consolas"/>
              </a:rPr>
              <a:t>time.Second</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mu.</a:t>
            </a:r>
            <a:r>
              <a:rPr lang="en-US" sz="2000" dirty="0" err="1" smtClean="0">
                <a:solidFill>
                  <a:srgbClr val="DCDCAA"/>
                </a:solidFill>
                <a:latin typeface="Consolas"/>
              </a:rPr>
              <a:t>Lock</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C586C0"/>
                </a:solidFill>
                <a:latin typeface="Consolas"/>
              </a:rPr>
              <a:t>if</a:t>
            </a:r>
            <a:r>
              <a:rPr lang="en-US" sz="2000" dirty="0" smtClean="0">
                <a:solidFill>
                  <a:srgbClr val="D4D4D4"/>
                </a:solidFill>
                <a:latin typeface="Consolas"/>
              </a:rPr>
              <a:t> done {</a:t>
            </a:r>
          </a:p>
          <a:p>
            <a:r>
              <a:rPr lang="en-US" sz="2000" dirty="0" smtClean="0">
                <a:solidFill>
                  <a:srgbClr val="D4D4D4"/>
                </a:solidFill>
                <a:latin typeface="Consolas"/>
              </a:rPr>
              <a:t>            </a:t>
            </a:r>
            <a:r>
              <a:rPr lang="en-US" sz="2000" dirty="0" smtClean="0">
                <a:solidFill>
                  <a:srgbClr val="C586C0"/>
                </a:solidFill>
                <a:latin typeface="Consolas"/>
              </a:rPr>
              <a:t>return</a:t>
            </a:r>
            <a:endParaRPr lang="en-US" sz="2000" dirty="0" smtClean="0">
              <a:solidFill>
                <a:srgbClr val="D4D4D4"/>
              </a:solidFill>
              <a:latin typeface="Consolas"/>
            </a:endParaRPr>
          </a:p>
          <a:p>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mu.</a:t>
            </a:r>
            <a:r>
              <a:rPr lang="en-US" sz="2000" dirty="0" err="1" smtClean="0">
                <a:solidFill>
                  <a:srgbClr val="DCDCAA"/>
                </a:solidFill>
                <a:latin typeface="Consolas"/>
              </a:rPr>
              <a:t>Unlock</a:t>
            </a:r>
            <a:r>
              <a:rPr lang="en-US" sz="2000" dirty="0" smtClean="0">
                <a:solidFill>
                  <a:srgbClr val="D4D4D4"/>
                </a:solidFill>
                <a:latin typeface="Consolas"/>
              </a:rPr>
              <a:t>()</a:t>
            </a:r>
          </a:p>
          <a:p>
            <a:r>
              <a:rPr lang="en-US" sz="2000" dirty="0" smtClean="0">
                <a:solidFill>
                  <a:srgbClr val="D4D4D4"/>
                </a:solidFill>
                <a:latin typeface="Consolas"/>
              </a:rPr>
              <a:t>    }</a:t>
            </a:r>
          </a:p>
          <a:p>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Ticker</a:t>
            </a:r>
            <a:endParaRPr lang="en-US" dirty="0"/>
          </a:p>
        </p:txBody>
      </p:sp>
      <p:sp>
        <p:nvSpPr>
          <p:cNvPr id="4" name="Content Placeholder 2"/>
          <p:cNvSpPr txBox="1">
            <a:spLocks/>
          </p:cNvSpPr>
          <p:nvPr/>
        </p:nvSpPr>
        <p:spPr bwMode="auto">
          <a:xfrm>
            <a:off x="457200" y="1447800"/>
            <a:ext cx="8229600" cy="5029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ticker</a:t>
            </a:r>
            <a:r>
              <a:rPr lang="en-US" sz="1600" dirty="0" smtClean="0">
                <a:solidFill>
                  <a:srgbClr val="D4D4D4"/>
                </a:solidFill>
                <a:latin typeface="Consolas"/>
              </a:rPr>
              <a:t> := </a:t>
            </a:r>
            <a:r>
              <a:rPr lang="en-US" sz="1600" dirty="0" err="1" smtClean="0">
                <a:solidFill>
                  <a:srgbClr val="D4D4D4"/>
                </a:solidFill>
                <a:latin typeface="Consolas"/>
              </a:rPr>
              <a:t>time.</a:t>
            </a:r>
            <a:r>
              <a:rPr lang="en-US" sz="1600" dirty="0" err="1" smtClean="0">
                <a:solidFill>
                  <a:srgbClr val="DCDCAA"/>
                </a:solidFill>
                <a:latin typeface="Consolas"/>
              </a:rPr>
              <a:t>NewTicker</a:t>
            </a:r>
            <a:r>
              <a:rPr lang="en-US" sz="1600" dirty="0" smtClean="0">
                <a:solidFill>
                  <a:srgbClr val="D4D4D4"/>
                </a:solidFill>
                <a:latin typeface="Consolas"/>
              </a:rPr>
              <a:t>(</a:t>
            </a:r>
            <a:r>
              <a:rPr lang="en-US" sz="1600" dirty="0" smtClean="0">
                <a:solidFill>
                  <a:srgbClr val="B5CEA8"/>
                </a:solidFill>
                <a:latin typeface="Consolas"/>
              </a:rPr>
              <a:t>1</a:t>
            </a:r>
            <a:r>
              <a:rPr lang="en-US" sz="1600" dirty="0" smtClean="0">
                <a:solidFill>
                  <a:srgbClr val="D4D4D4"/>
                </a:solidFill>
                <a:latin typeface="Consolas"/>
              </a:rPr>
              <a:t> * </a:t>
            </a:r>
            <a:r>
              <a:rPr lang="en-US" sz="1600" dirty="0" err="1" smtClean="0">
                <a:solidFill>
                  <a:srgbClr val="D4D4D4"/>
                </a:solidFill>
                <a:latin typeface="Consolas"/>
              </a:rPr>
              <a:t>time.Second</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9CDCFE"/>
                </a:solidFill>
                <a:latin typeface="Consolas"/>
              </a:rPr>
              <a:t>done</a:t>
            </a:r>
            <a:r>
              <a:rPr lang="en-US" sz="1600" dirty="0" smtClean="0">
                <a:solidFill>
                  <a:srgbClr val="D4D4D4"/>
                </a:solidFill>
                <a:latin typeface="Consolas"/>
              </a:rPr>
              <a:t> := </a:t>
            </a:r>
            <a:r>
              <a:rPr lang="en-US" sz="1600" dirty="0" smtClean="0">
                <a:solidFill>
                  <a:srgbClr val="DCDCAA"/>
                </a:solidFill>
                <a:latin typeface="Consolas"/>
              </a:rPr>
              <a:t>make</a:t>
            </a:r>
            <a:r>
              <a:rPr lang="en-US" sz="1600" dirty="0" smtClean="0">
                <a:solidFill>
                  <a:srgbClr val="D4D4D4"/>
                </a:solidFill>
                <a:latin typeface="Consolas"/>
              </a:rPr>
              <a:t>(</a:t>
            </a:r>
            <a:r>
              <a:rPr lang="en-US" sz="1600" dirty="0" err="1" smtClean="0">
                <a:solidFill>
                  <a:srgbClr val="569CD6"/>
                </a:solidFill>
                <a:latin typeface="Consolas"/>
              </a:rPr>
              <a:t>chan</a:t>
            </a:r>
            <a:r>
              <a:rPr lang="en-US" sz="1600" dirty="0" smtClean="0">
                <a:solidFill>
                  <a:srgbClr val="D4D4D4"/>
                </a:solidFill>
                <a:latin typeface="Consolas"/>
              </a:rPr>
              <a:t> </a:t>
            </a:r>
            <a:r>
              <a:rPr lang="en-US" sz="1600" dirty="0" err="1" smtClean="0">
                <a:solidFill>
                  <a:srgbClr val="4EC9B0"/>
                </a:solidFill>
                <a:latin typeface="Consolas"/>
              </a:rPr>
              <a:t>bool</a:t>
            </a:r>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smtClean="0">
                <a:solidFill>
                  <a:srgbClr val="C586C0"/>
                </a:solidFill>
                <a:latin typeface="Consolas"/>
              </a:rPr>
              <a:t>go</a:t>
            </a:r>
            <a:r>
              <a:rPr lang="en-US" sz="1600" dirty="0" smtClean="0">
                <a:solidFill>
                  <a:srgbClr val="D4D4D4"/>
                </a:solidFill>
                <a:latin typeface="Consolas"/>
              </a:rPr>
              <a:t> </a:t>
            </a:r>
            <a:r>
              <a:rPr lang="en-US" sz="1600" dirty="0" err="1" smtClean="0">
                <a:solidFill>
                  <a:srgbClr val="569CD6"/>
                </a:solidFill>
                <a:latin typeface="Consolas"/>
              </a:rPr>
              <a:t>func</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select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case</a:t>
            </a:r>
            <a:r>
              <a:rPr lang="en-US" sz="1600" dirty="0" smtClean="0">
                <a:solidFill>
                  <a:srgbClr val="D4D4D4"/>
                </a:solidFill>
                <a:latin typeface="Consolas"/>
              </a:rPr>
              <a:t> &lt;-done:</a:t>
            </a:r>
          </a:p>
          <a:p>
            <a:r>
              <a:rPr lang="en-US" sz="1600" dirty="0" smtClean="0">
                <a:solidFill>
                  <a:srgbClr val="D4D4D4"/>
                </a:solidFill>
                <a:latin typeface="Consolas"/>
              </a:rPr>
              <a:t>                </a:t>
            </a:r>
            <a:r>
              <a:rPr lang="en-US" sz="1600" dirty="0" smtClean="0">
                <a:solidFill>
                  <a:srgbClr val="C586C0"/>
                </a:solidFill>
                <a:latin typeface="Consolas"/>
              </a:rPr>
              <a:t>return</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586C0"/>
                </a:solidFill>
                <a:latin typeface="Consolas"/>
              </a:rPr>
              <a:t>case</a:t>
            </a:r>
            <a:r>
              <a:rPr lang="en-US" sz="1600" dirty="0" smtClean="0">
                <a:solidFill>
                  <a:srgbClr val="D4D4D4"/>
                </a:solidFill>
                <a:latin typeface="Consolas"/>
              </a:rPr>
              <a:t> </a:t>
            </a:r>
            <a:r>
              <a:rPr lang="en-US" sz="1600" dirty="0" smtClean="0">
                <a:solidFill>
                  <a:srgbClr val="9CDCFE"/>
                </a:solidFill>
                <a:latin typeface="Consolas"/>
              </a:rPr>
              <a:t>t</a:t>
            </a:r>
            <a:r>
              <a:rPr lang="en-US" sz="1600" dirty="0" smtClean="0">
                <a:solidFill>
                  <a:srgbClr val="D4D4D4"/>
                </a:solidFill>
                <a:latin typeface="Consolas"/>
              </a:rPr>
              <a:t> := &lt;-</a:t>
            </a:r>
            <a:r>
              <a:rPr lang="en-US" sz="1600" dirty="0" err="1" smtClean="0">
                <a:solidFill>
                  <a:srgbClr val="D4D4D4"/>
                </a:solidFill>
                <a:latin typeface="Consolas"/>
              </a:rPr>
              <a:t>ticker.C</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smtClean="0">
                <a:solidFill>
                  <a:srgbClr val="CE9178"/>
                </a:solidFill>
                <a:latin typeface="Consolas"/>
              </a:rPr>
              <a:t>"Tick at"</a:t>
            </a:r>
            <a:r>
              <a:rPr lang="en-US" sz="1600" dirty="0" smtClean="0">
                <a:solidFill>
                  <a:srgbClr val="D4D4D4"/>
                </a:solidFill>
                <a:latin typeface="Consolas"/>
              </a:rPr>
              <a:t>, t)</a:t>
            </a:r>
          </a:p>
          <a:p>
            <a:r>
              <a:rPr lang="en-US" sz="1600" dirty="0" smtClean="0">
                <a:solidFill>
                  <a:srgbClr val="D4D4D4"/>
                </a:solidFill>
                <a:latin typeface="Consolas"/>
              </a:rPr>
              <a:t>            }</a:t>
            </a:r>
          </a:p>
          <a:p>
            <a:r>
              <a:rPr lang="en-US" sz="1600" dirty="0" smtClean="0">
                <a:solidFill>
                  <a:srgbClr val="D4D4D4"/>
                </a:solidFill>
                <a:latin typeface="Consolas"/>
              </a:rPr>
              <a:t>        }</a:t>
            </a:r>
          </a:p>
          <a:p>
            <a:r>
              <a:rPr lang="en-US" sz="1600" dirty="0" smtClean="0">
                <a:solidFill>
                  <a:srgbClr val="D4D4D4"/>
                </a:solidFill>
                <a:latin typeface="Consolas"/>
              </a:rPr>
              <a:t>    }()</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D4D4D4"/>
                </a:solidFill>
                <a:latin typeface="Consolas"/>
              </a:rPr>
              <a:t>    </a:t>
            </a:r>
            <a:r>
              <a:rPr lang="en-US" sz="1600" dirty="0" err="1" smtClean="0">
                <a:solidFill>
                  <a:srgbClr val="D4D4D4"/>
                </a:solidFill>
                <a:latin typeface="Consolas"/>
              </a:rPr>
              <a:t>time.</a:t>
            </a:r>
            <a:r>
              <a:rPr lang="en-US" sz="1600" dirty="0" err="1" smtClean="0">
                <a:solidFill>
                  <a:srgbClr val="DCDCAA"/>
                </a:solidFill>
                <a:latin typeface="Consolas"/>
              </a:rPr>
              <a:t>Sleep</a:t>
            </a:r>
            <a:r>
              <a:rPr lang="en-US" sz="1600" dirty="0" smtClean="0">
                <a:solidFill>
                  <a:srgbClr val="D4D4D4"/>
                </a:solidFill>
                <a:latin typeface="Consolas"/>
              </a:rPr>
              <a:t>(</a:t>
            </a:r>
            <a:r>
              <a:rPr lang="en-US" sz="1600" dirty="0" smtClean="0">
                <a:solidFill>
                  <a:srgbClr val="B5CEA8"/>
                </a:solidFill>
                <a:latin typeface="Consolas"/>
              </a:rPr>
              <a:t>5</a:t>
            </a:r>
            <a:r>
              <a:rPr lang="en-US" sz="1600" dirty="0" smtClean="0">
                <a:solidFill>
                  <a:srgbClr val="D4D4D4"/>
                </a:solidFill>
                <a:latin typeface="Consolas"/>
              </a:rPr>
              <a:t> * </a:t>
            </a:r>
            <a:r>
              <a:rPr lang="en-US" sz="1600" dirty="0" err="1" smtClean="0">
                <a:solidFill>
                  <a:srgbClr val="D4D4D4"/>
                </a:solidFill>
                <a:latin typeface="Consolas"/>
              </a:rPr>
              <a:t>time.Second</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D4D4D4"/>
                </a:solidFill>
                <a:latin typeface="Consolas"/>
              </a:rPr>
              <a:t>ticker.</a:t>
            </a:r>
            <a:r>
              <a:rPr lang="en-US" sz="1600" dirty="0" err="1" smtClean="0">
                <a:solidFill>
                  <a:srgbClr val="DCDCAA"/>
                </a:solidFill>
                <a:latin typeface="Consolas"/>
              </a:rPr>
              <a:t>Stop</a:t>
            </a:r>
            <a:r>
              <a:rPr lang="en-US" sz="1600" dirty="0" smtClean="0">
                <a:solidFill>
                  <a:srgbClr val="D4D4D4"/>
                </a:solidFill>
                <a:latin typeface="Consolas"/>
              </a:rPr>
              <a:t>()</a:t>
            </a:r>
          </a:p>
          <a:p>
            <a:r>
              <a:rPr lang="en-US" sz="1600" dirty="0" smtClean="0">
                <a:solidFill>
                  <a:srgbClr val="D4D4D4"/>
                </a:solidFill>
                <a:latin typeface="Consolas"/>
              </a:rPr>
              <a:t>    done &lt;- </a:t>
            </a:r>
            <a:r>
              <a:rPr lang="en-US" sz="1600" dirty="0" smtClean="0">
                <a:solidFill>
                  <a:srgbClr val="569CD6"/>
                </a:solidFill>
                <a:latin typeface="Consolas"/>
              </a:rPr>
              <a:t>true</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smtClean="0">
                <a:solidFill>
                  <a:srgbClr val="CE9178"/>
                </a:solidFill>
                <a:latin typeface="Consolas"/>
              </a:rPr>
              <a:t>"Ticker stopped"</a:t>
            </a:r>
            <a:r>
              <a:rPr lang="en-US" sz="1600" dirty="0" smtClean="0">
                <a:solidFill>
                  <a:srgbClr val="D4D4D4"/>
                </a:solidFill>
                <a:latin typeface="Consolas"/>
              </a:rPr>
              <a:t>)</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Consolas" pitchFamily="49" charset="0"/>
              </a:rPr>
              <a:t>time.After</a:t>
            </a:r>
            <a:endParaRPr lang="en-US" dirty="0">
              <a:latin typeface="Consolas" pitchFamily="49" charset="0"/>
            </a:endParaRPr>
          </a:p>
        </p:txBody>
      </p:sp>
      <p:sp>
        <p:nvSpPr>
          <p:cNvPr id="4" name="Content Placeholder 2"/>
          <p:cNvSpPr txBox="1">
            <a:spLocks/>
          </p:cNvSpPr>
          <p:nvPr/>
        </p:nvSpPr>
        <p:spPr bwMode="auto">
          <a:xfrm>
            <a:off x="457200" y="1676400"/>
            <a:ext cx="8229600" cy="45720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main</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smtClean="0">
                <a:solidFill>
                  <a:srgbClr val="CE9178"/>
                </a:solidFill>
                <a:latin typeface="Consolas"/>
              </a:rPr>
              <a:t>"Started"</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586C0"/>
                </a:solidFill>
                <a:latin typeface="Consolas"/>
              </a:rPr>
              <a:t>go</a:t>
            </a:r>
            <a:r>
              <a:rPr lang="en-US" sz="1600" dirty="0" smtClean="0">
                <a:solidFill>
                  <a:srgbClr val="D4D4D4"/>
                </a:solidFill>
                <a:latin typeface="Consolas"/>
              </a:rPr>
              <a:t> </a:t>
            </a:r>
            <a:r>
              <a:rPr lang="en-US" sz="1600" dirty="0" smtClean="0">
                <a:solidFill>
                  <a:srgbClr val="DCDCAA"/>
                </a:solidFill>
                <a:latin typeface="Consolas"/>
              </a:rPr>
              <a:t>periodic</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586C0"/>
                </a:solidFill>
                <a:latin typeface="Consolas"/>
              </a:rPr>
              <a:t>select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586C0"/>
                </a:solidFill>
                <a:latin typeface="Consolas"/>
              </a:rPr>
              <a:t>case</a:t>
            </a:r>
            <a:r>
              <a:rPr lang="en-US" sz="1600" dirty="0" smtClean="0">
                <a:solidFill>
                  <a:srgbClr val="D4D4D4"/>
                </a:solidFill>
                <a:latin typeface="Consolas"/>
              </a:rPr>
              <a:t> &lt;-</a:t>
            </a:r>
            <a:r>
              <a:rPr lang="en-US" sz="1600" dirty="0" err="1" smtClean="0">
                <a:solidFill>
                  <a:srgbClr val="D4D4D4"/>
                </a:solidFill>
                <a:latin typeface="Consolas"/>
              </a:rPr>
              <a:t>time.</a:t>
            </a:r>
            <a:r>
              <a:rPr lang="en-US" sz="1600" dirty="0" err="1" smtClean="0">
                <a:solidFill>
                  <a:srgbClr val="DCDCAA"/>
                </a:solidFill>
                <a:latin typeface="Consolas"/>
              </a:rPr>
              <a:t>After</a:t>
            </a:r>
            <a:r>
              <a:rPr lang="en-US" sz="1600" dirty="0" smtClean="0">
                <a:solidFill>
                  <a:srgbClr val="D4D4D4"/>
                </a:solidFill>
                <a:latin typeface="Consolas"/>
              </a:rPr>
              <a:t>(</a:t>
            </a:r>
            <a:r>
              <a:rPr lang="en-US" sz="1600" dirty="0" smtClean="0">
                <a:solidFill>
                  <a:srgbClr val="B5CEA8"/>
                </a:solidFill>
                <a:latin typeface="Consolas"/>
              </a:rPr>
              <a:t>5</a:t>
            </a:r>
            <a:r>
              <a:rPr lang="en-US" sz="1600" dirty="0" smtClean="0">
                <a:solidFill>
                  <a:srgbClr val="D4D4D4"/>
                </a:solidFill>
                <a:latin typeface="Consolas"/>
              </a:rPr>
              <a:t> * </a:t>
            </a:r>
            <a:r>
              <a:rPr lang="en-US" sz="1600" dirty="0" err="1" smtClean="0">
                <a:solidFill>
                  <a:srgbClr val="D4D4D4"/>
                </a:solidFill>
                <a:latin typeface="Consolas"/>
              </a:rPr>
              <a:t>time.Second</a:t>
            </a:r>
            <a:r>
              <a:rPr lang="en-US" sz="1600" dirty="0" smtClean="0">
                <a:solidFill>
                  <a:srgbClr val="D4D4D4"/>
                </a:solidFill>
                <a:latin typeface="Consolas"/>
              </a:rPr>
              <a:t>): </a:t>
            </a:r>
            <a:r>
              <a:rPr lang="en-US" sz="1600" dirty="0" smtClean="0">
                <a:solidFill>
                  <a:srgbClr val="6A9955"/>
                </a:solidFill>
                <a:latin typeface="Consolas"/>
              </a:rPr>
              <a:t>// No side effects. No blocks.</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err="1" smtClean="0">
                <a:solidFill>
                  <a:srgbClr val="D4D4D4"/>
                </a:solidFill>
                <a:latin typeface="Consolas"/>
              </a:rPr>
              <a:t>fmt.</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smtClean="0">
                <a:solidFill>
                  <a:srgbClr val="CE9178"/>
                </a:solidFill>
                <a:latin typeface="Consolas"/>
              </a:rPr>
              <a:t>"There's no more time to this. Exiting!"</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586C0"/>
                </a:solidFill>
                <a:latin typeface="Consolas"/>
              </a:rPr>
              <a:t>return</a:t>
            </a:r>
            <a:endParaRPr lang="en-US" sz="1600" dirty="0" smtClean="0">
              <a:solidFill>
                <a:srgbClr val="D4D4D4"/>
              </a:solidFill>
              <a:latin typeface="Consolas"/>
            </a:endParaRPr>
          </a:p>
          <a:p>
            <a:r>
              <a:rPr lang="en-US" sz="1600" dirty="0" smtClean="0">
                <a:solidFill>
                  <a:srgbClr val="D4D4D4"/>
                </a:solidFill>
                <a:latin typeface="Consolas"/>
              </a:rPr>
              <a:t>    }</a:t>
            </a: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smtClean="0">
                <a:solidFill>
                  <a:srgbClr val="DCDCAA"/>
                </a:solidFill>
                <a:latin typeface="Consolas"/>
              </a:rPr>
              <a:t>periodic</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count</a:t>
            </a:r>
            <a:r>
              <a:rPr lang="en-US" sz="1600" dirty="0" smtClean="0">
                <a:solidFill>
                  <a:srgbClr val="D4D4D4"/>
                </a:solidFill>
                <a:latin typeface="Consolas"/>
              </a:rPr>
              <a:t> := </a:t>
            </a:r>
            <a:r>
              <a:rPr lang="en-US" sz="1600" dirty="0" smtClean="0">
                <a:solidFill>
                  <a:srgbClr val="B5CEA8"/>
                </a:solidFill>
                <a:latin typeface="Consolas"/>
              </a:rPr>
              <a:t>1</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586C0"/>
                </a:solidFill>
                <a:latin typeface="Consolas"/>
              </a:rPr>
              <a:t>for</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CDCAA"/>
                </a:solidFill>
                <a:latin typeface="Consolas"/>
              </a:rPr>
              <a:t>println</a:t>
            </a:r>
            <a:r>
              <a:rPr lang="en-US" sz="1600" dirty="0" smtClean="0">
                <a:solidFill>
                  <a:srgbClr val="D4D4D4"/>
                </a:solidFill>
                <a:latin typeface="Consolas"/>
              </a:rPr>
              <a:t>(</a:t>
            </a:r>
            <a:r>
              <a:rPr lang="en-US" sz="1600" dirty="0" smtClean="0">
                <a:solidFill>
                  <a:srgbClr val="CE9178"/>
                </a:solidFill>
                <a:latin typeface="Consolas"/>
              </a:rPr>
              <a:t>"Tick"</a:t>
            </a:r>
            <a:r>
              <a:rPr lang="en-US" sz="1600" dirty="0" smtClean="0">
                <a:solidFill>
                  <a:srgbClr val="D4D4D4"/>
                </a:solidFill>
                <a:latin typeface="Consolas"/>
              </a:rPr>
              <a:t>, count)</a:t>
            </a:r>
          </a:p>
          <a:p>
            <a:r>
              <a:rPr lang="en-US" sz="1600" dirty="0" smtClean="0">
                <a:solidFill>
                  <a:srgbClr val="D4D4D4"/>
                </a:solidFill>
                <a:latin typeface="Consolas"/>
              </a:rPr>
              <a:t>        count++</a:t>
            </a:r>
          </a:p>
          <a:p>
            <a:r>
              <a:rPr lang="en-US" sz="1600" dirty="0" smtClean="0">
                <a:solidFill>
                  <a:srgbClr val="D4D4D4"/>
                </a:solidFill>
                <a:latin typeface="Consolas"/>
              </a:rPr>
              <a:t>        </a:t>
            </a:r>
            <a:r>
              <a:rPr lang="en-US" sz="1600" dirty="0" err="1" smtClean="0">
                <a:solidFill>
                  <a:srgbClr val="D4D4D4"/>
                </a:solidFill>
                <a:latin typeface="Consolas"/>
              </a:rPr>
              <a:t>time.</a:t>
            </a:r>
            <a:r>
              <a:rPr lang="en-US" sz="1600" dirty="0" err="1" smtClean="0">
                <a:solidFill>
                  <a:srgbClr val="DCDCAA"/>
                </a:solidFill>
                <a:latin typeface="Consolas"/>
              </a:rPr>
              <a:t>Sleep</a:t>
            </a:r>
            <a:r>
              <a:rPr lang="en-US" sz="1600" dirty="0" smtClean="0">
                <a:solidFill>
                  <a:srgbClr val="D4D4D4"/>
                </a:solidFill>
                <a:latin typeface="Consolas"/>
              </a:rPr>
              <a:t>(</a:t>
            </a:r>
            <a:r>
              <a:rPr lang="en-US" sz="1600" dirty="0" smtClean="0">
                <a:solidFill>
                  <a:srgbClr val="B5CEA8"/>
                </a:solidFill>
                <a:latin typeface="Consolas"/>
              </a:rPr>
              <a:t>1</a:t>
            </a:r>
            <a:r>
              <a:rPr lang="en-US" sz="1600" dirty="0" smtClean="0">
                <a:solidFill>
                  <a:srgbClr val="D4D4D4"/>
                </a:solidFill>
                <a:latin typeface="Consolas"/>
              </a:rPr>
              <a:t> * </a:t>
            </a:r>
            <a:r>
              <a:rPr lang="en-US" sz="1600" dirty="0" err="1" smtClean="0">
                <a:solidFill>
                  <a:srgbClr val="D4D4D4"/>
                </a:solidFill>
                <a:latin typeface="Consolas"/>
              </a:rPr>
              <a:t>time.Second</a:t>
            </a:r>
            <a:r>
              <a:rPr lang="en-US" sz="1600" dirty="0" smtClean="0">
                <a:solidFill>
                  <a:srgbClr val="D4D4D4"/>
                </a:solidFill>
                <a:latin typeface="Consolas"/>
              </a:rPr>
              <a:t>)</a:t>
            </a:r>
          </a:p>
          <a:p>
            <a:r>
              <a:rPr lang="en-US" sz="16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Modules</a:t>
            </a:r>
            <a:endParaRPr lang="en-US" dirty="0"/>
          </a:p>
        </p:txBody>
      </p:sp>
      <p:sp>
        <p:nvSpPr>
          <p:cNvPr id="3" name="Content Placeholder 2"/>
          <p:cNvSpPr>
            <a:spLocks noGrp="1"/>
          </p:cNvSpPr>
          <p:nvPr>
            <p:ph idx="1"/>
          </p:nvPr>
        </p:nvSpPr>
        <p:spPr/>
        <p:txBody>
          <a:bodyPr/>
          <a:lstStyle/>
          <a:p>
            <a:r>
              <a:rPr lang="en-US" sz="2200" dirty="0" smtClean="0">
                <a:hlinkClick r:id="rId2"/>
              </a:rPr>
              <a:t>https://go.dev/ref/mod#go-mod-init</a:t>
            </a:r>
            <a:endParaRPr lang="en-US" sz="2200" dirty="0" smtClean="0"/>
          </a:p>
          <a:p>
            <a:r>
              <a:rPr lang="en-US" sz="2200" dirty="0" smtClean="0">
                <a:latin typeface="Consolas" pitchFamily="49" charset="0"/>
              </a:rPr>
              <a:t>go mod init </a:t>
            </a:r>
            <a:r>
              <a:rPr lang="en-US" sz="2200" i="1" dirty="0" err="1" smtClean="0">
                <a:solidFill>
                  <a:srgbClr val="C00000"/>
                </a:solidFill>
                <a:latin typeface="Consolas" pitchFamily="49" charset="0"/>
              </a:rPr>
              <a:t>kvs</a:t>
            </a:r>
            <a:r>
              <a:rPr lang="en-US" sz="2200" i="1" dirty="0" smtClean="0">
                <a:solidFill>
                  <a:srgbClr val="C00000"/>
                </a:solidFill>
                <a:latin typeface="Consolas" pitchFamily="49" charset="0"/>
              </a:rPr>
              <a:t>/shared</a:t>
            </a:r>
          </a:p>
          <a:p>
            <a:r>
              <a:rPr lang="en-US" sz="2200" dirty="0" smtClean="0"/>
              <a:t>The </a:t>
            </a:r>
            <a:r>
              <a:rPr lang="en-US" sz="2200" b="1" dirty="0" smtClean="0">
                <a:latin typeface="Consolas" pitchFamily="49" charset="0"/>
              </a:rPr>
              <a:t>go mod init</a:t>
            </a:r>
            <a:r>
              <a:rPr lang="en-US" sz="2200" dirty="0" smtClean="0"/>
              <a:t> command initializes and writes a new go.mod file in the current directory, in effect creating a new module rooted at the current directory.</a:t>
            </a:r>
          </a:p>
          <a:p>
            <a:r>
              <a:rPr lang="en-US" sz="2200" dirty="0" smtClean="0"/>
              <a:t>The </a:t>
            </a:r>
            <a:r>
              <a:rPr lang="en-US" sz="2200" b="1" dirty="0" smtClean="0">
                <a:latin typeface="Consolas" pitchFamily="49" charset="0"/>
              </a:rPr>
              <a:t>go.mod</a:t>
            </a:r>
            <a:r>
              <a:rPr lang="en-US" sz="2200" dirty="0" smtClean="0"/>
              <a:t> file must not already exist.</a:t>
            </a:r>
          </a:p>
          <a:p>
            <a:r>
              <a:rPr lang="en-US" sz="2200" b="1" dirty="0" smtClean="0">
                <a:latin typeface="Consolas" pitchFamily="49" charset="0"/>
              </a:rPr>
              <a:t>go.mod</a:t>
            </a:r>
            <a:r>
              <a:rPr lang="en-US" sz="2200" dirty="0" smtClean="0"/>
              <a:t> file: The file that defines a module’s path, requirements, and other metadata. Appears in the module’s root directory.</a:t>
            </a:r>
          </a:p>
          <a:p>
            <a:r>
              <a:rPr lang="en-US" sz="2200" dirty="0" smtClean="0"/>
              <a:t>init accepts one optional argument, the module path for the new module.</a:t>
            </a:r>
          </a:p>
          <a:p>
            <a:r>
              <a:rPr lang="en-US" sz="2200" dirty="0" smtClean="0"/>
              <a:t>A </a:t>
            </a:r>
            <a:r>
              <a:rPr lang="en-US" sz="2200" i="1" dirty="0" smtClean="0">
                <a:solidFill>
                  <a:srgbClr val="C00000"/>
                </a:solidFill>
              </a:rPr>
              <a:t>module path</a:t>
            </a:r>
            <a:r>
              <a:rPr lang="en-US" sz="2200" dirty="0" smtClean="0"/>
              <a:t> is the canonical name for a module, declared with the module directive in the module’s go.mod file.</a:t>
            </a:r>
            <a:endParaRPr lang="en-US" sz="2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Module</a:t>
            </a:r>
            <a:endParaRPr lang="en-US" dirty="0"/>
          </a:p>
        </p:txBody>
      </p:sp>
      <p:sp>
        <p:nvSpPr>
          <p:cNvPr id="3" name="Content Placeholder 2"/>
          <p:cNvSpPr>
            <a:spLocks noGrp="1"/>
          </p:cNvSpPr>
          <p:nvPr>
            <p:ph idx="1"/>
          </p:nvPr>
        </p:nvSpPr>
        <p:spPr/>
        <p:txBody>
          <a:bodyPr/>
          <a:lstStyle/>
          <a:p>
            <a:r>
              <a:rPr lang="en-US" sz="2400" dirty="0" smtClean="0">
                <a:latin typeface="+mj-lt"/>
                <a:hlinkClick r:id="rId2"/>
              </a:rPr>
              <a:t>https://go.dev/doc/tutorial/create-module</a:t>
            </a:r>
            <a:endParaRPr lang="en-US" sz="2400" dirty="0" smtClean="0">
              <a:latin typeface="+mj-lt"/>
            </a:endParaRPr>
          </a:p>
          <a:p>
            <a:r>
              <a:rPr lang="en-US" sz="2200" dirty="0" err="1" smtClean="0">
                <a:latin typeface="Consolas" pitchFamily="49" charset="0"/>
              </a:rPr>
              <a:t>mkdir</a:t>
            </a:r>
            <a:r>
              <a:rPr lang="en-US" sz="2200" dirty="0" smtClean="0">
                <a:latin typeface="Consolas" pitchFamily="49" charset="0"/>
              </a:rPr>
              <a:t> greetings</a:t>
            </a:r>
          </a:p>
          <a:p>
            <a:r>
              <a:rPr lang="en-US" sz="2200" dirty="0" err="1" smtClean="0">
                <a:latin typeface="Consolas" pitchFamily="49" charset="0"/>
              </a:rPr>
              <a:t>cd</a:t>
            </a:r>
            <a:r>
              <a:rPr lang="en-US" sz="2200" dirty="0" smtClean="0">
                <a:latin typeface="Consolas" pitchFamily="49" charset="0"/>
              </a:rPr>
              <a:t> greetings</a:t>
            </a:r>
          </a:p>
          <a:p>
            <a:r>
              <a:rPr lang="en-US" sz="2200" dirty="0" smtClean="0">
                <a:latin typeface="Consolas" pitchFamily="49" charset="0"/>
              </a:rPr>
              <a:t>go mod init example.com/greetings</a:t>
            </a:r>
            <a:endParaRPr lang="en-US" sz="2200" dirty="0">
              <a:latin typeface="Consolas" pitchFamily="49"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Create </a:t>
            </a:r>
            <a:r>
              <a:rPr lang="en-US" dirty="0" err="1" smtClean="0">
                <a:latin typeface="Consolas" pitchFamily="49" charset="0"/>
              </a:rPr>
              <a:t>greetings.go</a:t>
            </a:r>
            <a:endParaRPr lang="en-US" dirty="0">
              <a:latin typeface="Consolas" pitchFamily="49" charset="0"/>
            </a:endParaRPr>
          </a:p>
        </p:txBody>
      </p:sp>
      <p:sp>
        <p:nvSpPr>
          <p:cNvPr id="4" name="Content Placeholder 2"/>
          <p:cNvSpPr txBox="1">
            <a:spLocks/>
          </p:cNvSpPr>
          <p:nvPr/>
        </p:nvSpPr>
        <p:spPr bwMode="auto">
          <a:xfrm>
            <a:off x="457200" y="2286000"/>
            <a:ext cx="8229600" cy="2895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569CD6"/>
                </a:solidFill>
                <a:latin typeface="Consolas"/>
              </a:rPr>
              <a:t>package</a:t>
            </a:r>
            <a:r>
              <a:rPr lang="en-US" dirty="0" smtClean="0">
                <a:solidFill>
                  <a:srgbClr val="D4D4D4"/>
                </a:solidFill>
                <a:latin typeface="Consolas"/>
              </a:rPr>
              <a:t> greetings</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import</a:t>
            </a:r>
            <a:r>
              <a:rPr lang="en-US" dirty="0" smtClean="0">
                <a:solidFill>
                  <a:srgbClr val="D4D4D4"/>
                </a:solidFill>
                <a:latin typeface="Consolas"/>
              </a:rPr>
              <a:t> </a:t>
            </a:r>
            <a:r>
              <a:rPr lang="en-US" dirty="0" smtClean="0">
                <a:solidFill>
                  <a:srgbClr val="CE9178"/>
                </a:solidFill>
                <a:latin typeface="Consolas"/>
              </a:rPr>
              <a:t>"</a:t>
            </a:r>
            <a:r>
              <a:rPr lang="en-US" dirty="0" err="1" smtClean="0">
                <a:solidFill>
                  <a:srgbClr val="CE9178"/>
                </a:solidFill>
                <a:latin typeface="Consolas"/>
              </a:rPr>
              <a:t>fmt</a:t>
            </a:r>
            <a:r>
              <a:rPr lang="en-US" dirty="0" smtClean="0">
                <a:solidFill>
                  <a:srgbClr val="CE9178"/>
                </a:solidFill>
                <a:latin typeface="Consolas"/>
              </a:rPr>
              <a:t>"</a:t>
            </a:r>
            <a:endParaRPr lang="en-US" dirty="0" smtClean="0">
              <a:solidFill>
                <a:srgbClr val="D4D4D4"/>
              </a:solidFill>
              <a:latin typeface="Consolas"/>
            </a:endParaRP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6A9955"/>
                </a:solidFill>
                <a:latin typeface="Consolas"/>
              </a:rPr>
              <a:t>// Hello returns a greeting for the named person.</a:t>
            </a:r>
            <a:endParaRPr lang="en-US" dirty="0" smtClean="0">
              <a:solidFill>
                <a:srgbClr val="D4D4D4"/>
              </a:solidFill>
              <a:latin typeface="Consolas"/>
            </a:endParaRPr>
          </a:p>
          <a:p>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Hello</a:t>
            </a:r>
            <a:r>
              <a:rPr lang="en-US" dirty="0" smtClean="0">
                <a:solidFill>
                  <a:srgbClr val="D4D4D4"/>
                </a:solidFill>
                <a:latin typeface="Consolas"/>
              </a:rPr>
              <a:t>(name </a:t>
            </a:r>
            <a:r>
              <a:rPr lang="en-US" dirty="0" smtClean="0">
                <a:solidFill>
                  <a:srgbClr val="4EC9B0"/>
                </a:solidFill>
                <a:latin typeface="Consolas"/>
              </a:rPr>
              <a:t>string</a:t>
            </a:r>
            <a:r>
              <a:rPr lang="en-US" dirty="0" smtClean="0">
                <a:solidFill>
                  <a:srgbClr val="D4D4D4"/>
                </a:solidFill>
                <a:latin typeface="Consolas"/>
              </a:rPr>
              <a:t>) </a:t>
            </a:r>
            <a:r>
              <a:rPr lang="en-US" dirty="0" smtClean="0">
                <a:solidFill>
                  <a:srgbClr val="4EC9B0"/>
                </a:solidFill>
                <a:latin typeface="Consolas"/>
              </a:rPr>
              <a:t>string</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6A9955"/>
                </a:solidFill>
                <a:latin typeface="Consolas"/>
              </a:rPr>
              <a:t>// Return a greeting that embeds the name in a message.</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9CDCFE"/>
                </a:solidFill>
                <a:latin typeface="Consolas"/>
              </a:rPr>
              <a:t>message</a:t>
            </a:r>
            <a:r>
              <a:rPr lang="en-US" dirty="0" smtClean="0">
                <a:solidFill>
                  <a:srgbClr val="D4D4D4"/>
                </a:solidFill>
                <a:latin typeface="Consolas"/>
              </a:rPr>
              <a:t> := </a:t>
            </a:r>
            <a:r>
              <a:rPr lang="en-US" dirty="0" err="1" smtClean="0">
                <a:solidFill>
                  <a:srgbClr val="D4D4D4"/>
                </a:solidFill>
                <a:latin typeface="Consolas"/>
              </a:rPr>
              <a:t>fmt.</a:t>
            </a:r>
            <a:r>
              <a:rPr lang="en-US" dirty="0" err="1" smtClean="0">
                <a:solidFill>
                  <a:srgbClr val="DCDCAA"/>
                </a:solidFill>
                <a:latin typeface="Consolas"/>
              </a:rPr>
              <a:t>Sprintf</a:t>
            </a:r>
            <a:r>
              <a:rPr lang="en-US" dirty="0" smtClean="0">
                <a:solidFill>
                  <a:srgbClr val="D4D4D4"/>
                </a:solidFill>
                <a:latin typeface="Consolas"/>
              </a:rPr>
              <a:t>(</a:t>
            </a:r>
            <a:r>
              <a:rPr lang="en-US" dirty="0" smtClean="0">
                <a:solidFill>
                  <a:srgbClr val="CE9178"/>
                </a:solidFill>
                <a:latin typeface="Consolas"/>
              </a:rPr>
              <a:t>"Hi, </a:t>
            </a:r>
            <a:r>
              <a:rPr lang="en-US" dirty="0" smtClean="0">
                <a:solidFill>
                  <a:srgbClr val="9CDCFE"/>
                </a:solidFill>
                <a:latin typeface="Consolas"/>
              </a:rPr>
              <a:t>%v</a:t>
            </a:r>
            <a:r>
              <a:rPr lang="en-US" dirty="0" smtClean="0">
                <a:solidFill>
                  <a:srgbClr val="CE9178"/>
                </a:solidFill>
                <a:latin typeface="Consolas"/>
              </a:rPr>
              <a:t>. Welcome!"</a:t>
            </a:r>
            <a:r>
              <a:rPr lang="en-US" dirty="0" smtClean="0">
                <a:solidFill>
                  <a:srgbClr val="D4D4D4"/>
                </a:solidFill>
                <a:latin typeface="Consolas"/>
              </a:rPr>
              <a:t>, name)</a:t>
            </a:r>
          </a:p>
          <a:p>
            <a:r>
              <a:rPr lang="en-US" dirty="0" smtClean="0">
                <a:solidFill>
                  <a:srgbClr val="D4D4D4"/>
                </a:solidFill>
                <a:latin typeface="Consolas"/>
              </a:rPr>
              <a:t>    </a:t>
            </a:r>
            <a:r>
              <a:rPr lang="en-US" dirty="0" smtClean="0">
                <a:solidFill>
                  <a:srgbClr val="C586C0"/>
                </a:solidFill>
                <a:latin typeface="Consolas"/>
              </a:rPr>
              <a:t>return</a:t>
            </a:r>
            <a:r>
              <a:rPr lang="en-US" dirty="0" smtClean="0">
                <a:solidFill>
                  <a:srgbClr val="D4D4D4"/>
                </a:solidFill>
                <a:latin typeface="Consolas"/>
              </a:rPr>
              <a:t> message</a:t>
            </a:r>
          </a:p>
          <a:p>
            <a:r>
              <a:rPr lang="en-US" dirty="0" smtClean="0">
                <a:solidFill>
                  <a:srgbClr val="D4D4D4"/>
                </a:solidFill>
                <a:latin typeface="Consolas"/>
              </a:rPr>
              <a:t>}</a:t>
            </a:r>
            <a:endParaRPr lang="en-US" b="0" dirty="0">
              <a:solidFill>
                <a:srgbClr val="D4D4D4"/>
              </a:solidFill>
              <a:latin typeface="Consolas"/>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Create a Module Caller</a:t>
            </a:r>
            <a:endParaRPr lang="en-US" dirty="0"/>
          </a:p>
        </p:txBody>
      </p:sp>
      <p:sp>
        <p:nvSpPr>
          <p:cNvPr id="3" name="Content Placeholder 2"/>
          <p:cNvSpPr>
            <a:spLocks noGrp="1"/>
          </p:cNvSpPr>
          <p:nvPr>
            <p:ph idx="1"/>
          </p:nvPr>
        </p:nvSpPr>
        <p:spPr/>
        <p:txBody>
          <a:bodyPr/>
          <a:lstStyle/>
          <a:p>
            <a:r>
              <a:rPr lang="en-US" sz="2400" dirty="0" err="1" smtClean="0">
                <a:latin typeface="Consolas" pitchFamily="49" charset="0"/>
              </a:rPr>
              <a:t>cd</a:t>
            </a:r>
            <a:r>
              <a:rPr lang="en-US" sz="2400" dirty="0" smtClean="0">
                <a:latin typeface="Consolas" pitchFamily="49" charset="0"/>
              </a:rPr>
              <a:t> ..</a:t>
            </a:r>
          </a:p>
          <a:p>
            <a:r>
              <a:rPr lang="en-US" sz="2400" dirty="0" err="1" smtClean="0">
                <a:latin typeface="Consolas" pitchFamily="49" charset="0"/>
              </a:rPr>
              <a:t>mkdir</a:t>
            </a:r>
            <a:r>
              <a:rPr lang="en-US" sz="2400" dirty="0" smtClean="0">
                <a:latin typeface="Consolas" pitchFamily="49" charset="0"/>
              </a:rPr>
              <a:t> hello</a:t>
            </a:r>
          </a:p>
          <a:p>
            <a:r>
              <a:rPr lang="en-US" sz="2400" dirty="0" err="1" smtClean="0">
                <a:latin typeface="Consolas" pitchFamily="49" charset="0"/>
              </a:rPr>
              <a:t>cd</a:t>
            </a:r>
            <a:r>
              <a:rPr lang="en-US" sz="2400" dirty="0" smtClean="0">
                <a:latin typeface="Consolas" pitchFamily="49" charset="0"/>
              </a:rPr>
              <a:t> hello</a:t>
            </a:r>
          </a:p>
          <a:p>
            <a:r>
              <a:rPr lang="en-US" sz="2400" dirty="0" smtClean="0">
                <a:latin typeface="Consolas" pitchFamily="49" charset="0"/>
              </a:rPr>
              <a:t>go mod init example.com/hello</a:t>
            </a:r>
            <a:endParaRPr lang="en-US" sz="2400" dirty="0">
              <a:latin typeface="Consolas" pitchFamily="49"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Create </a:t>
            </a:r>
            <a:r>
              <a:rPr lang="en-US" dirty="0" err="1" smtClean="0">
                <a:latin typeface="Consolas" pitchFamily="49" charset="0"/>
              </a:rPr>
              <a:t>hello.go</a:t>
            </a:r>
            <a:endParaRPr lang="en-US" dirty="0">
              <a:latin typeface="Consolas" pitchFamily="49" charset="0"/>
            </a:endParaRPr>
          </a:p>
        </p:txBody>
      </p:sp>
      <p:sp>
        <p:nvSpPr>
          <p:cNvPr id="4" name="Content Placeholder 2"/>
          <p:cNvSpPr txBox="1">
            <a:spLocks/>
          </p:cNvSpPr>
          <p:nvPr/>
        </p:nvSpPr>
        <p:spPr bwMode="auto">
          <a:xfrm>
            <a:off x="457200" y="1981200"/>
            <a:ext cx="8229600" cy="37338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dirty="0" smtClean="0">
                <a:solidFill>
                  <a:srgbClr val="569CD6"/>
                </a:solidFill>
                <a:latin typeface="Consolas"/>
              </a:rPr>
              <a:t>package</a:t>
            </a:r>
            <a:r>
              <a:rPr lang="en-US" dirty="0" smtClean="0">
                <a:solidFill>
                  <a:srgbClr val="D4D4D4"/>
                </a:solidFill>
                <a:latin typeface="Consolas"/>
              </a:rPr>
              <a:t> main</a:t>
            </a: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569CD6"/>
                </a:solidFill>
                <a:latin typeface="Consolas"/>
              </a:rPr>
              <a:t>import</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CE9178"/>
                </a:solidFill>
                <a:latin typeface="Consolas"/>
              </a:rPr>
              <a:t>"</a:t>
            </a:r>
            <a:r>
              <a:rPr lang="en-US" dirty="0" err="1" smtClean="0">
                <a:solidFill>
                  <a:srgbClr val="CE9178"/>
                </a:solidFill>
                <a:latin typeface="Consolas"/>
              </a:rPr>
              <a:t>fmt</a:t>
            </a:r>
            <a:r>
              <a:rPr lang="en-US" dirty="0" smtClean="0">
                <a:solidFill>
                  <a:srgbClr val="CE9178"/>
                </a:solidFill>
                <a:latin typeface="Consolas"/>
              </a:rPr>
              <a:t>"</a:t>
            </a:r>
            <a:endParaRPr lang="en-US" dirty="0" smtClean="0">
              <a:solidFill>
                <a:srgbClr val="D4D4D4"/>
              </a:solidFill>
              <a:latin typeface="Consolas"/>
            </a:endParaRPr>
          </a:p>
          <a:p>
            <a:r>
              <a:rPr lang="en-US" dirty="0" smtClean="0">
                <a:solidFill>
                  <a:srgbClr val="D4D4D4"/>
                </a:solidFill>
                <a:latin typeface="Consolas"/>
              </a:rPr>
              <a:t/>
            </a:r>
            <a:br>
              <a:rPr lang="en-US" dirty="0" smtClean="0">
                <a:solidFill>
                  <a:srgbClr val="D4D4D4"/>
                </a:solidFill>
                <a:latin typeface="Consolas"/>
              </a:rPr>
            </a:br>
            <a:r>
              <a:rPr lang="en-US" dirty="0" smtClean="0">
                <a:solidFill>
                  <a:srgbClr val="D4D4D4"/>
                </a:solidFill>
                <a:latin typeface="Consolas"/>
              </a:rPr>
              <a:t>    </a:t>
            </a:r>
            <a:r>
              <a:rPr lang="en-US" dirty="0" smtClean="0">
                <a:solidFill>
                  <a:srgbClr val="CE9178"/>
                </a:solidFill>
                <a:latin typeface="Consolas"/>
              </a:rPr>
              <a:t>"example.com/greetings"</a:t>
            </a:r>
            <a:endParaRPr lang="en-US" dirty="0" smtClean="0">
              <a:solidFill>
                <a:srgbClr val="D4D4D4"/>
              </a:solidFill>
              <a:latin typeface="Consolas"/>
            </a:endParaRPr>
          </a:p>
          <a:p>
            <a:r>
              <a:rPr lang="en-US" dirty="0" smtClean="0">
                <a:solidFill>
                  <a:srgbClr val="D4D4D4"/>
                </a:solidFill>
                <a:latin typeface="Consolas"/>
              </a:rPr>
              <a:t>)</a:t>
            </a:r>
          </a:p>
          <a:p>
            <a:r>
              <a:rPr lang="en-US" dirty="0" smtClean="0">
                <a:solidFill>
                  <a:srgbClr val="D4D4D4"/>
                </a:solidFill>
                <a:latin typeface="Consolas"/>
              </a:rPr>
              <a:t/>
            </a:r>
            <a:br>
              <a:rPr lang="en-US" dirty="0" smtClean="0">
                <a:solidFill>
                  <a:srgbClr val="D4D4D4"/>
                </a:solidFill>
                <a:latin typeface="Consolas"/>
              </a:rPr>
            </a:br>
            <a:r>
              <a:rPr lang="en-US" dirty="0" err="1" smtClean="0">
                <a:solidFill>
                  <a:srgbClr val="569CD6"/>
                </a:solidFill>
                <a:latin typeface="Consolas"/>
              </a:rPr>
              <a:t>func</a:t>
            </a:r>
            <a:r>
              <a:rPr lang="en-US" dirty="0" smtClean="0">
                <a:solidFill>
                  <a:srgbClr val="D4D4D4"/>
                </a:solidFill>
                <a:latin typeface="Consolas"/>
              </a:rPr>
              <a:t> </a:t>
            </a:r>
            <a:r>
              <a:rPr lang="en-US" dirty="0" smtClean="0">
                <a:solidFill>
                  <a:srgbClr val="DCDCAA"/>
                </a:solidFill>
                <a:latin typeface="Consolas"/>
              </a:rPr>
              <a:t>main</a:t>
            </a:r>
            <a:r>
              <a:rPr lang="en-US" dirty="0" smtClean="0">
                <a:solidFill>
                  <a:srgbClr val="D4D4D4"/>
                </a:solidFill>
                <a:latin typeface="Consolas"/>
              </a:rPr>
              <a:t>() {</a:t>
            </a:r>
          </a:p>
          <a:p>
            <a:r>
              <a:rPr lang="en-US" dirty="0" smtClean="0">
                <a:solidFill>
                  <a:srgbClr val="D4D4D4"/>
                </a:solidFill>
                <a:latin typeface="Consolas"/>
              </a:rPr>
              <a:t>    </a:t>
            </a:r>
            <a:r>
              <a:rPr lang="en-US" dirty="0" smtClean="0">
                <a:solidFill>
                  <a:srgbClr val="6A9955"/>
                </a:solidFill>
                <a:latin typeface="Consolas"/>
              </a:rPr>
              <a:t>// Get a greeting message and print it.</a:t>
            </a:r>
            <a:endParaRPr lang="en-US" dirty="0" smtClean="0">
              <a:solidFill>
                <a:srgbClr val="D4D4D4"/>
              </a:solidFill>
              <a:latin typeface="Consolas"/>
            </a:endParaRPr>
          </a:p>
          <a:p>
            <a:r>
              <a:rPr lang="en-US" dirty="0" smtClean="0">
                <a:solidFill>
                  <a:srgbClr val="D4D4D4"/>
                </a:solidFill>
                <a:latin typeface="Consolas"/>
              </a:rPr>
              <a:t>    </a:t>
            </a:r>
            <a:r>
              <a:rPr lang="en-US" dirty="0" smtClean="0">
                <a:solidFill>
                  <a:srgbClr val="9CDCFE"/>
                </a:solidFill>
                <a:latin typeface="Consolas"/>
              </a:rPr>
              <a:t>message</a:t>
            </a:r>
            <a:r>
              <a:rPr lang="en-US" dirty="0" smtClean="0">
                <a:solidFill>
                  <a:srgbClr val="D4D4D4"/>
                </a:solidFill>
                <a:latin typeface="Consolas"/>
              </a:rPr>
              <a:t> := </a:t>
            </a:r>
            <a:r>
              <a:rPr lang="en-US" dirty="0" err="1" smtClean="0">
                <a:solidFill>
                  <a:srgbClr val="D4D4D4"/>
                </a:solidFill>
                <a:latin typeface="Consolas"/>
              </a:rPr>
              <a:t>greetings.</a:t>
            </a:r>
            <a:r>
              <a:rPr lang="en-US" dirty="0" err="1" smtClean="0">
                <a:solidFill>
                  <a:srgbClr val="DCDCAA"/>
                </a:solidFill>
                <a:latin typeface="Consolas"/>
              </a:rPr>
              <a:t>Hello</a:t>
            </a:r>
            <a:r>
              <a:rPr lang="en-US" dirty="0" smtClean="0">
                <a:solidFill>
                  <a:srgbClr val="D4D4D4"/>
                </a:solidFill>
                <a:latin typeface="Consolas"/>
              </a:rPr>
              <a:t>(</a:t>
            </a:r>
            <a:r>
              <a:rPr lang="en-US" dirty="0" smtClean="0">
                <a:solidFill>
                  <a:srgbClr val="CE9178"/>
                </a:solidFill>
                <a:latin typeface="Consolas"/>
              </a:rPr>
              <a:t>"Bien"</a:t>
            </a:r>
            <a:r>
              <a:rPr lang="en-US" dirty="0" smtClean="0">
                <a:solidFill>
                  <a:srgbClr val="D4D4D4"/>
                </a:solidFill>
                <a:latin typeface="Consolas"/>
              </a:rPr>
              <a:t>)</a:t>
            </a:r>
          </a:p>
          <a:p>
            <a:r>
              <a:rPr lang="en-US" dirty="0" smtClean="0">
                <a:solidFill>
                  <a:srgbClr val="D4D4D4"/>
                </a:solidFill>
                <a:latin typeface="Consolas"/>
              </a:rPr>
              <a:t>    </a:t>
            </a:r>
            <a:r>
              <a:rPr lang="en-US" dirty="0" err="1" smtClean="0">
                <a:solidFill>
                  <a:srgbClr val="D4D4D4"/>
                </a:solidFill>
                <a:latin typeface="Consolas"/>
              </a:rPr>
              <a:t>fmt.</a:t>
            </a:r>
            <a:r>
              <a:rPr lang="en-US" dirty="0" err="1" smtClean="0">
                <a:solidFill>
                  <a:srgbClr val="DCDCAA"/>
                </a:solidFill>
                <a:latin typeface="Consolas"/>
              </a:rPr>
              <a:t>Println</a:t>
            </a:r>
            <a:r>
              <a:rPr lang="en-US" dirty="0" smtClean="0">
                <a:solidFill>
                  <a:srgbClr val="D4D4D4"/>
                </a:solidFill>
                <a:latin typeface="Consolas"/>
              </a:rPr>
              <a:t>(message)</a:t>
            </a:r>
          </a:p>
          <a:p>
            <a:r>
              <a:rPr lang="en-US" dirty="0" smtClean="0">
                <a:solidFill>
                  <a:srgbClr val="D4D4D4"/>
                </a:solidFill>
                <a:latin typeface="Consolas"/>
              </a:rPr>
              <a:t>}</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Use Local Module</a:t>
            </a:r>
            <a:endParaRPr lang="en-US" dirty="0"/>
          </a:p>
        </p:txBody>
      </p:sp>
      <p:sp>
        <p:nvSpPr>
          <p:cNvPr id="3" name="Content Placeholder 2"/>
          <p:cNvSpPr>
            <a:spLocks noGrp="1"/>
          </p:cNvSpPr>
          <p:nvPr>
            <p:ph idx="1"/>
          </p:nvPr>
        </p:nvSpPr>
        <p:spPr/>
        <p:txBody>
          <a:bodyPr/>
          <a:lstStyle/>
          <a:p>
            <a:r>
              <a:rPr lang="en-US" sz="2000" dirty="0" smtClean="0">
                <a:latin typeface="+mj-lt"/>
              </a:rPr>
              <a:t>For production use, you’d publish the example.com/greetings module from its repository (with a module path that reflected its published location), where Go tools could find it to download it.</a:t>
            </a:r>
          </a:p>
          <a:p>
            <a:r>
              <a:rPr lang="en-US" sz="2000" dirty="0" smtClean="0">
                <a:latin typeface="+mj-lt"/>
              </a:rPr>
              <a:t>For now, because you haven't published the module yet, you need to adapt the example.com/hello module so it can find the example.com/greetings code on your local file system.</a:t>
            </a:r>
          </a:p>
          <a:p>
            <a:r>
              <a:rPr lang="en-US" sz="2000" dirty="0" smtClean="0">
                <a:latin typeface="Consolas" pitchFamily="49" charset="0"/>
              </a:rPr>
              <a:t>go mod edit -replace example.com/greetings=../greetings</a:t>
            </a:r>
          </a:p>
          <a:p>
            <a:r>
              <a:rPr lang="en-US" sz="2000" dirty="0" smtClean="0">
                <a:latin typeface="Consolas" pitchFamily="49" charset="0"/>
              </a:rPr>
              <a:t>go mod tidy</a:t>
            </a:r>
            <a:endParaRPr lang="en-US" sz="2000" dirty="0">
              <a:latin typeface="Consolas" pitchFamily="49"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Run </a:t>
            </a:r>
            <a:r>
              <a:rPr lang="en-US" dirty="0" err="1" smtClean="0">
                <a:latin typeface="Consolas" pitchFamily="49" charset="0"/>
              </a:rPr>
              <a:t>hello.go</a:t>
            </a:r>
            <a:endParaRPr lang="en-US" dirty="0">
              <a:latin typeface="Consolas" pitchFamily="49" charset="0"/>
            </a:endParaRPr>
          </a:p>
        </p:txBody>
      </p:sp>
      <p:sp>
        <p:nvSpPr>
          <p:cNvPr id="3" name="Content Placeholder 2"/>
          <p:cNvSpPr>
            <a:spLocks noGrp="1"/>
          </p:cNvSpPr>
          <p:nvPr>
            <p:ph idx="1"/>
          </p:nvPr>
        </p:nvSpPr>
        <p:spPr/>
        <p:txBody>
          <a:bodyPr/>
          <a:lstStyle/>
          <a:p>
            <a:r>
              <a:rPr lang="en-US" sz="2400" dirty="0" smtClean="0">
                <a:latin typeface="Consolas" pitchFamily="49" charset="0"/>
              </a:rPr>
              <a:t>go run .</a:t>
            </a:r>
            <a:endParaRPr lang="en-US" sz="2400" dirty="0">
              <a:latin typeface="Consolas" pitchFamily="49"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Exported Identifier</a:t>
            </a:r>
            <a:endParaRPr lang="en-US" dirty="0"/>
          </a:p>
        </p:txBody>
      </p:sp>
      <p:sp>
        <p:nvSpPr>
          <p:cNvPr id="3" name="Content Placeholder 2"/>
          <p:cNvSpPr>
            <a:spLocks noGrp="1"/>
          </p:cNvSpPr>
          <p:nvPr>
            <p:ph idx="1"/>
          </p:nvPr>
        </p:nvSpPr>
        <p:spPr/>
        <p:txBody>
          <a:bodyPr/>
          <a:lstStyle/>
          <a:p>
            <a:r>
              <a:rPr lang="en-US" sz="2400" dirty="0" smtClean="0"/>
              <a:t>In Go packages, </a:t>
            </a:r>
            <a:r>
              <a:rPr lang="en-US" sz="2400" u="sng" dirty="0" smtClean="0"/>
              <a:t>all identifiers</a:t>
            </a:r>
            <a:r>
              <a:rPr lang="en-US" sz="2400" dirty="0" smtClean="0"/>
              <a:t> will </a:t>
            </a:r>
            <a:r>
              <a:rPr lang="en-US" sz="2400" u="sng" dirty="0" smtClean="0"/>
              <a:t>be exported</a:t>
            </a:r>
            <a:r>
              <a:rPr lang="en-US" sz="2400" dirty="0" smtClean="0"/>
              <a:t> to other packages if the first letter of the identifier name starts with an </a:t>
            </a:r>
            <a:r>
              <a:rPr lang="en-US" sz="2400" i="1" dirty="0" smtClean="0">
                <a:solidFill>
                  <a:srgbClr val="C00000"/>
                </a:solidFill>
              </a:rPr>
              <a:t>uppercase letter</a:t>
            </a:r>
            <a:r>
              <a:rPr lang="en-US" sz="2400" dirty="0" smtClean="0"/>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 Third-Party Packages</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go get </a:t>
            </a:r>
            <a:r>
              <a:rPr lang="en-US" sz="2400" dirty="0" err="1" smtClean="0">
                <a:latin typeface="Consolas" pitchFamily="49" charset="0"/>
              </a:rPr>
              <a:t>gopkg.in</a:t>
            </a:r>
            <a:r>
              <a:rPr lang="en-US" sz="2400" dirty="0" smtClean="0">
                <a:latin typeface="Consolas" pitchFamily="49" charset="0"/>
              </a:rPr>
              <a:t>/mgo.v2</a:t>
            </a:r>
            <a:endParaRPr lang="en-US" sz="2400" dirty="0">
              <a:latin typeface="Consolas" pitchFamily="49"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GOROOT</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GOROOT</a:t>
            </a:r>
            <a:r>
              <a:rPr lang="en-US" sz="2400" dirty="0" smtClean="0"/>
              <a:t> is a variable that defines where your </a:t>
            </a:r>
            <a:r>
              <a:rPr lang="en-US" sz="2400" u="sng" dirty="0" smtClean="0"/>
              <a:t>Go SDK</a:t>
            </a:r>
            <a:r>
              <a:rPr lang="en-US" sz="2400" dirty="0" smtClean="0"/>
              <a:t> is located.</a:t>
            </a:r>
          </a:p>
          <a:p>
            <a:r>
              <a:rPr lang="en-US" sz="2400" dirty="0" smtClean="0"/>
              <a:t>You do not need to change this variable, unless you plan to use </a:t>
            </a:r>
            <a:r>
              <a:rPr lang="en-US" sz="2400" i="1" dirty="0" smtClean="0">
                <a:solidFill>
                  <a:srgbClr val="C00000"/>
                </a:solidFill>
              </a:rPr>
              <a:t>different Go versions</a:t>
            </a:r>
            <a:r>
              <a:rPr lang="en-US" sz="2400" dirty="0" smtClean="0"/>
              <a:t>.</a:t>
            </a:r>
            <a:endParaRPr lang="en-US" sz="2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GOPATH</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GOPATH</a:t>
            </a:r>
            <a:r>
              <a:rPr lang="en-US" sz="2400" dirty="0" smtClean="0"/>
              <a:t> is a variable that defines the root of your </a:t>
            </a:r>
            <a:r>
              <a:rPr lang="en-US" sz="2400" u="sng" dirty="0" smtClean="0"/>
              <a:t>workspace</a:t>
            </a:r>
            <a:r>
              <a:rPr lang="en-US" sz="2400" dirty="0" smtClean="0"/>
              <a:t>.</a:t>
            </a:r>
          </a:p>
          <a:p>
            <a:r>
              <a:rPr lang="en-US" sz="2400" dirty="0" smtClean="0"/>
              <a:t>By default, the workspace directory is a directory that is named go within your user home directory (</a:t>
            </a:r>
            <a:r>
              <a:rPr lang="en-US" sz="2400" b="1" dirty="0" smtClean="0">
                <a:latin typeface="Consolas" pitchFamily="49" charset="0"/>
              </a:rPr>
              <a:t>~/go</a:t>
            </a:r>
            <a:r>
              <a:rPr lang="en-US" sz="2400" dirty="0" smtClean="0"/>
              <a:t> for Linux and </a:t>
            </a:r>
            <a:r>
              <a:rPr lang="en-US" sz="2400" dirty="0" err="1" smtClean="0"/>
              <a:t>macOS</a:t>
            </a:r>
            <a:r>
              <a:rPr lang="en-US" sz="2400" dirty="0" smtClean="0"/>
              <a:t>, </a:t>
            </a:r>
            <a:r>
              <a:rPr lang="en-US" sz="2400" b="1" dirty="0" smtClean="0">
                <a:latin typeface="Consolas" pitchFamily="49" charset="0"/>
              </a:rPr>
              <a:t>%USERPROFILE%/go</a:t>
            </a:r>
            <a:r>
              <a:rPr lang="en-US" sz="2400" dirty="0" smtClean="0"/>
              <a:t> for Windows).</a:t>
            </a:r>
          </a:p>
          <a:p>
            <a:r>
              <a:rPr lang="en-US" sz="2400" dirty="0" smtClean="0"/>
              <a:t>GOPATH stores your code base and all the files that are necessary for your development.</a:t>
            </a:r>
            <a:endParaRPr lang="en-US" sz="2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Configuring GOPATH</a:t>
            </a:r>
            <a:endParaRPr lang="en-US" dirty="0"/>
          </a:p>
        </p:txBody>
      </p:sp>
      <p:sp>
        <p:nvSpPr>
          <p:cNvPr id="3" name="Content Placeholder 2"/>
          <p:cNvSpPr>
            <a:spLocks noGrp="1"/>
          </p:cNvSpPr>
          <p:nvPr>
            <p:ph idx="1"/>
          </p:nvPr>
        </p:nvSpPr>
        <p:spPr/>
        <p:txBody>
          <a:bodyPr/>
          <a:lstStyle/>
          <a:p>
            <a:r>
              <a:rPr lang="en-US" sz="2400" dirty="0" smtClean="0"/>
              <a:t>You can configure GOPATH for the following scopes:</a:t>
            </a:r>
          </a:p>
          <a:p>
            <a:pPr lvl="1"/>
            <a:r>
              <a:rPr lang="en-US" sz="2000" b="1" dirty="0" smtClean="0"/>
              <a:t>Global GOPATH</a:t>
            </a:r>
            <a:r>
              <a:rPr lang="en-US" sz="2000" dirty="0" smtClean="0"/>
              <a:t>: settings apply to all projects of a specific installation of </a:t>
            </a:r>
            <a:r>
              <a:rPr lang="en-US" sz="2000" dirty="0" err="1" smtClean="0"/>
              <a:t>GoLand</a:t>
            </a:r>
            <a:r>
              <a:rPr lang="en-US" sz="2000" dirty="0" smtClean="0"/>
              <a:t>.</a:t>
            </a:r>
          </a:p>
          <a:p>
            <a:pPr lvl="1"/>
            <a:r>
              <a:rPr lang="en-US" sz="2000" b="1" dirty="0" smtClean="0"/>
              <a:t>Project GOPATH</a:t>
            </a:r>
            <a:r>
              <a:rPr lang="en-US" sz="2000" dirty="0" smtClean="0"/>
              <a:t>: settings apply only to the current project.</a:t>
            </a:r>
          </a:p>
          <a:p>
            <a:pPr lvl="1"/>
            <a:r>
              <a:rPr lang="en-US" sz="2000" b="1" dirty="0" smtClean="0"/>
              <a:t>Module GOPATH</a:t>
            </a:r>
            <a:r>
              <a:rPr lang="en-US" sz="2000" dirty="0" smtClean="0"/>
              <a:t>: settings apply only to one module. A module can have an SDK that is different from those configured for a project. They can also carry a specific technology or a framework.</a:t>
            </a:r>
            <a:endParaRPr lang="en-US" sz="2000" dirty="0"/>
          </a:p>
        </p:txBody>
      </p:sp>
      <p:pic>
        <p:nvPicPr>
          <p:cNvPr id="1026" name="Picture 2" descr="https://resources.jetbrains.com/help/img/idea/2023.3/settings-types.png"/>
          <p:cNvPicPr>
            <a:picLocks noChangeAspect="1" noChangeArrowheads="1"/>
          </p:cNvPicPr>
          <p:nvPr/>
        </p:nvPicPr>
        <p:blipFill>
          <a:blip r:embed="rId2" cstate="print"/>
          <a:srcRect/>
          <a:stretch>
            <a:fillRect/>
          </a:stretch>
        </p:blipFill>
        <p:spPr bwMode="auto">
          <a:xfrm>
            <a:off x="2514600" y="4495800"/>
            <a:ext cx="4473575" cy="1438275"/>
          </a:xfrm>
          <a:prstGeom prst="rect">
            <a:avLst/>
          </a:prstGeo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Configuring Global GOPATH on Windows</a:t>
            </a:r>
            <a:endParaRPr lang="en-US" sz="3800" dirty="0"/>
          </a:p>
        </p:txBody>
      </p:sp>
      <p:pic>
        <p:nvPicPr>
          <p:cNvPr id="128002" name="Picture 2"/>
          <p:cNvPicPr>
            <a:picLocks noChangeAspect="1" noChangeArrowheads="1"/>
          </p:cNvPicPr>
          <p:nvPr/>
        </p:nvPicPr>
        <p:blipFill>
          <a:blip r:embed="rId2" cstate="print"/>
          <a:srcRect/>
          <a:stretch>
            <a:fillRect/>
          </a:stretch>
        </p:blipFill>
        <p:spPr bwMode="auto">
          <a:xfrm>
            <a:off x="2590800" y="1981200"/>
            <a:ext cx="4144962" cy="4136072"/>
          </a:xfrm>
          <a:prstGeom prst="rect">
            <a:avLst/>
          </a:prstGeom>
          <a:noFill/>
          <a:ln w="9525">
            <a:noFill/>
            <a:miter lim="800000"/>
            <a:headEnd/>
            <a:tailEnd/>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 Compilation Speed [1]</a:t>
            </a:r>
            <a:endParaRPr lang="en-US" dirty="0"/>
          </a:p>
        </p:txBody>
      </p:sp>
      <p:sp>
        <p:nvSpPr>
          <p:cNvPr id="3" name="Content Placeholder 2"/>
          <p:cNvSpPr>
            <a:spLocks noGrp="1"/>
          </p:cNvSpPr>
          <p:nvPr>
            <p:ph idx="1"/>
          </p:nvPr>
        </p:nvSpPr>
        <p:spPr/>
        <p:txBody>
          <a:bodyPr/>
          <a:lstStyle/>
          <a:p>
            <a:r>
              <a:rPr lang="en-US" sz="2000" dirty="0" smtClean="0"/>
              <a:t>Go </a:t>
            </a:r>
            <a:r>
              <a:rPr lang="en-US" sz="2000" i="1" dirty="0" smtClean="0">
                <a:solidFill>
                  <a:srgbClr val="C00000"/>
                </a:solidFill>
              </a:rPr>
              <a:t>compilation</a:t>
            </a:r>
            <a:r>
              <a:rPr lang="en-US" sz="2000" dirty="0" smtClean="0"/>
              <a:t> is </a:t>
            </a:r>
            <a:r>
              <a:rPr lang="en-US" sz="2000" u="sng" dirty="0" smtClean="0"/>
              <a:t>notably faster</a:t>
            </a:r>
            <a:r>
              <a:rPr lang="en-US" sz="2000" dirty="0" smtClean="0"/>
              <a:t> than most other compiled languages, even when building from scratch.</a:t>
            </a:r>
          </a:p>
          <a:p>
            <a:r>
              <a:rPr lang="en-US" sz="2000" dirty="0" smtClean="0"/>
              <a:t>There are three main reasons for the compiler's speed.</a:t>
            </a:r>
          </a:p>
          <a:p>
            <a:r>
              <a:rPr lang="en-US" sz="2000" dirty="0" smtClean="0"/>
              <a:t>First, </a:t>
            </a:r>
            <a:r>
              <a:rPr lang="en-US" sz="2000" i="1" dirty="0" smtClean="0">
                <a:solidFill>
                  <a:srgbClr val="C00000"/>
                </a:solidFill>
              </a:rPr>
              <a:t>all imports</a:t>
            </a:r>
            <a:r>
              <a:rPr lang="en-US" sz="2000" dirty="0" smtClean="0"/>
              <a:t> must be </a:t>
            </a:r>
            <a:r>
              <a:rPr lang="en-US" sz="2000" u="sng" dirty="0" smtClean="0"/>
              <a:t>explicitly listed</a:t>
            </a:r>
            <a:r>
              <a:rPr lang="en-US" sz="2000" dirty="0" smtClean="0"/>
              <a:t> at the beginning of each source file, so the compiler does not have to read and process an entire file to determine its dependencies.</a:t>
            </a:r>
          </a:p>
          <a:p>
            <a:r>
              <a:rPr lang="en-US" sz="2000" dirty="0" smtClean="0"/>
              <a:t>Second, </a:t>
            </a:r>
            <a:r>
              <a:rPr lang="en-US" sz="2000" i="1" dirty="0" smtClean="0">
                <a:solidFill>
                  <a:srgbClr val="C00000"/>
                </a:solidFill>
              </a:rPr>
              <a:t>the dependencies</a:t>
            </a:r>
            <a:r>
              <a:rPr lang="en-US" sz="2000" dirty="0" smtClean="0"/>
              <a:t> of a package form </a:t>
            </a:r>
            <a:r>
              <a:rPr lang="en-US" sz="2000" u="sng" dirty="0" smtClean="0"/>
              <a:t>a directed acyclic graph</a:t>
            </a:r>
            <a:r>
              <a:rPr lang="en-US" sz="2000" dirty="0" smtClean="0"/>
              <a:t>, and because there are no cycles, packages can be compiled separately and perhaps in parallel.</a:t>
            </a:r>
          </a:p>
          <a:p>
            <a:r>
              <a:rPr lang="en-US" sz="2000" dirty="0" smtClean="0"/>
              <a:t>Finally, </a:t>
            </a:r>
            <a:r>
              <a:rPr lang="en-US" sz="2000" i="1" dirty="0" smtClean="0">
                <a:solidFill>
                  <a:srgbClr val="C00000"/>
                </a:solidFill>
              </a:rPr>
              <a:t>the object file</a:t>
            </a:r>
            <a:r>
              <a:rPr lang="en-US" sz="2000" dirty="0" smtClean="0"/>
              <a:t> for a compiled Go package </a:t>
            </a:r>
            <a:r>
              <a:rPr lang="en-US" sz="2000" u="sng" dirty="0" smtClean="0"/>
              <a:t>records export information</a:t>
            </a:r>
            <a:r>
              <a:rPr lang="en-US" sz="2000" dirty="0" smtClean="0"/>
              <a:t> not just for the package itself, but for </a:t>
            </a:r>
            <a:r>
              <a:rPr lang="en-US" sz="2000" u="sng" dirty="0" smtClean="0"/>
              <a:t>its dependencies</a:t>
            </a:r>
            <a:r>
              <a:rPr lang="en-US" sz="2000" dirty="0" smtClean="0"/>
              <a:t> too. When compiling a package, the compiler must read one object file for each import but need not look beyond these files.</a:t>
            </a:r>
            <a:endParaRPr lang="en-US" sz="2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Print Errors</a:t>
            </a:r>
            <a:endParaRPr lang="en-US" dirty="0"/>
          </a:p>
        </p:txBody>
      </p:sp>
      <p:sp>
        <p:nvSpPr>
          <p:cNvPr id="4" name="Content Placeholder 2"/>
          <p:cNvSpPr txBox="1">
            <a:spLocks/>
          </p:cNvSpPr>
          <p:nvPr/>
        </p:nvSpPr>
        <p:spPr bwMode="auto">
          <a:xfrm>
            <a:off x="457200" y="2209800"/>
            <a:ext cx="8229600" cy="23622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2000" dirty="0" err="1" smtClean="0">
                <a:solidFill>
                  <a:srgbClr val="569CD6"/>
                </a:solidFill>
                <a:latin typeface="Consolas"/>
              </a:rPr>
              <a:t>func</a:t>
            </a:r>
            <a:r>
              <a:rPr lang="en-US" sz="2000" dirty="0" smtClean="0">
                <a:solidFill>
                  <a:srgbClr val="D4D4D4"/>
                </a:solidFill>
                <a:latin typeface="Consolas"/>
              </a:rPr>
              <a:t> </a:t>
            </a:r>
            <a:r>
              <a:rPr lang="en-US" sz="2000" dirty="0" smtClean="0">
                <a:solidFill>
                  <a:srgbClr val="DCDCAA"/>
                </a:solidFill>
                <a:latin typeface="Consolas"/>
              </a:rPr>
              <a:t>main</a:t>
            </a:r>
            <a:r>
              <a:rPr lang="en-US" sz="2000" dirty="0" smtClean="0">
                <a:solidFill>
                  <a:srgbClr val="D4D4D4"/>
                </a:solidFill>
                <a:latin typeface="Consolas"/>
              </a:rPr>
              <a:t>() {</a:t>
            </a:r>
          </a:p>
          <a:p>
            <a:r>
              <a:rPr lang="en-US" sz="2000" dirty="0" smtClean="0">
                <a:solidFill>
                  <a:srgbClr val="D4D4D4"/>
                </a:solidFill>
                <a:latin typeface="Consolas"/>
              </a:rPr>
              <a:t>    </a:t>
            </a:r>
            <a:r>
              <a:rPr lang="en-US" sz="2000" dirty="0" err="1" smtClean="0">
                <a:solidFill>
                  <a:srgbClr val="D4D4D4"/>
                </a:solidFill>
                <a:latin typeface="Consolas"/>
              </a:rPr>
              <a:t>log.</a:t>
            </a:r>
            <a:r>
              <a:rPr lang="en-US" sz="2000" dirty="0" err="1" smtClean="0">
                <a:solidFill>
                  <a:srgbClr val="DCDCAA"/>
                </a:solidFill>
                <a:latin typeface="Consolas"/>
              </a:rPr>
              <a:t>New</a:t>
            </a:r>
            <a:r>
              <a:rPr lang="en-US" sz="2000" dirty="0" smtClean="0">
                <a:solidFill>
                  <a:srgbClr val="D4D4D4"/>
                </a:solidFill>
                <a:latin typeface="Consolas"/>
              </a:rPr>
              <a:t>(</a:t>
            </a:r>
            <a:r>
              <a:rPr lang="en-US" sz="2000" dirty="0" err="1" smtClean="0">
                <a:solidFill>
                  <a:srgbClr val="D4D4D4"/>
                </a:solidFill>
                <a:latin typeface="Consolas"/>
              </a:rPr>
              <a:t>os.Stderr</a:t>
            </a:r>
            <a:r>
              <a:rPr lang="en-US" sz="2000" dirty="0" smtClean="0">
                <a:solidFill>
                  <a:srgbClr val="D4D4D4"/>
                </a:solidFill>
                <a:latin typeface="Consolas"/>
              </a:rPr>
              <a:t>, </a:t>
            </a:r>
            <a:r>
              <a:rPr lang="en-US" sz="2000" dirty="0" smtClean="0">
                <a:solidFill>
                  <a:srgbClr val="CE9178"/>
                </a:solidFill>
                <a:latin typeface="Consolas"/>
              </a:rPr>
              <a:t>""</a:t>
            </a:r>
            <a:r>
              <a:rPr lang="en-US" sz="2000" dirty="0" smtClean="0">
                <a:solidFill>
                  <a:srgbClr val="D4D4D4"/>
                </a:solidFill>
                <a:latin typeface="Consolas"/>
              </a:rPr>
              <a:t>, </a:t>
            </a:r>
            <a:r>
              <a:rPr lang="en-US" sz="2000" dirty="0" smtClean="0">
                <a:solidFill>
                  <a:srgbClr val="B5CEA8"/>
                </a:solidFill>
                <a:latin typeface="Consolas"/>
              </a:rPr>
              <a:t>0</a:t>
            </a:r>
            <a:r>
              <a:rPr lang="en-US" sz="2000" dirty="0" smtClean="0">
                <a:solidFill>
                  <a:srgbClr val="D4D4D4"/>
                </a:solidFill>
                <a:latin typeface="Consolas"/>
              </a:rPr>
              <a: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smtClean="0">
                <a:solidFill>
                  <a:srgbClr val="CE9178"/>
                </a:solidFill>
                <a:latin typeface="Consolas"/>
              </a:rPr>
              <a:t>"Error 1"</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Fprintln</a:t>
            </a:r>
            <a:r>
              <a:rPr lang="en-US" sz="2000" dirty="0" smtClean="0">
                <a:solidFill>
                  <a:srgbClr val="D4D4D4"/>
                </a:solidFill>
                <a:latin typeface="Consolas"/>
              </a:rPr>
              <a:t>(</a:t>
            </a:r>
            <a:r>
              <a:rPr lang="en-US" sz="2000" dirty="0" err="1" smtClean="0">
                <a:solidFill>
                  <a:srgbClr val="D4D4D4"/>
                </a:solidFill>
                <a:latin typeface="Consolas"/>
              </a:rPr>
              <a:t>os.Stderr</a:t>
            </a:r>
            <a:r>
              <a:rPr lang="en-US" sz="2000" dirty="0" smtClean="0">
                <a:solidFill>
                  <a:srgbClr val="D4D4D4"/>
                </a:solidFill>
                <a:latin typeface="Consolas"/>
              </a:rPr>
              <a:t>, </a:t>
            </a:r>
            <a:r>
              <a:rPr lang="en-US" sz="2000" dirty="0" smtClean="0">
                <a:solidFill>
                  <a:srgbClr val="CE9178"/>
                </a:solidFill>
                <a:latin typeface="Consolas"/>
              </a:rPr>
              <a:t>"Error 2"</a:t>
            </a:r>
            <a:r>
              <a:rPr lang="en-US" sz="2000" dirty="0" smtClean="0">
                <a:solidFill>
                  <a:srgbClr val="D4D4D4"/>
                </a:solidFill>
                <a:latin typeface="Consolas"/>
              </a:rPr>
              <a:t>)</a:t>
            </a:r>
          </a:p>
          <a:p>
            <a:r>
              <a:rPr lang="en-US" sz="2000" dirty="0" smtClean="0">
                <a:solidFill>
                  <a:srgbClr val="D4D4D4"/>
                </a:solidFill>
                <a:latin typeface="Consolas"/>
              </a:rPr>
              <a:t>    </a:t>
            </a:r>
            <a:r>
              <a:rPr lang="en-US" sz="2000" dirty="0" smtClean="0">
                <a:solidFill>
                  <a:srgbClr val="6A9955"/>
                </a:solidFill>
                <a:latin typeface="Consolas"/>
              </a:rPr>
              <a:t>// Calling the </a:t>
            </a:r>
            <a:r>
              <a:rPr lang="en-US" sz="2000" dirty="0" err="1" smtClean="0">
                <a:solidFill>
                  <a:srgbClr val="6A9955"/>
                </a:solidFill>
                <a:latin typeface="Consolas"/>
              </a:rPr>
              <a:t>Errorf</a:t>
            </a:r>
            <a:r>
              <a:rPr lang="en-US" sz="2000" dirty="0" smtClean="0">
                <a:solidFill>
                  <a:srgbClr val="6A9955"/>
                </a:solidFill>
                <a:latin typeface="Consolas"/>
              </a:rPr>
              <a:t>() function with verb</a:t>
            </a:r>
            <a:endParaRPr lang="en-US" sz="2000" dirty="0" smtClean="0">
              <a:solidFill>
                <a:srgbClr val="D4D4D4"/>
              </a:solidFill>
              <a:latin typeface="Consolas"/>
            </a:endParaRPr>
          </a:p>
          <a:p>
            <a:r>
              <a:rPr lang="en-US" sz="2000" dirty="0" smtClean="0">
                <a:solidFill>
                  <a:srgbClr val="D4D4D4"/>
                </a:solidFill>
                <a:latin typeface="Consolas"/>
              </a:rPr>
              <a:t>    </a:t>
            </a:r>
            <a:r>
              <a:rPr lang="en-US" sz="2000" dirty="0" smtClean="0">
                <a:solidFill>
                  <a:srgbClr val="6A9955"/>
                </a:solidFill>
                <a:latin typeface="Consolas"/>
              </a:rPr>
              <a:t>// %q which is used for a single-quoted character</a:t>
            </a:r>
            <a:endParaRPr lang="en-US" sz="2000" dirty="0" smtClean="0">
              <a:solidFill>
                <a:srgbClr val="D4D4D4"/>
              </a:solidFill>
              <a:latin typeface="Consolas"/>
            </a:endParaRPr>
          </a:p>
          <a:p>
            <a:r>
              <a:rPr lang="en-US" sz="2000" dirty="0" smtClean="0">
                <a:solidFill>
                  <a:srgbClr val="D4D4D4"/>
                </a:solidFill>
                <a:latin typeface="Consolas"/>
              </a:rPr>
              <a:t>    </a:t>
            </a:r>
            <a:r>
              <a:rPr lang="en-US" sz="2000" dirty="0" err="1" smtClean="0">
                <a:solidFill>
                  <a:srgbClr val="D4D4D4"/>
                </a:solidFill>
                <a:latin typeface="Consolas"/>
              </a:rPr>
              <a:t>fmt.</a:t>
            </a:r>
            <a:r>
              <a:rPr lang="en-US" sz="2000" dirty="0" err="1" smtClean="0">
                <a:solidFill>
                  <a:srgbClr val="DCDCAA"/>
                </a:solidFill>
                <a:latin typeface="Consolas"/>
              </a:rPr>
              <a:t>Println</a:t>
            </a:r>
            <a:r>
              <a:rPr lang="en-US" sz="2000" dirty="0" smtClean="0">
                <a:solidFill>
                  <a:srgbClr val="D4D4D4"/>
                </a:solidFill>
                <a:latin typeface="Consolas"/>
              </a:rPr>
              <a:t>(</a:t>
            </a:r>
            <a:r>
              <a:rPr lang="en-US" sz="2000" dirty="0" err="1" smtClean="0">
                <a:solidFill>
                  <a:srgbClr val="D4D4D4"/>
                </a:solidFill>
                <a:latin typeface="Consolas"/>
              </a:rPr>
              <a:t>fmt.</a:t>
            </a:r>
            <a:r>
              <a:rPr lang="en-US" sz="2000" dirty="0" err="1" smtClean="0">
                <a:solidFill>
                  <a:srgbClr val="DCDCAA"/>
                </a:solidFill>
                <a:latin typeface="Consolas"/>
              </a:rPr>
              <a:t>Errorf</a:t>
            </a:r>
            <a:r>
              <a:rPr lang="en-US" sz="2000" dirty="0" smtClean="0">
                <a:solidFill>
                  <a:srgbClr val="D4D4D4"/>
                </a:solidFill>
                <a:latin typeface="Consolas"/>
              </a:rPr>
              <a:t>(</a:t>
            </a:r>
            <a:r>
              <a:rPr lang="en-US" sz="2000" dirty="0" smtClean="0">
                <a:solidFill>
                  <a:srgbClr val="CE9178"/>
                </a:solidFill>
                <a:latin typeface="Consolas"/>
              </a:rPr>
              <a:t>"</a:t>
            </a:r>
            <a:r>
              <a:rPr lang="en-US" sz="2000" dirty="0" smtClean="0">
                <a:solidFill>
                  <a:srgbClr val="9CDCFE"/>
                </a:solidFill>
                <a:latin typeface="Consolas"/>
              </a:rPr>
              <a:t>%q</a:t>
            </a:r>
            <a:r>
              <a:rPr lang="en-US" sz="2000" dirty="0" smtClean="0">
                <a:solidFill>
                  <a:srgbClr val="D7BA7D"/>
                </a:solidFill>
                <a:latin typeface="Consolas"/>
              </a:rPr>
              <a:t>\n</a:t>
            </a:r>
            <a:r>
              <a:rPr lang="en-US" sz="2000" dirty="0" smtClean="0">
                <a:solidFill>
                  <a:srgbClr val="CE9178"/>
                </a:solidFill>
                <a:latin typeface="Consolas"/>
              </a:rPr>
              <a:t>"</a:t>
            </a:r>
            <a:r>
              <a:rPr lang="en-US" sz="2000" dirty="0" smtClean="0">
                <a:solidFill>
                  <a:srgbClr val="D4D4D4"/>
                </a:solidFill>
                <a:latin typeface="Consolas"/>
              </a:rPr>
              <a:t>, </a:t>
            </a:r>
            <a:r>
              <a:rPr lang="en-US" sz="2000" dirty="0" smtClean="0">
                <a:solidFill>
                  <a:srgbClr val="CE9178"/>
                </a:solidFill>
                <a:latin typeface="Consolas"/>
              </a:rPr>
              <a:t>"Error 3"</a:t>
            </a:r>
            <a:r>
              <a:rPr lang="en-US" sz="2000" dirty="0" smtClean="0">
                <a:solidFill>
                  <a:srgbClr val="D4D4D4"/>
                </a:solidFill>
                <a:latin typeface="Consolas"/>
              </a:rPr>
              <a:t>).</a:t>
            </a:r>
            <a:r>
              <a:rPr lang="en-US" sz="2000" dirty="0" smtClean="0">
                <a:solidFill>
                  <a:srgbClr val="DCDCAA"/>
                </a:solidFill>
                <a:latin typeface="Consolas"/>
              </a:rPr>
              <a:t>Error</a:t>
            </a:r>
            <a:r>
              <a:rPr lang="en-US" sz="2000" dirty="0" smtClean="0">
                <a:solidFill>
                  <a:srgbClr val="D4D4D4"/>
                </a:solidFill>
                <a:latin typeface="Consolas"/>
              </a:rPr>
              <a:t>())</a:t>
            </a:r>
          </a:p>
          <a:p>
            <a:r>
              <a:rPr lang="en-US" sz="2000" dirty="0" smtClean="0">
                <a:solidFill>
                  <a:srgbClr val="D4D4D4"/>
                </a:solidFill>
                <a:latin typeface="Consolas"/>
              </a:rPr>
              <a:t>}</a:t>
            </a:r>
            <a:endParaRPr lang="en-US" sz="2000" b="0" dirty="0">
              <a:solidFill>
                <a:srgbClr val="D4D4D4"/>
              </a:solidFill>
              <a:latin typeface="Consolas"/>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smtClean="0">
                <a:latin typeface="Consolas" pitchFamily="49" charset="0"/>
              </a:rPr>
              <a:t>go test</a:t>
            </a:r>
            <a:r>
              <a:rPr lang="en-US" dirty="0" smtClean="0"/>
              <a:t> Tool</a:t>
            </a:r>
            <a:endParaRPr lang="en-US" dirty="0"/>
          </a:p>
        </p:txBody>
      </p:sp>
      <p:sp>
        <p:nvSpPr>
          <p:cNvPr id="3" name="Content Placeholder 2"/>
          <p:cNvSpPr>
            <a:spLocks noGrp="1"/>
          </p:cNvSpPr>
          <p:nvPr>
            <p:ph idx="1"/>
          </p:nvPr>
        </p:nvSpPr>
        <p:spPr/>
        <p:txBody>
          <a:bodyPr/>
          <a:lstStyle/>
          <a:p>
            <a:r>
              <a:rPr lang="en-US" sz="2400" dirty="0" smtClean="0"/>
              <a:t>The </a:t>
            </a:r>
            <a:r>
              <a:rPr lang="en-US" sz="2400" dirty="0" smtClean="0">
                <a:latin typeface="Consolas" pitchFamily="49" charset="0"/>
              </a:rPr>
              <a:t>go test</a:t>
            </a:r>
            <a:r>
              <a:rPr lang="en-US" sz="2400" dirty="0" smtClean="0"/>
              <a:t> subcommand is a test driver for Go packages that are organized according to certain conventions.</a:t>
            </a:r>
          </a:p>
          <a:p>
            <a:r>
              <a:rPr lang="en-US" sz="2400" dirty="0" smtClean="0"/>
              <a:t>In a package directory, files whose names end with </a:t>
            </a:r>
            <a:r>
              <a:rPr lang="en-US" sz="2400" dirty="0" smtClean="0">
                <a:latin typeface="Consolas" pitchFamily="49" charset="0"/>
              </a:rPr>
              <a:t>_</a:t>
            </a:r>
            <a:r>
              <a:rPr lang="en-US" sz="2400" dirty="0" err="1" smtClean="0">
                <a:latin typeface="Consolas" pitchFamily="49" charset="0"/>
              </a:rPr>
              <a:t>test.go</a:t>
            </a:r>
            <a:r>
              <a:rPr lang="en-US" sz="2400" dirty="0" smtClean="0"/>
              <a:t> are not part of the package ordinarily built by go build but are a part of it when built by </a:t>
            </a:r>
            <a:r>
              <a:rPr lang="en-US" sz="2400" dirty="0" smtClean="0">
                <a:latin typeface="Consolas" pitchFamily="49" charset="0"/>
              </a:rPr>
              <a:t>go test</a:t>
            </a:r>
            <a:r>
              <a:rPr lang="en-US" sz="2400" dirty="0" smtClean="0"/>
              <a:t>.</a:t>
            </a:r>
            <a:endParaRPr lang="en-US" sz="24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Special Test Functions</a:t>
            </a:r>
            <a:endParaRPr lang="en-US" dirty="0"/>
          </a:p>
        </p:txBody>
      </p:sp>
      <p:sp>
        <p:nvSpPr>
          <p:cNvPr id="3" name="Content Placeholder 2"/>
          <p:cNvSpPr>
            <a:spLocks noGrp="1"/>
          </p:cNvSpPr>
          <p:nvPr>
            <p:ph idx="1"/>
          </p:nvPr>
        </p:nvSpPr>
        <p:spPr/>
        <p:txBody>
          <a:bodyPr/>
          <a:lstStyle/>
          <a:p>
            <a:r>
              <a:rPr lang="en-US" sz="2200" dirty="0" smtClean="0"/>
              <a:t>A </a:t>
            </a:r>
            <a:r>
              <a:rPr lang="en-US" sz="2200" i="1" dirty="0" smtClean="0">
                <a:solidFill>
                  <a:srgbClr val="C00000"/>
                </a:solidFill>
              </a:rPr>
              <a:t>test function</a:t>
            </a:r>
            <a:r>
              <a:rPr lang="en-US" sz="2200" dirty="0" smtClean="0"/>
              <a:t>, which is a function whose name begins with </a:t>
            </a:r>
            <a:r>
              <a:rPr lang="en-US" sz="2200" dirty="0" smtClean="0">
                <a:latin typeface="Consolas" pitchFamily="49" charset="0"/>
              </a:rPr>
              <a:t>Test</a:t>
            </a:r>
            <a:r>
              <a:rPr lang="en-US" sz="2200" dirty="0" smtClean="0"/>
              <a:t>, exercises some program logic for correct behavior; go test calls the test function and reports the result, which is either </a:t>
            </a:r>
            <a:r>
              <a:rPr lang="en-US" sz="2200" dirty="0" smtClean="0">
                <a:latin typeface="Consolas" pitchFamily="49" charset="0"/>
              </a:rPr>
              <a:t>PASS</a:t>
            </a:r>
            <a:r>
              <a:rPr lang="en-US" sz="2200" dirty="0" smtClean="0"/>
              <a:t> or </a:t>
            </a:r>
            <a:r>
              <a:rPr lang="en-US" sz="2200" dirty="0" smtClean="0">
                <a:latin typeface="Consolas" pitchFamily="49" charset="0"/>
              </a:rPr>
              <a:t>FAIL</a:t>
            </a:r>
            <a:r>
              <a:rPr lang="en-US" sz="2200" dirty="0" smtClean="0"/>
              <a:t>.</a:t>
            </a:r>
          </a:p>
          <a:p>
            <a:r>
              <a:rPr lang="en-US" sz="2200" dirty="0" smtClean="0"/>
              <a:t>A </a:t>
            </a:r>
            <a:r>
              <a:rPr lang="en-US" sz="2200" i="1" dirty="0" smtClean="0">
                <a:solidFill>
                  <a:srgbClr val="C00000"/>
                </a:solidFill>
              </a:rPr>
              <a:t>benchmark function</a:t>
            </a:r>
            <a:r>
              <a:rPr lang="en-US" sz="2200" dirty="0" smtClean="0"/>
              <a:t> has a name beginning with </a:t>
            </a:r>
            <a:r>
              <a:rPr lang="en-US" sz="2200" dirty="0" smtClean="0">
                <a:latin typeface="Consolas" pitchFamily="49" charset="0"/>
              </a:rPr>
              <a:t>Benchmark</a:t>
            </a:r>
            <a:r>
              <a:rPr lang="en-US" sz="2200" dirty="0" smtClean="0"/>
              <a:t> and measures the performance of some operation; go test reports the mean execution time of the operation.</a:t>
            </a:r>
          </a:p>
          <a:p>
            <a:r>
              <a:rPr lang="en-US" sz="2200" dirty="0" smtClean="0"/>
              <a:t>And an </a:t>
            </a:r>
            <a:r>
              <a:rPr lang="en-US" sz="2200" i="1" dirty="0" smtClean="0">
                <a:solidFill>
                  <a:srgbClr val="C00000"/>
                </a:solidFill>
              </a:rPr>
              <a:t>example function</a:t>
            </a:r>
            <a:r>
              <a:rPr lang="en-US" sz="2200" dirty="0" smtClean="0"/>
              <a:t>, whose name starts with </a:t>
            </a:r>
            <a:r>
              <a:rPr lang="en-US" sz="2200" dirty="0" smtClean="0">
                <a:latin typeface="Consolas" pitchFamily="49" charset="0"/>
              </a:rPr>
              <a:t>Example</a:t>
            </a:r>
            <a:r>
              <a:rPr lang="en-US" sz="2200" dirty="0" smtClean="0"/>
              <a:t>, provides machine-checked documentation.</a:t>
            </a:r>
          </a:p>
          <a:p>
            <a:r>
              <a:rPr lang="en-US" sz="2200" dirty="0" smtClean="0"/>
              <a:t>The go test tool scans the </a:t>
            </a:r>
            <a:r>
              <a:rPr lang="en-US" sz="2200" dirty="0" smtClean="0">
                <a:latin typeface="Consolas" pitchFamily="49" charset="0"/>
              </a:rPr>
              <a:t>*_</a:t>
            </a:r>
            <a:r>
              <a:rPr lang="en-US" sz="2200" dirty="0" err="1" smtClean="0">
                <a:latin typeface="Consolas" pitchFamily="49" charset="0"/>
              </a:rPr>
              <a:t>test.go</a:t>
            </a:r>
            <a:r>
              <a:rPr lang="en-US" sz="2200" dirty="0" smtClean="0"/>
              <a:t> files for these special functions, generates a temporary main package that calls them all in the proper way, builds and runs it, reports the results, and then cleans up.</a:t>
            </a:r>
            <a:endParaRPr lang="en-US" sz="22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t>
            </a:r>
            <a:r>
              <a:rPr lang="en-US" dirty="0" err="1" smtClean="0">
                <a:latin typeface="Consolas" pitchFamily="49" charset="0"/>
              </a:rPr>
              <a:t>greetings_test.go</a:t>
            </a:r>
            <a:endParaRPr lang="en-US" dirty="0">
              <a:latin typeface="Consolas" pitchFamily="49" charset="0"/>
            </a:endParaRPr>
          </a:p>
        </p:txBody>
      </p:sp>
      <p:sp>
        <p:nvSpPr>
          <p:cNvPr id="4" name="Content Placeholder 2"/>
          <p:cNvSpPr txBox="1">
            <a:spLocks/>
          </p:cNvSpPr>
          <p:nvPr/>
        </p:nvSpPr>
        <p:spPr bwMode="auto">
          <a:xfrm>
            <a:off x="457200" y="1905000"/>
            <a:ext cx="8229600" cy="4419600"/>
          </a:xfrm>
          <a:prstGeom prst="rect">
            <a:avLst/>
          </a:prstGeom>
          <a:ln w="38100" cap="flat" cmpd="sng" algn="ctr">
            <a:solidFill>
              <a:schemeClr val="lt1"/>
            </a:solidFill>
            <a:prstDash val="solid"/>
            <a:miter lim="800000"/>
            <a:headEnd/>
            <a:tailEnd/>
          </a:ln>
        </p:spPr>
        <p:style>
          <a:lnRef idx="3">
            <a:schemeClr val="lt1"/>
          </a:lnRef>
          <a:fillRef idx="1">
            <a:schemeClr val="dk1"/>
          </a:fillRef>
          <a:effectRef idx="1">
            <a:schemeClr val="dk1"/>
          </a:effectRef>
          <a:fontRef idx="minor">
            <a:schemeClr val="lt1"/>
          </a:fontRef>
        </p:style>
        <p:txBody>
          <a:bodyPr vert="horz" wrap="square" lIns="91440" tIns="45720" rIns="91440" bIns="45720" numCol="1" anchor="t" anchorCtr="0" compatLnSpc="1">
            <a:prstTxWarp prst="textNoShape">
              <a:avLst/>
            </a:prstTxWarp>
          </a:bodyPr>
          <a:lstStyle/>
          <a:p>
            <a:r>
              <a:rPr lang="en-US" sz="1600" dirty="0" smtClean="0">
                <a:solidFill>
                  <a:srgbClr val="569CD6"/>
                </a:solidFill>
                <a:latin typeface="Consolas"/>
              </a:rPr>
              <a:t>package</a:t>
            </a:r>
            <a:r>
              <a:rPr lang="en-US" sz="1600" dirty="0" smtClean="0">
                <a:solidFill>
                  <a:srgbClr val="D4D4D4"/>
                </a:solidFill>
                <a:latin typeface="Consolas"/>
              </a:rPr>
              <a:t> greetings</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569CD6"/>
                </a:solidFill>
                <a:latin typeface="Consolas"/>
              </a:rPr>
              <a:t>import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CE9178"/>
                </a:solidFill>
                <a:latin typeface="Consolas"/>
              </a:rPr>
              <a:t>"</a:t>
            </a:r>
            <a:r>
              <a:rPr lang="en-US" sz="1600" dirty="0" err="1" smtClean="0">
                <a:solidFill>
                  <a:srgbClr val="CE9178"/>
                </a:solidFill>
                <a:latin typeface="Consolas"/>
              </a:rPr>
              <a:t>regexp</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CE9178"/>
                </a:solidFill>
                <a:latin typeface="Consolas"/>
              </a:rPr>
              <a:t>"testing"</a:t>
            </a:r>
            <a:endParaRPr lang="en-US" sz="1600" dirty="0" smtClean="0">
              <a:solidFill>
                <a:srgbClr val="D4D4D4"/>
              </a:solidFill>
              <a:latin typeface="Consolas"/>
            </a:endParaRPr>
          </a:p>
          <a:p>
            <a:r>
              <a:rPr lang="en-US" sz="1600" dirty="0" smtClean="0">
                <a:solidFill>
                  <a:srgbClr val="D4D4D4"/>
                </a:solidFill>
                <a:latin typeface="Consolas"/>
              </a:rPr>
              <a:t>)</a:t>
            </a:r>
          </a:p>
          <a:p>
            <a:r>
              <a:rPr lang="en-US" sz="1600" dirty="0" smtClean="0">
                <a:solidFill>
                  <a:srgbClr val="D4D4D4"/>
                </a:solidFill>
                <a:latin typeface="Consolas"/>
              </a:rPr>
              <a:t/>
            </a:r>
            <a:br>
              <a:rPr lang="en-US" sz="1600" dirty="0" smtClean="0">
                <a:solidFill>
                  <a:srgbClr val="D4D4D4"/>
                </a:solidFill>
                <a:latin typeface="Consolas"/>
              </a:rPr>
            </a:br>
            <a:r>
              <a:rPr lang="en-US" sz="1600" dirty="0" smtClean="0">
                <a:solidFill>
                  <a:srgbClr val="6A9955"/>
                </a:solidFill>
                <a:latin typeface="Consolas"/>
              </a:rPr>
              <a:t>// </a:t>
            </a:r>
            <a:r>
              <a:rPr lang="en-US" sz="1600" dirty="0" err="1" smtClean="0">
                <a:solidFill>
                  <a:srgbClr val="6A9955"/>
                </a:solidFill>
                <a:latin typeface="Consolas"/>
              </a:rPr>
              <a:t>TestHelloName</a:t>
            </a:r>
            <a:r>
              <a:rPr lang="en-US" sz="1600" dirty="0" smtClean="0">
                <a:solidFill>
                  <a:srgbClr val="6A9955"/>
                </a:solidFill>
                <a:latin typeface="Consolas"/>
              </a:rPr>
              <a:t> calls </a:t>
            </a:r>
            <a:r>
              <a:rPr lang="en-US" sz="1600" dirty="0" err="1" smtClean="0">
                <a:solidFill>
                  <a:srgbClr val="6A9955"/>
                </a:solidFill>
                <a:latin typeface="Consolas"/>
              </a:rPr>
              <a:t>greetings.Hello</a:t>
            </a:r>
            <a:r>
              <a:rPr lang="en-US" sz="1600" dirty="0" smtClean="0">
                <a:solidFill>
                  <a:srgbClr val="6A9955"/>
                </a:solidFill>
                <a:latin typeface="Consolas"/>
              </a:rPr>
              <a:t> with a name, checking</a:t>
            </a:r>
            <a:endParaRPr lang="en-US" sz="1600" dirty="0" smtClean="0">
              <a:solidFill>
                <a:srgbClr val="D4D4D4"/>
              </a:solidFill>
              <a:latin typeface="Consolas"/>
            </a:endParaRPr>
          </a:p>
          <a:p>
            <a:r>
              <a:rPr lang="en-US" sz="1600" dirty="0" smtClean="0">
                <a:solidFill>
                  <a:srgbClr val="6A9955"/>
                </a:solidFill>
                <a:latin typeface="Consolas"/>
              </a:rPr>
              <a:t>// for a valid return value.</a:t>
            </a:r>
            <a:endParaRPr lang="en-US" sz="1600" dirty="0" smtClean="0">
              <a:solidFill>
                <a:srgbClr val="D4D4D4"/>
              </a:solidFill>
              <a:latin typeface="Consolas"/>
            </a:endParaRPr>
          </a:p>
          <a:p>
            <a:r>
              <a:rPr lang="en-US" sz="1600" dirty="0" err="1" smtClean="0">
                <a:solidFill>
                  <a:srgbClr val="569CD6"/>
                </a:solidFill>
                <a:latin typeface="Consolas"/>
              </a:rPr>
              <a:t>func</a:t>
            </a:r>
            <a:r>
              <a:rPr lang="en-US" sz="1600" dirty="0" smtClean="0">
                <a:solidFill>
                  <a:srgbClr val="D4D4D4"/>
                </a:solidFill>
                <a:latin typeface="Consolas"/>
              </a:rPr>
              <a:t> </a:t>
            </a:r>
            <a:r>
              <a:rPr lang="en-US" sz="1600" dirty="0" err="1" smtClean="0">
                <a:solidFill>
                  <a:srgbClr val="DCDCAA"/>
                </a:solidFill>
                <a:latin typeface="Consolas"/>
              </a:rPr>
              <a:t>TestHelloName</a:t>
            </a:r>
            <a:r>
              <a:rPr lang="en-US" sz="1600" dirty="0" smtClean="0">
                <a:solidFill>
                  <a:srgbClr val="D4D4D4"/>
                </a:solidFill>
                <a:latin typeface="Consolas"/>
              </a:rPr>
              <a:t>(t *</a:t>
            </a:r>
            <a:r>
              <a:rPr lang="en-US" sz="1600" dirty="0" err="1" smtClean="0">
                <a:solidFill>
                  <a:srgbClr val="D4D4D4"/>
                </a:solidFill>
                <a:latin typeface="Consolas"/>
              </a:rPr>
              <a:t>testing.T</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smtClean="0">
                <a:solidFill>
                  <a:srgbClr val="9CDCFE"/>
                </a:solidFill>
                <a:latin typeface="Consolas"/>
              </a:rPr>
              <a:t>name</a:t>
            </a:r>
            <a:r>
              <a:rPr lang="en-US" sz="1600" dirty="0" smtClean="0">
                <a:solidFill>
                  <a:srgbClr val="D4D4D4"/>
                </a:solidFill>
                <a:latin typeface="Consolas"/>
              </a:rPr>
              <a:t> := </a:t>
            </a:r>
            <a:r>
              <a:rPr lang="en-US" sz="1600" dirty="0" smtClean="0">
                <a:solidFill>
                  <a:srgbClr val="CE9178"/>
                </a:solidFill>
                <a:latin typeface="Consolas"/>
              </a:rPr>
              <a:t>"</a:t>
            </a:r>
            <a:r>
              <a:rPr lang="en-US" sz="1600" dirty="0" err="1" smtClean="0">
                <a:solidFill>
                  <a:srgbClr val="CE9178"/>
                </a:solidFill>
                <a:latin typeface="Consolas"/>
              </a:rPr>
              <a:t>NHBien</a:t>
            </a:r>
            <a:r>
              <a:rPr lang="en-US" sz="1600" dirty="0" smtClean="0">
                <a:solidFill>
                  <a:srgbClr val="CE9178"/>
                </a:solidFill>
                <a:latin typeface="Consolas"/>
              </a:rPr>
              <a:t>"</a:t>
            </a:r>
            <a:endParaRPr lang="en-US" sz="1600" dirty="0" smtClean="0">
              <a:solidFill>
                <a:srgbClr val="D4D4D4"/>
              </a:solidFill>
              <a:latin typeface="Consolas"/>
            </a:endParaRPr>
          </a:p>
          <a:p>
            <a:r>
              <a:rPr lang="en-US" sz="1600" dirty="0" smtClean="0">
                <a:solidFill>
                  <a:srgbClr val="D4D4D4"/>
                </a:solidFill>
                <a:latin typeface="Consolas"/>
              </a:rPr>
              <a:t>    </a:t>
            </a:r>
            <a:r>
              <a:rPr lang="en-US" sz="1600" dirty="0" smtClean="0">
                <a:solidFill>
                  <a:srgbClr val="9CDCFE"/>
                </a:solidFill>
                <a:latin typeface="Consolas"/>
              </a:rPr>
              <a:t>want</a:t>
            </a:r>
            <a:r>
              <a:rPr lang="en-US" sz="1600" dirty="0" smtClean="0">
                <a:solidFill>
                  <a:srgbClr val="D4D4D4"/>
                </a:solidFill>
                <a:latin typeface="Consolas"/>
              </a:rPr>
              <a:t> := </a:t>
            </a:r>
            <a:r>
              <a:rPr lang="en-US" sz="1600" dirty="0" err="1" smtClean="0">
                <a:solidFill>
                  <a:srgbClr val="D4D4D4"/>
                </a:solidFill>
                <a:latin typeface="Consolas"/>
              </a:rPr>
              <a:t>regexp.</a:t>
            </a:r>
            <a:r>
              <a:rPr lang="en-US" sz="1600" dirty="0" err="1" smtClean="0">
                <a:solidFill>
                  <a:srgbClr val="DCDCAA"/>
                </a:solidFill>
                <a:latin typeface="Consolas"/>
              </a:rPr>
              <a:t>MustCompile</a:t>
            </a:r>
            <a:r>
              <a:rPr lang="en-US" sz="1600" dirty="0" smtClean="0">
                <a:solidFill>
                  <a:srgbClr val="D4D4D4"/>
                </a:solidFill>
                <a:latin typeface="Consolas"/>
              </a:rPr>
              <a:t>(</a:t>
            </a:r>
            <a:r>
              <a:rPr lang="en-US" sz="1600" dirty="0" smtClean="0">
                <a:solidFill>
                  <a:srgbClr val="CE9178"/>
                </a:solidFill>
                <a:latin typeface="Consolas"/>
              </a:rPr>
              <a:t>`\b`</a:t>
            </a:r>
            <a:r>
              <a:rPr lang="en-US" sz="1600" dirty="0" smtClean="0">
                <a:solidFill>
                  <a:srgbClr val="D4D4D4"/>
                </a:solidFill>
                <a:latin typeface="Consolas"/>
              </a:rPr>
              <a:t> + name + </a:t>
            </a:r>
            <a:r>
              <a:rPr lang="en-US" sz="1600" dirty="0" smtClean="0">
                <a:solidFill>
                  <a:srgbClr val="CE9178"/>
                </a:solidFill>
                <a:latin typeface="Consolas"/>
              </a:rPr>
              <a:t>`\b`</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err="1" smtClean="0">
                <a:solidFill>
                  <a:srgbClr val="9CDCFE"/>
                </a:solidFill>
                <a:latin typeface="Consolas"/>
              </a:rPr>
              <a:t>msg</a:t>
            </a:r>
            <a:r>
              <a:rPr lang="en-US" sz="1600" dirty="0" smtClean="0">
                <a:solidFill>
                  <a:srgbClr val="D4D4D4"/>
                </a:solidFill>
                <a:latin typeface="Consolas"/>
              </a:rPr>
              <a:t> := </a:t>
            </a:r>
            <a:r>
              <a:rPr lang="en-US" sz="1600" dirty="0" smtClean="0">
                <a:solidFill>
                  <a:srgbClr val="DCDCAA"/>
                </a:solidFill>
                <a:latin typeface="Consolas"/>
              </a:rPr>
              <a:t>Hello</a:t>
            </a:r>
            <a:r>
              <a:rPr lang="en-US" sz="1600" dirty="0" smtClean="0">
                <a:solidFill>
                  <a:srgbClr val="D4D4D4"/>
                </a:solidFill>
                <a:latin typeface="Consolas"/>
              </a:rPr>
              <a:t>(</a:t>
            </a:r>
            <a:r>
              <a:rPr lang="en-US" sz="1600" dirty="0" smtClean="0">
                <a:solidFill>
                  <a:srgbClr val="CE9178"/>
                </a:solidFill>
                <a:latin typeface="Consolas"/>
              </a:rPr>
              <a:t>"</a:t>
            </a:r>
            <a:r>
              <a:rPr lang="en-US" sz="1600" dirty="0" err="1" smtClean="0">
                <a:solidFill>
                  <a:srgbClr val="CE9178"/>
                </a:solidFill>
                <a:latin typeface="Consolas"/>
              </a:rPr>
              <a:t>NHBien</a:t>
            </a:r>
            <a:r>
              <a:rPr lang="en-US" sz="1600" dirty="0" smtClean="0">
                <a:solidFill>
                  <a:srgbClr val="CE9178"/>
                </a:solidFill>
                <a:latin typeface="Consolas"/>
              </a:rPr>
              <a:t>"</a:t>
            </a:r>
            <a:r>
              <a:rPr lang="en-US" sz="1600" dirty="0" smtClean="0">
                <a:solidFill>
                  <a:srgbClr val="D4D4D4"/>
                </a:solidFill>
                <a:latin typeface="Consolas"/>
              </a:rPr>
              <a:t>)</a:t>
            </a:r>
          </a:p>
          <a:p>
            <a:r>
              <a:rPr lang="en-US" sz="1600" dirty="0" smtClean="0">
                <a:solidFill>
                  <a:srgbClr val="D4D4D4"/>
                </a:solidFill>
                <a:latin typeface="Consolas"/>
              </a:rPr>
              <a:t>    </a:t>
            </a:r>
            <a:r>
              <a:rPr lang="en-US" sz="1600" dirty="0" smtClean="0">
                <a:solidFill>
                  <a:srgbClr val="C586C0"/>
                </a:solidFill>
                <a:latin typeface="Consolas"/>
              </a:rPr>
              <a:t>if</a:t>
            </a:r>
            <a:r>
              <a:rPr lang="en-US" sz="1600" dirty="0" smtClean="0">
                <a:solidFill>
                  <a:srgbClr val="D4D4D4"/>
                </a:solidFill>
                <a:latin typeface="Consolas"/>
              </a:rPr>
              <a:t> !</a:t>
            </a:r>
            <a:r>
              <a:rPr lang="en-US" sz="1600" dirty="0" err="1" smtClean="0">
                <a:solidFill>
                  <a:srgbClr val="D4D4D4"/>
                </a:solidFill>
                <a:latin typeface="Consolas"/>
              </a:rPr>
              <a:t>want.</a:t>
            </a:r>
            <a:r>
              <a:rPr lang="en-US" sz="1600" dirty="0" err="1" smtClean="0">
                <a:solidFill>
                  <a:srgbClr val="DCDCAA"/>
                </a:solidFill>
                <a:latin typeface="Consolas"/>
              </a:rPr>
              <a:t>MatchString</a:t>
            </a:r>
            <a:r>
              <a:rPr lang="en-US" sz="1600" dirty="0" smtClean="0">
                <a:solidFill>
                  <a:srgbClr val="D4D4D4"/>
                </a:solidFill>
                <a:latin typeface="Consolas"/>
              </a:rPr>
              <a:t>(</a:t>
            </a:r>
            <a:r>
              <a:rPr lang="en-US" sz="1600" dirty="0" err="1" smtClean="0">
                <a:solidFill>
                  <a:srgbClr val="D4D4D4"/>
                </a:solidFill>
                <a:latin typeface="Consolas"/>
              </a:rPr>
              <a:t>msg</a:t>
            </a:r>
            <a:r>
              <a:rPr lang="en-US" sz="1600" dirty="0" smtClean="0">
                <a:solidFill>
                  <a:srgbClr val="D4D4D4"/>
                </a:solidFill>
                <a:latin typeface="Consolas"/>
              </a:rPr>
              <a:t>) {</a:t>
            </a:r>
          </a:p>
          <a:p>
            <a:r>
              <a:rPr lang="en-US" sz="1600" dirty="0" smtClean="0">
                <a:solidFill>
                  <a:srgbClr val="D4D4D4"/>
                </a:solidFill>
                <a:latin typeface="Consolas"/>
              </a:rPr>
              <a:t>        </a:t>
            </a:r>
            <a:r>
              <a:rPr lang="en-US" sz="1600" dirty="0" err="1" smtClean="0">
                <a:solidFill>
                  <a:srgbClr val="D4D4D4"/>
                </a:solidFill>
                <a:latin typeface="Consolas"/>
              </a:rPr>
              <a:t>t.</a:t>
            </a:r>
            <a:r>
              <a:rPr lang="en-US" sz="1600" dirty="0" err="1" smtClean="0">
                <a:solidFill>
                  <a:srgbClr val="DCDCAA"/>
                </a:solidFill>
                <a:latin typeface="Consolas"/>
              </a:rPr>
              <a:t>Fatalf</a:t>
            </a:r>
            <a:r>
              <a:rPr lang="en-US" sz="1600" dirty="0" smtClean="0">
                <a:solidFill>
                  <a:srgbClr val="D4D4D4"/>
                </a:solidFill>
                <a:latin typeface="Consolas"/>
              </a:rPr>
              <a:t>(</a:t>
            </a:r>
            <a:r>
              <a:rPr lang="en-US" sz="1600" dirty="0" smtClean="0">
                <a:solidFill>
                  <a:srgbClr val="CE9178"/>
                </a:solidFill>
                <a:latin typeface="Consolas"/>
              </a:rPr>
              <a:t>`Hello("</a:t>
            </a:r>
            <a:r>
              <a:rPr lang="en-US" sz="1600" dirty="0" err="1" smtClean="0">
                <a:solidFill>
                  <a:srgbClr val="CE9178"/>
                </a:solidFill>
                <a:latin typeface="Consolas"/>
              </a:rPr>
              <a:t>NHBien</a:t>
            </a:r>
            <a:r>
              <a:rPr lang="en-US" sz="1600" dirty="0" smtClean="0">
                <a:solidFill>
                  <a:srgbClr val="CE9178"/>
                </a:solidFill>
                <a:latin typeface="Consolas"/>
              </a:rPr>
              <a:t>") = </a:t>
            </a:r>
            <a:r>
              <a:rPr lang="en-US" sz="1600" dirty="0" smtClean="0">
                <a:solidFill>
                  <a:srgbClr val="9CDCFE"/>
                </a:solidFill>
                <a:latin typeface="Consolas"/>
              </a:rPr>
              <a:t>%q</a:t>
            </a:r>
            <a:r>
              <a:rPr lang="en-US" sz="1600" dirty="0" smtClean="0">
                <a:solidFill>
                  <a:srgbClr val="CE9178"/>
                </a:solidFill>
                <a:latin typeface="Consolas"/>
              </a:rPr>
              <a:t>, want match for </a:t>
            </a:r>
            <a:r>
              <a:rPr lang="en-US" sz="1600" dirty="0" smtClean="0">
                <a:solidFill>
                  <a:srgbClr val="9CDCFE"/>
                </a:solidFill>
                <a:latin typeface="Consolas"/>
              </a:rPr>
              <a:t>%#q</a:t>
            </a:r>
            <a:r>
              <a:rPr lang="en-US" sz="1600" dirty="0" smtClean="0">
                <a:solidFill>
                  <a:srgbClr val="CE9178"/>
                </a:solidFill>
                <a:latin typeface="Consolas"/>
              </a:rPr>
              <a:t>`</a:t>
            </a:r>
            <a:r>
              <a:rPr lang="en-US" sz="1600" dirty="0" smtClean="0">
                <a:solidFill>
                  <a:srgbClr val="D4D4D4"/>
                </a:solidFill>
                <a:latin typeface="Consolas"/>
              </a:rPr>
              <a:t>, </a:t>
            </a:r>
            <a:r>
              <a:rPr lang="en-US" sz="1600" dirty="0" err="1" smtClean="0">
                <a:solidFill>
                  <a:srgbClr val="D4D4D4"/>
                </a:solidFill>
                <a:latin typeface="Consolas"/>
              </a:rPr>
              <a:t>msg</a:t>
            </a:r>
            <a:r>
              <a:rPr lang="en-US" sz="1600" dirty="0" smtClean="0">
                <a:solidFill>
                  <a:srgbClr val="D4D4D4"/>
                </a:solidFill>
                <a:latin typeface="Consolas"/>
              </a:rPr>
              <a:t>, want)</a:t>
            </a:r>
          </a:p>
          <a:p>
            <a:r>
              <a:rPr lang="en-US" sz="1600" dirty="0" smtClean="0">
                <a:solidFill>
                  <a:srgbClr val="D4D4D4"/>
                </a:solidFill>
                <a:latin typeface="Consolas"/>
              </a:rPr>
              <a:t>    }</a:t>
            </a:r>
          </a:p>
          <a:p>
            <a:r>
              <a:rPr lang="en-US" sz="1600" dirty="0" smtClean="0">
                <a:solidFill>
                  <a:srgbClr val="D4D4D4"/>
                </a:solidFill>
                <a:latin typeface="Consolas"/>
              </a:rPr>
              <a:t>}</a:t>
            </a:r>
            <a:endParaRPr lang="en-US" sz="1600" b="0" dirty="0">
              <a:solidFill>
                <a:srgbClr val="D4D4D4"/>
              </a:solidFill>
              <a:latin typeface="Consolas"/>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Run </a:t>
            </a:r>
            <a:r>
              <a:rPr lang="en-US" dirty="0" err="1" smtClean="0">
                <a:latin typeface="Consolas" pitchFamily="49" charset="0"/>
              </a:rPr>
              <a:t>greetings_test.go</a:t>
            </a:r>
            <a:endParaRPr lang="en-US" dirty="0"/>
          </a:p>
        </p:txBody>
      </p:sp>
      <p:sp>
        <p:nvSpPr>
          <p:cNvPr id="3" name="Content Placeholder 2"/>
          <p:cNvSpPr>
            <a:spLocks noGrp="1"/>
          </p:cNvSpPr>
          <p:nvPr>
            <p:ph idx="1"/>
          </p:nvPr>
        </p:nvSpPr>
        <p:spPr/>
        <p:txBody>
          <a:bodyPr/>
          <a:lstStyle/>
          <a:p>
            <a:r>
              <a:rPr lang="en-US" sz="2200" dirty="0" smtClean="0">
                <a:latin typeface="Consolas" pitchFamily="49" charset="0"/>
              </a:rPr>
              <a:t>go test</a:t>
            </a:r>
          </a:p>
          <a:p>
            <a:r>
              <a:rPr lang="en-US" sz="2200" dirty="0" smtClean="0">
                <a:latin typeface="Consolas" pitchFamily="49" charset="0"/>
              </a:rPr>
              <a:t>go test -v</a:t>
            </a:r>
            <a:endParaRPr lang="en-US" sz="2200" dirty="0">
              <a:latin typeface="Consolas" pitchFamily="49" charset="0"/>
            </a:endParaRPr>
          </a:p>
        </p:txBody>
      </p:sp>
      <p:pic>
        <p:nvPicPr>
          <p:cNvPr id="1026" name="Picture 2"/>
          <p:cNvPicPr>
            <a:picLocks noChangeAspect="1" noChangeArrowheads="1"/>
          </p:cNvPicPr>
          <p:nvPr/>
        </p:nvPicPr>
        <p:blipFill>
          <a:blip r:embed="rId2" cstate="print"/>
          <a:srcRect/>
          <a:stretch>
            <a:fillRect/>
          </a:stretch>
        </p:blipFill>
        <p:spPr bwMode="auto">
          <a:xfrm>
            <a:off x="1600200" y="2971800"/>
            <a:ext cx="5943600" cy="2486025"/>
          </a:xfrm>
          <a:prstGeom prst="rect">
            <a:avLst/>
          </a:prstGeom>
          <a:noFill/>
          <a:ln w="9525">
            <a:noFill/>
            <a:miter lim="800000"/>
            <a:headEnd/>
            <a:tailEnd/>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Does Go have a runtime?</a:t>
            </a:r>
            <a:endParaRPr lang="en-US" dirty="0"/>
          </a:p>
        </p:txBody>
      </p:sp>
      <p:sp>
        <p:nvSpPr>
          <p:cNvPr id="3" name="Content Placeholder 2"/>
          <p:cNvSpPr>
            <a:spLocks noGrp="1"/>
          </p:cNvSpPr>
          <p:nvPr>
            <p:ph idx="1"/>
          </p:nvPr>
        </p:nvSpPr>
        <p:spPr/>
        <p:txBody>
          <a:bodyPr/>
          <a:lstStyle/>
          <a:p>
            <a:r>
              <a:rPr lang="en-US" sz="2000" dirty="0" smtClean="0">
                <a:hlinkClick r:id="rId2"/>
              </a:rPr>
              <a:t>https://go.dev/doc/faq#runtime</a:t>
            </a:r>
            <a:endParaRPr lang="en-US" sz="2000" dirty="0" smtClean="0"/>
          </a:p>
          <a:p>
            <a:r>
              <a:rPr lang="en-US" sz="2000" dirty="0" smtClean="0"/>
              <a:t>Go does have an extensive library, called the </a:t>
            </a:r>
            <a:r>
              <a:rPr lang="en-US" sz="2000" i="1" dirty="0" smtClean="0"/>
              <a:t>runtime</a:t>
            </a:r>
            <a:r>
              <a:rPr lang="en-US" sz="2000" dirty="0" smtClean="0"/>
              <a:t>, that is part of every Go program. The runtime library implements garbage collection, concurrency, stack management, and other critical features of the Go language. Although it is more central to the language, Go's runtime is analogous to </a:t>
            </a:r>
            <a:r>
              <a:rPr lang="en-US" sz="2000" dirty="0" err="1" smtClean="0"/>
              <a:t>libc</a:t>
            </a:r>
            <a:r>
              <a:rPr lang="en-US" sz="2000" dirty="0" smtClean="0"/>
              <a:t>, the C library</a:t>
            </a:r>
          </a:p>
          <a:p>
            <a:r>
              <a:rPr lang="en-US" sz="2000" dirty="0" smtClean="0"/>
              <a:t>It is important to understand, however, that Go's runtime does not include a virtual machine, such as is provided by the Java runtime. Go programs are compiled ahead of time to native machine code (or JavaScript or </a:t>
            </a:r>
            <a:r>
              <a:rPr lang="en-US" sz="2000" dirty="0" err="1" smtClean="0"/>
              <a:t>WebAssembly</a:t>
            </a:r>
            <a:r>
              <a:rPr lang="en-US" sz="2000" dirty="0" smtClean="0"/>
              <a:t>, for some variant implementations).</a:t>
            </a:r>
          </a:p>
          <a:p>
            <a:r>
              <a:rPr lang="en-US" sz="2000" dirty="0" smtClean="0"/>
              <a:t>Thus, although the term is often used to describe the virtual environment in which a program runs, in Go the word “runtime” is just the name given to the library providing critical language services. </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does Go not have exceptions?</a:t>
            </a:r>
            <a:endParaRPr lang="en-US" dirty="0"/>
          </a:p>
        </p:txBody>
      </p:sp>
      <p:sp>
        <p:nvSpPr>
          <p:cNvPr id="3" name="Content Placeholder 2"/>
          <p:cNvSpPr>
            <a:spLocks noGrp="1"/>
          </p:cNvSpPr>
          <p:nvPr>
            <p:ph idx="1"/>
          </p:nvPr>
        </p:nvSpPr>
        <p:spPr/>
        <p:txBody>
          <a:bodyPr/>
          <a:lstStyle/>
          <a:p>
            <a:r>
              <a:rPr lang="en-US" sz="2000" dirty="0" smtClean="0">
                <a:hlinkClick r:id="rId2"/>
              </a:rPr>
              <a:t>https://go.dev/doc/faq#exceptions</a:t>
            </a:r>
            <a:endParaRPr lang="en-US" sz="2000" dirty="0" smtClean="0"/>
          </a:p>
          <a:p>
            <a:r>
              <a:rPr lang="en-US" sz="2000" dirty="0" smtClean="0"/>
              <a:t>We believe that coupling exceptions to a control structure, as in the try-catch-finally idiom, results in convoluted code.</a:t>
            </a:r>
          </a:p>
          <a:p>
            <a:r>
              <a:rPr lang="en-US" sz="2000" dirty="0" smtClean="0"/>
              <a:t>It also tends to encourage programmers to label too many ordinary errors, such as failing to open a file, as exceptional.</a:t>
            </a:r>
          </a:p>
          <a:p>
            <a:r>
              <a:rPr lang="en-US" sz="2000" dirty="0" smtClean="0"/>
              <a:t>Go takes a different approach.</a:t>
            </a:r>
          </a:p>
          <a:p>
            <a:r>
              <a:rPr lang="en-US" sz="2000" dirty="0" smtClean="0"/>
              <a:t>For plain error handling, Go's multi-value returns make it easy to report an error without overloading the return value.</a:t>
            </a:r>
          </a:p>
          <a:p>
            <a:r>
              <a:rPr lang="en-US" sz="2000" dirty="0" smtClean="0"/>
              <a:t>A canonical error type, coupled with Go's other features, makes error handling pleasant but quite different from that in other languages.</a:t>
            </a:r>
          </a:p>
          <a:p>
            <a:r>
              <a:rPr lang="en-US" sz="2000" dirty="0" smtClean="0"/>
              <a:t>Go also has a couple of built-in functions to signal and recover from truly exceptional conditions.</a:t>
            </a:r>
            <a:endParaRPr lang="en-US" sz="20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 Go an object-oriented language?</a:t>
            </a:r>
            <a:endParaRPr lang="en-US" dirty="0"/>
          </a:p>
        </p:txBody>
      </p:sp>
      <p:sp>
        <p:nvSpPr>
          <p:cNvPr id="3" name="Content Placeholder 2"/>
          <p:cNvSpPr>
            <a:spLocks noGrp="1"/>
          </p:cNvSpPr>
          <p:nvPr>
            <p:ph idx="1"/>
          </p:nvPr>
        </p:nvSpPr>
        <p:spPr/>
        <p:txBody>
          <a:bodyPr/>
          <a:lstStyle/>
          <a:p>
            <a:r>
              <a:rPr lang="en-US" sz="2200" dirty="0" smtClean="0">
                <a:hlinkClick r:id="rId2"/>
              </a:rPr>
              <a:t>https://go.dev/doc/faq#Is_Go_an_object-oriented_language</a:t>
            </a:r>
            <a:endParaRPr lang="en-US" sz="2200" dirty="0" smtClean="0"/>
          </a:p>
          <a:p>
            <a:r>
              <a:rPr lang="en-US" sz="2200" dirty="0" smtClean="0"/>
              <a:t>Yes and no. Although Go has types and methods and allows an object-oriented style of programming, there is no type hierarchy.</a:t>
            </a:r>
          </a:p>
          <a:p>
            <a:r>
              <a:rPr lang="en-US" sz="2200" dirty="0" smtClean="0"/>
              <a:t>The concept of “interface” in Go provides a different approach that we believe is easy to use and in some ways more general.</a:t>
            </a:r>
          </a:p>
          <a:p>
            <a:r>
              <a:rPr lang="en-US" sz="2200" dirty="0" smtClean="0"/>
              <a:t>There are also ways to embed types in other types to provide something analogous—but not identical—to </a:t>
            </a:r>
            <a:r>
              <a:rPr lang="en-US" sz="2200" dirty="0" err="1" smtClean="0"/>
              <a:t>subclassing</a:t>
            </a:r>
            <a:r>
              <a:rPr lang="en-US" sz="2200" dirty="0" smtClean="0"/>
              <a:t>. Moreover, methods in Go are more general than in C++ or Java: they can be defined for any sort of data, even built-in types such as plain, “unboxed” integers. They are not restricted to </a:t>
            </a:r>
            <a:r>
              <a:rPr lang="en-US" sz="2200" dirty="0" err="1" smtClean="0"/>
              <a:t>structs</a:t>
            </a:r>
            <a:r>
              <a:rPr lang="en-US" sz="2200" dirty="0" smtClean="0"/>
              <a:t> (classes).</a:t>
            </a:r>
          </a:p>
          <a:p>
            <a:r>
              <a:rPr lang="en-US" sz="2200" dirty="0" smtClean="0"/>
              <a:t>Also, the lack of a type hierarchy makes “objects” in Go feel much more lightweight than in languages such as C++ or Java. </a:t>
            </a:r>
            <a:endParaRPr lang="en-US" sz="2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normAutofit/>
          </a:bodyPr>
          <a:lstStyle/>
          <a:p>
            <a:r>
              <a:rPr lang="en-US" sz="2400" dirty="0" smtClean="0">
                <a:hlinkClick r:id="rId2"/>
              </a:rPr>
              <a:t>https://go.dev/tour/welcome/1</a:t>
            </a:r>
          </a:p>
          <a:p>
            <a:r>
              <a:rPr lang="en-US" sz="2400" dirty="0" smtClean="0">
                <a:hlinkClick r:id="rId2"/>
              </a:rPr>
              <a:t>https://gobyexample.com/</a:t>
            </a:r>
            <a:endParaRPr lang="en-US" sz="2400" dirty="0" smtClean="0"/>
          </a:p>
          <a:p>
            <a:r>
              <a:rPr lang="en-US" sz="2400" dirty="0" smtClean="0">
                <a:hlinkClick r:id="rId3"/>
              </a:rPr>
              <a:t>https://cacm.acm.org/research/the-go-programming-language-and-environment/</a:t>
            </a:r>
            <a:endParaRPr lang="en-US" sz="2400" dirty="0" smtClean="0"/>
          </a:p>
          <a:p>
            <a:endParaRPr lang="en-US" sz="2400" dirty="0" smtClean="0"/>
          </a:p>
          <a:p>
            <a:endParaRPr lang="en-US" sz="2400" dirty="0" smtClean="0"/>
          </a:p>
          <a:p>
            <a:endParaRPr lang="en-US" sz="2400" dirty="0"/>
          </a:p>
        </p:txBody>
      </p:sp>
      <p:pic>
        <p:nvPicPr>
          <p:cNvPr id="4" name="Picture 2" descr="http://www.4aplus.com/wp-content/uploads/2014/02/shutterstock_74085415-1024x682.jpg"/>
          <p:cNvPicPr>
            <a:picLocks noChangeAspect="1" noChangeArrowheads="1"/>
          </p:cNvPicPr>
          <p:nvPr/>
        </p:nvPicPr>
        <p:blipFill>
          <a:blip r:embed="rId4" cstate="print"/>
          <a:srcRect/>
          <a:stretch>
            <a:fillRect/>
          </a:stretch>
        </p:blipFill>
        <p:spPr bwMode="auto">
          <a:xfrm>
            <a:off x="3048000" y="3962400"/>
            <a:ext cx="2600221" cy="1732372"/>
          </a:xfrm>
          <a:prstGeom prst="rect">
            <a:avLst/>
          </a:prstGeom>
          <a:noFill/>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15260</TotalTime>
  <Words>3536</Words>
  <Application>Microsoft Office PowerPoint</Application>
  <PresentationFormat>On-screen Show (4:3)</PresentationFormat>
  <Paragraphs>966</Paragraphs>
  <Slides>117</Slides>
  <Notes>2</Notes>
  <HiddenSlides>0</HiddenSlides>
  <MMClips>0</MMClips>
  <ScaleCrop>false</ScaleCrop>
  <HeadingPairs>
    <vt:vector size="4" baseType="variant">
      <vt:variant>
        <vt:lpstr>Theme</vt:lpstr>
      </vt:variant>
      <vt:variant>
        <vt:i4>1</vt:i4>
      </vt:variant>
      <vt:variant>
        <vt:lpstr>Slide Titles</vt:lpstr>
      </vt:variant>
      <vt:variant>
        <vt:i4>117</vt:i4>
      </vt:variant>
    </vt:vector>
  </HeadingPairs>
  <TitlesOfParts>
    <vt:vector size="118" baseType="lpstr">
      <vt:lpstr>Office Theme</vt:lpstr>
      <vt:lpstr>Introduction to Go</vt:lpstr>
      <vt:lpstr>Objectives</vt:lpstr>
      <vt:lpstr>Contents</vt:lpstr>
      <vt:lpstr>References</vt:lpstr>
      <vt:lpstr>1. Download and Install Go Compiler on macOS (I)</vt:lpstr>
      <vt:lpstr>2. Download and Install Go Compiler on macOS (II)</vt:lpstr>
      <vt:lpstr>3. Verify Go Installation</vt:lpstr>
      <vt:lpstr>Slide 8</vt:lpstr>
      <vt:lpstr>1. Download and Install Go Compiler on Windows</vt:lpstr>
      <vt:lpstr>2. Verify Go Installation</vt:lpstr>
      <vt:lpstr>3. Install Go IDE</vt:lpstr>
      <vt:lpstr>Slide 12</vt:lpstr>
      <vt:lpstr>1. Download and Install Go Compiler on Ubuntu</vt:lpstr>
      <vt:lpstr>Slide 14</vt:lpstr>
      <vt:lpstr>1. Create Hello World [1]</vt:lpstr>
      <vt:lpstr>2. Run the Hello World</vt:lpstr>
      <vt:lpstr>3. Build the Hello World</vt:lpstr>
      <vt:lpstr>4. Run the Binary File</vt:lpstr>
      <vt:lpstr>Slide 19</vt:lpstr>
      <vt:lpstr>Why Go? [2]</vt:lpstr>
      <vt:lpstr>Primitive Types</vt:lpstr>
      <vt:lpstr>Variables &amp; Assignments [1]</vt:lpstr>
      <vt:lpstr>Short Variable Declaration</vt:lpstr>
      <vt:lpstr>Variable Declaration Block</vt:lpstr>
      <vt:lpstr>Pointers</vt:lpstr>
      <vt:lpstr>The new Function</vt:lpstr>
      <vt:lpstr>Declarations</vt:lpstr>
      <vt:lpstr>iota Keyword</vt:lpstr>
      <vt:lpstr>string</vt:lpstr>
      <vt:lpstr>Condition</vt:lpstr>
      <vt:lpstr>Loop</vt:lpstr>
      <vt:lpstr>Slide 32</vt:lpstr>
      <vt:lpstr>Functions</vt:lpstr>
      <vt:lpstr>The defer keyword</vt:lpstr>
      <vt:lpstr>Full Code: defer.go</vt:lpstr>
      <vt:lpstr>Slide 36</vt:lpstr>
      <vt:lpstr>Arrays</vt:lpstr>
      <vt:lpstr>Slides</vt:lpstr>
      <vt:lpstr>Slide Components</vt:lpstr>
      <vt:lpstr>Example Slides</vt:lpstr>
      <vt:lpstr>Slides and Underlying Array</vt:lpstr>
      <vt:lpstr>Maps</vt:lpstr>
      <vt:lpstr>range</vt:lpstr>
      <vt:lpstr>Structs</vt:lpstr>
      <vt:lpstr>Slide 45</vt:lpstr>
      <vt:lpstr>Function Values</vt:lpstr>
      <vt:lpstr>Methods</vt:lpstr>
      <vt:lpstr>Full Code: methods.go</vt:lpstr>
      <vt:lpstr>Pointer Receiver</vt:lpstr>
      <vt:lpstr>Call Method with Pointer Receiver</vt:lpstr>
      <vt:lpstr>Interface Types [1, 2]</vt:lpstr>
      <vt:lpstr>Interface Satisfaction (I)</vt:lpstr>
      <vt:lpstr>Interface Satisfaction (II)</vt:lpstr>
      <vt:lpstr>Slide 54</vt:lpstr>
      <vt:lpstr>Package System</vt:lpstr>
      <vt:lpstr>The Package Declaration</vt:lpstr>
      <vt:lpstr>Package Main</vt:lpstr>
      <vt:lpstr>Slide 58</vt:lpstr>
      <vt:lpstr>What are Goroutines?</vt:lpstr>
      <vt:lpstr>Concurrency</vt:lpstr>
      <vt:lpstr>A Small Change</vt:lpstr>
      <vt:lpstr>sync.WaitGroup</vt:lpstr>
      <vt:lpstr>Race Conditions (I)</vt:lpstr>
      <vt:lpstr>Race Conditions (II)</vt:lpstr>
      <vt:lpstr> Concurrency-Safe Program</vt:lpstr>
      <vt:lpstr>Mutual Exclusion: sync.Mutex (I)</vt:lpstr>
      <vt:lpstr>Mutual Exclusion: sync.Mutex (II)</vt:lpstr>
      <vt:lpstr>Counting (I)</vt:lpstr>
      <vt:lpstr>Counting (II)</vt:lpstr>
      <vt:lpstr>Counting (III)</vt:lpstr>
      <vt:lpstr>sync.NewCond (I)</vt:lpstr>
      <vt:lpstr>sync.NewCond (II)</vt:lpstr>
      <vt:lpstr>sync.NewCond (III)</vt:lpstr>
      <vt:lpstr>Slide 74</vt:lpstr>
      <vt:lpstr>Channels</vt:lpstr>
      <vt:lpstr>Channel Operations</vt:lpstr>
      <vt:lpstr>Producer-Consumer</vt:lpstr>
      <vt:lpstr>What Happens?</vt:lpstr>
      <vt:lpstr>Counting with Channel (I)</vt:lpstr>
      <vt:lpstr>Counting with Channel (II)</vt:lpstr>
      <vt:lpstr>Counting with Channel (III)</vt:lpstr>
      <vt:lpstr>select</vt:lpstr>
      <vt:lpstr>select</vt:lpstr>
      <vt:lpstr>Slide 84</vt:lpstr>
      <vt:lpstr>Timer</vt:lpstr>
      <vt:lpstr>Stoppable Timer (I)</vt:lpstr>
      <vt:lpstr>Stoppable Timer (II)</vt:lpstr>
      <vt:lpstr>Ticker</vt:lpstr>
      <vt:lpstr>time.After</vt:lpstr>
      <vt:lpstr>Slide 90</vt:lpstr>
      <vt:lpstr>Modules</vt:lpstr>
      <vt:lpstr>1. Create a Module</vt:lpstr>
      <vt:lpstr>2. Create greetings.go</vt:lpstr>
      <vt:lpstr>3. Create a Module Caller</vt:lpstr>
      <vt:lpstr>4. Create hello.go</vt:lpstr>
      <vt:lpstr>5. Use Local Module</vt:lpstr>
      <vt:lpstr>6. Run hello.go</vt:lpstr>
      <vt:lpstr>Slide 98</vt:lpstr>
      <vt:lpstr>Exported Identifier</vt:lpstr>
      <vt:lpstr>Install Third-Party Packages</vt:lpstr>
      <vt:lpstr>GOROOT</vt:lpstr>
      <vt:lpstr>GOPATH</vt:lpstr>
      <vt:lpstr>Configuring GOPATH</vt:lpstr>
      <vt:lpstr>Configuring Global GOPATH on Windows</vt:lpstr>
      <vt:lpstr>Go Compilation Speed [1]</vt:lpstr>
      <vt:lpstr>Slide 106</vt:lpstr>
      <vt:lpstr>Print Errors</vt:lpstr>
      <vt:lpstr>The go test Tool</vt:lpstr>
      <vt:lpstr>Special Test Functions</vt:lpstr>
      <vt:lpstr>1. Create greetings_test.go</vt:lpstr>
      <vt:lpstr>2. Run greetings_test.go</vt:lpstr>
      <vt:lpstr>Slide 112</vt:lpstr>
      <vt:lpstr>Does Go have a runtime?</vt:lpstr>
      <vt:lpstr>Why does Go not have exceptions?</vt:lpstr>
      <vt:lpstr>Is Go an object-oriented language?</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6450</cp:revision>
  <dcterms:created xsi:type="dcterms:W3CDTF">2007-10-06T08:25:13Z</dcterms:created>
  <dcterms:modified xsi:type="dcterms:W3CDTF">2025-12-07T19:13:31Z</dcterms:modified>
</cp:coreProperties>
</file>