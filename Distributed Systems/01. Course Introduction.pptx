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6"/>
  </p:notesMasterIdLst>
  <p:sldIdLst>
    <p:sldId id="256" r:id="rId2"/>
    <p:sldId id="394" r:id="rId3"/>
    <p:sldId id="431" r:id="rId4"/>
    <p:sldId id="385" r:id="rId5"/>
    <p:sldId id="432" r:id="rId6"/>
    <p:sldId id="454" r:id="rId7"/>
    <p:sldId id="455" r:id="rId8"/>
    <p:sldId id="435" r:id="rId9"/>
    <p:sldId id="446" r:id="rId10"/>
    <p:sldId id="473" r:id="rId11"/>
    <p:sldId id="448" r:id="rId12"/>
    <p:sldId id="416" r:id="rId13"/>
    <p:sldId id="474" r:id="rId14"/>
    <p:sldId id="479" r:id="rId15"/>
    <p:sldId id="426" r:id="rId16"/>
    <p:sldId id="460" r:id="rId17"/>
    <p:sldId id="462" r:id="rId18"/>
    <p:sldId id="472" r:id="rId19"/>
    <p:sldId id="467" r:id="rId20"/>
    <p:sldId id="447" r:id="rId21"/>
    <p:sldId id="449" r:id="rId22"/>
    <p:sldId id="453" r:id="rId23"/>
    <p:sldId id="355" r:id="rId24"/>
    <p:sldId id="444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06" autoAdjust="0"/>
    <p:restoredTop sz="94667" autoAdjust="0"/>
  </p:normalViewPr>
  <p:slideViewPr>
    <p:cSldViewPr>
      <p:cViewPr>
        <p:scale>
          <a:sx n="50" d="100"/>
          <a:sy n="50" d="100"/>
        </p:scale>
        <p:origin x="-1550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hbien@fit.hcmus.edu.v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smtClean="0"/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Department of Software Engineering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Natural Sciences,  VNU HCMC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6745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PhD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Department of Software Engineering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Faculty of Information Technology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University of Natural Sciences,  VNU HCMC</a:t>
            </a: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4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location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I82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hours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smtClean="0"/>
              <a:t>Wednesday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&amp; Friday: 13:30 p.m. – 17:10 p.m.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81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decide whether to </a:t>
            </a:r>
            <a:r>
              <a:rPr lang="en-US" sz="2400" i="1" dirty="0" smtClean="0">
                <a:solidFill>
                  <a:srgbClr val="C00000"/>
                </a:solidFill>
              </a:rPr>
              <a:t>register</a:t>
            </a:r>
            <a:r>
              <a:rPr lang="en-US" sz="2400" dirty="0" smtClean="0"/>
              <a:t> for the course.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smtClean="0"/>
              <a:t>To </a:t>
            </a:r>
            <a:r>
              <a:rPr lang="en-US" sz="2400" dirty="0" smtClean="0"/>
              <a:t>estimate an </a:t>
            </a:r>
            <a:r>
              <a:rPr lang="en-US" sz="2400" i="1" dirty="0" smtClean="0">
                <a:solidFill>
                  <a:srgbClr val="C00000"/>
                </a:solidFill>
              </a:rPr>
              <a:t>expected grade</a:t>
            </a:r>
            <a:r>
              <a:rPr lang="en-US" sz="2400" dirty="0" smtClean="0"/>
              <a:t> for yourself.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target learners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learning outcomes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contents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assessment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Teaching and learning </a:t>
            </a:r>
            <a:r>
              <a:rPr lang="en-US" sz="2400" i="1" dirty="0" smtClean="0">
                <a:solidFill>
                  <a:srgbClr val="C00000"/>
                </a:solidFill>
              </a:rPr>
              <a:t>methods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References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policies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attend this course?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2434590" cy="210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276600"/>
            <a:ext cx="182880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s://encrypted-tbn3.gstatic.com/images?q=tbn:ANd9GcSHOzR7xsyO7vabfChNygfp53IhkVE6TqMQlVxCmE01VmAvSQ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971800"/>
            <a:ext cx="2047875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How to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build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a distributed system to solve a </a:t>
            </a:r>
            <a:r>
              <a:rPr lang="en-US" sz="2400" u="sng" dirty="0" smtClean="0">
                <a:latin typeface="Calibri" pitchFamily="34" charset="0"/>
                <a:cs typeface="Calibri" pitchFamily="34" charset="0"/>
              </a:rPr>
              <a:t>real world problem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 algn="ctr"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Interesting, hard problems, powerful solutions.</a:t>
            </a:r>
          </a:p>
          <a:p>
            <a:pPr algn="ctr"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Hands-on, you'll code 6 prototypes in the labs.</a:t>
            </a:r>
          </a:p>
        </p:txBody>
      </p:sp>
      <p:pic>
        <p:nvPicPr>
          <p:cNvPr id="21508" name="Picture 4" descr="https://rossum.ai/blog/wp-content/uploads/2020/03/featured-image-e1585296773287-1000x62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524000"/>
            <a:ext cx="4762500" cy="2990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1524001"/>
            <a:ext cx="8153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200" y="4572000"/>
            <a:ext cx="7391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+mj-lt"/>
                <a:cs typeface="Calibri" pitchFamily="34" charset="0"/>
              </a:rPr>
              <a:t>What are the foundations for doing 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  <a:cs typeface="Calibri" pitchFamily="34" charset="0"/>
              </a:rPr>
              <a:t>research</a:t>
            </a:r>
            <a:r>
              <a:rPr lang="en-US" sz="2400" dirty="0" smtClean="0">
                <a:latin typeface="+mj-lt"/>
                <a:cs typeface="Calibri" pitchFamily="34" charset="0"/>
              </a:rPr>
              <a:t> related to distributed systems?</a:t>
            </a:r>
          </a:p>
          <a:p>
            <a:pPr algn="ctr"/>
            <a:r>
              <a:rPr lang="en-US" sz="2400" dirty="0" smtClean="0">
                <a:latin typeface="+mj-lt"/>
              </a:rPr>
              <a:t>Research findings are being used by real systems.</a:t>
            </a:r>
          </a:p>
          <a:p>
            <a:pPr algn="ctr"/>
            <a:r>
              <a:rPr lang="en-US" sz="2400" dirty="0" smtClean="0">
                <a:latin typeface="+mj-lt"/>
              </a:rPr>
              <a:t>Research studies are driven by the rise of </a:t>
            </a:r>
            <a:r>
              <a:rPr lang="en-US" sz="2400" dirty="0" smtClean="0">
                <a:latin typeface="+mj-lt"/>
                <a:cs typeface="Calibri" pitchFamily="34" charset="0"/>
              </a:rPr>
              <a:t>active research area, important unsolved problems.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1752600"/>
            <a:ext cx="2111375" cy="219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Developer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Should I learn this course?</a:t>
            </a:r>
          </a:p>
          <a:p>
            <a:r>
              <a:rPr lang="en-US" sz="2400" dirty="0" smtClean="0"/>
              <a:t>Technical architect: Distributed systems.</a:t>
            </a:r>
          </a:p>
        </p:txBody>
      </p:sp>
      <p:pic>
        <p:nvPicPr>
          <p:cNvPr id="3074" name="Picture 2" descr="https://www.greenbiz.com/sites/default/files/styles/gbz_article_primary_breakpoints_kalapicture_screen-md_1x/public/images/articles/featured/salary-tharakorn_arunothai-stock.jpg?itok=rlRQhXey&amp;timestamp=14392367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382010"/>
            <a:ext cx="3841750" cy="2332990"/>
          </a:xfrm>
          <a:prstGeom prst="rect">
            <a:avLst/>
          </a:prstGeom>
          <a:noFill/>
        </p:spPr>
      </p:pic>
      <p:sp>
        <p:nvSpPr>
          <p:cNvPr id="11" name="Cloud 10"/>
          <p:cNvSpPr/>
          <p:nvPr/>
        </p:nvSpPr>
        <p:spPr>
          <a:xfrm>
            <a:off x="4648200" y="3048000"/>
            <a:ext cx="3733800" cy="3276600"/>
          </a:xfrm>
          <a:prstGeom prst="cloud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smtClean="0"/>
              <a:t>Technical architect salaries can range from $2000 to $3500 USD per month.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Course is Not for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people who </a:t>
            </a:r>
            <a:r>
              <a:rPr lang="en-US" sz="2400" i="1" dirty="0" smtClean="0">
                <a:solidFill>
                  <a:srgbClr val="C00000"/>
                </a:solidFill>
              </a:rPr>
              <a:t>do not like</a:t>
            </a:r>
            <a:r>
              <a:rPr lang="en-US" sz="2400" dirty="0" smtClean="0"/>
              <a:t> programming.</a:t>
            </a:r>
          </a:p>
        </p:txBody>
      </p:sp>
      <p:pic>
        <p:nvPicPr>
          <p:cNvPr id="17410" name="Picture 2" descr="https://digitalready.co/sites/default/files/styles/1000x427/public/hate-coding-try-digital-marketing.png?itok=w3CiLp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667000"/>
            <a:ext cx="6350000" cy="271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does not matter whether you want to know about distributed systems, as long as you still </a:t>
            </a:r>
            <a:r>
              <a:rPr lang="en-US" sz="2400" u="sng" dirty="0" smtClean="0"/>
              <a:t>involve in software development</a:t>
            </a:r>
            <a:r>
              <a:rPr lang="en-US" sz="2400" dirty="0" smtClean="0"/>
              <a:t> it still </a:t>
            </a:r>
            <a:r>
              <a:rPr lang="en-US" sz="2400" u="sng" dirty="0" smtClean="0"/>
              <a:t>seriously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affects your career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" name="Picture 2" descr="cloud computing la g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3657600"/>
            <a:ext cx="2857500" cy="2130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Prerequisites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0" y="1755577"/>
            <a:ext cx="7391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Prerequisites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Operating Systems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Computer Networks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Programming</a:t>
            </a: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Prior-courses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Architecture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Web Application Development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Database Management Systems</a:t>
            </a: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Parallel 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Machine Learning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Required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knowledge and skills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read English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books and research papers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write reports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The presentation skill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8194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39624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7675" y="51816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http://www.velaction.com/lean-information/wp-content/uploads/2009/06/improvement-objectives-300x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600200"/>
            <a:ext cx="244655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54864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200" dirty="0" smtClean="0"/>
              <a:t>Build prototypes of </a:t>
            </a:r>
            <a:r>
              <a:rPr lang="en-US" sz="2200" u="sng" dirty="0" smtClean="0"/>
              <a:t>fundamental</a:t>
            </a:r>
            <a:r>
              <a:rPr lang="en-US" sz="2200" dirty="0" smtClean="0"/>
              <a:t> </a:t>
            </a:r>
            <a:r>
              <a:rPr lang="en-US" sz="2200" i="1" dirty="0" smtClean="0">
                <a:solidFill>
                  <a:srgbClr val="C00000"/>
                </a:solidFill>
              </a:rPr>
              <a:t>architectures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protocols</a:t>
            </a:r>
            <a:r>
              <a:rPr lang="en-US" sz="2200" dirty="0" smtClean="0"/>
              <a:t>, and </a:t>
            </a:r>
            <a:r>
              <a:rPr lang="en-US" sz="2200" i="1" dirty="0" smtClean="0">
                <a:solidFill>
                  <a:srgbClr val="C00000"/>
                </a:solidFill>
              </a:rPr>
              <a:t>algorithms</a:t>
            </a:r>
            <a:r>
              <a:rPr lang="en-US" sz="2200" dirty="0" smtClean="0"/>
              <a:t> used in distributed systems</a:t>
            </a:r>
            <a:r>
              <a:rPr lang="en-US" sz="2200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sz="2200" dirty="0" smtClean="0"/>
              <a:t>Build and deploy a prototype of a distributed system by </a:t>
            </a:r>
            <a:r>
              <a:rPr lang="en-US" sz="2200" i="1" dirty="0" smtClean="0">
                <a:solidFill>
                  <a:srgbClr val="C00000"/>
                </a:solidFill>
              </a:rPr>
              <a:t>applying</a:t>
            </a:r>
            <a:r>
              <a:rPr lang="en-US" sz="2200" dirty="0" smtClean="0"/>
              <a:t> existing programming languages, libraries, frameworks, and </a:t>
            </a:r>
            <a:r>
              <a:rPr lang="en-US" sz="2200" u="sng" dirty="0" smtClean="0"/>
              <a:t>software tools</a:t>
            </a:r>
            <a:r>
              <a:rPr lang="en-US" sz="2200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sz="2200" dirty="0" smtClean="0"/>
              <a:t>Program </a:t>
            </a:r>
            <a:r>
              <a:rPr lang="en-US" sz="2200" i="1" dirty="0" smtClean="0">
                <a:solidFill>
                  <a:srgbClr val="C00000"/>
                </a:solidFill>
              </a:rPr>
              <a:t>distributed computing applications</a:t>
            </a:r>
            <a:r>
              <a:rPr lang="en-US" sz="2200" dirty="0" smtClean="0"/>
              <a:t> and process </a:t>
            </a:r>
            <a:r>
              <a:rPr lang="en-US" sz="2200" i="1" dirty="0" smtClean="0">
                <a:solidFill>
                  <a:srgbClr val="C00000"/>
                </a:solidFill>
              </a:rPr>
              <a:t>large-scale data</a:t>
            </a:r>
            <a:r>
              <a:rPr lang="en-US" sz="2200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sz="2200" dirty="0" smtClean="0"/>
              <a:t>Explain </a:t>
            </a:r>
            <a:r>
              <a:rPr lang="en-US" sz="2200" i="1" dirty="0" smtClean="0">
                <a:solidFill>
                  <a:srgbClr val="C00000"/>
                </a:solidFill>
              </a:rPr>
              <a:t>the foundational research</a:t>
            </a:r>
            <a:r>
              <a:rPr lang="en-US" sz="2200" dirty="0" smtClean="0"/>
              <a:t> that underpins the construction of distributed systems.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6388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Details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smtClean="0">
                <a:latin typeface="Calibri" pitchFamily="34" charset="0"/>
                <a:cs typeface="Calibri" pitchFamily="34" charset="0"/>
              </a:rPr>
              <a:t>Refer to the course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syllabus.</a:t>
            </a: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35052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0198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Distributed Systems Concepts.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Tools and Frameworks for Distributed Systems: The Go Programming Language, Modules and RPC.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Replication.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Consensus.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Distributed Transactions.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Consistency Models.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Impossibilities.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Distributed Architecture and Programming.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This is a course about </a:t>
            </a:r>
            <a:r>
              <a:rPr lang="en-US" sz="2800" i="1" dirty="0" smtClean="0">
                <a:solidFill>
                  <a:srgbClr val="C00000"/>
                </a:solidFill>
              </a:rPr>
              <a:t>infrastructure for applications</a:t>
            </a:r>
            <a:r>
              <a:rPr lang="en-US" sz="2800" dirty="0" smtClean="0"/>
              <a:t>.</a:t>
            </a:r>
          </a:p>
          <a:p>
            <a:pPr lvl="1"/>
            <a:r>
              <a:rPr lang="en-US" sz="2400" dirty="0" smtClean="0"/>
              <a:t>Distributed </a:t>
            </a:r>
            <a:r>
              <a:rPr lang="en-US" sz="2400" dirty="0" smtClean="0"/>
              <a:t>computation</a:t>
            </a:r>
          </a:p>
          <a:p>
            <a:pPr lvl="1"/>
            <a:r>
              <a:rPr lang="en-US" sz="2400" dirty="0" smtClean="0"/>
              <a:t>Distributed </a:t>
            </a:r>
            <a:r>
              <a:rPr lang="en-US" sz="2400" dirty="0" smtClean="0"/>
              <a:t>storage</a:t>
            </a:r>
          </a:p>
          <a:p>
            <a:pPr lvl="1"/>
            <a:r>
              <a:rPr lang="en-US" sz="2400" dirty="0" smtClean="0"/>
              <a:t>Communication</a:t>
            </a:r>
            <a:endParaRPr lang="en-US" sz="2400" dirty="0" smtClean="0"/>
          </a:p>
          <a:p>
            <a:r>
              <a:rPr lang="en-US" sz="2800" dirty="0" smtClean="0"/>
              <a:t>The big goal: </a:t>
            </a:r>
            <a:r>
              <a:rPr lang="en-US" sz="2800" u="sng" dirty="0" smtClean="0"/>
              <a:t>abstractions</a:t>
            </a:r>
            <a:r>
              <a:rPr lang="en-US" sz="2800" dirty="0" smtClean="0"/>
              <a:t> that </a:t>
            </a:r>
            <a:r>
              <a:rPr lang="en-US" sz="2800" i="1" dirty="0" smtClean="0">
                <a:solidFill>
                  <a:srgbClr val="C00000"/>
                </a:solidFill>
              </a:rPr>
              <a:t>hide</a:t>
            </a:r>
            <a:r>
              <a:rPr lang="en-US" sz="2800" dirty="0" smtClean="0"/>
              <a:t> the complexity of distribution.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sz="2600" dirty="0" smtClean="0"/>
              <a:t>The number of credits:	4</a:t>
            </a:r>
          </a:p>
          <a:p>
            <a:r>
              <a:rPr lang="en-US" sz="2600" dirty="0" smtClean="0"/>
              <a:t>Theoretical lessons: 	45</a:t>
            </a:r>
          </a:p>
          <a:p>
            <a:r>
              <a:rPr lang="en-US" sz="2600" dirty="0" smtClean="0"/>
              <a:t>Practical lessons:		30</a:t>
            </a:r>
          </a:p>
          <a:p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Self- learning lessons:</a:t>
            </a:r>
            <a:r>
              <a:rPr lang="en-US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9</a:t>
            </a:r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0</a:t>
            </a:r>
            <a:endParaRPr lang="en-US" sz="2600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schedule: Refer to the course syllabus.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Monitors</a:t>
            </a:r>
            <a:endParaRPr lang="en-US" dirty="0"/>
          </a:p>
        </p:txBody>
      </p:sp>
      <p:pic>
        <p:nvPicPr>
          <p:cNvPr id="1028" name="Picture 4" descr="https://pbs.twimg.com/media/Ca6IvlnUYAAToj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19249"/>
            <a:ext cx="5715000" cy="470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The final grade is combined of: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6 individual labs (60%)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Final oral exam (40%)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Bonus points (up to 20%) for: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Students who actively answer questions in classroom correctly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Personnel board (1 class leader and 1 deputy class leader)</a:t>
            </a:r>
            <a:endParaRPr lang="en-US" sz="2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assessment: Refer to the course syllabus.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Labs (60%)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Modules </a:t>
            </a:r>
            <a:r>
              <a:rPr lang="en-US" sz="2200" dirty="0" smtClean="0"/>
              <a:t>and RPC: 10%</a:t>
            </a:r>
          </a:p>
          <a:p>
            <a:r>
              <a:rPr lang="en-US" sz="2200" dirty="0" smtClean="0"/>
              <a:t>Replication: 10%</a:t>
            </a:r>
          </a:p>
          <a:p>
            <a:r>
              <a:rPr lang="en-US" sz="2200" dirty="0" smtClean="0"/>
              <a:t>Consensus: 10%</a:t>
            </a:r>
          </a:p>
          <a:p>
            <a:pPr lvl="0"/>
            <a:r>
              <a:rPr lang="en-US" sz="2200" dirty="0" err="1" smtClean="0"/>
              <a:t>Sharding</a:t>
            </a:r>
            <a:r>
              <a:rPr lang="en-US" sz="2200" dirty="0" smtClean="0"/>
              <a:t>: 10%</a:t>
            </a:r>
          </a:p>
          <a:p>
            <a:r>
              <a:rPr lang="en-US" sz="2200" dirty="0" smtClean="0"/>
              <a:t>Distributed Transactions: 10</a:t>
            </a:r>
            <a:r>
              <a:rPr lang="en-US" sz="2200" dirty="0" smtClean="0"/>
              <a:t>%</a:t>
            </a:r>
          </a:p>
          <a:p>
            <a:r>
              <a:rPr lang="en-US" sz="2200" dirty="0" smtClean="0"/>
              <a:t>Distributed </a:t>
            </a:r>
            <a:r>
              <a:rPr lang="en-US" sz="2200" dirty="0" smtClean="0"/>
              <a:t>Computing: </a:t>
            </a:r>
            <a:r>
              <a:rPr lang="en-US" sz="2200" dirty="0" smtClean="0"/>
              <a:t>10</a:t>
            </a:r>
            <a:r>
              <a:rPr lang="en-US" sz="2200" dirty="0" smtClean="0"/>
              <a:t>%</a:t>
            </a:r>
            <a:endParaRPr lang="en-US" sz="2200" dirty="0" smtClean="0"/>
          </a:p>
        </p:txBody>
      </p:sp>
      <p:pic>
        <p:nvPicPr>
          <p:cNvPr id="8194" name="Picture 2" descr="https://programminglabs.com/imgs/comput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4343400"/>
            <a:ext cx="2567635" cy="18178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Individual Oral Exam (40%)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629400" cy="990599"/>
          </a:xfrm>
        </p:spPr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Papers, programs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source code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documents</a:t>
            </a:r>
            <a:r>
              <a:rPr lang="en-US" sz="2800" dirty="0" smtClean="0"/>
              <a:t>, videos and related resources. </a:t>
            </a:r>
            <a:endParaRPr lang="en-US" sz="2600" dirty="0" smtClean="0"/>
          </a:p>
        </p:txBody>
      </p:sp>
      <p:pic>
        <p:nvPicPr>
          <p:cNvPr id="5122" name="Picture 2" descr="https://2e8ram2s1li74atce18qz5y1-wpengine.netdna-ssl.com/wp-content/uploads/2018/09/Tech-Interviews-Tech-Pros-Dice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3276600"/>
            <a:ext cx="4572000" cy="2857500"/>
          </a:xfrm>
          <a:prstGeom prst="rect">
            <a:avLst/>
          </a:prstGeom>
          <a:noFill/>
        </p:spPr>
      </p:pic>
      <p:pic>
        <p:nvPicPr>
          <p:cNvPr id="5" name="Picture 2" descr="http://4.bp.blogspot.com/_5xHBZqys6o8/TEB1A8EcgNI/AAAAAAAABO8/Uy0B8-abN2I/s1600/NoTextbook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581400"/>
            <a:ext cx="2410464" cy="2366882"/>
          </a:xfrm>
          <a:prstGeom prst="rect">
            <a:avLst/>
          </a:prstGeom>
          <a:noFill/>
        </p:spPr>
      </p:pic>
      <p:pic>
        <p:nvPicPr>
          <p:cNvPr id="6" name="Picture 2" descr="http://www.18thtechnology.com/images/software_developmen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1295400"/>
            <a:ext cx="876300" cy="880110"/>
          </a:xfrm>
          <a:prstGeom prst="rect">
            <a:avLst/>
          </a:prstGeom>
          <a:noFill/>
        </p:spPr>
      </p:pic>
      <p:pic>
        <p:nvPicPr>
          <p:cNvPr id="7" name="Picture 3" descr="http://www.prm.nau.edu/PRM346/images/paper%20ic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86600" y="2286000"/>
            <a:ext cx="609600" cy="60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for more than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30% of the course time</a:t>
            </a:r>
            <a:r>
              <a:rPr lang="en-US" sz="1900" dirty="0" smtClean="0">
                <a:latin typeface="+mj-lt"/>
              </a:rPr>
              <a:t> shall not be allowed to take the exams and be </a:t>
            </a:r>
            <a:r>
              <a:rPr lang="en-US" sz="1900" dirty="0" smtClean="0"/>
              <a:t>graded </a:t>
            </a:r>
            <a:r>
              <a:rPr lang="en-US" sz="1900" i="1" dirty="0" smtClean="0">
                <a:solidFill>
                  <a:srgbClr val="C00000"/>
                </a:solidFill>
              </a:rPr>
              <a:t>0 </a:t>
            </a:r>
            <a:r>
              <a:rPr lang="en-US" sz="1900" dirty="0" smtClean="0"/>
              <a:t>for the whole course</a:t>
            </a:r>
            <a:r>
              <a:rPr lang="en-US" sz="1900" dirty="0" smtClean="0">
                <a:latin typeface="+mj-lt"/>
              </a:rPr>
              <a:t>.</a:t>
            </a:r>
          </a:p>
          <a:p>
            <a:r>
              <a:rPr lang="en-US" sz="1900" dirty="0" smtClean="0">
                <a:latin typeface="+mj-lt"/>
              </a:rPr>
              <a:t>Students who are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 </a:t>
            </a:r>
            <a:r>
              <a:rPr lang="en-US" sz="1900" dirty="0" smtClean="0">
                <a:latin typeface="+mj-lt"/>
              </a:rPr>
              <a:t>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course project</a:t>
            </a:r>
            <a:r>
              <a:rPr lang="en-US" sz="1900" dirty="0" smtClean="0">
                <a:latin typeface="+mj-lt"/>
              </a:rPr>
              <a:t> or 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total score of the individual tests </a:t>
            </a:r>
            <a:r>
              <a:rPr lang="en-US" sz="1900" dirty="0" smtClean="0">
                <a:latin typeface="+mj-lt"/>
              </a:rPr>
              <a:t>shall not be allowed to take the exams.</a:t>
            </a:r>
          </a:p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during a test session will be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sz="1900" dirty="0" smtClean="0">
                <a:latin typeface="+mj-lt"/>
              </a:rPr>
              <a:t> for the test. The exception can only be applied to students who have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a hospital certificate of medical status</a:t>
            </a:r>
            <a:r>
              <a:rPr lang="en-US" sz="1900" dirty="0" smtClean="0">
                <a:latin typeface="+mj-lt"/>
              </a:rPr>
              <a:t>.</a:t>
            </a:r>
          </a:p>
          <a:p>
            <a:r>
              <a:rPr lang="en-US" sz="1900" dirty="0" smtClean="0">
                <a:latin typeface="+mj-lt"/>
              </a:rPr>
              <a:t>Students who does a classroom test or homework or project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for their friends</a:t>
            </a:r>
            <a:r>
              <a:rPr lang="en-US" sz="1900" dirty="0" smtClean="0">
                <a:latin typeface="+mj-lt"/>
              </a:rPr>
              <a:t> will be graded 0 for the course.</a:t>
            </a:r>
          </a:p>
          <a:p>
            <a:r>
              <a:rPr lang="en-US" sz="1900" dirty="0" smtClean="0">
                <a:latin typeface="+mj-lt"/>
              </a:rPr>
              <a:t>Students who do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plagiarism</a:t>
            </a:r>
            <a:r>
              <a:rPr lang="en-US" sz="1900" dirty="0" smtClean="0">
                <a:latin typeface="+mj-lt"/>
              </a:rPr>
              <a:t> for their exercises or projects will be graded 0 for the course. This also applies to cases in which the lecturers find out later when students will have already completed the course.</a:t>
            </a:r>
          </a:p>
          <a:p>
            <a:r>
              <a:rPr lang="en-US" sz="1900" dirty="0" smtClean="0">
                <a:latin typeface="+mj-lt"/>
              </a:rPr>
              <a:t>Students who have proof of their friends’ cheating or plagiarism but do not notify the lecturers will be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deducted 50%</a:t>
            </a:r>
            <a:r>
              <a:rPr lang="en-US" sz="1900" dirty="0" smtClean="0">
                <a:latin typeface="+mj-lt"/>
              </a:rPr>
              <a:t> of the total grade that they will have achieved.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Lectures &amp;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Lectures contain the </a:t>
            </a:r>
            <a:r>
              <a:rPr lang="en-US" sz="2400" i="1" dirty="0" smtClean="0">
                <a:solidFill>
                  <a:srgbClr val="C00000"/>
                </a:solidFill>
              </a:rPr>
              <a:t>core</a:t>
            </a:r>
            <a:r>
              <a:rPr lang="en-US" sz="2400" dirty="0" smtClean="0"/>
              <a:t> knowledge with </a:t>
            </a:r>
            <a:r>
              <a:rPr lang="en-US" sz="2400" i="1" dirty="0" smtClean="0">
                <a:solidFill>
                  <a:srgbClr val="C00000"/>
                </a:solidFill>
              </a:rPr>
              <a:t>specific</a:t>
            </a:r>
            <a:r>
              <a:rPr lang="en-US" sz="2400" dirty="0" smtClean="0"/>
              <a:t> examples.</a:t>
            </a:r>
          </a:p>
          <a:p>
            <a:r>
              <a:rPr lang="en-US" sz="2400" dirty="0" smtClean="0"/>
              <a:t>Slides present </a:t>
            </a:r>
            <a:r>
              <a:rPr lang="en-US" sz="2400" i="1" dirty="0" smtClean="0">
                <a:solidFill>
                  <a:srgbClr val="C00000"/>
                </a:solidFill>
              </a:rPr>
              <a:t>general</a:t>
            </a:r>
            <a:r>
              <a:rPr lang="en-US" sz="2400" dirty="0" smtClean="0"/>
              <a:t> knowledge and provide </a:t>
            </a:r>
            <a:r>
              <a:rPr lang="en-US" sz="2400" i="1" dirty="0" smtClean="0">
                <a:solidFill>
                  <a:srgbClr val="C00000"/>
                </a:solidFill>
              </a:rPr>
              <a:t>details</a:t>
            </a:r>
            <a:r>
              <a:rPr lang="en-US" sz="2400" dirty="0" smtClean="0"/>
              <a:t> to lectures.</a:t>
            </a:r>
          </a:p>
          <a:p>
            <a:r>
              <a:rPr lang="en-US" sz="2400" dirty="0" smtClean="0"/>
              <a:t>Lectures &amp; Slides are not necessarily </a:t>
            </a:r>
            <a:r>
              <a:rPr lang="en-US" sz="2400" i="1" dirty="0" smtClean="0">
                <a:solidFill>
                  <a:srgbClr val="C00000"/>
                </a:solidFill>
              </a:rPr>
              <a:t>the same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Writing summary for lectures as articles </a:t>
            </a:r>
            <a:r>
              <a:rPr lang="en-US" sz="2400" dirty="0" smtClean="0">
                <a:sym typeface="Wingdings" pitchFamily="2" charset="2"/>
              </a:rPr>
              <a:t> Bonus points.</a:t>
            </a:r>
          </a:p>
          <a:p>
            <a:r>
              <a:rPr lang="en-US" sz="2400" dirty="0" smtClean="0">
                <a:sym typeface="Wingdings" pitchFamily="2" charset="2"/>
              </a:rPr>
              <a:t>Lecture recordings  Privacy and intellectual properties.</a:t>
            </a:r>
            <a:endParaRPr lang="en-US" sz="2400" dirty="0" smtClean="0"/>
          </a:p>
        </p:txBody>
      </p:sp>
      <p:pic>
        <p:nvPicPr>
          <p:cNvPr id="1026" name="Picture 2" descr="https://images1.whatuni.com/commimg/myhotcourses/blog/post/myhc_694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495800"/>
            <a:ext cx="3264408" cy="1810512"/>
          </a:xfrm>
          <a:prstGeom prst="rect">
            <a:avLst/>
          </a:prstGeom>
          <a:noFill/>
        </p:spPr>
      </p:pic>
      <p:pic>
        <p:nvPicPr>
          <p:cNvPr id="1030" name="Picture 6" descr="Cách làm trò chơi Lucky Number trên PowerPoint 20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4495800"/>
            <a:ext cx="3086100" cy="1737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pPr lvl="0"/>
            <a:r>
              <a:rPr lang="en-US" sz="1800" dirty="0" smtClean="0"/>
              <a:t>Maarten van Steen and Andrew S. </a:t>
            </a:r>
            <a:r>
              <a:rPr lang="en-US" sz="1800" dirty="0" err="1" smtClean="0"/>
              <a:t>Tanenbaum</a:t>
            </a:r>
            <a:r>
              <a:rPr lang="en-US" sz="1800" dirty="0" smtClean="0"/>
              <a:t> (2023). Distributed Systems. </a:t>
            </a:r>
            <a:r>
              <a:rPr lang="en-US" sz="1800" dirty="0" err="1" smtClean="0"/>
              <a:t>CreateSpace</a:t>
            </a:r>
            <a:r>
              <a:rPr lang="en-US" sz="1800" dirty="0" smtClean="0"/>
              <a:t> Independent Publishing Platform.</a:t>
            </a:r>
          </a:p>
          <a:p>
            <a:pPr lvl="0"/>
            <a:r>
              <a:rPr lang="en-US" sz="1800" dirty="0" smtClean="0"/>
              <a:t>Martin </a:t>
            </a:r>
            <a:r>
              <a:rPr lang="en-US" sz="1800" dirty="0" err="1" smtClean="0"/>
              <a:t>Kleppmann</a:t>
            </a:r>
            <a:r>
              <a:rPr lang="en-US" sz="1800" dirty="0" smtClean="0"/>
              <a:t> (2017). Designing Data-Intensive Applications - The Big Ideas Behind Reliable, Scalable, and Maintainable Systems. O'Reilly Media.</a:t>
            </a:r>
          </a:p>
          <a:p>
            <a:pPr lvl="0"/>
            <a:r>
              <a:rPr lang="en-US" sz="1800" dirty="0" smtClean="0"/>
              <a:t>George </a:t>
            </a:r>
            <a:r>
              <a:rPr lang="en-US" sz="1800" dirty="0" err="1" smtClean="0"/>
              <a:t>Coulouris</a:t>
            </a:r>
            <a:r>
              <a:rPr lang="en-US" sz="1800" dirty="0" smtClean="0"/>
              <a:t> et al. (2012). Distributed Systems: Concepts and Design. Addison-Wesley.</a:t>
            </a:r>
          </a:p>
          <a:p>
            <a:r>
              <a:rPr lang="en-US" sz="1800" dirty="0" smtClean="0"/>
              <a:t>Alan A. A. Donovan and Brian W. Kernighan (2015). The Go Programming Language. Addison-Wesley Professional.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600200"/>
            <a:ext cx="1809750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219200" y="5029200"/>
            <a:ext cx="6705600" cy="838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Specific materials for each course topic: Refer to the course slides.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Answers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13903</TotalTime>
  <Words>886</Words>
  <Application>Microsoft Office PowerPoint</Application>
  <PresentationFormat>On-screen Show (4:3)</PresentationFormat>
  <Paragraphs>128</Paragraphs>
  <Slides>24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Course Introduction</vt:lpstr>
      <vt:lpstr>Lecturer</vt:lpstr>
      <vt:lpstr>Objectives</vt:lpstr>
      <vt:lpstr>Contents</vt:lpstr>
      <vt:lpstr>I am a Student</vt:lpstr>
      <vt:lpstr>I am a Student</vt:lpstr>
      <vt:lpstr>I am a Student</vt:lpstr>
      <vt:lpstr>I am a Developer</vt:lpstr>
      <vt:lpstr>This Course is Not for</vt:lpstr>
      <vt:lpstr>But</vt:lpstr>
      <vt:lpstr>Course Prerequisites</vt:lpstr>
      <vt:lpstr>Course Learning Outcomes</vt:lpstr>
      <vt:lpstr>Course Contents</vt:lpstr>
      <vt:lpstr>Content Scope</vt:lpstr>
      <vt:lpstr>Course Schedule</vt:lpstr>
      <vt:lpstr>Class Monitors</vt:lpstr>
      <vt:lpstr>Course Assessment</vt:lpstr>
      <vt:lpstr>Individual Labs (60%)</vt:lpstr>
      <vt:lpstr>Final Individual Oral Exam (40%)</vt:lpstr>
      <vt:lpstr>Course Policies</vt:lpstr>
      <vt:lpstr>Lectures &amp; Slides</vt:lpstr>
      <vt:lpstr>References</vt:lpstr>
      <vt:lpstr>Questions and Answers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6421</cp:revision>
  <dcterms:created xsi:type="dcterms:W3CDTF">2007-10-06T08:25:13Z</dcterms:created>
  <dcterms:modified xsi:type="dcterms:W3CDTF">2026-01-09T16:54:15Z</dcterms:modified>
</cp:coreProperties>
</file>