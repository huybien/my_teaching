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9"/>
  </p:notesMasterIdLst>
  <p:handoutMasterIdLst>
    <p:handoutMasterId r:id="rId40"/>
  </p:handoutMasterIdLst>
  <p:sldIdLst>
    <p:sldId id="256" r:id="rId2"/>
    <p:sldId id="431" r:id="rId3"/>
    <p:sldId id="603" r:id="rId4"/>
    <p:sldId id="423" r:id="rId5"/>
    <p:sldId id="604" r:id="rId6"/>
    <p:sldId id="613" r:id="rId7"/>
    <p:sldId id="614" r:id="rId8"/>
    <p:sldId id="605" r:id="rId9"/>
    <p:sldId id="698" r:id="rId10"/>
    <p:sldId id="701" r:id="rId11"/>
    <p:sldId id="620" r:id="rId12"/>
    <p:sldId id="717" r:id="rId13"/>
    <p:sldId id="714" r:id="rId14"/>
    <p:sldId id="632" r:id="rId15"/>
    <p:sldId id="634" r:id="rId16"/>
    <p:sldId id="720" r:id="rId17"/>
    <p:sldId id="626" r:id="rId18"/>
    <p:sldId id="702" r:id="rId19"/>
    <p:sldId id="703" r:id="rId20"/>
    <p:sldId id="704" r:id="rId21"/>
    <p:sldId id="705" r:id="rId22"/>
    <p:sldId id="706" r:id="rId23"/>
    <p:sldId id="676" r:id="rId24"/>
    <p:sldId id="712" r:id="rId25"/>
    <p:sldId id="713" r:id="rId26"/>
    <p:sldId id="685" r:id="rId27"/>
    <p:sldId id="694" r:id="rId28"/>
    <p:sldId id="697" r:id="rId29"/>
    <p:sldId id="696" r:id="rId30"/>
    <p:sldId id="695" r:id="rId31"/>
    <p:sldId id="718" r:id="rId32"/>
    <p:sldId id="719" r:id="rId33"/>
    <p:sldId id="724" r:id="rId34"/>
    <p:sldId id="722" r:id="rId35"/>
    <p:sldId id="721" r:id="rId36"/>
    <p:sldId id="723" r:id="rId37"/>
    <p:sldId id="343" r:id="rId3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86" autoAdjust="0"/>
    <p:restoredTop sz="94667" autoAdjust="0"/>
  </p:normalViewPr>
  <p:slideViewPr>
    <p:cSldViewPr>
      <p:cViewPr>
        <p:scale>
          <a:sx n="50" d="100"/>
          <a:sy n="50" d="100"/>
        </p:scale>
        <p:origin x="-1478"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0D0DBAB-D1C9-4D1B-A41F-EB0AC0278643}" type="datetimeFigureOut">
              <a:rPr lang="en-US" smtClean="0"/>
              <a:pPr/>
              <a:t>1/19/2026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36056FB-ACC3-4B45-A768-F167A538151B}"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5C7060-FA44-42F0-8808-1D08F5DA2F41}" type="datetimeFigureOut">
              <a:rPr lang="en-US" smtClean="0"/>
              <a:pPr/>
              <a:t>1/19/2026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2E0EE6-BA34-4C45-82C4-9F1F3A459FA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62E0EE6-BA34-4C45-82C4-9F1F3A459FAE}" type="slidenum">
              <a:rPr lang="en-US" smtClean="0"/>
              <a:pPr/>
              <a:t>12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1/19/2026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1/19/2026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1/19/2026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1/19/2026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1/19/2026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1/19/2026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1/19/2026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1/19/2026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1/19/2026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1/19/2026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1/19/2026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1/19/2026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5400" dirty="0" smtClean="0"/>
              <a:t>Introduction to Distributed Systems</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828800"/>
            <a:ext cx="5334000" cy="3886200"/>
          </a:xfrm>
        </p:spPr>
        <p:txBody>
          <a:bodyPr/>
          <a:lstStyle/>
          <a:p>
            <a:pPr>
              <a:buFont typeface="Wingdings" pitchFamily="2" charset="2"/>
              <a:buChar char="Ø"/>
            </a:pPr>
            <a:r>
              <a:rPr lang="en-US" sz="2400" dirty="0" smtClean="0"/>
              <a:t>To </a:t>
            </a:r>
            <a:r>
              <a:rPr lang="en-US" sz="2400" i="1" dirty="0" smtClean="0">
                <a:solidFill>
                  <a:srgbClr val="C00000"/>
                </a:solidFill>
              </a:rPr>
              <a:t>communicate</a:t>
            </a:r>
            <a:r>
              <a:rPr lang="en-US" sz="2400" dirty="0" smtClean="0"/>
              <a:t> in distributed systems field.</a:t>
            </a:r>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smtClean="0"/>
              <a:t>Distributed Systems.</a:t>
            </a:r>
          </a:p>
          <a:p>
            <a:pPr marL="571500" indent="-571500">
              <a:buFont typeface="+mj-lt"/>
              <a:buAutoNum type="romanUcPeriod"/>
            </a:pPr>
            <a:r>
              <a:rPr lang="en-US" sz="2400" dirty="0" smtClean="0"/>
              <a:t>Performance &amp; Scalability.</a:t>
            </a:r>
          </a:p>
          <a:p>
            <a:pPr marL="571500" indent="-571500">
              <a:buFont typeface="+mj-lt"/>
              <a:buAutoNum type="romanUcPeriod"/>
            </a:pPr>
            <a:r>
              <a:rPr lang="en-US" sz="2400" dirty="0" smtClean="0"/>
              <a:t>Fault Tolerance.</a:t>
            </a:r>
          </a:p>
          <a:p>
            <a:pPr marL="571500" indent="-571500">
              <a:buFont typeface="+mj-lt"/>
              <a:buAutoNum type="romanUcPeriod"/>
            </a:pPr>
            <a:r>
              <a:rPr lang="en-US" sz="2400" dirty="0" smtClean="0"/>
              <a:t>Consistency.</a:t>
            </a:r>
          </a:p>
          <a:p>
            <a:pPr marL="571500" indent="-571500">
              <a:buFont typeface="+mj-lt"/>
              <a:buAutoNum type="romanUcPeriod"/>
            </a:pPr>
            <a:r>
              <a:rPr lang="en-US" sz="2400" dirty="0" smtClean="0"/>
              <a:t>System Models.</a:t>
            </a:r>
          </a:p>
          <a:p>
            <a:pPr marL="571500" indent="-571500">
              <a:buFont typeface="+mj-lt"/>
              <a:buAutoNum type="romanUcPeriod"/>
            </a:pPr>
            <a:r>
              <a:rPr lang="en-US" sz="2400" dirty="0" smtClean="0"/>
              <a:t>Communication.</a:t>
            </a:r>
          </a:p>
          <a:p>
            <a:pPr marL="571500" indent="-571500">
              <a:buFont typeface="+mj-lt"/>
              <a:buAutoNum type="romanUcPeriod"/>
            </a:pPr>
            <a:r>
              <a:rPr lang="en-US" sz="2400" dirty="0" smtClean="0"/>
              <a:t>Ordering.</a:t>
            </a:r>
          </a:p>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pPr>
              <a:buFont typeface="+mj-lt"/>
              <a:buAutoNum type="arabicPeriod"/>
            </a:pPr>
            <a:endParaRPr lang="en-US" sz="2400" dirty="0" smtClean="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Distributed System?</a:t>
            </a:r>
            <a:endParaRPr lang="en-US" dirty="0"/>
          </a:p>
        </p:txBody>
      </p:sp>
      <p:sp>
        <p:nvSpPr>
          <p:cNvPr id="3" name="Content Placeholder 2"/>
          <p:cNvSpPr>
            <a:spLocks noGrp="1"/>
          </p:cNvSpPr>
          <p:nvPr>
            <p:ph idx="1"/>
          </p:nvPr>
        </p:nvSpPr>
        <p:spPr/>
        <p:txBody>
          <a:bodyPr/>
          <a:lstStyle/>
          <a:p>
            <a:r>
              <a:rPr lang="en-US" sz="2400" dirty="0" smtClean="0"/>
              <a:t>multiple computers (computers, phones, cars, robots) communicating via a network</a:t>
            </a:r>
          </a:p>
          <a:p>
            <a:r>
              <a:rPr lang="en-US" sz="2400" dirty="0" smtClean="0"/>
              <a:t>trying to achieve some task together</a:t>
            </a:r>
          </a:p>
          <a:p>
            <a:endParaRPr lang="en-US" sz="2400" dirty="0" smtClean="0"/>
          </a:p>
          <a:p>
            <a:r>
              <a:rPr lang="en-US" sz="2400" dirty="0" smtClean="0"/>
              <a:t>No shared operating system.</a:t>
            </a:r>
          </a:p>
          <a:p>
            <a:r>
              <a:rPr lang="en-US" sz="2400" dirty="0" smtClean="0"/>
              <a:t>No shared memory.</a:t>
            </a:r>
          </a:p>
          <a:p>
            <a:r>
              <a:rPr lang="en-US" sz="2400" dirty="0" smtClean="0"/>
              <a:t>No shared clock.</a:t>
            </a:r>
          </a:p>
          <a:p>
            <a:endParaRPr lang="en-US" sz="2400" dirty="0" smtClean="0"/>
          </a:p>
          <a:p>
            <a:r>
              <a:rPr lang="en-US" sz="2400" dirty="0" smtClean="0"/>
              <a:t>“</a:t>
            </a:r>
            <a:r>
              <a:rPr lang="en-US" sz="2400" i="1" dirty="0" smtClean="0"/>
              <a:t>a system in which the failure of a computer you didn't even know existed can render your own computer unusable.</a:t>
            </a:r>
            <a:r>
              <a:rPr lang="en-US" sz="2400" dirty="0" smtClean="0"/>
              <a:t>” </a:t>
            </a:r>
          </a:p>
          <a:p>
            <a:pPr algn="r">
              <a:buNone/>
            </a:pPr>
            <a:r>
              <a:rPr lang="en-US" sz="2400" dirty="0" smtClean="0"/>
              <a:t>	— Leslie </a:t>
            </a:r>
            <a:r>
              <a:rPr lang="en-US" sz="2400" dirty="0" err="1" smtClean="0"/>
              <a:t>Lamport</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Distributed System Characteristics</a:t>
            </a:r>
            <a:endParaRPr lang="en-US" dirty="0"/>
          </a:p>
        </p:txBody>
      </p:sp>
      <p:sp>
        <p:nvSpPr>
          <p:cNvPr id="3" name="Content Placeholder 2"/>
          <p:cNvSpPr>
            <a:spLocks noGrp="1"/>
          </p:cNvSpPr>
          <p:nvPr>
            <p:ph idx="1"/>
          </p:nvPr>
        </p:nvSpPr>
        <p:spPr/>
        <p:txBody>
          <a:bodyPr/>
          <a:lstStyle/>
          <a:p>
            <a:r>
              <a:rPr lang="en-US" sz="2200" dirty="0" smtClean="0"/>
              <a:t>Collection of </a:t>
            </a:r>
            <a:r>
              <a:rPr lang="en-US" sz="2200" i="1" dirty="0" smtClean="0">
                <a:solidFill>
                  <a:srgbClr val="C00000"/>
                </a:solidFill>
              </a:rPr>
              <a:t>independent</a:t>
            </a:r>
            <a:r>
              <a:rPr lang="en-US" sz="2200" dirty="0" smtClean="0"/>
              <a:t> computers that appears as a </a:t>
            </a:r>
            <a:r>
              <a:rPr lang="en-US" sz="2200" i="1" dirty="0" smtClean="0">
                <a:solidFill>
                  <a:srgbClr val="C00000"/>
                </a:solidFill>
              </a:rPr>
              <a:t>single system</a:t>
            </a:r>
            <a:r>
              <a:rPr lang="en-US" sz="2200" dirty="0" smtClean="0"/>
              <a:t> to the user(s).</a:t>
            </a:r>
          </a:p>
          <a:p>
            <a:r>
              <a:rPr lang="en-US" sz="2200" dirty="0" smtClean="0"/>
              <a:t>Independent = autonomous, self-contained.</a:t>
            </a:r>
          </a:p>
          <a:p>
            <a:r>
              <a:rPr lang="en-US" sz="2200" dirty="0" smtClean="0"/>
              <a:t>Single system = user </a:t>
            </a:r>
            <a:r>
              <a:rPr lang="en-US" sz="2200" dirty="0" smtClean="0">
                <a:solidFill>
                  <a:srgbClr val="C00000"/>
                </a:solidFill>
              </a:rPr>
              <a:t>not aware of</a:t>
            </a:r>
            <a:r>
              <a:rPr lang="en-US" sz="2200" dirty="0" smtClean="0"/>
              <a:t> distribution (network and location transparency).</a:t>
            </a:r>
            <a:endParaRPr lang="en-US" sz="2200" dirty="0"/>
          </a:p>
        </p:txBody>
      </p:sp>
      <p:pic>
        <p:nvPicPr>
          <p:cNvPr id="2050" name="Picture 2" descr="https://files.codingninjas.in/article_images/single-user-operating-system-0-1653212259.jpg"/>
          <p:cNvPicPr>
            <a:picLocks noChangeAspect="1" noChangeArrowheads="1"/>
          </p:cNvPicPr>
          <p:nvPr/>
        </p:nvPicPr>
        <p:blipFill>
          <a:blip r:embed="rId2" cstate="print"/>
          <a:srcRect/>
          <a:stretch>
            <a:fillRect/>
          </a:stretch>
        </p:blipFill>
        <p:spPr bwMode="auto">
          <a:xfrm>
            <a:off x="1981200" y="3695700"/>
            <a:ext cx="5080000" cy="28575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Distributed Systems</a:t>
            </a:r>
            <a:endParaRPr lang="en-US" dirty="0"/>
          </a:p>
        </p:txBody>
      </p:sp>
      <p:sp>
        <p:nvSpPr>
          <p:cNvPr id="3" name="Content Placeholder 2"/>
          <p:cNvSpPr>
            <a:spLocks noGrp="1"/>
          </p:cNvSpPr>
          <p:nvPr>
            <p:ph idx="1"/>
          </p:nvPr>
        </p:nvSpPr>
        <p:spPr/>
        <p:txBody>
          <a:bodyPr/>
          <a:lstStyle/>
          <a:p>
            <a:r>
              <a:rPr lang="en-US" sz="2400" dirty="0" err="1" smtClean="0"/>
              <a:t>Facebook</a:t>
            </a:r>
            <a:r>
              <a:rPr lang="en-US" sz="2400" dirty="0" smtClean="0"/>
              <a:t>.</a:t>
            </a:r>
          </a:p>
          <a:p>
            <a:r>
              <a:rPr lang="en-US" sz="2400" dirty="0" smtClean="0"/>
              <a:t>Google Search.</a:t>
            </a:r>
          </a:p>
          <a:p>
            <a:r>
              <a:rPr lang="en-US" sz="2400" dirty="0" smtClean="0"/>
              <a:t>YouTube.</a:t>
            </a:r>
          </a:p>
          <a:p>
            <a:r>
              <a:rPr lang="en-US" sz="2400" dirty="0" smtClean="0"/>
              <a:t>Gmail.</a:t>
            </a:r>
          </a:p>
          <a:p>
            <a:r>
              <a:rPr lang="en-US" sz="2400" dirty="0" smtClean="0"/>
              <a:t>Netflix.</a:t>
            </a:r>
          </a:p>
          <a:p>
            <a:r>
              <a:rPr lang="en-US" sz="2400" dirty="0" smtClean="0"/>
              <a:t>Amazon.</a:t>
            </a:r>
          </a:p>
          <a:p>
            <a:r>
              <a:rPr lang="en-US" sz="2400" dirty="0" smtClean="0"/>
              <a:t>Office 365.</a:t>
            </a:r>
          </a:p>
          <a:p>
            <a:r>
              <a:rPr lang="en-US" sz="2400" dirty="0" smtClean="0"/>
              <a:t>Any big web sites.</a:t>
            </a:r>
          </a:p>
          <a:p>
            <a:endParaRPr lang="en-US" sz="2400" dirty="0"/>
          </a:p>
        </p:txBody>
      </p:sp>
      <p:pic>
        <p:nvPicPr>
          <p:cNvPr id="1029" name="Picture 5"/>
          <p:cNvPicPr>
            <a:picLocks noChangeAspect="1" noChangeArrowheads="1"/>
          </p:cNvPicPr>
          <p:nvPr/>
        </p:nvPicPr>
        <p:blipFill>
          <a:blip r:embed="rId2" cstate="print"/>
          <a:srcRect/>
          <a:stretch>
            <a:fillRect/>
          </a:stretch>
        </p:blipFill>
        <p:spPr bwMode="auto">
          <a:xfrm>
            <a:off x="3883025" y="1752600"/>
            <a:ext cx="4498975" cy="276225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Distributed Systems?</a:t>
            </a:r>
            <a:endParaRPr lang="en-US" dirty="0"/>
          </a:p>
        </p:txBody>
      </p:sp>
      <p:sp>
        <p:nvSpPr>
          <p:cNvPr id="3" name="Content Placeholder 2"/>
          <p:cNvSpPr>
            <a:spLocks noGrp="1"/>
          </p:cNvSpPr>
          <p:nvPr>
            <p:ph idx="1"/>
          </p:nvPr>
        </p:nvSpPr>
        <p:spPr/>
        <p:txBody>
          <a:bodyPr/>
          <a:lstStyle/>
          <a:p>
            <a:r>
              <a:rPr lang="en-US" sz="2400" dirty="0" smtClean="0"/>
              <a:t>To increase </a:t>
            </a:r>
            <a:r>
              <a:rPr lang="en-US" sz="2400" i="1" dirty="0" smtClean="0">
                <a:solidFill>
                  <a:srgbClr val="C00000"/>
                </a:solidFill>
              </a:rPr>
              <a:t>compute</a:t>
            </a:r>
            <a:r>
              <a:rPr lang="en-US" sz="2400" dirty="0" smtClean="0"/>
              <a:t> and </a:t>
            </a:r>
            <a:r>
              <a:rPr lang="en-US" sz="2400" i="1" dirty="0" smtClean="0">
                <a:solidFill>
                  <a:srgbClr val="C00000"/>
                </a:solidFill>
              </a:rPr>
              <a:t>storage</a:t>
            </a:r>
            <a:r>
              <a:rPr lang="en-US" sz="2400" dirty="0" smtClean="0"/>
              <a:t>.</a:t>
            </a:r>
          </a:p>
          <a:p>
            <a:r>
              <a:rPr lang="en-US" sz="2400" dirty="0" smtClean="0"/>
              <a:t>To </a:t>
            </a:r>
            <a:r>
              <a:rPr lang="en-US" sz="2400" i="1" dirty="0" smtClean="0">
                <a:solidFill>
                  <a:srgbClr val="C00000"/>
                </a:solidFill>
              </a:rPr>
              <a:t>tolerate faults</a:t>
            </a:r>
            <a:r>
              <a:rPr lang="en-US" sz="2400" dirty="0" smtClean="0"/>
              <a:t> via replication.</a:t>
            </a:r>
          </a:p>
          <a:p>
            <a:r>
              <a:rPr lang="en-US" sz="2400" dirty="0" smtClean="0"/>
              <a:t>To place computing physically close to external entities.</a:t>
            </a:r>
          </a:p>
          <a:p>
            <a:r>
              <a:rPr lang="en-US" sz="2400" dirty="0" smtClean="0"/>
              <a:t>To achieve security via isolation.</a:t>
            </a:r>
            <a:endParaRPr lang="en-US" sz="2400" dirty="0"/>
          </a:p>
        </p:txBody>
      </p:sp>
      <p:pic>
        <p:nvPicPr>
          <p:cNvPr id="12290" name="Picture 2" descr="https://fujilaw.com/wp-content/uploads/2019/10/Jerene-oct-2016-benefits-123RF.jpg"/>
          <p:cNvPicPr>
            <a:picLocks noChangeAspect="1" noChangeArrowheads="1"/>
          </p:cNvPicPr>
          <p:nvPr/>
        </p:nvPicPr>
        <p:blipFill>
          <a:blip r:embed="rId2" cstate="print"/>
          <a:srcRect/>
          <a:stretch>
            <a:fillRect/>
          </a:stretch>
        </p:blipFill>
        <p:spPr bwMode="auto">
          <a:xfrm>
            <a:off x="2819400" y="4010025"/>
            <a:ext cx="3314700" cy="2009775"/>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How to Increase Compute and Storage </a:t>
            </a:r>
            <a:endParaRPr lang="en-US" sz="4000" dirty="0"/>
          </a:p>
        </p:txBody>
      </p:sp>
      <p:sp>
        <p:nvSpPr>
          <p:cNvPr id="3" name="Content Placeholder 2"/>
          <p:cNvSpPr>
            <a:spLocks noGrp="1"/>
          </p:cNvSpPr>
          <p:nvPr>
            <p:ph idx="1"/>
          </p:nvPr>
        </p:nvSpPr>
        <p:spPr/>
        <p:txBody>
          <a:bodyPr/>
          <a:lstStyle/>
          <a:p>
            <a:r>
              <a:rPr lang="en-US" sz="2400" i="1" dirty="0" smtClean="0">
                <a:solidFill>
                  <a:srgbClr val="C00000"/>
                </a:solidFill>
              </a:rPr>
              <a:t>Ideas</a:t>
            </a:r>
            <a:r>
              <a:rPr lang="en-US" sz="2400" dirty="0" smtClean="0"/>
              <a:t>: Scalability, load balancing, data </a:t>
            </a:r>
            <a:r>
              <a:rPr lang="en-US" sz="2400" dirty="0" err="1" smtClean="0"/>
              <a:t>sharding</a:t>
            </a:r>
            <a:r>
              <a:rPr lang="en-US" sz="2400" dirty="0" smtClean="0"/>
              <a:t>.</a:t>
            </a:r>
          </a:p>
          <a:p>
            <a:r>
              <a:rPr lang="en-US" sz="2400" dirty="0" smtClean="0"/>
              <a:t>Scalability goal: </a:t>
            </a:r>
            <a:r>
              <a:rPr lang="en-US" sz="2400" i="1" dirty="0" smtClean="0">
                <a:solidFill>
                  <a:srgbClr val="C00000"/>
                </a:solidFill>
              </a:rPr>
              <a:t>scalable throughput</a:t>
            </a:r>
            <a:r>
              <a:rPr lang="en-US" sz="2400" dirty="0" smtClean="0"/>
              <a:t>.</a:t>
            </a:r>
          </a:p>
          <a:p>
            <a:pPr lvl="1"/>
            <a:r>
              <a:rPr lang="en-US" sz="2000" dirty="0" smtClean="0"/>
              <a:t>N x Servers </a:t>
            </a:r>
            <a:r>
              <a:rPr lang="en-US" sz="2000" dirty="0" smtClean="0">
                <a:sym typeface="Wingdings" pitchFamily="2" charset="2"/>
              </a:rPr>
              <a:t>will lead to</a:t>
            </a:r>
            <a:r>
              <a:rPr lang="en-US" sz="2000" dirty="0" smtClean="0"/>
              <a:t> N x Total throughput via parallel </a:t>
            </a:r>
            <a:r>
              <a:rPr lang="en-US" sz="2000" i="1" dirty="0" smtClean="0">
                <a:solidFill>
                  <a:srgbClr val="C00000"/>
                </a:solidFill>
              </a:rPr>
              <a:t>CPU</a:t>
            </a:r>
            <a:r>
              <a:rPr lang="en-US" sz="2000" dirty="0" smtClean="0"/>
              <a:t>, </a:t>
            </a:r>
            <a:r>
              <a:rPr lang="en-US" sz="2000" i="1" dirty="0" smtClean="0">
                <a:solidFill>
                  <a:srgbClr val="C00000"/>
                </a:solidFill>
              </a:rPr>
              <a:t>disk</a:t>
            </a:r>
            <a:r>
              <a:rPr lang="en-US" sz="2000" dirty="0" smtClean="0"/>
              <a:t>, net.</a:t>
            </a:r>
          </a:p>
          <a:p>
            <a:pPr lvl="1"/>
            <a:r>
              <a:rPr lang="en-US" sz="2000" dirty="0" smtClean="0"/>
              <a:t>So handling more load only requires buying more computers.</a:t>
            </a:r>
          </a:p>
          <a:p>
            <a:pPr lvl="2"/>
            <a:r>
              <a:rPr lang="en-US" sz="1600" dirty="0" smtClean="0"/>
              <a:t>Rather than re-design by expensive programmers.</a:t>
            </a:r>
          </a:p>
          <a:p>
            <a:pPr lvl="1"/>
            <a:r>
              <a:rPr lang="en-US" sz="2000" dirty="0" smtClean="0"/>
              <a:t>Effective when you can divide work without much interaction.</a:t>
            </a:r>
          </a:p>
        </p:txBody>
      </p:sp>
      <p:pic>
        <p:nvPicPr>
          <p:cNvPr id="2050" name="Picture 2" descr="https://blogs.mulesoft.com/wp-content/uploads/img_6059ca858cddc.png"/>
          <p:cNvPicPr>
            <a:picLocks noChangeAspect="1" noChangeArrowheads="1"/>
          </p:cNvPicPr>
          <p:nvPr/>
        </p:nvPicPr>
        <p:blipFill>
          <a:blip r:embed="rId2" cstate="print"/>
          <a:srcRect/>
          <a:stretch>
            <a:fillRect/>
          </a:stretch>
        </p:blipFill>
        <p:spPr bwMode="auto">
          <a:xfrm>
            <a:off x="2193925" y="4191000"/>
            <a:ext cx="4587875" cy="2119313"/>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Achieving Scalability is Hard</a:t>
            </a:r>
            <a:endParaRPr lang="en-US" dirty="0"/>
          </a:p>
        </p:txBody>
      </p:sp>
      <p:sp>
        <p:nvSpPr>
          <p:cNvPr id="3" name="Content Placeholder 2"/>
          <p:cNvSpPr>
            <a:spLocks noGrp="1"/>
          </p:cNvSpPr>
          <p:nvPr>
            <p:ph idx="1"/>
          </p:nvPr>
        </p:nvSpPr>
        <p:spPr/>
        <p:txBody>
          <a:bodyPr/>
          <a:lstStyle/>
          <a:p>
            <a:r>
              <a:rPr lang="en-US" sz="2200" dirty="0" smtClean="0"/>
              <a:t>Scaling gets harder as N grows:</a:t>
            </a:r>
          </a:p>
          <a:p>
            <a:pPr lvl="1"/>
            <a:r>
              <a:rPr lang="en-US" sz="1800" i="1" dirty="0" smtClean="0">
                <a:solidFill>
                  <a:srgbClr val="C00000"/>
                </a:solidFill>
              </a:rPr>
              <a:t>Load imbalance</a:t>
            </a:r>
            <a:r>
              <a:rPr lang="en-US" sz="1800" dirty="0" smtClean="0"/>
              <a:t>, stragglers, slowest-of-N latency.</a:t>
            </a:r>
          </a:p>
          <a:p>
            <a:pPr lvl="1"/>
            <a:r>
              <a:rPr lang="en-US" sz="1800" i="1" dirty="0" smtClean="0">
                <a:solidFill>
                  <a:srgbClr val="C00000"/>
                </a:solidFill>
              </a:rPr>
              <a:t>Non-parallelizable code</a:t>
            </a:r>
            <a:r>
              <a:rPr lang="en-US" sz="1800" dirty="0" smtClean="0"/>
              <a:t>: initialization, interaction.</a:t>
            </a:r>
          </a:p>
          <a:p>
            <a:pPr lvl="1"/>
            <a:r>
              <a:rPr lang="en-US" sz="1800" i="1" dirty="0" smtClean="0">
                <a:solidFill>
                  <a:srgbClr val="C00000"/>
                </a:solidFill>
              </a:rPr>
              <a:t>Bottlenecks</a:t>
            </a:r>
            <a:r>
              <a:rPr lang="en-US" sz="1800" dirty="0" smtClean="0"/>
              <a:t> from shared resources, e.g. network.</a:t>
            </a:r>
          </a:p>
          <a:p>
            <a:r>
              <a:rPr lang="en-US" sz="2200" dirty="0" smtClean="0"/>
              <a:t>Some performance problems aren't easily solved by scaling</a:t>
            </a:r>
          </a:p>
          <a:p>
            <a:pPr lvl="1"/>
            <a:r>
              <a:rPr lang="en-US" sz="1800" dirty="0" smtClean="0"/>
              <a:t>e.g. quick response time for a </a:t>
            </a:r>
            <a:r>
              <a:rPr lang="en-US" sz="1800" i="1" dirty="0" smtClean="0">
                <a:solidFill>
                  <a:srgbClr val="C00000"/>
                </a:solidFill>
              </a:rPr>
              <a:t>single user request</a:t>
            </a:r>
            <a:r>
              <a:rPr lang="en-US" sz="1800" dirty="0" smtClean="0"/>
              <a:t>.</a:t>
            </a:r>
          </a:p>
          <a:p>
            <a:pPr lvl="1"/>
            <a:r>
              <a:rPr lang="en-US" sz="1800" dirty="0" smtClean="0"/>
              <a:t>e.g. all users want to </a:t>
            </a:r>
            <a:r>
              <a:rPr lang="en-US" sz="1800" i="1" dirty="0" smtClean="0">
                <a:solidFill>
                  <a:srgbClr val="C00000"/>
                </a:solidFill>
              </a:rPr>
              <a:t>update the same data</a:t>
            </a:r>
            <a:r>
              <a:rPr lang="en-US" sz="1800" dirty="0" smtClean="0"/>
              <a:t>.</a:t>
            </a:r>
          </a:p>
          <a:p>
            <a:pPr lvl="1"/>
            <a:r>
              <a:rPr lang="en-US" sz="1800" dirty="0" smtClean="0"/>
              <a:t>often requires better design rather than just more computers.</a:t>
            </a:r>
            <a:endParaRPr lang="en-US" sz="1800" dirty="0"/>
          </a:p>
        </p:txBody>
      </p:sp>
      <p:sp>
        <p:nvSpPr>
          <p:cNvPr id="16388" name="AutoShape 4" descr="https://www.researchgate.net/profile/Anis-Nasir/publication/283335727/figure/fig1/AS:614041751932976@1523410370942/Load-imbalance-generated-by-skew-in-the-key-distribution-when-partitioning-the-stream-via.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6390" name="Picture 6" descr="https://images.squarespace-cdn.com/content/v1/5ac374a8b98a78b6fccbea7f/1571038899753-LG97OZQODO4JIQH5WYMK/Bottleneck+flow.png"/>
          <p:cNvPicPr>
            <a:picLocks noChangeAspect="1" noChangeArrowheads="1"/>
          </p:cNvPicPr>
          <p:nvPr/>
        </p:nvPicPr>
        <p:blipFill>
          <a:blip r:embed="rId2" cstate="print"/>
          <a:srcRect/>
          <a:stretch>
            <a:fillRect/>
          </a:stretch>
        </p:blipFill>
        <p:spPr bwMode="auto">
          <a:xfrm>
            <a:off x="1943100" y="4800600"/>
            <a:ext cx="4762500" cy="1430655"/>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Fault Tolerance</a:t>
            </a:r>
          </a:p>
        </p:txBody>
      </p:sp>
      <p:sp>
        <p:nvSpPr>
          <p:cNvPr id="3" name="Content Placeholder 2"/>
          <p:cNvSpPr>
            <a:spLocks noGrp="1"/>
          </p:cNvSpPr>
          <p:nvPr>
            <p:ph idx="1"/>
          </p:nvPr>
        </p:nvSpPr>
        <p:spPr/>
        <p:txBody>
          <a:bodyPr/>
          <a:lstStyle/>
          <a:p>
            <a:r>
              <a:rPr lang="en-US" sz="2400" i="1" dirty="0" smtClean="0">
                <a:solidFill>
                  <a:srgbClr val="C00000"/>
                </a:solidFill>
              </a:rPr>
              <a:t>Failure</a:t>
            </a:r>
            <a:r>
              <a:rPr lang="en-US" sz="2400" dirty="0" smtClean="0"/>
              <a:t>: System as a whole isn't working.</a:t>
            </a:r>
          </a:p>
          <a:p>
            <a:r>
              <a:rPr lang="en-US" sz="2400" i="1" dirty="0" smtClean="0">
                <a:solidFill>
                  <a:srgbClr val="C00000"/>
                </a:solidFill>
              </a:rPr>
              <a:t>Fault</a:t>
            </a:r>
            <a:r>
              <a:rPr lang="en-US" sz="2400" dirty="0" smtClean="0"/>
              <a:t>: Some part of the system isn't working.</a:t>
            </a:r>
          </a:p>
          <a:p>
            <a:r>
              <a:rPr lang="en-US" sz="2400" i="1" dirty="0" smtClean="0">
                <a:solidFill>
                  <a:srgbClr val="C00000"/>
                </a:solidFill>
              </a:rPr>
              <a:t>Fault tolerance</a:t>
            </a:r>
            <a:r>
              <a:rPr lang="en-US" sz="2400" dirty="0" smtClean="0"/>
              <a:t>: System as a whole continues working, despite faults (some maximum number of faults assumed).</a:t>
            </a:r>
          </a:p>
          <a:p>
            <a:r>
              <a:rPr lang="en-US" sz="2400" dirty="0" smtClean="0"/>
              <a:t>In a network with thousands of servers, failures are inevitable.</a:t>
            </a:r>
          </a:p>
          <a:p>
            <a:r>
              <a:rPr lang="en-US" sz="2400" dirty="0" smtClean="0"/>
              <a:t>We'd like to </a:t>
            </a:r>
            <a:r>
              <a:rPr lang="en-US" sz="2400" i="1" dirty="0" smtClean="0">
                <a:solidFill>
                  <a:srgbClr val="C00000"/>
                </a:solidFill>
              </a:rPr>
              <a:t>hide these failures</a:t>
            </a:r>
            <a:r>
              <a:rPr lang="en-US" sz="2400" dirty="0" smtClean="0"/>
              <a:t> from the application.</a:t>
            </a:r>
          </a:p>
          <a:p>
            <a:r>
              <a:rPr lang="en-US" sz="2400" dirty="0" smtClean="0"/>
              <a:t>We often want:</a:t>
            </a:r>
          </a:p>
          <a:p>
            <a:pPr lvl="1"/>
            <a:r>
              <a:rPr lang="en-US" sz="2000" i="1" dirty="0" smtClean="0">
                <a:solidFill>
                  <a:srgbClr val="C00000"/>
                </a:solidFill>
              </a:rPr>
              <a:t>Availability</a:t>
            </a:r>
            <a:r>
              <a:rPr lang="en-US" sz="2000" dirty="0" smtClean="0"/>
              <a:t>: app can make progress despite failures.</a:t>
            </a:r>
          </a:p>
          <a:p>
            <a:pPr lvl="1"/>
            <a:r>
              <a:rPr lang="en-US" sz="2000" i="1" dirty="0" smtClean="0">
                <a:solidFill>
                  <a:srgbClr val="C00000"/>
                </a:solidFill>
              </a:rPr>
              <a:t>Recoverability</a:t>
            </a:r>
            <a:r>
              <a:rPr lang="en-US" sz="2000" dirty="0" smtClean="0"/>
              <a:t>: app will come back to life when failures are repaired.</a:t>
            </a:r>
          </a:p>
          <a:p>
            <a:endParaRPr lang="en-US" sz="2400" dirty="0" smtClean="0"/>
          </a:p>
          <a:p>
            <a:endParaRPr lang="en-US" sz="2400" dirty="0" smtClean="0"/>
          </a:p>
        </p:txBody>
      </p:sp>
      <p:pic>
        <p:nvPicPr>
          <p:cNvPr id="1026" name="Picture 2" descr="https://miro.medium.com/v2/resize:fit:1200/1*vwpKuuN6GjA7FjDaATLNHQ.jpeg"/>
          <p:cNvPicPr>
            <a:picLocks noChangeAspect="1" noChangeArrowheads="1"/>
          </p:cNvPicPr>
          <p:nvPr/>
        </p:nvPicPr>
        <p:blipFill>
          <a:blip r:embed="rId3" cstate="print"/>
          <a:srcRect/>
          <a:stretch>
            <a:fillRect/>
          </a:stretch>
        </p:blipFill>
        <p:spPr bwMode="auto">
          <a:xfrm>
            <a:off x="6553200" y="381000"/>
            <a:ext cx="2286000" cy="1518285"/>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Achieve Fault Tolerance</a:t>
            </a:r>
            <a:endParaRPr lang="en-US" dirty="0"/>
          </a:p>
        </p:txBody>
      </p:sp>
      <p:sp>
        <p:nvSpPr>
          <p:cNvPr id="3" name="Content Placeholder 2"/>
          <p:cNvSpPr>
            <a:spLocks noGrp="1"/>
          </p:cNvSpPr>
          <p:nvPr>
            <p:ph idx="1"/>
          </p:nvPr>
        </p:nvSpPr>
        <p:spPr/>
        <p:txBody>
          <a:bodyPr/>
          <a:lstStyle/>
          <a:p>
            <a:r>
              <a:rPr lang="en-US" sz="2800" i="1" dirty="0" smtClean="0">
                <a:solidFill>
                  <a:srgbClr val="C00000"/>
                </a:solidFill>
              </a:rPr>
              <a:t>Idea</a:t>
            </a:r>
            <a:r>
              <a:rPr lang="en-US" sz="2800" dirty="0" smtClean="0"/>
              <a:t>: Replicated servers.</a:t>
            </a:r>
          </a:p>
          <a:p>
            <a:pPr lvl="1"/>
            <a:r>
              <a:rPr lang="en-US" sz="2400" dirty="0" smtClean="0"/>
              <a:t>If one server crashes, can proceed using the other(s).</a:t>
            </a:r>
          </a:p>
          <a:p>
            <a:r>
              <a:rPr lang="en-US" sz="2800" dirty="0" smtClean="0"/>
              <a:t>However, replication introduces </a:t>
            </a:r>
            <a:r>
              <a:rPr lang="en-US" sz="2800" i="1" dirty="0" smtClean="0">
                <a:solidFill>
                  <a:srgbClr val="C00000"/>
                </a:solidFill>
              </a:rPr>
              <a:t>consistency challenges</a:t>
            </a:r>
            <a:r>
              <a:rPr lang="en-US" sz="2800" dirty="0" smtClean="0"/>
              <a:t>.</a:t>
            </a:r>
          </a:p>
        </p:txBody>
      </p:sp>
      <p:pic>
        <p:nvPicPr>
          <p:cNvPr id="1028" name="Picture 4" descr="https://www.enterprisestorageforum.com/wp-content/uploads/2021/02/understanding-fault-tolerance-securing-your-system_6019c7b9d29a4.png"/>
          <p:cNvPicPr>
            <a:picLocks noChangeAspect="1" noChangeArrowheads="1"/>
          </p:cNvPicPr>
          <p:nvPr/>
        </p:nvPicPr>
        <p:blipFill>
          <a:blip r:embed="rId2" cstate="print"/>
          <a:srcRect/>
          <a:stretch>
            <a:fillRect/>
          </a:stretch>
        </p:blipFill>
        <p:spPr bwMode="auto">
          <a:xfrm>
            <a:off x="2895600" y="3733800"/>
            <a:ext cx="3244850" cy="234696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Read-Your-Write Consistency</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Read-your-write consistency</a:t>
            </a:r>
            <a:r>
              <a:rPr lang="en-US" sz="2400" dirty="0" smtClean="0"/>
              <a:t>: Process A after it has updated a data item always accesses the updated value and never will see an older value.</a:t>
            </a:r>
          </a:p>
          <a:p>
            <a:r>
              <a:rPr lang="en-US" sz="2400" dirty="0" smtClean="0"/>
              <a:t>General-purpose infrastructure needs well-defined behavior.</a:t>
            </a:r>
          </a:p>
          <a:p>
            <a:pPr lvl="1"/>
            <a:r>
              <a:rPr lang="en-US" sz="1800" dirty="0" smtClean="0"/>
              <a:t>E.g. "Get(k) yields the value from the most recent Put(</a:t>
            </a:r>
            <a:r>
              <a:rPr lang="en-US" sz="1800" dirty="0" err="1" smtClean="0"/>
              <a:t>k,v</a:t>
            </a:r>
            <a:r>
              <a:rPr lang="en-US" sz="1800" dirty="0" smtClean="0"/>
              <a:t>)."</a:t>
            </a:r>
          </a:p>
        </p:txBody>
      </p:sp>
      <p:pic>
        <p:nvPicPr>
          <p:cNvPr id="6146" name="Picture 2" descr="https://avikdas.com/assets/images/2020-04-13-scalability-concepts-read-after-write-consistency/cover-read-after-write-inconsistency.png"/>
          <p:cNvPicPr>
            <a:picLocks noChangeAspect="1" noChangeArrowheads="1"/>
          </p:cNvPicPr>
          <p:nvPr/>
        </p:nvPicPr>
        <p:blipFill>
          <a:blip r:embed="rId2" cstate="print"/>
          <a:srcRect/>
          <a:stretch>
            <a:fillRect/>
          </a:stretch>
        </p:blipFill>
        <p:spPr bwMode="auto">
          <a:xfrm>
            <a:off x="1346993" y="4191000"/>
            <a:ext cx="6349207" cy="1904762"/>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Strong Consistency</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Strong consistency</a:t>
            </a:r>
            <a:r>
              <a:rPr lang="en-US" sz="2200" dirty="0" smtClean="0"/>
              <a:t>: all nodes in the system see the same data at the same time, regardless of which node they are accessing.</a:t>
            </a:r>
          </a:p>
          <a:p>
            <a:r>
              <a:rPr lang="en-US" sz="2200" dirty="0" smtClean="0"/>
              <a:t>Crucial for businesses relying on data correctness.</a:t>
            </a:r>
          </a:p>
          <a:p>
            <a:r>
              <a:rPr lang="en-US" sz="2200" i="1" dirty="0" smtClean="0">
                <a:solidFill>
                  <a:srgbClr val="C00000"/>
                </a:solidFill>
              </a:rPr>
              <a:t>Strong consistency</a:t>
            </a:r>
            <a:r>
              <a:rPr lang="en-US" sz="2200" dirty="0" smtClean="0"/>
              <a:t> and </a:t>
            </a:r>
            <a:r>
              <a:rPr lang="en-US" sz="2200" u="sng" dirty="0" smtClean="0"/>
              <a:t>performance</a:t>
            </a:r>
            <a:r>
              <a:rPr lang="en-US" sz="2200" dirty="0" smtClean="0"/>
              <a:t> are enemies.</a:t>
            </a:r>
          </a:p>
          <a:p>
            <a:pPr lvl="1"/>
            <a:r>
              <a:rPr lang="en-US" sz="2000" dirty="0" smtClean="0"/>
              <a:t>Strong consistency requires </a:t>
            </a:r>
            <a:r>
              <a:rPr lang="en-US" sz="2000" i="1" dirty="0" smtClean="0">
                <a:solidFill>
                  <a:srgbClr val="C00000"/>
                </a:solidFill>
              </a:rPr>
              <a:t>communication</a:t>
            </a:r>
            <a:r>
              <a:rPr lang="en-US" sz="2000" dirty="0" smtClean="0"/>
              <a:t>.</a:t>
            </a:r>
          </a:p>
          <a:p>
            <a:pPr lvl="1"/>
            <a:r>
              <a:rPr lang="en-US" sz="2000" dirty="0" smtClean="0"/>
              <a:t>Performs </a:t>
            </a:r>
            <a:r>
              <a:rPr lang="en-US" sz="2000" i="1" dirty="0" smtClean="0">
                <a:solidFill>
                  <a:srgbClr val="C00000"/>
                </a:solidFill>
              </a:rPr>
              <a:t>repair</a:t>
            </a:r>
            <a:r>
              <a:rPr lang="en-US" sz="2000" dirty="0" smtClean="0"/>
              <a:t> </a:t>
            </a:r>
            <a:r>
              <a:rPr lang="en-US" sz="2000" u="sng" dirty="0" smtClean="0"/>
              <a:t>before</a:t>
            </a:r>
            <a:r>
              <a:rPr lang="en-US" sz="2000" dirty="0" smtClean="0"/>
              <a:t> returning results.</a:t>
            </a:r>
          </a:p>
        </p:txBody>
      </p:sp>
      <p:pic>
        <p:nvPicPr>
          <p:cNvPr id="26626" name="Picture 2" descr="https://miro.medium.com/v2/resize:fit:2000/1*RjatMd8Vv8qsBHTh7UICuw.png"/>
          <p:cNvPicPr>
            <a:picLocks noChangeAspect="1" noChangeArrowheads="1"/>
          </p:cNvPicPr>
          <p:nvPr/>
        </p:nvPicPr>
        <p:blipFill>
          <a:blip r:embed="rId2" cstate="print"/>
          <a:srcRect/>
          <a:stretch>
            <a:fillRect/>
          </a:stretch>
        </p:blipFill>
        <p:spPr bwMode="auto">
          <a:xfrm>
            <a:off x="1447800" y="4327765"/>
            <a:ext cx="6349207" cy="1920635"/>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Strong Consistency is Hard</a:t>
            </a:r>
            <a:endParaRPr lang="en-US" dirty="0"/>
          </a:p>
        </p:txBody>
      </p:sp>
      <p:sp>
        <p:nvSpPr>
          <p:cNvPr id="3" name="Content Placeholder 2"/>
          <p:cNvSpPr>
            <a:spLocks noGrp="1"/>
          </p:cNvSpPr>
          <p:nvPr>
            <p:ph idx="1"/>
          </p:nvPr>
        </p:nvSpPr>
        <p:spPr/>
        <p:txBody>
          <a:bodyPr/>
          <a:lstStyle/>
          <a:p>
            <a:r>
              <a:rPr lang="en-US" sz="2000" dirty="0" smtClean="0"/>
              <a:t>"Replica" servers are hard to keep </a:t>
            </a:r>
            <a:r>
              <a:rPr lang="en-US" sz="2000" i="1" dirty="0" smtClean="0">
                <a:solidFill>
                  <a:srgbClr val="C00000"/>
                </a:solidFill>
              </a:rPr>
              <a:t>identical</a:t>
            </a:r>
            <a:r>
              <a:rPr lang="en-US" sz="2000" dirty="0" smtClean="0"/>
              <a:t>.</a:t>
            </a:r>
          </a:p>
          <a:p>
            <a:r>
              <a:rPr lang="en-US" sz="2000" i="1" dirty="0" smtClean="0">
                <a:solidFill>
                  <a:srgbClr val="C00000"/>
                </a:solidFill>
              </a:rPr>
              <a:t>Clients may crash</a:t>
            </a:r>
            <a:r>
              <a:rPr lang="en-US" sz="2000" dirty="0" smtClean="0"/>
              <a:t> midway through multi-step update.</a:t>
            </a:r>
          </a:p>
          <a:p>
            <a:r>
              <a:rPr lang="en-US" sz="2000" i="1" dirty="0" smtClean="0">
                <a:solidFill>
                  <a:srgbClr val="C00000"/>
                </a:solidFill>
              </a:rPr>
              <a:t>Servers may crash</a:t>
            </a:r>
            <a:r>
              <a:rPr lang="en-US" sz="2000" dirty="0" smtClean="0"/>
              <a:t>, e.g. after executing but before replying.</a:t>
            </a:r>
          </a:p>
          <a:p>
            <a:r>
              <a:rPr lang="en-US" sz="2000" i="1" dirty="0" smtClean="0">
                <a:solidFill>
                  <a:srgbClr val="C00000"/>
                </a:solidFill>
              </a:rPr>
              <a:t>Network partition</a:t>
            </a:r>
            <a:r>
              <a:rPr lang="en-US" sz="2000" dirty="0" smtClean="0"/>
              <a:t> may make live servers look dead; risk of "split brain</a:t>
            </a:r>
            <a:r>
              <a:rPr lang="en-US" sz="2200" dirty="0" smtClean="0"/>
              <a:t>".</a:t>
            </a:r>
          </a:p>
          <a:p>
            <a:endParaRPr lang="en-US" sz="2400" dirty="0" smtClean="0"/>
          </a:p>
        </p:txBody>
      </p:sp>
      <p:pic>
        <p:nvPicPr>
          <p:cNvPr id="1033" name="Picture 9"/>
          <p:cNvPicPr>
            <a:picLocks noChangeAspect="1" noChangeArrowheads="1"/>
          </p:cNvPicPr>
          <p:nvPr/>
        </p:nvPicPr>
        <p:blipFill>
          <a:blip r:embed="rId2" cstate="print"/>
          <a:srcRect/>
          <a:stretch>
            <a:fillRect/>
          </a:stretch>
        </p:blipFill>
        <p:spPr bwMode="auto">
          <a:xfrm>
            <a:off x="990600" y="3886200"/>
            <a:ext cx="3213100" cy="2143125"/>
          </a:xfrm>
          <a:prstGeom prst="rect">
            <a:avLst/>
          </a:prstGeom>
          <a:noFill/>
          <a:ln w="9525">
            <a:noFill/>
            <a:miter lim="800000"/>
            <a:headEnd/>
            <a:tailEnd/>
          </a:ln>
        </p:spPr>
      </p:pic>
      <p:pic>
        <p:nvPicPr>
          <p:cNvPr id="1035" name="Picture 11" descr="https://docs.voltdb.com/graphics/NetworkPartition.png"/>
          <p:cNvPicPr>
            <a:picLocks noChangeAspect="1" noChangeArrowheads="1"/>
          </p:cNvPicPr>
          <p:nvPr/>
        </p:nvPicPr>
        <p:blipFill>
          <a:blip r:embed="rId3" cstate="print"/>
          <a:srcRect/>
          <a:stretch>
            <a:fillRect/>
          </a:stretch>
        </p:blipFill>
        <p:spPr bwMode="auto">
          <a:xfrm>
            <a:off x="5181600" y="3886200"/>
            <a:ext cx="2082959" cy="2223278"/>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Weak Consistency</a:t>
            </a:r>
            <a:endParaRPr lang="en-US" dirty="0"/>
          </a:p>
        </p:txBody>
      </p:sp>
      <p:sp>
        <p:nvSpPr>
          <p:cNvPr id="3" name="Content Placeholder 2"/>
          <p:cNvSpPr>
            <a:spLocks noGrp="1"/>
          </p:cNvSpPr>
          <p:nvPr>
            <p:ph idx="1"/>
          </p:nvPr>
        </p:nvSpPr>
        <p:spPr/>
        <p:txBody>
          <a:bodyPr/>
          <a:lstStyle/>
          <a:p>
            <a:r>
              <a:rPr lang="en-US" sz="2000" i="1" dirty="0" smtClean="0">
                <a:solidFill>
                  <a:srgbClr val="C00000"/>
                </a:solidFill>
              </a:rPr>
              <a:t>Over time</a:t>
            </a:r>
            <a:r>
              <a:rPr lang="en-US" sz="2000" dirty="0" smtClean="0"/>
              <a:t>, the system converges </a:t>
            </a:r>
            <a:r>
              <a:rPr lang="en-US" sz="2000" u="sng" dirty="0" smtClean="0"/>
              <a:t>towards consistency</a:t>
            </a:r>
            <a:r>
              <a:rPr lang="en-US" sz="2000" dirty="0" smtClean="0"/>
              <a:t>, but during the transient period, users accessing different data centers may observe different versions of the data.</a:t>
            </a:r>
          </a:p>
          <a:p>
            <a:r>
              <a:rPr lang="en-US" sz="2000" dirty="0" smtClean="0"/>
              <a:t>Many designs provide only </a:t>
            </a:r>
            <a:r>
              <a:rPr lang="en-US" sz="2000" i="1" dirty="0" smtClean="0">
                <a:solidFill>
                  <a:srgbClr val="C00000"/>
                </a:solidFill>
              </a:rPr>
              <a:t>weak consistency</a:t>
            </a:r>
            <a:r>
              <a:rPr lang="en-US" sz="2000" dirty="0" smtClean="0"/>
              <a:t>, to gain </a:t>
            </a:r>
            <a:r>
              <a:rPr lang="en-US" sz="2000" u="sng" dirty="0" smtClean="0"/>
              <a:t>speed</a:t>
            </a:r>
            <a:r>
              <a:rPr lang="en-US" sz="2000" dirty="0" smtClean="0"/>
              <a:t>.</a:t>
            </a:r>
          </a:p>
          <a:p>
            <a:pPr lvl="1"/>
            <a:r>
              <a:rPr lang="en-US" sz="1800" dirty="0" smtClean="0"/>
              <a:t>e.g. Get() does NOT yield the latest Put()!</a:t>
            </a:r>
          </a:p>
          <a:p>
            <a:pPr lvl="1"/>
            <a:r>
              <a:rPr lang="en-US" sz="1800" dirty="0" smtClean="0"/>
              <a:t>Performs </a:t>
            </a:r>
            <a:r>
              <a:rPr lang="en-US" sz="1800" i="1" dirty="0" smtClean="0">
                <a:solidFill>
                  <a:srgbClr val="C00000"/>
                </a:solidFill>
              </a:rPr>
              <a:t>repair</a:t>
            </a:r>
            <a:r>
              <a:rPr lang="en-US" sz="1800" dirty="0" smtClean="0"/>
              <a:t> </a:t>
            </a:r>
            <a:r>
              <a:rPr lang="en-US" sz="1800" u="sng" dirty="0" smtClean="0"/>
              <a:t>after</a:t>
            </a:r>
            <a:r>
              <a:rPr lang="en-US" sz="1800" dirty="0" smtClean="0"/>
              <a:t> returning results.</a:t>
            </a:r>
          </a:p>
          <a:p>
            <a:pPr lvl="1"/>
            <a:r>
              <a:rPr lang="en-US" sz="1800" dirty="0" smtClean="0"/>
              <a:t>Painful for application programmers but may be a good trade-off.</a:t>
            </a:r>
          </a:p>
        </p:txBody>
      </p:sp>
      <p:sp>
        <p:nvSpPr>
          <p:cNvPr id="25604" name="AutoShape 4" descr="https://miro.medium.com/v2/resize:fit:2000/format:webp/1*kltkPwarKxIjeqZZxMRMkQ.png"/>
          <p:cNvSpPr>
            <a:spLocks noChangeAspect="1" noChangeArrowheads="1"/>
          </p:cNvSpPr>
          <p:nvPr/>
        </p:nvSpPr>
        <p:spPr bwMode="auto">
          <a:xfrm>
            <a:off x="155575" y="-2590800"/>
            <a:ext cx="11201400" cy="5400675"/>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5605" name="Picture 5"/>
          <p:cNvPicPr>
            <a:picLocks noChangeAspect="1" noChangeArrowheads="1"/>
          </p:cNvPicPr>
          <p:nvPr/>
        </p:nvPicPr>
        <p:blipFill>
          <a:blip r:embed="rId2" cstate="print"/>
          <a:srcRect/>
          <a:stretch>
            <a:fillRect/>
          </a:stretch>
        </p:blipFill>
        <p:spPr bwMode="auto">
          <a:xfrm>
            <a:off x="2261143" y="4213627"/>
            <a:ext cx="4063457" cy="1958573"/>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Behavior</a:t>
            </a:r>
            <a:endParaRPr lang="en-US" dirty="0"/>
          </a:p>
        </p:txBody>
      </p:sp>
      <p:sp>
        <p:nvSpPr>
          <p:cNvPr id="3" name="Content Placeholder 2"/>
          <p:cNvSpPr>
            <a:spLocks noGrp="1"/>
          </p:cNvSpPr>
          <p:nvPr>
            <p:ph idx="1"/>
          </p:nvPr>
        </p:nvSpPr>
        <p:spPr/>
        <p:txBody>
          <a:bodyPr/>
          <a:lstStyle/>
          <a:p>
            <a:r>
              <a:rPr lang="en-US" sz="2400" u="sng" dirty="0" smtClean="0"/>
              <a:t>Assume</a:t>
            </a:r>
            <a:r>
              <a:rPr lang="en-US" sz="2400" dirty="0" smtClean="0"/>
              <a:t> bidirectional </a:t>
            </a:r>
            <a:r>
              <a:rPr lang="en-US" sz="2400" b="1" dirty="0" smtClean="0"/>
              <a:t>point-to-point</a:t>
            </a:r>
            <a:r>
              <a:rPr lang="en-US" sz="2400" dirty="0" smtClean="0"/>
              <a:t> communication between two nodes, with </a:t>
            </a:r>
            <a:r>
              <a:rPr lang="en-US" sz="2400" u="sng" dirty="0" smtClean="0"/>
              <a:t>one</a:t>
            </a:r>
            <a:r>
              <a:rPr lang="en-US" sz="2400" dirty="0" smtClean="0"/>
              <a:t> of:</a:t>
            </a:r>
          </a:p>
          <a:p>
            <a:pPr lvl="1"/>
            <a:r>
              <a:rPr lang="en-US" sz="2000" i="1" dirty="0" smtClean="0">
                <a:solidFill>
                  <a:srgbClr val="C00000"/>
                </a:solidFill>
              </a:rPr>
              <a:t>Reliable</a:t>
            </a:r>
            <a:r>
              <a:rPr lang="en-US" sz="2000" dirty="0" smtClean="0"/>
              <a:t> (perfect) links:</a:t>
            </a:r>
          </a:p>
          <a:p>
            <a:pPr lvl="2"/>
            <a:r>
              <a:rPr lang="en-US" sz="1800" dirty="0" smtClean="0"/>
              <a:t>A message is received if and only if it is sent.</a:t>
            </a:r>
          </a:p>
          <a:p>
            <a:pPr lvl="2"/>
            <a:r>
              <a:rPr lang="en-US" sz="1800" dirty="0" smtClean="0"/>
              <a:t>Messages may be reordered.</a:t>
            </a:r>
          </a:p>
          <a:p>
            <a:pPr lvl="1"/>
            <a:r>
              <a:rPr lang="en-US" sz="2000" i="1" dirty="0" smtClean="0">
                <a:solidFill>
                  <a:srgbClr val="C00000"/>
                </a:solidFill>
              </a:rPr>
              <a:t>Fair-loss</a:t>
            </a:r>
            <a:r>
              <a:rPr lang="en-US" sz="2000" dirty="0" smtClean="0"/>
              <a:t> links:</a:t>
            </a:r>
          </a:p>
          <a:p>
            <a:pPr lvl="2"/>
            <a:r>
              <a:rPr lang="en-US" sz="1800" dirty="0" smtClean="0"/>
              <a:t>Messages may be lost, duplicated, or reordered.</a:t>
            </a:r>
          </a:p>
          <a:p>
            <a:pPr lvl="2"/>
            <a:r>
              <a:rPr lang="en-US" sz="1800" dirty="0" smtClean="0"/>
              <a:t>If you </a:t>
            </a:r>
            <a:r>
              <a:rPr lang="en-US" sz="1800" u="sng" dirty="0" smtClean="0"/>
              <a:t>keep retrying</a:t>
            </a:r>
            <a:r>
              <a:rPr lang="en-US" sz="1800" dirty="0" smtClean="0"/>
              <a:t>, a message </a:t>
            </a:r>
            <a:r>
              <a:rPr lang="en-US" sz="1800" u="sng" dirty="0" smtClean="0"/>
              <a:t>eventually gets through</a:t>
            </a:r>
            <a:r>
              <a:rPr lang="en-US" sz="1800" dirty="0" smtClean="0"/>
              <a:t>.</a:t>
            </a:r>
          </a:p>
          <a:p>
            <a:pPr lvl="2"/>
            <a:r>
              <a:rPr lang="en-US" sz="1800" i="1" dirty="0" smtClean="0">
                <a:solidFill>
                  <a:srgbClr val="C00000"/>
                </a:solidFill>
              </a:rPr>
              <a:t>Network partition</a:t>
            </a:r>
            <a:r>
              <a:rPr lang="en-US" sz="1800" dirty="0" smtClean="0"/>
              <a:t>: Some links dropping or delaying all messages for period of time.</a:t>
            </a:r>
          </a:p>
          <a:p>
            <a:pPr lvl="1"/>
            <a:r>
              <a:rPr lang="en-US" sz="2000" i="1" dirty="0" smtClean="0">
                <a:solidFill>
                  <a:srgbClr val="C00000"/>
                </a:solidFill>
              </a:rPr>
              <a:t>Arbitrary</a:t>
            </a:r>
            <a:r>
              <a:rPr lang="en-US" sz="2000" dirty="0" smtClean="0"/>
              <a:t> links (active adversary):</a:t>
            </a:r>
          </a:p>
          <a:p>
            <a:pPr lvl="2"/>
            <a:r>
              <a:rPr lang="en-US" sz="1800" dirty="0" smtClean="0"/>
              <a:t>A malicious adversary may interfere with messages (eavesdrop, modify, drop, spoof, replay).</a:t>
            </a:r>
          </a:p>
        </p:txBody>
      </p:sp>
      <p:sp>
        <p:nvSpPr>
          <p:cNvPr id="10" name="Bent Arrow 9"/>
          <p:cNvSpPr/>
          <p:nvPr/>
        </p:nvSpPr>
        <p:spPr>
          <a:xfrm flipH="1">
            <a:off x="5943600" y="2057400"/>
            <a:ext cx="1828800" cy="2057400"/>
          </a:xfrm>
          <a:prstGeom prst="ben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b="1" dirty="0" smtClean="0">
                <a:solidFill>
                  <a:schemeClr val="tx1"/>
                </a:solidFill>
              </a:rPr>
              <a:t>   </a:t>
            </a:r>
          </a:p>
          <a:p>
            <a:pPr algn="ctr"/>
            <a:r>
              <a:rPr lang="en-US" b="1" dirty="0" smtClean="0">
                <a:solidFill>
                  <a:schemeClr val="tx1"/>
                </a:solidFill>
              </a:rPr>
              <a:t>Retry and</a:t>
            </a:r>
          </a:p>
          <a:p>
            <a:pPr algn="ctr"/>
            <a:r>
              <a:rPr lang="en-US" b="1" dirty="0" smtClean="0">
                <a:solidFill>
                  <a:schemeClr val="tx1"/>
                </a:solidFill>
              </a:rPr>
              <a:t>De-duplication</a:t>
            </a:r>
            <a:endParaRPr lang="en-US" b="1" dirty="0">
              <a:solidFill>
                <a:schemeClr val="tx1"/>
              </a:solidFill>
            </a:endParaRPr>
          </a:p>
        </p:txBody>
      </p:sp>
      <p:sp>
        <p:nvSpPr>
          <p:cNvPr id="11" name="Bent Arrow 10"/>
          <p:cNvSpPr/>
          <p:nvPr/>
        </p:nvSpPr>
        <p:spPr>
          <a:xfrm flipH="1">
            <a:off x="7924800" y="3733800"/>
            <a:ext cx="838200" cy="1676400"/>
          </a:xfrm>
          <a:prstGeom prst="ben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b="1" dirty="0" smtClean="0">
                <a:solidFill>
                  <a:schemeClr val="tx1"/>
                </a:solidFill>
              </a:rPr>
              <a:t> TLS</a:t>
            </a:r>
            <a:endParaRPr lang="en-US" b="1" dirty="0">
              <a:solidFill>
                <a:schemeClr val="tx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Node Behavior</a:t>
            </a:r>
            <a:endParaRPr lang="en-US" dirty="0"/>
          </a:p>
        </p:txBody>
      </p:sp>
      <p:sp>
        <p:nvSpPr>
          <p:cNvPr id="3" name="Content Placeholder 2"/>
          <p:cNvSpPr>
            <a:spLocks noGrp="1"/>
          </p:cNvSpPr>
          <p:nvPr>
            <p:ph idx="1"/>
          </p:nvPr>
        </p:nvSpPr>
        <p:spPr/>
        <p:txBody>
          <a:bodyPr/>
          <a:lstStyle/>
          <a:p>
            <a:r>
              <a:rPr lang="en-US" sz="2400" dirty="0" smtClean="0"/>
              <a:t>Each node executes a specified algorithm, </a:t>
            </a:r>
            <a:r>
              <a:rPr lang="en-US" sz="2400" u="sng" dirty="0" smtClean="0"/>
              <a:t>assuming one</a:t>
            </a:r>
            <a:r>
              <a:rPr lang="en-US" sz="2400" dirty="0" smtClean="0"/>
              <a:t> of the following:</a:t>
            </a:r>
          </a:p>
          <a:p>
            <a:pPr lvl="1"/>
            <a:r>
              <a:rPr lang="en-US" sz="2000" i="1" dirty="0" smtClean="0">
                <a:solidFill>
                  <a:srgbClr val="C00000"/>
                </a:solidFill>
              </a:rPr>
              <a:t>Crash-stop</a:t>
            </a:r>
            <a:r>
              <a:rPr lang="en-US" sz="2000" dirty="0" smtClean="0"/>
              <a:t> (Fail-stop):</a:t>
            </a:r>
          </a:p>
          <a:p>
            <a:pPr lvl="2"/>
            <a:r>
              <a:rPr lang="en-US" sz="1600" dirty="0" smtClean="0"/>
              <a:t>A node is faulty if it crashes (at any moment).</a:t>
            </a:r>
          </a:p>
          <a:p>
            <a:pPr lvl="2"/>
            <a:r>
              <a:rPr lang="en-US" sz="1600" dirty="0" smtClean="0"/>
              <a:t>After crashing, it stops executing </a:t>
            </a:r>
            <a:r>
              <a:rPr lang="en-US" sz="1600" u="sng" dirty="0" smtClean="0"/>
              <a:t>forever</a:t>
            </a:r>
            <a:r>
              <a:rPr lang="en-US" sz="1600" dirty="0" smtClean="0"/>
              <a:t>.</a:t>
            </a:r>
          </a:p>
          <a:p>
            <a:pPr lvl="1"/>
            <a:r>
              <a:rPr lang="en-US" sz="2000" i="1" dirty="0" smtClean="0">
                <a:solidFill>
                  <a:srgbClr val="C00000"/>
                </a:solidFill>
              </a:rPr>
              <a:t>Crash-recovery</a:t>
            </a:r>
            <a:r>
              <a:rPr lang="en-US" sz="2000" dirty="0" smtClean="0"/>
              <a:t> (Fail-recovery):</a:t>
            </a:r>
          </a:p>
          <a:p>
            <a:pPr lvl="2"/>
            <a:r>
              <a:rPr lang="en-US" sz="1600" dirty="0" smtClean="0"/>
              <a:t>A node may crash at any moment, losing its in-memory state. It may resume executing sometime later.</a:t>
            </a:r>
          </a:p>
          <a:p>
            <a:pPr lvl="1"/>
            <a:r>
              <a:rPr lang="en-US" sz="2000" i="1" dirty="0" smtClean="0">
                <a:solidFill>
                  <a:srgbClr val="C00000"/>
                </a:solidFill>
              </a:rPr>
              <a:t>Byzantine</a:t>
            </a:r>
            <a:r>
              <a:rPr lang="en-US" sz="2000" dirty="0" smtClean="0"/>
              <a:t> (Fail-arbitrary):</a:t>
            </a:r>
          </a:p>
          <a:p>
            <a:pPr lvl="2"/>
            <a:r>
              <a:rPr lang="en-US" sz="1600" dirty="0" smtClean="0"/>
              <a:t>A node is faulty if it deviates from the algorithm.</a:t>
            </a:r>
          </a:p>
          <a:p>
            <a:pPr lvl="2"/>
            <a:r>
              <a:rPr lang="en-US" sz="1600" dirty="0" smtClean="0"/>
              <a:t>Faulty nodes may do anything, including crashing or malicious behavior.</a:t>
            </a:r>
          </a:p>
          <a:p>
            <a:r>
              <a:rPr lang="en-US" sz="2400" dirty="0" smtClean="0"/>
              <a:t>A node that is </a:t>
            </a:r>
            <a:r>
              <a:rPr lang="en-US" sz="2400" u="sng" dirty="0" smtClean="0"/>
              <a:t>not faulty</a:t>
            </a:r>
            <a:r>
              <a:rPr lang="en-US" sz="2400" dirty="0" smtClean="0"/>
              <a:t> is called “</a:t>
            </a:r>
            <a:r>
              <a:rPr lang="en-US" sz="2400" i="1" dirty="0" smtClean="0">
                <a:solidFill>
                  <a:srgbClr val="C00000"/>
                </a:solidFill>
              </a:rPr>
              <a:t>correct</a:t>
            </a:r>
            <a:r>
              <a:rPr lang="en-US" sz="2400" dirty="0" smtClean="0"/>
              <a:t>”.</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Timing</a:t>
            </a:r>
            <a:endParaRPr lang="en-US" dirty="0"/>
          </a:p>
        </p:txBody>
      </p:sp>
      <p:sp>
        <p:nvSpPr>
          <p:cNvPr id="3" name="Content Placeholder 2"/>
          <p:cNvSpPr>
            <a:spLocks noGrp="1"/>
          </p:cNvSpPr>
          <p:nvPr>
            <p:ph idx="1"/>
          </p:nvPr>
        </p:nvSpPr>
        <p:spPr/>
        <p:txBody>
          <a:bodyPr/>
          <a:lstStyle/>
          <a:p>
            <a:r>
              <a:rPr lang="en-US" sz="2600" dirty="0" smtClean="0"/>
              <a:t>Assume </a:t>
            </a:r>
            <a:r>
              <a:rPr lang="en-US" sz="2600" u="sng" dirty="0" smtClean="0"/>
              <a:t>one</a:t>
            </a:r>
            <a:r>
              <a:rPr lang="en-US" sz="2600" dirty="0" smtClean="0"/>
              <a:t> of the following for </a:t>
            </a:r>
            <a:r>
              <a:rPr lang="en-US" sz="2600" u="sng" dirty="0" smtClean="0"/>
              <a:t>timing (synchrony)</a:t>
            </a:r>
            <a:r>
              <a:rPr lang="en-US" sz="2600" dirty="0" smtClean="0"/>
              <a:t> of </a:t>
            </a:r>
            <a:r>
              <a:rPr lang="en-US" sz="2600" u="sng" dirty="0" smtClean="0"/>
              <a:t>network</a:t>
            </a:r>
            <a:r>
              <a:rPr lang="en-US" sz="2600" dirty="0" smtClean="0"/>
              <a:t> and </a:t>
            </a:r>
            <a:r>
              <a:rPr lang="en-US" sz="2600" u="sng" dirty="0" smtClean="0"/>
              <a:t>nodes</a:t>
            </a:r>
            <a:r>
              <a:rPr lang="en-US" sz="2600" dirty="0" smtClean="0"/>
              <a:t>:</a:t>
            </a:r>
          </a:p>
          <a:p>
            <a:pPr lvl="1"/>
            <a:r>
              <a:rPr lang="en-US" sz="2400" i="1" dirty="0" smtClean="0">
                <a:solidFill>
                  <a:srgbClr val="C00000"/>
                </a:solidFill>
              </a:rPr>
              <a:t>Synchronous</a:t>
            </a:r>
            <a:r>
              <a:rPr lang="en-US" sz="2400" dirty="0" smtClean="0"/>
              <a:t>:</a:t>
            </a:r>
          </a:p>
          <a:p>
            <a:pPr lvl="2"/>
            <a:r>
              <a:rPr lang="en-US" sz="2000" dirty="0" smtClean="0"/>
              <a:t>Message latency </a:t>
            </a:r>
            <a:r>
              <a:rPr lang="en-US" sz="2000" u="sng" dirty="0" smtClean="0"/>
              <a:t>no greater</a:t>
            </a:r>
            <a:r>
              <a:rPr lang="en-US" sz="2000" dirty="0" smtClean="0"/>
              <a:t> than a known upper bound.</a:t>
            </a:r>
          </a:p>
          <a:p>
            <a:pPr lvl="2"/>
            <a:r>
              <a:rPr lang="en-US" sz="2000" dirty="0" smtClean="0"/>
              <a:t>Nodes execute algorithm at a </a:t>
            </a:r>
            <a:r>
              <a:rPr lang="en-US" sz="2000" u="sng" dirty="0" smtClean="0"/>
              <a:t>known speed</a:t>
            </a:r>
            <a:r>
              <a:rPr lang="en-US" sz="2000" dirty="0" smtClean="0"/>
              <a:t>.</a:t>
            </a:r>
          </a:p>
          <a:p>
            <a:pPr lvl="1"/>
            <a:r>
              <a:rPr lang="en-US" sz="2400" i="1" dirty="0" smtClean="0">
                <a:solidFill>
                  <a:srgbClr val="C00000"/>
                </a:solidFill>
              </a:rPr>
              <a:t>Asynchronous</a:t>
            </a:r>
            <a:r>
              <a:rPr lang="en-US" sz="2400" dirty="0" smtClean="0"/>
              <a:t>:</a:t>
            </a:r>
          </a:p>
          <a:p>
            <a:pPr lvl="2"/>
            <a:r>
              <a:rPr lang="en-US" sz="2000" dirty="0" smtClean="0"/>
              <a:t>Messages can be delayed </a:t>
            </a:r>
            <a:r>
              <a:rPr lang="en-US" sz="2000" u="sng" dirty="0" smtClean="0"/>
              <a:t>arbitrarily</a:t>
            </a:r>
            <a:r>
              <a:rPr lang="en-US" sz="2000" dirty="0" smtClean="0"/>
              <a:t>.</a:t>
            </a:r>
          </a:p>
          <a:p>
            <a:pPr lvl="2"/>
            <a:r>
              <a:rPr lang="en-US" sz="2000" dirty="0" smtClean="0"/>
              <a:t>Nodes can pause execution </a:t>
            </a:r>
            <a:r>
              <a:rPr lang="en-US" sz="2000" u="sng" dirty="0" smtClean="0"/>
              <a:t>arbitrarily</a:t>
            </a:r>
            <a:r>
              <a:rPr lang="en-US" sz="2000" dirty="0" smtClean="0"/>
              <a:t>.</a:t>
            </a:r>
          </a:p>
          <a:p>
            <a:pPr lvl="2"/>
            <a:r>
              <a:rPr lang="en-US" sz="2000" dirty="0" smtClean="0"/>
              <a:t>No timing guarantees at all.</a:t>
            </a:r>
          </a:p>
          <a:p>
            <a:pPr lvl="1"/>
            <a:r>
              <a:rPr lang="en-US" sz="2400" i="1" dirty="0" smtClean="0">
                <a:solidFill>
                  <a:srgbClr val="C00000"/>
                </a:solidFill>
              </a:rPr>
              <a:t>Partially synchronous</a:t>
            </a:r>
            <a:r>
              <a:rPr lang="en-US" sz="2400" dirty="0" smtClean="0"/>
              <a:t>:</a:t>
            </a:r>
          </a:p>
          <a:p>
            <a:pPr lvl="2"/>
            <a:r>
              <a:rPr lang="en-US" sz="2000" dirty="0" smtClean="0"/>
              <a:t>The system is asynchronous for some </a:t>
            </a:r>
            <a:r>
              <a:rPr lang="en-US" sz="2000" u="sng" dirty="0" smtClean="0"/>
              <a:t>finite</a:t>
            </a:r>
            <a:r>
              <a:rPr lang="en-US" sz="2000" dirty="0" smtClean="0"/>
              <a:t> (but unknown) periods of time, synchronous otherwise.</a:t>
            </a:r>
          </a:p>
          <a:p>
            <a:pPr lvl="2"/>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Models</a:t>
            </a:r>
            <a:endParaRPr lang="en-US" dirty="0"/>
          </a:p>
        </p:txBody>
      </p:sp>
      <p:sp>
        <p:nvSpPr>
          <p:cNvPr id="3" name="Content Placeholder 2"/>
          <p:cNvSpPr>
            <a:spLocks noGrp="1"/>
          </p:cNvSpPr>
          <p:nvPr>
            <p:ph idx="1"/>
          </p:nvPr>
        </p:nvSpPr>
        <p:spPr/>
        <p:txBody>
          <a:bodyPr/>
          <a:lstStyle/>
          <a:p>
            <a:r>
              <a:rPr lang="en-US" sz="2800" dirty="0" smtClean="0"/>
              <a:t>For each of the three parts, pick </a:t>
            </a:r>
            <a:r>
              <a:rPr lang="en-US" sz="2800" i="1" dirty="0" smtClean="0">
                <a:solidFill>
                  <a:srgbClr val="C00000"/>
                </a:solidFill>
              </a:rPr>
              <a:t>one</a:t>
            </a:r>
            <a:r>
              <a:rPr lang="en-US" sz="2800" dirty="0" smtClean="0"/>
              <a:t>:</a:t>
            </a:r>
          </a:p>
          <a:p>
            <a:pPr lvl="1"/>
            <a:r>
              <a:rPr lang="en-US" sz="2400" dirty="0" smtClean="0"/>
              <a:t>Network</a:t>
            </a:r>
          </a:p>
          <a:p>
            <a:pPr lvl="2"/>
            <a:r>
              <a:rPr lang="en-US" sz="2000" dirty="0" smtClean="0"/>
              <a:t>Reliable, fair-loss, or arbitrary</a:t>
            </a:r>
          </a:p>
          <a:p>
            <a:pPr lvl="1"/>
            <a:r>
              <a:rPr lang="en-US" sz="2400" dirty="0" smtClean="0"/>
              <a:t>Nodes:</a:t>
            </a:r>
          </a:p>
          <a:p>
            <a:pPr lvl="2"/>
            <a:r>
              <a:rPr lang="en-US" sz="2000" dirty="0" smtClean="0"/>
              <a:t>Crash-stop, crash-recovery, or Byzantine</a:t>
            </a:r>
          </a:p>
          <a:p>
            <a:pPr lvl="1"/>
            <a:r>
              <a:rPr lang="en-US" sz="2400" dirty="0" smtClean="0"/>
              <a:t>Timing:</a:t>
            </a:r>
          </a:p>
          <a:p>
            <a:pPr lvl="2"/>
            <a:r>
              <a:rPr lang="en-US" sz="2000" dirty="0" smtClean="0"/>
              <a:t>Synchronous, partially synchronous, or asynchronous</a:t>
            </a:r>
          </a:p>
          <a:p>
            <a:r>
              <a:rPr lang="en-US" sz="2800" dirty="0" smtClean="0"/>
              <a:t>This is the </a:t>
            </a:r>
            <a:r>
              <a:rPr lang="en-US" sz="2800" u="sng" dirty="0" smtClean="0"/>
              <a:t>basis</a:t>
            </a:r>
            <a:r>
              <a:rPr lang="en-US" sz="2800" dirty="0" smtClean="0"/>
              <a:t> for any </a:t>
            </a:r>
            <a:r>
              <a:rPr lang="en-US" sz="2800" i="1" dirty="0" smtClean="0">
                <a:solidFill>
                  <a:srgbClr val="C00000"/>
                </a:solidFill>
              </a:rPr>
              <a:t>distributed algorithm</a:t>
            </a:r>
            <a:r>
              <a:rPr lang="en-US" sz="2800" dirty="0" smtClean="0"/>
              <a:t>.</a:t>
            </a:r>
          </a:p>
          <a:p>
            <a:r>
              <a:rPr lang="en-US" sz="2800" dirty="0" smtClean="0"/>
              <a:t>If your assumptions are wrong, all bets are off!</a:t>
            </a:r>
            <a:endParaRPr 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The TCP/IP Five-Layer Network Model</a:t>
            </a:r>
            <a:endParaRPr lang="en-US" sz="4000" dirty="0"/>
          </a:p>
        </p:txBody>
      </p:sp>
      <p:pic>
        <p:nvPicPr>
          <p:cNvPr id="1026" name="Picture 2" descr="https://www.parthshandilya.com/static/000830ae038ab058c5ae0487027fd995/1bae2/TCP-IP-Layers.png"/>
          <p:cNvPicPr>
            <a:picLocks noChangeAspect="1" noChangeArrowheads="1"/>
          </p:cNvPicPr>
          <p:nvPr/>
        </p:nvPicPr>
        <p:blipFill>
          <a:blip r:embed="rId2" cstate="print"/>
          <a:srcRect/>
          <a:stretch>
            <a:fillRect/>
          </a:stretch>
        </p:blipFill>
        <p:spPr bwMode="auto">
          <a:xfrm>
            <a:off x="914400" y="1752600"/>
            <a:ext cx="7394003" cy="4135332"/>
          </a:xfrm>
          <a:prstGeom prst="rect">
            <a:avLst/>
          </a:prstGeom>
          <a:noFill/>
        </p:spPr>
      </p:pic>
      <p:sp>
        <p:nvSpPr>
          <p:cNvPr id="4" name="Rectangle 3"/>
          <p:cNvSpPr/>
          <p:nvPr/>
        </p:nvSpPr>
        <p:spPr>
          <a:xfrm>
            <a:off x="762000" y="3048000"/>
            <a:ext cx="7772400" cy="2286000"/>
          </a:xfrm>
          <a:prstGeom prst="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Communication</a:t>
            </a:r>
            <a:endParaRPr lang="en-US" dirty="0"/>
          </a:p>
        </p:txBody>
      </p:sp>
      <p:sp>
        <p:nvSpPr>
          <p:cNvPr id="3" name="Content Placeholder 2"/>
          <p:cNvSpPr>
            <a:spLocks noGrp="1"/>
          </p:cNvSpPr>
          <p:nvPr>
            <p:ph idx="1"/>
          </p:nvPr>
        </p:nvSpPr>
        <p:spPr/>
        <p:txBody>
          <a:bodyPr/>
          <a:lstStyle/>
          <a:p>
            <a:r>
              <a:rPr lang="en-US" sz="2000" dirty="0" smtClean="0"/>
              <a:t>Reliable </a:t>
            </a:r>
            <a:r>
              <a:rPr lang="en-US" sz="2000" dirty="0" err="1" smtClean="0"/>
              <a:t>Unicast</a:t>
            </a:r>
            <a:r>
              <a:rPr lang="en-US" sz="2000" dirty="0" smtClean="0"/>
              <a:t>, Multicast, Broadcast.</a:t>
            </a:r>
          </a:p>
          <a:p>
            <a:r>
              <a:rPr lang="en-US" sz="2000" dirty="0" smtClean="0"/>
              <a:t>Unreliable </a:t>
            </a:r>
            <a:r>
              <a:rPr lang="en-US" sz="2000" dirty="0" err="1" smtClean="0"/>
              <a:t>Unicast</a:t>
            </a:r>
            <a:r>
              <a:rPr lang="en-US" sz="2000" dirty="0" smtClean="0"/>
              <a:t>, Multicast, Broadcast.</a:t>
            </a:r>
          </a:p>
          <a:p>
            <a:r>
              <a:rPr lang="en-US" sz="2000" dirty="0" smtClean="0"/>
              <a:t>Our focus is on inter-node communication </a:t>
            </a:r>
            <a:r>
              <a:rPr lang="en-US" sz="2000" i="1" dirty="0" smtClean="0">
                <a:solidFill>
                  <a:srgbClr val="C00000"/>
                </a:solidFill>
              </a:rPr>
              <a:t>at the application layer</a:t>
            </a:r>
            <a:r>
              <a:rPr lang="en-US" sz="2000" dirty="0" smtClean="0"/>
              <a:t>, rather than at the Ethernet (MAC), network (IP), or transport (port) layers.</a:t>
            </a:r>
            <a:endParaRPr lang="en-US" sz="2000" dirty="0"/>
          </a:p>
        </p:txBody>
      </p:sp>
      <p:pic>
        <p:nvPicPr>
          <p:cNvPr id="4" name="Picture 2" descr="https://thestudygenius.com/wp-content/uploads/2021/02/unicast-multicast-broadcast-image3-1-1.jpg"/>
          <p:cNvPicPr>
            <a:picLocks noChangeAspect="1" noChangeArrowheads="1"/>
          </p:cNvPicPr>
          <p:nvPr/>
        </p:nvPicPr>
        <p:blipFill>
          <a:blip r:embed="rId2" cstate="print"/>
          <a:srcRect/>
          <a:stretch>
            <a:fillRect/>
          </a:stretch>
        </p:blipFill>
        <p:spPr bwMode="auto">
          <a:xfrm>
            <a:off x="1295400" y="3590924"/>
            <a:ext cx="6581775" cy="2657476"/>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Consistent (Good) Ordering</a:t>
            </a:r>
            <a:endParaRPr lang="en-US" dirty="0"/>
          </a:p>
        </p:txBody>
      </p:sp>
      <p:sp>
        <p:nvSpPr>
          <p:cNvPr id="3" name="Content Placeholder 2"/>
          <p:cNvSpPr>
            <a:spLocks noGrp="1"/>
          </p:cNvSpPr>
          <p:nvPr>
            <p:ph idx="1"/>
          </p:nvPr>
        </p:nvSpPr>
        <p:spPr/>
        <p:txBody>
          <a:bodyPr/>
          <a:lstStyle/>
          <a:p>
            <a:r>
              <a:rPr lang="en-US" sz="2400" dirty="0" smtClean="0"/>
              <a:t>Single sender multicasting a stream of messages.</a:t>
            </a:r>
            <a:endParaRPr lang="en-US" sz="2400" dirty="0"/>
          </a:p>
        </p:txBody>
      </p:sp>
      <p:pic>
        <p:nvPicPr>
          <p:cNvPr id="67587" name="Picture 3"/>
          <p:cNvPicPr>
            <a:picLocks noChangeAspect="1" noChangeArrowheads="1"/>
          </p:cNvPicPr>
          <p:nvPr/>
        </p:nvPicPr>
        <p:blipFill>
          <a:blip r:embed="rId2" cstate="print"/>
          <a:srcRect/>
          <a:stretch>
            <a:fillRect/>
          </a:stretch>
        </p:blipFill>
        <p:spPr bwMode="auto">
          <a:xfrm>
            <a:off x="1973263" y="2711450"/>
            <a:ext cx="5197475" cy="247015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Inconsistent (Bad) Ordering</a:t>
            </a:r>
            <a:endParaRPr lang="en-US" dirty="0"/>
          </a:p>
        </p:txBody>
      </p:sp>
      <p:sp>
        <p:nvSpPr>
          <p:cNvPr id="3" name="Content Placeholder 2"/>
          <p:cNvSpPr>
            <a:spLocks noGrp="1"/>
          </p:cNvSpPr>
          <p:nvPr>
            <p:ph idx="1"/>
          </p:nvPr>
        </p:nvSpPr>
        <p:spPr/>
        <p:txBody>
          <a:bodyPr/>
          <a:lstStyle/>
          <a:p>
            <a:r>
              <a:rPr lang="en-US" sz="2400" dirty="0" smtClean="0"/>
              <a:t>Single sender multicasting a stream of messages.</a:t>
            </a:r>
            <a:endParaRPr lang="en-US" sz="2400" dirty="0"/>
          </a:p>
        </p:txBody>
      </p:sp>
      <p:pic>
        <p:nvPicPr>
          <p:cNvPr id="5" name="Picture 2"/>
          <p:cNvPicPr>
            <a:picLocks noChangeAspect="1" noChangeArrowheads="1"/>
          </p:cNvPicPr>
          <p:nvPr/>
        </p:nvPicPr>
        <p:blipFill>
          <a:blip r:embed="rId2" cstate="print"/>
          <a:srcRect/>
          <a:stretch>
            <a:fillRect/>
          </a:stretch>
        </p:blipFill>
        <p:spPr bwMode="auto">
          <a:xfrm>
            <a:off x="1895475" y="2822575"/>
            <a:ext cx="5353050" cy="2435225"/>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Consistent (Good) Ordering</a:t>
            </a:r>
            <a:endParaRPr lang="en-US" dirty="0"/>
          </a:p>
        </p:txBody>
      </p:sp>
      <p:sp>
        <p:nvSpPr>
          <p:cNvPr id="3" name="Content Placeholder 2"/>
          <p:cNvSpPr>
            <a:spLocks noGrp="1"/>
          </p:cNvSpPr>
          <p:nvPr>
            <p:ph idx="1"/>
          </p:nvPr>
        </p:nvSpPr>
        <p:spPr/>
        <p:txBody>
          <a:bodyPr/>
          <a:lstStyle/>
          <a:p>
            <a:r>
              <a:rPr lang="en-US" sz="2400" dirty="0" smtClean="0"/>
              <a:t>Multiple senders multicasting a stream of messages.</a:t>
            </a:r>
            <a:endParaRPr lang="en-US" sz="2400" dirty="0"/>
          </a:p>
        </p:txBody>
      </p:sp>
      <p:pic>
        <p:nvPicPr>
          <p:cNvPr id="67586" name="Picture 2"/>
          <p:cNvPicPr>
            <a:picLocks noChangeAspect="1" noChangeArrowheads="1"/>
          </p:cNvPicPr>
          <p:nvPr/>
        </p:nvPicPr>
        <p:blipFill>
          <a:blip r:embed="rId2" cstate="print"/>
          <a:srcRect/>
          <a:stretch>
            <a:fillRect/>
          </a:stretch>
        </p:blipFill>
        <p:spPr bwMode="auto">
          <a:xfrm>
            <a:off x="1263650" y="2962275"/>
            <a:ext cx="6616700" cy="2371725"/>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Inconsistent (Bad) Ordering</a:t>
            </a:r>
            <a:endParaRPr lang="en-US" dirty="0"/>
          </a:p>
        </p:txBody>
      </p:sp>
      <p:sp>
        <p:nvSpPr>
          <p:cNvPr id="3" name="Content Placeholder 2"/>
          <p:cNvSpPr>
            <a:spLocks noGrp="1"/>
          </p:cNvSpPr>
          <p:nvPr>
            <p:ph idx="1"/>
          </p:nvPr>
        </p:nvSpPr>
        <p:spPr/>
        <p:txBody>
          <a:bodyPr/>
          <a:lstStyle/>
          <a:p>
            <a:r>
              <a:rPr lang="en-US" sz="2400" dirty="0" smtClean="0"/>
              <a:t>Multiple senders multicasting a stream of messages.</a:t>
            </a:r>
            <a:endParaRPr lang="en-US" sz="2400" dirty="0"/>
          </a:p>
        </p:txBody>
      </p:sp>
      <p:pic>
        <p:nvPicPr>
          <p:cNvPr id="68610" name="Picture 2"/>
          <p:cNvPicPr>
            <a:picLocks noChangeAspect="1" noChangeArrowheads="1"/>
          </p:cNvPicPr>
          <p:nvPr/>
        </p:nvPicPr>
        <p:blipFill>
          <a:blip r:embed="rId2" cstate="print"/>
          <a:srcRect/>
          <a:stretch>
            <a:fillRect/>
          </a:stretch>
        </p:blipFill>
        <p:spPr bwMode="auto">
          <a:xfrm>
            <a:off x="1222375" y="2768600"/>
            <a:ext cx="6699250" cy="241300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Why NOT Make a System Distributed?</a:t>
            </a:r>
            <a:endParaRPr lang="en-US" sz="4000" dirty="0"/>
          </a:p>
        </p:txBody>
      </p:sp>
      <p:sp>
        <p:nvSpPr>
          <p:cNvPr id="3" name="Content Placeholder 2"/>
          <p:cNvSpPr>
            <a:spLocks noGrp="1"/>
          </p:cNvSpPr>
          <p:nvPr>
            <p:ph idx="1"/>
          </p:nvPr>
        </p:nvSpPr>
        <p:spPr/>
        <p:txBody>
          <a:bodyPr/>
          <a:lstStyle/>
          <a:p>
            <a:r>
              <a:rPr lang="en-US" sz="2000" dirty="0" smtClean="0"/>
              <a:t>Many </a:t>
            </a:r>
            <a:r>
              <a:rPr lang="en-US" sz="2000" i="1" dirty="0" smtClean="0">
                <a:solidFill>
                  <a:srgbClr val="C00000"/>
                </a:solidFill>
              </a:rPr>
              <a:t>concurrent</a:t>
            </a:r>
            <a:r>
              <a:rPr lang="en-US" sz="2000" dirty="0" smtClean="0"/>
              <a:t> parts, </a:t>
            </a:r>
            <a:r>
              <a:rPr lang="en-US" sz="2000" i="1" dirty="0" smtClean="0">
                <a:solidFill>
                  <a:srgbClr val="C00000"/>
                </a:solidFill>
              </a:rPr>
              <a:t>complex interactions</a:t>
            </a:r>
            <a:r>
              <a:rPr lang="en-US" sz="2000" dirty="0" smtClean="0"/>
              <a:t>.</a:t>
            </a:r>
          </a:p>
          <a:p>
            <a:r>
              <a:rPr lang="en-US" sz="2000" dirty="0" smtClean="0"/>
              <a:t>Must cope with </a:t>
            </a:r>
            <a:r>
              <a:rPr lang="en-US" sz="2000" i="1" dirty="0" smtClean="0">
                <a:solidFill>
                  <a:srgbClr val="C00000"/>
                </a:solidFill>
              </a:rPr>
              <a:t>partial failure</a:t>
            </a:r>
            <a:r>
              <a:rPr lang="en-US" sz="2000" dirty="0" smtClean="0"/>
              <a:t>.</a:t>
            </a:r>
          </a:p>
          <a:p>
            <a:pPr lvl="1"/>
            <a:r>
              <a:rPr lang="en-US" sz="1800" dirty="0" smtClean="0"/>
              <a:t>Communication may fail (and we might not even know it has failed).</a:t>
            </a:r>
          </a:p>
          <a:p>
            <a:pPr lvl="1"/>
            <a:r>
              <a:rPr lang="en-US" sz="1800" dirty="0" smtClean="0"/>
              <a:t>Processes may crash (and we might not know).</a:t>
            </a:r>
          </a:p>
          <a:p>
            <a:pPr lvl="1"/>
            <a:r>
              <a:rPr lang="en-US" sz="1800" dirty="0" smtClean="0"/>
              <a:t>All of this may happen non-deterministically.</a:t>
            </a:r>
          </a:p>
          <a:p>
            <a:r>
              <a:rPr lang="en-US" sz="2000" i="1" dirty="0" smtClean="0">
                <a:solidFill>
                  <a:srgbClr val="C00000"/>
                </a:solidFill>
              </a:rPr>
              <a:t>Tricky</a:t>
            </a:r>
            <a:r>
              <a:rPr lang="en-US" sz="2000" dirty="0" smtClean="0"/>
              <a:t> to realize </a:t>
            </a:r>
            <a:r>
              <a:rPr lang="en-US" sz="2000" u="sng" dirty="0" smtClean="0"/>
              <a:t>performance</a:t>
            </a:r>
            <a:r>
              <a:rPr lang="en-US" sz="2000" dirty="0" smtClean="0"/>
              <a:t> potential (100 computers =? 100 x speed).</a:t>
            </a:r>
          </a:p>
          <a:p>
            <a:endParaRPr lang="en-US" sz="2400" dirty="0"/>
          </a:p>
        </p:txBody>
      </p:sp>
      <p:pic>
        <p:nvPicPr>
          <p:cNvPr id="11266" name="Picture 2" descr="https://blog.taskque.com/wp-content/uploads/2020/07/working-hard-woman.jpg"/>
          <p:cNvPicPr>
            <a:picLocks noChangeAspect="1" noChangeArrowheads="1"/>
          </p:cNvPicPr>
          <p:nvPr/>
        </p:nvPicPr>
        <p:blipFill>
          <a:blip r:embed="rId2" cstate="print"/>
          <a:srcRect/>
          <a:stretch>
            <a:fillRect/>
          </a:stretch>
        </p:blipFill>
        <p:spPr bwMode="auto">
          <a:xfrm>
            <a:off x="2895600" y="4114800"/>
            <a:ext cx="3251200" cy="2166620"/>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on Distributed System Characteristics (I)</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Location transparency</a:t>
            </a:r>
            <a:r>
              <a:rPr lang="en-US" sz="2400" dirty="0" smtClean="0"/>
              <a:t> means that a user or program can access a resource </a:t>
            </a:r>
            <a:r>
              <a:rPr lang="en-US" sz="2400" u="sng" dirty="0" smtClean="0"/>
              <a:t>without</a:t>
            </a:r>
            <a:r>
              <a:rPr lang="en-US" sz="2400" dirty="0" smtClean="0"/>
              <a:t> needing to know </a:t>
            </a:r>
            <a:r>
              <a:rPr lang="en-US" sz="2400" u="sng" dirty="0" smtClean="0"/>
              <a:t>where</a:t>
            </a:r>
            <a:r>
              <a:rPr lang="en-US" sz="2400" dirty="0" smtClean="0"/>
              <a:t> that resource is physically located in the system. The location of the resource is hidden (abstracted) behind a logical identifier or name.</a:t>
            </a:r>
          </a:p>
          <a:p>
            <a:r>
              <a:rPr lang="en-US" sz="2400" i="1" dirty="0" smtClean="0">
                <a:solidFill>
                  <a:srgbClr val="C00000"/>
                </a:solidFill>
              </a:rPr>
              <a:t>Mobility transparency</a:t>
            </a:r>
            <a:r>
              <a:rPr lang="en-US" sz="2400" dirty="0" smtClean="0"/>
              <a:t> (sometimes called migration transparency) means that resources (like processes or data) and clients can </a:t>
            </a:r>
            <a:r>
              <a:rPr lang="en-US" sz="2400" u="sng" dirty="0" smtClean="0"/>
              <a:t>move</a:t>
            </a:r>
            <a:r>
              <a:rPr lang="en-US" sz="2400" dirty="0" smtClean="0"/>
              <a:t> from one physical location in the system to another </a:t>
            </a:r>
            <a:r>
              <a:rPr lang="en-US" sz="2400" u="sng" dirty="0" smtClean="0"/>
              <a:t>without</a:t>
            </a:r>
            <a:r>
              <a:rPr lang="en-US" sz="2400" dirty="0" smtClean="0"/>
              <a:t> affecting how users or programs interact with them. In other words, movement within the distributed environment is invisible to applications and users.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on Distributed System Characteristics (II)</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Access transparency</a:t>
            </a:r>
            <a:r>
              <a:rPr lang="en-US" sz="2400" dirty="0" smtClean="0"/>
              <a:t> in distributed systems refers to the property that users and applications can access resources (like files, services, or devices) in a uniform way </a:t>
            </a:r>
            <a:r>
              <a:rPr lang="en-US" sz="2400" u="sng" dirty="0" smtClean="0"/>
              <a:t>without</a:t>
            </a:r>
            <a:r>
              <a:rPr lang="en-US" sz="2400" dirty="0" smtClean="0"/>
              <a:t> needing to know anything about how those resources are </a:t>
            </a:r>
            <a:r>
              <a:rPr lang="en-US" sz="2400" u="sng" dirty="0" smtClean="0"/>
              <a:t>physically implemented</a:t>
            </a:r>
            <a:r>
              <a:rPr lang="en-US" sz="2400" dirty="0" smtClean="0"/>
              <a:t> or where they are located.</a:t>
            </a:r>
          </a:p>
          <a:p>
            <a:r>
              <a:rPr lang="en-US" sz="2400" i="1" dirty="0" smtClean="0">
                <a:solidFill>
                  <a:srgbClr val="C00000"/>
                </a:solidFill>
              </a:rPr>
              <a:t>Replication transparency</a:t>
            </a:r>
            <a:r>
              <a:rPr lang="en-US" sz="2400" dirty="0" smtClean="0"/>
              <a:t> means the system </a:t>
            </a:r>
            <a:r>
              <a:rPr lang="en-US" sz="2400" u="sng" dirty="0" smtClean="0"/>
              <a:t>hides</a:t>
            </a:r>
            <a:r>
              <a:rPr lang="en-US" sz="2400" dirty="0" smtClean="0"/>
              <a:t> the fact that </a:t>
            </a:r>
            <a:r>
              <a:rPr lang="en-US" sz="2400" u="sng" dirty="0" smtClean="0"/>
              <a:t>multiple copies</a:t>
            </a:r>
            <a:r>
              <a:rPr lang="en-US" sz="2400" dirty="0" smtClean="0"/>
              <a:t> (replicas) of a resource exist from users and applications. From the outside, it appears as if there were only one logical copy, even though internally the system may maintain several replicas to improve performance, reliability, availability, or fault tolerance.</a:t>
            </a:r>
          </a:p>
          <a:p>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on Communication</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Message passing</a:t>
            </a:r>
            <a:r>
              <a:rPr lang="en-US" sz="2200" dirty="0" smtClean="0"/>
              <a:t> is a </a:t>
            </a:r>
            <a:r>
              <a:rPr lang="en-US" sz="2200" u="sng" dirty="0" smtClean="0"/>
              <a:t>communication paradigm</a:t>
            </a:r>
            <a:r>
              <a:rPr lang="en-US" sz="2200" dirty="0" smtClean="0"/>
              <a:t> where processes interact exclusively by </a:t>
            </a:r>
            <a:r>
              <a:rPr lang="en-US" sz="2200" u="sng" dirty="0" smtClean="0"/>
              <a:t>explicitly sending and receiving messages</a:t>
            </a:r>
            <a:r>
              <a:rPr lang="en-US" sz="2200" dirty="0" smtClean="0"/>
              <a:t> over a network rather than by sharing memory.</a:t>
            </a:r>
          </a:p>
          <a:p>
            <a:r>
              <a:rPr lang="en-US" sz="2200" i="1" dirty="0" smtClean="0">
                <a:solidFill>
                  <a:srgbClr val="C00000"/>
                </a:solidFill>
              </a:rPr>
              <a:t>Handshaking</a:t>
            </a:r>
            <a:r>
              <a:rPr lang="en-US" sz="2200" dirty="0" smtClean="0"/>
              <a:t>: One-time message exchange to establish a connection and verify readiness.</a:t>
            </a:r>
          </a:p>
          <a:p>
            <a:r>
              <a:rPr lang="en-US" sz="2200" i="1" dirty="0" smtClean="0">
                <a:solidFill>
                  <a:srgbClr val="C00000"/>
                </a:solidFill>
              </a:rPr>
              <a:t>Heartbeat</a:t>
            </a:r>
            <a:r>
              <a:rPr lang="en-US" sz="2200" dirty="0" smtClean="0"/>
              <a:t>: A node periodically sends heartbeat messages to indicate it is alive.</a:t>
            </a:r>
          </a:p>
          <a:p>
            <a:r>
              <a:rPr lang="en-US" sz="2200" i="1" dirty="0" smtClean="0">
                <a:solidFill>
                  <a:srgbClr val="C00000"/>
                </a:solidFill>
              </a:rPr>
              <a:t>Polling</a:t>
            </a:r>
            <a:r>
              <a:rPr lang="en-US" sz="2200" dirty="0" smtClean="0"/>
              <a:t>: A central node periodically asks others if they are alive.</a:t>
            </a:r>
          </a:p>
        </p:txBody>
      </p:sp>
      <p:pic>
        <p:nvPicPr>
          <p:cNvPr id="1026" name="Picture 2"/>
          <p:cNvPicPr>
            <a:picLocks noChangeAspect="1" noChangeArrowheads="1"/>
          </p:cNvPicPr>
          <p:nvPr/>
        </p:nvPicPr>
        <p:blipFill>
          <a:blip r:embed="rId2" cstate="print"/>
          <a:srcRect/>
          <a:stretch>
            <a:fillRect/>
          </a:stretch>
        </p:blipFill>
        <p:spPr bwMode="auto">
          <a:xfrm>
            <a:off x="2895600" y="4876800"/>
            <a:ext cx="2773680" cy="155448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14131</TotalTime>
  <Words>1493</Words>
  <Application>Microsoft Office PowerPoint</Application>
  <PresentationFormat>On-screen Show (4:3)</PresentationFormat>
  <Paragraphs>177</Paragraphs>
  <Slides>37</Slides>
  <Notes>2</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Introduction to Distributed Systems</vt:lpstr>
      <vt:lpstr>Objectives</vt:lpstr>
      <vt:lpstr>Contents</vt:lpstr>
      <vt:lpstr>References</vt:lpstr>
      <vt:lpstr>What is a Distributed System?</vt:lpstr>
      <vt:lpstr>Distributed System Characteristics</vt:lpstr>
      <vt:lpstr>Example Distributed Systems</vt:lpstr>
      <vt:lpstr>Why Distributed Systems?</vt:lpstr>
      <vt:lpstr>How to Increase Compute and Storage </vt:lpstr>
      <vt:lpstr>Why Achieving Scalability is Hard</vt:lpstr>
      <vt:lpstr>Slide 11</vt:lpstr>
      <vt:lpstr>Fault Tolerance</vt:lpstr>
      <vt:lpstr>How to Achieve Fault Tolerance</vt:lpstr>
      <vt:lpstr>Read-Your-Write Consistency</vt:lpstr>
      <vt:lpstr>Strong Consistency</vt:lpstr>
      <vt:lpstr>Why Strong Consistency is Hard</vt:lpstr>
      <vt:lpstr>Weak Consistency</vt:lpstr>
      <vt:lpstr>Slide 18</vt:lpstr>
      <vt:lpstr>Network Behavior</vt:lpstr>
      <vt:lpstr>Node Behavior</vt:lpstr>
      <vt:lpstr>Timing</vt:lpstr>
      <vt:lpstr>System Models</vt:lpstr>
      <vt:lpstr>Slide 23</vt:lpstr>
      <vt:lpstr>The TCP/IP Five-Layer Network Model</vt:lpstr>
      <vt:lpstr>Communication</vt:lpstr>
      <vt:lpstr>Slide 26</vt:lpstr>
      <vt:lpstr>Consistent (Good) Ordering</vt:lpstr>
      <vt:lpstr>Inconsistent (Bad) Ordering</vt:lpstr>
      <vt:lpstr>Consistent (Good) Ordering</vt:lpstr>
      <vt:lpstr>Inconsistent (Bad) Ordering</vt:lpstr>
      <vt:lpstr>Slide 31</vt:lpstr>
      <vt:lpstr>Why NOT Make a System Distributed?</vt:lpstr>
      <vt:lpstr>Slide 33</vt:lpstr>
      <vt:lpstr>More on Distributed System Characteristics (I)</vt:lpstr>
      <vt:lpstr>More on Distributed System Characteristics (II)</vt:lpstr>
      <vt:lpstr>More on Communication</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6358</cp:revision>
  <dcterms:created xsi:type="dcterms:W3CDTF">2007-10-06T08:25:13Z</dcterms:created>
  <dcterms:modified xsi:type="dcterms:W3CDTF">2026-01-19T11:42:42Z</dcterms:modified>
</cp:coreProperties>
</file>