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37"/>
  </p:notesMasterIdLst>
  <p:sldIdLst>
    <p:sldId id="256" r:id="rId2"/>
    <p:sldId id="692" r:id="rId3"/>
    <p:sldId id="693" r:id="rId4"/>
    <p:sldId id="695" r:id="rId5"/>
    <p:sldId id="709" r:id="rId6"/>
    <p:sldId id="717" r:id="rId7"/>
    <p:sldId id="718" r:id="rId8"/>
    <p:sldId id="716" r:id="rId9"/>
    <p:sldId id="719" r:id="rId10"/>
    <p:sldId id="720" r:id="rId11"/>
    <p:sldId id="710" r:id="rId12"/>
    <p:sldId id="712" r:id="rId13"/>
    <p:sldId id="711" r:id="rId14"/>
    <p:sldId id="713" r:id="rId15"/>
    <p:sldId id="714" r:id="rId16"/>
    <p:sldId id="722" r:id="rId17"/>
    <p:sldId id="721" r:id="rId18"/>
    <p:sldId id="723" r:id="rId19"/>
    <p:sldId id="726" r:id="rId20"/>
    <p:sldId id="724" r:id="rId21"/>
    <p:sldId id="725" r:id="rId22"/>
    <p:sldId id="727" r:id="rId23"/>
    <p:sldId id="715" r:id="rId24"/>
    <p:sldId id="696" r:id="rId25"/>
    <p:sldId id="697" r:id="rId26"/>
    <p:sldId id="700" r:id="rId27"/>
    <p:sldId id="701" r:id="rId28"/>
    <p:sldId id="698" r:id="rId29"/>
    <p:sldId id="702" r:id="rId30"/>
    <p:sldId id="705" r:id="rId31"/>
    <p:sldId id="704" r:id="rId32"/>
    <p:sldId id="706" r:id="rId33"/>
    <p:sldId id="708" r:id="rId34"/>
    <p:sldId id="707" r:id="rId35"/>
    <p:sldId id="343" r:id="rId3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173" autoAdjust="0"/>
    <p:restoredTop sz="94667" autoAdjust="0"/>
  </p:normalViewPr>
  <p:slideViewPr>
    <p:cSldViewPr>
      <p:cViewPr>
        <p:scale>
          <a:sx n="50" d="100"/>
          <a:sy n="50" d="100"/>
        </p:scale>
        <p:origin x="-1490" y="-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AE02B5-5F97-43FB-B6EA-011787F0E1A5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A127FC-F31A-48E4-A24A-3240EBF5A49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670EC-EF90-4A84-9798-83F1F2DBB460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34D400-6504-413F-B54E-738978C9D58D}" type="datetimeFigureOut">
              <a:rPr lang="en-US"/>
              <a:pPr>
                <a:defRPr/>
              </a:pPr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C1B037-3188-409D-8585-0062FF378D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650246-B75B-4111-A4E3-17CED8183F51}" type="datetimeFigureOut">
              <a:rPr lang="en-US"/>
              <a:pPr>
                <a:defRPr/>
              </a:pPr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713B35-0DC7-41A1-836F-F07E105F72E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5B62FE-A4BA-4F3B-8724-099A9867E83E}" type="datetimeFigureOut">
              <a:rPr lang="en-US"/>
              <a:pPr>
                <a:defRPr/>
              </a:pPr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E2A0DB-97FF-4E2D-961A-53A8B3E81C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FBCD77-DB7E-410F-8346-A9CE932D0AC1}" type="datetimeFigureOut">
              <a:rPr lang="en-US"/>
              <a:pPr>
                <a:defRPr/>
              </a:pPr>
              <a:t>3/16/2026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B3858F-6EED-4FD9-B63D-3FB7FC26C95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FD8737-39E6-4861-92A8-89AC4192A622}" type="datetimeFigureOut">
              <a:rPr lang="en-US"/>
              <a:pPr>
                <a:defRPr/>
              </a:pPr>
              <a:t>3/16/2026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811265-6FEF-4F82-B77F-9478A26020F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77D96A-39D8-4C6D-B965-8C8786F338A6}" type="datetimeFigureOut">
              <a:rPr lang="en-US"/>
              <a:pPr>
                <a:defRPr/>
              </a:pPr>
              <a:t>3/16/2026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14D288-D738-45D0-B23A-7E0F18151E3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8036EE-19ED-4D9D-B088-EAFD7232ED0E}" type="datetimeFigureOut">
              <a:rPr lang="en-US"/>
              <a:pPr>
                <a:defRPr/>
              </a:pPr>
              <a:t>3/16/2026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7035E6-112E-46D6-92D2-F2905FE7FE0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544F72-AE66-47B5-B42F-4F292EBF18C0}" type="datetimeFigureOut">
              <a:rPr lang="en-US"/>
              <a:pPr>
                <a:defRPr/>
              </a:pPr>
              <a:t>3/16/2026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26D519-0129-40C9-A8E0-4AA1DED6835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8D7A31-5AF7-4205-933F-65E4A1293711}" type="datetimeFigureOut">
              <a:rPr lang="en-US"/>
              <a:pPr>
                <a:defRPr/>
              </a:pPr>
              <a:t>3/16/2026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4CC8C2-CC74-4F74-BCEB-5B4FD5CCA75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80A20E-8178-48FA-A129-AAB02AB6D639}" type="datetimeFigureOut">
              <a:rPr lang="en-US"/>
              <a:pPr>
                <a:defRPr/>
              </a:pPr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71C3DA-7D2B-4D47-80E5-C045B94A7C0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16E936-9FA0-4541-B442-5A2338068559}" type="datetimeFigureOut">
              <a:rPr lang="en-US"/>
              <a:pPr>
                <a:defRPr/>
              </a:pPr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8867D3-01D4-40D3-B6DA-7869D49FDF7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6553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EC091D18-0586-4BD9-8B7F-38B22B7AB35F}" type="datetimeFigureOut">
              <a:rPr lang="en-US"/>
              <a:pPr>
                <a:defRPr/>
              </a:pPr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ED71EDE-E083-416B-A0EA-2AE6A7CEE35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oH9pJavu-PU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docs.ray.io/en/latest/ray-overview/installation.html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docs.ray.io/en/latest/ray-overview/getting-started.html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docs.ray.io/en/latest/ray-overview/getting-started.html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docs.ray.io/en/latest/ray-overview/getting-started.html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://127.0.0.1:8000/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6000" dirty="0" smtClean="0"/>
              <a:t>Ray</a:t>
            </a:r>
            <a:endParaRPr lang="en-US" sz="6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7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 smtClean="0">
                <a:hlinkClick r:id="rId2"/>
              </a:rPr>
              <a:t>nhbien@fit.hcmus.edu.vn</a:t>
            </a:r>
            <a:endParaRPr lang="en-US" sz="36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5334000" cy="3886200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endParaRPr lang="en-US" sz="2400" dirty="0" smtClean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18288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791200" cy="4525963"/>
          </a:xfrm>
        </p:spPr>
        <p:txBody>
          <a:bodyPr/>
          <a:lstStyle/>
          <a:p>
            <a:pPr marL="571500" indent="-571500">
              <a:buFont typeface="+mj-lt"/>
              <a:buAutoNum type="arabicPeriod"/>
            </a:pPr>
            <a:endParaRPr lang="en-US" sz="22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867400" cy="4724400"/>
          </a:xfrm>
        </p:spPr>
        <p:txBody>
          <a:bodyPr/>
          <a:lstStyle/>
          <a:p>
            <a:pPr marL="571500" indent="-571500">
              <a:buFont typeface="+mj-lt"/>
              <a:buAutoNum type="arabicPeriod"/>
            </a:pPr>
            <a:r>
              <a:rPr lang="en-US" sz="2200" dirty="0" smtClean="0"/>
              <a:t>Philipp </a:t>
            </a:r>
            <a:r>
              <a:rPr lang="en-US" sz="2200" dirty="0" smtClean="0"/>
              <a:t>Moritz et al. (2018). Ray- A Distributed Framework for Emerging AI Applications</a:t>
            </a:r>
            <a:r>
              <a:rPr lang="en-US" sz="2200" dirty="0" smtClean="0"/>
              <a:t>.</a:t>
            </a:r>
          </a:p>
          <a:p>
            <a:pPr marL="571500" indent="-571500">
              <a:buFont typeface="+mj-lt"/>
              <a:buAutoNum type="arabicPeriod"/>
            </a:pPr>
            <a:r>
              <a:rPr lang="en-US" sz="2200" dirty="0" smtClean="0"/>
              <a:t>Max </a:t>
            </a:r>
            <a:r>
              <a:rPr lang="en-US" sz="2200" dirty="0" err="1" smtClean="0"/>
              <a:t>Pumperla</a:t>
            </a:r>
            <a:r>
              <a:rPr lang="en-US" sz="2200" dirty="0" smtClean="0"/>
              <a:t> et al. (2023). Learning Ray. O'Reilly Media</a:t>
            </a:r>
            <a:r>
              <a:rPr lang="en-US" sz="2200" dirty="0" smtClean="0"/>
              <a:t>.</a:t>
            </a:r>
            <a:endParaRPr lang="en-US" sz="2200" dirty="0" smtClean="0"/>
          </a:p>
          <a:p>
            <a:pPr marL="571500" indent="-571500">
              <a:buFont typeface="+mj-lt"/>
              <a:buAutoNum type="arabicPeriod"/>
            </a:pPr>
            <a:r>
              <a:rPr lang="en-US" sz="2200" dirty="0" smtClean="0"/>
              <a:t>Stephanie Wang et al. (2021). Ownership - A Distributed Futures System for Fine-Grained Tasks.</a:t>
            </a:r>
          </a:p>
          <a:p>
            <a:pPr marL="571500" indent="-571500">
              <a:buFont typeface="+mj-lt"/>
              <a:buAutoNum type="arabicPeriod"/>
            </a:pPr>
            <a:r>
              <a:rPr lang="en-US" sz="2200" dirty="0" smtClean="0"/>
              <a:t>Barbara </a:t>
            </a:r>
            <a:r>
              <a:rPr lang="en-US" sz="2200" dirty="0" err="1" smtClean="0"/>
              <a:t>Liskov</a:t>
            </a:r>
            <a:r>
              <a:rPr lang="en-US" sz="2200" dirty="0" smtClean="0"/>
              <a:t> and </a:t>
            </a:r>
            <a:r>
              <a:rPr lang="en-US" sz="2200" dirty="0" err="1" smtClean="0"/>
              <a:t>Liuba</a:t>
            </a:r>
            <a:r>
              <a:rPr lang="en-US" sz="2200" dirty="0" smtClean="0"/>
              <a:t> </a:t>
            </a:r>
            <a:r>
              <a:rPr lang="en-US" sz="2200" dirty="0" err="1" smtClean="0"/>
              <a:t>Shrira</a:t>
            </a:r>
            <a:r>
              <a:rPr lang="en-US" sz="2200" dirty="0" smtClean="0"/>
              <a:t> (1988). Promises - Linguistic Support for Efficient Asynchronous Procedure Calls in Distributed Systems.</a:t>
            </a:r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4840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https://www.youtube.com/watch?v=oH9pJavu-PU</a:t>
            </a:r>
            <a:endParaRPr lang="en-US" sz="2400" dirty="0" smtClean="0"/>
          </a:p>
          <a:p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RL Applications </a:t>
            </a:r>
            <a:r>
              <a:rPr lang="en-US" dirty="0" smtClean="0"/>
              <a:t>[1]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600" dirty="0" smtClean="0"/>
              <a:t>First, RL methods often rely on </a:t>
            </a:r>
            <a:r>
              <a:rPr lang="en-US" sz="2600" i="1" dirty="0" smtClean="0">
                <a:solidFill>
                  <a:srgbClr val="C00000"/>
                </a:solidFill>
              </a:rPr>
              <a:t>simulation</a:t>
            </a:r>
            <a:r>
              <a:rPr lang="en-US" sz="2600" dirty="0" smtClean="0"/>
              <a:t> to evaluate policies.</a:t>
            </a:r>
          </a:p>
          <a:p>
            <a:r>
              <a:rPr lang="en-US" sz="2600" dirty="0" smtClean="0"/>
              <a:t>Second, like their supervised learning counterparts, RL algorithms need to perform </a:t>
            </a:r>
            <a:r>
              <a:rPr lang="en-US" sz="2600" i="1" dirty="0" smtClean="0">
                <a:solidFill>
                  <a:srgbClr val="C00000"/>
                </a:solidFill>
              </a:rPr>
              <a:t>distributed training</a:t>
            </a:r>
            <a:r>
              <a:rPr lang="en-US" sz="2600" dirty="0" smtClean="0"/>
              <a:t> to improve the policy based on data generated through simulations or interactions with the physical environment.</a:t>
            </a:r>
          </a:p>
          <a:p>
            <a:r>
              <a:rPr lang="en-US" sz="2600" dirty="0" smtClean="0"/>
              <a:t>Third, policies are intended to provide solutions to control problems, and thus it is necessary to </a:t>
            </a:r>
            <a:r>
              <a:rPr lang="en-US" sz="2600" i="1" dirty="0" smtClean="0">
                <a:solidFill>
                  <a:srgbClr val="C00000"/>
                </a:solidFill>
              </a:rPr>
              <a:t>serve the policy</a:t>
            </a:r>
            <a:r>
              <a:rPr lang="en-US" sz="2600" dirty="0" smtClean="0"/>
              <a:t> in interactive closed-loop and open-loop control scenarios.</a:t>
            </a:r>
            <a:endParaRPr lang="en-US" sz="2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of an RL System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9200" y="2457450"/>
            <a:ext cx="6705600" cy="2495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Ray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i="1" dirty="0" smtClean="0">
                <a:solidFill>
                  <a:srgbClr val="C00000"/>
                </a:solidFill>
              </a:rPr>
              <a:t>Ray</a:t>
            </a:r>
            <a:r>
              <a:rPr lang="en-US" sz="2400" dirty="0" smtClean="0"/>
              <a:t>, a general-purpose cluster-computing </a:t>
            </a:r>
            <a:r>
              <a:rPr lang="en-US" sz="2400" u="sng" dirty="0" smtClean="0"/>
              <a:t>framework</a:t>
            </a:r>
            <a:r>
              <a:rPr lang="en-US" sz="2400" dirty="0" smtClean="0"/>
              <a:t> that enables </a:t>
            </a:r>
            <a:r>
              <a:rPr lang="en-US" sz="2400" u="sng" dirty="0" smtClean="0"/>
              <a:t>simulation</a:t>
            </a:r>
            <a:r>
              <a:rPr lang="en-US" sz="2400" dirty="0" smtClean="0"/>
              <a:t>, </a:t>
            </a:r>
            <a:r>
              <a:rPr lang="en-US" sz="2400" u="sng" dirty="0" smtClean="0"/>
              <a:t>training</a:t>
            </a:r>
            <a:r>
              <a:rPr lang="en-US" sz="2400" dirty="0" smtClean="0"/>
              <a:t>, and </a:t>
            </a:r>
            <a:r>
              <a:rPr lang="en-US" sz="2400" u="sng" dirty="0" smtClean="0"/>
              <a:t>serving</a:t>
            </a:r>
            <a:r>
              <a:rPr lang="en-US" sz="2400" dirty="0" smtClean="0"/>
              <a:t> for RL applications.</a:t>
            </a:r>
          </a:p>
          <a:p>
            <a:r>
              <a:rPr lang="en-US" sz="2400" dirty="0" smtClean="0"/>
              <a:t>To support these workloads, we </a:t>
            </a:r>
            <a:r>
              <a:rPr lang="en-US" sz="2400" i="1" dirty="0" smtClean="0">
                <a:solidFill>
                  <a:srgbClr val="C00000"/>
                </a:solidFill>
              </a:rPr>
              <a:t>unify the actor and task-parallel abstractions</a:t>
            </a:r>
            <a:r>
              <a:rPr lang="en-US" sz="2400" dirty="0" smtClean="0"/>
              <a:t> on top of a dynamic task execution engine.</a:t>
            </a:r>
          </a:p>
          <a:p>
            <a:r>
              <a:rPr lang="en-US" sz="2400" dirty="0" smtClean="0"/>
              <a:t>To achieve scalability and fault tolerance, we propose a system design principle in which </a:t>
            </a:r>
            <a:r>
              <a:rPr lang="en-US" sz="2400" i="1" dirty="0" smtClean="0">
                <a:solidFill>
                  <a:srgbClr val="C00000"/>
                </a:solidFill>
              </a:rPr>
              <a:t>control state is stored in a </a:t>
            </a:r>
            <a:r>
              <a:rPr lang="en-US" sz="2400" i="1" dirty="0" err="1" smtClean="0">
                <a:solidFill>
                  <a:srgbClr val="C00000"/>
                </a:solidFill>
              </a:rPr>
              <a:t>sharded</a:t>
            </a:r>
            <a:r>
              <a:rPr lang="en-US" sz="2400" i="1" dirty="0" smtClean="0">
                <a:solidFill>
                  <a:srgbClr val="C00000"/>
                </a:solidFill>
              </a:rPr>
              <a:t> metadata store</a:t>
            </a:r>
            <a:r>
              <a:rPr lang="en-US" sz="2400" dirty="0" smtClean="0"/>
              <a:t> and </a:t>
            </a:r>
            <a:r>
              <a:rPr lang="en-US" sz="2400" i="1" dirty="0" smtClean="0">
                <a:solidFill>
                  <a:srgbClr val="C00000"/>
                </a:solidFill>
              </a:rPr>
              <a:t>all other system components are stateless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To achieve scalability, we propose a </a:t>
            </a:r>
            <a:r>
              <a:rPr lang="en-US" sz="2400" i="1" dirty="0" smtClean="0">
                <a:solidFill>
                  <a:srgbClr val="C00000"/>
                </a:solidFill>
              </a:rPr>
              <a:t>bottom-up distributed scheduling strategy</a:t>
            </a:r>
            <a:r>
              <a:rPr lang="en-US" sz="2400" dirty="0" smtClean="0"/>
              <a:t>.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Ray's Architecture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3200400" cy="4525963"/>
          </a:xfrm>
        </p:spPr>
        <p:txBody>
          <a:bodyPr/>
          <a:lstStyle/>
          <a:p>
            <a:r>
              <a:rPr lang="en-US" sz="2000" dirty="0" smtClean="0"/>
              <a:t>Ray's architecture consists of two parts: an </a:t>
            </a:r>
            <a:r>
              <a:rPr lang="en-US" sz="2000" i="1" dirty="0" smtClean="0">
                <a:solidFill>
                  <a:srgbClr val="C00000"/>
                </a:solidFill>
              </a:rPr>
              <a:t>application layer</a:t>
            </a:r>
            <a:r>
              <a:rPr lang="en-US" sz="2000" dirty="0" smtClean="0"/>
              <a:t> and a </a:t>
            </a:r>
            <a:r>
              <a:rPr lang="en-US" sz="2000" i="1" dirty="0" smtClean="0">
                <a:solidFill>
                  <a:srgbClr val="C00000"/>
                </a:solidFill>
              </a:rPr>
              <a:t>system layer</a:t>
            </a:r>
            <a:r>
              <a:rPr lang="en-US" sz="2000" dirty="0" smtClean="0"/>
              <a:t>.</a:t>
            </a:r>
          </a:p>
          <a:p>
            <a:r>
              <a:rPr lang="en-US" sz="2000" dirty="0" smtClean="0"/>
              <a:t>The application layer implements </a:t>
            </a:r>
            <a:r>
              <a:rPr lang="en-US" sz="2000" i="1" dirty="0" smtClean="0">
                <a:solidFill>
                  <a:srgbClr val="C00000"/>
                </a:solidFill>
              </a:rPr>
              <a:t>the API </a:t>
            </a:r>
            <a:r>
              <a:rPr lang="en-US" sz="2000" dirty="0" smtClean="0"/>
              <a:t>and </a:t>
            </a:r>
            <a:r>
              <a:rPr lang="en-US" sz="2000" i="1" dirty="0" smtClean="0">
                <a:solidFill>
                  <a:srgbClr val="C00000"/>
                </a:solidFill>
              </a:rPr>
              <a:t>the computation model</a:t>
            </a:r>
            <a:r>
              <a:rPr lang="en-US" sz="2000" dirty="0" smtClean="0"/>
              <a:t>.</a:t>
            </a:r>
          </a:p>
          <a:p>
            <a:r>
              <a:rPr lang="en-US" sz="2000" dirty="0" smtClean="0"/>
              <a:t>The system layer implements </a:t>
            </a:r>
            <a:r>
              <a:rPr lang="en-US" sz="2000" i="1" dirty="0" smtClean="0">
                <a:solidFill>
                  <a:srgbClr val="C00000"/>
                </a:solidFill>
              </a:rPr>
              <a:t>task scheduling</a:t>
            </a:r>
            <a:r>
              <a:rPr lang="en-US" sz="2000" dirty="0" smtClean="0"/>
              <a:t> and </a:t>
            </a:r>
            <a:r>
              <a:rPr lang="en-US" sz="2000" i="1" dirty="0" smtClean="0">
                <a:solidFill>
                  <a:srgbClr val="C00000"/>
                </a:solidFill>
              </a:rPr>
              <a:t>data management</a:t>
            </a:r>
            <a:r>
              <a:rPr lang="en-US" sz="2000" dirty="0" smtClean="0"/>
              <a:t> to satisfy the performance and fault-tolerance requirements.</a:t>
            </a:r>
            <a:endParaRPr lang="en-US" sz="20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657600" y="2438400"/>
            <a:ext cx="5051425" cy="307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Prepare Environment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err="1" smtClean="0">
                <a:latin typeface="+mj-lt"/>
              </a:rPr>
              <a:t>mkdir</a:t>
            </a:r>
            <a:r>
              <a:rPr lang="en-US" sz="2200" dirty="0" smtClean="0">
                <a:latin typeface="+mj-lt"/>
              </a:rPr>
              <a:t> ray</a:t>
            </a:r>
          </a:p>
          <a:p>
            <a:r>
              <a:rPr lang="en-US" sz="2200" dirty="0" err="1" smtClean="0">
                <a:latin typeface="+mj-lt"/>
              </a:rPr>
              <a:t>cd</a:t>
            </a:r>
            <a:r>
              <a:rPr lang="en-US" sz="2200" dirty="0" smtClean="0">
                <a:latin typeface="+mj-lt"/>
              </a:rPr>
              <a:t> ray</a:t>
            </a:r>
          </a:p>
          <a:p>
            <a:r>
              <a:rPr lang="it-IT" sz="2200" dirty="0" smtClean="0">
                <a:latin typeface="+mj-lt"/>
              </a:rPr>
              <a:t>conda create -n </a:t>
            </a:r>
            <a:r>
              <a:rPr lang="it-IT" sz="2200" dirty="0" smtClean="0">
                <a:latin typeface="+mj-lt"/>
              </a:rPr>
              <a:t>.rayenv </a:t>
            </a:r>
            <a:r>
              <a:rPr lang="it-IT" sz="2200" dirty="0" smtClean="0">
                <a:latin typeface="+mj-lt"/>
              </a:rPr>
              <a:t>python=3.11</a:t>
            </a:r>
          </a:p>
          <a:p>
            <a:r>
              <a:rPr lang="it-IT" sz="2200" dirty="0" smtClean="0">
                <a:latin typeface="+mj-lt"/>
              </a:rPr>
              <a:t>conda activate </a:t>
            </a:r>
            <a:r>
              <a:rPr lang="it-IT" sz="2200" dirty="0" smtClean="0">
                <a:latin typeface="+mj-lt"/>
              </a:rPr>
              <a:t>.rayenv</a:t>
            </a:r>
            <a:endParaRPr lang="it-IT" sz="2200" dirty="0" smtClean="0">
              <a:latin typeface="+mj-lt"/>
            </a:endParaRPr>
          </a:p>
          <a:p>
            <a:r>
              <a:rPr lang="en-US" sz="2200" dirty="0" smtClean="0">
                <a:latin typeface="+mj-lt"/>
              </a:rPr>
              <a:t>pip install --upgrade </a:t>
            </a:r>
            <a:r>
              <a:rPr lang="en-US" sz="2200" dirty="0" err="1" smtClean="0">
                <a:latin typeface="+mj-lt"/>
              </a:rPr>
              <a:t>jupyter</a:t>
            </a:r>
            <a:r>
              <a:rPr lang="en-US" sz="2200" dirty="0" smtClean="0">
                <a:latin typeface="+mj-lt"/>
              </a:rPr>
              <a:t> </a:t>
            </a:r>
            <a:r>
              <a:rPr lang="en-US" sz="2200" dirty="0" err="1" smtClean="0">
                <a:latin typeface="+mj-lt"/>
              </a:rPr>
              <a:t>matplotlib</a:t>
            </a:r>
            <a:r>
              <a:rPr lang="en-US" sz="2200" dirty="0" smtClean="0">
                <a:latin typeface="+mj-lt"/>
              </a:rPr>
              <a:t> </a:t>
            </a:r>
            <a:r>
              <a:rPr lang="en-US" sz="2200" dirty="0" err="1" smtClean="0">
                <a:latin typeface="+mj-lt"/>
              </a:rPr>
              <a:t>numpy</a:t>
            </a:r>
            <a:r>
              <a:rPr lang="en-US" sz="2200" dirty="0" smtClean="0">
                <a:latin typeface="+mj-lt"/>
              </a:rPr>
              <a:t> pandas </a:t>
            </a:r>
            <a:r>
              <a:rPr lang="en-US" sz="2200" dirty="0" err="1" smtClean="0">
                <a:latin typeface="+mj-lt"/>
              </a:rPr>
              <a:t>scipy</a:t>
            </a:r>
            <a:r>
              <a:rPr lang="en-US" sz="2200" dirty="0" smtClean="0">
                <a:latin typeface="+mj-lt"/>
              </a:rPr>
              <a:t> </a:t>
            </a:r>
            <a:r>
              <a:rPr lang="en-US" sz="2200" dirty="0" err="1" smtClean="0">
                <a:latin typeface="+mj-lt"/>
              </a:rPr>
              <a:t>scikit</a:t>
            </a:r>
            <a:r>
              <a:rPr lang="en-US" sz="2200" dirty="0" smtClean="0">
                <a:latin typeface="+mj-lt"/>
              </a:rPr>
              <a:t>-learn torch </a:t>
            </a:r>
            <a:r>
              <a:rPr lang="en-US" sz="2200" dirty="0" err="1" smtClean="0">
                <a:latin typeface="+mj-lt"/>
              </a:rPr>
              <a:t>torchvision</a:t>
            </a:r>
            <a:r>
              <a:rPr lang="en-US" sz="2200" dirty="0" smtClean="0">
                <a:latin typeface="+mj-lt"/>
              </a:rPr>
              <a:t> </a:t>
            </a:r>
            <a:r>
              <a:rPr lang="en-US" sz="2200" dirty="0" err="1" smtClean="0">
                <a:latin typeface="+mj-lt"/>
              </a:rPr>
              <a:t>torchaudio</a:t>
            </a:r>
            <a:endParaRPr lang="en-US" sz="2200" dirty="0" smtClean="0">
              <a:latin typeface="+mj-lt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49413" y="4225925"/>
            <a:ext cx="5845175" cy="164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Install Ray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>
                <a:latin typeface="+mj-lt"/>
                <a:hlinkClick r:id="rId2"/>
              </a:rPr>
              <a:t>https://docs.ray.io/en/latest/ray-overview/installation.html</a:t>
            </a:r>
            <a:endParaRPr lang="en-US" sz="2200" dirty="0" smtClean="0">
              <a:latin typeface="+mj-lt"/>
            </a:endParaRPr>
          </a:p>
          <a:p>
            <a:r>
              <a:rPr lang="en-US" sz="2200" dirty="0" smtClean="0">
                <a:latin typeface="+mj-lt"/>
              </a:rPr>
              <a:t>pip install </a:t>
            </a:r>
            <a:r>
              <a:rPr lang="en-US" sz="2200" dirty="0" smtClean="0">
                <a:latin typeface="+mj-lt"/>
              </a:rPr>
              <a:t>-U "ray[</a:t>
            </a:r>
            <a:r>
              <a:rPr lang="en-US" sz="2200" dirty="0" err="1" smtClean="0">
                <a:latin typeface="+mj-lt"/>
              </a:rPr>
              <a:t>data,train,tune,serve</a:t>
            </a:r>
            <a:r>
              <a:rPr lang="en-US" sz="2200" dirty="0" smtClean="0">
                <a:latin typeface="+mj-lt"/>
              </a:rPr>
              <a:t>]"</a:t>
            </a:r>
          </a:p>
          <a:p>
            <a:r>
              <a:rPr lang="en-US" sz="2200" dirty="0" smtClean="0">
                <a:latin typeface="+mj-lt"/>
              </a:rPr>
              <a:t>pip install -U "ray[</a:t>
            </a:r>
            <a:r>
              <a:rPr lang="en-US" sz="2200" dirty="0" err="1" smtClean="0">
                <a:latin typeface="+mj-lt"/>
              </a:rPr>
              <a:t>rllib</a:t>
            </a:r>
            <a:r>
              <a:rPr lang="en-US" sz="2200" dirty="0" smtClean="0">
                <a:latin typeface="+mj-lt"/>
              </a:rPr>
              <a:t>]"</a:t>
            </a:r>
          </a:p>
          <a:p>
            <a:r>
              <a:rPr lang="en-US" sz="2200" i="1" dirty="0" err="1" smtClean="0">
                <a:latin typeface="+mj-lt"/>
              </a:rPr>
              <a:t>jupyter</a:t>
            </a:r>
            <a:r>
              <a:rPr lang="en-US" sz="2200" i="1" dirty="0" smtClean="0">
                <a:latin typeface="+mj-lt"/>
              </a:rPr>
              <a:t> notebook --</a:t>
            </a:r>
            <a:r>
              <a:rPr lang="en-US" sz="2200" i="1" dirty="0" err="1" smtClean="0">
                <a:latin typeface="+mj-lt"/>
              </a:rPr>
              <a:t>ip</a:t>
            </a:r>
            <a:r>
              <a:rPr lang="en-US" sz="2200" i="1" dirty="0" smtClean="0">
                <a:latin typeface="+mj-lt"/>
              </a:rPr>
              <a:t> 0.0.0.0 --port 8888 </a:t>
            </a:r>
          </a:p>
          <a:p>
            <a:endParaRPr lang="en-US" sz="2200" dirty="0" smtClean="0">
              <a:latin typeface="+mj-lt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49413" y="3844925"/>
            <a:ext cx="5845175" cy="164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Hello Ray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>
                <a:latin typeface="Consolas" pitchFamily="49" charset="0"/>
              </a:rPr>
              <a:t>import ray</a:t>
            </a:r>
          </a:p>
          <a:p>
            <a:r>
              <a:rPr lang="en-US" sz="2200" dirty="0" smtClean="0">
                <a:latin typeface="Consolas" pitchFamily="49" charset="0"/>
              </a:rPr>
              <a:t>print(</a:t>
            </a:r>
            <a:r>
              <a:rPr lang="en-US" sz="2200" dirty="0" err="1" smtClean="0">
                <a:latin typeface="Consolas" pitchFamily="49" charset="0"/>
              </a:rPr>
              <a:t>ray.__version</a:t>
            </a:r>
            <a:r>
              <a:rPr lang="en-US" sz="2200" dirty="0" smtClean="0">
                <a:latin typeface="Consolas" pitchFamily="49" charset="0"/>
              </a:rPr>
              <a:t>__)</a:t>
            </a:r>
          </a:p>
          <a:p>
            <a:r>
              <a:rPr lang="en-US" sz="2200" dirty="0" smtClean="0">
                <a:latin typeface="+mj-lt"/>
                <a:hlinkClick r:id="rId2"/>
              </a:rPr>
              <a:t>https://docs.ray.io/en/latest/ray-overview/getting-started.html</a:t>
            </a:r>
            <a:endParaRPr lang="en-US" sz="2200" dirty="0" smtClean="0">
              <a:latin typeface="+mj-lt"/>
            </a:endParaRPr>
          </a:p>
          <a:p>
            <a:endParaRPr lang="en-US" sz="2200" dirty="0" smtClean="0">
              <a:latin typeface="Consolas" pitchFamily="49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17675" y="3368675"/>
            <a:ext cx="5708650" cy="227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4. Hello Ray Tasks and Actors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>
                <a:latin typeface="+mj-lt"/>
                <a:hlinkClick r:id="rId2"/>
              </a:rPr>
              <a:t>https://docs.ray.io/en/latest/ray-overview/getting-started.html</a:t>
            </a:r>
            <a:endParaRPr lang="en-US" sz="2200" dirty="0" smtClean="0">
              <a:latin typeface="+mj-lt"/>
            </a:endParaRPr>
          </a:p>
          <a:p>
            <a:endParaRPr lang="en-US" sz="2200" dirty="0" smtClean="0">
              <a:latin typeface="Consolas" pitchFamily="49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78025" y="2540000"/>
            <a:ext cx="5187950" cy="325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5. Hello </a:t>
            </a:r>
            <a:r>
              <a:rPr lang="en-US" smtClean="0"/>
              <a:t>Ray Train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>
                <a:latin typeface="+mj-lt"/>
                <a:hlinkClick r:id="rId2"/>
              </a:rPr>
              <a:t>https://docs.ray.io/en/latest/ray-overview/getting-started.html</a:t>
            </a:r>
            <a:endParaRPr lang="en-US" sz="2200" dirty="0" smtClean="0">
              <a:latin typeface="+mj-lt"/>
            </a:endParaRPr>
          </a:p>
          <a:p>
            <a:endParaRPr lang="en-US" sz="2200" dirty="0" smtClean="0">
              <a:latin typeface="Consolas" pitchFamily="49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38188" y="2447925"/>
            <a:ext cx="7667625" cy="3495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 Introduction to Ray </a:t>
            </a:r>
            <a:r>
              <a:rPr lang="en-US" dirty="0" smtClean="0"/>
              <a:t>Serve [2]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/>
              <a:t>Ray Serve is a scalable compute layer for serving ML models on top of </a:t>
            </a:r>
            <a:r>
              <a:rPr lang="en-US" sz="2000" dirty="0" smtClean="0"/>
              <a:t>Ray.</a:t>
            </a:r>
          </a:p>
          <a:p>
            <a:r>
              <a:rPr lang="en-US" sz="2000" dirty="0" smtClean="0"/>
              <a:t>Serve is </a:t>
            </a:r>
            <a:r>
              <a:rPr lang="en-US" sz="2000" dirty="0" smtClean="0"/>
              <a:t>framework-agnostic, meaning that it isn’t tied to a specific ML library; rather, </a:t>
            </a:r>
            <a:r>
              <a:rPr lang="en-US" sz="2000" dirty="0" smtClean="0"/>
              <a:t>it treats </a:t>
            </a:r>
            <a:r>
              <a:rPr lang="en-US" sz="2000" dirty="0" smtClean="0"/>
              <a:t>models as ordinary Python </a:t>
            </a:r>
            <a:r>
              <a:rPr lang="en-US" sz="2000" dirty="0" smtClean="0"/>
              <a:t>code.</a:t>
            </a:r>
          </a:p>
          <a:p>
            <a:r>
              <a:rPr lang="en-US" sz="2000" dirty="0" smtClean="0"/>
              <a:t>Additionally</a:t>
            </a:r>
            <a:r>
              <a:rPr lang="en-US" sz="2000" dirty="0" smtClean="0"/>
              <a:t>, it allows you to flexibly </a:t>
            </a:r>
            <a:r>
              <a:rPr lang="en-US" sz="2000" dirty="0" smtClean="0"/>
              <a:t>combine normal </a:t>
            </a:r>
            <a:r>
              <a:rPr lang="en-US" sz="2000" dirty="0" smtClean="0"/>
              <a:t>Python business logic alongside ML </a:t>
            </a:r>
            <a:r>
              <a:rPr lang="en-US" sz="2000" dirty="0" smtClean="0"/>
              <a:t>models.</a:t>
            </a:r>
          </a:p>
          <a:p>
            <a:r>
              <a:rPr lang="en-US" sz="2000" dirty="0" smtClean="0"/>
              <a:t>This </a:t>
            </a:r>
            <a:r>
              <a:rPr lang="en-US" sz="2000" dirty="0" smtClean="0"/>
              <a:t>makes it possible to </a:t>
            </a:r>
            <a:r>
              <a:rPr lang="en-US" sz="2000" dirty="0" smtClean="0"/>
              <a:t>build online </a:t>
            </a:r>
            <a:r>
              <a:rPr lang="en-US" sz="2000" dirty="0" smtClean="0"/>
              <a:t>inference services completely: a Serve application could validate user </a:t>
            </a:r>
            <a:r>
              <a:rPr lang="en-US" sz="2000" dirty="0" smtClean="0"/>
              <a:t>input, query </a:t>
            </a:r>
            <a:r>
              <a:rPr lang="en-US" sz="2000" dirty="0" smtClean="0"/>
              <a:t>a database, perform scalable inference across multiple ML models, and </a:t>
            </a:r>
            <a:r>
              <a:rPr lang="en-US" sz="2000" dirty="0" smtClean="0"/>
              <a:t>combine, filter</a:t>
            </a:r>
            <a:r>
              <a:rPr lang="en-US" sz="2000" dirty="0" smtClean="0"/>
              <a:t>, and validate the output—all in the process of handling a single </a:t>
            </a:r>
            <a:r>
              <a:rPr lang="en-US" sz="2000" dirty="0" smtClean="0"/>
              <a:t>inference request.</a:t>
            </a:r>
          </a:p>
          <a:p>
            <a:r>
              <a:rPr lang="en-US" sz="2000" dirty="0" smtClean="0"/>
              <a:t>Indeed</a:t>
            </a:r>
            <a:r>
              <a:rPr lang="en-US" sz="2000" dirty="0" smtClean="0"/>
              <a:t>, combining the results of multiple ML models is one of the </a:t>
            </a:r>
            <a:r>
              <a:rPr lang="en-US" sz="2000" dirty="0" smtClean="0"/>
              <a:t>key strengths </a:t>
            </a:r>
            <a:r>
              <a:rPr lang="en-US" sz="2000" dirty="0" smtClean="0"/>
              <a:t>of Ray </a:t>
            </a:r>
            <a:r>
              <a:rPr lang="en-US" sz="2000" dirty="0" smtClean="0"/>
              <a:t>Serve.</a:t>
            </a: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dirty="0" smtClean="0"/>
              <a:t>Architecture </a:t>
            </a:r>
            <a:r>
              <a:rPr lang="en-US" dirty="0" smtClean="0"/>
              <a:t>of a Ray Serve </a:t>
            </a:r>
            <a:r>
              <a:rPr lang="en-US" dirty="0" smtClean="0"/>
              <a:t>Application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2286000"/>
            <a:ext cx="7473950" cy="3619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Install Packages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!pip install "ray[serve]" "transformers" "requests" "</a:t>
            </a:r>
            <a:r>
              <a:rPr lang="en-US" sz="2400" dirty="0" err="1" smtClean="0"/>
              <a:t>wikipedia</a:t>
            </a:r>
            <a:r>
              <a:rPr lang="en-US" sz="2400" dirty="0" smtClean="0"/>
              <a:t>"</a:t>
            </a:r>
            <a:endParaRPr lang="en-US" sz="24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79600" y="3082925"/>
            <a:ext cx="5384800" cy="2174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Prepare Deployment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Copy the code </a:t>
            </a:r>
            <a:r>
              <a:rPr lang="en-US" dirty="0" smtClean="0"/>
              <a:t>to </a:t>
            </a:r>
            <a:r>
              <a:rPr lang="en-US" dirty="0" smtClean="0"/>
              <a:t>app.py</a:t>
            </a:r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93963" y="2527300"/>
            <a:ext cx="4156075" cy="311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Run the Deployment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serve run </a:t>
            </a:r>
            <a:r>
              <a:rPr lang="en-US" sz="2400" dirty="0" err="1" smtClean="0"/>
              <a:t>app:basic_deployment</a:t>
            </a:r>
            <a:endParaRPr lang="en-US" sz="2400" dirty="0" smtClean="0"/>
          </a:p>
          <a:p>
            <a:r>
              <a:rPr lang="en-US" sz="2400" dirty="0" smtClean="0"/>
              <a:t># Wait until the app is ready at </a:t>
            </a:r>
            <a:r>
              <a:rPr lang="en-US" sz="2400" dirty="0" smtClean="0">
                <a:hlinkClick r:id="rId2"/>
              </a:rPr>
              <a:t>http://</a:t>
            </a:r>
            <a:r>
              <a:rPr lang="en-US" sz="2400" dirty="0" smtClean="0">
                <a:hlinkClick r:id="rId2"/>
              </a:rPr>
              <a:t>127.0.0.1:8000</a:t>
            </a:r>
            <a:r>
              <a:rPr lang="en-US" sz="2400" dirty="0" smtClean="0"/>
              <a:t/>
            </a:r>
            <a:br>
              <a:rPr lang="en-US" sz="2400" dirty="0" smtClean="0"/>
            </a:br>
            <a:endParaRPr lang="en-US" sz="2400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60550" y="3260725"/>
            <a:ext cx="5422900" cy="1463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4. Call the API</a:t>
            </a:r>
            <a:endParaRPr 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60625" y="2244725"/>
            <a:ext cx="4222750" cy="308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RPC </a:t>
            </a:r>
            <a:r>
              <a:rPr lang="en-US" dirty="0" smtClean="0"/>
              <a:t>[3]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800600" cy="4525963"/>
          </a:xfrm>
        </p:spPr>
        <p:txBody>
          <a:bodyPr/>
          <a:lstStyle/>
          <a:p>
            <a:r>
              <a:rPr lang="en-US" sz="2400" dirty="0" smtClean="0"/>
              <a:t>RPC is a standard for building distributed applications because of its generality and because its simple semantics yield high-performance implementations.</a:t>
            </a:r>
          </a:p>
          <a:p>
            <a:r>
              <a:rPr lang="en-US" sz="2400" dirty="0" smtClean="0"/>
              <a:t>The original proposal uses </a:t>
            </a:r>
            <a:r>
              <a:rPr lang="en-US" sz="2400" i="1" dirty="0" smtClean="0">
                <a:solidFill>
                  <a:srgbClr val="C00000"/>
                </a:solidFill>
              </a:rPr>
              <a:t>synchronous calls</a:t>
            </a:r>
            <a:r>
              <a:rPr lang="en-US" sz="2400" dirty="0" smtClean="0"/>
              <a:t> that </a:t>
            </a:r>
            <a:r>
              <a:rPr lang="en-US" sz="2400" i="1" dirty="0" smtClean="0">
                <a:solidFill>
                  <a:srgbClr val="C00000"/>
                </a:solidFill>
              </a:rPr>
              <a:t>copy return values</a:t>
            </a:r>
            <a:r>
              <a:rPr lang="en-US" sz="2400" dirty="0" smtClean="0"/>
              <a:t> back to the caller.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05450" y="1752600"/>
            <a:ext cx="3105150" cy="2757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Movement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410200" cy="4525963"/>
          </a:xfrm>
        </p:spPr>
        <p:txBody>
          <a:bodyPr/>
          <a:lstStyle/>
          <a:p>
            <a:r>
              <a:rPr lang="en-US" sz="2000" dirty="0" smtClean="0"/>
              <a:t>Several recent </a:t>
            </a:r>
            <a:r>
              <a:rPr lang="en-US" sz="2000" i="1" dirty="0" smtClean="0">
                <a:solidFill>
                  <a:srgbClr val="C00000"/>
                </a:solidFill>
              </a:rPr>
              <a:t>systems</a:t>
            </a:r>
            <a:r>
              <a:rPr lang="en-US" sz="2000" dirty="0" smtClean="0"/>
              <a:t> have extended RPC so that, in addition to distributed communication, the system may also manage </a:t>
            </a:r>
            <a:r>
              <a:rPr lang="en-US" sz="2000" u="sng" dirty="0" smtClean="0"/>
              <a:t>data movement</a:t>
            </a:r>
            <a:r>
              <a:rPr lang="en-US" sz="2000" dirty="0" smtClean="0"/>
              <a:t> and </a:t>
            </a:r>
            <a:r>
              <a:rPr lang="en-US" sz="2000" u="sng" dirty="0" smtClean="0"/>
              <a:t>parallelism</a:t>
            </a:r>
            <a:r>
              <a:rPr lang="en-US" sz="2000" dirty="0" smtClean="0"/>
              <a:t> on behalf of the </a:t>
            </a:r>
            <a:r>
              <a:rPr lang="en-US" sz="2000" u="sng" dirty="0" smtClean="0"/>
              <a:t>application</a:t>
            </a:r>
            <a:r>
              <a:rPr lang="en-US" sz="2000" dirty="0" smtClean="0"/>
              <a:t>.</a:t>
            </a:r>
          </a:p>
          <a:p>
            <a:r>
              <a:rPr lang="en-US" sz="2000" dirty="0" smtClean="0"/>
              <a:t>To reduce data copies, some RPC systems use </a:t>
            </a:r>
            <a:r>
              <a:rPr lang="en-US" sz="2000" u="sng" dirty="0" smtClean="0"/>
              <a:t>distributed memory</a:t>
            </a:r>
            <a:r>
              <a:rPr lang="en-US" sz="2000" dirty="0" smtClean="0"/>
              <a:t>. This allows large arguments to be </a:t>
            </a:r>
            <a:r>
              <a:rPr lang="en-US" sz="2000" i="1" dirty="0" smtClean="0">
                <a:solidFill>
                  <a:srgbClr val="C00000"/>
                </a:solidFill>
              </a:rPr>
              <a:t>passed by reference</a:t>
            </a:r>
            <a:r>
              <a:rPr lang="en-US" sz="2000" dirty="0" smtClean="0"/>
              <a:t>, while small arguments can still be </a:t>
            </a:r>
            <a:r>
              <a:rPr lang="en-US" sz="2000" i="1" dirty="0" smtClean="0">
                <a:solidFill>
                  <a:srgbClr val="C00000"/>
                </a:solidFill>
              </a:rPr>
              <a:t>passed by value</a:t>
            </a:r>
            <a:r>
              <a:rPr lang="en-US" sz="2000" dirty="0" smtClean="0"/>
              <a:t>. In the best case, arguments passed by reference to an RPC do not need to be copied if they are already on the same node as the executor.</a:t>
            </a:r>
          </a:p>
          <a:p>
            <a:r>
              <a:rPr lang="en-US" sz="2000" dirty="0" smtClean="0"/>
              <a:t>Note that, like traditional RPC, we make all values </a:t>
            </a:r>
            <a:r>
              <a:rPr lang="en-US" sz="2000" i="1" dirty="0" smtClean="0">
                <a:solidFill>
                  <a:srgbClr val="C00000"/>
                </a:solidFill>
              </a:rPr>
              <a:t>immutable</a:t>
            </a:r>
            <a:r>
              <a:rPr lang="en-US" sz="2000" dirty="0" smtClean="0"/>
              <a:t> to simplify the consistency model and implementation.</a:t>
            </a:r>
            <a:endParaRPr lang="en-US" sz="20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867400" y="1752600"/>
            <a:ext cx="2784475" cy="2435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Promises </a:t>
            </a:r>
            <a:r>
              <a:rPr lang="en-US" dirty="0" smtClean="0"/>
              <a:t>[4]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A </a:t>
            </a:r>
            <a:r>
              <a:rPr lang="en-US" sz="2400" i="1" dirty="0" smtClean="0">
                <a:solidFill>
                  <a:srgbClr val="C00000"/>
                </a:solidFill>
              </a:rPr>
              <a:t>promise</a:t>
            </a:r>
            <a:r>
              <a:rPr lang="en-US" sz="2400" dirty="0" smtClean="0"/>
              <a:t> is essentially </a:t>
            </a:r>
            <a:r>
              <a:rPr lang="en-US" sz="2400" u="sng" dirty="0" smtClean="0"/>
              <a:t>a placeholder for a future result</a:t>
            </a:r>
            <a:r>
              <a:rPr lang="en-US" sz="2400" dirty="0" smtClean="0"/>
              <a:t> of an </a:t>
            </a:r>
            <a:r>
              <a:rPr lang="en-US" sz="2400" u="sng" dirty="0" smtClean="0"/>
              <a:t>asynchronous call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When a procedure is invoked remotely, it returns a promise immediately, allowing the caller to proceed with other tasks without blocking.</a:t>
            </a:r>
          </a:p>
          <a:p>
            <a:r>
              <a:rPr lang="en-US" sz="2400" dirty="0" smtClean="0"/>
              <a:t>The caller can later retrieve the result using the promise once it becomes available, or the system can implicitly handle the result when needed.</a:t>
            </a:r>
          </a:p>
          <a:p>
            <a:r>
              <a:rPr lang="en-US" sz="2400" dirty="0" smtClean="0"/>
              <a:t>This approach contrasts with synchronous RPCs by reducing idle time and enabling the caller to overlap computation with communication.</a:t>
            </a:r>
            <a:endParaRPr lang="en-US" sz="2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57200" y="1894106"/>
            <a:ext cx="8229600" cy="427809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function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600" dirty="0" err="1" smtClean="0">
                <a:solidFill>
                  <a:srgbClr val="DCDCAA"/>
                </a:solidFill>
                <a:latin typeface="Consolas"/>
              </a:rPr>
              <a:t>fetchDataAsync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() {</a:t>
            </a:r>
          </a:p>
          <a:p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    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.</a:t>
            </a:r>
            <a:r>
              <a:rPr lang="en-US" sz="1600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(</a:t>
            </a:r>
            <a:r>
              <a:rPr lang="en-US" sz="1600" dirty="0" smtClean="0">
                <a:solidFill>
                  <a:srgbClr val="CE9178"/>
                </a:solidFill>
                <a:latin typeface="Consolas"/>
              </a:rPr>
              <a:t>`Fetching data on thread: </a:t>
            </a: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${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process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pid</a:t>
            </a: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}</a:t>
            </a:r>
            <a:r>
              <a:rPr lang="en-US" sz="1600" dirty="0" smtClean="0">
                <a:solidFill>
                  <a:srgbClr val="CE9178"/>
                </a:solidFill>
                <a:latin typeface="Consolas"/>
              </a:rPr>
              <a:t>`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);</a:t>
            </a:r>
          </a:p>
          <a:p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    </a:t>
            </a:r>
            <a:r>
              <a:rPr lang="en-US" sz="1600" dirty="0" smtClean="0">
                <a:solidFill>
                  <a:srgbClr val="C586C0"/>
                </a:solidFill>
                <a:latin typeface="Consolas"/>
              </a:rPr>
              <a:t>return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DCDCAA"/>
                </a:solidFill>
                <a:latin typeface="Consolas"/>
              </a:rPr>
              <a:t>fetch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(</a:t>
            </a:r>
            <a:r>
              <a:rPr lang="en-US" sz="1600" dirty="0" smtClean="0">
                <a:solidFill>
                  <a:srgbClr val="CE9178"/>
                </a:solidFill>
                <a:latin typeface="Consolas"/>
              </a:rPr>
              <a:t>'https://jsonplaceholder.typicode.com/posts/1'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)</a:t>
            </a:r>
          </a:p>
          <a:p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        .</a:t>
            </a:r>
            <a:r>
              <a:rPr lang="en-US" sz="1600" dirty="0" smtClean="0">
                <a:solidFill>
                  <a:srgbClr val="DCDCAA"/>
                </a:solidFill>
                <a:latin typeface="Consolas"/>
              </a:rPr>
              <a:t>then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(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response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=&gt;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600" dirty="0" err="1" smtClean="0">
                <a:solidFill>
                  <a:srgbClr val="9CDCFE"/>
                </a:solidFill>
                <a:latin typeface="Consolas"/>
              </a:rPr>
              <a:t>response</a:t>
            </a:r>
            <a:r>
              <a:rPr lang="en-US" sz="1600" dirty="0" err="1" smtClean="0">
                <a:solidFill>
                  <a:srgbClr val="CCCCCC"/>
                </a:solidFill>
                <a:latin typeface="Consolas"/>
              </a:rPr>
              <a:t>.</a:t>
            </a:r>
            <a:r>
              <a:rPr lang="en-US" sz="1600" dirty="0" err="1" smtClean="0">
                <a:solidFill>
                  <a:srgbClr val="DCDCAA"/>
                </a:solidFill>
                <a:latin typeface="Consolas"/>
              </a:rPr>
              <a:t>json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())</a:t>
            </a:r>
          </a:p>
          <a:p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        .</a:t>
            </a:r>
            <a:r>
              <a:rPr lang="en-US" sz="1600" dirty="0" smtClean="0">
                <a:solidFill>
                  <a:srgbClr val="DCDCAA"/>
                </a:solidFill>
                <a:latin typeface="Consolas"/>
              </a:rPr>
              <a:t>then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(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data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=&gt;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CE9178"/>
                </a:solidFill>
                <a:latin typeface="Consolas"/>
              </a:rPr>
              <a:t>`Data from server: </a:t>
            </a: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${</a:t>
            </a:r>
            <a:r>
              <a:rPr lang="en-US" sz="1600" dirty="0" err="1" smtClean="0">
                <a:solidFill>
                  <a:srgbClr val="9CDCFE"/>
                </a:solidFill>
                <a:latin typeface="Consolas"/>
              </a:rPr>
              <a:t>data</a:t>
            </a:r>
            <a:r>
              <a:rPr lang="en-US" sz="1600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1600" dirty="0" err="1" smtClean="0">
                <a:solidFill>
                  <a:srgbClr val="9CDCFE"/>
                </a:solidFill>
                <a:latin typeface="Consolas"/>
              </a:rPr>
              <a:t>title</a:t>
            </a: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}</a:t>
            </a:r>
            <a:r>
              <a:rPr lang="en-US" sz="1600" dirty="0" smtClean="0">
                <a:solidFill>
                  <a:srgbClr val="CE9178"/>
                </a:solidFill>
                <a:latin typeface="Consolas"/>
              </a:rPr>
              <a:t>`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);</a:t>
            </a:r>
          </a:p>
          <a:p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}</a:t>
            </a:r>
          </a:p>
          <a:p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/>
            </a:r>
            <a:br>
              <a:rPr lang="en-US" sz="1600" dirty="0" smtClean="0">
                <a:solidFill>
                  <a:srgbClr val="CCCCCC"/>
                </a:solidFill>
                <a:latin typeface="Consolas"/>
              </a:rPr>
            </a:b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.</a:t>
            </a:r>
            <a:r>
              <a:rPr lang="en-US" sz="1600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(</a:t>
            </a:r>
            <a:r>
              <a:rPr lang="en-US" sz="1600" dirty="0" smtClean="0">
                <a:solidFill>
                  <a:srgbClr val="CE9178"/>
                </a:solidFill>
                <a:latin typeface="Consolas"/>
              </a:rPr>
              <a:t>`Starting the program on thread: </a:t>
            </a: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${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process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pid</a:t>
            </a: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}</a:t>
            </a:r>
            <a:r>
              <a:rPr lang="en-US" sz="1600" dirty="0" smtClean="0">
                <a:solidFill>
                  <a:srgbClr val="CE9178"/>
                </a:solidFill>
                <a:latin typeface="Consolas"/>
              </a:rPr>
              <a:t>`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);</a:t>
            </a:r>
          </a:p>
          <a:p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const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4FC1FF"/>
                </a:solidFill>
                <a:latin typeface="Consolas"/>
              </a:rPr>
              <a:t>promise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600" dirty="0" err="1" smtClean="0">
                <a:solidFill>
                  <a:srgbClr val="DCDCAA"/>
                </a:solidFill>
                <a:latin typeface="Consolas"/>
              </a:rPr>
              <a:t>fetchDataAsync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();</a:t>
            </a:r>
          </a:p>
          <a:p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.</a:t>
            </a:r>
            <a:r>
              <a:rPr lang="en-US" sz="1600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(</a:t>
            </a:r>
            <a:r>
              <a:rPr lang="en-US" sz="1600" dirty="0" smtClean="0">
                <a:solidFill>
                  <a:srgbClr val="CE9178"/>
                </a:solidFill>
                <a:latin typeface="Consolas"/>
              </a:rPr>
              <a:t>"Doing other work while waiting for the data..."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);</a:t>
            </a:r>
          </a:p>
          <a:p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/>
            </a:r>
            <a:br>
              <a:rPr lang="en-US" sz="1600" dirty="0" smtClean="0">
                <a:solidFill>
                  <a:srgbClr val="CCCCCC"/>
                </a:solidFill>
                <a:latin typeface="Consolas"/>
              </a:rPr>
            </a:br>
            <a:r>
              <a:rPr lang="en-US" sz="1600" dirty="0" err="1" smtClean="0">
                <a:solidFill>
                  <a:srgbClr val="4FC1FF"/>
                </a:solidFill>
                <a:latin typeface="Consolas"/>
              </a:rPr>
              <a:t>promise</a:t>
            </a:r>
            <a:r>
              <a:rPr lang="en-US" sz="1600" dirty="0" err="1" smtClean="0">
                <a:solidFill>
                  <a:srgbClr val="CCCCCC"/>
                </a:solidFill>
                <a:latin typeface="Consolas"/>
              </a:rPr>
              <a:t>.</a:t>
            </a:r>
            <a:r>
              <a:rPr lang="en-US" sz="1600" dirty="0" err="1" smtClean="0">
                <a:solidFill>
                  <a:srgbClr val="DCDCAA"/>
                </a:solidFill>
                <a:latin typeface="Consolas"/>
              </a:rPr>
              <a:t>then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(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result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=&gt;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{</a:t>
            </a:r>
          </a:p>
          <a:p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    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.</a:t>
            </a:r>
            <a:r>
              <a:rPr lang="en-US" sz="1600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(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result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);</a:t>
            </a:r>
          </a:p>
          <a:p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    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.</a:t>
            </a:r>
            <a:r>
              <a:rPr lang="en-US" sz="1600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(</a:t>
            </a:r>
            <a:r>
              <a:rPr lang="en-US" sz="1600" dirty="0" smtClean="0">
                <a:solidFill>
                  <a:srgbClr val="CE9178"/>
                </a:solidFill>
                <a:latin typeface="Consolas"/>
              </a:rPr>
              <a:t>"Program finished."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);</a:t>
            </a:r>
          </a:p>
          <a:p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}).</a:t>
            </a:r>
            <a:r>
              <a:rPr lang="en-US" sz="1600" dirty="0" smtClean="0">
                <a:solidFill>
                  <a:srgbClr val="DCDCAA"/>
                </a:solidFill>
                <a:latin typeface="Consolas"/>
              </a:rPr>
              <a:t>catch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(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error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=&gt;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{</a:t>
            </a:r>
          </a:p>
          <a:p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    </a:t>
            </a:r>
            <a:r>
              <a:rPr lang="en-US" sz="1600" dirty="0" err="1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sz="1600" dirty="0" err="1" smtClean="0">
                <a:solidFill>
                  <a:srgbClr val="CCCCCC"/>
                </a:solidFill>
                <a:latin typeface="Consolas"/>
              </a:rPr>
              <a:t>.</a:t>
            </a:r>
            <a:r>
              <a:rPr lang="en-US" sz="1600" dirty="0" err="1" smtClean="0">
                <a:solidFill>
                  <a:srgbClr val="DCDCAA"/>
                </a:solidFill>
                <a:latin typeface="Consolas"/>
              </a:rPr>
              <a:t>error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(</a:t>
            </a:r>
            <a:r>
              <a:rPr lang="en-US" sz="1600" dirty="0" smtClean="0">
                <a:solidFill>
                  <a:srgbClr val="CE9178"/>
                </a:solidFill>
                <a:latin typeface="Consolas"/>
              </a:rPr>
              <a:t>"Error:"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, 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error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);</a:t>
            </a:r>
          </a:p>
          <a:p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});</a:t>
            </a:r>
            <a:endParaRPr lang="en-US" sz="1600" b="0" dirty="0">
              <a:solidFill>
                <a:srgbClr val="CCCCCC"/>
              </a:solidFill>
              <a:latin typeface="Consola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JavaScript Promise Example</a:t>
            </a:r>
            <a:endParaRPr 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Parallelism </a:t>
            </a:r>
            <a:r>
              <a:rPr lang="en-US" dirty="0" smtClean="0"/>
              <a:t>[3]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410200" cy="4525963"/>
          </a:xfrm>
        </p:spPr>
        <p:txBody>
          <a:bodyPr/>
          <a:lstStyle/>
          <a:p>
            <a:r>
              <a:rPr lang="en-US" sz="2200" dirty="0" smtClean="0"/>
              <a:t>RPCs are traditionally </a:t>
            </a:r>
            <a:r>
              <a:rPr lang="en-US" sz="2200" i="1" dirty="0" smtClean="0">
                <a:solidFill>
                  <a:srgbClr val="C00000"/>
                </a:solidFill>
              </a:rPr>
              <a:t>blocking</a:t>
            </a:r>
            <a:r>
              <a:rPr lang="en-US" sz="2200" dirty="0" smtClean="0"/>
              <a:t>, so control is only returned to the caller once the reply is received.</a:t>
            </a:r>
          </a:p>
          <a:p>
            <a:r>
              <a:rPr lang="en-US" sz="2200" b="1" dirty="0" smtClean="0"/>
              <a:t>Futures</a:t>
            </a:r>
            <a:r>
              <a:rPr lang="en-US" sz="2200" dirty="0" smtClean="0"/>
              <a:t> are a popular method for extending RPC with </a:t>
            </a:r>
            <a:r>
              <a:rPr lang="en-US" sz="2200" i="1" dirty="0" smtClean="0">
                <a:solidFill>
                  <a:srgbClr val="C00000"/>
                </a:solidFill>
              </a:rPr>
              <a:t>asynchrony</a:t>
            </a:r>
            <a:r>
              <a:rPr lang="en-US" sz="2200" dirty="0" smtClean="0"/>
              <a:t>, allowing the system to execute functions </a:t>
            </a:r>
            <a:r>
              <a:rPr lang="en-US" sz="2200" i="1" dirty="0" smtClean="0">
                <a:solidFill>
                  <a:srgbClr val="C00000"/>
                </a:solidFill>
              </a:rPr>
              <a:t>in parallel</a:t>
            </a:r>
            <a:r>
              <a:rPr lang="en-US" sz="2200" dirty="0" smtClean="0"/>
              <a:t> with each other and the caller.</a:t>
            </a:r>
          </a:p>
          <a:p>
            <a:r>
              <a:rPr lang="en-US" sz="2200" dirty="0" smtClean="0"/>
              <a:t>With </a:t>
            </a:r>
            <a:r>
              <a:rPr lang="en-US" sz="2200" b="1" dirty="0" smtClean="0"/>
              <a:t>composition</a:t>
            </a:r>
            <a:r>
              <a:rPr lang="en-US" sz="2200" dirty="0" smtClean="0"/>
              <a:t>, i.e., passing a future as an argument to another RPC, the application can also express the parallelism and dependencies of future RPCs.</a:t>
            </a:r>
            <a:endParaRPr lang="en-US" sz="22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867400" y="1828800"/>
            <a:ext cx="2768600" cy="2428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Distributed Futures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410200" cy="4525963"/>
          </a:xfrm>
        </p:spPr>
        <p:txBody>
          <a:bodyPr/>
          <a:lstStyle/>
          <a:p>
            <a:r>
              <a:rPr lang="en-US" sz="2200" b="1" dirty="0" smtClean="0"/>
              <a:t>Distributed futures</a:t>
            </a:r>
            <a:r>
              <a:rPr lang="en-US" sz="2200" dirty="0" smtClean="0"/>
              <a:t> are an extension of RPC that combines </a:t>
            </a:r>
            <a:r>
              <a:rPr lang="en-US" sz="2200" b="1" dirty="0" smtClean="0"/>
              <a:t>futures</a:t>
            </a:r>
            <a:r>
              <a:rPr lang="en-US" sz="2200" dirty="0" smtClean="0"/>
              <a:t> with </a:t>
            </a:r>
            <a:r>
              <a:rPr lang="en-US" sz="2200" b="1" dirty="0" smtClean="0"/>
              <a:t>distributed memory</a:t>
            </a:r>
            <a:r>
              <a:rPr lang="en-US" sz="2200" dirty="0" smtClean="0"/>
              <a:t>: a distributed future is a reference whose eventual value may be stored on a remote node.</a:t>
            </a:r>
          </a:p>
          <a:p>
            <a:r>
              <a:rPr lang="en-US" sz="2200" dirty="0" smtClean="0"/>
              <a:t>An </a:t>
            </a:r>
            <a:r>
              <a:rPr lang="en-US" sz="2200" i="1" dirty="0" smtClean="0">
                <a:solidFill>
                  <a:srgbClr val="C00000"/>
                </a:solidFill>
              </a:rPr>
              <a:t>application</a:t>
            </a:r>
            <a:r>
              <a:rPr lang="en-US" sz="2200" dirty="0" smtClean="0"/>
              <a:t> can then express distributed computation without having to specify when or where execution should occur and data should be moved.</a:t>
            </a:r>
          </a:p>
          <a:p>
            <a:r>
              <a:rPr lang="en-US" sz="2200" dirty="0" smtClean="0"/>
              <a:t>This is an increasingly popular interface for developing distributed applications that manipulate </a:t>
            </a:r>
            <a:r>
              <a:rPr lang="en-US" sz="2200" i="1" dirty="0" smtClean="0">
                <a:solidFill>
                  <a:srgbClr val="C00000"/>
                </a:solidFill>
              </a:rPr>
              <a:t>large amounts of data</a:t>
            </a:r>
            <a:r>
              <a:rPr lang="en-US" sz="2200" dirty="0" smtClean="0"/>
              <a:t>.</a:t>
            </a:r>
            <a:endParaRPr lang="en-US" sz="22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1828800"/>
            <a:ext cx="2784475" cy="2425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Fine-grained Functions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As with traditional RPC, a key goal is </a:t>
            </a:r>
            <a:r>
              <a:rPr lang="en-US" sz="2400" i="1" dirty="0" smtClean="0">
                <a:solidFill>
                  <a:srgbClr val="C00000"/>
                </a:solidFill>
              </a:rPr>
              <a:t>generality</a:t>
            </a:r>
            <a:r>
              <a:rPr lang="en-US" sz="2400" dirty="0" smtClean="0"/>
              <a:t>. To achieve this, the system </a:t>
            </a:r>
            <a:r>
              <a:rPr lang="en-US" sz="2400" i="1" dirty="0" smtClean="0">
                <a:solidFill>
                  <a:srgbClr val="C00000"/>
                </a:solidFill>
              </a:rPr>
              <a:t>must minimize</a:t>
            </a:r>
            <a:r>
              <a:rPr lang="en-US" sz="2400" dirty="0" smtClean="0"/>
              <a:t> the overhead of each function call.</a:t>
            </a:r>
          </a:p>
          <a:p>
            <a:r>
              <a:rPr lang="en-US" sz="2400" dirty="0" smtClean="0"/>
              <a:t>For example, the widely used </a:t>
            </a:r>
            <a:r>
              <a:rPr lang="en-US" sz="2400" dirty="0" err="1" smtClean="0"/>
              <a:t>gRPC</a:t>
            </a:r>
            <a:r>
              <a:rPr lang="en-US" sz="2400" dirty="0" smtClean="0"/>
              <a:t> provides horizontal scalability and sub-millisecond RPC latency, making it practical to execute millions of </a:t>
            </a:r>
            <a:r>
              <a:rPr lang="en-US" sz="2400" i="1" dirty="0" smtClean="0">
                <a:solidFill>
                  <a:srgbClr val="C00000"/>
                </a:solidFill>
              </a:rPr>
              <a:t>fine-grained functions</a:t>
            </a:r>
            <a:r>
              <a:rPr lang="en-US" sz="2400" dirty="0" smtClean="0"/>
              <a:t>, i.e. millisecond-level “tasks”, per second.</a:t>
            </a:r>
          </a:p>
          <a:p>
            <a:endParaRPr lang="en-US" sz="2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Coarse-grained Tasks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There are emerging examples of large-scale, fine-grained applications of distributed futures, including reinforcement learning, video processing, and model serving.</a:t>
            </a:r>
          </a:p>
          <a:p>
            <a:r>
              <a:rPr lang="en-US" sz="2400" dirty="0" smtClean="0"/>
              <a:t>These applications must </a:t>
            </a:r>
            <a:r>
              <a:rPr lang="en-US" sz="2400" i="1" dirty="0" smtClean="0">
                <a:solidFill>
                  <a:srgbClr val="C00000"/>
                </a:solidFill>
              </a:rPr>
              <a:t>optimize</a:t>
            </a:r>
            <a:r>
              <a:rPr lang="en-US" sz="2400" dirty="0" smtClean="0"/>
              <a:t> parallelism and data movement for performance, making distributed futures apt.</a:t>
            </a:r>
          </a:p>
          <a:p>
            <a:r>
              <a:rPr lang="en-US" sz="2400" dirty="0" smtClean="0"/>
              <a:t>Unfortunately, existing systems for distributed futures are limited to </a:t>
            </a:r>
            <a:r>
              <a:rPr lang="en-US" sz="2400" i="1" dirty="0" smtClean="0">
                <a:solidFill>
                  <a:srgbClr val="C00000"/>
                </a:solidFill>
              </a:rPr>
              <a:t>coarse-grained tasks</a:t>
            </a:r>
            <a:r>
              <a:rPr lang="en-US" sz="2400" dirty="0" smtClean="0"/>
              <a:t>.</a:t>
            </a:r>
            <a:endParaRPr lang="en-US" sz="2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Ownership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 this paper, we present </a:t>
            </a:r>
            <a:r>
              <a:rPr lang="en-US" i="1" dirty="0" smtClean="0">
                <a:solidFill>
                  <a:srgbClr val="C00000"/>
                </a:solidFill>
              </a:rPr>
              <a:t>a distributed futures system for fine-grained tasks</a:t>
            </a:r>
            <a:r>
              <a:rPr lang="en-US" dirty="0" smtClean="0"/>
              <a:t>.</a:t>
            </a:r>
          </a:p>
          <a:p>
            <a:r>
              <a:rPr lang="en-US" dirty="0" smtClean="0"/>
              <a:t>While others have implemented distributed futures before, our contribution is in identifying and addressing the challenges of providing </a:t>
            </a:r>
            <a:r>
              <a:rPr lang="en-US" i="1" dirty="0" smtClean="0">
                <a:solidFill>
                  <a:srgbClr val="C00000"/>
                </a:solidFill>
              </a:rPr>
              <a:t>fault tolerance for fine-grained tasks without sacrificing performance</a:t>
            </a:r>
            <a:r>
              <a:rPr lang="en-US" dirty="0" smtClean="0"/>
              <a:t>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Not Just Use </a:t>
            </a:r>
            <a:r>
              <a:rPr lang="en-US" dirty="0" err="1" smtClean="0"/>
              <a:t>gRPC</a:t>
            </a:r>
            <a:r>
              <a:rPr lang="en-US" dirty="0" smtClean="0"/>
              <a:t>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b="1" dirty="0" err="1" smtClean="0"/>
              <a:t>gRPC</a:t>
            </a:r>
            <a:r>
              <a:rPr lang="en-US" sz="1800" dirty="0" smtClean="0"/>
              <a:t> provides raw RPC calls (synchronous or asynchronous via </a:t>
            </a:r>
            <a:r>
              <a:rPr lang="en-US" sz="1800" dirty="0" err="1" smtClean="0"/>
              <a:t>gRPC’s</a:t>
            </a:r>
            <a:r>
              <a:rPr lang="en-US" sz="1800" dirty="0" smtClean="0"/>
              <a:t> </a:t>
            </a:r>
            <a:r>
              <a:rPr lang="en-US" sz="1800" dirty="0" err="1" smtClean="0"/>
              <a:t>async</a:t>
            </a:r>
            <a:r>
              <a:rPr lang="en-US" sz="1800" dirty="0" smtClean="0"/>
              <a:t> API). While you can wrap responses in futures (e.g., using </a:t>
            </a:r>
            <a:r>
              <a:rPr lang="en-US" sz="1800" dirty="0" err="1" smtClean="0"/>
              <a:t>ListenableFuture</a:t>
            </a:r>
            <a:r>
              <a:rPr lang="en-US" sz="1800" dirty="0" smtClean="0"/>
              <a:t> in Java), this is a client-side construct, not a distributed abstraction. You’re still explicitly calling a specific service endpoint.</a:t>
            </a:r>
          </a:p>
          <a:p>
            <a:r>
              <a:rPr lang="en-US" sz="1800" b="1" dirty="0" err="1" smtClean="0"/>
              <a:t>gRPC</a:t>
            </a:r>
            <a:r>
              <a:rPr lang="en-US" sz="1800" dirty="0" smtClean="0"/>
              <a:t> treats data as ephemeral—each call sends a request and gets a response, with no built-in mechanism for referencing or sharing data across nodes beyond what the application implements.</a:t>
            </a:r>
          </a:p>
          <a:p>
            <a:r>
              <a:rPr lang="en-US" sz="1800" b="1" dirty="0" err="1" smtClean="0"/>
              <a:t>gRPC</a:t>
            </a:r>
            <a:r>
              <a:rPr lang="en-US" sz="1800" b="1" dirty="0" smtClean="0"/>
              <a:t> </a:t>
            </a:r>
            <a:r>
              <a:rPr lang="en-US" sz="1800" dirty="0" smtClean="0"/>
              <a:t>assumes you know which server to call and handles communication between endpoints. Scaling to a cluster requires a separate scheduler or load balancer, and task placement is the application’s responsibility.</a:t>
            </a:r>
          </a:p>
          <a:p>
            <a:r>
              <a:rPr lang="en-US" sz="1800" b="1" dirty="0" err="1" smtClean="0"/>
              <a:t>gRPC</a:t>
            </a:r>
            <a:r>
              <a:rPr lang="en-US" sz="1800" dirty="0" smtClean="0"/>
              <a:t> offers basic reliability (e.g., retries, timeouts), but fault tolerance for a computation graph (e.g., recovering a failed task’s output) is outside its scope. You’d need to log task states or replay logic manually.</a:t>
            </a:r>
          </a:p>
          <a:p>
            <a:r>
              <a:rPr lang="en-US" sz="1800" b="1" dirty="0" err="1" smtClean="0"/>
              <a:t>gRPC</a:t>
            </a:r>
            <a:r>
              <a:rPr lang="en-US" sz="1800" dirty="0" smtClean="0"/>
              <a:t> is communication protocol, not a full distributed computing framework. It’s a building block for point-to-point calls, not a system for managing distributed workflows.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gRPC</a:t>
            </a:r>
            <a:r>
              <a:rPr lang="en-US" dirty="0" smtClean="0"/>
              <a:t> vs. Ownership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The paper doesn’t dismiss </a:t>
            </a:r>
            <a:r>
              <a:rPr lang="en-US" sz="2400" dirty="0" err="1" smtClean="0"/>
              <a:t>gRPC’s</a:t>
            </a:r>
            <a:r>
              <a:rPr lang="en-US" sz="2400" dirty="0" smtClean="0"/>
              <a:t> capability for fine-grained tasks—it leverages </a:t>
            </a:r>
            <a:r>
              <a:rPr lang="en-US" sz="2400" dirty="0" err="1" smtClean="0"/>
              <a:t>gRPC’s</a:t>
            </a:r>
            <a:r>
              <a:rPr lang="en-US" sz="2400" dirty="0" smtClean="0"/>
              <a:t> efficiency as a comparison point.</a:t>
            </a:r>
          </a:p>
          <a:p>
            <a:r>
              <a:rPr lang="en-US" sz="2400" dirty="0" smtClean="0"/>
              <a:t>However, Ownership isn’t “just </a:t>
            </a:r>
            <a:r>
              <a:rPr lang="en-US" sz="2400" dirty="0" err="1" smtClean="0"/>
              <a:t>gRPC</a:t>
            </a:r>
            <a:r>
              <a:rPr lang="en-US" sz="2400" dirty="0" smtClean="0"/>
              <a:t>” because it solves a higher-level problem: managing distributed futures for fine-grained, dynamic, data-intensive workloads.</a:t>
            </a:r>
          </a:p>
          <a:p>
            <a:r>
              <a:rPr lang="en-US" sz="2400" dirty="0" err="1" smtClean="0"/>
              <a:t>gRPC</a:t>
            </a:r>
            <a:r>
              <a:rPr lang="en-US" sz="2400" dirty="0" smtClean="0"/>
              <a:t> could be a component (e.g., for communication), but it doesn’t replace the need for Ownership’s abstractions, especially in scenarios where task graphs, distributed memory, and fault tolerance are critical.</a:t>
            </a:r>
            <a:endParaRPr lang="en-US" sz="24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</a:t>
            </a:r>
            <a:r>
              <a:rPr lang="en-US" smtClean="0"/>
              <a:t>You Again</a:t>
            </a:r>
            <a:endParaRPr lang="en-US" dirty="0" smtClean="0"/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15587</TotalTime>
  <Words>1441</Words>
  <Application>Microsoft Office PowerPoint</Application>
  <PresentationFormat>On-screen Show (4:3)</PresentationFormat>
  <Paragraphs>122</Paragraphs>
  <Slides>35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6" baseType="lpstr">
      <vt:lpstr>Office Theme</vt:lpstr>
      <vt:lpstr>Ray</vt:lpstr>
      <vt:lpstr>Objectives</vt:lpstr>
      <vt:lpstr>Contents</vt:lpstr>
      <vt:lpstr>References</vt:lpstr>
      <vt:lpstr>Introduction</vt:lpstr>
      <vt:lpstr>RL Applications [1]</vt:lpstr>
      <vt:lpstr>Example of an RL System</vt:lpstr>
      <vt:lpstr>Ray</vt:lpstr>
      <vt:lpstr>Ray's Architecture</vt:lpstr>
      <vt:lpstr>Slide 10</vt:lpstr>
      <vt:lpstr>1. Prepare Environment</vt:lpstr>
      <vt:lpstr>2. Install Ray</vt:lpstr>
      <vt:lpstr>3. Hello Ray</vt:lpstr>
      <vt:lpstr>4. Hello Ray Tasks and Actors</vt:lpstr>
      <vt:lpstr>5. Hello Ray Train</vt:lpstr>
      <vt:lpstr>Slide 16</vt:lpstr>
      <vt:lpstr>An Introduction to Ray Serve [2]</vt:lpstr>
      <vt:lpstr>The Architecture of a Ray Serve Application</vt:lpstr>
      <vt:lpstr>1. Install Packages</vt:lpstr>
      <vt:lpstr>2. Prepare Deployment</vt:lpstr>
      <vt:lpstr>3. Run the Deployment</vt:lpstr>
      <vt:lpstr>4. Call the API</vt:lpstr>
      <vt:lpstr>Slide 23</vt:lpstr>
      <vt:lpstr>RPC [3]</vt:lpstr>
      <vt:lpstr>Data Movement</vt:lpstr>
      <vt:lpstr>Promises [4]</vt:lpstr>
      <vt:lpstr>JavaScript Promise Example</vt:lpstr>
      <vt:lpstr>Parallelism [3]</vt:lpstr>
      <vt:lpstr>Distributed Futures</vt:lpstr>
      <vt:lpstr>Fine-grained Functions</vt:lpstr>
      <vt:lpstr>Coarse-grained Tasks</vt:lpstr>
      <vt:lpstr>Ownership</vt:lpstr>
      <vt:lpstr>Why Not Just Use gRPC?</vt:lpstr>
      <vt:lpstr>gRPC vs. Ownership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6651</cp:revision>
  <dcterms:created xsi:type="dcterms:W3CDTF">2007-10-06T08:25:13Z</dcterms:created>
  <dcterms:modified xsi:type="dcterms:W3CDTF">2026-03-16T13:14:22Z</dcterms:modified>
</cp:coreProperties>
</file>