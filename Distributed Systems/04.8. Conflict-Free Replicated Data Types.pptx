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670" r:id="rId2"/>
    <p:sldId id="671" r:id="rId3"/>
    <p:sldId id="672" r:id="rId4"/>
    <p:sldId id="673" r:id="rId5"/>
    <p:sldId id="674" r:id="rId6"/>
    <p:sldId id="676" r:id="rId7"/>
    <p:sldId id="516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9" autoAdjust="0"/>
    <p:restoredTop sz="94667" autoAdjust="0"/>
  </p:normalViewPr>
  <p:slideViewPr>
    <p:cSldViewPr>
      <p:cViewPr>
        <p:scale>
          <a:sx n="50" d="100"/>
          <a:sy n="50" d="100"/>
        </p:scale>
        <p:origin x="-152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Conflict-Free Replicated 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Marc Shapiro et al. (2011). Conflict-free Replicated Data Types</a:t>
            </a:r>
            <a:r>
              <a:rPr lang="en-US" sz="24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 err="1" smtClean="0"/>
              <a:t>Gowtham</a:t>
            </a:r>
            <a:r>
              <a:rPr lang="en-US" sz="2400" dirty="0" smtClean="0"/>
              <a:t> Kaki et al. (2019). </a:t>
            </a:r>
            <a:r>
              <a:rPr lang="en-US" sz="2400" dirty="0" err="1" smtClean="0"/>
              <a:t>Mergeable</a:t>
            </a:r>
            <a:r>
              <a:rPr lang="en-US" sz="2400" dirty="0" smtClean="0"/>
              <a:t> Replicated Data </a:t>
            </a:r>
            <a:r>
              <a:rPr lang="en-US" sz="2400" dirty="0" smtClean="0"/>
              <a:t>Types.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CRDTs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conflict-free replicated data type (CRDT) is a data structure that is replicated across multiple computers in a network, with the following features:</a:t>
            </a:r>
          </a:p>
          <a:p>
            <a:pPr lvl="1"/>
            <a:r>
              <a:rPr lang="en-US" sz="2000" dirty="0" smtClean="0"/>
              <a:t>The application can update any replica independently, concurrently and without coordinating with other replicas.</a:t>
            </a:r>
          </a:p>
          <a:p>
            <a:pPr lvl="1"/>
            <a:r>
              <a:rPr lang="en-US" sz="2000" dirty="0" smtClean="0"/>
              <a:t>An algorithm (itself part of the data type) automatically resolves any inconsistencies that might occur.</a:t>
            </a:r>
          </a:p>
          <a:p>
            <a:pPr lvl="1"/>
            <a:r>
              <a:rPr lang="en-US" sz="2000" dirty="0" smtClean="0"/>
              <a:t>Although replicas may have different state at any particular point in time, they are guaranteed to eventually converge.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distributed databases </a:t>
            </a:r>
            <a:r>
              <a:rPr lang="en-US" sz="2400" dirty="0" err="1" smtClean="0"/>
              <a:t>Redis</a:t>
            </a:r>
            <a:r>
              <a:rPr lang="en-US" sz="2400" dirty="0" smtClean="0"/>
              <a:t>, </a:t>
            </a:r>
            <a:r>
              <a:rPr lang="en-US" sz="2400" dirty="0" err="1" smtClean="0"/>
              <a:t>Riak</a:t>
            </a:r>
            <a:r>
              <a:rPr lang="en-US" sz="2400" dirty="0" smtClean="0"/>
              <a:t> and Cosmos DB have CRDT data types.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MRDTs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Programming geo-replicated distributed systems </a:t>
            </a:r>
            <a:r>
              <a:rPr lang="en-US" sz="2200" dirty="0" smtClean="0"/>
              <a:t>is challenging </a:t>
            </a:r>
            <a:r>
              <a:rPr lang="en-US" sz="2200" dirty="0" smtClean="0"/>
              <a:t>given the complexity of reasoning </a:t>
            </a:r>
            <a:r>
              <a:rPr lang="en-US" sz="2200" dirty="0" smtClean="0"/>
              <a:t>about </a:t>
            </a:r>
            <a:r>
              <a:rPr lang="en-US" sz="2200" i="1" dirty="0" smtClean="0">
                <a:solidFill>
                  <a:srgbClr val="C00000"/>
                </a:solidFill>
              </a:rPr>
              <a:t>different </a:t>
            </a:r>
            <a:r>
              <a:rPr lang="en-US" sz="2200" i="1" dirty="0" smtClean="0">
                <a:solidFill>
                  <a:srgbClr val="C00000"/>
                </a:solidFill>
              </a:rPr>
              <a:t>evolving states on different </a:t>
            </a:r>
            <a:r>
              <a:rPr lang="en-US" sz="2200" i="1" dirty="0" smtClean="0">
                <a:solidFill>
                  <a:srgbClr val="C00000"/>
                </a:solidFill>
              </a:rPr>
              <a:t>replicas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Existing </a:t>
            </a:r>
            <a:r>
              <a:rPr lang="en-US" sz="2200" dirty="0" smtClean="0"/>
              <a:t>approaches to this problem impose significant </a:t>
            </a:r>
            <a:r>
              <a:rPr lang="en-US" sz="2200" i="1" dirty="0" smtClean="0">
                <a:solidFill>
                  <a:srgbClr val="C00000"/>
                </a:solidFill>
              </a:rPr>
              <a:t>burden on </a:t>
            </a:r>
            <a:r>
              <a:rPr lang="en-US" sz="2200" i="1" dirty="0" smtClean="0">
                <a:solidFill>
                  <a:srgbClr val="C00000"/>
                </a:solidFill>
              </a:rPr>
              <a:t>application developers</a:t>
            </a:r>
            <a:r>
              <a:rPr lang="en-US" sz="2200" dirty="0" smtClean="0"/>
              <a:t> to consider the effect of how operations performed on one replica are witnessed </a:t>
            </a:r>
            <a:r>
              <a:rPr lang="en-US" sz="2200" dirty="0" smtClean="0"/>
              <a:t>and applied </a:t>
            </a:r>
            <a:r>
              <a:rPr lang="en-US" sz="2200" dirty="0" smtClean="0"/>
              <a:t>on </a:t>
            </a:r>
            <a:r>
              <a:rPr lang="en-US" sz="2200" dirty="0" smtClean="0"/>
              <a:t>others.</a:t>
            </a:r>
          </a:p>
          <a:p>
            <a:r>
              <a:rPr lang="en-US" sz="2200" dirty="0" smtClean="0"/>
              <a:t>To </a:t>
            </a:r>
            <a:r>
              <a:rPr lang="en-US" sz="2200" dirty="0" smtClean="0"/>
              <a:t>alleviate these challenges, we present a fundamentally different approach to </a:t>
            </a:r>
            <a:r>
              <a:rPr lang="en-US" sz="2200" dirty="0" smtClean="0"/>
              <a:t>programming in </a:t>
            </a:r>
            <a:r>
              <a:rPr lang="en-US" sz="2200" dirty="0" smtClean="0"/>
              <a:t>the presence of replicated state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Our insight is based on the use of </a:t>
            </a:r>
            <a:r>
              <a:rPr lang="en-US" sz="2200" i="1" dirty="0" smtClean="0">
                <a:solidFill>
                  <a:srgbClr val="C00000"/>
                </a:solidFill>
              </a:rPr>
              <a:t>invertible relational specifications</a:t>
            </a:r>
            <a:r>
              <a:rPr lang="en-US" sz="2200" dirty="0" smtClean="0"/>
              <a:t> </a:t>
            </a:r>
            <a:r>
              <a:rPr lang="en-US" sz="2200" dirty="0" smtClean="0"/>
              <a:t>of an </a:t>
            </a:r>
            <a:r>
              <a:rPr lang="en-US" sz="2200" dirty="0" smtClean="0"/>
              <a:t>inductively-defined data type as a mechanism to capture salient aspects of the data type relevant </a:t>
            </a:r>
            <a:r>
              <a:rPr lang="en-US" sz="2200" dirty="0" smtClean="0"/>
              <a:t>to how </a:t>
            </a:r>
            <a:r>
              <a:rPr lang="en-US" sz="2200" dirty="0" smtClean="0"/>
              <a:t>its different instances can be safely merged in a replicated environment.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23439</TotalTime>
  <Words>278</Words>
  <Application>Microsoft Office PowerPoint</Application>
  <PresentationFormat>On-screen Show (4:3)</PresentationFormat>
  <Paragraphs>25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Conflict-Free Replicated Data Types</vt:lpstr>
      <vt:lpstr>Objectives</vt:lpstr>
      <vt:lpstr>Contents</vt:lpstr>
      <vt:lpstr>References</vt:lpstr>
      <vt:lpstr>CRDTs [1]</vt:lpstr>
      <vt:lpstr>MRDTs [2]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7128</cp:revision>
  <dcterms:created xsi:type="dcterms:W3CDTF">2007-10-06T08:25:13Z</dcterms:created>
  <dcterms:modified xsi:type="dcterms:W3CDTF">2024-01-10T14:40:36Z</dcterms:modified>
</cp:coreProperties>
</file>