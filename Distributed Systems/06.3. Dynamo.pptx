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31" r:id="rId3"/>
    <p:sldId id="603" r:id="rId4"/>
    <p:sldId id="423" r:id="rId5"/>
    <p:sldId id="671" r:id="rId6"/>
    <p:sldId id="672" r:id="rId7"/>
    <p:sldId id="673" r:id="rId8"/>
    <p:sldId id="34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30" autoAdjust="0"/>
    <p:restoredTop sz="94667" autoAdjust="0"/>
  </p:normalViewPr>
  <p:slideViewPr>
    <p:cSldViewPr>
      <p:cViewPr>
        <p:scale>
          <a:sx n="50" d="100"/>
          <a:sy n="50" d="100"/>
        </p:scale>
        <p:origin x="-14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Dynamo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cs typeface="Calibri" pitchFamily="34" charset="0"/>
              </a:rPr>
              <a:t>Giuseppe </a:t>
            </a:r>
            <a:r>
              <a:rPr lang="en-US" sz="2400" dirty="0" err="1" smtClean="0">
                <a:cs typeface="Calibri" pitchFamily="34" charset="0"/>
              </a:rPr>
              <a:t>DeCandia</a:t>
            </a:r>
            <a:r>
              <a:rPr lang="en-US" sz="2400" dirty="0" smtClean="0">
                <a:cs typeface="Calibri" pitchFamily="34" charset="0"/>
              </a:rPr>
              <a:t> et al. (2007). Dynamo - Amazon's Highly Available Key-Value Store.</a:t>
            </a: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Dynamo </a:t>
            </a:r>
            <a:r>
              <a:rPr lang="en-US" dirty="0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Dynamo </a:t>
            </a:r>
            <a:r>
              <a:rPr lang="en-US" sz="2400" i="1" dirty="0" smtClean="0">
                <a:solidFill>
                  <a:srgbClr val="C00000"/>
                </a:solidFill>
              </a:rPr>
              <a:t>stores objects</a:t>
            </a:r>
            <a:r>
              <a:rPr lang="en-US" sz="2400" dirty="0" smtClean="0"/>
              <a:t> associated with a </a:t>
            </a:r>
            <a:r>
              <a:rPr lang="en-US" sz="2400" u="sng" dirty="0" smtClean="0"/>
              <a:t>key</a:t>
            </a:r>
            <a:r>
              <a:rPr lang="en-US" sz="2400" dirty="0" smtClean="0"/>
              <a:t> through a simple interface; it exposes two operations: get() and put().</a:t>
            </a:r>
          </a:p>
          <a:p>
            <a:r>
              <a:rPr lang="en-US" sz="2400" dirty="0" smtClean="0"/>
              <a:t>Dynamo's partitioning scheme relies on </a:t>
            </a:r>
            <a:r>
              <a:rPr lang="en-US" sz="2400" i="1" dirty="0" smtClean="0">
                <a:solidFill>
                  <a:srgbClr val="C00000"/>
                </a:solidFill>
              </a:rPr>
              <a:t>consistent hashing</a:t>
            </a:r>
            <a:r>
              <a:rPr lang="en-US" sz="2400" dirty="0" smtClean="0"/>
              <a:t> to distribute the load across multiple storage hosts.</a:t>
            </a:r>
          </a:p>
          <a:p>
            <a:r>
              <a:rPr lang="en-US" sz="2400" dirty="0" smtClean="0"/>
              <a:t>To achieve high availability and durability, Dynamo </a:t>
            </a:r>
            <a:r>
              <a:rPr lang="en-US" sz="2400" i="1" dirty="0" smtClean="0">
                <a:solidFill>
                  <a:srgbClr val="C00000"/>
                </a:solidFill>
              </a:rPr>
              <a:t>replicates</a:t>
            </a:r>
            <a:r>
              <a:rPr lang="en-US" sz="2400" dirty="0" smtClean="0"/>
              <a:t> its data on multiple hosts. To maintain consistency among its replicas, Dynamo uses a consistency protocol similar to those used in </a:t>
            </a:r>
            <a:r>
              <a:rPr lang="en-US" sz="2400" i="1" dirty="0" smtClean="0">
                <a:solidFill>
                  <a:srgbClr val="C00000"/>
                </a:solidFill>
              </a:rPr>
              <a:t>quorum systems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Dynamo provides </a:t>
            </a:r>
            <a:r>
              <a:rPr lang="en-US" sz="2400" i="1" dirty="0" smtClean="0">
                <a:solidFill>
                  <a:srgbClr val="C00000"/>
                </a:solidFill>
              </a:rPr>
              <a:t>eventual consistency</a:t>
            </a:r>
            <a:r>
              <a:rPr lang="en-US" sz="2400" dirty="0" smtClean="0"/>
              <a:t>, which allows for updates to be propagated to all replicas asynchronously.</a:t>
            </a:r>
          </a:p>
          <a:p>
            <a:r>
              <a:rPr lang="en-US" sz="2400" dirty="0" smtClean="0"/>
              <a:t>Dynamo uses </a:t>
            </a:r>
            <a:r>
              <a:rPr lang="en-US" sz="2400" i="1" dirty="0" smtClean="0">
                <a:solidFill>
                  <a:srgbClr val="C00000"/>
                </a:solidFill>
              </a:rPr>
              <a:t>vector clocks</a:t>
            </a:r>
            <a:r>
              <a:rPr lang="en-US" sz="2400" dirty="0" smtClean="0"/>
              <a:t> in order to capture causality between different </a:t>
            </a:r>
            <a:r>
              <a:rPr lang="en-US" sz="2400" u="sng" dirty="0" smtClean="0"/>
              <a:t>versions of the same object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Evolution of an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400" dirty="0" smtClean="0"/>
              <a:t>There are changes in D3 and D4 that are not reflected in each other.</a:t>
            </a:r>
          </a:p>
          <a:p>
            <a:r>
              <a:rPr lang="en-US" sz="2400" dirty="0" smtClean="0"/>
              <a:t>Both versions of the data must be kept and </a:t>
            </a:r>
            <a:r>
              <a:rPr lang="en-US" sz="2400" i="1" dirty="0" smtClean="0">
                <a:solidFill>
                  <a:srgbClr val="C00000"/>
                </a:solidFill>
              </a:rPr>
              <a:t>presented to a client</a:t>
            </a:r>
            <a:r>
              <a:rPr lang="en-US" sz="2400" dirty="0" smtClean="0"/>
              <a:t> (upon a read) for </a:t>
            </a:r>
            <a:r>
              <a:rPr lang="en-US" sz="2400" u="sng" dirty="0" smtClean="0"/>
              <a:t>semantic reconciliation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the client performs the reconciliation and node </a:t>
            </a:r>
            <a:r>
              <a:rPr lang="en-US" sz="2400" dirty="0" err="1" smtClean="0"/>
              <a:t>Sx</a:t>
            </a:r>
            <a:r>
              <a:rPr lang="en-US" sz="2400" dirty="0" smtClean="0"/>
              <a:t> coordinates the write, </a:t>
            </a:r>
            <a:r>
              <a:rPr lang="en-US" sz="2400" dirty="0" err="1" smtClean="0"/>
              <a:t>Sx</a:t>
            </a:r>
            <a:r>
              <a:rPr lang="en-US" sz="2400" dirty="0" smtClean="0"/>
              <a:t> will update its sequence number in the clock.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1676400"/>
            <a:ext cx="3317875" cy="443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13971</TotalTime>
  <Words>227</Words>
  <Application>Microsoft Office PowerPoint</Application>
  <PresentationFormat>On-screen Show (4:3)</PresentationFormat>
  <Paragraphs>23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Dynamo</vt:lpstr>
      <vt:lpstr>Objectives</vt:lpstr>
      <vt:lpstr>Contents</vt:lpstr>
      <vt:lpstr>References</vt:lpstr>
      <vt:lpstr>Dynamo [1]</vt:lpstr>
      <vt:lpstr>Version Evolution of an Object</vt:lpstr>
      <vt:lpstr>Slide 7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6744</cp:revision>
  <dcterms:created xsi:type="dcterms:W3CDTF">2007-10-06T08:25:13Z</dcterms:created>
  <dcterms:modified xsi:type="dcterms:W3CDTF">2026-03-15T19:08:45Z</dcterms:modified>
</cp:coreProperties>
</file>