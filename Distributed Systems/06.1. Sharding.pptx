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1"/>
  </p:notesMasterIdLst>
  <p:handoutMasterIdLst>
    <p:handoutMasterId r:id="rId52"/>
  </p:handoutMasterIdLst>
  <p:sldIdLst>
    <p:sldId id="256" r:id="rId2"/>
    <p:sldId id="431" r:id="rId3"/>
    <p:sldId id="603" r:id="rId4"/>
    <p:sldId id="423" r:id="rId5"/>
    <p:sldId id="604" r:id="rId6"/>
    <p:sldId id="606" r:id="rId7"/>
    <p:sldId id="644" r:id="rId8"/>
    <p:sldId id="642" r:id="rId9"/>
    <p:sldId id="645" r:id="rId10"/>
    <p:sldId id="632" r:id="rId11"/>
    <p:sldId id="646" r:id="rId12"/>
    <p:sldId id="648" r:id="rId13"/>
    <p:sldId id="649" r:id="rId14"/>
    <p:sldId id="607" r:id="rId15"/>
    <p:sldId id="660" r:id="rId16"/>
    <p:sldId id="661" r:id="rId17"/>
    <p:sldId id="608" r:id="rId18"/>
    <p:sldId id="651" r:id="rId19"/>
    <p:sldId id="650" r:id="rId20"/>
    <p:sldId id="628" r:id="rId21"/>
    <p:sldId id="652" r:id="rId22"/>
    <p:sldId id="614" r:id="rId23"/>
    <p:sldId id="635" r:id="rId24"/>
    <p:sldId id="653" r:id="rId25"/>
    <p:sldId id="654" r:id="rId26"/>
    <p:sldId id="638" r:id="rId27"/>
    <p:sldId id="640" r:id="rId28"/>
    <p:sldId id="641" r:id="rId29"/>
    <p:sldId id="613" r:id="rId30"/>
    <p:sldId id="670" r:id="rId31"/>
    <p:sldId id="625" r:id="rId32"/>
    <p:sldId id="626" r:id="rId33"/>
    <p:sldId id="627" r:id="rId34"/>
    <p:sldId id="616" r:id="rId35"/>
    <p:sldId id="656" r:id="rId36"/>
    <p:sldId id="657" r:id="rId37"/>
    <p:sldId id="680" r:id="rId38"/>
    <p:sldId id="671" r:id="rId39"/>
    <p:sldId id="672" r:id="rId40"/>
    <p:sldId id="673" r:id="rId41"/>
    <p:sldId id="674" r:id="rId42"/>
    <p:sldId id="675" r:id="rId43"/>
    <p:sldId id="676" r:id="rId44"/>
    <p:sldId id="677" r:id="rId45"/>
    <p:sldId id="678" r:id="rId46"/>
    <p:sldId id="679" r:id="rId47"/>
    <p:sldId id="655" r:id="rId48"/>
    <p:sldId id="636" r:id="rId49"/>
    <p:sldId id="343" r:id="rId5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82" autoAdjust="0"/>
    <p:restoredTop sz="94667" autoAdjust="0"/>
  </p:normalViewPr>
  <p:slideViewPr>
    <p:cSldViewPr>
      <p:cViewPr>
        <p:scale>
          <a:sx n="50" d="100"/>
          <a:sy n="50" d="100"/>
        </p:scale>
        <p:origin x="-148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mages.facebook.com/minh/image3.png" TargetMode="External"/><Relationship Id="rId2" Type="http://schemas.openxmlformats.org/officeDocument/2006/relationships/hyperlink" Target="https://images.facebook.com/minh/image1.p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mages.facebook.com/minh/image3.png" TargetMode="External"/><Relationship Id="rId2" Type="http://schemas.openxmlformats.org/officeDocument/2006/relationships/hyperlink" Target="https://images.facebook.com/minh/image1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mages.facebook.com/thao/image1.png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vimeo-engineering-blog/improving-load-balancing-with-a-new-consistent-hashing-algorithm-9f1bd75709ed" TargetMode="External"/><Relationship Id="rId2" Type="http://schemas.openxmlformats.org/officeDocument/2006/relationships/hyperlink" Target="https://discord.com/blog/how-discord-scaled-elixir-to-5-000-000-concurrent-us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tflixtechblog.com/distributing-content-to-open-connect-3e3e391d4dc9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dgryski.medium.com/consistent-hashing-algorithmic-tradeoffs-ef6b8e2fcae8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Sharding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implement</a:t>
            </a:r>
            <a:r>
              <a:rPr lang="en-US" sz="2400" dirty="0" smtClean="0"/>
              <a:t> a data </a:t>
            </a:r>
            <a:r>
              <a:rPr lang="en-US" sz="2400" dirty="0" err="1" smtClean="0"/>
              <a:t>sharding</a:t>
            </a:r>
            <a:r>
              <a:rPr lang="en-US" sz="2400" dirty="0" smtClean="0"/>
              <a:t> prototype for </a:t>
            </a:r>
            <a:r>
              <a:rPr lang="en-US" sz="2400" smtClean="0"/>
              <a:t>a key-value </a:t>
            </a:r>
            <a:r>
              <a:rPr lang="en-US" sz="2400" dirty="0" smtClean="0"/>
              <a:t>storage database using consistent hashing.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Why </a:t>
            </a:r>
            <a:r>
              <a:rPr lang="en-US" sz="2400" dirty="0" err="1" smtClean="0"/>
              <a:t>Sharding</a:t>
            </a:r>
            <a:r>
              <a:rPr lang="en-US" sz="2400" smtClean="0"/>
              <a:t>?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Consistent Hashing.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Random Trees.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cs typeface="Calibri" pitchFamily="34" charset="0"/>
              </a:rPr>
              <a:t>David </a:t>
            </a:r>
            <a:r>
              <a:rPr lang="en-US" sz="2400" dirty="0" err="1" smtClean="0">
                <a:cs typeface="Calibri" pitchFamily="34" charset="0"/>
              </a:rPr>
              <a:t>Karger</a:t>
            </a:r>
            <a:r>
              <a:rPr lang="en-US" sz="2400" dirty="0" smtClean="0">
                <a:cs typeface="Calibri" pitchFamily="34" charset="0"/>
              </a:rPr>
              <a:t> et al. (1997). Consistent Hashing and Random Trees</a:t>
            </a:r>
            <a:r>
              <a:rPr lang="en-US" sz="2400" dirty="0" smtClean="0">
                <a:cs typeface="Calibri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Ben Appleton and Michael O'Reilly (2015). Multi-Probe Consistent Hashing</a:t>
            </a:r>
            <a:r>
              <a:rPr lang="en-US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Vahab</a:t>
            </a:r>
            <a:r>
              <a:rPr lang="en-US" sz="2400" dirty="0" smtClean="0"/>
              <a:t> </a:t>
            </a:r>
            <a:r>
              <a:rPr lang="en-US" sz="2400" dirty="0" err="1" smtClean="0"/>
              <a:t>Mirrokni</a:t>
            </a:r>
            <a:r>
              <a:rPr lang="en-US" sz="2400" dirty="0" smtClean="0"/>
              <a:t> et al. (2017). Consistent Hashing with Bounded Loads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Sharding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Unlimited storage.</a:t>
            </a:r>
          </a:p>
          <a:p>
            <a:r>
              <a:rPr lang="en-US" dirty="0" smtClean="0"/>
              <a:t>Performance.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Storing Images on One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1 request handler server (s1), </a:t>
            </a:r>
            <a:r>
              <a:rPr lang="en-US" sz="2600" b="1" dirty="0" smtClean="0"/>
              <a:t>1 storage server (s2)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Inputs: username, image file name, image content</a:t>
            </a:r>
          </a:p>
          <a:p>
            <a:r>
              <a:rPr lang="en-US" sz="2600" dirty="0" smtClean="0"/>
              <a:t>Outputs: URL.</a:t>
            </a:r>
          </a:p>
          <a:p>
            <a:r>
              <a:rPr lang="en-US" sz="2600" dirty="0" smtClean="0"/>
              <a:t>Examples</a:t>
            </a:r>
          </a:p>
          <a:p>
            <a:pPr lvl="1"/>
            <a:r>
              <a:rPr lang="en-US" sz="2200" dirty="0" smtClean="0"/>
              <a:t>URL1: </a:t>
            </a:r>
            <a:r>
              <a:rPr lang="en-US" sz="2200" dirty="0" smtClean="0">
                <a:hlinkClick r:id="rId2"/>
              </a:rPr>
              <a:t>https://images.facebook.com/minh/image1.png</a:t>
            </a:r>
            <a:endParaRPr lang="en-US" sz="2200" dirty="0" smtClean="0"/>
          </a:p>
          <a:p>
            <a:pPr lvl="1"/>
            <a:r>
              <a:rPr lang="en-US" sz="2200" dirty="0" smtClean="0"/>
              <a:t>URL2: </a:t>
            </a:r>
            <a:r>
              <a:rPr lang="en-US" sz="2200" dirty="0" smtClean="0">
                <a:hlinkClick r:id="rId2"/>
              </a:rPr>
              <a:t>https://images.facebook.com/minh/image2.png</a:t>
            </a:r>
            <a:endParaRPr lang="en-US" sz="2200" dirty="0" smtClean="0"/>
          </a:p>
          <a:p>
            <a:pPr lvl="1"/>
            <a:r>
              <a:rPr lang="en-US" sz="2200" dirty="0" smtClean="0"/>
              <a:t>URL3: </a:t>
            </a:r>
            <a:r>
              <a:rPr lang="en-US" sz="2200" dirty="0" smtClean="0">
                <a:hlinkClick r:id="rId3"/>
              </a:rPr>
              <a:t>https://images.facebook.com/minh/image3.png</a:t>
            </a:r>
          </a:p>
          <a:p>
            <a:r>
              <a:rPr lang="en-US" sz="2600" b="1" dirty="0" smtClean="0"/>
              <a:t>Solution: Use URL as key, image content as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981198"/>
          <a:ext cx="8153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/>
                <a:gridCol w="2717800"/>
                <a:gridCol w="2717800"/>
              </a:tblGrid>
              <a:tr h="384581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Key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Value</a:t>
                      </a:r>
                      <a:endParaRPr lang="en-US" sz="2400" dirty="0"/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[image1 content]</a:t>
                      </a:r>
                      <a:endParaRPr lang="en-US" sz="2400" dirty="0"/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[image2 content]</a:t>
                      </a:r>
                      <a:endParaRPr lang="en-US" sz="2400" dirty="0"/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[image3 content]</a:t>
                      </a:r>
                      <a:endParaRPr lang="en-US" sz="2400" dirty="0"/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[image4 content]</a:t>
                      </a:r>
                      <a:endParaRPr lang="en-US" sz="2400" dirty="0"/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URL5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[image5 content]</a:t>
                      </a:r>
                      <a:endParaRPr lang="en-US" sz="2400" dirty="0"/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URL6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[image6 content]</a:t>
                      </a:r>
                      <a:endParaRPr lang="en-US" sz="2400" dirty="0"/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[image7 content]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Storing Images on Three Servers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1 request handler server (s1), </a:t>
            </a:r>
            <a:r>
              <a:rPr lang="en-US" sz="2400" b="1" dirty="0" smtClean="0"/>
              <a:t>3 storage servers (s2, s3, s4)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Inputs: username, image file name, image content.</a:t>
            </a:r>
          </a:p>
          <a:p>
            <a:r>
              <a:rPr lang="en-US" sz="2400" dirty="0" smtClean="0"/>
              <a:t>Outputs: URL.</a:t>
            </a:r>
          </a:p>
          <a:p>
            <a:r>
              <a:rPr lang="en-US" sz="2400" dirty="0" smtClean="0"/>
              <a:t>Examples</a:t>
            </a:r>
          </a:p>
          <a:p>
            <a:pPr lvl="1"/>
            <a:r>
              <a:rPr lang="en-US" sz="2400" dirty="0" smtClean="0"/>
              <a:t>URL1: </a:t>
            </a:r>
            <a:r>
              <a:rPr lang="en-US" sz="2400" dirty="0" smtClean="0">
                <a:hlinkClick r:id="rId2"/>
              </a:rPr>
              <a:t>https://images.facebook.com/minh/image1.png</a:t>
            </a:r>
            <a:endParaRPr lang="en-US" sz="2400" dirty="0" smtClean="0"/>
          </a:p>
          <a:p>
            <a:pPr lvl="1"/>
            <a:r>
              <a:rPr lang="en-US" sz="2400" dirty="0" smtClean="0"/>
              <a:t>URL2: </a:t>
            </a:r>
            <a:r>
              <a:rPr lang="en-US" sz="2400" dirty="0" smtClean="0">
                <a:hlinkClick r:id="rId2"/>
              </a:rPr>
              <a:t>https://images.facebook.com/minh/image2.png</a:t>
            </a:r>
            <a:endParaRPr lang="en-US" sz="2400" dirty="0" smtClean="0"/>
          </a:p>
          <a:p>
            <a:pPr lvl="1"/>
            <a:r>
              <a:rPr lang="en-US" sz="2400" dirty="0" smtClean="0"/>
              <a:t>URL3: </a:t>
            </a:r>
            <a:r>
              <a:rPr lang="en-US" sz="2400" dirty="0" smtClean="0">
                <a:hlinkClick r:id="rId3"/>
              </a:rPr>
              <a:t>https://images.facebook.com/minh/image3.png</a:t>
            </a:r>
          </a:p>
          <a:p>
            <a:pPr lvl="1"/>
            <a:r>
              <a:rPr lang="en-US" sz="2400" dirty="0" smtClean="0"/>
              <a:t>URL4: </a:t>
            </a:r>
            <a:r>
              <a:rPr lang="en-US" sz="2400" dirty="0" smtClean="0">
                <a:hlinkClick r:id="rId4"/>
              </a:rPr>
              <a:t>https://images.facebook.com/thao/image1.png</a:t>
            </a:r>
            <a:endParaRPr lang="en-US" sz="2400" dirty="0" smtClean="0">
              <a:hlinkClick r:id="rId3"/>
            </a:endParaRPr>
          </a:p>
          <a:p>
            <a:r>
              <a:rPr lang="en-US" sz="2400" dirty="0" smtClean="0">
                <a:solidFill>
                  <a:srgbClr val="C00000"/>
                </a:solidFill>
              </a:rPr>
              <a:t>Solution</a:t>
            </a:r>
            <a:r>
              <a:rPr lang="en-US" sz="2400" dirty="0" smtClean="0"/>
              <a:t>: Use URL as key. Use rand(2, 3, 4) to choose a server to store the image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Data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799" y="1981198"/>
          <a:ext cx="701040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371600"/>
                <a:gridCol w="4343401"/>
              </a:tblGrid>
              <a:tr h="384581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Key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Server #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Data</a:t>
                      </a:r>
                      <a:endParaRPr lang="en-US" sz="2400" dirty="0"/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[image1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[image2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[image3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[image4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URL5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[image5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URL6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[image6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[image7 content]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Retrieve the File for URL?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  <a:sym typeface="Wingdings" pitchFamily="2" charset="2"/>
              </a:rPr>
              <a:t>Solution</a:t>
            </a:r>
            <a:r>
              <a:rPr lang="en-US" sz="2400" dirty="0" smtClean="0">
                <a:sym typeface="Wingdings" pitchFamily="2" charset="2"/>
              </a:rPr>
              <a:t>: Use the mapping table to find</a:t>
            </a:r>
            <a:r>
              <a:rPr lang="en-US" sz="2400" dirty="0" smtClean="0"/>
              <a:t> server id for URL.</a:t>
            </a:r>
            <a:endParaRPr lang="en-US" sz="2400" dirty="0" smtClean="0">
              <a:sym typeface="Wingdings" pitchFamily="2" charset="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799" y="2514600"/>
          <a:ext cx="701040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371600"/>
                <a:gridCol w="4343401"/>
              </a:tblGrid>
              <a:tr h="384581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Key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Server #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Data</a:t>
                      </a:r>
                      <a:endParaRPr lang="en-US" sz="2400" dirty="0"/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[image1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[image2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[image3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[image4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URL5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[image5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URL6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[image6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URL7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-&gt; [image7 content]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Mapping Table is too Large?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/>
              <a:t>Solution: Use a hash function (Mod, </a:t>
            </a:r>
            <a:r>
              <a:rPr lang="en-US" sz="2000" b="1" dirty="0" err="1" smtClean="0"/>
              <a:t>Luhn</a:t>
            </a:r>
            <a:r>
              <a:rPr lang="en-US" sz="2000" b="1" dirty="0" smtClean="0"/>
              <a:t> Algorithm, MurmurHash3).</a:t>
            </a:r>
          </a:p>
          <a:p>
            <a:r>
              <a:rPr lang="en-US" sz="2000" dirty="0" smtClean="0">
                <a:sym typeface="Wingdings" pitchFamily="2" charset="2"/>
              </a:rPr>
              <a:t>Convert URL to a number. </a:t>
            </a:r>
            <a:r>
              <a:rPr lang="en-US" sz="2000" b="1" dirty="0" err="1" smtClean="0">
                <a:sym typeface="Wingdings" pitchFamily="2" charset="2"/>
              </a:rPr>
              <a:t>Prehash</a:t>
            </a:r>
            <a:r>
              <a:rPr lang="en-US" sz="2000" b="1" dirty="0" smtClean="0">
                <a:sym typeface="Wingdings" pitchFamily="2" charset="2"/>
              </a:rPr>
              <a:t>(URL) = Number</a:t>
            </a:r>
            <a:r>
              <a:rPr lang="en-US" sz="2000" dirty="0" smtClean="0">
                <a:sym typeface="Wingdings" pitchFamily="2" charset="2"/>
              </a:rPr>
              <a:t>.</a:t>
            </a:r>
          </a:p>
          <a:p>
            <a:r>
              <a:rPr lang="en-US" sz="2000" dirty="0" smtClean="0">
                <a:sym typeface="Wingdings" pitchFamily="2" charset="2"/>
              </a:rPr>
              <a:t>Server index = </a:t>
            </a:r>
            <a:r>
              <a:rPr lang="en-US" sz="2000" b="1" dirty="0" smtClean="0">
                <a:sym typeface="Wingdings" pitchFamily="2" charset="2"/>
              </a:rPr>
              <a:t>[(Number) mod (# of servers)] + 2</a:t>
            </a:r>
            <a:r>
              <a:rPr lang="en-US" sz="2000" dirty="0" smtClean="0">
                <a:sym typeface="Wingdings" pitchFamily="2" charset="2"/>
              </a:rPr>
              <a:t>. </a:t>
            </a:r>
            <a:r>
              <a:rPr lang="en-US" sz="2000" i="1" dirty="0" smtClean="0">
                <a:solidFill>
                  <a:srgbClr val="C00000"/>
                </a:solidFill>
                <a:sym typeface="Wingdings" pitchFamily="2" charset="2"/>
              </a:rPr>
              <a:t>There is no need to store server indexes in a table. They can be computed on the fly.</a:t>
            </a:r>
          </a:p>
          <a:p>
            <a:r>
              <a:rPr lang="en-US" sz="2000" dirty="0" err="1" smtClean="0">
                <a:sym typeface="Wingdings" pitchFamily="2" charset="2"/>
              </a:rPr>
              <a:t>Prehash</a:t>
            </a:r>
            <a:r>
              <a:rPr lang="en-US" sz="2000" dirty="0" smtClean="0">
                <a:sym typeface="Wingdings" pitchFamily="2" charset="2"/>
              </a:rPr>
              <a:t> (URL1) = 3, (3 mod 3) + 2 = 2.</a:t>
            </a:r>
          </a:p>
          <a:p>
            <a:r>
              <a:rPr lang="en-US" sz="2000" dirty="0" err="1" smtClean="0">
                <a:sym typeface="Wingdings" pitchFamily="2" charset="2"/>
              </a:rPr>
              <a:t>Prehash</a:t>
            </a:r>
            <a:r>
              <a:rPr lang="en-US" sz="2000" dirty="0" smtClean="0">
                <a:sym typeface="Wingdings" pitchFamily="2" charset="2"/>
              </a:rPr>
              <a:t> (URL2) = 4, (4 mod 3) + 2 = 3.</a:t>
            </a:r>
          </a:p>
          <a:p>
            <a:r>
              <a:rPr lang="en-US" sz="2000" dirty="0" err="1" smtClean="0">
                <a:sym typeface="Wingdings" pitchFamily="2" charset="2"/>
              </a:rPr>
              <a:t>Prehash</a:t>
            </a:r>
            <a:r>
              <a:rPr lang="en-US" sz="2000" dirty="0" smtClean="0">
                <a:sym typeface="Wingdings" pitchFamily="2" charset="2"/>
              </a:rPr>
              <a:t> (URL3) = 5, (5 mod 3) + 2 = 4.</a:t>
            </a:r>
          </a:p>
          <a:p>
            <a:endParaRPr lang="en-US" sz="2000" dirty="0" smtClean="0">
              <a:sym typeface="Wingdings" pitchFamily="2" charset="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799" y="4313050"/>
          <a:ext cx="7010401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371600"/>
                <a:gridCol w="4343401"/>
              </a:tblGrid>
              <a:tr h="384581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Key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Server #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Data</a:t>
                      </a:r>
                      <a:endParaRPr lang="en-US" sz="2000" dirty="0"/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URL1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-&gt; [image1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URL2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-&gt; [image2 content]</a:t>
                      </a:r>
                    </a:p>
                  </a:txBody>
                  <a:tcPr/>
                </a:tc>
              </a:tr>
              <a:tr h="38992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URL3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-&gt; [image3 content]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 2 is Full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 smtClean="0"/>
              <a:t>Solution</a:t>
            </a:r>
            <a:r>
              <a:rPr lang="en-US" sz="2200" dirty="0" smtClean="0"/>
              <a:t>: Add </a:t>
            </a:r>
            <a:r>
              <a:rPr lang="en-US" sz="2200" b="1" dirty="0" smtClean="0"/>
              <a:t>new server (s5). </a:t>
            </a:r>
            <a:r>
              <a:rPr lang="en-US" sz="2200" dirty="0" smtClean="0"/>
              <a:t>Replace </a:t>
            </a:r>
            <a:r>
              <a:rPr lang="en-US" sz="2200" b="1" dirty="0" smtClean="0"/>
              <a:t>mod 3</a:t>
            </a:r>
            <a:r>
              <a:rPr lang="en-US" sz="2200" dirty="0" smtClean="0"/>
              <a:t> by </a:t>
            </a:r>
            <a:r>
              <a:rPr lang="en-US" sz="2200" b="1" dirty="0" smtClean="0"/>
              <a:t>mod 4</a:t>
            </a:r>
            <a:r>
              <a:rPr lang="en-US" sz="2200" dirty="0" smtClean="0"/>
              <a:t>.</a:t>
            </a:r>
          </a:p>
          <a:p>
            <a:r>
              <a:rPr lang="en-US" sz="2200" b="1" dirty="0" smtClean="0">
                <a:solidFill>
                  <a:srgbClr val="C00000"/>
                </a:solidFill>
              </a:rPr>
              <a:t>New problem</a:t>
            </a:r>
            <a:r>
              <a:rPr lang="en-US" sz="2200" dirty="0" smtClean="0"/>
              <a:t>: </a:t>
            </a:r>
            <a:r>
              <a:rPr lang="en-US" sz="2200" dirty="0" smtClean="0">
                <a:sym typeface="Wingdings" pitchFamily="2" charset="2"/>
              </a:rPr>
              <a:t>Having to move data from old server to new server.</a:t>
            </a:r>
          </a:p>
          <a:p>
            <a:r>
              <a:rPr lang="en-US" sz="2200" dirty="0" smtClean="0">
                <a:sym typeface="Wingdings" pitchFamily="2" charset="2"/>
              </a:rPr>
              <a:t>Examples: s2 -&gt; s3, s3 -&gt; s2, s4 -&gt; s3, s3 -&gt; s4, s4 -&gt; s5.</a:t>
            </a:r>
          </a:p>
          <a:p>
            <a:endParaRPr lang="en-US" sz="22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81150" y="3281680"/>
          <a:ext cx="29575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838"/>
                <a:gridCol w="985838"/>
                <a:gridCol w="9858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URL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Prehash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Server #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URL1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URL2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URL3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URL4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URL5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URL6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URL7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72150" y="3281680"/>
          <a:ext cx="1009650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096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Server #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Consistent Hashing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29200" cy="4525963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Idea</a:t>
            </a:r>
            <a:r>
              <a:rPr lang="en-US" sz="2200" dirty="0" smtClean="0"/>
              <a:t>: Convert hash table </a:t>
            </a:r>
            <a:r>
              <a:rPr lang="en-US" sz="2200" dirty="0" smtClean="0">
                <a:sym typeface="Wingdings" pitchFamily="2" charset="2"/>
              </a:rPr>
              <a:t>to logical hash ring.</a:t>
            </a:r>
          </a:p>
          <a:p>
            <a:r>
              <a:rPr lang="en-US" sz="2200" dirty="0" smtClean="0"/>
              <a:t>Hash </a:t>
            </a:r>
            <a:r>
              <a:rPr lang="en-US" sz="2200" i="1" dirty="0" smtClean="0">
                <a:solidFill>
                  <a:srgbClr val="C00000"/>
                </a:solidFill>
              </a:rPr>
              <a:t>both node identifiers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data keys</a:t>
            </a:r>
            <a:r>
              <a:rPr lang="en-US" sz="2200" dirty="0" smtClean="0"/>
              <a:t> using the same hash function.</a:t>
            </a:r>
          </a:p>
          <a:p>
            <a:r>
              <a:rPr lang="en-US" sz="2200" b="1" dirty="0" smtClean="0"/>
              <a:t>Each server is mapped to a random number. </a:t>
            </a:r>
            <a:r>
              <a:rPr lang="en-US" sz="2200" dirty="0" smtClean="0"/>
              <a:t>Examples: hash("IP Address") = 24, hash(server name 2) = 49, hash(server name 3) = 35.</a:t>
            </a:r>
            <a:endParaRPr lang="en-US" sz="2200" b="1" dirty="0" smtClean="0"/>
          </a:p>
          <a:p>
            <a:r>
              <a:rPr lang="en-US" sz="2200" dirty="0" smtClean="0"/>
              <a:t>Store server numbers in a </a:t>
            </a:r>
            <a:r>
              <a:rPr lang="en-US" sz="2200" i="1" dirty="0" smtClean="0">
                <a:solidFill>
                  <a:srgbClr val="C00000"/>
                </a:solidFill>
              </a:rPr>
              <a:t>sorted array (or binary tree)</a:t>
            </a:r>
            <a:r>
              <a:rPr lang="en-US" sz="2200" dirty="0" smtClean="0"/>
              <a:t>.</a:t>
            </a:r>
          </a:p>
          <a:p>
            <a:r>
              <a:rPr lang="en-US" sz="2200" b="1" dirty="0" smtClean="0"/>
              <a:t>Each key is mapped to a random number.</a:t>
            </a:r>
            <a:r>
              <a:rPr lang="en-US" sz="2200" dirty="0" smtClean="0"/>
              <a:t> Example: hash(URL1) = 30.</a:t>
            </a:r>
          </a:p>
        </p:txBody>
      </p:sp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2209800"/>
            <a:ext cx="3037616" cy="2673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Slow hash functions: CRC-32/MD5/SHA-1/SHA-256.</a:t>
            </a:r>
          </a:p>
          <a:p>
            <a:r>
              <a:rPr lang="en-US" sz="2400" dirty="0" smtClean="0"/>
              <a:t>Cheaper hash functions: </a:t>
            </a:r>
            <a:r>
              <a:rPr lang="en-US" sz="2400" dirty="0" err="1" smtClean="0"/>
              <a:t>MurmurHash</a:t>
            </a:r>
            <a:r>
              <a:rPr lang="en-US" sz="2400" dirty="0" smtClean="0"/>
              <a:t>, </a:t>
            </a:r>
            <a:r>
              <a:rPr lang="en-US" sz="2400" dirty="0" err="1" smtClean="0"/>
              <a:t>xxHash</a:t>
            </a:r>
            <a:r>
              <a:rPr lang="en-US" sz="2400" dirty="0" smtClean="0"/>
              <a:t>. </a:t>
            </a:r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819400"/>
            <a:ext cx="4673428" cy="3320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895600"/>
            <a:ext cx="2990850" cy="290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Positioning the Nodes on the Hash Ring</a:t>
            </a:r>
            <a:endParaRPr lang="en-US" sz="3800" dirty="0"/>
          </a:p>
        </p:txBody>
      </p:sp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828800"/>
            <a:ext cx="3884309" cy="4532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Location for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 </a:t>
            </a:r>
            <a:r>
              <a:rPr lang="en-US" sz="2400" i="1" dirty="0" smtClean="0">
                <a:solidFill>
                  <a:srgbClr val="C00000"/>
                </a:solidFill>
              </a:rPr>
              <a:t>binary search</a:t>
            </a:r>
            <a:r>
              <a:rPr lang="en-US" sz="2400" dirty="0" smtClean="0"/>
              <a:t> </a:t>
            </a:r>
            <a:r>
              <a:rPr lang="en-US" sz="2400" u="sng" dirty="0" smtClean="0"/>
              <a:t>until you get down to a single element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If there is a match, return it.</a:t>
            </a:r>
          </a:p>
          <a:p>
            <a:r>
              <a:rPr lang="en-US" sz="2400" dirty="0" smtClean="0"/>
              <a:t>If there is no match, look at your next neighbor to find the closest match.</a:t>
            </a:r>
            <a:endParaRPr lang="en-US" sz="2400" dirty="0"/>
          </a:p>
        </p:txBody>
      </p:sp>
      <p:pic>
        <p:nvPicPr>
          <p:cNvPr id="5122" name="Picture 2" descr="https://upload.wikimedia.org/wikipedia/commons/thumb/a/a1/Approximate-binary-search.svg/594px-Approximate-binary-search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581400"/>
            <a:ext cx="5657850" cy="2743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Storing a Key</a:t>
            </a:r>
            <a:endParaRPr lang="en-US" dirty="0"/>
          </a:p>
        </p:txBody>
      </p:sp>
      <p:pic>
        <p:nvPicPr>
          <p:cNvPr id="1026" name="Picture 2" descr="https://highscalability.com/content/images/2024/02/bbn13ap-__squarespace_cacheversion-167588091071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781486"/>
            <a:ext cx="6179980" cy="43145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Location for a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 </a:t>
            </a:r>
            <a:r>
              <a:rPr lang="en-US" sz="2400" i="1" dirty="0" smtClean="0">
                <a:solidFill>
                  <a:srgbClr val="C00000"/>
                </a:solidFill>
              </a:rPr>
              <a:t>binary search</a:t>
            </a:r>
            <a:r>
              <a:rPr lang="en-US" sz="2400" dirty="0" smtClean="0"/>
              <a:t> </a:t>
            </a:r>
            <a:r>
              <a:rPr lang="en-US" sz="2400" u="sng" dirty="0" smtClean="0"/>
              <a:t>until you get down to a single element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If there is a match, return it.</a:t>
            </a:r>
          </a:p>
          <a:p>
            <a:r>
              <a:rPr lang="en-US" sz="2400" dirty="0" smtClean="0"/>
              <a:t>If there is no match, look at your next neighbor to find the closest match.</a:t>
            </a:r>
            <a:endParaRPr lang="en-US" sz="2400" dirty="0"/>
          </a:p>
        </p:txBody>
      </p:sp>
      <p:pic>
        <p:nvPicPr>
          <p:cNvPr id="5122" name="Picture 2" descr="https://upload.wikimedia.org/wikipedia/commons/thumb/a/a1/Approximate-binary-search.svg/594px-Approximate-binary-search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581400"/>
            <a:ext cx="5657850" cy="2743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BST vs. Sorted Array + 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u="sng" dirty="0" smtClean="0"/>
              <a:t>Insertion</a:t>
            </a:r>
            <a:r>
              <a:rPr lang="en-US" sz="2400" dirty="0" smtClean="0"/>
              <a:t> and </a:t>
            </a:r>
            <a:r>
              <a:rPr lang="en-US" sz="2400" u="sng" dirty="0" smtClean="0"/>
              <a:t>deletion</a:t>
            </a:r>
            <a:r>
              <a:rPr lang="en-US" sz="2400" dirty="0" smtClean="0"/>
              <a:t> in </a:t>
            </a:r>
            <a:r>
              <a:rPr lang="en-US" sz="2400" i="1" dirty="0" smtClean="0">
                <a:solidFill>
                  <a:srgbClr val="C00000"/>
                </a:solidFill>
              </a:rPr>
              <a:t>an array</a:t>
            </a:r>
            <a:r>
              <a:rPr lang="en-US" sz="2400" dirty="0" smtClean="0"/>
              <a:t> while maintaining its </a:t>
            </a:r>
            <a:r>
              <a:rPr lang="en-US" sz="2400" u="sng" dirty="0" smtClean="0"/>
              <a:t>sorted property</a:t>
            </a:r>
            <a:r>
              <a:rPr lang="en-US" sz="2400" dirty="0" smtClean="0"/>
              <a:t> is order of size of array, </a:t>
            </a:r>
            <a:r>
              <a:rPr lang="en-US" sz="2400" dirty="0" err="1" smtClean="0"/>
              <a:t>i.e</a:t>
            </a:r>
            <a:r>
              <a:rPr lang="en-US" sz="2400" dirty="0" smtClean="0"/>
              <a:t> O(n), but for a </a:t>
            </a:r>
            <a:r>
              <a:rPr lang="en-US" sz="2400" i="1" dirty="0" smtClean="0">
                <a:solidFill>
                  <a:srgbClr val="C00000"/>
                </a:solidFill>
              </a:rPr>
              <a:t>BST</a:t>
            </a:r>
            <a:r>
              <a:rPr lang="en-US" sz="2400" dirty="0" smtClean="0"/>
              <a:t> it is O(</a:t>
            </a:r>
            <a:r>
              <a:rPr lang="en-US" sz="2400" dirty="0" err="1" smtClean="0"/>
              <a:t>logn</a:t>
            </a:r>
            <a:r>
              <a:rPr lang="en-US" sz="2400" dirty="0" smtClean="0"/>
              <a:t>) on average and O(n) in worst case.</a:t>
            </a:r>
          </a:p>
          <a:p>
            <a:r>
              <a:rPr lang="en-US" sz="2400" dirty="0" smtClean="0"/>
              <a:t>Here n is the size of array.</a:t>
            </a:r>
            <a:endParaRPr lang="en-US" sz="2400" dirty="0"/>
          </a:p>
        </p:txBody>
      </p:sp>
      <p:pic>
        <p:nvPicPr>
          <p:cNvPr id="36866" name="Picture 2" descr="https://media.geeksforgeeks.org/wp-content/uploads/20221128124311/inser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505200"/>
            <a:ext cx="5024438" cy="27225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a New Node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Hash its IP, then add the number to </a:t>
            </a:r>
            <a:r>
              <a:rPr lang="en-US" sz="2000" i="1" dirty="0" smtClean="0">
                <a:solidFill>
                  <a:srgbClr val="C00000"/>
                </a:solidFill>
              </a:rPr>
              <a:t>the sorted array</a:t>
            </a:r>
            <a:r>
              <a:rPr lang="en-US" sz="2000" dirty="0" smtClean="0"/>
              <a:t>. Move some data.</a:t>
            </a:r>
          </a:p>
          <a:p>
            <a:r>
              <a:rPr lang="en-US" sz="2000" dirty="0" smtClean="0"/>
              <a:t>Example: Add node 5. Move some data from node 1 to node 5.</a:t>
            </a:r>
          </a:p>
        </p:txBody>
      </p:sp>
      <p:pic>
        <p:nvPicPr>
          <p:cNvPr id="4" name="Picture 2" descr="https://miro.medium.com/v2/resize:fit:1400/0*zA-Ow3GWzetuRNw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438885"/>
            <a:ext cx="3796826" cy="38857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How to Update the Membership?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Gossip protocol</a:t>
            </a:r>
            <a:r>
              <a:rPr lang="en-US" sz="2400" dirty="0" smtClean="0"/>
              <a:t>:</a:t>
            </a:r>
            <a:r>
              <a:rPr lang="en-US" sz="2400" b="1" dirty="0" smtClean="0"/>
              <a:t> </a:t>
            </a:r>
            <a:r>
              <a:rPr lang="en-US" sz="2400" dirty="0" smtClean="0"/>
              <a:t>when a node receives a message for the first time, forward it to </a:t>
            </a:r>
            <a:r>
              <a:rPr lang="en-US" sz="2400" u="sng" dirty="0" smtClean="0"/>
              <a:t>3 other nodes</a:t>
            </a:r>
            <a:r>
              <a:rPr lang="en-US" sz="2400" dirty="0" smtClean="0"/>
              <a:t>, chosen </a:t>
            </a:r>
            <a:r>
              <a:rPr lang="en-US" sz="2400" u="sng" dirty="0" smtClean="0"/>
              <a:t>randomly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Eventually reaches all nodes (with high probability).</a:t>
            </a:r>
            <a:endParaRPr lang="en-US" sz="2400" b="1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289300"/>
            <a:ext cx="6096000" cy="303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a Node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Move some data. Remove its number from the sorted array.</a:t>
            </a:r>
          </a:p>
          <a:p>
            <a:r>
              <a:rPr lang="en-US" sz="2200" dirty="0" smtClean="0"/>
              <a:t>Example: Move some data from node 3 to node 4. Remove node 3. </a:t>
            </a:r>
          </a:p>
          <a:p>
            <a:endParaRPr lang="en-US" sz="2200" dirty="0"/>
          </a:p>
        </p:txBody>
      </p:sp>
      <p:pic>
        <p:nvPicPr>
          <p:cNvPr id="4" name="Picture 2" descr="https://miro.medium.com/v2/resize:fit:1400/0*E7F-v2MIaIzOKGx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514600"/>
            <a:ext cx="3523810" cy="37460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Preparing for Node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Copy data for key to secondary (or more) nodes.</a:t>
            </a:r>
          </a:p>
          <a:p>
            <a:r>
              <a:rPr lang="en-US" sz="2400" dirty="0" smtClean="0"/>
              <a:t>Example: use the next nodes.</a:t>
            </a:r>
            <a:endParaRPr lang="en-US" sz="2200" dirty="0"/>
          </a:p>
        </p:txBody>
      </p:sp>
      <p:pic>
        <p:nvPicPr>
          <p:cNvPr id="56322" name="Picture 2" descr="https://highscalability.com/content/images/2024/02/ezsk5bf-__squarespace_cacheversion-167588099954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048000"/>
            <a:ext cx="5889625" cy="3058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How to Recover from Permanent Failures?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 err="1" smtClean="0"/>
              <a:t>Merkle</a:t>
            </a:r>
            <a:r>
              <a:rPr lang="en-US" sz="2200" b="1" dirty="0" smtClean="0"/>
              <a:t> Trees</a:t>
            </a:r>
          </a:p>
          <a:p>
            <a:pPr lvl="1"/>
            <a:r>
              <a:rPr lang="en-US" sz="1800" dirty="0" smtClean="0"/>
              <a:t>Every leaf node hashes a data block.</a:t>
            </a:r>
          </a:p>
          <a:p>
            <a:pPr lvl="1"/>
            <a:r>
              <a:rPr lang="en-US" sz="1800" dirty="0" smtClean="0"/>
              <a:t>Every internal (non-leaf) node hashes two hash nodes below it, all the way up to the root node.</a:t>
            </a:r>
          </a:p>
        </p:txBody>
      </p:sp>
      <p:pic>
        <p:nvPicPr>
          <p:cNvPr id="2050" name="Picture 2" descr="https://miro.medium.com/v2/resize:fit:2000/1*Ykn20LKvw2hyuyGV4ps5d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6228" y="3227428"/>
            <a:ext cx="6868572" cy="28685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err="1" smtClean="0"/>
              <a:t>Merkle</a:t>
            </a:r>
            <a:r>
              <a:rPr lang="en-US" sz="4200" dirty="0" smtClean="0"/>
              <a:t> Tree with an Odd Number of Leaves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full binary tree</a:t>
            </a:r>
            <a:r>
              <a:rPr lang="en-US" sz="2200" dirty="0" smtClean="0"/>
              <a:t>: Every node has either 0 or 2 children.</a:t>
            </a:r>
          </a:p>
          <a:p>
            <a:r>
              <a:rPr lang="en-US" sz="2200" dirty="0" smtClean="0"/>
              <a:t>Data blocks are </a:t>
            </a:r>
            <a:r>
              <a:rPr lang="en-US" sz="2200" i="1" dirty="0" smtClean="0">
                <a:solidFill>
                  <a:srgbClr val="C00000"/>
                </a:solidFill>
              </a:rPr>
              <a:t>NEVER</a:t>
            </a:r>
            <a:r>
              <a:rPr lang="en-US" sz="2200" dirty="0" smtClean="0"/>
              <a:t> part of a </a:t>
            </a:r>
            <a:r>
              <a:rPr lang="en-US" sz="2200" dirty="0" err="1" smtClean="0"/>
              <a:t>Merkle</a:t>
            </a:r>
            <a:r>
              <a:rPr lang="en-US" sz="2200" dirty="0" smtClean="0"/>
              <a:t> tree, only the hashes, so the above tree is indeed full.</a:t>
            </a:r>
            <a:endParaRPr lang="en-US" sz="2200" dirty="0"/>
          </a:p>
        </p:txBody>
      </p:sp>
      <p:pic>
        <p:nvPicPr>
          <p:cNvPr id="4" name="Picture 2" descr="https://qph.cf2.quoracdn.net/main-qimg-7dd0343dbf4f665561dd88e58f0520c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819400"/>
            <a:ext cx="5734050" cy="3657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If there are an </a:t>
            </a:r>
            <a:r>
              <a:rPr lang="en-US" sz="2200" i="1" dirty="0" smtClean="0">
                <a:solidFill>
                  <a:srgbClr val="C00000"/>
                </a:solidFill>
              </a:rPr>
              <a:t>odd number of nodes</a:t>
            </a:r>
            <a:r>
              <a:rPr lang="en-US" sz="2200" dirty="0" smtClean="0"/>
              <a:t> on any level of the </a:t>
            </a:r>
            <a:r>
              <a:rPr lang="en-US" sz="2200" dirty="0" err="1" smtClean="0"/>
              <a:t>Merkle</a:t>
            </a:r>
            <a:r>
              <a:rPr lang="en-US" sz="2200" dirty="0" smtClean="0"/>
              <a:t> tree, </a:t>
            </a:r>
            <a:r>
              <a:rPr lang="en-US" sz="2200" u="sng" dirty="0" smtClean="0"/>
              <a:t>the last node is duplicated</a:t>
            </a:r>
            <a:r>
              <a:rPr lang="en-US" sz="2200" dirty="0" smtClean="0"/>
              <a:t> and </a:t>
            </a:r>
            <a:r>
              <a:rPr lang="en-US" sz="2200" u="sng" dirty="0" smtClean="0"/>
              <a:t>hashed with itself</a:t>
            </a:r>
            <a:r>
              <a:rPr lang="en-US" sz="2200" dirty="0" smtClean="0"/>
              <a:t>.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			   Root (Hash01234444)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           /                      \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    Hash0123                 Hash4444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    /      \                    /     \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Hash01      Hash23           Hash44     </a:t>
            </a:r>
            <a:r>
              <a:rPr lang="en-US" sz="1800" dirty="0" err="1" smtClean="0">
                <a:latin typeface="Consolas" pitchFamily="49" charset="0"/>
              </a:rPr>
              <a:t>Hash44</a:t>
            </a:r>
            <a:endParaRPr lang="en-US" sz="18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/   \        /   \             /   \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Hash0  Hash1  Hash2  Hash3     Hash4   </a:t>
            </a:r>
            <a:r>
              <a:rPr lang="en-US" sz="1800" dirty="0" err="1" smtClean="0">
                <a:latin typeface="Consolas" pitchFamily="49" charset="0"/>
              </a:rPr>
              <a:t>Hash4</a:t>
            </a:r>
            <a:endParaRPr lang="en-US" sz="1800" dirty="0" smtClean="0">
              <a:latin typeface="Consolas" pitchFamily="49" charset="0"/>
            </a:endParaRPr>
          </a:p>
          <a:p>
            <a:endParaRPr lang="en-US" sz="2200" dirty="0" smtClean="0"/>
          </a:p>
          <a:p>
            <a:r>
              <a:rPr lang="en-US" sz="2200" dirty="0" smtClean="0"/>
              <a:t>This duplication is only done at calculation time. It is simply part of the </a:t>
            </a:r>
            <a:r>
              <a:rPr lang="en-US" sz="2200" dirty="0" err="1" smtClean="0"/>
              <a:t>Merkle</a:t>
            </a:r>
            <a:r>
              <a:rPr lang="en-US" sz="2200" dirty="0" smtClean="0"/>
              <a:t> root computation algorithm that the duplication is done. The hashes aren't stored.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Unbalanced Data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If </a:t>
            </a:r>
            <a:r>
              <a:rPr lang="en-US" sz="2600" u="sng" dirty="0" smtClean="0"/>
              <a:t>the number of nodes</a:t>
            </a:r>
            <a:r>
              <a:rPr lang="en-US" sz="2600" dirty="0" smtClean="0"/>
              <a:t> on the ring is </a:t>
            </a:r>
            <a:r>
              <a:rPr lang="en-US" sz="2600" i="1" dirty="0" smtClean="0">
                <a:solidFill>
                  <a:srgbClr val="C00000"/>
                </a:solidFill>
              </a:rPr>
              <a:t>very small</a:t>
            </a:r>
            <a:r>
              <a:rPr lang="en-US" sz="2600" dirty="0" smtClean="0"/>
              <a:t>, then it is very likely that the data distribution will be </a:t>
            </a:r>
            <a:r>
              <a:rPr lang="en-US" sz="2600" u="sng" dirty="0" smtClean="0"/>
              <a:t>unbalanced</a:t>
            </a:r>
            <a:r>
              <a:rPr lang="en-US" sz="2600" dirty="0" smtClean="0"/>
              <a:t>.</a:t>
            </a:r>
            <a:endParaRPr lang="en-US" sz="2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048000"/>
            <a:ext cx="4292899" cy="2853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Node A: hash("IP1" + "1"), hash("IP1" + "2"), hash("IP1" + "3")</a:t>
            </a:r>
          </a:p>
          <a:p>
            <a:r>
              <a:rPr lang="en-US" sz="2400" dirty="0" smtClean="0"/>
              <a:t>Node B: hash("IP2" + "1"), hash("IP2" + "2"), hash("IP2" + "3")</a:t>
            </a:r>
            <a:endParaRPr lang="en-US" sz="2400" dirty="0"/>
          </a:p>
        </p:txBody>
      </p:sp>
      <p:pic>
        <p:nvPicPr>
          <p:cNvPr id="29698" name="Picture 2" descr="https://miro.medium.com/v2/resize:fit:1400/0*z1VSQfd2LUkWmCgx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2781771"/>
            <a:ext cx="3638096" cy="37714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Consistent Hashing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Horizontally scalable.</a:t>
            </a:r>
          </a:p>
          <a:p>
            <a:r>
              <a:rPr lang="en-US" dirty="0" smtClean="0"/>
              <a:t>Minimized data movement when the number of nodes changes.</a:t>
            </a:r>
          </a:p>
          <a:p>
            <a:r>
              <a:rPr lang="en-US" dirty="0" smtClean="0"/>
              <a:t>Quick replication and partitioning of data.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Consistent Hashing 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Cascading failure due to hotspots.</a:t>
            </a:r>
          </a:p>
          <a:p>
            <a:r>
              <a:rPr lang="en-US" dirty="0" smtClean="0"/>
              <a:t>Non-uniform distribution of nodes and data (Virtual nodes help to reduce this issue).</a:t>
            </a:r>
          </a:p>
          <a:p>
            <a:r>
              <a:rPr lang="en-US" dirty="0" smtClean="0"/>
              <a:t>Oblivious to the heterogeneity in the performance of nodes.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https://discord.com/blog/how-discord-scaled-elixir-to-5-000-000-concurrent-users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https://medium.com/vimeo-engineering-blog/improving-load-balancing-with-a-new-consistent-hashing-algorithm-9f1bd75709ed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https://netflixtechblog.com/distributing-content-to-open-connect-3e3e391d4dc9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https://highscalability.com/content/images/2024/02/ykzvyl2-__squarespace_cacheversion-167588174088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2057400"/>
            <a:ext cx="4502150" cy="35083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Multi-probe Consistent </a:t>
            </a:r>
            <a:r>
              <a:rPr lang="en-US" dirty="0" smtClean="0"/>
              <a:t>Hashing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525963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No virtual nodes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Generate </a:t>
            </a:r>
            <a:r>
              <a:rPr lang="en-US" sz="2200" i="1" dirty="0" smtClean="0">
                <a:solidFill>
                  <a:srgbClr val="C00000"/>
                </a:solidFill>
              </a:rPr>
              <a:t>multiple probe hashes</a:t>
            </a:r>
            <a:r>
              <a:rPr lang="en-US" sz="2200" dirty="0" smtClean="0"/>
              <a:t> for the </a:t>
            </a:r>
            <a:r>
              <a:rPr lang="en-US" sz="2200" dirty="0" smtClean="0"/>
              <a:t>key.</a:t>
            </a:r>
          </a:p>
          <a:p>
            <a:r>
              <a:rPr lang="en-US" sz="2200" dirty="0" smtClean="0"/>
              <a:t>For each probe, find the next server </a:t>
            </a:r>
            <a:r>
              <a:rPr lang="en-US" sz="2200" dirty="0" smtClean="0"/>
              <a:t>clockwise.</a:t>
            </a:r>
          </a:p>
          <a:p>
            <a:r>
              <a:rPr lang="en-US" sz="2200" dirty="0" smtClean="0"/>
              <a:t>The server whose distance from its probe is </a:t>
            </a:r>
            <a:r>
              <a:rPr lang="en-US" sz="2200" i="1" dirty="0" smtClean="0">
                <a:solidFill>
                  <a:srgbClr val="C00000"/>
                </a:solidFill>
              </a:rPr>
              <a:t>smallest</a:t>
            </a:r>
            <a:r>
              <a:rPr lang="en-US" sz="2200" dirty="0" smtClean="0"/>
              <a:t> is selected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distance</a:t>
            </a:r>
            <a:r>
              <a:rPr lang="en-US" sz="2200" dirty="0" smtClean="0"/>
              <a:t> is the arc length between the probe and that server.</a:t>
            </a:r>
          </a:p>
          <a:p>
            <a:r>
              <a:rPr lang="en-US" sz="2200" dirty="0" smtClean="0"/>
              <a:t>The </a:t>
            </a:r>
            <a:r>
              <a:rPr lang="en-US" sz="2200" dirty="0" smtClean="0"/>
              <a:t>key (data object) </a:t>
            </a:r>
            <a:r>
              <a:rPr lang="en-US" sz="2200" u="sng" dirty="0" smtClean="0"/>
              <a:t>lookups</a:t>
            </a:r>
            <a:r>
              <a:rPr lang="en-US" sz="2200" dirty="0" smtClean="0"/>
              <a:t> are </a:t>
            </a:r>
            <a:r>
              <a:rPr lang="en-US" sz="2200" i="1" dirty="0" smtClean="0">
                <a:solidFill>
                  <a:srgbClr val="C00000"/>
                </a:solidFill>
              </a:rPr>
              <a:t>relatively slower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 descr="https://highscalability.com/content/images/2024/02/pkv04wr-__squarespace_cacheversion-167588176224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752600"/>
            <a:ext cx="4648200" cy="324802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Bounded-load Consistent </a:t>
            </a:r>
            <a:r>
              <a:rPr lang="en-US" sz="4200" dirty="0" smtClean="0"/>
              <a:t>Hashing [3]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67200" cy="4525963"/>
          </a:xfrm>
        </p:spPr>
        <p:txBody>
          <a:bodyPr/>
          <a:lstStyle/>
          <a:p>
            <a:r>
              <a:rPr lang="en-US" sz="2400" dirty="0" smtClean="0"/>
              <a:t>The consistent hashing with bounded load </a:t>
            </a:r>
            <a:r>
              <a:rPr lang="en-US" sz="2400" i="1" dirty="0" smtClean="0">
                <a:solidFill>
                  <a:srgbClr val="C00000"/>
                </a:solidFill>
              </a:rPr>
              <a:t>puts an upper limit on the load received by a node</a:t>
            </a:r>
            <a:r>
              <a:rPr lang="en-US" sz="2400" dirty="0" smtClean="0"/>
              <a:t> on the hash ring, </a:t>
            </a:r>
            <a:r>
              <a:rPr lang="en-US" sz="2400" u="sng" dirty="0" smtClean="0"/>
              <a:t>relative to the average load</a:t>
            </a:r>
            <a:r>
              <a:rPr lang="en-US" sz="2400" dirty="0" smtClean="0"/>
              <a:t> of the whole hash ring.</a:t>
            </a:r>
          </a:p>
          <a:p>
            <a:r>
              <a:rPr lang="en-US" sz="2400" dirty="0" smtClean="0"/>
              <a:t>If a node is overloaded, the incoming request is </a:t>
            </a:r>
            <a:r>
              <a:rPr lang="en-US" sz="2400" i="1" dirty="0" smtClean="0">
                <a:solidFill>
                  <a:srgbClr val="C00000"/>
                </a:solidFill>
              </a:rPr>
              <a:t>delegated to a fallback node</a:t>
            </a:r>
            <a:r>
              <a:rPr lang="en-US" sz="2400" dirty="0" smtClean="0"/>
              <a:t>. (</a:t>
            </a:r>
            <a:r>
              <a:rPr lang="en-US" sz="2400" dirty="0" smtClean="0"/>
              <a:t>Move clockwise until a server with available capacity is found.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Bounded-load Consistent </a:t>
            </a:r>
            <a:r>
              <a:rPr lang="en-US" dirty="0" smtClean="0"/>
              <a:t>Hashing Drawbacks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When the hash distribution is already balanced </a:t>
            </a:r>
            <a:r>
              <a:rPr lang="en-US" sz="2600" dirty="0" smtClean="0"/>
              <a:t>bounded-load </a:t>
            </a:r>
            <a:r>
              <a:rPr lang="en-US" sz="2600" dirty="0" smtClean="0"/>
              <a:t>hashing adds </a:t>
            </a:r>
            <a:r>
              <a:rPr lang="en-US" sz="2600" i="1" dirty="0" smtClean="0">
                <a:solidFill>
                  <a:srgbClr val="C00000"/>
                </a:solidFill>
              </a:rPr>
              <a:t>extra probing and complexity without significant benefit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When servers join or leave, bounded-load hashing may trigger </a:t>
            </a:r>
            <a:r>
              <a:rPr lang="en-US" sz="2600" i="1" dirty="0" smtClean="0">
                <a:solidFill>
                  <a:srgbClr val="C00000"/>
                </a:solidFill>
              </a:rPr>
              <a:t>extra key movements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The algorithm assumes load measured as </a:t>
            </a:r>
            <a:r>
              <a:rPr lang="en-US" sz="2600" i="1" dirty="0" smtClean="0">
                <a:solidFill>
                  <a:srgbClr val="C00000"/>
                </a:solidFill>
              </a:rPr>
              <a:t>number of </a:t>
            </a:r>
            <a:r>
              <a:rPr lang="en-US" sz="2600" i="1" dirty="0" smtClean="0">
                <a:solidFill>
                  <a:srgbClr val="C00000"/>
                </a:solidFill>
              </a:rPr>
              <a:t>keys</a:t>
            </a:r>
            <a:r>
              <a:rPr lang="en-US" sz="2600" dirty="0" smtClean="0"/>
              <a:t>. If </a:t>
            </a:r>
            <a:r>
              <a:rPr lang="en-US" sz="2600" dirty="0" smtClean="0"/>
              <a:t>keys differ greatly in size or resource usage, the bound may not reflect actual load unless the system tracks </a:t>
            </a:r>
            <a:r>
              <a:rPr lang="en-US" sz="2600" i="1" dirty="0" smtClean="0">
                <a:solidFill>
                  <a:srgbClr val="C00000"/>
                </a:solidFill>
              </a:rPr>
              <a:t>weighted </a:t>
            </a:r>
            <a:r>
              <a:rPr lang="en-US" sz="2600" i="1" smtClean="0">
                <a:solidFill>
                  <a:srgbClr val="C00000"/>
                </a:solidFill>
              </a:rPr>
              <a:t>capacity</a:t>
            </a:r>
            <a:r>
              <a:rPr lang="en-US" sz="2600" smtClean="0"/>
              <a:t>.</a:t>
            </a:r>
            <a:endParaRPr lang="en-US" sz="2600" dirty="0" smtClean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 of "Hot Spots"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Let's say you have P web-pages distributed on a server in C' (the set of all servers).</a:t>
            </a:r>
          </a:p>
          <a:p>
            <a:r>
              <a:rPr lang="en-US" sz="2400" dirty="0" smtClean="0"/>
              <a:t>Each page p in P maps to a server c in C'. In other words, you use this simple allocation scheme to map p to c: </a:t>
            </a:r>
            <a:br>
              <a:rPr lang="en-US" sz="2400" dirty="0" smtClean="0"/>
            </a:br>
            <a:r>
              <a:rPr lang="en-US" sz="2400" dirty="0" smtClean="0"/>
              <a:t>h: P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C'</a:t>
            </a:r>
          </a:p>
          <a:p>
            <a:r>
              <a:rPr lang="en-US" sz="2400" dirty="0" smtClean="0"/>
              <a:t>This works fine if the load across all pages p in P is </a:t>
            </a:r>
            <a:r>
              <a:rPr lang="en-US" sz="2400" i="1" dirty="0" smtClean="0">
                <a:solidFill>
                  <a:srgbClr val="C00000"/>
                </a:solidFill>
              </a:rPr>
              <a:t>uniform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Unfortunately, </a:t>
            </a:r>
            <a:r>
              <a:rPr lang="en-US" sz="2400" u="sng" dirty="0" smtClean="0"/>
              <a:t>on the Internet</a:t>
            </a:r>
            <a:r>
              <a:rPr lang="en-US" sz="2400" dirty="0" smtClean="0"/>
              <a:t> a minority of pages are likely to receive most of the load.</a:t>
            </a:r>
          </a:p>
          <a:p>
            <a:r>
              <a:rPr lang="en-US" sz="2400" dirty="0" smtClean="0"/>
              <a:t>Which mean that with the above allocation of direct page-to-server, </a:t>
            </a:r>
            <a:r>
              <a:rPr lang="en-US" sz="2400" i="1" dirty="0" smtClean="0">
                <a:solidFill>
                  <a:srgbClr val="C00000"/>
                </a:solidFill>
              </a:rPr>
              <a:t>most servers will sit idle while a few servers will be overloaded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idea behind random trees is to </a:t>
            </a:r>
            <a:r>
              <a:rPr lang="en-US" i="1" dirty="0" smtClean="0">
                <a:solidFill>
                  <a:srgbClr val="C00000"/>
                </a:solidFill>
              </a:rPr>
              <a:t>avoid 'hot-spotting'</a:t>
            </a:r>
            <a:r>
              <a:rPr lang="en-US" dirty="0" smtClean="0"/>
              <a:t> by</a:t>
            </a:r>
          </a:p>
          <a:p>
            <a:pPr lvl="1"/>
            <a:r>
              <a:rPr lang="en-US" sz="2400" dirty="0" smtClean="0"/>
              <a:t>(</a:t>
            </a:r>
            <a:r>
              <a:rPr lang="en-US" sz="2400" dirty="0" err="1" smtClean="0"/>
              <a:t>i</a:t>
            </a:r>
            <a:r>
              <a:rPr lang="en-US" sz="2400" dirty="0" smtClean="0"/>
              <a:t>) assigning </a:t>
            </a:r>
            <a:r>
              <a:rPr lang="en-US" sz="2400" u="sng" dirty="0" smtClean="0"/>
              <a:t>an abstract d-</a:t>
            </a:r>
            <a:r>
              <a:rPr lang="en-US" sz="2400" u="sng" dirty="0" err="1" smtClean="0"/>
              <a:t>ary</a:t>
            </a:r>
            <a:r>
              <a:rPr lang="en-US" sz="2400" u="sng" dirty="0" smtClean="0"/>
              <a:t> tree</a:t>
            </a:r>
            <a:r>
              <a:rPr lang="en-US" sz="2400" dirty="0" smtClean="0"/>
              <a:t> for </a:t>
            </a:r>
            <a:r>
              <a:rPr lang="en-US" sz="2400" i="1" dirty="0" smtClean="0">
                <a:solidFill>
                  <a:srgbClr val="C00000"/>
                </a:solidFill>
              </a:rPr>
              <a:t>each page</a:t>
            </a:r>
            <a:r>
              <a:rPr lang="en-US" sz="2400" dirty="0" smtClean="0"/>
              <a:t> with an owner root and </a:t>
            </a:r>
          </a:p>
          <a:p>
            <a:pPr lvl="1"/>
            <a:r>
              <a:rPr lang="en-US" sz="2400" dirty="0" smtClean="0"/>
              <a:t>(ii) picking a </a:t>
            </a:r>
            <a:r>
              <a:rPr lang="en-US" sz="2400" i="1" dirty="0" smtClean="0">
                <a:solidFill>
                  <a:srgbClr val="C00000"/>
                </a:solidFill>
              </a:rPr>
              <a:t>random leaf-to-root path</a:t>
            </a:r>
            <a:r>
              <a:rPr lang="en-US" sz="2400" dirty="0" smtClean="0"/>
              <a:t> in that tree for every client-side request.</a:t>
            </a:r>
          </a:p>
          <a:p>
            <a:r>
              <a:rPr lang="en-US" dirty="0" smtClean="0"/>
              <a:t>See the next Slides for the details.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Associating Page with Server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Each page</a:t>
            </a:r>
            <a:r>
              <a:rPr lang="en-US" sz="2400" dirty="0" smtClean="0"/>
              <a:t> p in P has is associated with </a:t>
            </a:r>
            <a:r>
              <a:rPr lang="en-US" sz="2400" u="sng" dirty="0" smtClean="0"/>
              <a:t>a tree</a:t>
            </a:r>
            <a:r>
              <a:rPr lang="en-US" sz="2400" dirty="0" smtClean="0"/>
              <a:t> (can be </a:t>
            </a:r>
            <a:r>
              <a:rPr lang="en-US" sz="2400" u="sng" dirty="0" smtClean="0"/>
              <a:t>generated</a:t>
            </a:r>
            <a:r>
              <a:rPr lang="en-US" sz="2400" dirty="0" smtClean="0"/>
              <a:t> by a predictable </a:t>
            </a:r>
            <a:r>
              <a:rPr lang="en-US" sz="2400" u="sng" dirty="0" smtClean="0"/>
              <a:t>random function seeded by the page name</a:t>
            </a:r>
            <a:r>
              <a:rPr lang="en-US" sz="2400" dirty="0" smtClean="0"/>
              <a:t>).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The node "root" owns the web-page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For example, a web-page is associated with the following server tree (all nodes being servers):</a:t>
            </a:r>
          </a:p>
          <a:p>
            <a:r>
              <a:rPr lang="pt-BR" sz="2400" dirty="0" smtClean="0"/>
              <a:t>root		(the page)</a:t>
            </a:r>
          </a:p>
          <a:p>
            <a:pPr>
              <a:buNone/>
            </a:pPr>
            <a:r>
              <a:rPr lang="pt-BR" sz="2400" dirty="0" smtClean="0"/>
              <a:t>	/  \ </a:t>
            </a:r>
          </a:p>
          <a:p>
            <a:pPr>
              <a:buNone/>
            </a:pPr>
            <a:r>
              <a:rPr lang="pt-BR" sz="2400" dirty="0" smtClean="0"/>
              <a:t>	a   b		(nodes)</a:t>
            </a:r>
          </a:p>
          <a:p>
            <a:pPr>
              <a:buNone/>
            </a:pPr>
            <a:r>
              <a:rPr lang="pt-BR" sz="2400" dirty="0" smtClean="0"/>
              <a:t>	/ \  / \ </a:t>
            </a:r>
          </a:p>
          <a:p>
            <a:pPr>
              <a:buNone/>
            </a:pPr>
            <a:r>
              <a:rPr lang="pt-BR" sz="2400" dirty="0" smtClean="0"/>
              <a:t>	c d e  f	(leaf nodes)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Selecting a Node for a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200" dirty="0" smtClean="0"/>
              <a:t>root		(the page) </a:t>
            </a:r>
          </a:p>
          <a:p>
            <a:pPr>
              <a:buNone/>
            </a:pPr>
            <a:r>
              <a:rPr lang="pt-BR" sz="2200" dirty="0" smtClean="0"/>
              <a:t>	/  \ </a:t>
            </a:r>
          </a:p>
          <a:p>
            <a:pPr>
              <a:buNone/>
            </a:pPr>
            <a:r>
              <a:rPr lang="pt-BR" sz="2200" dirty="0" smtClean="0"/>
              <a:t>	a   b		(nodes)</a:t>
            </a:r>
          </a:p>
          <a:p>
            <a:pPr>
              <a:buNone/>
            </a:pPr>
            <a:r>
              <a:rPr lang="pt-BR" sz="2200" dirty="0" smtClean="0"/>
              <a:t>	/ \  / \ </a:t>
            </a:r>
          </a:p>
          <a:p>
            <a:pPr>
              <a:buNone/>
            </a:pPr>
            <a:r>
              <a:rPr lang="pt-BR" sz="2200" dirty="0" smtClean="0"/>
              <a:t>	c d e  f	(leaf nodes)</a:t>
            </a:r>
          </a:p>
          <a:p>
            <a:r>
              <a:rPr lang="en-US" sz="2200" dirty="0" smtClean="0"/>
              <a:t>If a client wants the web-page, it issues a request to </a:t>
            </a:r>
            <a:r>
              <a:rPr lang="en-US" sz="2200" i="1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random leaf node of the tree</a:t>
            </a:r>
            <a:r>
              <a:rPr lang="en-US" sz="2200" dirty="0" smtClean="0"/>
              <a:t>; i.e. it picks a random node in set [c, d, e, f].</a:t>
            </a:r>
          </a:p>
          <a:p>
            <a:r>
              <a:rPr lang="en-US" sz="2200" dirty="0" smtClean="0"/>
              <a:t>If that node does not have the page, it forwards the request to its parent, all the way to root.</a:t>
            </a:r>
          </a:p>
          <a:p>
            <a:r>
              <a:rPr lang="en-US" sz="2200" dirty="0" smtClean="0"/>
              <a:t>Since root owns the page, you are guaranteed to </a:t>
            </a:r>
            <a:r>
              <a:rPr lang="en-US" sz="2200" i="1" dirty="0" smtClean="0">
                <a:solidFill>
                  <a:srgbClr val="C00000"/>
                </a:solidFill>
              </a:rPr>
              <a:t>eventually</a:t>
            </a:r>
            <a:r>
              <a:rPr lang="en-US" sz="2200" dirty="0" smtClean="0"/>
              <a:t> hit a server that owns the page.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Caching a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200" dirty="0" smtClean="0"/>
              <a:t>root		(the page)</a:t>
            </a:r>
          </a:p>
          <a:p>
            <a:pPr>
              <a:buNone/>
            </a:pPr>
            <a:r>
              <a:rPr lang="pt-BR" sz="2200" dirty="0" smtClean="0"/>
              <a:t>	/  \ </a:t>
            </a:r>
          </a:p>
          <a:p>
            <a:pPr>
              <a:buNone/>
            </a:pPr>
            <a:r>
              <a:rPr lang="pt-BR" sz="2200" dirty="0" smtClean="0"/>
              <a:t>	a   b 		(nodes)</a:t>
            </a:r>
          </a:p>
          <a:p>
            <a:pPr>
              <a:buNone/>
            </a:pPr>
            <a:r>
              <a:rPr lang="pt-BR" sz="2200" dirty="0" smtClean="0"/>
              <a:t>	/ \  / \ </a:t>
            </a:r>
          </a:p>
          <a:p>
            <a:pPr>
              <a:buNone/>
            </a:pPr>
            <a:r>
              <a:rPr lang="pt-BR" sz="2200" dirty="0" smtClean="0"/>
              <a:t>	c d e  f	(leaf nodes)</a:t>
            </a:r>
          </a:p>
          <a:p>
            <a:r>
              <a:rPr lang="en-US" sz="2600" dirty="0" smtClean="0"/>
              <a:t>Every-time a node receives a request for a page, it </a:t>
            </a:r>
            <a:r>
              <a:rPr lang="en-US" sz="2600" i="1" dirty="0" smtClean="0">
                <a:solidFill>
                  <a:srgbClr val="C00000"/>
                </a:solidFill>
              </a:rPr>
              <a:t>increments a counter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If that counter reaches a high-enough number, then that node </a:t>
            </a:r>
            <a:r>
              <a:rPr lang="en-US" sz="2600" i="1" dirty="0" smtClean="0">
                <a:solidFill>
                  <a:srgbClr val="C00000"/>
                </a:solidFill>
              </a:rPr>
              <a:t>caches the page p</a:t>
            </a:r>
            <a:r>
              <a:rPr lang="en-US" sz="2600" dirty="0" smtClean="0"/>
              <a:t>.</a:t>
            </a:r>
            <a:endParaRPr lang="en-US" sz="2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for the Hot-spot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 smtClean="0"/>
              <a:t>root </a:t>
            </a:r>
          </a:p>
          <a:p>
            <a:pPr>
              <a:buNone/>
            </a:pPr>
            <a:r>
              <a:rPr lang="pt-BR" sz="2000" dirty="0" smtClean="0"/>
              <a:t>	/  \ </a:t>
            </a:r>
          </a:p>
          <a:p>
            <a:pPr>
              <a:buNone/>
            </a:pPr>
            <a:r>
              <a:rPr lang="pt-BR" sz="2000" dirty="0" smtClean="0"/>
              <a:t>	a   b </a:t>
            </a:r>
          </a:p>
          <a:p>
            <a:pPr>
              <a:buNone/>
            </a:pPr>
            <a:r>
              <a:rPr lang="pt-BR" sz="2000" dirty="0" smtClean="0"/>
              <a:t>	/ \  / \ </a:t>
            </a:r>
          </a:p>
          <a:p>
            <a:pPr>
              <a:buNone/>
            </a:pPr>
            <a:r>
              <a:rPr lang="pt-BR" sz="2000" dirty="0" smtClean="0"/>
              <a:t>	c d e  f</a:t>
            </a:r>
          </a:p>
          <a:p>
            <a:r>
              <a:rPr lang="en-US" sz="2000" dirty="0" smtClean="0"/>
              <a:t>This relieves the hot-spot problem since </a:t>
            </a:r>
            <a:r>
              <a:rPr lang="en-US" sz="2000" i="1" dirty="0" smtClean="0">
                <a:solidFill>
                  <a:srgbClr val="C00000"/>
                </a:solidFill>
              </a:rPr>
              <a:t>a page with low load will only be owned by root and serviced by root</a:t>
            </a:r>
            <a:r>
              <a:rPr lang="en-US" sz="2000" dirty="0" smtClean="0"/>
              <a:t>. If the load increases, [root, a, b] will start serving that page.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If it increases even more, [root, a, b, c, d, e, f] will start serving that page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Since </a:t>
            </a:r>
            <a:r>
              <a:rPr lang="en-US" sz="2000" u="sng" dirty="0" smtClean="0"/>
              <a:t>every page has a different random tree</a:t>
            </a:r>
            <a:r>
              <a:rPr lang="en-US" sz="2000" dirty="0" smtClean="0"/>
              <a:t>, </a:t>
            </a:r>
            <a:r>
              <a:rPr lang="en-US" sz="2000" i="1" dirty="0" smtClean="0">
                <a:solidFill>
                  <a:srgbClr val="C00000"/>
                </a:solidFill>
              </a:rPr>
              <a:t>the load is evenly distributed on all leaf servers</a:t>
            </a:r>
            <a:r>
              <a:rPr lang="en-US" sz="2000" dirty="0" smtClean="0"/>
              <a:t> (some root servers might have higher load, but this is greatly mitigated by the exponential number of nodes downwards that start serving the page as the load increases).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Random Trees with Consistent Hashing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The seminal academic work "Consistent Hashing and Random Trees: Distributed Caching Protocols for Relieving Hot Spots on the World Wide Web" introduced </a:t>
            </a:r>
            <a:r>
              <a:rPr lang="en-US" sz="2600" i="1" dirty="0" smtClean="0">
                <a:solidFill>
                  <a:srgbClr val="C00000"/>
                </a:solidFill>
              </a:rPr>
              <a:t>a protocol combining consistent hashing with a random tree structure</a:t>
            </a:r>
            <a:r>
              <a:rPr lang="en-US" sz="2600" dirty="0" smtClean="0"/>
              <a:t> to </a:t>
            </a:r>
            <a:r>
              <a:rPr lang="en-US" sz="2600" u="sng" dirty="0" smtClean="0"/>
              <a:t>build scalable distributed caching protocols</a:t>
            </a:r>
            <a:r>
              <a:rPr lang="en-US" sz="2600" dirty="0" smtClean="0"/>
              <a:t> in the late 1990s.</a:t>
            </a:r>
          </a:p>
          <a:p>
            <a:r>
              <a:rPr lang="en-US" sz="2600" dirty="0" smtClean="0"/>
              <a:t>A </a:t>
            </a:r>
            <a:r>
              <a:rPr lang="en-US" sz="2600" i="1" dirty="0" smtClean="0">
                <a:solidFill>
                  <a:srgbClr val="C00000"/>
                </a:solidFill>
              </a:rPr>
              <a:t>random tree</a:t>
            </a:r>
            <a:r>
              <a:rPr lang="en-US" sz="2600" dirty="0" smtClean="0"/>
              <a:t> was essentially used as </a:t>
            </a:r>
            <a:r>
              <a:rPr lang="en-US" sz="2600" u="sng" dirty="0" smtClean="0"/>
              <a:t>a structural model for cache hierarchy</a:t>
            </a:r>
            <a:r>
              <a:rPr lang="en-US" sz="2600" dirty="0" smtClean="0"/>
              <a:t> and </a:t>
            </a:r>
            <a:r>
              <a:rPr lang="en-US" sz="2600" u="sng" dirty="0" smtClean="0"/>
              <a:t>routing queries through cache layers</a:t>
            </a:r>
            <a:r>
              <a:rPr lang="en-US" sz="2600" dirty="0" smtClean="0"/>
              <a:t> in a way that </a:t>
            </a:r>
            <a:r>
              <a:rPr lang="en-US" sz="2600" u="sng" dirty="0" smtClean="0"/>
              <a:t>mitigated hot spots</a:t>
            </a:r>
            <a:r>
              <a:rPr lang="en-US" sz="2600" dirty="0" smtClean="0"/>
              <a:t> on the web.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Random Trees with Consistent Hashing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Consistent hashing is used to </a:t>
            </a:r>
            <a:r>
              <a:rPr lang="en-US" sz="2600" i="1" dirty="0" smtClean="0">
                <a:solidFill>
                  <a:srgbClr val="C00000"/>
                </a:solidFill>
              </a:rPr>
              <a:t>determine the root cache</a:t>
            </a:r>
            <a:r>
              <a:rPr lang="en-US" sz="2600" dirty="0" smtClean="0"/>
              <a:t> for each page (object).</a:t>
            </a:r>
          </a:p>
          <a:p>
            <a:r>
              <a:rPr lang="en-US" sz="2600" dirty="0" smtClean="0"/>
              <a:t>Each page p is hashed: h(p) → root cache server.</a:t>
            </a:r>
          </a:p>
          <a:p>
            <a:r>
              <a:rPr lang="en-US" sz="2600" dirty="0" smtClean="0"/>
              <a:t>The original random tree approach for hierarchical caching does </a:t>
            </a:r>
            <a:r>
              <a:rPr lang="en-US" sz="2600" i="1" dirty="0" smtClean="0">
                <a:solidFill>
                  <a:srgbClr val="C00000"/>
                </a:solidFill>
              </a:rPr>
              <a:t>not</a:t>
            </a:r>
            <a:r>
              <a:rPr lang="en-US" sz="2600" dirty="0" smtClean="0"/>
              <a:t> appear to be a standard component of mainstream cache designs in academic or practical systems literature today.</a:t>
            </a:r>
            <a:endParaRPr lang="en-US" sz="2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Jump Consistent </a:t>
            </a:r>
            <a:r>
              <a:rPr lang="en-US" sz="2400" dirty="0" smtClean="0"/>
              <a:t>Hash: </a:t>
            </a:r>
            <a:r>
              <a:rPr lang="en-US" sz="2400" dirty="0" smtClean="0"/>
              <a:t>John </a:t>
            </a:r>
            <a:r>
              <a:rPr lang="en-US" sz="2400" dirty="0" smtClean="0"/>
              <a:t>Lamping and Eric </a:t>
            </a:r>
            <a:r>
              <a:rPr lang="en-US" sz="2400" dirty="0" err="1" smtClean="0"/>
              <a:t>Veach</a:t>
            </a:r>
            <a:r>
              <a:rPr lang="en-US" sz="2400" dirty="0" smtClean="0"/>
              <a:t> (2014). A Fast, Minimal Memory, Consistent Hash Algorithm.</a:t>
            </a:r>
          </a:p>
          <a:p>
            <a:r>
              <a:rPr lang="en-US" sz="2400" dirty="0" smtClean="0">
                <a:hlinkClick r:id="rId2"/>
              </a:rPr>
              <a:t>https</a:t>
            </a:r>
            <a:r>
              <a:rPr lang="en-US" sz="2400" dirty="0" smtClean="0">
                <a:hlinkClick r:id="rId2"/>
              </a:rPr>
              <a:t>://dgryski.medium.com/consistent-hashing-algorithmic-tradeoffs-ef6b8e2fcae8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13969</TotalTime>
  <Words>1832</Words>
  <Application>Microsoft Office PowerPoint</Application>
  <PresentationFormat>On-screen Show (4:3)</PresentationFormat>
  <Paragraphs>311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Sharding</vt:lpstr>
      <vt:lpstr>Objectives</vt:lpstr>
      <vt:lpstr>Contents</vt:lpstr>
      <vt:lpstr>References</vt:lpstr>
      <vt:lpstr>Why Sharding?</vt:lpstr>
      <vt:lpstr>Storing Images on One Server</vt:lpstr>
      <vt:lpstr>Example</vt:lpstr>
      <vt:lpstr>Storing Images on Three Servers</vt:lpstr>
      <vt:lpstr>Example Data</vt:lpstr>
      <vt:lpstr>How to Retrieve the File for URL?</vt:lpstr>
      <vt:lpstr>Mapping Table is too Large?</vt:lpstr>
      <vt:lpstr>Server 2 is Full</vt:lpstr>
      <vt:lpstr>Slide 13</vt:lpstr>
      <vt:lpstr>Consistent Hashing</vt:lpstr>
      <vt:lpstr>Hash Functions</vt:lpstr>
      <vt:lpstr>Positioning the Nodes on the Hash Ring</vt:lpstr>
      <vt:lpstr>Finding Location for Server</vt:lpstr>
      <vt:lpstr>Storing a Key</vt:lpstr>
      <vt:lpstr>Finding Location for a Key</vt:lpstr>
      <vt:lpstr>BST vs. Sorted Array + BS</vt:lpstr>
      <vt:lpstr>Slide 21</vt:lpstr>
      <vt:lpstr>Adding a New Node</vt:lpstr>
      <vt:lpstr>How to Update the Membership?</vt:lpstr>
      <vt:lpstr>Removing a Node</vt:lpstr>
      <vt:lpstr>Preparing for Node Failure</vt:lpstr>
      <vt:lpstr>How to Recover from Permanent Failures?</vt:lpstr>
      <vt:lpstr>Merkle Tree with an Odd Number of Leaves</vt:lpstr>
      <vt:lpstr>Alternative Method</vt:lpstr>
      <vt:lpstr>Unbalanced Data Distribution</vt:lpstr>
      <vt:lpstr>Virtual Nodes</vt:lpstr>
      <vt:lpstr>Consistent Hashing Advantages</vt:lpstr>
      <vt:lpstr>Consistent Hashing Disadvantages</vt:lpstr>
      <vt:lpstr>Applicability</vt:lpstr>
      <vt:lpstr>Slide 34</vt:lpstr>
      <vt:lpstr>Multi-probe Consistent Hashing [2]</vt:lpstr>
      <vt:lpstr>Bounded-load Consistent Hashing [3]</vt:lpstr>
      <vt:lpstr>Bounded-load Consistent Hashing Drawbacks</vt:lpstr>
      <vt:lpstr>Slide 38</vt:lpstr>
      <vt:lpstr>The Problem of "Hot Spots" [1]</vt:lpstr>
      <vt:lpstr>Random Trees</vt:lpstr>
      <vt:lpstr>Associating Page with Server Tree</vt:lpstr>
      <vt:lpstr>Selecting a Node for a Page</vt:lpstr>
      <vt:lpstr>Caching a Page</vt:lpstr>
      <vt:lpstr>Solution for the Hot-spot Problem</vt:lpstr>
      <vt:lpstr>Combining Random Trees with Consistent Hashing (I)</vt:lpstr>
      <vt:lpstr>Combining Random Trees with Consistent Hashing (II)</vt:lpstr>
      <vt:lpstr>Slide 47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6734</cp:revision>
  <dcterms:created xsi:type="dcterms:W3CDTF">2007-10-06T08:25:13Z</dcterms:created>
  <dcterms:modified xsi:type="dcterms:W3CDTF">2026-03-15T19:27:48Z</dcterms:modified>
</cp:coreProperties>
</file>