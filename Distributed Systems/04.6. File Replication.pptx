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sldIdLst>
    <p:sldId id="561" r:id="rId2"/>
    <p:sldId id="517" r:id="rId3"/>
    <p:sldId id="651" r:id="rId4"/>
    <p:sldId id="652" r:id="rId5"/>
    <p:sldId id="653" r:id="rId6"/>
    <p:sldId id="654" r:id="rId7"/>
    <p:sldId id="655" r:id="rId8"/>
    <p:sldId id="658" r:id="rId9"/>
    <p:sldId id="659" r:id="rId10"/>
    <p:sldId id="660" r:id="rId11"/>
    <p:sldId id="669" r:id="rId12"/>
    <p:sldId id="664" r:id="rId13"/>
    <p:sldId id="665" r:id="rId14"/>
    <p:sldId id="666" r:id="rId15"/>
    <p:sldId id="667" r:id="rId16"/>
    <p:sldId id="670" r:id="rId17"/>
    <p:sldId id="671" r:id="rId18"/>
    <p:sldId id="668" r:id="rId19"/>
    <p:sldId id="516"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29" autoAdjust="0"/>
    <p:restoredTop sz="94667" autoAdjust="0"/>
  </p:normalViewPr>
  <p:slideViewPr>
    <p:cSldViewPr>
      <p:cViewPr>
        <p:scale>
          <a:sx n="50" d="100"/>
          <a:sy n="50" d="100"/>
        </p:scale>
        <p:origin x="-153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2/27/2026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2/27/2026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2/27/2026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2/27/2026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File Replication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638800" cy="4800600"/>
          </a:xfrm>
        </p:spPr>
        <p:txBody>
          <a:bodyPr/>
          <a:lstStyle/>
          <a:p>
            <a:pPr>
              <a:buFont typeface="+mj-lt"/>
              <a:buAutoNum type="arabicPeriod"/>
            </a:pPr>
            <a:r>
              <a:rPr lang="en-US" sz="2400" dirty="0" err="1" smtClean="0"/>
              <a:t>Ludmila</a:t>
            </a:r>
            <a:r>
              <a:rPr lang="en-US" sz="2400" dirty="0" smtClean="0"/>
              <a:t> </a:t>
            </a:r>
            <a:r>
              <a:rPr lang="en-US" sz="2400" dirty="0" err="1" smtClean="0"/>
              <a:t>Cherkasova</a:t>
            </a:r>
            <a:r>
              <a:rPr lang="en-US" sz="2400" dirty="0" smtClean="0"/>
              <a:t> and </a:t>
            </a:r>
            <a:r>
              <a:rPr lang="en-US" sz="2400" dirty="0" err="1" smtClean="0"/>
              <a:t>Jangwon</a:t>
            </a:r>
            <a:r>
              <a:rPr lang="en-US" sz="2400" dirty="0" smtClean="0"/>
              <a:t> Lee (2003). </a:t>
            </a:r>
            <a:r>
              <a:rPr lang="en-US" sz="2400" dirty="0" err="1" smtClean="0"/>
              <a:t>FastReplica</a:t>
            </a:r>
            <a:r>
              <a:rPr lang="en-US" sz="2400" dirty="0" smtClean="0"/>
              <a:t> - Efficient Large File Distribution Within Content Delivery Networks.</a:t>
            </a:r>
          </a:p>
          <a:p>
            <a:pPr>
              <a:buFont typeface="+mj-lt"/>
              <a:buAutoNum type="arabicPeriod"/>
            </a:pPr>
            <a:r>
              <a:rPr lang="en-US" sz="2400" dirty="0" err="1" smtClean="0"/>
              <a:t>KyoungSoo</a:t>
            </a:r>
            <a:r>
              <a:rPr lang="en-US" sz="2400" dirty="0" smtClean="0"/>
              <a:t> Park and </a:t>
            </a:r>
            <a:r>
              <a:rPr lang="en-US" sz="2400" dirty="0" err="1" smtClean="0"/>
              <a:t>Vivek</a:t>
            </a:r>
            <a:r>
              <a:rPr lang="en-US" sz="2400" dirty="0" smtClean="0"/>
              <a:t> S. </a:t>
            </a:r>
            <a:r>
              <a:rPr lang="en-US" sz="2400" dirty="0" err="1" smtClean="0"/>
              <a:t>Pai</a:t>
            </a:r>
            <a:r>
              <a:rPr lang="en-US" sz="2400" dirty="0" smtClean="0"/>
              <a:t> (2004). Deploying Large File Transfer on an HTTP Content Distribution Network.</a:t>
            </a:r>
          </a:p>
          <a:p>
            <a:pPr>
              <a:buFont typeface="+mj-lt"/>
              <a:buAutoNum type="arabicPeriod"/>
            </a:pPr>
            <a:r>
              <a:rPr lang="en-US" sz="2400" dirty="0" err="1" smtClean="0"/>
              <a:t>KyoungSoo</a:t>
            </a:r>
            <a:r>
              <a:rPr lang="en-US" sz="2400" dirty="0" smtClean="0"/>
              <a:t> Park and </a:t>
            </a:r>
            <a:r>
              <a:rPr lang="en-US" sz="2400" dirty="0" err="1" smtClean="0"/>
              <a:t>Vivek</a:t>
            </a:r>
            <a:r>
              <a:rPr lang="en-US" sz="2400" dirty="0" smtClean="0"/>
              <a:t> S. </a:t>
            </a:r>
            <a:r>
              <a:rPr lang="en-US" sz="2400" dirty="0" err="1" smtClean="0"/>
              <a:t>Pai</a:t>
            </a:r>
            <a:r>
              <a:rPr lang="en-US" sz="2400" dirty="0" smtClean="0"/>
              <a:t> (2006). Scale and Performance in the </a:t>
            </a:r>
            <a:r>
              <a:rPr lang="en-US" sz="2400" dirty="0" err="1" smtClean="0"/>
              <a:t>CoBlitz</a:t>
            </a:r>
            <a:r>
              <a:rPr lang="en-US" sz="2400" dirty="0" smtClean="0"/>
              <a:t> Large-File Distribution Service.</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 [1]</a:t>
            </a:r>
            <a:endParaRPr lang="en-US" dirty="0"/>
          </a:p>
        </p:txBody>
      </p:sp>
      <p:sp>
        <p:nvSpPr>
          <p:cNvPr id="3" name="Content Placeholder 2"/>
          <p:cNvSpPr>
            <a:spLocks noGrp="1"/>
          </p:cNvSpPr>
          <p:nvPr>
            <p:ph idx="1"/>
          </p:nvPr>
        </p:nvSpPr>
        <p:spPr/>
        <p:txBody>
          <a:bodyPr/>
          <a:lstStyle/>
          <a:p>
            <a:r>
              <a:rPr lang="en-US" sz="2600" dirty="0" smtClean="0"/>
              <a:t>Let N</a:t>
            </a:r>
            <a:r>
              <a:rPr lang="en-US" sz="2600" baseline="-25000" dirty="0" smtClean="0"/>
              <a:t>0</a:t>
            </a:r>
            <a:r>
              <a:rPr lang="en-US" sz="2600" dirty="0" smtClean="0"/>
              <a:t> be a node which has an original file F and let Size(F) denote the size of file F in bytes.</a:t>
            </a:r>
          </a:p>
          <a:p>
            <a:r>
              <a:rPr lang="en-US" sz="2600" dirty="0" smtClean="0"/>
              <a:t>Let R = {N</a:t>
            </a:r>
            <a:r>
              <a:rPr lang="en-US" sz="2600" baseline="-25000" dirty="0" smtClean="0"/>
              <a:t>1</a:t>
            </a:r>
            <a:r>
              <a:rPr lang="en-US" sz="2600" dirty="0" smtClean="0"/>
              <a:t>, ...,</a:t>
            </a:r>
            <a:r>
              <a:rPr lang="en-US" sz="2600" dirty="0" err="1" smtClean="0"/>
              <a:t>N</a:t>
            </a:r>
            <a:r>
              <a:rPr lang="en-US" sz="2600" baseline="-25000" dirty="0" err="1" smtClean="0"/>
              <a:t>n</a:t>
            </a:r>
            <a:r>
              <a:rPr lang="en-US" sz="2600" dirty="0" smtClean="0"/>
              <a:t>} be a replication set of nodes.</a:t>
            </a:r>
          </a:p>
          <a:p>
            <a:r>
              <a:rPr lang="en-US" sz="2600" dirty="0" smtClean="0"/>
              <a:t>The problem consists in replicating file F across nodes N</a:t>
            </a:r>
            <a:r>
              <a:rPr lang="en-US" sz="2600" baseline="-25000" dirty="0" smtClean="0"/>
              <a:t>1</a:t>
            </a:r>
            <a:r>
              <a:rPr lang="en-US" sz="2600" dirty="0" smtClean="0"/>
              <a:t>, ...., </a:t>
            </a:r>
            <a:r>
              <a:rPr lang="en-US" sz="2600" dirty="0" err="1" smtClean="0"/>
              <a:t>N</a:t>
            </a:r>
            <a:r>
              <a:rPr lang="en-US" sz="2600" baseline="-25000" dirty="0" err="1" smtClean="0"/>
              <a:t>n</a:t>
            </a:r>
            <a:r>
              <a:rPr lang="en-US" sz="2600" dirty="0" smtClean="0"/>
              <a:t> while minimizing the overall replication time.</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FastReplica</a:t>
            </a:r>
            <a:r>
              <a:rPr lang="en-US" dirty="0" smtClean="0"/>
              <a:t> in the Small – </a:t>
            </a:r>
            <a:br>
              <a:rPr lang="en-US" dirty="0" smtClean="0"/>
            </a:br>
            <a:r>
              <a:rPr lang="en-US" dirty="0" smtClean="0"/>
              <a:t>Distribution Step</a:t>
            </a:r>
            <a:endParaRPr lang="en-US" dirty="0"/>
          </a:p>
        </p:txBody>
      </p:sp>
      <p:sp>
        <p:nvSpPr>
          <p:cNvPr id="3" name="Content Placeholder 2"/>
          <p:cNvSpPr>
            <a:spLocks noGrp="1"/>
          </p:cNvSpPr>
          <p:nvPr>
            <p:ph idx="1"/>
          </p:nvPr>
        </p:nvSpPr>
        <p:spPr>
          <a:xfrm>
            <a:off x="457200" y="1600200"/>
            <a:ext cx="3733800" cy="4525963"/>
          </a:xfrm>
        </p:spPr>
        <p:txBody>
          <a:bodyPr/>
          <a:lstStyle/>
          <a:p>
            <a:r>
              <a:rPr lang="en-US" sz="2400" dirty="0" smtClean="0"/>
              <a:t>The originator node N</a:t>
            </a:r>
            <a:r>
              <a:rPr lang="en-US" sz="2400" baseline="-25000" dirty="0" smtClean="0"/>
              <a:t>0</a:t>
            </a:r>
            <a:r>
              <a:rPr lang="en-US" sz="2400" dirty="0" smtClean="0"/>
              <a:t> opens n concurrent network connections to nodes N</a:t>
            </a:r>
            <a:r>
              <a:rPr lang="en-US" sz="2400" baseline="-25000" dirty="0" smtClean="0"/>
              <a:t>1</a:t>
            </a:r>
            <a:r>
              <a:rPr lang="en-US" sz="2400" dirty="0" smtClean="0"/>
              <a:t>, ..., </a:t>
            </a:r>
            <a:r>
              <a:rPr lang="en-US" sz="2400" dirty="0" err="1" smtClean="0"/>
              <a:t>N</a:t>
            </a:r>
            <a:r>
              <a:rPr lang="en-US" sz="2400" baseline="-25000" dirty="0" err="1" smtClean="0"/>
              <a:t>n</a:t>
            </a:r>
            <a:r>
              <a:rPr lang="en-US" sz="2400" dirty="0" smtClean="0"/>
              <a:t>, and sends to each recipient node N</a:t>
            </a:r>
            <a:r>
              <a:rPr lang="en-US" sz="2400" baseline="-25000" dirty="0" smtClean="0"/>
              <a:t>i</a:t>
            </a:r>
            <a:r>
              <a:rPr lang="en-US" sz="2400" dirty="0" smtClean="0"/>
              <a:t> (1 ≤ </a:t>
            </a:r>
            <a:r>
              <a:rPr lang="en-US" sz="2400" dirty="0" err="1" smtClean="0"/>
              <a:t>i</a:t>
            </a:r>
            <a:r>
              <a:rPr lang="en-US" sz="2400" dirty="0" smtClean="0"/>
              <a:t> ≤ n) the following items:</a:t>
            </a:r>
          </a:p>
          <a:p>
            <a:pPr lvl="1"/>
            <a:r>
              <a:rPr lang="en-US" sz="2000" dirty="0" smtClean="0"/>
              <a:t>a distribution list of nodes R = {N</a:t>
            </a:r>
            <a:r>
              <a:rPr lang="en-US" sz="2000" baseline="-25000" dirty="0" smtClean="0"/>
              <a:t>1</a:t>
            </a:r>
            <a:r>
              <a:rPr lang="en-US" sz="2000" dirty="0" smtClean="0"/>
              <a:t>, ...,</a:t>
            </a:r>
            <a:r>
              <a:rPr lang="en-US" sz="2000" dirty="0" err="1" smtClean="0"/>
              <a:t>N</a:t>
            </a:r>
            <a:r>
              <a:rPr lang="en-US" sz="2000" baseline="-25000" dirty="0" err="1" smtClean="0"/>
              <a:t>n</a:t>
            </a:r>
            <a:r>
              <a:rPr lang="en-US" sz="2000" dirty="0" smtClean="0"/>
              <a:t>} to which </a:t>
            </a:r>
            <a:r>
              <a:rPr lang="en-US" sz="2000" dirty="0" err="1" smtClean="0"/>
              <a:t>subfile</a:t>
            </a:r>
            <a:r>
              <a:rPr lang="en-US" sz="2000" dirty="0" smtClean="0"/>
              <a:t> </a:t>
            </a:r>
            <a:r>
              <a:rPr lang="en-US" sz="2000" dirty="0" err="1" smtClean="0"/>
              <a:t>F</a:t>
            </a:r>
            <a:r>
              <a:rPr lang="en-US" sz="2000" baseline="-25000" dirty="0" err="1" smtClean="0"/>
              <a:t>i</a:t>
            </a:r>
            <a:r>
              <a:rPr lang="en-US" sz="2000" dirty="0" smtClean="0"/>
              <a:t> has to be sent on the next step;</a:t>
            </a:r>
          </a:p>
          <a:p>
            <a:pPr lvl="1"/>
            <a:r>
              <a:rPr lang="en-US" sz="2000" dirty="0" err="1" smtClean="0"/>
              <a:t>subfile</a:t>
            </a:r>
            <a:r>
              <a:rPr lang="en-US" sz="2000" dirty="0" smtClean="0"/>
              <a:t> </a:t>
            </a:r>
            <a:r>
              <a:rPr lang="en-US" sz="2000" dirty="0" err="1" smtClean="0"/>
              <a:t>F</a:t>
            </a:r>
            <a:r>
              <a:rPr lang="en-US" sz="2000" baseline="-25000" dirty="0" err="1" smtClean="0"/>
              <a:t>i</a:t>
            </a:r>
            <a:r>
              <a:rPr lang="en-US" sz="2000" dirty="0" smtClean="0"/>
              <a:t>.</a:t>
            </a:r>
            <a:endParaRPr lang="en-US" sz="2000" dirty="0"/>
          </a:p>
        </p:txBody>
      </p:sp>
      <p:pic>
        <p:nvPicPr>
          <p:cNvPr id="1026" name="Picture 2"/>
          <p:cNvPicPr>
            <a:picLocks noChangeAspect="1" noChangeArrowheads="1"/>
          </p:cNvPicPr>
          <p:nvPr/>
        </p:nvPicPr>
        <p:blipFill>
          <a:blip r:embed="rId2" cstate="print"/>
          <a:srcRect/>
          <a:stretch>
            <a:fillRect/>
          </a:stretch>
        </p:blipFill>
        <p:spPr bwMode="auto">
          <a:xfrm>
            <a:off x="4282440" y="1752600"/>
            <a:ext cx="4480560" cy="351282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Collection Step</a:t>
            </a:r>
            <a:endParaRPr lang="en-US" dirty="0"/>
          </a:p>
        </p:txBody>
      </p:sp>
      <p:sp>
        <p:nvSpPr>
          <p:cNvPr id="3" name="Content Placeholder 2"/>
          <p:cNvSpPr>
            <a:spLocks noGrp="1"/>
          </p:cNvSpPr>
          <p:nvPr>
            <p:ph idx="1"/>
          </p:nvPr>
        </p:nvSpPr>
        <p:spPr>
          <a:xfrm>
            <a:off x="457200" y="1600201"/>
            <a:ext cx="4191000" cy="1981200"/>
          </a:xfrm>
        </p:spPr>
        <p:txBody>
          <a:bodyPr/>
          <a:lstStyle/>
          <a:p>
            <a:r>
              <a:rPr lang="en-US" sz="2400" dirty="0" smtClean="0"/>
              <a:t>After receiving file </a:t>
            </a:r>
            <a:r>
              <a:rPr lang="en-US" sz="2400" dirty="0" err="1" smtClean="0"/>
              <a:t>F</a:t>
            </a:r>
            <a:r>
              <a:rPr lang="en-US" sz="2400" baseline="-25000" dirty="0" err="1" smtClean="0"/>
              <a:t>i</a:t>
            </a:r>
            <a:r>
              <a:rPr lang="en-US" sz="2400" dirty="0" smtClean="0"/>
              <a:t>, node Ni opens n−1 concurrent network connections to remaining nodes in the group and send </a:t>
            </a:r>
            <a:r>
              <a:rPr lang="en-US" sz="2400" dirty="0" err="1" smtClean="0"/>
              <a:t>subfile</a:t>
            </a:r>
            <a:r>
              <a:rPr lang="en-US" sz="2400" dirty="0" smtClean="0"/>
              <a:t> </a:t>
            </a:r>
            <a:r>
              <a:rPr lang="en-US" sz="2400" dirty="0" err="1" smtClean="0"/>
              <a:t>F</a:t>
            </a:r>
            <a:r>
              <a:rPr lang="en-US" sz="2400" baseline="-25000" dirty="0" err="1" smtClean="0"/>
              <a:t>i</a:t>
            </a:r>
            <a:r>
              <a:rPr lang="en-US" sz="2400" dirty="0" smtClean="0"/>
              <a:t> to them.</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4876800" y="1524000"/>
            <a:ext cx="3560445" cy="27432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2089785" y="3674745"/>
            <a:ext cx="3549015" cy="272605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FastReplica</a:t>
            </a:r>
            <a:r>
              <a:rPr lang="en-US" dirty="0" smtClean="0"/>
              <a:t> in the Large</a:t>
            </a:r>
            <a:endParaRPr lang="en-US" dirty="0"/>
          </a:p>
        </p:txBody>
      </p:sp>
      <p:sp>
        <p:nvSpPr>
          <p:cNvPr id="3" name="Content Placeholder 2"/>
          <p:cNvSpPr>
            <a:spLocks noGrp="1"/>
          </p:cNvSpPr>
          <p:nvPr>
            <p:ph idx="1"/>
          </p:nvPr>
        </p:nvSpPr>
        <p:spPr>
          <a:xfrm>
            <a:off x="457200" y="1600200"/>
            <a:ext cx="4191000" cy="4525963"/>
          </a:xfrm>
        </p:spPr>
        <p:txBody>
          <a:bodyPr/>
          <a:lstStyle/>
          <a:p>
            <a:r>
              <a:rPr lang="en-US" sz="2400" dirty="0" smtClean="0"/>
              <a:t>partition the original set of nodes into replication groups, each consisting of k nodes</a:t>
            </a:r>
          </a:p>
          <a:p>
            <a:r>
              <a:rPr lang="en-US" sz="2400" dirty="0" smtClean="0"/>
              <a:t>apply </a:t>
            </a:r>
            <a:r>
              <a:rPr lang="en-US" sz="2400" dirty="0" err="1" smtClean="0"/>
              <a:t>FastReplica</a:t>
            </a:r>
            <a:r>
              <a:rPr lang="en-US" sz="2400" dirty="0" smtClean="0"/>
              <a:t> in the small iteratively: first, replicate the original file F to a group of k nodes, and then use these k nodes as the origin nodes with file F to repeat the same procedure to a new groups of nodes, etc.</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4773930" y="2247900"/>
            <a:ext cx="4065270" cy="28575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Reliable </a:t>
            </a:r>
            <a:r>
              <a:rPr lang="en-US" dirty="0" err="1" smtClean="0"/>
              <a:t>FastReplica</a:t>
            </a:r>
            <a:r>
              <a:rPr lang="en-US" dirty="0" smtClean="0"/>
              <a:t> Algorithm</a:t>
            </a:r>
            <a:endParaRPr lang="en-US" dirty="0"/>
          </a:p>
        </p:txBody>
      </p:sp>
      <p:sp>
        <p:nvSpPr>
          <p:cNvPr id="3" name="Content Placeholder 2"/>
          <p:cNvSpPr>
            <a:spLocks noGrp="1"/>
          </p:cNvSpPr>
          <p:nvPr>
            <p:ph idx="1"/>
          </p:nvPr>
        </p:nvSpPr>
        <p:spPr>
          <a:xfrm>
            <a:off x="457200" y="1600200"/>
            <a:ext cx="4191000" cy="4525963"/>
          </a:xfrm>
        </p:spPr>
        <p:txBody>
          <a:bodyPr/>
          <a:lstStyle/>
          <a:p>
            <a:r>
              <a:rPr lang="en-US" sz="2200" dirty="0" smtClean="0"/>
              <a:t>In reliable </a:t>
            </a:r>
            <a:r>
              <a:rPr lang="en-US" sz="2200" dirty="0" err="1" smtClean="0"/>
              <a:t>FastReplica</a:t>
            </a:r>
            <a:r>
              <a:rPr lang="en-US" sz="2200" dirty="0" smtClean="0"/>
              <a:t>, the nodes of each group are exchanging the heartbeat messages with their origin node.</a:t>
            </a:r>
          </a:p>
          <a:p>
            <a:r>
              <a:rPr lang="en-US" sz="2200" dirty="0" smtClean="0"/>
              <a:t>The heartbeat messages from nodes to their origin node are augmented with additional information on the corresponding algorithm step and group (list) of nodes to which the nodes currently perform their transfers.</a:t>
            </a:r>
          </a:p>
        </p:txBody>
      </p:sp>
      <p:pic>
        <p:nvPicPr>
          <p:cNvPr id="4098" name="Picture 2"/>
          <p:cNvPicPr>
            <a:picLocks noChangeAspect="1" noChangeArrowheads="1"/>
          </p:cNvPicPr>
          <p:nvPr/>
        </p:nvPicPr>
        <p:blipFill>
          <a:blip r:embed="rId2" cstate="print"/>
          <a:srcRect/>
          <a:stretch>
            <a:fillRect/>
          </a:stretch>
        </p:blipFill>
        <p:spPr bwMode="auto">
          <a:xfrm>
            <a:off x="4800600" y="2539365"/>
            <a:ext cx="3680460" cy="210883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Repair Procedure (I)</a:t>
            </a:r>
            <a:endParaRPr lang="en-US" dirty="0"/>
          </a:p>
        </p:txBody>
      </p:sp>
      <p:sp>
        <p:nvSpPr>
          <p:cNvPr id="3" name="Content Placeholder 2"/>
          <p:cNvSpPr>
            <a:spLocks noGrp="1"/>
          </p:cNvSpPr>
          <p:nvPr>
            <p:ph idx="1"/>
          </p:nvPr>
        </p:nvSpPr>
        <p:spPr/>
        <p:txBody>
          <a:bodyPr/>
          <a:lstStyle/>
          <a:p>
            <a:r>
              <a:rPr lang="en-US" dirty="0" smtClean="0"/>
              <a:t>Repair procedure for node N</a:t>
            </a:r>
            <a:r>
              <a:rPr lang="en-US" baseline="-25000" dirty="0" smtClean="0"/>
              <a:t>i</a:t>
            </a:r>
            <a:r>
              <a:rPr lang="en-US" dirty="0" smtClean="0"/>
              <a:t> failed during </a:t>
            </a:r>
            <a:r>
              <a:rPr lang="en-US" i="1" dirty="0" smtClean="0">
                <a:solidFill>
                  <a:srgbClr val="C00000"/>
                </a:solidFill>
              </a:rPr>
              <a:t>distribution step</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438400" y="2895600"/>
            <a:ext cx="4107180" cy="330708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Repair Procedure (II)</a:t>
            </a:r>
            <a:endParaRPr lang="en-US" dirty="0"/>
          </a:p>
        </p:txBody>
      </p:sp>
      <p:sp>
        <p:nvSpPr>
          <p:cNvPr id="3" name="Content Placeholder 2"/>
          <p:cNvSpPr>
            <a:spLocks noGrp="1"/>
          </p:cNvSpPr>
          <p:nvPr>
            <p:ph idx="1"/>
          </p:nvPr>
        </p:nvSpPr>
        <p:spPr>
          <a:xfrm>
            <a:off x="457200" y="1600200"/>
            <a:ext cx="4191000" cy="4525963"/>
          </a:xfrm>
        </p:spPr>
        <p:txBody>
          <a:bodyPr/>
          <a:lstStyle/>
          <a:p>
            <a:r>
              <a:rPr lang="en-US" sz="2400" dirty="0" smtClean="0"/>
              <a:t>If node N</a:t>
            </a:r>
            <a:r>
              <a:rPr lang="en-US" sz="2400" baseline="-25000" dirty="0" smtClean="0"/>
              <a:t>i</a:t>
            </a:r>
            <a:r>
              <a:rPr lang="en-US" sz="2400" dirty="0" smtClean="0"/>
              <a:t> fails while acting as a recipient node in replication set G’ during the </a:t>
            </a:r>
            <a:r>
              <a:rPr lang="en-US" sz="2400" i="1" dirty="0" smtClean="0">
                <a:solidFill>
                  <a:srgbClr val="C00000"/>
                </a:solidFill>
              </a:rPr>
              <a:t>collection step</a:t>
            </a:r>
            <a:r>
              <a:rPr lang="en-US" sz="2400" dirty="0" smtClean="0"/>
              <a:t> then using the heartbeat messages, the failure of node N</a:t>
            </a:r>
            <a:r>
              <a:rPr lang="en-US" sz="2400" baseline="-25000" dirty="0" smtClean="0"/>
              <a:t>i</a:t>
            </a:r>
            <a:r>
              <a:rPr lang="en-US" sz="2400" dirty="0" smtClean="0"/>
              <a:t> is detected by node N</a:t>
            </a:r>
            <a:r>
              <a:rPr lang="en-US" sz="2400" baseline="-25000" dirty="0" smtClean="0"/>
              <a:t>0</a:t>
            </a:r>
            <a:r>
              <a:rPr lang="en-US" sz="2400" dirty="0" smtClean="0"/>
              <a:t>. N</a:t>
            </a:r>
            <a:r>
              <a:rPr lang="en-US" sz="2400" baseline="-25000" dirty="0" smtClean="0"/>
              <a:t>0 </a:t>
            </a:r>
            <a:r>
              <a:rPr lang="en-US" sz="2400" dirty="0" smtClean="0"/>
              <a:t>opens connections to the impacted nodes in group G’ to send missing file </a:t>
            </a:r>
            <a:r>
              <a:rPr lang="en-US" sz="2400" dirty="0" err="1" smtClean="0"/>
              <a:t>F</a:t>
            </a:r>
            <a:r>
              <a:rPr lang="en-US" sz="2400" baseline="-25000" dirty="0" err="1" smtClean="0"/>
              <a:t>i</a:t>
            </a:r>
            <a:endParaRPr lang="en-US" sz="2200" baseline="-25000" dirty="0" smtClean="0"/>
          </a:p>
        </p:txBody>
      </p:sp>
      <p:pic>
        <p:nvPicPr>
          <p:cNvPr id="4098" name="Picture 2"/>
          <p:cNvPicPr>
            <a:picLocks noChangeAspect="1" noChangeArrowheads="1"/>
          </p:cNvPicPr>
          <p:nvPr/>
        </p:nvPicPr>
        <p:blipFill>
          <a:blip r:embed="rId2" cstate="print"/>
          <a:srcRect/>
          <a:stretch>
            <a:fillRect/>
          </a:stretch>
        </p:blipFill>
        <p:spPr bwMode="auto">
          <a:xfrm>
            <a:off x="4800600" y="2539365"/>
            <a:ext cx="3680460" cy="210883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Repair Procedure (III)</a:t>
            </a:r>
            <a:endParaRPr lang="en-US" dirty="0"/>
          </a:p>
        </p:txBody>
      </p:sp>
      <p:sp>
        <p:nvSpPr>
          <p:cNvPr id="3" name="Content Placeholder 2"/>
          <p:cNvSpPr>
            <a:spLocks noGrp="1"/>
          </p:cNvSpPr>
          <p:nvPr>
            <p:ph idx="1"/>
          </p:nvPr>
        </p:nvSpPr>
        <p:spPr>
          <a:xfrm>
            <a:off x="457200" y="1600200"/>
            <a:ext cx="4572000" cy="4525963"/>
          </a:xfrm>
        </p:spPr>
        <p:txBody>
          <a:bodyPr/>
          <a:lstStyle/>
          <a:p>
            <a:r>
              <a:rPr lang="en-US" sz="2200" dirty="0" smtClean="0"/>
              <a:t>If node N</a:t>
            </a:r>
            <a:r>
              <a:rPr lang="en-US" sz="2200" baseline="-25000" dirty="0" smtClean="0"/>
              <a:t>0</a:t>
            </a:r>
            <a:r>
              <a:rPr lang="en-US" sz="2200" dirty="0" smtClean="0"/>
              <a:t> fails while acting as the origin node for replication group G’ during the distribution step then replication group G should be “reattached” to a higher-level origin node (i.e. Nˆ</a:t>
            </a:r>
            <a:r>
              <a:rPr lang="en-US" sz="2200" baseline="-25000" dirty="0" smtClean="0"/>
              <a:t>0</a:t>
            </a:r>
            <a:r>
              <a:rPr lang="en-US" sz="2200" dirty="0" smtClean="0"/>
              <a:t>).</a:t>
            </a:r>
          </a:p>
          <a:p>
            <a:r>
              <a:rPr lang="en-US" sz="2200" dirty="0" smtClean="0"/>
              <a:t>From heartbeat </a:t>
            </a:r>
            <a:r>
              <a:rPr lang="pt-BR" sz="2200" dirty="0" smtClean="0"/>
              <a:t>messages, node Nˆ</a:t>
            </a:r>
            <a:r>
              <a:rPr lang="pt-BR" sz="2200" baseline="-25000" dirty="0" smtClean="0"/>
              <a:t>0</a:t>
            </a:r>
            <a:r>
              <a:rPr lang="pt-BR" sz="2200" dirty="0" smtClean="0"/>
              <a:t> detects node N’</a:t>
            </a:r>
            <a:r>
              <a:rPr lang="en-US" sz="2200" baseline="-25000" dirty="0" smtClean="0"/>
              <a:t>0</a:t>
            </a:r>
            <a:r>
              <a:rPr lang="en-US" sz="2200" dirty="0" smtClean="0"/>
              <a:t> failure.</a:t>
            </a:r>
          </a:p>
          <a:p>
            <a:r>
              <a:rPr lang="en-US" sz="2200" dirty="0" smtClean="0"/>
              <a:t>Node Nˆ</a:t>
            </a:r>
            <a:r>
              <a:rPr lang="en-US" sz="2200" baseline="-25000" dirty="0" smtClean="0"/>
              <a:t>0</a:t>
            </a:r>
            <a:r>
              <a:rPr lang="en-US" sz="2200" dirty="0" smtClean="0"/>
              <a:t> analyzes what was the node N’</a:t>
            </a:r>
            <a:r>
              <a:rPr lang="en-US" sz="2200" baseline="-25000" dirty="0" smtClean="0"/>
              <a:t>0</a:t>
            </a:r>
            <a:r>
              <a:rPr lang="en-US" sz="2200" dirty="0" smtClean="0"/>
              <a:t> state in the replication process preceding its failure.</a:t>
            </a:r>
          </a:p>
          <a:p>
            <a:r>
              <a:rPr lang="en-US" sz="2200" dirty="0" smtClean="0"/>
              <a:t>Then node Nˆ</a:t>
            </a:r>
            <a:r>
              <a:rPr lang="en-US" sz="2200" baseline="-25000" dirty="0" smtClean="0"/>
              <a:t>0</a:t>
            </a:r>
            <a:r>
              <a:rPr lang="en-US" sz="2200" dirty="0" smtClean="0"/>
              <a:t> acts as a replacement for N’</a:t>
            </a:r>
            <a:r>
              <a:rPr lang="en-US" sz="2200" baseline="-25000" dirty="0" smtClean="0"/>
              <a:t>0</a:t>
            </a:r>
            <a:r>
              <a:rPr lang="en-US" sz="2200" dirty="0" smtClean="0"/>
              <a:t>:</a:t>
            </a:r>
            <a:endParaRPr lang="en-US" sz="2200" baseline="-25000" dirty="0" smtClean="0"/>
          </a:p>
        </p:txBody>
      </p:sp>
      <p:pic>
        <p:nvPicPr>
          <p:cNvPr id="4098" name="Picture 2"/>
          <p:cNvPicPr>
            <a:picLocks noChangeAspect="1" noChangeArrowheads="1"/>
          </p:cNvPicPr>
          <p:nvPr/>
        </p:nvPicPr>
        <p:blipFill>
          <a:blip r:embed="rId2" cstate="print"/>
          <a:srcRect/>
          <a:stretch>
            <a:fillRect/>
          </a:stretch>
        </p:blipFill>
        <p:spPr bwMode="auto">
          <a:xfrm>
            <a:off x="5082540" y="2539365"/>
            <a:ext cx="3680460" cy="210883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Experiments </a:t>
            </a:r>
            <a:r>
              <a:rPr lang="en-US" smtClean="0"/>
              <a:t>on a</a:t>
            </a:r>
            <a:r>
              <a:rPr lang="en-US" dirty="0" smtClean="0"/>
              <a:t/>
            </a:r>
            <a:br>
              <a:rPr lang="en-US" dirty="0" smtClean="0"/>
            </a:br>
            <a:r>
              <a:rPr lang="en-US" dirty="0" smtClean="0"/>
              <a:t>Prototype Implementation</a:t>
            </a:r>
            <a:endParaRPr lang="en-US" dirty="0"/>
          </a:p>
        </p:txBody>
      </p:sp>
      <p:sp>
        <p:nvSpPr>
          <p:cNvPr id="3" name="Content Placeholder 2"/>
          <p:cNvSpPr>
            <a:spLocks noGrp="1"/>
          </p:cNvSpPr>
          <p:nvPr>
            <p:ph idx="1"/>
          </p:nvPr>
        </p:nvSpPr>
        <p:spPr/>
        <p:txBody>
          <a:bodyPr/>
          <a:lstStyle/>
          <a:p>
            <a:r>
              <a:rPr lang="en-US" sz="2400" dirty="0" smtClean="0"/>
              <a:t>For comparison reasons, we introduce Multiple </a:t>
            </a:r>
            <a:r>
              <a:rPr lang="en-US" sz="2400" dirty="0" err="1" smtClean="0"/>
              <a:t>Unicast</a:t>
            </a:r>
            <a:r>
              <a:rPr lang="en-US" sz="2400" dirty="0" smtClean="0"/>
              <a:t> and Sequential </a:t>
            </a:r>
            <a:r>
              <a:rPr lang="en-US" sz="2400" dirty="0" err="1" smtClean="0"/>
              <a:t>Unicast</a:t>
            </a:r>
            <a:r>
              <a:rPr lang="en-US" sz="2400" dirty="0" smtClean="0"/>
              <a:t> schemas.</a:t>
            </a:r>
          </a:p>
          <a:p>
            <a:r>
              <a:rPr lang="en-US" sz="2400" dirty="0" smtClean="0"/>
              <a:t>Multiple </a:t>
            </a:r>
            <a:r>
              <a:rPr lang="en-US" sz="2400" dirty="0" err="1" smtClean="0"/>
              <a:t>Unicast</a:t>
            </a:r>
            <a:r>
              <a:rPr lang="en-US" sz="2400" dirty="0" smtClean="0"/>
              <a:t>: under this scheme, the original node simultaneously transfers the entire file to all the recipient nodes by using the concurrent connections. </a:t>
            </a:r>
          </a:p>
          <a:p>
            <a:r>
              <a:rPr lang="en-US" sz="2400" dirty="0" smtClean="0"/>
              <a:t>Sequential </a:t>
            </a:r>
            <a:r>
              <a:rPr lang="en-US" sz="2400" dirty="0" err="1" smtClean="0"/>
              <a:t>Unicast</a:t>
            </a:r>
            <a:r>
              <a:rPr lang="en-US" sz="2400" dirty="0" smtClean="0"/>
              <a:t>: this scheme approximates the “best possible overlay tree” for the entire set of group members. For the evaluation, we use the Sequential </a:t>
            </a:r>
            <a:r>
              <a:rPr lang="en-US" sz="2400" dirty="0" err="1" smtClean="0"/>
              <a:t>Unicast</a:t>
            </a:r>
            <a:r>
              <a:rPr lang="en-US" sz="2400" dirty="0" smtClean="0"/>
              <a:t> test which measures the file transfer time from the source to each recipient independently (i.e. in the absence of other recipients).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Files Problems [2]</a:t>
            </a:r>
            <a:endParaRPr lang="en-US" dirty="0"/>
          </a:p>
        </p:txBody>
      </p:sp>
      <p:sp>
        <p:nvSpPr>
          <p:cNvPr id="3" name="Content Placeholder 2"/>
          <p:cNvSpPr>
            <a:spLocks noGrp="1"/>
          </p:cNvSpPr>
          <p:nvPr>
            <p:ph idx="1"/>
          </p:nvPr>
        </p:nvSpPr>
        <p:spPr/>
        <p:txBody>
          <a:bodyPr/>
          <a:lstStyle/>
          <a:p>
            <a:r>
              <a:rPr lang="en-US" sz="2000" dirty="0" smtClean="0"/>
              <a:t>Large files tax the CDN node’s most valuable resource, </a:t>
            </a:r>
            <a:r>
              <a:rPr lang="en-US" sz="2000" i="1" dirty="0" smtClean="0">
                <a:solidFill>
                  <a:srgbClr val="C00000"/>
                </a:solidFill>
              </a:rPr>
              <a:t>physical memory</a:t>
            </a:r>
            <a:r>
              <a:rPr lang="en-US" sz="2000" dirty="0" smtClean="0"/>
              <a:t>.</a:t>
            </a:r>
          </a:p>
          <a:p>
            <a:r>
              <a:rPr lang="en-US" sz="2000" b="1" dirty="0" smtClean="0"/>
              <a:t>Cache hit rates</a:t>
            </a:r>
            <a:r>
              <a:rPr lang="en-US" sz="2000" dirty="0" smtClean="0"/>
              <a:t>: Large files </a:t>
            </a:r>
            <a:r>
              <a:rPr lang="en-US" sz="2000" i="1" dirty="0" smtClean="0">
                <a:solidFill>
                  <a:srgbClr val="C00000"/>
                </a:solidFill>
              </a:rPr>
              <a:t>displace</a:t>
            </a:r>
            <a:r>
              <a:rPr lang="en-US" sz="2000" dirty="0" smtClean="0"/>
              <a:t> small files in main memory. As a result, proxies generally “tunnel” such small files, fetching them from the origin site and </a:t>
            </a:r>
            <a:r>
              <a:rPr lang="en-US" sz="2000" i="1" dirty="0" smtClean="0">
                <a:solidFill>
                  <a:srgbClr val="C00000"/>
                </a:solidFill>
              </a:rPr>
              <a:t>not caching</a:t>
            </a:r>
            <a:r>
              <a:rPr lang="en-US" sz="2000" dirty="0" smtClean="0"/>
              <a:t> them. The CDN/proxy would require much </a:t>
            </a:r>
            <a:r>
              <a:rPr lang="en-US" sz="2000" i="1" dirty="0" smtClean="0">
                <a:solidFill>
                  <a:srgbClr val="C00000"/>
                </a:solidFill>
              </a:rPr>
              <a:t>higher hit rates</a:t>
            </a:r>
            <a:r>
              <a:rPr lang="en-US" sz="2000" dirty="0" smtClean="0"/>
              <a:t>.</a:t>
            </a:r>
          </a:p>
          <a:p>
            <a:r>
              <a:rPr lang="en-US" sz="2000" b="1" dirty="0" smtClean="0"/>
              <a:t>Buffer consumption</a:t>
            </a:r>
            <a:r>
              <a:rPr lang="en-US" sz="2000" dirty="0" smtClean="0"/>
              <a:t>: While multiple client requests for the same </a:t>
            </a:r>
            <a:r>
              <a:rPr lang="en-US" sz="2000" dirty="0" err="1" smtClean="0"/>
              <a:t>uncached</a:t>
            </a:r>
            <a:r>
              <a:rPr lang="en-US" sz="2000" dirty="0" smtClean="0"/>
              <a:t> file can often be merged and served with one download from the origin server, doing so for large files requires the proxy to </a:t>
            </a:r>
            <a:r>
              <a:rPr lang="en-US" sz="2000" i="1" dirty="0" smtClean="0">
                <a:solidFill>
                  <a:srgbClr val="C00000"/>
                </a:solidFill>
              </a:rPr>
              <a:t>buffer all data</a:t>
            </a:r>
            <a:r>
              <a:rPr lang="en-US" sz="2000" dirty="0" smtClean="0"/>
              <a:t> not received by the slowest client, potentially approaching the entire file size. This buffer either </a:t>
            </a:r>
            <a:r>
              <a:rPr lang="en-US" sz="2000" i="1" dirty="0" smtClean="0">
                <a:solidFill>
                  <a:srgbClr val="C00000"/>
                </a:solidFill>
              </a:rPr>
              <a:t>pollutes the cache</a:t>
            </a:r>
            <a:r>
              <a:rPr lang="en-US" sz="2000" dirty="0" smtClean="0"/>
              <a:t> and </a:t>
            </a:r>
            <a:r>
              <a:rPr lang="en-US" sz="2000" i="1" dirty="0" smtClean="0">
                <a:solidFill>
                  <a:srgbClr val="C00000"/>
                </a:solidFill>
              </a:rPr>
              <a:t>consumes memory</a:t>
            </a:r>
            <a:r>
              <a:rPr lang="en-US" sz="2000" dirty="0" smtClean="0"/>
              <a:t>, or causes disk access and eviction. Throttling the fastest client to reduce the buffer size only makes the CDN slow and increases the number of </a:t>
            </a:r>
            <a:r>
              <a:rPr lang="en-US" sz="2000" i="1" dirty="0" smtClean="0">
                <a:solidFill>
                  <a:srgbClr val="C00000"/>
                </a:solidFill>
              </a:rPr>
              <a:t>simultaneous connections</a:t>
            </a:r>
            <a:r>
              <a:rPr lang="en-US" sz="2000" dirty="0" smtClean="0"/>
              <a: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Protocols</a:t>
            </a:r>
            <a:endParaRPr lang="en-US" dirty="0"/>
          </a:p>
        </p:txBody>
      </p:sp>
      <p:sp>
        <p:nvSpPr>
          <p:cNvPr id="3" name="Content Placeholder 2"/>
          <p:cNvSpPr>
            <a:spLocks noGrp="1"/>
          </p:cNvSpPr>
          <p:nvPr>
            <p:ph idx="1"/>
          </p:nvPr>
        </p:nvSpPr>
        <p:spPr/>
        <p:txBody>
          <a:bodyPr/>
          <a:lstStyle/>
          <a:p>
            <a:r>
              <a:rPr lang="en-US" sz="2400" dirty="0" err="1" smtClean="0"/>
              <a:t>BitTorrent</a:t>
            </a:r>
            <a:r>
              <a:rPr lang="en-US" sz="2400" dirty="0" smtClean="0"/>
              <a:t> implements a peer-to-peer network with centralized tracking of available clients.</a:t>
            </a:r>
          </a:p>
          <a:p>
            <a:r>
              <a:rPr lang="en-US" sz="2400" dirty="0" err="1" smtClean="0"/>
              <a:t>LoCI</a:t>
            </a:r>
            <a:r>
              <a:rPr lang="en-US" sz="2400" dirty="0" smtClean="0"/>
              <a:t> builds a </a:t>
            </a:r>
            <a:r>
              <a:rPr lang="en-US" sz="2400" dirty="0" err="1" smtClean="0"/>
              <a:t>stateful</a:t>
            </a:r>
            <a:r>
              <a:rPr lang="en-US" sz="2400" dirty="0" smtClean="0"/>
              <a:t>, </a:t>
            </a:r>
            <a:r>
              <a:rPr lang="en-US" sz="2400" dirty="0" err="1" smtClean="0"/>
              <a:t>filesystem</a:t>
            </a:r>
            <a:r>
              <a:rPr lang="en-US" sz="2400" dirty="0" smtClean="0"/>
              <a:t>-like network infrastructure.</a:t>
            </a:r>
          </a:p>
          <a:p>
            <a:r>
              <a:rPr lang="en-US" sz="2400" dirty="0" smtClean="0"/>
              <a:t>Bullet uses a self-organizing overlay mesh.</a:t>
            </a:r>
          </a:p>
          <a:p>
            <a:r>
              <a:rPr lang="en-US" sz="2400" dirty="0" err="1" smtClean="0"/>
              <a:t>SplitStream</a:t>
            </a:r>
            <a:r>
              <a:rPr lang="en-US" sz="2400" dirty="0" smtClean="0"/>
              <a:t> has a superimposed collection of multicast trees on a peer-to-peer overlay.</a:t>
            </a:r>
          </a:p>
          <a:p>
            <a:r>
              <a:rPr lang="en-US" sz="2400" dirty="0" smtClean="0"/>
              <a:t>All of these approaches use (or will use, when deployed) </a:t>
            </a:r>
            <a:r>
              <a:rPr lang="en-US" sz="2400" i="1" dirty="0" smtClean="0">
                <a:solidFill>
                  <a:srgbClr val="C00000"/>
                </a:solidFill>
              </a:rPr>
              <a:t>custom protocols</a:t>
            </a:r>
            <a:r>
              <a:rPr lang="en-US" sz="2400" dirty="0" smtClean="0"/>
              <a:t> for data transfers.</a:t>
            </a:r>
          </a:p>
          <a:p>
            <a:r>
              <a:rPr lang="en-US" sz="2400" dirty="0" smtClean="0"/>
              <a:t>They require </a:t>
            </a:r>
            <a:r>
              <a:rPr lang="en-US" sz="2400" i="1" dirty="0" smtClean="0">
                <a:solidFill>
                  <a:srgbClr val="C00000"/>
                </a:solidFill>
              </a:rPr>
              <a:t>content preparation</a:t>
            </a:r>
            <a:r>
              <a:rPr lang="en-US" sz="2400" dirty="0" smtClean="0"/>
              <a:t> at the content provider, and </a:t>
            </a:r>
            <a:r>
              <a:rPr lang="en-US" sz="2400" i="1" dirty="0" smtClean="0">
                <a:solidFill>
                  <a:srgbClr val="C00000"/>
                </a:solidFill>
              </a:rPr>
              <a:t>custom software</a:t>
            </a:r>
            <a:r>
              <a:rPr lang="en-US" sz="2400" dirty="0" smtClean="0"/>
              <a:t> at the receivers.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a:t>
            </a:r>
            <a:endParaRPr lang="en-US" dirty="0"/>
          </a:p>
        </p:txBody>
      </p:sp>
      <p:sp>
        <p:nvSpPr>
          <p:cNvPr id="3" name="Content Placeholder 2"/>
          <p:cNvSpPr>
            <a:spLocks noGrp="1"/>
          </p:cNvSpPr>
          <p:nvPr>
            <p:ph idx="1"/>
          </p:nvPr>
        </p:nvSpPr>
        <p:spPr/>
        <p:txBody>
          <a:bodyPr/>
          <a:lstStyle/>
          <a:p>
            <a:r>
              <a:rPr lang="en-US" sz="2400" dirty="0" smtClean="0"/>
              <a:t>Each CDN node has an </a:t>
            </a:r>
            <a:r>
              <a:rPr lang="en-US" sz="2400" i="1" dirty="0" smtClean="0">
                <a:solidFill>
                  <a:srgbClr val="C00000"/>
                </a:solidFill>
              </a:rPr>
              <a:t>agent</a:t>
            </a:r>
            <a:r>
              <a:rPr lang="en-US" sz="2400" dirty="0" smtClean="0"/>
              <a:t> that is responsible for accepting requests for large files and converting them into a series of requests for </a:t>
            </a:r>
            <a:r>
              <a:rPr lang="en-US" sz="2400" u="sng" dirty="0" smtClean="0"/>
              <a:t>pieces</a:t>
            </a:r>
            <a:r>
              <a:rPr lang="en-US" sz="2400" dirty="0" smtClean="0"/>
              <a:t> of the file.</a:t>
            </a:r>
          </a:p>
          <a:p>
            <a:r>
              <a:rPr lang="en-US" sz="2400" dirty="0" smtClean="0"/>
              <a:t>To specify pieces, we use HTTP/1.1’s widely-supported </a:t>
            </a:r>
            <a:r>
              <a:rPr lang="en-US" sz="2400" i="1" dirty="0" smtClean="0">
                <a:solidFill>
                  <a:srgbClr val="C00000"/>
                </a:solidFill>
              </a:rPr>
              <a:t>byte-range feature</a:t>
            </a:r>
            <a:r>
              <a:rPr lang="en-US" sz="2400" dirty="0" smtClean="0"/>
              <a:t>, which is normally used by browsers to resume interrupted downloads.</a:t>
            </a:r>
          </a:p>
          <a:p>
            <a:r>
              <a:rPr lang="en-US" sz="2400" dirty="0" smtClean="0"/>
              <a:t>After these individual requests are injected into the CDN, the </a:t>
            </a:r>
            <a:r>
              <a:rPr lang="en-US" sz="2400" i="1" dirty="0" smtClean="0">
                <a:solidFill>
                  <a:srgbClr val="C00000"/>
                </a:solidFill>
              </a:rPr>
              <a:t>results are reassembled</a:t>
            </a:r>
            <a:r>
              <a:rPr lang="en-US" sz="2400" dirty="0" smtClean="0"/>
              <a:t> by the agent and passed to the actual client.</a:t>
            </a:r>
          </a:p>
          <a:p>
            <a:r>
              <a:rPr lang="en-US" sz="2400" dirty="0" smtClean="0"/>
              <a:t>For simplicity, this agent can occupy a different port number than the CDN’s proxy.</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Byte-Range Feature [3]</a:t>
            </a:r>
            <a:endParaRPr lang="en-US" dirty="0"/>
          </a:p>
        </p:txBody>
      </p:sp>
      <p:sp>
        <p:nvSpPr>
          <p:cNvPr id="3" name="Content Placeholder 2"/>
          <p:cNvSpPr>
            <a:spLocks noGrp="1"/>
          </p:cNvSpPr>
          <p:nvPr>
            <p:ph idx="1"/>
          </p:nvPr>
        </p:nvSpPr>
        <p:spPr>
          <a:xfrm>
            <a:off x="457200" y="1600201"/>
            <a:ext cx="8229600" cy="1752600"/>
          </a:xfrm>
        </p:spPr>
        <p:txBody>
          <a:bodyPr/>
          <a:lstStyle/>
          <a:p>
            <a:r>
              <a:rPr lang="en-US" sz="2400" dirty="0" smtClean="0"/>
              <a:t>The client-facing agent converts a </a:t>
            </a:r>
            <a:r>
              <a:rPr lang="en-US" sz="2400" i="1" dirty="0" smtClean="0">
                <a:solidFill>
                  <a:srgbClr val="C00000"/>
                </a:solidFill>
              </a:rPr>
              <a:t>single request</a:t>
            </a:r>
            <a:r>
              <a:rPr lang="en-US" sz="2400" dirty="0" smtClean="0"/>
              <a:t> for a large file into a </a:t>
            </a:r>
            <a:r>
              <a:rPr lang="en-US" sz="2400" i="1" dirty="0" smtClean="0">
                <a:solidFill>
                  <a:srgbClr val="C00000"/>
                </a:solidFill>
              </a:rPr>
              <a:t>series of requests</a:t>
            </a:r>
            <a:r>
              <a:rPr lang="en-US" sz="2400" dirty="0" smtClean="0"/>
              <a:t> for smaller files.</a:t>
            </a:r>
          </a:p>
          <a:p>
            <a:r>
              <a:rPr lang="en-US" sz="2400" dirty="0" smtClean="0"/>
              <a:t>The new URLS are only a </a:t>
            </a:r>
            <a:r>
              <a:rPr lang="en-US" sz="2400" i="1" dirty="0" smtClean="0">
                <a:solidFill>
                  <a:srgbClr val="C00000"/>
                </a:solidFill>
              </a:rPr>
              <a:t>CDN-internal representation</a:t>
            </a:r>
            <a:r>
              <a:rPr lang="en-US" sz="2400" dirty="0" smtClean="0"/>
              <a:t> – neither the client nor the origin server see them.</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895600" y="3505200"/>
            <a:ext cx="3745230" cy="283464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Chunk Handling Mechanics</a:t>
            </a:r>
            <a:endParaRPr lang="en-US" dirty="0"/>
          </a:p>
        </p:txBody>
      </p:sp>
      <p:sp>
        <p:nvSpPr>
          <p:cNvPr id="3" name="Content Placeholder 2"/>
          <p:cNvSpPr>
            <a:spLocks noGrp="1"/>
          </p:cNvSpPr>
          <p:nvPr>
            <p:ph idx="1"/>
          </p:nvPr>
        </p:nvSpPr>
        <p:spPr>
          <a:xfrm>
            <a:off x="457200" y="1600200"/>
            <a:ext cx="8229600" cy="2209799"/>
          </a:xfrm>
        </p:spPr>
        <p:txBody>
          <a:bodyPr/>
          <a:lstStyle/>
          <a:p>
            <a:r>
              <a:rPr lang="en-US" sz="2400" dirty="0" smtClean="0"/>
              <a:t>Egress and ingress </a:t>
            </a:r>
            <a:r>
              <a:rPr lang="en-US" sz="2400" i="1" dirty="0" smtClean="0">
                <a:solidFill>
                  <a:srgbClr val="C00000"/>
                </a:solidFill>
              </a:rPr>
              <a:t>transformations</a:t>
            </a:r>
            <a:r>
              <a:rPr lang="en-US" sz="2400" dirty="0" smtClean="0"/>
              <a:t> when the CDN communicates with the origin server:</a:t>
            </a:r>
          </a:p>
          <a:p>
            <a:pPr lvl="1"/>
            <a:r>
              <a:rPr lang="en-US" sz="2000" dirty="0" smtClean="0"/>
              <a:t>The CDN internally believes it is requesting a small file, and the egress transformation requests a byte-range of a large file.</a:t>
            </a:r>
          </a:p>
          <a:p>
            <a:pPr lvl="1"/>
            <a:r>
              <a:rPr lang="en-US" sz="2000" dirty="0" smtClean="0"/>
              <a:t>The ingress converts the server’s response to a response for a complete small file, rather than a piece of a large file.</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685800" y="4019550"/>
            <a:ext cx="7917180" cy="23050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Steps</a:t>
            </a:r>
            <a:endParaRPr lang="en-US" dirty="0"/>
          </a:p>
        </p:txBody>
      </p:sp>
      <p:sp>
        <p:nvSpPr>
          <p:cNvPr id="3" name="Content Placeholder 2"/>
          <p:cNvSpPr>
            <a:spLocks noGrp="1"/>
          </p:cNvSpPr>
          <p:nvPr>
            <p:ph idx="1"/>
          </p:nvPr>
        </p:nvSpPr>
        <p:spPr>
          <a:xfrm>
            <a:off x="457200" y="1600200"/>
            <a:ext cx="4191000" cy="4525963"/>
          </a:xfrm>
        </p:spPr>
        <p:txBody>
          <a:bodyPr/>
          <a:lstStyle/>
          <a:p>
            <a:pPr>
              <a:buNone/>
            </a:pPr>
            <a:r>
              <a:rPr lang="en-US" sz="1800" dirty="0" smtClean="0"/>
              <a:t>1. the client sends the request to the agent, </a:t>
            </a:r>
          </a:p>
          <a:p>
            <a:pPr>
              <a:buNone/>
            </a:pPr>
            <a:r>
              <a:rPr lang="en-US" sz="1800" dirty="0" smtClean="0"/>
              <a:t>2. the agent generates a series of requests for the URL with special suffixes and sends them to the redirector on the same CDN node, </a:t>
            </a:r>
          </a:p>
          <a:p>
            <a:pPr>
              <a:buNone/>
            </a:pPr>
            <a:r>
              <a:rPr lang="en-US" sz="1800" dirty="0" smtClean="0"/>
              <a:t>3. those requests are spread across the CDN as normally occurs,</a:t>
            </a:r>
          </a:p>
          <a:p>
            <a:pPr>
              <a:buNone/>
            </a:pPr>
            <a:r>
              <a:rPr lang="en-US" sz="1800" dirty="0" smtClean="0"/>
              <a:t>4. on egress from the CDN (assuming cache misses), the URLs are de-mangled, and the response header is mangled to mimic a regular response,</a:t>
            </a:r>
          </a:p>
          <a:p>
            <a:pPr>
              <a:buNone/>
            </a:pPr>
            <a:r>
              <a:rPr lang="en-US" sz="1800" dirty="0" smtClean="0"/>
              <a:t>5. as the data returns to the agent, it sends it back to the client in order, appearing as a single large response</a:t>
            </a:r>
            <a:endParaRPr lang="en-US" sz="1800" dirty="0"/>
          </a:p>
        </p:txBody>
      </p:sp>
      <p:pic>
        <p:nvPicPr>
          <p:cNvPr id="1026" name="Picture 2"/>
          <p:cNvPicPr>
            <a:picLocks noChangeAspect="1" noChangeArrowheads="1"/>
          </p:cNvPicPr>
          <p:nvPr/>
        </p:nvPicPr>
        <p:blipFill>
          <a:blip r:embed="rId2" cstate="print"/>
          <a:srcRect/>
          <a:stretch>
            <a:fillRect/>
          </a:stretch>
        </p:blipFill>
        <p:spPr bwMode="auto">
          <a:xfrm>
            <a:off x="4800600" y="2438400"/>
            <a:ext cx="4179570" cy="278892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19036</TotalTime>
  <Words>1175</Words>
  <Application>Microsoft Office PowerPoint</Application>
  <PresentationFormat>On-screen Show (4:3)</PresentationFormat>
  <Paragraphs>70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File Replication</vt:lpstr>
      <vt:lpstr>References</vt:lpstr>
      <vt:lpstr>Problem Statement [1]</vt:lpstr>
      <vt:lpstr>FastReplica in the Small –  Distribution Step</vt:lpstr>
      <vt:lpstr>Collection Step</vt:lpstr>
      <vt:lpstr>FastReplica in the Large</vt:lpstr>
      <vt:lpstr>Reliable FastReplica Algorithm</vt:lpstr>
      <vt:lpstr>Repair Procedure (I)</vt:lpstr>
      <vt:lpstr>Repair Procedure (II)</vt:lpstr>
      <vt:lpstr>Repair Procedure (III)</vt:lpstr>
      <vt:lpstr>Experiments on a Prototype Implementation</vt:lpstr>
      <vt:lpstr>Slide 12</vt:lpstr>
      <vt:lpstr>Large Files Problems [2]</vt:lpstr>
      <vt:lpstr>Custom Protocols</vt:lpstr>
      <vt:lpstr>Approach</vt:lpstr>
      <vt:lpstr>Byte-Range Feature [3]</vt:lpstr>
      <vt:lpstr>Chunk Handling Mechanics</vt:lpstr>
      <vt:lpstr>Processing Steps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4313</cp:revision>
  <dcterms:created xsi:type="dcterms:W3CDTF">2007-10-06T08:25:13Z</dcterms:created>
  <dcterms:modified xsi:type="dcterms:W3CDTF">2026-02-27T10:44:48Z</dcterms:modified>
</cp:coreProperties>
</file>