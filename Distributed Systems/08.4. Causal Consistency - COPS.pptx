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6"/>
  </p:notesMasterIdLst>
  <p:sldIdLst>
    <p:sldId id="670" r:id="rId2"/>
    <p:sldId id="671" r:id="rId3"/>
    <p:sldId id="672" r:id="rId4"/>
    <p:sldId id="673" r:id="rId5"/>
    <p:sldId id="760" r:id="rId6"/>
    <p:sldId id="761" r:id="rId7"/>
    <p:sldId id="762" r:id="rId8"/>
    <p:sldId id="763" r:id="rId9"/>
    <p:sldId id="764" r:id="rId10"/>
    <p:sldId id="766" r:id="rId11"/>
    <p:sldId id="767" r:id="rId12"/>
    <p:sldId id="765" r:id="rId13"/>
    <p:sldId id="759" r:id="rId14"/>
    <p:sldId id="516" r:id="rId1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29" autoAdjust="0"/>
    <p:restoredTop sz="94667" autoAdjust="0"/>
  </p:normalViewPr>
  <p:slideViewPr>
    <p:cSldViewPr>
      <p:cViewPr>
        <p:scale>
          <a:sx n="50" d="100"/>
          <a:sy n="50" d="100"/>
        </p:scale>
        <p:origin x="-1530"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0940CE-BE1D-4C40-AF8B-3898A4D1F5EC}" type="datetimeFigureOut">
              <a:rPr lang="en-US" smtClean="0"/>
              <a:pPr/>
              <a:t>9/5/2023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70CC96-DB61-4850-AF79-05CA5E4B3D0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9/5/2023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9/5/2023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9/5/2023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9/5/2023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9/5/2023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9/5/2023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9/5/2023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9/5/2023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9/5/2023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9/5/2023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9/5/2023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9/5/2023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nil.csail.mit.edu/6.824/2020/schedule.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Causal Consistency - COPS</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marL="457200" indent="-457200">
              <a:buFont typeface="+mj-lt"/>
              <a:buAutoNum type="arabicPeriod"/>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a:buFont typeface="+mj-lt"/>
              <a:buAutoNum type="arabicPeriod"/>
            </a:pPr>
            <a:r>
              <a:rPr lang="en-US" sz="2000" dirty="0" smtClean="0">
                <a:hlinkClick r:id="rId2"/>
              </a:rPr>
              <a:t>http://nil.csail.mit.edu/6.824/2020/schedule.html</a:t>
            </a:r>
          </a:p>
          <a:p>
            <a:pPr>
              <a:buFont typeface="+mj-lt"/>
              <a:buAutoNum type="arabicPeriod"/>
            </a:pPr>
            <a:r>
              <a:rPr lang="en-US" sz="2000" smtClean="0"/>
              <a:t>Leslie Lamport (1979). How to Make a Multiprocessor Computer That Correctly Executes Multiprocess Programs.</a:t>
            </a:r>
            <a:endParaRPr lang="en-US" sz="2000" dirty="0" smtClean="0"/>
          </a:p>
        </p:txBody>
      </p:sp>
      <p:pic>
        <p:nvPicPr>
          <p:cNvPr id="4" name="Picture 4" descr="http://2.bp.blogspot.com/-FqRM_5NQE6Q/TaSdzyWfvtI/AAAAAAAAAFg/C_2LDJWJOx4/s1600/books-pile.jpg"/>
          <p:cNvPicPr>
            <a:picLocks noChangeAspect="1" noChangeArrowheads="1"/>
          </p:cNvPicPr>
          <p:nvPr/>
        </p:nvPicPr>
        <p:blipFill>
          <a:blip r:embed="rId3"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setting: geo-replication for big web sites</a:t>
            </a:r>
            <a:endParaRPr lang="en-US" dirty="0"/>
          </a:p>
        </p:txBody>
      </p:sp>
      <p:sp>
        <p:nvSpPr>
          <p:cNvPr id="3" name="Content Placeholder 2"/>
          <p:cNvSpPr>
            <a:spLocks noGrp="1"/>
          </p:cNvSpPr>
          <p:nvPr>
            <p:ph idx="1"/>
          </p:nvPr>
        </p:nvSpPr>
        <p:spPr/>
        <p:txBody>
          <a:bodyPr/>
          <a:lstStyle/>
          <a:p>
            <a:r>
              <a:rPr lang="en-US" sz="2400" dirty="0" smtClean="0"/>
              <a:t>[ 3 datacenters, users, web servers, </a:t>
            </a:r>
            <a:r>
              <a:rPr lang="en-US" sz="2400" dirty="0" err="1" smtClean="0"/>
              <a:t>sharded</a:t>
            </a:r>
            <a:r>
              <a:rPr lang="en-US" sz="2400" dirty="0" smtClean="0"/>
              <a:t> storage servers ]</a:t>
            </a:r>
          </a:p>
          <a:p>
            <a:r>
              <a:rPr lang="en-US" sz="2400" dirty="0" smtClean="0"/>
              <a:t>multiple datacenters</a:t>
            </a:r>
          </a:p>
          <a:p>
            <a:r>
              <a:rPr lang="en-US" sz="2400" dirty="0" smtClean="0"/>
              <a:t>each datacenter has a complete copy of all data</a:t>
            </a:r>
          </a:p>
          <a:p>
            <a:r>
              <a:rPr lang="en-US" sz="2400" dirty="0" smtClean="0"/>
              <a:t>reads are local -- fast common case</a:t>
            </a:r>
          </a:p>
          <a:p>
            <a:r>
              <a:rPr lang="en-US" sz="2400" dirty="0" smtClean="0"/>
              <a:t>what about writes?</a:t>
            </a:r>
          </a:p>
          <a:p>
            <a:r>
              <a:rPr lang="en-US" sz="2400" dirty="0" smtClean="0"/>
              <a:t>what about consistency?</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we've seen two solutions for geo-replication</a:t>
            </a:r>
            <a:endParaRPr lang="en-US" dirty="0"/>
          </a:p>
        </p:txBody>
      </p:sp>
      <p:sp>
        <p:nvSpPr>
          <p:cNvPr id="3" name="Content Placeholder 2"/>
          <p:cNvSpPr>
            <a:spLocks noGrp="1"/>
          </p:cNvSpPr>
          <p:nvPr>
            <p:ph idx="1"/>
          </p:nvPr>
        </p:nvSpPr>
        <p:spPr/>
        <p:txBody>
          <a:bodyPr/>
          <a:lstStyle/>
          <a:p>
            <a:r>
              <a:rPr lang="en-US" sz="2400" dirty="0" smtClean="0"/>
              <a:t>Spanner</a:t>
            </a:r>
          </a:p>
          <a:p>
            <a:pPr lvl="1"/>
            <a:r>
              <a:rPr lang="en-US" sz="2000" dirty="0" smtClean="0"/>
              <a:t>writes involve </a:t>
            </a:r>
            <a:r>
              <a:rPr lang="en-US" sz="2000" dirty="0" err="1" smtClean="0"/>
              <a:t>Paxos</a:t>
            </a:r>
            <a:r>
              <a:rPr lang="en-US" sz="2000" dirty="0" smtClean="0"/>
              <a:t> and perhaps two-phase commit</a:t>
            </a:r>
          </a:p>
          <a:p>
            <a:pPr lvl="1"/>
            <a:r>
              <a:rPr lang="en-US" sz="2000" dirty="0" err="1" smtClean="0"/>
              <a:t>Paxos</a:t>
            </a:r>
            <a:r>
              <a:rPr lang="en-US" sz="2000" dirty="0" smtClean="0"/>
              <a:t> quorum for write must wait for some remote sites</a:t>
            </a:r>
          </a:p>
          <a:p>
            <a:pPr lvl="1"/>
            <a:r>
              <a:rPr lang="en-US" sz="2000" dirty="0" smtClean="0"/>
              <a:t>no one site can write on its own</a:t>
            </a:r>
          </a:p>
          <a:p>
            <a:pPr lvl="1"/>
            <a:r>
              <a:rPr lang="en-US" sz="2000" dirty="0" smtClean="0"/>
              <a:t>but has read transactions, consistent, fairly fast</a:t>
            </a:r>
          </a:p>
          <a:p>
            <a:r>
              <a:rPr lang="en-US" sz="2400" dirty="0" err="1" smtClean="0"/>
              <a:t>Facebook</a:t>
            </a:r>
            <a:r>
              <a:rPr lang="en-US" sz="2400" dirty="0" smtClean="0"/>
              <a:t> / </a:t>
            </a:r>
            <a:r>
              <a:rPr lang="en-US" sz="2400" dirty="0" err="1" smtClean="0"/>
              <a:t>Memcache</a:t>
            </a:r>
            <a:endParaRPr lang="en-US" sz="2400" dirty="0" smtClean="0"/>
          </a:p>
          <a:p>
            <a:pPr lvl="1"/>
            <a:r>
              <a:rPr lang="en-US" sz="2000" dirty="0" smtClean="0"/>
              <a:t>writes must go to the primary site's </a:t>
            </a:r>
            <a:r>
              <a:rPr lang="en-US" sz="2000" dirty="0" err="1" smtClean="0"/>
              <a:t>MySQL</a:t>
            </a:r>
            <a:endParaRPr lang="en-US" sz="2000" dirty="0" smtClean="0"/>
          </a:p>
          <a:p>
            <a:pPr lvl="1"/>
            <a:r>
              <a:rPr lang="en-US" sz="2000" dirty="0" smtClean="0"/>
              <a:t>again, non-primary sites cannot write on their own</a:t>
            </a:r>
          </a:p>
          <a:p>
            <a:pPr lvl="1"/>
            <a:r>
              <a:rPr lang="en-US" sz="2000" dirty="0" smtClean="0"/>
              <a:t>but reads are blindingly fast (1,000,000 per second per </a:t>
            </a:r>
            <a:r>
              <a:rPr lang="en-US" sz="2000" dirty="0" err="1" smtClean="0"/>
              <a:t>memcache</a:t>
            </a:r>
            <a:r>
              <a:rPr lang="en-US" sz="2000" dirty="0" smtClean="0"/>
              <a:t> server)</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we have a system that allows writes from any datacenter?</a:t>
            </a:r>
            <a:endParaRPr lang="en-US" dirty="0"/>
          </a:p>
        </p:txBody>
      </p:sp>
      <p:sp>
        <p:nvSpPr>
          <p:cNvPr id="3" name="Content Placeholder 2"/>
          <p:cNvSpPr>
            <a:spLocks noGrp="1"/>
          </p:cNvSpPr>
          <p:nvPr>
            <p:ph idx="1"/>
          </p:nvPr>
        </p:nvSpPr>
        <p:spPr/>
        <p:txBody>
          <a:bodyPr/>
          <a:lstStyle/>
          <a:p>
            <a:r>
              <a:rPr lang="en-US" sz="2400" dirty="0" smtClean="0"/>
              <a:t>so a write can proceed without talking to / waiting for any other datacenter?</a:t>
            </a:r>
          </a:p>
          <a:p>
            <a:r>
              <a:rPr lang="en-US" sz="2400" dirty="0" smtClean="0"/>
              <a:t>would help fault tolerance, performance, robustness </a:t>
            </a:r>
            <a:r>
              <a:rPr lang="en-US" sz="2400" dirty="0" err="1" smtClean="0"/>
              <a:t>vs</a:t>
            </a:r>
            <a:r>
              <a:rPr lang="en-US" sz="2400" dirty="0" smtClean="0"/>
              <a:t> slow WAN</a:t>
            </a:r>
          </a:p>
          <a:p>
            <a:r>
              <a:rPr lang="en-US" sz="2400" dirty="0" smtClean="0"/>
              <a:t>these </a:t>
            </a:r>
            <a:r>
              <a:rPr lang="en-US" sz="2400" i="1" dirty="0" smtClean="0">
                <a:solidFill>
                  <a:srgbClr val="C00000"/>
                </a:solidFill>
              </a:rPr>
              <a:t>local reads and writes</a:t>
            </a:r>
            <a:r>
              <a:rPr lang="en-US" sz="2400" dirty="0" smtClean="0"/>
              <a:t> are the real goal</a:t>
            </a:r>
          </a:p>
          <a:p>
            <a:pPr lvl="1"/>
            <a:r>
              <a:rPr lang="en-US" sz="2000" dirty="0" smtClean="0"/>
              <a:t>the consistency model is a secondary consideration</a:t>
            </a:r>
          </a:p>
          <a:p>
            <a:pPr lvl="1"/>
            <a:r>
              <a:rPr lang="en-US" sz="2000" dirty="0" smtClean="0"/>
              <a:t>we'll make one up that matches whatever our local read/write design has to do</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straw man one</a:t>
            </a:r>
            <a:endParaRPr lang="en-US" dirty="0"/>
          </a:p>
        </p:txBody>
      </p:sp>
      <p:sp>
        <p:nvSpPr>
          <p:cNvPr id="3" name="Content Placeholder 2"/>
          <p:cNvSpPr>
            <a:spLocks noGrp="1"/>
          </p:cNvSpPr>
          <p:nvPr>
            <p:ph idx="1"/>
          </p:nvPr>
        </p:nvSpPr>
        <p:spPr/>
        <p:txBody>
          <a:bodyPr/>
          <a:lstStyle/>
          <a:p>
            <a:r>
              <a:rPr lang="en-US" sz="2400" dirty="0" smtClean="0"/>
              <a:t>three data centers</a:t>
            </a:r>
          </a:p>
          <a:p>
            <a:r>
              <a:rPr lang="en-US" sz="2400" dirty="0" smtClean="0"/>
              <a:t>set of shards in each datacenter</a:t>
            </a:r>
          </a:p>
          <a:p>
            <a:r>
              <a:rPr lang="en-US" sz="2400" dirty="0" smtClean="0"/>
              <a:t>client reads and writes just contact local shard</a:t>
            </a:r>
          </a:p>
          <a:p>
            <a:r>
              <a:rPr lang="en-US" sz="2400" dirty="0" smtClean="0"/>
              <a:t>each shard pushes writes to other datacenters, shard-to-shard, asynchronously</a:t>
            </a:r>
          </a:p>
          <a:p>
            <a:r>
              <a:rPr lang="en-US" sz="2400" dirty="0" smtClean="0"/>
              <a:t>lots of parallelism</a:t>
            </a:r>
          </a:p>
          <a:p>
            <a:r>
              <a:rPr lang="en-US" sz="2400" dirty="0" smtClean="0"/>
              <a:t>this design favors reads</a:t>
            </a:r>
          </a:p>
          <a:p>
            <a:pPr lvl="1"/>
            <a:r>
              <a:rPr lang="en-US" sz="2000" dirty="0" smtClean="0"/>
              <a:t>could instead have writes be purely local, and reads check other datacenters</a:t>
            </a:r>
          </a:p>
          <a:p>
            <a:pPr lvl="1"/>
            <a:r>
              <a:rPr lang="en-US" sz="2000" dirty="0" smtClean="0"/>
              <a:t>or quorum, with overlap, as in Dynamo/Cassandra</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straw man one is an "eventually consistent" design</a:t>
            </a:r>
            <a:endParaRPr lang="en-US" dirty="0"/>
          </a:p>
        </p:txBody>
      </p:sp>
      <p:sp>
        <p:nvSpPr>
          <p:cNvPr id="3" name="Content Placeholder 2"/>
          <p:cNvSpPr>
            <a:spLocks noGrp="1"/>
          </p:cNvSpPr>
          <p:nvPr>
            <p:ph idx="1"/>
          </p:nvPr>
        </p:nvSpPr>
        <p:spPr/>
        <p:txBody>
          <a:bodyPr/>
          <a:lstStyle/>
          <a:p>
            <a:r>
              <a:rPr lang="en-US" sz="2400" dirty="0" smtClean="0"/>
              <a:t>1. clients may see updates in different orders</a:t>
            </a:r>
          </a:p>
          <a:p>
            <a:r>
              <a:rPr lang="en-US" sz="2400" dirty="0" smtClean="0"/>
              <a:t>2. if no writes for long enough, all clients see same data</a:t>
            </a:r>
          </a:p>
          <a:p>
            <a:r>
              <a:rPr lang="en-US" sz="2400" dirty="0" smtClean="0"/>
              <a:t>a pretty loose spec, many ways to implement, easy to get good performance</a:t>
            </a:r>
          </a:p>
          <a:p>
            <a:r>
              <a:rPr lang="en-US" sz="2400" dirty="0" smtClean="0"/>
              <a:t>used in deployed systems, e.g. Dynamo and Cassandra</a:t>
            </a:r>
          </a:p>
          <a:p>
            <a:r>
              <a:rPr lang="en-US" sz="2400" dirty="0" smtClean="0"/>
              <a:t>but can be tricky for app programmers</a:t>
            </a:r>
          </a:p>
          <a:p>
            <a:r>
              <a:rPr lang="en-US" sz="2400" dirty="0" smtClean="0"/>
              <a:t>example app code -- a photo manager</a:t>
            </a:r>
          </a:p>
          <a:p>
            <a:pPr lvl="1"/>
            <a:r>
              <a:rPr lang="en-US" sz="2000" dirty="0" smtClean="0"/>
              <a:t>C1 uploads photo, adds reference to public list:</a:t>
            </a:r>
          </a:p>
          <a:p>
            <a:pPr lvl="1"/>
            <a:r>
              <a:rPr lang="en-US" sz="2000" dirty="0" smtClean="0"/>
              <a:t>C1: put(photo) put(list)</a:t>
            </a:r>
          </a:p>
          <a:p>
            <a:pPr lvl="1"/>
            <a:r>
              <a:rPr lang="en-US" sz="2000" dirty="0" smtClean="0"/>
              <a:t>C2 reads:</a:t>
            </a:r>
          </a:p>
          <a:p>
            <a:pPr lvl="1"/>
            <a:r>
              <a:rPr lang="en-US" sz="2000" dirty="0" smtClean="0"/>
              <a:t>C2: 			get(list) 	</a:t>
            </a:r>
            <a:r>
              <a:rPr lang="en-US" sz="2000" b="1" dirty="0" smtClean="0"/>
              <a:t>get(photo)</a:t>
            </a:r>
            <a:endParaRPr lang="en-US" sz="20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Sequential Consistency [2]</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Sequential consistency</a:t>
            </a:r>
            <a:r>
              <a:rPr lang="en-US" sz="2400" dirty="0" smtClean="0"/>
              <a:t>: the result of any execution is the same as if the operations of all the processors were executed in some sequential order, and the operations of each individual processor appear in this sequence in the order specified by its program.</a:t>
            </a:r>
          </a:p>
          <a:p>
            <a:r>
              <a:rPr lang="en-US" sz="2400" dirty="0" smtClean="0"/>
              <a:t>Processor </a:t>
            </a:r>
            <a:r>
              <a:rPr lang="en-US" sz="2400" dirty="0" smtClean="0"/>
              <a:t>1: print "Hello"; print "world!";</a:t>
            </a:r>
          </a:p>
          <a:p>
            <a:r>
              <a:rPr lang="en-US" sz="2400" dirty="0" smtClean="0"/>
              <a:t>Processor 2: print "Hi!";</a:t>
            </a:r>
          </a:p>
          <a:p>
            <a:r>
              <a:rPr lang="en-US" sz="2400" dirty="0" smtClean="0"/>
              <a:t>Sequential order 1: Hello world! Hi! Ok.</a:t>
            </a:r>
          </a:p>
          <a:p>
            <a:r>
              <a:rPr lang="en-US" sz="2400" dirty="0" smtClean="0"/>
              <a:t>Sequential order 2: Hello Hi! world! Ok.</a:t>
            </a:r>
          </a:p>
          <a:p>
            <a:r>
              <a:rPr lang="en-US" sz="2400" dirty="0" smtClean="0"/>
              <a:t>Sequential order 3: world! Hello Hi! Not ok!</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Sequential Consistency vs. </a:t>
            </a:r>
            <a:r>
              <a:rPr lang="en-US" dirty="0" err="1" smtClean="0"/>
              <a:t>Linearizability</a:t>
            </a:r>
            <a:endParaRPr lang="en-US" dirty="0"/>
          </a:p>
        </p:txBody>
      </p:sp>
      <p:sp>
        <p:nvSpPr>
          <p:cNvPr id="3" name="Content Placeholder 2"/>
          <p:cNvSpPr>
            <a:spLocks noGrp="1"/>
          </p:cNvSpPr>
          <p:nvPr>
            <p:ph idx="1"/>
          </p:nvPr>
        </p:nvSpPr>
        <p:spPr/>
        <p:txBody>
          <a:bodyPr/>
          <a:lstStyle/>
          <a:p>
            <a:r>
              <a:rPr lang="en-US" sz="2400" b="1" dirty="0" err="1" smtClean="0"/>
              <a:t>Linearizability</a:t>
            </a:r>
            <a:r>
              <a:rPr lang="en-US" sz="2400" b="1" dirty="0" smtClean="0"/>
              <a:t> cares about time.</a:t>
            </a:r>
            <a:r>
              <a:rPr lang="en-US" sz="2400" dirty="0" smtClean="0"/>
              <a:t> </a:t>
            </a:r>
            <a:r>
              <a:rPr lang="en-US" sz="2400" b="1" dirty="0" smtClean="0"/>
              <a:t>Sequential consistency cares about program order</a:t>
            </a:r>
            <a:r>
              <a:rPr lang="en-US" sz="2400" dirty="0" smtClean="0"/>
              <a:t>.</a:t>
            </a:r>
          </a:p>
          <a:p>
            <a:r>
              <a:rPr lang="en-US" sz="2400" dirty="0" smtClean="0"/>
              <a:t>Processor 1: print "Hello";                             print "world!";</a:t>
            </a:r>
          </a:p>
          <a:p>
            <a:r>
              <a:rPr lang="en-US" sz="2400" dirty="0" smtClean="0"/>
              <a:t>Processor 2:                              print "Hi!";</a:t>
            </a:r>
          </a:p>
          <a:p>
            <a:endParaRPr lang="en-US" sz="2400" dirty="0" smtClean="0"/>
          </a:p>
          <a:p>
            <a:r>
              <a:rPr lang="en-US" sz="2400" dirty="0" smtClean="0"/>
              <a:t>Sequential Consistency: Hello world! Hi! Ok.</a:t>
            </a:r>
          </a:p>
          <a:p>
            <a:r>
              <a:rPr lang="en-US" sz="2400" dirty="0" err="1" smtClean="0"/>
              <a:t>Linearizability</a:t>
            </a:r>
            <a:r>
              <a:rPr lang="en-US" sz="2400" dirty="0" smtClean="0"/>
              <a:t>: Hello world! Hi! Not ok.</a:t>
            </a:r>
          </a:p>
          <a:p>
            <a:endParaRPr lang="en-US" sz="2400" smtClean="0"/>
          </a:p>
          <a:p>
            <a:r>
              <a:rPr lang="en-US" sz="2400" smtClean="0"/>
              <a:t>Sequential </a:t>
            </a:r>
            <a:r>
              <a:rPr lang="en-US" sz="2400" dirty="0" smtClean="0"/>
              <a:t>Consistency: Hello Hi! world! Ok.</a:t>
            </a:r>
          </a:p>
          <a:p>
            <a:r>
              <a:rPr lang="en-US" sz="2400" dirty="0" err="1" smtClean="0"/>
              <a:t>Linearizability</a:t>
            </a:r>
            <a:r>
              <a:rPr lang="en-US" sz="2400" dirty="0" smtClean="0"/>
              <a:t>: Hello Hi! world! Ok.</a:t>
            </a:r>
          </a:p>
          <a:p>
            <a:endParaRPr lang="en-US" sz="2400"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causal consistency</a:t>
            </a:r>
            <a:endParaRPr lang="en-US" dirty="0"/>
          </a:p>
        </p:txBody>
      </p:sp>
      <p:sp>
        <p:nvSpPr>
          <p:cNvPr id="3" name="Content Placeholder 2"/>
          <p:cNvSpPr>
            <a:spLocks noGrp="1"/>
          </p:cNvSpPr>
          <p:nvPr>
            <p:ph idx="1"/>
          </p:nvPr>
        </p:nvSpPr>
        <p:spPr>
          <a:xfrm>
            <a:off x="457200" y="4724400"/>
            <a:ext cx="8229600" cy="1401763"/>
          </a:xfrm>
        </p:spPr>
        <p:txBody>
          <a:bodyPr/>
          <a:lstStyle/>
          <a:p>
            <a:r>
              <a:rPr lang="en-US" sz="2400" dirty="0" err="1" smtClean="0"/>
              <a:t>Linearizability</a:t>
            </a:r>
            <a:r>
              <a:rPr lang="en-US" sz="2400" dirty="0" smtClean="0"/>
              <a:t> &gt; Sequential &gt; Causal &gt; FIFO &gt; Eventual</a:t>
            </a:r>
            <a:endParaRPr lang="en-US" sz="2400" dirty="0"/>
          </a:p>
        </p:txBody>
      </p:sp>
      <p:pic>
        <p:nvPicPr>
          <p:cNvPr id="1027" name="Picture 3"/>
          <p:cNvPicPr>
            <a:picLocks noChangeAspect="1" noChangeArrowheads="1"/>
          </p:cNvPicPr>
          <p:nvPr/>
        </p:nvPicPr>
        <p:blipFill>
          <a:blip r:embed="rId2" cstate="print"/>
          <a:srcRect/>
          <a:stretch>
            <a:fillRect/>
          </a:stretch>
        </p:blipFill>
        <p:spPr bwMode="auto">
          <a:xfrm>
            <a:off x="1033463" y="1752600"/>
            <a:ext cx="7077075" cy="272415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Research</a:t>
            </a:r>
            <a:endParaRPr lang="en-US" dirty="0"/>
          </a:p>
        </p:txBody>
      </p:sp>
      <p:sp>
        <p:nvSpPr>
          <p:cNvPr id="3" name="Content Placeholder 2"/>
          <p:cNvSpPr>
            <a:spLocks noGrp="1"/>
          </p:cNvSpPr>
          <p:nvPr>
            <p:ph idx="1"/>
          </p:nvPr>
        </p:nvSpPr>
        <p:spPr/>
        <p:txBody>
          <a:bodyPr/>
          <a:lstStyle/>
          <a:p>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20818</TotalTime>
  <Words>589</Words>
  <Application>Microsoft Office PowerPoint</Application>
  <PresentationFormat>On-screen Show (4:3)</PresentationFormat>
  <Paragraphs>77</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Causal Consistency - COPS</vt:lpstr>
      <vt:lpstr>Objectives</vt:lpstr>
      <vt:lpstr>Contents</vt:lpstr>
      <vt:lpstr>References</vt:lpstr>
      <vt:lpstr>the setting: geo-replication for big web sites</vt:lpstr>
      <vt:lpstr>we've seen two solutions for geo-replication</vt:lpstr>
      <vt:lpstr>can we have a system that allows writes from any datacenter?</vt:lpstr>
      <vt:lpstr>straw man one</vt:lpstr>
      <vt:lpstr>straw man one is an "eventually consistent" design</vt:lpstr>
      <vt:lpstr>Sequential Consistency [2]</vt:lpstr>
      <vt:lpstr>Sequential Consistency vs. Linearizability</vt:lpstr>
      <vt:lpstr>causal consistency</vt:lpstr>
      <vt:lpstr>Further Research</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6617</cp:revision>
  <dcterms:created xsi:type="dcterms:W3CDTF">2007-10-06T08:25:13Z</dcterms:created>
  <dcterms:modified xsi:type="dcterms:W3CDTF">2023-09-04T18:04:06Z</dcterms:modified>
</cp:coreProperties>
</file>