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692" r:id="rId3"/>
    <p:sldId id="693" r:id="rId4"/>
    <p:sldId id="695" r:id="rId5"/>
    <p:sldId id="756" r:id="rId6"/>
    <p:sldId id="762" r:id="rId7"/>
    <p:sldId id="758" r:id="rId8"/>
    <p:sldId id="757" r:id="rId9"/>
    <p:sldId id="759" r:id="rId10"/>
    <p:sldId id="760" r:id="rId11"/>
    <p:sldId id="761" r:id="rId12"/>
    <p:sldId id="34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73" autoAdjust="0"/>
    <p:restoredTop sz="94667" autoAdjust="0"/>
  </p:normalViewPr>
  <p:slideViewPr>
    <p:cSldViewPr>
      <p:cViewPr>
        <p:scale>
          <a:sx n="50" d="100"/>
          <a:sy n="50" d="100"/>
        </p:scale>
        <p:origin x="-149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E02B5-5F97-43FB-B6EA-011787F0E1A5}" type="datetimeFigureOut">
              <a:rPr lang="en-US" smtClean="0"/>
              <a:pPr/>
              <a:t>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127FC-F31A-48E4-A24A-3240EBF5A4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learning-the-go-programming-language/encoding-data-with-the-go-binary-package-42c7c0eb3e7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eksforgeeks.org/little-and-big-endian-mystery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Binary Data Encoding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2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Sensor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https://medium.com/learning-the-go-programming-language/encoding-data-with-the-go-binary-package-42c7c0eb3e73</a:t>
            </a:r>
            <a:endParaRPr lang="en-US" sz="2000" dirty="0" smtClean="0"/>
          </a:p>
          <a:p>
            <a:r>
              <a:rPr lang="en-US" sz="2000" dirty="0" smtClean="0"/>
              <a:t>Imagine that you are writing Go code for small remote devices collecting sensor data to send to backend edge </a:t>
            </a:r>
            <a:r>
              <a:rPr lang="en-US" sz="2000" dirty="0" smtClean="0"/>
              <a:t>servers.</a:t>
            </a:r>
          </a:p>
          <a:p>
            <a:r>
              <a:rPr lang="en-US" sz="2000" dirty="0" smtClean="0"/>
              <a:t>To </a:t>
            </a:r>
            <a:r>
              <a:rPr lang="en-US" sz="2000" dirty="0" smtClean="0"/>
              <a:t>save bandwidth (and other resources), you decide to create a simple binary format for your data as outline below</a:t>
            </a:r>
            <a:r>
              <a:rPr lang="en-US" sz="2000" dirty="0" smtClean="0"/>
              <a:t>:</a:t>
            </a:r>
          </a:p>
          <a:p>
            <a:endParaRPr lang="en-US" sz="2000" dirty="0" smtClean="0"/>
          </a:p>
          <a:p>
            <a:r>
              <a:rPr lang="en-US" sz="1600" dirty="0" smtClean="0">
                <a:latin typeface="Consolas" pitchFamily="49" charset="0"/>
              </a:rPr>
              <a:t>0       1       2       3       4       5       6       7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0123456701234567012345670123456701234567012345670123456701234567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+-------+-------+-------+-------+-------+-------+-------+------+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| </a:t>
            </a:r>
            <a:r>
              <a:rPr lang="en-US" sz="1600" dirty="0" err="1" smtClean="0">
                <a:latin typeface="Consolas" pitchFamily="49" charset="0"/>
              </a:rPr>
              <a:t>SensorID</a:t>
            </a:r>
            <a:r>
              <a:rPr lang="en-US" sz="1600" dirty="0" smtClean="0">
                <a:latin typeface="Consolas" pitchFamily="49" charset="0"/>
              </a:rPr>
              <a:t> | </a:t>
            </a:r>
            <a:r>
              <a:rPr lang="en-US" sz="1600" dirty="0" err="1" smtClean="0">
                <a:latin typeface="Consolas" pitchFamily="49" charset="0"/>
              </a:rPr>
              <a:t>LocationID</a:t>
            </a:r>
            <a:r>
              <a:rPr lang="en-US" sz="1600" dirty="0" smtClean="0">
                <a:latin typeface="Consolas" pitchFamily="49" charset="0"/>
              </a:rPr>
              <a:t> | Timestamp |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+-------+-------+-------+-------+-------+-------+-------+------+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| Temp |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+---------------+</a:t>
            </a:r>
            <a:endParaRPr lang="en-US" sz="16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Sensor </a:t>
            </a:r>
            <a:r>
              <a:rPr lang="en-US" dirty="0" smtClean="0"/>
              <a:t>Data Detail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latin typeface="Consolas" pitchFamily="49" charset="0"/>
              </a:rPr>
              <a:t>0       </a:t>
            </a:r>
            <a:r>
              <a:rPr lang="en-US" sz="1600" dirty="0" smtClean="0">
                <a:latin typeface="Consolas" pitchFamily="49" charset="0"/>
              </a:rPr>
              <a:t>1       2       3       4       5       6       7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0123456701234567012345670123456701234567012345670123456701234567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+-------+-------+-------+-------+-------+-------+-------+------+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| </a:t>
            </a:r>
            <a:r>
              <a:rPr lang="en-US" sz="1600" dirty="0" err="1" smtClean="0">
                <a:latin typeface="Consolas" pitchFamily="49" charset="0"/>
              </a:rPr>
              <a:t>SensorID</a:t>
            </a:r>
            <a:r>
              <a:rPr lang="en-US" sz="1600" dirty="0" smtClean="0">
                <a:latin typeface="Consolas" pitchFamily="49" charset="0"/>
              </a:rPr>
              <a:t> | </a:t>
            </a:r>
            <a:r>
              <a:rPr lang="en-US" sz="1600" dirty="0" err="1" smtClean="0">
                <a:latin typeface="Consolas" pitchFamily="49" charset="0"/>
              </a:rPr>
              <a:t>LocationID</a:t>
            </a:r>
            <a:r>
              <a:rPr lang="en-US" sz="1600" dirty="0" smtClean="0">
                <a:latin typeface="Consolas" pitchFamily="49" charset="0"/>
              </a:rPr>
              <a:t> | Timestamp |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+-------+-------+-------+-------+-------+-------+-------+------+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| Temp |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+---------------+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2400" dirty="0" smtClean="0"/>
              <a:t>The data is arranged in a fixed-size binary packet of 80 bits that divided into four fields including </a:t>
            </a:r>
            <a:endParaRPr lang="en-US" sz="2400" dirty="0" smtClean="0"/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SensorID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</a:rPr>
              <a:t>(16 bit)</a:t>
            </a:r>
            <a:r>
              <a:rPr lang="en-US" sz="2000" dirty="0" smtClean="0"/>
              <a:t>, </a:t>
            </a:r>
            <a:endParaRPr lang="en-US" sz="2000" dirty="0" smtClean="0"/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LocationID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</a:rPr>
              <a:t>(16 bit)</a:t>
            </a:r>
            <a:r>
              <a:rPr lang="en-US" sz="2000" dirty="0" smtClean="0"/>
              <a:t>, </a:t>
            </a:r>
            <a:endParaRPr lang="en-US" sz="2000" dirty="0" smtClean="0"/>
          </a:p>
          <a:p>
            <a:pPr lvl="1"/>
            <a:r>
              <a:rPr lang="en-US" sz="2000" b="1" dirty="0" smtClean="0">
                <a:latin typeface="Consolas" pitchFamily="49" charset="0"/>
              </a:rPr>
              <a:t>Timestamp </a:t>
            </a:r>
            <a:r>
              <a:rPr lang="en-US" sz="2000" b="1" dirty="0" smtClean="0">
                <a:latin typeface="Consolas" pitchFamily="49" charset="0"/>
              </a:rPr>
              <a:t>(32 bit)</a:t>
            </a:r>
            <a:r>
              <a:rPr lang="en-US" sz="2000" dirty="0" smtClean="0"/>
              <a:t>, and </a:t>
            </a:r>
            <a:endParaRPr lang="en-US" sz="2000" dirty="0" smtClean="0"/>
          </a:p>
          <a:p>
            <a:pPr lvl="1"/>
            <a:r>
              <a:rPr lang="en-US" sz="2000" b="1" dirty="0" smtClean="0">
                <a:latin typeface="Consolas" pitchFamily="49" charset="0"/>
              </a:rPr>
              <a:t>Temperature </a:t>
            </a:r>
            <a:r>
              <a:rPr lang="en-US" sz="2000" b="1" dirty="0" smtClean="0">
                <a:latin typeface="Consolas" pitchFamily="49" charset="0"/>
              </a:rPr>
              <a:t>(16 bit)</a:t>
            </a:r>
            <a:r>
              <a:rPr lang="en-US" sz="2000" dirty="0" smtClean="0"/>
              <a:t>.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Little and Big </a:t>
            </a:r>
            <a:r>
              <a:rPr lang="en-US" dirty="0" err="1" smtClean="0"/>
              <a:t>Endian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https://www.geeksforgeeks.org/little-and-big-endian-mystery/</a:t>
            </a:r>
            <a:endParaRPr lang="en-US" sz="1800" dirty="0" smtClean="0"/>
          </a:p>
          <a:p>
            <a:r>
              <a:rPr lang="en-US" sz="1800" dirty="0" smtClean="0"/>
              <a:t>Little and big </a:t>
            </a:r>
            <a:r>
              <a:rPr lang="en-US" sz="1800" dirty="0" err="1" smtClean="0"/>
              <a:t>endian</a:t>
            </a:r>
            <a:r>
              <a:rPr lang="en-US" sz="1800" dirty="0" smtClean="0"/>
              <a:t> are two ways of storing </a:t>
            </a:r>
            <a:r>
              <a:rPr lang="en-US" sz="1800" dirty="0" err="1" smtClean="0"/>
              <a:t>multibyte</a:t>
            </a:r>
            <a:r>
              <a:rPr lang="en-US" sz="1800" dirty="0" smtClean="0"/>
              <a:t> data-types ( </a:t>
            </a:r>
            <a:r>
              <a:rPr lang="en-US" sz="1800" dirty="0" err="1" smtClean="0"/>
              <a:t>int</a:t>
            </a:r>
            <a:r>
              <a:rPr lang="en-US" sz="1800" dirty="0" smtClean="0"/>
              <a:t>, float, etc).</a:t>
            </a:r>
          </a:p>
          <a:p>
            <a:r>
              <a:rPr lang="en-US" sz="1800" dirty="0" smtClean="0"/>
              <a:t>In </a:t>
            </a:r>
            <a:r>
              <a:rPr lang="en-US" sz="1800" i="1" dirty="0" smtClean="0">
                <a:solidFill>
                  <a:srgbClr val="C00000"/>
                </a:solidFill>
              </a:rPr>
              <a:t>little </a:t>
            </a:r>
            <a:r>
              <a:rPr lang="en-US" sz="1800" i="1" dirty="0" err="1" smtClean="0">
                <a:solidFill>
                  <a:srgbClr val="C00000"/>
                </a:solidFill>
              </a:rPr>
              <a:t>endian</a:t>
            </a:r>
            <a:r>
              <a:rPr lang="en-US" sz="1800" i="1" dirty="0" smtClean="0">
                <a:solidFill>
                  <a:srgbClr val="C00000"/>
                </a:solidFill>
              </a:rPr>
              <a:t> machines</a:t>
            </a:r>
            <a:r>
              <a:rPr lang="en-US" sz="1800" dirty="0" smtClean="0"/>
              <a:t>, </a:t>
            </a:r>
            <a:r>
              <a:rPr lang="en-US" sz="1800" u="sng" dirty="0" smtClean="0"/>
              <a:t>last byte</a:t>
            </a:r>
            <a:r>
              <a:rPr lang="en-US" sz="1800" dirty="0" smtClean="0"/>
              <a:t> of binary representation of the </a:t>
            </a:r>
            <a:r>
              <a:rPr lang="en-US" sz="1800" dirty="0" err="1" smtClean="0"/>
              <a:t>multibyte</a:t>
            </a:r>
            <a:r>
              <a:rPr lang="en-US" sz="1800" dirty="0" smtClean="0"/>
              <a:t> data-type is stored first.</a:t>
            </a:r>
          </a:p>
          <a:p>
            <a:r>
              <a:rPr lang="en-US" sz="1800" dirty="0" smtClean="0"/>
              <a:t>On the other hand, in </a:t>
            </a:r>
            <a:r>
              <a:rPr lang="en-US" sz="1800" i="1" dirty="0" smtClean="0">
                <a:solidFill>
                  <a:srgbClr val="C00000"/>
                </a:solidFill>
              </a:rPr>
              <a:t>big </a:t>
            </a:r>
            <a:r>
              <a:rPr lang="en-US" sz="1800" i="1" dirty="0" err="1" smtClean="0">
                <a:solidFill>
                  <a:srgbClr val="C00000"/>
                </a:solidFill>
              </a:rPr>
              <a:t>endian</a:t>
            </a:r>
            <a:r>
              <a:rPr lang="en-US" sz="1800" i="1" dirty="0" smtClean="0">
                <a:solidFill>
                  <a:srgbClr val="C00000"/>
                </a:solidFill>
              </a:rPr>
              <a:t> machines</a:t>
            </a:r>
            <a:r>
              <a:rPr lang="en-US" sz="1800" dirty="0" smtClean="0"/>
              <a:t>, </a:t>
            </a:r>
            <a:r>
              <a:rPr lang="en-US" sz="1800" u="sng" dirty="0" smtClean="0"/>
              <a:t>first byte</a:t>
            </a:r>
            <a:r>
              <a:rPr lang="en-US" sz="1800" dirty="0" smtClean="0"/>
              <a:t> of binary representation of the </a:t>
            </a:r>
            <a:r>
              <a:rPr lang="en-US" sz="1800" dirty="0" err="1" smtClean="0"/>
              <a:t>multibyte</a:t>
            </a:r>
            <a:r>
              <a:rPr lang="en-US" sz="1800" dirty="0" smtClean="0"/>
              <a:t> data-type is stored first.</a:t>
            </a:r>
          </a:p>
          <a:p>
            <a:r>
              <a:rPr lang="en-US" sz="1800" dirty="0" smtClean="0"/>
              <a:t>Suppose integer is stored as 4 bytes (For those who are using DOS-based compilers such as C++ 3.0, integer is 2 bytes) then a variable x with value </a:t>
            </a:r>
            <a:r>
              <a:rPr lang="en-US" sz="1800" b="1" dirty="0" smtClean="0">
                <a:latin typeface="Consolas" pitchFamily="49" charset="0"/>
              </a:rPr>
              <a:t>0x01234567</a:t>
            </a:r>
            <a:r>
              <a:rPr lang="en-US" sz="1800" dirty="0" smtClean="0"/>
              <a:t> will be stored as following.</a:t>
            </a:r>
            <a:endParaRPr lang="en-US" sz="1800" dirty="0">
              <a:latin typeface="Consolas" pitchFamily="49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648200"/>
            <a:ext cx="38100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Use the </a:t>
            </a:r>
            <a:r>
              <a:rPr lang="en-US" sz="3400" dirty="0" err="1" smtClean="0">
                <a:latin typeface="Consolas" pitchFamily="49" charset="0"/>
              </a:rPr>
              <a:t>BigEndian</a:t>
            </a:r>
            <a:r>
              <a:rPr lang="en-US" sz="3400" dirty="0" smtClean="0"/>
              <a:t> Type to Encode Data (I)</a:t>
            </a:r>
            <a:endParaRPr lang="en-US" sz="3400" dirty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752600"/>
            <a:ext cx="8229600" cy="44196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main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"encoding/binary"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"time"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/*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0       1       2       3       4       5       6       7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0123456701234567012345670123456701234567012345670123456701234567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+-------+-------+-------+-------+-------+-------+-------+------+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|    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SensorID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   |   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LocationID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  |            Timestamp         |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+-------+-------+-------+-------+-------+-------+-------+------+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|      Temp     |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+---------------+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*/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Use the </a:t>
            </a:r>
            <a:r>
              <a:rPr lang="en-US" sz="3400" dirty="0" err="1" smtClean="0">
                <a:latin typeface="Consolas" pitchFamily="49" charset="0"/>
              </a:rPr>
              <a:t>BigEndian</a:t>
            </a:r>
            <a:r>
              <a:rPr lang="en-US" sz="3400" dirty="0" smtClean="0"/>
              <a:t> Type to Encode Data (II)</a:t>
            </a:r>
            <a:endParaRPr lang="en-US" sz="3400" dirty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676400"/>
            <a:ext cx="8229600" cy="46482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make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([]</a:t>
            </a:r>
            <a:r>
              <a:rPr lang="en-US" sz="1400" dirty="0" smtClean="0">
                <a:solidFill>
                  <a:srgbClr val="4EC9B0"/>
                </a:solidFill>
                <a:latin typeface="Consolas"/>
              </a:rPr>
              <a:t>byte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ts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uint32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time.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Now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Unix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Encoding the data into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buf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PutUint16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0xa20c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sensorID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PutUint16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0x04af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locationID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PutUint32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ts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timestamp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PutUint16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8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479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  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temp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 x</a:t>
            </a:r>
            <a:r>
              <a:rPr lang="en-US" sz="1400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Decoding the data from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buf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sensorID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locID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tstamp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Uint32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temp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binary.BigEndian.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Uint16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8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:])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sid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: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%0#x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locID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%0#x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ts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: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%0#x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, temp: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%d</a:t>
            </a:r>
            <a:r>
              <a:rPr lang="en-US" sz="1400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sensorID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locID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tstamp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temp)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371600"/>
            <a:ext cx="4356100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Use the </a:t>
            </a:r>
            <a:r>
              <a:rPr lang="en-US" sz="3600" dirty="0" err="1" smtClean="0">
                <a:latin typeface="Consolas" pitchFamily="49" charset="0"/>
              </a:rPr>
              <a:t>binary.Write</a:t>
            </a:r>
            <a:r>
              <a:rPr lang="en-US" sz="3600" dirty="0" smtClean="0"/>
              <a:t> to Encode Data (I)</a:t>
            </a:r>
            <a:endParaRPr lang="en-US" sz="3600" dirty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905000"/>
            <a:ext cx="8229600" cy="40386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package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main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"bytes"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"encoding/binary"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fmt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packet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Sensid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uint32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Locid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uint16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Tstamp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uint32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Temp  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int16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Use the </a:t>
            </a:r>
            <a:r>
              <a:rPr lang="en-US" sz="3400" dirty="0" err="1" smtClean="0">
                <a:latin typeface="Consolas" pitchFamily="49" charset="0"/>
              </a:rPr>
              <a:t>binary.Write</a:t>
            </a:r>
            <a:r>
              <a:rPr lang="en-US" sz="3400" dirty="0" smtClean="0"/>
              <a:t> to Encode Data (II)</a:t>
            </a:r>
            <a:endParaRPr lang="en-US" sz="3400" dirty="0">
              <a:latin typeface="Consolas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524000"/>
            <a:ext cx="8229600" cy="5105400"/>
          </a:xfrm>
          <a:prstGeom prst="rect">
            <a:avLst/>
          </a:prstGeom>
          <a:ln w="38100" cap="flat" cmpd="sng" algn="ctr">
            <a:solidFill>
              <a:schemeClr val="lt1"/>
            </a:solidFill>
            <a:prstDash val="solid"/>
            <a:miter lim="800000"/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func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dataIn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packet{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Sensid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Locid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1233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Tstamp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123452123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Temp: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12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new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bytes.Buffer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put single encoded data packet into writer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buf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automatically marshaled to type packet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binary.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Write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binary.BigEndian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 err !=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(err)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return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"In: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%v</a:t>
            </a:r>
            <a:r>
              <a:rPr lang="en-US" sz="1400" dirty="0" smtClean="0">
                <a:solidFill>
                  <a:srgbClr val="D7BA7D"/>
                </a:solidFill>
                <a:latin typeface="Consolas"/>
              </a:rPr>
              <a:t>\n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dataIn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get single encoded data packet from reader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automatically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unmarshal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 to type packet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dataOut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packet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err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:=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binary.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Read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buf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binary.BigEndian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&amp;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dataOut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 err !=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nil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Println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"failed to Read:"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err)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return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fmt.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"Out: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%v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dataOut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5562600"/>
            <a:ext cx="20701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15193</TotalTime>
  <Words>263</Words>
  <Application>Microsoft Office PowerPoint</Application>
  <PresentationFormat>On-screen Show (4:3)</PresentationFormat>
  <Paragraphs>99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Binary Data Encoding</vt:lpstr>
      <vt:lpstr>Objectives</vt:lpstr>
      <vt:lpstr>Contents</vt:lpstr>
      <vt:lpstr>References</vt:lpstr>
      <vt:lpstr>The Sensor Data</vt:lpstr>
      <vt:lpstr>The Sensor Data Detail</vt:lpstr>
      <vt:lpstr>Little and Big Endian</vt:lpstr>
      <vt:lpstr>Use the BigEndian Type to Encode Data (I)</vt:lpstr>
      <vt:lpstr>Use the BigEndian Type to Encode Data (II)</vt:lpstr>
      <vt:lpstr>Use the binary.Write to Encode Data (I)</vt:lpstr>
      <vt:lpstr>Use the binary.Write to Encode Data (II)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6368</cp:revision>
  <dcterms:created xsi:type="dcterms:W3CDTF">2007-10-06T08:25:13Z</dcterms:created>
  <dcterms:modified xsi:type="dcterms:W3CDTF">2023-12-31T20:07:38Z</dcterms:modified>
</cp:coreProperties>
</file>