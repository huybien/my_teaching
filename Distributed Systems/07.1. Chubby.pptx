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2"/>
  </p:notesMasterIdLst>
  <p:sldIdLst>
    <p:sldId id="670" r:id="rId2"/>
    <p:sldId id="671" r:id="rId3"/>
    <p:sldId id="672" r:id="rId4"/>
    <p:sldId id="673" r:id="rId5"/>
    <p:sldId id="717" r:id="rId6"/>
    <p:sldId id="709" r:id="rId7"/>
    <p:sldId id="710" r:id="rId8"/>
    <p:sldId id="711" r:id="rId9"/>
    <p:sldId id="712" r:id="rId10"/>
    <p:sldId id="713" r:id="rId11"/>
    <p:sldId id="714" r:id="rId12"/>
    <p:sldId id="715" r:id="rId13"/>
    <p:sldId id="716" r:id="rId14"/>
    <p:sldId id="708" r:id="rId15"/>
    <p:sldId id="718" r:id="rId16"/>
    <p:sldId id="719" r:id="rId17"/>
    <p:sldId id="720" r:id="rId18"/>
    <p:sldId id="722" r:id="rId19"/>
    <p:sldId id="725" r:id="rId20"/>
    <p:sldId id="516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martin.kleppmann.com/2016/02/08/how-to-do-distributed-locking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edis.io/docs/manual/patterns/distributed-locks/" TargetMode="External"/><Relationship Id="rId2" Type="http://schemas.openxmlformats.org/officeDocument/2006/relationships/hyperlink" Target="https://martin.kleppmann.com/2016/02/08/how-to-do-distributed-locking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ckoverflow.com/questions/74755667/how-are-keys-locked-in-kv-stores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Chubby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Mike Burrows (2006). The Chubby Lock Service for Loosely-Coupled Distributed Systems.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Chubby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This paper describes a </a:t>
            </a:r>
            <a:r>
              <a:rPr lang="en-US" sz="2800" u="sng" dirty="0" smtClean="0"/>
              <a:t>lock service</a:t>
            </a:r>
            <a:r>
              <a:rPr lang="en-US" sz="2800" dirty="0" smtClean="0"/>
              <a:t> called </a:t>
            </a:r>
            <a:r>
              <a:rPr lang="en-US" sz="2800" i="1" dirty="0" smtClean="0">
                <a:solidFill>
                  <a:srgbClr val="C00000"/>
                </a:solidFill>
              </a:rPr>
              <a:t>Chubby</a:t>
            </a:r>
            <a:r>
              <a:rPr lang="en-US" sz="2800" dirty="0" smtClean="0"/>
              <a:t>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The purpose of the lock service</a:t>
            </a:r>
            <a:r>
              <a:rPr lang="en-US" sz="2800" dirty="0" smtClean="0"/>
              <a:t> is to allow its clients to synchronize their activities and to </a:t>
            </a:r>
            <a:r>
              <a:rPr lang="en-US" sz="2800" u="sng" dirty="0" smtClean="0"/>
              <a:t>agree on basic information</a:t>
            </a:r>
            <a:r>
              <a:rPr lang="en-US" sz="2800" dirty="0" smtClean="0"/>
              <a:t> about their environment.</a:t>
            </a:r>
          </a:p>
          <a:p>
            <a:r>
              <a:rPr lang="en-US" sz="2800" dirty="0" smtClean="0"/>
              <a:t>The primary goals included </a:t>
            </a:r>
            <a:r>
              <a:rPr lang="en-US" sz="2800" i="1" dirty="0" smtClean="0">
                <a:solidFill>
                  <a:srgbClr val="C00000"/>
                </a:solidFill>
              </a:rPr>
              <a:t>reliability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availability</a:t>
            </a:r>
            <a:r>
              <a:rPr lang="en-US" sz="2800" dirty="0" smtClean="0"/>
              <a:t> to a moderately large set of clients, and </a:t>
            </a:r>
            <a:r>
              <a:rPr lang="en-US" sz="2800" i="1" dirty="0" smtClean="0">
                <a:solidFill>
                  <a:srgbClr val="C00000"/>
                </a:solidFill>
              </a:rPr>
              <a:t>easy-to-understand semantics</a:t>
            </a:r>
            <a:r>
              <a:rPr lang="en-US" sz="2800" dirty="0" smtClean="0"/>
              <a:t>;  </a:t>
            </a:r>
          </a:p>
          <a:p>
            <a:r>
              <a:rPr lang="en-US" sz="2800" dirty="0" smtClean="0"/>
              <a:t>throughput and storage capacity were considered secondary.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Chubby?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To deal with the problem of </a:t>
            </a:r>
            <a:r>
              <a:rPr lang="en-US" sz="2800" i="1" dirty="0" smtClean="0">
                <a:solidFill>
                  <a:srgbClr val="C00000"/>
                </a:solidFill>
              </a:rPr>
              <a:t>electing a leader</a:t>
            </a:r>
            <a:r>
              <a:rPr lang="en-US" sz="2800" dirty="0" smtClean="0"/>
              <a:t> from among a set of otherwise equivalent servers.</a:t>
            </a:r>
          </a:p>
          <a:p>
            <a:r>
              <a:rPr lang="en-US" sz="2800" dirty="0" smtClean="0"/>
              <a:t>Use Chubby as a well-known and available location to </a:t>
            </a:r>
            <a:r>
              <a:rPr lang="en-US" sz="2800" i="1" dirty="0" smtClean="0">
                <a:solidFill>
                  <a:srgbClr val="C00000"/>
                </a:solidFill>
              </a:rPr>
              <a:t>store a small amount of meta-data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Before Chubby was deployed, most distributed systems at Google used </a:t>
            </a:r>
            <a:r>
              <a:rPr lang="en-US" sz="2800" i="1" dirty="0" smtClean="0">
                <a:solidFill>
                  <a:srgbClr val="C00000"/>
                </a:solidFill>
              </a:rPr>
              <a:t>ad hoc methods for primary election</a:t>
            </a:r>
            <a:r>
              <a:rPr lang="en-US" sz="2800" i="1" dirty="0" smtClean="0"/>
              <a:t> </a:t>
            </a:r>
            <a:r>
              <a:rPr lang="en-US" sz="2800" dirty="0" smtClean="0"/>
              <a:t>(when work could be duplicated without harm), or required </a:t>
            </a:r>
            <a:r>
              <a:rPr lang="en-US" sz="2800" i="1" dirty="0" smtClean="0">
                <a:solidFill>
                  <a:srgbClr val="C00000"/>
                </a:solidFill>
              </a:rPr>
              <a:t>operator intervention</a:t>
            </a:r>
            <a:r>
              <a:rPr lang="en-US" sz="2800" dirty="0" smtClean="0"/>
              <a:t> (when correctness was essential).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Chubby’s</a:t>
            </a:r>
            <a:r>
              <a:rPr lang="en-US" sz="2800" dirty="0" smtClean="0"/>
              <a:t> client interface is similar to that of </a:t>
            </a:r>
            <a:r>
              <a:rPr lang="en-US" sz="2800" u="sng" dirty="0" smtClean="0"/>
              <a:t>a simple file system</a:t>
            </a:r>
            <a:r>
              <a:rPr lang="en-US" sz="2800" dirty="0" smtClean="0"/>
              <a:t> that performs </a:t>
            </a:r>
            <a:r>
              <a:rPr lang="en-US" sz="2800" i="1" dirty="0" smtClean="0">
                <a:solidFill>
                  <a:srgbClr val="C00000"/>
                </a:solidFill>
              </a:rPr>
              <a:t>whole-file reads and writes</a:t>
            </a:r>
            <a:r>
              <a:rPr lang="en-US" sz="2800" dirty="0" smtClean="0"/>
              <a:t>, augmented with advisory locks and with notification of various events such as file modification.</a:t>
            </a:r>
          </a:p>
          <a:p>
            <a:r>
              <a:rPr lang="en-US" sz="2800" dirty="0" smtClean="0"/>
              <a:t>Building Chubby was an </a:t>
            </a:r>
            <a:r>
              <a:rPr lang="en-US" sz="2800" i="1" dirty="0" smtClean="0">
                <a:solidFill>
                  <a:srgbClr val="C00000"/>
                </a:solidFill>
              </a:rPr>
              <a:t>engineering effort</a:t>
            </a:r>
            <a:r>
              <a:rPr lang="en-US" sz="2800" dirty="0" smtClean="0"/>
              <a:t> required to fill the needs mentioned above; it was not research.</a:t>
            </a:r>
          </a:p>
          <a:p>
            <a:r>
              <a:rPr lang="en-US" sz="2800" dirty="0" smtClean="0"/>
              <a:t>We claim </a:t>
            </a:r>
            <a:r>
              <a:rPr lang="en-US" sz="2800" i="1" dirty="0" smtClean="0">
                <a:solidFill>
                  <a:srgbClr val="C00000"/>
                </a:solidFill>
              </a:rPr>
              <a:t>no new algorithms or techniques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Rationale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lock service has some advantages over a client library.</a:t>
            </a:r>
          </a:p>
          <a:p>
            <a:r>
              <a:rPr lang="en-US" sz="2400" dirty="0" smtClean="0"/>
              <a:t>First, our developers sometimes do not plan for high availability in the way one would wish.</a:t>
            </a:r>
          </a:p>
          <a:p>
            <a:r>
              <a:rPr lang="en-US" sz="2400" dirty="0" smtClean="0"/>
              <a:t>Second, many of our services that elect a primary or that partition data between their components need a mechanism for advertising the results.</a:t>
            </a:r>
          </a:p>
          <a:p>
            <a:r>
              <a:rPr lang="en-US" sz="2400" dirty="0" smtClean="0"/>
              <a:t>Third, a lock-based interface is more familiar to our programmers.</a:t>
            </a:r>
          </a:p>
          <a:p>
            <a:r>
              <a:rPr lang="en-US" sz="2400" dirty="0" smtClean="0"/>
              <a:t>Last, distributed-consensus algorithms use quorums to make decisions, so they use several replicas to achieve high availability. Thus, a lock service reduces the number of servers needed for a reliable client system to make progress.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Structure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3263" y="2241550"/>
            <a:ext cx="5197475" cy="309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Files and Directories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Chubby exports a file system interface similar to, but simpler than that of UNIX.</a:t>
            </a:r>
          </a:p>
          <a:p>
            <a:r>
              <a:rPr lang="en-US" sz="2400" dirty="0" smtClean="0"/>
              <a:t>It consists of a strict tree of files and directories in the usual way, with name components separated by slashes. A typical name is:</a:t>
            </a:r>
          </a:p>
          <a:p>
            <a:r>
              <a:rPr lang="en-US" sz="2400" dirty="0" smtClean="0"/>
              <a:t>/</a:t>
            </a:r>
            <a:r>
              <a:rPr lang="en-US" sz="2400" dirty="0" err="1" smtClean="0"/>
              <a:t>ls</a:t>
            </a:r>
            <a:r>
              <a:rPr lang="en-US" sz="2400" dirty="0" smtClean="0"/>
              <a:t>/</a:t>
            </a:r>
            <a:r>
              <a:rPr lang="en-US" sz="2400" dirty="0" err="1" smtClean="0"/>
              <a:t>foo</a:t>
            </a:r>
            <a:r>
              <a:rPr lang="en-US" sz="2400" dirty="0" smtClean="0"/>
              <a:t>/wombat/pouch</a:t>
            </a:r>
          </a:p>
          <a:p>
            <a:r>
              <a:rPr lang="en-US" sz="2400" dirty="0" smtClean="0"/>
              <a:t>Each directory contains a list of child files and directories, while each file contains a sequence of </a:t>
            </a:r>
            <a:r>
              <a:rPr lang="en-US" sz="2400" dirty="0" err="1" smtClean="0"/>
              <a:t>uninterpreted</a:t>
            </a:r>
            <a:r>
              <a:rPr lang="en-US" sz="2400" dirty="0" smtClean="0"/>
              <a:t> bytes.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Files and Directories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/</a:t>
            </a:r>
            <a:r>
              <a:rPr lang="en-US" sz="2400" b="1" dirty="0" err="1" smtClean="0"/>
              <a:t>ls</a:t>
            </a:r>
            <a:r>
              <a:rPr lang="en-US" sz="2400" dirty="0" smtClean="0"/>
              <a:t>/</a:t>
            </a:r>
            <a:r>
              <a:rPr lang="en-US" sz="2400" b="1" dirty="0" err="1" smtClean="0"/>
              <a:t>foo</a:t>
            </a:r>
            <a:r>
              <a:rPr lang="en-US" sz="2400" dirty="0" smtClean="0"/>
              <a:t>/wombat/pouch</a:t>
            </a:r>
          </a:p>
          <a:p>
            <a:r>
              <a:rPr lang="en-US" sz="2400" dirty="0" smtClean="0"/>
              <a:t>The </a:t>
            </a:r>
            <a:r>
              <a:rPr lang="en-US" sz="2400" b="1" dirty="0" err="1" smtClean="0"/>
              <a:t>ls</a:t>
            </a:r>
            <a:r>
              <a:rPr lang="en-US" sz="2400" dirty="0" smtClean="0"/>
              <a:t> prefix is common to all Chubby names, and stands for lock service.</a:t>
            </a:r>
          </a:p>
          <a:p>
            <a:r>
              <a:rPr lang="en-US" sz="2400" dirty="0" smtClean="0"/>
              <a:t>The second component (</a:t>
            </a:r>
            <a:r>
              <a:rPr lang="en-US" sz="2400" b="1" dirty="0" err="1" smtClean="0"/>
              <a:t>foo</a:t>
            </a:r>
            <a:r>
              <a:rPr lang="en-US" sz="2400" dirty="0" smtClean="0"/>
              <a:t>) is the name of a Chubby cell; it is resolved to one or more Chubby servers via DNS lookup.</a:t>
            </a:r>
          </a:p>
          <a:p>
            <a:r>
              <a:rPr lang="en-US" sz="2400" dirty="0" smtClean="0"/>
              <a:t>A special cell name </a:t>
            </a:r>
            <a:r>
              <a:rPr lang="en-US" sz="2400" b="1" dirty="0" smtClean="0"/>
              <a:t>local</a:t>
            </a:r>
            <a:r>
              <a:rPr lang="en-US" sz="2400" dirty="0" smtClean="0"/>
              <a:t> indicates that the client’s local Chubby cell should be used; this is usually one in the same building and thus the one most likely to be accessible.</a:t>
            </a:r>
          </a:p>
          <a:p>
            <a:r>
              <a:rPr lang="en-US" sz="2400" dirty="0" smtClean="0"/>
              <a:t>The remainder of the name, </a:t>
            </a:r>
            <a:r>
              <a:rPr lang="en-US" sz="2400" b="1" dirty="0" smtClean="0"/>
              <a:t>/wombat/pouch</a:t>
            </a:r>
            <a:r>
              <a:rPr lang="en-US" sz="2400" dirty="0" smtClean="0"/>
              <a:t>, is interpreted within the named Chubby cell.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Nodes and Handles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name space contains only files and directories, collectively called </a:t>
            </a:r>
            <a:r>
              <a:rPr lang="en-US" sz="2400" i="1" dirty="0" smtClean="0">
                <a:solidFill>
                  <a:srgbClr val="C00000"/>
                </a:solidFill>
              </a:rPr>
              <a:t>nodes</a:t>
            </a:r>
            <a:r>
              <a:rPr lang="en-US" sz="2400" i="1" dirty="0" smtClean="0"/>
              <a:t>.</a:t>
            </a:r>
          </a:p>
          <a:p>
            <a:r>
              <a:rPr lang="en-US" sz="2400" dirty="0" smtClean="0"/>
              <a:t>Nodes may be either permanent or ephemeral.</a:t>
            </a:r>
          </a:p>
          <a:p>
            <a:r>
              <a:rPr lang="en-US" sz="2400" dirty="0" smtClean="0"/>
              <a:t>Any node may be deleted explicitly, but ephemeral nodes are also deleted if no client has them open (and, for directories, they are empty).</a:t>
            </a:r>
          </a:p>
          <a:p>
            <a:r>
              <a:rPr lang="en-US" sz="2400" dirty="0" smtClean="0"/>
              <a:t>Ephemeral files are used as temporary files, and as indicators to others that a client is alive.</a:t>
            </a:r>
          </a:p>
          <a:p>
            <a:r>
              <a:rPr lang="en-US" sz="2400" dirty="0" smtClean="0"/>
              <a:t>Clients open nodes to obtain </a:t>
            </a:r>
            <a:r>
              <a:rPr lang="en-US" sz="2400" i="1" dirty="0" smtClean="0">
                <a:solidFill>
                  <a:srgbClr val="C00000"/>
                </a:solidFill>
              </a:rPr>
              <a:t>handles</a:t>
            </a:r>
            <a:r>
              <a:rPr lang="en-US" sz="2400" dirty="0" smtClean="0"/>
              <a:t> that are analogous to UNIX file descriptors.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Pessimistic 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Implementing a pessimistic lock, we have a big issue; what happens if the lock owner doesn’t release it?</a:t>
            </a:r>
          </a:p>
          <a:p>
            <a:r>
              <a:rPr lang="en-US" sz="2200" dirty="0" smtClean="0"/>
              <a:t>The lock will be held forever and we could be in a </a:t>
            </a:r>
            <a:r>
              <a:rPr lang="en-US" sz="2200" i="1" dirty="0" smtClean="0">
                <a:solidFill>
                  <a:srgbClr val="C00000"/>
                </a:solidFill>
              </a:rPr>
              <a:t>deadlock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To prevent this issue, we will set an </a:t>
            </a:r>
            <a:r>
              <a:rPr lang="en-US" sz="2200" i="1" dirty="0" smtClean="0">
                <a:solidFill>
                  <a:srgbClr val="C00000"/>
                </a:solidFill>
              </a:rPr>
              <a:t>expiration time</a:t>
            </a:r>
            <a:r>
              <a:rPr lang="en-US" sz="2200" b="1" dirty="0" smtClean="0"/>
              <a:t> </a:t>
            </a:r>
            <a:r>
              <a:rPr lang="en-US" sz="2200" dirty="0" smtClean="0"/>
              <a:t>on the lock, so the lock will be </a:t>
            </a:r>
            <a:r>
              <a:rPr lang="en-US" sz="2200" i="1" dirty="0" smtClean="0">
                <a:solidFill>
                  <a:srgbClr val="C00000"/>
                </a:solidFill>
              </a:rPr>
              <a:t>auto-released</a:t>
            </a:r>
            <a:r>
              <a:rPr lang="en-US" sz="2200" dirty="0" smtClean="0"/>
              <a:t>.</a:t>
            </a:r>
            <a:endParaRPr lang="en-US" sz="2200" dirty="0"/>
          </a:p>
        </p:txBody>
      </p:sp>
      <p:pic>
        <p:nvPicPr>
          <p:cNvPr id="4" name="Picture 2" descr="Unsafe access to a resource protected by a distributed lo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987610"/>
            <a:ext cx="5378973" cy="19559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Potential Inconsistency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https://martin.kleppmann.com/2016/02/08/how-to-do-distributed-locking.html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8" name="Picture 4" descr="Unsafe access to a resource protected by a distributed lock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9038" y="2971800"/>
            <a:ext cx="7530562" cy="27383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Fencing Token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You need to include a </a:t>
            </a:r>
            <a:r>
              <a:rPr lang="en-US" sz="2000" i="1" dirty="0" smtClean="0">
                <a:solidFill>
                  <a:srgbClr val="C00000"/>
                </a:solidFill>
              </a:rPr>
              <a:t>fencing token</a:t>
            </a:r>
            <a:r>
              <a:rPr lang="en-US" sz="2000" dirty="0" smtClean="0"/>
              <a:t> with every write request to the storage service.</a:t>
            </a:r>
          </a:p>
          <a:p>
            <a:r>
              <a:rPr lang="en-US" sz="2000" dirty="0" smtClean="0"/>
              <a:t>In this context, a fencing token is simply a number that increases (e.g. incremented by the lock service) every time a client acquires the lock.</a:t>
            </a:r>
          </a:p>
          <a:p>
            <a:r>
              <a:rPr lang="en-US" sz="2000" dirty="0" smtClean="0"/>
              <a:t>Note this requires the storage server to take an active role in checking tokens, and rejecting any writes on which the token has gone backwards.</a:t>
            </a:r>
            <a:endParaRPr lang="en-US" sz="2000" dirty="0"/>
          </a:p>
        </p:txBody>
      </p:sp>
      <p:pic>
        <p:nvPicPr>
          <p:cNvPr id="46082" name="Picture 2" descr="Using fencing tokens to make resource access saf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4114800"/>
            <a:ext cx="523875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https://martin.kleppmann.com/2016/02/08/how-to-do-distributed-locking.html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https://redis.io/docs/manual/patterns/distributed-locks/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https://stackoverflow.com/questions/74755667/how-are-keys-locked-in-kv-stores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20163</TotalTime>
  <Words>772</Words>
  <Application>Microsoft Office PowerPoint</Application>
  <PresentationFormat>On-screen Show (4:3)</PresentationFormat>
  <Paragraphs>64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Chubby</vt:lpstr>
      <vt:lpstr>Objectives</vt:lpstr>
      <vt:lpstr>Contents</vt:lpstr>
      <vt:lpstr>References</vt:lpstr>
      <vt:lpstr>Slide 5</vt:lpstr>
      <vt:lpstr>Chubby [1]</vt:lpstr>
      <vt:lpstr>Why Chubby?</vt:lpstr>
      <vt:lpstr>Client Interface</vt:lpstr>
      <vt:lpstr>Design Rationale</vt:lpstr>
      <vt:lpstr>System Structure</vt:lpstr>
      <vt:lpstr>Files and Directories (I)</vt:lpstr>
      <vt:lpstr>Files and Directories (II)</vt:lpstr>
      <vt:lpstr>Nodes and Handles</vt:lpstr>
      <vt:lpstr>Slide 14</vt:lpstr>
      <vt:lpstr>Pessimistic Lock</vt:lpstr>
      <vt:lpstr>Potential Inconsistency</vt:lpstr>
      <vt:lpstr> Fencing Token</vt:lpstr>
      <vt:lpstr>Further Reading</vt:lpstr>
      <vt:lpstr>Slide 19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5600</cp:revision>
  <dcterms:created xsi:type="dcterms:W3CDTF">2007-10-06T08:25:13Z</dcterms:created>
  <dcterms:modified xsi:type="dcterms:W3CDTF">2026-03-11T18:35:23Z</dcterms:modified>
</cp:coreProperties>
</file>