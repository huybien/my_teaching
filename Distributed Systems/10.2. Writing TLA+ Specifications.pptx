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61"/>
  </p:notesMasterIdLst>
  <p:sldIdLst>
    <p:sldId id="670" r:id="rId2"/>
    <p:sldId id="671" r:id="rId3"/>
    <p:sldId id="672" r:id="rId4"/>
    <p:sldId id="673" r:id="rId5"/>
    <p:sldId id="712" r:id="rId6"/>
    <p:sldId id="713" r:id="rId7"/>
    <p:sldId id="714" r:id="rId8"/>
    <p:sldId id="732" r:id="rId9"/>
    <p:sldId id="738" r:id="rId10"/>
    <p:sldId id="739" r:id="rId11"/>
    <p:sldId id="734" r:id="rId12"/>
    <p:sldId id="736" r:id="rId13"/>
    <p:sldId id="735" r:id="rId14"/>
    <p:sldId id="715" r:id="rId15"/>
    <p:sldId id="723" r:id="rId16"/>
    <p:sldId id="719" r:id="rId17"/>
    <p:sldId id="720" r:id="rId18"/>
    <p:sldId id="721" r:id="rId19"/>
    <p:sldId id="737" r:id="rId20"/>
    <p:sldId id="722" r:id="rId21"/>
    <p:sldId id="716" r:id="rId22"/>
    <p:sldId id="742" r:id="rId23"/>
    <p:sldId id="743" r:id="rId24"/>
    <p:sldId id="744" r:id="rId25"/>
    <p:sldId id="745" r:id="rId26"/>
    <p:sldId id="748" r:id="rId27"/>
    <p:sldId id="757" r:id="rId28"/>
    <p:sldId id="758" r:id="rId29"/>
    <p:sldId id="746" r:id="rId30"/>
    <p:sldId id="747" r:id="rId31"/>
    <p:sldId id="759" r:id="rId32"/>
    <p:sldId id="760" r:id="rId33"/>
    <p:sldId id="761" r:id="rId34"/>
    <p:sldId id="762" r:id="rId35"/>
    <p:sldId id="763" r:id="rId36"/>
    <p:sldId id="764" r:id="rId37"/>
    <p:sldId id="765" r:id="rId38"/>
    <p:sldId id="768" r:id="rId39"/>
    <p:sldId id="767" r:id="rId40"/>
    <p:sldId id="755" r:id="rId41"/>
    <p:sldId id="766" r:id="rId42"/>
    <p:sldId id="749" r:id="rId43"/>
    <p:sldId id="751" r:id="rId44"/>
    <p:sldId id="756" r:id="rId45"/>
    <p:sldId id="740" r:id="rId46"/>
    <p:sldId id="774" r:id="rId47"/>
    <p:sldId id="775" r:id="rId48"/>
    <p:sldId id="776" r:id="rId49"/>
    <p:sldId id="772" r:id="rId50"/>
    <p:sldId id="770" r:id="rId51"/>
    <p:sldId id="771" r:id="rId52"/>
    <p:sldId id="773" r:id="rId53"/>
    <p:sldId id="777" r:id="rId54"/>
    <p:sldId id="780" r:id="rId55"/>
    <p:sldId id="778" r:id="rId56"/>
    <p:sldId id="779" r:id="rId57"/>
    <p:sldId id="769" r:id="rId58"/>
    <p:sldId id="717" r:id="rId59"/>
    <p:sldId id="516" r:id="rId6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45" autoAdjust="0"/>
    <p:restoredTop sz="94667" autoAdjust="0"/>
  </p:normalViewPr>
  <p:slideViewPr>
    <p:cSldViewPr>
      <p:cViewPr>
        <p:scale>
          <a:sx n="50" d="100"/>
          <a:sy n="50" d="100"/>
        </p:scale>
        <p:origin x="-156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2/25/2026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2/25/2026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2/25/2026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2/25/2026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2/25/2026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2/25/2026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amport.azurewebsites.net/pubs/pubs.html" TargetMode="External"/><Relationship Id="rId2" Type="http://schemas.openxmlformats.org/officeDocument/2006/relationships/hyperlink" Target="https://foundation.tlapl.u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mbt.informal.systems/docs/tla_basics_tutorials/tutorial.html" TargetMode="External"/><Relationship Id="rId2" Type="http://schemas.openxmlformats.org/officeDocument/2006/relationships/hyperlink" Target="https://old.learntla.com/introduction/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Writing TLA+ Specifications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The Transition Commit Problem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The Two-Phase Commit Protocol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Leslie </a:t>
            </a:r>
            <a:r>
              <a:rPr lang="en-US" sz="2400" dirty="0" err="1" smtClean="0"/>
              <a:t>Lamport</a:t>
            </a:r>
            <a:r>
              <a:rPr lang="en-US" sz="2400" dirty="0" smtClean="0"/>
              <a:t> (2002). Specifying Systems - The TLA+ Language and Tools for Hardware and Software Engineers. Addison-Wesley </a:t>
            </a:r>
            <a:r>
              <a:rPr lang="en-US" sz="2400" smtClean="0"/>
              <a:t>Professional.</a:t>
            </a: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hlinkClick r:id="rId2"/>
              </a:rPr>
              <a:t>https://lamport.azurewebsites.net/video/videos.html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hlinkClick r:id="rId2"/>
              </a:rPr>
              <a:t>https://lamport.azurewebsites.net/tla/tla.html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hlinkClick r:id="rId2"/>
              </a:rPr>
              <a:t>https://foundation.tlapl.us/</a:t>
            </a:r>
            <a:endParaRPr lang="en-US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hlinkClick r:id="rId3"/>
              </a:rPr>
              <a:t>https://lamport.azurewebsites.net/pubs/pubs.html</a:t>
            </a: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Transaction Commit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C00000"/>
                </a:solidFill>
              </a:rPr>
              <a:t>Goal</a:t>
            </a:r>
            <a:r>
              <a:rPr lang="en-US" dirty="0" smtClean="0"/>
              <a:t>: Atomic operations.</a:t>
            </a:r>
          </a:p>
          <a:p>
            <a:r>
              <a:rPr lang="en-US" dirty="0" smtClean="0"/>
              <a:t>Resource managers.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Possible States and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Working</a:t>
            </a:r>
          </a:p>
          <a:p>
            <a:r>
              <a:rPr lang="en-US" sz="2800" dirty="0" smtClean="0"/>
              <a:t>Prepared</a:t>
            </a:r>
          </a:p>
          <a:p>
            <a:r>
              <a:rPr lang="en-US" sz="2800" dirty="0" smtClean="0"/>
              <a:t>Committed</a:t>
            </a:r>
          </a:p>
          <a:p>
            <a:r>
              <a:rPr lang="en-US" sz="2800" dirty="0" smtClean="0"/>
              <a:t>Aborted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2286000"/>
            <a:ext cx="2959100" cy="266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</a:t>
            </a:r>
            <a:r>
              <a:rPr lang="en-US" dirty="0" err="1" smtClean="0"/>
              <a:t>TCommit</a:t>
            </a:r>
            <a:r>
              <a:rPr lang="en-US" dirty="0" smtClean="0"/>
              <a:t> Spec</a:t>
            </a:r>
            <a:endParaRPr lang="en-US" dirty="0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1888" y="1757363"/>
            <a:ext cx="6880225" cy="334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i="1" dirty="0" smtClean="0">
                <a:solidFill>
                  <a:srgbClr val="C00000"/>
                </a:solidFill>
              </a:rPr>
              <a:t>constant</a:t>
            </a:r>
            <a:r>
              <a:rPr lang="en-US" dirty="0" smtClean="0"/>
              <a:t> is a value that does not change across states or over time.</a:t>
            </a:r>
          </a:p>
          <a:p>
            <a:r>
              <a:rPr lang="en-US" dirty="0" smtClean="0"/>
              <a:t>Example:</a:t>
            </a:r>
          </a:p>
          <a:p>
            <a:pPr lvl="1"/>
            <a:r>
              <a:rPr lang="en-US" sz="2400" dirty="0" smtClean="0">
                <a:latin typeface="Consolas" pitchFamily="49" charset="0"/>
              </a:rPr>
              <a:t>CONSTANT 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i="1" dirty="0" smtClean="0">
                <a:solidFill>
                  <a:srgbClr val="C00000"/>
                </a:solidFill>
              </a:rPr>
              <a:t>function</a:t>
            </a:r>
            <a:r>
              <a:rPr lang="en-US" dirty="0" smtClean="0"/>
              <a:t> is an object that maps each element of its domain to exactly one element of its range (often a subset of a </a:t>
            </a:r>
            <a:r>
              <a:rPr lang="en-US" dirty="0" err="1" smtClean="0"/>
              <a:t>codomain</a:t>
            </a:r>
            <a:r>
              <a:rPr lang="en-US" dirty="0" smtClean="0"/>
              <a:t>).</a:t>
            </a:r>
          </a:p>
          <a:p>
            <a:r>
              <a:rPr lang="en-US" dirty="0" smtClean="0"/>
              <a:t>f : A → B</a:t>
            </a:r>
          </a:p>
          <a:p>
            <a:pPr lvl="1"/>
            <a:r>
              <a:rPr lang="en-US" dirty="0" smtClean="0"/>
              <a:t>DOMAIN f = A</a:t>
            </a:r>
          </a:p>
          <a:p>
            <a:pPr lvl="1"/>
            <a:r>
              <a:rPr lang="en-US" dirty="0" smtClean="0"/>
              <a:t>f[x] ∈ B for every x ∈ A</a:t>
            </a:r>
          </a:p>
          <a:p>
            <a:r>
              <a:rPr lang="en-US" dirty="0" smtClean="0"/>
              <a:t>Function constructor</a:t>
            </a:r>
          </a:p>
          <a:p>
            <a:pPr lvl="1"/>
            <a:r>
              <a:rPr lang="en-US" sz="2400" dirty="0" err="1" smtClean="0">
                <a:latin typeface="Consolas" pitchFamily="49" charset="0"/>
              </a:rPr>
              <a:t>rmState</a:t>
            </a:r>
            <a:r>
              <a:rPr lang="en-US" sz="2400" dirty="0" smtClean="0">
                <a:latin typeface="Consolas" pitchFamily="49" charset="0"/>
              </a:rPr>
              <a:t> = [r1 \in RM |-&gt; "working"]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i="1" dirty="0" smtClean="0">
                <a:solidFill>
                  <a:srgbClr val="C00000"/>
                </a:solidFill>
              </a:rPr>
              <a:t>function set</a:t>
            </a:r>
            <a:r>
              <a:rPr lang="en-US" dirty="0" smtClean="0"/>
              <a:t> is </a:t>
            </a:r>
            <a:r>
              <a:rPr lang="en-US" u="sng" dirty="0" smtClean="0"/>
              <a:t>a set</a:t>
            </a:r>
            <a:r>
              <a:rPr lang="en-US" dirty="0" smtClean="0"/>
              <a:t> whose </a:t>
            </a:r>
            <a:r>
              <a:rPr lang="en-US" u="sng" dirty="0" smtClean="0"/>
              <a:t>elements</a:t>
            </a:r>
            <a:r>
              <a:rPr lang="en-US" dirty="0" smtClean="0"/>
              <a:t> are </a:t>
            </a:r>
            <a:r>
              <a:rPr lang="en-US" u="sng" dirty="0" smtClean="0"/>
              <a:t>functions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[ A → B ] = { f ∣ f is a function with domain A and </a:t>
            </a:r>
            <a:r>
              <a:rPr lang="en-US" dirty="0" err="1" smtClean="0"/>
              <a:t>codomain</a:t>
            </a:r>
            <a:r>
              <a:rPr lang="en-US" dirty="0" smtClean="0"/>
              <a:t> B}</a:t>
            </a:r>
          </a:p>
          <a:p>
            <a:r>
              <a:rPr lang="en-US" dirty="0" smtClean="0"/>
              <a:t>Function set constructor</a:t>
            </a:r>
          </a:p>
          <a:p>
            <a:pPr lvl="1"/>
            <a:r>
              <a:rPr lang="en-US" sz="2400" dirty="0" smtClean="0">
                <a:latin typeface="Consolas" pitchFamily="49" charset="0"/>
              </a:rPr>
              <a:t>[RM -&gt; {"working", "prepared", "committed", "aborted"}]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Operator 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+mj-lt"/>
              </a:rPr>
              <a:t>Example: Prepare(r) ==</a:t>
            </a:r>
          </a:p>
          <a:p>
            <a:r>
              <a:rPr lang="en-US" dirty="0" smtClean="0"/>
              <a:t>Prepare is an </a:t>
            </a:r>
            <a:r>
              <a:rPr lang="en-US" i="1" dirty="0" smtClean="0">
                <a:solidFill>
                  <a:srgbClr val="C00000"/>
                </a:solidFill>
              </a:rPr>
              <a:t>operator definition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Because it is written with a parameter (r), it is a </a:t>
            </a:r>
            <a:r>
              <a:rPr lang="en-US" i="1" dirty="0" smtClean="0">
                <a:solidFill>
                  <a:srgbClr val="C00000"/>
                </a:solidFill>
              </a:rPr>
              <a:t>parameterized operator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Prepare itself is not a value.</a:t>
            </a:r>
          </a:p>
          <a:p>
            <a:pPr lvl="1"/>
            <a:r>
              <a:rPr lang="en-US" dirty="0" smtClean="0"/>
              <a:t>Prepare(r) becomes a </a:t>
            </a:r>
            <a:r>
              <a:rPr lang="en-US" i="1" dirty="0" smtClean="0">
                <a:solidFill>
                  <a:srgbClr val="C00000"/>
                </a:solidFill>
              </a:rPr>
              <a:t>formula</a:t>
            </a:r>
            <a:r>
              <a:rPr lang="en-US" dirty="0" smtClean="0"/>
              <a:t> once you supply a value for r.</a:t>
            </a:r>
          </a:p>
          <a:p>
            <a:pPr lvl="1"/>
            <a:endParaRPr lang="en-US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Action Formula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Prepare(r) is an </a:t>
            </a:r>
            <a:r>
              <a:rPr lang="en-US" sz="2800" i="1" dirty="0" smtClean="0">
                <a:solidFill>
                  <a:srgbClr val="C00000"/>
                </a:solidFill>
              </a:rPr>
              <a:t>action formula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An </a:t>
            </a:r>
            <a:r>
              <a:rPr lang="en-US" sz="2800" i="1" dirty="0" smtClean="0">
                <a:solidFill>
                  <a:srgbClr val="C00000"/>
                </a:solidFill>
              </a:rPr>
              <a:t>action</a:t>
            </a:r>
            <a:r>
              <a:rPr lang="en-US" sz="2800" dirty="0" smtClean="0"/>
              <a:t> is a </a:t>
            </a:r>
            <a:r>
              <a:rPr lang="en-US" sz="2800" u="sng" dirty="0" smtClean="0"/>
              <a:t>predicate</a:t>
            </a:r>
            <a:r>
              <a:rPr lang="en-US" sz="2800" dirty="0" smtClean="0"/>
              <a:t> over a </a:t>
            </a:r>
            <a:r>
              <a:rPr lang="en-US" sz="2800" u="sng" dirty="0" smtClean="0"/>
              <a:t>pair of states</a:t>
            </a:r>
            <a:r>
              <a:rPr lang="en-US" sz="2800" dirty="0" smtClean="0"/>
              <a:t> (s, t).</a:t>
            </a:r>
          </a:p>
          <a:p>
            <a:r>
              <a:rPr lang="en-US" sz="2800" dirty="0" smtClean="0"/>
              <a:t>So Prepare(r) is true of a transition, not of a single state.</a:t>
            </a:r>
          </a:p>
          <a:p>
            <a:r>
              <a:rPr lang="en-US" sz="2800" dirty="0" smtClean="0"/>
              <a:t>t (the next state) can be completely unconstrained. If t is removed then any next state is allowed.</a:t>
            </a:r>
            <a:endParaRPr lang="en-US" sz="28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C00000"/>
                </a:solidFill>
              </a:rPr>
              <a:t>Function application</a:t>
            </a:r>
            <a:r>
              <a:rPr lang="en-US" dirty="0" smtClean="0"/>
              <a:t> is </a:t>
            </a:r>
            <a:r>
              <a:rPr lang="en-US" u="sng" dirty="0" smtClean="0"/>
              <a:t>mathematical</a:t>
            </a:r>
            <a:r>
              <a:rPr lang="en-US" dirty="0" smtClean="0"/>
              <a:t>, not procedural.</a:t>
            </a:r>
          </a:p>
          <a:p>
            <a:r>
              <a:rPr lang="en-US" dirty="0" smtClean="0">
                <a:latin typeface="+mj-lt"/>
              </a:rPr>
              <a:t>f[x] means "the value that the function f assigns to the argument x".</a:t>
            </a:r>
          </a:p>
          <a:p>
            <a:r>
              <a:rPr lang="en-US" dirty="0" err="1" smtClean="0">
                <a:latin typeface="+mj-lt"/>
              </a:rPr>
              <a:t>rmState</a:t>
            </a:r>
            <a:r>
              <a:rPr lang="en-US" dirty="0" smtClean="0">
                <a:latin typeface="+mj-lt"/>
              </a:rPr>
              <a:t>[r] </a:t>
            </a:r>
            <a:r>
              <a:rPr lang="en-US" dirty="0" smtClean="0"/>
              <a:t>means "the value that the function </a:t>
            </a:r>
            <a:r>
              <a:rPr lang="en-US" dirty="0" err="1" smtClean="0"/>
              <a:t>rmState</a:t>
            </a:r>
            <a:r>
              <a:rPr lang="en-US" dirty="0" smtClean="0"/>
              <a:t> assigns to the argument r".</a:t>
            </a:r>
          </a:p>
          <a:p>
            <a:endParaRPr lang="en-US" dirty="0" smtClean="0">
              <a:latin typeface="+mj-lt"/>
            </a:endParaRPr>
          </a:p>
          <a:p>
            <a:endParaRPr lang="en-US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Run the Model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4100" y="1527175"/>
            <a:ext cx="7035800" cy="449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Two-Phase Commit Protocol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C00000"/>
                </a:solidFill>
              </a:rPr>
              <a:t>Goal</a:t>
            </a:r>
            <a:r>
              <a:rPr lang="en-US" dirty="0" smtClean="0"/>
              <a:t>: Atomic operations.</a:t>
            </a:r>
          </a:p>
          <a:p>
            <a:r>
              <a:rPr lang="en-US" dirty="0" smtClean="0"/>
              <a:t>Transaction manager.</a:t>
            </a:r>
          </a:p>
          <a:p>
            <a:r>
              <a:rPr lang="en-US" dirty="0" smtClean="0"/>
              <a:t>Resource managers.</a:t>
            </a:r>
          </a:p>
          <a:p>
            <a:r>
              <a:rPr lang="en-US" dirty="0" smtClean="0"/>
              <a:t>Messages.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Possible States and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Transaction Manager states: "init" or "done".</a:t>
            </a:r>
          </a:p>
          <a:p>
            <a:r>
              <a:rPr lang="en-US" sz="2400" dirty="0" smtClean="0"/>
              <a:t>Resource Manager states: "working", "prepared", "committed", or "aborted".</a:t>
            </a:r>
          </a:p>
          <a:p>
            <a:r>
              <a:rPr lang="en-US" sz="2400" dirty="0" smtClean="0"/>
              <a:t>Message types: "Prepared", "Commit", "Abort".</a:t>
            </a:r>
          </a:p>
          <a:p>
            <a:r>
              <a:rPr lang="en-US" sz="2400" dirty="0" err="1" smtClean="0"/>
              <a:t>TMRecvPrepared</a:t>
            </a:r>
            <a:r>
              <a:rPr lang="en-US" sz="2400" dirty="0" smtClean="0"/>
              <a:t>(r): The TM receives a "Prepared" message from resource manager r.</a:t>
            </a:r>
          </a:p>
          <a:p>
            <a:r>
              <a:rPr lang="en-US" sz="2400" dirty="0" err="1" smtClean="0"/>
              <a:t>TMCommit</a:t>
            </a:r>
            <a:r>
              <a:rPr lang="en-US" sz="2400" dirty="0" smtClean="0"/>
              <a:t>: The TM commits the transaction.</a:t>
            </a:r>
          </a:p>
          <a:p>
            <a:r>
              <a:rPr lang="en-US" sz="2400" dirty="0" err="1" smtClean="0"/>
              <a:t>TMAbort</a:t>
            </a:r>
            <a:r>
              <a:rPr lang="en-US" sz="2400" dirty="0" smtClean="0"/>
              <a:t>: The TM spontaneously aborts the transaction.</a:t>
            </a:r>
          </a:p>
          <a:p>
            <a:r>
              <a:rPr lang="en-US" sz="2400" dirty="0" err="1" smtClean="0"/>
              <a:t>RMPrepare</a:t>
            </a:r>
            <a:r>
              <a:rPr lang="en-US" sz="2400" dirty="0" smtClean="0"/>
              <a:t>(r), </a:t>
            </a:r>
            <a:r>
              <a:rPr lang="en-US" sz="2400" dirty="0" err="1" smtClean="0"/>
              <a:t>RMChooseToAbort</a:t>
            </a:r>
            <a:r>
              <a:rPr lang="en-US" sz="2400" dirty="0" smtClean="0"/>
              <a:t>(r), </a:t>
            </a:r>
            <a:r>
              <a:rPr lang="en-US" sz="2400" dirty="0" err="1" smtClean="0"/>
              <a:t>RMRecvCommitMsg</a:t>
            </a:r>
            <a:r>
              <a:rPr lang="en-US" sz="2400" dirty="0" smtClean="0"/>
              <a:t>(r), </a:t>
            </a:r>
            <a:r>
              <a:rPr lang="en-US" sz="2400" dirty="0" err="1" smtClean="0"/>
              <a:t>RMRecvAbortMsg</a:t>
            </a:r>
            <a:r>
              <a:rPr lang="en-US" sz="2400" dirty="0" smtClean="0"/>
              <a:t>(r)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</a:t>
            </a:r>
            <a:r>
              <a:rPr lang="en-US" dirty="0" err="1" smtClean="0"/>
              <a:t>TwoPhase</a:t>
            </a:r>
            <a:r>
              <a:rPr lang="en-US" dirty="0" smtClean="0"/>
              <a:t> Spec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3863" y="2044700"/>
            <a:ext cx="5756275" cy="328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Records and Record 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>
                <a:latin typeface="+mj-lt"/>
              </a:rPr>
              <a:t>A </a:t>
            </a:r>
            <a:r>
              <a:rPr lang="en-US" sz="2600" i="1" dirty="0" smtClean="0">
                <a:solidFill>
                  <a:srgbClr val="C00000"/>
                </a:solidFill>
                <a:latin typeface="+mj-lt"/>
              </a:rPr>
              <a:t>record</a:t>
            </a:r>
            <a:r>
              <a:rPr lang="en-US" sz="2600" dirty="0" smtClean="0">
                <a:latin typeface="+mj-lt"/>
              </a:rPr>
              <a:t> is a </a:t>
            </a:r>
            <a:r>
              <a:rPr lang="en-US" sz="2600" u="sng" dirty="0" smtClean="0">
                <a:latin typeface="+mj-lt"/>
              </a:rPr>
              <a:t>function</a:t>
            </a:r>
            <a:r>
              <a:rPr lang="en-US" sz="2600" dirty="0" smtClean="0">
                <a:latin typeface="+mj-lt"/>
              </a:rPr>
              <a:t> whose domain is a finite set of field identifiers, and whose values are arbitrary TLA+ values.</a:t>
            </a:r>
          </a:p>
          <a:p>
            <a:r>
              <a:rPr lang="en-US" sz="2600" dirty="0" smtClean="0">
                <a:latin typeface="+mj-lt"/>
              </a:rPr>
              <a:t>Record constructor syntax</a:t>
            </a:r>
          </a:p>
          <a:p>
            <a:pPr lvl="1"/>
            <a:r>
              <a:rPr lang="en-US" sz="2200" dirty="0" smtClean="0">
                <a:latin typeface="Consolas" pitchFamily="49" charset="0"/>
              </a:rPr>
              <a:t>[type |-&gt; "Prepared", </a:t>
            </a:r>
            <a:r>
              <a:rPr lang="en-US" sz="2200" dirty="0" err="1" smtClean="0">
                <a:latin typeface="Consolas" pitchFamily="49" charset="0"/>
              </a:rPr>
              <a:t>rm</a:t>
            </a:r>
            <a:r>
              <a:rPr lang="en-US" sz="2200" dirty="0" smtClean="0">
                <a:latin typeface="Consolas" pitchFamily="49" charset="0"/>
              </a:rPr>
              <a:t> |-&gt; r]</a:t>
            </a:r>
          </a:p>
          <a:p>
            <a:pPr lvl="1"/>
            <a:r>
              <a:rPr lang="en-US" sz="2200" dirty="0" smtClean="0">
                <a:latin typeface="Consolas" pitchFamily="49" charset="0"/>
              </a:rPr>
              <a:t>DOMAIN f = {"type", "</a:t>
            </a:r>
            <a:r>
              <a:rPr lang="en-US" sz="2200" dirty="0" err="1" smtClean="0">
                <a:latin typeface="Consolas" pitchFamily="49" charset="0"/>
              </a:rPr>
              <a:t>rm</a:t>
            </a:r>
            <a:r>
              <a:rPr lang="en-US" sz="2200" dirty="0" smtClean="0">
                <a:latin typeface="Consolas" pitchFamily="49" charset="0"/>
              </a:rPr>
              <a:t>"}, </a:t>
            </a:r>
          </a:p>
          <a:p>
            <a:pPr lvl="1">
              <a:buNone/>
            </a:pPr>
            <a:r>
              <a:rPr lang="en-US" sz="2200" dirty="0" smtClean="0">
                <a:latin typeface="Consolas" pitchFamily="49" charset="0"/>
              </a:rPr>
              <a:t>	f["type"] = "Prepared", f["</a:t>
            </a:r>
            <a:r>
              <a:rPr lang="en-US" sz="2200" dirty="0" err="1" smtClean="0">
                <a:latin typeface="Consolas" pitchFamily="49" charset="0"/>
              </a:rPr>
              <a:t>rm</a:t>
            </a:r>
            <a:r>
              <a:rPr lang="en-US" sz="2200" dirty="0" smtClean="0">
                <a:latin typeface="Consolas" pitchFamily="49" charset="0"/>
              </a:rPr>
              <a:t>"] = r</a:t>
            </a:r>
          </a:p>
          <a:p>
            <a:r>
              <a:rPr lang="en-US" sz="2600" dirty="0" smtClean="0">
                <a:latin typeface="+mj-lt"/>
              </a:rPr>
              <a:t>Record-set constructor syntax</a:t>
            </a:r>
          </a:p>
          <a:p>
            <a:pPr lvl="1"/>
            <a:r>
              <a:rPr lang="en-US" sz="2200" dirty="0" smtClean="0">
                <a:latin typeface="Consolas" pitchFamily="49" charset="0"/>
              </a:rPr>
              <a:t>[type: S1, </a:t>
            </a:r>
            <a:r>
              <a:rPr lang="en-US" sz="2200" dirty="0" err="1" smtClean="0">
                <a:latin typeface="Consolas" pitchFamily="49" charset="0"/>
              </a:rPr>
              <a:t>rm</a:t>
            </a:r>
            <a:r>
              <a:rPr lang="en-US" sz="2200" dirty="0" smtClean="0">
                <a:latin typeface="Consolas" pitchFamily="49" charset="0"/>
              </a:rPr>
              <a:t>: S2]</a:t>
            </a:r>
          </a:p>
          <a:p>
            <a:pPr lvl="1"/>
            <a:r>
              <a:rPr lang="en-US" sz="2200" dirty="0" smtClean="0">
                <a:latin typeface="Consolas" pitchFamily="49" charset="0"/>
              </a:rPr>
              <a:t>[type: {"Prepared"}, </a:t>
            </a:r>
            <a:r>
              <a:rPr lang="en-US" sz="2200" dirty="0" err="1" smtClean="0">
                <a:latin typeface="Consolas" pitchFamily="49" charset="0"/>
              </a:rPr>
              <a:t>rm</a:t>
            </a:r>
            <a:r>
              <a:rPr lang="en-US" sz="2200" dirty="0" smtClean="0">
                <a:latin typeface="Consolas" pitchFamily="49" charset="0"/>
              </a:rPr>
              <a:t>: RM] </a:t>
            </a:r>
          </a:p>
          <a:p>
            <a:pPr lvl="1">
              <a:buNone/>
            </a:pPr>
            <a:r>
              <a:rPr lang="en-US" sz="2200" dirty="0" smtClean="0">
                <a:latin typeface="Consolas" pitchFamily="49" charset="0"/>
              </a:rPr>
              <a:t>	denotes the set: </a:t>
            </a:r>
          </a:p>
          <a:p>
            <a:pPr lvl="1">
              <a:buNone/>
            </a:pPr>
            <a:r>
              <a:rPr lang="en-US" sz="2200" dirty="0" smtClean="0">
                <a:latin typeface="Consolas" pitchFamily="49" charset="0"/>
              </a:rPr>
              <a:t>	{ [type |-&gt; "Prepared", </a:t>
            </a:r>
            <a:r>
              <a:rPr lang="en-US" sz="2200" dirty="0" err="1" smtClean="0">
                <a:latin typeface="Consolas" pitchFamily="49" charset="0"/>
              </a:rPr>
              <a:t>rm</a:t>
            </a:r>
            <a:r>
              <a:rPr lang="en-US" sz="2200" dirty="0" smtClean="0">
                <a:latin typeface="Consolas" pitchFamily="49" charset="0"/>
              </a:rPr>
              <a:t> |-&gt; x] : x \in RM }</a:t>
            </a:r>
            <a:endParaRPr lang="en-US" sz="22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Run the Model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9625" y="1816100"/>
            <a:ext cx="7524750" cy="405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Paxos</a:t>
            </a:r>
            <a:r>
              <a:rPr lang="en-US" dirty="0" smtClean="0"/>
              <a:t> Commit Protocol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C00000"/>
                </a:solidFill>
              </a:rPr>
              <a:t>Goal</a:t>
            </a:r>
            <a:r>
              <a:rPr lang="en-US" dirty="0" smtClean="0"/>
              <a:t>: Atomic operations.</a:t>
            </a:r>
          </a:p>
          <a:p>
            <a:r>
              <a:rPr lang="en-US" dirty="0" smtClean="0"/>
              <a:t>Resource managers.</a:t>
            </a:r>
          </a:p>
          <a:p>
            <a:r>
              <a:rPr lang="en-US" dirty="0" smtClean="0"/>
              <a:t>Acceptors.</a:t>
            </a:r>
          </a:p>
          <a:p>
            <a:r>
              <a:rPr lang="en-US" dirty="0" smtClean="0"/>
              <a:t>Majority.</a:t>
            </a:r>
          </a:p>
          <a:p>
            <a:r>
              <a:rPr lang="en-US" dirty="0" smtClean="0"/>
              <a:t>Ballot numbers.</a:t>
            </a:r>
          </a:p>
          <a:p>
            <a:r>
              <a:rPr lang="en-US" dirty="0" smtClean="0"/>
              <a:t>Messages.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Possible States and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</a:t>
            </a:r>
            <a:r>
              <a:rPr lang="en-US" dirty="0" err="1" smtClean="0"/>
              <a:t>PaxosCommit</a:t>
            </a:r>
            <a:r>
              <a:rPr lang="en-US" dirty="0" smtClean="0"/>
              <a:t> Spec</a:t>
            </a:r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0525" y="1676400"/>
            <a:ext cx="582295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CHOOSE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CHOOSE x:P(x)</a:t>
            </a:r>
          </a:p>
          <a:p>
            <a:pPr>
              <a:buNone/>
            </a:pPr>
            <a:r>
              <a:rPr lang="en-US" sz="2400" dirty="0" smtClean="0"/>
              <a:t>	means:</a:t>
            </a:r>
          </a:p>
          <a:p>
            <a:r>
              <a:rPr lang="en-US" sz="2400" dirty="0" smtClean="0"/>
              <a:t>some x such that P(x)</a:t>
            </a:r>
          </a:p>
          <a:p>
            <a:r>
              <a:rPr lang="en-US" sz="2400" dirty="0" smtClean="0"/>
              <a:t>It denotes "an arbitrary but fixed value x such that P(x) is true."</a:t>
            </a:r>
          </a:p>
          <a:p>
            <a:r>
              <a:rPr lang="en-US" sz="2400" dirty="0" smtClean="0"/>
              <a:t>CHOOSE is a logical operator that evaluates to a value selected from those satisfying a predicate.</a:t>
            </a:r>
          </a:p>
          <a:p>
            <a:r>
              <a:rPr lang="en-US" sz="2400" dirty="0" smtClean="0"/>
              <a:t>So the result of CHOOSE is always a </a:t>
            </a:r>
            <a:r>
              <a:rPr lang="en-US" sz="2400" i="1" dirty="0" smtClean="0">
                <a:solidFill>
                  <a:srgbClr val="C00000"/>
                </a:solidFill>
              </a:rPr>
              <a:t>value</a:t>
            </a:r>
            <a:r>
              <a:rPr lang="en-US" sz="2400" dirty="0" smtClean="0"/>
              <a:t>, such as: a number, a set, a function, a record, or any other TLA+ value.</a:t>
            </a:r>
          </a:p>
          <a:p>
            <a:r>
              <a:rPr lang="en-US" sz="2400" i="1" dirty="0" smtClean="0"/>
              <a:t>CHOOSE is known in logic as Hilbert's ε (epsilon) operator.</a:t>
            </a:r>
            <a:endParaRPr lang="en-US" sz="2200" i="1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ASSUME Declaration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ASSUME is a declaration that states logical assumptions that must be true.</a:t>
            </a:r>
          </a:p>
          <a:p>
            <a:r>
              <a:rPr lang="en-US" sz="2400" dirty="0" smtClean="0"/>
              <a:t>It does not compute anything and does not return a value.</a:t>
            </a:r>
          </a:p>
          <a:p>
            <a:r>
              <a:rPr lang="en-US" sz="2400" dirty="0" smtClean="0"/>
              <a:t>ASSUME expressions are checks to make sure we put in correct constants.</a:t>
            </a:r>
          </a:p>
          <a:p>
            <a:r>
              <a:rPr lang="en-US" sz="2400" dirty="0" smtClean="0"/>
              <a:t>It is a </a:t>
            </a:r>
            <a:r>
              <a:rPr lang="en-US" sz="2400" b="1" dirty="0" smtClean="0"/>
              <a:t>module-level logical declaration</a:t>
            </a:r>
            <a:endParaRPr lang="en-US" sz="2400" dirty="0" smtClean="0"/>
          </a:p>
          <a:p>
            <a:r>
              <a:rPr lang="en-US" sz="2400" dirty="0" smtClean="0"/>
              <a:t>Its purpose is to </a:t>
            </a:r>
            <a:r>
              <a:rPr lang="en-US" sz="2400" b="1" dirty="0" smtClean="0"/>
              <a:t>restrict the allowed values of constants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ASSUME is meant for constants, not state variables because it defines the allowed universe of the spec.</a:t>
            </a:r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LET-IN Expression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LET clause makes three definitions local to the let-in expression.</a:t>
            </a:r>
          </a:p>
          <a:p>
            <a:r>
              <a:rPr lang="en-US" sz="2400" dirty="0" smtClean="0"/>
              <a:t>The defined identifiers can be used only in the expression.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12963" y="3381375"/>
            <a:ext cx="4918075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Set Constructors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882775"/>
            <a:ext cx="5076825" cy="154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5413" y="4333875"/>
            <a:ext cx="3813175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Run the Model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8513" y="1568450"/>
            <a:ext cx="7546975" cy="467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Implication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2895600"/>
            <a:ext cx="5594350" cy="153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Module-Closed Expressions 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77925" y="1920875"/>
            <a:ext cx="6788150" cy="371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Module-Closed Formulas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7775" y="2493963"/>
            <a:ext cx="6648450" cy="187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Temporal Formulas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2286000"/>
            <a:ext cx="5629275" cy="63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3352800"/>
            <a:ext cx="5476875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Theorems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5538" y="2357438"/>
            <a:ext cx="6892925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Specifications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Specifications are not programs; they're mathematical formulas.</a:t>
            </a:r>
          </a:p>
          <a:p>
            <a:r>
              <a:rPr lang="en-US" dirty="0" smtClean="0"/>
              <a:t>A specification does not describe the correct behavior of a system.</a:t>
            </a:r>
          </a:p>
          <a:p>
            <a:r>
              <a:rPr lang="en-US" dirty="0" smtClean="0"/>
              <a:t>It describes a universe in which the system and its environment are behaving correctly.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Stuttering Steps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286000"/>
            <a:ext cx="6597650" cy="288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Terminating Execution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represent a terminating execution by a behavior ending in an infinite sequence of stuttering steps.</a:t>
            </a:r>
          </a:p>
          <a:p>
            <a:r>
              <a:rPr lang="en-US" dirty="0" smtClean="0"/>
              <a:t>The universe keeps going even if the system terminates.</a:t>
            </a:r>
          </a:p>
          <a:p>
            <a:r>
              <a:rPr lang="en-US" dirty="0" smtClean="0"/>
              <a:t>All behaviors are infinite sequences of states.</a:t>
            </a: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Sequences Exercise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28825" y="1993900"/>
            <a:ext cx="5086350" cy="356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represent a terminating execution by a behavior ending in an infinite sequence of stuttering steps.</a:t>
            </a: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Alternating Bit Specification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C00000"/>
                </a:solidFill>
              </a:rPr>
              <a:t>Goal</a:t>
            </a:r>
            <a:r>
              <a:rPr lang="en-US" dirty="0" smtClean="0"/>
              <a:t>: Sending messages.</a:t>
            </a:r>
          </a:p>
          <a:p>
            <a:r>
              <a:rPr lang="en-US" dirty="0" smtClean="0"/>
              <a:t>The Cartesian Product.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</a:t>
            </a:r>
            <a:r>
              <a:rPr lang="en-US" dirty="0" err="1" smtClean="0"/>
              <a:t>ABSpec</a:t>
            </a:r>
            <a:r>
              <a:rPr lang="en-US" dirty="0" smtClean="0"/>
              <a:t> Spec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66813" y="2130425"/>
            <a:ext cx="6810375" cy="305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Run the Model</a:t>
            </a:r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75" y="1844675"/>
            <a:ext cx="7715250" cy="417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TLA+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What it is</a:t>
            </a:r>
          </a:p>
          <a:p>
            <a:pPr lvl="1"/>
            <a:r>
              <a:rPr lang="en-US" sz="2400" dirty="0" smtClean="0"/>
              <a:t>A </a:t>
            </a:r>
            <a:r>
              <a:rPr lang="en-US" sz="2400" b="1" dirty="0" smtClean="0"/>
              <a:t>formal specification language</a:t>
            </a:r>
            <a:r>
              <a:rPr lang="en-US" sz="2400" dirty="0" smtClean="0"/>
              <a:t> based on temporal logic.</a:t>
            </a:r>
          </a:p>
          <a:p>
            <a:r>
              <a:rPr lang="en-US" sz="2400" b="1" dirty="0" smtClean="0"/>
              <a:t>What it does</a:t>
            </a:r>
          </a:p>
          <a:p>
            <a:pPr lvl="1"/>
            <a:r>
              <a:rPr lang="en-US" sz="2400" dirty="0" smtClean="0"/>
              <a:t>Describes system behavior mathematically</a:t>
            </a:r>
          </a:p>
          <a:p>
            <a:pPr lvl="1"/>
            <a:r>
              <a:rPr lang="en-US" sz="2400" dirty="0" smtClean="0"/>
              <a:t>Defines states and state transitions</a:t>
            </a:r>
          </a:p>
          <a:p>
            <a:pPr lvl="1"/>
            <a:r>
              <a:rPr lang="en-US" sz="2400" dirty="0" smtClean="0"/>
              <a:t>Expresses safety and </a:t>
            </a:r>
            <a:r>
              <a:rPr lang="en-US" sz="2400" dirty="0" err="1" smtClean="0"/>
              <a:t>liveness</a:t>
            </a:r>
            <a:r>
              <a:rPr lang="en-US" sz="2400" dirty="0" smtClean="0"/>
              <a:t> properties</a:t>
            </a:r>
          </a:p>
          <a:p>
            <a:pPr lvl="1"/>
            <a:r>
              <a:rPr lang="en-US" sz="2400" dirty="0" smtClean="0"/>
              <a:t>Is independent of any particular tool</a:t>
            </a:r>
          </a:p>
          <a:p>
            <a:r>
              <a:rPr lang="en-US" sz="2400" dirty="0" smtClean="0"/>
              <a:t>A TLA+ specification is a </a:t>
            </a:r>
            <a:r>
              <a:rPr lang="en-US" sz="2400" b="1" dirty="0" smtClean="0"/>
              <a:t>temporal logic formula</a:t>
            </a:r>
            <a:r>
              <a:rPr lang="en-US" sz="2400" dirty="0" smtClean="0"/>
              <a:t> that defines a set of allowed behaviors (infinite sequences of states).</a:t>
            </a:r>
          </a:p>
          <a:p>
            <a:r>
              <a:rPr lang="en-US" sz="2400" dirty="0" smtClean="0"/>
              <a:t>It is declarative and mathematical.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TLC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What it is</a:t>
            </a:r>
          </a:p>
          <a:p>
            <a:pPr lvl="1"/>
            <a:r>
              <a:rPr lang="en-US" sz="2400" dirty="0" smtClean="0"/>
              <a:t>A </a:t>
            </a:r>
            <a:r>
              <a:rPr lang="en-US" sz="2400" b="1" dirty="0" smtClean="0"/>
              <a:t>model checker</a:t>
            </a:r>
            <a:r>
              <a:rPr lang="en-US" sz="2400" dirty="0" smtClean="0"/>
              <a:t> for TLA+ specifications.</a:t>
            </a:r>
          </a:p>
          <a:p>
            <a:r>
              <a:rPr lang="en-US" sz="2400" b="1" dirty="0" smtClean="0"/>
              <a:t>What it does</a:t>
            </a:r>
          </a:p>
          <a:p>
            <a:pPr lvl="1"/>
            <a:r>
              <a:rPr lang="en-US" sz="2400" dirty="0" smtClean="0"/>
              <a:t>Takes a TLA+ spec</a:t>
            </a:r>
          </a:p>
          <a:p>
            <a:pPr lvl="1"/>
            <a:r>
              <a:rPr lang="en-US" sz="2400" dirty="0" smtClean="0"/>
              <a:t>Instantiates constants with concrete values</a:t>
            </a:r>
          </a:p>
          <a:p>
            <a:pPr lvl="1"/>
            <a:r>
              <a:rPr lang="en-US" sz="2400" dirty="0" smtClean="0"/>
              <a:t>Explores reachable states</a:t>
            </a:r>
          </a:p>
          <a:p>
            <a:pPr lvl="1"/>
            <a:r>
              <a:rPr lang="en-US" sz="2400" dirty="0" smtClean="0"/>
              <a:t>Checks invariants and temporal properties</a:t>
            </a:r>
          </a:p>
          <a:p>
            <a:pPr lvl="1"/>
            <a:r>
              <a:rPr lang="en-US" sz="2400" dirty="0" smtClean="0"/>
              <a:t>Produces counterexamples when properties fail</a:t>
            </a:r>
          </a:p>
          <a:p>
            <a:r>
              <a:rPr lang="en-US" sz="2400" dirty="0" smtClean="0"/>
              <a:t>TLC is an executable verification engine.</a:t>
            </a:r>
          </a:p>
          <a:p>
            <a:r>
              <a:rPr lang="en-US" sz="2400" b="1" dirty="0" smtClean="0"/>
              <a:t>TLC</a:t>
            </a:r>
            <a:r>
              <a:rPr lang="en-US" sz="2400" dirty="0" smtClean="0"/>
              <a:t> stands for </a:t>
            </a:r>
            <a:r>
              <a:rPr lang="en-US" sz="2400" b="1" dirty="0" smtClean="0"/>
              <a:t>TLA+ Model Checker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TLA+ vs. TLC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TLA+ defines what the system is allowed to do.</a:t>
            </a:r>
          </a:p>
          <a:p>
            <a:r>
              <a:rPr lang="en-US" dirty="0" smtClean="0"/>
              <a:t>TLC checks whether a finite instance satisfies desired properties.</a:t>
            </a:r>
          </a:p>
          <a:p>
            <a:r>
              <a:rPr lang="en-US" dirty="0" smtClean="0"/>
              <a:t>TLA+ is infinite-state and mathematical.</a:t>
            </a:r>
          </a:p>
          <a:p>
            <a:r>
              <a:rPr lang="en-US" dirty="0" smtClean="0"/>
              <a:t>TLC is finite-state and computational.</a:t>
            </a:r>
          </a:p>
          <a:p>
            <a:r>
              <a:rPr lang="en-US" dirty="0" smtClean="0"/>
              <a:t>TLC explores bounded models of a potentially infinite specification.</a:t>
            </a:r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 vs. Spec vs.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b="1" dirty="0" smtClean="0"/>
              <a:t>module</a:t>
            </a:r>
            <a:r>
              <a:rPr lang="en-US" sz="2400" dirty="0" smtClean="0"/>
              <a:t> is a syntactic container — the top-level unit of organization in TLA+.</a:t>
            </a:r>
          </a:p>
          <a:p>
            <a:r>
              <a:rPr lang="en-US" sz="2400" dirty="0" smtClean="0"/>
              <a:t>A </a:t>
            </a:r>
            <a:r>
              <a:rPr lang="en-US" sz="2400" b="1" dirty="0" smtClean="0"/>
              <a:t>spec</a:t>
            </a:r>
            <a:r>
              <a:rPr lang="en-US" sz="2400" dirty="0" smtClean="0"/>
              <a:t> is a formula (usually named Spec) that defines system behavior over time.</a:t>
            </a:r>
          </a:p>
          <a:p>
            <a:r>
              <a:rPr lang="en-US" sz="2400" dirty="0" smtClean="0"/>
              <a:t>A </a:t>
            </a:r>
            <a:r>
              <a:rPr lang="en-US" sz="2400" b="1" dirty="0" smtClean="0"/>
              <a:t>model</a:t>
            </a:r>
            <a:r>
              <a:rPr lang="en-US" sz="2400" dirty="0" smtClean="0"/>
              <a:t> is a configuration for the </a:t>
            </a:r>
            <a:r>
              <a:rPr lang="en-US" sz="2400" b="1" dirty="0" smtClean="0"/>
              <a:t>TLC</a:t>
            </a:r>
            <a:r>
              <a:rPr lang="en-US" sz="2400" dirty="0" smtClean="0"/>
              <a:t> tool. It provides:</a:t>
            </a:r>
          </a:p>
          <a:p>
            <a:pPr lvl="1"/>
            <a:r>
              <a:rPr lang="en-US" sz="2000" dirty="0" smtClean="0"/>
              <a:t>Concrete values for constants</a:t>
            </a:r>
          </a:p>
          <a:p>
            <a:pPr lvl="1"/>
            <a:r>
              <a:rPr lang="en-US" sz="2000" dirty="0" smtClean="0"/>
              <a:t>Finite bounds for sets</a:t>
            </a:r>
          </a:p>
          <a:p>
            <a:pPr lvl="1"/>
            <a:r>
              <a:rPr lang="en-US" sz="2000" dirty="0" smtClean="0"/>
              <a:t>The spec operator to check</a:t>
            </a:r>
          </a:p>
          <a:p>
            <a:pPr lvl="1"/>
            <a:r>
              <a:rPr lang="en-US" sz="2000" dirty="0" smtClean="0"/>
              <a:t>Invariants / properties</a:t>
            </a:r>
          </a:p>
          <a:p>
            <a:pPr lvl="1"/>
            <a:r>
              <a:rPr lang="en-US" sz="2000" dirty="0" smtClean="0"/>
              <a:t>Symmetry settings</a:t>
            </a:r>
          </a:p>
          <a:p>
            <a:r>
              <a:rPr lang="en-US" sz="2400" dirty="0" smtClean="0"/>
              <a:t>The model is not written in TLA+ syntax; it is a TLC configuration layer.</a:t>
            </a:r>
          </a:p>
          <a:p>
            <a:endParaRPr lang="en-US" sz="2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TLC Model 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/>
              <a:t>TLC model value</a:t>
            </a:r>
            <a:r>
              <a:rPr lang="en-US" dirty="0" smtClean="0"/>
              <a:t> is a symbolic placeholder created using the MODEL VALUE construct in a TLA+ specification.</a:t>
            </a:r>
          </a:p>
          <a:p>
            <a:r>
              <a:rPr lang="en-US" dirty="0" smtClean="0"/>
              <a:t>Example:</a:t>
            </a:r>
          </a:p>
          <a:p>
            <a:pPr lvl="1"/>
            <a:r>
              <a:rPr lang="en-US" dirty="0" smtClean="0"/>
              <a:t>CONSTANTS A, B</a:t>
            </a:r>
          </a:p>
          <a:p>
            <a:pPr lvl="1"/>
            <a:r>
              <a:rPr lang="en-US" dirty="0" smtClean="0"/>
              <a:t>ASSUME A /= B</a:t>
            </a:r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TLC 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A </a:t>
            </a:r>
            <a:r>
              <a:rPr lang="en-US" sz="2800" b="1" dirty="0" smtClean="0"/>
              <a:t>TLC value</a:t>
            </a:r>
            <a:r>
              <a:rPr lang="en-US" sz="2800" dirty="0" smtClean="0"/>
              <a:t> is any concrete value that the TLC engine can compute with during model checking.</a:t>
            </a:r>
          </a:p>
          <a:p>
            <a:r>
              <a:rPr lang="en-US" sz="2800" dirty="0" smtClean="0"/>
              <a:t>Examples:</a:t>
            </a:r>
          </a:p>
          <a:p>
            <a:pPr lvl="1"/>
            <a:r>
              <a:rPr lang="en-US" sz="2400" dirty="0" smtClean="0"/>
              <a:t>Integers (1, 42)</a:t>
            </a:r>
          </a:p>
          <a:p>
            <a:pPr lvl="1"/>
            <a:r>
              <a:rPr lang="en-US" sz="2400" dirty="0" smtClean="0"/>
              <a:t>Booleans (TRUE, FALSE)</a:t>
            </a:r>
          </a:p>
          <a:p>
            <a:pPr lvl="1"/>
            <a:r>
              <a:rPr lang="en-US" sz="2400" dirty="0" smtClean="0"/>
              <a:t>Strings</a:t>
            </a:r>
          </a:p>
          <a:p>
            <a:pPr lvl="1"/>
            <a:r>
              <a:rPr lang="en-US" sz="2400" dirty="0" smtClean="0"/>
              <a:t>Sets ({1,2})</a:t>
            </a:r>
          </a:p>
          <a:p>
            <a:pPr lvl="1"/>
            <a:r>
              <a:rPr lang="en-US" sz="2400" dirty="0" smtClean="0"/>
              <a:t>Functions ([x \in S |-&gt; e])</a:t>
            </a:r>
          </a:p>
          <a:p>
            <a:pPr lvl="1"/>
            <a:r>
              <a:rPr lang="en-US" sz="2400" dirty="0" smtClean="0"/>
              <a:t>Records ([a |-&gt; 1, b |-&gt; 2])</a:t>
            </a:r>
          </a:p>
          <a:p>
            <a:pPr lvl="1"/>
            <a:r>
              <a:rPr lang="en-US" sz="2400" dirty="0" smtClean="0"/>
              <a:t>Sequences (&lt;&lt;1,2,3&gt;&gt;)</a:t>
            </a:r>
            <a:endParaRPr lang="en-US" sz="2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Refinement in TLA+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specification </a:t>
            </a:r>
            <a:r>
              <a:rPr lang="en-US" sz="2400" b="1" dirty="0" smtClean="0"/>
              <a:t>Spec₂ refines Spec₁</a:t>
            </a:r>
            <a:r>
              <a:rPr lang="en-US" sz="2400" dirty="0" smtClean="0"/>
              <a:t> if every behavior allowed by Spec₂ is also allowed by Spec₁.</a:t>
            </a:r>
          </a:p>
          <a:p>
            <a:r>
              <a:rPr lang="en-US" sz="2400" dirty="0" smtClean="0"/>
              <a:t>Formally: Spec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​⇒Spec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​. This means the concrete system is consistent with the abstract one.</a:t>
            </a:r>
          </a:p>
          <a:p>
            <a:r>
              <a:rPr lang="en-US" sz="2400" b="1" dirty="0" smtClean="0"/>
              <a:t>Why This Matters</a:t>
            </a:r>
          </a:p>
          <a:p>
            <a:pPr lvl="1"/>
            <a:r>
              <a:rPr lang="en-US" sz="2400" dirty="0" smtClean="0"/>
              <a:t>Refinement allows:</a:t>
            </a:r>
          </a:p>
          <a:p>
            <a:pPr lvl="2"/>
            <a:r>
              <a:rPr lang="en-US" dirty="0" smtClean="0"/>
              <a:t>High-level correctness reasoning</a:t>
            </a:r>
          </a:p>
          <a:p>
            <a:pPr lvl="2"/>
            <a:r>
              <a:rPr lang="en-US" dirty="0" smtClean="0"/>
              <a:t>Stepwise system design</a:t>
            </a:r>
          </a:p>
          <a:p>
            <a:pPr lvl="2"/>
            <a:r>
              <a:rPr lang="en-US" dirty="0" smtClean="0"/>
              <a:t>Safe optimization</a:t>
            </a:r>
          </a:p>
          <a:p>
            <a:pPr lvl="2"/>
            <a:r>
              <a:rPr lang="en-US" dirty="0" smtClean="0"/>
              <a:t>Implementation validation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Safety Property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b="1" dirty="0" smtClean="0"/>
              <a:t>safety property</a:t>
            </a:r>
            <a:r>
              <a:rPr lang="en-US" sz="2400" dirty="0" smtClean="0"/>
              <a:t> is a property that asserts: “Nothing bad ever happens.”</a:t>
            </a:r>
          </a:p>
          <a:p>
            <a:r>
              <a:rPr lang="en-US" sz="2400" b="1" dirty="0" smtClean="0"/>
              <a:t>Formal Definition</a:t>
            </a:r>
          </a:p>
          <a:p>
            <a:r>
              <a:rPr lang="en-US" sz="2400" dirty="0" smtClean="0"/>
              <a:t>A property P is </a:t>
            </a:r>
            <a:r>
              <a:rPr lang="en-US" sz="2400" b="1" dirty="0" smtClean="0"/>
              <a:t>safety</a:t>
            </a:r>
            <a:r>
              <a:rPr lang="en-US" sz="2400" dirty="0" smtClean="0"/>
              <a:t> </a:t>
            </a:r>
            <a:r>
              <a:rPr lang="en-US" sz="2400" dirty="0" err="1" smtClean="0"/>
              <a:t>iff</a:t>
            </a:r>
            <a:r>
              <a:rPr lang="en-US" sz="2400" dirty="0" smtClean="0"/>
              <a:t>:</a:t>
            </a:r>
          </a:p>
          <a:p>
            <a:pPr lvl="1"/>
            <a:r>
              <a:rPr lang="en-US" sz="2400" dirty="0" smtClean="0"/>
              <a:t>If a behavior violates P, then there exists a </a:t>
            </a:r>
            <a:r>
              <a:rPr lang="en-US" sz="2400" b="1" dirty="0" smtClean="0"/>
              <a:t>finite prefix</a:t>
            </a:r>
            <a:r>
              <a:rPr lang="en-US" sz="2400" dirty="0" smtClean="0"/>
              <a:t> of that behavior that already demonstrates the violation.</a:t>
            </a:r>
          </a:p>
          <a:p>
            <a:r>
              <a:rPr lang="en-US" sz="2400" dirty="0" smtClean="0"/>
              <a:t>In other words:</a:t>
            </a:r>
          </a:p>
          <a:p>
            <a:pPr lvl="1"/>
            <a:r>
              <a:rPr lang="en-US" sz="2400" dirty="0" smtClean="0"/>
              <a:t>Violations are detectable in finite time.</a:t>
            </a:r>
          </a:p>
          <a:p>
            <a:pPr lvl="1"/>
            <a:r>
              <a:rPr lang="en-US" sz="2400" dirty="0" smtClean="0"/>
              <a:t>Once violated, the property cannot be “repaired” later.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Safety Failures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safety failure: “A bad thing has happened.”</a:t>
            </a:r>
          </a:p>
          <a:p>
            <a:r>
              <a:rPr lang="en-US" sz="2400" dirty="0" smtClean="0"/>
              <a:t>Two processes simultaneously in the critical section. There exists a concrete state: P1InCS = TRUE /\ P2InCS = TRUE</a:t>
            </a:r>
          </a:p>
          <a:p>
            <a:r>
              <a:rPr lang="en-US" sz="2400" dirty="0" smtClean="0"/>
              <a:t>Bank account becomes negative when that is disallowed.</a:t>
            </a:r>
          </a:p>
          <a:p>
            <a:r>
              <a:rPr lang="en-US" sz="2400" dirty="0" smtClean="0"/>
              <a:t>Two leaders exist simultaneously in a consensus system.</a:t>
            </a:r>
          </a:p>
          <a:p>
            <a:r>
              <a:rPr lang="en-US" sz="2400" dirty="0" smtClean="0"/>
              <a:t>Replica states diverge in a way forbidden by the protocol invariant.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Liveness</a:t>
            </a:r>
            <a:r>
              <a:rPr lang="en-US" dirty="0" smtClean="0"/>
              <a:t> Property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b="1" dirty="0" err="1" smtClean="0"/>
              <a:t>liveness</a:t>
            </a:r>
            <a:r>
              <a:rPr lang="en-US" sz="2400" b="1" dirty="0" smtClean="0"/>
              <a:t> property</a:t>
            </a:r>
            <a:r>
              <a:rPr lang="en-US" sz="2400" dirty="0" smtClean="0"/>
              <a:t> is a property that asserts: “Good things eventually happen.”</a:t>
            </a:r>
          </a:p>
          <a:p>
            <a:r>
              <a:rPr lang="en-US" sz="2400" dirty="0" smtClean="0"/>
              <a:t>Let a system behavior be an infinite sequence of states.</a:t>
            </a:r>
          </a:p>
          <a:p>
            <a:r>
              <a:rPr lang="en-US" sz="2400" dirty="0" smtClean="0"/>
              <a:t>A property P is </a:t>
            </a:r>
            <a:r>
              <a:rPr lang="en-US" sz="2400" b="1" dirty="0" err="1" smtClean="0"/>
              <a:t>liveness</a:t>
            </a:r>
            <a:r>
              <a:rPr lang="en-US" sz="2400" dirty="0" smtClean="0"/>
              <a:t> </a:t>
            </a:r>
            <a:r>
              <a:rPr lang="en-US" sz="2400" dirty="0" err="1" smtClean="0"/>
              <a:t>iff</a:t>
            </a:r>
            <a:r>
              <a:rPr lang="en-US" sz="2400" dirty="0" smtClean="0"/>
              <a:t>:</a:t>
            </a:r>
          </a:p>
          <a:p>
            <a:pPr lvl="1"/>
            <a:r>
              <a:rPr lang="en-US" sz="2400" dirty="0" smtClean="0"/>
              <a:t>For every finite prefix of a behavior, there exists an extension of that prefix that satisfies P.</a:t>
            </a:r>
          </a:p>
          <a:p>
            <a:r>
              <a:rPr lang="en-US" sz="2400" dirty="0" smtClean="0"/>
              <a:t>Intuition:</a:t>
            </a:r>
          </a:p>
          <a:p>
            <a:pPr lvl="1"/>
            <a:r>
              <a:rPr lang="en-US" sz="2400" dirty="0" smtClean="0"/>
              <a:t>No finite execution can permanently violate a </a:t>
            </a:r>
            <a:r>
              <a:rPr lang="en-US" sz="2400" dirty="0" err="1" smtClean="0"/>
              <a:t>liveness</a:t>
            </a:r>
            <a:r>
              <a:rPr lang="en-US" sz="2400" dirty="0" smtClean="0"/>
              <a:t> property.</a:t>
            </a:r>
          </a:p>
          <a:p>
            <a:pPr lvl="1"/>
            <a:r>
              <a:rPr lang="en-US" sz="2400" dirty="0" smtClean="0"/>
              <a:t>Violations require infinite non-progress.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Liveness</a:t>
            </a:r>
            <a:r>
              <a:rPr lang="en-US" dirty="0" smtClean="0"/>
              <a:t> Failures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dirty="0" err="1" smtClean="0"/>
              <a:t>liveness</a:t>
            </a:r>
            <a:r>
              <a:rPr lang="en-US" sz="2400" dirty="0" smtClean="0"/>
              <a:t> failure: “That good thing never happens.”</a:t>
            </a:r>
          </a:p>
          <a:p>
            <a:r>
              <a:rPr lang="en-US" sz="2400" dirty="0" smtClean="0"/>
              <a:t>You can never point to a single bad state and say: “Here is the violation.” You must observe endless delay.</a:t>
            </a:r>
          </a:p>
          <a:p>
            <a:r>
              <a:rPr lang="en-US" sz="2400" dirty="0" err="1" smtClean="0"/>
              <a:t>Liveness</a:t>
            </a:r>
            <a:r>
              <a:rPr lang="en-US" sz="2400" dirty="0" smtClean="0"/>
              <a:t> failures are:</a:t>
            </a:r>
          </a:p>
          <a:p>
            <a:pPr lvl="1"/>
            <a:r>
              <a:rPr lang="en-US" sz="2400" dirty="0" smtClean="0"/>
              <a:t>Deadlock</a:t>
            </a:r>
          </a:p>
          <a:p>
            <a:pPr lvl="1"/>
            <a:r>
              <a:rPr lang="en-US" sz="2400" dirty="0" smtClean="0"/>
              <a:t>Starvation</a:t>
            </a:r>
          </a:p>
          <a:p>
            <a:pPr lvl="1"/>
            <a:r>
              <a:rPr lang="en-US" sz="2400" dirty="0" smtClean="0"/>
              <a:t>Infinite retry loops</a:t>
            </a:r>
          </a:p>
          <a:p>
            <a:pPr lvl="1"/>
            <a:r>
              <a:rPr lang="en-US" sz="2400" dirty="0" smtClean="0"/>
              <a:t>System makes no progress</a:t>
            </a:r>
          </a:p>
          <a:p>
            <a:pPr lvl="1"/>
            <a:r>
              <a:rPr lang="en-US" sz="2400" dirty="0" smtClean="0"/>
              <a:t>Leader never elected</a:t>
            </a:r>
          </a:p>
          <a:p>
            <a:r>
              <a:rPr lang="en-US" sz="2400" dirty="0" smtClean="0"/>
              <a:t>These are progress failures — the system stalls but doesn't necessarily corrupt state.</a:t>
            </a:r>
            <a:endParaRPr lang="en-US" sz="2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TLA+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https://github.com/felipecrv/tla-course/tree/main</a:t>
            </a:r>
          </a:p>
          <a:p>
            <a:r>
              <a:rPr lang="en-US" sz="2000" dirty="0" smtClean="0">
                <a:hlinkClick r:id="rId2"/>
              </a:rPr>
              <a:t>https://old.learntla.com/introduction/</a:t>
            </a:r>
            <a:endParaRPr lang="en-US" sz="2000" dirty="0" smtClean="0"/>
          </a:p>
          <a:p>
            <a:r>
              <a:rPr lang="en-US" sz="2000" dirty="0" smtClean="0">
                <a:hlinkClick r:id="rId3"/>
              </a:rPr>
              <a:t>https://mbt.informal.systems/docs/tla_basics_tutorials/tutorial.html</a:t>
            </a:r>
            <a:endParaRPr lang="en-US" sz="2000" dirty="0" smtClean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22343</TotalTime>
  <Words>1492</Words>
  <Application>Microsoft Office PowerPoint</Application>
  <PresentationFormat>On-screen Show (4:3)</PresentationFormat>
  <Paragraphs>233</Paragraphs>
  <Slides>59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0" baseType="lpstr">
      <vt:lpstr>Office Theme</vt:lpstr>
      <vt:lpstr>Writing TLA+ Specifications</vt:lpstr>
      <vt:lpstr>Objectives</vt:lpstr>
      <vt:lpstr>Contents</vt:lpstr>
      <vt:lpstr>References</vt:lpstr>
      <vt:lpstr>The Transaction Commit Problem</vt:lpstr>
      <vt:lpstr>Possible States and Steps</vt:lpstr>
      <vt:lpstr>1. Create TCommit Spec</vt:lpstr>
      <vt:lpstr>Constants</vt:lpstr>
      <vt:lpstr>Functions</vt:lpstr>
      <vt:lpstr>Function Sets</vt:lpstr>
      <vt:lpstr>Operator Definition</vt:lpstr>
      <vt:lpstr>Action Formula</vt:lpstr>
      <vt:lpstr>Function Application</vt:lpstr>
      <vt:lpstr>2. Run the Model</vt:lpstr>
      <vt:lpstr>Slide 15</vt:lpstr>
      <vt:lpstr>The Two-Phase Commit Protocol</vt:lpstr>
      <vt:lpstr>Possible States and Steps</vt:lpstr>
      <vt:lpstr>1. Create TwoPhase Spec</vt:lpstr>
      <vt:lpstr>Records and Record Sets</vt:lpstr>
      <vt:lpstr>2. Run the Model</vt:lpstr>
      <vt:lpstr>Slide 21</vt:lpstr>
      <vt:lpstr>The Paxos Commit Protocol</vt:lpstr>
      <vt:lpstr>Possible States and Steps</vt:lpstr>
      <vt:lpstr>1. Create PaxosCommit Spec</vt:lpstr>
      <vt:lpstr>CHOOSE Operator</vt:lpstr>
      <vt:lpstr>ASSUME Declaration</vt:lpstr>
      <vt:lpstr>The LET-IN Expression</vt:lpstr>
      <vt:lpstr>Two Set Constructors</vt:lpstr>
      <vt:lpstr>2. Run the Model</vt:lpstr>
      <vt:lpstr>Slide 30</vt:lpstr>
      <vt:lpstr>Implication</vt:lpstr>
      <vt:lpstr>Module-Closed Expressions </vt:lpstr>
      <vt:lpstr>Module-Closed Formulas</vt:lpstr>
      <vt:lpstr>Temporal Formulas</vt:lpstr>
      <vt:lpstr>Theorems</vt:lpstr>
      <vt:lpstr>Specifications</vt:lpstr>
      <vt:lpstr>Stuttering Steps</vt:lpstr>
      <vt:lpstr>Terminating Execution</vt:lpstr>
      <vt:lpstr>Slide 39</vt:lpstr>
      <vt:lpstr>The Sequences Exercise</vt:lpstr>
      <vt:lpstr>Slide 41</vt:lpstr>
      <vt:lpstr>The Alternating Bit Specification</vt:lpstr>
      <vt:lpstr>1. Create ABSpec Spec</vt:lpstr>
      <vt:lpstr>2. Run the Model</vt:lpstr>
      <vt:lpstr>Slide 45</vt:lpstr>
      <vt:lpstr>TLA+</vt:lpstr>
      <vt:lpstr>TLC</vt:lpstr>
      <vt:lpstr>TLA+ vs. TLC</vt:lpstr>
      <vt:lpstr>Module vs. Spec vs. Model</vt:lpstr>
      <vt:lpstr>TLC Model Values</vt:lpstr>
      <vt:lpstr>TLC Values</vt:lpstr>
      <vt:lpstr>Refinement in TLA+</vt:lpstr>
      <vt:lpstr>Safety Property</vt:lpstr>
      <vt:lpstr>Safety Failures</vt:lpstr>
      <vt:lpstr>Liveness Property</vt:lpstr>
      <vt:lpstr>Liveness Failures</vt:lpstr>
      <vt:lpstr>Slide 57</vt:lpstr>
      <vt:lpstr>More TLA+ Examples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7404</cp:revision>
  <dcterms:created xsi:type="dcterms:W3CDTF">2007-10-06T08:25:13Z</dcterms:created>
  <dcterms:modified xsi:type="dcterms:W3CDTF">2026-02-25T15:28:22Z</dcterms:modified>
</cp:coreProperties>
</file>