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4"/>
  </p:notesMasterIdLst>
  <p:sldIdLst>
    <p:sldId id="558" r:id="rId2"/>
    <p:sldId id="517" r:id="rId3"/>
    <p:sldId id="565" r:id="rId4"/>
    <p:sldId id="566" r:id="rId5"/>
    <p:sldId id="567" r:id="rId6"/>
    <p:sldId id="568" r:id="rId7"/>
    <p:sldId id="569" r:id="rId8"/>
    <p:sldId id="570" r:id="rId9"/>
    <p:sldId id="571" r:id="rId10"/>
    <p:sldId id="572" r:id="rId11"/>
    <p:sldId id="573" r:id="rId12"/>
    <p:sldId id="574" r:id="rId13"/>
    <p:sldId id="575" r:id="rId14"/>
    <p:sldId id="576" r:id="rId15"/>
    <p:sldId id="577" r:id="rId16"/>
    <p:sldId id="578" r:id="rId17"/>
    <p:sldId id="584" r:id="rId18"/>
    <p:sldId id="580" r:id="rId19"/>
    <p:sldId id="581" r:id="rId20"/>
    <p:sldId id="582" r:id="rId21"/>
    <p:sldId id="583" r:id="rId22"/>
    <p:sldId id="579" r:id="rId2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88" autoAdjust="0"/>
    <p:restoredTop sz="94667" autoAdjust="0"/>
  </p:normalViewPr>
  <p:slideViewPr>
    <p:cSldViewPr>
      <p:cViewPr>
        <p:scale>
          <a:sx n="60" d="100"/>
          <a:sy n="60" d="100"/>
        </p:scale>
        <p:origin x="-1260" y="-1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940CE-BE1D-4C40-AF8B-3898A4D1F5EC}" type="datetimeFigureOut">
              <a:rPr lang="en-US" smtClean="0"/>
              <a:pPr/>
              <a:t>1/7/2023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0CC96-DB61-4850-AF79-05CA5E4B3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1/7/2023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1/7/2023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1/7/2023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1/7/2023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1/7/2023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1/7/2023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1/7/2023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1/7/2023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1/7/2023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1/7/2023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1/7/2023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1/7/2023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smtClean="0"/>
              <a:t>Data Synchronization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5638800" cy="42672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Zach McCormick and Douglas C. Schmidt. Data Synchronization Patterns in Mobile Application Design. </a:t>
            </a:r>
            <a:r>
              <a:rPr lang="en-US" sz="2000" dirty="0" err="1" smtClean="0"/>
              <a:t>PLoP</a:t>
            </a:r>
            <a:r>
              <a:rPr lang="en-US" sz="2000" dirty="0" smtClean="0"/>
              <a:t> '12. Tucson. 2012.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/>
              <a:t>Christoph</a:t>
            </a:r>
            <a:r>
              <a:rPr lang="en-US" sz="2000" dirty="0" smtClean="0"/>
              <a:t> Fehling et al. An Architectural Pattern Language of Cloud-based Applications. Conf. on Pattern Languages of Programs, Portland. 2011</a:t>
            </a:r>
            <a:r>
              <a:rPr lang="en-US" sz="20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/>
              <a:t>Idilio</a:t>
            </a:r>
            <a:r>
              <a:rPr lang="en-US" sz="2000" dirty="0" smtClean="0"/>
              <a:t> </a:t>
            </a:r>
            <a:r>
              <a:rPr lang="en-US" sz="2000" dirty="0" err="1" smtClean="0"/>
              <a:t>Drago</a:t>
            </a:r>
            <a:r>
              <a:rPr lang="en-US" sz="2000" dirty="0" smtClean="0"/>
              <a:t> et al. (2012). Inside </a:t>
            </a:r>
            <a:r>
              <a:rPr lang="en-US" sz="2000" dirty="0" err="1" smtClean="0"/>
              <a:t>Dropbox</a:t>
            </a:r>
            <a:r>
              <a:rPr lang="en-US" sz="2000" dirty="0" smtClean="0"/>
              <a:t> - Understanding Personal Cloud Storage Services.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/>
              <a:t>Zhenhua</a:t>
            </a:r>
            <a:r>
              <a:rPr lang="en-US" sz="2000" dirty="0" smtClean="0"/>
              <a:t> Li et al. (2013). Efficient Batched Synchronization in </a:t>
            </a:r>
            <a:r>
              <a:rPr lang="en-US" sz="2000" dirty="0" err="1" smtClean="0"/>
              <a:t>Dropbox</a:t>
            </a:r>
            <a:r>
              <a:rPr lang="en-US" sz="2000" dirty="0" smtClean="0"/>
              <a:t>-Like Cloud Storage Services.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1143000"/>
          </a:xfrm>
        </p:spPr>
        <p:txBody>
          <a:bodyPr/>
          <a:lstStyle/>
          <a:p>
            <a:r>
              <a:rPr lang="en-US" dirty="0" smtClean="0"/>
              <a:t>Data Synchronization Patterns [1]</a:t>
            </a:r>
            <a:endParaRPr lang="en-US" dirty="0"/>
          </a:p>
        </p:txBody>
      </p:sp>
      <p:pic>
        <p:nvPicPr>
          <p:cNvPr id="55298" name="Picture 2" descr="http://i.msdn.microsoft.com/bb887608.figure4%28en-us%29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1524000"/>
            <a:ext cx="4219575" cy="50006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Asynchronous Data Synchronization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297363"/>
          </a:xfrm>
        </p:spPr>
        <p:txBody>
          <a:bodyPr/>
          <a:lstStyle/>
          <a:p>
            <a:r>
              <a:rPr lang="en-US" sz="2400" dirty="0" smtClean="0">
                <a:solidFill>
                  <a:srgbClr val="C00000"/>
                </a:solidFill>
              </a:rPr>
              <a:t>Problem</a:t>
            </a:r>
          </a:p>
          <a:p>
            <a:pPr lvl="1"/>
            <a:r>
              <a:rPr lang="en-US" sz="2000" dirty="0" smtClean="0"/>
              <a:t>A non-responsive or </a:t>
            </a:r>
            <a:r>
              <a:rPr lang="en-US" sz="2000" i="1" dirty="0" smtClean="0">
                <a:solidFill>
                  <a:srgbClr val="C00000"/>
                </a:solidFill>
              </a:rPr>
              <a:t>slow-to-respond</a:t>
            </a:r>
            <a:r>
              <a:rPr lang="en-US" sz="2000" dirty="0" smtClean="0"/>
              <a:t> application yields a poor user experience.</a:t>
            </a:r>
          </a:p>
          <a:p>
            <a:pPr lvl="1"/>
            <a:r>
              <a:rPr lang="en-US" sz="2000" dirty="0" smtClean="0"/>
              <a:t>Even if an application responds to user input quickly, however, a user will be frustrated if they must </a:t>
            </a:r>
            <a:r>
              <a:rPr lang="en-US" sz="2000" i="1" dirty="0" smtClean="0">
                <a:solidFill>
                  <a:srgbClr val="C00000"/>
                </a:solidFill>
              </a:rPr>
              <a:t>wait for</a:t>
            </a:r>
            <a:r>
              <a:rPr lang="en-US" sz="2000" dirty="0" smtClean="0"/>
              <a:t> significant periods of time for </a:t>
            </a:r>
            <a:r>
              <a:rPr lang="en-US" sz="2000" i="1" dirty="0" smtClean="0">
                <a:solidFill>
                  <a:srgbClr val="C00000"/>
                </a:solidFill>
              </a:rPr>
              <a:t>data to load</a:t>
            </a:r>
            <a:r>
              <a:rPr lang="en-US" sz="2000" dirty="0" smtClean="0"/>
              <a:t>.</a:t>
            </a:r>
          </a:p>
          <a:p>
            <a:pPr lvl="1"/>
            <a:endParaRPr lang="en-US" sz="2000" dirty="0" smtClean="0"/>
          </a:p>
          <a:p>
            <a:r>
              <a:rPr lang="en-US" sz="2400" dirty="0" smtClean="0">
                <a:solidFill>
                  <a:srgbClr val="C00000"/>
                </a:solidFill>
              </a:rPr>
              <a:t>Solution</a:t>
            </a:r>
          </a:p>
          <a:p>
            <a:pPr lvl="1"/>
            <a:r>
              <a:rPr lang="en-US" sz="2000" dirty="0" smtClean="0"/>
              <a:t>Initiate </a:t>
            </a:r>
            <a:r>
              <a:rPr lang="en-US" sz="2000" i="1" dirty="0" smtClean="0">
                <a:solidFill>
                  <a:srgbClr val="C00000"/>
                </a:solidFill>
              </a:rPr>
              <a:t>data transfer asynchronously</a:t>
            </a:r>
            <a:r>
              <a:rPr lang="en-US" sz="2000" dirty="0" smtClean="0"/>
              <a:t> via a trigger (such as a user action, a timer tick, an Android “intent”, or a push notification in </a:t>
            </a:r>
            <a:r>
              <a:rPr lang="en-US" sz="2000" dirty="0" err="1" smtClean="0"/>
              <a:t>iOS</a:t>
            </a:r>
            <a:r>
              <a:rPr lang="en-US" sz="2000" dirty="0" smtClean="0"/>
              <a:t>) and perform the transfer asynchronously.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Visual Explanation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114800"/>
            <a:ext cx="8229600" cy="2362200"/>
          </a:xfrm>
        </p:spPr>
        <p:txBody>
          <a:bodyPr/>
          <a:lstStyle/>
          <a:p>
            <a:r>
              <a:rPr lang="en-US" sz="2000" dirty="0" smtClean="0"/>
              <a:t>The Asynchronous Data Synchronization pattern is a mechanism pattern, thus it may be best </a:t>
            </a:r>
            <a:r>
              <a:rPr lang="en-US" sz="2000" i="1" dirty="0" smtClean="0">
                <a:solidFill>
                  <a:srgbClr val="C00000"/>
                </a:solidFill>
              </a:rPr>
              <a:t>visualized as a series of states</a:t>
            </a:r>
            <a:r>
              <a:rPr lang="en-US" sz="2000" dirty="0" smtClean="0"/>
              <a:t>.</a:t>
            </a:r>
          </a:p>
          <a:p>
            <a:r>
              <a:rPr lang="en-US" sz="2000" i="1" dirty="0" smtClean="0">
                <a:solidFill>
                  <a:srgbClr val="C00000"/>
                </a:solidFill>
              </a:rPr>
              <a:t>When an application is “usable”</a:t>
            </a:r>
            <a:r>
              <a:rPr lang="en-US" sz="2000" dirty="0" smtClean="0"/>
              <a:t> (meaning the user can interact with the application) a synchronization event can be started.</a:t>
            </a:r>
          </a:p>
          <a:p>
            <a:r>
              <a:rPr lang="en-US" sz="2000" dirty="0" smtClean="0"/>
              <a:t>Rather than executing the synchronization event sequentially, however, </a:t>
            </a:r>
            <a:r>
              <a:rPr lang="en-US" sz="2000" i="1" dirty="0" smtClean="0">
                <a:solidFill>
                  <a:srgbClr val="C00000"/>
                </a:solidFill>
              </a:rPr>
              <a:t>the event is launched asynchronously</a:t>
            </a:r>
            <a:r>
              <a:rPr lang="en-US" sz="2000" dirty="0" smtClean="0"/>
              <a:t> and the application returns to a usable state immediately.</a:t>
            </a:r>
            <a:endParaRPr lang="en-US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19325" y="1295400"/>
            <a:ext cx="4705350" cy="256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Synchronous Data Synchronization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sz="2400" dirty="0" smtClean="0">
                <a:solidFill>
                  <a:srgbClr val="C00000"/>
                </a:solidFill>
              </a:rPr>
              <a:t>Problem</a:t>
            </a:r>
          </a:p>
          <a:p>
            <a:pPr lvl="1"/>
            <a:r>
              <a:rPr lang="en-US" sz="2000" dirty="0" smtClean="0"/>
              <a:t>Some mobile application systems rely on datasets that must be </a:t>
            </a:r>
            <a:r>
              <a:rPr lang="en-US" sz="2000" i="1" dirty="0" smtClean="0">
                <a:solidFill>
                  <a:srgbClr val="C00000"/>
                </a:solidFill>
              </a:rPr>
              <a:t>accurate</a:t>
            </a:r>
            <a:r>
              <a:rPr lang="en-US" sz="2000" dirty="0" smtClean="0"/>
              <a:t> in real time or have certain time constraints limiting usability of the data.</a:t>
            </a:r>
          </a:p>
          <a:p>
            <a:pPr lvl="1"/>
            <a:r>
              <a:rPr lang="en-US" sz="2000" dirty="0" smtClean="0"/>
              <a:t>Similarly, some mobile application systems may rely on the response for an action from a remote system </a:t>
            </a:r>
            <a:r>
              <a:rPr lang="en-US" sz="2000" i="1" dirty="0" smtClean="0">
                <a:solidFill>
                  <a:srgbClr val="C00000"/>
                </a:solidFill>
              </a:rPr>
              <a:t>before</a:t>
            </a:r>
            <a:r>
              <a:rPr lang="en-US" sz="2000" dirty="0" smtClean="0"/>
              <a:t> another action can be performed.</a:t>
            </a:r>
          </a:p>
          <a:p>
            <a:pPr lvl="1"/>
            <a:endParaRPr lang="en-US" sz="2000" dirty="0" smtClean="0"/>
          </a:p>
          <a:p>
            <a:r>
              <a:rPr lang="en-US" sz="2400" dirty="0" smtClean="0">
                <a:solidFill>
                  <a:srgbClr val="C00000"/>
                </a:solidFill>
              </a:rPr>
              <a:t>Solution</a:t>
            </a:r>
          </a:p>
          <a:p>
            <a:pPr lvl="1"/>
            <a:r>
              <a:rPr lang="en-US" sz="2000" dirty="0" smtClean="0"/>
              <a:t>Initiate data transfer via a trigger (such as a user action, timer tick, etc.) and perform the transfer </a:t>
            </a:r>
            <a:r>
              <a:rPr lang="en-US" sz="2000" i="1" dirty="0" smtClean="0">
                <a:solidFill>
                  <a:srgbClr val="C00000"/>
                </a:solidFill>
              </a:rPr>
              <a:t>synchronously</a:t>
            </a:r>
            <a:r>
              <a:rPr lang="en-US" sz="2000" dirty="0" smtClean="0"/>
              <a:t>.</a:t>
            </a:r>
          </a:p>
          <a:p>
            <a:pPr lvl="1"/>
            <a:r>
              <a:rPr lang="en-US" sz="2000" dirty="0" smtClean="0"/>
              <a:t>The application only proceeds to the </a:t>
            </a:r>
            <a:r>
              <a:rPr lang="en-US" sz="2000" i="1" dirty="0" smtClean="0">
                <a:solidFill>
                  <a:srgbClr val="C00000"/>
                </a:solidFill>
              </a:rPr>
              <a:t>next state</a:t>
            </a:r>
            <a:r>
              <a:rPr lang="en-US" sz="2000" dirty="0" smtClean="0"/>
              <a:t> when a result (positive or negative) is reached.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Visual Explanation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648200"/>
            <a:ext cx="8229600" cy="1676400"/>
          </a:xfrm>
        </p:spPr>
        <p:txBody>
          <a:bodyPr/>
          <a:lstStyle/>
          <a:p>
            <a:r>
              <a:rPr lang="en-US" sz="2000" dirty="0" smtClean="0"/>
              <a:t>When an application is in a </a:t>
            </a:r>
            <a:r>
              <a:rPr lang="en-US" sz="2000" i="1" dirty="0" smtClean="0">
                <a:solidFill>
                  <a:srgbClr val="C00000"/>
                </a:solidFill>
              </a:rPr>
              <a:t>usable state</a:t>
            </a:r>
            <a:r>
              <a:rPr lang="en-US" sz="2000" dirty="0" smtClean="0"/>
              <a:t>, a synchronization event can be started.</a:t>
            </a:r>
          </a:p>
          <a:p>
            <a:r>
              <a:rPr lang="en-US" sz="2000" dirty="0" smtClean="0"/>
              <a:t>The event is launched synchronously and executed in a </a:t>
            </a:r>
            <a:r>
              <a:rPr lang="en-US" sz="2000" i="1" dirty="0" smtClean="0">
                <a:solidFill>
                  <a:srgbClr val="C00000"/>
                </a:solidFill>
              </a:rPr>
              <a:t>sequential fashion</a:t>
            </a:r>
            <a:r>
              <a:rPr lang="en-US" sz="2000" dirty="0" smtClean="0"/>
              <a:t>, leaving the application in a waiting state until the synchronization is finished, whereupon it returns to the usable state.</a:t>
            </a:r>
            <a:endParaRPr lang="en-US" sz="20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2175" y="1524000"/>
            <a:ext cx="481965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Full Transfer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sz="2400" dirty="0" smtClean="0">
                <a:solidFill>
                  <a:srgbClr val="C00000"/>
                </a:solidFill>
              </a:rPr>
              <a:t>Problem</a:t>
            </a:r>
          </a:p>
          <a:p>
            <a:pPr lvl="1"/>
            <a:r>
              <a:rPr lang="en-US" sz="2000" dirty="0" smtClean="0"/>
              <a:t>Some types of data (such as </a:t>
            </a:r>
            <a:r>
              <a:rPr lang="en-US" sz="2000" i="1" dirty="0" smtClean="0">
                <a:solidFill>
                  <a:srgbClr val="C00000"/>
                </a:solidFill>
              </a:rPr>
              <a:t>static files or datasets that change entirely after a synchronization event</a:t>
            </a:r>
            <a:r>
              <a:rPr lang="en-US" sz="2000" dirty="0" smtClean="0"/>
              <a:t> like a “Message of the Day”) either cannot use or will not benefit from a complex reconciliation scheme.</a:t>
            </a:r>
          </a:p>
          <a:p>
            <a:pPr lvl="1"/>
            <a:r>
              <a:rPr lang="en-US" sz="2000" i="1" dirty="0" smtClean="0">
                <a:solidFill>
                  <a:srgbClr val="C00000"/>
                </a:solidFill>
              </a:rPr>
              <a:t>Moreover, some situations (such as a corrupt dataset)</a:t>
            </a:r>
            <a:r>
              <a:rPr lang="en-US" sz="2000" dirty="0" smtClean="0"/>
              <a:t> are more easily handled by a simple reconciliation scheme since a more complex scheme that uses fewer resources may take more time and effort to develop.</a:t>
            </a:r>
          </a:p>
          <a:p>
            <a:pPr lvl="1"/>
            <a:endParaRPr lang="en-US" sz="2000" dirty="0" smtClean="0"/>
          </a:p>
          <a:p>
            <a:r>
              <a:rPr lang="en-US" sz="2400" dirty="0" smtClean="0">
                <a:solidFill>
                  <a:srgbClr val="C00000"/>
                </a:solidFill>
              </a:rPr>
              <a:t>Solution</a:t>
            </a:r>
          </a:p>
          <a:p>
            <a:pPr lvl="1"/>
            <a:r>
              <a:rPr lang="en-US" sz="2000" dirty="0" smtClean="0"/>
              <a:t>Reconcile data between a device and a remote system by </a:t>
            </a:r>
            <a:r>
              <a:rPr lang="en-US" sz="2000" i="1" dirty="0" smtClean="0">
                <a:solidFill>
                  <a:srgbClr val="C00000"/>
                </a:solidFill>
              </a:rPr>
              <a:t>transferring the entire contents of one to the other</a:t>
            </a:r>
            <a:r>
              <a:rPr lang="en-US" sz="2000" dirty="0" smtClean="0"/>
              <a:t> and making any appropriate changes when data is received.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Visual Explanation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05200"/>
            <a:ext cx="8229600" cy="1676400"/>
          </a:xfrm>
        </p:spPr>
        <p:txBody>
          <a:bodyPr/>
          <a:lstStyle/>
          <a:p>
            <a:r>
              <a:rPr lang="en-US" sz="2200" dirty="0" smtClean="0"/>
              <a:t>On a synchronization event, </a:t>
            </a:r>
            <a:r>
              <a:rPr lang="en-US" sz="2200" i="1" dirty="0" smtClean="0">
                <a:solidFill>
                  <a:srgbClr val="C00000"/>
                </a:solidFill>
              </a:rPr>
              <a:t>the entire dataset is transferred</a:t>
            </a:r>
            <a:r>
              <a:rPr lang="en-US" sz="2200" dirty="0" smtClean="0"/>
              <a:t> between the mobile device and the remote system.</a:t>
            </a:r>
          </a:p>
          <a:p>
            <a:r>
              <a:rPr lang="en-US" sz="2200" dirty="0" smtClean="0"/>
              <a:t>The application simply initiates a transfer to obtain the entire dataset.</a:t>
            </a:r>
            <a:endParaRPr lang="en-US" sz="2200" dirty="0"/>
          </a:p>
        </p:txBody>
      </p:sp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1676400"/>
            <a:ext cx="3857625" cy="124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Timestamp Transfer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sz="2400" dirty="0" smtClean="0">
                <a:solidFill>
                  <a:srgbClr val="C00000"/>
                </a:solidFill>
              </a:rPr>
              <a:t>Problem</a:t>
            </a:r>
          </a:p>
          <a:p>
            <a:pPr lvl="1"/>
            <a:r>
              <a:rPr lang="en-US" sz="2000" dirty="0" smtClean="0"/>
              <a:t>With the issue of network </a:t>
            </a:r>
            <a:r>
              <a:rPr lang="en-US" sz="2000" i="1" dirty="0" smtClean="0">
                <a:solidFill>
                  <a:srgbClr val="C00000"/>
                </a:solidFill>
              </a:rPr>
              <a:t>speed and bandwidth</a:t>
            </a:r>
            <a:r>
              <a:rPr lang="en-US" sz="2000" dirty="0" smtClean="0"/>
              <a:t> on mobile devices, the amount of data transferred to reconcile datasets between a device and a remote system should be minimized.</a:t>
            </a:r>
          </a:p>
          <a:p>
            <a:pPr lvl="1"/>
            <a:endParaRPr lang="en-US" sz="2000" dirty="0" smtClean="0"/>
          </a:p>
          <a:p>
            <a:r>
              <a:rPr lang="en-US" sz="2400" dirty="0" smtClean="0">
                <a:solidFill>
                  <a:srgbClr val="C00000"/>
                </a:solidFill>
              </a:rPr>
              <a:t>Solution</a:t>
            </a:r>
          </a:p>
          <a:p>
            <a:pPr lvl="1"/>
            <a:r>
              <a:rPr lang="en-US" sz="2000" dirty="0" smtClean="0"/>
              <a:t>A </a:t>
            </a:r>
            <a:r>
              <a:rPr lang="en-US" sz="2000" i="1" dirty="0" smtClean="0">
                <a:solidFill>
                  <a:srgbClr val="C00000"/>
                </a:solidFill>
              </a:rPr>
              <a:t>timestamp</a:t>
            </a:r>
            <a:r>
              <a:rPr lang="en-US" sz="2000" dirty="0" smtClean="0"/>
              <a:t> provided by the remote system from the last successful update is bundled with a request for changed data.</a:t>
            </a:r>
          </a:p>
          <a:p>
            <a:pPr lvl="1"/>
            <a:r>
              <a:rPr lang="en-US" sz="2000" dirty="0" smtClean="0"/>
              <a:t>The remote system returns only data that has been added or changed </a:t>
            </a:r>
            <a:r>
              <a:rPr lang="en-US" sz="2000" i="1" dirty="0" smtClean="0">
                <a:solidFill>
                  <a:srgbClr val="C00000"/>
                </a:solidFill>
              </a:rPr>
              <a:t>after</a:t>
            </a:r>
            <a:r>
              <a:rPr lang="en-US" sz="2000" dirty="0" smtClean="0"/>
              <a:t> that timestamp.</a:t>
            </a:r>
          </a:p>
          <a:p>
            <a:pPr lvl="1"/>
            <a:r>
              <a:rPr lang="en-US" sz="2000" dirty="0" smtClean="0"/>
              <a:t>For submitting data, the device only submits data that has been added or changed </a:t>
            </a:r>
            <a:r>
              <a:rPr lang="en-US" sz="2000" i="1" dirty="0" smtClean="0">
                <a:solidFill>
                  <a:srgbClr val="C00000"/>
                </a:solidFill>
              </a:rPr>
              <a:t>since</a:t>
            </a:r>
            <a:r>
              <a:rPr lang="en-US" sz="2000" dirty="0" smtClean="0"/>
              <a:t> the last successful submission.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Visual Explanation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419600"/>
            <a:ext cx="8229600" cy="1676400"/>
          </a:xfrm>
        </p:spPr>
        <p:txBody>
          <a:bodyPr/>
          <a:lstStyle/>
          <a:p>
            <a:r>
              <a:rPr lang="en-US" sz="2400" dirty="0" smtClean="0"/>
              <a:t>The client initiates a request and attaches a </a:t>
            </a:r>
            <a:r>
              <a:rPr lang="en-US" sz="2400" i="1" dirty="0" smtClean="0">
                <a:solidFill>
                  <a:srgbClr val="C00000"/>
                </a:solidFill>
              </a:rPr>
              <a:t>timestamp</a:t>
            </a:r>
            <a:r>
              <a:rPr lang="en-US" sz="2400" dirty="0" smtClean="0"/>
              <a:t> to the request, which is processed by the server to determine whether or not to return any data.</a:t>
            </a:r>
          </a:p>
        </p:txBody>
      </p:sp>
      <p:pic>
        <p:nvPicPr>
          <p:cNvPr id="583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5038" y="1352550"/>
            <a:ext cx="4733925" cy="299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Mathematical Transfer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sz="2400" dirty="0" smtClean="0">
                <a:solidFill>
                  <a:srgbClr val="C00000"/>
                </a:solidFill>
              </a:rPr>
              <a:t>Problem</a:t>
            </a:r>
          </a:p>
          <a:p>
            <a:pPr lvl="1"/>
            <a:r>
              <a:rPr lang="en-US" sz="2000" dirty="0" smtClean="0"/>
              <a:t>Network </a:t>
            </a:r>
            <a:r>
              <a:rPr lang="en-US" sz="2000" i="1" dirty="0" smtClean="0">
                <a:solidFill>
                  <a:srgbClr val="C00000"/>
                </a:solidFill>
              </a:rPr>
              <a:t>bandwidth and speed </a:t>
            </a:r>
            <a:r>
              <a:rPr lang="en-US" sz="2000" dirty="0" smtClean="0"/>
              <a:t>are concerns, so Full Transfer cannot be used to reconcile a dataset between a device and a remote system.</a:t>
            </a:r>
          </a:p>
          <a:p>
            <a:pPr lvl="1"/>
            <a:r>
              <a:rPr lang="en-US" sz="2000" dirty="0" smtClean="0"/>
              <a:t>The structure of the dataset also may </a:t>
            </a:r>
            <a:r>
              <a:rPr lang="en-US" sz="2000" i="1" dirty="0" smtClean="0">
                <a:solidFill>
                  <a:srgbClr val="C00000"/>
                </a:solidFill>
              </a:rPr>
              <a:t>not</a:t>
            </a:r>
            <a:r>
              <a:rPr lang="en-US" sz="2000" dirty="0" smtClean="0"/>
              <a:t> be able to </a:t>
            </a:r>
            <a:r>
              <a:rPr lang="en-US" sz="2000" u="sng" dirty="0" smtClean="0"/>
              <a:t>keep track of changes efficiently</a:t>
            </a:r>
            <a:r>
              <a:rPr lang="en-US" sz="2000" dirty="0" smtClean="0"/>
              <a:t> using Timestamp Transfer, or alternatively, a mathematical method can reconcile changes more easily or efficiently than timestamps can.</a:t>
            </a:r>
          </a:p>
          <a:p>
            <a:pPr lvl="1"/>
            <a:endParaRPr lang="en-US" sz="2000" dirty="0" smtClean="0"/>
          </a:p>
          <a:p>
            <a:r>
              <a:rPr lang="en-US" sz="2400" dirty="0" smtClean="0">
                <a:solidFill>
                  <a:srgbClr val="C00000"/>
                </a:solidFill>
              </a:rPr>
              <a:t>Solution</a:t>
            </a:r>
          </a:p>
          <a:p>
            <a:pPr lvl="1"/>
            <a:r>
              <a:rPr lang="en-US" sz="2000" dirty="0" smtClean="0"/>
              <a:t>A </a:t>
            </a:r>
            <a:r>
              <a:rPr lang="en-US" sz="2000" i="1" dirty="0" smtClean="0">
                <a:solidFill>
                  <a:srgbClr val="C00000"/>
                </a:solidFill>
              </a:rPr>
              <a:t>mathematical method or algorithm</a:t>
            </a:r>
            <a:r>
              <a:rPr lang="en-US" sz="2000" dirty="0" smtClean="0"/>
              <a:t> decides what is transferred between a device and a remote system to synchronize a dataset.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Visual Explanation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181600"/>
            <a:ext cx="8229600" cy="1143000"/>
          </a:xfrm>
        </p:spPr>
        <p:txBody>
          <a:bodyPr/>
          <a:lstStyle/>
          <a:p>
            <a:r>
              <a:rPr lang="en-US" sz="2200" dirty="0" smtClean="0"/>
              <a:t>In Timestamp Transfer, this is simply a comparison, but in Mathematical Transfer, this could be a more </a:t>
            </a:r>
            <a:r>
              <a:rPr lang="en-US" sz="2200" i="1" dirty="0" smtClean="0">
                <a:solidFill>
                  <a:srgbClr val="C00000"/>
                </a:solidFill>
              </a:rPr>
              <a:t>significant calculation</a:t>
            </a:r>
            <a:r>
              <a:rPr lang="en-US" sz="2200" dirty="0" smtClean="0"/>
              <a:t> that should be considered a separate process.</a:t>
            </a:r>
            <a:endParaRPr lang="en-US" sz="2200" dirty="0"/>
          </a:p>
        </p:txBody>
      </p:sp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1323975"/>
            <a:ext cx="4572000" cy="385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Cloud Component Gateway </a:t>
            </a:r>
            <a:r>
              <a:rPr lang="en-US" sz="4000" smtClean="0"/>
              <a:t>Pattern [2]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i="1" dirty="0" smtClean="0">
                <a:solidFill>
                  <a:srgbClr val="C00000"/>
                </a:solidFill>
              </a:rPr>
              <a:t>Motivation</a:t>
            </a:r>
            <a:r>
              <a:rPr lang="en-US" sz="2600" dirty="0" smtClean="0"/>
              <a:t>: How can an application component be made accessible in one cloud or datacenter, when it is hosted in a different cloud or datacenter and the </a:t>
            </a:r>
            <a:r>
              <a:rPr lang="en-US" sz="2600" i="1" dirty="0" smtClean="0">
                <a:solidFill>
                  <a:srgbClr val="C00000"/>
                </a:solidFill>
              </a:rPr>
              <a:t>communication</a:t>
            </a:r>
            <a:r>
              <a:rPr lang="en-US" sz="2600" dirty="0" smtClean="0"/>
              <a:t> between these environments is </a:t>
            </a:r>
            <a:r>
              <a:rPr lang="en-US" sz="2600" u="sng" dirty="0" smtClean="0"/>
              <a:t>restricted</a:t>
            </a:r>
            <a:r>
              <a:rPr lang="en-US" sz="2600" dirty="0" smtClean="0"/>
              <a:t>?</a:t>
            </a:r>
          </a:p>
          <a:p>
            <a:r>
              <a:rPr lang="en-US" sz="2600" dirty="0" smtClean="0"/>
              <a:t>The </a:t>
            </a:r>
            <a:r>
              <a:rPr lang="en-US" sz="2600" i="1" dirty="0" smtClean="0">
                <a:solidFill>
                  <a:srgbClr val="C00000"/>
                </a:solidFill>
              </a:rPr>
              <a:t>inbound communication</a:t>
            </a:r>
            <a:r>
              <a:rPr lang="en-US" sz="2600" dirty="0" smtClean="0"/>
              <a:t> from an off-premise environment to an on-premise environment is restricted: while the internal components residing in the on-premise environment may gain access to external components, </a:t>
            </a:r>
            <a:r>
              <a:rPr lang="en-US" sz="2600" u="sng" dirty="0" smtClean="0"/>
              <a:t>no external access to internal components</a:t>
            </a:r>
            <a:r>
              <a:rPr lang="en-US" sz="2600" dirty="0" smtClean="0"/>
              <a:t> is allowed.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Cloud Component Gateway Pattern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905000"/>
          </a:xfrm>
        </p:spPr>
        <p:txBody>
          <a:bodyPr/>
          <a:lstStyle/>
          <a:p>
            <a:pPr marL="342900" lvl="1" indent="-342900">
              <a:buFont typeface="Arial" charset="0"/>
              <a:buChar char="•"/>
            </a:pPr>
            <a:r>
              <a:rPr lang="en-US" sz="2200" dirty="0" smtClean="0"/>
              <a:t>This pattern is based on concepts of </a:t>
            </a:r>
            <a:r>
              <a:rPr lang="en-US" sz="2200" i="1" dirty="0" smtClean="0">
                <a:solidFill>
                  <a:srgbClr val="C00000"/>
                </a:solidFill>
              </a:rPr>
              <a:t>proxy</a:t>
            </a:r>
            <a:r>
              <a:rPr lang="en-US" sz="2200" dirty="0" smtClean="0"/>
              <a:t> and </a:t>
            </a:r>
            <a:r>
              <a:rPr lang="en-US" sz="2200" i="1" dirty="0" smtClean="0">
                <a:solidFill>
                  <a:srgbClr val="C00000"/>
                </a:solidFill>
              </a:rPr>
              <a:t>facade</a:t>
            </a:r>
            <a:r>
              <a:rPr lang="en-US" sz="2200" dirty="0" smtClean="0"/>
              <a:t>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Duplicate</a:t>
            </a:r>
            <a:r>
              <a:rPr lang="en-US" sz="2200" dirty="0" smtClean="0"/>
              <a:t> the interface of the internal component in the off-premise environment.</a:t>
            </a:r>
          </a:p>
          <a:p>
            <a:r>
              <a:rPr lang="en-US" sz="2200" dirty="0" smtClean="0"/>
              <a:t>This duplicate </a:t>
            </a:r>
            <a:r>
              <a:rPr lang="en-US" sz="2200" i="1" dirty="0" smtClean="0">
                <a:solidFill>
                  <a:srgbClr val="C00000"/>
                </a:solidFill>
              </a:rPr>
              <a:t>mocks</a:t>
            </a:r>
            <a:r>
              <a:rPr lang="en-US" sz="2200" dirty="0" smtClean="0"/>
              <a:t> the internal component’s interface and </a:t>
            </a:r>
            <a:r>
              <a:rPr lang="en-US" sz="2200" i="1" dirty="0" smtClean="0">
                <a:solidFill>
                  <a:srgbClr val="C00000"/>
                </a:solidFill>
              </a:rPr>
              <a:t>forwards</a:t>
            </a:r>
            <a:r>
              <a:rPr lang="en-US" sz="2200" dirty="0" smtClean="0"/>
              <a:t> accesses to the internal component.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8688" y="3457575"/>
            <a:ext cx="7286625" cy="309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Oval 4"/>
          <p:cNvSpPr/>
          <p:nvPr/>
        </p:nvSpPr>
        <p:spPr>
          <a:xfrm>
            <a:off x="1219200" y="4267200"/>
            <a:ext cx="1524000" cy="1447800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Client Control Flows </a:t>
            </a:r>
            <a:r>
              <a:rPr lang="en-US" dirty="0" smtClean="0"/>
              <a:t>[3]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The </a:t>
            </a:r>
            <a:r>
              <a:rPr lang="en-US" sz="2200" dirty="0" err="1" smtClean="0"/>
              <a:t>Dropbox</a:t>
            </a:r>
            <a:r>
              <a:rPr lang="en-US" sz="2200" dirty="0" smtClean="0"/>
              <a:t> client keeps continuously opened a TCP connection to a notification server (notifyX.dropbox.com), used for receiving </a:t>
            </a:r>
            <a:r>
              <a:rPr lang="en-US" sz="2200" i="1" dirty="0" smtClean="0">
                <a:solidFill>
                  <a:srgbClr val="C00000"/>
                </a:solidFill>
              </a:rPr>
              <a:t>information about changes</a:t>
            </a:r>
            <a:r>
              <a:rPr lang="en-US" sz="2200" dirty="0" smtClean="0"/>
              <a:t> performed elsewhere.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Authentication</a:t>
            </a:r>
            <a:r>
              <a:rPr lang="en-US" sz="2200" dirty="0" smtClean="0"/>
              <a:t> and </a:t>
            </a:r>
            <a:r>
              <a:rPr lang="en-US" sz="2200" i="1" dirty="0" smtClean="0">
                <a:solidFill>
                  <a:srgbClr val="C00000"/>
                </a:solidFill>
              </a:rPr>
              <a:t>file meta-data administration</a:t>
            </a:r>
            <a:r>
              <a:rPr lang="en-US" sz="2200" dirty="0" smtClean="0"/>
              <a:t> messages are exchanged with a separate set of servers, (client-lb.dropbox.com and/or clientX.dropbox.com).</a:t>
            </a:r>
            <a:endParaRPr lang="en-US" sz="22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45080" y="4110990"/>
            <a:ext cx="3703320" cy="1985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Storage Flows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All </a:t>
            </a:r>
            <a:r>
              <a:rPr lang="en-US" sz="2200" i="1" dirty="0" smtClean="0">
                <a:solidFill>
                  <a:srgbClr val="C00000"/>
                </a:solidFill>
              </a:rPr>
              <a:t>store</a:t>
            </a:r>
            <a:r>
              <a:rPr lang="en-US" sz="2200" dirty="0" smtClean="0"/>
              <a:t> and </a:t>
            </a:r>
            <a:r>
              <a:rPr lang="en-US" sz="2200" i="1" dirty="0" smtClean="0">
                <a:solidFill>
                  <a:srgbClr val="C00000"/>
                </a:solidFill>
              </a:rPr>
              <a:t>retrieve operations</a:t>
            </a:r>
            <a:r>
              <a:rPr lang="en-US" sz="2200" dirty="0" smtClean="0"/>
              <a:t> are handled by virtual machines in Amazon EC2.</a:t>
            </a:r>
          </a:p>
          <a:p>
            <a:r>
              <a:rPr lang="en-US" sz="2200" dirty="0" smtClean="0"/>
              <a:t>More than </a:t>
            </a:r>
            <a:r>
              <a:rPr lang="en-US" sz="2200" i="1" dirty="0" smtClean="0">
                <a:solidFill>
                  <a:srgbClr val="C00000"/>
                </a:solidFill>
              </a:rPr>
              <a:t>500 distinct domain names</a:t>
            </a:r>
            <a:r>
              <a:rPr lang="en-US" sz="2200" dirty="0" smtClean="0"/>
              <a:t> (dl-clientX.dropbox.com) point to Amazon servers.</a:t>
            </a:r>
          </a:p>
          <a:p>
            <a:r>
              <a:rPr lang="en-US" sz="2200" dirty="0" smtClean="0"/>
              <a:t>A subset of those aliases are sent to clients regularly.</a:t>
            </a:r>
          </a:p>
          <a:p>
            <a:r>
              <a:rPr lang="en-US" sz="2200" dirty="0" smtClean="0"/>
              <a:t>Clients </a:t>
            </a:r>
            <a:r>
              <a:rPr lang="en-US" sz="2200" i="1" dirty="0" smtClean="0">
                <a:solidFill>
                  <a:srgbClr val="C00000"/>
                </a:solidFill>
              </a:rPr>
              <a:t>rotate</a:t>
            </a:r>
            <a:r>
              <a:rPr lang="en-US" sz="2200" dirty="0" smtClean="0"/>
              <a:t> in the received lists when executing storage operations, distributing the workload.</a:t>
            </a:r>
            <a:endParaRPr lang="en-US" sz="22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68880" y="4419600"/>
            <a:ext cx="3703320" cy="1985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Interface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URLs containing dl-web.dropbox.com are used when downloading </a:t>
            </a:r>
            <a:r>
              <a:rPr lang="en-US" sz="2400" i="1" dirty="0" smtClean="0">
                <a:solidFill>
                  <a:srgbClr val="C00000"/>
                </a:solidFill>
              </a:rPr>
              <a:t>private content</a:t>
            </a:r>
            <a:r>
              <a:rPr lang="en-US" sz="2400" dirty="0" smtClean="0"/>
              <a:t> from user accounts.</a:t>
            </a:r>
          </a:p>
          <a:p>
            <a:r>
              <a:rPr lang="en-US" sz="2400" dirty="0" smtClean="0"/>
              <a:t>The domain dl.dropbox.com provides </a:t>
            </a:r>
            <a:r>
              <a:rPr lang="en-US" sz="2400" i="1" dirty="0" smtClean="0">
                <a:solidFill>
                  <a:srgbClr val="C00000"/>
                </a:solidFill>
              </a:rPr>
              <a:t>public direct links</a:t>
            </a:r>
            <a:r>
              <a:rPr lang="en-US" sz="2400" dirty="0" smtClean="0"/>
              <a:t> to shared files.</a:t>
            </a:r>
            <a:endParaRPr lang="en-US" sz="22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68880" y="3733800"/>
            <a:ext cx="3703320" cy="1985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Dropbox</a:t>
            </a:r>
            <a:r>
              <a:rPr lang="en-US" dirty="0" smtClean="0"/>
              <a:t> Data Sync </a:t>
            </a:r>
            <a:r>
              <a:rPr lang="en-US" smtClean="0"/>
              <a:t>Mechanism </a:t>
            </a:r>
            <a:r>
              <a:rPr lang="en-US" smtClean="0"/>
              <a:t>[4]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Periodically, the </a:t>
            </a:r>
            <a:r>
              <a:rPr lang="en-US" sz="2400" dirty="0" err="1" smtClean="0"/>
              <a:t>Dropbox</a:t>
            </a:r>
            <a:r>
              <a:rPr lang="en-US" sz="2400" dirty="0" smtClean="0"/>
              <a:t> client sends a message to the user’s </a:t>
            </a:r>
            <a:r>
              <a:rPr lang="en-US" sz="2400" i="1" dirty="0" smtClean="0">
                <a:solidFill>
                  <a:srgbClr val="C00000"/>
                </a:solidFill>
              </a:rPr>
              <a:t>beacon server</a:t>
            </a:r>
            <a:r>
              <a:rPr lang="en-US" sz="2400" dirty="0" smtClean="0"/>
              <a:t> to report its online status, as well as receives notifications from the cloud (e.g. a shared file has been modified by another user and should be re-synced).</a:t>
            </a:r>
            <a:endParaRPr 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3429000"/>
            <a:ext cx="4443984" cy="238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13452</TotalTime>
  <Words>1120</Words>
  <Application>Microsoft Office PowerPoint</Application>
  <PresentationFormat>On-screen Show (4:3)</PresentationFormat>
  <Paragraphs>85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Data Synchronization</vt:lpstr>
      <vt:lpstr>References</vt:lpstr>
      <vt:lpstr>Data Synchronization Patterns [1]</vt:lpstr>
      <vt:lpstr>Asynchronous Data Synchronization</vt:lpstr>
      <vt:lpstr>Visual Explanation</vt:lpstr>
      <vt:lpstr>Synchronous Data Synchronization</vt:lpstr>
      <vt:lpstr>Visual Explanation</vt:lpstr>
      <vt:lpstr>Full Transfer</vt:lpstr>
      <vt:lpstr>Visual Explanation</vt:lpstr>
      <vt:lpstr>Timestamp Transfer</vt:lpstr>
      <vt:lpstr>Visual Explanation</vt:lpstr>
      <vt:lpstr>Mathematical Transfer</vt:lpstr>
      <vt:lpstr>Visual Explanation</vt:lpstr>
      <vt:lpstr>Slide 14</vt:lpstr>
      <vt:lpstr>Cloud Component Gateway Pattern [2]</vt:lpstr>
      <vt:lpstr>Cloud Component Gateway Pattern</vt:lpstr>
      <vt:lpstr>Slide 17</vt:lpstr>
      <vt:lpstr>Client Control Flows [3]</vt:lpstr>
      <vt:lpstr>Data Storage Flows</vt:lpstr>
      <vt:lpstr>Web Interface</vt:lpstr>
      <vt:lpstr>Dropbox Data Sync Mechanism [4]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3541</cp:revision>
  <dcterms:created xsi:type="dcterms:W3CDTF">2007-10-06T08:25:13Z</dcterms:created>
  <dcterms:modified xsi:type="dcterms:W3CDTF">2023-01-06T20:04:21Z</dcterms:modified>
</cp:coreProperties>
</file>