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3"/>
  </p:notesMasterIdLst>
  <p:sldIdLst>
    <p:sldId id="670" r:id="rId2"/>
    <p:sldId id="671" r:id="rId3"/>
    <p:sldId id="672" r:id="rId4"/>
    <p:sldId id="673" r:id="rId5"/>
    <p:sldId id="987" r:id="rId6"/>
    <p:sldId id="988" r:id="rId7"/>
    <p:sldId id="989" r:id="rId8"/>
    <p:sldId id="990" r:id="rId9"/>
    <p:sldId id="991" r:id="rId10"/>
    <p:sldId id="992" r:id="rId11"/>
    <p:sldId id="1013" r:id="rId12"/>
    <p:sldId id="1011" r:id="rId13"/>
    <p:sldId id="1012" r:id="rId14"/>
    <p:sldId id="996" r:id="rId15"/>
    <p:sldId id="997" r:id="rId16"/>
    <p:sldId id="999" r:id="rId17"/>
    <p:sldId id="1000" r:id="rId18"/>
    <p:sldId id="1001" r:id="rId19"/>
    <p:sldId id="1002" r:id="rId20"/>
    <p:sldId id="993" r:id="rId21"/>
    <p:sldId id="1005" r:id="rId22"/>
    <p:sldId id="1003" r:id="rId23"/>
    <p:sldId id="1006" r:id="rId24"/>
    <p:sldId id="1007" r:id="rId25"/>
    <p:sldId id="1008" r:id="rId26"/>
    <p:sldId id="1009" r:id="rId27"/>
    <p:sldId id="1010" r:id="rId28"/>
    <p:sldId id="1004" r:id="rId29"/>
    <p:sldId id="994" r:id="rId30"/>
    <p:sldId id="995" r:id="rId31"/>
    <p:sldId id="516" r:id="rId3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259" autoAdjust="0"/>
    <p:restoredTop sz="94667" autoAdjust="0"/>
  </p:normalViewPr>
  <p:slideViewPr>
    <p:cSldViewPr>
      <p:cViewPr>
        <p:scale>
          <a:sx n="50" d="100"/>
          <a:sy n="50" d="100"/>
        </p:scale>
        <p:origin x="-1524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940CE-BE1D-4C40-AF8B-3898A4D1F5EC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0CC96-DB61-4850-AF79-05CA5E4B3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1/10/2026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1/10/2026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1/10/2026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1/10/2026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1/10/2026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1/10/2026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://highscalability.com/blog/2023/7/16/gossip-protocol-explained.html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Failure Detectors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Failure Modes.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Failure Detectors.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sz="2400" dirty="0" smtClean="0"/>
              <a:t>Stefan </a:t>
            </a:r>
            <a:r>
              <a:rPr lang="en-US" sz="2400" dirty="0" err="1" smtClean="0"/>
              <a:t>Poledna</a:t>
            </a:r>
            <a:r>
              <a:rPr lang="en-US" sz="2400" dirty="0" smtClean="0"/>
              <a:t> (1995). Fault-Tolerant Real-Time Systems - The Problem of Replica Determinism. The Springer.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Failure Modes (I)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Byzantine or arbitrary failures</a:t>
            </a:r>
            <a:r>
              <a:rPr lang="en-US" sz="2400" dirty="0" smtClean="0"/>
              <a:t>: This failure mode is characterize by a non-assumption: there is </a:t>
            </a:r>
            <a:r>
              <a:rPr lang="en-US" sz="2400" i="1" dirty="0" smtClean="0">
                <a:solidFill>
                  <a:srgbClr val="C00000"/>
                </a:solidFill>
              </a:rPr>
              <a:t>no restriction</a:t>
            </a:r>
            <a:r>
              <a:rPr lang="en-US" sz="2400" dirty="0" smtClean="0"/>
              <a:t> on the effects a service </a:t>
            </a:r>
            <a:r>
              <a:rPr lang="en-US" sz="2400" u="sng" dirty="0" smtClean="0"/>
              <a:t>user</a:t>
            </a:r>
            <a:r>
              <a:rPr lang="en-US" sz="2400" dirty="0" smtClean="0"/>
              <a:t> may perceive.</a:t>
            </a:r>
          </a:p>
          <a:p>
            <a:r>
              <a:rPr lang="en-US" sz="2400" dirty="0" smtClean="0"/>
              <a:t>Hence this failure mode is called </a:t>
            </a:r>
            <a:r>
              <a:rPr lang="en-US" sz="2400" i="1" dirty="0" smtClean="0">
                <a:solidFill>
                  <a:srgbClr val="C00000"/>
                </a:solidFill>
              </a:rPr>
              <a:t>malicious</a:t>
            </a:r>
            <a:r>
              <a:rPr lang="en-US" sz="2400" dirty="0" smtClean="0"/>
              <a:t> or </a:t>
            </a:r>
            <a:r>
              <a:rPr lang="en-US" sz="2400" i="1" dirty="0" smtClean="0">
                <a:solidFill>
                  <a:srgbClr val="C00000"/>
                </a:solidFill>
              </a:rPr>
              <a:t>fail-uncontrolled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This failure mode includes "two-faced" behavior, i.e. a server can send a message "fact φ is true" to one server and a message "fact φ is false" to another server.</a:t>
            </a:r>
          </a:p>
          <a:p>
            <a:r>
              <a:rPr lang="en-US" sz="2400" dirty="0" smtClean="0"/>
              <a:t>Additionally a server may </a:t>
            </a:r>
            <a:r>
              <a:rPr lang="en-US" sz="2400" i="1" dirty="0" smtClean="0">
                <a:solidFill>
                  <a:srgbClr val="C00000"/>
                </a:solidFill>
              </a:rPr>
              <a:t>forge messages</a:t>
            </a:r>
            <a:r>
              <a:rPr lang="en-US" sz="2400" dirty="0" smtClean="0"/>
              <a:t> of other servers.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Failure Modes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err="1" smtClean="0">
                <a:solidFill>
                  <a:srgbClr val="C00000"/>
                </a:solidFill>
              </a:rPr>
              <a:t>Authentification</a:t>
            </a:r>
            <a:r>
              <a:rPr lang="en-US" sz="2400" i="1" dirty="0" smtClean="0">
                <a:solidFill>
                  <a:srgbClr val="C00000"/>
                </a:solidFill>
              </a:rPr>
              <a:t> detectable byzantine failures</a:t>
            </a:r>
            <a:r>
              <a:rPr lang="en-US" sz="2400" dirty="0" smtClean="0"/>
              <a:t>: In this case servers may show byzantine behavior, but they are not able to forge messages of other servers (messages are authenticated). Or in other words, a server cannot lie about facts which are sent by other servers.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Performance failures</a:t>
            </a:r>
            <a:r>
              <a:rPr lang="en-US" sz="2400" dirty="0" smtClean="0"/>
              <a:t>: Under this failure mode servers have to deliver correct results in the value domain. In the time domain, however, results may be </a:t>
            </a:r>
            <a:r>
              <a:rPr lang="en-US" sz="2400" u="sng" dirty="0" smtClean="0"/>
              <a:t>delivered early</a:t>
            </a:r>
            <a:r>
              <a:rPr lang="en-US" sz="2400" dirty="0" smtClean="0"/>
              <a:t> or </a:t>
            </a:r>
            <a:r>
              <a:rPr lang="en-US" sz="2400" u="sng" dirty="0" smtClean="0"/>
              <a:t>late</a:t>
            </a:r>
            <a:r>
              <a:rPr lang="en-US" sz="2400" dirty="0" smtClean="0"/>
              <a:t>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Omission failures</a:t>
            </a:r>
            <a:r>
              <a:rPr lang="en-US" sz="2400" dirty="0" smtClean="0"/>
              <a:t>: Omission failures are a special case of performance failures. If service requests are only subject to </a:t>
            </a:r>
            <a:r>
              <a:rPr lang="en-US" sz="2400" u="sng" dirty="0" smtClean="0"/>
              <a:t>infinitely late</a:t>
            </a:r>
            <a:r>
              <a:rPr lang="en-US" sz="2400" dirty="0" smtClean="0"/>
              <a:t> service responses, this failure mode is called omission failure.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Failure Modes (III)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Crash failures</a:t>
            </a:r>
            <a:r>
              <a:rPr lang="en-US" sz="2400" dirty="0" smtClean="0"/>
              <a:t>: If a server suffers only from </a:t>
            </a:r>
            <a:r>
              <a:rPr lang="en-US" sz="2400" u="sng" dirty="0" smtClean="0"/>
              <a:t>omission failures</a:t>
            </a:r>
            <a:r>
              <a:rPr lang="en-US" sz="2400" dirty="0" smtClean="0"/>
              <a:t> and also </a:t>
            </a:r>
            <a:r>
              <a:rPr lang="en-US" sz="2400" u="sng" dirty="0" smtClean="0"/>
              <a:t>does not respond</a:t>
            </a:r>
            <a:r>
              <a:rPr lang="en-US" sz="2400" dirty="0" smtClean="0"/>
              <a:t> to any subsequent service requests, the server is said to have crashed.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Fail-stop failures</a:t>
            </a:r>
            <a:r>
              <a:rPr lang="en-US" sz="2400" dirty="0" smtClean="0"/>
              <a:t>: A fail-stop server can only exhibit </a:t>
            </a:r>
            <a:r>
              <a:rPr lang="en-US" sz="2400" u="sng" dirty="0" smtClean="0"/>
              <a:t>crash failures</a:t>
            </a:r>
            <a:r>
              <a:rPr lang="en-US" sz="2400" dirty="0" smtClean="0"/>
              <a:t>, but it is additionally assumed that any correct server </a:t>
            </a:r>
            <a:r>
              <a:rPr lang="en-US" sz="2400" u="sng" dirty="0" smtClean="0"/>
              <a:t>can detect</a:t>
            </a:r>
            <a:r>
              <a:rPr lang="en-US" sz="2400" dirty="0" smtClean="0"/>
              <a:t> whether any other server has failed. Also the assumption is made that every server employs a </a:t>
            </a:r>
            <a:r>
              <a:rPr lang="en-US" sz="2400" u="sng" dirty="0" smtClean="0"/>
              <a:t>stable storage</a:t>
            </a:r>
            <a:r>
              <a:rPr lang="en-US" sz="2400" dirty="0" smtClean="0"/>
              <a:t> which reflects the last correct service state of the crashed server. The stable storage can be read by other servers, even if the owner of the stable storage has crashed.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Failure Domain Viewpoint 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failure modes can be characterized according to the viewpoints domain and perception by the service </a:t>
            </a:r>
            <a:r>
              <a:rPr lang="en-US" sz="2400" u="sng" dirty="0" smtClean="0"/>
              <a:t>users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The failure domain viewpoint leads one to distinguish: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Value failures</a:t>
            </a:r>
            <a:r>
              <a:rPr lang="en-US" sz="2400" dirty="0" smtClean="0"/>
              <a:t>: The value of the service response does not agree with the service specification. This class includes byzantine and </a:t>
            </a:r>
            <a:r>
              <a:rPr lang="en-US" sz="2400" dirty="0" err="1" smtClean="0"/>
              <a:t>authentification</a:t>
            </a:r>
            <a:r>
              <a:rPr lang="en-US" sz="2400" dirty="0" smtClean="0"/>
              <a:t> detectable byzantine failure modes.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Timing failures</a:t>
            </a:r>
            <a:r>
              <a:rPr lang="en-US" sz="2400" dirty="0" smtClean="0"/>
              <a:t>: The timing of the service response does not agree with the service specification. This class covers performance, omission, crash and fail-stop failures.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Failure Domain Viewpoint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When a server has several service users, the viewpoint of failure perception leads one to distinguish: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Consistent failures</a:t>
            </a:r>
            <a:r>
              <a:rPr lang="en-US" sz="2400" dirty="0" smtClean="0"/>
              <a:t>: All service users have </a:t>
            </a:r>
            <a:r>
              <a:rPr lang="en-US" sz="2400" u="sng" dirty="0" smtClean="0"/>
              <a:t>the same perception</a:t>
            </a:r>
            <a:r>
              <a:rPr lang="en-US" sz="2400" dirty="0" smtClean="0"/>
              <a:t> of the failure. This class includes performance failures, omission failures, crash failures, and fail-stop failures.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Inconsistent failures</a:t>
            </a:r>
            <a:r>
              <a:rPr lang="en-US" sz="2400" dirty="0" smtClean="0"/>
              <a:t>: Different service users obtain </a:t>
            </a:r>
            <a:r>
              <a:rPr lang="en-US" sz="2400" u="sng" dirty="0" smtClean="0"/>
              <a:t>different perceptions</a:t>
            </a:r>
            <a:r>
              <a:rPr lang="en-US" sz="2400" dirty="0" smtClean="0"/>
              <a:t> of the failure. This class includes byzantine and </a:t>
            </a:r>
            <a:r>
              <a:rPr lang="en-US" sz="2400" dirty="0" err="1" smtClean="0"/>
              <a:t>authentification</a:t>
            </a:r>
            <a:r>
              <a:rPr lang="en-US" sz="2400" dirty="0" smtClean="0"/>
              <a:t> detectable byzantine failures.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Failure Semantics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Failure semantic</a:t>
            </a:r>
            <a:r>
              <a:rPr lang="en-US" sz="2400" dirty="0" smtClean="0"/>
              <a:t>: A server exhibits a given failure semantic if the probability of failure modes which are not covered by the failure semantic is sufficiently low.</a:t>
            </a:r>
          </a:p>
          <a:p>
            <a:r>
              <a:rPr lang="en-US" sz="2400" dirty="0" smtClean="0"/>
              <a:t>If for example a server is said to have crash failure semantics, then all individual failures of the server should be crash or fail-stop failures, the possibility of more severe failures, e.g. omission failures, should be sufficiently low.</a:t>
            </a:r>
          </a:p>
          <a:p>
            <a:r>
              <a:rPr lang="en-US" sz="2400" dirty="0" smtClean="0"/>
              <a:t>The failure semantic is a stochastic specification of the failure modes a server may exhibit, which has to be chosen in accordance with the application requirements. In other words: The failure semantic defines </a:t>
            </a:r>
            <a:r>
              <a:rPr lang="en-US" sz="2400" i="1" dirty="0" smtClean="0">
                <a:solidFill>
                  <a:srgbClr val="C00000"/>
                </a:solidFill>
              </a:rPr>
              <a:t>the most severe failure mode</a:t>
            </a:r>
            <a:r>
              <a:rPr lang="en-US" sz="2400" dirty="0" smtClean="0"/>
              <a:t> a service user may have to consider.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Perfect Failure Detector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105400" cy="4525963"/>
          </a:xfrm>
        </p:spPr>
        <p:txBody>
          <a:bodyPr/>
          <a:lstStyle/>
          <a:p>
            <a:r>
              <a:rPr lang="en-US" sz="2200" i="1" dirty="0" smtClean="0">
                <a:solidFill>
                  <a:srgbClr val="C00000"/>
                </a:solidFill>
              </a:rPr>
              <a:t>Failure detector</a:t>
            </a:r>
            <a:r>
              <a:rPr lang="en-US" sz="2200" dirty="0" smtClean="0"/>
              <a:t>: Algorithm that detects whether another node is faulty.</a:t>
            </a:r>
          </a:p>
          <a:p>
            <a:r>
              <a:rPr lang="en-US" sz="2200" i="1" dirty="0" smtClean="0">
                <a:solidFill>
                  <a:srgbClr val="C00000"/>
                </a:solidFill>
              </a:rPr>
              <a:t>Perfect failure detector</a:t>
            </a:r>
            <a:r>
              <a:rPr lang="en-US" sz="2200" dirty="0" smtClean="0"/>
              <a:t>: labels a node as faulty if and only if it has crashed.</a:t>
            </a:r>
          </a:p>
          <a:p>
            <a:r>
              <a:rPr lang="en-US" sz="2200" i="1" dirty="0" smtClean="0">
                <a:solidFill>
                  <a:srgbClr val="C00000"/>
                </a:solidFill>
              </a:rPr>
              <a:t>Typical implementation</a:t>
            </a:r>
            <a:r>
              <a:rPr lang="en-US" sz="2200" dirty="0" smtClean="0"/>
              <a:t> for crash-stop/crash-recovery: Send message, await response, label node as crashed if no reply within some timeout.</a:t>
            </a:r>
          </a:p>
          <a:p>
            <a:r>
              <a:rPr lang="en-US" sz="2200" i="1" dirty="0" smtClean="0">
                <a:solidFill>
                  <a:srgbClr val="C00000"/>
                </a:solidFill>
              </a:rPr>
              <a:t>Problem</a:t>
            </a:r>
            <a:r>
              <a:rPr lang="en-US" sz="2200" dirty="0" smtClean="0"/>
              <a:t>: Cannot tell the difference between </a:t>
            </a:r>
            <a:r>
              <a:rPr lang="en-US" sz="2200" u="sng" dirty="0" smtClean="0"/>
              <a:t>crashed node</a:t>
            </a:r>
            <a:r>
              <a:rPr lang="en-US" sz="2200" dirty="0" smtClean="0"/>
              <a:t>, temporarily unresponsive node, </a:t>
            </a:r>
            <a:r>
              <a:rPr lang="en-US" sz="2200" u="sng" dirty="0" smtClean="0"/>
              <a:t>lost message</a:t>
            </a:r>
            <a:r>
              <a:rPr lang="en-US" sz="2200" dirty="0" smtClean="0"/>
              <a:t>, and delayed message.</a:t>
            </a:r>
          </a:p>
        </p:txBody>
      </p:sp>
      <p:pic>
        <p:nvPicPr>
          <p:cNvPr id="72706" name="Picture 2" descr="https://m.media-amazon.com/images/I/61xVkGekDsL._AC_UF1000,1000_QL80_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3600" y="2209800"/>
            <a:ext cx="2540000" cy="251968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Eventually Perfect Failure Detector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Perfect timeout-based failure detector exists only in a synchronous crash-stop system with reliable links.</a:t>
            </a:r>
          </a:p>
          <a:p>
            <a:r>
              <a:rPr lang="en-US" sz="2000" i="1" dirty="0" smtClean="0">
                <a:solidFill>
                  <a:srgbClr val="C00000"/>
                </a:solidFill>
              </a:rPr>
              <a:t>Eventually perfect failure detector</a:t>
            </a:r>
            <a:r>
              <a:rPr lang="en-US" sz="2000" dirty="0" smtClean="0"/>
              <a:t>:</a:t>
            </a:r>
          </a:p>
          <a:p>
            <a:pPr lvl="1"/>
            <a:r>
              <a:rPr lang="en-US" sz="1800" dirty="0" smtClean="0"/>
              <a:t>May </a:t>
            </a:r>
            <a:r>
              <a:rPr lang="en-US" sz="1800" i="1" dirty="0" smtClean="0">
                <a:solidFill>
                  <a:srgbClr val="C00000"/>
                </a:solidFill>
              </a:rPr>
              <a:t>temporarily</a:t>
            </a:r>
            <a:r>
              <a:rPr lang="en-US" sz="1800" dirty="0" smtClean="0"/>
              <a:t> label a node as crashed, even though it is correct</a:t>
            </a:r>
          </a:p>
          <a:p>
            <a:pPr lvl="1"/>
            <a:r>
              <a:rPr lang="en-US" sz="1800" dirty="0" smtClean="0"/>
              <a:t>May </a:t>
            </a:r>
            <a:r>
              <a:rPr lang="en-US" sz="1800" i="1" dirty="0" smtClean="0">
                <a:solidFill>
                  <a:srgbClr val="C00000"/>
                </a:solidFill>
              </a:rPr>
              <a:t>temporarily</a:t>
            </a:r>
            <a:r>
              <a:rPr lang="en-US" sz="1800" dirty="0" smtClean="0"/>
              <a:t> label a node as correct, even though it has crashed</a:t>
            </a:r>
          </a:p>
          <a:p>
            <a:pPr lvl="1"/>
            <a:r>
              <a:rPr lang="en-US" sz="1800" dirty="0" smtClean="0"/>
              <a:t>But </a:t>
            </a:r>
            <a:r>
              <a:rPr lang="en-US" sz="1800" i="1" dirty="0" smtClean="0">
                <a:solidFill>
                  <a:srgbClr val="C00000"/>
                </a:solidFill>
              </a:rPr>
              <a:t>eventually</a:t>
            </a:r>
            <a:r>
              <a:rPr lang="en-US" sz="1800" dirty="0" smtClean="0"/>
              <a:t>, labels a node as crashed if and only if it has crashed.</a:t>
            </a:r>
          </a:p>
          <a:p>
            <a:r>
              <a:rPr lang="en-US" sz="2000" dirty="0" smtClean="0"/>
              <a:t>Reflects fact that detection is </a:t>
            </a:r>
            <a:r>
              <a:rPr lang="en-US" sz="2000" i="1" dirty="0" smtClean="0">
                <a:solidFill>
                  <a:srgbClr val="C00000"/>
                </a:solidFill>
              </a:rPr>
              <a:t>not instantaneous</a:t>
            </a:r>
            <a:r>
              <a:rPr lang="en-US" sz="2000" dirty="0" smtClean="0"/>
              <a:t>, and we may have spurious timeouts.</a:t>
            </a:r>
          </a:p>
        </p:txBody>
      </p:sp>
      <p:pic>
        <p:nvPicPr>
          <p:cNvPr id="71682" name="Picture 2" descr="https://codetrips.files.wordpress.com/2016/09/it13-dlr-020216-shutterstock.jpg?w=1000&amp;h=56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1800" y="4572000"/>
            <a:ext cx="3048000" cy="171602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HTTP Servers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Use the net/http package.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685800" y="2753142"/>
            <a:ext cx="7772400" cy="212365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fr-FR" sz="2200" dirty="0" smtClean="0">
                <a:solidFill>
                  <a:srgbClr val="569CD6"/>
                </a:solidFill>
                <a:latin typeface="Consolas"/>
              </a:rPr>
              <a:t>package</a:t>
            </a:r>
            <a:r>
              <a:rPr lang="fr-FR" sz="2200" dirty="0" smtClean="0">
                <a:solidFill>
                  <a:srgbClr val="CCCCCC"/>
                </a:solidFill>
                <a:latin typeface="Consolas"/>
              </a:rPr>
              <a:t> main</a:t>
            </a:r>
          </a:p>
          <a:p>
            <a:r>
              <a:rPr lang="fr-FR" sz="2200" dirty="0" smtClean="0">
                <a:solidFill>
                  <a:srgbClr val="CCCCCC"/>
                </a:solidFill>
                <a:latin typeface="Consolas"/>
              </a:rPr>
              <a:t/>
            </a:r>
            <a:br>
              <a:rPr lang="fr-FR" sz="2200" dirty="0" smtClean="0">
                <a:solidFill>
                  <a:srgbClr val="CCCCCC"/>
                </a:solidFill>
                <a:latin typeface="Consolas"/>
              </a:rPr>
            </a:br>
            <a:r>
              <a:rPr lang="fr-FR" sz="2200" dirty="0" smtClean="0">
                <a:solidFill>
                  <a:srgbClr val="569CD6"/>
                </a:solidFill>
                <a:latin typeface="Consolas"/>
              </a:rPr>
              <a:t>import</a:t>
            </a:r>
            <a:r>
              <a:rPr lang="fr-FR" sz="2200" dirty="0" smtClean="0">
                <a:solidFill>
                  <a:srgbClr val="CCCCCC"/>
                </a:solidFill>
                <a:latin typeface="Consolas"/>
              </a:rPr>
              <a:t> (</a:t>
            </a:r>
          </a:p>
          <a:p>
            <a:r>
              <a:rPr lang="fr-FR" sz="22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fr-FR" sz="22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fr-FR" sz="2200" dirty="0" err="1" smtClean="0">
                <a:solidFill>
                  <a:srgbClr val="CE9178"/>
                </a:solidFill>
                <a:latin typeface="Consolas"/>
              </a:rPr>
              <a:t>fmt</a:t>
            </a:r>
            <a:r>
              <a:rPr lang="fr-FR" sz="2200" dirty="0" smtClean="0">
                <a:solidFill>
                  <a:srgbClr val="CE9178"/>
                </a:solidFill>
                <a:latin typeface="Consolas"/>
              </a:rPr>
              <a:t>"</a:t>
            </a:r>
            <a:endParaRPr lang="fr-FR" sz="2200" dirty="0" smtClean="0">
              <a:solidFill>
                <a:srgbClr val="CCCCCC"/>
              </a:solidFill>
              <a:latin typeface="Consolas"/>
            </a:endParaRPr>
          </a:p>
          <a:p>
            <a:r>
              <a:rPr lang="fr-FR" sz="22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fr-FR" sz="2200" dirty="0" smtClean="0">
                <a:solidFill>
                  <a:srgbClr val="CE9178"/>
                </a:solidFill>
                <a:latin typeface="Consolas"/>
              </a:rPr>
              <a:t>"net/http"</a:t>
            </a:r>
            <a:endParaRPr lang="fr-FR" sz="2200" dirty="0" smtClean="0">
              <a:solidFill>
                <a:srgbClr val="CCCCCC"/>
              </a:solidFill>
              <a:latin typeface="Consolas"/>
            </a:endParaRPr>
          </a:p>
          <a:p>
            <a:r>
              <a:rPr lang="fr-FR" sz="2200" dirty="0" smtClean="0">
                <a:solidFill>
                  <a:srgbClr val="CCCCCC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Handlers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A handler is an object implementing the </a:t>
            </a:r>
            <a:r>
              <a:rPr lang="en-US" sz="2200" b="1" dirty="0" err="1" smtClean="0">
                <a:latin typeface="Consolas" pitchFamily="49" charset="0"/>
              </a:rPr>
              <a:t>http.Handler</a:t>
            </a:r>
            <a:r>
              <a:rPr lang="en-US" sz="2200" dirty="0" smtClean="0"/>
              <a:t> interface.</a:t>
            </a:r>
          </a:p>
          <a:p>
            <a:r>
              <a:rPr lang="en-US" sz="2200" dirty="0" smtClean="0"/>
              <a:t>A common way to write a handler is by writing function with the appropriate signature, then register it using the </a:t>
            </a:r>
            <a:r>
              <a:rPr lang="en-US" sz="2200" i="1" dirty="0" err="1" smtClean="0"/>
              <a:t>http.HandlerFunc</a:t>
            </a:r>
            <a:r>
              <a:rPr lang="en-US" sz="2200" dirty="0" smtClean="0"/>
              <a:t> adapter on functions.</a:t>
            </a:r>
          </a:p>
          <a:p>
            <a:r>
              <a:rPr lang="en-US" sz="2200" dirty="0" smtClean="0"/>
              <a:t>Functions serving as handlers take a </a:t>
            </a:r>
            <a:r>
              <a:rPr lang="en-US" sz="2200" b="1" dirty="0" err="1" smtClean="0">
                <a:latin typeface="Consolas" pitchFamily="49" charset="0"/>
              </a:rPr>
              <a:t>http.ResponseWriter</a:t>
            </a:r>
            <a:r>
              <a:rPr lang="en-US" sz="2200" dirty="0" smtClean="0"/>
              <a:t> and a </a:t>
            </a:r>
            <a:r>
              <a:rPr lang="en-US" sz="2200" b="1" dirty="0" err="1" smtClean="0">
                <a:latin typeface="Consolas" pitchFamily="49" charset="0"/>
              </a:rPr>
              <a:t>http.Request</a:t>
            </a:r>
            <a:r>
              <a:rPr lang="en-US" sz="2200" dirty="0" smtClean="0"/>
              <a:t> as arguments.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4209871"/>
            <a:ext cx="7772400" cy="120032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func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hello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CCCCCC"/>
                </a:solidFill>
                <a:latin typeface="Consolas"/>
              </a:rPr>
              <a:t>resWriter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CCCCCC"/>
                </a:solidFill>
                <a:latin typeface="Consolas"/>
              </a:rPr>
              <a:t>http.ResponseWriter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 err="1" smtClean="0">
                <a:solidFill>
                  <a:srgbClr val="CCCCCC"/>
                </a:solidFill>
                <a:latin typeface="Consolas"/>
              </a:rPr>
              <a:t>req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*</a:t>
            </a:r>
            <a:r>
              <a:rPr lang="en-US" dirty="0" err="1" smtClean="0">
                <a:solidFill>
                  <a:srgbClr val="CCCCCC"/>
                </a:solidFill>
                <a:latin typeface="Consolas"/>
              </a:rPr>
              <a:t>http.Request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) {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CCCCCC"/>
                </a:solidFill>
                <a:latin typeface="Consolas"/>
              </a:rPr>
              <a:t>fmt.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Fprintf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CCCCCC"/>
                </a:solidFill>
                <a:latin typeface="Consolas"/>
              </a:rPr>
              <a:t>resWriter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"hello</a:t>
            </a:r>
            <a:r>
              <a:rPr lang="en-US" dirty="0" smtClean="0">
                <a:solidFill>
                  <a:srgbClr val="D7BA7D"/>
                </a:solidFill>
                <a:latin typeface="Consolas"/>
              </a:rPr>
              <a:t>\n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)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 smtClean="0"/>
              <a:t>2. Register Handlers on Server Routes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Call the </a:t>
            </a:r>
            <a:r>
              <a:rPr lang="en-US" sz="2400" dirty="0" err="1" smtClean="0"/>
              <a:t>ListenAndServe</a:t>
            </a:r>
            <a:r>
              <a:rPr lang="en-US" sz="2400" dirty="0" smtClean="0"/>
              <a:t> with the port and a handler.</a:t>
            </a:r>
          </a:p>
          <a:p>
            <a:r>
              <a:rPr lang="en-US" sz="2400" b="1" dirty="0" smtClean="0">
                <a:latin typeface="Consolas" pitchFamily="49" charset="0"/>
              </a:rPr>
              <a:t>nil</a:t>
            </a:r>
            <a:r>
              <a:rPr lang="en-US" sz="2400" dirty="0" smtClean="0"/>
              <a:t> handler means using the default router we’ve just set up.</a:t>
            </a:r>
            <a:endParaRPr lang="en-US" sz="2200" dirty="0" smtClean="0"/>
          </a:p>
        </p:txBody>
      </p:sp>
      <p:sp>
        <p:nvSpPr>
          <p:cNvPr id="4" name="Rectangle 3"/>
          <p:cNvSpPr/>
          <p:nvPr/>
        </p:nvSpPr>
        <p:spPr>
          <a:xfrm>
            <a:off x="685800" y="3074075"/>
            <a:ext cx="7772400" cy="203132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func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main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() {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CCCCCC"/>
                </a:solidFill>
                <a:latin typeface="Consolas"/>
              </a:rPr>
              <a:t>fmt.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Println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"Register handlers on server routes."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)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CCCCCC"/>
                </a:solidFill>
                <a:latin typeface="Consolas"/>
              </a:rPr>
              <a:t>http.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HandleFunc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"/hello"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, hello)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CCCCCC"/>
                </a:solidFill>
                <a:latin typeface="Consolas"/>
              </a:rPr>
              <a:t>http.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HandleFunc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"/headers"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, headers)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CCCCCC"/>
                </a:solidFill>
                <a:latin typeface="Consolas"/>
              </a:rPr>
              <a:t>fmt.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Println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"Await clients."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)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CCCCCC"/>
                </a:solidFill>
                <a:latin typeface="Consolas"/>
              </a:rPr>
              <a:t>http.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ListenAndServe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":8080"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nil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)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}</a:t>
            </a:r>
            <a:endParaRPr lang="en-US" b="0" dirty="0">
              <a:solidFill>
                <a:srgbClr val="CCCCCC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 smtClean="0"/>
              <a:t>3. Run HTTP Server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Consolas" pitchFamily="49" charset="0"/>
              </a:rPr>
              <a:t>go run http-</a:t>
            </a:r>
            <a:r>
              <a:rPr lang="en-US" sz="2400" dirty="0" err="1" smtClean="0">
                <a:latin typeface="Consolas" pitchFamily="49" charset="0"/>
              </a:rPr>
              <a:t>server.go</a:t>
            </a:r>
            <a:endParaRPr lang="en-US" sz="2200" dirty="0" smtClean="0">
              <a:latin typeface="Consolas" pitchFamily="49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68413" y="2867025"/>
            <a:ext cx="6607175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 smtClean="0"/>
              <a:t>4. Test HTTP Server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Consolas" pitchFamily="49" charset="0"/>
              </a:rPr>
              <a:t>curl localhost:8080/hello</a:t>
            </a:r>
          </a:p>
          <a:p>
            <a:r>
              <a:rPr lang="en-US" sz="2200" dirty="0" smtClean="0">
                <a:latin typeface="Consolas" pitchFamily="49" charset="0"/>
              </a:rPr>
              <a:t>curl localhost:8080/headers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3500" y="3206750"/>
            <a:ext cx="6477000" cy="174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HTTP Clients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Use the net/http package.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685800" y="2753142"/>
            <a:ext cx="7772400" cy="267765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rgbClr val="569CD6"/>
                </a:solidFill>
                <a:latin typeface="Consolas"/>
              </a:rPr>
              <a:t>package</a:t>
            </a:r>
            <a:r>
              <a:rPr lang="en-US" sz="2400" dirty="0" smtClean="0">
                <a:solidFill>
                  <a:srgbClr val="CCCCCC"/>
                </a:solidFill>
                <a:latin typeface="Consolas"/>
              </a:rPr>
              <a:t> main</a:t>
            </a:r>
          </a:p>
          <a:p>
            <a:r>
              <a:rPr lang="en-US" sz="2400" dirty="0" smtClean="0">
                <a:solidFill>
                  <a:srgbClr val="CCCCCC"/>
                </a:solidFill>
                <a:latin typeface="Consolas"/>
              </a:rPr>
              <a:t/>
            </a:r>
            <a:br>
              <a:rPr lang="en-US" sz="2400" dirty="0" smtClean="0">
                <a:solidFill>
                  <a:srgbClr val="CCCCCC"/>
                </a:solidFill>
                <a:latin typeface="Consolas"/>
              </a:rPr>
            </a:br>
            <a:r>
              <a:rPr lang="en-US" sz="2400" dirty="0" smtClean="0">
                <a:solidFill>
                  <a:srgbClr val="569CD6"/>
                </a:solidFill>
                <a:latin typeface="Consolas"/>
              </a:rPr>
              <a:t>import</a:t>
            </a:r>
            <a:r>
              <a:rPr lang="en-US" sz="2400" dirty="0" smtClean="0">
                <a:solidFill>
                  <a:srgbClr val="CCCCCC"/>
                </a:solidFill>
                <a:latin typeface="Consolas"/>
              </a:rPr>
              <a:t> (</a:t>
            </a:r>
          </a:p>
          <a:p>
            <a:r>
              <a:rPr lang="en-US" sz="24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24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2400" dirty="0" err="1" smtClean="0">
                <a:solidFill>
                  <a:srgbClr val="CE9178"/>
                </a:solidFill>
                <a:latin typeface="Consolas"/>
              </a:rPr>
              <a:t>bufio</a:t>
            </a:r>
            <a:r>
              <a:rPr lang="en-US" sz="2400" dirty="0" smtClean="0">
                <a:solidFill>
                  <a:srgbClr val="CE9178"/>
                </a:solidFill>
                <a:latin typeface="Consolas"/>
              </a:rPr>
              <a:t>"</a:t>
            </a:r>
            <a:endParaRPr lang="en-US" sz="24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sz="24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24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2400" dirty="0" err="1" smtClean="0">
                <a:solidFill>
                  <a:srgbClr val="CE9178"/>
                </a:solidFill>
                <a:latin typeface="Consolas"/>
              </a:rPr>
              <a:t>fmt</a:t>
            </a:r>
            <a:r>
              <a:rPr lang="en-US" sz="2400" dirty="0" smtClean="0">
                <a:solidFill>
                  <a:srgbClr val="CE9178"/>
                </a:solidFill>
                <a:latin typeface="Consolas"/>
              </a:rPr>
              <a:t>"</a:t>
            </a:r>
            <a:endParaRPr lang="en-US" sz="24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sz="24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2400" dirty="0" smtClean="0">
                <a:solidFill>
                  <a:srgbClr val="CE9178"/>
                </a:solidFill>
                <a:latin typeface="Consolas"/>
              </a:rPr>
              <a:t>"net/http"</a:t>
            </a:r>
            <a:endParaRPr lang="en-US" sz="24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sz="2400" dirty="0" smtClean="0">
                <a:solidFill>
                  <a:srgbClr val="CCCCCC"/>
                </a:solidFill>
                <a:latin typeface="Consolas"/>
              </a:rPr>
              <a:t>)</a:t>
            </a:r>
            <a:endParaRPr lang="en-US" sz="2400" b="0" dirty="0">
              <a:solidFill>
                <a:srgbClr val="CCCCCC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Issue an HTTP GET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85800" y="1724085"/>
            <a:ext cx="7772400" cy="452431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func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main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() {</a:t>
            </a:r>
            <a:br>
              <a:rPr lang="en-US" dirty="0" smtClean="0">
                <a:solidFill>
                  <a:srgbClr val="CCCCCC"/>
                </a:solidFill>
                <a:latin typeface="Consolas"/>
              </a:rPr>
            </a:br>
            <a:r>
              <a:rPr lang="en-US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resp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err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:=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CCCCCC"/>
                </a:solidFill>
                <a:latin typeface="Consolas"/>
              </a:rPr>
              <a:t>http.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Get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"localhost:8080/hello"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)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if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err 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!=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nil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{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panic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(err)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}</a:t>
            </a:r>
            <a:br>
              <a:rPr lang="en-US" dirty="0" smtClean="0">
                <a:solidFill>
                  <a:srgbClr val="CCCCCC"/>
                </a:solidFill>
                <a:latin typeface="Consolas"/>
              </a:rPr>
            </a:br>
            <a:r>
              <a:rPr lang="en-US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defer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CCCCCC"/>
                </a:solidFill>
                <a:latin typeface="Consolas"/>
              </a:rPr>
              <a:t>resp.Body.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Close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()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CCCCCC"/>
                </a:solidFill>
                <a:latin typeface="Consolas"/>
              </a:rPr>
            </a:br>
            <a:r>
              <a:rPr lang="en-US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CCCCCC"/>
                </a:solidFill>
                <a:latin typeface="Consolas"/>
              </a:rPr>
              <a:t>fmt.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Println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"Response status:"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 err="1" smtClean="0">
                <a:solidFill>
                  <a:srgbClr val="CCCCCC"/>
                </a:solidFill>
                <a:latin typeface="Consolas"/>
              </a:rPr>
              <a:t>resp.Status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)</a:t>
            </a:r>
            <a:br>
              <a:rPr lang="en-US" dirty="0" smtClean="0">
                <a:solidFill>
                  <a:srgbClr val="CCCCCC"/>
                </a:solidFill>
                <a:latin typeface="Consolas"/>
              </a:rPr>
            </a:br>
            <a:r>
              <a:rPr lang="en-US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scanner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:=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CCCCCC"/>
                </a:solidFill>
                <a:latin typeface="Consolas"/>
              </a:rPr>
              <a:t>bufio.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NewScanner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CCCCCC"/>
                </a:solidFill>
                <a:latin typeface="Consolas"/>
              </a:rPr>
              <a:t>resp.Body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)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for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i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:=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0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; </a:t>
            </a:r>
            <a:r>
              <a:rPr lang="en-US" dirty="0" err="1" smtClean="0">
                <a:solidFill>
                  <a:srgbClr val="CCCCCC"/>
                </a:solidFill>
                <a:latin typeface="Consolas"/>
              </a:rPr>
              <a:t>scanner.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Scan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() 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&amp;&amp;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CCCCCC"/>
                </a:solidFill>
                <a:latin typeface="Consolas"/>
              </a:rPr>
              <a:t>i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5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; </a:t>
            </a:r>
            <a:r>
              <a:rPr lang="en-US" dirty="0" err="1" smtClean="0">
                <a:solidFill>
                  <a:srgbClr val="CCCCCC"/>
                </a:solidFill>
                <a:latin typeface="Consolas"/>
              </a:rPr>
              <a:t>i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++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{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dirty="0" err="1" smtClean="0">
                <a:solidFill>
                  <a:srgbClr val="CCCCCC"/>
                </a:solidFill>
                <a:latin typeface="Consolas"/>
              </a:rPr>
              <a:t>fmt.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Println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CCCCCC"/>
                </a:solidFill>
                <a:latin typeface="Consolas"/>
              </a:rPr>
              <a:t>scanner.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Text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())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}</a:t>
            </a:r>
            <a:br>
              <a:rPr lang="en-US" dirty="0" smtClean="0">
                <a:solidFill>
                  <a:srgbClr val="CCCCCC"/>
                </a:solidFill>
                <a:latin typeface="Consolas"/>
              </a:rPr>
            </a:br>
            <a:r>
              <a:rPr lang="en-US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if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err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:=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CCCCCC"/>
                </a:solidFill>
                <a:latin typeface="Consolas"/>
              </a:rPr>
              <a:t>scanner.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Err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(); err 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!=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nil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{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panic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(err)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}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}</a:t>
            </a:r>
            <a:endParaRPr lang="en-US" b="0" dirty="0">
              <a:solidFill>
                <a:srgbClr val="CCCCCC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Run HTTP Server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Consolas" pitchFamily="49" charset="0"/>
              </a:rPr>
              <a:t>go run http-</a:t>
            </a:r>
            <a:r>
              <a:rPr lang="en-US" sz="2400" dirty="0" err="1" smtClean="0">
                <a:latin typeface="Consolas" pitchFamily="49" charset="0"/>
              </a:rPr>
              <a:t>server.go</a:t>
            </a:r>
            <a:endParaRPr lang="en-US" sz="2200" dirty="0" smtClean="0">
              <a:latin typeface="Consolas" pitchFamily="49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68413" y="2867025"/>
            <a:ext cx="6607175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Run HTTP Client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Consolas" pitchFamily="49" charset="0"/>
              </a:rPr>
              <a:t>go run http-</a:t>
            </a:r>
            <a:r>
              <a:rPr lang="en-US" sz="2400" dirty="0" err="1" smtClean="0">
                <a:latin typeface="Consolas" pitchFamily="49" charset="0"/>
              </a:rPr>
              <a:t>client.go</a:t>
            </a:r>
            <a:endParaRPr lang="en-US" sz="2200" dirty="0" smtClean="0">
              <a:latin typeface="Consolas" pitchFamily="49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46188" y="2824163"/>
            <a:ext cx="6651625" cy="120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panic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panic</a:t>
            </a:r>
            <a:r>
              <a:rPr lang="en-US" sz="2400" dirty="0" smtClean="0"/>
              <a:t> typically means something went </a:t>
            </a:r>
            <a:r>
              <a:rPr lang="en-US" sz="2400" u="sng" dirty="0" smtClean="0"/>
              <a:t>unexpectedly wrong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A common use of panic is to abort if a function returns an error value that we don’t know how to (or want to) handle.</a:t>
            </a:r>
          </a:p>
          <a:p>
            <a:r>
              <a:rPr lang="en-US" sz="2400" dirty="0" smtClean="0"/>
              <a:t>When </a:t>
            </a:r>
            <a:r>
              <a:rPr lang="en-US" sz="2400" i="1" dirty="0" smtClean="0">
                <a:solidFill>
                  <a:srgbClr val="C00000"/>
                </a:solidFill>
              </a:rPr>
              <a:t>first panic</a:t>
            </a:r>
            <a:r>
              <a:rPr lang="en-US" sz="2400" dirty="0" smtClean="0"/>
              <a:t> in main fires, the program exits </a:t>
            </a:r>
            <a:r>
              <a:rPr lang="en-US" sz="2400" u="sng" dirty="0" smtClean="0"/>
              <a:t>without reaching the rest of the code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Unlike some languages which use exceptions for handling of many errors, in Go it is idiomatic to use error-indicating return values wherever possible.</a:t>
            </a:r>
            <a:endParaRPr lang="en-US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Create http-client2.go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85800" y="1724085"/>
            <a:ext cx="7772400" cy="452431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 err="1" smtClean="0">
                <a:solidFill>
                  <a:srgbClr val="569CD6"/>
                </a:solidFill>
                <a:latin typeface="Consolas"/>
              </a:rPr>
              <a:t>func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main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() {</a:t>
            </a:r>
            <a:br>
              <a:rPr lang="en-US" sz="1600" dirty="0" smtClean="0">
                <a:solidFill>
                  <a:srgbClr val="CCCCCC"/>
                </a:solidFill>
                <a:latin typeface="Consolas"/>
              </a:rPr>
            </a:b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resp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err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:=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CCCCCC"/>
                </a:solidFill>
                <a:latin typeface="Consolas"/>
              </a:rPr>
              <a:t>http.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Get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"http://localhost:8080/hello"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)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if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err 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!=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nil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{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sz="1600" dirty="0" smtClean="0">
                <a:solidFill>
                  <a:srgbClr val="6A9955"/>
                </a:solidFill>
                <a:latin typeface="Consolas"/>
              </a:rPr>
              <a:t>// Print specified message with timestamp on the console screen.</a:t>
            </a:r>
            <a:endParaRPr lang="en-US" sz="16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sz="1600" dirty="0" err="1" smtClean="0">
                <a:solidFill>
                  <a:srgbClr val="CCCCCC"/>
                </a:solidFill>
                <a:latin typeface="Consolas"/>
              </a:rPr>
              <a:t>log.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Fatal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(err)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}</a:t>
            </a:r>
            <a:br>
              <a:rPr lang="en-US" sz="1600" dirty="0" smtClean="0">
                <a:solidFill>
                  <a:srgbClr val="CCCCCC"/>
                </a:solidFill>
                <a:latin typeface="Consolas"/>
              </a:rPr>
            </a:b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defer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CCCCCC"/>
                </a:solidFill>
                <a:latin typeface="Consolas"/>
              </a:rPr>
              <a:t>resp.Body.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Close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()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/>
            </a:r>
            <a:br>
              <a:rPr lang="en-US" sz="1600" dirty="0" smtClean="0">
                <a:solidFill>
                  <a:srgbClr val="CCCCCC"/>
                </a:solidFill>
                <a:latin typeface="Consolas"/>
              </a:rPr>
            </a:b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1600" dirty="0" err="1" smtClean="0">
                <a:solidFill>
                  <a:srgbClr val="CCCCCC"/>
                </a:solidFill>
                <a:latin typeface="Consolas"/>
              </a:rPr>
              <a:t>fmt.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Println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"Response status:"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sz="1600" dirty="0" err="1" smtClean="0">
                <a:solidFill>
                  <a:srgbClr val="CCCCCC"/>
                </a:solidFill>
                <a:latin typeface="Consolas"/>
              </a:rPr>
              <a:t>resp.Status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)</a:t>
            </a:r>
            <a:br>
              <a:rPr lang="en-US" sz="1600" dirty="0" smtClean="0">
                <a:solidFill>
                  <a:srgbClr val="CCCCCC"/>
                </a:solidFill>
                <a:latin typeface="Consolas"/>
              </a:rPr>
            </a:b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scanner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:=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CCCCCC"/>
                </a:solidFill>
                <a:latin typeface="Consolas"/>
              </a:rPr>
              <a:t>bufio.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NewScanner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sz="1600" dirty="0" err="1" smtClean="0">
                <a:solidFill>
                  <a:srgbClr val="CCCCCC"/>
                </a:solidFill>
                <a:latin typeface="Consolas"/>
              </a:rPr>
              <a:t>resp.Body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)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for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i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:=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B5CEA8"/>
                </a:solidFill>
                <a:latin typeface="Consolas"/>
              </a:rPr>
              <a:t>0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; </a:t>
            </a:r>
            <a:r>
              <a:rPr lang="en-US" sz="1600" dirty="0" err="1" smtClean="0">
                <a:solidFill>
                  <a:srgbClr val="CCCCCC"/>
                </a:solidFill>
                <a:latin typeface="Consolas"/>
              </a:rPr>
              <a:t>scanner.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Scan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() 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&amp;&amp;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CCCCCC"/>
                </a:solidFill>
                <a:latin typeface="Consolas"/>
              </a:rPr>
              <a:t>i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&lt;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B5CEA8"/>
                </a:solidFill>
                <a:latin typeface="Consolas"/>
              </a:rPr>
              <a:t>5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; </a:t>
            </a:r>
            <a:r>
              <a:rPr lang="en-US" sz="1600" dirty="0" err="1" smtClean="0">
                <a:solidFill>
                  <a:srgbClr val="CCCCCC"/>
                </a:solidFill>
                <a:latin typeface="Consolas"/>
              </a:rPr>
              <a:t>i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++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{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sz="1600" dirty="0" err="1" smtClean="0">
                <a:solidFill>
                  <a:srgbClr val="CCCCCC"/>
                </a:solidFill>
                <a:latin typeface="Consolas"/>
              </a:rPr>
              <a:t>fmt.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Println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sz="1600" dirty="0" err="1" smtClean="0">
                <a:solidFill>
                  <a:srgbClr val="CCCCCC"/>
                </a:solidFill>
                <a:latin typeface="Consolas"/>
              </a:rPr>
              <a:t>scanner.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Text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())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}</a:t>
            </a:r>
            <a:br>
              <a:rPr lang="en-US" sz="1600" dirty="0" smtClean="0">
                <a:solidFill>
                  <a:srgbClr val="CCCCCC"/>
                </a:solidFill>
                <a:latin typeface="Consolas"/>
              </a:rPr>
            </a:b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if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err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:=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CCCCCC"/>
                </a:solidFill>
                <a:latin typeface="Consolas"/>
              </a:rPr>
              <a:t>scanner.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Err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(); err 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!=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nil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{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sz="1600" dirty="0" err="1" smtClean="0">
                <a:solidFill>
                  <a:srgbClr val="CCCCCC"/>
                </a:solidFill>
                <a:latin typeface="Consolas"/>
              </a:rPr>
              <a:t>log.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Fatal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(err)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}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}</a:t>
            </a:r>
            <a:endParaRPr lang="en-US" sz="1600" b="0" dirty="0">
              <a:solidFill>
                <a:srgbClr val="CCCCCC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Run http-client2.go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latin typeface="Consolas" pitchFamily="49" charset="0"/>
              </a:rPr>
              <a:t>go run http-client2.go</a:t>
            </a:r>
          </a:p>
          <a:p>
            <a:r>
              <a:rPr lang="en-US" sz="2200" dirty="0" smtClean="0">
                <a:latin typeface="Consolas" pitchFamily="49" charset="0"/>
              </a:rPr>
              <a:t>Shut down server.</a:t>
            </a:r>
          </a:p>
          <a:p>
            <a:r>
              <a:rPr lang="en-US" sz="2200" dirty="0" smtClean="0">
                <a:latin typeface="Consolas" pitchFamily="49" charset="0"/>
              </a:rPr>
              <a:t>go run http-client2.go</a:t>
            </a:r>
          </a:p>
          <a:p>
            <a:endParaRPr lang="en-US" sz="2200" dirty="0" smtClean="0">
              <a:latin typeface="Consolas" pitchFamily="49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44600" y="3228975"/>
            <a:ext cx="6654800" cy="187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Gossip Protocol 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hlinkClick r:id="rId2"/>
              </a:rPr>
              <a:t>http://highscalability.com/blog/2023/7/16/gossip-protocol-explained.html</a:t>
            </a:r>
            <a:endParaRPr lang="en-US" sz="2000" dirty="0" smtClean="0"/>
          </a:p>
          <a:p>
            <a:r>
              <a:rPr lang="en-US" sz="2000" dirty="0" smtClean="0"/>
              <a:t>The </a:t>
            </a:r>
            <a:r>
              <a:rPr lang="en-US" sz="2000" i="1" dirty="0" smtClean="0">
                <a:solidFill>
                  <a:srgbClr val="C00000"/>
                </a:solidFill>
              </a:rPr>
              <a:t>gossip protocol</a:t>
            </a:r>
            <a:r>
              <a:rPr lang="en-US" sz="2000" dirty="0" smtClean="0"/>
              <a:t> is a decentralized peer-to-peer communication technique to transmit messages in an enormous distributed system.</a:t>
            </a:r>
          </a:p>
          <a:p>
            <a:r>
              <a:rPr lang="en-US" sz="2000" dirty="0" smtClean="0"/>
              <a:t>The key concept of gossip protocol is that every node periodically sends out a message to a subset of other random nodes.</a:t>
            </a:r>
          </a:p>
          <a:p>
            <a:r>
              <a:rPr lang="en-US" sz="2000" dirty="0" smtClean="0"/>
              <a:t>The entire system will receive the particular message eventually with a high probability.</a:t>
            </a:r>
          </a:p>
          <a:p>
            <a:r>
              <a:rPr lang="en-US" sz="2000" dirty="0" smtClean="0"/>
              <a:t>Gossip Protocol Use Cases</a:t>
            </a:r>
          </a:p>
          <a:p>
            <a:pPr lvl="1"/>
            <a:r>
              <a:rPr lang="en-US" sz="1600" dirty="0" smtClean="0"/>
              <a:t>Apache Cassandra employs the gossip protocol to maintain cluster membership, transfer node metadata (token assignment), repair unread data using </a:t>
            </a:r>
            <a:r>
              <a:rPr lang="en-US" sz="1600" dirty="0" err="1" smtClean="0"/>
              <a:t>Merkle</a:t>
            </a:r>
            <a:r>
              <a:rPr lang="en-US" sz="1600" dirty="0" smtClean="0"/>
              <a:t> trees, and node failure detection.</a:t>
            </a:r>
          </a:p>
          <a:p>
            <a:pPr lvl="1"/>
            <a:r>
              <a:rPr lang="en-US" sz="1600" dirty="0" err="1" smtClean="0"/>
              <a:t>CockroachDB</a:t>
            </a:r>
            <a:r>
              <a:rPr lang="en-US" sz="1600" dirty="0" smtClean="0"/>
              <a:t> operates the gossip protocol to propagate the node metadata.</a:t>
            </a:r>
          </a:p>
          <a:p>
            <a:pPr lvl="1"/>
            <a:r>
              <a:rPr lang="en-US" sz="1600" dirty="0" err="1" smtClean="0"/>
              <a:t>Redis</a:t>
            </a:r>
            <a:r>
              <a:rPr lang="en-US" sz="1600" dirty="0" smtClean="0"/>
              <a:t> cluster uses the gossip protocol to propagate the node metadata.</a:t>
            </a:r>
          </a:p>
          <a:p>
            <a:pPr lvl="1"/>
            <a:r>
              <a:rPr lang="en-US" sz="1600" dirty="0" err="1" smtClean="0"/>
              <a:t>Bitcoin</a:t>
            </a:r>
            <a:r>
              <a:rPr lang="en-US" sz="1600" dirty="0" smtClean="0"/>
              <a:t> uses the gossip protocol to spread the nonce value across the mining nodes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Gossip Protocol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high-level overview of the gossip algorithm is the following:</a:t>
            </a:r>
          </a:p>
          <a:p>
            <a:pPr lvl="1"/>
            <a:r>
              <a:rPr lang="en-US" sz="2000" dirty="0" smtClean="0"/>
              <a:t>every node maintains a list of the subset of nodes and their metadata</a:t>
            </a:r>
          </a:p>
          <a:p>
            <a:pPr lvl="1"/>
            <a:r>
              <a:rPr lang="en-US" sz="2000" dirty="0" smtClean="0"/>
              <a:t>gossip to a random live peer node’s endpoint periodically</a:t>
            </a:r>
          </a:p>
          <a:p>
            <a:pPr lvl="1"/>
            <a:r>
              <a:rPr lang="en-US" sz="2000" dirty="0" smtClean="0"/>
              <a:t>every node inspects the received gossip message to merge the highest version number to the local dataset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23465</TotalTime>
  <Words>1279</Words>
  <Application>Microsoft Office PowerPoint</Application>
  <PresentationFormat>On-screen Show (4:3)</PresentationFormat>
  <Paragraphs>142</Paragraphs>
  <Slides>31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Failure Detectors</vt:lpstr>
      <vt:lpstr>Objectives</vt:lpstr>
      <vt:lpstr>Contents</vt:lpstr>
      <vt:lpstr>References</vt:lpstr>
      <vt:lpstr>Failure Modes (I) [1]</vt:lpstr>
      <vt:lpstr>Failure Modes (II)</vt:lpstr>
      <vt:lpstr>Failure Modes (III)</vt:lpstr>
      <vt:lpstr>The Failure Domain Viewpoint (I)</vt:lpstr>
      <vt:lpstr>The Failure Domain Viewpoint (II)</vt:lpstr>
      <vt:lpstr>Failure Semantics</vt:lpstr>
      <vt:lpstr>Slide 11</vt:lpstr>
      <vt:lpstr>Perfect Failure Detector</vt:lpstr>
      <vt:lpstr>Eventually Perfect Failure Detector</vt:lpstr>
      <vt:lpstr>Slide 14</vt:lpstr>
      <vt:lpstr>HTTP Servers</vt:lpstr>
      <vt:lpstr>1. Create Handlers</vt:lpstr>
      <vt:lpstr>2. Register Handlers on Server Routes</vt:lpstr>
      <vt:lpstr>3. Run HTTP Server</vt:lpstr>
      <vt:lpstr>4. Test HTTP Server</vt:lpstr>
      <vt:lpstr>Slide 20</vt:lpstr>
      <vt:lpstr>HTTP Clients</vt:lpstr>
      <vt:lpstr>1. Issue an HTTP GET</vt:lpstr>
      <vt:lpstr>2. Run HTTP Server</vt:lpstr>
      <vt:lpstr>3. Run HTTP Client</vt:lpstr>
      <vt:lpstr>panic</vt:lpstr>
      <vt:lpstr>4. Create http-client2.go</vt:lpstr>
      <vt:lpstr>5. Run http-client2.go</vt:lpstr>
      <vt:lpstr>Slide 28</vt:lpstr>
      <vt:lpstr>Gossip Protocol (I)</vt:lpstr>
      <vt:lpstr>Gossip Protocol (II)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7106</cp:revision>
  <dcterms:created xsi:type="dcterms:W3CDTF">2007-10-06T08:25:13Z</dcterms:created>
  <dcterms:modified xsi:type="dcterms:W3CDTF">2026-01-10T18:40:40Z</dcterms:modified>
</cp:coreProperties>
</file>