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sldIdLst>
    <p:sldId id="670" r:id="rId2"/>
    <p:sldId id="671" r:id="rId3"/>
    <p:sldId id="672" r:id="rId4"/>
    <p:sldId id="673" r:id="rId5"/>
    <p:sldId id="679" r:id="rId6"/>
    <p:sldId id="680" r:id="rId7"/>
    <p:sldId id="681" r:id="rId8"/>
    <p:sldId id="693" r:id="rId9"/>
    <p:sldId id="694" r:id="rId10"/>
    <p:sldId id="695" r:id="rId11"/>
    <p:sldId id="696" r:id="rId12"/>
    <p:sldId id="678" r:id="rId13"/>
    <p:sldId id="682" r:id="rId14"/>
    <p:sldId id="683" r:id="rId15"/>
    <p:sldId id="685" r:id="rId16"/>
    <p:sldId id="684" r:id="rId17"/>
    <p:sldId id="686" r:id="rId18"/>
    <p:sldId id="687" r:id="rId19"/>
    <p:sldId id="688" r:id="rId20"/>
    <p:sldId id="689" r:id="rId21"/>
    <p:sldId id="690" r:id="rId22"/>
    <p:sldId id="691" r:id="rId23"/>
    <p:sldId id="692" r:id="rId24"/>
    <p:sldId id="516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ecomposition.al/blog/2019/04/26/an-example-run-of-the-chandy-lamport-snapshot-algorith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Distributed Snapshots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K. Mani </a:t>
            </a:r>
            <a:r>
              <a:rPr lang="en-US" sz="2400" dirty="0" err="1" smtClean="0"/>
              <a:t>Chandy</a:t>
            </a:r>
            <a:r>
              <a:rPr lang="en-US" sz="2400" dirty="0" smtClean="0"/>
              <a:t> and Leslie </a:t>
            </a:r>
            <a:r>
              <a:rPr lang="en-US" sz="2400" dirty="0" err="1" smtClean="0"/>
              <a:t>Lamport</a:t>
            </a:r>
            <a:r>
              <a:rPr lang="en-US" sz="2400" dirty="0" smtClean="0"/>
              <a:t> (1985). Distributed Snapshots.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What are Distributed Snapshots</a:t>
            </a:r>
            <a:r>
              <a:rPr lang="en-US" sz="4200" dirty="0" smtClean="0"/>
              <a:t>? [1]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Processes in a distributed system communicate by sending and receiving messages. A process can </a:t>
            </a:r>
            <a:r>
              <a:rPr lang="en-US" sz="2400" i="1" dirty="0" smtClean="0">
                <a:solidFill>
                  <a:srgbClr val="C00000"/>
                </a:solidFill>
              </a:rPr>
              <a:t>record its own state</a:t>
            </a:r>
            <a:r>
              <a:rPr lang="en-US" sz="2400" dirty="0" smtClean="0"/>
              <a:t> and the </a:t>
            </a:r>
            <a:r>
              <a:rPr lang="en-US" sz="2400" i="1" dirty="0" smtClean="0">
                <a:solidFill>
                  <a:srgbClr val="C00000"/>
                </a:solidFill>
              </a:rPr>
              <a:t>messages</a:t>
            </a:r>
            <a:r>
              <a:rPr lang="en-US" sz="2400" dirty="0" smtClean="0"/>
              <a:t> it sends and receives; it can record nothing else.</a:t>
            </a:r>
          </a:p>
          <a:p>
            <a:r>
              <a:rPr lang="en-US" sz="2400" dirty="0" smtClean="0"/>
              <a:t>To determine a </a:t>
            </a:r>
            <a:r>
              <a:rPr lang="en-US" sz="2400" i="1" dirty="0" smtClean="0">
                <a:solidFill>
                  <a:srgbClr val="C00000"/>
                </a:solidFill>
              </a:rPr>
              <a:t>global system state</a:t>
            </a:r>
            <a:r>
              <a:rPr lang="en-US" sz="2400" dirty="0" smtClean="0"/>
              <a:t>, a process p must enlist the cooperation of other processes that must record their own local states and send the recorded local states to p.</a:t>
            </a:r>
          </a:p>
          <a:p>
            <a:r>
              <a:rPr lang="en-US" sz="2400" dirty="0" smtClean="0"/>
              <a:t>All processes cannot record their local states at precisely the same instant unless they have access to a </a:t>
            </a:r>
            <a:r>
              <a:rPr lang="en-US" sz="2400" i="1" dirty="0" smtClean="0">
                <a:solidFill>
                  <a:srgbClr val="C00000"/>
                </a:solidFill>
              </a:rPr>
              <a:t>common clock</a:t>
            </a:r>
            <a:r>
              <a:rPr lang="en-US" sz="2400" dirty="0" smtClean="0"/>
              <a:t>. We assume that processes </a:t>
            </a:r>
            <a:r>
              <a:rPr lang="en-US" sz="2400" u="sng" dirty="0" smtClean="0"/>
              <a:t>do not share clocks</a:t>
            </a:r>
            <a:r>
              <a:rPr lang="en-US" sz="2400" dirty="0" smtClean="0"/>
              <a:t> or </a:t>
            </a:r>
            <a:r>
              <a:rPr lang="en-US" sz="2400" u="sng" dirty="0" smtClean="0"/>
              <a:t>memory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Stable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Let y be a </a:t>
            </a:r>
            <a:r>
              <a:rPr lang="en-US" sz="2400" i="1" dirty="0" smtClean="0">
                <a:solidFill>
                  <a:srgbClr val="C00000"/>
                </a:solidFill>
              </a:rPr>
              <a:t>predicate function</a:t>
            </a:r>
            <a:r>
              <a:rPr lang="en-US" sz="2400" dirty="0" smtClean="0"/>
              <a:t> defined on the global states of a distributed system D; that is, y(S) is true or false for a global state S of D.</a:t>
            </a:r>
          </a:p>
          <a:p>
            <a:r>
              <a:rPr lang="en-US" sz="2400" dirty="0" smtClean="0"/>
              <a:t>The predicate y is said to be a </a:t>
            </a:r>
            <a:r>
              <a:rPr lang="en-US" sz="2400" i="1" dirty="0" smtClean="0">
                <a:solidFill>
                  <a:srgbClr val="C00000"/>
                </a:solidFill>
              </a:rPr>
              <a:t>stable property</a:t>
            </a:r>
            <a:r>
              <a:rPr lang="en-US" sz="2400" dirty="0" smtClean="0"/>
              <a:t> of D if y(S) implies y(S’) for all global states S’ of D reachable from global state S of D.</a:t>
            </a:r>
          </a:p>
          <a:p>
            <a:r>
              <a:rPr lang="en-US" sz="2400" dirty="0" smtClean="0"/>
              <a:t>In other words, if y is a stable property and y is true at a point in a computation of D, then y is true at all </a:t>
            </a:r>
            <a:r>
              <a:rPr lang="en-US" sz="2400" u="sng" dirty="0" smtClean="0"/>
              <a:t>later points</a:t>
            </a:r>
            <a:r>
              <a:rPr lang="en-US" sz="2400" dirty="0" smtClean="0"/>
              <a:t> in that computation.</a:t>
            </a:r>
          </a:p>
          <a:p>
            <a:r>
              <a:rPr lang="en-US" sz="2400" dirty="0" smtClean="0"/>
              <a:t>Examples of stable properties are “computation has terminated,” and “the system is deadlocked.”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Distributed Snapshots?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u="sng" dirty="0" smtClean="0"/>
              <a:t>Deadlock detection</a:t>
            </a:r>
            <a:r>
              <a:rPr lang="en-US" sz="2800" dirty="0" smtClean="0"/>
              <a:t> and </a:t>
            </a:r>
            <a:r>
              <a:rPr lang="en-US" sz="2800" u="sng" dirty="0" smtClean="0"/>
              <a:t>termination detection</a:t>
            </a:r>
            <a:r>
              <a:rPr lang="en-US" sz="2800" dirty="0" smtClean="0"/>
              <a:t> are special cases of the </a:t>
            </a:r>
            <a:r>
              <a:rPr lang="en-US" sz="2800" i="1" dirty="0" smtClean="0">
                <a:solidFill>
                  <a:srgbClr val="C00000"/>
                </a:solidFill>
              </a:rPr>
              <a:t>stable-property detection</a:t>
            </a:r>
            <a:r>
              <a:rPr lang="en-US" sz="2800" dirty="0" smtClean="0"/>
              <a:t> problem.</a:t>
            </a:r>
          </a:p>
          <a:p>
            <a:r>
              <a:rPr lang="en-US" sz="2800" dirty="0" smtClean="0"/>
              <a:t>The basic idea of the algorithm is that a global state S of the system is determined and y(S) is computed to see if the stable property y holds.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Distributed Snapshots?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Modern systems (e.g. distributed databases) must </a:t>
            </a:r>
            <a:r>
              <a:rPr lang="en-US" sz="2800" i="1" dirty="0" smtClean="0">
                <a:solidFill>
                  <a:srgbClr val="C00000"/>
                </a:solidFill>
              </a:rPr>
              <a:t>tolerate crashes</a:t>
            </a:r>
            <a:r>
              <a:rPr lang="en-US" sz="2800" dirty="0" smtClean="0"/>
              <a:t> and </a:t>
            </a:r>
            <a:r>
              <a:rPr lang="en-US" sz="2800" i="1" dirty="0" smtClean="0">
                <a:solidFill>
                  <a:srgbClr val="C00000"/>
                </a:solidFill>
              </a:rPr>
              <a:t>partial failures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A distributed snapshot enables:</a:t>
            </a:r>
          </a:p>
          <a:p>
            <a:pPr lvl="1"/>
            <a:r>
              <a:rPr lang="en-US" sz="2400" dirty="0" smtClean="0"/>
              <a:t>Coordinated </a:t>
            </a:r>
            <a:r>
              <a:rPr lang="en-US" sz="2400" dirty="0" err="1" smtClean="0"/>
              <a:t>checkpointing</a:t>
            </a:r>
            <a:endParaRPr lang="en-US" sz="2400" dirty="0" smtClean="0"/>
          </a:p>
          <a:p>
            <a:pPr lvl="1"/>
            <a:r>
              <a:rPr lang="en-US" sz="2400" dirty="0" smtClean="0"/>
              <a:t>Rollback recovery</a:t>
            </a:r>
          </a:p>
          <a:p>
            <a:pPr lvl="1"/>
            <a:r>
              <a:rPr lang="en-US" sz="2400" dirty="0" smtClean="0"/>
              <a:t>Exactly-once state restoration</a:t>
            </a:r>
          </a:p>
          <a:p>
            <a:r>
              <a:rPr lang="en-US" sz="2800" dirty="0" smtClean="0"/>
              <a:t>Without consistent snapshots, recovery can </a:t>
            </a:r>
            <a:r>
              <a:rPr lang="en-US" sz="2800" i="1" dirty="0" smtClean="0">
                <a:solidFill>
                  <a:srgbClr val="C00000"/>
                </a:solidFill>
              </a:rPr>
              <a:t>violate causality</a:t>
            </a:r>
            <a:r>
              <a:rPr lang="en-US" sz="2800" dirty="0" smtClean="0"/>
              <a:t> or reintroduce </a:t>
            </a:r>
            <a:r>
              <a:rPr lang="en-US" sz="2800" i="1" dirty="0" smtClean="0">
                <a:solidFill>
                  <a:srgbClr val="C00000"/>
                </a:solidFill>
              </a:rPr>
              <a:t>inconsistent state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Distributed Snapshots?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 </a:t>
            </a:r>
            <a:r>
              <a:rPr lang="en-US" sz="2800" i="1" dirty="0" smtClean="0">
                <a:solidFill>
                  <a:srgbClr val="C00000"/>
                </a:solidFill>
              </a:rPr>
              <a:t>dataflow</a:t>
            </a:r>
            <a:r>
              <a:rPr lang="en-US" sz="2800" dirty="0" smtClean="0"/>
              <a:t> and </a:t>
            </a:r>
            <a:r>
              <a:rPr lang="en-US" sz="2800" i="1" dirty="0" smtClean="0">
                <a:solidFill>
                  <a:srgbClr val="C00000"/>
                </a:solidFill>
              </a:rPr>
              <a:t>stream-processing engines</a:t>
            </a:r>
            <a:r>
              <a:rPr lang="en-US" sz="2800" dirty="0" smtClean="0"/>
              <a:t>, snapshots enable:</a:t>
            </a:r>
          </a:p>
          <a:p>
            <a:pPr lvl="1"/>
            <a:r>
              <a:rPr lang="en-US" sz="2400" dirty="0" smtClean="0"/>
              <a:t>Fault-tolerant </a:t>
            </a:r>
            <a:r>
              <a:rPr lang="en-US" sz="2400" dirty="0" err="1" smtClean="0"/>
              <a:t>stateful</a:t>
            </a:r>
            <a:r>
              <a:rPr lang="en-US" sz="2400" dirty="0" smtClean="0"/>
              <a:t> operators</a:t>
            </a:r>
          </a:p>
          <a:p>
            <a:pPr lvl="1"/>
            <a:r>
              <a:rPr lang="en-US" sz="2400" dirty="0" smtClean="0"/>
              <a:t>Exactly-once processing guarantees</a:t>
            </a:r>
          </a:p>
          <a:p>
            <a:pPr lvl="1"/>
            <a:r>
              <a:rPr lang="en-US" sz="2400" dirty="0" smtClean="0"/>
              <a:t>Deterministic replay</a:t>
            </a:r>
          </a:p>
          <a:p>
            <a:r>
              <a:rPr lang="en-US" sz="2800" dirty="0" smtClean="0"/>
              <a:t>Modern stream systems periodically take distributed snapshots of operator state and message channels to enable recovery without duplication.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Distributed Snapshots? </a:t>
            </a:r>
            <a:r>
              <a:rPr lang="en-US" smtClean="0"/>
              <a:t>(</a:t>
            </a:r>
            <a:r>
              <a:rPr lang="en-US" smtClean="0"/>
              <a:t>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 a </a:t>
            </a:r>
            <a:r>
              <a:rPr lang="en-US" sz="2800" dirty="0" err="1" smtClean="0"/>
              <a:t>sharded</a:t>
            </a:r>
            <a:r>
              <a:rPr lang="en-US" sz="2800" dirty="0" smtClean="0"/>
              <a:t> system, </a:t>
            </a:r>
            <a:r>
              <a:rPr lang="en-US" sz="2800" i="1" dirty="0" smtClean="0">
                <a:solidFill>
                  <a:srgbClr val="C00000"/>
                </a:solidFill>
              </a:rPr>
              <a:t>the state</a:t>
            </a:r>
            <a:r>
              <a:rPr lang="en-US" sz="2800" dirty="0" smtClean="0"/>
              <a:t> is </a:t>
            </a:r>
            <a:r>
              <a:rPr lang="en-US" sz="2800" u="sng" dirty="0" smtClean="0"/>
              <a:t>partitioned across nodes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A </a:t>
            </a:r>
            <a:r>
              <a:rPr lang="en-US" sz="2800" i="1" dirty="0" smtClean="0">
                <a:solidFill>
                  <a:srgbClr val="C00000"/>
                </a:solidFill>
              </a:rPr>
              <a:t>consistent global view</a:t>
            </a:r>
            <a:r>
              <a:rPr lang="en-US" sz="2800" dirty="0" smtClean="0"/>
              <a:t> therefore requires collecting the state of </a:t>
            </a:r>
            <a:r>
              <a:rPr lang="en-US" sz="2800" u="sng" dirty="0" smtClean="0"/>
              <a:t>all shards simultaneously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Distributed snapshots provide a mechanism to capture a consistent global state across shards without halting the system, which is useful for </a:t>
            </a:r>
            <a:r>
              <a:rPr lang="en-US" sz="2800" i="1" dirty="0" smtClean="0">
                <a:solidFill>
                  <a:srgbClr val="C00000"/>
                </a:solidFill>
              </a:rPr>
              <a:t>recovery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monitoring</a:t>
            </a:r>
            <a:r>
              <a:rPr lang="en-US" sz="2800" dirty="0" smtClean="0"/>
              <a:t>, and </a:t>
            </a:r>
            <a:r>
              <a:rPr lang="en-US" sz="2800" i="1" dirty="0" smtClean="0">
                <a:solidFill>
                  <a:srgbClr val="C00000"/>
                </a:solidFill>
              </a:rPr>
              <a:t>correctness verification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https://decomposition.al/blog/2019/04/26/an-example-run-of-the-chandy-lamport-snapshot-algorithm/</a:t>
            </a:r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2050" name="Picture 2" descr="The execution we'll be snapshotting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2895600"/>
            <a:ext cx="3870641" cy="30782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Initiating a snapshot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get a snapshot started, an initiating process has to do three things:</a:t>
            </a:r>
          </a:p>
          <a:p>
            <a:r>
              <a:rPr lang="en-US" sz="2400" dirty="0" smtClean="0"/>
              <a:t>First, it has to </a:t>
            </a:r>
            <a:r>
              <a:rPr lang="en-US" sz="2400" i="1" dirty="0" smtClean="0"/>
              <a:t>record its own state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Next – immediately after recording its own state, and before it does anything else – it has to send a </a:t>
            </a:r>
            <a:r>
              <a:rPr lang="en-US" sz="2400" i="1" dirty="0" smtClean="0"/>
              <a:t>marker message</a:t>
            </a:r>
            <a:r>
              <a:rPr lang="en-US" sz="2400" dirty="0" smtClean="0"/>
              <a:t> out on each of its outgoing channels.</a:t>
            </a:r>
          </a:p>
          <a:p>
            <a:r>
              <a:rPr lang="en-US" sz="2400" dirty="0" smtClean="0"/>
              <a:t>Finally, it needs to start keeping track of the messages it receives on all of its </a:t>
            </a:r>
            <a:r>
              <a:rPr lang="en-US" sz="2400" i="1" dirty="0" smtClean="0"/>
              <a:t>incoming</a:t>
            </a:r>
            <a:r>
              <a:rPr lang="en-US" sz="2400" dirty="0" smtClean="0"/>
              <a:t> channels.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Starting distributed snapshot</a:t>
            </a:r>
            <a:endParaRPr lang="en-US" dirty="0"/>
          </a:p>
        </p:txBody>
      </p:sp>
      <p:pic>
        <p:nvPicPr>
          <p:cNvPr id="24578" name="Picture 2" descr="Starting our distributed snapshot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752600"/>
            <a:ext cx="4769116" cy="42644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Receiving a marker message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b="1" dirty="0" smtClean="0"/>
              <a:t>the “this is the first marker message I’ve ever seen” case</a:t>
            </a:r>
          </a:p>
          <a:p>
            <a:pPr lvl="1"/>
            <a:r>
              <a:rPr lang="en-US" sz="2200" dirty="0" smtClean="0"/>
              <a:t>Record its own state.</a:t>
            </a:r>
          </a:p>
          <a:p>
            <a:pPr lvl="1"/>
            <a:r>
              <a:rPr lang="en-US" sz="2200" dirty="0" smtClean="0"/>
              <a:t>Mark the channel that the marker message came in on, as </a:t>
            </a:r>
            <a:r>
              <a:rPr lang="en-US" sz="2200" i="1" dirty="0" smtClean="0"/>
              <a:t>empty</a:t>
            </a:r>
            <a:r>
              <a:rPr lang="en-US" sz="2200" dirty="0" smtClean="0"/>
              <a:t>. </a:t>
            </a:r>
          </a:p>
          <a:p>
            <a:pPr lvl="1"/>
            <a:r>
              <a:rPr lang="en-US" sz="2200" dirty="0" smtClean="0"/>
              <a:t>Send marker messages out itself, on all its outgoing channels.</a:t>
            </a:r>
          </a:p>
          <a:p>
            <a:pPr lvl="1"/>
            <a:r>
              <a:rPr lang="en-US" sz="2200" dirty="0" smtClean="0"/>
              <a:t>Start recording incoming messages on all its incoming channels </a:t>
            </a:r>
            <a:r>
              <a:rPr lang="en-US" sz="2200" i="1" dirty="0" smtClean="0"/>
              <a:t>except</a:t>
            </a:r>
            <a:r>
              <a:rPr lang="en-US" sz="2200" dirty="0" smtClean="0"/>
              <a:t> the one that it just marked as empty.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Receiving a marker message (II)</a:t>
            </a:r>
            <a:endParaRPr lang="en-US" dirty="0"/>
          </a:p>
        </p:txBody>
      </p:sp>
      <p:pic>
        <p:nvPicPr>
          <p:cNvPr id="27650" name="Picture 2" descr="States of two processes recorded!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828800"/>
            <a:ext cx="5058043" cy="42424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Receiving a marker message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the “this </a:t>
            </a:r>
            <a:r>
              <a:rPr lang="en-US" sz="2800" b="1" dirty="0" err="1" smtClean="0"/>
              <a:t>ain’t</a:t>
            </a:r>
            <a:r>
              <a:rPr lang="en-US" sz="2800" b="1" dirty="0" smtClean="0"/>
              <a:t> my first rodeo” case</a:t>
            </a:r>
          </a:p>
          <a:p>
            <a:pPr lvl="1"/>
            <a:r>
              <a:rPr lang="en-US" sz="2400" dirty="0" smtClean="0"/>
              <a:t>it should </a:t>
            </a:r>
            <a:r>
              <a:rPr lang="en-US" sz="2400" i="1" dirty="0" smtClean="0"/>
              <a:t>stop recording</a:t>
            </a:r>
            <a:r>
              <a:rPr lang="en-US" sz="2400" dirty="0" smtClean="0"/>
              <a:t> on </a:t>
            </a:r>
            <a:r>
              <a:rPr lang="en-US" sz="2400" dirty="0" err="1" smtClean="0"/>
              <a:t>C_ki</a:t>
            </a:r>
            <a:r>
              <a:rPr lang="en-US" sz="2400" dirty="0" smtClean="0"/>
              <a:t> (note that it would have started recording on </a:t>
            </a:r>
            <a:r>
              <a:rPr lang="en-US" sz="2400" dirty="0" err="1" smtClean="0"/>
              <a:t>C_ki</a:t>
            </a:r>
            <a:r>
              <a:rPr lang="en-US" sz="2400" dirty="0" smtClean="0"/>
              <a:t> back when it saw its first marker message), and it should set </a:t>
            </a:r>
            <a:r>
              <a:rPr lang="en-US" sz="2400" dirty="0" err="1" smtClean="0"/>
              <a:t>C_ki’s</a:t>
            </a:r>
            <a:r>
              <a:rPr lang="en-US" sz="2400" dirty="0" smtClean="0"/>
              <a:t> final state as the sequence of all the messages that arrived on since recording began.</a:t>
            </a:r>
          </a:p>
          <a:p>
            <a:pPr lvl="1"/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Receiving a marker message (IV)</a:t>
            </a:r>
            <a:endParaRPr lang="en-US" dirty="0"/>
          </a:p>
        </p:txBody>
      </p:sp>
      <p:pic>
        <p:nvPicPr>
          <p:cNvPr id="28674" name="Picture 2" descr="A little further along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752600"/>
            <a:ext cx="5058043" cy="42424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Finishing up</a:t>
            </a:r>
            <a:endParaRPr lang="en-US" dirty="0"/>
          </a:p>
        </p:txBody>
      </p:sp>
      <p:pic>
        <p:nvPicPr>
          <p:cNvPr id="30722" name="Picture 2" descr="Getting there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905000"/>
            <a:ext cx="5058043" cy="42424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r>
              <a:rPr lang="en-US" baseline="-25000" dirty="0" smtClean="0"/>
              <a:t>12</a:t>
            </a:r>
            <a:r>
              <a:rPr lang="en-US" dirty="0" smtClean="0"/>
              <a:t> is done</a:t>
            </a:r>
            <a:endParaRPr lang="en-US" dirty="0"/>
          </a:p>
        </p:txBody>
      </p:sp>
      <p:pic>
        <p:nvPicPr>
          <p:cNvPr id="31746" name="Picture 2" descr="P_2 is done!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828800"/>
            <a:ext cx="5058043" cy="42424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r>
              <a:rPr lang="en-US" baseline="-25000" dirty="0" smtClean="0"/>
              <a:t>21</a:t>
            </a:r>
            <a:r>
              <a:rPr lang="en-US" dirty="0" smtClean="0"/>
              <a:t> is done</a:t>
            </a:r>
            <a:endParaRPr lang="en-US" dirty="0"/>
          </a:p>
        </p:txBody>
      </p:sp>
      <p:pic>
        <p:nvPicPr>
          <p:cNvPr id="32770" name="Picture 2" descr="Almost done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752600"/>
            <a:ext cx="5058043" cy="42424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r>
              <a:rPr lang="en-US" baseline="-25000" dirty="0" smtClean="0"/>
              <a:t>23</a:t>
            </a:r>
            <a:r>
              <a:rPr lang="en-US" dirty="0" smtClean="0"/>
              <a:t> is done</a:t>
            </a:r>
            <a:endParaRPr lang="en-US" dirty="0"/>
          </a:p>
        </p:txBody>
      </p:sp>
      <p:pic>
        <p:nvPicPr>
          <p:cNvPr id="33794" name="Picture 2" descr="That's it!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905000"/>
            <a:ext cx="4875178" cy="42424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snapshot</a:t>
            </a:r>
            <a:endParaRPr lang="en-US" dirty="0"/>
          </a:p>
        </p:txBody>
      </p:sp>
      <p:pic>
        <p:nvPicPr>
          <p:cNvPr id="34818" name="Picture 2" descr="The snapshot corresponds to a consistent cut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752600"/>
            <a:ext cx="6352726" cy="45789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20795</TotalTime>
  <Words>729</Words>
  <Application>Microsoft Office PowerPoint</Application>
  <PresentationFormat>On-screen Show (4:3)</PresentationFormat>
  <Paragraphs>66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Distributed Snapshots</vt:lpstr>
      <vt:lpstr>Objectives</vt:lpstr>
      <vt:lpstr>Contents</vt:lpstr>
      <vt:lpstr>References</vt:lpstr>
      <vt:lpstr>What are Distributed Snapshots? [1]</vt:lpstr>
      <vt:lpstr>Stable Properties</vt:lpstr>
      <vt:lpstr>Why Distributed Snapshots? (I)</vt:lpstr>
      <vt:lpstr>Why Distributed Snapshots? (II)</vt:lpstr>
      <vt:lpstr>Why Distributed Snapshots? (III)</vt:lpstr>
      <vt:lpstr>Why Distributed Snapshots? (IV)</vt:lpstr>
      <vt:lpstr>Slide 11</vt:lpstr>
      <vt:lpstr>The Execution</vt:lpstr>
      <vt:lpstr>Initiating a snapshot</vt:lpstr>
      <vt:lpstr>Starting distributed snapshot</vt:lpstr>
      <vt:lpstr>Receiving a marker message (I)</vt:lpstr>
      <vt:lpstr>Receiving a marker message (II)</vt:lpstr>
      <vt:lpstr>Receiving a marker message (III)</vt:lpstr>
      <vt:lpstr>Receiving a marker message (IV)</vt:lpstr>
      <vt:lpstr>Finishing up</vt:lpstr>
      <vt:lpstr>C12 is done</vt:lpstr>
      <vt:lpstr>C21 is done</vt:lpstr>
      <vt:lpstr>C23 is done</vt:lpstr>
      <vt:lpstr>The snapshot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6631</cp:revision>
  <dcterms:created xsi:type="dcterms:W3CDTF">2007-10-06T08:25:13Z</dcterms:created>
  <dcterms:modified xsi:type="dcterms:W3CDTF">2026-03-15T19:06:00Z</dcterms:modified>
</cp:coreProperties>
</file>