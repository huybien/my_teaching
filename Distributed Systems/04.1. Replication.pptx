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73"/>
  </p:notesMasterIdLst>
  <p:sldIdLst>
    <p:sldId id="670" r:id="rId2"/>
    <p:sldId id="671" r:id="rId3"/>
    <p:sldId id="672" r:id="rId4"/>
    <p:sldId id="673" r:id="rId5"/>
    <p:sldId id="1079" r:id="rId6"/>
    <p:sldId id="1080" r:id="rId7"/>
    <p:sldId id="1030" r:id="rId8"/>
    <p:sldId id="995" r:id="rId9"/>
    <p:sldId id="996" r:id="rId10"/>
    <p:sldId id="1087" r:id="rId11"/>
    <p:sldId id="997" r:id="rId12"/>
    <p:sldId id="994" r:id="rId13"/>
    <p:sldId id="991" r:id="rId14"/>
    <p:sldId id="993" r:id="rId15"/>
    <p:sldId id="790" r:id="rId16"/>
    <p:sldId id="1061" r:id="rId17"/>
    <p:sldId id="806" r:id="rId18"/>
    <p:sldId id="907" r:id="rId19"/>
    <p:sldId id="909" r:id="rId20"/>
    <p:sldId id="908" r:id="rId21"/>
    <p:sldId id="910" r:id="rId22"/>
    <p:sldId id="844" r:id="rId23"/>
    <p:sldId id="807" r:id="rId24"/>
    <p:sldId id="916" r:id="rId25"/>
    <p:sldId id="808" r:id="rId26"/>
    <p:sldId id="918" r:id="rId27"/>
    <p:sldId id="809" r:id="rId28"/>
    <p:sldId id="847" r:id="rId29"/>
    <p:sldId id="853" r:id="rId30"/>
    <p:sldId id="920" r:id="rId31"/>
    <p:sldId id="921" r:id="rId32"/>
    <p:sldId id="922" r:id="rId33"/>
    <p:sldId id="852" r:id="rId34"/>
    <p:sldId id="856" r:id="rId35"/>
    <p:sldId id="1062" r:id="rId36"/>
    <p:sldId id="1063" r:id="rId37"/>
    <p:sldId id="1064" r:id="rId38"/>
    <p:sldId id="1065" r:id="rId39"/>
    <p:sldId id="1066" r:id="rId40"/>
    <p:sldId id="1067" r:id="rId41"/>
    <p:sldId id="1068" r:id="rId42"/>
    <p:sldId id="858" r:id="rId43"/>
    <p:sldId id="1013" r:id="rId44"/>
    <p:sldId id="1014" r:id="rId45"/>
    <p:sldId id="1015" r:id="rId46"/>
    <p:sldId id="1069" r:id="rId47"/>
    <p:sldId id="1070" r:id="rId48"/>
    <p:sldId id="1071" r:id="rId49"/>
    <p:sldId id="1072" r:id="rId50"/>
    <p:sldId id="1073" r:id="rId51"/>
    <p:sldId id="1074" r:id="rId52"/>
    <p:sldId id="1075" r:id="rId53"/>
    <p:sldId id="1076" r:id="rId54"/>
    <p:sldId id="1077" r:id="rId55"/>
    <p:sldId id="1016" r:id="rId56"/>
    <p:sldId id="1017" r:id="rId57"/>
    <p:sldId id="1033" r:id="rId58"/>
    <p:sldId id="1078" r:id="rId59"/>
    <p:sldId id="1032" r:id="rId60"/>
    <p:sldId id="1084" r:id="rId61"/>
    <p:sldId id="1018" r:id="rId62"/>
    <p:sldId id="1054" r:id="rId63"/>
    <p:sldId id="1055" r:id="rId64"/>
    <p:sldId id="1056" r:id="rId65"/>
    <p:sldId id="1057" r:id="rId66"/>
    <p:sldId id="1058" r:id="rId67"/>
    <p:sldId id="1060" r:id="rId68"/>
    <p:sldId id="1085" r:id="rId69"/>
    <p:sldId id="1082" r:id="rId70"/>
    <p:sldId id="1086" r:id="rId71"/>
    <p:sldId id="516" r:id="rId7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9" autoAdjust="0"/>
    <p:restoredTop sz="94690" autoAdjust="0"/>
  </p:normalViewPr>
  <p:slideViewPr>
    <p:cSldViewPr>
      <p:cViewPr>
        <p:scale>
          <a:sx n="50" d="100"/>
          <a:sy n="50" d="100"/>
        </p:scale>
        <p:origin x="-153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70CC96-DB61-4850-AF79-05CA5E4B3D0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bdulsametileri/leader-election-bully-algorithm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Replication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implement replication</a:t>
            </a:r>
            <a:r>
              <a:rPr lang="en-US" sz="2400" dirty="0" smtClean="0"/>
              <a:t> using primary-backup approach and bully algorithm (or ring algorithm).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Replication Terminologies.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Primary Backup Replication.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Bully Algorithm.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Ring Algorithm.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200" dirty="0" err="1" smtClean="0"/>
              <a:t>Navin</a:t>
            </a:r>
            <a:r>
              <a:rPr lang="en-US" sz="2200" dirty="0" smtClean="0"/>
              <a:t> </a:t>
            </a:r>
            <a:r>
              <a:rPr lang="en-US" sz="2200" dirty="0" err="1" smtClean="0"/>
              <a:t>Budhiraja</a:t>
            </a:r>
            <a:r>
              <a:rPr lang="en-US" sz="2200" dirty="0" smtClean="0"/>
              <a:t> et al. (1993). The Primary Backup Approach.</a:t>
            </a:r>
          </a:p>
          <a:p>
            <a:pPr>
              <a:buFont typeface="+mj-lt"/>
              <a:buAutoNum type="arabicPeriod"/>
            </a:pPr>
            <a:r>
              <a:rPr lang="en-US" sz="2200" dirty="0" smtClean="0"/>
              <a:t>Maarten van Steen and Andrew S. </a:t>
            </a:r>
            <a:r>
              <a:rPr lang="en-US" sz="2200" dirty="0" err="1" smtClean="0"/>
              <a:t>Tanenbaum</a:t>
            </a:r>
            <a:r>
              <a:rPr lang="en-US" sz="2200" dirty="0" smtClean="0"/>
              <a:t> (2023). Distributed Systems. </a:t>
            </a:r>
            <a:r>
              <a:rPr lang="en-US" sz="2200" dirty="0" err="1" smtClean="0"/>
              <a:t>CreateSpace</a:t>
            </a:r>
            <a:r>
              <a:rPr lang="en-US" sz="2200" dirty="0" smtClean="0"/>
              <a:t> Independent Publishing Platform.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Replication?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provide </a:t>
            </a:r>
            <a:r>
              <a:rPr lang="en-US" i="1" dirty="0" smtClean="0">
                <a:solidFill>
                  <a:srgbClr val="C00000"/>
                </a:solidFill>
              </a:rPr>
              <a:t>availability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What is availability? - App can make progress despite failures.</a:t>
            </a:r>
          </a:p>
          <a:p>
            <a:pPr lvl="1"/>
            <a:r>
              <a:rPr lang="en-US" dirty="0" smtClean="0"/>
              <a:t>Which failures can replication deal with? - It depends on selected protocol.</a:t>
            </a:r>
          </a:p>
          <a:p>
            <a:r>
              <a:rPr lang="en-US" dirty="0" smtClean="0"/>
              <a:t>To reduce </a:t>
            </a:r>
            <a:r>
              <a:rPr lang="en-US" i="1" dirty="0" smtClean="0">
                <a:solidFill>
                  <a:srgbClr val="C00000"/>
                </a:solidFill>
              </a:rPr>
              <a:t>latency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increase read </a:t>
            </a:r>
            <a:r>
              <a:rPr lang="en-US" i="1" dirty="0" smtClean="0">
                <a:solidFill>
                  <a:srgbClr val="C00000"/>
                </a:solidFill>
              </a:rPr>
              <a:t>throughput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 of Failures that Replication Can Tolerate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"</a:t>
            </a:r>
            <a:r>
              <a:rPr lang="en-US" i="1" dirty="0" smtClean="0">
                <a:solidFill>
                  <a:srgbClr val="C00000"/>
                </a:solidFill>
              </a:rPr>
              <a:t>Fail-stop</a:t>
            </a:r>
            <a:r>
              <a:rPr lang="en-US" dirty="0" smtClean="0"/>
              <a:t>" failure of a single replica.</a:t>
            </a:r>
          </a:p>
          <a:p>
            <a:pPr lvl="1"/>
            <a:r>
              <a:rPr lang="en-US" dirty="0" smtClean="0"/>
              <a:t>Fan stops working, CPU overheats and shuts itself down.</a:t>
            </a:r>
          </a:p>
          <a:p>
            <a:pPr lvl="1"/>
            <a:r>
              <a:rPr lang="en-US" dirty="0" smtClean="0"/>
              <a:t>Someone trips over replica's power cord or network cable.</a:t>
            </a:r>
          </a:p>
          <a:p>
            <a:pPr lvl="1"/>
            <a:r>
              <a:rPr lang="en-US" dirty="0" smtClean="0"/>
              <a:t>Software notices it is out of disk space and stops.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Earthquake</a:t>
            </a:r>
            <a:r>
              <a:rPr lang="en-US" dirty="0" smtClean="0"/>
              <a:t> or </a:t>
            </a:r>
            <a:r>
              <a:rPr lang="en-US" i="1" dirty="0" smtClean="0">
                <a:solidFill>
                  <a:srgbClr val="C00000"/>
                </a:solidFill>
              </a:rPr>
              <a:t>city-wide power failure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Replicas must be </a:t>
            </a:r>
            <a:r>
              <a:rPr lang="en-US" i="1" dirty="0" smtClean="0">
                <a:solidFill>
                  <a:srgbClr val="C00000"/>
                </a:solidFill>
              </a:rPr>
              <a:t>physically separated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 of Failures that Replication </a:t>
            </a:r>
            <a:r>
              <a:rPr lang="en-US" i="1" dirty="0" smtClean="0"/>
              <a:t>Cannot</a:t>
            </a:r>
            <a:r>
              <a:rPr lang="en-US" dirty="0" smtClean="0"/>
              <a:t> Tolerate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Defects in hardware.</a:t>
            </a:r>
          </a:p>
          <a:p>
            <a:pPr lvl="1"/>
            <a:r>
              <a:rPr lang="en-US" dirty="0" smtClean="0"/>
              <a:t>Disk block errors.</a:t>
            </a:r>
          </a:p>
          <a:p>
            <a:pPr lvl="2"/>
            <a:r>
              <a:rPr lang="en-US" dirty="0" smtClean="0"/>
              <a:t>Sometimes can be detected (e.g. checksums).</a:t>
            </a:r>
          </a:p>
          <a:p>
            <a:r>
              <a:rPr lang="en-US" dirty="0" smtClean="0"/>
              <a:t>Bugs in software.</a:t>
            </a:r>
          </a:p>
          <a:p>
            <a:r>
              <a:rPr lang="en-US" dirty="0" smtClean="0"/>
              <a:t>Human configuration errors.</a:t>
            </a:r>
          </a:p>
          <a:p>
            <a:r>
              <a:rPr lang="en-US" dirty="0" smtClean="0"/>
              <a:t>Network errors.</a:t>
            </a:r>
          </a:p>
          <a:p>
            <a:pPr lvl="1"/>
            <a:r>
              <a:rPr lang="en-US" dirty="0" smtClean="0"/>
              <a:t>Network partition, messages are lost, duplicated, or reordered.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Replication of What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State transfer (State replication).</a:t>
            </a:r>
          </a:p>
          <a:p>
            <a:r>
              <a:rPr lang="en-US" sz="2800" dirty="0" smtClean="0"/>
              <a:t>Replicated state machine (State machine replication).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 replica receives a request (operation).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The replica executes the operation</a:t>
            </a:r>
            <a:r>
              <a:rPr lang="en-US" sz="2800" dirty="0" smtClean="0"/>
              <a:t> (i.e. does calculation to create a result).</a:t>
            </a:r>
          </a:p>
          <a:p>
            <a:r>
              <a:rPr lang="en-US" sz="2800" dirty="0" smtClean="0"/>
              <a:t>The replica sends the result (calculated data) to other replicas.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State transfer</a:t>
            </a:r>
            <a:r>
              <a:rPr lang="en-US" sz="2800" dirty="0" smtClean="0"/>
              <a:t> is </a:t>
            </a:r>
            <a:r>
              <a:rPr lang="en-US" sz="2800" u="sng" dirty="0" smtClean="0"/>
              <a:t>simpler</a:t>
            </a:r>
            <a:r>
              <a:rPr lang="en-US" sz="2800" dirty="0" smtClean="0"/>
              <a:t>.</a:t>
            </a:r>
          </a:p>
          <a:p>
            <a:pPr lvl="1"/>
            <a:r>
              <a:rPr lang="en-US" sz="2400" dirty="0" smtClean="0"/>
              <a:t>But state may be large, slow to transfer over network.</a:t>
            </a:r>
          </a:p>
          <a:p>
            <a:pPr lvl="1"/>
            <a:endParaRPr lang="en-US" sz="1800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Transfer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User's age: 20.</a:t>
            </a:r>
          </a:p>
          <a:p>
            <a:r>
              <a:rPr lang="en-US" sz="2800" dirty="0" smtClean="0"/>
              <a:t>Only Replica 1 executes: </a:t>
            </a:r>
            <a:r>
              <a:rPr lang="en-US" sz="2800" dirty="0" err="1" smtClean="0"/>
              <a:t>UpdateAge</a:t>
            </a:r>
            <a:r>
              <a:rPr lang="en-US" sz="2800" dirty="0" smtClean="0"/>
              <a:t>(User, 30).</a:t>
            </a:r>
          </a:p>
          <a:p>
            <a:r>
              <a:rPr lang="en-US" sz="2800" dirty="0" smtClean="0"/>
              <a:t>Replica 1 ships its WAL record to Replica 2.</a:t>
            </a:r>
          </a:p>
          <a:p>
            <a:r>
              <a:rPr lang="en-US" sz="2800" dirty="0" smtClean="0"/>
              <a:t>The log record already contains the value (30).</a:t>
            </a:r>
          </a:p>
          <a:p>
            <a:r>
              <a:rPr lang="en-US" sz="2800" dirty="0" smtClean="0"/>
              <a:t>Also known as </a:t>
            </a:r>
            <a:r>
              <a:rPr lang="en-US" sz="2800" i="1" dirty="0" smtClean="0">
                <a:solidFill>
                  <a:srgbClr val="C00000"/>
                </a:solidFill>
              </a:rPr>
              <a:t>passive replication</a:t>
            </a:r>
            <a:r>
              <a:rPr lang="en-US" sz="2800" dirty="0" smtClean="0"/>
              <a:t>: </a:t>
            </a:r>
            <a:r>
              <a:rPr lang="en-US" sz="2800" b="1" dirty="0" smtClean="0"/>
              <a:t>State calculation is done on only one replica</a:t>
            </a:r>
            <a:r>
              <a:rPr lang="en-US" sz="2800" dirty="0" smtClean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Replicated State Machine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Clients send requests (</a:t>
            </a:r>
            <a:r>
              <a:rPr lang="en-US" sz="2200" i="1" dirty="0" smtClean="0">
                <a:solidFill>
                  <a:srgbClr val="C00000"/>
                </a:solidFill>
              </a:rPr>
              <a:t>operations</a:t>
            </a:r>
            <a:r>
              <a:rPr lang="en-US" sz="2200" dirty="0" smtClean="0"/>
              <a:t>) to a replica.</a:t>
            </a:r>
          </a:p>
          <a:p>
            <a:r>
              <a:rPr lang="en-US" sz="2200" dirty="0" smtClean="0"/>
              <a:t>The replica sequences and sends the </a:t>
            </a:r>
            <a:r>
              <a:rPr lang="en-US" sz="2200" i="1" dirty="0" smtClean="0">
                <a:solidFill>
                  <a:srgbClr val="C00000"/>
                </a:solidFill>
              </a:rPr>
              <a:t>operations </a:t>
            </a:r>
            <a:r>
              <a:rPr lang="en-US" sz="2200" dirty="0" smtClean="0"/>
              <a:t>to other replicas.</a:t>
            </a:r>
          </a:p>
          <a:p>
            <a:r>
              <a:rPr lang="en-US" sz="2200" b="1" dirty="0" smtClean="0"/>
              <a:t>All replicas execute all operations.</a:t>
            </a:r>
          </a:p>
          <a:p>
            <a:r>
              <a:rPr lang="en-US" sz="2200" dirty="0" smtClean="0"/>
              <a:t>If </a:t>
            </a:r>
            <a:r>
              <a:rPr lang="en-US" sz="2200" i="1" dirty="0" smtClean="0">
                <a:solidFill>
                  <a:srgbClr val="C00000"/>
                </a:solidFill>
              </a:rPr>
              <a:t>same start state</a:t>
            </a:r>
            <a:r>
              <a:rPr lang="en-US" sz="2200" dirty="0" smtClean="0"/>
              <a:t>,</a:t>
            </a:r>
          </a:p>
          <a:p>
            <a:pPr lvl="1"/>
            <a:r>
              <a:rPr lang="en-US" sz="2000" dirty="0" smtClean="0"/>
              <a:t>same operations,</a:t>
            </a:r>
          </a:p>
          <a:p>
            <a:pPr lvl="1"/>
            <a:r>
              <a:rPr lang="en-US" sz="2000" dirty="0" smtClean="0"/>
              <a:t>same order,</a:t>
            </a:r>
          </a:p>
          <a:p>
            <a:pPr lvl="1"/>
            <a:r>
              <a:rPr lang="en-US" sz="2000" dirty="0" smtClean="0"/>
              <a:t>deterministic,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then same end state</a:t>
            </a:r>
            <a:r>
              <a:rPr lang="en-US" sz="2000" dirty="0" smtClean="0"/>
              <a:t>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Replicated state machine</a:t>
            </a:r>
            <a:r>
              <a:rPr lang="en-US" sz="2200" dirty="0" smtClean="0"/>
              <a:t> often generates </a:t>
            </a:r>
            <a:r>
              <a:rPr lang="en-US" sz="2200" u="sng" dirty="0" smtClean="0"/>
              <a:t>less network traffic</a:t>
            </a:r>
            <a:r>
              <a:rPr lang="en-US" sz="2200" dirty="0" smtClean="0"/>
              <a:t>.</a:t>
            </a:r>
          </a:p>
          <a:p>
            <a:pPr lvl="1"/>
            <a:r>
              <a:rPr lang="en-US" sz="2000" dirty="0" smtClean="0"/>
              <a:t>Operations are often small compared to state.</a:t>
            </a:r>
          </a:p>
          <a:p>
            <a:pPr lvl="1"/>
            <a:r>
              <a:rPr lang="en-US" sz="2000" dirty="0" smtClean="0"/>
              <a:t>But complex to get right. Example: The update operation must be </a:t>
            </a:r>
            <a:r>
              <a:rPr lang="en-US" sz="2000" i="1" dirty="0" smtClean="0">
                <a:solidFill>
                  <a:srgbClr val="C00000"/>
                </a:solidFill>
              </a:rPr>
              <a:t>deterministic</a:t>
            </a:r>
            <a:r>
              <a:rPr lang="en-US" sz="2000" dirty="0" smtClean="0"/>
              <a:t> (i.e. no random function call).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Replicated State Machine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User's age: 20.</a:t>
            </a:r>
          </a:p>
          <a:p>
            <a:r>
              <a:rPr lang="en-US" sz="2600" dirty="0" smtClean="0"/>
              <a:t>Replica 1 executes: </a:t>
            </a:r>
            <a:r>
              <a:rPr lang="en-US" sz="2600" dirty="0" err="1" smtClean="0"/>
              <a:t>UpdateAge</a:t>
            </a:r>
            <a:r>
              <a:rPr lang="en-US" sz="2600" dirty="0" smtClean="0"/>
              <a:t>(User, 30).</a:t>
            </a:r>
          </a:p>
          <a:p>
            <a:r>
              <a:rPr lang="en-US" sz="2600" dirty="0" smtClean="0"/>
              <a:t>Replica 1 ships its WAL record to Replica 2. The log contains the command.</a:t>
            </a:r>
          </a:p>
          <a:p>
            <a:r>
              <a:rPr lang="en-US" sz="2600" dirty="0" smtClean="0"/>
              <a:t>Replica 2 executes: </a:t>
            </a:r>
            <a:r>
              <a:rPr lang="en-US" sz="2600" dirty="0" err="1" smtClean="0"/>
              <a:t>UpdateAge</a:t>
            </a:r>
            <a:r>
              <a:rPr lang="en-US" sz="2600" dirty="0" smtClean="0"/>
              <a:t>(User, 30).</a:t>
            </a:r>
          </a:p>
          <a:p>
            <a:r>
              <a:rPr lang="en-US" sz="2600" dirty="0" smtClean="0"/>
              <a:t>Also known as </a:t>
            </a:r>
            <a:r>
              <a:rPr lang="en-US" sz="2600" i="1" dirty="0" smtClean="0">
                <a:solidFill>
                  <a:srgbClr val="C00000"/>
                </a:solidFill>
              </a:rPr>
              <a:t>active replication</a:t>
            </a:r>
            <a:r>
              <a:rPr lang="en-US" sz="2600" dirty="0" smtClean="0"/>
              <a:t>: </a:t>
            </a:r>
            <a:r>
              <a:rPr lang="en-US" sz="2600" b="1" dirty="0" smtClean="0"/>
              <a:t>State calculation is done on all replicas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Also known as </a:t>
            </a:r>
            <a:r>
              <a:rPr lang="en-US" sz="2600" i="1" dirty="0" smtClean="0">
                <a:solidFill>
                  <a:srgbClr val="C00000"/>
                </a:solidFill>
              </a:rPr>
              <a:t>state machine replication</a:t>
            </a:r>
            <a:r>
              <a:rPr lang="en-US" sz="2600" dirty="0" smtClean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Replication Level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At what level do we want replicas to be identical?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Application</a:t>
            </a:r>
            <a:r>
              <a:rPr lang="en-US" sz="2400" dirty="0" smtClean="0"/>
              <a:t> level, e.g. a database's table?</a:t>
            </a:r>
          </a:p>
          <a:p>
            <a:pPr lvl="2"/>
            <a:r>
              <a:rPr lang="en-US" sz="2000" dirty="0" smtClean="0"/>
              <a:t>Can be efficient; a replica only sends data or operations to others.</a:t>
            </a:r>
          </a:p>
          <a:p>
            <a:pPr lvl="2"/>
            <a:r>
              <a:rPr lang="en-US" sz="2000" i="1" dirty="0" smtClean="0">
                <a:solidFill>
                  <a:srgbClr val="C00000"/>
                </a:solidFill>
              </a:rPr>
              <a:t>Application code (server)</a:t>
            </a:r>
            <a:r>
              <a:rPr lang="en-US" sz="2000" dirty="0" smtClean="0"/>
              <a:t> must understand fault tolerance, to e.g. forward data or operation stream.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Machine</a:t>
            </a:r>
            <a:r>
              <a:rPr lang="en-US" sz="2400" dirty="0" smtClean="0"/>
              <a:t> level, e.g. registers and RAM content?</a:t>
            </a:r>
          </a:p>
          <a:p>
            <a:pPr lvl="2"/>
            <a:r>
              <a:rPr lang="en-US" sz="2000" dirty="0" smtClean="0"/>
              <a:t>Might allow us to replicate any existing server without modification.</a:t>
            </a:r>
          </a:p>
          <a:p>
            <a:pPr lvl="2"/>
            <a:r>
              <a:rPr lang="en-US" sz="2000" dirty="0" smtClean="0"/>
              <a:t>Requires forwarding of machine events (interrupts, direct memory access (DMA))</a:t>
            </a:r>
          </a:p>
          <a:p>
            <a:pPr lvl="2"/>
            <a:r>
              <a:rPr lang="en-US" sz="2000" dirty="0" smtClean="0"/>
              <a:t>Requires </a:t>
            </a:r>
            <a:r>
              <a:rPr lang="en-US" sz="2000" i="1" dirty="0" smtClean="0">
                <a:solidFill>
                  <a:srgbClr val="C00000"/>
                </a:solidFill>
              </a:rPr>
              <a:t>OS or hardware</a:t>
            </a:r>
            <a:r>
              <a:rPr lang="en-US" sz="2000" dirty="0" smtClean="0"/>
              <a:t> modifications to send or receive event stream.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Primary-Backup Replication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designate </a:t>
            </a:r>
            <a:r>
              <a:rPr lang="en-US" sz="2400" u="sng" dirty="0" smtClean="0"/>
              <a:t>one server</a:t>
            </a:r>
            <a:r>
              <a:rPr lang="en-US" sz="2400" dirty="0" smtClean="0"/>
              <a:t> as the </a:t>
            </a:r>
            <a:r>
              <a:rPr lang="en-US" sz="2400" i="1" dirty="0" smtClean="0">
                <a:solidFill>
                  <a:srgbClr val="C00000"/>
                </a:solidFill>
              </a:rPr>
              <a:t>primary</a:t>
            </a:r>
            <a:r>
              <a:rPr lang="en-US" sz="2400" dirty="0" smtClean="0"/>
              <a:t> and all the others as </a:t>
            </a:r>
            <a:r>
              <a:rPr lang="en-US" sz="2400" i="1" dirty="0" smtClean="0">
                <a:solidFill>
                  <a:srgbClr val="C00000"/>
                </a:solidFill>
              </a:rPr>
              <a:t>backups</a:t>
            </a:r>
            <a:r>
              <a:rPr lang="en-US" sz="2400" dirty="0" smtClean="0"/>
              <a:t>.</a:t>
            </a:r>
          </a:p>
          <a:p>
            <a:r>
              <a:rPr lang="en-US" sz="2400" u="sng" dirty="0" smtClean="0"/>
              <a:t>Clients</a:t>
            </a:r>
            <a:r>
              <a:rPr lang="en-US" sz="2400" dirty="0" smtClean="0"/>
              <a:t> make requests by sending messages </a:t>
            </a:r>
            <a:r>
              <a:rPr lang="en-US" sz="2400" i="1" dirty="0" smtClean="0">
                <a:solidFill>
                  <a:srgbClr val="C00000"/>
                </a:solidFill>
              </a:rPr>
              <a:t>only to the primary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the primary fails then a </a:t>
            </a:r>
            <a:r>
              <a:rPr lang="en-US" sz="2400" b="1" i="1" dirty="0" smtClean="0">
                <a:solidFill>
                  <a:srgbClr val="C00000"/>
                </a:solidFill>
              </a:rPr>
              <a:t>failover</a:t>
            </a:r>
            <a:r>
              <a:rPr lang="en-US" sz="2400" dirty="0" smtClean="0"/>
              <a:t> occurs and one of the backups takes over.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4572000"/>
            <a:ext cx="3968605" cy="10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MySQL</a:t>
            </a:r>
            <a:r>
              <a:rPr lang="en-US" sz="2400" dirty="0" smtClean="0"/>
              <a:t> (with Master-Slave Replication)</a:t>
            </a:r>
          </a:p>
          <a:p>
            <a:r>
              <a:rPr lang="en-US" sz="2400" dirty="0" err="1" smtClean="0"/>
              <a:t>PostgreSQL</a:t>
            </a:r>
            <a:r>
              <a:rPr lang="en-US" sz="2400" dirty="0" smtClean="0"/>
              <a:t> (Streaming Replication)</a:t>
            </a:r>
          </a:p>
          <a:p>
            <a:r>
              <a:rPr lang="en-US" sz="2400" dirty="0" smtClean="0"/>
              <a:t>Microsoft SQL Server (Always On Availability Groups)</a:t>
            </a:r>
          </a:p>
          <a:p>
            <a:r>
              <a:rPr lang="en-US" sz="2400" dirty="0" err="1" smtClean="0"/>
              <a:t>MongoDB</a:t>
            </a:r>
            <a:endParaRPr lang="en-US" sz="2400" dirty="0" smtClean="0"/>
          </a:p>
          <a:p>
            <a:r>
              <a:rPr lang="en-US" sz="2400" dirty="0" err="1" smtClean="0"/>
              <a:t>Hadoop</a:t>
            </a:r>
            <a:r>
              <a:rPr lang="en-US" sz="2400" dirty="0" smtClean="0"/>
              <a:t> Distributed File System (HDFS)</a:t>
            </a:r>
          </a:p>
          <a:p>
            <a:r>
              <a:rPr lang="en-US" sz="2400" dirty="0" smtClean="0"/>
              <a:t>VMware </a:t>
            </a:r>
            <a:r>
              <a:rPr lang="en-US" sz="2400" dirty="0" err="1" smtClean="0"/>
              <a:t>vSphere</a:t>
            </a:r>
            <a:endParaRPr lang="en-US" sz="2400" dirty="0" smtClean="0"/>
          </a:p>
          <a:p>
            <a:r>
              <a:rPr lang="en-US" sz="2400" dirty="0" err="1" smtClean="0"/>
              <a:t>Etcd</a:t>
            </a:r>
            <a:endParaRPr lang="en-US" sz="2400" dirty="0" smtClean="0"/>
          </a:p>
          <a:p>
            <a:r>
              <a:rPr lang="en-US" sz="2400" dirty="0" smtClean="0"/>
              <a:t>Amazon </a:t>
            </a:r>
            <a:r>
              <a:rPr lang="en-US" sz="2400" smtClean="0"/>
              <a:t>DynamoDB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</a:t>
            </a:r>
            <a:r>
              <a:rPr lang="en-US" sz="2400" u="sng" dirty="0" smtClean="0"/>
              <a:t>require</a:t>
            </a:r>
            <a:r>
              <a:rPr lang="en-US" sz="2400" dirty="0" smtClean="0"/>
              <a:t> that </a:t>
            </a:r>
            <a:r>
              <a:rPr lang="en-US" sz="2400" i="1" dirty="0" smtClean="0">
                <a:solidFill>
                  <a:srgbClr val="C00000"/>
                </a:solidFill>
              </a:rPr>
              <a:t>to be a primary-backup protocol</a:t>
            </a:r>
            <a:r>
              <a:rPr lang="en-US" sz="2400" dirty="0" smtClean="0"/>
              <a:t>, four properties must be satisfied.</a:t>
            </a:r>
          </a:p>
          <a:p>
            <a:r>
              <a:rPr lang="en-US" sz="2400" u="sng" dirty="0" smtClean="0"/>
              <a:t>Pb1</a:t>
            </a:r>
            <a:r>
              <a:rPr lang="en-US" sz="2400" dirty="0" smtClean="0"/>
              <a:t>: There exists a local predicate </a:t>
            </a:r>
            <a:r>
              <a:rPr lang="en-US" sz="2400" dirty="0" err="1" smtClean="0">
                <a:latin typeface="Consolas" pitchFamily="49" charset="0"/>
              </a:rPr>
              <a:t>Prmy</a:t>
            </a:r>
            <a:r>
              <a:rPr lang="en-US" sz="2400" baseline="-25000" dirty="0" err="1" smtClean="0">
                <a:latin typeface="Consolas" pitchFamily="49" charset="0"/>
              </a:rPr>
              <a:t>s</a:t>
            </a:r>
            <a:r>
              <a:rPr lang="en-US" sz="2400" dirty="0" smtClean="0"/>
              <a:t> on the state of each server </a:t>
            </a:r>
            <a:r>
              <a:rPr lang="en-US" sz="2400" dirty="0" smtClean="0">
                <a:latin typeface="Consolas" pitchFamily="49" charset="0"/>
              </a:rPr>
              <a:t>s</a:t>
            </a:r>
            <a:r>
              <a:rPr lang="en-US" sz="2400" dirty="0" smtClean="0"/>
              <a:t>. At any time there is </a:t>
            </a:r>
            <a:r>
              <a:rPr lang="en-US" sz="2400" i="1" dirty="0" smtClean="0">
                <a:solidFill>
                  <a:srgbClr val="C00000"/>
                </a:solidFill>
              </a:rPr>
              <a:t>at most one server</a:t>
            </a:r>
            <a:r>
              <a:rPr lang="en-US" sz="2400" dirty="0" smtClean="0"/>
              <a:t> s whose state satisfies </a:t>
            </a:r>
            <a:r>
              <a:rPr lang="en-US" sz="2400" dirty="0" err="1" smtClean="0">
                <a:latin typeface="Consolas" pitchFamily="49" charset="0"/>
              </a:rPr>
              <a:t>Prmy</a:t>
            </a:r>
            <a:r>
              <a:rPr lang="en-US" sz="2400" baseline="-25000" dirty="0" err="1" smtClean="0">
                <a:latin typeface="Consolas" pitchFamily="49" charset="0"/>
              </a:rPr>
              <a:t>s</a:t>
            </a:r>
            <a:r>
              <a:rPr lang="en-US" sz="2400" dirty="0" smtClean="0"/>
              <a:t>. </a:t>
            </a:r>
            <a:r>
              <a:rPr lang="en-US" sz="2400" b="1" dirty="0" smtClean="0"/>
              <a:t>No more than one server</a:t>
            </a:r>
            <a:r>
              <a:rPr lang="en-US" sz="2400" dirty="0" smtClean="0"/>
              <a:t> can be the primary at any time.</a:t>
            </a:r>
          </a:p>
          <a:p>
            <a:r>
              <a:rPr lang="en-US" sz="2400" dirty="0" smtClean="0"/>
              <a:t>We can now formally define the </a:t>
            </a:r>
            <a:r>
              <a:rPr lang="en-US" sz="2400" i="1" dirty="0" smtClean="0">
                <a:solidFill>
                  <a:srgbClr val="C00000"/>
                </a:solidFill>
              </a:rPr>
              <a:t>failover time</a:t>
            </a:r>
            <a:r>
              <a:rPr lang="en-US" sz="2400" dirty="0" smtClean="0"/>
              <a:t> of a primary-backup service to be </a:t>
            </a:r>
            <a:r>
              <a:rPr lang="en-US" sz="2400" u="sng" dirty="0" smtClean="0"/>
              <a:t>the longest period of time</a:t>
            </a:r>
            <a:r>
              <a:rPr lang="en-US" sz="2400" dirty="0" smtClean="0"/>
              <a:t> during which </a:t>
            </a:r>
            <a:r>
              <a:rPr lang="en-US" sz="2400" dirty="0" err="1" smtClean="0">
                <a:latin typeface="Consolas" pitchFamily="49" charset="0"/>
              </a:rPr>
              <a:t>Prmy</a:t>
            </a:r>
            <a:r>
              <a:rPr lang="en-US" sz="2400" baseline="-25000" dirty="0" err="1" smtClean="0">
                <a:latin typeface="Consolas" pitchFamily="49" charset="0"/>
              </a:rPr>
              <a:t>s</a:t>
            </a:r>
            <a:r>
              <a:rPr lang="en-US" sz="2400" baseline="-25000" dirty="0" smtClean="0">
                <a:latin typeface="Consolas" pitchFamily="49" charset="0"/>
              </a:rPr>
              <a:t> </a:t>
            </a:r>
            <a:r>
              <a:rPr lang="en-US" sz="2400" dirty="0" smtClean="0"/>
              <a:t>is </a:t>
            </a:r>
            <a:r>
              <a:rPr lang="en-US" sz="2400" u="sng" dirty="0" smtClean="0"/>
              <a:t>not true</a:t>
            </a:r>
            <a:r>
              <a:rPr lang="en-US" sz="2400" dirty="0" smtClean="0"/>
              <a:t> for any 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u="sng" dirty="0" smtClean="0"/>
              <a:t>Pb2</a:t>
            </a:r>
            <a:r>
              <a:rPr lang="en-US" sz="2400" dirty="0" smtClean="0"/>
              <a:t>: Each client 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/>
              <a:t> maintains a </a:t>
            </a:r>
            <a:r>
              <a:rPr lang="en-US" sz="2400" i="1" dirty="0" smtClean="0">
                <a:solidFill>
                  <a:srgbClr val="C00000"/>
                </a:solidFill>
              </a:rPr>
              <a:t>server identity</a:t>
            </a:r>
            <a:r>
              <a:rPr lang="en-US" sz="2400" dirty="0" smtClean="0"/>
              <a:t> </a:t>
            </a:r>
            <a:r>
              <a:rPr lang="en-US" sz="2400" dirty="0" err="1" smtClean="0">
                <a:latin typeface="Consolas" pitchFamily="49" charset="0"/>
              </a:rPr>
              <a:t>Dest</a:t>
            </a:r>
            <a:r>
              <a:rPr lang="en-US" sz="2400" baseline="-25000" dirty="0" err="1" smtClean="0">
                <a:latin typeface="Consolas" pitchFamily="49" charset="0"/>
              </a:rPr>
              <a:t>i</a:t>
            </a:r>
            <a:r>
              <a:rPr lang="en-US" sz="2400" dirty="0" smtClean="0"/>
              <a:t> such that to make a request client </a:t>
            </a:r>
            <a:r>
              <a:rPr lang="en-US" sz="2400" dirty="0" err="1" smtClean="0">
                <a:latin typeface="Consolas" pitchFamily="49" charset="0"/>
              </a:rPr>
              <a:t>i</a:t>
            </a:r>
            <a:r>
              <a:rPr lang="en-US" sz="2400" dirty="0" smtClean="0"/>
              <a:t> sends a message to </a:t>
            </a:r>
            <a:r>
              <a:rPr lang="en-US" sz="2400" dirty="0" err="1" smtClean="0">
                <a:latin typeface="Consolas" pitchFamily="49" charset="0"/>
              </a:rPr>
              <a:t>Dest</a:t>
            </a:r>
            <a:r>
              <a:rPr lang="en-US" sz="2400" baseline="-25000" dirty="0" err="1" smtClean="0">
                <a:latin typeface="Consolas" pitchFamily="49" charset="0"/>
              </a:rPr>
              <a:t>i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Property Pb2 </a:t>
            </a:r>
            <a:r>
              <a:rPr lang="en-US" sz="2400" i="1" dirty="0" smtClean="0">
                <a:solidFill>
                  <a:srgbClr val="C00000"/>
                </a:solidFill>
              </a:rPr>
              <a:t>distinguishes</a:t>
            </a:r>
            <a:r>
              <a:rPr lang="en-US" sz="2400" dirty="0" smtClean="0"/>
              <a:t> the primary-backup approach from the state machine approach (</a:t>
            </a:r>
            <a:r>
              <a:rPr lang="en-US" sz="2400" b="1" dirty="0" smtClean="0"/>
              <a:t>?</a:t>
            </a:r>
            <a:r>
              <a:rPr lang="en-US" sz="2400" dirty="0" smtClean="0"/>
              <a:t>). In the latter, each client broadcasts its request to </a:t>
            </a:r>
            <a:r>
              <a:rPr lang="en-US" sz="2400" u="sng" dirty="0" smtClean="0"/>
              <a:t>all</a:t>
            </a:r>
            <a:r>
              <a:rPr lang="en-US" sz="2400" dirty="0" smtClean="0"/>
              <a:t> the servers (at considerable cost).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(</a:t>
            </a:r>
            <a:r>
              <a:rPr lang="en-US" sz="2400" b="1" i="1" dirty="0" smtClean="0">
                <a:solidFill>
                  <a:srgbClr val="C00000"/>
                </a:solidFill>
              </a:rPr>
              <a:t>?</a:t>
            </a:r>
            <a:r>
              <a:rPr lang="en-US" sz="2400" i="1" dirty="0" smtClean="0">
                <a:solidFill>
                  <a:srgbClr val="C00000"/>
                </a:solidFill>
              </a:rPr>
              <a:t>) State machine replication can be implemented using the primary-backup approach if a leader and quorum are selected.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u="sng" dirty="0" smtClean="0"/>
              <a:t>Pb3</a:t>
            </a:r>
            <a:r>
              <a:rPr lang="en-US" sz="2300" dirty="0" smtClean="0"/>
              <a:t>: If a client request arrives at a server that is not the current primary then that request is </a:t>
            </a:r>
            <a:r>
              <a:rPr lang="en-US" sz="2300" i="1" dirty="0" smtClean="0">
                <a:solidFill>
                  <a:srgbClr val="C00000"/>
                </a:solidFill>
              </a:rPr>
              <a:t>not </a:t>
            </a:r>
            <a:r>
              <a:rPr lang="en-US" sz="2300" i="1" dirty="0" err="1" smtClean="0">
                <a:solidFill>
                  <a:srgbClr val="C00000"/>
                </a:solidFill>
              </a:rPr>
              <a:t>enqueued</a:t>
            </a:r>
            <a:r>
              <a:rPr lang="en-US" sz="2300" dirty="0" smtClean="0"/>
              <a:t> (and therefore is </a:t>
            </a:r>
            <a:r>
              <a:rPr lang="en-US" sz="2300" i="1" dirty="0" smtClean="0">
                <a:solidFill>
                  <a:srgbClr val="C00000"/>
                </a:solidFill>
              </a:rPr>
              <a:t>not processed</a:t>
            </a:r>
            <a:r>
              <a:rPr lang="en-US" sz="2300" dirty="0" smtClean="0"/>
              <a:t>).</a:t>
            </a:r>
          </a:p>
          <a:p>
            <a:r>
              <a:rPr lang="en-US" sz="2300" dirty="0" smtClean="0"/>
              <a:t>We assume that requests sent to a server </a:t>
            </a:r>
            <a:r>
              <a:rPr lang="en-US" sz="2300" b="1" dirty="0" smtClean="0">
                <a:latin typeface="Consolas" pitchFamily="49" charset="0"/>
              </a:rPr>
              <a:t>s</a:t>
            </a:r>
            <a:r>
              <a:rPr lang="en-US" sz="2300" dirty="0" smtClean="0"/>
              <a:t> are </a:t>
            </a:r>
            <a:r>
              <a:rPr lang="en-US" sz="2300" dirty="0" err="1" smtClean="0"/>
              <a:t>enqueued</a:t>
            </a:r>
            <a:r>
              <a:rPr lang="en-US" sz="2300" dirty="0" smtClean="0"/>
              <a:t> in a </a:t>
            </a:r>
            <a:r>
              <a:rPr lang="en-US" sz="2300" i="1" dirty="0" smtClean="0">
                <a:solidFill>
                  <a:srgbClr val="C00000"/>
                </a:solidFill>
              </a:rPr>
              <a:t>message queue</a:t>
            </a:r>
            <a:r>
              <a:rPr lang="en-US" sz="2300" dirty="0" smtClean="0"/>
              <a:t> at </a:t>
            </a:r>
            <a:r>
              <a:rPr lang="en-US" sz="2300" b="1" dirty="0" smtClean="0">
                <a:latin typeface="Consolas" pitchFamily="49" charset="0"/>
              </a:rPr>
              <a:t>s</a:t>
            </a:r>
            <a:r>
              <a:rPr lang="en-US" sz="2300" dirty="0" smtClean="0"/>
              <a:t>. Requests that arrive at a backup are </a:t>
            </a:r>
            <a:r>
              <a:rPr lang="en-US" sz="2300" i="1" dirty="0" smtClean="0">
                <a:solidFill>
                  <a:srgbClr val="C00000"/>
                </a:solidFill>
              </a:rPr>
              <a:t>ignored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Pb1, Pb2, and Pb3 ensure that no more than </a:t>
            </a:r>
            <a:r>
              <a:rPr lang="en-US" sz="2300" u="sng" dirty="0" smtClean="0"/>
              <a:t>one</a:t>
            </a:r>
            <a:r>
              <a:rPr lang="en-US" sz="2300" dirty="0" smtClean="0"/>
              <a:t> server can </a:t>
            </a:r>
            <a:r>
              <a:rPr lang="en-US" sz="2300" dirty="0" err="1" smtClean="0"/>
              <a:t>enqueue</a:t>
            </a:r>
            <a:r>
              <a:rPr lang="en-US" sz="2300" dirty="0" smtClean="0"/>
              <a:t> </a:t>
            </a:r>
            <a:r>
              <a:rPr lang="en-US" sz="2300" i="1" dirty="0" smtClean="0">
                <a:solidFill>
                  <a:srgbClr val="C00000"/>
                </a:solidFill>
              </a:rPr>
              <a:t>each client request</a:t>
            </a:r>
            <a:r>
              <a:rPr lang="en-US" sz="2300" dirty="0" smtClean="0"/>
              <a:t>. Eliminating Pb2 would allow protocols in which this could be violated. In such a protocol, a client would send its request to multiple servers. And if this request were sent while the identity of the primary is changing then the request could get </a:t>
            </a:r>
            <a:r>
              <a:rPr lang="en-US" sz="2300" dirty="0" err="1" smtClean="0"/>
              <a:t>enqueued</a:t>
            </a:r>
            <a:r>
              <a:rPr lang="en-US" sz="2300" dirty="0" smtClean="0"/>
              <a:t> at more than one server.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Define a </a:t>
            </a:r>
            <a:r>
              <a:rPr lang="en-US" sz="1800" b="1" i="1" dirty="0" smtClean="0">
                <a:solidFill>
                  <a:srgbClr val="C00000"/>
                </a:solidFill>
              </a:rPr>
              <a:t>server outage</a:t>
            </a:r>
            <a:r>
              <a:rPr lang="en-US" sz="1800" dirty="0" smtClean="0"/>
              <a:t> to occur at time t in this service if some correct client sends a request at time t to the service but does not receive a response.</a:t>
            </a:r>
          </a:p>
          <a:p>
            <a:r>
              <a:rPr lang="en-US" sz="1800" dirty="0" smtClean="0"/>
              <a:t>The above server is called a </a:t>
            </a:r>
            <a:r>
              <a:rPr lang="en-US" sz="1800" i="1" dirty="0" smtClean="0">
                <a:solidFill>
                  <a:srgbClr val="C00000"/>
                </a:solidFill>
              </a:rPr>
              <a:t>(k, △)-</a:t>
            </a:r>
            <a:r>
              <a:rPr lang="en-US" sz="1800" i="1" dirty="0" err="1" smtClean="0">
                <a:solidFill>
                  <a:srgbClr val="C00000"/>
                </a:solidFill>
              </a:rPr>
              <a:t>bofo</a:t>
            </a:r>
            <a:r>
              <a:rPr lang="en-US" sz="1800" i="1" dirty="0" smtClean="0">
                <a:solidFill>
                  <a:srgbClr val="C00000"/>
                </a:solidFill>
              </a:rPr>
              <a:t> server</a:t>
            </a:r>
            <a:r>
              <a:rPr lang="en-US" sz="1800" dirty="0" smtClean="0"/>
              <a:t> (</a:t>
            </a:r>
            <a:r>
              <a:rPr lang="en-US" sz="1800" b="1" dirty="0" smtClean="0"/>
              <a:t>bounded outages</a:t>
            </a:r>
            <a:r>
              <a:rPr lang="en-US" sz="1800" dirty="0" smtClean="0"/>
              <a:t>, finitely often) if all server outages can be grouped into </a:t>
            </a:r>
            <a:r>
              <a:rPr lang="en-US" sz="1800" u="sng" dirty="0" smtClean="0"/>
              <a:t>at most</a:t>
            </a:r>
            <a:r>
              <a:rPr lang="en-US" sz="1800" dirty="0" smtClean="0"/>
              <a:t> k intervals of time, with each interval having length </a:t>
            </a:r>
            <a:r>
              <a:rPr lang="en-US" sz="1800" u="sng" dirty="0" smtClean="0"/>
              <a:t>at most</a:t>
            </a:r>
            <a:r>
              <a:rPr lang="en-US" sz="1800" dirty="0" smtClean="0"/>
              <a:t> △.</a:t>
            </a:r>
          </a:p>
          <a:p>
            <a:r>
              <a:rPr lang="en-US" sz="1800" dirty="0" smtClean="0"/>
              <a:t>For example the computation shown in Figure below shows two server outages at times t</a:t>
            </a:r>
            <a:r>
              <a:rPr lang="en-US" sz="1800" baseline="-25000" dirty="0" smtClean="0"/>
              <a:t>1</a:t>
            </a:r>
            <a:r>
              <a:rPr lang="en-US" sz="1800" dirty="0" smtClean="0"/>
              <a:t> and t</a:t>
            </a:r>
            <a:r>
              <a:rPr lang="en-US" sz="1800" baseline="-25000" dirty="0" smtClean="0"/>
              <a:t>2</a:t>
            </a:r>
            <a:r>
              <a:rPr lang="en-US" sz="1800" dirty="0" smtClean="0"/>
              <a:t> respectively.</a:t>
            </a:r>
          </a:p>
          <a:p>
            <a:r>
              <a:rPr lang="en-US" sz="1800" dirty="0" smtClean="0"/>
              <a:t>If the length of this outage period is F and if this is the only such period, then the server is (k, △)-</a:t>
            </a:r>
            <a:r>
              <a:rPr lang="en-US" sz="1800" dirty="0" err="1" smtClean="0"/>
              <a:t>bofo</a:t>
            </a:r>
            <a:r>
              <a:rPr lang="en-US" sz="1800" dirty="0" smtClean="0"/>
              <a:t>. Thus, even though some requests made to a (k, △)-</a:t>
            </a:r>
            <a:r>
              <a:rPr lang="en-US" sz="1800" dirty="0" err="1" smtClean="0"/>
              <a:t>bofo</a:t>
            </a:r>
            <a:r>
              <a:rPr lang="en-US" sz="1800" dirty="0" smtClean="0"/>
              <a:t> server can be lost, the number of such requests is </a:t>
            </a:r>
            <a:r>
              <a:rPr lang="en-US" sz="1800" i="1" dirty="0" smtClean="0">
                <a:solidFill>
                  <a:srgbClr val="C00000"/>
                </a:solidFill>
              </a:rPr>
              <a:t>bounded</a:t>
            </a:r>
            <a:r>
              <a:rPr lang="en-US" sz="1800" dirty="0" smtClean="0"/>
              <a:t>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6825" y="4724400"/>
            <a:ext cx="4070350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(V)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u="sng" dirty="0" smtClean="0"/>
              <a:t>Pb4</a:t>
            </a:r>
            <a:r>
              <a:rPr lang="en-US" sz="2400" dirty="0" smtClean="0"/>
              <a:t>: There </a:t>
            </a:r>
            <a:r>
              <a:rPr lang="en-US" sz="2400" i="1" dirty="0" smtClean="0">
                <a:solidFill>
                  <a:srgbClr val="C00000"/>
                </a:solidFill>
              </a:rPr>
              <a:t>exist</a:t>
            </a:r>
            <a:r>
              <a:rPr lang="en-US" sz="2400" dirty="0" smtClean="0"/>
              <a:t> fixed values k and △ such that the service behaves like a single (k, △)-</a:t>
            </a:r>
            <a:r>
              <a:rPr lang="en-US" sz="2400" dirty="0" err="1" smtClean="0"/>
              <a:t>bofo</a:t>
            </a:r>
            <a:r>
              <a:rPr lang="en-US" sz="2400" dirty="0" smtClean="0"/>
              <a:t> server.</a:t>
            </a:r>
          </a:p>
          <a:p>
            <a:r>
              <a:rPr lang="en-US" sz="2400" dirty="0" smtClean="0"/>
              <a:t>Pb4 implies that primary-backup protocols can be used only to implement services that tolerate a </a:t>
            </a:r>
            <a:r>
              <a:rPr lang="en-US" sz="2400" b="1" dirty="0" smtClean="0">
                <a:solidFill>
                  <a:srgbClr val="C00000"/>
                </a:solidFill>
              </a:rPr>
              <a:t>bounded number of failures over their lifetime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practice, we can implement a service that tolerates an unbounded number of failures by partitioning its operation into periods. Only a bounded number of failures occur in each period, and repaired servers are reintegrated at period boundaries. Pb4 need only hold throughout each period. We do not discuss reintegration.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A Simple Primary-Backup Protocol (I)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 example of a primary-backup protocol that </a:t>
            </a:r>
            <a:r>
              <a:rPr lang="en-US" sz="2400" i="1" dirty="0" smtClean="0">
                <a:solidFill>
                  <a:srgbClr val="C00000"/>
                </a:solidFill>
              </a:rPr>
              <a:t>tolerates</a:t>
            </a:r>
            <a:r>
              <a:rPr lang="en-US" sz="2400" dirty="0" smtClean="0"/>
              <a:t> the </a:t>
            </a:r>
            <a:r>
              <a:rPr lang="en-US" sz="2400" u="sng" dirty="0" smtClean="0"/>
              <a:t>crash of a single server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An example of </a:t>
            </a:r>
            <a:r>
              <a:rPr lang="en-US" sz="2400" i="1" dirty="0" smtClean="0">
                <a:solidFill>
                  <a:srgbClr val="C00000"/>
                </a:solidFill>
              </a:rPr>
              <a:t>asynchronous replication</a:t>
            </a:r>
            <a:r>
              <a:rPr lang="en-US" sz="2400" dirty="0" smtClean="0"/>
              <a:t>.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Important note: Define system model first before solving the distributed problem.</a:t>
            </a:r>
          </a:p>
          <a:p>
            <a:r>
              <a:rPr lang="en-US" sz="2400" b="1" dirty="0" smtClean="0"/>
              <a:t>Assume that all communication is over point-to-point </a:t>
            </a:r>
            <a:r>
              <a:rPr lang="en-US" sz="2400" b="1" i="1" dirty="0" smtClean="0">
                <a:solidFill>
                  <a:srgbClr val="C00000"/>
                </a:solidFill>
              </a:rPr>
              <a:t>non-faulty links</a:t>
            </a:r>
            <a:r>
              <a:rPr lang="en-US" sz="2400" b="1" dirty="0" smtClean="0"/>
              <a:t> and that each link has an </a:t>
            </a:r>
            <a:r>
              <a:rPr lang="en-US" sz="2400" b="1" i="1" dirty="0" smtClean="0">
                <a:solidFill>
                  <a:srgbClr val="C00000"/>
                </a:solidFill>
              </a:rPr>
              <a:t>upper bound</a:t>
            </a:r>
            <a:r>
              <a:rPr lang="en-US" sz="2400" b="1" dirty="0" smtClean="0"/>
              <a:t> </a:t>
            </a:r>
            <a:r>
              <a:rPr lang="el-GR" sz="2400" b="1" dirty="0" smtClean="0"/>
              <a:t>δ</a:t>
            </a:r>
            <a:r>
              <a:rPr lang="en-US" sz="2400" b="1" dirty="0" smtClean="0"/>
              <a:t> on </a:t>
            </a:r>
            <a:r>
              <a:rPr lang="en-US" sz="2400" b="1" u="sng" dirty="0" smtClean="0"/>
              <a:t>message delivery time</a:t>
            </a:r>
            <a:r>
              <a:rPr lang="en-US" sz="2400" b="1" dirty="0" smtClean="0"/>
              <a:t>.</a:t>
            </a:r>
          </a:p>
          <a:p>
            <a:r>
              <a:rPr lang="en-US" sz="2400" dirty="0" smtClean="0"/>
              <a:t>There exists a primary server 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and a backup server p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 connected by a communications link.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 Simple Primary-Backup Protocol (II)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client c initially sends a request to 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(indicated by the arrow labeled 1 in the figure).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7213" y="2895600"/>
            <a:ext cx="54895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 Simple Primary-Backup Protocol (III)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Whenever 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receives a request, it</a:t>
            </a:r>
          </a:p>
          <a:p>
            <a:pPr lvl="1"/>
            <a:r>
              <a:rPr lang="en-US" sz="2000" dirty="0" smtClean="0"/>
              <a:t>Processes the request and updates its state accordingly.</a:t>
            </a:r>
          </a:p>
          <a:p>
            <a:pPr lvl="1"/>
            <a:r>
              <a:rPr lang="en-US" sz="2000" dirty="0" smtClean="0"/>
              <a:t>Sends information about the update to p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(message 2 in the figure). We call such a message a </a:t>
            </a:r>
            <a:r>
              <a:rPr lang="en-US" sz="2000" i="1" dirty="0" smtClean="0">
                <a:solidFill>
                  <a:srgbClr val="C00000"/>
                </a:solidFill>
              </a:rPr>
              <a:t>state update</a:t>
            </a:r>
            <a:r>
              <a:rPr lang="en-US" sz="2000" dirty="0" smtClean="0"/>
              <a:t> message.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Without</a:t>
            </a:r>
            <a:r>
              <a:rPr lang="en-US" sz="2000" dirty="0" smtClean="0"/>
              <a:t> waiting for an acknowledgement from p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sends a response to the client (message 3 in the figure).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7213" y="3933825"/>
            <a:ext cx="54895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 Simple Primary-Backup Protocol (IV)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order in which messages 2 and 3 are sent is important because it guarantees that, </a:t>
            </a:r>
            <a:r>
              <a:rPr lang="en-US" sz="2200" b="1" i="1" dirty="0" smtClean="0">
                <a:solidFill>
                  <a:srgbClr val="C00000"/>
                </a:solidFill>
              </a:rPr>
              <a:t>given our assumption about failures (i.e. the system model)</a:t>
            </a:r>
            <a:r>
              <a:rPr lang="en-US" sz="2200" dirty="0" smtClean="0"/>
              <a:t>, if the client receives a response, then either p</a:t>
            </a:r>
            <a:r>
              <a:rPr lang="en-US" sz="2200" baseline="-25000" dirty="0" smtClean="0"/>
              <a:t>2</a:t>
            </a:r>
            <a:r>
              <a:rPr lang="en-US" sz="2200" dirty="0" smtClean="0"/>
              <a:t> will </a:t>
            </a:r>
            <a:r>
              <a:rPr lang="en-US" sz="2200" u="sng" dirty="0" smtClean="0"/>
              <a:t>eventually receive</a:t>
            </a:r>
            <a:r>
              <a:rPr lang="en-US" sz="2200" dirty="0" smtClean="0"/>
              <a:t> the state update message or p</a:t>
            </a:r>
            <a:r>
              <a:rPr lang="en-US" sz="2200" baseline="-25000" dirty="0" smtClean="0"/>
              <a:t>2</a:t>
            </a:r>
            <a:r>
              <a:rPr lang="en-US" sz="2200" dirty="0" smtClean="0"/>
              <a:t> will </a:t>
            </a:r>
            <a:r>
              <a:rPr lang="en-US" sz="2200" u="sng" dirty="0" smtClean="0"/>
              <a:t>crash</a:t>
            </a:r>
            <a:r>
              <a:rPr lang="en-US" sz="2200" dirty="0" smtClean="0"/>
              <a:t>.</a:t>
            </a:r>
          </a:p>
          <a:p>
            <a:r>
              <a:rPr lang="en-US" sz="2200" b="1" dirty="0" smtClean="0"/>
              <a:t>The system model</a:t>
            </a:r>
            <a:r>
              <a:rPr lang="en-US" sz="2200" dirty="0" smtClean="0"/>
              <a:t>: fail-stop and reliable links model.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7213" y="3781425"/>
            <a:ext cx="54895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A Simple Primary-Backup Protocol (V)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In addition, p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sends </a:t>
            </a:r>
            <a:r>
              <a:rPr lang="en-US" sz="2000" i="1" dirty="0" smtClean="0">
                <a:solidFill>
                  <a:srgbClr val="C00000"/>
                </a:solidFill>
              </a:rPr>
              <a:t>dummy messages</a:t>
            </a:r>
            <a:r>
              <a:rPr lang="en-US" sz="2000" dirty="0" smtClean="0"/>
              <a:t> to p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every </a:t>
            </a:r>
            <a:r>
              <a:rPr lang="el-GR" sz="2000" dirty="0" smtClean="0"/>
              <a:t>τ</a:t>
            </a:r>
            <a:r>
              <a:rPr lang="en-US" sz="2000" dirty="0" smtClean="0"/>
              <a:t> seconds (shown by the dashed arrows in the figure).</a:t>
            </a:r>
          </a:p>
          <a:p>
            <a:r>
              <a:rPr lang="en-US" sz="2000" dirty="0" smtClean="0"/>
              <a:t>If p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does not receive such a message for </a:t>
            </a:r>
            <a:r>
              <a:rPr lang="el-GR" sz="2000" dirty="0" smtClean="0"/>
              <a:t>τ</a:t>
            </a:r>
            <a:r>
              <a:rPr lang="en-US" sz="2000" dirty="0" smtClean="0"/>
              <a:t> + </a:t>
            </a:r>
            <a:r>
              <a:rPr lang="el-GR" sz="2000" dirty="0" smtClean="0"/>
              <a:t>δ</a:t>
            </a:r>
            <a:r>
              <a:rPr lang="en-US" sz="2000" dirty="0" smtClean="0"/>
              <a:t> seconds, then p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C00000"/>
                </a:solidFill>
              </a:rPr>
              <a:t>becomes the primary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Once p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has become the primary, it informs the clients (message 4 in the figure) and begins processing subsequent requests from the clients.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7213" y="3857625"/>
            <a:ext cx="548957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1: Data Loss?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Client submits a request to the primary, who replicates it to the backup </a:t>
            </a:r>
            <a:r>
              <a:rPr lang="en-US" sz="2200" i="1" dirty="0" smtClean="0">
                <a:solidFill>
                  <a:srgbClr val="C00000"/>
                </a:solidFill>
              </a:rPr>
              <a:t>after</a:t>
            </a:r>
            <a:r>
              <a:rPr lang="en-US" sz="2200" dirty="0" smtClean="0"/>
              <a:t> responding to the client.</a:t>
            </a:r>
          </a:p>
          <a:p>
            <a:r>
              <a:rPr lang="en-US" sz="2200" dirty="0" smtClean="0"/>
              <a:t>The primary and backup execute exactly the same sequence of requests in </a:t>
            </a:r>
            <a:r>
              <a:rPr lang="en-US" sz="2200" i="1" dirty="0" smtClean="0">
                <a:solidFill>
                  <a:srgbClr val="C00000"/>
                </a:solidFill>
              </a:rPr>
              <a:t>the same order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What happens if the primary crashes </a:t>
            </a:r>
            <a:r>
              <a:rPr lang="en-US" sz="2200" i="1" dirty="0" smtClean="0">
                <a:solidFill>
                  <a:srgbClr val="C00000"/>
                </a:solidFill>
              </a:rPr>
              <a:t>right after</a:t>
            </a:r>
            <a:r>
              <a:rPr lang="en-US" sz="2200" dirty="0" smtClean="0"/>
              <a:t> sending a response to the client? </a:t>
            </a:r>
            <a:r>
              <a:rPr lang="en-US" sz="2400" b="1" dirty="0" smtClean="0"/>
              <a:t>The backup is </a:t>
            </a:r>
            <a:r>
              <a:rPr lang="en-US" sz="2400" b="1" i="1" dirty="0" smtClean="0">
                <a:solidFill>
                  <a:srgbClr val="C00000"/>
                </a:solidFill>
              </a:rPr>
              <a:t>one</a:t>
            </a:r>
            <a:r>
              <a:rPr lang="en-US" sz="2400" b="1" dirty="0" smtClean="0"/>
              <a:t> request </a:t>
            </a:r>
            <a:r>
              <a:rPr lang="en-US" sz="2400" b="1" u="sng" dirty="0" smtClean="0"/>
              <a:t>behind</a:t>
            </a:r>
            <a:r>
              <a:rPr lang="en-US" sz="2400" b="1" dirty="0" smtClean="0"/>
              <a:t> the primary</a:t>
            </a:r>
            <a:r>
              <a:rPr lang="en-US" sz="2400" b="1" dirty="0" smtClean="0">
                <a:sym typeface="Wingdings" pitchFamily="2" charset="2"/>
              </a:rPr>
              <a:t>.</a:t>
            </a:r>
            <a:endParaRPr lang="en-US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25" y="4343400"/>
            <a:ext cx="7143750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Alsberg</a:t>
            </a:r>
            <a:r>
              <a:rPr lang="en-US" dirty="0" smtClean="0"/>
              <a:t> and Day Protocol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smtClean="0"/>
              <a:t>An example of </a:t>
            </a:r>
            <a:r>
              <a:rPr lang="en-US" sz="2200" b="1" i="1" dirty="0" smtClean="0">
                <a:solidFill>
                  <a:srgbClr val="C00000"/>
                </a:solidFill>
              </a:rPr>
              <a:t>synchronous replication</a:t>
            </a:r>
            <a:r>
              <a:rPr lang="en-US" sz="2200" b="1" dirty="0" smtClean="0"/>
              <a:t>.</a:t>
            </a:r>
          </a:p>
          <a:p>
            <a:r>
              <a:rPr lang="en-US" sz="2200" dirty="0" smtClean="0"/>
              <a:t>A </a:t>
            </a:r>
            <a:r>
              <a:rPr lang="en-US" sz="2200" u="sng" dirty="0" smtClean="0"/>
              <a:t>client</a:t>
            </a:r>
            <a:r>
              <a:rPr lang="en-US" sz="2200" dirty="0" smtClean="0"/>
              <a:t> sends a request to the service and then </a:t>
            </a:r>
            <a:r>
              <a:rPr lang="en-US" sz="2200" i="1" dirty="0" smtClean="0">
                <a:solidFill>
                  <a:srgbClr val="C00000"/>
                </a:solidFill>
              </a:rPr>
              <a:t>blocks</a:t>
            </a:r>
            <a:r>
              <a:rPr lang="en-US" sz="2200" dirty="0" smtClean="0"/>
              <a:t> waiting for either a response from the service or a timeout.</a:t>
            </a:r>
          </a:p>
          <a:p>
            <a:r>
              <a:rPr lang="en-US" sz="2200" dirty="0" smtClean="0"/>
              <a:t>If the request arrives at the primary, then the </a:t>
            </a:r>
            <a:r>
              <a:rPr lang="en-US" sz="2200" u="sng" dirty="0" smtClean="0"/>
              <a:t>primary</a:t>
            </a:r>
            <a:r>
              <a:rPr lang="en-US" sz="2200" dirty="0" smtClean="0"/>
              <a:t> performs the requested update, sends a state update message to the backup, and </a:t>
            </a:r>
            <a:r>
              <a:rPr lang="en-US" sz="2200" i="1" dirty="0" smtClean="0">
                <a:solidFill>
                  <a:srgbClr val="C00000"/>
                </a:solidFill>
              </a:rPr>
              <a:t>blocks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</a:t>
            </a:r>
            <a:r>
              <a:rPr lang="en-US" sz="2200" u="sng" dirty="0" smtClean="0"/>
              <a:t>backup</a:t>
            </a:r>
            <a:r>
              <a:rPr lang="en-US" sz="2200" dirty="0" smtClean="0"/>
              <a:t>, upon receiving the state update message, updates its state, </a:t>
            </a:r>
            <a:r>
              <a:rPr lang="en-US" sz="2200" i="1" dirty="0" smtClean="0">
                <a:solidFill>
                  <a:srgbClr val="C00000"/>
                </a:solidFill>
              </a:rPr>
              <a:t>sends the response to the client (- how? The backup should send the response to the </a:t>
            </a:r>
            <a:r>
              <a:rPr lang="en-US" sz="2200" i="1" dirty="0" smtClean="0">
                <a:solidFill>
                  <a:srgbClr val="C00000"/>
                </a:solidFill>
              </a:rPr>
              <a:t>primary, not to the client!)</a:t>
            </a:r>
            <a:r>
              <a:rPr lang="en-US" sz="2200" dirty="0" smtClean="0"/>
              <a:t>, </a:t>
            </a:r>
            <a:r>
              <a:rPr lang="en-US" sz="2200" dirty="0" smtClean="0"/>
              <a:t>and finally sends an acknowledgement to the primary saying that it performed the update.</a:t>
            </a:r>
          </a:p>
          <a:p>
            <a:r>
              <a:rPr lang="en-US" sz="2200" dirty="0" smtClean="0"/>
              <a:t>On receiving the acknowledgement, a primary can unblock and process the next pending request.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Alsberg</a:t>
            </a:r>
            <a:r>
              <a:rPr lang="en-US" dirty="0" smtClean="0"/>
              <a:t> and Day Protocol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Failures are detected by </a:t>
            </a:r>
            <a:r>
              <a:rPr lang="en-US" sz="2400" i="1" dirty="0" smtClean="0">
                <a:solidFill>
                  <a:srgbClr val="C00000"/>
                </a:solidFill>
              </a:rPr>
              <a:t>lost acknowledgement messages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addition, failures are also detected by sending periodic "Are you alive" messages.</a:t>
            </a:r>
          </a:p>
          <a:p>
            <a:r>
              <a:rPr lang="en-US" sz="2400" dirty="0" smtClean="0"/>
              <a:t>In case the primary fails, the backup takes over as the new primary.</a:t>
            </a:r>
          </a:p>
          <a:p>
            <a:r>
              <a:rPr lang="en-US" sz="2400" dirty="0" smtClean="0"/>
              <a:t>And, when a primary has no backup (either because the backup crashed or the backup becomes the primary), the primary uses </a:t>
            </a:r>
            <a:r>
              <a:rPr lang="en-US" sz="2400" i="1" dirty="0" smtClean="0">
                <a:solidFill>
                  <a:srgbClr val="C00000"/>
                </a:solidFill>
              </a:rPr>
              <a:t>another protocol</a:t>
            </a:r>
            <a:r>
              <a:rPr lang="en-US" sz="2400" dirty="0" smtClean="0"/>
              <a:t> to recruit another server to become the backup.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2: Data Consistency?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Client submits a request to the primary, who replicates it to the backup </a:t>
            </a:r>
            <a:r>
              <a:rPr lang="en-US" sz="2000" i="1" dirty="0" smtClean="0">
                <a:solidFill>
                  <a:srgbClr val="C00000"/>
                </a:solidFill>
              </a:rPr>
              <a:t>before</a:t>
            </a:r>
            <a:r>
              <a:rPr lang="en-US" sz="2000" dirty="0" smtClean="0"/>
              <a:t> responding to the client.</a:t>
            </a:r>
          </a:p>
          <a:p>
            <a:r>
              <a:rPr lang="en-US" sz="2000" dirty="0" smtClean="0"/>
              <a:t>The primary and backup must execute exactly the same sequence of requests in </a:t>
            </a:r>
            <a:r>
              <a:rPr lang="en-US" sz="2000" i="1" dirty="0" smtClean="0">
                <a:solidFill>
                  <a:srgbClr val="C00000"/>
                </a:solidFill>
              </a:rPr>
              <a:t>the same order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What happens if the primary crashes </a:t>
            </a:r>
            <a:r>
              <a:rPr lang="en-US" sz="2000" i="1" dirty="0" smtClean="0">
                <a:solidFill>
                  <a:srgbClr val="C00000"/>
                </a:solidFill>
              </a:rPr>
              <a:t>right before</a:t>
            </a:r>
            <a:r>
              <a:rPr lang="en-US" sz="2000" dirty="0" smtClean="0"/>
              <a:t> sending a response to the client? </a:t>
            </a:r>
            <a:r>
              <a:rPr lang="en-US" sz="2400" b="1" dirty="0" smtClean="0"/>
              <a:t>The backup is </a:t>
            </a:r>
            <a:r>
              <a:rPr lang="en-US" sz="2400" b="1" i="1" dirty="0" smtClean="0">
                <a:solidFill>
                  <a:srgbClr val="C00000"/>
                </a:solidFill>
              </a:rPr>
              <a:t>one</a:t>
            </a:r>
            <a:r>
              <a:rPr lang="en-US" sz="2400" b="1" dirty="0" smtClean="0"/>
              <a:t> request </a:t>
            </a:r>
            <a:r>
              <a:rPr lang="en-US" sz="2400" b="1" u="sng" dirty="0" smtClean="0"/>
              <a:t>ahead</a:t>
            </a:r>
            <a:r>
              <a:rPr lang="en-US" sz="2400" b="1" dirty="0" smtClean="0"/>
              <a:t> of the primary</a:t>
            </a:r>
            <a:r>
              <a:rPr lang="en-US" sz="2400" b="1" dirty="0" smtClean="0">
                <a:sym typeface="Wingdings" pitchFamily="2" charset="2"/>
              </a:rPr>
              <a:t>.</a:t>
            </a:r>
            <a:endParaRPr lang="en-US" sz="2400" b="1" dirty="0" smtClean="0"/>
          </a:p>
        </p:txBody>
      </p:sp>
      <p:sp>
        <p:nvSpPr>
          <p:cNvPr id="2055" name="AutoShape 7" descr="https://www.researchgate.net/profile/Pascal-Felber/publication/33948388/figure/fig6/AS:667607011176455@1536181323289/Primary-Backup-Replication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4038600"/>
            <a:ext cx="61722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4" name="Straight Arrow Connector 143"/>
          <p:cNvCxnSpPr/>
          <p:nvPr/>
        </p:nvCxnSpPr>
        <p:spPr>
          <a:xfrm>
            <a:off x="5867400" y="4486275"/>
            <a:ext cx="381000" cy="533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5486400" y="4181475"/>
            <a:ext cx="685800" cy="5334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Question 3: Detect the Primary Status?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91200" cy="4525963"/>
          </a:xfrm>
        </p:spPr>
        <p:txBody>
          <a:bodyPr/>
          <a:lstStyle/>
          <a:p>
            <a:r>
              <a:rPr lang="en-US" sz="2400" dirty="0" smtClean="0"/>
              <a:t>How can the primary's status be detected?</a:t>
            </a:r>
          </a:p>
          <a:p>
            <a:r>
              <a:rPr lang="en-US" sz="2400" dirty="0" smtClean="0"/>
              <a:t>Through ping timeouts.</a:t>
            </a:r>
          </a:p>
          <a:p>
            <a:r>
              <a:rPr lang="en-US" sz="2400" dirty="0" smtClean="0"/>
              <a:t>Should the primary ping the backups, or should the backups ping the primary?</a:t>
            </a:r>
          </a:p>
          <a:p>
            <a:r>
              <a:rPr lang="en-US" sz="2400" dirty="0" smtClean="0"/>
              <a:t>How to implement a simple failure detector </a:t>
            </a:r>
            <a:r>
              <a:rPr lang="en-US" sz="2400" b="1" dirty="0" smtClean="0">
                <a:solidFill>
                  <a:srgbClr val="C00000"/>
                </a:solidFill>
              </a:rPr>
              <a:t>technically</a:t>
            </a:r>
            <a:r>
              <a:rPr lang="en-US" sz="2400" dirty="0" smtClean="0"/>
              <a:t>?</a:t>
            </a:r>
          </a:p>
        </p:txBody>
      </p:sp>
      <p:pic>
        <p:nvPicPr>
          <p:cNvPr id="4" name="Picture 2" descr="https://www.percona.com/blog/wp-content/uploads/2018/05/replicaset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2133600"/>
            <a:ext cx="1479550" cy="2673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4: Elect a New Primary?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How to elect a new primary server?</a:t>
            </a:r>
          </a:p>
        </p:txBody>
      </p:sp>
      <p:pic>
        <p:nvPicPr>
          <p:cNvPr id="37890" name="Picture 2" descr="https://www.percona.com/blog/wp-content/uploads/2018/05/replicaset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2667000"/>
            <a:ext cx="1479550" cy="2673350"/>
          </a:xfrm>
          <a:prstGeom prst="rect">
            <a:avLst/>
          </a:prstGeom>
          <a:noFill/>
        </p:spPr>
      </p:pic>
      <p:sp>
        <p:nvSpPr>
          <p:cNvPr id="6" name="Explosion 2 5"/>
          <p:cNvSpPr/>
          <p:nvPr/>
        </p:nvSpPr>
        <p:spPr>
          <a:xfrm>
            <a:off x="2514600" y="3352800"/>
            <a:ext cx="1371600" cy="1447800"/>
          </a:xfrm>
          <a:prstGeom prst="irregularSeal2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P</a:t>
            </a:r>
            <a:r>
              <a:rPr lang="en-US" baseline="-25000" dirty="0" smtClean="0"/>
              <a:t>5</a:t>
            </a:r>
            <a:r>
              <a:rPr lang="en-US" dirty="0" smtClean="0"/>
              <a:t> dies.</a:t>
            </a:r>
          </a:p>
          <a:p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 detects P</a:t>
            </a:r>
            <a:r>
              <a:rPr lang="en-US" baseline="-25000" dirty="0" smtClean="0"/>
              <a:t>5</a:t>
            </a:r>
            <a:r>
              <a:rPr lang="en-US" dirty="0" smtClean="0"/>
              <a:t> is not responding.</a:t>
            </a:r>
            <a:endParaRPr lang="en-US" dirty="0"/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5413" y="3321050"/>
            <a:ext cx="6353175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en-US" baseline="-25000" dirty="0" smtClean="0"/>
              <a:t>2</a:t>
            </a:r>
            <a:r>
              <a:rPr lang="en-US" dirty="0" smtClean="0"/>
              <a:t> starts an election.</a:t>
            </a:r>
          </a:p>
          <a:p>
            <a:r>
              <a:rPr lang="en-US" dirty="0" smtClean="0"/>
              <a:t>Contacts all higher-numbered systems.</a:t>
            </a:r>
            <a:endParaRPr lang="en-US" dirty="0"/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8438" y="3248025"/>
            <a:ext cx="620712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en-US" baseline="-25000" dirty="0" smtClean="0"/>
              <a:t>3</a:t>
            </a:r>
            <a:r>
              <a:rPr lang="en-US" dirty="0" smtClean="0"/>
              <a:t> receives the message from P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  <a:endParaRPr lang="en-US" baseline="-25000" dirty="0" smtClean="0"/>
          </a:p>
          <a:p>
            <a:pPr lvl="1"/>
            <a:r>
              <a:rPr lang="en-US" dirty="0" smtClean="0"/>
              <a:t>Responds to P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  <a:endParaRPr lang="en-US" baseline="-25000" dirty="0" smtClean="0"/>
          </a:p>
          <a:p>
            <a:pPr lvl="1"/>
            <a:r>
              <a:rPr lang="en-US" dirty="0" smtClean="0"/>
              <a:t>Sends ELECTION messages to P</a:t>
            </a:r>
            <a:r>
              <a:rPr lang="en-US" baseline="-25000" dirty="0" smtClean="0"/>
              <a:t>4</a:t>
            </a:r>
            <a:r>
              <a:rPr lang="en-US" dirty="0" smtClean="0"/>
              <a:t> and P</a:t>
            </a:r>
            <a:r>
              <a:rPr lang="en-US" baseline="-25000" dirty="0" smtClean="0"/>
              <a:t>5</a:t>
            </a:r>
            <a:r>
              <a:rPr lang="en-US" dirty="0" smtClean="0"/>
              <a:t>.</a:t>
            </a:r>
            <a:endParaRPr lang="en-US" baseline="-25000" dirty="0"/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0813" y="3556000"/>
            <a:ext cx="6302375" cy="17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en-US" baseline="-25000" dirty="0" smtClean="0"/>
              <a:t>4</a:t>
            </a:r>
            <a:r>
              <a:rPr lang="en-US" dirty="0" smtClean="0"/>
              <a:t> receives the message from P</a:t>
            </a:r>
            <a:r>
              <a:rPr lang="en-US" baseline="-25000" dirty="0" smtClean="0"/>
              <a:t>3</a:t>
            </a:r>
            <a:r>
              <a:rPr lang="en-US" dirty="0" smtClean="0"/>
              <a:t> and P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  <a:endParaRPr lang="en-US" baseline="-25000" dirty="0" smtClean="0"/>
          </a:p>
          <a:p>
            <a:r>
              <a:rPr lang="en-US" dirty="0" smtClean="0"/>
              <a:t>P</a:t>
            </a:r>
            <a:r>
              <a:rPr lang="en-US" sz="2000" dirty="0" smtClean="0"/>
              <a:t>4 </a:t>
            </a:r>
            <a:r>
              <a:rPr lang="en-US" dirty="0" smtClean="0"/>
              <a:t>responds to P</a:t>
            </a:r>
            <a:r>
              <a:rPr lang="en-US" sz="2000" dirty="0" smtClean="0"/>
              <a:t>3 </a:t>
            </a:r>
            <a:r>
              <a:rPr lang="en-US" dirty="0" smtClean="0"/>
              <a:t>and P</a:t>
            </a:r>
            <a:r>
              <a:rPr lang="en-US" sz="2000" dirty="0" smtClean="0"/>
              <a:t>2</a:t>
            </a:r>
            <a:r>
              <a:rPr lang="en-US" dirty="0" smtClean="0"/>
              <a:t>'s messages.</a:t>
            </a:r>
          </a:p>
          <a:p>
            <a:r>
              <a:rPr lang="en-US" dirty="0" smtClean="0"/>
              <a:t>… and holds an election</a:t>
            </a:r>
            <a:endParaRPr lang="en-US" baseline="-25000" dirty="0"/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7638" y="3708400"/>
            <a:ext cx="6308725" cy="162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Nobody responds to P</a:t>
            </a:r>
            <a:r>
              <a:rPr lang="en-US" b="1" baseline="-25000" dirty="0" smtClean="0"/>
              <a:t>4</a:t>
            </a:r>
            <a:r>
              <a:rPr lang="en-US" b="1" dirty="0" smtClean="0"/>
              <a:t>.</a:t>
            </a:r>
            <a:endParaRPr lang="en-US" b="1" baseline="-25000" dirty="0" smtClean="0"/>
          </a:p>
          <a:p>
            <a:r>
              <a:rPr lang="en-US" dirty="0" smtClean="0"/>
              <a:t>After a timeout, P</a:t>
            </a:r>
            <a:r>
              <a:rPr lang="en-US" baseline="-25000" dirty="0" smtClean="0"/>
              <a:t>4</a:t>
            </a:r>
            <a:r>
              <a:rPr lang="en-US" dirty="0" smtClean="0"/>
              <a:t> declares itself the leader.</a:t>
            </a:r>
            <a:endParaRPr lang="en-US" baseline="-25000" dirty="0"/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2225" y="3632200"/>
            <a:ext cx="6559550" cy="154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https://github.com/Abdulsametileri/leader-election-bully-algorithm</a:t>
            </a:r>
            <a:endParaRPr lang="en-US" sz="22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(I)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Consider N processes {P</a:t>
            </a:r>
            <a:r>
              <a:rPr lang="en-US" sz="2200" baseline="-25000" dirty="0" smtClean="0"/>
              <a:t>0</a:t>
            </a:r>
            <a:r>
              <a:rPr lang="en-US" sz="2200" dirty="0" smtClean="0"/>
              <a:t>, . . . , P</a:t>
            </a:r>
            <a:r>
              <a:rPr lang="en-US" sz="2200" baseline="-25000" dirty="0" smtClean="0"/>
              <a:t>N−1</a:t>
            </a:r>
            <a:r>
              <a:rPr lang="en-US" sz="2200" dirty="0" smtClean="0"/>
              <a:t>} and let id(</a:t>
            </a:r>
            <a:r>
              <a:rPr lang="en-US" sz="2200" dirty="0" err="1" smtClean="0"/>
              <a:t>P</a:t>
            </a:r>
            <a:r>
              <a:rPr lang="en-US" sz="2200" baseline="-25000" dirty="0" err="1" smtClean="0"/>
              <a:t>k</a:t>
            </a:r>
            <a:r>
              <a:rPr lang="en-US" sz="2200" dirty="0" smtClean="0"/>
              <a:t>) = k. When any process notices that the coordinator is no longer responding to requests, it initiates an election.</a:t>
            </a:r>
          </a:p>
          <a:p>
            <a:r>
              <a:rPr lang="en-US" sz="2200" dirty="0" smtClean="0"/>
              <a:t>A process, </a:t>
            </a:r>
            <a:r>
              <a:rPr lang="en-US" sz="2200" dirty="0" err="1" smtClean="0"/>
              <a:t>Pk</a:t>
            </a:r>
            <a:r>
              <a:rPr lang="en-US" sz="2200" dirty="0" smtClean="0"/>
              <a:t>, holds an election as follows:</a:t>
            </a:r>
          </a:p>
          <a:p>
            <a:pPr lvl="1"/>
            <a:r>
              <a:rPr lang="en-US" sz="2000" dirty="0" err="1" smtClean="0"/>
              <a:t>Pk</a:t>
            </a:r>
            <a:r>
              <a:rPr lang="en-US" sz="2000" dirty="0" smtClean="0"/>
              <a:t> sends an </a:t>
            </a:r>
            <a:r>
              <a:rPr lang="en-US" sz="2000" i="1" dirty="0" smtClean="0">
                <a:solidFill>
                  <a:srgbClr val="C00000"/>
                </a:solidFill>
              </a:rPr>
              <a:t>ELECTION message</a:t>
            </a:r>
            <a:r>
              <a:rPr lang="en-US" sz="2000" dirty="0" smtClean="0"/>
              <a:t> to all processes with higher identifiers: P</a:t>
            </a:r>
            <a:r>
              <a:rPr lang="en-US" sz="2000" baseline="-25000" dirty="0" smtClean="0"/>
              <a:t>k+1</a:t>
            </a:r>
            <a:r>
              <a:rPr lang="en-US" sz="2000" dirty="0" smtClean="0"/>
              <a:t>, P</a:t>
            </a:r>
            <a:r>
              <a:rPr lang="en-US" sz="2000" baseline="-25000" dirty="0" smtClean="0"/>
              <a:t>k+2</a:t>
            </a:r>
            <a:r>
              <a:rPr lang="en-US" sz="2000" dirty="0" smtClean="0"/>
              <a:t>, . . . , P</a:t>
            </a:r>
            <a:r>
              <a:rPr lang="en-US" sz="2000" baseline="-25000" dirty="0" smtClean="0"/>
              <a:t>N−1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If no one responds, </a:t>
            </a:r>
            <a:r>
              <a:rPr lang="en-US" sz="2000" dirty="0" err="1" smtClean="0"/>
              <a:t>P</a:t>
            </a:r>
            <a:r>
              <a:rPr lang="en-US" sz="2000" baseline="-25000" dirty="0" err="1" smtClean="0"/>
              <a:t>k</a:t>
            </a:r>
            <a:r>
              <a:rPr lang="en-US" sz="2000" dirty="0" smtClean="0"/>
              <a:t> wins the election and becomes coordinator.</a:t>
            </a:r>
          </a:p>
          <a:p>
            <a:pPr lvl="1"/>
            <a:r>
              <a:rPr lang="en-US" sz="2000" dirty="0" smtClean="0"/>
              <a:t>If one of the higher-ups answers, it takes over and </a:t>
            </a:r>
            <a:r>
              <a:rPr lang="en-US" sz="2000" dirty="0" err="1" smtClean="0"/>
              <a:t>P</a:t>
            </a:r>
            <a:r>
              <a:rPr lang="en-US" sz="2000" baseline="-25000" dirty="0" err="1" smtClean="0"/>
              <a:t>k</a:t>
            </a:r>
            <a:r>
              <a:rPr lang="en-US" sz="2000" dirty="0" err="1" smtClean="0"/>
              <a:t>'s</a:t>
            </a:r>
            <a:r>
              <a:rPr lang="en-US" sz="2000" dirty="0" smtClean="0"/>
              <a:t> job is done.</a:t>
            </a:r>
          </a:p>
          <a:p>
            <a:r>
              <a:rPr lang="en-US" sz="2200" dirty="0" smtClean="0"/>
              <a:t>At any moment, a process can get an ELECTION message from one of its lower-numbered colleagues. When such a message arrives, the receiver sends an </a:t>
            </a:r>
            <a:r>
              <a:rPr lang="en-US" sz="2200" i="1" dirty="0" smtClean="0">
                <a:solidFill>
                  <a:srgbClr val="C00000"/>
                </a:solidFill>
              </a:rPr>
              <a:t>OK message</a:t>
            </a:r>
            <a:r>
              <a:rPr lang="en-US" sz="2200" dirty="0" smtClean="0"/>
              <a:t> back to the sender to indicate that it is alive and will take over. The receiver then </a:t>
            </a:r>
            <a:r>
              <a:rPr lang="en-US" sz="2200" i="1" dirty="0" smtClean="0">
                <a:solidFill>
                  <a:srgbClr val="C00000"/>
                </a:solidFill>
              </a:rPr>
              <a:t>holds an election</a:t>
            </a:r>
            <a:r>
              <a:rPr lang="en-US" sz="2200" dirty="0" smtClean="0"/>
              <a:t>, unless it is already holding one.</a:t>
            </a:r>
          </a:p>
        </p:txBody>
      </p:sp>
      <p:sp>
        <p:nvSpPr>
          <p:cNvPr id="47106" name="AutoShape 2" descr="https://miro.medium.com/v2/resize:fit:1400/format:webp/1*RC97nP4OuDqYjhgnRWsM5A.png"/>
          <p:cNvSpPr>
            <a:spLocks noChangeAspect="1" noChangeArrowheads="1"/>
          </p:cNvSpPr>
          <p:nvPr/>
        </p:nvSpPr>
        <p:spPr bwMode="auto">
          <a:xfrm>
            <a:off x="155575" y="-2590800"/>
            <a:ext cx="87534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" name="AutoShape 4" descr="https://miro.medium.com/v2/resize:fit:1400/format:webp/1*RC97nP4OuDqYjhgnRWsM5A.png"/>
          <p:cNvSpPr>
            <a:spLocks noChangeAspect="1" noChangeArrowheads="1"/>
          </p:cNvSpPr>
          <p:nvPr/>
        </p:nvSpPr>
        <p:spPr bwMode="auto">
          <a:xfrm>
            <a:off x="155575" y="-2590800"/>
            <a:ext cx="87534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Eventually, all processes give up but one, and that one is the new coordinator.</a:t>
            </a:r>
          </a:p>
          <a:p>
            <a:r>
              <a:rPr lang="en-US" sz="2400" dirty="0" smtClean="0"/>
              <a:t>It announces its victory by sending all processes a </a:t>
            </a:r>
            <a:r>
              <a:rPr lang="en-US" sz="2400" i="1" dirty="0" smtClean="0">
                <a:solidFill>
                  <a:srgbClr val="C00000"/>
                </a:solidFill>
              </a:rPr>
              <a:t>COORDINATOR message</a:t>
            </a:r>
            <a:r>
              <a:rPr lang="en-US" sz="2400" dirty="0" smtClean="0"/>
              <a:t> telling them that starting immediately it is the new coordinator.</a:t>
            </a:r>
          </a:p>
          <a:p>
            <a:r>
              <a:rPr lang="en-US" sz="2400" dirty="0" smtClean="0"/>
              <a:t>If a process that was </a:t>
            </a:r>
            <a:r>
              <a:rPr lang="en-US" sz="2400" i="1" dirty="0" smtClean="0">
                <a:solidFill>
                  <a:srgbClr val="C00000"/>
                </a:solidFill>
              </a:rPr>
              <a:t>previously down</a:t>
            </a:r>
            <a:r>
              <a:rPr lang="en-US" sz="2400" dirty="0" smtClean="0"/>
              <a:t> comes back up, it holds an election. If it happens to be the highest-numbered process currently running, it will win the election and take over the coordinator's job. Thus the biggest guy in town always wins, hence the name "bully algorithm."</a:t>
            </a:r>
            <a:endParaRPr lang="en-US" sz="2200" dirty="0" smtClean="0"/>
          </a:p>
        </p:txBody>
      </p:sp>
      <p:sp>
        <p:nvSpPr>
          <p:cNvPr id="47106" name="AutoShape 2" descr="https://miro.medium.com/v2/resize:fit:1400/format:webp/1*RC97nP4OuDqYjhgnRWsM5A.png"/>
          <p:cNvSpPr>
            <a:spLocks noChangeAspect="1" noChangeArrowheads="1"/>
          </p:cNvSpPr>
          <p:nvPr/>
        </p:nvSpPr>
        <p:spPr bwMode="auto">
          <a:xfrm>
            <a:off x="155575" y="-2590800"/>
            <a:ext cx="87534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108" name="AutoShape 4" descr="https://miro.medium.com/v2/resize:fit:1400/format:webp/1*RC97nP4OuDqYjhgnRWsM5A.png"/>
          <p:cNvSpPr>
            <a:spLocks noChangeAspect="1" noChangeArrowheads="1"/>
          </p:cNvSpPr>
          <p:nvPr/>
        </p:nvSpPr>
        <p:spPr bwMode="auto">
          <a:xfrm>
            <a:off x="155575" y="-2590800"/>
            <a:ext cx="875347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2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(a) Process 4 holds an election.</a:t>
            </a:r>
          </a:p>
          <a:p>
            <a:r>
              <a:rPr lang="en-US" sz="2400" dirty="0" smtClean="0"/>
              <a:t>(b) Processes 5 and 6 respond, </a:t>
            </a:r>
            <a:r>
              <a:rPr lang="en-US" sz="2400" b="1" dirty="0" smtClean="0"/>
              <a:t>telling 4 to stop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(c) Now 5 and 6 each hold an election.</a:t>
            </a:r>
            <a:endParaRPr lang="en-US" sz="2400" dirty="0"/>
          </a:p>
        </p:txBody>
      </p:sp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8" y="3279775"/>
            <a:ext cx="6677025" cy="258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Bully Algorithm Example 2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(d) Process 6 tells 5 to </a:t>
            </a:r>
            <a:r>
              <a:rPr lang="en-US" sz="2400" b="1" dirty="0" smtClean="0"/>
              <a:t>stop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(e) Process 6 wins and </a:t>
            </a:r>
            <a:r>
              <a:rPr lang="en-US" sz="2400" b="1" dirty="0" smtClean="0"/>
              <a:t>tells everyone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0125" y="3219450"/>
            <a:ext cx="460375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Assume P1 discovers that the leader, P5, is dead.</a:t>
            </a:r>
          </a:p>
          <a:p>
            <a:r>
              <a:rPr lang="en-US" sz="2400" dirty="0" smtClean="0"/>
              <a:t>P1 starts an election.</a:t>
            </a:r>
            <a:endParaRPr lang="en-US" sz="2400" dirty="0"/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0325" y="2800350"/>
            <a:ext cx="394335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(II)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550" y="1860550"/>
            <a:ext cx="4152900" cy="313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(III)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500" y="1906588"/>
            <a:ext cx="4953000" cy="304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Ring Algorithm Example (IV)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8825" y="1857375"/>
            <a:ext cx="508635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(V)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81213" y="1887538"/>
            <a:ext cx="4981575" cy="308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(VI)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47838" y="1876425"/>
            <a:ext cx="564832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Ring Algorithm Example (VII)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receives the election message that it initiated.</a:t>
            </a:r>
          </a:p>
          <a:p>
            <a:r>
              <a:rPr lang="en-US" sz="2400" dirty="0" smtClean="0"/>
              <a:t>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now picks a leader (i.e., </a:t>
            </a:r>
            <a:r>
              <a:rPr lang="en-US" sz="2400" i="1" dirty="0" smtClean="0">
                <a:solidFill>
                  <a:srgbClr val="C00000"/>
                </a:solidFill>
              </a:rPr>
              <a:t>highest ID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124200"/>
            <a:ext cx="5186680" cy="301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(VIII)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 announces that P</a:t>
            </a:r>
            <a:r>
              <a:rPr lang="en-US" sz="2400" baseline="-25000" dirty="0" smtClean="0"/>
              <a:t>4</a:t>
            </a:r>
            <a:r>
              <a:rPr lang="en-US" sz="2400" dirty="0" smtClean="0"/>
              <a:t> is the new leader to the group.</a:t>
            </a:r>
            <a:endParaRPr lang="en-US" sz="2400" dirty="0"/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675" y="3019425"/>
            <a:ext cx="3168650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</a:t>
            </a:r>
            <a:r>
              <a:rPr lang="en-US" sz="2400" i="1" dirty="0" smtClean="0">
                <a:solidFill>
                  <a:srgbClr val="C00000"/>
                </a:solidFill>
              </a:rPr>
              <a:t>assume</a:t>
            </a:r>
            <a:r>
              <a:rPr lang="en-US" sz="2400" dirty="0" smtClean="0"/>
              <a:t> that the </a:t>
            </a:r>
            <a:r>
              <a:rPr lang="en-US" sz="2400" u="sng" dirty="0" smtClean="0"/>
              <a:t>processes</a:t>
            </a:r>
            <a:r>
              <a:rPr lang="en-US" sz="2400" dirty="0" smtClean="0"/>
              <a:t> are physically or logically </a:t>
            </a:r>
            <a:r>
              <a:rPr lang="en-US" sz="2400" u="sng" dirty="0" smtClean="0"/>
              <a:t>ordered</a:t>
            </a:r>
            <a:r>
              <a:rPr lang="en-US" sz="2400" dirty="0" smtClean="0"/>
              <a:t>, so that each process knows who its successor is.</a:t>
            </a:r>
          </a:p>
          <a:p>
            <a:r>
              <a:rPr lang="en-US" sz="2400" dirty="0" smtClean="0"/>
              <a:t>When any process notices that the coordinator is not functioning, it builds an </a:t>
            </a:r>
            <a:r>
              <a:rPr lang="en-US" sz="2400" i="1" dirty="0" smtClean="0">
                <a:solidFill>
                  <a:srgbClr val="C00000"/>
                </a:solidFill>
              </a:rPr>
              <a:t>ELECTION message</a:t>
            </a:r>
            <a:r>
              <a:rPr lang="en-US" sz="2400" dirty="0" smtClean="0"/>
              <a:t> containing its own process number and sends the message to its successor.</a:t>
            </a:r>
          </a:p>
          <a:p>
            <a:r>
              <a:rPr lang="en-US" sz="2400" dirty="0" smtClean="0"/>
              <a:t>If the successor is down, the sender </a:t>
            </a:r>
            <a:r>
              <a:rPr lang="en-US" sz="2400" i="1" dirty="0" smtClean="0">
                <a:solidFill>
                  <a:srgbClr val="C00000"/>
                </a:solidFill>
              </a:rPr>
              <a:t>skips over</a:t>
            </a:r>
            <a:r>
              <a:rPr lang="en-US" sz="2400" dirty="0" smtClean="0"/>
              <a:t> the successor and goes to the next member along the ring, or the one after that, until a running process is located.</a:t>
            </a:r>
          </a:p>
          <a:p>
            <a:r>
              <a:rPr lang="en-US" sz="2400" dirty="0" smtClean="0"/>
              <a:t>At each step along the way, the sender adds its own process number to the list in the message effectively </a:t>
            </a:r>
            <a:r>
              <a:rPr lang="en-US" sz="2400" i="1" dirty="0" smtClean="0">
                <a:solidFill>
                  <a:srgbClr val="C00000"/>
                </a:solidFill>
              </a:rPr>
              <a:t>making itself a candidate</a:t>
            </a:r>
            <a:r>
              <a:rPr lang="en-US" sz="2400" dirty="0" smtClean="0"/>
              <a:t> to be elected as coordinator.</a:t>
            </a:r>
            <a:endParaRPr 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Eventually, the message gets back to the process that started it all.</a:t>
            </a:r>
          </a:p>
          <a:p>
            <a:r>
              <a:rPr lang="en-US" sz="2400" dirty="0" smtClean="0"/>
              <a:t>That process recognizes this event when it receives an incoming message containing its own process number.</a:t>
            </a:r>
          </a:p>
          <a:p>
            <a:r>
              <a:rPr lang="en-US" sz="2400" dirty="0" smtClean="0"/>
              <a:t>At that point, the message type is changed to </a:t>
            </a:r>
            <a:r>
              <a:rPr lang="en-US" sz="2400" i="1" dirty="0" smtClean="0">
                <a:solidFill>
                  <a:srgbClr val="C00000"/>
                </a:solidFill>
              </a:rPr>
              <a:t>COORDINATOR</a:t>
            </a:r>
            <a:r>
              <a:rPr lang="en-US" sz="2400" i="1" dirty="0" smtClean="0"/>
              <a:t> </a:t>
            </a:r>
            <a:r>
              <a:rPr lang="en-US" sz="2400" dirty="0" smtClean="0"/>
              <a:t>and circulated once again, this time to inform everyone else who the coordinator is (the list member with the </a:t>
            </a:r>
            <a:r>
              <a:rPr lang="en-US" sz="2400" u="sng" dirty="0" smtClean="0"/>
              <a:t>highest number</a:t>
            </a:r>
            <a:r>
              <a:rPr lang="en-US" sz="2400" dirty="0" smtClean="0"/>
              <a:t>) and who the members of the new ring are.</a:t>
            </a:r>
          </a:p>
          <a:p>
            <a:r>
              <a:rPr lang="en-US" sz="2400" dirty="0" smtClean="0"/>
              <a:t>When this message has circulated once, it is removed and everyone goes back to work.</a:t>
            </a:r>
            <a:endParaRPr lang="en-US" sz="2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Ring Algorithm 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solid line shows the election messages initiated by P6</a:t>
            </a:r>
          </a:p>
          <a:p>
            <a:r>
              <a:rPr lang="en-US" sz="2400" dirty="0" smtClean="0"/>
              <a:t>The dashed one, the messages by P3.</a:t>
            </a:r>
          </a:p>
        </p:txBody>
      </p:sp>
      <p:pic>
        <p:nvPicPr>
          <p:cNvPr id="6" name="object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3048000"/>
            <a:ext cx="7123334" cy="299333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Partitions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Leads to multiple groups, each with a leader &amp; diverging data among them.</a:t>
            </a:r>
            <a:endParaRPr lang="en-US" sz="2400" dirty="0"/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6875" y="3187700"/>
            <a:ext cx="581025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Test-and-Set Server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dirty="0" err="1" smtClean="0"/>
              <a:t>ZooKeeper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" name="Picture 2" descr="https://www.junyi.dev/posts/paxos-review-3/view-servic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768480"/>
            <a:ext cx="7579750" cy="23369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Test-and-Set Server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test-and-set server maintains a </a:t>
            </a:r>
            <a:r>
              <a:rPr lang="en-US" sz="2000" b="1" dirty="0" smtClean="0"/>
              <a:t>flag</a:t>
            </a:r>
            <a:r>
              <a:rPr lang="en-US" sz="2000" dirty="0" smtClean="0"/>
              <a:t> that is </a:t>
            </a:r>
            <a:r>
              <a:rPr lang="en-US" sz="2000" b="1" dirty="0" smtClean="0"/>
              <a:t>initially set to</a:t>
            </a:r>
            <a:r>
              <a:rPr lang="en-US" sz="2000" dirty="0" smtClean="0"/>
              <a:t> </a:t>
            </a:r>
            <a:r>
              <a:rPr lang="en-US" sz="2000" b="1" dirty="0" smtClean="0">
                <a:latin typeface="Consolas" pitchFamily="49" charset="0"/>
              </a:rPr>
              <a:t>false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If the primary or backup thinks the other server is dead, and thus that it should take over by itself, it first sends a </a:t>
            </a:r>
            <a:r>
              <a:rPr lang="en-US" sz="2000" b="1" dirty="0" smtClean="0"/>
              <a:t>test-and-set operation</a:t>
            </a:r>
            <a:r>
              <a:rPr lang="en-US" sz="2000" dirty="0" smtClean="0"/>
              <a:t> to the server. The server executes roughly this code:</a:t>
            </a:r>
          </a:p>
          <a:p>
            <a:r>
              <a:rPr lang="en-US" sz="2000" dirty="0" smtClean="0"/>
              <a:t>The primary (or backup) </a:t>
            </a:r>
          </a:p>
          <a:p>
            <a:pPr>
              <a:buNone/>
            </a:pPr>
            <a:r>
              <a:rPr lang="en-US" sz="2000" dirty="0" smtClean="0"/>
              <a:t>	only takes over ("goes live") </a:t>
            </a:r>
          </a:p>
          <a:p>
            <a:pPr>
              <a:buNone/>
            </a:pPr>
            <a:r>
              <a:rPr lang="en-US" sz="2000" dirty="0" smtClean="0"/>
              <a:t>	if </a:t>
            </a:r>
            <a:r>
              <a:rPr lang="en-US" sz="2000" b="1" dirty="0" smtClean="0">
                <a:latin typeface="Consolas" pitchFamily="49" charset="0"/>
              </a:rPr>
              <a:t>test-and-set</a:t>
            </a:r>
            <a:r>
              <a:rPr lang="en-US" sz="2000" dirty="0" smtClean="0"/>
              <a:t> returns </a:t>
            </a:r>
            <a:r>
              <a:rPr lang="en-US" sz="2000" b="1" dirty="0" smtClean="0">
                <a:latin typeface="Consolas" pitchFamily="49" charset="0"/>
              </a:rPr>
              <a:t>true</a:t>
            </a:r>
            <a:r>
              <a:rPr lang="en-US" sz="2000" dirty="0" smtClean="0"/>
              <a:t>.</a:t>
            </a:r>
          </a:p>
          <a:p>
            <a:r>
              <a:rPr lang="en-US" sz="2000" b="1" dirty="0" smtClean="0">
                <a:latin typeface="Consolas" pitchFamily="49" charset="0"/>
              </a:rPr>
              <a:t>test-and-set</a:t>
            </a:r>
            <a:r>
              <a:rPr lang="en-US" sz="2000" dirty="0" smtClean="0"/>
              <a:t> returns </a:t>
            </a:r>
            <a:r>
              <a:rPr lang="en-US" sz="2000" b="1" dirty="0" smtClean="0">
                <a:latin typeface="Consolas" pitchFamily="49" charset="0"/>
              </a:rPr>
              <a:t>true</a:t>
            </a:r>
            <a:r>
              <a:rPr lang="en-US" sz="2000" dirty="0" smtClean="0"/>
              <a:t> </a:t>
            </a:r>
          </a:p>
          <a:p>
            <a:pPr>
              <a:buNone/>
            </a:pPr>
            <a:r>
              <a:rPr lang="en-US" sz="2000" dirty="0" smtClean="0"/>
              <a:t>	only to the </a:t>
            </a:r>
            <a:r>
              <a:rPr lang="en-US" sz="2000" b="1" dirty="0" smtClean="0"/>
              <a:t>first call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test-and-set server periodically</a:t>
            </a:r>
          </a:p>
          <a:p>
            <a:pPr>
              <a:buNone/>
            </a:pPr>
            <a:r>
              <a:rPr lang="en-US" sz="2000" dirty="0" smtClean="0"/>
              <a:t>	checks the primary status and resets</a:t>
            </a:r>
            <a:br>
              <a:rPr lang="en-US" sz="2000" dirty="0" smtClean="0"/>
            </a:br>
            <a:r>
              <a:rPr lang="en-US" sz="2000" dirty="0" smtClean="0"/>
              <a:t>the flag to </a:t>
            </a:r>
            <a:r>
              <a:rPr lang="en-US" sz="2000" b="1" dirty="0" smtClean="0">
                <a:latin typeface="Consolas" pitchFamily="49" charset="0"/>
              </a:rPr>
              <a:t>false</a:t>
            </a:r>
            <a:r>
              <a:rPr lang="en-US" sz="2000" dirty="0" smtClean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3352800"/>
            <a:ext cx="39624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latin typeface="Consolas" pitchFamily="49" charset="0"/>
              </a:rPr>
              <a:t>test-and-set() { </a:t>
            </a:r>
          </a:p>
          <a:p>
            <a:r>
              <a:rPr lang="en-US" dirty="0" smtClean="0">
                <a:latin typeface="Consolas" pitchFamily="49" charset="0"/>
              </a:rPr>
              <a:t>	</a:t>
            </a:r>
            <a:r>
              <a:rPr lang="en-US" dirty="0" err="1" smtClean="0">
                <a:latin typeface="Consolas" pitchFamily="49" charset="0"/>
              </a:rPr>
              <a:t>acquire_lock</a:t>
            </a:r>
            <a:r>
              <a:rPr lang="en-US" dirty="0" smtClean="0">
                <a:latin typeface="Consolas" pitchFamily="49" charset="0"/>
              </a:rPr>
              <a:t>() </a:t>
            </a:r>
          </a:p>
          <a:p>
            <a:r>
              <a:rPr lang="en-US" dirty="0" smtClean="0">
                <a:latin typeface="Consolas" pitchFamily="49" charset="0"/>
              </a:rPr>
              <a:t>	if flag == true: </a:t>
            </a:r>
          </a:p>
          <a:p>
            <a:r>
              <a:rPr lang="en-US" dirty="0" smtClean="0">
                <a:latin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</a:rPr>
              <a:t>release_lock</a:t>
            </a:r>
            <a:r>
              <a:rPr lang="en-US" dirty="0" smtClean="0">
                <a:latin typeface="Consolas" pitchFamily="49" charset="0"/>
              </a:rPr>
              <a:t>()</a:t>
            </a:r>
          </a:p>
          <a:p>
            <a:r>
              <a:rPr lang="en-US" dirty="0" smtClean="0">
                <a:latin typeface="Consolas" pitchFamily="49" charset="0"/>
              </a:rPr>
              <a:t>		return </a:t>
            </a:r>
            <a:r>
              <a:rPr lang="en-US" b="1" dirty="0" smtClean="0">
                <a:latin typeface="Consolas" pitchFamily="49" charset="0"/>
              </a:rPr>
              <a:t>false</a:t>
            </a:r>
            <a:r>
              <a:rPr lang="en-US" dirty="0" smtClean="0">
                <a:latin typeface="Consolas" pitchFamily="49" charset="0"/>
              </a:rPr>
              <a:t> </a:t>
            </a:r>
          </a:p>
          <a:p>
            <a:r>
              <a:rPr lang="en-US" dirty="0" smtClean="0">
                <a:latin typeface="Consolas" pitchFamily="49" charset="0"/>
              </a:rPr>
              <a:t>	else: </a:t>
            </a:r>
          </a:p>
          <a:p>
            <a:r>
              <a:rPr lang="en-US" dirty="0" smtClean="0">
                <a:latin typeface="Consolas" pitchFamily="49" charset="0"/>
              </a:rPr>
              <a:t>		flag = true </a:t>
            </a:r>
          </a:p>
          <a:p>
            <a:r>
              <a:rPr lang="en-US" dirty="0" smtClean="0">
                <a:latin typeface="Consolas" pitchFamily="49" charset="0"/>
              </a:rPr>
              <a:t>		</a:t>
            </a:r>
            <a:r>
              <a:rPr lang="en-US" dirty="0" err="1" smtClean="0">
                <a:latin typeface="Consolas" pitchFamily="49" charset="0"/>
              </a:rPr>
              <a:t>release_lock</a:t>
            </a:r>
            <a:r>
              <a:rPr lang="en-US" dirty="0" smtClean="0">
                <a:latin typeface="Consolas" pitchFamily="49" charset="0"/>
              </a:rPr>
              <a:t>() </a:t>
            </a:r>
          </a:p>
          <a:p>
            <a:r>
              <a:rPr lang="en-US" dirty="0" smtClean="0">
                <a:latin typeface="Consolas" pitchFamily="49" charset="0"/>
              </a:rPr>
              <a:t>		return </a:t>
            </a:r>
            <a:r>
              <a:rPr lang="en-US" b="1" dirty="0" smtClean="0">
                <a:latin typeface="Consolas" pitchFamily="49" charset="0"/>
              </a:rPr>
              <a:t>true</a:t>
            </a:r>
          </a:p>
          <a:p>
            <a:r>
              <a:rPr lang="en-US" dirty="0" smtClean="0">
                <a:latin typeface="Consolas" pitchFamily="49" charset="0"/>
              </a:rPr>
              <a:t>}</a:t>
            </a:r>
            <a:endParaRPr lang="en-US" dirty="0">
              <a:latin typeface="Consolas" pitchFamily="49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715000" y="2895600"/>
            <a:ext cx="2286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5: Retry?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Our assumptions so far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Fail-stop failure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Reliable network (links)</a:t>
            </a:r>
            <a:r>
              <a:rPr lang="en-US" sz="2000" dirty="0" smtClean="0"/>
              <a:t>.</a:t>
            </a:r>
          </a:p>
          <a:p>
            <a:r>
              <a:rPr lang="en-US" sz="2400" dirty="0" smtClean="0"/>
              <a:t>We would like to relax our assumptions.</a:t>
            </a:r>
          </a:p>
          <a:p>
            <a:pPr lvl="1"/>
            <a:r>
              <a:rPr lang="en-US" sz="2000" b="1" dirty="0" smtClean="0">
                <a:solidFill>
                  <a:srgbClr val="C00000"/>
                </a:solidFill>
              </a:rPr>
              <a:t>Fair-loss links. Messages may be lost.</a:t>
            </a:r>
          </a:p>
          <a:p>
            <a:r>
              <a:rPr lang="en-US" sz="2400" dirty="0" smtClean="0"/>
              <a:t>What happens if message to the primary is lost?</a:t>
            </a:r>
          </a:p>
          <a:p>
            <a:r>
              <a:rPr lang="en-US" sz="2400" dirty="0" smtClean="0"/>
              <a:t>What happens if message to a backup is lost?</a:t>
            </a:r>
          </a:p>
          <a:p>
            <a:r>
              <a:rPr lang="en-US" sz="2400" dirty="0" smtClean="0"/>
              <a:t>Should we retry?</a:t>
            </a:r>
          </a:p>
          <a:p>
            <a:r>
              <a:rPr lang="en-US" sz="2400" dirty="0" smtClean="0"/>
              <a:t>How many times?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Retry Behaviors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25963"/>
          </a:xfrm>
        </p:spPr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At-most-once</a:t>
            </a:r>
            <a:r>
              <a:rPr lang="en-US" sz="2600" dirty="0" smtClean="0"/>
              <a:t> semantics:</a:t>
            </a:r>
          </a:p>
          <a:p>
            <a:pPr lvl="1"/>
            <a:r>
              <a:rPr lang="en-US" sz="2200" dirty="0" smtClean="0"/>
              <a:t>Send request, don't retry, update may not happen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At-least-once</a:t>
            </a:r>
            <a:r>
              <a:rPr lang="en-US" sz="2600" dirty="0" smtClean="0"/>
              <a:t> semantics:</a:t>
            </a:r>
          </a:p>
          <a:p>
            <a:pPr lvl="1"/>
            <a:r>
              <a:rPr lang="en-US" sz="2200" dirty="0" smtClean="0"/>
              <a:t>Retry sending request until acknowledged, may repeat update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Exactly-once</a:t>
            </a:r>
            <a:r>
              <a:rPr lang="en-US" sz="2600" dirty="0" smtClean="0"/>
              <a:t> semantics:</a:t>
            </a:r>
          </a:p>
          <a:p>
            <a:pPr lvl="1"/>
            <a:r>
              <a:rPr lang="en-US" sz="2200" dirty="0" smtClean="0"/>
              <a:t>Retry, </a:t>
            </a:r>
            <a:r>
              <a:rPr lang="en-US" sz="2400" dirty="0" err="1" smtClean="0"/>
              <a:t>idempotency</a:t>
            </a:r>
            <a:r>
              <a:rPr lang="en-US" sz="2400" dirty="0" smtClean="0"/>
              <a:t> key/</a:t>
            </a:r>
            <a:r>
              <a:rPr lang="en-US" sz="2200" dirty="0" smtClean="0"/>
              <a:t>de-duplication</a:t>
            </a:r>
            <a:endParaRPr lang="en-US" sz="2200" dirty="0"/>
          </a:p>
        </p:txBody>
      </p:sp>
      <p:pic>
        <p:nvPicPr>
          <p:cNvPr id="69634" name="Picture 2" descr="https://files.ably.io/ghost/prod/2020/11/exactly-once-semantics-messaging-semantics-overview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9850" y="1828800"/>
            <a:ext cx="3460750" cy="3663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6: Duplicated Messages?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Retrying leads to duplicated messages.</a:t>
            </a:r>
            <a:endParaRPr lang="en-US" sz="2400" dirty="0">
              <a:latin typeface="+mj-lt"/>
            </a:endParaRPr>
          </a:p>
        </p:txBody>
      </p:sp>
      <p:sp>
        <p:nvSpPr>
          <p:cNvPr id="68610" name="AutoShape 2" descr="https://miro.medium.com/v2/resize:fit:1400/format:webp/1*_0zAQOfJK7tebnbphv7ehA.png"/>
          <p:cNvSpPr>
            <a:spLocks noChangeAspect="1" noChangeArrowheads="1"/>
          </p:cNvSpPr>
          <p:nvPr/>
        </p:nvSpPr>
        <p:spPr bwMode="auto">
          <a:xfrm>
            <a:off x="155575" y="-2590800"/>
            <a:ext cx="8086725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9500" y="2749550"/>
            <a:ext cx="4445000" cy="296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Idempotent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A function f is idempotent if </a:t>
            </a:r>
            <a:r>
              <a:rPr lang="en-US" sz="2600" b="1" dirty="0" smtClean="0">
                <a:latin typeface="Consolas" pitchFamily="49" charset="0"/>
              </a:rPr>
              <a:t>f(x) = f(f(x))</a:t>
            </a:r>
            <a:r>
              <a:rPr lang="en-US" sz="2600" dirty="0" smtClean="0"/>
              <a:t>.</a:t>
            </a:r>
          </a:p>
          <a:p>
            <a:pPr lvl="1"/>
            <a:r>
              <a:rPr lang="en-US" sz="2200" dirty="0" smtClean="0"/>
              <a:t>Not idempotent: </a:t>
            </a:r>
            <a:r>
              <a:rPr lang="en-US" sz="2200" dirty="0" smtClean="0">
                <a:latin typeface="Consolas" pitchFamily="49" charset="0"/>
              </a:rPr>
              <a:t>f(</a:t>
            </a:r>
            <a:r>
              <a:rPr lang="en-US" sz="2200" dirty="0" err="1" smtClean="0">
                <a:latin typeface="Consolas" pitchFamily="49" charset="0"/>
              </a:rPr>
              <a:t>likeCount</a:t>
            </a:r>
            <a:r>
              <a:rPr lang="en-US" sz="2200" dirty="0" smtClean="0">
                <a:latin typeface="Consolas" pitchFamily="49" charset="0"/>
              </a:rPr>
              <a:t>) = </a:t>
            </a:r>
            <a:r>
              <a:rPr lang="en-US" sz="2200" dirty="0" err="1" smtClean="0">
                <a:latin typeface="Consolas" pitchFamily="49" charset="0"/>
              </a:rPr>
              <a:t>likeCount</a:t>
            </a:r>
            <a:r>
              <a:rPr lang="en-US" sz="2200" dirty="0" smtClean="0">
                <a:latin typeface="Consolas" pitchFamily="49" charset="0"/>
              </a:rPr>
              <a:t> + 1</a:t>
            </a:r>
          </a:p>
          <a:p>
            <a:pPr lvl="1"/>
            <a:r>
              <a:rPr lang="en-US" sz="2200" dirty="0" smtClean="0"/>
              <a:t>Idempotent: </a:t>
            </a:r>
            <a:r>
              <a:rPr lang="en-US" sz="2200" dirty="0" smtClean="0">
                <a:latin typeface="Consolas" pitchFamily="49" charset="0"/>
              </a:rPr>
              <a:t>f(</a:t>
            </a:r>
            <a:r>
              <a:rPr lang="en-US" sz="2200" dirty="0" err="1" smtClean="0">
                <a:latin typeface="Consolas" pitchFamily="49" charset="0"/>
              </a:rPr>
              <a:t>likeSet</a:t>
            </a:r>
            <a:r>
              <a:rPr lang="en-US" sz="2200" dirty="0" smtClean="0">
                <a:latin typeface="Consolas" pitchFamily="49" charset="0"/>
              </a:rPr>
              <a:t>) = </a:t>
            </a:r>
            <a:r>
              <a:rPr lang="en-US" sz="2200" dirty="0" err="1" smtClean="0">
                <a:latin typeface="Consolas" pitchFamily="49" charset="0"/>
              </a:rPr>
              <a:t>likeSet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000" dirty="0" smtClean="0"/>
              <a:t>∪</a:t>
            </a:r>
            <a:r>
              <a:rPr lang="en-US" sz="2200" dirty="0" smtClean="0">
                <a:latin typeface="Consolas" pitchFamily="49" charset="0"/>
              </a:rPr>
              <a:t> {</a:t>
            </a:r>
            <a:r>
              <a:rPr lang="en-US" sz="2200" dirty="0" err="1" smtClean="0">
                <a:latin typeface="Consolas" pitchFamily="49" charset="0"/>
              </a:rPr>
              <a:t>userID</a:t>
            </a:r>
            <a:r>
              <a:rPr lang="en-US" sz="2200" dirty="0" smtClean="0">
                <a:latin typeface="Consolas" pitchFamily="49" charset="0"/>
              </a:rPr>
              <a:t>}</a:t>
            </a:r>
          </a:p>
          <a:p>
            <a:r>
              <a:rPr lang="en-US" sz="2600" dirty="0" smtClean="0"/>
              <a:t>Idempotent requests </a:t>
            </a:r>
            <a:r>
              <a:rPr lang="en-US" sz="2600" i="1" dirty="0" smtClean="0">
                <a:solidFill>
                  <a:srgbClr val="C00000"/>
                </a:solidFill>
              </a:rPr>
              <a:t>can be retried</a:t>
            </a:r>
            <a:r>
              <a:rPr lang="en-US" sz="2600" dirty="0" smtClean="0"/>
              <a:t> </a:t>
            </a:r>
            <a:r>
              <a:rPr lang="en-US" sz="2600" b="1" dirty="0" smtClean="0"/>
              <a:t>without the need for de-duplication</a:t>
            </a:r>
            <a:r>
              <a:rPr lang="en-US" sz="2600" dirty="0" smtClean="0"/>
              <a:t>.</a:t>
            </a:r>
          </a:p>
          <a:p>
            <a:r>
              <a:rPr lang="en-US" sz="2600" b="1" dirty="0" smtClean="0"/>
              <a:t>Implementation</a:t>
            </a:r>
            <a:r>
              <a:rPr lang="en-US" sz="2600" dirty="0" smtClean="0"/>
              <a:t>: Request an </a:t>
            </a:r>
            <a:r>
              <a:rPr lang="en-US" sz="2600" i="1" dirty="0" err="1" smtClean="0">
                <a:solidFill>
                  <a:srgbClr val="C00000"/>
                </a:solidFill>
              </a:rPr>
              <a:t>idempotency</a:t>
            </a:r>
            <a:r>
              <a:rPr lang="en-US" sz="2600" i="1" dirty="0" smtClean="0">
                <a:solidFill>
                  <a:srgbClr val="C00000"/>
                </a:solidFill>
              </a:rPr>
              <a:t> key</a:t>
            </a:r>
            <a:r>
              <a:rPr lang="en-US" sz="2600" dirty="0" smtClean="0"/>
              <a:t> from the server and use it to make or retry the request.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7: Membership Change?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How can primary-backup replication handle membership change?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Solution</a:t>
            </a:r>
            <a:r>
              <a:rPr lang="en-US" sz="2800" dirty="0" smtClean="0"/>
              <a:t>: Modify the configuration file and update the server array.</a:t>
            </a:r>
            <a:endParaRPr lang="en-US" sz="2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8: How Do Clients Find Out the New Primary?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Solution 1</a:t>
            </a:r>
            <a:r>
              <a:rPr lang="en-US" sz="2800" dirty="0" smtClean="0"/>
              <a:t>: Use a designated IP.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Solution 2</a:t>
            </a:r>
            <a:r>
              <a:rPr lang="en-US" sz="2800" dirty="0" smtClean="0"/>
              <a:t>: Ask a backup.</a:t>
            </a:r>
          </a:p>
          <a:p>
            <a:pPr lvl="1"/>
            <a:r>
              <a:rPr lang="en-US" sz="2400" dirty="0" smtClean="0"/>
              <a:t>Asking a backup results in one request being lost.</a:t>
            </a:r>
          </a:p>
          <a:p>
            <a:r>
              <a:rPr lang="en-US" sz="2800" i="1" dirty="0" smtClean="0">
                <a:solidFill>
                  <a:srgbClr val="C00000"/>
                </a:solidFill>
              </a:rPr>
              <a:t>Solution 3</a:t>
            </a:r>
            <a:r>
              <a:rPr lang="en-US" sz="2800" dirty="0" smtClean="0"/>
              <a:t>: Backups as proxies.</a:t>
            </a:r>
          </a:p>
          <a:p>
            <a:pPr lvl="1"/>
            <a:r>
              <a:rPr lang="en-US" sz="2400" dirty="0" smtClean="0"/>
              <a:t>Using backups as mediators reduces performance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Number of Replicas to Tolerate Failures?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  <a:latin typeface="Consolas" pitchFamily="49" charset="0"/>
              </a:rPr>
              <a:t>t </a:t>
            </a:r>
            <a:r>
              <a:rPr lang="en-US" sz="2800" i="1" dirty="0" smtClean="0">
                <a:solidFill>
                  <a:srgbClr val="C00000"/>
                </a:solidFill>
              </a:rPr>
              <a:t>fault tolerant</a:t>
            </a:r>
            <a:r>
              <a:rPr lang="en-US" sz="2800" dirty="0" smtClean="0"/>
              <a:t>: A system consisting of </a:t>
            </a:r>
            <a:r>
              <a:rPr lang="en-US" sz="2800" u="sng" dirty="0" smtClean="0"/>
              <a:t>a set of distinct components</a:t>
            </a:r>
            <a:r>
              <a:rPr lang="en-US" sz="2800" dirty="0" smtClean="0"/>
              <a:t> is </a:t>
            </a:r>
            <a:r>
              <a:rPr lang="en-US" sz="2800" b="1" dirty="0" smtClean="0">
                <a:latin typeface="Consolas" pitchFamily="49" charset="0"/>
              </a:rPr>
              <a:t>t</a:t>
            </a:r>
            <a:r>
              <a:rPr lang="en-US" sz="2800" b="1" dirty="0" smtClean="0"/>
              <a:t> fault tolerant</a:t>
            </a:r>
            <a:r>
              <a:rPr lang="en-US" sz="2800" dirty="0" smtClean="0"/>
              <a:t> if it satisfies its specification provided that </a:t>
            </a:r>
            <a:r>
              <a:rPr lang="en-US" sz="2800" u="sng" dirty="0" smtClean="0"/>
              <a:t>no more than </a:t>
            </a:r>
            <a:r>
              <a:rPr lang="en-US" sz="2800" u="sng" dirty="0" smtClean="0">
                <a:latin typeface="Consolas" pitchFamily="49" charset="0"/>
              </a:rPr>
              <a:t>t</a:t>
            </a:r>
            <a:r>
              <a:rPr lang="en-US" sz="2800" dirty="0" smtClean="0"/>
              <a:t> of those components become faulty during some interval of interest.</a:t>
            </a:r>
          </a:p>
          <a:p>
            <a:r>
              <a:rPr lang="en-US" sz="2800" dirty="0" smtClean="0"/>
              <a:t>Fail-stop failures.</a:t>
            </a:r>
          </a:p>
          <a:p>
            <a:pPr lvl="1"/>
            <a:r>
              <a:rPr lang="en-US" sz="2400" dirty="0" smtClean="0">
                <a:latin typeface="+mj-lt"/>
              </a:rPr>
              <a:t>2 replicas. </a:t>
            </a:r>
            <a:r>
              <a:rPr lang="en-US" sz="2400" dirty="0" smtClean="0">
                <a:latin typeface="Consolas" pitchFamily="49" charset="0"/>
              </a:rPr>
              <a:t>t = 1.</a:t>
            </a:r>
          </a:p>
          <a:p>
            <a:pPr lvl="1"/>
            <a:r>
              <a:rPr lang="en-US" sz="2400" dirty="0" smtClean="0">
                <a:latin typeface="+mj-lt"/>
              </a:rPr>
              <a:t>3 replicas. </a:t>
            </a:r>
            <a:r>
              <a:rPr lang="en-US" sz="2400" dirty="0" smtClean="0">
                <a:latin typeface="Consolas" pitchFamily="49" charset="0"/>
              </a:rPr>
              <a:t>t = 2.</a:t>
            </a:r>
            <a:endParaRPr lang="en-US" sz="2400" dirty="0" smtClean="0">
              <a:latin typeface="+mj-lt"/>
            </a:endParaRPr>
          </a:p>
          <a:p>
            <a:pPr lvl="1"/>
            <a:r>
              <a:rPr lang="en-US" sz="2400" dirty="0" smtClean="0">
                <a:latin typeface="+mj-lt"/>
              </a:rPr>
              <a:t>5 replicas. </a:t>
            </a:r>
            <a:r>
              <a:rPr lang="en-US" sz="2400" dirty="0" smtClean="0">
                <a:latin typeface="Consolas" pitchFamily="49" charset="0"/>
              </a:rPr>
              <a:t>t = 4.</a:t>
            </a:r>
          </a:p>
          <a:p>
            <a:pPr lvl="1"/>
            <a:r>
              <a:rPr lang="en-US" sz="2400" dirty="0" smtClean="0">
                <a:latin typeface="Consolas" pitchFamily="49" charset="0"/>
              </a:rPr>
              <a:t>t</a:t>
            </a:r>
            <a:r>
              <a:rPr lang="en-US" sz="2400" dirty="0" smtClean="0"/>
              <a:t> + 1 replicas. </a:t>
            </a:r>
            <a:r>
              <a:rPr lang="en-US" sz="2400" dirty="0" smtClean="0">
                <a:latin typeface="Consolas" pitchFamily="49" charset="0"/>
              </a:rPr>
              <a:t>t = 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Question 9: Fail-recovery Failures?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Solution</a:t>
            </a:r>
            <a:r>
              <a:rPr lang="en-US" sz="2400" dirty="0" smtClean="0"/>
              <a:t>: Replicated log.</a:t>
            </a:r>
          </a:p>
        </p:txBody>
      </p:sp>
      <p:pic>
        <p:nvPicPr>
          <p:cNvPr id="1026" name="Picture 2" descr="https://cdn.cms-twdigitalassets.com/content/dam/blog-twitter/engineering/en_us/infrastructure/2015/figure-1.jpg.img.fullhd.mediu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228850"/>
            <a:ext cx="4791075" cy="1276350"/>
          </a:xfrm>
          <a:prstGeom prst="rect">
            <a:avLst/>
          </a:prstGeom>
          <a:noFill/>
        </p:spPr>
      </p:pic>
      <p:pic>
        <p:nvPicPr>
          <p:cNvPr id="1028" name="Picture 4" descr="https://images.squarespace-cdn.com/content/v1/56894e581c1210fead06f878/3d299bb6-f546-46eb-86a7-e865751047d0/RaftReplicatedStateMachin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733227"/>
            <a:ext cx="3338321" cy="25151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10: Message Ordering?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600" dirty="0" smtClean="0"/>
              <a:t>As long as the two messages are sent over </a:t>
            </a:r>
            <a:r>
              <a:rPr lang="en-US" sz="2600" i="1" dirty="0" smtClean="0">
                <a:solidFill>
                  <a:srgbClr val="C00000"/>
                </a:solidFill>
              </a:rPr>
              <a:t>the same TCP connection</a:t>
            </a:r>
            <a:r>
              <a:rPr lang="en-US" sz="2600" dirty="0" smtClean="0"/>
              <a:t>, the order will </a:t>
            </a:r>
            <a:r>
              <a:rPr lang="en-US" sz="2600" u="sng" dirty="0" smtClean="0"/>
              <a:t>be maintained</a:t>
            </a:r>
            <a:r>
              <a:rPr lang="en-US" sz="2600" dirty="0" smtClean="0"/>
              <a:t>.</a:t>
            </a:r>
          </a:p>
          <a:p>
            <a:pPr marL="342900" lvl="1" indent="-342900">
              <a:buFont typeface="Arial" charset="0"/>
              <a:buChar char="•"/>
            </a:pPr>
            <a:r>
              <a:rPr lang="en-US" sz="2600" dirty="0" smtClean="0"/>
              <a:t>However, if </a:t>
            </a:r>
            <a:r>
              <a:rPr lang="en-US" sz="2600" i="1" dirty="0" smtClean="0">
                <a:solidFill>
                  <a:srgbClr val="C00000"/>
                </a:solidFill>
              </a:rPr>
              <a:t>multiple connections</a:t>
            </a:r>
            <a:r>
              <a:rPr lang="en-US" sz="2600" dirty="0" smtClean="0"/>
              <a:t> are opened between </a:t>
            </a:r>
            <a:r>
              <a:rPr lang="en-US" sz="2600" u="sng" dirty="0" smtClean="0"/>
              <a:t>the same pair of processes</a:t>
            </a:r>
            <a:r>
              <a:rPr lang="en-US" sz="2600" dirty="0" smtClean="0"/>
              <a:t>, maintaining the order of messages becomes </a:t>
            </a:r>
            <a:r>
              <a:rPr lang="en-US" sz="2600" u="sng" dirty="0" smtClean="0"/>
              <a:t>challenging</a:t>
            </a:r>
            <a:r>
              <a:rPr lang="en-US" sz="2600" dirty="0" smtClean="0"/>
              <a:t>.</a:t>
            </a:r>
            <a:endParaRPr lang="en-US" sz="2600" b="1" dirty="0" smtClean="0">
              <a:solidFill>
                <a:srgbClr val="C00000"/>
              </a:solidFill>
            </a:endParaRPr>
          </a:p>
          <a:p>
            <a:pPr marL="342900" lvl="1" indent="-342900">
              <a:buFont typeface="Arial" charset="0"/>
              <a:buChar char="•"/>
            </a:pPr>
            <a:r>
              <a:rPr lang="en-US" sz="2600" i="1" dirty="0" smtClean="0">
                <a:solidFill>
                  <a:srgbClr val="C00000"/>
                </a:solidFill>
              </a:rPr>
              <a:t>Fair-loss links</a:t>
            </a:r>
            <a:r>
              <a:rPr lang="en-US" sz="2600" dirty="0" smtClean="0"/>
              <a:t>. </a:t>
            </a:r>
            <a:r>
              <a:rPr lang="en-US" sz="2600" u="sng" dirty="0" smtClean="0"/>
              <a:t>Messages may be lost</a:t>
            </a:r>
            <a:r>
              <a:rPr lang="en-US" sz="2600" dirty="0" smtClean="0"/>
              <a:t>. Retries may disrupt the order of updates from the primary to the backups.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Solution</a:t>
            </a:r>
            <a:r>
              <a:rPr lang="en-US" sz="2600" dirty="0" smtClean="0"/>
              <a:t>: Sequence numbers and buffering (temporarily storing messages).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25000</TotalTime>
  <Words>3294</Words>
  <Application>Microsoft Office PowerPoint</Application>
  <PresentationFormat>On-screen Show (4:3)</PresentationFormat>
  <Paragraphs>299</Paragraphs>
  <Slides>71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2" baseType="lpstr">
      <vt:lpstr>Office Theme</vt:lpstr>
      <vt:lpstr>Replication</vt:lpstr>
      <vt:lpstr>Objectives</vt:lpstr>
      <vt:lpstr>Contents</vt:lpstr>
      <vt:lpstr>References</vt:lpstr>
      <vt:lpstr>Why Replication?</vt:lpstr>
      <vt:lpstr>Kind of Failures that Replication Can Tolerate</vt:lpstr>
      <vt:lpstr>Kind of Failures that Replication Cannot Tolerate</vt:lpstr>
      <vt:lpstr>Replication of What</vt:lpstr>
      <vt:lpstr>State Transfer</vt:lpstr>
      <vt:lpstr>State Transfer Example</vt:lpstr>
      <vt:lpstr>Replicated State Machine</vt:lpstr>
      <vt:lpstr>Replicated State Machine Example</vt:lpstr>
      <vt:lpstr>Replication Level</vt:lpstr>
      <vt:lpstr>Slide 14</vt:lpstr>
      <vt:lpstr>Primary-Backup Replication [1]</vt:lpstr>
      <vt:lpstr>Examples</vt:lpstr>
      <vt:lpstr>Properties (I)</vt:lpstr>
      <vt:lpstr>Properties (II)</vt:lpstr>
      <vt:lpstr>Properties (III)</vt:lpstr>
      <vt:lpstr>Properties (IV)</vt:lpstr>
      <vt:lpstr>Properties (V)</vt:lpstr>
      <vt:lpstr>Slide 22</vt:lpstr>
      <vt:lpstr>A Simple Primary-Backup Protocol (I)</vt:lpstr>
      <vt:lpstr>A Simple Primary-Backup Protocol (II)</vt:lpstr>
      <vt:lpstr>A Simple Primary-Backup Protocol (III)</vt:lpstr>
      <vt:lpstr>A Simple Primary-Backup Protocol (IV)</vt:lpstr>
      <vt:lpstr>A Simple Primary-Backup Protocol (V)</vt:lpstr>
      <vt:lpstr>Question 1: Data Loss?</vt:lpstr>
      <vt:lpstr>Slide 29</vt:lpstr>
      <vt:lpstr>The Alsberg and Day Protocol (I)</vt:lpstr>
      <vt:lpstr>The Alsberg and Day Protocol (II)</vt:lpstr>
      <vt:lpstr>Question 2: Data Consistency?</vt:lpstr>
      <vt:lpstr>Question 3: Detect the Primary Status?</vt:lpstr>
      <vt:lpstr>Question 4: Elect a New Primary?</vt:lpstr>
      <vt:lpstr>Slide 35</vt:lpstr>
      <vt:lpstr>Bully Algorithm Example (I)</vt:lpstr>
      <vt:lpstr>Bully Algorithm Example (II)</vt:lpstr>
      <vt:lpstr>Bully Algorithm Example (III)</vt:lpstr>
      <vt:lpstr>Bully Algorithm Example (IV)</vt:lpstr>
      <vt:lpstr>Bully Algorithm Example (IV)</vt:lpstr>
      <vt:lpstr>Bully Algorithm Implementation</vt:lpstr>
      <vt:lpstr>Bully Algorithm (I) [2]</vt:lpstr>
      <vt:lpstr>Bully Algorithm (II)</vt:lpstr>
      <vt:lpstr>Bully Algorithm Example 2 (I)</vt:lpstr>
      <vt:lpstr>Bully Algorithm Example 2 (II)</vt:lpstr>
      <vt:lpstr>Slide 46</vt:lpstr>
      <vt:lpstr>Ring Algorithm Example (I)</vt:lpstr>
      <vt:lpstr>Ring Algorithm Example (II)</vt:lpstr>
      <vt:lpstr>Ring Algorithm Example (III)</vt:lpstr>
      <vt:lpstr>Ring Algorithm Example (IV)</vt:lpstr>
      <vt:lpstr>Ring Algorithm Example (V)</vt:lpstr>
      <vt:lpstr>Ring Algorithm Example (VI)</vt:lpstr>
      <vt:lpstr>Ring Algorithm Example (VII)</vt:lpstr>
      <vt:lpstr>Ring Algorithm Example (VIII)</vt:lpstr>
      <vt:lpstr>Ring Algorithm (I)</vt:lpstr>
      <vt:lpstr>Ring Algorithm (II)</vt:lpstr>
      <vt:lpstr>Ring Algorithm Example 2</vt:lpstr>
      <vt:lpstr>Slide 58</vt:lpstr>
      <vt:lpstr>Network Partitions</vt:lpstr>
      <vt:lpstr>Test-and-Set Server (I)</vt:lpstr>
      <vt:lpstr>Test-and-Set Server (II)</vt:lpstr>
      <vt:lpstr>Question 5: Retry?</vt:lpstr>
      <vt:lpstr>Retry Behaviors</vt:lpstr>
      <vt:lpstr>Question 6: Duplicated Messages?</vt:lpstr>
      <vt:lpstr>Idempotent Requests</vt:lpstr>
      <vt:lpstr>Question 7: Membership Change?</vt:lpstr>
      <vt:lpstr>Question 8: How Do Clients Find Out the New Primary?</vt:lpstr>
      <vt:lpstr>Number of Replicas to Tolerate Failures?</vt:lpstr>
      <vt:lpstr>Question 9: Fail-recovery Failures?</vt:lpstr>
      <vt:lpstr>Question 10: Message Ordering?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8034</cp:revision>
  <dcterms:created xsi:type="dcterms:W3CDTF">2007-10-06T08:25:13Z</dcterms:created>
  <dcterms:modified xsi:type="dcterms:W3CDTF">2026-02-27T18:48:34Z</dcterms:modified>
</cp:coreProperties>
</file>