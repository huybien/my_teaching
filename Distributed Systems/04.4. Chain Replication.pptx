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670" r:id="rId2"/>
    <p:sldId id="671" r:id="rId3"/>
    <p:sldId id="672" r:id="rId4"/>
    <p:sldId id="673" r:id="rId5"/>
    <p:sldId id="772" r:id="rId6"/>
    <p:sldId id="773" r:id="rId7"/>
    <p:sldId id="774" r:id="rId8"/>
    <p:sldId id="775" r:id="rId9"/>
    <p:sldId id="777" r:id="rId10"/>
    <p:sldId id="778" r:id="rId11"/>
    <p:sldId id="51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33" autoAdjust="0"/>
    <p:restoredTop sz="94667" autoAdjust="0"/>
  </p:normalViewPr>
  <p:slideViewPr>
    <p:cSldViewPr>
      <p:cViewPr>
        <p:scale>
          <a:sx n="50" d="100"/>
          <a:sy n="50" d="100"/>
        </p:scale>
        <p:origin x="-152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Chain Replication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Chain </a:t>
            </a:r>
            <a:r>
              <a:rPr lang="en-US" sz="2400" dirty="0" smtClean="0"/>
              <a:t>Replication.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Chain Replication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S1, S2, S3, S4</a:t>
            </a:r>
          </a:p>
          <a:p>
            <a:pPr lvl="1"/>
            <a:r>
              <a:rPr lang="en-US" sz="2200" dirty="0" smtClean="0"/>
              <a:t>S1 is "head", S4 is "tail"</a:t>
            </a:r>
          </a:p>
          <a:p>
            <a:r>
              <a:rPr lang="en-US" sz="2600" dirty="0" smtClean="0"/>
              <a:t>Writes:</a:t>
            </a:r>
          </a:p>
          <a:p>
            <a:pPr lvl="1"/>
            <a:r>
              <a:rPr lang="en-US" sz="2200" dirty="0" smtClean="0"/>
              <a:t>Client sends to head</a:t>
            </a:r>
          </a:p>
          <a:p>
            <a:pPr lvl="1"/>
            <a:r>
              <a:rPr lang="en-US" sz="2200" dirty="0" smtClean="0"/>
              <a:t>Forwarded down the chain, in order</a:t>
            </a:r>
          </a:p>
          <a:p>
            <a:pPr lvl="1"/>
            <a:r>
              <a:rPr lang="en-US" sz="2200" dirty="0" smtClean="0"/>
              <a:t>Each server overwrites old data with new data</a:t>
            </a:r>
          </a:p>
          <a:p>
            <a:pPr lvl="1"/>
            <a:r>
              <a:rPr lang="en-US" sz="2200" dirty="0" smtClean="0"/>
              <a:t>Tail responds to client</a:t>
            </a:r>
          </a:p>
          <a:p>
            <a:r>
              <a:rPr lang="en-US" sz="2600" dirty="0" smtClean="0"/>
              <a:t>Reads:</a:t>
            </a:r>
          </a:p>
          <a:p>
            <a:pPr lvl="1"/>
            <a:r>
              <a:rPr lang="en-US" sz="2200" dirty="0" smtClean="0"/>
              <a:t>Client sends to tail</a:t>
            </a:r>
          </a:p>
          <a:p>
            <a:pPr lvl="1"/>
            <a:r>
              <a:rPr lang="en-US" sz="2200" dirty="0" smtClean="0"/>
              <a:t>Tail responds (no other nodes involved)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981200"/>
            <a:ext cx="338137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client gets write reply, data is safe if even one server survives.</a:t>
            </a:r>
          </a:p>
          <a:p>
            <a:r>
              <a:rPr lang="en-US" sz="2400" dirty="0" smtClean="0"/>
              <a:t>and </a:t>
            </a:r>
            <a:r>
              <a:rPr lang="en-US" sz="2400" dirty="0" err="1" smtClean="0"/>
              <a:t>linearizable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Intuition for </a:t>
            </a:r>
            <a:r>
              <a:rPr lang="en-US" dirty="0" err="1" smtClean="0"/>
              <a:t>Linearizability</a:t>
            </a:r>
            <a:r>
              <a:rPr lang="en-US" dirty="0" smtClean="0"/>
              <a:t> of CR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no failures, almost as if the tail were the only server.</a:t>
            </a:r>
          </a:p>
          <a:p>
            <a:pPr lvl="1"/>
            <a:r>
              <a:rPr lang="en-US" sz="2000" dirty="0" smtClean="0"/>
              <a:t>Head picks an order for writes, replicas apply in that order,</a:t>
            </a:r>
          </a:p>
          <a:p>
            <a:pPr lvl="2"/>
            <a:r>
              <a:rPr lang="en-US" sz="2000" dirty="0" smtClean="0"/>
              <a:t>so they will stay in sync except for recent (uncommitted) writes.</a:t>
            </a:r>
          </a:p>
          <a:p>
            <a:pPr lvl="1"/>
            <a:r>
              <a:rPr lang="en-US" sz="2000" dirty="0" smtClean="0"/>
              <a:t>Tail exposes only committed writes to readers.</a:t>
            </a:r>
          </a:p>
          <a:p>
            <a:r>
              <a:rPr lang="en-US" sz="2400" dirty="0" smtClean="0"/>
              <a:t>Failure recovery, briefly.</a:t>
            </a:r>
          </a:p>
          <a:p>
            <a:pPr lvl="1"/>
            <a:r>
              <a:rPr lang="en-US" sz="2000" dirty="0" smtClean="0"/>
              <a:t>Good news: every replica knows of every committed write.</a:t>
            </a:r>
          </a:p>
          <a:p>
            <a:pPr lvl="1"/>
            <a:r>
              <a:rPr lang="en-US" sz="2000" dirty="0" smtClean="0"/>
              <a:t>But need to push partial writes down the chain.</a:t>
            </a:r>
          </a:p>
          <a:p>
            <a:pPr lvl="1"/>
            <a:r>
              <a:rPr lang="en-US" sz="2000" dirty="0" smtClean="0"/>
              <a:t>If head fails, successor takes over as head, no committed writes lost.</a:t>
            </a:r>
          </a:p>
          <a:p>
            <a:pPr lvl="1"/>
            <a:r>
              <a:rPr lang="en-US" sz="2000" dirty="0" smtClean="0"/>
              <a:t>If tail fails, predecessor takes over as tail, no writes lost.</a:t>
            </a:r>
          </a:p>
          <a:p>
            <a:pPr lvl="1"/>
            <a:r>
              <a:rPr lang="en-US" sz="2000" dirty="0" smtClean="0"/>
              <a:t>If intermediate fails, drop from chain, predecessor may need to re-send recent writes.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is CR Attractive (vs. Raft)?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Client RPCs split between head and tail, </a:t>
            </a:r>
            <a:r>
              <a:rPr lang="en-US" sz="2400" dirty="0" err="1" smtClean="0"/>
              <a:t>vs</a:t>
            </a:r>
            <a:r>
              <a:rPr lang="en-US" sz="2400" dirty="0" smtClean="0"/>
              <a:t> Raft's leader handles both.</a:t>
            </a:r>
          </a:p>
          <a:p>
            <a:r>
              <a:rPr lang="en-US" sz="2400" dirty="0" smtClean="0"/>
              <a:t>Head sends each write just once, </a:t>
            </a:r>
            <a:r>
              <a:rPr lang="en-US" sz="2400" dirty="0" err="1" smtClean="0"/>
              <a:t>vs</a:t>
            </a:r>
            <a:r>
              <a:rPr lang="en-US" sz="2400" dirty="0" smtClean="0"/>
              <a:t> Raft's leader sends to all.</a:t>
            </a:r>
          </a:p>
          <a:p>
            <a:r>
              <a:rPr lang="en-US" sz="2400" dirty="0" smtClean="0"/>
              <a:t>Reads involve just one server, not all as in Raft.</a:t>
            </a:r>
          </a:p>
          <a:p>
            <a:r>
              <a:rPr lang="en-US" sz="2400" dirty="0" smtClean="0"/>
              <a:t>Situation after failure simpler than in Raft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why can't 2nd node take over as head if it can't reach the head?</a:t>
            </a:r>
          </a:p>
          <a:p>
            <a:pPr lvl="1"/>
            <a:r>
              <a:rPr lang="en-US" sz="2000" dirty="0" smtClean="0"/>
              <a:t>Partition -- split brain -- the 2nd node must wait patiently.</a:t>
            </a:r>
          </a:p>
          <a:p>
            <a:r>
              <a:rPr lang="en-US" sz="2400" dirty="0" smtClean="0"/>
              <a:t>How can we safely make use of a replication system that can't handle partition?</a:t>
            </a:r>
          </a:p>
          <a:p>
            <a:r>
              <a:rPr lang="en-US" sz="2400" dirty="0" smtClean="0"/>
              <a:t>A single "configuration manager" must choose head, chain, tail.</a:t>
            </a:r>
          </a:p>
          <a:p>
            <a:r>
              <a:rPr lang="en-US" sz="2400" dirty="0" smtClean="0"/>
              <a:t>Everyone (servers, clients) must obey or stop.</a:t>
            </a:r>
          </a:p>
          <a:p>
            <a:pPr lvl="1"/>
            <a:r>
              <a:rPr lang="en-US" sz="2000" dirty="0" smtClean="0"/>
              <a:t>Regardless of who they locally think is alive/dead.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 configuration manager is a common and useful pattern.</a:t>
            </a:r>
          </a:p>
          <a:p>
            <a:pPr lvl="1"/>
            <a:r>
              <a:rPr lang="en-US" sz="2200" dirty="0" smtClean="0"/>
              <a:t>It's the essence of how GFS (master) and VMware-FT (test-and-set server) work.</a:t>
            </a:r>
          </a:p>
          <a:p>
            <a:pPr lvl="1"/>
            <a:r>
              <a:rPr lang="en-US" sz="2200" dirty="0" smtClean="0"/>
              <a:t>Usually </a:t>
            </a:r>
            <a:r>
              <a:rPr lang="en-US" sz="2200" dirty="0" err="1" smtClean="0"/>
              <a:t>Paxos</a:t>
            </a:r>
            <a:r>
              <a:rPr lang="en-US" sz="2200" dirty="0" smtClean="0"/>
              <a:t>/Raft/ZK for </a:t>
            </a:r>
            <a:r>
              <a:rPr lang="en-US" sz="2200" dirty="0" err="1" smtClean="0"/>
              <a:t>config</a:t>
            </a:r>
            <a:r>
              <a:rPr lang="en-US" sz="2200" dirty="0" smtClean="0"/>
              <a:t> service,</a:t>
            </a:r>
          </a:p>
          <a:p>
            <a:pPr lvl="1"/>
            <a:r>
              <a:rPr lang="en-US" sz="2200" dirty="0" smtClean="0"/>
              <a:t>data </a:t>
            </a:r>
            <a:r>
              <a:rPr lang="en-US" sz="2200" dirty="0" err="1" smtClean="0"/>
              <a:t>sharded</a:t>
            </a:r>
            <a:r>
              <a:rPr lang="en-US" sz="2200" dirty="0" smtClean="0"/>
              <a:t> over many replica groups,</a:t>
            </a:r>
          </a:p>
          <a:p>
            <a:pPr lvl="1"/>
            <a:r>
              <a:rPr lang="en-US" sz="2200" dirty="0" smtClean="0"/>
              <a:t>CR or something else fast for each replica group.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3538" y="4768850"/>
            <a:ext cx="5876925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20544</TotalTime>
  <Words>428</Words>
  <Application>Microsoft Office PowerPoint</Application>
  <PresentationFormat>On-screen Show (4:3)</PresentationFormat>
  <Paragraphs>56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Chain Replication</vt:lpstr>
      <vt:lpstr>Objectives</vt:lpstr>
      <vt:lpstr>Contents</vt:lpstr>
      <vt:lpstr>References</vt:lpstr>
      <vt:lpstr>Chain Replication</vt:lpstr>
      <vt:lpstr>Pros and Cons</vt:lpstr>
      <vt:lpstr>Intuition for Linearizability of CR</vt:lpstr>
      <vt:lpstr>Why is CR Attractive (vs. Raft)?</vt:lpstr>
      <vt:lpstr>Limitation</vt:lpstr>
      <vt:lpstr>Configuration Manager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5733</cp:revision>
  <dcterms:created xsi:type="dcterms:W3CDTF">2007-10-06T08:25:13Z</dcterms:created>
  <dcterms:modified xsi:type="dcterms:W3CDTF">2023-02-16T14:43:22Z</dcterms:modified>
</cp:coreProperties>
</file>