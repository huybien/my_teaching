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6"/>
  </p:notesMasterIdLst>
  <p:sldIdLst>
    <p:sldId id="670" r:id="rId2"/>
    <p:sldId id="671" r:id="rId3"/>
    <p:sldId id="672" r:id="rId4"/>
    <p:sldId id="673" r:id="rId5"/>
    <p:sldId id="784" r:id="rId6"/>
    <p:sldId id="775" r:id="rId7"/>
    <p:sldId id="783" r:id="rId8"/>
    <p:sldId id="787" r:id="rId9"/>
    <p:sldId id="788" r:id="rId10"/>
    <p:sldId id="790" r:id="rId11"/>
    <p:sldId id="789" r:id="rId12"/>
    <p:sldId id="791" r:id="rId13"/>
    <p:sldId id="792" r:id="rId14"/>
    <p:sldId id="793" r:id="rId15"/>
    <p:sldId id="794" r:id="rId16"/>
    <p:sldId id="778" r:id="rId17"/>
    <p:sldId id="786" r:id="rId18"/>
    <p:sldId id="785" r:id="rId19"/>
    <p:sldId id="779" r:id="rId20"/>
    <p:sldId id="782" r:id="rId21"/>
    <p:sldId id="678" r:id="rId22"/>
    <p:sldId id="780" r:id="rId23"/>
    <p:sldId id="781" r:id="rId24"/>
    <p:sldId id="516" r:id="rId2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129" autoAdjust="0"/>
    <p:restoredTop sz="94667" autoAdjust="0"/>
  </p:normalViewPr>
  <p:slideViewPr>
    <p:cSldViewPr>
      <p:cViewPr>
        <p:scale>
          <a:sx n="50" d="100"/>
          <a:sy n="50" d="100"/>
        </p:scale>
        <p:origin x="-1530"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0940CE-BE1D-4C40-AF8B-3898A4D1F5EC}" type="datetimeFigureOut">
              <a:rPr lang="en-US" smtClean="0"/>
              <a:pPr/>
              <a:t>3/21/2025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70CC96-DB61-4850-AF79-05CA5E4B3D0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3B12F3-13D8-4BC6-B271-EF890D2E3EA0}" type="datetimeFigureOut">
              <a:rPr lang="en-US"/>
              <a:pPr>
                <a:defRPr/>
              </a:pPr>
              <a:t>3/21/2025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4D65A0-8A45-49A8-B2B4-890662407F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2554BB-BED8-407D-871B-BC3BF099B766}" type="datetimeFigureOut">
              <a:rPr lang="en-US"/>
              <a:pPr>
                <a:defRPr/>
              </a:pPr>
              <a:t>3/21/2025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6A513C-A265-4672-ADF9-9C420A0C09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83AE9F-B8F4-4A27-A258-84000ADADD35}" type="datetimeFigureOut">
              <a:rPr lang="en-US"/>
              <a:pPr>
                <a:defRPr/>
              </a:pPr>
              <a:t>3/21/2025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C0325C-EBE7-4A11-97E9-DF8C42B04A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4F403C-A7D9-4211-8DC1-5865845C9F38}" type="datetimeFigureOut">
              <a:rPr lang="en-US"/>
              <a:pPr>
                <a:defRPr/>
              </a:pPr>
              <a:t>3/21/2025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91B809-96F5-477B-8E72-8AB6B5E4AEA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809C128-87F1-4A1D-AC95-1D0A8C2820AC}" type="datetimeFigureOut">
              <a:rPr lang="en-US"/>
              <a:pPr>
                <a:defRPr/>
              </a:pPr>
              <a:t>3/21/2025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51F8E-6BBA-4EBA-BCCA-61145C18C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DD7EAC8-1610-4C8B-8A2E-7959779A26B0}" type="datetimeFigureOut">
              <a:rPr lang="en-US"/>
              <a:pPr>
                <a:defRPr/>
              </a:pPr>
              <a:t>3/21/2025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8F43CFA-8BED-4A88-AB21-8477601BA3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D13CF8C-ED99-4E62-9F8F-039B47F842EB}" type="datetimeFigureOut">
              <a:rPr lang="en-US"/>
              <a:pPr>
                <a:defRPr/>
              </a:pPr>
              <a:t>3/21/2025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FA9176-712D-4387-A1B9-79FDD21B413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A10295A-2761-40EA-9DA2-E88C0504267F}" type="datetimeFigureOut">
              <a:rPr lang="en-US"/>
              <a:pPr>
                <a:defRPr/>
              </a:pPr>
              <a:t>3/21/2025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EFA140-F156-4425-B953-A67D35160E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7036556-1340-40FC-A073-D70D8832A760}" type="datetimeFigureOut">
              <a:rPr lang="en-US"/>
              <a:pPr>
                <a:defRPr/>
              </a:pPr>
              <a:t>3/21/2025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3919B8-AF1D-4524-AED9-AA87E5FE064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375E21-F618-4DDC-86A2-77C690CACCAF}" type="datetimeFigureOut">
              <a:rPr lang="en-US"/>
              <a:pPr>
                <a:defRPr/>
              </a:pPr>
              <a:t>3/21/2025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DB1DC0-76E8-4C19-B643-CDC8176FDDA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B4CE7E0-80C2-49E8-81AC-9B27623F73A4}" type="datetimeFigureOut">
              <a:rPr lang="en-US"/>
              <a:pPr>
                <a:defRPr/>
              </a:pPr>
              <a:t>3/21/2025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9D05C-0F0F-4E8B-B47F-3C2F1A4BC7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F5EA699-B790-4630-B1C5-9840307833F6}" type="datetimeFigureOut">
              <a:rPr lang="en-US"/>
              <a:pPr>
                <a:defRPr/>
              </a:pPr>
              <a:t>3/21/2025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9E2BD1-610D-47CE-BC14-E90E7753FA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nil.csail.mit.edu/6.824/2020/schedule.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smtClean="0"/>
              <a:t>Cache Consistency - </a:t>
            </a:r>
            <a:r>
              <a:rPr lang="en-US" sz="6000" dirty="0" err="1" smtClean="0"/>
              <a:t>Memcached</a:t>
            </a:r>
            <a:r>
              <a:rPr lang="en-US" sz="6000" dirty="0" smtClean="0"/>
              <a:t> at </a:t>
            </a:r>
            <a:r>
              <a:rPr lang="en-US" sz="6000" dirty="0" err="1" smtClean="0"/>
              <a:t>Facebook</a:t>
            </a:r>
            <a:endParaRPr lang="en-US" sz="6000" dirty="0" smtClean="0"/>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828800"/>
            <a:ext cx="5334000" cy="3886200"/>
          </a:xfrm>
        </p:spPr>
        <p:txBody>
          <a:bodyPr/>
          <a:lstStyle/>
          <a:p>
            <a:pPr marL="457200" indent="-457200">
              <a:buFont typeface="+mj-lt"/>
              <a:buAutoNum type="arabicPeriod"/>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867400" cy="4724400"/>
          </a:xfrm>
        </p:spPr>
        <p:txBody>
          <a:bodyPr/>
          <a:lstStyle/>
          <a:p>
            <a:pPr>
              <a:buFont typeface="+mj-lt"/>
              <a:buAutoNum type="arabicPeriod"/>
            </a:pPr>
            <a:r>
              <a:rPr lang="en-US" sz="2000" dirty="0" smtClean="0">
                <a:hlinkClick r:id="rId2"/>
              </a:rPr>
              <a:t>http://nil.csail.mit.edu/6.824/2020/schedule.html</a:t>
            </a:r>
            <a:endParaRPr lang="en-US" sz="2000" dirty="0" smtClean="0"/>
          </a:p>
          <a:p>
            <a:pPr>
              <a:buFont typeface="+mj-lt"/>
              <a:buAutoNum type="arabicPeriod"/>
            </a:pPr>
            <a:endParaRPr lang="en-US" sz="2000" dirty="0" smtClean="0"/>
          </a:p>
        </p:txBody>
      </p:sp>
      <p:pic>
        <p:nvPicPr>
          <p:cNvPr id="4" name="Picture 4" descr="http://2.bp.blogspot.com/-FqRM_5NQE6Q/TaSdzyWfvtI/AAAAAAAAAFg/C_2LDJWJOx4/s1600/books-pile.jpg"/>
          <p:cNvPicPr>
            <a:picLocks noChangeAspect="1" noChangeArrowheads="1"/>
          </p:cNvPicPr>
          <p:nvPr/>
        </p:nvPicPr>
        <p:blipFill>
          <a:blip r:embed="rId3"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are we reading this paper?</a:t>
            </a:r>
            <a:endParaRPr lang="en-US" dirty="0"/>
          </a:p>
        </p:txBody>
      </p:sp>
      <p:sp>
        <p:nvSpPr>
          <p:cNvPr id="3" name="Content Placeholder 2"/>
          <p:cNvSpPr>
            <a:spLocks noGrp="1"/>
          </p:cNvSpPr>
          <p:nvPr>
            <p:ph idx="1"/>
          </p:nvPr>
        </p:nvSpPr>
        <p:spPr/>
        <p:txBody>
          <a:bodyPr/>
          <a:lstStyle/>
          <a:p>
            <a:r>
              <a:rPr lang="en-US" sz="2600" dirty="0" smtClean="0"/>
              <a:t>it's an experience paper, not about new </a:t>
            </a:r>
            <a:r>
              <a:rPr lang="en-US" sz="2600" dirty="0" smtClean="0"/>
              <a:t>ideas/techniques</a:t>
            </a:r>
          </a:p>
          <a:p>
            <a:r>
              <a:rPr lang="en-US" sz="2600" dirty="0" smtClean="0"/>
              <a:t>three ways to read it</a:t>
            </a:r>
            <a:r>
              <a:rPr lang="en-US" sz="2600" dirty="0" smtClean="0"/>
              <a:t>:</a:t>
            </a:r>
          </a:p>
          <a:p>
            <a:pPr lvl="1"/>
            <a:r>
              <a:rPr lang="en-US" sz="2200" dirty="0" smtClean="0"/>
              <a:t>cautionary tale about not taking consistency seriously from the </a:t>
            </a:r>
            <a:r>
              <a:rPr lang="en-US" sz="2200" dirty="0" smtClean="0"/>
              <a:t>start</a:t>
            </a:r>
          </a:p>
          <a:p>
            <a:pPr lvl="1"/>
            <a:r>
              <a:rPr lang="en-US" sz="2200" dirty="0" smtClean="0"/>
              <a:t>impressive story of super high capacity from mostly-off-the-shelf </a:t>
            </a:r>
            <a:r>
              <a:rPr lang="en-US" sz="2200" dirty="0" smtClean="0"/>
              <a:t>s/w</a:t>
            </a:r>
          </a:p>
          <a:p>
            <a:pPr lvl="1"/>
            <a:r>
              <a:rPr lang="en-US" sz="2200" dirty="0" smtClean="0"/>
              <a:t>fundamental struggle between performance and </a:t>
            </a:r>
            <a:r>
              <a:rPr lang="en-US" sz="2200" dirty="0" smtClean="0"/>
              <a:t>consistency</a:t>
            </a:r>
          </a:p>
          <a:p>
            <a:r>
              <a:rPr lang="en-US" sz="2600" dirty="0" smtClean="0"/>
              <a:t>we can argue with their design, but not their success</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do FB apps use mc?</a:t>
            </a:r>
            <a:endParaRPr lang="en-US" dirty="0"/>
          </a:p>
        </p:txBody>
      </p:sp>
      <p:sp>
        <p:nvSpPr>
          <p:cNvPr id="3" name="Content Placeholder 2"/>
          <p:cNvSpPr>
            <a:spLocks noGrp="1"/>
          </p:cNvSpPr>
          <p:nvPr>
            <p:ph idx="1"/>
          </p:nvPr>
        </p:nvSpPr>
        <p:spPr/>
        <p:txBody>
          <a:bodyPr/>
          <a:lstStyle/>
          <a:p>
            <a:r>
              <a:rPr lang="en-US" sz="2200" dirty="0" smtClean="0"/>
              <a:t>FB uses mc as a "look-aside" cache</a:t>
            </a:r>
          </a:p>
          <a:p>
            <a:pPr lvl="1"/>
            <a:r>
              <a:rPr lang="en-US" sz="1600" dirty="0" smtClean="0"/>
              <a:t>real data is in the DB</a:t>
            </a:r>
          </a:p>
          <a:p>
            <a:pPr lvl="1"/>
            <a:r>
              <a:rPr lang="en-US" sz="1600" dirty="0" smtClean="0"/>
              <a:t>cached value (if any) should be same as DB</a:t>
            </a:r>
          </a:p>
          <a:p>
            <a:r>
              <a:rPr lang="en-US" sz="2000" dirty="0" smtClean="0"/>
              <a:t>read:</a:t>
            </a:r>
          </a:p>
          <a:p>
            <a:pPr lvl="1">
              <a:buNone/>
            </a:pPr>
            <a:r>
              <a:rPr lang="en-US" sz="1600" dirty="0" smtClean="0"/>
              <a:t>v = get(k) (computes hash(k) to choose mc server)</a:t>
            </a:r>
          </a:p>
          <a:p>
            <a:pPr lvl="1">
              <a:buNone/>
            </a:pPr>
            <a:r>
              <a:rPr lang="en-US" sz="1600" dirty="0" smtClean="0"/>
              <a:t>if v is nil {</a:t>
            </a:r>
          </a:p>
          <a:p>
            <a:pPr lvl="1">
              <a:buNone/>
            </a:pPr>
            <a:r>
              <a:rPr lang="en-US" sz="1600" dirty="0" smtClean="0"/>
              <a:t>	v = fetch from DB</a:t>
            </a:r>
          </a:p>
          <a:p>
            <a:pPr lvl="1">
              <a:buNone/>
            </a:pPr>
            <a:r>
              <a:rPr lang="en-US" sz="1600" dirty="0" smtClean="0"/>
              <a:t>	set(k, v)</a:t>
            </a:r>
          </a:p>
          <a:p>
            <a:pPr lvl="1">
              <a:buNone/>
            </a:pPr>
            <a:r>
              <a:rPr lang="en-US" sz="1600" dirty="0" smtClean="0"/>
              <a:t>}</a:t>
            </a:r>
          </a:p>
          <a:p>
            <a:r>
              <a:rPr lang="en-US" sz="2000" dirty="0" smtClean="0"/>
              <a:t>write:</a:t>
            </a:r>
          </a:p>
          <a:p>
            <a:pPr lvl="1">
              <a:buNone/>
            </a:pPr>
            <a:r>
              <a:rPr lang="en-US" sz="1600" dirty="0" smtClean="0"/>
              <a:t>v = new value</a:t>
            </a:r>
          </a:p>
          <a:p>
            <a:pPr lvl="1">
              <a:buNone/>
            </a:pPr>
            <a:r>
              <a:rPr lang="en-US" sz="1600" dirty="0" smtClean="0"/>
              <a:t>send </a:t>
            </a:r>
            <a:r>
              <a:rPr lang="en-US" sz="1600" dirty="0" err="1" smtClean="0"/>
              <a:t>k,v</a:t>
            </a:r>
            <a:r>
              <a:rPr lang="en-US" sz="1600" dirty="0" smtClean="0"/>
              <a:t> to DB</a:t>
            </a:r>
          </a:p>
          <a:p>
            <a:pPr lvl="1">
              <a:buNone/>
            </a:pPr>
            <a:r>
              <a:rPr lang="en-US" sz="1600" dirty="0" smtClean="0"/>
              <a:t>delete(k)</a:t>
            </a:r>
          </a:p>
          <a:p>
            <a:r>
              <a:rPr lang="en-US" sz="2000" dirty="0" smtClean="0"/>
              <a:t>application determines relationship of mc to DB</a:t>
            </a:r>
          </a:p>
          <a:p>
            <a:pPr lvl="1"/>
            <a:r>
              <a:rPr lang="en-US" sz="1600" dirty="0" smtClean="0"/>
              <a:t>mc doesn't know anything about DB</a:t>
            </a:r>
            <a:endParaRPr lang="en-US" sz="1600" dirty="0"/>
          </a:p>
        </p:txBody>
      </p:sp>
      <p:pic>
        <p:nvPicPr>
          <p:cNvPr id="1026" name="Picture 2"/>
          <p:cNvPicPr>
            <a:picLocks noChangeAspect="1" noChangeArrowheads="1"/>
          </p:cNvPicPr>
          <p:nvPr/>
        </p:nvPicPr>
        <p:blipFill>
          <a:blip r:embed="rId2" cstate="print"/>
          <a:srcRect/>
          <a:stretch>
            <a:fillRect/>
          </a:stretch>
        </p:blipFill>
        <p:spPr bwMode="auto">
          <a:xfrm>
            <a:off x="5410200" y="1676400"/>
            <a:ext cx="3216275" cy="1330325"/>
          </a:xfrm>
          <a:prstGeom prst="rect">
            <a:avLst/>
          </a:prstGeom>
          <a:noFill/>
          <a:ln w="9525">
            <a:noFill/>
            <a:miter lim="800000"/>
            <a:headEnd/>
            <a:tailEnd/>
          </a:ln>
        </p:spPr>
      </p:pic>
      <p:sp>
        <p:nvSpPr>
          <p:cNvPr id="5" name="Rectangle 4"/>
          <p:cNvSpPr/>
          <p:nvPr/>
        </p:nvSpPr>
        <p:spPr>
          <a:xfrm>
            <a:off x="5486400" y="3505200"/>
            <a:ext cx="2971800" cy="147732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342900" indent="-342900">
              <a:buFont typeface="+mj-lt"/>
              <a:buAutoNum type="arabicPeriod"/>
            </a:pPr>
            <a:r>
              <a:rPr lang="en-US" dirty="0" smtClean="0">
                <a:latin typeface="+mj-lt"/>
              </a:rPr>
              <a:t>The left half illustrates the read path for a </a:t>
            </a:r>
            <a:r>
              <a:rPr lang="en-US" dirty="0" smtClean="0">
                <a:latin typeface="+mj-lt"/>
              </a:rPr>
              <a:t>web server </a:t>
            </a:r>
            <a:r>
              <a:rPr lang="en-US" dirty="0" smtClean="0">
                <a:latin typeface="+mj-lt"/>
              </a:rPr>
              <a:t>on a cache </a:t>
            </a:r>
            <a:r>
              <a:rPr lang="en-US" dirty="0" smtClean="0">
                <a:latin typeface="+mj-lt"/>
              </a:rPr>
              <a:t>miss.</a:t>
            </a:r>
          </a:p>
          <a:p>
            <a:pPr marL="342900" indent="-342900">
              <a:buFont typeface="+mj-lt"/>
              <a:buAutoNum type="arabicPeriod"/>
            </a:pPr>
            <a:r>
              <a:rPr lang="en-US" dirty="0" smtClean="0">
                <a:latin typeface="+mj-lt"/>
              </a:rPr>
              <a:t>The </a:t>
            </a:r>
            <a:r>
              <a:rPr lang="en-US" dirty="0" smtClean="0">
                <a:latin typeface="+mj-lt"/>
              </a:rPr>
              <a:t>right half illustrates </a:t>
            </a:r>
            <a:r>
              <a:rPr lang="en-US" dirty="0" smtClean="0">
                <a:latin typeface="+mj-lt"/>
              </a:rPr>
              <a:t>the write </a:t>
            </a:r>
            <a:r>
              <a:rPr lang="en-US" dirty="0" smtClean="0">
                <a:latin typeface="+mj-lt"/>
              </a:rPr>
              <a:t>path.</a:t>
            </a:r>
            <a:endParaRPr lang="en-US" dirty="0">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architecture</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2062163" y="1965325"/>
            <a:ext cx="5019675" cy="3902075"/>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Parallel requests and batching</a:t>
            </a:r>
            <a:endParaRPr lang="en-US" dirty="0"/>
          </a:p>
        </p:txBody>
      </p:sp>
      <p:sp>
        <p:nvSpPr>
          <p:cNvPr id="3" name="Content Placeholder 2"/>
          <p:cNvSpPr>
            <a:spLocks noGrp="1"/>
          </p:cNvSpPr>
          <p:nvPr>
            <p:ph idx="1"/>
          </p:nvPr>
        </p:nvSpPr>
        <p:spPr/>
        <p:txBody>
          <a:bodyPr/>
          <a:lstStyle/>
          <a:p>
            <a:r>
              <a:rPr lang="en-US" sz="2400" dirty="0" smtClean="0"/>
              <a:t>We structure our </a:t>
            </a:r>
            <a:r>
              <a:rPr lang="en-US" sz="2400" dirty="0" smtClean="0"/>
              <a:t>web application code </a:t>
            </a:r>
            <a:r>
              <a:rPr lang="en-US" sz="2400" dirty="0" smtClean="0"/>
              <a:t>to minimize the number of </a:t>
            </a:r>
            <a:r>
              <a:rPr lang="en-US" sz="2400" dirty="0" smtClean="0"/>
              <a:t>network round </a:t>
            </a:r>
            <a:r>
              <a:rPr lang="en-US" sz="2400" dirty="0" smtClean="0"/>
              <a:t>trips necessary to respond to page </a:t>
            </a:r>
            <a:r>
              <a:rPr lang="en-US" sz="2400" dirty="0" smtClean="0"/>
              <a:t>requests.</a:t>
            </a:r>
          </a:p>
          <a:p>
            <a:r>
              <a:rPr lang="en-US" sz="2400" dirty="0" smtClean="0"/>
              <a:t>We construct </a:t>
            </a:r>
            <a:r>
              <a:rPr lang="en-US" sz="2400" dirty="0" smtClean="0"/>
              <a:t>a directed acyclic graph (DAG) </a:t>
            </a:r>
            <a:r>
              <a:rPr lang="en-US" sz="2400" dirty="0" smtClean="0"/>
              <a:t>representing the </a:t>
            </a:r>
            <a:r>
              <a:rPr lang="en-US" sz="2400" dirty="0" smtClean="0"/>
              <a:t>dependencies between </a:t>
            </a:r>
            <a:r>
              <a:rPr lang="en-US" sz="2400" dirty="0" smtClean="0"/>
              <a:t>data.</a:t>
            </a:r>
          </a:p>
          <a:p>
            <a:r>
              <a:rPr lang="en-US" sz="2400" dirty="0" smtClean="0"/>
              <a:t>A </a:t>
            </a:r>
            <a:r>
              <a:rPr lang="en-US" sz="2400" dirty="0" smtClean="0"/>
              <a:t>web server uses </a:t>
            </a:r>
            <a:r>
              <a:rPr lang="en-US" sz="2400" dirty="0" smtClean="0"/>
              <a:t>this DAG </a:t>
            </a:r>
            <a:r>
              <a:rPr lang="en-US" sz="2400" dirty="0" smtClean="0"/>
              <a:t>to maximize the number of items that can </a:t>
            </a:r>
            <a:r>
              <a:rPr lang="en-US" sz="2400" dirty="0" smtClean="0"/>
              <a:t>be fetched </a:t>
            </a:r>
            <a:r>
              <a:rPr lang="en-US" sz="2400" dirty="0" smtClean="0"/>
              <a:t>concurrently</a:t>
            </a:r>
            <a:r>
              <a:rPr lang="en-US" sz="2400" dirty="0" smtClean="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Construct a Directed Acyclic </a:t>
            </a:r>
            <a:r>
              <a:rPr lang="en-US" dirty="0" smtClean="0"/>
              <a:t>Graph</a:t>
            </a:r>
            <a:endParaRPr lang="en-US" dirty="0" smtClean="0"/>
          </a:p>
        </p:txBody>
      </p:sp>
      <p:sp>
        <p:nvSpPr>
          <p:cNvPr id="3" name="Content Placeholder 2"/>
          <p:cNvSpPr>
            <a:spLocks noGrp="1"/>
          </p:cNvSpPr>
          <p:nvPr>
            <p:ph idx="1"/>
          </p:nvPr>
        </p:nvSpPr>
        <p:spPr/>
        <p:txBody>
          <a:bodyPr/>
          <a:lstStyle/>
          <a:p>
            <a:r>
              <a:rPr lang="en-US" sz="2200" b="1" dirty="0" smtClean="0"/>
              <a:t>DAG Structure</a:t>
            </a:r>
            <a:r>
              <a:rPr lang="en-US" sz="2200" dirty="0" smtClean="0"/>
              <a:t>: The idea is to represent your data and their dependencies as a graph, where each node represents a data resource or item, and edges represent dependencies between these </a:t>
            </a:r>
            <a:r>
              <a:rPr lang="en-US" sz="2200" dirty="0" smtClean="0"/>
              <a:t>resources.</a:t>
            </a:r>
          </a:p>
          <a:p>
            <a:r>
              <a:rPr lang="en-US" sz="2200" dirty="0" smtClean="0"/>
              <a:t>In </a:t>
            </a:r>
            <a:r>
              <a:rPr lang="en-US" sz="2200" dirty="0" smtClean="0"/>
              <a:t>a DAG, there are no cycles, meaning no data can depend on itself</a:t>
            </a:r>
            <a:r>
              <a:rPr lang="en-US" sz="2200" dirty="0" smtClean="0"/>
              <a:t>.</a:t>
            </a:r>
          </a:p>
          <a:p>
            <a:r>
              <a:rPr lang="en-US" sz="2200" b="1" dirty="0" smtClean="0"/>
              <a:t>How to Construct</a:t>
            </a:r>
            <a:r>
              <a:rPr lang="en-US" sz="2200" dirty="0" smtClean="0"/>
              <a:t>: You can create the DAG programmatically by:</a:t>
            </a:r>
            <a:endParaRPr lang="en-US" sz="2200" b="1" dirty="0" smtClean="0"/>
          </a:p>
          <a:p>
            <a:pPr lvl="1"/>
            <a:r>
              <a:rPr lang="en-US" sz="1800" b="1" dirty="0" smtClean="0"/>
              <a:t>Identifying </a:t>
            </a:r>
            <a:r>
              <a:rPr lang="en-US" sz="1800" b="1" dirty="0" smtClean="0"/>
              <a:t>Resources</a:t>
            </a:r>
            <a:r>
              <a:rPr lang="en-US" sz="1800" dirty="0" smtClean="0"/>
              <a:t>: First, identify all the data that needs to be fetched from the </a:t>
            </a:r>
            <a:r>
              <a:rPr lang="en-US" sz="1800" dirty="0" smtClean="0"/>
              <a:t>server.</a:t>
            </a:r>
          </a:p>
          <a:p>
            <a:pPr lvl="1"/>
            <a:r>
              <a:rPr lang="en-US" sz="1800" b="1" dirty="0" smtClean="0"/>
              <a:t>Defining </a:t>
            </a:r>
            <a:r>
              <a:rPr lang="en-US" sz="1800" b="1" dirty="0" smtClean="0"/>
              <a:t>Dependencies</a:t>
            </a:r>
            <a:r>
              <a:rPr lang="en-US" sz="1800" dirty="0" smtClean="0"/>
              <a:t>: For each data point, identify what data it depends on. For example, if you need to fetch a list of user comments, you may first need to fetch user details</a:t>
            </a:r>
            <a:r>
              <a:rPr lang="en-US" sz="1800" dirty="0" smtClean="0"/>
              <a:t>.</a:t>
            </a:r>
          </a:p>
          <a:p>
            <a:pPr lvl="1"/>
            <a:r>
              <a:rPr lang="en-US" sz="1800" b="1" dirty="0" smtClean="0"/>
              <a:t>Graph </a:t>
            </a:r>
            <a:r>
              <a:rPr lang="en-US" sz="1800" b="1" dirty="0" smtClean="0"/>
              <a:t>Representation</a:t>
            </a:r>
            <a:r>
              <a:rPr lang="en-US" sz="1800" dirty="0" smtClean="0"/>
              <a:t>: You could use libraries like </a:t>
            </a:r>
            <a:r>
              <a:rPr lang="en-US" sz="1800" dirty="0" err="1" smtClean="0"/>
              <a:t>networkx</a:t>
            </a:r>
            <a:r>
              <a:rPr lang="en-US" sz="1800" dirty="0" smtClean="0"/>
              <a:t> (Python) or </a:t>
            </a:r>
            <a:r>
              <a:rPr lang="en-US" sz="1800" dirty="0" err="1" smtClean="0"/>
              <a:t>graphlib</a:t>
            </a:r>
            <a:r>
              <a:rPr lang="en-US" sz="1800" dirty="0" smtClean="0"/>
              <a:t> to model this graph.</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5" name="Rectangle 4"/>
          <p:cNvSpPr/>
          <p:nvPr/>
        </p:nvSpPr>
        <p:spPr>
          <a:xfrm>
            <a:off x="533400" y="2136339"/>
            <a:ext cx="8153400" cy="2031325"/>
          </a:xfrm>
          <a:prstGeom prst="rect">
            <a:avLst/>
          </a:prstGeom>
        </p:spPr>
        <p:txBody>
          <a:bodyPr wrap="square">
            <a:spAutoFit/>
          </a:bodyPr>
          <a:lstStyle/>
          <a:p>
            <a:r>
              <a:rPr lang="en-US" dirty="0" smtClean="0">
                <a:latin typeface="Consolas" pitchFamily="49" charset="0"/>
              </a:rPr>
              <a:t>{</a:t>
            </a:r>
          </a:p>
          <a:p>
            <a:r>
              <a:rPr lang="en-US" dirty="0" smtClean="0">
                <a:latin typeface="Consolas" pitchFamily="49" charset="0"/>
              </a:rPr>
              <a:t>  "nodes": [</a:t>
            </a:r>
          </a:p>
          <a:p>
            <a:r>
              <a:rPr lang="en-US" dirty="0" smtClean="0">
                <a:latin typeface="Consolas" pitchFamily="49" charset="0"/>
              </a:rPr>
              <a:t>    { "id": "</a:t>
            </a:r>
            <a:r>
              <a:rPr lang="en-US" dirty="0" err="1" smtClean="0">
                <a:latin typeface="Consolas" pitchFamily="49" charset="0"/>
              </a:rPr>
              <a:t>user_data</a:t>
            </a:r>
            <a:r>
              <a:rPr lang="en-US" dirty="0" smtClean="0">
                <a:latin typeface="Consolas" pitchFamily="49" charset="0"/>
              </a:rPr>
              <a:t>", "dependencies": [] },</a:t>
            </a:r>
          </a:p>
          <a:p>
            <a:r>
              <a:rPr lang="en-US" dirty="0" smtClean="0">
                <a:latin typeface="Consolas" pitchFamily="49" charset="0"/>
              </a:rPr>
              <a:t>    { "id": "</a:t>
            </a:r>
            <a:r>
              <a:rPr lang="en-US" dirty="0" err="1" smtClean="0">
                <a:latin typeface="Consolas" pitchFamily="49" charset="0"/>
              </a:rPr>
              <a:t>posts_data</a:t>
            </a:r>
            <a:r>
              <a:rPr lang="en-US" dirty="0" smtClean="0">
                <a:latin typeface="Consolas" pitchFamily="49" charset="0"/>
              </a:rPr>
              <a:t>", "dependencies": ["</a:t>
            </a:r>
            <a:r>
              <a:rPr lang="en-US" dirty="0" err="1" smtClean="0">
                <a:latin typeface="Consolas" pitchFamily="49" charset="0"/>
              </a:rPr>
              <a:t>user_data</a:t>
            </a:r>
            <a:r>
              <a:rPr lang="en-US" dirty="0" smtClean="0">
                <a:latin typeface="Consolas" pitchFamily="49" charset="0"/>
              </a:rPr>
              <a:t>"] },</a:t>
            </a:r>
          </a:p>
          <a:p>
            <a:r>
              <a:rPr lang="en-US" dirty="0" smtClean="0">
                <a:latin typeface="Consolas" pitchFamily="49" charset="0"/>
              </a:rPr>
              <a:t>    { "id": "</a:t>
            </a:r>
            <a:r>
              <a:rPr lang="en-US" dirty="0" err="1" smtClean="0">
                <a:latin typeface="Consolas" pitchFamily="49" charset="0"/>
              </a:rPr>
              <a:t>comments_data</a:t>
            </a:r>
            <a:r>
              <a:rPr lang="en-US" dirty="0" smtClean="0">
                <a:latin typeface="Consolas" pitchFamily="49" charset="0"/>
              </a:rPr>
              <a:t>", "dependencies": ["</a:t>
            </a:r>
            <a:r>
              <a:rPr lang="en-US" dirty="0" err="1" smtClean="0">
                <a:latin typeface="Consolas" pitchFamily="49" charset="0"/>
              </a:rPr>
              <a:t>posts_data</a:t>
            </a:r>
            <a:r>
              <a:rPr lang="en-US" dirty="0" smtClean="0">
                <a:latin typeface="Consolas" pitchFamily="49" charset="0"/>
              </a:rPr>
              <a:t>"] }</a:t>
            </a:r>
          </a:p>
          <a:p>
            <a:r>
              <a:rPr lang="en-US" dirty="0" smtClean="0">
                <a:latin typeface="Consolas" pitchFamily="49" charset="0"/>
              </a:rPr>
              <a:t>  ]</a:t>
            </a:r>
          </a:p>
          <a:p>
            <a:r>
              <a:rPr lang="en-US" dirty="0" smtClean="0">
                <a:latin typeface="Consolas" pitchFamily="49" charset="0"/>
              </a:rPr>
              <a:t>}</a:t>
            </a:r>
            <a:endParaRPr lang="en-US" dirty="0">
              <a:latin typeface="Consolas" pitchFamily="49"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Resolve Dependencies (Topological Sorting)</a:t>
            </a:r>
          </a:p>
        </p:txBody>
      </p:sp>
      <p:sp>
        <p:nvSpPr>
          <p:cNvPr id="3" name="Content Placeholder 2"/>
          <p:cNvSpPr>
            <a:spLocks noGrp="1"/>
          </p:cNvSpPr>
          <p:nvPr>
            <p:ph idx="1"/>
          </p:nvPr>
        </p:nvSpPr>
        <p:spPr/>
        <p:txBody>
          <a:bodyPr/>
          <a:lstStyle/>
          <a:p>
            <a:r>
              <a:rPr lang="en-US" sz="2400" b="1" dirty="0" smtClean="0"/>
              <a:t>Topological Sort</a:t>
            </a:r>
            <a:r>
              <a:rPr lang="en-US" sz="2400" dirty="0" smtClean="0"/>
              <a:t>: Once you’ve created the graph, you’ll need to resolve the </a:t>
            </a:r>
            <a:r>
              <a:rPr lang="en-US" sz="2400" dirty="0" smtClean="0"/>
              <a:t>dependencies.</a:t>
            </a:r>
          </a:p>
          <a:p>
            <a:r>
              <a:rPr lang="en-US" sz="2400" dirty="0" smtClean="0"/>
              <a:t>A </a:t>
            </a:r>
            <a:r>
              <a:rPr lang="en-US" sz="2400" b="1" dirty="0" smtClean="0"/>
              <a:t>topological sort</a:t>
            </a:r>
            <a:r>
              <a:rPr lang="en-US" sz="2400" dirty="0" smtClean="0"/>
              <a:t> of the DAG ensures that data is fetched in the correct order, i.e., you’ll fetch the independent data first, then fetch dependent data </a:t>
            </a:r>
            <a:r>
              <a:rPr lang="en-US" sz="2400" dirty="0" smtClean="0"/>
              <a:t>later.</a:t>
            </a:r>
          </a:p>
          <a:p>
            <a:r>
              <a:rPr lang="en-US" sz="2400" dirty="0" smtClean="0"/>
              <a:t>Libraries </a:t>
            </a:r>
            <a:r>
              <a:rPr lang="en-US" sz="2400" dirty="0" smtClean="0"/>
              <a:t>like </a:t>
            </a:r>
            <a:r>
              <a:rPr lang="en-US" sz="2400" dirty="0" err="1" smtClean="0"/>
              <a:t>networkx</a:t>
            </a:r>
            <a:r>
              <a:rPr lang="en-US" sz="2400" dirty="0" smtClean="0"/>
              <a:t> in Python can help perform topological sorting.</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Make Parallel Requests</a:t>
            </a:r>
          </a:p>
        </p:txBody>
      </p:sp>
      <p:sp>
        <p:nvSpPr>
          <p:cNvPr id="3" name="Content Placeholder 2"/>
          <p:cNvSpPr>
            <a:spLocks noGrp="1"/>
          </p:cNvSpPr>
          <p:nvPr>
            <p:ph idx="1"/>
          </p:nvPr>
        </p:nvSpPr>
        <p:spPr/>
        <p:txBody>
          <a:bodyPr/>
          <a:lstStyle/>
          <a:p>
            <a:r>
              <a:rPr lang="en-US" sz="2400" dirty="0" smtClean="0"/>
              <a:t>Once you have the sorted nodes, you can start making requests. Any data that has no dependencies can be requested concurrently. For dependent data, ensure that the necessary data has been fetched before making the request</a:t>
            </a:r>
            <a:r>
              <a:rPr lang="en-US" sz="2400" dirty="0" smtClean="0"/>
              <a:t>.</a:t>
            </a:r>
          </a:p>
          <a:p>
            <a:r>
              <a:rPr lang="en-US" sz="2400" b="1" dirty="0" smtClean="0"/>
              <a:t>Parallel </a:t>
            </a:r>
            <a:r>
              <a:rPr lang="en-US" sz="2400" b="1" dirty="0" smtClean="0"/>
              <a:t>Fetching</a:t>
            </a:r>
            <a:r>
              <a:rPr lang="en-US" sz="2400" dirty="0" smtClean="0"/>
              <a:t>: To fetch data concurrently, use asynchronous calls (e.g., using </a:t>
            </a:r>
            <a:r>
              <a:rPr lang="en-US" sz="2400" dirty="0" err="1" smtClean="0"/>
              <a:t>asyncio</a:t>
            </a:r>
            <a:r>
              <a:rPr lang="en-US" sz="2400" dirty="0" smtClean="0"/>
              <a:t> in Python or </a:t>
            </a:r>
            <a:r>
              <a:rPr lang="en-US" sz="2400" dirty="0" err="1" smtClean="0"/>
              <a:t>Promise.all</a:t>
            </a:r>
            <a:r>
              <a:rPr lang="en-US" sz="2400" dirty="0" smtClean="0"/>
              <a:t>() in JavaScript). You can group independent requests together and run them in parallel to save time.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Client-server communication</a:t>
            </a:r>
          </a:p>
        </p:txBody>
      </p:sp>
      <p:sp>
        <p:nvSpPr>
          <p:cNvPr id="3" name="Content Placeholder 2"/>
          <p:cNvSpPr>
            <a:spLocks noGrp="1"/>
          </p:cNvSpPr>
          <p:nvPr>
            <p:ph idx="1"/>
          </p:nvPr>
        </p:nvSpPr>
        <p:spPr/>
        <p:txBody>
          <a:bodyPr/>
          <a:lstStyle/>
          <a:p>
            <a:r>
              <a:rPr lang="en-US" sz="2200" dirty="0" err="1" smtClean="0"/>
              <a:t>Memcached</a:t>
            </a:r>
            <a:r>
              <a:rPr lang="en-US" sz="2200" dirty="0" smtClean="0"/>
              <a:t> servers </a:t>
            </a:r>
            <a:r>
              <a:rPr lang="en-US" sz="2200" dirty="0" smtClean="0"/>
              <a:t>do not </a:t>
            </a:r>
            <a:r>
              <a:rPr lang="en-US" sz="2200" dirty="0" smtClean="0"/>
              <a:t>communicate with each other. When </a:t>
            </a:r>
            <a:r>
              <a:rPr lang="en-US" sz="2200" dirty="0" smtClean="0"/>
              <a:t>appropriate, we </a:t>
            </a:r>
            <a:r>
              <a:rPr lang="en-US" sz="2200" dirty="0" smtClean="0"/>
              <a:t>embed the complexity of the system into a </a:t>
            </a:r>
            <a:r>
              <a:rPr lang="en-US" sz="2200" dirty="0" smtClean="0"/>
              <a:t>stateless client </a:t>
            </a:r>
            <a:r>
              <a:rPr lang="en-US" sz="2200" dirty="0" smtClean="0"/>
              <a:t>rather than in the </a:t>
            </a:r>
            <a:r>
              <a:rPr lang="en-US" sz="2200" dirty="0" err="1" smtClean="0"/>
              <a:t>memcached</a:t>
            </a:r>
            <a:r>
              <a:rPr lang="en-US" sz="2200" dirty="0" smtClean="0"/>
              <a:t> servers</a:t>
            </a:r>
            <a:r>
              <a:rPr lang="en-US" sz="2200" dirty="0" smtClean="0"/>
              <a:t>.</a:t>
            </a:r>
          </a:p>
          <a:p>
            <a:r>
              <a:rPr lang="en-US" sz="2200" dirty="0" smtClean="0"/>
              <a:t>This greatly simplifies </a:t>
            </a:r>
            <a:r>
              <a:rPr lang="en-US" sz="2200" dirty="0" err="1" smtClean="0"/>
              <a:t>memcached</a:t>
            </a:r>
            <a:r>
              <a:rPr lang="en-US" sz="2200" dirty="0" smtClean="0"/>
              <a:t> and allows us to focus on </a:t>
            </a:r>
            <a:r>
              <a:rPr lang="en-US" sz="2200" dirty="0" smtClean="0"/>
              <a:t>making it </a:t>
            </a:r>
            <a:r>
              <a:rPr lang="en-US" sz="2200" dirty="0" smtClean="0"/>
              <a:t>highly </a:t>
            </a:r>
            <a:r>
              <a:rPr lang="en-US" sz="2200" dirty="0" err="1" smtClean="0"/>
              <a:t>performant</a:t>
            </a:r>
            <a:r>
              <a:rPr lang="en-US" sz="2200" dirty="0" smtClean="0"/>
              <a:t> </a:t>
            </a:r>
            <a:r>
              <a:rPr lang="en-US" sz="2200" dirty="0" smtClean="0"/>
              <a:t>for a more limited use case</a:t>
            </a:r>
            <a:r>
              <a:rPr lang="en-US" sz="2200" dirty="0" smtClean="0"/>
              <a:t>.</a:t>
            </a:r>
          </a:p>
          <a:p>
            <a:r>
              <a:rPr lang="en-US" sz="2200" dirty="0" smtClean="0"/>
              <a:t>Keeping the </a:t>
            </a:r>
            <a:r>
              <a:rPr lang="en-US" sz="2200" dirty="0" smtClean="0"/>
              <a:t>clients stateless enables rapid iteration in </a:t>
            </a:r>
            <a:r>
              <a:rPr lang="en-US" sz="2200" dirty="0" smtClean="0"/>
              <a:t>the software </a:t>
            </a:r>
            <a:r>
              <a:rPr lang="en-US" sz="2200" dirty="0" smtClean="0"/>
              <a:t>and simplifies our deployment </a:t>
            </a:r>
            <a:r>
              <a:rPr lang="en-US" sz="2200" dirty="0" smtClean="0"/>
              <a:t>process.</a:t>
            </a:r>
          </a:p>
          <a:p>
            <a:r>
              <a:rPr lang="en-US" sz="2200" dirty="0" smtClean="0"/>
              <a:t>Client logic </a:t>
            </a:r>
            <a:r>
              <a:rPr lang="en-US" sz="2200" dirty="0" smtClean="0"/>
              <a:t>is provided as two components: a library that </a:t>
            </a:r>
            <a:r>
              <a:rPr lang="en-US" sz="2200" dirty="0" smtClean="0"/>
              <a:t>can be </a:t>
            </a:r>
            <a:r>
              <a:rPr lang="en-US" sz="2200" dirty="0" smtClean="0"/>
              <a:t>embedded into applications or as a standalone </a:t>
            </a:r>
            <a:r>
              <a:rPr lang="en-US" sz="2200" dirty="0" smtClean="0"/>
              <a:t>proxy named </a:t>
            </a:r>
            <a:r>
              <a:rPr lang="en-US" sz="2200" b="1" dirty="0" err="1" smtClean="0"/>
              <a:t>mcrouter</a:t>
            </a:r>
            <a:r>
              <a:rPr lang="en-US" sz="2200" dirty="0" smtClean="0"/>
              <a:t>.</a:t>
            </a:r>
          </a:p>
          <a:p>
            <a:r>
              <a:rPr lang="en-US" sz="2200" dirty="0" smtClean="0"/>
              <a:t>This </a:t>
            </a:r>
            <a:r>
              <a:rPr lang="en-US" sz="2200" dirty="0" smtClean="0"/>
              <a:t>proxy presents a </a:t>
            </a:r>
            <a:r>
              <a:rPr lang="en-US" sz="2200" dirty="0" err="1" smtClean="0"/>
              <a:t>memcached</a:t>
            </a:r>
            <a:r>
              <a:rPr lang="en-US" sz="2200" dirty="0" smtClean="0"/>
              <a:t> server </a:t>
            </a:r>
            <a:r>
              <a:rPr lang="en-US" sz="2200" dirty="0" smtClean="0"/>
              <a:t>interface and routes the requests/replies </a:t>
            </a:r>
            <a:r>
              <a:rPr lang="en-US" sz="2200" dirty="0" smtClean="0"/>
              <a:t>to/from other </a:t>
            </a:r>
            <a:r>
              <a:rPr lang="en-US" sz="2200" dirty="0" smtClean="0"/>
              <a:t>servers.</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invalidation daemons</a:t>
            </a:r>
          </a:p>
        </p:txBody>
      </p:sp>
      <p:sp>
        <p:nvSpPr>
          <p:cNvPr id="3" name="Content Placeholder 2"/>
          <p:cNvSpPr>
            <a:spLocks noGrp="1"/>
          </p:cNvSpPr>
          <p:nvPr>
            <p:ph idx="1"/>
          </p:nvPr>
        </p:nvSpPr>
        <p:spPr/>
        <p:txBody>
          <a:bodyPr/>
          <a:lstStyle/>
          <a:p>
            <a:r>
              <a:rPr lang="en-US" sz="2000" dirty="0" smtClean="0"/>
              <a:t>SQL statements that modify authoritative state </a:t>
            </a:r>
            <a:r>
              <a:rPr lang="en-US" sz="2000" dirty="0" smtClean="0"/>
              <a:t>are amended </a:t>
            </a:r>
            <a:r>
              <a:rPr lang="en-US" sz="2000" dirty="0" smtClean="0"/>
              <a:t>to include </a:t>
            </a:r>
            <a:r>
              <a:rPr lang="en-US" sz="2000" dirty="0" err="1" smtClean="0"/>
              <a:t>memcache</a:t>
            </a:r>
            <a:r>
              <a:rPr lang="en-US" sz="2000" dirty="0" smtClean="0"/>
              <a:t> keys that need to </a:t>
            </a:r>
            <a:r>
              <a:rPr lang="en-US" sz="2000" dirty="0" smtClean="0"/>
              <a:t>be invalidated </a:t>
            </a:r>
            <a:r>
              <a:rPr lang="en-US" sz="2000" dirty="0" smtClean="0"/>
              <a:t>once the transaction </a:t>
            </a:r>
            <a:r>
              <a:rPr lang="en-US" sz="2000" dirty="0" smtClean="0"/>
              <a:t>commits.</a:t>
            </a:r>
          </a:p>
          <a:p>
            <a:r>
              <a:rPr lang="en-US" sz="2000" dirty="0" smtClean="0"/>
              <a:t>We deploy invalidation </a:t>
            </a:r>
            <a:r>
              <a:rPr lang="en-US" sz="2000" dirty="0" smtClean="0"/>
              <a:t>daemons (named </a:t>
            </a:r>
            <a:r>
              <a:rPr lang="en-US" sz="2000" dirty="0" err="1" smtClean="0"/>
              <a:t>mcsqueal</a:t>
            </a:r>
            <a:r>
              <a:rPr lang="en-US" sz="2000" dirty="0" smtClean="0"/>
              <a:t>) on </a:t>
            </a:r>
            <a:r>
              <a:rPr lang="en-US" sz="2000" dirty="0" smtClean="0"/>
              <a:t>every database.</a:t>
            </a:r>
          </a:p>
          <a:p>
            <a:r>
              <a:rPr lang="en-US" sz="2000" dirty="0" smtClean="0"/>
              <a:t>Each </a:t>
            </a:r>
            <a:r>
              <a:rPr lang="en-US" sz="2000" dirty="0" smtClean="0"/>
              <a:t>daemon inspects the SQL statements </a:t>
            </a:r>
            <a:r>
              <a:rPr lang="en-US" sz="2000" dirty="0" smtClean="0"/>
              <a:t>that its </a:t>
            </a:r>
            <a:r>
              <a:rPr lang="en-US" sz="2000" dirty="0" smtClean="0"/>
              <a:t>database commits, extracts any deletes, and </a:t>
            </a:r>
            <a:r>
              <a:rPr lang="en-US" sz="2000" dirty="0" smtClean="0"/>
              <a:t>broadcasts these </a:t>
            </a:r>
            <a:r>
              <a:rPr lang="en-US" sz="2000" dirty="0" smtClean="0"/>
              <a:t>deletes to the </a:t>
            </a:r>
            <a:r>
              <a:rPr lang="en-US" sz="2000" dirty="0" err="1" smtClean="0"/>
              <a:t>memcache</a:t>
            </a:r>
            <a:r>
              <a:rPr lang="en-US" sz="2000" dirty="0" smtClean="0"/>
              <a:t> deployment in </a:t>
            </a:r>
            <a:r>
              <a:rPr lang="en-US" sz="2000" dirty="0" smtClean="0"/>
              <a:t>every frontend </a:t>
            </a:r>
            <a:r>
              <a:rPr lang="en-US" sz="2000" dirty="0" smtClean="0"/>
              <a:t>cluster in that region.</a:t>
            </a:r>
            <a:endParaRPr lang="en-US" sz="2000" dirty="0"/>
          </a:p>
        </p:txBody>
      </p:sp>
      <p:pic>
        <p:nvPicPr>
          <p:cNvPr id="3075" name="Picture 3"/>
          <p:cNvPicPr>
            <a:picLocks noChangeAspect="1" noChangeArrowheads="1"/>
          </p:cNvPicPr>
          <p:nvPr/>
        </p:nvPicPr>
        <p:blipFill>
          <a:blip r:embed="rId2" cstate="print"/>
          <a:srcRect/>
          <a:stretch>
            <a:fillRect/>
          </a:stretch>
        </p:blipFill>
        <p:spPr bwMode="auto">
          <a:xfrm>
            <a:off x="2606675" y="3876675"/>
            <a:ext cx="3930650" cy="2295525"/>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will partition or replication yield most mc throughput?</a:t>
            </a:r>
            <a:endParaRPr lang="en-US" dirty="0"/>
          </a:p>
        </p:txBody>
      </p:sp>
      <p:sp>
        <p:nvSpPr>
          <p:cNvPr id="3" name="Content Placeholder 2"/>
          <p:cNvSpPr>
            <a:spLocks noGrp="1"/>
          </p:cNvSpPr>
          <p:nvPr>
            <p:ph idx="1"/>
          </p:nvPr>
        </p:nvSpPr>
        <p:spPr/>
        <p:txBody>
          <a:bodyPr/>
          <a:lstStyle/>
          <a:p>
            <a:r>
              <a:rPr lang="en-US" sz="2400" dirty="0" smtClean="0"/>
              <a:t>partition: divide keys over mc </a:t>
            </a:r>
            <a:r>
              <a:rPr lang="en-US" sz="2400" dirty="0" smtClean="0"/>
              <a:t>servers</a:t>
            </a:r>
          </a:p>
          <a:p>
            <a:r>
              <a:rPr lang="en-US" sz="2400" dirty="0" smtClean="0"/>
              <a:t>replicate: divide clients over mc </a:t>
            </a:r>
            <a:r>
              <a:rPr lang="en-US" sz="2400" dirty="0" smtClean="0"/>
              <a:t>servers</a:t>
            </a:r>
          </a:p>
          <a:p>
            <a:r>
              <a:rPr lang="en-US" sz="2400" dirty="0" smtClean="0"/>
              <a:t>partition</a:t>
            </a:r>
            <a:r>
              <a:rPr lang="en-US" sz="2400" dirty="0" smtClean="0"/>
              <a:t>:</a:t>
            </a:r>
          </a:p>
          <a:p>
            <a:r>
              <a:rPr lang="en-US" sz="2400" dirty="0" smtClean="0"/>
              <a:t>+ more memory-efficient (one copy of each k/v</a:t>
            </a:r>
            <a:r>
              <a:rPr lang="en-US" sz="2400" dirty="0" smtClean="0"/>
              <a:t>)</a:t>
            </a:r>
          </a:p>
          <a:p>
            <a:r>
              <a:rPr lang="en-US" sz="2400" dirty="0" smtClean="0"/>
              <a:t>+ works well if no key is very </a:t>
            </a:r>
            <a:r>
              <a:rPr lang="en-US" sz="2400" dirty="0" smtClean="0"/>
              <a:t>popular</a:t>
            </a:r>
          </a:p>
          <a:p>
            <a:r>
              <a:rPr lang="en-US" sz="2400" dirty="0" smtClean="0"/>
              <a:t>- each web server must talk to many mc servers (overhead</a:t>
            </a:r>
            <a:r>
              <a:rPr lang="en-US" sz="2400" dirty="0" smtClean="0"/>
              <a:t>)</a:t>
            </a:r>
          </a:p>
          <a:p>
            <a:r>
              <a:rPr lang="en-US" sz="2400" dirty="0" smtClean="0"/>
              <a:t>replication</a:t>
            </a:r>
            <a:r>
              <a:rPr lang="en-US" sz="2400" dirty="0" smtClean="0"/>
              <a:t>:</a:t>
            </a:r>
          </a:p>
          <a:p>
            <a:r>
              <a:rPr lang="en-US" sz="2400" dirty="0" smtClean="0"/>
              <a:t>+ good if a few keys are very </a:t>
            </a:r>
            <a:r>
              <a:rPr lang="en-US" sz="2400" dirty="0" smtClean="0"/>
              <a:t>popular</a:t>
            </a:r>
          </a:p>
          <a:p>
            <a:r>
              <a:rPr lang="en-US" sz="2400" dirty="0" smtClean="0"/>
              <a:t>+ fewer TCP </a:t>
            </a:r>
            <a:r>
              <a:rPr lang="en-US" sz="2400" dirty="0" smtClean="0"/>
              <a:t>connections</a:t>
            </a:r>
          </a:p>
          <a:p>
            <a:r>
              <a:rPr lang="en-US" sz="2400" dirty="0" smtClean="0"/>
              <a:t>- less total data can be cached</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bringing up new mc cluster is a performance problem</a:t>
            </a:r>
            <a:endParaRPr lang="en-US" dirty="0"/>
          </a:p>
        </p:txBody>
      </p:sp>
      <p:sp>
        <p:nvSpPr>
          <p:cNvPr id="3" name="Content Placeholder 2"/>
          <p:cNvSpPr>
            <a:spLocks noGrp="1"/>
          </p:cNvSpPr>
          <p:nvPr>
            <p:ph idx="1"/>
          </p:nvPr>
        </p:nvSpPr>
        <p:spPr/>
        <p:txBody>
          <a:bodyPr/>
          <a:lstStyle/>
          <a:p>
            <a:r>
              <a:rPr lang="en-US" sz="2200" dirty="0" smtClean="0"/>
              <a:t>new cluster has 0% hit rate</a:t>
            </a:r>
          </a:p>
          <a:p>
            <a:r>
              <a:rPr lang="en-US" sz="2200" dirty="0" smtClean="0"/>
              <a:t>if clients use it, will generate big spike in DB load</a:t>
            </a:r>
          </a:p>
          <a:p>
            <a:pPr lvl="1"/>
            <a:r>
              <a:rPr lang="en-US" sz="2200" dirty="0" smtClean="0"/>
              <a:t>if ordinarily 1% miss rate,</a:t>
            </a:r>
          </a:p>
          <a:p>
            <a:pPr lvl="2"/>
            <a:r>
              <a:rPr lang="en-US" sz="2200" dirty="0" smtClean="0"/>
              <a:t>adding "cold" second cluster will causes misses for 50% of ops.</a:t>
            </a:r>
          </a:p>
          <a:p>
            <a:pPr lvl="1"/>
            <a:r>
              <a:rPr lang="en-US" sz="2200" dirty="0" smtClean="0"/>
              <a:t>i.e. 50x spike in DB load!</a:t>
            </a:r>
          </a:p>
          <a:p>
            <a:r>
              <a:rPr lang="en-US" sz="2200" dirty="0" smtClean="0"/>
              <a:t>thus the clients of new cluster first get() from existing cluster (4.3)</a:t>
            </a:r>
          </a:p>
          <a:p>
            <a:pPr lvl="1"/>
            <a:r>
              <a:rPr lang="en-US" sz="2200" dirty="0" smtClean="0"/>
              <a:t>and set() into new cluster</a:t>
            </a:r>
          </a:p>
          <a:p>
            <a:pPr lvl="1"/>
            <a:r>
              <a:rPr lang="en-US" sz="2200" dirty="0" smtClean="0"/>
              <a:t>basically lazy copy of existing cluster to new cluster</a:t>
            </a:r>
          </a:p>
          <a:p>
            <a:r>
              <a:rPr lang="en-US" sz="2200" dirty="0" smtClean="0"/>
              <a:t>better 2x load on existing cluster than 30x load on DB</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another overload problem: thundering herd</a:t>
            </a:r>
            <a:endParaRPr lang="en-US" dirty="0"/>
          </a:p>
        </p:txBody>
      </p:sp>
      <p:sp>
        <p:nvSpPr>
          <p:cNvPr id="3" name="Content Placeholder 2"/>
          <p:cNvSpPr>
            <a:spLocks noGrp="1"/>
          </p:cNvSpPr>
          <p:nvPr>
            <p:ph idx="1"/>
          </p:nvPr>
        </p:nvSpPr>
        <p:spPr/>
        <p:txBody>
          <a:bodyPr/>
          <a:lstStyle/>
          <a:p>
            <a:r>
              <a:rPr lang="en-US" sz="2200" dirty="0" smtClean="0"/>
              <a:t>one client updates DB and delete()s a key</a:t>
            </a:r>
          </a:p>
          <a:p>
            <a:r>
              <a:rPr lang="en-US" sz="2200" dirty="0" smtClean="0"/>
              <a:t>lots of clients get() but miss</a:t>
            </a:r>
          </a:p>
          <a:p>
            <a:pPr lvl="1"/>
            <a:r>
              <a:rPr lang="en-US" sz="2200" dirty="0" smtClean="0"/>
              <a:t>they all fetch from DB</a:t>
            </a:r>
          </a:p>
          <a:p>
            <a:pPr lvl="1"/>
            <a:r>
              <a:rPr lang="en-US" sz="2200" dirty="0" smtClean="0"/>
              <a:t>they all set()</a:t>
            </a:r>
          </a:p>
          <a:p>
            <a:r>
              <a:rPr lang="en-US" sz="2200" dirty="0" smtClean="0"/>
              <a:t>not good: needless DB load</a:t>
            </a:r>
          </a:p>
          <a:p>
            <a:r>
              <a:rPr lang="en-US" sz="2200" dirty="0" smtClean="0"/>
              <a:t>mc gives just the first missing client a "lease"</a:t>
            </a:r>
          </a:p>
          <a:p>
            <a:pPr lvl="1"/>
            <a:r>
              <a:rPr lang="en-US" sz="2200" dirty="0" smtClean="0"/>
              <a:t>lease = permission to refresh from DB</a:t>
            </a:r>
          </a:p>
          <a:p>
            <a:pPr lvl="1"/>
            <a:r>
              <a:rPr lang="en-US" sz="2200" dirty="0" smtClean="0"/>
              <a:t>mc tells others "try get() again in a few milliseconds"</a:t>
            </a:r>
          </a:p>
          <a:p>
            <a:r>
              <a:rPr lang="en-US" sz="2200" dirty="0" smtClean="0"/>
              <a:t>effect: only one client reads the DB and does set()</a:t>
            </a:r>
          </a:p>
          <a:p>
            <a:pPr lvl="1"/>
            <a:r>
              <a:rPr lang="en-US" sz="2200" dirty="0" smtClean="0"/>
              <a:t>others re-try get() later and hopefully hit</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their consistency goal?</a:t>
            </a:r>
            <a:endParaRPr lang="en-US" dirty="0"/>
          </a:p>
        </p:txBody>
      </p:sp>
      <p:sp>
        <p:nvSpPr>
          <p:cNvPr id="3" name="Content Placeholder 2"/>
          <p:cNvSpPr>
            <a:spLocks noGrp="1"/>
          </p:cNvSpPr>
          <p:nvPr>
            <p:ph idx="1"/>
          </p:nvPr>
        </p:nvSpPr>
        <p:spPr/>
        <p:txBody>
          <a:bodyPr/>
          <a:lstStyle/>
          <a:p>
            <a:r>
              <a:rPr lang="en-US" sz="2400" dirty="0" smtClean="0"/>
              <a:t>writes go direct to primary DB, with transactions, so writes are consistent</a:t>
            </a:r>
          </a:p>
          <a:p>
            <a:r>
              <a:rPr lang="en-US" sz="2400" dirty="0" smtClean="0"/>
              <a:t>what about reads?</a:t>
            </a:r>
          </a:p>
          <a:p>
            <a:r>
              <a:rPr lang="en-US" sz="2400" dirty="0" smtClean="0"/>
              <a:t>reads do not always see the latest write</a:t>
            </a:r>
          </a:p>
          <a:p>
            <a:pPr lvl="1"/>
            <a:r>
              <a:rPr lang="en-US" sz="2000" dirty="0" smtClean="0"/>
              <a:t>e.g. since not guaranteed across clusters</a:t>
            </a:r>
          </a:p>
          <a:p>
            <a:r>
              <a:rPr lang="en-US" sz="2400" dirty="0" smtClean="0"/>
              <a:t>more like "not more than a few seconds stale"</a:t>
            </a:r>
          </a:p>
          <a:p>
            <a:pPr lvl="1"/>
            <a:r>
              <a:rPr lang="en-US" sz="2000" dirty="0" smtClean="0"/>
              <a:t>i.e. eventual</a:t>
            </a:r>
          </a:p>
          <a:p>
            <a:r>
              <a:rPr lang="en-US" sz="2400" dirty="0" smtClean="0"/>
              <a:t>*and* writers see their own writes (due to delete())</a:t>
            </a:r>
          </a:p>
          <a:p>
            <a:pPr lvl="1"/>
            <a:r>
              <a:rPr lang="en-US" sz="2000" dirty="0" smtClean="0"/>
              <a:t>read-your-own-writes is a big driving force</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Race</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1500188" y="2206625"/>
            <a:ext cx="6143625" cy="3203575"/>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Lease: </a:t>
            </a:r>
            <a:r>
              <a:rPr lang="en-US" smtClean="0"/>
              <a:t>Solution for Race</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1482725" y="1974850"/>
            <a:ext cx="6178550" cy="381635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20719</TotalTime>
  <Words>1101</Words>
  <Application>Microsoft Office PowerPoint</Application>
  <PresentationFormat>On-screen Show (4:3)</PresentationFormat>
  <Paragraphs>118</Paragraphs>
  <Slides>24</Slides>
  <Notes>1</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Cache Consistency - Memcached at Facebook</vt:lpstr>
      <vt:lpstr>Objectives</vt:lpstr>
      <vt:lpstr>Contents</vt:lpstr>
      <vt:lpstr>References</vt:lpstr>
      <vt:lpstr>why are we reading this paper?</vt:lpstr>
      <vt:lpstr>how do FB apps use mc?</vt:lpstr>
      <vt:lpstr>architecture</vt:lpstr>
      <vt:lpstr>Parallel requests and batching</vt:lpstr>
      <vt:lpstr>Construct a Directed Acyclic Graph</vt:lpstr>
      <vt:lpstr>Example</vt:lpstr>
      <vt:lpstr>Resolve Dependencies (Topological Sorting)</vt:lpstr>
      <vt:lpstr>Make Parallel Requests</vt:lpstr>
      <vt:lpstr>Client-server communication</vt:lpstr>
      <vt:lpstr>invalidation daemons</vt:lpstr>
      <vt:lpstr>Slide 15</vt:lpstr>
      <vt:lpstr>will partition or replication yield most mc throughput?</vt:lpstr>
      <vt:lpstr>Slide 17</vt:lpstr>
      <vt:lpstr>bringing up new mc cluster is a performance problem</vt:lpstr>
      <vt:lpstr>another overload problem: thundering herd</vt:lpstr>
      <vt:lpstr>Slide 20</vt:lpstr>
      <vt:lpstr>what is their consistency goal?</vt:lpstr>
      <vt:lpstr>Race</vt:lpstr>
      <vt:lpstr>Lease: Solution for Race</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6499</cp:revision>
  <dcterms:created xsi:type="dcterms:W3CDTF">2007-10-06T08:25:13Z</dcterms:created>
  <dcterms:modified xsi:type="dcterms:W3CDTF">2025-03-21T17:34:33Z</dcterms:modified>
</cp:coreProperties>
</file>