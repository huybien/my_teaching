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0"/>
  </p:notesMasterIdLst>
  <p:handoutMasterIdLst>
    <p:handoutMasterId r:id="rId21"/>
  </p:handoutMasterIdLst>
  <p:sldIdLst>
    <p:sldId id="256" r:id="rId2"/>
    <p:sldId id="431" r:id="rId3"/>
    <p:sldId id="603" r:id="rId4"/>
    <p:sldId id="423" r:id="rId5"/>
    <p:sldId id="604" r:id="rId6"/>
    <p:sldId id="613" r:id="rId7"/>
    <p:sldId id="614" r:id="rId8"/>
    <p:sldId id="624" r:id="rId9"/>
    <p:sldId id="623" r:id="rId10"/>
    <p:sldId id="627" r:id="rId11"/>
    <p:sldId id="632" r:id="rId12"/>
    <p:sldId id="628" r:id="rId13"/>
    <p:sldId id="625" r:id="rId14"/>
    <p:sldId id="626" r:id="rId15"/>
    <p:sldId id="629" r:id="rId16"/>
    <p:sldId id="630" r:id="rId17"/>
    <p:sldId id="631" r:id="rId18"/>
    <p:sldId id="343" r:id="rId1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33" autoAdjust="0"/>
    <p:restoredTop sz="94667" autoAdjust="0"/>
  </p:normalViewPr>
  <p:slideViewPr>
    <p:cSldViewPr>
      <p:cViewPr>
        <p:scale>
          <a:sx n="50" d="100"/>
          <a:sy n="50" d="100"/>
        </p:scale>
        <p:origin x="-1502"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D0DBAB-D1C9-4D1B-A41F-EB0AC0278643}" type="datetimeFigureOut">
              <a:rPr lang="en-US" smtClean="0"/>
              <a:pPr/>
              <a:t>9/4/2024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6056FB-ACC3-4B45-A768-F167A538151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5C7060-FA44-42F0-8808-1D08F5DA2F41}" type="datetimeFigureOut">
              <a:rPr lang="en-US" smtClean="0"/>
              <a:pPr/>
              <a:t>9/4/2024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E0EE6-BA34-4C45-82C4-9F1F3A459FA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9/4/2024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9/4/2024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9/4/2024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9/4/2024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9/4/2024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9/4/2024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9/4/2024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9/4/2024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9/4/2024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9/4/2024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9/4/2024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9/4/2024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mwhittaker.github.io/blog/two_generals_and_time_machine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smtClean="0"/>
              <a:t>The Two Generals Problem</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smtClean="0">
                <a:cs typeface="Calibri" pitchFamily="34" charset="0"/>
              </a:rPr>
              <a:t>E</a:t>
            </a:r>
            <a:r>
              <a:rPr lang="en-US" sz="2400" dirty="0" smtClean="0">
                <a:cs typeface="Calibri" pitchFamily="34" charset="0"/>
              </a:rPr>
              <a:t>. A. </a:t>
            </a:r>
            <a:r>
              <a:rPr lang="en-US" sz="2400" dirty="0" err="1" smtClean="0">
                <a:cs typeface="Calibri" pitchFamily="34" charset="0"/>
              </a:rPr>
              <a:t>Akkoyunlu</a:t>
            </a:r>
            <a:r>
              <a:rPr lang="en-US" sz="2400" dirty="0" smtClean="0">
                <a:cs typeface="Calibri" pitchFamily="34" charset="0"/>
              </a:rPr>
              <a:t> et al. (1975). Some constraints and tradeoffs in the design of network communications.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Two Generals Problem</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362200" y="2019300"/>
            <a:ext cx="4419600" cy="35433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Messages Lost</a:t>
            </a:r>
            <a:endParaRPr lang="en-US" dirty="0"/>
          </a:p>
        </p:txBody>
      </p:sp>
      <p:sp>
        <p:nvSpPr>
          <p:cNvPr id="3" name="Content Placeholder 2"/>
          <p:cNvSpPr>
            <a:spLocks noGrp="1"/>
          </p:cNvSpPr>
          <p:nvPr>
            <p:ph idx="1"/>
          </p:nvPr>
        </p:nvSpPr>
        <p:spPr/>
        <p:txBody>
          <a:bodyPr/>
          <a:lstStyle/>
          <a:p>
            <a:r>
              <a:rPr lang="en-US" sz="2200" dirty="0" smtClean="0"/>
              <a:t>What protocol should the two generals use to agree on a plan?</a:t>
            </a:r>
            <a:endParaRPr lang="en-US" sz="2200" dirty="0"/>
          </a:p>
        </p:txBody>
      </p:sp>
      <p:pic>
        <p:nvPicPr>
          <p:cNvPr id="4" name="Picture 2"/>
          <p:cNvPicPr>
            <a:picLocks noChangeAspect="1" noChangeArrowheads="1"/>
          </p:cNvPicPr>
          <p:nvPr/>
        </p:nvPicPr>
        <p:blipFill>
          <a:blip r:embed="rId2" cstate="print"/>
          <a:srcRect/>
          <a:stretch>
            <a:fillRect/>
          </a:stretch>
        </p:blipFill>
        <p:spPr bwMode="auto">
          <a:xfrm>
            <a:off x="2168525" y="2362200"/>
            <a:ext cx="4806950" cy="35623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Should the Generals Decide?</a:t>
            </a:r>
            <a:endParaRPr lang="en-US" dirty="0"/>
          </a:p>
        </p:txBody>
      </p:sp>
      <p:sp>
        <p:nvSpPr>
          <p:cNvPr id="3" name="Content Placeholder 2"/>
          <p:cNvSpPr>
            <a:spLocks noGrp="1"/>
          </p:cNvSpPr>
          <p:nvPr>
            <p:ph idx="1"/>
          </p:nvPr>
        </p:nvSpPr>
        <p:spPr/>
        <p:txBody>
          <a:bodyPr/>
          <a:lstStyle/>
          <a:p>
            <a:r>
              <a:rPr lang="en-US" sz="2200" dirty="0" smtClean="0"/>
              <a:t>General 1 always attacks, even if no response is received?</a:t>
            </a:r>
          </a:p>
          <a:p>
            <a:pPr lvl="1"/>
            <a:r>
              <a:rPr lang="en-US" sz="1800" dirty="0" smtClean="0"/>
              <a:t>Send lots of messengers to increase probability that one will get through</a:t>
            </a:r>
          </a:p>
          <a:p>
            <a:pPr lvl="1"/>
            <a:r>
              <a:rPr lang="en-US" sz="1800" dirty="0" smtClean="0"/>
              <a:t>If all are captured, general 2 does not know about the attack, so general 1 loses</a:t>
            </a:r>
          </a:p>
          <a:p>
            <a:r>
              <a:rPr lang="en-US" sz="2200" dirty="0" smtClean="0"/>
              <a:t>General 1 only attacks if positive response from general 2 is received?</a:t>
            </a:r>
          </a:p>
          <a:p>
            <a:pPr lvl="1"/>
            <a:r>
              <a:rPr lang="en-US" sz="1800" dirty="0" smtClean="0"/>
              <a:t>Now general 1 is safe</a:t>
            </a:r>
          </a:p>
          <a:p>
            <a:pPr lvl="1"/>
            <a:r>
              <a:rPr lang="en-US" sz="1800" dirty="0" smtClean="0"/>
              <a:t>But general 2 knows that general 1 will only attack if general 2’s response gets through</a:t>
            </a:r>
          </a:p>
          <a:p>
            <a:pPr lvl="1"/>
            <a:r>
              <a:rPr lang="en-US" sz="1800" dirty="0" smtClean="0"/>
              <a:t>Now general 2 is in the same situation as general 1 in option 1</a:t>
            </a:r>
          </a:p>
          <a:p>
            <a:r>
              <a:rPr lang="en-US" sz="2200" dirty="0" smtClean="0"/>
              <a:t>The problem is that no matter how many messages are exchanged, neither general can ever be certain that the other army will also turn up at the same time.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Description [1]</a:t>
            </a:r>
            <a:endParaRPr lang="en-US" dirty="0"/>
          </a:p>
        </p:txBody>
      </p:sp>
      <p:sp>
        <p:nvSpPr>
          <p:cNvPr id="3" name="Content Placeholder 2"/>
          <p:cNvSpPr>
            <a:spLocks noGrp="1"/>
          </p:cNvSpPr>
          <p:nvPr>
            <p:ph idx="1"/>
          </p:nvPr>
        </p:nvSpPr>
        <p:spPr/>
        <p:txBody>
          <a:bodyPr/>
          <a:lstStyle/>
          <a:p>
            <a:r>
              <a:rPr lang="en-US" sz="2000" dirty="0" smtClean="0">
                <a:hlinkClick r:id="rId2"/>
              </a:rPr>
              <a:t>https://mwhittaker.github.io/blog/two_generals_and_time_machines/</a:t>
            </a:r>
            <a:endParaRPr lang="en-US" sz="2000" dirty="0" smtClean="0"/>
          </a:p>
          <a:p>
            <a:r>
              <a:rPr lang="en-US" sz="2000" dirty="0" smtClean="0"/>
              <a:t>We'll label Alice and Bob A and B. Each general has a </a:t>
            </a:r>
            <a:r>
              <a:rPr lang="en-US" sz="2000" b="1" dirty="0" smtClean="0"/>
              <a:t>state</a:t>
            </a:r>
            <a:r>
              <a:rPr lang="en-US" sz="2000" dirty="0" smtClean="0"/>
              <a:t>, q, from some state set Q. Each general also has an </a:t>
            </a:r>
            <a:r>
              <a:rPr lang="en-US" sz="2000" b="1" dirty="0" smtClean="0"/>
              <a:t>outbox</a:t>
            </a:r>
            <a:r>
              <a:rPr lang="en-US" sz="2000" dirty="0" smtClean="0"/>
              <a:t> and </a:t>
            </a:r>
            <a:r>
              <a:rPr lang="en-US" sz="2000" b="1" dirty="0" smtClean="0"/>
              <a:t>inbox</a:t>
            </a:r>
            <a:r>
              <a:rPr lang="en-US" sz="2000" dirty="0" smtClean="0"/>
              <a:t> which can hold exactly one enveloped message to send or receive respectively.</a:t>
            </a:r>
          </a:p>
          <a:p>
            <a:r>
              <a:rPr lang="en-US" sz="2000" dirty="0" smtClean="0"/>
              <a:t>A </a:t>
            </a:r>
            <a:r>
              <a:rPr lang="en-US" sz="2000" b="1" dirty="0" smtClean="0"/>
              <a:t>configuration</a:t>
            </a:r>
            <a:r>
              <a:rPr lang="en-US" sz="2000" dirty="0" smtClean="0"/>
              <a:t> is the pair of Alice and Bob's states (</a:t>
            </a:r>
            <a:r>
              <a:rPr lang="en-US" sz="2000" dirty="0" err="1" smtClean="0"/>
              <a:t>q</a:t>
            </a:r>
            <a:r>
              <a:rPr lang="en-US" sz="2000" baseline="-25000" dirty="0" err="1" smtClean="0"/>
              <a:t>a</a:t>
            </a:r>
            <a:r>
              <a:rPr lang="en-US" sz="2000" dirty="0" err="1" smtClean="0"/>
              <a:t>,q</a:t>
            </a:r>
            <a:r>
              <a:rPr lang="en-US" sz="2000" baseline="-25000" dirty="0" err="1" smtClean="0"/>
              <a:t>b</a:t>
            </a:r>
            <a:r>
              <a:rPr lang="en-US" sz="2000" dirty="0" smtClean="0"/>
              <a:t>).</a:t>
            </a:r>
          </a:p>
          <a:p>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Delivery Events</a:t>
            </a:r>
            <a:endParaRPr lang="en-US" dirty="0"/>
          </a:p>
        </p:txBody>
      </p:sp>
      <p:sp>
        <p:nvSpPr>
          <p:cNvPr id="3" name="Content Placeholder 2"/>
          <p:cNvSpPr>
            <a:spLocks noGrp="1"/>
          </p:cNvSpPr>
          <p:nvPr>
            <p:ph idx="1"/>
          </p:nvPr>
        </p:nvSpPr>
        <p:spPr/>
        <p:txBody>
          <a:bodyPr/>
          <a:lstStyle/>
          <a:p>
            <a:r>
              <a:rPr lang="en-US" sz="2000" dirty="0" smtClean="0"/>
              <a:t>The system can changes with two events. In a </a:t>
            </a:r>
            <a:r>
              <a:rPr lang="en-US" sz="2000" b="1" dirty="0" smtClean="0"/>
              <a:t>delivery event</a:t>
            </a:r>
            <a:r>
              <a:rPr lang="en-US" sz="2000" dirty="0" smtClean="0"/>
              <a:t>, the message in each general's outbox is potentially moved to the other general's inbox. Eve decides whether the message is delivered or burned. For the sake of simplicity, we'll assume that both generals always have an envelope in their outbox to send. If they don't have any meaningful message then they place an empty envelope in their outbox.</a:t>
            </a:r>
          </a:p>
        </p:txBody>
      </p:sp>
      <p:pic>
        <p:nvPicPr>
          <p:cNvPr id="4" name="Picture 2"/>
          <p:cNvPicPr>
            <a:picLocks noChangeAspect="1" noChangeArrowheads="1"/>
          </p:cNvPicPr>
          <p:nvPr/>
        </p:nvPicPr>
        <p:blipFill>
          <a:blip r:embed="rId2" cstate="print"/>
          <a:srcRect/>
          <a:stretch>
            <a:fillRect/>
          </a:stretch>
        </p:blipFill>
        <p:spPr bwMode="auto">
          <a:xfrm>
            <a:off x="3125788" y="3714750"/>
            <a:ext cx="2892425" cy="23050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Computation Events</a:t>
            </a:r>
            <a:endParaRPr lang="en-US" b="1" dirty="0"/>
          </a:p>
        </p:txBody>
      </p:sp>
      <p:sp>
        <p:nvSpPr>
          <p:cNvPr id="3" name="Content Placeholder 2"/>
          <p:cNvSpPr>
            <a:spLocks noGrp="1"/>
          </p:cNvSpPr>
          <p:nvPr>
            <p:ph idx="1"/>
          </p:nvPr>
        </p:nvSpPr>
        <p:spPr/>
        <p:txBody>
          <a:bodyPr/>
          <a:lstStyle/>
          <a:p>
            <a:r>
              <a:rPr lang="en-US" sz="2200" dirty="0" smtClean="0"/>
              <a:t>In a </a:t>
            </a:r>
            <a:r>
              <a:rPr lang="en-US" sz="2200" b="1" dirty="0" smtClean="0"/>
              <a:t>computation event</a:t>
            </a:r>
            <a:r>
              <a:rPr lang="en-US" sz="2200" dirty="0" smtClean="0"/>
              <a:t>, a general updates its state and places a message in its outbox based on the message in its inbox and its current state. More formally, each process has a </a:t>
            </a:r>
            <a:r>
              <a:rPr lang="en-US" sz="2200" b="1" dirty="0" smtClean="0"/>
              <a:t>transition function</a:t>
            </a:r>
            <a:r>
              <a:rPr lang="en-US" sz="2200" dirty="0" smtClean="0"/>
              <a:t>, f:Inbox×Q→Q×Outbox, that maps an inbox message and the current state to a new state and outbox message. </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3036888" y="3825875"/>
            <a:ext cx="3070225" cy="23463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Executions</a:t>
            </a:r>
            <a:endParaRPr lang="en-US" dirty="0"/>
          </a:p>
        </p:txBody>
      </p:sp>
      <p:sp>
        <p:nvSpPr>
          <p:cNvPr id="3" name="Content Placeholder 2"/>
          <p:cNvSpPr>
            <a:spLocks noGrp="1"/>
          </p:cNvSpPr>
          <p:nvPr>
            <p:ph idx="1"/>
          </p:nvPr>
        </p:nvSpPr>
        <p:spPr/>
        <p:txBody>
          <a:bodyPr/>
          <a:lstStyle/>
          <a:p>
            <a:r>
              <a:rPr lang="en-US" sz="2000" dirty="0" smtClean="0"/>
              <a:t>An </a:t>
            </a:r>
            <a:r>
              <a:rPr lang="en-US" sz="2000" b="1" dirty="0" smtClean="0"/>
              <a:t>execution</a:t>
            </a:r>
            <a:r>
              <a:rPr lang="en-US" sz="2000" dirty="0" smtClean="0"/>
              <a:t> is a sequence of alternating configurations and rounds of events denoted (C0,ϕ1,C1,ϕ2,…). Each </a:t>
            </a:r>
            <a:r>
              <a:rPr lang="en-US" sz="2000" dirty="0" err="1" smtClean="0"/>
              <a:t>Ci</a:t>
            </a:r>
            <a:r>
              <a:rPr lang="en-US" sz="2000" dirty="0" smtClean="0"/>
              <a:t> is a configuration and each </a:t>
            </a:r>
            <a:r>
              <a:rPr lang="en-US" sz="2000" dirty="0" err="1" smtClean="0"/>
              <a:t>ϕiis</a:t>
            </a:r>
            <a:r>
              <a:rPr lang="en-US" sz="2000" dirty="0" smtClean="0"/>
              <a:t> a round of events where each general performs a computation event and then a delivery event. </a:t>
            </a:r>
          </a:p>
          <a:p>
            <a:r>
              <a:rPr lang="en-US" sz="2000" dirty="0" smtClean="0"/>
              <a:t>An execution E1 is </a:t>
            </a:r>
            <a:r>
              <a:rPr lang="en-US" sz="2000" b="1" dirty="0" smtClean="0"/>
              <a:t>indistinguishable</a:t>
            </a:r>
            <a:r>
              <a:rPr lang="en-US" sz="2000" dirty="0" smtClean="0"/>
              <a:t> to another execution E2 for a general g if g sees the same thing in both executions. For example, consider a pair of executions with a single round of events with generals A and B: (C0,ϕ1,C1) and (C′0,ϕ′1,C′1). In ϕ1, A's enveloped message is delivered, but in ϕ′1, it is not. Both executions are indistinguishable to A because she cannot tell if her message was delivered or not. These executions are not indistinguishable for B who can tell in round three whether or not the message was delivered. Note that if E1 and E2 are indistinguishable for g, then g performs the same actions in E1 and E2. </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Protocol Requirements</a:t>
            </a:r>
            <a:endParaRPr lang="en-US" dirty="0"/>
          </a:p>
        </p:txBody>
      </p:sp>
      <p:sp>
        <p:nvSpPr>
          <p:cNvPr id="3" name="Content Placeholder 2"/>
          <p:cNvSpPr>
            <a:spLocks noGrp="1"/>
          </p:cNvSpPr>
          <p:nvPr>
            <p:ph idx="1"/>
          </p:nvPr>
        </p:nvSpPr>
        <p:spPr/>
        <p:txBody>
          <a:bodyPr/>
          <a:lstStyle/>
          <a:p>
            <a:r>
              <a:rPr lang="en-US" sz="2400" dirty="0" smtClean="0"/>
              <a:t>The requirements for the protocol are that, in all executions:</a:t>
            </a:r>
          </a:p>
          <a:p>
            <a:r>
              <a:rPr lang="en-US" sz="2400" i="1" dirty="0" smtClean="0">
                <a:solidFill>
                  <a:srgbClr val="C00000"/>
                </a:solidFill>
              </a:rPr>
              <a:t>Agreement</a:t>
            </a:r>
            <a:r>
              <a:rPr lang="en-US" sz="2400" dirty="0" smtClean="0"/>
              <a:t>: All processes output the same decision (0 or 1).</a:t>
            </a:r>
          </a:p>
          <a:p>
            <a:r>
              <a:rPr lang="en-US" sz="2400" i="1" dirty="0" smtClean="0">
                <a:solidFill>
                  <a:srgbClr val="C00000"/>
                </a:solidFill>
              </a:rPr>
              <a:t>Validity</a:t>
            </a:r>
            <a:r>
              <a:rPr lang="en-US" sz="2400" dirty="0" smtClean="0"/>
              <a:t>:</a:t>
            </a:r>
          </a:p>
          <a:p>
            <a:pPr lvl="1"/>
            <a:r>
              <a:rPr lang="en-US" sz="1800" dirty="0" smtClean="0"/>
              <a:t>If all processes have the same input 1, and no messages are lost, all processes produce output 1.</a:t>
            </a:r>
          </a:p>
          <a:p>
            <a:pPr lvl="1"/>
            <a:r>
              <a:rPr lang="en-US" sz="1800" dirty="0" smtClean="0"/>
              <a:t>If all processes have the same input 0, and no messages are lost, all processes produce output 0.</a:t>
            </a:r>
          </a:p>
          <a:p>
            <a:pPr lvl="1"/>
            <a:r>
              <a:rPr lang="en-US" sz="1800" dirty="0" smtClean="0"/>
              <a:t>If processes start with different inputs, processes can output 0 or 1 as long as they all agree.</a:t>
            </a:r>
          </a:p>
          <a:p>
            <a:pPr lvl="1"/>
            <a:r>
              <a:rPr lang="en-US" sz="1800" dirty="0" smtClean="0"/>
              <a:t>If one or more messages are lost, processes can output 0 or 1 as long as they all agree.</a:t>
            </a:r>
          </a:p>
          <a:p>
            <a:r>
              <a:rPr lang="en-US" sz="2400" i="1" dirty="0" smtClean="0">
                <a:solidFill>
                  <a:srgbClr val="C00000"/>
                </a:solidFill>
              </a:rPr>
              <a:t>Termination</a:t>
            </a:r>
            <a:r>
              <a:rPr lang="en-US" sz="2400" dirty="0" smtClean="0"/>
              <a:t>: All processes terminate in a bounded number of rounds.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Indistinguishability</a:t>
            </a:r>
            <a:r>
              <a:rPr lang="en-US" dirty="0" smtClean="0"/>
              <a:t> Proof</a:t>
            </a:r>
            <a:endParaRPr lang="en-US" dirty="0"/>
          </a:p>
        </p:txBody>
      </p:sp>
      <p:sp>
        <p:nvSpPr>
          <p:cNvPr id="3" name="Content Placeholder 2"/>
          <p:cNvSpPr>
            <a:spLocks noGrp="1"/>
          </p:cNvSpPr>
          <p:nvPr>
            <p:ph idx="1"/>
          </p:nvPr>
        </p:nvSpPr>
        <p:spPr/>
        <p:txBody>
          <a:bodyPr/>
          <a:lstStyle/>
          <a:p>
            <a:r>
              <a:rPr lang="en-US" sz="2400" dirty="0" smtClean="0"/>
              <a:t>The key steps of an </a:t>
            </a:r>
            <a:r>
              <a:rPr lang="en-US" sz="2400" dirty="0" err="1" smtClean="0"/>
              <a:t>indistinguishability</a:t>
            </a:r>
            <a:r>
              <a:rPr lang="en-US" sz="2400" dirty="0" smtClean="0"/>
              <a:t> proof usually look like this:</a:t>
            </a:r>
          </a:p>
          <a:p>
            <a:r>
              <a:rPr lang="en-US" sz="2400" dirty="0" smtClean="0"/>
              <a:t>Show that execution A is </a:t>
            </a:r>
            <a:r>
              <a:rPr lang="en-US" sz="2400" i="1" dirty="0" smtClean="0">
                <a:solidFill>
                  <a:srgbClr val="C00000"/>
                </a:solidFill>
              </a:rPr>
              <a:t>indistinguishable</a:t>
            </a:r>
            <a:r>
              <a:rPr lang="en-US" sz="2400" dirty="0" smtClean="0"/>
              <a:t> from execution B for some process p, meaning that p sees the same things (messages or operation results) in both executions.</a:t>
            </a:r>
          </a:p>
          <a:p>
            <a:r>
              <a:rPr lang="en-US" sz="2400" dirty="0" smtClean="0"/>
              <a:t>Observe that if A is indistinguishable from B for p, then because p can’t tell which of these two possible worlds it is in, it returns </a:t>
            </a:r>
            <a:r>
              <a:rPr lang="en-US" sz="2400" i="1" dirty="0" smtClean="0">
                <a:solidFill>
                  <a:srgbClr val="C00000"/>
                </a:solidFill>
              </a:rPr>
              <a:t>the same output</a:t>
            </a:r>
            <a:r>
              <a:rPr lang="en-US" sz="2400" dirty="0" smtClean="0"/>
              <a:t> in both.</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Impossibility Proof (I)</a:t>
            </a:r>
            <a:endParaRPr lang="en-US" dirty="0"/>
          </a:p>
        </p:txBody>
      </p:sp>
      <p:sp>
        <p:nvSpPr>
          <p:cNvPr id="3" name="Content Placeholder 2"/>
          <p:cNvSpPr>
            <a:spLocks noGrp="1"/>
          </p:cNvSpPr>
          <p:nvPr>
            <p:ph idx="1"/>
          </p:nvPr>
        </p:nvSpPr>
        <p:spPr/>
        <p:txBody>
          <a:bodyPr/>
          <a:lstStyle/>
          <a:p>
            <a:r>
              <a:rPr lang="en-US" sz="2000" dirty="0" smtClean="0"/>
              <a:t>Assume for contradiction that there </a:t>
            </a:r>
            <a:r>
              <a:rPr lang="en-US" sz="2000" i="1" dirty="0" smtClean="0"/>
              <a:t>does exist</a:t>
            </a:r>
            <a:r>
              <a:rPr lang="en-US" sz="2000" dirty="0" smtClean="0"/>
              <a:t> an algorithm that satisfies these two properties. I'll play the part of Eve and construct a contradiction. I'll do so with a time machine.</a:t>
            </a:r>
          </a:p>
          <a:p>
            <a:r>
              <a:rPr lang="en-US" sz="2000" dirty="0" smtClean="0"/>
              <a:t>First, I'll start Alice and Bob with 1's as input. I'll allow all messages to be delivered and wait all N rounds. By the validity condition, we know that Alice and Bob both output 1. Call this execution E1.</a:t>
            </a:r>
          </a:p>
          <a:p>
            <a:r>
              <a:rPr lang="en-US" sz="2000" dirty="0" smtClean="0"/>
              <a:t>Next, I'll fire up my time machine and go back one round into the past. I'll keep everything the same except this time I'll burn Alice's last message to Bob. Note that I burn the message without opening the envelope and reading the message. Call this execution E2. E1 is indistinguishable to E2 for Alice. Thus, she must perform the same action in E1 and E2. This means Alice must again output 1. By the agreement condition, this means that Bob must also output 1. </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Impossibility Proof (II)</a:t>
            </a:r>
            <a:endParaRPr lang="en-US" dirty="0"/>
          </a:p>
        </p:txBody>
      </p:sp>
      <p:sp>
        <p:nvSpPr>
          <p:cNvPr id="3" name="Content Placeholder 2"/>
          <p:cNvSpPr>
            <a:spLocks noGrp="1"/>
          </p:cNvSpPr>
          <p:nvPr>
            <p:ph idx="1"/>
          </p:nvPr>
        </p:nvSpPr>
        <p:spPr/>
        <p:txBody>
          <a:bodyPr/>
          <a:lstStyle/>
          <a:p>
            <a:r>
              <a:rPr lang="en-US" sz="2200" dirty="0" smtClean="0"/>
              <a:t>I'll fire up my time machine and again keep everything the same as in E2, except this time I'll burn Bob's last message to Alice. Call this execution E3. E2 is indistinguishable to E3 for Bob, so by a symmetric argument as above, Bob and Alice both output 1. </a:t>
            </a:r>
          </a:p>
          <a:p>
            <a:r>
              <a:rPr lang="en-US" sz="2200" dirty="0" smtClean="0"/>
              <a:t>I'll continue my time machine antics until I've dropped every messages. Alice and Bob still begin with 1's as input and still output 1 after N rounds. Call this execution </a:t>
            </a:r>
            <a:r>
              <a:rPr lang="en-US" sz="2200" dirty="0" err="1" smtClean="0"/>
              <a:t>Ek</a:t>
            </a:r>
            <a:r>
              <a:rPr lang="en-US" sz="2200" dirty="0" smtClean="0"/>
              <a:t>. </a:t>
            </a:r>
          </a:p>
          <a:p>
            <a:r>
              <a:rPr lang="en-US" sz="2200" dirty="0" smtClean="0"/>
              <a:t>With the help of my time machine, I'll switch Alice's input from 1 to 0. This execution, Ek+1, is indistinguishable to </a:t>
            </a:r>
            <a:r>
              <a:rPr lang="en-US" sz="2200" dirty="0" err="1" smtClean="0"/>
              <a:t>Ek</a:t>
            </a:r>
            <a:r>
              <a:rPr lang="en-US" sz="2200" dirty="0" smtClean="0"/>
              <a:t> for Alice, so she still outputs 1, as does Bob. Next, I'll switch Bob's input to 0. Again, this execution, Ek+2, is indistinguishable to the previous execution, Ek+1, for Bob, so both Bob and Alice output 1. </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Impossibility Proof (III)</a:t>
            </a:r>
            <a:endParaRPr lang="en-US" dirty="0"/>
          </a:p>
        </p:txBody>
      </p:sp>
      <p:sp>
        <p:nvSpPr>
          <p:cNvPr id="3" name="Content Placeholder 2"/>
          <p:cNvSpPr>
            <a:spLocks noGrp="1"/>
          </p:cNvSpPr>
          <p:nvPr>
            <p:ph idx="1"/>
          </p:nvPr>
        </p:nvSpPr>
        <p:spPr/>
        <p:txBody>
          <a:bodyPr/>
          <a:lstStyle/>
          <a:p>
            <a:r>
              <a:rPr lang="en-US" sz="2400" dirty="0" smtClean="0"/>
              <a:t>Now that both Alice and Bob begin with an input of 0, I'll use my time machine and deliver the first message of Bob's. Then I'll deliver the first message of Alice's. I'll continue this procedure until I reach round </a:t>
            </a:r>
            <a:r>
              <a:rPr lang="en-US" sz="2400" dirty="0" err="1" smtClean="0"/>
              <a:t>Nand</a:t>
            </a:r>
            <a:r>
              <a:rPr lang="en-US" sz="2400" dirty="0" smtClean="0"/>
              <a:t> all messages are delivered. Note that these messages may not be the same messages I previously burned. </a:t>
            </a:r>
          </a:p>
          <a:p>
            <a:r>
              <a:rPr lang="en-US" sz="2400" dirty="0" smtClean="0"/>
              <a:t>Now, all messages are delivered and both Alice and Bob begin with 0 as input. However, Alice and Bob still output 1! This violates the validity condition and is a contradiction. </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12657</TotalTime>
  <Words>1238</Words>
  <Application>Microsoft Office PowerPoint</Application>
  <PresentationFormat>On-screen Show (4:3)</PresentationFormat>
  <Paragraphs>60</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The Two Generals Problem</vt:lpstr>
      <vt:lpstr>Objectives</vt:lpstr>
      <vt:lpstr>Contents</vt:lpstr>
      <vt:lpstr>References</vt:lpstr>
      <vt:lpstr>The Two Generals Problem</vt:lpstr>
      <vt:lpstr>Messages Lost</vt:lpstr>
      <vt:lpstr>How Should the Generals Decide?</vt:lpstr>
      <vt:lpstr>Slide 8</vt:lpstr>
      <vt:lpstr>Formal Description [1]</vt:lpstr>
      <vt:lpstr>Delivery Events</vt:lpstr>
      <vt:lpstr>Computation Events</vt:lpstr>
      <vt:lpstr>Executions</vt:lpstr>
      <vt:lpstr>Protocol Requirements</vt:lpstr>
      <vt:lpstr>Indistinguishability Proof</vt:lpstr>
      <vt:lpstr>Impossibility Proof (I)</vt:lpstr>
      <vt:lpstr>Impossibility Proof (II)</vt:lpstr>
      <vt:lpstr>Impossibility Proof (III)</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5647</cp:revision>
  <dcterms:created xsi:type="dcterms:W3CDTF">2007-10-06T08:25:13Z</dcterms:created>
  <dcterms:modified xsi:type="dcterms:W3CDTF">2024-09-04T12:57:42Z</dcterms:modified>
</cp:coreProperties>
</file>