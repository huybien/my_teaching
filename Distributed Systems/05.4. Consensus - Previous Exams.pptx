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2"/>
  </p:notesMasterIdLst>
  <p:sldIdLst>
    <p:sldId id="670" r:id="rId2"/>
    <p:sldId id="671" r:id="rId3"/>
    <p:sldId id="672" r:id="rId4"/>
    <p:sldId id="673" r:id="rId5"/>
    <p:sldId id="833" r:id="rId6"/>
    <p:sldId id="832" r:id="rId7"/>
    <p:sldId id="830" r:id="rId8"/>
    <p:sldId id="834" r:id="rId9"/>
    <p:sldId id="835" r:id="rId10"/>
    <p:sldId id="516"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19" autoAdjust="0"/>
    <p:restoredTop sz="94667" autoAdjust="0"/>
  </p:normalViewPr>
  <p:slideViewPr>
    <p:cSldViewPr>
      <p:cViewPr>
        <p:scale>
          <a:sx n="50" d="100"/>
          <a:sy n="50" d="100"/>
        </p:scale>
        <p:origin x="-153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4/22/2026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4/22/2026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4/22/2026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4/22/2026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4/22/2026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4/22/2026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4/22/2026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4/22/2026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4/22/2026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4/22/2026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4/22/2026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4/22/2026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Consensus: Previous Exams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marL="457200" indent="-457200">
              <a:buFont typeface="+mj-lt"/>
              <a:buAutoNum type="arabicPeriod"/>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endParaRPr lang="en-US" sz="22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will server 1 do after becoming a leader?</a:t>
            </a:r>
            <a:endParaRPr lang="en-US" dirty="0"/>
          </a:p>
        </p:txBody>
      </p:sp>
      <p:sp>
        <p:nvSpPr>
          <p:cNvPr id="4" name="Rectangle 3"/>
          <p:cNvSpPr/>
          <p:nvPr/>
        </p:nvSpPr>
        <p:spPr>
          <a:xfrm>
            <a:off x="1887308" y="2590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5" name="TextBox 4"/>
          <p:cNvSpPr txBox="1"/>
          <p:nvPr/>
        </p:nvSpPr>
        <p:spPr>
          <a:xfrm>
            <a:off x="1887308" y="2209800"/>
            <a:ext cx="457200" cy="369332"/>
          </a:xfrm>
          <a:prstGeom prst="rect">
            <a:avLst/>
          </a:prstGeom>
          <a:noFill/>
        </p:spPr>
        <p:txBody>
          <a:bodyPr wrap="square" rtlCol="0">
            <a:spAutoFit/>
          </a:bodyPr>
          <a:lstStyle/>
          <a:p>
            <a:pPr algn="ctr"/>
            <a:r>
              <a:rPr lang="en-US" sz="1800" b="0" dirty="0">
                <a:solidFill>
                  <a:srgbClr val="000000"/>
                </a:solidFill>
                <a:latin typeface="Arial" charset="0"/>
              </a:rPr>
              <a:t>1</a:t>
            </a:r>
          </a:p>
        </p:txBody>
      </p:sp>
      <p:sp>
        <p:nvSpPr>
          <p:cNvPr id="6" name="TextBox 5"/>
          <p:cNvSpPr txBox="1"/>
          <p:nvPr/>
        </p:nvSpPr>
        <p:spPr>
          <a:xfrm>
            <a:off x="2344508" y="2209800"/>
            <a:ext cx="457200" cy="369332"/>
          </a:xfrm>
          <a:prstGeom prst="rect">
            <a:avLst/>
          </a:prstGeom>
          <a:noFill/>
        </p:spPr>
        <p:txBody>
          <a:bodyPr wrap="square" rtlCol="0">
            <a:spAutoFit/>
          </a:bodyPr>
          <a:lstStyle/>
          <a:p>
            <a:pPr algn="ctr"/>
            <a:r>
              <a:rPr lang="en-US" sz="1800" b="0" dirty="0">
                <a:solidFill>
                  <a:srgbClr val="000000"/>
                </a:solidFill>
                <a:latin typeface="Arial" charset="0"/>
              </a:rPr>
              <a:t>2</a:t>
            </a:r>
          </a:p>
        </p:txBody>
      </p:sp>
      <p:sp>
        <p:nvSpPr>
          <p:cNvPr id="7" name="TextBox 6"/>
          <p:cNvSpPr txBox="1"/>
          <p:nvPr/>
        </p:nvSpPr>
        <p:spPr>
          <a:xfrm>
            <a:off x="2801708" y="2209800"/>
            <a:ext cx="457200" cy="369332"/>
          </a:xfrm>
          <a:prstGeom prst="rect">
            <a:avLst/>
          </a:prstGeom>
          <a:noFill/>
        </p:spPr>
        <p:txBody>
          <a:bodyPr wrap="square" rtlCol="0">
            <a:spAutoFit/>
          </a:bodyPr>
          <a:lstStyle/>
          <a:p>
            <a:pPr algn="ctr"/>
            <a:r>
              <a:rPr lang="en-US" sz="1800" b="0" dirty="0">
                <a:solidFill>
                  <a:srgbClr val="000000"/>
                </a:solidFill>
                <a:latin typeface="Arial" charset="0"/>
              </a:rPr>
              <a:t>3</a:t>
            </a:r>
          </a:p>
        </p:txBody>
      </p:sp>
      <p:sp>
        <p:nvSpPr>
          <p:cNvPr id="8" name="TextBox 7"/>
          <p:cNvSpPr txBox="1"/>
          <p:nvPr/>
        </p:nvSpPr>
        <p:spPr>
          <a:xfrm>
            <a:off x="3258908" y="2209800"/>
            <a:ext cx="457200" cy="369332"/>
          </a:xfrm>
          <a:prstGeom prst="rect">
            <a:avLst/>
          </a:prstGeom>
          <a:noFill/>
        </p:spPr>
        <p:txBody>
          <a:bodyPr wrap="square" rtlCol="0">
            <a:spAutoFit/>
          </a:bodyPr>
          <a:lstStyle/>
          <a:p>
            <a:pPr algn="ctr"/>
            <a:r>
              <a:rPr lang="en-US" sz="1800" b="0" dirty="0">
                <a:solidFill>
                  <a:srgbClr val="000000"/>
                </a:solidFill>
                <a:latin typeface="Arial" charset="0"/>
              </a:rPr>
              <a:t>4</a:t>
            </a:r>
          </a:p>
        </p:txBody>
      </p:sp>
      <p:sp>
        <p:nvSpPr>
          <p:cNvPr id="9" name="TextBox 8"/>
          <p:cNvSpPr txBox="1"/>
          <p:nvPr/>
        </p:nvSpPr>
        <p:spPr>
          <a:xfrm>
            <a:off x="3716108" y="2209800"/>
            <a:ext cx="533400" cy="369332"/>
          </a:xfrm>
          <a:prstGeom prst="rect">
            <a:avLst/>
          </a:prstGeom>
          <a:noFill/>
        </p:spPr>
        <p:txBody>
          <a:bodyPr wrap="square" rtlCol="0">
            <a:spAutoFit/>
          </a:bodyPr>
          <a:lstStyle/>
          <a:p>
            <a:pPr algn="ctr"/>
            <a:r>
              <a:rPr lang="en-US" sz="1800" b="0" dirty="0">
                <a:solidFill>
                  <a:srgbClr val="000000"/>
                </a:solidFill>
                <a:latin typeface="Arial" charset="0"/>
              </a:rPr>
              <a:t>5</a:t>
            </a:r>
          </a:p>
        </p:txBody>
      </p:sp>
      <p:sp>
        <p:nvSpPr>
          <p:cNvPr id="10" name="TextBox 9"/>
          <p:cNvSpPr txBox="1"/>
          <p:nvPr/>
        </p:nvSpPr>
        <p:spPr>
          <a:xfrm>
            <a:off x="4249508" y="2209800"/>
            <a:ext cx="533400" cy="369332"/>
          </a:xfrm>
          <a:prstGeom prst="rect">
            <a:avLst/>
          </a:prstGeom>
          <a:noFill/>
        </p:spPr>
        <p:txBody>
          <a:bodyPr wrap="square" rtlCol="0">
            <a:spAutoFit/>
          </a:bodyPr>
          <a:lstStyle/>
          <a:p>
            <a:pPr algn="ctr"/>
            <a:r>
              <a:rPr lang="en-US" sz="1800" b="0" dirty="0">
                <a:solidFill>
                  <a:srgbClr val="000000"/>
                </a:solidFill>
                <a:latin typeface="Arial" charset="0"/>
              </a:rPr>
              <a:t>6</a:t>
            </a:r>
          </a:p>
        </p:txBody>
      </p:sp>
      <p:sp>
        <p:nvSpPr>
          <p:cNvPr id="11" name="TextBox 10"/>
          <p:cNvSpPr txBox="1"/>
          <p:nvPr/>
        </p:nvSpPr>
        <p:spPr>
          <a:xfrm>
            <a:off x="4782908" y="2209800"/>
            <a:ext cx="533400" cy="369332"/>
          </a:xfrm>
          <a:prstGeom prst="rect">
            <a:avLst/>
          </a:prstGeom>
          <a:noFill/>
        </p:spPr>
        <p:txBody>
          <a:bodyPr wrap="square" rtlCol="0">
            <a:spAutoFit/>
          </a:bodyPr>
          <a:lstStyle/>
          <a:p>
            <a:pPr algn="ctr"/>
            <a:r>
              <a:rPr lang="en-US" sz="1800" b="1" dirty="0">
                <a:solidFill>
                  <a:srgbClr val="C00000"/>
                </a:solidFill>
                <a:latin typeface="Arial" charset="0"/>
              </a:rPr>
              <a:t>7</a:t>
            </a:r>
          </a:p>
        </p:txBody>
      </p:sp>
      <p:sp>
        <p:nvSpPr>
          <p:cNvPr id="12" name="TextBox 11"/>
          <p:cNvSpPr txBox="1"/>
          <p:nvPr/>
        </p:nvSpPr>
        <p:spPr>
          <a:xfrm>
            <a:off x="5316308" y="2209800"/>
            <a:ext cx="533400" cy="369332"/>
          </a:xfrm>
          <a:prstGeom prst="rect">
            <a:avLst/>
          </a:prstGeom>
          <a:noFill/>
        </p:spPr>
        <p:txBody>
          <a:bodyPr wrap="square" rtlCol="0">
            <a:spAutoFit/>
          </a:bodyPr>
          <a:lstStyle/>
          <a:p>
            <a:pPr algn="ctr"/>
            <a:r>
              <a:rPr lang="en-US" sz="1800" b="0" dirty="0">
                <a:solidFill>
                  <a:srgbClr val="000000"/>
                </a:solidFill>
                <a:latin typeface="Arial" charset="0"/>
              </a:rPr>
              <a:t>8</a:t>
            </a:r>
          </a:p>
        </p:txBody>
      </p:sp>
      <p:sp>
        <p:nvSpPr>
          <p:cNvPr id="13" name="Rectangle 12"/>
          <p:cNvSpPr/>
          <p:nvPr/>
        </p:nvSpPr>
        <p:spPr>
          <a:xfrm>
            <a:off x="3716108" y="25908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14" name="Rectangle 13"/>
          <p:cNvSpPr/>
          <p:nvPr/>
        </p:nvSpPr>
        <p:spPr>
          <a:xfrm>
            <a:off x="2344508" y="2590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15" name="Rectangle 14"/>
          <p:cNvSpPr/>
          <p:nvPr/>
        </p:nvSpPr>
        <p:spPr>
          <a:xfrm>
            <a:off x="2801708" y="2590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16" name="Rectangle 15"/>
          <p:cNvSpPr/>
          <p:nvPr/>
        </p:nvSpPr>
        <p:spPr>
          <a:xfrm>
            <a:off x="3258908" y="25908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17" name="Rectangle 16"/>
          <p:cNvSpPr/>
          <p:nvPr/>
        </p:nvSpPr>
        <p:spPr>
          <a:xfrm>
            <a:off x="4249508" y="25908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div</a:t>
            </a:r>
          </a:p>
        </p:txBody>
      </p:sp>
      <p:sp>
        <p:nvSpPr>
          <p:cNvPr id="18" name="Rectangle 17"/>
          <p:cNvSpPr/>
          <p:nvPr/>
        </p:nvSpPr>
        <p:spPr>
          <a:xfrm>
            <a:off x="4782908" y="25908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shl</a:t>
            </a:r>
            <a:endParaRPr lang="en-US" sz="1600" b="0" dirty="0">
              <a:solidFill>
                <a:srgbClr val="000000"/>
              </a:solidFill>
            </a:endParaRPr>
          </a:p>
        </p:txBody>
      </p:sp>
      <p:sp>
        <p:nvSpPr>
          <p:cNvPr id="19" name="Rectangle 18"/>
          <p:cNvSpPr/>
          <p:nvPr/>
        </p:nvSpPr>
        <p:spPr>
          <a:xfrm>
            <a:off x="5316308" y="25908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sub</a:t>
            </a:r>
          </a:p>
        </p:txBody>
      </p:sp>
      <p:sp>
        <p:nvSpPr>
          <p:cNvPr id="20" name="Rectangle 19"/>
          <p:cNvSpPr/>
          <p:nvPr/>
        </p:nvSpPr>
        <p:spPr>
          <a:xfrm>
            <a:off x="1887308" y="3200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21" name="Rectangle 20"/>
          <p:cNvSpPr/>
          <p:nvPr/>
        </p:nvSpPr>
        <p:spPr>
          <a:xfrm>
            <a:off x="3716108" y="32004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22" name="Rectangle 21"/>
          <p:cNvSpPr/>
          <p:nvPr/>
        </p:nvSpPr>
        <p:spPr>
          <a:xfrm>
            <a:off x="2344508" y="3200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23" name="Rectangle 22"/>
          <p:cNvSpPr/>
          <p:nvPr/>
        </p:nvSpPr>
        <p:spPr>
          <a:xfrm>
            <a:off x="2801708" y="3200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24" name="Rectangle 23"/>
          <p:cNvSpPr/>
          <p:nvPr/>
        </p:nvSpPr>
        <p:spPr>
          <a:xfrm>
            <a:off x="3258908" y="32004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25" name="Rectangle 24"/>
          <p:cNvSpPr/>
          <p:nvPr/>
        </p:nvSpPr>
        <p:spPr>
          <a:xfrm>
            <a:off x="1887308" y="3810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26" name="Rectangle 25"/>
          <p:cNvSpPr/>
          <p:nvPr/>
        </p:nvSpPr>
        <p:spPr>
          <a:xfrm>
            <a:off x="3716108" y="38100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27" name="Rectangle 26"/>
          <p:cNvSpPr/>
          <p:nvPr/>
        </p:nvSpPr>
        <p:spPr>
          <a:xfrm>
            <a:off x="2344508" y="3810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28" name="Rectangle 27"/>
          <p:cNvSpPr/>
          <p:nvPr/>
        </p:nvSpPr>
        <p:spPr>
          <a:xfrm>
            <a:off x="2801708" y="3810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29" name="Rectangle 28"/>
          <p:cNvSpPr/>
          <p:nvPr/>
        </p:nvSpPr>
        <p:spPr>
          <a:xfrm>
            <a:off x="3258908" y="38100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30" name="Rectangle 29"/>
          <p:cNvSpPr/>
          <p:nvPr/>
        </p:nvSpPr>
        <p:spPr>
          <a:xfrm>
            <a:off x="4249508" y="38100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div</a:t>
            </a:r>
          </a:p>
        </p:txBody>
      </p:sp>
      <p:sp>
        <p:nvSpPr>
          <p:cNvPr id="31" name="Rectangle 30"/>
          <p:cNvSpPr/>
          <p:nvPr/>
        </p:nvSpPr>
        <p:spPr>
          <a:xfrm>
            <a:off x="4782908" y="38100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shl</a:t>
            </a:r>
            <a:endParaRPr lang="en-US" sz="1600" b="0" dirty="0">
              <a:solidFill>
                <a:srgbClr val="000000"/>
              </a:solidFill>
            </a:endParaRPr>
          </a:p>
        </p:txBody>
      </p:sp>
      <p:sp>
        <p:nvSpPr>
          <p:cNvPr id="32" name="Rectangle 31"/>
          <p:cNvSpPr/>
          <p:nvPr/>
        </p:nvSpPr>
        <p:spPr>
          <a:xfrm>
            <a:off x="5316308" y="38100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sub</a:t>
            </a:r>
          </a:p>
        </p:txBody>
      </p:sp>
      <p:sp>
        <p:nvSpPr>
          <p:cNvPr id="33" name="Rectangle 32"/>
          <p:cNvSpPr/>
          <p:nvPr/>
        </p:nvSpPr>
        <p:spPr>
          <a:xfrm>
            <a:off x="1887308" y="4419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34" name="Rectangle 33"/>
          <p:cNvSpPr/>
          <p:nvPr/>
        </p:nvSpPr>
        <p:spPr>
          <a:xfrm>
            <a:off x="2344508" y="4419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35" name="Rectangle 34"/>
          <p:cNvSpPr/>
          <p:nvPr/>
        </p:nvSpPr>
        <p:spPr>
          <a:xfrm>
            <a:off x="1887308" y="5029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36" name="Rectangle 35"/>
          <p:cNvSpPr/>
          <p:nvPr/>
        </p:nvSpPr>
        <p:spPr>
          <a:xfrm>
            <a:off x="3716108" y="50292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37" name="Rectangle 36"/>
          <p:cNvSpPr/>
          <p:nvPr/>
        </p:nvSpPr>
        <p:spPr>
          <a:xfrm>
            <a:off x="2344508" y="5029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38" name="Rectangle 37"/>
          <p:cNvSpPr/>
          <p:nvPr/>
        </p:nvSpPr>
        <p:spPr>
          <a:xfrm>
            <a:off x="2801708" y="5029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39" name="Rectangle 38"/>
          <p:cNvSpPr/>
          <p:nvPr/>
        </p:nvSpPr>
        <p:spPr>
          <a:xfrm>
            <a:off x="3258908" y="50292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40" name="Rectangle 39"/>
          <p:cNvSpPr/>
          <p:nvPr/>
        </p:nvSpPr>
        <p:spPr>
          <a:xfrm>
            <a:off x="4249508" y="50292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div</a:t>
            </a:r>
          </a:p>
        </p:txBody>
      </p:sp>
      <p:sp>
        <p:nvSpPr>
          <p:cNvPr id="41" name="Rectangle 40"/>
          <p:cNvSpPr/>
          <p:nvPr/>
        </p:nvSpPr>
        <p:spPr>
          <a:xfrm>
            <a:off x="4782908" y="50292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shl</a:t>
            </a:r>
            <a:endParaRPr lang="en-US" sz="1600" b="0" dirty="0">
              <a:solidFill>
                <a:srgbClr val="000000"/>
              </a:solidFill>
            </a:endParaRPr>
          </a:p>
        </p:txBody>
      </p:sp>
      <p:sp>
        <p:nvSpPr>
          <p:cNvPr id="42" name="TextBox 41"/>
          <p:cNvSpPr txBox="1"/>
          <p:nvPr/>
        </p:nvSpPr>
        <p:spPr>
          <a:xfrm>
            <a:off x="6611710" y="2665514"/>
            <a:ext cx="718145" cy="276999"/>
          </a:xfrm>
          <a:prstGeom prst="rect">
            <a:avLst/>
          </a:prstGeom>
          <a:noFill/>
        </p:spPr>
        <p:txBody>
          <a:bodyPr wrap="none" lIns="0" tIns="0" rIns="0" bIns="0" rtlCol="0">
            <a:spAutoFit/>
          </a:bodyPr>
          <a:lstStyle/>
          <a:p>
            <a:r>
              <a:rPr lang="en-US" b="0" dirty="0" smtClean="0">
                <a:solidFill>
                  <a:srgbClr val="000000"/>
                </a:solidFill>
                <a:latin typeface="Arial" charset="0"/>
              </a:rPr>
              <a:t>Leader</a:t>
            </a:r>
            <a:endParaRPr lang="en-US" b="0" dirty="0">
              <a:solidFill>
                <a:srgbClr val="000000"/>
              </a:solidFill>
              <a:latin typeface="Arial" charset="0"/>
            </a:endParaRPr>
          </a:p>
        </p:txBody>
      </p:sp>
      <p:sp>
        <p:nvSpPr>
          <p:cNvPr id="43" name="TextBox 42"/>
          <p:cNvSpPr txBox="1"/>
          <p:nvPr/>
        </p:nvSpPr>
        <p:spPr>
          <a:xfrm>
            <a:off x="6611710" y="2229052"/>
            <a:ext cx="1000274" cy="276999"/>
          </a:xfrm>
          <a:prstGeom prst="rect">
            <a:avLst/>
          </a:prstGeom>
          <a:noFill/>
        </p:spPr>
        <p:txBody>
          <a:bodyPr wrap="none" lIns="0" tIns="0" rIns="0" bIns="0" rtlCol="0">
            <a:spAutoFit/>
          </a:bodyPr>
          <a:lstStyle/>
          <a:p>
            <a:r>
              <a:rPr lang="en-US" b="0" dirty="0" smtClean="0">
                <a:solidFill>
                  <a:srgbClr val="000000"/>
                </a:solidFill>
                <a:latin typeface="Arial" charset="0"/>
              </a:rPr>
              <a:t>Log </a:t>
            </a:r>
            <a:r>
              <a:rPr lang="en-US" b="0" dirty="0">
                <a:solidFill>
                  <a:srgbClr val="000000"/>
                </a:solidFill>
                <a:latin typeface="Arial" charset="0"/>
              </a:rPr>
              <a:t>index</a:t>
            </a:r>
          </a:p>
        </p:txBody>
      </p:sp>
      <p:sp>
        <p:nvSpPr>
          <p:cNvPr id="44" name="TextBox 43"/>
          <p:cNvSpPr txBox="1"/>
          <p:nvPr/>
        </p:nvSpPr>
        <p:spPr>
          <a:xfrm>
            <a:off x="6611710" y="4227614"/>
            <a:ext cx="987450" cy="276999"/>
          </a:xfrm>
          <a:prstGeom prst="rect">
            <a:avLst/>
          </a:prstGeom>
          <a:noFill/>
        </p:spPr>
        <p:txBody>
          <a:bodyPr wrap="none" lIns="0" tIns="0" rIns="0" bIns="0" rtlCol="0">
            <a:spAutoFit/>
          </a:bodyPr>
          <a:lstStyle/>
          <a:p>
            <a:r>
              <a:rPr lang="en-US" b="0" dirty="0" smtClean="0">
                <a:solidFill>
                  <a:srgbClr val="000000"/>
                </a:solidFill>
                <a:latin typeface="Arial" charset="0"/>
              </a:rPr>
              <a:t>Followers</a:t>
            </a:r>
            <a:endParaRPr lang="en-US" b="0" dirty="0">
              <a:solidFill>
                <a:srgbClr val="000000"/>
              </a:solidFill>
              <a:latin typeface="Arial" charset="0"/>
            </a:endParaRPr>
          </a:p>
        </p:txBody>
      </p:sp>
      <p:sp>
        <p:nvSpPr>
          <p:cNvPr id="45" name="Right Brace 44"/>
          <p:cNvSpPr/>
          <p:nvPr/>
        </p:nvSpPr>
        <p:spPr>
          <a:xfrm>
            <a:off x="6154508" y="3200402"/>
            <a:ext cx="228600" cy="2283023"/>
          </a:xfrm>
          <a:prstGeom prst="rightBrace">
            <a:avLst>
              <a:gd name="adj1" fmla="val 37205"/>
              <a:gd name="adj2" fmla="val 50000"/>
            </a:avLst>
          </a:prstGeom>
          <a:ln w="19050" cap="rnd"/>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grpSp>
        <p:nvGrpSpPr>
          <p:cNvPr id="46" name="Group 45"/>
          <p:cNvGrpSpPr/>
          <p:nvPr/>
        </p:nvGrpSpPr>
        <p:grpSpPr>
          <a:xfrm>
            <a:off x="1887308" y="5562600"/>
            <a:ext cx="3429000" cy="228600"/>
            <a:chOff x="2154967" y="4709488"/>
            <a:chExt cx="3429000" cy="228600"/>
          </a:xfrm>
        </p:grpSpPr>
        <p:cxnSp>
          <p:nvCxnSpPr>
            <p:cNvPr id="47" name="Straight Connector 46"/>
            <p:cNvCxnSpPr/>
            <p:nvPr/>
          </p:nvCxnSpPr>
          <p:spPr>
            <a:xfrm>
              <a:off x="2154967" y="4709488"/>
              <a:ext cx="0" cy="228600"/>
            </a:xfrm>
            <a:prstGeom prst="line">
              <a:avLst/>
            </a:prstGeom>
            <a:ln w="28575" cap="rnd">
              <a:solidFill>
                <a:schemeClr val="accent4"/>
              </a:solidFill>
            </a:ln>
            <a:effectLst/>
          </p:spPr>
          <p:style>
            <a:lnRef idx="2">
              <a:schemeClr val="dk1"/>
            </a:lnRef>
            <a:fillRef idx="0">
              <a:schemeClr val="dk1"/>
            </a:fillRef>
            <a:effectRef idx="1">
              <a:schemeClr val="dk1"/>
            </a:effectRef>
            <a:fontRef idx="minor">
              <a:schemeClr val="tx1"/>
            </a:fontRef>
          </p:style>
        </p:cxnSp>
        <p:cxnSp>
          <p:nvCxnSpPr>
            <p:cNvPr id="48" name="Straight Connector 47"/>
            <p:cNvCxnSpPr/>
            <p:nvPr/>
          </p:nvCxnSpPr>
          <p:spPr>
            <a:xfrm>
              <a:off x="5583967" y="4709488"/>
              <a:ext cx="0" cy="228600"/>
            </a:xfrm>
            <a:prstGeom prst="line">
              <a:avLst/>
            </a:prstGeom>
            <a:ln w="28575" cap="rnd">
              <a:solidFill>
                <a:schemeClr val="accent4"/>
              </a:solidFill>
            </a:ln>
            <a:effectLst/>
          </p:spPr>
          <p:style>
            <a:lnRef idx="2">
              <a:schemeClr val="dk1"/>
            </a:lnRef>
            <a:fillRef idx="0">
              <a:schemeClr val="dk1"/>
            </a:fillRef>
            <a:effectRef idx="1">
              <a:schemeClr val="dk1"/>
            </a:effectRef>
            <a:fontRef idx="minor">
              <a:schemeClr val="tx1"/>
            </a:fontRef>
          </p:style>
        </p:cxnSp>
        <p:cxnSp>
          <p:nvCxnSpPr>
            <p:cNvPr id="49" name="Straight Connector 48"/>
            <p:cNvCxnSpPr/>
            <p:nvPr/>
          </p:nvCxnSpPr>
          <p:spPr>
            <a:xfrm>
              <a:off x="2154967" y="4823788"/>
              <a:ext cx="3429000" cy="0"/>
            </a:xfrm>
            <a:prstGeom prst="line">
              <a:avLst/>
            </a:prstGeom>
            <a:ln w="28575" cap="rnd">
              <a:solidFill>
                <a:schemeClr val="accent4"/>
              </a:solidFill>
              <a:headEnd type="triangle" w="med" len="lg"/>
              <a:tailEnd type="triangle" w="med" len="lg"/>
            </a:ln>
            <a:effectLst/>
          </p:spPr>
          <p:style>
            <a:lnRef idx="2">
              <a:schemeClr val="dk1"/>
            </a:lnRef>
            <a:fillRef idx="0">
              <a:schemeClr val="dk1"/>
            </a:fillRef>
            <a:effectRef idx="1">
              <a:schemeClr val="dk1"/>
            </a:effectRef>
            <a:fontRef idx="minor">
              <a:schemeClr val="tx1"/>
            </a:fontRef>
          </p:style>
        </p:cxnSp>
      </p:grpSp>
      <p:sp>
        <p:nvSpPr>
          <p:cNvPr id="50" name="TextBox 49"/>
          <p:cNvSpPr txBox="1"/>
          <p:nvPr/>
        </p:nvSpPr>
        <p:spPr>
          <a:xfrm>
            <a:off x="6611710" y="5483425"/>
            <a:ext cx="1872307" cy="276999"/>
          </a:xfrm>
          <a:prstGeom prst="rect">
            <a:avLst/>
          </a:prstGeom>
          <a:noFill/>
        </p:spPr>
        <p:txBody>
          <a:bodyPr wrap="none" lIns="0" tIns="0" rIns="0" bIns="0" rtlCol="0">
            <a:spAutoFit/>
          </a:bodyPr>
          <a:lstStyle/>
          <a:p>
            <a:r>
              <a:rPr lang="en-US" b="0" dirty="0" smtClean="0">
                <a:solidFill>
                  <a:srgbClr val="A5001E"/>
                </a:solidFill>
                <a:latin typeface="Arial" charset="0"/>
              </a:rPr>
              <a:t>Committed </a:t>
            </a:r>
            <a:r>
              <a:rPr lang="en-US" b="0" dirty="0">
                <a:solidFill>
                  <a:srgbClr val="A5001E"/>
                </a:solidFill>
                <a:latin typeface="Arial" charset="0"/>
              </a:rPr>
              <a:t>entries</a:t>
            </a:r>
          </a:p>
        </p:txBody>
      </p:sp>
      <p:sp>
        <p:nvSpPr>
          <p:cNvPr id="51" name="TextBox 50"/>
          <p:cNvSpPr txBox="1"/>
          <p:nvPr/>
        </p:nvSpPr>
        <p:spPr>
          <a:xfrm>
            <a:off x="842550" y="2326946"/>
            <a:ext cx="511358" cy="307777"/>
          </a:xfrm>
          <a:prstGeom prst="rect">
            <a:avLst/>
          </a:prstGeom>
          <a:noFill/>
        </p:spPr>
        <p:txBody>
          <a:bodyPr wrap="none" lIns="0" tIns="0" rIns="0" bIns="0" rtlCol="0">
            <a:spAutoFit/>
          </a:bodyPr>
          <a:lstStyle/>
          <a:p>
            <a:r>
              <a:rPr lang="en-US" b="0" dirty="0">
                <a:solidFill>
                  <a:srgbClr val="1F4899"/>
                </a:solidFill>
                <a:latin typeface="Arial" charset="0"/>
              </a:rPr>
              <a:t>term</a:t>
            </a:r>
          </a:p>
        </p:txBody>
      </p:sp>
      <p:sp>
        <p:nvSpPr>
          <p:cNvPr id="52" name="TextBox 51"/>
          <p:cNvSpPr txBox="1"/>
          <p:nvPr/>
        </p:nvSpPr>
        <p:spPr>
          <a:xfrm>
            <a:off x="228600" y="2980829"/>
            <a:ext cx="1125308" cy="307777"/>
          </a:xfrm>
          <a:prstGeom prst="rect">
            <a:avLst/>
          </a:prstGeom>
          <a:noFill/>
        </p:spPr>
        <p:txBody>
          <a:bodyPr wrap="none" lIns="0" tIns="0" rIns="0" bIns="0" rtlCol="0">
            <a:spAutoFit/>
          </a:bodyPr>
          <a:lstStyle/>
          <a:p>
            <a:r>
              <a:rPr lang="en-US" b="0" dirty="0">
                <a:solidFill>
                  <a:srgbClr val="1F4899"/>
                </a:solidFill>
                <a:latin typeface="Arial" charset="0"/>
              </a:rPr>
              <a:t>command</a:t>
            </a:r>
          </a:p>
        </p:txBody>
      </p:sp>
      <p:sp>
        <p:nvSpPr>
          <p:cNvPr id="53" name="Freeform 52"/>
          <p:cNvSpPr/>
          <p:nvPr/>
        </p:nvSpPr>
        <p:spPr>
          <a:xfrm>
            <a:off x="1434923" y="2502597"/>
            <a:ext cx="375385" cy="240640"/>
          </a:xfrm>
          <a:custGeom>
            <a:avLst/>
            <a:gdLst>
              <a:gd name="connsiteX0" fmla="*/ 0 w 375385"/>
              <a:gd name="connsiteY0" fmla="*/ 0 h 240632"/>
              <a:gd name="connsiteX1" fmla="*/ 375385 w 375385"/>
              <a:gd name="connsiteY1" fmla="*/ 240632 h 240632"/>
              <a:gd name="connsiteX0" fmla="*/ 0 w 375385"/>
              <a:gd name="connsiteY0" fmla="*/ 0 h 240632"/>
              <a:gd name="connsiteX1" fmla="*/ 375385 w 375385"/>
              <a:gd name="connsiteY1" fmla="*/ 240632 h 240632"/>
              <a:gd name="connsiteX0" fmla="*/ 0 w 375385"/>
              <a:gd name="connsiteY0" fmla="*/ 8 h 240640"/>
              <a:gd name="connsiteX1" fmla="*/ 375385 w 375385"/>
              <a:gd name="connsiteY1" fmla="*/ 240640 h 240640"/>
            </a:gdLst>
            <a:ahLst/>
            <a:cxnLst>
              <a:cxn ang="0">
                <a:pos x="connsiteX0" y="connsiteY0"/>
              </a:cxn>
              <a:cxn ang="0">
                <a:pos x="connsiteX1" y="connsiteY1"/>
              </a:cxn>
            </a:cxnLst>
            <a:rect l="l" t="t" r="r" b="b"/>
            <a:pathLst>
              <a:path w="375385" h="240640">
                <a:moveTo>
                  <a:pt x="0" y="8"/>
                </a:moveTo>
                <a:cubicBezTo>
                  <a:pt x="363353" y="-1597"/>
                  <a:pt x="-33689" y="237432"/>
                  <a:pt x="375385" y="240640"/>
                </a:cubicBezTo>
              </a:path>
            </a:pathLst>
          </a:custGeom>
          <a:ln w="19050" cap="rnd">
            <a:solidFill>
              <a:schemeClr val="tx2"/>
            </a:solidFill>
            <a:tailEnd type="triangle" w="sm" len="lg"/>
          </a:ln>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54" name="Freeform 53"/>
          <p:cNvSpPr/>
          <p:nvPr/>
        </p:nvSpPr>
        <p:spPr>
          <a:xfrm flipV="1">
            <a:off x="1430110" y="2893964"/>
            <a:ext cx="375385" cy="240640"/>
          </a:xfrm>
          <a:custGeom>
            <a:avLst/>
            <a:gdLst>
              <a:gd name="connsiteX0" fmla="*/ 0 w 375385"/>
              <a:gd name="connsiteY0" fmla="*/ 0 h 240632"/>
              <a:gd name="connsiteX1" fmla="*/ 375385 w 375385"/>
              <a:gd name="connsiteY1" fmla="*/ 240632 h 240632"/>
              <a:gd name="connsiteX0" fmla="*/ 0 w 375385"/>
              <a:gd name="connsiteY0" fmla="*/ 0 h 240632"/>
              <a:gd name="connsiteX1" fmla="*/ 375385 w 375385"/>
              <a:gd name="connsiteY1" fmla="*/ 240632 h 240632"/>
              <a:gd name="connsiteX0" fmla="*/ 0 w 375385"/>
              <a:gd name="connsiteY0" fmla="*/ 8 h 240640"/>
              <a:gd name="connsiteX1" fmla="*/ 375385 w 375385"/>
              <a:gd name="connsiteY1" fmla="*/ 240640 h 240640"/>
            </a:gdLst>
            <a:ahLst/>
            <a:cxnLst>
              <a:cxn ang="0">
                <a:pos x="connsiteX0" y="connsiteY0"/>
              </a:cxn>
              <a:cxn ang="0">
                <a:pos x="connsiteX1" y="connsiteY1"/>
              </a:cxn>
            </a:cxnLst>
            <a:rect l="l" t="t" r="r" b="b"/>
            <a:pathLst>
              <a:path w="375385" h="240640">
                <a:moveTo>
                  <a:pt x="0" y="8"/>
                </a:moveTo>
                <a:cubicBezTo>
                  <a:pt x="363353" y="-1597"/>
                  <a:pt x="-33689" y="237432"/>
                  <a:pt x="375385" y="240640"/>
                </a:cubicBezTo>
              </a:path>
            </a:pathLst>
          </a:custGeom>
          <a:ln w="19050" cap="rnd">
            <a:solidFill>
              <a:schemeClr val="tx2"/>
            </a:solidFill>
            <a:tailEnd type="triangle" w="sm" len="lg"/>
          </a:ln>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55" name="TextBox 54"/>
          <p:cNvSpPr txBox="1"/>
          <p:nvPr/>
        </p:nvSpPr>
        <p:spPr>
          <a:xfrm>
            <a:off x="1143000" y="2667002"/>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1</a:t>
            </a:r>
          </a:p>
        </p:txBody>
      </p:sp>
      <p:sp>
        <p:nvSpPr>
          <p:cNvPr id="56" name="TextBox 55"/>
          <p:cNvSpPr txBox="1"/>
          <p:nvPr/>
        </p:nvSpPr>
        <p:spPr>
          <a:xfrm>
            <a:off x="1143000" y="3352802"/>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2</a:t>
            </a:r>
          </a:p>
        </p:txBody>
      </p:sp>
      <p:sp>
        <p:nvSpPr>
          <p:cNvPr id="57" name="TextBox 56"/>
          <p:cNvSpPr txBox="1"/>
          <p:nvPr/>
        </p:nvSpPr>
        <p:spPr>
          <a:xfrm>
            <a:off x="1143000" y="3886202"/>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3</a:t>
            </a:r>
          </a:p>
        </p:txBody>
      </p:sp>
      <p:sp>
        <p:nvSpPr>
          <p:cNvPr id="58" name="TextBox 57"/>
          <p:cNvSpPr txBox="1"/>
          <p:nvPr/>
        </p:nvSpPr>
        <p:spPr>
          <a:xfrm>
            <a:off x="1143000" y="4495802"/>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4</a:t>
            </a:r>
          </a:p>
        </p:txBody>
      </p:sp>
      <p:sp>
        <p:nvSpPr>
          <p:cNvPr id="59" name="TextBox 58"/>
          <p:cNvSpPr txBox="1"/>
          <p:nvPr/>
        </p:nvSpPr>
        <p:spPr>
          <a:xfrm>
            <a:off x="1143000" y="5105402"/>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p:bldP spid="45" grpId="0" animBg="1"/>
      <p:bldP spid="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server 4 become a leader?</a:t>
            </a:r>
          </a:p>
        </p:txBody>
      </p:sp>
      <p:sp>
        <p:nvSpPr>
          <p:cNvPr id="4" name="Rectangle 3"/>
          <p:cNvSpPr/>
          <p:nvPr/>
        </p:nvSpPr>
        <p:spPr>
          <a:xfrm>
            <a:off x="1887308" y="2514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5" name="TextBox 4"/>
          <p:cNvSpPr txBox="1"/>
          <p:nvPr/>
        </p:nvSpPr>
        <p:spPr>
          <a:xfrm>
            <a:off x="1887308" y="2133600"/>
            <a:ext cx="457200" cy="369332"/>
          </a:xfrm>
          <a:prstGeom prst="rect">
            <a:avLst/>
          </a:prstGeom>
          <a:noFill/>
        </p:spPr>
        <p:txBody>
          <a:bodyPr wrap="square" rtlCol="0">
            <a:spAutoFit/>
          </a:bodyPr>
          <a:lstStyle/>
          <a:p>
            <a:pPr algn="ctr"/>
            <a:r>
              <a:rPr lang="en-US" sz="1800" b="0" dirty="0">
                <a:solidFill>
                  <a:srgbClr val="000000"/>
                </a:solidFill>
                <a:latin typeface="Arial" charset="0"/>
              </a:rPr>
              <a:t>1</a:t>
            </a:r>
          </a:p>
        </p:txBody>
      </p:sp>
      <p:sp>
        <p:nvSpPr>
          <p:cNvPr id="6" name="TextBox 5"/>
          <p:cNvSpPr txBox="1"/>
          <p:nvPr/>
        </p:nvSpPr>
        <p:spPr>
          <a:xfrm>
            <a:off x="2344508" y="2133600"/>
            <a:ext cx="457200" cy="369332"/>
          </a:xfrm>
          <a:prstGeom prst="rect">
            <a:avLst/>
          </a:prstGeom>
          <a:noFill/>
        </p:spPr>
        <p:txBody>
          <a:bodyPr wrap="square" rtlCol="0">
            <a:spAutoFit/>
          </a:bodyPr>
          <a:lstStyle/>
          <a:p>
            <a:pPr algn="ctr"/>
            <a:r>
              <a:rPr lang="en-US" sz="1800" b="0" dirty="0">
                <a:solidFill>
                  <a:srgbClr val="000000"/>
                </a:solidFill>
                <a:latin typeface="Arial" charset="0"/>
              </a:rPr>
              <a:t>2</a:t>
            </a:r>
          </a:p>
        </p:txBody>
      </p:sp>
      <p:sp>
        <p:nvSpPr>
          <p:cNvPr id="7" name="TextBox 6"/>
          <p:cNvSpPr txBox="1"/>
          <p:nvPr/>
        </p:nvSpPr>
        <p:spPr>
          <a:xfrm>
            <a:off x="2801708" y="2133600"/>
            <a:ext cx="457200" cy="369332"/>
          </a:xfrm>
          <a:prstGeom prst="rect">
            <a:avLst/>
          </a:prstGeom>
          <a:noFill/>
        </p:spPr>
        <p:txBody>
          <a:bodyPr wrap="square" rtlCol="0">
            <a:spAutoFit/>
          </a:bodyPr>
          <a:lstStyle/>
          <a:p>
            <a:pPr algn="ctr"/>
            <a:r>
              <a:rPr lang="en-US" sz="1800" b="0" dirty="0">
                <a:solidFill>
                  <a:srgbClr val="000000"/>
                </a:solidFill>
                <a:latin typeface="Arial" charset="0"/>
              </a:rPr>
              <a:t>3</a:t>
            </a:r>
          </a:p>
        </p:txBody>
      </p:sp>
      <p:sp>
        <p:nvSpPr>
          <p:cNvPr id="8" name="TextBox 7"/>
          <p:cNvSpPr txBox="1"/>
          <p:nvPr/>
        </p:nvSpPr>
        <p:spPr>
          <a:xfrm>
            <a:off x="3258908" y="2133600"/>
            <a:ext cx="457200" cy="369332"/>
          </a:xfrm>
          <a:prstGeom prst="rect">
            <a:avLst/>
          </a:prstGeom>
          <a:noFill/>
        </p:spPr>
        <p:txBody>
          <a:bodyPr wrap="square" rtlCol="0">
            <a:spAutoFit/>
          </a:bodyPr>
          <a:lstStyle/>
          <a:p>
            <a:pPr algn="ctr"/>
            <a:r>
              <a:rPr lang="en-US" sz="1800" b="0" dirty="0">
                <a:solidFill>
                  <a:srgbClr val="000000"/>
                </a:solidFill>
                <a:latin typeface="Arial" charset="0"/>
              </a:rPr>
              <a:t>4</a:t>
            </a:r>
          </a:p>
        </p:txBody>
      </p:sp>
      <p:sp>
        <p:nvSpPr>
          <p:cNvPr id="9" name="TextBox 8"/>
          <p:cNvSpPr txBox="1"/>
          <p:nvPr/>
        </p:nvSpPr>
        <p:spPr>
          <a:xfrm>
            <a:off x="3716108" y="2133600"/>
            <a:ext cx="533400" cy="369332"/>
          </a:xfrm>
          <a:prstGeom prst="rect">
            <a:avLst/>
          </a:prstGeom>
          <a:noFill/>
        </p:spPr>
        <p:txBody>
          <a:bodyPr wrap="square" rtlCol="0">
            <a:spAutoFit/>
          </a:bodyPr>
          <a:lstStyle/>
          <a:p>
            <a:pPr algn="ctr"/>
            <a:r>
              <a:rPr lang="en-US" sz="1800" b="0" dirty="0">
                <a:solidFill>
                  <a:srgbClr val="000000"/>
                </a:solidFill>
                <a:latin typeface="Arial" charset="0"/>
              </a:rPr>
              <a:t>5</a:t>
            </a:r>
          </a:p>
        </p:txBody>
      </p:sp>
      <p:sp>
        <p:nvSpPr>
          <p:cNvPr id="10" name="TextBox 9"/>
          <p:cNvSpPr txBox="1"/>
          <p:nvPr/>
        </p:nvSpPr>
        <p:spPr>
          <a:xfrm>
            <a:off x="4249508" y="2133600"/>
            <a:ext cx="533400" cy="369332"/>
          </a:xfrm>
          <a:prstGeom prst="rect">
            <a:avLst/>
          </a:prstGeom>
          <a:noFill/>
        </p:spPr>
        <p:txBody>
          <a:bodyPr wrap="square" rtlCol="0">
            <a:spAutoFit/>
          </a:bodyPr>
          <a:lstStyle/>
          <a:p>
            <a:pPr algn="ctr"/>
            <a:r>
              <a:rPr lang="en-US" sz="1800" b="0" dirty="0">
                <a:solidFill>
                  <a:srgbClr val="000000"/>
                </a:solidFill>
                <a:latin typeface="Arial" charset="0"/>
              </a:rPr>
              <a:t>6</a:t>
            </a:r>
          </a:p>
        </p:txBody>
      </p:sp>
      <p:sp>
        <p:nvSpPr>
          <p:cNvPr id="13" name="Rectangle 12"/>
          <p:cNvSpPr/>
          <p:nvPr/>
        </p:nvSpPr>
        <p:spPr>
          <a:xfrm>
            <a:off x="3716108" y="25146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14" name="Rectangle 13"/>
          <p:cNvSpPr/>
          <p:nvPr/>
        </p:nvSpPr>
        <p:spPr>
          <a:xfrm>
            <a:off x="2344508" y="2514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15" name="Rectangle 14"/>
          <p:cNvSpPr/>
          <p:nvPr/>
        </p:nvSpPr>
        <p:spPr>
          <a:xfrm>
            <a:off x="2801708" y="2514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16" name="Rectangle 15"/>
          <p:cNvSpPr/>
          <p:nvPr/>
        </p:nvSpPr>
        <p:spPr>
          <a:xfrm>
            <a:off x="3258908" y="25146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17" name="Rectangle 16"/>
          <p:cNvSpPr/>
          <p:nvPr/>
        </p:nvSpPr>
        <p:spPr>
          <a:xfrm>
            <a:off x="4249508" y="25146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div</a:t>
            </a:r>
          </a:p>
        </p:txBody>
      </p:sp>
      <p:sp>
        <p:nvSpPr>
          <p:cNvPr id="20" name="Rectangle 19"/>
          <p:cNvSpPr/>
          <p:nvPr/>
        </p:nvSpPr>
        <p:spPr>
          <a:xfrm>
            <a:off x="1887308" y="3124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21" name="Rectangle 20"/>
          <p:cNvSpPr/>
          <p:nvPr/>
        </p:nvSpPr>
        <p:spPr>
          <a:xfrm>
            <a:off x="3716108" y="31242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22" name="Rectangle 21"/>
          <p:cNvSpPr/>
          <p:nvPr/>
        </p:nvSpPr>
        <p:spPr>
          <a:xfrm>
            <a:off x="2344508" y="3124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23" name="Rectangle 22"/>
          <p:cNvSpPr/>
          <p:nvPr/>
        </p:nvSpPr>
        <p:spPr>
          <a:xfrm>
            <a:off x="2801708" y="3124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24" name="Rectangle 23"/>
          <p:cNvSpPr/>
          <p:nvPr/>
        </p:nvSpPr>
        <p:spPr>
          <a:xfrm>
            <a:off x="3258908" y="31242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25" name="Rectangle 24"/>
          <p:cNvSpPr/>
          <p:nvPr/>
        </p:nvSpPr>
        <p:spPr>
          <a:xfrm>
            <a:off x="1887308" y="3733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26" name="Rectangle 25"/>
          <p:cNvSpPr/>
          <p:nvPr/>
        </p:nvSpPr>
        <p:spPr>
          <a:xfrm>
            <a:off x="3716108" y="37338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27" name="Rectangle 26"/>
          <p:cNvSpPr/>
          <p:nvPr/>
        </p:nvSpPr>
        <p:spPr>
          <a:xfrm>
            <a:off x="2344508" y="3733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28" name="Rectangle 27"/>
          <p:cNvSpPr/>
          <p:nvPr/>
        </p:nvSpPr>
        <p:spPr>
          <a:xfrm>
            <a:off x="2801708" y="3733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29" name="Rectangle 28"/>
          <p:cNvSpPr/>
          <p:nvPr/>
        </p:nvSpPr>
        <p:spPr>
          <a:xfrm>
            <a:off x="3258908" y="37338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33" name="Rectangle 32"/>
          <p:cNvSpPr/>
          <p:nvPr/>
        </p:nvSpPr>
        <p:spPr>
          <a:xfrm>
            <a:off x="1887308" y="4343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34" name="Rectangle 33"/>
          <p:cNvSpPr/>
          <p:nvPr/>
        </p:nvSpPr>
        <p:spPr>
          <a:xfrm>
            <a:off x="2344508" y="4343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35" name="Rectangle 34"/>
          <p:cNvSpPr/>
          <p:nvPr/>
        </p:nvSpPr>
        <p:spPr>
          <a:xfrm>
            <a:off x="1887308" y="4953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37" name="Rectangle 36"/>
          <p:cNvSpPr/>
          <p:nvPr/>
        </p:nvSpPr>
        <p:spPr>
          <a:xfrm>
            <a:off x="2344508" y="4953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38" name="Rectangle 37"/>
          <p:cNvSpPr/>
          <p:nvPr/>
        </p:nvSpPr>
        <p:spPr>
          <a:xfrm>
            <a:off x="2801708" y="4953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39" name="Rectangle 38"/>
          <p:cNvSpPr/>
          <p:nvPr/>
        </p:nvSpPr>
        <p:spPr>
          <a:xfrm>
            <a:off x="3258908" y="49530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42" name="TextBox 41"/>
          <p:cNvSpPr txBox="1"/>
          <p:nvPr/>
        </p:nvSpPr>
        <p:spPr>
          <a:xfrm>
            <a:off x="6611710" y="2589314"/>
            <a:ext cx="756617" cy="276999"/>
          </a:xfrm>
          <a:prstGeom prst="rect">
            <a:avLst/>
          </a:prstGeom>
          <a:noFill/>
        </p:spPr>
        <p:txBody>
          <a:bodyPr wrap="none" lIns="0" tIns="0" rIns="0" bIns="0" rtlCol="0">
            <a:spAutoFit/>
          </a:bodyPr>
          <a:lstStyle/>
          <a:p>
            <a:r>
              <a:rPr lang="en-US" b="1" dirty="0" smtClean="0">
                <a:solidFill>
                  <a:srgbClr val="000000"/>
                </a:solidFill>
                <a:latin typeface="Arial" charset="0"/>
              </a:rPr>
              <a:t>Leader</a:t>
            </a:r>
            <a:endParaRPr lang="en-US" b="1" dirty="0">
              <a:solidFill>
                <a:srgbClr val="000000"/>
              </a:solidFill>
              <a:latin typeface="Arial" charset="0"/>
            </a:endParaRPr>
          </a:p>
        </p:txBody>
      </p:sp>
      <p:sp>
        <p:nvSpPr>
          <p:cNvPr id="43" name="TextBox 42"/>
          <p:cNvSpPr txBox="1"/>
          <p:nvPr/>
        </p:nvSpPr>
        <p:spPr>
          <a:xfrm>
            <a:off x="6611710" y="2152852"/>
            <a:ext cx="1000274" cy="276999"/>
          </a:xfrm>
          <a:prstGeom prst="rect">
            <a:avLst/>
          </a:prstGeom>
          <a:noFill/>
        </p:spPr>
        <p:txBody>
          <a:bodyPr wrap="none" lIns="0" tIns="0" rIns="0" bIns="0" rtlCol="0">
            <a:spAutoFit/>
          </a:bodyPr>
          <a:lstStyle/>
          <a:p>
            <a:r>
              <a:rPr lang="en-US" dirty="0">
                <a:solidFill>
                  <a:srgbClr val="000000"/>
                </a:solidFill>
              </a:rPr>
              <a:t>L</a:t>
            </a:r>
            <a:r>
              <a:rPr lang="en-US" b="0" dirty="0" smtClean="0">
                <a:solidFill>
                  <a:srgbClr val="000000"/>
                </a:solidFill>
                <a:latin typeface="Arial" charset="0"/>
              </a:rPr>
              <a:t>og </a:t>
            </a:r>
            <a:r>
              <a:rPr lang="en-US" b="0" dirty="0">
                <a:solidFill>
                  <a:srgbClr val="000000"/>
                </a:solidFill>
                <a:latin typeface="Arial" charset="0"/>
              </a:rPr>
              <a:t>index</a:t>
            </a:r>
          </a:p>
        </p:txBody>
      </p:sp>
      <p:sp>
        <p:nvSpPr>
          <p:cNvPr id="44" name="TextBox 43"/>
          <p:cNvSpPr txBox="1"/>
          <p:nvPr/>
        </p:nvSpPr>
        <p:spPr>
          <a:xfrm>
            <a:off x="6611710" y="4151414"/>
            <a:ext cx="1077218" cy="276999"/>
          </a:xfrm>
          <a:prstGeom prst="rect">
            <a:avLst/>
          </a:prstGeom>
          <a:noFill/>
        </p:spPr>
        <p:txBody>
          <a:bodyPr wrap="none" lIns="0" tIns="0" rIns="0" bIns="0" rtlCol="0">
            <a:spAutoFit/>
          </a:bodyPr>
          <a:lstStyle/>
          <a:p>
            <a:r>
              <a:rPr lang="en-US" b="1" dirty="0" smtClean="0">
                <a:solidFill>
                  <a:srgbClr val="000000"/>
                </a:solidFill>
                <a:latin typeface="Arial" charset="0"/>
              </a:rPr>
              <a:t>Followers</a:t>
            </a:r>
            <a:endParaRPr lang="en-US" b="1" dirty="0">
              <a:solidFill>
                <a:srgbClr val="000000"/>
              </a:solidFill>
              <a:latin typeface="Arial" charset="0"/>
            </a:endParaRPr>
          </a:p>
        </p:txBody>
      </p:sp>
      <p:sp>
        <p:nvSpPr>
          <p:cNvPr id="45" name="Right Brace 44"/>
          <p:cNvSpPr/>
          <p:nvPr/>
        </p:nvSpPr>
        <p:spPr>
          <a:xfrm>
            <a:off x="6154508" y="3124202"/>
            <a:ext cx="228600" cy="2283023"/>
          </a:xfrm>
          <a:prstGeom prst="rightBrace">
            <a:avLst>
              <a:gd name="adj1" fmla="val 37205"/>
              <a:gd name="adj2" fmla="val 50000"/>
            </a:avLst>
          </a:prstGeom>
          <a:ln w="19050" cap="rnd"/>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51" name="TextBox 50"/>
          <p:cNvSpPr txBox="1"/>
          <p:nvPr/>
        </p:nvSpPr>
        <p:spPr>
          <a:xfrm>
            <a:off x="842550" y="2250746"/>
            <a:ext cx="511358" cy="307777"/>
          </a:xfrm>
          <a:prstGeom prst="rect">
            <a:avLst/>
          </a:prstGeom>
          <a:noFill/>
        </p:spPr>
        <p:txBody>
          <a:bodyPr wrap="none" lIns="0" tIns="0" rIns="0" bIns="0" rtlCol="0">
            <a:spAutoFit/>
          </a:bodyPr>
          <a:lstStyle/>
          <a:p>
            <a:r>
              <a:rPr lang="en-US" b="0" dirty="0">
                <a:solidFill>
                  <a:srgbClr val="1F4899"/>
                </a:solidFill>
                <a:latin typeface="Arial" charset="0"/>
              </a:rPr>
              <a:t>term</a:t>
            </a:r>
          </a:p>
        </p:txBody>
      </p:sp>
      <p:sp>
        <p:nvSpPr>
          <p:cNvPr id="52" name="TextBox 51"/>
          <p:cNvSpPr txBox="1"/>
          <p:nvPr/>
        </p:nvSpPr>
        <p:spPr>
          <a:xfrm>
            <a:off x="228600" y="2904629"/>
            <a:ext cx="1125308" cy="307777"/>
          </a:xfrm>
          <a:prstGeom prst="rect">
            <a:avLst/>
          </a:prstGeom>
          <a:noFill/>
        </p:spPr>
        <p:txBody>
          <a:bodyPr wrap="none" lIns="0" tIns="0" rIns="0" bIns="0" rtlCol="0">
            <a:spAutoFit/>
          </a:bodyPr>
          <a:lstStyle/>
          <a:p>
            <a:r>
              <a:rPr lang="en-US" b="0" dirty="0">
                <a:solidFill>
                  <a:srgbClr val="1F4899"/>
                </a:solidFill>
                <a:latin typeface="Arial" charset="0"/>
              </a:rPr>
              <a:t>command</a:t>
            </a:r>
          </a:p>
        </p:txBody>
      </p:sp>
      <p:sp>
        <p:nvSpPr>
          <p:cNvPr id="53" name="Freeform 52"/>
          <p:cNvSpPr/>
          <p:nvPr/>
        </p:nvSpPr>
        <p:spPr>
          <a:xfrm>
            <a:off x="1434923" y="2426397"/>
            <a:ext cx="375385" cy="240640"/>
          </a:xfrm>
          <a:custGeom>
            <a:avLst/>
            <a:gdLst>
              <a:gd name="connsiteX0" fmla="*/ 0 w 375385"/>
              <a:gd name="connsiteY0" fmla="*/ 0 h 240632"/>
              <a:gd name="connsiteX1" fmla="*/ 375385 w 375385"/>
              <a:gd name="connsiteY1" fmla="*/ 240632 h 240632"/>
              <a:gd name="connsiteX0" fmla="*/ 0 w 375385"/>
              <a:gd name="connsiteY0" fmla="*/ 0 h 240632"/>
              <a:gd name="connsiteX1" fmla="*/ 375385 w 375385"/>
              <a:gd name="connsiteY1" fmla="*/ 240632 h 240632"/>
              <a:gd name="connsiteX0" fmla="*/ 0 w 375385"/>
              <a:gd name="connsiteY0" fmla="*/ 8 h 240640"/>
              <a:gd name="connsiteX1" fmla="*/ 375385 w 375385"/>
              <a:gd name="connsiteY1" fmla="*/ 240640 h 240640"/>
            </a:gdLst>
            <a:ahLst/>
            <a:cxnLst>
              <a:cxn ang="0">
                <a:pos x="connsiteX0" y="connsiteY0"/>
              </a:cxn>
              <a:cxn ang="0">
                <a:pos x="connsiteX1" y="connsiteY1"/>
              </a:cxn>
            </a:cxnLst>
            <a:rect l="l" t="t" r="r" b="b"/>
            <a:pathLst>
              <a:path w="375385" h="240640">
                <a:moveTo>
                  <a:pt x="0" y="8"/>
                </a:moveTo>
                <a:cubicBezTo>
                  <a:pt x="363353" y="-1597"/>
                  <a:pt x="-33689" y="237432"/>
                  <a:pt x="375385" y="240640"/>
                </a:cubicBezTo>
              </a:path>
            </a:pathLst>
          </a:custGeom>
          <a:ln w="19050" cap="rnd">
            <a:solidFill>
              <a:schemeClr val="tx2"/>
            </a:solidFill>
            <a:tailEnd type="triangle" w="sm" len="lg"/>
          </a:ln>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54" name="Freeform 53"/>
          <p:cNvSpPr/>
          <p:nvPr/>
        </p:nvSpPr>
        <p:spPr>
          <a:xfrm flipV="1">
            <a:off x="1430110" y="2817764"/>
            <a:ext cx="375385" cy="240640"/>
          </a:xfrm>
          <a:custGeom>
            <a:avLst/>
            <a:gdLst>
              <a:gd name="connsiteX0" fmla="*/ 0 w 375385"/>
              <a:gd name="connsiteY0" fmla="*/ 0 h 240632"/>
              <a:gd name="connsiteX1" fmla="*/ 375385 w 375385"/>
              <a:gd name="connsiteY1" fmla="*/ 240632 h 240632"/>
              <a:gd name="connsiteX0" fmla="*/ 0 w 375385"/>
              <a:gd name="connsiteY0" fmla="*/ 0 h 240632"/>
              <a:gd name="connsiteX1" fmla="*/ 375385 w 375385"/>
              <a:gd name="connsiteY1" fmla="*/ 240632 h 240632"/>
              <a:gd name="connsiteX0" fmla="*/ 0 w 375385"/>
              <a:gd name="connsiteY0" fmla="*/ 8 h 240640"/>
              <a:gd name="connsiteX1" fmla="*/ 375385 w 375385"/>
              <a:gd name="connsiteY1" fmla="*/ 240640 h 240640"/>
            </a:gdLst>
            <a:ahLst/>
            <a:cxnLst>
              <a:cxn ang="0">
                <a:pos x="connsiteX0" y="connsiteY0"/>
              </a:cxn>
              <a:cxn ang="0">
                <a:pos x="connsiteX1" y="connsiteY1"/>
              </a:cxn>
            </a:cxnLst>
            <a:rect l="l" t="t" r="r" b="b"/>
            <a:pathLst>
              <a:path w="375385" h="240640">
                <a:moveTo>
                  <a:pt x="0" y="8"/>
                </a:moveTo>
                <a:cubicBezTo>
                  <a:pt x="363353" y="-1597"/>
                  <a:pt x="-33689" y="237432"/>
                  <a:pt x="375385" y="240640"/>
                </a:cubicBezTo>
              </a:path>
            </a:pathLst>
          </a:custGeom>
          <a:ln w="19050" cap="rnd">
            <a:solidFill>
              <a:schemeClr val="tx2"/>
            </a:solidFill>
            <a:tailEnd type="triangle" w="sm" len="lg"/>
          </a:ln>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58" name="Rectangle 57"/>
          <p:cNvSpPr/>
          <p:nvPr/>
        </p:nvSpPr>
        <p:spPr>
          <a:xfrm>
            <a:off x="3733800" y="49530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dirty="0" err="1" smtClean="0">
                <a:solidFill>
                  <a:srgbClr val="000000"/>
                </a:solidFill>
              </a:rPr>
              <a:t>jmp</a:t>
            </a:r>
            <a:endParaRPr lang="en-US" sz="1600" b="0" dirty="0">
              <a:solidFill>
                <a:srgbClr val="000000"/>
              </a:solidFill>
            </a:endParaRPr>
          </a:p>
        </p:txBody>
      </p:sp>
      <p:sp>
        <p:nvSpPr>
          <p:cNvPr id="59" name="Rectangle 58"/>
          <p:cNvSpPr/>
          <p:nvPr/>
        </p:nvSpPr>
        <p:spPr>
          <a:xfrm>
            <a:off x="4267200" y="49530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b="0" dirty="0">
                <a:solidFill>
                  <a:srgbClr val="000000"/>
                </a:solidFill>
              </a:rPr>
              <a:t>div</a:t>
            </a:r>
          </a:p>
        </p:txBody>
      </p:sp>
      <p:sp>
        <p:nvSpPr>
          <p:cNvPr id="60" name="Rectangle 59"/>
          <p:cNvSpPr/>
          <p:nvPr/>
        </p:nvSpPr>
        <p:spPr>
          <a:xfrm>
            <a:off x="4800600" y="49530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dirty="0" err="1" smtClean="0">
                <a:solidFill>
                  <a:srgbClr val="000000"/>
                </a:solidFill>
              </a:rPr>
              <a:t>shl</a:t>
            </a:r>
            <a:endParaRPr lang="en-US" sz="1600" b="0" dirty="0">
              <a:solidFill>
                <a:srgbClr val="000000"/>
              </a:solidFill>
            </a:endParaRPr>
          </a:p>
        </p:txBody>
      </p:sp>
      <p:sp>
        <p:nvSpPr>
          <p:cNvPr id="61" name="Rectangle 60"/>
          <p:cNvSpPr/>
          <p:nvPr/>
        </p:nvSpPr>
        <p:spPr>
          <a:xfrm>
            <a:off x="5334000" y="49530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b="0" dirty="0">
                <a:solidFill>
                  <a:srgbClr val="000000"/>
                </a:solidFill>
              </a:rPr>
              <a:t>sub</a:t>
            </a:r>
          </a:p>
        </p:txBody>
      </p:sp>
      <p:sp>
        <p:nvSpPr>
          <p:cNvPr id="46" name="TextBox 45"/>
          <p:cNvSpPr txBox="1"/>
          <p:nvPr/>
        </p:nvSpPr>
        <p:spPr>
          <a:xfrm>
            <a:off x="1219200" y="2590800"/>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1</a:t>
            </a:r>
          </a:p>
        </p:txBody>
      </p:sp>
      <p:sp>
        <p:nvSpPr>
          <p:cNvPr id="47" name="TextBox 46"/>
          <p:cNvSpPr txBox="1"/>
          <p:nvPr/>
        </p:nvSpPr>
        <p:spPr>
          <a:xfrm>
            <a:off x="1219200" y="3200400"/>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2</a:t>
            </a:r>
          </a:p>
        </p:txBody>
      </p:sp>
      <p:sp>
        <p:nvSpPr>
          <p:cNvPr id="48" name="TextBox 47"/>
          <p:cNvSpPr txBox="1"/>
          <p:nvPr/>
        </p:nvSpPr>
        <p:spPr>
          <a:xfrm>
            <a:off x="1219200" y="3810000"/>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3</a:t>
            </a:r>
          </a:p>
        </p:txBody>
      </p:sp>
      <p:sp>
        <p:nvSpPr>
          <p:cNvPr id="49" name="TextBox 48"/>
          <p:cNvSpPr txBox="1"/>
          <p:nvPr/>
        </p:nvSpPr>
        <p:spPr>
          <a:xfrm>
            <a:off x="1219200" y="4419600"/>
            <a:ext cx="381000" cy="276999"/>
          </a:xfrm>
          <a:prstGeom prst="rect">
            <a:avLst/>
          </a:prstGeom>
          <a:noFill/>
        </p:spPr>
        <p:txBody>
          <a:bodyPr wrap="square" lIns="0" tIns="0" rIns="0" bIns="0" rtlCol="0">
            <a:spAutoFit/>
          </a:bodyPr>
          <a:lstStyle/>
          <a:p>
            <a:pPr algn="ctr"/>
            <a:r>
              <a:rPr lang="en-US" sz="1800" b="1" dirty="0">
                <a:solidFill>
                  <a:srgbClr val="C00000"/>
                </a:solidFill>
                <a:latin typeface="Arial" charset="0"/>
              </a:rPr>
              <a:t>s</a:t>
            </a:r>
            <a:r>
              <a:rPr lang="en-US" sz="1800" b="1" baseline="-25000" dirty="0">
                <a:solidFill>
                  <a:srgbClr val="C00000"/>
                </a:solidFill>
                <a:latin typeface="Arial" charset="0"/>
              </a:rPr>
              <a:t>4</a:t>
            </a:r>
          </a:p>
        </p:txBody>
      </p:sp>
      <p:sp>
        <p:nvSpPr>
          <p:cNvPr id="50" name="TextBox 49"/>
          <p:cNvSpPr txBox="1"/>
          <p:nvPr/>
        </p:nvSpPr>
        <p:spPr>
          <a:xfrm>
            <a:off x="1219200" y="5029200"/>
            <a:ext cx="381000" cy="276999"/>
          </a:xfrm>
          <a:prstGeom prst="rect">
            <a:avLst/>
          </a:prstGeom>
          <a:noFill/>
        </p:spPr>
        <p:txBody>
          <a:bodyPr wrap="square" lIns="0" tIns="0" rIns="0" bIns="0" rtlCol="0">
            <a:spAutoFit/>
          </a:bodyPr>
          <a:lstStyle/>
          <a:p>
            <a:pPr algn="ctr"/>
            <a:r>
              <a:rPr lang="en-US" sz="1800" b="1" dirty="0">
                <a:solidFill>
                  <a:srgbClr val="C00000"/>
                </a:solidFill>
                <a:latin typeface="Arial" charset="0"/>
              </a:rPr>
              <a:t>s</a:t>
            </a:r>
            <a:r>
              <a:rPr lang="en-US" sz="1800" b="1" baseline="-25000" dirty="0">
                <a:solidFill>
                  <a:srgbClr val="C00000"/>
                </a:solidFill>
                <a:latin typeface="Arial" charset="0"/>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server 1 fix server 5 log?</a:t>
            </a:r>
          </a:p>
        </p:txBody>
      </p:sp>
      <p:sp>
        <p:nvSpPr>
          <p:cNvPr id="4" name="Rectangle 3"/>
          <p:cNvSpPr/>
          <p:nvPr/>
        </p:nvSpPr>
        <p:spPr>
          <a:xfrm>
            <a:off x="2200124" y="2362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5" name="TextBox 4"/>
          <p:cNvSpPr txBox="1"/>
          <p:nvPr/>
        </p:nvSpPr>
        <p:spPr>
          <a:xfrm>
            <a:off x="2200124" y="1981200"/>
            <a:ext cx="457200" cy="369332"/>
          </a:xfrm>
          <a:prstGeom prst="rect">
            <a:avLst/>
          </a:prstGeom>
          <a:noFill/>
        </p:spPr>
        <p:txBody>
          <a:bodyPr wrap="square" rtlCol="0">
            <a:spAutoFit/>
          </a:bodyPr>
          <a:lstStyle/>
          <a:p>
            <a:pPr algn="ctr"/>
            <a:r>
              <a:rPr lang="en-US" sz="1800" b="0" dirty="0">
                <a:solidFill>
                  <a:srgbClr val="000000"/>
                </a:solidFill>
                <a:latin typeface="Arial" charset="0"/>
              </a:rPr>
              <a:t>1</a:t>
            </a:r>
          </a:p>
        </p:txBody>
      </p:sp>
      <p:sp>
        <p:nvSpPr>
          <p:cNvPr id="6" name="TextBox 5"/>
          <p:cNvSpPr txBox="1"/>
          <p:nvPr/>
        </p:nvSpPr>
        <p:spPr>
          <a:xfrm>
            <a:off x="2657324" y="1981200"/>
            <a:ext cx="457200" cy="369332"/>
          </a:xfrm>
          <a:prstGeom prst="rect">
            <a:avLst/>
          </a:prstGeom>
          <a:noFill/>
        </p:spPr>
        <p:txBody>
          <a:bodyPr wrap="square" rtlCol="0">
            <a:spAutoFit/>
          </a:bodyPr>
          <a:lstStyle/>
          <a:p>
            <a:pPr algn="ctr"/>
            <a:r>
              <a:rPr lang="en-US" sz="1800" b="0" dirty="0">
                <a:solidFill>
                  <a:srgbClr val="000000"/>
                </a:solidFill>
                <a:latin typeface="Arial" charset="0"/>
              </a:rPr>
              <a:t>2</a:t>
            </a:r>
          </a:p>
        </p:txBody>
      </p:sp>
      <p:sp>
        <p:nvSpPr>
          <p:cNvPr id="7" name="TextBox 6"/>
          <p:cNvSpPr txBox="1"/>
          <p:nvPr/>
        </p:nvSpPr>
        <p:spPr>
          <a:xfrm>
            <a:off x="3114524" y="1981200"/>
            <a:ext cx="457200" cy="369332"/>
          </a:xfrm>
          <a:prstGeom prst="rect">
            <a:avLst/>
          </a:prstGeom>
          <a:noFill/>
        </p:spPr>
        <p:txBody>
          <a:bodyPr wrap="square" rtlCol="0">
            <a:spAutoFit/>
          </a:bodyPr>
          <a:lstStyle/>
          <a:p>
            <a:pPr algn="ctr"/>
            <a:r>
              <a:rPr lang="en-US" sz="1800" b="0" dirty="0">
                <a:solidFill>
                  <a:srgbClr val="000000"/>
                </a:solidFill>
                <a:latin typeface="Arial" charset="0"/>
              </a:rPr>
              <a:t>3</a:t>
            </a:r>
          </a:p>
        </p:txBody>
      </p:sp>
      <p:sp>
        <p:nvSpPr>
          <p:cNvPr id="8" name="TextBox 7"/>
          <p:cNvSpPr txBox="1"/>
          <p:nvPr/>
        </p:nvSpPr>
        <p:spPr>
          <a:xfrm>
            <a:off x="3571724" y="1981200"/>
            <a:ext cx="457200" cy="369332"/>
          </a:xfrm>
          <a:prstGeom prst="rect">
            <a:avLst/>
          </a:prstGeom>
          <a:noFill/>
        </p:spPr>
        <p:txBody>
          <a:bodyPr wrap="square" rtlCol="0">
            <a:spAutoFit/>
          </a:bodyPr>
          <a:lstStyle/>
          <a:p>
            <a:pPr algn="ctr"/>
            <a:r>
              <a:rPr lang="en-US" sz="1800" b="0" dirty="0">
                <a:solidFill>
                  <a:srgbClr val="000000"/>
                </a:solidFill>
                <a:latin typeface="Arial" charset="0"/>
              </a:rPr>
              <a:t>4</a:t>
            </a:r>
          </a:p>
        </p:txBody>
      </p:sp>
      <p:sp>
        <p:nvSpPr>
          <p:cNvPr id="9" name="TextBox 8"/>
          <p:cNvSpPr txBox="1"/>
          <p:nvPr/>
        </p:nvSpPr>
        <p:spPr>
          <a:xfrm>
            <a:off x="4028924" y="1981200"/>
            <a:ext cx="533400" cy="369332"/>
          </a:xfrm>
          <a:prstGeom prst="rect">
            <a:avLst/>
          </a:prstGeom>
          <a:noFill/>
        </p:spPr>
        <p:txBody>
          <a:bodyPr wrap="square" rtlCol="0">
            <a:spAutoFit/>
          </a:bodyPr>
          <a:lstStyle/>
          <a:p>
            <a:pPr algn="ctr"/>
            <a:r>
              <a:rPr lang="en-US" sz="1800" b="0" dirty="0">
                <a:solidFill>
                  <a:srgbClr val="000000"/>
                </a:solidFill>
                <a:latin typeface="Arial" charset="0"/>
              </a:rPr>
              <a:t>5</a:t>
            </a:r>
          </a:p>
        </p:txBody>
      </p:sp>
      <p:sp>
        <p:nvSpPr>
          <p:cNvPr id="10" name="TextBox 9"/>
          <p:cNvSpPr txBox="1"/>
          <p:nvPr/>
        </p:nvSpPr>
        <p:spPr>
          <a:xfrm>
            <a:off x="4562324" y="1981200"/>
            <a:ext cx="533400" cy="369332"/>
          </a:xfrm>
          <a:prstGeom prst="rect">
            <a:avLst/>
          </a:prstGeom>
          <a:noFill/>
        </p:spPr>
        <p:txBody>
          <a:bodyPr wrap="square" rtlCol="0">
            <a:spAutoFit/>
          </a:bodyPr>
          <a:lstStyle/>
          <a:p>
            <a:pPr algn="ctr"/>
            <a:r>
              <a:rPr lang="en-US" sz="1800" b="0" dirty="0">
                <a:solidFill>
                  <a:srgbClr val="000000"/>
                </a:solidFill>
                <a:latin typeface="Arial" charset="0"/>
              </a:rPr>
              <a:t>6</a:t>
            </a:r>
          </a:p>
        </p:txBody>
      </p:sp>
      <p:sp>
        <p:nvSpPr>
          <p:cNvPr id="13" name="Rectangle 12"/>
          <p:cNvSpPr/>
          <p:nvPr/>
        </p:nvSpPr>
        <p:spPr>
          <a:xfrm>
            <a:off x="4028924" y="23622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14" name="Rectangle 13"/>
          <p:cNvSpPr/>
          <p:nvPr/>
        </p:nvSpPr>
        <p:spPr>
          <a:xfrm>
            <a:off x="2657324" y="2362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15" name="Rectangle 14"/>
          <p:cNvSpPr/>
          <p:nvPr/>
        </p:nvSpPr>
        <p:spPr>
          <a:xfrm>
            <a:off x="3114524" y="23622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16" name="Rectangle 15"/>
          <p:cNvSpPr/>
          <p:nvPr/>
        </p:nvSpPr>
        <p:spPr>
          <a:xfrm>
            <a:off x="3571724" y="23622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17" name="Rectangle 16"/>
          <p:cNvSpPr/>
          <p:nvPr/>
        </p:nvSpPr>
        <p:spPr>
          <a:xfrm>
            <a:off x="4562324" y="23622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a:solidFill>
                  <a:srgbClr val="000000"/>
                </a:solidFill>
              </a:rPr>
              <a:t>div</a:t>
            </a:r>
          </a:p>
        </p:txBody>
      </p:sp>
      <p:sp>
        <p:nvSpPr>
          <p:cNvPr id="18" name="Rectangle 17"/>
          <p:cNvSpPr/>
          <p:nvPr/>
        </p:nvSpPr>
        <p:spPr>
          <a:xfrm>
            <a:off x="2200124" y="2971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19" name="Rectangle 18"/>
          <p:cNvSpPr/>
          <p:nvPr/>
        </p:nvSpPr>
        <p:spPr>
          <a:xfrm>
            <a:off x="4028924" y="29718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20" name="Rectangle 19"/>
          <p:cNvSpPr/>
          <p:nvPr/>
        </p:nvSpPr>
        <p:spPr>
          <a:xfrm>
            <a:off x="2657324" y="2971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21" name="Rectangle 20"/>
          <p:cNvSpPr/>
          <p:nvPr/>
        </p:nvSpPr>
        <p:spPr>
          <a:xfrm>
            <a:off x="3114524" y="29718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22" name="Rectangle 21"/>
          <p:cNvSpPr/>
          <p:nvPr/>
        </p:nvSpPr>
        <p:spPr>
          <a:xfrm>
            <a:off x="3571724" y="29718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23" name="Rectangle 22"/>
          <p:cNvSpPr/>
          <p:nvPr/>
        </p:nvSpPr>
        <p:spPr>
          <a:xfrm>
            <a:off x="2200124" y="3581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24" name="Rectangle 23"/>
          <p:cNvSpPr/>
          <p:nvPr/>
        </p:nvSpPr>
        <p:spPr>
          <a:xfrm>
            <a:off x="4028924" y="3581400"/>
            <a:ext cx="533400" cy="457200"/>
          </a:xfrm>
          <a:prstGeom prst="rect">
            <a:avLst/>
          </a:prstGeom>
          <a:solidFill>
            <a:srgbClr val="CCD9F4"/>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3</a:t>
            </a:r>
            <a:br>
              <a:rPr lang="en-US" sz="1600" b="0" dirty="0">
                <a:solidFill>
                  <a:srgbClr val="000000"/>
                </a:solidFill>
              </a:rPr>
            </a:br>
            <a:r>
              <a:rPr lang="en-US" sz="1600" b="0" dirty="0" err="1">
                <a:solidFill>
                  <a:srgbClr val="000000"/>
                </a:solidFill>
              </a:rPr>
              <a:t>jmp</a:t>
            </a:r>
            <a:endParaRPr lang="en-US" sz="1600" b="0" dirty="0">
              <a:solidFill>
                <a:srgbClr val="000000"/>
              </a:solidFill>
            </a:endParaRPr>
          </a:p>
        </p:txBody>
      </p:sp>
      <p:sp>
        <p:nvSpPr>
          <p:cNvPr id="25" name="Rectangle 24"/>
          <p:cNvSpPr/>
          <p:nvPr/>
        </p:nvSpPr>
        <p:spPr>
          <a:xfrm>
            <a:off x="2657324" y="3581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26" name="Rectangle 25"/>
          <p:cNvSpPr/>
          <p:nvPr/>
        </p:nvSpPr>
        <p:spPr>
          <a:xfrm>
            <a:off x="3114524" y="35814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27" name="Rectangle 26"/>
          <p:cNvSpPr/>
          <p:nvPr/>
        </p:nvSpPr>
        <p:spPr>
          <a:xfrm>
            <a:off x="3571724" y="35814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28" name="Rectangle 27"/>
          <p:cNvSpPr/>
          <p:nvPr/>
        </p:nvSpPr>
        <p:spPr>
          <a:xfrm>
            <a:off x="2200124" y="4191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29" name="Rectangle 28"/>
          <p:cNvSpPr/>
          <p:nvPr/>
        </p:nvSpPr>
        <p:spPr>
          <a:xfrm>
            <a:off x="2657324" y="41910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30" name="Rectangle 29"/>
          <p:cNvSpPr/>
          <p:nvPr/>
        </p:nvSpPr>
        <p:spPr>
          <a:xfrm>
            <a:off x="2200124" y="4800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add</a:t>
            </a:r>
          </a:p>
        </p:txBody>
      </p:sp>
      <p:sp>
        <p:nvSpPr>
          <p:cNvPr id="31" name="Rectangle 30"/>
          <p:cNvSpPr/>
          <p:nvPr/>
        </p:nvSpPr>
        <p:spPr>
          <a:xfrm>
            <a:off x="2657324" y="4800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err="1">
                <a:solidFill>
                  <a:srgbClr val="000000"/>
                </a:solidFill>
              </a:rPr>
              <a:t>cmp</a:t>
            </a:r>
            <a:endParaRPr lang="en-US" sz="1600" b="0" dirty="0">
              <a:solidFill>
                <a:srgbClr val="000000"/>
              </a:solidFill>
            </a:endParaRPr>
          </a:p>
        </p:txBody>
      </p:sp>
      <p:sp>
        <p:nvSpPr>
          <p:cNvPr id="32" name="Rectangle 31"/>
          <p:cNvSpPr/>
          <p:nvPr/>
        </p:nvSpPr>
        <p:spPr>
          <a:xfrm>
            <a:off x="3114524" y="4800600"/>
            <a:ext cx="457200" cy="457200"/>
          </a:xfrm>
          <a:prstGeom prst="rect">
            <a:avLst/>
          </a:prstGeom>
          <a:solidFill>
            <a:srgbClr val="D5FFD5"/>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1</a:t>
            </a:r>
            <a:br>
              <a:rPr lang="en-US" sz="1600" b="0" dirty="0">
                <a:solidFill>
                  <a:srgbClr val="000000"/>
                </a:solidFill>
              </a:rPr>
            </a:br>
            <a:r>
              <a:rPr lang="en-US" sz="1600" b="0" dirty="0">
                <a:solidFill>
                  <a:srgbClr val="000000"/>
                </a:solidFill>
              </a:rPr>
              <a:t>ret</a:t>
            </a:r>
          </a:p>
        </p:txBody>
      </p:sp>
      <p:sp>
        <p:nvSpPr>
          <p:cNvPr id="33" name="Rectangle 32"/>
          <p:cNvSpPr/>
          <p:nvPr/>
        </p:nvSpPr>
        <p:spPr>
          <a:xfrm>
            <a:off x="3571724" y="4800600"/>
            <a:ext cx="457200" cy="457200"/>
          </a:xfrm>
          <a:prstGeom prst="rect">
            <a:avLst/>
          </a:prstGeom>
          <a:solidFill>
            <a:srgbClr val="FFFF9B"/>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a:solidFill>
                  <a:srgbClr val="000000"/>
                </a:solidFill>
              </a:rPr>
              <a:t>2</a:t>
            </a:r>
            <a:br>
              <a:rPr lang="en-US" sz="1600" b="0" dirty="0">
                <a:solidFill>
                  <a:srgbClr val="000000"/>
                </a:solidFill>
              </a:rPr>
            </a:br>
            <a:r>
              <a:rPr lang="en-US" sz="1600" b="0" dirty="0" err="1">
                <a:solidFill>
                  <a:srgbClr val="000000"/>
                </a:solidFill>
              </a:rPr>
              <a:t>mov</a:t>
            </a:r>
            <a:endParaRPr lang="en-US" sz="1600" b="0" dirty="0">
              <a:solidFill>
                <a:srgbClr val="000000"/>
              </a:solidFill>
            </a:endParaRPr>
          </a:p>
        </p:txBody>
      </p:sp>
      <p:sp>
        <p:nvSpPr>
          <p:cNvPr id="34" name="TextBox 33"/>
          <p:cNvSpPr txBox="1"/>
          <p:nvPr/>
        </p:nvSpPr>
        <p:spPr>
          <a:xfrm>
            <a:off x="6924526" y="2436914"/>
            <a:ext cx="718145" cy="276999"/>
          </a:xfrm>
          <a:prstGeom prst="rect">
            <a:avLst/>
          </a:prstGeom>
          <a:noFill/>
        </p:spPr>
        <p:txBody>
          <a:bodyPr wrap="none" lIns="0" tIns="0" rIns="0" bIns="0" rtlCol="0">
            <a:spAutoFit/>
          </a:bodyPr>
          <a:lstStyle/>
          <a:p>
            <a:r>
              <a:rPr lang="en-US" b="0" dirty="0" smtClean="0">
                <a:solidFill>
                  <a:srgbClr val="000000"/>
                </a:solidFill>
                <a:latin typeface="Arial" charset="0"/>
              </a:rPr>
              <a:t>Leader</a:t>
            </a:r>
            <a:endParaRPr lang="en-US" b="0" dirty="0">
              <a:solidFill>
                <a:srgbClr val="000000"/>
              </a:solidFill>
              <a:latin typeface="Arial" charset="0"/>
            </a:endParaRPr>
          </a:p>
        </p:txBody>
      </p:sp>
      <p:sp>
        <p:nvSpPr>
          <p:cNvPr id="35" name="TextBox 34"/>
          <p:cNvSpPr txBox="1"/>
          <p:nvPr/>
        </p:nvSpPr>
        <p:spPr>
          <a:xfrm>
            <a:off x="6924526" y="2000452"/>
            <a:ext cx="1000274" cy="276999"/>
          </a:xfrm>
          <a:prstGeom prst="rect">
            <a:avLst/>
          </a:prstGeom>
          <a:noFill/>
        </p:spPr>
        <p:txBody>
          <a:bodyPr wrap="none" lIns="0" tIns="0" rIns="0" bIns="0" rtlCol="0">
            <a:spAutoFit/>
          </a:bodyPr>
          <a:lstStyle/>
          <a:p>
            <a:r>
              <a:rPr lang="en-US" b="0" dirty="0" smtClean="0">
                <a:solidFill>
                  <a:srgbClr val="000000"/>
                </a:solidFill>
                <a:latin typeface="Arial" charset="0"/>
              </a:rPr>
              <a:t>Log </a:t>
            </a:r>
            <a:r>
              <a:rPr lang="en-US" b="0" dirty="0">
                <a:solidFill>
                  <a:srgbClr val="000000"/>
                </a:solidFill>
                <a:latin typeface="Arial" charset="0"/>
              </a:rPr>
              <a:t>index</a:t>
            </a:r>
          </a:p>
        </p:txBody>
      </p:sp>
      <p:sp>
        <p:nvSpPr>
          <p:cNvPr id="36" name="TextBox 35"/>
          <p:cNvSpPr txBox="1"/>
          <p:nvPr/>
        </p:nvSpPr>
        <p:spPr>
          <a:xfrm>
            <a:off x="6924526" y="3999014"/>
            <a:ext cx="987450" cy="276999"/>
          </a:xfrm>
          <a:prstGeom prst="rect">
            <a:avLst/>
          </a:prstGeom>
          <a:noFill/>
        </p:spPr>
        <p:txBody>
          <a:bodyPr wrap="none" lIns="0" tIns="0" rIns="0" bIns="0" rtlCol="0">
            <a:spAutoFit/>
          </a:bodyPr>
          <a:lstStyle/>
          <a:p>
            <a:r>
              <a:rPr lang="en-US" b="0" dirty="0" smtClean="0">
                <a:solidFill>
                  <a:srgbClr val="000000"/>
                </a:solidFill>
                <a:latin typeface="Arial" charset="0"/>
              </a:rPr>
              <a:t>Followers</a:t>
            </a:r>
            <a:endParaRPr lang="en-US" b="0" dirty="0">
              <a:solidFill>
                <a:srgbClr val="000000"/>
              </a:solidFill>
              <a:latin typeface="Arial" charset="0"/>
            </a:endParaRPr>
          </a:p>
        </p:txBody>
      </p:sp>
      <p:sp>
        <p:nvSpPr>
          <p:cNvPr id="37" name="Right Brace 36"/>
          <p:cNvSpPr/>
          <p:nvPr/>
        </p:nvSpPr>
        <p:spPr>
          <a:xfrm>
            <a:off x="6467324" y="2971802"/>
            <a:ext cx="228600" cy="2283023"/>
          </a:xfrm>
          <a:prstGeom prst="rightBrace">
            <a:avLst>
              <a:gd name="adj1" fmla="val 37205"/>
              <a:gd name="adj2" fmla="val 50000"/>
            </a:avLst>
          </a:prstGeom>
          <a:ln w="19050" cap="rnd"/>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42" name="Rectangle 41"/>
          <p:cNvSpPr/>
          <p:nvPr/>
        </p:nvSpPr>
        <p:spPr>
          <a:xfrm>
            <a:off x="4046616" y="48006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dirty="0" err="1" smtClean="0">
                <a:solidFill>
                  <a:srgbClr val="000000"/>
                </a:solidFill>
              </a:rPr>
              <a:t>jmp</a:t>
            </a:r>
            <a:endParaRPr lang="en-US" sz="1600" b="0" dirty="0">
              <a:solidFill>
                <a:srgbClr val="000000"/>
              </a:solidFill>
            </a:endParaRPr>
          </a:p>
        </p:txBody>
      </p:sp>
      <p:sp>
        <p:nvSpPr>
          <p:cNvPr id="43" name="Rectangle 42"/>
          <p:cNvSpPr/>
          <p:nvPr/>
        </p:nvSpPr>
        <p:spPr>
          <a:xfrm>
            <a:off x="4580016" y="48006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b="0" dirty="0">
                <a:solidFill>
                  <a:srgbClr val="000000"/>
                </a:solidFill>
              </a:rPr>
              <a:t>div</a:t>
            </a:r>
          </a:p>
        </p:txBody>
      </p:sp>
      <p:sp>
        <p:nvSpPr>
          <p:cNvPr id="44" name="Rectangle 43"/>
          <p:cNvSpPr/>
          <p:nvPr/>
        </p:nvSpPr>
        <p:spPr>
          <a:xfrm>
            <a:off x="5113416" y="48006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dirty="0" err="1" smtClean="0">
                <a:solidFill>
                  <a:srgbClr val="000000"/>
                </a:solidFill>
              </a:rPr>
              <a:t>shl</a:t>
            </a:r>
            <a:endParaRPr lang="en-US" sz="1600" b="0" dirty="0">
              <a:solidFill>
                <a:srgbClr val="000000"/>
              </a:solidFill>
            </a:endParaRPr>
          </a:p>
        </p:txBody>
      </p:sp>
      <p:sp>
        <p:nvSpPr>
          <p:cNvPr id="45" name="Rectangle 44"/>
          <p:cNvSpPr/>
          <p:nvPr/>
        </p:nvSpPr>
        <p:spPr>
          <a:xfrm>
            <a:off x="5646816" y="4800602"/>
            <a:ext cx="533400" cy="457200"/>
          </a:xfrm>
          <a:prstGeom prst="rect">
            <a:avLst/>
          </a:prstGeom>
          <a:solidFill>
            <a:srgbClr val="FFFF00"/>
          </a:solidFill>
          <a:ln w="19050"/>
        </p:spPr>
        <p:style>
          <a:lnRef idx="2">
            <a:schemeClr val="dk1"/>
          </a:lnRef>
          <a:fillRef idx="1">
            <a:schemeClr val="lt1"/>
          </a:fillRef>
          <a:effectRef idx="0">
            <a:schemeClr val="dk1"/>
          </a:effectRef>
          <a:fontRef idx="minor">
            <a:schemeClr val="dk1"/>
          </a:fontRef>
        </p:style>
        <p:txBody>
          <a:bodyPr lIns="0" tIns="0" rIns="0" bIns="0" rtlCol="0" anchor="ctr"/>
          <a:lstStyle/>
          <a:p>
            <a:pPr algn="ctr">
              <a:lnSpc>
                <a:spcPts val="1700"/>
              </a:lnSpc>
            </a:pPr>
            <a:r>
              <a:rPr lang="en-US" sz="1600" b="0" dirty="0" smtClean="0">
                <a:solidFill>
                  <a:srgbClr val="000000"/>
                </a:solidFill>
              </a:rPr>
              <a:t>2</a:t>
            </a:r>
            <a:r>
              <a:rPr lang="en-US" sz="1600" b="0" dirty="0">
                <a:solidFill>
                  <a:srgbClr val="000000"/>
                </a:solidFill>
              </a:rPr>
              <a:t/>
            </a:r>
            <a:br>
              <a:rPr lang="en-US" sz="1600" b="0" dirty="0">
                <a:solidFill>
                  <a:srgbClr val="000000"/>
                </a:solidFill>
              </a:rPr>
            </a:br>
            <a:r>
              <a:rPr lang="en-US" sz="1600" b="0" dirty="0">
                <a:solidFill>
                  <a:srgbClr val="000000"/>
                </a:solidFill>
              </a:rPr>
              <a:t>sub</a:t>
            </a:r>
          </a:p>
        </p:txBody>
      </p:sp>
      <p:sp>
        <p:nvSpPr>
          <p:cNvPr id="56" name="TextBox 55"/>
          <p:cNvSpPr txBox="1"/>
          <p:nvPr/>
        </p:nvSpPr>
        <p:spPr>
          <a:xfrm>
            <a:off x="1155366" y="2126149"/>
            <a:ext cx="511358" cy="307777"/>
          </a:xfrm>
          <a:prstGeom prst="rect">
            <a:avLst/>
          </a:prstGeom>
          <a:noFill/>
        </p:spPr>
        <p:txBody>
          <a:bodyPr wrap="none" lIns="0" tIns="0" rIns="0" bIns="0" rtlCol="0">
            <a:spAutoFit/>
          </a:bodyPr>
          <a:lstStyle/>
          <a:p>
            <a:r>
              <a:rPr lang="en-US" b="0" dirty="0">
                <a:solidFill>
                  <a:srgbClr val="1F4899"/>
                </a:solidFill>
                <a:latin typeface="Arial" charset="0"/>
              </a:rPr>
              <a:t>term</a:t>
            </a:r>
          </a:p>
        </p:txBody>
      </p:sp>
      <p:sp>
        <p:nvSpPr>
          <p:cNvPr id="57" name="TextBox 56"/>
          <p:cNvSpPr txBox="1"/>
          <p:nvPr/>
        </p:nvSpPr>
        <p:spPr>
          <a:xfrm>
            <a:off x="541416" y="2780032"/>
            <a:ext cx="1125308" cy="307777"/>
          </a:xfrm>
          <a:prstGeom prst="rect">
            <a:avLst/>
          </a:prstGeom>
          <a:noFill/>
        </p:spPr>
        <p:txBody>
          <a:bodyPr wrap="none" lIns="0" tIns="0" rIns="0" bIns="0" rtlCol="0">
            <a:spAutoFit/>
          </a:bodyPr>
          <a:lstStyle/>
          <a:p>
            <a:r>
              <a:rPr lang="en-US" b="0" dirty="0">
                <a:solidFill>
                  <a:srgbClr val="1F4899"/>
                </a:solidFill>
                <a:latin typeface="Arial" charset="0"/>
              </a:rPr>
              <a:t>command</a:t>
            </a:r>
          </a:p>
        </p:txBody>
      </p:sp>
      <p:sp>
        <p:nvSpPr>
          <p:cNvPr id="58" name="Freeform 57"/>
          <p:cNvSpPr/>
          <p:nvPr/>
        </p:nvSpPr>
        <p:spPr>
          <a:xfrm>
            <a:off x="1747739" y="2301800"/>
            <a:ext cx="375385" cy="240640"/>
          </a:xfrm>
          <a:custGeom>
            <a:avLst/>
            <a:gdLst>
              <a:gd name="connsiteX0" fmla="*/ 0 w 375385"/>
              <a:gd name="connsiteY0" fmla="*/ 0 h 240632"/>
              <a:gd name="connsiteX1" fmla="*/ 375385 w 375385"/>
              <a:gd name="connsiteY1" fmla="*/ 240632 h 240632"/>
              <a:gd name="connsiteX0" fmla="*/ 0 w 375385"/>
              <a:gd name="connsiteY0" fmla="*/ 0 h 240632"/>
              <a:gd name="connsiteX1" fmla="*/ 375385 w 375385"/>
              <a:gd name="connsiteY1" fmla="*/ 240632 h 240632"/>
              <a:gd name="connsiteX0" fmla="*/ 0 w 375385"/>
              <a:gd name="connsiteY0" fmla="*/ 8 h 240640"/>
              <a:gd name="connsiteX1" fmla="*/ 375385 w 375385"/>
              <a:gd name="connsiteY1" fmla="*/ 240640 h 240640"/>
            </a:gdLst>
            <a:ahLst/>
            <a:cxnLst>
              <a:cxn ang="0">
                <a:pos x="connsiteX0" y="connsiteY0"/>
              </a:cxn>
              <a:cxn ang="0">
                <a:pos x="connsiteX1" y="connsiteY1"/>
              </a:cxn>
            </a:cxnLst>
            <a:rect l="l" t="t" r="r" b="b"/>
            <a:pathLst>
              <a:path w="375385" h="240640">
                <a:moveTo>
                  <a:pt x="0" y="8"/>
                </a:moveTo>
                <a:cubicBezTo>
                  <a:pt x="363353" y="-1597"/>
                  <a:pt x="-33689" y="237432"/>
                  <a:pt x="375385" y="240640"/>
                </a:cubicBezTo>
              </a:path>
            </a:pathLst>
          </a:custGeom>
          <a:ln w="19050" cap="rnd">
            <a:solidFill>
              <a:schemeClr val="tx2"/>
            </a:solidFill>
            <a:tailEnd type="triangle" w="sm" len="lg"/>
          </a:ln>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59" name="Freeform 58"/>
          <p:cNvSpPr/>
          <p:nvPr/>
        </p:nvSpPr>
        <p:spPr>
          <a:xfrm flipV="1">
            <a:off x="1742926" y="2693167"/>
            <a:ext cx="375385" cy="240640"/>
          </a:xfrm>
          <a:custGeom>
            <a:avLst/>
            <a:gdLst>
              <a:gd name="connsiteX0" fmla="*/ 0 w 375385"/>
              <a:gd name="connsiteY0" fmla="*/ 0 h 240632"/>
              <a:gd name="connsiteX1" fmla="*/ 375385 w 375385"/>
              <a:gd name="connsiteY1" fmla="*/ 240632 h 240632"/>
              <a:gd name="connsiteX0" fmla="*/ 0 w 375385"/>
              <a:gd name="connsiteY0" fmla="*/ 0 h 240632"/>
              <a:gd name="connsiteX1" fmla="*/ 375385 w 375385"/>
              <a:gd name="connsiteY1" fmla="*/ 240632 h 240632"/>
              <a:gd name="connsiteX0" fmla="*/ 0 w 375385"/>
              <a:gd name="connsiteY0" fmla="*/ 8 h 240640"/>
              <a:gd name="connsiteX1" fmla="*/ 375385 w 375385"/>
              <a:gd name="connsiteY1" fmla="*/ 240640 h 240640"/>
            </a:gdLst>
            <a:ahLst/>
            <a:cxnLst>
              <a:cxn ang="0">
                <a:pos x="connsiteX0" y="connsiteY0"/>
              </a:cxn>
              <a:cxn ang="0">
                <a:pos x="connsiteX1" y="connsiteY1"/>
              </a:cxn>
            </a:cxnLst>
            <a:rect l="l" t="t" r="r" b="b"/>
            <a:pathLst>
              <a:path w="375385" h="240640">
                <a:moveTo>
                  <a:pt x="0" y="8"/>
                </a:moveTo>
                <a:cubicBezTo>
                  <a:pt x="363353" y="-1597"/>
                  <a:pt x="-33689" y="237432"/>
                  <a:pt x="375385" y="240640"/>
                </a:cubicBezTo>
              </a:path>
            </a:pathLst>
          </a:custGeom>
          <a:ln w="19050" cap="rnd">
            <a:solidFill>
              <a:schemeClr val="tx2"/>
            </a:solidFill>
            <a:tailEnd type="triangle" w="sm" len="lg"/>
          </a:ln>
          <a:effectLst/>
        </p:spPr>
        <p:style>
          <a:lnRef idx="2">
            <a:schemeClr val="dk1"/>
          </a:lnRef>
          <a:fillRef idx="0">
            <a:schemeClr val="dk1"/>
          </a:fillRef>
          <a:effectRef idx="1">
            <a:schemeClr val="dk1"/>
          </a:effectRef>
          <a:fontRef idx="minor">
            <a:schemeClr val="tx1"/>
          </a:fontRef>
        </p:style>
        <p:txBody>
          <a:bodyPr rtlCol="0" anchor="ctr"/>
          <a:lstStyle/>
          <a:p>
            <a:endParaRPr lang="en-US" sz="1800" b="0">
              <a:solidFill>
                <a:srgbClr val="000000"/>
              </a:solidFill>
            </a:endParaRPr>
          </a:p>
        </p:txBody>
      </p:sp>
      <p:sp>
        <p:nvSpPr>
          <p:cNvPr id="60" name="TextBox 59"/>
          <p:cNvSpPr txBox="1"/>
          <p:nvPr/>
        </p:nvSpPr>
        <p:spPr>
          <a:xfrm>
            <a:off x="1532016" y="2466203"/>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1</a:t>
            </a:r>
          </a:p>
        </p:txBody>
      </p:sp>
      <p:sp>
        <p:nvSpPr>
          <p:cNvPr id="61" name="TextBox 60"/>
          <p:cNvSpPr txBox="1"/>
          <p:nvPr/>
        </p:nvSpPr>
        <p:spPr>
          <a:xfrm>
            <a:off x="1532016" y="3075803"/>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2</a:t>
            </a:r>
          </a:p>
        </p:txBody>
      </p:sp>
      <p:sp>
        <p:nvSpPr>
          <p:cNvPr id="62" name="TextBox 61"/>
          <p:cNvSpPr txBox="1"/>
          <p:nvPr/>
        </p:nvSpPr>
        <p:spPr>
          <a:xfrm>
            <a:off x="1532016" y="3685403"/>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3</a:t>
            </a:r>
          </a:p>
        </p:txBody>
      </p:sp>
      <p:sp>
        <p:nvSpPr>
          <p:cNvPr id="63" name="TextBox 62"/>
          <p:cNvSpPr txBox="1"/>
          <p:nvPr/>
        </p:nvSpPr>
        <p:spPr>
          <a:xfrm>
            <a:off x="1532016" y="4295003"/>
            <a:ext cx="381000" cy="276999"/>
          </a:xfrm>
          <a:prstGeom prst="rect">
            <a:avLst/>
          </a:prstGeom>
          <a:noFill/>
        </p:spPr>
        <p:txBody>
          <a:bodyPr wrap="square" lIns="0" tIns="0" rIns="0" bIns="0" rtlCol="0">
            <a:spAutoFit/>
          </a:bodyPr>
          <a:lstStyle/>
          <a:p>
            <a:pPr algn="ctr"/>
            <a:r>
              <a:rPr lang="en-US" sz="1800" b="0" dirty="0">
                <a:solidFill>
                  <a:srgbClr val="000000"/>
                </a:solidFill>
                <a:latin typeface="Arial" charset="0"/>
              </a:rPr>
              <a:t>s</a:t>
            </a:r>
            <a:r>
              <a:rPr lang="en-US" sz="1800" b="0" baseline="-25000" dirty="0">
                <a:solidFill>
                  <a:srgbClr val="000000"/>
                </a:solidFill>
                <a:latin typeface="Arial" charset="0"/>
              </a:rPr>
              <a:t>4</a:t>
            </a:r>
          </a:p>
        </p:txBody>
      </p:sp>
      <p:sp>
        <p:nvSpPr>
          <p:cNvPr id="64" name="TextBox 63"/>
          <p:cNvSpPr txBox="1"/>
          <p:nvPr/>
        </p:nvSpPr>
        <p:spPr>
          <a:xfrm>
            <a:off x="1532016" y="4904603"/>
            <a:ext cx="381000" cy="276999"/>
          </a:xfrm>
          <a:prstGeom prst="rect">
            <a:avLst/>
          </a:prstGeom>
          <a:noFill/>
        </p:spPr>
        <p:txBody>
          <a:bodyPr wrap="square" lIns="0" tIns="0" rIns="0" bIns="0" rtlCol="0">
            <a:spAutoFit/>
          </a:bodyPr>
          <a:lstStyle/>
          <a:p>
            <a:pPr algn="ctr"/>
            <a:r>
              <a:rPr lang="en-US" sz="1800" b="1" dirty="0">
                <a:solidFill>
                  <a:srgbClr val="C00000"/>
                </a:solidFill>
                <a:latin typeface="Arial" charset="0"/>
              </a:rPr>
              <a:t>s</a:t>
            </a:r>
            <a:r>
              <a:rPr lang="en-US" sz="1800" b="1" baseline="-25000" dirty="0">
                <a:solidFill>
                  <a:srgbClr val="C00000"/>
                </a:solidFill>
                <a:latin typeface="Arial" charset="0"/>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Đồ</a:t>
            </a:r>
            <a:r>
              <a:rPr lang="en-US" dirty="0" smtClean="0"/>
              <a:t> </a:t>
            </a:r>
            <a:r>
              <a:rPr lang="en-US" dirty="0" err="1" smtClean="0"/>
              <a:t>án</a:t>
            </a:r>
            <a:r>
              <a:rPr lang="en-US" dirty="0" smtClean="0"/>
              <a:t>: </a:t>
            </a:r>
            <a:r>
              <a:rPr lang="en-US" dirty="0" err="1" smtClean="0"/>
              <a:t>Xây</a:t>
            </a:r>
            <a:r>
              <a:rPr lang="en-US" dirty="0" smtClean="0"/>
              <a:t> </a:t>
            </a:r>
            <a:r>
              <a:rPr lang="en-US" dirty="0" err="1" smtClean="0"/>
              <a:t>dựng</a:t>
            </a:r>
            <a:r>
              <a:rPr lang="en-US" dirty="0" smtClean="0"/>
              <a:t> </a:t>
            </a:r>
            <a:r>
              <a:rPr lang="en-US" dirty="0" err="1" smtClean="0"/>
              <a:t>lại</a:t>
            </a:r>
            <a:r>
              <a:rPr lang="en-US" dirty="0" smtClean="0"/>
              <a:t> </a:t>
            </a:r>
            <a:r>
              <a:rPr lang="en-US" dirty="0" err="1" smtClean="0"/>
              <a:t>giải</a:t>
            </a:r>
            <a:r>
              <a:rPr lang="en-US" dirty="0" smtClean="0"/>
              <a:t> </a:t>
            </a:r>
            <a:r>
              <a:rPr lang="en-US" dirty="0" err="1" smtClean="0"/>
              <a:t>pháp</a:t>
            </a:r>
            <a:endParaRPr lang="en-US" dirty="0"/>
          </a:p>
        </p:txBody>
      </p:sp>
      <p:sp>
        <p:nvSpPr>
          <p:cNvPr id="3" name="Content Placeholder 2"/>
          <p:cNvSpPr>
            <a:spLocks noGrp="1"/>
          </p:cNvSpPr>
          <p:nvPr>
            <p:ph idx="1"/>
          </p:nvPr>
        </p:nvSpPr>
        <p:spPr/>
        <p:txBody>
          <a:bodyPr/>
          <a:lstStyle/>
          <a:p>
            <a:r>
              <a:rPr lang="vi-VN" sz="1400" dirty="0" smtClean="0">
                <a:latin typeface="Calibri" pitchFamily="34" charset="0"/>
                <a:cs typeface="Calibri" pitchFamily="34" charset="0"/>
              </a:rPr>
              <a:t>* Học viên quan tâm lĩnh vực các thuật toán đồng thuận cho blockchain.</a:t>
            </a:r>
          </a:p>
          <a:p>
            <a:r>
              <a:rPr lang="vi-VN" sz="1400" dirty="0" smtClean="0">
                <a:latin typeface="Calibri" pitchFamily="34" charset="0"/>
                <a:cs typeface="Calibri" pitchFamily="34" charset="0"/>
              </a:rPr>
              <a:t>* Học viên chọn bài báo để bắt đầu tìm hiểu, ví dụ: &lt;a href="https://pmg.csail.mit.edu/papers/osdi99.pdf" target="_blank"&gt;Miguel Castro and Barbara Liskov (1999). Practical Byzantine Fault Tolerance&lt;/a&gt;.</a:t>
            </a:r>
          </a:p>
          <a:p>
            <a:r>
              <a:rPr lang="vi-VN" sz="1400" dirty="0" smtClean="0">
                <a:latin typeface="Calibri" pitchFamily="34" charset="0"/>
                <a:cs typeface="Calibri" pitchFamily="34" charset="0"/>
              </a:rPr>
              <a:t>* Học viên tìm hiểu thêm các thông tin khác, ví dụ: &lt;a href="https://www.youtube.com/watch?v=Uj638eFIWg8" target="_blank"&gt;Barbara Liskov at MIT - 2001 EECS Colloquium on Practical Byzantine Fault Tolerance&lt;/a&gt;.</a:t>
            </a:r>
          </a:p>
          <a:p>
            <a:r>
              <a:rPr lang="vi-VN" sz="1400" dirty="0" smtClean="0">
                <a:latin typeface="Calibri" pitchFamily="34" charset="0"/>
                <a:cs typeface="Calibri" pitchFamily="34" charset="0"/>
              </a:rPr>
              <a:t>* Sau đó, học viên có thể tìm hiểu ngược lên đến thời gian gần đây, ví dụ: &lt;a href="https://doi.org/10.1145/3579845" target="_blank"&gt;A Survey of Blockchain Consensus Protocols&lt;/a&gt;.</a:t>
            </a:r>
          </a:p>
          <a:p>
            <a:r>
              <a:rPr lang="vi-VN" sz="1400" dirty="0" smtClean="0">
                <a:latin typeface="Calibri" pitchFamily="34" charset="0"/>
                <a:cs typeface="Calibri" pitchFamily="34" charset="0"/>
              </a:rPr>
              <a:t>* Sau đó, học viên có thể xem xét xem có nên xây dựng lại một thuật toán nào đó hiệu quả, nhưng còn thiếu thư viện cho một ngôn ngữ hoặc cho một khung ứng dụng phổ biến không, tương tự như các hiện thực hóa trong phần "Where can I get Raft?" tại liên kết: &lt;a href="https://raft.github.io/" target="_blank"&gt;https://raft.github.io/&lt;/a&gt;.</a:t>
            </a:r>
          </a:p>
          <a:p>
            <a:r>
              <a:rPr lang="vi-VN" sz="1400" dirty="0" smtClean="0">
                <a:latin typeface="Calibri" pitchFamily="34" charset="0"/>
                <a:cs typeface="Calibri" pitchFamily="34" charset="0"/>
              </a:rPr>
              <a:t>* Sau đó, học viên có thể đánh giá thư viện mình xây dựng so với một thư viện đã có sẵn (tiêu chí được chọn thường là performance và/hoặc security).</a:t>
            </a:r>
          </a:p>
          <a:p>
            <a:r>
              <a:rPr lang="vi-VN" sz="1400" dirty="0" smtClean="0">
                <a:latin typeface="Calibri" pitchFamily="34" charset="0"/>
                <a:cs typeface="Calibri" pitchFamily="34" charset="0"/>
              </a:rPr>
              <a:t>* Trong mọi trường hợp, luận văn đã có đóng góp cụ thể, bằng cách bổ sung thêm vào danh sách các hiện thực hóa một thư viện mới, hoặc một khung mứng dụng được mở rộng, cải thiện. Việc này góp phần tăng thêm một sự lựa chọn cho các lập trình viên.</a:t>
            </a:r>
            <a:endParaRPr lang="en-US" sz="1400" dirty="0">
              <a:latin typeface="Calibri" pitchFamily="34" charset="0"/>
              <a:cs typeface="Calibri"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24399</TotalTime>
  <Words>525</Words>
  <Application>Microsoft Office PowerPoint</Application>
  <PresentationFormat>On-screen Show (4:3)</PresentationFormat>
  <Paragraphs>156</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Consensus: Previous Exams</vt:lpstr>
      <vt:lpstr>Objectives</vt:lpstr>
      <vt:lpstr>Contents</vt:lpstr>
      <vt:lpstr>References</vt:lpstr>
      <vt:lpstr>What will server 1 do after becoming a leader?</vt:lpstr>
      <vt:lpstr>Can server 4 become a leader?</vt:lpstr>
      <vt:lpstr>How does server 1 fix server 5 log?</vt:lpstr>
      <vt:lpstr>Slide 8</vt:lpstr>
      <vt:lpstr>Đồ án: Xây dựng lại giải pháp</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7679</cp:revision>
  <dcterms:created xsi:type="dcterms:W3CDTF">2007-10-06T08:25:13Z</dcterms:created>
  <dcterms:modified xsi:type="dcterms:W3CDTF">2026-04-22T11:52:15Z</dcterms:modified>
</cp:coreProperties>
</file>