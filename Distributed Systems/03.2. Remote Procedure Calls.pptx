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262" r:id="rId2"/>
    <p:sldId id="410" r:id="rId3"/>
    <p:sldId id="437" r:id="rId4"/>
    <p:sldId id="285" r:id="rId5"/>
    <p:sldId id="492" r:id="rId6"/>
    <p:sldId id="551" r:id="rId7"/>
    <p:sldId id="566" r:id="rId8"/>
    <p:sldId id="547" r:id="rId9"/>
    <p:sldId id="557" r:id="rId10"/>
    <p:sldId id="548" r:id="rId11"/>
    <p:sldId id="549" r:id="rId12"/>
    <p:sldId id="550" r:id="rId13"/>
    <p:sldId id="555" r:id="rId14"/>
    <p:sldId id="559" r:id="rId15"/>
    <p:sldId id="554" r:id="rId16"/>
    <p:sldId id="553" r:id="rId17"/>
    <p:sldId id="573" r:id="rId18"/>
    <p:sldId id="562" r:id="rId19"/>
    <p:sldId id="556" r:id="rId20"/>
    <p:sldId id="558" r:id="rId21"/>
    <p:sldId id="567" r:id="rId22"/>
    <p:sldId id="568" r:id="rId23"/>
    <p:sldId id="569" r:id="rId24"/>
    <p:sldId id="570" r:id="rId25"/>
    <p:sldId id="572" r:id="rId26"/>
    <p:sldId id="563" r:id="rId27"/>
    <p:sldId id="565" r:id="rId28"/>
    <p:sldId id="564" r:id="rId29"/>
    <p:sldId id="560" r:id="rId30"/>
    <p:sldId id="561" r:id="rId31"/>
    <p:sldId id="574" r:id="rId32"/>
    <p:sldId id="541" r:id="rId33"/>
    <p:sldId id="577" r:id="rId34"/>
    <p:sldId id="576" r:id="rId35"/>
    <p:sldId id="497" r:id="rId36"/>
    <p:sldId id="499" r:id="rId37"/>
    <p:sldId id="500" r:id="rId38"/>
    <p:sldId id="501" r:id="rId39"/>
    <p:sldId id="502" r:id="rId40"/>
    <p:sldId id="503" r:id="rId41"/>
    <p:sldId id="504" r:id="rId42"/>
    <p:sldId id="506" r:id="rId43"/>
    <p:sldId id="505" r:id="rId44"/>
    <p:sldId id="507" r:id="rId45"/>
    <p:sldId id="508" r:id="rId46"/>
    <p:sldId id="510" r:id="rId47"/>
    <p:sldId id="512" r:id="rId48"/>
    <p:sldId id="513" r:id="rId49"/>
    <p:sldId id="529" r:id="rId50"/>
    <p:sldId id="542" r:id="rId51"/>
    <p:sldId id="543" r:id="rId52"/>
    <p:sldId id="531" r:id="rId53"/>
    <p:sldId id="532" r:id="rId54"/>
    <p:sldId id="533" r:id="rId55"/>
    <p:sldId id="534" r:id="rId56"/>
    <p:sldId id="535" r:id="rId57"/>
    <p:sldId id="536" r:id="rId58"/>
    <p:sldId id="538" r:id="rId59"/>
    <p:sldId id="537" r:id="rId60"/>
    <p:sldId id="494" r:id="rId61"/>
    <p:sldId id="443" r:id="rId62"/>
    <p:sldId id="444" r:id="rId63"/>
    <p:sldId id="445" r:id="rId64"/>
    <p:sldId id="539" r:id="rId65"/>
    <p:sldId id="578" r:id="rId66"/>
    <p:sldId id="461" r:id="rId67"/>
    <p:sldId id="343" r:id="rId6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82" autoAdjust="0"/>
    <p:restoredTop sz="94660"/>
  </p:normalViewPr>
  <p:slideViewPr>
    <p:cSldViewPr>
      <p:cViewPr>
        <p:scale>
          <a:sx n="60" d="100"/>
          <a:sy n="60" d="100"/>
        </p:scale>
        <p:origin x="-1344" y="-1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B092B-2774-456B-B826-EDF6AA87E0CB}" type="datetimeFigureOut">
              <a:rPr lang="en-US" smtClean="0"/>
              <a:pPr/>
              <a:t>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B8C960-11EE-42C9-BB78-2A4C27F403D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8C960-11EE-42C9-BB78-2A4C27F403DD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C163B-A334-4AF0-8F79-DA2B7EC4EC47}" type="datetimeFigureOut">
              <a:rPr lang="en-US" smtClean="0"/>
              <a:pPr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kg.go.dev/net/rpc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pkg.go.dev/net/rpc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pkg.go.dev/net/rpc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rmAutofit/>
          </a:bodyPr>
          <a:lstStyle/>
          <a:p>
            <a:r>
              <a:rPr lang="en-US" sz="6000" smtClean="0"/>
              <a:t>Remote Procedure Calls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sz="5400" dirty="0" smtClean="0"/>
              <a:t>Lecturer: Ngo Huy Bien</a:t>
            </a:r>
          </a:p>
          <a:p>
            <a:pPr>
              <a:defRPr/>
            </a:pPr>
            <a:r>
              <a:rPr lang="en-US" sz="4400" dirty="0" smtClean="0"/>
              <a:t>Software Engineering Department</a:t>
            </a:r>
          </a:p>
          <a:p>
            <a:pPr>
              <a:defRPr/>
            </a:pPr>
            <a:r>
              <a:rPr lang="en-US" sz="4400" dirty="0" smtClean="0"/>
              <a:t>Faculty of Information Technology</a:t>
            </a:r>
          </a:p>
          <a:p>
            <a:pPr>
              <a:defRPr/>
            </a:pPr>
            <a:r>
              <a:rPr lang="en-US" sz="4400" dirty="0" smtClean="0"/>
              <a:t>VNUHCM - University of Science</a:t>
            </a:r>
          </a:p>
          <a:p>
            <a:pPr>
              <a:defRPr/>
            </a:pPr>
            <a:r>
              <a:rPr lang="en-US" sz="4400" dirty="0" smtClean="0"/>
              <a:t>Ho Chi Minh City, Vietnam</a:t>
            </a:r>
          </a:p>
          <a:p>
            <a:pPr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34289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create</a:t>
            </a:r>
            <a:r>
              <a:rPr lang="en-US" sz="2400" dirty="0" smtClean="0"/>
              <a:t> an RPC API.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consume</a:t>
            </a:r>
            <a:r>
              <a:rPr lang="en-US" sz="2400" dirty="0" smtClean="0"/>
              <a:t> an RPC API.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present </a:t>
            </a:r>
            <a:r>
              <a:rPr lang="en-US" sz="2400" i="1" dirty="0" smtClean="0">
                <a:solidFill>
                  <a:srgbClr val="C00000"/>
                </a:solidFill>
              </a:rPr>
              <a:t>RPC framework implementation hurdles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RPC.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Go's </a:t>
            </a:r>
            <a:r>
              <a:rPr lang="en-US" sz="2400" dirty="0" err="1" smtClean="0"/>
              <a:t>rpc</a:t>
            </a:r>
            <a:r>
              <a:rPr lang="en-US" sz="2400" dirty="0" smtClean="0"/>
              <a:t> Package.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RPC Framework Implementation Hurdles.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Key Value Store Demo.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3340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Andrew D. </a:t>
            </a:r>
            <a:r>
              <a:rPr lang="en-US" sz="2400" dirty="0" err="1" smtClean="0"/>
              <a:t>Birrell</a:t>
            </a:r>
            <a:r>
              <a:rPr lang="en-US" sz="2400" dirty="0" smtClean="0"/>
              <a:t> and Bruce Jay Nelson (1984). Implementing Remote Procedure Calls.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Kenneth P. </a:t>
            </a:r>
            <a:r>
              <a:rPr lang="en-US" sz="2400" dirty="0" err="1" smtClean="0"/>
              <a:t>Birman</a:t>
            </a:r>
            <a:r>
              <a:rPr lang="en-US" sz="2400" dirty="0" smtClean="0"/>
              <a:t> (2005). Reliable Distributed Systems. Springer.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Heather Adkins et al. (2020). Building Secure and Reliable Systems. O'Reilly Media.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Sam Newman (2021). Building </a:t>
            </a:r>
            <a:r>
              <a:rPr lang="en-US" sz="2400" dirty="0" err="1" smtClean="0"/>
              <a:t>Microservices</a:t>
            </a:r>
            <a:r>
              <a:rPr lang="en-US" sz="2400" dirty="0" smtClean="0"/>
              <a:t>: Designing Fine-Grained Systems. O'Reilly Media.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Socket Programming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Socket</a:t>
            </a:r>
            <a:r>
              <a:rPr lang="en-US" sz="2400" dirty="0" smtClean="0"/>
              <a:t>: The interface the OS provides to the network.</a:t>
            </a:r>
          </a:p>
          <a:p>
            <a:r>
              <a:rPr lang="en-US" sz="2400" dirty="0" smtClean="0"/>
              <a:t>Socket provides inter-process explicit message exchange.</a:t>
            </a:r>
          </a:p>
          <a:p>
            <a:endParaRPr lang="en-US" sz="2400" dirty="0"/>
          </a:p>
        </p:txBody>
      </p:sp>
      <p:grpSp>
        <p:nvGrpSpPr>
          <p:cNvPr id="5" name="Group 4"/>
          <p:cNvGrpSpPr/>
          <p:nvPr/>
        </p:nvGrpSpPr>
        <p:grpSpPr>
          <a:xfrm>
            <a:off x="1295400" y="3048000"/>
            <a:ext cx="6594571" cy="3057102"/>
            <a:chOff x="552092" y="3001991"/>
            <a:chExt cx="6594571" cy="3057102"/>
          </a:xfrm>
        </p:grpSpPr>
        <p:cxnSp>
          <p:nvCxnSpPr>
            <p:cNvPr id="6" name="Straight Arrow Connector 5"/>
            <p:cNvCxnSpPr>
              <a:stCxn id="25" idx="3"/>
              <a:endCxn id="17" idx="1"/>
            </p:cNvCxnSpPr>
            <p:nvPr/>
          </p:nvCxnSpPr>
          <p:spPr>
            <a:xfrm flipV="1">
              <a:off x="2617796" y="5374605"/>
              <a:ext cx="2463040" cy="1"/>
            </a:xfrm>
            <a:prstGeom prst="straightConnector1">
              <a:avLst/>
            </a:prstGeom>
            <a:ln w="381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ash"/>
              <a:round/>
              <a:headEnd type="arrow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>
              <a:endCxn id="15" idx="1"/>
            </p:cNvCxnSpPr>
            <p:nvPr/>
          </p:nvCxnSpPr>
          <p:spPr>
            <a:xfrm flipV="1">
              <a:off x="2617796" y="4766149"/>
              <a:ext cx="2463040" cy="1"/>
            </a:xfrm>
            <a:prstGeom prst="straightConnector1">
              <a:avLst/>
            </a:prstGeom>
            <a:ln w="381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ash"/>
              <a:round/>
              <a:headEnd type="arrow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>
              <a:endCxn id="16" idx="1"/>
            </p:cNvCxnSpPr>
            <p:nvPr/>
          </p:nvCxnSpPr>
          <p:spPr>
            <a:xfrm flipV="1">
              <a:off x="2617796" y="5070377"/>
              <a:ext cx="2463040" cy="1"/>
            </a:xfrm>
            <a:prstGeom prst="straightConnector1">
              <a:avLst/>
            </a:prstGeom>
            <a:ln w="381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ash"/>
              <a:round/>
              <a:headEnd type="arrow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14" idx="1"/>
              <a:endCxn id="22" idx="3"/>
            </p:cNvCxnSpPr>
            <p:nvPr/>
          </p:nvCxnSpPr>
          <p:spPr>
            <a:xfrm flipH="1">
              <a:off x="2617796" y="4461635"/>
              <a:ext cx="2463040" cy="1"/>
            </a:xfrm>
            <a:prstGeom prst="straightConnector1">
              <a:avLst/>
            </a:prstGeom>
            <a:ln w="381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ash"/>
              <a:round/>
              <a:headEnd type="arrow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77"/>
            <p:cNvGrpSpPr/>
            <p:nvPr/>
          </p:nvGrpSpPr>
          <p:grpSpPr>
            <a:xfrm>
              <a:off x="552092" y="3001992"/>
              <a:ext cx="2272860" cy="3057101"/>
              <a:chOff x="552092" y="3001992"/>
              <a:chExt cx="2272860" cy="3057101"/>
            </a:xfrm>
          </p:grpSpPr>
          <p:sp>
            <p:nvSpPr>
              <p:cNvPr id="21" name="Rectangle 24"/>
              <p:cNvSpPr>
                <a:spLocks noChangeArrowheads="1"/>
              </p:cNvSpPr>
              <p:nvPr/>
            </p:nvSpPr>
            <p:spPr bwMode="auto">
              <a:xfrm>
                <a:off x="759125" y="3127417"/>
                <a:ext cx="1858671" cy="935052"/>
              </a:xfrm>
              <a:prstGeom prst="rect">
                <a:avLst/>
              </a:prstGeom>
              <a:solidFill>
                <a:srgbClr val="948A54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t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dirty="0">
                    <a:latin typeface="Helvetica Neue Medium" charset="0"/>
                    <a:ea typeface="Helvetica Neue Medium" charset="0"/>
                    <a:cs typeface="Helvetica Neue Medium" charset="0"/>
                  </a:rPr>
                  <a:t>Application layer</a:t>
                </a:r>
              </a:p>
            </p:txBody>
          </p:sp>
          <p:sp>
            <p:nvSpPr>
              <p:cNvPr id="22" name="Rectangle 24"/>
              <p:cNvSpPr>
                <a:spLocks noChangeArrowheads="1"/>
              </p:cNvSpPr>
              <p:nvPr/>
            </p:nvSpPr>
            <p:spPr bwMode="auto">
              <a:xfrm>
                <a:off x="759125" y="4309522"/>
                <a:ext cx="1858671" cy="304228"/>
              </a:xfrm>
              <a:prstGeom prst="rect">
                <a:avLst/>
              </a:prstGeom>
              <a:solidFill>
                <a:schemeClr val="accent3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dirty="0">
                    <a:latin typeface="Helvetica Neue Medium" charset="0"/>
                    <a:ea typeface="Helvetica Neue Medium" charset="0"/>
                    <a:cs typeface="Helvetica Neue Medium" charset="0"/>
                  </a:rPr>
                  <a:t>Transport layer</a:t>
                </a:r>
              </a:p>
            </p:txBody>
          </p:sp>
          <p:sp>
            <p:nvSpPr>
              <p:cNvPr id="23" name="Rectangle 24"/>
              <p:cNvSpPr>
                <a:spLocks noChangeArrowheads="1"/>
              </p:cNvSpPr>
              <p:nvPr/>
            </p:nvSpPr>
            <p:spPr bwMode="auto">
              <a:xfrm>
                <a:off x="759125" y="4614036"/>
                <a:ext cx="1858671" cy="30422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dirty="0">
                    <a:latin typeface="Helvetica Neue Medium" charset="0"/>
                    <a:ea typeface="Helvetica Neue Medium" charset="0"/>
                    <a:cs typeface="Helvetica Neue Medium" charset="0"/>
                  </a:rPr>
                  <a:t>Network layer</a:t>
                </a:r>
              </a:p>
            </p:txBody>
          </p:sp>
          <p:sp>
            <p:nvSpPr>
              <p:cNvPr id="24" name="Rectangle 24"/>
              <p:cNvSpPr>
                <a:spLocks noChangeArrowheads="1"/>
              </p:cNvSpPr>
              <p:nvPr/>
            </p:nvSpPr>
            <p:spPr bwMode="auto">
              <a:xfrm>
                <a:off x="759125" y="4918264"/>
                <a:ext cx="1858671" cy="304228"/>
              </a:xfrm>
              <a:prstGeom prst="rect">
                <a:avLst/>
              </a:prstGeom>
              <a:solidFill>
                <a:srgbClr val="7F7F7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dirty="0">
                    <a:solidFill>
                      <a:srgbClr val="000000"/>
                    </a:solidFill>
                    <a:latin typeface="Helvetica Neue Medium" charset="0"/>
                    <a:ea typeface="Helvetica Neue Medium" charset="0"/>
                    <a:cs typeface="Helvetica Neue Medium" charset="0"/>
                  </a:rPr>
                  <a:t>Link layer</a:t>
                </a:r>
              </a:p>
            </p:txBody>
          </p:sp>
          <p:sp>
            <p:nvSpPr>
              <p:cNvPr id="25" name="Rectangle 24"/>
              <p:cNvSpPr>
                <a:spLocks noChangeArrowheads="1"/>
              </p:cNvSpPr>
              <p:nvPr/>
            </p:nvSpPr>
            <p:spPr bwMode="auto">
              <a:xfrm>
                <a:off x="759125" y="5222492"/>
                <a:ext cx="1858671" cy="304228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>
                    <a:latin typeface="Helvetica Neue Medium" charset="0"/>
                    <a:ea typeface="Helvetica Neue Medium" charset="0"/>
                    <a:cs typeface="Helvetica Neue Medium" charset="0"/>
                  </a:rPr>
                  <a:t>Physical layer</a:t>
                </a:r>
                <a:endParaRPr lang="en-US" dirty="0">
                  <a:latin typeface="Helvetica Neue Medium" charset="0"/>
                  <a:ea typeface="Helvetica Neue Medium" charset="0"/>
                  <a:cs typeface="Helvetica Neue Medium" charset="0"/>
                </a:endParaRPr>
              </a:p>
            </p:txBody>
          </p:sp>
          <p:sp>
            <p:nvSpPr>
              <p:cNvPr id="26" name="Rounded Rectangle 25"/>
              <p:cNvSpPr/>
              <p:nvPr/>
            </p:nvSpPr>
            <p:spPr>
              <a:xfrm>
                <a:off x="552092" y="3001992"/>
                <a:ext cx="2272860" cy="3057101"/>
              </a:xfrm>
              <a:prstGeom prst="roundRect">
                <a:avLst>
                  <a:gd name="adj" fmla="val 8317"/>
                </a:avLst>
              </a:prstGeom>
              <a:noFill/>
              <a:ln w="28575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sz="2000">
                    <a:solidFill>
                      <a:srgbClr val="000000"/>
                    </a:solidFill>
                    <a:latin typeface="Helvetica Neue Medium" charset="0"/>
                    <a:ea typeface="Helvetica Neue Medium" charset="0"/>
                    <a:cs typeface="Helvetica Neue Medium" charset="0"/>
                  </a:rPr>
                  <a:t>Host A</a:t>
                </a:r>
                <a:endParaRPr lang="en-US" sz="2000" dirty="0">
                  <a:solidFill>
                    <a:srgbClr val="000000"/>
                  </a:solidFill>
                  <a:latin typeface="Helvetica Neue Medium" charset="0"/>
                  <a:ea typeface="Helvetica Neue Medium" charset="0"/>
                  <a:cs typeface="Helvetica Neue Medium" charset="0"/>
                </a:endParaRPr>
              </a:p>
            </p:txBody>
          </p:sp>
          <p:sp>
            <p:nvSpPr>
              <p:cNvPr id="27" name="Alternate Process 68"/>
              <p:cNvSpPr/>
              <p:nvPr/>
            </p:nvSpPr>
            <p:spPr>
              <a:xfrm>
                <a:off x="1095555" y="3528616"/>
                <a:ext cx="1181819" cy="426938"/>
              </a:xfrm>
              <a:prstGeom prst="flowChartAlternateProcess">
                <a:avLst/>
              </a:prstGeom>
              <a:solidFill>
                <a:schemeClr val="bg2">
                  <a:lumMod val="75000"/>
                </a:schemeClr>
              </a:solidFill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Helvetica Neue Medium" charset="0"/>
                    <a:ea typeface="Helvetica Neue Medium" charset="0"/>
                    <a:cs typeface="Helvetica Neue Medium" charset="0"/>
                  </a:rPr>
                  <a:t>Process</a:t>
                </a:r>
                <a:endParaRPr lang="en-US" dirty="0">
                  <a:solidFill>
                    <a:schemeClr val="tx1"/>
                  </a:solidFill>
                  <a:latin typeface="Helvetica Neue Medium" charset="0"/>
                  <a:ea typeface="Helvetica Neue Medium" charset="0"/>
                  <a:cs typeface="Helvetica Neue Medium" charset="0"/>
                </a:endParaRPr>
              </a:p>
            </p:txBody>
          </p:sp>
        </p:grpSp>
        <p:grpSp>
          <p:nvGrpSpPr>
            <p:cNvPr id="11" name="Group 78"/>
            <p:cNvGrpSpPr/>
            <p:nvPr/>
          </p:nvGrpSpPr>
          <p:grpSpPr>
            <a:xfrm>
              <a:off x="4873803" y="3001991"/>
              <a:ext cx="2272860" cy="3057101"/>
              <a:chOff x="552092" y="3001992"/>
              <a:chExt cx="2272860" cy="3057101"/>
            </a:xfrm>
          </p:grpSpPr>
          <p:sp>
            <p:nvSpPr>
              <p:cNvPr id="13" name="Rectangle 24"/>
              <p:cNvSpPr>
                <a:spLocks noChangeArrowheads="1"/>
              </p:cNvSpPr>
              <p:nvPr/>
            </p:nvSpPr>
            <p:spPr bwMode="auto">
              <a:xfrm>
                <a:off x="759125" y="3127417"/>
                <a:ext cx="1858671" cy="935052"/>
              </a:xfrm>
              <a:prstGeom prst="rect">
                <a:avLst/>
              </a:prstGeom>
              <a:solidFill>
                <a:srgbClr val="948A54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t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dirty="0">
                    <a:latin typeface="Helvetica Neue Medium" charset="0"/>
                    <a:ea typeface="Helvetica Neue Medium" charset="0"/>
                    <a:cs typeface="Helvetica Neue Medium" charset="0"/>
                  </a:rPr>
                  <a:t>Application layer</a:t>
                </a:r>
              </a:p>
            </p:txBody>
          </p:sp>
          <p:sp>
            <p:nvSpPr>
              <p:cNvPr id="14" name="Rectangle 24"/>
              <p:cNvSpPr>
                <a:spLocks noChangeArrowheads="1"/>
              </p:cNvSpPr>
              <p:nvPr/>
            </p:nvSpPr>
            <p:spPr bwMode="auto">
              <a:xfrm>
                <a:off x="759125" y="4309522"/>
                <a:ext cx="1858671" cy="304228"/>
              </a:xfrm>
              <a:prstGeom prst="rect">
                <a:avLst/>
              </a:prstGeom>
              <a:solidFill>
                <a:schemeClr val="accent3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dirty="0">
                    <a:latin typeface="Helvetica Neue Medium" charset="0"/>
                    <a:ea typeface="Helvetica Neue Medium" charset="0"/>
                    <a:cs typeface="Helvetica Neue Medium" charset="0"/>
                  </a:rPr>
                  <a:t>Transport layer</a:t>
                </a:r>
              </a:p>
            </p:txBody>
          </p:sp>
          <p:sp>
            <p:nvSpPr>
              <p:cNvPr id="15" name="Rectangle 24"/>
              <p:cNvSpPr>
                <a:spLocks noChangeArrowheads="1"/>
              </p:cNvSpPr>
              <p:nvPr/>
            </p:nvSpPr>
            <p:spPr bwMode="auto">
              <a:xfrm>
                <a:off x="759125" y="4614036"/>
                <a:ext cx="1858671" cy="30422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dirty="0">
                    <a:latin typeface="Helvetica Neue Medium" charset="0"/>
                    <a:ea typeface="Helvetica Neue Medium" charset="0"/>
                    <a:cs typeface="Helvetica Neue Medium" charset="0"/>
                  </a:rPr>
                  <a:t>Network layer</a:t>
                </a:r>
              </a:p>
            </p:txBody>
          </p:sp>
          <p:sp>
            <p:nvSpPr>
              <p:cNvPr id="16" name="Rectangle 24"/>
              <p:cNvSpPr>
                <a:spLocks noChangeArrowheads="1"/>
              </p:cNvSpPr>
              <p:nvPr/>
            </p:nvSpPr>
            <p:spPr bwMode="auto">
              <a:xfrm>
                <a:off x="759125" y="4918264"/>
                <a:ext cx="1858671" cy="304228"/>
              </a:xfrm>
              <a:prstGeom prst="rect">
                <a:avLst/>
              </a:prstGeom>
              <a:solidFill>
                <a:srgbClr val="7F7F7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dirty="0">
                    <a:solidFill>
                      <a:srgbClr val="000000"/>
                    </a:solidFill>
                    <a:latin typeface="Helvetica Neue Medium" charset="0"/>
                    <a:ea typeface="Helvetica Neue Medium" charset="0"/>
                    <a:cs typeface="Helvetica Neue Medium" charset="0"/>
                  </a:rPr>
                  <a:t>Link layer</a:t>
                </a:r>
              </a:p>
            </p:txBody>
          </p:sp>
          <p:sp>
            <p:nvSpPr>
              <p:cNvPr id="17" name="Rectangle 24"/>
              <p:cNvSpPr>
                <a:spLocks noChangeArrowheads="1"/>
              </p:cNvSpPr>
              <p:nvPr/>
            </p:nvSpPr>
            <p:spPr bwMode="auto">
              <a:xfrm>
                <a:off x="759125" y="5222492"/>
                <a:ext cx="1858671" cy="304228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>
                    <a:latin typeface="Helvetica Neue Medium" charset="0"/>
                    <a:ea typeface="Helvetica Neue Medium" charset="0"/>
                    <a:cs typeface="Helvetica Neue Medium" charset="0"/>
                  </a:rPr>
                  <a:t>Physical layer</a:t>
                </a:r>
                <a:endParaRPr lang="en-US" dirty="0">
                  <a:latin typeface="Helvetica Neue Medium" charset="0"/>
                  <a:ea typeface="Helvetica Neue Medium" charset="0"/>
                  <a:cs typeface="Helvetica Neue Medium" charset="0"/>
                </a:endParaRPr>
              </a:p>
            </p:txBody>
          </p:sp>
          <p:sp>
            <p:nvSpPr>
              <p:cNvPr id="18" name="Rounded Rectangle 17"/>
              <p:cNvSpPr/>
              <p:nvPr/>
            </p:nvSpPr>
            <p:spPr>
              <a:xfrm>
                <a:off x="552092" y="3001992"/>
                <a:ext cx="2272860" cy="3057101"/>
              </a:xfrm>
              <a:prstGeom prst="roundRect">
                <a:avLst>
                  <a:gd name="adj" fmla="val 8317"/>
                </a:avLst>
              </a:prstGeom>
              <a:noFill/>
              <a:ln w="28575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sz="2000">
                    <a:solidFill>
                      <a:srgbClr val="000000"/>
                    </a:solidFill>
                    <a:latin typeface="Helvetica Neue Medium" charset="0"/>
                    <a:ea typeface="Helvetica Neue Medium" charset="0"/>
                    <a:cs typeface="Helvetica Neue Medium" charset="0"/>
                  </a:rPr>
                  <a:t>Host B</a:t>
                </a:r>
                <a:endParaRPr lang="en-US" sz="2000" dirty="0">
                  <a:solidFill>
                    <a:srgbClr val="000000"/>
                  </a:solidFill>
                  <a:latin typeface="Helvetica Neue Medium" charset="0"/>
                  <a:ea typeface="Helvetica Neue Medium" charset="0"/>
                  <a:cs typeface="Helvetica Neue Medium" charset="0"/>
                </a:endParaRPr>
              </a:p>
            </p:txBody>
          </p:sp>
          <p:sp>
            <p:nvSpPr>
              <p:cNvPr id="19" name="Trapezoid 18"/>
              <p:cNvSpPr/>
              <p:nvPr/>
            </p:nvSpPr>
            <p:spPr>
              <a:xfrm>
                <a:off x="1095555" y="3963039"/>
                <a:ext cx="1181819" cy="346197"/>
              </a:xfrm>
              <a:prstGeom prst="trapezoid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Helvetica Neue Medium" charset="0"/>
                    <a:ea typeface="Helvetica Neue Medium" charset="0"/>
                    <a:cs typeface="Helvetica Neue Medium" charset="0"/>
                  </a:rPr>
                  <a:t>Socket</a:t>
                </a:r>
                <a:endParaRPr lang="en-US" dirty="0">
                  <a:solidFill>
                    <a:schemeClr val="tx1"/>
                  </a:solidFill>
                  <a:latin typeface="Helvetica Neue Medium" charset="0"/>
                  <a:ea typeface="Helvetica Neue Medium" charset="0"/>
                  <a:cs typeface="Helvetica Neue Medium" charset="0"/>
                </a:endParaRPr>
              </a:p>
            </p:txBody>
          </p:sp>
          <p:sp>
            <p:nvSpPr>
              <p:cNvPr id="20" name="Alternate Process 86"/>
              <p:cNvSpPr/>
              <p:nvPr/>
            </p:nvSpPr>
            <p:spPr>
              <a:xfrm>
                <a:off x="1095555" y="3528616"/>
                <a:ext cx="1181819" cy="426938"/>
              </a:xfrm>
              <a:prstGeom prst="flowChartAlternateProcess">
                <a:avLst/>
              </a:prstGeom>
              <a:solidFill>
                <a:schemeClr val="bg2">
                  <a:lumMod val="75000"/>
                </a:schemeClr>
              </a:solidFill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Helvetica Neue Medium" charset="0"/>
                    <a:ea typeface="Helvetica Neue Medium" charset="0"/>
                    <a:cs typeface="Helvetica Neue Medium" charset="0"/>
                  </a:rPr>
                  <a:t>Process</a:t>
                </a:r>
              </a:p>
            </p:txBody>
          </p:sp>
        </p:grpSp>
        <p:cxnSp>
          <p:nvCxnSpPr>
            <p:cNvPr id="12" name="Straight Arrow Connector 11"/>
            <p:cNvCxnSpPr>
              <a:stCxn id="20" idx="1"/>
              <a:endCxn id="27" idx="3"/>
            </p:cNvCxnSpPr>
            <p:nvPr/>
          </p:nvCxnSpPr>
          <p:spPr>
            <a:xfrm flipH="1">
              <a:off x="2277374" y="3742084"/>
              <a:ext cx="3139892" cy="1"/>
            </a:xfrm>
            <a:prstGeom prst="straightConnector1">
              <a:avLst/>
            </a:prstGeom>
            <a:ln w="381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ash"/>
              <a:round/>
              <a:headEnd type="arrow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rapezoid 27"/>
          <p:cNvSpPr/>
          <p:nvPr/>
        </p:nvSpPr>
        <p:spPr>
          <a:xfrm>
            <a:off x="1854103" y="4009046"/>
            <a:ext cx="1181819" cy="346197"/>
          </a:xfrm>
          <a:prstGeom prst="trapezoid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Socket</a:t>
            </a:r>
            <a:endParaRPr lang="en-US" dirty="0">
              <a:solidFill>
                <a:schemeClr val="tx1"/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Procedure Call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C00000"/>
                </a:solidFill>
              </a:rPr>
              <a:t>Caller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smtClean="0"/>
              <a:t>pushes arguments onto stack,</a:t>
            </a:r>
          </a:p>
          <a:p>
            <a:pPr lvl="1"/>
            <a:r>
              <a:rPr lang="en-US" dirty="0" smtClean="0"/>
              <a:t>jumps to address of </a:t>
            </a:r>
            <a:r>
              <a:rPr lang="en-US" i="1" dirty="0" err="1" smtClean="0">
                <a:solidFill>
                  <a:srgbClr val="C00000"/>
                </a:solidFill>
              </a:rPr>
              <a:t>callee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smtClean="0"/>
              <a:t>function</a:t>
            </a:r>
          </a:p>
          <a:p>
            <a:pPr lvl="1"/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i="1" dirty="0" err="1" smtClean="0">
                <a:solidFill>
                  <a:srgbClr val="C00000"/>
                </a:solidFill>
              </a:rPr>
              <a:t>Callee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smtClean="0"/>
              <a:t>reads arguments from stack,</a:t>
            </a:r>
          </a:p>
          <a:p>
            <a:pPr lvl="1"/>
            <a:r>
              <a:rPr lang="en-US" dirty="0" smtClean="0"/>
              <a:t>executes, puts return value in register,</a:t>
            </a:r>
          </a:p>
          <a:p>
            <a:pPr lvl="1"/>
            <a:r>
              <a:rPr lang="en-US" dirty="0" smtClean="0"/>
              <a:t>returns to next instruction in caller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5127248"/>
            <a:ext cx="8077200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solidFill>
                  <a:srgbClr val="C00000"/>
                </a:solidFill>
                <a:latin typeface="+mj-lt"/>
                <a:ea typeface="Arial" charset="0"/>
                <a:cs typeface="Arial" charset="0"/>
              </a:rPr>
              <a:t>Remote Procedure Call's </a:t>
            </a:r>
            <a:r>
              <a:rPr lang="en-US" sz="2400" i="1" dirty="0">
                <a:solidFill>
                  <a:srgbClr val="C00000"/>
                </a:solidFill>
                <a:latin typeface="+mj-lt"/>
                <a:ea typeface="Arial" charset="0"/>
                <a:cs typeface="Arial" charset="0"/>
              </a:rPr>
              <a:t>g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  <a:ea typeface="Arial" charset="0"/>
                <a:cs typeface="Arial" charset="0"/>
              </a:rPr>
              <a:t>oal</a:t>
            </a:r>
            <a:r>
              <a:rPr lang="en-US" sz="2400" dirty="0">
                <a:latin typeface="+mj-lt"/>
                <a:ea typeface="Arial" charset="0"/>
                <a:cs typeface="Arial" charset="0"/>
              </a:rPr>
              <a:t>: make communication appear like a local procedure call: way less painful than </a:t>
            </a:r>
            <a:r>
              <a:rPr lang="en-US" sz="2400" dirty="0" smtClean="0">
                <a:latin typeface="+mj-lt"/>
                <a:ea typeface="Arial" charset="0"/>
                <a:cs typeface="Arial" charset="0"/>
              </a:rPr>
              <a:t>sockets</a:t>
            </a:r>
            <a:r>
              <a:rPr lang="en-US" sz="2400" dirty="0">
                <a:latin typeface="+mj-lt"/>
                <a:ea typeface="Arial" charset="0"/>
                <a:cs typeface="Arial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Remote Procedure Call Layer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RPC layer hides all network code: Sockets, port numbers, byte ordering.</a:t>
            </a:r>
          </a:p>
          <a:p>
            <a:r>
              <a:rPr lang="en-US" sz="2000" dirty="0" smtClean="0"/>
              <a:t>Application programmers don't have to worry about details.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3382793" y="5550556"/>
            <a:ext cx="2463040" cy="1"/>
          </a:xfrm>
          <a:prstGeom prst="straightConnector1">
            <a:avLst/>
          </a:prstGeom>
          <a:ln w="38100" cap="flat" cmpd="sng" algn="ctr">
            <a:solidFill>
              <a:schemeClr val="tx1">
                <a:lumMod val="50000"/>
                <a:lumOff val="50000"/>
              </a:schemeClr>
            </a:solidFill>
            <a:prstDash val="sysDash"/>
            <a:round/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3382793" y="4944906"/>
            <a:ext cx="2463040" cy="1"/>
          </a:xfrm>
          <a:prstGeom prst="straightConnector1">
            <a:avLst/>
          </a:prstGeom>
          <a:ln w="38100" cap="flat" cmpd="sng" algn="ctr">
            <a:solidFill>
              <a:schemeClr val="tx1">
                <a:lumMod val="50000"/>
                <a:lumOff val="50000"/>
              </a:schemeClr>
            </a:solidFill>
            <a:prstDash val="sysDash"/>
            <a:round/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3382793" y="5249134"/>
            <a:ext cx="2463040" cy="1"/>
          </a:xfrm>
          <a:prstGeom prst="straightConnector1">
            <a:avLst/>
          </a:prstGeom>
          <a:ln w="38100" cap="flat" cmpd="sng" algn="ctr">
            <a:solidFill>
              <a:schemeClr val="tx1">
                <a:lumMod val="50000"/>
                <a:lumOff val="50000"/>
              </a:schemeClr>
            </a:solidFill>
            <a:prstDash val="sysDash"/>
            <a:round/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endCxn id="7" idx="3"/>
          </p:cNvCxnSpPr>
          <p:nvPr/>
        </p:nvCxnSpPr>
        <p:spPr>
          <a:xfrm flipH="1">
            <a:off x="3382793" y="4640392"/>
            <a:ext cx="2463040" cy="1"/>
          </a:xfrm>
          <a:prstGeom prst="straightConnector1">
            <a:avLst/>
          </a:prstGeom>
          <a:ln w="38100" cap="flat" cmpd="sng" algn="ctr">
            <a:solidFill>
              <a:schemeClr val="tx1">
                <a:lumMod val="50000"/>
                <a:lumOff val="50000"/>
              </a:schemeClr>
            </a:solidFill>
            <a:prstDash val="sysDash"/>
            <a:round/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24"/>
          <p:cNvSpPr>
            <a:spLocks noChangeArrowheads="1"/>
          </p:cNvSpPr>
          <p:nvPr/>
        </p:nvSpPr>
        <p:spPr bwMode="auto">
          <a:xfrm>
            <a:off x="1524122" y="2820402"/>
            <a:ext cx="1858671" cy="935052"/>
          </a:xfrm>
          <a:prstGeom prst="rect">
            <a:avLst/>
          </a:prstGeom>
          <a:solidFill>
            <a:srgbClr val="948A54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t">
            <a:prstTxWarp prst="textNoShape">
              <a:avLst/>
            </a:prstTxWarp>
          </a:bodyPr>
          <a:lstStyle/>
          <a:p>
            <a:pPr algn="ctr"/>
            <a:r>
              <a:rPr lang="en-US" dirty="0">
                <a:latin typeface="Helvetica Neue Medium" charset="0"/>
                <a:ea typeface="Helvetica Neue Medium" charset="0"/>
                <a:cs typeface="Helvetica Neue Medium" charset="0"/>
              </a:rPr>
              <a:t>Application layer</a:t>
            </a:r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auto">
          <a:xfrm>
            <a:off x="1524122" y="4488279"/>
            <a:ext cx="1858671" cy="304228"/>
          </a:xfrm>
          <a:prstGeom prst="rect">
            <a:avLst/>
          </a:prstGeom>
          <a:solidFill>
            <a:schemeClr val="accent3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dirty="0">
                <a:latin typeface="Helvetica Neue Medium" charset="0"/>
                <a:ea typeface="Helvetica Neue Medium" charset="0"/>
                <a:cs typeface="Helvetica Neue Medium" charset="0"/>
              </a:rPr>
              <a:t>Transport layer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122" y="4792793"/>
            <a:ext cx="1858671" cy="304228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dirty="0">
                <a:latin typeface="Helvetica Neue Medium" charset="0"/>
                <a:ea typeface="Helvetica Neue Medium" charset="0"/>
                <a:cs typeface="Helvetica Neue Medium" charset="0"/>
              </a:rPr>
              <a:t>Network layer</a:t>
            </a:r>
          </a:p>
        </p:txBody>
      </p:sp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1524122" y="5097021"/>
            <a:ext cx="1858671" cy="304228"/>
          </a:xfrm>
          <a:prstGeom prst="rect">
            <a:avLst/>
          </a:prstGeom>
          <a:solidFill>
            <a:srgbClr val="7F7F7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Link layer</a:t>
            </a:r>
          </a:p>
        </p:txBody>
      </p:sp>
      <p:sp>
        <p:nvSpPr>
          <p:cNvPr id="12" name="Rectangle 24"/>
          <p:cNvSpPr>
            <a:spLocks noChangeArrowheads="1"/>
          </p:cNvSpPr>
          <p:nvPr/>
        </p:nvSpPr>
        <p:spPr bwMode="auto">
          <a:xfrm>
            <a:off x="1524122" y="5401249"/>
            <a:ext cx="1858671" cy="304228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>
                <a:latin typeface="Helvetica Neue Medium" charset="0"/>
                <a:ea typeface="Helvetica Neue Medium" charset="0"/>
                <a:cs typeface="Helvetica Neue Medium" charset="0"/>
              </a:rPr>
              <a:t>Physical layer</a:t>
            </a:r>
            <a:endParaRPr lang="en-US" dirty="0"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317089" y="2667001"/>
            <a:ext cx="2272860" cy="3570849"/>
          </a:xfrm>
          <a:prstGeom prst="roundRect">
            <a:avLst>
              <a:gd name="adj" fmla="val 8317"/>
            </a:avLst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Host A</a:t>
            </a:r>
            <a:endParaRPr lang="en-US" sz="2000" dirty="0">
              <a:solidFill>
                <a:srgbClr val="000000"/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14" name="Alternate Process 28"/>
          <p:cNvSpPr/>
          <p:nvPr/>
        </p:nvSpPr>
        <p:spPr>
          <a:xfrm>
            <a:off x="1860552" y="3221601"/>
            <a:ext cx="1181819" cy="426938"/>
          </a:xfrm>
          <a:prstGeom prst="flowChartAlternateProcess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Process</a:t>
            </a:r>
            <a:endParaRPr lang="en-US" dirty="0">
              <a:solidFill>
                <a:schemeClr val="tx1"/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15" name="Rectangle 24"/>
          <p:cNvSpPr>
            <a:spLocks noChangeArrowheads="1"/>
          </p:cNvSpPr>
          <p:nvPr/>
        </p:nvSpPr>
        <p:spPr bwMode="auto">
          <a:xfrm>
            <a:off x="5845833" y="2820401"/>
            <a:ext cx="1858671" cy="935052"/>
          </a:xfrm>
          <a:prstGeom prst="rect">
            <a:avLst/>
          </a:prstGeom>
          <a:solidFill>
            <a:srgbClr val="948A54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t">
            <a:prstTxWarp prst="textNoShape">
              <a:avLst/>
            </a:prstTxWarp>
          </a:bodyPr>
          <a:lstStyle/>
          <a:p>
            <a:pPr algn="ctr"/>
            <a:r>
              <a:rPr lang="en-US" dirty="0">
                <a:latin typeface="Helvetica Neue Medium" charset="0"/>
                <a:ea typeface="Helvetica Neue Medium" charset="0"/>
                <a:cs typeface="Helvetica Neue Medium" charset="0"/>
              </a:rPr>
              <a:t>Application layer</a:t>
            </a:r>
          </a:p>
        </p:txBody>
      </p:sp>
      <p:sp>
        <p:nvSpPr>
          <p:cNvPr id="16" name="Rectangle 24"/>
          <p:cNvSpPr>
            <a:spLocks noChangeArrowheads="1"/>
          </p:cNvSpPr>
          <p:nvPr/>
        </p:nvSpPr>
        <p:spPr bwMode="auto">
          <a:xfrm>
            <a:off x="5845833" y="4488278"/>
            <a:ext cx="1858671" cy="304228"/>
          </a:xfrm>
          <a:prstGeom prst="rect">
            <a:avLst/>
          </a:prstGeom>
          <a:solidFill>
            <a:schemeClr val="accent3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dirty="0">
                <a:latin typeface="Helvetica Neue Medium" charset="0"/>
                <a:ea typeface="Helvetica Neue Medium" charset="0"/>
                <a:cs typeface="Helvetica Neue Medium" charset="0"/>
              </a:rPr>
              <a:t>Transport layer</a:t>
            </a:r>
          </a:p>
        </p:txBody>
      </p:sp>
      <p:sp>
        <p:nvSpPr>
          <p:cNvPr id="17" name="Rectangle 24"/>
          <p:cNvSpPr>
            <a:spLocks noChangeArrowheads="1"/>
          </p:cNvSpPr>
          <p:nvPr/>
        </p:nvSpPr>
        <p:spPr bwMode="auto">
          <a:xfrm>
            <a:off x="5845833" y="4792792"/>
            <a:ext cx="1858671" cy="304228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dirty="0">
                <a:latin typeface="Helvetica Neue Medium" charset="0"/>
                <a:ea typeface="Helvetica Neue Medium" charset="0"/>
                <a:cs typeface="Helvetica Neue Medium" charset="0"/>
              </a:rPr>
              <a:t>Network layer</a:t>
            </a:r>
          </a:p>
        </p:txBody>
      </p:sp>
      <p:sp>
        <p:nvSpPr>
          <p:cNvPr id="18" name="Rectangle 24"/>
          <p:cNvSpPr>
            <a:spLocks noChangeArrowheads="1"/>
          </p:cNvSpPr>
          <p:nvPr/>
        </p:nvSpPr>
        <p:spPr bwMode="auto">
          <a:xfrm>
            <a:off x="5845833" y="5097020"/>
            <a:ext cx="1858671" cy="304228"/>
          </a:xfrm>
          <a:prstGeom prst="rect">
            <a:avLst/>
          </a:prstGeom>
          <a:solidFill>
            <a:srgbClr val="7F7F7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Link layer</a:t>
            </a:r>
          </a:p>
        </p:txBody>
      </p:sp>
      <p:sp>
        <p:nvSpPr>
          <p:cNvPr id="19" name="Rectangle 24"/>
          <p:cNvSpPr>
            <a:spLocks noChangeArrowheads="1"/>
          </p:cNvSpPr>
          <p:nvPr/>
        </p:nvSpPr>
        <p:spPr bwMode="auto">
          <a:xfrm>
            <a:off x="5845833" y="5401248"/>
            <a:ext cx="1858671" cy="304228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>
                <a:latin typeface="Helvetica Neue Medium" charset="0"/>
                <a:ea typeface="Helvetica Neue Medium" charset="0"/>
                <a:cs typeface="Helvetica Neue Medium" charset="0"/>
              </a:rPr>
              <a:t>Physical layer</a:t>
            </a:r>
            <a:endParaRPr lang="en-US" dirty="0"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638800" y="2667000"/>
            <a:ext cx="2272860" cy="3570849"/>
          </a:xfrm>
          <a:prstGeom prst="roundRect">
            <a:avLst>
              <a:gd name="adj" fmla="val 8317"/>
            </a:avLst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Host B</a:t>
            </a:r>
            <a:endParaRPr lang="en-US" sz="2000" dirty="0">
              <a:solidFill>
                <a:srgbClr val="000000"/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21" name="Trapezoid 20"/>
          <p:cNvSpPr/>
          <p:nvPr/>
        </p:nvSpPr>
        <p:spPr>
          <a:xfrm>
            <a:off x="6182263" y="4139275"/>
            <a:ext cx="1181819" cy="346197"/>
          </a:xfrm>
          <a:prstGeom prst="trapezoid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Socket</a:t>
            </a:r>
            <a:endParaRPr lang="en-US" dirty="0">
              <a:solidFill>
                <a:schemeClr val="tx1"/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22" name="Alternate Process 21"/>
          <p:cNvSpPr/>
          <p:nvPr/>
        </p:nvSpPr>
        <p:spPr>
          <a:xfrm>
            <a:off x="6182263" y="3221600"/>
            <a:ext cx="1181819" cy="426938"/>
          </a:xfrm>
          <a:prstGeom prst="flowChartAlternateProcess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Process</a:t>
            </a:r>
            <a:endParaRPr lang="en-US" dirty="0">
              <a:solidFill>
                <a:schemeClr val="tx1"/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3042371" y="3435069"/>
            <a:ext cx="3139892" cy="1"/>
          </a:xfrm>
          <a:prstGeom prst="straightConnector1">
            <a:avLst/>
          </a:prstGeom>
          <a:ln w="38100" cap="flat" cmpd="sng" algn="ctr">
            <a:solidFill>
              <a:schemeClr val="tx1">
                <a:lumMod val="50000"/>
                <a:lumOff val="50000"/>
              </a:schemeClr>
            </a:solidFill>
            <a:prstDash val="sysDash"/>
            <a:round/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rapezoid 23"/>
          <p:cNvSpPr/>
          <p:nvPr/>
        </p:nvSpPr>
        <p:spPr>
          <a:xfrm>
            <a:off x="1875792" y="4139274"/>
            <a:ext cx="1181819" cy="346197"/>
          </a:xfrm>
          <a:prstGeom prst="trapezoid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Socket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24122" y="3772978"/>
            <a:ext cx="1858671" cy="373947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RPC Layer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3836" y="3772977"/>
            <a:ext cx="1858671" cy="373947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RPC Layer</a:t>
            </a:r>
            <a:endParaRPr lang="en-US" dirty="0">
              <a:solidFill>
                <a:schemeClr val="bg1"/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Go's </a:t>
            </a:r>
            <a:r>
              <a:rPr lang="en-US" dirty="0" err="1" smtClean="0"/>
              <a:t>rpc</a:t>
            </a:r>
            <a:r>
              <a:rPr lang="en-US" dirty="0" smtClean="0"/>
              <a:t> Package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hlinkClick r:id="rId2"/>
              </a:rPr>
              <a:t>https://pkg.go.dev/net/rpc</a:t>
            </a:r>
            <a:endParaRPr lang="en-US" sz="2400" dirty="0" smtClean="0"/>
          </a:p>
          <a:p>
            <a:r>
              <a:rPr lang="en-US" sz="2400" dirty="0" smtClean="0"/>
              <a:t>Package </a:t>
            </a:r>
            <a:r>
              <a:rPr lang="en-US" sz="2400" b="1" dirty="0" err="1" smtClean="0">
                <a:latin typeface="Consolas" pitchFamily="49" charset="0"/>
              </a:rPr>
              <a:t>rpc</a:t>
            </a:r>
            <a:r>
              <a:rPr lang="en-US" sz="2400" dirty="0" smtClean="0"/>
              <a:t> provides access to the exported methods of an object across a network or other I/O connection.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server</a:t>
            </a:r>
            <a:r>
              <a:rPr lang="en-US" sz="2400" dirty="0" smtClean="0"/>
              <a:t> registers an object, making it visible as a service with the name of the type of the object.</a:t>
            </a:r>
          </a:p>
          <a:p>
            <a:r>
              <a:rPr lang="en-US" sz="2400" dirty="0" smtClean="0"/>
              <a:t>After registration, </a:t>
            </a:r>
            <a:r>
              <a:rPr lang="en-US" sz="2400" i="1" dirty="0" smtClean="0">
                <a:solidFill>
                  <a:srgbClr val="C00000"/>
                </a:solidFill>
              </a:rPr>
              <a:t>exported methods</a:t>
            </a:r>
            <a:r>
              <a:rPr lang="en-US" sz="2400" dirty="0" smtClean="0"/>
              <a:t> of the object will be </a:t>
            </a:r>
            <a:r>
              <a:rPr lang="en-US" sz="2400" u="sng" dirty="0" smtClean="0"/>
              <a:t>accessible remotely</a:t>
            </a:r>
            <a:r>
              <a:rPr lang="en-US" sz="2400" dirty="0" smtClean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</a:t>
            </a:r>
            <a:r>
              <a:rPr lang="en-US" dirty="0" smtClean="0">
                <a:latin typeface="Consolas" pitchFamily="49" charset="0"/>
              </a:rPr>
              <a:t>hello</a:t>
            </a:r>
            <a:r>
              <a:rPr lang="en-US" dirty="0" smtClean="0"/>
              <a:t> Project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err="1" smtClean="0">
                <a:latin typeface="Consolas" pitchFamily="49" charset="0"/>
              </a:rPr>
              <a:t>mkdir</a:t>
            </a:r>
            <a:r>
              <a:rPr lang="en-US" sz="2200" dirty="0" smtClean="0">
                <a:latin typeface="Consolas" pitchFamily="49" charset="0"/>
              </a:rPr>
              <a:t> hello</a:t>
            </a:r>
          </a:p>
          <a:p>
            <a:r>
              <a:rPr lang="en-US" sz="2200" dirty="0" err="1" smtClean="0">
                <a:latin typeface="Consolas" pitchFamily="49" charset="0"/>
              </a:rPr>
              <a:t>cd</a:t>
            </a:r>
            <a:r>
              <a:rPr lang="en-US" sz="2200" dirty="0" smtClean="0">
                <a:latin typeface="Consolas" pitchFamily="49" charset="0"/>
              </a:rPr>
              <a:t> hello</a:t>
            </a:r>
          </a:p>
          <a:p>
            <a:r>
              <a:rPr lang="en-US" sz="2200" dirty="0" err="1" smtClean="0">
                <a:latin typeface="Consolas" pitchFamily="49" charset="0"/>
              </a:rPr>
              <a:t>mkdir</a:t>
            </a:r>
            <a:r>
              <a:rPr lang="en-US" sz="2200" dirty="0" smtClean="0">
                <a:latin typeface="Consolas" pitchFamily="49" charset="0"/>
              </a:rPr>
              <a:t> server</a:t>
            </a:r>
          </a:p>
          <a:p>
            <a:r>
              <a:rPr lang="en-US" sz="2200" dirty="0" err="1" smtClean="0">
                <a:latin typeface="Consolas" pitchFamily="49" charset="0"/>
              </a:rPr>
              <a:t>mkdir</a:t>
            </a:r>
            <a:r>
              <a:rPr lang="en-US" sz="2200" dirty="0" smtClean="0">
                <a:latin typeface="Consolas" pitchFamily="49" charset="0"/>
              </a:rPr>
              <a:t> client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smtClean="0"/>
              <a:t>2. Create </a:t>
            </a:r>
            <a:r>
              <a:rPr lang="en-US" dirty="0" err="1" smtClean="0">
                <a:latin typeface="Consolas" pitchFamily="49" charset="0"/>
              </a:rPr>
              <a:t>server.go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524000"/>
            <a:ext cx="7772400" cy="483209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type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4EC9B0"/>
                </a:solidFill>
                <a:latin typeface="Consolas"/>
              </a:rPr>
              <a:t>HelloService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struct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{}</a:t>
            </a:r>
          </a:p>
          <a:p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func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(p *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HelloService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 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Hello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(request </a:t>
            </a:r>
            <a:r>
              <a:rPr lang="en-US" sz="1400" dirty="0" smtClean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reply *</a:t>
            </a:r>
            <a:r>
              <a:rPr lang="en-US" sz="1400" dirty="0" smtClean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 </a:t>
            </a:r>
            <a:r>
              <a:rPr lang="en-US" sz="1400" dirty="0" smtClean="0">
                <a:solidFill>
                  <a:srgbClr val="4EC9B0"/>
                </a:solidFill>
                <a:latin typeface="Consolas"/>
              </a:rPr>
              <a:t>error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*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reply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"Hello 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+ request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nil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func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main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rpc.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RegisterName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HelloService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new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HelloService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listener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err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net.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Listen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tcp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":1234"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err != 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nil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log.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Fatal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ListenTCP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 error:"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err)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}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"Await clients"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C586C0"/>
                </a:solidFill>
                <a:latin typeface="Consolas"/>
              </a:rPr>
              <a:t>for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conn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err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listener.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Accept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err != 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nil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log.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Fatal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"Accept error:"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err)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}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"Client accepted."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C586C0"/>
                </a:solidFill>
                <a:latin typeface="Consolas"/>
              </a:rPr>
              <a:t>go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rpc.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ServeConn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conn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"Client served in another 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goroutine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."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}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}</a:t>
            </a:r>
            <a:endParaRPr lang="en-US" sz="14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smtClean="0"/>
              <a:t>3. Create </a:t>
            </a:r>
            <a:r>
              <a:rPr lang="en-US" dirty="0" err="1" smtClean="0">
                <a:latin typeface="Consolas" pitchFamily="49" charset="0"/>
              </a:rPr>
              <a:t>client.go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916192"/>
            <a:ext cx="7772400" cy="35702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func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main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client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err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rpc.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Dial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600" dirty="0" err="1" smtClean="0">
                <a:solidFill>
                  <a:srgbClr val="CE9178"/>
                </a:solidFill>
                <a:latin typeface="Consolas"/>
              </a:rPr>
              <a:t>tcp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"localhost:1234"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err !=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nil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log.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Fatal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"Dialing:"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err)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}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reply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4EC9B0"/>
                </a:solidFill>
                <a:latin typeface="Consolas"/>
              </a:rPr>
              <a:t>string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err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client.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Call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600" dirty="0" err="1" smtClean="0">
                <a:solidFill>
                  <a:srgbClr val="CE9178"/>
                </a:solidFill>
                <a:latin typeface="Consolas"/>
              </a:rPr>
              <a:t>HelloService.Hello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600" dirty="0" err="1" smtClean="0">
                <a:solidFill>
                  <a:srgbClr val="CE9178"/>
                </a:solidFill>
                <a:latin typeface="Consolas"/>
              </a:rPr>
              <a:t>NHBien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&amp;reply)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err !=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nil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log.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Fatal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(err)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}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(reply)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</a:t>
            </a:r>
            <a:endParaRPr lang="en-US" sz="16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RPC Frameworks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</a:t>
            </a:r>
            <a:r>
              <a:rPr lang="en-US" sz="2400" u="sng" dirty="0" smtClean="0"/>
              <a:t>software</a:t>
            </a:r>
            <a:r>
              <a:rPr lang="en-US" sz="2400" dirty="0" smtClean="0"/>
              <a:t> that implements RPC is called an </a:t>
            </a:r>
            <a:r>
              <a:rPr lang="en-US" sz="2400" i="1" dirty="0" smtClean="0">
                <a:solidFill>
                  <a:srgbClr val="C00000"/>
                </a:solidFill>
              </a:rPr>
              <a:t>RPC framework</a:t>
            </a:r>
            <a:r>
              <a:rPr lang="en-US" sz="2400" dirty="0" smtClean="0"/>
              <a:t> or </a:t>
            </a:r>
            <a:r>
              <a:rPr lang="en-US" sz="2400" i="1" dirty="0" smtClean="0">
                <a:solidFill>
                  <a:srgbClr val="C00000"/>
                </a:solidFill>
              </a:rPr>
              <a:t>middleware</a:t>
            </a:r>
            <a:r>
              <a:rPr lang="en-US" sz="2400" dirty="0" smtClean="0"/>
              <a:t>.</a:t>
            </a:r>
          </a:p>
          <a:p>
            <a:r>
              <a:rPr lang="en-US" sz="2400" dirty="0" err="1" smtClean="0"/>
              <a:t>SunRPC</a:t>
            </a:r>
            <a:r>
              <a:rPr lang="en-US" sz="2400" dirty="0" smtClean="0"/>
              <a:t>/ONC RPC (1980s, basis for NFS)</a:t>
            </a:r>
          </a:p>
          <a:p>
            <a:r>
              <a:rPr lang="en-US" sz="2400" dirty="0" smtClean="0"/>
              <a:t>CORBA: object-oriented middleware, hot in the 1990s</a:t>
            </a:r>
          </a:p>
          <a:p>
            <a:r>
              <a:rPr lang="en-US" sz="2400" dirty="0" smtClean="0"/>
              <a:t>Microsoft's DCOM and Java RMI (similar to CORBA)</a:t>
            </a:r>
          </a:p>
          <a:p>
            <a:r>
              <a:rPr lang="en-US" sz="2400" dirty="0" smtClean="0"/>
              <a:t>SOAP/XML-RPC: RPC using XML and HTTP (1998)</a:t>
            </a:r>
          </a:p>
          <a:p>
            <a:r>
              <a:rPr lang="en-US" sz="2400" dirty="0" smtClean="0"/>
              <a:t>Thrift (</a:t>
            </a:r>
            <a:r>
              <a:rPr lang="en-US" sz="2400" dirty="0" err="1" smtClean="0"/>
              <a:t>Facebook</a:t>
            </a:r>
            <a:r>
              <a:rPr lang="en-US" sz="2400" dirty="0" smtClean="0"/>
              <a:t>, 2007)</a:t>
            </a:r>
          </a:p>
          <a:p>
            <a:r>
              <a:rPr lang="en-US" sz="2400" dirty="0" err="1" smtClean="0"/>
              <a:t>gRPC</a:t>
            </a:r>
            <a:r>
              <a:rPr lang="en-US" sz="2400" dirty="0" smtClean="0"/>
              <a:t> (Google, 2015)</a:t>
            </a:r>
          </a:p>
          <a:p>
            <a:r>
              <a:rPr lang="en-US" sz="2400" dirty="0" smtClean="0"/>
              <a:t>REST (often with JSON)</a:t>
            </a:r>
          </a:p>
          <a:p>
            <a:r>
              <a:rPr lang="en-US" sz="2400" dirty="0" smtClean="0"/>
              <a:t>Ajax in web browsers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RPC Protocol Implementation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495800" cy="4525963"/>
          </a:xfrm>
        </p:spPr>
        <p:txBody>
          <a:bodyPr>
            <a:noAutofit/>
          </a:bodyPr>
          <a:lstStyle/>
          <a:p>
            <a:r>
              <a:rPr lang="en-US" sz="2000" dirty="0" smtClean="0"/>
              <a:t>Given a </a:t>
            </a:r>
            <a:r>
              <a:rPr lang="en-US" sz="2000" i="1" dirty="0" smtClean="0">
                <a:solidFill>
                  <a:srgbClr val="C00000"/>
                </a:solidFill>
              </a:rPr>
              <a:t>completely reliable communication</a:t>
            </a:r>
            <a:r>
              <a:rPr lang="en-US" sz="2000" dirty="0" smtClean="0"/>
              <a:t> environment, which never loses, duplicates, or reorders messages, and given client and server processes that </a:t>
            </a:r>
            <a:r>
              <a:rPr lang="en-US" sz="2000" i="1" dirty="0" smtClean="0">
                <a:solidFill>
                  <a:srgbClr val="C00000"/>
                </a:solidFill>
              </a:rPr>
              <a:t>never fail</a:t>
            </a:r>
            <a:r>
              <a:rPr lang="en-US" sz="2000" dirty="0" smtClean="0"/>
              <a:t>, RPC would be </a:t>
            </a:r>
            <a:r>
              <a:rPr lang="en-US" sz="2000" u="sng" dirty="0" smtClean="0"/>
              <a:t>trivial</a:t>
            </a:r>
            <a:r>
              <a:rPr lang="en-US" sz="2000" dirty="0" smtClean="0"/>
              <a:t> to solve.</a:t>
            </a:r>
          </a:p>
          <a:p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sender</a:t>
            </a:r>
            <a:r>
              <a:rPr lang="en-US" sz="2000" dirty="0" smtClean="0"/>
              <a:t> would merely </a:t>
            </a:r>
            <a:r>
              <a:rPr lang="en-US" sz="2000" u="sng" dirty="0" smtClean="0"/>
              <a:t>package the invocation</a:t>
            </a:r>
            <a:r>
              <a:rPr lang="en-US" sz="2000" dirty="0" smtClean="0"/>
              <a:t> into one or more messages and transmit these to the server.</a:t>
            </a:r>
          </a:p>
          <a:p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server</a:t>
            </a:r>
            <a:r>
              <a:rPr lang="en-US" sz="2000" dirty="0" smtClean="0"/>
              <a:t> would unpack the data into local variables, </a:t>
            </a:r>
            <a:r>
              <a:rPr lang="en-US" sz="2000" u="sng" dirty="0" smtClean="0"/>
              <a:t>perform the desired operation</a:t>
            </a:r>
            <a:r>
              <a:rPr lang="en-US" sz="2000" dirty="0" smtClean="0"/>
              <a:t>, and </a:t>
            </a:r>
            <a:r>
              <a:rPr lang="en-US" sz="2000" u="sng" dirty="0" smtClean="0"/>
              <a:t>send back the result</a:t>
            </a:r>
            <a:r>
              <a:rPr lang="en-US" sz="2000" dirty="0" smtClean="0"/>
              <a:t> (or an indication of any exception that occurred) in a reply message.</a:t>
            </a:r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2438400"/>
            <a:ext cx="3278188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Stubs (Proxies) and Messages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The process of encoding the function arguments is known as </a:t>
            </a:r>
            <a:r>
              <a:rPr lang="en-US" sz="2000" i="1" dirty="0" smtClean="0">
                <a:solidFill>
                  <a:srgbClr val="C00000"/>
                </a:solidFill>
              </a:rPr>
              <a:t>marshalling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743200"/>
            <a:ext cx="7254240" cy="2733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 smtClean="0"/>
              <a:t>RPC Framework Implementation Hurdles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Transport protocol</a:t>
            </a:r>
            <a:r>
              <a:rPr lang="en-US" sz="2200" dirty="0" smtClean="0"/>
              <a:t>: TCP? UDP? Both?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Parameter passing</a:t>
            </a:r>
            <a:r>
              <a:rPr lang="en-US" sz="2200" dirty="0" smtClean="0"/>
              <a:t>: All data must be sent in a </a:t>
            </a:r>
            <a:r>
              <a:rPr lang="en-US" sz="2200" dirty="0" err="1" smtClean="0"/>
              <a:t>pointerless</a:t>
            </a:r>
            <a:r>
              <a:rPr lang="en-US" sz="2200" dirty="0" smtClean="0"/>
              <a:t> representation.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Marshalling &amp; RPC compiler</a:t>
            </a:r>
            <a:r>
              <a:rPr lang="en-US" sz="2200" dirty="0" smtClean="0"/>
              <a:t>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Semantics of remote procedure calls</a:t>
            </a:r>
            <a:r>
              <a:rPr lang="en-US" sz="2200" dirty="0" smtClean="0"/>
              <a:t>. Local procedure call: executed </a:t>
            </a:r>
            <a:r>
              <a:rPr lang="en-US" sz="2200" u="sng" dirty="0" smtClean="0"/>
              <a:t>exactly once</a:t>
            </a:r>
            <a:r>
              <a:rPr lang="en-US" sz="2200" dirty="0" smtClean="0"/>
              <a:t> each time it's invoked.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Service binding</a:t>
            </a:r>
            <a:r>
              <a:rPr lang="en-US" sz="2200" dirty="0" smtClean="0"/>
              <a:t>. How do we locate the server endpoint? Hard coded in program? Central database listing all services and their corresponding host &amp; port #?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Performance</a:t>
            </a:r>
            <a:r>
              <a:rPr lang="en-US" sz="2200" dirty="0" smtClean="0"/>
              <a:t>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Security handling</a:t>
            </a:r>
            <a:r>
              <a:rPr lang="en-US" sz="2200" dirty="0" smtClean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RPC over TCP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Most implementations of RPC technologies like CORBA, XML-RPC, SOAP, Java RMI </a:t>
            </a:r>
            <a:r>
              <a:rPr lang="en-US" sz="2400" i="1" dirty="0" smtClean="0">
                <a:solidFill>
                  <a:srgbClr val="C00000"/>
                </a:solidFill>
              </a:rPr>
              <a:t>use TCP</a:t>
            </a:r>
            <a:r>
              <a:rPr lang="en-US" sz="2400" dirty="0" smtClean="0"/>
              <a:t> and </a:t>
            </a:r>
            <a:r>
              <a:rPr lang="en-US" sz="2400" u="sng" dirty="0" smtClean="0"/>
              <a:t>not UDP</a:t>
            </a:r>
            <a:r>
              <a:rPr lang="en-US" sz="2400" dirty="0" smtClean="0"/>
              <a:t> as underlying transport.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TCP</a:t>
            </a:r>
            <a:r>
              <a:rPr lang="en-US" sz="2400" dirty="0" smtClean="0"/>
              <a:t> is preferred here because contrary to UDP it already cares about </a:t>
            </a:r>
            <a:r>
              <a:rPr lang="en-US" sz="2400" u="sng" dirty="0" smtClean="0"/>
              <a:t>reliability</a:t>
            </a:r>
            <a:r>
              <a:rPr lang="en-US" sz="2400" dirty="0" smtClean="0"/>
              <a:t> (dealing with packet loss, duplication, reordering) and can also easily and transparently handle arbitrary sized messages.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RPC over UDP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RPC over </a:t>
            </a:r>
            <a:r>
              <a:rPr lang="en-US" sz="2400" i="1" dirty="0" smtClean="0">
                <a:solidFill>
                  <a:srgbClr val="C00000"/>
                </a:solidFill>
              </a:rPr>
              <a:t>UDP</a:t>
            </a:r>
            <a:r>
              <a:rPr lang="en-US" sz="2400" dirty="0" smtClean="0"/>
              <a:t> requires </a:t>
            </a:r>
            <a:r>
              <a:rPr lang="en-US" sz="2400" u="sng" dirty="0" smtClean="0"/>
              <a:t>special UDP aware handling</a:t>
            </a:r>
            <a:r>
              <a:rPr lang="en-US" sz="2400" dirty="0" smtClean="0"/>
              <a:t> due to the nature of UDP sockets.</a:t>
            </a:r>
          </a:p>
          <a:p>
            <a:r>
              <a:rPr lang="en-US" sz="2400" dirty="0" smtClean="0"/>
              <a:t>There is no connection, just </a:t>
            </a:r>
            <a:r>
              <a:rPr lang="en-US" sz="2400" dirty="0" err="1" smtClean="0"/>
              <a:t>datagrams</a:t>
            </a:r>
            <a:r>
              <a:rPr lang="en-US" sz="2400" dirty="0" smtClean="0"/>
              <a:t> sent to an address.</a:t>
            </a:r>
          </a:p>
          <a:p>
            <a:r>
              <a:rPr lang="en-US" sz="2400" dirty="0" smtClean="0"/>
              <a:t>For the client to get a reply, it would have to set up a listening socket and then send that to the server along with the request. The server would then reply to the clients address.</a:t>
            </a:r>
          </a:p>
          <a:p>
            <a:r>
              <a:rPr lang="en-US" sz="2400" b="1" dirty="0" smtClean="0"/>
              <a:t>net/</a:t>
            </a:r>
            <a:r>
              <a:rPr lang="en-US" sz="2400" b="1" dirty="0" err="1" smtClean="0"/>
              <a:t>rpc</a:t>
            </a:r>
            <a:r>
              <a:rPr lang="en-US" sz="2400" dirty="0" smtClean="0"/>
              <a:t> doesn't have any special case handling for non-connection oriented transports (i.e. UDP)</a:t>
            </a:r>
            <a:r>
              <a:rPr lang="en-US" sz="2400" dirty="0"/>
              <a:t>.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 smtClean="0"/>
              <a:t>Client Code: Go Asynchronous RPC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hlinkClick r:id="rId2"/>
              </a:rPr>
              <a:t>https://pkg.go.dev/net/rpc#Client.Go</a:t>
            </a:r>
            <a:endParaRPr lang="en-US" sz="2400" dirty="0" smtClean="0"/>
          </a:p>
          <a:p>
            <a:r>
              <a:rPr lang="en-US" sz="2400" dirty="0" smtClean="0"/>
              <a:t>Go invokes the function asynchronously.</a:t>
            </a:r>
          </a:p>
          <a:p>
            <a:r>
              <a:rPr lang="en-US" sz="2400" dirty="0" smtClean="0"/>
              <a:t>It returns the Call structure representing the invocation.</a:t>
            </a:r>
          </a:p>
          <a:p>
            <a:r>
              <a:rPr lang="en-US" sz="2400" dirty="0" smtClean="0"/>
              <a:t>The done channel will signal when the call is complete by returning the same Call object.</a:t>
            </a:r>
          </a:p>
          <a:p>
            <a:r>
              <a:rPr lang="en-US" sz="2400" dirty="0" smtClean="0"/>
              <a:t>If done is nil, Go will allocate a new channel. If non-nil, done must be buffered or Go will deliberately crash. 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Client Code: Go Synchronous RPC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hlinkClick r:id="rId2"/>
              </a:rPr>
              <a:t>https://pkg.go.dev/net/rpc#Client.Call</a:t>
            </a:r>
            <a:endParaRPr lang="en-US" sz="2400" dirty="0" smtClean="0"/>
          </a:p>
          <a:p>
            <a:r>
              <a:rPr lang="en-US" sz="2400" dirty="0" smtClean="0"/>
              <a:t>Call invokes the named function, waits for it to complete, and returns its error status.</a:t>
            </a:r>
          </a:p>
          <a:p>
            <a:r>
              <a:rPr lang="en-US" sz="2400" dirty="0" smtClean="0"/>
              <a:t>In actuality, Call is a wrapper around Go, which waits for the operation to complete, whereas Go is the underlying function, which leaves waiting up to the caller.</a:t>
            </a:r>
          </a:p>
          <a:p>
            <a:r>
              <a:rPr lang="en-US" sz="2400" dirty="0" smtClean="0"/>
              <a:t>Clearly, in the background, a </a:t>
            </a:r>
            <a:r>
              <a:rPr lang="en-US" sz="2400" dirty="0" err="1" smtClean="0"/>
              <a:t>goroutine</a:t>
            </a:r>
            <a:r>
              <a:rPr lang="en-US" sz="2400" dirty="0" smtClean="0"/>
              <a:t> is involved somewhere, since this is a non-blocking operation.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Parameter Passing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Most parameters in our programs are </a:t>
            </a:r>
            <a:r>
              <a:rPr lang="en-US" sz="2400" i="1" dirty="0" smtClean="0">
                <a:solidFill>
                  <a:srgbClr val="C00000"/>
                </a:solidFill>
              </a:rPr>
              <a:t>passed by value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That is easy to do remotely: just send the data in a network message.</a:t>
            </a:r>
          </a:p>
          <a:p>
            <a:r>
              <a:rPr lang="en-US" sz="2400" dirty="0" smtClean="0"/>
              <a:t>Some parameters, however, are </a:t>
            </a:r>
            <a:r>
              <a:rPr lang="en-US" sz="2400" i="1" dirty="0" smtClean="0">
                <a:solidFill>
                  <a:srgbClr val="C00000"/>
                </a:solidFill>
              </a:rPr>
              <a:t>passed by reference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 reference is a memory address of the parameter.</a:t>
            </a:r>
          </a:p>
          <a:p>
            <a:r>
              <a:rPr lang="en-US" sz="2400" dirty="0" smtClean="0"/>
              <a:t>There is no good solution to this except to </a:t>
            </a:r>
            <a:r>
              <a:rPr lang="en-US" sz="2400" i="1" dirty="0" smtClean="0">
                <a:solidFill>
                  <a:srgbClr val="C00000"/>
                </a:solidFill>
              </a:rPr>
              <a:t>understand the data</a:t>
            </a:r>
            <a:r>
              <a:rPr lang="en-US" sz="2400" dirty="0" smtClean="0"/>
              <a:t> that is being referenced, send it to the remote side (pass by value).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Marshalling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All data that is sent needs to be represented as a </a:t>
            </a:r>
            <a:r>
              <a:rPr lang="en-US" sz="2400" i="1" dirty="0" smtClean="0">
                <a:solidFill>
                  <a:srgbClr val="C00000"/>
                </a:solidFill>
              </a:rPr>
              <a:t>series of bytes</a:t>
            </a:r>
            <a:r>
              <a:rPr lang="en-US" sz="2400" dirty="0" smtClean="0"/>
              <a:t> that can be placed into one or more network messages. This is known as </a:t>
            </a:r>
            <a:r>
              <a:rPr lang="en-US" sz="2400" i="1" dirty="0" smtClean="0">
                <a:solidFill>
                  <a:srgbClr val="C00000"/>
                </a:solidFill>
              </a:rPr>
              <a:t>marshalling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Not only must any data structure be sent in a </a:t>
            </a:r>
            <a:r>
              <a:rPr lang="en-US" sz="2400" i="1" dirty="0" smtClean="0">
                <a:solidFill>
                  <a:srgbClr val="C00000"/>
                </a:solidFill>
              </a:rPr>
              <a:t>serialized</a:t>
            </a:r>
            <a:r>
              <a:rPr lang="en-US" sz="2400" dirty="0" smtClean="0"/>
              <a:t> format: a sequence of bytes with no pointers, but the format of this </a:t>
            </a:r>
            <a:r>
              <a:rPr lang="en-US" sz="2400" dirty="0" err="1" smtClean="0"/>
              <a:t>marshalled</a:t>
            </a:r>
            <a:r>
              <a:rPr lang="en-US" sz="2400" dirty="0" smtClean="0"/>
              <a:t> data must be </a:t>
            </a:r>
            <a:r>
              <a:rPr lang="en-US" sz="2400" i="1" dirty="0" smtClean="0">
                <a:solidFill>
                  <a:srgbClr val="C00000"/>
                </a:solidFill>
              </a:rPr>
              <a:t>standardized</a:t>
            </a:r>
            <a:r>
              <a:rPr lang="en-US" sz="2400" dirty="0" smtClean="0"/>
              <a:t> between the client and server so that the server can make sense of the data it receives and vice versa.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RPC Compiler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Since most languages do not support remote procedure calls natively, something has to generate client and server stubs. That is often a stand-alone program known as an </a:t>
            </a:r>
            <a:r>
              <a:rPr lang="en-US" sz="2400" b="1" dirty="0" smtClean="0"/>
              <a:t>RPC compiler</a:t>
            </a:r>
            <a:r>
              <a:rPr lang="en-US" sz="2400" dirty="0" smtClean="0"/>
              <a:t>, or </a:t>
            </a:r>
            <a:r>
              <a:rPr lang="en-US" sz="2400" b="1" dirty="0" smtClean="0"/>
              <a:t>protocol compiler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RPC compiler takes an interface specification as input and generates client-side stubs (proxies) and a server-side proxy (skeleton).</a:t>
            </a:r>
          </a:p>
          <a:p>
            <a:r>
              <a:rPr lang="en-US" sz="2400" dirty="0" smtClean="0"/>
              <a:t>The interface specification is written in an </a:t>
            </a:r>
            <a:r>
              <a:rPr lang="en-US" sz="2400" b="1" dirty="0" smtClean="0"/>
              <a:t>interface definition language</a:t>
            </a:r>
            <a:r>
              <a:rPr lang="en-US" sz="2400" dirty="0" smtClean="0"/>
              <a:t> (</a:t>
            </a:r>
            <a:r>
              <a:rPr lang="en-US" sz="2400" b="1" dirty="0" smtClean="0"/>
              <a:t>IDL</a:t>
            </a:r>
            <a:r>
              <a:rPr lang="en-US" sz="2400" dirty="0" smtClean="0"/>
              <a:t>) and defines remote classes, methods, and data structures. It contains all the information that the RPC compiler needs to generate stub functions.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RPC Failures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The call didn't reach the server.</a:t>
            </a:r>
          </a:p>
          <a:p>
            <a:r>
              <a:rPr lang="en-US" sz="2000" dirty="0" smtClean="0"/>
              <a:t>The call was executed but mid-way the server crashed.</a:t>
            </a:r>
          </a:p>
          <a:p>
            <a:r>
              <a:rPr lang="en-US" sz="2000" dirty="0" smtClean="0"/>
              <a:t>The call was executed, the results were returned but the return message did not reach the client.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9500" y="3359150"/>
            <a:ext cx="4445000" cy="296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At-most-once Semantics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sz="2400" dirty="0" smtClean="0"/>
              <a:t>Send request, don't retry, update may not happen.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400" dirty="0" smtClean="0"/>
              <a:t>The server either executes the </a:t>
            </a:r>
            <a:r>
              <a:rPr lang="en-US" sz="2400" i="1" dirty="0" smtClean="0">
                <a:solidFill>
                  <a:srgbClr val="C00000"/>
                </a:solidFill>
              </a:rPr>
              <a:t>call once or not at all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609600" y="2861608"/>
            <a:ext cx="7924800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err="1" smtClean="0">
                <a:latin typeface="Consolas" pitchFamily="49" charset="0"/>
              </a:rPr>
              <a:t>request_sent</a:t>
            </a:r>
            <a:r>
              <a:rPr lang="en-US" sz="2000" dirty="0" smtClean="0">
                <a:latin typeface="Consolas" pitchFamily="49" charset="0"/>
              </a:rPr>
              <a:t> = False</a:t>
            </a:r>
          </a:p>
          <a:p>
            <a:r>
              <a:rPr lang="en-US" sz="2000" dirty="0" smtClean="0">
                <a:latin typeface="Consolas" pitchFamily="49" charset="0"/>
              </a:rPr>
              <a:t>while not </a:t>
            </a:r>
            <a:r>
              <a:rPr lang="en-US" sz="2000" dirty="0" err="1" smtClean="0">
                <a:latin typeface="Consolas" pitchFamily="49" charset="0"/>
              </a:rPr>
              <a:t>request_sent</a:t>
            </a:r>
            <a:r>
              <a:rPr lang="en-US" sz="2000" dirty="0" smtClean="0">
                <a:latin typeface="Consolas" pitchFamily="49" charset="0"/>
              </a:rPr>
              <a:t>: # only care about </a:t>
            </a:r>
            <a:r>
              <a:rPr lang="en-US" sz="2000" dirty="0" err="1" smtClean="0">
                <a:latin typeface="Consolas" pitchFamily="49" charset="0"/>
              </a:rPr>
              <a:t>msg</a:t>
            </a:r>
            <a:r>
              <a:rPr lang="en-US" sz="2000" dirty="0" smtClean="0">
                <a:latin typeface="Consolas" pitchFamily="49" charset="0"/>
              </a:rPr>
              <a:t> delivery</a:t>
            </a:r>
          </a:p>
          <a:p>
            <a:r>
              <a:rPr lang="en-US" sz="2000" dirty="0" smtClean="0">
                <a:latin typeface="Consolas" pitchFamily="49" charset="0"/>
              </a:rPr>
              <a:t>    </a:t>
            </a:r>
            <a:r>
              <a:rPr lang="en-US" sz="2000" dirty="0" err="1" smtClean="0">
                <a:latin typeface="Consolas" pitchFamily="49" charset="0"/>
              </a:rPr>
              <a:t>ack</a:t>
            </a:r>
            <a:r>
              <a:rPr lang="en-US" sz="2000" dirty="0" smtClean="0">
                <a:latin typeface="Consolas" pitchFamily="49" charset="0"/>
              </a:rPr>
              <a:t> = </a:t>
            </a:r>
            <a:r>
              <a:rPr lang="en-US" sz="2000" dirty="0" err="1" smtClean="0">
                <a:latin typeface="Consolas" pitchFamily="49" charset="0"/>
              </a:rPr>
              <a:t>send_RPC_and_wait_for_ack</a:t>
            </a:r>
            <a:r>
              <a:rPr lang="en-US" sz="2000" dirty="0" smtClean="0">
                <a:latin typeface="Consolas" pitchFamily="49" charset="0"/>
              </a:rPr>
              <a:t>(timeout=T)</a:t>
            </a:r>
          </a:p>
          <a:p>
            <a:r>
              <a:rPr lang="en-US" sz="2000" dirty="0" smtClean="0">
                <a:latin typeface="Consolas" pitchFamily="49" charset="0"/>
              </a:rPr>
              <a:t>    </a:t>
            </a:r>
            <a:r>
              <a:rPr lang="en-US" sz="2000" dirty="0" err="1" smtClean="0">
                <a:latin typeface="Consolas" pitchFamily="49" charset="0"/>
              </a:rPr>
              <a:t>request_sent</a:t>
            </a:r>
            <a:r>
              <a:rPr lang="en-US" sz="2000" dirty="0" smtClean="0">
                <a:latin typeface="Consolas" pitchFamily="49" charset="0"/>
              </a:rPr>
              <a:t> = True</a:t>
            </a:r>
          </a:p>
          <a:p>
            <a:r>
              <a:rPr lang="en-US" sz="2000" dirty="0" smtClean="0">
                <a:latin typeface="Consolas" pitchFamily="49" charset="0"/>
              </a:rPr>
              <a:t>    if </a:t>
            </a:r>
            <a:r>
              <a:rPr lang="en-US" sz="2000" dirty="0" err="1" smtClean="0">
                <a:latin typeface="Consolas" pitchFamily="49" charset="0"/>
              </a:rPr>
              <a:t>ack</a:t>
            </a:r>
            <a:r>
              <a:rPr lang="en-US" sz="2000" dirty="0" smtClean="0">
                <a:latin typeface="Consolas" pitchFamily="49" charset="0"/>
              </a:rPr>
              <a:t> and </a:t>
            </a:r>
            <a:r>
              <a:rPr lang="en-US" sz="2000" dirty="0" err="1" smtClean="0">
                <a:latin typeface="Consolas" pitchFamily="49" charset="0"/>
              </a:rPr>
              <a:t>ack.FAILURE</a:t>
            </a:r>
            <a:r>
              <a:rPr lang="en-US" sz="2000" dirty="0" smtClean="0">
                <a:latin typeface="Consolas" pitchFamily="49" charset="0"/>
              </a:rPr>
              <a:t>:</a:t>
            </a:r>
          </a:p>
          <a:p>
            <a:r>
              <a:rPr lang="en-US" sz="2000" dirty="0" smtClean="0">
                <a:latin typeface="Consolas" pitchFamily="49" charset="0"/>
              </a:rPr>
              <a:t>        </a:t>
            </a:r>
            <a:r>
              <a:rPr lang="en-US" sz="2000" dirty="0" err="1" smtClean="0">
                <a:latin typeface="Consolas" pitchFamily="49" charset="0"/>
              </a:rPr>
              <a:t>request_sent</a:t>
            </a:r>
            <a:r>
              <a:rPr lang="en-US" sz="2000" dirty="0" smtClean="0">
                <a:latin typeface="Consolas" pitchFamily="49" charset="0"/>
              </a:rPr>
              <a:t> = True</a:t>
            </a:r>
            <a:endParaRPr lang="en-US" sz="20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At-least-once Semantics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Retry request </a:t>
            </a:r>
            <a:r>
              <a:rPr lang="en-US" sz="2600" i="1" dirty="0" smtClean="0">
                <a:solidFill>
                  <a:srgbClr val="C00000"/>
                </a:solidFill>
              </a:rPr>
              <a:t>until acknowledged</a:t>
            </a:r>
            <a:r>
              <a:rPr lang="en-US" sz="2600" dirty="0" smtClean="0"/>
              <a:t>, may repeat update.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551837"/>
            <a:ext cx="8001000" cy="1785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200" dirty="0" err="1" smtClean="0">
                <a:latin typeface="Consolas" pitchFamily="49" charset="0"/>
              </a:rPr>
              <a:t>method_executed</a:t>
            </a:r>
            <a:r>
              <a:rPr lang="en-US" sz="2200" dirty="0" smtClean="0">
                <a:latin typeface="Consolas" pitchFamily="49" charset="0"/>
              </a:rPr>
              <a:t> = False</a:t>
            </a:r>
          </a:p>
          <a:p>
            <a:r>
              <a:rPr lang="en-US" sz="2200" dirty="0" smtClean="0">
                <a:latin typeface="Consolas" pitchFamily="49" charset="0"/>
              </a:rPr>
              <a:t>while not </a:t>
            </a:r>
            <a:r>
              <a:rPr lang="en-US" sz="2200" dirty="0" err="1" smtClean="0">
                <a:latin typeface="Consolas" pitchFamily="49" charset="0"/>
              </a:rPr>
              <a:t>method_executed</a:t>
            </a:r>
            <a:r>
              <a:rPr lang="en-US" sz="2200" dirty="0" smtClean="0">
                <a:latin typeface="Consolas" pitchFamily="49" charset="0"/>
              </a:rPr>
              <a:t>:</a:t>
            </a:r>
          </a:p>
          <a:p>
            <a:r>
              <a:rPr lang="en-US" sz="2200" dirty="0" smtClean="0">
                <a:latin typeface="Consolas" pitchFamily="49" charset="0"/>
              </a:rPr>
              <a:t>    </a:t>
            </a:r>
            <a:r>
              <a:rPr lang="en-US" sz="2200" dirty="0" err="1" smtClean="0">
                <a:latin typeface="Consolas" pitchFamily="49" charset="0"/>
              </a:rPr>
              <a:t>ack</a:t>
            </a:r>
            <a:r>
              <a:rPr lang="en-US" sz="2200" dirty="0" smtClean="0">
                <a:latin typeface="Consolas" pitchFamily="49" charset="0"/>
              </a:rPr>
              <a:t> = </a:t>
            </a:r>
            <a:r>
              <a:rPr lang="en-US" sz="2200" dirty="0" err="1" smtClean="0">
                <a:latin typeface="Consolas" pitchFamily="49" charset="0"/>
              </a:rPr>
              <a:t>send_RPC_and_wait_for_ack</a:t>
            </a:r>
            <a:r>
              <a:rPr lang="en-US" sz="2200" dirty="0" smtClean="0">
                <a:latin typeface="Consolas" pitchFamily="49" charset="0"/>
              </a:rPr>
              <a:t>(timeout=T)</a:t>
            </a:r>
          </a:p>
          <a:p>
            <a:r>
              <a:rPr lang="en-US" sz="2200" dirty="0" smtClean="0">
                <a:latin typeface="Consolas" pitchFamily="49" charset="0"/>
              </a:rPr>
              <a:t>    if </a:t>
            </a:r>
            <a:r>
              <a:rPr lang="en-US" sz="2200" dirty="0" err="1" smtClean="0">
                <a:latin typeface="Consolas" pitchFamily="49" charset="0"/>
              </a:rPr>
              <a:t>ack</a:t>
            </a:r>
            <a:r>
              <a:rPr lang="en-US" sz="2200" dirty="0" smtClean="0">
                <a:latin typeface="Consolas" pitchFamily="49" charset="0"/>
              </a:rPr>
              <a:t> and </a:t>
            </a:r>
            <a:r>
              <a:rPr lang="en-US" sz="2200" dirty="0" err="1" smtClean="0">
                <a:latin typeface="Consolas" pitchFamily="49" charset="0"/>
              </a:rPr>
              <a:t>ack.SUCCESS</a:t>
            </a:r>
            <a:r>
              <a:rPr lang="en-US" sz="2200" dirty="0" smtClean="0">
                <a:latin typeface="Consolas" pitchFamily="49" charset="0"/>
              </a:rPr>
              <a:t>:</a:t>
            </a:r>
          </a:p>
          <a:p>
            <a:r>
              <a:rPr lang="en-US" sz="2200" dirty="0" smtClean="0">
                <a:latin typeface="Consolas" pitchFamily="49" charset="0"/>
              </a:rPr>
              <a:t>        </a:t>
            </a:r>
            <a:r>
              <a:rPr lang="en-US" sz="2200" dirty="0" err="1" smtClean="0">
                <a:latin typeface="Consolas" pitchFamily="49" charset="0"/>
              </a:rPr>
              <a:t>method_executed</a:t>
            </a:r>
            <a:r>
              <a:rPr lang="en-US" sz="2200" dirty="0" smtClean="0">
                <a:latin typeface="Consolas" pitchFamily="49" charset="0"/>
              </a:rPr>
              <a:t> = True</a:t>
            </a:r>
            <a:endParaRPr lang="en-US" sz="22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Exactly-once 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The exactly once semantics make sure that a procedure will be </a:t>
            </a:r>
            <a:r>
              <a:rPr lang="en-US" sz="2000" i="1" dirty="0" smtClean="0">
                <a:solidFill>
                  <a:srgbClr val="C00000"/>
                </a:solidFill>
              </a:rPr>
              <a:t>executed exactly once and only once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The universal algorithm for ensuring this combines an </a:t>
            </a:r>
            <a:r>
              <a:rPr lang="en-US" sz="2000" i="1" dirty="0" smtClean="0">
                <a:solidFill>
                  <a:srgbClr val="C00000"/>
                </a:solidFill>
              </a:rPr>
              <a:t>acknowledgment (ACK) scheme</a:t>
            </a:r>
            <a:r>
              <a:rPr lang="en-US" sz="2000" dirty="0" smtClean="0"/>
              <a:t> combined with </a:t>
            </a:r>
            <a:r>
              <a:rPr lang="en-US" sz="2000" u="sng" dirty="0" smtClean="0"/>
              <a:t>timestamps</a:t>
            </a:r>
            <a:r>
              <a:rPr lang="en-US" sz="2000" dirty="0" smtClean="0"/>
              <a:t> (or some other </a:t>
            </a:r>
            <a:r>
              <a:rPr lang="en-US" sz="2000" u="sng" dirty="0" smtClean="0"/>
              <a:t>incremental counter</a:t>
            </a:r>
            <a:r>
              <a:rPr lang="en-US" sz="2000" dirty="0" smtClean="0"/>
              <a:t> that allows the server to distinguish between </a:t>
            </a:r>
            <a:r>
              <a:rPr lang="en-US" sz="2000" u="sng" dirty="0" smtClean="0"/>
              <a:t>duplicate messages</a:t>
            </a:r>
            <a:r>
              <a:rPr lang="en-US" sz="2000" dirty="0" smtClean="0"/>
              <a:t>).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Exactly-once Semantics Implementation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The general approach is for the client to send an RPC (Remote Procedure Call) to the server along with a </a:t>
            </a:r>
            <a:r>
              <a:rPr lang="en-US" sz="1800" i="1" dirty="0" smtClean="0">
                <a:solidFill>
                  <a:srgbClr val="C00000"/>
                </a:solidFill>
              </a:rPr>
              <a:t>timestamp</a:t>
            </a:r>
            <a:r>
              <a:rPr lang="en-US" sz="1800" dirty="0" smtClean="0"/>
              <a:t> and start a timeout timer. The client will then wait for one of two outcomes: (1) it receives an ACK from the server confirming that the procedure was completed, or (2) it times out.</a:t>
            </a:r>
          </a:p>
          <a:p>
            <a:r>
              <a:rPr lang="en-US" sz="1800" dirty="0" smtClean="0"/>
              <a:t>If the client times out, it assumes the server was unable to complete the procedure and sends the RPC again with </a:t>
            </a:r>
            <a:r>
              <a:rPr lang="en-US" sz="1800" i="1" dirty="0" smtClean="0">
                <a:solidFill>
                  <a:srgbClr val="C00000"/>
                </a:solidFill>
              </a:rPr>
              <a:t>the same timestamp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There are two reasons the client might not receive the ACK: (3) the server never received the original RPC, or (4) the server received and completed the RPC, but the ACK was lost.</a:t>
            </a:r>
          </a:p>
          <a:p>
            <a:r>
              <a:rPr lang="en-US" sz="1800" dirty="0" smtClean="0"/>
              <a:t>In case (3), the ACK mechanism allows the server to eventually receive and perform the RPC.</a:t>
            </a:r>
          </a:p>
          <a:p>
            <a:r>
              <a:rPr lang="en-US" sz="1800" dirty="0" smtClean="0"/>
              <a:t>In case (4), the server receives the duplicate RPC, identifies it as a repeat using the timestamp, and does not perform the procedure again. However, the server must still send a second ACK to let the client know the RPC was completed.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Without a doubt, a remote procedure call will be </a:t>
            </a:r>
            <a:r>
              <a:rPr lang="en-US" sz="2400" i="1" dirty="0" smtClean="0">
                <a:solidFill>
                  <a:srgbClr val="C00000"/>
                </a:solidFill>
              </a:rPr>
              <a:t>much slower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We can easily expect the overhead of making the remove call to be thousands of times slower than a local one.</a:t>
            </a:r>
          </a:p>
          <a:p>
            <a:r>
              <a:rPr lang="en-US" sz="2400" dirty="0" smtClean="0"/>
              <a:t>However, that should not deter us from using remote procedure calls since there are usually strong reasons for moving functions to the server.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RPC Framework with Security [3]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1596390"/>
            <a:ext cx="2691765" cy="4880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/>
              <a:t>Programming with RPCs in Languages Without Built-In Syntax for RPCs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Examples: C, C++, Scheme.</a:t>
            </a:r>
            <a:endParaRPr lang="en-US" dirty="0"/>
          </a:p>
        </p:txBody>
      </p:sp>
      <p:pic>
        <p:nvPicPr>
          <p:cNvPr id="4" name="Picture 3" descr="https://people.cs.rutgers.edu/~pxk/417/notes/images/rpc-compilatio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2667000"/>
            <a:ext cx="5541872" cy="31921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</a:t>
            </a:r>
            <a:r>
              <a:rPr lang="en-US" dirty="0" smtClean="0">
                <a:latin typeface="Consolas" pitchFamily="49" charset="0"/>
              </a:rPr>
              <a:t>Key Value Store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err="1" smtClean="0">
                <a:latin typeface="Consolas" pitchFamily="49" charset="0"/>
              </a:rPr>
              <a:t>mkdir</a:t>
            </a:r>
            <a:r>
              <a:rPr lang="en-US" sz="2200" dirty="0" smtClean="0">
                <a:latin typeface="Consolas" pitchFamily="49" charset="0"/>
              </a:rPr>
              <a:t> "Key Value Store"</a:t>
            </a:r>
          </a:p>
          <a:p>
            <a:r>
              <a:rPr lang="en-US" sz="2200" dirty="0" err="1" smtClean="0">
                <a:latin typeface="Consolas" pitchFamily="49" charset="0"/>
              </a:rPr>
              <a:t>cd</a:t>
            </a:r>
            <a:r>
              <a:rPr lang="en-US" sz="2200" dirty="0" smtClean="0">
                <a:latin typeface="Consolas" pitchFamily="49" charset="0"/>
              </a:rPr>
              <a:t> "Key Value Store"</a:t>
            </a:r>
          </a:p>
          <a:p>
            <a:r>
              <a:rPr lang="en-US" sz="2200" dirty="0" err="1" smtClean="0">
                <a:latin typeface="Consolas" pitchFamily="49" charset="0"/>
              </a:rPr>
              <a:t>mkdir</a:t>
            </a:r>
            <a:r>
              <a:rPr lang="en-US" sz="2200" dirty="0" smtClean="0">
                <a:latin typeface="Consolas" pitchFamily="49" charset="0"/>
              </a:rPr>
              <a:t> server</a:t>
            </a:r>
          </a:p>
          <a:p>
            <a:r>
              <a:rPr lang="en-US" sz="2200" dirty="0" err="1" smtClean="0">
                <a:latin typeface="Consolas" pitchFamily="49" charset="0"/>
              </a:rPr>
              <a:t>mkdir</a:t>
            </a:r>
            <a:r>
              <a:rPr lang="en-US" sz="2200" dirty="0" smtClean="0">
                <a:latin typeface="Consolas" pitchFamily="49" charset="0"/>
              </a:rPr>
              <a:t> client</a:t>
            </a:r>
          </a:p>
          <a:p>
            <a:r>
              <a:rPr lang="en-US" sz="2200" dirty="0" err="1" smtClean="0">
                <a:latin typeface="Consolas" pitchFamily="49" charset="0"/>
              </a:rPr>
              <a:t>mkdir</a:t>
            </a:r>
            <a:r>
              <a:rPr lang="en-US" sz="2200" dirty="0" smtClean="0">
                <a:latin typeface="Consolas" pitchFamily="49" charset="0"/>
              </a:rPr>
              <a:t> shared</a:t>
            </a:r>
          </a:p>
          <a:p>
            <a:endParaRPr lang="en-US" sz="22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smtClean="0"/>
              <a:t>2. Create </a:t>
            </a:r>
            <a:r>
              <a:rPr lang="en-US" dirty="0" err="1" smtClean="0">
                <a:latin typeface="Consolas" pitchFamily="49" charset="0"/>
              </a:rPr>
              <a:t>types.go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524000"/>
            <a:ext cx="7772400" cy="504753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(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OK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      = 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"OK"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ErrNoKey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ErrNoKey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type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4EC9B0"/>
                </a:solidFill>
                <a:latin typeface="Consolas"/>
              </a:rPr>
              <a:t>Err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4EC9B0"/>
                </a:solidFill>
                <a:latin typeface="Consolas"/>
              </a:rPr>
              <a:t>string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type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4EC9B0"/>
                </a:solidFill>
                <a:latin typeface="Consolas"/>
              </a:rPr>
              <a:t>PutArgs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struct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Key   </a:t>
            </a:r>
            <a:r>
              <a:rPr lang="en-US" sz="1400" dirty="0" smtClean="0">
                <a:solidFill>
                  <a:srgbClr val="4EC9B0"/>
                </a:solidFill>
                <a:latin typeface="Consolas"/>
              </a:rPr>
              <a:t>string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Value </a:t>
            </a:r>
            <a:r>
              <a:rPr lang="en-US" sz="1400" dirty="0" smtClean="0">
                <a:solidFill>
                  <a:srgbClr val="4EC9B0"/>
                </a:solidFill>
                <a:latin typeface="Consolas"/>
              </a:rPr>
              <a:t>string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type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4EC9B0"/>
                </a:solidFill>
                <a:latin typeface="Consolas"/>
              </a:rPr>
              <a:t>PutReply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struct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Err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Err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type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4EC9B0"/>
                </a:solidFill>
                <a:latin typeface="Consolas"/>
              </a:rPr>
              <a:t>GetArgs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struct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Key </a:t>
            </a:r>
            <a:r>
              <a:rPr lang="en-US" sz="1400" dirty="0" smtClean="0">
                <a:solidFill>
                  <a:srgbClr val="4EC9B0"/>
                </a:solidFill>
                <a:latin typeface="Consolas"/>
              </a:rPr>
              <a:t>string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type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4EC9B0"/>
                </a:solidFill>
                <a:latin typeface="Consolas"/>
              </a:rPr>
              <a:t>GetReply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struct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Err  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Err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Value </a:t>
            </a:r>
            <a:r>
              <a:rPr lang="en-US" sz="1400" dirty="0" smtClean="0">
                <a:solidFill>
                  <a:srgbClr val="4EC9B0"/>
                </a:solidFill>
                <a:latin typeface="Consolas"/>
              </a:rPr>
              <a:t>string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}</a:t>
            </a:r>
            <a:endParaRPr lang="en-US" sz="14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smtClean="0"/>
              <a:t>3. Create </a:t>
            </a:r>
            <a:r>
              <a:rPr lang="en-US" dirty="0" err="1" smtClean="0">
                <a:latin typeface="Consolas" pitchFamily="49" charset="0"/>
              </a:rPr>
              <a:t>server.go</a:t>
            </a:r>
            <a:r>
              <a:rPr lang="en-US" dirty="0" smtClean="0">
                <a:latin typeface="Consolas" pitchFamily="49" charset="0"/>
              </a:rPr>
              <a:t> (I)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916192"/>
            <a:ext cx="7772400" cy="369331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import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"log"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"net"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"net/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rpc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"sync"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kvs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kvs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/shared"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type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KV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struct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mu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sync.Mutex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data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map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string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smtClean="0"/>
              <a:t>4. Create </a:t>
            </a:r>
            <a:r>
              <a:rPr lang="en-US" dirty="0" err="1" smtClean="0">
                <a:latin typeface="Consolas" pitchFamily="49" charset="0"/>
              </a:rPr>
              <a:t>server.go</a:t>
            </a:r>
            <a:r>
              <a:rPr lang="en-US" dirty="0" smtClean="0">
                <a:latin typeface="Consolas" pitchFamily="49" charset="0"/>
              </a:rPr>
              <a:t> (II)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916192"/>
            <a:ext cx="7772400" cy="258532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func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kv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*KV)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Put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args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kvs.PutArgs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reply *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kvs.PutReply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error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kv.mu.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Lock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defer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kv.mu.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Unlock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kv.data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args.Key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 =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args.Value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reply.Err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kvs.OK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nil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smtClean="0"/>
              <a:t>5. Create </a:t>
            </a:r>
            <a:r>
              <a:rPr lang="en-US" dirty="0" err="1" smtClean="0">
                <a:latin typeface="Consolas" pitchFamily="49" charset="0"/>
              </a:rPr>
              <a:t>server.go</a:t>
            </a:r>
            <a:r>
              <a:rPr lang="en-US" dirty="0" smtClean="0">
                <a:latin typeface="Consolas" pitchFamily="49" charset="0"/>
              </a:rPr>
              <a:t> (III)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916192"/>
            <a:ext cx="7772400" cy="424731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func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kv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*KV)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Get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args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kvs.GetArgs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reply *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kvs.GetReply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error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kv.mu.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Lock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defer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kv.mu.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Unlock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val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ok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kv.data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args.Key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ok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reply.Err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kvs.OK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reply.Value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val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}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else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reply.Err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kvs.ErrNoKey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reply.Value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nil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smtClean="0"/>
              <a:t>6. Create </a:t>
            </a:r>
            <a:r>
              <a:rPr lang="en-US" dirty="0" err="1" smtClean="0">
                <a:latin typeface="Consolas" pitchFamily="49" charset="0"/>
              </a:rPr>
              <a:t>server.go</a:t>
            </a:r>
            <a:r>
              <a:rPr lang="en-US" dirty="0" smtClean="0">
                <a:latin typeface="Consolas" pitchFamily="49" charset="0"/>
              </a:rPr>
              <a:t> (IV)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2194679"/>
            <a:ext cx="7772400" cy="313932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func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server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kv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(KV)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kv.data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map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{}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rpcs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rpc.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NewServer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rpcs.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Register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kv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net.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Listen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tcp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":1234"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e !=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nil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log.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Fatal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"[S] Listen error:"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e)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"[S] Wait for connection..."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smtClean="0"/>
              <a:t>7. Create </a:t>
            </a:r>
            <a:r>
              <a:rPr lang="en-US" dirty="0" err="1" smtClean="0">
                <a:latin typeface="Consolas" pitchFamily="49" charset="0"/>
              </a:rPr>
              <a:t>server.go</a:t>
            </a:r>
            <a:r>
              <a:rPr lang="en-US" dirty="0" smtClean="0">
                <a:latin typeface="Consolas" pitchFamily="49" charset="0"/>
              </a:rPr>
              <a:t> (V)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676400"/>
            <a:ext cx="7772400" cy="477053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count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1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done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sync.WaitGroup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done.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Add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go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func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for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conn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err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l.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Accept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()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err ==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nil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        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"[S] Handle connection 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strconv.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Itoa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(count) +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"."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      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go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rpcs.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ServeConn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conn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        count++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    }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else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      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break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    }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}</a:t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l.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Close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()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}()</a:t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done.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Wait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()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</a:t>
            </a:r>
            <a:endParaRPr lang="en-US" sz="16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Create and Run </a:t>
            </a:r>
            <a:r>
              <a:rPr lang="en-US" dirty="0" err="1" smtClean="0">
                <a:latin typeface="Consolas" pitchFamily="49" charset="0"/>
              </a:rPr>
              <a:t>main.go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>
              <a:latin typeface="Consolas" pitchFamily="49" charset="0"/>
            </a:endParaRPr>
          </a:p>
          <a:p>
            <a:endParaRPr lang="en-US" sz="2200" dirty="0" smtClean="0">
              <a:latin typeface="Consolas" pitchFamily="49" charset="0"/>
            </a:endParaRPr>
          </a:p>
          <a:p>
            <a:endParaRPr lang="en-US" sz="2200" dirty="0" smtClean="0">
              <a:latin typeface="Consolas" pitchFamily="49" charset="0"/>
            </a:endParaRPr>
          </a:p>
          <a:p>
            <a:endParaRPr lang="en-US" sz="2200" dirty="0" smtClean="0">
              <a:latin typeface="Consolas" pitchFamily="49" charset="0"/>
            </a:endParaRPr>
          </a:p>
          <a:p>
            <a:endParaRPr lang="en-US" sz="2200" dirty="0" smtClean="0">
              <a:latin typeface="Consolas" pitchFamily="49" charset="0"/>
            </a:endParaRPr>
          </a:p>
          <a:p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smtClean="0">
                <a:latin typeface="Consolas" pitchFamily="49" charset="0"/>
              </a:rPr>
              <a:t>go run 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51672"/>
            <a:ext cx="7772400" cy="14773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package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main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func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main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server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smtClean="0"/>
              <a:t>9. Create </a:t>
            </a:r>
            <a:r>
              <a:rPr lang="en-US" dirty="0" err="1" smtClean="0">
                <a:latin typeface="Consolas" pitchFamily="49" charset="0"/>
              </a:rPr>
              <a:t>client.go</a:t>
            </a:r>
            <a:r>
              <a:rPr lang="en-US" dirty="0" smtClean="0">
                <a:latin typeface="Consolas" pitchFamily="49" charset="0"/>
              </a:rPr>
              <a:t> (I)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916192"/>
            <a:ext cx="7772400" cy="424731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import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"log"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"net/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rpc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kvs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kvs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/shared"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func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connect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*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rpc.Client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client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err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rpc.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Dial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tcp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":1234"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err !=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nil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log.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Fatal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"[C] Dialing:"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err)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client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smtClean="0"/>
              <a:t>10. Create </a:t>
            </a:r>
            <a:r>
              <a:rPr lang="en-US" dirty="0" err="1" smtClean="0">
                <a:latin typeface="Consolas" pitchFamily="49" charset="0"/>
              </a:rPr>
              <a:t>client.go</a:t>
            </a:r>
            <a:r>
              <a:rPr lang="en-US" dirty="0" smtClean="0">
                <a:latin typeface="Consolas" pitchFamily="49" charset="0"/>
              </a:rPr>
              <a:t> (II)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916192"/>
            <a:ext cx="7772400" cy="344709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 err="1" smtClean="0">
                <a:solidFill>
                  <a:srgbClr val="569CD6"/>
                </a:solidFill>
                <a:latin typeface="Consolas"/>
              </a:rPr>
              <a:t>func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put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(key </a:t>
            </a:r>
            <a:r>
              <a:rPr lang="en-US" sz="2000" dirty="0" smtClean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val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client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connect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()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err="1" smtClean="0">
                <a:solidFill>
                  <a:srgbClr val="9CDCFE"/>
                </a:solidFill>
                <a:latin typeface="Consolas"/>
              </a:rPr>
              <a:t>args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kvs.PutArgs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{key, 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val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reply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kvs.PutReply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{}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err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client.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Call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2000" dirty="0" err="1" smtClean="0">
                <a:solidFill>
                  <a:srgbClr val="CE9178"/>
                </a:solidFill>
                <a:latin typeface="Consolas"/>
              </a:rPr>
              <a:t>KV.Put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&amp;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args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&amp;reply)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err !=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nil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log.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Fatal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"[C] Error:"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err)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}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client.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Close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()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}</a:t>
            </a:r>
            <a:endParaRPr lang="en-US" sz="20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smtClean="0"/>
              <a:t>11. Create </a:t>
            </a:r>
            <a:r>
              <a:rPr lang="en-US" dirty="0" err="1" smtClean="0">
                <a:latin typeface="Consolas" pitchFamily="49" charset="0"/>
              </a:rPr>
              <a:t>client.go</a:t>
            </a:r>
            <a:r>
              <a:rPr lang="en-US" dirty="0" smtClean="0">
                <a:latin typeface="Consolas" pitchFamily="49" charset="0"/>
              </a:rPr>
              <a:t> (III)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916192"/>
            <a:ext cx="7772400" cy="378565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 err="1" smtClean="0">
                <a:solidFill>
                  <a:srgbClr val="569CD6"/>
                </a:solidFill>
                <a:latin typeface="Consolas"/>
              </a:rPr>
              <a:t>func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get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(key </a:t>
            </a:r>
            <a:r>
              <a:rPr lang="en-US" sz="2000" dirty="0" smtClean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 </a:t>
            </a:r>
            <a:r>
              <a:rPr lang="en-US" sz="2000" dirty="0" smtClean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client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connect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()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err="1" smtClean="0">
                <a:solidFill>
                  <a:srgbClr val="9CDCFE"/>
                </a:solidFill>
                <a:latin typeface="Consolas"/>
              </a:rPr>
              <a:t>args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kvs.GetArgs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{key}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reply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kvs.GetReply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{}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err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client.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Call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2000" dirty="0" err="1" smtClean="0">
                <a:solidFill>
                  <a:srgbClr val="CE9178"/>
                </a:solidFill>
                <a:latin typeface="Consolas"/>
              </a:rPr>
              <a:t>KV.Get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&amp;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args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&amp;reply)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err !=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nil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log.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Fatal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"[C] Error:"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err)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}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client.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Close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()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reply.Value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}</a:t>
            </a:r>
            <a:endParaRPr lang="en-US" sz="20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200" dirty="0" smtClean="0"/>
              <a:t>12. Create </a:t>
            </a:r>
            <a:r>
              <a:rPr lang="en-US" sz="4200" dirty="0" err="1" smtClean="0">
                <a:latin typeface="Consolas" pitchFamily="49" charset="0"/>
              </a:rPr>
              <a:t>main.go</a:t>
            </a:r>
            <a:endParaRPr lang="en-US" sz="4200" dirty="0">
              <a:latin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7772400" cy="480131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func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main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key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my_number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wg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sync.WaitGroup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for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i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i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&lt;=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i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++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wg.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Add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go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func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(n 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defer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wg.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Done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putValue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strconv.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Itoa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(n)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"[C] Calling put(</a:t>
            </a:r>
            <a:r>
              <a:rPr lang="en-US" dirty="0" smtClean="0">
                <a:solidFill>
                  <a:srgbClr val="D7BA7D"/>
                </a:solidFill>
                <a:latin typeface="Consolas"/>
              </a:rPr>
              <a:t>\"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%s</a:t>
            </a:r>
            <a:r>
              <a:rPr lang="en-US" dirty="0" smtClean="0">
                <a:solidFill>
                  <a:srgbClr val="D7BA7D"/>
                </a:solidFill>
                <a:latin typeface="Consolas"/>
              </a:rPr>
              <a:t>\"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D7BA7D"/>
                </a:solidFill>
                <a:latin typeface="Consolas"/>
              </a:rPr>
              <a:t>\"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%s</a:t>
            </a:r>
            <a:r>
              <a:rPr lang="en-US" dirty="0" smtClean="0">
                <a:solidFill>
                  <a:srgbClr val="D7BA7D"/>
                </a:solidFill>
                <a:latin typeface="Consolas"/>
              </a:rPr>
              <a:t>\"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)...</a:t>
            </a:r>
            <a:r>
              <a:rPr lang="en-US" dirty="0" smtClean="0">
                <a:solidFill>
                  <a:srgbClr val="D7BA7D"/>
                </a:solidFill>
                <a:latin typeface="Consolas"/>
              </a:rPr>
              <a:t>\n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key,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putValue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put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(key,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putValue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}(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i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wg.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Wait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value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get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(key)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"[C] get(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%s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):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%s</a:t>
            </a:r>
            <a:r>
              <a:rPr lang="en-US" dirty="0" smtClean="0">
                <a:solidFill>
                  <a:srgbClr val="D7BA7D"/>
                </a:solidFill>
                <a:latin typeface="Consolas"/>
              </a:rPr>
              <a:t>\n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key, value)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200" dirty="0" smtClean="0"/>
              <a:t>13. Run </a:t>
            </a:r>
            <a:r>
              <a:rPr lang="en-US" sz="4200" dirty="0" err="1" smtClean="0">
                <a:latin typeface="Consolas" pitchFamily="49" charset="0"/>
              </a:rPr>
              <a:t>main.go</a:t>
            </a:r>
            <a:endParaRPr lang="en-US" sz="4200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latin typeface="Consolas" pitchFamily="49" charset="0"/>
              </a:rPr>
              <a:t>go run 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struct</a:t>
            </a:r>
            <a:r>
              <a:rPr lang="en-US" dirty="0" smtClean="0"/>
              <a:t> 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err="1" smtClean="0">
                <a:latin typeface="Consolas" pitchFamily="49" charset="0"/>
              </a:rPr>
              <a:t>struct</a:t>
            </a:r>
            <a:r>
              <a:rPr lang="en-US" sz="2400" dirty="0" smtClean="0"/>
              <a:t> is a sequence of fields.</a:t>
            </a:r>
          </a:p>
          <a:p>
            <a:r>
              <a:rPr lang="en-US" sz="2400" dirty="0" smtClean="0"/>
              <a:t>Each field consists of optional name and required type.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685800" y="2743200"/>
            <a:ext cx="7772400" cy="33239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type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4EC9B0"/>
                </a:solidFill>
                <a:latin typeface="Consolas"/>
              </a:rPr>
              <a:t>T1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struct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 {</a:t>
            </a: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f1 </a:t>
            </a:r>
            <a:r>
              <a:rPr lang="en-US" sz="1400" dirty="0" smtClean="0">
                <a:solidFill>
                  <a:srgbClr val="4EC9B0"/>
                </a:solidFill>
                <a:latin typeface="Consolas"/>
              </a:rPr>
              <a:t>string</a:t>
            </a:r>
            <a:endParaRPr lang="en-US" sz="14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}</a:t>
            </a:r>
            <a:br>
              <a:rPr lang="en-US" sz="14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type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4EC9B0"/>
                </a:solidFill>
                <a:latin typeface="Consolas"/>
              </a:rPr>
              <a:t>T2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struct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 {</a:t>
            </a: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T1     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Field T1 is called an embedded field since it's declared with type but no name.</a:t>
            </a:r>
            <a:endParaRPr lang="en-US" sz="14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f2     </a:t>
            </a:r>
            <a:r>
              <a:rPr lang="en-US" sz="1400" dirty="0" smtClean="0">
                <a:solidFill>
                  <a:srgbClr val="4EC9B0"/>
                </a:solidFill>
                <a:latin typeface="Consolas"/>
              </a:rPr>
              <a:t>int64</a:t>
            </a:r>
            <a:endParaRPr lang="en-US" sz="14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f3, f4 </a:t>
            </a:r>
            <a:r>
              <a:rPr lang="en-US" sz="1400" dirty="0" smtClean="0">
                <a:solidFill>
                  <a:srgbClr val="4EC9B0"/>
                </a:solidFill>
                <a:latin typeface="Consolas"/>
              </a:rPr>
              <a:t>float64</a:t>
            </a:r>
            <a:endParaRPr lang="en-US" sz="14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}</a:t>
            </a:r>
            <a:br>
              <a:rPr lang="en-US" sz="14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func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main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() {</a:t>
            </a: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t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:=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 T2{T1{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NHBien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}, 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3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}</a:t>
            </a: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400" dirty="0" err="1" smtClean="0">
                <a:solidFill>
                  <a:srgbClr val="CCCCCC"/>
                </a:solidFill>
                <a:latin typeface="Consolas"/>
              </a:rPr>
              <a:t>fmt.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(t.f1)    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</a:t>
            </a:r>
            <a:r>
              <a:rPr lang="en-US" sz="1400" dirty="0" err="1" smtClean="0">
                <a:solidFill>
                  <a:srgbClr val="6A9955"/>
                </a:solidFill>
                <a:latin typeface="Consolas"/>
              </a:rPr>
              <a:t>NHBien</a:t>
            </a:r>
            <a:endParaRPr lang="en-US" sz="14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400" dirty="0" err="1" smtClean="0">
                <a:solidFill>
                  <a:srgbClr val="CCCCCC"/>
                </a:solidFill>
                <a:latin typeface="Consolas"/>
              </a:rPr>
              <a:t>fmt.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(t.T1.f1) 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</a:t>
            </a:r>
            <a:r>
              <a:rPr lang="en-US" sz="1400" dirty="0" err="1" smtClean="0">
                <a:solidFill>
                  <a:srgbClr val="6A9955"/>
                </a:solidFill>
                <a:latin typeface="Consolas"/>
              </a:rPr>
              <a:t>NHBien</a:t>
            </a:r>
            <a:endParaRPr lang="en-US" sz="14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400" dirty="0" err="1" smtClean="0">
                <a:solidFill>
                  <a:srgbClr val="CCCCCC"/>
                </a:solidFill>
                <a:latin typeface="Consolas"/>
              </a:rPr>
              <a:t>fmt.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(t.f4)    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3</a:t>
            </a:r>
            <a:endParaRPr lang="en-US" sz="14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/>
              <a:t>A </a:t>
            </a:r>
            <a:r>
              <a:rPr lang="en-US" sz="2200" i="1" dirty="0" smtClean="0">
                <a:solidFill>
                  <a:srgbClr val="C00000"/>
                </a:solidFill>
              </a:rPr>
              <a:t>field declaration</a:t>
            </a:r>
            <a:r>
              <a:rPr lang="en-US" sz="2200" dirty="0" smtClean="0"/>
              <a:t> may be followed by an optional string literal (</a:t>
            </a:r>
            <a:r>
              <a:rPr lang="en-US" sz="2200" i="1" dirty="0" smtClean="0"/>
              <a:t>tag)</a:t>
            </a:r>
            <a:r>
              <a:rPr lang="en-US" sz="2200" dirty="0" smtClean="0"/>
              <a:t> which becomes an attribute of all the fields in the corresponding field declaration (single field declaration can specify multiple identifiers).</a:t>
            </a:r>
          </a:p>
          <a:p>
            <a:r>
              <a:rPr lang="en-US" sz="2200" dirty="0" smtClean="0"/>
              <a:t>Tags are accessible through </a:t>
            </a:r>
            <a:r>
              <a:rPr lang="en-US" sz="2200" b="1" dirty="0" smtClean="0">
                <a:latin typeface="Consolas" pitchFamily="49" charset="0"/>
              </a:rPr>
              <a:t>reflect</a:t>
            </a:r>
            <a:r>
              <a:rPr lang="en-US" sz="2200" dirty="0" smtClean="0"/>
              <a:t> package which allows </a:t>
            </a:r>
            <a:r>
              <a:rPr lang="en-US" sz="2200" i="1" dirty="0" smtClean="0">
                <a:solidFill>
                  <a:srgbClr val="C00000"/>
                </a:solidFill>
              </a:rPr>
              <a:t>run-time reflection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Probably the most common use of tags in Go is marshalling.</a:t>
            </a:r>
            <a:endParaRPr lang="en-US" sz="2200" dirty="0"/>
          </a:p>
        </p:txBody>
      </p:sp>
      <p:sp>
        <p:nvSpPr>
          <p:cNvPr id="4" name="Rectangle 3"/>
          <p:cNvSpPr/>
          <p:nvPr/>
        </p:nvSpPr>
        <p:spPr>
          <a:xfrm>
            <a:off x="685800" y="4419600"/>
            <a:ext cx="7772400" cy="17543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type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struct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{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f1    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"f one"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f2    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string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f3    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`f three`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f4, f5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int64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 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`f four and five`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}</a:t>
            </a:r>
            <a:endParaRPr lang="en-US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smtClean="0"/>
              <a:t>1. Create </a:t>
            </a:r>
            <a:r>
              <a:rPr lang="en-US" dirty="0" err="1" smtClean="0">
                <a:latin typeface="Consolas" pitchFamily="49" charset="0"/>
              </a:rPr>
              <a:t>fieldTags.go</a:t>
            </a:r>
            <a:r>
              <a:rPr lang="en-US" dirty="0" smtClean="0">
                <a:latin typeface="Consolas" pitchFamily="49" charset="0"/>
              </a:rPr>
              <a:t> (I)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2070080"/>
            <a:ext cx="7772400" cy="34163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package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main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import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"encoding/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json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fmt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type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Person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struct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FirstName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 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`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json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:"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first_name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"`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LastName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 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`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json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:"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last_name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"`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MiddleName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`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json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:"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middle_name,omitempty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"`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smtClean="0"/>
              <a:t>2. Create </a:t>
            </a:r>
            <a:r>
              <a:rPr lang="en-US" dirty="0" err="1" smtClean="0">
                <a:latin typeface="Consolas" pitchFamily="49" charset="0"/>
              </a:rPr>
              <a:t>fieldTags.go</a:t>
            </a:r>
            <a:r>
              <a:rPr lang="en-US" dirty="0" smtClean="0">
                <a:latin typeface="Consolas" pitchFamily="49" charset="0"/>
              </a:rPr>
              <a:t> (II)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676400"/>
            <a:ext cx="7772400" cy="45243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func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main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json_string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`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{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first_name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": "Bien",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last_name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": "Ngo"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}`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(Person)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json.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Unmarshal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([]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byte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json_string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), person)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"First Name:"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person.FirstName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"Middle Name:"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person.MiddleName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"Last Name:"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person.LastName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person.MiddleName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"Huy"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new_json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_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json.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Marshal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(person)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%s</a:t>
            </a:r>
            <a:r>
              <a:rPr lang="en-US" dirty="0" smtClean="0">
                <a:solidFill>
                  <a:srgbClr val="D7BA7D"/>
                </a:solidFill>
                <a:latin typeface="Consolas"/>
              </a:rPr>
              <a:t>\n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new_json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200" dirty="0" smtClean="0"/>
              <a:t>3. Run </a:t>
            </a:r>
            <a:r>
              <a:rPr lang="en-US" sz="4000" dirty="0" err="1" smtClean="0">
                <a:latin typeface="Consolas" pitchFamily="49" charset="0"/>
              </a:rPr>
              <a:t>fieldTags.go</a:t>
            </a:r>
            <a:endParaRPr lang="en-US" sz="4200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Consolas" pitchFamily="49" charset="0"/>
              </a:rPr>
              <a:t>go run </a:t>
            </a:r>
            <a:r>
              <a:rPr lang="en-US" sz="2400" dirty="0" err="1" smtClean="0">
                <a:latin typeface="Consolas" pitchFamily="49" charset="0"/>
              </a:rPr>
              <a:t>fieldTags.go</a:t>
            </a:r>
            <a:endParaRPr lang="en-US" sz="24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800" dirty="0" smtClean="0"/>
              <a:t>1. Create </a:t>
            </a:r>
            <a:r>
              <a:rPr lang="en-US" sz="3800" dirty="0" err="1" smtClean="0">
                <a:latin typeface="Consolas" pitchFamily="49" charset="0"/>
              </a:rPr>
              <a:t>multipleFieldTags.go</a:t>
            </a:r>
            <a:r>
              <a:rPr lang="en-US" sz="3800" dirty="0" smtClean="0">
                <a:latin typeface="Consolas" pitchFamily="49" charset="0"/>
              </a:rPr>
              <a:t> (I)</a:t>
            </a:r>
            <a:endParaRPr lang="en-US" sz="3800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2070080"/>
            <a:ext cx="7772400" cy="39703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package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main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import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"encoding/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json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"encoding/xml"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fmt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type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Person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struct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FirstName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 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`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json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:"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first_name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 xml:"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fname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"`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LastName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 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`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json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:"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last_name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 xml:"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lname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"`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MiddleName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`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json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:"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middle_name,omitempty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 xml:"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mname,omitempty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"`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800" dirty="0" smtClean="0"/>
              <a:t>2. Create </a:t>
            </a:r>
            <a:r>
              <a:rPr lang="en-US" sz="3800" dirty="0" err="1" smtClean="0">
                <a:latin typeface="Consolas" pitchFamily="49" charset="0"/>
              </a:rPr>
              <a:t>multipleFieldTags.go</a:t>
            </a:r>
            <a:r>
              <a:rPr lang="en-US" sz="3800" dirty="0" smtClean="0">
                <a:latin typeface="Consolas" pitchFamily="49" charset="0"/>
              </a:rPr>
              <a:t> (II)</a:t>
            </a:r>
            <a:endParaRPr lang="en-US" sz="3800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676400"/>
            <a:ext cx="7772400" cy="480131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func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main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json_string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`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{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first_name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": "Bien",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last_name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": "Ngo"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}`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(Person)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json.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Unmarshal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([]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byte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json_string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), person)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"First Name:"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person.FirstName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"Middle Name:"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person.MiddleName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"Last Name:"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person.LastName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person.MiddleName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"Huy"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new_json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_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json.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Marshal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(person)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%s</a:t>
            </a:r>
            <a:r>
              <a:rPr lang="en-US" dirty="0" smtClean="0">
                <a:solidFill>
                  <a:srgbClr val="D7BA7D"/>
                </a:solidFill>
                <a:latin typeface="Consolas"/>
              </a:rPr>
              <a:t>\n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new_json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800" dirty="0" smtClean="0"/>
              <a:t>3. Create </a:t>
            </a:r>
            <a:r>
              <a:rPr lang="en-US" sz="3800" dirty="0" err="1" smtClean="0">
                <a:latin typeface="Consolas" pitchFamily="49" charset="0"/>
              </a:rPr>
              <a:t>multipleFieldTags.go</a:t>
            </a:r>
            <a:r>
              <a:rPr lang="en-US" sz="3800" dirty="0" smtClean="0">
                <a:latin typeface="Consolas" pitchFamily="49" charset="0"/>
              </a:rPr>
              <a:t> (III)</a:t>
            </a:r>
            <a:endParaRPr lang="en-US" sz="3800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676400"/>
            <a:ext cx="7772400" cy="369331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xml_string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`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&lt;person&gt;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&lt;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fname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&gt;John&lt;/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fname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&lt;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lname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&gt;Smith&lt;/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lname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&lt;/person&gt;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`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john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(Person)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xml.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Unmarshal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([]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byte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xml_string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), john)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"First Name:"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john.FirstName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"Middle Name:"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john.MiddleName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"Last Name:"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john.LastName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200" dirty="0" smtClean="0"/>
              <a:t>4. Run </a:t>
            </a:r>
            <a:r>
              <a:rPr lang="en-US" sz="4000" dirty="0" err="1" smtClean="0">
                <a:latin typeface="Consolas" pitchFamily="49" charset="0"/>
              </a:rPr>
              <a:t>multipleFieldTags.go</a:t>
            </a:r>
            <a:endParaRPr lang="en-US" sz="4200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Consolas" pitchFamily="49" charset="0"/>
              </a:rPr>
              <a:t>go run </a:t>
            </a:r>
            <a:r>
              <a:rPr lang="en-US" sz="2400" dirty="0" err="1" smtClean="0">
                <a:latin typeface="Consolas" pitchFamily="49" charset="0"/>
              </a:rPr>
              <a:t>multipleFieldTags.go</a:t>
            </a:r>
            <a:endParaRPr lang="en-US" sz="24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Remote Procedure Calls [4]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Remote procedure call</a:t>
            </a:r>
            <a:r>
              <a:rPr lang="en-US" sz="2200" dirty="0" smtClean="0"/>
              <a:t> refers to the technique of making a local call and having it execute on a remote service somewhere.</a:t>
            </a:r>
          </a:p>
          <a:p>
            <a:r>
              <a:rPr lang="en-US" sz="2200" dirty="0" smtClean="0"/>
              <a:t>There are a number of different types of RPC technology out there. Some of this technology relies on having an interface definition (SOAP, Thrift, protocol buffers).</a:t>
            </a:r>
          </a:p>
          <a:p>
            <a:r>
              <a:rPr lang="en-US" sz="2200" dirty="0" smtClean="0"/>
              <a:t>The use of a separate interface definition can make it easier to generate client and server stubs for different technology stacks.</a:t>
            </a:r>
          </a:p>
          <a:p>
            <a:r>
              <a:rPr lang="en-US" sz="2200" dirty="0" smtClean="0"/>
              <a:t>All these technologies, however, have the same, </a:t>
            </a:r>
            <a:r>
              <a:rPr lang="en-US" sz="2200" i="1" dirty="0" smtClean="0">
                <a:solidFill>
                  <a:srgbClr val="C00000"/>
                </a:solidFill>
              </a:rPr>
              <a:t>core characteristic</a:t>
            </a:r>
            <a:r>
              <a:rPr lang="en-US" sz="2200" dirty="0" smtClean="0"/>
              <a:t> in that they </a:t>
            </a:r>
            <a:r>
              <a:rPr lang="en-US" sz="2200" u="sng" dirty="0" smtClean="0"/>
              <a:t>make a local call look like a remote call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core idea of RPC is to </a:t>
            </a:r>
            <a:r>
              <a:rPr lang="en-US" sz="2200" u="sng" dirty="0" smtClean="0"/>
              <a:t>hide the complexity</a:t>
            </a:r>
            <a:r>
              <a:rPr lang="en-US" sz="2200" dirty="0" smtClean="0"/>
              <a:t> of a remote call.</a:t>
            </a:r>
            <a:endParaRPr lang="en-US" sz="2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Local Calls are Not Like Remote Calls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 can make large numbers of local, in-process calls without worrying overly about the </a:t>
            </a:r>
            <a:r>
              <a:rPr lang="en-US" sz="2400" i="1" dirty="0" smtClean="0">
                <a:solidFill>
                  <a:srgbClr val="C00000"/>
                </a:solidFill>
              </a:rPr>
              <a:t>performance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With RPC, though, the cost of </a:t>
            </a:r>
            <a:r>
              <a:rPr lang="en-US" sz="2400" i="1" dirty="0" smtClean="0">
                <a:solidFill>
                  <a:srgbClr val="C00000"/>
                </a:solidFill>
              </a:rPr>
              <a:t>marshalling and </a:t>
            </a:r>
            <a:r>
              <a:rPr lang="en-US" sz="2400" i="1" dirty="0" err="1" smtClean="0">
                <a:solidFill>
                  <a:srgbClr val="C00000"/>
                </a:solidFill>
              </a:rPr>
              <a:t>unmarshalling</a:t>
            </a:r>
            <a:r>
              <a:rPr lang="en-US" sz="2400" i="1" dirty="0" smtClean="0">
                <a:solidFill>
                  <a:srgbClr val="C00000"/>
                </a:solidFill>
              </a:rPr>
              <a:t> payloads</a:t>
            </a:r>
            <a:r>
              <a:rPr lang="en-US" sz="2400" dirty="0" smtClean="0"/>
              <a:t> can be significant, not to mention the time taken to send things over the network.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Networks</a:t>
            </a:r>
            <a:r>
              <a:rPr lang="en-US" sz="2400" dirty="0" smtClean="0"/>
              <a:t> aren't reliable. They can and will fail, even if your client and the server you are speaking to are fine.</a:t>
            </a:r>
            <a:endParaRPr lang="en-US" sz="2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Brittleness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200" dirty="0" smtClean="0">
                <a:latin typeface="Consolas" pitchFamily="49" charset="0"/>
                <a:cs typeface="Courier New" pitchFamily="49" charset="0"/>
              </a:rPr>
              <a:t>public class </a:t>
            </a:r>
            <a:r>
              <a:rPr lang="en-US" sz="2200" b="1" dirty="0" smtClean="0">
                <a:latin typeface="Consolas" pitchFamily="49" charset="0"/>
                <a:cs typeface="Courier New" pitchFamily="49" charset="0"/>
              </a:rPr>
              <a:t>Customer</a:t>
            </a:r>
            <a:r>
              <a:rPr lang="en-US" sz="2200" dirty="0" smtClean="0">
                <a:latin typeface="Consolas" pitchFamily="49" charset="0"/>
                <a:cs typeface="Courier New" pitchFamily="49" charset="0"/>
              </a:rPr>
              <a:t> implements </a:t>
            </a:r>
            <a:r>
              <a:rPr lang="en-US" sz="2200" dirty="0" err="1" smtClean="0">
                <a:latin typeface="Consolas" pitchFamily="49" charset="0"/>
                <a:cs typeface="Courier New" pitchFamily="49" charset="0"/>
              </a:rPr>
              <a:t>Serializable</a:t>
            </a:r>
            <a:r>
              <a:rPr lang="en-US" sz="2200" dirty="0" smtClean="0">
                <a:latin typeface="Consolas" pitchFamily="49" charset="0"/>
                <a:cs typeface="Courier New" pitchFamily="49" charset="0"/>
              </a:rPr>
              <a:t> {</a:t>
            </a:r>
          </a:p>
          <a:p>
            <a:pPr>
              <a:buNone/>
            </a:pPr>
            <a:r>
              <a:rPr lang="en-US" sz="2200" dirty="0" smtClean="0">
                <a:latin typeface="Consolas" pitchFamily="49" charset="0"/>
                <a:cs typeface="Courier New" pitchFamily="49" charset="0"/>
              </a:rPr>
              <a:t>private String </a:t>
            </a:r>
            <a:r>
              <a:rPr lang="en-US" sz="2200" dirty="0" err="1" smtClean="0">
                <a:latin typeface="Consolas" pitchFamily="49" charset="0"/>
                <a:cs typeface="Courier New" pitchFamily="49" charset="0"/>
              </a:rPr>
              <a:t>firstName</a:t>
            </a:r>
            <a:r>
              <a:rPr lang="en-US" sz="2200" dirty="0" smtClean="0">
                <a:latin typeface="Consolas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200" dirty="0" smtClean="0">
                <a:latin typeface="Consolas" pitchFamily="49" charset="0"/>
                <a:cs typeface="Courier New" pitchFamily="49" charset="0"/>
              </a:rPr>
              <a:t>private String surname;</a:t>
            </a:r>
          </a:p>
          <a:p>
            <a:pPr>
              <a:buNone/>
            </a:pPr>
            <a:r>
              <a:rPr lang="en-US" sz="2200" dirty="0" smtClean="0">
                <a:latin typeface="Consolas" pitchFamily="49" charset="0"/>
                <a:cs typeface="Courier New" pitchFamily="49" charset="0"/>
              </a:rPr>
              <a:t>private String </a:t>
            </a:r>
            <a:r>
              <a:rPr lang="en-US" sz="2200" dirty="0" err="1" smtClean="0">
                <a:latin typeface="Consolas" pitchFamily="49" charset="0"/>
                <a:cs typeface="Courier New" pitchFamily="49" charset="0"/>
              </a:rPr>
              <a:t>emailAddress</a:t>
            </a:r>
            <a:r>
              <a:rPr lang="en-US" sz="2200" dirty="0" smtClean="0">
                <a:latin typeface="Consolas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200" i="1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private String age;</a:t>
            </a:r>
          </a:p>
          <a:p>
            <a:pPr>
              <a:buNone/>
            </a:pPr>
            <a:r>
              <a:rPr lang="en-US" sz="2200" dirty="0" smtClean="0">
                <a:latin typeface="Consolas" pitchFamily="49" charset="0"/>
                <a:cs typeface="Courier New" pitchFamily="49" charset="0"/>
              </a:rPr>
              <a:t>}</a:t>
            </a:r>
          </a:p>
          <a:p>
            <a:r>
              <a:rPr lang="en-US" sz="2400" dirty="0" smtClean="0"/>
              <a:t>If the server implementation </a:t>
            </a:r>
            <a:r>
              <a:rPr lang="en-US" sz="2400" i="1" dirty="0" smtClean="0">
                <a:solidFill>
                  <a:srgbClr val="C00000"/>
                </a:solidFill>
              </a:rPr>
              <a:t>removes age</a:t>
            </a:r>
            <a:r>
              <a:rPr lang="en-US" sz="2400" dirty="0" smtClean="0"/>
              <a:t> from its definition of this type, and we don't do the same to all the consumers, then even though they never used the field, the code associated with </a:t>
            </a:r>
            <a:r>
              <a:rPr lang="en-US" sz="2400" dirty="0" err="1" smtClean="0"/>
              <a:t>deserializing</a:t>
            </a:r>
            <a:r>
              <a:rPr lang="en-US" sz="2400" dirty="0" smtClean="0"/>
              <a:t> the Customer object on the consumer side will break.</a:t>
            </a:r>
            <a:endParaRPr lang="en-US" sz="2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 </a:t>
            </a:r>
            <a:r>
              <a:rPr lang="en-US" dirty="0" err="1" smtClean="0"/>
              <a:t>rpc</a:t>
            </a:r>
            <a:r>
              <a:rPr lang="en-US" dirty="0" smtClean="0"/>
              <a:t> vs. Go http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Binary </a:t>
            </a:r>
            <a:r>
              <a:rPr lang="en-US" sz="2400" dirty="0" smtClean="0"/>
              <a:t>format vs. Text-based format</a:t>
            </a:r>
          </a:p>
          <a:p>
            <a:r>
              <a:rPr lang="en-US" sz="2400" dirty="0" smtClean="0"/>
              <a:t>Faster vs. Easier to Use</a:t>
            </a:r>
          </a:p>
          <a:p>
            <a:r>
              <a:rPr lang="en-US" sz="2400" dirty="0" smtClean="0"/>
              <a:t>Internal communication vs. Public-facing APIs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 smtClean="0"/>
              <a:t>Huseyin</a:t>
            </a:r>
            <a:r>
              <a:rPr lang="en-US" sz="2000" dirty="0" smtClean="0"/>
              <a:t> </a:t>
            </a:r>
            <a:r>
              <a:rPr lang="en-US" sz="2000" dirty="0" err="1" smtClean="0"/>
              <a:t>Babal</a:t>
            </a:r>
            <a:r>
              <a:rPr lang="en-US" sz="2000" dirty="0" smtClean="0"/>
              <a:t> (2023). </a:t>
            </a:r>
            <a:r>
              <a:rPr lang="en-US" sz="2000" dirty="0" err="1" smtClean="0"/>
              <a:t>gRPC</a:t>
            </a:r>
            <a:r>
              <a:rPr lang="en-US" sz="2000" dirty="0" smtClean="0"/>
              <a:t> </a:t>
            </a:r>
            <a:r>
              <a:rPr lang="en-US" sz="2000" dirty="0" err="1" smtClean="0"/>
              <a:t>Microservices</a:t>
            </a:r>
            <a:r>
              <a:rPr lang="en-US" sz="2000" dirty="0" smtClean="0"/>
              <a:t> in Go. Manning Publications.</a:t>
            </a:r>
          </a:p>
          <a:p>
            <a:r>
              <a:rPr lang="en-US" sz="2000" dirty="0" err="1" smtClean="0"/>
              <a:t>Haishi</a:t>
            </a:r>
            <a:r>
              <a:rPr lang="en-US" sz="2000" dirty="0" smtClean="0"/>
              <a:t> </a:t>
            </a:r>
            <a:r>
              <a:rPr lang="en-US" sz="2000" dirty="0" err="1" smtClean="0"/>
              <a:t>Bai</a:t>
            </a:r>
            <a:r>
              <a:rPr lang="en-US" sz="2000" dirty="0" smtClean="0"/>
              <a:t> and </a:t>
            </a:r>
            <a:r>
              <a:rPr lang="en-US" sz="2000" dirty="0" err="1" smtClean="0"/>
              <a:t>Yaron</a:t>
            </a:r>
            <a:r>
              <a:rPr lang="en-US" sz="2000" dirty="0" smtClean="0"/>
              <a:t> Schneider (2020). Learning </a:t>
            </a:r>
            <a:r>
              <a:rPr lang="en-US" sz="2000" dirty="0" err="1" smtClean="0"/>
              <a:t>Dapr</a:t>
            </a:r>
            <a:r>
              <a:rPr lang="en-US" sz="2000" dirty="0" smtClean="0"/>
              <a:t>. O'Reilly Media.</a:t>
            </a:r>
          </a:p>
        </p:txBody>
      </p:sp>
      <p:pic>
        <p:nvPicPr>
          <p:cNvPr id="4" name="Picture 2" descr="http://www.4aplus.com/wp-content/uploads/2014/02/shutterstock_74085415-1024x68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3429000"/>
            <a:ext cx="2600221" cy="17323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</a:t>
            </a:r>
            <a:r>
              <a:rPr lang="en-US" smtClean="0"/>
              <a:t>You &amp; See 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6939</TotalTime>
  <Words>2330</Words>
  <Application>Microsoft Office PowerPoint</Application>
  <PresentationFormat>On-screen Show (4:3)</PresentationFormat>
  <Paragraphs>483</Paragraphs>
  <Slides>67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68" baseType="lpstr">
      <vt:lpstr>Office Theme</vt:lpstr>
      <vt:lpstr>Remote Procedure Calls</vt:lpstr>
      <vt:lpstr>Objectives</vt:lpstr>
      <vt:lpstr>Contents</vt:lpstr>
      <vt:lpstr>References</vt:lpstr>
      <vt:lpstr>Socket Programming</vt:lpstr>
      <vt:lpstr>Procedure Call</vt:lpstr>
      <vt:lpstr>Remote Procedure Call Layer</vt:lpstr>
      <vt:lpstr>Slide 8</vt:lpstr>
      <vt:lpstr>Go's rpc Package</vt:lpstr>
      <vt:lpstr>1. Create hello Project Structure</vt:lpstr>
      <vt:lpstr>2. Create server.go</vt:lpstr>
      <vt:lpstr>3. Create client.go</vt:lpstr>
      <vt:lpstr>Slide 13</vt:lpstr>
      <vt:lpstr>RPC Frameworks</vt:lpstr>
      <vt:lpstr>RPC Protocol Implementation [1]</vt:lpstr>
      <vt:lpstr>Stubs (Proxies) and Messages [2]</vt:lpstr>
      <vt:lpstr>Slide 17</vt:lpstr>
      <vt:lpstr>RPC Framework Implementation Hurdles</vt:lpstr>
      <vt:lpstr>RPC over TCP</vt:lpstr>
      <vt:lpstr>RPC over UDP</vt:lpstr>
      <vt:lpstr>Client Code: Go Asynchronous RPC</vt:lpstr>
      <vt:lpstr>Client Code: Go Synchronous RPC</vt:lpstr>
      <vt:lpstr>Parameter Passing</vt:lpstr>
      <vt:lpstr>Marshalling</vt:lpstr>
      <vt:lpstr>RPC Compiler</vt:lpstr>
      <vt:lpstr>RPC Failures</vt:lpstr>
      <vt:lpstr>At-most-once Semantics</vt:lpstr>
      <vt:lpstr>At-least-once Semantics</vt:lpstr>
      <vt:lpstr>Exactly-once Semantics</vt:lpstr>
      <vt:lpstr>Exactly-once Semantics Implementation</vt:lpstr>
      <vt:lpstr>Performance</vt:lpstr>
      <vt:lpstr>RPC Framework with Security [3]</vt:lpstr>
      <vt:lpstr>Slide 33</vt:lpstr>
      <vt:lpstr>Programming with RPCs in Languages Without Built-In Syntax for RPCs</vt:lpstr>
      <vt:lpstr>Slide 35</vt:lpstr>
      <vt:lpstr>1. Create Key Value Store</vt:lpstr>
      <vt:lpstr>2. Create types.go</vt:lpstr>
      <vt:lpstr>3. Create server.go (I)</vt:lpstr>
      <vt:lpstr>4. Create server.go (II)</vt:lpstr>
      <vt:lpstr>5. Create server.go (III)</vt:lpstr>
      <vt:lpstr>6. Create server.go (IV)</vt:lpstr>
      <vt:lpstr>7. Create server.go (V)</vt:lpstr>
      <vt:lpstr>8. Create and Run main.go</vt:lpstr>
      <vt:lpstr>9. Create client.go (I)</vt:lpstr>
      <vt:lpstr>10. Create client.go (II)</vt:lpstr>
      <vt:lpstr>11. Create client.go (III)</vt:lpstr>
      <vt:lpstr>12. Create main.go</vt:lpstr>
      <vt:lpstr>13. Run main.go</vt:lpstr>
      <vt:lpstr>Slide 49</vt:lpstr>
      <vt:lpstr>struct Type</vt:lpstr>
      <vt:lpstr>Tags</vt:lpstr>
      <vt:lpstr>1. Create fieldTags.go (I)</vt:lpstr>
      <vt:lpstr>2. Create fieldTags.go (II)</vt:lpstr>
      <vt:lpstr>3. Run fieldTags.go</vt:lpstr>
      <vt:lpstr>Slide 55</vt:lpstr>
      <vt:lpstr>1. Create multipleFieldTags.go (I)</vt:lpstr>
      <vt:lpstr>2. Create multipleFieldTags.go (II)</vt:lpstr>
      <vt:lpstr>3. Create multipleFieldTags.go (III)</vt:lpstr>
      <vt:lpstr>4. Run multipleFieldTags.go</vt:lpstr>
      <vt:lpstr>Slide 60</vt:lpstr>
      <vt:lpstr>Remote Procedure Calls [4]</vt:lpstr>
      <vt:lpstr>Local Calls are Not Like Remote Calls</vt:lpstr>
      <vt:lpstr>Brittleness</vt:lpstr>
      <vt:lpstr>Slide 64</vt:lpstr>
      <vt:lpstr>Go rpc vs. Go http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Client</dc:title>
  <dc:creator>HuyBien</dc:creator>
  <cp:lastModifiedBy>Ngo Huy Bien</cp:lastModifiedBy>
  <cp:revision>2751</cp:revision>
  <dcterms:created xsi:type="dcterms:W3CDTF">2009-01-22T10:11:40Z</dcterms:created>
  <dcterms:modified xsi:type="dcterms:W3CDTF">2025-01-04T12:48:44Z</dcterms:modified>
</cp:coreProperties>
</file>