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670" r:id="rId2"/>
    <p:sldId id="671" r:id="rId3"/>
    <p:sldId id="672" r:id="rId4"/>
    <p:sldId id="673" r:id="rId5"/>
    <p:sldId id="679" r:id="rId6"/>
    <p:sldId id="680" r:id="rId7"/>
    <p:sldId id="681" r:id="rId8"/>
    <p:sldId id="677" r:id="rId9"/>
    <p:sldId id="678" r:id="rId10"/>
    <p:sldId id="516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9" autoAdjust="0"/>
    <p:restoredTop sz="94667" autoAdjust="0"/>
  </p:normalViewPr>
  <p:slideViewPr>
    <p:cSldViewPr>
      <p:cViewPr>
        <p:scale>
          <a:sx n="50" d="100"/>
          <a:sy n="50" d="100"/>
        </p:scale>
        <p:origin x="-153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oltactivedata.com/blog/2010/10/clarifications-cap-theorem-data-related-errors/" TargetMode="External"/><Relationship Id="rId2" Type="http://schemas.openxmlformats.org/officeDocument/2006/relationships/hyperlink" Target="https://codahale.com/you-cant-sacrifice-partition-tolerance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smtClean="0"/>
              <a:t>CAP Theorem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Eric A. Brewer (2000). Towards Robust Distributed Systems. PODC Keynote.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Seth Gilbert and Nancy Lynch (2002). Brewer's Conjecture and the Feasibility of Consistent, Available, Partition-Tolerant Web Services.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Eric Brewer (2012). CAP Twelve Years Later: How the “Rules” Have Changed.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 smtClean="0"/>
              <a:t>Sharding</a:t>
            </a:r>
            <a:r>
              <a:rPr lang="en-US" sz="2800" dirty="0" smtClean="0"/>
              <a:t> makes </a:t>
            </a:r>
            <a:r>
              <a:rPr lang="en-US" sz="2800" i="1" dirty="0" smtClean="0">
                <a:solidFill>
                  <a:srgbClr val="C00000"/>
                </a:solidFill>
              </a:rPr>
              <a:t>partitions unavoidable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Under the </a:t>
            </a:r>
            <a:r>
              <a:rPr lang="en-US" sz="2800" i="1" dirty="0" smtClean="0">
                <a:solidFill>
                  <a:srgbClr val="C00000"/>
                </a:solidFill>
              </a:rPr>
              <a:t>CAP theorem</a:t>
            </a:r>
            <a:r>
              <a:rPr lang="en-US" sz="2800" dirty="0" smtClean="0"/>
              <a:t>, when a </a:t>
            </a:r>
            <a:r>
              <a:rPr lang="en-US" sz="2800" u="sng" dirty="0" smtClean="0"/>
              <a:t>partition occurs</a:t>
            </a:r>
            <a:r>
              <a:rPr lang="en-US" sz="2800" dirty="0" smtClean="0"/>
              <a:t>, a system must choose between: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Consistency (C)</a:t>
            </a:r>
            <a:r>
              <a:rPr lang="en-US" sz="2400" dirty="0" smtClean="0"/>
              <a:t> — all nodes return the same latest value.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Availability (A)</a:t>
            </a:r>
            <a:r>
              <a:rPr lang="en-US" sz="2400" dirty="0" smtClean="0"/>
              <a:t> — every request receives a response.</a:t>
            </a:r>
          </a:p>
          <a:p>
            <a:r>
              <a:rPr lang="en-US" sz="2800" dirty="0" smtClean="0"/>
              <a:t>Thus, a </a:t>
            </a:r>
            <a:r>
              <a:rPr lang="en-US" sz="2800" dirty="0" err="1" smtClean="0"/>
              <a:t>sharded</a:t>
            </a:r>
            <a:r>
              <a:rPr lang="en-US" sz="2800" dirty="0" smtClean="0"/>
              <a:t> system </a:t>
            </a:r>
            <a:r>
              <a:rPr lang="en-US" sz="2800" i="1" dirty="0" smtClean="0">
                <a:solidFill>
                  <a:srgbClr val="C00000"/>
                </a:solidFill>
              </a:rPr>
              <a:t>cannot guarantee both</a:t>
            </a:r>
            <a:r>
              <a:rPr lang="en-US" sz="2800" dirty="0" smtClean="0"/>
              <a:t> simultaneously during partitions.</a:t>
            </a:r>
          </a:p>
          <a:p>
            <a:r>
              <a:rPr lang="en-US" sz="2800" dirty="0" smtClean="0"/>
              <a:t>This forces a design choice: </a:t>
            </a:r>
            <a:r>
              <a:rPr lang="en-US" sz="2800" i="1" dirty="0" smtClean="0">
                <a:solidFill>
                  <a:srgbClr val="C00000"/>
                </a:solidFill>
              </a:rPr>
              <a:t>CP</a:t>
            </a:r>
            <a:r>
              <a:rPr lang="en-US" sz="2800" dirty="0" smtClean="0"/>
              <a:t> or </a:t>
            </a:r>
            <a:r>
              <a:rPr lang="en-US" sz="2800" i="1" dirty="0" smtClean="0">
                <a:solidFill>
                  <a:srgbClr val="C00000"/>
                </a:solidFill>
              </a:rPr>
              <a:t>AP</a:t>
            </a:r>
            <a:r>
              <a:rPr lang="en-US" sz="2800" dirty="0" smtClean="0"/>
              <a:t> behavior.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Cross-shard Operations Amplify the CAP Trade-off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Operations</a:t>
            </a:r>
            <a:r>
              <a:rPr lang="en-US" sz="2400" dirty="0" smtClean="0"/>
              <a:t> that </a:t>
            </a:r>
            <a:r>
              <a:rPr lang="en-US" sz="2400" u="sng" dirty="0" smtClean="0"/>
              <a:t>involve multiple shards</a:t>
            </a:r>
            <a:r>
              <a:rPr lang="en-US" sz="2400" dirty="0" smtClean="0"/>
              <a:t> (e.g., distributed transactions or joins) require coordination across nodes.</a:t>
            </a:r>
          </a:p>
          <a:p>
            <a:r>
              <a:rPr lang="en-US" sz="2400" dirty="0" smtClean="0"/>
              <a:t>Two common outcomes: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CP design</a:t>
            </a:r>
          </a:p>
          <a:p>
            <a:pPr lvl="1"/>
            <a:r>
              <a:rPr lang="en-US" sz="2000" dirty="0" smtClean="0"/>
              <a:t>Systems block or reject requests when shards cannot coordinate.</a:t>
            </a:r>
          </a:p>
          <a:p>
            <a:pPr lvl="1"/>
            <a:r>
              <a:rPr lang="en-US" sz="2000" dirty="0" smtClean="0"/>
              <a:t>Ensures a single consistent state but sacrifices availability during partitions.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AP design</a:t>
            </a:r>
          </a:p>
          <a:p>
            <a:pPr lvl="1"/>
            <a:r>
              <a:rPr lang="en-US" sz="2000" dirty="0" smtClean="0"/>
              <a:t>Each shard continues serving requests independently.</a:t>
            </a:r>
          </a:p>
          <a:p>
            <a:pPr lvl="1"/>
            <a:r>
              <a:rPr lang="en-US" sz="2000" dirty="0" smtClean="0"/>
              <a:t>Availability remains high, but replicas may diverge and require later reconciliation.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 [1, 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 </a:t>
            </a:r>
            <a:r>
              <a:rPr lang="en-US" sz="2800" i="1" dirty="0" smtClean="0">
                <a:solidFill>
                  <a:srgbClr val="C00000"/>
                </a:solidFill>
              </a:rPr>
              <a:t>CAP theorem</a:t>
            </a:r>
            <a:r>
              <a:rPr lang="en-US" sz="2800" dirty="0" smtClean="0"/>
              <a:t> states that any networked shared-data system can have </a:t>
            </a:r>
            <a:r>
              <a:rPr lang="en-US" sz="2800" i="1" dirty="0" smtClean="0">
                <a:solidFill>
                  <a:srgbClr val="C00000"/>
                </a:solidFill>
              </a:rPr>
              <a:t>at most two of three</a:t>
            </a:r>
            <a:r>
              <a:rPr lang="en-US" sz="2800" dirty="0" smtClean="0"/>
              <a:t> desirable properties: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consistency</a:t>
            </a:r>
            <a:r>
              <a:rPr lang="en-US" sz="2400" dirty="0" smtClean="0"/>
              <a:t> (C) equivalent to having a single up-to-date copy of the data;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high availability</a:t>
            </a:r>
            <a:r>
              <a:rPr lang="en-US" sz="2400" dirty="0" smtClean="0"/>
              <a:t> (A) of that data (for updates); and</a:t>
            </a:r>
          </a:p>
          <a:p>
            <a:pPr lvl="1"/>
            <a:r>
              <a:rPr lang="en-US" sz="2400" dirty="0" smtClean="0"/>
              <a:t>tolerance to </a:t>
            </a:r>
            <a:r>
              <a:rPr lang="en-US" sz="2400" i="1" dirty="0" smtClean="0">
                <a:solidFill>
                  <a:srgbClr val="C00000"/>
                </a:solidFill>
              </a:rPr>
              <a:t>network partitions</a:t>
            </a:r>
            <a:r>
              <a:rPr lang="en-US" sz="2400" dirty="0" smtClean="0"/>
              <a:t> (P).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https://codahale.com/you-cant-sacrifice-partition-tolerance/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https://www.voltactivedata.com/blog/2010/10/clarifications-cap-theorem-data-related-errors/</a:t>
            </a:r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20750</TotalTime>
  <Words>304</Words>
  <Application>Microsoft Office PowerPoint</Application>
  <PresentationFormat>On-screen Show (4:3)</PresentationFormat>
  <Paragraphs>39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CAP Theorem</vt:lpstr>
      <vt:lpstr>Objectives</vt:lpstr>
      <vt:lpstr>Contents</vt:lpstr>
      <vt:lpstr>References</vt:lpstr>
      <vt:lpstr>CAP Theorem</vt:lpstr>
      <vt:lpstr>Cross-shard Operations Amplify the CAP Trade-off</vt:lpstr>
      <vt:lpstr>Slide 7</vt:lpstr>
      <vt:lpstr>CAP [1, 2]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6521</cp:revision>
  <dcterms:created xsi:type="dcterms:W3CDTF">2007-10-06T08:25:13Z</dcterms:created>
  <dcterms:modified xsi:type="dcterms:W3CDTF">2026-03-15T19:04:32Z</dcterms:modified>
</cp:coreProperties>
</file>